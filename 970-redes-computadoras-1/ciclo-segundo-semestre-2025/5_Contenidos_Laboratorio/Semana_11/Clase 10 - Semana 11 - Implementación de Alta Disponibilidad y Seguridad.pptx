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10287000" cx="18288000"/>
  <p:notesSz cx="6858000" cy="9144000"/>
  <p:embeddedFontLst>
    <p:embeddedFont>
      <p:font typeface="Sniglet"/>
      <p:regular r:id="rId56"/>
    </p:embeddedFont>
    <p:embeddedFont>
      <p:font typeface="Montserrat"/>
      <p:regular r:id="rId57"/>
      <p:bold r:id="rId58"/>
      <p:italic r:id="rId59"/>
      <p:boldItalic r:id="rId60"/>
    </p:embeddedFont>
    <p:embeddedFont>
      <p:font typeface="Borel"/>
      <p:regular r:id="rId61"/>
    </p:embeddedFont>
    <p:embeddedFont>
      <p:font typeface="Shadows Into Light"/>
      <p:regular r:id="rId62"/>
    </p:embeddedFont>
    <p:embeddedFont>
      <p:font typeface="Open Sans"/>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7" roundtripDataSignature="AMtx7mgJwCWeNQ/xv+AFdisJ+FRK1ArX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2F5AA0-886F-4AD3-B54A-C191DF9C00A1}">
  <a:tblStyle styleId="{A82F5AA0-886F-4AD3-B54A-C191DF9C00A1}"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28902A9-9491-4379-AF06-E0E9CF1D25C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ShadowsIntoLight-regular.fntdata"/><Relationship Id="rId61" Type="http://schemas.openxmlformats.org/officeDocument/2006/relationships/font" Target="fonts/Borel-regular.fntdata"/><Relationship Id="rId20" Type="http://schemas.openxmlformats.org/officeDocument/2006/relationships/slide" Target="slides/slide14.xml"/><Relationship Id="rId64" Type="http://schemas.openxmlformats.org/officeDocument/2006/relationships/font" Target="fonts/OpenSans-bold.fntdata"/><Relationship Id="rId63" Type="http://schemas.openxmlformats.org/officeDocument/2006/relationships/font" Target="fonts/OpenSans-regular.fntdata"/><Relationship Id="rId22" Type="http://schemas.openxmlformats.org/officeDocument/2006/relationships/slide" Target="slides/slide16.xml"/><Relationship Id="rId66" Type="http://schemas.openxmlformats.org/officeDocument/2006/relationships/font" Target="fonts/OpenSans-boldItalic.fntdata"/><Relationship Id="rId21" Type="http://schemas.openxmlformats.org/officeDocument/2006/relationships/slide" Target="slides/slide15.xml"/><Relationship Id="rId65" Type="http://schemas.openxmlformats.org/officeDocument/2006/relationships/font" Target="fonts/OpenSans-italic.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font" Target="fonts/Montserrat-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Montserrat-regular.fntdata"/><Relationship Id="rId12" Type="http://schemas.openxmlformats.org/officeDocument/2006/relationships/slide" Target="slides/slide6.xml"/><Relationship Id="rId56" Type="http://schemas.openxmlformats.org/officeDocument/2006/relationships/font" Target="fonts/Sniglet-regular.fntdata"/><Relationship Id="rId15" Type="http://schemas.openxmlformats.org/officeDocument/2006/relationships/slide" Target="slides/slide9.xml"/><Relationship Id="rId59" Type="http://schemas.openxmlformats.org/officeDocument/2006/relationships/font" Target="fonts/Montserrat-italic.fntdata"/><Relationship Id="rId14" Type="http://schemas.openxmlformats.org/officeDocument/2006/relationships/slide" Target="slides/slide8.xml"/><Relationship Id="rId58" Type="http://schemas.openxmlformats.org/officeDocument/2006/relationships/font" Target="fonts/Montserrat-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0c676ded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a0c676deda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 name="Google Shape;40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6" name="Google Shape;57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4" name="Google Shape;59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9" name="Google Shape;62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1" name="Google Shape;67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8" name="Google Shape;68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2" name="Google Shape;72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9" name="Google Shape;73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0" name="Google Shape;770;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4" name="Google Shape;794;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4" name="Google Shape;804;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2" name="Google Shape;812;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0" name="Google Shape;82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1" name="Google Shape;831;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8" name="Google Shape;83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63"/>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 name="Google Shape;17;p63"/>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8" name="Google Shape;18;p6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6"/>
          <p:cNvSpPr/>
          <p:nvPr>
            <p:ph idx="2" type="pic"/>
          </p:nvPr>
        </p:nvSpPr>
        <p:spPr>
          <a:xfrm>
            <a:off x="1792288" y="612775"/>
            <a:ext cx="5486400" cy="4114800"/>
          </a:xfrm>
          <a:prstGeom prst="rect">
            <a:avLst/>
          </a:prstGeom>
          <a:noFill/>
          <a:ln>
            <a:noFill/>
          </a:ln>
        </p:spPr>
      </p:sp>
      <p:sp>
        <p:nvSpPr>
          <p:cNvPr id="68" name="Google Shape;68;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hyperlink" Target="https://youtu.be/etXcq2kuGLs?si=G73E3C5R4xPwsEz9"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5.png"/><Relationship Id="rId7" Type="http://schemas.openxmlformats.org/officeDocument/2006/relationships/image" Target="../media/image1.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13.png"/><Relationship Id="rId5"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2.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44.png"/><Relationship Id="rId7"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39.png"/><Relationship Id="rId5"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3.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0.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7.png"/><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7.png"/><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1.jpg"/><Relationship Id="rId4" Type="http://schemas.openxmlformats.org/officeDocument/2006/relationships/image" Target="../media/image51.png"/><Relationship Id="rId9" Type="http://schemas.openxmlformats.org/officeDocument/2006/relationships/image" Target="../media/image55.png"/><Relationship Id="rId5" Type="http://schemas.openxmlformats.org/officeDocument/2006/relationships/image" Target="../media/image49.png"/><Relationship Id="rId6" Type="http://schemas.openxmlformats.org/officeDocument/2006/relationships/image" Target="../media/image47.png"/><Relationship Id="rId7" Type="http://schemas.openxmlformats.org/officeDocument/2006/relationships/image" Target="../media/image53.png"/><Relationship Id="rId8"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7.png"/><Relationship Id="rId4" Type="http://schemas.openxmlformats.org/officeDocument/2006/relationships/image" Target="../media/image56.png"/><Relationship Id="rId5" Type="http://schemas.openxmlformats.org/officeDocument/2006/relationships/image" Target="../media/image64.png"/><Relationship Id="rId6" Type="http://schemas.openxmlformats.org/officeDocument/2006/relationships/image" Target="../media/image6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6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1.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a0c676deda_1_0"/>
          <p:cNvSpPr/>
          <p:nvPr/>
        </p:nvSpPr>
        <p:spPr>
          <a:xfrm>
            <a:off x="16560" y="0"/>
            <a:ext cx="18253440" cy="10286640"/>
          </a:xfrm>
          <a:custGeom>
            <a:rect b="b" l="l" r="r" t="t"/>
            <a:pathLst>
              <a:path extrusionOk="0" h="10286640" w="18253440">
                <a:moveTo>
                  <a:pt x="0" y="0"/>
                </a:moveTo>
                <a:lnTo>
                  <a:pt x="18253440" y="0"/>
                </a:lnTo>
                <a:lnTo>
                  <a:pt x="18253440" y="10286640"/>
                </a:lnTo>
                <a:lnTo>
                  <a:pt x="0" y="10286640"/>
                </a:lnTo>
                <a:lnTo>
                  <a:pt x="0" y="0"/>
                </a:lnTo>
                <a:close/>
              </a:path>
            </a:pathLst>
          </a:custGeom>
          <a:blipFill rotWithShape="1">
            <a:blip r:embed="rId3">
              <a:alphaModFix amt="62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89" name="Google Shape;89;g3a0c676deda_1_0"/>
          <p:cNvGraphicFramePr/>
          <p:nvPr/>
        </p:nvGraphicFramePr>
        <p:xfrm>
          <a:off x="10656720" y="1940400"/>
          <a:ext cx="3000000" cy="3000000"/>
        </p:xfrm>
        <a:graphic>
          <a:graphicData uri="http://schemas.openxmlformats.org/drawingml/2006/table">
            <a:tbl>
              <a:tblPr>
                <a:noFill/>
                <a:tableStyleId>{A82F5AA0-886F-4AD3-B54A-C191DF9C00A1}</a:tableStyleId>
              </a:tblPr>
              <a:tblGrid>
                <a:gridCol w="3036750"/>
                <a:gridCol w="4329250"/>
              </a:tblGrid>
              <a:tr h="7190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4"/>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Día, dd/mm/yyyy</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190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4"/>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00:00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0" name="Google Shape;90;g3a0c676deda_1_0"/>
          <p:cNvSpPr txBox="1"/>
          <p:nvPr/>
        </p:nvSpPr>
        <p:spPr>
          <a:xfrm>
            <a:off x="1618360" y="4512750"/>
            <a:ext cx="150513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Laboratorio de Redes de Computadoras 1 [Sección]</a:t>
            </a:r>
            <a:endParaRPr b="0" i="0" sz="1400" u="none" cap="none" strike="noStrike">
              <a:solidFill>
                <a:srgbClr val="000000"/>
              </a:solidFill>
              <a:latin typeface="Arial"/>
              <a:ea typeface="Arial"/>
              <a:cs typeface="Arial"/>
              <a:sym typeface="Arial"/>
            </a:endParaRPr>
          </a:p>
        </p:txBody>
      </p:sp>
      <p:sp>
        <p:nvSpPr>
          <p:cNvPr id="91" name="Google Shape;91;g3a0c676deda_1_0"/>
          <p:cNvSpPr txBox="1"/>
          <p:nvPr/>
        </p:nvSpPr>
        <p:spPr>
          <a:xfrm>
            <a:off x="3648960" y="5807475"/>
            <a:ext cx="109893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Nombre Auxiliar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95" name="Shape 95"/>
        <p:cNvGrpSpPr/>
        <p:nvPr/>
      </p:nvGrpSpPr>
      <p:grpSpPr>
        <a:xfrm>
          <a:off x="0" y="0"/>
          <a:ext cx="0" cy="0"/>
          <a:chOff x="0" y="0"/>
          <a:chExt cx="0" cy="0"/>
        </a:xfrm>
      </p:grpSpPr>
      <p:grpSp>
        <p:nvGrpSpPr>
          <p:cNvPr id="96" name="Google Shape;96;p1"/>
          <p:cNvGrpSpPr/>
          <p:nvPr/>
        </p:nvGrpSpPr>
        <p:grpSpPr>
          <a:xfrm>
            <a:off x="-5028099" y="1539161"/>
            <a:ext cx="7719139" cy="7719139"/>
            <a:chOff x="0" y="0"/>
            <a:chExt cx="812800" cy="812800"/>
          </a:xfrm>
        </p:grpSpPr>
        <p:sp>
          <p:nvSpPr>
            <p:cNvPr id="97" name="Google Shape;97;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9" name="Google Shape;99;p1"/>
          <p:cNvGrpSpPr/>
          <p:nvPr/>
        </p:nvGrpSpPr>
        <p:grpSpPr>
          <a:xfrm>
            <a:off x="15596960" y="1539161"/>
            <a:ext cx="7719139" cy="7719139"/>
            <a:chOff x="0" y="0"/>
            <a:chExt cx="812800" cy="812800"/>
          </a:xfrm>
        </p:grpSpPr>
        <p:sp>
          <p:nvSpPr>
            <p:cNvPr id="100" name="Google Shape;100;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2" name="Google Shape;102;p1"/>
          <p:cNvGrpSpPr/>
          <p:nvPr/>
        </p:nvGrpSpPr>
        <p:grpSpPr>
          <a:xfrm>
            <a:off x="1030217" y="1013257"/>
            <a:ext cx="860074" cy="333578"/>
            <a:chOff x="0" y="0"/>
            <a:chExt cx="1146765" cy="444771"/>
          </a:xfrm>
        </p:grpSpPr>
        <p:grpSp>
          <p:nvGrpSpPr>
            <p:cNvPr id="103" name="Google Shape;103;p1"/>
            <p:cNvGrpSpPr/>
            <p:nvPr/>
          </p:nvGrpSpPr>
          <p:grpSpPr>
            <a:xfrm>
              <a:off x="0" y="0"/>
              <a:ext cx="444771" cy="444771"/>
              <a:chOff x="0" y="0"/>
              <a:chExt cx="812800" cy="812800"/>
            </a:xfrm>
          </p:grpSpPr>
          <p:sp>
            <p:nvSpPr>
              <p:cNvPr id="104" name="Google Shape;104;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1"/>
            <p:cNvGrpSpPr/>
            <p:nvPr/>
          </p:nvGrpSpPr>
          <p:grpSpPr>
            <a:xfrm>
              <a:off x="701994" y="0"/>
              <a:ext cx="444771" cy="444771"/>
              <a:chOff x="0" y="0"/>
              <a:chExt cx="812800" cy="812800"/>
            </a:xfrm>
          </p:grpSpPr>
          <p:sp>
            <p:nvSpPr>
              <p:cNvPr id="107" name="Google Shape;107;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
        <p:nvSpPr>
          <p:cNvPr id="109" name="Google Shape;109;p1"/>
          <p:cNvSpPr txBox="1"/>
          <p:nvPr/>
        </p:nvSpPr>
        <p:spPr>
          <a:xfrm>
            <a:off x="3620867" y="3602936"/>
            <a:ext cx="11046300" cy="22851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6185"/>
              <a:buFont typeface="Arial"/>
              <a:buNone/>
            </a:pPr>
            <a:r>
              <a:rPr b="0" i="0" lang="en-US" sz="6185" u="none" cap="none" strike="noStrike">
                <a:solidFill>
                  <a:srgbClr val="000000"/>
                </a:solidFill>
                <a:latin typeface="Arial"/>
                <a:ea typeface="Arial"/>
                <a:cs typeface="Arial"/>
                <a:sym typeface="Arial"/>
              </a:rPr>
              <a:t>DISPOSITIVOS Y PROTOCOLOS EN LA CAPA 3</a:t>
            </a:r>
            <a:endParaRPr b="0" i="0" sz="900" u="none" cap="none" strike="noStrike">
              <a:solidFill>
                <a:srgbClr val="000000"/>
              </a:solidFill>
              <a:latin typeface="Arial"/>
              <a:ea typeface="Arial"/>
              <a:cs typeface="Arial"/>
              <a:sym typeface="Arial"/>
            </a:endParaRPr>
          </a:p>
        </p:txBody>
      </p:sp>
      <p:sp>
        <p:nvSpPr>
          <p:cNvPr id="110" name="Google Shape;110;p1"/>
          <p:cNvSpPr txBox="1"/>
          <p:nvPr/>
        </p:nvSpPr>
        <p:spPr>
          <a:xfrm>
            <a:off x="4289871" y="6033439"/>
            <a:ext cx="9708257" cy="118046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Sniglet"/>
                <a:ea typeface="Sniglet"/>
                <a:cs typeface="Sniglet"/>
                <a:sym typeface="Sniglet"/>
              </a:rPr>
              <a:t>ENRUTAMIENTO, ALTA DISPONIBILIDAD Y SEGURIDAD</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11108366" y="85530"/>
            <a:ext cx="7117533" cy="1886341"/>
          </a:xfrm>
          <a:custGeom>
            <a:rect b="b" l="l" r="r" t="t"/>
            <a:pathLst>
              <a:path extrusionOk="0" h="1886341" w="7117533">
                <a:moveTo>
                  <a:pt x="0" y="0"/>
                </a:moveTo>
                <a:lnTo>
                  <a:pt x="7117533" y="0"/>
                </a:lnTo>
                <a:lnTo>
                  <a:pt x="7117533" y="1886340"/>
                </a:lnTo>
                <a:lnTo>
                  <a:pt x="0" y="188634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1890291" y="7608605"/>
            <a:ext cx="9608475" cy="1997456"/>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609"/>
              <a:buFont typeface="Arial"/>
              <a:buNone/>
            </a:pPr>
            <a:r>
              <a:rPr b="0" i="0" lang="en-US" sz="3609" u="none" cap="none" strike="noStrike">
                <a:solidFill>
                  <a:srgbClr val="272626"/>
                </a:solidFill>
                <a:latin typeface="Sniglet"/>
                <a:ea typeface="Sniglet"/>
                <a:cs typeface="Sniglet"/>
                <a:sym typeface="Sniglet"/>
              </a:rPr>
              <a:t>Redes de Computadoras 1</a:t>
            </a:r>
            <a:endParaRPr b="0" i="0" sz="1400" u="none" cap="none" strike="noStrike">
              <a:solidFill>
                <a:srgbClr val="000000"/>
              </a:solidFill>
              <a:latin typeface="Arial"/>
              <a:ea typeface="Arial"/>
              <a:cs typeface="Arial"/>
              <a:sym typeface="Arial"/>
            </a:endParaRPr>
          </a:p>
          <a:p>
            <a:pPr indent="0" lvl="0" marL="0" marR="0" rtl="0" algn="l">
              <a:lnSpc>
                <a:spcPct val="140015"/>
              </a:lnSpc>
              <a:spcBef>
                <a:spcPts val="0"/>
              </a:spcBef>
              <a:spcAft>
                <a:spcPts val="0"/>
              </a:spcAft>
              <a:buClr>
                <a:srgbClr val="000000"/>
              </a:buClr>
              <a:buSzPts val="2609"/>
              <a:buFont typeface="Arial"/>
              <a:buNone/>
            </a:pPr>
            <a:r>
              <a:rPr b="0" i="0" lang="en-US" sz="2609" u="none" cap="none" strike="noStrike">
                <a:solidFill>
                  <a:srgbClr val="272626"/>
                </a:solidFill>
                <a:latin typeface="Sniglet"/>
                <a:ea typeface="Sniglet"/>
                <a:cs typeface="Sniglet"/>
                <a:sym typeface="Sniglet"/>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l">
              <a:lnSpc>
                <a:spcPct val="140015"/>
              </a:lnSpc>
              <a:spcBef>
                <a:spcPts val="0"/>
              </a:spcBef>
              <a:spcAft>
                <a:spcPts val="0"/>
              </a:spcAft>
              <a:buClr>
                <a:srgbClr val="000000"/>
              </a:buClr>
              <a:buSzPts val="2609"/>
              <a:buFont typeface="Arial"/>
              <a:buNone/>
            </a:pPr>
            <a:r>
              <a:rPr b="0" i="0" lang="en-US" sz="2609" u="none" cap="none" strike="noStrike">
                <a:solidFill>
                  <a:srgbClr val="272626"/>
                </a:solidFill>
                <a:latin typeface="Sniglet"/>
                <a:ea typeface="Sniglet"/>
                <a:cs typeface="Sniglet"/>
                <a:sym typeface="Sniglet"/>
              </a:rPr>
              <a:t>Facultad de Ingeniería</a:t>
            </a:r>
            <a:endParaRPr b="0" i="0" sz="1400" u="none" cap="none" strike="noStrike">
              <a:solidFill>
                <a:srgbClr val="000000"/>
              </a:solidFill>
              <a:latin typeface="Arial"/>
              <a:ea typeface="Arial"/>
              <a:cs typeface="Arial"/>
              <a:sym typeface="Arial"/>
            </a:endParaRPr>
          </a:p>
          <a:p>
            <a:pPr indent="0" lvl="0" marL="0" marR="0" rtl="0" algn="l">
              <a:lnSpc>
                <a:spcPct val="140015"/>
              </a:lnSpc>
              <a:spcBef>
                <a:spcPts val="0"/>
              </a:spcBef>
              <a:spcAft>
                <a:spcPts val="0"/>
              </a:spcAft>
              <a:buClr>
                <a:srgbClr val="000000"/>
              </a:buClr>
              <a:buSzPts val="2609"/>
              <a:buFont typeface="Arial"/>
              <a:buNone/>
            </a:pPr>
            <a:r>
              <a:rPr b="0" i="0" lang="en-US" sz="2609" u="none" cap="none" strike="noStrike">
                <a:solidFill>
                  <a:srgbClr val="272626"/>
                </a:solidFill>
                <a:latin typeface="Sniglet"/>
                <a:ea typeface="Sniglet"/>
                <a:cs typeface="Sniglet"/>
                <a:sym typeface="Sniglet"/>
              </a:rPr>
              <a:t>Universidad de San Carlos de Guatemala</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4958875" y="1979242"/>
            <a:ext cx="8370300" cy="156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0" i="0" lang="en-US" sz="9200" u="none" cap="none" strike="noStrike">
                <a:solidFill>
                  <a:srgbClr val="253754"/>
                </a:solidFill>
                <a:latin typeface="Shadows Into Light"/>
                <a:ea typeface="Shadows Into Light"/>
                <a:cs typeface="Shadows Into Light"/>
                <a:sym typeface="Shadows Into Light"/>
              </a:rPr>
              <a:t>UNIDAD 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17" name="Shape 117"/>
        <p:cNvGrpSpPr/>
        <p:nvPr/>
      </p:nvGrpSpPr>
      <p:grpSpPr>
        <a:xfrm>
          <a:off x="0" y="0"/>
          <a:ext cx="0" cy="0"/>
          <a:chOff x="0" y="0"/>
          <a:chExt cx="0" cy="0"/>
        </a:xfrm>
      </p:grpSpPr>
      <p:sp>
        <p:nvSpPr>
          <p:cNvPr id="118" name="Google Shape;118;p2"/>
          <p:cNvSpPr/>
          <p:nvPr/>
        </p:nvSpPr>
        <p:spPr>
          <a:xfrm rot="-6501204">
            <a:off x="-4899086" y="-8147683"/>
            <a:ext cx="9798172" cy="13143890"/>
          </a:xfrm>
          <a:custGeom>
            <a:rect b="b" l="l" r="r" t="t"/>
            <a:pathLst>
              <a:path extrusionOk="0" h="13143890" w="9798172">
                <a:moveTo>
                  <a:pt x="0" y="0"/>
                </a:moveTo>
                <a:lnTo>
                  <a:pt x="9798172" y="0"/>
                </a:lnTo>
                <a:lnTo>
                  <a:pt x="9798172" y="13143889"/>
                </a:lnTo>
                <a:lnTo>
                  <a:pt x="0" y="131438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rot="-8798399">
            <a:off x="11434890" y="2417332"/>
            <a:ext cx="9798172" cy="13143890"/>
          </a:xfrm>
          <a:custGeom>
            <a:rect b="b" l="l" r="r" t="t"/>
            <a:pathLst>
              <a:path extrusionOk="0" h="13143890" w="9798172">
                <a:moveTo>
                  <a:pt x="0" y="0"/>
                </a:moveTo>
                <a:lnTo>
                  <a:pt x="9798172" y="0"/>
                </a:lnTo>
                <a:lnTo>
                  <a:pt x="9798172"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rot="-10300046">
            <a:off x="9878897" y="-2159443"/>
            <a:ext cx="12908738" cy="11171926"/>
          </a:xfrm>
          <a:custGeom>
            <a:rect b="b" l="l" r="r" t="t"/>
            <a:pathLst>
              <a:path extrusionOk="0" h="11165647" w="12901483">
                <a:moveTo>
                  <a:pt x="0" y="0"/>
                </a:moveTo>
                <a:lnTo>
                  <a:pt x="12901483" y="0"/>
                </a:lnTo>
                <a:lnTo>
                  <a:pt x="12901483" y="11165647"/>
                </a:lnTo>
                <a:lnTo>
                  <a:pt x="0" y="1116564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
          <p:cNvSpPr/>
          <p:nvPr/>
        </p:nvSpPr>
        <p:spPr>
          <a:xfrm rot="458160">
            <a:off x="-3775194" y="6616870"/>
            <a:ext cx="8481393" cy="7340260"/>
          </a:xfrm>
          <a:custGeom>
            <a:rect b="b" l="l" r="r" t="t"/>
            <a:pathLst>
              <a:path extrusionOk="0" h="7340260" w="8481393">
                <a:moveTo>
                  <a:pt x="0" y="0"/>
                </a:moveTo>
                <a:lnTo>
                  <a:pt x="8481393" y="0"/>
                </a:lnTo>
                <a:lnTo>
                  <a:pt x="8481393" y="7340260"/>
                </a:lnTo>
                <a:lnTo>
                  <a:pt x="0" y="734026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2344704" y="1943183"/>
            <a:ext cx="6411600" cy="1320000"/>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Clr>
                <a:srgbClr val="000000"/>
              </a:buClr>
              <a:buSzPts val="7662"/>
              <a:buFont typeface="Arial"/>
              <a:buNone/>
            </a:pPr>
            <a:r>
              <a:rPr b="1" i="0" lang="en-US" sz="7662" u="none" cap="none" strike="noStrike">
                <a:solidFill>
                  <a:srgbClr val="152540"/>
                </a:solidFill>
                <a:latin typeface="Arial"/>
                <a:ea typeface="Arial"/>
                <a:cs typeface="Arial"/>
                <a:sym typeface="Arial"/>
              </a:rPr>
              <a:t>AGENDA</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1927375" y="4225275"/>
            <a:ext cx="12747300" cy="3309000"/>
          </a:xfrm>
          <a:prstGeom prst="rect">
            <a:avLst/>
          </a:prstGeom>
          <a:noFill/>
          <a:ln>
            <a:noFill/>
          </a:ln>
        </p:spPr>
        <p:txBody>
          <a:bodyPr anchorCtr="0" anchor="t" bIns="0" lIns="0" spcFirstLastPara="1" rIns="0" wrap="square" tIns="0">
            <a:spAutoFit/>
          </a:bodyPr>
          <a:lstStyle/>
          <a:p>
            <a:pPr indent="-446310" lvl="1" marL="892621" marR="0" rtl="0" algn="l">
              <a:lnSpc>
                <a:spcPct val="140009"/>
              </a:lnSpc>
              <a:spcBef>
                <a:spcPts val="0"/>
              </a:spcBef>
              <a:spcAft>
                <a:spcPts val="0"/>
              </a:spcAft>
              <a:buClr>
                <a:srgbClr val="152540"/>
              </a:buClr>
              <a:buSzPts val="4134"/>
              <a:buFont typeface="Arial"/>
              <a:buChar char="•"/>
            </a:pPr>
            <a:r>
              <a:rPr b="0" i="0" lang="en-US" sz="4134" u="none" cap="none" strike="noStrike">
                <a:solidFill>
                  <a:srgbClr val="152540"/>
                </a:solidFill>
                <a:latin typeface="Arial"/>
                <a:ea typeface="Arial"/>
                <a:cs typeface="Arial"/>
                <a:sym typeface="Arial"/>
              </a:rPr>
              <a:t>Foro Semanal</a:t>
            </a:r>
            <a:endParaRPr b="0" i="0" sz="1400" u="none" cap="none" strike="noStrike">
              <a:solidFill>
                <a:srgbClr val="000000"/>
              </a:solidFill>
              <a:latin typeface="Arial"/>
              <a:ea typeface="Arial"/>
              <a:cs typeface="Arial"/>
              <a:sym typeface="Arial"/>
            </a:endParaRPr>
          </a:p>
          <a:p>
            <a:pPr indent="-446311" lvl="1" marL="892620" marR="0" rtl="0" algn="l">
              <a:lnSpc>
                <a:spcPct val="140009"/>
              </a:lnSpc>
              <a:spcBef>
                <a:spcPts val="0"/>
              </a:spcBef>
              <a:spcAft>
                <a:spcPts val="0"/>
              </a:spcAft>
              <a:buClr>
                <a:srgbClr val="152540"/>
              </a:buClr>
              <a:buSzPts val="4134"/>
              <a:buFont typeface="Arial"/>
              <a:buChar char="•"/>
            </a:pPr>
            <a:r>
              <a:rPr b="0" i="0" lang="en-US" sz="4134" u="none" cap="none" strike="noStrike">
                <a:solidFill>
                  <a:srgbClr val="152540"/>
                </a:solidFill>
                <a:latin typeface="Arial"/>
                <a:ea typeface="Arial"/>
                <a:cs typeface="Arial"/>
                <a:sym typeface="Arial"/>
              </a:rPr>
              <a:t>Protocolos de Redundancia de puerta de enlace</a:t>
            </a:r>
            <a:endParaRPr/>
          </a:p>
          <a:p>
            <a:pPr indent="-446311" lvl="1" marL="892620" marR="0" rtl="0" algn="l">
              <a:lnSpc>
                <a:spcPct val="140009"/>
              </a:lnSpc>
              <a:spcBef>
                <a:spcPts val="0"/>
              </a:spcBef>
              <a:spcAft>
                <a:spcPts val="0"/>
              </a:spcAft>
              <a:buClr>
                <a:srgbClr val="152540"/>
              </a:buClr>
              <a:buSzPts val="4134"/>
              <a:buFont typeface="Arial"/>
              <a:buChar char="•"/>
            </a:pPr>
            <a:r>
              <a:rPr b="0" i="0" lang="en-US" sz="4134" u="none" cap="none" strike="noStrike">
                <a:solidFill>
                  <a:srgbClr val="152540"/>
                </a:solidFill>
                <a:latin typeface="Arial"/>
                <a:ea typeface="Arial"/>
                <a:cs typeface="Arial"/>
                <a:sym typeface="Arial"/>
              </a:rPr>
              <a:t>Configuración básica de firewall</a:t>
            </a:r>
            <a:endParaRPr/>
          </a:p>
          <a:p>
            <a:pPr indent="-446310" lvl="1" marL="892621" marR="0" rtl="0" algn="l">
              <a:lnSpc>
                <a:spcPct val="140009"/>
              </a:lnSpc>
              <a:spcBef>
                <a:spcPts val="0"/>
              </a:spcBef>
              <a:spcAft>
                <a:spcPts val="0"/>
              </a:spcAft>
              <a:buClr>
                <a:srgbClr val="152540"/>
              </a:buClr>
              <a:buSzPts val="4134"/>
              <a:buFont typeface="Arial"/>
              <a:buChar char="•"/>
            </a:pPr>
            <a:r>
              <a:rPr b="0" i="0" lang="en-US" sz="4134" u="none" cap="none" strike="noStrike">
                <a:solidFill>
                  <a:srgbClr val="152540"/>
                </a:solidFill>
                <a:latin typeface="Arial"/>
                <a:ea typeface="Arial"/>
                <a:cs typeface="Arial"/>
                <a:sym typeface="Arial"/>
              </a:rPr>
              <a:t>ACL (Listas de control de acceso)</a:t>
            </a:r>
            <a:endParaRPr/>
          </a:p>
        </p:txBody>
      </p:sp>
      <p:sp>
        <p:nvSpPr>
          <p:cNvPr id="124" name="Google Shape;124;p2"/>
          <p:cNvSpPr txBox="1"/>
          <p:nvPr/>
        </p:nvSpPr>
        <p:spPr>
          <a:xfrm>
            <a:off x="15420400" y="4356775"/>
            <a:ext cx="1563000" cy="33090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Clr>
                <a:srgbClr val="000000"/>
              </a:buClr>
              <a:buSzPts val="4134"/>
              <a:buFont typeface="Arial"/>
              <a:buNone/>
            </a:pPr>
            <a:r>
              <a:rPr b="1" i="0" lang="en-US" sz="4134" u="none" cap="none" strike="noStrike">
                <a:solidFill>
                  <a:schemeClr val="lt1"/>
                </a:solidFill>
                <a:latin typeface="Arial"/>
                <a:ea typeface="Arial"/>
                <a:cs typeface="Arial"/>
                <a:sym typeface="Arial"/>
              </a:rPr>
              <a:t>01</a:t>
            </a:r>
            <a:endParaRPr b="0" i="0" sz="1400" u="none" cap="none" strike="noStrike">
              <a:solidFill>
                <a:schemeClr val="lt1"/>
              </a:solidFill>
              <a:latin typeface="Arial"/>
              <a:ea typeface="Arial"/>
              <a:cs typeface="Arial"/>
              <a:sym typeface="Arial"/>
            </a:endParaRPr>
          </a:p>
          <a:p>
            <a:pPr indent="0" lvl="0" marL="0" marR="0" rtl="0" algn="ctr">
              <a:lnSpc>
                <a:spcPct val="140009"/>
              </a:lnSpc>
              <a:spcBef>
                <a:spcPts val="0"/>
              </a:spcBef>
              <a:spcAft>
                <a:spcPts val="0"/>
              </a:spcAft>
              <a:buClr>
                <a:srgbClr val="000000"/>
              </a:buClr>
              <a:buSzPts val="4134"/>
              <a:buFont typeface="Arial"/>
              <a:buNone/>
            </a:pPr>
            <a:r>
              <a:rPr b="1" i="0" lang="en-US" sz="4134" u="none" cap="none" strike="noStrike">
                <a:solidFill>
                  <a:schemeClr val="lt1"/>
                </a:solidFill>
                <a:latin typeface="Arial"/>
                <a:ea typeface="Arial"/>
                <a:cs typeface="Arial"/>
                <a:sym typeface="Arial"/>
              </a:rPr>
              <a:t>02</a:t>
            </a:r>
            <a:endParaRPr b="1" i="0" sz="4134" u="none" cap="none" strike="noStrike">
              <a:solidFill>
                <a:schemeClr val="lt1"/>
              </a:solidFill>
              <a:latin typeface="Arial"/>
              <a:ea typeface="Arial"/>
              <a:cs typeface="Arial"/>
              <a:sym typeface="Arial"/>
            </a:endParaRPr>
          </a:p>
          <a:p>
            <a:pPr indent="0" lvl="0" marL="0" marR="0" rtl="0" algn="ctr">
              <a:lnSpc>
                <a:spcPct val="140009"/>
              </a:lnSpc>
              <a:spcBef>
                <a:spcPts val="0"/>
              </a:spcBef>
              <a:spcAft>
                <a:spcPts val="0"/>
              </a:spcAft>
              <a:buClr>
                <a:srgbClr val="000000"/>
              </a:buClr>
              <a:buSzPts val="4134"/>
              <a:buFont typeface="Arial"/>
              <a:buNone/>
            </a:pPr>
            <a:r>
              <a:rPr b="1" i="0" lang="en-US" sz="4134" u="none" cap="none" strike="noStrike">
                <a:solidFill>
                  <a:schemeClr val="lt1"/>
                </a:solidFill>
                <a:latin typeface="Arial"/>
                <a:ea typeface="Arial"/>
                <a:cs typeface="Arial"/>
                <a:sym typeface="Arial"/>
              </a:rPr>
              <a:t>03</a:t>
            </a:r>
            <a:endParaRPr/>
          </a:p>
          <a:p>
            <a:pPr indent="0" lvl="0" marL="0" marR="0" rtl="0" algn="ctr">
              <a:lnSpc>
                <a:spcPct val="140009"/>
              </a:lnSpc>
              <a:spcBef>
                <a:spcPts val="0"/>
              </a:spcBef>
              <a:spcAft>
                <a:spcPts val="0"/>
              </a:spcAft>
              <a:buClr>
                <a:srgbClr val="000000"/>
              </a:buClr>
              <a:buSzPts val="4134"/>
              <a:buFont typeface="Arial"/>
              <a:buNone/>
            </a:pPr>
            <a:r>
              <a:rPr b="1" i="0" lang="en-US" sz="4134" u="none" cap="none" strike="noStrike">
                <a:solidFill>
                  <a:schemeClr val="lt1"/>
                </a:solidFill>
                <a:latin typeface="Arial"/>
                <a:ea typeface="Arial"/>
                <a:cs typeface="Arial"/>
                <a:sym typeface="Arial"/>
              </a:rPr>
              <a:t>04</a:t>
            </a:r>
            <a:endParaRPr/>
          </a:p>
        </p:txBody>
      </p:sp>
      <p:sp>
        <p:nvSpPr>
          <p:cNvPr id="125" name="Google Shape;125;p2"/>
          <p:cNvSpPr txBox="1"/>
          <p:nvPr/>
        </p:nvSpPr>
        <p:spPr>
          <a:xfrm>
            <a:off x="2497100" y="8196625"/>
            <a:ext cx="11100300" cy="1179300"/>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Clr>
                <a:srgbClr val="000000"/>
              </a:buClr>
              <a:buSzPts val="7662"/>
              <a:buFont typeface="Arial"/>
              <a:buNone/>
            </a:pPr>
            <a:r>
              <a:rPr b="1" lang="en-US" sz="7662" u="sng">
                <a:solidFill>
                  <a:schemeClr val="hlink"/>
                </a:solidFill>
                <a:hlinkClick r:id="rId5"/>
              </a:rPr>
              <a:t>video semanal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129" name="Shape 129"/>
        <p:cNvGrpSpPr/>
        <p:nvPr/>
      </p:nvGrpSpPr>
      <p:grpSpPr>
        <a:xfrm>
          <a:off x="0" y="0"/>
          <a:ext cx="0" cy="0"/>
          <a:chOff x="0" y="0"/>
          <a:chExt cx="0" cy="0"/>
        </a:xfrm>
      </p:grpSpPr>
      <p:sp>
        <p:nvSpPr>
          <p:cNvPr id="130" name="Google Shape;130;p3"/>
          <p:cNvSpPr txBox="1"/>
          <p:nvPr/>
        </p:nvSpPr>
        <p:spPr>
          <a:xfrm>
            <a:off x="5120841" y="1832515"/>
            <a:ext cx="8046318" cy="1184910"/>
          </a:xfrm>
          <a:prstGeom prst="rect">
            <a:avLst/>
          </a:prstGeom>
          <a:noFill/>
          <a:ln>
            <a:noFill/>
          </a:ln>
        </p:spPr>
        <p:txBody>
          <a:bodyPr anchorCtr="0" anchor="t" bIns="0" lIns="0" spcFirstLastPara="1" rIns="0" wrap="square" tIns="0">
            <a:spAutoFit/>
          </a:bodyPr>
          <a:lstStyle/>
          <a:p>
            <a:pPr indent="0" lvl="1" marL="0" marR="0" rtl="0" algn="ctr">
              <a:lnSpc>
                <a:spcPct val="114000"/>
              </a:lnSpc>
              <a:spcBef>
                <a:spcPts val="0"/>
              </a:spcBef>
              <a:spcAft>
                <a:spcPts val="0"/>
              </a:spcAft>
              <a:buClr>
                <a:srgbClr val="000000"/>
              </a:buClr>
              <a:buSzPts val="8000"/>
              <a:buFont typeface="Arial"/>
              <a:buNone/>
            </a:pPr>
            <a:r>
              <a:rPr b="0" i="0" lang="en-US" sz="8000" u="none" cap="none" strike="noStrike">
                <a:solidFill>
                  <a:srgbClr val="152540"/>
                </a:solidFill>
                <a:latin typeface="Arial"/>
                <a:ea typeface="Arial"/>
                <a:cs typeface="Arial"/>
                <a:sym typeface="Arial"/>
              </a:rPr>
              <a:t>Compentencias</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3300157" y="4505349"/>
            <a:ext cx="11483400" cy="3865802"/>
          </a:xfrm>
          <a:prstGeom prst="rect">
            <a:avLst/>
          </a:prstGeom>
          <a:noFill/>
          <a:ln>
            <a:noFill/>
          </a:ln>
        </p:spPr>
        <p:txBody>
          <a:bodyPr anchorCtr="0" anchor="t" bIns="0" lIns="0" spcFirstLastPara="1" rIns="0" wrap="square" tIns="0">
            <a:spAutoFit/>
          </a:bodyPr>
          <a:lstStyle/>
          <a:p>
            <a:pPr indent="0" lvl="0" marL="0" marR="0" rtl="0" algn="ctr">
              <a:lnSpc>
                <a:spcPct val="157000"/>
              </a:lnSpc>
              <a:spcBef>
                <a:spcPts val="0"/>
              </a:spcBef>
              <a:spcAft>
                <a:spcPts val="0"/>
              </a:spcAft>
              <a:buNone/>
            </a:pPr>
            <a:r>
              <a:rPr b="0" i="0" lang="en-US" sz="3200" u="none" cap="none" strike="noStrike">
                <a:solidFill>
                  <a:srgbClr val="000000"/>
                </a:solidFill>
                <a:latin typeface="Arial"/>
                <a:ea typeface="Arial"/>
                <a:cs typeface="Arial"/>
                <a:sym typeface="Arial"/>
              </a:rPr>
              <a:t>Valor: Compromiso con la seguridad</a:t>
            </a:r>
            <a:endParaRPr/>
          </a:p>
          <a:p>
            <a:pPr indent="0" lvl="0" marL="0" marR="0" rtl="0" algn="ctr">
              <a:lnSpc>
                <a:spcPct val="157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ctr">
              <a:lnSpc>
                <a:spcPct val="157000"/>
              </a:lnSpc>
              <a:spcBef>
                <a:spcPts val="0"/>
              </a:spcBef>
              <a:spcAft>
                <a:spcPts val="0"/>
              </a:spcAft>
              <a:buNone/>
            </a:pPr>
            <a:r>
              <a:rPr b="0" i="0" lang="en-US" sz="3200" u="none" cap="none" strike="noStrike">
                <a:solidFill>
                  <a:srgbClr val="000000"/>
                </a:solidFill>
                <a:latin typeface="Arial"/>
                <a:ea typeface="Arial"/>
                <a:cs typeface="Arial"/>
                <a:sym typeface="Arial"/>
              </a:rPr>
              <a:t>Los protocolos de alta disponibilidad (HSRP, VRRP, GLBP) y las ACLs/firewalls requieren compromiso para asegurar redes estables y seguras.</a:t>
            </a:r>
            <a:endParaRPr/>
          </a:p>
        </p:txBody>
      </p:sp>
      <p:sp>
        <p:nvSpPr>
          <p:cNvPr id="132" name="Google Shape;132;p3"/>
          <p:cNvSpPr/>
          <p:nvPr/>
        </p:nvSpPr>
        <p:spPr>
          <a:xfrm rot="10800000">
            <a:off x="493096" y="-754562"/>
            <a:ext cx="6109506" cy="1966150"/>
          </a:xfrm>
          <a:custGeom>
            <a:rect b="b" l="l" r="r" t="t"/>
            <a:pathLst>
              <a:path extrusionOk="0" h="1966150" w="6109506">
                <a:moveTo>
                  <a:pt x="0" y="0"/>
                </a:moveTo>
                <a:lnTo>
                  <a:pt x="6109505" y="0"/>
                </a:lnTo>
                <a:lnTo>
                  <a:pt x="6109505" y="1966150"/>
                </a:lnTo>
                <a:lnTo>
                  <a:pt x="0" y="196615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14746851" y="9116938"/>
            <a:ext cx="4026521" cy="2868897"/>
          </a:xfrm>
          <a:custGeom>
            <a:rect b="b" l="l" r="r" t="t"/>
            <a:pathLst>
              <a:path extrusionOk="0" h="2868897" w="4026521">
                <a:moveTo>
                  <a:pt x="0" y="0"/>
                </a:moveTo>
                <a:lnTo>
                  <a:pt x="4026522" y="0"/>
                </a:lnTo>
                <a:lnTo>
                  <a:pt x="4026522" y="2868897"/>
                </a:lnTo>
                <a:lnTo>
                  <a:pt x="0" y="28688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1028700" y="7339924"/>
            <a:ext cx="897957" cy="1287393"/>
          </a:xfrm>
          <a:custGeom>
            <a:rect b="b" l="l" r="r" t="t"/>
            <a:pathLst>
              <a:path extrusionOk="0" h="1287393" w="897957">
                <a:moveTo>
                  <a:pt x="0" y="0"/>
                </a:moveTo>
                <a:lnTo>
                  <a:pt x="897957" y="0"/>
                </a:lnTo>
                <a:lnTo>
                  <a:pt x="897957" y="1287393"/>
                </a:lnTo>
                <a:lnTo>
                  <a:pt x="0" y="128739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286027" y="9078995"/>
            <a:ext cx="3261822" cy="2564607"/>
          </a:xfrm>
          <a:custGeom>
            <a:rect b="b" l="l" r="r" t="t"/>
            <a:pathLst>
              <a:path extrusionOk="0" h="2564607" w="3261822">
                <a:moveTo>
                  <a:pt x="0" y="0"/>
                </a:moveTo>
                <a:lnTo>
                  <a:pt x="3261821" y="0"/>
                </a:lnTo>
                <a:lnTo>
                  <a:pt x="3261821" y="2564608"/>
                </a:lnTo>
                <a:lnTo>
                  <a:pt x="0" y="256460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14746851" y="-605637"/>
            <a:ext cx="2345750" cy="2796721"/>
          </a:xfrm>
          <a:custGeom>
            <a:rect b="b" l="l" r="r" t="t"/>
            <a:pathLst>
              <a:path extrusionOk="0" h="2796721" w="2345750">
                <a:moveTo>
                  <a:pt x="0" y="0"/>
                </a:moveTo>
                <a:lnTo>
                  <a:pt x="2345750" y="0"/>
                </a:lnTo>
                <a:lnTo>
                  <a:pt x="2345750" y="2796721"/>
                </a:lnTo>
                <a:lnTo>
                  <a:pt x="0" y="279672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3"/>
          <p:cNvSpPr txBox="1"/>
          <p:nvPr/>
        </p:nvSpPr>
        <p:spPr>
          <a:xfrm>
            <a:off x="4916557" y="3181440"/>
            <a:ext cx="8250600" cy="769800"/>
          </a:xfrm>
          <a:prstGeom prst="rect">
            <a:avLst/>
          </a:prstGeom>
          <a:noFill/>
          <a:ln>
            <a:noFill/>
          </a:ln>
        </p:spPr>
        <p:txBody>
          <a:bodyPr anchorCtr="0" anchor="t" bIns="0" lIns="0" spcFirstLastPara="1" rIns="0" wrap="square" tIns="0">
            <a:spAutoFit/>
          </a:bodyPr>
          <a:lstStyle/>
          <a:p>
            <a:pPr indent="0" lvl="1" marL="0" marR="0" rtl="0" algn="ctr">
              <a:lnSpc>
                <a:spcPct val="113998"/>
              </a:lnSpc>
              <a:spcBef>
                <a:spcPts val="0"/>
              </a:spcBef>
              <a:spcAft>
                <a:spcPts val="0"/>
              </a:spcAft>
              <a:buClr>
                <a:srgbClr val="000000"/>
              </a:buClr>
              <a:buSzPts val="5001"/>
              <a:buFont typeface="Arial"/>
              <a:buNone/>
            </a:pPr>
            <a:r>
              <a:rPr b="0" i="0" lang="en-US" sz="5001" u="none" cap="none" strike="noStrike">
                <a:solidFill>
                  <a:srgbClr val="152540"/>
                </a:solidFill>
                <a:latin typeface="Arial"/>
                <a:ea typeface="Arial"/>
                <a:cs typeface="Arial"/>
                <a:sym typeface="Arial"/>
              </a:rPr>
              <a:t>QUE DESARROLLAREMOS</a:t>
            </a:r>
            <a:endParaRPr b="0" i="0" sz="100" u="none" cap="none" strike="noStrike">
              <a:solidFill>
                <a:srgbClr val="000000"/>
              </a:solidFill>
              <a:latin typeface="Arial"/>
              <a:ea typeface="Arial"/>
              <a:cs typeface="Arial"/>
              <a:sym typeface="Arial"/>
            </a:endParaRPr>
          </a:p>
        </p:txBody>
      </p:sp>
      <p:sp>
        <p:nvSpPr>
          <p:cNvPr id="138" name="Google Shape;138;p3"/>
          <p:cNvSpPr/>
          <p:nvPr/>
        </p:nvSpPr>
        <p:spPr>
          <a:xfrm rot="-1739179">
            <a:off x="3507390" y="2018898"/>
            <a:ext cx="1543738" cy="1406205"/>
          </a:xfrm>
          <a:custGeom>
            <a:rect b="b" l="l" r="r" t="t"/>
            <a:pathLst>
              <a:path extrusionOk="0" h="1406205" w="1543738">
                <a:moveTo>
                  <a:pt x="0" y="0"/>
                </a:moveTo>
                <a:lnTo>
                  <a:pt x="1543737" y="0"/>
                </a:lnTo>
                <a:lnTo>
                  <a:pt x="1543737" y="1406204"/>
                </a:lnTo>
                <a:lnTo>
                  <a:pt x="0" y="1406204"/>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3"/>
          <p:cNvSpPr/>
          <p:nvPr/>
        </p:nvSpPr>
        <p:spPr>
          <a:xfrm rot="9024564">
            <a:off x="13404327" y="2689148"/>
            <a:ext cx="1485172" cy="1352856"/>
          </a:xfrm>
          <a:custGeom>
            <a:rect b="b" l="l" r="r" t="t"/>
            <a:pathLst>
              <a:path extrusionOk="0" h="1352856" w="1485172">
                <a:moveTo>
                  <a:pt x="0" y="0"/>
                </a:moveTo>
                <a:lnTo>
                  <a:pt x="1485172" y="0"/>
                </a:lnTo>
                <a:lnTo>
                  <a:pt x="1485172" y="1352856"/>
                </a:lnTo>
                <a:lnTo>
                  <a:pt x="0" y="135285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43" name="Shape 143"/>
        <p:cNvGrpSpPr/>
        <p:nvPr/>
      </p:nvGrpSpPr>
      <p:grpSpPr>
        <a:xfrm>
          <a:off x="0" y="0"/>
          <a:ext cx="0" cy="0"/>
          <a:chOff x="0" y="0"/>
          <a:chExt cx="0" cy="0"/>
        </a:xfrm>
      </p:grpSpPr>
      <p:sp>
        <p:nvSpPr>
          <p:cNvPr id="144" name="Google Shape;144;p4"/>
          <p:cNvSpPr/>
          <p:nvPr/>
        </p:nvSpPr>
        <p:spPr>
          <a:xfrm rot="6982806">
            <a:off x="720300" y="6421716"/>
            <a:ext cx="8842272" cy="11861584"/>
          </a:xfrm>
          <a:custGeom>
            <a:rect b="b" l="l" r="r" t="t"/>
            <a:pathLst>
              <a:path extrusionOk="0" h="11861584" w="8842272">
                <a:moveTo>
                  <a:pt x="0" y="0"/>
                </a:moveTo>
                <a:lnTo>
                  <a:pt x="8842272" y="0"/>
                </a:lnTo>
                <a:lnTo>
                  <a:pt x="8842272" y="11861584"/>
                </a:lnTo>
                <a:lnTo>
                  <a:pt x="0" y="11861584"/>
                </a:lnTo>
                <a:lnTo>
                  <a:pt x="0" y="0"/>
                </a:lnTo>
                <a:close/>
              </a:path>
            </a:pathLst>
          </a:custGeom>
          <a:blipFill rotWithShape="1">
            <a:blip r:embed="rId3">
              <a:alphaModFix amt="65999"/>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4"/>
          <p:cNvSpPr/>
          <p:nvPr/>
        </p:nvSpPr>
        <p:spPr>
          <a:xfrm rot="-6501204">
            <a:off x="11046831" y="-5088864"/>
            <a:ext cx="8807178" cy="11814508"/>
          </a:xfrm>
          <a:custGeom>
            <a:rect b="b" l="l" r="r" t="t"/>
            <a:pathLst>
              <a:path extrusionOk="0" h="11814508" w="8807178">
                <a:moveTo>
                  <a:pt x="0" y="0"/>
                </a:moveTo>
                <a:lnTo>
                  <a:pt x="8807178" y="0"/>
                </a:lnTo>
                <a:lnTo>
                  <a:pt x="8807178" y="11814507"/>
                </a:lnTo>
                <a:lnTo>
                  <a:pt x="0" y="11814507"/>
                </a:lnTo>
                <a:lnTo>
                  <a:pt x="0" y="0"/>
                </a:lnTo>
                <a:close/>
              </a:path>
            </a:pathLst>
          </a:custGeom>
          <a:blipFill rotWithShape="1">
            <a:blip r:embed="rId3">
              <a:alphaModFix amt="65999"/>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rot="10571821">
            <a:off x="10628437" y="8363453"/>
            <a:ext cx="5947318" cy="7978109"/>
          </a:xfrm>
          <a:custGeom>
            <a:rect b="b" l="l" r="r" t="t"/>
            <a:pathLst>
              <a:path extrusionOk="0" h="7978109" w="5947318">
                <a:moveTo>
                  <a:pt x="0" y="0"/>
                </a:moveTo>
                <a:lnTo>
                  <a:pt x="5947318" y="0"/>
                </a:lnTo>
                <a:lnTo>
                  <a:pt x="5947318" y="7978110"/>
                </a:lnTo>
                <a:lnTo>
                  <a:pt x="0" y="79781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rot="-5114765">
            <a:off x="11561828" y="5146485"/>
            <a:ext cx="8542938" cy="7393525"/>
          </a:xfrm>
          <a:custGeom>
            <a:rect b="b" l="l" r="r" t="t"/>
            <a:pathLst>
              <a:path extrusionOk="0" h="7393525" w="8542938">
                <a:moveTo>
                  <a:pt x="0" y="0"/>
                </a:moveTo>
                <a:lnTo>
                  <a:pt x="8542938" y="0"/>
                </a:lnTo>
                <a:lnTo>
                  <a:pt x="8542938" y="7393525"/>
                </a:lnTo>
                <a:lnTo>
                  <a:pt x="0" y="739352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rot="-5058328">
            <a:off x="13255544" y="-4131370"/>
            <a:ext cx="7156478" cy="6935278"/>
          </a:xfrm>
          <a:custGeom>
            <a:rect b="b" l="l" r="r" t="t"/>
            <a:pathLst>
              <a:path extrusionOk="0" h="6935278" w="7156478">
                <a:moveTo>
                  <a:pt x="0" y="0"/>
                </a:moveTo>
                <a:lnTo>
                  <a:pt x="7156479" y="0"/>
                </a:lnTo>
                <a:lnTo>
                  <a:pt x="7156479" y="6935279"/>
                </a:lnTo>
                <a:lnTo>
                  <a:pt x="0" y="693527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4"/>
          <p:cNvSpPr/>
          <p:nvPr/>
        </p:nvSpPr>
        <p:spPr>
          <a:xfrm rot="3318101">
            <a:off x="-3880130" y="6803731"/>
            <a:ext cx="10117864" cy="10062676"/>
          </a:xfrm>
          <a:custGeom>
            <a:rect b="b" l="l" r="r" t="t"/>
            <a:pathLst>
              <a:path extrusionOk="0" h="10062676" w="10117864">
                <a:moveTo>
                  <a:pt x="0" y="0"/>
                </a:moveTo>
                <a:lnTo>
                  <a:pt x="10117864" y="0"/>
                </a:lnTo>
                <a:lnTo>
                  <a:pt x="10117864" y="10062675"/>
                </a:lnTo>
                <a:lnTo>
                  <a:pt x="0" y="10062675"/>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rot="6800871">
            <a:off x="-1846725" y="-2878373"/>
            <a:ext cx="8542938" cy="7393525"/>
          </a:xfrm>
          <a:custGeom>
            <a:rect b="b" l="l" r="r" t="t"/>
            <a:pathLst>
              <a:path extrusionOk="0" h="7393525" w="8542938">
                <a:moveTo>
                  <a:pt x="0" y="0"/>
                </a:moveTo>
                <a:lnTo>
                  <a:pt x="8542938" y="0"/>
                </a:lnTo>
                <a:lnTo>
                  <a:pt x="8542938" y="7393525"/>
                </a:lnTo>
                <a:lnTo>
                  <a:pt x="0" y="739352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4"/>
          <p:cNvSpPr txBox="1"/>
          <p:nvPr/>
        </p:nvSpPr>
        <p:spPr>
          <a:xfrm>
            <a:off x="5141436" y="5727981"/>
            <a:ext cx="8005127" cy="1900317"/>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34"/>
              <a:buFont typeface="Arial"/>
              <a:buNone/>
            </a:pPr>
            <a:r>
              <a:rPr b="0" i="0" lang="en-US" sz="5434" u="none" cap="none" strike="noStrike">
                <a:solidFill>
                  <a:srgbClr val="152540"/>
                </a:solidFill>
                <a:latin typeface="Arial"/>
                <a:ea typeface="Arial"/>
                <a:cs typeface="Arial"/>
                <a:sym typeface="Arial"/>
              </a:rPr>
              <a:t>de puerta de enlace (Default Gateway)</a:t>
            </a:r>
            <a:endParaRPr b="0" i="0" sz="1400" u="none" cap="none" strike="noStrike">
              <a:solidFill>
                <a:srgbClr val="000000"/>
              </a:solidFill>
              <a:latin typeface="Arial"/>
              <a:ea typeface="Arial"/>
              <a:cs typeface="Arial"/>
              <a:sym typeface="Arial"/>
            </a:endParaRPr>
          </a:p>
        </p:txBody>
      </p:sp>
      <p:sp>
        <p:nvSpPr>
          <p:cNvPr id="152" name="Google Shape;152;p4"/>
          <p:cNvSpPr txBox="1"/>
          <p:nvPr/>
        </p:nvSpPr>
        <p:spPr>
          <a:xfrm>
            <a:off x="2802575" y="3801352"/>
            <a:ext cx="12682850" cy="2040929"/>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898"/>
              <a:buFont typeface="Arial"/>
              <a:buNone/>
            </a:pPr>
            <a:r>
              <a:rPr b="1" i="0" lang="en-US" sz="11898" u="none" cap="none" strike="noStrike">
                <a:solidFill>
                  <a:srgbClr val="152540"/>
                </a:solidFill>
                <a:latin typeface="Arial"/>
                <a:ea typeface="Arial"/>
                <a:cs typeface="Arial"/>
                <a:sym typeface="Arial"/>
              </a:rPr>
              <a:t>REDUNDANCIA</a:t>
            </a:r>
            <a:endParaRPr b="0" i="0" sz="1400" u="none" cap="none" strike="noStrike">
              <a:solidFill>
                <a:srgbClr val="000000"/>
              </a:solidFill>
              <a:latin typeface="Arial"/>
              <a:ea typeface="Arial"/>
              <a:cs typeface="Arial"/>
              <a:sym typeface="Arial"/>
            </a:endParaRPr>
          </a:p>
        </p:txBody>
      </p:sp>
      <p:sp>
        <p:nvSpPr>
          <p:cNvPr id="153" name="Google Shape;153;p4"/>
          <p:cNvSpPr txBox="1"/>
          <p:nvPr/>
        </p:nvSpPr>
        <p:spPr>
          <a:xfrm>
            <a:off x="5372963" y="3117101"/>
            <a:ext cx="7542074" cy="1086593"/>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Clr>
                <a:srgbClr val="000000"/>
              </a:buClr>
              <a:buSzPts val="6345"/>
              <a:buFont typeface="Arial"/>
              <a:buNone/>
            </a:pPr>
            <a:r>
              <a:rPr b="0" i="0" lang="en-US" sz="6345" u="none" cap="none" strike="noStrike">
                <a:solidFill>
                  <a:srgbClr val="152540"/>
                </a:solidFill>
                <a:latin typeface="Arial"/>
                <a:ea typeface="Arial"/>
                <a:cs typeface="Arial"/>
                <a:sym typeface="Arial"/>
              </a:rPr>
              <a:t>PROTOCOLOS 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57" name="Shape 157"/>
        <p:cNvGrpSpPr/>
        <p:nvPr/>
      </p:nvGrpSpPr>
      <p:grpSpPr>
        <a:xfrm>
          <a:off x="0" y="0"/>
          <a:ext cx="0" cy="0"/>
          <a:chOff x="0" y="0"/>
          <a:chExt cx="0" cy="0"/>
        </a:xfrm>
      </p:grpSpPr>
      <p:sp>
        <p:nvSpPr>
          <p:cNvPr id="158" name="Google Shape;158;p5"/>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5"/>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5"/>
          <p:cNvSpPr txBox="1"/>
          <p:nvPr/>
        </p:nvSpPr>
        <p:spPr>
          <a:xfrm>
            <a:off x="1904222" y="1615133"/>
            <a:ext cx="13759362" cy="966389"/>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5686"/>
              <a:buFont typeface="Arial"/>
              <a:buNone/>
            </a:pPr>
            <a:r>
              <a:rPr b="0" i="0" lang="en-US" sz="5686" u="none" cap="none" strike="noStrike">
                <a:solidFill>
                  <a:srgbClr val="152540"/>
                </a:solidFill>
                <a:latin typeface="Arial"/>
                <a:ea typeface="Arial"/>
                <a:cs typeface="Arial"/>
                <a:sym typeface="Arial"/>
              </a:rPr>
              <a:t>PROTOCOLOS DE REDUNDANCIA</a:t>
            </a:r>
            <a:endParaRPr b="0" i="0" sz="1400" u="none" cap="none" strike="noStrike">
              <a:solidFill>
                <a:srgbClr val="000000"/>
              </a:solidFill>
              <a:latin typeface="Arial"/>
              <a:ea typeface="Arial"/>
              <a:cs typeface="Arial"/>
              <a:sym typeface="Arial"/>
            </a:endParaRPr>
          </a:p>
        </p:txBody>
      </p:sp>
      <p:sp>
        <p:nvSpPr>
          <p:cNvPr id="162" name="Google Shape;162;p5"/>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5"/>
          <p:cNvSpPr txBox="1"/>
          <p:nvPr/>
        </p:nvSpPr>
        <p:spPr>
          <a:xfrm>
            <a:off x="1886691" y="4676437"/>
            <a:ext cx="14514619" cy="26004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En una red IP, los dispositivos finales (como computadoras y servidores) se comunican fuera de su red local a través de una </a:t>
            </a:r>
            <a:r>
              <a:rPr b="1" i="0" lang="en-US" sz="2994" u="none" cap="none" strike="noStrike">
                <a:solidFill>
                  <a:srgbClr val="152540"/>
                </a:solidFill>
                <a:latin typeface="Arial"/>
                <a:ea typeface="Arial"/>
                <a:cs typeface="Arial"/>
                <a:sym typeface="Arial"/>
              </a:rPr>
              <a:t>puerta de enlace predeterminada</a:t>
            </a:r>
            <a:r>
              <a:rPr b="0" i="0" lang="en-US" sz="2994" u="none" cap="none" strike="noStrike">
                <a:solidFill>
                  <a:srgbClr val="152540"/>
                </a:solidFill>
                <a:latin typeface="Arial"/>
                <a:ea typeface="Arial"/>
                <a:cs typeface="Arial"/>
                <a:sym typeface="Arial"/>
              </a:rPr>
              <a:t> (default gateway), que normalmente es un router. Si ese router falla, los dispositivos no pueden acceder a recursos externos, generando una interrupción en la conectividad.</a:t>
            </a:r>
            <a:endParaRPr b="0" i="0" sz="1400" u="none" cap="none" strike="noStrike">
              <a:solidFill>
                <a:srgbClr val="000000"/>
              </a:solidFill>
              <a:latin typeface="Arial"/>
              <a:ea typeface="Arial"/>
              <a:cs typeface="Arial"/>
              <a:sym typeface="Arial"/>
            </a:endParaRPr>
          </a:p>
        </p:txBody>
      </p:sp>
      <p:sp>
        <p:nvSpPr>
          <p:cNvPr id="165" name="Google Shape;165;p5"/>
          <p:cNvSpPr txBox="1"/>
          <p:nvPr/>
        </p:nvSpPr>
        <p:spPr>
          <a:xfrm>
            <a:off x="1904222" y="2444870"/>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DE PUERTA DE ENLACE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69" name="Shape 169"/>
        <p:cNvGrpSpPr/>
        <p:nvPr/>
      </p:nvGrpSpPr>
      <p:grpSpPr>
        <a:xfrm>
          <a:off x="0" y="0"/>
          <a:ext cx="0" cy="0"/>
          <a:chOff x="0" y="0"/>
          <a:chExt cx="0" cy="0"/>
        </a:xfrm>
      </p:grpSpPr>
      <p:sp>
        <p:nvSpPr>
          <p:cNvPr id="170" name="Google Shape;170;p6"/>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p6"/>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6"/>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6"/>
          <p:cNvSpPr txBox="1"/>
          <p:nvPr/>
        </p:nvSpPr>
        <p:spPr>
          <a:xfrm>
            <a:off x="1904222" y="1615133"/>
            <a:ext cx="13759362" cy="966389"/>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5686"/>
              <a:buFont typeface="Arial"/>
              <a:buNone/>
            </a:pPr>
            <a:r>
              <a:rPr b="0" i="0" lang="en-US" sz="5686" u="none" cap="none" strike="noStrike">
                <a:solidFill>
                  <a:srgbClr val="152540"/>
                </a:solidFill>
                <a:latin typeface="Arial"/>
                <a:ea typeface="Arial"/>
                <a:cs typeface="Arial"/>
                <a:sym typeface="Arial"/>
              </a:rPr>
              <a:t>PROTOCOLOS DE REDUNDANCIA</a:t>
            </a:r>
            <a:endParaRPr b="0" i="0" sz="1400" u="none" cap="none" strike="noStrike">
              <a:solidFill>
                <a:srgbClr val="000000"/>
              </a:solidFill>
              <a:latin typeface="Arial"/>
              <a:ea typeface="Arial"/>
              <a:cs typeface="Arial"/>
              <a:sym typeface="Arial"/>
            </a:endParaRPr>
          </a:p>
        </p:txBody>
      </p:sp>
      <p:sp>
        <p:nvSpPr>
          <p:cNvPr id="174" name="Google Shape;174;p6"/>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6"/>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6"/>
          <p:cNvSpPr txBox="1"/>
          <p:nvPr/>
        </p:nvSpPr>
        <p:spPr>
          <a:xfrm>
            <a:off x="1886691" y="4676437"/>
            <a:ext cx="14514619" cy="207659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Para evitar este punto único de falla, se utilizan los protocolos de redundancia de puerta de enlace, que permiten que varios routers </a:t>
            </a:r>
            <a:r>
              <a:rPr b="1" i="0" lang="en-US" sz="2994" u="none" cap="none" strike="noStrike">
                <a:solidFill>
                  <a:srgbClr val="152540"/>
                </a:solidFill>
                <a:latin typeface="Arial"/>
                <a:ea typeface="Arial"/>
                <a:cs typeface="Arial"/>
                <a:sym typeface="Arial"/>
              </a:rPr>
              <a:t>trabajen juntos</a:t>
            </a:r>
            <a:r>
              <a:rPr b="0" i="0" lang="en-US" sz="2994" u="none" cap="none" strike="noStrike">
                <a:solidFill>
                  <a:srgbClr val="152540"/>
                </a:solidFill>
                <a:latin typeface="Arial"/>
                <a:ea typeface="Arial"/>
                <a:cs typeface="Arial"/>
                <a:sym typeface="Arial"/>
              </a:rPr>
              <a:t> </a:t>
            </a:r>
            <a:r>
              <a:rPr b="1" i="0" lang="en-US" sz="2994" u="none" cap="none" strike="noStrike">
                <a:solidFill>
                  <a:srgbClr val="152540"/>
                </a:solidFill>
                <a:latin typeface="Arial"/>
                <a:ea typeface="Arial"/>
                <a:cs typeface="Arial"/>
                <a:sym typeface="Arial"/>
              </a:rPr>
              <a:t>para ofrecer una sola puerta de enlace virtual</a:t>
            </a:r>
            <a:r>
              <a:rPr b="0" i="0" lang="en-US" sz="2994" u="none" cap="none" strike="noStrike">
                <a:solidFill>
                  <a:srgbClr val="152540"/>
                </a:solidFill>
                <a:latin typeface="Arial"/>
                <a:ea typeface="Arial"/>
                <a:cs typeface="Arial"/>
                <a:sym typeface="Arial"/>
              </a:rPr>
              <a:t>, garantizando alta disponibilidad y, en algunos casos, balanceo de carga.</a:t>
            </a:r>
            <a:endParaRPr b="0" i="0" sz="1400" u="none" cap="none" strike="noStrike">
              <a:solidFill>
                <a:srgbClr val="000000"/>
              </a:solidFill>
              <a:latin typeface="Arial"/>
              <a:ea typeface="Arial"/>
              <a:cs typeface="Arial"/>
              <a:sym typeface="Arial"/>
            </a:endParaRPr>
          </a:p>
        </p:txBody>
      </p:sp>
      <p:sp>
        <p:nvSpPr>
          <p:cNvPr id="177" name="Google Shape;177;p6"/>
          <p:cNvSpPr txBox="1"/>
          <p:nvPr/>
        </p:nvSpPr>
        <p:spPr>
          <a:xfrm>
            <a:off x="1904222" y="2444870"/>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DE PUERTA DE ENLACE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181" name="Shape 181"/>
        <p:cNvGrpSpPr/>
        <p:nvPr/>
      </p:nvGrpSpPr>
      <p:grpSpPr>
        <a:xfrm>
          <a:off x="0" y="0"/>
          <a:ext cx="0" cy="0"/>
          <a:chOff x="0" y="0"/>
          <a:chExt cx="0" cy="0"/>
        </a:xfrm>
      </p:grpSpPr>
      <p:sp>
        <p:nvSpPr>
          <p:cNvPr id="182" name="Google Shape;182;p7"/>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7"/>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7"/>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p7"/>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7"/>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1200136" y="1505697"/>
            <a:ext cx="13759362" cy="870929"/>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5086"/>
              <a:buFont typeface="Arial"/>
              <a:buNone/>
            </a:pPr>
            <a:r>
              <a:rPr b="0" i="0" lang="en-US" sz="5086" u="none" cap="none" strike="noStrike">
                <a:solidFill>
                  <a:srgbClr val="152540"/>
                </a:solidFill>
                <a:latin typeface="Arial"/>
                <a:ea typeface="Arial"/>
                <a:cs typeface="Arial"/>
                <a:sym typeface="Arial"/>
              </a:rPr>
              <a:t>PROTOCOLOS DE REDUNDANCIA</a:t>
            </a:r>
            <a:endParaRPr b="0" i="0" sz="1400" u="none" cap="none" strike="noStrike">
              <a:solidFill>
                <a:srgbClr val="000000"/>
              </a:solidFill>
              <a:latin typeface="Arial"/>
              <a:ea typeface="Arial"/>
              <a:cs typeface="Arial"/>
              <a:sym typeface="Arial"/>
            </a:endParaRPr>
          </a:p>
        </p:txBody>
      </p:sp>
      <p:sp>
        <p:nvSpPr>
          <p:cNvPr id="189" name="Google Shape;189;p7"/>
          <p:cNvSpPr txBox="1"/>
          <p:nvPr/>
        </p:nvSpPr>
        <p:spPr>
          <a:xfrm>
            <a:off x="1200136" y="2364009"/>
            <a:ext cx="16407294"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DE PUERTA DE ENLACE PREDETERMINADA</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1200136" y="4032462"/>
            <a:ext cx="14514619" cy="31243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protocolos de redundancia de gateway predeterminado son utilizados en redes</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de computadoras para garantizar la disponibilidad del gateway predeterminado en</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caso de fallo de un router.</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Permiten que varios routers compartan una dirección IP virtual para proporcionar redundancia y alta disponibilidad en la red.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194" name="Shape 194"/>
        <p:cNvGrpSpPr/>
        <p:nvPr/>
      </p:nvGrpSpPr>
      <p:grpSpPr>
        <a:xfrm>
          <a:off x="0" y="0"/>
          <a:ext cx="0" cy="0"/>
          <a:chOff x="0" y="0"/>
          <a:chExt cx="0" cy="0"/>
        </a:xfrm>
      </p:grpSpPr>
      <p:grpSp>
        <p:nvGrpSpPr>
          <p:cNvPr id="195" name="Google Shape;195;p8"/>
          <p:cNvGrpSpPr/>
          <p:nvPr/>
        </p:nvGrpSpPr>
        <p:grpSpPr>
          <a:xfrm>
            <a:off x="1106950" y="6029875"/>
            <a:ext cx="5141041" cy="3076815"/>
            <a:chOff x="0" y="0"/>
            <a:chExt cx="812800" cy="406701"/>
          </a:xfrm>
        </p:grpSpPr>
        <p:sp>
          <p:nvSpPr>
            <p:cNvPr id="196" name="Google Shape;196;p8"/>
            <p:cNvSpPr/>
            <p:nvPr/>
          </p:nvSpPr>
          <p:spPr>
            <a:xfrm>
              <a:off x="0" y="0"/>
              <a:ext cx="812800" cy="406701"/>
            </a:xfrm>
            <a:custGeom>
              <a:rect b="b" l="l" r="r" t="t"/>
              <a:pathLst>
                <a:path extrusionOk="0" h="406701" w="812800">
                  <a:moveTo>
                    <a:pt x="39153" y="0"/>
                  </a:moveTo>
                  <a:lnTo>
                    <a:pt x="773647" y="0"/>
                  </a:lnTo>
                  <a:cubicBezTo>
                    <a:pt x="784031" y="0"/>
                    <a:pt x="793990" y="4125"/>
                    <a:pt x="801332" y="11468"/>
                  </a:cubicBezTo>
                  <a:cubicBezTo>
                    <a:pt x="808675" y="18810"/>
                    <a:pt x="812800" y="28769"/>
                    <a:pt x="812800" y="39153"/>
                  </a:cubicBezTo>
                  <a:lnTo>
                    <a:pt x="812800" y="367548"/>
                  </a:lnTo>
                  <a:cubicBezTo>
                    <a:pt x="812800" y="377932"/>
                    <a:pt x="808675" y="387891"/>
                    <a:pt x="801332" y="395233"/>
                  </a:cubicBezTo>
                  <a:cubicBezTo>
                    <a:pt x="793990" y="402576"/>
                    <a:pt x="784031" y="406701"/>
                    <a:pt x="773647" y="406701"/>
                  </a:cubicBezTo>
                  <a:lnTo>
                    <a:pt x="39153" y="406701"/>
                  </a:lnTo>
                  <a:cubicBezTo>
                    <a:pt x="17530" y="406701"/>
                    <a:pt x="0" y="389172"/>
                    <a:pt x="0" y="367548"/>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txBox="1"/>
            <p:nvPr/>
          </p:nvSpPr>
          <p:spPr>
            <a:xfrm>
              <a:off x="0" y="9525"/>
              <a:ext cx="812800" cy="397176"/>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p8"/>
          <p:cNvGrpSpPr/>
          <p:nvPr/>
        </p:nvGrpSpPr>
        <p:grpSpPr>
          <a:xfrm>
            <a:off x="6575100" y="6029874"/>
            <a:ext cx="5141041" cy="3076815"/>
            <a:chOff x="0" y="0"/>
            <a:chExt cx="812800" cy="406701"/>
          </a:xfrm>
        </p:grpSpPr>
        <p:sp>
          <p:nvSpPr>
            <p:cNvPr id="199" name="Google Shape;199;p8"/>
            <p:cNvSpPr/>
            <p:nvPr/>
          </p:nvSpPr>
          <p:spPr>
            <a:xfrm>
              <a:off x="0" y="0"/>
              <a:ext cx="812800" cy="406701"/>
            </a:xfrm>
            <a:custGeom>
              <a:rect b="b" l="l" r="r" t="t"/>
              <a:pathLst>
                <a:path extrusionOk="0" h="406701" w="812800">
                  <a:moveTo>
                    <a:pt x="39153" y="0"/>
                  </a:moveTo>
                  <a:lnTo>
                    <a:pt x="773647" y="0"/>
                  </a:lnTo>
                  <a:cubicBezTo>
                    <a:pt x="784031" y="0"/>
                    <a:pt x="793990" y="4125"/>
                    <a:pt x="801332" y="11468"/>
                  </a:cubicBezTo>
                  <a:cubicBezTo>
                    <a:pt x="808675" y="18810"/>
                    <a:pt x="812800" y="28769"/>
                    <a:pt x="812800" y="39153"/>
                  </a:cubicBezTo>
                  <a:lnTo>
                    <a:pt x="812800" y="367548"/>
                  </a:lnTo>
                  <a:cubicBezTo>
                    <a:pt x="812800" y="377932"/>
                    <a:pt x="808675" y="387891"/>
                    <a:pt x="801332" y="395233"/>
                  </a:cubicBezTo>
                  <a:cubicBezTo>
                    <a:pt x="793990" y="402576"/>
                    <a:pt x="784031" y="406701"/>
                    <a:pt x="773647" y="406701"/>
                  </a:cubicBezTo>
                  <a:lnTo>
                    <a:pt x="39153" y="406701"/>
                  </a:lnTo>
                  <a:cubicBezTo>
                    <a:pt x="17530" y="406701"/>
                    <a:pt x="0" y="389172"/>
                    <a:pt x="0" y="367548"/>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8"/>
            <p:cNvSpPr txBox="1"/>
            <p:nvPr/>
          </p:nvSpPr>
          <p:spPr>
            <a:xfrm>
              <a:off x="0" y="9525"/>
              <a:ext cx="812800" cy="397176"/>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1" name="Google Shape;201;p8"/>
          <p:cNvGrpSpPr/>
          <p:nvPr/>
        </p:nvGrpSpPr>
        <p:grpSpPr>
          <a:xfrm>
            <a:off x="12040000" y="6029874"/>
            <a:ext cx="5141041" cy="3076815"/>
            <a:chOff x="0" y="0"/>
            <a:chExt cx="812800" cy="406701"/>
          </a:xfrm>
        </p:grpSpPr>
        <p:sp>
          <p:nvSpPr>
            <p:cNvPr id="202" name="Google Shape;202;p8"/>
            <p:cNvSpPr/>
            <p:nvPr/>
          </p:nvSpPr>
          <p:spPr>
            <a:xfrm>
              <a:off x="0" y="0"/>
              <a:ext cx="812800" cy="406701"/>
            </a:xfrm>
            <a:custGeom>
              <a:rect b="b" l="l" r="r" t="t"/>
              <a:pathLst>
                <a:path extrusionOk="0" h="406701" w="812800">
                  <a:moveTo>
                    <a:pt x="39153" y="0"/>
                  </a:moveTo>
                  <a:lnTo>
                    <a:pt x="773647" y="0"/>
                  </a:lnTo>
                  <a:cubicBezTo>
                    <a:pt x="784031" y="0"/>
                    <a:pt x="793990" y="4125"/>
                    <a:pt x="801332" y="11468"/>
                  </a:cubicBezTo>
                  <a:cubicBezTo>
                    <a:pt x="808675" y="18810"/>
                    <a:pt x="812800" y="28769"/>
                    <a:pt x="812800" y="39153"/>
                  </a:cubicBezTo>
                  <a:lnTo>
                    <a:pt x="812800" y="367548"/>
                  </a:lnTo>
                  <a:cubicBezTo>
                    <a:pt x="812800" y="377932"/>
                    <a:pt x="808675" y="387891"/>
                    <a:pt x="801332" y="395233"/>
                  </a:cubicBezTo>
                  <a:cubicBezTo>
                    <a:pt x="793990" y="402576"/>
                    <a:pt x="784031" y="406701"/>
                    <a:pt x="773647" y="406701"/>
                  </a:cubicBezTo>
                  <a:lnTo>
                    <a:pt x="39153" y="406701"/>
                  </a:lnTo>
                  <a:cubicBezTo>
                    <a:pt x="17530" y="406701"/>
                    <a:pt x="0" y="389172"/>
                    <a:pt x="0" y="367548"/>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txBox="1"/>
            <p:nvPr/>
          </p:nvSpPr>
          <p:spPr>
            <a:xfrm>
              <a:off x="0" y="9525"/>
              <a:ext cx="812800" cy="397176"/>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8"/>
          <p:cNvSpPr txBox="1"/>
          <p:nvPr/>
        </p:nvSpPr>
        <p:spPr>
          <a:xfrm>
            <a:off x="1485110" y="6616108"/>
            <a:ext cx="4384724" cy="135929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859"/>
              <a:buFont typeface="Arial"/>
              <a:buNone/>
            </a:pPr>
            <a:r>
              <a:rPr b="1" i="0" lang="en-US" sz="3859" u="none" cap="none" strike="noStrike">
                <a:solidFill>
                  <a:srgbClr val="253754"/>
                </a:solidFill>
                <a:latin typeface="Arial"/>
                <a:ea typeface="Arial"/>
                <a:cs typeface="Arial"/>
                <a:sym typeface="Arial"/>
              </a:rPr>
              <a:t>HSRP (Hot Standby Router Protocol)</a:t>
            </a:r>
            <a:endParaRPr b="0" i="0" sz="1400" u="none" cap="none" strike="noStrike">
              <a:solidFill>
                <a:srgbClr val="000000"/>
              </a:solidFill>
              <a:latin typeface="Arial"/>
              <a:ea typeface="Arial"/>
              <a:cs typeface="Arial"/>
              <a:sym typeface="Arial"/>
            </a:endParaRPr>
          </a:p>
        </p:txBody>
      </p:sp>
      <p:sp>
        <p:nvSpPr>
          <p:cNvPr id="205" name="Google Shape;205;p8"/>
          <p:cNvSpPr txBox="1"/>
          <p:nvPr/>
        </p:nvSpPr>
        <p:spPr>
          <a:xfrm>
            <a:off x="6611982" y="6616108"/>
            <a:ext cx="5104171" cy="135929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859"/>
              <a:buFont typeface="Arial"/>
              <a:buNone/>
            </a:pPr>
            <a:r>
              <a:rPr b="1" i="0" lang="en-US" sz="3859" u="none" cap="none" strike="noStrike">
                <a:solidFill>
                  <a:srgbClr val="253754"/>
                </a:solidFill>
                <a:latin typeface="Arial"/>
                <a:ea typeface="Arial"/>
                <a:cs typeface="Arial"/>
                <a:sym typeface="Arial"/>
              </a:rPr>
              <a:t>VRRP (Virtual Router Redundancy Protocol)</a:t>
            </a:r>
            <a:endParaRPr b="0" i="0" sz="1400" u="none" cap="none" strike="noStrike">
              <a:solidFill>
                <a:srgbClr val="000000"/>
              </a:solidFill>
              <a:latin typeface="Arial"/>
              <a:ea typeface="Arial"/>
              <a:cs typeface="Arial"/>
              <a:sym typeface="Arial"/>
            </a:endParaRPr>
          </a:p>
        </p:txBody>
      </p:sp>
      <p:sp>
        <p:nvSpPr>
          <p:cNvPr id="206" name="Google Shape;206;p8"/>
          <p:cNvSpPr txBox="1"/>
          <p:nvPr/>
        </p:nvSpPr>
        <p:spPr>
          <a:xfrm>
            <a:off x="2673248" y="4558596"/>
            <a:ext cx="2008447" cy="198365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528"/>
              <a:buFont typeface="Arial"/>
              <a:buNone/>
            </a:pPr>
            <a:r>
              <a:rPr b="1" i="0" lang="en-US" sz="11528" u="none" cap="none" strike="noStrike">
                <a:solidFill>
                  <a:srgbClr val="D89C6C"/>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07" name="Google Shape;207;p8"/>
          <p:cNvSpPr txBox="1"/>
          <p:nvPr/>
        </p:nvSpPr>
        <p:spPr>
          <a:xfrm>
            <a:off x="8139777" y="4558596"/>
            <a:ext cx="2008447" cy="198365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528"/>
              <a:buFont typeface="Arial"/>
              <a:buNone/>
            </a:pPr>
            <a:r>
              <a:rPr b="1" i="0" lang="en-US" sz="11528" u="none" cap="none" strike="noStrike">
                <a:solidFill>
                  <a:srgbClr val="D89C6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08" name="Google Shape;208;p8"/>
          <p:cNvSpPr txBox="1"/>
          <p:nvPr/>
        </p:nvSpPr>
        <p:spPr>
          <a:xfrm>
            <a:off x="13611628" y="4558596"/>
            <a:ext cx="2008447" cy="198365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528"/>
              <a:buFont typeface="Arial"/>
              <a:buNone/>
            </a:pPr>
            <a:r>
              <a:rPr b="1" i="0" lang="en-US" sz="11528" u="none" cap="none" strike="noStrike">
                <a:solidFill>
                  <a:srgbClr val="D89C6C"/>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cxnSp>
        <p:nvCxnSpPr>
          <p:cNvPr id="209" name="Google Shape;209;p8"/>
          <p:cNvCxnSpPr/>
          <p:nvPr/>
        </p:nvCxnSpPr>
        <p:spPr>
          <a:xfrm>
            <a:off x="1311213" y="8170363"/>
            <a:ext cx="4732518" cy="0"/>
          </a:xfrm>
          <a:prstGeom prst="straightConnector1">
            <a:avLst/>
          </a:prstGeom>
          <a:noFill/>
          <a:ln cap="flat" cmpd="sng" w="38100">
            <a:solidFill>
              <a:srgbClr val="253754"/>
            </a:solidFill>
            <a:prstDash val="solid"/>
            <a:round/>
            <a:headEnd len="sm" w="sm" type="none"/>
            <a:tailEnd len="sm" w="sm" type="none"/>
          </a:ln>
        </p:spPr>
      </p:cxnSp>
      <p:cxnSp>
        <p:nvCxnSpPr>
          <p:cNvPr id="210" name="Google Shape;210;p8"/>
          <p:cNvCxnSpPr/>
          <p:nvPr/>
        </p:nvCxnSpPr>
        <p:spPr>
          <a:xfrm>
            <a:off x="6779369" y="8170363"/>
            <a:ext cx="4732518" cy="0"/>
          </a:xfrm>
          <a:prstGeom prst="straightConnector1">
            <a:avLst/>
          </a:prstGeom>
          <a:noFill/>
          <a:ln cap="flat" cmpd="sng" w="38100">
            <a:solidFill>
              <a:srgbClr val="253754"/>
            </a:solidFill>
            <a:prstDash val="solid"/>
            <a:round/>
            <a:headEnd len="sm" w="sm" type="none"/>
            <a:tailEnd len="sm" w="sm" type="none"/>
          </a:ln>
        </p:spPr>
      </p:cxnSp>
      <p:cxnSp>
        <p:nvCxnSpPr>
          <p:cNvPr id="211" name="Google Shape;211;p8"/>
          <p:cNvCxnSpPr/>
          <p:nvPr/>
        </p:nvCxnSpPr>
        <p:spPr>
          <a:xfrm>
            <a:off x="12244269" y="8170363"/>
            <a:ext cx="4732518" cy="0"/>
          </a:xfrm>
          <a:prstGeom prst="straightConnector1">
            <a:avLst/>
          </a:prstGeom>
          <a:noFill/>
          <a:ln cap="flat" cmpd="sng" w="38100">
            <a:solidFill>
              <a:srgbClr val="253754"/>
            </a:solidFill>
            <a:prstDash val="solid"/>
            <a:round/>
            <a:headEnd len="sm" w="sm" type="none"/>
            <a:tailEnd len="sm" w="sm" type="none"/>
          </a:ln>
        </p:spPr>
      </p:cxnSp>
      <p:sp>
        <p:nvSpPr>
          <p:cNvPr id="212" name="Google Shape;212;p8"/>
          <p:cNvSpPr/>
          <p:nvPr/>
        </p:nvSpPr>
        <p:spPr>
          <a:xfrm>
            <a:off x="16321534" y="-285545"/>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8"/>
          <p:cNvSpPr/>
          <p:nvPr/>
        </p:nvSpPr>
        <p:spPr>
          <a:xfrm>
            <a:off x="17304767" y="854768"/>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8"/>
          <p:cNvSpPr/>
          <p:nvPr/>
        </p:nvSpPr>
        <p:spPr>
          <a:xfrm>
            <a:off x="0" y="9258300"/>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8"/>
          <p:cNvSpPr/>
          <p:nvPr/>
        </p:nvSpPr>
        <p:spPr>
          <a:xfrm>
            <a:off x="-937766" y="8402769"/>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8"/>
          <p:cNvSpPr/>
          <p:nvPr/>
        </p:nvSpPr>
        <p:spPr>
          <a:xfrm rot="672866">
            <a:off x="-1045588" y="-1783519"/>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8"/>
          <p:cNvSpPr/>
          <p:nvPr/>
        </p:nvSpPr>
        <p:spPr>
          <a:xfrm rot="-10799999">
            <a:off x="12715117" y="7583041"/>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8"/>
          <p:cNvSpPr txBox="1"/>
          <p:nvPr/>
        </p:nvSpPr>
        <p:spPr>
          <a:xfrm>
            <a:off x="3043528" y="1601419"/>
            <a:ext cx="13759362" cy="870929"/>
          </a:xfrm>
          <a:prstGeom prst="rect">
            <a:avLst/>
          </a:prstGeom>
          <a:noFill/>
          <a:ln>
            <a:noFill/>
          </a:ln>
        </p:spPr>
        <p:txBody>
          <a:bodyPr anchorCtr="0" anchor="t" bIns="0" lIns="0" spcFirstLastPara="1" rIns="0" wrap="square" tIns="0">
            <a:spAutoFit/>
          </a:bodyPr>
          <a:lstStyle/>
          <a:p>
            <a:pPr indent="0" lvl="0" marL="0" marR="0" rtl="0" algn="r">
              <a:lnSpc>
                <a:spcPct val="140011"/>
              </a:lnSpc>
              <a:spcBef>
                <a:spcPts val="0"/>
              </a:spcBef>
              <a:spcAft>
                <a:spcPts val="0"/>
              </a:spcAft>
              <a:buClr>
                <a:srgbClr val="000000"/>
              </a:buClr>
              <a:buSzPts val="5086"/>
              <a:buFont typeface="Arial"/>
              <a:buNone/>
            </a:pPr>
            <a:r>
              <a:rPr b="0" i="0" lang="en-US" sz="5086" u="none" cap="none" strike="noStrike">
                <a:solidFill>
                  <a:srgbClr val="FFFFFF"/>
                </a:solidFill>
                <a:latin typeface="Arial"/>
                <a:ea typeface="Arial"/>
                <a:cs typeface="Arial"/>
                <a:sym typeface="Arial"/>
              </a:rPr>
              <a:t>PROTOCOLOS DE REDUNDANCIA</a:t>
            </a:r>
            <a:endParaRPr b="0" i="0" sz="1400" u="none" cap="none" strike="noStrike">
              <a:solidFill>
                <a:srgbClr val="000000"/>
              </a:solidFill>
              <a:latin typeface="Arial"/>
              <a:ea typeface="Arial"/>
              <a:cs typeface="Arial"/>
              <a:sym typeface="Arial"/>
            </a:endParaRPr>
          </a:p>
        </p:txBody>
      </p:sp>
      <p:sp>
        <p:nvSpPr>
          <p:cNvPr id="219" name="Google Shape;219;p8"/>
          <p:cNvSpPr txBox="1"/>
          <p:nvPr/>
        </p:nvSpPr>
        <p:spPr>
          <a:xfrm>
            <a:off x="395596" y="2358048"/>
            <a:ext cx="16407294" cy="954982"/>
          </a:xfrm>
          <a:prstGeom prst="rect">
            <a:avLst/>
          </a:prstGeom>
          <a:noFill/>
          <a:ln>
            <a:noFill/>
          </a:ln>
        </p:spPr>
        <p:txBody>
          <a:bodyPr anchorCtr="0" anchor="t" bIns="0" lIns="0" spcFirstLastPara="1" rIns="0" wrap="square" tIns="0">
            <a:spAutoFit/>
          </a:bodyPr>
          <a:lstStyle/>
          <a:p>
            <a:pPr indent="0" lvl="0" marL="0" marR="0" rtl="0" algn="r">
              <a:lnSpc>
                <a:spcPct val="140003"/>
              </a:lnSpc>
              <a:spcBef>
                <a:spcPts val="0"/>
              </a:spcBef>
              <a:spcAft>
                <a:spcPts val="0"/>
              </a:spcAft>
              <a:buClr>
                <a:srgbClr val="000000"/>
              </a:buClr>
              <a:buSzPts val="5527"/>
              <a:buFont typeface="Arial"/>
              <a:buNone/>
            </a:pPr>
            <a:r>
              <a:rPr b="1" i="0" lang="en-US" sz="5527" u="none" cap="none" strike="noStrike">
                <a:solidFill>
                  <a:srgbClr val="FFFFFF"/>
                </a:solidFill>
                <a:latin typeface="Arial"/>
                <a:ea typeface="Arial"/>
                <a:cs typeface="Arial"/>
                <a:sym typeface="Arial"/>
              </a:rPr>
              <a:t>DE PUERTA DE ENLACE PREDETERMINADA</a:t>
            </a:r>
            <a:endParaRPr b="0" i="0" sz="1400" u="none" cap="none" strike="noStrike">
              <a:solidFill>
                <a:srgbClr val="000000"/>
              </a:solidFill>
              <a:latin typeface="Arial"/>
              <a:ea typeface="Arial"/>
              <a:cs typeface="Arial"/>
              <a:sym typeface="Arial"/>
            </a:endParaRPr>
          </a:p>
        </p:txBody>
      </p:sp>
      <p:sp>
        <p:nvSpPr>
          <p:cNvPr id="220" name="Google Shape;220;p8"/>
          <p:cNvSpPr txBox="1"/>
          <p:nvPr/>
        </p:nvSpPr>
        <p:spPr>
          <a:xfrm>
            <a:off x="1200136" y="4032462"/>
            <a:ext cx="14514619" cy="504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FFFFFF"/>
                </a:solidFill>
                <a:latin typeface="Arial"/>
                <a:ea typeface="Arial"/>
                <a:cs typeface="Arial"/>
                <a:sym typeface="Arial"/>
              </a:rPr>
              <a:t>Los tres principales protocolos utilizados para esta finalidad son:</a:t>
            </a:r>
            <a:endParaRPr b="0" i="0" sz="1400" u="none" cap="none" strike="noStrike">
              <a:solidFill>
                <a:srgbClr val="000000"/>
              </a:solidFill>
              <a:latin typeface="Arial"/>
              <a:ea typeface="Arial"/>
              <a:cs typeface="Arial"/>
              <a:sym typeface="Arial"/>
            </a:endParaRPr>
          </a:p>
        </p:txBody>
      </p:sp>
      <p:sp>
        <p:nvSpPr>
          <p:cNvPr id="221" name="Google Shape;221;p8"/>
          <p:cNvSpPr txBox="1"/>
          <p:nvPr/>
        </p:nvSpPr>
        <p:spPr>
          <a:xfrm>
            <a:off x="12078103" y="6704171"/>
            <a:ext cx="5104171" cy="135929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859"/>
              <a:buFont typeface="Arial"/>
              <a:buNone/>
            </a:pPr>
            <a:r>
              <a:rPr b="1" i="0" lang="en-US" sz="3859" u="none" cap="none" strike="noStrike">
                <a:solidFill>
                  <a:srgbClr val="253754"/>
                </a:solidFill>
                <a:latin typeface="Arial"/>
                <a:ea typeface="Arial"/>
                <a:cs typeface="Arial"/>
                <a:sym typeface="Arial"/>
              </a:rPr>
              <a:t>GLBP (Gateway Load Balancing Protocol)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25" name="Shape 225"/>
        <p:cNvGrpSpPr/>
        <p:nvPr/>
      </p:nvGrpSpPr>
      <p:grpSpPr>
        <a:xfrm>
          <a:off x="0" y="0"/>
          <a:ext cx="0" cy="0"/>
          <a:chOff x="0" y="0"/>
          <a:chExt cx="0" cy="0"/>
        </a:xfrm>
      </p:grpSpPr>
      <p:sp>
        <p:nvSpPr>
          <p:cNvPr id="226" name="Google Shape;226;p9"/>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9"/>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9"/>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9"/>
          <p:cNvSpPr txBox="1"/>
          <p:nvPr/>
        </p:nvSpPr>
        <p:spPr>
          <a:xfrm>
            <a:off x="1886691" y="285356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HSRP (Hot Standby Router Protocol) es un protocolo de redundancia de gateway predeterminado utilizado en redes de computadoras. HSRP permite que dos o más routers compartan una dirección IP virtual, de modo que parezca que hay un único gateway predeterminado en la red.</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Uno de los routers es designado como el "router activo" y es el responsable de procesar todo el tráfico de red. El otro router es el "router en espera" y monitorea continuamente al router activo. Si el router activo falla, el router en espera asume automáticamente el papel de router activo y comienza a procesar el tráfico de red.</a:t>
            </a:r>
            <a:endParaRPr b="0" i="0" sz="1400" u="none" cap="none" strike="noStrike">
              <a:solidFill>
                <a:srgbClr val="000000"/>
              </a:solidFill>
              <a:latin typeface="Arial"/>
              <a:ea typeface="Arial"/>
              <a:cs typeface="Arial"/>
              <a:sym typeface="Arial"/>
            </a:endParaRPr>
          </a:p>
        </p:txBody>
      </p:sp>
      <p:sp>
        <p:nvSpPr>
          <p:cNvPr id="232" name="Google Shape;232;p9"/>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HSRP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36" name="Shape 236"/>
        <p:cNvGrpSpPr/>
        <p:nvPr/>
      </p:nvGrpSpPr>
      <p:grpSpPr>
        <a:xfrm>
          <a:off x="0" y="0"/>
          <a:ext cx="0" cy="0"/>
          <a:chOff x="0" y="0"/>
          <a:chExt cx="0" cy="0"/>
        </a:xfrm>
      </p:grpSpPr>
      <p:sp>
        <p:nvSpPr>
          <p:cNvPr id="237" name="Google Shape;237;p10"/>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10"/>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10"/>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10"/>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10"/>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10"/>
          <p:cNvSpPr txBox="1"/>
          <p:nvPr/>
        </p:nvSpPr>
        <p:spPr>
          <a:xfrm>
            <a:off x="1886691" y="2853563"/>
            <a:ext cx="14514619" cy="417209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HSRP es comúnmente utilizado en redes de alta disponibilidad para garantizar que haya un gateway predeterminado siempre disponible para los dispositivos de la red. También puede ser utilizado para equilibrar la carga de tráfico en la red y para permitir el mantenimiento de rutina en los routers sin interrupción del servicio de red.</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HSRP es un protocolo desarrollado por Cisco Systems como parte de su suite de protocolos de enrutamiento.</a:t>
            </a:r>
            <a:endParaRPr b="0" i="0" sz="1400" u="none" cap="none" strike="noStrike">
              <a:solidFill>
                <a:srgbClr val="000000"/>
              </a:solidFill>
              <a:latin typeface="Arial"/>
              <a:ea typeface="Arial"/>
              <a:cs typeface="Arial"/>
              <a:sym typeface="Arial"/>
            </a:endParaRPr>
          </a:p>
        </p:txBody>
      </p:sp>
      <p:sp>
        <p:nvSpPr>
          <p:cNvPr id="243" name="Google Shape;243;p10"/>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HSRP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47" name="Shape 247"/>
        <p:cNvGrpSpPr/>
        <p:nvPr/>
      </p:nvGrpSpPr>
      <p:grpSpPr>
        <a:xfrm>
          <a:off x="0" y="0"/>
          <a:ext cx="0" cy="0"/>
          <a:chOff x="0" y="0"/>
          <a:chExt cx="0" cy="0"/>
        </a:xfrm>
      </p:grpSpPr>
      <p:sp>
        <p:nvSpPr>
          <p:cNvPr id="248" name="Google Shape;248;p11"/>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11"/>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11"/>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p11"/>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p11"/>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11"/>
          <p:cNvSpPr txBox="1"/>
          <p:nvPr/>
        </p:nvSpPr>
        <p:spPr>
          <a:xfrm>
            <a:off x="1886691" y="2853563"/>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Se utiliza principalmente en redes de gran tamaño donde es necesario garantizar la</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disponibilidad del gateway predeterminado de la red en caso de que falle el router activo.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En una configuración HSRP típica, dos o más routers están configurados para compartir una dirección IP virtual, que es la dirección IP que los dispositivos de la red utilizan como su gateway predeterminado.</a:t>
            </a:r>
            <a:endParaRPr b="0" i="0" sz="1400" u="none" cap="none" strike="noStrike">
              <a:solidFill>
                <a:srgbClr val="000000"/>
              </a:solidFill>
              <a:latin typeface="Arial"/>
              <a:ea typeface="Arial"/>
              <a:cs typeface="Arial"/>
              <a:sym typeface="Arial"/>
            </a:endParaRPr>
          </a:p>
        </p:txBody>
      </p:sp>
      <p:sp>
        <p:nvSpPr>
          <p:cNvPr id="254" name="Google Shape;254;p11"/>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HSRP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58" name="Shape 258"/>
        <p:cNvGrpSpPr/>
        <p:nvPr/>
      </p:nvGrpSpPr>
      <p:grpSpPr>
        <a:xfrm>
          <a:off x="0" y="0"/>
          <a:ext cx="0" cy="0"/>
          <a:chOff x="0" y="0"/>
          <a:chExt cx="0" cy="0"/>
        </a:xfrm>
      </p:grpSpPr>
      <p:sp>
        <p:nvSpPr>
          <p:cNvPr id="259" name="Google Shape;259;p12"/>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12"/>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12"/>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12"/>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12"/>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12"/>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12"/>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266" name="Google Shape;266;p12"/>
          <p:cNvSpPr txBox="1"/>
          <p:nvPr/>
        </p:nvSpPr>
        <p:spPr>
          <a:xfrm>
            <a:off x="1200136" y="2797403"/>
            <a:ext cx="14514619" cy="52198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HSRP utiliza un protocolo de votación para determinar qué router debe ser el router activo en la red. Cada router HSRP envía mensajes de anuncio periódicos, conocidos como "hello packets", para informar a los demás routers de su presencia en la red.</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routers HSRP también intercambian información sobre su prioridad y su estado actual. El router con la mayor prioridad se convierte en el router activo. Si hay un empate en la prioridad, el router con la dirección IP más alta se convierte en el router activo. El router activo es el responsable de procesar todo el tráfico hacia la dirección IP virtual compartida.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70" name="Shape 270"/>
        <p:cNvGrpSpPr/>
        <p:nvPr/>
      </p:nvGrpSpPr>
      <p:grpSpPr>
        <a:xfrm>
          <a:off x="0" y="0"/>
          <a:ext cx="0" cy="0"/>
          <a:chOff x="0" y="0"/>
          <a:chExt cx="0" cy="0"/>
        </a:xfrm>
      </p:grpSpPr>
      <p:sp>
        <p:nvSpPr>
          <p:cNvPr id="271" name="Google Shape;271;p13"/>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13"/>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13"/>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13"/>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3"/>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3"/>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13"/>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278" name="Google Shape;278;p13"/>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paquetes que llegan a los routers en espera son ignorados. Los routers en espera monitorean continuamente al router activo y, si detectan una falla en el router activo, el router en espera con la prioridad más alta se convierte en el nuevo router activo. Cuando se produce un cambio en el estado del router activo, se envía un paquete de notificación a través de la red para informar a los demás dispositivos.</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dispositivos en la red actualizan su tabla de direcciones MAC con la dirección MAC del nuevo router activo.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82" name="Shape 282"/>
        <p:cNvGrpSpPr/>
        <p:nvPr/>
      </p:nvGrpSpPr>
      <p:grpSpPr>
        <a:xfrm>
          <a:off x="0" y="0"/>
          <a:ext cx="0" cy="0"/>
          <a:chOff x="0" y="0"/>
          <a:chExt cx="0" cy="0"/>
        </a:xfrm>
      </p:grpSpPr>
      <p:sp>
        <p:nvSpPr>
          <p:cNvPr id="283" name="Google Shape;283;p14"/>
          <p:cNvSpPr/>
          <p:nvPr/>
        </p:nvSpPr>
        <p:spPr>
          <a:xfrm>
            <a:off x="1696281" y="2105635"/>
            <a:ext cx="5172975" cy="6356958"/>
          </a:xfrm>
          <a:custGeom>
            <a:rect b="b" l="l" r="r" t="t"/>
            <a:pathLst>
              <a:path extrusionOk="0" h="6356958" w="5172975">
                <a:moveTo>
                  <a:pt x="0" y="0"/>
                </a:moveTo>
                <a:lnTo>
                  <a:pt x="5172974" y="0"/>
                </a:lnTo>
                <a:lnTo>
                  <a:pt x="5172974"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14"/>
          <p:cNvSpPr/>
          <p:nvPr/>
        </p:nvSpPr>
        <p:spPr>
          <a:xfrm>
            <a:off x="8334357" y="2105635"/>
            <a:ext cx="8534066" cy="6501406"/>
          </a:xfrm>
          <a:custGeom>
            <a:rect b="b" l="l" r="r" t="t"/>
            <a:pathLst>
              <a:path extrusionOk="0" h="6501406" w="8534066">
                <a:moveTo>
                  <a:pt x="0" y="0"/>
                </a:moveTo>
                <a:lnTo>
                  <a:pt x="8534066" y="0"/>
                </a:lnTo>
                <a:lnTo>
                  <a:pt x="8534066" y="6501406"/>
                </a:lnTo>
                <a:lnTo>
                  <a:pt x="0" y="65014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5" name="Google Shape;285;p14"/>
          <p:cNvSpPr txBox="1"/>
          <p:nvPr/>
        </p:nvSpPr>
        <p:spPr>
          <a:xfrm>
            <a:off x="9144000" y="3904728"/>
            <a:ext cx="8063090" cy="28460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interface </a:t>
            </a:r>
            <a:r>
              <a:rPr b="0" i="0" lang="en-US" sz="2700" u="none" cap="none" strike="noStrike">
                <a:solidFill>
                  <a:srgbClr val="FFFFFF"/>
                </a:solidFill>
                <a:latin typeface="Open Sans"/>
                <a:ea typeface="Open Sans"/>
                <a:cs typeface="Open Sans"/>
                <a:sym typeface="Open Sans"/>
              </a:rPr>
              <a:t>&lt;nombre_interfaz&gt;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ip address</a:t>
            </a:r>
            <a:r>
              <a:rPr b="0" i="0" lang="en-US" sz="2700" u="none" cap="none" strike="noStrike">
                <a:solidFill>
                  <a:srgbClr val="FFFFFF"/>
                </a:solidFill>
                <a:latin typeface="Open Sans"/>
                <a:ea typeface="Open Sans"/>
                <a:cs typeface="Open Sans"/>
                <a:sym typeface="Open Sans"/>
              </a:rPr>
              <a:t> &lt;dirección_ip_fisica&lt;máscara_de_subred&gt;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standby</a:t>
            </a:r>
            <a:r>
              <a:rPr b="0" i="0" lang="en-US" sz="2700" u="none" cap="none" strike="noStrike">
                <a:solidFill>
                  <a:srgbClr val="FFFFFF"/>
                </a:solidFill>
                <a:latin typeface="Open Sans"/>
                <a:ea typeface="Open Sans"/>
                <a:cs typeface="Open Sans"/>
                <a:sym typeface="Open Sans"/>
              </a:rPr>
              <a:t> &lt;grupo&gt; ip &lt;dirección_ip_virtual&gt;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standby </a:t>
            </a:r>
            <a:r>
              <a:rPr b="0" i="0" lang="en-US" sz="2700" u="none" cap="none" strike="noStrike">
                <a:solidFill>
                  <a:srgbClr val="FFFFFF"/>
                </a:solidFill>
                <a:latin typeface="Open Sans"/>
                <a:ea typeface="Open Sans"/>
                <a:cs typeface="Open Sans"/>
                <a:sym typeface="Open Sans"/>
              </a:rPr>
              <a:t>&lt;grupo&gt; priority &lt;prioridad&gt;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standby </a:t>
            </a:r>
            <a:r>
              <a:rPr b="0" i="0" lang="en-US" sz="2700" u="none" cap="none" strike="noStrike">
                <a:solidFill>
                  <a:srgbClr val="FFFFFF"/>
                </a:solidFill>
                <a:latin typeface="Open Sans"/>
                <a:ea typeface="Open Sans"/>
                <a:cs typeface="Open Sans"/>
                <a:sym typeface="Open Sans"/>
              </a:rPr>
              <a:t>&lt;grupo&gt; preempt</a:t>
            </a:r>
            <a:endParaRPr b="0" i="0" sz="1400" u="none" cap="none" strike="noStrike">
              <a:solidFill>
                <a:srgbClr val="000000"/>
              </a:solidFill>
              <a:latin typeface="Arial"/>
              <a:ea typeface="Arial"/>
              <a:cs typeface="Arial"/>
              <a:sym typeface="Arial"/>
            </a:endParaRPr>
          </a:p>
        </p:txBody>
      </p:sp>
      <p:sp>
        <p:nvSpPr>
          <p:cNvPr id="286" name="Google Shape;286;p14"/>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14"/>
          <p:cNvSpPr txBox="1"/>
          <p:nvPr/>
        </p:nvSpPr>
        <p:spPr>
          <a:xfrm>
            <a:off x="1028700" y="494059"/>
            <a:ext cx="6510933" cy="954982"/>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Clr>
                <a:srgbClr val="000000"/>
              </a:buClr>
              <a:buSzPts val="5527"/>
              <a:buFont typeface="Arial"/>
              <a:buNone/>
            </a:pPr>
            <a:r>
              <a:rPr b="1" i="0" lang="en-US" sz="5527" u="none" cap="none" strike="noStrike">
                <a:solidFill>
                  <a:srgbClr val="000000"/>
                </a:solidFill>
                <a:latin typeface="Arial"/>
                <a:ea typeface="Arial"/>
                <a:cs typeface="Arial"/>
                <a:sym typeface="Arial"/>
              </a:rPr>
              <a:t>CONFIGURACIÓN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291" name="Shape 291"/>
        <p:cNvGrpSpPr/>
        <p:nvPr/>
      </p:nvGrpSpPr>
      <p:grpSpPr>
        <a:xfrm>
          <a:off x="0" y="0"/>
          <a:ext cx="0" cy="0"/>
          <a:chOff x="0" y="0"/>
          <a:chExt cx="0" cy="0"/>
        </a:xfrm>
      </p:grpSpPr>
      <p:sp>
        <p:nvSpPr>
          <p:cNvPr id="292" name="Google Shape;292;p15"/>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15"/>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15"/>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5" name="Google Shape;295;p15"/>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15"/>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15"/>
          <p:cNvSpPr txBox="1"/>
          <p:nvPr/>
        </p:nvSpPr>
        <p:spPr>
          <a:xfrm>
            <a:off x="1886691" y="2853563"/>
            <a:ext cx="14514619" cy="626759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VRRP (Virtual Router Redundancy Protocol) es un protocolo de red de alta disponibilidad definido por el estándar RFC 5798, que permite que múltiples routers trabajen juntos para simular un solo router virtual, al que los hosts de una red local pueden usar como su puerta de enlace predeterminada.</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Su objetivo principal es eliminar el punto único de falla que representa una única puerta de enlace, permitiendo que si un router falla, otro tome automáticamente su lugar sin intervención del usuario ni necesidad de reconfigurar a los hosts.</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Es un protocolo multivendor, lo que significa que puede ser implementado en equipos de distintos fabricantes (a diferencia de HSRP o GLBP, que son propietarios de Cisco).</a:t>
            </a:r>
            <a:endParaRPr b="0" i="0" sz="1400" u="none" cap="none" strike="noStrike">
              <a:solidFill>
                <a:srgbClr val="000000"/>
              </a:solidFill>
              <a:latin typeface="Arial"/>
              <a:ea typeface="Arial"/>
              <a:cs typeface="Arial"/>
              <a:sym typeface="Arial"/>
            </a:endParaRPr>
          </a:p>
        </p:txBody>
      </p:sp>
      <p:sp>
        <p:nvSpPr>
          <p:cNvPr id="298" name="Google Shape;298;p15"/>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VRRP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02" name="Shape 302"/>
        <p:cNvGrpSpPr/>
        <p:nvPr/>
      </p:nvGrpSpPr>
      <p:grpSpPr>
        <a:xfrm>
          <a:off x="0" y="0"/>
          <a:ext cx="0" cy="0"/>
          <a:chOff x="0" y="0"/>
          <a:chExt cx="0" cy="0"/>
        </a:xfrm>
      </p:grpSpPr>
      <p:sp>
        <p:nvSpPr>
          <p:cNvPr id="303" name="Google Shape;303;p16"/>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16"/>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16"/>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16"/>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16"/>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16"/>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16"/>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310" name="Google Shape;310;p16"/>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Todos los routers participantes con el protocolo VRRP se configuran con un número de identificación (ID) de grupo VRRP en común. Se define una IP virtual que es la que será compartida por el grupo VRRP.</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Cada router tiene una prioridad VRRP que por defecto es 100 y el que tenga el valor más alto es el que gana.</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El router con la mayor prioridad se convierte en el maestro. En caso de empate, gana el router con la dirección IP más alta.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14" name="Shape 314"/>
        <p:cNvGrpSpPr/>
        <p:nvPr/>
      </p:nvGrpSpPr>
      <p:grpSpPr>
        <a:xfrm>
          <a:off x="0" y="0"/>
          <a:ext cx="0" cy="0"/>
          <a:chOff x="0" y="0"/>
          <a:chExt cx="0" cy="0"/>
        </a:xfrm>
      </p:grpSpPr>
      <p:sp>
        <p:nvSpPr>
          <p:cNvPr id="315" name="Google Shape;315;p17"/>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17"/>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17"/>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17"/>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17"/>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17"/>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17"/>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322" name="Google Shape;322;p17"/>
          <p:cNvSpPr txBox="1"/>
          <p:nvPr/>
        </p:nvSpPr>
        <p:spPr>
          <a:xfrm>
            <a:off x="1200136" y="2797403"/>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El router maestro envía mensajes de anuncio cada pocos segundos (por defecto cada 1 segundo). Estos mensajes indican que sigue activo. Y por lo general estos mensajes se envían mediante la dirección multicast 224.0.0.18 (IPv4).</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demás routers se convierten en routers backup y estos se encuentran en espera. Realizan un monitoreo al router maestro y se encuentran listos para asumir el rol si este llegara a fallar.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26" name="Shape 326"/>
        <p:cNvGrpSpPr/>
        <p:nvPr/>
      </p:nvGrpSpPr>
      <p:grpSpPr>
        <a:xfrm>
          <a:off x="0" y="0"/>
          <a:ext cx="0" cy="0"/>
          <a:chOff x="0" y="0"/>
          <a:chExt cx="0" cy="0"/>
        </a:xfrm>
      </p:grpSpPr>
      <p:sp>
        <p:nvSpPr>
          <p:cNvPr id="327" name="Google Shape;327;p18"/>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18"/>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18"/>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18"/>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18"/>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18"/>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18"/>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334" name="Google Shape;334;p18"/>
          <p:cNvSpPr txBox="1"/>
          <p:nvPr/>
        </p:nvSpPr>
        <p:spPr>
          <a:xfrm>
            <a:off x="1200136" y="2797403"/>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Si los routers backup no reciben anuncios dentro del tiempo límite (3 veces el intervalo por defecto), se considera que el maestro ha fallado y el router backup con la mayor prioridad se convierte en el nuevo maestro tomando el control de la IP y la MAC virtual.</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Si el router original vuelve y tiene mayor prioridad, puede o no retornar el rol de maestro, dependiendo de la configuración de la opción preempt.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38" name="Shape 338"/>
        <p:cNvGrpSpPr/>
        <p:nvPr/>
      </p:nvGrpSpPr>
      <p:grpSpPr>
        <a:xfrm>
          <a:off x="0" y="0"/>
          <a:ext cx="0" cy="0"/>
          <a:chOff x="0" y="0"/>
          <a:chExt cx="0" cy="0"/>
        </a:xfrm>
      </p:grpSpPr>
      <p:sp>
        <p:nvSpPr>
          <p:cNvPr id="339" name="Google Shape;339;p19"/>
          <p:cNvSpPr/>
          <p:nvPr/>
        </p:nvSpPr>
        <p:spPr>
          <a:xfrm>
            <a:off x="8334357" y="2105635"/>
            <a:ext cx="8534066" cy="6501406"/>
          </a:xfrm>
          <a:custGeom>
            <a:rect b="b" l="l" r="r" t="t"/>
            <a:pathLst>
              <a:path extrusionOk="0" h="6501406" w="8534066">
                <a:moveTo>
                  <a:pt x="0" y="0"/>
                </a:moveTo>
                <a:lnTo>
                  <a:pt x="8534066" y="0"/>
                </a:lnTo>
                <a:lnTo>
                  <a:pt x="8534066" y="6501406"/>
                </a:lnTo>
                <a:lnTo>
                  <a:pt x="0" y="65014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19"/>
          <p:cNvSpPr txBox="1"/>
          <p:nvPr/>
        </p:nvSpPr>
        <p:spPr>
          <a:xfrm>
            <a:off x="9144000" y="3904728"/>
            <a:ext cx="8063090" cy="33223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iinterface </a:t>
            </a:r>
            <a:r>
              <a:rPr b="0" i="0" lang="en-US" sz="2700" u="none" cap="none" strike="noStrike">
                <a:solidFill>
                  <a:srgbClr val="FFFFFF"/>
                </a:solidFill>
                <a:latin typeface="Open Sans"/>
                <a:ea typeface="Open Sans"/>
                <a:cs typeface="Open Sans"/>
                <a:sym typeface="Open Sans"/>
              </a:rPr>
              <a:t>&lt;nombre_interfaz&gt;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ip address </a:t>
            </a:r>
            <a:r>
              <a:rPr b="0" i="0" lang="en-US" sz="2700" u="none" cap="none" strike="noStrike">
                <a:solidFill>
                  <a:srgbClr val="FFFFFF"/>
                </a:solidFill>
                <a:latin typeface="Open Sans"/>
                <a:ea typeface="Open Sans"/>
                <a:cs typeface="Open Sans"/>
                <a:sym typeface="Open Sans"/>
              </a:rPr>
              <a:t>&lt;dirección_ip_fisica&gt;</a:t>
            </a:r>
            <a:r>
              <a:rPr b="0" i="0" lang="en-US" sz="2700" u="none" cap="none" strike="noStrike">
                <a:solidFill>
                  <a:srgbClr val="C8AB37"/>
                </a:solidFill>
                <a:latin typeface="Open Sans"/>
                <a:ea typeface="Open Sans"/>
                <a:cs typeface="Open Sans"/>
                <a:sym typeface="Open Sans"/>
              </a:rPr>
              <a:t> </a:t>
            </a:r>
            <a:r>
              <a:rPr b="0" i="0" lang="en-US" sz="2700" u="none" cap="none" strike="noStrike">
                <a:solidFill>
                  <a:srgbClr val="FFFFFF"/>
                </a:solidFill>
                <a:latin typeface="Open Sans"/>
                <a:ea typeface="Open Sans"/>
                <a:cs typeface="Open Sans"/>
                <a:sym typeface="Open Sans"/>
              </a:rPr>
              <a:t>&lt;máscara_de_subred&gt;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vrrp </a:t>
            </a:r>
            <a:r>
              <a:rPr b="0" i="0" lang="en-US" sz="2700" u="none" cap="none" strike="noStrike">
                <a:solidFill>
                  <a:srgbClr val="FFFFFF"/>
                </a:solidFill>
                <a:latin typeface="Open Sans"/>
                <a:ea typeface="Open Sans"/>
                <a:cs typeface="Open Sans"/>
                <a:sym typeface="Open Sans"/>
              </a:rPr>
              <a:t>&lt;ID_VRRP&gt; ip &lt;dirección_ip_virtual&gt;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vrrp </a:t>
            </a:r>
            <a:r>
              <a:rPr b="0" i="0" lang="en-US" sz="2700" u="none" cap="none" strike="noStrike">
                <a:solidFill>
                  <a:srgbClr val="FFFFFF"/>
                </a:solidFill>
                <a:latin typeface="Open Sans"/>
                <a:ea typeface="Open Sans"/>
                <a:cs typeface="Open Sans"/>
                <a:sym typeface="Open Sans"/>
              </a:rPr>
              <a:t>&lt;ID_VRRP&gt; </a:t>
            </a:r>
            <a:r>
              <a:rPr b="0" i="0" lang="en-US" sz="2700" u="none" cap="none" strike="noStrike">
                <a:solidFill>
                  <a:srgbClr val="C8AB37"/>
                </a:solidFill>
                <a:latin typeface="Open Sans"/>
                <a:ea typeface="Open Sans"/>
                <a:cs typeface="Open Sans"/>
                <a:sym typeface="Open Sans"/>
              </a:rPr>
              <a:t>priority </a:t>
            </a:r>
            <a:r>
              <a:rPr b="0" i="0" lang="en-US" sz="2700" u="none" cap="none" strike="noStrike">
                <a:solidFill>
                  <a:srgbClr val="FFFFFF"/>
                </a:solidFill>
                <a:latin typeface="Open Sans"/>
                <a:ea typeface="Open Sans"/>
                <a:cs typeface="Open Sans"/>
                <a:sym typeface="Open Sans"/>
              </a:rPr>
              <a:t>&lt;prioridad&gt;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rPr b="0" i="0" lang="en-US" sz="2700" u="none" cap="none" strike="noStrike">
                <a:solidFill>
                  <a:srgbClr val="C8AB37"/>
                </a:solidFill>
                <a:latin typeface="Open Sans"/>
                <a:ea typeface="Open Sans"/>
                <a:cs typeface="Open Sans"/>
                <a:sym typeface="Open Sans"/>
              </a:rPr>
              <a:t>vrrp </a:t>
            </a:r>
            <a:r>
              <a:rPr b="0" i="0" lang="en-US" sz="2700" u="none" cap="none" strike="noStrike">
                <a:solidFill>
                  <a:srgbClr val="FFFFFF"/>
                </a:solidFill>
                <a:latin typeface="Open Sans"/>
                <a:ea typeface="Open Sans"/>
                <a:cs typeface="Open Sans"/>
                <a:sym typeface="Open Sans"/>
              </a:rPr>
              <a:t>&lt;ID_VRRP&gt; </a:t>
            </a:r>
            <a:r>
              <a:rPr b="0" i="0" lang="en-US" sz="2700" u="none" cap="none" strike="noStrike">
                <a:solidFill>
                  <a:srgbClr val="C8AB37"/>
                </a:solidFill>
                <a:latin typeface="Open Sans"/>
                <a:ea typeface="Open Sans"/>
                <a:cs typeface="Open Sans"/>
                <a:sym typeface="Open Sans"/>
              </a:rPr>
              <a:t>preempt</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700"/>
              <a:buFont typeface="Arial"/>
              <a:buNone/>
            </a:pPr>
            <a:r>
              <a:t/>
            </a:r>
            <a:endParaRPr b="0" i="0" sz="2700" u="none" cap="none" strike="noStrike">
              <a:solidFill>
                <a:srgbClr val="C8AB37"/>
              </a:solidFill>
              <a:latin typeface="Open Sans"/>
              <a:ea typeface="Open Sans"/>
              <a:cs typeface="Open Sans"/>
              <a:sym typeface="Open Sans"/>
            </a:endParaRPr>
          </a:p>
        </p:txBody>
      </p:sp>
      <p:sp>
        <p:nvSpPr>
          <p:cNvPr id="341" name="Google Shape;341;p19"/>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19"/>
          <p:cNvSpPr txBox="1"/>
          <p:nvPr/>
        </p:nvSpPr>
        <p:spPr>
          <a:xfrm>
            <a:off x="1028700" y="494059"/>
            <a:ext cx="6510933" cy="954982"/>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Clr>
                <a:srgbClr val="000000"/>
              </a:buClr>
              <a:buSzPts val="5527"/>
              <a:buFont typeface="Arial"/>
              <a:buNone/>
            </a:pPr>
            <a:r>
              <a:rPr b="1" i="0" lang="en-US" sz="5527" u="none" cap="none" strike="noStrike">
                <a:solidFill>
                  <a:srgbClr val="000000"/>
                </a:solidFill>
                <a:latin typeface="Arial"/>
                <a:ea typeface="Arial"/>
                <a:cs typeface="Arial"/>
                <a:sym typeface="Arial"/>
              </a:rPr>
              <a:t>CONFIGURACIÓN</a:t>
            </a:r>
            <a:endParaRPr b="0" i="0" sz="1400" u="none" cap="none" strike="noStrike">
              <a:solidFill>
                <a:srgbClr val="000000"/>
              </a:solidFill>
              <a:latin typeface="Arial"/>
              <a:ea typeface="Arial"/>
              <a:cs typeface="Arial"/>
              <a:sym typeface="Arial"/>
            </a:endParaRPr>
          </a:p>
        </p:txBody>
      </p:sp>
      <p:sp>
        <p:nvSpPr>
          <p:cNvPr id="343" name="Google Shape;343;p19"/>
          <p:cNvSpPr/>
          <p:nvPr/>
        </p:nvSpPr>
        <p:spPr>
          <a:xfrm>
            <a:off x="663847" y="2292643"/>
            <a:ext cx="7240640" cy="6127391"/>
          </a:xfrm>
          <a:custGeom>
            <a:rect b="b" l="l" r="r" t="t"/>
            <a:pathLst>
              <a:path extrusionOk="0" h="6127391" w="7240640">
                <a:moveTo>
                  <a:pt x="0" y="0"/>
                </a:moveTo>
                <a:lnTo>
                  <a:pt x="7240639" y="0"/>
                </a:lnTo>
                <a:lnTo>
                  <a:pt x="7240639" y="6127391"/>
                </a:lnTo>
                <a:lnTo>
                  <a:pt x="0" y="612739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47" name="Shape 347"/>
        <p:cNvGrpSpPr/>
        <p:nvPr/>
      </p:nvGrpSpPr>
      <p:grpSpPr>
        <a:xfrm>
          <a:off x="0" y="0"/>
          <a:ext cx="0" cy="0"/>
          <a:chOff x="0" y="0"/>
          <a:chExt cx="0" cy="0"/>
        </a:xfrm>
      </p:grpSpPr>
      <p:sp>
        <p:nvSpPr>
          <p:cNvPr id="348" name="Google Shape;348;p20"/>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20"/>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20"/>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20"/>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20"/>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20"/>
          <p:cNvSpPr txBox="1"/>
          <p:nvPr/>
        </p:nvSpPr>
        <p:spPr>
          <a:xfrm>
            <a:off x="1886691" y="3311820"/>
            <a:ext cx="14514619" cy="364821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GLBP (Gateway Load Balancing Protocol) es un protocolo de redundancia de gateway predeterminado que permite que varios routers compartan una dirección IP</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virtual y balanceen la carga de tráfico en la red.</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En lugar de tener un solo router activo como en HSRP y VRRP, GLBP permite que varios routers compartan el tráfico de la red, lo que mejora la eficiencia y el rendimiento de la red.</a:t>
            </a:r>
            <a:endParaRPr b="0" i="0" sz="1400" u="none" cap="none" strike="noStrike">
              <a:solidFill>
                <a:srgbClr val="000000"/>
              </a:solidFill>
              <a:latin typeface="Arial"/>
              <a:ea typeface="Arial"/>
              <a:cs typeface="Arial"/>
              <a:sym typeface="Arial"/>
            </a:endParaRPr>
          </a:p>
        </p:txBody>
      </p:sp>
      <p:sp>
        <p:nvSpPr>
          <p:cNvPr id="354" name="Google Shape;354;p20"/>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GLBP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58" name="Shape 358"/>
        <p:cNvGrpSpPr/>
        <p:nvPr/>
      </p:nvGrpSpPr>
      <p:grpSpPr>
        <a:xfrm>
          <a:off x="0" y="0"/>
          <a:ext cx="0" cy="0"/>
          <a:chOff x="0" y="0"/>
          <a:chExt cx="0" cy="0"/>
        </a:xfrm>
      </p:grpSpPr>
      <p:sp>
        <p:nvSpPr>
          <p:cNvPr id="359" name="Google Shape;359;p21"/>
          <p:cNvSpPr/>
          <p:nvPr/>
        </p:nvSpPr>
        <p:spPr>
          <a:xfrm rot="-445925">
            <a:off x="3142738" y="-769394"/>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21"/>
          <p:cNvSpPr/>
          <p:nvPr/>
        </p:nvSpPr>
        <p:spPr>
          <a:xfrm rot="-8798399">
            <a:off x="8466276" y="-959053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21"/>
          <p:cNvSpPr/>
          <p:nvPr/>
        </p:nvSpPr>
        <p:spPr>
          <a:xfrm rot="3283157">
            <a:off x="-1501206" y="7329841"/>
            <a:ext cx="5624862" cy="7545546"/>
          </a:xfrm>
          <a:custGeom>
            <a:rect b="b" l="l" r="r" t="t"/>
            <a:pathLst>
              <a:path extrusionOk="0" h="7545546" w="5624862">
                <a:moveTo>
                  <a:pt x="0" y="0"/>
                </a:moveTo>
                <a:lnTo>
                  <a:pt x="5624862" y="0"/>
                </a:lnTo>
                <a:lnTo>
                  <a:pt x="5624862" y="7545546"/>
                </a:lnTo>
                <a:lnTo>
                  <a:pt x="0" y="754554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21"/>
          <p:cNvSpPr/>
          <p:nvPr/>
        </p:nvSpPr>
        <p:spPr>
          <a:xfrm rot="2770156">
            <a:off x="-2577184" y="-2165857"/>
            <a:ext cx="5154368" cy="4995052"/>
          </a:xfrm>
          <a:custGeom>
            <a:rect b="b" l="l" r="r" t="t"/>
            <a:pathLst>
              <a:path extrusionOk="0" h="4995052" w="5154368">
                <a:moveTo>
                  <a:pt x="0" y="0"/>
                </a:moveTo>
                <a:lnTo>
                  <a:pt x="5154368" y="0"/>
                </a:lnTo>
                <a:lnTo>
                  <a:pt x="5154368" y="4995051"/>
                </a:lnTo>
                <a:lnTo>
                  <a:pt x="0" y="499505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21"/>
          <p:cNvSpPr/>
          <p:nvPr/>
        </p:nvSpPr>
        <p:spPr>
          <a:xfrm rot="2770156">
            <a:off x="15710816" y="8522875"/>
            <a:ext cx="5154368" cy="4995052"/>
          </a:xfrm>
          <a:custGeom>
            <a:rect b="b" l="l" r="r" t="t"/>
            <a:pathLst>
              <a:path extrusionOk="0" h="4995052" w="5154368">
                <a:moveTo>
                  <a:pt x="0" y="0"/>
                </a:moveTo>
                <a:lnTo>
                  <a:pt x="5154368" y="0"/>
                </a:lnTo>
                <a:lnTo>
                  <a:pt x="5154368" y="4995052"/>
                </a:lnTo>
                <a:lnTo>
                  <a:pt x="0" y="499505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21"/>
          <p:cNvSpPr txBox="1"/>
          <p:nvPr/>
        </p:nvSpPr>
        <p:spPr>
          <a:xfrm>
            <a:off x="1886691" y="3575323"/>
            <a:ext cx="14514619" cy="31243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Así como el HSRP, GLBP también es un protocolo propietario de Cisco Systems.</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El algoritmo de carga balanceada selecciona un router activo en función de su carga actual, la velocidad de su enlace y la prioridad del router. De esta manera, el tráfico de la red se distribuye de manera eficiente y equilibrada entre los routers activos, lo que evita la congestión de la red y garantiza un rendimiento óptimo.</a:t>
            </a:r>
            <a:endParaRPr b="0" i="0" sz="1400" u="none" cap="none" strike="noStrike">
              <a:solidFill>
                <a:srgbClr val="000000"/>
              </a:solidFill>
              <a:latin typeface="Arial"/>
              <a:ea typeface="Arial"/>
              <a:cs typeface="Arial"/>
              <a:sym typeface="Arial"/>
            </a:endParaRPr>
          </a:p>
        </p:txBody>
      </p:sp>
      <p:sp>
        <p:nvSpPr>
          <p:cNvPr id="365" name="Google Shape;365;p21"/>
          <p:cNvSpPr txBox="1"/>
          <p:nvPr/>
        </p:nvSpPr>
        <p:spPr>
          <a:xfrm>
            <a:off x="1886691" y="1397414"/>
            <a:ext cx="12702116" cy="1259324"/>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7326"/>
              <a:buFont typeface="Arial"/>
              <a:buNone/>
            </a:pPr>
            <a:r>
              <a:rPr b="1" i="0" lang="en-US" sz="7326" u="none" cap="none" strike="noStrike">
                <a:solidFill>
                  <a:srgbClr val="152540"/>
                </a:solidFill>
                <a:latin typeface="Arial"/>
                <a:ea typeface="Arial"/>
                <a:cs typeface="Arial"/>
                <a:sym typeface="Arial"/>
              </a:rPr>
              <a:t>GLBP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69" name="Shape 369"/>
        <p:cNvGrpSpPr/>
        <p:nvPr/>
      </p:nvGrpSpPr>
      <p:grpSpPr>
        <a:xfrm>
          <a:off x="0" y="0"/>
          <a:ext cx="0" cy="0"/>
          <a:chOff x="0" y="0"/>
          <a:chExt cx="0" cy="0"/>
        </a:xfrm>
      </p:grpSpPr>
      <p:sp>
        <p:nvSpPr>
          <p:cNvPr id="370" name="Google Shape;370;p22"/>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22"/>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22"/>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22"/>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22"/>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22"/>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22"/>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377" name="Google Shape;377;p22"/>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routers GLBP envían paquetes "hello" (anuncios de GLBP) a través de la red para informar a los demás routers de su presencia y estado actual. Los paquetes "hello" contienen información sobre la dirección IP virtual compartida, la prioridad del router y el estado actual (activo o en espera).</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Utilizan un algoritmo de votación para determinar qué router debe ser el router activo. A diferencia de HSRP y VRRP, GLBP no utiliza una prioridad estática para determinar qué router debe ser el activo, sino que utiliza un algoritmo de carga balanceada para distribuir el tráfico en los routers activos.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81" name="Shape 381"/>
        <p:cNvGrpSpPr/>
        <p:nvPr/>
      </p:nvGrpSpPr>
      <p:grpSpPr>
        <a:xfrm>
          <a:off x="0" y="0"/>
          <a:ext cx="0" cy="0"/>
          <a:chOff x="0" y="0"/>
          <a:chExt cx="0" cy="0"/>
        </a:xfrm>
      </p:grpSpPr>
      <p:sp>
        <p:nvSpPr>
          <p:cNvPr id="382" name="Google Shape;382;p23"/>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23"/>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23"/>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23"/>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23"/>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23"/>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389" name="Google Shape;389;p23"/>
          <p:cNvSpPr txBox="1"/>
          <p:nvPr/>
        </p:nvSpPr>
        <p:spPr>
          <a:xfrm>
            <a:off x="1200136" y="2797403"/>
            <a:ext cx="14514619" cy="4695965"/>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Una vez que se ha seleccionado el router activo, GLBP asigna una dirección MAC virtual a cada uno de los routers activos. Esta dirección MAC virtual se utiliza como la dirección MAC del gateway predeterminado en la tabla de direcciones MAC de los dispositivos en la red.</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Cuando se envía un paquete hacia la dirección IP virtual compartida, el dispositivo de origen utiliza la dirección MAC virtual del router activo correspondiente para enrutar el tráfico. Si hay varios routers activos, GLBP utiliza un algoritmo de balanceo de carga para distribuir el tráfico entre ellos.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393" name="Shape 393"/>
        <p:cNvGrpSpPr/>
        <p:nvPr/>
      </p:nvGrpSpPr>
      <p:grpSpPr>
        <a:xfrm>
          <a:off x="0" y="0"/>
          <a:ext cx="0" cy="0"/>
          <a:chOff x="0" y="0"/>
          <a:chExt cx="0" cy="0"/>
        </a:xfrm>
      </p:grpSpPr>
      <p:sp>
        <p:nvSpPr>
          <p:cNvPr id="394" name="Google Shape;394;p24"/>
          <p:cNvSpPr/>
          <p:nvPr/>
        </p:nvSpPr>
        <p:spPr>
          <a:xfrm>
            <a:off x="438131" y="7173582"/>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24"/>
          <p:cNvSpPr/>
          <p:nvPr/>
        </p:nvSpPr>
        <p:spPr>
          <a:xfrm>
            <a:off x="11849738" y="-4940726"/>
            <a:ext cx="7641686" cy="6808048"/>
          </a:xfrm>
          <a:custGeom>
            <a:rect b="b" l="l" r="r" t="t"/>
            <a:pathLst>
              <a:path extrusionOk="0" h="6808048" w="7641686">
                <a:moveTo>
                  <a:pt x="0" y="0"/>
                </a:moveTo>
                <a:lnTo>
                  <a:pt x="7641686" y="0"/>
                </a:lnTo>
                <a:lnTo>
                  <a:pt x="7641686" y="6808048"/>
                </a:lnTo>
                <a:lnTo>
                  <a:pt x="0" y="68080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24"/>
          <p:cNvSpPr/>
          <p:nvPr/>
        </p:nvSpPr>
        <p:spPr>
          <a:xfrm rot="-8798399">
            <a:off x="13156923" y="1016610"/>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24"/>
          <p:cNvSpPr/>
          <p:nvPr/>
        </p:nvSpPr>
        <p:spPr>
          <a:xfrm rot="-8798399">
            <a:off x="-2994864" y="-8645988"/>
            <a:ext cx="9798172" cy="13143890"/>
          </a:xfrm>
          <a:custGeom>
            <a:rect b="b" l="l" r="r" t="t"/>
            <a:pathLst>
              <a:path extrusionOk="0" h="13143890" w="9798172">
                <a:moveTo>
                  <a:pt x="0" y="0"/>
                </a:moveTo>
                <a:lnTo>
                  <a:pt x="9798173" y="0"/>
                </a:lnTo>
                <a:lnTo>
                  <a:pt x="9798173" y="13143890"/>
                </a:lnTo>
                <a:lnTo>
                  <a:pt x="0" y="13143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24"/>
          <p:cNvSpPr/>
          <p:nvPr/>
        </p:nvSpPr>
        <p:spPr>
          <a:xfrm rot="9961243">
            <a:off x="12217193" y="-3026777"/>
            <a:ext cx="10084214" cy="8727429"/>
          </a:xfrm>
          <a:custGeom>
            <a:rect b="b" l="l" r="r" t="t"/>
            <a:pathLst>
              <a:path extrusionOk="0" h="8727429" w="10084214">
                <a:moveTo>
                  <a:pt x="0" y="0"/>
                </a:moveTo>
                <a:lnTo>
                  <a:pt x="10084214" y="0"/>
                </a:lnTo>
                <a:lnTo>
                  <a:pt x="10084214" y="8727429"/>
                </a:lnTo>
                <a:lnTo>
                  <a:pt x="0" y="872742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24"/>
          <p:cNvSpPr/>
          <p:nvPr/>
        </p:nvSpPr>
        <p:spPr>
          <a:xfrm rot="-976001">
            <a:off x="-4614341" y="5979010"/>
            <a:ext cx="9228681" cy="7987004"/>
          </a:xfrm>
          <a:custGeom>
            <a:rect b="b" l="l" r="r" t="t"/>
            <a:pathLst>
              <a:path extrusionOk="0" h="7987004" w="9228681">
                <a:moveTo>
                  <a:pt x="0" y="0"/>
                </a:moveTo>
                <a:lnTo>
                  <a:pt x="9228682" y="0"/>
                </a:lnTo>
                <a:lnTo>
                  <a:pt x="9228682" y="7987004"/>
                </a:lnTo>
                <a:lnTo>
                  <a:pt x="0" y="79870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24"/>
          <p:cNvSpPr txBox="1"/>
          <p:nvPr/>
        </p:nvSpPr>
        <p:spPr>
          <a:xfrm>
            <a:off x="1200136" y="1332681"/>
            <a:ext cx="11248185" cy="954982"/>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5527"/>
              <a:buFont typeface="Arial"/>
              <a:buNone/>
            </a:pPr>
            <a:r>
              <a:rPr b="1" i="0" lang="en-US" sz="5527" u="none" cap="none" strike="noStrike">
                <a:solidFill>
                  <a:srgbClr val="15254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401" name="Google Shape;401;p24"/>
          <p:cNvSpPr txBox="1"/>
          <p:nvPr/>
        </p:nvSpPr>
        <p:spPr>
          <a:xfrm>
            <a:off x="1200136" y="2797403"/>
            <a:ext cx="14514619" cy="31243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Si se produce una falla en el router activo, GLBP selecciona automáticamente un nuevo router activo y actualiza la dirección MAC virtual correspondiente.</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El cambio es transparente para los dispositivos en la red y no requiere que se realicen cambios manuales en las tablas de enrutamiento o en las tablas de direcciones MAC.</a:t>
            </a:r>
            <a:endParaRPr b="0" i="0" sz="1400" u="none" cap="none" strike="noStrike">
              <a:solidFill>
                <a:srgbClr val="000000"/>
              </a:solidFill>
              <a:latin typeface="Arial"/>
              <a:ea typeface="Arial"/>
              <a:cs typeface="Arial"/>
              <a:sym typeface="Arial"/>
            </a:endParaRPr>
          </a:p>
        </p:txBody>
      </p:sp>
      <p:sp>
        <p:nvSpPr>
          <p:cNvPr id="402" name="Google Shape;402;p24"/>
          <p:cNvSpPr/>
          <p:nvPr/>
        </p:nvSpPr>
        <p:spPr>
          <a:xfrm>
            <a:off x="9144000" y="5441346"/>
            <a:ext cx="5708555" cy="4531166"/>
          </a:xfrm>
          <a:custGeom>
            <a:rect b="b" l="l" r="r" t="t"/>
            <a:pathLst>
              <a:path extrusionOk="0" h="4531166" w="5708555">
                <a:moveTo>
                  <a:pt x="0" y="0"/>
                </a:moveTo>
                <a:lnTo>
                  <a:pt x="5708555" y="0"/>
                </a:lnTo>
                <a:lnTo>
                  <a:pt x="5708555" y="4531166"/>
                </a:lnTo>
                <a:lnTo>
                  <a:pt x="0" y="4531166"/>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406" name="Shape 406"/>
        <p:cNvGrpSpPr/>
        <p:nvPr/>
      </p:nvGrpSpPr>
      <p:grpSpPr>
        <a:xfrm>
          <a:off x="0" y="0"/>
          <a:ext cx="0" cy="0"/>
          <a:chOff x="0" y="0"/>
          <a:chExt cx="0" cy="0"/>
        </a:xfrm>
      </p:grpSpPr>
      <p:cxnSp>
        <p:nvCxnSpPr>
          <p:cNvPr id="407" name="Google Shape;407;p25"/>
          <p:cNvCxnSpPr/>
          <p:nvPr/>
        </p:nvCxnSpPr>
        <p:spPr>
          <a:xfrm>
            <a:off x="1028700" y="1009650"/>
            <a:ext cx="12867103" cy="0"/>
          </a:xfrm>
          <a:prstGeom prst="straightConnector1">
            <a:avLst/>
          </a:prstGeom>
          <a:noFill/>
          <a:ln cap="flat" cmpd="sng" w="85725">
            <a:solidFill>
              <a:srgbClr val="152540"/>
            </a:solidFill>
            <a:prstDash val="solid"/>
            <a:round/>
            <a:headEnd len="sm" w="sm" type="none"/>
            <a:tailEnd len="sm" w="sm" type="none"/>
          </a:ln>
        </p:spPr>
      </p:cxnSp>
      <p:grpSp>
        <p:nvGrpSpPr>
          <p:cNvPr id="408" name="Google Shape;408;p25"/>
          <p:cNvGrpSpPr/>
          <p:nvPr/>
        </p:nvGrpSpPr>
        <p:grpSpPr>
          <a:xfrm rot="-5400000">
            <a:off x="-3998652" y="9652275"/>
            <a:ext cx="7715406" cy="3949739"/>
            <a:chOff x="0" y="-47625"/>
            <a:chExt cx="886891" cy="454025"/>
          </a:xfrm>
        </p:grpSpPr>
        <p:sp>
          <p:nvSpPr>
            <p:cNvPr id="409" name="Google Shape;409;p25"/>
            <p:cNvSpPr/>
            <p:nvPr/>
          </p:nvSpPr>
          <p:spPr>
            <a:xfrm>
              <a:off x="0" y="0"/>
              <a:ext cx="886891" cy="406400"/>
            </a:xfrm>
            <a:custGeom>
              <a:rect b="b" l="l" r="r" t="t"/>
              <a:pathLst>
                <a:path extrusionOk="0" h="406400" w="886891">
                  <a:moveTo>
                    <a:pt x="683691" y="0"/>
                  </a:moveTo>
                  <a:cubicBezTo>
                    <a:pt x="795915" y="0"/>
                    <a:pt x="886891" y="90976"/>
                    <a:pt x="886891" y="203200"/>
                  </a:cubicBezTo>
                  <a:cubicBezTo>
                    <a:pt x="886891" y="315424"/>
                    <a:pt x="795915" y="406400"/>
                    <a:pt x="68369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15254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5"/>
            <p:cNvSpPr txBox="1"/>
            <p:nvPr/>
          </p:nvSpPr>
          <p:spPr>
            <a:xfrm>
              <a:off x="0" y="-47625"/>
              <a:ext cx="886891"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1" name="Google Shape;411;p25"/>
          <p:cNvGrpSpPr/>
          <p:nvPr/>
        </p:nvGrpSpPr>
        <p:grpSpPr>
          <a:xfrm rot="5400000">
            <a:off x="14300385" y="-2087563"/>
            <a:ext cx="7426906" cy="4175126"/>
            <a:chOff x="0" y="-47625"/>
            <a:chExt cx="807640" cy="454025"/>
          </a:xfrm>
        </p:grpSpPr>
        <p:sp>
          <p:nvSpPr>
            <p:cNvPr id="412" name="Google Shape;412;p25"/>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15254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5"/>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4" name="Google Shape;414;p25"/>
          <p:cNvSpPr txBox="1"/>
          <p:nvPr/>
        </p:nvSpPr>
        <p:spPr>
          <a:xfrm>
            <a:off x="2910501" y="2375147"/>
            <a:ext cx="12743700" cy="59283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Clr>
                <a:srgbClr val="000000"/>
              </a:buClr>
              <a:buSzPts val="10135"/>
              <a:buFont typeface="Arial"/>
              <a:buNone/>
            </a:pPr>
            <a:r>
              <a:rPr b="1" i="0" lang="en-US" sz="10135" u="none" cap="none" strike="noStrike">
                <a:solidFill>
                  <a:srgbClr val="4D4C4C"/>
                </a:solidFill>
                <a:latin typeface="Arial"/>
                <a:ea typeface="Arial"/>
                <a:cs typeface="Arial"/>
                <a:sym typeface="Arial"/>
              </a:rPr>
              <a:t>CONFIGURACIÓN BÁSICA DE FIREWALL</a:t>
            </a:r>
            <a:endParaRPr b="0" i="0" sz="1400" u="none" cap="none" strike="noStrike">
              <a:solidFill>
                <a:srgbClr val="000000"/>
              </a:solidFill>
              <a:latin typeface="Arial"/>
              <a:ea typeface="Arial"/>
              <a:cs typeface="Arial"/>
              <a:sym typeface="Arial"/>
            </a:endParaRPr>
          </a:p>
        </p:txBody>
      </p:sp>
      <p:grpSp>
        <p:nvGrpSpPr>
          <p:cNvPr id="415" name="Google Shape;415;p25"/>
          <p:cNvGrpSpPr/>
          <p:nvPr/>
        </p:nvGrpSpPr>
        <p:grpSpPr>
          <a:xfrm rot="-5400000">
            <a:off x="15751254" y="2375175"/>
            <a:ext cx="959812" cy="959812"/>
            <a:chOff x="0" y="0"/>
            <a:chExt cx="812800" cy="812800"/>
          </a:xfrm>
        </p:grpSpPr>
        <p:sp>
          <p:nvSpPr>
            <p:cNvPr id="416" name="Google Shape;416;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18" name="Google Shape;418;p25"/>
          <p:cNvCxnSpPr/>
          <p:nvPr/>
        </p:nvCxnSpPr>
        <p:spPr>
          <a:xfrm>
            <a:off x="4168622" y="9301162"/>
            <a:ext cx="13090678" cy="0"/>
          </a:xfrm>
          <a:prstGeom prst="straightConnector1">
            <a:avLst/>
          </a:prstGeom>
          <a:noFill/>
          <a:ln cap="flat" cmpd="sng" w="85725">
            <a:solidFill>
              <a:srgbClr val="152540"/>
            </a:solidFill>
            <a:prstDash val="solid"/>
            <a:round/>
            <a:headEnd len="sm" w="sm" type="none"/>
            <a:tailEnd len="sm" w="sm" type="none"/>
          </a:ln>
        </p:spPr>
      </p:cxnSp>
      <p:grpSp>
        <p:nvGrpSpPr>
          <p:cNvPr id="419" name="Google Shape;419;p25"/>
          <p:cNvGrpSpPr/>
          <p:nvPr/>
        </p:nvGrpSpPr>
        <p:grpSpPr>
          <a:xfrm>
            <a:off x="643702" y="8715761"/>
            <a:ext cx="3524919" cy="3524919"/>
            <a:chOff x="0" y="0"/>
            <a:chExt cx="812800" cy="812800"/>
          </a:xfrm>
        </p:grpSpPr>
        <p:sp>
          <p:nvSpPr>
            <p:cNvPr id="420" name="Google Shape;420;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25"/>
          <p:cNvGrpSpPr/>
          <p:nvPr/>
        </p:nvGrpSpPr>
        <p:grpSpPr>
          <a:xfrm>
            <a:off x="422629" y="7549965"/>
            <a:ext cx="1212142" cy="1165796"/>
            <a:chOff x="0" y="0"/>
            <a:chExt cx="1616189" cy="1554394"/>
          </a:xfrm>
        </p:grpSpPr>
        <p:grpSp>
          <p:nvGrpSpPr>
            <p:cNvPr id="423" name="Google Shape;423;p25"/>
            <p:cNvGrpSpPr/>
            <p:nvPr/>
          </p:nvGrpSpPr>
          <p:grpSpPr>
            <a:xfrm>
              <a:off x="0" y="0"/>
              <a:ext cx="1554394" cy="1554394"/>
              <a:chOff x="0" y="0"/>
              <a:chExt cx="812800" cy="812800"/>
            </a:xfrm>
          </p:grpSpPr>
          <p:sp>
            <p:nvSpPr>
              <p:cNvPr id="424" name="Google Shape;424;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6" name="Google Shape;426;p25"/>
            <p:cNvSpPr/>
            <p:nvPr/>
          </p:nvSpPr>
          <p:spPr>
            <a:xfrm>
              <a:off x="107634" y="45839"/>
              <a:ext cx="1508555" cy="1508555"/>
            </a:xfrm>
            <a:custGeom>
              <a:rect b="b" l="l" r="r" t="t"/>
              <a:pathLst>
                <a:path extrusionOk="0" h="1508555" w="1508555">
                  <a:moveTo>
                    <a:pt x="0" y="0"/>
                  </a:moveTo>
                  <a:lnTo>
                    <a:pt x="1508555" y="0"/>
                  </a:lnTo>
                  <a:lnTo>
                    <a:pt x="1508555" y="1508555"/>
                  </a:lnTo>
                  <a:lnTo>
                    <a:pt x="0" y="150855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427" name="Google Shape;427;p25"/>
          <p:cNvSpPr/>
          <p:nvPr/>
        </p:nvSpPr>
        <p:spPr>
          <a:xfrm rot="-5400000">
            <a:off x="13895803" y="-2200160"/>
            <a:ext cx="3899060" cy="3899060"/>
          </a:xfrm>
          <a:custGeom>
            <a:rect b="b" l="l" r="r" t="t"/>
            <a:pathLst>
              <a:path extrusionOk="0" h="3899060" w="3899060">
                <a:moveTo>
                  <a:pt x="0" y="0"/>
                </a:moveTo>
                <a:lnTo>
                  <a:pt x="3899060" y="0"/>
                </a:lnTo>
                <a:lnTo>
                  <a:pt x="3899060" y="3899060"/>
                </a:lnTo>
                <a:lnTo>
                  <a:pt x="0" y="389906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431" name="Shape 431"/>
        <p:cNvGrpSpPr/>
        <p:nvPr/>
      </p:nvGrpSpPr>
      <p:grpSpPr>
        <a:xfrm>
          <a:off x="0" y="0"/>
          <a:ext cx="0" cy="0"/>
          <a:chOff x="0" y="0"/>
          <a:chExt cx="0" cy="0"/>
        </a:xfrm>
      </p:grpSpPr>
      <p:grpSp>
        <p:nvGrpSpPr>
          <p:cNvPr id="432" name="Google Shape;432;p26"/>
          <p:cNvGrpSpPr/>
          <p:nvPr/>
        </p:nvGrpSpPr>
        <p:grpSpPr>
          <a:xfrm rot="10800000">
            <a:off x="13986999" y="-2149600"/>
            <a:ext cx="6316248" cy="3550757"/>
            <a:chOff x="0" y="-47625"/>
            <a:chExt cx="807640" cy="454025"/>
          </a:xfrm>
        </p:grpSpPr>
        <p:sp>
          <p:nvSpPr>
            <p:cNvPr id="433" name="Google Shape;433;p26"/>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6"/>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5" name="Google Shape;435;p26"/>
          <p:cNvGrpSpPr/>
          <p:nvPr/>
        </p:nvGrpSpPr>
        <p:grpSpPr>
          <a:xfrm>
            <a:off x="17259300" y="-746671"/>
            <a:ext cx="15452459" cy="12017010"/>
            <a:chOff x="0" y="-47625"/>
            <a:chExt cx="4069783" cy="3164974"/>
          </a:xfrm>
        </p:grpSpPr>
        <p:sp>
          <p:nvSpPr>
            <p:cNvPr id="436" name="Google Shape;436;p26"/>
            <p:cNvSpPr/>
            <p:nvPr/>
          </p:nvSpPr>
          <p:spPr>
            <a:xfrm>
              <a:off x="0" y="0"/>
              <a:ext cx="4069783" cy="3117349"/>
            </a:xfrm>
            <a:custGeom>
              <a:rect b="b" l="l" r="r" t="t"/>
              <a:pathLst>
                <a:path extrusionOk="0" h="3117349" w="4069783">
                  <a:moveTo>
                    <a:pt x="0" y="0"/>
                  </a:moveTo>
                  <a:lnTo>
                    <a:pt x="4069783" y="0"/>
                  </a:lnTo>
                  <a:lnTo>
                    <a:pt x="4069783" y="3117349"/>
                  </a:lnTo>
                  <a:lnTo>
                    <a:pt x="0" y="3117349"/>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26"/>
            <p:cNvSpPr txBox="1"/>
            <p:nvPr/>
          </p:nvSpPr>
          <p:spPr>
            <a:xfrm>
              <a:off x="0" y="-47625"/>
              <a:ext cx="4069782" cy="316497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8" name="Google Shape;438;p26"/>
          <p:cNvSpPr txBox="1"/>
          <p:nvPr/>
        </p:nvSpPr>
        <p:spPr>
          <a:xfrm>
            <a:off x="6507994" y="3901544"/>
            <a:ext cx="10637129" cy="242316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Clr>
                <a:srgbClr val="000000"/>
              </a:buClr>
              <a:buSzPts val="14100"/>
              <a:buFont typeface="Arial"/>
              <a:buNone/>
            </a:pPr>
            <a:r>
              <a:rPr b="1" i="0" lang="en-US" sz="14100" u="none" cap="none" strike="noStrike">
                <a:solidFill>
                  <a:srgbClr val="4D4C4C"/>
                </a:solidFill>
                <a:latin typeface="Arial"/>
                <a:ea typeface="Arial"/>
                <a:cs typeface="Arial"/>
                <a:sym typeface="Arial"/>
              </a:rPr>
              <a:t>Firewall</a:t>
            </a:r>
            <a:endParaRPr b="0" i="0" sz="1400" u="none" cap="none" strike="noStrike">
              <a:solidFill>
                <a:srgbClr val="000000"/>
              </a:solidFill>
              <a:latin typeface="Arial"/>
              <a:ea typeface="Arial"/>
              <a:cs typeface="Arial"/>
              <a:sym typeface="Arial"/>
            </a:endParaRPr>
          </a:p>
        </p:txBody>
      </p:sp>
      <p:grpSp>
        <p:nvGrpSpPr>
          <p:cNvPr id="439" name="Google Shape;439;p26"/>
          <p:cNvGrpSpPr/>
          <p:nvPr/>
        </p:nvGrpSpPr>
        <p:grpSpPr>
          <a:xfrm rot="10800000">
            <a:off x="-2136122" y="3073364"/>
            <a:ext cx="8227978" cy="4625459"/>
            <a:chOff x="0" y="-47625"/>
            <a:chExt cx="807640" cy="454025"/>
          </a:xfrm>
        </p:grpSpPr>
        <p:sp>
          <p:nvSpPr>
            <p:cNvPr id="440" name="Google Shape;440;p26"/>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6"/>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2" name="Google Shape;442;p26"/>
          <p:cNvGrpSpPr/>
          <p:nvPr/>
        </p:nvGrpSpPr>
        <p:grpSpPr>
          <a:xfrm>
            <a:off x="879387" y="2646483"/>
            <a:ext cx="1098480" cy="1098480"/>
            <a:chOff x="0" y="0"/>
            <a:chExt cx="812800" cy="812800"/>
          </a:xfrm>
        </p:grpSpPr>
        <p:sp>
          <p:nvSpPr>
            <p:cNvPr id="443" name="Google Shape;443;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5" name="Google Shape;445;p26"/>
          <p:cNvSpPr/>
          <p:nvPr/>
        </p:nvSpPr>
        <p:spPr>
          <a:xfrm>
            <a:off x="-1698802" y="5514834"/>
            <a:ext cx="3397604" cy="3397604"/>
          </a:xfrm>
          <a:custGeom>
            <a:rect b="b" l="l" r="r" t="t"/>
            <a:pathLst>
              <a:path extrusionOk="0" h="3397604" w="3397604">
                <a:moveTo>
                  <a:pt x="0" y="0"/>
                </a:moveTo>
                <a:lnTo>
                  <a:pt x="3397604" y="0"/>
                </a:lnTo>
                <a:lnTo>
                  <a:pt x="3397604" y="3397603"/>
                </a:lnTo>
                <a:lnTo>
                  <a:pt x="0" y="33976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E4"/>
        </a:solidFill>
      </p:bgPr>
    </p:bg>
    <p:spTree>
      <p:nvGrpSpPr>
        <p:cNvPr id="449" name="Shape 449"/>
        <p:cNvGrpSpPr/>
        <p:nvPr/>
      </p:nvGrpSpPr>
      <p:grpSpPr>
        <a:xfrm>
          <a:off x="0" y="0"/>
          <a:ext cx="0" cy="0"/>
          <a:chOff x="0" y="0"/>
          <a:chExt cx="0" cy="0"/>
        </a:xfrm>
      </p:grpSpPr>
      <p:grpSp>
        <p:nvGrpSpPr>
          <p:cNvPr id="450" name="Google Shape;450;p27"/>
          <p:cNvGrpSpPr/>
          <p:nvPr/>
        </p:nvGrpSpPr>
        <p:grpSpPr>
          <a:xfrm rot="-5400000">
            <a:off x="6070407" y="2371269"/>
            <a:ext cx="5966360" cy="20036644"/>
            <a:chOff x="0" y="-47625"/>
            <a:chExt cx="1571387" cy="5277141"/>
          </a:xfrm>
        </p:grpSpPr>
        <p:sp>
          <p:nvSpPr>
            <p:cNvPr id="451" name="Google Shape;451;p27"/>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27"/>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3" name="Google Shape;453;p27"/>
          <p:cNvGrpSpPr/>
          <p:nvPr/>
        </p:nvGrpSpPr>
        <p:grpSpPr>
          <a:xfrm>
            <a:off x="14680271" y="8076578"/>
            <a:ext cx="8227978" cy="4625459"/>
            <a:chOff x="0" y="-47625"/>
            <a:chExt cx="807640" cy="454025"/>
          </a:xfrm>
        </p:grpSpPr>
        <p:sp>
          <p:nvSpPr>
            <p:cNvPr id="454" name="Google Shape;454;p27"/>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7"/>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6" name="Google Shape;456;p27"/>
          <p:cNvSpPr/>
          <p:nvPr/>
        </p:nvSpPr>
        <p:spPr>
          <a:xfrm>
            <a:off x="-2368250" y="-2004346"/>
            <a:ext cx="4736499" cy="4736499"/>
          </a:xfrm>
          <a:custGeom>
            <a:rect b="b" l="l" r="r" t="t"/>
            <a:pathLst>
              <a:path extrusionOk="0" h="4736499" w="4736499">
                <a:moveTo>
                  <a:pt x="0" y="0"/>
                </a:moveTo>
                <a:lnTo>
                  <a:pt x="4736500" y="0"/>
                </a:lnTo>
                <a:lnTo>
                  <a:pt x="4736500" y="4736499"/>
                </a:lnTo>
                <a:lnTo>
                  <a:pt x="0" y="473649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27"/>
          <p:cNvSpPr txBox="1"/>
          <p:nvPr/>
        </p:nvSpPr>
        <p:spPr>
          <a:xfrm>
            <a:off x="2548240" y="1648487"/>
            <a:ext cx="12978113" cy="204147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Clr>
                <a:srgbClr val="000000"/>
              </a:buClr>
              <a:buSzPts val="10752"/>
              <a:buFont typeface="Arial"/>
              <a:buNone/>
            </a:pPr>
            <a:r>
              <a:rPr b="0" i="0" lang="en-US" sz="10752" u="none" cap="none" strike="noStrike">
                <a:solidFill>
                  <a:srgbClr val="152540"/>
                </a:solidFill>
                <a:latin typeface="Arial"/>
                <a:ea typeface="Arial"/>
                <a:cs typeface="Arial"/>
                <a:sym typeface="Arial"/>
              </a:rPr>
              <a:t>Firewall</a:t>
            </a:r>
            <a:endParaRPr b="0" i="0" sz="1400" u="none" cap="none" strike="noStrike">
              <a:solidFill>
                <a:srgbClr val="000000"/>
              </a:solidFill>
              <a:latin typeface="Arial"/>
              <a:ea typeface="Arial"/>
              <a:cs typeface="Arial"/>
              <a:sym typeface="Arial"/>
            </a:endParaRPr>
          </a:p>
        </p:txBody>
      </p:sp>
      <p:sp>
        <p:nvSpPr>
          <p:cNvPr id="458" name="Google Shape;458;p27"/>
          <p:cNvSpPr txBox="1"/>
          <p:nvPr/>
        </p:nvSpPr>
        <p:spPr>
          <a:xfrm>
            <a:off x="2743335" y="3775682"/>
            <a:ext cx="13161311" cy="445325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1" i="0" lang="en-US" sz="2799" u="none" cap="none" strike="noStrike">
                <a:solidFill>
                  <a:srgbClr val="4D4C4C"/>
                </a:solidFill>
                <a:latin typeface="Arial"/>
                <a:ea typeface="Arial"/>
                <a:cs typeface="Arial"/>
                <a:sym typeface="Arial"/>
              </a:rPr>
              <a:t>Un firewall (o cortafuegos) es un sistema de seguridad de red que controla el tráfico que entra y sale de una red o de un dispositivo, permitiendo o bloqueando datos según un conjunto de reglas predefinidas.</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t/>
            </a:r>
            <a:endParaRPr b="1" i="0" sz="2799" u="none" cap="none" strike="noStrike">
              <a:solidFill>
                <a:srgbClr val="4D4C4C"/>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rPr b="1" i="0" lang="en-US" sz="2799" u="none" cap="none" strike="noStrike">
                <a:solidFill>
                  <a:srgbClr val="4D4C4C"/>
                </a:solidFill>
                <a:latin typeface="Arial"/>
                <a:ea typeface="Arial"/>
                <a:cs typeface="Arial"/>
                <a:sym typeface="Arial"/>
              </a:rPr>
              <a:t>Es como un portero digital: decide qué datos pueden entrar o salir de una red, y cuáles deben ser bloqueados, protegiendo un sistema de accesos no autorizados o peligrosos.</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t/>
            </a:r>
            <a:endParaRPr b="1" i="0" sz="2799" u="none" cap="none" strike="noStrike">
              <a:solidFill>
                <a:srgbClr val="4D4C4C"/>
              </a:solidFill>
              <a:latin typeface="Arial"/>
              <a:ea typeface="Arial"/>
              <a:cs typeface="Arial"/>
              <a:sym typeface="Arial"/>
            </a:endParaRPr>
          </a:p>
        </p:txBody>
      </p:sp>
      <p:sp>
        <p:nvSpPr>
          <p:cNvPr id="459" name="Google Shape;459;p27"/>
          <p:cNvSpPr/>
          <p:nvPr/>
        </p:nvSpPr>
        <p:spPr>
          <a:xfrm>
            <a:off x="2383354" y="2058062"/>
            <a:ext cx="1191142" cy="1193312"/>
          </a:xfrm>
          <a:custGeom>
            <a:rect b="b" l="l" r="r" t="t"/>
            <a:pathLst>
              <a:path extrusionOk="0" h="1193312" w="1191142">
                <a:moveTo>
                  <a:pt x="0" y="0"/>
                </a:moveTo>
                <a:lnTo>
                  <a:pt x="1191143" y="0"/>
                </a:lnTo>
                <a:lnTo>
                  <a:pt x="1191143" y="1193312"/>
                </a:lnTo>
                <a:lnTo>
                  <a:pt x="0" y="119331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27"/>
          <p:cNvSpPr/>
          <p:nvPr/>
        </p:nvSpPr>
        <p:spPr>
          <a:xfrm rot="10800000">
            <a:off x="14713503" y="2058062"/>
            <a:ext cx="1191142" cy="1193312"/>
          </a:xfrm>
          <a:custGeom>
            <a:rect b="b" l="l" r="r" t="t"/>
            <a:pathLst>
              <a:path extrusionOk="0" h="1193312" w="1191142">
                <a:moveTo>
                  <a:pt x="0" y="0"/>
                </a:moveTo>
                <a:lnTo>
                  <a:pt x="1191143" y="0"/>
                </a:lnTo>
                <a:lnTo>
                  <a:pt x="1191143" y="1193312"/>
                </a:lnTo>
                <a:lnTo>
                  <a:pt x="0" y="119331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61" name="Google Shape;461;p27"/>
          <p:cNvGrpSpPr/>
          <p:nvPr/>
        </p:nvGrpSpPr>
        <p:grpSpPr>
          <a:xfrm>
            <a:off x="16766691" y="7934195"/>
            <a:ext cx="1255142" cy="1255142"/>
            <a:chOff x="0" y="0"/>
            <a:chExt cx="812800" cy="812800"/>
          </a:xfrm>
        </p:grpSpPr>
        <p:sp>
          <p:nvSpPr>
            <p:cNvPr id="462" name="Google Shape;462;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467" name="Shape 467"/>
        <p:cNvGrpSpPr/>
        <p:nvPr/>
      </p:nvGrpSpPr>
      <p:grpSpPr>
        <a:xfrm>
          <a:off x="0" y="0"/>
          <a:ext cx="0" cy="0"/>
          <a:chOff x="0" y="0"/>
          <a:chExt cx="0" cy="0"/>
        </a:xfrm>
      </p:grpSpPr>
      <p:sp>
        <p:nvSpPr>
          <p:cNvPr id="468" name="Google Shape;468;p28"/>
          <p:cNvSpPr txBox="1"/>
          <p:nvPr/>
        </p:nvSpPr>
        <p:spPr>
          <a:xfrm>
            <a:off x="9074526" y="707862"/>
            <a:ext cx="7949794" cy="1275588"/>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8099"/>
              <a:buFont typeface="Arial"/>
              <a:buNone/>
            </a:pPr>
            <a:r>
              <a:rPr b="1" i="0" lang="en-US" sz="8099" u="none" cap="none" strike="noStrike">
                <a:solidFill>
                  <a:srgbClr val="4D4C4C"/>
                </a:solidFill>
                <a:latin typeface="Arial"/>
                <a:ea typeface="Arial"/>
                <a:cs typeface="Arial"/>
                <a:sym typeface="Arial"/>
              </a:rPr>
              <a:t>USOS</a:t>
            </a:r>
            <a:endParaRPr b="0" i="0" sz="1400" u="none" cap="none" strike="noStrike">
              <a:solidFill>
                <a:srgbClr val="000000"/>
              </a:solidFill>
              <a:latin typeface="Arial"/>
              <a:ea typeface="Arial"/>
              <a:cs typeface="Arial"/>
              <a:sym typeface="Arial"/>
            </a:endParaRPr>
          </a:p>
        </p:txBody>
      </p:sp>
      <p:grpSp>
        <p:nvGrpSpPr>
          <p:cNvPr id="469" name="Google Shape;469;p28"/>
          <p:cNvGrpSpPr/>
          <p:nvPr/>
        </p:nvGrpSpPr>
        <p:grpSpPr>
          <a:xfrm>
            <a:off x="9211303" y="2684200"/>
            <a:ext cx="791364" cy="791364"/>
            <a:chOff x="0" y="0"/>
            <a:chExt cx="812800" cy="812800"/>
          </a:xfrm>
        </p:grpSpPr>
        <p:sp>
          <p:nvSpPr>
            <p:cNvPr id="470" name="Google Shape;470;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2" name="Google Shape;472;p28"/>
          <p:cNvGrpSpPr/>
          <p:nvPr/>
        </p:nvGrpSpPr>
        <p:grpSpPr>
          <a:xfrm>
            <a:off x="9272400" y="4489608"/>
            <a:ext cx="791364" cy="791364"/>
            <a:chOff x="0" y="0"/>
            <a:chExt cx="812800" cy="812800"/>
          </a:xfrm>
        </p:grpSpPr>
        <p:sp>
          <p:nvSpPr>
            <p:cNvPr id="473" name="Google Shape;473;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5" name="Google Shape;475;p28"/>
          <p:cNvGrpSpPr/>
          <p:nvPr/>
        </p:nvGrpSpPr>
        <p:grpSpPr>
          <a:xfrm rot="-5400000">
            <a:off x="-2269244" y="187502"/>
            <a:ext cx="11836639" cy="9754024"/>
            <a:chOff x="0" y="-47625"/>
            <a:chExt cx="3117469" cy="2568961"/>
          </a:xfrm>
        </p:grpSpPr>
        <p:sp>
          <p:nvSpPr>
            <p:cNvPr id="476" name="Google Shape;476;p28"/>
            <p:cNvSpPr/>
            <p:nvPr/>
          </p:nvSpPr>
          <p:spPr>
            <a:xfrm>
              <a:off x="0" y="0"/>
              <a:ext cx="3117469" cy="2521336"/>
            </a:xfrm>
            <a:custGeom>
              <a:rect b="b" l="l" r="r" t="t"/>
              <a:pathLst>
                <a:path extrusionOk="0" h="2521336" w="3117469">
                  <a:moveTo>
                    <a:pt x="0" y="0"/>
                  </a:moveTo>
                  <a:lnTo>
                    <a:pt x="3117469" y="0"/>
                  </a:lnTo>
                  <a:lnTo>
                    <a:pt x="3117469" y="2521336"/>
                  </a:lnTo>
                  <a:lnTo>
                    <a:pt x="0" y="2521336"/>
                  </a:lnTo>
                  <a:close/>
                </a:path>
              </a:pathLst>
            </a:custGeom>
            <a:solidFill>
              <a:srgbClr val="12507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28"/>
            <p:cNvSpPr txBox="1"/>
            <p:nvPr/>
          </p:nvSpPr>
          <p:spPr>
            <a:xfrm>
              <a:off x="0" y="-47625"/>
              <a:ext cx="3117469" cy="256896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8" name="Google Shape;478;p28"/>
          <p:cNvSpPr/>
          <p:nvPr/>
        </p:nvSpPr>
        <p:spPr>
          <a:xfrm>
            <a:off x="1028700" y="1167106"/>
            <a:ext cx="6656162" cy="8227732"/>
          </a:xfrm>
          <a:custGeom>
            <a:rect b="b" l="l" r="r" t="t"/>
            <a:pathLst>
              <a:path extrusionOk="0" h="1274691" w="1031214">
                <a:moveTo>
                  <a:pt x="0" y="0"/>
                </a:moveTo>
                <a:lnTo>
                  <a:pt x="1031214" y="0"/>
                </a:lnTo>
                <a:lnTo>
                  <a:pt x="1031214" y="1274691"/>
                </a:lnTo>
                <a:lnTo>
                  <a:pt x="0" y="1274691"/>
                </a:lnTo>
                <a:close/>
              </a:path>
            </a:pathLst>
          </a:custGeom>
          <a:blipFill rotWithShape="1">
            <a:blip r:embed="rId3">
              <a:alphaModFix/>
            </a:blip>
            <a:stretch>
              <a:fillRect b="0" l="-39892" r="-39892" t="0"/>
            </a:stretch>
          </a:blipFill>
          <a:ln cap="sq" cmpd="sng" w="85725">
            <a:solidFill>
              <a:srgbClr val="FFFDF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79" name="Google Shape;479;p28"/>
          <p:cNvGrpSpPr/>
          <p:nvPr/>
        </p:nvGrpSpPr>
        <p:grpSpPr>
          <a:xfrm>
            <a:off x="11828114" y="-3596759"/>
            <a:ext cx="9568435" cy="4625459"/>
            <a:chOff x="0" y="-47625"/>
            <a:chExt cx="939217" cy="454025"/>
          </a:xfrm>
        </p:grpSpPr>
        <p:sp>
          <p:nvSpPr>
            <p:cNvPr id="480" name="Google Shape;480;p28"/>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8"/>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2" name="Google Shape;482;p28"/>
          <p:cNvSpPr/>
          <p:nvPr/>
        </p:nvSpPr>
        <p:spPr>
          <a:xfrm>
            <a:off x="16283032" y="-1586869"/>
            <a:ext cx="4009935" cy="4009935"/>
          </a:xfrm>
          <a:custGeom>
            <a:rect b="b" l="l" r="r" t="t"/>
            <a:pathLst>
              <a:path extrusionOk="0" h="4009935" w="4009935">
                <a:moveTo>
                  <a:pt x="0" y="0"/>
                </a:moveTo>
                <a:lnTo>
                  <a:pt x="4009936" y="0"/>
                </a:lnTo>
                <a:lnTo>
                  <a:pt x="4009936" y="4009935"/>
                </a:lnTo>
                <a:lnTo>
                  <a:pt x="0" y="400993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83" name="Google Shape;483;p28"/>
          <p:cNvGrpSpPr/>
          <p:nvPr/>
        </p:nvGrpSpPr>
        <p:grpSpPr>
          <a:xfrm>
            <a:off x="13575832" y="625185"/>
            <a:ext cx="959812" cy="959812"/>
            <a:chOff x="0" y="0"/>
            <a:chExt cx="812800" cy="812800"/>
          </a:xfrm>
        </p:grpSpPr>
        <p:sp>
          <p:nvSpPr>
            <p:cNvPr id="484" name="Google Shape;484;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6" name="Google Shape;486;p28"/>
          <p:cNvGrpSpPr/>
          <p:nvPr/>
        </p:nvGrpSpPr>
        <p:grpSpPr>
          <a:xfrm>
            <a:off x="9257640" y="6023486"/>
            <a:ext cx="791364" cy="791364"/>
            <a:chOff x="0" y="0"/>
            <a:chExt cx="812800" cy="812800"/>
          </a:xfrm>
        </p:grpSpPr>
        <p:sp>
          <p:nvSpPr>
            <p:cNvPr id="487" name="Google Shape;487;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9" name="Google Shape;489;p28"/>
          <p:cNvGrpSpPr/>
          <p:nvPr/>
        </p:nvGrpSpPr>
        <p:grpSpPr>
          <a:xfrm>
            <a:off x="9302860" y="7910225"/>
            <a:ext cx="791364" cy="791364"/>
            <a:chOff x="0" y="0"/>
            <a:chExt cx="812800" cy="812800"/>
          </a:xfrm>
        </p:grpSpPr>
        <p:sp>
          <p:nvSpPr>
            <p:cNvPr id="490" name="Google Shape;490;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2" name="Google Shape;492;p28"/>
          <p:cNvSpPr txBox="1"/>
          <p:nvPr/>
        </p:nvSpPr>
        <p:spPr>
          <a:xfrm>
            <a:off x="10195628" y="2457733"/>
            <a:ext cx="7307011" cy="1498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Clr>
                <a:srgbClr val="000000"/>
              </a:buClr>
              <a:buSzPts val="3899"/>
              <a:buFont typeface="Arial"/>
              <a:buNone/>
            </a:pPr>
            <a:r>
              <a:rPr b="0" i="0" lang="en-US" sz="3899" u="none" cap="none" strike="noStrike">
                <a:solidFill>
                  <a:srgbClr val="253754"/>
                </a:solidFill>
                <a:latin typeface="Arial"/>
                <a:ea typeface="Arial"/>
                <a:cs typeface="Arial"/>
                <a:sym typeface="Arial"/>
              </a:rPr>
              <a:t>Bloquear accesos no deseados desde internet</a:t>
            </a:r>
            <a:endParaRPr b="0" i="0" sz="1400" u="none" cap="none" strike="noStrike">
              <a:solidFill>
                <a:srgbClr val="000000"/>
              </a:solidFill>
              <a:latin typeface="Arial"/>
              <a:ea typeface="Arial"/>
              <a:cs typeface="Arial"/>
              <a:sym typeface="Arial"/>
            </a:endParaRPr>
          </a:p>
        </p:txBody>
      </p:sp>
      <p:sp>
        <p:nvSpPr>
          <p:cNvPr id="493" name="Google Shape;493;p28"/>
          <p:cNvSpPr txBox="1"/>
          <p:nvPr/>
        </p:nvSpPr>
        <p:spPr>
          <a:xfrm>
            <a:off x="9118807" y="2764844"/>
            <a:ext cx="944958" cy="629389"/>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3720"/>
              <a:buFont typeface="Arial"/>
              <a:buNone/>
            </a:pPr>
            <a:r>
              <a:rPr b="1" i="0" lang="en-US" sz="372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494" name="Google Shape;494;p28"/>
          <p:cNvSpPr txBox="1"/>
          <p:nvPr/>
        </p:nvSpPr>
        <p:spPr>
          <a:xfrm>
            <a:off x="10279333" y="4544498"/>
            <a:ext cx="7630570" cy="736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Clr>
                <a:srgbClr val="000000"/>
              </a:buClr>
              <a:buSzPts val="3899"/>
              <a:buFont typeface="Arial"/>
              <a:buNone/>
            </a:pPr>
            <a:r>
              <a:rPr b="0" i="0" lang="en-US" sz="3899" u="none" cap="none" strike="noStrike">
                <a:solidFill>
                  <a:srgbClr val="253754"/>
                </a:solidFill>
                <a:latin typeface="Arial"/>
                <a:ea typeface="Arial"/>
                <a:cs typeface="Arial"/>
                <a:sym typeface="Arial"/>
              </a:rPr>
              <a:t>Permitir solo trafico confiable</a:t>
            </a:r>
            <a:endParaRPr b="0" i="0" sz="1400" u="none" cap="none" strike="noStrike">
              <a:solidFill>
                <a:srgbClr val="000000"/>
              </a:solidFill>
              <a:latin typeface="Arial"/>
              <a:ea typeface="Arial"/>
              <a:cs typeface="Arial"/>
              <a:sym typeface="Arial"/>
            </a:endParaRPr>
          </a:p>
        </p:txBody>
      </p:sp>
      <p:sp>
        <p:nvSpPr>
          <p:cNvPr id="495" name="Google Shape;495;p28"/>
          <p:cNvSpPr txBox="1"/>
          <p:nvPr/>
        </p:nvSpPr>
        <p:spPr>
          <a:xfrm>
            <a:off x="9180843" y="4576046"/>
            <a:ext cx="944958" cy="629389"/>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3720"/>
              <a:buFont typeface="Arial"/>
              <a:buNone/>
            </a:pPr>
            <a:r>
              <a:rPr b="1" i="0" lang="en-US" sz="372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496" name="Google Shape;496;p28"/>
          <p:cNvSpPr txBox="1"/>
          <p:nvPr/>
        </p:nvSpPr>
        <p:spPr>
          <a:xfrm>
            <a:off x="10264573" y="6078376"/>
            <a:ext cx="7630570" cy="1498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Clr>
                <a:srgbClr val="000000"/>
              </a:buClr>
              <a:buSzPts val="3899"/>
              <a:buFont typeface="Arial"/>
              <a:buNone/>
            </a:pPr>
            <a:r>
              <a:rPr b="0" i="0" lang="en-US" sz="3899" u="none" cap="none" strike="noStrike">
                <a:solidFill>
                  <a:srgbClr val="253754"/>
                </a:solidFill>
                <a:latin typeface="Arial"/>
                <a:ea typeface="Arial"/>
                <a:cs typeface="Arial"/>
                <a:sym typeface="Arial"/>
              </a:rPr>
              <a:t>Proteger la red de virus, ataques y hackers</a:t>
            </a:r>
            <a:endParaRPr b="0" i="0" sz="1400" u="none" cap="none" strike="noStrike">
              <a:solidFill>
                <a:srgbClr val="000000"/>
              </a:solidFill>
              <a:latin typeface="Arial"/>
              <a:ea typeface="Arial"/>
              <a:cs typeface="Arial"/>
              <a:sym typeface="Arial"/>
            </a:endParaRPr>
          </a:p>
        </p:txBody>
      </p:sp>
      <p:sp>
        <p:nvSpPr>
          <p:cNvPr id="497" name="Google Shape;497;p28"/>
          <p:cNvSpPr txBox="1"/>
          <p:nvPr/>
        </p:nvSpPr>
        <p:spPr>
          <a:xfrm>
            <a:off x="9166083" y="6109924"/>
            <a:ext cx="944958" cy="638914"/>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3720"/>
              <a:buFont typeface="Arial"/>
              <a:buNone/>
            </a:pPr>
            <a:r>
              <a:rPr b="1" i="0" lang="en-US" sz="372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498" name="Google Shape;498;p28"/>
          <p:cNvSpPr txBox="1"/>
          <p:nvPr/>
        </p:nvSpPr>
        <p:spPr>
          <a:xfrm>
            <a:off x="10309792" y="7965115"/>
            <a:ext cx="7630570" cy="1498474"/>
          </a:xfrm>
          <a:prstGeom prst="rect">
            <a:avLst/>
          </a:prstGeom>
          <a:noFill/>
          <a:ln>
            <a:noFill/>
          </a:ln>
        </p:spPr>
        <p:txBody>
          <a:bodyPr anchorCtr="0" anchor="t" bIns="0" lIns="0" spcFirstLastPara="1" rIns="0" wrap="square" tIns="0">
            <a:spAutoFit/>
          </a:bodyPr>
          <a:lstStyle/>
          <a:p>
            <a:pPr indent="0" lvl="0" marL="0" marR="0" rtl="0" algn="l">
              <a:lnSpc>
                <a:spcPct val="154013"/>
              </a:lnSpc>
              <a:spcBef>
                <a:spcPts val="0"/>
              </a:spcBef>
              <a:spcAft>
                <a:spcPts val="0"/>
              </a:spcAft>
              <a:buClr>
                <a:srgbClr val="000000"/>
              </a:buClr>
              <a:buSzPts val="3899"/>
              <a:buFont typeface="Arial"/>
              <a:buNone/>
            </a:pPr>
            <a:r>
              <a:rPr b="0" i="0" lang="en-US" sz="3899" u="none" cap="none" strike="noStrike">
                <a:solidFill>
                  <a:srgbClr val="253754"/>
                </a:solidFill>
                <a:latin typeface="Arial"/>
                <a:ea typeface="Arial"/>
                <a:cs typeface="Arial"/>
                <a:sym typeface="Arial"/>
              </a:rPr>
              <a:t>Controlar el uso de internet (bloqueo de sitios o servicios, etc)</a:t>
            </a:r>
            <a:endParaRPr b="0" i="0" sz="1400" u="none" cap="none" strike="noStrike">
              <a:solidFill>
                <a:srgbClr val="000000"/>
              </a:solidFill>
              <a:latin typeface="Arial"/>
              <a:ea typeface="Arial"/>
              <a:cs typeface="Arial"/>
              <a:sym typeface="Arial"/>
            </a:endParaRPr>
          </a:p>
        </p:txBody>
      </p:sp>
      <p:sp>
        <p:nvSpPr>
          <p:cNvPr id="499" name="Google Shape;499;p28"/>
          <p:cNvSpPr txBox="1"/>
          <p:nvPr/>
        </p:nvSpPr>
        <p:spPr>
          <a:xfrm>
            <a:off x="9211303" y="7996663"/>
            <a:ext cx="944958" cy="629389"/>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3720"/>
              <a:buFont typeface="Arial"/>
              <a:buNone/>
            </a:pPr>
            <a:r>
              <a:rPr b="1" i="0" lang="en-US" sz="3720" u="none" cap="none" strike="noStrike">
                <a:solidFill>
                  <a:srgbClr val="FFFFFF"/>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03" name="Shape 503"/>
        <p:cNvGrpSpPr/>
        <p:nvPr/>
      </p:nvGrpSpPr>
      <p:grpSpPr>
        <a:xfrm>
          <a:off x="0" y="0"/>
          <a:ext cx="0" cy="0"/>
          <a:chOff x="0" y="0"/>
          <a:chExt cx="0" cy="0"/>
        </a:xfrm>
      </p:grpSpPr>
      <p:cxnSp>
        <p:nvCxnSpPr>
          <p:cNvPr id="504" name="Google Shape;504;p29"/>
          <p:cNvCxnSpPr/>
          <p:nvPr/>
        </p:nvCxnSpPr>
        <p:spPr>
          <a:xfrm>
            <a:off x="1249361" y="3097456"/>
            <a:ext cx="16320602" cy="0"/>
          </a:xfrm>
          <a:prstGeom prst="straightConnector1">
            <a:avLst/>
          </a:prstGeom>
          <a:noFill/>
          <a:ln cap="flat" cmpd="sng" w="38100">
            <a:solidFill>
              <a:srgbClr val="152540"/>
            </a:solidFill>
            <a:prstDash val="solid"/>
            <a:round/>
            <a:headEnd len="sm" w="sm" type="none"/>
            <a:tailEnd len="med" w="med" type="triangle"/>
          </a:ln>
        </p:spPr>
      </p:cxnSp>
      <p:grpSp>
        <p:nvGrpSpPr>
          <p:cNvPr id="505" name="Google Shape;505;p29"/>
          <p:cNvGrpSpPr/>
          <p:nvPr/>
        </p:nvGrpSpPr>
        <p:grpSpPr>
          <a:xfrm>
            <a:off x="3916249" y="2934730"/>
            <a:ext cx="325451" cy="325451"/>
            <a:chOff x="0" y="0"/>
            <a:chExt cx="812800" cy="812800"/>
          </a:xfrm>
        </p:grpSpPr>
        <p:sp>
          <p:nvSpPr>
            <p:cNvPr id="506" name="Google Shape;506;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9"/>
            <p:cNvSpPr txBox="1"/>
            <p:nvPr/>
          </p:nvSpPr>
          <p:spPr>
            <a:xfrm>
              <a:off x="76200" y="76200"/>
              <a:ext cx="660400" cy="660400"/>
            </a:xfrm>
            <a:prstGeom prst="rect">
              <a:avLst/>
            </a:prstGeom>
            <a:noFill/>
            <a:ln>
              <a:noFill/>
            </a:ln>
          </p:spPr>
          <p:txBody>
            <a:bodyPr anchorCtr="0" anchor="ctr" bIns="50800" lIns="50800" spcFirstLastPara="1" rIns="50800" wrap="square" tIns="50800">
              <a:noAutofit/>
            </a:bodyPr>
            <a:lstStyle/>
            <a:p>
              <a:pPr indent="0" lvl="0" marL="0" marR="0" rtl="0" algn="ctr">
                <a:lnSpc>
                  <a:spcPct val="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8" name="Google Shape;508;p29"/>
          <p:cNvGrpSpPr/>
          <p:nvPr/>
        </p:nvGrpSpPr>
        <p:grpSpPr>
          <a:xfrm>
            <a:off x="9094813" y="2934730"/>
            <a:ext cx="325451" cy="325451"/>
            <a:chOff x="0" y="0"/>
            <a:chExt cx="812800" cy="812800"/>
          </a:xfrm>
        </p:grpSpPr>
        <p:sp>
          <p:nvSpPr>
            <p:cNvPr id="509" name="Google Shape;509;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9"/>
            <p:cNvSpPr txBox="1"/>
            <p:nvPr/>
          </p:nvSpPr>
          <p:spPr>
            <a:xfrm>
              <a:off x="76200" y="76200"/>
              <a:ext cx="660400" cy="660400"/>
            </a:xfrm>
            <a:prstGeom prst="rect">
              <a:avLst/>
            </a:prstGeom>
            <a:noFill/>
            <a:ln>
              <a:noFill/>
            </a:ln>
          </p:spPr>
          <p:txBody>
            <a:bodyPr anchorCtr="0" anchor="ctr" bIns="50800" lIns="50800" spcFirstLastPara="1" rIns="50800" wrap="square" tIns="50800">
              <a:noAutofit/>
            </a:bodyPr>
            <a:lstStyle/>
            <a:p>
              <a:pPr indent="0" lvl="0" marL="0" marR="0" rtl="0" algn="ctr">
                <a:lnSpc>
                  <a:spcPct val="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1" name="Google Shape;511;p29"/>
          <p:cNvGrpSpPr/>
          <p:nvPr/>
        </p:nvGrpSpPr>
        <p:grpSpPr>
          <a:xfrm>
            <a:off x="-3271034" y="-3520368"/>
            <a:ext cx="9568435" cy="4625459"/>
            <a:chOff x="0" y="-47625"/>
            <a:chExt cx="939217" cy="454025"/>
          </a:xfrm>
        </p:grpSpPr>
        <p:sp>
          <p:nvSpPr>
            <p:cNvPr id="512" name="Google Shape;512;p29"/>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9"/>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4" name="Google Shape;514;p29"/>
          <p:cNvSpPr/>
          <p:nvPr/>
        </p:nvSpPr>
        <p:spPr>
          <a:xfrm>
            <a:off x="16058915" y="-2034868"/>
            <a:ext cx="4009935" cy="4009935"/>
          </a:xfrm>
          <a:custGeom>
            <a:rect b="b" l="l" r="r" t="t"/>
            <a:pathLst>
              <a:path extrusionOk="0" h="4009935" w="4009935">
                <a:moveTo>
                  <a:pt x="0" y="0"/>
                </a:moveTo>
                <a:lnTo>
                  <a:pt x="4009935" y="0"/>
                </a:lnTo>
                <a:lnTo>
                  <a:pt x="4009935" y="4009935"/>
                </a:lnTo>
                <a:lnTo>
                  <a:pt x="0" y="400993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515" name="Google Shape;515;p29"/>
          <p:cNvGrpSpPr/>
          <p:nvPr/>
        </p:nvGrpSpPr>
        <p:grpSpPr>
          <a:xfrm>
            <a:off x="1249361" y="539989"/>
            <a:ext cx="959812" cy="959812"/>
            <a:chOff x="0" y="0"/>
            <a:chExt cx="812800" cy="812800"/>
          </a:xfrm>
        </p:grpSpPr>
        <p:sp>
          <p:nvSpPr>
            <p:cNvPr id="516" name="Google Shape;516;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8" name="Google Shape;518;p29"/>
          <p:cNvGrpSpPr/>
          <p:nvPr/>
        </p:nvGrpSpPr>
        <p:grpSpPr>
          <a:xfrm>
            <a:off x="14566068" y="2934730"/>
            <a:ext cx="325451" cy="325451"/>
            <a:chOff x="0" y="0"/>
            <a:chExt cx="812800" cy="812800"/>
          </a:xfrm>
        </p:grpSpPr>
        <p:sp>
          <p:nvSpPr>
            <p:cNvPr id="519" name="Google Shape;519;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29"/>
            <p:cNvSpPr txBox="1"/>
            <p:nvPr/>
          </p:nvSpPr>
          <p:spPr>
            <a:xfrm>
              <a:off x="76200" y="76200"/>
              <a:ext cx="660400" cy="660400"/>
            </a:xfrm>
            <a:prstGeom prst="rect">
              <a:avLst/>
            </a:prstGeom>
            <a:noFill/>
            <a:ln>
              <a:noFill/>
            </a:ln>
          </p:spPr>
          <p:txBody>
            <a:bodyPr anchorCtr="0" anchor="ctr" bIns="50800" lIns="50800" spcFirstLastPara="1" rIns="50800" wrap="square" tIns="50800">
              <a:noAutofit/>
            </a:bodyPr>
            <a:lstStyle/>
            <a:p>
              <a:pPr indent="0" lvl="0" marL="0" marR="0" rtl="0" algn="ctr">
                <a:lnSpc>
                  <a:spcPct val="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1" name="Google Shape;521;p29"/>
          <p:cNvSpPr/>
          <p:nvPr/>
        </p:nvSpPr>
        <p:spPr>
          <a:xfrm>
            <a:off x="2874200" y="7869475"/>
            <a:ext cx="2084101" cy="2180715"/>
          </a:xfrm>
          <a:custGeom>
            <a:rect b="b" l="l" r="r" t="t"/>
            <a:pathLst>
              <a:path extrusionOk="0" h="2760399" w="2760399">
                <a:moveTo>
                  <a:pt x="0" y="0"/>
                </a:moveTo>
                <a:lnTo>
                  <a:pt x="2760399" y="0"/>
                </a:lnTo>
                <a:lnTo>
                  <a:pt x="2760399" y="2760399"/>
                </a:lnTo>
                <a:lnTo>
                  <a:pt x="0" y="276039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29"/>
          <p:cNvSpPr/>
          <p:nvPr/>
        </p:nvSpPr>
        <p:spPr>
          <a:xfrm>
            <a:off x="7599063" y="8737473"/>
            <a:ext cx="1242026" cy="1242026"/>
          </a:xfrm>
          <a:custGeom>
            <a:rect b="b" l="l" r="r" t="t"/>
            <a:pathLst>
              <a:path extrusionOk="0" h="1242026" w="1242026">
                <a:moveTo>
                  <a:pt x="0" y="0"/>
                </a:moveTo>
                <a:lnTo>
                  <a:pt x="1242025" y="0"/>
                </a:lnTo>
                <a:lnTo>
                  <a:pt x="1242025" y="1242026"/>
                </a:lnTo>
                <a:lnTo>
                  <a:pt x="0" y="124202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29"/>
          <p:cNvSpPr/>
          <p:nvPr/>
        </p:nvSpPr>
        <p:spPr>
          <a:xfrm>
            <a:off x="9213200" y="8669048"/>
            <a:ext cx="2383171" cy="1406071"/>
          </a:xfrm>
          <a:custGeom>
            <a:rect b="b" l="l" r="r" t="t"/>
            <a:pathLst>
              <a:path extrusionOk="0" h="1406071" w="2383171">
                <a:moveTo>
                  <a:pt x="0" y="0"/>
                </a:moveTo>
                <a:lnTo>
                  <a:pt x="2383171" y="0"/>
                </a:lnTo>
                <a:lnTo>
                  <a:pt x="2383171" y="1406071"/>
                </a:lnTo>
                <a:lnTo>
                  <a:pt x="0" y="140607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29"/>
          <p:cNvSpPr/>
          <p:nvPr/>
        </p:nvSpPr>
        <p:spPr>
          <a:xfrm>
            <a:off x="13208012" y="8282523"/>
            <a:ext cx="3367014" cy="1767682"/>
          </a:xfrm>
          <a:custGeom>
            <a:rect b="b" l="l" r="r" t="t"/>
            <a:pathLst>
              <a:path extrusionOk="0" h="1767682" w="3367014">
                <a:moveTo>
                  <a:pt x="0" y="0"/>
                </a:moveTo>
                <a:lnTo>
                  <a:pt x="3367014" y="0"/>
                </a:lnTo>
                <a:lnTo>
                  <a:pt x="3367014" y="1767682"/>
                </a:lnTo>
                <a:lnTo>
                  <a:pt x="0" y="176768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29"/>
          <p:cNvSpPr txBox="1"/>
          <p:nvPr/>
        </p:nvSpPr>
        <p:spPr>
          <a:xfrm>
            <a:off x="2616016" y="1318825"/>
            <a:ext cx="13177983" cy="1514475"/>
          </a:xfrm>
          <a:prstGeom prst="rect">
            <a:avLst/>
          </a:prstGeom>
          <a:noFill/>
          <a:ln>
            <a:noFill/>
          </a:ln>
        </p:spPr>
        <p:txBody>
          <a:bodyPr anchorCtr="0" anchor="t" bIns="0" lIns="0" spcFirstLastPara="1" rIns="0" wrap="square" tIns="0">
            <a:spAutoFit/>
          </a:bodyPr>
          <a:lstStyle/>
          <a:p>
            <a:pPr indent="0" lvl="0" marL="0" marR="0" rtl="0" algn="ctr">
              <a:lnSpc>
                <a:spcPct val="120011"/>
              </a:lnSpc>
              <a:spcBef>
                <a:spcPts val="0"/>
              </a:spcBef>
              <a:spcAft>
                <a:spcPts val="0"/>
              </a:spcAft>
              <a:buClr>
                <a:srgbClr val="000000"/>
              </a:buClr>
              <a:buSzPts val="8755"/>
              <a:buFont typeface="Arial"/>
              <a:buNone/>
            </a:pPr>
            <a:r>
              <a:rPr b="0" i="0" lang="en-US" sz="8755" u="none" cap="none" strike="noStrike">
                <a:solidFill>
                  <a:srgbClr val="152540"/>
                </a:solidFill>
                <a:latin typeface="Arial"/>
                <a:ea typeface="Arial"/>
                <a:cs typeface="Arial"/>
                <a:sym typeface="Arial"/>
              </a:rPr>
              <a:t>Tipos de Firewall</a:t>
            </a:r>
            <a:endParaRPr b="0" i="0" sz="1400" u="none" cap="none" strike="noStrike">
              <a:solidFill>
                <a:srgbClr val="000000"/>
              </a:solidFill>
              <a:latin typeface="Arial"/>
              <a:ea typeface="Arial"/>
              <a:cs typeface="Arial"/>
              <a:sym typeface="Arial"/>
            </a:endParaRPr>
          </a:p>
        </p:txBody>
      </p:sp>
      <p:sp>
        <p:nvSpPr>
          <p:cNvPr id="526" name="Google Shape;526;p29"/>
          <p:cNvSpPr txBox="1"/>
          <p:nvPr/>
        </p:nvSpPr>
        <p:spPr>
          <a:xfrm>
            <a:off x="1528255" y="3882482"/>
            <a:ext cx="4776000" cy="3987000"/>
          </a:xfrm>
          <a:prstGeom prst="rect">
            <a:avLst/>
          </a:prstGeom>
          <a:noFill/>
          <a:ln>
            <a:noFill/>
          </a:ln>
        </p:spPr>
        <p:txBody>
          <a:bodyPr anchorCtr="0" anchor="t" bIns="0" lIns="0" spcFirstLastPara="1" rIns="0" wrap="square" tIns="0">
            <a:spAutoFit/>
          </a:bodyPr>
          <a:lstStyle/>
          <a:p>
            <a:pPr indent="0" lvl="0" marL="0" marR="0" rtl="0" algn="ctr">
              <a:lnSpc>
                <a:spcPct val="122018"/>
              </a:lnSpc>
              <a:spcBef>
                <a:spcPts val="0"/>
              </a:spcBef>
              <a:spcAft>
                <a:spcPts val="0"/>
              </a:spcAft>
              <a:buClr>
                <a:srgbClr val="000000"/>
              </a:buClr>
              <a:buSzPts val="1962"/>
              <a:buFont typeface="Arial"/>
              <a:buNone/>
            </a:pPr>
            <a:r>
              <a:rPr b="0" i="0" lang="en-US" sz="1962" u="none" cap="none" strike="noStrike">
                <a:solidFill>
                  <a:srgbClr val="4D4C4C"/>
                </a:solidFill>
                <a:latin typeface="Arial"/>
                <a:ea typeface="Arial"/>
                <a:cs typeface="Arial"/>
                <a:sym typeface="Arial"/>
              </a:rPr>
              <a:t>Dispositivo físico que protege redes completas.</a:t>
            </a:r>
            <a:endParaRPr b="0" i="0" sz="1400" u="none" cap="none" strike="noStrike">
              <a:solidFill>
                <a:srgbClr val="000000"/>
              </a:solidFill>
              <a:latin typeface="Arial"/>
              <a:ea typeface="Arial"/>
              <a:cs typeface="Arial"/>
              <a:sym typeface="Arial"/>
            </a:endParaRPr>
          </a:p>
          <a:p>
            <a:pPr indent="0" lvl="0" marL="0" marR="0" rtl="0" algn="ctr">
              <a:lnSpc>
                <a:spcPct val="122018"/>
              </a:lnSpc>
              <a:spcBef>
                <a:spcPts val="0"/>
              </a:spcBef>
              <a:spcAft>
                <a:spcPts val="0"/>
              </a:spcAft>
              <a:buClr>
                <a:srgbClr val="000000"/>
              </a:buClr>
              <a:buSzPts val="1962"/>
              <a:buFont typeface="Arial"/>
              <a:buNone/>
            </a:pPr>
            <a:r>
              <a:t/>
            </a:r>
            <a:endParaRPr b="0" i="0" sz="1962" u="none" cap="none" strike="noStrike">
              <a:solidFill>
                <a:srgbClr val="4D4C4C"/>
              </a:solidFill>
              <a:latin typeface="Arial"/>
              <a:ea typeface="Arial"/>
              <a:cs typeface="Arial"/>
              <a:sym typeface="Arial"/>
            </a:endParaRPr>
          </a:p>
          <a:p>
            <a:pPr indent="0" lvl="0" marL="0" marR="0" rtl="0" algn="ctr">
              <a:lnSpc>
                <a:spcPct val="122018"/>
              </a:lnSpc>
              <a:spcBef>
                <a:spcPts val="0"/>
              </a:spcBef>
              <a:spcAft>
                <a:spcPts val="0"/>
              </a:spcAft>
              <a:buClr>
                <a:srgbClr val="000000"/>
              </a:buClr>
              <a:buSzPts val="1962"/>
              <a:buFont typeface="Arial"/>
              <a:buNone/>
            </a:pPr>
            <a:r>
              <a:rPr b="0" i="0" lang="en-US" sz="1962" u="none" cap="none" strike="noStrike">
                <a:solidFill>
                  <a:srgbClr val="4D4C4C"/>
                </a:solidFill>
                <a:latin typeface="Arial"/>
                <a:ea typeface="Arial"/>
                <a:cs typeface="Arial"/>
                <a:sym typeface="Arial"/>
              </a:rPr>
              <a:t>Se intala fisicamente entre la red interna y la externa</a:t>
            </a:r>
            <a:endParaRPr b="0" i="0" sz="1400" u="none" cap="none" strike="noStrike">
              <a:solidFill>
                <a:srgbClr val="000000"/>
              </a:solidFill>
              <a:latin typeface="Arial"/>
              <a:ea typeface="Arial"/>
              <a:cs typeface="Arial"/>
              <a:sym typeface="Arial"/>
            </a:endParaRPr>
          </a:p>
          <a:p>
            <a:pPr indent="0" lvl="0" marL="0" marR="0" rtl="0" algn="ctr">
              <a:lnSpc>
                <a:spcPct val="122018"/>
              </a:lnSpc>
              <a:spcBef>
                <a:spcPts val="0"/>
              </a:spcBef>
              <a:spcAft>
                <a:spcPts val="0"/>
              </a:spcAft>
              <a:buClr>
                <a:srgbClr val="000000"/>
              </a:buClr>
              <a:buSzPts val="1962"/>
              <a:buFont typeface="Arial"/>
              <a:buNone/>
            </a:pPr>
            <a:r>
              <a:rPr b="0" i="0" lang="en-US" sz="1962" u="none" cap="none" strike="noStrike">
                <a:solidFill>
                  <a:srgbClr val="4D4C4C"/>
                </a:solidFill>
                <a:latin typeface="Arial"/>
                <a:ea typeface="Arial"/>
                <a:cs typeface="Arial"/>
                <a:sym typeface="Arial"/>
              </a:rPr>
              <a:t> (como los ASA de Cisco o los FortiGate).</a:t>
            </a:r>
            <a:endParaRPr b="0" i="0" sz="1400" u="none" cap="none" strike="noStrike">
              <a:solidFill>
                <a:srgbClr val="000000"/>
              </a:solidFill>
              <a:latin typeface="Arial"/>
              <a:ea typeface="Arial"/>
              <a:cs typeface="Arial"/>
              <a:sym typeface="Arial"/>
            </a:endParaRPr>
          </a:p>
          <a:p>
            <a:pPr indent="0" lvl="0" marL="0" marR="0" rtl="0" algn="ctr">
              <a:lnSpc>
                <a:spcPct val="122018"/>
              </a:lnSpc>
              <a:spcBef>
                <a:spcPts val="0"/>
              </a:spcBef>
              <a:spcAft>
                <a:spcPts val="0"/>
              </a:spcAft>
              <a:buClr>
                <a:srgbClr val="000000"/>
              </a:buClr>
              <a:buSzPts val="1962"/>
              <a:buFont typeface="Arial"/>
              <a:buNone/>
            </a:pPr>
            <a:r>
              <a:t/>
            </a:r>
            <a:endParaRPr b="0" i="0" sz="1962" u="none" cap="none" strike="noStrike">
              <a:solidFill>
                <a:srgbClr val="4D4C4C"/>
              </a:solidFill>
              <a:latin typeface="Arial"/>
              <a:ea typeface="Arial"/>
              <a:cs typeface="Arial"/>
              <a:sym typeface="Arial"/>
            </a:endParaRPr>
          </a:p>
          <a:p>
            <a:pPr indent="0" lvl="0" marL="0" marR="0" rtl="0" algn="ctr">
              <a:lnSpc>
                <a:spcPct val="122018"/>
              </a:lnSpc>
              <a:spcBef>
                <a:spcPts val="0"/>
              </a:spcBef>
              <a:spcAft>
                <a:spcPts val="0"/>
              </a:spcAft>
              <a:buClr>
                <a:srgbClr val="000000"/>
              </a:buClr>
              <a:buSzPts val="1962"/>
              <a:buFont typeface="Arial"/>
              <a:buNone/>
            </a:pPr>
            <a:r>
              <a:rPr b="0" i="0" lang="en-US" sz="1962" u="none" cap="none" strike="noStrike">
                <a:solidFill>
                  <a:srgbClr val="4D4C4C"/>
                </a:solidFill>
                <a:latin typeface="Arial"/>
                <a:ea typeface="Arial"/>
                <a:cs typeface="Arial"/>
                <a:sym typeface="Arial"/>
              </a:rPr>
              <a:t>Son dispositivos Dedicados, tienen alta velocidad de filtrado, protegen redes completas y son ideales para empresas o centros de datos.</a:t>
            </a:r>
            <a:endParaRPr b="0" i="0" sz="1400" u="none" cap="none" strike="noStrike">
              <a:solidFill>
                <a:srgbClr val="000000"/>
              </a:solidFill>
              <a:latin typeface="Arial"/>
              <a:ea typeface="Arial"/>
              <a:cs typeface="Arial"/>
              <a:sym typeface="Arial"/>
            </a:endParaRPr>
          </a:p>
        </p:txBody>
      </p:sp>
      <p:sp>
        <p:nvSpPr>
          <p:cNvPr id="527" name="Google Shape;527;p29"/>
          <p:cNvSpPr txBox="1"/>
          <p:nvPr/>
        </p:nvSpPr>
        <p:spPr>
          <a:xfrm>
            <a:off x="7208336" y="3848953"/>
            <a:ext cx="4597200" cy="4820100"/>
          </a:xfrm>
          <a:prstGeom prst="rect">
            <a:avLst/>
          </a:prstGeom>
          <a:noFill/>
          <a:ln>
            <a:noFill/>
          </a:ln>
        </p:spPr>
        <p:txBody>
          <a:bodyPr anchorCtr="0" anchor="t" bIns="0" lIns="0" spcFirstLastPara="1" rIns="0" wrap="square" tIns="0">
            <a:spAutoFit/>
          </a:bodyPr>
          <a:lstStyle/>
          <a:p>
            <a:pPr indent="0" lvl="0" marL="0" marR="0" rtl="0" algn="ctr">
              <a:lnSpc>
                <a:spcPct val="122024"/>
              </a:lnSpc>
              <a:spcBef>
                <a:spcPts val="0"/>
              </a:spcBef>
              <a:spcAft>
                <a:spcPts val="0"/>
              </a:spcAft>
              <a:buClr>
                <a:srgbClr val="000000"/>
              </a:buClr>
              <a:buSzPts val="1857"/>
              <a:buFont typeface="Arial"/>
              <a:buNone/>
            </a:pPr>
            <a:r>
              <a:rPr b="0" i="0" lang="en-US" sz="1857" u="none" cap="none" strike="noStrike">
                <a:solidFill>
                  <a:srgbClr val="4D4C4C"/>
                </a:solidFill>
                <a:latin typeface="Arial"/>
                <a:ea typeface="Arial"/>
                <a:cs typeface="Arial"/>
                <a:sym typeface="Arial"/>
              </a:rPr>
              <a:t>Software instalado en un equipo individual.</a:t>
            </a:r>
            <a:endParaRPr b="0" i="0" sz="1400" u="none" cap="none" strike="noStrike">
              <a:solidFill>
                <a:srgbClr val="000000"/>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rPr b="0" i="0" lang="en-US" sz="1857" u="none" cap="none" strike="noStrike">
                <a:solidFill>
                  <a:srgbClr val="4D4C4C"/>
                </a:solidFill>
                <a:latin typeface="Arial"/>
                <a:ea typeface="Arial"/>
                <a:cs typeface="Arial"/>
                <a:sym typeface="Arial"/>
              </a:rPr>
              <a:t>Se instala en cada computadora o servidor individual.</a:t>
            </a:r>
            <a:endParaRPr b="0" i="0" sz="1400" u="none" cap="none" strike="noStrike">
              <a:solidFill>
                <a:srgbClr val="000000"/>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rPr b="0" i="0" lang="en-US" sz="1857" u="none" cap="none" strike="noStrike">
                <a:solidFill>
                  <a:srgbClr val="4D4C4C"/>
                </a:solidFill>
                <a:latin typeface="Arial"/>
                <a:ea typeface="Arial"/>
                <a:cs typeface="Arial"/>
                <a:sym typeface="Arial"/>
              </a:rPr>
              <a:t>(como el Firewall de Windows o UFW de linux).</a:t>
            </a:r>
            <a:endParaRPr b="0" i="0" sz="1400" u="none" cap="none" strike="noStrike">
              <a:solidFill>
                <a:srgbClr val="000000"/>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rPr b="0" i="0" lang="en-US" sz="1857" u="none" cap="none" strike="noStrike">
                <a:solidFill>
                  <a:srgbClr val="4D4C4C"/>
                </a:solidFill>
                <a:latin typeface="Arial"/>
                <a:ea typeface="Arial"/>
                <a:cs typeface="Arial"/>
                <a:sym typeface="Arial"/>
              </a:rPr>
              <a:t>Controlan el tráfico de entrada y salida de un solo equipo.</a:t>
            </a:r>
            <a:endParaRPr b="0" i="0" sz="1400" u="none" cap="none" strike="noStrike">
              <a:solidFill>
                <a:srgbClr val="000000"/>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rPr b="0" i="0" lang="en-US" sz="1857" u="none" cap="none" strike="noStrike">
                <a:solidFill>
                  <a:srgbClr val="4D4C4C"/>
                </a:solidFill>
                <a:latin typeface="Arial"/>
                <a:ea typeface="Arial"/>
                <a:cs typeface="Arial"/>
                <a:sym typeface="Arial"/>
              </a:rPr>
              <a:t>Permiten personalización por aplicación o puerto.</a:t>
            </a:r>
            <a:endParaRPr b="0" i="0" sz="1400" u="none" cap="none" strike="noStrike">
              <a:solidFill>
                <a:srgbClr val="000000"/>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t/>
            </a:r>
            <a:endParaRPr b="0" i="0" sz="1857" u="none" cap="none" strike="noStrike">
              <a:solidFill>
                <a:srgbClr val="4D4C4C"/>
              </a:solidFill>
              <a:latin typeface="Arial"/>
              <a:ea typeface="Arial"/>
              <a:cs typeface="Arial"/>
              <a:sym typeface="Arial"/>
            </a:endParaRPr>
          </a:p>
          <a:p>
            <a:pPr indent="0" lvl="0" marL="0" marR="0" rtl="0" algn="ctr">
              <a:lnSpc>
                <a:spcPct val="122024"/>
              </a:lnSpc>
              <a:spcBef>
                <a:spcPts val="0"/>
              </a:spcBef>
              <a:spcAft>
                <a:spcPts val="0"/>
              </a:spcAft>
              <a:buClr>
                <a:srgbClr val="000000"/>
              </a:buClr>
              <a:buSzPts val="1857"/>
              <a:buFont typeface="Arial"/>
              <a:buNone/>
            </a:pPr>
            <a:r>
              <a:rPr b="0" i="0" lang="en-US" sz="1857" u="none" cap="none" strike="noStrike">
                <a:solidFill>
                  <a:srgbClr val="4D4C4C"/>
                </a:solidFill>
                <a:latin typeface="Arial"/>
                <a:ea typeface="Arial"/>
                <a:cs typeface="Arial"/>
                <a:sym typeface="Arial"/>
              </a:rPr>
              <a:t>La protección es individual y no de la red.</a:t>
            </a:r>
            <a:endParaRPr b="0" i="0" sz="1400" u="none" cap="none" strike="noStrike">
              <a:solidFill>
                <a:srgbClr val="000000"/>
              </a:solidFill>
              <a:latin typeface="Arial"/>
              <a:ea typeface="Arial"/>
              <a:cs typeface="Arial"/>
              <a:sym typeface="Arial"/>
            </a:endParaRPr>
          </a:p>
        </p:txBody>
      </p:sp>
      <p:sp>
        <p:nvSpPr>
          <p:cNvPr id="528" name="Google Shape;528;p29"/>
          <p:cNvSpPr txBox="1"/>
          <p:nvPr/>
        </p:nvSpPr>
        <p:spPr>
          <a:xfrm>
            <a:off x="3036379" y="3498307"/>
            <a:ext cx="2085192" cy="384175"/>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Clr>
                <a:srgbClr val="000000"/>
              </a:buClr>
              <a:buSzPts val="2499"/>
              <a:buFont typeface="Arial"/>
              <a:buNone/>
            </a:pPr>
            <a:r>
              <a:rPr b="1" i="0" lang="en-US" sz="2499" u="none" cap="none" strike="noStrike">
                <a:solidFill>
                  <a:srgbClr val="4D4C4C"/>
                </a:solidFill>
                <a:latin typeface="Arial"/>
                <a:ea typeface="Arial"/>
                <a:cs typeface="Arial"/>
                <a:sym typeface="Arial"/>
              </a:rPr>
              <a:t>DE RED</a:t>
            </a:r>
            <a:endParaRPr b="0" i="0" sz="1400" u="none" cap="none" strike="noStrike">
              <a:solidFill>
                <a:srgbClr val="000000"/>
              </a:solidFill>
              <a:latin typeface="Arial"/>
              <a:ea typeface="Arial"/>
              <a:cs typeface="Arial"/>
              <a:sym typeface="Arial"/>
            </a:endParaRPr>
          </a:p>
        </p:txBody>
      </p:sp>
      <p:sp>
        <p:nvSpPr>
          <p:cNvPr id="529" name="Google Shape;529;p29"/>
          <p:cNvSpPr txBox="1"/>
          <p:nvPr/>
        </p:nvSpPr>
        <p:spPr>
          <a:xfrm>
            <a:off x="7966102" y="3396340"/>
            <a:ext cx="2624141" cy="384175"/>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Clr>
                <a:srgbClr val="000000"/>
              </a:buClr>
              <a:buSzPts val="2499"/>
              <a:buFont typeface="Arial"/>
              <a:buNone/>
            </a:pPr>
            <a:r>
              <a:rPr b="1" i="0" lang="en-US" sz="2499" u="none" cap="none" strike="noStrike">
                <a:solidFill>
                  <a:srgbClr val="4D4C4C"/>
                </a:solidFill>
                <a:latin typeface="Arial"/>
                <a:ea typeface="Arial"/>
                <a:cs typeface="Arial"/>
                <a:sym typeface="Arial"/>
              </a:rPr>
              <a:t>DE HOST</a:t>
            </a:r>
            <a:endParaRPr b="0" i="0" sz="1400" u="none" cap="none" strike="noStrike">
              <a:solidFill>
                <a:srgbClr val="000000"/>
              </a:solidFill>
              <a:latin typeface="Arial"/>
              <a:ea typeface="Arial"/>
              <a:cs typeface="Arial"/>
              <a:sym typeface="Arial"/>
            </a:endParaRPr>
          </a:p>
        </p:txBody>
      </p:sp>
      <p:sp>
        <p:nvSpPr>
          <p:cNvPr id="530" name="Google Shape;530;p29"/>
          <p:cNvSpPr txBox="1"/>
          <p:nvPr/>
        </p:nvSpPr>
        <p:spPr>
          <a:xfrm>
            <a:off x="12441058" y="4444090"/>
            <a:ext cx="4900922" cy="3333545"/>
          </a:xfrm>
          <a:prstGeom prst="rect">
            <a:avLst/>
          </a:prstGeom>
          <a:noFill/>
          <a:ln>
            <a:noFill/>
          </a:ln>
        </p:spPr>
        <p:txBody>
          <a:bodyPr anchorCtr="0" anchor="t" bIns="0" lIns="0" spcFirstLastPara="1" rIns="0" wrap="square" tIns="0">
            <a:spAutoFit/>
          </a:bodyPr>
          <a:lstStyle/>
          <a:p>
            <a:pPr indent="0" lvl="0" marL="0" marR="0" rtl="0" algn="ctr">
              <a:lnSpc>
                <a:spcPct val="121986"/>
              </a:lnSpc>
              <a:spcBef>
                <a:spcPts val="0"/>
              </a:spcBef>
              <a:spcAft>
                <a:spcPts val="0"/>
              </a:spcAft>
              <a:buClr>
                <a:srgbClr val="000000"/>
              </a:buClr>
              <a:buSzPts val="1792"/>
              <a:buFont typeface="Arial"/>
              <a:buNone/>
            </a:pPr>
            <a:r>
              <a:rPr b="0" i="0" lang="en-US" sz="1792" u="none" cap="none" strike="noStrike">
                <a:solidFill>
                  <a:srgbClr val="4D4C4C"/>
                </a:solidFill>
                <a:latin typeface="Arial"/>
                <a:ea typeface="Arial"/>
                <a:cs typeface="Arial"/>
                <a:sym typeface="Arial"/>
              </a:rPr>
              <a:t>Servicio en línea que protege redes o sitios desde Internet.</a:t>
            </a:r>
            <a:endParaRPr b="0" i="0" sz="1400" u="none" cap="none" strike="noStrike">
              <a:solidFill>
                <a:srgbClr val="000000"/>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t/>
            </a:r>
            <a:endParaRPr b="0" i="0" sz="1792" u="none" cap="none" strike="noStrike">
              <a:solidFill>
                <a:srgbClr val="4D4C4C"/>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rPr b="0" i="0" lang="en-US" sz="1792" u="none" cap="none" strike="noStrike">
                <a:solidFill>
                  <a:srgbClr val="4D4C4C"/>
                </a:solidFill>
                <a:latin typeface="Arial"/>
                <a:ea typeface="Arial"/>
                <a:cs typeface="Arial"/>
                <a:sym typeface="Arial"/>
              </a:rPr>
              <a:t>Se ubican en servidores remotos ( infraestructura como los AWS Security Groups, Azure Firewall o cloudflare)</a:t>
            </a:r>
            <a:endParaRPr b="0" i="0" sz="1400" u="none" cap="none" strike="noStrike">
              <a:solidFill>
                <a:srgbClr val="000000"/>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t/>
            </a:r>
            <a:endParaRPr b="0" i="0" sz="1792" u="none" cap="none" strike="noStrike">
              <a:solidFill>
                <a:srgbClr val="4D4C4C"/>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rPr b="0" i="0" lang="en-US" sz="1792" u="none" cap="none" strike="noStrike">
                <a:solidFill>
                  <a:srgbClr val="4D4C4C"/>
                </a:solidFill>
                <a:latin typeface="Arial"/>
                <a:ea typeface="Arial"/>
                <a:cs typeface="Arial"/>
                <a:sym typeface="Arial"/>
              </a:rPr>
              <a:t>Es escalable y centralizado.</a:t>
            </a:r>
            <a:endParaRPr b="0" i="0" sz="1400" u="none" cap="none" strike="noStrike">
              <a:solidFill>
                <a:srgbClr val="000000"/>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t/>
            </a:r>
            <a:endParaRPr b="0" i="0" sz="1792" u="none" cap="none" strike="noStrike">
              <a:solidFill>
                <a:srgbClr val="4D4C4C"/>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rPr b="0" i="0" lang="en-US" sz="1792" u="none" cap="none" strike="noStrike">
                <a:solidFill>
                  <a:srgbClr val="4D4C4C"/>
                </a:solidFill>
                <a:latin typeface="Arial"/>
                <a:ea typeface="Arial"/>
                <a:cs typeface="Arial"/>
                <a:sym typeface="Arial"/>
              </a:rPr>
              <a:t>Se configura por medio de navegador, API o SDK.</a:t>
            </a:r>
            <a:endParaRPr b="0" i="0" sz="1400" u="none" cap="none" strike="noStrike">
              <a:solidFill>
                <a:srgbClr val="000000"/>
              </a:solidFill>
              <a:latin typeface="Arial"/>
              <a:ea typeface="Arial"/>
              <a:cs typeface="Arial"/>
              <a:sym typeface="Arial"/>
            </a:endParaRPr>
          </a:p>
          <a:p>
            <a:pPr indent="0" lvl="0" marL="0" marR="0" rtl="0" algn="ctr">
              <a:lnSpc>
                <a:spcPct val="121986"/>
              </a:lnSpc>
              <a:spcBef>
                <a:spcPts val="0"/>
              </a:spcBef>
              <a:spcAft>
                <a:spcPts val="0"/>
              </a:spcAft>
              <a:buClr>
                <a:srgbClr val="000000"/>
              </a:buClr>
              <a:buSzPts val="1792"/>
              <a:buFont typeface="Arial"/>
              <a:buNone/>
            </a:pPr>
            <a:r>
              <a:t/>
            </a:r>
            <a:endParaRPr b="0" i="0" sz="1792" u="none" cap="none" strike="noStrike">
              <a:solidFill>
                <a:srgbClr val="4D4C4C"/>
              </a:solidFill>
              <a:latin typeface="Arial"/>
              <a:ea typeface="Arial"/>
              <a:cs typeface="Arial"/>
              <a:sym typeface="Arial"/>
            </a:endParaRPr>
          </a:p>
        </p:txBody>
      </p:sp>
      <p:sp>
        <p:nvSpPr>
          <p:cNvPr id="531" name="Google Shape;531;p29"/>
          <p:cNvSpPr txBox="1"/>
          <p:nvPr/>
        </p:nvSpPr>
        <p:spPr>
          <a:xfrm>
            <a:off x="13434774" y="3583665"/>
            <a:ext cx="2624141" cy="765175"/>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Clr>
                <a:srgbClr val="000000"/>
              </a:buClr>
              <a:buSzPts val="2499"/>
              <a:buFont typeface="Arial"/>
              <a:buNone/>
            </a:pPr>
            <a:r>
              <a:rPr b="1" i="0" lang="en-US" sz="2499" u="none" cap="none" strike="noStrike">
                <a:solidFill>
                  <a:srgbClr val="4D4C4C"/>
                </a:solidFill>
                <a:latin typeface="Arial"/>
                <a:ea typeface="Arial"/>
                <a:cs typeface="Arial"/>
                <a:sym typeface="Arial"/>
              </a:rPr>
              <a:t>BASADO EN LA NUBE</a:t>
            </a:r>
            <a:endParaRPr b="0" i="0" sz="1400" u="none" cap="none" strike="noStrike">
              <a:solidFill>
                <a:srgbClr val="000000"/>
              </a:solidFill>
              <a:latin typeface="Arial"/>
              <a:ea typeface="Arial"/>
              <a:cs typeface="Arial"/>
              <a:sym typeface="Arial"/>
            </a:endParaRPr>
          </a:p>
        </p:txBody>
      </p:sp>
      <p:cxnSp>
        <p:nvCxnSpPr>
          <p:cNvPr id="532" name="Google Shape;532;p29"/>
          <p:cNvCxnSpPr/>
          <p:nvPr/>
        </p:nvCxnSpPr>
        <p:spPr>
          <a:xfrm>
            <a:off x="6718699" y="3552438"/>
            <a:ext cx="0" cy="6158086"/>
          </a:xfrm>
          <a:prstGeom prst="straightConnector1">
            <a:avLst/>
          </a:prstGeom>
          <a:noFill/>
          <a:ln cap="flat" cmpd="sng" w="38100">
            <a:solidFill>
              <a:srgbClr val="4D4C4C"/>
            </a:solidFill>
            <a:prstDash val="solid"/>
            <a:round/>
            <a:headEnd len="sm" w="sm" type="none"/>
            <a:tailEnd len="sm" w="sm" type="none"/>
          </a:ln>
        </p:spPr>
      </p:cxnSp>
      <p:cxnSp>
        <p:nvCxnSpPr>
          <p:cNvPr id="533" name="Google Shape;533;p29"/>
          <p:cNvCxnSpPr/>
          <p:nvPr/>
        </p:nvCxnSpPr>
        <p:spPr>
          <a:xfrm>
            <a:off x="12295254" y="3507832"/>
            <a:ext cx="0" cy="6158086"/>
          </a:xfrm>
          <a:prstGeom prst="straightConnector1">
            <a:avLst/>
          </a:prstGeom>
          <a:noFill/>
          <a:ln cap="flat" cmpd="sng" w="38100">
            <a:solidFill>
              <a:srgbClr val="4D4C4C"/>
            </a:solidFill>
            <a:prstDash val="solid"/>
            <a:round/>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37" name="Shape 537"/>
        <p:cNvGrpSpPr/>
        <p:nvPr/>
      </p:nvGrpSpPr>
      <p:grpSpPr>
        <a:xfrm>
          <a:off x="0" y="0"/>
          <a:ext cx="0" cy="0"/>
          <a:chOff x="0" y="0"/>
          <a:chExt cx="0" cy="0"/>
        </a:xfrm>
      </p:grpSpPr>
      <p:grpSp>
        <p:nvGrpSpPr>
          <p:cNvPr id="538" name="Google Shape;538;p30"/>
          <p:cNvGrpSpPr/>
          <p:nvPr/>
        </p:nvGrpSpPr>
        <p:grpSpPr>
          <a:xfrm rot="-5400000">
            <a:off x="7921866" y="187247"/>
            <a:ext cx="11836639" cy="9754024"/>
            <a:chOff x="0" y="-47625"/>
            <a:chExt cx="3117469" cy="2568961"/>
          </a:xfrm>
        </p:grpSpPr>
        <p:sp>
          <p:nvSpPr>
            <p:cNvPr id="539" name="Google Shape;539;p30"/>
            <p:cNvSpPr/>
            <p:nvPr/>
          </p:nvSpPr>
          <p:spPr>
            <a:xfrm>
              <a:off x="0" y="0"/>
              <a:ext cx="3117469" cy="2521336"/>
            </a:xfrm>
            <a:custGeom>
              <a:rect b="b" l="l" r="r" t="t"/>
              <a:pathLst>
                <a:path extrusionOk="0" h="2521336" w="3117469">
                  <a:moveTo>
                    <a:pt x="0" y="0"/>
                  </a:moveTo>
                  <a:lnTo>
                    <a:pt x="3117469" y="0"/>
                  </a:lnTo>
                  <a:lnTo>
                    <a:pt x="3117469" y="2521336"/>
                  </a:lnTo>
                  <a:lnTo>
                    <a:pt x="0" y="252133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30"/>
            <p:cNvSpPr txBox="1"/>
            <p:nvPr/>
          </p:nvSpPr>
          <p:spPr>
            <a:xfrm>
              <a:off x="0" y="-47625"/>
              <a:ext cx="3117469" cy="256896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1" name="Google Shape;541;p30"/>
          <p:cNvGrpSpPr/>
          <p:nvPr/>
        </p:nvGrpSpPr>
        <p:grpSpPr>
          <a:xfrm rot="10800000">
            <a:off x="7089472" y="-2686123"/>
            <a:ext cx="13682253" cy="4625459"/>
            <a:chOff x="0" y="-47625"/>
            <a:chExt cx="1343020" cy="454025"/>
          </a:xfrm>
        </p:grpSpPr>
        <p:sp>
          <p:nvSpPr>
            <p:cNvPr id="542" name="Google Shape;542;p30"/>
            <p:cNvSpPr/>
            <p:nvPr/>
          </p:nvSpPr>
          <p:spPr>
            <a:xfrm>
              <a:off x="0" y="0"/>
              <a:ext cx="1343020" cy="406400"/>
            </a:xfrm>
            <a:custGeom>
              <a:rect b="b" l="l" r="r" t="t"/>
              <a:pathLst>
                <a:path extrusionOk="0" h="406400" w="1343020">
                  <a:moveTo>
                    <a:pt x="1139820" y="0"/>
                  </a:moveTo>
                  <a:cubicBezTo>
                    <a:pt x="1252045" y="0"/>
                    <a:pt x="1343020" y="90976"/>
                    <a:pt x="1343020" y="203200"/>
                  </a:cubicBezTo>
                  <a:cubicBezTo>
                    <a:pt x="1343020" y="315424"/>
                    <a:pt x="1252045" y="406400"/>
                    <a:pt x="11398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30"/>
            <p:cNvSpPr txBox="1"/>
            <p:nvPr/>
          </p:nvSpPr>
          <p:spPr>
            <a:xfrm>
              <a:off x="0" y="-47625"/>
              <a:ext cx="134302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4" name="Google Shape;544;p30"/>
          <p:cNvSpPr/>
          <p:nvPr/>
        </p:nvSpPr>
        <p:spPr>
          <a:xfrm>
            <a:off x="-2506918" y="8424265"/>
            <a:ext cx="4326365" cy="4326365"/>
          </a:xfrm>
          <a:custGeom>
            <a:rect b="b" l="l" r="r" t="t"/>
            <a:pathLst>
              <a:path extrusionOk="0" h="4326365" w="4326365">
                <a:moveTo>
                  <a:pt x="0" y="0"/>
                </a:moveTo>
                <a:lnTo>
                  <a:pt x="4326365" y="0"/>
                </a:lnTo>
                <a:lnTo>
                  <a:pt x="4326365" y="4326365"/>
                </a:lnTo>
                <a:lnTo>
                  <a:pt x="0" y="432636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30"/>
          <p:cNvSpPr/>
          <p:nvPr/>
        </p:nvSpPr>
        <p:spPr>
          <a:xfrm>
            <a:off x="698357" y="3431909"/>
            <a:ext cx="660687" cy="661890"/>
          </a:xfrm>
          <a:custGeom>
            <a:rect b="b" l="l" r="r" t="t"/>
            <a:pathLst>
              <a:path extrusionOk="0" h="661890" w="660687">
                <a:moveTo>
                  <a:pt x="0" y="0"/>
                </a:moveTo>
                <a:lnTo>
                  <a:pt x="660686" y="0"/>
                </a:lnTo>
                <a:lnTo>
                  <a:pt x="660686" y="661890"/>
                </a:lnTo>
                <a:lnTo>
                  <a:pt x="0" y="661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546" name="Google Shape;546;p30"/>
          <p:cNvGrpSpPr/>
          <p:nvPr/>
        </p:nvGrpSpPr>
        <p:grpSpPr>
          <a:xfrm rot="10800000">
            <a:off x="7457005" y="443095"/>
            <a:ext cx="1035787" cy="1035787"/>
            <a:chOff x="0" y="0"/>
            <a:chExt cx="812800" cy="812800"/>
          </a:xfrm>
        </p:grpSpPr>
        <p:sp>
          <p:nvSpPr>
            <p:cNvPr id="547" name="Google Shape;547;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3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9" name="Google Shape;549;p30"/>
          <p:cNvSpPr/>
          <p:nvPr/>
        </p:nvSpPr>
        <p:spPr>
          <a:xfrm>
            <a:off x="9833064" y="644500"/>
            <a:ext cx="7727862" cy="8633115"/>
          </a:xfrm>
          <a:custGeom>
            <a:rect b="b" l="l" r="r" t="t"/>
            <a:pathLst>
              <a:path extrusionOk="0" h="1400010" w="1253208">
                <a:moveTo>
                  <a:pt x="0" y="0"/>
                </a:moveTo>
                <a:lnTo>
                  <a:pt x="1253208" y="0"/>
                </a:lnTo>
                <a:lnTo>
                  <a:pt x="1253208" y="1400010"/>
                </a:lnTo>
                <a:lnTo>
                  <a:pt x="0" y="1400010"/>
                </a:lnTo>
                <a:close/>
              </a:path>
            </a:pathLst>
          </a:custGeom>
          <a:blipFill rotWithShape="1">
            <a:blip r:embed="rId5">
              <a:alphaModFix/>
            </a:blip>
            <a:stretch>
              <a:fillRect b="0" l="-65757" r="-65757" t="0"/>
            </a:stretch>
          </a:blipFill>
          <a:ln cap="sq" cmpd="sng" w="85725">
            <a:solidFill>
              <a:srgbClr val="FFFDF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30"/>
          <p:cNvSpPr txBox="1"/>
          <p:nvPr/>
        </p:nvSpPr>
        <p:spPr>
          <a:xfrm>
            <a:off x="1627772" y="3392872"/>
            <a:ext cx="6315030" cy="4908102"/>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Clr>
                <a:srgbClr val="000000"/>
              </a:buClr>
              <a:buSzPts val="2517"/>
              <a:buFont typeface="Arial"/>
              <a:buNone/>
            </a:pPr>
            <a:r>
              <a:rPr b="1" i="0" lang="en-US" sz="2517" u="none" cap="none" strike="noStrike">
                <a:solidFill>
                  <a:srgbClr val="4D4C4C"/>
                </a:solidFill>
                <a:latin typeface="Arial"/>
                <a:ea typeface="Arial"/>
                <a:cs typeface="Arial"/>
                <a:sym typeface="Arial"/>
              </a:rPr>
              <a:t>Un puerto es como una puerta virtual en un dispositivo que permite que diferentes tipos de servicios o aplicaciones se comuniquen a través de la red.</a:t>
            </a:r>
            <a:endParaRPr b="0" i="0" sz="1400" u="none" cap="none" strike="noStrike">
              <a:solidFill>
                <a:srgbClr val="000000"/>
              </a:solidFill>
              <a:latin typeface="Arial"/>
              <a:ea typeface="Arial"/>
              <a:cs typeface="Arial"/>
              <a:sym typeface="Arial"/>
            </a:endParaRPr>
          </a:p>
          <a:p>
            <a:pPr indent="0" lvl="0" marL="0" marR="0" rtl="0" algn="just">
              <a:lnSpc>
                <a:spcPct val="140007"/>
              </a:lnSpc>
              <a:spcBef>
                <a:spcPts val="0"/>
              </a:spcBef>
              <a:spcAft>
                <a:spcPts val="0"/>
              </a:spcAft>
              <a:buClr>
                <a:srgbClr val="000000"/>
              </a:buClr>
              <a:buSzPts val="2517"/>
              <a:buFont typeface="Arial"/>
              <a:buNone/>
            </a:pPr>
            <a:r>
              <a:t/>
            </a:r>
            <a:endParaRPr b="1" i="0" sz="2517" u="none" cap="none" strike="noStrike">
              <a:solidFill>
                <a:srgbClr val="4D4C4C"/>
              </a:solidFill>
              <a:latin typeface="Arial"/>
              <a:ea typeface="Arial"/>
              <a:cs typeface="Arial"/>
              <a:sym typeface="Arial"/>
            </a:endParaRPr>
          </a:p>
          <a:p>
            <a:pPr indent="0" lvl="0" marL="0" marR="0" rtl="0" algn="just">
              <a:lnSpc>
                <a:spcPct val="140007"/>
              </a:lnSpc>
              <a:spcBef>
                <a:spcPts val="0"/>
              </a:spcBef>
              <a:spcAft>
                <a:spcPts val="0"/>
              </a:spcAft>
              <a:buClr>
                <a:srgbClr val="000000"/>
              </a:buClr>
              <a:buSzPts val="2517"/>
              <a:buFont typeface="Arial"/>
              <a:buNone/>
            </a:pPr>
            <a:r>
              <a:rPr b="1" i="0" lang="en-US" sz="2517" u="none" cap="none" strike="noStrike">
                <a:solidFill>
                  <a:srgbClr val="4D4C4C"/>
                </a:solidFill>
                <a:latin typeface="Arial"/>
                <a:ea typeface="Arial"/>
                <a:cs typeface="Arial"/>
                <a:sym typeface="Arial"/>
              </a:rPr>
              <a:t>Cada dispositivo (como un PC o servidor) puede tener hasta 65,535 puertos numerados, y cada uno sirve para una tarea o servicio específico.</a:t>
            </a:r>
            <a:endParaRPr b="0" i="0" sz="1400" u="none" cap="none" strike="noStrike">
              <a:solidFill>
                <a:srgbClr val="000000"/>
              </a:solidFill>
              <a:latin typeface="Arial"/>
              <a:ea typeface="Arial"/>
              <a:cs typeface="Arial"/>
              <a:sym typeface="Arial"/>
            </a:endParaRPr>
          </a:p>
        </p:txBody>
      </p:sp>
      <p:sp>
        <p:nvSpPr>
          <p:cNvPr id="551" name="Google Shape;551;p30"/>
          <p:cNvSpPr txBox="1"/>
          <p:nvPr/>
        </p:nvSpPr>
        <p:spPr>
          <a:xfrm>
            <a:off x="1627772" y="1850357"/>
            <a:ext cx="7871917" cy="1268295"/>
          </a:xfrm>
          <a:prstGeom prst="rect">
            <a:avLst/>
          </a:prstGeom>
          <a:noFill/>
          <a:ln>
            <a:noFill/>
          </a:ln>
        </p:spPr>
        <p:txBody>
          <a:bodyPr anchorCtr="0" anchor="t" bIns="0" lIns="0" spcFirstLastPara="1" rIns="0" wrap="square" tIns="0">
            <a:spAutoFit/>
          </a:bodyPr>
          <a:lstStyle/>
          <a:p>
            <a:pPr indent="0" lvl="0" marL="0" marR="0" rtl="0" algn="l">
              <a:lnSpc>
                <a:spcPct val="109009"/>
              </a:lnSpc>
              <a:spcBef>
                <a:spcPts val="0"/>
              </a:spcBef>
              <a:spcAft>
                <a:spcPts val="0"/>
              </a:spcAft>
              <a:buClr>
                <a:srgbClr val="000000"/>
              </a:buClr>
              <a:buSzPts val="8968"/>
              <a:buFont typeface="Arial"/>
              <a:buNone/>
            </a:pPr>
            <a:r>
              <a:rPr b="1" i="0" lang="en-US" sz="8968" u="none" cap="none" strike="noStrike">
                <a:solidFill>
                  <a:srgbClr val="4D4C4C"/>
                </a:solidFill>
                <a:latin typeface="Arial"/>
                <a:ea typeface="Arial"/>
                <a:cs typeface="Arial"/>
                <a:sym typeface="Arial"/>
              </a:rPr>
              <a:t>PUERTOS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55" name="Shape 555"/>
        <p:cNvGrpSpPr/>
        <p:nvPr/>
      </p:nvGrpSpPr>
      <p:grpSpPr>
        <a:xfrm>
          <a:off x="0" y="0"/>
          <a:ext cx="0" cy="0"/>
          <a:chOff x="0" y="0"/>
          <a:chExt cx="0" cy="0"/>
        </a:xfrm>
      </p:grpSpPr>
      <p:grpSp>
        <p:nvGrpSpPr>
          <p:cNvPr id="556" name="Google Shape;556;p31"/>
          <p:cNvGrpSpPr/>
          <p:nvPr/>
        </p:nvGrpSpPr>
        <p:grpSpPr>
          <a:xfrm>
            <a:off x="-807912" y="-6641789"/>
            <a:ext cx="20593590" cy="7670489"/>
            <a:chOff x="0" y="-47625"/>
            <a:chExt cx="5423826" cy="2020211"/>
          </a:xfrm>
        </p:grpSpPr>
        <p:sp>
          <p:nvSpPr>
            <p:cNvPr id="557" name="Google Shape;557;p31"/>
            <p:cNvSpPr/>
            <p:nvPr/>
          </p:nvSpPr>
          <p:spPr>
            <a:xfrm>
              <a:off x="0" y="0"/>
              <a:ext cx="5423826" cy="1972586"/>
            </a:xfrm>
            <a:custGeom>
              <a:rect b="b" l="l" r="r" t="t"/>
              <a:pathLst>
                <a:path extrusionOk="0" h="1972586" w="5423826">
                  <a:moveTo>
                    <a:pt x="0" y="0"/>
                  </a:moveTo>
                  <a:lnTo>
                    <a:pt x="5423826" y="0"/>
                  </a:lnTo>
                  <a:lnTo>
                    <a:pt x="5423826" y="1972586"/>
                  </a:lnTo>
                  <a:lnTo>
                    <a:pt x="0" y="197258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31"/>
            <p:cNvSpPr txBox="1"/>
            <p:nvPr/>
          </p:nvSpPr>
          <p:spPr>
            <a:xfrm>
              <a:off x="0" y="-47625"/>
              <a:ext cx="5423826" cy="202021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9" name="Google Shape;559;p31"/>
          <p:cNvGrpSpPr/>
          <p:nvPr/>
        </p:nvGrpSpPr>
        <p:grpSpPr>
          <a:xfrm>
            <a:off x="-1068907" y="9077474"/>
            <a:ext cx="21201429" cy="7670489"/>
            <a:chOff x="0" y="-47625"/>
            <a:chExt cx="5583916" cy="2020211"/>
          </a:xfrm>
        </p:grpSpPr>
        <p:sp>
          <p:nvSpPr>
            <p:cNvPr id="560" name="Google Shape;560;p31"/>
            <p:cNvSpPr/>
            <p:nvPr/>
          </p:nvSpPr>
          <p:spPr>
            <a:xfrm>
              <a:off x="0" y="0"/>
              <a:ext cx="5583916" cy="1972586"/>
            </a:xfrm>
            <a:custGeom>
              <a:rect b="b" l="l" r="r" t="t"/>
              <a:pathLst>
                <a:path extrusionOk="0" h="1972586" w="5583916">
                  <a:moveTo>
                    <a:pt x="0" y="0"/>
                  </a:moveTo>
                  <a:lnTo>
                    <a:pt x="5583916" y="0"/>
                  </a:lnTo>
                  <a:lnTo>
                    <a:pt x="5583916" y="1972586"/>
                  </a:lnTo>
                  <a:lnTo>
                    <a:pt x="0" y="197258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31"/>
            <p:cNvSpPr txBox="1"/>
            <p:nvPr/>
          </p:nvSpPr>
          <p:spPr>
            <a:xfrm>
              <a:off x="0" y="-47625"/>
              <a:ext cx="5583916" cy="202021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2" name="Google Shape;562;p31"/>
          <p:cNvGrpSpPr/>
          <p:nvPr/>
        </p:nvGrpSpPr>
        <p:grpSpPr>
          <a:xfrm>
            <a:off x="-1537717" y="8650481"/>
            <a:ext cx="5955018" cy="1401622"/>
            <a:chOff x="0" y="-47625"/>
            <a:chExt cx="1928998" cy="454025"/>
          </a:xfrm>
        </p:grpSpPr>
        <p:sp>
          <p:nvSpPr>
            <p:cNvPr id="563" name="Google Shape;563;p31"/>
            <p:cNvSpPr/>
            <p:nvPr/>
          </p:nvSpPr>
          <p:spPr>
            <a:xfrm>
              <a:off x="0" y="0"/>
              <a:ext cx="1928998" cy="406400"/>
            </a:xfrm>
            <a:custGeom>
              <a:rect b="b" l="l" r="r" t="t"/>
              <a:pathLst>
                <a:path extrusionOk="0" h="406400" w="1928998">
                  <a:moveTo>
                    <a:pt x="1725798" y="0"/>
                  </a:moveTo>
                  <a:cubicBezTo>
                    <a:pt x="1838022" y="0"/>
                    <a:pt x="1928998" y="90976"/>
                    <a:pt x="1928998" y="203200"/>
                  </a:cubicBezTo>
                  <a:cubicBezTo>
                    <a:pt x="1928998" y="315424"/>
                    <a:pt x="1838022" y="406400"/>
                    <a:pt x="1725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31"/>
            <p:cNvSpPr txBox="1"/>
            <p:nvPr/>
          </p:nvSpPr>
          <p:spPr>
            <a:xfrm>
              <a:off x="0" y="-47625"/>
              <a:ext cx="1928998"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5" name="Google Shape;565;p31"/>
          <p:cNvGrpSpPr/>
          <p:nvPr/>
        </p:nvGrpSpPr>
        <p:grpSpPr>
          <a:xfrm>
            <a:off x="13270030" y="-144631"/>
            <a:ext cx="5924969" cy="1394551"/>
            <a:chOff x="0" y="-47625"/>
            <a:chExt cx="1928998" cy="454025"/>
          </a:xfrm>
        </p:grpSpPr>
        <p:sp>
          <p:nvSpPr>
            <p:cNvPr id="566" name="Google Shape;566;p31"/>
            <p:cNvSpPr/>
            <p:nvPr/>
          </p:nvSpPr>
          <p:spPr>
            <a:xfrm>
              <a:off x="0" y="0"/>
              <a:ext cx="1928998" cy="406400"/>
            </a:xfrm>
            <a:custGeom>
              <a:rect b="b" l="l" r="r" t="t"/>
              <a:pathLst>
                <a:path extrusionOk="0" h="406400" w="1928998">
                  <a:moveTo>
                    <a:pt x="1725798" y="0"/>
                  </a:moveTo>
                  <a:cubicBezTo>
                    <a:pt x="1838022" y="0"/>
                    <a:pt x="1928998" y="90976"/>
                    <a:pt x="1928998" y="203200"/>
                  </a:cubicBezTo>
                  <a:cubicBezTo>
                    <a:pt x="1928998" y="315424"/>
                    <a:pt x="1838022" y="406400"/>
                    <a:pt x="1725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31"/>
            <p:cNvSpPr txBox="1"/>
            <p:nvPr/>
          </p:nvSpPr>
          <p:spPr>
            <a:xfrm>
              <a:off x="0" y="-47625"/>
              <a:ext cx="1928998"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8" name="Google Shape;568;p31"/>
          <p:cNvSpPr/>
          <p:nvPr/>
        </p:nvSpPr>
        <p:spPr>
          <a:xfrm>
            <a:off x="-1537717" y="3605783"/>
            <a:ext cx="3075434" cy="3075434"/>
          </a:xfrm>
          <a:custGeom>
            <a:rect b="b" l="l" r="r" t="t"/>
            <a:pathLst>
              <a:path extrusionOk="0" h="3075434" w="3075434">
                <a:moveTo>
                  <a:pt x="0" y="0"/>
                </a:moveTo>
                <a:lnTo>
                  <a:pt x="3075434" y="0"/>
                </a:lnTo>
                <a:lnTo>
                  <a:pt x="3075434" y="3075434"/>
                </a:lnTo>
                <a:lnTo>
                  <a:pt x="0" y="30754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p31"/>
          <p:cNvSpPr/>
          <p:nvPr/>
        </p:nvSpPr>
        <p:spPr>
          <a:xfrm>
            <a:off x="16710243" y="3605783"/>
            <a:ext cx="3075434" cy="3075434"/>
          </a:xfrm>
          <a:custGeom>
            <a:rect b="b" l="l" r="r" t="t"/>
            <a:pathLst>
              <a:path extrusionOk="0" h="3075434" w="3075434">
                <a:moveTo>
                  <a:pt x="0" y="0"/>
                </a:moveTo>
                <a:lnTo>
                  <a:pt x="3075434" y="0"/>
                </a:lnTo>
                <a:lnTo>
                  <a:pt x="3075434" y="3075434"/>
                </a:lnTo>
                <a:lnTo>
                  <a:pt x="0" y="30754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0" name="Google Shape;570;p31"/>
          <p:cNvSpPr/>
          <p:nvPr/>
        </p:nvSpPr>
        <p:spPr>
          <a:xfrm>
            <a:off x="2802259" y="1487232"/>
            <a:ext cx="1191142" cy="1193312"/>
          </a:xfrm>
          <a:custGeom>
            <a:rect b="b" l="l" r="r" t="t"/>
            <a:pathLst>
              <a:path extrusionOk="0" h="1193312" w="1191142">
                <a:moveTo>
                  <a:pt x="0" y="0"/>
                </a:moveTo>
                <a:lnTo>
                  <a:pt x="1191142" y="0"/>
                </a:lnTo>
                <a:lnTo>
                  <a:pt x="1191142" y="1193312"/>
                </a:lnTo>
                <a:lnTo>
                  <a:pt x="0" y="119331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31"/>
          <p:cNvSpPr/>
          <p:nvPr/>
        </p:nvSpPr>
        <p:spPr>
          <a:xfrm rot="10800000">
            <a:off x="14044619" y="1487232"/>
            <a:ext cx="1191142" cy="1193312"/>
          </a:xfrm>
          <a:custGeom>
            <a:rect b="b" l="l" r="r" t="t"/>
            <a:pathLst>
              <a:path extrusionOk="0" h="1193312" w="1191142">
                <a:moveTo>
                  <a:pt x="0" y="0"/>
                </a:moveTo>
                <a:lnTo>
                  <a:pt x="1191142" y="0"/>
                </a:lnTo>
                <a:lnTo>
                  <a:pt x="1191142" y="1193312"/>
                </a:lnTo>
                <a:lnTo>
                  <a:pt x="0" y="119331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572" name="Google Shape;572;p31"/>
          <p:cNvGraphicFramePr/>
          <p:nvPr/>
        </p:nvGraphicFramePr>
        <p:xfrm>
          <a:off x="2802259" y="3071069"/>
          <a:ext cx="3000000" cy="3000000"/>
        </p:xfrm>
        <a:graphic>
          <a:graphicData uri="http://schemas.openxmlformats.org/drawingml/2006/table">
            <a:tbl>
              <a:tblPr>
                <a:noFill/>
                <a:tableStyleId>{A82F5AA0-886F-4AD3-B54A-C191DF9C00A1}</a:tableStyleId>
              </a:tblPr>
              <a:tblGrid>
                <a:gridCol w="2990575"/>
                <a:gridCol w="4768125"/>
                <a:gridCol w="4335050"/>
              </a:tblGrid>
              <a:tr h="1024500">
                <a:tc>
                  <a:txBody>
                    <a:bodyPr/>
                    <a:lstStyle/>
                    <a:p>
                      <a:pPr indent="0" lvl="0" marL="0" marR="0" rtl="0" algn="ctr">
                        <a:lnSpc>
                          <a:spcPct val="140015"/>
                        </a:lnSpc>
                        <a:spcBef>
                          <a:spcPts val="0"/>
                        </a:spcBef>
                        <a:spcAft>
                          <a:spcPts val="0"/>
                        </a:spcAft>
                        <a:buClr>
                          <a:srgbClr val="000000"/>
                        </a:buClr>
                        <a:buSzPts val="2599"/>
                        <a:buFont typeface="Arial"/>
                        <a:buNone/>
                      </a:pPr>
                      <a:r>
                        <a:rPr lang="en-US" sz="2599" u="none" cap="none" strike="noStrike">
                          <a:solidFill>
                            <a:srgbClr val="000000"/>
                          </a:solidFill>
                          <a:latin typeface="Arial"/>
                          <a:ea typeface="Arial"/>
                          <a:cs typeface="Arial"/>
                          <a:sym typeface="Arial"/>
                        </a:rPr>
                        <a:t>Rango</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2D2D2"/>
                    </a:solidFill>
                  </a:tcPr>
                </a:tc>
                <a:tc>
                  <a:txBody>
                    <a:bodyPr/>
                    <a:lstStyle/>
                    <a:p>
                      <a:pPr indent="0" lvl="0" marL="0" marR="0" rtl="0" algn="ctr">
                        <a:lnSpc>
                          <a:spcPct val="140015"/>
                        </a:lnSpc>
                        <a:spcBef>
                          <a:spcPts val="0"/>
                        </a:spcBef>
                        <a:spcAft>
                          <a:spcPts val="0"/>
                        </a:spcAft>
                        <a:buClr>
                          <a:srgbClr val="000000"/>
                        </a:buClr>
                        <a:buSzPts val="2599"/>
                        <a:buFont typeface="Arial"/>
                        <a:buNone/>
                      </a:pPr>
                      <a:r>
                        <a:rPr lang="en-US" sz="2599" u="none" cap="none" strike="noStrike">
                          <a:solidFill>
                            <a:srgbClr val="000000"/>
                          </a:solidFill>
                          <a:latin typeface="Arial"/>
                          <a:ea typeface="Arial"/>
                          <a:cs typeface="Arial"/>
                          <a:sym typeface="Arial"/>
                        </a:rPr>
                        <a:t>Nombre</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2D2D2"/>
                    </a:solidFill>
                  </a:tcPr>
                </a:tc>
                <a:tc>
                  <a:txBody>
                    <a:bodyPr/>
                    <a:lstStyle/>
                    <a:p>
                      <a:pPr indent="0" lvl="0" marL="0" marR="0" rtl="0" algn="ctr">
                        <a:lnSpc>
                          <a:spcPct val="140015"/>
                        </a:lnSpc>
                        <a:spcBef>
                          <a:spcPts val="0"/>
                        </a:spcBef>
                        <a:spcAft>
                          <a:spcPts val="0"/>
                        </a:spcAft>
                        <a:buClr>
                          <a:srgbClr val="000000"/>
                        </a:buClr>
                        <a:buSzPts val="2599"/>
                        <a:buFont typeface="Arial"/>
                        <a:buNone/>
                      </a:pPr>
                      <a:r>
                        <a:rPr lang="en-US" sz="2599" u="none" cap="none" strike="noStrike">
                          <a:solidFill>
                            <a:srgbClr val="000000"/>
                          </a:solidFill>
                          <a:latin typeface="Arial"/>
                          <a:ea typeface="Arial"/>
                          <a:cs typeface="Arial"/>
                          <a:sym typeface="Arial"/>
                        </a:rPr>
                        <a:t>Uso</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2D2D2"/>
                    </a:solidFill>
                  </a:tcPr>
                </a:tc>
              </a:tr>
              <a:tr h="1687650">
                <a:tc>
                  <a:txBody>
                    <a:bodyPr/>
                    <a:lstStyle/>
                    <a:p>
                      <a:pPr indent="0" lvl="0" marL="0" marR="0" rtl="0" algn="ctr">
                        <a:lnSpc>
                          <a:spcPct val="140013"/>
                        </a:lnSpc>
                        <a:spcBef>
                          <a:spcPts val="0"/>
                        </a:spcBef>
                        <a:spcAft>
                          <a:spcPts val="0"/>
                        </a:spcAft>
                        <a:buClr>
                          <a:srgbClr val="000000"/>
                        </a:buClr>
                        <a:buSzPts val="2999"/>
                        <a:buFont typeface="Arial"/>
                        <a:buNone/>
                      </a:pPr>
                      <a:r>
                        <a:rPr lang="en-US" sz="2999" u="none" cap="none" strike="noStrike">
                          <a:solidFill>
                            <a:srgbClr val="000000"/>
                          </a:solidFill>
                          <a:latin typeface="Arial"/>
                          <a:ea typeface="Arial"/>
                          <a:cs typeface="Arial"/>
                          <a:sym typeface="Arial"/>
                        </a:rPr>
                        <a:t>0–1023</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Clr>
                          <a:srgbClr val="000000"/>
                        </a:buClr>
                        <a:buSzPts val="2399"/>
                        <a:buFont typeface="Arial"/>
                        <a:buNone/>
                      </a:pPr>
                      <a:r>
                        <a:rPr lang="en-US" sz="2399" u="none" cap="none" strike="noStrike">
                          <a:solidFill>
                            <a:srgbClr val="000000"/>
                          </a:solidFill>
                          <a:latin typeface="Arial"/>
                          <a:ea typeface="Arial"/>
                          <a:cs typeface="Arial"/>
                          <a:sym typeface="Arial"/>
                        </a:rPr>
                        <a:t>Puertos bien conocidos (Well-known ports)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Clr>
                          <a:srgbClr val="000000"/>
                        </a:buClr>
                        <a:buSzPts val="2399"/>
                        <a:buFont typeface="Arial"/>
                        <a:buNone/>
                      </a:pPr>
                      <a:r>
                        <a:rPr lang="en-US" sz="2399" u="none" cap="none" strike="noStrike">
                          <a:solidFill>
                            <a:srgbClr val="000000"/>
                          </a:solidFill>
                          <a:latin typeface="Arial"/>
                          <a:ea typeface="Arial"/>
                          <a:cs typeface="Arial"/>
                          <a:sym typeface="Arial"/>
                        </a:rPr>
                        <a:t>Reservados para servicios estándar</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397900">
                <a:tc>
                  <a:txBody>
                    <a:bodyPr/>
                    <a:lstStyle/>
                    <a:p>
                      <a:pPr indent="0" lvl="0" marL="0" marR="0" rtl="0" algn="ctr">
                        <a:lnSpc>
                          <a:spcPct val="140013"/>
                        </a:lnSpc>
                        <a:spcBef>
                          <a:spcPts val="0"/>
                        </a:spcBef>
                        <a:spcAft>
                          <a:spcPts val="0"/>
                        </a:spcAft>
                        <a:buClr>
                          <a:srgbClr val="000000"/>
                        </a:buClr>
                        <a:buSzPts val="2999"/>
                        <a:buFont typeface="Arial"/>
                        <a:buNone/>
                      </a:pPr>
                      <a:r>
                        <a:rPr lang="en-US" sz="2999" u="none" cap="none" strike="noStrike">
                          <a:solidFill>
                            <a:srgbClr val="000000"/>
                          </a:solidFill>
                          <a:latin typeface="Arial"/>
                          <a:ea typeface="Arial"/>
                          <a:cs typeface="Arial"/>
                          <a:sym typeface="Arial"/>
                        </a:rPr>
                        <a:t>1024–49151</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Clr>
                          <a:srgbClr val="000000"/>
                        </a:buClr>
                        <a:buSzPts val="2399"/>
                        <a:buFont typeface="Arial"/>
                        <a:buNone/>
                      </a:pPr>
                      <a:r>
                        <a:rPr lang="en-US" sz="2399" u="none" cap="none" strike="noStrike">
                          <a:solidFill>
                            <a:srgbClr val="000000"/>
                          </a:solidFill>
                          <a:latin typeface="Arial"/>
                          <a:ea typeface="Arial"/>
                          <a:cs typeface="Arial"/>
                          <a:sym typeface="Arial"/>
                        </a:rPr>
                        <a:t>Puertos registrados (Registered ports)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Clr>
                          <a:srgbClr val="000000"/>
                        </a:buClr>
                        <a:buSzPts val="2399"/>
                        <a:buFont typeface="Arial"/>
                        <a:buNone/>
                      </a:pPr>
                      <a:r>
                        <a:rPr lang="en-US" sz="2399" u="none" cap="none" strike="noStrike">
                          <a:solidFill>
                            <a:srgbClr val="000000"/>
                          </a:solidFill>
                          <a:latin typeface="Arial"/>
                          <a:ea typeface="Arial"/>
                          <a:cs typeface="Arial"/>
                          <a:sym typeface="Arial"/>
                        </a:rPr>
                        <a:t>Para aplicaciones de usuario o servicios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397900">
                <a:tc>
                  <a:txBody>
                    <a:bodyPr/>
                    <a:lstStyle/>
                    <a:p>
                      <a:pPr indent="0" lvl="0" marL="0" marR="0" rtl="0" algn="ctr">
                        <a:lnSpc>
                          <a:spcPct val="140013"/>
                        </a:lnSpc>
                        <a:spcBef>
                          <a:spcPts val="0"/>
                        </a:spcBef>
                        <a:spcAft>
                          <a:spcPts val="0"/>
                        </a:spcAft>
                        <a:buClr>
                          <a:srgbClr val="000000"/>
                        </a:buClr>
                        <a:buSzPts val="2999"/>
                        <a:buFont typeface="Arial"/>
                        <a:buNone/>
                      </a:pPr>
                      <a:r>
                        <a:rPr lang="en-US" sz="2999" u="none" cap="none" strike="noStrike">
                          <a:solidFill>
                            <a:srgbClr val="000000"/>
                          </a:solidFill>
                          <a:latin typeface="Arial"/>
                          <a:ea typeface="Arial"/>
                          <a:cs typeface="Arial"/>
                          <a:sym typeface="Arial"/>
                        </a:rPr>
                        <a:t>49152–65535</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Clr>
                          <a:srgbClr val="000000"/>
                        </a:buClr>
                        <a:buSzPts val="2399"/>
                        <a:buFont typeface="Arial"/>
                        <a:buNone/>
                      </a:pPr>
                      <a:r>
                        <a:rPr lang="en-US" sz="2399" u="none" cap="none" strike="noStrike">
                          <a:solidFill>
                            <a:srgbClr val="000000"/>
                          </a:solidFill>
                          <a:latin typeface="Arial"/>
                          <a:ea typeface="Arial"/>
                          <a:cs typeface="Arial"/>
                          <a:sym typeface="Arial"/>
                        </a:rPr>
                        <a:t>Puertos dinámicos o privados (Dynamic ports)</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6"/>
                        </a:lnSpc>
                        <a:spcBef>
                          <a:spcPts val="0"/>
                        </a:spcBef>
                        <a:spcAft>
                          <a:spcPts val="0"/>
                        </a:spcAft>
                        <a:buClr>
                          <a:srgbClr val="000000"/>
                        </a:buClr>
                        <a:buSzPts val="2399"/>
                        <a:buFont typeface="Arial"/>
                        <a:buNone/>
                      </a:pPr>
                      <a:r>
                        <a:rPr lang="en-US" sz="2399" u="none" cap="none" strike="noStrike">
                          <a:solidFill>
                            <a:srgbClr val="000000"/>
                          </a:solidFill>
                          <a:latin typeface="Arial"/>
                          <a:ea typeface="Arial"/>
                          <a:cs typeface="Arial"/>
                          <a:sym typeface="Arial"/>
                        </a:rPr>
                        <a:t>Usados temporalmente por el sistema</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573" name="Google Shape;573;p31"/>
          <p:cNvSpPr txBox="1"/>
          <p:nvPr/>
        </p:nvSpPr>
        <p:spPr>
          <a:xfrm>
            <a:off x="4369846" y="1513738"/>
            <a:ext cx="9401400" cy="1145700"/>
          </a:xfrm>
          <a:prstGeom prst="rect">
            <a:avLst/>
          </a:prstGeom>
          <a:noFill/>
          <a:ln>
            <a:noFill/>
          </a:ln>
        </p:spPr>
        <p:txBody>
          <a:bodyPr anchorCtr="0" anchor="t" bIns="0" lIns="0" spcFirstLastPara="1" rIns="0" wrap="square" tIns="0">
            <a:spAutoFit/>
          </a:bodyPr>
          <a:lstStyle/>
          <a:p>
            <a:pPr indent="0" lvl="0" marL="0" marR="0" rtl="0" algn="ctr">
              <a:lnSpc>
                <a:spcPct val="109001"/>
              </a:lnSpc>
              <a:spcBef>
                <a:spcPts val="0"/>
              </a:spcBef>
              <a:spcAft>
                <a:spcPts val="0"/>
              </a:spcAft>
              <a:buClr>
                <a:srgbClr val="000000"/>
              </a:buClr>
              <a:buSzPts val="7443"/>
              <a:buFont typeface="Arial"/>
              <a:buNone/>
            </a:pPr>
            <a:r>
              <a:rPr b="1" i="0" lang="en-US" sz="7443" u="none" cap="none" strike="noStrike">
                <a:solidFill>
                  <a:srgbClr val="152540"/>
                </a:solidFill>
                <a:latin typeface="Arial"/>
                <a:ea typeface="Arial"/>
                <a:cs typeface="Arial"/>
                <a:sym typeface="Arial"/>
              </a:rPr>
              <a:t>TIPOS DE PUERTOS</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77" name="Shape 577"/>
        <p:cNvGrpSpPr/>
        <p:nvPr/>
      </p:nvGrpSpPr>
      <p:grpSpPr>
        <a:xfrm>
          <a:off x="0" y="0"/>
          <a:ext cx="0" cy="0"/>
          <a:chOff x="0" y="0"/>
          <a:chExt cx="0" cy="0"/>
        </a:xfrm>
      </p:grpSpPr>
      <p:grpSp>
        <p:nvGrpSpPr>
          <p:cNvPr id="578" name="Google Shape;578;p32"/>
          <p:cNvGrpSpPr/>
          <p:nvPr/>
        </p:nvGrpSpPr>
        <p:grpSpPr>
          <a:xfrm rot="-5400000">
            <a:off x="-2269244" y="187502"/>
            <a:ext cx="11836639" cy="9754024"/>
            <a:chOff x="0" y="-47625"/>
            <a:chExt cx="3117469" cy="2568961"/>
          </a:xfrm>
        </p:grpSpPr>
        <p:sp>
          <p:nvSpPr>
            <p:cNvPr id="579" name="Google Shape;579;p32"/>
            <p:cNvSpPr/>
            <p:nvPr/>
          </p:nvSpPr>
          <p:spPr>
            <a:xfrm>
              <a:off x="0" y="0"/>
              <a:ext cx="3117469" cy="2521336"/>
            </a:xfrm>
            <a:custGeom>
              <a:rect b="b" l="l" r="r" t="t"/>
              <a:pathLst>
                <a:path extrusionOk="0" h="2521336" w="3117469">
                  <a:moveTo>
                    <a:pt x="0" y="0"/>
                  </a:moveTo>
                  <a:lnTo>
                    <a:pt x="3117469" y="0"/>
                  </a:lnTo>
                  <a:lnTo>
                    <a:pt x="3117469" y="2521336"/>
                  </a:lnTo>
                  <a:lnTo>
                    <a:pt x="0" y="252133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0" name="Google Shape;580;p32"/>
            <p:cNvSpPr txBox="1"/>
            <p:nvPr/>
          </p:nvSpPr>
          <p:spPr>
            <a:xfrm>
              <a:off x="0" y="-47625"/>
              <a:ext cx="3117469" cy="256896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1" name="Google Shape;581;p32"/>
          <p:cNvSpPr/>
          <p:nvPr/>
        </p:nvSpPr>
        <p:spPr>
          <a:xfrm>
            <a:off x="453749" y="1537091"/>
            <a:ext cx="7481469" cy="7054847"/>
          </a:xfrm>
          <a:custGeom>
            <a:rect b="b" l="l" r="r" t="t"/>
            <a:pathLst>
              <a:path extrusionOk="0" h="1274691" w="1351774">
                <a:moveTo>
                  <a:pt x="0" y="0"/>
                </a:moveTo>
                <a:lnTo>
                  <a:pt x="1351774" y="0"/>
                </a:lnTo>
                <a:lnTo>
                  <a:pt x="1351774" y="1274691"/>
                </a:lnTo>
                <a:lnTo>
                  <a:pt x="0" y="1274691"/>
                </a:lnTo>
                <a:close/>
              </a:path>
            </a:pathLst>
          </a:custGeom>
          <a:blipFill rotWithShape="1">
            <a:blip r:embed="rId3">
              <a:alphaModFix/>
            </a:blip>
            <a:stretch>
              <a:fillRect b="0" l="-46693" r="-46693" t="0"/>
            </a:stretch>
          </a:blipFill>
          <a:ln cap="sq" cmpd="sng" w="85725">
            <a:solidFill>
              <a:srgbClr val="FFFDF7"/>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582" name="Google Shape;582;p32"/>
          <p:cNvGrpSpPr/>
          <p:nvPr/>
        </p:nvGrpSpPr>
        <p:grpSpPr>
          <a:xfrm>
            <a:off x="11828114" y="-3596759"/>
            <a:ext cx="9568435" cy="4625459"/>
            <a:chOff x="0" y="-47625"/>
            <a:chExt cx="939217" cy="454025"/>
          </a:xfrm>
        </p:grpSpPr>
        <p:sp>
          <p:nvSpPr>
            <p:cNvPr id="583" name="Google Shape;583;p32"/>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2"/>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5" name="Google Shape;585;p32"/>
          <p:cNvSpPr/>
          <p:nvPr/>
        </p:nvSpPr>
        <p:spPr>
          <a:xfrm>
            <a:off x="16283032" y="-1586869"/>
            <a:ext cx="4009935" cy="4009935"/>
          </a:xfrm>
          <a:custGeom>
            <a:rect b="b" l="l" r="r" t="t"/>
            <a:pathLst>
              <a:path extrusionOk="0" h="4009935" w="4009935">
                <a:moveTo>
                  <a:pt x="0" y="0"/>
                </a:moveTo>
                <a:lnTo>
                  <a:pt x="4009936" y="0"/>
                </a:lnTo>
                <a:lnTo>
                  <a:pt x="4009936" y="4009935"/>
                </a:lnTo>
                <a:lnTo>
                  <a:pt x="0" y="400993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586" name="Google Shape;586;p32"/>
          <p:cNvGrpSpPr/>
          <p:nvPr/>
        </p:nvGrpSpPr>
        <p:grpSpPr>
          <a:xfrm>
            <a:off x="13575832" y="625185"/>
            <a:ext cx="959812" cy="959812"/>
            <a:chOff x="0" y="0"/>
            <a:chExt cx="812800" cy="812800"/>
          </a:xfrm>
        </p:grpSpPr>
        <p:sp>
          <p:nvSpPr>
            <p:cNvPr id="587" name="Google Shape;587;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3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9" name="Google Shape;589;p32"/>
          <p:cNvSpPr txBox="1"/>
          <p:nvPr/>
        </p:nvSpPr>
        <p:spPr>
          <a:xfrm>
            <a:off x="9112097" y="1565947"/>
            <a:ext cx="5669933" cy="1684754"/>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5428"/>
              <a:buFont typeface="Arial"/>
              <a:buNone/>
            </a:pPr>
            <a:r>
              <a:rPr b="1" i="0" lang="en-US" sz="5428" u="none" cap="none" strike="noStrike">
                <a:solidFill>
                  <a:srgbClr val="4D4C4C"/>
                </a:solidFill>
                <a:latin typeface="Arial"/>
                <a:ea typeface="Arial"/>
                <a:cs typeface="Arial"/>
                <a:sym typeface="Arial"/>
              </a:rPr>
              <a:t>ACL (ACCESS CONTROL LIST)</a:t>
            </a:r>
            <a:endParaRPr b="0" i="0" sz="1400" u="none" cap="none" strike="noStrike">
              <a:solidFill>
                <a:srgbClr val="000000"/>
              </a:solidFill>
              <a:latin typeface="Arial"/>
              <a:ea typeface="Arial"/>
              <a:cs typeface="Arial"/>
              <a:sym typeface="Arial"/>
            </a:endParaRPr>
          </a:p>
        </p:txBody>
      </p:sp>
      <p:sp>
        <p:nvSpPr>
          <p:cNvPr id="590" name="Google Shape;590;p32"/>
          <p:cNvSpPr txBox="1"/>
          <p:nvPr/>
        </p:nvSpPr>
        <p:spPr>
          <a:xfrm>
            <a:off x="9112097" y="3402279"/>
            <a:ext cx="8654521" cy="2854145"/>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Clr>
                <a:srgbClr val="000000"/>
              </a:buClr>
              <a:buSzPts val="2678"/>
              <a:buFont typeface="Arial"/>
              <a:buNone/>
            </a:pPr>
            <a:r>
              <a:rPr b="1" i="0" lang="en-US" sz="2678" u="none" cap="none" strike="noStrike">
                <a:solidFill>
                  <a:srgbClr val="4D4C4C"/>
                </a:solidFill>
                <a:latin typeface="Arial"/>
                <a:ea typeface="Arial"/>
                <a:cs typeface="Arial"/>
                <a:sym typeface="Arial"/>
              </a:rPr>
              <a:t>Una ACL es una lista de reglas que se configuran en dispositivos para controlar el tráfico de red.</a:t>
            </a:r>
            <a:endParaRPr b="0" i="0" sz="1400" u="none" cap="none" strike="noStrike">
              <a:solidFill>
                <a:srgbClr val="000000"/>
              </a:solidFill>
              <a:latin typeface="Arial"/>
              <a:ea typeface="Arial"/>
              <a:cs typeface="Arial"/>
              <a:sym typeface="Arial"/>
            </a:endParaRPr>
          </a:p>
          <a:p>
            <a:pPr indent="0" lvl="0" marL="0" marR="0" rtl="0" algn="l">
              <a:lnSpc>
                <a:spcPct val="139992"/>
              </a:lnSpc>
              <a:spcBef>
                <a:spcPts val="0"/>
              </a:spcBef>
              <a:spcAft>
                <a:spcPts val="0"/>
              </a:spcAft>
              <a:buClr>
                <a:srgbClr val="000000"/>
              </a:buClr>
              <a:buSzPts val="2678"/>
              <a:buFont typeface="Arial"/>
              <a:buNone/>
            </a:pPr>
            <a:r>
              <a:t/>
            </a:r>
            <a:endParaRPr b="1" i="0" sz="2678" u="none" cap="none" strike="noStrike">
              <a:solidFill>
                <a:srgbClr val="4D4C4C"/>
              </a:solidFill>
              <a:latin typeface="Arial"/>
              <a:ea typeface="Arial"/>
              <a:cs typeface="Arial"/>
              <a:sym typeface="Arial"/>
            </a:endParaRPr>
          </a:p>
          <a:p>
            <a:pPr indent="0" lvl="0" marL="0" marR="0" rtl="0" algn="l">
              <a:lnSpc>
                <a:spcPct val="139992"/>
              </a:lnSpc>
              <a:spcBef>
                <a:spcPts val="0"/>
              </a:spcBef>
              <a:spcAft>
                <a:spcPts val="0"/>
              </a:spcAft>
              <a:buClr>
                <a:srgbClr val="000000"/>
              </a:buClr>
              <a:buSzPts val="2678"/>
              <a:buFont typeface="Arial"/>
              <a:buNone/>
            </a:pPr>
            <a:r>
              <a:rPr b="1" i="0" lang="en-US" sz="2678" u="none" cap="none" strike="noStrike">
                <a:solidFill>
                  <a:srgbClr val="4D4C4C"/>
                </a:solidFill>
                <a:latin typeface="Arial"/>
                <a:ea typeface="Arial"/>
                <a:cs typeface="Arial"/>
                <a:sym typeface="Arial"/>
              </a:rPr>
              <a:t>Permite o deniega el paso de paquetes según criterios como:</a:t>
            </a:r>
            <a:endParaRPr b="0" i="0" sz="1400" u="none" cap="none" strike="noStrike">
              <a:solidFill>
                <a:srgbClr val="000000"/>
              </a:solidFill>
              <a:latin typeface="Arial"/>
              <a:ea typeface="Arial"/>
              <a:cs typeface="Arial"/>
              <a:sym typeface="Arial"/>
            </a:endParaRPr>
          </a:p>
        </p:txBody>
      </p:sp>
      <p:sp>
        <p:nvSpPr>
          <p:cNvPr id="591" name="Google Shape;591;p32"/>
          <p:cNvSpPr txBox="1"/>
          <p:nvPr/>
        </p:nvSpPr>
        <p:spPr>
          <a:xfrm>
            <a:off x="9930715" y="6729345"/>
            <a:ext cx="6786587" cy="2139631"/>
          </a:xfrm>
          <a:prstGeom prst="rect">
            <a:avLst/>
          </a:prstGeom>
          <a:noFill/>
          <a:ln>
            <a:noFill/>
          </a:ln>
        </p:spPr>
        <p:txBody>
          <a:bodyPr anchorCtr="0" anchor="t" bIns="0" lIns="0" spcFirstLastPara="1" rIns="0" wrap="square" tIns="0">
            <a:spAutoFit/>
          </a:bodyPr>
          <a:lstStyle/>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Dirección IP origen o destino</a:t>
            </a:r>
            <a:endParaRPr b="0" i="0" sz="1400" u="none" cap="none" strike="noStrike">
              <a:solidFill>
                <a:srgbClr val="000000"/>
              </a:solidFill>
              <a:latin typeface="Arial"/>
              <a:ea typeface="Arial"/>
              <a:cs typeface="Arial"/>
              <a:sym typeface="Arial"/>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Protocolo (TCP, UDP, ICMP, etc.)</a:t>
            </a:r>
            <a:endParaRPr b="0" i="0" sz="1400" u="none" cap="none" strike="noStrike">
              <a:solidFill>
                <a:srgbClr val="000000"/>
              </a:solidFill>
              <a:latin typeface="Arial"/>
              <a:ea typeface="Arial"/>
              <a:cs typeface="Arial"/>
              <a:sym typeface="Arial"/>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Puerto (ej. 80 para HTTP, 443 para HTTPS)</a:t>
            </a:r>
            <a:endParaRPr b="0" i="0" sz="1400" u="none" cap="none" strike="noStrike">
              <a:solidFill>
                <a:srgbClr val="000000"/>
              </a:solidFill>
              <a:latin typeface="Arial"/>
              <a:ea typeface="Arial"/>
              <a:cs typeface="Arial"/>
              <a:sym typeface="Arial"/>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Red específica</a:t>
            </a:r>
            <a:endParaRPr b="0" i="0" sz="1400" u="none" cap="none" strike="noStrike">
              <a:solidFill>
                <a:srgbClr val="000000"/>
              </a:solidFill>
              <a:latin typeface="Arial"/>
              <a:ea typeface="Arial"/>
              <a:cs typeface="Arial"/>
              <a:sym typeface="Arial"/>
            </a:endParaRPr>
          </a:p>
          <a:p>
            <a:pPr indent="-261938" lvl="1" marL="523876" marR="0" rtl="0" algn="l">
              <a:lnSpc>
                <a:spcPct val="140024"/>
              </a:lnSpc>
              <a:spcBef>
                <a:spcPts val="0"/>
              </a:spcBef>
              <a:spcAft>
                <a:spcPts val="0"/>
              </a:spcAft>
              <a:buClr>
                <a:srgbClr val="4D4C4C"/>
              </a:buClr>
              <a:buSzPts val="2426"/>
              <a:buFont typeface="Arial"/>
              <a:buChar char="•"/>
            </a:pPr>
            <a:r>
              <a:rPr b="1" i="0" lang="en-US" sz="2426" u="none" cap="none" strike="noStrike">
                <a:solidFill>
                  <a:srgbClr val="4D4C4C"/>
                </a:solidFill>
                <a:latin typeface="Arial"/>
                <a:ea typeface="Arial"/>
                <a:cs typeface="Arial"/>
                <a:sym typeface="Arial"/>
              </a:rPr>
              <a:t>Interfaz (entrada o salida)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595" name="Shape 595"/>
        <p:cNvGrpSpPr/>
        <p:nvPr/>
      </p:nvGrpSpPr>
      <p:grpSpPr>
        <a:xfrm>
          <a:off x="0" y="0"/>
          <a:ext cx="0" cy="0"/>
          <a:chOff x="0" y="0"/>
          <a:chExt cx="0" cy="0"/>
        </a:xfrm>
      </p:grpSpPr>
      <p:sp>
        <p:nvSpPr>
          <p:cNvPr id="596" name="Google Shape;596;p33"/>
          <p:cNvSpPr txBox="1"/>
          <p:nvPr/>
        </p:nvSpPr>
        <p:spPr>
          <a:xfrm>
            <a:off x="4273103" y="693678"/>
            <a:ext cx="8542200" cy="15423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10019"/>
              <a:buFont typeface="Arial"/>
              <a:buNone/>
            </a:pPr>
            <a:r>
              <a:rPr b="1" i="0" lang="en-US" sz="10019" u="none" cap="none" strike="noStrike">
                <a:solidFill>
                  <a:srgbClr val="152540"/>
                </a:solidFill>
                <a:latin typeface="Arial"/>
                <a:ea typeface="Arial"/>
                <a:cs typeface="Arial"/>
                <a:sym typeface="Arial"/>
              </a:rPr>
              <a:t>Tipos de ACL</a:t>
            </a:r>
            <a:endParaRPr b="0" i="0" sz="900" u="none" cap="none" strike="noStrike">
              <a:solidFill>
                <a:srgbClr val="000000"/>
              </a:solidFill>
              <a:latin typeface="Arial"/>
              <a:ea typeface="Arial"/>
              <a:cs typeface="Arial"/>
              <a:sym typeface="Arial"/>
            </a:endParaRPr>
          </a:p>
        </p:txBody>
      </p:sp>
      <p:grpSp>
        <p:nvGrpSpPr>
          <p:cNvPr id="597" name="Google Shape;597;p33"/>
          <p:cNvGrpSpPr/>
          <p:nvPr/>
        </p:nvGrpSpPr>
        <p:grpSpPr>
          <a:xfrm>
            <a:off x="879387" y="2646483"/>
            <a:ext cx="1098480" cy="1098480"/>
            <a:chOff x="0" y="0"/>
            <a:chExt cx="812800" cy="812800"/>
          </a:xfrm>
        </p:grpSpPr>
        <p:sp>
          <p:nvSpPr>
            <p:cNvPr id="598" name="Google Shape;598;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0" name="Google Shape;600;p33"/>
          <p:cNvSpPr/>
          <p:nvPr/>
        </p:nvSpPr>
        <p:spPr>
          <a:xfrm>
            <a:off x="-1698802" y="5514834"/>
            <a:ext cx="3397604" cy="3397604"/>
          </a:xfrm>
          <a:custGeom>
            <a:rect b="b" l="l" r="r" t="t"/>
            <a:pathLst>
              <a:path extrusionOk="0" h="3397604" w="3397604">
                <a:moveTo>
                  <a:pt x="0" y="0"/>
                </a:moveTo>
                <a:lnTo>
                  <a:pt x="3397604" y="0"/>
                </a:lnTo>
                <a:lnTo>
                  <a:pt x="3397604" y="3397603"/>
                </a:lnTo>
                <a:lnTo>
                  <a:pt x="0" y="33976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601" name="Google Shape;601;p33"/>
          <p:cNvGrpSpPr/>
          <p:nvPr/>
        </p:nvGrpSpPr>
        <p:grpSpPr>
          <a:xfrm rot="10800000">
            <a:off x="13986999" y="-2149600"/>
            <a:ext cx="6316248" cy="3550757"/>
            <a:chOff x="0" y="-47625"/>
            <a:chExt cx="807640" cy="454025"/>
          </a:xfrm>
        </p:grpSpPr>
        <p:sp>
          <p:nvSpPr>
            <p:cNvPr id="602" name="Google Shape;602;p33"/>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33"/>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4" name="Google Shape;604;p33"/>
          <p:cNvGrpSpPr/>
          <p:nvPr/>
        </p:nvGrpSpPr>
        <p:grpSpPr>
          <a:xfrm>
            <a:off x="17259300" y="-746671"/>
            <a:ext cx="15452459" cy="12017010"/>
            <a:chOff x="0" y="-47625"/>
            <a:chExt cx="4069783" cy="3164974"/>
          </a:xfrm>
        </p:grpSpPr>
        <p:sp>
          <p:nvSpPr>
            <p:cNvPr id="605" name="Google Shape;605;p33"/>
            <p:cNvSpPr/>
            <p:nvPr/>
          </p:nvSpPr>
          <p:spPr>
            <a:xfrm>
              <a:off x="0" y="0"/>
              <a:ext cx="4069783" cy="3117349"/>
            </a:xfrm>
            <a:custGeom>
              <a:rect b="b" l="l" r="r" t="t"/>
              <a:pathLst>
                <a:path extrusionOk="0" h="3117349" w="4069783">
                  <a:moveTo>
                    <a:pt x="0" y="0"/>
                  </a:moveTo>
                  <a:lnTo>
                    <a:pt x="4069783" y="0"/>
                  </a:lnTo>
                  <a:lnTo>
                    <a:pt x="4069783" y="3117349"/>
                  </a:lnTo>
                  <a:lnTo>
                    <a:pt x="0" y="3117349"/>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6" name="Google Shape;606;p33"/>
            <p:cNvSpPr txBox="1"/>
            <p:nvPr/>
          </p:nvSpPr>
          <p:spPr>
            <a:xfrm>
              <a:off x="0" y="-47625"/>
              <a:ext cx="4069782" cy="316497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607" name="Google Shape;607;p33"/>
          <p:cNvGraphicFramePr/>
          <p:nvPr/>
        </p:nvGraphicFramePr>
        <p:xfrm>
          <a:off x="3237040" y="3142795"/>
          <a:ext cx="3000000" cy="3000000"/>
        </p:xfrm>
        <a:graphic>
          <a:graphicData uri="http://schemas.openxmlformats.org/drawingml/2006/table">
            <a:tbl>
              <a:tblPr>
                <a:noFill/>
                <a:tableStyleId>{A82F5AA0-886F-4AD3-B54A-C191DF9C00A1}</a:tableStyleId>
              </a:tblPr>
              <a:tblGrid>
                <a:gridCol w="5307125"/>
                <a:gridCol w="5307125"/>
              </a:tblGrid>
              <a:tr h="1188725">
                <a:tc>
                  <a:txBody>
                    <a:bodyPr/>
                    <a:lstStyle/>
                    <a:p>
                      <a:pPr indent="0" lvl="0" marL="0" marR="0" rtl="0" algn="ctr">
                        <a:lnSpc>
                          <a:spcPct val="140017"/>
                        </a:lnSpc>
                        <a:spcBef>
                          <a:spcPts val="0"/>
                        </a:spcBef>
                        <a:spcAft>
                          <a:spcPts val="0"/>
                        </a:spcAft>
                        <a:buClr>
                          <a:srgbClr val="000000"/>
                        </a:buClr>
                        <a:buSzPts val="2299"/>
                        <a:buFont typeface="Arial"/>
                        <a:buNone/>
                      </a:pPr>
                      <a:r>
                        <a:rPr b="1" lang="en-US" sz="2299" u="none" cap="none" strike="noStrike">
                          <a:solidFill>
                            <a:srgbClr val="000000"/>
                          </a:solidFill>
                          <a:latin typeface="Arial"/>
                          <a:ea typeface="Arial"/>
                          <a:cs typeface="Arial"/>
                          <a:sym typeface="Arial"/>
                        </a:rPr>
                        <a:t>Tipo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D2D2D2"/>
                    </a:solidFill>
                  </a:tcPr>
                </a:tc>
                <a:tc>
                  <a:txBody>
                    <a:bodyPr/>
                    <a:lstStyle/>
                    <a:p>
                      <a:pPr indent="0" lvl="0" marL="0" marR="0" rtl="0" algn="ctr">
                        <a:lnSpc>
                          <a:spcPct val="140017"/>
                        </a:lnSpc>
                        <a:spcBef>
                          <a:spcPts val="0"/>
                        </a:spcBef>
                        <a:spcAft>
                          <a:spcPts val="0"/>
                        </a:spcAft>
                        <a:buClr>
                          <a:srgbClr val="000000"/>
                        </a:buClr>
                        <a:buSzPts val="2299"/>
                        <a:buFont typeface="Arial"/>
                        <a:buNone/>
                      </a:pPr>
                      <a:r>
                        <a:rPr b="1" lang="en-US" sz="2299" u="none" cap="none" strike="noStrike">
                          <a:solidFill>
                            <a:srgbClr val="000000"/>
                          </a:solidFill>
                          <a:latin typeface="Arial"/>
                          <a:ea typeface="Arial"/>
                          <a:cs typeface="Arial"/>
                          <a:sym typeface="Arial"/>
                        </a:rPr>
                        <a:t>Características principales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D2D2D2"/>
                    </a:solidFill>
                  </a:tcPr>
                </a:tc>
              </a:tr>
              <a:tr h="1188725">
                <a:tc>
                  <a:txBody>
                    <a:bodyPr/>
                    <a:lstStyle/>
                    <a:p>
                      <a:pPr indent="0" lvl="0" marL="0" marR="0" rtl="0" algn="ctr">
                        <a:lnSpc>
                          <a:spcPct val="140017"/>
                        </a:lnSpc>
                        <a:spcBef>
                          <a:spcPts val="0"/>
                        </a:spcBef>
                        <a:spcAft>
                          <a:spcPts val="0"/>
                        </a:spcAft>
                        <a:buClr>
                          <a:srgbClr val="000000"/>
                        </a:buClr>
                        <a:buSzPts val="2299"/>
                        <a:buFont typeface="Arial"/>
                        <a:buNone/>
                      </a:pPr>
                      <a:r>
                        <a:rPr b="1" lang="en-US" sz="2299" u="none" cap="none" strike="noStrike">
                          <a:solidFill>
                            <a:srgbClr val="000000"/>
                          </a:solidFill>
                          <a:latin typeface="Arial"/>
                          <a:ea typeface="Arial"/>
                          <a:cs typeface="Arial"/>
                          <a:sym typeface="Arial"/>
                        </a:rPr>
                        <a:t>ACL Estándar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Clr>
                          <a:srgbClr val="000000"/>
                        </a:buClr>
                        <a:buSzPts val="2299"/>
                        <a:buFont typeface="Arial"/>
                        <a:buNone/>
                      </a:pPr>
                      <a:r>
                        <a:rPr lang="en-US" sz="2299" u="none" cap="none" strike="noStrike">
                          <a:solidFill>
                            <a:srgbClr val="000000"/>
                          </a:solidFill>
                          <a:latin typeface="Arial"/>
                          <a:ea typeface="Arial"/>
                          <a:cs typeface="Arial"/>
                          <a:sym typeface="Arial"/>
                        </a:rPr>
                        <a:t>Filtra solo por dirección IP origen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246025">
                <a:tc>
                  <a:txBody>
                    <a:bodyPr/>
                    <a:lstStyle/>
                    <a:p>
                      <a:pPr indent="0" lvl="0" marL="0" marR="0" rtl="0" algn="ctr">
                        <a:lnSpc>
                          <a:spcPct val="140017"/>
                        </a:lnSpc>
                        <a:spcBef>
                          <a:spcPts val="0"/>
                        </a:spcBef>
                        <a:spcAft>
                          <a:spcPts val="0"/>
                        </a:spcAft>
                        <a:buClr>
                          <a:srgbClr val="000000"/>
                        </a:buClr>
                        <a:buSzPts val="2299"/>
                        <a:buFont typeface="Arial"/>
                        <a:buNone/>
                      </a:pPr>
                      <a:r>
                        <a:rPr b="1" lang="en-US" sz="2299" u="none" cap="none" strike="noStrike">
                          <a:solidFill>
                            <a:srgbClr val="000000"/>
                          </a:solidFill>
                          <a:latin typeface="Arial"/>
                          <a:ea typeface="Arial"/>
                          <a:cs typeface="Arial"/>
                          <a:sym typeface="Arial"/>
                        </a:rPr>
                        <a:t>ACL Extendida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Clr>
                          <a:srgbClr val="000000"/>
                        </a:buClr>
                        <a:buSzPts val="2299"/>
                        <a:buFont typeface="Arial"/>
                        <a:buNone/>
                      </a:pPr>
                      <a:r>
                        <a:rPr lang="en-US" sz="2299" u="none" cap="none" strike="noStrike">
                          <a:solidFill>
                            <a:srgbClr val="000000"/>
                          </a:solidFill>
                          <a:latin typeface="Arial"/>
                          <a:ea typeface="Arial"/>
                          <a:cs typeface="Arial"/>
                          <a:sym typeface="Arial"/>
                        </a:rPr>
                        <a:t>Filtra por IP origen y destino, protocolo, puerto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246025">
                <a:tc>
                  <a:txBody>
                    <a:bodyPr/>
                    <a:lstStyle/>
                    <a:p>
                      <a:pPr indent="0" lvl="0" marL="0" marR="0" rtl="0" algn="ctr">
                        <a:lnSpc>
                          <a:spcPct val="140017"/>
                        </a:lnSpc>
                        <a:spcBef>
                          <a:spcPts val="0"/>
                        </a:spcBef>
                        <a:spcAft>
                          <a:spcPts val="0"/>
                        </a:spcAft>
                        <a:buClr>
                          <a:srgbClr val="000000"/>
                        </a:buClr>
                        <a:buSzPts val="2299"/>
                        <a:buFont typeface="Arial"/>
                        <a:buNone/>
                      </a:pPr>
                      <a:r>
                        <a:rPr b="1" lang="en-US" sz="2299" u="none" cap="none" strike="noStrike">
                          <a:solidFill>
                            <a:srgbClr val="000000"/>
                          </a:solidFill>
                          <a:latin typeface="Arial"/>
                          <a:ea typeface="Arial"/>
                          <a:cs typeface="Arial"/>
                          <a:sym typeface="Arial"/>
                        </a:rPr>
                        <a:t>ACL Nombrada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Clr>
                          <a:srgbClr val="000000"/>
                        </a:buClr>
                        <a:buSzPts val="2299"/>
                        <a:buFont typeface="Arial"/>
                        <a:buNone/>
                      </a:pPr>
                      <a:r>
                        <a:rPr lang="en-US" sz="2299" u="none" cap="none" strike="noStrike">
                          <a:solidFill>
                            <a:srgbClr val="000000"/>
                          </a:solidFill>
                          <a:latin typeface="Arial"/>
                          <a:ea typeface="Arial"/>
                          <a:cs typeface="Arial"/>
                          <a:sym typeface="Arial"/>
                        </a:rPr>
                        <a:t>ACLs que usan nombres en lugar de números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246025">
                <a:tc>
                  <a:txBody>
                    <a:bodyPr/>
                    <a:lstStyle/>
                    <a:p>
                      <a:pPr indent="0" lvl="0" marL="0" marR="0" rtl="0" algn="ctr">
                        <a:lnSpc>
                          <a:spcPct val="140017"/>
                        </a:lnSpc>
                        <a:spcBef>
                          <a:spcPts val="0"/>
                        </a:spcBef>
                        <a:spcAft>
                          <a:spcPts val="0"/>
                        </a:spcAft>
                        <a:buClr>
                          <a:srgbClr val="000000"/>
                        </a:buClr>
                        <a:buSzPts val="2299"/>
                        <a:buFont typeface="Arial"/>
                        <a:buNone/>
                      </a:pPr>
                      <a:r>
                        <a:rPr b="1" lang="en-US" sz="2299" u="none" cap="none" strike="noStrike">
                          <a:solidFill>
                            <a:srgbClr val="000000"/>
                          </a:solidFill>
                          <a:latin typeface="Arial"/>
                          <a:ea typeface="Arial"/>
                          <a:cs typeface="Arial"/>
                          <a:sym typeface="Arial"/>
                        </a:rPr>
                        <a:t>ACL por MAC (en switches)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17"/>
                        </a:lnSpc>
                        <a:spcBef>
                          <a:spcPts val="0"/>
                        </a:spcBef>
                        <a:spcAft>
                          <a:spcPts val="0"/>
                        </a:spcAft>
                        <a:buClr>
                          <a:srgbClr val="000000"/>
                        </a:buClr>
                        <a:buSzPts val="2299"/>
                        <a:buFont typeface="Arial"/>
                        <a:buNone/>
                      </a:pPr>
                      <a:r>
                        <a:rPr lang="en-US" sz="2299" u="none" cap="none" strike="noStrike">
                          <a:solidFill>
                            <a:srgbClr val="000000"/>
                          </a:solidFill>
                          <a:latin typeface="Arial"/>
                          <a:ea typeface="Arial"/>
                          <a:cs typeface="Arial"/>
                          <a:sym typeface="Arial"/>
                        </a:rPr>
                        <a:t>Filtra por dirección MAC, usada en switches de capa 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11" name="Shape 611"/>
        <p:cNvGrpSpPr/>
        <p:nvPr/>
      </p:nvGrpSpPr>
      <p:grpSpPr>
        <a:xfrm>
          <a:off x="0" y="0"/>
          <a:ext cx="0" cy="0"/>
          <a:chOff x="0" y="0"/>
          <a:chExt cx="0" cy="0"/>
        </a:xfrm>
      </p:grpSpPr>
      <p:sp>
        <p:nvSpPr>
          <p:cNvPr id="612" name="Google Shape;612;p34"/>
          <p:cNvSpPr txBox="1"/>
          <p:nvPr/>
        </p:nvSpPr>
        <p:spPr>
          <a:xfrm>
            <a:off x="2808267" y="809625"/>
            <a:ext cx="9616059" cy="108446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710"/>
              <a:buFont typeface="Arial"/>
              <a:buNone/>
            </a:pPr>
            <a:r>
              <a:rPr b="1" i="0" lang="en-US" sz="5710" u="none" cap="none" strike="noStrike">
                <a:solidFill>
                  <a:srgbClr val="4D4C4C"/>
                </a:solidFill>
                <a:latin typeface="Arial"/>
                <a:ea typeface="Arial"/>
                <a:cs typeface="Arial"/>
                <a:sym typeface="Arial"/>
              </a:rPr>
              <a:t>¿Cómo funciona una ACL?</a:t>
            </a:r>
            <a:endParaRPr b="0" i="0" sz="1400" u="none" cap="none" strike="noStrike">
              <a:solidFill>
                <a:srgbClr val="000000"/>
              </a:solidFill>
              <a:latin typeface="Arial"/>
              <a:ea typeface="Arial"/>
              <a:cs typeface="Arial"/>
              <a:sym typeface="Arial"/>
            </a:endParaRPr>
          </a:p>
        </p:txBody>
      </p:sp>
      <p:grpSp>
        <p:nvGrpSpPr>
          <p:cNvPr id="613" name="Google Shape;613;p34"/>
          <p:cNvGrpSpPr/>
          <p:nvPr/>
        </p:nvGrpSpPr>
        <p:grpSpPr>
          <a:xfrm>
            <a:off x="879387" y="2646483"/>
            <a:ext cx="1098480" cy="1098480"/>
            <a:chOff x="0" y="0"/>
            <a:chExt cx="812800" cy="812800"/>
          </a:xfrm>
        </p:grpSpPr>
        <p:sp>
          <p:nvSpPr>
            <p:cNvPr id="614" name="Google Shape;614;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3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6" name="Google Shape;616;p34"/>
          <p:cNvSpPr/>
          <p:nvPr/>
        </p:nvSpPr>
        <p:spPr>
          <a:xfrm>
            <a:off x="-1698802" y="5514834"/>
            <a:ext cx="3397604" cy="3397604"/>
          </a:xfrm>
          <a:custGeom>
            <a:rect b="b" l="l" r="r" t="t"/>
            <a:pathLst>
              <a:path extrusionOk="0" h="3397604" w="3397604">
                <a:moveTo>
                  <a:pt x="0" y="0"/>
                </a:moveTo>
                <a:lnTo>
                  <a:pt x="3397604" y="0"/>
                </a:lnTo>
                <a:lnTo>
                  <a:pt x="3397604" y="3397603"/>
                </a:lnTo>
                <a:lnTo>
                  <a:pt x="0" y="33976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617" name="Google Shape;617;p34"/>
          <p:cNvGrpSpPr/>
          <p:nvPr/>
        </p:nvGrpSpPr>
        <p:grpSpPr>
          <a:xfrm rot="10800000">
            <a:off x="13986999" y="-2149600"/>
            <a:ext cx="6316248" cy="3550757"/>
            <a:chOff x="0" y="-47625"/>
            <a:chExt cx="807640" cy="454025"/>
          </a:xfrm>
        </p:grpSpPr>
        <p:sp>
          <p:nvSpPr>
            <p:cNvPr id="618" name="Google Shape;618;p34"/>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34"/>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0" name="Google Shape;620;p34"/>
          <p:cNvGrpSpPr/>
          <p:nvPr/>
        </p:nvGrpSpPr>
        <p:grpSpPr>
          <a:xfrm>
            <a:off x="17259300" y="-746671"/>
            <a:ext cx="15452459" cy="12017010"/>
            <a:chOff x="0" y="-47625"/>
            <a:chExt cx="4069783" cy="3164974"/>
          </a:xfrm>
        </p:grpSpPr>
        <p:sp>
          <p:nvSpPr>
            <p:cNvPr id="621" name="Google Shape;621;p34"/>
            <p:cNvSpPr/>
            <p:nvPr/>
          </p:nvSpPr>
          <p:spPr>
            <a:xfrm>
              <a:off x="0" y="0"/>
              <a:ext cx="4069783" cy="3117349"/>
            </a:xfrm>
            <a:custGeom>
              <a:rect b="b" l="l" r="r" t="t"/>
              <a:pathLst>
                <a:path extrusionOk="0" h="3117349" w="4069783">
                  <a:moveTo>
                    <a:pt x="0" y="0"/>
                  </a:moveTo>
                  <a:lnTo>
                    <a:pt x="4069783" y="0"/>
                  </a:lnTo>
                  <a:lnTo>
                    <a:pt x="4069783" y="3117349"/>
                  </a:lnTo>
                  <a:lnTo>
                    <a:pt x="0" y="3117349"/>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2" name="Google Shape;622;p34"/>
            <p:cNvSpPr txBox="1"/>
            <p:nvPr/>
          </p:nvSpPr>
          <p:spPr>
            <a:xfrm>
              <a:off x="0" y="-47625"/>
              <a:ext cx="4069782" cy="316497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3" name="Google Shape;623;p34"/>
          <p:cNvSpPr txBox="1"/>
          <p:nvPr/>
        </p:nvSpPr>
        <p:spPr>
          <a:xfrm>
            <a:off x="2593900" y="2079005"/>
            <a:ext cx="12676241" cy="2808580"/>
          </a:xfrm>
          <a:prstGeom prst="rect">
            <a:avLst/>
          </a:prstGeom>
          <a:noFill/>
          <a:ln>
            <a:noFill/>
          </a:ln>
        </p:spPr>
        <p:txBody>
          <a:bodyPr anchorCtr="0" anchor="t" bIns="0" lIns="0" spcFirstLastPara="1" rIns="0" wrap="square" tIns="0">
            <a:spAutoFit/>
          </a:bodyPr>
          <a:lstStyle/>
          <a:p>
            <a:pPr indent="-278076" lvl="1" marL="556152" marR="0" rtl="0" algn="l">
              <a:lnSpc>
                <a:spcPct val="140038"/>
              </a:lnSpc>
              <a:spcBef>
                <a:spcPts val="0"/>
              </a:spcBef>
              <a:spcAft>
                <a:spcPts val="0"/>
              </a:spcAft>
              <a:buClr>
                <a:srgbClr val="4D4C4C"/>
              </a:buClr>
              <a:buSzPts val="2575"/>
              <a:buFont typeface="Arial"/>
              <a:buChar char="•"/>
            </a:pPr>
            <a:r>
              <a:rPr b="1" i="0" lang="en-US" sz="2575" u="none" cap="none" strike="noStrike">
                <a:solidFill>
                  <a:srgbClr val="4D4C4C"/>
                </a:solidFill>
                <a:latin typeface="Arial"/>
                <a:ea typeface="Arial"/>
                <a:cs typeface="Arial"/>
                <a:sym typeface="Arial"/>
              </a:rPr>
              <a:t>Se evalúan las reglas en orden (de arriba hacia abajo).</a:t>
            </a:r>
            <a:endParaRPr b="0" i="0" sz="1400" u="none" cap="none" strike="noStrike">
              <a:solidFill>
                <a:srgbClr val="000000"/>
              </a:solidFill>
              <a:latin typeface="Arial"/>
              <a:ea typeface="Arial"/>
              <a:cs typeface="Arial"/>
              <a:sym typeface="Arial"/>
            </a:endParaRPr>
          </a:p>
          <a:p>
            <a:pPr indent="0" lvl="0" marL="0" marR="0" rtl="0" algn="l">
              <a:lnSpc>
                <a:spcPct val="140038"/>
              </a:lnSpc>
              <a:spcBef>
                <a:spcPts val="0"/>
              </a:spcBef>
              <a:spcAft>
                <a:spcPts val="0"/>
              </a:spcAft>
              <a:buClr>
                <a:srgbClr val="000000"/>
              </a:buClr>
              <a:buSzPts val="2575"/>
              <a:buFont typeface="Arial"/>
              <a:buNone/>
            </a:pPr>
            <a:r>
              <a:t/>
            </a:r>
            <a:endParaRPr b="1" i="0" sz="2575" u="none" cap="none" strike="noStrike">
              <a:solidFill>
                <a:srgbClr val="4D4C4C"/>
              </a:solidFill>
              <a:latin typeface="Arial"/>
              <a:ea typeface="Arial"/>
              <a:cs typeface="Arial"/>
              <a:sym typeface="Arial"/>
            </a:endParaRPr>
          </a:p>
          <a:p>
            <a:pPr indent="-278076" lvl="1" marL="556152" marR="0" rtl="0" algn="l">
              <a:lnSpc>
                <a:spcPct val="140038"/>
              </a:lnSpc>
              <a:spcBef>
                <a:spcPts val="0"/>
              </a:spcBef>
              <a:spcAft>
                <a:spcPts val="0"/>
              </a:spcAft>
              <a:buClr>
                <a:srgbClr val="4D4C4C"/>
              </a:buClr>
              <a:buSzPts val="2575"/>
              <a:buFont typeface="Arial"/>
              <a:buChar char="•"/>
            </a:pPr>
            <a:r>
              <a:rPr b="1" i="0" lang="en-US" sz="2575" u="none" cap="none" strike="noStrike">
                <a:solidFill>
                  <a:srgbClr val="4D4C4C"/>
                </a:solidFill>
                <a:latin typeface="Arial"/>
                <a:ea typeface="Arial"/>
                <a:cs typeface="Arial"/>
                <a:sym typeface="Arial"/>
              </a:rPr>
              <a:t>La primera coincidencia se aplica.</a:t>
            </a:r>
            <a:endParaRPr b="0" i="0" sz="1400" u="none" cap="none" strike="noStrike">
              <a:solidFill>
                <a:srgbClr val="000000"/>
              </a:solidFill>
              <a:latin typeface="Arial"/>
              <a:ea typeface="Arial"/>
              <a:cs typeface="Arial"/>
              <a:sym typeface="Arial"/>
            </a:endParaRPr>
          </a:p>
          <a:p>
            <a:pPr indent="0" lvl="0" marL="0" marR="0" rtl="0" algn="l">
              <a:lnSpc>
                <a:spcPct val="140038"/>
              </a:lnSpc>
              <a:spcBef>
                <a:spcPts val="0"/>
              </a:spcBef>
              <a:spcAft>
                <a:spcPts val="0"/>
              </a:spcAft>
              <a:buClr>
                <a:srgbClr val="000000"/>
              </a:buClr>
              <a:buSzPts val="2575"/>
              <a:buFont typeface="Arial"/>
              <a:buNone/>
            </a:pPr>
            <a:r>
              <a:t/>
            </a:r>
            <a:endParaRPr b="1" i="0" sz="2575" u="none" cap="none" strike="noStrike">
              <a:solidFill>
                <a:srgbClr val="4D4C4C"/>
              </a:solidFill>
              <a:latin typeface="Arial"/>
              <a:ea typeface="Arial"/>
              <a:cs typeface="Arial"/>
              <a:sym typeface="Arial"/>
            </a:endParaRPr>
          </a:p>
          <a:p>
            <a:pPr indent="-299666" lvl="1" marL="599331" marR="0" rtl="0" algn="l">
              <a:lnSpc>
                <a:spcPct val="140036"/>
              </a:lnSpc>
              <a:spcBef>
                <a:spcPts val="0"/>
              </a:spcBef>
              <a:spcAft>
                <a:spcPts val="0"/>
              </a:spcAft>
              <a:buClr>
                <a:srgbClr val="4D4C4C"/>
              </a:buClr>
              <a:buSzPts val="2775"/>
              <a:buFont typeface="Arial"/>
              <a:buChar char="•"/>
            </a:pPr>
            <a:r>
              <a:rPr b="1" i="0" lang="en-US" sz="2775" u="none" cap="none" strike="noStrike">
                <a:solidFill>
                  <a:srgbClr val="4D4C4C"/>
                </a:solidFill>
                <a:latin typeface="Arial"/>
                <a:ea typeface="Arial"/>
                <a:cs typeface="Arial"/>
                <a:sym typeface="Arial"/>
              </a:rPr>
              <a:t>Si no hay coincidencia, se aplica una regla implícita por defecto al final: deny all.</a:t>
            </a:r>
            <a:endParaRPr b="0" i="0" sz="1400" u="none" cap="none" strike="noStrike">
              <a:solidFill>
                <a:srgbClr val="000000"/>
              </a:solidFill>
              <a:latin typeface="Arial"/>
              <a:ea typeface="Arial"/>
              <a:cs typeface="Arial"/>
              <a:sym typeface="Arial"/>
            </a:endParaRPr>
          </a:p>
        </p:txBody>
      </p:sp>
      <p:sp>
        <p:nvSpPr>
          <p:cNvPr id="624" name="Google Shape;624;p34"/>
          <p:cNvSpPr txBox="1"/>
          <p:nvPr/>
        </p:nvSpPr>
        <p:spPr>
          <a:xfrm>
            <a:off x="2593900" y="5563443"/>
            <a:ext cx="6232532" cy="79564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604"/>
              <a:buFont typeface="Arial"/>
              <a:buNone/>
            </a:pPr>
            <a:r>
              <a:rPr b="1" i="0" lang="en-US" sz="4604" u="none" cap="none" strike="noStrike">
                <a:solidFill>
                  <a:srgbClr val="4D4C4C"/>
                </a:solidFill>
                <a:latin typeface="Arial"/>
                <a:ea typeface="Arial"/>
                <a:cs typeface="Arial"/>
                <a:sym typeface="Arial"/>
              </a:rPr>
              <a:t>¿Dónde se aplican?</a:t>
            </a:r>
            <a:endParaRPr b="0" i="0" sz="1400" u="none" cap="none" strike="noStrike">
              <a:solidFill>
                <a:srgbClr val="000000"/>
              </a:solidFill>
              <a:latin typeface="Arial"/>
              <a:ea typeface="Arial"/>
              <a:cs typeface="Arial"/>
              <a:sym typeface="Arial"/>
            </a:endParaRPr>
          </a:p>
        </p:txBody>
      </p:sp>
      <p:sp>
        <p:nvSpPr>
          <p:cNvPr id="625" name="Google Shape;625;p34"/>
          <p:cNvSpPr txBox="1"/>
          <p:nvPr/>
        </p:nvSpPr>
        <p:spPr>
          <a:xfrm>
            <a:off x="3004024" y="6666859"/>
            <a:ext cx="9959411" cy="1553845"/>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4D4C4C"/>
              </a:buClr>
              <a:buSzPts val="2199"/>
              <a:buFont typeface="Arial"/>
              <a:buChar char="•"/>
            </a:pPr>
            <a:r>
              <a:rPr b="1" i="0" lang="en-US" sz="2199" u="none" cap="none" strike="noStrike">
                <a:solidFill>
                  <a:srgbClr val="4D4C4C"/>
                </a:solidFill>
                <a:latin typeface="Arial"/>
                <a:ea typeface="Arial"/>
                <a:cs typeface="Arial"/>
                <a:sym typeface="Arial"/>
              </a:rPr>
              <a:t>En interfaces de router, switches o dispositivos de seguridad como los ASA</a:t>
            </a:r>
            <a:endParaRPr b="0" i="0" sz="1400" u="none" cap="none" strike="noStrike">
              <a:solidFill>
                <a:srgbClr val="000000"/>
              </a:solidFill>
              <a:latin typeface="Arial"/>
              <a:ea typeface="Arial"/>
              <a:cs typeface="Arial"/>
              <a:sym typeface="Arial"/>
            </a:endParaRPr>
          </a:p>
          <a:p>
            <a:pPr indent="-237490" lvl="1" marL="474979" marR="0" rtl="0" algn="l">
              <a:lnSpc>
                <a:spcPct val="140018"/>
              </a:lnSpc>
              <a:spcBef>
                <a:spcPts val="0"/>
              </a:spcBef>
              <a:spcAft>
                <a:spcPts val="0"/>
              </a:spcAft>
              <a:buClr>
                <a:srgbClr val="4D4C4C"/>
              </a:buClr>
              <a:buSzPts val="2199"/>
              <a:buFont typeface="Arial"/>
              <a:buChar char="•"/>
            </a:pPr>
            <a:r>
              <a:rPr b="1" i="0" lang="en-US" sz="2199" u="none" cap="none" strike="noStrike">
                <a:solidFill>
                  <a:srgbClr val="4D4C4C"/>
                </a:solidFill>
                <a:latin typeface="Arial"/>
                <a:ea typeface="Arial"/>
                <a:cs typeface="Arial"/>
                <a:sym typeface="Arial"/>
              </a:rPr>
              <a:t>En sentido de tráfico:</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1" i="0" sz="2199" u="none" cap="none" strike="noStrike">
              <a:solidFill>
                <a:srgbClr val="4D4C4C"/>
              </a:solidFill>
              <a:latin typeface="Arial"/>
              <a:ea typeface="Arial"/>
              <a:cs typeface="Arial"/>
              <a:sym typeface="Arial"/>
            </a:endParaRPr>
          </a:p>
        </p:txBody>
      </p:sp>
      <p:sp>
        <p:nvSpPr>
          <p:cNvPr id="626" name="Google Shape;626;p34"/>
          <p:cNvSpPr txBox="1"/>
          <p:nvPr/>
        </p:nvSpPr>
        <p:spPr>
          <a:xfrm>
            <a:off x="4658337" y="8031398"/>
            <a:ext cx="5915918" cy="772795"/>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199"/>
              <a:buFont typeface="Arial"/>
              <a:buNone/>
            </a:pPr>
            <a:r>
              <a:rPr b="1" i="0" lang="en-US" sz="2199" u="none" cap="none" strike="noStrike">
                <a:solidFill>
                  <a:srgbClr val="4D4C4C"/>
                </a:solidFill>
                <a:latin typeface="Arial"/>
                <a:ea typeface="Arial"/>
                <a:cs typeface="Arial"/>
                <a:sym typeface="Arial"/>
              </a:rPr>
              <a:t>in → cuando el tráfico entra por esa interfaz</a:t>
            </a:r>
            <a:endParaRPr b="0" i="0" sz="1400" u="none" cap="none" strike="noStrike">
              <a:solidFill>
                <a:srgbClr val="000000"/>
              </a:solidFill>
              <a:latin typeface="Arial"/>
              <a:ea typeface="Arial"/>
              <a:cs typeface="Arial"/>
              <a:sym typeface="Arial"/>
            </a:endParaRPr>
          </a:p>
          <a:p>
            <a:pPr indent="0" lvl="0" marL="0" marR="0" rtl="0" algn="ctr">
              <a:lnSpc>
                <a:spcPct val="140018"/>
              </a:lnSpc>
              <a:spcBef>
                <a:spcPts val="0"/>
              </a:spcBef>
              <a:spcAft>
                <a:spcPts val="0"/>
              </a:spcAft>
              <a:buClr>
                <a:srgbClr val="000000"/>
              </a:buClr>
              <a:buSzPts val="2199"/>
              <a:buFont typeface="Arial"/>
              <a:buNone/>
            </a:pPr>
            <a:r>
              <a:rPr b="1" i="0" lang="en-US" sz="2199" u="none" cap="none" strike="noStrike">
                <a:solidFill>
                  <a:srgbClr val="4D4C4C"/>
                </a:solidFill>
                <a:latin typeface="Arial"/>
                <a:ea typeface="Arial"/>
                <a:cs typeface="Arial"/>
                <a:sym typeface="Arial"/>
              </a:rPr>
              <a:t>out → cuando el tráfico sale por esa interfaz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30" name="Shape 630"/>
        <p:cNvGrpSpPr/>
        <p:nvPr/>
      </p:nvGrpSpPr>
      <p:grpSpPr>
        <a:xfrm>
          <a:off x="0" y="0"/>
          <a:ext cx="0" cy="0"/>
          <a:chOff x="0" y="0"/>
          <a:chExt cx="0" cy="0"/>
        </a:xfrm>
      </p:grpSpPr>
      <p:grpSp>
        <p:nvGrpSpPr>
          <p:cNvPr id="631" name="Google Shape;631;p35"/>
          <p:cNvGrpSpPr/>
          <p:nvPr/>
        </p:nvGrpSpPr>
        <p:grpSpPr>
          <a:xfrm rot="-5400000">
            <a:off x="6070407" y="-12258207"/>
            <a:ext cx="5966360" cy="20036644"/>
            <a:chOff x="0" y="-47625"/>
            <a:chExt cx="1571387" cy="5277141"/>
          </a:xfrm>
        </p:grpSpPr>
        <p:sp>
          <p:nvSpPr>
            <p:cNvPr id="632" name="Google Shape;632;p35"/>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3" name="Google Shape;633;p35"/>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34" name="Google Shape;634;p35"/>
          <p:cNvGrpSpPr/>
          <p:nvPr/>
        </p:nvGrpSpPr>
        <p:grpSpPr>
          <a:xfrm rot="10800000">
            <a:off x="13627384" y="-2382359"/>
            <a:ext cx="8227978" cy="4625459"/>
            <a:chOff x="0" y="-47625"/>
            <a:chExt cx="807640" cy="454025"/>
          </a:xfrm>
        </p:grpSpPr>
        <p:sp>
          <p:nvSpPr>
            <p:cNvPr id="635" name="Google Shape;635;p35"/>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35"/>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7" name="Google Shape;637;p35"/>
          <p:cNvSpPr/>
          <p:nvPr/>
        </p:nvSpPr>
        <p:spPr>
          <a:xfrm>
            <a:off x="-2368250" y="8057418"/>
            <a:ext cx="4736499" cy="4736499"/>
          </a:xfrm>
          <a:custGeom>
            <a:rect b="b" l="l" r="r" t="t"/>
            <a:pathLst>
              <a:path extrusionOk="0" h="4736499" w="4736499">
                <a:moveTo>
                  <a:pt x="0" y="0"/>
                </a:moveTo>
                <a:lnTo>
                  <a:pt x="4736500" y="0"/>
                </a:lnTo>
                <a:lnTo>
                  <a:pt x="4736500" y="4736500"/>
                </a:lnTo>
                <a:lnTo>
                  <a:pt x="0" y="47365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8" name="Google Shape;638;p35"/>
          <p:cNvSpPr/>
          <p:nvPr/>
        </p:nvSpPr>
        <p:spPr>
          <a:xfrm>
            <a:off x="1282870" y="3512625"/>
            <a:ext cx="660687" cy="661890"/>
          </a:xfrm>
          <a:custGeom>
            <a:rect b="b" l="l" r="r" t="t"/>
            <a:pathLst>
              <a:path extrusionOk="0" h="661890" w="660687">
                <a:moveTo>
                  <a:pt x="0" y="0"/>
                </a:moveTo>
                <a:lnTo>
                  <a:pt x="660687" y="0"/>
                </a:lnTo>
                <a:lnTo>
                  <a:pt x="660687" y="661890"/>
                </a:lnTo>
                <a:lnTo>
                  <a:pt x="0" y="661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639" name="Google Shape;639;p35"/>
          <p:cNvGrpSpPr/>
          <p:nvPr/>
        </p:nvGrpSpPr>
        <p:grpSpPr>
          <a:xfrm rot="10800000">
            <a:off x="15936505" y="1188018"/>
            <a:ext cx="1139788" cy="1139788"/>
            <a:chOff x="0" y="0"/>
            <a:chExt cx="812800" cy="812800"/>
          </a:xfrm>
        </p:grpSpPr>
        <p:sp>
          <p:nvSpPr>
            <p:cNvPr id="640" name="Google Shape;640;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3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2" name="Google Shape;642;p35"/>
          <p:cNvGrpSpPr/>
          <p:nvPr/>
        </p:nvGrpSpPr>
        <p:grpSpPr>
          <a:xfrm>
            <a:off x="2368250" y="3331799"/>
            <a:ext cx="7614812" cy="4511572"/>
            <a:chOff x="0" y="-47625"/>
            <a:chExt cx="2005547" cy="1188233"/>
          </a:xfrm>
        </p:grpSpPr>
        <p:sp>
          <p:nvSpPr>
            <p:cNvPr id="643" name="Google Shape;643;p35"/>
            <p:cNvSpPr/>
            <p:nvPr/>
          </p:nvSpPr>
          <p:spPr>
            <a:xfrm>
              <a:off x="0" y="0"/>
              <a:ext cx="2005547" cy="1140608"/>
            </a:xfrm>
            <a:custGeom>
              <a:rect b="b" l="l" r="r" t="t"/>
              <a:pathLst>
                <a:path extrusionOk="0" h="1140608" w="2005547">
                  <a:moveTo>
                    <a:pt x="51851" y="0"/>
                  </a:moveTo>
                  <a:lnTo>
                    <a:pt x="1953696" y="0"/>
                  </a:lnTo>
                  <a:cubicBezTo>
                    <a:pt x="1982332" y="0"/>
                    <a:pt x="2005547" y="23215"/>
                    <a:pt x="2005547" y="51851"/>
                  </a:cubicBezTo>
                  <a:lnTo>
                    <a:pt x="2005547" y="1088757"/>
                  </a:lnTo>
                  <a:cubicBezTo>
                    <a:pt x="2005547" y="1102508"/>
                    <a:pt x="2000084" y="1115697"/>
                    <a:pt x="1990360" y="1125421"/>
                  </a:cubicBezTo>
                  <a:cubicBezTo>
                    <a:pt x="1980636" y="1135145"/>
                    <a:pt x="1967448" y="1140608"/>
                    <a:pt x="1953696" y="1140608"/>
                  </a:cubicBezTo>
                  <a:lnTo>
                    <a:pt x="51851" y="1140608"/>
                  </a:lnTo>
                  <a:cubicBezTo>
                    <a:pt x="23215" y="1140608"/>
                    <a:pt x="0" y="1117393"/>
                    <a:pt x="0" y="1088757"/>
                  </a:cubicBezTo>
                  <a:lnTo>
                    <a:pt x="0" y="51851"/>
                  </a:lnTo>
                  <a:cubicBezTo>
                    <a:pt x="0" y="23215"/>
                    <a:pt x="23215" y="0"/>
                    <a:pt x="5185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35"/>
            <p:cNvSpPr txBox="1"/>
            <p:nvPr/>
          </p:nvSpPr>
          <p:spPr>
            <a:xfrm>
              <a:off x="0" y="-47625"/>
              <a:ext cx="2005547" cy="1188233"/>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5" name="Google Shape;645;p35"/>
          <p:cNvSpPr txBox="1"/>
          <p:nvPr/>
        </p:nvSpPr>
        <p:spPr>
          <a:xfrm>
            <a:off x="2459999" y="1308568"/>
            <a:ext cx="12978113" cy="1838451"/>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Clr>
                <a:srgbClr val="000000"/>
              </a:buClr>
              <a:buSzPts val="10752"/>
              <a:buFont typeface="Arial"/>
              <a:buNone/>
            </a:pPr>
            <a:r>
              <a:rPr b="0" i="0" lang="en-US" sz="10752" u="none" cap="none" strike="noStrike">
                <a:solidFill>
                  <a:srgbClr val="18072B"/>
                </a:solidFill>
                <a:latin typeface="Borel"/>
                <a:ea typeface="Borel"/>
                <a:cs typeface="Borel"/>
                <a:sym typeface="Borel"/>
              </a:rPr>
              <a:t>ACL ESTÁNDAR</a:t>
            </a:r>
            <a:endParaRPr b="0" i="0" sz="1400" u="none" cap="none" strike="noStrike">
              <a:solidFill>
                <a:srgbClr val="000000"/>
              </a:solidFill>
              <a:latin typeface="Arial"/>
              <a:ea typeface="Arial"/>
              <a:cs typeface="Arial"/>
              <a:sym typeface="Arial"/>
            </a:endParaRPr>
          </a:p>
        </p:txBody>
      </p:sp>
      <p:sp>
        <p:nvSpPr>
          <p:cNvPr id="646" name="Google Shape;646;p35"/>
          <p:cNvSpPr txBox="1"/>
          <p:nvPr/>
        </p:nvSpPr>
        <p:spPr>
          <a:xfrm>
            <a:off x="10786785" y="4505653"/>
            <a:ext cx="6642584" cy="2297066"/>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2627"/>
              <a:buFont typeface="Arial"/>
              <a:buNone/>
            </a:pPr>
            <a:r>
              <a:rPr b="1" i="0" lang="en-US" sz="2627" u="none" cap="none" strike="noStrike">
                <a:solidFill>
                  <a:srgbClr val="4D4C4C"/>
                </a:solidFill>
                <a:latin typeface="Arial"/>
                <a:ea typeface="Arial"/>
                <a:cs typeface="Arial"/>
                <a:sym typeface="Arial"/>
              </a:rPr>
              <a:t>Solo filtra por dirección IP origen.</a:t>
            </a:r>
            <a:endParaRPr b="0" i="0" sz="1400" u="none" cap="none" strike="noStrike">
              <a:solidFill>
                <a:srgbClr val="000000"/>
              </a:solidFill>
              <a:latin typeface="Arial"/>
              <a:ea typeface="Arial"/>
              <a:cs typeface="Arial"/>
              <a:sym typeface="Arial"/>
            </a:endParaRPr>
          </a:p>
          <a:p>
            <a:pPr indent="0" lvl="0" marL="0" marR="0" rtl="0" algn="l">
              <a:lnSpc>
                <a:spcPct val="140007"/>
              </a:lnSpc>
              <a:spcBef>
                <a:spcPts val="0"/>
              </a:spcBef>
              <a:spcAft>
                <a:spcPts val="0"/>
              </a:spcAft>
              <a:buClr>
                <a:srgbClr val="000000"/>
              </a:buClr>
              <a:buSzPts val="2627"/>
              <a:buFont typeface="Arial"/>
              <a:buNone/>
            </a:pPr>
            <a:r>
              <a:t/>
            </a:r>
            <a:endParaRPr b="1" i="0" sz="2627" u="none" cap="none" strike="noStrike">
              <a:solidFill>
                <a:srgbClr val="4D4C4C"/>
              </a:solidFill>
              <a:latin typeface="Arial"/>
              <a:ea typeface="Arial"/>
              <a:cs typeface="Arial"/>
              <a:sym typeface="Arial"/>
            </a:endParaRPr>
          </a:p>
          <a:p>
            <a:pPr indent="0" lvl="0" marL="0" marR="0" rtl="0" algn="l">
              <a:lnSpc>
                <a:spcPct val="140007"/>
              </a:lnSpc>
              <a:spcBef>
                <a:spcPts val="0"/>
              </a:spcBef>
              <a:spcAft>
                <a:spcPts val="0"/>
              </a:spcAft>
              <a:buClr>
                <a:srgbClr val="000000"/>
              </a:buClr>
              <a:buSzPts val="2627"/>
              <a:buFont typeface="Arial"/>
              <a:buNone/>
            </a:pPr>
            <a:r>
              <a:rPr b="1" i="0" lang="en-US" sz="2627" u="none" cap="none" strike="noStrike">
                <a:solidFill>
                  <a:srgbClr val="4D4C4C"/>
                </a:solidFill>
                <a:latin typeface="Arial"/>
                <a:ea typeface="Arial"/>
                <a:cs typeface="Arial"/>
                <a:sym typeface="Arial"/>
              </a:rPr>
              <a:t>En este ejemplo bloquea el trafico entrante de la IP 192.168.1.10, luego se permite todo lo demás.</a:t>
            </a:r>
            <a:endParaRPr b="0" i="0" sz="1400" u="none" cap="none" strike="noStrike">
              <a:solidFill>
                <a:srgbClr val="000000"/>
              </a:solidFill>
              <a:latin typeface="Arial"/>
              <a:ea typeface="Arial"/>
              <a:cs typeface="Arial"/>
              <a:sym typeface="Arial"/>
            </a:endParaRPr>
          </a:p>
        </p:txBody>
      </p:sp>
      <p:sp>
        <p:nvSpPr>
          <p:cNvPr id="647" name="Google Shape;647;p35"/>
          <p:cNvSpPr txBox="1"/>
          <p:nvPr/>
        </p:nvSpPr>
        <p:spPr>
          <a:xfrm>
            <a:off x="2742356" y="4259272"/>
            <a:ext cx="6866599" cy="2713627"/>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3039"/>
              <a:buFont typeface="Arial"/>
              <a:buNone/>
            </a:pPr>
            <a:r>
              <a:rPr b="1" i="0" lang="en-US" sz="3039" u="none" cap="none" strike="noStrike">
                <a:solidFill>
                  <a:srgbClr val="FFFFFF"/>
                </a:solidFill>
                <a:latin typeface="Consolas"/>
                <a:ea typeface="Consolas"/>
                <a:cs typeface="Consolas"/>
                <a:sym typeface="Consolas"/>
              </a:rPr>
              <a:t>access-list 1 deny 192.168.1.10</a:t>
            </a:r>
            <a:endParaRPr b="0" i="0" sz="1400" u="none" cap="none" strike="noStrike">
              <a:solidFill>
                <a:srgbClr val="000000"/>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3039"/>
              <a:buFont typeface="Arial"/>
              <a:buNone/>
            </a:pPr>
            <a:r>
              <a:rPr b="1" i="0" lang="en-US" sz="3039" u="none" cap="none" strike="noStrike">
                <a:solidFill>
                  <a:srgbClr val="FFFFFF"/>
                </a:solidFill>
                <a:latin typeface="Consolas"/>
                <a:ea typeface="Consolas"/>
                <a:cs typeface="Consolas"/>
                <a:sym typeface="Consolas"/>
              </a:rPr>
              <a:t>access-list 1 permit any</a:t>
            </a:r>
            <a:endParaRPr b="0" i="0" sz="1400" u="none" cap="none" strike="noStrike">
              <a:solidFill>
                <a:srgbClr val="000000"/>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3039"/>
              <a:buFont typeface="Arial"/>
              <a:buNone/>
            </a:pPr>
            <a:r>
              <a:t/>
            </a:r>
            <a:endParaRPr b="1" i="0" sz="3039" u="none" cap="none" strike="noStrike">
              <a:solidFill>
                <a:srgbClr val="FFFFFF"/>
              </a:solidFill>
              <a:latin typeface="Consolas"/>
              <a:ea typeface="Consolas"/>
              <a:cs typeface="Consolas"/>
              <a:sym typeface="Consolas"/>
            </a:endParaRPr>
          </a:p>
          <a:p>
            <a:pPr indent="0" lvl="0" marL="0" marR="0" rtl="0" algn="l">
              <a:lnSpc>
                <a:spcPct val="140013"/>
              </a:lnSpc>
              <a:spcBef>
                <a:spcPts val="0"/>
              </a:spcBef>
              <a:spcAft>
                <a:spcPts val="0"/>
              </a:spcAft>
              <a:buClr>
                <a:srgbClr val="000000"/>
              </a:buClr>
              <a:buSzPts val="3039"/>
              <a:buFont typeface="Arial"/>
              <a:buNone/>
            </a:pPr>
            <a:r>
              <a:rPr b="1" i="0" lang="en-US" sz="3039" u="none" cap="none" strike="noStrike">
                <a:solidFill>
                  <a:srgbClr val="FFFFFF"/>
                </a:solidFill>
                <a:latin typeface="Consolas"/>
                <a:ea typeface="Consolas"/>
                <a:cs typeface="Consolas"/>
                <a:sym typeface="Consolas"/>
              </a:rPr>
              <a:t>interface fastethernet0/0</a:t>
            </a:r>
            <a:endParaRPr b="0" i="0" sz="1400" u="none" cap="none" strike="noStrike">
              <a:solidFill>
                <a:srgbClr val="000000"/>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3039"/>
              <a:buFont typeface="Arial"/>
              <a:buNone/>
            </a:pPr>
            <a:r>
              <a:rPr b="1" i="0" lang="en-US" sz="3039" u="none" cap="none" strike="noStrike">
                <a:solidFill>
                  <a:srgbClr val="FFFFFF"/>
                </a:solidFill>
                <a:latin typeface="Consolas"/>
                <a:ea typeface="Consolas"/>
                <a:cs typeface="Consolas"/>
                <a:sym typeface="Consolas"/>
              </a:rPr>
              <a:t>ip access-group 1 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51" name="Shape 651"/>
        <p:cNvGrpSpPr/>
        <p:nvPr/>
      </p:nvGrpSpPr>
      <p:grpSpPr>
        <a:xfrm>
          <a:off x="0" y="0"/>
          <a:ext cx="0" cy="0"/>
          <a:chOff x="0" y="0"/>
          <a:chExt cx="0" cy="0"/>
        </a:xfrm>
      </p:grpSpPr>
      <p:grpSp>
        <p:nvGrpSpPr>
          <p:cNvPr id="652" name="Google Shape;652;p36"/>
          <p:cNvGrpSpPr/>
          <p:nvPr/>
        </p:nvGrpSpPr>
        <p:grpSpPr>
          <a:xfrm rot="-5400000">
            <a:off x="6070407" y="-12258207"/>
            <a:ext cx="5966360" cy="20036644"/>
            <a:chOff x="0" y="-47625"/>
            <a:chExt cx="1571387" cy="5277141"/>
          </a:xfrm>
        </p:grpSpPr>
        <p:sp>
          <p:nvSpPr>
            <p:cNvPr id="653" name="Google Shape;653;p36"/>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4" name="Google Shape;654;p36"/>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5" name="Google Shape;655;p36"/>
          <p:cNvGrpSpPr/>
          <p:nvPr/>
        </p:nvGrpSpPr>
        <p:grpSpPr>
          <a:xfrm rot="10800000">
            <a:off x="13627384" y="-2382359"/>
            <a:ext cx="8227978" cy="4625459"/>
            <a:chOff x="0" y="-47625"/>
            <a:chExt cx="807640" cy="454025"/>
          </a:xfrm>
        </p:grpSpPr>
        <p:sp>
          <p:nvSpPr>
            <p:cNvPr id="656" name="Google Shape;656;p36"/>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36"/>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8" name="Google Shape;658;p36"/>
          <p:cNvSpPr/>
          <p:nvPr/>
        </p:nvSpPr>
        <p:spPr>
          <a:xfrm>
            <a:off x="-2368250" y="8057418"/>
            <a:ext cx="4736499" cy="4736499"/>
          </a:xfrm>
          <a:custGeom>
            <a:rect b="b" l="l" r="r" t="t"/>
            <a:pathLst>
              <a:path extrusionOk="0" h="4736499" w="4736499">
                <a:moveTo>
                  <a:pt x="0" y="0"/>
                </a:moveTo>
                <a:lnTo>
                  <a:pt x="4736500" y="0"/>
                </a:lnTo>
                <a:lnTo>
                  <a:pt x="4736500" y="4736500"/>
                </a:lnTo>
                <a:lnTo>
                  <a:pt x="0" y="47365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9" name="Google Shape;659;p36"/>
          <p:cNvSpPr/>
          <p:nvPr/>
        </p:nvSpPr>
        <p:spPr>
          <a:xfrm>
            <a:off x="1282870" y="3512625"/>
            <a:ext cx="660687" cy="661890"/>
          </a:xfrm>
          <a:custGeom>
            <a:rect b="b" l="l" r="r" t="t"/>
            <a:pathLst>
              <a:path extrusionOk="0" h="661890" w="660687">
                <a:moveTo>
                  <a:pt x="0" y="0"/>
                </a:moveTo>
                <a:lnTo>
                  <a:pt x="660687" y="0"/>
                </a:lnTo>
                <a:lnTo>
                  <a:pt x="660687" y="661890"/>
                </a:lnTo>
                <a:lnTo>
                  <a:pt x="0" y="661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660" name="Google Shape;660;p36"/>
          <p:cNvGrpSpPr/>
          <p:nvPr/>
        </p:nvGrpSpPr>
        <p:grpSpPr>
          <a:xfrm rot="10800000">
            <a:off x="15936505" y="1188018"/>
            <a:ext cx="1139788" cy="1139788"/>
            <a:chOff x="0" y="0"/>
            <a:chExt cx="812800" cy="812800"/>
          </a:xfrm>
        </p:grpSpPr>
        <p:sp>
          <p:nvSpPr>
            <p:cNvPr id="661" name="Google Shape;661;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3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3" name="Google Shape;663;p36"/>
          <p:cNvGrpSpPr/>
          <p:nvPr/>
        </p:nvGrpSpPr>
        <p:grpSpPr>
          <a:xfrm>
            <a:off x="2368250" y="3331799"/>
            <a:ext cx="7614812" cy="4511572"/>
            <a:chOff x="0" y="-47625"/>
            <a:chExt cx="2005547" cy="1188233"/>
          </a:xfrm>
        </p:grpSpPr>
        <p:sp>
          <p:nvSpPr>
            <p:cNvPr id="664" name="Google Shape;664;p36"/>
            <p:cNvSpPr/>
            <p:nvPr/>
          </p:nvSpPr>
          <p:spPr>
            <a:xfrm>
              <a:off x="0" y="0"/>
              <a:ext cx="2005547" cy="1140608"/>
            </a:xfrm>
            <a:custGeom>
              <a:rect b="b" l="l" r="r" t="t"/>
              <a:pathLst>
                <a:path extrusionOk="0" h="1140608" w="2005547">
                  <a:moveTo>
                    <a:pt x="51851" y="0"/>
                  </a:moveTo>
                  <a:lnTo>
                    <a:pt x="1953696" y="0"/>
                  </a:lnTo>
                  <a:cubicBezTo>
                    <a:pt x="1982332" y="0"/>
                    <a:pt x="2005547" y="23215"/>
                    <a:pt x="2005547" y="51851"/>
                  </a:cubicBezTo>
                  <a:lnTo>
                    <a:pt x="2005547" y="1088757"/>
                  </a:lnTo>
                  <a:cubicBezTo>
                    <a:pt x="2005547" y="1102508"/>
                    <a:pt x="2000084" y="1115697"/>
                    <a:pt x="1990360" y="1125421"/>
                  </a:cubicBezTo>
                  <a:cubicBezTo>
                    <a:pt x="1980636" y="1135145"/>
                    <a:pt x="1967448" y="1140608"/>
                    <a:pt x="1953696" y="1140608"/>
                  </a:cubicBezTo>
                  <a:lnTo>
                    <a:pt x="51851" y="1140608"/>
                  </a:lnTo>
                  <a:cubicBezTo>
                    <a:pt x="23215" y="1140608"/>
                    <a:pt x="0" y="1117393"/>
                    <a:pt x="0" y="1088757"/>
                  </a:cubicBezTo>
                  <a:lnTo>
                    <a:pt x="0" y="51851"/>
                  </a:lnTo>
                  <a:cubicBezTo>
                    <a:pt x="0" y="23215"/>
                    <a:pt x="23215" y="0"/>
                    <a:pt x="5185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36"/>
            <p:cNvSpPr txBox="1"/>
            <p:nvPr/>
          </p:nvSpPr>
          <p:spPr>
            <a:xfrm>
              <a:off x="0" y="-47625"/>
              <a:ext cx="2005547" cy="1188233"/>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66" name="Google Shape;666;p36"/>
          <p:cNvSpPr txBox="1"/>
          <p:nvPr/>
        </p:nvSpPr>
        <p:spPr>
          <a:xfrm>
            <a:off x="2459999" y="1308568"/>
            <a:ext cx="12978113" cy="1838451"/>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Clr>
                <a:srgbClr val="000000"/>
              </a:buClr>
              <a:buSzPts val="10752"/>
              <a:buFont typeface="Arial"/>
              <a:buNone/>
            </a:pPr>
            <a:r>
              <a:rPr b="0" i="0" lang="en-US" sz="10752" u="none" cap="none" strike="noStrike">
                <a:solidFill>
                  <a:srgbClr val="18072B"/>
                </a:solidFill>
                <a:latin typeface="Borel"/>
                <a:ea typeface="Borel"/>
                <a:cs typeface="Borel"/>
                <a:sym typeface="Borel"/>
              </a:rPr>
              <a:t>ACL EXTENDIDA</a:t>
            </a:r>
            <a:endParaRPr b="0" i="0" sz="1400" u="none" cap="none" strike="noStrike">
              <a:solidFill>
                <a:srgbClr val="000000"/>
              </a:solidFill>
              <a:latin typeface="Arial"/>
              <a:ea typeface="Arial"/>
              <a:cs typeface="Arial"/>
              <a:sym typeface="Arial"/>
            </a:endParaRPr>
          </a:p>
        </p:txBody>
      </p:sp>
      <p:sp>
        <p:nvSpPr>
          <p:cNvPr id="667" name="Google Shape;667;p36"/>
          <p:cNvSpPr txBox="1"/>
          <p:nvPr/>
        </p:nvSpPr>
        <p:spPr>
          <a:xfrm>
            <a:off x="10616716" y="3861394"/>
            <a:ext cx="6642584" cy="3686775"/>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2627"/>
              <a:buFont typeface="Arial"/>
              <a:buNone/>
            </a:pPr>
            <a:r>
              <a:rPr b="1" i="0" lang="en-US" sz="2627" u="none" cap="none" strike="noStrike">
                <a:solidFill>
                  <a:srgbClr val="4D4C4C"/>
                </a:solidFill>
                <a:latin typeface="Arial"/>
                <a:ea typeface="Arial"/>
                <a:cs typeface="Arial"/>
                <a:sym typeface="Arial"/>
              </a:rPr>
              <a:t>Permiten especificar:</a:t>
            </a:r>
            <a:endParaRPr b="0" i="0" sz="1400" u="none" cap="none" strike="noStrike">
              <a:solidFill>
                <a:srgbClr val="000000"/>
              </a:solidFill>
              <a:latin typeface="Arial"/>
              <a:ea typeface="Arial"/>
              <a:cs typeface="Arial"/>
              <a:sym typeface="Arial"/>
            </a:endParaRPr>
          </a:p>
          <a:p>
            <a:pPr indent="-283653" lvl="1" marL="567306" marR="0" rtl="0" algn="l">
              <a:lnSpc>
                <a:spcPct val="140007"/>
              </a:lnSpc>
              <a:spcBef>
                <a:spcPts val="0"/>
              </a:spcBef>
              <a:spcAft>
                <a:spcPts val="0"/>
              </a:spcAft>
              <a:buClr>
                <a:srgbClr val="4D4C4C"/>
              </a:buClr>
              <a:buSzPts val="2627"/>
              <a:buFont typeface="Arial"/>
              <a:buChar char="•"/>
            </a:pPr>
            <a:r>
              <a:rPr b="0" i="0" lang="en-US" sz="2627" u="none" cap="none" strike="noStrike">
                <a:solidFill>
                  <a:srgbClr val="4D4C4C"/>
                </a:solidFill>
                <a:latin typeface="Arial"/>
                <a:ea typeface="Arial"/>
                <a:cs typeface="Arial"/>
                <a:sym typeface="Arial"/>
              </a:rPr>
              <a:t>O</a:t>
            </a:r>
            <a:r>
              <a:rPr b="1" i="0" lang="en-US" sz="2627" u="none" cap="none" strike="noStrike">
                <a:solidFill>
                  <a:srgbClr val="4D4C4C"/>
                </a:solidFill>
                <a:latin typeface="Arial"/>
                <a:ea typeface="Arial"/>
                <a:cs typeface="Arial"/>
                <a:sym typeface="Arial"/>
              </a:rPr>
              <a:t>rigen y destino(red, host)</a:t>
            </a:r>
            <a:endParaRPr b="0" i="0" sz="1400" u="none" cap="none" strike="noStrike">
              <a:solidFill>
                <a:srgbClr val="000000"/>
              </a:solidFill>
              <a:latin typeface="Arial"/>
              <a:ea typeface="Arial"/>
              <a:cs typeface="Arial"/>
              <a:sym typeface="Arial"/>
            </a:endParaRPr>
          </a:p>
          <a:p>
            <a:pPr indent="-283653" lvl="1" marL="567306" marR="0" rtl="0" algn="l">
              <a:lnSpc>
                <a:spcPct val="140007"/>
              </a:lnSpc>
              <a:spcBef>
                <a:spcPts val="0"/>
              </a:spcBef>
              <a:spcAft>
                <a:spcPts val="0"/>
              </a:spcAft>
              <a:buClr>
                <a:srgbClr val="4D4C4C"/>
              </a:buClr>
              <a:buSzPts val="2627"/>
              <a:buFont typeface="Arial"/>
              <a:buChar char="•"/>
            </a:pPr>
            <a:r>
              <a:rPr b="1" i="0" lang="en-US" sz="2627" u="none" cap="none" strike="noStrike">
                <a:solidFill>
                  <a:srgbClr val="4D4C4C"/>
                </a:solidFill>
                <a:latin typeface="Arial"/>
                <a:ea typeface="Arial"/>
                <a:cs typeface="Arial"/>
                <a:sym typeface="Arial"/>
              </a:rPr>
              <a:t>Protocolo (TCP, UDP, ICMP)</a:t>
            </a:r>
            <a:endParaRPr b="0" i="0" sz="1400" u="none" cap="none" strike="noStrike">
              <a:solidFill>
                <a:srgbClr val="000000"/>
              </a:solidFill>
              <a:latin typeface="Arial"/>
              <a:ea typeface="Arial"/>
              <a:cs typeface="Arial"/>
              <a:sym typeface="Arial"/>
            </a:endParaRPr>
          </a:p>
          <a:p>
            <a:pPr indent="-283653" lvl="1" marL="567306" marR="0" rtl="0" algn="l">
              <a:lnSpc>
                <a:spcPct val="140007"/>
              </a:lnSpc>
              <a:spcBef>
                <a:spcPts val="0"/>
              </a:spcBef>
              <a:spcAft>
                <a:spcPts val="0"/>
              </a:spcAft>
              <a:buClr>
                <a:srgbClr val="4D4C4C"/>
              </a:buClr>
              <a:buSzPts val="2627"/>
              <a:buFont typeface="Arial"/>
              <a:buChar char="•"/>
            </a:pPr>
            <a:r>
              <a:rPr b="1" i="0" lang="en-US" sz="2627" u="none" cap="none" strike="noStrike">
                <a:solidFill>
                  <a:srgbClr val="4D4C4C"/>
                </a:solidFill>
                <a:latin typeface="Arial"/>
                <a:ea typeface="Arial"/>
                <a:cs typeface="Arial"/>
                <a:sym typeface="Arial"/>
              </a:rPr>
              <a:t>Puerto (ej. 80, 443, 21)</a:t>
            </a:r>
            <a:endParaRPr b="0" i="0" sz="1400" u="none" cap="none" strike="noStrike">
              <a:solidFill>
                <a:srgbClr val="000000"/>
              </a:solidFill>
              <a:latin typeface="Arial"/>
              <a:ea typeface="Arial"/>
              <a:cs typeface="Arial"/>
              <a:sym typeface="Arial"/>
            </a:endParaRPr>
          </a:p>
          <a:p>
            <a:pPr indent="0" lvl="0" marL="0" marR="0" rtl="0" algn="l">
              <a:lnSpc>
                <a:spcPct val="140007"/>
              </a:lnSpc>
              <a:spcBef>
                <a:spcPts val="0"/>
              </a:spcBef>
              <a:spcAft>
                <a:spcPts val="0"/>
              </a:spcAft>
              <a:buClr>
                <a:srgbClr val="000000"/>
              </a:buClr>
              <a:buSzPts val="2627"/>
              <a:buFont typeface="Arial"/>
              <a:buNone/>
            </a:pPr>
            <a:r>
              <a:t/>
            </a:r>
            <a:endParaRPr b="1" i="0" sz="2627" u="none" cap="none" strike="noStrike">
              <a:solidFill>
                <a:srgbClr val="4D4C4C"/>
              </a:solidFill>
              <a:latin typeface="Arial"/>
              <a:ea typeface="Arial"/>
              <a:cs typeface="Arial"/>
              <a:sym typeface="Arial"/>
            </a:endParaRPr>
          </a:p>
          <a:p>
            <a:pPr indent="0" lvl="0" marL="0" marR="0" rtl="0" algn="l">
              <a:lnSpc>
                <a:spcPct val="140007"/>
              </a:lnSpc>
              <a:spcBef>
                <a:spcPts val="0"/>
              </a:spcBef>
              <a:spcAft>
                <a:spcPts val="0"/>
              </a:spcAft>
              <a:buClr>
                <a:srgbClr val="000000"/>
              </a:buClr>
              <a:buSzPts val="2627"/>
              <a:buFont typeface="Arial"/>
              <a:buNone/>
            </a:pPr>
            <a:r>
              <a:rPr b="1" i="0" lang="en-US" sz="2627" u="none" cap="none" strike="noStrike">
                <a:solidFill>
                  <a:srgbClr val="4D4C4C"/>
                </a:solidFill>
                <a:latin typeface="Arial"/>
                <a:ea typeface="Arial"/>
                <a:cs typeface="Arial"/>
                <a:sym typeface="Arial"/>
              </a:rPr>
              <a:t>En ese ejemplo se bloquea entrante en el puerto 80, es decir trafico http y luego se permite todo lo demas.</a:t>
            </a:r>
            <a:endParaRPr b="0" i="0" sz="1400" u="none" cap="none" strike="noStrike">
              <a:solidFill>
                <a:srgbClr val="000000"/>
              </a:solidFill>
              <a:latin typeface="Arial"/>
              <a:ea typeface="Arial"/>
              <a:cs typeface="Arial"/>
              <a:sym typeface="Arial"/>
            </a:endParaRPr>
          </a:p>
        </p:txBody>
      </p:sp>
      <p:sp>
        <p:nvSpPr>
          <p:cNvPr id="668" name="Google Shape;668;p36"/>
          <p:cNvSpPr txBox="1"/>
          <p:nvPr/>
        </p:nvSpPr>
        <p:spPr>
          <a:xfrm>
            <a:off x="2538205" y="4454644"/>
            <a:ext cx="7274900" cy="234193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625"/>
              <a:buFont typeface="Arial"/>
              <a:buNone/>
            </a:pPr>
            <a:r>
              <a:rPr b="1" i="0" lang="en-US" sz="2625" u="none" cap="none" strike="noStrike">
                <a:solidFill>
                  <a:srgbClr val="FFFFFF"/>
                </a:solidFill>
                <a:latin typeface="Consolas"/>
                <a:ea typeface="Consolas"/>
                <a:cs typeface="Consolas"/>
                <a:sym typeface="Consolas"/>
              </a:rPr>
              <a:t>access-list 100 deny tcp any any eq 80</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625"/>
              <a:buFont typeface="Arial"/>
              <a:buNone/>
            </a:pPr>
            <a:r>
              <a:rPr b="1" i="0" lang="en-US" sz="2625" u="none" cap="none" strike="noStrike">
                <a:solidFill>
                  <a:srgbClr val="FFFFFF"/>
                </a:solidFill>
                <a:latin typeface="Consolas"/>
                <a:ea typeface="Consolas"/>
                <a:cs typeface="Consolas"/>
                <a:sym typeface="Consolas"/>
              </a:rPr>
              <a:t>access-list 100 permit ip any any</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625"/>
              <a:buFont typeface="Arial"/>
              <a:buNone/>
            </a:pPr>
            <a:r>
              <a:t/>
            </a:r>
            <a:endParaRPr b="1" i="0" sz="2625" u="none" cap="none" strike="noStrike">
              <a:solidFill>
                <a:srgbClr val="FFFFFF"/>
              </a:solidFill>
              <a:latin typeface="Consolas"/>
              <a:ea typeface="Consolas"/>
              <a:cs typeface="Consolas"/>
              <a:sym typeface="Consolas"/>
            </a:endParaRPr>
          </a:p>
          <a:p>
            <a:pPr indent="0" lvl="0" marL="0" marR="0" rtl="0" algn="l">
              <a:lnSpc>
                <a:spcPct val="140000"/>
              </a:lnSpc>
              <a:spcBef>
                <a:spcPts val="0"/>
              </a:spcBef>
              <a:spcAft>
                <a:spcPts val="0"/>
              </a:spcAft>
              <a:buClr>
                <a:srgbClr val="000000"/>
              </a:buClr>
              <a:buSzPts val="2625"/>
              <a:buFont typeface="Arial"/>
              <a:buNone/>
            </a:pPr>
            <a:r>
              <a:rPr b="1" i="0" lang="en-US" sz="2625" u="none" cap="none" strike="noStrike">
                <a:solidFill>
                  <a:srgbClr val="FFFFFF"/>
                </a:solidFill>
                <a:latin typeface="Consolas"/>
                <a:ea typeface="Consolas"/>
                <a:cs typeface="Consolas"/>
                <a:sym typeface="Consolas"/>
              </a:rPr>
              <a:t>interface fastethernet0/0</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625"/>
              <a:buFont typeface="Arial"/>
              <a:buNone/>
            </a:pPr>
            <a:r>
              <a:rPr b="1" i="0" lang="en-US" sz="2625" u="none" cap="none" strike="noStrike">
                <a:solidFill>
                  <a:srgbClr val="FFFFFF"/>
                </a:solidFill>
                <a:latin typeface="Consolas"/>
                <a:ea typeface="Consolas"/>
                <a:cs typeface="Consolas"/>
                <a:sym typeface="Consolas"/>
              </a:rPr>
              <a:t>ip access-group 100 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72" name="Shape 672"/>
        <p:cNvGrpSpPr/>
        <p:nvPr/>
      </p:nvGrpSpPr>
      <p:grpSpPr>
        <a:xfrm>
          <a:off x="0" y="0"/>
          <a:ext cx="0" cy="0"/>
          <a:chOff x="0" y="0"/>
          <a:chExt cx="0" cy="0"/>
        </a:xfrm>
      </p:grpSpPr>
      <p:grpSp>
        <p:nvGrpSpPr>
          <p:cNvPr id="673" name="Google Shape;673;p37"/>
          <p:cNvGrpSpPr/>
          <p:nvPr/>
        </p:nvGrpSpPr>
        <p:grpSpPr>
          <a:xfrm>
            <a:off x="12518978" y="-3596759"/>
            <a:ext cx="8227978" cy="4625459"/>
            <a:chOff x="0" y="-47625"/>
            <a:chExt cx="807640" cy="454025"/>
          </a:xfrm>
        </p:grpSpPr>
        <p:sp>
          <p:nvSpPr>
            <p:cNvPr id="674" name="Google Shape;674;p37"/>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37"/>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76" name="Google Shape;676;p37"/>
          <p:cNvSpPr/>
          <p:nvPr/>
        </p:nvSpPr>
        <p:spPr>
          <a:xfrm>
            <a:off x="16224723" y="-1837642"/>
            <a:ext cx="4126554" cy="4126554"/>
          </a:xfrm>
          <a:custGeom>
            <a:rect b="b" l="l" r="r" t="t"/>
            <a:pathLst>
              <a:path extrusionOk="0" h="4126554" w="4126554">
                <a:moveTo>
                  <a:pt x="0" y="0"/>
                </a:moveTo>
                <a:lnTo>
                  <a:pt x="4126554" y="0"/>
                </a:lnTo>
                <a:lnTo>
                  <a:pt x="4126554" y="4126554"/>
                </a:lnTo>
                <a:lnTo>
                  <a:pt x="0" y="41265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677" name="Google Shape;677;p37"/>
          <p:cNvGrpSpPr/>
          <p:nvPr/>
        </p:nvGrpSpPr>
        <p:grpSpPr>
          <a:xfrm rot="10800000">
            <a:off x="-437583" y="9478693"/>
            <a:ext cx="1139788" cy="1139788"/>
            <a:chOff x="0" y="0"/>
            <a:chExt cx="812800" cy="812800"/>
          </a:xfrm>
        </p:grpSpPr>
        <p:sp>
          <p:nvSpPr>
            <p:cNvPr id="678" name="Google Shape;678;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3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0" name="Google Shape;680;p37"/>
          <p:cNvGrpSpPr/>
          <p:nvPr/>
        </p:nvGrpSpPr>
        <p:grpSpPr>
          <a:xfrm>
            <a:off x="556242" y="237952"/>
            <a:ext cx="17567237" cy="1400671"/>
            <a:chOff x="0" y="-47625"/>
            <a:chExt cx="4626762" cy="368901"/>
          </a:xfrm>
        </p:grpSpPr>
        <p:sp>
          <p:nvSpPr>
            <p:cNvPr id="681" name="Google Shape;681;p37"/>
            <p:cNvSpPr/>
            <p:nvPr/>
          </p:nvSpPr>
          <p:spPr>
            <a:xfrm>
              <a:off x="0" y="0"/>
              <a:ext cx="4626762" cy="321276"/>
            </a:xfrm>
            <a:custGeom>
              <a:rect b="b" l="l" r="r" t="t"/>
              <a:pathLst>
                <a:path extrusionOk="0" h="321276" w="4626762">
                  <a:moveTo>
                    <a:pt x="22476" y="0"/>
                  </a:moveTo>
                  <a:lnTo>
                    <a:pt x="4604286" y="0"/>
                  </a:lnTo>
                  <a:cubicBezTo>
                    <a:pt x="4616699" y="0"/>
                    <a:pt x="4626762" y="10063"/>
                    <a:pt x="4626762" y="22476"/>
                  </a:cubicBezTo>
                  <a:lnTo>
                    <a:pt x="4626762" y="298800"/>
                  </a:lnTo>
                  <a:cubicBezTo>
                    <a:pt x="4626762" y="311213"/>
                    <a:pt x="4616699" y="321276"/>
                    <a:pt x="4604286" y="321276"/>
                  </a:cubicBezTo>
                  <a:lnTo>
                    <a:pt x="22476" y="321276"/>
                  </a:lnTo>
                  <a:cubicBezTo>
                    <a:pt x="10063" y="321276"/>
                    <a:pt x="0" y="311213"/>
                    <a:pt x="0" y="298800"/>
                  </a:cubicBezTo>
                  <a:lnTo>
                    <a:pt x="0" y="22476"/>
                  </a:lnTo>
                  <a:cubicBezTo>
                    <a:pt x="0" y="10063"/>
                    <a:pt x="10063" y="0"/>
                    <a:pt x="2247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37"/>
            <p:cNvSpPr txBox="1"/>
            <p:nvPr/>
          </p:nvSpPr>
          <p:spPr>
            <a:xfrm>
              <a:off x="0" y="-47625"/>
              <a:ext cx="4626762" cy="36890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683" name="Google Shape;683;p37"/>
          <p:cNvGraphicFramePr/>
          <p:nvPr/>
        </p:nvGraphicFramePr>
        <p:xfrm>
          <a:off x="4183506" y="1942812"/>
          <a:ext cx="3000000" cy="3000000"/>
        </p:xfrm>
        <a:graphic>
          <a:graphicData uri="http://schemas.openxmlformats.org/drawingml/2006/table">
            <a:tbl>
              <a:tblPr>
                <a:noFill/>
                <a:tableStyleId>{A82F5AA0-886F-4AD3-B54A-C191DF9C00A1}</a:tableStyleId>
              </a:tblPr>
              <a:tblGrid>
                <a:gridCol w="4620300"/>
                <a:gridCol w="8995475"/>
              </a:tblGrid>
              <a:tr h="781050">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Parte</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Descripción</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81050">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access-list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Comando base que inicia una ACL</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&lt;número&gt;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Número de la ACL (100–199 para extendidas numéricas)</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&lt;accion&gt;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Acción a realizar: permit o deny</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&lt;protocolo&gt;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Protocolo a filtrar (puede ser ip, tcp, udp, icmp, etc.)</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&lt;origen&gt;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IP origen (puede ser red, host o any, si es un host se antepone "host")</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&lt;wildcard origen&gt;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Wildcard mask origen (solo se usa si el origen es un id de red)</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&lt;destino&gt;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IP destino(puede ser red, host o any, si es un host se antepone "host")</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1525">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&lt;wildcard destino&gt;</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Wildcard mask destino(solo se usa si el destino es un id de red)</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43000">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[operador puerto]</a:t>
                      </a:r>
                      <a:endParaRPr sz="1100" u="none" cap="none" strike="noStrike"/>
                    </a:p>
                  </a:txBody>
                  <a:tcPr marT="190500" marB="190500" marR="190500" marL="190500" anchor="ctr">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19"/>
                        </a:lnSpc>
                        <a:spcBef>
                          <a:spcPts val="0"/>
                        </a:spcBef>
                        <a:spcAft>
                          <a:spcPts val="0"/>
                        </a:spcAft>
                        <a:buClr>
                          <a:srgbClr val="000000"/>
                        </a:buClr>
                        <a:buSzPts val="2099"/>
                        <a:buFont typeface="Arial"/>
                        <a:buNone/>
                      </a:pPr>
                      <a:r>
                        <a:rPr lang="en-US" sz="2099" u="none" cap="none" strike="noStrike">
                          <a:solidFill>
                            <a:srgbClr val="000000"/>
                          </a:solidFill>
                          <a:latin typeface="Arial"/>
                          <a:ea typeface="Arial"/>
                          <a:cs typeface="Arial"/>
                          <a:sym typeface="Arial"/>
                        </a:rPr>
                        <a:t>(opcional) Puerto destino,Se pueden usar los operadores lt (lower than), gt (greater than), eq (equal), neq (notequal) range (rango de puertos)</a:t>
                      </a:r>
                      <a:endParaRPr sz="1100" u="none" cap="none" strike="noStrike"/>
                    </a:p>
                  </a:txBody>
                  <a:tcPr marT="190500" marB="190500" marR="190500" marL="190500" anchor="ctr">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84" name="Google Shape;684;p37"/>
          <p:cNvSpPr txBox="1"/>
          <p:nvPr/>
        </p:nvSpPr>
        <p:spPr>
          <a:xfrm>
            <a:off x="1556962" y="644525"/>
            <a:ext cx="17065371" cy="711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DF7"/>
                </a:solidFill>
                <a:latin typeface="Arial"/>
                <a:ea typeface="Arial"/>
                <a:cs typeface="Arial"/>
                <a:sym typeface="Arial"/>
              </a:rPr>
              <a:t>access-list &lt;número&gt;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DF7"/>
                </a:solidFill>
                <a:latin typeface="Arial"/>
                <a:ea typeface="Arial"/>
                <a:cs typeface="Arial"/>
                <a:sym typeface="Arial"/>
              </a:rPr>
              <a:t>&lt;acción&gt; &lt;protocolo&gt; &lt;origen&gt; &lt;wildcard origen&gt; [operador puerto] &lt;destino&gt; &lt;wildcard destino&gt; [operador puerto]</a:t>
            </a:r>
            <a:endParaRPr b="0" i="0" sz="1400" u="none" cap="none" strike="noStrike">
              <a:solidFill>
                <a:srgbClr val="000000"/>
              </a:solidFill>
              <a:latin typeface="Arial"/>
              <a:ea typeface="Arial"/>
              <a:cs typeface="Arial"/>
              <a:sym typeface="Arial"/>
            </a:endParaRPr>
          </a:p>
        </p:txBody>
      </p:sp>
      <p:sp>
        <p:nvSpPr>
          <p:cNvPr id="685" name="Google Shape;685;p37"/>
          <p:cNvSpPr txBox="1"/>
          <p:nvPr/>
        </p:nvSpPr>
        <p:spPr>
          <a:xfrm>
            <a:off x="331306" y="3737425"/>
            <a:ext cx="3382939" cy="2716899"/>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Clr>
                <a:srgbClr val="000000"/>
              </a:buClr>
              <a:buSzPts val="5191"/>
              <a:buFont typeface="Arial"/>
              <a:buNone/>
            </a:pPr>
            <a:r>
              <a:rPr b="1" i="0" lang="en-US" sz="5191" u="none" cap="none" strike="noStrike">
                <a:solidFill>
                  <a:srgbClr val="000000"/>
                </a:solidFill>
                <a:latin typeface="Open Sans"/>
                <a:ea typeface="Open Sans"/>
                <a:cs typeface="Open Sans"/>
                <a:sym typeface="Open Sans"/>
              </a:rPr>
              <a:t>Partes de una ACL</a:t>
            </a:r>
            <a:endParaRPr b="0" i="0" sz="1400" u="none" cap="none" strike="noStrike">
              <a:solidFill>
                <a:srgbClr val="000000"/>
              </a:solidFill>
              <a:latin typeface="Arial"/>
              <a:ea typeface="Arial"/>
              <a:cs typeface="Arial"/>
              <a:sym typeface="Arial"/>
            </a:endParaRPr>
          </a:p>
          <a:p>
            <a:pPr indent="0" lvl="0" marL="0" marR="0" rtl="0" algn="ctr">
              <a:lnSpc>
                <a:spcPct val="139992"/>
              </a:lnSpc>
              <a:spcBef>
                <a:spcPts val="0"/>
              </a:spcBef>
              <a:spcAft>
                <a:spcPts val="0"/>
              </a:spcAft>
              <a:buClr>
                <a:srgbClr val="000000"/>
              </a:buClr>
              <a:buSzPts val="5191"/>
              <a:buFont typeface="Arial"/>
              <a:buNone/>
            </a:pPr>
            <a:r>
              <a:rPr b="1" i="0" lang="en-US" sz="5191" u="none" cap="none" strike="noStrike">
                <a:solidFill>
                  <a:srgbClr val="000000"/>
                </a:solidFill>
                <a:latin typeface="Open Sans"/>
                <a:ea typeface="Open Sans"/>
                <a:cs typeface="Open Sans"/>
                <a:sym typeface="Open Sans"/>
              </a:rPr>
              <a:t>Extendida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689" name="Shape 689"/>
        <p:cNvGrpSpPr/>
        <p:nvPr/>
      </p:nvGrpSpPr>
      <p:grpSpPr>
        <a:xfrm>
          <a:off x="0" y="0"/>
          <a:ext cx="0" cy="0"/>
          <a:chOff x="0" y="0"/>
          <a:chExt cx="0" cy="0"/>
        </a:xfrm>
      </p:grpSpPr>
      <p:grpSp>
        <p:nvGrpSpPr>
          <p:cNvPr id="690" name="Google Shape;690;p38"/>
          <p:cNvGrpSpPr/>
          <p:nvPr/>
        </p:nvGrpSpPr>
        <p:grpSpPr>
          <a:xfrm rot="-5400000">
            <a:off x="6070407" y="-12258207"/>
            <a:ext cx="5966360" cy="20036644"/>
            <a:chOff x="0" y="-47625"/>
            <a:chExt cx="1571387" cy="5277141"/>
          </a:xfrm>
        </p:grpSpPr>
        <p:sp>
          <p:nvSpPr>
            <p:cNvPr id="691" name="Google Shape;691;p38"/>
            <p:cNvSpPr/>
            <p:nvPr/>
          </p:nvSpPr>
          <p:spPr>
            <a:xfrm>
              <a:off x="0" y="0"/>
              <a:ext cx="1571387" cy="5229516"/>
            </a:xfrm>
            <a:custGeom>
              <a:rect b="b" l="l" r="r" t="t"/>
              <a:pathLst>
                <a:path extrusionOk="0" h="5229516" w="1571387">
                  <a:moveTo>
                    <a:pt x="0" y="0"/>
                  </a:moveTo>
                  <a:lnTo>
                    <a:pt x="1571387" y="0"/>
                  </a:lnTo>
                  <a:lnTo>
                    <a:pt x="1571387" y="5229516"/>
                  </a:lnTo>
                  <a:lnTo>
                    <a:pt x="0" y="5229516"/>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2" name="Google Shape;692;p38"/>
            <p:cNvSpPr txBox="1"/>
            <p:nvPr/>
          </p:nvSpPr>
          <p:spPr>
            <a:xfrm>
              <a:off x="0" y="-47625"/>
              <a:ext cx="1571387" cy="527714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3" name="Google Shape;693;p38"/>
          <p:cNvGrpSpPr/>
          <p:nvPr/>
        </p:nvGrpSpPr>
        <p:grpSpPr>
          <a:xfrm rot="10800000">
            <a:off x="13387452" y="-3222120"/>
            <a:ext cx="8227978" cy="4625459"/>
            <a:chOff x="0" y="-47625"/>
            <a:chExt cx="807640" cy="454025"/>
          </a:xfrm>
        </p:grpSpPr>
        <p:sp>
          <p:nvSpPr>
            <p:cNvPr id="694" name="Google Shape;694;p38"/>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38"/>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6" name="Google Shape;696;p38"/>
          <p:cNvSpPr/>
          <p:nvPr/>
        </p:nvSpPr>
        <p:spPr>
          <a:xfrm>
            <a:off x="-2608181" y="7217657"/>
            <a:ext cx="4736499" cy="4736499"/>
          </a:xfrm>
          <a:custGeom>
            <a:rect b="b" l="l" r="r" t="t"/>
            <a:pathLst>
              <a:path extrusionOk="0" h="4736499" w="4736499">
                <a:moveTo>
                  <a:pt x="0" y="0"/>
                </a:moveTo>
                <a:lnTo>
                  <a:pt x="4736499" y="0"/>
                </a:lnTo>
                <a:lnTo>
                  <a:pt x="4736499" y="4736500"/>
                </a:lnTo>
                <a:lnTo>
                  <a:pt x="0" y="47365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7" name="Google Shape;697;p38"/>
          <p:cNvSpPr txBox="1"/>
          <p:nvPr/>
        </p:nvSpPr>
        <p:spPr>
          <a:xfrm>
            <a:off x="3107937" y="2359404"/>
            <a:ext cx="11982153" cy="240432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885"/>
              <a:buFont typeface="Arial"/>
              <a:buNone/>
            </a:pPr>
            <a:r>
              <a:rPr b="0" i="0" lang="en-US" sz="6885" u="none" cap="none" strike="noStrike">
                <a:solidFill>
                  <a:srgbClr val="18072B"/>
                </a:solidFill>
                <a:latin typeface="Borel"/>
                <a:ea typeface="Borel"/>
                <a:cs typeface="Borel"/>
                <a:sym typeface="Borel"/>
              </a:rPr>
              <a:t>NIVELES DE SEGURIDAD EN FIREWALLS ASA CISCO</a:t>
            </a:r>
            <a:endParaRPr b="0" i="0" sz="1400" u="none" cap="none" strike="noStrike">
              <a:solidFill>
                <a:srgbClr val="000000"/>
              </a:solidFill>
              <a:latin typeface="Arial"/>
              <a:ea typeface="Arial"/>
              <a:cs typeface="Arial"/>
              <a:sym typeface="Arial"/>
            </a:endParaRPr>
          </a:p>
        </p:txBody>
      </p:sp>
      <p:sp>
        <p:nvSpPr>
          <p:cNvPr id="698" name="Google Shape;698;p38"/>
          <p:cNvSpPr txBox="1"/>
          <p:nvPr/>
        </p:nvSpPr>
        <p:spPr>
          <a:xfrm>
            <a:off x="2624970" y="5291464"/>
            <a:ext cx="14249578" cy="3405154"/>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Clr>
                <a:srgbClr val="000000"/>
              </a:buClr>
              <a:buSzPts val="3188"/>
              <a:buFont typeface="Arial"/>
              <a:buNone/>
            </a:pPr>
            <a:r>
              <a:rPr b="1" i="0" lang="en-US" sz="3188" u="none" cap="none" strike="noStrike">
                <a:solidFill>
                  <a:srgbClr val="4D4C4C"/>
                </a:solidFill>
                <a:latin typeface="Arial"/>
                <a:ea typeface="Arial"/>
                <a:cs typeface="Arial"/>
                <a:sym typeface="Arial"/>
              </a:rPr>
              <a:t>Los niveles de seguridad (security levels) son valores numéricos del 0 al 100 que se asignan a cada interfaz del firewall ASA para definir qué tan confiable es una red conectada a esa interfaz.</a:t>
            </a:r>
            <a:endParaRPr b="0" i="0" sz="1400" u="none" cap="none" strike="noStrike">
              <a:solidFill>
                <a:srgbClr val="000000"/>
              </a:solidFill>
              <a:latin typeface="Arial"/>
              <a:ea typeface="Arial"/>
              <a:cs typeface="Arial"/>
              <a:sym typeface="Arial"/>
            </a:endParaRPr>
          </a:p>
          <a:p>
            <a:pPr indent="0" lvl="0" marL="0" marR="0" rtl="0" algn="just">
              <a:lnSpc>
                <a:spcPct val="140025"/>
              </a:lnSpc>
              <a:spcBef>
                <a:spcPts val="0"/>
              </a:spcBef>
              <a:spcAft>
                <a:spcPts val="0"/>
              </a:spcAft>
              <a:buClr>
                <a:srgbClr val="000000"/>
              </a:buClr>
              <a:buSzPts val="3188"/>
              <a:buFont typeface="Arial"/>
              <a:buNone/>
            </a:pPr>
            <a:r>
              <a:t/>
            </a:r>
            <a:endParaRPr b="1" i="0" sz="3188" u="none" cap="none" strike="noStrike">
              <a:solidFill>
                <a:srgbClr val="4D4C4C"/>
              </a:solidFill>
              <a:latin typeface="Arial"/>
              <a:ea typeface="Arial"/>
              <a:cs typeface="Arial"/>
              <a:sym typeface="Arial"/>
            </a:endParaRPr>
          </a:p>
          <a:p>
            <a:pPr indent="0" lvl="0" marL="0" marR="0" rtl="0" algn="just">
              <a:lnSpc>
                <a:spcPct val="140025"/>
              </a:lnSpc>
              <a:spcBef>
                <a:spcPts val="0"/>
              </a:spcBef>
              <a:spcAft>
                <a:spcPts val="0"/>
              </a:spcAft>
              <a:buClr>
                <a:srgbClr val="000000"/>
              </a:buClr>
              <a:buSzPts val="3188"/>
              <a:buFont typeface="Arial"/>
              <a:buNone/>
            </a:pPr>
            <a:r>
              <a:rPr b="1" i="0" lang="en-US" sz="3188" u="none" cap="none" strike="noStrike">
                <a:solidFill>
                  <a:srgbClr val="4D4C4C"/>
                </a:solidFill>
                <a:latin typeface="Arial"/>
                <a:ea typeface="Arial"/>
                <a:cs typeface="Arial"/>
                <a:sym typeface="Arial"/>
              </a:rPr>
              <a:t>Mientras más alto el número, más confiable se considera esa red.</a:t>
            </a:r>
            <a:endParaRPr b="0" i="0" sz="1400" u="none" cap="none" strike="noStrike">
              <a:solidFill>
                <a:srgbClr val="000000"/>
              </a:solidFill>
              <a:latin typeface="Arial"/>
              <a:ea typeface="Arial"/>
              <a:cs typeface="Arial"/>
              <a:sym typeface="Arial"/>
            </a:endParaRPr>
          </a:p>
        </p:txBody>
      </p:sp>
      <p:sp>
        <p:nvSpPr>
          <p:cNvPr id="699" name="Google Shape;699;p38"/>
          <p:cNvSpPr/>
          <p:nvPr/>
        </p:nvSpPr>
        <p:spPr>
          <a:xfrm>
            <a:off x="1357849" y="4368421"/>
            <a:ext cx="660687" cy="661890"/>
          </a:xfrm>
          <a:custGeom>
            <a:rect b="b" l="l" r="r" t="t"/>
            <a:pathLst>
              <a:path extrusionOk="0" h="661890" w="660687">
                <a:moveTo>
                  <a:pt x="0" y="0"/>
                </a:moveTo>
                <a:lnTo>
                  <a:pt x="660686" y="0"/>
                </a:lnTo>
                <a:lnTo>
                  <a:pt x="660686" y="661890"/>
                </a:lnTo>
                <a:lnTo>
                  <a:pt x="0" y="66189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700" name="Google Shape;700;p38"/>
          <p:cNvGrpSpPr/>
          <p:nvPr/>
        </p:nvGrpSpPr>
        <p:grpSpPr>
          <a:xfrm rot="10800000">
            <a:off x="16119512" y="743295"/>
            <a:ext cx="1139788" cy="1139788"/>
            <a:chOff x="0" y="0"/>
            <a:chExt cx="812800" cy="812800"/>
          </a:xfrm>
        </p:grpSpPr>
        <p:sp>
          <p:nvSpPr>
            <p:cNvPr id="701" name="Google Shape;701;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3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706" name="Shape 706"/>
        <p:cNvGrpSpPr/>
        <p:nvPr/>
      </p:nvGrpSpPr>
      <p:grpSpPr>
        <a:xfrm>
          <a:off x="0" y="0"/>
          <a:ext cx="0" cy="0"/>
          <a:chOff x="0" y="0"/>
          <a:chExt cx="0" cy="0"/>
        </a:xfrm>
      </p:grpSpPr>
      <p:grpSp>
        <p:nvGrpSpPr>
          <p:cNvPr id="707" name="Google Shape;707;p39"/>
          <p:cNvGrpSpPr/>
          <p:nvPr/>
        </p:nvGrpSpPr>
        <p:grpSpPr>
          <a:xfrm>
            <a:off x="12518978" y="-3596759"/>
            <a:ext cx="8227978" cy="4625459"/>
            <a:chOff x="0" y="-47625"/>
            <a:chExt cx="807640" cy="454025"/>
          </a:xfrm>
        </p:grpSpPr>
        <p:sp>
          <p:nvSpPr>
            <p:cNvPr id="708" name="Google Shape;708;p39"/>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39"/>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0" name="Google Shape;710;p39"/>
          <p:cNvSpPr/>
          <p:nvPr/>
        </p:nvSpPr>
        <p:spPr>
          <a:xfrm>
            <a:off x="16468040" y="-1387770"/>
            <a:ext cx="4126554" cy="4126554"/>
          </a:xfrm>
          <a:custGeom>
            <a:rect b="b" l="l" r="r" t="t"/>
            <a:pathLst>
              <a:path extrusionOk="0" h="4126554" w="4126554">
                <a:moveTo>
                  <a:pt x="0" y="0"/>
                </a:moveTo>
                <a:lnTo>
                  <a:pt x="4126554" y="0"/>
                </a:lnTo>
                <a:lnTo>
                  <a:pt x="4126554" y="4126554"/>
                </a:lnTo>
                <a:lnTo>
                  <a:pt x="0" y="41265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711" name="Google Shape;711;p39"/>
          <p:cNvGrpSpPr/>
          <p:nvPr/>
        </p:nvGrpSpPr>
        <p:grpSpPr>
          <a:xfrm>
            <a:off x="-2438492" y="8640935"/>
            <a:ext cx="8227978" cy="4625459"/>
            <a:chOff x="0" y="-47625"/>
            <a:chExt cx="807640" cy="454025"/>
          </a:xfrm>
        </p:grpSpPr>
        <p:sp>
          <p:nvSpPr>
            <p:cNvPr id="712" name="Google Shape;712;p39"/>
            <p:cNvSpPr/>
            <p:nvPr/>
          </p:nvSpPr>
          <p:spPr>
            <a:xfrm>
              <a:off x="0" y="0"/>
              <a:ext cx="807640" cy="406400"/>
            </a:xfrm>
            <a:custGeom>
              <a:rect b="b" l="l" r="r" t="t"/>
              <a:pathLst>
                <a:path extrusionOk="0" h="406400" w="80764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39"/>
            <p:cNvSpPr txBox="1"/>
            <p:nvPr/>
          </p:nvSpPr>
          <p:spPr>
            <a:xfrm>
              <a:off x="0" y="-47625"/>
              <a:ext cx="80764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4" name="Google Shape;714;p39"/>
          <p:cNvSpPr/>
          <p:nvPr/>
        </p:nvSpPr>
        <p:spPr>
          <a:xfrm rot="-2700000">
            <a:off x="-2346377" y="-43991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5" name="Google Shape;715;p39"/>
          <p:cNvSpPr txBox="1"/>
          <p:nvPr/>
        </p:nvSpPr>
        <p:spPr>
          <a:xfrm>
            <a:off x="2863944" y="1788051"/>
            <a:ext cx="8717382" cy="1094605"/>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Clr>
                <a:srgbClr val="000000"/>
              </a:buClr>
              <a:buSzPts val="6396"/>
              <a:buFont typeface="Arial"/>
              <a:buNone/>
            </a:pPr>
            <a:r>
              <a:rPr b="0" i="0" lang="en-US" sz="6396" u="none" cap="none" strike="noStrike">
                <a:solidFill>
                  <a:srgbClr val="253754"/>
                </a:solidFill>
                <a:latin typeface="Borel"/>
                <a:ea typeface="Borel"/>
                <a:cs typeface="Borel"/>
                <a:sym typeface="Borel"/>
              </a:rPr>
              <a:t>RANGOS DE NIVELES</a:t>
            </a:r>
            <a:endParaRPr b="0" i="0" sz="1400" u="none" cap="none" strike="noStrike">
              <a:solidFill>
                <a:srgbClr val="000000"/>
              </a:solidFill>
              <a:latin typeface="Arial"/>
              <a:ea typeface="Arial"/>
              <a:cs typeface="Arial"/>
              <a:sym typeface="Arial"/>
            </a:endParaRPr>
          </a:p>
        </p:txBody>
      </p:sp>
      <p:sp>
        <p:nvSpPr>
          <p:cNvPr id="716" name="Google Shape;716;p39"/>
          <p:cNvSpPr txBox="1"/>
          <p:nvPr/>
        </p:nvSpPr>
        <p:spPr>
          <a:xfrm>
            <a:off x="1918815" y="3543216"/>
            <a:ext cx="14069542" cy="5462885"/>
          </a:xfrm>
          <a:prstGeom prst="rect">
            <a:avLst/>
          </a:prstGeom>
          <a:noFill/>
          <a:ln>
            <a:noFill/>
          </a:ln>
        </p:spPr>
        <p:txBody>
          <a:bodyPr anchorCtr="0" anchor="t" bIns="0" lIns="0" spcFirstLastPara="1" rIns="0" wrap="square" tIns="0">
            <a:spAutoFit/>
          </a:bodyPr>
          <a:lstStyle/>
          <a:p>
            <a:pPr indent="-336121" lvl="1" marL="672242" marR="0" rtl="0" algn="l">
              <a:lnSpc>
                <a:spcPct val="140025"/>
              </a:lnSpc>
              <a:spcBef>
                <a:spcPts val="0"/>
              </a:spcBef>
              <a:spcAft>
                <a:spcPts val="0"/>
              </a:spcAft>
              <a:buClr>
                <a:srgbClr val="4D4C4C"/>
              </a:buClr>
              <a:buSzPts val="3113"/>
              <a:buFont typeface="Arial"/>
              <a:buChar char="•"/>
            </a:pPr>
            <a:r>
              <a:rPr b="1" i="0" lang="en-US" sz="3113" u="none" cap="none" strike="noStrike">
                <a:solidFill>
                  <a:srgbClr val="4D4C4C"/>
                </a:solidFill>
                <a:latin typeface="Arial"/>
                <a:ea typeface="Arial"/>
                <a:cs typeface="Arial"/>
                <a:sym typeface="Arial"/>
              </a:rPr>
              <a:t>0 (cero): la red menos segura — normalmente se usa para la red externa (outside, como Internet).</a:t>
            </a:r>
            <a:endParaRPr b="0" i="0" sz="1400" u="none" cap="none" strike="noStrike">
              <a:solidFill>
                <a:srgbClr val="000000"/>
              </a:solidFill>
              <a:latin typeface="Arial"/>
              <a:ea typeface="Arial"/>
              <a:cs typeface="Arial"/>
              <a:sym typeface="Arial"/>
            </a:endParaRPr>
          </a:p>
          <a:p>
            <a:pPr indent="0" lvl="0" marL="0" marR="0" rtl="0" algn="l">
              <a:lnSpc>
                <a:spcPct val="140025"/>
              </a:lnSpc>
              <a:spcBef>
                <a:spcPts val="0"/>
              </a:spcBef>
              <a:spcAft>
                <a:spcPts val="0"/>
              </a:spcAft>
              <a:buClr>
                <a:srgbClr val="000000"/>
              </a:buClr>
              <a:buSzPts val="3113"/>
              <a:buFont typeface="Arial"/>
              <a:buNone/>
            </a:pPr>
            <a:r>
              <a:t/>
            </a:r>
            <a:endParaRPr b="1" i="0" sz="3113" u="none" cap="none" strike="noStrike">
              <a:solidFill>
                <a:srgbClr val="4D4C4C"/>
              </a:solidFill>
              <a:latin typeface="Arial"/>
              <a:ea typeface="Arial"/>
              <a:cs typeface="Arial"/>
              <a:sym typeface="Arial"/>
            </a:endParaRPr>
          </a:p>
          <a:p>
            <a:pPr indent="-336121" lvl="1" marL="672242" marR="0" rtl="0" algn="l">
              <a:lnSpc>
                <a:spcPct val="140025"/>
              </a:lnSpc>
              <a:spcBef>
                <a:spcPts val="0"/>
              </a:spcBef>
              <a:spcAft>
                <a:spcPts val="0"/>
              </a:spcAft>
              <a:buClr>
                <a:srgbClr val="4D4C4C"/>
              </a:buClr>
              <a:buSzPts val="3113"/>
              <a:buFont typeface="Arial"/>
              <a:buChar char="•"/>
            </a:pPr>
            <a:r>
              <a:rPr b="1" i="0" lang="en-US" sz="3113" u="none" cap="none" strike="noStrike">
                <a:solidFill>
                  <a:srgbClr val="4D4C4C"/>
                </a:solidFill>
                <a:latin typeface="Arial"/>
                <a:ea typeface="Arial"/>
                <a:cs typeface="Arial"/>
                <a:sym typeface="Arial"/>
              </a:rPr>
              <a:t>100: la red más segura — se usa para la red interna confiable (inside).</a:t>
            </a:r>
            <a:endParaRPr b="0" i="0" sz="1400" u="none" cap="none" strike="noStrike">
              <a:solidFill>
                <a:srgbClr val="000000"/>
              </a:solidFill>
              <a:latin typeface="Arial"/>
              <a:ea typeface="Arial"/>
              <a:cs typeface="Arial"/>
              <a:sym typeface="Arial"/>
            </a:endParaRPr>
          </a:p>
          <a:p>
            <a:pPr indent="0" lvl="0" marL="0" marR="0" rtl="0" algn="l">
              <a:lnSpc>
                <a:spcPct val="140025"/>
              </a:lnSpc>
              <a:spcBef>
                <a:spcPts val="0"/>
              </a:spcBef>
              <a:spcAft>
                <a:spcPts val="0"/>
              </a:spcAft>
              <a:buClr>
                <a:srgbClr val="000000"/>
              </a:buClr>
              <a:buSzPts val="3113"/>
              <a:buFont typeface="Arial"/>
              <a:buNone/>
            </a:pPr>
            <a:r>
              <a:t/>
            </a:r>
            <a:endParaRPr b="1" i="0" sz="3113" u="none" cap="none" strike="noStrike">
              <a:solidFill>
                <a:srgbClr val="4D4C4C"/>
              </a:solidFill>
              <a:latin typeface="Arial"/>
              <a:ea typeface="Arial"/>
              <a:cs typeface="Arial"/>
              <a:sym typeface="Arial"/>
            </a:endParaRPr>
          </a:p>
          <a:p>
            <a:pPr indent="-336121" lvl="1" marL="672242" marR="0" rtl="0" algn="l">
              <a:lnSpc>
                <a:spcPct val="140025"/>
              </a:lnSpc>
              <a:spcBef>
                <a:spcPts val="0"/>
              </a:spcBef>
              <a:spcAft>
                <a:spcPts val="0"/>
              </a:spcAft>
              <a:buClr>
                <a:srgbClr val="4D4C4C"/>
              </a:buClr>
              <a:buSzPts val="3113"/>
              <a:buFont typeface="Arial"/>
              <a:buChar char="•"/>
            </a:pPr>
            <a:r>
              <a:rPr b="1" i="0" lang="en-US" sz="3113" u="none" cap="none" strike="noStrike">
                <a:solidFill>
                  <a:srgbClr val="4D4C4C"/>
                </a:solidFill>
                <a:latin typeface="Arial"/>
                <a:ea typeface="Arial"/>
                <a:cs typeface="Arial"/>
                <a:sym typeface="Arial"/>
              </a:rPr>
              <a:t>Valores intermedios (ej. 50): se usan para redes semiconfiables, como una zona DMZ (donde hay servidores públicos).</a:t>
            </a:r>
            <a:endParaRPr b="0" i="0" sz="1400" u="none" cap="none" strike="noStrike">
              <a:solidFill>
                <a:srgbClr val="000000"/>
              </a:solidFill>
              <a:latin typeface="Arial"/>
              <a:ea typeface="Arial"/>
              <a:cs typeface="Arial"/>
              <a:sym typeface="Arial"/>
            </a:endParaRPr>
          </a:p>
          <a:p>
            <a:pPr indent="0" lvl="0" marL="0" marR="0" rtl="0" algn="l">
              <a:lnSpc>
                <a:spcPct val="140025"/>
              </a:lnSpc>
              <a:spcBef>
                <a:spcPts val="0"/>
              </a:spcBef>
              <a:spcAft>
                <a:spcPts val="0"/>
              </a:spcAft>
              <a:buClr>
                <a:srgbClr val="000000"/>
              </a:buClr>
              <a:buSzPts val="3113"/>
              <a:buFont typeface="Arial"/>
              <a:buNone/>
            </a:pPr>
            <a:r>
              <a:t/>
            </a:r>
            <a:endParaRPr b="1" i="0" sz="3113" u="none" cap="none" strike="noStrike">
              <a:solidFill>
                <a:srgbClr val="4D4C4C"/>
              </a:solidFill>
              <a:latin typeface="Arial"/>
              <a:ea typeface="Arial"/>
              <a:cs typeface="Arial"/>
              <a:sym typeface="Arial"/>
            </a:endParaRPr>
          </a:p>
        </p:txBody>
      </p:sp>
      <p:grpSp>
        <p:nvGrpSpPr>
          <p:cNvPr id="717" name="Google Shape;717;p39"/>
          <p:cNvGrpSpPr/>
          <p:nvPr/>
        </p:nvGrpSpPr>
        <p:grpSpPr>
          <a:xfrm rot="10800000">
            <a:off x="779027" y="8556229"/>
            <a:ext cx="1139788" cy="1139788"/>
            <a:chOff x="0" y="0"/>
            <a:chExt cx="812800" cy="812800"/>
          </a:xfrm>
        </p:grpSpPr>
        <p:sp>
          <p:nvSpPr>
            <p:cNvPr id="718" name="Google Shape;718;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3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723" name="Shape 723"/>
        <p:cNvGrpSpPr/>
        <p:nvPr/>
      </p:nvGrpSpPr>
      <p:grpSpPr>
        <a:xfrm>
          <a:off x="0" y="0"/>
          <a:ext cx="0" cy="0"/>
          <a:chOff x="0" y="0"/>
          <a:chExt cx="0" cy="0"/>
        </a:xfrm>
      </p:grpSpPr>
      <p:grpSp>
        <p:nvGrpSpPr>
          <p:cNvPr id="724" name="Google Shape;724;p40"/>
          <p:cNvGrpSpPr/>
          <p:nvPr/>
        </p:nvGrpSpPr>
        <p:grpSpPr>
          <a:xfrm>
            <a:off x="-3271034" y="-3520368"/>
            <a:ext cx="9568435" cy="4625459"/>
            <a:chOff x="0" y="-47625"/>
            <a:chExt cx="939217" cy="454025"/>
          </a:xfrm>
        </p:grpSpPr>
        <p:sp>
          <p:nvSpPr>
            <p:cNvPr id="725" name="Google Shape;725;p40"/>
            <p:cNvSpPr/>
            <p:nvPr/>
          </p:nvSpPr>
          <p:spPr>
            <a:xfrm>
              <a:off x="0" y="0"/>
              <a:ext cx="939217" cy="406400"/>
            </a:xfrm>
            <a:custGeom>
              <a:rect b="b" l="l" r="r" t="t"/>
              <a:pathLst>
                <a:path extrusionOk="0" h="406400" w="939217">
                  <a:moveTo>
                    <a:pt x="736017" y="0"/>
                  </a:moveTo>
                  <a:cubicBezTo>
                    <a:pt x="848241" y="0"/>
                    <a:pt x="939217" y="90976"/>
                    <a:pt x="939217" y="203200"/>
                  </a:cubicBezTo>
                  <a:cubicBezTo>
                    <a:pt x="939217" y="315424"/>
                    <a:pt x="848241" y="406400"/>
                    <a:pt x="73601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95250">
              <a:solidFill>
                <a:srgbClr val="4D4C4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40"/>
            <p:cNvSpPr txBox="1"/>
            <p:nvPr/>
          </p:nvSpPr>
          <p:spPr>
            <a:xfrm>
              <a:off x="0" y="-47625"/>
              <a:ext cx="939217"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7" name="Google Shape;727;p40"/>
          <p:cNvSpPr/>
          <p:nvPr/>
        </p:nvSpPr>
        <p:spPr>
          <a:xfrm>
            <a:off x="16058915" y="-2034868"/>
            <a:ext cx="4009935" cy="4009935"/>
          </a:xfrm>
          <a:custGeom>
            <a:rect b="b" l="l" r="r" t="t"/>
            <a:pathLst>
              <a:path extrusionOk="0" h="4009935" w="4009935">
                <a:moveTo>
                  <a:pt x="0" y="0"/>
                </a:moveTo>
                <a:lnTo>
                  <a:pt x="4009935" y="0"/>
                </a:lnTo>
                <a:lnTo>
                  <a:pt x="4009935" y="4009935"/>
                </a:lnTo>
                <a:lnTo>
                  <a:pt x="0" y="400993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728" name="Google Shape;728;p40"/>
          <p:cNvGrpSpPr/>
          <p:nvPr/>
        </p:nvGrpSpPr>
        <p:grpSpPr>
          <a:xfrm>
            <a:off x="1249361" y="548794"/>
            <a:ext cx="959812" cy="959812"/>
            <a:chOff x="0" y="0"/>
            <a:chExt cx="812800" cy="812800"/>
          </a:xfrm>
        </p:grpSpPr>
        <p:sp>
          <p:nvSpPr>
            <p:cNvPr id="729" name="Google Shape;729;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25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4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1" name="Google Shape;731;p40"/>
          <p:cNvGrpSpPr/>
          <p:nvPr/>
        </p:nvGrpSpPr>
        <p:grpSpPr>
          <a:xfrm rot="-5400000">
            <a:off x="6095749" y="2493369"/>
            <a:ext cx="6818207" cy="21127995"/>
            <a:chOff x="0" y="-47625"/>
            <a:chExt cx="1795742" cy="5564575"/>
          </a:xfrm>
        </p:grpSpPr>
        <p:sp>
          <p:nvSpPr>
            <p:cNvPr id="732" name="Google Shape;732;p4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1525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3" name="Google Shape;733;p4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734" name="Google Shape;734;p40"/>
          <p:cNvGraphicFramePr/>
          <p:nvPr/>
        </p:nvGraphicFramePr>
        <p:xfrm>
          <a:off x="4518060" y="3718890"/>
          <a:ext cx="3000000" cy="3000000"/>
        </p:xfrm>
        <a:graphic>
          <a:graphicData uri="http://schemas.openxmlformats.org/drawingml/2006/table">
            <a:tbl>
              <a:tblPr>
                <a:noFill/>
                <a:tableStyleId>{A82F5AA0-886F-4AD3-B54A-C191DF9C00A1}</a:tableStyleId>
              </a:tblPr>
              <a:tblGrid>
                <a:gridCol w="3698275"/>
                <a:gridCol w="5866300"/>
              </a:tblGrid>
              <a:tr h="805950">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Tipo de tráfico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¿Permitido por defecto?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489225">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De mayor a menor nivel</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Sí (permitido)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477675">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De menor a mayor nivel</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No (bloqueado)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465375">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Entre niveles iguales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21"/>
                        </a:lnSpc>
                        <a:spcBef>
                          <a:spcPts val="0"/>
                        </a:spcBef>
                        <a:spcAft>
                          <a:spcPts val="0"/>
                        </a:spcAft>
                        <a:buClr>
                          <a:srgbClr val="000000"/>
                        </a:buClr>
                        <a:buSzPts val="1899"/>
                        <a:buFont typeface="Arial"/>
                        <a:buNone/>
                      </a:pPr>
                      <a:r>
                        <a:rPr lang="en-US" sz="1899" u="none" cap="none" strike="noStrike">
                          <a:solidFill>
                            <a:srgbClr val="000000"/>
                          </a:solidFill>
                          <a:latin typeface="Montserrat"/>
                          <a:ea typeface="Montserrat"/>
                          <a:cs typeface="Montserrat"/>
                          <a:sym typeface="Montserrat"/>
                        </a:rPr>
                        <a:t>No (bloqueado)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735" name="Google Shape;735;p40"/>
          <p:cNvSpPr txBox="1"/>
          <p:nvPr/>
        </p:nvSpPr>
        <p:spPr>
          <a:xfrm>
            <a:off x="4398094" y="2645494"/>
            <a:ext cx="9491811" cy="38227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199"/>
              <a:buFont typeface="Arial"/>
              <a:buNone/>
            </a:pPr>
            <a:r>
              <a:rPr b="1" i="0" lang="en-US" sz="2199" u="none" cap="none" strike="noStrike">
                <a:solidFill>
                  <a:srgbClr val="000000"/>
                </a:solidFill>
                <a:latin typeface="Arial"/>
                <a:ea typeface="Arial"/>
                <a:cs typeface="Arial"/>
                <a:sym typeface="Arial"/>
              </a:rPr>
              <a:t>Los niveles permiten que el ASA aplique reglas de tráfico automáticas:</a:t>
            </a:r>
            <a:endParaRPr b="0" i="0" sz="1400" u="none" cap="none" strike="noStrike">
              <a:solidFill>
                <a:srgbClr val="000000"/>
              </a:solidFill>
              <a:latin typeface="Arial"/>
              <a:ea typeface="Arial"/>
              <a:cs typeface="Arial"/>
              <a:sym typeface="Arial"/>
            </a:endParaRPr>
          </a:p>
        </p:txBody>
      </p:sp>
      <p:sp>
        <p:nvSpPr>
          <p:cNvPr id="736" name="Google Shape;736;p40"/>
          <p:cNvSpPr txBox="1"/>
          <p:nvPr/>
        </p:nvSpPr>
        <p:spPr>
          <a:xfrm>
            <a:off x="4014278" y="1422881"/>
            <a:ext cx="10259445" cy="678400"/>
          </a:xfrm>
          <a:prstGeom prst="rect">
            <a:avLst/>
          </a:prstGeom>
          <a:noFill/>
          <a:ln>
            <a:noFill/>
          </a:ln>
        </p:spPr>
        <p:txBody>
          <a:bodyPr anchorCtr="0" anchor="t" bIns="0" lIns="0" spcFirstLastPara="1" rIns="0" wrap="square" tIns="0">
            <a:spAutoFit/>
          </a:bodyPr>
          <a:lstStyle/>
          <a:p>
            <a:pPr indent="0" lvl="0" marL="0" marR="0" rtl="0" algn="ctr">
              <a:lnSpc>
                <a:spcPct val="139989"/>
              </a:lnSpc>
              <a:spcBef>
                <a:spcPts val="0"/>
              </a:spcBef>
              <a:spcAft>
                <a:spcPts val="0"/>
              </a:spcAft>
              <a:buClr>
                <a:srgbClr val="000000"/>
              </a:buClr>
              <a:buSzPts val="3896"/>
              <a:buFont typeface="Arial"/>
              <a:buNone/>
            </a:pPr>
            <a:r>
              <a:rPr b="1" i="0" lang="en-US" sz="3896" u="none" cap="none" strike="noStrike">
                <a:solidFill>
                  <a:srgbClr val="000000"/>
                </a:solidFill>
                <a:latin typeface="Arial"/>
                <a:ea typeface="Arial"/>
                <a:cs typeface="Arial"/>
                <a:sym typeface="Arial"/>
              </a:rPr>
              <a:t>¿Para qué sirven los niveles de 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4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2" name="Google Shape;742;p43"/>
          <p:cNvSpPr/>
          <p:nvPr/>
        </p:nvSpPr>
        <p:spPr>
          <a:xfrm rot="-1508563">
            <a:off x="7042952" y="1987343"/>
            <a:ext cx="4555195" cy="6023399"/>
          </a:xfrm>
          <a:custGeom>
            <a:rect b="b" l="l" r="r" t="t"/>
            <a:pathLst>
              <a:path extrusionOk="0" h="6023399" w="4555195">
                <a:moveTo>
                  <a:pt x="0" y="0"/>
                </a:moveTo>
                <a:lnTo>
                  <a:pt x="4555195" y="0"/>
                </a:lnTo>
                <a:lnTo>
                  <a:pt x="4555195" y="6023398"/>
                </a:lnTo>
                <a:lnTo>
                  <a:pt x="0" y="602339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3" name="Google Shape;743;p43"/>
          <p:cNvSpPr/>
          <p:nvPr/>
        </p:nvSpPr>
        <p:spPr>
          <a:xfrm>
            <a:off x="12661944"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4" name="Google Shape;744;p43"/>
          <p:cNvSpPr/>
          <p:nvPr/>
        </p:nvSpPr>
        <p:spPr>
          <a:xfrm>
            <a:off x="1604622"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5" name="Google Shape;745;p43"/>
          <p:cNvSpPr/>
          <p:nvPr/>
        </p:nvSpPr>
        <p:spPr>
          <a:xfrm>
            <a:off x="12661944"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6" name="Google Shape;746;p43"/>
          <p:cNvSpPr/>
          <p:nvPr/>
        </p:nvSpPr>
        <p:spPr>
          <a:xfrm>
            <a:off x="1604622"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7" name="Google Shape;747;p43"/>
          <p:cNvSpPr txBox="1"/>
          <p:nvPr/>
        </p:nvSpPr>
        <p:spPr>
          <a:xfrm>
            <a:off x="12593011" y="3144594"/>
            <a:ext cx="3827048" cy="2114625"/>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Clr>
                <a:srgbClr val="000000"/>
              </a:buClr>
              <a:buSzPts val="1756"/>
              <a:buFont typeface="Arial"/>
              <a:buNone/>
            </a:pPr>
            <a:r>
              <a:rPr b="0" i="0" lang="en-US" sz="1756" u="none" cap="none" strike="noStrike">
                <a:solidFill>
                  <a:srgbClr val="FFFFFF"/>
                </a:solidFill>
                <a:latin typeface="Sniglet"/>
                <a:ea typeface="Sniglet"/>
                <a:cs typeface="Sniglet"/>
                <a:sym typeface="Sniglet"/>
              </a:rPr>
              <a:t>Funciones clave:</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Bloquear accesos no autorizados.</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Permitir solo tráfico confiable.</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Prevenir ataques y virus.</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Control del uso de internet.</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748" name="Google Shape;748;p43"/>
          <p:cNvSpPr txBox="1"/>
          <p:nvPr/>
        </p:nvSpPr>
        <p:spPr>
          <a:xfrm>
            <a:off x="369457" y="2911100"/>
            <a:ext cx="6542064" cy="2087942"/>
          </a:xfrm>
          <a:prstGeom prst="rect">
            <a:avLst/>
          </a:prstGeom>
          <a:noFill/>
          <a:ln>
            <a:noFill/>
          </a:ln>
        </p:spPr>
        <p:txBody>
          <a:bodyPr anchorCtr="0" anchor="t" bIns="0" lIns="0" spcFirstLastPara="1" rIns="0" wrap="square" tIns="0">
            <a:spAutoFit/>
          </a:bodyPr>
          <a:lstStyle/>
          <a:p>
            <a:pPr indent="0" lvl="0" marL="0" marR="0" rtl="0" algn="ctr">
              <a:lnSpc>
                <a:spcPct val="134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87207" lvl="1" marL="374413" marR="0" rtl="0" algn="ctr">
              <a:lnSpc>
                <a:spcPct val="139965"/>
              </a:lnSpc>
              <a:spcBef>
                <a:spcPts val="0"/>
              </a:spcBef>
              <a:spcAft>
                <a:spcPts val="0"/>
              </a:spcAft>
              <a:buClr>
                <a:srgbClr val="FFFFFF"/>
              </a:buClr>
              <a:buSzPts val="1734"/>
              <a:buFont typeface="Arial"/>
              <a:buChar char="•"/>
            </a:pPr>
            <a:r>
              <a:rPr b="0" i="0" lang="en-US" sz="1734" u="none" cap="none" strike="noStrike">
                <a:solidFill>
                  <a:srgbClr val="FFFFFF"/>
                </a:solidFill>
                <a:latin typeface="Sniglet"/>
                <a:ea typeface="Sniglet"/>
                <a:cs typeface="Sniglet"/>
                <a:sym typeface="Sniglet"/>
              </a:rPr>
              <a:t>HSRP (Hot Standby Router Protocol) – Propietario de Cisco.</a:t>
            </a:r>
            <a:endParaRPr b="0" i="0" sz="1400" u="none" cap="none" strike="noStrike">
              <a:solidFill>
                <a:srgbClr val="000000"/>
              </a:solidFill>
              <a:latin typeface="Arial"/>
              <a:ea typeface="Arial"/>
              <a:cs typeface="Arial"/>
              <a:sym typeface="Arial"/>
            </a:endParaRPr>
          </a:p>
          <a:p>
            <a:pPr indent="-187207" lvl="1" marL="374413" marR="0" rtl="0" algn="ctr">
              <a:lnSpc>
                <a:spcPct val="139965"/>
              </a:lnSpc>
              <a:spcBef>
                <a:spcPts val="0"/>
              </a:spcBef>
              <a:spcAft>
                <a:spcPts val="0"/>
              </a:spcAft>
              <a:buClr>
                <a:srgbClr val="FFFFFF"/>
              </a:buClr>
              <a:buSzPts val="1734"/>
              <a:buFont typeface="Arial"/>
              <a:buChar char="•"/>
            </a:pPr>
            <a:r>
              <a:rPr b="0" i="0" lang="en-US" sz="1734" u="none" cap="none" strike="noStrike">
                <a:solidFill>
                  <a:srgbClr val="FFFFFF"/>
                </a:solidFill>
                <a:latin typeface="Sniglet"/>
                <a:ea typeface="Sniglet"/>
                <a:cs typeface="Sniglet"/>
                <a:sym typeface="Sniglet"/>
              </a:rPr>
              <a:t>VRRP (Virtual Router Redundancy Protocol) – Estándar abierto.</a:t>
            </a:r>
            <a:endParaRPr b="0" i="0" sz="1400" u="none" cap="none" strike="noStrike">
              <a:solidFill>
                <a:srgbClr val="000000"/>
              </a:solidFill>
              <a:latin typeface="Arial"/>
              <a:ea typeface="Arial"/>
              <a:cs typeface="Arial"/>
              <a:sym typeface="Arial"/>
            </a:endParaRPr>
          </a:p>
          <a:p>
            <a:pPr indent="-187207" lvl="1" marL="374413" marR="0" rtl="0" algn="ctr">
              <a:lnSpc>
                <a:spcPct val="139965"/>
              </a:lnSpc>
              <a:spcBef>
                <a:spcPts val="0"/>
              </a:spcBef>
              <a:spcAft>
                <a:spcPts val="0"/>
              </a:spcAft>
              <a:buClr>
                <a:srgbClr val="FFFFFF"/>
              </a:buClr>
              <a:buSzPts val="1734"/>
              <a:buFont typeface="Arial"/>
              <a:buChar char="•"/>
            </a:pPr>
            <a:r>
              <a:rPr b="0" i="0" lang="en-US" sz="1734" u="none" cap="none" strike="noStrike">
                <a:solidFill>
                  <a:srgbClr val="FFFFFF"/>
                </a:solidFill>
                <a:latin typeface="Sniglet"/>
                <a:ea typeface="Sniglet"/>
                <a:cs typeface="Sniglet"/>
                <a:sym typeface="Sniglet"/>
              </a:rPr>
              <a:t>GLBP (Gateway Load Balancing Protocol) – Propietario de Cisco, permite balanceo de carga.</a:t>
            </a:r>
            <a:endParaRPr b="0" i="0" sz="1400" u="none" cap="none" strike="noStrike">
              <a:solidFill>
                <a:srgbClr val="000000"/>
              </a:solidFill>
              <a:latin typeface="Arial"/>
              <a:ea typeface="Arial"/>
              <a:cs typeface="Arial"/>
              <a:sym typeface="Arial"/>
            </a:endParaRPr>
          </a:p>
          <a:p>
            <a:pPr indent="0" lvl="0" marL="0" marR="0" rtl="0" algn="ctr">
              <a:lnSpc>
                <a:spcPct val="139965"/>
              </a:lnSpc>
              <a:spcBef>
                <a:spcPts val="0"/>
              </a:spcBef>
              <a:spcAft>
                <a:spcPts val="0"/>
              </a:spcAft>
              <a:buClr>
                <a:srgbClr val="000000"/>
              </a:buClr>
              <a:buSzPts val="1734"/>
              <a:buFont typeface="Arial"/>
              <a:buNone/>
            </a:pPr>
            <a:r>
              <a:t/>
            </a:r>
            <a:endParaRPr b="0" i="0" sz="1734" u="none" cap="none" strike="noStrike">
              <a:solidFill>
                <a:srgbClr val="FFFFFF"/>
              </a:solidFill>
              <a:latin typeface="Sniglet"/>
              <a:ea typeface="Sniglet"/>
              <a:cs typeface="Sniglet"/>
              <a:sym typeface="Sniglet"/>
            </a:endParaRPr>
          </a:p>
          <a:p>
            <a:pPr indent="0" lvl="0" marL="0" marR="0" rtl="0" algn="ctr">
              <a:lnSpc>
                <a:spcPct val="139965"/>
              </a:lnSpc>
              <a:spcBef>
                <a:spcPts val="0"/>
              </a:spcBef>
              <a:spcAft>
                <a:spcPts val="0"/>
              </a:spcAft>
              <a:buClr>
                <a:srgbClr val="000000"/>
              </a:buClr>
              <a:buSzPts val="1734"/>
              <a:buFont typeface="Arial"/>
              <a:buNone/>
            </a:pPr>
            <a:r>
              <a:t/>
            </a:r>
            <a:endParaRPr b="0" i="0" sz="1734" u="none" cap="none" strike="noStrike">
              <a:solidFill>
                <a:srgbClr val="FFFFFF"/>
              </a:solidFill>
              <a:latin typeface="Sniglet"/>
              <a:ea typeface="Sniglet"/>
              <a:cs typeface="Sniglet"/>
              <a:sym typeface="Sniglet"/>
            </a:endParaRPr>
          </a:p>
        </p:txBody>
      </p:sp>
      <p:sp>
        <p:nvSpPr>
          <p:cNvPr id="749" name="Google Shape;749;p43"/>
          <p:cNvSpPr txBox="1"/>
          <p:nvPr/>
        </p:nvSpPr>
        <p:spPr>
          <a:xfrm>
            <a:off x="12432123" y="7621483"/>
            <a:ext cx="4600257" cy="1891543"/>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Valores entre 0 (red menos confiable) y 100 (red más confiable).</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Tráfico de mayor a menor nivel: permitido por defecto.</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750" name="Google Shape;750;p43"/>
          <p:cNvSpPr txBox="1"/>
          <p:nvPr/>
        </p:nvSpPr>
        <p:spPr>
          <a:xfrm>
            <a:off x="1726965" y="7621483"/>
            <a:ext cx="3827048" cy="2269852"/>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Lista de reglas que permiten o bloquean tráfico basado en:</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IP origen/destino.</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Protocolo (TCP, UDP, ICMP).</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Interfaz (entrada o salida).</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751" name="Google Shape;751;p43"/>
          <p:cNvSpPr txBox="1"/>
          <p:nvPr/>
        </p:nvSpPr>
        <p:spPr>
          <a:xfrm>
            <a:off x="13388486" y="1911424"/>
            <a:ext cx="2637300" cy="4923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Clr>
                <a:srgbClr val="000000"/>
              </a:buClr>
              <a:buSzPts val="3199"/>
              <a:buFont typeface="Arial"/>
              <a:buNone/>
            </a:pPr>
            <a:r>
              <a:rPr b="0" i="0" lang="en-US" sz="3199" u="none" cap="none" strike="noStrike">
                <a:solidFill>
                  <a:srgbClr val="FFFFFF"/>
                </a:solidFill>
                <a:latin typeface="Shadows Into Light"/>
                <a:ea typeface="Shadows Into Light"/>
                <a:cs typeface="Shadows Into Light"/>
                <a:sym typeface="Shadows Into Light"/>
              </a:rPr>
              <a:t>FIREWALLS</a:t>
            </a:r>
            <a:endParaRPr b="0" i="0" sz="1400" u="none" cap="none" strike="noStrike">
              <a:solidFill>
                <a:srgbClr val="000000"/>
              </a:solidFill>
              <a:latin typeface="Arial"/>
              <a:ea typeface="Arial"/>
              <a:cs typeface="Arial"/>
              <a:sym typeface="Arial"/>
            </a:endParaRPr>
          </a:p>
        </p:txBody>
      </p:sp>
      <p:sp>
        <p:nvSpPr>
          <p:cNvPr id="752" name="Google Shape;752;p43"/>
          <p:cNvSpPr txBox="1"/>
          <p:nvPr/>
        </p:nvSpPr>
        <p:spPr>
          <a:xfrm>
            <a:off x="2321838" y="1831208"/>
            <a:ext cx="2637300" cy="627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Clr>
                <a:srgbClr val="000000"/>
              </a:buClr>
              <a:buSzPts val="1699"/>
              <a:buFont typeface="Arial"/>
              <a:buNone/>
            </a:pPr>
            <a:r>
              <a:rPr b="0" i="0" lang="en-US" sz="1699" u="none" cap="none" strike="noStrike">
                <a:solidFill>
                  <a:srgbClr val="FFFFFF"/>
                </a:solidFill>
                <a:latin typeface="Shadows Into Light"/>
                <a:ea typeface="Shadows Into Light"/>
                <a:cs typeface="Shadows Into Light"/>
                <a:sym typeface="Shadows Into Light"/>
              </a:rPr>
              <a:t>PROTOCOLOS DE REDUNDANCIA DE PUERTA DE ENLACE</a:t>
            </a:r>
            <a:endParaRPr b="0" i="0" sz="800" u="none" cap="none" strike="noStrike">
              <a:solidFill>
                <a:srgbClr val="000000"/>
              </a:solidFill>
              <a:latin typeface="Arial"/>
              <a:ea typeface="Arial"/>
              <a:cs typeface="Arial"/>
              <a:sym typeface="Arial"/>
            </a:endParaRPr>
          </a:p>
        </p:txBody>
      </p:sp>
      <p:sp>
        <p:nvSpPr>
          <p:cNvPr id="753" name="Google Shape;753;p43"/>
          <p:cNvSpPr txBox="1"/>
          <p:nvPr/>
        </p:nvSpPr>
        <p:spPr>
          <a:xfrm>
            <a:off x="13413610" y="6457130"/>
            <a:ext cx="2637300" cy="70170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Clr>
                <a:srgbClr val="000000"/>
              </a:buClr>
              <a:buSzPts val="1899"/>
              <a:buFont typeface="Arial"/>
              <a:buNone/>
            </a:pPr>
            <a:r>
              <a:rPr b="0" i="0" lang="en-US" sz="1899" u="none" cap="none" strike="noStrike">
                <a:solidFill>
                  <a:srgbClr val="FFFFFF"/>
                </a:solidFill>
                <a:latin typeface="Shadows Into Light"/>
                <a:ea typeface="Shadows Into Light"/>
                <a:cs typeface="Shadows Into Light"/>
                <a:sym typeface="Shadows Into Light"/>
              </a:rPr>
              <a:t>NIVELES DE SEGURIDAD EN FIREWALLS ASA (CISCO)</a:t>
            </a:r>
            <a:endParaRPr b="0" i="0" sz="700" u="none" cap="none" strike="noStrike">
              <a:solidFill>
                <a:srgbClr val="000000"/>
              </a:solidFill>
              <a:latin typeface="Arial"/>
              <a:ea typeface="Arial"/>
              <a:cs typeface="Arial"/>
              <a:sym typeface="Arial"/>
            </a:endParaRPr>
          </a:p>
        </p:txBody>
      </p:sp>
      <p:sp>
        <p:nvSpPr>
          <p:cNvPr id="754" name="Google Shape;754;p43"/>
          <p:cNvSpPr txBox="1"/>
          <p:nvPr/>
        </p:nvSpPr>
        <p:spPr>
          <a:xfrm>
            <a:off x="2331163" y="6297113"/>
            <a:ext cx="2637300" cy="9972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699"/>
              <a:buFont typeface="Arial"/>
              <a:buNone/>
            </a:pPr>
            <a:r>
              <a:rPr b="0" i="0" lang="en-US" sz="2699" u="none" cap="none" strike="noStrike">
                <a:solidFill>
                  <a:srgbClr val="FFFFFF"/>
                </a:solidFill>
                <a:latin typeface="Shadows Into Light"/>
                <a:ea typeface="Shadows Into Light"/>
                <a:cs typeface="Shadows Into Light"/>
                <a:sym typeface="Shadows Into Light"/>
              </a:rPr>
              <a:t>ACL (ACCESS CONTROL LIST)</a:t>
            </a:r>
            <a:endParaRPr b="0" i="0" sz="1200" u="none" cap="none" strike="noStrike">
              <a:solidFill>
                <a:srgbClr val="000000"/>
              </a:solidFill>
              <a:latin typeface="Arial"/>
              <a:ea typeface="Arial"/>
              <a:cs typeface="Arial"/>
              <a:sym typeface="Arial"/>
            </a:endParaRPr>
          </a:p>
        </p:txBody>
      </p:sp>
      <p:sp>
        <p:nvSpPr>
          <p:cNvPr id="755" name="Google Shape;755;p43"/>
          <p:cNvSpPr/>
          <p:nvPr/>
        </p:nvSpPr>
        <p:spPr>
          <a:xfrm rot="577984">
            <a:off x="10475096" y="1452402"/>
            <a:ext cx="1827509" cy="780845"/>
          </a:xfrm>
          <a:custGeom>
            <a:rect b="b" l="l" r="r" t="t"/>
            <a:pathLst>
              <a:path extrusionOk="0" h="780845" w="1827509">
                <a:moveTo>
                  <a:pt x="0" y="0"/>
                </a:moveTo>
                <a:lnTo>
                  <a:pt x="1827509" y="0"/>
                </a:lnTo>
                <a:lnTo>
                  <a:pt x="1827509" y="780844"/>
                </a:lnTo>
                <a:lnTo>
                  <a:pt x="0" y="78084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6" name="Google Shape;756;p43"/>
          <p:cNvSpPr/>
          <p:nvPr/>
        </p:nvSpPr>
        <p:spPr>
          <a:xfrm flipH="1" rot="-565549">
            <a:off x="6081248" y="1452402"/>
            <a:ext cx="1827509" cy="780845"/>
          </a:xfrm>
          <a:custGeom>
            <a:rect b="b" l="l" r="r" t="t"/>
            <a:pathLst>
              <a:path extrusionOk="0" h="780845" w="1827509">
                <a:moveTo>
                  <a:pt x="1827509" y="0"/>
                </a:moveTo>
                <a:lnTo>
                  <a:pt x="0" y="0"/>
                </a:lnTo>
                <a:lnTo>
                  <a:pt x="0" y="780844"/>
                </a:lnTo>
                <a:lnTo>
                  <a:pt x="1827509" y="780844"/>
                </a:lnTo>
                <a:lnTo>
                  <a:pt x="1827509"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7" name="Google Shape;757;p43"/>
          <p:cNvSpPr/>
          <p:nvPr/>
        </p:nvSpPr>
        <p:spPr>
          <a:xfrm rot="-10222015">
            <a:off x="5747437" y="6928423"/>
            <a:ext cx="1827509" cy="780845"/>
          </a:xfrm>
          <a:custGeom>
            <a:rect b="b" l="l" r="r" t="t"/>
            <a:pathLst>
              <a:path extrusionOk="0" h="780845" w="1827509">
                <a:moveTo>
                  <a:pt x="0" y="0"/>
                </a:moveTo>
                <a:lnTo>
                  <a:pt x="1827509" y="0"/>
                </a:lnTo>
                <a:lnTo>
                  <a:pt x="1827509" y="780845"/>
                </a:lnTo>
                <a:lnTo>
                  <a:pt x="0" y="780845"/>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8" name="Google Shape;758;p43"/>
          <p:cNvSpPr/>
          <p:nvPr/>
        </p:nvSpPr>
        <p:spPr>
          <a:xfrm flipH="1" rot="10234450">
            <a:off x="10810598" y="6928423"/>
            <a:ext cx="1827509" cy="780845"/>
          </a:xfrm>
          <a:custGeom>
            <a:rect b="b" l="l" r="r" t="t"/>
            <a:pathLst>
              <a:path extrusionOk="0" h="780845" w="1827509">
                <a:moveTo>
                  <a:pt x="1827509" y="0"/>
                </a:moveTo>
                <a:lnTo>
                  <a:pt x="0" y="0"/>
                </a:lnTo>
                <a:lnTo>
                  <a:pt x="0" y="780845"/>
                </a:lnTo>
                <a:lnTo>
                  <a:pt x="1827509" y="780845"/>
                </a:lnTo>
                <a:lnTo>
                  <a:pt x="1827509"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9" name="Google Shape;759;p43"/>
          <p:cNvSpPr/>
          <p:nvPr/>
        </p:nvSpPr>
        <p:spPr>
          <a:xfrm rot="-2492452">
            <a:off x="14777619" y="8947652"/>
            <a:ext cx="5782005" cy="1576910"/>
          </a:xfrm>
          <a:custGeom>
            <a:rect b="b" l="l" r="r" t="t"/>
            <a:pathLst>
              <a:path extrusionOk="0" h="1576910" w="5782005">
                <a:moveTo>
                  <a:pt x="0" y="0"/>
                </a:moveTo>
                <a:lnTo>
                  <a:pt x="5782005" y="0"/>
                </a:lnTo>
                <a:lnTo>
                  <a:pt x="5782005" y="1576911"/>
                </a:lnTo>
                <a:lnTo>
                  <a:pt x="0" y="157691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0" name="Google Shape;760;p43"/>
          <p:cNvSpPr/>
          <p:nvPr/>
        </p:nvSpPr>
        <p:spPr>
          <a:xfrm rot="-2492452">
            <a:off x="-1862303" y="240245"/>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1" name="Google Shape;761;p43"/>
          <p:cNvSpPr/>
          <p:nvPr/>
        </p:nvSpPr>
        <p:spPr>
          <a:xfrm rot="1154987">
            <a:off x="16944349" y="965348"/>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2" name="Google Shape;762;p43"/>
          <p:cNvSpPr/>
          <p:nvPr/>
        </p:nvSpPr>
        <p:spPr>
          <a:xfrm rot="1385658">
            <a:off x="15712626" y="5003442"/>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3" name="Google Shape;763;p43"/>
          <p:cNvSpPr/>
          <p:nvPr/>
        </p:nvSpPr>
        <p:spPr>
          <a:xfrm rot="-904948">
            <a:off x="16878317" y="424948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4" name="Google Shape;764;p43"/>
          <p:cNvSpPr/>
          <p:nvPr/>
        </p:nvSpPr>
        <p:spPr>
          <a:xfrm rot="-1101707">
            <a:off x="5712992" y="4405405"/>
            <a:ext cx="1100927" cy="1187274"/>
          </a:xfrm>
          <a:custGeom>
            <a:rect b="b" l="l" r="r" t="t"/>
            <a:pathLst>
              <a:path extrusionOk="0" h="1187274" w="1100927">
                <a:moveTo>
                  <a:pt x="0" y="0"/>
                </a:moveTo>
                <a:lnTo>
                  <a:pt x="1100927" y="0"/>
                </a:lnTo>
                <a:lnTo>
                  <a:pt x="1100927" y="1187274"/>
                </a:lnTo>
                <a:lnTo>
                  <a:pt x="0" y="1187274"/>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5" name="Google Shape;765;p43"/>
          <p:cNvSpPr/>
          <p:nvPr/>
        </p:nvSpPr>
        <p:spPr>
          <a:xfrm>
            <a:off x="8649480" y="1201050"/>
            <a:ext cx="1342139" cy="471300"/>
          </a:xfrm>
          <a:custGeom>
            <a:rect b="b" l="l" r="r" t="t"/>
            <a:pathLst>
              <a:path extrusionOk="0" h="471300" w="1342139">
                <a:moveTo>
                  <a:pt x="0" y="0"/>
                </a:moveTo>
                <a:lnTo>
                  <a:pt x="1342139" y="0"/>
                </a:lnTo>
                <a:lnTo>
                  <a:pt x="1342139" y="471300"/>
                </a:lnTo>
                <a:lnTo>
                  <a:pt x="0" y="471300"/>
                </a:lnTo>
                <a:lnTo>
                  <a:pt x="0" y="0"/>
                </a:lnTo>
                <a:close/>
              </a:path>
            </a:pathLst>
          </a:custGeom>
          <a:blipFill rotWithShape="1">
            <a:blip r:embed="rId9">
              <a:alphaModFix/>
            </a:blip>
            <a:stretch>
              <a:fillRect b="-33517" l="-13706" r="-15227"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6" name="Google Shape;766;p43"/>
          <p:cNvSpPr/>
          <p:nvPr/>
        </p:nvSpPr>
        <p:spPr>
          <a:xfrm rot="-514891">
            <a:off x="811416" y="5228345"/>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7" name="Google Shape;767;p43"/>
          <p:cNvSpPr txBox="1"/>
          <p:nvPr/>
        </p:nvSpPr>
        <p:spPr>
          <a:xfrm>
            <a:off x="6197100" y="8271508"/>
            <a:ext cx="5893800" cy="1772700"/>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Clr>
                <a:srgbClr val="000000"/>
              </a:buClr>
              <a:buSzPts val="4799"/>
              <a:buFont typeface="Arial"/>
              <a:buNone/>
            </a:pPr>
            <a:r>
              <a:rPr b="0" i="0" lang="en-US" sz="4799" u="none" cap="none" strike="noStrike">
                <a:solidFill>
                  <a:srgbClr val="FFFFFF"/>
                </a:solidFill>
                <a:latin typeface="Shadows Into Light"/>
                <a:ea typeface="Shadows Into Light"/>
                <a:cs typeface="Shadows Into Light"/>
                <a:sym typeface="Shadows Into Light"/>
              </a:rPr>
              <a:t>CONCEPTOS CLAVE APRENDIDOS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771" name="Shape 771"/>
        <p:cNvGrpSpPr/>
        <p:nvPr/>
      </p:nvGrpSpPr>
      <p:grpSpPr>
        <a:xfrm>
          <a:off x="0" y="0"/>
          <a:ext cx="0" cy="0"/>
          <a:chOff x="0" y="0"/>
          <a:chExt cx="0" cy="0"/>
        </a:xfrm>
      </p:grpSpPr>
      <p:grpSp>
        <p:nvGrpSpPr>
          <p:cNvPr id="772" name="Google Shape;772;p44"/>
          <p:cNvGrpSpPr/>
          <p:nvPr/>
        </p:nvGrpSpPr>
        <p:grpSpPr>
          <a:xfrm>
            <a:off x="4208265" y="4164660"/>
            <a:ext cx="5141050" cy="4238108"/>
            <a:chOff x="0" y="0"/>
            <a:chExt cx="812800" cy="670045"/>
          </a:xfrm>
        </p:grpSpPr>
        <p:sp>
          <p:nvSpPr>
            <p:cNvPr id="773" name="Google Shape;773;p44"/>
            <p:cNvSpPr/>
            <p:nvPr/>
          </p:nvSpPr>
          <p:spPr>
            <a:xfrm>
              <a:off x="0" y="0"/>
              <a:ext cx="812800" cy="670045"/>
            </a:xfrm>
            <a:custGeom>
              <a:rect b="b" l="l" r="r" t="t"/>
              <a:pathLst>
                <a:path extrusionOk="0" h="670045" w="812800">
                  <a:moveTo>
                    <a:pt x="39153" y="0"/>
                  </a:moveTo>
                  <a:lnTo>
                    <a:pt x="773647" y="0"/>
                  </a:lnTo>
                  <a:cubicBezTo>
                    <a:pt x="784031" y="0"/>
                    <a:pt x="793990" y="4125"/>
                    <a:pt x="801332" y="11468"/>
                  </a:cubicBezTo>
                  <a:cubicBezTo>
                    <a:pt x="808675" y="18810"/>
                    <a:pt x="812800" y="28769"/>
                    <a:pt x="812800" y="39153"/>
                  </a:cubicBezTo>
                  <a:lnTo>
                    <a:pt x="812800" y="630891"/>
                  </a:lnTo>
                  <a:cubicBezTo>
                    <a:pt x="812800" y="641276"/>
                    <a:pt x="808675" y="651234"/>
                    <a:pt x="801332" y="658577"/>
                  </a:cubicBezTo>
                  <a:cubicBezTo>
                    <a:pt x="793990" y="665920"/>
                    <a:pt x="784031" y="670045"/>
                    <a:pt x="773647" y="670045"/>
                  </a:cubicBezTo>
                  <a:lnTo>
                    <a:pt x="39153" y="670045"/>
                  </a:lnTo>
                  <a:cubicBezTo>
                    <a:pt x="28769" y="670045"/>
                    <a:pt x="18810" y="665920"/>
                    <a:pt x="11468" y="658577"/>
                  </a:cubicBezTo>
                  <a:cubicBezTo>
                    <a:pt x="4125" y="651234"/>
                    <a:pt x="0" y="641276"/>
                    <a:pt x="0" y="630891"/>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44"/>
            <p:cNvSpPr txBox="1"/>
            <p:nvPr/>
          </p:nvSpPr>
          <p:spPr>
            <a:xfrm>
              <a:off x="0" y="9525"/>
              <a:ext cx="812800" cy="660520"/>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75" name="Google Shape;775;p44"/>
          <p:cNvGrpSpPr/>
          <p:nvPr/>
        </p:nvGrpSpPr>
        <p:grpSpPr>
          <a:xfrm>
            <a:off x="9676421" y="4164660"/>
            <a:ext cx="5141050" cy="4238108"/>
            <a:chOff x="0" y="0"/>
            <a:chExt cx="812800" cy="670045"/>
          </a:xfrm>
        </p:grpSpPr>
        <p:sp>
          <p:nvSpPr>
            <p:cNvPr id="776" name="Google Shape;776;p44"/>
            <p:cNvSpPr/>
            <p:nvPr/>
          </p:nvSpPr>
          <p:spPr>
            <a:xfrm>
              <a:off x="0" y="0"/>
              <a:ext cx="812800" cy="670045"/>
            </a:xfrm>
            <a:custGeom>
              <a:rect b="b" l="l" r="r" t="t"/>
              <a:pathLst>
                <a:path extrusionOk="0" h="670045" w="812800">
                  <a:moveTo>
                    <a:pt x="39153" y="0"/>
                  </a:moveTo>
                  <a:lnTo>
                    <a:pt x="773647" y="0"/>
                  </a:lnTo>
                  <a:cubicBezTo>
                    <a:pt x="784031" y="0"/>
                    <a:pt x="793990" y="4125"/>
                    <a:pt x="801332" y="11468"/>
                  </a:cubicBezTo>
                  <a:cubicBezTo>
                    <a:pt x="808675" y="18810"/>
                    <a:pt x="812800" y="28769"/>
                    <a:pt x="812800" y="39153"/>
                  </a:cubicBezTo>
                  <a:lnTo>
                    <a:pt x="812800" y="630891"/>
                  </a:lnTo>
                  <a:cubicBezTo>
                    <a:pt x="812800" y="641276"/>
                    <a:pt x="808675" y="651234"/>
                    <a:pt x="801332" y="658577"/>
                  </a:cubicBezTo>
                  <a:cubicBezTo>
                    <a:pt x="793990" y="665920"/>
                    <a:pt x="784031" y="670045"/>
                    <a:pt x="773647" y="670045"/>
                  </a:cubicBezTo>
                  <a:lnTo>
                    <a:pt x="39153" y="670045"/>
                  </a:lnTo>
                  <a:cubicBezTo>
                    <a:pt x="28769" y="670045"/>
                    <a:pt x="18810" y="665920"/>
                    <a:pt x="11468" y="658577"/>
                  </a:cubicBezTo>
                  <a:cubicBezTo>
                    <a:pt x="4125" y="651234"/>
                    <a:pt x="0" y="641276"/>
                    <a:pt x="0" y="630891"/>
                  </a:cubicBezTo>
                  <a:lnTo>
                    <a:pt x="0" y="39153"/>
                  </a:lnTo>
                  <a:cubicBezTo>
                    <a:pt x="0" y="28769"/>
                    <a:pt x="4125" y="18810"/>
                    <a:pt x="11468" y="11468"/>
                  </a:cubicBezTo>
                  <a:cubicBezTo>
                    <a:pt x="18810" y="4125"/>
                    <a:pt x="28769" y="0"/>
                    <a:pt x="39153" y="0"/>
                  </a:cubicBezTo>
                  <a:close/>
                </a:path>
              </a:pathLst>
            </a:custGeom>
            <a:solidFill>
              <a:srgbClr val="EDE8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44"/>
            <p:cNvSpPr txBox="1"/>
            <p:nvPr/>
          </p:nvSpPr>
          <p:spPr>
            <a:xfrm>
              <a:off x="0" y="9525"/>
              <a:ext cx="812800" cy="660520"/>
            </a:xfrm>
            <a:prstGeom prst="rect">
              <a:avLst/>
            </a:prstGeom>
            <a:noFill/>
            <a:ln>
              <a:noFill/>
            </a:ln>
          </p:spPr>
          <p:txBody>
            <a:bodyPr anchorCtr="0" anchor="ctr" bIns="50800" lIns="50800" spcFirstLastPara="1" rIns="50800" wrap="square" tIns="50800">
              <a:noAutofit/>
            </a:bodyPr>
            <a:lstStyle/>
            <a:p>
              <a:pPr indent="0" lvl="0" marL="0" marR="0" rtl="0" algn="ctr">
                <a:lnSpc>
                  <a:spcPct val="117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8" name="Google Shape;778;p44"/>
          <p:cNvSpPr txBox="1"/>
          <p:nvPr/>
        </p:nvSpPr>
        <p:spPr>
          <a:xfrm>
            <a:off x="5186971" y="2099810"/>
            <a:ext cx="8324690" cy="1252164"/>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7326"/>
              <a:buFont typeface="Arial"/>
              <a:buNone/>
            </a:pPr>
            <a:r>
              <a:rPr b="1" i="0" lang="en-US" sz="7326" u="none" cap="none" strike="noStrike">
                <a:solidFill>
                  <a:srgbClr val="EDE8E4"/>
                </a:solidFill>
                <a:latin typeface="Arial"/>
                <a:ea typeface="Arial"/>
                <a:cs typeface="Arial"/>
                <a:sym typeface="Arial"/>
              </a:rPr>
              <a:t>VALORES</a:t>
            </a:r>
            <a:endParaRPr b="0" i="0" sz="1400" u="none" cap="none" strike="noStrike">
              <a:solidFill>
                <a:srgbClr val="000000"/>
              </a:solidFill>
              <a:latin typeface="Arial"/>
              <a:ea typeface="Arial"/>
              <a:cs typeface="Arial"/>
              <a:sym typeface="Arial"/>
            </a:endParaRPr>
          </a:p>
        </p:txBody>
      </p:sp>
      <p:sp>
        <p:nvSpPr>
          <p:cNvPr id="779" name="Google Shape;779;p44"/>
          <p:cNvSpPr txBox="1"/>
          <p:nvPr/>
        </p:nvSpPr>
        <p:spPr>
          <a:xfrm>
            <a:off x="5601541" y="3572367"/>
            <a:ext cx="2335600" cy="2483629"/>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528"/>
              <a:buFont typeface="Arial"/>
              <a:buNone/>
            </a:pPr>
            <a:r>
              <a:rPr b="1" i="0" lang="en-US" sz="11528" u="none" cap="none" strike="noStrike">
                <a:solidFill>
                  <a:srgbClr val="D89C6C"/>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780" name="Google Shape;780;p44"/>
          <p:cNvSpPr txBox="1"/>
          <p:nvPr/>
        </p:nvSpPr>
        <p:spPr>
          <a:xfrm>
            <a:off x="11242696" y="3527473"/>
            <a:ext cx="2008500" cy="17745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528"/>
              <a:buFont typeface="Arial"/>
              <a:buNone/>
            </a:pPr>
            <a:r>
              <a:rPr b="1" i="0" lang="en-US" sz="11528" u="none" cap="none" strike="noStrike">
                <a:solidFill>
                  <a:srgbClr val="D89C6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781" name="Google Shape;781;p44"/>
          <p:cNvSpPr txBox="1"/>
          <p:nvPr/>
        </p:nvSpPr>
        <p:spPr>
          <a:xfrm>
            <a:off x="4497085" y="5775093"/>
            <a:ext cx="4563411" cy="135862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Clr>
                <a:srgbClr val="000000"/>
              </a:buClr>
              <a:buSzPts val="2605"/>
              <a:buFont typeface="Arial"/>
              <a:buNone/>
            </a:pPr>
            <a:r>
              <a:rPr b="0" i="0" lang="en-US" sz="2605" u="none" cap="none" strike="noStrike">
                <a:solidFill>
                  <a:srgbClr val="152540"/>
                </a:solidFill>
                <a:latin typeface="Arial"/>
                <a:ea typeface="Arial"/>
                <a:cs typeface="Arial"/>
                <a:sym typeface="Arial"/>
              </a:rPr>
              <a:t>Prevención, al configurar mecanismos que evitan caídas del servicio.</a:t>
            </a:r>
            <a:endParaRPr b="0" i="0" sz="1400" u="none" cap="none" strike="noStrike">
              <a:solidFill>
                <a:srgbClr val="000000"/>
              </a:solidFill>
              <a:latin typeface="Arial"/>
              <a:ea typeface="Arial"/>
              <a:cs typeface="Arial"/>
              <a:sym typeface="Arial"/>
            </a:endParaRPr>
          </a:p>
        </p:txBody>
      </p:sp>
      <p:sp>
        <p:nvSpPr>
          <p:cNvPr id="782" name="Google Shape;782;p44"/>
          <p:cNvSpPr txBox="1"/>
          <p:nvPr/>
        </p:nvSpPr>
        <p:spPr>
          <a:xfrm>
            <a:off x="9965241" y="5775093"/>
            <a:ext cx="4563411" cy="135862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Clr>
                <a:srgbClr val="000000"/>
              </a:buClr>
              <a:buSzPts val="2605"/>
              <a:buFont typeface="Arial"/>
              <a:buNone/>
            </a:pPr>
            <a:r>
              <a:rPr b="0" i="0" lang="en-US" sz="2605" u="none" cap="none" strike="noStrike">
                <a:solidFill>
                  <a:srgbClr val="152540"/>
                </a:solidFill>
                <a:latin typeface="Arial"/>
                <a:ea typeface="Arial"/>
                <a:cs typeface="Arial"/>
                <a:sym typeface="Arial"/>
              </a:rPr>
              <a:t>Confiabilidad al realizar configuraciones que sean estables y seguras.</a:t>
            </a:r>
            <a:endParaRPr b="0" i="0" sz="1400" u="none" cap="none" strike="noStrike">
              <a:solidFill>
                <a:srgbClr val="000000"/>
              </a:solidFill>
              <a:latin typeface="Arial"/>
              <a:ea typeface="Arial"/>
              <a:cs typeface="Arial"/>
              <a:sym typeface="Arial"/>
            </a:endParaRPr>
          </a:p>
        </p:txBody>
      </p:sp>
      <p:cxnSp>
        <p:nvCxnSpPr>
          <p:cNvPr id="783" name="Google Shape;783;p44"/>
          <p:cNvCxnSpPr/>
          <p:nvPr/>
        </p:nvCxnSpPr>
        <p:spPr>
          <a:xfrm>
            <a:off x="4412531" y="5554699"/>
            <a:ext cx="4732518" cy="0"/>
          </a:xfrm>
          <a:prstGeom prst="straightConnector1">
            <a:avLst/>
          </a:prstGeom>
          <a:noFill/>
          <a:ln cap="flat" cmpd="sng" w="38100">
            <a:solidFill>
              <a:srgbClr val="253754"/>
            </a:solidFill>
            <a:prstDash val="solid"/>
            <a:round/>
            <a:headEnd len="sm" w="sm" type="none"/>
            <a:tailEnd len="sm" w="sm" type="none"/>
          </a:ln>
        </p:spPr>
      </p:cxnSp>
      <p:cxnSp>
        <p:nvCxnSpPr>
          <p:cNvPr id="784" name="Google Shape;784;p44"/>
          <p:cNvCxnSpPr/>
          <p:nvPr/>
        </p:nvCxnSpPr>
        <p:spPr>
          <a:xfrm>
            <a:off x="9880687" y="5554699"/>
            <a:ext cx="4732518" cy="0"/>
          </a:xfrm>
          <a:prstGeom prst="straightConnector1">
            <a:avLst/>
          </a:prstGeom>
          <a:noFill/>
          <a:ln cap="flat" cmpd="sng" w="38100">
            <a:solidFill>
              <a:srgbClr val="253754"/>
            </a:solidFill>
            <a:prstDash val="solid"/>
            <a:round/>
            <a:headEnd len="sm" w="sm" type="none"/>
            <a:tailEnd len="sm" w="sm" type="none"/>
          </a:ln>
        </p:spPr>
      </p:cxnSp>
      <p:cxnSp>
        <p:nvCxnSpPr>
          <p:cNvPr id="785" name="Google Shape;785;p44"/>
          <p:cNvCxnSpPr/>
          <p:nvPr/>
        </p:nvCxnSpPr>
        <p:spPr>
          <a:xfrm>
            <a:off x="15345588" y="5554699"/>
            <a:ext cx="4732518" cy="0"/>
          </a:xfrm>
          <a:prstGeom prst="straightConnector1">
            <a:avLst/>
          </a:prstGeom>
          <a:noFill/>
          <a:ln cap="flat" cmpd="sng" w="38100">
            <a:solidFill>
              <a:srgbClr val="253754"/>
            </a:solidFill>
            <a:prstDash val="solid"/>
            <a:round/>
            <a:headEnd len="sm" w="sm" type="none"/>
            <a:tailEnd len="sm" w="sm" type="none"/>
          </a:ln>
        </p:spPr>
      </p:cxnSp>
      <p:sp>
        <p:nvSpPr>
          <p:cNvPr id="786" name="Google Shape;786;p44"/>
          <p:cNvSpPr/>
          <p:nvPr/>
        </p:nvSpPr>
        <p:spPr>
          <a:xfrm>
            <a:off x="16321534" y="-285545"/>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7" name="Google Shape;787;p44"/>
          <p:cNvSpPr/>
          <p:nvPr/>
        </p:nvSpPr>
        <p:spPr>
          <a:xfrm>
            <a:off x="17304767" y="854768"/>
            <a:ext cx="1966466" cy="1884231"/>
          </a:xfrm>
          <a:custGeom>
            <a:rect b="b" l="l" r="r" t="t"/>
            <a:pathLst>
              <a:path extrusionOk="0" h="1884231" w="1966466">
                <a:moveTo>
                  <a:pt x="0" y="0"/>
                </a:moveTo>
                <a:lnTo>
                  <a:pt x="1966466" y="0"/>
                </a:lnTo>
                <a:lnTo>
                  <a:pt x="1966466" y="1884232"/>
                </a:lnTo>
                <a:lnTo>
                  <a:pt x="0" y="18842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8" name="Google Shape;788;p44"/>
          <p:cNvSpPr/>
          <p:nvPr/>
        </p:nvSpPr>
        <p:spPr>
          <a:xfrm>
            <a:off x="0" y="9258300"/>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9" name="Google Shape;789;p44"/>
          <p:cNvSpPr/>
          <p:nvPr/>
        </p:nvSpPr>
        <p:spPr>
          <a:xfrm>
            <a:off x="-937766" y="8402769"/>
            <a:ext cx="1966466" cy="1884231"/>
          </a:xfrm>
          <a:custGeom>
            <a:rect b="b" l="l" r="r" t="t"/>
            <a:pathLst>
              <a:path extrusionOk="0" h="1884231" w="1966466">
                <a:moveTo>
                  <a:pt x="0" y="0"/>
                </a:moveTo>
                <a:lnTo>
                  <a:pt x="1966466" y="0"/>
                </a:lnTo>
                <a:lnTo>
                  <a:pt x="1966466" y="1884231"/>
                </a:lnTo>
                <a:lnTo>
                  <a:pt x="0" y="188423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0" name="Google Shape;790;p44"/>
          <p:cNvSpPr/>
          <p:nvPr/>
        </p:nvSpPr>
        <p:spPr>
          <a:xfrm rot="672866">
            <a:off x="-1045588" y="-1783519"/>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1" name="Google Shape;791;p44"/>
          <p:cNvSpPr/>
          <p:nvPr/>
        </p:nvSpPr>
        <p:spPr>
          <a:xfrm rot="-10799999">
            <a:off x="12715117" y="7583041"/>
            <a:ext cx="6556116" cy="6126988"/>
          </a:xfrm>
          <a:custGeom>
            <a:rect b="b" l="l" r="r" t="t"/>
            <a:pathLst>
              <a:path extrusionOk="0" h="6126988" w="6556116">
                <a:moveTo>
                  <a:pt x="0" y="0"/>
                </a:moveTo>
                <a:lnTo>
                  <a:pt x="6556116" y="0"/>
                </a:lnTo>
                <a:lnTo>
                  <a:pt x="6556116" y="6126988"/>
                </a:lnTo>
                <a:lnTo>
                  <a:pt x="0" y="612698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D8D4"/>
        </a:solidFill>
      </p:bgPr>
    </p:bg>
    <p:spTree>
      <p:nvGrpSpPr>
        <p:cNvPr id="795" name="Shape 795"/>
        <p:cNvGrpSpPr/>
        <p:nvPr/>
      </p:nvGrpSpPr>
      <p:grpSpPr>
        <a:xfrm>
          <a:off x="0" y="0"/>
          <a:ext cx="0" cy="0"/>
          <a:chOff x="0" y="0"/>
          <a:chExt cx="0" cy="0"/>
        </a:xfrm>
      </p:grpSpPr>
      <p:sp>
        <p:nvSpPr>
          <p:cNvPr id="796" name="Google Shape;796;p45"/>
          <p:cNvSpPr/>
          <p:nvPr/>
        </p:nvSpPr>
        <p:spPr>
          <a:xfrm rot="-6666580">
            <a:off x="9654716" y="2742945"/>
            <a:ext cx="9400422" cy="9722890"/>
          </a:xfrm>
          <a:custGeom>
            <a:rect b="b" l="l" r="r" t="t"/>
            <a:pathLst>
              <a:path extrusionOk="0" h="9722890" w="9400422">
                <a:moveTo>
                  <a:pt x="0" y="0"/>
                </a:moveTo>
                <a:lnTo>
                  <a:pt x="9400422" y="0"/>
                </a:lnTo>
                <a:lnTo>
                  <a:pt x="9400422" y="9722890"/>
                </a:lnTo>
                <a:lnTo>
                  <a:pt x="0" y="9722890"/>
                </a:lnTo>
                <a:lnTo>
                  <a:pt x="0" y="0"/>
                </a:lnTo>
                <a:close/>
              </a:path>
            </a:pathLst>
          </a:custGeom>
          <a:blipFill rotWithShape="1">
            <a:blip r:embed="rId3">
              <a:alphaModFix amt="8999"/>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7" name="Google Shape;797;p45"/>
          <p:cNvSpPr/>
          <p:nvPr/>
        </p:nvSpPr>
        <p:spPr>
          <a:xfrm rot="5631316">
            <a:off x="-341565" y="-1602678"/>
            <a:ext cx="8656207" cy="8953145"/>
          </a:xfrm>
          <a:custGeom>
            <a:rect b="b" l="l" r="r" t="t"/>
            <a:pathLst>
              <a:path extrusionOk="0" h="8953145" w="8656207">
                <a:moveTo>
                  <a:pt x="0" y="0"/>
                </a:moveTo>
                <a:lnTo>
                  <a:pt x="8656206" y="0"/>
                </a:lnTo>
                <a:lnTo>
                  <a:pt x="8656206" y="8953145"/>
                </a:lnTo>
                <a:lnTo>
                  <a:pt x="0" y="8953145"/>
                </a:lnTo>
                <a:lnTo>
                  <a:pt x="0" y="0"/>
                </a:lnTo>
                <a:close/>
              </a:path>
            </a:pathLst>
          </a:custGeom>
          <a:blipFill rotWithShape="1">
            <a:blip r:embed="rId4">
              <a:alphaModFix amt="8999"/>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8" name="Google Shape;798;p45"/>
          <p:cNvSpPr/>
          <p:nvPr/>
        </p:nvSpPr>
        <p:spPr>
          <a:xfrm>
            <a:off x="-330749" y="1468727"/>
            <a:ext cx="8343860" cy="9123127"/>
          </a:xfrm>
          <a:custGeom>
            <a:rect b="b" l="l" r="r" t="t"/>
            <a:pathLst>
              <a:path extrusionOk="0" h="9123127" w="8343860">
                <a:moveTo>
                  <a:pt x="0" y="0"/>
                </a:moveTo>
                <a:lnTo>
                  <a:pt x="8343860" y="0"/>
                </a:lnTo>
                <a:lnTo>
                  <a:pt x="8343860" y="9123127"/>
                </a:lnTo>
                <a:lnTo>
                  <a:pt x="0" y="912312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9" name="Google Shape;799;p45"/>
          <p:cNvSpPr/>
          <p:nvPr/>
        </p:nvSpPr>
        <p:spPr>
          <a:xfrm rot="10800000">
            <a:off x="10613756" y="-239704"/>
            <a:ext cx="7797854" cy="8526128"/>
          </a:xfrm>
          <a:custGeom>
            <a:rect b="b" l="l" r="r" t="t"/>
            <a:pathLst>
              <a:path extrusionOk="0" h="8526128" w="7797854">
                <a:moveTo>
                  <a:pt x="0" y="0"/>
                </a:moveTo>
                <a:lnTo>
                  <a:pt x="7797854" y="0"/>
                </a:lnTo>
                <a:lnTo>
                  <a:pt x="7797854" y="8526127"/>
                </a:lnTo>
                <a:lnTo>
                  <a:pt x="0" y="852612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0" name="Google Shape;800;p45"/>
          <p:cNvSpPr txBox="1"/>
          <p:nvPr/>
        </p:nvSpPr>
        <p:spPr>
          <a:xfrm>
            <a:off x="4894609" y="3925189"/>
            <a:ext cx="8498783" cy="4162578"/>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2993"/>
              <a:buFont typeface="Arial"/>
              <a:buNone/>
            </a:pPr>
            <a:r>
              <a:rPr b="0" i="0" lang="en-US" sz="2993" u="none" cap="none" strike="noStrike">
                <a:solidFill>
                  <a:srgbClr val="3D2917"/>
                </a:solidFill>
                <a:latin typeface="Arial"/>
                <a:ea typeface="Arial"/>
                <a:cs typeface="Arial"/>
                <a:sym typeface="Arial"/>
              </a:rPr>
              <a:t>https://www.cisco.com/c/en/us/td/docs/security/asa/asa923/configuration/firewall/asa-923-firewall-config/access-acls.html</a:t>
            </a:r>
            <a:endParaRPr b="0" i="0" sz="1400" u="none" cap="none" strike="noStrike">
              <a:solidFill>
                <a:srgbClr val="000000"/>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2993"/>
              <a:buFont typeface="Arial"/>
              <a:buNone/>
            </a:pPr>
            <a:r>
              <a:t/>
            </a:r>
            <a:endParaRPr b="0" i="0" sz="2993" u="none" cap="none" strike="noStrike">
              <a:solidFill>
                <a:srgbClr val="3D2917"/>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2993"/>
              <a:buFont typeface="Arial"/>
              <a:buNone/>
            </a:pPr>
            <a:r>
              <a:rPr b="0" i="0" lang="en-US" sz="2993" u="none" cap="none" strike="noStrike">
                <a:solidFill>
                  <a:srgbClr val="3D2917"/>
                </a:solidFill>
                <a:latin typeface="Arial"/>
                <a:ea typeface="Arial"/>
                <a:cs typeface="Arial"/>
                <a:sym typeface="Arial"/>
              </a:rPr>
              <a:t>https://www.cisco.com/c/en/us/td/docs/routers/sdwan/configuration/system-interface/ios-xe-17/systems-interfaces-book-xe-sdwan/m-hot-standby-router-protocol.html</a:t>
            </a:r>
            <a:endParaRPr b="0" i="0" sz="1400" u="none" cap="none" strike="noStrike">
              <a:solidFill>
                <a:srgbClr val="000000"/>
              </a:solidFill>
              <a:latin typeface="Arial"/>
              <a:ea typeface="Arial"/>
              <a:cs typeface="Arial"/>
              <a:sym typeface="Arial"/>
            </a:endParaRPr>
          </a:p>
        </p:txBody>
      </p:sp>
      <p:sp>
        <p:nvSpPr>
          <p:cNvPr id="801" name="Google Shape;801;p45"/>
          <p:cNvSpPr txBox="1"/>
          <p:nvPr/>
        </p:nvSpPr>
        <p:spPr>
          <a:xfrm>
            <a:off x="4760103" y="1180725"/>
            <a:ext cx="8767800" cy="19764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Clr>
                <a:srgbClr val="000000"/>
              </a:buClr>
              <a:buSzPts val="12841"/>
              <a:buFont typeface="Arial"/>
              <a:buNone/>
            </a:pPr>
            <a:r>
              <a:rPr b="0" i="0" lang="en-US" sz="12841" u="none" cap="none" strike="noStrike">
                <a:solidFill>
                  <a:srgbClr val="3D2917"/>
                </a:solidFill>
                <a:latin typeface="Arial"/>
                <a:ea typeface="Arial"/>
                <a:cs typeface="Arial"/>
                <a:sym typeface="Arial"/>
              </a:rPr>
              <a:t>Referencias</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5" name="Shape 805"/>
        <p:cNvGrpSpPr/>
        <p:nvPr/>
      </p:nvGrpSpPr>
      <p:grpSpPr>
        <a:xfrm>
          <a:off x="0" y="0"/>
          <a:ext cx="0" cy="0"/>
          <a:chOff x="0" y="0"/>
          <a:chExt cx="0" cy="0"/>
        </a:xfrm>
      </p:grpSpPr>
      <p:sp>
        <p:nvSpPr>
          <p:cNvPr id="806" name="Google Shape;806;p59"/>
          <p:cNvSpPr/>
          <p:nvPr/>
        </p:nvSpPr>
        <p:spPr>
          <a:xfrm>
            <a:off x="0"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7" name="Google Shape;807;p59"/>
          <p:cNvSpPr/>
          <p:nvPr/>
        </p:nvSpPr>
        <p:spPr>
          <a:xfrm flipH="1">
            <a:off x="0" y="0"/>
            <a:ext cx="8944177" cy="10287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dk2">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8" name="Google Shape;808;p59"/>
          <p:cNvSpPr txBox="1"/>
          <p:nvPr/>
        </p:nvSpPr>
        <p:spPr>
          <a:xfrm>
            <a:off x="965202" y="965200"/>
            <a:ext cx="6930876" cy="6850706"/>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600" u="none" cap="none" strike="noStrike">
                <a:solidFill>
                  <a:schemeClr val="dk1"/>
                </a:solidFill>
                <a:latin typeface="Arial"/>
                <a:ea typeface="Arial"/>
                <a:cs typeface="Arial"/>
                <a:sym typeface="Arial"/>
              </a:rPr>
              <a:t>Ejemplo práctico</a:t>
            </a:r>
            <a:endParaRPr b="0" i="0" sz="6600" u="none" cap="none" strike="noStrike">
              <a:solidFill>
                <a:schemeClr val="dk1"/>
              </a:solidFill>
              <a:latin typeface="Arial"/>
              <a:ea typeface="Arial"/>
              <a:cs typeface="Arial"/>
              <a:sym typeface="Arial"/>
            </a:endParaRPr>
          </a:p>
        </p:txBody>
      </p:sp>
      <p:pic>
        <p:nvPicPr>
          <p:cNvPr id="809" name="Google Shape;809;p59" title="Gemini_Generated_Image_u2i06ou2i06ou2i0.png"/>
          <p:cNvPicPr preferRelativeResize="0"/>
          <p:nvPr/>
        </p:nvPicPr>
        <p:blipFill rotWithShape="1">
          <a:blip r:embed="rId3">
            <a:alphaModFix/>
          </a:blip>
          <a:srcRect b="0" l="0" r="0" t="0"/>
          <a:stretch/>
        </p:blipFill>
        <p:spPr>
          <a:xfrm>
            <a:off x="10565931" y="965200"/>
            <a:ext cx="6100316" cy="83565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3" name="Shape 813"/>
        <p:cNvGrpSpPr/>
        <p:nvPr/>
      </p:nvGrpSpPr>
      <p:grpSpPr>
        <a:xfrm>
          <a:off x="0" y="0"/>
          <a:ext cx="0" cy="0"/>
          <a:chOff x="0" y="0"/>
          <a:chExt cx="0" cy="0"/>
        </a:xfrm>
      </p:grpSpPr>
      <p:sp>
        <p:nvSpPr>
          <p:cNvPr id="814" name="Google Shape;814;p60"/>
          <p:cNvSpPr/>
          <p:nvPr/>
        </p:nvSpPr>
        <p:spPr>
          <a:xfrm>
            <a:off x="0"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5" name="Google Shape;815;p60"/>
          <p:cNvSpPr/>
          <p:nvPr/>
        </p:nvSpPr>
        <p:spPr>
          <a:xfrm flipH="1">
            <a:off x="0" y="0"/>
            <a:ext cx="8944177" cy="10287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dk2">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6" name="Google Shape;816;p60"/>
          <p:cNvSpPr txBox="1"/>
          <p:nvPr/>
        </p:nvSpPr>
        <p:spPr>
          <a:xfrm>
            <a:off x="965202" y="965200"/>
            <a:ext cx="6930876" cy="6850706"/>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600" u="none" cap="none" strike="noStrike">
                <a:solidFill>
                  <a:schemeClr val="dk1"/>
                </a:solidFill>
                <a:latin typeface="Arial"/>
                <a:ea typeface="Arial"/>
                <a:cs typeface="Arial"/>
                <a:sym typeface="Arial"/>
              </a:rPr>
              <a:t>Practiquemos lo aprendido</a:t>
            </a:r>
            <a:endParaRPr/>
          </a:p>
        </p:txBody>
      </p:sp>
      <p:pic>
        <p:nvPicPr>
          <p:cNvPr id="817" name="Google Shape;817;p60" title="Gemini_Generated_Image_mopnfwmopnfwmopn (1).png"/>
          <p:cNvPicPr preferRelativeResize="0"/>
          <p:nvPr/>
        </p:nvPicPr>
        <p:blipFill rotWithShape="1">
          <a:blip r:embed="rId3">
            <a:alphaModFix/>
          </a:blip>
          <a:srcRect b="0" l="0" r="0" t="0"/>
          <a:stretch/>
        </p:blipFill>
        <p:spPr>
          <a:xfrm>
            <a:off x="9909379" y="1436789"/>
            <a:ext cx="7413420" cy="741342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id="822" name="Google Shape;822;p61"/>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23" name="Google Shape;823;p61"/>
          <p:cNvGraphicFramePr/>
          <p:nvPr/>
        </p:nvGraphicFramePr>
        <p:xfrm>
          <a:off x="16900" y="1507250"/>
          <a:ext cx="3000000" cy="3000000"/>
        </p:xfrm>
        <a:graphic>
          <a:graphicData uri="http://schemas.openxmlformats.org/drawingml/2006/table">
            <a:tbl>
              <a:tblPr>
                <a:noFill/>
                <a:tableStyleId>{128902A9-9491-4379-AF06-E0E9CF1D25C0}</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24" name="Google Shape;824;p61"/>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825" name="Google Shape;825;p61"/>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aphicFrame>
        <p:nvGraphicFramePr>
          <p:cNvPr id="826" name="Google Shape;826;p61"/>
          <p:cNvGraphicFramePr/>
          <p:nvPr/>
        </p:nvGraphicFramePr>
        <p:xfrm>
          <a:off x="10656400" y="1940050"/>
          <a:ext cx="3000000" cy="3000000"/>
        </p:xfrm>
        <a:graphic>
          <a:graphicData uri="http://schemas.openxmlformats.org/drawingml/2006/table">
            <a:tbl>
              <a:tblPr>
                <a:noFill/>
                <a:tableStyleId>{128902A9-9491-4379-AF06-E0E9CF1D25C0}</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27" name="Google Shape;827;p61"/>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28" name="Google Shape;828;p61"/>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2" name="Shape 832"/>
        <p:cNvGrpSpPr/>
        <p:nvPr/>
      </p:nvGrpSpPr>
      <p:grpSpPr>
        <a:xfrm>
          <a:off x="0" y="0"/>
          <a:ext cx="0" cy="0"/>
          <a:chOff x="0" y="0"/>
          <a:chExt cx="0" cy="0"/>
        </a:xfrm>
      </p:grpSpPr>
      <p:sp>
        <p:nvSpPr>
          <p:cNvPr id="833" name="Google Shape;833;p62"/>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4" name="Google Shape;834;p62"/>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400" u="none" cap="none" strike="noStrike">
                <a:solidFill>
                  <a:srgbClr val="FFFFFF"/>
                </a:solidFill>
                <a:latin typeface="Arial"/>
                <a:ea typeface="Arial"/>
                <a:cs typeface="Arial"/>
                <a:sym typeface="Arial"/>
              </a:rPr>
              <a:t>DUDAS ¿?</a:t>
            </a:r>
            <a:endParaRPr/>
          </a:p>
        </p:txBody>
      </p:sp>
      <p:pic>
        <p:nvPicPr>
          <p:cNvPr id="835" name="Google Shape;835;p62" title="Gemini_Generated_Image_1od44x1od44x1od4.png"/>
          <p:cNvPicPr preferRelativeResize="0"/>
          <p:nvPr/>
        </p:nvPicPr>
        <p:blipFill rotWithShape="1">
          <a:blip r:embed="rId3">
            <a:alphaModFix/>
          </a:blip>
          <a:srcRect b="0" l="0" r="0" t="0"/>
          <a:stretch/>
        </p:blipFill>
        <p:spPr>
          <a:xfrm>
            <a:off x="7165974" y="1976014"/>
            <a:ext cx="10171050" cy="633147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754"/>
        </a:solidFill>
      </p:bgPr>
    </p:bg>
    <p:spTree>
      <p:nvGrpSpPr>
        <p:cNvPr id="839" name="Shape 839"/>
        <p:cNvGrpSpPr/>
        <p:nvPr/>
      </p:nvGrpSpPr>
      <p:grpSpPr>
        <a:xfrm>
          <a:off x="0" y="0"/>
          <a:ext cx="0" cy="0"/>
          <a:chOff x="0" y="0"/>
          <a:chExt cx="0" cy="0"/>
        </a:xfrm>
      </p:grpSpPr>
      <p:sp>
        <p:nvSpPr>
          <p:cNvPr id="840" name="Google Shape;840;p46"/>
          <p:cNvSpPr txBox="1"/>
          <p:nvPr/>
        </p:nvSpPr>
        <p:spPr>
          <a:xfrm>
            <a:off x="1838715" y="1447598"/>
            <a:ext cx="12921327" cy="4217017"/>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000000"/>
              </a:buClr>
              <a:buSzPts val="12100"/>
              <a:buFont typeface="Arial"/>
              <a:buNone/>
            </a:pPr>
            <a:r>
              <a:rPr b="1" i="0" lang="en-US" sz="12100" u="none" cap="none" strike="noStrike">
                <a:solidFill>
                  <a:srgbClr val="EDE8E4"/>
                </a:solidFill>
                <a:latin typeface="Arial"/>
                <a:ea typeface="Arial"/>
                <a:cs typeface="Arial"/>
                <a:sym typeface="Arial"/>
              </a:rPr>
              <a:t>¡GRACIAS POR SU ATENCIÓN!</a:t>
            </a:r>
            <a:endParaRPr b="0" i="0" sz="1400" u="none" cap="none" strike="noStrike">
              <a:solidFill>
                <a:srgbClr val="000000"/>
              </a:solidFill>
              <a:latin typeface="Arial"/>
              <a:ea typeface="Arial"/>
              <a:cs typeface="Arial"/>
              <a:sym typeface="Arial"/>
            </a:endParaRPr>
          </a:p>
        </p:txBody>
      </p:sp>
      <p:cxnSp>
        <p:nvCxnSpPr>
          <p:cNvPr id="841" name="Google Shape;841;p46"/>
          <p:cNvCxnSpPr/>
          <p:nvPr/>
        </p:nvCxnSpPr>
        <p:spPr>
          <a:xfrm rot="10800000">
            <a:off x="1478627" y="1685723"/>
            <a:ext cx="0" cy="6915554"/>
          </a:xfrm>
          <a:prstGeom prst="straightConnector1">
            <a:avLst/>
          </a:prstGeom>
          <a:noFill/>
          <a:ln cap="flat" cmpd="sng" w="66675">
            <a:solidFill>
              <a:srgbClr val="E3D8D4"/>
            </a:solidFill>
            <a:prstDash val="solid"/>
            <a:round/>
            <a:headEnd len="sm" w="sm" type="none"/>
            <a:tailEnd len="sm" w="sm" type="none"/>
          </a:ln>
        </p:spPr>
      </p:cxnSp>
      <p:sp>
        <p:nvSpPr>
          <p:cNvPr id="842" name="Google Shape;842;p46"/>
          <p:cNvSpPr/>
          <p:nvPr/>
        </p:nvSpPr>
        <p:spPr>
          <a:xfrm rot="5400000">
            <a:off x="11536954" y="-795893"/>
            <a:ext cx="10116277" cy="9454121"/>
          </a:xfrm>
          <a:custGeom>
            <a:rect b="b" l="l" r="r" t="t"/>
            <a:pathLst>
              <a:path extrusionOk="0" h="9454121" w="10116277">
                <a:moveTo>
                  <a:pt x="0" y="0"/>
                </a:moveTo>
                <a:lnTo>
                  <a:pt x="10116278" y="0"/>
                </a:lnTo>
                <a:lnTo>
                  <a:pt x="10116278" y="9454121"/>
                </a:lnTo>
                <a:lnTo>
                  <a:pt x="0" y="94541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3" name="Google Shape;843;p46"/>
          <p:cNvSpPr/>
          <p:nvPr/>
        </p:nvSpPr>
        <p:spPr>
          <a:xfrm>
            <a:off x="11088347" y="6044518"/>
            <a:ext cx="2928660" cy="4004230"/>
          </a:xfrm>
          <a:custGeom>
            <a:rect b="b" l="l" r="r" t="t"/>
            <a:pathLst>
              <a:path extrusionOk="0" h="4004230" w="2928660">
                <a:moveTo>
                  <a:pt x="0" y="0"/>
                </a:moveTo>
                <a:lnTo>
                  <a:pt x="2928660" y="0"/>
                </a:lnTo>
                <a:lnTo>
                  <a:pt x="2928660" y="4004230"/>
                </a:lnTo>
                <a:lnTo>
                  <a:pt x="0" y="400423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4" name="Google Shape;844;p46"/>
          <p:cNvSpPr txBox="1"/>
          <p:nvPr/>
        </p:nvSpPr>
        <p:spPr>
          <a:xfrm>
            <a:off x="2137811" y="6356915"/>
            <a:ext cx="8324690" cy="2937664"/>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727"/>
              <a:buFont typeface="Arial"/>
              <a:buNone/>
            </a:pPr>
            <a:r>
              <a:rPr b="1" i="0" lang="en-US" sz="2727" u="none" cap="none" strike="noStrike">
                <a:solidFill>
                  <a:srgbClr val="EDE8E4"/>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a:p>
            <a:pPr indent="0" lvl="0" marL="0" marR="0" rtl="0" algn="ctr">
              <a:lnSpc>
                <a:spcPct val="140007"/>
              </a:lnSpc>
              <a:spcBef>
                <a:spcPts val="0"/>
              </a:spcBef>
              <a:spcAft>
                <a:spcPts val="0"/>
              </a:spcAft>
              <a:buClr>
                <a:srgbClr val="000000"/>
              </a:buClr>
              <a:buSzPts val="2727"/>
              <a:buFont typeface="Arial"/>
              <a:buNone/>
            </a:pPr>
            <a:r>
              <a:t/>
            </a:r>
            <a:endParaRPr b="1" i="0" sz="2727" u="none" cap="none" strike="noStrike">
              <a:solidFill>
                <a:srgbClr val="EDE8E4"/>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