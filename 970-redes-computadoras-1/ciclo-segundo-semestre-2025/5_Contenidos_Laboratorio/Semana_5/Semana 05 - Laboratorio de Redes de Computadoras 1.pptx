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10287000" cx="18288000"/>
  <p:notesSz cx="6858000" cy="9144000"/>
  <p:embeddedFontLst>
    <p:embeddedFont>
      <p:font typeface="Sniglet"/>
      <p:regular r:id="rId57"/>
    </p:embeddedFont>
    <p:embeddedFont>
      <p:font typeface="Anton"/>
      <p:regular r:id="rId58"/>
    </p:embeddedFont>
    <p:embeddedFont>
      <p:font typeface="Fredoka"/>
      <p:regular r:id="rId59"/>
      <p:bold r:id="rId60"/>
    </p:embeddedFont>
    <p:embeddedFont>
      <p:font typeface="Nunito"/>
      <p:regular r:id="rId61"/>
      <p:bold r:id="rId62"/>
      <p:italic r:id="rId63"/>
      <p:boldItalic r:id="rId64"/>
    </p:embeddedFont>
    <p:embeddedFont>
      <p:font typeface="Overpass"/>
      <p:regular r:id="rId65"/>
      <p:bold r:id="rId66"/>
      <p:italic r:id="rId67"/>
      <p:boldItalic r:id="rId68"/>
    </p:embeddedFont>
    <p:embeddedFont>
      <p:font typeface="Open Sans"/>
      <p:bold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1" roundtripDataSignature="AMtx7mjgdUkVE1mYZi5UdFDhcVMtw1Pe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AF8584-6E0D-464C-BB3D-1CB8D8959676}">
  <a:tblStyle styleId="{A7AF8584-6E0D-464C-BB3D-1CB8D895967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customschemas.google.com/relationships/presentationmetadata" Target="metadata"/><Relationship Id="rId70" Type="http://schemas.openxmlformats.org/officeDocument/2006/relationships/font" Target="fonts/OpenSans-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Nunito-bold.fntdata"/><Relationship Id="rId61" Type="http://schemas.openxmlformats.org/officeDocument/2006/relationships/font" Target="fonts/Nunito-regular.fntdata"/><Relationship Id="rId20" Type="http://schemas.openxmlformats.org/officeDocument/2006/relationships/slide" Target="slides/slide14.xml"/><Relationship Id="rId64" Type="http://schemas.openxmlformats.org/officeDocument/2006/relationships/font" Target="fonts/Nunito-boldItalic.fntdata"/><Relationship Id="rId63" Type="http://schemas.openxmlformats.org/officeDocument/2006/relationships/font" Target="fonts/Nunito-italic.fntdata"/><Relationship Id="rId22" Type="http://schemas.openxmlformats.org/officeDocument/2006/relationships/slide" Target="slides/slide16.xml"/><Relationship Id="rId66" Type="http://schemas.openxmlformats.org/officeDocument/2006/relationships/font" Target="fonts/Overpass-bold.fntdata"/><Relationship Id="rId21" Type="http://schemas.openxmlformats.org/officeDocument/2006/relationships/slide" Target="slides/slide15.xml"/><Relationship Id="rId65" Type="http://schemas.openxmlformats.org/officeDocument/2006/relationships/font" Target="fonts/Overpass-regular.fntdata"/><Relationship Id="rId24" Type="http://schemas.openxmlformats.org/officeDocument/2006/relationships/slide" Target="slides/slide18.xml"/><Relationship Id="rId68" Type="http://schemas.openxmlformats.org/officeDocument/2006/relationships/font" Target="fonts/Overpass-boldItalic.fntdata"/><Relationship Id="rId23" Type="http://schemas.openxmlformats.org/officeDocument/2006/relationships/slide" Target="slides/slide17.xml"/><Relationship Id="rId67" Type="http://schemas.openxmlformats.org/officeDocument/2006/relationships/font" Target="fonts/Overpass-italic.fntdata"/><Relationship Id="rId60" Type="http://schemas.openxmlformats.org/officeDocument/2006/relationships/font" Target="fonts/Fredoka-bold.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OpenSans-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Sniglet-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Fredoka-regular.fntdata"/><Relationship Id="rId14" Type="http://schemas.openxmlformats.org/officeDocument/2006/relationships/slide" Target="slides/slide8.xml"/><Relationship Id="rId58" Type="http://schemas.openxmlformats.org/officeDocument/2006/relationships/font" Target="fonts/Anton-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4" name="Google Shape;9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95" name="Google Shape;95;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8" name="Google Shape;9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2" name="Google Shape;112;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3" name="Google Shape;113;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6" name="Google Shape;116;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1" name="Google Shape;141;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2" name="Google Shape;142;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45" name="Google Shape;145;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55" name="Google Shape;155;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56" name="Google Shape;156;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9" name="Google Shape;159;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8" name="Google Shape;168;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9" name="Google Shape;169;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2" name="Google Shape;172;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0" name="Google Shape;190;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1" name="Google Shape;191;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4" name="Google Shape;194;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02" name="Google Shape;202;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03" name="Google Shape;203;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6" name="Google Shape;206;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4" name="Google Shape;214;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5" name="Google Shape;215;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8" name="Google Shape;218;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6" name="Google Shape;226;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7" name="Google Shape;227;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30" name="Google Shape;230;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9" name="Google Shape;239;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0" name="Google Shape;240;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3" name="Google Shape;243;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2" name="Google Shape;252;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3" name="Google Shape;253;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6" name="Google Shape;256;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5" name="Google Shape;265;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66" name="Google Shape;266;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69" name="Google Shape;269;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8" name="Google Shape;278;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9" name="Google Shape;279;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82" name="Google Shape;282;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90" name="Google Shape;290;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91" name="Google Shape;291;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4" name="Google Shape;294;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02" name="Google Shape;302;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3" name="Google Shape;303;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6" name="Google Shape;306;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3" name="Google Shape;313;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4" name="Google Shape;314;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7" name="Google Shape;317;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25" name="Google Shape;325;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26" name="Google Shape;326;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29" name="Google Shape;329;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7" name="Google Shape;337;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38" name="Google Shape;338;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41" name="Google Shape;341;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51" name="Google Shape;351;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52" name="Google Shape;352;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55" name="Google Shape;355;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64" name="Google Shape;364;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65" name="Google Shape;365;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68" name="Google Shape;368;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5" name="Google Shape;375;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76" name="Google Shape;376;p2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79" name="Google Shape;379;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6" name="Google Shape;386;p2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7" name="Google Shape;387;p2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2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90" name="Google Shape;390;p2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97" name="Google Shape;397;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98" name="Google Shape;398;p2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01" name="Google Shape;401;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10" name="Google Shape;410;p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11" name="Google Shape;411;p2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2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14" name="Google Shape;414;p2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22" name="Google Shape;422;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23" name="Google Shape;423;p2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26" name="Google Shape;426;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34" name="Google Shape;434;p2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35" name="Google Shape;435;p2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2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38" name="Google Shape;438;p2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46" name="Google Shape;446;p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47" name="Google Shape;447;p2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2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50" name="Google Shape;450;p2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58" name="Google Shape;458;p2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59" name="Google Shape;459;p2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2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2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62" name="Google Shape;462;p2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70" name="Google Shape;470;p3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71" name="Google Shape;471;p3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3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3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74" name="Google Shape;474;p3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82" name="Google Shape;482;p3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83" name="Google Shape;483;p3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3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3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86" name="Google Shape;486;p3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94" name="Google Shape;494;p3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95" name="Google Shape;495;p3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3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3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98" name="Google Shape;498;p3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07" name="Google Shape;507;p3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08" name="Google Shape;508;p3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3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3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11" name="Google Shape;511;p3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19" name="Google Shape;519;p3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20" name="Google Shape;520;p3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3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3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23" name="Google Shape;523;p3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3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30" name="Google Shape;530;p3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31" name="Google Shape;531;p3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3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3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34" name="Google Shape;534;p3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3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41" name="Google Shape;541;p3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42" name="Google Shape;542;p3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3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3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45" name="Google Shape;545;p3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55" name="Google Shape;555;p3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56" name="Google Shape;556;p3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3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3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59" name="Google Shape;559;p3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70" name="Google Shape;570;p3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71" name="Google Shape;571;p3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3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3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74" name="Google Shape;574;p3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3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82" name="Google Shape;582;p3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83" name="Google Shape;583;p3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3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3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86" name="Google Shape;586;p3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93" name="Google Shape;593;p4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94" name="Google Shape;594;p4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4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4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97" name="Google Shape;597;p4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4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05" name="Google Shape;605;p4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06" name="Google Shape;606;p4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p4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4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09" name="Google Shape;609;p4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17" name="Google Shape;617;p4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18" name="Google Shape;618;p4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4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4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21" name="Google Shape;621;p4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30" name="Google Shape;630;p4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31" name="Google Shape;631;p4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p4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p4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34" name="Google Shape;634;p4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4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43" name="Google Shape;643;p4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44" name="Google Shape;644;p4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4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4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47" name="Google Shape;647;p4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4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4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4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72" name="Google Shape;672;p4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73" name="Google Shape;673;p4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p4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p4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76" name="Google Shape;676;p4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4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88" name="Google Shape;688;p4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89" name="Google Shape;689;p4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4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p4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92" name="Google Shape;692;p4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4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4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4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p4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5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721" name="Google Shape;721;p5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722" name="Google Shape;722;p5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5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4" name="Google Shape;724;p5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725" name="Google Shape;725;p5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5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5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5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5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5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5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5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0"/>
          <p:cNvSpPr/>
          <p:nvPr>
            <p:ph idx="2" type="pic"/>
          </p:nvPr>
        </p:nvSpPr>
        <p:spPr>
          <a:xfrm>
            <a:off x="1792288" y="612775"/>
            <a:ext cx="5486400" cy="4114800"/>
          </a:xfrm>
          <a:prstGeom prst="rect">
            <a:avLst/>
          </a:prstGeom>
          <a:noFill/>
          <a:ln>
            <a:noFill/>
          </a:ln>
        </p:spPr>
      </p:sp>
      <p:sp>
        <p:nvSpPr>
          <p:cNvPr id="68" name="Google Shape;68;p6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4.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4.png"/><Relationship Id="rId7"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4.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13.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13.png"/><Relationship Id="rId5" Type="http://schemas.openxmlformats.org/officeDocument/2006/relationships/image" Target="../media/image36.png"/><Relationship Id="rId6"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13.png"/><Relationship Id="rId5"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3.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3.pn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3.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3.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3.pn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3.png"/><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3.png"/><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3.png"/><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3.png"/><Relationship Id="rId4" Type="http://schemas.openxmlformats.org/officeDocument/2006/relationships/image" Target="../media/image13.png"/><Relationship Id="rId5"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3.png"/><Relationship Id="rId4" Type="http://schemas.openxmlformats.org/officeDocument/2006/relationships/image" Target="../media/image13.png"/><Relationship Id="rId5"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3.png"/><Relationship Id="rId4" Type="http://schemas.openxmlformats.org/officeDocument/2006/relationships/image" Target="../media/image13.png"/><Relationship Id="rId5" Type="http://schemas.openxmlformats.org/officeDocument/2006/relationships/image" Target="../media/image41.png"/><Relationship Id="rId6" Type="http://schemas.openxmlformats.org/officeDocument/2006/relationships/image" Target="../media/image27.png"/><Relationship Id="rId7"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8.gif"/><Relationship Id="rId4" Type="http://schemas.openxmlformats.org/officeDocument/2006/relationships/image" Target="../media/image30.gif"/><Relationship Id="rId5" Type="http://schemas.openxmlformats.org/officeDocument/2006/relationships/image" Target="../media/image4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7.png"/><Relationship Id="rId4" Type="http://schemas.openxmlformats.org/officeDocument/2006/relationships/image" Target="../media/image23.png"/><Relationship Id="rId5"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3.png"/><Relationship Id="rId4" Type="http://schemas.openxmlformats.org/officeDocument/2006/relationships/image" Target="../media/image46.png"/><Relationship Id="rId5"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8.gif"/><Relationship Id="rId4" Type="http://schemas.openxmlformats.org/officeDocument/2006/relationships/image" Target="../media/image30.gif"/><Relationship Id="rId5" Type="http://schemas.openxmlformats.org/officeDocument/2006/relationships/image" Target="../media/image4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54.gif"/><Relationship Id="rId4" Type="http://schemas.openxmlformats.org/officeDocument/2006/relationships/image" Target="../media/image53.gif"/><Relationship Id="rId5" Type="http://schemas.openxmlformats.org/officeDocument/2006/relationships/image" Target="../media/image49.gif"/><Relationship Id="rId6" Type="http://schemas.openxmlformats.org/officeDocument/2006/relationships/image" Target="../media/image5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50.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16560" y="0"/>
            <a:ext cx="18253440" cy="10286640"/>
          </a:xfrm>
          <a:custGeom>
            <a:rect b="b" l="l" r="r" t="t"/>
            <a:pathLst>
              <a:path extrusionOk="0" h="10286640" w="18253440">
                <a:moveTo>
                  <a:pt x="0" y="0"/>
                </a:moveTo>
                <a:lnTo>
                  <a:pt x="18253440" y="0"/>
                </a:lnTo>
                <a:lnTo>
                  <a:pt x="18253440" y="10286640"/>
                </a:lnTo>
                <a:lnTo>
                  <a:pt x="0" y="10286640"/>
                </a:lnTo>
                <a:lnTo>
                  <a:pt x="0" y="0"/>
                </a:lnTo>
                <a:close/>
              </a:path>
            </a:pathLst>
          </a:custGeom>
          <a:blipFill rotWithShape="1">
            <a:blip r:embed="rId3">
              <a:alphaModFix amt="62000"/>
            </a:blip>
            <a:stretch>
              <a:fillRect b="0" l="0" r="0" t="0"/>
            </a:stretch>
          </a:blipFill>
          <a:ln>
            <a:noFill/>
          </a:ln>
        </p:spPr>
      </p:sp>
      <p:graphicFrame>
        <p:nvGraphicFramePr>
          <p:cNvPr id="89" name="Google Shape;89;p1"/>
          <p:cNvGraphicFramePr/>
          <p:nvPr/>
        </p:nvGraphicFramePr>
        <p:xfrm>
          <a:off x="10656720" y="1940400"/>
          <a:ext cx="3000000" cy="3000000"/>
        </p:xfrm>
        <a:graphic>
          <a:graphicData uri="http://schemas.openxmlformats.org/drawingml/2006/table">
            <a:tbl>
              <a:tblPr>
                <a:noFill/>
                <a:tableStyleId>{A7AF8584-6E0D-464C-BB3D-1CB8D8959676}</a:tableStyleId>
              </a:tblPr>
              <a:tblGrid>
                <a:gridCol w="3036750"/>
                <a:gridCol w="4329250"/>
              </a:tblGrid>
              <a:tr h="71905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40014"/>
                        </a:lnSpc>
                        <a:spcBef>
                          <a:spcPts val="0"/>
                        </a:spcBef>
                        <a:spcAft>
                          <a:spcPts val="0"/>
                        </a:spcAft>
                        <a:buNone/>
                      </a:pPr>
                      <a:r>
                        <a:rPr lang="en-US" sz="2799" u="none" cap="none" strike="noStrike">
                          <a:solidFill>
                            <a:srgbClr val="000000"/>
                          </a:solidFill>
                          <a:latin typeface="Arial"/>
                          <a:ea typeface="Arial"/>
                          <a:cs typeface="Arial"/>
                          <a:sym typeface="Arial"/>
                        </a:rPr>
                        <a:t>Día, DD/MM/AAAA</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71905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40014"/>
                        </a:lnSpc>
                        <a:spcBef>
                          <a:spcPts val="0"/>
                        </a:spcBef>
                        <a:spcAft>
                          <a:spcPts val="0"/>
                        </a:spcAft>
                        <a:buNone/>
                      </a:pPr>
                      <a:r>
                        <a:rPr lang="en-US" sz="2799" u="none" cap="none" strike="noStrike">
                          <a:solidFill>
                            <a:srgbClr val="000000"/>
                          </a:solidFill>
                          <a:latin typeface="Arial"/>
                          <a:ea typeface="Arial"/>
                          <a:cs typeface="Arial"/>
                          <a:sym typeface="Arial"/>
                        </a:rPr>
                        <a:t>HH:mm hrs</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sp>
        <p:nvSpPr>
          <p:cNvPr id="90" name="Google Shape;90;p1"/>
          <p:cNvSpPr txBox="1"/>
          <p:nvPr/>
        </p:nvSpPr>
        <p:spPr>
          <a:xfrm>
            <a:off x="1618360" y="4512750"/>
            <a:ext cx="15051280" cy="847725"/>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None/>
            </a:pPr>
            <a:r>
              <a:rPr b="0" i="0" lang="en-US" sz="4999" u="none" cap="none" strike="noStrike">
                <a:solidFill>
                  <a:srgbClr val="000000"/>
                </a:solidFill>
                <a:latin typeface="Arial"/>
                <a:ea typeface="Arial"/>
                <a:cs typeface="Arial"/>
                <a:sym typeface="Arial"/>
              </a:rPr>
              <a:t>Redes de Computadoras 1</a:t>
            </a:r>
            <a:endParaRPr/>
          </a:p>
        </p:txBody>
      </p:sp>
      <p:sp>
        <p:nvSpPr>
          <p:cNvPr id="91" name="Google Shape;91;p1"/>
          <p:cNvSpPr txBox="1"/>
          <p:nvPr/>
        </p:nvSpPr>
        <p:spPr>
          <a:xfrm>
            <a:off x="3648960" y="5807475"/>
            <a:ext cx="10989360" cy="685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4000" u="none" cap="none" strike="noStrike">
                <a:solidFill>
                  <a:srgbClr val="000000"/>
                </a:solidFill>
                <a:latin typeface="Arial"/>
                <a:ea typeface="Arial"/>
                <a:cs typeface="Arial"/>
                <a:sym typeface="Arial"/>
              </a:rPr>
              <a:t>Nombre del Tutor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99" name="Shape 99"/>
        <p:cNvGrpSpPr/>
        <p:nvPr/>
      </p:nvGrpSpPr>
      <p:grpSpPr>
        <a:xfrm>
          <a:off x="0" y="0"/>
          <a:ext cx="0" cy="0"/>
          <a:chOff x="0" y="0"/>
          <a:chExt cx="0" cy="0"/>
        </a:xfrm>
      </p:grpSpPr>
      <p:sp>
        <p:nvSpPr>
          <p:cNvPr id="100" name="Google Shape;100;p2"/>
          <p:cNvSpPr/>
          <p:nvPr/>
        </p:nvSpPr>
        <p:spPr>
          <a:xfrm>
            <a:off x="-3429991" y="7668382"/>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101" name="Google Shape;101;p2"/>
          <p:cNvSpPr/>
          <p:nvPr/>
        </p:nvSpPr>
        <p:spPr>
          <a:xfrm>
            <a:off x="13370353" y="6844753"/>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102" name="Google Shape;102;p2"/>
          <p:cNvSpPr/>
          <p:nvPr/>
        </p:nvSpPr>
        <p:spPr>
          <a:xfrm>
            <a:off x="-1303650" y="-205740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103" name="Google Shape;103;p2"/>
          <p:cNvSpPr/>
          <p:nvPr/>
        </p:nvSpPr>
        <p:spPr>
          <a:xfrm>
            <a:off x="14415333" y="-1658266"/>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104" name="Google Shape;104;p2"/>
          <p:cNvSpPr/>
          <p:nvPr/>
        </p:nvSpPr>
        <p:spPr>
          <a:xfrm>
            <a:off x="14546856" y="743201"/>
            <a:ext cx="2833307" cy="842867"/>
          </a:xfrm>
          <a:custGeom>
            <a:rect b="b" l="l" r="r" t="t"/>
            <a:pathLst>
              <a:path extrusionOk="0" h="1123823" w="3777742">
                <a:moveTo>
                  <a:pt x="0" y="0"/>
                </a:moveTo>
                <a:lnTo>
                  <a:pt x="3777742" y="0"/>
                </a:lnTo>
                <a:lnTo>
                  <a:pt x="3777742" y="1123823"/>
                </a:lnTo>
                <a:lnTo>
                  <a:pt x="0" y="1123823"/>
                </a:lnTo>
                <a:lnTo>
                  <a:pt x="0" y="0"/>
                </a:lnTo>
                <a:close/>
              </a:path>
            </a:pathLst>
          </a:custGeom>
          <a:blipFill rotWithShape="1">
            <a:blip r:embed="rId7">
              <a:alphaModFix/>
            </a:blip>
            <a:stretch>
              <a:fillRect b="-208" l="0" r="0" t="-205"/>
            </a:stretch>
          </a:blipFill>
          <a:ln>
            <a:noFill/>
          </a:ln>
        </p:spPr>
      </p:sp>
      <p:sp>
        <p:nvSpPr>
          <p:cNvPr id="105" name="Google Shape;105;p2"/>
          <p:cNvSpPr txBox="1"/>
          <p:nvPr/>
        </p:nvSpPr>
        <p:spPr>
          <a:xfrm>
            <a:off x="3067613" y="1109855"/>
            <a:ext cx="12152774" cy="435608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7375" u="none" cap="none" strike="noStrike">
                <a:solidFill>
                  <a:srgbClr val="FFBC19"/>
                </a:solidFill>
                <a:latin typeface="Arial"/>
                <a:ea typeface="Arial"/>
                <a:cs typeface="Arial"/>
                <a:sym typeface="Arial"/>
              </a:rPr>
              <a:t>DISPOSITIVOS Y PROTOCOLOS EN LA CAPA 2: SEGMENTACIÓN Y DIRECCIONAMIENTO</a:t>
            </a:r>
            <a:endParaRPr/>
          </a:p>
        </p:txBody>
      </p:sp>
      <p:sp>
        <p:nvSpPr>
          <p:cNvPr id="106" name="Google Shape;106;p2"/>
          <p:cNvSpPr txBox="1"/>
          <p:nvPr/>
        </p:nvSpPr>
        <p:spPr>
          <a:xfrm>
            <a:off x="713176" y="7295793"/>
            <a:ext cx="8671292" cy="580189"/>
          </a:xfrm>
          <a:prstGeom prst="rect">
            <a:avLst/>
          </a:prstGeom>
          <a:noFill/>
          <a:ln>
            <a:noFill/>
          </a:ln>
        </p:spPr>
        <p:txBody>
          <a:bodyPr anchorCtr="0" anchor="t" bIns="0" lIns="0" spcFirstLastPara="1" rIns="0" wrap="square" tIns="0">
            <a:spAutoFit/>
          </a:bodyPr>
          <a:lstStyle/>
          <a:p>
            <a:pPr indent="0" lvl="0" marL="0" marR="0" rtl="0" algn="l">
              <a:lnSpc>
                <a:spcPct val="167970"/>
              </a:lnSpc>
              <a:spcBef>
                <a:spcPts val="0"/>
              </a:spcBef>
              <a:spcAft>
                <a:spcPts val="0"/>
              </a:spcAft>
              <a:buNone/>
            </a:pPr>
            <a:r>
              <a:rPr b="1" i="0" lang="en-US" sz="2685" u="none" cap="none" strike="noStrike">
                <a:solidFill>
                  <a:srgbClr val="FFBC19"/>
                </a:solidFill>
                <a:latin typeface="Open Sans"/>
                <a:ea typeface="Open Sans"/>
                <a:cs typeface="Open Sans"/>
                <a:sym typeface="Open Sans"/>
              </a:rPr>
              <a:t>Redes de Computadoras 1</a:t>
            </a:r>
            <a:endParaRPr/>
          </a:p>
        </p:txBody>
      </p:sp>
      <p:sp>
        <p:nvSpPr>
          <p:cNvPr id="107" name="Google Shape;107;p2"/>
          <p:cNvSpPr txBox="1"/>
          <p:nvPr/>
        </p:nvSpPr>
        <p:spPr>
          <a:xfrm>
            <a:off x="713176" y="7735488"/>
            <a:ext cx="11659301" cy="499182"/>
          </a:xfrm>
          <a:prstGeom prst="rect">
            <a:avLst/>
          </a:prstGeom>
          <a:noFill/>
          <a:ln>
            <a:noFill/>
          </a:ln>
        </p:spPr>
        <p:txBody>
          <a:bodyPr anchorCtr="0" anchor="t" bIns="0" lIns="0" spcFirstLastPara="1" rIns="0" wrap="square" tIns="0">
            <a:spAutoFit/>
          </a:bodyPr>
          <a:lstStyle/>
          <a:p>
            <a:pPr indent="0" lvl="0" marL="0" marR="0" rtl="0" algn="l">
              <a:lnSpc>
                <a:spcPct val="168015"/>
              </a:lnSpc>
              <a:spcBef>
                <a:spcPts val="0"/>
              </a:spcBef>
              <a:spcAft>
                <a:spcPts val="0"/>
              </a:spcAft>
              <a:buNone/>
            </a:pPr>
            <a:r>
              <a:rPr b="0" i="0" lang="en-US" sz="2373" u="none" cap="none" strike="noStrike">
                <a:solidFill>
                  <a:srgbClr val="FFBC19"/>
                </a:solidFill>
                <a:latin typeface="Open Sans"/>
                <a:ea typeface="Open Sans"/>
                <a:cs typeface="Open Sans"/>
                <a:sym typeface="Open Sans"/>
              </a:rPr>
              <a:t>Escuela de Ingenieria de Ciencias y Sistemas</a:t>
            </a:r>
            <a:endParaRPr/>
          </a:p>
        </p:txBody>
      </p:sp>
      <p:sp>
        <p:nvSpPr>
          <p:cNvPr id="108" name="Google Shape;108;p2"/>
          <p:cNvSpPr txBox="1"/>
          <p:nvPr/>
        </p:nvSpPr>
        <p:spPr>
          <a:xfrm>
            <a:off x="713176" y="8094177"/>
            <a:ext cx="5829651" cy="499182"/>
          </a:xfrm>
          <a:prstGeom prst="rect">
            <a:avLst/>
          </a:prstGeom>
          <a:noFill/>
          <a:ln>
            <a:noFill/>
          </a:ln>
        </p:spPr>
        <p:txBody>
          <a:bodyPr anchorCtr="0" anchor="t" bIns="0" lIns="0" spcFirstLastPara="1" rIns="0" wrap="square" tIns="0">
            <a:spAutoFit/>
          </a:bodyPr>
          <a:lstStyle/>
          <a:p>
            <a:pPr indent="0" lvl="0" marL="0" marR="0" rtl="0" algn="l">
              <a:lnSpc>
                <a:spcPct val="168015"/>
              </a:lnSpc>
              <a:spcBef>
                <a:spcPts val="0"/>
              </a:spcBef>
              <a:spcAft>
                <a:spcPts val="0"/>
              </a:spcAft>
              <a:buNone/>
            </a:pPr>
            <a:r>
              <a:rPr b="0" i="0" lang="en-US" sz="2373" u="none" cap="none" strike="noStrike">
                <a:solidFill>
                  <a:srgbClr val="FFBC19"/>
                </a:solidFill>
                <a:latin typeface="Open Sans"/>
                <a:ea typeface="Open Sans"/>
                <a:cs typeface="Open Sans"/>
                <a:sym typeface="Open Sans"/>
              </a:rPr>
              <a:t>Facultad de Ingenieria</a:t>
            </a:r>
            <a:endParaRPr/>
          </a:p>
        </p:txBody>
      </p:sp>
      <p:sp>
        <p:nvSpPr>
          <p:cNvPr id="109" name="Google Shape;109;p2"/>
          <p:cNvSpPr txBox="1"/>
          <p:nvPr/>
        </p:nvSpPr>
        <p:spPr>
          <a:xfrm>
            <a:off x="713176" y="8466770"/>
            <a:ext cx="5829651" cy="499182"/>
          </a:xfrm>
          <a:prstGeom prst="rect">
            <a:avLst/>
          </a:prstGeom>
          <a:noFill/>
          <a:ln>
            <a:noFill/>
          </a:ln>
        </p:spPr>
        <p:txBody>
          <a:bodyPr anchorCtr="0" anchor="t" bIns="0" lIns="0" spcFirstLastPara="1" rIns="0" wrap="square" tIns="0">
            <a:spAutoFit/>
          </a:bodyPr>
          <a:lstStyle/>
          <a:p>
            <a:pPr indent="0" lvl="0" marL="0" marR="0" rtl="0" algn="l">
              <a:lnSpc>
                <a:spcPct val="168015"/>
              </a:lnSpc>
              <a:spcBef>
                <a:spcPts val="0"/>
              </a:spcBef>
              <a:spcAft>
                <a:spcPts val="0"/>
              </a:spcAft>
              <a:buNone/>
            </a:pPr>
            <a:r>
              <a:rPr b="0" i="0" lang="en-US" sz="2373" u="none" cap="none" strike="noStrike">
                <a:solidFill>
                  <a:srgbClr val="FFBC19"/>
                </a:solidFill>
                <a:latin typeface="Open Sans"/>
                <a:ea typeface="Open Sans"/>
                <a:cs typeface="Open Sans"/>
                <a:sym typeface="Open Sans"/>
              </a:rPr>
              <a:t>Universidad de San Carlos de Guatemala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117" name="Shape 117"/>
        <p:cNvGrpSpPr/>
        <p:nvPr/>
      </p:nvGrpSpPr>
      <p:grpSpPr>
        <a:xfrm>
          <a:off x="0" y="0"/>
          <a:ext cx="0" cy="0"/>
          <a:chOff x="0" y="0"/>
          <a:chExt cx="0" cy="0"/>
        </a:xfrm>
      </p:grpSpPr>
      <p:sp>
        <p:nvSpPr>
          <p:cNvPr id="118" name="Google Shape;118;p3"/>
          <p:cNvSpPr/>
          <p:nvPr/>
        </p:nvSpPr>
        <p:spPr>
          <a:xfrm>
            <a:off x="-2974764" y="7845428"/>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119" name="Google Shape;119;p3"/>
          <p:cNvSpPr/>
          <p:nvPr/>
        </p:nvSpPr>
        <p:spPr>
          <a:xfrm>
            <a:off x="14732484" y="7847979"/>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120" name="Google Shape;120;p3"/>
          <p:cNvSpPr/>
          <p:nvPr/>
        </p:nvSpPr>
        <p:spPr>
          <a:xfrm>
            <a:off x="-1484550" y="-266065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121" name="Google Shape;121;p3"/>
          <p:cNvSpPr/>
          <p:nvPr/>
        </p:nvSpPr>
        <p:spPr>
          <a:xfrm>
            <a:off x="15518060" y="-2057400"/>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122" name="Google Shape;122;p3"/>
          <p:cNvSpPr txBox="1"/>
          <p:nvPr/>
        </p:nvSpPr>
        <p:spPr>
          <a:xfrm>
            <a:off x="1955519" y="350476"/>
            <a:ext cx="5768892" cy="2162175"/>
          </a:xfrm>
          <a:prstGeom prst="rect">
            <a:avLst/>
          </a:prstGeom>
          <a:noFill/>
          <a:ln>
            <a:noFill/>
          </a:ln>
        </p:spPr>
        <p:txBody>
          <a:bodyPr anchorCtr="0" anchor="t" bIns="0" lIns="0" spcFirstLastPara="1" rIns="0" wrap="square" tIns="0">
            <a:spAutoFit/>
          </a:bodyPr>
          <a:lstStyle/>
          <a:p>
            <a:pPr indent="0" lvl="0" marL="0" marR="0" rtl="0" algn="ctr">
              <a:lnSpc>
                <a:spcPct val="167996"/>
              </a:lnSpc>
              <a:spcBef>
                <a:spcPts val="0"/>
              </a:spcBef>
              <a:spcAft>
                <a:spcPts val="0"/>
              </a:spcAft>
              <a:buNone/>
            </a:pPr>
            <a:r>
              <a:rPr b="0" i="0" lang="en-US" sz="9999" u="none" cap="none" strike="noStrike">
                <a:solidFill>
                  <a:srgbClr val="FFBC19"/>
                </a:solidFill>
                <a:latin typeface="Arial"/>
                <a:ea typeface="Arial"/>
                <a:cs typeface="Arial"/>
                <a:sym typeface="Arial"/>
              </a:rPr>
              <a:t>AGENDA</a:t>
            </a:r>
            <a:endParaRPr/>
          </a:p>
        </p:txBody>
      </p:sp>
      <p:sp>
        <p:nvSpPr>
          <p:cNvPr id="123" name="Google Shape;123;p3"/>
          <p:cNvSpPr txBox="1"/>
          <p:nvPr/>
        </p:nvSpPr>
        <p:spPr>
          <a:xfrm>
            <a:off x="4306680" y="3252704"/>
            <a:ext cx="1699772" cy="611128"/>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FORO #</a:t>
            </a:r>
            <a:endParaRPr/>
          </a:p>
        </p:txBody>
      </p:sp>
      <p:sp>
        <p:nvSpPr>
          <p:cNvPr id="124" name="Google Shape;124;p3"/>
          <p:cNvSpPr txBox="1"/>
          <p:nvPr/>
        </p:nvSpPr>
        <p:spPr>
          <a:xfrm>
            <a:off x="3232680" y="3161581"/>
            <a:ext cx="504327" cy="749430"/>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0" i="0" lang="en-US" sz="3799" u="none" cap="none" strike="noStrike">
                <a:solidFill>
                  <a:srgbClr val="FFBC19"/>
                </a:solidFill>
                <a:latin typeface="Arial"/>
                <a:ea typeface="Arial"/>
                <a:cs typeface="Arial"/>
                <a:sym typeface="Arial"/>
              </a:rPr>
              <a:t>1.</a:t>
            </a:r>
            <a:endParaRPr/>
          </a:p>
        </p:txBody>
      </p:sp>
      <p:sp>
        <p:nvSpPr>
          <p:cNvPr id="125" name="Google Shape;125;p3"/>
          <p:cNvSpPr txBox="1"/>
          <p:nvPr/>
        </p:nvSpPr>
        <p:spPr>
          <a:xfrm>
            <a:off x="3232680" y="3928827"/>
            <a:ext cx="504327" cy="749430"/>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0" i="0" lang="en-US" sz="3799" u="none" cap="none" strike="noStrike">
                <a:solidFill>
                  <a:srgbClr val="FFBC19"/>
                </a:solidFill>
                <a:latin typeface="Arial"/>
                <a:ea typeface="Arial"/>
                <a:cs typeface="Arial"/>
                <a:sym typeface="Arial"/>
              </a:rPr>
              <a:t>2.</a:t>
            </a:r>
            <a:endParaRPr/>
          </a:p>
        </p:txBody>
      </p:sp>
      <p:sp>
        <p:nvSpPr>
          <p:cNvPr id="126" name="Google Shape;126;p3"/>
          <p:cNvSpPr txBox="1"/>
          <p:nvPr/>
        </p:nvSpPr>
        <p:spPr>
          <a:xfrm>
            <a:off x="4255291" y="4766498"/>
            <a:ext cx="1802549" cy="611128"/>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VLANS</a:t>
            </a:r>
            <a:endParaRPr/>
          </a:p>
        </p:txBody>
      </p:sp>
      <p:sp>
        <p:nvSpPr>
          <p:cNvPr id="127" name="Google Shape;127;p3"/>
          <p:cNvSpPr txBox="1"/>
          <p:nvPr/>
        </p:nvSpPr>
        <p:spPr>
          <a:xfrm>
            <a:off x="3240346" y="5295266"/>
            <a:ext cx="504327" cy="749430"/>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0" i="0" lang="en-US" sz="3799" u="none" cap="none" strike="noStrike">
                <a:solidFill>
                  <a:srgbClr val="FFBC19"/>
                </a:solidFill>
                <a:latin typeface="Arial"/>
                <a:ea typeface="Arial"/>
                <a:cs typeface="Arial"/>
                <a:sym typeface="Arial"/>
              </a:rPr>
              <a:t>4.</a:t>
            </a:r>
            <a:endParaRPr/>
          </a:p>
        </p:txBody>
      </p:sp>
      <p:sp>
        <p:nvSpPr>
          <p:cNvPr id="128" name="Google Shape;128;p3"/>
          <p:cNvSpPr/>
          <p:nvPr/>
        </p:nvSpPr>
        <p:spPr>
          <a:xfrm>
            <a:off x="183818" y="4461592"/>
            <a:ext cx="3063050" cy="5749766"/>
          </a:xfrm>
          <a:custGeom>
            <a:rect b="b" l="l" r="r" t="t"/>
            <a:pathLst>
              <a:path extrusionOk="0" h="7666355" w="4084066">
                <a:moveTo>
                  <a:pt x="0" y="0"/>
                </a:moveTo>
                <a:lnTo>
                  <a:pt x="4084066" y="0"/>
                </a:lnTo>
                <a:lnTo>
                  <a:pt x="4084066" y="7666355"/>
                </a:lnTo>
                <a:lnTo>
                  <a:pt x="0" y="7666355"/>
                </a:lnTo>
                <a:lnTo>
                  <a:pt x="0" y="0"/>
                </a:lnTo>
                <a:close/>
              </a:path>
            </a:pathLst>
          </a:custGeom>
          <a:blipFill rotWithShape="1">
            <a:blip r:embed="rId7">
              <a:alphaModFix/>
            </a:blip>
            <a:stretch>
              <a:fillRect b="0" l="-31" r="-31" t="0"/>
            </a:stretch>
          </a:blipFill>
          <a:ln>
            <a:noFill/>
          </a:ln>
        </p:spPr>
      </p:sp>
      <p:cxnSp>
        <p:nvCxnSpPr>
          <p:cNvPr id="129" name="Google Shape;129;p3"/>
          <p:cNvCxnSpPr/>
          <p:nvPr/>
        </p:nvCxnSpPr>
        <p:spPr>
          <a:xfrm rot="20056">
            <a:off x="1009594" y="2806700"/>
            <a:ext cx="6530451" cy="0"/>
          </a:xfrm>
          <a:prstGeom prst="straightConnector1">
            <a:avLst/>
          </a:prstGeom>
          <a:noFill/>
          <a:ln cap="rnd" cmpd="sng" w="28575">
            <a:solidFill>
              <a:srgbClr val="FFD752"/>
            </a:solidFill>
            <a:prstDash val="solid"/>
            <a:round/>
            <a:headEnd len="sm" w="sm" type="none"/>
            <a:tailEnd len="sm" w="sm" type="none"/>
          </a:ln>
        </p:spPr>
      </p:cxnSp>
      <p:sp>
        <p:nvSpPr>
          <p:cNvPr id="130" name="Google Shape;130;p3"/>
          <p:cNvSpPr txBox="1"/>
          <p:nvPr/>
        </p:nvSpPr>
        <p:spPr>
          <a:xfrm>
            <a:off x="4300058" y="5463352"/>
            <a:ext cx="1255353" cy="611128"/>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VTP</a:t>
            </a:r>
            <a:endParaRPr/>
          </a:p>
        </p:txBody>
      </p:sp>
      <p:sp>
        <p:nvSpPr>
          <p:cNvPr id="131" name="Google Shape;131;p3"/>
          <p:cNvSpPr txBox="1"/>
          <p:nvPr/>
        </p:nvSpPr>
        <p:spPr>
          <a:xfrm>
            <a:off x="3240346" y="6065522"/>
            <a:ext cx="504327" cy="749430"/>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0" i="0" lang="en-US" sz="3799" u="none" cap="none" strike="noStrike">
                <a:solidFill>
                  <a:srgbClr val="FFBC19"/>
                </a:solidFill>
                <a:latin typeface="Arial"/>
                <a:ea typeface="Arial"/>
                <a:cs typeface="Arial"/>
                <a:sym typeface="Arial"/>
              </a:rPr>
              <a:t>5.</a:t>
            </a:r>
            <a:endParaRPr/>
          </a:p>
        </p:txBody>
      </p:sp>
      <p:sp>
        <p:nvSpPr>
          <p:cNvPr id="132" name="Google Shape;132;p3"/>
          <p:cNvSpPr txBox="1"/>
          <p:nvPr/>
        </p:nvSpPr>
        <p:spPr>
          <a:xfrm>
            <a:off x="10767060" y="508000"/>
            <a:ext cx="6437017" cy="2207852"/>
          </a:xfrm>
          <a:prstGeom prst="rect">
            <a:avLst/>
          </a:prstGeom>
          <a:noFill/>
          <a:ln>
            <a:noFill/>
          </a:ln>
        </p:spPr>
        <p:txBody>
          <a:bodyPr anchorCtr="0" anchor="t" bIns="0" lIns="0" spcFirstLastPara="1" rIns="0" wrap="square" tIns="0">
            <a:spAutoFit/>
          </a:bodyPr>
          <a:lstStyle/>
          <a:p>
            <a:pPr indent="0" lvl="0" marL="0" marR="0" rtl="0" algn="ctr">
              <a:lnSpc>
                <a:spcPct val="168001"/>
              </a:lnSpc>
              <a:spcBef>
                <a:spcPts val="0"/>
              </a:spcBef>
              <a:spcAft>
                <a:spcPts val="0"/>
              </a:spcAft>
              <a:buNone/>
            </a:pPr>
            <a:r>
              <a:rPr b="0" i="0" lang="en-US" sz="9338" u="none" cap="none" strike="noStrike">
                <a:solidFill>
                  <a:srgbClr val="FFBC19"/>
                </a:solidFill>
                <a:latin typeface="Arial"/>
                <a:ea typeface="Arial"/>
                <a:cs typeface="Arial"/>
                <a:sym typeface="Arial"/>
              </a:rPr>
              <a:t>Recursos</a:t>
            </a:r>
            <a:endParaRPr/>
          </a:p>
        </p:txBody>
      </p:sp>
      <p:cxnSp>
        <p:nvCxnSpPr>
          <p:cNvPr id="133" name="Google Shape;133;p3"/>
          <p:cNvCxnSpPr/>
          <p:nvPr/>
        </p:nvCxnSpPr>
        <p:spPr>
          <a:xfrm rot="20056">
            <a:off x="10747954" y="2787650"/>
            <a:ext cx="6530451" cy="0"/>
          </a:xfrm>
          <a:prstGeom prst="straightConnector1">
            <a:avLst/>
          </a:prstGeom>
          <a:noFill/>
          <a:ln cap="rnd" cmpd="sng" w="28575">
            <a:solidFill>
              <a:srgbClr val="FFD752"/>
            </a:solidFill>
            <a:prstDash val="solid"/>
            <a:round/>
            <a:headEnd len="sm" w="sm" type="none"/>
            <a:tailEnd len="sm" w="sm" type="none"/>
          </a:ln>
        </p:spPr>
      </p:cxnSp>
      <p:sp>
        <p:nvSpPr>
          <p:cNvPr id="134" name="Google Shape;134;p3"/>
          <p:cNvSpPr txBox="1"/>
          <p:nvPr/>
        </p:nvSpPr>
        <p:spPr>
          <a:xfrm>
            <a:off x="4300058" y="6160205"/>
            <a:ext cx="3239932" cy="611128"/>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Ejemplo práctico</a:t>
            </a:r>
            <a:endParaRPr/>
          </a:p>
        </p:txBody>
      </p:sp>
      <p:sp>
        <p:nvSpPr>
          <p:cNvPr id="135" name="Google Shape;135;p3"/>
          <p:cNvSpPr txBox="1"/>
          <p:nvPr/>
        </p:nvSpPr>
        <p:spPr>
          <a:xfrm>
            <a:off x="4300058" y="6931379"/>
            <a:ext cx="3640309" cy="611128"/>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Actividad Práctica</a:t>
            </a:r>
            <a:endParaRPr/>
          </a:p>
        </p:txBody>
      </p:sp>
      <p:sp>
        <p:nvSpPr>
          <p:cNvPr id="136" name="Google Shape;136;p3"/>
          <p:cNvSpPr txBox="1"/>
          <p:nvPr/>
        </p:nvSpPr>
        <p:spPr>
          <a:xfrm>
            <a:off x="3246882" y="6858161"/>
            <a:ext cx="504327" cy="749430"/>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0" i="0" lang="en-US" sz="3799" u="none" cap="none" strike="noStrike">
                <a:solidFill>
                  <a:srgbClr val="FFBC19"/>
                </a:solidFill>
                <a:latin typeface="Arial"/>
                <a:ea typeface="Arial"/>
                <a:cs typeface="Arial"/>
                <a:sym typeface="Arial"/>
              </a:rPr>
              <a:t>6.</a:t>
            </a:r>
            <a:endParaRPr/>
          </a:p>
        </p:txBody>
      </p:sp>
      <p:sp>
        <p:nvSpPr>
          <p:cNvPr id="137" name="Google Shape;137;p3"/>
          <p:cNvSpPr txBox="1"/>
          <p:nvPr/>
        </p:nvSpPr>
        <p:spPr>
          <a:xfrm>
            <a:off x="4300058" y="3997182"/>
            <a:ext cx="4335677" cy="611128"/>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introducciÓn a cisco ios</a:t>
            </a:r>
            <a:endParaRPr/>
          </a:p>
        </p:txBody>
      </p:sp>
      <p:sp>
        <p:nvSpPr>
          <p:cNvPr id="138" name="Google Shape;138;p3"/>
          <p:cNvSpPr txBox="1"/>
          <p:nvPr/>
        </p:nvSpPr>
        <p:spPr>
          <a:xfrm>
            <a:off x="3233487" y="4610734"/>
            <a:ext cx="504327" cy="749430"/>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0" i="0" lang="en-US" sz="3799" u="none" cap="none" strike="noStrike">
                <a:solidFill>
                  <a:srgbClr val="FFBC19"/>
                </a:solidFill>
                <a:latin typeface="Arial"/>
                <a:ea typeface="Arial"/>
                <a:cs typeface="Arial"/>
                <a:sym typeface="Arial"/>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146" name="Shape 146"/>
        <p:cNvGrpSpPr/>
        <p:nvPr/>
      </p:nvGrpSpPr>
      <p:grpSpPr>
        <a:xfrm>
          <a:off x="0" y="0"/>
          <a:ext cx="0" cy="0"/>
          <a:chOff x="0" y="0"/>
          <a:chExt cx="0" cy="0"/>
        </a:xfrm>
      </p:grpSpPr>
      <p:sp>
        <p:nvSpPr>
          <p:cNvPr id="147" name="Google Shape;147;p4"/>
          <p:cNvSpPr/>
          <p:nvPr/>
        </p:nvSpPr>
        <p:spPr>
          <a:xfrm>
            <a:off x="5239556" y="8120619"/>
            <a:ext cx="5201984" cy="3342227"/>
          </a:xfrm>
          <a:custGeom>
            <a:rect b="b" l="l" r="r" t="t"/>
            <a:pathLst>
              <a:path extrusionOk="0" h="4456303" w="6935978">
                <a:moveTo>
                  <a:pt x="0" y="0"/>
                </a:moveTo>
                <a:lnTo>
                  <a:pt x="6935978" y="0"/>
                </a:lnTo>
                <a:lnTo>
                  <a:pt x="6935978" y="4456303"/>
                </a:lnTo>
                <a:lnTo>
                  <a:pt x="0" y="4456303"/>
                </a:lnTo>
                <a:lnTo>
                  <a:pt x="0" y="0"/>
                </a:lnTo>
                <a:close/>
              </a:path>
            </a:pathLst>
          </a:custGeom>
          <a:blipFill rotWithShape="1">
            <a:blip r:embed="rId3">
              <a:alphaModFix/>
            </a:blip>
            <a:stretch>
              <a:fillRect b="0" l="-12" r="-11" t="0"/>
            </a:stretch>
          </a:blipFill>
          <a:ln>
            <a:noFill/>
          </a:ln>
        </p:spPr>
      </p:sp>
      <p:sp>
        <p:nvSpPr>
          <p:cNvPr id="148" name="Google Shape;148;p4"/>
          <p:cNvSpPr/>
          <p:nvPr/>
        </p:nvSpPr>
        <p:spPr>
          <a:xfrm>
            <a:off x="14699231" y="-1612948"/>
            <a:ext cx="4893754"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4">
              <a:alphaModFix/>
            </a:blip>
            <a:stretch>
              <a:fillRect b="-10" l="0" r="0" t="-11"/>
            </a:stretch>
          </a:blipFill>
          <a:ln>
            <a:noFill/>
          </a:ln>
        </p:spPr>
      </p:sp>
      <p:sp>
        <p:nvSpPr>
          <p:cNvPr id="149" name="Google Shape;149;p4"/>
          <p:cNvSpPr/>
          <p:nvPr/>
        </p:nvSpPr>
        <p:spPr>
          <a:xfrm>
            <a:off x="-2777976" y="0"/>
            <a:ext cx="10287000" cy="10287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5">
              <a:alphaModFix/>
            </a:blip>
            <a:stretch>
              <a:fillRect b="0" l="0" r="0" t="0"/>
            </a:stretch>
          </a:blipFill>
          <a:ln>
            <a:noFill/>
          </a:ln>
        </p:spPr>
      </p:sp>
      <p:sp>
        <p:nvSpPr>
          <p:cNvPr id="150" name="Google Shape;150;p4"/>
          <p:cNvSpPr/>
          <p:nvPr/>
        </p:nvSpPr>
        <p:spPr>
          <a:xfrm>
            <a:off x="8941275" y="2638587"/>
            <a:ext cx="8204930" cy="5009864"/>
          </a:xfrm>
          <a:custGeom>
            <a:rect b="b" l="l" r="r" t="t"/>
            <a:pathLst>
              <a:path extrusionOk="0" h="6679819" w="10939907">
                <a:moveTo>
                  <a:pt x="0" y="0"/>
                </a:moveTo>
                <a:lnTo>
                  <a:pt x="10939907" y="0"/>
                </a:lnTo>
                <a:lnTo>
                  <a:pt x="10939907" y="6679819"/>
                </a:lnTo>
                <a:lnTo>
                  <a:pt x="0" y="6679819"/>
                </a:lnTo>
                <a:lnTo>
                  <a:pt x="0" y="0"/>
                </a:lnTo>
                <a:close/>
              </a:path>
            </a:pathLst>
          </a:custGeom>
          <a:blipFill rotWithShape="1">
            <a:blip r:embed="rId6">
              <a:alphaModFix/>
            </a:blip>
            <a:stretch>
              <a:fillRect b="0" l="-125907" r="-125907" t="0"/>
            </a:stretch>
          </a:blipFill>
          <a:ln>
            <a:noFill/>
          </a:ln>
        </p:spPr>
      </p:sp>
      <p:sp>
        <p:nvSpPr>
          <p:cNvPr id="151" name="Google Shape;151;p4"/>
          <p:cNvSpPr txBox="1"/>
          <p:nvPr/>
        </p:nvSpPr>
        <p:spPr>
          <a:xfrm>
            <a:off x="317234" y="3232800"/>
            <a:ext cx="6874567" cy="2419807"/>
          </a:xfrm>
          <a:prstGeom prst="rect">
            <a:avLst/>
          </a:prstGeom>
          <a:noFill/>
          <a:ln>
            <a:noFill/>
          </a:ln>
        </p:spPr>
        <p:txBody>
          <a:bodyPr anchorCtr="0" anchor="t" bIns="0" lIns="0" spcFirstLastPara="1" rIns="0" wrap="square" tIns="0">
            <a:spAutoFit/>
          </a:bodyPr>
          <a:lstStyle/>
          <a:p>
            <a:pPr indent="0" lvl="0" marL="0" marR="0" rtl="0" algn="ctr">
              <a:lnSpc>
                <a:spcPct val="167993"/>
              </a:lnSpc>
              <a:spcBef>
                <a:spcPts val="0"/>
              </a:spcBef>
              <a:spcAft>
                <a:spcPts val="0"/>
              </a:spcAft>
              <a:buNone/>
            </a:pPr>
            <a:r>
              <a:rPr b="0" i="0" lang="en-US" sz="5930" u="none" cap="none" strike="noStrike">
                <a:solidFill>
                  <a:srgbClr val="FFBC19"/>
                </a:solidFill>
                <a:latin typeface="Anton"/>
                <a:ea typeface="Anton"/>
                <a:cs typeface="Anton"/>
                <a:sym typeface="Anton"/>
              </a:rPr>
              <a:t>Competencias que desarrollaremos</a:t>
            </a:r>
            <a:endParaRPr/>
          </a:p>
        </p:txBody>
      </p:sp>
      <p:sp>
        <p:nvSpPr>
          <p:cNvPr id="152" name="Google Shape;152;p4"/>
          <p:cNvSpPr txBox="1"/>
          <p:nvPr/>
        </p:nvSpPr>
        <p:spPr>
          <a:xfrm>
            <a:off x="9379516" y="3270938"/>
            <a:ext cx="7328400" cy="4374300"/>
          </a:xfrm>
          <a:prstGeom prst="rect">
            <a:avLst/>
          </a:prstGeom>
          <a:noFill/>
          <a:ln>
            <a:noFill/>
          </a:ln>
        </p:spPr>
        <p:txBody>
          <a:bodyPr anchorCtr="0" anchor="t" bIns="0" lIns="0" spcFirstLastPara="1" rIns="0" wrap="square" tIns="0">
            <a:spAutoFit/>
          </a:bodyPr>
          <a:lstStyle/>
          <a:p>
            <a:pPr indent="0" lvl="0" marL="0" marR="0" rtl="0" algn="ctr">
              <a:lnSpc>
                <a:spcPct val="137980"/>
              </a:lnSpc>
              <a:spcBef>
                <a:spcPts val="0"/>
              </a:spcBef>
              <a:spcAft>
                <a:spcPts val="0"/>
              </a:spcAft>
              <a:buNone/>
            </a:pPr>
            <a:r>
              <a:rPr b="0" i="0" lang="en-US" sz="3099" u="none" cap="none" strike="noStrike">
                <a:solidFill>
                  <a:srgbClr val="FFBC19"/>
                </a:solidFill>
                <a:latin typeface="Sniglet"/>
                <a:ea typeface="Sniglet"/>
                <a:cs typeface="Sniglet"/>
                <a:sym typeface="Sniglet"/>
              </a:rPr>
              <a:t>El estudiante diseña y crea redes segmentadas aplicando técnicas de etiquetado y optimización para aislar y gestionar el tráfico de manera eficiente entre diferentes grupos de usuarios, asegurando redundancia y evitando bucles en la red.</a:t>
            </a:r>
            <a:endParaRPr/>
          </a:p>
          <a:p>
            <a:pPr indent="0" lvl="0" marL="0" marR="0" rtl="0" algn="l">
              <a:lnSpc>
                <a:spcPct val="75895"/>
              </a:lnSpc>
              <a:spcBef>
                <a:spcPts val="0"/>
              </a:spcBef>
              <a:spcAft>
                <a:spcPts val="0"/>
              </a:spcAft>
              <a:buNone/>
            </a:pPr>
            <a:r>
              <a:t/>
            </a:r>
            <a:endParaRPr b="0" i="0" sz="3099" u="none" cap="none" strike="noStrike">
              <a:solidFill>
                <a:srgbClr val="FFBC19"/>
              </a:solidFill>
              <a:latin typeface="Sniglet"/>
              <a:ea typeface="Sniglet"/>
              <a:cs typeface="Sniglet"/>
              <a:sym typeface="Snigle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160" name="Shape 160"/>
        <p:cNvGrpSpPr/>
        <p:nvPr/>
      </p:nvGrpSpPr>
      <p:grpSpPr>
        <a:xfrm>
          <a:off x="0" y="0"/>
          <a:ext cx="0" cy="0"/>
          <a:chOff x="0" y="0"/>
          <a:chExt cx="0" cy="0"/>
        </a:xfrm>
      </p:grpSpPr>
      <p:sp>
        <p:nvSpPr>
          <p:cNvPr id="161" name="Google Shape;161;p5"/>
          <p:cNvSpPr/>
          <p:nvPr/>
        </p:nvSpPr>
        <p:spPr>
          <a:xfrm>
            <a:off x="-3186246" y="5846282"/>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162" name="Google Shape;162;p5"/>
          <p:cNvSpPr/>
          <p:nvPr/>
        </p:nvSpPr>
        <p:spPr>
          <a:xfrm>
            <a:off x="10439817" y="5838901"/>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163" name="Google Shape;163;p5"/>
          <p:cNvSpPr/>
          <p:nvPr/>
        </p:nvSpPr>
        <p:spPr>
          <a:xfrm>
            <a:off x="-1303650" y="-205740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164" name="Google Shape;164;p5"/>
          <p:cNvSpPr/>
          <p:nvPr/>
        </p:nvSpPr>
        <p:spPr>
          <a:xfrm>
            <a:off x="14415333" y="-1658266"/>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165" name="Google Shape;165;p5"/>
          <p:cNvSpPr txBox="1"/>
          <p:nvPr/>
        </p:nvSpPr>
        <p:spPr>
          <a:xfrm>
            <a:off x="1603864" y="2672253"/>
            <a:ext cx="15080273" cy="2347798"/>
          </a:xfrm>
          <a:prstGeom prst="rect">
            <a:avLst/>
          </a:prstGeom>
          <a:noFill/>
          <a:ln>
            <a:noFill/>
          </a:ln>
        </p:spPr>
        <p:txBody>
          <a:bodyPr anchorCtr="0" anchor="t" bIns="0" lIns="0" spcFirstLastPara="1" rIns="0" wrap="square" tIns="0">
            <a:spAutoFit/>
          </a:bodyPr>
          <a:lstStyle/>
          <a:p>
            <a:pPr indent="0" lvl="0" marL="0" marR="0" rtl="0" algn="ctr">
              <a:lnSpc>
                <a:spcPct val="168010"/>
              </a:lnSpc>
              <a:spcBef>
                <a:spcPts val="0"/>
              </a:spcBef>
              <a:spcAft>
                <a:spcPts val="0"/>
              </a:spcAft>
              <a:buNone/>
            </a:pPr>
            <a:r>
              <a:rPr b="0" i="0" lang="en-US" sz="11954" u="none" cap="none" strike="noStrike">
                <a:solidFill>
                  <a:srgbClr val="FFBC19"/>
                </a:solidFill>
                <a:latin typeface="Anton"/>
                <a:ea typeface="Anton"/>
                <a:cs typeface="Anton"/>
                <a:sym typeface="Anton"/>
              </a:rPr>
              <a:t>INTRODUCCIÓN A CISCO IOS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173" name="Shape 173"/>
        <p:cNvGrpSpPr/>
        <p:nvPr/>
      </p:nvGrpSpPr>
      <p:grpSpPr>
        <a:xfrm>
          <a:off x="0" y="0"/>
          <a:ext cx="0" cy="0"/>
          <a:chOff x="0" y="0"/>
          <a:chExt cx="0" cy="0"/>
        </a:xfrm>
      </p:grpSpPr>
      <p:sp>
        <p:nvSpPr>
          <p:cNvPr id="174" name="Google Shape;174;p6"/>
          <p:cNvSpPr/>
          <p:nvPr/>
        </p:nvSpPr>
        <p:spPr>
          <a:xfrm>
            <a:off x="-2190321" y="4519895"/>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175" name="Google Shape;175;p6"/>
          <p:cNvSpPr/>
          <p:nvPr/>
        </p:nvSpPr>
        <p:spPr>
          <a:xfrm>
            <a:off x="431752" y="4180862"/>
            <a:ext cx="5826538" cy="3216211"/>
          </a:xfrm>
          <a:custGeom>
            <a:rect b="b" l="l" r="r" t="t"/>
            <a:pathLst>
              <a:path extrusionOk="0" h="4288282" w="7768717">
                <a:moveTo>
                  <a:pt x="596900" y="0"/>
                </a:moveTo>
                <a:lnTo>
                  <a:pt x="7171817" y="0"/>
                </a:lnTo>
                <a:cubicBezTo>
                  <a:pt x="7501476" y="0"/>
                  <a:pt x="7768717" y="267241"/>
                  <a:pt x="7768717" y="596900"/>
                </a:cubicBezTo>
                <a:lnTo>
                  <a:pt x="7768717" y="3691382"/>
                </a:lnTo>
                <a:cubicBezTo>
                  <a:pt x="7768717" y="3849690"/>
                  <a:pt x="7705830" y="4001514"/>
                  <a:pt x="7593889" y="4113454"/>
                </a:cubicBezTo>
                <a:cubicBezTo>
                  <a:pt x="7481949" y="4225394"/>
                  <a:pt x="7330125" y="4288282"/>
                  <a:pt x="7171817" y="4288282"/>
                </a:cubicBezTo>
                <a:lnTo>
                  <a:pt x="596900" y="4288282"/>
                </a:lnTo>
                <a:cubicBezTo>
                  <a:pt x="438592" y="4288282"/>
                  <a:pt x="286768" y="4225394"/>
                  <a:pt x="174828" y="4113454"/>
                </a:cubicBezTo>
                <a:cubicBezTo>
                  <a:pt x="62888" y="4001514"/>
                  <a:pt x="0" y="3849690"/>
                  <a:pt x="0" y="3691382"/>
                </a:cubicBezTo>
                <a:lnTo>
                  <a:pt x="0" y="596900"/>
                </a:lnTo>
                <a:cubicBezTo>
                  <a:pt x="0" y="267241"/>
                  <a:pt x="267241" y="0"/>
                  <a:pt x="596900" y="0"/>
                </a:cubicBezTo>
                <a:close/>
              </a:path>
            </a:pathLst>
          </a:cu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265533" y="3636623"/>
            <a:ext cx="5992749" cy="4164997"/>
          </a:xfrm>
          <a:custGeom>
            <a:rect b="b" l="l" r="r" t="t"/>
            <a:pathLst>
              <a:path extrusionOk="0" h="5553329" w="7990332">
                <a:moveTo>
                  <a:pt x="431800" y="0"/>
                </a:moveTo>
                <a:lnTo>
                  <a:pt x="7558532" y="0"/>
                </a:lnTo>
                <a:cubicBezTo>
                  <a:pt x="7797009" y="0"/>
                  <a:pt x="7990332" y="193323"/>
                  <a:pt x="7990332" y="431800"/>
                </a:cubicBezTo>
                <a:lnTo>
                  <a:pt x="7990332" y="5121529"/>
                </a:lnTo>
                <a:cubicBezTo>
                  <a:pt x="7990332" y="5236049"/>
                  <a:pt x="7944838" y="5345880"/>
                  <a:pt x="7863860" y="5426858"/>
                </a:cubicBezTo>
                <a:cubicBezTo>
                  <a:pt x="7782882" y="5507836"/>
                  <a:pt x="7673052" y="5553329"/>
                  <a:pt x="7558532" y="5553329"/>
                </a:cubicBezTo>
                <a:lnTo>
                  <a:pt x="431800" y="5553329"/>
                </a:lnTo>
                <a:cubicBezTo>
                  <a:pt x="317280" y="5553329"/>
                  <a:pt x="207449" y="5507836"/>
                  <a:pt x="126471" y="5426858"/>
                </a:cubicBezTo>
                <a:cubicBezTo>
                  <a:pt x="45493" y="5345880"/>
                  <a:pt x="0" y="5236049"/>
                  <a:pt x="0" y="5121529"/>
                </a:cubicBezTo>
                <a:lnTo>
                  <a:pt x="0" y="431800"/>
                </a:lnTo>
                <a:cubicBezTo>
                  <a:pt x="0" y="193323"/>
                  <a:pt x="193323" y="0"/>
                  <a:pt x="431800" y="0"/>
                </a:cubicBezTo>
                <a:close/>
              </a:path>
            </a:pathLst>
          </a:cu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 name="Google Shape;177;p6"/>
          <p:cNvGrpSpPr/>
          <p:nvPr/>
        </p:nvGrpSpPr>
        <p:grpSpPr>
          <a:xfrm>
            <a:off x="6663018" y="2824944"/>
            <a:ext cx="10558182" cy="4976656"/>
            <a:chOff x="0" y="-114300"/>
            <a:chExt cx="2780756" cy="1310724"/>
          </a:xfrm>
        </p:grpSpPr>
        <p:sp>
          <p:nvSpPr>
            <p:cNvPr id="178" name="Google Shape;178;p6"/>
            <p:cNvSpPr/>
            <p:nvPr/>
          </p:nvSpPr>
          <p:spPr>
            <a:xfrm>
              <a:off x="0" y="0"/>
              <a:ext cx="2780756" cy="1196424"/>
            </a:xfrm>
            <a:custGeom>
              <a:rect b="b" l="l" r="r" t="t"/>
              <a:pathLst>
                <a:path extrusionOk="0" h="1196424" w="2780756">
                  <a:moveTo>
                    <a:pt x="37396" y="0"/>
                  </a:moveTo>
                  <a:lnTo>
                    <a:pt x="2743359" y="0"/>
                  </a:lnTo>
                  <a:cubicBezTo>
                    <a:pt x="2753278" y="0"/>
                    <a:pt x="2762790" y="3940"/>
                    <a:pt x="2769803" y="10953"/>
                  </a:cubicBezTo>
                  <a:cubicBezTo>
                    <a:pt x="2776816" y="17966"/>
                    <a:pt x="2780756" y="27478"/>
                    <a:pt x="2780756" y="37396"/>
                  </a:cubicBezTo>
                  <a:lnTo>
                    <a:pt x="2780756" y="1159028"/>
                  </a:lnTo>
                  <a:cubicBezTo>
                    <a:pt x="2780756" y="1179681"/>
                    <a:pt x="2764013" y="1196424"/>
                    <a:pt x="2743359" y="1196424"/>
                  </a:cubicBezTo>
                  <a:lnTo>
                    <a:pt x="37396" y="1196424"/>
                  </a:lnTo>
                  <a:cubicBezTo>
                    <a:pt x="27478" y="1196424"/>
                    <a:pt x="17966" y="1192484"/>
                    <a:pt x="10953" y="1185471"/>
                  </a:cubicBezTo>
                  <a:cubicBezTo>
                    <a:pt x="3940" y="1178458"/>
                    <a:pt x="0" y="1168946"/>
                    <a:pt x="0" y="1159028"/>
                  </a:cubicBezTo>
                  <a:lnTo>
                    <a:pt x="0" y="37396"/>
                  </a:lnTo>
                  <a:cubicBezTo>
                    <a:pt x="0" y="27478"/>
                    <a:pt x="3940" y="17966"/>
                    <a:pt x="10953" y="10953"/>
                  </a:cubicBezTo>
                  <a:cubicBezTo>
                    <a:pt x="17966" y="3940"/>
                    <a:pt x="27478" y="0"/>
                    <a:pt x="37396"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txBox="1"/>
            <p:nvPr/>
          </p:nvSpPr>
          <p:spPr>
            <a:xfrm>
              <a:off x="0" y="-114300"/>
              <a:ext cx="2780756" cy="1310724"/>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0" name="Google Shape;180;p6"/>
          <p:cNvGrpSpPr/>
          <p:nvPr/>
        </p:nvGrpSpPr>
        <p:grpSpPr>
          <a:xfrm>
            <a:off x="6977998" y="2542862"/>
            <a:ext cx="5999245" cy="4976656"/>
            <a:chOff x="0" y="-114300"/>
            <a:chExt cx="1580048" cy="1310724"/>
          </a:xfrm>
        </p:grpSpPr>
        <p:sp>
          <p:nvSpPr>
            <p:cNvPr id="181" name="Google Shape;181;p6"/>
            <p:cNvSpPr/>
            <p:nvPr/>
          </p:nvSpPr>
          <p:spPr>
            <a:xfrm>
              <a:off x="0" y="0"/>
              <a:ext cx="1580048" cy="1196424"/>
            </a:xfrm>
            <a:custGeom>
              <a:rect b="b" l="l" r="r" t="t"/>
              <a:pathLst>
                <a:path extrusionOk="0" h="1196424" w="1580048">
                  <a:moveTo>
                    <a:pt x="65815" y="0"/>
                  </a:moveTo>
                  <a:lnTo>
                    <a:pt x="1514234" y="0"/>
                  </a:lnTo>
                  <a:cubicBezTo>
                    <a:pt x="1531689" y="0"/>
                    <a:pt x="1548429" y="6934"/>
                    <a:pt x="1560771" y="19277"/>
                  </a:cubicBezTo>
                  <a:cubicBezTo>
                    <a:pt x="1573114" y="31619"/>
                    <a:pt x="1580048" y="48359"/>
                    <a:pt x="1580048" y="65815"/>
                  </a:cubicBezTo>
                  <a:lnTo>
                    <a:pt x="1580048" y="1130609"/>
                  </a:lnTo>
                  <a:cubicBezTo>
                    <a:pt x="1580048" y="1148065"/>
                    <a:pt x="1573114" y="1164805"/>
                    <a:pt x="1560771" y="1177147"/>
                  </a:cubicBezTo>
                  <a:cubicBezTo>
                    <a:pt x="1548429" y="1189490"/>
                    <a:pt x="1531689" y="1196424"/>
                    <a:pt x="1514234" y="1196424"/>
                  </a:cubicBezTo>
                  <a:lnTo>
                    <a:pt x="65815" y="1196424"/>
                  </a:lnTo>
                  <a:cubicBezTo>
                    <a:pt x="48359" y="1196424"/>
                    <a:pt x="31619" y="1189490"/>
                    <a:pt x="19277" y="1177147"/>
                  </a:cubicBezTo>
                  <a:cubicBezTo>
                    <a:pt x="6934" y="1164805"/>
                    <a:pt x="0" y="1148065"/>
                    <a:pt x="0" y="1130609"/>
                  </a:cubicBezTo>
                  <a:lnTo>
                    <a:pt x="0" y="65815"/>
                  </a:lnTo>
                  <a:cubicBezTo>
                    <a:pt x="0" y="48359"/>
                    <a:pt x="6934" y="31619"/>
                    <a:pt x="19277" y="19277"/>
                  </a:cubicBezTo>
                  <a:cubicBezTo>
                    <a:pt x="31619" y="6934"/>
                    <a:pt x="48359" y="0"/>
                    <a:pt x="65815" y="0"/>
                  </a:cubicBezTo>
                  <a:close/>
                </a:path>
              </a:pathLst>
            </a:custGeom>
            <a:solidFill>
              <a:srgbClr val="B4B4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txBox="1"/>
            <p:nvPr/>
          </p:nvSpPr>
          <p:spPr>
            <a:xfrm>
              <a:off x="0" y="-114300"/>
              <a:ext cx="1580048" cy="1310724"/>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3" name="Google Shape;183;p6"/>
          <p:cNvGrpSpPr/>
          <p:nvPr/>
        </p:nvGrpSpPr>
        <p:grpSpPr>
          <a:xfrm>
            <a:off x="11329672" y="2542833"/>
            <a:ext cx="6193115" cy="4976675"/>
            <a:chOff x="0" y="-114300"/>
            <a:chExt cx="1631089" cy="1310640"/>
          </a:xfrm>
        </p:grpSpPr>
        <p:sp>
          <p:nvSpPr>
            <p:cNvPr id="184" name="Google Shape;184;p6"/>
            <p:cNvSpPr/>
            <p:nvPr/>
          </p:nvSpPr>
          <p:spPr>
            <a:xfrm>
              <a:off x="0" y="0"/>
              <a:ext cx="1631089" cy="1196340"/>
            </a:xfrm>
            <a:custGeom>
              <a:rect b="b" l="l" r="r" t="t"/>
              <a:pathLst>
                <a:path extrusionOk="0" h="1196340" w="1631089">
                  <a:moveTo>
                    <a:pt x="1631089" y="0"/>
                  </a:moveTo>
                  <a:lnTo>
                    <a:pt x="1631089" y="1196340"/>
                  </a:lnTo>
                  <a:lnTo>
                    <a:pt x="0" y="1196340"/>
                  </a:lnTo>
                  <a:lnTo>
                    <a:pt x="0" y="0"/>
                  </a:lnTo>
                  <a:close/>
                </a:path>
              </a:pathLst>
            </a:custGeom>
            <a:solidFill>
              <a:srgbClr val="3D94C6"/>
            </a:solidFill>
            <a:ln>
              <a:noFill/>
            </a:ln>
          </p:spPr>
        </p:sp>
        <p:sp>
          <p:nvSpPr>
            <p:cNvPr id="185" name="Google Shape;185;p6"/>
            <p:cNvSpPr txBox="1"/>
            <p:nvPr/>
          </p:nvSpPr>
          <p:spPr>
            <a:xfrm>
              <a:off x="0" y="-114300"/>
              <a:ext cx="1631089" cy="131064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6" name="Google Shape;186;p6"/>
          <p:cNvSpPr txBox="1"/>
          <p:nvPr/>
        </p:nvSpPr>
        <p:spPr>
          <a:xfrm>
            <a:off x="6977998" y="3354077"/>
            <a:ext cx="10281302" cy="3531400"/>
          </a:xfrm>
          <a:prstGeom prst="rect">
            <a:avLst/>
          </a:prstGeom>
          <a:noFill/>
          <a:ln>
            <a:noFill/>
          </a:ln>
        </p:spPr>
        <p:txBody>
          <a:bodyPr anchorCtr="0" anchor="t" bIns="0" lIns="0" spcFirstLastPara="1" rIns="0" wrap="square" tIns="0">
            <a:spAutoFit/>
          </a:bodyPr>
          <a:lstStyle/>
          <a:p>
            <a:pPr indent="-417261" lvl="2" marL="1251787" marR="0" rtl="0" algn="l">
              <a:lnSpc>
                <a:spcPct val="250069"/>
              </a:lnSpc>
              <a:spcBef>
                <a:spcPts val="0"/>
              </a:spcBef>
              <a:spcAft>
                <a:spcPts val="0"/>
              </a:spcAft>
              <a:buClr>
                <a:srgbClr val="1C030C"/>
              </a:buClr>
              <a:buSzPts val="2898"/>
              <a:buFont typeface="Arial"/>
              <a:buChar char="⚬"/>
            </a:pPr>
            <a:r>
              <a:rPr b="0" i="0" lang="en-US" sz="2898" u="none" cap="none" strike="noStrike">
                <a:solidFill>
                  <a:srgbClr val="1C030C"/>
                </a:solidFill>
                <a:latin typeface="Nunito"/>
                <a:ea typeface="Nunito"/>
                <a:cs typeface="Nunito"/>
                <a:sym typeface="Nunito"/>
              </a:rPr>
              <a:t>Cisco IOS es un sistema operativo utilizado en los dispositivos de red de Cisco, como routers y switches.</a:t>
            </a:r>
            <a:endParaRPr/>
          </a:p>
          <a:p>
            <a:pPr indent="-417263" lvl="2" marL="1251788" marR="0" rtl="0" algn="l">
              <a:lnSpc>
                <a:spcPct val="249982"/>
              </a:lnSpc>
              <a:spcBef>
                <a:spcPts val="0"/>
              </a:spcBef>
              <a:spcAft>
                <a:spcPts val="0"/>
              </a:spcAft>
              <a:buClr>
                <a:srgbClr val="1C030C"/>
              </a:buClr>
              <a:buSzPts val="2899"/>
              <a:buFont typeface="Arial"/>
              <a:buChar char="⚬"/>
            </a:pPr>
            <a:r>
              <a:rPr b="0" i="0" lang="en-US" sz="2899" u="none" cap="none" strike="noStrike">
                <a:solidFill>
                  <a:srgbClr val="1C030C"/>
                </a:solidFill>
                <a:latin typeface="Nunito"/>
                <a:ea typeface="Nunito"/>
                <a:cs typeface="Nunito"/>
                <a:sym typeface="Nunito"/>
              </a:rPr>
              <a:t> Fue desarrollado por Cisco Systems para gestionar y controlar el flujo de datos a través de la red. </a:t>
            </a:r>
            <a:endParaRPr/>
          </a:p>
        </p:txBody>
      </p:sp>
      <p:sp>
        <p:nvSpPr>
          <p:cNvPr id="187" name="Google Shape;187;p6"/>
          <p:cNvSpPr txBox="1"/>
          <p:nvPr/>
        </p:nvSpPr>
        <p:spPr>
          <a:xfrm>
            <a:off x="3345028" y="-114052"/>
            <a:ext cx="11597943" cy="2437714"/>
          </a:xfrm>
          <a:prstGeom prst="rect">
            <a:avLst/>
          </a:prstGeom>
          <a:noFill/>
          <a:ln>
            <a:noFill/>
          </a:ln>
        </p:spPr>
        <p:txBody>
          <a:bodyPr anchorCtr="0" anchor="t" bIns="0" lIns="0" spcFirstLastPara="1" rIns="0" wrap="square" tIns="0">
            <a:spAutoFit/>
          </a:bodyPr>
          <a:lstStyle/>
          <a:p>
            <a:pPr indent="0" lvl="0" marL="0" marR="0" rtl="0" algn="ctr">
              <a:lnSpc>
                <a:spcPct val="168010"/>
              </a:lnSpc>
              <a:spcBef>
                <a:spcPts val="0"/>
              </a:spcBef>
              <a:spcAft>
                <a:spcPts val="0"/>
              </a:spcAft>
              <a:buNone/>
            </a:pPr>
            <a:r>
              <a:rPr b="0" i="0" lang="en-US" sz="12354" u="none" cap="none" strike="noStrike">
                <a:solidFill>
                  <a:srgbClr val="1C030C"/>
                </a:solidFill>
                <a:latin typeface="Anton"/>
                <a:ea typeface="Anton"/>
                <a:cs typeface="Anton"/>
                <a:sym typeface="Anton"/>
              </a:rPr>
              <a:t>Cisco IOS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195" name="Shape 195"/>
        <p:cNvGrpSpPr/>
        <p:nvPr/>
      </p:nvGrpSpPr>
      <p:grpSpPr>
        <a:xfrm>
          <a:off x="0" y="0"/>
          <a:ext cx="0" cy="0"/>
          <a:chOff x="0" y="0"/>
          <a:chExt cx="0" cy="0"/>
        </a:xfrm>
      </p:grpSpPr>
      <p:sp>
        <p:nvSpPr>
          <p:cNvPr id="196" name="Google Shape;196;p7"/>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197" name="Google Shape;197;p7"/>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198" name="Google Shape;198;p7"/>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Características de Cisco IOS</a:t>
            </a:r>
            <a:endParaRPr/>
          </a:p>
        </p:txBody>
      </p:sp>
      <p:sp>
        <p:nvSpPr>
          <p:cNvPr id="199" name="Google Shape;199;p7"/>
          <p:cNvSpPr txBox="1"/>
          <p:nvPr/>
        </p:nvSpPr>
        <p:spPr>
          <a:xfrm>
            <a:off x="1578281" y="2615136"/>
            <a:ext cx="15681019" cy="6561138"/>
          </a:xfrm>
          <a:prstGeom prst="rect">
            <a:avLst/>
          </a:prstGeom>
          <a:noFill/>
          <a:ln>
            <a:noFill/>
          </a:ln>
        </p:spPr>
        <p:txBody>
          <a:bodyPr anchorCtr="0" anchor="t" bIns="0" lIns="0" spcFirstLastPara="1" rIns="0" wrap="square" tIns="0">
            <a:spAutoFit/>
          </a:bodyPr>
          <a:lstStyle/>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 Proporciona una interfaz de línea de comandos (CLI) para gestionar los dispositivos de red de Cisco.</a:t>
            </a:r>
            <a:endParaRPr/>
          </a:p>
          <a:p>
            <a:pPr indent="-106692" lvl="2" marL="320077" marR="0" rtl="0" algn="l">
              <a:lnSpc>
                <a:spcPct val="58814"/>
              </a:lnSpc>
              <a:spcBef>
                <a:spcPts val="0"/>
              </a:spcBef>
              <a:spcAft>
                <a:spcPts val="0"/>
              </a:spcAft>
              <a:buNone/>
            </a:pPr>
            <a:r>
              <a:t/>
            </a:r>
            <a:endParaRPr b="0" i="0" sz="3999" u="none" cap="none" strike="noStrike">
              <a:solidFill>
                <a:srgbClr val="FFBC19"/>
              </a:solidFill>
              <a:latin typeface="Nunito"/>
              <a:ea typeface="Nunito"/>
              <a:cs typeface="Nunito"/>
              <a:sym typeface="Nunito"/>
            </a:endParaRPr>
          </a:p>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 Permite configurar y controlar diversas funciones de red, como el enrutamiento, el switching, la seguridad y la calidad de servicio (QoS).</a:t>
            </a:r>
            <a:endParaRPr/>
          </a:p>
          <a:p>
            <a:pPr indent="-106692" lvl="2" marL="320077" marR="0" rtl="0" algn="l">
              <a:lnSpc>
                <a:spcPct val="58814"/>
              </a:lnSpc>
              <a:spcBef>
                <a:spcPts val="0"/>
              </a:spcBef>
              <a:spcAft>
                <a:spcPts val="0"/>
              </a:spcAft>
              <a:buNone/>
            </a:pPr>
            <a:r>
              <a:t/>
            </a:r>
            <a:endParaRPr b="0" i="0" sz="3999" u="none" cap="none" strike="noStrike">
              <a:solidFill>
                <a:srgbClr val="FFBC19"/>
              </a:solidFill>
              <a:latin typeface="Nunito"/>
              <a:ea typeface="Nunito"/>
              <a:cs typeface="Nunito"/>
              <a:sym typeface="Nunito"/>
            </a:endParaRPr>
          </a:p>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Se puede personalizar y ampliar mediante la utilización de módulos y paquetes adicionales.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207" name="Shape 207"/>
        <p:cNvGrpSpPr/>
        <p:nvPr/>
      </p:nvGrpSpPr>
      <p:grpSpPr>
        <a:xfrm>
          <a:off x="0" y="0"/>
          <a:ext cx="0" cy="0"/>
          <a:chOff x="0" y="0"/>
          <a:chExt cx="0" cy="0"/>
        </a:xfrm>
      </p:grpSpPr>
      <p:sp>
        <p:nvSpPr>
          <p:cNvPr id="208" name="Google Shape;208;p8"/>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209" name="Google Shape;209;p8"/>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210" name="Google Shape;210;p8"/>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Arquitectura de Cisco IOS</a:t>
            </a:r>
            <a:endParaRPr/>
          </a:p>
        </p:txBody>
      </p:sp>
      <p:sp>
        <p:nvSpPr>
          <p:cNvPr id="211" name="Google Shape;211;p8"/>
          <p:cNvSpPr txBox="1"/>
          <p:nvPr/>
        </p:nvSpPr>
        <p:spPr>
          <a:xfrm>
            <a:off x="1578281" y="2643711"/>
            <a:ext cx="15681019" cy="6392862"/>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Cisco IOS se divide en dos componentes principales: el software de sistema y el software de aplicación.</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El software de sistema proporciona la funcionalidad básica del sistema operativo, mientras que el software de aplicación permite la configuración de funciones de red adicionales.</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La arquitectura modular de Cisco IOS permite la integración de nuevos módulos de software y la actualización de los existentes sin tener que detener la operación de la red.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219" name="Shape 219"/>
        <p:cNvGrpSpPr/>
        <p:nvPr/>
      </p:nvGrpSpPr>
      <p:grpSpPr>
        <a:xfrm>
          <a:off x="0" y="0"/>
          <a:ext cx="0" cy="0"/>
          <a:chOff x="0" y="0"/>
          <a:chExt cx="0" cy="0"/>
        </a:xfrm>
      </p:grpSpPr>
      <p:sp>
        <p:nvSpPr>
          <p:cNvPr id="220" name="Google Shape;220;p9"/>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221" name="Google Shape;221;p9"/>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222" name="Google Shape;222;p9"/>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IOL / IOU</a:t>
            </a:r>
            <a:endParaRPr/>
          </a:p>
        </p:txBody>
      </p:sp>
      <p:sp>
        <p:nvSpPr>
          <p:cNvPr id="223" name="Google Shape;223;p9"/>
          <p:cNvSpPr txBox="1"/>
          <p:nvPr/>
        </p:nvSpPr>
        <p:spPr>
          <a:xfrm>
            <a:off x="1578281" y="2222500"/>
            <a:ext cx="15681019" cy="7035800"/>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IOL (IOU) significa "IOS en Unix" y es una herramienta de virtualización desarrollada por Cisco Systems.</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Permite a los usuarios emular dispositivos de red de Cisco, como routers y switches, en un entorno virtualizado.</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 IOL es útil para la emulación y pruebas de configuraciones de red sin tener que adquirir hardware físico.</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 Es también útil para la formación y capacitación en tecnologías de Cisco IOS.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231" name="Shape 231"/>
        <p:cNvGrpSpPr/>
        <p:nvPr/>
      </p:nvGrpSpPr>
      <p:grpSpPr>
        <a:xfrm>
          <a:off x="0" y="0"/>
          <a:ext cx="0" cy="0"/>
          <a:chOff x="0" y="0"/>
          <a:chExt cx="0" cy="0"/>
        </a:xfrm>
      </p:grpSpPr>
      <p:sp>
        <p:nvSpPr>
          <p:cNvPr id="232" name="Google Shape;232;p10"/>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233" name="Google Shape;233;p10"/>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234" name="Google Shape;234;p10"/>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Comandos Básicos</a:t>
            </a:r>
            <a:endParaRPr/>
          </a:p>
        </p:txBody>
      </p:sp>
      <p:sp>
        <p:nvSpPr>
          <p:cNvPr id="235" name="Google Shape;235;p10"/>
          <p:cNvSpPr txBox="1"/>
          <p:nvPr/>
        </p:nvSpPr>
        <p:spPr>
          <a:xfrm>
            <a:off x="1578281" y="2643711"/>
            <a:ext cx="15681019" cy="2654300"/>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Los comandos básicos de Cisco IOS incluyen la configuración de interfaces de red, la gestión de usuarios y contraseñas, y la configuración del enrutamiento y el switching.</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Algunos de los comandos más comunes son:</a:t>
            </a:r>
            <a:endParaRPr/>
          </a:p>
        </p:txBody>
      </p:sp>
      <p:sp>
        <p:nvSpPr>
          <p:cNvPr id="236" name="Google Shape;236;p10"/>
          <p:cNvSpPr txBox="1"/>
          <p:nvPr/>
        </p:nvSpPr>
        <p:spPr>
          <a:xfrm>
            <a:off x="2130500" y="5423331"/>
            <a:ext cx="15681019" cy="2606675"/>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1" i="1" lang="en-US" sz="3500" u="none" cap="none" strike="noStrike">
                <a:solidFill>
                  <a:srgbClr val="FFBC19"/>
                </a:solidFill>
                <a:latin typeface="Nunito"/>
                <a:ea typeface="Nunito"/>
                <a:cs typeface="Nunito"/>
                <a:sym typeface="Nunito"/>
              </a:rPr>
              <a:t>enable:</a:t>
            </a:r>
            <a:r>
              <a:rPr b="0" i="1" lang="en-US" sz="3500" u="none" cap="none" strike="noStrike">
                <a:solidFill>
                  <a:srgbClr val="FFBC19"/>
                </a:solidFill>
                <a:latin typeface="Nunito"/>
                <a:ea typeface="Nunito"/>
                <a:cs typeface="Nunito"/>
                <a:sym typeface="Nunito"/>
              </a:rPr>
              <a:t> permite acceder al modo de configuración del sistema.</a:t>
            </a:r>
            <a:endParaRPr/>
          </a:p>
          <a:p>
            <a:pPr indent="-266700" lvl="2" marL="800101" marR="0" rtl="0" algn="l">
              <a:lnSpc>
                <a:spcPct val="168000"/>
              </a:lnSpc>
              <a:spcBef>
                <a:spcPts val="0"/>
              </a:spcBef>
              <a:spcAft>
                <a:spcPts val="0"/>
              </a:spcAft>
              <a:buClr>
                <a:srgbClr val="FFBC19"/>
              </a:buClr>
              <a:buSzPts val="3500"/>
              <a:buFont typeface="Arial"/>
              <a:buChar char="⚬"/>
            </a:pPr>
            <a:r>
              <a:rPr b="1" i="1" lang="en-US" sz="3500" u="none" cap="none" strike="noStrike">
                <a:solidFill>
                  <a:srgbClr val="FFBC19"/>
                </a:solidFill>
                <a:latin typeface="Nunito"/>
                <a:ea typeface="Nunito"/>
                <a:cs typeface="Nunito"/>
                <a:sym typeface="Nunito"/>
              </a:rPr>
              <a:t>show:</a:t>
            </a:r>
            <a:r>
              <a:rPr b="0" i="1" lang="en-US" sz="3500" u="none" cap="none" strike="noStrike">
                <a:solidFill>
                  <a:srgbClr val="FFBC19"/>
                </a:solidFill>
                <a:latin typeface="Nunito"/>
                <a:ea typeface="Nunito"/>
                <a:cs typeface="Nunito"/>
                <a:sym typeface="Nunito"/>
              </a:rPr>
              <a:t> muestra la información de configuración y estado del sistema.</a:t>
            </a:r>
            <a:endParaRPr/>
          </a:p>
          <a:p>
            <a:pPr indent="-266700" lvl="2" marL="800101" marR="0" rtl="0" algn="l">
              <a:lnSpc>
                <a:spcPct val="168000"/>
              </a:lnSpc>
              <a:spcBef>
                <a:spcPts val="0"/>
              </a:spcBef>
              <a:spcAft>
                <a:spcPts val="0"/>
              </a:spcAft>
              <a:buClr>
                <a:srgbClr val="FFBC19"/>
              </a:buClr>
              <a:buSzPts val="3500"/>
              <a:buFont typeface="Arial"/>
              <a:buChar char="⚬"/>
            </a:pPr>
            <a:r>
              <a:rPr b="1" i="1" lang="en-US" sz="3500" u="none" cap="none" strike="noStrike">
                <a:solidFill>
                  <a:srgbClr val="FFBC19"/>
                </a:solidFill>
                <a:latin typeface="Nunito"/>
                <a:ea typeface="Nunito"/>
                <a:cs typeface="Nunito"/>
                <a:sym typeface="Nunito"/>
              </a:rPr>
              <a:t>configure terminal:</a:t>
            </a:r>
            <a:r>
              <a:rPr b="0" i="1" lang="en-US" sz="3500" u="none" cap="none" strike="noStrike">
                <a:solidFill>
                  <a:srgbClr val="FFBC19"/>
                </a:solidFill>
                <a:latin typeface="Nunito"/>
                <a:ea typeface="Nunito"/>
                <a:cs typeface="Nunito"/>
                <a:sym typeface="Nunito"/>
              </a:rPr>
              <a:t> permite acceder al modo de configuración global.</a:t>
            </a:r>
            <a:endParaRPr/>
          </a:p>
          <a:p>
            <a:pPr indent="-266700" lvl="2" marL="800101" marR="0" rtl="0" algn="l">
              <a:lnSpc>
                <a:spcPct val="168000"/>
              </a:lnSpc>
              <a:spcBef>
                <a:spcPts val="0"/>
              </a:spcBef>
              <a:spcAft>
                <a:spcPts val="0"/>
              </a:spcAft>
              <a:buClr>
                <a:srgbClr val="FFBC19"/>
              </a:buClr>
              <a:buSzPts val="3500"/>
              <a:buFont typeface="Arial"/>
              <a:buChar char="⚬"/>
            </a:pPr>
            <a:r>
              <a:rPr b="1" i="1" lang="en-US" sz="3500" u="none" cap="none" strike="noStrike">
                <a:solidFill>
                  <a:srgbClr val="FFBC19"/>
                </a:solidFill>
                <a:latin typeface="Nunito"/>
                <a:ea typeface="Nunito"/>
                <a:cs typeface="Nunito"/>
                <a:sym typeface="Nunito"/>
              </a:rPr>
              <a:t>interface:</a:t>
            </a:r>
            <a:r>
              <a:rPr b="0" i="1" lang="en-US" sz="3500" u="none" cap="none" strike="noStrike">
                <a:solidFill>
                  <a:srgbClr val="FFBC19"/>
                </a:solidFill>
                <a:latin typeface="Nunito"/>
                <a:ea typeface="Nunito"/>
                <a:cs typeface="Nunito"/>
                <a:sym typeface="Nunito"/>
              </a:rPr>
              <a:t> permite configurar las interfaces de red.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244" name="Shape 244"/>
        <p:cNvGrpSpPr/>
        <p:nvPr/>
      </p:nvGrpSpPr>
      <p:grpSpPr>
        <a:xfrm>
          <a:off x="0" y="0"/>
          <a:ext cx="0" cy="0"/>
          <a:chOff x="0" y="0"/>
          <a:chExt cx="0" cy="0"/>
        </a:xfrm>
      </p:grpSpPr>
      <p:sp>
        <p:nvSpPr>
          <p:cNvPr id="245" name="Google Shape;245;p11"/>
          <p:cNvSpPr/>
          <p:nvPr/>
        </p:nvSpPr>
        <p:spPr>
          <a:xfrm>
            <a:off x="-3186246" y="5846282"/>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246" name="Google Shape;246;p11"/>
          <p:cNvSpPr/>
          <p:nvPr/>
        </p:nvSpPr>
        <p:spPr>
          <a:xfrm>
            <a:off x="11562040" y="7116988"/>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247" name="Google Shape;247;p11"/>
          <p:cNvSpPr/>
          <p:nvPr/>
        </p:nvSpPr>
        <p:spPr>
          <a:xfrm>
            <a:off x="-1303650" y="-205740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248" name="Google Shape;248;p11"/>
          <p:cNvSpPr/>
          <p:nvPr/>
        </p:nvSpPr>
        <p:spPr>
          <a:xfrm>
            <a:off x="14415333" y="-1658266"/>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249" name="Google Shape;249;p11"/>
          <p:cNvSpPr txBox="1"/>
          <p:nvPr/>
        </p:nvSpPr>
        <p:spPr>
          <a:xfrm>
            <a:off x="4700564" y="1505964"/>
            <a:ext cx="7721948" cy="4986667"/>
          </a:xfrm>
          <a:prstGeom prst="rect">
            <a:avLst/>
          </a:prstGeom>
          <a:noFill/>
          <a:ln>
            <a:noFill/>
          </a:ln>
        </p:spPr>
        <p:txBody>
          <a:bodyPr anchorCtr="0" anchor="t" bIns="0" lIns="0" spcFirstLastPara="1" rIns="0" wrap="square" tIns="0">
            <a:spAutoFit/>
          </a:bodyPr>
          <a:lstStyle/>
          <a:p>
            <a:pPr indent="0" lvl="0" marL="0" marR="0" rtl="0" algn="ctr">
              <a:lnSpc>
                <a:spcPct val="168009"/>
              </a:lnSpc>
              <a:spcBef>
                <a:spcPts val="0"/>
              </a:spcBef>
              <a:spcAft>
                <a:spcPts val="0"/>
              </a:spcAft>
              <a:buNone/>
            </a:pPr>
            <a:r>
              <a:rPr b="0" i="0" lang="en-US" sz="21050" u="none" cap="none" strike="noStrike">
                <a:solidFill>
                  <a:srgbClr val="FFBC19"/>
                </a:solidFill>
                <a:latin typeface="Arial"/>
                <a:ea typeface="Arial"/>
                <a:cs typeface="Arial"/>
                <a:sym typeface="Arial"/>
              </a:rPr>
              <a:t>VLAN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257" name="Shape 257"/>
        <p:cNvGrpSpPr/>
        <p:nvPr/>
      </p:nvGrpSpPr>
      <p:grpSpPr>
        <a:xfrm>
          <a:off x="0" y="0"/>
          <a:ext cx="0" cy="0"/>
          <a:chOff x="0" y="0"/>
          <a:chExt cx="0" cy="0"/>
        </a:xfrm>
      </p:grpSpPr>
      <p:sp>
        <p:nvSpPr>
          <p:cNvPr id="258" name="Google Shape;258;p12"/>
          <p:cNvSpPr/>
          <p:nvPr/>
        </p:nvSpPr>
        <p:spPr>
          <a:xfrm>
            <a:off x="-2190321" y="4519895"/>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259" name="Google Shape;259;p12"/>
          <p:cNvSpPr/>
          <p:nvPr/>
        </p:nvSpPr>
        <p:spPr>
          <a:xfrm>
            <a:off x="11220352" y="485226"/>
            <a:ext cx="6038945" cy="4658297"/>
          </a:xfrm>
          <a:custGeom>
            <a:rect b="b" l="l" r="r" t="t"/>
            <a:pathLst>
              <a:path extrusionOk="0" h="6211062" w="8051927">
                <a:moveTo>
                  <a:pt x="0" y="0"/>
                </a:moveTo>
                <a:lnTo>
                  <a:pt x="8051927" y="0"/>
                </a:lnTo>
                <a:lnTo>
                  <a:pt x="8051927" y="6211062"/>
                </a:lnTo>
                <a:lnTo>
                  <a:pt x="0" y="6211062"/>
                </a:lnTo>
                <a:lnTo>
                  <a:pt x="0" y="0"/>
                </a:lnTo>
                <a:close/>
              </a:path>
            </a:pathLst>
          </a:custGeom>
          <a:blipFill rotWithShape="1">
            <a:blip r:embed="rId4">
              <a:alphaModFix/>
            </a:blip>
            <a:stretch>
              <a:fillRect b="0" l="0" r="0" t="0"/>
            </a:stretch>
          </a:blipFill>
          <a:ln>
            <a:noFill/>
          </a:ln>
        </p:spPr>
      </p:sp>
      <p:sp>
        <p:nvSpPr>
          <p:cNvPr id="260" name="Google Shape;260;p12"/>
          <p:cNvSpPr/>
          <p:nvPr/>
        </p:nvSpPr>
        <p:spPr>
          <a:xfrm>
            <a:off x="11220352" y="5360934"/>
            <a:ext cx="6117241" cy="4718685"/>
          </a:xfrm>
          <a:custGeom>
            <a:rect b="b" l="l" r="r" t="t"/>
            <a:pathLst>
              <a:path extrusionOk="0" h="6291580" w="8156321">
                <a:moveTo>
                  <a:pt x="0" y="0"/>
                </a:moveTo>
                <a:lnTo>
                  <a:pt x="8156321" y="0"/>
                </a:lnTo>
                <a:lnTo>
                  <a:pt x="8156321" y="6291580"/>
                </a:lnTo>
                <a:lnTo>
                  <a:pt x="0" y="6291580"/>
                </a:lnTo>
                <a:lnTo>
                  <a:pt x="0" y="0"/>
                </a:lnTo>
                <a:close/>
              </a:path>
            </a:pathLst>
          </a:custGeom>
          <a:blipFill rotWithShape="1">
            <a:blip r:embed="rId5">
              <a:alphaModFix/>
            </a:blip>
            <a:stretch>
              <a:fillRect b="0" l="0" r="0" t="0"/>
            </a:stretch>
          </a:blipFill>
          <a:ln>
            <a:noFill/>
          </a:ln>
        </p:spPr>
      </p:sp>
      <p:sp>
        <p:nvSpPr>
          <p:cNvPr id="261" name="Google Shape;261;p12"/>
          <p:cNvSpPr txBox="1"/>
          <p:nvPr/>
        </p:nvSpPr>
        <p:spPr>
          <a:xfrm>
            <a:off x="1028700" y="2123306"/>
            <a:ext cx="9480905" cy="5161026"/>
          </a:xfrm>
          <a:prstGeom prst="rect">
            <a:avLst/>
          </a:prstGeom>
          <a:noFill/>
          <a:ln>
            <a:noFill/>
          </a:ln>
        </p:spPr>
        <p:txBody>
          <a:bodyPr anchorCtr="0" anchor="t" bIns="0" lIns="0" spcFirstLastPara="1" rIns="0" wrap="square" tIns="0">
            <a:spAutoFit/>
          </a:bodyPr>
          <a:lstStyle/>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Una VLAN (Virtual Local Area Network) es una red lógica creada dentro de una red física, permitiendo que los dispositivos en diferentes ubicaciones estén agrupados como si estuvieran en la misma red.</a:t>
            </a:r>
            <a:endParaRPr/>
          </a:p>
          <a:p>
            <a:pPr indent="-106679" lvl="2" marL="320041" marR="0" rtl="0" algn="l">
              <a:lnSpc>
                <a:spcPct val="145791"/>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Las VLAN son útiles para segmentar una red y mejorar la seguridad, el rendimiento y la eficiencia de la red.</a:t>
            </a:r>
            <a:endParaRPr/>
          </a:p>
        </p:txBody>
      </p:sp>
      <p:sp>
        <p:nvSpPr>
          <p:cNvPr id="262" name="Google Shape;262;p12"/>
          <p:cNvSpPr txBox="1"/>
          <p:nvPr/>
        </p:nvSpPr>
        <p:spPr>
          <a:xfrm>
            <a:off x="604213" y="-463226"/>
            <a:ext cx="11597943" cy="2686555"/>
          </a:xfrm>
          <a:prstGeom prst="rect">
            <a:avLst/>
          </a:prstGeom>
          <a:noFill/>
          <a:ln>
            <a:noFill/>
          </a:ln>
        </p:spPr>
        <p:txBody>
          <a:bodyPr anchorCtr="0" anchor="t" bIns="0" lIns="0" spcFirstLastPara="1" rIns="0" wrap="square" tIns="0">
            <a:spAutoFit/>
          </a:bodyPr>
          <a:lstStyle/>
          <a:p>
            <a:pPr indent="0" lvl="0" marL="0" marR="0" rtl="0" algn="l">
              <a:lnSpc>
                <a:spcPct val="168010"/>
              </a:lnSpc>
              <a:spcBef>
                <a:spcPts val="0"/>
              </a:spcBef>
              <a:spcAft>
                <a:spcPts val="0"/>
              </a:spcAft>
              <a:buNone/>
            </a:pPr>
            <a:r>
              <a:rPr b="0" i="0" lang="en-US" sz="12354" u="none" cap="none" strike="noStrike">
                <a:solidFill>
                  <a:srgbClr val="1C030C"/>
                </a:solidFill>
                <a:latin typeface="Nunito"/>
                <a:ea typeface="Nunito"/>
                <a:cs typeface="Nunito"/>
                <a:sym typeface="Nunito"/>
              </a:rPr>
              <a:t>VLAN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270" name="Shape 270"/>
        <p:cNvGrpSpPr/>
        <p:nvPr/>
      </p:nvGrpSpPr>
      <p:grpSpPr>
        <a:xfrm>
          <a:off x="0" y="0"/>
          <a:ext cx="0" cy="0"/>
          <a:chOff x="0" y="0"/>
          <a:chExt cx="0" cy="0"/>
        </a:xfrm>
      </p:grpSpPr>
      <p:sp>
        <p:nvSpPr>
          <p:cNvPr id="271" name="Google Shape;271;p13"/>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272" name="Google Shape;272;p13"/>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273" name="Google Shape;273;p13"/>
          <p:cNvSpPr/>
          <p:nvPr/>
        </p:nvSpPr>
        <p:spPr>
          <a:xfrm>
            <a:off x="10501229" y="2346581"/>
            <a:ext cx="6532436" cy="6394895"/>
          </a:xfrm>
          <a:custGeom>
            <a:rect b="b" l="l" r="r" t="t"/>
            <a:pathLst>
              <a:path extrusionOk="0" h="8526526" w="8709914">
                <a:moveTo>
                  <a:pt x="0" y="0"/>
                </a:moveTo>
                <a:lnTo>
                  <a:pt x="8709914" y="0"/>
                </a:lnTo>
                <a:lnTo>
                  <a:pt x="8709914" y="8526526"/>
                </a:lnTo>
                <a:lnTo>
                  <a:pt x="0" y="8526526"/>
                </a:lnTo>
                <a:lnTo>
                  <a:pt x="0" y="0"/>
                </a:lnTo>
                <a:close/>
              </a:path>
            </a:pathLst>
          </a:custGeom>
          <a:blipFill rotWithShape="1">
            <a:blip r:embed="rId5">
              <a:alphaModFix/>
            </a:blip>
            <a:stretch>
              <a:fillRect b="0" l="0" r="0" t="0"/>
            </a:stretch>
          </a:blipFill>
          <a:ln>
            <a:noFill/>
          </a:ln>
        </p:spPr>
      </p:sp>
      <p:sp>
        <p:nvSpPr>
          <p:cNvPr id="274" name="Google Shape;274;p13"/>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¿Cuándo usar las VLAN?</a:t>
            </a:r>
            <a:endParaRPr/>
          </a:p>
        </p:txBody>
      </p:sp>
      <p:sp>
        <p:nvSpPr>
          <p:cNvPr id="275" name="Google Shape;275;p13"/>
          <p:cNvSpPr txBox="1"/>
          <p:nvPr/>
        </p:nvSpPr>
        <p:spPr>
          <a:xfrm>
            <a:off x="1578281" y="2643711"/>
            <a:ext cx="7847799" cy="446405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3500" u="none" cap="none" strike="noStrike">
                <a:solidFill>
                  <a:srgbClr val="FFBC19"/>
                </a:solidFill>
                <a:latin typeface="Nunito"/>
                <a:ea typeface="Nunito"/>
                <a:cs typeface="Nunito"/>
                <a:sym typeface="Nunito"/>
              </a:rPr>
              <a:t>Cuando configuramos una red de área local, ya sea en un entorno doméstico donde queramos segmentar los diferentes dispositivos a conectar, o en un entorno profesional, hacemos uso de VLANs para tener diferentes subredes.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283" name="Shape 283"/>
        <p:cNvGrpSpPr/>
        <p:nvPr/>
      </p:nvGrpSpPr>
      <p:grpSpPr>
        <a:xfrm>
          <a:off x="0" y="0"/>
          <a:ext cx="0" cy="0"/>
          <a:chOff x="0" y="0"/>
          <a:chExt cx="0" cy="0"/>
        </a:xfrm>
      </p:grpSpPr>
      <p:sp>
        <p:nvSpPr>
          <p:cNvPr id="284" name="Google Shape;284;p14"/>
          <p:cNvSpPr/>
          <p:nvPr/>
        </p:nvSpPr>
        <p:spPr>
          <a:xfrm>
            <a:off x="-3543046" y="6085298"/>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285" name="Google Shape;285;p14"/>
          <p:cNvSpPr/>
          <p:nvPr/>
        </p:nvSpPr>
        <p:spPr>
          <a:xfrm>
            <a:off x="7786017" y="2241937"/>
            <a:ext cx="10256139" cy="4979480"/>
          </a:xfrm>
          <a:custGeom>
            <a:rect b="b" l="l" r="r" t="t"/>
            <a:pathLst>
              <a:path extrusionOk="0" h="6639306" w="13674852">
                <a:moveTo>
                  <a:pt x="0" y="0"/>
                </a:moveTo>
                <a:lnTo>
                  <a:pt x="13674852" y="0"/>
                </a:lnTo>
                <a:lnTo>
                  <a:pt x="13674852" y="6639306"/>
                </a:lnTo>
                <a:lnTo>
                  <a:pt x="0" y="6639306"/>
                </a:lnTo>
                <a:lnTo>
                  <a:pt x="0" y="0"/>
                </a:lnTo>
                <a:close/>
              </a:path>
            </a:pathLst>
          </a:custGeom>
          <a:blipFill rotWithShape="1">
            <a:blip r:embed="rId4">
              <a:alphaModFix/>
            </a:blip>
            <a:stretch>
              <a:fillRect b="0" l="0" r="0" t="0"/>
            </a:stretch>
          </a:blipFill>
          <a:ln>
            <a:noFill/>
          </a:ln>
        </p:spPr>
      </p:sp>
      <p:sp>
        <p:nvSpPr>
          <p:cNvPr id="286" name="Google Shape;286;p14"/>
          <p:cNvSpPr txBox="1"/>
          <p:nvPr/>
        </p:nvSpPr>
        <p:spPr>
          <a:xfrm>
            <a:off x="1879885" y="2741452"/>
            <a:ext cx="9480905" cy="5232463"/>
          </a:xfrm>
          <a:prstGeom prst="rect">
            <a:avLst/>
          </a:prstGeom>
          <a:noFill/>
          <a:ln>
            <a:noFill/>
          </a:ln>
        </p:spPr>
        <p:txBody>
          <a:bodyPr anchorCtr="0" anchor="t" bIns="0" lIns="0" spcFirstLastPara="1" rIns="0" wrap="square" tIns="0">
            <a:spAutoFit/>
          </a:bodyPr>
          <a:lstStyle/>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Seguridad</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Segmentación</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Flexibilidad</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Optimización de la red</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Reducción de costes</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Mejor eficiencia del personal de TI</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Administración de aplicaciones y proyectos simples</a:t>
            </a:r>
            <a:endParaRPr/>
          </a:p>
        </p:txBody>
      </p:sp>
      <p:sp>
        <p:nvSpPr>
          <p:cNvPr id="287" name="Google Shape;287;p14"/>
          <p:cNvSpPr txBox="1"/>
          <p:nvPr/>
        </p:nvSpPr>
        <p:spPr>
          <a:xfrm>
            <a:off x="1028700" y="437280"/>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El uso de VLAN proporciona lo siguiente: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295" name="Shape 295"/>
        <p:cNvGrpSpPr/>
        <p:nvPr/>
      </p:nvGrpSpPr>
      <p:grpSpPr>
        <a:xfrm>
          <a:off x="0" y="0"/>
          <a:ext cx="0" cy="0"/>
          <a:chOff x="0" y="0"/>
          <a:chExt cx="0" cy="0"/>
        </a:xfrm>
      </p:grpSpPr>
      <p:sp>
        <p:nvSpPr>
          <p:cNvPr id="296" name="Google Shape;296;p15"/>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297" name="Google Shape;297;p15"/>
          <p:cNvSpPr txBox="1"/>
          <p:nvPr/>
        </p:nvSpPr>
        <p:spPr>
          <a:xfrm>
            <a:off x="1754563" y="2205990"/>
            <a:ext cx="14309818" cy="7052310"/>
          </a:xfrm>
          <a:prstGeom prst="rect">
            <a:avLst/>
          </a:prstGeom>
          <a:noFill/>
          <a:ln>
            <a:noFill/>
          </a:ln>
        </p:spPr>
        <p:txBody>
          <a:bodyPr anchorCtr="0" anchor="t" bIns="0" lIns="0" spcFirstLastPara="1" rIns="0" wrap="square" tIns="0">
            <a:spAutoFit/>
          </a:bodyPr>
          <a:lstStyle/>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Administración compleja:</a:t>
            </a:r>
            <a:r>
              <a:rPr b="0" i="0" lang="en-US" sz="2400" u="none" cap="none" strike="noStrike">
                <a:solidFill>
                  <a:srgbClr val="1C030C"/>
                </a:solidFill>
                <a:latin typeface="Nunito"/>
                <a:ea typeface="Nunito"/>
                <a:cs typeface="Nunito"/>
                <a:sym typeface="Nunito"/>
              </a:rPr>
              <a:t> Si llegamos a tener varias VLAN, puede suponer el mismo o incluso más trabajo y coste que las redes LAN.</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Equipos y software específicos:</a:t>
            </a:r>
            <a:r>
              <a:rPr b="0" i="0" lang="en-US" sz="2400" u="none" cap="none" strike="noStrike">
                <a:solidFill>
                  <a:srgbClr val="1C030C"/>
                </a:solidFill>
                <a:latin typeface="Nunito"/>
                <a:ea typeface="Nunito"/>
                <a:cs typeface="Nunito"/>
                <a:sym typeface="Nunito"/>
              </a:rPr>
              <a:t> para llegar a tener una red VLAN, lo cierto es que hace falta contar con el hardware de red necesario, así como el software que soporte dicha conexión.</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Aislamiento:</a:t>
            </a:r>
            <a:r>
              <a:rPr b="0" i="0" lang="en-US" sz="2400" u="none" cap="none" strike="noStrike">
                <a:solidFill>
                  <a:srgbClr val="1C030C"/>
                </a:solidFill>
                <a:latin typeface="Nunito"/>
                <a:ea typeface="Nunito"/>
                <a:cs typeface="Nunito"/>
                <a:sym typeface="Nunito"/>
              </a:rPr>
              <a:t> Si la red es muy grande, cabe la posibilidad de que sean necesarios varios router para poder comunicarse sin problema, por lo cual aumentaría el coste de instalación.</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Congestión:</a:t>
            </a:r>
            <a:r>
              <a:rPr b="0" i="0" lang="en-US" sz="2400" u="none" cap="none" strike="noStrike">
                <a:solidFill>
                  <a:srgbClr val="1C030C"/>
                </a:solidFill>
                <a:latin typeface="Nunito"/>
                <a:ea typeface="Nunito"/>
                <a:cs typeface="Nunito"/>
                <a:sym typeface="Nunito"/>
              </a:rPr>
              <a:t> este punto solamente se da si las VLANs no se llegan a configurar de la forma correcta.</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Seguridad: </a:t>
            </a:r>
            <a:r>
              <a:rPr b="0" i="0" lang="en-US" sz="2400" u="none" cap="none" strike="noStrike">
                <a:solidFill>
                  <a:srgbClr val="1C030C"/>
                </a:solidFill>
                <a:latin typeface="Nunito"/>
                <a:ea typeface="Nunito"/>
                <a:cs typeface="Nunito"/>
                <a:sym typeface="Nunito"/>
              </a:rPr>
              <a:t>Si un virus llega a la red, se puede distribuir de forma relativamente sencilla por toda la red.</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Latencia:</a:t>
            </a:r>
            <a:r>
              <a:rPr b="0" i="0" lang="en-US" sz="2400" u="none" cap="none" strike="noStrike">
                <a:solidFill>
                  <a:srgbClr val="1C030C"/>
                </a:solidFill>
                <a:latin typeface="Nunito"/>
                <a:ea typeface="Nunito"/>
                <a:cs typeface="Nunito"/>
                <a:sym typeface="Nunito"/>
              </a:rPr>
              <a:t> Este tipo de redes son más eficaces que las WAN, pero no lo son tanto como una red LAN.</a:t>
            </a:r>
            <a:endParaRPr/>
          </a:p>
        </p:txBody>
      </p:sp>
      <p:sp>
        <p:nvSpPr>
          <p:cNvPr id="298" name="Google Shape;298;p15"/>
          <p:cNvSpPr/>
          <p:nvPr/>
        </p:nvSpPr>
        <p:spPr>
          <a:xfrm>
            <a:off x="15675686" y="179743"/>
            <a:ext cx="2612327" cy="2612327"/>
          </a:xfrm>
          <a:custGeom>
            <a:rect b="b" l="l" r="r" t="t"/>
            <a:pathLst>
              <a:path extrusionOk="0" h="3483102" w="3483102">
                <a:moveTo>
                  <a:pt x="0" y="0"/>
                </a:moveTo>
                <a:lnTo>
                  <a:pt x="3483102" y="0"/>
                </a:lnTo>
                <a:lnTo>
                  <a:pt x="3483102" y="3483102"/>
                </a:lnTo>
                <a:lnTo>
                  <a:pt x="0" y="3483102"/>
                </a:lnTo>
                <a:lnTo>
                  <a:pt x="0" y="0"/>
                </a:lnTo>
                <a:close/>
              </a:path>
            </a:pathLst>
          </a:custGeom>
          <a:blipFill rotWithShape="1">
            <a:blip r:embed="rId4">
              <a:alphaModFix/>
            </a:blip>
            <a:stretch>
              <a:fillRect b="0" l="0" r="0" t="0"/>
            </a:stretch>
          </a:blipFill>
          <a:ln>
            <a:noFill/>
          </a:ln>
        </p:spPr>
      </p:sp>
      <p:sp>
        <p:nvSpPr>
          <p:cNvPr id="299" name="Google Shape;299;p15"/>
          <p:cNvSpPr txBox="1"/>
          <p:nvPr/>
        </p:nvSpPr>
        <p:spPr>
          <a:xfrm>
            <a:off x="1028700" y="190500"/>
            <a:ext cx="14161828" cy="129540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Desventajas del Uso de VLANs: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307" name="Shape 307"/>
        <p:cNvGrpSpPr/>
        <p:nvPr/>
      </p:nvGrpSpPr>
      <p:grpSpPr>
        <a:xfrm>
          <a:off x="0" y="0"/>
          <a:ext cx="0" cy="0"/>
          <a:chOff x="0" y="0"/>
          <a:chExt cx="0" cy="0"/>
        </a:xfrm>
      </p:grpSpPr>
      <p:sp>
        <p:nvSpPr>
          <p:cNvPr id="308" name="Google Shape;308;p16"/>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309" name="Google Shape;309;p16"/>
          <p:cNvSpPr txBox="1"/>
          <p:nvPr/>
        </p:nvSpPr>
        <p:spPr>
          <a:xfrm>
            <a:off x="1754563" y="2205990"/>
            <a:ext cx="14309818" cy="5180647"/>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2400" u="none" cap="none" strike="noStrike">
                <a:solidFill>
                  <a:srgbClr val="1C030C"/>
                </a:solidFill>
                <a:latin typeface="Nunito"/>
                <a:ea typeface="Nunito"/>
                <a:cs typeface="Nunito"/>
                <a:sym typeface="Nunito"/>
              </a:rPr>
              <a:t>La segmentación de red debe cumplir con la necesidad de responder a las necesidades de la organización que depende de la red para operar.</a:t>
            </a:r>
            <a:endParaRPr/>
          </a:p>
          <a:p>
            <a:pPr indent="0" lvl="0" marL="0"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Dónde (Where):</a:t>
            </a:r>
            <a:r>
              <a:rPr b="0" i="0" lang="en-US" sz="2400" u="none" cap="none" strike="noStrike">
                <a:solidFill>
                  <a:srgbClr val="1C030C"/>
                </a:solidFill>
                <a:latin typeface="Nunito"/>
                <a:ea typeface="Nunito"/>
                <a:cs typeface="Nunito"/>
                <a:sym typeface="Nunito"/>
              </a:rPr>
              <a:t> Se refiere al establecimiento de puntos de segmentos de red y la lógica utilizada para aplicar la segmentación</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Cómo (How):</a:t>
            </a:r>
            <a:r>
              <a:rPr b="0" i="0" lang="en-US" sz="2400" u="none" cap="none" strike="noStrike">
                <a:solidFill>
                  <a:srgbClr val="1C030C"/>
                </a:solidFill>
                <a:latin typeface="Nunito"/>
                <a:ea typeface="Nunito"/>
                <a:cs typeface="Nunito"/>
                <a:sym typeface="Nunito"/>
              </a:rPr>
              <a:t> Tiene que ver con la implementación de metas de negocios con controles de acceso bastante refinados, simplemente con el mantenimiento de la confianza.</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Qué (What):</a:t>
            </a:r>
            <a:r>
              <a:rPr b="0" i="0" lang="en-US" sz="2400" u="none" cap="none" strike="noStrike">
                <a:solidFill>
                  <a:srgbClr val="1C030C"/>
                </a:solidFill>
                <a:latin typeface="Nunito"/>
                <a:ea typeface="Nunito"/>
                <a:cs typeface="Nunito"/>
                <a:sym typeface="Nunito"/>
              </a:rPr>
              <a:t> Refuerza los controles de acceso mediante la aplicación de medidas de seguridad de alto rendimiento y de nivel muy avanzado a través de la red.</a:t>
            </a:r>
            <a:endParaRPr/>
          </a:p>
        </p:txBody>
      </p:sp>
      <p:sp>
        <p:nvSpPr>
          <p:cNvPr id="310" name="Google Shape;310;p16"/>
          <p:cNvSpPr txBox="1"/>
          <p:nvPr/>
        </p:nvSpPr>
        <p:spPr>
          <a:xfrm>
            <a:off x="2063086" y="190500"/>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Segmentación en la red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318" name="Shape 318"/>
        <p:cNvGrpSpPr/>
        <p:nvPr/>
      </p:nvGrpSpPr>
      <p:grpSpPr>
        <a:xfrm>
          <a:off x="0" y="0"/>
          <a:ext cx="0" cy="0"/>
          <a:chOff x="0" y="0"/>
          <a:chExt cx="0" cy="0"/>
        </a:xfrm>
      </p:grpSpPr>
      <p:sp>
        <p:nvSpPr>
          <p:cNvPr id="319" name="Google Shape;319;p17"/>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320" name="Google Shape;320;p17"/>
          <p:cNvSpPr txBox="1"/>
          <p:nvPr/>
        </p:nvSpPr>
        <p:spPr>
          <a:xfrm>
            <a:off x="5765549" y="2768489"/>
            <a:ext cx="6570974" cy="5664518"/>
          </a:xfrm>
          <a:prstGeom prst="rect">
            <a:avLst/>
          </a:prstGeom>
          <a:noFill/>
          <a:ln>
            <a:noFill/>
          </a:ln>
        </p:spPr>
        <p:txBody>
          <a:bodyPr anchorCtr="0" anchor="t" bIns="0" lIns="0" spcFirstLastPara="1" rIns="0" wrap="square" tIns="0">
            <a:spAutoFit/>
          </a:bodyPr>
          <a:lstStyle/>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Segmentación Adecuada</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Asignación de puertos</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Contraseñas Fuertes</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Autorizaciones</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Encriptación</a:t>
            </a:r>
            <a:endParaRPr/>
          </a:p>
        </p:txBody>
      </p:sp>
      <p:sp>
        <p:nvSpPr>
          <p:cNvPr id="321" name="Google Shape;321;p17"/>
          <p:cNvSpPr/>
          <p:nvPr/>
        </p:nvSpPr>
        <p:spPr>
          <a:xfrm>
            <a:off x="532664" y="7373719"/>
            <a:ext cx="2060639" cy="2375345"/>
          </a:xfrm>
          <a:custGeom>
            <a:rect b="b" l="l" r="r" t="t"/>
            <a:pathLst>
              <a:path extrusionOk="0" h="3167126" w="2747518">
                <a:moveTo>
                  <a:pt x="0" y="0"/>
                </a:moveTo>
                <a:lnTo>
                  <a:pt x="2747518" y="0"/>
                </a:lnTo>
                <a:lnTo>
                  <a:pt x="2747518" y="3167126"/>
                </a:lnTo>
                <a:lnTo>
                  <a:pt x="0" y="3167126"/>
                </a:lnTo>
                <a:lnTo>
                  <a:pt x="0" y="0"/>
                </a:lnTo>
                <a:close/>
              </a:path>
            </a:pathLst>
          </a:custGeom>
          <a:blipFill rotWithShape="1">
            <a:blip r:embed="rId4">
              <a:alphaModFix/>
            </a:blip>
            <a:stretch>
              <a:fillRect b="0" l="-38" r="-35" t="0"/>
            </a:stretch>
          </a:blipFill>
          <a:ln>
            <a:noFill/>
          </a:ln>
        </p:spPr>
      </p:sp>
      <p:sp>
        <p:nvSpPr>
          <p:cNvPr id="322" name="Google Shape;322;p17"/>
          <p:cNvSpPr txBox="1"/>
          <p:nvPr/>
        </p:nvSpPr>
        <p:spPr>
          <a:xfrm>
            <a:off x="2063086" y="506136"/>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Seguridad en redes VLAN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330" name="Shape 330"/>
        <p:cNvGrpSpPr/>
        <p:nvPr/>
      </p:nvGrpSpPr>
      <p:grpSpPr>
        <a:xfrm>
          <a:off x="0" y="0"/>
          <a:ext cx="0" cy="0"/>
          <a:chOff x="0" y="0"/>
          <a:chExt cx="0" cy="0"/>
        </a:xfrm>
      </p:grpSpPr>
      <p:sp>
        <p:nvSpPr>
          <p:cNvPr id="331" name="Google Shape;331;p18"/>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332" name="Google Shape;332;p18"/>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333" name="Google Shape;333;p18"/>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Tipos de VLANs</a:t>
            </a:r>
            <a:endParaRPr/>
          </a:p>
        </p:txBody>
      </p:sp>
      <p:sp>
        <p:nvSpPr>
          <p:cNvPr id="334" name="Google Shape;334;p18"/>
          <p:cNvSpPr txBox="1"/>
          <p:nvPr/>
        </p:nvSpPr>
        <p:spPr>
          <a:xfrm>
            <a:off x="3025382" y="2517876"/>
            <a:ext cx="9908345" cy="6625590"/>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nativa</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802.1Q VLAN Tagging (tagged/untagged)</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basadas en puerto</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basadas en MAC</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etiquetadas</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VXLAN</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Híbrida</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de gestión</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de control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342" name="Shape 342"/>
        <p:cNvGrpSpPr/>
        <p:nvPr/>
      </p:nvGrpSpPr>
      <p:grpSpPr>
        <a:xfrm>
          <a:off x="0" y="0"/>
          <a:ext cx="0" cy="0"/>
          <a:chOff x="0" y="0"/>
          <a:chExt cx="0" cy="0"/>
        </a:xfrm>
      </p:grpSpPr>
      <p:sp>
        <p:nvSpPr>
          <p:cNvPr id="343" name="Google Shape;343;p19"/>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344" name="Google Shape;344;p19"/>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345" name="Google Shape;345;p19"/>
          <p:cNvSpPr/>
          <p:nvPr/>
        </p:nvSpPr>
        <p:spPr>
          <a:xfrm>
            <a:off x="5304464" y="6169103"/>
            <a:ext cx="6546559" cy="3660762"/>
          </a:xfrm>
          <a:custGeom>
            <a:rect b="b" l="l" r="r" t="t"/>
            <a:pathLst>
              <a:path extrusionOk="0" h="3660762" w="6546559">
                <a:moveTo>
                  <a:pt x="0" y="0"/>
                </a:moveTo>
                <a:lnTo>
                  <a:pt x="6546559" y="0"/>
                </a:lnTo>
                <a:lnTo>
                  <a:pt x="6546559" y="3660762"/>
                </a:lnTo>
                <a:lnTo>
                  <a:pt x="0" y="3660762"/>
                </a:lnTo>
                <a:lnTo>
                  <a:pt x="0" y="0"/>
                </a:lnTo>
                <a:close/>
              </a:path>
            </a:pathLst>
          </a:custGeom>
          <a:blipFill rotWithShape="1">
            <a:blip r:embed="rId5">
              <a:alphaModFix/>
            </a:blip>
            <a:stretch>
              <a:fillRect b="0" l="0" r="0" t="0"/>
            </a:stretch>
          </a:blipFill>
          <a:ln>
            <a:noFill/>
          </a:ln>
        </p:spPr>
      </p:sp>
      <p:sp>
        <p:nvSpPr>
          <p:cNvPr id="346" name="Google Shape;346;p19"/>
          <p:cNvSpPr/>
          <p:nvPr/>
        </p:nvSpPr>
        <p:spPr>
          <a:xfrm>
            <a:off x="5629663" y="6413519"/>
            <a:ext cx="5896165" cy="3316605"/>
          </a:xfrm>
          <a:custGeom>
            <a:rect b="b" l="l" r="r" t="t"/>
            <a:pathLst>
              <a:path extrusionOk="0" h="4422140" w="7861554">
                <a:moveTo>
                  <a:pt x="0" y="0"/>
                </a:moveTo>
                <a:lnTo>
                  <a:pt x="7861554" y="0"/>
                </a:lnTo>
                <a:lnTo>
                  <a:pt x="7861554" y="4422140"/>
                </a:lnTo>
                <a:lnTo>
                  <a:pt x="0" y="4422140"/>
                </a:lnTo>
                <a:lnTo>
                  <a:pt x="0" y="0"/>
                </a:lnTo>
                <a:close/>
              </a:path>
            </a:pathLst>
          </a:custGeom>
          <a:blipFill rotWithShape="1">
            <a:blip r:embed="rId6">
              <a:alphaModFix/>
            </a:blip>
            <a:stretch>
              <a:fillRect b="-85" l="0" r="0" t="-85"/>
            </a:stretch>
          </a:blipFill>
          <a:ln>
            <a:noFill/>
          </a:ln>
        </p:spPr>
      </p:sp>
      <p:sp>
        <p:nvSpPr>
          <p:cNvPr id="347" name="Google Shape;347;p19"/>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Protocolo IEEE 802.1Q</a:t>
            </a:r>
            <a:endParaRPr/>
          </a:p>
        </p:txBody>
      </p:sp>
      <p:sp>
        <p:nvSpPr>
          <p:cNvPr id="348" name="Google Shape;348;p19"/>
          <p:cNvSpPr txBox="1"/>
          <p:nvPr/>
        </p:nvSpPr>
        <p:spPr>
          <a:xfrm>
            <a:off x="1433494" y="2580794"/>
            <a:ext cx="15421011" cy="3273425"/>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IEEE 802.1Q es un protocolo de red que se utiliza para segmentar el tráfico de red en redes LAN y WAN.</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También se conoce como "VLAN tagging" y permite el transporte de múltiples VLAN a través de una sola interfaz física.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356" name="Shape 356"/>
        <p:cNvGrpSpPr/>
        <p:nvPr/>
      </p:nvGrpSpPr>
      <p:grpSpPr>
        <a:xfrm>
          <a:off x="0" y="0"/>
          <a:ext cx="0" cy="0"/>
          <a:chOff x="0" y="0"/>
          <a:chExt cx="0" cy="0"/>
        </a:xfrm>
      </p:grpSpPr>
      <p:sp>
        <p:nvSpPr>
          <p:cNvPr id="357" name="Google Shape;357;p20"/>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358" name="Google Shape;358;p20"/>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359" name="Google Shape;359;p20"/>
          <p:cNvSpPr/>
          <p:nvPr/>
        </p:nvSpPr>
        <p:spPr>
          <a:xfrm>
            <a:off x="3493371" y="5551778"/>
            <a:ext cx="11301222" cy="4237958"/>
          </a:xfrm>
          <a:custGeom>
            <a:rect b="b" l="l" r="r" t="t"/>
            <a:pathLst>
              <a:path extrusionOk="0" h="5650611" w="15068296">
                <a:moveTo>
                  <a:pt x="0" y="0"/>
                </a:moveTo>
                <a:lnTo>
                  <a:pt x="15068296" y="0"/>
                </a:lnTo>
                <a:lnTo>
                  <a:pt x="15068296" y="5650611"/>
                </a:lnTo>
                <a:lnTo>
                  <a:pt x="0" y="5650611"/>
                </a:lnTo>
                <a:lnTo>
                  <a:pt x="0" y="0"/>
                </a:lnTo>
                <a:close/>
              </a:path>
            </a:pathLst>
          </a:custGeom>
          <a:blipFill rotWithShape="1">
            <a:blip r:embed="rId5">
              <a:alphaModFix/>
            </a:blip>
            <a:stretch>
              <a:fillRect b="0" l="-60" r="-61" t="0"/>
            </a:stretch>
          </a:blipFill>
          <a:ln>
            <a:noFill/>
          </a:ln>
        </p:spPr>
      </p:sp>
      <p:sp>
        <p:nvSpPr>
          <p:cNvPr id="360" name="Google Shape;360;p20"/>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Funcionamiento de IEEE 802.1Q</a:t>
            </a:r>
            <a:endParaRPr/>
          </a:p>
        </p:txBody>
      </p:sp>
      <p:sp>
        <p:nvSpPr>
          <p:cNvPr id="361" name="Google Shape;361;p20"/>
          <p:cNvSpPr txBox="1"/>
          <p:nvPr/>
        </p:nvSpPr>
        <p:spPr>
          <a:xfrm>
            <a:off x="380866" y="1983078"/>
            <a:ext cx="17526268" cy="3273425"/>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802.1Q agrega una etiqueta VLAN a cada paquete de red que se transmite, lo que permite que los switches de la red identifiquen y segmenten el tráfico en función de la VLAN de origen y destino.</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La etiqueta VLAN se agrega al encabezado de la trama de Ethernet y consta de 4 bytes: un campo de etiqueta VLAN de 12 bits y un campo de prioridad de 3 bits.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369" name="Shape 369"/>
        <p:cNvGrpSpPr/>
        <p:nvPr/>
      </p:nvGrpSpPr>
      <p:grpSpPr>
        <a:xfrm>
          <a:off x="0" y="0"/>
          <a:ext cx="0" cy="0"/>
          <a:chOff x="0" y="0"/>
          <a:chExt cx="0" cy="0"/>
        </a:xfrm>
      </p:grpSpPr>
      <p:sp>
        <p:nvSpPr>
          <p:cNvPr id="370" name="Google Shape;370;p21"/>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371" name="Google Shape;371;p21"/>
          <p:cNvSpPr txBox="1"/>
          <p:nvPr/>
        </p:nvSpPr>
        <p:spPr>
          <a:xfrm>
            <a:off x="2949994" y="2346007"/>
            <a:ext cx="12736882" cy="6216968"/>
          </a:xfrm>
          <a:prstGeom prst="rect">
            <a:avLst/>
          </a:prstGeom>
          <a:noFill/>
          <a:ln>
            <a:noFill/>
          </a:ln>
        </p:spPr>
        <p:txBody>
          <a:bodyPr anchorCtr="0" anchor="t" bIns="0" lIns="0" spcFirstLastPara="1" rIns="0" wrap="square" tIns="0">
            <a:spAutoFit/>
          </a:bodyPr>
          <a:lstStyle/>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Se configura a nivel de switch y se puede realizar mediante una interfaz de línea de comandos (CLI) o una interfaz gráfica de usuario (GUI).</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Es necesario configurar el puerto de un switch como miembro de una VLAN o asignar etiquetas VLAN a las interfaces de red.</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Los dispositivos en diferentes VLAN no pueden comunicarse directamente, por lo que es necesario configurar un router o un switch de capa 3 para permitir la comunicación entre VLAN.</a:t>
            </a:r>
            <a:endParaRPr/>
          </a:p>
        </p:txBody>
      </p:sp>
      <p:sp>
        <p:nvSpPr>
          <p:cNvPr id="372" name="Google Shape;372;p21"/>
          <p:cNvSpPr txBox="1"/>
          <p:nvPr/>
        </p:nvSpPr>
        <p:spPr>
          <a:xfrm>
            <a:off x="2063086" y="506136"/>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Creación de VLAN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380" name="Shape 380"/>
        <p:cNvGrpSpPr/>
        <p:nvPr/>
      </p:nvGrpSpPr>
      <p:grpSpPr>
        <a:xfrm>
          <a:off x="0" y="0"/>
          <a:ext cx="0" cy="0"/>
          <a:chOff x="0" y="0"/>
          <a:chExt cx="0" cy="0"/>
        </a:xfrm>
      </p:grpSpPr>
      <p:sp>
        <p:nvSpPr>
          <p:cNvPr id="381" name="Google Shape;381;p22"/>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382" name="Google Shape;382;p22"/>
          <p:cNvSpPr txBox="1"/>
          <p:nvPr/>
        </p:nvSpPr>
        <p:spPr>
          <a:xfrm>
            <a:off x="3688982" y="1436584"/>
            <a:ext cx="11945771" cy="7873197"/>
          </a:xfrm>
          <a:prstGeom prst="rect">
            <a:avLst/>
          </a:prstGeom>
          <a:noFill/>
          <a:ln>
            <a:noFill/>
          </a:ln>
        </p:spPr>
        <p:txBody>
          <a:bodyPr anchorCtr="0" anchor="t" bIns="0" lIns="0" spcFirstLastPara="1" rIns="0" wrap="square" tIns="0">
            <a:spAutoFit/>
          </a:bodyPr>
          <a:lstStyle/>
          <a:p>
            <a:pPr indent="-385223" lvl="2" marL="1155668" marR="0" rtl="0" algn="l">
              <a:lnSpc>
                <a:spcPct val="180007"/>
              </a:lnSpc>
              <a:spcBef>
                <a:spcPts val="0"/>
              </a:spcBef>
              <a:spcAft>
                <a:spcPts val="0"/>
              </a:spcAft>
              <a:buClr>
                <a:srgbClr val="1C030C"/>
              </a:buClr>
              <a:buSzPts val="2676"/>
              <a:buFont typeface="Nunito"/>
              <a:buAutoNum type="alphaLcPeriod"/>
            </a:pPr>
            <a:r>
              <a:rPr b="0" i="0" lang="en-US" sz="2676" u="none" cap="none" strike="noStrike">
                <a:solidFill>
                  <a:srgbClr val="1C030C"/>
                </a:solidFill>
                <a:latin typeface="Nunito"/>
                <a:ea typeface="Nunito"/>
                <a:cs typeface="Nunito"/>
                <a:sym typeface="Nunito"/>
              </a:rPr>
              <a:t>Para crear una VLAN en un switch Cisco, se debe acceder a la línea de comandos del switch mediante una conexión serial o mediante un cliente SSH/Telnet.</a:t>
            </a:r>
            <a:endParaRPr/>
          </a:p>
          <a:p>
            <a:pPr indent="-385223" lvl="2" marL="1155668" marR="0" rtl="0" algn="l">
              <a:lnSpc>
                <a:spcPct val="180007"/>
              </a:lnSpc>
              <a:spcBef>
                <a:spcPts val="0"/>
              </a:spcBef>
              <a:spcAft>
                <a:spcPts val="0"/>
              </a:spcAft>
              <a:buClr>
                <a:srgbClr val="1C030C"/>
              </a:buClr>
              <a:buSzPts val="2676"/>
              <a:buFont typeface="Nunito"/>
              <a:buAutoNum type="alphaLcPeriod"/>
            </a:pPr>
            <a:r>
              <a:rPr b="0" i="0" lang="en-US" sz="2676" u="none" cap="none" strike="noStrike">
                <a:solidFill>
                  <a:srgbClr val="1C030C"/>
                </a:solidFill>
                <a:latin typeface="Nunito"/>
                <a:ea typeface="Nunito"/>
                <a:cs typeface="Nunito"/>
                <a:sym typeface="Nunito"/>
              </a:rPr>
              <a:t>Es necesario tener las credenciales de administrador para acceder a la configuración del switch.</a:t>
            </a:r>
            <a:endParaRPr/>
          </a:p>
          <a:p>
            <a:pPr indent="-385223" lvl="2" marL="1155668" marR="0" rtl="0" algn="l">
              <a:lnSpc>
                <a:spcPct val="180007"/>
              </a:lnSpc>
              <a:spcBef>
                <a:spcPts val="0"/>
              </a:spcBef>
              <a:spcAft>
                <a:spcPts val="0"/>
              </a:spcAft>
              <a:buClr>
                <a:srgbClr val="1C030C"/>
              </a:buClr>
              <a:buSzPts val="2676"/>
              <a:buFont typeface="Nunito"/>
              <a:buAutoNum type="alphaLcPeriod"/>
            </a:pPr>
            <a:r>
              <a:rPr b="0" i="0" lang="en-US" sz="2676" u="none" cap="none" strike="noStrike">
                <a:solidFill>
                  <a:srgbClr val="1C030C"/>
                </a:solidFill>
                <a:latin typeface="Nunito"/>
                <a:ea typeface="Nunito"/>
                <a:cs typeface="Nunito"/>
                <a:sym typeface="Nunito"/>
              </a:rPr>
              <a:t>Para crear una VLAN en un switch Cisco, se utiliza el comando "vlan [id]" en el modo de configuración global.</a:t>
            </a:r>
            <a:endParaRPr/>
          </a:p>
          <a:p>
            <a:pPr indent="-385223" lvl="2" marL="1155668" marR="0" rtl="0" algn="l">
              <a:lnSpc>
                <a:spcPct val="180007"/>
              </a:lnSpc>
              <a:spcBef>
                <a:spcPts val="0"/>
              </a:spcBef>
              <a:spcAft>
                <a:spcPts val="0"/>
              </a:spcAft>
              <a:buClr>
                <a:srgbClr val="1C030C"/>
              </a:buClr>
              <a:buSzPts val="2676"/>
              <a:buFont typeface="Nunito"/>
              <a:buAutoNum type="alphaLcPeriod"/>
            </a:pPr>
            <a:r>
              <a:rPr b="0" i="0" lang="en-US" sz="2676" u="none" cap="none" strike="noStrike">
                <a:solidFill>
                  <a:srgbClr val="1C030C"/>
                </a:solidFill>
                <a:latin typeface="Nunito"/>
                <a:ea typeface="Nunito"/>
                <a:cs typeface="Nunito"/>
                <a:sym typeface="Nunito"/>
              </a:rPr>
              <a:t>Donde [id] es el número de identificación de la VLAN que se desea crear, que puede ser un número entre 1 y 4094.</a:t>
            </a:r>
            <a:endParaRPr/>
          </a:p>
          <a:p>
            <a:pPr indent="-385223" lvl="2" marL="1155668" marR="0" rtl="0" algn="l">
              <a:lnSpc>
                <a:spcPct val="180007"/>
              </a:lnSpc>
              <a:spcBef>
                <a:spcPts val="0"/>
              </a:spcBef>
              <a:spcAft>
                <a:spcPts val="0"/>
              </a:spcAft>
              <a:buClr>
                <a:srgbClr val="1C030C"/>
              </a:buClr>
              <a:buSzPts val="2676"/>
              <a:buFont typeface="Nunito"/>
              <a:buAutoNum type="alphaLcPeriod"/>
            </a:pPr>
            <a:r>
              <a:rPr b="0" i="0" lang="en-US" sz="2676" u="none" cap="none" strike="noStrike">
                <a:solidFill>
                  <a:srgbClr val="1C030C"/>
                </a:solidFill>
                <a:latin typeface="Nunito"/>
                <a:ea typeface="Nunito"/>
                <a:cs typeface="Nunito"/>
                <a:sym typeface="Nunito"/>
              </a:rPr>
              <a:t>Por ejemplo, para crear una VLAN con el identificador 10, se utiliza el comando "vlan 10".</a:t>
            </a:r>
            <a:endParaRPr/>
          </a:p>
          <a:p>
            <a:pPr indent="-385223" lvl="2" marL="1155668" marR="0" rtl="0" algn="l">
              <a:lnSpc>
                <a:spcPct val="180007"/>
              </a:lnSpc>
              <a:spcBef>
                <a:spcPts val="0"/>
              </a:spcBef>
              <a:spcAft>
                <a:spcPts val="0"/>
              </a:spcAft>
              <a:buClr>
                <a:srgbClr val="1C030C"/>
              </a:buClr>
              <a:buSzPts val="2676"/>
              <a:buFont typeface="Nunito"/>
              <a:buAutoNum type="alphaLcPeriod"/>
            </a:pPr>
            <a:r>
              <a:rPr b="0" i="0" lang="en-US" sz="2676" u="none" cap="none" strike="noStrike">
                <a:solidFill>
                  <a:srgbClr val="1C030C"/>
                </a:solidFill>
                <a:latin typeface="Nunito"/>
                <a:ea typeface="Nunito"/>
                <a:cs typeface="Nunito"/>
                <a:sym typeface="Nunito"/>
              </a:rPr>
              <a:t>También al momento de crear la VLAN se puede especificar un nombre para misma usando el comando “name [nombre]”</a:t>
            </a:r>
            <a:endParaRPr/>
          </a:p>
        </p:txBody>
      </p:sp>
      <p:sp>
        <p:nvSpPr>
          <p:cNvPr id="383" name="Google Shape;383;p22"/>
          <p:cNvSpPr txBox="1"/>
          <p:nvPr/>
        </p:nvSpPr>
        <p:spPr>
          <a:xfrm>
            <a:off x="861801" y="126269"/>
            <a:ext cx="14161828" cy="117729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Creación de VLAN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391" name="Shape 391"/>
        <p:cNvGrpSpPr/>
        <p:nvPr/>
      </p:nvGrpSpPr>
      <p:grpSpPr>
        <a:xfrm>
          <a:off x="0" y="0"/>
          <a:ext cx="0" cy="0"/>
          <a:chOff x="0" y="0"/>
          <a:chExt cx="0" cy="0"/>
        </a:xfrm>
      </p:grpSpPr>
      <p:sp>
        <p:nvSpPr>
          <p:cNvPr id="392" name="Google Shape;392;p23"/>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393" name="Google Shape;393;p23"/>
          <p:cNvSpPr txBox="1"/>
          <p:nvPr/>
        </p:nvSpPr>
        <p:spPr>
          <a:xfrm>
            <a:off x="4318448" y="3538697"/>
            <a:ext cx="8254015" cy="2545081"/>
          </a:xfrm>
          <a:prstGeom prst="rect">
            <a:avLst/>
          </a:prstGeom>
          <a:noFill/>
          <a:ln>
            <a:noFill/>
          </a:ln>
        </p:spPr>
        <p:txBody>
          <a:bodyPr anchorCtr="0" anchor="t" bIns="0" lIns="0" spcFirstLastPara="1" rIns="0" wrap="square" tIns="0">
            <a:spAutoFit/>
          </a:bodyPr>
          <a:lstStyle/>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configure </a:t>
            </a:r>
            <a:r>
              <a:rPr b="0" i="1" lang="en-US" sz="3199" u="none" cap="none" strike="noStrike">
                <a:solidFill>
                  <a:srgbClr val="5E17EB"/>
                </a:solidFill>
                <a:latin typeface="Nunito"/>
                <a:ea typeface="Nunito"/>
                <a:cs typeface="Nunito"/>
                <a:sym typeface="Nunito"/>
              </a:rPr>
              <a:t>terminal</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vlan [id] </a:t>
            </a:r>
            <a:r>
              <a:rPr b="0" i="1" lang="en-US" sz="3199" u="none" cap="none" strike="noStrike">
                <a:solidFill>
                  <a:srgbClr val="000000"/>
                </a:solidFill>
                <a:latin typeface="Nunito"/>
                <a:ea typeface="Nunito"/>
                <a:cs typeface="Nunito"/>
                <a:sym typeface="Nunito"/>
              </a:rPr>
              <a:t>(ejemplo: vlan 10)</a:t>
            </a:r>
            <a:endParaRPr/>
          </a:p>
          <a:p>
            <a:pPr indent="0" lvl="0" marL="0" marR="0" rtl="0" algn="l">
              <a:lnSpc>
                <a:spcPct val="179993"/>
              </a:lnSpc>
              <a:spcBef>
                <a:spcPts val="0"/>
              </a:spcBef>
              <a:spcAft>
                <a:spcPts val="0"/>
              </a:spcAft>
              <a:buNone/>
            </a:pPr>
            <a:r>
              <a:rPr b="0" i="1" lang="en-US" sz="3199" u="none" cap="none" strike="noStrike">
                <a:solidFill>
                  <a:srgbClr val="5E17EB"/>
                </a:solidFill>
                <a:latin typeface="Nunito"/>
                <a:ea typeface="Nunito"/>
                <a:cs typeface="Nunito"/>
                <a:sym typeface="Nunito"/>
              </a:rPr>
              <a:t>    name</a:t>
            </a:r>
            <a:r>
              <a:rPr b="0" i="1" lang="en-US" sz="3199" u="none" cap="none" strike="noStrike">
                <a:solidFill>
                  <a:srgbClr val="FFBC19"/>
                </a:solidFill>
                <a:latin typeface="Nunito"/>
                <a:ea typeface="Nunito"/>
                <a:cs typeface="Nunito"/>
                <a:sym typeface="Nunito"/>
              </a:rPr>
              <a:t> </a:t>
            </a:r>
            <a:r>
              <a:rPr b="0" i="1" lang="en-US" sz="3199" u="none" cap="none" strike="noStrike">
                <a:solidFill>
                  <a:srgbClr val="008E28"/>
                </a:solidFill>
                <a:latin typeface="Nunito"/>
                <a:ea typeface="Nunito"/>
                <a:cs typeface="Nunito"/>
                <a:sym typeface="Nunito"/>
              </a:rPr>
              <a:t>[nombre]</a:t>
            </a:r>
            <a:r>
              <a:rPr b="0" i="1" lang="en-US" sz="3199" u="none" cap="none" strike="noStrike">
                <a:solidFill>
                  <a:srgbClr val="FFBC19"/>
                </a:solidFill>
                <a:latin typeface="Nunito"/>
                <a:ea typeface="Nunito"/>
                <a:cs typeface="Nunito"/>
                <a:sym typeface="Nunito"/>
              </a:rPr>
              <a:t> </a:t>
            </a:r>
            <a:r>
              <a:rPr b="0" i="1" lang="en-US" sz="3199" u="none" cap="none" strike="noStrike">
                <a:solidFill>
                  <a:srgbClr val="000000"/>
                </a:solidFill>
                <a:latin typeface="Nunito"/>
                <a:ea typeface="Nunito"/>
                <a:cs typeface="Nunito"/>
                <a:sym typeface="Nunito"/>
              </a:rPr>
              <a:t>(ejemplo: name ADMIN)</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exit</a:t>
            </a:r>
            <a:endParaRPr/>
          </a:p>
        </p:txBody>
      </p:sp>
      <p:sp>
        <p:nvSpPr>
          <p:cNvPr id="394" name="Google Shape;394;p23"/>
          <p:cNvSpPr txBox="1"/>
          <p:nvPr/>
        </p:nvSpPr>
        <p:spPr>
          <a:xfrm>
            <a:off x="2063086" y="506136"/>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Creación de VLAN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02" name="Shape 402"/>
        <p:cNvGrpSpPr/>
        <p:nvPr/>
      </p:nvGrpSpPr>
      <p:grpSpPr>
        <a:xfrm>
          <a:off x="0" y="0"/>
          <a:ext cx="0" cy="0"/>
          <a:chOff x="0" y="0"/>
          <a:chExt cx="0" cy="0"/>
        </a:xfrm>
      </p:grpSpPr>
      <p:sp>
        <p:nvSpPr>
          <p:cNvPr id="403" name="Google Shape;403;p24"/>
          <p:cNvSpPr/>
          <p:nvPr/>
        </p:nvSpPr>
        <p:spPr>
          <a:xfrm>
            <a:off x="-3186246" y="5846282"/>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404" name="Google Shape;404;p24"/>
          <p:cNvSpPr/>
          <p:nvPr/>
        </p:nvSpPr>
        <p:spPr>
          <a:xfrm>
            <a:off x="10439817" y="5838901"/>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405" name="Google Shape;405;p24"/>
          <p:cNvSpPr/>
          <p:nvPr/>
        </p:nvSpPr>
        <p:spPr>
          <a:xfrm>
            <a:off x="-1303650" y="-205740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406" name="Google Shape;406;p24"/>
          <p:cNvSpPr/>
          <p:nvPr/>
        </p:nvSpPr>
        <p:spPr>
          <a:xfrm>
            <a:off x="14415333" y="-1658266"/>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407" name="Google Shape;407;p24"/>
          <p:cNvSpPr txBox="1"/>
          <p:nvPr/>
        </p:nvSpPr>
        <p:spPr>
          <a:xfrm>
            <a:off x="1603864" y="2424603"/>
            <a:ext cx="15080273" cy="2849112"/>
          </a:xfrm>
          <a:prstGeom prst="rect">
            <a:avLst/>
          </a:prstGeom>
          <a:noFill/>
          <a:ln>
            <a:noFill/>
          </a:ln>
        </p:spPr>
        <p:txBody>
          <a:bodyPr anchorCtr="0" anchor="t" bIns="0" lIns="0" spcFirstLastPara="1" rIns="0" wrap="square" tIns="0">
            <a:spAutoFit/>
          </a:bodyPr>
          <a:lstStyle/>
          <a:p>
            <a:pPr indent="0" lvl="0" marL="0" marR="0" rtl="0" algn="ctr">
              <a:lnSpc>
                <a:spcPct val="168010"/>
              </a:lnSpc>
              <a:spcBef>
                <a:spcPts val="0"/>
              </a:spcBef>
              <a:spcAft>
                <a:spcPts val="0"/>
              </a:spcAft>
              <a:buNone/>
            </a:pPr>
            <a:r>
              <a:rPr b="0" i="0" lang="en-US" sz="11954" u="none" cap="none" strike="noStrike">
                <a:solidFill>
                  <a:srgbClr val="FFBC19"/>
                </a:solidFill>
                <a:latin typeface="Arial"/>
                <a:ea typeface="Arial"/>
                <a:cs typeface="Arial"/>
                <a:sym typeface="Arial"/>
              </a:rPr>
              <a:t>Tipos de enlaces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15" name="Shape 415"/>
        <p:cNvGrpSpPr/>
        <p:nvPr/>
      </p:nvGrpSpPr>
      <p:grpSpPr>
        <a:xfrm>
          <a:off x="0" y="0"/>
          <a:ext cx="0" cy="0"/>
          <a:chOff x="0" y="0"/>
          <a:chExt cx="0" cy="0"/>
        </a:xfrm>
      </p:grpSpPr>
      <p:sp>
        <p:nvSpPr>
          <p:cNvPr id="416" name="Google Shape;416;p25"/>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417" name="Google Shape;417;p25"/>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418" name="Google Shape;418;p25"/>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Modo Acceso</a:t>
            </a:r>
            <a:endParaRPr/>
          </a:p>
        </p:txBody>
      </p:sp>
      <p:sp>
        <p:nvSpPr>
          <p:cNvPr id="419" name="Google Shape;419;p25"/>
          <p:cNvSpPr txBox="1"/>
          <p:nvPr/>
        </p:nvSpPr>
        <p:spPr>
          <a:xfrm>
            <a:off x="1578281" y="2615136"/>
            <a:ext cx="15681019" cy="4422775"/>
          </a:xfrm>
          <a:prstGeom prst="rect">
            <a:avLst/>
          </a:prstGeom>
          <a:noFill/>
          <a:ln>
            <a:noFill/>
          </a:ln>
        </p:spPr>
        <p:txBody>
          <a:bodyPr anchorCtr="0" anchor="t" bIns="0" lIns="0" spcFirstLastPara="1" rIns="0" wrap="square" tIns="0">
            <a:spAutoFit/>
          </a:bodyPr>
          <a:lstStyle/>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El modo acceso es una configuración de puerto en un switch Cisco que se utiliza para conectar dispositivos finales a la red.</a:t>
            </a:r>
            <a:endParaRPr/>
          </a:p>
          <a:p>
            <a:pPr indent="-106692" lvl="2" marL="320077" marR="0" rtl="0" algn="l">
              <a:lnSpc>
                <a:spcPct val="58814"/>
              </a:lnSpc>
              <a:spcBef>
                <a:spcPts val="0"/>
              </a:spcBef>
              <a:spcAft>
                <a:spcPts val="0"/>
              </a:spcAft>
              <a:buNone/>
            </a:pPr>
            <a:r>
              <a:t/>
            </a:r>
            <a:endParaRPr b="0" i="0" sz="3999" u="none" cap="none" strike="noStrike">
              <a:solidFill>
                <a:srgbClr val="FFBC19"/>
              </a:solidFill>
              <a:latin typeface="Nunito"/>
              <a:ea typeface="Nunito"/>
              <a:cs typeface="Nunito"/>
              <a:sym typeface="Nunito"/>
            </a:endParaRPr>
          </a:p>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En el modo acceso, se define una sola VLAN para el puerto, lo que limita el tráfico en el puerto a esa VLAN y mejora la seguridad de la red.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27" name="Shape 427"/>
        <p:cNvGrpSpPr/>
        <p:nvPr/>
      </p:nvGrpSpPr>
      <p:grpSpPr>
        <a:xfrm>
          <a:off x="0" y="0"/>
          <a:ext cx="0" cy="0"/>
          <a:chOff x="0" y="0"/>
          <a:chExt cx="0" cy="0"/>
        </a:xfrm>
      </p:grpSpPr>
      <p:sp>
        <p:nvSpPr>
          <p:cNvPr id="428" name="Google Shape;428;p26"/>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429" name="Google Shape;429;p26"/>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430" name="Google Shape;430;p26"/>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Configuración del Modo Acceso</a:t>
            </a:r>
            <a:endParaRPr/>
          </a:p>
        </p:txBody>
      </p:sp>
      <p:sp>
        <p:nvSpPr>
          <p:cNvPr id="431" name="Google Shape;431;p26"/>
          <p:cNvSpPr txBox="1"/>
          <p:nvPr/>
        </p:nvSpPr>
        <p:spPr>
          <a:xfrm>
            <a:off x="690045" y="2504650"/>
            <a:ext cx="16907909" cy="5833745"/>
          </a:xfrm>
          <a:prstGeom prst="rect">
            <a:avLst/>
          </a:prstGeom>
          <a:noFill/>
          <a:ln>
            <a:noFill/>
          </a:ln>
        </p:spPr>
        <p:txBody>
          <a:bodyPr anchorCtr="0" anchor="t" bIns="0" lIns="0" spcFirstLastPara="1" rIns="0" wrap="square" tIns="0">
            <a:spAutoFit/>
          </a:bodyPr>
          <a:lstStyle/>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Una vez creada la VLAN, se deben configurar los puertos del switch que formarán parte de la VLAN.</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Esto se hace a través del comando "interface [tipo] [número]" para seleccionar el puerto deseado y, a continuación, el comando "switchport mode access" para establecer el puerto en modo acceso y luego el comando "switchport access vlan [id]" para asignar el puerto a la VLAN.</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Donde [tipo] es el tipo de puerto, que puede ser "Ethernet" para puertos de red estándar, "GigabitEthernet" para puertos de alta velocidad, etc.</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Donde [número] es el número de puerto, que puede ser un número o un rango de números.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439" name="Shape 439"/>
        <p:cNvGrpSpPr/>
        <p:nvPr/>
      </p:nvGrpSpPr>
      <p:grpSpPr>
        <a:xfrm>
          <a:off x="0" y="0"/>
          <a:ext cx="0" cy="0"/>
          <a:chOff x="0" y="0"/>
          <a:chExt cx="0" cy="0"/>
        </a:xfrm>
      </p:grpSpPr>
      <p:sp>
        <p:nvSpPr>
          <p:cNvPr id="440" name="Google Shape;440;p27"/>
          <p:cNvSpPr/>
          <p:nvPr/>
        </p:nvSpPr>
        <p:spPr>
          <a:xfrm>
            <a:off x="1471942" y="1028700"/>
            <a:ext cx="15692190" cy="8559376"/>
          </a:xfrm>
          <a:custGeom>
            <a:rect b="b" l="l" r="r" t="t"/>
            <a:pathLst>
              <a:path extrusionOk="0" h="8559376" w="15692190">
                <a:moveTo>
                  <a:pt x="0" y="0"/>
                </a:moveTo>
                <a:lnTo>
                  <a:pt x="15692190" y="0"/>
                </a:lnTo>
                <a:lnTo>
                  <a:pt x="15692190" y="8559376"/>
                </a:lnTo>
                <a:lnTo>
                  <a:pt x="0" y="8559376"/>
                </a:lnTo>
                <a:lnTo>
                  <a:pt x="0" y="0"/>
                </a:lnTo>
                <a:close/>
              </a:path>
            </a:pathLst>
          </a:custGeom>
          <a:blipFill rotWithShape="1">
            <a:blip r:embed="rId3">
              <a:alphaModFix/>
            </a:blip>
            <a:stretch>
              <a:fillRect b="0" l="0" r="0" t="0"/>
            </a:stretch>
          </a:blipFill>
          <a:ln>
            <a:noFill/>
          </a:ln>
        </p:spPr>
      </p:sp>
      <p:sp>
        <p:nvSpPr>
          <p:cNvPr id="441" name="Google Shape;441;p27"/>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4">
              <a:alphaModFix/>
            </a:blip>
            <a:stretch>
              <a:fillRect b="-18" l="0" r="0" t="-18"/>
            </a:stretch>
          </a:blipFill>
          <a:ln>
            <a:noFill/>
          </a:ln>
        </p:spPr>
      </p:sp>
      <p:sp>
        <p:nvSpPr>
          <p:cNvPr id="442" name="Google Shape;442;p27"/>
          <p:cNvSpPr txBox="1"/>
          <p:nvPr/>
        </p:nvSpPr>
        <p:spPr>
          <a:xfrm>
            <a:off x="3501361" y="3220072"/>
            <a:ext cx="13853667" cy="4280538"/>
          </a:xfrm>
          <a:prstGeom prst="rect">
            <a:avLst/>
          </a:prstGeom>
          <a:noFill/>
          <a:ln>
            <a:noFill/>
          </a:ln>
        </p:spPr>
        <p:txBody>
          <a:bodyPr anchorCtr="0" anchor="t" bIns="0" lIns="0" spcFirstLastPara="1" rIns="0" wrap="square" tIns="0">
            <a:spAutoFit/>
          </a:bodyPr>
          <a:lstStyle/>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configure </a:t>
            </a:r>
            <a:r>
              <a:rPr b="0" i="1" lang="en-US" sz="3199" u="none" cap="none" strike="noStrike">
                <a:solidFill>
                  <a:srgbClr val="5E17EB"/>
                </a:solidFill>
                <a:latin typeface="Nunito"/>
                <a:ea typeface="Nunito"/>
                <a:cs typeface="Nunito"/>
                <a:sym typeface="Nunito"/>
              </a:rPr>
              <a:t>terminal</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interface </a:t>
            </a:r>
            <a:r>
              <a:rPr b="0" i="1" lang="en-US" sz="3199" u="none" cap="none" strike="noStrike">
                <a:solidFill>
                  <a:srgbClr val="5E17EB"/>
                </a:solidFill>
                <a:latin typeface="Nunito"/>
                <a:ea typeface="Nunito"/>
                <a:cs typeface="Nunito"/>
                <a:sym typeface="Nunito"/>
              </a:rPr>
              <a:t>[tipo]</a:t>
            </a:r>
            <a:r>
              <a:rPr b="0" i="1" lang="en-US" sz="3199" u="none" cap="none" strike="noStrike">
                <a:solidFill>
                  <a:srgbClr val="FFBC19"/>
                </a:solidFill>
                <a:latin typeface="Nunito"/>
                <a:ea typeface="Nunito"/>
                <a:cs typeface="Nunito"/>
                <a:sym typeface="Nunito"/>
              </a:rPr>
              <a:t> [numero] </a:t>
            </a:r>
            <a:r>
              <a:rPr b="0" i="1" lang="en-US" sz="3199" u="none" cap="none" strike="noStrike">
                <a:solidFill>
                  <a:srgbClr val="000000"/>
                </a:solidFill>
                <a:latin typeface="Nunito"/>
                <a:ea typeface="Nunito"/>
                <a:cs typeface="Nunito"/>
                <a:sym typeface="Nunito"/>
              </a:rPr>
              <a:t>(ejemplo: interface FastEthernet 0/1)</a:t>
            </a:r>
            <a:endParaRPr/>
          </a:p>
          <a:p>
            <a:pPr indent="0" lvl="0" marL="0" marR="0" rtl="0" algn="l">
              <a:lnSpc>
                <a:spcPct val="179993"/>
              </a:lnSpc>
              <a:spcBef>
                <a:spcPts val="0"/>
              </a:spcBef>
              <a:spcAft>
                <a:spcPts val="0"/>
              </a:spcAft>
              <a:buNone/>
            </a:pPr>
            <a:r>
              <a:rPr b="0" i="1" lang="en-US" sz="3199" u="none" cap="none" strike="noStrike">
                <a:solidFill>
                  <a:srgbClr val="5E17EB"/>
                </a:solidFill>
                <a:latin typeface="Nunito"/>
                <a:ea typeface="Nunito"/>
                <a:cs typeface="Nunito"/>
                <a:sym typeface="Nunito"/>
              </a:rPr>
              <a:t>        switchport mode acces</a:t>
            </a:r>
            <a:endParaRPr/>
          </a:p>
          <a:p>
            <a:pPr indent="0" lvl="0" marL="0" marR="0" rtl="0" algn="l">
              <a:lnSpc>
                <a:spcPct val="179993"/>
              </a:lnSpc>
              <a:spcBef>
                <a:spcPts val="0"/>
              </a:spcBef>
              <a:spcAft>
                <a:spcPts val="0"/>
              </a:spcAft>
              <a:buNone/>
            </a:pPr>
            <a:r>
              <a:rPr b="0" i="1" lang="en-US" sz="3199" u="none" cap="none" strike="noStrike">
                <a:solidFill>
                  <a:srgbClr val="5E17EB"/>
                </a:solidFill>
                <a:latin typeface="Nunito"/>
                <a:ea typeface="Nunito"/>
                <a:cs typeface="Nunito"/>
                <a:sym typeface="Nunito"/>
              </a:rPr>
              <a:t>        switchport acces vlan </a:t>
            </a:r>
            <a:r>
              <a:rPr b="0" i="1" lang="en-US" sz="3199" u="none" cap="none" strike="noStrike">
                <a:solidFill>
                  <a:srgbClr val="F3BA4D"/>
                </a:solidFill>
                <a:latin typeface="Nunito"/>
                <a:ea typeface="Nunito"/>
                <a:cs typeface="Nunito"/>
                <a:sym typeface="Nunito"/>
              </a:rPr>
              <a:t>[numero] </a:t>
            </a:r>
            <a:r>
              <a:rPr b="0" i="1" lang="en-US" sz="3199" u="none" cap="none" strike="noStrike">
                <a:solidFill>
                  <a:srgbClr val="000000"/>
                </a:solidFill>
                <a:latin typeface="Nunito"/>
                <a:ea typeface="Nunito"/>
                <a:cs typeface="Nunito"/>
                <a:sym typeface="Nunito"/>
              </a:rPr>
              <a:t>(ejemplo: switchport acces vlan 10)</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exit</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exit</a:t>
            </a:r>
            <a:endParaRPr/>
          </a:p>
        </p:txBody>
      </p:sp>
      <p:sp>
        <p:nvSpPr>
          <p:cNvPr id="443" name="Google Shape;443;p27"/>
          <p:cNvSpPr txBox="1"/>
          <p:nvPr/>
        </p:nvSpPr>
        <p:spPr>
          <a:xfrm>
            <a:off x="2063086" y="762000"/>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Modo de Acceso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51" name="Shape 451"/>
        <p:cNvGrpSpPr/>
        <p:nvPr/>
      </p:nvGrpSpPr>
      <p:grpSpPr>
        <a:xfrm>
          <a:off x="0" y="0"/>
          <a:ext cx="0" cy="0"/>
          <a:chOff x="0" y="0"/>
          <a:chExt cx="0" cy="0"/>
        </a:xfrm>
      </p:grpSpPr>
      <p:sp>
        <p:nvSpPr>
          <p:cNvPr id="452" name="Google Shape;452;p28"/>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453" name="Google Shape;453;p28"/>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454" name="Google Shape;454;p28"/>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Modo Troncal</a:t>
            </a:r>
            <a:endParaRPr/>
          </a:p>
        </p:txBody>
      </p:sp>
      <p:sp>
        <p:nvSpPr>
          <p:cNvPr id="455" name="Google Shape;455;p28"/>
          <p:cNvSpPr txBox="1"/>
          <p:nvPr/>
        </p:nvSpPr>
        <p:spPr>
          <a:xfrm>
            <a:off x="1578281" y="2615136"/>
            <a:ext cx="15681000" cy="5127600"/>
          </a:xfrm>
          <a:prstGeom prst="rect">
            <a:avLst/>
          </a:prstGeom>
          <a:noFill/>
          <a:ln>
            <a:noFill/>
          </a:ln>
        </p:spPr>
        <p:txBody>
          <a:bodyPr anchorCtr="0" anchor="t" bIns="0" lIns="0" spcFirstLastPara="1" rIns="0" wrap="square" tIns="0">
            <a:spAutoFit/>
          </a:bodyPr>
          <a:lstStyle/>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El modo troncal es una configuración de puerto en un switch Cisco que se utiliza para transmitir tráfico de varias VLAN a través de un solo puerto.</a:t>
            </a:r>
            <a:endParaRPr/>
          </a:p>
          <a:p>
            <a:pPr indent="-106692" lvl="2" marL="320077" marR="0" rtl="0" algn="l">
              <a:lnSpc>
                <a:spcPct val="58814"/>
              </a:lnSpc>
              <a:spcBef>
                <a:spcPts val="0"/>
              </a:spcBef>
              <a:spcAft>
                <a:spcPts val="0"/>
              </a:spcAft>
              <a:buNone/>
            </a:pPr>
            <a:r>
              <a:t/>
            </a:r>
            <a:endParaRPr b="0" i="0" sz="3999" u="none" cap="none" strike="noStrike">
              <a:solidFill>
                <a:srgbClr val="FFBC19"/>
              </a:solidFill>
              <a:latin typeface="Nunito"/>
              <a:ea typeface="Nunito"/>
              <a:cs typeface="Nunito"/>
              <a:sym typeface="Nunito"/>
            </a:endParaRPr>
          </a:p>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En el modo troncal, se permiten todas las VLAN en el puerto, lo que permite que el tráfico de varias VLAN pase a través del mismo puerto.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63" name="Shape 463"/>
        <p:cNvGrpSpPr/>
        <p:nvPr/>
      </p:nvGrpSpPr>
      <p:grpSpPr>
        <a:xfrm>
          <a:off x="0" y="0"/>
          <a:ext cx="0" cy="0"/>
          <a:chOff x="0" y="0"/>
          <a:chExt cx="0" cy="0"/>
        </a:xfrm>
      </p:grpSpPr>
      <p:sp>
        <p:nvSpPr>
          <p:cNvPr id="464" name="Google Shape;464;p29"/>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465" name="Google Shape;465;p29"/>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466" name="Google Shape;466;p29"/>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Configuración del Modo Troncal</a:t>
            </a:r>
            <a:endParaRPr/>
          </a:p>
        </p:txBody>
      </p:sp>
      <p:sp>
        <p:nvSpPr>
          <p:cNvPr id="467" name="Google Shape;467;p29"/>
          <p:cNvSpPr txBox="1"/>
          <p:nvPr/>
        </p:nvSpPr>
        <p:spPr>
          <a:xfrm>
            <a:off x="690045" y="2347356"/>
            <a:ext cx="16907909" cy="6419532"/>
          </a:xfrm>
          <a:prstGeom prst="rect">
            <a:avLst/>
          </a:prstGeom>
          <a:noFill/>
          <a:ln>
            <a:noFill/>
          </a:ln>
        </p:spPr>
        <p:txBody>
          <a:bodyPr anchorCtr="0" anchor="t" bIns="0" lIns="0" spcFirstLastPara="1" rIns="0" wrap="square" tIns="0">
            <a:spAutoFit/>
          </a:bodyPr>
          <a:lstStyle/>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Una vez creada la VLAN, se deben configurar los puertos del switch que formarán parte de la VLAN.</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Esto se hace a través del comando </a:t>
            </a:r>
            <a:r>
              <a:rPr b="0" i="1" lang="en-US" sz="3200" u="none" cap="none" strike="noStrike">
                <a:solidFill>
                  <a:srgbClr val="FFBC19"/>
                </a:solidFill>
                <a:latin typeface="Nunito"/>
                <a:ea typeface="Nunito"/>
                <a:cs typeface="Nunito"/>
                <a:sym typeface="Nunito"/>
              </a:rPr>
              <a:t>"interface [tipo] [número]"</a:t>
            </a:r>
            <a:r>
              <a:rPr b="0" i="0" lang="en-US" sz="3200" u="none" cap="none" strike="noStrike">
                <a:solidFill>
                  <a:srgbClr val="FFBC19"/>
                </a:solidFill>
                <a:latin typeface="Nunito"/>
                <a:ea typeface="Nunito"/>
                <a:cs typeface="Nunito"/>
                <a:sym typeface="Nunito"/>
              </a:rPr>
              <a:t> para seleccionar el puerto deseado y, a continuación, el comando </a:t>
            </a:r>
            <a:r>
              <a:rPr b="0" i="1" lang="en-US" sz="3200" u="none" cap="none" strike="noStrike">
                <a:solidFill>
                  <a:srgbClr val="FFBC19"/>
                </a:solidFill>
                <a:latin typeface="Nunito"/>
                <a:ea typeface="Nunito"/>
                <a:cs typeface="Nunito"/>
                <a:sym typeface="Nunito"/>
              </a:rPr>
              <a:t>"switchport trunk encapsulation dot1q"</a:t>
            </a:r>
            <a:r>
              <a:rPr b="0" i="0" lang="en-US" sz="3200" u="none" cap="none" strike="noStrike">
                <a:solidFill>
                  <a:srgbClr val="FFBC19"/>
                </a:solidFill>
                <a:latin typeface="Nunito"/>
                <a:ea typeface="Nunito"/>
                <a:cs typeface="Nunito"/>
                <a:sym typeface="Nunito"/>
              </a:rPr>
              <a:t> y luego </a:t>
            </a:r>
            <a:r>
              <a:rPr b="0" i="1" lang="en-US" sz="3200" u="none" cap="none" strike="noStrike">
                <a:solidFill>
                  <a:srgbClr val="FFBC19"/>
                </a:solidFill>
                <a:latin typeface="Nunito"/>
                <a:ea typeface="Nunito"/>
                <a:cs typeface="Nunito"/>
                <a:sym typeface="Nunito"/>
              </a:rPr>
              <a:t>"switchport mode trunk"</a:t>
            </a:r>
            <a:r>
              <a:rPr b="0" i="0" lang="en-US" sz="3200" u="none" cap="none" strike="noStrike">
                <a:solidFill>
                  <a:srgbClr val="FFBC19"/>
                </a:solidFill>
                <a:latin typeface="Nunito"/>
                <a:ea typeface="Nunito"/>
                <a:cs typeface="Nunito"/>
                <a:sym typeface="Nunito"/>
              </a:rPr>
              <a:t> para asignar el puerto a la VLAN.</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Donde [tipo] es el tipo de puerto, que puede ser </a:t>
            </a:r>
            <a:r>
              <a:rPr b="0" i="1" lang="en-US" sz="3200" u="none" cap="none" strike="noStrike">
                <a:solidFill>
                  <a:srgbClr val="FFBC19"/>
                </a:solidFill>
                <a:latin typeface="Nunito"/>
                <a:ea typeface="Nunito"/>
                <a:cs typeface="Nunito"/>
                <a:sym typeface="Nunito"/>
              </a:rPr>
              <a:t>"Ethernet"</a:t>
            </a:r>
            <a:r>
              <a:rPr b="0" i="0" lang="en-US" sz="3200" u="none" cap="none" strike="noStrike">
                <a:solidFill>
                  <a:srgbClr val="FFBC19"/>
                </a:solidFill>
                <a:latin typeface="Nunito"/>
                <a:ea typeface="Nunito"/>
                <a:cs typeface="Nunito"/>
                <a:sym typeface="Nunito"/>
              </a:rPr>
              <a:t> para puertos de red estándar, </a:t>
            </a:r>
            <a:r>
              <a:rPr b="0" i="1" lang="en-US" sz="3200" u="none" cap="none" strike="noStrike">
                <a:solidFill>
                  <a:srgbClr val="FFBC19"/>
                </a:solidFill>
                <a:latin typeface="Nunito"/>
                <a:ea typeface="Nunito"/>
                <a:cs typeface="Nunito"/>
                <a:sym typeface="Nunito"/>
              </a:rPr>
              <a:t>"GigabitEthernet"</a:t>
            </a:r>
            <a:r>
              <a:rPr b="0" i="0" lang="en-US" sz="3200" u="none" cap="none" strike="noStrike">
                <a:solidFill>
                  <a:srgbClr val="FFBC19"/>
                </a:solidFill>
                <a:latin typeface="Nunito"/>
                <a:ea typeface="Nunito"/>
                <a:cs typeface="Nunito"/>
                <a:sym typeface="Nunito"/>
              </a:rPr>
              <a:t> para puertos de alta velocidad, etc y </a:t>
            </a:r>
            <a:r>
              <a:rPr b="0" i="1" lang="en-US" sz="3200" u="none" cap="none" strike="noStrike">
                <a:solidFill>
                  <a:srgbClr val="FFBC19"/>
                </a:solidFill>
                <a:latin typeface="Nunito"/>
                <a:ea typeface="Nunito"/>
                <a:cs typeface="Nunito"/>
                <a:sym typeface="Nunito"/>
              </a:rPr>
              <a:t>[número]</a:t>
            </a:r>
            <a:r>
              <a:rPr b="0" i="0" lang="en-US" sz="3200" u="none" cap="none" strike="noStrike">
                <a:solidFill>
                  <a:srgbClr val="FFBC19"/>
                </a:solidFill>
                <a:latin typeface="Nunito"/>
                <a:ea typeface="Nunito"/>
                <a:cs typeface="Nunito"/>
                <a:sym typeface="Nunito"/>
              </a:rPr>
              <a:t> es el número de puerto, que puede ser un número o un rango de números.</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Para cambiar la VLAN nativa se usa el comando </a:t>
            </a:r>
            <a:r>
              <a:rPr b="0" i="1" lang="en-US" sz="3200" u="none" cap="none" strike="noStrike">
                <a:solidFill>
                  <a:srgbClr val="FFBC19"/>
                </a:solidFill>
                <a:latin typeface="Nunito"/>
                <a:ea typeface="Nunito"/>
                <a:cs typeface="Nunito"/>
                <a:sym typeface="Nunito"/>
              </a:rPr>
              <a:t>"switchport trunk native vlan [id]“</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Para cambiar el listado de VLANS permitidas en el enlace troncal se utiliza el comando </a:t>
            </a:r>
            <a:r>
              <a:rPr b="0" i="1" lang="en-US" sz="3200" u="none" cap="none" strike="noStrike">
                <a:solidFill>
                  <a:srgbClr val="FFBC19"/>
                </a:solidFill>
                <a:latin typeface="Nunito"/>
                <a:ea typeface="Nunito"/>
                <a:cs typeface="Nunito"/>
                <a:sym typeface="Nunito"/>
              </a:rPr>
              <a:t>“switchport trunk allowed vlan vlan1,vlan2,…,1002-1005"</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475" name="Shape 475"/>
        <p:cNvGrpSpPr/>
        <p:nvPr/>
      </p:nvGrpSpPr>
      <p:grpSpPr>
        <a:xfrm>
          <a:off x="0" y="0"/>
          <a:ext cx="0" cy="0"/>
          <a:chOff x="0" y="0"/>
          <a:chExt cx="0" cy="0"/>
        </a:xfrm>
      </p:grpSpPr>
      <p:sp>
        <p:nvSpPr>
          <p:cNvPr id="476" name="Google Shape;476;p30"/>
          <p:cNvSpPr/>
          <p:nvPr/>
        </p:nvSpPr>
        <p:spPr>
          <a:xfrm>
            <a:off x="2063086" y="772836"/>
            <a:ext cx="15692190" cy="8559376"/>
          </a:xfrm>
          <a:custGeom>
            <a:rect b="b" l="l" r="r" t="t"/>
            <a:pathLst>
              <a:path extrusionOk="0" h="8559376" w="15692190">
                <a:moveTo>
                  <a:pt x="0" y="0"/>
                </a:moveTo>
                <a:lnTo>
                  <a:pt x="15692190" y="0"/>
                </a:lnTo>
                <a:lnTo>
                  <a:pt x="15692190" y="8559376"/>
                </a:lnTo>
                <a:lnTo>
                  <a:pt x="0" y="8559376"/>
                </a:lnTo>
                <a:lnTo>
                  <a:pt x="0" y="0"/>
                </a:lnTo>
                <a:close/>
              </a:path>
            </a:pathLst>
          </a:custGeom>
          <a:blipFill rotWithShape="1">
            <a:blip r:embed="rId3">
              <a:alphaModFix/>
            </a:blip>
            <a:stretch>
              <a:fillRect b="0" l="0" r="0" t="0"/>
            </a:stretch>
          </a:blipFill>
          <a:ln>
            <a:noFill/>
          </a:ln>
        </p:spPr>
      </p:sp>
      <p:sp>
        <p:nvSpPr>
          <p:cNvPr id="477" name="Google Shape;477;p30"/>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4">
              <a:alphaModFix/>
            </a:blip>
            <a:stretch>
              <a:fillRect b="-18" l="0" r="0" t="-18"/>
            </a:stretch>
          </a:blipFill>
          <a:ln>
            <a:noFill/>
          </a:ln>
        </p:spPr>
      </p:sp>
      <p:sp>
        <p:nvSpPr>
          <p:cNvPr id="478" name="Google Shape;478;p30"/>
          <p:cNvSpPr txBox="1"/>
          <p:nvPr/>
        </p:nvSpPr>
        <p:spPr>
          <a:xfrm>
            <a:off x="3015837" y="3371798"/>
            <a:ext cx="14891804" cy="3745231"/>
          </a:xfrm>
          <a:prstGeom prst="rect">
            <a:avLst/>
          </a:prstGeom>
          <a:noFill/>
          <a:ln>
            <a:noFill/>
          </a:ln>
        </p:spPr>
        <p:txBody>
          <a:bodyPr anchorCtr="0" anchor="t" bIns="0" lIns="0" spcFirstLastPara="1" rIns="0" wrap="square" tIns="0">
            <a:spAutoFit/>
          </a:bodyPr>
          <a:lstStyle/>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configure </a:t>
            </a:r>
            <a:r>
              <a:rPr b="0" i="1" lang="en-US" sz="3199" u="none" cap="none" strike="noStrike">
                <a:solidFill>
                  <a:srgbClr val="5E17EB"/>
                </a:solidFill>
                <a:latin typeface="Nunito"/>
                <a:ea typeface="Nunito"/>
                <a:cs typeface="Nunito"/>
                <a:sym typeface="Nunito"/>
              </a:rPr>
              <a:t>terminal</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interface </a:t>
            </a:r>
            <a:r>
              <a:rPr b="0" i="1" lang="en-US" sz="3199" u="none" cap="none" strike="noStrike">
                <a:solidFill>
                  <a:srgbClr val="5E17EB"/>
                </a:solidFill>
                <a:latin typeface="Nunito"/>
                <a:ea typeface="Nunito"/>
                <a:cs typeface="Nunito"/>
                <a:sym typeface="Nunito"/>
              </a:rPr>
              <a:t>[tipo]</a:t>
            </a:r>
            <a:r>
              <a:rPr b="0" i="1" lang="en-US" sz="3199" u="none" cap="none" strike="noStrike">
                <a:solidFill>
                  <a:srgbClr val="FFBC19"/>
                </a:solidFill>
                <a:latin typeface="Nunito"/>
                <a:ea typeface="Nunito"/>
                <a:cs typeface="Nunito"/>
                <a:sym typeface="Nunito"/>
              </a:rPr>
              <a:t> [numero] </a:t>
            </a:r>
            <a:r>
              <a:rPr b="0" i="1" lang="en-US" sz="3199" u="none" cap="none" strike="noStrike">
                <a:solidFill>
                  <a:srgbClr val="000000"/>
                </a:solidFill>
                <a:latin typeface="Nunito"/>
                <a:ea typeface="Nunito"/>
                <a:cs typeface="Nunito"/>
                <a:sym typeface="Nunito"/>
              </a:rPr>
              <a:t>(ejemplo: interface FastEthernet 0/1)</a:t>
            </a:r>
            <a:endParaRPr/>
          </a:p>
          <a:p>
            <a:pPr indent="0" lvl="0" marL="0" marR="0" rtl="0" algn="l">
              <a:lnSpc>
                <a:spcPct val="179993"/>
              </a:lnSpc>
              <a:spcBef>
                <a:spcPts val="0"/>
              </a:spcBef>
              <a:spcAft>
                <a:spcPts val="0"/>
              </a:spcAft>
              <a:buNone/>
            </a:pPr>
            <a:r>
              <a:rPr b="0" i="1" lang="en-US" sz="3199" u="none" cap="none" strike="noStrike">
                <a:solidFill>
                  <a:srgbClr val="5E17EB"/>
                </a:solidFill>
                <a:latin typeface="Nunito"/>
                <a:ea typeface="Nunito"/>
                <a:cs typeface="Nunito"/>
                <a:sym typeface="Nunito"/>
              </a:rPr>
              <a:t>        switchport trunk encapsulation dot1q </a:t>
            </a:r>
            <a:r>
              <a:rPr b="0" i="1" lang="en-US" sz="3199" u="none" cap="none" strike="noStrike">
                <a:solidFill>
                  <a:srgbClr val="000000"/>
                </a:solidFill>
                <a:latin typeface="Nunito"/>
                <a:ea typeface="Nunito"/>
                <a:cs typeface="Nunito"/>
                <a:sym typeface="Nunito"/>
              </a:rPr>
              <a:t>(no necesario en switches modernos)</a:t>
            </a:r>
            <a:endParaRPr/>
          </a:p>
          <a:p>
            <a:pPr indent="0" lvl="0" marL="0" marR="0" rtl="0" algn="l">
              <a:lnSpc>
                <a:spcPct val="179993"/>
              </a:lnSpc>
              <a:spcBef>
                <a:spcPts val="0"/>
              </a:spcBef>
              <a:spcAft>
                <a:spcPts val="0"/>
              </a:spcAft>
              <a:buNone/>
            </a:pPr>
            <a:r>
              <a:rPr b="0" i="1" lang="en-US" sz="3199" u="none" cap="none" strike="noStrike">
                <a:solidFill>
                  <a:srgbClr val="5E17EB"/>
                </a:solidFill>
                <a:latin typeface="Nunito"/>
                <a:ea typeface="Nunito"/>
                <a:cs typeface="Nunito"/>
                <a:sym typeface="Nunito"/>
              </a:rPr>
              <a:t>        switchport mode trunk</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exit</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exit</a:t>
            </a:r>
            <a:endParaRPr/>
          </a:p>
        </p:txBody>
      </p:sp>
      <p:sp>
        <p:nvSpPr>
          <p:cNvPr id="479" name="Google Shape;479;p30"/>
          <p:cNvSpPr txBox="1"/>
          <p:nvPr/>
        </p:nvSpPr>
        <p:spPr>
          <a:xfrm>
            <a:off x="2063086" y="506136"/>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Modo Troncal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87" name="Shape 487"/>
        <p:cNvGrpSpPr/>
        <p:nvPr/>
      </p:nvGrpSpPr>
      <p:grpSpPr>
        <a:xfrm>
          <a:off x="0" y="0"/>
          <a:ext cx="0" cy="0"/>
          <a:chOff x="0" y="0"/>
          <a:chExt cx="0" cy="0"/>
        </a:xfrm>
      </p:grpSpPr>
      <p:sp>
        <p:nvSpPr>
          <p:cNvPr id="488" name="Google Shape;488;p31"/>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489" name="Google Shape;489;p31"/>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490" name="Google Shape;490;p31"/>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Verificación de la configuración</a:t>
            </a:r>
            <a:endParaRPr/>
          </a:p>
        </p:txBody>
      </p:sp>
      <p:sp>
        <p:nvSpPr>
          <p:cNvPr id="491" name="Google Shape;491;p31"/>
          <p:cNvSpPr txBox="1"/>
          <p:nvPr/>
        </p:nvSpPr>
        <p:spPr>
          <a:xfrm>
            <a:off x="2121417" y="2866425"/>
            <a:ext cx="14045166" cy="4685982"/>
          </a:xfrm>
          <a:prstGeom prst="rect">
            <a:avLst/>
          </a:prstGeom>
          <a:noFill/>
          <a:ln>
            <a:noFill/>
          </a:ln>
        </p:spPr>
        <p:txBody>
          <a:bodyPr anchorCtr="0" anchor="t" bIns="0" lIns="0" spcFirstLastPara="1" rIns="0" wrap="square" tIns="0">
            <a:spAutoFit/>
          </a:bodyPr>
          <a:lstStyle/>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Para verificar que la configuración de la VLAN y los puertos está correcta, se pueden utilizar los comandos </a:t>
            </a:r>
            <a:r>
              <a:rPr b="0" i="1" lang="en-US" sz="3200" u="none" cap="none" strike="noStrike">
                <a:solidFill>
                  <a:srgbClr val="FFBC19"/>
                </a:solidFill>
                <a:latin typeface="Nunito"/>
                <a:ea typeface="Nunito"/>
                <a:cs typeface="Nunito"/>
                <a:sym typeface="Nunito"/>
              </a:rPr>
              <a:t>"show vlan"</a:t>
            </a:r>
            <a:r>
              <a:rPr b="0" i="0" lang="en-US" sz="3200" u="none" cap="none" strike="noStrike">
                <a:solidFill>
                  <a:srgbClr val="FFBC19"/>
                </a:solidFill>
                <a:latin typeface="Nunito"/>
                <a:ea typeface="Nunito"/>
                <a:cs typeface="Nunito"/>
                <a:sym typeface="Nunito"/>
              </a:rPr>
              <a:t> y </a:t>
            </a:r>
            <a:r>
              <a:rPr b="0" i="1" lang="en-US" sz="3200" u="none" cap="none" strike="noStrike">
                <a:solidFill>
                  <a:srgbClr val="FFBC19"/>
                </a:solidFill>
                <a:latin typeface="Nunito"/>
                <a:ea typeface="Nunito"/>
                <a:cs typeface="Nunito"/>
                <a:sym typeface="Nunito"/>
              </a:rPr>
              <a:t>"show interfaces [tipo] [número] switchport" </a:t>
            </a:r>
            <a:r>
              <a:rPr b="0" i="0" lang="en-US" sz="3200" u="none" cap="none" strike="noStrike">
                <a:solidFill>
                  <a:srgbClr val="FFBC19"/>
                </a:solidFill>
                <a:latin typeface="Nunito"/>
                <a:ea typeface="Nunito"/>
                <a:cs typeface="Nunito"/>
                <a:sym typeface="Nunito"/>
              </a:rPr>
              <a:t>respectivamente.</a:t>
            </a:r>
            <a:endParaRPr/>
          </a:p>
          <a:p>
            <a:pPr indent="-243841" lvl="2" marL="731522" marR="0" rtl="0" algn="l">
              <a:lnSpc>
                <a:spcPct val="168000"/>
              </a:lnSpc>
              <a:spcBef>
                <a:spcPts val="0"/>
              </a:spcBef>
              <a:spcAft>
                <a:spcPts val="0"/>
              </a:spcAft>
              <a:buClr>
                <a:srgbClr val="FFBC19"/>
              </a:buClr>
              <a:buSzPts val="3200"/>
              <a:buFont typeface="Arial"/>
              <a:buChar char="⚬"/>
            </a:pPr>
            <a:r>
              <a:rPr b="0" i="1" lang="en-US" sz="3200" u="none" cap="none" strike="noStrike">
                <a:solidFill>
                  <a:srgbClr val="FFBC19"/>
                </a:solidFill>
                <a:latin typeface="Nunito"/>
                <a:ea typeface="Nunito"/>
                <a:cs typeface="Nunito"/>
                <a:sym typeface="Nunito"/>
              </a:rPr>
              <a:t>"show vlan"</a:t>
            </a:r>
            <a:r>
              <a:rPr b="0" i="0" lang="en-US" sz="3200" u="none" cap="none" strike="noStrike">
                <a:solidFill>
                  <a:srgbClr val="FFBC19"/>
                </a:solidFill>
                <a:latin typeface="Nunito"/>
                <a:ea typeface="Nunito"/>
                <a:cs typeface="Nunito"/>
                <a:sym typeface="Nunito"/>
              </a:rPr>
              <a:t> mostrará las VLAN configuradas en el switch y los puertos asociados a cada VLAN.</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Para verificar que el puerto se ha configurado correctamente en modo troncal o de acceso, se puede utilizar el comando </a:t>
            </a:r>
            <a:r>
              <a:rPr b="0" i="1" lang="en-US" sz="3200" u="none" cap="none" strike="noStrike">
                <a:solidFill>
                  <a:srgbClr val="FFBC19"/>
                </a:solidFill>
                <a:latin typeface="Nunito"/>
                <a:ea typeface="Nunito"/>
                <a:cs typeface="Nunito"/>
                <a:sym typeface="Nunito"/>
              </a:rPr>
              <a:t>"show interfaces [tipo] [número] switchport"</a:t>
            </a:r>
            <a:r>
              <a:rPr b="0" i="0" lang="en-US" sz="3200" u="none" cap="none" strike="noStrike">
                <a:solidFill>
                  <a:srgbClr val="FFBC19"/>
                </a:solidFill>
                <a:latin typeface="Nunito"/>
                <a:ea typeface="Nunito"/>
                <a:cs typeface="Nunito"/>
                <a:sym typeface="Nunito"/>
              </a:rPr>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99" name="Shape 499"/>
        <p:cNvGrpSpPr/>
        <p:nvPr/>
      </p:nvGrpSpPr>
      <p:grpSpPr>
        <a:xfrm>
          <a:off x="0" y="0"/>
          <a:ext cx="0" cy="0"/>
          <a:chOff x="0" y="0"/>
          <a:chExt cx="0" cy="0"/>
        </a:xfrm>
      </p:grpSpPr>
      <p:sp>
        <p:nvSpPr>
          <p:cNvPr id="500" name="Google Shape;500;p32"/>
          <p:cNvSpPr/>
          <p:nvPr/>
        </p:nvSpPr>
        <p:spPr>
          <a:xfrm>
            <a:off x="-3186246" y="5846282"/>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501" name="Google Shape;501;p32"/>
          <p:cNvSpPr/>
          <p:nvPr/>
        </p:nvSpPr>
        <p:spPr>
          <a:xfrm>
            <a:off x="10439817" y="5838901"/>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502" name="Google Shape;502;p32"/>
          <p:cNvSpPr/>
          <p:nvPr/>
        </p:nvSpPr>
        <p:spPr>
          <a:xfrm>
            <a:off x="-1303650" y="-205740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503" name="Google Shape;503;p32"/>
          <p:cNvSpPr/>
          <p:nvPr/>
        </p:nvSpPr>
        <p:spPr>
          <a:xfrm>
            <a:off x="14415333" y="-1658266"/>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504" name="Google Shape;504;p32"/>
          <p:cNvSpPr txBox="1"/>
          <p:nvPr/>
        </p:nvSpPr>
        <p:spPr>
          <a:xfrm>
            <a:off x="1603864" y="2424603"/>
            <a:ext cx="15080273" cy="2849112"/>
          </a:xfrm>
          <a:prstGeom prst="rect">
            <a:avLst/>
          </a:prstGeom>
          <a:noFill/>
          <a:ln>
            <a:noFill/>
          </a:ln>
        </p:spPr>
        <p:txBody>
          <a:bodyPr anchorCtr="0" anchor="t" bIns="0" lIns="0" spcFirstLastPara="1" rIns="0" wrap="square" tIns="0">
            <a:spAutoFit/>
          </a:bodyPr>
          <a:lstStyle/>
          <a:p>
            <a:pPr indent="0" lvl="0" marL="0" marR="0" rtl="0" algn="ctr">
              <a:lnSpc>
                <a:spcPct val="168010"/>
              </a:lnSpc>
              <a:spcBef>
                <a:spcPts val="0"/>
              </a:spcBef>
              <a:spcAft>
                <a:spcPts val="0"/>
              </a:spcAft>
              <a:buNone/>
            </a:pPr>
            <a:r>
              <a:rPr b="0" i="0" lang="en-US" sz="11954" u="none" cap="none" strike="noStrike">
                <a:solidFill>
                  <a:srgbClr val="FFBC19"/>
                </a:solidFill>
                <a:latin typeface="Arial"/>
                <a:ea typeface="Arial"/>
                <a:cs typeface="Arial"/>
                <a:sym typeface="Arial"/>
              </a:rPr>
              <a:t>PROTOCOLO VTP</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512" name="Shape 512"/>
        <p:cNvGrpSpPr/>
        <p:nvPr/>
      </p:nvGrpSpPr>
      <p:grpSpPr>
        <a:xfrm>
          <a:off x="0" y="0"/>
          <a:ext cx="0" cy="0"/>
          <a:chOff x="0" y="0"/>
          <a:chExt cx="0" cy="0"/>
        </a:xfrm>
      </p:grpSpPr>
      <p:sp>
        <p:nvSpPr>
          <p:cNvPr id="513" name="Google Shape;513;p33"/>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514" name="Google Shape;514;p33"/>
          <p:cNvSpPr/>
          <p:nvPr/>
        </p:nvSpPr>
        <p:spPr>
          <a:xfrm>
            <a:off x="8590999" y="2984742"/>
            <a:ext cx="8939212" cy="5494591"/>
          </a:xfrm>
          <a:custGeom>
            <a:rect b="b" l="l" r="r" t="t"/>
            <a:pathLst>
              <a:path extrusionOk="0" h="7326122" w="11918950">
                <a:moveTo>
                  <a:pt x="0" y="0"/>
                </a:moveTo>
                <a:lnTo>
                  <a:pt x="11918950" y="0"/>
                </a:lnTo>
                <a:lnTo>
                  <a:pt x="11918950" y="7326122"/>
                </a:lnTo>
                <a:lnTo>
                  <a:pt x="0" y="7326122"/>
                </a:lnTo>
                <a:lnTo>
                  <a:pt x="0" y="0"/>
                </a:lnTo>
                <a:close/>
              </a:path>
            </a:pathLst>
          </a:custGeom>
          <a:blipFill rotWithShape="1">
            <a:blip r:embed="rId4">
              <a:alphaModFix/>
            </a:blip>
            <a:stretch>
              <a:fillRect b="0" l="0" r="0" t="0"/>
            </a:stretch>
          </a:blipFill>
          <a:ln>
            <a:noFill/>
          </a:ln>
        </p:spPr>
      </p:sp>
      <p:sp>
        <p:nvSpPr>
          <p:cNvPr id="515" name="Google Shape;515;p33"/>
          <p:cNvSpPr txBox="1"/>
          <p:nvPr/>
        </p:nvSpPr>
        <p:spPr>
          <a:xfrm>
            <a:off x="1833210" y="3126013"/>
            <a:ext cx="5703923" cy="4945381"/>
          </a:xfrm>
          <a:prstGeom prst="rect">
            <a:avLst/>
          </a:prstGeom>
          <a:noFill/>
          <a:ln>
            <a:noFill/>
          </a:ln>
        </p:spPr>
        <p:txBody>
          <a:bodyPr anchorCtr="0" anchor="t" bIns="0" lIns="0" spcFirstLastPara="1" rIns="0" wrap="square" tIns="0">
            <a:spAutoFit/>
          </a:bodyPr>
          <a:lstStyle/>
          <a:p>
            <a:pPr indent="0" lvl="0" marL="0" marR="0" rtl="0" algn="l">
              <a:lnSpc>
                <a:spcPct val="179993"/>
              </a:lnSpc>
              <a:spcBef>
                <a:spcPts val="0"/>
              </a:spcBef>
              <a:spcAft>
                <a:spcPts val="0"/>
              </a:spcAft>
              <a:buNone/>
            </a:pPr>
            <a:r>
              <a:rPr b="0" i="0" lang="en-US" sz="3199" u="none" cap="none" strike="noStrike">
                <a:solidFill>
                  <a:srgbClr val="1C030C"/>
                </a:solidFill>
                <a:latin typeface="Nunito"/>
                <a:ea typeface="Nunito"/>
                <a:cs typeface="Nunito"/>
                <a:sym typeface="Nunito"/>
              </a:rPr>
              <a:t>Es un protocolo de red que permite a los dispositivos en una red compartir información sobre las VLAN. Esto simplifica la configuración de las VLAN y asegura que los dispositivos tengan la misma información sobre las VLAN en toda la red.</a:t>
            </a:r>
            <a:endParaRPr/>
          </a:p>
        </p:txBody>
      </p:sp>
      <p:sp>
        <p:nvSpPr>
          <p:cNvPr id="516" name="Google Shape;516;p33"/>
          <p:cNvSpPr txBox="1"/>
          <p:nvPr/>
        </p:nvSpPr>
        <p:spPr>
          <a:xfrm>
            <a:off x="694632" y="506136"/>
            <a:ext cx="15530283"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VTP – Protocolo de troncalización de VLAN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524" name="Shape 524"/>
        <p:cNvGrpSpPr/>
        <p:nvPr/>
      </p:nvGrpSpPr>
      <p:grpSpPr>
        <a:xfrm>
          <a:off x="0" y="0"/>
          <a:ext cx="0" cy="0"/>
          <a:chOff x="0" y="0"/>
          <a:chExt cx="0" cy="0"/>
        </a:xfrm>
      </p:grpSpPr>
      <p:sp>
        <p:nvSpPr>
          <p:cNvPr id="525" name="Google Shape;525;p34"/>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526" name="Google Shape;526;p34"/>
          <p:cNvSpPr txBox="1"/>
          <p:nvPr/>
        </p:nvSpPr>
        <p:spPr>
          <a:xfrm>
            <a:off x="1887818" y="2984449"/>
            <a:ext cx="14512363" cy="4993006"/>
          </a:xfrm>
          <a:prstGeom prst="rect">
            <a:avLst/>
          </a:prstGeom>
          <a:noFill/>
          <a:ln>
            <a:noFill/>
          </a:ln>
        </p:spPr>
        <p:txBody>
          <a:bodyPr anchorCtr="0" anchor="t" bIns="0" lIns="0" spcFirstLastPara="1" rIns="0" wrap="square" tIns="0">
            <a:spAutoFit/>
          </a:bodyPr>
          <a:lstStyle/>
          <a:p>
            <a:pPr indent="-243798" lvl="2" marL="731398" marR="0" rtl="0" algn="l">
              <a:lnSpc>
                <a:spcPct val="179993"/>
              </a:lnSpc>
              <a:spcBef>
                <a:spcPts val="0"/>
              </a:spcBef>
              <a:spcAft>
                <a:spcPts val="0"/>
              </a:spcAft>
              <a:buClr>
                <a:srgbClr val="1C030C"/>
              </a:buClr>
              <a:buSzPts val="3199"/>
              <a:buFont typeface="Arial"/>
              <a:buChar char="⚬"/>
            </a:pPr>
            <a:r>
              <a:rPr b="1" i="0" lang="en-US" sz="3199" u="none" cap="none" strike="noStrike">
                <a:solidFill>
                  <a:srgbClr val="1C030C"/>
                </a:solidFill>
                <a:latin typeface="Nunito"/>
                <a:ea typeface="Nunito"/>
                <a:cs typeface="Nunito"/>
                <a:sym typeface="Nunito"/>
              </a:rPr>
              <a:t>Modo Servidor:</a:t>
            </a:r>
            <a:r>
              <a:rPr b="0" i="0" lang="en-US" sz="3199" u="none" cap="none" strike="noStrike">
                <a:solidFill>
                  <a:srgbClr val="1C030C"/>
                </a:solidFill>
                <a:latin typeface="Nunito"/>
                <a:ea typeface="Nunito"/>
                <a:cs typeface="Nunito"/>
                <a:sym typeface="Nunito"/>
              </a:rPr>
              <a:t> En este modo, los switches pueden crear, modificar o eliminar VLAN y propagar esa información a otros switches en la red VTP. El modo servidor es el modo predeterminado para la mayoría de los switches.</a:t>
            </a:r>
            <a:endParaRPr/>
          </a:p>
          <a:p>
            <a:pPr indent="-243798" lvl="2" marL="731398" marR="0" rtl="0" algn="l">
              <a:lnSpc>
                <a:spcPct val="179993"/>
              </a:lnSpc>
              <a:spcBef>
                <a:spcPts val="0"/>
              </a:spcBef>
              <a:spcAft>
                <a:spcPts val="0"/>
              </a:spcAft>
              <a:buClr>
                <a:srgbClr val="1C030C"/>
              </a:buClr>
              <a:buSzPts val="3199"/>
              <a:buFont typeface="Arial"/>
              <a:buChar char="⚬"/>
            </a:pPr>
            <a:r>
              <a:rPr b="1" i="0" lang="en-US" sz="3199" u="none" cap="none" strike="noStrike">
                <a:solidFill>
                  <a:srgbClr val="1C030C"/>
                </a:solidFill>
                <a:latin typeface="Nunito"/>
                <a:ea typeface="Nunito"/>
                <a:cs typeface="Nunito"/>
                <a:sym typeface="Nunito"/>
              </a:rPr>
              <a:t>Modo Cliente:</a:t>
            </a:r>
            <a:r>
              <a:rPr b="0" i="0" lang="en-US" sz="3199" u="none" cap="none" strike="noStrike">
                <a:solidFill>
                  <a:srgbClr val="1C030C"/>
                </a:solidFill>
                <a:latin typeface="Nunito"/>
                <a:ea typeface="Nunito"/>
                <a:cs typeface="Nunito"/>
                <a:sym typeface="Nunito"/>
              </a:rPr>
              <a:t> En este modo, los switches reciben actualizaciones de VLAN de los switches en modo servidor, pero no pueden crear, modificar o eliminar VLAN. Los cambios en VLAN solo pueden ser realizados por switches en modo servidor.</a:t>
            </a:r>
            <a:endParaRPr/>
          </a:p>
        </p:txBody>
      </p:sp>
      <p:sp>
        <p:nvSpPr>
          <p:cNvPr id="527" name="Google Shape;527;p34"/>
          <p:cNvSpPr txBox="1"/>
          <p:nvPr/>
        </p:nvSpPr>
        <p:spPr>
          <a:xfrm>
            <a:off x="694632" y="506136"/>
            <a:ext cx="15530400"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Modos de operación del VTP</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535" name="Shape 535"/>
        <p:cNvGrpSpPr/>
        <p:nvPr/>
      </p:nvGrpSpPr>
      <p:grpSpPr>
        <a:xfrm>
          <a:off x="0" y="0"/>
          <a:ext cx="0" cy="0"/>
          <a:chOff x="0" y="0"/>
          <a:chExt cx="0" cy="0"/>
        </a:xfrm>
      </p:grpSpPr>
      <p:sp>
        <p:nvSpPr>
          <p:cNvPr id="536" name="Google Shape;536;p35"/>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537" name="Google Shape;537;p35"/>
          <p:cNvSpPr txBox="1"/>
          <p:nvPr/>
        </p:nvSpPr>
        <p:spPr>
          <a:xfrm>
            <a:off x="1887819" y="1968341"/>
            <a:ext cx="14512363" cy="6169343"/>
          </a:xfrm>
          <a:prstGeom prst="rect">
            <a:avLst/>
          </a:prstGeom>
          <a:noFill/>
          <a:ln>
            <a:noFill/>
          </a:ln>
        </p:spPr>
        <p:txBody>
          <a:bodyPr anchorCtr="0" anchor="t" bIns="0" lIns="0" spcFirstLastPara="1" rIns="0" wrap="square" tIns="0">
            <a:spAutoFit/>
          </a:bodyPr>
          <a:lstStyle/>
          <a:p>
            <a:pPr indent="-243798" lvl="2" marL="731398" marR="0" rtl="0" algn="l">
              <a:lnSpc>
                <a:spcPct val="179993"/>
              </a:lnSpc>
              <a:spcBef>
                <a:spcPts val="0"/>
              </a:spcBef>
              <a:spcAft>
                <a:spcPts val="0"/>
              </a:spcAft>
              <a:buClr>
                <a:srgbClr val="1C030C"/>
              </a:buClr>
              <a:buSzPts val="3199"/>
              <a:buFont typeface="Arial"/>
              <a:buChar char="⚬"/>
            </a:pPr>
            <a:r>
              <a:rPr b="1" i="0" lang="en-US" sz="3199" u="none" cap="none" strike="noStrike">
                <a:solidFill>
                  <a:srgbClr val="1C030C"/>
                </a:solidFill>
                <a:latin typeface="Nunito"/>
                <a:ea typeface="Nunito"/>
                <a:cs typeface="Nunito"/>
                <a:sym typeface="Nunito"/>
              </a:rPr>
              <a:t>Modo Transparente:</a:t>
            </a:r>
            <a:r>
              <a:rPr b="0" i="0" lang="en-US" sz="3199" u="none" cap="none" strike="noStrike">
                <a:solidFill>
                  <a:srgbClr val="1C030C"/>
                </a:solidFill>
                <a:latin typeface="Nunito"/>
                <a:ea typeface="Nunito"/>
                <a:cs typeface="Nunito"/>
                <a:sym typeface="Nunito"/>
              </a:rPr>
              <a:t> En este modo, los switches no participan en la propagación de información de VLAN a través de la red VTP. Los switches en modo transparente simplemente pasan a través cualquier tráfico de VLAN que reciben y no realizan ningún cambio en la configuración de VLAN de la red.</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None/>
            </a:pPr>
            <a:r>
              <a:rPr b="0" i="0" lang="en-US" sz="3199" u="none" cap="none" strike="noStrike">
                <a:solidFill>
                  <a:srgbClr val="1C030C"/>
                </a:solidFill>
                <a:latin typeface="Nunito"/>
                <a:ea typeface="Nunito"/>
                <a:cs typeface="Nunito"/>
                <a:sym typeface="Nunito"/>
              </a:rPr>
              <a:t>Es importante tener en cuenta que los cambios realizados en un switch en modo transparente no se propagan automáticamente a través de la red VTP. Cualquier cambio realizado en un switch en modo transparente debe ser realizado manualmente en cada uno de los switches conectados a la red.</a:t>
            </a:r>
            <a:endParaRPr/>
          </a:p>
        </p:txBody>
      </p:sp>
      <p:sp>
        <p:nvSpPr>
          <p:cNvPr id="538" name="Google Shape;538;p35"/>
          <p:cNvSpPr txBox="1"/>
          <p:nvPr/>
        </p:nvSpPr>
        <p:spPr>
          <a:xfrm>
            <a:off x="694632" y="506136"/>
            <a:ext cx="15530283"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Modos de operación del VTP</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546" name="Shape 546"/>
        <p:cNvGrpSpPr/>
        <p:nvPr/>
      </p:nvGrpSpPr>
      <p:grpSpPr>
        <a:xfrm>
          <a:off x="0" y="0"/>
          <a:ext cx="0" cy="0"/>
          <a:chOff x="0" y="0"/>
          <a:chExt cx="0" cy="0"/>
        </a:xfrm>
      </p:grpSpPr>
      <p:sp>
        <p:nvSpPr>
          <p:cNvPr id="547" name="Google Shape;547;p36"/>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548" name="Google Shape;548;p36"/>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549" name="Google Shape;549;p36"/>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¿Cómo funciona el VTP?</a:t>
            </a:r>
            <a:endParaRPr/>
          </a:p>
        </p:txBody>
      </p:sp>
      <p:sp>
        <p:nvSpPr>
          <p:cNvPr id="550" name="Google Shape;550;p36"/>
          <p:cNvSpPr txBox="1"/>
          <p:nvPr/>
        </p:nvSpPr>
        <p:spPr>
          <a:xfrm>
            <a:off x="2121417" y="2866425"/>
            <a:ext cx="14045166" cy="2366645"/>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3200" u="none" cap="none" strike="noStrike">
                <a:solidFill>
                  <a:srgbClr val="FFBC19"/>
                </a:solidFill>
                <a:latin typeface="Nunito"/>
                <a:ea typeface="Nunito"/>
                <a:cs typeface="Nunito"/>
                <a:sym typeface="Nunito"/>
              </a:rPr>
              <a:t>El VTP funciona a través de mensajes de control que se envían entre los dispositivos de la red. Los mensajes de control contienen información sobre las VLAN, como sus nombres y números, y los dispositivos de la red utilizan esta información para configurar sus propias VLAN. El proceso es así:</a:t>
            </a:r>
            <a:endParaRPr/>
          </a:p>
        </p:txBody>
      </p:sp>
      <p:sp>
        <p:nvSpPr>
          <p:cNvPr id="551" name="Google Shape;551;p36"/>
          <p:cNvSpPr txBox="1"/>
          <p:nvPr/>
        </p:nvSpPr>
        <p:spPr>
          <a:xfrm>
            <a:off x="2002480" y="5793396"/>
            <a:ext cx="504327" cy="683261"/>
          </a:xfrm>
          <a:prstGeom prst="rect">
            <a:avLst/>
          </a:prstGeom>
          <a:noFill/>
          <a:ln>
            <a:noFill/>
          </a:ln>
        </p:spPr>
        <p:txBody>
          <a:bodyPr anchorCtr="0" anchor="t" bIns="0" lIns="0" spcFirstLastPara="1" rIns="0" wrap="square" tIns="0">
            <a:spAutoFit/>
          </a:bodyPr>
          <a:lstStyle/>
          <a:p>
            <a:pPr indent="0" lvl="0" marL="0" marR="0" rtl="0" algn="ctr">
              <a:lnSpc>
                <a:spcPct val="167989"/>
              </a:lnSpc>
              <a:spcBef>
                <a:spcPts val="0"/>
              </a:spcBef>
              <a:spcAft>
                <a:spcPts val="0"/>
              </a:spcAft>
              <a:buNone/>
            </a:pPr>
            <a:r>
              <a:rPr b="1" i="0" lang="en-US" sz="3099" u="none" cap="none" strike="noStrike">
                <a:solidFill>
                  <a:srgbClr val="FFBC19"/>
                </a:solidFill>
                <a:latin typeface="Nunito"/>
                <a:ea typeface="Nunito"/>
                <a:cs typeface="Nunito"/>
                <a:sym typeface="Nunito"/>
              </a:rPr>
              <a:t>1.</a:t>
            </a:r>
            <a:endParaRPr/>
          </a:p>
        </p:txBody>
      </p:sp>
      <p:sp>
        <p:nvSpPr>
          <p:cNvPr id="552" name="Google Shape;552;p36"/>
          <p:cNvSpPr txBox="1"/>
          <p:nvPr/>
        </p:nvSpPr>
        <p:spPr>
          <a:xfrm>
            <a:off x="2624757" y="5802921"/>
            <a:ext cx="13541826" cy="180467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3200" u="none" cap="none" strike="noStrike">
                <a:solidFill>
                  <a:srgbClr val="FFBC19"/>
                </a:solidFill>
                <a:latin typeface="Nunito"/>
                <a:ea typeface="Nunito"/>
                <a:cs typeface="Nunito"/>
                <a:sym typeface="Nunito"/>
              </a:rPr>
              <a:t>Cuando se configura un switch en modo servidor o en modo cliente, se le asigna un nombre de dominio VTP. Todos los switches en una red VTP deben tener el mismo nombre de dominio.</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560" name="Shape 560"/>
        <p:cNvGrpSpPr/>
        <p:nvPr/>
      </p:nvGrpSpPr>
      <p:grpSpPr>
        <a:xfrm>
          <a:off x="0" y="0"/>
          <a:ext cx="0" cy="0"/>
          <a:chOff x="0" y="0"/>
          <a:chExt cx="0" cy="0"/>
        </a:xfrm>
      </p:grpSpPr>
      <p:sp>
        <p:nvSpPr>
          <p:cNvPr id="561" name="Google Shape;561;p37"/>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562" name="Google Shape;562;p37"/>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563" name="Google Shape;563;p37"/>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¿Cómo funciona el VTP?</a:t>
            </a:r>
            <a:endParaRPr/>
          </a:p>
        </p:txBody>
      </p:sp>
      <p:sp>
        <p:nvSpPr>
          <p:cNvPr id="564" name="Google Shape;564;p37"/>
          <p:cNvSpPr txBox="1"/>
          <p:nvPr/>
        </p:nvSpPr>
        <p:spPr>
          <a:xfrm>
            <a:off x="2061948" y="2616765"/>
            <a:ext cx="504327" cy="683261"/>
          </a:xfrm>
          <a:prstGeom prst="rect">
            <a:avLst/>
          </a:prstGeom>
          <a:noFill/>
          <a:ln>
            <a:noFill/>
          </a:ln>
        </p:spPr>
        <p:txBody>
          <a:bodyPr anchorCtr="0" anchor="t" bIns="0" lIns="0" spcFirstLastPara="1" rIns="0" wrap="square" tIns="0">
            <a:spAutoFit/>
          </a:bodyPr>
          <a:lstStyle/>
          <a:p>
            <a:pPr indent="0" lvl="0" marL="0" marR="0" rtl="0" algn="ctr">
              <a:lnSpc>
                <a:spcPct val="167989"/>
              </a:lnSpc>
              <a:spcBef>
                <a:spcPts val="0"/>
              </a:spcBef>
              <a:spcAft>
                <a:spcPts val="0"/>
              </a:spcAft>
              <a:buNone/>
            </a:pPr>
            <a:r>
              <a:rPr b="1" i="0" lang="en-US" sz="3099" u="none" cap="none" strike="noStrike">
                <a:solidFill>
                  <a:srgbClr val="FFBC19"/>
                </a:solidFill>
                <a:latin typeface="Nunito"/>
                <a:ea typeface="Nunito"/>
                <a:cs typeface="Nunito"/>
                <a:sym typeface="Nunito"/>
              </a:rPr>
              <a:t>2.</a:t>
            </a:r>
            <a:endParaRPr/>
          </a:p>
        </p:txBody>
      </p:sp>
      <p:sp>
        <p:nvSpPr>
          <p:cNvPr id="565" name="Google Shape;565;p37"/>
          <p:cNvSpPr txBox="1"/>
          <p:nvPr/>
        </p:nvSpPr>
        <p:spPr>
          <a:xfrm>
            <a:off x="2684225" y="2626290"/>
            <a:ext cx="13541700" cy="573840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3200" u="none" cap="none" strike="noStrike">
                <a:solidFill>
                  <a:srgbClr val="FFBC19"/>
                </a:solidFill>
                <a:latin typeface="Nunito"/>
                <a:ea typeface="Nunito"/>
                <a:cs typeface="Nunito"/>
                <a:sym typeface="Nunito"/>
              </a:rPr>
              <a:t>Los switches en modo servidor envían mensajes VTP periódicos a todos los switches en la red VTP. Estos mensajes contienen información sobre las VLAN, como nombres y números de VLAN, y las actualizaciones que se han realizado a la configuración de VLAN.</a:t>
            </a:r>
            <a:endParaRPr/>
          </a:p>
          <a:p>
            <a:pPr indent="0" lvl="0" marL="0" marR="0" rtl="0" algn="l">
              <a:lnSpc>
                <a:spcPct val="73468"/>
              </a:lnSpc>
              <a:spcBef>
                <a:spcPts val="0"/>
              </a:spcBef>
              <a:spcAft>
                <a:spcPts val="0"/>
              </a:spcAft>
              <a:buNone/>
            </a:pPr>
            <a:r>
              <a:t/>
            </a:r>
            <a:endParaRPr b="0" i="0" sz="3200" u="none" cap="none" strike="noStrike">
              <a:solidFill>
                <a:srgbClr val="FFBC19"/>
              </a:solidFill>
              <a:latin typeface="Nunito"/>
              <a:ea typeface="Nunito"/>
              <a:cs typeface="Nunito"/>
              <a:sym typeface="Nunito"/>
            </a:endParaRPr>
          </a:p>
          <a:p>
            <a:pPr indent="0" lvl="0" marL="0" marR="0" rtl="0" algn="l">
              <a:lnSpc>
                <a:spcPct val="168000"/>
              </a:lnSpc>
              <a:spcBef>
                <a:spcPts val="0"/>
              </a:spcBef>
              <a:spcAft>
                <a:spcPts val="0"/>
              </a:spcAft>
              <a:buNone/>
            </a:pPr>
            <a:r>
              <a:rPr b="0" i="0" lang="en-US" sz="3200" u="none" cap="none" strike="noStrike">
                <a:solidFill>
                  <a:srgbClr val="FFBC19"/>
                </a:solidFill>
                <a:latin typeface="Nunito"/>
                <a:ea typeface="Nunito"/>
                <a:cs typeface="Nunito"/>
                <a:sym typeface="Nunito"/>
              </a:rPr>
              <a:t>Cuando un switch en modo cliente recibe un mensaje VTP de un switch en modo servidor, compara la información contenida en el mensaje con su propia configuración de VLAN. Si hay alguna diferencia, el switch en modo cliente actualiza su configuración de VLAN para que coincida con la información en el mensaje.</a:t>
            </a:r>
            <a:endParaRPr/>
          </a:p>
        </p:txBody>
      </p:sp>
      <p:sp>
        <p:nvSpPr>
          <p:cNvPr id="566" name="Google Shape;566;p37"/>
          <p:cNvSpPr txBox="1"/>
          <p:nvPr/>
        </p:nvSpPr>
        <p:spPr>
          <a:xfrm>
            <a:off x="2061948" y="5435069"/>
            <a:ext cx="504327" cy="683261"/>
          </a:xfrm>
          <a:prstGeom prst="rect">
            <a:avLst/>
          </a:prstGeom>
          <a:noFill/>
          <a:ln>
            <a:noFill/>
          </a:ln>
        </p:spPr>
        <p:txBody>
          <a:bodyPr anchorCtr="0" anchor="t" bIns="0" lIns="0" spcFirstLastPara="1" rIns="0" wrap="square" tIns="0">
            <a:spAutoFit/>
          </a:bodyPr>
          <a:lstStyle/>
          <a:p>
            <a:pPr indent="0" lvl="0" marL="0" marR="0" rtl="0" algn="ctr">
              <a:lnSpc>
                <a:spcPct val="167989"/>
              </a:lnSpc>
              <a:spcBef>
                <a:spcPts val="0"/>
              </a:spcBef>
              <a:spcAft>
                <a:spcPts val="0"/>
              </a:spcAft>
              <a:buNone/>
            </a:pPr>
            <a:r>
              <a:rPr b="1" i="0" lang="en-US" sz="3099" u="none" cap="none" strike="noStrike">
                <a:solidFill>
                  <a:srgbClr val="FFBC19"/>
                </a:solidFill>
                <a:latin typeface="Nunito"/>
                <a:ea typeface="Nunito"/>
                <a:cs typeface="Nunito"/>
                <a:sym typeface="Nunito"/>
              </a:rPr>
              <a:t>3.</a:t>
            </a:r>
            <a:endParaRPr/>
          </a:p>
        </p:txBody>
      </p:sp>
      <p:sp>
        <p:nvSpPr>
          <p:cNvPr id="567" name="Google Shape;567;p37"/>
          <p:cNvSpPr/>
          <p:nvPr/>
        </p:nvSpPr>
        <p:spPr>
          <a:xfrm>
            <a:off x="-2476550" y="491775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575" name="Shape 575"/>
        <p:cNvGrpSpPr/>
        <p:nvPr/>
      </p:nvGrpSpPr>
      <p:grpSpPr>
        <a:xfrm>
          <a:off x="0" y="0"/>
          <a:ext cx="0" cy="0"/>
          <a:chOff x="0" y="0"/>
          <a:chExt cx="0" cy="0"/>
        </a:xfrm>
      </p:grpSpPr>
      <p:sp>
        <p:nvSpPr>
          <p:cNvPr id="576" name="Google Shape;576;p38"/>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577" name="Google Shape;577;p38"/>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578" name="Google Shape;578;p38"/>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¿Cómo funciona el VTP?</a:t>
            </a:r>
            <a:endParaRPr/>
          </a:p>
        </p:txBody>
      </p:sp>
      <p:sp>
        <p:nvSpPr>
          <p:cNvPr id="579" name="Google Shape;579;p38"/>
          <p:cNvSpPr txBox="1"/>
          <p:nvPr/>
        </p:nvSpPr>
        <p:spPr>
          <a:xfrm>
            <a:off x="2121417" y="2488920"/>
            <a:ext cx="14045166" cy="630047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3200" u="none" cap="none" strike="noStrike">
                <a:solidFill>
                  <a:srgbClr val="FFBC19"/>
                </a:solidFill>
                <a:latin typeface="Nunito"/>
                <a:ea typeface="Nunito"/>
                <a:cs typeface="Nunito"/>
                <a:sym typeface="Nunito"/>
              </a:rPr>
              <a:t>Los switches en modo transparente no participan en la propagación de información de VLAN. En su lugar, solo pasan a través cualquier tráfico de VLAN que reciben y no realizan ningún cambio en la configuración de VLAN de la red.</a:t>
            </a:r>
            <a:endParaRPr/>
          </a:p>
          <a:p>
            <a:pPr indent="0" lvl="0" marL="0" marR="0" rtl="0" algn="l">
              <a:lnSpc>
                <a:spcPct val="73468"/>
              </a:lnSpc>
              <a:spcBef>
                <a:spcPts val="0"/>
              </a:spcBef>
              <a:spcAft>
                <a:spcPts val="0"/>
              </a:spcAft>
              <a:buNone/>
            </a:pPr>
            <a:r>
              <a:t/>
            </a:r>
            <a:endParaRPr b="0" i="0" sz="3200" u="none" cap="none" strike="noStrike">
              <a:solidFill>
                <a:srgbClr val="FFBC19"/>
              </a:solidFill>
              <a:latin typeface="Nunito"/>
              <a:ea typeface="Nunito"/>
              <a:cs typeface="Nunito"/>
              <a:sym typeface="Nunito"/>
            </a:endParaRPr>
          </a:p>
          <a:p>
            <a:pPr indent="0" lvl="0" marL="0" marR="0" rtl="0" algn="l">
              <a:lnSpc>
                <a:spcPct val="168000"/>
              </a:lnSpc>
              <a:spcBef>
                <a:spcPts val="0"/>
              </a:spcBef>
              <a:spcAft>
                <a:spcPts val="0"/>
              </a:spcAft>
              <a:buNone/>
            </a:pPr>
            <a:r>
              <a:rPr b="0" i="0" lang="en-US" sz="3200" u="none" cap="none" strike="noStrike">
                <a:solidFill>
                  <a:srgbClr val="FFBC19"/>
                </a:solidFill>
                <a:latin typeface="Nunito"/>
                <a:ea typeface="Nunito"/>
                <a:cs typeface="Nunito"/>
                <a:sym typeface="Nunito"/>
              </a:rPr>
              <a:t>El VTP asegura que todos los switches en una red VTP tengan la misma información sobre la configuración de VLAN. Esto simplifica la administración de VLAN, ya que no es necesario configurar manualmente cada switch de la red para que coincida con los demás. Sin embargo, es importante tener en cuenta que la configuración de VTP debe ser cuidadosamente controlada y administrada para evitar errores y problemas en la red.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587" name="Shape 587"/>
        <p:cNvGrpSpPr/>
        <p:nvPr/>
      </p:nvGrpSpPr>
      <p:grpSpPr>
        <a:xfrm>
          <a:off x="0" y="0"/>
          <a:ext cx="0" cy="0"/>
          <a:chOff x="0" y="0"/>
          <a:chExt cx="0" cy="0"/>
        </a:xfrm>
      </p:grpSpPr>
      <p:sp>
        <p:nvSpPr>
          <p:cNvPr id="588" name="Google Shape;588;p39"/>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589" name="Google Shape;589;p39"/>
          <p:cNvSpPr txBox="1"/>
          <p:nvPr/>
        </p:nvSpPr>
        <p:spPr>
          <a:xfrm>
            <a:off x="1309153" y="1817551"/>
            <a:ext cx="15110079" cy="7900038"/>
          </a:xfrm>
          <a:prstGeom prst="rect">
            <a:avLst/>
          </a:prstGeom>
          <a:noFill/>
          <a:ln>
            <a:noFill/>
          </a:ln>
        </p:spPr>
        <p:txBody>
          <a:bodyPr anchorCtr="0" anchor="t" bIns="0" lIns="0" spcFirstLastPara="1" rIns="0" wrap="square" tIns="0">
            <a:spAutoFit/>
          </a:bodyPr>
          <a:lstStyle/>
          <a:p>
            <a:pPr indent="-243798" lvl="2" marL="731398" marR="0" rtl="0" algn="l">
              <a:lnSpc>
                <a:spcPct val="179993"/>
              </a:lnSpc>
              <a:spcBef>
                <a:spcPts val="0"/>
              </a:spcBef>
              <a:spcAft>
                <a:spcPts val="0"/>
              </a:spcAft>
              <a:buClr>
                <a:srgbClr val="1C030C"/>
              </a:buClr>
              <a:buSzPts val="3199"/>
              <a:buFont typeface="Nunito"/>
              <a:buAutoNum type="arabicPeriod"/>
            </a:pPr>
            <a:r>
              <a:rPr b="1" i="0" lang="en-US" sz="3199" u="none" cap="none" strike="noStrike">
                <a:solidFill>
                  <a:srgbClr val="1C030C"/>
                </a:solidFill>
                <a:latin typeface="Nunito"/>
                <a:ea typeface="Nunito"/>
                <a:cs typeface="Nunito"/>
                <a:sym typeface="Nunito"/>
              </a:rPr>
              <a:t>Simplificación de la administración de VLAN:</a:t>
            </a:r>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El VTP permite a los administradores de red propagar automáticamente la información de VLAN a través de la red. Esto simplifica la administración de VLAN al permitir que los cambios en la configuración de VLAN se realicen en un solo switch en modo servidor y se propaguen automáticamente a todos los switches en la red VTP.</a:t>
            </a:r>
            <a:endParaRPr/>
          </a:p>
          <a:p>
            <a:pPr indent="-243798" lvl="2" marL="731398" marR="0" rtl="0" algn="l">
              <a:lnSpc>
                <a:spcPct val="179993"/>
              </a:lnSpc>
              <a:spcBef>
                <a:spcPts val="0"/>
              </a:spcBef>
              <a:spcAft>
                <a:spcPts val="0"/>
              </a:spcAft>
              <a:buClr>
                <a:srgbClr val="1C030C"/>
              </a:buClr>
              <a:buSzPts val="3199"/>
              <a:buFont typeface="Nunito"/>
              <a:buAutoNum type="arabicPeriod"/>
            </a:pPr>
            <a:r>
              <a:rPr b="1" i="0" lang="en-US" sz="3199" u="none" cap="none" strike="noStrike">
                <a:solidFill>
                  <a:srgbClr val="1C030C"/>
                </a:solidFill>
                <a:latin typeface="Nunito"/>
                <a:ea typeface="Nunito"/>
                <a:cs typeface="Nunito"/>
                <a:sym typeface="Nunito"/>
              </a:rPr>
              <a:t>Evita errores de configuración:</a:t>
            </a:r>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El VTP evita errores de configuración al garantizar que todos los switches en una red VTP tengan la misma información de configuración de VLAN. Esto evita errores de configuración que podrían ocurrir si se configurara manualmente cada switch en la red.</a:t>
            </a:r>
            <a:endParaRPr/>
          </a:p>
        </p:txBody>
      </p:sp>
      <p:sp>
        <p:nvSpPr>
          <p:cNvPr id="590" name="Google Shape;590;p39"/>
          <p:cNvSpPr txBox="1"/>
          <p:nvPr/>
        </p:nvSpPr>
        <p:spPr>
          <a:xfrm>
            <a:off x="694632" y="506136"/>
            <a:ext cx="15530283"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Ventajas del VTP</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598" name="Shape 598"/>
        <p:cNvGrpSpPr/>
        <p:nvPr/>
      </p:nvGrpSpPr>
      <p:grpSpPr>
        <a:xfrm>
          <a:off x="0" y="0"/>
          <a:ext cx="0" cy="0"/>
          <a:chOff x="0" y="0"/>
          <a:chExt cx="0" cy="0"/>
        </a:xfrm>
      </p:grpSpPr>
      <p:sp>
        <p:nvSpPr>
          <p:cNvPr id="599" name="Google Shape;599;p40"/>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600" name="Google Shape;600;p40"/>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601" name="Google Shape;601;p40"/>
          <p:cNvSpPr txBox="1"/>
          <p:nvPr/>
        </p:nvSpPr>
        <p:spPr>
          <a:xfrm>
            <a:off x="476481" y="67834"/>
            <a:ext cx="17335038" cy="1527165"/>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7000" u="none" cap="none" strike="noStrike">
                <a:solidFill>
                  <a:srgbClr val="FFBC19"/>
                </a:solidFill>
                <a:latin typeface="Nunito"/>
                <a:ea typeface="Nunito"/>
                <a:cs typeface="Nunito"/>
                <a:sym typeface="Nunito"/>
              </a:rPr>
              <a:t>Comandos importantes al trabajar con VTP</a:t>
            </a:r>
            <a:endParaRPr/>
          </a:p>
        </p:txBody>
      </p:sp>
      <p:sp>
        <p:nvSpPr>
          <p:cNvPr id="602" name="Google Shape;602;p40"/>
          <p:cNvSpPr txBox="1"/>
          <p:nvPr/>
        </p:nvSpPr>
        <p:spPr>
          <a:xfrm>
            <a:off x="1158231" y="1823081"/>
            <a:ext cx="15971539" cy="7646670"/>
          </a:xfrm>
          <a:prstGeom prst="rect">
            <a:avLst/>
          </a:prstGeom>
          <a:noFill/>
          <a:ln>
            <a:noFill/>
          </a:ln>
        </p:spPr>
        <p:txBody>
          <a:bodyPr anchorCtr="0" anchor="t" bIns="0" lIns="0" spcFirstLastPara="1" rIns="0" wrap="square" tIns="0">
            <a:spAutoFit/>
          </a:bodyPr>
          <a:lstStyle/>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vtp mode</a:t>
            </a:r>
            <a:r>
              <a:rPr b="0" i="0" lang="en-US" sz="3200" u="none" cap="none" strike="noStrike">
                <a:solidFill>
                  <a:srgbClr val="FFBC19"/>
                </a:solidFill>
                <a:latin typeface="Nunito"/>
                <a:ea typeface="Nunito"/>
                <a:cs typeface="Nunito"/>
                <a:sym typeface="Nunito"/>
              </a:rPr>
              <a:t> – Para definir el modo de funcionamiento (servidor, cliente, transparente)</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vtp domain</a:t>
            </a:r>
            <a:r>
              <a:rPr b="0" i="0" lang="en-US" sz="3200" u="none" cap="none" strike="noStrike">
                <a:solidFill>
                  <a:srgbClr val="FFBC19"/>
                </a:solidFill>
                <a:latin typeface="Nunito"/>
                <a:ea typeface="Nunito"/>
                <a:cs typeface="Nunito"/>
                <a:sym typeface="Nunito"/>
              </a:rPr>
              <a:t> – Para definir el dominio de nuestro servidor</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vtp password</a:t>
            </a:r>
            <a:r>
              <a:rPr b="0" i="0" lang="en-US" sz="3200" u="none" cap="none" strike="noStrike">
                <a:solidFill>
                  <a:srgbClr val="FFBC19"/>
                </a:solidFill>
                <a:latin typeface="Nunito"/>
                <a:ea typeface="Nunito"/>
                <a:cs typeface="Nunito"/>
                <a:sym typeface="Nunito"/>
              </a:rPr>
              <a:t> – Para definir el password de nuestro dominio</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vtp version</a:t>
            </a:r>
            <a:r>
              <a:rPr b="0" i="0" lang="en-US" sz="3200" u="none" cap="none" strike="noStrike">
                <a:solidFill>
                  <a:srgbClr val="FFBC19"/>
                </a:solidFill>
                <a:latin typeface="Nunito"/>
                <a:ea typeface="Nunito"/>
                <a:cs typeface="Nunito"/>
                <a:sym typeface="Nunito"/>
              </a:rPr>
              <a:t> – Define las características a emplear, usaremos vtp version 2</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show vtp status</a:t>
            </a:r>
            <a:r>
              <a:rPr b="0" i="0" lang="en-US" sz="3200" u="none" cap="none" strike="noStrike">
                <a:solidFill>
                  <a:srgbClr val="FFBC19"/>
                </a:solidFill>
                <a:latin typeface="Nunito"/>
                <a:ea typeface="Nunito"/>
                <a:cs typeface="Nunito"/>
                <a:sym typeface="Nunito"/>
              </a:rPr>
              <a:t> – Muestra el dominio y versión de nuestro vtp, también la cantidad de VLAN que se están pasando</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show vtp password</a:t>
            </a:r>
            <a:r>
              <a:rPr b="0" i="0" lang="en-US" sz="3200" u="none" cap="none" strike="noStrike">
                <a:solidFill>
                  <a:srgbClr val="FFBC19"/>
                </a:solidFill>
                <a:latin typeface="Nunito"/>
                <a:ea typeface="Nunito"/>
                <a:cs typeface="Nunito"/>
                <a:sym typeface="Nunito"/>
              </a:rPr>
              <a:t> – Muestra la contraseña asignada a la configuración vtp</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show vlan brief</a:t>
            </a:r>
            <a:r>
              <a:rPr b="0" i="0" lang="en-US" sz="3200" u="none" cap="none" strike="noStrike">
                <a:solidFill>
                  <a:srgbClr val="FFBC19"/>
                </a:solidFill>
                <a:latin typeface="Nunito"/>
                <a:ea typeface="Nunito"/>
                <a:cs typeface="Nunito"/>
                <a:sym typeface="Nunito"/>
              </a:rPr>
              <a:t> – Muestra un resumen de las VLAN que están en el dispositivo.</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10" name="Shape 610"/>
        <p:cNvGrpSpPr/>
        <p:nvPr/>
      </p:nvGrpSpPr>
      <p:grpSpPr>
        <a:xfrm>
          <a:off x="0" y="0"/>
          <a:ext cx="0" cy="0"/>
          <a:chOff x="0" y="0"/>
          <a:chExt cx="0" cy="0"/>
        </a:xfrm>
      </p:grpSpPr>
      <p:sp>
        <p:nvSpPr>
          <p:cNvPr id="611" name="Google Shape;611;p41"/>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612" name="Google Shape;612;p41"/>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613" name="Google Shape;613;p41"/>
          <p:cNvSpPr txBox="1"/>
          <p:nvPr/>
        </p:nvSpPr>
        <p:spPr>
          <a:xfrm>
            <a:off x="476481" y="67834"/>
            <a:ext cx="17335038" cy="1527165"/>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7000" u="none" cap="none" strike="noStrike">
                <a:solidFill>
                  <a:srgbClr val="FFBC19"/>
                </a:solidFill>
                <a:latin typeface="Nunito"/>
                <a:ea typeface="Nunito"/>
                <a:cs typeface="Nunito"/>
                <a:sym typeface="Nunito"/>
              </a:rPr>
              <a:t>Pasos para la configuración de VTP</a:t>
            </a:r>
            <a:endParaRPr/>
          </a:p>
        </p:txBody>
      </p:sp>
      <p:sp>
        <p:nvSpPr>
          <p:cNvPr id="614" name="Google Shape;614;p41"/>
          <p:cNvSpPr txBox="1"/>
          <p:nvPr/>
        </p:nvSpPr>
        <p:spPr>
          <a:xfrm>
            <a:off x="1158231" y="2126534"/>
            <a:ext cx="15971539" cy="5142230"/>
          </a:xfrm>
          <a:prstGeom prst="rect">
            <a:avLst/>
          </a:prstGeom>
          <a:noFill/>
          <a:ln>
            <a:noFill/>
          </a:ln>
        </p:spPr>
        <p:txBody>
          <a:bodyPr anchorCtr="0" anchor="t" bIns="0" lIns="0" spcFirstLastPara="1" rIns="0" wrap="square" tIns="0">
            <a:spAutoFit/>
          </a:bodyPr>
          <a:lstStyle/>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Asignar el modo troncal a los enlaces correspondientes.</a:t>
            </a:r>
            <a:endParaRPr/>
          </a:p>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Configurar el modo cliente en los switches clientes.</a:t>
            </a:r>
            <a:endParaRPr/>
          </a:p>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Crear las VLAN en el switch que será el servidor.</a:t>
            </a:r>
            <a:endParaRPr/>
          </a:p>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Configurar el modo servidor en el switch servidor.</a:t>
            </a:r>
            <a:endParaRPr/>
          </a:p>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Comprobar que las VLAN se hayan propagado del servidor a los clientes.</a:t>
            </a:r>
            <a:endParaRPr/>
          </a:p>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Asignar el modo de acceso con VLAN a los enlaces correspondientes.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22" name="Shape 622"/>
        <p:cNvGrpSpPr/>
        <p:nvPr/>
      </p:nvGrpSpPr>
      <p:grpSpPr>
        <a:xfrm>
          <a:off x="0" y="0"/>
          <a:ext cx="0" cy="0"/>
          <a:chOff x="0" y="0"/>
          <a:chExt cx="0" cy="0"/>
        </a:xfrm>
      </p:grpSpPr>
      <p:sp>
        <p:nvSpPr>
          <p:cNvPr id="623" name="Google Shape;623;p42"/>
          <p:cNvSpPr/>
          <p:nvPr/>
        </p:nvSpPr>
        <p:spPr>
          <a:xfrm>
            <a:off x="-3175521" y="7601205"/>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624" name="Google Shape;624;p42"/>
          <p:cNvSpPr/>
          <p:nvPr/>
        </p:nvSpPr>
        <p:spPr>
          <a:xfrm>
            <a:off x="15403497" y="5950549"/>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625" name="Google Shape;625;p42"/>
          <p:cNvSpPr txBox="1"/>
          <p:nvPr/>
        </p:nvSpPr>
        <p:spPr>
          <a:xfrm>
            <a:off x="2059675" y="1673660"/>
            <a:ext cx="13816800" cy="7813167"/>
          </a:xfrm>
          <a:prstGeom prst="rect">
            <a:avLst/>
          </a:prstGeom>
          <a:noFill/>
          <a:ln>
            <a:noFill/>
          </a:ln>
        </p:spPr>
        <p:txBody>
          <a:bodyPr anchorCtr="0" anchor="t" bIns="0" lIns="0" spcFirstLastPara="1" rIns="0" wrap="square" tIns="0">
            <a:spAutoFit/>
          </a:bodyPr>
          <a:lstStyle/>
          <a:p>
            <a:pPr indent="0" lvl="0" marL="0" marR="0" rtl="0" algn="just">
              <a:lnSpc>
                <a:spcPct val="138013"/>
              </a:lnSpc>
              <a:spcBef>
                <a:spcPts val="0"/>
              </a:spcBef>
              <a:spcAft>
                <a:spcPts val="0"/>
              </a:spcAft>
              <a:buNone/>
            </a:pPr>
            <a:r>
              <a:rPr b="1" i="0" lang="en-US" sz="2799" u="none" cap="none" strike="noStrike">
                <a:solidFill>
                  <a:srgbClr val="FFBC19"/>
                </a:solidFill>
                <a:latin typeface="Arial"/>
                <a:ea typeface="Arial"/>
                <a:cs typeface="Arial"/>
                <a:sym typeface="Arial"/>
              </a:rPr>
              <a:t>🔹 Segmentación Lógica:</a:t>
            </a:r>
            <a:endParaRPr/>
          </a:p>
          <a:p>
            <a:pPr indent="0" lvl="0" marL="0" marR="0" rtl="0" algn="just">
              <a:lnSpc>
                <a:spcPct val="138013"/>
              </a:lnSpc>
              <a:spcBef>
                <a:spcPts val="0"/>
              </a:spcBef>
              <a:spcAft>
                <a:spcPts val="0"/>
              </a:spcAft>
              <a:buNone/>
            </a:pPr>
            <a:r>
              <a:rPr b="0" i="0" lang="en-US" sz="2799" u="none" cap="none" strike="noStrike">
                <a:solidFill>
                  <a:srgbClr val="FFBC19"/>
                </a:solidFill>
                <a:latin typeface="Arial"/>
                <a:ea typeface="Arial"/>
                <a:cs typeface="Arial"/>
                <a:sym typeface="Arial"/>
              </a:rPr>
              <a:t> Proceso de dividir una red física en subredes independientes a nivel lógico, permitiendo separar el tráfico entre diferentes grupos de dispositivos sin necesidad de múltiples infraestructuras físicas.</a:t>
            </a:r>
            <a:endParaRPr/>
          </a:p>
          <a:p>
            <a:pPr indent="0" lvl="0" marL="0" marR="0" rtl="0" algn="just">
              <a:lnSpc>
                <a:spcPct val="138013"/>
              </a:lnSpc>
              <a:spcBef>
                <a:spcPts val="0"/>
              </a:spcBef>
              <a:spcAft>
                <a:spcPts val="0"/>
              </a:spcAft>
              <a:buNone/>
            </a:pPr>
            <a:r>
              <a:t/>
            </a:r>
            <a:endParaRPr b="0" i="0" sz="2799" u="none" cap="none" strike="noStrike">
              <a:solidFill>
                <a:srgbClr val="FFBC19"/>
              </a:solidFill>
              <a:latin typeface="Arial"/>
              <a:ea typeface="Arial"/>
              <a:cs typeface="Arial"/>
              <a:sym typeface="Arial"/>
            </a:endParaRPr>
          </a:p>
          <a:p>
            <a:pPr indent="0" lvl="0" marL="0" marR="0" rtl="0" algn="just">
              <a:lnSpc>
                <a:spcPct val="138013"/>
              </a:lnSpc>
              <a:spcBef>
                <a:spcPts val="0"/>
              </a:spcBef>
              <a:spcAft>
                <a:spcPts val="0"/>
              </a:spcAft>
              <a:buNone/>
            </a:pPr>
            <a:r>
              <a:rPr b="1" i="0" lang="en-US" sz="2799" u="none" cap="none" strike="noStrike">
                <a:solidFill>
                  <a:srgbClr val="FFBC19"/>
                </a:solidFill>
                <a:latin typeface="Arial"/>
                <a:ea typeface="Arial"/>
                <a:cs typeface="Arial"/>
                <a:sym typeface="Arial"/>
              </a:rPr>
              <a:t>🔹 VLAN (Red de Área Local Virtual):</a:t>
            </a:r>
            <a:endParaRPr/>
          </a:p>
          <a:p>
            <a:pPr indent="0" lvl="0" marL="0" marR="0" rtl="0" algn="just">
              <a:lnSpc>
                <a:spcPct val="138013"/>
              </a:lnSpc>
              <a:spcBef>
                <a:spcPts val="0"/>
              </a:spcBef>
              <a:spcAft>
                <a:spcPts val="0"/>
              </a:spcAft>
              <a:buNone/>
            </a:pPr>
            <a:r>
              <a:rPr b="0" i="0" lang="en-US" sz="2799" u="none" cap="none" strike="noStrike">
                <a:solidFill>
                  <a:srgbClr val="FFBC19"/>
                </a:solidFill>
                <a:latin typeface="Arial"/>
                <a:ea typeface="Arial"/>
                <a:cs typeface="Arial"/>
                <a:sym typeface="Arial"/>
              </a:rPr>
              <a:t> Tecnología que permite crear redes virtuales dentro de un mismo switch, separando el tráfico por departamentos, funciones o niveles de seguridad.</a:t>
            </a:r>
            <a:endParaRPr/>
          </a:p>
          <a:p>
            <a:pPr indent="0" lvl="0" marL="0" marR="0" rtl="0" algn="just">
              <a:lnSpc>
                <a:spcPct val="138013"/>
              </a:lnSpc>
              <a:spcBef>
                <a:spcPts val="0"/>
              </a:spcBef>
              <a:spcAft>
                <a:spcPts val="0"/>
              </a:spcAft>
              <a:buNone/>
            </a:pPr>
            <a:r>
              <a:t/>
            </a:r>
            <a:endParaRPr b="0" i="0" sz="2799" u="none" cap="none" strike="noStrike">
              <a:solidFill>
                <a:srgbClr val="FFBC19"/>
              </a:solidFill>
              <a:latin typeface="Arial"/>
              <a:ea typeface="Arial"/>
              <a:cs typeface="Arial"/>
              <a:sym typeface="Arial"/>
            </a:endParaRPr>
          </a:p>
          <a:p>
            <a:pPr indent="0" lvl="0" marL="0" marR="0" rtl="0" algn="just">
              <a:lnSpc>
                <a:spcPct val="138013"/>
              </a:lnSpc>
              <a:spcBef>
                <a:spcPts val="0"/>
              </a:spcBef>
              <a:spcAft>
                <a:spcPts val="0"/>
              </a:spcAft>
              <a:buNone/>
            </a:pPr>
            <a:r>
              <a:rPr b="1" i="0" lang="en-US" sz="2799" u="none" cap="none" strike="noStrike">
                <a:solidFill>
                  <a:srgbClr val="FFBC19"/>
                </a:solidFill>
                <a:latin typeface="Arial"/>
                <a:ea typeface="Arial"/>
                <a:cs typeface="Arial"/>
                <a:sym typeface="Arial"/>
              </a:rPr>
              <a:t>🔹 Modo Troncal (Trunk):</a:t>
            </a:r>
            <a:endParaRPr/>
          </a:p>
          <a:p>
            <a:pPr indent="0" lvl="0" marL="0" marR="0" rtl="0" algn="just">
              <a:lnSpc>
                <a:spcPct val="138013"/>
              </a:lnSpc>
              <a:spcBef>
                <a:spcPts val="0"/>
              </a:spcBef>
              <a:spcAft>
                <a:spcPts val="0"/>
              </a:spcAft>
              <a:buNone/>
            </a:pPr>
            <a:r>
              <a:rPr b="0" i="0" lang="en-US" sz="2799" u="none" cap="none" strike="noStrike">
                <a:solidFill>
                  <a:srgbClr val="FFBC19"/>
                </a:solidFill>
                <a:latin typeface="Arial"/>
                <a:ea typeface="Arial"/>
                <a:cs typeface="Arial"/>
                <a:sym typeface="Arial"/>
              </a:rPr>
              <a:t> Modo de puerto en el switch que permite transportar tráfico de múltiples VLANs a través de un solo enlace físico entre switches o routers.</a:t>
            </a:r>
            <a:endParaRPr/>
          </a:p>
          <a:p>
            <a:pPr indent="0" lvl="0" marL="0" marR="0" rtl="0" algn="just">
              <a:lnSpc>
                <a:spcPct val="138013"/>
              </a:lnSpc>
              <a:spcBef>
                <a:spcPts val="0"/>
              </a:spcBef>
              <a:spcAft>
                <a:spcPts val="0"/>
              </a:spcAft>
              <a:buNone/>
            </a:pPr>
            <a:r>
              <a:t/>
            </a:r>
            <a:endParaRPr b="0" i="0" sz="2799" u="none" cap="none" strike="noStrike">
              <a:solidFill>
                <a:srgbClr val="FFBC19"/>
              </a:solidFill>
              <a:latin typeface="Arial"/>
              <a:ea typeface="Arial"/>
              <a:cs typeface="Arial"/>
              <a:sym typeface="Arial"/>
            </a:endParaRPr>
          </a:p>
          <a:p>
            <a:pPr indent="0" lvl="0" marL="0" marR="0" rtl="0" algn="just">
              <a:lnSpc>
                <a:spcPct val="138013"/>
              </a:lnSpc>
              <a:spcBef>
                <a:spcPts val="0"/>
              </a:spcBef>
              <a:spcAft>
                <a:spcPts val="0"/>
              </a:spcAft>
              <a:buNone/>
            </a:pPr>
            <a:r>
              <a:rPr b="1" i="0" lang="en-US" sz="2799" u="none" cap="none" strike="noStrike">
                <a:solidFill>
                  <a:srgbClr val="FFBC19"/>
                </a:solidFill>
                <a:latin typeface="Arial"/>
                <a:ea typeface="Arial"/>
                <a:cs typeface="Arial"/>
                <a:sym typeface="Arial"/>
              </a:rPr>
              <a:t>🔹 Modo Acceso (Access):</a:t>
            </a:r>
            <a:endParaRPr/>
          </a:p>
          <a:p>
            <a:pPr indent="0" lvl="0" marL="0" marR="0" rtl="0" algn="just">
              <a:lnSpc>
                <a:spcPct val="138013"/>
              </a:lnSpc>
              <a:spcBef>
                <a:spcPts val="0"/>
              </a:spcBef>
              <a:spcAft>
                <a:spcPts val="0"/>
              </a:spcAft>
              <a:buNone/>
            </a:pPr>
            <a:r>
              <a:rPr b="0" i="0" lang="en-US" sz="2799" u="none" cap="none" strike="noStrike">
                <a:solidFill>
                  <a:srgbClr val="FFBC19"/>
                </a:solidFill>
                <a:latin typeface="Arial"/>
                <a:ea typeface="Arial"/>
                <a:cs typeface="Arial"/>
                <a:sym typeface="Arial"/>
              </a:rPr>
              <a:t> Modo de puerto en el switch que pertenece únicamente a una VLAN específica. Se usa para conectar dispositivos finales como PCs o impresoras.</a:t>
            </a:r>
            <a:endParaRPr/>
          </a:p>
        </p:txBody>
      </p:sp>
      <p:sp>
        <p:nvSpPr>
          <p:cNvPr id="626" name="Google Shape;626;p42"/>
          <p:cNvSpPr/>
          <p:nvPr/>
        </p:nvSpPr>
        <p:spPr>
          <a:xfrm>
            <a:off x="15966999" y="460048"/>
            <a:ext cx="1825371" cy="2065206"/>
          </a:xfrm>
          <a:custGeom>
            <a:rect b="b" l="l" r="r" t="t"/>
            <a:pathLst>
              <a:path extrusionOk="0" h="2753608" w="2433828">
                <a:moveTo>
                  <a:pt x="0" y="0"/>
                </a:moveTo>
                <a:lnTo>
                  <a:pt x="2433828" y="0"/>
                </a:lnTo>
                <a:lnTo>
                  <a:pt x="2433828" y="2753608"/>
                </a:lnTo>
                <a:lnTo>
                  <a:pt x="0" y="2753608"/>
                </a:lnTo>
                <a:lnTo>
                  <a:pt x="0" y="0"/>
                </a:lnTo>
                <a:close/>
              </a:path>
            </a:pathLst>
          </a:custGeom>
          <a:blipFill rotWithShape="1">
            <a:blip r:embed="rId5">
              <a:alphaModFix/>
            </a:blip>
            <a:stretch>
              <a:fillRect b="-506" l="0" r="-1" t="-506"/>
            </a:stretch>
          </a:blipFill>
          <a:ln>
            <a:noFill/>
          </a:ln>
        </p:spPr>
      </p:sp>
      <p:sp>
        <p:nvSpPr>
          <p:cNvPr id="627" name="Google Shape;627;p42"/>
          <p:cNvSpPr txBox="1"/>
          <p:nvPr/>
        </p:nvSpPr>
        <p:spPr>
          <a:xfrm>
            <a:off x="300625" y="-43945"/>
            <a:ext cx="17334900" cy="140145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1" i="0" lang="en-US" sz="7000" u="none" cap="none" strike="noStrike">
                <a:solidFill>
                  <a:srgbClr val="FFBC19"/>
                </a:solidFill>
                <a:latin typeface="Nunito"/>
                <a:ea typeface="Nunito"/>
                <a:cs typeface="Nunito"/>
                <a:sym typeface="Nunito"/>
              </a:rPr>
              <a:t>Conceptos Clave Aprendidos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35" name="Shape 635"/>
        <p:cNvGrpSpPr/>
        <p:nvPr/>
      </p:nvGrpSpPr>
      <p:grpSpPr>
        <a:xfrm>
          <a:off x="0" y="0"/>
          <a:ext cx="0" cy="0"/>
          <a:chOff x="0" y="0"/>
          <a:chExt cx="0" cy="0"/>
        </a:xfrm>
      </p:grpSpPr>
      <p:sp>
        <p:nvSpPr>
          <p:cNvPr id="636" name="Google Shape;636;p43"/>
          <p:cNvSpPr/>
          <p:nvPr/>
        </p:nvSpPr>
        <p:spPr>
          <a:xfrm>
            <a:off x="-2890178" y="7090037"/>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637" name="Google Shape;637;p43"/>
          <p:cNvSpPr/>
          <p:nvPr/>
        </p:nvSpPr>
        <p:spPr>
          <a:xfrm>
            <a:off x="14439722" y="547517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638" name="Google Shape;638;p43"/>
          <p:cNvSpPr txBox="1"/>
          <p:nvPr/>
        </p:nvSpPr>
        <p:spPr>
          <a:xfrm>
            <a:off x="2059675" y="1900825"/>
            <a:ext cx="13816800" cy="7043928"/>
          </a:xfrm>
          <a:prstGeom prst="rect">
            <a:avLst/>
          </a:prstGeom>
          <a:noFill/>
          <a:ln>
            <a:noFill/>
          </a:ln>
        </p:spPr>
        <p:txBody>
          <a:bodyPr anchorCtr="0" anchor="t" bIns="0" lIns="0" spcFirstLastPara="1" rIns="0" wrap="square" tIns="0">
            <a:spAutoFit/>
          </a:bodyPr>
          <a:lstStyle/>
          <a:p>
            <a:pPr indent="0" lvl="0" marL="0" marR="0" rtl="0" algn="just">
              <a:lnSpc>
                <a:spcPct val="138014"/>
              </a:lnSpc>
              <a:spcBef>
                <a:spcPts val="0"/>
              </a:spcBef>
              <a:spcAft>
                <a:spcPts val="0"/>
              </a:spcAft>
              <a:buNone/>
            </a:pPr>
            <a:r>
              <a:rPr b="1" i="0" lang="en-US" sz="2699" u="none" cap="none" strike="noStrike">
                <a:solidFill>
                  <a:srgbClr val="FFBC19"/>
                </a:solidFill>
                <a:latin typeface="Arial"/>
                <a:ea typeface="Arial"/>
                <a:cs typeface="Arial"/>
                <a:sym typeface="Arial"/>
              </a:rPr>
              <a:t>🔹 Etiquetado 802.1Q:</a:t>
            </a:r>
            <a:endParaRPr/>
          </a:p>
          <a:p>
            <a:pPr indent="0" lvl="0" marL="0" marR="0" rtl="0" algn="just">
              <a:lnSpc>
                <a:spcPct val="138014"/>
              </a:lnSpc>
              <a:spcBef>
                <a:spcPts val="0"/>
              </a:spcBef>
              <a:spcAft>
                <a:spcPts val="0"/>
              </a:spcAft>
              <a:buNone/>
            </a:pPr>
            <a:r>
              <a:rPr b="0" i="0" lang="en-US" sz="2699" u="none" cap="none" strike="noStrike">
                <a:solidFill>
                  <a:srgbClr val="FFBC19"/>
                </a:solidFill>
                <a:latin typeface="Arial"/>
                <a:ea typeface="Arial"/>
                <a:cs typeface="Arial"/>
                <a:sym typeface="Arial"/>
              </a:rPr>
              <a:t> Estándar IEEE que permite identificar a qué VLAN pertenece un paquete al enviarlo por un enlace troncal, agregando una etiqueta (tag) en la trama Ethernet.</a:t>
            </a:r>
            <a:endParaRPr/>
          </a:p>
          <a:p>
            <a:pPr indent="0" lvl="0" marL="0" marR="0" rtl="0" algn="just">
              <a:lnSpc>
                <a:spcPct val="138014"/>
              </a:lnSpc>
              <a:spcBef>
                <a:spcPts val="0"/>
              </a:spcBef>
              <a:spcAft>
                <a:spcPts val="0"/>
              </a:spcAft>
              <a:buNone/>
            </a:pPr>
            <a:r>
              <a:t/>
            </a:r>
            <a:endParaRPr b="0" i="0" sz="2699" u="none" cap="none" strike="noStrike">
              <a:solidFill>
                <a:srgbClr val="FFBC19"/>
              </a:solidFill>
              <a:latin typeface="Arial"/>
              <a:ea typeface="Arial"/>
              <a:cs typeface="Arial"/>
              <a:sym typeface="Arial"/>
            </a:endParaRPr>
          </a:p>
          <a:p>
            <a:pPr indent="0" lvl="0" marL="0" marR="0" rtl="0" algn="just">
              <a:lnSpc>
                <a:spcPct val="138014"/>
              </a:lnSpc>
              <a:spcBef>
                <a:spcPts val="0"/>
              </a:spcBef>
              <a:spcAft>
                <a:spcPts val="0"/>
              </a:spcAft>
              <a:buNone/>
            </a:pPr>
            <a:r>
              <a:rPr b="1" i="0" lang="en-US" sz="2699" u="none" cap="none" strike="noStrike">
                <a:solidFill>
                  <a:srgbClr val="FFBC19"/>
                </a:solidFill>
                <a:latin typeface="Arial"/>
                <a:ea typeface="Arial"/>
                <a:cs typeface="Arial"/>
                <a:sym typeface="Arial"/>
              </a:rPr>
              <a:t>🔹 VTP Domain (Dominio VTP):</a:t>
            </a:r>
            <a:endParaRPr/>
          </a:p>
          <a:p>
            <a:pPr indent="0" lvl="0" marL="0" marR="0" rtl="0" algn="just">
              <a:lnSpc>
                <a:spcPct val="138014"/>
              </a:lnSpc>
              <a:spcBef>
                <a:spcPts val="0"/>
              </a:spcBef>
              <a:spcAft>
                <a:spcPts val="0"/>
              </a:spcAft>
              <a:buNone/>
            </a:pPr>
            <a:r>
              <a:rPr b="0" i="0" lang="en-US" sz="2699" u="none" cap="none" strike="noStrike">
                <a:solidFill>
                  <a:srgbClr val="FFBC19"/>
                </a:solidFill>
                <a:latin typeface="Arial"/>
                <a:ea typeface="Arial"/>
                <a:cs typeface="Arial"/>
                <a:sym typeface="Arial"/>
              </a:rPr>
              <a:t> Nombre común que agrupa a varios switches para que compartan información de VLAN mediante el protocolo VTP (VLAN Trunking Protocol).</a:t>
            </a:r>
            <a:endParaRPr/>
          </a:p>
          <a:p>
            <a:pPr indent="0" lvl="0" marL="0" marR="0" rtl="0" algn="just">
              <a:lnSpc>
                <a:spcPct val="138014"/>
              </a:lnSpc>
              <a:spcBef>
                <a:spcPts val="0"/>
              </a:spcBef>
              <a:spcAft>
                <a:spcPts val="0"/>
              </a:spcAft>
              <a:buNone/>
            </a:pPr>
            <a:r>
              <a:t/>
            </a:r>
            <a:endParaRPr b="0" i="0" sz="2699" u="none" cap="none" strike="noStrike">
              <a:solidFill>
                <a:srgbClr val="FFBC19"/>
              </a:solidFill>
              <a:latin typeface="Arial"/>
              <a:ea typeface="Arial"/>
              <a:cs typeface="Arial"/>
              <a:sym typeface="Arial"/>
            </a:endParaRPr>
          </a:p>
          <a:p>
            <a:pPr indent="0" lvl="0" marL="0" marR="0" rtl="0" algn="just">
              <a:lnSpc>
                <a:spcPct val="138014"/>
              </a:lnSpc>
              <a:spcBef>
                <a:spcPts val="0"/>
              </a:spcBef>
              <a:spcAft>
                <a:spcPts val="0"/>
              </a:spcAft>
              <a:buNone/>
            </a:pPr>
            <a:r>
              <a:rPr b="1" i="0" lang="en-US" sz="2699" u="none" cap="none" strike="noStrike">
                <a:solidFill>
                  <a:srgbClr val="FFBC19"/>
                </a:solidFill>
                <a:latin typeface="Arial"/>
                <a:ea typeface="Arial"/>
                <a:cs typeface="Arial"/>
                <a:sym typeface="Arial"/>
              </a:rPr>
              <a:t>🔹 VTP Mode (Modo VTP):</a:t>
            </a:r>
            <a:endParaRPr/>
          </a:p>
          <a:p>
            <a:pPr indent="0" lvl="0" marL="0" marR="0" rtl="0" algn="just">
              <a:lnSpc>
                <a:spcPct val="138014"/>
              </a:lnSpc>
              <a:spcBef>
                <a:spcPts val="0"/>
              </a:spcBef>
              <a:spcAft>
                <a:spcPts val="0"/>
              </a:spcAft>
              <a:buNone/>
            </a:pPr>
            <a:r>
              <a:rPr b="0" i="0" lang="en-US" sz="2699" u="none" cap="none" strike="noStrike">
                <a:solidFill>
                  <a:srgbClr val="FFBC19"/>
                </a:solidFill>
                <a:latin typeface="Arial"/>
                <a:ea typeface="Arial"/>
                <a:cs typeface="Arial"/>
                <a:sym typeface="Arial"/>
              </a:rPr>
              <a:t> Modo de operación del switch dentro del dominio VTP. Puede ser:</a:t>
            </a:r>
            <a:endParaRPr/>
          </a:p>
          <a:p>
            <a:pPr indent="-462914" lvl="1" marL="925827" marR="0" rtl="0" algn="just">
              <a:lnSpc>
                <a:spcPct val="138014"/>
              </a:lnSpc>
              <a:spcBef>
                <a:spcPts val="0"/>
              </a:spcBef>
              <a:spcAft>
                <a:spcPts val="0"/>
              </a:spcAft>
              <a:buClr>
                <a:srgbClr val="FFBC19"/>
              </a:buClr>
              <a:buSzPts val="2699"/>
              <a:buFont typeface="Arial"/>
              <a:buChar char="•"/>
            </a:pPr>
            <a:r>
              <a:rPr b="1" i="0" lang="en-US" sz="2699" u="none" cap="none" strike="noStrike">
                <a:solidFill>
                  <a:srgbClr val="FFBC19"/>
                </a:solidFill>
                <a:latin typeface="Arial"/>
                <a:ea typeface="Arial"/>
                <a:cs typeface="Arial"/>
                <a:sym typeface="Arial"/>
              </a:rPr>
              <a:t>Server:</a:t>
            </a:r>
            <a:r>
              <a:rPr b="0" i="0" lang="en-US" sz="2699" u="none" cap="none" strike="noStrike">
                <a:solidFill>
                  <a:srgbClr val="FFBC19"/>
                </a:solidFill>
                <a:latin typeface="Arial"/>
                <a:ea typeface="Arial"/>
                <a:cs typeface="Arial"/>
                <a:sym typeface="Arial"/>
              </a:rPr>
              <a:t> Crea, modifica y propaga VLANs.</a:t>
            </a:r>
            <a:endParaRPr/>
          </a:p>
          <a:p>
            <a:pPr indent="-462914" lvl="1" marL="925827" marR="0" rtl="0" algn="just">
              <a:lnSpc>
                <a:spcPct val="138014"/>
              </a:lnSpc>
              <a:spcBef>
                <a:spcPts val="0"/>
              </a:spcBef>
              <a:spcAft>
                <a:spcPts val="0"/>
              </a:spcAft>
              <a:buNone/>
            </a:pPr>
            <a:r>
              <a:t/>
            </a:r>
            <a:endParaRPr b="0" i="0" sz="2699" u="none" cap="none" strike="noStrike">
              <a:solidFill>
                <a:srgbClr val="FFBC19"/>
              </a:solidFill>
              <a:latin typeface="Arial"/>
              <a:ea typeface="Arial"/>
              <a:cs typeface="Arial"/>
              <a:sym typeface="Arial"/>
            </a:endParaRPr>
          </a:p>
          <a:p>
            <a:pPr indent="-462914" lvl="1" marL="925827" marR="0" rtl="0" algn="just">
              <a:lnSpc>
                <a:spcPct val="138014"/>
              </a:lnSpc>
              <a:spcBef>
                <a:spcPts val="0"/>
              </a:spcBef>
              <a:spcAft>
                <a:spcPts val="0"/>
              </a:spcAft>
              <a:buClr>
                <a:srgbClr val="FFBC19"/>
              </a:buClr>
              <a:buSzPts val="2699"/>
              <a:buFont typeface="Arial"/>
              <a:buChar char="•"/>
            </a:pPr>
            <a:r>
              <a:rPr b="1" i="0" lang="en-US" sz="2699" u="none" cap="none" strike="noStrike">
                <a:solidFill>
                  <a:srgbClr val="FFBC19"/>
                </a:solidFill>
                <a:latin typeface="Arial"/>
                <a:ea typeface="Arial"/>
                <a:cs typeface="Arial"/>
                <a:sym typeface="Arial"/>
              </a:rPr>
              <a:t>Client:</a:t>
            </a:r>
            <a:r>
              <a:rPr b="0" i="0" lang="en-US" sz="2699" u="none" cap="none" strike="noStrike">
                <a:solidFill>
                  <a:srgbClr val="FFBC19"/>
                </a:solidFill>
                <a:latin typeface="Arial"/>
                <a:ea typeface="Arial"/>
                <a:cs typeface="Arial"/>
                <a:sym typeface="Arial"/>
              </a:rPr>
              <a:t> Solo recibe la información de VLANs.</a:t>
            </a:r>
            <a:endParaRPr/>
          </a:p>
          <a:p>
            <a:pPr indent="-462914" lvl="1" marL="925827" marR="0" rtl="0" algn="just">
              <a:lnSpc>
                <a:spcPct val="138014"/>
              </a:lnSpc>
              <a:spcBef>
                <a:spcPts val="0"/>
              </a:spcBef>
              <a:spcAft>
                <a:spcPts val="0"/>
              </a:spcAft>
              <a:buNone/>
            </a:pPr>
            <a:r>
              <a:t/>
            </a:r>
            <a:endParaRPr b="0" i="0" sz="2699" u="none" cap="none" strike="noStrike">
              <a:solidFill>
                <a:srgbClr val="FFBC19"/>
              </a:solidFill>
              <a:latin typeface="Arial"/>
              <a:ea typeface="Arial"/>
              <a:cs typeface="Arial"/>
              <a:sym typeface="Arial"/>
            </a:endParaRPr>
          </a:p>
          <a:p>
            <a:pPr indent="-462914" lvl="1" marL="925827" marR="0" rtl="0" algn="just">
              <a:lnSpc>
                <a:spcPct val="138014"/>
              </a:lnSpc>
              <a:spcBef>
                <a:spcPts val="0"/>
              </a:spcBef>
              <a:spcAft>
                <a:spcPts val="0"/>
              </a:spcAft>
              <a:buClr>
                <a:srgbClr val="FFBC19"/>
              </a:buClr>
              <a:buSzPts val="2699"/>
              <a:buFont typeface="Arial"/>
              <a:buChar char="•"/>
            </a:pPr>
            <a:r>
              <a:rPr b="1" i="0" lang="en-US" sz="2699" u="none" cap="none" strike="noStrike">
                <a:solidFill>
                  <a:srgbClr val="FFBC19"/>
                </a:solidFill>
                <a:latin typeface="Arial"/>
                <a:ea typeface="Arial"/>
                <a:cs typeface="Arial"/>
                <a:sym typeface="Arial"/>
              </a:rPr>
              <a:t>Transparent:</a:t>
            </a:r>
            <a:r>
              <a:rPr b="0" i="0" lang="en-US" sz="2699" u="none" cap="none" strike="noStrike">
                <a:solidFill>
                  <a:srgbClr val="FFBC19"/>
                </a:solidFill>
                <a:latin typeface="Arial"/>
                <a:ea typeface="Arial"/>
                <a:cs typeface="Arial"/>
                <a:sym typeface="Arial"/>
              </a:rPr>
              <a:t> No participa en la propagación pero permite crear VLANs locales.</a:t>
            </a:r>
            <a:endParaRPr/>
          </a:p>
        </p:txBody>
      </p:sp>
      <p:sp>
        <p:nvSpPr>
          <p:cNvPr id="639" name="Google Shape;639;p43"/>
          <p:cNvSpPr/>
          <p:nvPr/>
        </p:nvSpPr>
        <p:spPr>
          <a:xfrm>
            <a:off x="16087140" y="580625"/>
            <a:ext cx="1825371" cy="2095241"/>
          </a:xfrm>
          <a:custGeom>
            <a:rect b="b" l="l" r="r" t="t"/>
            <a:pathLst>
              <a:path extrusionOk="0" h="2793654" w="2433828">
                <a:moveTo>
                  <a:pt x="0" y="0"/>
                </a:moveTo>
                <a:lnTo>
                  <a:pt x="2433828" y="0"/>
                </a:lnTo>
                <a:lnTo>
                  <a:pt x="2433828" y="2793654"/>
                </a:lnTo>
                <a:lnTo>
                  <a:pt x="0" y="2793654"/>
                </a:lnTo>
                <a:lnTo>
                  <a:pt x="0" y="0"/>
                </a:lnTo>
                <a:close/>
              </a:path>
            </a:pathLst>
          </a:custGeom>
          <a:blipFill rotWithShape="1">
            <a:blip r:embed="rId5">
              <a:alphaModFix/>
            </a:blip>
            <a:stretch>
              <a:fillRect b="0" l="-216" r="-218" t="0"/>
            </a:stretch>
          </a:blipFill>
          <a:ln>
            <a:noFill/>
          </a:ln>
        </p:spPr>
      </p:sp>
      <p:sp>
        <p:nvSpPr>
          <p:cNvPr id="640" name="Google Shape;640;p43"/>
          <p:cNvSpPr txBox="1"/>
          <p:nvPr/>
        </p:nvSpPr>
        <p:spPr>
          <a:xfrm>
            <a:off x="300625" y="-43945"/>
            <a:ext cx="17334900" cy="140145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1" i="0" lang="en-US" sz="7000" u="none" cap="none" strike="noStrike">
                <a:solidFill>
                  <a:srgbClr val="FFBC19"/>
                </a:solidFill>
                <a:latin typeface="Nunito"/>
                <a:ea typeface="Nunito"/>
                <a:cs typeface="Nunito"/>
                <a:sym typeface="Nunito"/>
              </a:rPr>
              <a:t>Conceptos Clave Aprendidos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48" name="Shape 648"/>
        <p:cNvGrpSpPr/>
        <p:nvPr/>
      </p:nvGrpSpPr>
      <p:grpSpPr>
        <a:xfrm>
          <a:off x="0" y="0"/>
          <a:ext cx="0" cy="0"/>
          <a:chOff x="0" y="0"/>
          <a:chExt cx="0" cy="0"/>
        </a:xfrm>
      </p:grpSpPr>
      <p:sp>
        <p:nvSpPr>
          <p:cNvPr id="649" name="Google Shape;649;p44"/>
          <p:cNvSpPr/>
          <p:nvPr/>
        </p:nvSpPr>
        <p:spPr>
          <a:xfrm>
            <a:off x="-1754118" y="7105055"/>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650" name="Google Shape;650;p44"/>
          <p:cNvSpPr/>
          <p:nvPr/>
        </p:nvSpPr>
        <p:spPr>
          <a:xfrm>
            <a:off x="15516035" y="9119688"/>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651" name="Google Shape;651;p44"/>
          <p:cNvSpPr/>
          <p:nvPr/>
        </p:nvSpPr>
        <p:spPr>
          <a:xfrm>
            <a:off x="11123398" y="818705"/>
            <a:ext cx="6675323" cy="6539197"/>
          </a:xfrm>
          <a:custGeom>
            <a:rect b="b" l="l" r="r" t="t"/>
            <a:pathLst>
              <a:path extrusionOk="0" h="6539197" w="6675323">
                <a:moveTo>
                  <a:pt x="0" y="0"/>
                </a:moveTo>
                <a:lnTo>
                  <a:pt x="6675322" y="0"/>
                </a:lnTo>
                <a:lnTo>
                  <a:pt x="6675322" y="6539197"/>
                </a:lnTo>
                <a:lnTo>
                  <a:pt x="0" y="6539197"/>
                </a:lnTo>
                <a:lnTo>
                  <a:pt x="0" y="0"/>
                </a:lnTo>
                <a:close/>
              </a:path>
            </a:pathLst>
          </a:custGeom>
          <a:blipFill rotWithShape="1">
            <a:blip r:embed="rId5">
              <a:alphaModFix/>
            </a:blip>
            <a:stretch>
              <a:fillRect b="0" l="0" r="0" t="0"/>
            </a:stretch>
          </a:blipFill>
          <a:ln>
            <a:noFill/>
          </a:ln>
        </p:spPr>
      </p:sp>
      <p:sp>
        <p:nvSpPr>
          <p:cNvPr id="652" name="Google Shape;652;p44"/>
          <p:cNvSpPr/>
          <p:nvPr/>
        </p:nvSpPr>
        <p:spPr>
          <a:xfrm>
            <a:off x="6251296" y="5143500"/>
            <a:ext cx="6256920" cy="6040515"/>
          </a:xfrm>
          <a:custGeom>
            <a:rect b="b" l="l" r="r" t="t"/>
            <a:pathLst>
              <a:path extrusionOk="0" h="6040515" w="6256920">
                <a:moveTo>
                  <a:pt x="0" y="0"/>
                </a:moveTo>
                <a:lnTo>
                  <a:pt x="6256920" y="0"/>
                </a:lnTo>
                <a:lnTo>
                  <a:pt x="6256920" y="6040515"/>
                </a:lnTo>
                <a:lnTo>
                  <a:pt x="0" y="6040515"/>
                </a:lnTo>
                <a:lnTo>
                  <a:pt x="0" y="0"/>
                </a:lnTo>
                <a:close/>
              </a:path>
            </a:pathLst>
          </a:custGeom>
          <a:blipFill rotWithShape="1">
            <a:blip r:embed="rId6">
              <a:alphaModFix/>
            </a:blip>
            <a:stretch>
              <a:fillRect b="0" l="0" r="0" t="0"/>
            </a:stretch>
          </a:blipFill>
          <a:ln>
            <a:noFill/>
          </a:ln>
        </p:spPr>
      </p:sp>
      <p:sp>
        <p:nvSpPr>
          <p:cNvPr id="653" name="Google Shape;653;p44"/>
          <p:cNvSpPr txBox="1"/>
          <p:nvPr/>
        </p:nvSpPr>
        <p:spPr>
          <a:xfrm>
            <a:off x="297724" y="186785"/>
            <a:ext cx="17334900" cy="140145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1" i="0" lang="en-US" sz="7000" u="none" cap="none" strike="noStrike">
                <a:solidFill>
                  <a:srgbClr val="FFBC19"/>
                </a:solidFill>
                <a:latin typeface="Nunito"/>
                <a:ea typeface="Nunito"/>
                <a:cs typeface="Nunito"/>
                <a:sym typeface="Nunito"/>
              </a:rPr>
              <a:t>Valores y Actitudes</a:t>
            </a:r>
            <a:endParaRPr/>
          </a:p>
        </p:txBody>
      </p:sp>
      <p:sp>
        <p:nvSpPr>
          <p:cNvPr id="654" name="Google Shape;654;p44"/>
          <p:cNvSpPr txBox="1"/>
          <p:nvPr/>
        </p:nvSpPr>
        <p:spPr>
          <a:xfrm>
            <a:off x="9139238" y="4652327"/>
            <a:ext cx="9525" cy="887095"/>
          </a:xfrm>
          <a:prstGeom prst="rect">
            <a:avLst/>
          </a:prstGeom>
          <a:noFill/>
          <a:ln>
            <a:noFill/>
          </a:ln>
        </p:spPr>
        <p:txBody>
          <a:bodyPr anchorCtr="0" anchor="t" bIns="0" lIns="0" spcFirstLastPara="1" rIns="0" wrap="square" tIns="0">
            <a:spAutoFit/>
          </a:bodyPr>
          <a:lstStyle/>
          <a:p>
            <a:pPr indent="0" lvl="0" marL="0" marR="0" rtl="0" algn="ctr">
              <a:lnSpc>
                <a:spcPct val="40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5" name="Google Shape;655;p44"/>
          <p:cNvSpPr txBox="1"/>
          <p:nvPr/>
        </p:nvSpPr>
        <p:spPr>
          <a:xfrm>
            <a:off x="7763089" y="5885578"/>
            <a:ext cx="2404170"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FFFFFF"/>
                </a:solidFill>
                <a:latin typeface="Open Sans"/>
                <a:ea typeface="Open Sans"/>
                <a:cs typeface="Open Sans"/>
                <a:sym typeface="Open Sans"/>
              </a:rPr>
              <a:t>Autonomía</a:t>
            </a:r>
            <a:endParaRPr/>
          </a:p>
        </p:txBody>
      </p:sp>
      <p:sp>
        <p:nvSpPr>
          <p:cNvPr id="656" name="Google Shape;656;p44"/>
          <p:cNvSpPr txBox="1"/>
          <p:nvPr/>
        </p:nvSpPr>
        <p:spPr>
          <a:xfrm>
            <a:off x="6835273" y="6661572"/>
            <a:ext cx="4626979" cy="3105223"/>
          </a:xfrm>
          <a:prstGeom prst="rect">
            <a:avLst/>
          </a:prstGeom>
          <a:noFill/>
          <a:ln>
            <a:noFill/>
          </a:ln>
        </p:spPr>
        <p:txBody>
          <a:bodyPr anchorCtr="0" anchor="t" bIns="0" lIns="0" spcFirstLastPara="1" rIns="0" wrap="square" tIns="0">
            <a:spAutoFit/>
          </a:bodyPr>
          <a:lstStyle/>
          <a:p>
            <a:pPr indent="0" lvl="0" marL="0" marR="0" rtl="0" algn="ctr">
              <a:lnSpc>
                <a:spcPct val="168014"/>
              </a:lnSpc>
              <a:spcBef>
                <a:spcPts val="0"/>
              </a:spcBef>
              <a:spcAft>
                <a:spcPts val="0"/>
              </a:spcAft>
              <a:buNone/>
            </a:pPr>
            <a:r>
              <a:rPr b="0" i="0" lang="en-US" sz="2498" u="none" cap="none" strike="noStrike">
                <a:solidFill>
                  <a:srgbClr val="FFFFFF"/>
                </a:solidFill>
                <a:latin typeface="Nunito"/>
                <a:ea typeface="Nunito"/>
                <a:cs typeface="Nunito"/>
                <a:sym typeface="Nunito"/>
              </a:rPr>
              <a:t>Investigar y aplicar comandos de verificación sin esperar todo de la guía del docente. Desarrollar soluciones ante problemas de propagación o etiquetado.</a:t>
            </a:r>
            <a:endParaRPr/>
          </a:p>
        </p:txBody>
      </p:sp>
      <p:sp>
        <p:nvSpPr>
          <p:cNvPr id="657" name="Google Shape;657;p44"/>
          <p:cNvSpPr txBox="1"/>
          <p:nvPr/>
        </p:nvSpPr>
        <p:spPr>
          <a:xfrm>
            <a:off x="12147569" y="2847030"/>
            <a:ext cx="4626979" cy="2581348"/>
          </a:xfrm>
          <a:prstGeom prst="rect">
            <a:avLst/>
          </a:prstGeom>
          <a:noFill/>
          <a:ln>
            <a:noFill/>
          </a:ln>
        </p:spPr>
        <p:txBody>
          <a:bodyPr anchorCtr="0" anchor="t" bIns="0" lIns="0" spcFirstLastPara="1" rIns="0" wrap="square" tIns="0">
            <a:spAutoFit/>
          </a:bodyPr>
          <a:lstStyle/>
          <a:p>
            <a:pPr indent="0" lvl="0" marL="0" marR="0" rtl="0" algn="ctr">
              <a:lnSpc>
                <a:spcPct val="168014"/>
              </a:lnSpc>
              <a:spcBef>
                <a:spcPts val="0"/>
              </a:spcBef>
              <a:spcAft>
                <a:spcPts val="0"/>
              </a:spcAft>
              <a:buNone/>
            </a:pPr>
            <a:r>
              <a:rPr b="0" i="0" lang="en-US" sz="2498" u="none" cap="none" strike="noStrike">
                <a:solidFill>
                  <a:srgbClr val="FFFFFF"/>
                </a:solidFill>
                <a:latin typeface="Nunito"/>
                <a:ea typeface="Nunito"/>
                <a:cs typeface="Nunito"/>
                <a:sym typeface="Nunito"/>
              </a:rPr>
              <a:t>Cumplir con las instrucciones asignadas (ej. dominio VTP, roles de cliente/servidor), completar la configuración sin omitir pasos.</a:t>
            </a:r>
            <a:endParaRPr/>
          </a:p>
        </p:txBody>
      </p:sp>
      <p:sp>
        <p:nvSpPr>
          <p:cNvPr id="658" name="Google Shape;658;p44"/>
          <p:cNvSpPr txBox="1"/>
          <p:nvPr/>
        </p:nvSpPr>
        <p:spPr>
          <a:xfrm>
            <a:off x="13919426" y="1835885"/>
            <a:ext cx="274081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FFFFFF"/>
                </a:solidFill>
                <a:latin typeface="Open Sans"/>
                <a:ea typeface="Open Sans"/>
                <a:cs typeface="Open Sans"/>
                <a:sym typeface="Open Sans"/>
              </a:rPr>
              <a:t>Compromiso</a:t>
            </a:r>
            <a:endParaRPr/>
          </a:p>
        </p:txBody>
      </p:sp>
      <p:sp>
        <p:nvSpPr>
          <p:cNvPr id="659" name="Google Shape;659;p44"/>
          <p:cNvSpPr/>
          <p:nvPr/>
        </p:nvSpPr>
        <p:spPr>
          <a:xfrm>
            <a:off x="1506169" y="1317387"/>
            <a:ext cx="6256920" cy="6040515"/>
          </a:xfrm>
          <a:custGeom>
            <a:rect b="b" l="l" r="r" t="t"/>
            <a:pathLst>
              <a:path extrusionOk="0" h="6040515" w="6256920">
                <a:moveTo>
                  <a:pt x="0" y="0"/>
                </a:moveTo>
                <a:lnTo>
                  <a:pt x="6256920" y="0"/>
                </a:lnTo>
                <a:lnTo>
                  <a:pt x="6256920" y="6040515"/>
                </a:lnTo>
                <a:lnTo>
                  <a:pt x="0" y="6040515"/>
                </a:lnTo>
                <a:lnTo>
                  <a:pt x="0" y="0"/>
                </a:lnTo>
                <a:close/>
              </a:path>
            </a:pathLst>
          </a:custGeom>
          <a:blipFill rotWithShape="1">
            <a:blip r:embed="rId7">
              <a:alphaModFix/>
            </a:blip>
            <a:stretch>
              <a:fillRect b="0" l="0" r="0" t="0"/>
            </a:stretch>
          </a:blipFill>
          <a:ln>
            <a:noFill/>
          </a:ln>
        </p:spPr>
      </p:sp>
      <p:sp>
        <p:nvSpPr>
          <p:cNvPr id="660" name="Google Shape;660;p44"/>
          <p:cNvSpPr txBox="1"/>
          <p:nvPr/>
        </p:nvSpPr>
        <p:spPr>
          <a:xfrm>
            <a:off x="1847672" y="3134589"/>
            <a:ext cx="4626979" cy="2581348"/>
          </a:xfrm>
          <a:prstGeom prst="rect">
            <a:avLst/>
          </a:prstGeom>
          <a:noFill/>
          <a:ln>
            <a:noFill/>
          </a:ln>
        </p:spPr>
        <p:txBody>
          <a:bodyPr anchorCtr="0" anchor="t" bIns="0" lIns="0" spcFirstLastPara="1" rIns="0" wrap="square" tIns="0">
            <a:spAutoFit/>
          </a:bodyPr>
          <a:lstStyle/>
          <a:p>
            <a:pPr indent="0" lvl="0" marL="0" marR="0" rtl="0" algn="ctr">
              <a:lnSpc>
                <a:spcPct val="168014"/>
              </a:lnSpc>
              <a:spcBef>
                <a:spcPts val="0"/>
              </a:spcBef>
              <a:spcAft>
                <a:spcPts val="0"/>
              </a:spcAft>
              <a:buNone/>
            </a:pPr>
            <a:r>
              <a:rPr b="0" i="0" lang="en-US" sz="2498" u="none" cap="none" strike="noStrike">
                <a:solidFill>
                  <a:srgbClr val="FFFFFF"/>
                </a:solidFill>
                <a:latin typeface="Nunito"/>
                <a:ea typeface="Nunito"/>
                <a:cs typeface="Nunito"/>
                <a:sym typeface="Nunito"/>
              </a:rPr>
              <a:t>No copiar configuraciones sin comprenderlas. Reportar resultados reales, incluso si no se logró la conectividad esperada.</a:t>
            </a:r>
            <a:endParaRPr/>
          </a:p>
        </p:txBody>
      </p:sp>
      <p:sp>
        <p:nvSpPr>
          <p:cNvPr id="661" name="Google Shape;661;p44"/>
          <p:cNvSpPr txBox="1"/>
          <p:nvPr/>
        </p:nvSpPr>
        <p:spPr>
          <a:xfrm>
            <a:off x="3639222" y="2228568"/>
            <a:ext cx="1043880"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FFFFFF"/>
                </a:solidFill>
                <a:latin typeface="Open Sans"/>
                <a:ea typeface="Open Sans"/>
                <a:cs typeface="Open Sans"/>
                <a:sym typeface="Open Sans"/>
              </a:rPr>
              <a:t>Ética</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65" name="Shape 665"/>
        <p:cNvGrpSpPr/>
        <p:nvPr/>
      </p:nvGrpSpPr>
      <p:grpSpPr>
        <a:xfrm>
          <a:off x="0" y="0"/>
          <a:ext cx="0" cy="0"/>
          <a:chOff x="0" y="0"/>
          <a:chExt cx="0" cy="0"/>
        </a:xfrm>
      </p:grpSpPr>
      <p:sp>
        <p:nvSpPr>
          <p:cNvPr id="666" name="Google Shape;666;p45"/>
          <p:cNvSpPr txBox="1"/>
          <p:nvPr/>
        </p:nvSpPr>
        <p:spPr>
          <a:xfrm>
            <a:off x="1626165" y="1665518"/>
            <a:ext cx="15035671"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9000" u="none" cap="none" strike="noStrike">
                <a:solidFill>
                  <a:srgbClr val="000000"/>
                </a:solidFill>
                <a:latin typeface="Fredoka"/>
                <a:ea typeface="Fredoka"/>
                <a:cs typeface="Fredoka"/>
                <a:sym typeface="Fredoka"/>
              </a:rPr>
              <a:t>Practiquemos lo aprendido</a:t>
            </a:r>
            <a:endParaRPr/>
          </a:p>
        </p:txBody>
      </p:sp>
      <p:pic>
        <p:nvPicPr>
          <p:cNvPr id="667" name="Google Shape;667;p45"/>
          <p:cNvPicPr preferRelativeResize="0"/>
          <p:nvPr/>
        </p:nvPicPr>
        <p:blipFill rotWithShape="1">
          <a:blip r:embed="rId3">
            <a:alphaModFix/>
          </a:blip>
          <a:srcRect b="0" l="0" r="0" t="0"/>
          <a:stretch/>
        </p:blipFill>
        <p:spPr>
          <a:xfrm flipH="1">
            <a:off x="-21944" y="0"/>
            <a:ext cx="11958233" cy="2098730"/>
          </a:xfrm>
          <a:prstGeom prst="rect">
            <a:avLst/>
          </a:prstGeom>
          <a:noFill/>
          <a:ln>
            <a:noFill/>
          </a:ln>
        </p:spPr>
      </p:pic>
      <p:pic>
        <p:nvPicPr>
          <p:cNvPr id="668" name="Google Shape;668;p45"/>
          <p:cNvPicPr preferRelativeResize="0"/>
          <p:nvPr/>
        </p:nvPicPr>
        <p:blipFill rotWithShape="1">
          <a:blip r:embed="rId4">
            <a:alphaModFix/>
          </a:blip>
          <a:srcRect b="46738" l="0" r="64033" t="0"/>
          <a:stretch/>
        </p:blipFill>
        <p:spPr>
          <a:xfrm rot="-5400000">
            <a:off x="1041561" y="4941242"/>
            <a:ext cx="4331879" cy="6415001"/>
          </a:xfrm>
          <a:prstGeom prst="rect">
            <a:avLst/>
          </a:prstGeom>
          <a:noFill/>
          <a:ln>
            <a:noFill/>
          </a:ln>
        </p:spPr>
      </p:pic>
      <p:sp>
        <p:nvSpPr>
          <p:cNvPr id="669" name="Google Shape;669;p45"/>
          <p:cNvSpPr/>
          <p:nvPr/>
        </p:nvSpPr>
        <p:spPr>
          <a:xfrm>
            <a:off x="5330411" y="2682339"/>
            <a:ext cx="7627178" cy="7627178"/>
          </a:xfrm>
          <a:custGeom>
            <a:rect b="b" l="l" r="r" t="t"/>
            <a:pathLst>
              <a:path extrusionOk="0" h="7627178" w="7627178">
                <a:moveTo>
                  <a:pt x="0" y="0"/>
                </a:moveTo>
                <a:lnTo>
                  <a:pt x="7627178" y="0"/>
                </a:lnTo>
                <a:lnTo>
                  <a:pt x="7627178" y="7627178"/>
                </a:lnTo>
                <a:lnTo>
                  <a:pt x="0" y="7627178"/>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77" name="Shape 677"/>
        <p:cNvGrpSpPr/>
        <p:nvPr/>
      </p:nvGrpSpPr>
      <p:grpSpPr>
        <a:xfrm>
          <a:off x="0" y="0"/>
          <a:ext cx="0" cy="0"/>
          <a:chOff x="0" y="0"/>
          <a:chExt cx="0" cy="0"/>
        </a:xfrm>
      </p:grpSpPr>
      <p:sp>
        <p:nvSpPr>
          <p:cNvPr id="678" name="Google Shape;678;p46"/>
          <p:cNvSpPr/>
          <p:nvPr/>
        </p:nvSpPr>
        <p:spPr>
          <a:xfrm>
            <a:off x="1646665" y="1694736"/>
            <a:ext cx="6713693" cy="6481490"/>
          </a:xfrm>
          <a:custGeom>
            <a:rect b="b" l="l" r="r" t="t"/>
            <a:pathLst>
              <a:path extrusionOk="0" h="6481490" w="6713693">
                <a:moveTo>
                  <a:pt x="0" y="0"/>
                </a:moveTo>
                <a:lnTo>
                  <a:pt x="6713693" y="0"/>
                </a:lnTo>
                <a:lnTo>
                  <a:pt x="6713693" y="6481490"/>
                </a:lnTo>
                <a:lnTo>
                  <a:pt x="0" y="6481490"/>
                </a:lnTo>
                <a:lnTo>
                  <a:pt x="0" y="0"/>
                </a:lnTo>
                <a:close/>
              </a:path>
            </a:pathLst>
          </a:custGeom>
          <a:blipFill rotWithShape="1">
            <a:blip r:embed="rId3">
              <a:alphaModFix/>
            </a:blip>
            <a:stretch>
              <a:fillRect b="0" l="0" r="0" t="0"/>
            </a:stretch>
          </a:blipFill>
          <a:ln>
            <a:noFill/>
          </a:ln>
        </p:spPr>
      </p:sp>
      <p:sp>
        <p:nvSpPr>
          <p:cNvPr id="679" name="Google Shape;679;p46"/>
          <p:cNvSpPr/>
          <p:nvPr/>
        </p:nvSpPr>
        <p:spPr>
          <a:xfrm rot="-7604887">
            <a:off x="9170688" y="3040945"/>
            <a:ext cx="7090099" cy="6844877"/>
          </a:xfrm>
          <a:custGeom>
            <a:rect b="b" l="l" r="r" t="t"/>
            <a:pathLst>
              <a:path extrusionOk="0" h="6844877" w="7090099">
                <a:moveTo>
                  <a:pt x="0" y="0"/>
                </a:moveTo>
                <a:lnTo>
                  <a:pt x="7090098" y="0"/>
                </a:lnTo>
                <a:lnTo>
                  <a:pt x="7090098" y="6844877"/>
                </a:lnTo>
                <a:lnTo>
                  <a:pt x="0" y="6844877"/>
                </a:lnTo>
                <a:lnTo>
                  <a:pt x="0" y="0"/>
                </a:lnTo>
                <a:close/>
              </a:path>
            </a:pathLst>
          </a:custGeom>
          <a:blipFill rotWithShape="1">
            <a:blip r:embed="rId3">
              <a:alphaModFix/>
            </a:blip>
            <a:stretch>
              <a:fillRect b="0" l="0" r="0" t="0"/>
            </a:stretch>
          </a:blipFill>
          <a:ln>
            <a:noFill/>
          </a:ln>
        </p:spPr>
      </p:sp>
      <p:sp>
        <p:nvSpPr>
          <p:cNvPr id="680" name="Google Shape;680;p46"/>
          <p:cNvSpPr/>
          <p:nvPr/>
        </p:nvSpPr>
        <p:spPr>
          <a:xfrm>
            <a:off x="-1754118" y="7105055"/>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4">
              <a:alphaModFix/>
            </a:blip>
            <a:stretch>
              <a:fillRect b="0" l="-3" r="-2" t="0"/>
            </a:stretch>
          </a:blipFill>
          <a:ln>
            <a:noFill/>
          </a:ln>
        </p:spPr>
      </p:sp>
      <p:sp>
        <p:nvSpPr>
          <p:cNvPr id="681" name="Google Shape;681;p46"/>
          <p:cNvSpPr/>
          <p:nvPr/>
        </p:nvSpPr>
        <p:spPr>
          <a:xfrm>
            <a:off x="15516035" y="9119688"/>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5">
              <a:alphaModFix/>
            </a:blip>
            <a:stretch>
              <a:fillRect b="-5" l="0" r="0" t="-5"/>
            </a:stretch>
          </a:blipFill>
          <a:ln>
            <a:noFill/>
          </a:ln>
        </p:spPr>
      </p:sp>
      <p:sp>
        <p:nvSpPr>
          <p:cNvPr id="682" name="Google Shape;682;p46"/>
          <p:cNvSpPr txBox="1"/>
          <p:nvPr/>
        </p:nvSpPr>
        <p:spPr>
          <a:xfrm>
            <a:off x="357794" y="504065"/>
            <a:ext cx="17334900" cy="138303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1" i="0" lang="en-US" sz="7000" u="none" cap="none" strike="noStrike">
                <a:solidFill>
                  <a:srgbClr val="FFBC19"/>
                </a:solidFill>
                <a:latin typeface="Nunito"/>
                <a:ea typeface="Nunito"/>
                <a:cs typeface="Nunito"/>
                <a:sym typeface="Nunito"/>
              </a:rPr>
              <a:t>Ejemplos</a:t>
            </a:r>
            <a:endParaRPr/>
          </a:p>
        </p:txBody>
      </p:sp>
      <p:sp>
        <p:nvSpPr>
          <p:cNvPr id="683" name="Google Shape;683;p46"/>
          <p:cNvSpPr txBox="1"/>
          <p:nvPr/>
        </p:nvSpPr>
        <p:spPr>
          <a:xfrm>
            <a:off x="9139238" y="4652327"/>
            <a:ext cx="9525" cy="887095"/>
          </a:xfrm>
          <a:prstGeom prst="rect">
            <a:avLst/>
          </a:prstGeom>
          <a:noFill/>
          <a:ln>
            <a:noFill/>
          </a:ln>
        </p:spPr>
        <p:txBody>
          <a:bodyPr anchorCtr="0" anchor="t" bIns="0" lIns="0" spcFirstLastPara="1" rIns="0" wrap="square" tIns="0">
            <a:spAutoFit/>
          </a:bodyPr>
          <a:lstStyle/>
          <a:p>
            <a:pPr indent="0" lvl="0" marL="0" marR="0" rtl="0" algn="ctr">
              <a:lnSpc>
                <a:spcPct val="40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4" name="Google Shape;684;p46"/>
          <p:cNvSpPr txBox="1"/>
          <p:nvPr/>
        </p:nvSpPr>
        <p:spPr>
          <a:xfrm>
            <a:off x="10246883" y="4783081"/>
            <a:ext cx="6080710" cy="3394560"/>
          </a:xfrm>
          <a:prstGeom prst="rect">
            <a:avLst/>
          </a:prstGeom>
          <a:noFill/>
          <a:ln>
            <a:noFill/>
          </a:ln>
        </p:spPr>
        <p:txBody>
          <a:bodyPr anchorCtr="0" anchor="t" bIns="0" lIns="0" spcFirstLastPara="1" rIns="0" wrap="square" tIns="0">
            <a:spAutoFit/>
          </a:bodyPr>
          <a:lstStyle/>
          <a:p>
            <a:pPr indent="0" lvl="0" marL="0" marR="0" rtl="0" algn="ctr">
              <a:lnSpc>
                <a:spcPct val="168017"/>
              </a:lnSpc>
              <a:spcBef>
                <a:spcPts val="0"/>
              </a:spcBef>
              <a:spcAft>
                <a:spcPts val="0"/>
              </a:spcAft>
              <a:buNone/>
            </a:pPr>
            <a:r>
              <a:rPr b="0" i="0" lang="en-US" sz="3283" u="none" cap="none" strike="noStrike">
                <a:solidFill>
                  <a:srgbClr val="FFFFFF"/>
                </a:solidFill>
                <a:latin typeface="Nunito"/>
                <a:ea typeface="Nunito"/>
                <a:cs typeface="Nunito"/>
                <a:sym typeface="Nunito"/>
              </a:rPr>
              <a:t>En la red de un hospital los equipos médicos se pueden configurar en una VLAN aislada para reducir interferencias y mantener seguridad.</a:t>
            </a:r>
            <a:endParaRPr/>
          </a:p>
        </p:txBody>
      </p:sp>
      <p:sp>
        <p:nvSpPr>
          <p:cNvPr id="685" name="Google Shape;685;p46"/>
          <p:cNvSpPr txBox="1"/>
          <p:nvPr/>
        </p:nvSpPr>
        <p:spPr>
          <a:xfrm>
            <a:off x="2072937" y="3138935"/>
            <a:ext cx="5280847" cy="4135322"/>
          </a:xfrm>
          <a:prstGeom prst="rect">
            <a:avLst/>
          </a:prstGeom>
          <a:noFill/>
          <a:ln>
            <a:noFill/>
          </a:ln>
        </p:spPr>
        <p:txBody>
          <a:bodyPr anchorCtr="0" anchor="t" bIns="0" lIns="0" spcFirstLastPara="1" rIns="0" wrap="square" tIns="0">
            <a:spAutoFit/>
          </a:bodyPr>
          <a:lstStyle/>
          <a:p>
            <a:pPr indent="0" lvl="0" marL="0" marR="0" rtl="0" algn="ctr">
              <a:lnSpc>
                <a:spcPct val="168046"/>
              </a:lnSpc>
              <a:spcBef>
                <a:spcPts val="0"/>
              </a:spcBef>
              <a:spcAft>
                <a:spcPts val="0"/>
              </a:spcAft>
              <a:buNone/>
            </a:pPr>
            <a:r>
              <a:rPr b="0" i="0" lang="en-US" sz="2851" u="none" cap="none" strike="noStrike">
                <a:solidFill>
                  <a:srgbClr val="FFFFFF"/>
                </a:solidFill>
                <a:latin typeface="Nunito"/>
                <a:ea typeface="Nunito"/>
                <a:cs typeface="Nunito"/>
                <a:sym typeface="Nunito"/>
              </a:rPr>
              <a:t>En una empresa con varios switches distribuidos por pisos o edificios, el VTP permite crear las VLANs en un solo switch (servidor) y propagarlas automáticamente a los demás (clientes).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93" name="Shape 693"/>
        <p:cNvGrpSpPr/>
        <p:nvPr/>
      </p:nvGrpSpPr>
      <p:grpSpPr>
        <a:xfrm>
          <a:off x="0" y="0"/>
          <a:ext cx="0" cy="0"/>
          <a:chOff x="0" y="0"/>
          <a:chExt cx="0" cy="0"/>
        </a:xfrm>
      </p:grpSpPr>
      <p:sp>
        <p:nvSpPr>
          <p:cNvPr id="694" name="Google Shape;694;p47"/>
          <p:cNvSpPr/>
          <p:nvPr/>
        </p:nvSpPr>
        <p:spPr>
          <a:xfrm>
            <a:off x="13344495" y="-456363"/>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3">
              <a:alphaModFix/>
            </a:blip>
            <a:stretch>
              <a:fillRect b="-5" l="0" r="0" t="-5"/>
            </a:stretch>
          </a:blipFill>
          <a:ln>
            <a:noFill/>
          </a:ln>
        </p:spPr>
      </p:sp>
      <p:sp>
        <p:nvSpPr>
          <p:cNvPr id="695" name="Google Shape;695;p47"/>
          <p:cNvSpPr/>
          <p:nvPr/>
        </p:nvSpPr>
        <p:spPr>
          <a:xfrm>
            <a:off x="14147942" y="6411178"/>
            <a:ext cx="3374612" cy="3374612"/>
          </a:xfrm>
          <a:custGeom>
            <a:rect b="b" l="l" r="r" t="t"/>
            <a:pathLst>
              <a:path extrusionOk="0" h="4499483" w="4499483">
                <a:moveTo>
                  <a:pt x="0" y="0"/>
                </a:moveTo>
                <a:lnTo>
                  <a:pt x="4499483" y="0"/>
                </a:lnTo>
                <a:lnTo>
                  <a:pt x="4499483" y="4499483"/>
                </a:lnTo>
                <a:lnTo>
                  <a:pt x="0" y="4499483"/>
                </a:lnTo>
                <a:lnTo>
                  <a:pt x="0" y="0"/>
                </a:lnTo>
                <a:close/>
              </a:path>
            </a:pathLst>
          </a:custGeom>
          <a:blipFill rotWithShape="1">
            <a:blip r:embed="rId4">
              <a:alphaModFix/>
            </a:blip>
            <a:stretch>
              <a:fillRect b="0" l="0" r="0" t="0"/>
            </a:stretch>
          </a:blipFill>
          <a:ln>
            <a:noFill/>
          </a:ln>
        </p:spPr>
      </p:sp>
      <p:sp>
        <p:nvSpPr>
          <p:cNvPr id="696" name="Google Shape;696;p47"/>
          <p:cNvSpPr/>
          <p:nvPr/>
        </p:nvSpPr>
        <p:spPr>
          <a:xfrm>
            <a:off x="-2672942" y="7261876"/>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5">
              <a:alphaModFix/>
            </a:blip>
            <a:stretch>
              <a:fillRect b="0" l="-17" r="-15" t="0"/>
            </a:stretch>
          </a:blipFill>
          <a:ln>
            <a:noFill/>
          </a:ln>
        </p:spPr>
      </p:sp>
      <p:sp>
        <p:nvSpPr>
          <p:cNvPr id="697" name="Google Shape;697;p47"/>
          <p:cNvSpPr txBox="1"/>
          <p:nvPr/>
        </p:nvSpPr>
        <p:spPr>
          <a:xfrm>
            <a:off x="1296966" y="2320272"/>
            <a:ext cx="16038072" cy="5483648"/>
          </a:xfrm>
          <a:prstGeom prst="rect">
            <a:avLst/>
          </a:prstGeom>
          <a:noFill/>
          <a:ln>
            <a:noFill/>
          </a:ln>
        </p:spPr>
        <p:txBody>
          <a:bodyPr anchorCtr="0" anchor="t" bIns="0" lIns="0" spcFirstLastPara="1" rIns="0" wrap="square" tIns="0">
            <a:spAutoFit/>
          </a:bodyPr>
          <a:lstStyle/>
          <a:p>
            <a:pPr indent="-224973" lvl="2" marL="674922" marR="0" rtl="0" algn="l">
              <a:lnSpc>
                <a:spcPct val="240006"/>
              </a:lnSpc>
              <a:spcBef>
                <a:spcPts val="0"/>
              </a:spcBef>
              <a:spcAft>
                <a:spcPts val="0"/>
              </a:spcAft>
              <a:buClr>
                <a:srgbClr val="FFBC19"/>
              </a:buClr>
              <a:buSzPts val="2952"/>
              <a:buFont typeface="Nunito"/>
              <a:buAutoNum type="arabicPeriod"/>
            </a:pPr>
            <a:r>
              <a:rPr b="0" i="0" lang="en-US" sz="2952" u="none" cap="none" strike="noStrike">
                <a:solidFill>
                  <a:srgbClr val="FFBC19"/>
                </a:solidFill>
                <a:latin typeface="Nunito"/>
                <a:ea typeface="Nunito"/>
                <a:cs typeface="Nunito"/>
                <a:sym typeface="Nunito"/>
              </a:rPr>
              <a:t>https://standards.ieee.org/standard/802_1q-2018.html IEEE Standards Association</a:t>
            </a:r>
            <a:endParaRPr/>
          </a:p>
          <a:p>
            <a:pPr indent="-224973" lvl="2" marL="674922" marR="0" rtl="0" algn="l">
              <a:lnSpc>
                <a:spcPct val="240006"/>
              </a:lnSpc>
              <a:spcBef>
                <a:spcPts val="0"/>
              </a:spcBef>
              <a:spcAft>
                <a:spcPts val="0"/>
              </a:spcAft>
              <a:buClr>
                <a:srgbClr val="FFBC19"/>
              </a:buClr>
              <a:buSzPts val="2952"/>
              <a:buFont typeface="Nunito"/>
              <a:buAutoNum type="arabicPeriod"/>
            </a:pPr>
            <a:r>
              <a:rPr b="0" i="0" lang="en-US" sz="2952" u="none" cap="none" strike="noStrike">
                <a:solidFill>
                  <a:srgbClr val="FFBC19"/>
                </a:solidFill>
                <a:latin typeface="Nunito"/>
                <a:ea typeface="Nunito"/>
                <a:cs typeface="Nunito"/>
                <a:sym typeface="Nunito"/>
              </a:rPr>
              <a:t>https://www.cisco.com/c/en/us/support/docs/lan-switching/vtp/98154-conf-vlan.html Cisco</a:t>
            </a:r>
            <a:endParaRPr/>
          </a:p>
          <a:p>
            <a:pPr indent="-224973" lvl="2" marL="674922" marR="0" rtl="0" algn="l">
              <a:lnSpc>
                <a:spcPct val="240006"/>
              </a:lnSpc>
              <a:spcBef>
                <a:spcPts val="0"/>
              </a:spcBef>
              <a:spcAft>
                <a:spcPts val="0"/>
              </a:spcAft>
              <a:buClr>
                <a:srgbClr val="FFBC19"/>
              </a:buClr>
              <a:buSzPts val="2952"/>
              <a:buFont typeface="Nunito"/>
              <a:buAutoNum type="arabicPeriod"/>
            </a:pPr>
            <a:r>
              <a:rPr b="0" i="0" lang="en-US" sz="2952" u="none" cap="none" strike="noStrike">
                <a:solidFill>
                  <a:srgbClr val="FFBC19"/>
                </a:solidFill>
                <a:latin typeface="Nunito"/>
                <a:ea typeface="Nunito"/>
                <a:cs typeface="Nunito"/>
                <a:sym typeface="Nunito"/>
              </a:rPr>
              <a:t>https://www.cisco.com/en/US/docs/switches/lan/catalyst3850/software/release/3se/consolidated_guide/b_consolidated_3850_3se_cg_chapter_010000111.html Cisco</a:t>
            </a:r>
            <a:endParaRPr/>
          </a:p>
          <a:p>
            <a:pPr indent="-224973" lvl="2" marL="674922" marR="0" rtl="0" algn="l">
              <a:lnSpc>
                <a:spcPct val="240006"/>
              </a:lnSpc>
              <a:spcBef>
                <a:spcPts val="0"/>
              </a:spcBef>
              <a:spcAft>
                <a:spcPts val="0"/>
              </a:spcAft>
              <a:buClr>
                <a:srgbClr val="FFBC19"/>
              </a:buClr>
              <a:buSzPts val="2952"/>
              <a:buFont typeface="Nunito"/>
              <a:buAutoNum type="arabicPeriod"/>
            </a:pPr>
            <a:r>
              <a:rPr b="0" i="0" lang="en-US" sz="2952" u="none" cap="none" strike="noStrike">
                <a:solidFill>
                  <a:srgbClr val="FFBC19"/>
                </a:solidFill>
                <a:latin typeface="Nunito"/>
                <a:ea typeface="Nunito"/>
                <a:cs typeface="Nunito"/>
                <a:sym typeface="Nunito"/>
              </a:rPr>
              <a:t>https://www.cisco.com/c/en/us/td/docs/switches/datacenter/sw/nx-os/layer2/configuration/guide/b_Cisco_Nexus_7000_Series_NX-OS_Layer_2_Switching_Configuration_Guide/config_vtp.html</a:t>
            </a:r>
            <a:endParaRPr/>
          </a:p>
        </p:txBody>
      </p:sp>
      <p:sp>
        <p:nvSpPr>
          <p:cNvPr id="698" name="Google Shape;698;p47"/>
          <p:cNvSpPr txBox="1"/>
          <p:nvPr/>
        </p:nvSpPr>
        <p:spPr>
          <a:xfrm>
            <a:off x="0" y="31755"/>
            <a:ext cx="17335038" cy="1527165"/>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7000" u="none" cap="none" strike="noStrike">
                <a:solidFill>
                  <a:srgbClr val="FFBC19"/>
                </a:solidFill>
                <a:latin typeface="Sniglet"/>
                <a:ea typeface="Sniglet"/>
                <a:cs typeface="Sniglet"/>
                <a:sym typeface="Sniglet"/>
              </a:rPr>
              <a:t>Referencias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702" name="Shape 702"/>
        <p:cNvGrpSpPr/>
        <p:nvPr/>
      </p:nvGrpSpPr>
      <p:grpSpPr>
        <a:xfrm>
          <a:off x="0" y="0"/>
          <a:ext cx="0" cy="0"/>
          <a:chOff x="0" y="0"/>
          <a:chExt cx="0" cy="0"/>
        </a:xfrm>
      </p:grpSpPr>
      <p:sp>
        <p:nvSpPr>
          <p:cNvPr id="703" name="Google Shape;703;p48"/>
          <p:cNvSpPr txBox="1"/>
          <p:nvPr/>
        </p:nvSpPr>
        <p:spPr>
          <a:xfrm>
            <a:off x="5691256" y="4232823"/>
            <a:ext cx="9772901"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9000" u="none" cap="none" strike="noStrike">
                <a:solidFill>
                  <a:srgbClr val="000000"/>
                </a:solidFill>
                <a:latin typeface="Fredoka"/>
                <a:ea typeface="Fredoka"/>
                <a:cs typeface="Fredoka"/>
                <a:sym typeface="Fredoka"/>
              </a:rPr>
              <a:t>Ejemplo Práctico</a:t>
            </a:r>
            <a:endParaRPr/>
          </a:p>
        </p:txBody>
      </p:sp>
      <p:pic>
        <p:nvPicPr>
          <p:cNvPr id="704" name="Google Shape;704;p48"/>
          <p:cNvPicPr preferRelativeResize="0"/>
          <p:nvPr/>
        </p:nvPicPr>
        <p:blipFill rotWithShape="1">
          <a:blip r:embed="rId3">
            <a:alphaModFix/>
          </a:blip>
          <a:srcRect b="0" l="0" r="0" t="0"/>
          <a:stretch/>
        </p:blipFill>
        <p:spPr>
          <a:xfrm flipH="1">
            <a:off x="-21944" y="0"/>
            <a:ext cx="11958233" cy="2098730"/>
          </a:xfrm>
          <a:prstGeom prst="rect">
            <a:avLst/>
          </a:prstGeom>
          <a:noFill/>
          <a:ln>
            <a:noFill/>
          </a:ln>
        </p:spPr>
      </p:pic>
      <p:pic>
        <p:nvPicPr>
          <p:cNvPr id="705" name="Google Shape;705;p48"/>
          <p:cNvPicPr preferRelativeResize="0"/>
          <p:nvPr/>
        </p:nvPicPr>
        <p:blipFill rotWithShape="1">
          <a:blip r:embed="rId4">
            <a:alphaModFix/>
          </a:blip>
          <a:srcRect b="46738" l="0" r="64033" t="0"/>
          <a:stretch/>
        </p:blipFill>
        <p:spPr>
          <a:xfrm rot="-5400000">
            <a:off x="1041561" y="4941242"/>
            <a:ext cx="4331879" cy="6415001"/>
          </a:xfrm>
          <a:prstGeom prst="rect">
            <a:avLst/>
          </a:prstGeom>
          <a:noFill/>
          <a:ln>
            <a:noFill/>
          </a:ln>
        </p:spPr>
      </p:pic>
      <p:sp>
        <p:nvSpPr>
          <p:cNvPr id="706" name="Google Shape;706;p48"/>
          <p:cNvSpPr/>
          <p:nvPr/>
        </p:nvSpPr>
        <p:spPr>
          <a:xfrm>
            <a:off x="0" y="2487872"/>
            <a:ext cx="5691256" cy="7799128"/>
          </a:xfrm>
          <a:custGeom>
            <a:rect b="b" l="l" r="r" t="t"/>
            <a:pathLst>
              <a:path extrusionOk="0" h="7799128" w="5691256">
                <a:moveTo>
                  <a:pt x="0" y="0"/>
                </a:moveTo>
                <a:lnTo>
                  <a:pt x="5691256" y="0"/>
                </a:lnTo>
                <a:lnTo>
                  <a:pt x="5691256" y="7799128"/>
                </a:lnTo>
                <a:lnTo>
                  <a:pt x="0" y="7799128"/>
                </a:lnTo>
                <a:lnTo>
                  <a:pt x="0" y="0"/>
                </a:lnTo>
                <a:close/>
              </a:path>
            </a:pathLst>
          </a:custGeom>
          <a:blipFill rotWithShape="1">
            <a:blip r:embed="rId5">
              <a:alphaModFix/>
            </a:blip>
            <a:stretch>
              <a:fillRect b="-324" l="0" r="0" t="-325"/>
            </a:stretch>
          </a:blipFill>
          <a:ln>
            <a:noFill/>
          </a:ln>
        </p:spPr>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710" name="Shape 710"/>
        <p:cNvGrpSpPr/>
        <p:nvPr/>
      </p:nvGrpSpPr>
      <p:grpSpPr>
        <a:xfrm>
          <a:off x="0" y="0"/>
          <a:ext cx="0" cy="0"/>
          <a:chOff x="0" y="0"/>
          <a:chExt cx="0" cy="0"/>
        </a:xfrm>
      </p:grpSpPr>
      <p:pic>
        <p:nvPicPr>
          <p:cNvPr id="711" name="Google Shape;711;p49"/>
          <p:cNvPicPr preferRelativeResize="0"/>
          <p:nvPr/>
        </p:nvPicPr>
        <p:blipFill rotWithShape="1">
          <a:blip r:embed="rId3">
            <a:alphaModFix/>
          </a:blip>
          <a:srcRect b="0" l="0" r="0" t="0"/>
          <a:stretch/>
        </p:blipFill>
        <p:spPr>
          <a:xfrm rot="-7408585">
            <a:off x="4603716" y="-295255"/>
            <a:ext cx="9289290" cy="10369815"/>
          </a:xfrm>
          <a:prstGeom prst="rect">
            <a:avLst/>
          </a:prstGeom>
          <a:noFill/>
          <a:ln>
            <a:noFill/>
          </a:ln>
        </p:spPr>
      </p:pic>
      <p:pic>
        <p:nvPicPr>
          <p:cNvPr id="712" name="Google Shape;712;p49"/>
          <p:cNvPicPr preferRelativeResize="0"/>
          <p:nvPr/>
        </p:nvPicPr>
        <p:blipFill rotWithShape="1">
          <a:blip r:embed="rId4">
            <a:alphaModFix/>
          </a:blip>
          <a:srcRect b="0" l="62989" r="0" t="67035"/>
          <a:stretch/>
        </p:blipFill>
        <p:spPr>
          <a:xfrm rot="5400000">
            <a:off x="-202103" y="6179918"/>
            <a:ext cx="4312936" cy="3841377"/>
          </a:xfrm>
          <a:prstGeom prst="rect">
            <a:avLst/>
          </a:prstGeom>
          <a:noFill/>
          <a:ln>
            <a:noFill/>
          </a:ln>
        </p:spPr>
      </p:pic>
      <p:pic>
        <p:nvPicPr>
          <p:cNvPr id="713" name="Google Shape;713;p49"/>
          <p:cNvPicPr preferRelativeResize="0"/>
          <p:nvPr/>
        </p:nvPicPr>
        <p:blipFill rotWithShape="1">
          <a:blip r:embed="rId5">
            <a:alphaModFix/>
          </a:blip>
          <a:srcRect b="0" l="0" r="0" t="0"/>
          <a:stretch/>
        </p:blipFill>
        <p:spPr>
          <a:xfrm>
            <a:off x="11640279" y="-4239083"/>
            <a:ext cx="8152651" cy="8478165"/>
          </a:xfrm>
          <a:prstGeom prst="rect">
            <a:avLst/>
          </a:prstGeom>
          <a:noFill/>
          <a:ln>
            <a:noFill/>
          </a:ln>
        </p:spPr>
      </p:pic>
      <p:grpSp>
        <p:nvGrpSpPr>
          <p:cNvPr id="714" name="Google Shape;714;p49"/>
          <p:cNvGrpSpPr/>
          <p:nvPr/>
        </p:nvGrpSpPr>
        <p:grpSpPr>
          <a:xfrm>
            <a:off x="7705311" y="778340"/>
            <a:ext cx="3086100" cy="3086100"/>
            <a:chOff x="0" y="0"/>
            <a:chExt cx="812800" cy="812800"/>
          </a:xfrm>
        </p:grpSpPr>
        <p:sp>
          <p:nvSpPr>
            <p:cNvPr id="715" name="Google Shape;715;p4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4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17" name="Google Shape;717;p49"/>
          <p:cNvSpPr/>
          <p:nvPr/>
        </p:nvSpPr>
        <p:spPr>
          <a:xfrm>
            <a:off x="4425422" y="64348"/>
            <a:ext cx="9437156" cy="5879790"/>
          </a:xfrm>
          <a:custGeom>
            <a:rect b="b" l="l" r="r" t="t"/>
            <a:pathLst>
              <a:path extrusionOk="0" h="5879790" w="9437156">
                <a:moveTo>
                  <a:pt x="0" y="0"/>
                </a:moveTo>
                <a:lnTo>
                  <a:pt x="9437156" y="0"/>
                </a:lnTo>
                <a:lnTo>
                  <a:pt x="9437156" y="5879790"/>
                </a:lnTo>
                <a:lnTo>
                  <a:pt x="0" y="5879790"/>
                </a:lnTo>
                <a:lnTo>
                  <a:pt x="0" y="0"/>
                </a:lnTo>
                <a:close/>
              </a:path>
            </a:pathLst>
          </a:custGeom>
          <a:blipFill rotWithShape="1">
            <a:blip r:embed="rId6">
              <a:alphaModFix/>
            </a:blip>
            <a:stretch>
              <a:fillRect b="0" l="-244" r="-244" t="0"/>
            </a:stretch>
          </a:blipFill>
          <a:ln>
            <a:noFill/>
          </a:ln>
        </p:spPr>
      </p:sp>
      <p:sp>
        <p:nvSpPr>
          <p:cNvPr id="718" name="Google Shape;718;p49"/>
          <p:cNvSpPr txBox="1"/>
          <p:nvPr/>
        </p:nvSpPr>
        <p:spPr>
          <a:xfrm>
            <a:off x="6466438" y="6103109"/>
            <a:ext cx="5355123" cy="1296858"/>
          </a:xfrm>
          <a:prstGeom prst="rect">
            <a:avLst/>
          </a:prstGeom>
          <a:noFill/>
          <a:ln>
            <a:noFill/>
          </a:ln>
        </p:spPr>
        <p:txBody>
          <a:bodyPr anchorCtr="0" anchor="t" bIns="0" lIns="0" spcFirstLastPara="1" rIns="0" wrap="square" tIns="0">
            <a:spAutoFit/>
          </a:bodyPr>
          <a:lstStyle/>
          <a:p>
            <a:pPr indent="0" lvl="0" marL="0" marR="0" rtl="0" algn="ctr">
              <a:lnSpc>
                <a:spcPct val="130001"/>
              </a:lnSpc>
              <a:spcBef>
                <a:spcPts val="0"/>
              </a:spcBef>
              <a:spcAft>
                <a:spcPts val="0"/>
              </a:spcAft>
              <a:buNone/>
            </a:pPr>
            <a:r>
              <a:rPr b="0" i="0" lang="en-US" sz="6973" u="none" cap="none" strike="noStrike">
                <a:solidFill>
                  <a:srgbClr val="000000"/>
                </a:solidFill>
                <a:latin typeface="Overpass"/>
                <a:ea typeface="Overpass"/>
                <a:cs typeface="Overpass"/>
                <a:sym typeface="Overpass"/>
              </a:rPr>
              <a:t>¿Dudas?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726" name="Shape 726"/>
        <p:cNvGrpSpPr/>
        <p:nvPr/>
      </p:nvGrpSpPr>
      <p:grpSpPr>
        <a:xfrm>
          <a:off x="0" y="0"/>
          <a:ext cx="0" cy="0"/>
          <a:chOff x="0" y="0"/>
          <a:chExt cx="0" cy="0"/>
        </a:xfrm>
      </p:grpSpPr>
      <p:sp>
        <p:nvSpPr>
          <p:cNvPr id="727" name="Google Shape;727;p50"/>
          <p:cNvSpPr/>
          <p:nvPr/>
        </p:nvSpPr>
        <p:spPr>
          <a:xfrm>
            <a:off x="-2432015" y="5003282"/>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728" name="Google Shape;728;p50"/>
          <p:cNvSpPr/>
          <p:nvPr/>
        </p:nvSpPr>
        <p:spPr>
          <a:xfrm>
            <a:off x="2180618" y="1607607"/>
            <a:ext cx="2483549" cy="3395662"/>
          </a:xfrm>
          <a:custGeom>
            <a:rect b="b" l="l" r="r" t="t"/>
            <a:pathLst>
              <a:path extrusionOk="0" h="4527550" w="3311398">
                <a:moveTo>
                  <a:pt x="0" y="0"/>
                </a:moveTo>
                <a:lnTo>
                  <a:pt x="3311398" y="0"/>
                </a:lnTo>
                <a:lnTo>
                  <a:pt x="3311398" y="4527550"/>
                </a:lnTo>
                <a:lnTo>
                  <a:pt x="0" y="4527550"/>
                </a:lnTo>
                <a:lnTo>
                  <a:pt x="0" y="0"/>
                </a:lnTo>
                <a:close/>
              </a:path>
            </a:pathLst>
          </a:custGeom>
          <a:blipFill rotWithShape="1">
            <a:blip r:embed="rId4">
              <a:alphaModFix/>
            </a:blip>
            <a:stretch>
              <a:fillRect b="0" l="-46" r="-48" t="0"/>
            </a:stretch>
          </a:blipFill>
          <a:ln>
            <a:noFill/>
          </a:ln>
        </p:spPr>
      </p:sp>
      <p:sp>
        <p:nvSpPr>
          <p:cNvPr id="729" name="Google Shape;729;p50"/>
          <p:cNvSpPr txBox="1"/>
          <p:nvPr/>
        </p:nvSpPr>
        <p:spPr>
          <a:xfrm>
            <a:off x="5938125" y="1908432"/>
            <a:ext cx="9709173" cy="4098341"/>
          </a:xfrm>
          <a:prstGeom prst="rect">
            <a:avLst/>
          </a:prstGeom>
          <a:noFill/>
          <a:ln>
            <a:noFill/>
          </a:ln>
        </p:spPr>
        <p:txBody>
          <a:bodyPr anchorCtr="0" anchor="t" bIns="0" lIns="0" spcFirstLastPara="1" rIns="0" wrap="square" tIns="0">
            <a:spAutoFit/>
          </a:bodyPr>
          <a:lstStyle/>
          <a:p>
            <a:pPr indent="0" lvl="0" marL="0" marR="0" rtl="0" algn="ctr">
              <a:lnSpc>
                <a:spcPct val="168022"/>
              </a:lnSpc>
              <a:spcBef>
                <a:spcPts val="0"/>
              </a:spcBef>
              <a:spcAft>
                <a:spcPts val="0"/>
              </a:spcAft>
              <a:buNone/>
            </a:pPr>
            <a:r>
              <a:rPr b="0" i="0" lang="en-US" sz="9954" u="none" cap="none" strike="noStrike">
                <a:solidFill>
                  <a:srgbClr val="FFBC19"/>
                </a:solidFill>
                <a:latin typeface="Anton"/>
                <a:ea typeface="Anton"/>
                <a:cs typeface="Anton"/>
                <a:sym typeface="Anton"/>
              </a:rPr>
              <a:t>¡Gracias por su atención!</a:t>
            </a:r>
            <a:endParaRPr/>
          </a:p>
        </p:txBody>
      </p:sp>
      <p:sp>
        <p:nvSpPr>
          <p:cNvPr id="730" name="Google Shape;730;p50"/>
          <p:cNvSpPr txBox="1"/>
          <p:nvPr/>
        </p:nvSpPr>
        <p:spPr>
          <a:xfrm>
            <a:off x="5365277" y="6137075"/>
            <a:ext cx="12067302" cy="1501753"/>
          </a:xfrm>
          <a:prstGeom prst="rect">
            <a:avLst/>
          </a:prstGeom>
          <a:noFill/>
          <a:ln>
            <a:noFill/>
          </a:ln>
        </p:spPr>
        <p:txBody>
          <a:bodyPr anchorCtr="0" anchor="t" bIns="0" lIns="0" spcFirstLastPara="1" rIns="0" wrap="square" tIns="0">
            <a:spAutoFit/>
          </a:bodyPr>
          <a:lstStyle/>
          <a:p>
            <a:pPr indent="0" lvl="0" marL="0" marR="0" rtl="0" algn="ctr">
              <a:lnSpc>
                <a:spcPct val="240037"/>
              </a:lnSpc>
              <a:spcBef>
                <a:spcPts val="0"/>
              </a:spcBef>
              <a:spcAft>
                <a:spcPts val="0"/>
              </a:spcAft>
              <a:buNone/>
            </a:pPr>
            <a:r>
              <a:rPr b="0" i="0" lang="en-US" sz="2645" u="none" cap="none" strike="noStrike">
                <a:solidFill>
                  <a:srgbClr val="FFBC19"/>
                </a:solidFill>
                <a:latin typeface="Nunito"/>
                <a:ea typeface="Nunito"/>
                <a:cs typeface="Nunito"/>
                <a:sym typeface="Nunito"/>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