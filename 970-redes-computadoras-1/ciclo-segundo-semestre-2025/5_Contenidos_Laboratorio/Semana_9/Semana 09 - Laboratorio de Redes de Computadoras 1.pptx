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10287000" cx="18288000"/>
  <p:notesSz cx="6858000" cy="9144000"/>
  <p:embeddedFontLst>
    <p:embeddedFont>
      <p:font typeface="Noto Sans"/>
      <p:regular r:id="rId39"/>
      <p:bold r:id="rId40"/>
      <p:italic r:id="rId41"/>
      <p:boldItalic r:id="rId42"/>
    </p:embeddedFont>
    <p:embeddedFont>
      <p:font typeface="Shantell Sans"/>
      <p:bold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jelJz/PMxiPCLsn2kC4jAa6le4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698F7C-68BB-4B82-BE31-8A5D7D46CE8A}">
  <a:tblStyle styleId="{D7698F7C-68BB-4B82-BE31-8A5D7D46CE8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otoSans-bold.fntdata"/><Relationship Id="rId20" Type="http://schemas.openxmlformats.org/officeDocument/2006/relationships/slide" Target="slides/slide14.xml"/><Relationship Id="rId42" Type="http://schemas.openxmlformats.org/officeDocument/2006/relationships/font" Target="fonts/NotoSans-boldItalic.fntdata"/><Relationship Id="rId41" Type="http://schemas.openxmlformats.org/officeDocument/2006/relationships/font" Target="fonts/NotoSans-italic.fntdata"/><Relationship Id="rId22" Type="http://schemas.openxmlformats.org/officeDocument/2006/relationships/slide" Target="slides/slide16.xml"/><Relationship Id="rId44" Type="http://schemas.openxmlformats.org/officeDocument/2006/relationships/font" Target="fonts/ShantellSans-boldItalic.fntdata"/><Relationship Id="rId21" Type="http://schemas.openxmlformats.org/officeDocument/2006/relationships/slide" Target="slides/slide15.xml"/><Relationship Id="rId43" Type="http://schemas.openxmlformats.org/officeDocument/2006/relationships/font" Target="fonts/ShantellSans-bold.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NotoSans-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2"/>
          <p:cNvSpPr/>
          <p:nvPr>
            <p:ph idx="2" type="pic"/>
          </p:nvPr>
        </p:nvSpPr>
        <p:spPr>
          <a:xfrm>
            <a:off x="1792288" y="612775"/>
            <a:ext cx="5486400" cy="4114800"/>
          </a:xfrm>
          <a:prstGeom prst="rect">
            <a:avLst/>
          </a:prstGeom>
          <a:noFill/>
          <a:ln>
            <a:noFill/>
          </a:ln>
        </p:spPr>
      </p:sp>
      <p:sp>
        <p:nvSpPr>
          <p:cNvPr id="64" name="Google Shape;64;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23.png"/><Relationship Id="rId5" Type="http://schemas.openxmlformats.org/officeDocument/2006/relationships/image" Target="../media/image17.png"/><Relationship Id="rId6" Type="http://schemas.openxmlformats.org/officeDocument/2006/relationships/image" Target="../media/image24.png"/><Relationship Id="rId7" Type="http://schemas.openxmlformats.org/officeDocument/2006/relationships/image" Target="../media/image21.png"/><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0.png"/><Relationship Id="rId9" Type="http://schemas.openxmlformats.org/officeDocument/2006/relationships/image" Target="../media/image31.png"/><Relationship Id="rId5" Type="http://schemas.openxmlformats.org/officeDocument/2006/relationships/image" Target="../media/image12.png"/><Relationship Id="rId6" Type="http://schemas.openxmlformats.org/officeDocument/2006/relationships/image" Target="../media/image27.png"/><Relationship Id="rId7" Type="http://schemas.openxmlformats.org/officeDocument/2006/relationships/image" Target="../media/image25.png"/><Relationship Id="rId8" Type="http://schemas.openxmlformats.org/officeDocument/2006/relationships/image" Target="../media/image5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0.png"/><Relationship Id="rId9" Type="http://schemas.openxmlformats.org/officeDocument/2006/relationships/image" Target="../media/image32.png"/><Relationship Id="rId5" Type="http://schemas.openxmlformats.org/officeDocument/2006/relationships/image" Target="../media/image12.png"/><Relationship Id="rId6" Type="http://schemas.openxmlformats.org/officeDocument/2006/relationships/image" Target="../media/image27.png"/><Relationship Id="rId7" Type="http://schemas.openxmlformats.org/officeDocument/2006/relationships/image" Target="../media/image25.png"/><Relationship Id="rId8" Type="http://schemas.openxmlformats.org/officeDocument/2006/relationships/image" Target="../media/image5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33.png"/><Relationship Id="rId6"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0.png"/><Relationship Id="rId4" Type="http://schemas.openxmlformats.org/officeDocument/2006/relationships/image" Target="../media/image43.png"/><Relationship Id="rId5" Type="http://schemas.openxmlformats.org/officeDocument/2006/relationships/image" Target="../media/image36.png"/><Relationship Id="rId6"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69.png"/><Relationship Id="rId5" Type="http://schemas.openxmlformats.org/officeDocument/2006/relationships/image" Target="../media/image12.png"/><Relationship Id="rId6" Type="http://schemas.openxmlformats.org/officeDocument/2006/relationships/image" Target="../media/image42.png"/><Relationship Id="rId7"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60.png"/><Relationship Id="rId6" Type="http://schemas.openxmlformats.org/officeDocument/2006/relationships/image" Target="../media/image4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46.png"/><Relationship Id="rId5"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5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5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hyperlink" Target="https://www.networkcomputing.com/network-management/comparing-dynamic-routing-protocols" TargetMode="External"/><Relationship Id="rId5" Type="http://schemas.openxmlformats.org/officeDocument/2006/relationships/hyperlink" Target="https://interlir.com/es/2024/08/29/comparacion-de-protocolos-de-enrutamiento-bgp-vs-ospf-vs-rip/" TargetMode="External"/><Relationship Id="rId6" Type="http://schemas.openxmlformats.org/officeDocument/2006/relationships/hyperlink" Target="https://community.cisco.com/t5/networking-knowledge-base/dynamic-routing-protocols-ospf-eigrp-ripv2-is-is-bgp/ta-p/4511577" TargetMode="External"/><Relationship Id="rId7" Type="http://schemas.openxmlformats.org/officeDocument/2006/relationships/hyperlink" Target="https://community.cisco.com/t5/networking-knowledge-base/dynamic-routing-protocols-ospf-eigrp-ripv2-is-is-bgp/ta-p/4511577" TargetMode="External"/><Relationship Id="rId8" Type="http://schemas.openxmlformats.org/officeDocument/2006/relationships/image" Target="../media/image6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70.png"/><Relationship Id="rId5" Type="http://schemas.openxmlformats.org/officeDocument/2006/relationships/image" Target="../media/image6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66.png"/><Relationship Id="rId5"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6560" y="0"/>
            <a:ext cx="18253440" cy="10286640"/>
          </a:xfrm>
          <a:custGeom>
            <a:rect b="b" l="l" r="r" t="t"/>
            <a:pathLst>
              <a:path extrusionOk="0" h="10286640" w="18253440">
                <a:moveTo>
                  <a:pt x="0" y="0"/>
                </a:moveTo>
                <a:lnTo>
                  <a:pt x="18253440" y="0"/>
                </a:lnTo>
                <a:lnTo>
                  <a:pt x="18253440" y="10286640"/>
                </a:lnTo>
                <a:lnTo>
                  <a:pt x="0" y="10286640"/>
                </a:lnTo>
                <a:lnTo>
                  <a:pt x="0" y="0"/>
                </a:lnTo>
                <a:close/>
              </a:path>
            </a:pathLst>
          </a:custGeom>
          <a:blipFill rotWithShape="1">
            <a:blip r:embed="rId3">
              <a:alphaModFix amt="62000"/>
            </a:blip>
            <a:stretch>
              <a:fillRect b="0" l="0" r="0" t="0"/>
            </a:stretch>
          </a:blipFill>
          <a:ln>
            <a:noFill/>
          </a:ln>
        </p:spPr>
      </p:sp>
      <p:graphicFrame>
        <p:nvGraphicFramePr>
          <p:cNvPr id="85" name="Google Shape;85;p1"/>
          <p:cNvGraphicFramePr/>
          <p:nvPr/>
        </p:nvGraphicFramePr>
        <p:xfrm>
          <a:off x="10656720" y="1940400"/>
          <a:ext cx="3000000" cy="3000000"/>
        </p:xfrm>
        <a:graphic>
          <a:graphicData uri="http://schemas.openxmlformats.org/drawingml/2006/table">
            <a:tbl>
              <a:tblPr>
                <a:noFill/>
                <a:tableStyleId>{D7698F7C-68BB-4B82-BE31-8A5D7D46CE8A}</a:tableStyleId>
              </a:tblPr>
              <a:tblGrid>
                <a:gridCol w="3036750"/>
                <a:gridCol w="4329250"/>
              </a:tblGrid>
              <a:tr h="71905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40014"/>
                        </a:lnSpc>
                        <a:spcBef>
                          <a:spcPts val="0"/>
                        </a:spcBef>
                        <a:spcAft>
                          <a:spcPts val="0"/>
                        </a:spcAft>
                        <a:buNone/>
                      </a:pPr>
                      <a:r>
                        <a:rPr lang="en-US" sz="2799" u="none" cap="none" strike="noStrike">
                          <a:solidFill>
                            <a:srgbClr val="000000"/>
                          </a:solidFill>
                          <a:latin typeface="Arial"/>
                          <a:ea typeface="Arial"/>
                          <a:cs typeface="Arial"/>
                          <a:sym typeface="Arial"/>
                        </a:rPr>
                        <a:t>Día, DD/MM/AAAA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71905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40014"/>
                        </a:lnSpc>
                        <a:spcBef>
                          <a:spcPts val="0"/>
                        </a:spcBef>
                        <a:spcAft>
                          <a:spcPts val="0"/>
                        </a:spcAft>
                        <a:buNone/>
                      </a:pPr>
                      <a:r>
                        <a:rPr lang="en-US" sz="2799" u="none" cap="none" strike="noStrike">
                          <a:solidFill>
                            <a:srgbClr val="000000"/>
                          </a:solidFill>
                          <a:latin typeface="Arial"/>
                          <a:ea typeface="Arial"/>
                          <a:cs typeface="Arial"/>
                          <a:sym typeface="Arial"/>
                        </a:rPr>
                        <a:t>hh:mm hrs</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
        <p:nvSpPr>
          <p:cNvPr id="86" name="Google Shape;86;p1"/>
          <p:cNvSpPr txBox="1"/>
          <p:nvPr/>
        </p:nvSpPr>
        <p:spPr>
          <a:xfrm>
            <a:off x="1618360" y="4512750"/>
            <a:ext cx="15051280" cy="847725"/>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None/>
            </a:pPr>
            <a:r>
              <a:rPr b="0" i="0" lang="en-US" sz="4999" u="none" cap="none" strike="noStrike">
                <a:solidFill>
                  <a:srgbClr val="000000"/>
                </a:solidFill>
                <a:latin typeface="Arial"/>
                <a:ea typeface="Arial"/>
                <a:cs typeface="Arial"/>
                <a:sym typeface="Arial"/>
              </a:rPr>
              <a:t>Redes de Computadoras 1</a:t>
            </a:r>
            <a:endParaRPr/>
          </a:p>
        </p:txBody>
      </p:sp>
      <p:sp>
        <p:nvSpPr>
          <p:cNvPr id="87" name="Google Shape;87;p1"/>
          <p:cNvSpPr txBox="1"/>
          <p:nvPr/>
        </p:nvSpPr>
        <p:spPr>
          <a:xfrm>
            <a:off x="3648960" y="5807475"/>
            <a:ext cx="10989360" cy="685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4000" u="none" cap="none" strike="noStrike">
                <a:solidFill>
                  <a:srgbClr val="000000"/>
                </a:solidFill>
                <a:latin typeface="Arial"/>
                <a:ea typeface="Arial"/>
                <a:cs typeface="Arial"/>
                <a:sym typeface="Arial"/>
              </a:rPr>
              <a:t>Nombre del Tutor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91" name="Shape 91"/>
        <p:cNvGrpSpPr/>
        <p:nvPr/>
      </p:nvGrpSpPr>
      <p:grpSpPr>
        <a:xfrm>
          <a:off x="0" y="0"/>
          <a:ext cx="0" cy="0"/>
          <a:chOff x="0" y="0"/>
          <a:chExt cx="0" cy="0"/>
        </a:xfrm>
      </p:grpSpPr>
      <p:grpSp>
        <p:nvGrpSpPr>
          <p:cNvPr id="92" name="Google Shape;92;p2"/>
          <p:cNvGrpSpPr/>
          <p:nvPr/>
        </p:nvGrpSpPr>
        <p:grpSpPr>
          <a:xfrm>
            <a:off x="9144000" y="5143500"/>
            <a:ext cx="14263463" cy="11957730"/>
            <a:chOff x="0" y="0"/>
            <a:chExt cx="1142785" cy="958050"/>
          </a:xfrm>
        </p:grpSpPr>
        <p:sp>
          <p:nvSpPr>
            <p:cNvPr id="93" name="Google Shape;93;p2"/>
            <p:cNvSpPr/>
            <p:nvPr/>
          </p:nvSpPr>
          <p:spPr>
            <a:xfrm>
              <a:off x="0" y="0"/>
              <a:ext cx="1142785" cy="958050"/>
            </a:xfrm>
            <a:custGeom>
              <a:rect b="b" l="l" r="r" t="t"/>
              <a:pathLst>
                <a:path extrusionOk="0" h="958050" w="1142785">
                  <a:moveTo>
                    <a:pt x="571392" y="0"/>
                  </a:moveTo>
                  <a:cubicBezTo>
                    <a:pt x="255821" y="0"/>
                    <a:pt x="0" y="214467"/>
                    <a:pt x="0" y="479025"/>
                  </a:cubicBezTo>
                  <a:cubicBezTo>
                    <a:pt x="0" y="743583"/>
                    <a:pt x="255821" y="958050"/>
                    <a:pt x="571392" y="958050"/>
                  </a:cubicBezTo>
                  <a:cubicBezTo>
                    <a:pt x="886964" y="958050"/>
                    <a:pt x="1142785" y="743583"/>
                    <a:pt x="1142785" y="479025"/>
                  </a:cubicBezTo>
                  <a:cubicBezTo>
                    <a:pt x="1142785" y="214467"/>
                    <a:pt x="886964" y="0"/>
                    <a:pt x="57139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txBox="1"/>
            <p:nvPr/>
          </p:nvSpPr>
          <p:spPr>
            <a:xfrm>
              <a:off x="107136" y="42192"/>
              <a:ext cx="928513" cy="826041"/>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 name="Google Shape;95;p2"/>
          <p:cNvSpPr txBox="1"/>
          <p:nvPr/>
        </p:nvSpPr>
        <p:spPr>
          <a:xfrm>
            <a:off x="2427863" y="2874771"/>
            <a:ext cx="10520408" cy="1527009"/>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1" i="0" lang="en-US" sz="8743" u="none" cap="none" strike="noStrike">
                <a:solidFill>
                  <a:srgbClr val="FFFFFF"/>
                </a:solidFill>
                <a:latin typeface="Arial"/>
                <a:ea typeface="Arial"/>
                <a:cs typeface="Arial"/>
                <a:sym typeface="Arial"/>
              </a:rPr>
              <a:t>UNIDAD 3</a:t>
            </a:r>
            <a:endParaRPr/>
          </a:p>
        </p:txBody>
      </p:sp>
      <p:grpSp>
        <p:nvGrpSpPr>
          <p:cNvPr id="96" name="Google Shape;96;p2"/>
          <p:cNvGrpSpPr/>
          <p:nvPr/>
        </p:nvGrpSpPr>
        <p:grpSpPr>
          <a:xfrm>
            <a:off x="-964948" y="-934651"/>
            <a:ext cx="2300987" cy="2300987"/>
            <a:chOff x="0" y="0"/>
            <a:chExt cx="812800" cy="812800"/>
          </a:xfrm>
        </p:grpSpPr>
        <p:sp>
          <p:nvSpPr>
            <p:cNvPr id="97" name="Google Shape;9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9" name="Google Shape;99;p2"/>
          <p:cNvSpPr txBox="1"/>
          <p:nvPr/>
        </p:nvSpPr>
        <p:spPr>
          <a:xfrm>
            <a:off x="2427863" y="4081117"/>
            <a:ext cx="12199858" cy="2016126"/>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i="0" lang="en-US" sz="3784" u="none" cap="none" strike="noStrike">
                <a:solidFill>
                  <a:srgbClr val="FFFFFF"/>
                </a:solidFill>
                <a:latin typeface="Arial"/>
                <a:ea typeface="Arial"/>
                <a:cs typeface="Arial"/>
                <a:sym typeface="Arial"/>
              </a:rPr>
              <a:t>DISPOSITIVOS Y PROTOCOLOS EN LA CAPA 3: ENRUTAMIENTO, ALTA DISPONIBILIDAD Y SEGURIDAD</a:t>
            </a:r>
            <a:endParaRPr/>
          </a:p>
        </p:txBody>
      </p:sp>
      <p:sp>
        <p:nvSpPr>
          <p:cNvPr id="100" name="Google Shape;100;p2"/>
          <p:cNvSpPr txBox="1"/>
          <p:nvPr/>
        </p:nvSpPr>
        <p:spPr>
          <a:xfrm>
            <a:off x="1028700" y="7238835"/>
            <a:ext cx="9354242" cy="770137"/>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554" u="none" cap="none" strike="noStrike">
                <a:solidFill>
                  <a:srgbClr val="FFFFFF"/>
                </a:solidFill>
                <a:latin typeface="Arial"/>
                <a:ea typeface="Arial"/>
                <a:cs typeface="Arial"/>
                <a:sym typeface="Arial"/>
              </a:rPr>
              <a:t>Redes de Computadoras 1</a:t>
            </a:r>
            <a:endParaRPr/>
          </a:p>
        </p:txBody>
      </p:sp>
      <p:sp>
        <p:nvSpPr>
          <p:cNvPr id="101" name="Google Shape;101;p2"/>
          <p:cNvSpPr txBox="1"/>
          <p:nvPr/>
        </p:nvSpPr>
        <p:spPr>
          <a:xfrm>
            <a:off x="1028700" y="8092909"/>
            <a:ext cx="684282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FFFFFF"/>
                </a:solidFill>
                <a:latin typeface="Ultra"/>
                <a:ea typeface="Ultra"/>
                <a:cs typeface="Ultra"/>
                <a:sym typeface="Ultra"/>
              </a:rPr>
              <a:t>Escuela de Ingenieria de Ciencias Y Sistemas</a:t>
            </a:r>
            <a:endParaRPr/>
          </a:p>
        </p:txBody>
      </p:sp>
      <p:sp>
        <p:nvSpPr>
          <p:cNvPr id="102" name="Google Shape;102;p2"/>
          <p:cNvSpPr txBox="1"/>
          <p:nvPr/>
        </p:nvSpPr>
        <p:spPr>
          <a:xfrm>
            <a:off x="1028700" y="8512946"/>
            <a:ext cx="3422005"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FFFFFF"/>
                </a:solidFill>
                <a:latin typeface="Ultra"/>
                <a:ea typeface="Ultra"/>
                <a:cs typeface="Ultra"/>
                <a:sym typeface="Ultra"/>
              </a:rPr>
              <a:t>Facultad de Ingenieria</a:t>
            </a:r>
            <a:endParaRPr/>
          </a:p>
        </p:txBody>
      </p:sp>
      <p:sp>
        <p:nvSpPr>
          <p:cNvPr id="103" name="Google Shape;103;p2"/>
          <p:cNvSpPr txBox="1"/>
          <p:nvPr/>
        </p:nvSpPr>
        <p:spPr>
          <a:xfrm>
            <a:off x="1028700" y="8932983"/>
            <a:ext cx="6232327"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FFFFFF"/>
                </a:solidFill>
                <a:latin typeface="Ultra"/>
                <a:ea typeface="Ultra"/>
                <a:cs typeface="Ultra"/>
                <a:sym typeface="Ultra"/>
              </a:rPr>
              <a:t>Universidad de San Carlos de Guatemala</a:t>
            </a:r>
            <a:endParaRPr/>
          </a:p>
        </p:txBody>
      </p:sp>
      <p:sp>
        <p:nvSpPr>
          <p:cNvPr id="104" name="Google Shape;104;p2"/>
          <p:cNvSpPr/>
          <p:nvPr/>
        </p:nvSpPr>
        <p:spPr>
          <a:xfrm>
            <a:off x="10335603" y="-25101"/>
            <a:ext cx="7952397" cy="2107603"/>
          </a:xfrm>
          <a:custGeom>
            <a:rect b="b" l="l" r="r" t="t"/>
            <a:pathLst>
              <a:path extrusionOk="0" h="2107603" w="7952397">
                <a:moveTo>
                  <a:pt x="0" y="0"/>
                </a:moveTo>
                <a:lnTo>
                  <a:pt x="7952397" y="0"/>
                </a:lnTo>
                <a:lnTo>
                  <a:pt x="7952397" y="2107602"/>
                </a:lnTo>
                <a:lnTo>
                  <a:pt x="0" y="2107602"/>
                </a:lnTo>
                <a:lnTo>
                  <a:pt x="0" y="0"/>
                </a:lnTo>
                <a:close/>
              </a:path>
            </a:pathLst>
          </a:custGeom>
          <a:blipFill rotWithShape="1">
            <a:blip r:embed="rId3">
              <a:alphaModFix/>
            </a:blip>
            <a:stretch>
              <a:fillRect b="0" l="0" r="0" t="0"/>
            </a:stretch>
          </a:blipFill>
          <a:ln>
            <a:noFill/>
          </a:ln>
        </p:spPr>
      </p:sp>
      <p:sp>
        <p:nvSpPr>
          <p:cNvPr id="105" name="Google Shape;105;p2"/>
          <p:cNvSpPr/>
          <p:nvPr/>
        </p:nvSpPr>
        <p:spPr>
          <a:xfrm flipH="1">
            <a:off x="13896055" y="4401781"/>
            <a:ext cx="4277743" cy="5925878"/>
          </a:xfrm>
          <a:custGeom>
            <a:rect b="b" l="l" r="r" t="t"/>
            <a:pathLst>
              <a:path extrusionOk="0" h="5925878" w="4277743">
                <a:moveTo>
                  <a:pt x="4277743" y="0"/>
                </a:moveTo>
                <a:lnTo>
                  <a:pt x="0" y="0"/>
                </a:lnTo>
                <a:lnTo>
                  <a:pt x="0" y="5925878"/>
                </a:lnTo>
                <a:lnTo>
                  <a:pt x="4277743" y="5925878"/>
                </a:lnTo>
                <a:lnTo>
                  <a:pt x="4277743" y="0"/>
                </a:lnTo>
                <a:close/>
              </a:path>
            </a:pathLst>
          </a:custGeom>
          <a:blipFill rotWithShape="1">
            <a:blip r:embed="rId4">
              <a:alphaModFix/>
            </a:blip>
            <a:stretch>
              <a:fillRect b="0" l="0" r="0" t="0"/>
            </a:stretch>
          </a:blipFill>
          <a:ln>
            <a:noFill/>
          </a:ln>
        </p:spPr>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109" name="Shape 109"/>
        <p:cNvGrpSpPr/>
        <p:nvPr/>
      </p:nvGrpSpPr>
      <p:grpSpPr>
        <a:xfrm>
          <a:off x="0" y="0"/>
          <a:ext cx="0" cy="0"/>
          <a:chOff x="0" y="0"/>
          <a:chExt cx="0" cy="0"/>
        </a:xfrm>
      </p:grpSpPr>
      <p:sp>
        <p:nvSpPr>
          <p:cNvPr id="110" name="Google Shape;110;p3"/>
          <p:cNvSpPr txBox="1"/>
          <p:nvPr/>
        </p:nvSpPr>
        <p:spPr>
          <a:xfrm>
            <a:off x="2727676" y="2068478"/>
            <a:ext cx="3930188" cy="9472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455" u="none" cap="none" strike="noStrike">
                <a:solidFill>
                  <a:srgbClr val="FFFFFF"/>
                </a:solidFill>
                <a:latin typeface="Arial"/>
                <a:ea typeface="Arial"/>
                <a:cs typeface="Arial"/>
                <a:sym typeface="Arial"/>
              </a:rPr>
              <a:t>AGENDA</a:t>
            </a:r>
            <a:endParaRPr/>
          </a:p>
        </p:txBody>
      </p:sp>
      <p:grpSp>
        <p:nvGrpSpPr>
          <p:cNvPr id="111" name="Google Shape;111;p3"/>
          <p:cNvGrpSpPr/>
          <p:nvPr/>
        </p:nvGrpSpPr>
        <p:grpSpPr>
          <a:xfrm>
            <a:off x="-1843573" y="-2585655"/>
            <a:ext cx="5462763" cy="5462763"/>
            <a:chOff x="0" y="0"/>
            <a:chExt cx="812800" cy="812800"/>
          </a:xfrm>
        </p:grpSpPr>
        <p:sp>
          <p:nvSpPr>
            <p:cNvPr id="112" name="Google Shape;112;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4" name="Google Shape;114;p3"/>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grpSp>
        <p:nvGrpSpPr>
          <p:cNvPr id="115" name="Google Shape;115;p3"/>
          <p:cNvGrpSpPr/>
          <p:nvPr/>
        </p:nvGrpSpPr>
        <p:grpSpPr>
          <a:xfrm>
            <a:off x="2586529" y="3253882"/>
            <a:ext cx="563906" cy="563906"/>
            <a:chOff x="0" y="0"/>
            <a:chExt cx="751874" cy="751874"/>
          </a:xfrm>
        </p:grpSpPr>
        <p:grpSp>
          <p:nvGrpSpPr>
            <p:cNvPr id="116" name="Google Shape;116;p3"/>
            <p:cNvGrpSpPr/>
            <p:nvPr/>
          </p:nvGrpSpPr>
          <p:grpSpPr>
            <a:xfrm>
              <a:off x="0" y="0"/>
              <a:ext cx="751874" cy="751874"/>
              <a:chOff x="0" y="0"/>
              <a:chExt cx="812800" cy="812800"/>
            </a:xfrm>
          </p:grpSpPr>
          <p:sp>
            <p:nvSpPr>
              <p:cNvPr id="117" name="Google Shape;117;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9" name="Google Shape;119;p3"/>
            <p:cNvSpPr/>
            <p:nvPr/>
          </p:nvSpPr>
          <p:spPr>
            <a:xfrm>
              <a:off x="148921" y="112042"/>
              <a:ext cx="454033" cy="527791"/>
            </a:xfrm>
            <a:custGeom>
              <a:rect b="b" l="l" r="r" t="t"/>
              <a:pathLst>
                <a:path extrusionOk="0" h="527791" w="454033">
                  <a:moveTo>
                    <a:pt x="0" y="0"/>
                  </a:moveTo>
                  <a:lnTo>
                    <a:pt x="454033" y="0"/>
                  </a:lnTo>
                  <a:lnTo>
                    <a:pt x="454033" y="527790"/>
                  </a:lnTo>
                  <a:lnTo>
                    <a:pt x="0" y="527790"/>
                  </a:lnTo>
                  <a:lnTo>
                    <a:pt x="0" y="0"/>
                  </a:lnTo>
                  <a:close/>
                </a:path>
              </a:pathLst>
            </a:custGeom>
            <a:blipFill rotWithShape="1">
              <a:blip r:embed="rId4">
                <a:alphaModFix/>
              </a:blip>
              <a:stretch>
                <a:fillRect b="0" l="0" r="0" t="0"/>
              </a:stretch>
            </a:blipFill>
            <a:ln>
              <a:noFill/>
            </a:ln>
          </p:spPr>
        </p:sp>
      </p:grpSp>
      <p:grpSp>
        <p:nvGrpSpPr>
          <p:cNvPr id="120" name="Google Shape;120;p3"/>
          <p:cNvGrpSpPr/>
          <p:nvPr/>
        </p:nvGrpSpPr>
        <p:grpSpPr>
          <a:xfrm>
            <a:off x="2586529" y="3969364"/>
            <a:ext cx="563906" cy="563906"/>
            <a:chOff x="0" y="0"/>
            <a:chExt cx="751874" cy="751874"/>
          </a:xfrm>
        </p:grpSpPr>
        <p:grpSp>
          <p:nvGrpSpPr>
            <p:cNvPr id="121" name="Google Shape;121;p3"/>
            <p:cNvGrpSpPr/>
            <p:nvPr/>
          </p:nvGrpSpPr>
          <p:grpSpPr>
            <a:xfrm>
              <a:off x="0" y="0"/>
              <a:ext cx="751874" cy="751874"/>
              <a:chOff x="0" y="0"/>
              <a:chExt cx="812800" cy="812800"/>
            </a:xfrm>
          </p:grpSpPr>
          <p:sp>
            <p:nvSpPr>
              <p:cNvPr id="122" name="Google Shape;122;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4" name="Google Shape;124;p3"/>
            <p:cNvSpPr/>
            <p:nvPr/>
          </p:nvSpPr>
          <p:spPr>
            <a:xfrm>
              <a:off x="148921" y="112042"/>
              <a:ext cx="454033" cy="527791"/>
            </a:xfrm>
            <a:custGeom>
              <a:rect b="b" l="l" r="r" t="t"/>
              <a:pathLst>
                <a:path extrusionOk="0" h="527791" w="454033">
                  <a:moveTo>
                    <a:pt x="0" y="0"/>
                  </a:moveTo>
                  <a:lnTo>
                    <a:pt x="454033" y="0"/>
                  </a:lnTo>
                  <a:lnTo>
                    <a:pt x="454033" y="527790"/>
                  </a:lnTo>
                  <a:lnTo>
                    <a:pt x="0" y="527790"/>
                  </a:lnTo>
                  <a:lnTo>
                    <a:pt x="0" y="0"/>
                  </a:lnTo>
                  <a:close/>
                </a:path>
              </a:pathLst>
            </a:custGeom>
            <a:blipFill rotWithShape="1">
              <a:blip r:embed="rId4">
                <a:alphaModFix/>
              </a:blip>
              <a:stretch>
                <a:fillRect b="0" l="0" r="0" t="0"/>
              </a:stretch>
            </a:blipFill>
            <a:ln>
              <a:noFill/>
            </a:ln>
          </p:spPr>
        </p:sp>
      </p:grpSp>
      <p:grpSp>
        <p:nvGrpSpPr>
          <p:cNvPr id="125" name="Google Shape;125;p3"/>
          <p:cNvGrpSpPr/>
          <p:nvPr/>
        </p:nvGrpSpPr>
        <p:grpSpPr>
          <a:xfrm>
            <a:off x="2586529" y="4685669"/>
            <a:ext cx="563906" cy="563906"/>
            <a:chOff x="0" y="0"/>
            <a:chExt cx="751874" cy="751874"/>
          </a:xfrm>
        </p:grpSpPr>
        <p:grpSp>
          <p:nvGrpSpPr>
            <p:cNvPr id="126" name="Google Shape;126;p3"/>
            <p:cNvGrpSpPr/>
            <p:nvPr/>
          </p:nvGrpSpPr>
          <p:grpSpPr>
            <a:xfrm>
              <a:off x="0" y="0"/>
              <a:ext cx="751874" cy="751874"/>
              <a:chOff x="0" y="0"/>
              <a:chExt cx="812800" cy="812800"/>
            </a:xfrm>
          </p:grpSpPr>
          <p:sp>
            <p:nvSpPr>
              <p:cNvPr id="127" name="Google Shape;127;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9" name="Google Shape;129;p3"/>
            <p:cNvSpPr/>
            <p:nvPr/>
          </p:nvSpPr>
          <p:spPr>
            <a:xfrm>
              <a:off x="148921" y="112042"/>
              <a:ext cx="454033" cy="527791"/>
            </a:xfrm>
            <a:custGeom>
              <a:rect b="b" l="l" r="r" t="t"/>
              <a:pathLst>
                <a:path extrusionOk="0" h="527791" w="454033">
                  <a:moveTo>
                    <a:pt x="0" y="0"/>
                  </a:moveTo>
                  <a:lnTo>
                    <a:pt x="454033" y="0"/>
                  </a:lnTo>
                  <a:lnTo>
                    <a:pt x="454033" y="527790"/>
                  </a:lnTo>
                  <a:lnTo>
                    <a:pt x="0" y="527790"/>
                  </a:lnTo>
                  <a:lnTo>
                    <a:pt x="0" y="0"/>
                  </a:lnTo>
                  <a:close/>
                </a:path>
              </a:pathLst>
            </a:custGeom>
            <a:blipFill rotWithShape="1">
              <a:blip r:embed="rId4">
                <a:alphaModFix/>
              </a:blip>
              <a:stretch>
                <a:fillRect b="0" l="0" r="0" t="0"/>
              </a:stretch>
            </a:blipFill>
            <a:ln>
              <a:noFill/>
            </a:ln>
          </p:spPr>
        </p:sp>
      </p:grpSp>
      <p:grpSp>
        <p:nvGrpSpPr>
          <p:cNvPr id="130" name="Google Shape;130;p3"/>
          <p:cNvGrpSpPr/>
          <p:nvPr/>
        </p:nvGrpSpPr>
        <p:grpSpPr>
          <a:xfrm>
            <a:off x="2586529" y="5371574"/>
            <a:ext cx="563880" cy="594281"/>
            <a:chOff x="0" y="-40535"/>
            <a:chExt cx="751840" cy="792375"/>
          </a:xfrm>
        </p:grpSpPr>
        <p:grpSp>
          <p:nvGrpSpPr>
            <p:cNvPr id="131" name="Google Shape;131;p3"/>
            <p:cNvGrpSpPr/>
            <p:nvPr/>
          </p:nvGrpSpPr>
          <p:grpSpPr>
            <a:xfrm>
              <a:off x="0" y="-40535"/>
              <a:ext cx="751840" cy="792375"/>
              <a:chOff x="0" y="-24344"/>
              <a:chExt cx="451535" cy="475879"/>
            </a:xfrm>
          </p:grpSpPr>
          <p:sp>
            <p:nvSpPr>
              <p:cNvPr id="132" name="Google Shape;132;p3"/>
              <p:cNvSpPr/>
              <p:nvPr/>
            </p:nvSpPr>
            <p:spPr>
              <a:xfrm>
                <a:off x="0" y="0"/>
                <a:ext cx="451535" cy="451535"/>
              </a:xfrm>
              <a:custGeom>
                <a:rect b="b" l="l" r="r" t="t"/>
                <a:pathLst>
                  <a:path extrusionOk="0" h="451535" w="451535">
                    <a:moveTo>
                      <a:pt x="225767" y="0"/>
                    </a:moveTo>
                    <a:cubicBezTo>
                      <a:pt x="101079" y="0"/>
                      <a:pt x="0" y="101079"/>
                      <a:pt x="0" y="225767"/>
                    </a:cubicBezTo>
                    <a:cubicBezTo>
                      <a:pt x="0" y="350455"/>
                      <a:pt x="101079" y="451535"/>
                      <a:pt x="225767" y="451535"/>
                    </a:cubicBezTo>
                    <a:cubicBezTo>
                      <a:pt x="350455" y="451535"/>
                      <a:pt x="451535" y="350455"/>
                      <a:pt x="451535" y="225767"/>
                    </a:cubicBezTo>
                    <a:cubicBezTo>
                      <a:pt x="451535" y="101079"/>
                      <a:pt x="350455" y="0"/>
                      <a:pt x="225767"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txBox="1"/>
              <p:nvPr/>
            </p:nvSpPr>
            <p:spPr>
              <a:xfrm>
                <a:off x="42331" y="-24344"/>
                <a:ext cx="366872" cy="433547"/>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4" name="Google Shape;134;p3"/>
            <p:cNvSpPr/>
            <p:nvPr/>
          </p:nvSpPr>
          <p:spPr>
            <a:xfrm>
              <a:off x="152305" y="199361"/>
              <a:ext cx="450615" cy="353118"/>
            </a:xfrm>
            <a:custGeom>
              <a:rect b="b" l="l" r="r" t="t"/>
              <a:pathLst>
                <a:path extrusionOk="0" h="353118" w="450615">
                  <a:moveTo>
                    <a:pt x="0" y="0"/>
                  </a:moveTo>
                  <a:lnTo>
                    <a:pt x="450614" y="0"/>
                  </a:lnTo>
                  <a:lnTo>
                    <a:pt x="450614" y="353118"/>
                  </a:lnTo>
                  <a:lnTo>
                    <a:pt x="0" y="353118"/>
                  </a:lnTo>
                  <a:lnTo>
                    <a:pt x="0" y="0"/>
                  </a:lnTo>
                  <a:close/>
                </a:path>
              </a:pathLst>
            </a:custGeom>
            <a:blipFill rotWithShape="1">
              <a:blip r:embed="rId5">
                <a:alphaModFix/>
              </a:blip>
              <a:stretch>
                <a:fillRect b="0" l="0" r="0" t="0"/>
              </a:stretch>
            </a:blipFill>
            <a:ln>
              <a:noFill/>
            </a:ln>
          </p:spPr>
        </p:sp>
      </p:grpSp>
      <p:grpSp>
        <p:nvGrpSpPr>
          <p:cNvPr id="135" name="Google Shape;135;p3"/>
          <p:cNvGrpSpPr/>
          <p:nvPr/>
        </p:nvGrpSpPr>
        <p:grpSpPr>
          <a:xfrm>
            <a:off x="2586529" y="6087854"/>
            <a:ext cx="563880" cy="594281"/>
            <a:chOff x="0" y="-40535"/>
            <a:chExt cx="751840" cy="792375"/>
          </a:xfrm>
        </p:grpSpPr>
        <p:grpSp>
          <p:nvGrpSpPr>
            <p:cNvPr id="136" name="Google Shape;136;p3"/>
            <p:cNvGrpSpPr/>
            <p:nvPr/>
          </p:nvGrpSpPr>
          <p:grpSpPr>
            <a:xfrm>
              <a:off x="0" y="-40535"/>
              <a:ext cx="751840" cy="792375"/>
              <a:chOff x="0" y="-24344"/>
              <a:chExt cx="451535" cy="475879"/>
            </a:xfrm>
          </p:grpSpPr>
          <p:sp>
            <p:nvSpPr>
              <p:cNvPr id="137" name="Google Shape;137;p3"/>
              <p:cNvSpPr/>
              <p:nvPr/>
            </p:nvSpPr>
            <p:spPr>
              <a:xfrm>
                <a:off x="0" y="0"/>
                <a:ext cx="451535" cy="451535"/>
              </a:xfrm>
              <a:custGeom>
                <a:rect b="b" l="l" r="r" t="t"/>
                <a:pathLst>
                  <a:path extrusionOk="0" h="451535" w="451535">
                    <a:moveTo>
                      <a:pt x="225767" y="0"/>
                    </a:moveTo>
                    <a:cubicBezTo>
                      <a:pt x="101079" y="0"/>
                      <a:pt x="0" y="101079"/>
                      <a:pt x="0" y="225767"/>
                    </a:cubicBezTo>
                    <a:cubicBezTo>
                      <a:pt x="0" y="350455"/>
                      <a:pt x="101079" y="451535"/>
                      <a:pt x="225767" y="451535"/>
                    </a:cubicBezTo>
                    <a:cubicBezTo>
                      <a:pt x="350455" y="451535"/>
                      <a:pt x="451535" y="350455"/>
                      <a:pt x="451535" y="225767"/>
                    </a:cubicBezTo>
                    <a:cubicBezTo>
                      <a:pt x="451535" y="101079"/>
                      <a:pt x="350455" y="0"/>
                      <a:pt x="225767"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txBox="1"/>
              <p:nvPr/>
            </p:nvSpPr>
            <p:spPr>
              <a:xfrm>
                <a:off x="42331" y="-24344"/>
                <a:ext cx="366872" cy="433547"/>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9" name="Google Shape;139;p3"/>
            <p:cNvSpPr/>
            <p:nvPr/>
          </p:nvSpPr>
          <p:spPr>
            <a:xfrm>
              <a:off x="152305" y="199361"/>
              <a:ext cx="450615" cy="353118"/>
            </a:xfrm>
            <a:custGeom>
              <a:rect b="b" l="l" r="r" t="t"/>
              <a:pathLst>
                <a:path extrusionOk="0" h="353118" w="450615">
                  <a:moveTo>
                    <a:pt x="0" y="0"/>
                  </a:moveTo>
                  <a:lnTo>
                    <a:pt x="450614" y="0"/>
                  </a:lnTo>
                  <a:lnTo>
                    <a:pt x="450614" y="353118"/>
                  </a:lnTo>
                  <a:lnTo>
                    <a:pt x="0" y="353118"/>
                  </a:lnTo>
                  <a:lnTo>
                    <a:pt x="0" y="0"/>
                  </a:lnTo>
                  <a:close/>
                </a:path>
              </a:pathLst>
            </a:custGeom>
            <a:blipFill rotWithShape="1">
              <a:blip r:embed="rId5">
                <a:alphaModFix/>
              </a:blip>
              <a:stretch>
                <a:fillRect b="0" l="0" r="0" t="0"/>
              </a:stretch>
            </a:blipFill>
            <a:ln>
              <a:noFill/>
            </a:ln>
          </p:spPr>
        </p:sp>
      </p:grpSp>
      <p:grpSp>
        <p:nvGrpSpPr>
          <p:cNvPr id="140" name="Google Shape;140;p3"/>
          <p:cNvGrpSpPr/>
          <p:nvPr/>
        </p:nvGrpSpPr>
        <p:grpSpPr>
          <a:xfrm>
            <a:off x="2586529" y="6804134"/>
            <a:ext cx="563880" cy="594281"/>
            <a:chOff x="0" y="-40535"/>
            <a:chExt cx="751840" cy="792375"/>
          </a:xfrm>
        </p:grpSpPr>
        <p:grpSp>
          <p:nvGrpSpPr>
            <p:cNvPr id="141" name="Google Shape;141;p3"/>
            <p:cNvGrpSpPr/>
            <p:nvPr/>
          </p:nvGrpSpPr>
          <p:grpSpPr>
            <a:xfrm>
              <a:off x="0" y="-40535"/>
              <a:ext cx="751840" cy="792375"/>
              <a:chOff x="0" y="-24344"/>
              <a:chExt cx="451535" cy="475879"/>
            </a:xfrm>
          </p:grpSpPr>
          <p:sp>
            <p:nvSpPr>
              <p:cNvPr id="142" name="Google Shape;142;p3"/>
              <p:cNvSpPr/>
              <p:nvPr/>
            </p:nvSpPr>
            <p:spPr>
              <a:xfrm>
                <a:off x="0" y="0"/>
                <a:ext cx="451535" cy="451535"/>
              </a:xfrm>
              <a:custGeom>
                <a:rect b="b" l="l" r="r" t="t"/>
                <a:pathLst>
                  <a:path extrusionOk="0" h="451535" w="451535">
                    <a:moveTo>
                      <a:pt x="225767" y="0"/>
                    </a:moveTo>
                    <a:cubicBezTo>
                      <a:pt x="101079" y="0"/>
                      <a:pt x="0" y="101079"/>
                      <a:pt x="0" y="225767"/>
                    </a:cubicBezTo>
                    <a:cubicBezTo>
                      <a:pt x="0" y="350455"/>
                      <a:pt x="101079" y="451535"/>
                      <a:pt x="225767" y="451535"/>
                    </a:cubicBezTo>
                    <a:cubicBezTo>
                      <a:pt x="350455" y="451535"/>
                      <a:pt x="451535" y="350455"/>
                      <a:pt x="451535" y="225767"/>
                    </a:cubicBezTo>
                    <a:cubicBezTo>
                      <a:pt x="451535" y="101079"/>
                      <a:pt x="350455" y="0"/>
                      <a:pt x="225767"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txBox="1"/>
              <p:nvPr/>
            </p:nvSpPr>
            <p:spPr>
              <a:xfrm>
                <a:off x="42331" y="-24344"/>
                <a:ext cx="366872" cy="433547"/>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4" name="Google Shape;144;p3"/>
            <p:cNvSpPr/>
            <p:nvPr/>
          </p:nvSpPr>
          <p:spPr>
            <a:xfrm>
              <a:off x="152305" y="199361"/>
              <a:ext cx="450615" cy="353118"/>
            </a:xfrm>
            <a:custGeom>
              <a:rect b="b" l="l" r="r" t="t"/>
              <a:pathLst>
                <a:path extrusionOk="0" h="353118" w="450615">
                  <a:moveTo>
                    <a:pt x="0" y="0"/>
                  </a:moveTo>
                  <a:lnTo>
                    <a:pt x="450614" y="0"/>
                  </a:lnTo>
                  <a:lnTo>
                    <a:pt x="450614" y="353118"/>
                  </a:lnTo>
                  <a:lnTo>
                    <a:pt x="0" y="353118"/>
                  </a:lnTo>
                  <a:lnTo>
                    <a:pt x="0" y="0"/>
                  </a:lnTo>
                  <a:close/>
                </a:path>
              </a:pathLst>
            </a:custGeom>
            <a:blipFill rotWithShape="1">
              <a:blip r:embed="rId5">
                <a:alphaModFix/>
              </a:blip>
              <a:stretch>
                <a:fillRect b="0" l="0" r="0" t="0"/>
              </a:stretch>
            </a:blipFill>
            <a:ln>
              <a:noFill/>
            </a:ln>
          </p:spPr>
        </p:sp>
      </p:grpSp>
      <p:sp>
        <p:nvSpPr>
          <p:cNvPr id="145" name="Google Shape;145;p3"/>
          <p:cNvSpPr/>
          <p:nvPr/>
        </p:nvSpPr>
        <p:spPr>
          <a:xfrm>
            <a:off x="11608318" y="4681491"/>
            <a:ext cx="836595" cy="864697"/>
          </a:xfrm>
          <a:custGeom>
            <a:rect b="b" l="l" r="r" t="t"/>
            <a:pathLst>
              <a:path extrusionOk="0" h="864697" w="836595">
                <a:moveTo>
                  <a:pt x="0" y="0"/>
                </a:moveTo>
                <a:lnTo>
                  <a:pt x="836595" y="0"/>
                </a:lnTo>
                <a:lnTo>
                  <a:pt x="836595" y="864697"/>
                </a:lnTo>
                <a:lnTo>
                  <a:pt x="0" y="864697"/>
                </a:lnTo>
                <a:lnTo>
                  <a:pt x="0" y="0"/>
                </a:lnTo>
                <a:close/>
              </a:path>
            </a:pathLst>
          </a:custGeom>
          <a:blipFill rotWithShape="1">
            <a:blip r:embed="rId6">
              <a:alphaModFix/>
            </a:blip>
            <a:stretch>
              <a:fillRect b="0" l="0" r="0" t="0"/>
            </a:stretch>
          </a:blipFill>
          <a:ln>
            <a:noFill/>
          </a:ln>
        </p:spPr>
      </p:sp>
      <p:sp>
        <p:nvSpPr>
          <p:cNvPr id="146" name="Google Shape;146;p3"/>
          <p:cNvSpPr/>
          <p:nvPr/>
        </p:nvSpPr>
        <p:spPr>
          <a:xfrm>
            <a:off x="11625962" y="3535835"/>
            <a:ext cx="818951" cy="820442"/>
          </a:xfrm>
          <a:custGeom>
            <a:rect b="b" l="l" r="r" t="t"/>
            <a:pathLst>
              <a:path extrusionOk="0" h="820442" w="818951">
                <a:moveTo>
                  <a:pt x="0" y="0"/>
                </a:moveTo>
                <a:lnTo>
                  <a:pt x="818951" y="0"/>
                </a:lnTo>
                <a:lnTo>
                  <a:pt x="818951" y="820443"/>
                </a:lnTo>
                <a:lnTo>
                  <a:pt x="0" y="820443"/>
                </a:lnTo>
                <a:lnTo>
                  <a:pt x="0" y="0"/>
                </a:lnTo>
                <a:close/>
              </a:path>
            </a:pathLst>
          </a:custGeom>
          <a:blipFill rotWithShape="1">
            <a:blip r:embed="rId7">
              <a:alphaModFix/>
            </a:blip>
            <a:stretch>
              <a:fillRect b="0" l="0" r="0" t="0"/>
            </a:stretch>
          </a:blipFill>
          <a:ln>
            <a:noFill/>
          </a:ln>
        </p:spPr>
      </p:sp>
      <p:sp>
        <p:nvSpPr>
          <p:cNvPr id="147" name="Google Shape;147;p3"/>
          <p:cNvSpPr txBox="1"/>
          <p:nvPr/>
        </p:nvSpPr>
        <p:spPr>
          <a:xfrm>
            <a:off x="10853460" y="2068478"/>
            <a:ext cx="4820564" cy="9472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455" u="none" cap="none" strike="noStrike">
                <a:solidFill>
                  <a:srgbClr val="FFFFFF"/>
                </a:solidFill>
                <a:latin typeface="Arial"/>
                <a:ea typeface="Arial"/>
                <a:cs typeface="Arial"/>
                <a:sym typeface="Arial"/>
              </a:rPr>
              <a:t>RECURSOS</a:t>
            </a:r>
            <a:endParaRPr/>
          </a:p>
        </p:txBody>
      </p:sp>
      <p:sp>
        <p:nvSpPr>
          <p:cNvPr id="148" name="Google Shape;148;p3"/>
          <p:cNvSpPr txBox="1"/>
          <p:nvPr/>
        </p:nvSpPr>
        <p:spPr>
          <a:xfrm>
            <a:off x="3319607" y="3337348"/>
            <a:ext cx="2300987"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Foro #</a:t>
            </a:r>
            <a:endParaRPr/>
          </a:p>
        </p:txBody>
      </p:sp>
      <p:sp>
        <p:nvSpPr>
          <p:cNvPr id="149" name="Google Shape;149;p3"/>
          <p:cNvSpPr txBox="1"/>
          <p:nvPr/>
        </p:nvSpPr>
        <p:spPr>
          <a:xfrm>
            <a:off x="3319607" y="5519287"/>
            <a:ext cx="6085088"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Ruteo Dinámico (RIP, OSPF, EIGRP Y BGP)</a:t>
            </a:r>
            <a:endParaRPr/>
          </a:p>
        </p:txBody>
      </p:sp>
      <p:sp>
        <p:nvSpPr>
          <p:cNvPr id="150" name="Google Shape;150;p3"/>
          <p:cNvSpPr txBox="1"/>
          <p:nvPr/>
        </p:nvSpPr>
        <p:spPr>
          <a:xfrm>
            <a:off x="3319607" y="6182941"/>
            <a:ext cx="4606426"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Redistribucion entre protocolos</a:t>
            </a:r>
            <a:endParaRPr/>
          </a:p>
        </p:txBody>
      </p:sp>
      <p:sp>
        <p:nvSpPr>
          <p:cNvPr id="151" name="Google Shape;151;p3"/>
          <p:cNvSpPr txBox="1"/>
          <p:nvPr/>
        </p:nvSpPr>
        <p:spPr>
          <a:xfrm>
            <a:off x="3319607" y="6899221"/>
            <a:ext cx="2571279"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Ejemplo practico</a:t>
            </a:r>
            <a:endParaRPr/>
          </a:p>
        </p:txBody>
      </p:sp>
      <p:sp>
        <p:nvSpPr>
          <p:cNvPr id="152" name="Google Shape;152;p3"/>
          <p:cNvSpPr txBox="1"/>
          <p:nvPr/>
        </p:nvSpPr>
        <p:spPr>
          <a:xfrm>
            <a:off x="12652166" y="3641701"/>
            <a:ext cx="2312327" cy="463002"/>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2771" u="none" cap="none" strike="noStrike">
                <a:solidFill>
                  <a:srgbClr val="FFFFFF"/>
                </a:solidFill>
                <a:latin typeface="Shantell Sans"/>
                <a:ea typeface="Shantell Sans"/>
                <a:cs typeface="Shantell Sans"/>
                <a:sym typeface="Shantell Sans"/>
              </a:rPr>
              <a:t>Link del video</a:t>
            </a:r>
            <a:endParaRPr/>
          </a:p>
        </p:txBody>
      </p:sp>
      <p:sp>
        <p:nvSpPr>
          <p:cNvPr id="153" name="Google Shape;153;p3"/>
          <p:cNvSpPr txBox="1"/>
          <p:nvPr/>
        </p:nvSpPr>
        <p:spPr>
          <a:xfrm>
            <a:off x="12652166" y="4886783"/>
            <a:ext cx="2108438" cy="463002"/>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2771" u="none" cap="none" strike="noStrike">
                <a:solidFill>
                  <a:srgbClr val="FFFFFF"/>
                </a:solidFill>
                <a:latin typeface="Shantell Sans"/>
                <a:ea typeface="Shantell Sans"/>
                <a:cs typeface="Shantell Sans"/>
                <a:sym typeface="Shantell Sans"/>
              </a:rPr>
              <a:t>Link del quiz</a:t>
            </a:r>
            <a:endParaRPr/>
          </a:p>
        </p:txBody>
      </p:sp>
      <p:sp>
        <p:nvSpPr>
          <p:cNvPr id="154" name="Google Shape;154;p3"/>
          <p:cNvSpPr txBox="1"/>
          <p:nvPr/>
        </p:nvSpPr>
        <p:spPr>
          <a:xfrm>
            <a:off x="3321834" y="4034062"/>
            <a:ext cx="3499624"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Actividad Programada</a:t>
            </a:r>
            <a:endParaRPr/>
          </a:p>
        </p:txBody>
      </p:sp>
      <p:sp>
        <p:nvSpPr>
          <p:cNvPr id="155" name="Google Shape;155;p3"/>
          <p:cNvSpPr txBox="1"/>
          <p:nvPr/>
        </p:nvSpPr>
        <p:spPr>
          <a:xfrm>
            <a:off x="3319607" y="4735271"/>
            <a:ext cx="3499624"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Actividad Programada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159" name="Shape 159"/>
        <p:cNvGrpSpPr/>
        <p:nvPr/>
      </p:nvGrpSpPr>
      <p:grpSpPr>
        <a:xfrm>
          <a:off x="0" y="0"/>
          <a:ext cx="0" cy="0"/>
          <a:chOff x="0" y="0"/>
          <a:chExt cx="0" cy="0"/>
        </a:xfrm>
      </p:grpSpPr>
      <p:grpSp>
        <p:nvGrpSpPr>
          <p:cNvPr id="160" name="Google Shape;160;p4"/>
          <p:cNvGrpSpPr/>
          <p:nvPr/>
        </p:nvGrpSpPr>
        <p:grpSpPr>
          <a:xfrm>
            <a:off x="-4856925" y="6662293"/>
            <a:ext cx="12549976" cy="12663776"/>
            <a:chOff x="0" y="0"/>
            <a:chExt cx="812800" cy="820170"/>
          </a:xfrm>
        </p:grpSpPr>
        <p:sp>
          <p:nvSpPr>
            <p:cNvPr id="161" name="Google Shape;161;p4"/>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4"/>
          <p:cNvSpPr/>
          <p:nvPr/>
        </p:nvSpPr>
        <p:spPr>
          <a:xfrm>
            <a:off x="5917340" y="4036619"/>
            <a:ext cx="1409640" cy="1399067"/>
          </a:xfrm>
          <a:custGeom>
            <a:rect b="b" l="l" r="r" t="t"/>
            <a:pathLst>
              <a:path extrusionOk="0" h="1399067" w="1409640">
                <a:moveTo>
                  <a:pt x="0" y="0"/>
                </a:moveTo>
                <a:lnTo>
                  <a:pt x="1409639" y="0"/>
                </a:lnTo>
                <a:lnTo>
                  <a:pt x="1409639" y="1399067"/>
                </a:lnTo>
                <a:lnTo>
                  <a:pt x="0" y="1399067"/>
                </a:lnTo>
                <a:lnTo>
                  <a:pt x="0" y="0"/>
                </a:lnTo>
                <a:close/>
              </a:path>
            </a:pathLst>
          </a:custGeom>
          <a:blipFill rotWithShape="1">
            <a:blip r:embed="rId3">
              <a:alphaModFix/>
            </a:blip>
            <a:stretch>
              <a:fillRect b="0" l="0" r="0" t="0"/>
            </a:stretch>
          </a:blipFill>
          <a:ln>
            <a:noFill/>
          </a:ln>
        </p:spPr>
      </p:sp>
      <p:grpSp>
        <p:nvGrpSpPr>
          <p:cNvPr id="164" name="Google Shape;164;p4"/>
          <p:cNvGrpSpPr/>
          <p:nvPr/>
        </p:nvGrpSpPr>
        <p:grpSpPr>
          <a:xfrm>
            <a:off x="15212158" y="-2406548"/>
            <a:ext cx="4769843" cy="4813095"/>
            <a:chOff x="0" y="0"/>
            <a:chExt cx="812800" cy="820170"/>
          </a:xfrm>
        </p:grpSpPr>
        <p:sp>
          <p:nvSpPr>
            <p:cNvPr id="165" name="Google Shape;165;p4"/>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7" name="Google Shape;167;p4"/>
          <p:cNvSpPr/>
          <p:nvPr/>
        </p:nvSpPr>
        <p:spPr>
          <a:xfrm>
            <a:off x="16018718" y="8617062"/>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4">
              <a:alphaModFix/>
            </a:blip>
            <a:stretch>
              <a:fillRect b="0" l="0" r="0" t="0"/>
            </a:stretch>
          </a:blipFill>
          <a:ln>
            <a:noFill/>
          </a:ln>
        </p:spPr>
      </p:sp>
      <p:sp>
        <p:nvSpPr>
          <p:cNvPr id="168" name="Google Shape;168;p4"/>
          <p:cNvSpPr/>
          <p:nvPr/>
        </p:nvSpPr>
        <p:spPr>
          <a:xfrm>
            <a:off x="-791802" y="3500753"/>
            <a:ext cx="6786247" cy="6786247"/>
          </a:xfrm>
          <a:custGeom>
            <a:rect b="b" l="l" r="r" t="t"/>
            <a:pathLst>
              <a:path extrusionOk="0" h="6786247" w="6786247">
                <a:moveTo>
                  <a:pt x="0" y="0"/>
                </a:moveTo>
                <a:lnTo>
                  <a:pt x="6786247" y="0"/>
                </a:lnTo>
                <a:lnTo>
                  <a:pt x="6786247" y="6786247"/>
                </a:lnTo>
                <a:lnTo>
                  <a:pt x="0" y="6786247"/>
                </a:lnTo>
                <a:lnTo>
                  <a:pt x="0" y="0"/>
                </a:lnTo>
                <a:close/>
              </a:path>
            </a:pathLst>
          </a:custGeom>
          <a:blipFill rotWithShape="1">
            <a:blip r:embed="rId5">
              <a:alphaModFix/>
            </a:blip>
            <a:stretch>
              <a:fillRect b="0" l="0" r="0" t="0"/>
            </a:stretch>
          </a:blipFill>
          <a:ln>
            <a:noFill/>
          </a:ln>
        </p:spPr>
      </p:sp>
      <p:sp>
        <p:nvSpPr>
          <p:cNvPr id="169" name="Google Shape;169;p4"/>
          <p:cNvSpPr txBox="1"/>
          <p:nvPr/>
        </p:nvSpPr>
        <p:spPr>
          <a:xfrm>
            <a:off x="5570359" y="1084198"/>
            <a:ext cx="9641799" cy="2148978"/>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114" u="none" cap="none" strike="noStrike">
                <a:solidFill>
                  <a:srgbClr val="FFFFFF"/>
                </a:solidFill>
                <a:latin typeface="Arial"/>
                <a:ea typeface="Arial"/>
                <a:cs typeface="Arial"/>
                <a:sym typeface="Arial"/>
              </a:rPr>
              <a:t>COMPETENCIA(S) QUE DESARROLLAREMOS</a:t>
            </a:r>
            <a:endParaRPr/>
          </a:p>
        </p:txBody>
      </p:sp>
      <p:sp>
        <p:nvSpPr>
          <p:cNvPr id="170" name="Google Shape;170;p4"/>
          <p:cNvSpPr txBox="1"/>
          <p:nvPr/>
        </p:nvSpPr>
        <p:spPr>
          <a:xfrm>
            <a:off x="7565530" y="3975481"/>
            <a:ext cx="7701783" cy="2686812"/>
          </a:xfrm>
          <a:prstGeom prst="rect">
            <a:avLst/>
          </a:prstGeom>
          <a:noFill/>
          <a:ln>
            <a:noFill/>
          </a:ln>
        </p:spPr>
        <p:txBody>
          <a:bodyPr anchorCtr="0" anchor="t" bIns="0" lIns="0" spcFirstLastPara="1" rIns="0" wrap="square" tIns="0">
            <a:spAutoFit/>
          </a:bodyPr>
          <a:lstStyle/>
          <a:p>
            <a:pPr indent="0" lvl="1" marL="0" marR="0" rtl="0" algn="l">
              <a:lnSpc>
                <a:spcPct val="140000"/>
              </a:lnSpc>
              <a:spcBef>
                <a:spcPts val="0"/>
              </a:spcBef>
              <a:spcAft>
                <a:spcPts val="0"/>
              </a:spcAft>
              <a:buNone/>
            </a:pPr>
            <a:r>
              <a:rPr b="0" i="0" lang="en-US" sz="3125" u="none" cap="none" strike="noStrike">
                <a:solidFill>
                  <a:srgbClr val="FFFFFF"/>
                </a:solidFill>
                <a:latin typeface="Noto Sans"/>
                <a:ea typeface="Noto Sans"/>
                <a:cs typeface="Noto Sans"/>
                <a:sym typeface="Noto Sans"/>
              </a:rPr>
              <a:t>El estudiante diseña una topología de red utilizando dispositivos de red virtuales o físicos para crear un entorno funcional que cumpla requerimientos específicos de comunicación </a:t>
            </a:r>
            <a:endParaRPr/>
          </a:p>
        </p:txBody>
      </p:sp>
      <p:sp>
        <p:nvSpPr>
          <p:cNvPr id="171" name="Google Shape;171;p4"/>
          <p:cNvSpPr txBox="1"/>
          <p:nvPr/>
        </p:nvSpPr>
        <p:spPr>
          <a:xfrm>
            <a:off x="5917340" y="3999497"/>
            <a:ext cx="1233885" cy="1450395"/>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1" i="0" lang="en-US" sz="8325" u="none" cap="none" strike="noStrike">
                <a:solidFill>
                  <a:srgbClr val="4F8FD1"/>
                </a:solidFill>
                <a:latin typeface="Arial"/>
                <a:ea typeface="Arial"/>
                <a:cs typeface="Arial"/>
                <a:sym typeface="Arial"/>
              </a:rPr>
              <a:t>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175" name="Shape 175"/>
        <p:cNvGrpSpPr/>
        <p:nvPr/>
      </p:nvGrpSpPr>
      <p:grpSpPr>
        <a:xfrm>
          <a:off x="0" y="0"/>
          <a:ext cx="0" cy="0"/>
          <a:chOff x="0" y="0"/>
          <a:chExt cx="0" cy="0"/>
        </a:xfrm>
      </p:grpSpPr>
      <p:sp>
        <p:nvSpPr>
          <p:cNvPr id="176" name="Google Shape;176;p5"/>
          <p:cNvSpPr/>
          <p:nvPr/>
        </p:nvSpPr>
        <p:spPr>
          <a:xfrm>
            <a:off x="-7196273" y="-3825628"/>
            <a:ext cx="16449947" cy="16449947"/>
          </a:xfrm>
          <a:custGeom>
            <a:rect b="b" l="l" r="r" t="t"/>
            <a:pathLst>
              <a:path extrusionOk="0" h="16449947" w="16449947">
                <a:moveTo>
                  <a:pt x="0" y="0"/>
                </a:moveTo>
                <a:lnTo>
                  <a:pt x="16449946" y="0"/>
                </a:lnTo>
                <a:lnTo>
                  <a:pt x="16449946" y="16449947"/>
                </a:lnTo>
                <a:lnTo>
                  <a:pt x="0" y="16449947"/>
                </a:lnTo>
                <a:lnTo>
                  <a:pt x="0" y="0"/>
                </a:lnTo>
                <a:close/>
              </a:path>
            </a:pathLst>
          </a:custGeom>
          <a:blipFill rotWithShape="1">
            <a:blip r:embed="rId3">
              <a:alphaModFix/>
            </a:blip>
            <a:stretch>
              <a:fillRect b="0" l="0" r="0" t="0"/>
            </a:stretch>
          </a:blipFill>
          <a:ln>
            <a:noFill/>
          </a:ln>
        </p:spPr>
      </p:sp>
      <p:grpSp>
        <p:nvGrpSpPr>
          <p:cNvPr id="177" name="Google Shape;177;p5"/>
          <p:cNvGrpSpPr/>
          <p:nvPr/>
        </p:nvGrpSpPr>
        <p:grpSpPr>
          <a:xfrm>
            <a:off x="2015845" y="1818039"/>
            <a:ext cx="14973524" cy="6985519"/>
            <a:chOff x="0" y="0"/>
            <a:chExt cx="4730473" cy="2206882"/>
          </a:xfrm>
        </p:grpSpPr>
        <p:sp>
          <p:nvSpPr>
            <p:cNvPr id="178" name="Google Shape;178;p5"/>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179" name="Google Shape;179;p5"/>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180" name="Google Shape;180;p5"/>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181" name="Google Shape;181;p5"/>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182" name="Google Shape;182;p5"/>
          <p:cNvSpPr/>
          <p:nvPr/>
        </p:nvSpPr>
        <p:spPr>
          <a:xfrm>
            <a:off x="16132849" y="601927"/>
            <a:ext cx="1126451" cy="1089841"/>
          </a:xfrm>
          <a:custGeom>
            <a:rect b="b" l="l" r="r" t="t"/>
            <a:pathLst>
              <a:path extrusionOk="0" h="1089841" w="1126451">
                <a:moveTo>
                  <a:pt x="0" y="0"/>
                </a:moveTo>
                <a:lnTo>
                  <a:pt x="1126451" y="0"/>
                </a:lnTo>
                <a:lnTo>
                  <a:pt x="1126451" y="1089842"/>
                </a:lnTo>
                <a:lnTo>
                  <a:pt x="0" y="1089842"/>
                </a:lnTo>
                <a:lnTo>
                  <a:pt x="0" y="0"/>
                </a:lnTo>
                <a:close/>
              </a:path>
            </a:pathLst>
          </a:custGeom>
          <a:blipFill rotWithShape="1">
            <a:blip r:embed="rId4">
              <a:alphaModFix/>
            </a:blip>
            <a:stretch>
              <a:fillRect b="0" l="0" r="0" t="0"/>
            </a:stretch>
          </a:blipFill>
          <a:ln>
            <a:noFill/>
          </a:ln>
        </p:spPr>
      </p:sp>
      <p:sp>
        <p:nvSpPr>
          <p:cNvPr id="183" name="Google Shape;183;p5"/>
          <p:cNvSpPr/>
          <p:nvPr/>
        </p:nvSpPr>
        <p:spPr>
          <a:xfrm>
            <a:off x="12622504" y="4399345"/>
            <a:ext cx="3704509" cy="2519066"/>
          </a:xfrm>
          <a:custGeom>
            <a:rect b="b" l="l" r="r" t="t"/>
            <a:pathLst>
              <a:path extrusionOk="0" h="2519066" w="3704509">
                <a:moveTo>
                  <a:pt x="0" y="0"/>
                </a:moveTo>
                <a:lnTo>
                  <a:pt x="3704509" y="0"/>
                </a:lnTo>
                <a:lnTo>
                  <a:pt x="3704509" y="2519067"/>
                </a:lnTo>
                <a:lnTo>
                  <a:pt x="0" y="2519067"/>
                </a:lnTo>
                <a:lnTo>
                  <a:pt x="0" y="0"/>
                </a:lnTo>
                <a:close/>
              </a:path>
            </a:pathLst>
          </a:custGeom>
          <a:blipFill rotWithShape="1">
            <a:blip r:embed="rId5">
              <a:alphaModFix/>
            </a:blip>
            <a:stretch>
              <a:fillRect b="0" l="0" r="0" t="0"/>
            </a:stretch>
          </a:blipFill>
          <a:ln>
            <a:noFill/>
          </a:ln>
        </p:spPr>
      </p:sp>
      <p:sp>
        <p:nvSpPr>
          <p:cNvPr id="184" name="Google Shape;184;p5"/>
          <p:cNvSpPr txBox="1"/>
          <p:nvPr/>
        </p:nvSpPr>
        <p:spPr>
          <a:xfrm>
            <a:off x="3238927" y="2333544"/>
            <a:ext cx="8612818" cy="150784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4246" u="none" cap="none" strike="noStrike">
                <a:solidFill>
                  <a:srgbClr val="4F8FD1"/>
                </a:solidFill>
                <a:latin typeface="Arial"/>
                <a:ea typeface="Arial"/>
                <a:cs typeface="Arial"/>
                <a:sym typeface="Arial"/>
              </a:rPr>
              <a:t>¿QUÉ SON LOS PROTOCOLOS DE ENRUTAMIENTO?</a:t>
            </a:r>
            <a:endParaRPr/>
          </a:p>
        </p:txBody>
      </p:sp>
      <p:sp>
        <p:nvSpPr>
          <p:cNvPr id="185" name="Google Shape;185;p5"/>
          <p:cNvSpPr txBox="1"/>
          <p:nvPr/>
        </p:nvSpPr>
        <p:spPr>
          <a:xfrm>
            <a:off x="3238927" y="4162127"/>
            <a:ext cx="9383577" cy="349835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25" u="none" cap="none" strike="noStrike">
                <a:solidFill>
                  <a:srgbClr val="0E0722"/>
                </a:solidFill>
                <a:latin typeface="Noto Sans"/>
                <a:ea typeface="Noto Sans"/>
                <a:cs typeface="Noto Sans"/>
                <a:sym typeface="Noto Sans"/>
              </a:rPr>
              <a:t>Protocolos de enrutamiento son el conjunto de reglas definidas que utilizan los enrutadores para comunicarse entre el origen y el destino. No mueven la información del origen a un destino, sino que solo actualizan la tabla de enrutamiento que contiene la información.</a:t>
            </a:r>
            <a:endParaRPr/>
          </a:p>
          <a:p>
            <a:pPr indent="0" lvl="0" marL="0" marR="0" rtl="0" algn="l">
              <a:lnSpc>
                <a:spcPct val="140000"/>
              </a:lnSpc>
              <a:spcBef>
                <a:spcPts val="0"/>
              </a:spcBef>
              <a:spcAft>
                <a:spcPts val="0"/>
              </a:spcAft>
              <a:buNone/>
            </a:pPr>
            <a:r>
              <a:t/>
            </a:r>
            <a:endParaRPr b="0" i="0" sz="2225" u="none" cap="none" strike="noStrike">
              <a:solidFill>
                <a:srgbClr val="0E0722"/>
              </a:solidFill>
              <a:latin typeface="Noto Sans"/>
              <a:ea typeface="Noto Sans"/>
              <a:cs typeface="Noto Sans"/>
              <a:sym typeface="Noto Sans"/>
            </a:endParaRPr>
          </a:p>
          <a:p>
            <a:pPr indent="0" lvl="1" marL="0" marR="0" rtl="0" algn="l">
              <a:lnSpc>
                <a:spcPct val="140000"/>
              </a:lnSpc>
              <a:spcBef>
                <a:spcPts val="0"/>
              </a:spcBef>
              <a:spcAft>
                <a:spcPts val="0"/>
              </a:spcAft>
              <a:buNone/>
            </a:pPr>
            <a:r>
              <a:rPr b="0" i="0" lang="en-US" sz="2225" u="none" cap="none" strike="noStrike">
                <a:solidFill>
                  <a:srgbClr val="0E0722"/>
                </a:solidFill>
                <a:latin typeface="Noto Sans"/>
                <a:ea typeface="Noto Sans"/>
                <a:cs typeface="Noto Sans"/>
                <a:sym typeface="Noto Sans"/>
              </a:rPr>
              <a:t>Los protocolos del enrutador de red le ayudan a especificar la forma en que los enrutadores se comunican entre sí. Permite a la red seleccionar rutas entre dos nodos cualesquiera en una red informática.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6"/>
          <p:cNvSpPr/>
          <p:nvPr/>
        </p:nvSpPr>
        <p:spPr>
          <a:xfrm>
            <a:off x="1028700" y="2853869"/>
            <a:ext cx="5039003" cy="5001211"/>
          </a:xfrm>
          <a:custGeom>
            <a:rect b="b" l="l" r="r" t="t"/>
            <a:pathLst>
              <a:path extrusionOk="0" h="5001211" w="5039003">
                <a:moveTo>
                  <a:pt x="0" y="0"/>
                </a:moveTo>
                <a:lnTo>
                  <a:pt x="5039003" y="0"/>
                </a:lnTo>
                <a:lnTo>
                  <a:pt x="5039003" y="5001210"/>
                </a:lnTo>
                <a:lnTo>
                  <a:pt x="0" y="5001210"/>
                </a:lnTo>
                <a:lnTo>
                  <a:pt x="0" y="0"/>
                </a:lnTo>
                <a:close/>
              </a:path>
            </a:pathLst>
          </a:custGeom>
          <a:blipFill rotWithShape="1">
            <a:blip r:embed="rId3">
              <a:alphaModFix/>
            </a:blip>
            <a:stretch>
              <a:fillRect b="0" l="0" r="0" t="0"/>
            </a:stretch>
          </a:blipFill>
          <a:ln>
            <a:noFill/>
          </a:ln>
        </p:spPr>
      </p:sp>
      <p:cxnSp>
        <p:nvCxnSpPr>
          <p:cNvPr id="191" name="Google Shape;191;p6"/>
          <p:cNvCxnSpPr/>
          <p:nvPr/>
        </p:nvCxnSpPr>
        <p:spPr>
          <a:xfrm>
            <a:off x="-6384927" y="5689115"/>
            <a:ext cx="2773715" cy="1172670"/>
          </a:xfrm>
          <a:prstGeom prst="straightConnector1">
            <a:avLst/>
          </a:prstGeom>
          <a:noFill/>
          <a:ln cap="rnd" cmpd="sng" w="38100">
            <a:solidFill>
              <a:srgbClr val="ACB8C0"/>
            </a:solidFill>
            <a:prstDash val="solid"/>
            <a:round/>
            <a:headEnd len="sm" w="sm" type="none"/>
            <a:tailEnd len="med" w="med" type="stealth"/>
          </a:ln>
        </p:spPr>
      </p:cxnSp>
      <p:cxnSp>
        <p:nvCxnSpPr>
          <p:cNvPr id="192" name="Google Shape;192;p6"/>
          <p:cNvCxnSpPr/>
          <p:nvPr/>
        </p:nvCxnSpPr>
        <p:spPr>
          <a:xfrm rot="10800000">
            <a:off x="-7491370" y="3899983"/>
            <a:ext cx="3880159" cy="2961802"/>
          </a:xfrm>
          <a:prstGeom prst="straightConnector1">
            <a:avLst/>
          </a:prstGeom>
          <a:noFill/>
          <a:ln cap="rnd" cmpd="sng" w="38100">
            <a:solidFill>
              <a:srgbClr val="ACB8C0"/>
            </a:solidFill>
            <a:prstDash val="solid"/>
            <a:round/>
            <a:headEnd len="sm" w="sm" type="none"/>
            <a:tailEnd len="med" w="med" type="stealth"/>
          </a:ln>
        </p:spPr>
      </p:cxnSp>
      <p:grpSp>
        <p:nvGrpSpPr>
          <p:cNvPr id="193" name="Google Shape;193;p6"/>
          <p:cNvGrpSpPr/>
          <p:nvPr/>
        </p:nvGrpSpPr>
        <p:grpSpPr>
          <a:xfrm>
            <a:off x="15140430" y="-2672673"/>
            <a:ext cx="4801388" cy="4844925"/>
            <a:chOff x="0" y="0"/>
            <a:chExt cx="812800" cy="820170"/>
          </a:xfrm>
        </p:grpSpPr>
        <p:sp>
          <p:nvSpPr>
            <p:cNvPr id="194" name="Google Shape;194;p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6"/>
          <p:cNvGrpSpPr/>
          <p:nvPr/>
        </p:nvGrpSpPr>
        <p:grpSpPr>
          <a:xfrm>
            <a:off x="-1680925" y="8267090"/>
            <a:ext cx="4801388" cy="4844925"/>
            <a:chOff x="0" y="0"/>
            <a:chExt cx="812800" cy="820170"/>
          </a:xfrm>
        </p:grpSpPr>
        <p:sp>
          <p:nvSpPr>
            <p:cNvPr id="197" name="Google Shape;197;p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6"/>
          <p:cNvGrpSpPr/>
          <p:nvPr/>
        </p:nvGrpSpPr>
        <p:grpSpPr>
          <a:xfrm>
            <a:off x="13629159" y="-299344"/>
            <a:ext cx="984659" cy="993588"/>
            <a:chOff x="0" y="0"/>
            <a:chExt cx="812800" cy="820170"/>
          </a:xfrm>
        </p:grpSpPr>
        <p:sp>
          <p:nvSpPr>
            <p:cNvPr id="200" name="Google Shape;200;p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6"/>
          <p:cNvGrpSpPr/>
          <p:nvPr/>
        </p:nvGrpSpPr>
        <p:grpSpPr>
          <a:xfrm>
            <a:off x="4020718" y="9695965"/>
            <a:ext cx="984659" cy="993588"/>
            <a:chOff x="0" y="0"/>
            <a:chExt cx="812800" cy="820170"/>
          </a:xfrm>
        </p:grpSpPr>
        <p:sp>
          <p:nvSpPr>
            <p:cNvPr id="203" name="Google Shape;203;p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6"/>
          <p:cNvGrpSpPr/>
          <p:nvPr/>
        </p:nvGrpSpPr>
        <p:grpSpPr>
          <a:xfrm>
            <a:off x="3120462" y="8866377"/>
            <a:ext cx="484221" cy="488612"/>
            <a:chOff x="0" y="0"/>
            <a:chExt cx="812800" cy="820170"/>
          </a:xfrm>
        </p:grpSpPr>
        <p:sp>
          <p:nvSpPr>
            <p:cNvPr id="206" name="Google Shape;206;p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6"/>
          <p:cNvSpPr/>
          <p:nvPr/>
        </p:nvSpPr>
        <p:spPr>
          <a:xfrm>
            <a:off x="16300314" y="8713379"/>
            <a:ext cx="1126451" cy="1089841"/>
          </a:xfrm>
          <a:custGeom>
            <a:rect b="b" l="l" r="r" t="t"/>
            <a:pathLst>
              <a:path extrusionOk="0" h="1089841" w="1126451">
                <a:moveTo>
                  <a:pt x="0" y="0"/>
                </a:moveTo>
                <a:lnTo>
                  <a:pt x="1126450" y="0"/>
                </a:lnTo>
                <a:lnTo>
                  <a:pt x="1126450" y="1089842"/>
                </a:lnTo>
                <a:lnTo>
                  <a:pt x="0" y="1089842"/>
                </a:lnTo>
                <a:lnTo>
                  <a:pt x="0" y="0"/>
                </a:lnTo>
                <a:close/>
              </a:path>
            </a:pathLst>
          </a:custGeom>
          <a:blipFill rotWithShape="1">
            <a:blip r:embed="rId4">
              <a:alphaModFix/>
            </a:blip>
            <a:stretch>
              <a:fillRect b="0" l="0" r="0" t="0"/>
            </a:stretch>
          </a:blipFill>
          <a:ln>
            <a:noFill/>
          </a:ln>
        </p:spPr>
      </p:sp>
      <p:sp>
        <p:nvSpPr>
          <p:cNvPr id="209" name="Google Shape;209;p6"/>
          <p:cNvSpPr/>
          <p:nvPr/>
        </p:nvSpPr>
        <p:spPr>
          <a:xfrm>
            <a:off x="2167978" y="4894566"/>
            <a:ext cx="2312354" cy="2355175"/>
          </a:xfrm>
          <a:custGeom>
            <a:rect b="b" l="l" r="r" t="t"/>
            <a:pathLst>
              <a:path extrusionOk="0" h="2355175" w="2312354">
                <a:moveTo>
                  <a:pt x="0" y="0"/>
                </a:moveTo>
                <a:lnTo>
                  <a:pt x="2312354" y="0"/>
                </a:lnTo>
                <a:lnTo>
                  <a:pt x="2312354" y="2355175"/>
                </a:lnTo>
                <a:lnTo>
                  <a:pt x="0" y="2355175"/>
                </a:lnTo>
                <a:lnTo>
                  <a:pt x="0" y="0"/>
                </a:lnTo>
                <a:close/>
              </a:path>
            </a:pathLst>
          </a:custGeom>
          <a:blipFill rotWithShape="1">
            <a:blip r:embed="rId5">
              <a:alphaModFix/>
            </a:blip>
            <a:stretch>
              <a:fillRect b="0" l="0" r="0" t="0"/>
            </a:stretch>
          </a:blipFill>
          <a:ln>
            <a:noFill/>
          </a:ln>
        </p:spPr>
      </p:sp>
      <p:sp>
        <p:nvSpPr>
          <p:cNvPr id="210" name="Google Shape;210;p6"/>
          <p:cNvSpPr txBox="1"/>
          <p:nvPr/>
        </p:nvSpPr>
        <p:spPr>
          <a:xfrm>
            <a:off x="1377228" y="1585051"/>
            <a:ext cx="5736060" cy="856807"/>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892" u="none" cap="none" strike="noStrike">
                <a:solidFill>
                  <a:srgbClr val="4F8FD1"/>
                </a:solidFill>
                <a:latin typeface="Arial"/>
                <a:ea typeface="Arial"/>
                <a:cs typeface="Arial"/>
                <a:sym typeface="Arial"/>
              </a:rPr>
              <a:t>CLASIFICACIÓN</a:t>
            </a:r>
            <a:endParaRPr/>
          </a:p>
        </p:txBody>
      </p:sp>
      <p:sp>
        <p:nvSpPr>
          <p:cNvPr id="211" name="Google Shape;211;p6"/>
          <p:cNvSpPr txBox="1"/>
          <p:nvPr/>
        </p:nvSpPr>
        <p:spPr>
          <a:xfrm>
            <a:off x="2168963" y="3402057"/>
            <a:ext cx="2759463" cy="1359748"/>
          </a:xfrm>
          <a:prstGeom prst="rect">
            <a:avLst/>
          </a:prstGeom>
          <a:noFill/>
          <a:ln>
            <a:noFill/>
          </a:ln>
        </p:spPr>
        <p:txBody>
          <a:bodyPr anchorCtr="0" anchor="t" bIns="0" lIns="0" spcFirstLastPara="1" rIns="0" wrap="square" tIns="0">
            <a:spAutoFit/>
          </a:bodyPr>
          <a:lstStyle/>
          <a:p>
            <a:pPr indent="0" lvl="1" marL="0" marR="0" rtl="0" algn="ctr">
              <a:lnSpc>
                <a:spcPct val="140023"/>
              </a:lnSpc>
              <a:spcBef>
                <a:spcPts val="0"/>
              </a:spcBef>
              <a:spcAft>
                <a:spcPts val="0"/>
              </a:spcAft>
              <a:buNone/>
            </a:pPr>
            <a:r>
              <a:rPr b="1" i="0" lang="en-US" sz="2586" u="none" cap="none" strike="noStrike">
                <a:solidFill>
                  <a:srgbClr val="2D659F"/>
                </a:solidFill>
                <a:latin typeface="Noto Sans"/>
                <a:ea typeface="Noto Sans"/>
                <a:cs typeface="Noto Sans"/>
                <a:sym typeface="Noto Sans"/>
              </a:rPr>
              <a:t>Protocolos de Enrutamiento Dinámico</a:t>
            </a:r>
            <a:endParaRPr/>
          </a:p>
        </p:txBody>
      </p:sp>
      <p:grpSp>
        <p:nvGrpSpPr>
          <p:cNvPr id="212" name="Google Shape;212;p6"/>
          <p:cNvGrpSpPr/>
          <p:nvPr/>
        </p:nvGrpSpPr>
        <p:grpSpPr>
          <a:xfrm>
            <a:off x="7118829" y="3728540"/>
            <a:ext cx="2941974" cy="1287292"/>
            <a:chOff x="0" y="-38100"/>
            <a:chExt cx="653798" cy="286076"/>
          </a:xfrm>
        </p:grpSpPr>
        <p:sp>
          <p:nvSpPr>
            <p:cNvPr id="213" name="Google Shape;213;p6"/>
            <p:cNvSpPr/>
            <p:nvPr/>
          </p:nvSpPr>
          <p:spPr>
            <a:xfrm>
              <a:off x="0" y="0"/>
              <a:ext cx="653798" cy="247976"/>
            </a:xfrm>
            <a:custGeom>
              <a:rect b="b" l="l" r="r" t="t"/>
              <a:pathLst>
                <a:path extrusionOk="0" h="247976" w="653798">
                  <a:moveTo>
                    <a:pt x="110525" y="0"/>
                  </a:moveTo>
                  <a:lnTo>
                    <a:pt x="543273" y="0"/>
                  </a:lnTo>
                  <a:cubicBezTo>
                    <a:pt x="572586" y="0"/>
                    <a:pt x="600699" y="11645"/>
                    <a:pt x="621426" y="32372"/>
                  </a:cubicBezTo>
                  <a:cubicBezTo>
                    <a:pt x="642153" y="53099"/>
                    <a:pt x="653798" y="81212"/>
                    <a:pt x="653798" y="110525"/>
                  </a:cubicBezTo>
                  <a:lnTo>
                    <a:pt x="653798" y="137452"/>
                  </a:lnTo>
                  <a:cubicBezTo>
                    <a:pt x="653798" y="166764"/>
                    <a:pt x="642153" y="194877"/>
                    <a:pt x="621426" y="215604"/>
                  </a:cubicBezTo>
                  <a:cubicBezTo>
                    <a:pt x="600699" y="236332"/>
                    <a:pt x="572586" y="247976"/>
                    <a:pt x="543273" y="247976"/>
                  </a:cubicBezTo>
                  <a:lnTo>
                    <a:pt x="110525" y="247976"/>
                  </a:lnTo>
                  <a:cubicBezTo>
                    <a:pt x="81212" y="247976"/>
                    <a:pt x="53099" y="236332"/>
                    <a:pt x="32372" y="215604"/>
                  </a:cubicBezTo>
                  <a:cubicBezTo>
                    <a:pt x="11645" y="194877"/>
                    <a:pt x="0" y="166764"/>
                    <a:pt x="0" y="137452"/>
                  </a:cubicBezTo>
                  <a:lnTo>
                    <a:pt x="0" y="110525"/>
                  </a:lnTo>
                  <a:cubicBezTo>
                    <a:pt x="0" y="81212"/>
                    <a:pt x="11645" y="53099"/>
                    <a:pt x="32372" y="32372"/>
                  </a:cubicBezTo>
                  <a:cubicBezTo>
                    <a:pt x="53099" y="11645"/>
                    <a:pt x="81212" y="0"/>
                    <a:pt x="110525" y="0"/>
                  </a:cubicBezTo>
                  <a:close/>
                </a:path>
              </a:pathLst>
            </a:custGeom>
            <a:solidFill>
              <a:srgbClr val="000000">
                <a:alpha val="0"/>
              </a:srgbClr>
            </a:solidFill>
            <a:ln cap="rnd" cmpd="sng" w="38100">
              <a:solidFill>
                <a:srgbClr val="4F8F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
            <p:cNvSpPr txBox="1"/>
            <p:nvPr/>
          </p:nvSpPr>
          <p:spPr>
            <a:xfrm>
              <a:off x="0" y="-38100"/>
              <a:ext cx="653798" cy="286076"/>
            </a:xfrm>
            <a:prstGeom prst="rect">
              <a:avLst/>
            </a:prstGeom>
            <a:noFill/>
            <a:ln>
              <a:noFill/>
            </a:ln>
          </p:spPr>
          <p:txBody>
            <a:bodyPr anchorCtr="0" anchor="ctr" bIns="50800" lIns="50800" spcFirstLastPara="1" rIns="50800" wrap="square" tIns="50800">
              <a:no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Protocolo de Gateway Interior</a:t>
              </a:r>
              <a:endParaRPr/>
            </a:p>
          </p:txBody>
        </p:sp>
      </p:grpSp>
      <p:grpSp>
        <p:nvGrpSpPr>
          <p:cNvPr id="215" name="Google Shape;215;p6"/>
          <p:cNvGrpSpPr/>
          <p:nvPr/>
        </p:nvGrpSpPr>
        <p:grpSpPr>
          <a:xfrm>
            <a:off x="7172542" y="5711167"/>
            <a:ext cx="2941974" cy="1287292"/>
            <a:chOff x="0" y="-38100"/>
            <a:chExt cx="653798" cy="286076"/>
          </a:xfrm>
        </p:grpSpPr>
        <p:sp>
          <p:nvSpPr>
            <p:cNvPr id="216" name="Google Shape;216;p6"/>
            <p:cNvSpPr/>
            <p:nvPr/>
          </p:nvSpPr>
          <p:spPr>
            <a:xfrm>
              <a:off x="0" y="0"/>
              <a:ext cx="653798" cy="247976"/>
            </a:xfrm>
            <a:custGeom>
              <a:rect b="b" l="l" r="r" t="t"/>
              <a:pathLst>
                <a:path extrusionOk="0" h="247976" w="653798">
                  <a:moveTo>
                    <a:pt x="110525" y="0"/>
                  </a:moveTo>
                  <a:lnTo>
                    <a:pt x="543273" y="0"/>
                  </a:lnTo>
                  <a:cubicBezTo>
                    <a:pt x="572586" y="0"/>
                    <a:pt x="600699" y="11645"/>
                    <a:pt x="621426" y="32372"/>
                  </a:cubicBezTo>
                  <a:cubicBezTo>
                    <a:pt x="642153" y="53099"/>
                    <a:pt x="653798" y="81212"/>
                    <a:pt x="653798" y="110525"/>
                  </a:cubicBezTo>
                  <a:lnTo>
                    <a:pt x="653798" y="137452"/>
                  </a:lnTo>
                  <a:cubicBezTo>
                    <a:pt x="653798" y="166764"/>
                    <a:pt x="642153" y="194877"/>
                    <a:pt x="621426" y="215604"/>
                  </a:cubicBezTo>
                  <a:cubicBezTo>
                    <a:pt x="600699" y="236332"/>
                    <a:pt x="572586" y="247976"/>
                    <a:pt x="543273" y="247976"/>
                  </a:cubicBezTo>
                  <a:lnTo>
                    <a:pt x="110525" y="247976"/>
                  </a:lnTo>
                  <a:cubicBezTo>
                    <a:pt x="81212" y="247976"/>
                    <a:pt x="53099" y="236332"/>
                    <a:pt x="32372" y="215604"/>
                  </a:cubicBezTo>
                  <a:cubicBezTo>
                    <a:pt x="11645" y="194877"/>
                    <a:pt x="0" y="166764"/>
                    <a:pt x="0" y="137452"/>
                  </a:cubicBezTo>
                  <a:lnTo>
                    <a:pt x="0" y="110525"/>
                  </a:lnTo>
                  <a:cubicBezTo>
                    <a:pt x="0" y="81212"/>
                    <a:pt x="11645" y="53099"/>
                    <a:pt x="32372" y="32372"/>
                  </a:cubicBezTo>
                  <a:cubicBezTo>
                    <a:pt x="53099" y="11645"/>
                    <a:pt x="81212" y="0"/>
                    <a:pt x="110525" y="0"/>
                  </a:cubicBezTo>
                  <a:close/>
                </a:path>
              </a:pathLst>
            </a:custGeom>
            <a:solidFill>
              <a:srgbClr val="000000">
                <a:alpha val="0"/>
              </a:srgbClr>
            </a:solidFill>
            <a:ln cap="rnd" cmpd="sng" w="38100">
              <a:solidFill>
                <a:srgbClr val="4F8F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
            <p:cNvSpPr txBox="1"/>
            <p:nvPr/>
          </p:nvSpPr>
          <p:spPr>
            <a:xfrm>
              <a:off x="0" y="-38100"/>
              <a:ext cx="653798" cy="286076"/>
            </a:xfrm>
            <a:prstGeom prst="rect">
              <a:avLst/>
            </a:prstGeom>
            <a:noFill/>
            <a:ln>
              <a:noFill/>
            </a:ln>
          </p:spPr>
          <p:txBody>
            <a:bodyPr anchorCtr="0" anchor="ctr" bIns="50800" lIns="50800" spcFirstLastPara="1" rIns="50800" wrap="square" tIns="50800">
              <a:no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Protocolo de Gateway Exterior</a:t>
              </a:r>
              <a:endParaRPr/>
            </a:p>
          </p:txBody>
        </p:sp>
      </p:grpSp>
      <p:grpSp>
        <p:nvGrpSpPr>
          <p:cNvPr id="218" name="Google Shape;218;p6"/>
          <p:cNvGrpSpPr/>
          <p:nvPr/>
        </p:nvGrpSpPr>
        <p:grpSpPr>
          <a:xfrm>
            <a:off x="10718083" y="2872526"/>
            <a:ext cx="2449644" cy="845752"/>
            <a:chOff x="0" y="-28575"/>
            <a:chExt cx="544387" cy="187952"/>
          </a:xfrm>
        </p:grpSpPr>
        <p:sp>
          <p:nvSpPr>
            <p:cNvPr id="219" name="Google Shape;219;p6"/>
            <p:cNvSpPr/>
            <p:nvPr/>
          </p:nvSpPr>
          <p:spPr>
            <a:xfrm>
              <a:off x="0" y="0"/>
              <a:ext cx="544387" cy="159377"/>
            </a:xfrm>
            <a:custGeom>
              <a:rect b="b" l="l" r="r" t="t"/>
              <a:pathLst>
                <a:path extrusionOk="0" h="159377" w="544387">
                  <a:moveTo>
                    <a:pt x="79689" y="0"/>
                  </a:moveTo>
                  <a:lnTo>
                    <a:pt x="464698" y="0"/>
                  </a:lnTo>
                  <a:cubicBezTo>
                    <a:pt x="508709" y="0"/>
                    <a:pt x="544387" y="35678"/>
                    <a:pt x="544387" y="79689"/>
                  </a:cubicBezTo>
                  <a:lnTo>
                    <a:pt x="544387" y="79689"/>
                  </a:lnTo>
                  <a:cubicBezTo>
                    <a:pt x="544387" y="100823"/>
                    <a:pt x="535991" y="121092"/>
                    <a:pt x="521047" y="136037"/>
                  </a:cubicBezTo>
                  <a:cubicBezTo>
                    <a:pt x="506102" y="150982"/>
                    <a:pt x="485833" y="159377"/>
                    <a:pt x="464698" y="159377"/>
                  </a:cubicBezTo>
                  <a:lnTo>
                    <a:pt x="79689" y="159377"/>
                  </a:lnTo>
                  <a:cubicBezTo>
                    <a:pt x="58554" y="159377"/>
                    <a:pt x="38285" y="150982"/>
                    <a:pt x="23340" y="136037"/>
                  </a:cubicBezTo>
                  <a:cubicBezTo>
                    <a:pt x="8396" y="121092"/>
                    <a:pt x="0" y="100823"/>
                    <a:pt x="0" y="79689"/>
                  </a:cubicBezTo>
                  <a:lnTo>
                    <a:pt x="0" y="79689"/>
                  </a:lnTo>
                  <a:cubicBezTo>
                    <a:pt x="0" y="58554"/>
                    <a:pt x="8396" y="38285"/>
                    <a:pt x="23340" y="23340"/>
                  </a:cubicBezTo>
                  <a:cubicBezTo>
                    <a:pt x="38285" y="8396"/>
                    <a:pt x="58554" y="0"/>
                    <a:pt x="79689" y="0"/>
                  </a:cubicBezTo>
                  <a:close/>
                </a:path>
              </a:pathLst>
            </a:custGeom>
            <a:solidFill>
              <a:srgbClr val="000000">
                <a:alpha val="0"/>
              </a:srgbClr>
            </a:solidFill>
            <a:ln cap="rnd" cmpd="sng" w="38100">
              <a:solidFill>
                <a:srgbClr val="4F8F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6"/>
            <p:cNvSpPr txBox="1"/>
            <p:nvPr/>
          </p:nvSpPr>
          <p:spPr>
            <a:xfrm>
              <a:off x="0" y="-28575"/>
              <a:ext cx="544387" cy="187952"/>
            </a:xfrm>
            <a:prstGeom prst="rect">
              <a:avLst/>
            </a:prstGeom>
            <a:noFill/>
            <a:ln>
              <a:noFill/>
            </a:ln>
          </p:spPr>
          <p:txBody>
            <a:bodyPr anchorCtr="0" anchor="ctr" bIns="50800" lIns="50800" spcFirstLastPara="1" rIns="50800" wrap="square" tIns="50800">
              <a:noAutofit/>
            </a:bodyPr>
            <a:lstStyle/>
            <a:p>
              <a:pPr indent="0" lvl="0" marL="0" marR="0" rtl="0" algn="ctr">
                <a:lnSpc>
                  <a:spcPct val="140039"/>
                </a:lnSpc>
                <a:spcBef>
                  <a:spcPts val="0"/>
                </a:spcBef>
                <a:spcAft>
                  <a:spcPts val="0"/>
                </a:spcAft>
                <a:buNone/>
              </a:pPr>
              <a:r>
                <a:rPr b="1" i="0" lang="en-US" sz="1526" u="none" cap="none" strike="noStrike">
                  <a:solidFill>
                    <a:srgbClr val="2D659F"/>
                  </a:solidFill>
                  <a:latin typeface="Noto Sans"/>
                  <a:ea typeface="Noto Sans"/>
                  <a:cs typeface="Noto Sans"/>
                  <a:sym typeface="Noto Sans"/>
                </a:rPr>
                <a:t>Protocolo de Vector Distancia</a:t>
              </a:r>
              <a:endParaRPr/>
            </a:p>
          </p:txBody>
        </p:sp>
      </p:grpSp>
      <p:grpSp>
        <p:nvGrpSpPr>
          <p:cNvPr id="221" name="Google Shape;221;p6"/>
          <p:cNvGrpSpPr/>
          <p:nvPr/>
        </p:nvGrpSpPr>
        <p:grpSpPr>
          <a:xfrm>
            <a:off x="10944279" y="4549632"/>
            <a:ext cx="2238133" cy="845752"/>
            <a:chOff x="0" y="-28575"/>
            <a:chExt cx="497383" cy="187952"/>
          </a:xfrm>
        </p:grpSpPr>
        <p:sp>
          <p:nvSpPr>
            <p:cNvPr id="222" name="Google Shape;222;p6"/>
            <p:cNvSpPr/>
            <p:nvPr/>
          </p:nvSpPr>
          <p:spPr>
            <a:xfrm>
              <a:off x="0" y="0"/>
              <a:ext cx="497383" cy="159377"/>
            </a:xfrm>
            <a:custGeom>
              <a:rect b="b" l="l" r="r" t="t"/>
              <a:pathLst>
                <a:path extrusionOk="0" h="159377" w="497383">
                  <a:moveTo>
                    <a:pt x="79689" y="0"/>
                  </a:moveTo>
                  <a:lnTo>
                    <a:pt x="417694" y="0"/>
                  </a:lnTo>
                  <a:cubicBezTo>
                    <a:pt x="438829" y="0"/>
                    <a:pt x="459098" y="8396"/>
                    <a:pt x="474042" y="23340"/>
                  </a:cubicBezTo>
                  <a:cubicBezTo>
                    <a:pt x="488987" y="38285"/>
                    <a:pt x="497383" y="58554"/>
                    <a:pt x="497383" y="79689"/>
                  </a:cubicBezTo>
                  <a:lnTo>
                    <a:pt x="497383" y="79689"/>
                  </a:lnTo>
                  <a:cubicBezTo>
                    <a:pt x="497383" y="123699"/>
                    <a:pt x="461705" y="159377"/>
                    <a:pt x="417694" y="159377"/>
                  </a:cubicBezTo>
                  <a:lnTo>
                    <a:pt x="79689" y="159377"/>
                  </a:lnTo>
                  <a:cubicBezTo>
                    <a:pt x="58554" y="159377"/>
                    <a:pt x="38285" y="150982"/>
                    <a:pt x="23340" y="136037"/>
                  </a:cubicBezTo>
                  <a:cubicBezTo>
                    <a:pt x="8396" y="121092"/>
                    <a:pt x="0" y="100823"/>
                    <a:pt x="0" y="79689"/>
                  </a:cubicBezTo>
                  <a:lnTo>
                    <a:pt x="0" y="79689"/>
                  </a:lnTo>
                  <a:cubicBezTo>
                    <a:pt x="0" y="58554"/>
                    <a:pt x="8396" y="38285"/>
                    <a:pt x="23340" y="23340"/>
                  </a:cubicBezTo>
                  <a:cubicBezTo>
                    <a:pt x="38285" y="8396"/>
                    <a:pt x="58554" y="0"/>
                    <a:pt x="79689" y="0"/>
                  </a:cubicBezTo>
                  <a:close/>
                </a:path>
              </a:pathLst>
            </a:custGeom>
            <a:solidFill>
              <a:srgbClr val="000000">
                <a:alpha val="0"/>
              </a:srgbClr>
            </a:solidFill>
            <a:ln cap="rnd" cmpd="sng" w="38100">
              <a:solidFill>
                <a:srgbClr val="4F8F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txBox="1"/>
            <p:nvPr/>
          </p:nvSpPr>
          <p:spPr>
            <a:xfrm>
              <a:off x="0" y="-28575"/>
              <a:ext cx="497383" cy="187952"/>
            </a:xfrm>
            <a:prstGeom prst="rect">
              <a:avLst/>
            </a:prstGeom>
            <a:noFill/>
            <a:ln>
              <a:noFill/>
            </a:ln>
          </p:spPr>
          <p:txBody>
            <a:bodyPr anchorCtr="0" anchor="ctr" bIns="50800" lIns="50800" spcFirstLastPara="1" rIns="50800" wrap="square" tIns="50800">
              <a:noAutofit/>
            </a:bodyPr>
            <a:lstStyle/>
            <a:p>
              <a:pPr indent="0" lvl="0" marL="0" marR="0" rtl="0" algn="ctr">
                <a:lnSpc>
                  <a:spcPct val="140039"/>
                </a:lnSpc>
                <a:spcBef>
                  <a:spcPts val="0"/>
                </a:spcBef>
                <a:spcAft>
                  <a:spcPts val="0"/>
                </a:spcAft>
                <a:buNone/>
              </a:pPr>
              <a:r>
                <a:rPr b="1" i="0" lang="en-US" sz="1526" u="none" cap="none" strike="noStrike">
                  <a:solidFill>
                    <a:srgbClr val="2D659F"/>
                  </a:solidFill>
                  <a:latin typeface="Noto Sans"/>
                  <a:ea typeface="Noto Sans"/>
                  <a:cs typeface="Noto Sans"/>
                  <a:sym typeface="Noto Sans"/>
                </a:rPr>
                <a:t>Protocolo de Link-State</a:t>
              </a:r>
              <a:endParaRPr/>
            </a:p>
          </p:txBody>
        </p:sp>
      </p:grpSp>
      <p:sp>
        <p:nvSpPr>
          <p:cNvPr id="224" name="Google Shape;224;p6"/>
          <p:cNvSpPr/>
          <p:nvPr/>
        </p:nvSpPr>
        <p:spPr>
          <a:xfrm rot="-6461193">
            <a:off x="13375647" y="2793761"/>
            <a:ext cx="244456" cy="689491"/>
          </a:xfrm>
          <a:custGeom>
            <a:rect b="b" l="l" r="r" t="t"/>
            <a:pathLst>
              <a:path extrusionOk="0" h="689491" w="244456">
                <a:moveTo>
                  <a:pt x="0" y="0"/>
                </a:moveTo>
                <a:lnTo>
                  <a:pt x="244456" y="0"/>
                </a:lnTo>
                <a:lnTo>
                  <a:pt x="244456" y="689491"/>
                </a:lnTo>
                <a:lnTo>
                  <a:pt x="0" y="689491"/>
                </a:lnTo>
                <a:lnTo>
                  <a:pt x="0" y="0"/>
                </a:lnTo>
                <a:close/>
              </a:path>
            </a:pathLst>
          </a:custGeom>
          <a:blipFill rotWithShape="1">
            <a:blip r:embed="rId6">
              <a:alphaModFix/>
            </a:blip>
            <a:stretch>
              <a:fillRect b="0" l="0" r="0" t="0"/>
            </a:stretch>
          </a:blipFill>
          <a:ln>
            <a:noFill/>
          </a:ln>
        </p:spPr>
      </p:sp>
      <p:sp>
        <p:nvSpPr>
          <p:cNvPr id="225" name="Google Shape;225;p6"/>
          <p:cNvSpPr/>
          <p:nvPr/>
        </p:nvSpPr>
        <p:spPr>
          <a:xfrm>
            <a:off x="13875239" y="2213082"/>
            <a:ext cx="607341" cy="1653652"/>
          </a:xfrm>
          <a:custGeom>
            <a:rect b="b" l="l" r="r" t="t"/>
            <a:pathLst>
              <a:path extrusionOk="0" h="1653652" w="607341">
                <a:moveTo>
                  <a:pt x="0" y="0"/>
                </a:moveTo>
                <a:lnTo>
                  <a:pt x="607342" y="0"/>
                </a:lnTo>
                <a:lnTo>
                  <a:pt x="607342" y="1653652"/>
                </a:lnTo>
                <a:lnTo>
                  <a:pt x="0" y="1653652"/>
                </a:lnTo>
                <a:lnTo>
                  <a:pt x="0" y="0"/>
                </a:lnTo>
                <a:close/>
              </a:path>
            </a:pathLst>
          </a:custGeom>
          <a:blipFill rotWithShape="1">
            <a:blip r:embed="rId7">
              <a:alphaModFix/>
            </a:blip>
            <a:stretch>
              <a:fillRect b="0" l="0" r="0" t="0"/>
            </a:stretch>
          </a:blipFill>
          <a:ln>
            <a:noFill/>
          </a:ln>
        </p:spPr>
      </p:sp>
      <p:sp>
        <p:nvSpPr>
          <p:cNvPr id="226" name="Google Shape;226;p6"/>
          <p:cNvSpPr/>
          <p:nvPr/>
        </p:nvSpPr>
        <p:spPr>
          <a:xfrm rot="-4571571">
            <a:off x="13424138" y="4818798"/>
            <a:ext cx="244456" cy="689491"/>
          </a:xfrm>
          <a:custGeom>
            <a:rect b="b" l="l" r="r" t="t"/>
            <a:pathLst>
              <a:path extrusionOk="0" h="689491" w="244456">
                <a:moveTo>
                  <a:pt x="0" y="0"/>
                </a:moveTo>
                <a:lnTo>
                  <a:pt x="244456" y="0"/>
                </a:lnTo>
                <a:lnTo>
                  <a:pt x="244456" y="689491"/>
                </a:lnTo>
                <a:lnTo>
                  <a:pt x="0" y="689491"/>
                </a:lnTo>
                <a:lnTo>
                  <a:pt x="0" y="0"/>
                </a:lnTo>
                <a:close/>
              </a:path>
            </a:pathLst>
          </a:custGeom>
          <a:blipFill rotWithShape="1">
            <a:blip r:embed="rId6">
              <a:alphaModFix/>
            </a:blip>
            <a:stretch>
              <a:fillRect b="0" l="0" r="0" t="0"/>
            </a:stretch>
          </a:blipFill>
          <a:ln>
            <a:noFill/>
          </a:ln>
        </p:spPr>
      </p:sp>
      <p:sp>
        <p:nvSpPr>
          <p:cNvPr id="227" name="Google Shape;227;p6"/>
          <p:cNvSpPr/>
          <p:nvPr/>
        </p:nvSpPr>
        <p:spPr>
          <a:xfrm>
            <a:off x="13983900" y="4477892"/>
            <a:ext cx="607341" cy="1653652"/>
          </a:xfrm>
          <a:custGeom>
            <a:rect b="b" l="l" r="r" t="t"/>
            <a:pathLst>
              <a:path extrusionOk="0" h="1653652" w="607341">
                <a:moveTo>
                  <a:pt x="0" y="0"/>
                </a:moveTo>
                <a:lnTo>
                  <a:pt x="607341" y="0"/>
                </a:lnTo>
                <a:lnTo>
                  <a:pt x="607341" y="1653652"/>
                </a:lnTo>
                <a:lnTo>
                  <a:pt x="0" y="1653652"/>
                </a:lnTo>
                <a:lnTo>
                  <a:pt x="0" y="0"/>
                </a:lnTo>
                <a:close/>
              </a:path>
            </a:pathLst>
          </a:custGeom>
          <a:blipFill rotWithShape="1">
            <a:blip r:embed="rId7">
              <a:alphaModFix/>
            </a:blip>
            <a:stretch>
              <a:fillRect b="0" l="0" r="0" t="0"/>
            </a:stretch>
          </a:blipFill>
          <a:ln>
            <a:noFill/>
          </a:ln>
        </p:spPr>
      </p:sp>
      <p:sp>
        <p:nvSpPr>
          <p:cNvPr id="228" name="Google Shape;228;p6"/>
          <p:cNvSpPr txBox="1"/>
          <p:nvPr/>
        </p:nvSpPr>
        <p:spPr>
          <a:xfrm>
            <a:off x="14299350" y="4685096"/>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OSPF</a:t>
            </a:r>
            <a:endParaRPr/>
          </a:p>
        </p:txBody>
      </p:sp>
      <p:sp>
        <p:nvSpPr>
          <p:cNvPr id="229" name="Google Shape;229;p6"/>
          <p:cNvSpPr txBox="1"/>
          <p:nvPr/>
        </p:nvSpPr>
        <p:spPr>
          <a:xfrm>
            <a:off x="14178910" y="2390652"/>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RIPv1</a:t>
            </a:r>
            <a:endParaRPr/>
          </a:p>
        </p:txBody>
      </p:sp>
      <p:sp>
        <p:nvSpPr>
          <p:cNvPr id="230" name="Google Shape;230;p6"/>
          <p:cNvSpPr txBox="1"/>
          <p:nvPr/>
        </p:nvSpPr>
        <p:spPr>
          <a:xfrm>
            <a:off x="14299350" y="5452059"/>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IS-IS</a:t>
            </a:r>
            <a:endParaRPr/>
          </a:p>
        </p:txBody>
      </p:sp>
      <p:sp>
        <p:nvSpPr>
          <p:cNvPr id="231" name="Google Shape;231;p6"/>
          <p:cNvSpPr txBox="1"/>
          <p:nvPr/>
        </p:nvSpPr>
        <p:spPr>
          <a:xfrm>
            <a:off x="10897421" y="7911526"/>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BGP</a:t>
            </a:r>
            <a:endParaRPr/>
          </a:p>
        </p:txBody>
      </p:sp>
      <p:sp>
        <p:nvSpPr>
          <p:cNvPr id="232" name="Google Shape;232;p6"/>
          <p:cNvSpPr txBox="1"/>
          <p:nvPr/>
        </p:nvSpPr>
        <p:spPr>
          <a:xfrm>
            <a:off x="14121489" y="3224500"/>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IGRP</a:t>
            </a:r>
            <a:endParaRPr/>
          </a:p>
        </p:txBody>
      </p:sp>
      <p:sp>
        <p:nvSpPr>
          <p:cNvPr id="233" name="Google Shape;233;p6"/>
          <p:cNvSpPr txBox="1"/>
          <p:nvPr/>
        </p:nvSpPr>
        <p:spPr>
          <a:xfrm>
            <a:off x="16094023" y="3224500"/>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EIGRP</a:t>
            </a:r>
            <a:endParaRPr/>
          </a:p>
        </p:txBody>
      </p:sp>
      <p:sp>
        <p:nvSpPr>
          <p:cNvPr id="234" name="Google Shape;234;p6"/>
          <p:cNvSpPr txBox="1"/>
          <p:nvPr/>
        </p:nvSpPr>
        <p:spPr>
          <a:xfrm>
            <a:off x="15979663" y="2390652"/>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RIPv2</a:t>
            </a:r>
            <a:endParaRPr/>
          </a:p>
        </p:txBody>
      </p:sp>
      <p:sp>
        <p:nvSpPr>
          <p:cNvPr id="235" name="Google Shape;235;p6"/>
          <p:cNvSpPr/>
          <p:nvPr/>
        </p:nvSpPr>
        <p:spPr>
          <a:xfrm rot="5400000">
            <a:off x="5470721" y="4818546"/>
            <a:ext cx="2110499" cy="1185717"/>
          </a:xfrm>
          <a:custGeom>
            <a:rect b="b" l="l" r="r" t="t"/>
            <a:pathLst>
              <a:path extrusionOk="0" h="1185717" w="2110499">
                <a:moveTo>
                  <a:pt x="0" y="0"/>
                </a:moveTo>
                <a:lnTo>
                  <a:pt x="2110499" y="0"/>
                </a:lnTo>
                <a:lnTo>
                  <a:pt x="2110499" y="1185717"/>
                </a:lnTo>
                <a:lnTo>
                  <a:pt x="0" y="1185717"/>
                </a:lnTo>
                <a:lnTo>
                  <a:pt x="0" y="0"/>
                </a:lnTo>
                <a:close/>
              </a:path>
            </a:pathLst>
          </a:custGeom>
          <a:blipFill rotWithShape="1">
            <a:blip r:embed="rId8">
              <a:alphaModFix/>
            </a:blip>
            <a:stretch>
              <a:fillRect b="0" l="0" r="0" t="0"/>
            </a:stretch>
          </a:blipFill>
          <a:ln>
            <a:noFill/>
          </a:ln>
        </p:spPr>
      </p:sp>
      <p:sp>
        <p:nvSpPr>
          <p:cNvPr id="236" name="Google Shape;236;p6"/>
          <p:cNvSpPr/>
          <p:nvPr/>
        </p:nvSpPr>
        <p:spPr>
          <a:xfrm rot="-7643654">
            <a:off x="10300585" y="3462528"/>
            <a:ext cx="310196" cy="874911"/>
          </a:xfrm>
          <a:custGeom>
            <a:rect b="b" l="l" r="r" t="t"/>
            <a:pathLst>
              <a:path extrusionOk="0" h="874911" w="310196">
                <a:moveTo>
                  <a:pt x="0" y="0"/>
                </a:moveTo>
                <a:lnTo>
                  <a:pt x="310196" y="0"/>
                </a:lnTo>
                <a:lnTo>
                  <a:pt x="310196" y="874910"/>
                </a:lnTo>
                <a:lnTo>
                  <a:pt x="0" y="874910"/>
                </a:lnTo>
                <a:lnTo>
                  <a:pt x="0" y="0"/>
                </a:lnTo>
                <a:close/>
              </a:path>
            </a:pathLst>
          </a:custGeom>
          <a:blipFill rotWithShape="1">
            <a:blip r:embed="rId6">
              <a:alphaModFix/>
            </a:blip>
            <a:stretch>
              <a:fillRect b="0" l="0" r="0" t="0"/>
            </a:stretch>
          </a:blipFill>
          <a:ln>
            <a:noFill/>
          </a:ln>
        </p:spPr>
      </p:sp>
      <p:sp>
        <p:nvSpPr>
          <p:cNvPr id="237" name="Google Shape;237;p6"/>
          <p:cNvSpPr/>
          <p:nvPr/>
        </p:nvSpPr>
        <p:spPr>
          <a:xfrm rot="-4446355">
            <a:off x="10336274" y="4301630"/>
            <a:ext cx="324512" cy="915292"/>
          </a:xfrm>
          <a:custGeom>
            <a:rect b="b" l="l" r="r" t="t"/>
            <a:pathLst>
              <a:path extrusionOk="0" h="915292" w="324512">
                <a:moveTo>
                  <a:pt x="0" y="0"/>
                </a:moveTo>
                <a:lnTo>
                  <a:pt x="324513" y="0"/>
                </a:lnTo>
                <a:lnTo>
                  <a:pt x="324513" y="915292"/>
                </a:lnTo>
                <a:lnTo>
                  <a:pt x="0" y="915292"/>
                </a:lnTo>
                <a:lnTo>
                  <a:pt x="0" y="0"/>
                </a:lnTo>
                <a:close/>
              </a:path>
            </a:pathLst>
          </a:custGeom>
          <a:blipFill rotWithShape="1">
            <a:blip r:embed="rId6">
              <a:alphaModFix/>
            </a:blip>
            <a:stretch>
              <a:fillRect b="0" l="0" r="0" t="0"/>
            </a:stretch>
          </a:blipFill>
          <a:ln>
            <a:noFill/>
          </a:ln>
        </p:spPr>
      </p:sp>
      <p:sp>
        <p:nvSpPr>
          <p:cNvPr id="238" name="Google Shape;238;p6"/>
          <p:cNvSpPr/>
          <p:nvPr/>
        </p:nvSpPr>
        <p:spPr>
          <a:xfrm flipH="1" rot="10800000">
            <a:off x="8947367" y="6998459"/>
            <a:ext cx="1766768" cy="1397457"/>
          </a:xfrm>
          <a:custGeom>
            <a:rect b="b" l="l" r="r" t="t"/>
            <a:pathLst>
              <a:path extrusionOk="0" h="1397457" w="1766768">
                <a:moveTo>
                  <a:pt x="1766768" y="0"/>
                </a:moveTo>
                <a:lnTo>
                  <a:pt x="0" y="0"/>
                </a:lnTo>
                <a:lnTo>
                  <a:pt x="0" y="1397457"/>
                </a:lnTo>
                <a:lnTo>
                  <a:pt x="1766768" y="1397457"/>
                </a:lnTo>
                <a:lnTo>
                  <a:pt x="1766768" y="0"/>
                </a:lnTo>
                <a:close/>
              </a:path>
            </a:pathLst>
          </a:custGeom>
          <a:blipFill rotWithShape="1">
            <a:blip r:embed="rId9">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242" name="Shape 242"/>
        <p:cNvGrpSpPr/>
        <p:nvPr/>
      </p:nvGrpSpPr>
      <p:grpSpPr>
        <a:xfrm>
          <a:off x="0" y="0"/>
          <a:ext cx="0" cy="0"/>
          <a:chOff x="0" y="0"/>
          <a:chExt cx="0" cy="0"/>
        </a:xfrm>
      </p:grpSpPr>
      <p:sp>
        <p:nvSpPr>
          <p:cNvPr id="243" name="Google Shape;243;p7"/>
          <p:cNvSpPr/>
          <p:nvPr/>
        </p:nvSpPr>
        <p:spPr>
          <a:xfrm>
            <a:off x="9831790" y="-3825628"/>
            <a:ext cx="16449947" cy="16449947"/>
          </a:xfrm>
          <a:custGeom>
            <a:rect b="b" l="l" r="r" t="t"/>
            <a:pathLst>
              <a:path extrusionOk="0" h="16449947" w="16449947">
                <a:moveTo>
                  <a:pt x="0" y="0"/>
                </a:moveTo>
                <a:lnTo>
                  <a:pt x="16449947" y="0"/>
                </a:lnTo>
                <a:lnTo>
                  <a:pt x="16449947" y="16449947"/>
                </a:lnTo>
                <a:lnTo>
                  <a:pt x="0" y="16449947"/>
                </a:lnTo>
                <a:lnTo>
                  <a:pt x="0" y="0"/>
                </a:lnTo>
                <a:close/>
              </a:path>
            </a:pathLst>
          </a:custGeom>
          <a:blipFill rotWithShape="1">
            <a:blip r:embed="rId3">
              <a:alphaModFix/>
            </a:blip>
            <a:stretch>
              <a:fillRect b="0" l="0" r="0" t="0"/>
            </a:stretch>
          </a:blipFill>
          <a:ln>
            <a:noFill/>
          </a:ln>
        </p:spPr>
      </p:sp>
      <p:grpSp>
        <p:nvGrpSpPr>
          <p:cNvPr id="244" name="Google Shape;244;p7"/>
          <p:cNvGrpSpPr/>
          <p:nvPr/>
        </p:nvGrpSpPr>
        <p:grpSpPr>
          <a:xfrm>
            <a:off x="6240399" y="1692566"/>
            <a:ext cx="9279105" cy="6972893"/>
            <a:chOff x="0" y="0"/>
            <a:chExt cx="3205392" cy="2408729"/>
          </a:xfrm>
        </p:grpSpPr>
        <p:sp>
          <p:nvSpPr>
            <p:cNvPr id="245" name="Google Shape;245;p7"/>
            <p:cNvSpPr/>
            <p:nvPr/>
          </p:nvSpPr>
          <p:spPr>
            <a:xfrm>
              <a:off x="80010" y="80010"/>
              <a:ext cx="3112682" cy="2316019"/>
            </a:xfrm>
            <a:custGeom>
              <a:rect b="b" l="l" r="r" t="t"/>
              <a:pathLst>
                <a:path extrusionOk="0" h="2316019" w="3112682">
                  <a:moveTo>
                    <a:pt x="0" y="2261409"/>
                  </a:moveTo>
                  <a:lnTo>
                    <a:pt x="0" y="2316019"/>
                  </a:lnTo>
                  <a:lnTo>
                    <a:pt x="3112682" y="2316019"/>
                  </a:lnTo>
                  <a:lnTo>
                    <a:pt x="3112682" y="0"/>
                  </a:lnTo>
                  <a:lnTo>
                    <a:pt x="3058072" y="0"/>
                  </a:lnTo>
                  <a:lnTo>
                    <a:pt x="3058072" y="2261409"/>
                  </a:lnTo>
                  <a:close/>
                </a:path>
              </a:pathLst>
            </a:custGeom>
            <a:solidFill>
              <a:srgbClr val="4F8FD1"/>
            </a:solidFill>
            <a:ln>
              <a:noFill/>
            </a:ln>
          </p:spPr>
        </p:sp>
        <p:sp>
          <p:nvSpPr>
            <p:cNvPr id="246" name="Google Shape;246;p7"/>
            <p:cNvSpPr/>
            <p:nvPr/>
          </p:nvSpPr>
          <p:spPr>
            <a:xfrm>
              <a:off x="67310" y="67310"/>
              <a:ext cx="3138082" cy="2341419"/>
            </a:xfrm>
            <a:custGeom>
              <a:rect b="b" l="l" r="r" t="t"/>
              <a:pathLst>
                <a:path extrusionOk="0" h="2341419" w="3138082">
                  <a:moveTo>
                    <a:pt x="3070772" y="0"/>
                  </a:moveTo>
                  <a:lnTo>
                    <a:pt x="3070772" y="12700"/>
                  </a:lnTo>
                  <a:lnTo>
                    <a:pt x="3125382" y="12700"/>
                  </a:lnTo>
                  <a:lnTo>
                    <a:pt x="3125382" y="2328719"/>
                  </a:lnTo>
                  <a:lnTo>
                    <a:pt x="12700" y="2328719"/>
                  </a:lnTo>
                  <a:lnTo>
                    <a:pt x="12700" y="2274109"/>
                  </a:lnTo>
                  <a:lnTo>
                    <a:pt x="0" y="2274109"/>
                  </a:lnTo>
                  <a:lnTo>
                    <a:pt x="0" y="2341419"/>
                  </a:lnTo>
                  <a:lnTo>
                    <a:pt x="3138082" y="2341419"/>
                  </a:lnTo>
                  <a:lnTo>
                    <a:pt x="3138082" y="0"/>
                  </a:lnTo>
                  <a:close/>
                </a:path>
              </a:pathLst>
            </a:custGeom>
            <a:solidFill>
              <a:srgbClr val="4F8FD1"/>
            </a:solidFill>
            <a:ln>
              <a:noFill/>
            </a:ln>
          </p:spPr>
        </p:sp>
        <p:sp>
          <p:nvSpPr>
            <p:cNvPr id="247" name="Google Shape;247;p7"/>
            <p:cNvSpPr/>
            <p:nvPr/>
          </p:nvSpPr>
          <p:spPr>
            <a:xfrm>
              <a:off x="12700" y="12700"/>
              <a:ext cx="3112682" cy="2316019"/>
            </a:xfrm>
            <a:custGeom>
              <a:rect b="b" l="l" r="r" t="t"/>
              <a:pathLst>
                <a:path extrusionOk="0" h="2316019" w="3112682">
                  <a:moveTo>
                    <a:pt x="0" y="0"/>
                  </a:moveTo>
                  <a:lnTo>
                    <a:pt x="3112682" y="0"/>
                  </a:lnTo>
                  <a:lnTo>
                    <a:pt x="3112682" y="2316019"/>
                  </a:lnTo>
                  <a:lnTo>
                    <a:pt x="0" y="2316019"/>
                  </a:lnTo>
                  <a:close/>
                </a:path>
              </a:pathLst>
            </a:custGeom>
            <a:solidFill>
              <a:srgbClr val="FFFFFF"/>
            </a:solidFill>
            <a:ln>
              <a:noFill/>
            </a:ln>
          </p:spPr>
        </p:sp>
        <p:sp>
          <p:nvSpPr>
            <p:cNvPr id="248" name="Google Shape;248;p7"/>
            <p:cNvSpPr/>
            <p:nvPr/>
          </p:nvSpPr>
          <p:spPr>
            <a:xfrm>
              <a:off x="0" y="0"/>
              <a:ext cx="3138082" cy="2341419"/>
            </a:xfrm>
            <a:custGeom>
              <a:rect b="b" l="l" r="r" t="t"/>
              <a:pathLst>
                <a:path extrusionOk="0" h="2341419" w="3138082">
                  <a:moveTo>
                    <a:pt x="80010" y="2341419"/>
                  </a:moveTo>
                  <a:lnTo>
                    <a:pt x="3138082" y="2341419"/>
                  </a:lnTo>
                  <a:lnTo>
                    <a:pt x="3138082" y="80010"/>
                  </a:lnTo>
                  <a:lnTo>
                    <a:pt x="3138082" y="67310"/>
                  </a:lnTo>
                  <a:lnTo>
                    <a:pt x="3138082" y="0"/>
                  </a:lnTo>
                  <a:lnTo>
                    <a:pt x="0" y="0"/>
                  </a:lnTo>
                  <a:lnTo>
                    <a:pt x="0" y="2341419"/>
                  </a:lnTo>
                  <a:lnTo>
                    <a:pt x="67310" y="2341419"/>
                  </a:lnTo>
                  <a:lnTo>
                    <a:pt x="80010" y="2341419"/>
                  </a:lnTo>
                  <a:close/>
                  <a:moveTo>
                    <a:pt x="12700" y="12700"/>
                  </a:moveTo>
                  <a:lnTo>
                    <a:pt x="3125382" y="12700"/>
                  </a:lnTo>
                  <a:lnTo>
                    <a:pt x="3125382" y="2328719"/>
                  </a:lnTo>
                  <a:lnTo>
                    <a:pt x="12700" y="2328719"/>
                  </a:lnTo>
                  <a:lnTo>
                    <a:pt x="12700" y="12700"/>
                  </a:lnTo>
                  <a:close/>
                </a:path>
              </a:pathLst>
            </a:custGeom>
            <a:solidFill>
              <a:srgbClr val="4F8FD1"/>
            </a:solidFill>
            <a:ln>
              <a:noFill/>
            </a:ln>
          </p:spPr>
        </p:sp>
      </p:grpSp>
      <p:sp>
        <p:nvSpPr>
          <p:cNvPr id="249" name="Google Shape;249;p7"/>
          <p:cNvSpPr/>
          <p:nvPr/>
        </p:nvSpPr>
        <p:spPr>
          <a:xfrm>
            <a:off x="6976168" y="2481864"/>
            <a:ext cx="1663256" cy="1650782"/>
          </a:xfrm>
          <a:custGeom>
            <a:rect b="b" l="l" r="r" t="t"/>
            <a:pathLst>
              <a:path extrusionOk="0" h="1650782" w="1663256">
                <a:moveTo>
                  <a:pt x="0" y="0"/>
                </a:moveTo>
                <a:lnTo>
                  <a:pt x="1663256" y="0"/>
                </a:lnTo>
                <a:lnTo>
                  <a:pt x="1663256" y="1650781"/>
                </a:lnTo>
                <a:lnTo>
                  <a:pt x="0" y="1650781"/>
                </a:lnTo>
                <a:lnTo>
                  <a:pt x="0" y="0"/>
                </a:lnTo>
                <a:close/>
              </a:path>
            </a:pathLst>
          </a:custGeom>
          <a:blipFill rotWithShape="1">
            <a:blip r:embed="rId4">
              <a:alphaModFix/>
            </a:blip>
            <a:stretch>
              <a:fillRect b="0" l="0" r="0" t="0"/>
            </a:stretch>
          </a:blipFill>
          <a:ln>
            <a:noFill/>
          </a:ln>
        </p:spPr>
      </p:sp>
      <p:sp>
        <p:nvSpPr>
          <p:cNvPr id="250" name="Google Shape;250;p7"/>
          <p:cNvSpPr/>
          <p:nvPr/>
        </p:nvSpPr>
        <p:spPr>
          <a:xfrm>
            <a:off x="6977909" y="4399345"/>
            <a:ext cx="1663256" cy="1650782"/>
          </a:xfrm>
          <a:custGeom>
            <a:rect b="b" l="l" r="r" t="t"/>
            <a:pathLst>
              <a:path extrusionOk="0" h="1650782" w="1663256">
                <a:moveTo>
                  <a:pt x="0" y="0"/>
                </a:moveTo>
                <a:lnTo>
                  <a:pt x="1663256" y="0"/>
                </a:lnTo>
                <a:lnTo>
                  <a:pt x="1663256" y="1650782"/>
                </a:lnTo>
                <a:lnTo>
                  <a:pt x="0" y="1650782"/>
                </a:lnTo>
                <a:lnTo>
                  <a:pt x="0" y="0"/>
                </a:lnTo>
                <a:close/>
              </a:path>
            </a:pathLst>
          </a:custGeom>
          <a:blipFill rotWithShape="1">
            <a:blip r:embed="rId4">
              <a:alphaModFix/>
            </a:blip>
            <a:stretch>
              <a:fillRect b="0" l="0" r="0" t="0"/>
            </a:stretch>
          </a:blipFill>
          <a:ln>
            <a:noFill/>
          </a:ln>
        </p:spPr>
      </p:sp>
      <p:sp>
        <p:nvSpPr>
          <p:cNvPr id="251" name="Google Shape;251;p7"/>
          <p:cNvSpPr/>
          <p:nvPr/>
        </p:nvSpPr>
        <p:spPr>
          <a:xfrm>
            <a:off x="6977909" y="6260559"/>
            <a:ext cx="1663256" cy="1650782"/>
          </a:xfrm>
          <a:custGeom>
            <a:rect b="b" l="l" r="r" t="t"/>
            <a:pathLst>
              <a:path extrusionOk="0" h="1650782" w="1663256">
                <a:moveTo>
                  <a:pt x="0" y="0"/>
                </a:moveTo>
                <a:lnTo>
                  <a:pt x="1663256" y="0"/>
                </a:lnTo>
                <a:lnTo>
                  <a:pt x="1663256" y="1650781"/>
                </a:lnTo>
                <a:lnTo>
                  <a:pt x="0" y="1650781"/>
                </a:lnTo>
                <a:lnTo>
                  <a:pt x="0" y="0"/>
                </a:lnTo>
                <a:close/>
              </a:path>
            </a:pathLst>
          </a:custGeom>
          <a:blipFill rotWithShape="1">
            <a:blip r:embed="rId4">
              <a:alphaModFix/>
            </a:blip>
            <a:stretch>
              <a:fillRect b="0" l="0" r="0" t="0"/>
            </a:stretch>
          </a:blipFill>
          <a:ln>
            <a:noFill/>
          </a:ln>
        </p:spPr>
      </p:sp>
      <p:grpSp>
        <p:nvGrpSpPr>
          <p:cNvPr id="252" name="Google Shape;252;p7"/>
          <p:cNvGrpSpPr/>
          <p:nvPr/>
        </p:nvGrpSpPr>
        <p:grpSpPr>
          <a:xfrm>
            <a:off x="15976704" y="8252905"/>
            <a:ext cx="1698963" cy="1698963"/>
            <a:chOff x="0" y="0"/>
            <a:chExt cx="812800" cy="812800"/>
          </a:xfrm>
        </p:grpSpPr>
        <p:sp>
          <p:nvSpPr>
            <p:cNvPr id="253" name="Google Shape;253;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5" name="Google Shape;255;p7"/>
          <p:cNvSpPr/>
          <p:nvPr/>
        </p:nvSpPr>
        <p:spPr>
          <a:xfrm>
            <a:off x="16427156" y="8622034"/>
            <a:ext cx="992977" cy="960706"/>
          </a:xfrm>
          <a:custGeom>
            <a:rect b="b" l="l" r="r" t="t"/>
            <a:pathLst>
              <a:path extrusionOk="0" h="960706" w="992977">
                <a:moveTo>
                  <a:pt x="0" y="0"/>
                </a:moveTo>
                <a:lnTo>
                  <a:pt x="992978" y="0"/>
                </a:lnTo>
                <a:lnTo>
                  <a:pt x="992978" y="960705"/>
                </a:lnTo>
                <a:lnTo>
                  <a:pt x="0" y="960705"/>
                </a:lnTo>
                <a:lnTo>
                  <a:pt x="0" y="0"/>
                </a:lnTo>
                <a:close/>
              </a:path>
            </a:pathLst>
          </a:custGeom>
          <a:blipFill rotWithShape="1">
            <a:blip r:embed="rId5">
              <a:alphaModFix/>
            </a:blip>
            <a:stretch>
              <a:fillRect b="0" l="0" r="0" t="0"/>
            </a:stretch>
          </a:blipFill>
          <a:ln>
            <a:noFill/>
          </a:ln>
        </p:spPr>
      </p:sp>
      <p:sp>
        <p:nvSpPr>
          <p:cNvPr id="256" name="Google Shape;256;p7"/>
          <p:cNvSpPr/>
          <p:nvPr/>
        </p:nvSpPr>
        <p:spPr>
          <a:xfrm>
            <a:off x="7367501" y="2856522"/>
            <a:ext cx="884073" cy="884073"/>
          </a:xfrm>
          <a:custGeom>
            <a:rect b="b" l="l" r="r" t="t"/>
            <a:pathLst>
              <a:path extrusionOk="0" h="884073" w="884073">
                <a:moveTo>
                  <a:pt x="0" y="0"/>
                </a:moveTo>
                <a:lnTo>
                  <a:pt x="884072" y="0"/>
                </a:lnTo>
                <a:lnTo>
                  <a:pt x="884072" y="884073"/>
                </a:lnTo>
                <a:lnTo>
                  <a:pt x="0" y="884073"/>
                </a:lnTo>
                <a:lnTo>
                  <a:pt x="0" y="0"/>
                </a:lnTo>
                <a:close/>
              </a:path>
            </a:pathLst>
          </a:custGeom>
          <a:blipFill rotWithShape="1">
            <a:blip r:embed="rId6">
              <a:alphaModFix/>
            </a:blip>
            <a:stretch>
              <a:fillRect b="0" l="0" r="0" t="0"/>
            </a:stretch>
          </a:blipFill>
          <a:ln>
            <a:noFill/>
          </a:ln>
        </p:spPr>
      </p:sp>
      <p:sp>
        <p:nvSpPr>
          <p:cNvPr id="257" name="Google Shape;257;p7"/>
          <p:cNvSpPr/>
          <p:nvPr/>
        </p:nvSpPr>
        <p:spPr>
          <a:xfrm>
            <a:off x="7367501" y="6596664"/>
            <a:ext cx="940341" cy="940341"/>
          </a:xfrm>
          <a:custGeom>
            <a:rect b="b" l="l" r="r" t="t"/>
            <a:pathLst>
              <a:path extrusionOk="0" h="940341" w="940341">
                <a:moveTo>
                  <a:pt x="0" y="0"/>
                </a:moveTo>
                <a:lnTo>
                  <a:pt x="940341" y="0"/>
                </a:lnTo>
                <a:lnTo>
                  <a:pt x="940341" y="940341"/>
                </a:lnTo>
                <a:lnTo>
                  <a:pt x="0" y="940341"/>
                </a:lnTo>
                <a:lnTo>
                  <a:pt x="0" y="0"/>
                </a:lnTo>
                <a:close/>
              </a:path>
            </a:pathLst>
          </a:custGeom>
          <a:blipFill rotWithShape="1">
            <a:blip r:embed="rId7">
              <a:alphaModFix/>
            </a:blip>
            <a:stretch>
              <a:fillRect b="0" l="0" r="0" t="0"/>
            </a:stretch>
          </a:blipFill>
          <a:ln>
            <a:noFill/>
          </a:ln>
        </p:spPr>
      </p:sp>
      <p:sp>
        <p:nvSpPr>
          <p:cNvPr id="258" name="Google Shape;258;p7"/>
          <p:cNvSpPr/>
          <p:nvPr/>
        </p:nvSpPr>
        <p:spPr>
          <a:xfrm>
            <a:off x="7225309" y="4642250"/>
            <a:ext cx="1164973" cy="1164973"/>
          </a:xfrm>
          <a:custGeom>
            <a:rect b="b" l="l" r="r" t="t"/>
            <a:pathLst>
              <a:path extrusionOk="0" h="1164973" w="1164973">
                <a:moveTo>
                  <a:pt x="0" y="0"/>
                </a:moveTo>
                <a:lnTo>
                  <a:pt x="1164974" y="0"/>
                </a:lnTo>
                <a:lnTo>
                  <a:pt x="1164974" y="1164973"/>
                </a:lnTo>
                <a:lnTo>
                  <a:pt x="0" y="1164973"/>
                </a:lnTo>
                <a:lnTo>
                  <a:pt x="0" y="0"/>
                </a:lnTo>
                <a:close/>
              </a:path>
            </a:pathLst>
          </a:custGeom>
          <a:blipFill rotWithShape="1">
            <a:blip r:embed="rId8">
              <a:alphaModFix/>
            </a:blip>
            <a:stretch>
              <a:fillRect b="0" l="0" r="0" t="0"/>
            </a:stretch>
          </a:blipFill>
          <a:ln>
            <a:noFill/>
          </a:ln>
        </p:spPr>
      </p:sp>
      <p:sp>
        <p:nvSpPr>
          <p:cNvPr id="259" name="Google Shape;259;p7"/>
          <p:cNvSpPr/>
          <p:nvPr/>
        </p:nvSpPr>
        <p:spPr>
          <a:xfrm>
            <a:off x="-7135" y="5143500"/>
            <a:ext cx="7232444" cy="5243522"/>
          </a:xfrm>
          <a:custGeom>
            <a:rect b="b" l="l" r="r" t="t"/>
            <a:pathLst>
              <a:path extrusionOk="0" h="5243522" w="7232444">
                <a:moveTo>
                  <a:pt x="0" y="0"/>
                </a:moveTo>
                <a:lnTo>
                  <a:pt x="7232444" y="0"/>
                </a:lnTo>
                <a:lnTo>
                  <a:pt x="7232444" y="5243522"/>
                </a:lnTo>
                <a:lnTo>
                  <a:pt x="0" y="5243522"/>
                </a:lnTo>
                <a:lnTo>
                  <a:pt x="0" y="0"/>
                </a:lnTo>
                <a:close/>
              </a:path>
            </a:pathLst>
          </a:custGeom>
          <a:blipFill rotWithShape="1">
            <a:blip r:embed="rId9">
              <a:alphaModFix/>
            </a:blip>
            <a:stretch>
              <a:fillRect b="0" l="0" r="0" t="0"/>
            </a:stretch>
          </a:blipFill>
          <a:ln>
            <a:noFill/>
          </a:ln>
        </p:spPr>
      </p:sp>
      <p:sp>
        <p:nvSpPr>
          <p:cNvPr id="260" name="Google Shape;260;p7"/>
          <p:cNvSpPr txBox="1"/>
          <p:nvPr/>
        </p:nvSpPr>
        <p:spPr>
          <a:xfrm>
            <a:off x="8784040" y="3316154"/>
            <a:ext cx="5745970" cy="4220851"/>
          </a:xfrm>
          <a:prstGeom prst="rect">
            <a:avLst/>
          </a:prstGeom>
          <a:noFill/>
          <a:ln>
            <a:noFill/>
          </a:ln>
        </p:spPr>
        <p:txBody>
          <a:bodyPr anchorCtr="0" anchor="t" bIns="0" lIns="0" spcFirstLastPara="1" rIns="0" wrap="square" tIns="0">
            <a:spAutoFit/>
          </a:bodyPr>
          <a:lstStyle/>
          <a:p>
            <a:pPr indent="0" lvl="1" marL="0" marR="0" rtl="0" algn="l">
              <a:lnSpc>
                <a:spcPct val="140044"/>
              </a:lnSpc>
              <a:spcBef>
                <a:spcPts val="0"/>
              </a:spcBef>
              <a:spcAft>
                <a:spcPts val="0"/>
              </a:spcAft>
              <a:buNone/>
            </a:pPr>
            <a:r>
              <a:rPr b="1" i="0" lang="en-US" sz="2682" u="none" cap="none" strike="noStrike">
                <a:solidFill>
                  <a:srgbClr val="2D659F"/>
                </a:solidFill>
                <a:latin typeface="Noto Sans"/>
                <a:ea typeface="Noto Sans"/>
                <a:cs typeface="Noto Sans"/>
                <a:sym typeface="Noto Sans"/>
              </a:rPr>
              <a:t>Protocolo de Gateway Exterior (IGP):</a:t>
            </a:r>
            <a:r>
              <a:rPr b="0" i="0" lang="en-US" sz="2682" u="none" cap="none" strike="noStrike">
                <a:solidFill>
                  <a:srgbClr val="2D659F"/>
                </a:solidFill>
                <a:latin typeface="Noto Sans"/>
                <a:ea typeface="Noto Sans"/>
                <a:cs typeface="Noto Sans"/>
                <a:sym typeface="Noto Sans"/>
              </a:rPr>
              <a:t> Se usa para el enrutamiento ENTRE sistemas autónomos. Estos protocolos estas diseñados para operar entre sistemas autónomos controlados por distintas organizaciones. El BGP es el único protocolo viable actualmente y es el utilizado en Internet.</a:t>
            </a:r>
            <a:endParaRPr/>
          </a:p>
        </p:txBody>
      </p:sp>
      <p:sp>
        <p:nvSpPr>
          <p:cNvPr id="261" name="Google Shape;261;p7"/>
          <p:cNvSpPr txBox="1"/>
          <p:nvPr/>
        </p:nvSpPr>
        <p:spPr>
          <a:xfrm>
            <a:off x="8390283" y="2306947"/>
            <a:ext cx="5736060" cy="856807"/>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892" u="none" cap="none" strike="noStrike">
                <a:solidFill>
                  <a:srgbClr val="4F8FD1"/>
                </a:solidFill>
                <a:latin typeface="Arial"/>
                <a:ea typeface="Arial"/>
                <a:cs typeface="Arial"/>
                <a:sym typeface="Arial"/>
              </a:rPr>
              <a:t>CLASIFICACIÓN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265" name="Shape 265"/>
        <p:cNvGrpSpPr/>
        <p:nvPr/>
      </p:nvGrpSpPr>
      <p:grpSpPr>
        <a:xfrm>
          <a:off x="0" y="0"/>
          <a:ext cx="0" cy="0"/>
          <a:chOff x="0" y="0"/>
          <a:chExt cx="0" cy="0"/>
        </a:xfrm>
      </p:grpSpPr>
      <p:sp>
        <p:nvSpPr>
          <p:cNvPr id="266" name="Google Shape;266;p8"/>
          <p:cNvSpPr/>
          <p:nvPr/>
        </p:nvSpPr>
        <p:spPr>
          <a:xfrm>
            <a:off x="-7196273" y="-3921025"/>
            <a:ext cx="16449947" cy="16449947"/>
          </a:xfrm>
          <a:custGeom>
            <a:rect b="b" l="l" r="r" t="t"/>
            <a:pathLst>
              <a:path extrusionOk="0" h="16449947" w="16449947">
                <a:moveTo>
                  <a:pt x="0" y="0"/>
                </a:moveTo>
                <a:lnTo>
                  <a:pt x="16449946" y="0"/>
                </a:lnTo>
                <a:lnTo>
                  <a:pt x="16449946" y="16449946"/>
                </a:lnTo>
                <a:lnTo>
                  <a:pt x="0" y="16449946"/>
                </a:lnTo>
                <a:lnTo>
                  <a:pt x="0" y="0"/>
                </a:lnTo>
                <a:close/>
              </a:path>
            </a:pathLst>
          </a:custGeom>
          <a:blipFill rotWithShape="1">
            <a:blip r:embed="rId3">
              <a:alphaModFix/>
            </a:blip>
            <a:stretch>
              <a:fillRect b="0" l="0" r="0" t="0"/>
            </a:stretch>
          </a:blipFill>
          <a:ln>
            <a:noFill/>
          </a:ln>
        </p:spPr>
      </p:sp>
      <p:grpSp>
        <p:nvGrpSpPr>
          <p:cNvPr id="267" name="Google Shape;267;p8"/>
          <p:cNvGrpSpPr/>
          <p:nvPr/>
        </p:nvGrpSpPr>
        <p:grpSpPr>
          <a:xfrm>
            <a:off x="3521570" y="1657054"/>
            <a:ext cx="9279105" cy="6972893"/>
            <a:chOff x="0" y="0"/>
            <a:chExt cx="3205392" cy="2408729"/>
          </a:xfrm>
        </p:grpSpPr>
        <p:sp>
          <p:nvSpPr>
            <p:cNvPr id="268" name="Google Shape;268;p8"/>
            <p:cNvSpPr/>
            <p:nvPr/>
          </p:nvSpPr>
          <p:spPr>
            <a:xfrm>
              <a:off x="80010" y="80010"/>
              <a:ext cx="3112682" cy="2316019"/>
            </a:xfrm>
            <a:custGeom>
              <a:rect b="b" l="l" r="r" t="t"/>
              <a:pathLst>
                <a:path extrusionOk="0" h="2316019" w="3112682">
                  <a:moveTo>
                    <a:pt x="0" y="2261409"/>
                  </a:moveTo>
                  <a:lnTo>
                    <a:pt x="0" y="2316019"/>
                  </a:lnTo>
                  <a:lnTo>
                    <a:pt x="3112682" y="2316019"/>
                  </a:lnTo>
                  <a:lnTo>
                    <a:pt x="3112682" y="0"/>
                  </a:lnTo>
                  <a:lnTo>
                    <a:pt x="3058072" y="0"/>
                  </a:lnTo>
                  <a:lnTo>
                    <a:pt x="3058072" y="2261409"/>
                  </a:lnTo>
                  <a:close/>
                </a:path>
              </a:pathLst>
            </a:custGeom>
            <a:solidFill>
              <a:srgbClr val="4F8FD1"/>
            </a:solidFill>
            <a:ln>
              <a:noFill/>
            </a:ln>
          </p:spPr>
        </p:sp>
        <p:sp>
          <p:nvSpPr>
            <p:cNvPr id="269" name="Google Shape;269;p8"/>
            <p:cNvSpPr/>
            <p:nvPr/>
          </p:nvSpPr>
          <p:spPr>
            <a:xfrm>
              <a:off x="67310" y="67310"/>
              <a:ext cx="3138082" cy="2341419"/>
            </a:xfrm>
            <a:custGeom>
              <a:rect b="b" l="l" r="r" t="t"/>
              <a:pathLst>
                <a:path extrusionOk="0" h="2341419" w="3138082">
                  <a:moveTo>
                    <a:pt x="3070772" y="0"/>
                  </a:moveTo>
                  <a:lnTo>
                    <a:pt x="3070772" y="12700"/>
                  </a:lnTo>
                  <a:lnTo>
                    <a:pt x="3125382" y="12700"/>
                  </a:lnTo>
                  <a:lnTo>
                    <a:pt x="3125382" y="2328719"/>
                  </a:lnTo>
                  <a:lnTo>
                    <a:pt x="12700" y="2328719"/>
                  </a:lnTo>
                  <a:lnTo>
                    <a:pt x="12700" y="2274109"/>
                  </a:lnTo>
                  <a:lnTo>
                    <a:pt x="0" y="2274109"/>
                  </a:lnTo>
                  <a:lnTo>
                    <a:pt x="0" y="2341419"/>
                  </a:lnTo>
                  <a:lnTo>
                    <a:pt x="3138082" y="2341419"/>
                  </a:lnTo>
                  <a:lnTo>
                    <a:pt x="3138082" y="0"/>
                  </a:lnTo>
                  <a:close/>
                </a:path>
              </a:pathLst>
            </a:custGeom>
            <a:solidFill>
              <a:srgbClr val="4F8FD1"/>
            </a:solidFill>
            <a:ln>
              <a:noFill/>
            </a:ln>
          </p:spPr>
        </p:sp>
        <p:sp>
          <p:nvSpPr>
            <p:cNvPr id="270" name="Google Shape;270;p8"/>
            <p:cNvSpPr/>
            <p:nvPr/>
          </p:nvSpPr>
          <p:spPr>
            <a:xfrm>
              <a:off x="12700" y="12700"/>
              <a:ext cx="3112682" cy="2316019"/>
            </a:xfrm>
            <a:custGeom>
              <a:rect b="b" l="l" r="r" t="t"/>
              <a:pathLst>
                <a:path extrusionOk="0" h="2316019" w="3112682">
                  <a:moveTo>
                    <a:pt x="0" y="0"/>
                  </a:moveTo>
                  <a:lnTo>
                    <a:pt x="3112682" y="0"/>
                  </a:lnTo>
                  <a:lnTo>
                    <a:pt x="3112682" y="2316019"/>
                  </a:lnTo>
                  <a:lnTo>
                    <a:pt x="0" y="2316019"/>
                  </a:lnTo>
                  <a:close/>
                </a:path>
              </a:pathLst>
            </a:custGeom>
            <a:solidFill>
              <a:srgbClr val="FFFFFF"/>
            </a:solidFill>
            <a:ln>
              <a:noFill/>
            </a:ln>
          </p:spPr>
        </p:sp>
        <p:sp>
          <p:nvSpPr>
            <p:cNvPr id="271" name="Google Shape;271;p8"/>
            <p:cNvSpPr/>
            <p:nvPr/>
          </p:nvSpPr>
          <p:spPr>
            <a:xfrm>
              <a:off x="0" y="0"/>
              <a:ext cx="3138082" cy="2341419"/>
            </a:xfrm>
            <a:custGeom>
              <a:rect b="b" l="l" r="r" t="t"/>
              <a:pathLst>
                <a:path extrusionOk="0" h="2341419" w="3138082">
                  <a:moveTo>
                    <a:pt x="80010" y="2341419"/>
                  </a:moveTo>
                  <a:lnTo>
                    <a:pt x="3138082" y="2341419"/>
                  </a:lnTo>
                  <a:lnTo>
                    <a:pt x="3138082" y="80010"/>
                  </a:lnTo>
                  <a:lnTo>
                    <a:pt x="3138082" y="67310"/>
                  </a:lnTo>
                  <a:lnTo>
                    <a:pt x="3138082" y="0"/>
                  </a:lnTo>
                  <a:lnTo>
                    <a:pt x="0" y="0"/>
                  </a:lnTo>
                  <a:lnTo>
                    <a:pt x="0" y="2341419"/>
                  </a:lnTo>
                  <a:lnTo>
                    <a:pt x="67310" y="2341419"/>
                  </a:lnTo>
                  <a:lnTo>
                    <a:pt x="80010" y="2341419"/>
                  </a:lnTo>
                  <a:close/>
                  <a:moveTo>
                    <a:pt x="12700" y="12700"/>
                  </a:moveTo>
                  <a:lnTo>
                    <a:pt x="3125382" y="12700"/>
                  </a:lnTo>
                  <a:lnTo>
                    <a:pt x="3125382" y="2328719"/>
                  </a:lnTo>
                  <a:lnTo>
                    <a:pt x="12700" y="2328719"/>
                  </a:lnTo>
                  <a:lnTo>
                    <a:pt x="12700" y="12700"/>
                  </a:lnTo>
                  <a:close/>
                </a:path>
              </a:pathLst>
            </a:custGeom>
            <a:solidFill>
              <a:srgbClr val="4F8FD1"/>
            </a:solidFill>
            <a:ln>
              <a:noFill/>
            </a:ln>
          </p:spPr>
        </p:sp>
      </p:grpSp>
      <p:sp>
        <p:nvSpPr>
          <p:cNvPr id="272" name="Google Shape;272;p8"/>
          <p:cNvSpPr/>
          <p:nvPr/>
        </p:nvSpPr>
        <p:spPr>
          <a:xfrm>
            <a:off x="4257339" y="2446351"/>
            <a:ext cx="1663256" cy="1650782"/>
          </a:xfrm>
          <a:custGeom>
            <a:rect b="b" l="l" r="r" t="t"/>
            <a:pathLst>
              <a:path extrusionOk="0" h="1650782" w="1663256">
                <a:moveTo>
                  <a:pt x="0" y="0"/>
                </a:moveTo>
                <a:lnTo>
                  <a:pt x="1663256" y="0"/>
                </a:lnTo>
                <a:lnTo>
                  <a:pt x="1663256" y="1650782"/>
                </a:lnTo>
                <a:lnTo>
                  <a:pt x="0" y="1650782"/>
                </a:lnTo>
                <a:lnTo>
                  <a:pt x="0" y="0"/>
                </a:lnTo>
                <a:close/>
              </a:path>
            </a:pathLst>
          </a:custGeom>
          <a:blipFill rotWithShape="1">
            <a:blip r:embed="rId4">
              <a:alphaModFix/>
            </a:blip>
            <a:stretch>
              <a:fillRect b="0" l="0" r="0" t="0"/>
            </a:stretch>
          </a:blipFill>
          <a:ln>
            <a:noFill/>
          </a:ln>
        </p:spPr>
      </p:sp>
      <p:sp>
        <p:nvSpPr>
          <p:cNvPr id="273" name="Google Shape;273;p8"/>
          <p:cNvSpPr/>
          <p:nvPr/>
        </p:nvSpPr>
        <p:spPr>
          <a:xfrm>
            <a:off x="4259080" y="4363833"/>
            <a:ext cx="1663256" cy="1650782"/>
          </a:xfrm>
          <a:custGeom>
            <a:rect b="b" l="l" r="r" t="t"/>
            <a:pathLst>
              <a:path extrusionOk="0" h="1650782" w="1663256">
                <a:moveTo>
                  <a:pt x="0" y="0"/>
                </a:moveTo>
                <a:lnTo>
                  <a:pt x="1663256" y="0"/>
                </a:lnTo>
                <a:lnTo>
                  <a:pt x="1663256" y="1650782"/>
                </a:lnTo>
                <a:lnTo>
                  <a:pt x="0" y="1650782"/>
                </a:lnTo>
                <a:lnTo>
                  <a:pt x="0" y="0"/>
                </a:lnTo>
                <a:close/>
              </a:path>
            </a:pathLst>
          </a:custGeom>
          <a:blipFill rotWithShape="1">
            <a:blip r:embed="rId4">
              <a:alphaModFix/>
            </a:blip>
            <a:stretch>
              <a:fillRect b="0" l="0" r="0" t="0"/>
            </a:stretch>
          </a:blipFill>
          <a:ln>
            <a:noFill/>
          </a:ln>
        </p:spPr>
      </p:sp>
      <p:sp>
        <p:nvSpPr>
          <p:cNvPr id="274" name="Google Shape;274;p8"/>
          <p:cNvSpPr/>
          <p:nvPr/>
        </p:nvSpPr>
        <p:spPr>
          <a:xfrm>
            <a:off x="4259080" y="6225046"/>
            <a:ext cx="1663256" cy="1650782"/>
          </a:xfrm>
          <a:custGeom>
            <a:rect b="b" l="l" r="r" t="t"/>
            <a:pathLst>
              <a:path extrusionOk="0" h="1650782" w="1663256">
                <a:moveTo>
                  <a:pt x="0" y="0"/>
                </a:moveTo>
                <a:lnTo>
                  <a:pt x="1663256" y="0"/>
                </a:lnTo>
                <a:lnTo>
                  <a:pt x="1663256" y="1650782"/>
                </a:lnTo>
                <a:lnTo>
                  <a:pt x="0" y="1650782"/>
                </a:lnTo>
                <a:lnTo>
                  <a:pt x="0" y="0"/>
                </a:lnTo>
                <a:close/>
              </a:path>
            </a:pathLst>
          </a:custGeom>
          <a:blipFill rotWithShape="1">
            <a:blip r:embed="rId4">
              <a:alphaModFix/>
            </a:blip>
            <a:stretch>
              <a:fillRect b="0" l="0" r="0" t="0"/>
            </a:stretch>
          </a:blipFill>
          <a:ln>
            <a:noFill/>
          </a:ln>
        </p:spPr>
      </p:sp>
      <p:grpSp>
        <p:nvGrpSpPr>
          <p:cNvPr id="275" name="Google Shape;275;p8"/>
          <p:cNvGrpSpPr/>
          <p:nvPr/>
        </p:nvGrpSpPr>
        <p:grpSpPr>
          <a:xfrm>
            <a:off x="522309" y="8252905"/>
            <a:ext cx="1698963" cy="1698963"/>
            <a:chOff x="0" y="0"/>
            <a:chExt cx="812800" cy="812800"/>
          </a:xfrm>
        </p:grpSpPr>
        <p:sp>
          <p:nvSpPr>
            <p:cNvPr id="276" name="Google Shape;276;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8" name="Google Shape;278;p8"/>
          <p:cNvSpPr/>
          <p:nvPr/>
        </p:nvSpPr>
        <p:spPr>
          <a:xfrm flipH="1">
            <a:off x="875302" y="8622034"/>
            <a:ext cx="992977" cy="960706"/>
          </a:xfrm>
          <a:custGeom>
            <a:rect b="b" l="l" r="r" t="t"/>
            <a:pathLst>
              <a:path extrusionOk="0" h="960706" w="992977">
                <a:moveTo>
                  <a:pt x="992977" y="0"/>
                </a:moveTo>
                <a:lnTo>
                  <a:pt x="0" y="0"/>
                </a:lnTo>
                <a:lnTo>
                  <a:pt x="0" y="960705"/>
                </a:lnTo>
                <a:lnTo>
                  <a:pt x="992977" y="960705"/>
                </a:lnTo>
                <a:lnTo>
                  <a:pt x="992977" y="0"/>
                </a:lnTo>
                <a:close/>
              </a:path>
            </a:pathLst>
          </a:custGeom>
          <a:blipFill rotWithShape="1">
            <a:blip r:embed="rId5">
              <a:alphaModFix/>
            </a:blip>
            <a:stretch>
              <a:fillRect b="0" l="0" r="0" t="0"/>
            </a:stretch>
          </a:blipFill>
          <a:ln>
            <a:noFill/>
          </a:ln>
        </p:spPr>
      </p:sp>
      <p:sp>
        <p:nvSpPr>
          <p:cNvPr id="279" name="Google Shape;279;p8"/>
          <p:cNvSpPr/>
          <p:nvPr/>
        </p:nvSpPr>
        <p:spPr>
          <a:xfrm>
            <a:off x="4648672" y="2821010"/>
            <a:ext cx="884073" cy="884073"/>
          </a:xfrm>
          <a:custGeom>
            <a:rect b="b" l="l" r="r" t="t"/>
            <a:pathLst>
              <a:path extrusionOk="0" h="884073" w="884073">
                <a:moveTo>
                  <a:pt x="0" y="0"/>
                </a:moveTo>
                <a:lnTo>
                  <a:pt x="884072" y="0"/>
                </a:lnTo>
                <a:lnTo>
                  <a:pt x="884072" y="884073"/>
                </a:lnTo>
                <a:lnTo>
                  <a:pt x="0" y="884073"/>
                </a:lnTo>
                <a:lnTo>
                  <a:pt x="0" y="0"/>
                </a:lnTo>
                <a:close/>
              </a:path>
            </a:pathLst>
          </a:custGeom>
          <a:blipFill rotWithShape="1">
            <a:blip r:embed="rId6">
              <a:alphaModFix/>
            </a:blip>
            <a:stretch>
              <a:fillRect b="0" l="0" r="0" t="0"/>
            </a:stretch>
          </a:blipFill>
          <a:ln>
            <a:noFill/>
          </a:ln>
        </p:spPr>
      </p:sp>
      <p:sp>
        <p:nvSpPr>
          <p:cNvPr id="280" name="Google Shape;280;p8"/>
          <p:cNvSpPr/>
          <p:nvPr/>
        </p:nvSpPr>
        <p:spPr>
          <a:xfrm>
            <a:off x="4648672" y="6561151"/>
            <a:ext cx="940341" cy="940341"/>
          </a:xfrm>
          <a:custGeom>
            <a:rect b="b" l="l" r="r" t="t"/>
            <a:pathLst>
              <a:path extrusionOk="0" h="940341" w="940341">
                <a:moveTo>
                  <a:pt x="0" y="0"/>
                </a:moveTo>
                <a:lnTo>
                  <a:pt x="940341" y="0"/>
                </a:lnTo>
                <a:lnTo>
                  <a:pt x="940341" y="940342"/>
                </a:lnTo>
                <a:lnTo>
                  <a:pt x="0" y="940342"/>
                </a:lnTo>
                <a:lnTo>
                  <a:pt x="0" y="0"/>
                </a:lnTo>
                <a:close/>
              </a:path>
            </a:pathLst>
          </a:custGeom>
          <a:blipFill rotWithShape="1">
            <a:blip r:embed="rId7">
              <a:alphaModFix/>
            </a:blip>
            <a:stretch>
              <a:fillRect b="0" l="0" r="0" t="0"/>
            </a:stretch>
          </a:blipFill>
          <a:ln>
            <a:noFill/>
          </a:ln>
        </p:spPr>
      </p:sp>
      <p:sp>
        <p:nvSpPr>
          <p:cNvPr id="281" name="Google Shape;281;p8"/>
          <p:cNvSpPr/>
          <p:nvPr/>
        </p:nvSpPr>
        <p:spPr>
          <a:xfrm>
            <a:off x="4506481" y="4606737"/>
            <a:ext cx="1164973" cy="1164973"/>
          </a:xfrm>
          <a:custGeom>
            <a:rect b="b" l="l" r="r" t="t"/>
            <a:pathLst>
              <a:path extrusionOk="0" h="1164973" w="1164973">
                <a:moveTo>
                  <a:pt x="0" y="0"/>
                </a:moveTo>
                <a:lnTo>
                  <a:pt x="1164973" y="0"/>
                </a:lnTo>
                <a:lnTo>
                  <a:pt x="1164973" y="1164974"/>
                </a:lnTo>
                <a:lnTo>
                  <a:pt x="0" y="1164974"/>
                </a:lnTo>
                <a:lnTo>
                  <a:pt x="0" y="0"/>
                </a:lnTo>
                <a:close/>
              </a:path>
            </a:pathLst>
          </a:custGeom>
          <a:blipFill rotWithShape="1">
            <a:blip r:embed="rId8">
              <a:alphaModFix/>
            </a:blip>
            <a:stretch>
              <a:fillRect b="0" l="0" r="0" t="0"/>
            </a:stretch>
          </a:blipFill>
          <a:ln>
            <a:noFill/>
          </a:ln>
        </p:spPr>
      </p:sp>
      <p:sp>
        <p:nvSpPr>
          <p:cNvPr id="282" name="Google Shape;282;p8"/>
          <p:cNvSpPr txBox="1"/>
          <p:nvPr/>
        </p:nvSpPr>
        <p:spPr>
          <a:xfrm>
            <a:off x="6065211" y="3280642"/>
            <a:ext cx="5745970" cy="4220851"/>
          </a:xfrm>
          <a:prstGeom prst="rect">
            <a:avLst/>
          </a:prstGeom>
          <a:noFill/>
          <a:ln>
            <a:noFill/>
          </a:ln>
        </p:spPr>
        <p:txBody>
          <a:bodyPr anchorCtr="0" anchor="t" bIns="0" lIns="0" spcFirstLastPara="1" rIns="0" wrap="square" tIns="0">
            <a:spAutoFit/>
          </a:bodyPr>
          <a:lstStyle/>
          <a:p>
            <a:pPr indent="0" lvl="1" marL="0" marR="0" rtl="0" algn="l">
              <a:lnSpc>
                <a:spcPct val="140044"/>
              </a:lnSpc>
              <a:spcBef>
                <a:spcPts val="0"/>
              </a:spcBef>
              <a:spcAft>
                <a:spcPts val="0"/>
              </a:spcAft>
              <a:buNone/>
            </a:pPr>
            <a:r>
              <a:rPr b="1" i="0" lang="en-US" sz="2682" u="none" cap="none" strike="noStrike">
                <a:solidFill>
                  <a:srgbClr val="2D659F"/>
                </a:solidFill>
                <a:latin typeface="Noto Sans"/>
                <a:ea typeface="Noto Sans"/>
                <a:cs typeface="Noto Sans"/>
                <a:sym typeface="Noto Sans"/>
              </a:rPr>
              <a:t>Protocolo de Gateway Interior (EGP):</a:t>
            </a:r>
            <a:r>
              <a:rPr b="0" i="0" lang="en-US" sz="2682" u="none" cap="none" strike="noStrike">
                <a:solidFill>
                  <a:srgbClr val="2D659F"/>
                </a:solidFill>
                <a:latin typeface="Noto Sans"/>
                <a:ea typeface="Noto Sans"/>
                <a:cs typeface="Noto Sans"/>
                <a:sym typeface="Noto Sans"/>
              </a:rPr>
              <a:t> Se usan para el enrutamiento dentro de sistemas autónomos. Los IGP se usan para el enrutamiento dentro de las redes de una unica organización (dentro de un dominio de enrutamiento). Los IGP para IP incluyen RIP, IGRP, EIGRP,OSPF e IS-IS.</a:t>
            </a:r>
            <a:endParaRPr/>
          </a:p>
        </p:txBody>
      </p:sp>
      <p:sp>
        <p:nvSpPr>
          <p:cNvPr id="283" name="Google Shape;283;p8"/>
          <p:cNvSpPr/>
          <p:nvPr/>
        </p:nvSpPr>
        <p:spPr>
          <a:xfrm>
            <a:off x="11811181" y="3761028"/>
            <a:ext cx="6429375" cy="4114800"/>
          </a:xfrm>
          <a:custGeom>
            <a:rect b="b" l="l" r="r" t="t"/>
            <a:pathLst>
              <a:path extrusionOk="0" h="4114800" w="6429375">
                <a:moveTo>
                  <a:pt x="0" y="0"/>
                </a:moveTo>
                <a:lnTo>
                  <a:pt x="6429375" y="0"/>
                </a:lnTo>
                <a:lnTo>
                  <a:pt x="6429375" y="4114800"/>
                </a:lnTo>
                <a:lnTo>
                  <a:pt x="0" y="4114800"/>
                </a:lnTo>
                <a:lnTo>
                  <a:pt x="0" y="0"/>
                </a:lnTo>
                <a:close/>
              </a:path>
            </a:pathLst>
          </a:custGeom>
          <a:blipFill rotWithShape="1">
            <a:blip r:embed="rId9">
              <a:alphaModFix/>
            </a:blip>
            <a:stretch>
              <a:fillRect b="0" l="0" r="0" t="0"/>
            </a:stretch>
          </a:blipFill>
          <a:ln>
            <a:noFill/>
          </a:ln>
        </p:spPr>
      </p:sp>
      <p:sp>
        <p:nvSpPr>
          <p:cNvPr id="284" name="Google Shape;284;p8"/>
          <p:cNvSpPr txBox="1"/>
          <p:nvPr/>
        </p:nvSpPr>
        <p:spPr>
          <a:xfrm>
            <a:off x="5671454" y="2271435"/>
            <a:ext cx="5736060" cy="856807"/>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892" u="none" cap="none" strike="noStrike">
                <a:solidFill>
                  <a:srgbClr val="4F8FD1"/>
                </a:solidFill>
                <a:latin typeface="Arial"/>
                <a:ea typeface="Arial"/>
                <a:cs typeface="Arial"/>
                <a:sym typeface="Arial"/>
              </a:rPr>
              <a:t>CLASIFICACIÓN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288" name="Shape 288"/>
        <p:cNvGrpSpPr/>
        <p:nvPr/>
      </p:nvGrpSpPr>
      <p:grpSpPr>
        <a:xfrm>
          <a:off x="0" y="0"/>
          <a:ext cx="0" cy="0"/>
          <a:chOff x="0" y="0"/>
          <a:chExt cx="0" cy="0"/>
        </a:xfrm>
      </p:grpSpPr>
      <p:sp>
        <p:nvSpPr>
          <p:cNvPr id="289" name="Google Shape;289;p9"/>
          <p:cNvSpPr/>
          <p:nvPr/>
        </p:nvSpPr>
        <p:spPr>
          <a:xfrm>
            <a:off x="7533254" y="-4139444"/>
            <a:ext cx="16449947" cy="16449947"/>
          </a:xfrm>
          <a:custGeom>
            <a:rect b="b" l="l" r="r" t="t"/>
            <a:pathLst>
              <a:path extrusionOk="0" h="16449947" w="16449947">
                <a:moveTo>
                  <a:pt x="0" y="0"/>
                </a:moveTo>
                <a:lnTo>
                  <a:pt x="16449946" y="0"/>
                </a:lnTo>
                <a:lnTo>
                  <a:pt x="16449946" y="16449947"/>
                </a:lnTo>
                <a:lnTo>
                  <a:pt x="0" y="16449947"/>
                </a:lnTo>
                <a:lnTo>
                  <a:pt x="0" y="0"/>
                </a:lnTo>
                <a:close/>
              </a:path>
            </a:pathLst>
          </a:custGeom>
          <a:blipFill rotWithShape="1">
            <a:blip r:embed="rId3">
              <a:alphaModFix/>
            </a:blip>
            <a:stretch>
              <a:fillRect b="0" l="0" r="0" t="0"/>
            </a:stretch>
          </a:blipFill>
          <a:ln>
            <a:noFill/>
          </a:ln>
        </p:spPr>
      </p:sp>
      <p:sp>
        <p:nvSpPr>
          <p:cNvPr id="290" name="Google Shape;290;p9"/>
          <p:cNvSpPr/>
          <p:nvPr/>
        </p:nvSpPr>
        <p:spPr>
          <a:xfrm>
            <a:off x="917403" y="943635"/>
            <a:ext cx="16230600" cy="8399728"/>
          </a:xfrm>
          <a:custGeom>
            <a:rect b="b" l="l" r="r" t="t"/>
            <a:pathLst>
              <a:path extrusionOk="0" h="3675700" w="7102470">
                <a:moveTo>
                  <a:pt x="7102470" y="0"/>
                </a:moveTo>
                <a:lnTo>
                  <a:pt x="7102470" y="1700648"/>
                </a:lnTo>
                <a:cubicBezTo>
                  <a:pt x="6498903" y="2304215"/>
                  <a:pt x="6160511" y="2642607"/>
                  <a:pt x="5556943" y="3246174"/>
                </a:cubicBezTo>
                <a:lnTo>
                  <a:pt x="4649630" y="3246174"/>
                </a:lnTo>
                <a:lnTo>
                  <a:pt x="4180657" y="3675700"/>
                </a:lnTo>
                <a:lnTo>
                  <a:pt x="1415148" y="3675700"/>
                </a:lnTo>
                <a:lnTo>
                  <a:pt x="946175" y="3246174"/>
                </a:lnTo>
                <a:lnTo>
                  <a:pt x="0" y="3246174"/>
                </a:lnTo>
                <a:lnTo>
                  <a:pt x="0" y="812559"/>
                </a:lnTo>
                <a:lnTo>
                  <a:pt x="812559" y="0"/>
                </a:lnTo>
                <a:lnTo>
                  <a:pt x="7102470" y="0"/>
                </a:ln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1" name="Google Shape;291;p9"/>
          <p:cNvGrpSpPr/>
          <p:nvPr/>
        </p:nvGrpSpPr>
        <p:grpSpPr>
          <a:xfrm>
            <a:off x="-1995011" y="8281960"/>
            <a:ext cx="22564215" cy="6023656"/>
            <a:chOff x="0" y="0"/>
            <a:chExt cx="4204104" cy="1122311"/>
          </a:xfrm>
        </p:grpSpPr>
        <p:sp>
          <p:nvSpPr>
            <p:cNvPr id="292" name="Google Shape;292;p9"/>
            <p:cNvSpPr/>
            <p:nvPr/>
          </p:nvSpPr>
          <p:spPr>
            <a:xfrm>
              <a:off x="0" y="0"/>
              <a:ext cx="4204104" cy="1122311"/>
            </a:xfrm>
            <a:custGeom>
              <a:rect b="b" l="l" r="r" t="t"/>
              <a:pathLst>
                <a:path extrusionOk="0" h="1122311" w="4204104">
                  <a:moveTo>
                    <a:pt x="2102052" y="0"/>
                  </a:moveTo>
                  <a:cubicBezTo>
                    <a:pt x="941121" y="0"/>
                    <a:pt x="0" y="251238"/>
                    <a:pt x="0" y="561156"/>
                  </a:cubicBezTo>
                  <a:cubicBezTo>
                    <a:pt x="0" y="871073"/>
                    <a:pt x="941121" y="1122311"/>
                    <a:pt x="2102052" y="1122311"/>
                  </a:cubicBezTo>
                  <a:cubicBezTo>
                    <a:pt x="3262983" y="1122311"/>
                    <a:pt x="4204104" y="871073"/>
                    <a:pt x="4204104" y="561156"/>
                  </a:cubicBezTo>
                  <a:cubicBezTo>
                    <a:pt x="4204104" y="251238"/>
                    <a:pt x="3262983" y="0"/>
                    <a:pt x="2102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txBox="1"/>
            <p:nvPr/>
          </p:nvSpPr>
          <p:spPr>
            <a:xfrm>
              <a:off x="394135" y="57592"/>
              <a:ext cx="3415834" cy="95950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4" name="Google Shape;294;p9"/>
          <p:cNvSpPr/>
          <p:nvPr/>
        </p:nvSpPr>
        <p:spPr>
          <a:xfrm>
            <a:off x="-1351955" y="-1177658"/>
            <a:ext cx="8755872" cy="5794796"/>
          </a:xfrm>
          <a:custGeom>
            <a:rect b="b" l="l" r="r" t="t"/>
            <a:pathLst>
              <a:path extrusionOk="0" h="5794796" w="8755872">
                <a:moveTo>
                  <a:pt x="0" y="0"/>
                </a:moveTo>
                <a:lnTo>
                  <a:pt x="8755873" y="0"/>
                </a:lnTo>
                <a:lnTo>
                  <a:pt x="8755873" y="5794795"/>
                </a:lnTo>
                <a:lnTo>
                  <a:pt x="0" y="5794795"/>
                </a:lnTo>
                <a:lnTo>
                  <a:pt x="0" y="0"/>
                </a:lnTo>
                <a:close/>
              </a:path>
            </a:pathLst>
          </a:custGeom>
          <a:blipFill rotWithShape="1">
            <a:blip r:embed="rId4">
              <a:alphaModFix amt="9999"/>
            </a:blip>
            <a:stretch>
              <a:fillRect b="0" l="0" r="0" t="0"/>
            </a:stretch>
          </a:blipFill>
          <a:ln>
            <a:noFill/>
          </a:ln>
        </p:spPr>
      </p:sp>
      <p:sp>
        <p:nvSpPr>
          <p:cNvPr id="295" name="Google Shape;295;p9"/>
          <p:cNvSpPr/>
          <p:nvPr/>
        </p:nvSpPr>
        <p:spPr>
          <a:xfrm>
            <a:off x="9680092" y="2093929"/>
            <a:ext cx="7330882" cy="6836047"/>
          </a:xfrm>
          <a:custGeom>
            <a:rect b="b" l="l" r="r" t="t"/>
            <a:pathLst>
              <a:path extrusionOk="0" h="6836047" w="7330882">
                <a:moveTo>
                  <a:pt x="0" y="0"/>
                </a:moveTo>
                <a:lnTo>
                  <a:pt x="7330882" y="0"/>
                </a:lnTo>
                <a:lnTo>
                  <a:pt x="7330882" y="6836047"/>
                </a:lnTo>
                <a:lnTo>
                  <a:pt x="0" y="6836047"/>
                </a:lnTo>
                <a:lnTo>
                  <a:pt x="0" y="0"/>
                </a:lnTo>
                <a:close/>
              </a:path>
            </a:pathLst>
          </a:custGeom>
          <a:blipFill rotWithShape="1">
            <a:blip r:embed="rId5">
              <a:alphaModFix/>
            </a:blip>
            <a:stretch>
              <a:fillRect b="0" l="0" r="0" t="0"/>
            </a:stretch>
          </a:blipFill>
          <a:ln>
            <a:noFill/>
          </a:ln>
        </p:spPr>
      </p:sp>
      <p:sp>
        <p:nvSpPr>
          <p:cNvPr id="296" name="Google Shape;296;p9"/>
          <p:cNvSpPr txBox="1"/>
          <p:nvPr/>
        </p:nvSpPr>
        <p:spPr>
          <a:xfrm>
            <a:off x="1353443" y="4569512"/>
            <a:ext cx="7372809" cy="3114837"/>
          </a:xfrm>
          <a:prstGeom prst="rect">
            <a:avLst/>
          </a:prstGeom>
          <a:noFill/>
          <a:ln>
            <a:noFill/>
          </a:ln>
        </p:spPr>
        <p:txBody>
          <a:bodyPr anchorCtr="0" anchor="t" bIns="0" lIns="0" spcFirstLastPara="1" rIns="0" wrap="square" tIns="0">
            <a:spAutoFit/>
          </a:bodyPr>
          <a:lstStyle/>
          <a:p>
            <a:pPr indent="0" lvl="0" marL="0" marR="0" rtl="0" algn="just">
              <a:lnSpc>
                <a:spcPct val="140035"/>
              </a:lnSpc>
              <a:spcBef>
                <a:spcPts val="0"/>
              </a:spcBef>
              <a:spcAft>
                <a:spcPts val="0"/>
              </a:spcAft>
              <a:buNone/>
            </a:pPr>
            <a:r>
              <a:rPr b="0" i="0" lang="en-US" sz="2243" u="none" cap="none" strike="noStrike">
                <a:solidFill>
                  <a:srgbClr val="F0F6F5"/>
                </a:solidFill>
                <a:latin typeface="Arial"/>
                <a:ea typeface="Arial"/>
                <a:cs typeface="Arial"/>
                <a:sym typeface="Arial"/>
              </a:rPr>
              <a:t>RIP se utiliza tanto en redes LAN como WAN</a:t>
            </a:r>
            <a:r>
              <a:rPr b="1" i="0" lang="en-US" sz="2243" u="none" cap="none" strike="noStrike">
                <a:solidFill>
                  <a:srgbClr val="F0F6F5"/>
                </a:solidFill>
                <a:latin typeface="Ultra"/>
                <a:ea typeface="Ultra"/>
                <a:cs typeface="Ultra"/>
                <a:sym typeface="Ultra"/>
              </a:rPr>
              <a:t>.</a:t>
            </a:r>
            <a:r>
              <a:rPr b="0" i="0" lang="en-US" sz="2243" u="none" cap="none" strike="noStrike">
                <a:solidFill>
                  <a:srgbClr val="F0F6F5"/>
                </a:solidFill>
                <a:latin typeface="Arial"/>
                <a:ea typeface="Arial"/>
                <a:cs typeface="Arial"/>
                <a:sym typeface="Arial"/>
              </a:rPr>
              <a:t> También se ejecuta en la capa de Aplicación del Modelo OSI. La forma completa de RIP es el Protocolo de información de enrutamiento. Hay dos versiones de RIP.</a:t>
            </a:r>
            <a:endParaRPr/>
          </a:p>
          <a:p>
            <a:pPr indent="-242198" lvl="1" marL="484395" marR="0" rtl="0" algn="just">
              <a:lnSpc>
                <a:spcPct val="140035"/>
              </a:lnSpc>
              <a:spcBef>
                <a:spcPts val="0"/>
              </a:spcBef>
              <a:spcAft>
                <a:spcPts val="0"/>
              </a:spcAft>
              <a:buClr>
                <a:srgbClr val="F0F6F5"/>
              </a:buClr>
              <a:buSzPts val="2243"/>
              <a:buFont typeface="Arial"/>
              <a:buChar char="•"/>
            </a:pPr>
            <a:r>
              <a:rPr b="0" i="0" lang="en-US" sz="2243" u="none" cap="none" strike="noStrike">
                <a:solidFill>
                  <a:srgbClr val="F0F6F5"/>
                </a:solidFill>
                <a:latin typeface="Arial"/>
                <a:ea typeface="Arial"/>
                <a:cs typeface="Arial"/>
                <a:sym typeface="Arial"/>
              </a:rPr>
              <a:t>RIPv1</a:t>
            </a:r>
            <a:endParaRPr/>
          </a:p>
          <a:p>
            <a:pPr indent="-242198" lvl="1" marL="484395" marR="0" rtl="0" algn="just">
              <a:lnSpc>
                <a:spcPct val="140035"/>
              </a:lnSpc>
              <a:spcBef>
                <a:spcPts val="0"/>
              </a:spcBef>
              <a:spcAft>
                <a:spcPts val="0"/>
              </a:spcAft>
              <a:buClr>
                <a:srgbClr val="F0F6F5"/>
              </a:buClr>
              <a:buSzPts val="2243"/>
              <a:buFont typeface="Arial"/>
              <a:buChar char="•"/>
            </a:pPr>
            <a:r>
              <a:rPr b="0" i="0" lang="en-US" sz="2243" u="none" cap="none" strike="noStrike">
                <a:solidFill>
                  <a:srgbClr val="F0F6F5"/>
                </a:solidFill>
                <a:latin typeface="Arial"/>
                <a:ea typeface="Arial"/>
                <a:cs typeface="Arial"/>
                <a:sym typeface="Arial"/>
              </a:rPr>
              <a:t>RIPv2</a:t>
            </a:r>
            <a:endParaRPr/>
          </a:p>
          <a:p>
            <a:pPr indent="0" lvl="0" marL="0" marR="0" rtl="0" algn="just">
              <a:lnSpc>
                <a:spcPct val="140035"/>
              </a:lnSpc>
              <a:spcBef>
                <a:spcPts val="0"/>
              </a:spcBef>
              <a:spcAft>
                <a:spcPts val="0"/>
              </a:spcAft>
              <a:buNone/>
            </a:pPr>
            <a:r>
              <a:t/>
            </a:r>
            <a:endParaRPr b="0" i="0" sz="2243" u="none" cap="none" strike="noStrike">
              <a:solidFill>
                <a:srgbClr val="F0F6F5"/>
              </a:solidFill>
              <a:latin typeface="Arial"/>
              <a:ea typeface="Arial"/>
              <a:cs typeface="Arial"/>
              <a:sym typeface="Arial"/>
            </a:endParaRPr>
          </a:p>
        </p:txBody>
      </p:sp>
      <p:sp>
        <p:nvSpPr>
          <p:cNvPr id="297" name="Google Shape;297;p9"/>
          <p:cNvSpPr txBox="1"/>
          <p:nvPr/>
        </p:nvSpPr>
        <p:spPr>
          <a:xfrm>
            <a:off x="1353443" y="3487247"/>
            <a:ext cx="7790557" cy="11298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None/>
            </a:pPr>
            <a:r>
              <a:rPr b="1" i="0" lang="en-US" sz="3192" u="none" cap="none" strike="noStrike">
                <a:solidFill>
                  <a:srgbClr val="FFFFFF"/>
                </a:solidFill>
                <a:latin typeface="Arial"/>
                <a:ea typeface="Arial"/>
                <a:cs typeface="Arial"/>
                <a:sym typeface="Arial"/>
              </a:rPr>
              <a:t>PROTOCOLO DE INFORMACIÓN DE ENRUTAMIENTO (RIP)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01" name="Shape 301"/>
        <p:cNvGrpSpPr/>
        <p:nvPr/>
      </p:nvGrpSpPr>
      <p:grpSpPr>
        <a:xfrm>
          <a:off x="0" y="0"/>
          <a:ext cx="0" cy="0"/>
          <a:chOff x="0" y="0"/>
          <a:chExt cx="0" cy="0"/>
        </a:xfrm>
      </p:grpSpPr>
      <p:sp>
        <p:nvSpPr>
          <p:cNvPr id="302" name="Google Shape;302;p10"/>
          <p:cNvSpPr/>
          <p:nvPr/>
        </p:nvSpPr>
        <p:spPr>
          <a:xfrm>
            <a:off x="-7196273" y="-5540475"/>
            <a:ext cx="16449947" cy="16449947"/>
          </a:xfrm>
          <a:custGeom>
            <a:rect b="b" l="l" r="r" t="t"/>
            <a:pathLst>
              <a:path extrusionOk="0" h="16449947" w="16449947">
                <a:moveTo>
                  <a:pt x="0" y="0"/>
                </a:moveTo>
                <a:lnTo>
                  <a:pt x="16449946" y="0"/>
                </a:lnTo>
                <a:lnTo>
                  <a:pt x="16449946" y="16449946"/>
                </a:lnTo>
                <a:lnTo>
                  <a:pt x="0" y="16449946"/>
                </a:lnTo>
                <a:lnTo>
                  <a:pt x="0" y="0"/>
                </a:lnTo>
                <a:close/>
              </a:path>
            </a:pathLst>
          </a:custGeom>
          <a:blipFill rotWithShape="1">
            <a:blip r:embed="rId3">
              <a:alphaModFix/>
            </a:blip>
            <a:stretch>
              <a:fillRect b="0" l="0" r="0" t="0"/>
            </a:stretch>
          </a:blipFill>
          <a:ln>
            <a:noFill/>
          </a:ln>
        </p:spPr>
      </p:sp>
      <p:sp>
        <p:nvSpPr>
          <p:cNvPr id="303" name="Google Shape;303;p10"/>
          <p:cNvSpPr/>
          <p:nvPr/>
        </p:nvSpPr>
        <p:spPr>
          <a:xfrm>
            <a:off x="1028700" y="1028700"/>
            <a:ext cx="16230600" cy="8399728"/>
          </a:xfrm>
          <a:custGeom>
            <a:rect b="b" l="l" r="r" t="t"/>
            <a:pathLst>
              <a:path extrusionOk="0" h="3675700" w="7102470">
                <a:moveTo>
                  <a:pt x="7102470" y="0"/>
                </a:moveTo>
                <a:lnTo>
                  <a:pt x="7102470" y="1700648"/>
                </a:lnTo>
                <a:cubicBezTo>
                  <a:pt x="6498903" y="2304215"/>
                  <a:pt x="6160511" y="2642607"/>
                  <a:pt x="5556943" y="3246174"/>
                </a:cubicBezTo>
                <a:lnTo>
                  <a:pt x="4649630" y="3246174"/>
                </a:lnTo>
                <a:lnTo>
                  <a:pt x="4180657" y="3675700"/>
                </a:lnTo>
                <a:lnTo>
                  <a:pt x="1415148" y="3675700"/>
                </a:lnTo>
                <a:lnTo>
                  <a:pt x="946175" y="3246174"/>
                </a:lnTo>
                <a:lnTo>
                  <a:pt x="0" y="3246174"/>
                </a:lnTo>
                <a:lnTo>
                  <a:pt x="0" y="812559"/>
                </a:lnTo>
                <a:lnTo>
                  <a:pt x="812559" y="0"/>
                </a:lnTo>
                <a:lnTo>
                  <a:pt x="7102470" y="0"/>
                </a:ln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p:nvPr/>
        </p:nvSpPr>
        <p:spPr>
          <a:xfrm>
            <a:off x="-1525317" y="7688153"/>
            <a:ext cx="10335425" cy="3140294"/>
          </a:xfrm>
          <a:custGeom>
            <a:rect b="b" l="l" r="r" t="t"/>
            <a:pathLst>
              <a:path extrusionOk="0" h="3140294" w="10335425">
                <a:moveTo>
                  <a:pt x="0" y="0"/>
                </a:moveTo>
                <a:lnTo>
                  <a:pt x="10335426" y="0"/>
                </a:lnTo>
                <a:lnTo>
                  <a:pt x="10335426" y="3140294"/>
                </a:lnTo>
                <a:lnTo>
                  <a:pt x="0" y="3140294"/>
                </a:lnTo>
                <a:lnTo>
                  <a:pt x="0" y="0"/>
                </a:lnTo>
                <a:close/>
              </a:path>
            </a:pathLst>
          </a:custGeom>
          <a:blipFill rotWithShape="1">
            <a:blip r:embed="rId4">
              <a:alphaModFix amt="13000"/>
            </a:blip>
            <a:stretch>
              <a:fillRect b="0" l="0" r="0" t="0"/>
            </a:stretch>
          </a:blipFill>
          <a:ln>
            <a:noFill/>
          </a:ln>
        </p:spPr>
      </p:sp>
      <p:grpSp>
        <p:nvGrpSpPr>
          <p:cNvPr id="305" name="Google Shape;305;p10"/>
          <p:cNvGrpSpPr/>
          <p:nvPr/>
        </p:nvGrpSpPr>
        <p:grpSpPr>
          <a:xfrm>
            <a:off x="10567804" y="2684498"/>
            <a:ext cx="6805919" cy="5114388"/>
            <a:chOff x="0" y="0"/>
            <a:chExt cx="3205392" cy="2408729"/>
          </a:xfrm>
        </p:grpSpPr>
        <p:sp>
          <p:nvSpPr>
            <p:cNvPr id="306" name="Google Shape;306;p10"/>
            <p:cNvSpPr/>
            <p:nvPr/>
          </p:nvSpPr>
          <p:spPr>
            <a:xfrm>
              <a:off x="80010" y="80010"/>
              <a:ext cx="3112682" cy="2316019"/>
            </a:xfrm>
            <a:custGeom>
              <a:rect b="b" l="l" r="r" t="t"/>
              <a:pathLst>
                <a:path extrusionOk="0" h="2316019" w="3112682">
                  <a:moveTo>
                    <a:pt x="0" y="2261409"/>
                  </a:moveTo>
                  <a:lnTo>
                    <a:pt x="0" y="2316019"/>
                  </a:lnTo>
                  <a:lnTo>
                    <a:pt x="3112682" y="2316019"/>
                  </a:lnTo>
                  <a:lnTo>
                    <a:pt x="3112682" y="0"/>
                  </a:lnTo>
                  <a:lnTo>
                    <a:pt x="3058072" y="0"/>
                  </a:lnTo>
                  <a:lnTo>
                    <a:pt x="3058072" y="2261409"/>
                  </a:lnTo>
                  <a:close/>
                </a:path>
              </a:pathLst>
            </a:custGeom>
            <a:solidFill>
              <a:srgbClr val="4F8FD1"/>
            </a:solidFill>
            <a:ln>
              <a:noFill/>
            </a:ln>
          </p:spPr>
        </p:sp>
        <p:sp>
          <p:nvSpPr>
            <p:cNvPr id="307" name="Google Shape;307;p10"/>
            <p:cNvSpPr/>
            <p:nvPr/>
          </p:nvSpPr>
          <p:spPr>
            <a:xfrm>
              <a:off x="67310" y="67310"/>
              <a:ext cx="3138082" cy="2341419"/>
            </a:xfrm>
            <a:custGeom>
              <a:rect b="b" l="l" r="r" t="t"/>
              <a:pathLst>
                <a:path extrusionOk="0" h="2341419" w="3138082">
                  <a:moveTo>
                    <a:pt x="3070772" y="0"/>
                  </a:moveTo>
                  <a:lnTo>
                    <a:pt x="3070772" y="12700"/>
                  </a:lnTo>
                  <a:lnTo>
                    <a:pt x="3125382" y="12700"/>
                  </a:lnTo>
                  <a:lnTo>
                    <a:pt x="3125382" y="2328719"/>
                  </a:lnTo>
                  <a:lnTo>
                    <a:pt x="12700" y="2328719"/>
                  </a:lnTo>
                  <a:lnTo>
                    <a:pt x="12700" y="2274109"/>
                  </a:lnTo>
                  <a:lnTo>
                    <a:pt x="0" y="2274109"/>
                  </a:lnTo>
                  <a:lnTo>
                    <a:pt x="0" y="2341419"/>
                  </a:lnTo>
                  <a:lnTo>
                    <a:pt x="3138082" y="2341419"/>
                  </a:lnTo>
                  <a:lnTo>
                    <a:pt x="3138082" y="0"/>
                  </a:lnTo>
                  <a:close/>
                </a:path>
              </a:pathLst>
            </a:custGeom>
            <a:solidFill>
              <a:srgbClr val="4F8FD1"/>
            </a:solidFill>
            <a:ln>
              <a:noFill/>
            </a:ln>
          </p:spPr>
        </p:sp>
        <p:sp>
          <p:nvSpPr>
            <p:cNvPr id="308" name="Google Shape;308;p10"/>
            <p:cNvSpPr/>
            <p:nvPr/>
          </p:nvSpPr>
          <p:spPr>
            <a:xfrm>
              <a:off x="12700" y="12700"/>
              <a:ext cx="3112682" cy="2316019"/>
            </a:xfrm>
            <a:custGeom>
              <a:rect b="b" l="l" r="r" t="t"/>
              <a:pathLst>
                <a:path extrusionOk="0" h="2316019" w="3112682">
                  <a:moveTo>
                    <a:pt x="0" y="0"/>
                  </a:moveTo>
                  <a:lnTo>
                    <a:pt x="3112682" y="0"/>
                  </a:lnTo>
                  <a:lnTo>
                    <a:pt x="3112682" y="2316019"/>
                  </a:lnTo>
                  <a:lnTo>
                    <a:pt x="0" y="2316019"/>
                  </a:lnTo>
                  <a:close/>
                </a:path>
              </a:pathLst>
            </a:custGeom>
            <a:solidFill>
              <a:srgbClr val="FFFFFF"/>
            </a:solidFill>
            <a:ln>
              <a:noFill/>
            </a:ln>
          </p:spPr>
        </p:sp>
        <p:sp>
          <p:nvSpPr>
            <p:cNvPr id="309" name="Google Shape;309;p10"/>
            <p:cNvSpPr/>
            <p:nvPr/>
          </p:nvSpPr>
          <p:spPr>
            <a:xfrm>
              <a:off x="0" y="0"/>
              <a:ext cx="3138082" cy="2341419"/>
            </a:xfrm>
            <a:custGeom>
              <a:rect b="b" l="l" r="r" t="t"/>
              <a:pathLst>
                <a:path extrusionOk="0" h="2341419" w="3138082">
                  <a:moveTo>
                    <a:pt x="80010" y="2341419"/>
                  </a:moveTo>
                  <a:lnTo>
                    <a:pt x="3138082" y="2341419"/>
                  </a:lnTo>
                  <a:lnTo>
                    <a:pt x="3138082" y="80010"/>
                  </a:lnTo>
                  <a:lnTo>
                    <a:pt x="3138082" y="67310"/>
                  </a:lnTo>
                  <a:lnTo>
                    <a:pt x="3138082" y="0"/>
                  </a:lnTo>
                  <a:lnTo>
                    <a:pt x="0" y="0"/>
                  </a:lnTo>
                  <a:lnTo>
                    <a:pt x="0" y="2341419"/>
                  </a:lnTo>
                  <a:lnTo>
                    <a:pt x="67310" y="2341419"/>
                  </a:lnTo>
                  <a:lnTo>
                    <a:pt x="80010" y="2341419"/>
                  </a:lnTo>
                  <a:close/>
                  <a:moveTo>
                    <a:pt x="12700" y="12700"/>
                  </a:moveTo>
                  <a:lnTo>
                    <a:pt x="3125382" y="12700"/>
                  </a:lnTo>
                  <a:lnTo>
                    <a:pt x="3125382" y="2328719"/>
                  </a:lnTo>
                  <a:lnTo>
                    <a:pt x="12700" y="2328719"/>
                  </a:lnTo>
                  <a:lnTo>
                    <a:pt x="12700" y="12700"/>
                  </a:lnTo>
                  <a:close/>
                </a:path>
              </a:pathLst>
            </a:custGeom>
            <a:solidFill>
              <a:srgbClr val="4F8FD1"/>
            </a:solidFill>
            <a:ln>
              <a:noFill/>
            </a:ln>
          </p:spPr>
        </p:sp>
      </p:grpSp>
      <p:sp>
        <p:nvSpPr>
          <p:cNvPr id="310" name="Google Shape;310;p10"/>
          <p:cNvSpPr/>
          <p:nvPr/>
        </p:nvSpPr>
        <p:spPr>
          <a:xfrm>
            <a:off x="11053998" y="3128934"/>
            <a:ext cx="5833530" cy="3977407"/>
          </a:xfrm>
          <a:custGeom>
            <a:rect b="b" l="l" r="r" t="t"/>
            <a:pathLst>
              <a:path extrusionOk="0" h="3977407" w="5833530">
                <a:moveTo>
                  <a:pt x="0" y="0"/>
                </a:moveTo>
                <a:lnTo>
                  <a:pt x="5833530" y="0"/>
                </a:lnTo>
                <a:lnTo>
                  <a:pt x="5833530" y="3977407"/>
                </a:lnTo>
                <a:lnTo>
                  <a:pt x="0" y="3977407"/>
                </a:lnTo>
                <a:lnTo>
                  <a:pt x="0" y="0"/>
                </a:lnTo>
                <a:close/>
              </a:path>
            </a:pathLst>
          </a:custGeom>
          <a:blipFill rotWithShape="1">
            <a:blip r:embed="rId5">
              <a:alphaModFix/>
            </a:blip>
            <a:stretch>
              <a:fillRect b="0" l="0" r="0" t="0"/>
            </a:stretch>
          </a:blipFill>
          <a:ln>
            <a:noFill/>
          </a:ln>
        </p:spPr>
      </p:sp>
      <p:sp>
        <p:nvSpPr>
          <p:cNvPr id="311" name="Google Shape;311;p10"/>
          <p:cNvSpPr txBox="1"/>
          <p:nvPr/>
        </p:nvSpPr>
        <p:spPr>
          <a:xfrm>
            <a:off x="2466175" y="4446164"/>
            <a:ext cx="7372809" cy="2660177"/>
          </a:xfrm>
          <a:prstGeom prst="rect">
            <a:avLst/>
          </a:prstGeom>
          <a:noFill/>
          <a:ln>
            <a:noFill/>
          </a:ln>
        </p:spPr>
        <p:txBody>
          <a:bodyPr anchorCtr="0" anchor="t" bIns="0" lIns="0" spcFirstLastPara="1" rIns="0" wrap="square" tIns="0">
            <a:spAutoFit/>
          </a:bodyPr>
          <a:lstStyle/>
          <a:p>
            <a:pPr indent="-231403" lvl="1" marL="462806" marR="0" rtl="0" algn="just">
              <a:lnSpc>
                <a:spcPct val="140037"/>
              </a:lnSpc>
              <a:spcBef>
                <a:spcPts val="0"/>
              </a:spcBef>
              <a:spcAft>
                <a:spcPts val="0"/>
              </a:spcAft>
              <a:buClr>
                <a:srgbClr val="F0F6F5"/>
              </a:buClr>
              <a:buSzPts val="2143"/>
              <a:buFont typeface="Arial"/>
              <a:buChar char="•"/>
            </a:pPr>
            <a:r>
              <a:rPr b="0" i="0" lang="en-US" sz="2143" u="none" cap="none" strike="noStrike">
                <a:solidFill>
                  <a:srgbClr val="F0F6F5"/>
                </a:solidFill>
                <a:latin typeface="Arial"/>
                <a:ea typeface="Arial"/>
                <a:cs typeface="Arial"/>
                <a:sym typeface="Arial"/>
              </a:rPr>
              <a:t>Número máximo de saltos: 15 (un destino a más de 15 saltos se considera inalcanzable).</a:t>
            </a:r>
            <a:endParaRPr/>
          </a:p>
          <a:p>
            <a:pPr indent="-231403" lvl="1" marL="462806" marR="0" rtl="0" algn="just">
              <a:lnSpc>
                <a:spcPct val="140037"/>
              </a:lnSpc>
              <a:spcBef>
                <a:spcPts val="0"/>
              </a:spcBef>
              <a:spcAft>
                <a:spcPts val="0"/>
              </a:spcAft>
              <a:buClr>
                <a:srgbClr val="F0F6F5"/>
              </a:buClr>
              <a:buSzPts val="2143"/>
              <a:buFont typeface="Arial"/>
              <a:buChar char="•"/>
            </a:pPr>
            <a:r>
              <a:rPr b="0" i="0" lang="en-US" sz="2143" u="none" cap="none" strike="noStrike">
                <a:solidFill>
                  <a:srgbClr val="F0F6F5"/>
                </a:solidFill>
                <a:latin typeface="Arial"/>
                <a:ea typeface="Arial"/>
                <a:cs typeface="Arial"/>
                <a:sym typeface="Arial"/>
              </a:rPr>
              <a:t>Actualizaciones periódicas: Cada 30 segundos.</a:t>
            </a:r>
            <a:endParaRPr/>
          </a:p>
          <a:p>
            <a:pPr indent="-231403" lvl="1" marL="462806" marR="0" rtl="0" algn="just">
              <a:lnSpc>
                <a:spcPct val="140037"/>
              </a:lnSpc>
              <a:spcBef>
                <a:spcPts val="0"/>
              </a:spcBef>
              <a:spcAft>
                <a:spcPts val="0"/>
              </a:spcAft>
              <a:buClr>
                <a:srgbClr val="F0F6F5"/>
              </a:buClr>
              <a:buSzPts val="2143"/>
              <a:buFont typeface="Arial"/>
              <a:buChar char="•"/>
            </a:pPr>
            <a:r>
              <a:rPr b="0" i="0" lang="en-US" sz="2143" u="none" cap="none" strike="noStrike">
                <a:solidFill>
                  <a:srgbClr val="F0F6F5"/>
                </a:solidFill>
                <a:latin typeface="Arial"/>
                <a:ea typeface="Arial"/>
                <a:cs typeface="Arial"/>
                <a:sym typeface="Arial"/>
              </a:rPr>
              <a:t>Algoritmo: Vector de distancia.</a:t>
            </a:r>
            <a:endParaRPr/>
          </a:p>
          <a:p>
            <a:pPr indent="-231403" lvl="1" marL="462806" marR="0" rtl="0" algn="just">
              <a:lnSpc>
                <a:spcPct val="140037"/>
              </a:lnSpc>
              <a:spcBef>
                <a:spcPts val="0"/>
              </a:spcBef>
              <a:spcAft>
                <a:spcPts val="0"/>
              </a:spcAft>
              <a:buClr>
                <a:srgbClr val="F0F6F5"/>
              </a:buClr>
              <a:buSzPts val="2143"/>
              <a:buFont typeface="Arial"/>
              <a:buChar char="•"/>
            </a:pPr>
            <a:r>
              <a:rPr b="0" i="0" lang="en-US" sz="2143" u="none" cap="none" strike="noStrike">
                <a:solidFill>
                  <a:srgbClr val="F0F6F5"/>
                </a:solidFill>
                <a:latin typeface="Arial"/>
                <a:ea typeface="Arial"/>
                <a:cs typeface="Arial"/>
                <a:sym typeface="Arial"/>
              </a:rPr>
              <a:t>Versión: RIP v1 (sin soporte de VLSM) y RIP v2 (con soporte de VLSM y autenticación).</a:t>
            </a:r>
            <a:endParaRPr/>
          </a:p>
          <a:p>
            <a:pPr indent="0" lvl="0" marL="0" marR="0" rtl="0" algn="just">
              <a:lnSpc>
                <a:spcPct val="140037"/>
              </a:lnSpc>
              <a:spcBef>
                <a:spcPts val="0"/>
              </a:spcBef>
              <a:spcAft>
                <a:spcPts val="0"/>
              </a:spcAft>
              <a:buNone/>
            </a:pPr>
            <a:r>
              <a:t/>
            </a:r>
            <a:endParaRPr b="0" i="0" sz="2143" u="none" cap="none" strike="noStrike">
              <a:solidFill>
                <a:srgbClr val="F0F6F5"/>
              </a:solidFill>
              <a:latin typeface="Arial"/>
              <a:ea typeface="Arial"/>
              <a:cs typeface="Arial"/>
              <a:sym typeface="Arial"/>
            </a:endParaRPr>
          </a:p>
        </p:txBody>
      </p:sp>
      <p:sp>
        <p:nvSpPr>
          <p:cNvPr id="312" name="Google Shape;312;p10"/>
          <p:cNvSpPr txBox="1"/>
          <p:nvPr/>
        </p:nvSpPr>
        <p:spPr>
          <a:xfrm>
            <a:off x="2466175" y="3463866"/>
            <a:ext cx="9358363" cy="1029923"/>
          </a:xfrm>
          <a:prstGeom prst="rect">
            <a:avLst/>
          </a:prstGeom>
          <a:noFill/>
          <a:ln>
            <a:noFill/>
          </a:ln>
        </p:spPr>
        <p:txBody>
          <a:bodyPr anchorCtr="0" anchor="t" bIns="0" lIns="0" spcFirstLastPara="1" rIns="0" wrap="square" tIns="0">
            <a:spAutoFit/>
          </a:bodyPr>
          <a:lstStyle/>
          <a:p>
            <a:pPr indent="0" lvl="0" marL="0" marR="0" rtl="0" algn="l">
              <a:lnSpc>
                <a:spcPct val="103004"/>
              </a:lnSpc>
              <a:spcBef>
                <a:spcPts val="0"/>
              </a:spcBef>
              <a:spcAft>
                <a:spcPts val="0"/>
              </a:spcAft>
              <a:buNone/>
            </a:pPr>
            <a:r>
              <a:rPr b="1" i="0" lang="en-US" sz="7556" u="none" cap="none" strike="noStrike">
                <a:solidFill>
                  <a:srgbClr val="F0F6F5"/>
                </a:solidFill>
                <a:latin typeface="Arial"/>
                <a:ea typeface="Arial"/>
                <a:cs typeface="Arial"/>
                <a:sym typeface="Arial"/>
              </a:rPr>
              <a:t>Propiedades</a:t>
            </a:r>
            <a:endParaRPr/>
          </a:p>
        </p:txBody>
      </p:sp>
      <p:grpSp>
        <p:nvGrpSpPr>
          <p:cNvPr id="313" name="Google Shape;313;p10"/>
          <p:cNvGrpSpPr/>
          <p:nvPr/>
        </p:nvGrpSpPr>
        <p:grpSpPr>
          <a:xfrm>
            <a:off x="-1677020" y="-4066504"/>
            <a:ext cx="22564215" cy="6023656"/>
            <a:chOff x="0" y="0"/>
            <a:chExt cx="4204104" cy="1122311"/>
          </a:xfrm>
        </p:grpSpPr>
        <p:sp>
          <p:nvSpPr>
            <p:cNvPr id="314" name="Google Shape;314;p10"/>
            <p:cNvSpPr/>
            <p:nvPr/>
          </p:nvSpPr>
          <p:spPr>
            <a:xfrm>
              <a:off x="0" y="0"/>
              <a:ext cx="4204104" cy="1122311"/>
            </a:xfrm>
            <a:custGeom>
              <a:rect b="b" l="l" r="r" t="t"/>
              <a:pathLst>
                <a:path extrusionOk="0" h="1122311" w="4204104">
                  <a:moveTo>
                    <a:pt x="2102052" y="0"/>
                  </a:moveTo>
                  <a:cubicBezTo>
                    <a:pt x="941121" y="0"/>
                    <a:pt x="0" y="251238"/>
                    <a:pt x="0" y="561156"/>
                  </a:cubicBezTo>
                  <a:cubicBezTo>
                    <a:pt x="0" y="871073"/>
                    <a:pt x="941121" y="1122311"/>
                    <a:pt x="2102052" y="1122311"/>
                  </a:cubicBezTo>
                  <a:cubicBezTo>
                    <a:pt x="3262983" y="1122311"/>
                    <a:pt x="4204104" y="871073"/>
                    <a:pt x="4204104" y="561156"/>
                  </a:cubicBezTo>
                  <a:cubicBezTo>
                    <a:pt x="4204104" y="251238"/>
                    <a:pt x="3262983" y="0"/>
                    <a:pt x="2102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0"/>
            <p:cNvSpPr txBox="1"/>
            <p:nvPr/>
          </p:nvSpPr>
          <p:spPr>
            <a:xfrm>
              <a:off x="394135" y="57592"/>
              <a:ext cx="3415834" cy="95950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19" name="Shape 319"/>
        <p:cNvGrpSpPr/>
        <p:nvPr/>
      </p:nvGrpSpPr>
      <p:grpSpPr>
        <a:xfrm>
          <a:off x="0" y="0"/>
          <a:ext cx="0" cy="0"/>
          <a:chOff x="0" y="0"/>
          <a:chExt cx="0" cy="0"/>
        </a:xfrm>
      </p:grpSpPr>
      <p:grpSp>
        <p:nvGrpSpPr>
          <p:cNvPr id="320" name="Google Shape;320;p11"/>
          <p:cNvGrpSpPr/>
          <p:nvPr/>
        </p:nvGrpSpPr>
        <p:grpSpPr>
          <a:xfrm>
            <a:off x="2538123" y="2061695"/>
            <a:ext cx="13211754" cy="6163610"/>
            <a:chOff x="0" y="0"/>
            <a:chExt cx="4730473" cy="2206882"/>
          </a:xfrm>
        </p:grpSpPr>
        <p:sp>
          <p:nvSpPr>
            <p:cNvPr id="321" name="Google Shape;321;p11"/>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322" name="Google Shape;322;p11"/>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323" name="Google Shape;323;p11"/>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324" name="Google Shape;324;p11"/>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325" name="Google Shape;325;p11"/>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326" name="Google Shape;326;p11"/>
          <p:cNvSpPr/>
          <p:nvPr/>
        </p:nvSpPr>
        <p:spPr>
          <a:xfrm>
            <a:off x="10542419" y="3213297"/>
            <a:ext cx="4008184" cy="4114800"/>
          </a:xfrm>
          <a:custGeom>
            <a:rect b="b" l="l" r="r" t="t"/>
            <a:pathLst>
              <a:path extrusionOk="0" h="4114800" w="4008184">
                <a:moveTo>
                  <a:pt x="0" y="0"/>
                </a:moveTo>
                <a:lnTo>
                  <a:pt x="4008184" y="0"/>
                </a:lnTo>
                <a:lnTo>
                  <a:pt x="4008184" y="4114800"/>
                </a:lnTo>
                <a:lnTo>
                  <a:pt x="0" y="4114800"/>
                </a:lnTo>
                <a:lnTo>
                  <a:pt x="0" y="0"/>
                </a:lnTo>
                <a:close/>
              </a:path>
            </a:pathLst>
          </a:custGeom>
          <a:blipFill rotWithShape="1">
            <a:blip r:embed="rId4">
              <a:alphaModFix/>
            </a:blip>
            <a:stretch>
              <a:fillRect b="0" l="0" r="0" t="0"/>
            </a:stretch>
          </a:blipFill>
          <a:ln>
            <a:noFill/>
          </a:ln>
        </p:spPr>
      </p:sp>
      <p:sp>
        <p:nvSpPr>
          <p:cNvPr id="327" name="Google Shape;327;p11"/>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328" name="Google Shape;328;p11"/>
          <p:cNvSpPr txBox="1"/>
          <p:nvPr/>
        </p:nvSpPr>
        <p:spPr>
          <a:xfrm>
            <a:off x="3238927" y="3378601"/>
            <a:ext cx="6022865" cy="4164700"/>
          </a:xfrm>
          <a:prstGeom prst="rect">
            <a:avLst/>
          </a:prstGeom>
          <a:noFill/>
          <a:ln>
            <a:noFill/>
          </a:ln>
        </p:spPr>
        <p:txBody>
          <a:bodyPr anchorCtr="0" anchor="t" bIns="0" lIns="0" spcFirstLastPara="1" rIns="0" wrap="square" tIns="0">
            <a:spAutoFit/>
          </a:bodyPr>
          <a:lstStyle/>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 router rip</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version 2</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Router(config-router)# network [ID DE RED] </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Router(config-router)# exit</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1" i="0" lang="en-US" sz="1977" u="none" cap="none" strike="noStrike">
                <a:solidFill>
                  <a:srgbClr val="0E0722"/>
                </a:solidFill>
                <a:latin typeface="Noto Sans"/>
                <a:ea typeface="Noto Sans"/>
                <a:cs typeface="Noto Sans"/>
                <a:sym typeface="Noto Sans"/>
              </a:rPr>
              <a:t>Ejemplo:</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 router rip</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version 2</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192.168.1.0</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192.168.2.0</a:t>
            </a:r>
            <a:endParaRPr/>
          </a:p>
          <a:p>
            <a:pPr indent="0" lvl="1"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32" name="Shape 332"/>
        <p:cNvGrpSpPr/>
        <p:nvPr/>
      </p:nvGrpSpPr>
      <p:grpSpPr>
        <a:xfrm>
          <a:off x="0" y="0"/>
          <a:ext cx="0" cy="0"/>
          <a:chOff x="0" y="0"/>
          <a:chExt cx="0" cy="0"/>
        </a:xfrm>
      </p:grpSpPr>
      <p:grpSp>
        <p:nvGrpSpPr>
          <p:cNvPr id="333" name="Google Shape;333;p12"/>
          <p:cNvGrpSpPr/>
          <p:nvPr/>
        </p:nvGrpSpPr>
        <p:grpSpPr>
          <a:xfrm>
            <a:off x="15212158" y="-2406548"/>
            <a:ext cx="4769843" cy="4813095"/>
            <a:chOff x="0" y="0"/>
            <a:chExt cx="812800" cy="820170"/>
          </a:xfrm>
        </p:grpSpPr>
        <p:sp>
          <p:nvSpPr>
            <p:cNvPr id="334" name="Google Shape;334;p12"/>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6" name="Google Shape;336;p12"/>
          <p:cNvSpPr/>
          <p:nvPr/>
        </p:nvSpPr>
        <p:spPr>
          <a:xfrm>
            <a:off x="16018718" y="8617062"/>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337" name="Google Shape;337;p12"/>
          <p:cNvSpPr/>
          <p:nvPr/>
        </p:nvSpPr>
        <p:spPr>
          <a:xfrm>
            <a:off x="-7716574" y="-5818426"/>
            <a:ext cx="16449947" cy="16449947"/>
          </a:xfrm>
          <a:custGeom>
            <a:rect b="b" l="l" r="r" t="t"/>
            <a:pathLst>
              <a:path extrusionOk="0" h="16449947" w="16449947">
                <a:moveTo>
                  <a:pt x="0" y="0"/>
                </a:moveTo>
                <a:lnTo>
                  <a:pt x="16449946" y="0"/>
                </a:lnTo>
                <a:lnTo>
                  <a:pt x="16449946" y="16449947"/>
                </a:lnTo>
                <a:lnTo>
                  <a:pt x="0" y="16449947"/>
                </a:lnTo>
                <a:lnTo>
                  <a:pt x="0" y="0"/>
                </a:lnTo>
                <a:close/>
              </a:path>
            </a:pathLst>
          </a:custGeom>
          <a:blipFill rotWithShape="1">
            <a:blip r:embed="rId4">
              <a:alphaModFix/>
            </a:blip>
            <a:stretch>
              <a:fillRect b="0" l="0" r="0" t="0"/>
            </a:stretch>
          </a:blipFill>
          <a:ln>
            <a:noFill/>
          </a:ln>
        </p:spPr>
      </p:sp>
      <p:sp>
        <p:nvSpPr>
          <p:cNvPr id="338" name="Google Shape;338;p12"/>
          <p:cNvSpPr/>
          <p:nvPr/>
        </p:nvSpPr>
        <p:spPr>
          <a:xfrm>
            <a:off x="1028700" y="2242176"/>
            <a:ext cx="6963568" cy="4284403"/>
          </a:xfrm>
          <a:custGeom>
            <a:rect b="b" l="l" r="r" t="t"/>
            <a:pathLst>
              <a:path extrusionOk="0" h="4284403" w="6963568">
                <a:moveTo>
                  <a:pt x="0" y="0"/>
                </a:moveTo>
                <a:lnTo>
                  <a:pt x="6963568" y="0"/>
                </a:lnTo>
                <a:lnTo>
                  <a:pt x="6963568" y="4284403"/>
                </a:lnTo>
                <a:lnTo>
                  <a:pt x="0" y="4284403"/>
                </a:lnTo>
                <a:lnTo>
                  <a:pt x="0" y="0"/>
                </a:lnTo>
                <a:close/>
              </a:path>
            </a:pathLst>
          </a:custGeom>
          <a:blipFill rotWithShape="1">
            <a:blip r:embed="rId5">
              <a:alphaModFix/>
            </a:blip>
            <a:stretch>
              <a:fillRect b="0" l="0" r="0" t="0"/>
            </a:stretch>
          </a:blipFill>
          <a:ln>
            <a:noFill/>
          </a:ln>
        </p:spPr>
      </p:sp>
      <p:sp>
        <p:nvSpPr>
          <p:cNvPr id="339" name="Google Shape;339;p12"/>
          <p:cNvSpPr/>
          <p:nvPr/>
        </p:nvSpPr>
        <p:spPr>
          <a:xfrm>
            <a:off x="-158996" y="6072072"/>
            <a:ext cx="4724713" cy="4214928"/>
          </a:xfrm>
          <a:custGeom>
            <a:rect b="b" l="l" r="r" t="t"/>
            <a:pathLst>
              <a:path extrusionOk="0" h="4214928" w="4724713">
                <a:moveTo>
                  <a:pt x="0" y="0"/>
                </a:moveTo>
                <a:lnTo>
                  <a:pt x="4724714" y="0"/>
                </a:lnTo>
                <a:lnTo>
                  <a:pt x="4724714" y="4214928"/>
                </a:lnTo>
                <a:lnTo>
                  <a:pt x="0" y="4214928"/>
                </a:lnTo>
                <a:lnTo>
                  <a:pt x="0" y="0"/>
                </a:lnTo>
                <a:close/>
              </a:path>
            </a:pathLst>
          </a:custGeom>
          <a:blipFill rotWithShape="1">
            <a:blip r:embed="rId6">
              <a:alphaModFix/>
            </a:blip>
            <a:stretch>
              <a:fillRect b="0" l="0" r="0" t="0"/>
            </a:stretch>
          </a:blipFill>
          <a:ln>
            <a:noFill/>
          </a:ln>
        </p:spPr>
      </p:sp>
      <p:sp>
        <p:nvSpPr>
          <p:cNvPr id="340" name="Google Shape;340;p12"/>
          <p:cNvSpPr txBox="1"/>
          <p:nvPr/>
        </p:nvSpPr>
        <p:spPr>
          <a:xfrm>
            <a:off x="8949597" y="2037953"/>
            <a:ext cx="7524087" cy="148904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i="0" lang="en-US" sz="4237" u="none" cap="none" strike="noStrike">
                <a:solidFill>
                  <a:srgbClr val="FFFFFF"/>
                </a:solidFill>
                <a:latin typeface="Arial"/>
                <a:ea typeface="Arial"/>
                <a:cs typeface="Arial"/>
                <a:sym typeface="Arial"/>
              </a:rPr>
              <a:t>ABRIR PRIMERO LA RUTA MÁS CORTA (OSPF)</a:t>
            </a:r>
            <a:endParaRPr/>
          </a:p>
        </p:txBody>
      </p:sp>
      <p:sp>
        <p:nvSpPr>
          <p:cNvPr id="341" name="Google Shape;341;p12"/>
          <p:cNvSpPr txBox="1"/>
          <p:nvPr/>
        </p:nvSpPr>
        <p:spPr>
          <a:xfrm>
            <a:off x="9003665" y="3612719"/>
            <a:ext cx="7470018" cy="4880607"/>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2356" u="none" cap="none" strike="noStrike">
                <a:solidFill>
                  <a:srgbClr val="FFFFFF"/>
                </a:solidFill>
                <a:latin typeface="Noto Sans"/>
                <a:ea typeface="Noto Sans"/>
                <a:cs typeface="Noto Sans"/>
                <a:sym typeface="Noto Sans"/>
              </a:rPr>
              <a:t>El protocolo Open Shortest Path First (OSPF) es un IGP de estado de enlace hecho a medida para redes IP que utilizan el método Shortest Path First (SPF).</a:t>
            </a:r>
            <a:endParaRPr/>
          </a:p>
          <a:p>
            <a:pPr indent="0" lvl="0" marL="0" marR="0" rtl="0" algn="l">
              <a:lnSpc>
                <a:spcPct val="140025"/>
              </a:lnSpc>
              <a:spcBef>
                <a:spcPts val="0"/>
              </a:spcBef>
              <a:spcAft>
                <a:spcPts val="0"/>
              </a:spcAft>
              <a:buNone/>
            </a:pPr>
            <a:r>
              <a:rPr b="0" i="0" lang="en-US" sz="2356" u="none" cap="none" strike="noStrike">
                <a:solidFill>
                  <a:srgbClr val="FFFFFF"/>
                </a:solidFill>
                <a:latin typeface="Noto Sans"/>
                <a:ea typeface="Noto Sans"/>
                <a:cs typeface="Noto Sans"/>
                <a:sym typeface="Noto Sans"/>
              </a:rPr>
              <a:t>El enrutamiento OSPF le permite mantener bases de datos que detallan información sobre la topología circundante de la red. También utiliza el algoritmo de Dijkstra (Algoritmo de ruta más corta) para recalcular las rutas de red cuando cambia su topología. Este protocolo también es muy seguro, ya que puede autenticar cambios de protocolo para mantener los datos seguros.</a:t>
            </a:r>
            <a:endParaRPr/>
          </a:p>
          <a:p>
            <a:pPr indent="0" lvl="1" marL="0" marR="0" rtl="0" algn="l">
              <a:lnSpc>
                <a:spcPct val="140025"/>
              </a:lnSpc>
              <a:spcBef>
                <a:spcPts val="0"/>
              </a:spcBef>
              <a:spcAft>
                <a:spcPts val="0"/>
              </a:spcAft>
              <a:buNone/>
            </a:pPr>
            <a:r>
              <a:t/>
            </a:r>
            <a:endParaRPr b="0" i="0" sz="2356" u="none" cap="none" strike="noStrike">
              <a:solidFill>
                <a:srgbClr val="FFFFFF"/>
              </a:solidFill>
              <a:latin typeface="Noto Sans"/>
              <a:ea typeface="Noto Sans"/>
              <a:cs typeface="Noto Sans"/>
              <a:sym typeface="No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F8FD1"/>
        </a:solidFill>
      </p:bgPr>
    </p:bg>
    <p:spTree>
      <p:nvGrpSpPr>
        <p:cNvPr id="345" name="Shape 345"/>
        <p:cNvGrpSpPr/>
        <p:nvPr/>
      </p:nvGrpSpPr>
      <p:grpSpPr>
        <a:xfrm>
          <a:off x="0" y="0"/>
          <a:ext cx="0" cy="0"/>
          <a:chOff x="0" y="0"/>
          <a:chExt cx="0" cy="0"/>
        </a:xfrm>
      </p:grpSpPr>
      <p:sp>
        <p:nvSpPr>
          <p:cNvPr id="346" name="Google Shape;346;p13"/>
          <p:cNvSpPr/>
          <p:nvPr/>
        </p:nvSpPr>
        <p:spPr>
          <a:xfrm>
            <a:off x="6030490" y="4161956"/>
            <a:ext cx="1758939" cy="1758939"/>
          </a:xfrm>
          <a:custGeom>
            <a:rect b="b" l="l" r="r" t="t"/>
            <a:pathLst>
              <a:path extrusionOk="0" h="1758939" w="1758939">
                <a:moveTo>
                  <a:pt x="0" y="0"/>
                </a:moveTo>
                <a:lnTo>
                  <a:pt x="1758939" y="0"/>
                </a:lnTo>
                <a:lnTo>
                  <a:pt x="1758939" y="1758939"/>
                </a:lnTo>
                <a:lnTo>
                  <a:pt x="0" y="1758939"/>
                </a:lnTo>
                <a:lnTo>
                  <a:pt x="0" y="0"/>
                </a:lnTo>
                <a:close/>
              </a:path>
            </a:pathLst>
          </a:custGeom>
          <a:blipFill rotWithShape="1">
            <a:blip r:embed="rId3">
              <a:alphaModFix/>
            </a:blip>
            <a:stretch>
              <a:fillRect b="0" l="0" r="0" t="0"/>
            </a:stretch>
          </a:blipFill>
          <a:ln>
            <a:noFill/>
          </a:ln>
        </p:spPr>
      </p:sp>
      <p:sp>
        <p:nvSpPr>
          <p:cNvPr id="347" name="Google Shape;347;p13"/>
          <p:cNvSpPr/>
          <p:nvPr/>
        </p:nvSpPr>
        <p:spPr>
          <a:xfrm>
            <a:off x="10142104" y="4161956"/>
            <a:ext cx="1758939" cy="1758939"/>
          </a:xfrm>
          <a:custGeom>
            <a:rect b="b" l="l" r="r" t="t"/>
            <a:pathLst>
              <a:path extrusionOk="0" h="1758939" w="1758939">
                <a:moveTo>
                  <a:pt x="0" y="0"/>
                </a:moveTo>
                <a:lnTo>
                  <a:pt x="1758939" y="0"/>
                </a:lnTo>
                <a:lnTo>
                  <a:pt x="1758939" y="1758939"/>
                </a:lnTo>
                <a:lnTo>
                  <a:pt x="0" y="1758939"/>
                </a:lnTo>
                <a:lnTo>
                  <a:pt x="0" y="0"/>
                </a:lnTo>
                <a:close/>
              </a:path>
            </a:pathLst>
          </a:custGeom>
          <a:blipFill rotWithShape="1">
            <a:blip r:embed="rId4">
              <a:alphaModFix/>
            </a:blip>
            <a:stretch>
              <a:fillRect b="0" l="0" r="0" t="0"/>
            </a:stretch>
          </a:blipFill>
          <a:ln>
            <a:noFill/>
          </a:ln>
        </p:spPr>
      </p:sp>
      <p:sp>
        <p:nvSpPr>
          <p:cNvPr id="348" name="Google Shape;348;p13"/>
          <p:cNvSpPr/>
          <p:nvPr/>
        </p:nvSpPr>
        <p:spPr>
          <a:xfrm>
            <a:off x="1915652" y="4161956"/>
            <a:ext cx="1758939" cy="1758939"/>
          </a:xfrm>
          <a:custGeom>
            <a:rect b="b" l="l" r="r" t="t"/>
            <a:pathLst>
              <a:path extrusionOk="0" h="1758939" w="1758939">
                <a:moveTo>
                  <a:pt x="0" y="0"/>
                </a:moveTo>
                <a:lnTo>
                  <a:pt x="1758939" y="0"/>
                </a:lnTo>
                <a:lnTo>
                  <a:pt x="1758939" y="1758939"/>
                </a:lnTo>
                <a:lnTo>
                  <a:pt x="0" y="1758939"/>
                </a:lnTo>
                <a:lnTo>
                  <a:pt x="0" y="0"/>
                </a:lnTo>
                <a:close/>
              </a:path>
            </a:pathLst>
          </a:custGeom>
          <a:blipFill rotWithShape="1">
            <a:blip r:embed="rId5">
              <a:alphaModFix/>
            </a:blip>
            <a:stretch>
              <a:fillRect b="0" l="0" r="0" t="0"/>
            </a:stretch>
          </a:blipFill>
          <a:ln>
            <a:noFill/>
          </a:ln>
        </p:spPr>
      </p:sp>
      <p:grpSp>
        <p:nvGrpSpPr>
          <p:cNvPr id="349" name="Google Shape;349;p13"/>
          <p:cNvGrpSpPr/>
          <p:nvPr/>
        </p:nvGrpSpPr>
        <p:grpSpPr>
          <a:xfrm>
            <a:off x="-2138108" y="-2195866"/>
            <a:ext cx="22564215" cy="6023656"/>
            <a:chOff x="0" y="0"/>
            <a:chExt cx="4204104" cy="1122311"/>
          </a:xfrm>
        </p:grpSpPr>
        <p:sp>
          <p:nvSpPr>
            <p:cNvPr id="350" name="Google Shape;350;p13"/>
            <p:cNvSpPr/>
            <p:nvPr/>
          </p:nvSpPr>
          <p:spPr>
            <a:xfrm>
              <a:off x="0" y="0"/>
              <a:ext cx="4204104" cy="1122311"/>
            </a:xfrm>
            <a:custGeom>
              <a:rect b="b" l="l" r="r" t="t"/>
              <a:pathLst>
                <a:path extrusionOk="0" h="1122311" w="4204104">
                  <a:moveTo>
                    <a:pt x="2102052" y="0"/>
                  </a:moveTo>
                  <a:cubicBezTo>
                    <a:pt x="941121" y="0"/>
                    <a:pt x="0" y="251238"/>
                    <a:pt x="0" y="561156"/>
                  </a:cubicBezTo>
                  <a:cubicBezTo>
                    <a:pt x="0" y="871073"/>
                    <a:pt x="941121" y="1122311"/>
                    <a:pt x="2102052" y="1122311"/>
                  </a:cubicBezTo>
                  <a:cubicBezTo>
                    <a:pt x="3262983" y="1122311"/>
                    <a:pt x="4204104" y="871073"/>
                    <a:pt x="4204104" y="561156"/>
                  </a:cubicBezTo>
                  <a:cubicBezTo>
                    <a:pt x="4204104" y="251238"/>
                    <a:pt x="3262983" y="0"/>
                    <a:pt x="2102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txBox="1"/>
            <p:nvPr/>
          </p:nvSpPr>
          <p:spPr>
            <a:xfrm>
              <a:off x="394135" y="57592"/>
              <a:ext cx="3415834" cy="95950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52" name="Google Shape;352;p13"/>
          <p:cNvCxnSpPr/>
          <p:nvPr/>
        </p:nvCxnSpPr>
        <p:spPr>
          <a:xfrm>
            <a:off x="4874887" y="4167585"/>
            <a:ext cx="0" cy="4603719"/>
          </a:xfrm>
          <a:prstGeom prst="straightConnector1">
            <a:avLst/>
          </a:prstGeom>
          <a:noFill/>
          <a:ln cap="rnd" cmpd="sng" w="66675">
            <a:solidFill>
              <a:srgbClr val="FFFFFF"/>
            </a:solidFill>
            <a:prstDash val="dash"/>
            <a:round/>
            <a:headEnd len="sm" w="sm" type="none"/>
            <a:tailEnd len="sm" w="sm" type="none"/>
          </a:ln>
        </p:spPr>
      </p:cxnSp>
      <p:cxnSp>
        <p:nvCxnSpPr>
          <p:cNvPr id="353" name="Google Shape;353;p13"/>
          <p:cNvCxnSpPr/>
          <p:nvPr/>
        </p:nvCxnSpPr>
        <p:spPr>
          <a:xfrm>
            <a:off x="8985701" y="4119739"/>
            <a:ext cx="0" cy="4822102"/>
          </a:xfrm>
          <a:prstGeom prst="straightConnector1">
            <a:avLst/>
          </a:prstGeom>
          <a:noFill/>
          <a:ln cap="rnd" cmpd="sng" w="66675">
            <a:solidFill>
              <a:srgbClr val="FFFFFF"/>
            </a:solidFill>
            <a:prstDash val="dash"/>
            <a:round/>
            <a:headEnd len="sm" w="sm" type="none"/>
            <a:tailEnd len="sm" w="sm" type="none"/>
          </a:ln>
        </p:spPr>
      </p:cxnSp>
      <p:cxnSp>
        <p:nvCxnSpPr>
          <p:cNvPr id="354" name="Google Shape;354;p13"/>
          <p:cNvCxnSpPr/>
          <p:nvPr/>
        </p:nvCxnSpPr>
        <p:spPr>
          <a:xfrm>
            <a:off x="13144050" y="4119739"/>
            <a:ext cx="0" cy="4822102"/>
          </a:xfrm>
          <a:prstGeom prst="straightConnector1">
            <a:avLst/>
          </a:prstGeom>
          <a:noFill/>
          <a:ln cap="rnd" cmpd="sng" w="66675">
            <a:solidFill>
              <a:srgbClr val="FFFFFF"/>
            </a:solidFill>
            <a:prstDash val="dash"/>
            <a:round/>
            <a:headEnd len="sm" w="sm" type="none"/>
            <a:tailEnd len="sm" w="sm" type="none"/>
          </a:ln>
        </p:spPr>
      </p:cxnSp>
      <p:grpSp>
        <p:nvGrpSpPr>
          <p:cNvPr id="355" name="Google Shape;355;p13"/>
          <p:cNvGrpSpPr/>
          <p:nvPr/>
        </p:nvGrpSpPr>
        <p:grpSpPr>
          <a:xfrm>
            <a:off x="14387063" y="4077655"/>
            <a:ext cx="1753309" cy="1753309"/>
            <a:chOff x="0" y="0"/>
            <a:chExt cx="812800" cy="812800"/>
          </a:xfrm>
        </p:grpSpPr>
        <p:sp>
          <p:nvSpPr>
            <p:cNvPr id="356" name="Google Shape;356;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8" name="Google Shape;358;p13"/>
          <p:cNvSpPr/>
          <p:nvPr/>
        </p:nvSpPr>
        <p:spPr>
          <a:xfrm>
            <a:off x="14789920" y="4269341"/>
            <a:ext cx="1133311" cy="1369936"/>
          </a:xfrm>
          <a:custGeom>
            <a:rect b="b" l="l" r="r" t="t"/>
            <a:pathLst>
              <a:path extrusionOk="0" h="1369936" w="1133311">
                <a:moveTo>
                  <a:pt x="0" y="0"/>
                </a:moveTo>
                <a:lnTo>
                  <a:pt x="1133310" y="0"/>
                </a:lnTo>
                <a:lnTo>
                  <a:pt x="1133310" y="1369936"/>
                </a:lnTo>
                <a:lnTo>
                  <a:pt x="0" y="1369936"/>
                </a:lnTo>
                <a:lnTo>
                  <a:pt x="0" y="0"/>
                </a:lnTo>
                <a:close/>
              </a:path>
            </a:pathLst>
          </a:custGeom>
          <a:blipFill rotWithShape="1">
            <a:blip r:embed="rId6">
              <a:alphaModFix/>
            </a:blip>
            <a:stretch>
              <a:fillRect b="0" l="0" r="0" t="0"/>
            </a:stretch>
          </a:blipFill>
          <a:ln>
            <a:noFill/>
          </a:ln>
        </p:spPr>
      </p:sp>
      <p:sp>
        <p:nvSpPr>
          <p:cNvPr id="359" name="Google Shape;359;p13"/>
          <p:cNvSpPr txBox="1"/>
          <p:nvPr/>
        </p:nvSpPr>
        <p:spPr>
          <a:xfrm>
            <a:off x="1177639" y="6042728"/>
            <a:ext cx="3234965" cy="833860"/>
          </a:xfrm>
          <a:prstGeom prst="rect">
            <a:avLst/>
          </a:prstGeom>
          <a:noFill/>
          <a:ln>
            <a:noFill/>
          </a:ln>
        </p:spPr>
        <p:txBody>
          <a:bodyPr anchorCtr="0" anchor="t" bIns="0" lIns="0" spcFirstLastPara="1" rIns="0" wrap="square" tIns="0">
            <a:spAutoFit/>
          </a:bodyPr>
          <a:lstStyle/>
          <a:p>
            <a:pPr indent="0" lvl="0" marL="0" marR="0" rtl="0" algn="ctr">
              <a:lnSpc>
                <a:spcPct val="140041"/>
              </a:lnSpc>
              <a:spcBef>
                <a:spcPts val="0"/>
              </a:spcBef>
              <a:spcAft>
                <a:spcPts val="0"/>
              </a:spcAft>
              <a:buNone/>
            </a:pPr>
            <a:r>
              <a:rPr b="1" i="0" lang="en-US" sz="2420" u="none" cap="none" strike="noStrike">
                <a:solidFill>
                  <a:srgbClr val="FFFFFF"/>
                </a:solidFill>
                <a:latin typeface="Noto Sans"/>
                <a:ea typeface="Noto Sans"/>
                <a:cs typeface="Noto Sans"/>
                <a:sym typeface="Noto Sans"/>
              </a:rPr>
              <a:t>Convergencia rápida: </a:t>
            </a:r>
            <a:endParaRPr/>
          </a:p>
        </p:txBody>
      </p:sp>
      <p:sp>
        <p:nvSpPr>
          <p:cNvPr id="360" name="Google Shape;360;p13"/>
          <p:cNvSpPr txBox="1"/>
          <p:nvPr/>
        </p:nvSpPr>
        <p:spPr>
          <a:xfrm>
            <a:off x="1177639" y="7009938"/>
            <a:ext cx="3501124" cy="560244"/>
          </a:xfrm>
          <a:prstGeom prst="rect">
            <a:avLst/>
          </a:prstGeom>
          <a:noFill/>
          <a:ln>
            <a:noFill/>
          </a:ln>
        </p:spPr>
        <p:txBody>
          <a:bodyPr anchorCtr="0" anchor="t" bIns="0" lIns="0" spcFirstLastPara="1" rIns="0" wrap="square" tIns="0">
            <a:spAutoFit/>
          </a:bodyPr>
          <a:lstStyle/>
          <a:p>
            <a:pPr indent="0" lvl="1" marL="0" marR="0" rtl="0" algn="ctr">
              <a:lnSpc>
                <a:spcPct val="140024"/>
              </a:lnSpc>
              <a:spcBef>
                <a:spcPts val="0"/>
              </a:spcBef>
              <a:spcAft>
                <a:spcPts val="0"/>
              </a:spcAft>
              <a:buNone/>
            </a:pPr>
            <a:r>
              <a:rPr b="0" i="0" lang="en-US" sz="1619" u="none" cap="none" strike="noStrike">
                <a:solidFill>
                  <a:srgbClr val="FFFFFF"/>
                </a:solidFill>
                <a:latin typeface="Noto Sans"/>
                <a:ea typeface="Noto Sans"/>
                <a:cs typeface="Noto Sans"/>
                <a:sym typeface="Noto Sans"/>
              </a:rPr>
              <a:t>Cambios en la topología se propagan rápidamente.</a:t>
            </a:r>
            <a:endParaRPr/>
          </a:p>
        </p:txBody>
      </p:sp>
      <p:sp>
        <p:nvSpPr>
          <p:cNvPr id="361" name="Google Shape;361;p13"/>
          <p:cNvSpPr txBox="1"/>
          <p:nvPr/>
        </p:nvSpPr>
        <p:spPr>
          <a:xfrm>
            <a:off x="5157785" y="6042728"/>
            <a:ext cx="3234965" cy="405235"/>
          </a:xfrm>
          <a:prstGeom prst="rect">
            <a:avLst/>
          </a:prstGeom>
          <a:noFill/>
          <a:ln>
            <a:noFill/>
          </a:ln>
        </p:spPr>
        <p:txBody>
          <a:bodyPr anchorCtr="0" anchor="t" bIns="0" lIns="0" spcFirstLastPara="1" rIns="0" wrap="square" tIns="0">
            <a:spAutoFit/>
          </a:bodyPr>
          <a:lstStyle/>
          <a:p>
            <a:pPr indent="0" lvl="0" marL="0" marR="0" rtl="0" algn="ctr">
              <a:lnSpc>
                <a:spcPct val="140041"/>
              </a:lnSpc>
              <a:spcBef>
                <a:spcPts val="0"/>
              </a:spcBef>
              <a:spcAft>
                <a:spcPts val="0"/>
              </a:spcAft>
              <a:buNone/>
            </a:pPr>
            <a:r>
              <a:rPr b="1" i="0" lang="en-US" sz="2420" u="none" cap="none" strike="noStrike">
                <a:solidFill>
                  <a:srgbClr val="FFFFFF"/>
                </a:solidFill>
                <a:latin typeface="Noto Sans"/>
                <a:ea typeface="Noto Sans"/>
                <a:cs typeface="Noto Sans"/>
                <a:sym typeface="Noto Sans"/>
              </a:rPr>
              <a:t>Escalabilidad:</a:t>
            </a:r>
            <a:endParaRPr/>
          </a:p>
        </p:txBody>
      </p:sp>
      <p:sp>
        <p:nvSpPr>
          <p:cNvPr id="362" name="Google Shape;362;p13"/>
          <p:cNvSpPr txBox="1"/>
          <p:nvPr/>
        </p:nvSpPr>
        <p:spPr>
          <a:xfrm>
            <a:off x="5157785" y="6581313"/>
            <a:ext cx="3501124" cy="273839"/>
          </a:xfrm>
          <a:prstGeom prst="rect">
            <a:avLst/>
          </a:prstGeom>
          <a:noFill/>
          <a:ln>
            <a:noFill/>
          </a:ln>
        </p:spPr>
        <p:txBody>
          <a:bodyPr anchorCtr="0" anchor="t" bIns="0" lIns="0" spcFirstLastPara="1" rIns="0" wrap="square" tIns="0">
            <a:spAutoFit/>
          </a:bodyPr>
          <a:lstStyle/>
          <a:p>
            <a:pPr indent="0" lvl="1" marL="0" marR="0" rtl="0" algn="ctr">
              <a:lnSpc>
                <a:spcPct val="140024"/>
              </a:lnSpc>
              <a:spcBef>
                <a:spcPts val="0"/>
              </a:spcBef>
              <a:spcAft>
                <a:spcPts val="0"/>
              </a:spcAft>
              <a:buNone/>
            </a:pPr>
            <a:r>
              <a:rPr b="0" i="0" lang="en-US" sz="1619" u="none" cap="none" strike="noStrike">
                <a:solidFill>
                  <a:srgbClr val="FFFFFF"/>
                </a:solidFill>
                <a:latin typeface="Noto Sans"/>
                <a:ea typeface="Noto Sans"/>
                <a:cs typeface="Noto Sans"/>
                <a:sym typeface="Noto Sans"/>
              </a:rPr>
              <a:t>Mejor para redes grandes.</a:t>
            </a:r>
            <a:endParaRPr/>
          </a:p>
        </p:txBody>
      </p:sp>
      <p:sp>
        <p:nvSpPr>
          <p:cNvPr id="363" name="Google Shape;363;p13"/>
          <p:cNvSpPr txBox="1"/>
          <p:nvPr/>
        </p:nvSpPr>
        <p:spPr>
          <a:xfrm>
            <a:off x="9447664" y="6042728"/>
            <a:ext cx="3234965" cy="405235"/>
          </a:xfrm>
          <a:prstGeom prst="rect">
            <a:avLst/>
          </a:prstGeom>
          <a:noFill/>
          <a:ln>
            <a:noFill/>
          </a:ln>
        </p:spPr>
        <p:txBody>
          <a:bodyPr anchorCtr="0" anchor="t" bIns="0" lIns="0" spcFirstLastPara="1" rIns="0" wrap="square" tIns="0">
            <a:spAutoFit/>
          </a:bodyPr>
          <a:lstStyle/>
          <a:p>
            <a:pPr indent="0" lvl="0" marL="0" marR="0" rtl="0" algn="ctr">
              <a:lnSpc>
                <a:spcPct val="140041"/>
              </a:lnSpc>
              <a:spcBef>
                <a:spcPts val="0"/>
              </a:spcBef>
              <a:spcAft>
                <a:spcPts val="0"/>
              </a:spcAft>
              <a:buNone/>
            </a:pPr>
            <a:r>
              <a:rPr b="1" i="0" lang="en-US" sz="2420" u="none" cap="none" strike="noStrike">
                <a:solidFill>
                  <a:srgbClr val="FFFFFF"/>
                </a:solidFill>
                <a:latin typeface="Noto Sans"/>
                <a:ea typeface="Noto Sans"/>
                <a:cs typeface="Noto Sans"/>
                <a:sym typeface="Noto Sans"/>
              </a:rPr>
              <a:t>Coste de la ruta: </a:t>
            </a:r>
            <a:endParaRPr/>
          </a:p>
        </p:txBody>
      </p:sp>
      <p:sp>
        <p:nvSpPr>
          <p:cNvPr id="364" name="Google Shape;364;p13"/>
          <p:cNvSpPr txBox="1"/>
          <p:nvPr/>
        </p:nvSpPr>
        <p:spPr>
          <a:xfrm>
            <a:off x="13606013" y="6042728"/>
            <a:ext cx="3234965" cy="405235"/>
          </a:xfrm>
          <a:prstGeom prst="rect">
            <a:avLst/>
          </a:prstGeom>
          <a:noFill/>
          <a:ln>
            <a:noFill/>
          </a:ln>
        </p:spPr>
        <p:txBody>
          <a:bodyPr anchorCtr="0" anchor="t" bIns="0" lIns="0" spcFirstLastPara="1" rIns="0" wrap="square" tIns="0">
            <a:spAutoFit/>
          </a:bodyPr>
          <a:lstStyle/>
          <a:p>
            <a:pPr indent="0" lvl="0" marL="0" marR="0" rtl="0" algn="ctr">
              <a:lnSpc>
                <a:spcPct val="140041"/>
              </a:lnSpc>
              <a:spcBef>
                <a:spcPts val="0"/>
              </a:spcBef>
              <a:spcAft>
                <a:spcPts val="0"/>
              </a:spcAft>
              <a:buNone/>
            </a:pPr>
            <a:r>
              <a:rPr b="1" i="0" lang="en-US" sz="2420" u="none" cap="none" strike="noStrike">
                <a:solidFill>
                  <a:srgbClr val="FFFFFF"/>
                </a:solidFill>
                <a:latin typeface="Noto Sans"/>
                <a:ea typeface="Noto Sans"/>
                <a:cs typeface="Noto Sans"/>
                <a:sym typeface="Noto Sans"/>
              </a:rPr>
              <a:t>Áreas OSPF:</a:t>
            </a:r>
            <a:endParaRPr/>
          </a:p>
        </p:txBody>
      </p:sp>
      <p:sp>
        <p:nvSpPr>
          <p:cNvPr id="365" name="Google Shape;365;p13"/>
          <p:cNvSpPr txBox="1"/>
          <p:nvPr/>
        </p:nvSpPr>
        <p:spPr>
          <a:xfrm>
            <a:off x="9447664" y="6581313"/>
            <a:ext cx="3501124" cy="560244"/>
          </a:xfrm>
          <a:prstGeom prst="rect">
            <a:avLst/>
          </a:prstGeom>
          <a:noFill/>
          <a:ln>
            <a:noFill/>
          </a:ln>
        </p:spPr>
        <p:txBody>
          <a:bodyPr anchorCtr="0" anchor="t" bIns="0" lIns="0" spcFirstLastPara="1" rIns="0" wrap="square" tIns="0">
            <a:spAutoFit/>
          </a:bodyPr>
          <a:lstStyle/>
          <a:p>
            <a:pPr indent="0" lvl="1" marL="0" marR="0" rtl="0" algn="ctr">
              <a:lnSpc>
                <a:spcPct val="140024"/>
              </a:lnSpc>
              <a:spcBef>
                <a:spcPts val="0"/>
              </a:spcBef>
              <a:spcAft>
                <a:spcPts val="0"/>
              </a:spcAft>
              <a:buNone/>
            </a:pPr>
            <a:r>
              <a:rPr b="0" i="0" lang="en-US" sz="1619" u="none" cap="none" strike="noStrike">
                <a:solidFill>
                  <a:srgbClr val="FFFFFF"/>
                </a:solidFill>
                <a:latin typeface="Noto Sans"/>
                <a:ea typeface="Noto Sans"/>
                <a:cs typeface="Noto Sans"/>
                <a:sym typeface="Noto Sans"/>
              </a:rPr>
              <a:t>Determina las rutas más óptimas en función del coste de las interfaces.</a:t>
            </a:r>
            <a:endParaRPr/>
          </a:p>
        </p:txBody>
      </p:sp>
      <p:sp>
        <p:nvSpPr>
          <p:cNvPr id="366" name="Google Shape;366;p13"/>
          <p:cNvSpPr txBox="1"/>
          <p:nvPr/>
        </p:nvSpPr>
        <p:spPr>
          <a:xfrm>
            <a:off x="13606013" y="6581313"/>
            <a:ext cx="3501124" cy="846650"/>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None/>
            </a:pPr>
            <a:r>
              <a:rPr b="0" i="0" lang="en-US" sz="1619" u="none" cap="none" strike="noStrike">
                <a:solidFill>
                  <a:srgbClr val="FFFFFF"/>
                </a:solidFill>
                <a:latin typeface="Noto Sans"/>
                <a:ea typeface="Noto Sans"/>
                <a:cs typeface="Noto Sans"/>
                <a:sym typeface="Noto Sans"/>
              </a:rPr>
              <a:t>Divide las redes en áreas para reducir el tráfico de actualización.</a:t>
            </a:r>
            <a:endParaRPr/>
          </a:p>
          <a:p>
            <a:pPr indent="0" lvl="0" marL="0" marR="0" rtl="0" algn="ctr">
              <a:lnSpc>
                <a:spcPct val="140024"/>
              </a:lnSpc>
              <a:spcBef>
                <a:spcPts val="0"/>
              </a:spcBef>
              <a:spcAft>
                <a:spcPts val="0"/>
              </a:spcAft>
              <a:buNone/>
            </a:pPr>
            <a:r>
              <a:t/>
            </a:r>
            <a:endParaRPr b="0" i="0" sz="1619" u="none" cap="none" strike="noStrike">
              <a:solidFill>
                <a:srgbClr val="FFFFFF"/>
              </a:solidFill>
              <a:latin typeface="Noto Sans"/>
              <a:ea typeface="Noto Sans"/>
              <a:cs typeface="Noto Sans"/>
              <a:sym typeface="Noto Sans"/>
            </a:endParaRPr>
          </a:p>
        </p:txBody>
      </p:sp>
      <p:sp>
        <p:nvSpPr>
          <p:cNvPr id="367" name="Google Shape;367;p13"/>
          <p:cNvSpPr txBox="1"/>
          <p:nvPr/>
        </p:nvSpPr>
        <p:spPr>
          <a:xfrm>
            <a:off x="4625765" y="1541816"/>
            <a:ext cx="9033246" cy="1246091"/>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0" i="0" lang="en-US" sz="7191" u="none" cap="none" strike="noStrike">
                <a:solidFill>
                  <a:srgbClr val="4F8FD1"/>
                </a:solidFill>
                <a:latin typeface="Arial"/>
                <a:ea typeface="Arial"/>
                <a:cs typeface="Arial"/>
                <a:sym typeface="Arial"/>
              </a:rPr>
              <a:t>Propiedades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71" name="Shape 371"/>
        <p:cNvGrpSpPr/>
        <p:nvPr/>
      </p:nvGrpSpPr>
      <p:grpSpPr>
        <a:xfrm>
          <a:off x="0" y="0"/>
          <a:ext cx="0" cy="0"/>
          <a:chOff x="0" y="0"/>
          <a:chExt cx="0" cy="0"/>
        </a:xfrm>
      </p:grpSpPr>
      <p:grpSp>
        <p:nvGrpSpPr>
          <p:cNvPr id="372" name="Google Shape;372;p14"/>
          <p:cNvGrpSpPr/>
          <p:nvPr/>
        </p:nvGrpSpPr>
        <p:grpSpPr>
          <a:xfrm>
            <a:off x="2538123" y="2061695"/>
            <a:ext cx="13211754" cy="6163610"/>
            <a:chOff x="0" y="0"/>
            <a:chExt cx="4730473" cy="2206882"/>
          </a:xfrm>
        </p:grpSpPr>
        <p:sp>
          <p:nvSpPr>
            <p:cNvPr id="373" name="Google Shape;373;p14"/>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374" name="Google Shape;374;p14"/>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375" name="Google Shape;375;p14"/>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376" name="Google Shape;376;p14"/>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377" name="Google Shape;377;p14"/>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378" name="Google Shape;378;p14"/>
          <p:cNvSpPr/>
          <p:nvPr/>
        </p:nvSpPr>
        <p:spPr>
          <a:xfrm>
            <a:off x="11096830" y="3674385"/>
            <a:ext cx="4196072" cy="3276164"/>
          </a:xfrm>
          <a:custGeom>
            <a:rect b="b" l="l" r="r" t="t"/>
            <a:pathLst>
              <a:path extrusionOk="0" h="3276164" w="4196072">
                <a:moveTo>
                  <a:pt x="0" y="0"/>
                </a:moveTo>
                <a:lnTo>
                  <a:pt x="4196072" y="0"/>
                </a:lnTo>
                <a:lnTo>
                  <a:pt x="4196072" y="3276164"/>
                </a:lnTo>
                <a:lnTo>
                  <a:pt x="0" y="3276164"/>
                </a:lnTo>
                <a:lnTo>
                  <a:pt x="0" y="0"/>
                </a:lnTo>
                <a:close/>
              </a:path>
            </a:pathLst>
          </a:custGeom>
          <a:blipFill rotWithShape="1">
            <a:blip r:embed="rId4">
              <a:alphaModFix/>
            </a:blip>
            <a:stretch>
              <a:fillRect b="0" l="0" r="0" t="0"/>
            </a:stretch>
          </a:blipFill>
          <a:ln>
            <a:noFill/>
          </a:ln>
        </p:spPr>
      </p:sp>
      <p:sp>
        <p:nvSpPr>
          <p:cNvPr id="379" name="Google Shape;379;p14"/>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380" name="Google Shape;380;p14"/>
          <p:cNvSpPr txBox="1"/>
          <p:nvPr/>
        </p:nvSpPr>
        <p:spPr>
          <a:xfrm>
            <a:off x="3238927" y="3784016"/>
            <a:ext cx="8519100" cy="3416884"/>
          </a:xfrm>
          <a:prstGeom prst="rect">
            <a:avLst/>
          </a:prstGeom>
          <a:noFill/>
          <a:ln>
            <a:noFill/>
          </a:ln>
        </p:spPr>
        <p:txBody>
          <a:bodyPr anchorCtr="0" anchor="t" bIns="0" lIns="0" spcFirstLastPara="1" rIns="0" wrap="square" tIns="0">
            <a:spAutoFit/>
          </a:bodyPr>
          <a:lstStyle/>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 router ospf [ID]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[WILDCARD] area [ID]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[WILDCARD] area [ID]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exit</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1" i="0" lang="en-US" sz="1977" u="none" cap="none" strike="noStrike">
                <a:solidFill>
                  <a:srgbClr val="0E0722"/>
                </a:solidFill>
                <a:latin typeface="Noto Sans"/>
                <a:ea typeface="Noto Sans"/>
                <a:cs typeface="Noto Sans"/>
                <a:sym typeface="Noto Sans"/>
              </a:rPr>
              <a:t> Ejemplo:</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 router ospf 1</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192.168.1.0 0.0.0.255 area 0</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192.168.2.0 0.0.0.255 area 0</a:t>
            </a:r>
            <a:endParaRPr/>
          </a:p>
          <a:p>
            <a:pPr indent="0" lvl="1"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84" name="Shape 384"/>
        <p:cNvGrpSpPr/>
        <p:nvPr/>
      </p:nvGrpSpPr>
      <p:grpSpPr>
        <a:xfrm>
          <a:off x="0" y="0"/>
          <a:ext cx="0" cy="0"/>
          <a:chOff x="0" y="0"/>
          <a:chExt cx="0" cy="0"/>
        </a:xfrm>
      </p:grpSpPr>
      <p:grpSp>
        <p:nvGrpSpPr>
          <p:cNvPr id="385" name="Google Shape;385;p15"/>
          <p:cNvGrpSpPr/>
          <p:nvPr/>
        </p:nvGrpSpPr>
        <p:grpSpPr>
          <a:xfrm>
            <a:off x="1313855" y="1831151"/>
            <a:ext cx="14451922" cy="6624698"/>
            <a:chOff x="0" y="0"/>
            <a:chExt cx="5174515" cy="2371975"/>
          </a:xfrm>
        </p:grpSpPr>
        <p:sp>
          <p:nvSpPr>
            <p:cNvPr id="386" name="Google Shape;386;p15"/>
            <p:cNvSpPr/>
            <p:nvPr/>
          </p:nvSpPr>
          <p:spPr>
            <a:xfrm>
              <a:off x="80010" y="80010"/>
              <a:ext cx="5081805" cy="2279265"/>
            </a:xfrm>
            <a:custGeom>
              <a:rect b="b" l="l" r="r" t="t"/>
              <a:pathLst>
                <a:path extrusionOk="0" h="2279265" w="5081805">
                  <a:moveTo>
                    <a:pt x="0" y="2224655"/>
                  </a:moveTo>
                  <a:lnTo>
                    <a:pt x="0" y="2279265"/>
                  </a:lnTo>
                  <a:lnTo>
                    <a:pt x="5081805" y="2279265"/>
                  </a:lnTo>
                  <a:lnTo>
                    <a:pt x="5081805" y="0"/>
                  </a:lnTo>
                  <a:lnTo>
                    <a:pt x="5027195" y="0"/>
                  </a:lnTo>
                  <a:lnTo>
                    <a:pt x="5027195" y="2224655"/>
                  </a:lnTo>
                  <a:close/>
                </a:path>
              </a:pathLst>
            </a:custGeom>
            <a:solidFill>
              <a:srgbClr val="4F8FD1"/>
            </a:solidFill>
            <a:ln>
              <a:noFill/>
            </a:ln>
          </p:spPr>
        </p:sp>
        <p:sp>
          <p:nvSpPr>
            <p:cNvPr id="387" name="Google Shape;387;p15"/>
            <p:cNvSpPr/>
            <p:nvPr/>
          </p:nvSpPr>
          <p:spPr>
            <a:xfrm>
              <a:off x="67310" y="67310"/>
              <a:ext cx="5107205" cy="2304665"/>
            </a:xfrm>
            <a:custGeom>
              <a:rect b="b" l="l" r="r" t="t"/>
              <a:pathLst>
                <a:path extrusionOk="0" h="2304665" w="5107205">
                  <a:moveTo>
                    <a:pt x="5039895" y="0"/>
                  </a:moveTo>
                  <a:lnTo>
                    <a:pt x="5039895" y="12700"/>
                  </a:lnTo>
                  <a:lnTo>
                    <a:pt x="5094505" y="12700"/>
                  </a:lnTo>
                  <a:lnTo>
                    <a:pt x="5094505" y="2291965"/>
                  </a:lnTo>
                  <a:lnTo>
                    <a:pt x="12700" y="2291965"/>
                  </a:lnTo>
                  <a:lnTo>
                    <a:pt x="12700" y="2237355"/>
                  </a:lnTo>
                  <a:lnTo>
                    <a:pt x="0" y="2237355"/>
                  </a:lnTo>
                  <a:lnTo>
                    <a:pt x="0" y="2304665"/>
                  </a:lnTo>
                  <a:lnTo>
                    <a:pt x="5107205" y="2304665"/>
                  </a:lnTo>
                  <a:lnTo>
                    <a:pt x="5107205" y="0"/>
                  </a:lnTo>
                  <a:close/>
                </a:path>
              </a:pathLst>
            </a:custGeom>
            <a:solidFill>
              <a:srgbClr val="4F8FD1"/>
            </a:solidFill>
            <a:ln>
              <a:noFill/>
            </a:ln>
          </p:spPr>
        </p:sp>
        <p:sp>
          <p:nvSpPr>
            <p:cNvPr id="388" name="Google Shape;388;p15"/>
            <p:cNvSpPr/>
            <p:nvPr/>
          </p:nvSpPr>
          <p:spPr>
            <a:xfrm>
              <a:off x="12700" y="12700"/>
              <a:ext cx="5081805" cy="2279265"/>
            </a:xfrm>
            <a:custGeom>
              <a:rect b="b" l="l" r="r" t="t"/>
              <a:pathLst>
                <a:path extrusionOk="0" h="2279265" w="5081805">
                  <a:moveTo>
                    <a:pt x="0" y="0"/>
                  </a:moveTo>
                  <a:lnTo>
                    <a:pt x="5081805" y="0"/>
                  </a:lnTo>
                  <a:lnTo>
                    <a:pt x="5081805" y="2279265"/>
                  </a:lnTo>
                  <a:lnTo>
                    <a:pt x="0" y="2279265"/>
                  </a:lnTo>
                  <a:close/>
                </a:path>
              </a:pathLst>
            </a:custGeom>
            <a:solidFill>
              <a:srgbClr val="FFFFFF"/>
            </a:solidFill>
            <a:ln>
              <a:noFill/>
            </a:ln>
          </p:spPr>
        </p:sp>
        <p:sp>
          <p:nvSpPr>
            <p:cNvPr id="389" name="Google Shape;389;p15"/>
            <p:cNvSpPr/>
            <p:nvPr/>
          </p:nvSpPr>
          <p:spPr>
            <a:xfrm>
              <a:off x="0" y="0"/>
              <a:ext cx="5107205" cy="2304665"/>
            </a:xfrm>
            <a:custGeom>
              <a:rect b="b" l="l" r="r" t="t"/>
              <a:pathLst>
                <a:path extrusionOk="0" h="2304665" w="5107205">
                  <a:moveTo>
                    <a:pt x="80010" y="2304665"/>
                  </a:moveTo>
                  <a:lnTo>
                    <a:pt x="5107205" y="2304665"/>
                  </a:lnTo>
                  <a:lnTo>
                    <a:pt x="5107205" y="80010"/>
                  </a:lnTo>
                  <a:lnTo>
                    <a:pt x="5107205" y="67310"/>
                  </a:lnTo>
                  <a:lnTo>
                    <a:pt x="5107205" y="0"/>
                  </a:lnTo>
                  <a:lnTo>
                    <a:pt x="0" y="0"/>
                  </a:lnTo>
                  <a:lnTo>
                    <a:pt x="0" y="2304665"/>
                  </a:lnTo>
                  <a:lnTo>
                    <a:pt x="67310" y="2304665"/>
                  </a:lnTo>
                  <a:lnTo>
                    <a:pt x="80010" y="2304665"/>
                  </a:lnTo>
                  <a:close/>
                  <a:moveTo>
                    <a:pt x="12700" y="12700"/>
                  </a:moveTo>
                  <a:lnTo>
                    <a:pt x="5094505" y="12700"/>
                  </a:lnTo>
                  <a:lnTo>
                    <a:pt x="5094505" y="2291965"/>
                  </a:lnTo>
                  <a:lnTo>
                    <a:pt x="12700" y="2291965"/>
                  </a:lnTo>
                  <a:lnTo>
                    <a:pt x="12700" y="12700"/>
                  </a:lnTo>
                  <a:close/>
                </a:path>
              </a:pathLst>
            </a:custGeom>
            <a:solidFill>
              <a:srgbClr val="4F8FD1"/>
            </a:solidFill>
            <a:ln>
              <a:noFill/>
            </a:ln>
          </p:spPr>
        </p:sp>
      </p:grpSp>
      <p:sp>
        <p:nvSpPr>
          <p:cNvPr id="390" name="Google Shape;390;p15"/>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391" name="Google Shape;391;p15"/>
          <p:cNvSpPr/>
          <p:nvPr/>
        </p:nvSpPr>
        <p:spPr>
          <a:xfrm>
            <a:off x="11779826" y="2520966"/>
            <a:ext cx="3340088" cy="4783980"/>
          </a:xfrm>
          <a:custGeom>
            <a:rect b="b" l="l" r="r" t="t"/>
            <a:pathLst>
              <a:path extrusionOk="0" h="4783980" w="3340088">
                <a:moveTo>
                  <a:pt x="0" y="0"/>
                </a:moveTo>
                <a:lnTo>
                  <a:pt x="3340088" y="0"/>
                </a:lnTo>
                <a:lnTo>
                  <a:pt x="3340088" y="4783980"/>
                </a:lnTo>
                <a:lnTo>
                  <a:pt x="0" y="4783980"/>
                </a:lnTo>
                <a:lnTo>
                  <a:pt x="0" y="0"/>
                </a:lnTo>
                <a:close/>
              </a:path>
            </a:pathLst>
          </a:custGeom>
          <a:blipFill rotWithShape="1">
            <a:blip r:embed="rId4">
              <a:alphaModFix/>
            </a:blip>
            <a:stretch>
              <a:fillRect b="0" l="0" r="0" t="0"/>
            </a:stretch>
          </a:blipFill>
          <a:ln>
            <a:noFill/>
          </a:ln>
        </p:spPr>
      </p:sp>
      <p:sp>
        <p:nvSpPr>
          <p:cNvPr id="392" name="Google Shape;392;p15"/>
          <p:cNvSpPr txBox="1"/>
          <p:nvPr/>
        </p:nvSpPr>
        <p:spPr>
          <a:xfrm>
            <a:off x="2014659" y="2291579"/>
            <a:ext cx="8408825" cy="151737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835" u="none" cap="none" strike="noStrike">
                <a:solidFill>
                  <a:srgbClr val="4F8FD1"/>
                </a:solidFill>
                <a:latin typeface="Arial"/>
                <a:ea typeface="Arial"/>
                <a:cs typeface="Arial"/>
                <a:sym typeface="Arial"/>
              </a:rPr>
              <a:t>PROTOCOLO DE ENRUTAMIENTO DE PUERTA DE ENLACE INTERIOR MEJORADO (EIGRP)</a:t>
            </a:r>
            <a:endParaRPr/>
          </a:p>
        </p:txBody>
      </p:sp>
      <p:sp>
        <p:nvSpPr>
          <p:cNvPr id="393" name="Google Shape;393;p15"/>
          <p:cNvSpPr txBox="1"/>
          <p:nvPr/>
        </p:nvSpPr>
        <p:spPr>
          <a:xfrm>
            <a:off x="2014659" y="4329072"/>
            <a:ext cx="9495388" cy="3545184"/>
          </a:xfrm>
          <a:prstGeom prst="rect">
            <a:avLst/>
          </a:prstGeom>
          <a:noFill/>
          <a:ln>
            <a:noFill/>
          </a:ln>
        </p:spPr>
        <p:txBody>
          <a:bodyPr anchorCtr="0" anchor="t" bIns="0" lIns="0" spcFirstLastPara="1" rIns="0" wrap="square" tIns="0">
            <a:spAutoFit/>
          </a:bodyPr>
          <a:lstStyle/>
          <a:p>
            <a:pPr indent="0" lvl="1" marL="0" marR="0" rtl="0" algn="l">
              <a:lnSpc>
                <a:spcPct val="140007"/>
              </a:lnSpc>
              <a:spcBef>
                <a:spcPts val="0"/>
              </a:spcBef>
              <a:spcAft>
                <a:spcPts val="0"/>
              </a:spcAft>
              <a:buNone/>
            </a:pPr>
            <a:r>
              <a:rPr b="0" i="0" lang="en-US" sz="2542" u="none" cap="none" strike="noStrike">
                <a:solidFill>
                  <a:srgbClr val="0E0722"/>
                </a:solidFill>
                <a:latin typeface="Noto Sans"/>
                <a:ea typeface="Noto Sans"/>
                <a:cs typeface="Noto Sans"/>
                <a:sym typeface="Noto Sans"/>
              </a:rPr>
              <a:t>EIGRP es un protocolo de enrutamiento híbrido que proporciona protocolos de enrutamiento, vector de distancia y protocolos de enrutamiento de estado de enlace. El protocolo de enrutamiento completo EIGRP es el protocolo de enrutamiento de puerta de enlace interior mejorado. Enrutará los mismos protocolos que enruta IGRP utilizando las mismas métricas compuestas que IGRP, lo que ayuda a la red a seleccionar el mejor destino de ruta.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97" name="Shape 397"/>
        <p:cNvGrpSpPr/>
        <p:nvPr/>
      </p:nvGrpSpPr>
      <p:grpSpPr>
        <a:xfrm>
          <a:off x="0" y="0"/>
          <a:ext cx="0" cy="0"/>
          <a:chOff x="0" y="0"/>
          <a:chExt cx="0" cy="0"/>
        </a:xfrm>
      </p:grpSpPr>
      <p:sp>
        <p:nvSpPr>
          <p:cNvPr id="398" name="Google Shape;398;p16"/>
          <p:cNvSpPr/>
          <p:nvPr/>
        </p:nvSpPr>
        <p:spPr>
          <a:xfrm rot="-2382261">
            <a:off x="328696" y="2110179"/>
            <a:ext cx="9292029" cy="7196560"/>
          </a:xfrm>
          <a:custGeom>
            <a:rect b="b" l="l" r="r" t="t"/>
            <a:pathLst>
              <a:path extrusionOk="0" h="7196560" w="9292029">
                <a:moveTo>
                  <a:pt x="0" y="0"/>
                </a:moveTo>
                <a:lnTo>
                  <a:pt x="9292029" y="0"/>
                </a:lnTo>
                <a:lnTo>
                  <a:pt x="9292029" y="7196560"/>
                </a:lnTo>
                <a:lnTo>
                  <a:pt x="0" y="7196560"/>
                </a:lnTo>
                <a:lnTo>
                  <a:pt x="0" y="0"/>
                </a:lnTo>
                <a:close/>
              </a:path>
            </a:pathLst>
          </a:custGeom>
          <a:blipFill rotWithShape="1">
            <a:blip r:embed="rId3">
              <a:alphaModFix/>
            </a:blip>
            <a:stretch>
              <a:fillRect b="0" l="0" r="0" t="0"/>
            </a:stretch>
          </a:blipFill>
          <a:ln>
            <a:noFill/>
          </a:ln>
        </p:spPr>
      </p:sp>
      <p:sp>
        <p:nvSpPr>
          <p:cNvPr id="399" name="Google Shape;399;p16"/>
          <p:cNvSpPr/>
          <p:nvPr/>
        </p:nvSpPr>
        <p:spPr>
          <a:xfrm rot="-2382261">
            <a:off x="10455033" y="2110179"/>
            <a:ext cx="9292029" cy="7196560"/>
          </a:xfrm>
          <a:custGeom>
            <a:rect b="b" l="l" r="r" t="t"/>
            <a:pathLst>
              <a:path extrusionOk="0" h="7196560" w="9292029">
                <a:moveTo>
                  <a:pt x="0" y="0"/>
                </a:moveTo>
                <a:lnTo>
                  <a:pt x="9292029" y="0"/>
                </a:lnTo>
                <a:lnTo>
                  <a:pt x="9292029" y="7196560"/>
                </a:lnTo>
                <a:lnTo>
                  <a:pt x="0" y="7196560"/>
                </a:lnTo>
                <a:lnTo>
                  <a:pt x="0" y="0"/>
                </a:lnTo>
                <a:close/>
              </a:path>
            </a:pathLst>
          </a:custGeom>
          <a:blipFill rotWithShape="1">
            <a:blip r:embed="rId3">
              <a:alphaModFix/>
            </a:blip>
            <a:stretch>
              <a:fillRect b="0" l="0" r="0" t="0"/>
            </a:stretch>
          </a:blipFill>
          <a:ln>
            <a:noFill/>
          </a:ln>
        </p:spPr>
      </p:sp>
      <p:grpSp>
        <p:nvGrpSpPr>
          <p:cNvPr id="400" name="Google Shape;400;p16"/>
          <p:cNvGrpSpPr/>
          <p:nvPr/>
        </p:nvGrpSpPr>
        <p:grpSpPr>
          <a:xfrm>
            <a:off x="2948514" y="4573881"/>
            <a:ext cx="2248764" cy="2269155"/>
            <a:chOff x="0" y="0"/>
            <a:chExt cx="812800" cy="820170"/>
          </a:xfrm>
        </p:grpSpPr>
        <p:sp>
          <p:nvSpPr>
            <p:cNvPr id="401" name="Google Shape;401;p1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3" name="Google Shape;403;p16"/>
          <p:cNvGrpSpPr/>
          <p:nvPr/>
        </p:nvGrpSpPr>
        <p:grpSpPr>
          <a:xfrm>
            <a:off x="13344431" y="3740030"/>
            <a:ext cx="2248764" cy="2269155"/>
            <a:chOff x="0" y="0"/>
            <a:chExt cx="812800" cy="820170"/>
          </a:xfrm>
        </p:grpSpPr>
        <p:sp>
          <p:nvSpPr>
            <p:cNvPr id="404" name="Google Shape;404;p1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6" name="Google Shape;406;p16"/>
          <p:cNvGrpSpPr/>
          <p:nvPr/>
        </p:nvGrpSpPr>
        <p:grpSpPr>
          <a:xfrm>
            <a:off x="8450219" y="4242452"/>
            <a:ext cx="2248764" cy="2269155"/>
            <a:chOff x="0" y="0"/>
            <a:chExt cx="812800" cy="820170"/>
          </a:xfrm>
        </p:grpSpPr>
        <p:sp>
          <p:nvSpPr>
            <p:cNvPr id="407" name="Google Shape;407;p1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9" name="Google Shape;409;p16"/>
          <p:cNvSpPr/>
          <p:nvPr/>
        </p:nvSpPr>
        <p:spPr>
          <a:xfrm>
            <a:off x="8816778" y="4630983"/>
            <a:ext cx="1515645" cy="1596944"/>
          </a:xfrm>
          <a:custGeom>
            <a:rect b="b" l="l" r="r" t="t"/>
            <a:pathLst>
              <a:path extrusionOk="0" h="1596944" w="1515645">
                <a:moveTo>
                  <a:pt x="0" y="0"/>
                </a:moveTo>
                <a:lnTo>
                  <a:pt x="1515646" y="0"/>
                </a:lnTo>
                <a:lnTo>
                  <a:pt x="1515646" y="1596945"/>
                </a:lnTo>
                <a:lnTo>
                  <a:pt x="0" y="1596945"/>
                </a:lnTo>
                <a:lnTo>
                  <a:pt x="0" y="0"/>
                </a:lnTo>
                <a:close/>
              </a:path>
            </a:pathLst>
          </a:custGeom>
          <a:blipFill rotWithShape="1">
            <a:blip r:embed="rId4">
              <a:alphaModFix/>
            </a:blip>
            <a:stretch>
              <a:fillRect b="0" l="0" r="0" t="0"/>
            </a:stretch>
          </a:blipFill>
          <a:ln>
            <a:noFill/>
          </a:ln>
        </p:spPr>
      </p:sp>
      <p:grpSp>
        <p:nvGrpSpPr>
          <p:cNvPr id="410" name="Google Shape;410;p16"/>
          <p:cNvGrpSpPr/>
          <p:nvPr/>
        </p:nvGrpSpPr>
        <p:grpSpPr>
          <a:xfrm>
            <a:off x="-1732540" y="-2377986"/>
            <a:ext cx="4769843" cy="4813095"/>
            <a:chOff x="0" y="0"/>
            <a:chExt cx="812800" cy="820170"/>
          </a:xfrm>
        </p:grpSpPr>
        <p:sp>
          <p:nvSpPr>
            <p:cNvPr id="411" name="Google Shape;411;p1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3" name="Google Shape;413;p16"/>
          <p:cNvGrpSpPr/>
          <p:nvPr/>
        </p:nvGrpSpPr>
        <p:grpSpPr>
          <a:xfrm>
            <a:off x="15411633" y="8520448"/>
            <a:ext cx="4769843" cy="4813095"/>
            <a:chOff x="0" y="0"/>
            <a:chExt cx="812800" cy="820170"/>
          </a:xfrm>
        </p:grpSpPr>
        <p:sp>
          <p:nvSpPr>
            <p:cNvPr id="414" name="Google Shape;414;p1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6" name="Google Shape;416;p16"/>
          <p:cNvGrpSpPr/>
          <p:nvPr/>
        </p:nvGrpSpPr>
        <p:grpSpPr>
          <a:xfrm>
            <a:off x="16652506" y="352672"/>
            <a:ext cx="437231" cy="441196"/>
            <a:chOff x="0" y="0"/>
            <a:chExt cx="812800" cy="820170"/>
          </a:xfrm>
        </p:grpSpPr>
        <p:sp>
          <p:nvSpPr>
            <p:cNvPr id="417" name="Google Shape;417;p1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9" name="Google Shape;419;p16"/>
          <p:cNvGrpSpPr/>
          <p:nvPr/>
        </p:nvGrpSpPr>
        <p:grpSpPr>
          <a:xfrm>
            <a:off x="345556" y="8520448"/>
            <a:ext cx="991649" cy="1000641"/>
            <a:chOff x="0" y="0"/>
            <a:chExt cx="812800" cy="820170"/>
          </a:xfrm>
        </p:grpSpPr>
        <p:sp>
          <p:nvSpPr>
            <p:cNvPr id="420" name="Google Shape;420;p1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2" name="Google Shape;422;p16"/>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5">
              <a:alphaModFix/>
            </a:blip>
            <a:stretch>
              <a:fillRect b="0" l="0" r="0" t="0"/>
            </a:stretch>
          </a:blipFill>
          <a:ln>
            <a:noFill/>
          </a:ln>
        </p:spPr>
      </p:sp>
      <p:sp>
        <p:nvSpPr>
          <p:cNvPr id="423" name="Google Shape;423;p16"/>
          <p:cNvSpPr/>
          <p:nvPr/>
        </p:nvSpPr>
        <p:spPr>
          <a:xfrm>
            <a:off x="3171081" y="4975529"/>
            <a:ext cx="1803630" cy="1465859"/>
          </a:xfrm>
          <a:custGeom>
            <a:rect b="b" l="l" r="r" t="t"/>
            <a:pathLst>
              <a:path extrusionOk="0" h="1465859" w="1803630">
                <a:moveTo>
                  <a:pt x="0" y="0"/>
                </a:moveTo>
                <a:lnTo>
                  <a:pt x="1803630" y="0"/>
                </a:lnTo>
                <a:lnTo>
                  <a:pt x="1803630" y="1465860"/>
                </a:lnTo>
                <a:lnTo>
                  <a:pt x="0" y="1465860"/>
                </a:lnTo>
                <a:lnTo>
                  <a:pt x="0" y="0"/>
                </a:lnTo>
                <a:close/>
              </a:path>
            </a:pathLst>
          </a:custGeom>
          <a:blipFill rotWithShape="1">
            <a:blip r:embed="rId6">
              <a:alphaModFix/>
            </a:blip>
            <a:stretch>
              <a:fillRect b="0" l="0" r="0" t="0"/>
            </a:stretch>
          </a:blipFill>
          <a:ln>
            <a:noFill/>
          </a:ln>
        </p:spPr>
      </p:sp>
      <p:sp>
        <p:nvSpPr>
          <p:cNvPr id="424" name="Google Shape;424;p16"/>
          <p:cNvSpPr/>
          <p:nvPr/>
        </p:nvSpPr>
        <p:spPr>
          <a:xfrm>
            <a:off x="13802513" y="4185658"/>
            <a:ext cx="1298534" cy="1522801"/>
          </a:xfrm>
          <a:custGeom>
            <a:rect b="b" l="l" r="r" t="t"/>
            <a:pathLst>
              <a:path extrusionOk="0" h="1522801" w="1298534">
                <a:moveTo>
                  <a:pt x="0" y="0"/>
                </a:moveTo>
                <a:lnTo>
                  <a:pt x="1298534" y="0"/>
                </a:lnTo>
                <a:lnTo>
                  <a:pt x="1298534" y="1522801"/>
                </a:lnTo>
                <a:lnTo>
                  <a:pt x="0" y="1522801"/>
                </a:lnTo>
                <a:lnTo>
                  <a:pt x="0" y="0"/>
                </a:lnTo>
                <a:close/>
              </a:path>
            </a:pathLst>
          </a:custGeom>
          <a:blipFill rotWithShape="1">
            <a:blip r:embed="rId7">
              <a:alphaModFix/>
            </a:blip>
            <a:stretch>
              <a:fillRect b="0" l="0" r="0" t="0"/>
            </a:stretch>
          </a:blipFill>
          <a:ln>
            <a:noFill/>
          </a:ln>
        </p:spPr>
      </p:sp>
      <p:sp>
        <p:nvSpPr>
          <p:cNvPr id="425" name="Google Shape;425;p16"/>
          <p:cNvSpPr txBox="1"/>
          <p:nvPr/>
        </p:nvSpPr>
        <p:spPr>
          <a:xfrm>
            <a:off x="3703110" y="1493982"/>
            <a:ext cx="10813649" cy="95129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455" u="none" cap="none" strike="noStrike">
                <a:solidFill>
                  <a:srgbClr val="FFFFFF"/>
                </a:solidFill>
                <a:latin typeface="Arial"/>
                <a:ea typeface="Arial"/>
                <a:cs typeface="Arial"/>
                <a:sym typeface="Arial"/>
              </a:rPr>
              <a:t>PROPIEDADES:</a:t>
            </a:r>
            <a:endParaRPr/>
          </a:p>
        </p:txBody>
      </p:sp>
      <p:sp>
        <p:nvSpPr>
          <p:cNvPr id="426" name="Google Shape;426;p16"/>
          <p:cNvSpPr txBox="1"/>
          <p:nvPr/>
        </p:nvSpPr>
        <p:spPr>
          <a:xfrm>
            <a:off x="2343522" y="6995436"/>
            <a:ext cx="3458747" cy="780937"/>
          </a:xfrm>
          <a:prstGeom prst="rect">
            <a:avLst/>
          </a:prstGeom>
          <a:noFill/>
          <a:ln>
            <a:noFill/>
          </a:ln>
        </p:spPr>
        <p:txBody>
          <a:bodyPr anchorCtr="0" anchor="t" bIns="0" lIns="0" spcFirstLastPara="1" rIns="0" wrap="square" tIns="0">
            <a:spAutoFit/>
          </a:bodyPr>
          <a:lstStyle/>
          <a:p>
            <a:pPr indent="0" lvl="1" marL="0" marR="0" rtl="0" algn="ctr">
              <a:lnSpc>
                <a:spcPct val="140017"/>
              </a:lnSpc>
              <a:spcBef>
                <a:spcPts val="0"/>
              </a:spcBef>
              <a:spcAft>
                <a:spcPts val="0"/>
              </a:spcAft>
              <a:buNone/>
            </a:pPr>
            <a:r>
              <a:rPr b="0" i="0" lang="en-US" sz="2254" u="none" cap="none" strike="noStrike">
                <a:solidFill>
                  <a:srgbClr val="FFFFFF"/>
                </a:solidFill>
                <a:latin typeface="Noto Sans"/>
                <a:ea typeface="Noto Sans"/>
                <a:cs typeface="Noto Sans"/>
                <a:sym typeface="Noto Sans"/>
              </a:rPr>
              <a:t> DUAL (Diffusing Update Algorithm).</a:t>
            </a:r>
            <a:endParaRPr/>
          </a:p>
        </p:txBody>
      </p:sp>
      <p:sp>
        <p:nvSpPr>
          <p:cNvPr id="427" name="Google Shape;427;p16"/>
          <p:cNvSpPr txBox="1"/>
          <p:nvPr/>
        </p:nvSpPr>
        <p:spPr>
          <a:xfrm>
            <a:off x="7845228" y="6702011"/>
            <a:ext cx="3458747" cy="1581037"/>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0" i="0" lang="en-US" sz="2254" u="none" cap="none" strike="noStrike">
                <a:solidFill>
                  <a:srgbClr val="FFFFFF"/>
                </a:solidFill>
                <a:latin typeface="Noto Sans"/>
                <a:ea typeface="Noto Sans"/>
                <a:cs typeface="Noto Sans"/>
                <a:sym typeface="Noto Sans"/>
              </a:rPr>
              <a:t>Menor tiempo para recalcular rutas. Soporte para VLSM y CIDR.</a:t>
            </a:r>
            <a:endParaRPr/>
          </a:p>
          <a:p>
            <a:pPr indent="0" lvl="0" marL="0" marR="0" rtl="0" algn="ctr">
              <a:lnSpc>
                <a:spcPct val="140017"/>
              </a:lnSpc>
              <a:spcBef>
                <a:spcPts val="0"/>
              </a:spcBef>
              <a:spcAft>
                <a:spcPts val="0"/>
              </a:spcAft>
              <a:buNone/>
            </a:pPr>
            <a:r>
              <a:t/>
            </a:r>
            <a:endParaRPr b="0" i="0" sz="2254" u="none" cap="none" strike="noStrike">
              <a:solidFill>
                <a:srgbClr val="FFFFFF"/>
              </a:solidFill>
              <a:latin typeface="Noto Sans"/>
              <a:ea typeface="Noto Sans"/>
              <a:cs typeface="Noto Sans"/>
              <a:sym typeface="Noto Sans"/>
            </a:endParaRPr>
          </a:p>
        </p:txBody>
      </p:sp>
      <p:sp>
        <p:nvSpPr>
          <p:cNvPr id="428" name="Google Shape;428;p16"/>
          <p:cNvSpPr txBox="1"/>
          <p:nvPr/>
        </p:nvSpPr>
        <p:spPr>
          <a:xfrm>
            <a:off x="12739440" y="6702011"/>
            <a:ext cx="3458747" cy="1180987"/>
          </a:xfrm>
          <a:prstGeom prst="rect">
            <a:avLst/>
          </a:prstGeom>
          <a:noFill/>
          <a:ln>
            <a:noFill/>
          </a:ln>
        </p:spPr>
        <p:txBody>
          <a:bodyPr anchorCtr="0" anchor="t" bIns="0" lIns="0" spcFirstLastPara="1" rIns="0" wrap="square" tIns="0">
            <a:spAutoFit/>
          </a:bodyPr>
          <a:lstStyle/>
          <a:p>
            <a:pPr indent="0" lvl="1" marL="0" marR="0" rtl="0" algn="ctr">
              <a:lnSpc>
                <a:spcPct val="140017"/>
              </a:lnSpc>
              <a:spcBef>
                <a:spcPts val="0"/>
              </a:spcBef>
              <a:spcAft>
                <a:spcPts val="0"/>
              </a:spcAft>
              <a:buNone/>
            </a:pPr>
            <a:r>
              <a:rPr b="0" i="0" lang="en-US" sz="2254" u="none" cap="none" strike="noStrike">
                <a:solidFill>
                  <a:srgbClr val="FFFFFF"/>
                </a:solidFill>
                <a:latin typeface="Noto Sans"/>
                <a:ea typeface="Noto Sans"/>
                <a:cs typeface="Noto Sans"/>
                <a:sym typeface="Noto Sans"/>
              </a:rPr>
              <a:t>Basado en anchos de banda, retardo, fiabilidad, carga y MTU.</a:t>
            </a:r>
            <a:endParaRPr/>
          </a:p>
        </p:txBody>
      </p:sp>
      <p:sp>
        <p:nvSpPr>
          <p:cNvPr id="429" name="Google Shape;429;p16"/>
          <p:cNvSpPr txBox="1"/>
          <p:nvPr/>
        </p:nvSpPr>
        <p:spPr>
          <a:xfrm>
            <a:off x="2931481" y="3946489"/>
            <a:ext cx="2282829" cy="430713"/>
          </a:xfrm>
          <a:prstGeom prst="rect">
            <a:avLst/>
          </a:prstGeom>
          <a:noFill/>
          <a:ln>
            <a:noFill/>
          </a:ln>
        </p:spPr>
        <p:txBody>
          <a:bodyPr anchorCtr="0" anchor="t" bIns="0" lIns="0" spcFirstLastPara="1" rIns="0" wrap="square" tIns="0">
            <a:spAutoFit/>
          </a:bodyPr>
          <a:lstStyle/>
          <a:p>
            <a:pPr indent="0" lvl="1" marL="0" marR="0" rtl="0" algn="ctr">
              <a:lnSpc>
                <a:spcPct val="140007"/>
              </a:lnSpc>
              <a:spcBef>
                <a:spcPts val="0"/>
              </a:spcBef>
              <a:spcAft>
                <a:spcPts val="0"/>
              </a:spcAft>
              <a:buNone/>
            </a:pPr>
            <a:r>
              <a:rPr b="1" i="0" lang="en-US" sz="2542" u="none" cap="none" strike="noStrike">
                <a:solidFill>
                  <a:srgbClr val="FFFFFF"/>
                </a:solidFill>
                <a:latin typeface="Noto Sans"/>
                <a:ea typeface="Noto Sans"/>
                <a:cs typeface="Noto Sans"/>
                <a:sym typeface="Noto Sans"/>
              </a:rPr>
              <a:t>Algoritmo:</a:t>
            </a:r>
            <a:endParaRPr/>
          </a:p>
        </p:txBody>
      </p:sp>
      <p:sp>
        <p:nvSpPr>
          <p:cNvPr id="430" name="Google Shape;430;p16"/>
          <p:cNvSpPr txBox="1"/>
          <p:nvPr/>
        </p:nvSpPr>
        <p:spPr>
          <a:xfrm>
            <a:off x="8433186" y="3135464"/>
            <a:ext cx="2282829" cy="878388"/>
          </a:xfrm>
          <a:prstGeom prst="rect">
            <a:avLst/>
          </a:prstGeom>
          <a:noFill/>
          <a:ln>
            <a:noFill/>
          </a:ln>
        </p:spPr>
        <p:txBody>
          <a:bodyPr anchorCtr="0" anchor="t" bIns="0" lIns="0" spcFirstLastPara="1" rIns="0" wrap="square" tIns="0">
            <a:spAutoFit/>
          </a:bodyPr>
          <a:lstStyle/>
          <a:p>
            <a:pPr indent="0" lvl="1" marL="0" marR="0" rtl="0" algn="ctr">
              <a:lnSpc>
                <a:spcPct val="140007"/>
              </a:lnSpc>
              <a:spcBef>
                <a:spcPts val="0"/>
              </a:spcBef>
              <a:spcAft>
                <a:spcPts val="0"/>
              </a:spcAft>
              <a:buNone/>
            </a:pPr>
            <a:r>
              <a:rPr b="1" i="0" lang="en-US" sz="2542" u="none" cap="none" strike="noStrike">
                <a:solidFill>
                  <a:srgbClr val="FFFFFF"/>
                </a:solidFill>
                <a:latin typeface="Noto Sans"/>
                <a:ea typeface="Noto Sans"/>
                <a:cs typeface="Noto Sans"/>
                <a:sym typeface="Noto Sans"/>
              </a:rPr>
              <a:t>Convergencia rápida:</a:t>
            </a:r>
            <a:endParaRPr/>
          </a:p>
        </p:txBody>
      </p:sp>
      <p:sp>
        <p:nvSpPr>
          <p:cNvPr id="431" name="Google Shape;431;p16"/>
          <p:cNvSpPr txBox="1"/>
          <p:nvPr/>
        </p:nvSpPr>
        <p:spPr>
          <a:xfrm>
            <a:off x="13310366" y="2629645"/>
            <a:ext cx="2282829" cy="878388"/>
          </a:xfrm>
          <a:prstGeom prst="rect">
            <a:avLst/>
          </a:prstGeom>
          <a:noFill/>
          <a:ln>
            <a:noFill/>
          </a:ln>
        </p:spPr>
        <p:txBody>
          <a:bodyPr anchorCtr="0" anchor="t" bIns="0" lIns="0" spcFirstLastPara="1" rIns="0" wrap="square" tIns="0">
            <a:spAutoFit/>
          </a:bodyPr>
          <a:lstStyle/>
          <a:p>
            <a:pPr indent="0" lvl="1" marL="0" marR="0" rtl="0" algn="ctr">
              <a:lnSpc>
                <a:spcPct val="140007"/>
              </a:lnSpc>
              <a:spcBef>
                <a:spcPts val="0"/>
              </a:spcBef>
              <a:spcAft>
                <a:spcPts val="0"/>
              </a:spcAft>
              <a:buNone/>
            </a:pPr>
            <a:r>
              <a:rPr b="1" i="0" lang="en-US" sz="2542" u="none" cap="none" strike="noStrike">
                <a:solidFill>
                  <a:srgbClr val="FFFFFF"/>
                </a:solidFill>
                <a:latin typeface="Noto Sans"/>
                <a:ea typeface="Noto Sans"/>
                <a:cs typeface="Noto Sans"/>
                <a:sym typeface="Noto Sans"/>
              </a:rPr>
              <a:t>Métricas múltiples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35" name="Shape 435"/>
        <p:cNvGrpSpPr/>
        <p:nvPr/>
      </p:nvGrpSpPr>
      <p:grpSpPr>
        <a:xfrm>
          <a:off x="0" y="0"/>
          <a:ext cx="0" cy="0"/>
          <a:chOff x="0" y="0"/>
          <a:chExt cx="0" cy="0"/>
        </a:xfrm>
      </p:grpSpPr>
      <p:grpSp>
        <p:nvGrpSpPr>
          <p:cNvPr id="436" name="Google Shape;436;p17"/>
          <p:cNvGrpSpPr/>
          <p:nvPr/>
        </p:nvGrpSpPr>
        <p:grpSpPr>
          <a:xfrm>
            <a:off x="2538123" y="2061695"/>
            <a:ext cx="13211754" cy="6163610"/>
            <a:chOff x="0" y="0"/>
            <a:chExt cx="4730473" cy="2206882"/>
          </a:xfrm>
        </p:grpSpPr>
        <p:sp>
          <p:nvSpPr>
            <p:cNvPr id="437" name="Google Shape;437;p17"/>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438" name="Google Shape;438;p17"/>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439" name="Google Shape;439;p17"/>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440" name="Google Shape;440;p17"/>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441" name="Google Shape;441;p17"/>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442" name="Google Shape;442;p17"/>
          <p:cNvSpPr/>
          <p:nvPr/>
        </p:nvSpPr>
        <p:spPr>
          <a:xfrm>
            <a:off x="11864425" y="3984427"/>
            <a:ext cx="3216473" cy="3216473"/>
          </a:xfrm>
          <a:custGeom>
            <a:rect b="b" l="l" r="r" t="t"/>
            <a:pathLst>
              <a:path extrusionOk="0" h="3216473" w="3216473">
                <a:moveTo>
                  <a:pt x="0" y="0"/>
                </a:moveTo>
                <a:lnTo>
                  <a:pt x="3216474" y="0"/>
                </a:lnTo>
                <a:lnTo>
                  <a:pt x="3216474" y="3216473"/>
                </a:lnTo>
                <a:lnTo>
                  <a:pt x="0" y="3216473"/>
                </a:lnTo>
                <a:lnTo>
                  <a:pt x="0" y="0"/>
                </a:lnTo>
                <a:close/>
              </a:path>
            </a:pathLst>
          </a:custGeom>
          <a:blipFill rotWithShape="1">
            <a:blip r:embed="rId4">
              <a:alphaModFix/>
            </a:blip>
            <a:stretch>
              <a:fillRect b="0" l="0" r="0" t="0"/>
            </a:stretch>
          </a:blipFill>
          <a:ln>
            <a:noFill/>
          </a:ln>
        </p:spPr>
      </p:sp>
      <p:sp>
        <p:nvSpPr>
          <p:cNvPr id="443" name="Google Shape;443;p17"/>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444" name="Google Shape;444;p17"/>
          <p:cNvSpPr txBox="1"/>
          <p:nvPr/>
        </p:nvSpPr>
        <p:spPr>
          <a:xfrm>
            <a:off x="3238927" y="3378601"/>
            <a:ext cx="8073911" cy="4102684"/>
          </a:xfrm>
          <a:prstGeom prst="rect">
            <a:avLst/>
          </a:prstGeom>
          <a:noFill/>
          <a:ln>
            <a:noFill/>
          </a:ln>
        </p:spPr>
        <p:txBody>
          <a:bodyPr anchorCtr="0" anchor="t" bIns="0" lIns="0" spcFirstLastPara="1" rIns="0" wrap="square" tIns="0">
            <a:spAutoFit/>
          </a:bodyPr>
          <a:lstStyle/>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 router eigrp [ID]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[WILDCARD]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[WILDCARD]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no auto-summary</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exit</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1" i="0" lang="en-US" sz="1977" u="none" cap="none" strike="noStrike">
                <a:solidFill>
                  <a:srgbClr val="0E0722"/>
                </a:solidFill>
                <a:latin typeface="Noto Sans"/>
                <a:ea typeface="Noto Sans"/>
                <a:cs typeface="Noto Sans"/>
                <a:sym typeface="Noto Sans"/>
              </a:rPr>
              <a:t> Ejemplo:</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 router eigrp 100</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192.168.1.0 0.0.0.255</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192.168.2.0 0.0.0.255</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no auto-summary</a:t>
            </a:r>
            <a:endParaRPr/>
          </a:p>
          <a:p>
            <a:pPr indent="0" lvl="1"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48" name="Shape 448"/>
        <p:cNvGrpSpPr/>
        <p:nvPr/>
      </p:nvGrpSpPr>
      <p:grpSpPr>
        <a:xfrm>
          <a:off x="0" y="0"/>
          <a:ext cx="0" cy="0"/>
          <a:chOff x="0" y="0"/>
          <a:chExt cx="0" cy="0"/>
        </a:xfrm>
      </p:grpSpPr>
      <p:sp>
        <p:nvSpPr>
          <p:cNvPr id="449" name="Google Shape;449;p18"/>
          <p:cNvSpPr/>
          <p:nvPr/>
        </p:nvSpPr>
        <p:spPr>
          <a:xfrm>
            <a:off x="-7196273" y="-3921025"/>
            <a:ext cx="16449947" cy="16449947"/>
          </a:xfrm>
          <a:custGeom>
            <a:rect b="b" l="l" r="r" t="t"/>
            <a:pathLst>
              <a:path extrusionOk="0" h="16449947" w="16449947">
                <a:moveTo>
                  <a:pt x="0" y="0"/>
                </a:moveTo>
                <a:lnTo>
                  <a:pt x="16449946" y="0"/>
                </a:lnTo>
                <a:lnTo>
                  <a:pt x="16449946" y="16449946"/>
                </a:lnTo>
                <a:lnTo>
                  <a:pt x="0" y="16449946"/>
                </a:lnTo>
                <a:lnTo>
                  <a:pt x="0" y="0"/>
                </a:lnTo>
                <a:close/>
              </a:path>
            </a:pathLst>
          </a:custGeom>
          <a:blipFill rotWithShape="1">
            <a:blip r:embed="rId3">
              <a:alphaModFix/>
            </a:blip>
            <a:stretch>
              <a:fillRect b="0" l="0" r="0" t="0"/>
            </a:stretch>
          </a:blipFill>
          <a:ln>
            <a:noFill/>
          </a:ln>
        </p:spPr>
      </p:sp>
      <p:grpSp>
        <p:nvGrpSpPr>
          <p:cNvPr id="450" name="Google Shape;450;p18"/>
          <p:cNvGrpSpPr/>
          <p:nvPr/>
        </p:nvGrpSpPr>
        <p:grpSpPr>
          <a:xfrm>
            <a:off x="2551696" y="2129494"/>
            <a:ext cx="9279105" cy="6972893"/>
            <a:chOff x="0" y="0"/>
            <a:chExt cx="3205392" cy="2408729"/>
          </a:xfrm>
        </p:grpSpPr>
        <p:sp>
          <p:nvSpPr>
            <p:cNvPr id="451" name="Google Shape;451;p18"/>
            <p:cNvSpPr/>
            <p:nvPr/>
          </p:nvSpPr>
          <p:spPr>
            <a:xfrm>
              <a:off x="80010" y="80010"/>
              <a:ext cx="3112682" cy="2316019"/>
            </a:xfrm>
            <a:custGeom>
              <a:rect b="b" l="l" r="r" t="t"/>
              <a:pathLst>
                <a:path extrusionOk="0" h="2316019" w="3112682">
                  <a:moveTo>
                    <a:pt x="0" y="2261409"/>
                  </a:moveTo>
                  <a:lnTo>
                    <a:pt x="0" y="2316019"/>
                  </a:lnTo>
                  <a:lnTo>
                    <a:pt x="3112682" y="2316019"/>
                  </a:lnTo>
                  <a:lnTo>
                    <a:pt x="3112682" y="0"/>
                  </a:lnTo>
                  <a:lnTo>
                    <a:pt x="3058072" y="0"/>
                  </a:lnTo>
                  <a:lnTo>
                    <a:pt x="3058072" y="2261409"/>
                  </a:lnTo>
                  <a:close/>
                </a:path>
              </a:pathLst>
            </a:custGeom>
            <a:solidFill>
              <a:srgbClr val="4F8FD1"/>
            </a:solidFill>
            <a:ln>
              <a:noFill/>
            </a:ln>
          </p:spPr>
        </p:sp>
        <p:sp>
          <p:nvSpPr>
            <p:cNvPr id="452" name="Google Shape;452;p18"/>
            <p:cNvSpPr/>
            <p:nvPr/>
          </p:nvSpPr>
          <p:spPr>
            <a:xfrm>
              <a:off x="67310" y="67310"/>
              <a:ext cx="3138082" cy="2341419"/>
            </a:xfrm>
            <a:custGeom>
              <a:rect b="b" l="l" r="r" t="t"/>
              <a:pathLst>
                <a:path extrusionOk="0" h="2341419" w="3138082">
                  <a:moveTo>
                    <a:pt x="3070772" y="0"/>
                  </a:moveTo>
                  <a:lnTo>
                    <a:pt x="3070772" y="12700"/>
                  </a:lnTo>
                  <a:lnTo>
                    <a:pt x="3125382" y="12700"/>
                  </a:lnTo>
                  <a:lnTo>
                    <a:pt x="3125382" y="2328719"/>
                  </a:lnTo>
                  <a:lnTo>
                    <a:pt x="12700" y="2328719"/>
                  </a:lnTo>
                  <a:lnTo>
                    <a:pt x="12700" y="2274109"/>
                  </a:lnTo>
                  <a:lnTo>
                    <a:pt x="0" y="2274109"/>
                  </a:lnTo>
                  <a:lnTo>
                    <a:pt x="0" y="2341419"/>
                  </a:lnTo>
                  <a:lnTo>
                    <a:pt x="3138082" y="2341419"/>
                  </a:lnTo>
                  <a:lnTo>
                    <a:pt x="3138082" y="0"/>
                  </a:lnTo>
                  <a:close/>
                </a:path>
              </a:pathLst>
            </a:custGeom>
            <a:solidFill>
              <a:srgbClr val="4F8FD1"/>
            </a:solidFill>
            <a:ln>
              <a:noFill/>
            </a:ln>
          </p:spPr>
        </p:sp>
        <p:sp>
          <p:nvSpPr>
            <p:cNvPr id="453" name="Google Shape;453;p18"/>
            <p:cNvSpPr/>
            <p:nvPr/>
          </p:nvSpPr>
          <p:spPr>
            <a:xfrm>
              <a:off x="12700" y="12700"/>
              <a:ext cx="3112682" cy="2316019"/>
            </a:xfrm>
            <a:custGeom>
              <a:rect b="b" l="l" r="r" t="t"/>
              <a:pathLst>
                <a:path extrusionOk="0" h="2316019" w="3112682">
                  <a:moveTo>
                    <a:pt x="0" y="0"/>
                  </a:moveTo>
                  <a:lnTo>
                    <a:pt x="3112682" y="0"/>
                  </a:lnTo>
                  <a:lnTo>
                    <a:pt x="3112682" y="2316019"/>
                  </a:lnTo>
                  <a:lnTo>
                    <a:pt x="0" y="2316019"/>
                  </a:lnTo>
                  <a:close/>
                </a:path>
              </a:pathLst>
            </a:custGeom>
            <a:solidFill>
              <a:srgbClr val="FFFFFF"/>
            </a:solidFill>
            <a:ln>
              <a:noFill/>
            </a:ln>
          </p:spPr>
        </p:sp>
        <p:sp>
          <p:nvSpPr>
            <p:cNvPr id="454" name="Google Shape;454;p18"/>
            <p:cNvSpPr/>
            <p:nvPr/>
          </p:nvSpPr>
          <p:spPr>
            <a:xfrm>
              <a:off x="0" y="0"/>
              <a:ext cx="3138082" cy="2341419"/>
            </a:xfrm>
            <a:custGeom>
              <a:rect b="b" l="l" r="r" t="t"/>
              <a:pathLst>
                <a:path extrusionOk="0" h="2341419" w="3138082">
                  <a:moveTo>
                    <a:pt x="80010" y="2341419"/>
                  </a:moveTo>
                  <a:lnTo>
                    <a:pt x="3138082" y="2341419"/>
                  </a:lnTo>
                  <a:lnTo>
                    <a:pt x="3138082" y="80010"/>
                  </a:lnTo>
                  <a:lnTo>
                    <a:pt x="3138082" y="67310"/>
                  </a:lnTo>
                  <a:lnTo>
                    <a:pt x="3138082" y="0"/>
                  </a:lnTo>
                  <a:lnTo>
                    <a:pt x="0" y="0"/>
                  </a:lnTo>
                  <a:lnTo>
                    <a:pt x="0" y="2341419"/>
                  </a:lnTo>
                  <a:lnTo>
                    <a:pt x="67310" y="2341419"/>
                  </a:lnTo>
                  <a:lnTo>
                    <a:pt x="80010" y="2341419"/>
                  </a:lnTo>
                  <a:close/>
                  <a:moveTo>
                    <a:pt x="12700" y="12700"/>
                  </a:moveTo>
                  <a:lnTo>
                    <a:pt x="3125382" y="12700"/>
                  </a:lnTo>
                  <a:lnTo>
                    <a:pt x="3125382" y="2328719"/>
                  </a:lnTo>
                  <a:lnTo>
                    <a:pt x="12700" y="2328719"/>
                  </a:lnTo>
                  <a:lnTo>
                    <a:pt x="12700" y="12700"/>
                  </a:lnTo>
                  <a:close/>
                </a:path>
              </a:pathLst>
            </a:custGeom>
            <a:solidFill>
              <a:srgbClr val="4F8FD1"/>
            </a:solidFill>
            <a:ln>
              <a:noFill/>
            </a:ln>
          </p:spPr>
        </p:sp>
      </p:grpSp>
      <p:grpSp>
        <p:nvGrpSpPr>
          <p:cNvPr id="455" name="Google Shape;455;p18"/>
          <p:cNvGrpSpPr/>
          <p:nvPr/>
        </p:nvGrpSpPr>
        <p:grpSpPr>
          <a:xfrm>
            <a:off x="522309" y="8252905"/>
            <a:ext cx="1698963" cy="1698963"/>
            <a:chOff x="0" y="0"/>
            <a:chExt cx="812800" cy="812800"/>
          </a:xfrm>
        </p:grpSpPr>
        <p:sp>
          <p:nvSpPr>
            <p:cNvPr id="456" name="Google Shape;456;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8" name="Google Shape;458;p18"/>
          <p:cNvSpPr/>
          <p:nvPr/>
        </p:nvSpPr>
        <p:spPr>
          <a:xfrm flipH="1">
            <a:off x="875302" y="8622034"/>
            <a:ext cx="992977" cy="960706"/>
          </a:xfrm>
          <a:custGeom>
            <a:rect b="b" l="l" r="r" t="t"/>
            <a:pathLst>
              <a:path extrusionOk="0" h="960706" w="992977">
                <a:moveTo>
                  <a:pt x="992977" y="0"/>
                </a:moveTo>
                <a:lnTo>
                  <a:pt x="0" y="0"/>
                </a:lnTo>
                <a:lnTo>
                  <a:pt x="0" y="960705"/>
                </a:lnTo>
                <a:lnTo>
                  <a:pt x="992977" y="960705"/>
                </a:lnTo>
                <a:lnTo>
                  <a:pt x="992977" y="0"/>
                </a:lnTo>
                <a:close/>
              </a:path>
            </a:pathLst>
          </a:custGeom>
          <a:blipFill rotWithShape="1">
            <a:blip r:embed="rId4">
              <a:alphaModFix/>
            </a:blip>
            <a:stretch>
              <a:fillRect b="0" l="0" r="0" t="0"/>
            </a:stretch>
          </a:blipFill>
          <a:ln>
            <a:noFill/>
          </a:ln>
        </p:spPr>
      </p:sp>
      <p:sp>
        <p:nvSpPr>
          <p:cNvPr id="459" name="Google Shape;459;p18"/>
          <p:cNvSpPr/>
          <p:nvPr/>
        </p:nvSpPr>
        <p:spPr>
          <a:xfrm>
            <a:off x="10460885" y="664202"/>
            <a:ext cx="7535798" cy="4267146"/>
          </a:xfrm>
          <a:custGeom>
            <a:rect b="b" l="l" r="r" t="t"/>
            <a:pathLst>
              <a:path extrusionOk="0" h="4267146" w="7535798">
                <a:moveTo>
                  <a:pt x="0" y="0"/>
                </a:moveTo>
                <a:lnTo>
                  <a:pt x="7535798" y="0"/>
                </a:lnTo>
                <a:lnTo>
                  <a:pt x="7535798" y="4267145"/>
                </a:lnTo>
                <a:lnTo>
                  <a:pt x="0" y="4267145"/>
                </a:lnTo>
                <a:lnTo>
                  <a:pt x="0" y="0"/>
                </a:lnTo>
                <a:close/>
              </a:path>
            </a:pathLst>
          </a:custGeom>
          <a:blipFill rotWithShape="1">
            <a:blip r:embed="rId5">
              <a:alphaModFix/>
            </a:blip>
            <a:stretch>
              <a:fillRect b="0" l="0" r="0" t="0"/>
            </a:stretch>
          </a:blipFill>
          <a:ln>
            <a:noFill/>
          </a:ln>
        </p:spPr>
      </p:sp>
      <p:sp>
        <p:nvSpPr>
          <p:cNvPr id="460" name="Google Shape;460;p18"/>
          <p:cNvSpPr/>
          <p:nvPr/>
        </p:nvSpPr>
        <p:spPr>
          <a:xfrm>
            <a:off x="12273174" y="4931347"/>
            <a:ext cx="3911221" cy="4651392"/>
          </a:xfrm>
          <a:custGeom>
            <a:rect b="b" l="l" r="r" t="t"/>
            <a:pathLst>
              <a:path extrusionOk="0" h="4651392" w="3911221">
                <a:moveTo>
                  <a:pt x="0" y="0"/>
                </a:moveTo>
                <a:lnTo>
                  <a:pt x="3911221" y="0"/>
                </a:lnTo>
                <a:lnTo>
                  <a:pt x="3911221" y="4651392"/>
                </a:lnTo>
                <a:lnTo>
                  <a:pt x="0" y="4651392"/>
                </a:lnTo>
                <a:lnTo>
                  <a:pt x="0" y="0"/>
                </a:lnTo>
                <a:close/>
              </a:path>
            </a:pathLst>
          </a:custGeom>
          <a:blipFill rotWithShape="1">
            <a:blip r:embed="rId6">
              <a:alphaModFix/>
            </a:blip>
            <a:stretch>
              <a:fillRect b="0" l="0" r="0" t="0"/>
            </a:stretch>
          </a:blipFill>
          <a:ln>
            <a:noFill/>
          </a:ln>
        </p:spPr>
      </p:sp>
      <p:sp>
        <p:nvSpPr>
          <p:cNvPr id="461" name="Google Shape;461;p18"/>
          <p:cNvSpPr txBox="1"/>
          <p:nvPr/>
        </p:nvSpPr>
        <p:spPr>
          <a:xfrm>
            <a:off x="3362282" y="4031727"/>
            <a:ext cx="7098603" cy="4316542"/>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0" i="0" lang="en-US" sz="2248" u="none" cap="none" strike="noStrike">
                <a:solidFill>
                  <a:srgbClr val="2D659F"/>
                </a:solidFill>
                <a:latin typeface="Noto Sans"/>
                <a:ea typeface="Noto Sans"/>
                <a:cs typeface="Noto Sans"/>
                <a:sym typeface="Noto Sans"/>
              </a:rPr>
              <a:t>BGP es el último protocolo de enrutamiento de Internet, que se clasifica como DPVP (protocolo de vector de ruta a distancia). La forma completa de BGP es el protocolo Border Gateway.</a:t>
            </a:r>
            <a:endParaRPr/>
          </a:p>
          <a:p>
            <a:pPr indent="0" lvl="0" marL="0" marR="0" rtl="0" algn="l">
              <a:lnSpc>
                <a:spcPct val="140035"/>
              </a:lnSpc>
              <a:spcBef>
                <a:spcPts val="0"/>
              </a:spcBef>
              <a:spcAft>
                <a:spcPts val="0"/>
              </a:spcAft>
              <a:buNone/>
            </a:pPr>
            <a:r>
              <a:rPr b="0" i="0" lang="en-US" sz="2248" u="none" cap="none" strike="noStrike">
                <a:solidFill>
                  <a:srgbClr val="2D659F"/>
                </a:solidFill>
                <a:latin typeface="Noto Sans"/>
                <a:ea typeface="Noto Sans"/>
                <a:cs typeface="Noto Sans"/>
                <a:sym typeface="Noto Sans"/>
              </a:rPr>
              <a:t>Este tipo de protocolo de enrutamiento envía datos actualizados de la tabla de enrutadores cuando se realizan cambios. Por lo tanto, no hay descubrimiento automático de cambios de topología, lo que significa que el usuario debe configurar BGP manualmente.</a:t>
            </a:r>
            <a:endParaRPr/>
          </a:p>
          <a:p>
            <a:pPr indent="0" lvl="1" marL="0" marR="0" rtl="0" algn="l">
              <a:lnSpc>
                <a:spcPct val="140035"/>
              </a:lnSpc>
              <a:spcBef>
                <a:spcPts val="0"/>
              </a:spcBef>
              <a:spcAft>
                <a:spcPts val="0"/>
              </a:spcAft>
              <a:buNone/>
            </a:pPr>
            <a:r>
              <a:t/>
            </a:r>
            <a:endParaRPr b="0" i="0" sz="2248" u="none" cap="none" strike="noStrike">
              <a:solidFill>
                <a:srgbClr val="2D659F"/>
              </a:solidFill>
              <a:latin typeface="Noto Sans"/>
              <a:ea typeface="Noto Sans"/>
              <a:cs typeface="Noto Sans"/>
              <a:sym typeface="Noto Sans"/>
            </a:endParaRPr>
          </a:p>
        </p:txBody>
      </p:sp>
      <p:sp>
        <p:nvSpPr>
          <p:cNvPr id="462" name="Google Shape;462;p18"/>
          <p:cNvSpPr txBox="1"/>
          <p:nvPr/>
        </p:nvSpPr>
        <p:spPr>
          <a:xfrm>
            <a:off x="3172071" y="2740624"/>
            <a:ext cx="7479025" cy="92103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95" u="none" cap="none" strike="noStrike">
                <a:solidFill>
                  <a:srgbClr val="4F8FD1"/>
                </a:solidFill>
                <a:latin typeface="Arial"/>
                <a:ea typeface="Arial"/>
                <a:cs typeface="Arial"/>
                <a:sym typeface="Arial"/>
              </a:rPr>
              <a:t>PROTOCOLO DE PUERTA DE ENLACE FRONTERIZA (BGP)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66" name="Shape 466"/>
        <p:cNvGrpSpPr/>
        <p:nvPr/>
      </p:nvGrpSpPr>
      <p:grpSpPr>
        <a:xfrm>
          <a:off x="0" y="0"/>
          <a:ext cx="0" cy="0"/>
          <a:chOff x="0" y="0"/>
          <a:chExt cx="0" cy="0"/>
        </a:xfrm>
      </p:grpSpPr>
      <p:grpSp>
        <p:nvGrpSpPr>
          <p:cNvPr id="467" name="Google Shape;467;p19"/>
          <p:cNvGrpSpPr/>
          <p:nvPr/>
        </p:nvGrpSpPr>
        <p:grpSpPr>
          <a:xfrm>
            <a:off x="2538123" y="2061695"/>
            <a:ext cx="13211754" cy="6163610"/>
            <a:chOff x="0" y="0"/>
            <a:chExt cx="4730473" cy="2206882"/>
          </a:xfrm>
        </p:grpSpPr>
        <p:sp>
          <p:nvSpPr>
            <p:cNvPr id="468" name="Google Shape;468;p19"/>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469" name="Google Shape;469;p19"/>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470" name="Google Shape;470;p19"/>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471" name="Google Shape;471;p19"/>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472" name="Google Shape;472;p19"/>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473" name="Google Shape;473;p19"/>
          <p:cNvSpPr/>
          <p:nvPr/>
        </p:nvSpPr>
        <p:spPr>
          <a:xfrm>
            <a:off x="11461418" y="3416701"/>
            <a:ext cx="3426085" cy="3761483"/>
          </a:xfrm>
          <a:custGeom>
            <a:rect b="b" l="l" r="r" t="t"/>
            <a:pathLst>
              <a:path extrusionOk="0" h="3761483" w="3426085">
                <a:moveTo>
                  <a:pt x="0" y="0"/>
                </a:moveTo>
                <a:lnTo>
                  <a:pt x="3426084" y="0"/>
                </a:lnTo>
                <a:lnTo>
                  <a:pt x="3426084" y="3761483"/>
                </a:lnTo>
                <a:lnTo>
                  <a:pt x="0" y="3761483"/>
                </a:lnTo>
                <a:lnTo>
                  <a:pt x="0" y="0"/>
                </a:lnTo>
                <a:close/>
              </a:path>
            </a:pathLst>
          </a:custGeom>
          <a:blipFill rotWithShape="1">
            <a:blip r:embed="rId4">
              <a:alphaModFix/>
            </a:blip>
            <a:stretch>
              <a:fillRect b="0" l="0" r="0" t="0"/>
            </a:stretch>
          </a:blipFill>
          <a:ln>
            <a:noFill/>
          </a:ln>
        </p:spPr>
      </p:sp>
      <p:sp>
        <p:nvSpPr>
          <p:cNvPr id="474" name="Google Shape;474;p19"/>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475" name="Google Shape;475;p19"/>
          <p:cNvSpPr txBox="1"/>
          <p:nvPr/>
        </p:nvSpPr>
        <p:spPr>
          <a:xfrm>
            <a:off x="3238927" y="3378601"/>
            <a:ext cx="6022865" cy="3416884"/>
          </a:xfrm>
          <a:prstGeom prst="rect">
            <a:avLst/>
          </a:prstGeom>
          <a:noFill/>
          <a:ln>
            <a:noFill/>
          </a:ln>
        </p:spPr>
        <p:txBody>
          <a:bodyPr anchorCtr="0" anchor="t" bIns="0" lIns="0" spcFirstLastPara="1" rIns="0" wrap="square" tIns="0">
            <a:spAutoFit/>
          </a:bodyPr>
          <a:lstStyle/>
          <a:p>
            <a:pPr indent="0" lvl="0" marL="0" marR="0" rtl="0" algn="l">
              <a:lnSpc>
                <a:spcPct val="139959"/>
              </a:lnSpc>
              <a:spcBef>
                <a:spcPts val="0"/>
              </a:spcBef>
              <a:spcAft>
                <a:spcPts val="0"/>
              </a:spcAft>
              <a:buNone/>
            </a:pPr>
            <a:r>
              <a:rPr b="1" i="0" lang="en-US" sz="1977" u="none" cap="none" strike="noStrike">
                <a:solidFill>
                  <a:srgbClr val="0E0722"/>
                </a:solidFill>
                <a:latin typeface="Noto Sans"/>
                <a:ea typeface="Noto Sans"/>
                <a:cs typeface="Noto Sans"/>
                <a:sym typeface="Noto Sans"/>
              </a:rPr>
              <a:t>Ejemplo:</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configure terminal</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Configure el AS local y establezca la vecindad BGP</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 bgp 100</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neighbor 192.168.1.2 remote-as 200</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Anunciar una red específica</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network 192.168.1.0 mask 255.255.255.0</a:t>
            </a:r>
            <a:endParaRPr/>
          </a:p>
          <a:p>
            <a:pPr indent="0" lvl="1"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79" name="Shape 479"/>
        <p:cNvGrpSpPr/>
        <p:nvPr/>
      </p:nvGrpSpPr>
      <p:grpSpPr>
        <a:xfrm>
          <a:off x="0" y="0"/>
          <a:ext cx="0" cy="0"/>
          <a:chOff x="0" y="0"/>
          <a:chExt cx="0" cy="0"/>
        </a:xfrm>
      </p:grpSpPr>
      <p:sp>
        <p:nvSpPr>
          <p:cNvPr id="480" name="Google Shape;480;p20"/>
          <p:cNvSpPr txBox="1"/>
          <p:nvPr/>
        </p:nvSpPr>
        <p:spPr>
          <a:xfrm>
            <a:off x="2463404" y="1574368"/>
            <a:ext cx="10242323" cy="9472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455" u="none" cap="none" strike="noStrike">
                <a:solidFill>
                  <a:srgbClr val="FFFFFF"/>
                </a:solidFill>
                <a:latin typeface="Arial"/>
                <a:ea typeface="Arial"/>
                <a:cs typeface="Arial"/>
                <a:sym typeface="Arial"/>
              </a:rPr>
              <a:t>TABLA COMPARATIVA</a:t>
            </a:r>
            <a:endParaRPr/>
          </a:p>
        </p:txBody>
      </p:sp>
      <p:grpSp>
        <p:nvGrpSpPr>
          <p:cNvPr id="481" name="Google Shape;481;p20"/>
          <p:cNvGrpSpPr/>
          <p:nvPr/>
        </p:nvGrpSpPr>
        <p:grpSpPr>
          <a:xfrm>
            <a:off x="10423349" y="6406243"/>
            <a:ext cx="12549976" cy="12549976"/>
            <a:chOff x="0" y="0"/>
            <a:chExt cx="812800" cy="812800"/>
          </a:xfrm>
        </p:grpSpPr>
        <p:sp>
          <p:nvSpPr>
            <p:cNvPr id="482" name="Google Shape;482;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4" name="Google Shape;484;p20"/>
          <p:cNvGrpSpPr/>
          <p:nvPr/>
        </p:nvGrpSpPr>
        <p:grpSpPr>
          <a:xfrm>
            <a:off x="-1843573" y="-2585655"/>
            <a:ext cx="5462763" cy="5462763"/>
            <a:chOff x="0" y="0"/>
            <a:chExt cx="812800" cy="812800"/>
          </a:xfrm>
        </p:grpSpPr>
        <p:sp>
          <p:nvSpPr>
            <p:cNvPr id="485" name="Google Shape;485;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87" name="Google Shape;487;p20"/>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488" name="Google Shape;488;p20"/>
          <p:cNvSpPr/>
          <p:nvPr/>
        </p:nvSpPr>
        <p:spPr>
          <a:xfrm>
            <a:off x="3196708" y="2657107"/>
            <a:ext cx="8236424" cy="5557265"/>
          </a:xfrm>
          <a:custGeom>
            <a:rect b="b" l="l" r="r" t="t"/>
            <a:pathLst>
              <a:path extrusionOk="0" h="5557265" w="8236424">
                <a:moveTo>
                  <a:pt x="0" y="0"/>
                </a:moveTo>
                <a:lnTo>
                  <a:pt x="8236424" y="0"/>
                </a:lnTo>
                <a:lnTo>
                  <a:pt x="8236424" y="5557264"/>
                </a:lnTo>
                <a:lnTo>
                  <a:pt x="0" y="5557264"/>
                </a:lnTo>
                <a:lnTo>
                  <a:pt x="0" y="0"/>
                </a:lnTo>
                <a:close/>
              </a:path>
            </a:pathLst>
          </a:custGeom>
          <a:blipFill rotWithShape="1">
            <a:blip r:embed="rId4">
              <a:alphaModFix/>
            </a:blip>
            <a:stretch>
              <a:fillRect b="0" l="0" r="0" t="0"/>
            </a:stretch>
          </a:blipFill>
          <a:ln>
            <a:noFill/>
          </a:ln>
        </p:spPr>
      </p:sp>
      <p:sp>
        <p:nvSpPr>
          <p:cNvPr id="489" name="Google Shape;489;p20"/>
          <p:cNvSpPr/>
          <p:nvPr/>
        </p:nvSpPr>
        <p:spPr>
          <a:xfrm>
            <a:off x="11433132" y="3608520"/>
            <a:ext cx="5265205" cy="5881921"/>
          </a:xfrm>
          <a:custGeom>
            <a:rect b="b" l="l" r="r" t="t"/>
            <a:pathLst>
              <a:path extrusionOk="0" h="5881921" w="5265205">
                <a:moveTo>
                  <a:pt x="0" y="0"/>
                </a:moveTo>
                <a:lnTo>
                  <a:pt x="5265205" y="0"/>
                </a:lnTo>
                <a:lnTo>
                  <a:pt x="5265205" y="5881920"/>
                </a:lnTo>
                <a:lnTo>
                  <a:pt x="0" y="5881920"/>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93" name="Shape 493"/>
        <p:cNvGrpSpPr/>
        <p:nvPr/>
      </p:nvGrpSpPr>
      <p:grpSpPr>
        <a:xfrm>
          <a:off x="0" y="0"/>
          <a:ext cx="0" cy="0"/>
          <a:chOff x="0" y="0"/>
          <a:chExt cx="0" cy="0"/>
        </a:xfrm>
      </p:grpSpPr>
      <p:sp>
        <p:nvSpPr>
          <p:cNvPr id="494" name="Google Shape;494;p21"/>
          <p:cNvSpPr/>
          <p:nvPr/>
        </p:nvSpPr>
        <p:spPr>
          <a:xfrm>
            <a:off x="9831790" y="-3825628"/>
            <a:ext cx="16449947" cy="16449947"/>
          </a:xfrm>
          <a:custGeom>
            <a:rect b="b" l="l" r="r" t="t"/>
            <a:pathLst>
              <a:path extrusionOk="0" h="16449947" w="16449947">
                <a:moveTo>
                  <a:pt x="0" y="0"/>
                </a:moveTo>
                <a:lnTo>
                  <a:pt x="16449947" y="0"/>
                </a:lnTo>
                <a:lnTo>
                  <a:pt x="16449947" y="16449947"/>
                </a:lnTo>
                <a:lnTo>
                  <a:pt x="0" y="16449947"/>
                </a:lnTo>
                <a:lnTo>
                  <a:pt x="0" y="0"/>
                </a:lnTo>
                <a:close/>
              </a:path>
            </a:pathLst>
          </a:custGeom>
          <a:blipFill rotWithShape="1">
            <a:blip r:embed="rId3">
              <a:alphaModFix/>
            </a:blip>
            <a:stretch>
              <a:fillRect b="0" l="0" r="0" t="0"/>
            </a:stretch>
          </a:blipFill>
          <a:ln>
            <a:noFill/>
          </a:ln>
        </p:spPr>
      </p:sp>
      <p:grpSp>
        <p:nvGrpSpPr>
          <p:cNvPr id="495" name="Google Shape;495;p21"/>
          <p:cNvGrpSpPr/>
          <p:nvPr/>
        </p:nvGrpSpPr>
        <p:grpSpPr>
          <a:xfrm>
            <a:off x="3793074" y="1649141"/>
            <a:ext cx="12077432" cy="6972893"/>
            <a:chOff x="0" y="0"/>
            <a:chExt cx="4172051" cy="2408729"/>
          </a:xfrm>
        </p:grpSpPr>
        <p:sp>
          <p:nvSpPr>
            <p:cNvPr id="496" name="Google Shape;496;p21"/>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497" name="Google Shape;497;p21"/>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498" name="Google Shape;498;p21"/>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499" name="Google Shape;499;p21"/>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4F8FD1"/>
            </a:solidFill>
            <a:ln>
              <a:noFill/>
            </a:ln>
          </p:spPr>
        </p:sp>
      </p:grpSp>
      <p:grpSp>
        <p:nvGrpSpPr>
          <p:cNvPr id="500" name="Google Shape;500;p21"/>
          <p:cNvGrpSpPr/>
          <p:nvPr/>
        </p:nvGrpSpPr>
        <p:grpSpPr>
          <a:xfrm>
            <a:off x="15976704" y="8252905"/>
            <a:ext cx="1698963" cy="1698963"/>
            <a:chOff x="0" y="0"/>
            <a:chExt cx="812800" cy="812800"/>
          </a:xfrm>
        </p:grpSpPr>
        <p:sp>
          <p:nvSpPr>
            <p:cNvPr id="501" name="Google Shape;50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3" name="Google Shape;503;p21"/>
          <p:cNvSpPr/>
          <p:nvPr/>
        </p:nvSpPr>
        <p:spPr>
          <a:xfrm>
            <a:off x="16427156" y="8622034"/>
            <a:ext cx="992977" cy="960706"/>
          </a:xfrm>
          <a:custGeom>
            <a:rect b="b" l="l" r="r" t="t"/>
            <a:pathLst>
              <a:path extrusionOk="0" h="960706" w="992977">
                <a:moveTo>
                  <a:pt x="0" y="0"/>
                </a:moveTo>
                <a:lnTo>
                  <a:pt x="992978" y="0"/>
                </a:lnTo>
                <a:lnTo>
                  <a:pt x="992978" y="960705"/>
                </a:lnTo>
                <a:lnTo>
                  <a:pt x="0" y="960705"/>
                </a:lnTo>
                <a:lnTo>
                  <a:pt x="0" y="0"/>
                </a:lnTo>
                <a:close/>
              </a:path>
            </a:pathLst>
          </a:custGeom>
          <a:blipFill rotWithShape="1">
            <a:blip r:embed="rId4">
              <a:alphaModFix/>
            </a:blip>
            <a:stretch>
              <a:fillRect b="0" l="0" r="0" t="0"/>
            </a:stretch>
          </a:blipFill>
          <a:ln>
            <a:noFill/>
          </a:ln>
        </p:spPr>
      </p:sp>
      <p:sp>
        <p:nvSpPr>
          <p:cNvPr id="504" name="Google Shape;504;p21"/>
          <p:cNvSpPr txBox="1"/>
          <p:nvPr/>
        </p:nvSpPr>
        <p:spPr>
          <a:xfrm>
            <a:off x="4708497" y="3340617"/>
            <a:ext cx="10458330" cy="4554957"/>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None/>
            </a:pPr>
            <a:r>
              <a:rPr b="0" i="0" lang="en-US" sz="2171" u="none" cap="none" strike="noStrike">
                <a:solidFill>
                  <a:srgbClr val="2D659F"/>
                </a:solidFill>
                <a:latin typeface="Noto Sans"/>
                <a:ea typeface="Noto Sans"/>
                <a:cs typeface="Noto Sans"/>
                <a:sym typeface="Noto Sans"/>
              </a:rPr>
              <a:t>La autenticación en protocolos de ruteo dinámico permite validar que la información de rutas proviene de dispositivos autorizados, evitando ataques como el envenenamiento de rutas.</a:t>
            </a:r>
            <a:endParaRPr/>
          </a:p>
          <a:p>
            <a:pPr indent="0" lvl="0" marL="0" marR="0" rtl="0" algn="l">
              <a:lnSpc>
                <a:spcPct val="139981"/>
              </a:lnSpc>
              <a:spcBef>
                <a:spcPts val="0"/>
              </a:spcBef>
              <a:spcAft>
                <a:spcPts val="0"/>
              </a:spcAft>
              <a:buNone/>
            </a:pPr>
            <a:r>
              <a:rPr b="0" i="0" lang="en-US" sz="2171" u="none" cap="none" strike="noStrike">
                <a:solidFill>
                  <a:srgbClr val="2D659F"/>
                </a:solidFill>
                <a:latin typeface="Noto Sans"/>
                <a:ea typeface="Noto Sans"/>
                <a:cs typeface="Noto Sans"/>
                <a:sym typeface="Noto Sans"/>
              </a:rPr>
              <a:t>Se pueden usar métodos como autenticación simple (contraseña en texto plano) o </a:t>
            </a:r>
            <a:r>
              <a:rPr b="1" i="0" lang="en-US" sz="2171" u="none" cap="none" strike="noStrike">
                <a:solidFill>
                  <a:srgbClr val="2D659F"/>
                </a:solidFill>
                <a:latin typeface="Noto Sans"/>
                <a:ea typeface="Noto Sans"/>
                <a:cs typeface="Noto Sans"/>
                <a:sym typeface="Noto Sans"/>
              </a:rPr>
              <a:t>MD5</a:t>
            </a:r>
            <a:r>
              <a:rPr b="0" i="0" lang="en-US" sz="2171" u="none" cap="none" strike="noStrike">
                <a:solidFill>
                  <a:srgbClr val="2D659F"/>
                </a:solidFill>
                <a:latin typeface="Noto Sans"/>
                <a:ea typeface="Noto Sans"/>
                <a:cs typeface="Noto Sans"/>
                <a:sym typeface="Noto Sans"/>
              </a:rPr>
              <a:t>, que ofrece mayor seguridad al usar funciones hash. Protocolos como </a:t>
            </a:r>
            <a:r>
              <a:rPr b="1" i="0" lang="en-US" sz="2171" u="none" cap="none" strike="noStrike">
                <a:solidFill>
                  <a:srgbClr val="2D659F"/>
                </a:solidFill>
                <a:latin typeface="Noto Sans"/>
                <a:ea typeface="Noto Sans"/>
                <a:cs typeface="Noto Sans"/>
                <a:sym typeface="Noto Sans"/>
              </a:rPr>
              <a:t>OSPF, RIP y EIGRP</a:t>
            </a:r>
            <a:r>
              <a:rPr b="0" i="0" lang="en-US" sz="2171" u="none" cap="none" strike="noStrike">
                <a:solidFill>
                  <a:srgbClr val="2D659F"/>
                </a:solidFill>
                <a:latin typeface="Noto Sans"/>
                <a:ea typeface="Noto Sans"/>
                <a:cs typeface="Noto Sans"/>
                <a:sym typeface="Noto Sans"/>
              </a:rPr>
              <a:t> soportan autenticación.</a:t>
            </a:r>
            <a:endParaRPr/>
          </a:p>
          <a:p>
            <a:pPr indent="0" lvl="0" marL="0" marR="0" rtl="0" algn="l">
              <a:lnSpc>
                <a:spcPct val="139981"/>
              </a:lnSpc>
              <a:spcBef>
                <a:spcPts val="0"/>
              </a:spcBef>
              <a:spcAft>
                <a:spcPts val="0"/>
              </a:spcAft>
              <a:buNone/>
            </a:pPr>
            <a:r>
              <a:rPr b="0" i="0" lang="en-US" sz="2171" u="none" cap="none" strike="noStrike">
                <a:solidFill>
                  <a:srgbClr val="2D659F"/>
                </a:solidFill>
                <a:latin typeface="Noto Sans"/>
                <a:ea typeface="Noto Sans"/>
                <a:cs typeface="Noto Sans"/>
                <a:sym typeface="Noto Sans"/>
              </a:rPr>
              <a:t>En OSPF, se puede configurar autenticación por área, asegurando que todos los routers compartan la misma clave y método. Esto evita que routers no autorizados participen en el ruteo.</a:t>
            </a:r>
            <a:endParaRPr/>
          </a:p>
          <a:p>
            <a:pPr indent="0" lvl="0" marL="0" marR="0" rtl="0" algn="l">
              <a:lnSpc>
                <a:spcPct val="139981"/>
              </a:lnSpc>
              <a:spcBef>
                <a:spcPts val="0"/>
              </a:spcBef>
              <a:spcAft>
                <a:spcPts val="0"/>
              </a:spcAft>
              <a:buNone/>
            </a:pPr>
            <a:r>
              <a:rPr b="0" i="0" lang="en-US" sz="2171" u="none" cap="none" strike="noStrike">
                <a:solidFill>
                  <a:srgbClr val="2D659F"/>
                </a:solidFill>
                <a:latin typeface="Noto Sans"/>
                <a:ea typeface="Noto Sans"/>
                <a:cs typeface="Noto Sans"/>
                <a:sym typeface="Noto Sans"/>
              </a:rPr>
              <a:t>Implementar autenticación mejora la integridad de la red y es una buena práctica para entornos medianos o grandes donde la seguridad es clave.</a:t>
            </a:r>
            <a:endParaRPr/>
          </a:p>
          <a:p>
            <a:pPr indent="0" lvl="1" marL="0" marR="0" rtl="0" algn="l">
              <a:lnSpc>
                <a:spcPct val="139981"/>
              </a:lnSpc>
              <a:spcBef>
                <a:spcPts val="0"/>
              </a:spcBef>
              <a:spcAft>
                <a:spcPts val="0"/>
              </a:spcAft>
              <a:buNone/>
            </a:pPr>
            <a:r>
              <a:t/>
            </a:r>
            <a:endParaRPr b="0" i="0" sz="2171" u="none" cap="none" strike="noStrike">
              <a:solidFill>
                <a:srgbClr val="2D659F"/>
              </a:solidFill>
              <a:latin typeface="Noto Sans"/>
              <a:ea typeface="Noto Sans"/>
              <a:cs typeface="Noto Sans"/>
              <a:sym typeface="Noto Sans"/>
            </a:endParaRPr>
          </a:p>
        </p:txBody>
      </p:sp>
      <p:sp>
        <p:nvSpPr>
          <p:cNvPr id="505" name="Google Shape;505;p21"/>
          <p:cNvSpPr/>
          <p:nvPr/>
        </p:nvSpPr>
        <p:spPr>
          <a:xfrm>
            <a:off x="793884" y="5637146"/>
            <a:ext cx="3735150" cy="4673159"/>
          </a:xfrm>
          <a:custGeom>
            <a:rect b="b" l="l" r="r" t="t"/>
            <a:pathLst>
              <a:path extrusionOk="0" h="4673159" w="3735150">
                <a:moveTo>
                  <a:pt x="0" y="0"/>
                </a:moveTo>
                <a:lnTo>
                  <a:pt x="3735150" y="0"/>
                </a:lnTo>
                <a:lnTo>
                  <a:pt x="3735150" y="4673159"/>
                </a:lnTo>
                <a:lnTo>
                  <a:pt x="0" y="4673159"/>
                </a:lnTo>
                <a:lnTo>
                  <a:pt x="0" y="0"/>
                </a:lnTo>
                <a:close/>
              </a:path>
            </a:pathLst>
          </a:custGeom>
          <a:blipFill rotWithShape="1">
            <a:blip r:embed="rId5">
              <a:alphaModFix/>
            </a:blip>
            <a:stretch>
              <a:fillRect b="0" l="0" r="0" t="0"/>
            </a:stretch>
          </a:blipFill>
          <a:ln>
            <a:noFill/>
          </a:ln>
        </p:spPr>
      </p:sp>
      <p:sp>
        <p:nvSpPr>
          <p:cNvPr id="506" name="Google Shape;506;p21"/>
          <p:cNvSpPr txBox="1"/>
          <p:nvPr/>
        </p:nvSpPr>
        <p:spPr>
          <a:xfrm>
            <a:off x="5135234" y="2033162"/>
            <a:ext cx="9079417" cy="1223818"/>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3448" u="none" cap="none" strike="noStrike">
                <a:solidFill>
                  <a:srgbClr val="4F8FD1"/>
                </a:solidFill>
                <a:latin typeface="Arial"/>
                <a:ea typeface="Arial"/>
                <a:cs typeface="Arial"/>
                <a:sym typeface="Arial"/>
              </a:rPr>
              <a:t>AUTENTICACIÓN EN PROTOCOLOS DE RUTEO DINÁMICO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510" name="Shape 510"/>
        <p:cNvGrpSpPr/>
        <p:nvPr/>
      </p:nvGrpSpPr>
      <p:grpSpPr>
        <a:xfrm>
          <a:off x="0" y="0"/>
          <a:ext cx="0" cy="0"/>
          <a:chOff x="0" y="0"/>
          <a:chExt cx="0" cy="0"/>
        </a:xfrm>
      </p:grpSpPr>
      <p:grpSp>
        <p:nvGrpSpPr>
          <p:cNvPr id="511" name="Google Shape;511;p22"/>
          <p:cNvGrpSpPr/>
          <p:nvPr/>
        </p:nvGrpSpPr>
        <p:grpSpPr>
          <a:xfrm>
            <a:off x="-4856925" y="6662293"/>
            <a:ext cx="12549976" cy="12663776"/>
            <a:chOff x="0" y="0"/>
            <a:chExt cx="812800" cy="820170"/>
          </a:xfrm>
        </p:grpSpPr>
        <p:sp>
          <p:nvSpPr>
            <p:cNvPr id="512" name="Google Shape;512;p22"/>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2"/>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14" name="Google Shape;514;p22"/>
          <p:cNvSpPr/>
          <p:nvPr/>
        </p:nvSpPr>
        <p:spPr>
          <a:xfrm>
            <a:off x="6961462" y="4460099"/>
            <a:ext cx="1169131" cy="1160363"/>
          </a:xfrm>
          <a:custGeom>
            <a:rect b="b" l="l" r="r" t="t"/>
            <a:pathLst>
              <a:path extrusionOk="0" h="1160363" w="1169131">
                <a:moveTo>
                  <a:pt x="0" y="0"/>
                </a:moveTo>
                <a:lnTo>
                  <a:pt x="1169131" y="0"/>
                </a:lnTo>
                <a:lnTo>
                  <a:pt x="1169131" y="1160363"/>
                </a:lnTo>
                <a:lnTo>
                  <a:pt x="0" y="1160363"/>
                </a:lnTo>
                <a:lnTo>
                  <a:pt x="0" y="0"/>
                </a:lnTo>
                <a:close/>
              </a:path>
            </a:pathLst>
          </a:custGeom>
          <a:blipFill rotWithShape="1">
            <a:blip r:embed="rId3">
              <a:alphaModFix/>
            </a:blip>
            <a:stretch>
              <a:fillRect b="0" l="0" r="0" t="0"/>
            </a:stretch>
          </a:blipFill>
          <a:ln>
            <a:noFill/>
          </a:ln>
        </p:spPr>
      </p:sp>
      <p:sp>
        <p:nvSpPr>
          <p:cNvPr id="515" name="Google Shape;515;p22"/>
          <p:cNvSpPr/>
          <p:nvPr/>
        </p:nvSpPr>
        <p:spPr>
          <a:xfrm>
            <a:off x="6961462" y="6287212"/>
            <a:ext cx="1169131" cy="1160363"/>
          </a:xfrm>
          <a:custGeom>
            <a:rect b="b" l="l" r="r" t="t"/>
            <a:pathLst>
              <a:path extrusionOk="0" h="1160363" w="1169131">
                <a:moveTo>
                  <a:pt x="0" y="0"/>
                </a:moveTo>
                <a:lnTo>
                  <a:pt x="1169131" y="0"/>
                </a:lnTo>
                <a:lnTo>
                  <a:pt x="1169131" y="1160363"/>
                </a:lnTo>
                <a:lnTo>
                  <a:pt x="0" y="1160363"/>
                </a:lnTo>
                <a:lnTo>
                  <a:pt x="0" y="0"/>
                </a:lnTo>
                <a:close/>
              </a:path>
            </a:pathLst>
          </a:custGeom>
          <a:blipFill rotWithShape="1">
            <a:blip r:embed="rId3">
              <a:alphaModFix/>
            </a:blip>
            <a:stretch>
              <a:fillRect b="0" l="0" r="0" t="0"/>
            </a:stretch>
          </a:blipFill>
          <a:ln>
            <a:noFill/>
          </a:ln>
        </p:spPr>
      </p:sp>
      <p:sp>
        <p:nvSpPr>
          <p:cNvPr id="516" name="Google Shape;516;p22"/>
          <p:cNvSpPr/>
          <p:nvPr/>
        </p:nvSpPr>
        <p:spPr>
          <a:xfrm>
            <a:off x="6961462" y="8115269"/>
            <a:ext cx="1169131" cy="1160363"/>
          </a:xfrm>
          <a:custGeom>
            <a:rect b="b" l="l" r="r" t="t"/>
            <a:pathLst>
              <a:path extrusionOk="0" h="1160363" w="1169131">
                <a:moveTo>
                  <a:pt x="0" y="0"/>
                </a:moveTo>
                <a:lnTo>
                  <a:pt x="1169131" y="0"/>
                </a:lnTo>
                <a:lnTo>
                  <a:pt x="1169131" y="1160363"/>
                </a:lnTo>
                <a:lnTo>
                  <a:pt x="0" y="1160363"/>
                </a:lnTo>
                <a:lnTo>
                  <a:pt x="0" y="0"/>
                </a:lnTo>
                <a:close/>
              </a:path>
            </a:pathLst>
          </a:custGeom>
          <a:blipFill rotWithShape="1">
            <a:blip r:embed="rId3">
              <a:alphaModFix/>
            </a:blip>
            <a:stretch>
              <a:fillRect b="0" l="0" r="0" t="0"/>
            </a:stretch>
          </a:blipFill>
          <a:ln>
            <a:noFill/>
          </a:ln>
        </p:spPr>
      </p:sp>
      <p:grpSp>
        <p:nvGrpSpPr>
          <p:cNvPr id="517" name="Google Shape;517;p22"/>
          <p:cNvGrpSpPr/>
          <p:nvPr/>
        </p:nvGrpSpPr>
        <p:grpSpPr>
          <a:xfrm>
            <a:off x="15212158" y="-2406548"/>
            <a:ext cx="4769843" cy="4813095"/>
            <a:chOff x="0" y="0"/>
            <a:chExt cx="812800" cy="820170"/>
          </a:xfrm>
        </p:grpSpPr>
        <p:sp>
          <p:nvSpPr>
            <p:cNvPr id="518" name="Google Shape;518;p22"/>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2"/>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0" name="Google Shape;520;p22"/>
          <p:cNvSpPr/>
          <p:nvPr/>
        </p:nvSpPr>
        <p:spPr>
          <a:xfrm>
            <a:off x="16018718" y="8617062"/>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4">
              <a:alphaModFix/>
            </a:blip>
            <a:stretch>
              <a:fillRect b="0" l="0" r="0" t="0"/>
            </a:stretch>
          </a:blipFill>
          <a:ln>
            <a:noFill/>
          </a:ln>
        </p:spPr>
      </p:sp>
      <p:sp>
        <p:nvSpPr>
          <p:cNvPr id="521" name="Google Shape;521;p22"/>
          <p:cNvSpPr/>
          <p:nvPr/>
        </p:nvSpPr>
        <p:spPr>
          <a:xfrm>
            <a:off x="10468707" y="635143"/>
            <a:ext cx="4273124" cy="3542809"/>
          </a:xfrm>
          <a:custGeom>
            <a:rect b="b" l="l" r="r" t="t"/>
            <a:pathLst>
              <a:path extrusionOk="0" h="3542809" w="4273124">
                <a:moveTo>
                  <a:pt x="0" y="0"/>
                </a:moveTo>
                <a:lnTo>
                  <a:pt x="4273125" y="0"/>
                </a:lnTo>
                <a:lnTo>
                  <a:pt x="4273125" y="3542809"/>
                </a:lnTo>
                <a:lnTo>
                  <a:pt x="0" y="3542809"/>
                </a:lnTo>
                <a:lnTo>
                  <a:pt x="0" y="0"/>
                </a:lnTo>
                <a:close/>
              </a:path>
            </a:pathLst>
          </a:custGeom>
          <a:blipFill rotWithShape="1">
            <a:blip r:embed="rId5">
              <a:alphaModFix/>
            </a:blip>
            <a:stretch>
              <a:fillRect b="0" l="0" r="0" t="0"/>
            </a:stretch>
          </a:blipFill>
          <a:ln>
            <a:noFill/>
          </a:ln>
        </p:spPr>
      </p:sp>
      <p:sp>
        <p:nvSpPr>
          <p:cNvPr id="522" name="Google Shape;522;p22"/>
          <p:cNvSpPr txBox="1"/>
          <p:nvPr/>
        </p:nvSpPr>
        <p:spPr>
          <a:xfrm>
            <a:off x="1204168" y="923925"/>
            <a:ext cx="5757295" cy="92974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5395" u="none" cap="none" strike="noStrike">
                <a:solidFill>
                  <a:srgbClr val="FFFFFF"/>
                </a:solidFill>
                <a:latin typeface="Arial"/>
                <a:ea typeface="Arial"/>
                <a:cs typeface="Arial"/>
                <a:sym typeface="Arial"/>
              </a:rPr>
              <a:t>REDISTRIBUIR </a:t>
            </a:r>
            <a:endParaRPr/>
          </a:p>
        </p:txBody>
      </p:sp>
      <p:sp>
        <p:nvSpPr>
          <p:cNvPr id="523" name="Google Shape;523;p22"/>
          <p:cNvSpPr txBox="1"/>
          <p:nvPr/>
        </p:nvSpPr>
        <p:spPr>
          <a:xfrm>
            <a:off x="1204168" y="1847527"/>
            <a:ext cx="7746434" cy="2583998"/>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La redistribución de rutas es el proceso mediante el cual un</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router comparte información de enrutamiento entre</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diferentes protocolos de enrutamiento dinámico. Esto</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permite que redes que usan distintos protocolos (por</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ejemplo, OSPF y EIGRP) puedan intercambiar rutas y</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comunicarse entre sí.</a:t>
            </a:r>
            <a:endParaRPr/>
          </a:p>
          <a:p>
            <a:pPr indent="0" lvl="1" marL="0" marR="0" rtl="0" algn="l">
              <a:lnSpc>
                <a:spcPct val="140009"/>
              </a:lnSpc>
              <a:spcBef>
                <a:spcPts val="0"/>
              </a:spcBef>
              <a:spcAft>
                <a:spcPts val="0"/>
              </a:spcAft>
              <a:buNone/>
            </a:pPr>
            <a:r>
              <a:rPr b="1" i="0" lang="en-US" sz="2142" u="none" cap="none" strike="noStrike">
                <a:solidFill>
                  <a:srgbClr val="FFFFFF"/>
                </a:solidFill>
                <a:latin typeface="Noto Sans"/>
                <a:ea typeface="Noto Sans"/>
                <a:cs typeface="Noto Sans"/>
                <a:sym typeface="Noto Sans"/>
              </a:rPr>
              <a:t> Características de la Redistribución:</a:t>
            </a:r>
            <a:endParaRPr/>
          </a:p>
        </p:txBody>
      </p:sp>
      <p:sp>
        <p:nvSpPr>
          <p:cNvPr id="524" name="Google Shape;524;p22"/>
          <p:cNvSpPr txBox="1"/>
          <p:nvPr/>
        </p:nvSpPr>
        <p:spPr>
          <a:xfrm>
            <a:off x="8381857" y="4657919"/>
            <a:ext cx="7746434" cy="726623"/>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Se usa cuando hay protocolos de enrutamiento</a:t>
            </a:r>
            <a:endParaRPr/>
          </a:p>
          <a:p>
            <a:pPr indent="0" lvl="1"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diferentes en una misma red.</a:t>
            </a:r>
            <a:endParaRPr/>
          </a:p>
        </p:txBody>
      </p:sp>
      <p:sp>
        <p:nvSpPr>
          <p:cNvPr id="525" name="Google Shape;525;p22"/>
          <p:cNvSpPr txBox="1"/>
          <p:nvPr/>
        </p:nvSpPr>
        <p:spPr>
          <a:xfrm>
            <a:off x="8381857" y="6485504"/>
            <a:ext cx="7746434" cy="726623"/>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Puede configurarse de forma unidireccional o</a:t>
            </a:r>
            <a:endParaRPr/>
          </a:p>
          <a:p>
            <a:pPr indent="0" lvl="1"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bidireccional.</a:t>
            </a:r>
            <a:endParaRPr/>
          </a:p>
        </p:txBody>
      </p:sp>
      <p:sp>
        <p:nvSpPr>
          <p:cNvPr id="526" name="Google Shape;526;p22"/>
          <p:cNvSpPr txBox="1"/>
          <p:nvPr/>
        </p:nvSpPr>
        <p:spPr>
          <a:xfrm>
            <a:off x="8381857" y="8313089"/>
            <a:ext cx="7746434" cy="726623"/>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Debe realizarse con cuidado para evitar bucles de</a:t>
            </a:r>
            <a:endParaRPr/>
          </a:p>
          <a:p>
            <a:pPr indent="0" lvl="1"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enrutamiento.</a:t>
            </a:r>
            <a:endParaRPr/>
          </a:p>
        </p:txBody>
      </p:sp>
      <p:sp>
        <p:nvSpPr>
          <p:cNvPr id="527" name="Google Shape;527;p22"/>
          <p:cNvSpPr txBox="1"/>
          <p:nvPr/>
        </p:nvSpPr>
        <p:spPr>
          <a:xfrm>
            <a:off x="6961462" y="4438159"/>
            <a:ext cx="1023363" cy="11940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6905" u="none" cap="none" strike="noStrike">
                <a:solidFill>
                  <a:srgbClr val="4F8FD1"/>
                </a:solidFill>
                <a:latin typeface="Arial"/>
                <a:ea typeface="Arial"/>
                <a:cs typeface="Arial"/>
                <a:sym typeface="Arial"/>
              </a:rPr>
              <a:t>1</a:t>
            </a:r>
            <a:endParaRPr/>
          </a:p>
        </p:txBody>
      </p:sp>
      <p:sp>
        <p:nvSpPr>
          <p:cNvPr id="528" name="Google Shape;528;p22"/>
          <p:cNvSpPr txBox="1"/>
          <p:nvPr/>
        </p:nvSpPr>
        <p:spPr>
          <a:xfrm>
            <a:off x="6961462" y="6265271"/>
            <a:ext cx="1023363" cy="11940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6905" u="none" cap="none" strike="noStrike">
                <a:solidFill>
                  <a:srgbClr val="4F8FD1"/>
                </a:solidFill>
                <a:latin typeface="Arial"/>
                <a:ea typeface="Arial"/>
                <a:cs typeface="Arial"/>
                <a:sym typeface="Arial"/>
              </a:rPr>
              <a:t>2</a:t>
            </a:r>
            <a:endParaRPr/>
          </a:p>
        </p:txBody>
      </p:sp>
      <p:sp>
        <p:nvSpPr>
          <p:cNvPr id="529" name="Google Shape;529;p22"/>
          <p:cNvSpPr txBox="1"/>
          <p:nvPr/>
        </p:nvSpPr>
        <p:spPr>
          <a:xfrm>
            <a:off x="6961462" y="8093329"/>
            <a:ext cx="1023363" cy="11940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6905" u="none" cap="none" strike="noStrike">
                <a:solidFill>
                  <a:srgbClr val="4F8FD1"/>
                </a:solidFill>
                <a:latin typeface="Arial"/>
                <a:ea typeface="Arial"/>
                <a:cs typeface="Arial"/>
                <a:sym typeface="Arial"/>
              </a:rPr>
              <a:t>3</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533" name="Shape 533"/>
        <p:cNvGrpSpPr/>
        <p:nvPr/>
      </p:nvGrpSpPr>
      <p:grpSpPr>
        <a:xfrm>
          <a:off x="0" y="0"/>
          <a:ext cx="0" cy="0"/>
          <a:chOff x="0" y="0"/>
          <a:chExt cx="0" cy="0"/>
        </a:xfrm>
      </p:grpSpPr>
      <p:grpSp>
        <p:nvGrpSpPr>
          <p:cNvPr id="534" name="Google Shape;534;p23"/>
          <p:cNvGrpSpPr/>
          <p:nvPr/>
        </p:nvGrpSpPr>
        <p:grpSpPr>
          <a:xfrm>
            <a:off x="2538123" y="2061695"/>
            <a:ext cx="13211754" cy="6163610"/>
            <a:chOff x="0" y="0"/>
            <a:chExt cx="4730473" cy="2206882"/>
          </a:xfrm>
        </p:grpSpPr>
        <p:sp>
          <p:nvSpPr>
            <p:cNvPr id="535" name="Google Shape;535;p23"/>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536" name="Google Shape;536;p23"/>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537" name="Google Shape;537;p23"/>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538" name="Google Shape;538;p23"/>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539" name="Google Shape;539;p23"/>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540" name="Google Shape;540;p23"/>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541" name="Google Shape;541;p23"/>
          <p:cNvSpPr txBox="1"/>
          <p:nvPr/>
        </p:nvSpPr>
        <p:spPr>
          <a:xfrm>
            <a:off x="3238927" y="3378601"/>
            <a:ext cx="8222491" cy="4069974"/>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 router </a:t>
            </a:r>
            <a:r>
              <a:rPr b="1" i="0" lang="en-US" sz="2139" u="none" cap="none" strike="noStrike">
                <a:solidFill>
                  <a:srgbClr val="0E0722"/>
                </a:solidFill>
                <a:latin typeface="Noto Sans"/>
                <a:ea typeface="Noto Sans"/>
                <a:cs typeface="Noto Sans"/>
                <a:sym typeface="Noto Sans"/>
              </a:rPr>
              <a:t>eigrp </a:t>
            </a:r>
            <a:r>
              <a:rPr b="0" i="0" lang="en-US" sz="2139" u="none" cap="none" strike="noStrike">
                <a:solidFill>
                  <a:srgbClr val="0E0722"/>
                </a:solidFill>
                <a:latin typeface="Noto Sans"/>
                <a:ea typeface="Noto Sans"/>
                <a:cs typeface="Noto Sans"/>
                <a:sym typeface="Noto Sans"/>
              </a:rPr>
              <a:t>100  </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redistribute ospf 1 metric 100000 100</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 255 1 1500  </a:t>
            </a:r>
            <a:endParaRPr/>
          </a:p>
          <a:p>
            <a:pPr indent="0" lvl="0" marL="0" marR="0" rtl="0" algn="l">
              <a:lnSpc>
                <a:spcPct val="140018"/>
              </a:lnSpc>
              <a:spcBef>
                <a:spcPts val="0"/>
              </a:spcBef>
              <a:spcAft>
                <a:spcPts val="0"/>
              </a:spcAft>
              <a:buNone/>
            </a:pPr>
            <a:r>
              <a:t/>
            </a:r>
            <a:endParaRPr b="0" i="0" sz="2139" u="none" cap="none" strike="noStrike">
              <a:solidFill>
                <a:srgbClr val="0E0722"/>
              </a:solidFill>
              <a:latin typeface="Noto Sans"/>
              <a:ea typeface="Noto Sans"/>
              <a:cs typeface="Noto Sans"/>
              <a:sym typeface="Noto Sans"/>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 router </a:t>
            </a:r>
            <a:r>
              <a:rPr b="1" i="0" lang="en-US" sz="2139" u="none" cap="none" strike="noStrike">
                <a:solidFill>
                  <a:srgbClr val="0E0722"/>
                </a:solidFill>
                <a:latin typeface="Noto Sans"/>
                <a:ea typeface="Noto Sans"/>
                <a:cs typeface="Noto Sans"/>
                <a:sym typeface="Noto Sans"/>
              </a:rPr>
              <a:t>ospf </a:t>
            </a:r>
            <a:r>
              <a:rPr b="0" i="0" lang="en-US" sz="2139" u="none" cap="none" strike="noStrike">
                <a:solidFill>
                  <a:srgbClr val="0E0722"/>
                </a:solidFill>
                <a:latin typeface="Noto Sans"/>
                <a:ea typeface="Noto Sans"/>
                <a:cs typeface="Noto Sans"/>
                <a:sym typeface="Noto Sans"/>
              </a:rPr>
              <a:t>1  </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redistribute eigrp 100 subnets  </a:t>
            </a:r>
            <a:endParaRPr/>
          </a:p>
          <a:p>
            <a:pPr indent="0" lvl="0" marL="0" marR="0" rtl="0" algn="l">
              <a:lnSpc>
                <a:spcPct val="140018"/>
              </a:lnSpc>
              <a:spcBef>
                <a:spcPts val="0"/>
              </a:spcBef>
              <a:spcAft>
                <a:spcPts val="0"/>
              </a:spcAft>
              <a:buNone/>
            </a:pPr>
            <a:r>
              <a:t/>
            </a:r>
            <a:endParaRPr b="0" i="0" sz="2139" u="none" cap="none" strike="noStrike">
              <a:solidFill>
                <a:srgbClr val="0E0722"/>
              </a:solidFill>
              <a:latin typeface="Noto Sans"/>
              <a:ea typeface="Noto Sans"/>
              <a:cs typeface="Noto Sans"/>
              <a:sym typeface="Noto Sans"/>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 router </a:t>
            </a:r>
            <a:r>
              <a:rPr b="1" i="0" lang="en-US" sz="2139" u="none" cap="none" strike="noStrike">
                <a:solidFill>
                  <a:srgbClr val="0E0722"/>
                </a:solidFill>
                <a:latin typeface="Noto Sans"/>
                <a:ea typeface="Noto Sans"/>
                <a:cs typeface="Noto Sans"/>
                <a:sym typeface="Noto Sans"/>
              </a:rPr>
              <a:t>rip  </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version 2  </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redistribute ospf 1 metric 5  </a:t>
            </a:r>
            <a:endParaRPr/>
          </a:p>
          <a:p>
            <a:pPr indent="0" lvl="1"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redistribute eigrp 1 metric 5</a:t>
            </a:r>
            <a:endParaRPr/>
          </a:p>
        </p:txBody>
      </p:sp>
      <p:sp>
        <p:nvSpPr>
          <p:cNvPr id="542" name="Google Shape;542;p23"/>
          <p:cNvSpPr/>
          <p:nvPr/>
        </p:nvSpPr>
        <p:spPr>
          <a:xfrm>
            <a:off x="11461418" y="3416701"/>
            <a:ext cx="3629863" cy="3629863"/>
          </a:xfrm>
          <a:custGeom>
            <a:rect b="b" l="l" r="r" t="t"/>
            <a:pathLst>
              <a:path extrusionOk="0" h="3629863" w="3629863">
                <a:moveTo>
                  <a:pt x="0" y="0"/>
                </a:moveTo>
                <a:lnTo>
                  <a:pt x="3629863" y="0"/>
                </a:lnTo>
                <a:lnTo>
                  <a:pt x="3629863" y="3629863"/>
                </a:lnTo>
                <a:lnTo>
                  <a:pt x="0" y="3629863"/>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546" name="Shape 546"/>
        <p:cNvGrpSpPr/>
        <p:nvPr/>
      </p:nvGrpSpPr>
      <p:grpSpPr>
        <a:xfrm>
          <a:off x="0" y="0"/>
          <a:ext cx="0" cy="0"/>
          <a:chOff x="0" y="0"/>
          <a:chExt cx="0" cy="0"/>
        </a:xfrm>
      </p:grpSpPr>
      <p:sp>
        <p:nvSpPr>
          <p:cNvPr id="547" name="Google Shape;547;p24"/>
          <p:cNvSpPr/>
          <p:nvPr/>
        </p:nvSpPr>
        <p:spPr>
          <a:xfrm>
            <a:off x="9831790" y="-3682532"/>
            <a:ext cx="16449947" cy="16449947"/>
          </a:xfrm>
          <a:custGeom>
            <a:rect b="b" l="l" r="r" t="t"/>
            <a:pathLst>
              <a:path extrusionOk="0" h="16449947" w="16449947">
                <a:moveTo>
                  <a:pt x="0" y="0"/>
                </a:moveTo>
                <a:lnTo>
                  <a:pt x="16449947" y="0"/>
                </a:lnTo>
                <a:lnTo>
                  <a:pt x="16449947" y="16449947"/>
                </a:lnTo>
                <a:lnTo>
                  <a:pt x="0" y="16449947"/>
                </a:lnTo>
                <a:lnTo>
                  <a:pt x="0" y="0"/>
                </a:lnTo>
                <a:close/>
              </a:path>
            </a:pathLst>
          </a:custGeom>
          <a:blipFill rotWithShape="1">
            <a:blip r:embed="rId3">
              <a:alphaModFix/>
            </a:blip>
            <a:stretch>
              <a:fillRect b="0" l="0" r="0" t="0"/>
            </a:stretch>
          </a:blipFill>
          <a:ln>
            <a:noFill/>
          </a:ln>
        </p:spPr>
      </p:sp>
      <p:grpSp>
        <p:nvGrpSpPr>
          <p:cNvPr id="548" name="Google Shape;548;p24"/>
          <p:cNvGrpSpPr/>
          <p:nvPr/>
        </p:nvGrpSpPr>
        <p:grpSpPr>
          <a:xfrm>
            <a:off x="3793074" y="1649141"/>
            <a:ext cx="12077432" cy="6972893"/>
            <a:chOff x="0" y="0"/>
            <a:chExt cx="4172051" cy="2408729"/>
          </a:xfrm>
        </p:grpSpPr>
        <p:sp>
          <p:nvSpPr>
            <p:cNvPr id="549" name="Google Shape;549;p24"/>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550" name="Google Shape;550;p24"/>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551" name="Google Shape;551;p24"/>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552" name="Google Shape;552;p24"/>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4F8FD1"/>
            </a:solidFill>
            <a:ln>
              <a:noFill/>
            </a:ln>
          </p:spPr>
        </p:sp>
      </p:grpSp>
      <p:grpSp>
        <p:nvGrpSpPr>
          <p:cNvPr id="553" name="Google Shape;553;p24"/>
          <p:cNvGrpSpPr/>
          <p:nvPr/>
        </p:nvGrpSpPr>
        <p:grpSpPr>
          <a:xfrm>
            <a:off x="15976704" y="8252905"/>
            <a:ext cx="1698963" cy="1698963"/>
            <a:chOff x="0" y="0"/>
            <a:chExt cx="812800" cy="812800"/>
          </a:xfrm>
        </p:grpSpPr>
        <p:sp>
          <p:nvSpPr>
            <p:cNvPr id="554" name="Google Shape;554;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6" name="Google Shape;556;p24"/>
          <p:cNvSpPr/>
          <p:nvPr/>
        </p:nvSpPr>
        <p:spPr>
          <a:xfrm>
            <a:off x="16427156" y="8622034"/>
            <a:ext cx="992977" cy="960706"/>
          </a:xfrm>
          <a:custGeom>
            <a:rect b="b" l="l" r="r" t="t"/>
            <a:pathLst>
              <a:path extrusionOk="0" h="960706" w="992977">
                <a:moveTo>
                  <a:pt x="0" y="0"/>
                </a:moveTo>
                <a:lnTo>
                  <a:pt x="992978" y="0"/>
                </a:lnTo>
                <a:lnTo>
                  <a:pt x="992978" y="960705"/>
                </a:lnTo>
                <a:lnTo>
                  <a:pt x="0" y="960705"/>
                </a:lnTo>
                <a:lnTo>
                  <a:pt x="0" y="0"/>
                </a:lnTo>
                <a:close/>
              </a:path>
            </a:pathLst>
          </a:custGeom>
          <a:blipFill rotWithShape="1">
            <a:blip r:embed="rId4">
              <a:alphaModFix/>
            </a:blip>
            <a:stretch>
              <a:fillRect b="0" l="0" r="0" t="0"/>
            </a:stretch>
          </a:blipFill>
          <a:ln>
            <a:noFill/>
          </a:ln>
        </p:spPr>
      </p:sp>
      <p:sp>
        <p:nvSpPr>
          <p:cNvPr id="557" name="Google Shape;557;p24"/>
          <p:cNvSpPr txBox="1"/>
          <p:nvPr/>
        </p:nvSpPr>
        <p:spPr>
          <a:xfrm>
            <a:off x="5135234" y="3266348"/>
            <a:ext cx="9808280" cy="5355686"/>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Los problemas más comunes en ruteo dinámico incluyen pérdida de conectividad, rutas faltantes o cambios frecuentes en la topología de red.</a:t>
            </a:r>
            <a:endParaRPr/>
          </a:p>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Las causas suelen estar relacionadas con fallas en la vecindad entre routers, configuraciones incorrectas de claves o filtros, o errores en las interfaces.</a:t>
            </a:r>
            <a:endParaRPr/>
          </a:p>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Para diagnosticar, se usan comandos como:</a:t>
            </a:r>
            <a:endParaRPr/>
          </a:p>
          <a:p>
            <a:pPr indent="0" lvl="0" marL="0" marR="0" rtl="0" algn="l">
              <a:lnSpc>
                <a:spcPct val="139980"/>
              </a:lnSpc>
              <a:spcBef>
                <a:spcPts val="0"/>
              </a:spcBef>
              <a:spcAft>
                <a:spcPts val="0"/>
              </a:spcAft>
              <a:buNone/>
            </a:pPr>
            <a:r>
              <a:t/>
            </a:r>
            <a:endParaRPr b="0" i="0" sz="2036" u="none" cap="none" strike="noStrike">
              <a:solidFill>
                <a:srgbClr val="2D659F"/>
              </a:solidFill>
              <a:latin typeface="Noto Sans"/>
              <a:ea typeface="Noto Sans"/>
              <a:cs typeface="Noto Sans"/>
              <a:sym typeface="Noto Sans"/>
            </a:endParaRPr>
          </a:p>
          <a:p>
            <a:pPr indent="-219793" lvl="1" marL="439586" marR="0" rtl="0" algn="l">
              <a:lnSpc>
                <a:spcPct val="139980"/>
              </a:lnSpc>
              <a:spcBef>
                <a:spcPts val="0"/>
              </a:spcBef>
              <a:spcAft>
                <a:spcPts val="0"/>
              </a:spcAft>
              <a:buClr>
                <a:srgbClr val="2D659F"/>
              </a:buClr>
              <a:buSzPts val="2036"/>
              <a:buFont typeface="Arial"/>
              <a:buChar char="•"/>
            </a:pPr>
            <a:r>
              <a:rPr b="1" i="0" lang="en-US" sz="2036" u="none" cap="none" strike="noStrike">
                <a:solidFill>
                  <a:srgbClr val="2D659F"/>
                </a:solidFill>
                <a:latin typeface="Noto Sans"/>
                <a:ea typeface="Noto Sans"/>
                <a:cs typeface="Noto Sans"/>
                <a:sym typeface="Noto Sans"/>
              </a:rPr>
              <a:t>show ip route</a:t>
            </a:r>
            <a:endParaRPr/>
          </a:p>
          <a:p>
            <a:pPr indent="-219793" lvl="1" marL="439586" marR="0" rtl="0" algn="l">
              <a:lnSpc>
                <a:spcPct val="139980"/>
              </a:lnSpc>
              <a:spcBef>
                <a:spcPts val="0"/>
              </a:spcBef>
              <a:spcAft>
                <a:spcPts val="0"/>
              </a:spcAft>
              <a:buClr>
                <a:srgbClr val="2D659F"/>
              </a:buClr>
              <a:buSzPts val="2036"/>
              <a:buFont typeface="Arial"/>
              <a:buChar char="•"/>
            </a:pPr>
            <a:r>
              <a:rPr b="1" i="0" lang="en-US" sz="2036" u="none" cap="none" strike="noStrike">
                <a:solidFill>
                  <a:srgbClr val="2D659F"/>
                </a:solidFill>
                <a:latin typeface="Noto Sans"/>
                <a:ea typeface="Noto Sans"/>
                <a:cs typeface="Noto Sans"/>
                <a:sym typeface="Noto Sans"/>
              </a:rPr>
              <a:t>show ip protocols</a:t>
            </a:r>
            <a:endParaRPr/>
          </a:p>
          <a:p>
            <a:pPr indent="-219793" lvl="1" marL="439586" marR="0" rtl="0" algn="l">
              <a:lnSpc>
                <a:spcPct val="139980"/>
              </a:lnSpc>
              <a:spcBef>
                <a:spcPts val="0"/>
              </a:spcBef>
              <a:spcAft>
                <a:spcPts val="0"/>
              </a:spcAft>
              <a:buClr>
                <a:srgbClr val="2D659F"/>
              </a:buClr>
              <a:buSzPts val="2036"/>
              <a:buFont typeface="Arial"/>
              <a:buChar char="•"/>
            </a:pPr>
            <a:r>
              <a:rPr b="1" i="0" lang="en-US" sz="2036" u="none" cap="none" strike="noStrike">
                <a:solidFill>
                  <a:srgbClr val="2D659F"/>
                </a:solidFill>
                <a:latin typeface="Noto Sans"/>
                <a:ea typeface="Noto Sans"/>
                <a:cs typeface="Noto Sans"/>
                <a:sym typeface="Noto Sans"/>
              </a:rPr>
              <a:t>show ip ospf neighbor o debug</a:t>
            </a:r>
            <a:endParaRPr/>
          </a:p>
          <a:p>
            <a:pPr indent="0" lvl="0" marL="0" marR="0" rtl="0" algn="l">
              <a:lnSpc>
                <a:spcPct val="139980"/>
              </a:lnSpc>
              <a:spcBef>
                <a:spcPts val="0"/>
              </a:spcBef>
              <a:spcAft>
                <a:spcPts val="0"/>
              </a:spcAft>
              <a:buNone/>
            </a:pPr>
            <a:r>
              <a:t/>
            </a:r>
            <a:endParaRPr b="1" i="0" sz="2036" u="none" cap="none" strike="noStrike">
              <a:solidFill>
                <a:srgbClr val="2D659F"/>
              </a:solidFill>
              <a:latin typeface="Noto Sans"/>
              <a:ea typeface="Noto Sans"/>
              <a:cs typeface="Noto Sans"/>
              <a:sym typeface="Noto Sans"/>
            </a:endParaRPr>
          </a:p>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Tambien analizando interfaces, protocolos activos y tablas de ruteo.</a:t>
            </a:r>
            <a:endParaRPr/>
          </a:p>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Resolver estos problemas implica revisar claves, interfaces, timers y configuraciones. Mantener documentación clara y usar autenticación adecuada previene muchos de estos errores.</a:t>
            </a:r>
            <a:endParaRPr/>
          </a:p>
          <a:p>
            <a:pPr indent="0" lvl="1" marL="0" marR="0" rtl="0" algn="l">
              <a:lnSpc>
                <a:spcPct val="139980"/>
              </a:lnSpc>
              <a:spcBef>
                <a:spcPts val="0"/>
              </a:spcBef>
              <a:spcAft>
                <a:spcPts val="0"/>
              </a:spcAft>
              <a:buNone/>
            </a:pPr>
            <a:r>
              <a:t/>
            </a:r>
            <a:endParaRPr b="0" i="0" sz="2036" u="none" cap="none" strike="noStrike">
              <a:solidFill>
                <a:srgbClr val="2D659F"/>
              </a:solidFill>
              <a:latin typeface="Noto Sans"/>
              <a:ea typeface="Noto Sans"/>
              <a:cs typeface="Noto Sans"/>
              <a:sym typeface="Noto Sans"/>
            </a:endParaRPr>
          </a:p>
        </p:txBody>
      </p:sp>
      <p:sp>
        <p:nvSpPr>
          <p:cNvPr id="558" name="Google Shape;558;p24"/>
          <p:cNvSpPr/>
          <p:nvPr/>
        </p:nvSpPr>
        <p:spPr>
          <a:xfrm>
            <a:off x="173155" y="6195505"/>
            <a:ext cx="4754496" cy="4114800"/>
          </a:xfrm>
          <a:custGeom>
            <a:rect b="b" l="l" r="r" t="t"/>
            <a:pathLst>
              <a:path extrusionOk="0" h="4114800" w="4754496">
                <a:moveTo>
                  <a:pt x="0" y="0"/>
                </a:moveTo>
                <a:lnTo>
                  <a:pt x="4754495" y="0"/>
                </a:lnTo>
                <a:lnTo>
                  <a:pt x="4754495" y="4114800"/>
                </a:lnTo>
                <a:lnTo>
                  <a:pt x="0" y="4114800"/>
                </a:lnTo>
                <a:lnTo>
                  <a:pt x="0" y="0"/>
                </a:lnTo>
                <a:close/>
              </a:path>
            </a:pathLst>
          </a:custGeom>
          <a:blipFill rotWithShape="1">
            <a:blip r:embed="rId5">
              <a:alphaModFix/>
            </a:blip>
            <a:stretch>
              <a:fillRect b="0" l="0" r="0" t="0"/>
            </a:stretch>
          </a:blipFill>
          <a:ln>
            <a:noFill/>
          </a:ln>
        </p:spPr>
      </p:sp>
      <p:sp>
        <p:nvSpPr>
          <p:cNvPr id="559" name="Google Shape;559;p24"/>
          <p:cNvSpPr txBox="1"/>
          <p:nvPr/>
        </p:nvSpPr>
        <p:spPr>
          <a:xfrm>
            <a:off x="5135234" y="2033162"/>
            <a:ext cx="9079417" cy="1223818"/>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3448" u="none" cap="none" strike="noStrike">
                <a:solidFill>
                  <a:srgbClr val="4F8FD1"/>
                </a:solidFill>
                <a:latin typeface="Arial"/>
                <a:ea typeface="Arial"/>
                <a:cs typeface="Arial"/>
                <a:sym typeface="Arial"/>
              </a:rPr>
              <a:t>SOLUCIÓN DE PROBLEMAS COMUNES EN RUTEO DINÁMICO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563" name="Shape 563"/>
        <p:cNvGrpSpPr/>
        <p:nvPr/>
      </p:nvGrpSpPr>
      <p:grpSpPr>
        <a:xfrm>
          <a:off x="0" y="0"/>
          <a:ext cx="0" cy="0"/>
          <a:chOff x="0" y="0"/>
          <a:chExt cx="0" cy="0"/>
        </a:xfrm>
      </p:grpSpPr>
      <p:sp>
        <p:nvSpPr>
          <p:cNvPr id="564" name="Google Shape;564;p25"/>
          <p:cNvSpPr/>
          <p:nvPr/>
        </p:nvSpPr>
        <p:spPr>
          <a:xfrm>
            <a:off x="9831790" y="-3682532"/>
            <a:ext cx="16449947" cy="16449947"/>
          </a:xfrm>
          <a:custGeom>
            <a:rect b="b" l="l" r="r" t="t"/>
            <a:pathLst>
              <a:path extrusionOk="0" h="16449947" w="16449947">
                <a:moveTo>
                  <a:pt x="0" y="0"/>
                </a:moveTo>
                <a:lnTo>
                  <a:pt x="16449947" y="0"/>
                </a:lnTo>
                <a:lnTo>
                  <a:pt x="16449947" y="16449947"/>
                </a:lnTo>
                <a:lnTo>
                  <a:pt x="0" y="16449947"/>
                </a:lnTo>
                <a:lnTo>
                  <a:pt x="0" y="0"/>
                </a:lnTo>
                <a:close/>
              </a:path>
            </a:pathLst>
          </a:custGeom>
          <a:blipFill rotWithShape="1">
            <a:blip r:embed="rId3">
              <a:alphaModFix/>
            </a:blip>
            <a:stretch>
              <a:fillRect b="0" l="0" r="0" t="0"/>
            </a:stretch>
          </a:blipFill>
          <a:ln>
            <a:noFill/>
          </a:ln>
        </p:spPr>
      </p:sp>
      <p:grpSp>
        <p:nvGrpSpPr>
          <p:cNvPr id="565" name="Google Shape;565;p25"/>
          <p:cNvGrpSpPr/>
          <p:nvPr/>
        </p:nvGrpSpPr>
        <p:grpSpPr>
          <a:xfrm>
            <a:off x="6396289" y="2526242"/>
            <a:ext cx="5920256" cy="5920256"/>
            <a:chOff x="0" y="0"/>
            <a:chExt cx="7893675" cy="7893675"/>
          </a:xfrm>
        </p:grpSpPr>
        <p:grpSp>
          <p:nvGrpSpPr>
            <p:cNvPr id="566" name="Google Shape;566;p25"/>
            <p:cNvGrpSpPr/>
            <p:nvPr/>
          </p:nvGrpSpPr>
          <p:grpSpPr>
            <a:xfrm>
              <a:off x="2268753" y="1351019"/>
              <a:ext cx="3356168" cy="3356168"/>
              <a:chOff x="0" y="0"/>
              <a:chExt cx="812800" cy="812800"/>
            </a:xfrm>
          </p:grpSpPr>
          <p:sp>
            <p:nvSpPr>
              <p:cNvPr id="567" name="Google Shape;567;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9" name="Google Shape;569;p25"/>
            <p:cNvSpPr/>
            <p:nvPr/>
          </p:nvSpPr>
          <p:spPr>
            <a:xfrm>
              <a:off x="0" y="0"/>
              <a:ext cx="7893675" cy="7893675"/>
            </a:xfrm>
            <a:custGeom>
              <a:rect b="b" l="l" r="r" t="t"/>
              <a:pathLst>
                <a:path extrusionOk="0" h="7893675" w="7893675">
                  <a:moveTo>
                    <a:pt x="0" y="0"/>
                  </a:moveTo>
                  <a:lnTo>
                    <a:pt x="7893675" y="0"/>
                  </a:lnTo>
                  <a:lnTo>
                    <a:pt x="7893675" y="7893675"/>
                  </a:lnTo>
                  <a:lnTo>
                    <a:pt x="0" y="7893675"/>
                  </a:lnTo>
                  <a:lnTo>
                    <a:pt x="0" y="0"/>
                  </a:lnTo>
                  <a:close/>
                </a:path>
              </a:pathLst>
            </a:custGeom>
            <a:blipFill rotWithShape="1">
              <a:blip r:embed="rId4">
                <a:alphaModFix/>
              </a:blip>
              <a:stretch>
                <a:fillRect b="0" l="0" r="0" t="0"/>
              </a:stretch>
            </a:blipFill>
            <a:ln>
              <a:noFill/>
            </a:ln>
          </p:spPr>
        </p:sp>
      </p:grpSp>
      <p:grpSp>
        <p:nvGrpSpPr>
          <p:cNvPr id="570" name="Google Shape;570;p25"/>
          <p:cNvGrpSpPr/>
          <p:nvPr/>
        </p:nvGrpSpPr>
        <p:grpSpPr>
          <a:xfrm>
            <a:off x="429127" y="823386"/>
            <a:ext cx="15062815" cy="2066999"/>
            <a:chOff x="0" y="0"/>
            <a:chExt cx="5393246" cy="740090"/>
          </a:xfrm>
        </p:grpSpPr>
        <p:sp>
          <p:nvSpPr>
            <p:cNvPr id="571" name="Google Shape;571;p25"/>
            <p:cNvSpPr/>
            <p:nvPr/>
          </p:nvSpPr>
          <p:spPr>
            <a:xfrm>
              <a:off x="80010" y="80010"/>
              <a:ext cx="5300536" cy="647380"/>
            </a:xfrm>
            <a:custGeom>
              <a:rect b="b" l="l" r="r" t="t"/>
              <a:pathLst>
                <a:path extrusionOk="0" h="647380" w="5300536">
                  <a:moveTo>
                    <a:pt x="0" y="592770"/>
                  </a:moveTo>
                  <a:lnTo>
                    <a:pt x="0" y="647380"/>
                  </a:lnTo>
                  <a:lnTo>
                    <a:pt x="5300536" y="647380"/>
                  </a:lnTo>
                  <a:lnTo>
                    <a:pt x="5300536" y="0"/>
                  </a:lnTo>
                  <a:lnTo>
                    <a:pt x="5245926" y="0"/>
                  </a:lnTo>
                  <a:lnTo>
                    <a:pt x="5245926" y="592770"/>
                  </a:lnTo>
                  <a:close/>
                </a:path>
              </a:pathLst>
            </a:custGeom>
            <a:solidFill>
              <a:srgbClr val="4F8FD1"/>
            </a:solidFill>
            <a:ln>
              <a:noFill/>
            </a:ln>
          </p:spPr>
        </p:sp>
        <p:sp>
          <p:nvSpPr>
            <p:cNvPr id="572" name="Google Shape;572;p25"/>
            <p:cNvSpPr/>
            <p:nvPr/>
          </p:nvSpPr>
          <p:spPr>
            <a:xfrm>
              <a:off x="67310" y="67310"/>
              <a:ext cx="5325936" cy="672780"/>
            </a:xfrm>
            <a:custGeom>
              <a:rect b="b" l="l" r="r" t="t"/>
              <a:pathLst>
                <a:path extrusionOk="0" h="672780" w="5325936">
                  <a:moveTo>
                    <a:pt x="5258626" y="0"/>
                  </a:moveTo>
                  <a:lnTo>
                    <a:pt x="5258626" y="12700"/>
                  </a:lnTo>
                  <a:lnTo>
                    <a:pt x="5313236" y="12700"/>
                  </a:lnTo>
                  <a:lnTo>
                    <a:pt x="5313236" y="660080"/>
                  </a:lnTo>
                  <a:lnTo>
                    <a:pt x="12700" y="660080"/>
                  </a:lnTo>
                  <a:lnTo>
                    <a:pt x="12700" y="605470"/>
                  </a:lnTo>
                  <a:lnTo>
                    <a:pt x="0" y="605470"/>
                  </a:lnTo>
                  <a:lnTo>
                    <a:pt x="0" y="672780"/>
                  </a:lnTo>
                  <a:lnTo>
                    <a:pt x="5325936" y="672780"/>
                  </a:lnTo>
                  <a:lnTo>
                    <a:pt x="5325936" y="0"/>
                  </a:lnTo>
                  <a:close/>
                </a:path>
              </a:pathLst>
            </a:custGeom>
            <a:solidFill>
              <a:srgbClr val="4F8FD1"/>
            </a:solidFill>
            <a:ln>
              <a:noFill/>
            </a:ln>
          </p:spPr>
        </p:sp>
        <p:sp>
          <p:nvSpPr>
            <p:cNvPr id="573" name="Google Shape;573;p25"/>
            <p:cNvSpPr/>
            <p:nvPr/>
          </p:nvSpPr>
          <p:spPr>
            <a:xfrm>
              <a:off x="12700" y="12700"/>
              <a:ext cx="5300536" cy="647380"/>
            </a:xfrm>
            <a:custGeom>
              <a:rect b="b" l="l" r="r" t="t"/>
              <a:pathLst>
                <a:path extrusionOk="0" h="647380" w="5300536">
                  <a:moveTo>
                    <a:pt x="0" y="0"/>
                  </a:moveTo>
                  <a:lnTo>
                    <a:pt x="5300536" y="0"/>
                  </a:lnTo>
                  <a:lnTo>
                    <a:pt x="5300536" y="647380"/>
                  </a:lnTo>
                  <a:lnTo>
                    <a:pt x="0" y="647380"/>
                  </a:lnTo>
                  <a:close/>
                </a:path>
              </a:pathLst>
            </a:custGeom>
            <a:solidFill>
              <a:srgbClr val="FFFFFF"/>
            </a:solidFill>
            <a:ln>
              <a:noFill/>
            </a:ln>
          </p:spPr>
        </p:sp>
        <p:sp>
          <p:nvSpPr>
            <p:cNvPr id="574" name="Google Shape;574;p25"/>
            <p:cNvSpPr/>
            <p:nvPr/>
          </p:nvSpPr>
          <p:spPr>
            <a:xfrm>
              <a:off x="0" y="0"/>
              <a:ext cx="5325936" cy="672780"/>
            </a:xfrm>
            <a:custGeom>
              <a:rect b="b" l="l" r="r" t="t"/>
              <a:pathLst>
                <a:path extrusionOk="0" h="672780" w="5325936">
                  <a:moveTo>
                    <a:pt x="80010" y="672780"/>
                  </a:moveTo>
                  <a:lnTo>
                    <a:pt x="5325936" y="672780"/>
                  </a:lnTo>
                  <a:lnTo>
                    <a:pt x="5325936" y="80010"/>
                  </a:lnTo>
                  <a:lnTo>
                    <a:pt x="5325936" y="67310"/>
                  </a:lnTo>
                  <a:lnTo>
                    <a:pt x="5325936" y="0"/>
                  </a:lnTo>
                  <a:lnTo>
                    <a:pt x="0" y="0"/>
                  </a:lnTo>
                  <a:lnTo>
                    <a:pt x="0" y="672780"/>
                  </a:lnTo>
                  <a:lnTo>
                    <a:pt x="67310" y="672780"/>
                  </a:lnTo>
                  <a:lnTo>
                    <a:pt x="80010" y="672780"/>
                  </a:lnTo>
                  <a:close/>
                  <a:moveTo>
                    <a:pt x="12700" y="12700"/>
                  </a:moveTo>
                  <a:lnTo>
                    <a:pt x="5313236" y="12700"/>
                  </a:lnTo>
                  <a:lnTo>
                    <a:pt x="5313236" y="660080"/>
                  </a:lnTo>
                  <a:lnTo>
                    <a:pt x="12700" y="660080"/>
                  </a:lnTo>
                  <a:lnTo>
                    <a:pt x="12700" y="12700"/>
                  </a:lnTo>
                  <a:close/>
                </a:path>
              </a:pathLst>
            </a:custGeom>
            <a:solidFill>
              <a:srgbClr val="4F8FD1"/>
            </a:solidFill>
            <a:ln>
              <a:noFill/>
            </a:ln>
          </p:spPr>
        </p:sp>
      </p:grpSp>
      <p:sp>
        <p:nvSpPr>
          <p:cNvPr id="575" name="Google Shape;575;p25"/>
          <p:cNvSpPr txBox="1"/>
          <p:nvPr/>
        </p:nvSpPr>
        <p:spPr>
          <a:xfrm>
            <a:off x="1043873" y="1114159"/>
            <a:ext cx="13993522"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PRACTIQUEMOS LO APRENDIDO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579" name="Shape 579"/>
        <p:cNvGrpSpPr/>
        <p:nvPr/>
      </p:nvGrpSpPr>
      <p:grpSpPr>
        <a:xfrm>
          <a:off x="0" y="0"/>
          <a:ext cx="0" cy="0"/>
          <a:chOff x="0" y="0"/>
          <a:chExt cx="0" cy="0"/>
        </a:xfrm>
      </p:grpSpPr>
      <p:sp>
        <p:nvSpPr>
          <p:cNvPr id="580" name="Google Shape;580;p26"/>
          <p:cNvSpPr/>
          <p:nvPr/>
        </p:nvSpPr>
        <p:spPr>
          <a:xfrm>
            <a:off x="1028700" y="943635"/>
            <a:ext cx="16230600" cy="8399728"/>
          </a:xfrm>
          <a:custGeom>
            <a:rect b="b" l="l" r="r" t="t"/>
            <a:pathLst>
              <a:path extrusionOk="0" h="3675700" w="7102470">
                <a:moveTo>
                  <a:pt x="7102470" y="0"/>
                </a:moveTo>
                <a:lnTo>
                  <a:pt x="7102470" y="1700648"/>
                </a:lnTo>
                <a:cubicBezTo>
                  <a:pt x="6498903" y="2304215"/>
                  <a:pt x="6160511" y="2642607"/>
                  <a:pt x="5556943" y="3246174"/>
                </a:cubicBezTo>
                <a:lnTo>
                  <a:pt x="4649630" y="3246174"/>
                </a:lnTo>
                <a:lnTo>
                  <a:pt x="4180657" y="3675700"/>
                </a:lnTo>
                <a:lnTo>
                  <a:pt x="1415148" y="3675700"/>
                </a:lnTo>
                <a:lnTo>
                  <a:pt x="946175" y="3246174"/>
                </a:lnTo>
                <a:lnTo>
                  <a:pt x="0" y="3246174"/>
                </a:lnTo>
                <a:lnTo>
                  <a:pt x="0" y="812559"/>
                </a:lnTo>
                <a:lnTo>
                  <a:pt x="812559" y="0"/>
                </a:lnTo>
                <a:lnTo>
                  <a:pt x="7102470" y="0"/>
                </a:ln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1" name="Google Shape;581;p26"/>
          <p:cNvGrpSpPr/>
          <p:nvPr/>
        </p:nvGrpSpPr>
        <p:grpSpPr>
          <a:xfrm>
            <a:off x="1105939" y="4424530"/>
            <a:ext cx="6834453" cy="3945864"/>
            <a:chOff x="0" y="0"/>
            <a:chExt cx="4172051" cy="2408729"/>
          </a:xfrm>
        </p:grpSpPr>
        <p:sp>
          <p:nvSpPr>
            <p:cNvPr id="582" name="Google Shape;582;p26"/>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583" name="Google Shape;583;p26"/>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584" name="Google Shape;584;p26"/>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585" name="Google Shape;585;p26"/>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4F8FD1"/>
            </a:solidFill>
            <a:ln>
              <a:noFill/>
            </a:ln>
          </p:spPr>
        </p:sp>
      </p:grpSp>
      <p:grpSp>
        <p:nvGrpSpPr>
          <p:cNvPr id="586" name="Google Shape;586;p26"/>
          <p:cNvGrpSpPr/>
          <p:nvPr/>
        </p:nvGrpSpPr>
        <p:grpSpPr>
          <a:xfrm>
            <a:off x="7465296" y="5969854"/>
            <a:ext cx="6834453" cy="3945864"/>
            <a:chOff x="0" y="0"/>
            <a:chExt cx="4172051" cy="2408729"/>
          </a:xfrm>
        </p:grpSpPr>
        <p:sp>
          <p:nvSpPr>
            <p:cNvPr id="587" name="Google Shape;587;p26"/>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588" name="Google Shape;588;p26"/>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589" name="Google Shape;589;p26"/>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590" name="Google Shape;590;p26"/>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FFFFFF"/>
            </a:solidFill>
            <a:ln>
              <a:noFill/>
            </a:ln>
          </p:spPr>
        </p:sp>
      </p:grpSp>
      <p:sp>
        <p:nvSpPr>
          <p:cNvPr id="591" name="Google Shape;591;p26"/>
          <p:cNvSpPr/>
          <p:nvPr/>
        </p:nvSpPr>
        <p:spPr>
          <a:xfrm>
            <a:off x="15752336" y="1254551"/>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592" name="Google Shape;592;p26"/>
          <p:cNvSpPr/>
          <p:nvPr/>
        </p:nvSpPr>
        <p:spPr>
          <a:xfrm>
            <a:off x="11477692" y="1360170"/>
            <a:ext cx="4274644" cy="4427771"/>
          </a:xfrm>
          <a:custGeom>
            <a:rect b="b" l="l" r="r" t="t"/>
            <a:pathLst>
              <a:path extrusionOk="0" h="4427771" w="4274644">
                <a:moveTo>
                  <a:pt x="0" y="0"/>
                </a:moveTo>
                <a:lnTo>
                  <a:pt x="4274644" y="0"/>
                </a:lnTo>
                <a:lnTo>
                  <a:pt x="4274644" y="4427771"/>
                </a:lnTo>
                <a:lnTo>
                  <a:pt x="0" y="4427771"/>
                </a:lnTo>
                <a:lnTo>
                  <a:pt x="0" y="0"/>
                </a:lnTo>
                <a:close/>
              </a:path>
            </a:pathLst>
          </a:custGeom>
          <a:blipFill rotWithShape="1">
            <a:blip r:embed="rId4">
              <a:alphaModFix/>
            </a:blip>
            <a:stretch>
              <a:fillRect b="0" l="0" r="0" t="0"/>
            </a:stretch>
          </a:blipFill>
          <a:ln>
            <a:noFill/>
          </a:ln>
        </p:spPr>
      </p:sp>
      <p:sp>
        <p:nvSpPr>
          <p:cNvPr id="593" name="Google Shape;593;p26"/>
          <p:cNvSpPr txBox="1"/>
          <p:nvPr/>
        </p:nvSpPr>
        <p:spPr>
          <a:xfrm>
            <a:off x="2542142" y="2088034"/>
            <a:ext cx="9693908" cy="2208187"/>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257" u="none" cap="none" strike="noStrike">
                <a:solidFill>
                  <a:srgbClr val="FFFFFF"/>
                </a:solidFill>
                <a:latin typeface="Arial"/>
                <a:ea typeface="Arial"/>
                <a:cs typeface="Arial"/>
                <a:sym typeface="Arial"/>
              </a:rPr>
              <a:t>APLICACION POR MEDIO DE EJEMPLO</a:t>
            </a:r>
            <a:endParaRPr/>
          </a:p>
        </p:txBody>
      </p:sp>
      <p:sp>
        <p:nvSpPr>
          <p:cNvPr id="594" name="Google Shape;594;p26"/>
          <p:cNvSpPr txBox="1"/>
          <p:nvPr/>
        </p:nvSpPr>
        <p:spPr>
          <a:xfrm>
            <a:off x="1467612" y="4778680"/>
            <a:ext cx="5921484" cy="3163275"/>
          </a:xfrm>
          <a:prstGeom prst="rect">
            <a:avLst/>
          </a:prstGeom>
          <a:noFill/>
          <a:ln>
            <a:noFill/>
          </a:ln>
        </p:spPr>
        <p:txBody>
          <a:bodyPr anchorCtr="0" anchor="t" bIns="0" lIns="0" spcFirstLastPara="1" rIns="0" wrap="square" tIns="0">
            <a:spAutoFit/>
          </a:bodyPr>
          <a:lstStyle/>
          <a:p>
            <a:pPr indent="0" lvl="0" marL="0" marR="0" rtl="0" algn="l">
              <a:lnSpc>
                <a:spcPct val="172986"/>
              </a:lnSpc>
              <a:spcBef>
                <a:spcPts val="0"/>
              </a:spcBef>
              <a:spcAft>
                <a:spcPts val="0"/>
              </a:spcAft>
              <a:buNone/>
            </a:pPr>
            <a:r>
              <a:rPr b="1" i="0" lang="en-US" sz="1825" u="none" cap="none" strike="noStrike">
                <a:solidFill>
                  <a:srgbClr val="2D659F"/>
                </a:solidFill>
                <a:latin typeface="Noto Sans"/>
                <a:ea typeface="Noto Sans"/>
                <a:cs typeface="Noto Sans"/>
                <a:sym typeface="Noto Sans"/>
              </a:rPr>
              <a:t>Ejemplo 1:</a:t>
            </a:r>
            <a:r>
              <a:rPr b="0" i="0" lang="en-US" sz="1825" u="none" cap="none" strike="noStrike">
                <a:solidFill>
                  <a:srgbClr val="2D659F"/>
                </a:solidFill>
                <a:latin typeface="Noto Sans"/>
                <a:ea typeface="Noto Sans"/>
                <a:cs typeface="Noto Sans"/>
                <a:sym typeface="Noto Sans"/>
              </a:rPr>
              <a:t>El enrutamiento dinámico se aplica cuando una red tiene múltiples routers y se desea que las rutas se actualicen automáticamente ante cambios. Por ejemplo, usando RIP entre tres routers en una red pequeña, cada router comparte su tabla de rutas cada 30 segundos, facilitando la administración sin configuración manual constante. Es útil en redes que cambian con frecuencia o crecen progresivamente.</a:t>
            </a:r>
            <a:endParaRPr/>
          </a:p>
        </p:txBody>
      </p:sp>
      <p:sp>
        <p:nvSpPr>
          <p:cNvPr id="595" name="Google Shape;595;p26"/>
          <p:cNvSpPr txBox="1"/>
          <p:nvPr/>
        </p:nvSpPr>
        <p:spPr>
          <a:xfrm>
            <a:off x="7921780" y="6112427"/>
            <a:ext cx="5921484" cy="3563325"/>
          </a:xfrm>
          <a:prstGeom prst="rect">
            <a:avLst/>
          </a:prstGeom>
          <a:noFill/>
          <a:ln>
            <a:noFill/>
          </a:ln>
        </p:spPr>
        <p:txBody>
          <a:bodyPr anchorCtr="0" anchor="t" bIns="0" lIns="0" spcFirstLastPara="1" rIns="0" wrap="square" tIns="0">
            <a:spAutoFit/>
          </a:bodyPr>
          <a:lstStyle/>
          <a:p>
            <a:pPr indent="0" lvl="0" marL="0" marR="0" rtl="0" algn="l">
              <a:lnSpc>
                <a:spcPct val="172986"/>
              </a:lnSpc>
              <a:spcBef>
                <a:spcPts val="0"/>
              </a:spcBef>
              <a:spcAft>
                <a:spcPts val="0"/>
              </a:spcAft>
              <a:buNone/>
            </a:pPr>
            <a:r>
              <a:rPr b="1" i="0" lang="en-US" sz="1825" u="none" cap="none" strike="noStrike">
                <a:solidFill>
                  <a:srgbClr val="2D659F"/>
                </a:solidFill>
                <a:latin typeface="Noto Sans"/>
                <a:ea typeface="Noto Sans"/>
                <a:cs typeface="Noto Sans"/>
                <a:sym typeface="Noto Sans"/>
              </a:rPr>
              <a:t>Ejemplo 2:</a:t>
            </a:r>
            <a:r>
              <a:rPr b="0" i="0" lang="en-US" sz="1825" u="none" cap="none" strike="noStrike">
                <a:solidFill>
                  <a:srgbClr val="2D659F"/>
                </a:solidFill>
                <a:latin typeface="Noto Sans"/>
                <a:ea typeface="Noto Sans"/>
                <a:cs typeface="Noto Sans"/>
                <a:sym typeface="Noto Sans"/>
              </a:rPr>
              <a:t> La redistribución de protocolos se aplica cuando se usan diferentes protocolos de enrutamiento en distintas partes de la red. Por ejemplo, si una empresa usa OSPF internamente y EIGRP en una conexión hacia otra sucursal, un router intermedio puede redistribuir rutas de OSPF a EIGRP (y viceversa) para que ambos dominios puedan comunicarse, lo cual es común en fusiones de redes o migraciones graduales de protocolo.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F8FD1"/>
        </a:solidFill>
      </p:bgPr>
    </p:bg>
    <p:spTree>
      <p:nvGrpSpPr>
        <p:cNvPr id="599" name="Shape 599"/>
        <p:cNvGrpSpPr/>
        <p:nvPr/>
      </p:nvGrpSpPr>
      <p:grpSpPr>
        <a:xfrm>
          <a:off x="0" y="0"/>
          <a:ext cx="0" cy="0"/>
          <a:chOff x="0" y="0"/>
          <a:chExt cx="0" cy="0"/>
        </a:xfrm>
      </p:grpSpPr>
      <p:grpSp>
        <p:nvGrpSpPr>
          <p:cNvPr id="600" name="Google Shape;600;p27"/>
          <p:cNvGrpSpPr/>
          <p:nvPr/>
        </p:nvGrpSpPr>
        <p:grpSpPr>
          <a:xfrm>
            <a:off x="-2138108" y="-2195866"/>
            <a:ext cx="22564215" cy="6023656"/>
            <a:chOff x="0" y="0"/>
            <a:chExt cx="4204104" cy="1122311"/>
          </a:xfrm>
        </p:grpSpPr>
        <p:sp>
          <p:nvSpPr>
            <p:cNvPr id="601" name="Google Shape;601;p27"/>
            <p:cNvSpPr/>
            <p:nvPr/>
          </p:nvSpPr>
          <p:spPr>
            <a:xfrm>
              <a:off x="0" y="0"/>
              <a:ext cx="4204104" cy="1122311"/>
            </a:xfrm>
            <a:custGeom>
              <a:rect b="b" l="l" r="r" t="t"/>
              <a:pathLst>
                <a:path extrusionOk="0" h="1122311" w="4204104">
                  <a:moveTo>
                    <a:pt x="2102052" y="0"/>
                  </a:moveTo>
                  <a:cubicBezTo>
                    <a:pt x="941121" y="0"/>
                    <a:pt x="0" y="251238"/>
                    <a:pt x="0" y="561156"/>
                  </a:cubicBezTo>
                  <a:cubicBezTo>
                    <a:pt x="0" y="871073"/>
                    <a:pt x="941121" y="1122311"/>
                    <a:pt x="2102052" y="1122311"/>
                  </a:cubicBezTo>
                  <a:cubicBezTo>
                    <a:pt x="3262983" y="1122311"/>
                    <a:pt x="4204104" y="871073"/>
                    <a:pt x="4204104" y="561156"/>
                  </a:cubicBezTo>
                  <a:cubicBezTo>
                    <a:pt x="4204104" y="251238"/>
                    <a:pt x="3262983" y="0"/>
                    <a:pt x="2102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7"/>
            <p:cNvSpPr txBox="1"/>
            <p:nvPr/>
          </p:nvSpPr>
          <p:spPr>
            <a:xfrm>
              <a:off x="394135" y="57592"/>
              <a:ext cx="3415834" cy="95950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603" name="Google Shape;603;p27"/>
          <p:cNvCxnSpPr/>
          <p:nvPr/>
        </p:nvCxnSpPr>
        <p:spPr>
          <a:xfrm>
            <a:off x="7108928" y="4024489"/>
            <a:ext cx="0" cy="4603719"/>
          </a:xfrm>
          <a:prstGeom prst="straightConnector1">
            <a:avLst/>
          </a:prstGeom>
          <a:noFill/>
          <a:ln cap="rnd" cmpd="sng" w="66675">
            <a:solidFill>
              <a:srgbClr val="FFFFFF"/>
            </a:solidFill>
            <a:prstDash val="dash"/>
            <a:round/>
            <a:headEnd len="sm" w="sm" type="none"/>
            <a:tailEnd len="sm" w="sm" type="none"/>
          </a:ln>
        </p:spPr>
      </p:cxnSp>
      <p:cxnSp>
        <p:nvCxnSpPr>
          <p:cNvPr id="604" name="Google Shape;604;p27"/>
          <p:cNvCxnSpPr/>
          <p:nvPr/>
        </p:nvCxnSpPr>
        <p:spPr>
          <a:xfrm>
            <a:off x="11219742" y="3976642"/>
            <a:ext cx="0" cy="4822102"/>
          </a:xfrm>
          <a:prstGeom prst="straightConnector1">
            <a:avLst/>
          </a:prstGeom>
          <a:noFill/>
          <a:ln cap="rnd" cmpd="sng" w="66675">
            <a:solidFill>
              <a:srgbClr val="FFFFFF"/>
            </a:solidFill>
            <a:prstDash val="dash"/>
            <a:round/>
            <a:headEnd len="sm" w="sm" type="none"/>
            <a:tailEnd len="sm" w="sm" type="none"/>
          </a:ln>
        </p:spPr>
      </p:cxnSp>
      <p:grpSp>
        <p:nvGrpSpPr>
          <p:cNvPr id="605" name="Google Shape;605;p27"/>
          <p:cNvGrpSpPr/>
          <p:nvPr/>
        </p:nvGrpSpPr>
        <p:grpSpPr>
          <a:xfrm>
            <a:off x="3999414" y="3967295"/>
            <a:ext cx="1753309" cy="1753309"/>
            <a:chOff x="0" y="0"/>
            <a:chExt cx="812800" cy="812800"/>
          </a:xfrm>
        </p:grpSpPr>
        <p:sp>
          <p:nvSpPr>
            <p:cNvPr id="606" name="Google Shape;606;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8" name="Google Shape;608;p27"/>
          <p:cNvGrpSpPr/>
          <p:nvPr/>
        </p:nvGrpSpPr>
        <p:grpSpPr>
          <a:xfrm>
            <a:off x="8247010" y="4024489"/>
            <a:ext cx="1753309" cy="1753309"/>
            <a:chOff x="0" y="0"/>
            <a:chExt cx="812800" cy="812800"/>
          </a:xfrm>
        </p:grpSpPr>
        <p:sp>
          <p:nvSpPr>
            <p:cNvPr id="609" name="Google Shape;609;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1" name="Google Shape;611;p27"/>
          <p:cNvGrpSpPr/>
          <p:nvPr/>
        </p:nvGrpSpPr>
        <p:grpSpPr>
          <a:xfrm>
            <a:off x="12535277" y="3967295"/>
            <a:ext cx="1753309" cy="1753309"/>
            <a:chOff x="0" y="0"/>
            <a:chExt cx="812800" cy="812800"/>
          </a:xfrm>
        </p:grpSpPr>
        <p:sp>
          <p:nvSpPr>
            <p:cNvPr id="612" name="Google Shape;612;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4" name="Google Shape;614;p27"/>
          <p:cNvSpPr/>
          <p:nvPr/>
        </p:nvSpPr>
        <p:spPr>
          <a:xfrm>
            <a:off x="4234246" y="4369804"/>
            <a:ext cx="1283645" cy="948293"/>
          </a:xfrm>
          <a:custGeom>
            <a:rect b="b" l="l" r="r" t="t"/>
            <a:pathLst>
              <a:path extrusionOk="0" h="948293" w="1283645">
                <a:moveTo>
                  <a:pt x="0" y="0"/>
                </a:moveTo>
                <a:lnTo>
                  <a:pt x="1283645" y="0"/>
                </a:lnTo>
                <a:lnTo>
                  <a:pt x="1283645" y="948292"/>
                </a:lnTo>
                <a:lnTo>
                  <a:pt x="0" y="948292"/>
                </a:lnTo>
                <a:lnTo>
                  <a:pt x="0" y="0"/>
                </a:lnTo>
                <a:close/>
              </a:path>
            </a:pathLst>
          </a:custGeom>
          <a:blipFill rotWithShape="1">
            <a:blip r:embed="rId3">
              <a:alphaModFix/>
            </a:blip>
            <a:stretch>
              <a:fillRect b="0" l="0" r="0" t="0"/>
            </a:stretch>
          </a:blipFill>
          <a:ln>
            <a:noFill/>
          </a:ln>
        </p:spPr>
      </p:sp>
      <p:sp>
        <p:nvSpPr>
          <p:cNvPr id="615" name="Google Shape;615;p27"/>
          <p:cNvSpPr/>
          <p:nvPr/>
        </p:nvSpPr>
        <p:spPr>
          <a:xfrm>
            <a:off x="12726452" y="4188746"/>
            <a:ext cx="1370959" cy="1310408"/>
          </a:xfrm>
          <a:custGeom>
            <a:rect b="b" l="l" r="r" t="t"/>
            <a:pathLst>
              <a:path extrusionOk="0" h="1310408" w="1370959">
                <a:moveTo>
                  <a:pt x="0" y="0"/>
                </a:moveTo>
                <a:lnTo>
                  <a:pt x="1370959" y="0"/>
                </a:lnTo>
                <a:lnTo>
                  <a:pt x="1370959" y="1310408"/>
                </a:lnTo>
                <a:lnTo>
                  <a:pt x="0" y="1310408"/>
                </a:lnTo>
                <a:lnTo>
                  <a:pt x="0" y="0"/>
                </a:lnTo>
                <a:close/>
              </a:path>
            </a:pathLst>
          </a:custGeom>
          <a:blipFill rotWithShape="1">
            <a:blip r:embed="rId4">
              <a:alphaModFix/>
            </a:blip>
            <a:stretch>
              <a:fillRect b="0" l="0" r="0" t="0"/>
            </a:stretch>
          </a:blipFill>
          <a:ln>
            <a:noFill/>
          </a:ln>
        </p:spPr>
      </p:sp>
      <p:sp>
        <p:nvSpPr>
          <p:cNvPr id="616" name="Google Shape;616;p27"/>
          <p:cNvSpPr/>
          <p:nvPr/>
        </p:nvSpPr>
        <p:spPr>
          <a:xfrm>
            <a:off x="8589111" y="4346254"/>
            <a:ext cx="1109779" cy="1109779"/>
          </a:xfrm>
          <a:custGeom>
            <a:rect b="b" l="l" r="r" t="t"/>
            <a:pathLst>
              <a:path extrusionOk="0" h="1109779" w="1109779">
                <a:moveTo>
                  <a:pt x="0" y="0"/>
                </a:moveTo>
                <a:lnTo>
                  <a:pt x="1109778" y="0"/>
                </a:lnTo>
                <a:lnTo>
                  <a:pt x="1109778" y="1109779"/>
                </a:lnTo>
                <a:lnTo>
                  <a:pt x="0" y="1109779"/>
                </a:lnTo>
                <a:lnTo>
                  <a:pt x="0" y="0"/>
                </a:lnTo>
                <a:close/>
              </a:path>
            </a:pathLst>
          </a:custGeom>
          <a:blipFill rotWithShape="1">
            <a:blip r:embed="rId5">
              <a:alphaModFix/>
            </a:blip>
            <a:stretch>
              <a:fillRect b="0" l="0" r="0" t="0"/>
            </a:stretch>
          </a:blipFill>
          <a:ln>
            <a:noFill/>
          </a:ln>
        </p:spPr>
      </p:sp>
      <p:sp>
        <p:nvSpPr>
          <p:cNvPr id="617" name="Google Shape;617;p27"/>
          <p:cNvSpPr txBox="1"/>
          <p:nvPr/>
        </p:nvSpPr>
        <p:spPr>
          <a:xfrm>
            <a:off x="3125506" y="5812485"/>
            <a:ext cx="3501124" cy="2815723"/>
          </a:xfrm>
          <a:prstGeom prst="rect">
            <a:avLst/>
          </a:prstGeom>
          <a:noFill/>
          <a:ln>
            <a:noFill/>
          </a:ln>
        </p:spPr>
        <p:txBody>
          <a:bodyPr anchorCtr="0" anchor="t" bIns="0" lIns="0" spcFirstLastPara="1" rIns="0" wrap="square" tIns="0">
            <a:spAutoFit/>
          </a:bodyPr>
          <a:lstStyle/>
          <a:p>
            <a:pPr indent="0" lvl="1" marL="0" marR="0" rtl="0" algn="ctr">
              <a:lnSpc>
                <a:spcPct val="140019"/>
              </a:lnSpc>
              <a:spcBef>
                <a:spcPts val="0"/>
              </a:spcBef>
              <a:spcAft>
                <a:spcPts val="0"/>
              </a:spcAft>
              <a:buNone/>
            </a:pPr>
            <a:r>
              <a:rPr b="0" i="0" lang="en-US" sz="2019" u="none" cap="none" strike="noStrike">
                <a:solidFill>
                  <a:srgbClr val="FFFFFF"/>
                </a:solidFill>
                <a:latin typeface="Noto Sans"/>
                <a:ea typeface="Noto Sans"/>
                <a:cs typeface="Noto Sans"/>
                <a:sym typeface="Noto Sans"/>
              </a:rPr>
              <a:t>La convergencia es la capacidad de los protocolos de ruteo para actualizar y estabilizar sus tablas después de un cambio en la red. Un buen protocolo debe converger rápido para evitar pérdida de paquetes.</a:t>
            </a:r>
            <a:endParaRPr/>
          </a:p>
        </p:txBody>
      </p:sp>
      <p:sp>
        <p:nvSpPr>
          <p:cNvPr id="618" name="Google Shape;618;p27"/>
          <p:cNvSpPr txBox="1"/>
          <p:nvPr/>
        </p:nvSpPr>
        <p:spPr>
          <a:xfrm>
            <a:off x="7373103" y="5812485"/>
            <a:ext cx="3501124" cy="2110873"/>
          </a:xfrm>
          <a:prstGeom prst="rect">
            <a:avLst/>
          </a:prstGeom>
          <a:noFill/>
          <a:ln>
            <a:noFill/>
          </a:ln>
        </p:spPr>
        <p:txBody>
          <a:bodyPr anchorCtr="0" anchor="t" bIns="0" lIns="0" spcFirstLastPara="1" rIns="0" wrap="square" tIns="0">
            <a:spAutoFit/>
          </a:bodyPr>
          <a:lstStyle/>
          <a:p>
            <a:pPr indent="0" lvl="1" marL="0" marR="0" rtl="0" algn="ctr">
              <a:lnSpc>
                <a:spcPct val="140019"/>
              </a:lnSpc>
              <a:spcBef>
                <a:spcPts val="0"/>
              </a:spcBef>
              <a:spcAft>
                <a:spcPts val="0"/>
              </a:spcAft>
              <a:buNone/>
            </a:pPr>
            <a:r>
              <a:rPr b="0" i="0" lang="en-US" sz="2019" u="none" cap="none" strike="noStrike">
                <a:solidFill>
                  <a:srgbClr val="FFFFFF"/>
                </a:solidFill>
                <a:latin typeface="Noto Sans"/>
                <a:ea typeface="Noto Sans"/>
                <a:cs typeface="Noto Sans"/>
                <a:sym typeface="Noto Sans"/>
              </a:rPr>
              <a:t>Cada protocolo usa su propia métrica (como saltos, retardo o políticas) y algoritmo (como Dijkstra o DUAL) para determinar la mejor ruta hacia un destino.</a:t>
            </a:r>
            <a:endParaRPr/>
          </a:p>
        </p:txBody>
      </p:sp>
      <p:sp>
        <p:nvSpPr>
          <p:cNvPr id="619" name="Google Shape;619;p27"/>
          <p:cNvSpPr txBox="1"/>
          <p:nvPr/>
        </p:nvSpPr>
        <p:spPr>
          <a:xfrm>
            <a:off x="11661370" y="5812485"/>
            <a:ext cx="3501124" cy="2463298"/>
          </a:xfrm>
          <a:prstGeom prst="rect">
            <a:avLst/>
          </a:prstGeom>
          <a:noFill/>
          <a:ln>
            <a:noFill/>
          </a:ln>
        </p:spPr>
        <p:txBody>
          <a:bodyPr anchorCtr="0" anchor="t" bIns="0" lIns="0" spcFirstLastPara="1" rIns="0" wrap="square" tIns="0">
            <a:spAutoFit/>
          </a:bodyPr>
          <a:lstStyle/>
          <a:p>
            <a:pPr indent="0" lvl="1" marL="0" marR="0" rtl="0" algn="ctr">
              <a:lnSpc>
                <a:spcPct val="140019"/>
              </a:lnSpc>
              <a:spcBef>
                <a:spcPts val="0"/>
              </a:spcBef>
              <a:spcAft>
                <a:spcPts val="0"/>
              </a:spcAft>
              <a:buNone/>
            </a:pPr>
            <a:r>
              <a:rPr b="0" i="0" lang="en-US" sz="2019" u="none" cap="none" strike="noStrike">
                <a:solidFill>
                  <a:srgbClr val="FFFFFF"/>
                </a:solidFill>
                <a:latin typeface="Noto Sans"/>
                <a:ea typeface="Noto Sans"/>
                <a:cs typeface="Noto Sans"/>
                <a:sym typeface="Noto Sans"/>
              </a:rPr>
              <a:t>Los protocolos de ruteo dinámico deben adaptarse al tamaño de la red y ser capaces de interoperar entre sí mediante técnicas como la redistribución y autenticación.</a:t>
            </a:r>
            <a:endParaRPr/>
          </a:p>
        </p:txBody>
      </p:sp>
      <p:sp>
        <p:nvSpPr>
          <p:cNvPr id="620" name="Google Shape;620;p27"/>
          <p:cNvSpPr txBox="1"/>
          <p:nvPr/>
        </p:nvSpPr>
        <p:spPr>
          <a:xfrm>
            <a:off x="2692541" y="885825"/>
            <a:ext cx="12633535" cy="255101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7191" u="none" cap="none" strike="noStrike">
                <a:solidFill>
                  <a:srgbClr val="4F8FD1"/>
                </a:solidFill>
                <a:latin typeface="Arial"/>
                <a:ea typeface="Arial"/>
                <a:cs typeface="Arial"/>
                <a:sym typeface="Arial"/>
              </a:rPr>
              <a:t>CONCEPTOS CLAVE APRENDIDOS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624" name="Shape 624"/>
        <p:cNvGrpSpPr/>
        <p:nvPr/>
      </p:nvGrpSpPr>
      <p:grpSpPr>
        <a:xfrm>
          <a:off x="0" y="0"/>
          <a:ext cx="0" cy="0"/>
          <a:chOff x="0" y="0"/>
          <a:chExt cx="0" cy="0"/>
        </a:xfrm>
      </p:grpSpPr>
      <p:grpSp>
        <p:nvGrpSpPr>
          <p:cNvPr id="625" name="Google Shape;625;p28"/>
          <p:cNvGrpSpPr/>
          <p:nvPr/>
        </p:nvGrpSpPr>
        <p:grpSpPr>
          <a:xfrm>
            <a:off x="3373015" y="4356909"/>
            <a:ext cx="3825218" cy="3651025"/>
            <a:chOff x="-366471" y="-11891"/>
            <a:chExt cx="15572971" cy="14863810"/>
          </a:xfrm>
        </p:grpSpPr>
        <p:sp>
          <p:nvSpPr>
            <p:cNvPr id="626" name="Google Shape;626;p28"/>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8"/>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8"/>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3">
                <a:alphaModFix/>
              </a:blip>
              <a:stretch>
                <a:fillRect b="0" l="-13174" r="-13172"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28"/>
          <p:cNvGrpSpPr/>
          <p:nvPr/>
        </p:nvGrpSpPr>
        <p:grpSpPr>
          <a:xfrm>
            <a:off x="7662656" y="4294484"/>
            <a:ext cx="8278472" cy="3566109"/>
            <a:chOff x="0" y="-47625"/>
            <a:chExt cx="6033453" cy="2599025"/>
          </a:xfrm>
        </p:grpSpPr>
        <p:sp>
          <p:nvSpPr>
            <p:cNvPr id="630" name="Google Shape;630;p28"/>
            <p:cNvSpPr/>
            <p:nvPr/>
          </p:nvSpPr>
          <p:spPr>
            <a:xfrm>
              <a:off x="0" y="0"/>
              <a:ext cx="6033453" cy="2551400"/>
            </a:xfrm>
            <a:custGeom>
              <a:rect b="b" l="l" r="r" t="t"/>
              <a:pathLst>
                <a:path extrusionOk="0" h="2551400" w="6033453">
                  <a:moveTo>
                    <a:pt x="14963" y="0"/>
                  </a:moveTo>
                  <a:lnTo>
                    <a:pt x="6018490" y="0"/>
                  </a:lnTo>
                  <a:cubicBezTo>
                    <a:pt x="6022459" y="0"/>
                    <a:pt x="6026265" y="1576"/>
                    <a:pt x="6029071" y="4383"/>
                  </a:cubicBezTo>
                  <a:cubicBezTo>
                    <a:pt x="6031877" y="7189"/>
                    <a:pt x="6033453" y="10995"/>
                    <a:pt x="6033453" y="14963"/>
                  </a:cubicBezTo>
                  <a:lnTo>
                    <a:pt x="6033453" y="2536437"/>
                  </a:lnTo>
                  <a:cubicBezTo>
                    <a:pt x="6033453" y="2540405"/>
                    <a:pt x="6031877" y="2544211"/>
                    <a:pt x="6029071" y="2547017"/>
                  </a:cubicBezTo>
                  <a:cubicBezTo>
                    <a:pt x="6026265" y="2549823"/>
                    <a:pt x="6022459" y="2551400"/>
                    <a:pt x="6018490" y="2551400"/>
                  </a:cubicBezTo>
                  <a:lnTo>
                    <a:pt x="14963" y="2551400"/>
                  </a:lnTo>
                  <a:cubicBezTo>
                    <a:pt x="10995" y="2551400"/>
                    <a:pt x="7189" y="2549823"/>
                    <a:pt x="4383" y="2547017"/>
                  </a:cubicBezTo>
                  <a:cubicBezTo>
                    <a:pt x="1576" y="2544211"/>
                    <a:pt x="0" y="2540405"/>
                    <a:pt x="0" y="2536437"/>
                  </a:cubicBezTo>
                  <a:lnTo>
                    <a:pt x="0" y="14963"/>
                  </a:lnTo>
                  <a:cubicBezTo>
                    <a:pt x="0" y="10995"/>
                    <a:pt x="1576" y="7189"/>
                    <a:pt x="4383" y="4383"/>
                  </a:cubicBezTo>
                  <a:cubicBezTo>
                    <a:pt x="7189" y="1576"/>
                    <a:pt x="10995" y="0"/>
                    <a:pt x="14963" y="0"/>
                  </a:cubicBezTo>
                  <a:close/>
                </a:path>
              </a:pathLst>
            </a:custGeom>
            <a:solidFill>
              <a:srgbClr val="2D659F"/>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8"/>
            <p:cNvSpPr txBox="1"/>
            <p:nvPr/>
          </p:nvSpPr>
          <p:spPr>
            <a:xfrm>
              <a:off x="0" y="-47625"/>
              <a:ext cx="6033453" cy="2599025"/>
            </a:xfrm>
            <a:prstGeom prst="rect">
              <a:avLst/>
            </a:prstGeom>
            <a:noFill/>
            <a:ln>
              <a:noFill/>
            </a:ln>
          </p:spPr>
          <p:txBody>
            <a:bodyPr anchorCtr="0" anchor="ctr" bIns="50800" lIns="50800" spcFirstLastPara="1" rIns="50800" wrap="square" tIns="50800">
              <a:noAutofit/>
            </a:bodyPr>
            <a:lstStyle/>
            <a:p>
              <a:pPr indent="0" lvl="1" marL="0" marR="0" rtl="0" algn="ctr">
                <a:lnSpc>
                  <a:spcPct val="139968"/>
                </a:lnSpc>
                <a:spcBef>
                  <a:spcPts val="0"/>
                </a:spcBef>
                <a:spcAft>
                  <a:spcPts val="0"/>
                </a:spcAft>
                <a:buNone/>
              </a:pPr>
              <a:r>
                <a:rPr b="0" i="0" lang="en-US" sz="2547" u="none" cap="none" strike="noStrike">
                  <a:solidFill>
                    <a:srgbClr val="FFFFFF"/>
                  </a:solidFill>
                  <a:latin typeface="Noto Sans"/>
                  <a:ea typeface="Noto Sans"/>
                  <a:cs typeface="Noto Sans"/>
                  <a:sym typeface="Noto Sans"/>
                </a:rPr>
                <a:t>Promover el uso adecuado de las técnicas de redistribución, garantizando integridad y confianza para entornos reales. Fomentar una actitud analítica, de mono que se pueda dar solución y elegir el protocolo mas eficiente para algún tipo de red.</a:t>
              </a:r>
              <a:endParaRPr/>
            </a:p>
          </p:txBody>
        </p:sp>
      </p:grpSp>
      <p:grpSp>
        <p:nvGrpSpPr>
          <p:cNvPr id="632" name="Google Shape;632;p28"/>
          <p:cNvGrpSpPr/>
          <p:nvPr/>
        </p:nvGrpSpPr>
        <p:grpSpPr>
          <a:xfrm>
            <a:off x="-1474356" y="-1645406"/>
            <a:ext cx="4801388" cy="4844925"/>
            <a:chOff x="0" y="0"/>
            <a:chExt cx="812800" cy="820170"/>
          </a:xfrm>
        </p:grpSpPr>
        <p:sp>
          <p:nvSpPr>
            <p:cNvPr id="633" name="Google Shape;633;p28"/>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8"/>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35" name="Google Shape;635;p28"/>
          <p:cNvGrpSpPr/>
          <p:nvPr/>
        </p:nvGrpSpPr>
        <p:grpSpPr>
          <a:xfrm>
            <a:off x="15641915" y="7808359"/>
            <a:ext cx="3634344" cy="3667300"/>
            <a:chOff x="0" y="0"/>
            <a:chExt cx="812800" cy="820170"/>
          </a:xfrm>
        </p:grpSpPr>
        <p:sp>
          <p:nvSpPr>
            <p:cNvPr id="636" name="Google Shape;636;p28"/>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8"/>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38" name="Google Shape;638;p28"/>
          <p:cNvSpPr txBox="1"/>
          <p:nvPr/>
        </p:nvSpPr>
        <p:spPr>
          <a:xfrm>
            <a:off x="6410552" y="1933012"/>
            <a:ext cx="6579867" cy="21937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6255" u="none" cap="none" strike="noStrike">
                <a:solidFill>
                  <a:srgbClr val="FFFFFF"/>
                </a:solidFill>
                <a:latin typeface="Arial"/>
                <a:ea typeface="Arial"/>
                <a:cs typeface="Arial"/>
                <a:sym typeface="Arial"/>
              </a:rPr>
              <a:t>VALOR DE LA SEMANA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642" name="Shape 642"/>
        <p:cNvGrpSpPr/>
        <p:nvPr/>
      </p:nvGrpSpPr>
      <p:grpSpPr>
        <a:xfrm>
          <a:off x="0" y="0"/>
          <a:ext cx="0" cy="0"/>
          <a:chOff x="0" y="0"/>
          <a:chExt cx="0" cy="0"/>
        </a:xfrm>
      </p:grpSpPr>
      <p:grpSp>
        <p:nvGrpSpPr>
          <p:cNvPr id="643" name="Google Shape;643;p29"/>
          <p:cNvGrpSpPr/>
          <p:nvPr/>
        </p:nvGrpSpPr>
        <p:grpSpPr>
          <a:xfrm>
            <a:off x="-4856925" y="6662293"/>
            <a:ext cx="12549976" cy="12663776"/>
            <a:chOff x="0" y="0"/>
            <a:chExt cx="812800" cy="820170"/>
          </a:xfrm>
        </p:grpSpPr>
        <p:sp>
          <p:nvSpPr>
            <p:cNvPr id="644" name="Google Shape;644;p29"/>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9"/>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6" name="Google Shape;646;p29"/>
          <p:cNvGrpSpPr/>
          <p:nvPr/>
        </p:nvGrpSpPr>
        <p:grpSpPr>
          <a:xfrm>
            <a:off x="15212158" y="-2406548"/>
            <a:ext cx="4769843" cy="4813095"/>
            <a:chOff x="0" y="0"/>
            <a:chExt cx="812800" cy="820170"/>
          </a:xfrm>
        </p:grpSpPr>
        <p:sp>
          <p:nvSpPr>
            <p:cNvPr id="647" name="Google Shape;647;p29"/>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9"/>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49" name="Google Shape;649;p29"/>
          <p:cNvSpPr/>
          <p:nvPr/>
        </p:nvSpPr>
        <p:spPr>
          <a:xfrm>
            <a:off x="16018718" y="8617062"/>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650" name="Google Shape;650;p29"/>
          <p:cNvSpPr txBox="1"/>
          <p:nvPr/>
        </p:nvSpPr>
        <p:spPr>
          <a:xfrm>
            <a:off x="6259777" y="3494883"/>
            <a:ext cx="10322167" cy="4441373"/>
          </a:xfrm>
          <a:prstGeom prst="rect">
            <a:avLst/>
          </a:prstGeom>
          <a:noFill/>
          <a:ln>
            <a:noFill/>
          </a:ln>
        </p:spPr>
        <p:txBody>
          <a:bodyPr anchorCtr="0" anchor="t" bIns="0" lIns="0" spcFirstLastPara="1" rIns="0" wrap="square" tIns="0">
            <a:spAutoFit/>
          </a:bodyPr>
          <a:lstStyle/>
          <a:p>
            <a:pPr indent="-231316" lvl="1" marL="462631" marR="0" rtl="0" algn="l">
              <a:lnSpc>
                <a:spcPct val="140009"/>
              </a:lnSpc>
              <a:spcBef>
                <a:spcPts val="0"/>
              </a:spcBef>
              <a:spcAft>
                <a:spcPts val="0"/>
              </a:spcAft>
              <a:buClr>
                <a:srgbClr val="FFFFFF"/>
              </a:buClr>
              <a:buSzPts val="2142"/>
              <a:buFont typeface="Arial"/>
              <a:buChar char="•"/>
            </a:pPr>
            <a:r>
              <a:rPr b="0" i="0" lang="en-US" sz="2142" u="none" cap="none" strike="noStrike">
                <a:solidFill>
                  <a:srgbClr val="FFFFFF"/>
                </a:solidFill>
                <a:latin typeface="Noto Sans"/>
                <a:ea typeface="Noto Sans"/>
                <a:cs typeface="Noto Sans"/>
                <a:sym typeface="Noto Sans"/>
              </a:rPr>
              <a:t>Network Computing. (s.f.). Comparing dynamic routing protocols. Network Computing. Recuperado el 25 de mayo de 2025, de </a:t>
            </a:r>
            <a:r>
              <a:rPr b="0" i="0" lang="en-US" sz="2142" u="sng" cap="none" strike="noStrike">
                <a:solidFill>
                  <a:srgbClr val="FFFFFF"/>
                </a:solidFill>
                <a:latin typeface="Noto Sans"/>
                <a:ea typeface="Noto Sans"/>
                <a:cs typeface="Noto Sans"/>
                <a:sym typeface="Noto Sans"/>
                <a:hlinkClick r:id="rId4">
                  <a:extLst>
                    <a:ext uri="{A12FA001-AC4F-418D-AE19-62706E023703}">
                      <ahyp:hlinkClr val="tx"/>
                    </a:ext>
                  </a:extLst>
                </a:hlinkClick>
              </a:rPr>
              <a:t>https://www.networkcomputing.com/network-management/comparing-dynamic-routing-protocols</a:t>
            </a:r>
            <a:endParaRPr/>
          </a:p>
          <a:p>
            <a:pPr indent="-231316" lvl="1" marL="462631" marR="0" rtl="0" algn="l">
              <a:lnSpc>
                <a:spcPct val="140009"/>
              </a:lnSpc>
              <a:spcBef>
                <a:spcPts val="0"/>
              </a:spcBef>
              <a:spcAft>
                <a:spcPts val="0"/>
              </a:spcAft>
              <a:buClr>
                <a:srgbClr val="FFFFFF"/>
              </a:buClr>
              <a:buSzPts val="2142"/>
              <a:buFont typeface="Arial"/>
              <a:buChar char="•"/>
            </a:pPr>
            <a:r>
              <a:rPr b="0" i="0" lang="en-US" sz="2142" u="none" cap="none" strike="noStrike">
                <a:solidFill>
                  <a:srgbClr val="FFFFFF"/>
                </a:solidFill>
                <a:latin typeface="Noto Sans"/>
                <a:ea typeface="Noto Sans"/>
                <a:cs typeface="Noto Sans"/>
                <a:sym typeface="Noto Sans"/>
              </a:rPr>
              <a:t>Interlir. (2024, agosto 29). Comparación de protocolos de enrutamiento: BGP vs OSPF vs RIP. Interlir. </a:t>
            </a:r>
            <a:r>
              <a:rPr b="0" i="0" lang="en-US" sz="2142" u="sng" cap="none" strike="noStrike">
                <a:solidFill>
                  <a:srgbClr val="FFFFFF"/>
                </a:solidFill>
                <a:latin typeface="Noto Sans"/>
                <a:ea typeface="Noto Sans"/>
                <a:cs typeface="Noto Sans"/>
                <a:sym typeface="Noto Sans"/>
                <a:hlinkClick r:id="rId5">
                  <a:extLst>
                    <a:ext uri="{A12FA001-AC4F-418D-AE19-62706E023703}">
                      <ahyp:hlinkClr val="tx"/>
                    </a:ext>
                  </a:extLst>
                </a:hlinkClick>
              </a:rPr>
              <a:t>https://interlir.com/es/2024/08/29/comparacion-de-protocolos-de-enrutamiento-bgp-vs-ospf-vs-rip/</a:t>
            </a:r>
            <a:endParaRPr/>
          </a:p>
          <a:p>
            <a:pPr indent="-231316" lvl="1" marL="462631" marR="0" rtl="0" algn="l">
              <a:lnSpc>
                <a:spcPct val="140009"/>
              </a:lnSpc>
              <a:spcBef>
                <a:spcPts val="0"/>
              </a:spcBef>
              <a:spcAft>
                <a:spcPts val="0"/>
              </a:spcAft>
              <a:buClr>
                <a:srgbClr val="FFFFFF"/>
              </a:buClr>
              <a:buSzPts val="2142"/>
              <a:buFont typeface="Arial"/>
              <a:buChar char="•"/>
            </a:pPr>
            <a:r>
              <a:rPr b="0" i="0" lang="en-US" sz="2142" u="none" cap="none" strike="noStrike">
                <a:solidFill>
                  <a:srgbClr val="FFFFFF"/>
                </a:solidFill>
                <a:latin typeface="Noto Sans"/>
                <a:ea typeface="Noto Sans"/>
                <a:cs typeface="Noto Sans"/>
                <a:sym typeface="Noto Sans"/>
              </a:rPr>
              <a:t>Cisco Community. (2022, enero 7). Dynamic Routing Protocols – OSPF, EIGRP, RIPv2, IS-IS, BGP. Cisco. </a:t>
            </a:r>
            <a:r>
              <a:rPr b="0" i="0" lang="en-US" sz="2142" u="sng" cap="none" strike="noStrike">
                <a:solidFill>
                  <a:srgbClr val="FFFFFF"/>
                </a:solidFill>
                <a:latin typeface="Noto Sans"/>
                <a:ea typeface="Noto Sans"/>
                <a:cs typeface="Noto Sans"/>
                <a:sym typeface="Noto Sans"/>
                <a:hlinkClick r:id="rId6">
                  <a:extLst>
                    <a:ext uri="{A12FA001-AC4F-418D-AE19-62706E023703}">
                      <ahyp:hlinkClr val="tx"/>
                    </a:ext>
                  </a:extLst>
                </a:hlinkClick>
              </a:rPr>
              <a:t>https://community.cisco.com/t5/networking-knowledge-base/dynamic-routing-protocols-ospf-eigrp-ripv2-is-is-bgp/ta-p/4511577</a:t>
            </a:r>
            <a:endParaRPr/>
          </a:p>
          <a:p>
            <a:pPr indent="0" lvl="1" marL="0" marR="0" rtl="0" algn="l">
              <a:lnSpc>
                <a:spcPct val="140009"/>
              </a:lnSpc>
              <a:spcBef>
                <a:spcPts val="0"/>
              </a:spcBef>
              <a:spcAft>
                <a:spcPts val="0"/>
              </a:spcAft>
              <a:buNone/>
            </a:pPr>
            <a:r>
              <a:t/>
            </a:r>
            <a:endParaRPr b="0" i="0" sz="2142" u="sng" cap="none" strike="noStrike">
              <a:solidFill>
                <a:srgbClr val="FFFFFF"/>
              </a:solidFill>
              <a:latin typeface="Noto Sans"/>
              <a:ea typeface="Noto Sans"/>
              <a:cs typeface="Noto Sans"/>
              <a:sym typeface="Noto Sans"/>
              <a:hlinkClick r:id="rId7">
                <a:extLst>
                  <a:ext uri="{A12FA001-AC4F-418D-AE19-62706E023703}">
                    <ahyp:hlinkClr val="tx"/>
                  </a:ext>
                </a:extLst>
              </a:hlinkClick>
            </a:endParaRPr>
          </a:p>
        </p:txBody>
      </p:sp>
      <p:sp>
        <p:nvSpPr>
          <p:cNvPr id="651" name="Google Shape;651;p29"/>
          <p:cNvSpPr/>
          <p:nvPr/>
        </p:nvSpPr>
        <p:spPr>
          <a:xfrm>
            <a:off x="706220" y="4381268"/>
            <a:ext cx="5553557" cy="4877032"/>
          </a:xfrm>
          <a:custGeom>
            <a:rect b="b" l="l" r="r" t="t"/>
            <a:pathLst>
              <a:path extrusionOk="0" h="4877032" w="5553557">
                <a:moveTo>
                  <a:pt x="0" y="0"/>
                </a:moveTo>
                <a:lnTo>
                  <a:pt x="5553557" y="0"/>
                </a:lnTo>
                <a:lnTo>
                  <a:pt x="5553557" y="4877032"/>
                </a:lnTo>
                <a:lnTo>
                  <a:pt x="0" y="4877032"/>
                </a:lnTo>
                <a:lnTo>
                  <a:pt x="0" y="0"/>
                </a:lnTo>
                <a:close/>
              </a:path>
            </a:pathLst>
          </a:custGeom>
          <a:blipFill rotWithShape="1">
            <a:blip r:embed="rId8">
              <a:alphaModFix/>
            </a:blip>
            <a:stretch>
              <a:fillRect b="0" l="0" r="0" t="0"/>
            </a:stretch>
          </a:blipFill>
          <a:ln>
            <a:noFill/>
          </a:ln>
        </p:spPr>
      </p:sp>
      <p:sp>
        <p:nvSpPr>
          <p:cNvPr id="652" name="Google Shape;652;p29"/>
          <p:cNvSpPr txBox="1"/>
          <p:nvPr/>
        </p:nvSpPr>
        <p:spPr>
          <a:xfrm>
            <a:off x="6778107" y="2301773"/>
            <a:ext cx="5757295" cy="92974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5395" u="none" cap="none" strike="noStrike">
                <a:solidFill>
                  <a:srgbClr val="FFFFFF"/>
                </a:solidFill>
                <a:latin typeface="Arial"/>
                <a:ea typeface="Arial"/>
                <a:cs typeface="Arial"/>
                <a:sym typeface="Arial"/>
              </a:rPr>
              <a:t>REFERENCIAS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656" name="Shape 656"/>
        <p:cNvGrpSpPr/>
        <p:nvPr/>
      </p:nvGrpSpPr>
      <p:grpSpPr>
        <a:xfrm>
          <a:off x="0" y="0"/>
          <a:ext cx="0" cy="0"/>
          <a:chOff x="0" y="0"/>
          <a:chExt cx="0" cy="0"/>
        </a:xfrm>
      </p:grpSpPr>
      <p:sp>
        <p:nvSpPr>
          <p:cNvPr id="657" name="Google Shape;657;p30"/>
          <p:cNvSpPr/>
          <p:nvPr/>
        </p:nvSpPr>
        <p:spPr>
          <a:xfrm>
            <a:off x="1030963" y="858570"/>
            <a:ext cx="16230600" cy="8399728"/>
          </a:xfrm>
          <a:custGeom>
            <a:rect b="b" l="l" r="r" t="t"/>
            <a:pathLst>
              <a:path extrusionOk="0" h="3675700" w="7102470">
                <a:moveTo>
                  <a:pt x="7102470" y="0"/>
                </a:moveTo>
                <a:lnTo>
                  <a:pt x="7102470" y="1700648"/>
                </a:lnTo>
                <a:cubicBezTo>
                  <a:pt x="6498903" y="2304215"/>
                  <a:pt x="6160511" y="2642607"/>
                  <a:pt x="5556943" y="3246174"/>
                </a:cubicBezTo>
                <a:lnTo>
                  <a:pt x="4649630" y="3246174"/>
                </a:lnTo>
                <a:lnTo>
                  <a:pt x="4180657" y="3675700"/>
                </a:lnTo>
                <a:lnTo>
                  <a:pt x="1415148" y="3675700"/>
                </a:lnTo>
                <a:lnTo>
                  <a:pt x="946175" y="3246174"/>
                </a:lnTo>
                <a:lnTo>
                  <a:pt x="0" y="3246174"/>
                </a:lnTo>
                <a:lnTo>
                  <a:pt x="0" y="812559"/>
                </a:lnTo>
                <a:lnTo>
                  <a:pt x="812559" y="0"/>
                </a:lnTo>
                <a:lnTo>
                  <a:pt x="7102470" y="0"/>
                </a:ln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0"/>
          <p:cNvSpPr txBox="1"/>
          <p:nvPr/>
        </p:nvSpPr>
        <p:spPr>
          <a:xfrm>
            <a:off x="3129987" y="2254656"/>
            <a:ext cx="12028026" cy="1111556"/>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1" i="0" lang="en-US" sz="6406" u="none" cap="none" strike="noStrike">
                <a:solidFill>
                  <a:srgbClr val="FFFFFF"/>
                </a:solidFill>
                <a:latin typeface="Arial"/>
                <a:ea typeface="Arial"/>
                <a:cs typeface="Arial"/>
                <a:sym typeface="Arial"/>
              </a:rPr>
              <a:t>EJEMPLO PRÁCTICO</a:t>
            </a:r>
            <a:endParaRPr/>
          </a:p>
        </p:txBody>
      </p:sp>
      <p:grpSp>
        <p:nvGrpSpPr>
          <p:cNvPr id="659" name="Google Shape;659;p30"/>
          <p:cNvGrpSpPr/>
          <p:nvPr/>
        </p:nvGrpSpPr>
        <p:grpSpPr>
          <a:xfrm>
            <a:off x="10423349" y="6406243"/>
            <a:ext cx="12549976" cy="12549976"/>
            <a:chOff x="0" y="0"/>
            <a:chExt cx="812800" cy="812800"/>
          </a:xfrm>
        </p:grpSpPr>
        <p:sp>
          <p:nvSpPr>
            <p:cNvPr id="660" name="Google Shape;660;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2" name="Google Shape;662;p30"/>
          <p:cNvGrpSpPr/>
          <p:nvPr/>
        </p:nvGrpSpPr>
        <p:grpSpPr>
          <a:xfrm>
            <a:off x="-1843573" y="-2585655"/>
            <a:ext cx="5462763" cy="5462763"/>
            <a:chOff x="0" y="0"/>
            <a:chExt cx="812800" cy="812800"/>
          </a:xfrm>
        </p:grpSpPr>
        <p:sp>
          <p:nvSpPr>
            <p:cNvPr id="663" name="Google Shape;663;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65" name="Google Shape;665;p30"/>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666" name="Google Shape;666;p30"/>
          <p:cNvSpPr/>
          <p:nvPr/>
        </p:nvSpPr>
        <p:spPr>
          <a:xfrm>
            <a:off x="12596744" y="3654060"/>
            <a:ext cx="5691256" cy="7799128"/>
          </a:xfrm>
          <a:custGeom>
            <a:rect b="b" l="l" r="r" t="t"/>
            <a:pathLst>
              <a:path extrusionOk="0" h="7799128" w="5691256">
                <a:moveTo>
                  <a:pt x="0" y="0"/>
                </a:moveTo>
                <a:lnTo>
                  <a:pt x="5691256" y="0"/>
                </a:lnTo>
                <a:lnTo>
                  <a:pt x="5691256" y="7799129"/>
                </a:lnTo>
                <a:lnTo>
                  <a:pt x="0" y="7799129"/>
                </a:lnTo>
                <a:lnTo>
                  <a:pt x="0" y="0"/>
                </a:lnTo>
                <a:close/>
              </a:path>
            </a:pathLst>
          </a:custGeom>
          <a:blipFill rotWithShape="1">
            <a:blip r:embed="rId4">
              <a:alphaModFix/>
            </a:blip>
            <a:stretch>
              <a:fillRect b="-324" l="0" r="0" t="-325"/>
            </a:stretch>
          </a:blipFill>
          <a:ln>
            <a:noFill/>
          </a:ln>
        </p:spPr>
      </p:sp>
      <p:sp>
        <p:nvSpPr>
          <p:cNvPr id="667" name="Google Shape;667;p30"/>
          <p:cNvSpPr/>
          <p:nvPr/>
        </p:nvSpPr>
        <p:spPr>
          <a:xfrm>
            <a:off x="7786804" y="3438825"/>
            <a:ext cx="2967419" cy="2967419"/>
          </a:xfrm>
          <a:custGeom>
            <a:rect b="b" l="l" r="r" t="t"/>
            <a:pathLst>
              <a:path extrusionOk="0" h="2967419" w="2967419">
                <a:moveTo>
                  <a:pt x="0" y="0"/>
                </a:moveTo>
                <a:lnTo>
                  <a:pt x="2967418" y="0"/>
                </a:lnTo>
                <a:lnTo>
                  <a:pt x="2967418" y="2967418"/>
                </a:lnTo>
                <a:lnTo>
                  <a:pt x="0" y="2967418"/>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671" name="Shape 671"/>
        <p:cNvGrpSpPr/>
        <p:nvPr/>
      </p:nvGrpSpPr>
      <p:grpSpPr>
        <a:xfrm>
          <a:off x="0" y="0"/>
          <a:ext cx="0" cy="0"/>
          <a:chOff x="0" y="0"/>
          <a:chExt cx="0" cy="0"/>
        </a:xfrm>
      </p:grpSpPr>
      <p:sp>
        <p:nvSpPr>
          <p:cNvPr id="672" name="Google Shape;672;p31"/>
          <p:cNvSpPr/>
          <p:nvPr/>
        </p:nvSpPr>
        <p:spPr>
          <a:xfrm>
            <a:off x="-7196273" y="-3921025"/>
            <a:ext cx="16449947" cy="16449947"/>
          </a:xfrm>
          <a:custGeom>
            <a:rect b="b" l="l" r="r" t="t"/>
            <a:pathLst>
              <a:path extrusionOk="0" h="16449947" w="16449947">
                <a:moveTo>
                  <a:pt x="0" y="0"/>
                </a:moveTo>
                <a:lnTo>
                  <a:pt x="16449946" y="0"/>
                </a:lnTo>
                <a:lnTo>
                  <a:pt x="16449946" y="16449946"/>
                </a:lnTo>
                <a:lnTo>
                  <a:pt x="0" y="16449946"/>
                </a:lnTo>
                <a:lnTo>
                  <a:pt x="0" y="0"/>
                </a:lnTo>
                <a:close/>
              </a:path>
            </a:pathLst>
          </a:custGeom>
          <a:blipFill rotWithShape="1">
            <a:blip r:embed="rId3">
              <a:alphaModFix/>
            </a:blip>
            <a:stretch>
              <a:fillRect b="0" l="0" r="0" t="0"/>
            </a:stretch>
          </a:blipFill>
          <a:ln>
            <a:noFill/>
          </a:ln>
        </p:spPr>
      </p:sp>
      <p:grpSp>
        <p:nvGrpSpPr>
          <p:cNvPr id="673" name="Google Shape;673;p31"/>
          <p:cNvGrpSpPr/>
          <p:nvPr/>
        </p:nvGrpSpPr>
        <p:grpSpPr>
          <a:xfrm>
            <a:off x="2728493" y="2285407"/>
            <a:ext cx="12077432" cy="6972893"/>
            <a:chOff x="0" y="0"/>
            <a:chExt cx="4172051" cy="2408729"/>
          </a:xfrm>
        </p:grpSpPr>
        <p:sp>
          <p:nvSpPr>
            <p:cNvPr id="674" name="Google Shape;674;p31"/>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675" name="Google Shape;675;p31"/>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676" name="Google Shape;676;p31"/>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677" name="Google Shape;677;p31"/>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4F8FD1"/>
            </a:solidFill>
            <a:ln>
              <a:noFill/>
            </a:ln>
          </p:spPr>
        </p:sp>
      </p:grpSp>
      <p:sp>
        <p:nvSpPr>
          <p:cNvPr id="678" name="Google Shape;678;p31"/>
          <p:cNvSpPr txBox="1"/>
          <p:nvPr/>
        </p:nvSpPr>
        <p:spPr>
          <a:xfrm>
            <a:off x="6754658" y="6877012"/>
            <a:ext cx="402510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¿DUDAS?</a:t>
            </a:r>
            <a:endParaRPr/>
          </a:p>
        </p:txBody>
      </p:sp>
      <p:sp>
        <p:nvSpPr>
          <p:cNvPr id="679" name="Google Shape;679;p31"/>
          <p:cNvSpPr/>
          <p:nvPr/>
        </p:nvSpPr>
        <p:spPr>
          <a:xfrm>
            <a:off x="3727481" y="1028700"/>
            <a:ext cx="9437156" cy="5879790"/>
          </a:xfrm>
          <a:custGeom>
            <a:rect b="b" l="l" r="r" t="t"/>
            <a:pathLst>
              <a:path extrusionOk="0" h="5879790" w="9437156">
                <a:moveTo>
                  <a:pt x="0" y="0"/>
                </a:moveTo>
                <a:lnTo>
                  <a:pt x="9437156" y="0"/>
                </a:lnTo>
                <a:lnTo>
                  <a:pt x="9437156" y="5879790"/>
                </a:lnTo>
                <a:lnTo>
                  <a:pt x="0" y="5879790"/>
                </a:lnTo>
                <a:lnTo>
                  <a:pt x="0" y="0"/>
                </a:lnTo>
                <a:close/>
              </a:path>
            </a:pathLst>
          </a:custGeom>
          <a:blipFill rotWithShape="1">
            <a:blip r:embed="rId4">
              <a:alphaModFix/>
            </a:blip>
            <a:stretch>
              <a:fillRect b="0" l="-244" r="-244" t="0"/>
            </a:stretch>
          </a:blipFill>
          <a:ln>
            <a:noFill/>
          </a:ln>
        </p:spPr>
      </p:sp>
      <p:sp>
        <p:nvSpPr>
          <p:cNvPr id="680" name="Google Shape;680;p31"/>
          <p:cNvSpPr/>
          <p:nvPr/>
        </p:nvSpPr>
        <p:spPr>
          <a:xfrm>
            <a:off x="16132849" y="78772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684" name="Shape 684"/>
        <p:cNvGrpSpPr/>
        <p:nvPr/>
      </p:nvGrpSpPr>
      <p:grpSpPr>
        <a:xfrm>
          <a:off x="0" y="0"/>
          <a:ext cx="0" cy="0"/>
          <a:chOff x="0" y="0"/>
          <a:chExt cx="0" cy="0"/>
        </a:xfrm>
      </p:grpSpPr>
      <p:sp>
        <p:nvSpPr>
          <p:cNvPr id="685" name="Google Shape;685;p32"/>
          <p:cNvSpPr/>
          <p:nvPr/>
        </p:nvSpPr>
        <p:spPr>
          <a:xfrm>
            <a:off x="9831790" y="-3682532"/>
            <a:ext cx="16449947" cy="16449947"/>
          </a:xfrm>
          <a:custGeom>
            <a:rect b="b" l="l" r="r" t="t"/>
            <a:pathLst>
              <a:path extrusionOk="0" h="16449947" w="16449947">
                <a:moveTo>
                  <a:pt x="0" y="0"/>
                </a:moveTo>
                <a:lnTo>
                  <a:pt x="16449947" y="0"/>
                </a:lnTo>
                <a:lnTo>
                  <a:pt x="16449947" y="16449947"/>
                </a:lnTo>
                <a:lnTo>
                  <a:pt x="0" y="16449947"/>
                </a:lnTo>
                <a:lnTo>
                  <a:pt x="0" y="0"/>
                </a:lnTo>
                <a:close/>
              </a:path>
            </a:pathLst>
          </a:custGeom>
          <a:blipFill rotWithShape="1">
            <a:blip r:embed="rId3">
              <a:alphaModFix/>
            </a:blip>
            <a:stretch>
              <a:fillRect b="0" l="0" r="0" t="0"/>
            </a:stretch>
          </a:blipFill>
          <a:ln>
            <a:noFill/>
          </a:ln>
        </p:spPr>
      </p:sp>
      <p:grpSp>
        <p:nvGrpSpPr>
          <p:cNvPr id="686" name="Google Shape;686;p32"/>
          <p:cNvGrpSpPr/>
          <p:nvPr/>
        </p:nvGrpSpPr>
        <p:grpSpPr>
          <a:xfrm>
            <a:off x="2728493" y="2285407"/>
            <a:ext cx="12077432" cy="6972893"/>
            <a:chOff x="0" y="0"/>
            <a:chExt cx="4172051" cy="2408729"/>
          </a:xfrm>
        </p:grpSpPr>
        <p:sp>
          <p:nvSpPr>
            <p:cNvPr id="687" name="Google Shape;687;p32"/>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688" name="Google Shape;688;p32"/>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689" name="Google Shape;689;p32"/>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690" name="Google Shape;690;p32"/>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4F8FD1"/>
            </a:solidFill>
            <a:ln>
              <a:noFill/>
            </a:ln>
          </p:spPr>
        </p:sp>
      </p:grpSp>
      <p:sp>
        <p:nvSpPr>
          <p:cNvPr id="691" name="Google Shape;691;p32"/>
          <p:cNvSpPr txBox="1"/>
          <p:nvPr/>
        </p:nvSpPr>
        <p:spPr>
          <a:xfrm>
            <a:off x="5414714" y="5767308"/>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3588CB"/>
                </a:solidFill>
                <a:latin typeface="Noto Sans"/>
                <a:ea typeface="Noto Sans"/>
                <a:cs typeface="Noto Sans"/>
                <a:sym typeface="Noto Sans"/>
              </a:rPr>
              <a:t>DUDAS</a:t>
            </a:r>
            <a:endParaRPr/>
          </a:p>
        </p:txBody>
      </p:sp>
      <p:sp>
        <p:nvSpPr>
          <p:cNvPr id="692" name="Google Shape;692;p32"/>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4">
              <a:alphaModFix/>
            </a:blip>
            <a:stretch>
              <a:fillRect b="0" l="0" r="0" t="0"/>
            </a:stretch>
          </a:blipFill>
          <a:ln>
            <a:noFill/>
          </a:ln>
        </p:spPr>
      </p:sp>
      <p:sp>
        <p:nvSpPr>
          <p:cNvPr id="693" name="Google Shape;693;p32"/>
          <p:cNvSpPr txBox="1"/>
          <p:nvPr/>
        </p:nvSpPr>
        <p:spPr>
          <a:xfrm>
            <a:off x="2775759" y="7161133"/>
            <a:ext cx="11982902" cy="635946"/>
          </a:xfrm>
          <a:prstGeom prst="rect">
            <a:avLst/>
          </a:prstGeom>
          <a:noFill/>
          <a:ln>
            <a:noFill/>
          </a:ln>
        </p:spPr>
        <p:txBody>
          <a:bodyPr anchorCtr="0" anchor="t" bIns="0" lIns="0" spcFirstLastPara="1" rIns="0" wrap="square" tIns="0">
            <a:spAutoFit/>
          </a:bodyPr>
          <a:lstStyle/>
          <a:p>
            <a:pPr indent="0" lvl="0" marL="0" marR="0" rtl="0" algn="ctr">
              <a:lnSpc>
                <a:spcPct val="148060"/>
              </a:lnSpc>
              <a:spcBef>
                <a:spcPts val="0"/>
              </a:spcBef>
              <a:spcAft>
                <a:spcPts val="0"/>
              </a:spcAft>
              <a:buNone/>
            </a:pPr>
            <a:r>
              <a:rPr b="0" i="0" lang="en-US" sz="1779" u="none" cap="none" strike="noStrike">
                <a:solidFill>
                  <a:srgbClr val="3588CB"/>
                </a:solidFill>
                <a:latin typeface="Noto Sans"/>
                <a:ea typeface="Noto Sans"/>
                <a:cs typeface="Noto Sans"/>
                <a:sym typeface="Noto Sans"/>
              </a:rPr>
              <a:t>RECUERDA QUE TENEMOS NUESTRO FORO SEMANAL DONDE PUEDES CONSULTAR CUALQUIER DUDA QUE TE SURJA EN LA SEMANA</a:t>
            </a:r>
            <a:endParaRPr/>
          </a:p>
        </p:txBody>
      </p:sp>
      <p:sp>
        <p:nvSpPr>
          <p:cNvPr id="694" name="Google Shape;694;p32"/>
          <p:cNvSpPr txBox="1"/>
          <p:nvPr/>
        </p:nvSpPr>
        <p:spPr>
          <a:xfrm>
            <a:off x="5414714" y="3201720"/>
            <a:ext cx="7196183" cy="2179193"/>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¡GRACIAS POR SU ATENCIÓN!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