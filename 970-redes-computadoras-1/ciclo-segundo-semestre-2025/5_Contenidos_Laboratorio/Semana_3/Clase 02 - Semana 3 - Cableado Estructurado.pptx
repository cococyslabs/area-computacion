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10287000" cx="18288000"/>
  <p:notesSz cx="6858000" cy="9144000"/>
  <p:embeddedFontLst>
    <p:embeddedFont>
      <p:font typeface="Montserrat"/>
      <p:regular r:id="rId69"/>
      <p:bold r:id="rId70"/>
      <p:italic r:id="rId71"/>
      <p:boldItalic r:id="rId72"/>
    </p:embeddedFont>
    <p:embeddedFont>
      <p:font typeface="Bebas Neue"/>
      <p:regular r:id="rId73"/>
    </p:embeddedFont>
    <p:embeddedFont>
      <p:font typeface="Open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8" roundtripDataSignature="AMtx7mjuHruj60VTKI+4nB2fs2K53jcZ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882A3E-BB75-413E-B37A-6FDC6851C70C}">
  <a:tblStyle styleId="{43882A3E-BB75-413E-B37A-6FDC6851C70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5892122-4BA2-4E00-B2F9-876FB8FC483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BebasNeue-regular.fntdata"/><Relationship Id="rId72" Type="http://schemas.openxmlformats.org/officeDocument/2006/relationships/font" Target="fonts/Montserrat-boldItalic.fntdata"/><Relationship Id="rId31" Type="http://schemas.openxmlformats.org/officeDocument/2006/relationships/slide" Target="slides/slide25.xml"/><Relationship Id="rId75" Type="http://schemas.openxmlformats.org/officeDocument/2006/relationships/font" Target="fonts/OpenSans-bold.fntdata"/><Relationship Id="rId30" Type="http://schemas.openxmlformats.org/officeDocument/2006/relationships/slide" Target="slides/slide24.xml"/><Relationship Id="rId74" Type="http://schemas.openxmlformats.org/officeDocument/2006/relationships/font" Target="fonts/OpenSans-regular.fntdata"/><Relationship Id="rId33" Type="http://schemas.openxmlformats.org/officeDocument/2006/relationships/slide" Target="slides/slide27.xml"/><Relationship Id="rId77" Type="http://schemas.openxmlformats.org/officeDocument/2006/relationships/font" Target="fonts/OpenSans-boldItalic.fntdata"/><Relationship Id="rId32" Type="http://schemas.openxmlformats.org/officeDocument/2006/relationships/slide" Target="slides/slide26.xml"/><Relationship Id="rId76" Type="http://schemas.openxmlformats.org/officeDocument/2006/relationships/font" Target="fonts/OpenSans-italic.fntdata"/><Relationship Id="rId35" Type="http://schemas.openxmlformats.org/officeDocument/2006/relationships/slide" Target="slides/slide29.xml"/><Relationship Id="rId34" Type="http://schemas.openxmlformats.org/officeDocument/2006/relationships/slide" Target="slides/slide28.xml"/><Relationship Id="rId78" Type="http://customschemas.google.com/relationships/presentationmetadata" Target="metadata"/><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4" name="Google Shape;50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6" name="Google Shape;58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3" name="Google Shape;61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6" name="Google Shape;65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8" name="Google Shape;69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9" name="Google Shape;71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1" name="Google Shape;74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3" name="Google Shape;76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4" name="Google Shape;78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5" name="Google Shape;8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4" name="Google Shape;83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3" name="Google Shape;84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0" name="Google Shape;85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0" name="Google Shape;86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7" name="Google Shape;86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4" name="Google Shape;87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4" name="Google Shape;89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5" name="Google Shape;90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2" name="Google Shape;912;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8" name="Google Shape;91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5" name="Google Shape;92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2" name="Google Shape;93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0" name="Google Shape;94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6" name="Google Shape;94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5" name="Google Shape;95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4" name="Google Shape;964;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4" name="Google Shape;974;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2" name="Google Shape;98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1" name="Google Shape;991;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8" name="Google Shape;998;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8" name="Google Shape;1018;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8" name="Google Shape;1038;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9" name="Google Shape;1049;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1" name="Google Shape;1061;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2" name="Google Shape;1072;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9" name="Google Shape;1079;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7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p7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8" name="Google Shape;18;p7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6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6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6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6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6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0"/>
          <p:cNvSpPr/>
          <p:nvPr>
            <p:ph idx="2" type="pic"/>
          </p:nvPr>
        </p:nvSpPr>
        <p:spPr>
          <a:xfrm>
            <a:off x="1792288" y="612775"/>
            <a:ext cx="5486400" cy="4114800"/>
          </a:xfrm>
          <a:prstGeom prst="rect">
            <a:avLst/>
          </a:prstGeom>
          <a:noFill/>
          <a:ln>
            <a:noFill/>
          </a:ln>
        </p:spPr>
      </p:sp>
      <p:sp>
        <p:nvSpPr>
          <p:cNvPr id="68" name="Google Shape;68;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www.youtube.com/watch?v=us7aBlF5g_k&amp;feature=youtu.b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5.png"/><Relationship Id="rId4" Type="http://schemas.openxmlformats.org/officeDocument/2006/relationships/image" Target="../media/image34.png"/><Relationship Id="rId5"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 Id="rId4" Type="http://schemas.openxmlformats.org/officeDocument/2006/relationships/image" Target="../media/image39.png"/><Relationship Id="rId5" Type="http://schemas.openxmlformats.org/officeDocument/2006/relationships/image" Target="../media/image42.png"/><Relationship Id="rId6" Type="http://schemas.openxmlformats.org/officeDocument/2006/relationships/image" Target="../media/image41.png"/><Relationship Id="rId7"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89" name="Google Shape;89;p1"/>
          <p:cNvGraphicFramePr/>
          <p:nvPr/>
        </p:nvGraphicFramePr>
        <p:xfrm>
          <a:off x="10656720" y="1940400"/>
          <a:ext cx="3000000" cy="3000000"/>
        </p:xfrm>
        <a:graphic>
          <a:graphicData uri="http://schemas.openxmlformats.org/drawingml/2006/table">
            <a:tbl>
              <a:tblPr>
                <a:noFill/>
                <a:tableStyleId>{43882A3E-BB75-413E-B37A-6FDC6851C70C}</a:tableStyleId>
              </a:tblPr>
              <a:tblGrid>
                <a:gridCol w="3036750"/>
                <a:gridCol w="4329250"/>
              </a:tblGrid>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Día, dd/mm/yyyy</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00:00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noFill/>
                  </a:tcPr>
                </a:tc>
              </a:tr>
            </a:tbl>
          </a:graphicData>
        </a:graphic>
      </p:graphicFrame>
      <p:sp>
        <p:nvSpPr>
          <p:cNvPr id="90" name="Google Shape;90;p1"/>
          <p:cNvSpPr txBox="1"/>
          <p:nvPr/>
        </p:nvSpPr>
        <p:spPr>
          <a:xfrm>
            <a:off x="1618360" y="4512750"/>
            <a:ext cx="15051280" cy="847725"/>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Laboratorio de Redes de Computadoras 1 [Sección]</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3648960" y="5807475"/>
            <a:ext cx="1098936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Nombre Auxiliar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95" name="Shape 95"/>
        <p:cNvGrpSpPr/>
        <p:nvPr/>
      </p:nvGrpSpPr>
      <p:grpSpPr>
        <a:xfrm>
          <a:off x="0" y="0"/>
          <a:ext cx="0" cy="0"/>
          <a:chOff x="0" y="0"/>
          <a:chExt cx="0" cy="0"/>
        </a:xfrm>
      </p:grpSpPr>
      <p:sp>
        <p:nvSpPr>
          <p:cNvPr id="96" name="Google Shape;96;p2"/>
          <p:cNvSpPr txBox="1"/>
          <p:nvPr/>
        </p:nvSpPr>
        <p:spPr>
          <a:xfrm>
            <a:off x="1028700" y="7237035"/>
            <a:ext cx="8469904"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Redes de Computadoras 1</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1028700" y="8319619"/>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674738" y="8865882"/>
            <a:ext cx="4280719"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455217" y="9404299"/>
            <a:ext cx="7554861" cy="538417"/>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1877543" y="2727538"/>
            <a:ext cx="14532914" cy="22828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500"/>
              <a:buFont typeface="Arial"/>
              <a:buNone/>
            </a:pPr>
            <a:r>
              <a:rPr b="0" i="0" lang="en-US" sz="6500" u="none" cap="none" strike="noStrike">
                <a:solidFill>
                  <a:srgbClr val="131416"/>
                </a:solidFill>
                <a:latin typeface="Arial"/>
                <a:ea typeface="Arial"/>
                <a:cs typeface="Arial"/>
                <a:sym typeface="Arial"/>
              </a:rPr>
              <a:t>FUNDAMENTOS E INFRAESTRUCTURA DE LAS REDES</a:t>
            </a:r>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10501159" y="100816"/>
            <a:ext cx="7639050" cy="800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5" name="Shape 105"/>
        <p:cNvGrpSpPr/>
        <p:nvPr/>
      </p:nvGrpSpPr>
      <p:grpSpPr>
        <a:xfrm>
          <a:off x="0" y="0"/>
          <a:ext cx="0" cy="0"/>
          <a:chOff x="0" y="0"/>
          <a:chExt cx="0" cy="0"/>
        </a:xfrm>
      </p:grpSpPr>
      <p:grpSp>
        <p:nvGrpSpPr>
          <p:cNvPr id="106" name="Google Shape;106;p3"/>
          <p:cNvGrpSpPr/>
          <p:nvPr/>
        </p:nvGrpSpPr>
        <p:grpSpPr>
          <a:xfrm>
            <a:off x="1201024" y="3468733"/>
            <a:ext cx="8618101" cy="840674"/>
            <a:chOff x="0" y="0"/>
            <a:chExt cx="11490801" cy="1120900"/>
          </a:xfrm>
        </p:grpSpPr>
        <p:sp>
          <p:nvSpPr>
            <p:cNvPr id="107" name="Google Shape;107;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8" name="Google Shape;108;p3"/>
            <p:cNvGrpSpPr/>
            <p:nvPr/>
          </p:nvGrpSpPr>
          <p:grpSpPr>
            <a:xfrm>
              <a:off x="80171" y="61710"/>
              <a:ext cx="923241" cy="968103"/>
              <a:chOff x="0" y="0"/>
              <a:chExt cx="812800" cy="852295"/>
            </a:xfrm>
          </p:grpSpPr>
          <p:sp>
            <p:nvSpPr>
              <p:cNvPr id="109" name="Google Shape;109;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1</a:t>
                </a:r>
                <a:endParaRPr b="0" i="0" sz="1400" u="none" cap="none" strike="noStrike">
                  <a:solidFill>
                    <a:srgbClr val="000000"/>
                  </a:solidFill>
                  <a:latin typeface="Arial"/>
                  <a:ea typeface="Arial"/>
                  <a:cs typeface="Arial"/>
                  <a:sym typeface="Arial"/>
                </a:endParaRPr>
              </a:p>
            </p:txBody>
          </p:sp>
        </p:grpSp>
        <p:sp>
          <p:nvSpPr>
            <p:cNvPr id="111" name="Google Shape;111;p3"/>
            <p:cNvSpPr txBox="1"/>
            <p:nvPr/>
          </p:nvSpPr>
          <p:spPr>
            <a:xfrm>
              <a:off x="1354715" y="136185"/>
              <a:ext cx="10136086" cy="98471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Foro #3</a:t>
              </a:r>
              <a:endParaRPr b="0" i="0" sz="1400" u="none" cap="none" strike="noStrike">
                <a:solidFill>
                  <a:srgbClr val="000000"/>
                </a:solidFill>
                <a:latin typeface="Arial"/>
                <a:ea typeface="Arial"/>
                <a:cs typeface="Arial"/>
                <a:sym typeface="Arial"/>
              </a:endParaRPr>
            </a:p>
          </p:txBody>
        </p:sp>
      </p:grpSp>
      <p:grpSp>
        <p:nvGrpSpPr>
          <p:cNvPr id="112" name="Google Shape;112;p3"/>
          <p:cNvGrpSpPr/>
          <p:nvPr/>
        </p:nvGrpSpPr>
        <p:grpSpPr>
          <a:xfrm>
            <a:off x="1201024" y="4664307"/>
            <a:ext cx="8618101" cy="818641"/>
            <a:chOff x="0" y="0"/>
            <a:chExt cx="11490801" cy="1091522"/>
          </a:xfrm>
        </p:grpSpPr>
        <p:sp>
          <p:nvSpPr>
            <p:cNvPr id="113" name="Google Shape;113;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14" name="Google Shape;114;p3"/>
            <p:cNvGrpSpPr/>
            <p:nvPr/>
          </p:nvGrpSpPr>
          <p:grpSpPr>
            <a:xfrm>
              <a:off x="80171" y="61710"/>
              <a:ext cx="923241" cy="968103"/>
              <a:chOff x="0" y="0"/>
              <a:chExt cx="812800" cy="852295"/>
            </a:xfrm>
          </p:grpSpPr>
          <p:sp>
            <p:nvSpPr>
              <p:cNvPr id="115" name="Google Shape;115;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2</a:t>
                </a:r>
                <a:endParaRPr b="0" i="0" sz="1400" u="none" cap="none" strike="noStrike">
                  <a:solidFill>
                    <a:srgbClr val="000000"/>
                  </a:solidFill>
                  <a:latin typeface="Arial"/>
                  <a:ea typeface="Arial"/>
                  <a:cs typeface="Arial"/>
                  <a:sym typeface="Arial"/>
                </a:endParaRPr>
              </a:p>
            </p:txBody>
          </p:sp>
        </p:grpSp>
        <p:sp>
          <p:nvSpPr>
            <p:cNvPr id="117" name="Google Shape;117;p3"/>
            <p:cNvSpPr txBox="1"/>
            <p:nvPr/>
          </p:nvSpPr>
          <p:spPr>
            <a:xfrm>
              <a:off x="1354714" y="165553"/>
              <a:ext cx="10136087"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Asignación al DTT</a:t>
              </a:r>
              <a:endParaRPr b="0" i="0" sz="1400" u="none" cap="none" strike="noStrike">
                <a:solidFill>
                  <a:srgbClr val="000000"/>
                </a:solidFill>
                <a:latin typeface="Arial"/>
                <a:ea typeface="Arial"/>
                <a:cs typeface="Arial"/>
                <a:sym typeface="Arial"/>
              </a:endParaRPr>
            </a:p>
          </p:txBody>
        </p:sp>
      </p:grpSp>
      <p:grpSp>
        <p:nvGrpSpPr>
          <p:cNvPr id="118" name="Google Shape;118;p3"/>
          <p:cNvGrpSpPr/>
          <p:nvPr/>
        </p:nvGrpSpPr>
        <p:grpSpPr>
          <a:xfrm>
            <a:off x="1201024" y="5859881"/>
            <a:ext cx="8618111" cy="818641"/>
            <a:chOff x="0" y="0"/>
            <a:chExt cx="11490814" cy="1091522"/>
          </a:xfrm>
        </p:grpSpPr>
        <p:sp>
          <p:nvSpPr>
            <p:cNvPr id="119" name="Google Shape;119;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0" name="Google Shape;120;p3"/>
            <p:cNvGrpSpPr/>
            <p:nvPr/>
          </p:nvGrpSpPr>
          <p:grpSpPr>
            <a:xfrm>
              <a:off x="80171" y="61710"/>
              <a:ext cx="923241" cy="968103"/>
              <a:chOff x="0" y="0"/>
              <a:chExt cx="812800" cy="852295"/>
            </a:xfrm>
          </p:grpSpPr>
          <p:sp>
            <p:nvSpPr>
              <p:cNvPr id="121" name="Google Shape;121;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3</a:t>
                </a:r>
                <a:endParaRPr b="0" i="0" sz="1400" u="none" cap="none" strike="noStrike">
                  <a:solidFill>
                    <a:srgbClr val="000000"/>
                  </a:solidFill>
                  <a:latin typeface="Arial"/>
                  <a:ea typeface="Arial"/>
                  <a:cs typeface="Arial"/>
                  <a:sym typeface="Arial"/>
                </a:endParaRPr>
              </a:p>
            </p:txBody>
          </p:sp>
        </p:grpSp>
        <p:sp>
          <p:nvSpPr>
            <p:cNvPr id="123" name="Google Shape;123;p3"/>
            <p:cNvSpPr txBox="1"/>
            <p:nvPr/>
          </p:nvSpPr>
          <p:spPr>
            <a:xfrm>
              <a:off x="1354714" y="136186"/>
              <a:ext cx="10136100" cy="809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PROGRAMA DEL LABORATORIO</a:t>
              </a:r>
              <a:endParaRPr b="0" i="0" sz="1400" u="none" cap="none" strike="noStrike">
                <a:solidFill>
                  <a:srgbClr val="000000"/>
                </a:solidFill>
                <a:latin typeface="Arial"/>
                <a:ea typeface="Arial"/>
                <a:cs typeface="Arial"/>
                <a:sym typeface="Arial"/>
              </a:endParaRPr>
            </a:p>
          </p:txBody>
        </p:sp>
      </p:grpSp>
      <p:grpSp>
        <p:nvGrpSpPr>
          <p:cNvPr id="124" name="Google Shape;124;p3"/>
          <p:cNvGrpSpPr/>
          <p:nvPr/>
        </p:nvGrpSpPr>
        <p:grpSpPr>
          <a:xfrm>
            <a:off x="1201024" y="7059522"/>
            <a:ext cx="8283382" cy="818641"/>
            <a:chOff x="0" y="0"/>
            <a:chExt cx="11044510" cy="1091522"/>
          </a:xfrm>
        </p:grpSpPr>
        <p:sp>
          <p:nvSpPr>
            <p:cNvPr id="125" name="Google Shape;125;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26" name="Google Shape;126;p3"/>
            <p:cNvGrpSpPr/>
            <p:nvPr/>
          </p:nvGrpSpPr>
          <p:grpSpPr>
            <a:xfrm>
              <a:off x="80171" y="61710"/>
              <a:ext cx="923241" cy="968103"/>
              <a:chOff x="0" y="0"/>
              <a:chExt cx="812800" cy="852295"/>
            </a:xfrm>
          </p:grpSpPr>
          <p:sp>
            <p:nvSpPr>
              <p:cNvPr id="127" name="Google Shape;127;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4</a:t>
                </a:r>
                <a:endParaRPr b="0" i="0" sz="1400" u="none" cap="none" strike="noStrike">
                  <a:solidFill>
                    <a:srgbClr val="000000"/>
                  </a:solidFill>
                  <a:latin typeface="Arial"/>
                  <a:ea typeface="Arial"/>
                  <a:cs typeface="Arial"/>
                  <a:sym typeface="Arial"/>
                </a:endParaRPr>
              </a:p>
            </p:txBody>
          </p:sp>
        </p:grpSp>
        <p:sp>
          <p:nvSpPr>
            <p:cNvPr id="129" name="Google Shape;129;p3"/>
            <p:cNvSpPr txBox="1"/>
            <p:nvPr/>
          </p:nvSpPr>
          <p:spPr>
            <a:xfrm>
              <a:off x="1354714" y="136186"/>
              <a:ext cx="9689796"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ENTREGA TAREA 1</a:t>
              </a:r>
              <a:endParaRPr b="0" i="0" sz="1400" u="none" cap="none" strike="noStrike">
                <a:solidFill>
                  <a:srgbClr val="000000"/>
                </a:solidFill>
                <a:latin typeface="Arial"/>
                <a:ea typeface="Arial"/>
                <a:cs typeface="Arial"/>
                <a:sym typeface="Arial"/>
              </a:endParaRPr>
            </a:p>
          </p:txBody>
        </p:sp>
      </p:grpSp>
      <p:cxnSp>
        <p:nvCxnSpPr>
          <p:cNvPr id="130" name="Google Shape;130;p3"/>
          <p:cNvCxnSpPr/>
          <p:nvPr/>
        </p:nvCxnSpPr>
        <p:spPr>
          <a:xfrm>
            <a:off x="2191619" y="2459125"/>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31" name="Google Shape;131;p3"/>
          <p:cNvGrpSpPr/>
          <p:nvPr/>
        </p:nvGrpSpPr>
        <p:grpSpPr>
          <a:xfrm>
            <a:off x="1173238" y="791128"/>
            <a:ext cx="2036762" cy="2036762"/>
            <a:chOff x="0" y="0"/>
            <a:chExt cx="812800" cy="812800"/>
          </a:xfrm>
        </p:grpSpPr>
        <p:sp>
          <p:nvSpPr>
            <p:cNvPr id="132" name="Google Shape;13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3"/>
          <p:cNvGrpSpPr/>
          <p:nvPr/>
        </p:nvGrpSpPr>
        <p:grpSpPr>
          <a:xfrm>
            <a:off x="1286296" y="810178"/>
            <a:ext cx="1952280" cy="1952280"/>
            <a:chOff x="0" y="0"/>
            <a:chExt cx="812800" cy="812800"/>
          </a:xfrm>
        </p:grpSpPr>
        <p:sp>
          <p:nvSpPr>
            <p:cNvPr id="135" name="Google Shape;13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37" name="Google Shape;137;p3"/>
          <p:cNvCxnSpPr/>
          <p:nvPr/>
        </p:nvCxnSpPr>
        <p:spPr>
          <a:xfrm rot="10800000">
            <a:off x="2304677" y="900550"/>
            <a:ext cx="0" cy="270525"/>
          </a:xfrm>
          <a:prstGeom prst="straightConnector1">
            <a:avLst/>
          </a:prstGeom>
          <a:noFill/>
          <a:ln cap="flat" cmpd="sng" w="38100">
            <a:solidFill>
              <a:srgbClr val="F2981B"/>
            </a:solidFill>
            <a:prstDash val="solid"/>
            <a:round/>
            <a:headEnd len="sm" w="sm" type="none"/>
            <a:tailEnd len="sm" w="sm" type="none"/>
          </a:ln>
        </p:spPr>
      </p:cxnSp>
      <p:cxnSp>
        <p:nvCxnSpPr>
          <p:cNvPr id="138" name="Google Shape;138;p3"/>
          <p:cNvCxnSpPr/>
          <p:nvPr/>
        </p:nvCxnSpPr>
        <p:spPr>
          <a:xfrm rot="10800000">
            <a:off x="2304677" y="2440075"/>
            <a:ext cx="0" cy="270525"/>
          </a:xfrm>
          <a:prstGeom prst="straightConnector1">
            <a:avLst/>
          </a:prstGeom>
          <a:noFill/>
          <a:ln cap="flat" cmpd="sng" w="38100">
            <a:solidFill>
              <a:srgbClr val="F2981B"/>
            </a:solidFill>
            <a:prstDash val="solid"/>
            <a:round/>
            <a:headEnd len="sm" w="sm" type="none"/>
            <a:tailEnd len="sm" w="sm" type="none"/>
          </a:ln>
        </p:spPr>
      </p:cxnSp>
      <p:cxnSp>
        <p:nvCxnSpPr>
          <p:cNvPr id="139" name="Google Shape;139;p3"/>
          <p:cNvCxnSpPr/>
          <p:nvPr/>
        </p:nvCxnSpPr>
        <p:spPr>
          <a:xfrm>
            <a:off x="1376668" y="1828559"/>
            <a:ext cx="270525" cy="0"/>
          </a:xfrm>
          <a:prstGeom prst="straightConnector1">
            <a:avLst/>
          </a:prstGeom>
          <a:noFill/>
          <a:ln cap="flat" cmpd="sng" w="38100">
            <a:solidFill>
              <a:srgbClr val="F2981B"/>
            </a:solidFill>
            <a:prstDash val="solid"/>
            <a:round/>
            <a:headEnd len="sm" w="sm" type="none"/>
            <a:tailEnd len="sm" w="sm" type="none"/>
          </a:ln>
        </p:spPr>
      </p:cxnSp>
      <p:cxnSp>
        <p:nvCxnSpPr>
          <p:cNvPr id="140" name="Google Shape;140;p3"/>
          <p:cNvCxnSpPr/>
          <p:nvPr/>
        </p:nvCxnSpPr>
        <p:spPr>
          <a:xfrm>
            <a:off x="1637147" y="1214806"/>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41" name="Google Shape;141;p3"/>
          <p:cNvCxnSpPr/>
          <p:nvPr/>
        </p:nvCxnSpPr>
        <p:spPr>
          <a:xfrm flipH="1" rot="10800000">
            <a:off x="1659549" y="2257971"/>
            <a:ext cx="205895" cy="175474"/>
          </a:xfrm>
          <a:prstGeom prst="straightConnector1">
            <a:avLst/>
          </a:prstGeom>
          <a:noFill/>
          <a:ln cap="flat" cmpd="sng" w="38100">
            <a:solidFill>
              <a:srgbClr val="F2981B"/>
            </a:solidFill>
            <a:prstDash val="solid"/>
            <a:round/>
            <a:headEnd len="sm" w="sm" type="none"/>
            <a:tailEnd len="sm" w="sm" type="none"/>
          </a:ln>
        </p:spPr>
      </p:cxnSp>
      <p:sp>
        <p:nvSpPr>
          <p:cNvPr id="142" name="Google Shape;142;p3"/>
          <p:cNvSpPr txBox="1"/>
          <p:nvPr/>
        </p:nvSpPr>
        <p:spPr>
          <a:xfrm>
            <a:off x="-1199356" y="1312473"/>
            <a:ext cx="11556696" cy="113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500"/>
              <a:buFont typeface="Arial"/>
              <a:buNone/>
            </a:pPr>
            <a:r>
              <a:rPr b="0" i="0" lang="en-US" sz="6500" u="none" cap="none" strike="noStrike">
                <a:solidFill>
                  <a:srgbClr val="145C8C"/>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14297125" y="9432926"/>
            <a:ext cx="3990875" cy="85407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Montserrat"/>
                <a:ea typeface="Montserrat"/>
                <a:cs typeface="Montserrat"/>
                <a:sym typeface="Montserrat"/>
              </a:rPr>
              <a:t>CLASE 2</a:t>
            </a:r>
            <a:endParaRPr b="0" i="0" sz="1400" u="none" cap="none" strike="noStrike">
              <a:solidFill>
                <a:srgbClr val="000000"/>
              </a:solidFill>
              <a:latin typeface="Arial"/>
              <a:ea typeface="Arial"/>
              <a:cs typeface="Arial"/>
              <a:sym typeface="Arial"/>
            </a:endParaRPr>
          </a:p>
        </p:txBody>
      </p:sp>
      <p:grpSp>
        <p:nvGrpSpPr>
          <p:cNvPr id="144" name="Google Shape;144;p3"/>
          <p:cNvGrpSpPr/>
          <p:nvPr/>
        </p:nvGrpSpPr>
        <p:grpSpPr>
          <a:xfrm>
            <a:off x="1201024" y="8259163"/>
            <a:ext cx="8283382" cy="818641"/>
            <a:chOff x="0" y="0"/>
            <a:chExt cx="11044510" cy="1091522"/>
          </a:xfrm>
        </p:grpSpPr>
        <p:sp>
          <p:nvSpPr>
            <p:cNvPr id="145" name="Google Shape;145;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46" name="Google Shape;146;p3"/>
            <p:cNvGrpSpPr/>
            <p:nvPr/>
          </p:nvGrpSpPr>
          <p:grpSpPr>
            <a:xfrm>
              <a:off x="80171" y="61710"/>
              <a:ext cx="923241" cy="968103"/>
              <a:chOff x="0" y="0"/>
              <a:chExt cx="812800" cy="852295"/>
            </a:xfrm>
          </p:grpSpPr>
          <p:sp>
            <p:nvSpPr>
              <p:cNvPr id="147" name="Google Shape;147;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5</a:t>
                </a:r>
                <a:endParaRPr b="0" i="0" sz="1400" u="none" cap="none" strike="noStrike">
                  <a:solidFill>
                    <a:srgbClr val="000000"/>
                  </a:solidFill>
                  <a:latin typeface="Arial"/>
                  <a:ea typeface="Arial"/>
                  <a:cs typeface="Arial"/>
                  <a:sym typeface="Arial"/>
                </a:endParaRPr>
              </a:p>
            </p:txBody>
          </p:sp>
        </p:grpSp>
        <p:sp>
          <p:nvSpPr>
            <p:cNvPr id="149" name="Google Shape;149;p3"/>
            <p:cNvSpPr txBox="1"/>
            <p:nvPr/>
          </p:nvSpPr>
          <p:spPr>
            <a:xfrm>
              <a:off x="1354714" y="136186"/>
              <a:ext cx="9689796" cy="80962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CONTENIDO DE LA CLASE</a:t>
              </a:r>
              <a:endParaRPr b="0" i="0" sz="1400" u="none" cap="none" strike="noStrike">
                <a:solidFill>
                  <a:srgbClr val="000000"/>
                </a:solidFill>
                <a:latin typeface="Arial"/>
                <a:ea typeface="Arial"/>
                <a:cs typeface="Arial"/>
                <a:sym typeface="Arial"/>
              </a:endParaRPr>
            </a:p>
          </p:txBody>
        </p:sp>
      </p:grpSp>
      <p:grpSp>
        <p:nvGrpSpPr>
          <p:cNvPr id="150" name="Google Shape;150;p3"/>
          <p:cNvGrpSpPr/>
          <p:nvPr/>
        </p:nvGrpSpPr>
        <p:grpSpPr>
          <a:xfrm>
            <a:off x="9454043" y="3373806"/>
            <a:ext cx="8618101" cy="840675"/>
            <a:chOff x="0" y="0"/>
            <a:chExt cx="11490801" cy="1120901"/>
          </a:xfrm>
        </p:grpSpPr>
        <p:sp>
          <p:nvSpPr>
            <p:cNvPr id="151" name="Google Shape;151;p3"/>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52" name="Google Shape;152;p3"/>
            <p:cNvGrpSpPr/>
            <p:nvPr/>
          </p:nvGrpSpPr>
          <p:grpSpPr>
            <a:xfrm>
              <a:off x="80171" y="61710"/>
              <a:ext cx="923241" cy="968103"/>
              <a:chOff x="0" y="0"/>
              <a:chExt cx="812800" cy="852295"/>
            </a:xfrm>
          </p:grpSpPr>
          <p:sp>
            <p:nvSpPr>
              <p:cNvPr id="153" name="Google Shape;153;p3"/>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1</a:t>
                </a:r>
                <a:endParaRPr b="0" i="0" sz="1400" u="none" cap="none" strike="noStrike">
                  <a:solidFill>
                    <a:srgbClr val="000000"/>
                  </a:solidFill>
                  <a:latin typeface="Arial"/>
                  <a:ea typeface="Arial"/>
                  <a:cs typeface="Arial"/>
                  <a:sym typeface="Arial"/>
                </a:endParaRPr>
              </a:p>
            </p:txBody>
          </p:sp>
        </p:grpSp>
        <p:sp>
          <p:nvSpPr>
            <p:cNvPr id="155" name="Google Shape;155;p3"/>
            <p:cNvSpPr txBox="1"/>
            <p:nvPr/>
          </p:nvSpPr>
          <p:spPr>
            <a:xfrm>
              <a:off x="1354715" y="136185"/>
              <a:ext cx="10136086" cy="984716"/>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3999"/>
                <a:buFont typeface="Arial"/>
                <a:buNone/>
              </a:pPr>
              <a:r>
                <a:rPr b="1" i="0" lang="en-US" sz="3999" u="sng" cap="none" strike="noStrike">
                  <a:solidFill>
                    <a:srgbClr val="1F1674"/>
                  </a:solidFill>
                  <a:latin typeface="Bebas Neue"/>
                  <a:ea typeface="Bebas Neue"/>
                  <a:cs typeface="Bebas Neue"/>
                  <a:sym typeface="Bebas Neue"/>
                  <a:hlinkClick r:id="rId4">
                    <a:extLst>
                      <a:ext uri="{A12FA001-AC4F-418D-AE19-62706E023703}">
                        <ahyp:hlinkClr val="tx"/>
                      </a:ext>
                    </a:extLst>
                  </a:hlinkClick>
                </a:rPr>
                <a:t>VIDEO sEMANAL</a:t>
              </a:r>
              <a:endParaRPr b="0" i="0" sz="1400" u="none" cap="none" strike="noStrike">
                <a:solidFill>
                  <a:srgbClr val="000000"/>
                </a:solidFill>
                <a:latin typeface="Arial"/>
                <a:ea typeface="Arial"/>
                <a:cs typeface="Arial"/>
                <a:sym typeface="Arial"/>
              </a:endParaRPr>
            </a:p>
          </p:txBody>
        </p:sp>
      </p:grpSp>
      <p:cxnSp>
        <p:nvCxnSpPr>
          <p:cNvPr id="156" name="Google Shape;156;p3"/>
          <p:cNvCxnSpPr/>
          <p:nvPr/>
        </p:nvCxnSpPr>
        <p:spPr>
          <a:xfrm>
            <a:off x="10384771" y="2478175"/>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57" name="Google Shape;157;p3"/>
          <p:cNvGrpSpPr/>
          <p:nvPr/>
        </p:nvGrpSpPr>
        <p:grpSpPr>
          <a:xfrm>
            <a:off x="9366390" y="810178"/>
            <a:ext cx="2036762" cy="2036762"/>
            <a:chOff x="0" y="0"/>
            <a:chExt cx="812800" cy="812800"/>
          </a:xfrm>
        </p:grpSpPr>
        <p:sp>
          <p:nvSpPr>
            <p:cNvPr id="158" name="Google Shape;158;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0" name="Google Shape;160;p3"/>
          <p:cNvGrpSpPr/>
          <p:nvPr/>
        </p:nvGrpSpPr>
        <p:grpSpPr>
          <a:xfrm>
            <a:off x="9479448" y="829228"/>
            <a:ext cx="1952280" cy="1952280"/>
            <a:chOff x="0" y="0"/>
            <a:chExt cx="812800" cy="812800"/>
          </a:xfrm>
        </p:grpSpPr>
        <p:sp>
          <p:nvSpPr>
            <p:cNvPr id="161" name="Google Shape;161;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63" name="Google Shape;163;p3"/>
          <p:cNvCxnSpPr/>
          <p:nvPr/>
        </p:nvCxnSpPr>
        <p:spPr>
          <a:xfrm rot="10800000">
            <a:off x="10497829" y="919600"/>
            <a:ext cx="0" cy="270525"/>
          </a:xfrm>
          <a:prstGeom prst="straightConnector1">
            <a:avLst/>
          </a:prstGeom>
          <a:noFill/>
          <a:ln cap="flat" cmpd="sng" w="38100">
            <a:solidFill>
              <a:srgbClr val="F2981B"/>
            </a:solidFill>
            <a:prstDash val="solid"/>
            <a:round/>
            <a:headEnd len="sm" w="sm" type="none"/>
            <a:tailEnd len="sm" w="sm" type="none"/>
          </a:ln>
        </p:spPr>
      </p:cxnSp>
      <p:cxnSp>
        <p:nvCxnSpPr>
          <p:cNvPr id="164" name="Google Shape;164;p3"/>
          <p:cNvCxnSpPr/>
          <p:nvPr/>
        </p:nvCxnSpPr>
        <p:spPr>
          <a:xfrm rot="10800000">
            <a:off x="10497829" y="2459125"/>
            <a:ext cx="0" cy="270525"/>
          </a:xfrm>
          <a:prstGeom prst="straightConnector1">
            <a:avLst/>
          </a:prstGeom>
          <a:noFill/>
          <a:ln cap="flat" cmpd="sng" w="38100">
            <a:solidFill>
              <a:srgbClr val="F2981B"/>
            </a:solidFill>
            <a:prstDash val="solid"/>
            <a:round/>
            <a:headEnd len="sm" w="sm" type="none"/>
            <a:tailEnd len="sm" w="sm" type="none"/>
          </a:ln>
        </p:spPr>
      </p:cxnSp>
      <p:cxnSp>
        <p:nvCxnSpPr>
          <p:cNvPr id="165" name="Google Shape;165;p3"/>
          <p:cNvCxnSpPr/>
          <p:nvPr/>
        </p:nvCxnSpPr>
        <p:spPr>
          <a:xfrm>
            <a:off x="9569820" y="1847609"/>
            <a:ext cx="270525" cy="0"/>
          </a:xfrm>
          <a:prstGeom prst="straightConnector1">
            <a:avLst/>
          </a:prstGeom>
          <a:noFill/>
          <a:ln cap="flat" cmpd="sng" w="38100">
            <a:solidFill>
              <a:srgbClr val="F2981B"/>
            </a:solidFill>
            <a:prstDash val="solid"/>
            <a:round/>
            <a:headEnd len="sm" w="sm" type="none"/>
            <a:tailEnd len="sm" w="sm" type="none"/>
          </a:ln>
        </p:spPr>
      </p:cxnSp>
      <p:cxnSp>
        <p:nvCxnSpPr>
          <p:cNvPr id="166" name="Google Shape;166;p3"/>
          <p:cNvCxnSpPr/>
          <p:nvPr/>
        </p:nvCxnSpPr>
        <p:spPr>
          <a:xfrm>
            <a:off x="9830299" y="1233856"/>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67" name="Google Shape;167;p3"/>
          <p:cNvCxnSpPr/>
          <p:nvPr/>
        </p:nvCxnSpPr>
        <p:spPr>
          <a:xfrm flipH="1" rot="10800000">
            <a:off x="9852702" y="2277021"/>
            <a:ext cx="205895" cy="175474"/>
          </a:xfrm>
          <a:prstGeom prst="straightConnector1">
            <a:avLst/>
          </a:prstGeom>
          <a:noFill/>
          <a:ln cap="flat" cmpd="sng" w="38100">
            <a:solidFill>
              <a:srgbClr val="F2981B"/>
            </a:solidFill>
            <a:prstDash val="solid"/>
            <a:round/>
            <a:headEnd len="sm" w="sm" type="none"/>
            <a:tailEnd len="sm" w="sm" type="none"/>
          </a:ln>
        </p:spPr>
      </p:cxnSp>
      <p:sp>
        <p:nvSpPr>
          <p:cNvPr id="168" name="Google Shape;168;p3"/>
          <p:cNvSpPr txBox="1"/>
          <p:nvPr/>
        </p:nvSpPr>
        <p:spPr>
          <a:xfrm>
            <a:off x="6993796" y="1331523"/>
            <a:ext cx="11556696" cy="113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500"/>
              <a:buFont typeface="Arial"/>
              <a:buNone/>
            </a:pPr>
            <a:r>
              <a:rPr b="0" i="0" lang="en-US" sz="6500" u="none" cap="none" strike="noStrike">
                <a:solidFill>
                  <a:srgbClr val="145C8C"/>
                </a:solidFill>
                <a:latin typeface="Arial"/>
                <a:ea typeface="Arial"/>
                <a:cs typeface="Arial"/>
                <a:sym typeface="Arial"/>
              </a:rPr>
              <a:t>RECURSOS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72" name="Shape 172"/>
        <p:cNvGrpSpPr/>
        <p:nvPr/>
      </p:nvGrpSpPr>
      <p:grpSpPr>
        <a:xfrm>
          <a:off x="0" y="0"/>
          <a:ext cx="0" cy="0"/>
          <a:chOff x="0" y="0"/>
          <a:chExt cx="0" cy="0"/>
        </a:xfrm>
      </p:grpSpPr>
      <p:grpSp>
        <p:nvGrpSpPr>
          <p:cNvPr id="173" name="Google Shape;173;p4"/>
          <p:cNvGrpSpPr/>
          <p:nvPr/>
        </p:nvGrpSpPr>
        <p:grpSpPr>
          <a:xfrm>
            <a:off x="1908788" y="2605835"/>
            <a:ext cx="15301857" cy="2954142"/>
            <a:chOff x="0" y="-424628"/>
            <a:chExt cx="20402476" cy="3938857"/>
          </a:xfrm>
        </p:grpSpPr>
        <p:sp>
          <p:nvSpPr>
            <p:cNvPr id="174" name="Google Shape;174;p4"/>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75" name="Google Shape;175;p4"/>
            <p:cNvGrpSpPr/>
            <p:nvPr/>
          </p:nvGrpSpPr>
          <p:grpSpPr>
            <a:xfrm>
              <a:off x="80171" y="61710"/>
              <a:ext cx="923241" cy="968103"/>
              <a:chOff x="0" y="0"/>
              <a:chExt cx="812800" cy="852295"/>
            </a:xfrm>
          </p:grpSpPr>
          <p:sp>
            <p:nvSpPr>
              <p:cNvPr id="176" name="Google Shape;176;p4"/>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
              <p:cNvSpPr txBox="1"/>
              <p:nvPr/>
            </p:nvSpPr>
            <p:spPr>
              <a:xfrm>
                <a:off x="76200" y="13227"/>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a:t>
                </a:r>
                <a:endParaRPr b="0" i="0" sz="1400" u="none" cap="none" strike="noStrike">
                  <a:solidFill>
                    <a:srgbClr val="000000"/>
                  </a:solidFill>
                  <a:latin typeface="Arial"/>
                  <a:ea typeface="Arial"/>
                  <a:cs typeface="Arial"/>
                  <a:sym typeface="Arial"/>
                </a:endParaRPr>
              </a:p>
            </p:txBody>
          </p:sp>
        </p:grpSp>
        <p:sp>
          <p:nvSpPr>
            <p:cNvPr id="178" name="Google Shape;178;p4"/>
            <p:cNvSpPr txBox="1"/>
            <p:nvPr/>
          </p:nvSpPr>
          <p:spPr>
            <a:xfrm>
              <a:off x="1374377" y="-424628"/>
              <a:ext cx="19028099" cy="3938857"/>
            </a:xfrm>
            <a:prstGeom prst="rect">
              <a:avLst/>
            </a:prstGeom>
            <a:noFill/>
            <a:ln>
              <a:noFill/>
            </a:ln>
          </p:spPr>
          <p:txBody>
            <a:bodyPr anchorCtr="0" anchor="t" bIns="0" lIns="0" spcFirstLastPara="1" rIns="0" wrap="square" tIns="0">
              <a:spAutoFit/>
            </a:bodyPr>
            <a:lstStyle/>
            <a:p>
              <a:pPr indent="0" lvl="0" marL="0" marR="0" rtl="0" algn="just">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El estudiante aplica los principios de cableado estructurado utilizando normas y estándares internacionales para configurar dispositivos de capa 2 y 3 siguiendo los protocolos y conceptos generales de redes para asegurar una infraestructura eficiente </a:t>
              </a:r>
              <a:endParaRPr b="0" i="0" sz="1400" u="none" cap="none" strike="noStrike">
                <a:solidFill>
                  <a:srgbClr val="000000"/>
                </a:solidFill>
                <a:latin typeface="Arial"/>
                <a:ea typeface="Arial"/>
                <a:cs typeface="Arial"/>
                <a:sym typeface="Arial"/>
              </a:endParaRPr>
            </a:p>
          </p:txBody>
        </p:sp>
      </p:grpSp>
      <p:cxnSp>
        <p:nvCxnSpPr>
          <p:cNvPr id="179" name="Google Shape;179;p4"/>
          <p:cNvCxnSpPr/>
          <p:nvPr/>
        </p:nvCxnSpPr>
        <p:spPr>
          <a:xfrm>
            <a:off x="1712928" y="2065194"/>
            <a:ext cx="5625906" cy="0"/>
          </a:xfrm>
          <a:prstGeom prst="straightConnector1">
            <a:avLst/>
          </a:prstGeom>
          <a:noFill/>
          <a:ln cap="flat" cmpd="sng" w="57150">
            <a:solidFill>
              <a:srgbClr val="4E639E"/>
            </a:solidFill>
            <a:prstDash val="solid"/>
            <a:round/>
            <a:headEnd len="sm" w="sm" type="none"/>
            <a:tailEnd len="med" w="med" type="stealth"/>
          </a:ln>
        </p:spPr>
      </p:cxnSp>
      <p:grpSp>
        <p:nvGrpSpPr>
          <p:cNvPr id="180" name="Google Shape;180;p4"/>
          <p:cNvGrpSpPr/>
          <p:nvPr/>
        </p:nvGrpSpPr>
        <p:grpSpPr>
          <a:xfrm>
            <a:off x="694547" y="397197"/>
            <a:ext cx="2036762" cy="2036762"/>
            <a:chOff x="0" y="0"/>
            <a:chExt cx="812800" cy="812800"/>
          </a:xfrm>
        </p:grpSpPr>
        <p:sp>
          <p:nvSpPr>
            <p:cNvPr id="181" name="Google Shape;18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3" name="Google Shape;183;p4"/>
          <p:cNvGrpSpPr/>
          <p:nvPr/>
        </p:nvGrpSpPr>
        <p:grpSpPr>
          <a:xfrm>
            <a:off x="807605" y="416247"/>
            <a:ext cx="1952280" cy="1952280"/>
            <a:chOff x="0" y="0"/>
            <a:chExt cx="812800" cy="812800"/>
          </a:xfrm>
        </p:grpSpPr>
        <p:sp>
          <p:nvSpPr>
            <p:cNvPr id="184" name="Google Shape;18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86" name="Google Shape;186;p4"/>
          <p:cNvCxnSpPr/>
          <p:nvPr/>
        </p:nvCxnSpPr>
        <p:spPr>
          <a:xfrm rot="10800000">
            <a:off x="1825986" y="506620"/>
            <a:ext cx="0" cy="270525"/>
          </a:xfrm>
          <a:prstGeom prst="straightConnector1">
            <a:avLst/>
          </a:prstGeom>
          <a:noFill/>
          <a:ln cap="flat" cmpd="sng" w="38100">
            <a:solidFill>
              <a:srgbClr val="F2981B"/>
            </a:solidFill>
            <a:prstDash val="solid"/>
            <a:round/>
            <a:headEnd len="sm" w="sm" type="none"/>
            <a:tailEnd len="sm" w="sm" type="none"/>
          </a:ln>
        </p:spPr>
      </p:cxnSp>
      <p:cxnSp>
        <p:nvCxnSpPr>
          <p:cNvPr id="187" name="Google Shape;187;p4"/>
          <p:cNvCxnSpPr/>
          <p:nvPr/>
        </p:nvCxnSpPr>
        <p:spPr>
          <a:xfrm rot="10800000">
            <a:off x="1825986" y="2046144"/>
            <a:ext cx="0" cy="270525"/>
          </a:xfrm>
          <a:prstGeom prst="straightConnector1">
            <a:avLst/>
          </a:prstGeom>
          <a:noFill/>
          <a:ln cap="flat" cmpd="sng" w="38100">
            <a:solidFill>
              <a:srgbClr val="F2981B"/>
            </a:solidFill>
            <a:prstDash val="solid"/>
            <a:round/>
            <a:headEnd len="sm" w="sm" type="none"/>
            <a:tailEnd len="sm" w="sm" type="none"/>
          </a:ln>
        </p:spPr>
      </p:cxnSp>
      <p:cxnSp>
        <p:nvCxnSpPr>
          <p:cNvPr id="188" name="Google Shape;188;p4"/>
          <p:cNvCxnSpPr/>
          <p:nvPr/>
        </p:nvCxnSpPr>
        <p:spPr>
          <a:xfrm>
            <a:off x="897977" y="1434628"/>
            <a:ext cx="270525" cy="0"/>
          </a:xfrm>
          <a:prstGeom prst="straightConnector1">
            <a:avLst/>
          </a:prstGeom>
          <a:noFill/>
          <a:ln cap="flat" cmpd="sng" w="38100">
            <a:solidFill>
              <a:srgbClr val="F2981B"/>
            </a:solidFill>
            <a:prstDash val="solid"/>
            <a:round/>
            <a:headEnd len="sm" w="sm" type="none"/>
            <a:tailEnd len="sm" w="sm" type="none"/>
          </a:ln>
        </p:spPr>
      </p:cxnSp>
      <p:cxnSp>
        <p:nvCxnSpPr>
          <p:cNvPr id="189" name="Google Shape;189;p4"/>
          <p:cNvCxnSpPr/>
          <p:nvPr/>
        </p:nvCxnSpPr>
        <p:spPr>
          <a:xfrm>
            <a:off x="1158456" y="820875"/>
            <a:ext cx="227634" cy="146172"/>
          </a:xfrm>
          <a:prstGeom prst="straightConnector1">
            <a:avLst/>
          </a:prstGeom>
          <a:noFill/>
          <a:ln cap="flat" cmpd="sng" w="38100">
            <a:solidFill>
              <a:srgbClr val="F2981B"/>
            </a:solidFill>
            <a:prstDash val="solid"/>
            <a:round/>
            <a:headEnd len="sm" w="sm" type="none"/>
            <a:tailEnd len="sm" w="sm" type="none"/>
          </a:ln>
        </p:spPr>
      </p:cxnSp>
      <p:cxnSp>
        <p:nvCxnSpPr>
          <p:cNvPr id="190" name="Google Shape;190;p4"/>
          <p:cNvCxnSpPr/>
          <p:nvPr/>
        </p:nvCxnSpPr>
        <p:spPr>
          <a:xfrm flipH="1" rot="10800000">
            <a:off x="1180858" y="1864040"/>
            <a:ext cx="205895" cy="175474"/>
          </a:xfrm>
          <a:prstGeom prst="straightConnector1">
            <a:avLst/>
          </a:prstGeom>
          <a:noFill/>
          <a:ln cap="flat" cmpd="sng" w="38100">
            <a:solidFill>
              <a:srgbClr val="F2981B"/>
            </a:solidFill>
            <a:prstDash val="solid"/>
            <a:round/>
            <a:headEnd len="sm" w="sm" type="none"/>
            <a:tailEnd len="sm" w="sm" type="none"/>
          </a:ln>
        </p:spPr>
      </p:cxnSp>
      <p:sp>
        <p:nvSpPr>
          <p:cNvPr id="191" name="Google Shape;191;p4"/>
          <p:cNvSpPr txBox="1"/>
          <p:nvPr/>
        </p:nvSpPr>
        <p:spPr>
          <a:xfrm>
            <a:off x="2888727" y="798041"/>
            <a:ext cx="14987855" cy="1130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500"/>
              <a:buFont typeface="Arial"/>
              <a:buNone/>
            </a:pPr>
            <a:r>
              <a:rPr b="0" i="0" lang="en-US" sz="6500" u="none" cap="none" strike="noStrike">
                <a:solidFill>
                  <a:srgbClr val="145C8C"/>
                </a:solidFill>
                <a:latin typeface="Arial"/>
                <a:ea typeface="Arial"/>
                <a:cs typeface="Arial"/>
                <a:sym typeface="Arial"/>
              </a:rPr>
              <a:t>COMPETENCIA(S) A DESARROLLAR</a:t>
            </a:r>
            <a:endParaRPr b="0" i="0" sz="1400" u="none" cap="none" strike="noStrike">
              <a:solidFill>
                <a:srgbClr val="000000"/>
              </a:solidFill>
              <a:latin typeface="Arial"/>
              <a:ea typeface="Arial"/>
              <a:cs typeface="Arial"/>
              <a:sym typeface="Arial"/>
            </a:endParaRPr>
          </a:p>
        </p:txBody>
      </p:sp>
      <p:grpSp>
        <p:nvGrpSpPr>
          <p:cNvPr id="192" name="Google Shape;192;p4"/>
          <p:cNvGrpSpPr/>
          <p:nvPr/>
        </p:nvGrpSpPr>
        <p:grpSpPr>
          <a:xfrm>
            <a:off x="1908788" y="5796281"/>
            <a:ext cx="15316607" cy="3692678"/>
            <a:chOff x="0" y="-18009"/>
            <a:chExt cx="20422142" cy="4923572"/>
          </a:xfrm>
        </p:grpSpPr>
        <p:sp>
          <p:nvSpPr>
            <p:cNvPr id="193" name="Google Shape;193;p4"/>
            <p:cNvSpPr/>
            <p:nvPr/>
          </p:nvSpPr>
          <p:spPr>
            <a:xfrm>
              <a:off x="0" y="0"/>
              <a:ext cx="1083583" cy="1091522"/>
            </a:xfrm>
            <a:custGeom>
              <a:rect b="b" l="l" r="r" t="t"/>
              <a:pathLst>
                <a:path extrusionOk="0" h="1091522" w="1083583">
                  <a:moveTo>
                    <a:pt x="0" y="0"/>
                  </a:moveTo>
                  <a:lnTo>
                    <a:pt x="1083583" y="0"/>
                  </a:lnTo>
                  <a:lnTo>
                    <a:pt x="1083583" y="1091522"/>
                  </a:lnTo>
                  <a:lnTo>
                    <a:pt x="0" y="10915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94" name="Google Shape;194;p4"/>
            <p:cNvGrpSpPr/>
            <p:nvPr/>
          </p:nvGrpSpPr>
          <p:grpSpPr>
            <a:xfrm>
              <a:off x="80171" y="61710"/>
              <a:ext cx="923241" cy="968103"/>
              <a:chOff x="0" y="0"/>
              <a:chExt cx="812800" cy="852295"/>
            </a:xfrm>
          </p:grpSpPr>
          <p:sp>
            <p:nvSpPr>
              <p:cNvPr id="195" name="Google Shape;195;p4"/>
              <p:cNvSpPr/>
              <p:nvPr/>
            </p:nvSpPr>
            <p:spPr>
              <a:xfrm>
                <a:off x="0" y="0"/>
                <a:ext cx="812800" cy="852295"/>
              </a:xfrm>
              <a:custGeom>
                <a:rect b="b" l="l" r="r" t="t"/>
                <a:pathLst>
                  <a:path extrusionOk="0" h="852295" w="812800">
                    <a:moveTo>
                      <a:pt x="406400" y="0"/>
                    </a:moveTo>
                    <a:cubicBezTo>
                      <a:pt x="181951" y="0"/>
                      <a:pt x="0" y="190793"/>
                      <a:pt x="0" y="426148"/>
                    </a:cubicBezTo>
                    <a:cubicBezTo>
                      <a:pt x="0" y="661503"/>
                      <a:pt x="181951" y="852295"/>
                      <a:pt x="406400" y="852295"/>
                    </a:cubicBezTo>
                    <a:cubicBezTo>
                      <a:pt x="630849" y="852295"/>
                      <a:pt x="812800" y="661503"/>
                      <a:pt x="812800" y="426148"/>
                    </a:cubicBezTo>
                    <a:cubicBezTo>
                      <a:pt x="812800" y="190793"/>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
              <p:cNvSpPr txBox="1"/>
              <p:nvPr/>
            </p:nvSpPr>
            <p:spPr>
              <a:xfrm>
                <a:off x="76200" y="13228"/>
                <a:ext cx="660400" cy="75916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Bebas Neue"/>
                    <a:ea typeface="Bebas Neue"/>
                    <a:cs typeface="Bebas Neue"/>
                    <a:sym typeface="Bebas Neue"/>
                  </a:rPr>
                  <a:t>-</a:t>
                </a:r>
                <a:endParaRPr b="0" i="0" sz="1400" u="none" cap="none" strike="noStrike">
                  <a:solidFill>
                    <a:srgbClr val="000000"/>
                  </a:solidFill>
                  <a:latin typeface="Arial"/>
                  <a:ea typeface="Arial"/>
                  <a:cs typeface="Arial"/>
                  <a:sym typeface="Arial"/>
                </a:endParaRPr>
              </a:p>
            </p:txBody>
          </p:sp>
        </p:grpSp>
        <p:sp>
          <p:nvSpPr>
            <p:cNvPr id="197" name="Google Shape;197;p4"/>
            <p:cNvSpPr txBox="1"/>
            <p:nvPr/>
          </p:nvSpPr>
          <p:spPr>
            <a:xfrm>
              <a:off x="1394043" y="-18009"/>
              <a:ext cx="19028099" cy="4923572"/>
            </a:xfrm>
            <a:prstGeom prst="rect">
              <a:avLst/>
            </a:prstGeom>
            <a:noFill/>
            <a:ln>
              <a:noFill/>
            </a:ln>
          </p:spPr>
          <p:txBody>
            <a:bodyPr anchorCtr="0" anchor="t" bIns="0" lIns="0" spcFirstLastPara="1" rIns="0" wrap="square" tIns="0">
              <a:spAutoFit/>
            </a:bodyPr>
            <a:lstStyle/>
            <a:p>
              <a:pPr indent="0" lvl="0" marL="0" marR="0" rtl="0" algn="just">
                <a:lnSpc>
                  <a:spcPct val="120005"/>
                </a:lnSpc>
                <a:spcBef>
                  <a:spcPts val="0"/>
                </a:spcBef>
                <a:spcAft>
                  <a:spcPts val="0"/>
                </a:spcAft>
                <a:buNone/>
              </a:pPr>
              <a:r>
                <a:rPr b="1" i="0" lang="en-US" sz="3999" u="none" cap="none" strike="noStrike">
                  <a:solidFill>
                    <a:srgbClr val="1F1674"/>
                  </a:solidFill>
                  <a:latin typeface="Bebas Neue"/>
                  <a:ea typeface="Bebas Neue"/>
                  <a:cs typeface="Bebas Neue"/>
                  <a:sym typeface="Bebas Neue"/>
                </a:rPr>
                <a:t>El estudiante será capaz de diseñar, implementar y evaluar redes de computadoras a nivel de las capas física, de enlace de datos y de red del modelo OSI aplicando conocimientos de cableado estructurado, direccionamiento IP, segmentación con VLANs y enrutamiento, para garantizar la conectividad, el rendimiento y la solución de problemas en entornos profesionales. </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01" name="Shape 201"/>
        <p:cNvGrpSpPr/>
        <p:nvPr/>
      </p:nvGrpSpPr>
      <p:grpSpPr>
        <a:xfrm>
          <a:off x="0" y="0"/>
          <a:ext cx="0" cy="0"/>
          <a:chOff x="0" y="0"/>
          <a:chExt cx="0" cy="0"/>
        </a:xfrm>
      </p:grpSpPr>
      <p:sp>
        <p:nvSpPr>
          <p:cNvPr id="202" name="Google Shape;202;p5"/>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03" name="Google Shape;203;p5"/>
          <p:cNvGrpSpPr/>
          <p:nvPr/>
        </p:nvGrpSpPr>
        <p:grpSpPr>
          <a:xfrm rot="-182069">
            <a:off x="2624194" y="1635284"/>
            <a:ext cx="6817034" cy="6817034"/>
            <a:chOff x="0" y="0"/>
            <a:chExt cx="812800" cy="812800"/>
          </a:xfrm>
        </p:grpSpPr>
        <p:sp>
          <p:nvSpPr>
            <p:cNvPr id="204" name="Google Shape;20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5"/>
          <p:cNvGrpSpPr/>
          <p:nvPr/>
        </p:nvGrpSpPr>
        <p:grpSpPr>
          <a:xfrm rot="-182069">
            <a:off x="3171294" y="1629937"/>
            <a:ext cx="6609519" cy="6609519"/>
            <a:chOff x="0" y="0"/>
            <a:chExt cx="812800" cy="812800"/>
          </a:xfrm>
        </p:grpSpPr>
        <p:sp>
          <p:nvSpPr>
            <p:cNvPr id="207" name="Google Shape;20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5"/>
          <p:cNvGrpSpPr/>
          <p:nvPr/>
        </p:nvGrpSpPr>
        <p:grpSpPr>
          <a:xfrm rot="-886328">
            <a:off x="2234838" y="5472307"/>
            <a:ext cx="896087" cy="968527"/>
            <a:chOff x="0" y="-47625"/>
            <a:chExt cx="236006" cy="255085"/>
          </a:xfrm>
        </p:grpSpPr>
        <p:sp>
          <p:nvSpPr>
            <p:cNvPr id="210" name="Google Shape;210;p5"/>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5"/>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5"/>
          <p:cNvGrpSpPr/>
          <p:nvPr/>
        </p:nvGrpSpPr>
        <p:grpSpPr>
          <a:xfrm rot="-738237">
            <a:off x="468910" y="5475585"/>
            <a:ext cx="2101522" cy="1431732"/>
            <a:chOff x="0" y="-47625"/>
            <a:chExt cx="553487" cy="377082"/>
          </a:xfrm>
        </p:grpSpPr>
        <p:sp>
          <p:nvSpPr>
            <p:cNvPr id="213" name="Google Shape;213;p5"/>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5"/>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5" name="Google Shape;215;p5"/>
          <p:cNvSpPr txBox="1"/>
          <p:nvPr/>
        </p:nvSpPr>
        <p:spPr>
          <a:xfrm>
            <a:off x="2448536" y="3853176"/>
            <a:ext cx="12470643" cy="2371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CABLEADO ESTRUCTURADO</a:t>
            </a:r>
            <a:endParaRPr b="0" i="0" sz="1400" u="none" cap="none" strike="noStrike">
              <a:solidFill>
                <a:srgbClr val="000000"/>
              </a:solidFill>
              <a:latin typeface="Arial"/>
              <a:ea typeface="Arial"/>
              <a:cs typeface="Arial"/>
              <a:sym typeface="Arial"/>
            </a:endParaRPr>
          </a:p>
        </p:txBody>
      </p:sp>
      <p:sp>
        <p:nvSpPr>
          <p:cNvPr id="216" name="Google Shape;216;p5"/>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5"/>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LABORATORIO DE REDES DE COMPUTADORAS 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21" name="Shape 221"/>
        <p:cNvGrpSpPr/>
        <p:nvPr/>
      </p:nvGrpSpPr>
      <p:grpSpPr>
        <a:xfrm>
          <a:off x="0" y="0"/>
          <a:ext cx="0" cy="0"/>
          <a:chOff x="0" y="0"/>
          <a:chExt cx="0" cy="0"/>
        </a:xfrm>
      </p:grpSpPr>
      <p:grpSp>
        <p:nvGrpSpPr>
          <p:cNvPr id="222" name="Google Shape;222;p6"/>
          <p:cNvGrpSpPr/>
          <p:nvPr/>
        </p:nvGrpSpPr>
        <p:grpSpPr>
          <a:xfrm>
            <a:off x="1808506" y="534938"/>
            <a:ext cx="14499051" cy="2154982"/>
            <a:chOff x="0" y="-157626"/>
            <a:chExt cx="19332068" cy="2873309"/>
          </a:xfrm>
        </p:grpSpPr>
        <p:cxnSp>
          <p:nvCxnSpPr>
            <p:cNvPr id="223" name="Google Shape;223;p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224" name="Google Shape;224;p6"/>
            <p:cNvGrpSpPr/>
            <p:nvPr/>
          </p:nvGrpSpPr>
          <p:grpSpPr>
            <a:xfrm>
              <a:off x="0" y="0"/>
              <a:ext cx="2715683" cy="2715683"/>
              <a:chOff x="0" y="0"/>
              <a:chExt cx="812800" cy="812800"/>
            </a:xfrm>
          </p:grpSpPr>
          <p:sp>
            <p:nvSpPr>
              <p:cNvPr id="225" name="Google Shape;225;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6"/>
            <p:cNvGrpSpPr/>
            <p:nvPr/>
          </p:nvGrpSpPr>
          <p:grpSpPr>
            <a:xfrm>
              <a:off x="150744" y="-157626"/>
              <a:ext cx="2603039" cy="2786065"/>
              <a:chOff x="0" y="-57150"/>
              <a:chExt cx="812800" cy="869950"/>
            </a:xfrm>
          </p:grpSpPr>
          <p:sp>
            <p:nvSpPr>
              <p:cNvPr id="228" name="Google Shape;228;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30" name="Google Shape;230;p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231" name="Google Shape;231;p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232" name="Google Shape;232;p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233" name="Google Shape;233;p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234" name="Google Shape;234;p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235" name="Google Shape;235;p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236" name="Google Shape;236;p6"/>
          <p:cNvSpPr txBox="1"/>
          <p:nvPr/>
        </p:nvSpPr>
        <p:spPr>
          <a:xfrm>
            <a:off x="3845269" y="1394362"/>
            <a:ext cx="11783408" cy="74802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300"/>
              <a:buFont typeface="Arial"/>
              <a:buNone/>
            </a:pPr>
            <a:r>
              <a:rPr b="1" i="0" lang="en-US" sz="4300" u="none" cap="none" strike="noStrike">
                <a:solidFill>
                  <a:srgbClr val="145C8C"/>
                </a:solidFill>
                <a:latin typeface="Arial"/>
                <a:ea typeface="Arial"/>
                <a:cs typeface="Arial"/>
                <a:sym typeface="Arial"/>
              </a:rPr>
              <a:t>¿QUÉ ES EL CABLEADO ESTRUCTURADO?</a:t>
            </a:r>
            <a:endParaRPr b="0" i="0" sz="1400" u="none" cap="none" strike="noStrike">
              <a:solidFill>
                <a:srgbClr val="000000"/>
              </a:solidFill>
              <a:latin typeface="Arial"/>
              <a:ea typeface="Arial"/>
              <a:cs typeface="Arial"/>
              <a:sym typeface="Arial"/>
            </a:endParaRPr>
          </a:p>
        </p:txBody>
      </p:sp>
      <p:sp>
        <p:nvSpPr>
          <p:cNvPr id="237" name="Google Shape;237;p6"/>
          <p:cNvSpPr txBox="1"/>
          <p:nvPr/>
        </p:nvSpPr>
        <p:spPr>
          <a:xfrm>
            <a:off x="1808506" y="2983500"/>
            <a:ext cx="14499051" cy="3114675"/>
          </a:xfrm>
          <a:prstGeom prst="rect">
            <a:avLst/>
          </a:prstGeom>
          <a:noFill/>
          <a:ln>
            <a:noFill/>
          </a:ln>
        </p:spPr>
        <p:txBody>
          <a:bodyPr anchorCtr="0" anchor="t" bIns="0" lIns="0" spcFirstLastPara="1" rIns="0" wrap="square" tIns="0">
            <a:spAutoFit/>
          </a:bodyPr>
          <a:lstStyle/>
          <a:p>
            <a:pPr indent="-323848" lvl="1" marL="647698" marR="0" rtl="0" algn="just">
              <a:lnSpc>
                <a:spcPct val="140013"/>
              </a:lnSpc>
              <a:spcBef>
                <a:spcPts val="0"/>
              </a:spcBef>
              <a:spcAft>
                <a:spcPts val="0"/>
              </a:spcAft>
              <a:buClr>
                <a:srgbClr val="1F1674"/>
              </a:buClr>
              <a:buSzPts val="2999"/>
              <a:buFont typeface="Arial"/>
              <a:buChar char="•"/>
            </a:pPr>
            <a:r>
              <a:rPr b="0" i="0" lang="en-US" sz="2999" u="none" cap="none" strike="noStrike">
                <a:solidFill>
                  <a:srgbClr val="1F1674"/>
                </a:solidFill>
                <a:latin typeface="Montserrat"/>
                <a:ea typeface="Montserrat"/>
                <a:cs typeface="Montserrat"/>
                <a:sym typeface="Montserrat"/>
              </a:rPr>
              <a:t>Es un Sistema de cables, conectores, canalizaciones y dispositivos, el cual permite establecer una infraestructura de telecomunicación en un edificio.</a:t>
            </a:r>
            <a:endParaRPr b="0" i="0" sz="1400" u="none" cap="none" strike="noStrike">
              <a:solidFill>
                <a:srgbClr val="000000"/>
              </a:solidFill>
              <a:latin typeface="Arial"/>
              <a:ea typeface="Arial"/>
              <a:cs typeface="Arial"/>
              <a:sym typeface="Arial"/>
            </a:endParaRPr>
          </a:p>
          <a:p>
            <a:pPr indent="-323848" lvl="1" marL="647698" marR="0" rtl="0" algn="just">
              <a:lnSpc>
                <a:spcPct val="140013"/>
              </a:lnSpc>
              <a:spcBef>
                <a:spcPts val="0"/>
              </a:spcBef>
              <a:spcAft>
                <a:spcPts val="0"/>
              </a:spcAft>
              <a:buClr>
                <a:srgbClr val="1F1674"/>
              </a:buClr>
              <a:buSzPts val="2999"/>
              <a:buFont typeface="Arial"/>
              <a:buChar char="•"/>
            </a:pPr>
            <a:r>
              <a:rPr b="0" i="0" lang="en-US" sz="2999" u="none" cap="none" strike="noStrike">
                <a:solidFill>
                  <a:srgbClr val="1F1674"/>
                </a:solidFill>
                <a:latin typeface="Montserrat"/>
                <a:ea typeface="Montserrat"/>
                <a:cs typeface="Montserrat"/>
                <a:sym typeface="Montserrat"/>
              </a:rPr>
              <a:t>Tiene estándares los cuales permiten que ofrezca flexibilidad de instalación e independencia. Además de una amplia capacidad de crecimiento y fácil administración</a:t>
            </a:r>
            <a:endParaRPr b="0" i="0" sz="1400" u="none" cap="none" strike="noStrike">
              <a:solidFill>
                <a:srgbClr val="000000"/>
              </a:solidFill>
              <a:latin typeface="Arial"/>
              <a:ea typeface="Arial"/>
              <a:cs typeface="Arial"/>
              <a:sym typeface="Arial"/>
            </a:endParaRPr>
          </a:p>
        </p:txBody>
      </p:sp>
      <p:sp>
        <p:nvSpPr>
          <p:cNvPr id="238" name="Google Shape;238;p6"/>
          <p:cNvSpPr/>
          <p:nvPr/>
        </p:nvSpPr>
        <p:spPr>
          <a:xfrm flipH="1">
            <a:off x="7374475" y="6948272"/>
            <a:ext cx="3539051" cy="2734721"/>
          </a:xfrm>
          <a:custGeom>
            <a:rect b="b" l="l" r="r" t="t"/>
            <a:pathLst>
              <a:path extrusionOk="0" h="2734721" w="3539051">
                <a:moveTo>
                  <a:pt x="3539050" y="0"/>
                </a:moveTo>
                <a:lnTo>
                  <a:pt x="0" y="0"/>
                </a:lnTo>
                <a:lnTo>
                  <a:pt x="0" y="2734721"/>
                </a:lnTo>
                <a:lnTo>
                  <a:pt x="3539050" y="2734721"/>
                </a:lnTo>
                <a:lnTo>
                  <a:pt x="353905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42" name="Shape 242"/>
        <p:cNvGrpSpPr/>
        <p:nvPr/>
      </p:nvGrpSpPr>
      <p:grpSpPr>
        <a:xfrm>
          <a:off x="0" y="0"/>
          <a:ext cx="0" cy="0"/>
          <a:chOff x="0" y="0"/>
          <a:chExt cx="0" cy="0"/>
        </a:xfrm>
      </p:grpSpPr>
      <p:grpSp>
        <p:nvGrpSpPr>
          <p:cNvPr id="243" name="Google Shape;243;p7"/>
          <p:cNvGrpSpPr/>
          <p:nvPr/>
        </p:nvGrpSpPr>
        <p:grpSpPr>
          <a:xfrm>
            <a:off x="1611566" y="3266178"/>
            <a:ext cx="14695991" cy="5270373"/>
            <a:chOff x="0" y="-47625"/>
            <a:chExt cx="3870549" cy="1388082"/>
          </a:xfrm>
        </p:grpSpPr>
        <p:sp>
          <p:nvSpPr>
            <p:cNvPr id="244" name="Google Shape;244;p7"/>
            <p:cNvSpPr/>
            <p:nvPr/>
          </p:nvSpPr>
          <p:spPr>
            <a:xfrm>
              <a:off x="0" y="0"/>
              <a:ext cx="3870549" cy="1340457"/>
            </a:xfrm>
            <a:custGeom>
              <a:rect b="b" l="l" r="r" t="t"/>
              <a:pathLst>
                <a:path extrusionOk="0" h="1340457" w="3870549">
                  <a:moveTo>
                    <a:pt x="26867" y="0"/>
                  </a:moveTo>
                  <a:lnTo>
                    <a:pt x="3843682" y="0"/>
                  </a:lnTo>
                  <a:cubicBezTo>
                    <a:pt x="3850808" y="0"/>
                    <a:pt x="3857641" y="2831"/>
                    <a:pt x="3862680" y="7869"/>
                  </a:cubicBezTo>
                  <a:cubicBezTo>
                    <a:pt x="3867719" y="12908"/>
                    <a:pt x="3870549" y="19741"/>
                    <a:pt x="3870549" y="26867"/>
                  </a:cubicBezTo>
                  <a:lnTo>
                    <a:pt x="3870549" y="1313590"/>
                  </a:lnTo>
                  <a:cubicBezTo>
                    <a:pt x="3870549" y="1320715"/>
                    <a:pt x="3867719" y="1327549"/>
                    <a:pt x="3862680" y="1332588"/>
                  </a:cubicBezTo>
                  <a:cubicBezTo>
                    <a:pt x="3857641" y="1337626"/>
                    <a:pt x="3850808" y="1340457"/>
                    <a:pt x="3843682" y="1340457"/>
                  </a:cubicBezTo>
                  <a:lnTo>
                    <a:pt x="26867" y="1340457"/>
                  </a:lnTo>
                  <a:cubicBezTo>
                    <a:pt x="19741" y="1340457"/>
                    <a:pt x="12908" y="1337626"/>
                    <a:pt x="7869" y="1332588"/>
                  </a:cubicBezTo>
                  <a:cubicBezTo>
                    <a:pt x="2831" y="1327549"/>
                    <a:pt x="0" y="1320715"/>
                    <a:pt x="0" y="1313590"/>
                  </a:cubicBezTo>
                  <a:lnTo>
                    <a:pt x="0" y="26867"/>
                  </a:lnTo>
                  <a:cubicBezTo>
                    <a:pt x="0" y="19741"/>
                    <a:pt x="2831" y="12908"/>
                    <a:pt x="7869" y="7869"/>
                  </a:cubicBezTo>
                  <a:cubicBezTo>
                    <a:pt x="12908" y="2831"/>
                    <a:pt x="19741" y="0"/>
                    <a:pt x="26867" y="0"/>
                  </a:cubicBezTo>
                  <a:close/>
                </a:path>
              </a:pathLst>
            </a:custGeom>
            <a:solidFill>
              <a:srgbClr val="FFA85A"/>
            </a:solidFill>
            <a:ln cap="rnd" cmpd="sng" w="15240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7"/>
            <p:cNvSpPr txBox="1"/>
            <p:nvPr/>
          </p:nvSpPr>
          <p:spPr>
            <a:xfrm>
              <a:off x="0" y="-47625"/>
              <a:ext cx="3870549" cy="1388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6" name="Google Shape;246;p7"/>
          <p:cNvGrpSpPr/>
          <p:nvPr/>
        </p:nvGrpSpPr>
        <p:grpSpPr>
          <a:xfrm>
            <a:off x="1808506" y="534938"/>
            <a:ext cx="14499051" cy="2154982"/>
            <a:chOff x="0" y="-157626"/>
            <a:chExt cx="19332068" cy="2873309"/>
          </a:xfrm>
        </p:grpSpPr>
        <p:cxnSp>
          <p:nvCxnSpPr>
            <p:cNvPr id="247" name="Google Shape;247;p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248" name="Google Shape;248;p7"/>
            <p:cNvGrpSpPr/>
            <p:nvPr/>
          </p:nvGrpSpPr>
          <p:grpSpPr>
            <a:xfrm>
              <a:off x="0" y="0"/>
              <a:ext cx="2715683" cy="2715683"/>
              <a:chOff x="0" y="0"/>
              <a:chExt cx="812800" cy="812800"/>
            </a:xfrm>
          </p:grpSpPr>
          <p:sp>
            <p:nvSpPr>
              <p:cNvPr id="249" name="Google Shape;249;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7"/>
            <p:cNvGrpSpPr/>
            <p:nvPr/>
          </p:nvGrpSpPr>
          <p:grpSpPr>
            <a:xfrm>
              <a:off x="150744" y="-157626"/>
              <a:ext cx="2603039" cy="2786065"/>
              <a:chOff x="0" y="-57150"/>
              <a:chExt cx="812800" cy="869950"/>
            </a:xfrm>
          </p:grpSpPr>
          <p:sp>
            <p:nvSpPr>
              <p:cNvPr id="252" name="Google Shape;252;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54" name="Google Shape;254;p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255" name="Google Shape;255;p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256" name="Google Shape;256;p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257" name="Google Shape;257;p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258" name="Google Shape;258;p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259" name="Google Shape;259;p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260" name="Google Shape;260;p7"/>
          <p:cNvSpPr txBox="1"/>
          <p:nvPr/>
        </p:nvSpPr>
        <p:spPr>
          <a:xfrm>
            <a:off x="3829539"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CABLEADO ESTRUCTURADO</a:t>
            </a:r>
            <a:endParaRPr b="0" i="0" sz="1400" u="none" cap="none" strike="noStrike">
              <a:solidFill>
                <a:srgbClr val="000000"/>
              </a:solidFill>
              <a:latin typeface="Arial"/>
              <a:ea typeface="Arial"/>
              <a:cs typeface="Arial"/>
              <a:sym typeface="Arial"/>
            </a:endParaRPr>
          </a:p>
        </p:txBody>
      </p:sp>
      <p:grpSp>
        <p:nvGrpSpPr>
          <p:cNvPr id="261" name="Google Shape;261;p7"/>
          <p:cNvGrpSpPr/>
          <p:nvPr/>
        </p:nvGrpSpPr>
        <p:grpSpPr>
          <a:xfrm>
            <a:off x="2011936" y="2961378"/>
            <a:ext cx="6724704" cy="5317250"/>
            <a:chOff x="0" y="-47625"/>
            <a:chExt cx="1771115" cy="1400428"/>
          </a:xfrm>
        </p:grpSpPr>
        <p:sp>
          <p:nvSpPr>
            <p:cNvPr id="262" name="Google Shape;262;p7"/>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7"/>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7"/>
          <p:cNvGrpSpPr/>
          <p:nvPr/>
        </p:nvGrpSpPr>
        <p:grpSpPr>
          <a:xfrm>
            <a:off x="9118972" y="2961378"/>
            <a:ext cx="6724704" cy="5317250"/>
            <a:chOff x="0" y="-47625"/>
            <a:chExt cx="1771115" cy="1400428"/>
          </a:xfrm>
        </p:grpSpPr>
        <p:sp>
          <p:nvSpPr>
            <p:cNvPr id="265" name="Google Shape;265;p7"/>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7"/>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7"/>
          <p:cNvSpPr txBox="1"/>
          <p:nvPr/>
        </p:nvSpPr>
        <p:spPr>
          <a:xfrm>
            <a:off x="1714661" y="32213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b="1" i="0" lang="en-US" sz="4500" u="none" cap="none" strike="noStrike">
                <a:solidFill>
                  <a:srgbClr val="1F1674"/>
                </a:solidFill>
                <a:latin typeface="Bebas Neue"/>
                <a:ea typeface="Bebas Neue"/>
                <a:cs typeface="Bebas Neue"/>
                <a:sym typeface="Bebas Neue"/>
              </a:rPr>
              <a:t>VENTAJAS</a:t>
            </a:r>
            <a:endParaRPr b="0" i="0" sz="1400" u="none" cap="none" strike="noStrike">
              <a:solidFill>
                <a:srgbClr val="000000"/>
              </a:solidFill>
              <a:latin typeface="Arial"/>
              <a:ea typeface="Arial"/>
              <a:cs typeface="Arial"/>
              <a:sym typeface="Arial"/>
            </a:endParaRPr>
          </a:p>
        </p:txBody>
      </p:sp>
      <p:sp>
        <p:nvSpPr>
          <p:cNvPr id="268" name="Google Shape;268;p7"/>
          <p:cNvSpPr txBox="1"/>
          <p:nvPr/>
        </p:nvSpPr>
        <p:spPr>
          <a:xfrm>
            <a:off x="2366774" y="4098684"/>
            <a:ext cx="6015029" cy="3619452"/>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2800" u="none" cap="none" strike="noStrike">
                <a:solidFill>
                  <a:srgbClr val="1F1674"/>
                </a:solidFill>
                <a:latin typeface="Montserrat"/>
                <a:ea typeface="Montserrat"/>
                <a:cs typeface="Montserrat"/>
                <a:sym typeface="Montserrat"/>
              </a:rPr>
              <a:t>Es independiente de la información que se transmite.</a:t>
            </a:r>
            <a:endParaRPr b="0" i="0" sz="12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800" u="none" cap="none" strike="noStrike">
                <a:solidFill>
                  <a:srgbClr val="1F1674"/>
                </a:solidFill>
                <a:latin typeface="Montserrat"/>
                <a:ea typeface="Montserrat"/>
                <a:cs typeface="Montserrat"/>
                <a:sym typeface="Montserrat"/>
              </a:rPr>
              <a:t>Se gastan recursos en una sola estructura de cableado y no en varias.</a:t>
            </a:r>
            <a:endParaRPr b="0" i="0" sz="12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800" u="none" cap="none" strike="noStrike">
                <a:solidFill>
                  <a:srgbClr val="1F1674"/>
                </a:solidFill>
                <a:latin typeface="Montserrat"/>
                <a:ea typeface="Montserrat"/>
                <a:cs typeface="Montserrat"/>
                <a:sym typeface="Montserrat"/>
              </a:rPr>
              <a:t>Muy confiable</a:t>
            </a:r>
            <a:endParaRPr b="0" i="0" sz="1200" u="none" cap="none" strike="noStrike">
              <a:solidFill>
                <a:srgbClr val="000000"/>
              </a:solidFill>
              <a:latin typeface="Arial"/>
              <a:ea typeface="Arial"/>
              <a:cs typeface="Arial"/>
              <a:sym typeface="Arial"/>
            </a:endParaRPr>
          </a:p>
        </p:txBody>
      </p:sp>
      <p:sp>
        <p:nvSpPr>
          <p:cNvPr id="269" name="Google Shape;269;p7"/>
          <p:cNvSpPr txBox="1"/>
          <p:nvPr/>
        </p:nvSpPr>
        <p:spPr>
          <a:xfrm>
            <a:off x="8959561" y="32213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b="1" i="0" lang="en-US" sz="4500" u="none" cap="none" strike="noStrike">
                <a:solidFill>
                  <a:srgbClr val="1F1674"/>
                </a:solidFill>
                <a:latin typeface="Bebas Neue"/>
                <a:ea typeface="Bebas Neue"/>
                <a:cs typeface="Bebas Neue"/>
                <a:sym typeface="Bebas Neue"/>
              </a:rPr>
              <a:t>DESVENTAJAS</a:t>
            </a:r>
            <a:endParaRPr b="0" i="0" sz="1400" u="none" cap="none" strike="noStrike">
              <a:solidFill>
                <a:srgbClr val="000000"/>
              </a:solidFill>
              <a:latin typeface="Arial"/>
              <a:ea typeface="Arial"/>
              <a:cs typeface="Arial"/>
              <a:sym typeface="Arial"/>
            </a:endParaRPr>
          </a:p>
        </p:txBody>
      </p:sp>
      <p:sp>
        <p:nvSpPr>
          <p:cNvPr id="270" name="Google Shape;270;p7"/>
          <p:cNvSpPr txBox="1"/>
          <p:nvPr/>
        </p:nvSpPr>
        <p:spPr>
          <a:xfrm>
            <a:off x="9519375" y="4098684"/>
            <a:ext cx="5721032" cy="320040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Diferentes trazados de cableado.</a:t>
            </a:r>
            <a:endParaRPr b="0" i="0" sz="14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Incompatibilidad de sistemas.</a:t>
            </a:r>
            <a:endParaRPr b="0" i="0" sz="14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Reinstalación para traslado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274" name="Shape 274"/>
        <p:cNvGrpSpPr/>
        <p:nvPr/>
      </p:nvGrpSpPr>
      <p:grpSpPr>
        <a:xfrm>
          <a:off x="0" y="0"/>
          <a:ext cx="0" cy="0"/>
          <a:chOff x="0" y="0"/>
          <a:chExt cx="0" cy="0"/>
        </a:xfrm>
      </p:grpSpPr>
      <p:sp>
        <p:nvSpPr>
          <p:cNvPr id="275" name="Google Shape;275;p8"/>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76" name="Google Shape;276;p8"/>
          <p:cNvGrpSpPr/>
          <p:nvPr/>
        </p:nvGrpSpPr>
        <p:grpSpPr>
          <a:xfrm rot="-182069">
            <a:off x="2624194" y="1635284"/>
            <a:ext cx="6817034" cy="6817034"/>
            <a:chOff x="0" y="0"/>
            <a:chExt cx="812800" cy="812800"/>
          </a:xfrm>
        </p:grpSpPr>
        <p:sp>
          <p:nvSpPr>
            <p:cNvPr id="277" name="Google Shape;277;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p8"/>
          <p:cNvGrpSpPr/>
          <p:nvPr/>
        </p:nvGrpSpPr>
        <p:grpSpPr>
          <a:xfrm rot="-182069">
            <a:off x="3171294" y="1629937"/>
            <a:ext cx="6609519" cy="6609519"/>
            <a:chOff x="0" y="0"/>
            <a:chExt cx="812800" cy="812800"/>
          </a:xfrm>
        </p:grpSpPr>
        <p:sp>
          <p:nvSpPr>
            <p:cNvPr id="280" name="Google Shape;280;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2" name="Google Shape;282;p8"/>
          <p:cNvGrpSpPr/>
          <p:nvPr/>
        </p:nvGrpSpPr>
        <p:grpSpPr>
          <a:xfrm rot="-886328">
            <a:off x="2234838" y="5472307"/>
            <a:ext cx="896087" cy="968527"/>
            <a:chOff x="0" y="-47625"/>
            <a:chExt cx="236006" cy="255085"/>
          </a:xfrm>
        </p:grpSpPr>
        <p:sp>
          <p:nvSpPr>
            <p:cNvPr id="283" name="Google Shape;283;p8"/>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8"/>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5" name="Google Shape;285;p8"/>
          <p:cNvGrpSpPr/>
          <p:nvPr/>
        </p:nvGrpSpPr>
        <p:grpSpPr>
          <a:xfrm rot="-738237">
            <a:off x="468910" y="5475585"/>
            <a:ext cx="2101522" cy="1431732"/>
            <a:chOff x="0" y="-47625"/>
            <a:chExt cx="553487" cy="377082"/>
          </a:xfrm>
        </p:grpSpPr>
        <p:sp>
          <p:nvSpPr>
            <p:cNvPr id="286" name="Google Shape;286;p8"/>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8"/>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8" name="Google Shape;288;p8"/>
          <p:cNvSpPr txBox="1"/>
          <p:nvPr/>
        </p:nvSpPr>
        <p:spPr>
          <a:xfrm>
            <a:off x="3178543" y="3362325"/>
            <a:ext cx="12470643" cy="35528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SUBSISTEMA DE UN SISTEMA DE CABLEADO ESTRUCTURADO</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8"/>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LABORATORIO DE REDES DE COMPUTADORAS 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294" name="Shape 294"/>
        <p:cNvGrpSpPr/>
        <p:nvPr/>
      </p:nvGrpSpPr>
      <p:grpSpPr>
        <a:xfrm>
          <a:off x="0" y="0"/>
          <a:ext cx="0" cy="0"/>
          <a:chOff x="0" y="0"/>
          <a:chExt cx="0" cy="0"/>
        </a:xfrm>
      </p:grpSpPr>
      <p:sp>
        <p:nvSpPr>
          <p:cNvPr id="295" name="Google Shape;295;p9"/>
          <p:cNvSpPr/>
          <p:nvPr/>
        </p:nvSpPr>
        <p:spPr>
          <a:xfrm>
            <a:off x="1028700" y="1929536"/>
            <a:ext cx="8196634" cy="5557265"/>
          </a:xfrm>
          <a:custGeom>
            <a:rect b="b" l="l" r="r" t="t"/>
            <a:pathLst>
              <a:path extrusionOk="0" h="5557265" w="8196634">
                <a:moveTo>
                  <a:pt x="0" y="0"/>
                </a:moveTo>
                <a:lnTo>
                  <a:pt x="8196634" y="0"/>
                </a:lnTo>
                <a:lnTo>
                  <a:pt x="8196634" y="5557265"/>
                </a:lnTo>
                <a:lnTo>
                  <a:pt x="0" y="555726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9"/>
          <p:cNvSpPr txBox="1"/>
          <p:nvPr/>
        </p:nvSpPr>
        <p:spPr>
          <a:xfrm>
            <a:off x="10350126" y="3074631"/>
            <a:ext cx="7035009" cy="320992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Acometida</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Cuarto de equipos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Cableado vertical o Backbone</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Armario de Telecomunicaciones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Cableado Horizontal/Distribución</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Área de Trabajo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00" name="Shape 300"/>
        <p:cNvGrpSpPr/>
        <p:nvPr/>
      </p:nvGrpSpPr>
      <p:grpSpPr>
        <a:xfrm>
          <a:off x="0" y="0"/>
          <a:ext cx="0" cy="0"/>
          <a:chOff x="0" y="0"/>
          <a:chExt cx="0" cy="0"/>
        </a:xfrm>
      </p:grpSpPr>
      <p:grpSp>
        <p:nvGrpSpPr>
          <p:cNvPr id="301" name="Google Shape;301;p10"/>
          <p:cNvGrpSpPr/>
          <p:nvPr/>
        </p:nvGrpSpPr>
        <p:grpSpPr>
          <a:xfrm>
            <a:off x="2055756" y="504791"/>
            <a:ext cx="14499051" cy="2154982"/>
            <a:chOff x="0" y="-157626"/>
            <a:chExt cx="19332068" cy="2873309"/>
          </a:xfrm>
        </p:grpSpPr>
        <p:cxnSp>
          <p:nvCxnSpPr>
            <p:cNvPr id="302" name="Google Shape;302;p10"/>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03" name="Google Shape;303;p10"/>
            <p:cNvGrpSpPr/>
            <p:nvPr/>
          </p:nvGrpSpPr>
          <p:grpSpPr>
            <a:xfrm>
              <a:off x="0" y="0"/>
              <a:ext cx="2715683" cy="2715683"/>
              <a:chOff x="0" y="0"/>
              <a:chExt cx="812800" cy="812800"/>
            </a:xfrm>
          </p:grpSpPr>
          <p:sp>
            <p:nvSpPr>
              <p:cNvPr id="304" name="Google Shape;304;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0"/>
            <p:cNvGrpSpPr/>
            <p:nvPr/>
          </p:nvGrpSpPr>
          <p:grpSpPr>
            <a:xfrm>
              <a:off x="150744" y="-157626"/>
              <a:ext cx="2603039" cy="2786065"/>
              <a:chOff x="0" y="-57150"/>
              <a:chExt cx="812800" cy="869950"/>
            </a:xfrm>
          </p:grpSpPr>
          <p:sp>
            <p:nvSpPr>
              <p:cNvPr id="307" name="Google Shape;30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09" name="Google Shape;309;p10"/>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10" name="Google Shape;310;p10"/>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11" name="Google Shape;311;p10"/>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12" name="Google Shape;312;p10"/>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13" name="Google Shape;313;p10"/>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14" name="Google Shape;314;p10"/>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315" name="Google Shape;315;p10"/>
          <p:cNvSpPr/>
          <p:nvPr/>
        </p:nvSpPr>
        <p:spPr>
          <a:xfrm>
            <a:off x="7954393" y="3342372"/>
            <a:ext cx="9304907" cy="5216387"/>
          </a:xfrm>
          <a:custGeom>
            <a:rect b="b" l="l" r="r" t="t"/>
            <a:pathLst>
              <a:path extrusionOk="0" h="5216387" w="9304907">
                <a:moveTo>
                  <a:pt x="0" y="0"/>
                </a:moveTo>
                <a:lnTo>
                  <a:pt x="9304907" y="0"/>
                </a:lnTo>
                <a:lnTo>
                  <a:pt x="9304907" y="5216388"/>
                </a:lnTo>
                <a:lnTo>
                  <a:pt x="0" y="521638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10"/>
          <p:cNvSpPr txBox="1"/>
          <p:nvPr/>
        </p:nvSpPr>
        <p:spPr>
          <a:xfrm>
            <a:off x="833864" y="3672346"/>
            <a:ext cx="6138436"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Este subsistema engloba a los cables, hardware de conexión, elementos de protección y equipo necesario para conectar las posibles instalaciones de proveedores externos con el sistema de cableado estructurado de la red local.</a:t>
            </a:r>
            <a:endParaRPr b="0" i="0" sz="1400" u="none" cap="none" strike="noStrike">
              <a:solidFill>
                <a:srgbClr val="000000"/>
              </a:solidFill>
              <a:latin typeface="Arial"/>
              <a:ea typeface="Arial"/>
              <a:cs typeface="Arial"/>
              <a:sym typeface="Arial"/>
            </a:endParaRPr>
          </a:p>
        </p:txBody>
      </p:sp>
      <p:sp>
        <p:nvSpPr>
          <p:cNvPr id="317" name="Google Shape;317;p10"/>
          <p:cNvSpPr txBox="1"/>
          <p:nvPr/>
        </p:nvSpPr>
        <p:spPr>
          <a:xfrm>
            <a:off x="4091940" y="1450384"/>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ACOMETIDA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21" name="Shape 321"/>
        <p:cNvGrpSpPr/>
        <p:nvPr/>
      </p:nvGrpSpPr>
      <p:grpSpPr>
        <a:xfrm>
          <a:off x="0" y="0"/>
          <a:ext cx="0" cy="0"/>
          <a:chOff x="0" y="0"/>
          <a:chExt cx="0" cy="0"/>
        </a:xfrm>
      </p:grpSpPr>
      <p:grpSp>
        <p:nvGrpSpPr>
          <p:cNvPr id="322" name="Google Shape;322;p11"/>
          <p:cNvGrpSpPr/>
          <p:nvPr/>
        </p:nvGrpSpPr>
        <p:grpSpPr>
          <a:xfrm>
            <a:off x="2055756" y="504791"/>
            <a:ext cx="14499051" cy="2154982"/>
            <a:chOff x="0" y="-157626"/>
            <a:chExt cx="19332068" cy="2873309"/>
          </a:xfrm>
        </p:grpSpPr>
        <p:cxnSp>
          <p:nvCxnSpPr>
            <p:cNvPr id="323" name="Google Shape;323;p11"/>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24" name="Google Shape;324;p11"/>
            <p:cNvGrpSpPr/>
            <p:nvPr/>
          </p:nvGrpSpPr>
          <p:grpSpPr>
            <a:xfrm>
              <a:off x="0" y="0"/>
              <a:ext cx="2715683" cy="2715683"/>
              <a:chOff x="0" y="0"/>
              <a:chExt cx="812800" cy="812800"/>
            </a:xfrm>
          </p:grpSpPr>
          <p:sp>
            <p:nvSpPr>
              <p:cNvPr id="325" name="Google Shape;32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7" name="Google Shape;327;p11"/>
            <p:cNvGrpSpPr/>
            <p:nvPr/>
          </p:nvGrpSpPr>
          <p:grpSpPr>
            <a:xfrm>
              <a:off x="150744" y="-157626"/>
              <a:ext cx="2603039" cy="2786065"/>
              <a:chOff x="0" y="-57150"/>
              <a:chExt cx="812800" cy="869950"/>
            </a:xfrm>
          </p:grpSpPr>
          <p:sp>
            <p:nvSpPr>
              <p:cNvPr id="328" name="Google Shape;328;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1"/>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30" name="Google Shape;330;p11"/>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31" name="Google Shape;331;p11"/>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32" name="Google Shape;332;p11"/>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33" name="Google Shape;333;p11"/>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34" name="Google Shape;334;p11"/>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35" name="Google Shape;335;p11"/>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336" name="Google Shape;336;p11"/>
          <p:cNvSpPr/>
          <p:nvPr/>
        </p:nvSpPr>
        <p:spPr>
          <a:xfrm>
            <a:off x="7915107" y="3729496"/>
            <a:ext cx="9567456" cy="5407039"/>
          </a:xfrm>
          <a:custGeom>
            <a:rect b="b" l="l" r="r" t="t"/>
            <a:pathLst>
              <a:path extrusionOk="0" h="5407039" w="9567456">
                <a:moveTo>
                  <a:pt x="0" y="0"/>
                </a:moveTo>
                <a:lnTo>
                  <a:pt x="9567456" y="0"/>
                </a:lnTo>
                <a:lnTo>
                  <a:pt x="9567456" y="5407040"/>
                </a:lnTo>
                <a:lnTo>
                  <a:pt x="0" y="540704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11"/>
          <p:cNvSpPr txBox="1"/>
          <p:nvPr/>
        </p:nvSpPr>
        <p:spPr>
          <a:xfrm>
            <a:off x="832353" y="2945169"/>
            <a:ext cx="6138436" cy="585787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Típicamente contienen una gran cantidad de equipos de telecomunicaciones que sirven a los ocupantes del edificio, terminaciones de cable.</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Únicamente debe guardar equipos directamente relacionados con el sistema de telecomunicaciones y sus sistemas de soporte.</a:t>
            </a:r>
            <a:endParaRPr b="0" i="0" sz="1400" u="none" cap="none" strike="noStrike">
              <a:solidFill>
                <a:srgbClr val="000000"/>
              </a:solidFill>
              <a:latin typeface="Arial"/>
              <a:ea typeface="Arial"/>
              <a:cs typeface="Arial"/>
              <a:sym typeface="Arial"/>
            </a:endParaRPr>
          </a:p>
        </p:txBody>
      </p:sp>
      <p:sp>
        <p:nvSpPr>
          <p:cNvPr id="338" name="Google Shape;338;p11"/>
          <p:cNvSpPr txBox="1"/>
          <p:nvPr/>
        </p:nvSpPr>
        <p:spPr>
          <a:xfrm>
            <a:off x="4091940" y="1450384"/>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CUARTO DE EQUIPOS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42" name="Shape 342"/>
        <p:cNvGrpSpPr/>
        <p:nvPr/>
      </p:nvGrpSpPr>
      <p:grpSpPr>
        <a:xfrm>
          <a:off x="0" y="0"/>
          <a:ext cx="0" cy="0"/>
          <a:chOff x="0" y="0"/>
          <a:chExt cx="0" cy="0"/>
        </a:xfrm>
      </p:grpSpPr>
      <p:grpSp>
        <p:nvGrpSpPr>
          <p:cNvPr id="343" name="Google Shape;343;p12"/>
          <p:cNvGrpSpPr/>
          <p:nvPr/>
        </p:nvGrpSpPr>
        <p:grpSpPr>
          <a:xfrm>
            <a:off x="2055756" y="504791"/>
            <a:ext cx="14499051" cy="2154982"/>
            <a:chOff x="0" y="-157626"/>
            <a:chExt cx="19332068" cy="2873309"/>
          </a:xfrm>
        </p:grpSpPr>
        <p:cxnSp>
          <p:nvCxnSpPr>
            <p:cNvPr id="344" name="Google Shape;344;p12"/>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45" name="Google Shape;345;p12"/>
            <p:cNvGrpSpPr/>
            <p:nvPr/>
          </p:nvGrpSpPr>
          <p:grpSpPr>
            <a:xfrm>
              <a:off x="0" y="0"/>
              <a:ext cx="2715683" cy="2715683"/>
              <a:chOff x="0" y="0"/>
              <a:chExt cx="812800" cy="812800"/>
            </a:xfrm>
          </p:grpSpPr>
          <p:sp>
            <p:nvSpPr>
              <p:cNvPr id="346" name="Google Shape;34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p12"/>
            <p:cNvGrpSpPr/>
            <p:nvPr/>
          </p:nvGrpSpPr>
          <p:grpSpPr>
            <a:xfrm>
              <a:off x="150744" y="-157626"/>
              <a:ext cx="2603039" cy="2786065"/>
              <a:chOff x="0" y="-57150"/>
              <a:chExt cx="812800" cy="869950"/>
            </a:xfrm>
          </p:grpSpPr>
          <p:sp>
            <p:nvSpPr>
              <p:cNvPr id="349" name="Google Shape;349;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2"/>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51" name="Google Shape;351;p12"/>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52" name="Google Shape;352;p12"/>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53" name="Google Shape;353;p12"/>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54" name="Google Shape;354;p12"/>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55" name="Google Shape;355;p12"/>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56" name="Google Shape;356;p12"/>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357" name="Google Shape;357;p12"/>
          <p:cNvSpPr/>
          <p:nvPr/>
        </p:nvSpPr>
        <p:spPr>
          <a:xfrm>
            <a:off x="8577658" y="2659773"/>
            <a:ext cx="8681642" cy="6791761"/>
          </a:xfrm>
          <a:custGeom>
            <a:rect b="b" l="l" r="r" t="t"/>
            <a:pathLst>
              <a:path extrusionOk="0" h="6791761" w="8681642">
                <a:moveTo>
                  <a:pt x="0" y="0"/>
                </a:moveTo>
                <a:lnTo>
                  <a:pt x="8681642" y="0"/>
                </a:lnTo>
                <a:lnTo>
                  <a:pt x="8681642" y="6791761"/>
                </a:lnTo>
                <a:lnTo>
                  <a:pt x="0" y="679176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12"/>
          <p:cNvSpPr txBox="1"/>
          <p:nvPr/>
        </p:nvSpPr>
        <p:spPr>
          <a:xfrm>
            <a:off x="896781" y="3409950"/>
            <a:ext cx="6138436" cy="478155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Ofrece interconexión entre el cuarto de servicio, al cuarto de equipo y con el cuarto de telecomunicaciones.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La fibra óptica es el medio más apropiado, debido a la capacidad y velocidad que ofrece (Multimodo).</a:t>
            </a:r>
            <a:endParaRPr b="0" i="0" sz="1400" u="none" cap="none" strike="noStrike">
              <a:solidFill>
                <a:srgbClr val="000000"/>
              </a:solidFill>
              <a:latin typeface="Arial"/>
              <a:ea typeface="Arial"/>
              <a:cs typeface="Arial"/>
              <a:sym typeface="Arial"/>
            </a:endParaRPr>
          </a:p>
        </p:txBody>
      </p:sp>
      <p:sp>
        <p:nvSpPr>
          <p:cNvPr id="359" name="Google Shape;359;p12"/>
          <p:cNvSpPr txBox="1"/>
          <p:nvPr/>
        </p:nvSpPr>
        <p:spPr>
          <a:xfrm>
            <a:off x="4076210" y="1212847"/>
            <a:ext cx="1171673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CABLEADO VERTICAL</a:t>
            </a:r>
            <a:endParaRPr b="0" i="0" sz="1400" u="none" cap="none" strike="noStrike">
              <a:solidFill>
                <a:srgbClr val="000000"/>
              </a:solidFill>
              <a:latin typeface="Arial"/>
              <a:ea typeface="Arial"/>
              <a:cs typeface="Arial"/>
              <a:sym typeface="Arial"/>
            </a:endParaRPr>
          </a:p>
        </p:txBody>
      </p:sp>
      <p:sp>
        <p:nvSpPr>
          <p:cNvPr id="360" name="Google Shape;360;p12"/>
          <p:cNvSpPr txBox="1"/>
          <p:nvPr/>
        </p:nvSpPr>
        <p:spPr>
          <a:xfrm>
            <a:off x="6672413" y="1698622"/>
            <a:ext cx="6138436" cy="5143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Backbone - Troncal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64" name="Shape 364"/>
        <p:cNvGrpSpPr/>
        <p:nvPr/>
      </p:nvGrpSpPr>
      <p:grpSpPr>
        <a:xfrm>
          <a:off x="0" y="0"/>
          <a:ext cx="0" cy="0"/>
          <a:chOff x="0" y="0"/>
          <a:chExt cx="0" cy="0"/>
        </a:xfrm>
      </p:grpSpPr>
      <p:grpSp>
        <p:nvGrpSpPr>
          <p:cNvPr id="365" name="Google Shape;365;p13"/>
          <p:cNvGrpSpPr/>
          <p:nvPr/>
        </p:nvGrpSpPr>
        <p:grpSpPr>
          <a:xfrm>
            <a:off x="2055756" y="504791"/>
            <a:ext cx="14499051" cy="2154982"/>
            <a:chOff x="0" y="-157626"/>
            <a:chExt cx="19332068" cy="2873309"/>
          </a:xfrm>
        </p:grpSpPr>
        <p:cxnSp>
          <p:nvCxnSpPr>
            <p:cNvPr id="366" name="Google Shape;366;p13"/>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67" name="Google Shape;367;p13"/>
            <p:cNvGrpSpPr/>
            <p:nvPr/>
          </p:nvGrpSpPr>
          <p:grpSpPr>
            <a:xfrm>
              <a:off x="0" y="0"/>
              <a:ext cx="2715683" cy="2715683"/>
              <a:chOff x="0" y="0"/>
              <a:chExt cx="812800" cy="812800"/>
            </a:xfrm>
          </p:grpSpPr>
          <p:sp>
            <p:nvSpPr>
              <p:cNvPr id="368" name="Google Shape;368;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0" name="Google Shape;370;p13"/>
            <p:cNvGrpSpPr/>
            <p:nvPr/>
          </p:nvGrpSpPr>
          <p:grpSpPr>
            <a:xfrm>
              <a:off x="150744" y="-157626"/>
              <a:ext cx="2603039" cy="2786065"/>
              <a:chOff x="0" y="-57150"/>
              <a:chExt cx="812800" cy="869950"/>
            </a:xfrm>
          </p:grpSpPr>
          <p:sp>
            <p:nvSpPr>
              <p:cNvPr id="371" name="Google Shape;371;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3"/>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73" name="Google Shape;373;p13"/>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74" name="Google Shape;374;p13"/>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75" name="Google Shape;375;p13"/>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76" name="Google Shape;376;p13"/>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77" name="Google Shape;377;p13"/>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78" name="Google Shape;378;p13"/>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379" name="Google Shape;379;p13"/>
          <p:cNvSpPr/>
          <p:nvPr/>
        </p:nvSpPr>
        <p:spPr>
          <a:xfrm>
            <a:off x="8806107" y="3062881"/>
            <a:ext cx="8320255" cy="5542364"/>
          </a:xfrm>
          <a:custGeom>
            <a:rect b="b" l="l" r="r" t="t"/>
            <a:pathLst>
              <a:path extrusionOk="0" h="5542364" w="8320255">
                <a:moveTo>
                  <a:pt x="0" y="0"/>
                </a:moveTo>
                <a:lnTo>
                  <a:pt x="8320255" y="0"/>
                </a:lnTo>
                <a:lnTo>
                  <a:pt x="8320255" y="5542363"/>
                </a:lnTo>
                <a:lnTo>
                  <a:pt x="0" y="554236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13"/>
          <p:cNvSpPr txBox="1"/>
          <p:nvPr/>
        </p:nvSpPr>
        <p:spPr>
          <a:xfrm>
            <a:off x="896781" y="3409950"/>
            <a:ext cx="6138436" cy="479107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Su principal finalidad es la distribución del cableado horizontal, por tal razón atienden pisos individuales de edificios.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Se usan para conectar cableado horizontal con el backbone y con equipos de telecomunicaciones.</a:t>
            </a:r>
            <a:endParaRPr b="0" i="0" sz="1400" u="none" cap="none" strike="noStrike">
              <a:solidFill>
                <a:srgbClr val="000000"/>
              </a:solidFill>
              <a:latin typeface="Arial"/>
              <a:ea typeface="Arial"/>
              <a:cs typeface="Arial"/>
              <a:sym typeface="Arial"/>
            </a:endParaRPr>
          </a:p>
        </p:txBody>
      </p:sp>
      <p:sp>
        <p:nvSpPr>
          <p:cNvPr id="381" name="Google Shape;381;p13"/>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CUARTO DE TELECOMUNICACIONES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385" name="Shape 385"/>
        <p:cNvGrpSpPr/>
        <p:nvPr/>
      </p:nvGrpSpPr>
      <p:grpSpPr>
        <a:xfrm>
          <a:off x="0" y="0"/>
          <a:ext cx="0" cy="0"/>
          <a:chOff x="0" y="0"/>
          <a:chExt cx="0" cy="0"/>
        </a:xfrm>
      </p:grpSpPr>
      <p:grpSp>
        <p:nvGrpSpPr>
          <p:cNvPr id="386" name="Google Shape;386;p14"/>
          <p:cNvGrpSpPr/>
          <p:nvPr/>
        </p:nvGrpSpPr>
        <p:grpSpPr>
          <a:xfrm>
            <a:off x="2055756" y="504791"/>
            <a:ext cx="14499051" cy="2154982"/>
            <a:chOff x="0" y="-157626"/>
            <a:chExt cx="19332068" cy="2873309"/>
          </a:xfrm>
        </p:grpSpPr>
        <p:cxnSp>
          <p:nvCxnSpPr>
            <p:cNvPr id="387" name="Google Shape;387;p14"/>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388" name="Google Shape;388;p14"/>
            <p:cNvGrpSpPr/>
            <p:nvPr/>
          </p:nvGrpSpPr>
          <p:grpSpPr>
            <a:xfrm>
              <a:off x="0" y="0"/>
              <a:ext cx="2715683" cy="2715683"/>
              <a:chOff x="0" y="0"/>
              <a:chExt cx="812800" cy="812800"/>
            </a:xfrm>
          </p:grpSpPr>
          <p:sp>
            <p:nvSpPr>
              <p:cNvPr id="389" name="Google Shape;389;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p14"/>
            <p:cNvGrpSpPr/>
            <p:nvPr/>
          </p:nvGrpSpPr>
          <p:grpSpPr>
            <a:xfrm>
              <a:off x="150744" y="-157626"/>
              <a:ext cx="2603039" cy="2786065"/>
              <a:chOff x="0" y="-57150"/>
              <a:chExt cx="812800" cy="869950"/>
            </a:xfrm>
          </p:grpSpPr>
          <p:sp>
            <p:nvSpPr>
              <p:cNvPr id="392" name="Google Shape;392;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4"/>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94" name="Google Shape;394;p14"/>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395" name="Google Shape;395;p14"/>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396" name="Google Shape;396;p14"/>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397" name="Google Shape;397;p14"/>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398" name="Google Shape;398;p14"/>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399" name="Google Shape;399;p14"/>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400" name="Google Shape;400;p14"/>
          <p:cNvSpPr/>
          <p:nvPr/>
        </p:nvSpPr>
        <p:spPr>
          <a:xfrm>
            <a:off x="9144000" y="3087432"/>
            <a:ext cx="7588018" cy="5512310"/>
          </a:xfrm>
          <a:custGeom>
            <a:rect b="b" l="l" r="r" t="t"/>
            <a:pathLst>
              <a:path extrusionOk="0" h="5512310" w="7588018">
                <a:moveTo>
                  <a:pt x="0" y="0"/>
                </a:moveTo>
                <a:lnTo>
                  <a:pt x="7588018" y="0"/>
                </a:lnTo>
                <a:lnTo>
                  <a:pt x="7588018" y="5512311"/>
                </a:lnTo>
                <a:lnTo>
                  <a:pt x="0" y="55123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14"/>
          <p:cNvSpPr txBox="1"/>
          <p:nvPr/>
        </p:nvSpPr>
        <p:spPr>
          <a:xfrm>
            <a:off x="896781" y="3419475"/>
            <a:ext cx="6138436" cy="478155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Se extiende desde el área de trabajo (WA) hasta el cuarto de telecomunicaciones, pasando por una cruzada horizontal llamada Cross Connect.</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(Cross Connect): Punto de encuentro entre el Cableado Horizontal y Backbone.</a:t>
            </a:r>
            <a:endParaRPr b="0" i="0" sz="1400" u="none" cap="none" strike="noStrike">
              <a:solidFill>
                <a:srgbClr val="000000"/>
              </a:solidFill>
              <a:latin typeface="Arial"/>
              <a:ea typeface="Arial"/>
              <a:cs typeface="Arial"/>
              <a:sym typeface="Arial"/>
            </a:endParaRPr>
          </a:p>
        </p:txBody>
      </p:sp>
      <p:sp>
        <p:nvSpPr>
          <p:cNvPr id="402" name="Google Shape;402;p14"/>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CABLEADO HORIZONTAL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06" name="Shape 406"/>
        <p:cNvGrpSpPr/>
        <p:nvPr/>
      </p:nvGrpSpPr>
      <p:grpSpPr>
        <a:xfrm>
          <a:off x="0" y="0"/>
          <a:ext cx="0" cy="0"/>
          <a:chOff x="0" y="0"/>
          <a:chExt cx="0" cy="0"/>
        </a:xfrm>
      </p:grpSpPr>
      <p:grpSp>
        <p:nvGrpSpPr>
          <p:cNvPr id="407" name="Google Shape;407;p15"/>
          <p:cNvGrpSpPr/>
          <p:nvPr/>
        </p:nvGrpSpPr>
        <p:grpSpPr>
          <a:xfrm>
            <a:off x="2055756" y="504791"/>
            <a:ext cx="14499051" cy="2154982"/>
            <a:chOff x="0" y="-157626"/>
            <a:chExt cx="19332068" cy="2873309"/>
          </a:xfrm>
        </p:grpSpPr>
        <p:cxnSp>
          <p:nvCxnSpPr>
            <p:cNvPr id="408" name="Google Shape;408;p15"/>
            <p:cNvCxnSpPr/>
            <p:nvPr/>
          </p:nvCxnSpPr>
          <p:spPr>
            <a:xfrm flipH="1" rot="10800000">
              <a:off x="1357842" y="2185493"/>
              <a:ext cx="17974226" cy="38504"/>
            </a:xfrm>
            <a:prstGeom prst="straightConnector1">
              <a:avLst/>
            </a:prstGeom>
            <a:noFill/>
            <a:ln cap="flat" cmpd="sng" w="76200">
              <a:solidFill>
                <a:srgbClr val="F8FCFF"/>
              </a:solidFill>
              <a:prstDash val="solid"/>
              <a:round/>
              <a:headEnd len="sm" w="sm" type="none"/>
              <a:tailEnd len="med" w="med" type="stealth"/>
            </a:ln>
          </p:spPr>
        </p:cxnSp>
        <p:grpSp>
          <p:nvGrpSpPr>
            <p:cNvPr id="409" name="Google Shape;409;p15"/>
            <p:cNvGrpSpPr/>
            <p:nvPr/>
          </p:nvGrpSpPr>
          <p:grpSpPr>
            <a:xfrm>
              <a:off x="0" y="0"/>
              <a:ext cx="2715683" cy="2715683"/>
              <a:chOff x="0" y="0"/>
              <a:chExt cx="812800" cy="812800"/>
            </a:xfrm>
          </p:grpSpPr>
          <p:sp>
            <p:nvSpPr>
              <p:cNvPr id="410" name="Google Shape;410;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5"/>
            <p:cNvGrpSpPr/>
            <p:nvPr/>
          </p:nvGrpSpPr>
          <p:grpSpPr>
            <a:xfrm>
              <a:off x="150744" y="-157626"/>
              <a:ext cx="2603039" cy="2786065"/>
              <a:chOff x="0" y="-57150"/>
              <a:chExt cx="812800" cy="869950"/>
            </a:xfrm>
          </p:grpSpPr>
          <p:sp>
            <p:nvSpPr>
              <p:cNvPr id="413" name="Google Shape;41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15" name="Google Shape;415;p1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416" name="Google Shape;416;p1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417" name="Google Shape;417;p1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418" name="Google Shape;418;p1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419" name="Google Shape;419;p1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420" name="Google Shape;420;p1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421" name="Google Shape;421;p15"/>
          <p:cNvSpPr/>
          <p:nvPr/>
        </p:nvSpPr>
        <p:spPr>
          <a:xfrm>
            <a:off x="7781462" y="3700499"/>
            <a:ext cx="9477838" cy="4159117"/>
          </a:xfrm>
          <a:custGeom>
            <a:rect b="b" l="l" r="r" t="t"/>
            <a:pathLst>
              <a:path extrusionOk="0" h="4159117" w="9477838">
                <a:moveTo>
                  <a:pt x="0" y="0"/>
                </a:moveTo>
                <a:lnTo>
                  <a:pt x="9477838" y="0"/>
                </a:lnTo>
                <a:lnTo>
                  <a:pt x="9477838" y="4159117"/>
                </a:lnTo>
                <a:lnTo>
                  <a:pt x="0" y="415911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15"/>
          <p:cNvSpPr txBox="1"/>
          <p:nvPr/>
        </p:nvSpPr>
        <p:spPr>
          <a:xfrm>
            <a:off x="896781" y="3419475"/>
            <a:ext cx="6138436" cy="42529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FFFFFF"/>
              </a:buClr>
              <a:buSzPts val="3000"/>
              <a:buFont typeface="Arial"/>
              <a:buChar char="•"/>
            </a:pPr>
            <a:r>
              <a:rPr b="0" i="0" lang="en-US" sz="3000" u="none" cap="none" strike="noStrike">
                <a:solidFill>
                  <a:srgbClr val="FFFFFF"/>
                </a:solidFill>
                <a:latin typeface="Montserrat"/>
                <a:ea typeface="Montserrat"/>
                <a:cs typeface="Montserrat"/>
                <a:sym typeface="Montserrat"/>
              </a:rPr>
              <a:t>El área de trabajo abarca desde la terminación del cableado horizontal en la salida de información, hasta el equipo en el cual se está corriendo una aplicación sea de voz, datos, video o control.</a:t>
            </a:r>
            <a:endParaRPr b="0" i="0" sz="1400" u="none" cap="none" strike="noStrike">
              <a:solidFill>
                <a:srgbClr val="000000"/>
              </a:solidFill>
              <a:latin typeface="Arial"/>
              <a:ea typeface="Arial"/>
              <a:cs typeface="Arial"/>
              <a:sym typeface="Arial"/>
            </a:endParaRPr>
          </a:p>
        </p:txBody>
      </p:sp>
      <p:sp>
        <p:nvSpPr>
          <p:cNvPr id="423" name="Google Shape;423;p15"/>
          <p:cNvSpPr txBox="1"/>
          <p:nvPr/>
        </p:nvSpPr>
        <p:spPr>
          <a:xfrm>
            <a:off x="4091940" y="1450384"/>
            <a:ext cx="122200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F8FCFF"/>
                </a:solidFill>
                <a:latin typeface="Arial"/>
                <a:ea typeface="Arial"/>
                <a:cs typeface="Arial"/>
                <a:sym typeface="Arial"/>
              </a:rPr>
              <a:t>ÁREA DE TRABAJO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427" name="Shape 427"/>
        <p:cNvGrpSpPr/>
        <p:nvPr/>
      </p:nvGrpSpPr>
      <p:grpSpPr>
        <a:xfrm>
          <a:off x="0" y="0"/>
          <a:ext cx="0" cy="0"/>
          <a:chOff x="0" y="0"/>
          <a:chExt cx="0" cy="0"/>
        </a:xfrm>
      </p:grpSpPr>
      <p:sp>
        <p:nvSpPr>
          <p:cNvPr id="428" name="Google Shape;428;p16"/>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429" name="Google Shape;429;p16"/>
          <p:cNvGrpSpPr/>
          <p:nvPr/>
        </p:nvGrpSpPr>
        <p:grpSpPr>
          <a:xfrm rot="-182069">
            <a:off x="2624194" y="1635284"/>
            <a:ext cx="6817034" cy="6817034"/>
            <a:chOff x="0" y="0"/>
            <a:chExt cx="812800" cy="812800"/>
          </a:xfrm>
        </p:grpSpPr>
        <p:sp>
          <p:nvSpPr>
            <p:cNvPr id="430" name="Google Shape;430;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2" name="Google Shape;432;p16"/>
          <p:cNvGrpSpPr/>
          <p:nvPr/>
        </p:nvGrpSpPr>
        <p:grpSpPr>
          <a:xfrm rot="-182069">
            <a:off x="3171294" y="1629937"/>
            <a:ext cx="6609519" cy="6609519"/>
            <a:chOff x="0" y="0"/>
            <a:chExt cx="812800" cy="812800"/>
          </a:xfrm>
        </p:grpSpPr>
        <p:sp>
          <p:nvSpPr>
            <p:cNvPr id="433" name="Google Shape;433;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5" name="Google Shape;435;p16"/>
          <p:cNvGrpSpPr/>
          <p:nvPr/>
        </p:nvGrpSpPr>
        <p:grpSpPr>
          <a:xfrm rot="-886328">
            <a:off x="2234838" y="5472307"/>
            <a:ext cx="896087" cy="968527"/>
            <a:chOff x="0" y="-47625"/>
            <a:chExt cx="236006" cy="255085"/>
          </a:xfrm>
        </p:grpSpPr>
        <p:sp>
          <p:nvSpPr>
            <p:cNvPr id="436" name="Google Shape;436;p16"/>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16"/>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8" name="Google Shape;438;p16"/>
          <p:cNvGrpSpPr/>
          <p:nvPr/>
        </p:nvGrpSpPr>
        <p:grpSpPr>
          <a:xfrm rot="-738237">
            <a:off x="468910" y="5475585"/>
            <a:ext cx="2101522" cy="1431732"/>
            <a:chOff x="0" y="-47625"/>
            <a:chExt cx="553487" cy="377082"/>
          </a:xfrm>
        </p:grpSpPr>
        <p:sp>
          <p:nvSpPr>
            <p:cNvPr id="439" name="Google Shape;439;p16"/>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6"/>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p16"/>
          <p:cNvSpPr txBox="1"/>
          <p:nvPr/>
        </p:nvSpPr>
        <p:spPr>
          <a:xfrm>
            <a:off x="3087044" y="2381128"/>
            <a:ext cx="12470643" cy="4733661"/>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ELEMENTOS DE UN</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sistemas de</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cableado</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estructurado</a:t>
            </a:r>
            <a:endParaRPr b="0" i="0" sz="1400" u="none" cap="none" strike="noStrike">
              <a:solidFill>
                <a:srgbClr val="000000"/>
              </a:solidFill>
              <a:latin typeface="Arial"/>
              <a:ea typeface="Arial"/>
              <a:cs typeface="Arial"/>
              <a:sym typeface="Arial"/>
            </a:endParaRPr>
          </a:p>
        </p:txBody>
      </p:sp>
      <p:sp>
        <p:nvSpPr>
          <p:cNvPr id="442" name="Google Shape;442;p16"/>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16"/>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LABORATORIO DE REDES DE COMPUTADORAS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47" name="Shape 447"/>
        <p:cNvGrpSpPr/>
        <p:nvPr/>
      </p:nvGrpSpPr>
      <p:grpSpPr>
        <a:xfrm>
          <a:off x="0" y="0"/>
          <a:ext cx="0" cy="0"/>
          <a:chOff x="0" y="0"/>
          <a:chExt cx="0" cy="0"/>
        </a:xfrm>
      </p:grpSpPr>
      <p:sp>
        <p:nvSpPr>
          <p:cNvPr id="448" name="Google Shape;448;p17"/>
          <p:cNvSpPr/>
          <p:nvPr/>
        </p:nvSpPr>
        <p:spPr>
          <a:xfrm>
            <a:off x="738393" y="2441186"/>
            <a:ext cx="10463148" cy="5404628"/>
          </a:xfrm>
          <a:custGeom>
            <a:rect b="b" l="l" r="r" t="t"/>
            <a:pathLst>
              <a:path extrusionOk="0" h="5404628" w="10463148">
                <a:moveTo>
                  <a:pt x="0" y="0"/>
                </a:moveTo>
                <a:lnTo>
                  <a:pt x="10463148" y="0"/>
                </a:lnTo>
                <a:lnTo>
                  <a:pt x="10463148" y="5404628"/>
                </a:lnTo>
                <a:lnTo>
                  <a:pt x="0" y="540462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17"/>
          <p:cNvSpPr txBox="1"/>
          <p:nvPr/>
        </p:nvSpPr>
        <p:spPr>
          <a:xfrm>
            <a:off x="12099211" y="494379"/>
            <a:ext cx="5160089" cy="960878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1- Cableado de área de trabajo</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2- Cableado horizontal</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3- Cableado de administración</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(armario de cableado, rack)</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4- Cableado vertical (central,</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backbone)</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5- Centro de cálculo</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6- Cableado de equipamiento</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(armario de entrada al edificio)</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7- Cableado del campus</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(acometida, cableado entre</a:t>
            </a:r>
            <a:endParaRPr b="0" i="0" sz="12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edificios)</a:t>
            </a:r>
            <a:endParaRPr b="0" i="0" sz="12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E0E6"/>
            </a:gs>
            <a:gs pos="100000">
              <a:srgbClr val="004AAD"/>
            </a:gs>
          </a:gsLst>
          <a:lin ang="0" scaled="0"/>
        </a:gradFill>
      </p:bgPr>
    </p:bg>
    <p:spTree>
      <p:nvGrpSpPr>
        <p:cNvPr id="453" name="Shape 453"/>
        <p:cNvGrpSpPr/>
        <p:nvPr/>
      </p:nvGrpSpPr>
      <p:grpSpPr>
        <a:xfrm>
          <a:off x="0" y="0"/>
          <a:ext cx="0" cy="0"/>
          <a:chOff x="0" y="0"/>
          <a:chExt cx="0" cy="0"/>
        </a:xfrm>
      </p:grpSpPr>
      <p:sp>
        <p:nvSpPr>
          <p:cNvPr id="454" name="Google Shape;454;p18"/>
          <p:cNvSpPr/>
          <p:nvPr/>
        </p:nvSpPr>
        <p:spPr>
          <a:xfrm>
            <a:off x="860116" y="1699568"/>
            <a:ext cx="3975270" cy="3903319"/>
          </a:xfrm>
          <a:custGeom>
            <a:rect b="b" l="l" r="r" t="t"/>
            <a:pathLst>
              <a:path extrusionOk="0" h="3903319" w="3975270">
                <a:moveTo>
                  <a:pt x="0" y="0"/>
                </a:moveTo>
                <a:lnTo>
                  <a:pt x="3975269" y="0"/>
                </a:lnTo>
                <a:lnTo>
                  <a:pt x="3975269" y="3903320"/>
                </a:lnTo>
                <a:lnTo>
                  <a:pt x="0" y="390332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18"/>
          <p:cNvSpPr txBox="1"/>
          <p:nvPr/>
        </p:nvSpPr>
        <p:spPr>
          <a:xfrm>
            <a:off x="7431491" y="891200"/>
            <a:ext cx="9063814" cy="808368"/>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Clr>
                <a:srgbClr val="000000"/>
              </a:buClr>
              <a:buSzPts val="4757"/>
              <a:buFont typeface="Arial"/>
              <a:buNone/>
            </a:pPr>
            <a:r>
              <a:rPr b="1" i="0" lang="en-US" sz="4757" u="none" cap="none" strike="noStrike">
                <a:solidFill>
                  <a:srgbClr val="FFFFFF"/>
                </a:solidFill>
                <a:latin typeface="Montserrat"/>
                <a:ea typeface="Montserrat"/>
                <a:cs typeface="Montserrat"/>
                <a:sym typeface="Montserrat"/>
              </a:rPr>
              <a:t>Cableado Horizontal incluye:</a:t>
            </a:r>
            <a:endParaRPr b="0" i="0" sz="1400" u="none" cap="none" strike="noStrike">
              <a:solidFill>
                <a:srgbClr val="000000"/>
              </a:solidFill>
              <a:latin typeface="Arial"/>
              <a:ea typeface="Arial"/>
              <a:cs typeface="Arial"/>
              <a:sym typeface="Arial"/>
            </a:endParaRPr>
          </a:p>
        </p:txBody>
      </p:sp>
      <p:sp>
        <p:nvSpPr>
          <p:cNvPr id="456" name="Google Shape;456;p18"/>
          <p:cNvSpPr txBox="1"/>
          <p:nvPr/>
        </p:nvSpPr>
        <p:spPr>
          <a:xfrm>
            <a:off x="857946" y="6253878"/>
            <a:ext cx="4601870" cy="184447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540"/>
              <a:buFont typeface="Arial"/>
              <a:buNone/>
            </a:pPr>
            <a:r>
              <a:rPr b="0" i="0" lang="en-US" sz="3540" u="none" cap="none" strike="noStrike">
                <a:solidFill>
                  <a:srgbClr val="FFFFFF"/>
                </a:solidFill>
                <a:latin typeface="Montserrat"/>
                <a:ea typeface="Montserrat"/>
                <a:cs typeface="Montserrat"/>
                <a:sym typeface="Montserrat"/>
              </a:rPr>
              <a:t>Las salidas de</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540"/>
              <a:buFont typeface="Arial"/>
              <a:buNone/>
            </a:pPr>
            <a:r>
              <a:rPr b="0" i="0" lang="en-US" sz="3540" u="none" cap="none" strike="noStrike">
                <a:solidFill>
                  <a:srgbClr val="FFFFFF"/>
                </a:solidFill>
                <a:latin typeface="Montserrat"/>
                <a:ea typeface="Montserrat"/>
                <a:cs typeface="Montserrat"/>
                <a:sym typeface="Montserrat"/>
              </a:rPr>
              <a:t>telecomunicaciones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540"/>
              <a:buFont typeface="Arial"/>
              <a:buNone/>
            </a:pPr>
            <a:r>
              <a:rPr b="0" i="0" lang="en-US" sz="3540" u="none" cap="none" strike="noStrike">
                <a:solidFill>
                  <a:srgbClr val="FFFFFF"/>
                </a:solidFill>
                <a:latin typeface="Montserrat"/>
                <a:ea typeface="Montserrat"/>
                <a:cs typeface="Montserrat"/>
                <a:sym typeface="Montserrat"/>
              </a:rPr>
              <a:t>en el área de trabajo</a:t>
            </a:r>
            <a:endParaRPr b="0" i="0" sz="1400" u="none" cap="none" strike="noStrike">
              <a:solidFill>
                <a:srgbClr val="000000"/>
              </a:solidFill>
              <a:latin typeface="Arial"/>
              <a:ea typeface="Arial"/>
              <a:cs typeface="Arial"/>
              <a:sym typeface="Arial"/>
            </a:endParaRPr>
          </a:p>
        </p:txBody>
      </p:sp>
      <p:sp>
        <p:nvSpPr>
          <p:cNvPr id="457" name="Google Shape;457;p18"/>
          <p:cNvSpPr txBox="1"/>
          <p:nvPr/>
        </p:nvSpPr>
        <p:spPr>
          <a:xfrm>
            <a:off x="6222315" y="3503982"/>
            <a:ext cx="3911579" cy="1074099"/>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3087"/>
              <a:buFont typeface="Arial"/>
              <a:buNone/>
            </a:pPr>
            <a:r>
              <a:rPr b="0" i="0" lang="en-US" sz="3087" u="none" cap="none" strike="noStrike">
                <a:solidFill>
                  <a:srgbClr val="FFFFFF"/>
                </a:solidFill>
                <a:latin typeface="Montserrat"/>
                <a:ea typeface="Montserrat"/>
                <a:cs typeface="Montserrat"/>
                <a:sym typeface="Montserrat"/>
              </a:rPr>
              <a:t>Cables y conectores</a:t>
            </a:r>
            <a:endParaRPr b="0" i="0" sz="1400" u="none" cap="none" strike="noStrike">
              <a:solidFill>
                <a:srgbClr val="000000"/>
              </a:solidFill>
              <a:latin typeface="Arial"/>
              <a:ea typeface="Arial"/>
              <a:cs typeface="Arial"/>
              <a:sym typeface="Arial"/>
            </a:endParaRPr>
          </a:p>
          <a:p>
            <a:pPr indent="0" lvl="0" marL="0" marR="0" rtl="0" algn="ctr">
              <a:lnSpc>
                <a:spcPct val="140006"/>
              </a:lnSpc>
              <a:spcBef>
                <a:spcPts val="0"/>
              </a:spcBef>
              <a:spcAft>
                <a:spcPts val="0"/>
              </a:spcAft>
              <a:buClr>
                <a:srgbClr val="000000"/>
              </a:buClr>
              <a:buSzPts val="3087"/>
              <a:buFont typeface="Arial"/>
              <a:buNone/>
            </a:pPr>
            <a:r>
              <a:rPr b="0" i="0" lang="en-US" sz="3087" u="none" cap="none" strike="noStrike">
                <a:solidFill>
                  <a:srgbClr val="FFFFFF"/>
                </a:solidFill>
                <a:latin typeface="Montserrat"/>
                <a:ea typeface="Montserrat"/>
                <a:cs typeface="Montserrat"/>
                <a:sym typeface="Montserrat"/>
              </a:rPr>
              <a:t>instalados</a:t>
            </a:r>
            <a:endParaRPr b="0" i="0" sz="1400" u="none" cap="none" strike="noStrike">
              <a:solidFill>
                <a:srgbClr val="000000"/>
              </a:solidFill>
              <a:latin typeface="Arial"/>
              <a:ea typeface="Arial"/>
              <a:cs typeface="Arial"/>
              <a:sym typeface="Arial"/>
            </a:endParaRPr>
          </a:p>
        </p:txBody>
      </p:sp>
      <p:sp>
        <p:nvSpPr>
          <p:cNvPr id="458" name="Google Shape;458;p18"/>
          <p:cNvSpPr txBox="1"/>
          <p:nvPr/>
        </p:nvSpPr>
        <p:spPr>
          <a:xfrm>
            <a:off x="11143743" y="6244353"/>
            <a:ext cx="2267319" cy="899285"/>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4174"/>
              <a:buFont typeface="Arial"/>
              <a:buNone/>
            </a:pPr>
            <a:r>
              <a:rPr b="0" i="0" lang="en-US" sz="4174" u="none" cap="none" strike="noStrike">
                <a:solidFill>
                  <a:srgbClr val="FFFFFF"/>
                </a:solidFill>
                <a:latin typeface="Montserrat"/>
                <a:ea typeface="Montserrat"/>
                <a:cs typeface="Montserrat"/>
                <a:sym typeface="Montserrat"/>
              </a:rPr>
              <a:t>Paneles</a:t>
            </a:r>
            <a:endParaRPr b="0" i="0" sz="1400" u="none" cap="none" strike="noStrike">
              <a:solidFill>
                <a:srgbClr val="000000"/>
              </a:solidFill>
              <a:latin typeface="Arial"/>
              <a:ea typeface="Arial"/>
              <a:cs typeface="Arial"/>
              <a:sym typeface="Arial"/>
            </a:endParaRPr>
          </a:p>
        </p:txBody>
      </p:sp>
      <p:sp>
        <p:nvSpPr>
          <p:cNvPr id="459" name="Google Shape;459;p18"/>
          <p:cNvSpPr txBox="1"/>
          <p:nvPr/>
        </p:nvSpPr>
        <p:spPr>
          <a:xfrm>
            <a:off x="14866118" y="3041668"/>
            <a:ext cx="2574760" cy="1428176"/>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Clr>
                <a:srgbClr val="000000"/>
              </a:buClr>
              <a:buSzPts val="4143"/>
              <a:buFont typeface="Arial"/>
              <a:buNone/>
            </a:pPr>
            <a:r>
              <a:rPr b="0" i="0" lang="en-US" sz="4143" u="none" cap="none" strike="noStrike">
                <a:solidFill>
                  <a:srgbClr val="FFFFFF"/>
                </a:solidFill>
                <a:latin typeface="Montserrat"/>
                <a:ea typeface="Montserrat"/>
                <a:cs typeface="Montserrat"/>
                <a:sym typeface="Montserrat"/>
              </a:rPr>
              <a:t>Cables de</a:t>
            </a:r>
            <a:endParaRPr b="0" i="0" sz="1400" u="none" cap="none" strike="noStrike">
              <a:solidFill>
                <a:srgbClr val="000000"/>
              </a:solidFill>
              <a:latin typeface="Arial"/>
              <a:ea typeface="Arial"/>
              <a:cs typeface="Arial"/>
              <a:sym typeface="Arial"/>
            </a:endParaRPr>
          </a:p>
          <a:p>
            <a:pPr indent="0" lvl="0" marL="0" marR="0" rtl="0" algn="ctr">
              <a:lnSpc>
                <a:spcPct val="139995"/>
              </a:lnSpc>
              <a:spcBef>
                <a:spcPts val="0"/>
              </a:spcBef>
              <a:spcAft>
                <a:spcPts val="0"/>
              </a:spcAft>
              <a:buClr>
                <a:srgbClr val="000000"/>
              </a:buClr>
              <a:buSzPts val="4143"/>
              <a:buFont typeface="Arial"/>
              <a:buNone/>
            </a:pPr>
            <a:r>
              <a:rPr b="0" i="0" lang="en-US" sz="4143" u="none" cap="none" strike="noStrike">
                <a:solidFill>
                  <a:srgbClr val="FFFFFF"/>
                </a:solidFill>
                <a:latin typeface="Montserrat"/>
                <a:ea typeface="Montserrat"/>
                <a:cs typeface="Montserrat"/>
                <a:sym typeface="Montserrat"/>
              </a:rPr>
              <a:t>empalme</a:t>
            </a:r>
            <a:endParaRPr b="0" i="0" sz="1400" u="none" cap="none" strike="noStrike">
              <a:solidFill>
                <a:srgbClr val="000000"/>
              </a:solidFill>
              <a:latin typeface="Arial"/>
              <a:ea typeface="Arial"/>
              <a:cs typeface="Arial"/>
              <a:sym typeface="Arial"/>
            </a:endParaRPr>
          </a:p>
        </p:txBody>
      </p:sp>
      <p:cxnSp>
        <p:nvCxnSpPr>
          <p:cNvPr id="460" name="Google Shape;460;p18"/>
          <p:cNvCxnSpPr/>
          <p:nvPr/>
        </p:nvCxnSpPr>
        <p:spPr>
          <a:xfrm>
            <a:off x="4516630" y="5416031"/>
            <a:ext cx="3310558" cy="1376269"/>
          </a:xfrm>
          <a:prstGeom prst="straightConnector1">
            <a:avLst/>
          </a:prstGeom>
          <a:noFill/>
          <a:ln cap="flat" cmpd="sng" w="190500">
            <a:solidFill>
              <a:srgbClr val="FFFFFF"/>
            </a:solidFill>
            <a:prstDash val="solid"/>
            <a:round/>
            <a:headEnd len="sm" w="sm" type="none"/>
            <a:tailEnd len="sm" w="sm" type="none"/>
          </a:ln>
        </p:spPr>
      </p:cxnSp>
      <p:cxnSp>
        <p:nvCxnSpPr>
          <p:cNvPr id="461" name="Google Shape;461;p18"/>
          <p:cNvCxnSpPr/>
          <p:nvPr/>
        </p:nvCxnSpPr>
        <p:spPr>
          <a:xfrm flipH="1">
            <a:off x="9144000" y="4202799"/>
            <a:ext cx="2447266" cy="2259753"/>
          </a:xfrm>
          <a:prstGeom prst="straightConnector1">
            <a:avLst/>
          </a:prstGeom>
          <a:noFill/>
          <a:ln cap="flat" cmpd="sng" w="190500">
            <a:solidFill>
              <a:srgbClr val="FFFFFF"/>
            </a:solidFill>
            <a:prstDash val="solid"/>
            <a:round/>
            <a:headEnd len="sm" w="sm" type="none"/>
            <a:tailEnd len="sm" w="sm" type="none"/>
          </a:ln>
        </p:spPr>
      </p:cxnSp>
      <p:grpSp>
        <p:nvGrpSpPr>
          <p:cNvPr id="462" name="Google Shape;462;p18"/>
          <p:cNvGrpSpPr/>
          <p:nvPr/>
        </p:nvGrpSpPr>
        <p:grpSpPr>
          <a:xfrm>
            <a:off x="7431491" y="5851600"/>
            <a:ext cx="1881401" cy="1881401"/>
            <a:chOff x="0" y="0"/>
            <a:chExt cx="2508535" cy="2508535"/>
          </a:xfrm>
        </p:grpSpPr>
        <p:grpSp>
          <p:nvGrpSpPr>
            <p:cNvPr id="463" name="Google Shape;463;p18"/>
            <p:cNvGrpSpPr/>
            <p:nvPr/>
          </p:nvGrpSpPr>
          <p:grpSpPr>
            <a:xfrm>
              <a:off x="0" y="0"/>
              <a:ext cx="2508535" cy="2508535"/>
              <a:chOff x="0" y="0"/>
              <a:chExt cx="812800" cy="812800"/>
            </a:xfrm>
          </p:grpSpPr>
          <p:sp>
            <p:nvSpPr>
              <p:cNvPr id="464" name="Google Shape;464;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6" name="Google Shape;466;p18"/>
            <p:cNvGrpSpPr/>
            <p:nvPr/>
          </p:nvGrpSpPr>
          <p:grpSpPr>
            <a:xfrm>
              <a:off x="256410" y="268501"/>
              <a:ext cx="1971533" cy="1971533"/>
              <a:chOff x="0" y="0"/>
              <a:chExt cx="812800" cy="812800"/>
            </a:xfrm>
          </p:grpSpPr>
          <p:sp>
            <p:nvSpPr>
              <p:cNvPr id="467" name="Google Shape;46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cxnSp>
        <p:nvCxnSpPr>
          <p:cNvPr id="469" name="Google Shape;469;p18"/>
          <p:cNvCxnSpPr/>
          <p:nvPr/>
        </p:nvCxnSpPr>
        <p:spPr>
          <a:xfrm>
            <a:off x="12549375" y="4327216"/>
            <a:ext cx="3223994" cy="2465084"/>
          </a:xfrm>
          <a:prstGeom prst="straightConnector1">
            <a:avLst/>
          </a:prstGeom>
          <a:noFill/>
          <a:ln cap="flat" cmpd="sng" w="190500">
            <a:solidFill>
              <a:srgbClr val="FFFFFF"/>
            </a:solidFill>
            <a:prstDash val="solid"/>
            <a:round/>
            <a:headEnd len="sm" w="sm" type="none"/>
            <a:tailEnd len="sm" w="sm" type="none"/>
          </a:ln>
        </p:spPr>
      </p:cxnSp>
      <p:grpSp>
        <p:nvGrpSpPr>
          <p:cNvPr id="470" name="Google Shape;470;p18"/>
          <p:cNvGrpSpPr/>
          <p:nvPr/>
        </p:nvGrpSpPr>
        <p:grpSpPr>
          <a:xfrm>
            <a:off x="15212798" y="5750886"/>
            <a:ext cx="1881401" cy="1881401"/>
            <a:chOff x="0" y="0"/>
            <a:chExt cx="2508535" cy="2508535"/>
          </a:xfrm>
        </p:grpSpPr>
        <p:grpSp>
          <p:nvGrpSpPr>
            <p:cNvPr id="471" name="Google Shape;471;p18"/>
            <p:cNvGrpSpPr/>
            <p:nvPr/>
          </p:nvGrpSpPr>
          <p:grpSpPr>
            <a:xfrm>
              <a:off x="0" y="0"/>
              <a:ext cx="2508535" cy="2508535"/>
              <a:chOff x="0" y="0"/>
              <a:chExt cx="812800" cy="812800"/>
            </a:xfrm>
          </p:grpSpPr>
          <p:sp>
            <p:nvSpPr>
              <p:cNvPr id="472" name="Google Shape;472;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4" name="Google Shape;474;p18"/>
            <p:cNvGrpSpPr/>
            <p:nvPr/>
          </p:nvGrpSpPr>
          <p:grpSpPr>
            <a:xfrm>
              <a:off x="256410" y="268501"/>
              <a:ext cx="1971533" cy="1971533"/>
              <a:chOff x="0" y="0"/>
              <a:chExt cx="812800" cy="812800"/>
            </a:xfrm>
          </p:grpSpPr>
          <p:sp>
            <p:nvSpPr>
              <p:cNvPr id="475" name="Google Shape;475;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77" name="Google Shape;477;p18"/>
          <p:cNvGrpSpPr/>
          <p:nvPr/>
        </p:nvGrpSpPr>
        <p:grpSpPr>
          <a:xfrm>
            <a:off x="11250528" y="3262099"/>
            <a:ext cx="1881401" cy="1881401"/>
            <a:chOff x="0" y="0"/>
            <a:chExt cx="2508535" cy="2508535"/>
          </a:xfrm>
        </p:grpSpPr>
        <p:grpSp>
          <p:nvGrpSpPr>
            <p:cNvPr id="478" name="Google Shape;478;p18"/>
            <p:cNvGrpSpPr/>
            <p:nvPr/>
          </p:nvGrpSpPr>
          <p:grpSpPr>
            <a:xfrm>
              <a:off x="0" y="0"/>
              <a:ext cx="2508535" cy="2508535"/>
              <a:chOff x="0" y="0"/>
              <a:chExt cx="812800" cy="812800"/>
            </a:xfrm>
          </p:grpSpPr>
          <p:sp>
            <p:nvSpPr>
              <p:cNvPr id="479" name="Google Shape;479;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E1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1" name="Google Shape;481;p18"/>
            <p:cNvGrpSpPr/>
            <p:nvPr/>
          </p:nvGrpSpPr>
          <p:grpSpPr>
            <a:xfrm>
              <a:off x="256410" y="268501"/>
              <a:ext cx="1971533" cy="1971533"/>
              <a:chOff x="0" y="0"/>
              <a:chExt cx="812800" cy="812800"/>
            </a:xfrm>
          </p:grpSpPr>
          <p:sp>
            <p:nvSpPr>
              <p:cNvPr id="482" name="Google Shape;482;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66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487" name="Shape 487"/>
        <p:cNvGrpSpPr/>
        <p:nvPr/>
      </p:nvGrpSpPr>
      <p:grpSpPr>
        <a:xfrm>
          <a:off x="0" y="0"/>
          <a:ext cx="0" cy="0"/>
          <a:chOff x="0" y="0"/>
          <a:chExt cx="0" cy="0"/>
        </a:xfrm>
      </p:grpSpPr>
      <p:sp>
        <p:nvSpPr>
          <p:cNvPr id="488" name="Google Shape;488;p19"/>
          <p:cNvSpPr/>
          <p:nvPr/>
        </p:nvSpPr>
        <p:spPr>
          <a:xfrm>
            <a:off x="9799497" y="1881750"/>
            <a:ext cx="7611549" cy="5559740"/>
          </a:xfrm>
          <a:custGeom>
            <a:rect b="b" l="l" r="r" t="t"/>
            <a:pathLst>
              <a:path extrusionOk="0" h="5559740" w="7611549">
                <a:moveTo>
                  <a:pt x="0" y="0"/>
                </a:moveTo>
                <a:lnTo>
                  <a:pt x="7611550" y="0"/>
                </a:lnTo>
                <a:lnTo>
                  <a:pt x="7611550" y="5559741"/>
                </a:lnTo>
                <a:lnTo>
                  <a:pt x="0" y="555974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19"/>
          <p:cNvSpPr txBox="1"/>
          <p:nvPr/>
        </p:nvSpPr>
        <p:spPr>
          <a:xfrm>
            <a:off x="1913795" y="694263"/>
            <a:ext cx="4206786" cy="214366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975"/>
              <a:buFont typeface="Arial"/>
              <a:buNone/>
            </a:pPr>
            <a:r>
              <a:rPr b="1" i="0" lang="en-US" sz="4975" u="none" cap="none" strike="noStrike">
                <a:solidFill>
                  <a:srgbClr val="FFFFFF"/>
                </a:solidFill>
                <a:latin typeface="Montserrat"/>
                <a:ea typeface="Montserrat"/>
                <a:cs typeface="Montserrat"/>
                <a:sym typeface="Montserrat"/>
              </a:rPr>
              <a:t>Cableado</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4975"/>
              <a:buFont typeface="Arial"/>
              <a:buNone/>
            </a:pPr>
            <a:r>
              <a:rPr b="1" i="0" lang="en-US" sz="4975" u="none" cap="none" strike="noStrike">
                <a:solidFill>
                  <a:srgbClr val="FFFFFF"/>
                </a:solidFill>
                <a:latin typeface="Montserrat"/>
                <a:ea typeface="Montserrat"/>
                <a:cs typeface="Montserrat"/>
                <a:sym typeface="Montserrat"/>
              </a:rPr>
              <a:t>Horizontal</a:t>
            </a:r>
            <a:endParaRPr b="0" i="0" sz="1400" u="none" cap="none" strike="noStrike">
              <a:solidFill>
                <a:srgbClr val="000000"/>
              </a:solidFill>
              <a:latin typeface="Arial"/>
              <a:ea typeface="Arial"/>
              <a:cs typeface="Arial"/>
              <a:sym typeface="Arial"/>
            </a:endParaRPr>
          </a:p>
        </p:txBody>
      </p:sp>
      <p:sp>
        <p:nvSpPr>
          <p:cNvPr id="490" name="Google Shape;490;p19"/>
          <p:cNvSpPr txBox="1"/>
          <p:nvPr/>
        </p:nvSpPr>
        <p:spPr>
          <a:xfrm>
            <a:off x="1561582" y="3172951"/>
            <a:ext cx="8193670" cy="8959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cableado horizontal se compone de dos elementos básicos: rutas y espacios verticales.</a:t>
            </a:r>
            <a:endParaRPr b="0" i="0" sz="1400" u="none" cap="none" strike="noStrike">
              <a:solidFill>
                <a:srgbClr val="000000"/>
              </a:solidFill>
              <a:latin typeface="Arial"/>
              <a:ea typeface="Arial"/>
              <a:cs typeface="Arial"/>
              <a:sym typeface="Arial"/>
            </a:endParaRPr>
          </a:p>
        </p:txBody>
      </p:sp>
      <p:sp>
        <p:nvSpPr>
          <p:cNvPr id="491" name="Google Shape;491;p19"/>
          <p:cNvSpPr txBox="1"/>
          <p:nvPr/>
        </p:nvSpPr>
        <p:spPr>
          <a:xfrm>
            <a:off x="1757329" y="4908169"/>
            <a:ext cx="6906614" cy="228187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Incluye:</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Las salidas de telecomunicaciones en el área de trabajo.</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Cables y conectores de transición.</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Paneles y cables de empalme.</a:t>
            </a:r>
            <a:endParaRPr b="0" i="0" sz="1400" u="none" cap="none" strike="noStrike">
              <a:solidFill>
                <a:srgbClr val="000000"/>
              </a:solidFill>
              <a:latin typeface="Arial"/>
              <a:ea typeface="Arial"/>
              <a:cs typeface="Arial"/>
              <a:sym typeface="Arial"/>
            </a:endParaRPr>
          </a:p>
        </p:txBody>
      </p:sp>
      <p:sp>
        <p:nvSpPr>
          <p:cNvPr id="492" name="Google Shape;492;p19"/>
          <p:cNvSpPr txBox="1"/>
          <p:nvPr/>
        </p:nvSpPr>
        <p:spPr>
          <a:xfrm>
            <a:off x="1757329" y="8029274"/>
            <a:ext cx="12475105" cy="89605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Se deben hacer ciertas consideraciones a la hora de seleccionar el cableado</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horizontal: contiene la mayor cantidad de cables individuales en el edificio.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496" name="Shape 496"/>
        <p:cNvGrpSpPr/>
        <p:nvPr/>
      </p:nvGrpSpPr>
      <p:grpSpPr>
        <a:xfrm>
          <a:off x="0" y="0"/>
          <a:ext cx="0" cy="0"/>
          <a:chOff x="0" y="0"/>
          <a:chExt cx="0" cy="0"/>
        </a:xfrm>
      </p:grpSpPr>
      <p:sp>
        <p:nvSpPr>
          <p:cNvPr id="497" name="Google Shape;497;p20"/>
          <p:cNvSpPr/>
          <p:nvPr/>
        </p:nvSpPr>
        <p:spPr>
          <a:xfrm>
            <a:off x="9833915" y="2173251"/>
            <a:ext cx="7771835" cy="6108177"/>
          </a:xfrm>
          <a:custGeom>
            <a:rect b="b" l="l" r="r" t="t"/>
            <a:pathLst>
              <a:path extrusionOk="0" h="6108177" w="7771835">
                <a:moveTo>
                  <a:pt x="0" y="0"/>
                </a:moveTo>
                <a:lnTo>
                  <a:pt x="7771836" y="0"/>
                </a:lnTo>
                <a:lnTo>
                  <a:pt x="7771836" y="6108177"/>
                </a:lnTo>
                <a:lnTo>
                  <a:pt x="0" y="610817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20"/>
          <p:cNvSpPr txBox="1"/>
          <p:nvPr/>
        </p:nvSpPr>
        <p:spPr>
          <a:xfrm>
            <a:off x="592793" y="3462621"/>
            <a:ext cx="8742975" cy="1686679"/>
          </a:xfrm>
          <a:prstGeom prst="rect">
            <a:avLst/>
          </a:prstGeom>
          <a:noFill/>
          <a:ln>
            <a:noFill/>
          </a:ln>
        </p:spPr>
        <p:txBody>
          <a:bodyPr anchorCtr="0" anchor="t" bIns="0" lIns="0" spcFirstLastPara="1" rIns="0" wrap="square" tIns="0">
            <a:spAutoFit/>
          </a:bodyPr>
          <a:lstStyle/>
          <a:p>
            <a:pPr indent="-349045" lvl="1" marL="698090" marR="0" rtl="0" algn="l">
              <a:lnSpc>
                <a:spcPct val="139993"/>
              </a:lnSpc>
              <a:spcBef>
                <a:spcPts val="0"/>
              </a:spcBef>
              <a:spcAft>
                <a:spcPts val="0"/>
              </a:spcAft>
              <a:buClr>
                <a:srgbClr val="FFFFFF"/>
              </a:buClr>
              <a:buSzPts val="3233"/>
              <a:buFont typeface="Arial"/>
              <a:buChar char="•"/>
            </a:pPr>
            <a:r>
              <a:rPr b="0" i="0" lang="en-US" sz="3233" u="none" cap="none" strike="noStrike">
                <a:solidFill>
                  <a:srgbClr val="FFFFFF"/>
                </a:solidFill>
                <a:latin typeface="Montserrat"/>
                <a:ea typeface="Montserrat"/>
                <a:cs typeface="Montserrat"/>
                <a:sym typeface="Montserrat"/>
              </a:rPr>
              <a:t>Se puede realizar backbone entre distintos gabinetes de telecomunicaciones (telefónica-datos).</a:t>
            </a:r>
            <a:endParaRPr b="0" i="0" sz="1400" u="none" cap="none" strike="noStrike">
              <a:solidFill>
                <a:srgbClr val="000000"/>
              </a:solidFill>
              <a:latin typeface="Arial"/>
              <a:ea typeface="Arial"/>
              <a:cs typeface="Arial"/>
              <a:sym typeface="Arial"/>
            </a:endParaRPr>
          </a:p>
        </p:txBody>
      </p:sp>
      <p:sp>
        <p:nvSpPr>
          <p:cNvPr id="499" name="Google Shape;499;p20"/>
          <p:cNvSpPr txBox="1"/>
          <p:nvPr/>
        </p:nvSpPr>
        <p:spPr>
          <a:xfrm>
            <a:off x="1185600" y="877993"/>
            <a:ext cx="5927804" cy="853206"/>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Clr>
                <a:srgbClr val="000000"/>
              </a:buClr>
              <a:buSzPts val="5034"/>
              <a:buFont typeface="Arial"/>
              <a:buNone/>
            </a:pPr>
            <a:r>
              <a:rPr b="1" i="0" lang="en-US" sz="5034" u="none" cap="none" strike="noStrike">
                <a:solidFill>
                  <a:srgbClr val="FFFFFF"/>
                </a:solidFill>
                <a:latin typeface="Montserrat"/>
                <a:ea typeface="Montserrat"/>
                <a:cs typeface="Montserrat"/>
                <a:sym typeface="Montserrat"/>
              </a:rPr>
              <a:t>Cableado Vertical</a:t>
            </a:r>
            <a:endParaRPr b="0" i="0" sz="1400" u="none" cap="none" strike="noStrike">
              <a:solidFill>
                <a:srgbClr val="000000"/>
              </a:solidFill>
              <a:latin typeface="Arial"/>
              <a:ea typeface="Arial"/>
              <a:cs typeface="Arial"/>
              <a:sym typeface="Arial"/>
            </a:endParaRPr>
          </a:p>
        </p:txBody>
      </p:sp>
      <p:sp>
        <p:nvSpPr>
          <p:cNvPr id="500" name="Google Shape;500;p20"/>
          <p:cNvSpPr txBox="1"/>
          <p:nvPr/>
        </p:nvSpPr>
        <p:spPr>
          <a:xfrm>
            <a:off x="1185600" y="1848157"/>
            <a:ext cx="4393983" cy="583514"/>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Clr>
                <a:srgbClr val="000000"/>
              </a:buClr>
              <a:buSzPts val="3434"/>
              <a:buFont typeface="Arial"/>
              <a:buNone/>
            </a:pPr>
            <a:r>
              <a:rPr b="0" i="0" lang="en-US" sz="3434" u="none" cap="none" strike="noStrike">
                <a:solidFill>
                  <a:srgbClr val="FFFFFF"/>
                </a:solidFill>
                <a:latin typeface="Montserrat"/>
                <a:ea typeface="Montserrat"/>
                <a:cs typeface="Montserrat"/>
                <a:sym typeface="Montserrat"/>
              </a:rPr>
              <a:t>Backbone - Troncal</a:t>
            </a:r>
            <a:endParaRPr b="0" i="0" sz="1400" u="none" cap="none" strike="noStrike">
              <a:solidFill>
                <a:srgbClr val="000000"/>
              </a:solidFill>
              <a:latin typeface="Arial"/>
              <a:ea typeface="Arial"/>
              <a:cs typeface="Arial"/>
              <a:sym typeface="Arial"/>
            </a:endParaRPr>
          </a:p>
        </p:txBody>
      </p:sp>
      <p:sp>
        <p:nvSpPr>
          <p:cNvPr id="501" name="Google Shape;501;p20"/>
          <p:cNvSpPr txBox="1"/>
          <p:nvPr/>
        </p:nvSpPr>
        <p:spPr>
          <a:xfrm>
            <a:off x="592793" y="5855432"/>
            <a:ext cx="8902387" cy="1765032"/>
          </a:xfrm>
          <a:prstGeom prst="rect">
            <a:avLst/>
          </a:prstGeom>
          <a:noFill/>
          <a:ln>
            <a:noFill/>
          </a:ln>
        </p:spPr>
        <p:txBody>
          <a:bodyPr anchorCtr="0" anchor="t" bIns="0" lIns="0" spcFirstLastPara="1" rIns="0" wrap="square" tIns="0">
            <a:spAutoFit/>
          </a:bodyPr>
          <a:lstStyle/>
          <a:p>
            <a:pPr indent="-365086" lvl="1" marL="730175" marR="0" rtl="0" algn="l">
              <a:lnSpc>
                <a:spcPct val="139976"/>
              </a:lnSpc>
              <a:spcBef>
                <a:spcPts val="0"/>
              </a:spcBef>
              <a:spcAft>
                <a:spcPts val="0"/>
              </a:spcAft>
              <a:buClr>
                <a:srgbClr val="FFFFFF"/>
              </a:buClr>
              <a:buSzPts val="3382"/>
              <a:buFont typeface="Arial"/>
              <a:buChar char="•"/>
            </a:pPr>
            <a:r>
              <a:rPr b="0" i="0" lang="en-US" sz="3382" u="none" cap="none" strike="noStrike">
                <a:solidFill>
                  <a:srgbClr val="FFFFFF"/>
                </a:solidFill>
                <a:latin typeface="Montserrat"/>
                <a:ea typeface="Montserrat"/>
                <a:cs typeface="Montserrat"/>
                <a:sym typeface="Montserrat"/>
              </a:rPr>
              <a:t>El backbone de datos se puede implementar con cables UTP (par trenzado) y/o con fibra óptica.</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05" name="Shape 505"/>
        <p:cNvGrpSpPr/>
        <p:nvPr/>
      </p:nvGrpSpPr>
      <p:grpSpPr>
        <a:xfrm>
          <a:off x="0" y="0"/>
          <a:ext cx="0" cy="0"/>
          <a:chOff x="0" y="0"/>
          <a:chExt cx="0" cy="0"/>
        </a:xfrm>
      </p:grpSpPr>
      <p:sp>
        <p:nvSpPr>
          <p:cNvPr id="506" name="Google Shape;506;p21"/>
          <p:cNvSpPr/>
          <p:nvPr/>
        </p:nvSpPr>
        <p:spPr>
          <a:xfrm>
            <a:off x="5165921" y="3531908"/>
            <a:ext cx="7956159" cy="5574546"/>
          </a:xfrm>
          <a:custGeom>
            <a:rect b="b" l="l" r="r" t="t"/>
            <a:pathLst>
              <a:path extrusionOk="0" h="5574546" w="7956159">
                <a:moveTo>
                  <a:pt x="0" y="0"/>
                </a:moveTo>
                <a:lnTo>
                  <a:pt x="7956158" y="0"/>
                </a:lnTo>
                <a:lnTo>
                  <a:pt x="7956158" y="5574546"/>
                </a:lnTo>
                <a:lnTo>
                  <a:pt x="0" y="557454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21"/>
          <p:cNvSpPr txBox="1"/>
          <p:nvPr/>
        </p:nvSpPr>
        <p:spPr>
          <a:xfrm>
            <a:off x="1232946" y="877993"/>
            <a:ext cx="5833111" cy="853206"/>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Clr>
                <a:srgbClr val="000000"/>
              </a:buClr>
              <a:buSzPts val="5034"/>
              <a:buFont typeface="Arial"/>
              <a:buNone/>
            </a:pPr>
            <a:r>
              <a:rPr b="1" i="0" lang="en-US" sz="5034" u="none" cap="none" strike="noStrike">
                <a:solidFill>
                  <a:srgbClr val="FFFFFF"/>
                </a:solidFill>
                <a:latin typeface="Montserrat"/>
                <a:ea typeface="Montserrat"/>
                <a:cs typeface="Montserrat"/>
                <a:sym typeface="Montserrat"/>
              </a:rPr>
              <a:t>Cableado vertical</a:t>
            </a:r>
            <a:endParaRPr b="0" i="0" sz="1400" u="none" cap="none" strike="noStrike">
              <a:solidFill>
                <a:srgbClr val="000000"/>
              </a:solidFill>
              <a:latin typeface="Arial"/>
              <a:ea typeface="Arial"/>
              <a:cs typeface="Arial"/>
              <a:sym typeface="Arial"/>
            </a:endParaRPr>
          </a:p>
        </p:txBody>
      </p:sp>
      <p:sp>
        <p:nvSpPr>
          <p:cNvPr id="508" name="Google Shape;508;p21"/>
          <p:cNvSpPr txBox="1"/>
          <p:nvPr/>
        </p:nvSpPr>
        <p:spPr>
          <a:xfrm>
            <a:off x="1185600" y="1848157"/>
            <a:ext cx="15661431" cy="1187604"/>
          </a:xfrm>
          <a:prstGeom prst="rect">
            <a:avLst/>
          </a:prstGeom>
          <a:noFill/>
          <a:ln>
            <a:noFill/>
          </a:ln>
        </p:spPr>
        <p:txBody>
          <a:bodyPr anchorCtr="0" anchor="t" bIns="0" lIns="0" spcFirstLastPara="1" rIns="0" wrap="square" tIns="0">
            <a:spAutoFit/>
          </a:bodyPr>
          <a:lstStyle/>
          <a:p>
            <a:pPr indent="0" lvl="0" marL="0" marR="0" rtl="0" algn="ctr">
              <a:lnSpc>
                <a:spcPct val="140040"/>
              </a:lnSpc>
              <a:spcBef>
                <a:spcPts val="0"/>
              </a:spcBef>
              <a:spcAft>
                <a:spcPts val="0"/>
              </a:spcAft>
              <a:buClr>
                <a:srgbClr val="000000"/>
              </a:buClr>
              <a:buSzPts val="3434"/>
              <a:buFont typeface="Arial"/>
              <a:buNone/>
            </a:pPr>
            <a:r>
              <a:rPr b="0" i="0" lang="en-US" sz="3434" u="none" cap="none" strike="noStrike">
                <a:solidFill>
                  <a:srgbClr val="FFFFFF"/>
                </a:solidFill>
                <a:latin typeface="Montserrat"/>
                <a:ea typeface="Montserrat"/>
                <a:cs typeface="Montserrat"/>
                <a:sym typeface="Montserrat"/>
              </a:rPr>
              <a:t>Proporciona interconexiones entre cuartos de entrada y servicios del</a:t>
            </a:r>
            <a:endParaRPr b="0" i="0" sz="1400" u="none" cap="none" strike="noStrike">
              <a:solidFill>
                <a:srgbClr val="000000"/>
              </a:solidFill>
              <a:latin typeface="Arial"/>
              <a:ea typeface="Arial"/>
              <a:cs typeface="Arial"/>
              <a:sym typeface="Arial"/>
            </a:endParaRPr>
          </a:p>
          <a:p>
            <a:pPr indent="0" lvl="0" marL="0" marR="0" rtl="0" algn="ctr">
              <a:lnSpc>
                <a:spcPct val="140040"/>
              </a:lnSpc>
              <a:spcBef>
                <a:spcPts val="0"/>
              </a:spcBef>
              <a:spcAft>
                <a:spcPts val="0"/>
              </a:spcAft>
              <a:buClr>
                <a:srgbClr val="000000"/>
              </a:buClr>
              <a:buSzPts val="3434"/>
              <a:buFont typeface="Arial"/>
              <a:buNone/>
            </a:pPr>
            <a:r>
              <a:rPr b="0" i="0" lang="en-US" sz="3434" u="none" cap="none" strike="noStrike">
                <a:solidFill>
                  <a:srgbClr val="FFFFFF"/>
                </a:solidFill>
                <a:latin typeface="Montserrat"/>
                <a:ea typeface="Montserrat"/>
                <a:cs typeface="Montserrat"/>
                <a:sym typeface="Montserrat"/>
              </a:rPr>
              <a:t>edificio, cuartos de equipos y cuartos de telecomunicaciones</a:t>
            </a:r>
            <a:endParaRPr b="0" i="0" sz="1400" u="none" cap="none" strike="noStrike">
              <a:solidFill>
                <a:srgbClr val="000000"/>
              </a:solidFill>
              <a:latin typeface="Arial"/>
              <a:ea typeface="Arial"/>
              <a:cs typeface="Arial"/>
              <a:sym typeface="Arial"/>
            </a:endParaRPr>
          </a:p>
        </p:txBody>
      </p:sp>
      <p:sp>
        <p:nvSpPr>
          <p:cNvPr id="509" name="Google Shape;509;p21"/>
          <p:cNvSpPr txBox="1"/>
          <p:nvPr/>
        </p:nvSpPr>
        <p:spPr>
          <a:xfrm>
            <a:off x="1532133" y="4965897"/>
            <a:ext cx="3485720"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Acometida de datos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los puestos de</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trabajo</a:t>
            </a:r>
            <a:endParaRPr b="0" i="0" sz="1400" u="none" cap="none" strike="noStrike">
              <a:solidFill>
                <a:srgbClr val="000000"/>
              </a:solidFill>
              <a:latin typeface="Arial"/>
              <a:ea typeface="Arial"/>
              <a:cs typeface="Arial"/>
              <a:sym typeface="Arial"/>
            </a:endParaRPr>
          </a:p>
        </p:txBody>
      </p:sp>
      <p:sp>
        <p:nvSpPr>
          <p:cNvPr id="510" name="Google Shape;510;p21"/>
          <p:cNvSpPr txBox="1"/>
          <p:nvPr/>
        </p:nvSpPr>
        <p:spPr>
          <a:xfrm>
            <a:off x="13348575" y="4037836"/>
            <a:ext cx="3485720"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Acometida del</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backbone de</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Acometida de datos</a:t>
            </a:r>
            <a:endParaRPr b="0" i="0" sz="1400" u="none" cap="none" strike="noStrike">
              <a:solidFill>
                <a:srgbClr val="000000"/>
              </a:solidFill>
              <a:latin typeface="Arial"/>
              <a:ea typeface="Arial"/>
              <a:cs typeface="Arial"/>
              <a:sym typeface="Arial"/>
            </a:endParaRPr>
          </a:p>
        </p:txBody>
      </p:sp>
      <p:sp>
        <p:nvSpPr>
          <p:cNvPr id="511" name="Google Shape;511;p21"/>
          <p:cNvSpPr txBox="1"/>
          <p:nvPr/>
        </p:nvSpPr>
        <p:spPr>
          <a:xfrm>
            <a:off x="13829372" y="6495237"/>
            <a:ext cx="2524125" cy="13532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Acometida del</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backbone</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telefónico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15" name="Shape 515"/>
        <p:cNvGrpSpPr/>
        <p:nvPr/>
      </p:nvGrpSpPr>
      <p:grpSpPr>
        <a:xfrm>
          <a:off x="0" y="0"/>
          <a:ext cx="0" cy="0"/>
          <a:chOff x="0" y="0"/>
          <a:chExt cx="0" cy="0"/>
        </a:xfrm>
      </p:grpSpPr>
      <p:sp>
        <p:nvSpPr>
          <p:cNvPr id="516" name="Google Shape;516;p22"/>
          <p:cNvSpPr txBox="1"/>
          <p:nvPr/>
        </p:nvSpPr>
        <p:spPr>
          <a:xfrm>
            <a:off x="1121187" y="729393"/>
            <a:ext cx="6930707" cy="1014878"/>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5981"/>
              <a:buFont typeface="Arial"/>
              <a:buNone/>
            </a:pPr>
            <a:r>
              <a:rPr b="1" i="0" lang="en-US" sz="5981" u="none" cap="none" strike="noStrike">
                <a:solidFill>
                  <a:srgbClr val="FFFFFF"/>
                </a:solidFill>
                <a:latin typeface="Montserrat"/>
                <a:ea typeface="Montserrat"/>
                <a:cs typeface="Montserrat"/>
                <a:sym typeface="Montserrat"/>
              </a:rPr>
              <a:t>Cableado vertical</a:t>
            </a:r>
            <a:endParaRPr b="0" i="0" sz="1400" u="none" cap="none" strike="noStrike">
              <a:solidFill>
                <a:srgbClr val="000000"/>
              </a:solidFill>
              <a:latin typeface="Arial"/>
              <a:ea typeface="Arial"/>
              <a:cs typeface="Arial"/>
              <a:sym typeface="Arial"/>
            </a:endParaRPr>
          </a:p>
        </p:txBody>
      </p:sp>
      <p:sp>
        <p:nvSpPr>
          <p:cNvPr id="517" name="Google Shape;517;p22"/>
          <p:cNvSpPr txBox="1"/>
          <p:nvPr/>
        </p:nvSpPr>
        <p:spPr>
          <a:xfrm>
            <a:off x="1232946" y="1788145"/>
            <a:ext cx="4400938" cy="5601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Backbone - Troncal</a:t>
            </a:r>
            <a:endParaRPr b="0" i="0" sz="1400" u="none" cap="none" strike="noStrike">
              <a:solidFill>
                <a:srgbClr val="000000"/>
              </a:solidFill>
              <a:latin typeface="Arial"/>
              <a:ea typeface="Arial"/>
              <a:cs typeface="Arial"/>
              <a:sym typeface="Arial"/>
            </a:endParaRPr>
          </a:p>
        </p:txBody>
      </p:sp>
      <p:sp>
        <p:nvSpPr>
          <p:cNvPr id="518" name="Google Shape;518;p22"/>
          <p:cNvSpPr txBox="1"/>
          <p:nvPr/>
        </p:nvSpPr>
        <p:spPr>
          <a:xfrm>
            <a:off x="1741141" y="2986514"/>
            <a:ext cx="12285504" cy="43878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dichos gabinetes se dispone generalmente de las siguientes secciones:</a:t>
            </a:r>
            <a:endParaRPr b="0" i="0" sz="1400" u="none" cap="none" strike="noStrike">
              <a:solidFill>
                <a:srgbClr val="000000"/>
              </a:solidFill>
              <a:latin typeface="Arial"/>
              <a:ea typeface="Arial"/>
              <a:cs typeface="Arial"/>
              <a:sym typeface="Arial"/>
            </a:endParaRPr>
          </a:p>
        </p:txBody>
      </p:sp>
      <p:sp>
        <p:nvSpPr>
          <p:cNvPr id="519" name="Google Shape;519;p22"/>
          <p:cNvSpPr txBox="1"/>
          <p:nvPr/>
        </p:nvSpPr>
        <p:spPr>
          <a:xfrm>
            <a:off x="1741141" y="4234787"/>
            <a:ext cx="15518159" cy="4115435"/>
          </a:xfrm>
          <a:prstGeom prst="rect">
            <a:avLst/>
          </a:prstGeom>
          <a:noFill/>
          <a:ln>
            <a:noFill/>
          </a:ln>
        </p:spPr>
        <p:txBody>
          <a:bodyPr anchorCtr="0" anchor="t" bIns="0" lIns="0" spcFirstLastPara="1" rIns="0" wrap="square" tIns="0">
            <a:spAutoFit/>
          </a:bodyPr>
          <a:lstStyle/>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 Acometida de los puestos de trabajo: dos cables UTP llegan desde cada puesto de trabajo.</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Acometida del backbone telefónico: cable multipar que puede terminar en regletas de conexión o en patch panels.</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Acometida del backbone de datos: cables de fibras ópticas que se llevan a una bandeja de conexión adecuada.</a:t>
            </a:r>
            <a:endParaRPr b="0" i="0" sz="1400" u="none" cap="none" strike="noStrike">
              <a:solidFill>
                <a:srgbClr val="000000"/>
              </a:solidFill>
              <a:latin typeface="Arial"/>
              <a:ea typeface="Arial"/>
              <a:cs typeface="Arial"/>
              <a:sym typeface="Arial"/>
            </a:endParaRPr>
          </a:p>
          <a:p>
            <a:pPr indent="-280671" lvl="1" marL="561342" marR="0" rtl="0" algn="just">
              <a:lnSpc>
                <a:spcPct val="140000"/>
              </a:lnSpc>
              <a:spcBef>
                <a:spcPts val="0"/>
              </a:spcBef>
              <a:spcAft>
                <a:spcPts val="0"/>
              </a:spcAft>
              <a:buClr>
                <a:srgbClr val="FFFFFF"/>
              </a:buClr>
              <a:buSzPts val="2600"/>
              <a:buFont typeface="Arial"/>
              <a:buChar char="•"/>
            </a:pPr>
            <a:r>
              <a:rPr b="0" i="0" lang="en-US" sz="2600" u="none" cap="none" strike="noStrike">
                <a:solidFill>
                  <a:srgbClr val="FFFFFF"/>
                </a:solidFill>
                <a:latin typeface="Montserrat"/>
                <a:ea typeface="Montserrat"/>
                <a:cs typeface="Montserrat"/>
                <a:sym typeface="Montserrat"/>
              </a:rPr>
              <a:t>En cuanto al área del cuarto de entrada de servicios de cableado En cables, accesorios de conexión, dispositivos de protección, y demás equipos es necesario para conectar el edificio a servicios externos.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D98E6"/>
            </a:gs>
            <a:gs pos="100000">
              <a:srgbClr val="063677"/>
            </a:gs>
          </a:gsLst>
          <a:lin ang="5400000" scaled="0"/>
        </a:gradFill>
      </p:bgPr>
    </p:bg>
    <p:spTree>
      <p:nvGrpSpPr>
        <p:cNvPr id="523" name="Shape 523"/>
        <p:cNvGrpSpPr/>
        <p:nvPr/>
      </p:nvGrpSpPr>
      <p:grpSpPr>
        <a:xfrm>
          <a:off x="0" y="0"/>
          <a:ext cx="0" cy="0"/>
          <a:chOff x="0" y="0"/>
          <a:chExt cx="0" cy="0"/>
        </a:xfrm>
      </p:grpSpPr>
      <p:sp>
        <p:nvSpPr>
          <p:cNvPr id="524" name="Google Shape;524;p23"/>
          <p:cNvSpPr/>
          <p:nvPr/>
        </p:nvSpPr>
        <p:spPr>
          <a:xfrm>
            <a:off x="1028700" y="3091672"/>
            <a:ext cx="3665219" cy="2732493"/>
          </a:xfrm>
          <a:custGeom>
            <a:rect b="b" l="l" r="r" t="t"/>
            <a:pathLst>
              <a:path extrusionOk="0" h="2732493" w="3665219">
                <a:moveTo>
                  <a:pt x="0" y="0"/>
                </a:moveTo>
                <a:lnTo>
                  <a:pt x="3665219" y="0"/>
                </a:lnTo>
                <a:lnTo>
                  <a:pt x="3665219" y="2732493"/>
                </a:lnTo>
                <a:lnTo>
                  <a:pt x="0" y="273249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23"/>
          <p:cNvSpPr/>
          <p:nvPr/>
        </p:nvSpPr>
        <p:spPr>
          <a:xfrm>
            <a:off x="6733694" y="4732223"/>
            <a:ext cx="4030938" cy="3167166"/>
          </a:xfrm>
          <a:custGeom>
            <a:rect b="b" l="l" r="r" t="t"/>
            <a:pathLst>
              <a:path extrusionOk="0" h="3167166" w="4030938">
                <a:moveTo>
                  <a:pt x="0" y="0"/>
                </a:moveTo>
                <a:lnTo>
                  <a:pt x="4030938" y="0"/>
                </a:lnTo>
                <a:lnTo>
                  <a:pt x="4030938" y="3167165"/>
                </a:lnTo>
                <a:lnTo>
                  <a:pt x="0" y="316716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23"/>
          <p:cNvSpPr/>
          <p:nvPr/>
        </p:nvSpPr>
        <p:spPr>
          <a:xfrm>
            <a:off x="12470914" y="3274349"/>
            <a:ext cx="4788386" cy="2549816"/>
          </a:xfrm>
          <a:custGeom>
            <a:rect b="b" l="l" r="r" t="t"/>
            <a:pathLst>
              <a:path extrusionOk="0" h="2549816" w="4788386">
                <a:moveTo>
                  <a:pt x="0" y="0"/>
                </a:moveTo>
                <a:lnTo>
                  <a:pt x="4788386" y="0"/>
                </a:lnTo>
                <a:lnTo>
                  <a:pt x="4788386" y="2549816"/>
                </a:lnTo>
                <a:lnTo>
                  <a:pt x="0" y="254981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23"/>
          <p:cNvSpPr txBox="1"/>
          <p:nvPr/>
        </p:nvSpPr>
        <p:spPr>
          <a:xfrm>
            <a:off x="-211919" y="402244"/>
            <a:ext cx="4480884" cy="645311"/>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Clr>
                <a:srgbClr val="000000"/>
              </a:buClr>
              <a:buSzPts val="3846"/>
              <a:buFont typeface="Arial"/>
              <a:buNone/>
            </a:pPr>
            <a:r>
              <a:rPr b="1" i="0" lang="en-US" sz="3846" u="none" cap="none" strike="noStrike">
                <a:solidFill>
                  <a:srgbClr val="FFFFFF"/>
                </a:solidFill>
                <a:latin typeface="Montserrat"/>
                <a:ea typeface="Montserrat"/>
                <a:cs typeface="Montserrat"/>
                <a:sym typeface="Montserrat"/>
              </a:rPr>
              <a:t>Tomar en cuenta:</a:t>
            </a:r>
            <a:endParaRPr b="0" i="0" sz="1400" u="none" cap="none" strike="noStrike">
              <a:solidFill>
                <a:srgbClr val="000000"/>
              </a:solidFill>
              <a:latin typeface="Arial"/>
              <a:ea typeface="Arial"/>
              <a:cs typeface="Arial"/>
              <a:sym typeface="Arial"/>
            </a:endParaRPr>
          </a:p>
        </p:txBody>
      </p:sp>
      <p:sp>
        <p:nvSpPr>
          <p:cNvPr id="528" name="Google Shape;528;p23"/>
          <p:cNvSpPr txBox="1"/>
          <p:nvPr/>
        </p:nvSpPr>
        <p:spPr>
          <a:xfrm>
            <a:off x="1453653" y="2154409"/>
            <a:ext cx="2815312" cy="650933"/>
          </a:xfrm>
          <a:prstGeom prst="rect">
            <a:avLst/>
          </a:prstGeom>
          <a:noFill/>
          <a:ln>
            <a:noFill/>
          </a:ln>
        </p:spPr>
        <p:txBody>
          <a:bodyPr anchorCtr="0" anchor="t" bIns="0" lIns="0" spcFirstLastPara="1" rIns="0" wrap="square" tIns="0">
            <a:spAutoFit/>
          </a:bodyPr>
          <a:lstStyle/>
          <a:p>
            <a:pPr indent="0" lvl="0" marL="0" marR="0" rtl="0" algn="ctr">
              <a:lnSpc>
                <a:spcPct val="140047"/>
              </a:lnSpc>
              <a:spcBef>
                <a:spcPts val="0"/>
              </a:spcBef>
              <a:spcAft>
                <a:spcPts val="0"/>
              </a:spcAft>
              <a:buClr>
                <a:srgbClr val="000000"/>
              </a:buClr>
              <a:buSzPts val="3818"/>
              <a:buFont typeface="Arial"/>
              <a:buNone/>
            </a:pPr>
            <a:r>
              <a:rPr b="0" i="0" lang="en-US" sz="3818" u="none" cap="none" strike="noStrike">
                <a:solidFill>
                  <a:srgbClr val="FFFFFF"/>
                </a:solidFill>
                <a:latin typeface="Montserrat"/>
                <a:ea typeface="Montserrat"/>
                <a:cs typeface="Montserrat"/>
                <a:sym typeface="Montserrat"/>
              </a:rPr>
              <a:t>Atenuación</a:t>
            </a:r>
            <a:endParaRPr b="0" i="0" sz="1400" u="none" cap="none" strike="noStrike">
              <a:solidFill>
                <a:srgbClr val="000000"/>
              </a:solidFill>
              <a:latin typeface="Arial"/>
              <a:ea typeface="Arial"/>
              <a:cs typeface="Arial"/>
              <a:sym typeface="Arial"/>
            </a:endParaRPr>
          </a:p>
        </p:txBody>
      </p:sp>
      <p:sp>
        <p:nvSpPr>
          <p:cNvPr id="529" name="Google Shape;529;p23"/>
          <p:cNvSpPr txBox="1"/>
          <p:nvPr/>
        </p:nvSpPr>
        <p:spPr>
          <a:xfrm>
            <a:off x="863323" y="6682922"/>
            <a:ext cx="4470208" cy="1113869"/>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238"/>
              <a:buFont typeface="Arial"/>
              <a:buNone/>
            </a:pPr>
            <a:r>
              <a:rPr b="0" i="0" lang="en-US" sz="3238" u="none" cap="none" strike="noStrike">
                <a:solidFill>
                  <a:srgbClr val="FFFFFF"/>
                </a:solidFill>
                <a:latin typeface="Montserrat"/>
                <a:ea typeface="Montserrat"/>
                <a:cs typeface="Montserrat"/>
                <a:sym typeface="Montserrat"/>
              </a:rPr>
              <a:t>Impedancia y</a:t>
            </a:r>
            <a:endParaRPr b="0" i="0" sz="1400" u="none" cap="none" strike="noStrike">
              <a:solidFill>
                <a:srgbClr val="000000"/>
              </a:solidFill>
              <a:latin typeface="Arial"/>
              <a:ea typeface="Arial"/>
              <a:cs typeface="Arial"/>
              <a:sym typeface="Arial"/>
            </a:endParaRPr>
          </a:p>
          <a:p>
            <a:pPr indent="0" lvl="0" marL="0" marR="0" rtl="0" algn="ctr">
              <a:lnSpc>
                <a:spcPct val="139993"/>
              </a:lnSpc>
              <a:spcBef>
                <a:spcPts val="0"/>
              </a:spcBef>
              <a:spcAft>
                <a:spcPts val="0"/>
              </a:spcAft>
              <a:buClr>
                <a:srgbClr val="000000"/>
              </a:buClr>
              <a:buSzPts val="3238"/>
              <a:buFont typeface="Arial"/>
              <a:buNone/>
            </a:pPr>
            <a:r>
              <a:rPr b="0" i="0" lang="en-US" sz="3238" u="none" cap="none" strike="noStrike">
                <a:solidFill>
                  <a:srgbClr val="FFFFFF"/>
                </a:solidFill>
                <a:latin typeface="Montserrat"/>
                <a:ea typeface="Montserrat"/>
                <a:cs typeface="Montserrat"/>
                <a:sym typeface="Montserrat"/>
              </a:rPr>
              <a:t>distorsión por retardo</a:t>
            </a:r>
            <a:endParaRPr b="0" i="0" sz="1400" u="none" cap="none" strike="noStrike">
              <a:solidFill>
                <a:srgbClr val="000000"/>
              </a:solidFill>
              <a:latin typeface="Arial"/>
              <a:ea typeface="Arial"/>
              <a:cs typeface="Arial"/>
              <a:sym typeface="Arial"/>
            </a:endParaRPr>
          </a:p>
        </p:txBody>
      </p:sp>
      <p:sp>
        <p:nvSpPr>
          <p:cNvPr id="530" name="Google Shape;530;p23"/>
          <p:cNvSpPr txBox="1"/>
          <p:nvPr/>
        </p:nvSpPr>
        <p:spPr>
          <a:xfrm>
            <a:off x="7079675" y="3116336"/>
            <a:ext cx="3338974" cy="1385667"/>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4041"/>
              <a:buFont typeface="Arial"/>
              <a:buNone/>
            </a:pPr>
            <a:r>
              <a:rPr b="0" i="0" lang="en-US" sz="4041" u="none" cap="none" strike="noStrike">
                <a:solidFill>
                  <a:srgbClr val="FFFFFF"/>
                </a:solidFill>
                <a:latin typeface="Montserrat"/>
                <a:ea typeface="Montserrat"/>
                <a:cs typeface="Montserrat"/>
                <a:sym typeface="Montserrat"/>
              </a:rPr>
              <a:t>Capacitancia</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4041"/>
              <a:buFont typeface="Arial"/>
              <a:buNone/>
            </a:pPr>
            <a:r>
              <a:rPr b="0" i="0" lang="en-US" sz="4041" u="none" cap="none" strike="noStrike">
                <a:solidFill>
                  <a:srgbClr val="FFFFFF"/>
                </a:solidFill>
                <a:latin typeface="Montserrat"/>
                <a:ea typeface="Montserrat"/>
                <a:cs typeface="Montserrat"/>
                <a:sym typeface="Montserrat"/>
              </a:rPr>
              <a:t>del cable</a:t>
            </a:r>
            <a:endParaRPr b="0" i="0" sz="1400" u="none" cap="none" strike="noStrike">
              <a:solidFill>
                <a:srgbClr val="000000"/>
              </a:solidFill>
              <a:latin typeface="Arial"/>
              <a:ea typeface="Arial"/>
              <a:cs typeface="Arial"/>
              <a:sym typeface="Arial"/>
            </a:endParaRPr>
          </a:p>
        </p:txBody>
      </p:sp>
      <p:sp>
        <p:nvSpPr>
          <p:cNvPr id="531" name="Google Shape;531;p23"/>
          <p:cNvSpPr txBox="1"/>
          <p:nvPr/>
        </p:nvSpPr>
        <p:spPr>
          <a:xfrm>
            <a:off x="12919745" y="6156112"/>
            <a:ext cx="3890723" cy="1110771"/>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Clr>
                <a:srgbClr val="000000"/>
              </a:buClr>
              <a:buSzPts val="3228"/>
              <a:buFont typeface="Arial"/>
              <a:buNone/>
            </a:pPr>
            <a:r>
              <a:rPr b="0" i="0" lang="en-US" sz="3228" u="none" cap="none" strike="noStrike">
                <a:solidFill>
                  <a:srgbClr val="FFFFFF"/>
                </a:solidFill>
                <a:latin typeface="Montserrat"/>
                <a:ea typeface="Montserrat"/>
                <a:cs typeface="Montserrat"/>
                <a:sym typeface="Montserrat"/>
              </a:rPr>
              <a:t>Velocidad según la</a:t>
            </a:r>
            <a:endParaRPr b="0" i="0" sz="1400" u="none" cap="none" strike="noStrike">
              <a:solidFill>
                <a:srgbClr val="000000"/>
              </a:solidFill>
              <a:latin typeface="Arial"/>
              <a:ea typeface="Arial"/>
              <a:cs typeface="Arial"/>
              <a:sym typeface="Arial"/>
            </a:endParaRPr>
          </a:p>
          <a:p>
            <a:pPr indent="0" lvl="0" marL="0" marR="0" rtl="0" algn="ctr">
              <a:lnSpc>
                <a:spcPct val="140024"/>
              </a:lnSpc>
              <a:spcBef>
                <a:spcPts val="0"/>
              </a:spcBef>
              <a:spcAft>
                <a:spcPts val="0"/>
              </a:spcAft>
              <a:buClr>
                <a:srgbClr val="000000"/>
              </a:buClr>
              <a:buSzPts val="3228"/>
              <a:buFont typeface="Arial"/>
              <a:buNone/>
            </a:pPr>
            <a:r>
              <a:rPr b="0" i="0" lang="en-US" sz="3228" u="none" cap="none" strike="noStrike">
                <a:solidFill>
                  <a:srgbClr val="FFFFFF"/>
                </a:solidFill>
                <a:latin typeface="Montserrat"/>
                <a:ea typeface="Montserrat"/>
                <a:cs typeface="Montserrat"/>
                <a:sym typeface="Montserrat"/>
              </a:rPr>
              <a:t>categoría de la red</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35" name="Shape 535"/>
        <p:cNvGrpSpPr/>
        <p:nvPr/>
      </p:nvGrpSpPr>
      <p:grpSpPr>
        <a:xfrm>
          <a:off x="0" y="0"/>
          <a:ext cx="0" cy="0"/>
          <a:chOff x="0" y="0"/>
          <a:chExt cx="0" cy="0"/>
        </a:xfrm>
      </p:grpSpPr>
      <p:sp>
        <p:nvSpPr>
          <p:cNvPr id="536" name="Google Shape;536;p24"/>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537" name="Google Shape;537;p24"/>
          <p:cNvGrpSpPr/>
          <p:nvPr/>
        </p:nvGrpSpPr>
        <p:grpSpPr>
          <a:xfrm rot="-182069">
            <a:off x="2624194" y="1635284"/>
            <a:ext cx="6817034" cy="6817034"/>
            <a:chOff x="0" y="0"/>
            <a:chExt cx="812800" cy="812800"/>
          </a:xfrm>
        </p:grpSpPr>
        <p:sp>
          <p:nvSpPr>
            <p:cNvPr id="538" name="Google Shape;538;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0" name="Google Shape;540;p24"/>
          <p:cNvGrpSpPr/>
          <p:nvPr/>
        </p:nvGrpSpPr>
        <p:grpSpPr>
          <a:xfrm rot="-182069">
            <a:off x="3171294" y="1629937"/>
            <a:ext cx="6609519" cy="6609519"/>
            <a:chOff x="0" y="0"/>
            <a:chExt cx="812800" cy="812800"/>
          </a:xfrm>
        </p:grpSpPr>
        <p:sp>
          <p:nvSpPr>
            <p:cNvPr id="541" name="Google Shape;541;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3" name="Google Shape;543;p24"/>
          <p:cNvGrpSpPr/>
          <p:nvPr/>
        </p:nvGrpSpPr>
        <p:grpSpPr>
          <a:xfrm rot="-886328">
            <a:off x="2234838" y="5472307"/>
            <a:ext cx="896087" cy="968527"/>
            <a:chOff x="0" y="-47625"/>
            <a:chExt cx="236006" cy="255085"/>
          </a:xfrm>
        </p:grpSpPr>
        <p:sp>
          <p:nvSpPr>
            <p:cNvPr id="544" name="Google Shape;544;p24"/>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24"/>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6" name="Google Shape;546;p24"/>
          <p:cNvGrpSpPr/>
          <p:nvPr/>
        </p:nvGrpSpPr>
        <p:grpSpPr>
          <a:xfrm rot="-738237">
            <a:off x="468910" y="5475585"/>
            <a:ext cx="2101522" cy="1431732"/>
            <a:chOff x="0" y="-47625"/>
            <a:chExt cx="553487" cy="377082"/>
          </a:xfrm>
        </p:grpSpPr>
        <p:sp>
          <p:nvSpPr>
            <p:cNvPr id="547" name="Google Shape;547;p24"/>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4"/>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9" name="Google Shape;549;p24"/>
          <p:cNvSpPr txBox="1"/>
          <p:nvPr/>
        </p:nvSpPr>
        <p:spPr>
          <a:xfrm>
            <a:off x="3251294" y="3710574"/>
            <a:ext cx="12470643" cy="23717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NORMAS Y ESTÁNDARES</a:t>
            </a:r>
            <a:endParaRPr b="0" i="0" sz="1400" u="none" cap="none" strike="noStrike">
              <a:solidFill>
                <a:srgbClr val="000000"/>
              </a:solidFill>
              <a:latin typeface="Arial"/>
              <a:ea typeface="Arial"/>
              <a:cs typeface="Arial"/>
              <a:sym typeface="Arial"/>
            </a:endParaRPr>
          </a:p>
        </p:txBody>
      </p:sp>
      <p:sp>
        <p:nvSpPr>
          <p:cNvPr id="550" name="Google Shape;550;p24"/>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24"/>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LABORATORIO DE REDES DE COMPUTADORAS 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55" name="Shape 555"/>
        <p:cNvGrpSpPr/>
        <p:nvPr/>
      </p:nvGrpSpPr>
      <p:grpSpPr>
        <a:xfrm>
          <a:off x="0" y="0"/>
          <a:ext cx="0" cy="0"/>
          <a:chOff x="0" y="0"/>
          <a:chExt cx="0" cy="0"/>
        </a:xfrm>
      </p:grpSpPr>
      <p:grpSp>
        <p:nvGrpSpPr>
          <p:cNvPr id="556" name="Google Shape;556;p25"/>
          <p:cNvGrpSpPr/>
          <p:nvPr/>
        </p:nvGrpSpPr>
        <p:grpSpPr>
          <a:xfrm>
            <a:off x="1611566" y="3266178"/>
            <a:ext cx="14695991" cy="5270373"/>
            <a:chOff x="0" y="-47625"/>
            <a:chExt cx="3870549" cy="1388082"/>
          </a:xfrm>
        </p:grpSpPr>
        <p:sp>
          <p:nvSpPr>
            <p:cNvPr id="557" name="Google Shape;557;p25"/>
            <p:cNvSpPr/>
            <p:nvPr/>
          </p:nvSpPr>
          <p:spPr>
            <a:xfrm>
              <a:off x="0" y="0"/>
              <a:ext cx="3870549" cy="1340457"/>
            </a:xfrm>
            <a:custGeom>
              <a:rect b="b" l="l" r="r" t="t"/>
              <a:pathLst>
                <a:path extrusionOk="0" h="1340457" w="3870549">
                  <a:moveTo>
                    <a:pt x="26867" y="0"/>
                  </a:moveTo>
                  <a:lnTo>
                    <a:pt x="3843682" y="0"/>
                  </a:lnTo>
                  <a:cubicBezTo>
                    <a:pt x="3850808" y="0"/>
                    <a:pt x="3857641" y="2831"/>
                    <a:pt x="3862680" y="7869"/>
                  </a:cubicBezTo>
                  <a:cubicBezTo>
                    <a:pt x="3867719" y="12908"/>
                    <a:pt x="3870549" y="19741"/>
                    <a:pt x="3870549" y="26867"/>
                  </a:cubicBezTo>
                  <a:lnTo>
                    <a:pt x="3870549" y="1313590"/>
                  </a:lnTo>
                  <a:cubicBezTo>
                    <a:pt x="3870549" y="1320715"/>
                    <a:pt x="3867719" y="1327549"/>
                    <a:pt x="3862680" y="1332588"/>
                  </a:cubicBezTo>
                  <a:cubicBezTo>
                    <a:pt x="3857641" y="1337626"/>
                    <a:pt x="3850808" y="1340457"/>
                    <a:pt x="3843682" y="1340457"/>
                  </a:cubicBezTo>
                  <a:lnTo>
                    <a:pt x="26867" y="1340457"/>
                  </a:lnTo>
                  <a:cubicBezTo>
                    <a:pt x="19741" y="1340457"/>
                    <a:pt x="12908" y="1337626"/>
                    <a:pt x="7869" y="1332588"/>
                  </a:cubicBezTo>
                  <a:cubicBezTo>
                    <a:pt x="2831" y="1327549"/>
                    <a:pt x="0" y="1320715"/>
                    <a:pt x="0" y="1313590"/>
                  </a:cubicBezTo>
                  <a:lnTo>
                    <a:pt x="0" y="26867"/>
                  </a:lnTo>
                  <a:cubicBezTo>
                    <a:pt x="0" y="19741"/>
                    <a:pt x="2831" y="12908"/>
                    <a:pt x="7869" y="7869"/>
                  </a:cubicBezTo>
                  <a:cubicBezTo>
                    <a:pt x="12908" y="2831"/>
                    <a:pt x="19741" y="0"/>
                    <a:pt x="26867" y="0"/>
                  </a:cubicBezTo>
                  <a:close/>
                </a:path>
              </a:pathLst>
            </a:custGeom>
            <a:solidFill>
              <a:srgbClr val="FFA85A"/>
            </a:solidFill>
            <a:ln cap="rnd" cmpd="sng" w="15240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5"/>
            <p:cNvSpPr txBox="1"/>
            <p:nvPr/>
          </p:nvSpPr>
          <p:spPr>
            <a:xfrm>
              <a:off x="0" y="-47625"/>
              <a:ext cx="3870549" cy="1388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p25"/>
          <p:cNvGrpSpPr/>
          <p:nvPr/>
        </p:nvGrpSpPr>
        <p:grpSpPr>
          <a:xfrm>
            <a:off x="1808506" y="534938"/>
            <a:ext cx="14499051" cy="2154982"/>
            <a:chOff x="0" y="-157626"/>
            <a:chExt cx="19332068" cy="2873309"/>
          </a:xfrm>
        </p:grpSpPr>
        <p:cxnSp>
          <p:nvCxnSpPr>
            <p:cNvPr id="560" name="Google Shape;560;p25"/>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561" name="Google Shape;561;p25"/>
            <p:cNvGrpSpPr/>
            <p:nvPr/>
          </p:nvGrpSpPr>
          <p:grpSpPr>
            <a:xfrm>
              <a:off x="0" y="0"/>
              <a:ext cx="2715683" cy="2715683"/>
              <a:chOff x="0" y="0"/>
              <a:chExt cx="812800" cy="812800"/>
            </a:xfrm>
          </p:grpSpPr>
          <p:sp>
            <p:nvSpPr>
              <p:cNvPr id="562" name="Google Shape;562;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4" name="Google Shape;564;p25"/>
            <p:cNvGrpSpPr/>
            <p:nvPr/>
          </p:nvGrpSpPr>
          <p:grpSpPr>
            <a:xfrm>
              <a:off x="150744" y="-157626"/>
              <a:ext cx="2603039" cy="2786065"/>
              <a:chOff x="0" y="-57150"/>
              <a:chExt cx="812800" cy="869950"/>
            </a:xfrm>
          </p:grpSpPr>
          <p:sp>
            <p:nvSpPr>
              <p:cNvPr id="565" name="Google Shape;565;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67" name="Google Shape;567;p2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568" name="Google Shape;568;p2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569" name="Google Shape;569;p2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570" name="Google Shape;570;p2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571" name="Google Shape;571;p2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572" name="Google Shape;572;p2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573" name="Google Shape;573;p25"/>
          <p:cNvSpPr txBox="1"/>
          <p:nvPr/>
        </p:nvSpPr>
        <p:spPr>
          <a:xfrm>
            <a:off x="3829792"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NORMAS Y ESTÁNDARES</a:t>
            </a:r>
            <a:endParaRPr b="0" i="0" sz="1400" u="none" cap="none" strike="noStrike">
              <a:solidFill>
                <a:srgbClr val="000000"/>
              </a:solidFill>
              <a:latin typeface="Arial"/>
              <a:ea typeface="Arial"/>
              <a:cs typeface="Arial"/>
              <a:sym typeface="Arial"/>
            </a:endParaRPr>
          </a:p>
        </p:txBody>
      </p:sp>
      <p:grpSp>
        <p:nvGrpSpPr>
          <p:cNvPr id="574" name="Google Shape;574;p25"/>
          <p:cNvGrpSpPr/>
          <p:nvPr/>
        </p:nvGrpSpPr>
        <p:grpSpPr>
          <a:xfrm>
            <a:off x="2011936" y="2961378"/>
            <a:ext cx="6724704" cy="5317250"/>
            <a:chOff x="0" y="-47625"/>
            <a:chExt cx="1771115" cy="1400428"/>
          </a:xfrm>
        </p:grpSpPr>
        <p:sp>
          <p:nvSpPr>
            <p:cNvPr id="575" name="Google Shape;575;p25"/>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6" name="Google Shape;576;p25"/>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p25"/>
          <p:cNvGrpSpPr/>
          <p:nvPr/>
        </p:nvGrpSpPr>
        <p:grpSpPr>
          <a:xfrm>
            <a:off x="9118972" y="2961378"/>
            <a:ext cx="6724704" cy="5317250"/>
            <a:chOff x="0" y="-47625"/>
            <a:chExt cx="1771115" cy="1400428"/>
          </a:xfrm>
        </p:grpSpPr>
        <p:sp>
          <p:nvSpPr>
            <p:cNvPr id="578" name="Google Shape;578;p25"/>
            <p:cNvSpPr/>
            <p:nvPr/>
          </p:nvSpPr>
          <p:spPr>
            <a:xfrm>
              <a:off x="0" y="0"/>
              <a:ext cx="1771115" cy="1352803"/>
            </a:xfrm>
            <a:custGeom>
              <a:rect b="b" l="l" r="r" t="t"/>
              <a:pathLst>
                <a:path extrusionOk="0" h="1352803" w="1771115">
                  <a:moveTo>
                    <a:pt x="0" y="0"/>
                  </a:moveTo>
                  <a:lnTo>
                    <a:pt x="1771115" y="0"/>
                  </a:lnTo>
                  <a:lnTo>
                    <a:pt x="1771115" y="1352803"/>
                  </a:lnTo>
                  <a:lnTo>
                    <a:pt x="0" y="1352803"/>
                  </a:lnTo>
                  <a:close/>
                </a:path>
              </a:pathLst>
            </a:custGeom>
            <a:solidFill>
              <a:srgbClr val="E9EAEB"/>
            </a:solidFill>
            <a:ln cap="sq" cmpd="sng" w="571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9" name="Google Shape;579;p25"/>
            <p:cNvSpPr txBox="1"/>
            <p:nvPr/>
          </p:nvSpPr>
          <p:spPr>
            <a:xfrm>
              <a:off x="0" y="-47625"/>
              <a:ext cx="1771115" cy="1400428"/>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0" name="Google Shape;580;p25"/>
          <p:cNvSpPr txBox="1"/>
          <p:nvPr/>
        </p:nvSpPr>
        <p:spPr>
          <a:xfrm>
            <a:off x="1611566" y="35642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b="1" i="0" lang="en-US" sz="4500" u="none" cap="none" strike="noStrike">
                <a:solidFill>
                  <a:srgbClr val="1F1674"/>
                </a:solidFill>
                <a:latin typeface="Bebas Neue"/>
                <a:ea typeface="Bebas Neue"/>
                <a:cs typeface="Bebas Neue"/>
                <a:sym typeface="Bebas Neue"/>
              </a:rPr>
              <a:t>NORMA</a:t>
            </a:r>
            <a:endParaRPr b="0" i="0" sz="1400" u="none" cap="none" strike="noStrike">
              <a:solidFill>
                <a:srgbClr val="000000"/>
              </a:solidFill>
              <a:latin typeface="Arial"/>
              <a:ea typeface="Arial"/>
              <a:cs typeface="Arial"/>
              <a:sym typeface="Arial"/>
            </a:endParaRPr>
          </a:p>
        </p:txBody>
      </p:sp>
      <p:sp>
        <p:nvSpPr>
          <p:cNvPr id="581" name="Google Shape;581;p25"/>
          <p:cNvSpPr txBox="1"/>
          <p:nvPr/>
        </p:nvSpPr>
        <p:spPr>
          <a:xfrm>
            <a:off x="2263679" y="4636846"/>
            <a:ext cx="6015029" cy="2585323"/>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Establecen un lenguaje común entre las empresas, administración pública , usuarios y consumidores.</a:t>
            </a:r>
            <a:endParaRPr b="0" i="0" sz="1400" u="none" cap="none" strike="noStrike">
              <a:solidFill>
                <a:srgbClr val="000000"/>
              </a:solidFill>
              <a:latin typeface="Arial"/>
              <a:ea typeface="Arial"/>
              <a:cs typeface="Arial"/>
              <a:sym typeface="Arial"/>
            </a:endParaRPr>
          </a:p>
        </p:txBody>
      </p:sp>
      <p:sp>
        <p:nvSpPr>
          <p:cNvPr id="582" name="Google Shape;582;p25"/>
          <p:cNvSpPr txBox="1"/>
          <p:nvPr/>
        </p:nvSpPr>
        <p:spPr>
          <a:xfrm>
            <a:off x="8959561" y="3564257"/>
            <a:ext cx="7244901" cy="7048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b="1" i="0" lang="en-US" sz="4500" u="none" cap="none" strike="noStrike">
                <a:solidFill>
                  <a:srgbClr val="1F1674"/>
                </a:solidFill>
                <a:latin typeface="Bebas Neue"/>
                <a:ea typeface="Bebas Neue"/>
                <a:cs typeface="Bebas Neue"/>
                <a:sym typeface="Bebas Neue"/>
              </a:rPr>
              <a:t>ESTANDAR</a:t>
            </a:r>
            <a:endParaRPr b="0" i="0" sz="1400" u="none" cap="none" strike="noStrike">
              <a:solidFill>
                <a:srgbClr val="000000"/>
              </a:solidFill>
              <a:latin typeface="Arial"/>
              <a:ea typeface="Arial"/>
              <a:cs typeface="Arial"/>
              <a:sym typeface="Arial"/>
            </a:endParaRPr>
          </a:p>
        </p:txBody>
      </p:sp>
      <p:sp>
        <p:nvSpPr>
          <p:cNvPr id="583" name="Google Shape;583;p25"/>
          <p:cNvSpPr txBox="1"/>
          <p:nvPr/>
        </p:nvSpPr>
        <p:spPr>
          <a:xfrm>
            <a:off x="9721496" y="4636846"/>
            <a:ext cx="5721032" cy="264795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Redacción y aprobación de normas para garantizar la calidad, funcionamiento para trabajar con una responsabilidad social</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587" name="Shape 587"/>
        <p:cNvGrpSpPr/>
        <p:nvPr/>
      </p:nvGrpSpPr>
      <p:grpSpPr>
        <a:xfrm>
          <a:off x="0" y="0"/>
          <a:ext cx="0" cy="0"/>
          <a:chOff x="0" y="0"/>
          <a:chExt cx="0" cy="0"/>
        </a:xfrm>
      </p:grpSpPr>
      <p:grpSp>
        <p:nvGrpSpPr>
          <p:cNvPr id="588" name="Google Shape;588;p26"/>
          <p:cNvGrpSpPr/>
          <p:nvPr/>
        </p:nvGrpSpPr>
        <p:grpSpPr>
          <a:xfrm>
            <a:off x="1894444" y="4954748"/>
            <a:ext cx="428625" cy="4114800"/>
            <a:chOff x="0" y="0"/>
            <a:chExt cx="571500" cy="5486400"/>
          </a:xfrm>
        </p:grpSpPr>
        <p:grpSp>
          <p:nvGrpSpPr>
            <p:cNvPr id="589" name="Google Shape;589;p26"/>
            <p:cNvGrpSpPr/>
            <p:nvPr/>
          </p:nvGrpSpPr>
          <p:grpSpPr>
            <a:xfrm rot="10800000">
              <a:off x="0" y="2355915"/>
              <a:ext cx="571500" cy="1143000"/>
              <a:chOff x="0" y="0"/>
              <a:chExt cx="406400" cy="812800"/>
            </a:xfrm>
          </p:grpSpPr>
          <p:sp>
            <p:nvSpPr>
              <p:cNvPr id="590" name="Google Shape;590;p26"/>
              <p:cNvSpPr/>
              <p:nvPr/>
            </p:nvSpPr>
            <p:spPr>
              <a:xfrm>
                <a:off x="0" y="0"/>
                <a:ext cx="406400" cy="812800"/>
              </a:xfrm>
              <a:custGeom>
                <a:rect b="b" l="l" r="r" t="t"/>
                <a:pathLst>
                  <a:path extrusionOk="0" h="812800" w="406400">
                    <a:moveTo>
                      <a:pt x="406400" y="406400"/>
                    </a:moveTo>
                    <a:lnTo>
                      <a:pt x="0" y="0"/>
                    </a:lnTo>
                    <a:lnTo>
                      <a:pt x="0" y="203200"/>
                    </a:lnTo>
                    <a:lnTo>
                      <a:pt x="0" y="203200"/>
                    </a:lnTo>
                    <a:lnTo>
                      <a:pt x="0" y="609600"/>
                    </a:lnTo>
                    <a:lnTo>
                      <a:pt x="0" y="609600"/>
                    </a:lnTo>
                    <a:lnTo>
                      <a:pt x="0" y="812800"/>
                    </a:lnTo>
                    <a:lnTo>
                      <a:pt x="406400" y="406400"/>
                    </a:lnTo>
                    <a:close/>
                  </a:path>
                </a:pathLst>
              </a:custGeom>
              <a:solidFill>
                <a:srgbClr val="61E1FF"/>
              </a:solidFill>
              <a:ln cap="sq" cmpd="sng" w="57150">
                <a:solidFill>
                  <a:srgbClr val="FFA85A"/>
                </a:solidFill>
                <a:prstDash val="dash"/>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1" name="Google Shape;591;p26"/>
              <p:cNvSpPr txBox="1"/>
              <p:nvPr/>
            </p:nvSpPr>
            <p:spPr>
              <a:xfrm>
                <a:off x="0" y="155575"/>
                <a:ext cx="30480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92" name="Google Shape;592;p26"/>
            <p:cNvCxnSpPr/>
            <p:nvPr/>
          </p:nvCxnSpPr>
          <p:spPr>
            <a:xfrm>
              <a:off x="539750" y="0"/>
              <a:ext cx="0" cy="5486400"/>
            </a:xfrm>
            <a:prstGeom prst="straightConnector1">
              <a:avLst/>
            </a:prstGeom>
            <a:noFill/>
            <a:ln cap="flat" cmpd="sng" w="88900">
              <a:solidFill>
                <a:srgbClr val="4E639E"/>
              </a:solidFill>
              <a:prstDash val="solid"/>
              <a:round/>
              <a:headEnd len="sm" w="sm" type="none"/>
              <a:tailEnd len="sm" w="sm" type="none"/>
            </a:ln>
          </p:spPr>
        </p:cxnSp>
      </p:grpSp>
      <p:grpSp>
        <p:nvGrpSpPr>
          <p:cNvPr id="593" name="Google Shape;593;p26"/>
          <p:cNvGrpSpPr/>
          <p:nvPr/>
        </p:nvGrpSpPr>
        <p:grpSpPr>
          <a:xfrm>
            <a:off x="1894444" y="494555"/>
            <a:ext cx="14499051" cy="2154982"/>
            <a:chOff x="0" y="-157626"/>
            <a:chExt cx="19332068" cy="2873309"/>
          </a:xfrm>
        </p:grpSpPr>
        <p:cxnSp>
          <p:nvCxnSpPr>
            <p:cNvPr id="594" name="Google Shape;594;p2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595" name="Google Shape;595;p26"/>
            <p:cNvGrpSpPr/>
            <p:nvPr/>
          </p:nvGrpSpPr>
          <p:grpSpPr>
            <a:xfrm>
              <a:off x="0" y="0"/>
              <a:ext cx="2715683" cy="2715683"/>
              <a:chOff x="0" y="0"/>
              <a:chExt cx="812800" cy="812800"/>
            </a:xfrm>
          </p:grpSpPr>
          <p:sp>
            <p:nvSpPr>
              <p:cNvPr id="596" name="Google Shape;596;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8" name="Google Shape;598;p26"/>
            <p:cNvGrpSpPr/>
            <p:nvPr/>
          </p:nvGrpSpPr>
          <p:grpSpPr>
            <a:xfrm>
              <a:off x="150744" y="-157626"/>
              <a:ext cx="2603039" cy="2786065"/>
              <a:chOff x="0" y="-57150"/>
              <a:chExt cx="812800" cy="869950"/>
            </a:xfrm>
          </p:grpSpPr>
          <p:sp>
            <p:nvSpPr>
              <p:cNvPr id="599" name="Google Shape;599;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2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01" name="Google Shape;601;p2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02" name="Google Shape;602;p2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03" name="Google Shape;603;p2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04" name="Google Shape;604;p2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05" name="Google Shape;605;p2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06" name="Google Shape;606;p2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607" name="Google Shape;607;p26"/>
          <p:cNvSpPr/>
          <p:nvPr/>
        </p:nvSpPr>
        <p:spPr>
          <a:xfrm>
            <a:off x="10127940" y="8287282"/>
            <a:ext cx="7924074" cy="1942036"/>
          </a:xfrm>
          <a:custGeom>
            <a:rect b="b" l="l" r="r" t="t"/>
            <a:pathLst>
              <a:path extrusionOk="0" h="1942036" w="7924074">
                <a:moveTo>
                  <a:pt x="0" y="0"/>
                </a:moveTo>
                <a:lnTo>
                  <a:pt x="7924074" y="0"/>
                </a:lnTo>
                <a:lnTo>
                  <a:pt x="7924074" y="1942036"/>
                </a:lnTo>
                <a:lnTo>
                  <a:pt x="0" y="194203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8" name="Google Shape;608;p26"/>
          <p:cNvSpPr txBox="1"/>
          <p:nvPr/>
        </p:nvSpPr>
        <p:spPr>
          <a:xfrm>
            <a:off x="1489983" y="3324225"/>
            <a:ext cx="15630658"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Son diferentes organizaciones las que regulan las normas y estándares,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entre ellas están:</a:t>
            </a:r>
            <a:endParaRPr b="0" i="0" sz="1400" u="none" cap="none" strike="noStrike">
              <a:solidFill>
                <a:srgbClr val="000000"/>
              </a:solidFill>
              <a:latin typeface="Arial"/>
              <a:ea typeface="Arial"/>
              <a:cs typeface="Arial"/>
              <a:sym typeface="Arial"/>
            </a:endParaRPr>
          </a:p>
        </p:txBody>
      </p:sp>
      <p:sp>
        <p:nvSpPr>
          <p:cNvPr id="609" name="Google Shape;609;p26"/>
          <p:cNvSpPr txBox="1"/>
          <p:nvPr/>
        </p:nvSpPr>
        <p:spPr>
          <a:xfrm>
            <a:off x="2620726" y="4954748"/>
            <a:ext cx="13695136" cy="26717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TIA (Telecommunications Industry Association)</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ANSI (American National Standards Institute)</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EIA (Electronics Industries Alliance)</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ISO (International Stardards Organization)</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IEEE (Institute of Electronic and Electric Enginners)</a:t>
            </a:r>
            <a:endParaRPr b="0" i="0" sz="1400" u="none" cap="none" strike="noStrike">
              <a:solidFill>
                <a:srgbClr val="000000"/>
              </a:solidFill>
              <a:latin typeface="Arial"/>
              <a:ea typeface="Arial"/>
              <a:cs typeface="Arial"/>
              <a:sym typeface="Arial"/>
            </a:endParaRPr>
          </a:p>
        </p:txBody>
      </p:sp>
      <p:sp>
        <p:nvSpPr>
          <p:cNvPr id="610" name="Google Shape;610;p26"/>
          <p:cNvSpPr txBox="1"/>
          <p:nvPr/>
        </p:nvSpPr>
        <p:spPr>
          <a:xfrm>
            <a:off x="3829539" y="1281015"/>
            <a:ext cx="1178340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NORMAS Y ESTÁNDARES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14" name="Shape 614"/>
        <p:cNvGrpSpPr/>
        <p:nvPr/>
      </p:nvGrpSpPr>
      <p:grpSpPr>
        <a:xfrm>
          <a:off x="0" y="0"/>
          <a:ext cx="0" cy="0"/>
          <a:chOff x="0" y="0"/>
          <a:chExt cx="0" cy="0"/>
        </a:xfrm>
      </p:grpSpPr>
      <p:grpSp>
        <p:nvGrpSpPr>
          <p:cNvPr id="615" name="Google Shape;615;p27"/>
          <p:cNvGrpSpPr/>
          <p:nvPr/>
        </p:nvGrpSpPr>
        <p:grpSpPr>
          <a:xfrm>
            <a:off x="1894444" y="494555"/>
            <a:ext cx="14499051" cy="2154982"/>
            <a:chOff x="0" y="-157626"/>
            <a:chExt cx="19332068" cy="2873309"/>
          </a:xfrm>
        </p:grpSpPr>
        <p:cxnSp>
          <p:nvCxnSpPr>
            <p:cNvPr id="616" name="Google Shape;616;p2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17" name="Google Shape;617;p27"/>
            <p:cNvGrpSpPr/>
            <p:nvPr/>
          </p:nvGrpSpPr>
          <p:grpSpPr>
            <a:xfrm>
              <a:off x="0" y="0"/>
              <a:ext cx="2715683" cy="2715683"/>
              <a:chOff x="0" y="0"/>
              <a:chExt cx="812800" cy="812800"/>
            </a:xfrm>
          </p:grpSpPr>
          <p:sp>
            <p:nvSpPr>
              <p:cNvPr id="618" name="Google Shape;618;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0" name="Google Shape;620;p27"/>
            <p:cNvGrpSpPr/>
            <p:nvPr/>
          </p:nvGrpSpPr>
          <p:grpSpPr>
            <a:xfrm>
              <a:off x="150744" y="-157626"/>
              <a:ext cx="2603039" cy="2786065"/>
              <a:chOff x="0" y="-57150"/>
              <a:chExt cx="812800" cy="869950"/>
            </a:xfrm>
          </p:grpSpPr>
          <p:sp>
            <p:nvSpPr>
              <p:cNvPr id="621" name="Google Shape;621;p2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2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23" name="Google Shape;623;p2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24" name="Google Shape;624;p2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25" name="Google Shape;625;p2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26" name="Google Shape;626;p2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27" name="Google Shape;627;p2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28" name="Google Shape;628;p2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629" name="Google Shape;629;p27"/>
          <p:cNvSpPr txBox="1"/>
          <p:nvPr/>
        </p:nvSpPr>
        <p:spPr>
          <a:xfrm>
            <a:off x="1489983" y="3324225"/>
            <a:ext cx="15630658" cy="42481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La Asociación de la Industria de las Telecomunicaciones ( TIA ) está acreditada por el Instituto Nacional Estadounidense de Estándares ( ANSI ) para desarrollar estándares industriales voluntarios y basados en el consenso para una amplia variedad de productos de tecnologías de la información y la comunicación ( TIC ), y actualmente representa a casi 400 empresas.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El Departamento de Tecnología y Estándares de TIA opera doce comités de ingeniería, que desarrollan pautas para equipos.</a:t>
            </a:r>
            <a:endParaRPr b="0" i="0" sz="1400" u="none" cap="none" strike="noStrike">
              <a:solidFill>
                <a:srgbClr val="000000"/>
              </a:solidFill>
              <a:latin typeface="Arial"/>
              <a:ea typeface="Arial"/>
              <a:cs typeface="Arial"/>
              <a:sym typeface="Arial"/>
            </a:endParaRPr>
          </a:p>
        </p:txBody>
      </p:sp>
      <p:sp>
        <p:nvSpPr>
          <p:cNvPr id="630" name="Google Shape;630;p27"/>
          <p:cNvSpPr/>
          <p:nvPr/>
        </p:nvSpPr>
        <p:spPr>
          <a:xfrm>
            <a:off x="14456226" y="8176613"/>
            <a:ext cx="2803074" cy="1537170"/>
          </a:xfrm>
          <a:custGeom>
            <a:rect b="b" l="l" r="r" t="t"/>
            <a:pathLst>
              <a:path extrusionOk="0" h="1537170" w="2803074">
                <a:moveTo>
                  <a:pt x="0" y="0"/>
                </a:moveTo>
                <a:lnTo>
                  <a:pt x="2803074" y="0"/>
                </a:lnTo>
                <a:lnTo>
                  <a:pt x="2803074" y="1537170"/>
                </a:lnTo>
                <a:lnTo>
                  <a:pt x="0" y="15371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1" name="Google Shape;631;p27"/>
          <p:cNvSpPr txBox="1"/>
          <p:nvPr/>
        </p:nvSpPr>
        <p:spPr>
          <a:xfrm>
            <a:off x="3908084" y="285637"/>
            <a:ext cx="13544602" cy="211134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800"/>
              <a:buFont typeface="Arial"/>
              <a:buNone/>
            </a:pPr>
            <a:r>
              <a:rPr b="0" i="0" lang="en-US" sz="4800" u="none" cap="none" strike="noStrike">
                <a:solidFill>
                  <a:srgbClr val="145C8C"/>
                </a:solidFill>
                <a:latin typeface="Arial"/>
                <a:ea typeface="Arial"/>
                <a:cs typeface="Arial"/>
                <a:sym typeface="Arial"/>
              </a:rPr>
              <a:t>TIA (TELECOMMUNICATIONS INDUSTRY</a:t>
            </a:r>
            <a:endParaRPr b="0" i="0" sz="12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4800"/>
              <a:buFont typeface="Arial"/>
              <a:buNone/>
            </a:pPr>
            <a:r>
              <a:rPr b="0" i="0" lang="en-US" sz="4800" u="none" cap="none" strike="noStrike">
                <a:solidFill>
                  <a:srgbClr val="145C8C"/>
                </a:solidFill>
                <a:latin typeface="Arial"/>
                <a:ea typeface="Arial"/>
                <a:cs typeface="Arial"/>
                <a:sym typeface="Arial"/>
              </a:rPr>
              <a:t>Association)</a:t>
            </a:r>
            <a:endParaRPr b="0" i="0" sz="12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35" name="Shape 635"/>
        <p:cNvGrpSpPr/>
        <p:nvPr/>
      </p:nvGrpSpPr>
      <p:grpSpPr>
        <a:xfrm>
          <a:off x="0" y="0"/>
          <a:ext cx="0" cy="0"/>
          <a:chOff x="0" y="0"/>
          <a:chExt cx="0" cy="0"/>
        </a:xfrm>
      </p:grpSpPr>
      <p:grpSp>
        <p:nvGrpSpPr>
          <p:cNvPr id="636" name="Google Shape;636;p28"/>
          <p:cNvGrpSpPr/>
          <p:nvPr/>
        </p:nvGrpSpPr>
        <p:grpSpPr>
          <a:xfrm>
            <a:off x="1894444" y="494555"/>
            <a:ext cx="14499051" cy="2154982"/>
            <a:chOff x="0" y="-157626"/>
            <a:chExt cx="19332068" cy="2873309"/>
          </a:xfrm>
        </p:grpSpPr>
        <p:cxnSp>
          <p:nvCxnSpPr>
            <p:cNvPr id="637" name="Google Shape;637;p28"/>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38" name="Google Shape;638;p28"/>
            <p:cNvGrpSpPr/>
            <p:nvPr/>
          </p:nvGrpSpPr>
          <p:grpSpPr>
            <a:xfrm>
              <a:off x="0" y="0"/>
              <a:ext cx="2715683" cy="2715683"/>
              <a:chOff x="0" y="0"/>
              <a:chExt cx="812800" cy="812800"/>
            </a:xfrm>
          </p:grpSpPr>
          <p:sp>
            <p:nvSpPr>
              <p:cNvPr id="639" name="Google Shape;639;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41" name="Google Shape;641;p28"/>
            <p:cNvGrpSpPr/>
            <p:nvPr/>
          </p:nvGrpSpPr>
          <p:grpSpPr>
            <a:xfrm>
              <a:off x="150744" y="-157626"/>
              <a:ext cx="2603039" cy="2786065"/>
              <a:chOff x="0" y="-57150"/>
              <a:chExt cx="812800" cy="869950"/>
            </a:xfrm>
          </p:grpSpPr>
          <p:sp>
            <p:nvSpPr>
              <p:cNvPr id="642" name="Google Shape;642;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28"/>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44" name="Google Shape;644;p28"/>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45" name="Google Shape;645;p28"/>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46" name="Google Shape;646;p28"/>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47" name="Google Shape;647;p28"/>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48" name="Google Shape;648;p28"/>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49" name="Google Shape;649;p28"/>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650" name="Google Shape;650;p28"/>
          <p:cNvSpPr txBox="1"/>
          <p:nvPr/>
        </p:nvSpPr>
        <p:spPr>
          <a:xfrm>
            <a:off x="1489983" y="3324225"/>
            <a:ext cx="6775029" cy="48244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Radio privados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Torres celulares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Terminales de datos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Satélites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Equipos terminales telefónicos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Accesibilidad</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Dispositivos VoIP</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Cableado estructurado</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Centros de datos</a:t>
            </a:r>
            <a:endParaRPr b="0" i="0" sz="1400" u="none" cap="none" strike="noStrike">
              <a:solidFill>
                <a:srgbClr val="000000"/>
              </a:solidFill>
              <a:latin typeface="Arial"/>
              <a:ea typeface="Arial"/>
              <a:cs typeface="Arial"/>
              <a:sym typeface="Arial"/>
            </a:endParaRPr>
          </a:p>
        </p:txBody>
      </p:sp>
      <p:sp>
        <p:nvSpPr>
          <p:cNvPr id="651" name="Google Shape;651;p28"/>
          <p:cNvSpPr/>
          <p:nvPr/>
        </p:nvSpPr>
        <p:spPr>
          <a:xfrm>
            <a:off x="14456226" y="8176613"/>
            <a:ext cx="2803074" cy="1537170"/>
          </a:xfrm>
          <a:custGeom>
            <a:rect b="b" l="l" r="r" t="t"/>
            <a:pathLst>
              <a:path extrusionOk="0" h="1537170" w="2803074">
                <a:moveTo>
                  <a:pt x="0" y="0"/>
                </a:moveTo>
                <a:lnTo>
                  <a:pt x="2803074" y="0"/>
                </a:lnTo>
                <a:lnTo>
                  <a:pt x="2803074" y="1537170"/>
                </a:lnTo>
                <a:lnTo>
                  <a:pt x="0" y="15371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28"/>
          <p:cNvSpPr txBox="1"/>
          <p:nvPr/>
        </p:nvSpPr>
        <p:spPr>
          <a:xfrm>
            <a:off x="3881893" y="199136"/>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TIA (TELECOMMUNICATIONS INDUSTRY</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Association)</a:t>
            </a:r>
            <a:endParaRPr b="0" i="0" sz="1400" u="none" cap="none" strike="noStrike">
              <a:solidFill>
                <a:srgbClr val="000000"/>
              </a:solidFill>
              <a:latin typeface="Arial"/>
              <a:ea typeface="Arial"/>
              <a:cs typeface="Arial"/>
              <a:sym typeface="Arial"/>
            </a:endParaRPr>
          </a:p>
        </p:txBody>
      </p:sp>
      <p:sp>
        <p:nvSpPr>
          <p:cNvPr id="653" name="Google Shape;653;p28"/>
          <p:cNvSpPr txBox="1"/>
          <p:nvPr/>
        </p:nvSpPr>
        <p:spPr>
          <a:xfrm>
            <a:off x="9144000" y="3324225"/>
            <a:ext cx="8489529" cy="3209925"/>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Comunicaciones de dispositivos móviles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Multidifusión multimedia</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Telemática vehicular</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TIC sanitarias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Comunicaciones de máquina a máquina</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Redes de servicios inteligentes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57" name="Shape 657"/>
        <p:cNvGrpSpPr/>
        <p:nvPr/>
      </p:nvGrpSpPr>
      <p:grpSpPr>
        <a:xfrm>
          <a:off x="0" y="0"/>
          <a:ext cx="0" cy="0"/>
          <a:chOff x="0" y="0"/>
          <a:chExt cx="0" cy="0"/>
        </a:xfrm>
      </p:grpSpPr>
      <p:grpSp>
        <p:nvGrpSpPr>
          <p:cNvPr id="658" name="Google Shape;658;p29"/>
          <p:cNvGrpSpPr/>
          <p:nvPr/>
        </p:nvGrpSpPr>
        <p:grpSpPr>
          <a:xfrm>
            <a:off x="1894444" y="494555"/>
            <a:ext cx="14499051" cy="2154982"/>
            <a:chOff x="0" y="-157626"/>
            <a:chExt cx="19332068" cy="2873309"/>
          </a:xfrm>
        </p:grpSpPr>
        <p:cxnSp>
          <p:nvCxnSpPr>
            <p:cNvPr id="659" name="Google Shape;659;p29"/>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60" name="Google Shape;660;p29"/>
            <p:cNvGrpSpPr/>
            <p:nvPr/>
          </p:nvGrpSpPr>
          <p:grpSpPr>
            <a:xfrm>
              <a:off x="0" y="0"/>
              <a:ext cx="2715683" cy="2715683"/>
              <a:chOff x="0" y="0"/>
              <a:chExt cx="812800" cy="812800"/>
            </a:xfrm>
          </p:grpSpPr>
          <p:sp>
            <p:nvSpPr>
              <p:cNvPr id="661" name="Google Shape;661;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3" name="Google Shape;663;p29"/>
            <p:cNvGrpSpPr/>
            <p:nvPr/>
          </p:nvGrpSpPr>
          <p:grpSpPr>
            <a:xfrm>
              <a:off x="150744" y="-157626"/>
              <a:ext cx="2603039" cy="2786065"/>
              <a:chOff x="0" y="-57150"/>
              <a:chExt cx="812800" cy="869950"/>
            </a:xfrm>
          </p:grpSpPr>
          <p:sp>
            <p:nvSpPr>
              <p:cNvPr id="664" name="Google Shape;664;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29"/>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66" name="Google Shape;666;p29"/>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67" name="Google Shape;667;p29"/>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68" name="Google Shape;668;p29"/>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69" name="Google Shape;669;p29"/>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70" name="Google Shape;670;p29"/>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71" name="Google Shape;671;p29"/>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672" name="Google Shape;672;p29"/>
          <p:cNvSpPr txBox="1"/>
          <p:nvPr/>
        </p:nvSpPr>
        <p:spPr>
          <a:xfrm>
            <a:off x="920821" y="2601913"/>
            <a:ext cx="16338479" cy="7281993"/>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800"/>
              <a:buFont typeface="Arial"/>
              <a:buNone/>
            </a:pPr>
            <a:r>
              <a:rPr b="0" i="0" lang="en-US" sz="2800" u="none" cap="none" strike="noStrike">
                <a:solidFill>
                  <a:srgbClr val="1F1674"/>
                </a:solidFill>
                <a:latin typeface="Montserrat"/>
                <a:ea typeface="Montserrat"/>
                <a:cs typeface="Montserrat"/>
                <a:sym typeface="Montserrat"/>
              </a:rPr>
              <a:t>El Instituto Nacional Estadounidense de Estándares (ANSI) es una organización privada sin fines de lucro que administra y coordina el sistema de evaluación de la conformidad y estándares voluntarios de los Estados Unidos. Fundado en 1918 , el Instituto trabaja en estrecha colaboración con partes interesadas de la industria y el gobierno para identificar y desarrollar soluciones basadas en estándares y conformidad para prioridades nacionales y globales.</a:t>
            </a:r>
            <a:endParaRPr b="0" i="0" sz="12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800"/>
              <a:buFont typeface="Arial"/>
              <a:buNone/>
            </a:pPr>
            <a:r>
              <a:rPr b="0" i="0" lang="en-US" sz="2800" u="none" cap="none" strike="noStrike">
                <a:solidFill>
                  <a:srgbClr val="1F1674"/>
                </a:solidFill>
                <a:latin typeface="Montserrat"/>
                <a:ea typeface="Montserrat"/>
                <a:cs typeface="Montserrat"/>
                <a:sym typeface="Montserrat"/>
              </a:rPr>
              <a:t>ANSI no es en sí misma una organización que desarrolla estándares. Más bien, el Instituto proporciona un marco para el desarrollo de normas justas y sistemas de evaluación de la conformidad de la calidad y trabaja continuamente para salvaguardar su integridad. Y como lugar neutral para la coordinación de soluciones basadas en estándares, el Instituto reúne a expertos y partes interesadas de los sectores público y privado para iniciar actividades colaborativas de estandarización que respondan a las prioridades nacionales</a:t>
            </a:r>
            <a:r>
              <a:rPr b="0" i="0" lang="en-US" sz="3000" u="none" cap="none" strike="noStrike">
                <a:solidFill>
                  <a:srgbClr val="1F1674"/>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sp>
        <p:nvSpPr>
          <p:cNvPr id="673" name="Google Shape;673;p29"/>
          <p:cNvSpPr txBox="1"/>
          <p:nvPr/>
        </p:nvSpPr>
        <p:spPr>
          <a:xfrm>
            <a:off x="3908084" y="16174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ANSI (AMERICAN NATIONAL STANDARDS Institute)</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77" name="Shape 677"/>
        <p:cNvGrpSpPr/>
        <p:nvPr/>
      </p:nvGrpSpPr>
      <p:grpSpPr>
        <a:xfrm>
          <a:off x="0" y="0"/>
          <a:ext cx="0" cy="0"/>
          <a:chOff x="0" y="0"/>
          <a:chExt cx="0" cy="0"/>
        </a:xfrm>
      </p:grpSpPr>
      <p:grpSp>
        <p:nvGrpSpPr>
          <p:cNvPr id="678" name="Google Shape;678;p30"/>
          <p:cNvGrpSpPr/>
          <p:nvPr/>
        </p:nvGrpSpPr>
        <p:grpSpPr>
          <a:xfrm>
            <a:off x="1894444" y="494555"/>
            <a:ext cx="14499051" cy="2154982"/>
            <a:chOff x="0" y="-157626"/>
            <a:chExt cx="19332068" cy="2873309"/>
          </a:xfrm>
        </p:grpSpPr>
        <p:cxnSp>
          <p:nvCxnSpPr>
            <p:cNvPr id="679" name="Google Shape;679;p30"/>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680" name="Google Shape;680;p30"/>
            <p:cNvGrpSpPr/>
            <p:nvPr/>
          </p:nvGrpSpPr>
          <p:grpSpPr>
            <a:xfrm>
              <a:off x="0" y="0"/>
              <a:ext cx="2715683" cy="2715683"/>
              <a:chOff x="0" y="0"/>
              <a:chExt cx="812800" cy="812800"/>
            </a:xfrm>
          </p:grpSpPr>
          <p:sp>
            <p:nvSpPr>
              <p:cNvPr id="681" name="Google Shape;681;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3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3" name="Google Shape;683;p30"/>
            <p:cNvGrpSpPr/>
            <p:nvPr/>
          </p:nvGrpSpPr>
          <p:grpSpPr>
            <a:xfrm>
              <a:off x="150744" y="-157626"/>
              <a:ext cx="2603039" cy="2786065"/>
              <a:chOff x="0" y="-57150"/>
              <a:chExt cx="812800" cy="869950"/>
            </a:xfrm>
          </p:grpSpPr>
          <p:sp>
            <p:nvSpPr>
              <p:cNvPr id="684" name="Google Shape;684;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30"/>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86" name="Google Shape;686;p30"/>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687" name="Google Shape;687;p30"/>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688" name="Google Shape;688;p30"/>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689" name="Google Shape;689;p30"/>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690" name="Google Shape;690;p30"/>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691" name="Google Shape;691;p30"/>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692" name="Google Shape;692;p30"/>
          <p:cNvSpPr/>
          <p:nvPr/>
        </p:nvSpPr>
        <p:spPr>
          <a:xfrm>
            <a:off x="13104267" y="7831551"/>
            <a:ext cx="4551849" cy="2236458"/>
          </a:xfrm>
          <a:custGeom>
            <a:rect b="b" l="l" r="r" t="t"/>
            <a:pathLst>
              <a:path extrusionOk="0" h="2236458" w="4551849">
                <a:moveTo>
                  <a:pt x="0" y="0"/>
                </a:moveTo>
                <a:lnTo>
                  <a:pt x="4551849" y="0"/>
                </a:lnTo>
                <a:lnTo>
                  <a:pt x="4551849" y="2236458"/>
                </a:lnTo>
                <a:lnTo>
                  <a:pt x="0" y="22364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3" name="Google Shape;693;p30"/>
          <p:cNvSpPr txBox="1"/>
          <p:nvPr/>
        </p:nvSpPr>
        <p:spPr>
          <a:xfrm>
            <a:off x="954272" y="4021146"/>
            <a:ext cx="7555548" cy="4136517"/>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ESTÁNDARES NACIONALES AMERICANOS</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NORMALIZACIÓN INTERNACIONAL</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COMERCIO INTERNACIONAL Y DESARROLLO</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COORDINACIÓN DE NORMAS</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AFILIACIÓN</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EDUCACIÓN Y FORMACIÓN</a:t>
            </a:r>
            <a:endParaRPr b="0" i="0" sz="1100" u="none" cap="none" strike="noStrike">
              <a:solidFill>
                <a:srgbClr val="000000"/>
              </a:solidFill>
              <a:latin typeface="Arial"/>
              <a:ea typeface="Arial"/>
              <a:cs typeface="Arial"/>
              <a:sym typeface="Arial"/>
            </a:endParaRPr>
          </a:p>
          <a:p>
            <a:pPr indent="-323850" lvl="1" marL="647700" marR="0" rtl="0" algn="l">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ASUNTOS GUBERNAMENTALES</a:t>
            </a:r>
            <a:endParaRPr b="0" i="0" sz="1100" u="none" cap="none" strike="noStrike">
              <a:solidFill>
                <a:srgbClr val="000000"/>
              </a:solidFill>
              <a:latin typeface="Arial"/>
              <a:ea typeface="Arial"/>
              <a:cs typeface="Arial"/>
              <a:sym typeface="Arial"/>
            </a:endParaRPr>
          </a:p>
        </p:txBody>
      </p:sp>
      <p:sp>
        <p:nvSpPr>
          <p:cNvPr id="694" name="Google Shape;694;p30"/>
          <p:cNvSpPr txBox="1"/>
          <p:nvPr/>
        </p:nvSpPr>
        <p:spPr>
          <a:xfrm>
            <a:off x="3923285" y="161740"/>
            <a:ext cx="13544602"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ANSI (AMERICAN NATIONAL STANDARDS Institute)</a:t>
            </a:r>
            <a:endParaRPr b="0" i="0" sz="1400" u="none" cap="none" strike="noStrike">
              <a:solidFill>
                <a:srgbClr val="000000"/>
              </a:solidFill>
              <a:latin typeface="Arial"/>
              <a:ea typeface="Arial"/>
              <a:cs typeface="Arial"/>
              <a:sym typeface="Arial"/>
            </a:endParaRPr>
          </a:p>
        </p:txBody>
      </p:sp>
      <p:sp>
        <p:nvSpPr>
          <p:cNvPr id="695" name="Google Shape;695;p30"/>
          <p:cNvSpPr txBox="1"/>
          <p:nvPr/>
        </p:nvSpPr>
        <p:spPr>
          <a:xfrm>
            <a:off x="9256537" y="4445734"/>
            <a:ext cx="8842030" cy="301621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ALCANCE DEL CONSUMIDOR</a:t>
            </a:r>
            <a:endParaRPr b="0" i="0" sz="20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RECONOCIMIENTO DE LOGROS DE NORMALIZACIÓN</a:t>
            </a:r>
            <a:endParaRPr b="0" i="0" sz="20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PROGRAMAS DE REGISTRO DE IDENTIFICADORES BASADOS EN ESTÁNDARES</a:t>
            </a:r>
            <a:endParaRPr b="0" i="0" sz="20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ACCESO A ESTÁNDARES</a:t>
            </a:r>
            <a:endParaRPr b="0" i="0" sz="20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EVALUACIÓN DE LA CONFORMIDAD</a:t>
            </a:r>
            <a:endParaRPr b="0" i="0" sz="20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000" u="none" cap="none" strike="noStrike">
                <a:solidFill>
                  <a:srgbClr val="1F1674"/>
                </a:solidFill>
                <a:latin typeface="Montserrat"/>
                <a:ea typeface="Montserrat"/>
                <a:cs typeface="Montserrat"/>
                <a:sym typeface="Montserrat"/>
              </a:rPr>
              <a:t>CREDENCIALIZACIÓN DE LA FUERZA LABORAL</a:t>
            </a:r>
            <a:endParaRPr b="0" i="0" sz="20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699" name="Shape 699"/>
        <p:cNvGrpSpPr/>
        <p:nvPr/>
      </p:nvGrpSpPr>
      <p:grpSpPr>
        <a:xfrm>
          <a:off x="0" y="0"/>
          <a:ext cx="0" cy="0"/>
          <a:chOff x="0" y="0"/>
          <a:chExt cx="0" cy="0"/>
        </a:xfrm>
      </p:grpSpPr>
      <p:grpSp>
        <p:nvGrpSpPr>
          <p:cNvPr id="700" name="Google Shape;700;p31"/>
          <p:cNvGrpSpPr/>
          <p:nvPr/>
        </p:nvGrpSpPr>
        <p:grpSpPr>
          <a:xfrm>
            <a:off x="1894444" y="494555"/>
            <a:ext cx="14499051" cy="2154982"/>
            <a:chOff x="0" y="-157626"/>
            <a:chExt cx="19332068" cy="2873309"/>
          </a:xfrm>
        </p:grpSpPr>
        <p:cxnSp>
          <p:nvCxnSpPr>
            <p:cNvPr id="701" name="Google Shape;701;p31"/>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02" name="Google Shape;702;p31"/>
            <p:cNvGrpSpPr/>
            <p:nvPr/>
          </p:nvGrpSpPr>
          <p:grpSpPr>
            <a:xfrm>
              <a:off x="0" y="0"/>
              <a:ext cx="2715683" cy="2715683"/>
              <a:chOff x="0" y="0"/>
              <a:chExt cx="812800" cy="812800"/>
            </a:xfrm>
          </p:grpSpPr>
          <p:sp>
            <p:nvSpPr>
              <p:cNvPr id="703" name="Google Shape;703;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3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05" name="Google Shape;705;p31"/>
            <p:cNvGrpSpPr/>
            <p:nvPr/>
          </p:nvGrpSpPr>
          <p:grpSpPr>
            <a:xfrm>
              <a:off x="150744" y="-157626"/>
              <a:ext cx="2603039" cy="2786065"/>
              <a:chOff x="0" y="-57150"/>
              <a:chExt cx="812800" cy="869950"/>
            </a:xfrm>
          </p:grpSpPr>
          <p:sp>
            <p:nvSpPr>
              <p:cNvPr id="706" name="Google Shape;706;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31"/>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08" name="Google Shape;708;p31"/>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09" name="Google Shape;709;p31"/>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10" name="Google Shape;710;p31"/>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11" name="Google Shape;711;p31"/>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12" name="Google Shape;712;p31"/>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13" name="Google Shape;713;p31"/>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714" name="Google Shape;714;p31"/>
          <p:cNvSpPr txBox="1"/>
          <p:nvPr/>
        </p:nvSpPr>
        <p:spPr>
          <a:xfrm>
            <a:off x="920821" y="3315016"/>
            <a:ext cx="16338479" cy="465358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rgbClr val="1F1674"/>
                </a:solidFill>
                <a:latin typeface="Montserrat"/>
                <a:ea typeface="Montserrat"/>
                <a:cs typeface="Montserrat"/>
                <a:sym typeface="Montserrat"/>
              </a:rPr>
              <a:t>Era una organización comercial y de estándares estadounidense compuesta como una alianza de asociaciones comerciales de fabricantes de productos electrónicos en los Estados Unidos.</a:t>
            </a:r>
            <a:endParaRPr b="0" i="0" sz="11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400"/>
              <a:buFont typeface="Arial"/>
              <a:buNone/>
            </a:pPr>
            <a:r>
              <a:t/>
            </a:r>
            <a:endParaRPr b="0" i="0" sz="24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rgbClr val="1F1674"/>
                </a:solidFill>
                <a:latin typeface="Montserrat"/>
                <a:ea typeface="Montserrat"/>
                <a:cs typeface="Montserrat"/>
                <a:sym typeface="Montserrat"/>
              </a:rPr>
              <a:t>Con el cambio de nombre de la EIA, también se adaptó la convención de nomenclatura de las normas. Por ejemplo, un estándar que define la comunicación</a:t>
            </a:r>
            <a:endParaRPr b="0" i="0" sz="11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rgbClr val="1F1674"/>
                </a:solidFill>
                <a:latin typeface="Montserrat"/>
                <a:ea typeface="Montserrat"/>
                <a:cs typeface="Montserrat"/>
                <a:sym typeface="Montserrat"/>
              </a:rPr>
              <a:t>en serie entre computadoras y módems se redactó originalmente como estándar recomendado , de ahí el nombre " RS " RS-232 . Posteriormente pasó a manos de la EIA como EIA-232 . Posteriormente este estándar fue gestionado por la TIA y se cambió el nombre al actual TIA-232 . Debido a que la EIA fue acreditada por ANSI para ayudar a desarrollar estándares en sus áreas.</a:t>
            </a:r>
            <a:endParaRPr b="0" i="0" sz="1100" u="none" cap="none" strike="noStrike">
              <a:solidFill>
                <a:srgbClr val="000000"/>
              </a:solidFill>
              <a:latin typeface="Arial"/>
              <a:ea typeface="Arial"/>
              <a:cs typeface="Arial"/>
              <a:sym typeface="Arial"/>
            </a:endParaRPr>
          </a:p>
        </p:txBody>
      </p:sp>
      <p:sp>
        <p:nvSpPr>
          <p:cNvPr id="715" name="Google Shape;715;p31"/>
          <p:cNvSpPr/>
          <p:nvPr/>
        </p:nvSpPr>
        <p:spPr>
          <a:xfrm>
            <a:off x="14335717" y="8586089"/>
            <a:ext cx="2923583" cy="1344422"/>
          </a:xfrm>
          <a:custGeom>
            <a:rect b="b" l="l" r="r" t="t"/>
            <a:pathLst>
              <a:path extrusionOk="0" h="1344422" w="2923583">
                <a:moveTo>
                  <a:pt x="0" y="0"/>
                </a:moveTo>
                <a:lnTo>
                  <a:pt x="2923583" y="0"/>
                </a:lnTo>
                <a:lnTo>
                  <a:pt x="2923583" y="1344422"/>
                </a:lnTo>
                <a:lnTo>
                  <a:pt x="0" y="134442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6" name="Google Shape;716;p31"/>
          <p:cNvSpPr txBox="1"/>
          <p:nvPr/>
        </p:nvSpPr>
        <p:spPr>
          <a:xfrm>
            <a:off x="3873868" y="1146969"/>
            <a:ext cx="1411085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EIA (ELECTRONICS INDUSTRIES ALLIANCE)</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20" name="Shape 720"/>
        <p:cNvGrpSpPr/>
        <p:nvPr/>
      </p:nvGrpSpPr>
      <p:grpSpPr>
        <a:xfrm>
          <a:off x="0" y="0"/>
          <a:ext cx="0" cy="0"/>
          <a:chOff x="0" y="0"/>
          <a:chExt cx="0" cy="0"/>
        </a:xfrm>
      </p:grpSpPr>
      <p:grpSp>
        <p:nvGrpSpPr>
          <p:cNvPr id="721" name="Google Shape;721;p32"/>
          <p:cNvGrpSpPr/>
          <p:nvPr/>
        </p:nvGrpSpPr>
        <p:grpSpPr>
          <a:xfrm>
            <a:off x="1894444" y="494555"/>
            <a:ext cx="14499051" cy="2154982"/>
            <a:chOff x="0" y="-157626"/>
            <a:chExt cx="19332068" cy="2873309"/>
          </a:xfrm>
        </p:grpSpPr>
        <p:cxnSp>
          <p:nvCxnSpPr>
            <p:cNvPr id="722" name="Google Shape;722;p32"/>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23" name="Google Shape;723;p32"/>
            <p:cNvGrpSpPr/>
            <p:nvPr/>
          </p:nvGrpSpPr>
          <p:grpSpPr>
            <a:xfrm>
              <a:off x="0" y="0"/>
              <a:ext cx="2715683" cy="2715683"/>
              <a:chOff x="0" y="0"/>
              <a:chExt cx="812800" cy="812800"/>
            </a:xfrm>
          </p:grpSpPr>
          <p:sp>
            <p:nvSpPr>
              <p:cNvPr id="724" name="Google Shape;724;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3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26" name="Google Shape;726;p32"/>
            <p:cNvGrpSpPr/>
            <p:nvPr/>
          </p:nvGrpSpPr>
          <p:grpSpPr>
            <a:xfrm>
              <a:off x="150744" y="-157626"/>
              <a:ext cx="2603039" cy="2786065"/>
              <a:chOff x="0" y="-57150"/>
              <a:chExt cx="812800" cy="869950"/>
            </a:xfrm>
          </p:grpSpPr>
          <p:sp>
            <p:nvSpPr>
              <p:cNvPr id="727" name="Google Shape;727;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2"/>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29" name="Google Shape;729;p32"/>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30" name="Google Shape;730;p32"/>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31" name="Google Shape;731;p32"/>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32" name="Google Shape;732;p32"/>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33" name="Google Shape;733;p32"/>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34" name="Google Shape;734;p32"/>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735" name="Google Shape;735;p32"/>
          <p:cNvSpPr/>
          <p:nvPr/>
        </p:nvSpPr>
        <p:spPr>
          <a:xfrm>
            <a:off x="8905746" y="7004651"/>
            <a:ext cx="3986625" cy="3084453"/>
          </a:xfrm>
          <a:custGeom>
            <a:rect b="b" l="l" r="r" t="t"/>
            <a:pathLst>
              <a:path extrusionOk="0" h="3084453" w="3986625">
                <a:moveTo>
                  <a:pt x="0" y="0"/>
                </a:moveTo>
                <a:lnTo>
                  <a:pt x="3986624" y="0"/>
                </a:lnTo>
                <a:lnTo>
                  <a:pt x="3986624" y="3084453"/>
                </a:lnTo>
                <a:lnTo>
                  <a:pt x="0" y="308445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6" name="Google Shape;736;p32"/>
          <p:cNvSpPr txBox="1"/>
          <p:nvPr/>
        </p:nvSpPr>
        <p:spPr>
          <a:xfrm>
            <a:off x="920821" y="2906411"/>
            <a:ext cx="16338479"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ISO es una organización voluntaria cuyos miembros son autoridades reconocidas en materia de normas, cada una de las cuales representa a un país.</a:t>
            </a:r>
            <a:endParaRPr b="0" i="0" sz="1400" u="none" cap="none" strike="noStrike">
              <a:solidFill>
                <a:srgbClr val="000000"/>
              </a:solidFill>
              <a:latin typeface="Arial"/>
              <a:ea typeface="Arial"/>
              <a:cs typeface="Arial"/>
              <a:sym typeface="Arial"/>
            </a:endParaRPr>
          </a:p>
        </p:txBody>
      </p:sp>
      <p:sp>
        <p:nvSpPr>
          <p:cNvPr id="737" name="Google Shape;737;p32"/>
          <p:cNvSpPr txBox="1"/>
          <p:nvPr/>
        </p:nvSpPr>
        <p:spPr>
          <a:xfrm>
            <a:off x="3543552" y="197896"/>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ISO (INTERNATIONAL </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STANDARDS Organization)</a:t>
            </a:r>
            <a:endParaRPr b="0" i="0" sz="1400" u="none" cap="none" strike="noStrike">
              <a:solidFill>
                <a:srgbClr val="000000"/>
              </a:solidFill>
              <a:latin typeface="Arial"/>
              <a:ea typeface="Arial"/>
              <a:cs typeface="Arial"/>
              <a:sym typeface="Arial"/>
            </a:endParaRPr>
          </a:p>
        </p:txBody>
      </p:sp>
      <p:sp>
        <p:nvSpPr>
          <p:cNvPr id="738" name="Google Shape;738;p32"/>
          <p:cNvSpPr txBox="1"/>
          <p:nvPr/>
        </p:nvSpPr>
        <p:spPr>
          <a:xfrm>
            <a:off x="3848358" y="4332889"/>
            <a:ext cx="11242167" cy="26717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Estándares internacionales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Informes técnicos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Especificaciones técnicas y disponibles públicamente</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Corrección técnica</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Guías iso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42" name="Shape 742"/>
        <p:cNvGrpSpPr/>
        <p:nvPr/>
      </p:nvGrpSpPr>
      <p:grpSpPr>
        <a:xfrm>
          <a:off x="0" y="0"/>
          <a:ext cx="0" cy="0"/>
          <a:chOff x="0" y="0"/>
          <a:chExt cx="0" cy="0"/>
        </a:xfrm>
      </p:grpSpPr>
      <p:grpSp>
        <p:nvGrpSpPr>
          <p:cNvPr id="743" name="Google Shape;743;p33"/>
          <p:cNvGrpSpPr/>
          <p:nvPr/>
        </p:nvGrpSpPr>
        <p:grpSpPr>
          <a:xfrm>
            <a:off x="1894444" y="494555"/>
            <a:ext cx="14499051" cy="2154982"/>
            <a:chOff x="0" y="-157626"/>
            <a:chExt cx="19332068" cy="2873309"/>
          </a:xfrm>
        </p:grpSpPr>
        <p:cxnSp>
          <p:nvCxnSpPr>
            <p:cNvPr id="744" name="Google Shape;744;p33"/>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45" name="Google Shape;745;p33"/>
            <p:cNvGrpSpPr/>
            <p:nvPr/>
          </p:nvGrpSpPr>
          <p:grpSpPr>
            <a:xfrm>
              <a:off x="0" y="0"/>
              <a:ext cx="2715683" cy="2715683"/>
              <a:chOff x="0" y="0"/>
              <a:chExt cx="812800" cy="812800"/>
            </a:xfrm>
          </p:grpSpPr>
          <p:sp>
            <p:nvSpPr>
              <p:cNvPr id="746" name="Google Shape;746;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3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8" name="Google Shape;748;p33"/>
            <p:cNvGrpSpPr/>
            <p:nvPr/>
          </p:nvGrpSpPr>
          <p:grpSpPr>
            <a:xfrm>
              <a:off x="150744" y="-157626"/>
              <a:ext cx="2603039" cy="2786065"/>
              <a:chOff x="0" y="-57150"/>
              <a:chExt cx="812800" cy="869950"/>
            </a:xfrm>
          </p:grpSpPr>
          <p:sp>
            <p:nvSpPr>
              <p:cNvPr id="749" name="Google Shape;749;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3"/>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51" name="Google Shape;751;p33"/>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52" name="Google Shape;752;p33"/>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53" name="Google Shape;753;p33"/>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54" name="Google Shape;754;p33"/>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55" name="Google Shape;755;p33"/>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56" name="Google Shape;756;p33"/>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757" name="Google Shape;757;p33"/>
          <p:cNvSpPr/>
          <p:nvPr/>
        </p:nvSpPr>
        <p:spPr>
          <a:xfrm>
            <a:off x="13310969" y="4701465"/>
            <a:ext cx="3948331" cy="2972175"/>
          </a:xfrm>
          <a:custGeom>
            <a:rect b="b" l="l" r="r" t="t"/>
            <a:pathLst>
              <a:path extrusionOk="0" h="2972175" w="3948331">
                <a:moveTo>
                  <a:pt x="0" y="0"/>
                </a:moveTo>
                <a:lnTo>
                  <a:pt x="3948331" y="0"/>
                </a:lnTo>
                <a:lnTo>
                  <a:pt x="3948331" y="2972175"/>
                </a:lnTo>
                <a:lnTo>
                  <a:pt x="0" y="2972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8" name="Google Shape;758;p33"/>
          <p:cNvSpPr txBox="1"/>
          <p:nvPr/>
        </p:nvSpPr>
        <p:spPr>
          <a:xfrm>
            <a:off x="1407633" y="2926995"/>
            <a:ext cx="15472735" cy="1047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Asociación mundial de ingenieros dedicada a la normalización y el desarrollo en áreas técnicas. Con cerca de 425 000 miembros y voluntarios en 160 países.</a:t>
            </a:r>
            <a:endParaRPr b="0" i="0" sz="1400" u="none" cap="none" strike="noStrike">
              <a:solidFill>
                <a:srgbClr val="000000"/>
              </a:solidFill>
              <a:latin typeface="Arial"/>
              <a:ea typeface="Arial"/>
              <a:cs typeface="Arial"/>
              <a:sym typeface="Arial"/>
            </a:endParaRPr>
          </a:p>
        </p:txBody>
      </p:sp>
      <p:sp>
        <p:nvSpPr>
          <p:cNvPr id="759" name="Google Shape;759;p33"/>
          <p:cNvSpPr txBox="1"/>
          <p:nvPr/>
        </p:nvSpPr>
        <p:spPr>
          <a:xfrm>
            <a:off x="3587797" y="119522"/>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IEEE (INSTITUTE OF ELECTRONIC</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AND ELECTRIC Enginners)</a:t>
            </a:r>
            <a:endParaRPr b="0" i="0" sz="1400" u="none" cap="none" strike="noStrike">
              <a:solidFill>
                <a:srgbClr val="000000"/>
              </a:solidFill>
              <a:latin typeface="Arial"/>
              <a:ea typeface="Arial"/>
              <a:cs typeface="Arial"/>
              <a:sym typeface="Arial"/>
            </a:endParaRPr>
          </a:p>
        </p:txBody>
      </p:sp>
      <p:sp>
        <p:nvSpPr>
          <p:cNvPr id="760" name="Google Shape;760;p33"/>
          <p:cNvSpPr txBox="1"/>
          <p:nvPr/>
        </p:nvSpPr>
        <p:spPr>
          <a:xfrm>
            <a:off x="1315932" y="4744736"/>
            <a:ext cx="11242167" cy="427196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Impulsar la innovación global</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Mejorar la comprensión pública de la ingeniería y la tecnología.</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Ser una fuente confiable de servicios y recursos educativos.</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Proporcionar oportunidades de carrera y desarrollo profesional.</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Inspirar a una audiencia mundial.</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64" name="Shape 764"/>
        <p:cNvGrpSpPr/>
        <p:nvPr/>
      </p:nvGrpSpPr>
      <p:grpSpPr>
        <a:xfrm>
          <a:off x="0" y="0"/>
          <a:ext cx="0" cy="0"/>
          <a:chOff x="0" y="0"/>
          <a:chExt cx="0" cy="0"/>
        </a:xfrm>
      </p:grpSpPr>
      <p:grpSp>
        <p:nvGrpSpPr>
          <p:cNvPr id="765" name="Google Shape;765;p34"/>
          <p:cNvGrpSpPr/>
          <p:nvPr/>
        </p:nvGrpSpPr>
        <p:grpSpPr>
          <a:xfrm>
            <a:off x="1894444" y="494555"/>
            <a:ext cx="14499051" cy="2154982"/>
            <a:chOff x="0" y="-157626"/>
            <a:chExt cx="19332068" cy="2873309"/>
          </a:xfrm>
        </p:grpSpPr>
        <p:cxnSp>
          <p:nvCxnSpPr>
            <p:cNvPr id="766" name="Google Shape;766;p34"/>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67" name="Google Shape;767;p34"/>
            <p:cNvGrpSpPr/>
            <p:nvPr/>
          </p:nvGrpSpPr>
          <p:grpSpPr>
            <a:xfrm>
              <a:off x="0" y="0"/>
              <a:ext cx="2715683" cy="2715683"/>
              <a:chOff x="0" y="0"/>
              <a:chExt cx="812800" cy="812800"/>
            </a:xfrm>
          </p:grpSpPr>
          <p:sp>
            <p:nvSpPr>
              <p:cNvPr id="768" name="Google Shape;768;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34"/>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70" name="Google Shape;770;p34"/>
            <p:cNvGrpSpPr/>
            <p:nvPr/>
          </p:nvGrpSpPr>
          <p:grpSpPr>
            <a:xfrm>
              <a:off x="150744" y="-157626"/>
              <a:ext cx="2603039" cy="2786065"/>
              <a:chOff x="0" y="-57150"/>
              <a:chExt cx="812800" cy="869950"/>
            </a:xfrm>
          </p:grpSpPr>
          <p:sp>
            <p:nvSpPr>
              <p:cNvPr id="771" name="Google Shape;771;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34"/>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73" name="Google Shape;773;p34"/>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74" name="Google Shape;774;p34"/>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75" name="Google Shape;775;p34"/>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76" name="Google Shape;776;p34"/>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77" name="Google Shape;777;p34"/>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78" name="Google Shape;778;p34"/>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779" name="Google Shape;779;p34"/>
          <p:cNvSpPr/>
          <p:nvPr/>
        </p:nvSpPr>
        <p:spPr>
          <a:xfrm>
            <a:off x="13546910" y="4468148"/>
            <a:ext cx="3948331" cy="2972175"/>
          </a:xfrm>
          <a:custGeom>
            <a:rect b="b" l="l" r="r" t="t"/>
            <a:pathLst>
              <a:path extrusionOk="0" h="2972175" w="3948331">
                <a:moveTo>
                  <a:pt x="0" y="0"/>
                </a:moveTo>
                <a:lnTo>
                  <a:pt x="3948330" y="0"/>
                </a:lnTo>
                <a:lnTo>
                  <a:pt x="3948330" y="2972175"/>
                </a:lnTo>
                <a:lnTo>
                  <a:pt x="0" y="2972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0" name="Google Shape;780;p34"/>
          <p:cNvSpPr txBox="1"/>
          <p:nvPr/>
        </p:nvSpPr>
        <p:spPr>
          <a:xfrm>
            <a:off x="1345514" y="3268186"/>
            <a:ext cx="11808424" cy="5314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IEEE es una de las organizaciones líderes en la creación de estándares en el mundo. IEEE realiza sus estándares y mantiene las funciones a través de la Asociación de estándares IEEE.</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Estándares IEEE afectan a una amplia gama de industrias, incluyendo: potencia y energía, biomedicina y salud, tecnología de la información, las telecomunicaciones, el transporte, la nanotecnología, la seguridad de la información, y muchos más.</a:t>
            </a:r>
            <a:endParaRPr b="0" i="0" sz="1400" u="none" cap="none" strike="noStrike">
              <a:solidFill>
                <a:srgbClr val="000000"/>
              </a:solidFill>
              <a:latin typeface="Arial"/>
              <a:ea typeface="Arial"/>
              <a:cs typeface="Arial"/>
              <a:sym typeface="Arial"/>
            </a:endParaRPr>
          </a:p>
        </p:txBody>
      </p:sp>
      <p:sp>
        <p:nvSpPr>
          <p:cNvPr id="781" name="Google Shape;781;p34"/>
          <p:cNvSpPr txBox="1"/>
          <p:nvPr/>
        </p:nvSpPr>
        <p:spPr>
          <a:xfrm>
            <a:off x="3543552" y="136888"/>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IEEE (INSTITUTE OF ELECTRONIC</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AND ELECTRIC Enginners)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785" name="Shape 785"/>
        <p:cNvGrpSpPr/>
        <p:nvPr/>
      </p:nvGrpSpPr>
      <p:grpSpPr>
        <a:xfrm>
          <a:off x="0" y="0"/>
          <a:ext cx="0" cy="0"/>
          <a:chOff x="0" y="0"/>
          <a:chExt cx="0" cy="0"/>
        </a:xfrm>
      </p:grpSpPr>
      <p:grpSp>
        <p:nvGrpSpPr>
          <p:cNvPr id="786" name="Google Shape;786;p35"/>
          <p:cNvGrpSpPr/>
          <p:nvPr/>
        </p:nvGrpSpPr>
        <p:grpSpPr>
          <a:xfrm>
            <a:off x="1894444" y="494555"/>
            <a:ext cx="14499051" cy="2154982"/>
            <a:chOff x="0" y="-157626"/>
            <a:chExt cx="19332068" cy="2873309"/>
          </a:xfrm>
        </p:grpSpPr>
        <p:cxnSp>
          <p:nvCxnSpPr>
            <p:cNvPr id="787" name="Google Shape;787;p35"/>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788" name="Google Shape;788;p35"/>
            <p:cNvGrpSpPr/>
            <p:nvPr/>
          </p:nvGrpSpPr>
          <p:grpSpPr>
            <a:xfrm>
              <a:off x="0" y="0"/>
              <a:ext cx="2715683" cy="2715683"/>
              <a:chOff x="0" y="0"/>
              <a:chExt cx="812800" cy="812800"/>
            </a:xfrm>
          </p:grpSpPr>
          <p:sp>
            <p:nvSpPr>
              <p:cNvPr id="789" name="Google Shape;789;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3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91" name="Google Shape;791;p35"/>
            <p:cNvGrpSpPr/>
            <p:nvPr/>
          </p:nvGrpSpPr>
          <p:grpSpPr>
            <a:xfrm>
              <a:off x="150744" y="-157626"/>
              <a:ext cx="2603039" cy="2786065"/>
              <a:chOff x="0" y="-57150"/>
              <a:chExt cx="812800" cy="869950"/>
            </a:xfrm>
          </p:grpSpPr>
          <p:sp>
            <p:nvSpPr>
              <p:cNvPr id="792" name="Google Shape;792;p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35"/>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94" name="Google Shape;794;p35"/>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795" name="Google Shape;795;p35"/>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796" name="Google Shape;796;p35"/>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797" name="Google Shape;797;p35"/>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798" name="Google Shape;798;p35"/>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799" name="Google Shape;799;p35"/>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800" name="Google Shape;800;p35"/>
          <p:cNvSpPr/>
          <p:nvPr/>
        </p:nvSpPr>
        <p:spPr>
          <a:xfrm>
            <a:off x="13546910" y="4468148"/>
            <a:ext cx="3948331" cy="2972175"/>
          </a:xfrm>
          <a:custGeom>
            <a:rect b="b" l="l" r="r" t="t"/>
            <a:pathLst>
              <a:path extrusionOk="0" h="2972175" w="3948331">
                <a:moveTo>
                  <a:pt x="0" y="0"/>
                </a:moveTo>
                <a:lnTo>
                  <a:pt x="3948330" y="0"/>
                </a:lnTo>
                <a:lnTo>
                  <a:pt x="3948330" y="2972175"/>
                </a:lnTo>
                <a:lnTo>
                  <a:pt x="0" y="29721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1" name="Google Shape;801;p35"/>
          <p:cNvSpPr txBox="1"/>
          <p:nvPr/>
        </p:nvSpPr>
        <p:spPr>
          <a:xfrm>
            <a:off x="1299307" y="3315016"/>
            <a:ext cx="11808424" cy="568771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400"/>
              <a:buFont typeface="Arial"/>
              <a:buNone/>
            </a:pPr>
            <a:r>
              <a:rPr b="0" i="0" lang="en-US" sz="2400" u="none" cap="none" strike="noStrike">
                <a:solidFill>
                  <a:srgbClr val="1F1674"/>
                </a:solidFill>
                <a:latin typeface="Montserrat"/>
                <a:ea typeface="Montserrat"/>
                <a:cs typeface="Montserrat"/>
                <a:sym typeface="Montserrat"/>
              </a:rPr>
              <a:t>El plan estratégico de esta organización</a:t>
            </a:r>
            <a:endParaRPr b="0" i="0" sz="11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Impulsar la innovación global a través de una amplia colaboración y el intercambio de conocimientos.</a:t>
            </a:r>
            <a:endParaRPr b="0" i="0" sz="11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Mejorar la comprensión pública de la ingeniería y la tecnología y aplicar normas para su aplicación práctica.</a:t>
            </a:r>
            <a:endParaRPr b="0" i="0" sz="11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Ser una fuente confiable de servicios y recursos educativos para apoyar el aprendizaje permanente.</a:t>
            </a:r>
            <a:endParaRPr b="0" i="0" sz="11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Proporcionar oportunidades de carrera y desarrollo profesional.</a:t>
            </a:r>
            <a:endParaRPr b="0" i="0" sz="11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2400" u="none" cap="none" strike="noStrike">
                <a:solidFill>
                  <a:srgbClr val="1F1674"/>
                </a:solidFill>
                <a:latin typeface="Montserrat"/>
                <a:ea typeface="Montserrat"/>
                <a:cs typeface="Montserrat"/>
                <a:sym typeface="Montserrat"/>
              </a:rPr>
              <a:t>Inspirar a una audiencia mundial construyendo comunidades que promueven intereses técnicos, informen las políticas públicas y amplíen el conocimiento en beneficio de la humanidad.</a:t>
            </a:r>
            <a:endParaRPr b="0" i="0" sz="1100" u="none" cap="none" strike="noStrike">
              <a:solidFill>
                <a:srgbClr val="000000"/>
              </a:solidFill>
              <a:latin typeface="Arial"/>
              <a:ea typeface="Arial"/>
              <a:cs typeface="Arial"/>
              <a:sym typeface="Arial"/>
            </a:endParaRPr>
          </a:p>
        </p:txBody>
      </p:sp>
      <p:sp>
        <p:nvSpPr>
          <p:cNvPr id="802" name="Google Shape;802;p35"/>
          <p:cNvSpPr txBox="1"/>
          <p:nvPr/>
        </p:nvSpPr>
        <p:spPr>
          <a:xfrm>
            <a:off x="3558301" y="107941"/>
            <a:ext cx="14110858"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IEEE (INSTITUTE OF ELECTRONIC</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AND ELECTRIC Enginners)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06" name="Shape 806"/>
        <p:cNvGrpSpPr/>
        <p:nvPr/>
      </p:nvGrpSpPr>
      <p:grpSpPr>
        <a:xfrm>
          <a:off x="0" y="0"/>
          <a:ext cx="0" cy="0"/>
          <a:chOff x="0" y="0"/>
          <a:chExt cx="0" cy="0"/>
        </a:xfrm>
      </p:grpSpPr>
      <p:sp>
        <p:nvSpPr>
          <p:cNvPr id="807" name="Google Shape;807;p36"/>
          <p:cNvSpPr/>
          <p:nvPr/>
        </p:nvSpPr>
        <p:spPr>
          <a:xfrm>
            <a:off x="2297051" y="2848672"/>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490" l="-209893" r="-18234" t="-37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808" name="Google Shape;808;p36"/>
          <p:cNvGrpSpPr/>
          <p:nvPr/>
        </p:nvGrpSpPr>
        <p:grpSpPr>
          <a:xfrm rot="10800000">
            <a:off x="1213407" y="5655802"/>
            <a:ext cx="428625" cy="857250"/>
            <a:chOff x="0" y="0"/>
            <a:chExt cx="406400" cy="812800"/>
          </a:xfrm>
        </p:grpSpPr>
        <p:sp>
          <p:nvSpPr>
            <p:cNvPr id="809" name="Google Shape;809;p36"/>
            <p:cNvSpPr/>
            <p:nvPr/>
          </p:nvSpPr>
          <p:spPr>
            <a:xfrm>
              <a:off x="0" y="0"/>
              <a:ext cx="406400" cy="812800"/>
            </a:xfrm>
            <a:custGeom>
              <a:rect b="b" l="l" r="r" t="t"/>
              <a:pathLst>
                <a:path extrusionOk="0" h="812800" w="406400">
                  <a:moveTo>
                    <a:pt x="406400" y="406400"/>
                  </a:moveTo>
                  <a:lnTo>
                    <a:pt x="0" y="0"/>
                  </a:lnTo>
                  <a:lnTo>
                    <a:pt x="0" y="203200"/>
                  </a:lnTo>
                  <a:lnTo>
                    <a:pt x="0" y="203200"/>
                  </a:lnTo>
                  <a:lnTo>
                    <a:pt x="0" y="609600"/>
                  </a:lnTo>
                  <a:lnTo>
                    <a:pt x="0" y="609600"/>
                  </a:lnTo>
                  <a:lnTo>
                    <a:pt x="0" y="812800"/>
                  </a:lnTo>
                  <a:lnTo>
                    <a:pt x="406400" y="406400"/>
                  </a:lnTo>
                  <a:close/>
                </a:path>
              </a:pathLst>
            </a:custGeom>
            <a:solidFill>
              <a:srgbClr val="61E1FF"/>
            </a:solidFill>
            <a:ln cap="sq" cmpd="sng" w="57150">
              <a:solidFill>
                <a:srgbClr val="FFA85A"/>
              </a:solidFill>
              <a:prstDash val="dash"/>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0" name="Google Shape;810;p36"/>
            <p:cNvSpPr txBox="1"/>
            <p:nvPr/>
          </p:nvSpPr>
          <p:spPr>
            <a:xfrm>
              <a:off x="0" y="155575"/>
              <a:ext cx="304800" cy="454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11" name="Google Shape;811;p36"/>
          <p:cNvCxnSpPr/>
          <p:nvPr/>
        </p:nvCxnSpPr>
        <p:spPr>
          <a:xfrm>
            <a:off x="1642032" y="3086100"/>
            <a:ext cx="0" cy="6027911"/>
          </a:xfrm>
          <a:prstGeom prst="straightConnector1">
            <a:avLst/>
          </a:prstGeom>
          <a:noFill/>
          <a:ln cap="flat" cmpd="sng" w="66675">
            <a:solidFill>
              <a:srgbClr val="4E639E"/>
            </a:solidFill>
            <a:prstDash val="solid"/>
            <a:round/>
            <a:headEnd len="sm" w="sm" type="none"/>
            <a:tailEnd len="sm" w="sm" type="none"/>
          </a:ln>
        </p:spPr>
      </p:cxnSp>
      <p:sp>
        <p:nvSpPr>
          <p:cNvPr id="812" name="Google Shape;812;p36"/>
          <p:cNvSpPr txBox="1"/>
          <p:nvPr/>
        </p:nvSpPr>
        <p:spPr>
          <a:xfrm>
            <a:off x="3177698" y="2811435"/>
            <a:ext cx="14372539" cy="592518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600"/>
              <a:buFont typeface="Arial"/>
              <a:buNone/>
            </a:pPr>
            <a:r>
              <a:rPr b="1" i="0" lang="en-US" sz="2600" u="none" cap="none" strike="noStrike">
                <a:solidFill>
                  <a:srgbClr val="1F1674"/>
                </a:solidFill>
                <a:latin typeface="Montserrat"/>
                <a:ea typeface="Montserrat"/>
                <a:cs typeface="Montserrat"/>
                <a:sym typeface="Montserrat"/>
              </a:rPr>
              <a:t>ANSI/TIA/EIA-568-A- TIA/EIA-568-B</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Estándar de Cableado de Telecomunicaciones en Edificios Comerciales para conectores RJ 45</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1" i="0" lang="en-US" sz="2600" u="none" cap="none" strike="noStrike">
                <a:solidFill>
                  <a:srgbClr val="1F1674"/>
                </a:solidFill>
                <a:latin typeface="Montserrat"/>
                <a:ea typeface="Montserrat"/>
                <a:cs typeface="Montserrat"/>
                <a:sym typeface="Montserrat"/>
              </a:rPr>
              <a:t>ANSI/TIA/EIA-569</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Estándar para Ductos y Espacios de Telecomunicaciones en Edificios Comerciales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1" i="0" lang="en-US" sz="2600" u="none" cap="none" strike="noStrike">
                <a:solidFill>
                  <a:srgbClr val="1F1674"/>
                </a:solidFill>
                <a:latin typeface="Montserrat"/>
                <a:ea typeface="Montserrat"/>
                <a:cs typeface="Montserrat"/>
                <a:sym typeface="Montserrat"/>
              </a:rPr>
              <a:t>ANSI/TIA/EIA-570</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Estándar de Alambrado de Telecomunicaciones Residencial y Comercial Liviano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1" i="0" lang="en-US" sz="2600" u="none" cap="none" strike="noStrike">
                <a:solidFill>
                  <a:srgbClr val="1F1674"/>
                </a:solidFill>
                <a:latin typeface="Montserrat"/>
                <a:ea typeface="Montserrat"/>
                <a:cs typeface="Montserrat"/>
                <a:sym typeface="Montserrat"/>
              </a:rPr>
              <a:t>ANSI/TIA/EIA-606</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Estándar de Administración para la Infraestructura de Telecomunicaciones de Edificios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Comerciales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1" i="0" lang="en-US" sz="2600" u="none" cap="none" strike="noStrike">
                <a:solidFill>
                  <a:srgbClr val="1F1674"/>
                </a:solidFill>
                <a:latin typeface="Montserrat"/>
                <a:ea typeface="Montserrat"/>
                <a:cs typeface="Montserrat"/>
                <a:sym typeface="Montserrat"/>
              </a:rPr>
              <a:t>ANSI/TIA/EIA-607</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Requerimientos para Telecomunicaciones de Puesta a Tierra y Puenteado de Edificios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1F1674"/>
                </a:solidFill>
                <a:latin typeface="Montserrat"/>
                <a:ea typeface="Montserrat"/>
                <a:cs typeface="Montserrat"/>
                <a:sym typeface="Montserrat"/>
              </a:rPr>
              <a:t>Comerciales</a:t>
            </a:r>
            <a:endParaRPr b="0" i="0" sz="1400" u="none" cap="none" strike="noStrike">
              <a:solidFill>
                <a:srgbClr val="000000"/>
              </a:solidFill>
              <a:latin typeface="Arial"/>
              <a:ea typeface="Arial"/>
              <a:cs typeface="Arial"/>
              <a:sym typeface="Arial"/>
            </a:endParaRPr>
          </a:p>
        </p:txBody>
      </p:sp>
      <p:grpSp>
        <p:nvGrpSpPr>
          <p:cNvPr id="813" name="Google Shape;813;p36"/>
          <p:cNvGrpSpPr/>
          <p:nvPr/>
        </p:nvGrpSpPr>
        <p:grpSpPr>
          <a:xfrm>
            <a:off x="1894444" y="494555"/>
            <a:ext cx="14499051" cy="2154982"/>
            <a:chOff x="0" y="-157626"/>
            <a:chExt cx="19332068" cy="2873309"/>
          </a:xfrm>
        </p:grpSpPr>
        <p:cxnSp>
          <p:nvCxnSpPr>
            <p:cNvPr id="814" name="Google Shape;814;p36"/>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815" name="Google Shape;815;p36"/>
            <p:cNvGrpSpPr/>
            <p:nvPr/>
          </p:nvGrpSpPr>
          <p:grpSpPr>
            <a:xfrm>
              <a:off x="0" y="0"/>
              <a:ext cx="2715683" cy="2715683"/>
              <a:chOff x="0" y="0"/>
              <a:chExt cx="812800" cy="812800"/>
            </a:xfrm>
          </p:grpSpPr>
          <p:sp>
            <p:nvSpPr>
              <p:cNvPr id="816" name="Google Shape;816;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3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18" name="Google Shape;818;p36"/>
            <p:cNvGrpSpPr/>
            <p:nvPr/>
          </p:nvGrpSpPr>
          <p:grpSpPr>
            <a:xfrm>
              <a:off x="150744" y="-157626"/>
              <a:ext cx="2603039" cy="2786065"/>
              <a:chOff x="0" y="-57150"/>
              <a:chExt cx="812800" cy="869950"/>
            </a:xfrm>
          </p:grpSpPr>
          <p:sp>
            <p:nvSpPr>
              <p:cNvPr id="819" name="Google Shape;819;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36"/>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21" name="Google Shape;821;p36"/>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822" name="Google Shape;822;p36"/>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823" name="Google Shape;823;p36"/>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824" name="Google Shape;824;p36"/>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825" name="Google Shape;825;p36"/>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826" name="Google Shape;826;p36"/>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827" name="Google Shape;827;p36"/>
          <p:cNvSpPr txBox="1"/>
          <p:nvPr/>
        </p:nvSpPr>
        <p:spPr>
          <a:xfrm>
            <a:off x="4235644" y="1365250"/>
            <a:ext cx="10445918"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NORMAS Y ESTÁNDARES</a:t>
            </a:r>
            <a:endParaRPr b="0" i="0" sz="1400" u="none" cap="none" strike="noStrike">
              <a:solidFill>
                <a:srgbClr val="000000"/>
              </a:solidFill>
              <a:latin typeface="Arial"/>
              <a:ea typeface="Arial"/>
              <a:cs typeface="Arial"/>
              <a:sym typeface="Arial"/>
            </a:endParaRPr>
          </a:p>
        </p:txBody>
      </p:sp>
      <p:sp>
        <p:nvSpPr>
          <p:cNvPr id="828" name="Google Shape;828;p36"/>
          <p:cNvSpPr/>
          <p:nvPr/>
        </p:nvSpPr>
        <p:spPr>
          <a:xfrm>
            <a:off x="2368398" y="4479344"/>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490" l="-209893" r="-18234" t="-37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9" name="Google Shape;829;p36"/>
          <p:cNvSpPr/>
          <p:nvPr/>
        </p:nvSpPr>
        <p:spPr>
          <a:xfrm>
            <a:off x="2380754" y="5600884"/>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490" l="-209893" r="-18234" t="-37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0" name="Google Shape;830;p36"/>
          <p:cNvSpPr/>
          <p:nvPr/>
        </p:nvSpPr>
        <p:spPr>
          <a:xfrm>
            <a:off x="2381757" y="6758801"/>
            <a:ext cx="705307" cy="538462"/>
          </a:xfrm>
          <a:custGeom>
            <a:rect b="b" l="l" r="r" t="t"/>
            <a:pathLst>
              <a:path extrusionOk="0" h="538462" w="705307">
                <a:moveTo>
                  <a:pt x="0" y="0"/>
                </a:moveTo>
                <a:lnTo>
                  <a:pt x="705307" y="0"/>
                </a:lnTo>
                <a:lnTo>
                  <a:pt x="705307" y="538461"/>
                </a:lnTo>
                <a:lnTo>
                  <a:pt x="0" y="538461"/>
                </a:lnTo>
                <a:lnTo>
                  <a:pt x="0" y="0"/>
                </a:lnTo>
                <a:close/>
              </a:path>
            </a:pathLst>
          </a:custGeom>
          <a:blipFill rotWithShape="1">
            <a:blip r:embed="rId3">
              <a:alphaModFix/>
            </a:blip>
            <a:stretch>
              <a:fillRect b="-238490" l="-209893" r="-18234" t="-37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1" name="Google Shape;831;p36"/>
          <p:cNvSpPr/>
          <p:nvPr/>
        </p:nvSpPr>
        <p:spPr>
          <a:xfrm>
            <a:off x="2368397" y="8367563"/>
            <a:ext cx="705307" cy="538462"/>
          </a:xfrm>
          <a:custGeom>
            <a:rect b="b" l="l" r="r" t="t"/>
            <a:pathLst>
              <a:path extrusionOk="0" h="538462" w="705307">
                <a:moveTo>
                  <a:pt x="0" y="0"/>
                </a:moveTo>
                <a:lnTo>
                  <a:pt x="705307" y="0"/>
                </a:lnTo>
                <a:lnTo>
                  <a:pt x="705307" y="538462"/>
                </a:lnTo>
                <a:lnTo>
                  <a:pt x="0" y="538462"/>
                </a:lnTo>
                <a:lnTo>
                  <a:pt x="0" y="0"/>
                </a:lnTo>
                <a:close/>
              </a:path>
            </a:pathLst>
          </a:custGeom>
          <a:blipFill rotWithShape="1">
            <a:blip r:embed="rId3">
              <a:alphaModFix/>
            </a:blip>
            <a:stretch>
              <a:fillRect b="-238490" l="-209893" r="-18234" t="-37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35" name="Shape 835"/>
        <p:cNvGrpSpPr/>
        <p:nvPr/>
      </p:nvGrpSpPr>
      <p:grpSpPr>
        <a:xfrm>
          <a:off x="0" y="0"/>
          <a:ext cx="0" cy="0"/>
          <a:chOff x="0" y="0"/>
          <a:chExt cx="0" cy="0"/>
        </a:xfrm>
      </p:grpSpPr>
      <p:sp>
        <p:nvSpPr>
          <p:cNvPr id="836" name="Google Shape;836;p37"/>
          <p:cNvSpPr txBox="1"/>
          <p:nvPr/>
        </p:nvSpPr>
        <p:spPr>
          <a:xfrm>
            <a:off x="1352265" y="3658854"/>
            <a:ext cx="15583470" cy="37147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Este estándar especifica los requisitos mínimos de cableado para telecomunicaciones, la topología recomendada y los límites de distancia, las especificaciones sobre el rendimiento de los aparatos de conexión y medios.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3000"/>
              <a:buFont typeface="Arial"/>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Este estándar especifica los requisitos de componentes y de transmisión según los medios.</a:t>
            </a:r>
            <a:endParaRPr b="0" i="0" sz="1400" u="none" cap="none" strike="noStrike">
              <a:solidFill>
                <a:srgbClr val="000000"/>
              </a:solidFill>
              <a:latin typeface="Arial"/>
              <a:ea typeface="Arial"/>
              <a:cs typeface="Arial"/>
              <a:sym typeface="Arial"/>
            </a:endParaRPr>
          </a:p>
        </p:txBody>
      </p:sp>
      <p:sp>
        <p:nvSpPr>
          <p:cNvPr id="837" name="Google Shape;837;p37"/>
          <p:cNvSpPr/>
          <p:nvPr/>
        </p:nvSpPr>
        <p:spPr>
          <a:xfrm>
            <a:off x="6059705" y="7373604"/>
            <a:ext cx="6168591" cy="2603705"/>
          </a:xfrm>
          <a:custGeom>
            <a:rect b="b" l="l" r="r" t="t"/>
            <a:pathLst>
              <a:path extrusionOk="0" h="2603705" w="6168591">
                <a:moveTo>
                  <a:pt x="0" y="0"/>
                </a:moveTo>
                <a:lnTo>
                  <a:pt x="6168590" y="0"/>
                </a:lnTo>
                <a:lnTo>
                  <a:pt x="6168590" y="2603705"/>
                </a:lnTo>
                <a:lnTo>
                  <a:pt x="0" y="260370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p37"/>
          <p:cNvSpPr txBox="1"/>
          <p:nvPr/>
        </p:nvSpPr>
        <p:spPr>
          <a:xfrm>
            <a:off x="657199" y="338455"/>
            <a:ext cx="16973602" cy="2433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ANSI/TIA/EIA-568</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4400"/>
              <a:buFont typeface="Arial"/>
              <a:buNone/>
            </a:pPr>
            <a:r>
              <a:rPr b="0" i="0" lang="en-US" sz="4400" u="none" cap="none" strike="noStrike">
                <a:solidFill>
                  <a:srgbClr val="145C8C"/>
                </a:solidFill>
                <a:latin typeface="Arial"/>
                <a:ea typeface="Arial"/>
                <a:cs typeface="Arial"/>
                <a:sym typeface="Arial"/>
              </a:rPr>
              <a:t>Estándar de Cableado de Telecomunicaciones en Edificios Comerciales para conectores RJ 45</a:t>
            </a:r>
            <a:endParaRPr b="0" i="0" sz="1400" u="none" cap="none" strike="noStrike">
              <a:solidFill>
                <a:srgbClr val="000000"/>
              </a:solidFill>
              <a:latin typeface="Arial"/>
              <a:ea typeface="Arial"/>
              <a:cs typeface="Arial"/>
              <a:sym typeface="Arial"/>
            </a:endParaRPr>
          </a:p>
        </p:txBody>
      </p:sp>
      <p:sp>
        <p:nvSpPr>
          <p:cNvPr id="839" name="Google Shape;839;p37"/>
          <p:cNvSpPr txBox="1"/>
          <p:nvPr/>
        </p:nvSpPr>
        <p:spPr>
          <a:xfrm>
            <a:off x="657199" y="3055327"/>
            <a:ext cx="15583470" cy="519112"/>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ANSI/TIA/EIA-568-A</a:t>
            </a:r>
            <a:endParaRPr b="0" i="0" sz="1400" u="none" cap="none" strike="noStrike">
              <a:solidFill>
                <a:srgbClr val="000000"/>
              </a:solidFill>
              <a:latin typeface="Arial"/>
              <a:ea typeface="Arial"/>
              <a:cs typeface="Arial"/>
              <a:sym typeface="Arial"/>
            </a:endParaRPr>
          </a:p>
        </p:txBody>
      </p:sp>
      <p:sp>
        <p:nvSpPr>
          <p:cNvPr id="840" name="Google Shape;840;p37"/>
          <p:cNvSpPr txBox="1"/>
          <p:nvPr/>
        </p:nvSpPr>
        <p:spPr>
          <a:xfrm>
            <a:off x="657199" y="5740154"/>
            <a:ext cx="15583500" cy="519000"/>
          </a:xfrm>
          <a:prstGeom prst="rect">
            <a:avLst/>
          </a:prstGeom>
          <a:noFill/>
          <a:ln>
            <a:noFill/>
          </a:ln>
        </p:spPr>
        <p:txBody>
          <a:bodyPr anchorCtr="0" anchor="t" bIns="0" lIns="0" spcFirstLastPara="1" rIns="0" wrap="square" tIns="0">
            <a:spAutoFit/>
          </a:bodyPr>
          <a:lstStyle/>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TIA/EIA-568-B</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44" name="Shape 844"/>
        <p:cNvGrpSpPr/>
        <p:nvPr/>
      </p:nvGrpSpPr>
      <p:grpSpPr>
        <a:xfrm>
          <a:off x="0" y="0"/>
          <a:ext cx="0" cy="0"/>
          <a:chOff x="0" y="0"/>
          <a:chExt cx="0" cy="0"/>
        </a:xfrm>
      </p:grpSpPr>
      <p:sp>
        <p:nvSpPr>
          <p:cNvPr id="845" name="Google Shape;845;p38"/>
          <p:cNvSpPr/>
          <p:nvPr/>
        </p:nvSpPr>
        <p:spPr>
          <a:xfrm>
            <a:off x="11529634" y="3254055"/>
            <a:ext cx="5114387" cy="6142158"/>
          </a:xfrm>
          <a:custGeom>
            <a:rect b="b" l="l" r="r" t="t"/>
            <a:pathLst>
              <a:path extrusionOk="0" h="6142158" w="5114387">
                <a:moveTo>
                  <a:pt x="0" y="0"/>
                </a:moveTo>
                <a:lnTo>
                  <a:pt x="5114387" y="0"/>
                </a:lnTo>
                <a:lnTo>
                  <a:pt x="5114387" y="6142158"/>
                </a:lnTo>
                <a:lnTo>
                  <a:pt x="0" y="61421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6" name="Google Shape;846;p38"/>
          <p:cNvSpPr txBox="1"/>
          <p:nvPr/>
        </p:nvSpPr>
        <p:spPr>
          <a:xfrm>
            <a:off x="1028700" y="4623907"/>
            <a:ext cx="8882763" cy="21145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Este estándar será el central al momento de diseñar el sistema de cableado estructurado, ya que su enfoque central son las rutas y espacios donde se instalan los cables.</a:t>
            </a:r>
            <a:endParaRPr b="0" i="0" sz="1400" u="none" cap="none" strike="noStrike">
              <a:solidFill>
                <a:srgbClr val="000000"/>
              </a:solidFill>
              <a:latin typeface="Arial"/>
              <a:ea typeface="Arial"/>
              <a:cs typeface="Arial"/>
              <a:sym typeface="Arial"/>
            </a:endParaRPr>
          </a:p>
        </p:txBody>
      </p:sp>
      <p:sp>
        <p:nvSpPr>
          <p:cNvPr id="847" name="Google Shape;847;p38"/>
          <p:cNvSpPr txBox="1"/>
          <p:nvPr/>
        </p:nvSpPr>
        <p:spPr>
          <a:xfrm>
            <a:off x="657199" y="338455"/>
            <a:ext cx="16973602" cy="25380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ANSI/TIA/EIA-569</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Estándar para Ductos y Espacios de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4400"/>
              <a:buFont typeface="Arial"/>
              <a:buNone/>
            </a:pPr>
            <a:r>
              <a:rPr b="0" i="0" lang="en-US" sz="4400" u="none" cap="none" strike="noStrike">
                <a:solidFill>
                  <a:srgbClr val="145C8C"/>
                </a:solidFill>
                <a:latin typeface="Arial"/>
                <a:ea typeface="Arial"/>
                <a:cs typeface="Arial"/>
                <a:sym typeface="Arial"/>
              </a:rPr>
              <a:t>Telecomunicaciones en Edificios Comerciales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51" name="Shape 851"/>
        <p:cNvGrpSpPr/>
        <p:nvPr/>
      </p:nvGrpSpPr>
      <p:grpSpPr>
        <a:xfrm>
          <a:off x="0" y="0"/>
          <a:ext cx="0" cy="0"/>
          <a:chOff x="0" y="0"/>
          <a:chExt cx="0" cy="0"/>
        </a:xfrm>
      </p:grpSpPr>
      <p:sp>
        <p:nvSpPr>
          <p:cNvPr id="852" name="Google Shape;852;p39"/>
          <p:cNvSpPr/>
          <p:nvPr/>
        </p:nvSpPr>
        <p:spPr>
          <a:xfrm>
            <a:off x="9865271" y="4046910"/>
            <a:ext cx="6623745" cy="2393010"/>
          </a:xfrm>
          <a:custGeom>
            <a:rect b="b" l="l" r="r" t="t"/>
            <a:pathLst>
              <a:path extrusionOk="0" h="2393010" w="6623745">
                <a:moveTo>
                  <a:pt x="0" y="0"/>
                </a:moveTo>
                <a:lnTo>
                  <a:pt x="6623745" y="0"/>
                </a:lnTo>
                <a:lnTo>
                  <a:pt x="6623745" y="2393010"/>
                </a:lnTo>
                <a:lnTo>
                  <a:pt x="0" y="239301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3" name="Google Shape;853;p39"/>
          <p:cNvSpPr/>
          <p:nvPr/>
        </p:nvSpPr>
        <p:spPr>
          <a:xfrm>
            <a:off x="14695079" y="1976846"/>
            <a:ext cx="3079353" cy="1813865"/>
          </a:xfrm>
          <a:custGeom>
            <a:rect b="b" l="l" r="r" t="t"/>
            <a:pathLst>
              <a:path extrusionOk="0" h="1813865" w="3079353">
                <a:moveTo>
                  <a:pt x="0" y="0"/>
                </a:moveTo>
                <a:lnTo>
                  <a:pt x="3079352" y="0"/>
                </a:lnTo>
                <a:lnTo>
                  <a:pt x="3079352" y="1813865"/>
                </a:lnTo>
                <a:lnTo>
                  <a:pt x="0" y="181386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4" name="Google Shape;854;p39"/>
          <p:cNvSpPr/>
          <p:nvPr/>
        </p:nvSpPr>
        <p:spPr>
          <a:xfrm>
            <a:off x="10858184" y="6918279"/>
            <a:ext cx="4341652" cy="3104939"/>
          </a:xfrm>
          <a:custGeom>
            <a:rect b="b" l="l" r="r" t="t"/>
            <a:pathLst>
              <a:path extrusionOk="0" h="3104939" w="4341652">
                <a:moveTo>
                  <a:pt x="0" y="0"/>
                </a:moveTo>
                <a:lnTo>
                  <a:pt x="4341652" y="0"/>
                </a:lnTo>
                <a:lnTo>
                  <a:pt x="4341652" y="3104939"/>
                </a:lnTo>
                <a:lnTo>
                  <a:pt x="0" y="310493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5" name="Google Shape;855;p39"/>
          <p:cNvSpPr txBox="1"/>
          <p:nvPr/>
        </p:nvSpPr>
        <p:spPr>
          <a:xfrm>
            <a:off x="839948" y="3161077"/>
            <a:ext cx="8882763" cy="26479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Este estándar será el central al momento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de diseñar el sistema de cableado</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estructurado, ya que su enfoque central</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son las rutas y espacios donde se instalan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los cables.</a:t>
            </a:r>
            <a:endParaRPr b="0" i="0" sz="1400" u="none" cap="none" strike="noStrike">
              <a:solidFill>
                <a:srgbClr val="000000"/>
              </a:solidFill>
              <a:latin typeface="Arial"/>
              <a:ea typeface="Arial"/>
              <a:cs typeface="Arial"/>
              <a:sym typeface="Arial"/>
            </a:endParaRPr>
          </a:p>
        </p:txBody>
      </p:sp>
      <p:sp>
        <p:nvSpPr>
          <p:cNvPr id="856" name="Google Shape;856;p39"/>
          <p:cNvSpPr txBox="1"/>
          <p:nvPr/>
        </p:nvSpPr>
        <p:spPr>
          <a:xfrm>
            <a:off x="657199" y="338455"/>
            <a:ext cx="16973602" cy="24333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ANSI/TIA/EIA-570</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4400"/>
              <a:buFont typeface="Arial"/>
              <a:buNone/>
            </a:pPr>
            <a:r>
              <a:rPr b="0" i="0" lang="en-US" sz="4400" u="none" cap="none" strike="noStrike">
                <a:solidFill>
                  <a:srgbClr val="145C8C"/>
                </a:solidFill>
                <a:latin typeface="Arial"/>
                <a:ea typeface="Arial"/>
                <a:cs typeface="Arial"/>
                <a:sym typeface="Arial"/>
              </a:rPr>
              <a:t>Estándar de Alambrado de telecomunicaciones Residencial y Comercial Liviano</a:t>
            </a:r>
            <a:endParaRPr b="0" i="0" sz="1400" u="none" cap="none" strike="noStrike">
              <a:solidFill>
                <a:srgbClr val="000000"/>
              </a:solidFill>
              <a:latin typeface="Arial"/>
              <a:ea typeface="Arial"/>
              <a:cs typeface="Arial"/>
              <a:sym typeface="Arial"/>
            </a:endParaRPr>
          </a:p>
        </p:txBody>
      </p:sp>
      <p:sp>
        <p:nvSpPr>
          <p:cNvPr id="857" name="Google Shape;857;p39"/>
          <p:cNvSpPr txBox="1"/>
          <p:nvPr/>
        </p:nvSpPr>
        <p:spPr>
          <a:xfrm>
            <a:off x="839948" y="6199552"/>
            <a:ext cx="8882763" cy="320516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Grados para cableado residencial:</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Grado 1</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Grado 2</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Par trenzado.</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62.5/125mm fibra optica multi-modo</a:t>
            </a:r>
            <a:endParaRPr b="0" i="0" sz="1400" u="none" cap="none" strike="noStrike">
              <a:solidFill>
                <a:srgbClr val="000000"/>
              </a:solidFill>
              <a:latin typeface="Arial"/>
              <a:ea typeface="Arial"/>
              <a:cs typeface="Arial"/>
              <a:sym typeface="Arial"/>
            </a:endParaRPr>
          </a:p>
          <a:p>
            <a:pPr indent="-323850" lvl="1" marL="647700" marR="0" rtl="0" algn="just">
              <a:lnSpc>
                <a:spcPct val="140000"/>
              </a:lnSpc>
              <a:spcBef>
                <a:spcPts val="0"/>
              </a:spcBef>
              <a:spcAft>
                <a:spcPts val="0"/>
              </a:spcAft>
              <a:buClr>
                <a:srgbClr val="1F1674"/>
              </a:buClr>
              <a:buSzPts val="3000"/>
              <a:buFont typeface="Arial"/>
              <a:buChar char="•"/>
            </a:pPr>
            <a:r>
              <a:rPr b="0" i="0" lang="en-US" sz="3000" u="none" cap="none" strike="noStrike">
                <a:solidFill>
                  <a:srgbClr val="1F1674"/>
                </a:solidFill>
                <a:latin typeface="Montserrat"/>
                <a:ea typeface="Montserrat"/>
                <a:cs typeface="Montserrat"/>
                <a:sym typeface="Montserrat"/>
              </a:rPr>
              <a:t>50/125mm fibra optica multi-modo</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61" name="Shape 861"/>
        <p:cNvGrpSpPr/>
        <p:nvPr/>
      </p:nvGrpSpPr>
      <p:grpSpPr>
        <a:xfrm>
          <a:off x="0" y="0"/>
          <a:ext cx="0" cy="0"/>
          <a:chOff x="0" y="0"/>
          <a:chExt cx="0" cy="0"/>
        </a:xfrm>
      </p:grpSpPr>
      <p:sp>
        <p:nvSpPr>
          <p:cNvPr id="862" name="Google Shape;862;p40"/>
          <p:cNvSpPr/>
          <p:nvPr/>
        </p:nvSpPr>
        <p:spPr>
          <a:xfrm>
            <a:off x="12092329" y="6137026"/>
            <a:ext cx="4901500" cy="3831792"/>
          </a:xfrm>
          <a:custGeom>
            <a:rect b="b" l="l" r="r" t="t"/>
            <a:pathLst>
              <a:path extrusionOk="0" h="3831792" w="4901500">
                <a:moveTo>
                  <a:pt x="0" y="0"/>
                </a:moveTo>
                <a:lnTo>
                  <a:pt x="4901500" y="0"/>
                </a:lnTo>
                <a:lnTo>
                  <a:pt x="4901500" y="3831791"/>
                </a:lnTo>
                <a:lnTo>
                  <a:pt x="0" y="38317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p40"/>
          <p:cNvSpPr txBox="1"/>
          <p:nvPr/>
        </p:nvSpPr>
        <p:spPr>
          <a:xfrm>
            <a:off x="839948" y="3161077"/>
            <a:ext cx="16419352" cy="3748719"/>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800"/>
              <a:buFont typeface="Arial"/>
              <a:buNone/>
            </a:pPr>
            <a:r>
              <a:rPr b="0" i="0" lang="en-US" sz="2800" u="none" cap="none" strike="noStrike">
                <a:solidFill>
                  <a:srgbClr val="1F1674"/>
                </a:solidFill>
                <a:latin typeface="Montserrat"/>
                <a:ea typeface="Montserrat"/>
                <a:cs typeface="Montserrat"/>
                <a:sym typeface="Montserrat"/>
              </a:rPr>
              <a:t>Este estándar establece guías para dueños, usuarios finales, consultores, contratistas, diseñadores, instaladores y administradores de la infraestructura de telecomunicaciones y sistemas relacionados.</a:t>
            </a:r>
            <a:endParaRPr b="0" i="0" sz="12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800"/>
              <a:buFont typeface="Arial"/>
              <a:buNone/>
            </a:pPr>
            <a:r>
              <a:t/>
            </a:r>
            <a:endParaRPr b="0" i="0" sz="28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2800"/>
              <a:buFont typeface="Arial"/>
              <a:buNone/>
            </a:pPr>
            <a:r>
              <a:rPr b="0" i="0" lang="en-US" sz="2800" u="none" cap="none" strike="noStrike">
                <a:solidFill>
                  <a:srgbClr val="1F1674"/>
                </a:solidFill>
                <a:latin typeface="Montserrat"/>
                <a:ea typeface="Montserrat"/>
                <a:cs typeface="Montserrat"/>
                <a:sym typeface="Montserrat"/>
              </a:rPr>
              <a:t>La administración de los servicios que se ofrecen a través del cableado será más</a:t>
            </a:r>
            <a:endParaRPr b="0" i="0" sz="12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800"/>
              <a:buFont typeface="Arial"/>
              <a:buNone/>
            </a:pPr>
            <a:r>
              <a:rPr b="0" i="0" lang="en-US" sz="2800" u="none" cap="none" strike="noStrike">
                <a:solidFill>
                  <a:srgbClr val="1F1674"/>
                </a:solidFill>
                <a:latin typeface="Montserrat"/>
                <a:ea typeface="Montserrat"/>
                <a:cs typeface="Montserrat"/>
                <a:sym typeface="Montserrat"/>
              </a:rPr>
              <a:t>fácil de realizar si se tiene una documentación.</a:t>
            </a:r>
            <a:endParaRPr b="0" i="0" sz="1200" u="none" cap="none" strike="noStrike">
              <a:solidFill>
                <a:srgbClr val="000000"/>
              </a:solidFill>
              <a:latin typeface="Arial"/>
              <a:ea typeface="Arial"/>
              <a:cs typeface="Arial"/>
              <a:sym typeface="Arial"/>
            </a:endParaRPr>
          </a:p>
        </p:txBody>
      </p:sp>
      <p:sp>
        <p:nvSpPr>
          <p:cNvPr id="864" name="Google Shape;864;p40"/>
          <p:cNvSpPr txBox="1"/>
          <p:nvPr/>
        </p:nvSpPr>
        <p:spPr>
          <a:xfrm>
            <a:off x="358341" y="318182"/>
            <a:ext cx="17272459" cy="22599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700"/>
              <a:buFont typeface="Arial"/>
              <a:buNone/>
            </a:pPr>
            <a:r>
              <a:rPr b="0" i="0" lang="en-US" sz="4700" u="none" cap="none" strike="noStrike">
                <a:solidFill>
                  <a:srgbClr val="145C8C"/>
                </a:solidFill>
                <a:latin typeface="Arial"/>
                <a:ea typeface="Arial"/>
                <a:cs typeface="Arial"/>
                <a:sym typeface="Arial"/>
              </a:rPr>
              <a:t>ANSI/TIA/EIA-606</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4100"/>
              <a:buFont typeface="Arial"/>
              <a:buNone/>
            </a:pPr>
            <a:r>
              <a:rPr b="0" i="0" lang="en-US" sz="4100" u="none" cap="none" strike="noStrike">
                <a:solidFill>
                  <a:srgbClr val="145C8C"/>
                </a:solidFill>
                <a:latin typeface="Arial"/>
                <a:ea typeface="Arial"/>
                <a:cs typeface="Arial"/>
                <a:sym typeface="Arial"/>
              </a:rPr>
              <a:t>Estándar de Administración para la Infraestructura de Telecomunicaciones de Edificios Comerciales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68" name="Shape 868"/>
        <p:cNvGrpSpPr/>
        <p:nvPr/>
      </p:nvGrpSpPr>
      <p:grpSpPr>
        <a:xfrm>
          <a:off x="0" y="0"/>
          <a:ext cx="0" cy="0"/>
          <a:chOff x="0" y="0"/>
          <a:chExt cx="0" cy="0"/>
        </a:xfrm>
      </p:grpSpPr>
      <p:sp>
        <p:nvSpPr>
          <p:cNvPr id="869" name="Google Shape;869;p41"/>
          <p:cNvSpPr/>
          <p:nvPr/>
        </p:nvSpPr>
        <p:spPr>
          <a:xfrm>
            <a:off x="11432049" y="6579984"/>
            <a:ext cx="3729293" cy="3311881"/>
          </a:xfrm>
          <a:custGeom>
            <a:rect b="b" l="l" r="r" t="t"/>
            <a:pathLst>
              <a:path extrusionOk="0" h="3890558" w="5064103">
                <a:moveTo>
                  <a:pt x="0" y="0"/>
                </a:moveTo>
                <a:lnTo>
                  <a:pt x="5064103" y="0"/>
                </a:lnTo>
                <a:lnTo>
                  <a:pt x="5064103" y="3890558"/>
                </a:lnTo>
                <a:lnTo>
                  <a:pt x="0" y="38905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0" name="Google Shape;870;p41"/>
          <p:cNvSpPr txBox="1"/>
          <p:nvPr/>
        </p:nvSpPr>
        <p:spPr>
          <a:xfrm>
            <a:off x="839948" y="3161077"/>
            <a:ext cx="16419352" cy="31813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Este estándar establece guías para dueños, usuarios finales, consultores, contratistas, diseñadores, instaladores y administradores de la infraestructura de telecomunicaciones y sistemas relacionados.</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3000"/>
              <a:buFont typeface="Arial"/>
              <a:buNone/>
            </a:pPr>
            <a:r>
              <a:t/>
            </a:r>
            <a:endParaRPr b="0" i="0" sz="3000" u="none" cap="none" strike="noStrike">
              <a:solidFill>
                <a:srgbClr val="1F1674"/>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1F1674"/>
                </a:solidFill>
                <a:latin typeface="Montserrat"/>
                <a:ea typeface="Montserrat"/>
                <a:cs typeface="Montserrat"/>
                <a:sym typeface="Montserrat"/>
              </a:rPr>
              <a:t>La administración de los servicios que se ofrecen a través del cableado será más fácil de realizar si se tiene una documentación.</a:t>
            </a:r>
            <a:endParaRPr b="0" i="0" sz="1400" u="none" cap="none" strike="noStrike">
              <a:solidFill>
                <a:srgbClr val="000000"/>
              </a:solidFill>
              <a:latin typeface="Arial"/>
              <a:ea typeface="Arial"/>
              <a:cs typeface="Arial"/>
              <a:sym typeface="Arial"/>
            </a:endParaRPr>
          </a:p>
        </p:txBody>
      </p:sp>
      <p:sp>
        <p:nvSpPr>
          <p:cNvPr id="871" name="Google Shape;871;p41"/>
          <p:cNvSpPr txBox="1"/>
          <p:nvPr/>
        </p:nvSpPr>
        <p:spPr>
          <a:xfrm>
            <a:off x="358341" y="318182"/>
            <a:ext cx="17272459" cy="22599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700"/>
              <a:buFont typeface="Arial"/>
              <a:buNone/>
            </a:pPr>
            <a:r>
              <a:rPr b="0" i="0" lang="en-US" sz="4700" u="none" cap="none" strike="noStrike">
                <a:solidFill>
                  <a:srgbClr val="145C8C"/>
                </a:solidFill>
                <a:latin typeface="Arial"/>
                <a:ea typeface="Arial"/>
                <a:cs typeface="Arial"/>
                <a:sym typeface="Arial"/>
              </a:rPr>
              <a:t>ANSI/TIA/EIA-607</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4100"/>
              <a:buFont typeface="Arial"/>
              <a:buNone/>
            </a:pPr>
            <a:r>
              <a:rPr b="0" i="0" lang="en-US" sz="4100" u="none" cap="none" strike="noStrike">
                <a:solidFill>
                  <a:srgbClr val="145C8C"/>
                </a:solidFill>
                <a:latin typeface="Arial"/>
                <a:ea typeface="Arial"/>
                <a:cs typeface="Arial"/>
                <a:sym typeface="Arial"/>
              </a:rPr>
              <a:t>Requerimientos para Telecomunicaciones de Puesta a Tierra y Puenteado de Edificios Comerciales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875" name="Shape 875"/>
        <p:cNvGrpSpPr/>
        <p:nvPr/>
      </p:nvGrpSpPr>
      <p:grpSpPr>
        <a:xfrm>
          <a:off x="0" y="0"/>
          <a:ext cx="0" cy="0"/>
          <a:chOff x="0" y="0"/>
          <a:chExt cx="0" cy="0"/>
        </a:xfrm>
      </p:grpSpPr>
      <p:sp>
        <p:nvSpPr>
          <p:cNvPr id="876" name="Google Shape;876;p42"/>
          <p:cNvSpPr/>
          <p:nvPr/>
        </p:nvSpPr>
        <p:spPr>
          <a:xfrm flipH="1" rot="-10468950">
            <a:off x="3320382" y="234115"/>
            <a:ext cx="7172064" cy="2026108"/>
          </a:xfrm>
          <a:custGeom>
            <a:rect b="b" l="l" r="r" t="t"/>
            <a:pathLst>
              <a:path extrusionOk="0" h="2026108" w="7172064">
                <a:moveTo>
                  <a:pt x="7172064" y="0"/>
                </a:moveTo>
                <a:lnTo>
                  <a:pt x="0" y="0"/>
                </a:lnTo>
                <a:lnTo>
                  <a:pt x="0" y="2026108"/>
                </a:lnTo>
                <a:lnTo>
                  <a:pt x="7172064" y="2026108"/>
                </a:lnTo>
                <a:lnTo>
                  <a:pt x="7172064"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877" name="Google Shape;877;p42"/>
          <p:cNvGrpSpPr/>
          <p:nvPr/>
        </p:nvGrpSpPr>
        <p:grpSpPr>
          <a:xfrm rot="-182069">
            <a:off x="2624194" y="1635284"/>
            <a:ext cx="6817034" cy="6817034"/>
            <a:chOff x="0" y="0"/>
            <a:chExt cx="812800" cy="812800"/>
          </a:xfrm>
        </p:grpSpPr>
        <p:sp>
          <p:nvSpPr>
            <p:cNvPr id="878" name="Google Shape;878;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63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4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80" name="Google Shape;880;p42"/>
          <p:cNvGrpSpPr/>
          <p:nvPr/>
        </p:nvGrpSpPr>
        <p:grpSpPr>
          <a:xfrm rot="-182069">
            <a:off x="3171294" y="1629937"/>
            <a:ext cx="6609519" cy="6609519"/>
            <a:chOff x="0" y="0"/>
            <a:chExt cx="812800" cy="812800"/>
          </a:xfrm>
        </p:grpSpPr>
        <p:sp>
          <p:nvSpPr>
            <p:cNvPr id="881" name="Google Shape;881;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4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83" name="Google Shape;883;p42"/>
          <p:cNvGrpSpPr/>
          <p:nvPr/>
        </p:nvGrpSpPr>
        <p:grpSpPr>
          <a:xfrm rot="-886328">
            <a:off x="2234838" y="5472307"/>
            <a:ext cx="896087" cy="968527"/>
            <a:chOff x="0" y="-47625"/>
            <a:chExt cx="236006" cy="255085"/>
          </a:xfrm>
        </p:grpSpPr>
        <p:sp>
          <p:nvSpPr>
            <p:cNvPr id="884" name="Google Shape;884;p42"/>
            <p:cNvSpPr/>
            <p:nvPr/>
          </p:nvSpPr>
          <p:spPr>
            <a:xfrm>
              <a:off x="0" y="0"/>
              <a:ext cx="236006" cy="207460"/>
            </a:xfrm>
            <a:custGeom>
              <a:rect b="b" l="l" r="r" t="t"/>
              <a:pathLst>
                <a:path extrusionOk="0" h="207460" w="236006">
                  <a:moveTo>
                    <a:pt x="0" y="0"/>
                  </a:moveTo>
                  <a:lnTo>
                    <a:pt x="236006" y="0"/>
                  </a:lnTo>
                  <a:lnTo>
                    <a:pt x="236006" y="207460"/>
                  </a:lnTo>
                  <a:lnTo>
                    <a:pt x="0" y="207460"/>
                  </a:lnTo>
                  <a:close/>
                </a:path>
              </a:pathLst>
            </a:custGeom>
            <a:solidFill>
              <a:srgbClr val="F2981B"/>
            </a:solidFill>
            <a:ln cap="sq" cmpd="sng" w="171450">
              <a:solidFill>
                <a:srgbClr val="4E639E"/>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5" name="Google Shape;885;p42"/>
            <p:cNvSpPr txBox="1"/>
            <p:nvPr/>
          </p:nvSpPr>
          <p:spPr>
            <a:xfrm>
              <a:off x="0" y="-47625"/>
              <a:ext cx="236006" cy="25508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86" name="Google Shape;886;p42"/>
          <p:cNvGrpSpPr/>
          <p:nvPr/>
        </p:nvGrpSpPr>
        <p:grpSpPr>
          <a:xfrm rot="-738237">
            <a:off x="468910" y="5475585"/>
            <a:ext cx="2101522" cy="1431732"/>
            <a:chOff x="0" y="-47625"/>
            <a:chExt cx="553487" cy="377082"/>
          </a:xfrm>
        </p:grpSpPr>
        <p:sp>
          <p:nvSpPr>
            <p:cNvPr id="887" name="Google Shape;887;p42"/>
            <p:cNvSpPr/>
            <p:nvPr/>
          </p:nvSpPr>
          <p:spPr>
            <a:xfrm>
              <a:off x="0" y="0"/>
              <a:ext cx="553487" cy="329457"/>
            </a:xfrm>
            <a:custGeom>
              <a:rect b="b" l="l" r="r" t="t"/>
              <a:pathLst>
                <a:path extrusionOk="0" h="329457" w="553487">
                  <a:moveTo>
                    <a:pt x="164728" y="0"/>
                  </a:moveTo>
                  <a:lnTo>
                    <a:pt x="388759" y="0"/>
                  </a:lnTo>
                  <a:cubicBezTo>
                    <a:pt x="479736" y="0"/>
                    <a:pt x="553487" y="73751"/>
                    <a:pt x="553487" y="164728"/>
                  </a:cubicBezTo>
                  <a:lnTo>
                    <a:pt x="553487" y="164728"/>
                  </a:lnTo>
                  <a:cubicBezTo>
                    <a:pt x="553487" y="208417"/>
                    <a:pt x="536132" y="250316"/>
                    <a:pt x="505239" y="281209"/>
                  </a:cubicBezTo>
                  <a:cubicBezTo>
                    <a:pt x="474347" y="312101"/>
                    <a:pt x="432448" y="329457"/>
                    <a:pt x="388759" y="329457"/>
                  </a:cubicBezTo>
                  <a:lnTo>
                    <a:pt x="164728" y="329457"/>
                  </a:lnTo>
                  <a:cubicBezTo>
                    <a:pt x="121040" y="329457"/>
                    <a:pt x="79140" y="312101"/>
                    <a:pt x="48248" y="281209"/>
                  </a:cubicBezTo>
                  <a:cubicBezTo>
                    <a:pt x="17355" y="250316"/>
                    <a:pt x="0" y="208417"/>
                    <a:pt x="0" y="164728"/>
                  </a:cubicBezTo>
                  <a:lnTo>
                    <a:pt x="0" y="164728"/>
                  </a:lnTo>
                  <a:cubicBezTo>
                    <a:pt x="0" y="121040"/>
                    <a:pt x="17355" y="79140"/>
                    <a:pt x="48248" y="48248"/>
                  </a:cubicBezTo>
                  <a:cubicBezTo>
                    <a:pt x="79140" y="17355"/>
                    <a:pt x="121040" y="0"/>
                    <a:pt x="164728" y="0"/>
                  </a:cubicBezTo>
                  <a:close/>
                </a:path>
              </a:pathLst>
            </a:custGeom>
            <a:solidFill>
              <a:srgbClr val="7284AE"/>
            </a:solidFill>
            <a:ln cap="rnd" cmpd="sng" w="171450">
              <a:solidFill>
                <a:srgbClr val="4E63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42"/>
            <p:cNvSpPr txBox="1"/>
            <p:nvPr/>
          </p:nvSpPr>
          <p:spPr>
            <a:xfrm>
              <a:off x="0" y="-47625"/>
              <a:ext cx="553487" cy="377082"/>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89" name="Google Shape;889;p42"/>
          <p:cNvSpPr txBox="1"/>
          <p:nvPr/>
        </p:nvSpPr>
        <p:spPr>
          <a:xfrm>
            <a:off x="3381565" y="3672403"/>
            <a:ext cx="12470643" cy="237159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800"/>
              <a:buFont typeface="Arial"/>
              <a:buNone/>
            </a:pPr>
            <a:r>
              <a:rPr b="0" i="0" lang="en-US" sz="7800" u="none" cap="none" strike="noStrike">
                <a:solidFill>
                  <a:srgbClr val="145C8C"/>
                </a:solidFill>
                <a:latin typeface="Arial"/>
                <a:ea typeface="Arial"/>
                <a:cs typeface="Arial"/>
                <a:sym typeface="Arial"/>
              </a:rPr>
              <a:t>MEDIOS DE TRANSMISIÓN</a:t>
            </a:r>
            <a:endParaRPr b="0" i="0" sz="1400" u="none" cap="none" strike="noStrike">
              <a:solidFill>
                <a:srgbClr val="000000"/>
              </a:solidFill>
              <a:latin typeface="Arial"/>
              <a:ea typeface="Arial"/>
              <a:cs typeface="Arial"/>
              <a:sym typeface="Arial"/>
            </a:endParaRPr>
          </a:p>
        </p:txBody>
      </p:sp>
      <p:sp>
        <p:nvSpPr>
          <p:cNvPr id="890" name="Google Shape;890;p42"/>
          <p:cNvSpPr/>
          <p:nvPr/>
        </p:nvSpPr>
        <p:spPr>
          <a:xfrm flipH="1" rot="203365">
            <a:off x="2188179" y="7859559"/>
            <a:ext cx="7172064" cy="2026108"/>
          </a:xfrm>
          <a:custGeom>
            <a:rect b="b" l="l" r="r" t="t"/>
            <a:pathLst>
              <a:path extrusionOk="0" h="2026108" w="7172064">
                <a:moveTo>
                  <a:pt x="0" y="2026108"/>
                </a:moveTo>
                <a:lnTo>
                  <a:pt x="7172064" y="2026108"/>
                </a:lnTo>
                <a:lnTo>
                  <a:pt x="7172064" y="0"/>
                </a:lnTo>
                <a:lnTo>
                  <a:pt x="0" y="0"/>
                </a:lnTo>
                <a:lnTo>
                  <a:pt x="0" y="2026108"/>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1" name="Google Shape;891;p42"/>
          <p:cNvSpPr txBox="1"/>
          <p:nvPr/>
        </p:nvSpPr>
        <p:spPr>
          <a:xfrm>
            <a:off x="11309432" y="8253488"/>
            <a:ext cx="5949868" cy="12096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0" lang="en-US" sz="3999" u="none" cap="none" strike="noStrike">
                <a:solidFill>
                  <a:srgbClr val="1F1674"/>
                </a:solidFill>
                <a:latin typeface="Bebas Neue"/>
                <a:ea typeface="Bebas Neue"/>
                <a:cs typeface="Bebas Neue"/>
                <a:sym typeface="Bebas Neue"/>
              </a:rPr>
              <a:t>LABORATORIO DE REDES DE COMPUTADORAS 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895" name="Shape 895"/>
        <p:cNvGrpSpPr/>
        <p:nvPr/>
      </p:nvGrpSpPr>
      <p:grpSpPr>
        <a:xfrm>
          <a:off x="0" y="0"/>
          <a:ext cx="0" cy="0"/>
          <a:chOff x="0" y="0"/>
          <a:chExt cx="0" cy="0"/>
        </a:xfrm>
      </p:grpSpPr>
      <p:sp>
        <p:nvSpPr>
          <p:cNvPr id="896" name="Google Shape;896;p43"/>
          <p:cNvSpPr/>
          <p:nvPr/>
        </p:nvSpPr>
        <p:spPr>
          <a:xfrm>
            <a:off x="1497120" y="6432643"/>
            <a:ext cx="2951057" cy="2939991"/>
          </a:xfrm>
          <a:custGeom>
            <a:rect b="b" l="l" r="r" t="t"/>
            <a:pathLst>
              <a:path extrusionOk="0" h="2939991" w="2951057">
                <a:moveTo>
                  <a:pt x="0" y="0"/>
                </a:moveTo>
                <a:lnTo>
                  <a:pt x="2951057" y="0"/>
                </a:lnTo>
                <a:lnTo>
                  <a:pt x="2951057" y="2939991"/>
                </a:lnTo>
                <a:lnTo>
                  <a:pt x="0" y="293999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7" name="Google Shape;897;p43"/>
          <p:cNvSpPr/>
          <p:nvPr/>
        </p:nvSpPr>
        <p:spPr>
          <a:xfrm>
            <a:off x="5141995" y="6893417"/>
            <a:ext cx="3897959" cy="2364883"/>
          </a:xfrm>
          <a:custGeom>
            <a:rect b="b" l="l" r="r" t="t"/>
            <a:pathLst>
              <a:path extrusionOk="0" h="2364883" w="3897959">
                <a:moveTo>
                  <a:pt x="0" y="0"/>
                </a:moveTo>
                <a:lnTo>
                  <a:pt x="3897959" y="0"/>
                </a:lnTo>
                <a:lnTo>
                  <a:pt x="3897959" y="2364883"/>
                </a:lnTo>
                <a:lnTo>
                  <a:pt x="0" y="2364883"/>
                </a:lnTo>
                <a:lnTo>
                  <a:pt x="0" y="0"/>
                </a:lnTo>
                <a:close/>
              </a:path>
            </a:pathLst>
          </a:custGeom>
          <a:blipFill rotWithShape="1">
            <a:blip r:embed="rId4">
              <a:alphaModFix/>
            </a:blip>
            <a:stretch>
              <a:fillRect b="0" l="-48422"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8" name="Google Shape;898;p43"/>
          <p:cNvSpPr/>
          <p:nvPr/>
        </p:nvSpPr>
        <p:spPr>
          <a:xfrm>
            <a:off x="10077621" y="5903884"/>
            <a:ext cx="3220643" cy="3220643"/>
          </a:xfrm>
          <a:custGeom>
            <a:rect b="b" l="l" r="r" t="t"/>
            <a:pathLst>
              <a:path extrusionOk="0" h="3220643" w="3220643">
                <a:moveTo>
                  <a:pt x="0" y="0"/>
                </a:moveTo>
                <a:lnTo>
                  <a:pt x="3220643" y="0"/>
                </a:lnTo>
                <a:lnTo>
                  <a:pt x="3220643" y="3220643"/>
                </a:lnTo>
                <a:lnTo>
                  <a:pt x="0" y="32206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9" name="Google Shape;899;p43"/>
          <p:cNvSpPr/>
          <p:nvPr/>
        </p:nvSpPr>
        <p:spPr>
          <a:xfrm>
            <a:off x="14231885" y="6037657"/>
            <a:ext cx="3220643" cy="3220643"/>
          </a:xfrm>
          <a:custGeom>
            <a:rect b="b" l="l" r="r" t="t"/>
            <a:pathLst>
              <a:path extrusionOk="0" h="3220643" w="3220643">
                <a:moveTo>
                  <a:pt x="0" y="0"/>
                </a:moveTo>
                <a:lnTo>
                  <a:pt x="3220643" y="0"/>
                </a:lnTo>
                <a:lnTo>
                  <a:pt x="3220643" y="3220643"/>
                </a:lnTo>
                <a:lnTo>
                  <a:pt x="0" y="3220643"/>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0" name="Google Shape;900;p43"/>
          <p:cNvSpPr/>
          <p:nvPr/>
        </p:nvSpPr>
        <p:spPr>
          <a:xfrm>
            <a:off x="9632069" y="1575541"/>
            <a:ext cx="7820459" cy="3675616"/>
          </a:xfrm>
          <a:custGeom>
            <a:rect b="b" l="l" r="r" t="t"/>
            <a:pathLst>
              <a:path extrusionOk="0" h="3675616" w="7820459">
                <a:moveTo>
                  <a:pt x="0" y="0"/>
                </a:moveTo>
                <a:lnTo>
                  <a:pt x="7820459" y="0"/>
                </a:lnTo>
                <a:lnTo>
                  <a:pt x="7820459" y="3675616"/>
                </a:lnTo>
                <a:lnTo>
                  <a:pt x="0" y="3675616"/>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1" name="Google Shape;901;p43"/>
          <p:cNvSpPr txBox="1"/>
          <p:nvPr/>
        </p:nvSpPr>
        <p:spPr>
          <a:xfrm>
            <a:off x="1715729" y="1214227"/>
            <a:ext cx="5825133" cy="64642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800"/>
              <a:buFont typeface="Arial"/>
              <a:buNone/>
            </a:pPr>
            <a:r>
              <a:rPr b="1" i="0" lang="en-US" sz="3800" u="none" cap="none" strike="noStrike">
                <a:solidFill>
                  <a:srgbClr val="FFFFFF"/>
                </a:solidFill>
                <a:latin typeface="Montserrat"/>
                <a:ea typeface="Montserrat"/>
                <a:cs typeface="Montserrat"/>
                <a:sym typeface="Montserrat"/>
              </a:rPr>
              <a:t>Medios de Transmisión</a:t>
            </a:r>
            <a:endParaRPr b="0" i="0" sz="1400" u="none" cap="none" strike="noStrike">
              <a:solidFill>
                <a:srgbClr val="000000"/>
              </a:solidFill>
              <a:latin typeface="Arial"/>
              <a:ea typeface="Arial"/>
              <a:cs typeface="Arial"/>
              <a:sym typeface="Arial"/>
            </a:endParaRPr>
          </a:p>
        </p:txBody>
      </p:sp>
      <p:sp>
        <p:nvSpPr>
          <p:cNvPr id="902" name="Google Shape;902;p43"/>
          <p:cNvSpPr txBox="1"/>
          <p:nvPr/>
        </p:nvSpPr>
        <p:spPr>
          <a:xfrm>
            <a:off x="2282756" y="2932064"/>
            <a:ext cx="4330843" cy="2211436"/>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167"/>
              <a:buFont typeface="Arial"/>
              <a:buNone/>
            </a:pPr>
            <a:r>
              <a:rPr b="0" i="0" lang="en-US" sz="3167" u="none" cap="none" strike="noStrike">
                <a:solidFill>
                  <a:srgbClr val="FFFFFF"/>
                </a:solidFill>
                <a:latin typeface="Montserrat"/>
                <a:ea typeface="Montserrat"/>
                <a:cs typeface="Montserrat"/>
                <a:sym typeface="Montserrat"/>
              </a:rPr>
              <a:t>Medios de Red</a:t>
            </a:r>
            <a:endParaRPr b="0" i="0" sz="1400" u="none" cap="none" strike="noStrike">
              <a:solidFill>
                <a:srgbClr val="000000"/>
              </a:solidFill>
              <a:latin typeface="Arial"/>
              <a:ea typeface="Arial"/>
              <a:cs typeface="Arial"/>
              <a:sym typeface="Arial"/>
            </a:endParaRPr>
          </a:p>
          <a:p>
            <a:pPr indent="-341888"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Cobre</a:t>
            </a:r>
            <a:endParaRPr b="0" i="0" sz="1400" u="none" cap="none" strike="noStrike">
              <a:solidFill>
                <a:srgbClr val="000000"/>
              </a:solidFill>
              <a:latin typeface="Arial"/>
              <a:ea typeface="Arial"/>
              <a:cs typeface="Arial"/>
              <a:sym typeface="Arial"/>
            </a:endParaRPr>
          </a:p>
          <a:p>
            <a:pPr indent="-341888"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Fibra Óptica</a:t>
            </a:r>
            <a:endParaRPr b="0" i="0" sz="1400" u="none" cap="none" strike="noStrike">
              <a:solidFill>
                <a:srgbClr val="000000"/>
              </a:solidFill>
              <a:latin typeface="Arial"/>
              <a:ea typeface="Arial"/>
              <a:cs typeface="Arial"/>
              <a:sym typeface="Arial"/>
            </a:endParaRPr>
          </a:p>
          <a:p>
            <a:pPr indent="-341888" lvl="1" marL="683779" marR="0" rtl="0" algn="l">
              <a:lnSpc>
                <a:spcPct val="139974"/>
              </a:lnSpc>
              <a:spcBef>
                <a:spcPts val="0"/>
              </a:spcBef>
              <a:spcAft>
                <a:spcPts val="0"/>
              </a:spcAft>
              <a:buClr>
                <a:srgbClr val="FFFFFF"/>
              </a:buClr>
              <a:buSzPts val="3167"/>
              <a:buFont typeface="Arial"/>
              <a:buChar char="•"/>
            </a:pPr>
            <a:r>
              <a:rPr b="0" i="0" lang="en-US" sz="3167" u="none" cap="none" strike="noStrike">
                <a:solidFill>
                  <a:srgbClr val="FFFFFF"/>
                </a:solidFill>
                <a:latin typeface="Montserrat"/>
                <a:ea typeface="Montserrat"/>
                <a:cs typeface="Montserrat"/>
                <a:sym typeface="Montserrat"/>
              </a:rPr>
              <a:t>Inalámbricos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06" name="Shape 906"/>
        <p:cNvGrpSpPr/>
        <p:nvPr/>
      </p:nvGrpSpPr>
      <p:grpSpPr>
        <a:xfrm>
          <a:off x="0" y="0"/>
          <a:ext cx="0" cy="0"/>
          <a:chOff x="0" y="0"/>
          <a:chExt cx="0" cy="0"/>
        </a:xfrm>
      </p:grpSpPr>
      <p:sp>
        <p:nvSpPr>
          <p:cNvPr id="907" name="Google Shape;907;p44"/>
          <p:cNvSpPr txBox="1"/>
          <p:nvPr/>
        </p:nvSpPr>
        <p:spPr>
          <a:xfrm>
            <a:off x="1101828" y="785251"/>
            <a:ext cx="5813061" cy="663436"/>
          </a:xfrm>
          <a:prstGeom prst="rect">
            <a:avLst/>
          </a:prstGeom>
          <a:noFill/>
          <a:ln>
            <a:noFill/>
          </a:ln>
        </p:spPr>
        <p:txBody>
          <a:bodyPr anchorCtr="0" anchor="t" bIns="0" lIns="0" spcFirstLastPara="1" rIns="0" wrap="square" tIns="0">
            <a:spAutoFit/>
          </a:bodyPr>
          <a:lstStyle/>
          <a:p>
            <a:pPr indent="0" lvl="0" marL="0" marR="0" rtl="0" algn="ctr">
              <a:lnSpc>
                <a:spcPct val="139984"/>
              </a:lnSpc>
              <a:spcBef>
                <a:spcPts val="0"/>
              </a:spcBef>
              <a:spcAft>
                <a:spcPts val="0"/>
              </a:spcAft>
              <a:buClr>
                <a:srgbClr val="000000"/>
              </a:buClr>
              <a:buSzPts val="3879"/>
              <a:buFont typeface="Arial"/>
              <a:buNone/>
            </a:pPr>
            <a:r>
              <a:rPr b="1" i="0" lang="en-US" sz="3879" u="none" cap="none" strike="noStrike">
                <a:solidFill>
                  <a:srgbClr val="FFFFFF"/>
                </a:solidFill>
                <a:latin typeface="Montserrat"/>
                <a:ea typeface="Montserrat"/>
                <a:cs typeface="Montserrat"/>
                <a:sym typeface="Montserrat"/>
              </a:rPr>
              <a:t>Cable de Par Trenzado</a:t>
            </a:r>
            <a:endParaRPr b="0" i="0" sz="1400" u="none" cap="none" strike="noStrike">
              <a:solidFill>
                <a:srgbClr val="000000"/>
              </a:solidFill>
              <a:latin typeface="Arial"/>
              <a:ea typeface="Arial"/>
              <a:cs typeface="Arial"/>
              <a:sym typeface="Arial"/>
            </a:endParaRPr>
          </a:p>
        </p:txBody>
      </p:sp>
      <p:sp>
        <p:nvSpPr>
          <p:cNvPr id="908" name="Google Shape;908;p44"/>
          <p:cNvSpPr/>
          <p:nvPr/>
        </p:nvSpPr>
        <p:spPr>
          <a:xfrm>
            <a:off x="4579687" y="2466096"/>
            <a:ext cx="8232196" cy="3869132"/>
          </a:xfrm>
          <a:custGeom>
            <a:rect b="b" l="l" r="r" t="t"/>
            <a:pathLst>
              <a:path extrusionOk="0" h="3869132" w="8232196">
                <a:moveTo>
                  <a:pt x="0" y="0"/>
                </a:moveTo>
                <a:lnTo>
                  <a:pt x="8232196" y="0"/>
                </a:lnTo>
                <a:lnTo>
                  <a:pt x="8232196" y="3869132"/>
                </a:lnTo>
                <a:lnTo>
                  <a:pt x="0" y="386913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9" name="Google Shape;909;p44"/>
          <p:cNvSpPr txBox="1"/>
          <p:nvPr/>
        </p:nvSpPr>
        <p:spPr>
          <a:xfrm>
            <a:off x="939518" y="6780809"/>
            <a:ext cx="16039999" cy="2076935"/>
          </a:xfrm>
          <a:prstGeom prst="rect">
            <a:avLst/>
          </a:prstGeom>
          <a:noFill/>
          <a:ln>
            <a:noFill/>
          </a:ln>
        </p:spPr>
        <p:txBody>
          <a:bodyPr anchorCtr="0" anchor="t" bIns="0" lIns="0" spcFirstLastPara="1" rIns="0" wrap="square" tIns="0">
            <a:spAutoFit/>
          </a:bodyPr>
          <a:lstStyle/>
          <a:p>
            <a:pPr indent="0" lvl="0" marL="0" marR="0" rtl="0" algn="just">
              <a:lnSpc>
                <a:spcPct val="140033"/>
              </a:lnSpc>
              <a:spcBef>
                <a:spcPts val="0"/>
              </a:spcBef>
              <a:spcAft>
                <a:spcPts val="0"/>
              </a:spcAft>
              <a:buClr>
                <a:srgbClr val="000000"/>
              </a:buClr>
              <a:buSzPts val="2980"/>
              <a:buFont typeface="Arial"/>
              <a:buNone/>
            </a:pPr>
            <a:r>
              <a:rPr b="0" i="0" lang="en-US" sz="2980" u="none" cap="none" strike="noStrike">
                <a:solidFill>
                  <a:srgbClr val="FFFFFF"/>
                </a:solidFill>
                <a:latin typeface="Montserrat"/>
                <a:ea typeface="Montserrat"/>
                <a:cs typeface="Montserrat"/>
                <a:sym typeface="Montserrat"/>
              </a:rPr>
              <a:t>Es un tipo de cable que tiene dos conductores eléctricos aislados y entrelazados para anular las interferencias de fuentes externas y diafonía (Perturbación electromagnética producida en un canal de comunicación por el acoplamiento de este con otro u otros vecinos.) de los cables.</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13" name="Shape 913"/>
        <p:cNvGrpSpPr/>
        <p:nvPr/>
      </p:nvGrpSpPr>
      <p:grpSpPr>
        <a:xfrm>
          <a:off x="0" y="0"/>
          <a:ext cx="0" cy="0"/>
          <a:chOff x="0" y="0"/>
          <a:chExt cx="0" cy="0"/>
        </a:xfrm>
      </p:grpSpPr>
      <p:sp>
        <p:nvSpPr>
          <p:cNvPr id="914" name="Google Shape;914;p45"/>
          <p:cNvSpPr/>
          <p:nvPr/>
        </p:nvSpPr>
        <p:spPr>
          <a:xfrm>
            <a:off x="7115754" y="962619"/>
            <a:ext cx="9861136" cy="8295681"/>
          </a:xfrm>
          <a:custGeom>
            <a:rect b="b" l="l" r="r" t="t"/>
            <a:pathLst>
              <a:path extrusionOk="0" h="8295681" w="9861136">
                <a:moveTo>
                  <a:pt x="0" y="0"/>
                </a:moveTo>
                <a:lnTo>
                  <a:pt x="9861136" y="0"/>
                </a:lnTo>
                <a:lnTo>
                  <a:pt x="9861136" y="8295681"/>
                </a:lnTo>
                <a:lnTo>
                  <a:pt x="0" y="829568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5" name="Google Shape;915;p45"/>
          <p:cNvSpPr txBox="1"/>
          <p:nvPr/>
        </p:nvSpPr>
        <p:spPr>
          <a:xfrm>
            <a:off x="1561234" y="3574871"/>
            <a:ext cx="3097609" cy="262582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FFFF"/>
                </a:solidFill>
                <a:latin typeface="Montserrat"/>
                <a:ea typeface="Montserrat"/>
                <a:cs typeface="Montserrat"/>
                <a:sym typeface="Montserrat"/>
              </a:rPr>
              <a:t>Cable de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FFFF"/>
                </a:solidFill>
                <a:latin typeface="Montserrat"/>
                <a:ea typeface="Montserrat"/>
                <a:cs typeface="Montserrat"/>
                <a:sym typeface="Montserrat"/>
              </a:rPr>
              <a:t>Par</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rgbClr val="FFFFFF"/>
                </a:solidFill>
                <a:latin typeface="Montserrat"/>
                <a:ea typeface="Montserrat"/>
                <a:cs typeface="Montserrat"/>
                <a:sym typeface="Montserrat"/>
              </a:rPr>
              <a:t>Trenzado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19" name="Shape 919"/>
        <p:cNvGrpSpPr/>
        <p:nvPr/>
      </p:nvGrpSpPr>
      <p:grpSpPr>
        <a:xfrm>
          <a:off x="0" y="0"/>
          <a:ext cx="0" cy="0"/>
          <a:chOff x="0" y="0"/>
          <a:chExt cx="0" cy="0"/>
        </a:xfrm>
      </p:grpSpPr>
      <p:sp>
        <p:nvSpPr>
          <p:cNvPr id="920" name="Google Shape;920;p46"/>
          <p:cNvSpPr/>
          <p:nvPr/>
        </p:nvSpPr>
        <p:spPr>
          <a:xfrm>
            <a:off x="4270167" y="5232682"/>
            <a:ext cx="9325537" cy="4662768"/>
          </a:xfrm>
          <a:custGeom>
            <a:rect b="b" l="l" r="r" t="t"/>
            <a:pathLst>
              <a:path extrusionOk="0" h="4662768" w="9325537">
                <a:moveTo>
                  <a:pt x="0" y="0"/>
                </a:moveTo>
                <a:lnTo>
                  <a:pt x="9325537" y="0"/>
                </a:lnTo>
                <a:lnTo>
                  <a:pt x="9325537" y="4662768"/>
                </a:lnTo>
                <a:lnTo>
                  <a:pt x="0" y="46627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1" name="Google Shape;921;p46"/>
          <p:cNvSpPr txBox="1"/>
          <p:nvPr/>
        </p:nvSpPr>
        <p:spPr>
          <a:xfrm>
            <a:off x="906335" y="962025"/>
            <a:ext cx="12367213" cy="681405"/>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Copper Straight-Through (ST) - Cable de red directo:</a:t>
            </a:r>
            <a:endParaRPr b="0" i="0" sz="1400" u="none" cap="none" strike="noStrike">
              <a:solidFill>
                <a:srgbClr val="000000"/>
              </a:solidFill>
              <a:latin typeface="Arial"/>
              <a:ea typeface="Arial"/>
              <a:cs typeface="Arial"/>
              <a:sym typeface="Arial"/>
            </a:endParaRPr>
          </a:p>
        </p:txBody>
      </p:sp>
      <p:sp>
        <p:nvSpPr>
          <p:cNvPr id="922" name="Google Shape;922;p46"/>
          <p:cNvSpPr txBox="1"/>
          <p:nvPr/>
        </p:nvSpPr>
        <p:spPr>
          <a:xfrm>
            <a:off x="906335" y="1878817"/>
            <a:ext cx="16960923" cy="3619452"/>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Se utiliza para conectar dispositivos diferentes, como un ordenador a un switch o un router a un switch. </a:t>
            </a:r>
            <a:endParaRPr b="0" i="0" sz="1200" u="none" cap="none" strike="noStrike">
              <a:solidFill>
                <a:srgbClr val="000000"/>
              </a:solidFill>
              <a:latin typeface="Arial"/>
              <a:ea typeface="Arial"/>
              <a:cs typeface="Arial"/>
              <a:sym typeface="Arial"/>
            </a:endParaRPr>
          </a:p>
          <a:p>
            <a:pPr indent="0" lvl="0" marL="0" marR="0" rtl="0" algn="just">
              <a:lnSpc>
                <a:spcPct val="140015"/>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En un cable ST, los pines en un extremo del cable están conectados de la misma manera que en el otro extremo. Por ejemplo, el pin 1 en un extremo está conectado al pin 1 en el otro extremo.</a:t>
            </a:r>
            <a:endParaRPr b="0" i="0" sz="1200" u="none" cap="none" strike="noStrike">
              <a:solidFill>
                <a:srgbClr val="000000"/>
              </a:solidFill>
              <a:latin typeface="Arial"/>
              <a:ea typeface="Arial"/>
              <a:cs typeface="Arial"/>
              <a:sym typeface="Arial"/>
            </a:endParaRPr>
          </a:p>
          <a:p>
            <a:pPr indent="0" lvl="0" marL="0" marR="0" rtl="0" algn="just">
              <a:lnSpc>
                <a:spcPct val="140015"/>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En resumen, el cable ST se usa para conectar dispositivos diferentes y mantener la secuencia de pines igual en ambos extremos.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26" name="Shape 926"/>
        <p:cNvGrpSpPr/>
        <p:nvPr/>
      </p:nvGrpSpPr>
      <p:grpSpPr>
        <a:xfrm>
          <a:off x="0" y="0"/>
          <a:ext cx="0" cy="0"/>
          <a:chOff x="0" y="0"/>
          <a:chExt cx="0" cy="0"/>
        </a:xfrm>
      </p:grpSpPr>
      <p:sp>
        <p:nvSpPr>
          <p:cNvPr id="927" name="Google Shape;927;p47"/>
          <p:cNvSpPr/>
          <p:nvPr/>
        </p:nvSpPr>
        <p:spPr>
          <a:xfrm>
            <a:off x="4796342" y="5397218"/>
            <a:ext cx="8695317" cy="4347658"/>
          </a:xfrm>
          <a:custGeom>
            <a:rect b="b" l="l" r="r" t="t"/>
            <a:pathLst>
              <a:path extrusionOk="0" h="4347658" w="8695317">
                <a:moveTo>
                  <a:pt x="0" y="0"/>
                </a:moveTo>
                <a:lnTo>
                  <a:pt x="8695316" y="0"/>
                </a:lnTo>
                <a:lnTo>
                  <a:pt x="8695316" y="4347658"/>
                </a:lnTo>
                <a:lnTo>
                  <a:pt x="0" y="43476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7"/>
          <p:cNvSpPr txBox="1"/>
          <p:nvPr/>
        </p:nvSpPr>
        <p:spPr>
          <a:xfrm>
            <a:off x="663537" y="740170"/>
            <a:ext cx="10943443" cy="681405"/>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Copper Crossover (CO) - Cable de red cruzado:</a:t>
            </a:r>
            <a:endParaRPr b="0" i="0" sz="1400" u="none" cap="none" strike="noStrike">
              <a:solidFill>
                <a:srgbClr val="000000"/>
              </a:solidFill>
              <a:latin typeface="Arial"/>
              <a:ea typeface="Arial"/>
              <a:cs typeface="Arial"/>
              <a:sym typeface="Arial"/>
            </a:endParaRPr>
          </a:p>
        </p:txBody>
      </p:sp>
      <p:sp>
        <p:nvSpPr>
          <p:cNvPr id="929" name="Google Shape;929;p47"/>
          <p:cNvSpPr txBox="1"/>
          <p:nvPr/>
        </p:nvSpPr>
        <p:spPr>
          <a:xfrm>
            <a:off x="663538" y="1579493"/>
            <a:ext cx="16960923" cy="3533275"/>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utiliza para conectar dispositivos iguales, como dos computadoras, o dos switches entre sí, sin necesidad de un dispositivo intermediario como un switch.</a:t>
            </a:r>
            <a:endParaRPr b="0" i="0" sz="1100" u="none" cap="none" strike="noStrike">
              <a:solidFill>
                <a:srgbClr val="000000"/>
              </a:solidFill>
              <a:latin typeface="Arial"/>
              <a:ea typeface="Arial"/>
              <a:cs typeface="Arial"/>
              <a:sym typeface="Arial"/>
            </a:endParaRPr>
          </a:p>
          <a:p>
            <a:pPr indent="0" lvl="0" marL="0" marR="0" rtl="0" algn="just">
              <a:lnSpc>
                <a:spcPct val="140015"/>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En un cable CO, los pines están cruzados, es decir, el pin 1 en un extremo está conectado al pin 3 en el otro extremo, y viceversa. Esto permite que los dispositivos iguales puedan comunicarse correctamente.</a:t>
            </a:r>
            <a:endParaRPr b="0" i="0" sz="1100" u="none" cap="none" strike="noStrike">
              <a:solidFill>
                <a:srgbClr val="000000"/>
              </a:solidFill>
              <a:latin typeface="Arial"/>
              <a:ea typeface="Arial"/>
              <a:cs typeface="Arial"/>
              <a:sym typeface="Arial"/>
            </a:endParaRPr>
          </a:p>
          <a:p>
            <a:pPr indent="0" lvl="0" marL="0" marR="0" rtl="0" algn="just">
              <a:lnSpc>
                <a:spcPct val="140015"/>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a:p>
            <a:pPr indent="0" lvl="0" marL="0" marR="0" rtl="0" algn="just">
              <a:lnSpc>
                <a:spcPct val="140015"/>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En resumen, el cable CO se usa para conectar dispositivos iguales y cruzar la</a:t>
            </a:r>
            <a:endParaRPr b="0" i="0" sz="1100" u="none" cap="none" strike="noStrike">
              <a:solidFill>
                <a:srgbClr val="000000"/>
              </a:solidFill>
              <a:latin typeface="Arial"/>
              <a:ea typeface="Arial"/>
              <a:cs typeface="Arial"/>
              <a:sym typeface="Arial"/>
            </a:endParaRPr>
          </a:p>
          <a:p>
            <a:pPr indent="0" lvl="0" marL="0" marR="0" rtl="0" algn="just">
              <a:lnSpc>
                <a:spcPct val="140015"/>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secuencia de pines para que puedan comunicarse directamente.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33" name="Shape 933"/>
        <p:cNvGrpSpPr/>
        <p:nvPr/>
      </p:nvGrpSpPr>
      <p:grpSpPr>
        <a:xfrm>
          <a:off x="0" y="0"/>
          <a:ext cx="0" cy="0"/>
          <a:chOff x="0" y="0"/>
          <a:chExt cx="0" cy="0"/>
        </a:xfrm>
      </p:grpSpPr>
      <p:sp>
        <p:nvSpPr>
          <p:cNvPr id="934" name="Google Shape;934;p48"/>
          <p:cNvSpPr txBox="1"/>
          <p:nvPr/>
        </p:nvSpPr>
        <p:spPr>
          <a:xfrm>
            <a:off x="827286" y="981075"/>
            <a:ext cx="8117748" cy="4388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Serial DCE (Data Communications Equipment):</a:t>
            </a:r>
            <a:endParaRPr b="0" i="0" sz="1400" u="none" cap="none" strike="noStrike">
              <a:solidFill>
                <a:srgbClr val="000000"/>
              </a:solidFill>
              <a:latin typeface="Arial"/>
              <a:ea typeface="Arial"/>
              <a:cs typeface="Arial"/>
              <a:sym typeface="Arial"/>
            </a:endParaRPr>
          </a:p>
        </p:txBody>
      </p:sp>
      <p:sp>
        <p:nvSpPr>
          <p:cNvPr id="935" name="Google Shape;935;p48"/>
          <p:cNvSpPr txBox="1"/>
          <p:nvPr/>
        </p:nvSpPr>
        <p:spPr>
          <a:xfrm>
            <a:off x="827286" y="1626029"/>
            <a:ext cx="16687803" cy="2267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Este tipo de cable se utiliza para conectar un dispositivo que actúa como equipo de comunicaciones de datos (DCE). Los dispositivos DCE son aquellos que proporcionan reloj de sincronización a la línea de comunicación.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el contexto de Packet Tracer, un router podría ser un ejemplo de un dispositivo DCE. Los routers suelen generar la señal de reloj y actúan como el equipo de comunicaciones de datos.</a:t>
            </a:r>
            <a:endParaRPr b="0" i="0" sz="1400" u="none" cap="none" strike="noStrike">
              <a:solidFill>
                <a:srgbClr val="000000"/>
              </a:solidFill>
              <a:latin typeface="Arial"/>
              <a:ea typeface="Arial"/>
              <a:cs typeface="Arial"/>
              <a:sym typeface="Arial"/>
            </a:endParaRPr>
          </a:p>
        </p:txBody>
      </p:sp>
      <p:sp>
        <p:nvSpPr>
          <p:cNvPr id="936" name="Google Shape;936;p48"/>
          <p:cNvSpPr txBox="1"/>
          <p:nvPr/>
        </p:nvSpPr>
        <p:spPr>
          <a:xfrm>
            <a:off x="827286" y="5291070"/>
            <a:ext cx="7284327" cy="5601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600"/>
              <a:buFont typeface="Arial"/>
              <a:buNone/>
            </a:pPr>
            <a:r>
              <a:rPr b="1" i="0" lang="en-US" sz="2600" u="none" cap="none" strike="noStrike">
                <a:solidFill>
                  <a:srgbClr val="FFFFFF"/>
                </a:solidFill>
                <a:latin typeface="Montserrat"/>
                <a:ea typeface="Montserrat"/>
                <a:cs typeface="Montserrat"/>
                <a:sym typeface="Montserrat"/>
              </a:rPr>
              <a:t>Serial DTE (Data Terminal Equipment):</a:t>
            </a:r>
            <a:endParaRPr b="0" i="0" sz="1400" u="none" cap="none" strike="noStrike">
              <a:solidFill>
                <a:srgbClr val="000000"/>
              </a:solidFill>
              <a:latin typeface="Arial"/>
              <a:ea typeface="Arial"/>
              <a:cs typeface="Arial"/>
              <a:sym typeface="Arial"/>
            </a:endParaRPr>
          </a:p>
        </p:txBody>
      </p:sp>
      <p:sp>
        <p:nvSpPr>
          <p:cNvPr id="937" name="Google Shape;937;p48"/>
          <p:cNvSpPr txBox="1"/>
          <p:nvPr/>
        </p:nvSpPr>
        <p:spPr>
          <a:xfrm>
            <a:off x="827286" y="5939438"/>
            <a:ext cx="16432014" cy="2724983"/>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Este tipo de cable se utiliza para conectar un dispositivo que actúa como terminal de equipos de datos (DTE). Los dispositivos DTE son aquellos que utilizan el reloj proporcionado por el DCE para sincronizar la comunicación.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Packet Tracer, un ordenador o un switch podrían ser ejemplos de dispositivos DTE. Estos dispositivos normalmente se sincronizan con el reloj proporcionado por el DCE para garantizar una comunicación eficiente.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41" name="Shape 941"/>
        <p:cNvGrpSpPr/>
        <p:nvPr/>
      </p:nvGrpSpPr>
      <p:grpSpPr>
        <a:xfrm>
          <a:off x="0" y="0"/>
          <a:ext cx="0" cy="0"/>
          <a:chOff x="0" y="0"/>
          <a:chExt cx="0" cy="0"/>
        </a:xfrm>
      </p:grpSpPr>
      <p:sp>
        <p:nvSpPr>
          <p:cNvPr id="942" name="Google Shape;942;p49"/>
          <p:cNvSpPr/>
          <p:nvPr/>
        </p:nvSpPr>
        <p:spPr>
          <a:xfrm>
            <a:off x="2542095" y="1965021"/>
            <a:ext cx="12493176" cy="7027411"/>
          </a:xfrm>
          <a:custGeom>
            <a:rect b="b" l="l" r="r" t="t"/>
            <a:pathLst>
              <a:path extrusionOk="0" h="7027411" w="12493176">
                <a:moveTo>
                  <a:pt x="0" y="0"/>
                </a:moveTo>
                <a:lnTo>
                  <a:pt x="12493176" y="0"/>
                </a:lnTo>
                <a:lnTo>
                  <a:pt x="12493176" y="7027411"/>
                </a:lnTo>
                <a:lnTo>
                  <a:pt x="0" y="702741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3" name="Google Shape;943;p49"/>
          <p:cNvSpPr txBox="1"/>
          <p:nvPr/>
        </p:nvSpPr>
        <p:spPr>
          <a:xfrm>
            <a:off x="1028700" y="971550"/>
            <a:ext cx="7369308" cy="51441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47" name="Shape 947"/>
        <p:cNvGrpSpPr/>
        <p:nvPr/>
      </p:nvGrpSpPr>
      <p:grpSpPr>
        <a:xfrm>
          <a:off x="0" y="0"/>
          <a:ext cx="0" cy="0"/>
          <a:chOff x="0" y="0"/>
          <a:chExt cx="0" cy="0"/>
        </a:xfrm>
      </p:grpSpPr>
      <p:sp>
        <p:nvSpPr>
          <p:cNvPr id="948" name="Google Shape;948;p50"/>
          <p:cNvSpPr txBox="1"/>
          <p:nvPr/>
        </p:nvSpPr>
        <p:spPr>
          <a:xfrm>
            <a:off x="735376" y="675990"/>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Clr>
                <a:srgbClr val="000000"/>
              </a:buClr>
              <a:buSzPts val="3753"/>
              <a:buFont typeface="Arial"/>
              <a:buNone/>
            </a:pPr>
            <a:r>
              <a:rPr b="1" i="0" lang="en-US" sz="3753"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
        <p:nvSpPr>
          <p:cNvPr id="949" name="Google Shape;949;p50"/>
          <p:cNvSpPr txBox="1"/>
          <p:nvPr/>
        </p:nvSpPr>
        <p:spPr>
          <a:xfrm>
            <a:off x="1364546" y="2320311"/>
            <a:ext cx="2708108" cy="546896"/>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Clr>
                <a:srgbClr val="000000"/>
              </a:buClr>
              <a:buSzPts val="3218"/>
              <a:buFont typeface="Arial"/>
              <a:buNone/>
            </a:pPr>
            <a:r>
              <a:rPr b="1" i="0" lang="en-US" sz="3218" u="none" cap="none" strike="noStrike">
                <a:solidFill>
                  <a:srgbClr val="FFFFFF"/>
                </a:solidFill>
                <a:latin typeface="Montserrat"/>
                <a:ea typeface="Montserrat"/>
                <a:cs typeface="Montserrat"/>
                <a:sym typeface="Montserrat"/>
              </a:rPr>
              <a:t>Categoría 1</a:t>
            </a:r>
            <a:endParaRPr b="0" i="0" sz="1400" u="none" cap="none" strike="noStrike">
              <a:solidFill>
                <a:srgbClr val="000000"/>
              </a:solidFill>
              <a:latin typeface="Arial"/>
              <a:ea typeface="Arial"/>
              <a:cs typeface="Arial"/>
              <a:sym typeface="Arial"/>
            </a:endParaRPr>
          </a:p>
        </p:txBody>
      </p:sp>
      <p:sp>
        <p:nvSpPr>
          <p:cNvPr id="950" name="Google Shape;950;p50"/>
          <p:cNvSpPr txBox="1"/>
          <p:nvPr/>
        </p:nvSpPr>
        <p:spPr>
          <a:xfrm>
            <a:off x="1455754" y="3010082"/>
            <a:ext cx="16139392" cy="1063159"/>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Clr>
                <a:srgbClr val="000000"/>
              </a:buClr>
              <a:buSzPts val="3051"/>
              <a:buFont typeface="Arial"/>
              <a:buNone/>
            </a:pPr>
            <a:r>
              <a:rPr b="0" i="0" lang="en-US" sz="3051" u="none" cap="none" strike="noStrike">
                <a:solidFill>
                  <a:srgbClr val="FFFFFF"/>
                </a:solidFill>
                <a:latin typeface="Montserrat"/>
                <a:ea typeface="Montserrat"/>
                <a:cs typeface="Montserrat"/>
                <a:sym typeface="Montserrat"/>
              </a:rPr>
              <a:t>El cable CAT 1 o categoría 1, es el más adecuado para las comunicaciones telefónicas. No es adecuado para transmitir datos o para trabajarlos en una red.</a:t>
            </a:r>
            <a:endParaRPr b="0" i="0" sz="1400" u="none" cap="none" strike="noStrike">
              <a:solidFill>
                <a:srgbClr val="000000"/>
              </a:solidFill>
              <a:latin typeface="Arial"/>
              <a:ea typeface="Arial"/>
              <a:cs typeface="Arial"/>
              <a:sym typeface="Arial"/>
            </a:endParaRPr>
          </a:p>
        </p:txBody>
      </p:sp>
      <p:sp>
        <p:nvSpPr>
          <p:cNvPr id="951" name="Google Shape;951;p50"/>
          <p:cNvSpPr txBox="1"/>
          <p:nvPr/>
        </p:nvSpPr>
        <p:spPr>
          <a:xfrm>
            <a:off x="1364546" y="4831389"/>
            <a:ext cx="2748931" cy="546896"/>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Clr>
                <a:srgbClr val="000000"/>
              </a:buClr>
              <a:buSzPts val="3218"/>
              <a:buFont typeface="Arial"/>
              <a:buNone/>
            </a:pPr>
            <a:r>
              <a:rPr b="1" i="0" lang="en-US" sz="3218" u="none" cap="none" strike="noStrike">
                <a:solidFill>
                  <a:srgbClr val="FFFFFF"/>
                </a:solidFill>
                <a:latin typeface="Montserrat"/>
                <a:ea typeface="Montserrat"/>
                <a:cs typeface="Montserrat"/>
                <a:sym typeface="Montserrat"/>
              </a:rPr>
              <a:t>Categoría 2</a:t>
            </a:r>
            <a:endParaRPr b="0" i="0" sz="1400" u="none" cap="none" strike="noStrike">
              <a:solidFill>
                <a:srgbClr val="000000"/>
              </a:solidFill>
              <a:latin typeface="Arial"/>
              <a:ea typeface="Arial"/>
              <a:cs typeface="Arial"/>
              <a:sym typeface="Arial"/>
            </a:endParaRPr>
          </a:p>
        </p:txBody>
      </p:sp>
      <p:sp>
        <p:nvSpPr>
          <p:cNvPr id="952" name="Google Shape;952;p50"/>
          <p:cNvSpPr txBox="1"/>
          <p:nvPr/>
        </p:nvSpPr>
        <p:spPr>
          <a:xfrm>
            <a:off x="1417546" y="5521160"/>
            <a:ext cx="15983679" cy="3180054"/>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Clr>
                <a:srgbClr val="000000"/>
              </a:buClr>
              <a:buSzPts val="3051"/>
              <a:buFont typeface="Arial"/>
              <a:buNone/>
            </a:pPr>
            <a:r>
              <a:rPr b="0" i="0" lang="en-US" sz="3051" u="none" cap="none" strike="noStrike">
                <a:solidFill>
                  <a:srgbClr val="FFFFFF"/>
                </a:solidFill>
                <a:latin typeface="Montserrat"/>
                <a:ea typeface="Montserrat"/>
                <a:cs typeface="Montserrat"/>
                <a:sym typeface="Montserrat"/>
              </a:rPr>
              <a:t>El cable categoría 2, o CAT 2, es capaz de transmitir datos de hasta 4 Mbps. Se trata de cable nivel 2 y se usó en las redes ARCnet (arco de red) y Token Ring (configuración de anillo) hace algún tiempo.</a:t>
            </a:r>
            <a:endParaRPr b="0" i="0" sz="1400" u="none" cap="none" strike="noStrike">
              <a:solidFill>
                <a:srgbClr val="000000"/>
              </a:solidFill>
              <a:latin typeface="Arial"/>
              <a:ea typeface="Arial"/>
              <a:cs typeface="Arial"/>
              <a:sym typeface="Arial"/>
            </a:endParaRPr>
          </a:p>
          <a:p>
            <a:pPr indent="0" lvl="0" marL="0" marR="0" rtl="0" algn="just">
              <a:lnSpc>
                <a:spcPct val="139986"/>
              </a:lnSpc>
              <a:spcBef>
                <a:spcPts val="0"/>
              </a:spcBef>
              <a:spcAft>
                <a:spcPts val="0"/>
              </a:spcAft>
              <a:buClr>
                <a:srgbClr val="000000"/>
              </a:buClr>
              <a:buSzPts val="3051"/>
              <a:buFont typeface="Arial"/>
              <a:buNone/>
            </a:pPr>
            <a:r>
              <a:t/>
            </a:r>
            <a:endParaRPr b="0" i="0" sz="3051" u="none" cap="none" strike="noStrike">
              <a:solidFill>
                <a:srgbClr val="FFFFFF"/>
              </a:solidFill>
              <a:latin typeface="Montserrat"/>
              <a:ea typeface="Montserrat"/>
              <a:cs typeface="Montserrat"/>
              <a:sym typeface="Montserrat"/>
            </a:endParaRPr>
          </a:p>
          <a:p>
            <a:pPr indent="0" lvl="0" marL="0" marR="0" rtl="0" algn="just">
              <a:lnSpc>
                <a:spcPct val="139986"/>
              </a:lnSpc>
              <a:spcBef>
                <a:spcPts val="0"/>
              </a:spcBef>
              <a:spcAft>
                <a:spcPts val="0"/>
              </a:spcAft>
              <a:buClr>
                <a:srgbClr val="000000"/>
              </a:buClr>
              <a:buSzPts val="3051"/>
              <a:buFont typeface="Arial"/>
              <a:buNone/>
            </a:pPr>
            <a:r>
              <a:rPr b="0" i="0" lang="en-US" sz="3051" u="none" cap="none" strike="noStrike">
                <a:solidFill>
                  <a:srgbClr val="FFFFFF"/>
                </a:solidFill>
                <a:latin typeface="Montserrat"/>
                <a:ea typeface="Montserrat"/>
                <a:cs typeface="Montserrat"/>
                <a:sym typeface="Montserrat"/>
              </a:rPr>
              <a:t>El CAT 2 al igual que el CAT 1, no es adecuado para la transmisión de datos en una red.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56" name="Shape 956"/>
        <p:cNvGrpSpPr/>
        <p:nvPr/>
      </p:nvGrpSpPr>
      <p:grpSpPr>
        <a:xfrm>
          <a:off x="0" y="0"/>
          <a:ext cx="0" cy="0"/>
          <a:chOff x="0" y="0"/>
          <a:chExt cx="0" cy="0"/>
        </a:xfrm>
      </p:grpSpPr>
      <p:sp>
        <p:nvSpPr>
          <p:cNvPr id="957" name="Google Shape;957;p51"/>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Clr>
                <a:srgbClr val="000000"/>
              </a:buClr>
              <a:buSzPts val="3753"/>
              <a:buFont typeface="Arial"/>
              <a:buNone/>
            </a:pPr>
            <a:r>
              <a:rPr b="1" i="0" lang="en-US" sz="3753"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
        <p:nvSpPr>
          <p:cNvPr id="958" name="Google Shape;958;p51"/>
          <p:cNvSpPr txBox="1"/>
          <p:nvPr/>
        </p:nvSpPr>
        <p:spPr>
          <a:xfrm>
            <a:off x="1028700" y="2166957"/>
            <a:ext cx="2408535"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3</a:t>
            </a:r>
            <a:endParaRPr b="0" i="0" sz="1400" u="none" cap="none" strike="noStrike">
              <a:solidFill>
                <a:srgbClr val="000000"/>
              </a:solidFill>
              <a:latin typeface="Arial"/>
              <a:ea typeface="Arial"/>
              <a:cs typeface="Arial"/>
              <a:sym typeface="Arial"/>
            </a:endParaRPr>
          </a:p>
        </p:txBody>
      </p:sp>
      <p:sp>
        <p:nvSpPr>
          <p:cNvPr id="959" name="Google Shape;959;p51"/>
          <p:cNvSpPr txBox="1"/>
          <p:nvPr/>
        </p:nvSpPr>
        <p:spPr>
          <a:xfrm>
            <a:off x="1028700" y="3150319"/>
            <a:ext cx="16624797"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3, o CAT 3, es un par trenzado, sin blindar, capaz de llevar a la creación de redes 100BASE-T y puede ayudar a la transmisión de datos de hasta 16MHz con una velocidad de hasta 10 Mbps. No se recomienda su uso con las instalaciones nuevas de redes.</a:t>
            </a:r>
            <a:endParaRPr b="0" i="0" sz="1400" u="none" cap="none" strike="noStrike">
              <a:solidFill>
                <a:srgbClr val="000000"/>
              </a:solidFill>
              <a:latin typeface="Arial"/>
              <a:ea typeface="Arial"/>
              <a:cs typeface="Arial"/>
              <a:sym typeface="Arial"/>
            </a:endParaRPr>
          </a:p>
        </p:txBody>
      </p:sp>
      <p:sp>
        <p:nvSpPr>
          <p:cNvPr id="960" name="Google Shape;960;p51"/>
          <p:cNvSpPr txBox="1"/>
          <p:nvPr/>
        </p:nvSpPr>
        <p:spPr>
          <a:xfrm>
            <a:off x="1028700" y="6043654"/>
            <a:ext cx="2447561"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4</a:t>
            </a:r>
            <a:endParaRPr b="0" i="0" sz="1400" u="none" cap="none" strike="noStrike">
              <a:solidFill>
                <a:srgbClr val="000000"/>
              </a:solidFill>
              <a:latin typeface="Arial"/>
              <a:ea typeface="Arial"/>
              <a:cs typeface="Arial"/>
              <a:sym typeface="Arial"/>
            </a:endParaRPr>
          </a:p>
        </p:txBody>
      </p:sp>
      <p:sp>
        <p:nvSpPr>
          <p:cNvPr id="961" name="Google Shape;961;p51"/>
          <p:cNvSpPr txBox="1"/>
          <p:nvPr/>
        </p:nvSpPr>
        <p:spPr>
          <a:xfrm>
            <a:off x="1028700" y="6808813"/>
            <a:ext cx="16873913"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4, o CAT 4, es un par trenzado sin blindar que soporta transmisiones de hasta 20MHz. Es confiable para la transmisión de datos por encima del CAT 3 y puede llegar a transmitir hasta 16 Mbps. Se utiliza sobre todo en las redes Token 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65" name="Shape 965"/>
        <p:cNvGrpSpPr/>
        <p:nvPr/>
      </p:nvGrpSpPr>
      <p:grpSpPr>
        <a:xfrm>
          <a:off x="0" y="0"/>
          <a:ext cx="0" cy="0"/>
          <a:chOff x="0" y="0"/>
          <a:chExt cx="0" cy="0"/>
        </a:xfrm>
      </p:grpSpPr>
      <p:sp>
        <p:nvSpPr>
          <p:cNvPr id="966" name="Google Shape;966;p52"/>
          <p:cNvSpPr txBox="1"/>
          <p:nvPr/>
        </p:nvSpPr>
        <p:spPr>
          <a:xfrm>
            <a:off x="1028700" y="2136152"/>
            <a:ext cx="3012358" cy="681405"/>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5</a:t>
            </a:r>
            <a:endParaRPr b="0" i="0" sz="1400" u="none" cap="none" strike="noStrike">
              <a:solidFill>
                <a:srgbClr val="000000"/>
              </a:solidFill>
              <a:latin typeface="Arial"/>
              <a:ea typeface="Arial"/>
              <a:cs typeface="Arial"/>
              <a:sym typeface="Arial"/>
            </a:endParaRPr>
          </a:p>
        </p:txBody>
      </p:sp>
      <p:sp>
        <p:nvSpPr>
          <p:cNvPr id="967" name="Google Shape;967;p52"/>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Clr>
                <a:srgbClr val="000000"/>
              </a:buClr>
              <a:buSzPts val="3753"/>
              <a:buFont typeface="Arial"/>
              <a:buNone/>
            </a:pPr>
            <a:r>
              <a:rPr b="1" i="0" lang="en-US" sz="3753"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
        <p:nvSpPr>
          <p:cNvPr id="968" name="Google Shape;968;p52"/>
          <p:cNvSpPr txBox="1"/>
          <p:nvPr/>
        </p:nvSpPr>
        <p:spPr>
          <a:xfrm>
            <a:off x="1028700" y="2827261"/>
            <a:ext cx="16230600" cy="1110143"/>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5, o CAT 5, ayuda a la transmisión de hasta 100 MHz con velocidades de hasta 1000 Mbps.</a:t>
            </a:r>
            <a:endParaRPr b="0" i="0" sz="1400" u="none" cap="none" strike="noStrike">
              <a:solidFill>
                <a:srgbClr val="000000"/>
              </a:solidFill>
              <a:latin typeface="Arial"/>
              <a:ea typeface="Arial"/>
              <a:cs typeface="Arial"/>
              <a:sym typeface="Arial"/>
            </a:endParaRPr>
          </a:p>
        </p:txBody>
      </p:sp>
      <p:sp>
        <p:nvSpPr>
          <p:cNvPr id="969" name="Google Shape;969;p52"/>
          <p:cNvSpPr txBox="1"/>
          <p:nvPr/>
        </p:nvSpPr>
        <p:spPr>
          <a:xfrm>
            <a:off x="1028700" y="4080278"/>
            <a:ext cx="16230600"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Es un cable UTP muy común y adecuado para el rendimiento 100BASE T. Estos cables se utilizan para la conexión de computadoras conectadas a redes de área local.</a:t>
            </a:r>
            <a:endParaRPr b="0" i="0" sz="1400" u="none" cap="none" strike="noStrike">
              <a:solidFill>
                <a:srgbClr val="000000"/>
              </a:solidFill>
              <a:latin typeface="Arial"/>
              <a:ea typeface="Arial"/>
              <a:cs typeface="Arial"/>
              <a:sym typeface="Arial"/>
            </a:endParaRPr>
          </a:p>
        </p:txBody>
      </p:sp>
      <p:sp>
        <p:nvSpPr>
          <p:cNvPr id="970" name="Google Shape;970;p52"/>
          <p:cNvSpPr txBox="1"/>
          <p:nvPr/>
        </p:nvSpPr>
        <p:spPr>
          <a:xfrm>
            <a:off x="1028700" y="6298613"/>
            <a:ext cx="3189339" cy="681405"/>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5e</a:t>
            </a:r>
            <a:endParaRPr b="0" i="0" sz="1400" u="none" cap="none" strike="noStrike">
              <a:solidFill>
                <a:srgbClr val="000000"/>
              </a:solidFill>
              <a:latin typeface="Arial"/>
              <a:ea typeface="Arial"/>
              <a:cs typeface="Arial"/>
              <a:sym typeface="Arial"/>
            </a:endParaRPr>
          </a:p>
        </p:txBody>
      </p:sp>
      <p:sp>
        <p:nvSpPr>
          <p:cNvPr id="971" name="Google Shape;971;p52"/>
          <p:cNvSpPr txBox="1"/>
          <p:nvPr/>
        </p:nvSpPr>
        <p:spPr>
          <a:xfrm>
            <a:off x="1028700" y="7024340"/>
            <a:ext cx="16230600" cy="2234225"/>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5e o CAT 5e, es una versión mejorada sobre el de nivel 5. Sus características son similares al CAT 5 y es compatible con transmisión de hasta 10MHz. Es más adecuado para operaciones con Gigabit Ethernet y es una excelente opción para red 1000BASE 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75" name="Shape 975"/>
        <p:cNvGrpSpPr/>
        <p:nvPr/>
      </p:nvGrpSpPr>
      <p:grpSpPr>
        <a:xfrm>
          <a:off x="0" y="0"/>
          <a:ext cx="0" cy="0"/>
          <a:chOff x="0" y="0"/>
          <a:chExt cx="0" cy="0"/>
        </a:xfrm>
      </p:grpSpPr>
      <p:sp>
        <p:nvSpPr>
          <p:cNvPr id="976" name="Google Shape;976;p53"/>
          <p:cNvSpPr txBox="1"/>
          <p:nvPr/>
        </p:nvSpPr>
        <p:spPr>
          <a:xfrm>
            <a:off x="1028700" y="3156817"/>
            <a:ext cx="2426560"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6</a:t>
            </a:r>
            <a:endParaRPr b="0" i="0" sz="1400" u="none" cap="none" strike="noStrike">
              <a:solidFill>
                <a:srgbClr val="000000"/>
              </a:solidFill>
              <a:latin typeface="Arial"/>
              <a:ea typeface="Arial"/>
              <a:cs typeface="Arial"/>
              <a:sym typeface="Arial"/>
            </a:endParaRPr>
          </a:p>
        </p:txBody>
      </p:sp>
      <p:sp>
        <p:nvSpPr>
          <p:cNvPr id="977" name="Google Shape;977;p53"/>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Clr>
                <a:srgbClr val="000000"/>
              </a:buClr>
              <a:buSzPts val="3753"/>
              <a:buFont typeface="Arial"/>
              <a:buNone/>
            </a:pPr>
            <a:r>
              <a:rPr b="1" i="0" lang="en-US" sz="3753"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
        <p:nvSpPr>
          <p:cNvPr id="978" name="Google Shape;978;p53"/>
          <p:cNvSpPr txBox="1"/>
          <p:nvPr/>
        </p:nvSpPr>
        <p:spPr>
          <a:xfrm>
            <a:off x="1028700" y="4274137"/>
            <a:ext cx="16089484"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6, o CAT 6, es una propuesta de par trenzado sin blindar que puede soportar hasta 250 MHz de transmisión. Este cable con alambres de cobre puede soportar velocidades de 1 GB.</a:t>
            </a:r>
            <a:endParaRPr b="0" i="0" sz="1400" u="none" cap="none" strike="noStrike">
              <a:solidFill>
                <a:srgbClr val="000000"/>
              </a:solidFill>
              <a:latin typeface="Arial"/>
              <a:ea typeface="Arial"/>
              <a:cs typeface="Arial"/>
              <a:sym typeface="Arial"/>
            </a:endParaRPr>
          </a:p>
        </p:txBody>
      </p:sp>
      <p:sp>
        <p:nvSpPr>
          <p:cNvPr id="979" name="Google Shape;979;p53"/>
          <p:cNvSpPr txBox="1"/>
          <p:nvPr/>
        </p:nvSpPr>
        <p:spPr>
          <a:xfrm>
            <a:off x="1028700" y="6220369"/>
            <a:ext cx="16089484" cy="1672051"/>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CAT 6 es compatible con el CAT 5e, CAT 6 y CAT 3. Es adecuado para redes 1000BASE T, 100BASE T y 10BASE T y posee estrictas reglas acerca del ruido del sistema y la diafonía.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83" name="Shape 983"/>
        <p:cNvGrpSpPr/>
        <p:nvPr/>
      </p:nvGrpSpPr>
      <p:grpSpPr>
        <a:xfrm>
          <a:off x="0" y="0"/>
          <a:ext cx="0" cy="0"/>
          <a:chOff x="0" y="0"/>
          <a:chExt cx="0" cy="0"/>
        </a:xfrm>
      </p:grpSpPr>
      <p:sp>
        <p:nvSpPr>
          <p:cNvPr id="984" name="Google Shape;984;p54"/>
          <p:cNvSpPr txBox="1"/>
          <p:nvPr/>
        </p:nvSpPr>
        <p:spPr>
          <a:xfrm>
            <a:off x="887291" y="2396746"/>
            <a:ext cx="2419780"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7</a:t>
            </a:r>
            <a:endParaRPr b="0" i="0" sz="1400" u="none" cap="none" strike="noStrike">
              <a:solidFill>
                <a:srgbClr val="000000"/>
              </a:solidFill>
              <a:latin typeface="Arial"/>
              <a:ea typeface="Arial"/>
              <a:cs typeface="Arial"/>
              <a:sym typeface="Arial"/>
            </a:endParaRPr>
          </a:p>
        </p:txBody>
      </p:sp>
      <p:sp>
        <p:nvSpPr>
          <p:cNvPr id="985" name="Google Shape;985;p54"/>
          <p:cNvSpPr txBox="1"/>
          <p:nvPr/>
        </p:nvSpPr>
        <p:spPr>
          <a:xfrm>
            <a:off x="1028700" y="609885"/>
            <a:ext cx="9219496" cy="63874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Clr>
                <a:srgbClr val="000000"/>
              </a:buClr>
              <a:buSzPts val="3753"/>
              <a:buFont typeface="Arial"/>
              <a:buNone/>
            </a:pPr>
            <a:r>
              <a:rPr b="1" i="0" lang="en-US" sz="3753" u="none" cap="none" strike="noStrike">
                <a:solidFill>
                  <a:srgbClr val="FFFFFF"/>
                </a:solidFill>
                <a:latin typeface="Montserrat"/>
                <a:ea typeface="Montserrat"/>
                <a:cs typeface="Montserrat"/>
                <a:sym typeface="Montserrat"/>
              </a:rPr>
              <a:t>Categorías de Cable de Par Trenzado</a:t>
            </a:r>
            <a:endParaRPr b="0" i="0" sz="1400" u="none" cap="none" strike="noStrike">
              <a:solidFill>
                <a:srgbClr val="000000"/>
              </a:solidFill>
              <a:latin typeface="Arial"/>
              <a:ea typeface="Arial"/>
              <a:cs typeface="Arial"/>
              <a:sym typeface="Arial"/>
            </a:endParaRPr>
          </a:p>
        </p:txBody>
      </p:sp>
      <p:sp>
        <p:nvSpPr>
          <p:cNvPr id="986" name="Google Shape;986;p54"/>
          <p:cNvSpPr txBox="1"/>
          <p:nvPr/>
        </p:nvSpPr>
        <p:spPr>
          <a:xfrm>
            <a:off x="1028700" y="3539193"/>
            <a:ext cx="15739157" cy="2233960"/>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El cable categoría 7, CAT 7, es otro proyecto de norma que admite la transmisión de hasta 600MHz. CAT 7 es un estándar Ethernet de cable de cobre 10G que mide más de 100 metros. Es compatible con CAT 5 y CAT 6 y tiene reglas más estrictas que CAT 6 sobre el ruido del sistema y la diafonía.</a:t>
            </a:r>
            <a:endParaRPr b="0" i="0" sz="1400" u="none" cap="none" strike="noStrike">
              <a:solidFill>
                <a:srgbClr val="000000"/>
              </a:solidFill>
              <a:latin typeface="Arial"/>
              <a:ea typeface="Arial"/>
              <a:cs typeface="Arial"/>
              <a:sym typeface="Arial"/>
            </a:endParaRPr>
          </a:p>
        </p:txBody>
      </p:sp>
      <p:sp>
        <p:nvSpPr>
          <p:cNvPr id="987" name="Google Shape;987;p54"/>
          <p:cNvSpPr txBox="1"/>
          <p:nvPr/>
        </p:nvSpPr>
        <p:spPr>
          <a:xfrm>
            <a:off x="1081369" y="6593492"/>
            <a:ext cx="2549591" cy="548234"/>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1" i="0" lang="en-US" sz="3163" u="none" cap="none" strike="noStrike">
                <a:solidFill>
                  <a:srgbClr val="FFFFFF"/>
                </a:solidFill>
                <a:latin typeface="Montserrat"/>
                <a:ea typeface="Montserrat"/>
                <a:cs typeface="Montserrat"/>
                <a:sym typeface="Montserrat"/>
              </a:rPr>
              <a:t>Categoría 8 </a:t>
            </a:r>
            <a:endParaRPr b="0" i="0" sz="1400" u="none" cap="none" strike="noStrike">
              <a:solidFill>
                <a:srgbClr val="000000"/>
              </a:solidFill>
              <a:latin typeface="Arial"/>
              <a:ea typeface="Arial"/>
              <a:cs typeface="Arial"/>
              <a:sym typeface="Arial"/>
            </a:endParaRPr>
          </a:p>
        </p:txBody>
      </p:sp>
      <p:sp>
        <p:nvSpPr>
          <p:cNvPr id="988" name="Google Shape;988;p54"/>
          <p:cNvSpPr txBox="1"/>
          <p:nvPr/>
        </p:nvSpPr>
        <p:spPr>
          <a:xfrm>
            <a:off x="1079795" y="7431782"/>
            <a:ext cx="14628600" cy="5484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R</a:t>
            </a:r>
            <a:r>
              <a:rPr b="0" i="0" lang="en-US" sz="3163" u="none" cap="none" strike="noStrike">
                <a:solidFill>
                  <a:srgbClr val="FFFFFF"/>
                </a:solidFill>
                <a:latin typeface="Montserrat"/>
                <a:ea typeface="Montserrat"/>
                <a:cs typeface="Montserrat"/>
                <a:sym typeface="Montserrat"/>
              </a:rPr>
              <a:t>edes de alta velocidad de hasta 40 Gbit/s y frecuencias hasta 2000 MHz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A80DD"/>
            </a:gs>
            <a:gs pos="100000">
              <a:srgbClr val="051730"/>
            </a:gs>
          </a:gsLst>
          <a:lin ang="5400000" scaled="0"/>
        </a:gradFill>
      </p:bgPr>
    </p:bg>
    <p:spTree>
      <p:nvGrpSpPr>
        <p:cNvPr id="992" name="Shape 992"/>
        <p:cNvGrpSpPr/>
        <p:nvPr/>
      </p:nvGrpSpPr>
      <p:grpSpPr>
        <a:xfrm>
          <a:off x="0" y="0"/>
          <a:ext cx="0" cy="0"/>
          <a:chOff x="0" y="0"/>
          <a:chExt cx="0" cy="0"/>
        </a:xfrm>
      </p:grpSpPr>
      <p:sp>
        <p:nvSpPr>
          <p:cNvPr id="993" name="Google Shape;993;p55"/>
          <p:cNvSpPr/>
          <p:nvPr/>
        </p:nvSpPr>
        <p:spPr>
          <a:xfrm>
            <a:off x="497927" y="2357434"/>
            <a:ext cx="8205436" cy="5383379"/>
          </a:xfrm>
          <a:custGeom>
            <a:rect b="b" l="l" r="r" t="t"/>
            <a:pathLst>
              <a:path extrusionOk="0" h="5383379" w="8205436">
                <a:moveTo>
                  <a:pt x="0" y="0"/>
                </a:moveTo>
                <a:lnTo>
                  <a:pt x="8205435" y="0"/>
                </a:lnTo>
                <a:lnTo>
                  <a:pt x="8205435" y="5383379"/>
                </a:lnTo>
                <a:lnTo>
                  <a:pt x="0" y="538337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4" name="Google Shape;994;p55"/>
          <p:cNvSpPr txBox="1"/>
          <p:nvPr/>
        </p:nvSpPr>
        <p:spPr>
          <a:xfrm>
            <a:off x="630576" y="584240"/>
            <a:ext cx="4525486" cy="803194"/>
          </a:xfrm>
          <a:prstGeom prst="rect">
            <a:avLst/>
          </a:prstGeom>
          <a:noFill/>
          <a:ln>
            <a:noFill/>
          </a:ln>
        </p:spPr>
        <p:txBody>
          <a:bodyPr anchorCtr="0" anchor="t" bIns="0" lIns="0" spcFirstLastPara="1" rIns="0" wrap="square" tIns="0">
            <a:spAutoFit/>
          </a:bodyPr>
          <a:lstStyle/>
          <a:p>
            <a:pPr indent="0" lvl="0" marL="0" marR="0" rtl="0" algn="ctr">
              <a:lnSpc>
                <a:spcPct val="139995"/>
              </a:lnSpc>
              <a:spcBef>
                <a:spcPts val="0"/>
              </a:spcBef>
              <a:spcAft>
                <a:spcPts val="0"/>
              </a:spcAft>
              <a:buClr>
                <a:srgbClr val="000000"/>
              </a:buClr>
              <a:buSzPts val="4753"/>
              <a:buFont typeface="Arial"/>
              <a:buNone/>
            </a:pPr>
            <a:r>
              <a:rPr b="1" i="0" lang="en-US" sz="4753" u="none" cap="none" strike="noStrike">
                <a:solidFill>
                  <a:srgbClr val="FFFFFF"/>
                </a:solidFill>
                <a:latin typeface="Montserrat"/>
                <a:ea typeface="Montserrat"/>
                <a:cs typeface="Montserrat"/>
                <a:sym typeface="Montserrat"/>
              </a:rPr>
              <a:t>DATA CENTER</a:t>
            </a:r>
            <a:endParaRPr b="0" i="0" sz="1400" u="none" cap="none" strike="noStrike">
              <a:solidFill>
                <a:srgbClr val="000000"/>
              </a:solidFill>
              <a:latin typeface="Arial"/>
              <a:ea typeface="Arial"/>
              <a:cs typeface="Arial"/>
              <a:sym typeface="Arial"/>
            </a:endParaRPr>
          </a:p>
        </p:txBody>
      </p:sp>
      <p:sp>
        <p:nvSpPr>
          <p:cNvPr id="995" name="Google Shape;995;p55"/>
          <p:cNvSpPr txBox="1"/>
          <p:nvPr/>
        </p:nvSpPr>
        <p:spPr>
          <a:xfrm>
            <a:off x="9144000" y="1314583"/>
            <a:ext cx="8461346" cy="6749075"/>
          </a:xfrm>
          <a:prstGeom prst="rect">
            <a:avLst/>
          </a:prstGeom>
          <a:noFill/>
          <a:ln>
            <a:noFill/>
          </a:ln>
        </p:spPr>
        <p:txBody>
          <a:bodyPr anchorCtr="0" anchor="t" bIns="0" lIns="0" spcFirstLastPara="1" rIns="0" wrap="square" tIns="0">
            <a:spAutoFit/>
          </a:bodyPr>
          <a:lstStyle/>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Un Data Center es, tal y como su nombre</a:t>
            </a:r>
            <a:endParaRPr b="0" i="0" sz="1400" u="none" cap="none" strike="noStrike">
              <a:solidFill>
                <a:srgbClr val="000000"/>
              </a:solidFill>
              <a:latin typeface="Arial"/>
              <a:ea typeface="Arial"/>
              <a:cs typeface="Arial"/>
              <a:sym typeface="Arial"/>
            </a:endParaRPr>
          </a:p>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indica, un “centro de datos” o “Centro de</a:t>
            </a:r>
            <a:endParaRPr b="0" i="0" sz="1400" u="none" cap="none" strike="noStrike">
              <a:solidFill>
                <a:srgbClr val="000000"/>
              </a:solidFill>
              <a:latin typeface="Arial"/>
              <a:ea typeface="Arial"/>
              <a:cs typeface="Arial"/>
              <a:sym typeface="Arial"/>
            </a:endParaRPr>
          </a:p>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Proceso de Datos” (CPD). Esta definición</a:t>
            </a:r>
            <a:endParaRPr b="0" i="0" sz="1400" u="none" cap="none" strike="noStrike">
              <a:solidFill>
                <a:srgbClr val="000000"/>
              </a:solidFill>
              <a:latin typeface="Arial"/>
              <a:ea typeface="Arial"/>
              <a:cs typeface="Arial"/>
              <a:sym typeface="Arial"/>
            </a:endParaRPr>
          </a:p>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engloba las dependencias y los sistemas</a:t>
            </a:r>
            <a:endParaRPr b="0" i="0" sz="1400" u="none" cap="none" strike="noStrike">
              <a:solidFill>
                <a:srgbClr val="000000"/>
              </a:solidFill>
              <a:latin typeface="Arial"/>
              <a:ea typeface="Arial"/>
              <a:cs typeface="Arial"/>
              <a:sym typeface="Arial"/>
            </a:endParaRPr>
          </a:p>
          <a:p>
            <a:pPr indent="0" lvl="0" marL="0" marR="0" rtl="0" algn="just">
              <a:lnSpc>
                <a:spcPct val="139993"/>
              </a:lnSpc>
              <a:spcBef>
                <a:spcPts val="0"/>
              </a:spcBef>
              <a:spcAft>
                <a:spcPts val="0"/>
              </a:spcAft>
              <a:buClr>
                <a:srgbClr val="000000"/>
              </a:buClr>
              <a:buSzPts val="3163"/>
              <a:buFont typeface="Arial"/>
              <a:buNone/>
            </a:pPr>
            <a:r>
              <a:rPr b="0" i="0" lang="en-US" sz="3163" u="none" cap="none" strike="noStrike">
                <a:solidFill>
                  <a:srgbClr val="FFFFFF"/>
                </a:solidFill>
                <a:latin typeface="Montserrat"/>
                <a:ea typeface="Montserrat"/>
                <a:cs typeface="Montserrat"/>
                <a:sym typeface="Montserrat"/>
              </a:rPr>
              <a:t>asociados gracias a los cuales:</a:t>
            </a:r>
            <a:endParaRPr b="0" i="0" sz="1400" u="none" cap="none" strike="noStrike">
              <a:solidFill>
                <a:srgbClr val="000000"/>
              </a:solidFill>
              <a:latin typeface="Arial"/>
              <a:ea typeface="Arial"/>
              <a:cs typeface="Arial"/>
              <a:sym typeface="Arial"/>
            </a:endParaRPr>
          </a:p>
          <a:p>
            <a:pPr indent="-341488" lvl="1" marL="682977" marR="0" rtl="0" algn="just">
              <a:lnSpc>
                <a:spcPct val="139993"/>
              </a:lnSpc>
              <a:spcBef>
                <a:spcPts val="0"/>
              </a:spcBef>
              <a:spcAft>
                <a:spcPts val="0"/>
              </a:spcAft>
              <a:buClr>
                <a:srgbClr val="FFFFFF"/>
              </a:buClr>
              <a:buSzPts val="3163"/>
              <a:buFont typeface="Arial"/>
              <a:buChar char="•"/>
            </a:pPr>
            <a:r>
              <a:rPr b="0" i="0" lang="en-US" sz="3163" u="none" cap="none" strike="noStrike">
                <a:solidFill>
                  <a:srgbClr val="FFFFFF"/>
                </a:solidFill>
                <a:latin typeface="Montserrat"/>
                <a:ea typeface="Montserrat"/>
                <a:cs typeface="Montserrat"/>
                <a:sym typeface="Montserrat"/>
              </a:rPr>
              <a:t>Los datos son almacenados, tratados y distribuidos al personal o procesos autorizados para consultarlos y/o modificarlos.</a:t>
            </a:r>
            <a:endParaRPr b="0" i="0" sz="1400" u="none" cap="none" strike="noStrike">
              <a:solidFill>
                <a:srgbClr val="000000"/>
              </a:solidFill>
              <a:latin typeface="Arial"/>
              <a:ea typeface="Arial"/>
              <a:cs typeface="Arial"/>
              <a:sym typeface="Arial"/>
            </a:endParaRPr>
          </a:p>
          <a:p>
            <a:pPr indent="-341488" lvl="1" marL="682977" marR="0" rtl="0" algn="just">
              <a:lnSpc>
                <a:spcPct val="139993"/>
              </a:lnSpc>
              <a:spcBef>
                <a:spcPts val="0"/>
              </a:spcBef>
              <a:spcAft>
                <a:spcPts val="0"/>
              </a:spcAft>
              <a:buClr>
                <a:srgbClr val="FFFFFF"/>
              </a:buClr>
              <a:buSzPts val="3163"/>
              <a:buFont typeface="Arial"/>
              <a:buChar char="•"/>
            </a:pPr>
            <a:r>
              <a:rPr b="0" i="0" lang="en-US" sz="3163" u="none" cap="none" strike="noStrike">
                <a:solidFill>
                  <a:srgbClr val="FFFFFF"/>
                </a:solidFill>
                <a:latin typeface="Montserrat"/>
                <a:ea typeface="Montserrat"/>
                <a:cs typeface="Montserrat"/>
                <a:sym typeface="Montserrat"/>
              </a:rPr>
              <a:t>Los servidores en los que se albergan estos datos se mantienen en un entorno de funcionamiento óptimo.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999" name="Shape 999"/>
        <p:cNvGrpSpPr/>
        <p:nvPr/>
      </p:nvGrpSpPr>
      <p:grpSpPr>
        <a:xfrm>
          <a:off x="0" y="0"/>
          <a:ext cx="0" cy="0"/>
          <a:chOff x="0" y="0"/>
          <a:chExt cx="0" cy="0"/>
        </a:xfrm>
      </p:grpSpPr>
      <p:grpSp>
        <p:nvGrpSpPr>
          <p:cNvPr id="1000" name="Google Shape;1000;p57"/>
          <p:cNvGrpSpPr/>
          <p:nvPr/>
        </p:nvGrpSpPr>
        <p:grpSpPr>
          <a:xfrm>
            <a:off x="1894444" y="527357"/>
            <a:ext cx="14499051" cy="2154982"/>
            <a:chOff x="0" y="-157626"/>
            <a:chExt cx="19332068" cy="2873309"/>
          </a:xfrm>
        </p:grpSpPr>
        <p:cxnSp>
          <p:nvCxnSpPr>
            <p:cNvPr id="1001" name="Google Shape;1001;p57"/>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02" name="Google Shape;1002;p57"/>
            <p:cNvGrpSpPr/>
            <p:nvPr/>
          </p:nvGrpSpPr>
          <p:grpSpPr>
            <a:xfrm>
              <a:off x="0" y="0"/>
              <a:ext cx="2715683" cy="2715683"/>
              <a:chOff x="0" y="0"/>
              <a:chExt cx="812800" cy="812800"/>
            </a:xfrm>
          </p:grpSpPr>
          <p:sp>
            <p:nvSpPr>
              <p:cNvPr id="1003" name="Google Shape;1003;p5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5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05" name="Google Shape;1005;p57"/>
            <p:cNvGrpSpPr/>
            <p:nvPr/>
          </p:nvGrpSpPr>
          <p:grpSpPr>
            <a:xfrm>
              <a:off x="150744" y="-157626"/>
              <a:ext cx="2603039" cy="2786065"/>
              <a:chOff x="0" y="-57150"/>
              <a:chExt cx="812800" cy="869950"/>
            </a:xfrm>
          </p:grpSpPr>
          <p:sp>
            <p:nvSpPr>
              <p:cNvPr id="1006" name="Google Shape;1006;p5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57"/>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008" name="Google Shape;1008;p57"/>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09" name="Google Shape;1009;p57"/>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10" name="Google Shape;1010;p57"/>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11" name="Google Shape;1011;p57"/>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12" name="Google Shape;1012;p57"/>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13" name="Google Shape;1013;p57"/>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1014" name="Google Shape;1014;p57"/>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CONCEPTOS CLAVE APRENDIDOS</a:t>
            </a:r>
            <a:endParaRPr b="0" i="0" sz="1400" u="none" cap="none" strike="noStrike">
              <a:solidFill>
                <a:srgbClr val="000000"/>
              </a:solidFill>
              <a:latin typeface="Arial"/>
              <a:ea typeface="Arial"/>
              <a:cs typeface="Arial"/>
              <a:sym typeface="Arial"/>
            </a:endParaRPr>
          </a:p>
        </p:txBody>
      </p:sp>
      <p:sp>
        <p:nvSpPr>
          <p:cNvPr id="1015" name="Google Shape;1015;p57"/>
          <p:cNvSpPr txBox="1"/>
          <p:nvPr/>
        </p:nvSpPr>
        <p:spPr>
          <a:xfrm>
            <a:off x="1455754" y="3241737"/>
            <a:ext cx="16139392" cy="5123789"/>
          </a:xfrm>
          <a:prstGeom prst="rect">
            <a:avLst/>
          </a:prstGeom>
          <a:noFill/>
          <a:ln>
            <a:noFill/>
          </a:ln>
        </p:spPr>
        <p:txBody>
          <a:bodyPr anchorCtr="0" anchor="t" bIns="0" lIns="0" spcFirstLastPara="1" rIns="0" wrap="square" tIns="0">
            <a:spAutoFit/>
          </a:bodyPr>
          <a:lstStyle/>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Cableado Estructurado: Sistema de cables, conectores, canalizaciones y dispositivos, el cual permite establecer una infraestructura de telecomunicación en un edificio.</a:t>
            </a:r>
            <a:endParaRPr b="0" i="0" sz="1400" u="none" cap="none" strike="noStrike">
              <a:solidFill>
                <a:srgbClr val="000000"/>
              </a:solidFill>
              <a:latin typeface="Arial"/>
              <a:ea typeface="Arial"/>
              <a:cs typeface="Arial"/>
              <a:sym typeface="Arial"/>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Cableado Vertical: Ofrece interconexión entre el cuarto de servicio, al cuarto de equipo y con el cuarto de telecomunicaciones.</a:t>
            </a:r>
            <a:endParaRPr b="0" i="0" sz="1400" u="none" cap="none" strike="noStrike">
              <a:solidFill>
                <a:srgbClr val="000000"/>
              </a:solidFill>
              <a:latin typeface="Arial"/>
              <a:ea typeface="Arial"/>
              <a:cs typeface="Arial"/>
              <a:sym typeface="Arial"/>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Cuarto de Telecomunicaciones: Se extiende desde el área de trabajo (WA) hasta el cuarto de telecomunicaciones, pasando por una cruzada horizontal llamada Cross Connect.</a:t>
            </a:r>
            <a:endParaRPr b="0" i="0" sz="1400" u="none" cap="none" strike="noStrike">
              <a:solidFill>
                <a:srgbClr val="000000"/>
              </a:solidFill>
              <a:latin typeface="Arial"/>
              <a:ea typeface="Arial"/>
              <a:cs typeface="Arial"/>
              <a:sym typeface="Arial"/>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Cross Connect: Punto de encuentro entre el Cableado Horizontal y Backbone.</a:t>
            </a:r>
            <a:endParaRPr b="0" i="0" sz="1400" u="none" cap="none" strike="noStrike">
              <a:solidFill>
                <a:srgbClr val="000000"/>
              </a:solidFill>
              <a:latin typeface="Arial"/>
              <a:ea typeface="Arial"/>
              <a:cs typeface="Arial"/>
              <a:sym typeface="Arial"/>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 Norma: Establecen un lenguaje común entre las empresas, adminsitración pública , usuarios y consumidores.</a:t>
            </a:r>
            <a:endParaRPr b="0" i="0" sz="1400" u="none" cap="none" strike="noStrike">
              <a:solidFill>
                <a:srgbClr val="000000"/>
              </a:solidFill>
              <a:latin typeface="Arial"/>
              <a:ea typeface="Arial"/>
              <a:cs typeface="Arial"/>
              <a:sym typeface="Arial"/>
            </a:endParaRPr>
          </a:p>
          <a:p>
            <a:pPr indent="-286177" lvl="1" marL="572355" marR="0" rtl="0" algn="just">
              <a:lnSpc>
                <a:spcPct val="139984"/>
              </a:lnSpc>
              <a:spcBef>
                <a:spcPts val="0"/>
              </a:spcBef>
              <a:spcAft>
                <a:spcPts val="0"/>
              </a:spcAft>
              <a:buClr>
                <a:srgbClr val="000000"/>
              </a:buClr>
              <a:buSzPts val="2651"/>
              <a:buFont typeface="Montserrat"/>
              <a:buAutoNum type="arabicPeriod"/>
            </a:pPr>
            <a:r>
              <a:rPr b="0" i="0" lang="en-US" sz="2651" u="none" cap="none" strike="noStrike">
                <a:solidFill>
                  <a:srgbClr val="000000"/>
                </a:solidFill>
                <a:latin typeface="Montserrat"/>
                <a:ea typeface="Montserrat"/>
                <a:cs typeface="Montserrat"/>
                <a:sym typeface="Montserrat"/>
              </a:rPr>
              <a:t>Estándar: Redacción y aprobación de normas para garantizar la calidad, funcionamiento para trabajar con una responsabilidad social</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19" name="Shape 1019"/>
        <p:cNvGrpSpPr/>
        <p:nvPr/>
      </p:nvGrpSpPr>
      <p:grpSpPr>
        <a:xfrm>
          <a:off x="0" y="0"/>
          <a:ext cx="0" cy="0"/>
          <a:chOff x="0" y="0"/>
          <a:chExt cx="0" cy="0"/>
        </a:xfrm>
      </p:grpSpPr>
      <p:grpSp>
        <p:nvGrpSpPr>
          <p:cNvPr id="1020" name="Google Shape;1020;p58"/>
          <p:cNvGrpSpPr/>
          <p:nvPr/>
        </p:nvGrpSpPr>
        <p:grpSpPr>
          <a:xfrm>
            <a:off x="1894444" y="527357"/>
            <a:ext cx="14499051" cy="2154982"/>
            <a:chOff x="0" y="-157626"/>
            <a:chExt cx="19332068" cy="2873309"/>
          </a:xfrm>
        </p:grpSpPr>
        <p:cxnSp>
          <p:nvCxnSpPr>
            <p:cNvPr id="1021" name="Google Shape;1021;p58"/>
            <p:cNvCxnSpPr/>
            <p:nvPr/>
          </p:nvCxnSpPr>
          <p:spPr>
            <a:xfrm flipH="1" rot="10800000">
              <a:off x="1357842" y="2185493"/>
              <a:ext cx="17974226" cy="38504"/>
            </a:xfrm>
            <a:prstGeom prst="straightConnector1">
              <a:avLst/>
            </a:prstGeom>
            <a:noFill/>
            <a:ln cap="flat" cmpd="sng" w="76200">
              <a:solidFill>
                <a:srgbClr val="4E639E"/>
              </a:solidFill>
              <a:prstDash val="solid"/>
              <a:round/>
              <a:headEnd len="sm" w="sm" type="none"/>
              <a:tailEnd len="med" w="med" type="stealth"/>
            </a:ln>
          </p:spPr>
        </p:cxnSp>
        <p:grpSp>
          <p:nvGrpSpPr>
            <p:cNvPr id="1022" name="Google Shape;1022;p58"/>
            <p:cNvGrpSpPr/>
            <p:nvPr/>
          </p:nvGrpSpPr>
          <p:grpSpPr>
            <a:xfrm>
              <a:off x="0" y="0"/>
              <a:ext cx="2715683" cy="2715683"/>
              <a:chOff x="0" y="0"/>
              <a:chExt cx="812800" cy="812800"/>
            </a:xfrm>
          </p:grpSpPr>
          <p:sp>
            <p:nvSpPr>
              <p:cNvPr id="1023" name="Google Shape;1023;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57150">
                <a:solidFill>
                  <a:srgbClr val="4E639E"/>
                </a:solidFill>
                <a:prstDash val="dash"/>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58"/>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25" name="Google Shape;1025;p58"/>
            <p:cNvGrpSpPr/>
            <p:nvPr/>
          </p:nvGrpSpPr>
          <p:grpSpPr>
            <a:xfrm>
              <a:off x="150744" y="-157626"/>
              <a:ext cx="2603039" cy="2786065"/>
              <a:chOff x="0" y="-57150"/>
              <a:chExt cx="812800" cy="869950"/>
            </a:xfrm>
          </p:grpSpPr>
          <p:sp>
            <p:nvSpPr>
              <p:cNvPr id="1026" name="Google Shape;1026;p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D5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58"/>
              <p:cNvSpPr txBox="1"/>
              <p:nvPr/>
            </p:nvSpPr>
            <p:spPr>
              <a:xfrm>
                <a:off x="76200" y="-57150"/>
                <a:ext cx="660400" cy="793750"/>
              </a:xfrm>
              <a:prstGeom prst="rect">
                <a:avLst/>
              </a:prstGeom>
              <a:noFill/>
              <a:ln>
                <a:noFill/>
              </a:ln>
            </p:spPr>
            <p:txBody>
              <a:bodyPr anchorCtr="0" anchor="ctr" bIns="50800" lIns="50800" spcFirstLastPara="1" rIns="50800" wrap="square" tIns="50800">
                <a:noAutofit/>
              </a:bodyPr>
              <a:lstStyle/>
              <a:p>
                <a:pPr indent="0" lvl="0" marL="0" marR="0" rtl="0" algn="ctr">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028" name="Google Shape;1028;p58"/>
            <p:cNvCxnSpPr/>
            <p:nvPr/>
          </p:nvCxnSpPr>
          <p:spPr>
            <a:xfrm rot="10800000">
              <a:off x="1508585" y="145897"/>
              <a:ext cx="0" cy="360699"/>
            </a:xfrm>
            <a:prstGeom prst="straightConnector1">
              <a:avLst/>
            </a:prstGeom>
            <a:noFill/>
            <a:ln cap="flat" cmpd="sng" w="50800">
              <a:solidFill>
                <a:srgbClr val="F2981B"/>
              </a:solidFill>
              <a:prstDash val="solid"/>
              <a:round/>
              <a:headEnd len="sm" w="sm" type="none"/>
              <a:tailEnd len="sm" w="sm" type="none"/>
            </a:ln>
          </p:spPr>
        </p:cxnSp>
        <p:cxnSp>
          <p:nvCxnSpPr>
            <p:cNvPr id="1029" name="Google Shape;1029;p58"/>
            <p:cNvCxnSpPr/>
            <p:nvPr/>
          </p:nvCxnSpPr>
          <p:spPr>
            <a:xfrm rot="10800000">
              <a:off x="1508585" y="2198596"/>
              <a:ext cx="0" cy="360699"/>
            </a:xfrm>
            <a:prstGeom prst="straightConnector1">
              <a:avLst/>
            </a:prstGeom>
            <a:noFill/>
            <a:ln cap="flat" cmpd="sng" w="50800">
              <a:solidFill>
                <a:srgbClr val="F2981B"/>
              </a:solidFill>
              <a:prstDash val="solid"/>
              <a:round/>
              <a:headEnd len="sm" w="sm" type="none"/>
              <a:tailEnd len="sm" w="sm" type="none"/>
            </a:ln>
          </p:spPr>
        </p:cxnSp>
        <p:cxnSp>
          <p:nvCxnSpPr>
            <p:cNvPr id="1030" name="Google Shape;1030;p58"/>
            <p:cNvCxnSpPr/>
            <p:nvPr/>
          </p:nvCxnSpPr>
          <p:spPr>
            <a:xfrm>
              <a:off x="271240" y="1383242"/>
              <a:ext cx="360699" cy="0"/>
            </a:xfrm>
            <a:prstGeom prst="straightConnector1">
              <a:avLst/>
            </a:prstGeom>
            <a:noFill/>
            <a:ln cap="flat" cmpd="sng" w="50800">
              <a:solidFill>
                <a:srgbClr val="F2981B"/>
              </a:solidFill>
              <a:prstDash val="solid"/>
              <a:round/>
              <a:headEnd len="sm" w="sm" type="none"/>
              <a:tailEnd len="sm" w="sm" type="none"/>
            </a:ln>
          </p:spPr>
        </p:cxnSp>
        <p:cxnSp>
          <p:nvCxnSpPr>
            <p:cNvPr id="1031" name="Google Shape;1031;p58"/>
            <p:cNvCxnSpPr/>
            <p:nvPr/>
          </p:nvCxnSpPr>
          <p:spPr>
            <a:xfrm>
              <a:off x="618545" y="564904"/>
              <a:ext cx="303512" cy="194896"/>
            </a:xfrm>
            <a:prstGeom prst="straightConnector1">
              <a:avLst/>
            </a:prstGeom>
            <a:noFill/>
            <a:ln cap="flat" cmpd="sng" w="50800">
              <a:solidFill>
                <a:srgbClr val="F2981B"/>
              </a:solidFill>
              <a:prstDash val="solid"/>
              <a:round/>
              <a:headEnd len="sm" w="sm" type="none"/>
              <a:tailEnd len="sm" w="sm" type="none"/>
            </a:ln>
          </p:spPr>
        </p:cxnSp>
        <p:cxnSp>
          <p:nvCxnSpPr>
            <p:cNvPr id="1032" name="Google Shape;1032;p58"/>
            <p:cNvCxnSpPr/>
            <p:nvPr/>
          </p:nvCxnSpPr>
          <p:spPr>
            <a:xfrm flipH="1" rot="10800000">
              <a:off x="648415" y="1955791"/>
              <a:ext cx="274526" cy="233965"/>
            </a:xfrm>
            <a:prstGeom prst="straightConnector1">
              <a:avLst/>
            </a:prstGeom>
            <a:noFill/>
            <a:ln cap="flat" cmpd="sng" w="50800">
              <a:solidFill>
                <a:srgbClr val="F2981B"/>
              </a:solidFill>
              <a:prstDash val="solid"/>
              <a:round/>
              <a:headEnd len="sm" w="sm" type="none"/>
              <a:tailEnd len="sm" w="sm" type="none"/>
            </a:ln>
          </p:spPr>
        </p:cxnSp>
        <p:sp>
          <p:nvSpPr>
            <p:cNvPr id="1033" name="Google Shape;1033;p58"/>
            <p:cNvSpPr txBox="1"/>
            <p:nvPr/>
          </p:nvSpPr>
          <p:spPr>
            <a:xfrm>
              <a:off x="356907" y="737207"/>
              <a:ext cx="2190714" cy="1330326"/>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5999"/>
                <a:buFont typeface="Arial"/>
                <a:buNone/>
              </a:pPr>
              <a:r>
                <a:rPr b="0" i="0" lang="en-US" sz="5999" u="none" cap="none" strike="noStrike">
                  <a:solidFill>
                    <a:srgbClr val="1F167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1034" name="Google Shape;1034;p58"/>
          <p:cNvSpPr txBox="1"/>
          <p:nvPr/>
        </p:nvSpPr>
        <p:spPr>
          <a:xfrm>
            <a:off x="3875192" y="1425039"/>
            <a:ext cx="12660271"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0" i="0" lang="en-US" sz="5000" u="none" cap="none" strike="noStrike">
                <a:solidFill>
                  <a:srgbClr val="145C8C"/>
                </a:solidFill>
                <a:latin typeface="Arial"/>
                <a:ea typeface="Arial"/>
                <a:cs typeface="Arial"/>
                <a:sym typeface="Arial"/>
              </a:rPr>
              <a:t>VALORES</a:t>
            </a:r>
            <a:endParaRPr b="0" i="0" sz="1400" u="none" cap="none" strike="noStrike">
              <a:solidFill>
                <a:srgbClr val="000000"/>
              </a:solidFill>
              <a:latin typeface="Arial"/>
              <a:ea typeface="Arial"/>
              <a:cs typeface="Arial"/>
              <a:sym typeface="Arial"/>
            </a:endParaRPr>
          </a:p>
        </p:txBody>
      </p:sp>
      <p:sp>
        <p:nvSpPr>
          <p:cNvPr id="1035" name="Google Shape;1035;p58"/>
          <p:cNvSpPr txBox="1"/>
          <p:nvPr/>
        </p:nvSpPr>
        <p:spPr>
          <a:xfrm>
            <a:off x="4122725" y="3500261"/>
            <a:ext cx="11061000" cy="3286500"/>
          </a:xfrm>
          <a:prstGeom prst="rect">
            <a:avLst/>
          </a:prstGeom>
          <a:noFill/>
          <a:ln>
            <a:noFill/>
          </a:ln>
        </p:spPr>
        <p:txBody>
          <a:bodyPr anchorCtr="0" anchor="t" bIns="0" lIns="0" spcFirstLastPara="1" rIns="0" wrap="square" tIns="0">
            <a:spAutoFit/>
          </a:bodyPr>
          <a:lstStyle/>
          <a:p>
            <a:pPr indent="0" lvl="0" marL="0" marR="0" rtl="0" algn="just">
              <a:lnSpc>
                <a:spcPct val="139986"/>
              </a:lnSpc>
              <a:spcBef>
                <a:spcPts val="0"/>
              </a:spcBef>
              <a:spcAft>
                <a:spcPts val="0"/>
              </a:spcAft>
              <a:buNone/>
            </a:pPr>
            <a:r>
              <a:rPr b="1" i="0" lang="en-US" sz="3051" u="none" cap="none" strike="noStrike">
                <a:solidFill>
                  <a:srgbClr val="000000"/>
                </a:solidFill>
                <a:latin typeface="Montserrat"/>
                <a:ea typeface="Montserrat"/>
                <a:cs typeface="Montserrat"/>
                <a:sym typeface="Montserrat"/>
              </a:rPr>
              <a:t>Orden y disciplina</a:t>
            </a:r>
            <a:endParaRPr/>
          </a:p>
          <a:p>
            <a:pPr indent="0" lvl="0" marL="0" marR="0" rtl="0" algn="just">
              <a:lnSpc>
                <a:spcPct val="139986"/>
              </a:lnSpc>
              <a:spcBef>
                <a:spcPts val="0"/>
              </a:spcBef>
              <a:spcAft>
                <a:spcPts val="0"/>
              </a:spcAft>
              <a:buNone/>
            </a:pPr>
            <a:r>
              <a:rPr b="0" i="0" lang="en-US" sz="3051" u="none" cap="none" strike="noStrike">
                <a:solidFill>
                  <a:srgbClr val="000000"/>
                </a:solidFill>
                <a:latin typeface="Montserrat"/>
                <a:ea typeface="Montserrat"/>
                <a:cs typeface="Montserrat"/>
                <a:sym typeface="Montserrat"/>
              </a:rPr>
              <a:t>El cableado estructurado requiere aplicar normas internacionales y mantener la infraestructura organizada para asegurar rendimiento y facilidad de mantenimiento.</a:t>
            </a:r>
            <a:endParaRPr b="0" i="0" sz="3051" u="none" cap="none" strike="noStrike">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9" name="Shape 1039"/>
        <p:cNvGrpSpPr/>
        <p:nvPr/>
      </p:nvGrpSpPr>
      <p:grpSpPr>
        <a:xfrm>
          <a:off x="0" y="0"/>
          <a:ext cx="0" cy="0"/>
          <a:chOff x="0" y="0"/>
          <a:chExt cx="0" cy="0"/>
        </a:xfrm>
      </p:grpSpPr>
      <p:sp>
        <p:nvSpPr>
          <p:cNvPr id="1040" name="Google Shape;1040;p7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1" name="Google Shape;1041;p73"/>
          <p:cNvSpPr/>
          <p:nvPr/>
        </p:nvSpPr>
        <p:spPr>
          <a:xfrm flipH="1" rot="5400000">
            <a:off x="-2126309" y="2126307"/>
            <a:ext cx="10313727" cy="6061116"/>
          </a:xfrm>
          <a:prstGeom prst="rect">
            <a:avLst/>
          </a:prstGeom>
          <a:gradFill>
            <a:gsLst>
              <a:gs pos="0">
                <a:srgbClr val="000000"/>
              </a:gs>
              <a:gs pos="100000">
                <a:srgbClr val="366092"/>
              </a:gs>
            </a:gsLst>
            <a:lin ang="18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2" name="Google Shape;1042;p73"/>
          <p:cNvSpPr/>
          <p:nvPr/>
        </p:nvSpPr>
        <p:spPr>
          <a:xfrm rot="-5400000">
            <a:off x="-237743" y="3990710"/>
            <a:ext cx="6533391" cy="6057905"/>
          </a:xfrm>
          <a:prstGeom prst="rect">
            <a:avLst/>
          </a:prstGeom>
          <a:gradFill>
            <a:gsLst>
              <a:gs pos="0">
                <a:srgbClr val="4F81BD">
                  <a:alpha val="49803"/>
                </a:srgbClr>
              </a:gs>
              <a:gs pos="100000">
                <a:srgbClr val="244061">
                  <a:alpha val="0"/>
                </a:srgbClr>
              </a:gs>
            </a:gsLst>
            <a:lin ang="11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3" name="Google Shape;1043;p73"/>
          <p:cNvSpPr/>
          <p:nvPr/>
        </p:nvSpPr>
        <p:spPr>
          <a:xfrm flipH="1" rot="-5400000">
            <a:off x="-1771323" y="2457128"/>
            <a:ext cx="10286358" cy="5372102"/>
          </a:xfrm>
          <a:prstGeom prst="rect">
            <a:avLst/>
          </a:prstGeom>
          <a:gradFill>
            <a:gsLst>
              <a:gs pos="0">
                <a:srgbClr val="000000">
                  <a:alpha val="58823"/>
                </a:srgbClr>
              </a:gs>
              <a:gs pos="69000">
                <a:srgbClr val="4F81BD">
                  <a:alpha val="0"/>
                </a:srgbClr>
              </a:gs>
              <a:gs pos="100000">
                <a:srgbClr val="4F81BD">
                  <a:alpha val="0"/>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4" name="Google Shape;1044;p73"/>
          <p:cNvSpPr/>
          <p:nvPr/>
        </p:nvSpPr>
        <p:spPr>
          <a:xfrm rot="6097846">
            <a:off x="-1121033" y="1801968"/>
            <a:ext cx="7212453" cy="6132999"/>
          </a:xfrm>
          <a:custGeom>
            <a:rect b="b" l="l" r="r" t="t"/>
            <a:pathLst>
              <a:path extrusionOk="0" h="4088666" w="4808302">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93B3D7">
                  <a:alpha val="0"/>
                </a:srgbClr>
              </a:gs>
              <a:gs pos="39000">
                <a:srgbClr val="93B3D7">
                  <a:alpha val="0"/>
                </a:srgbClr>
              </a:gs>
              <a:gs pos="100000">
                <a:srgbClr val="366092">
                  <a:alpha val="25882"/>
                </a:srgbClr>
              </a:gs>
            </a:gsLst>
            <a:lin ang="18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5" name="Google Shape;1045;p73"/>
          <p:cNvSpPr txBox="1"/>
          <p:nvPr/>
        </p:nvSpPr>
        <p:spPr>
          <a:xfrm>
            <a:off x="990061" y="4150659"/>
            <a:ext cx="4321242" cy="460785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rgbClr val="FFFFFF"/>
                </a:solidFill>
                <a:latin typeface="Arial"/>
                <a:ea typeface="Arial"/>
                <a:cs typeface="Arial"/>
                <a:sym typeface="Arial"/>
              </a:rPr>
              <a:t>Ejemplo práctico</a:t>
            </a:r>
            <a:endParaRPr/>
          </a:p>
        </p:txBody>
      </p:sp>
      <p:pic>
        <p:nvPicPr>
          <p:cNvPr descr="Logotipo&#10;&#10;El contenido generado por IA puede ser incorrecto." id="1046" name="Google Shape;1046;p73"/>
          <p:cNvPicPr preferRelativeResize="0"/>
          <p:nvPr/>
        </p:nvPicPr>
        <p:blipFill rotWithShape="1">
          <a:blip r:embed="rId3">
            <a:alphaModFix/>
          </a:blip>
          <a:srcRect b="23606" l="0" r="0" t="17426"/>
          <a:stretch/>
        </p:blipFill>
        <p:spPr>
          <a:xfrm>
            <a:off x="6753642" y="765885"/>
            <a:ext cx="10838622" cy="8755230"/>
          </a:xfrm>
          <a:prstGeom prst="rect">
            <a:avLst/>
          </a:prstGeom>
          <a:noFill/>
          <a:ln>
            <a:noFill/>
          </a:ln>
        </p:spPr>
      </p:pic>
    </p:spTree>
  </p:cSld>
  <p:clrMapOvr>
    <a:masterClrMapping/>
  </p:clrMapOvr>
  <p:transition spd="slow">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0" name="Shape 1050"/>
        <p:cNvGrpSpPr/>
        <p:nvPr/>
      </p:nvGrpSpPr>
      <p:grpSpPr>
        <a:xfrm>
          <a:off x="0" y="0"/>
          <a:ext cx="0" cy="0"/>
          <a:chOff x="0" y="0"/>
          <a:chExt cx="0" cy="0"/>
        </a:xfrm>
      </p:grpSpPr>
      <p:sp>
        <p:nvSpPr>
          <p:cNvPr id="1051" name="Google Shape;1051;p59"/>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000" u="none" cap="none" strike="noStrike">
              <a:solidFill>
                <a:schemeClr val="lt1"/>
              </a:solidFill>
              <a:latin typeface="Arial"/>
              <a:ea typeface="Arial"/>
              <a:cs typeface="Arial"/>
              <a:sym typeface="Arial"/>
            </a:endParaRPr>
          </a:p>
        </p:txBody>
      </p:sp>
      <p:sp>
        <p:nvSpPr>
          <p:cNvPr id="1052" name="Google Shape;1052;p59"/>
          <p:cNvSpPr/>
          <p:nvPr/>
        </p:nvSpPr>
        <p:spPr>
          <a:xfrm flipH="1">
            <a:off x="3" y="738"/>
            <a:ext cx="18287997" cy="2363932"/>
          </a:xfrm>
          <a:prstGeom prst="rect">
            <a:avLst/>
          </a:prstGeom>
          <a:gradFill>
            <a:gsLst>
              <a:gs pos="0">
                <a:srgbClr val="244061"/>
              </a:gs>
              <a:gs pos="100000">
                <a:srgbClr val="366092"/>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3" name="Google Shape;1053;p59"/>
          <p:cNvSpPr/>
          <p:nvPr/>
        </p:nvSpPr>
        <p:spPr>
          <a:xfrm flipH="1" rot="10800000">
            <a:off x="12193285" y="52"/>
            <a:ext cx="6094715" cy="2364618"/>
          </a:xfrm>
          <a:prstGeom prst="rect">
            <a:avLst/>
          </a:prstGeom>
          <a:gradFill>
            <a:gsLst>
              <a:gs pos="0">
                <a:srgbClr val="244061">
                  <a:alpha val="67843"/>
                </a:srgbClr>
              </a:gs>
              <a:gs pos="19000">
                <a:srgbClr val="244061">
                  <a:alpha val="67843"/>
                </a:srgbClr>
              </a:gs>
              <a:gs pos="100000">
                <a:srgbClr val="4F81BD">
                  <a:alpha val="78823"/>
                </a:srgbClr>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4" name="Google Shape;1054;p59"/>
          <p:cNvSpPr/>
          <p:nvPr/>
        </p:nvSpPr>
        <p:spPr>
          <a:xfrm rot="5400000">
            <a:off x="7961667" y="-7961666"/>
            <a:ext cx="2364669" cy="18288002"/>
          </a:xfrm>
          <a:prstGeom prst="rect">
            <a:avLst/>
          </a:prstGeom>
          <a:gradFill>
            <a:gsLst>
              <a:gs pos="0">
                <a:srgbClr val="000000">
                  <a:alpha val="0"/>
                </a:srgbClr>
              </a:gs>
              <a:gs pos="16000">
                <a:srgbClr val="000000">
                  <a:alpha val="0"/>
                </a:srgbClr>
              </a:gs>
              <a:gs pos="99000">
                <a:srgbClr val="000000">
                  <a:alpha val="86666"/>
                </a:srgbClr>
              </a:gs>
              <a:gs pos="100000">
                <a:srgbClr val="000000">
                  <a:alpha val="86666"/>
                </a:srgbClr>
              </a:gs>
            </a:gsLst>
            <a:lin ang="11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5" name="Google Shape;1055;p59"/>
          <p:cNvSpPr/>
          <p:nvPr/>
        </p:nvSpPr>
        <p:spPr>
          <a:xfrm>
            <a:off x="5738151" y="1479"/>
            <a:ext cx="6455133" cy="2363191"/>
          </a:xfrm>
          <a:prstGeom prst="rect">
            <a:avLst/>
          </a:prstGeom>
          <a:gradFill>
            <a:gsLst>
              <a:gs pos="0">
                <a:srgbClr val="4F81BD">
                  <a:alpha val="16862"/>
                </a:srgbClr>
              </a:gs>
              <a:gs pos="74000">
                <a:srgbClr val="244061">
                  <a:alpha val="0"/>
                </a:srgbClr>
              </a:gs>
              <a:gs pos="100000">
                <a:srgbClr val="244061">
                  <a:alpha val="0"/>
                </a:srgbClr>
              </a:gs>
            </a:gsLst>
            <a:lin ang="14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6" name="Google Shape;1056;p59"/>
          <p:cNvSpPr txBox="1"/>
          <p:nvPr/>
        </p:nvSpPr>
        <p:spPr>
          <a:xfrm>
            <a:off x="1049571" y="529740"/>
            <a:ext cx="10636950" cy="134787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rgbClr val="FFFFFF"/>
                </a:solidFill>
                <a:latin typeface="Arial"/>
                <a:ea typeface="Arial"/>
                <a:cs typeface="Arial"/>
                <a:sym typeface="Arial"/>
              </a:rPr>
              <a:t>Practiquemos lo aprendido</a:t>
            </a:r>
            <a:endParaRPr b="0" i="0" sz="6000" u="none" cap="none" strike="noStrike">
              <a:solidFill>
                <a:srgbClr val="FFFFFF"/>
              </a:solidFill>
              <a:latin typeface="Arial"/>
              <a:ea typeface="Arial"/>
              <a:cs typeface="Arial"/>
              <a:sym typeface="Arial"/>
            </a:endParaRPr>
          </a:p>
        </p:txBody>
      </p:sp>
      <p:pic>
        <p:nvPicPr>
          <p:cNvPr id="1057" name="Google Shape;1057;p59"/>
          <p:cNvPicPr preferRelativeResize="0"/>
          <p:nvPr/>
        </p:nvPicPr>
        <p:blipFill rotWithShape="1">
          <a:blip r:embed="rId3">
            <a:alphaModFix/>
          </a:blip>
          <a:srcRect b="0" l="0" r="0" t="0"/>
          <a:stretch/>
        </p:blipFill>
        <p:spPr>
          <a:xfrm>
            <a:off x="5864102" y="2532576"/>
            <a:ext cx="5996747" cy="5996747"/>
          </a:xfrm>
          <a:prstGeom prst="rect">
            <a:avLst/>
          </a:prstGeom>
          <a:noFill/>
          <a:ln>
            <a:noFill/>
          </a:ln>
        </p:spPr>
      </p:pic>
      <p:sp>
        <p:nvSpPr>
          <p:cNvPr id="1058" name="Google Shape;1058;p59"/>
          <p:cNvSpPr txBox="1"/>
          <p:nvPr/>
        </p:nvSpPr>
        <p:spPr>
          <a:xfrm>
            <a:off x="5385533" y="8529324"/>
            <a:ext cx="6953887" cy="134787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Ejercicio Práctico 1</a:t>
            </a:r>
            <a:endParaRPr b="0" i="0" sz="60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pic>
        <p:nvPicPr>
          <p:cNvPr id="1063" name="Google Shape;1063;p74"/>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1064" name="Google Shape;1064;p74"/>
          <p:cNvGraphicFramePr/>
          <p:nvPr/>
        </p:nvGraphicFramePr>
        <p:xfrm>
          <a:off x="16900" y="1507250"/>
          <a:ext cx="3000000" cy="3000000"/>
        </p:xfrm>
        <a:graphic>
          <a:graphicData uri="http://schemas.openxmlformats.org/drawingml/2006/table">
            <a:tbl>
              <a:tblPr>
                <a:noFill/>
                <a:tableStyleId>{E5892122-4BA2-4E00-B2F9-876FB8FC4837}</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065" name="Google Shape;1065;p74"/>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1066" name="Google Shape;1066;p74"/>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aphicFrame>
        <p:nvGraphicFramePr>
          <p:cNvPr id="1067" name="Google Shape;1067;p74"/>
          <p:cNvGraphicFramePr/>
          <p:nvPr/>
        </p:nvGraphicFramePr>
        <p:xfrm>
          <a:off x="10656400" y="1940050"/>
          <a:ext cx="3000000" cy="3000000"/>
        </p:xfrm>
        <a:graphic>
          <a:graphicData uri="http://schemas.openxmlformats.org/drawingml/2006/table">
            <a:tbl>
              <a:tblPr>
                <a:noFill/>
                <a:tableStyleId>{E5892122-4BA2-4E00-B2F9-876FB8FC4837}</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noFill/>
                  </a:tcPr>
                </a:tc>
              </a:tr>
            </a:tbl>
          </a:graphicData>
        </a:graphic>
      </p:graphicFrame>
      <p:sp>
        <p:nvSpPr>
          <p:cNvPr id="1068" name="Google Shape;1068;p74"/>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69" name="Google Shape;1069;p74"/>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3" name="Shape 1073"/>
        <p:cNvGrpSpPr/>
        <p:nvPr/>
      </p:nvGrpSpPr>
      <p:grpSpPr>
        <a:xfrm>
          <a:off x="0" y="0"/>
          <a:ext cx="0" cy="0"/>
          <a:chOff x="0" y="0"/>
          <a:chExt cx="0" cy="0"/>
        </a:xfrm>
      </p:grpSpPr>
      <p:sp>
        <p:nvSpPr>
          <p:cNvPr id="1074" name="Google Shape;1074;p75"/>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5" name="Google Shape;1075;p75"/>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400" u="none" cap="none" strike="noStrike">
                <a:solidFill>
                  <a:srgbClr val="FFFFFF"/>
                </a:solidFill>
                <a:latin typeface="Arial"/>
                <a:ea typeface="Arial"/>
                <a:cs typeface="Arial"/>
                <a:sym typeface="Arial"/>
              </a:rPr>
              <a:t>¿DUDAS?</a:t>
            </a:r>
            <a:endParaRPr b="0" i="0" sz="5400" u="none" cap="none" strike="noStrike">
              <a:solidFill>
                <a:srgbClr val="FFFFFF"/>
              </a:solidFill>
              <a:latin typeface="Arial"/>
              <a:ea typeface="Arial"/>
              <a:cs typeface="Arial"/>
              <a:sym typeface="Arial"/>
            </a:endParaRPr>
          </a:p>
        </p:txBody>
      </p:sp>
      <p:pic>
        <p:nvPicPr>
          <p:cNvPr id="1076" name="Google Shape;1076;p75"/>
          <p:cNvPicPr preferRelativeResize="0"/>
          <p:nvPr/>
        </p:nvPicPr>
        <p:blipFill rotWithShape="1">
          <a:blip r:embed="rId3">
            <a:alphaModFix/>
          </a:blip>
          <a:srcRect b="0" l="0" r="0" t="0"/>
          <a:stretch/>
        </p:blipFill>
        <p:spPr>
          <a:xfrm>
            <a:off x="7165974" y="1976014"/>
            <a:ext cx="10171050" cy="6331478"/>
          </a:xfrm>
          <a:prstGeom prst="rect">
            <a:avLst/>
          </a:prstGeom>
          <a:noFill/>
          <a:ln>
            <a:noFill/>
          </a:ln>
        </p:spPr>
      </p:pic>
    </p:spTree>
  </p:cSld>
  <p:clrMapOvr>
    <a:masterClrMapping/>
  </p:clrMapOvr>
  <p:transition spd="slow">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CFF"/>
        </a:solidFill>
      </p:bgPr>
    </p:bg>
    <p:spTree>
      <p:nvGrpSpPr>
        <p:cNvPr id="1080" name="Shape 1080"/>
        <p:cNvGrpSpPr/>
        <p:nvPr/>
      </p:nvGrpSpPr>
      <p:grpSpPr>
        <a:xfrm>
          <a:off x="0" y="0"/>
          <a:ext cx="0" cy="0"/>
          <a:chOff x="0" y="0"/>
          <a:chExt cx="0" cy="0"/>
        </a:xfrm>
      </p:grpSpPr>
      <p:sp>
        <p:nvSpPr>
          <p:cNvPr id="1081" name="Google Shape;1081;p60"/>
          <p:cNvSpPr txBox="1"/>
          <p:nvPr/>
        </p:nvSpPr>
        <p:spPr>
          <a:xfrm>
            <a:off x="3211074" y="6307133"/>
            <a:ext cx="12131311" cy="1952329"/>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Arial"/>
              <a:ea typeface="Arial"/>
              <a:cs typeface="Arial"/>
              <a:sym typeface="Arial"/>
            </a:endParaRPr>
          </a:p>
        </p:txBody>
      </p:sp>
      <p:sp>
        <p:nvSpPr>
          <p:cNvPr id="1082" name="Google Shape;1082;p60"/>
          <p:cNvSpPr/>
          <p:nvPr/>
        </p:nvSpPr>
        <p:spPr>
          <a:xfrm>
            <a:off x="7765366" y="2176435"/>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3" name="Google Shape;1083;p60"/>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