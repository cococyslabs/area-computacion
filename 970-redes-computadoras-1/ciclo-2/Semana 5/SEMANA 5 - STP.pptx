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10287000" cx="18288000"/>
  <p:notesSz cx="6858000" cy="9144000"/>
  <p:embeddedFontLst>
    <p:embeddedFont>
      <p:font typeface="Shantell Sans"/>
      <p:bold r:id="rId33"/>
      <p:boldItalic r:id="rId34"/>
    </p:embeddedFont>
    <p:embeddedFont>
      <p:font typeface="Sansita"/>
      <p:regular r:id="rId35"/>
      <p:bold r:id="rId36"/>
      <p:italic r:id="rId37"/>
      <p:boldItalic r:id="rId38"/>
    </p:embeddedFont>
    <p:embeddedFont>
      <p:font typeface="DM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hqXhV8NrtKqCJjxsNlgLu0vaK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ShantellSans-bold.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Sansita-regular.fntdata"/><Relationship Id="rId12" Type="http://schemas.openxmlformats.org/officeDocument/2006/relationships/slide" Target="slides/slide7.xml"/><Relationship Id="rId34" Type="http://schemas.openxmlformats.org/officeDocument/2006/relationships/font" Target="fonts/ShantellSans-boldItalic.fntdata"/><Relationship Id="rId15" Type="http://schemas.openxmlformats.org/officeDocument/2006/relationships/slide" Target="slides/slide10.xml"/><Relationship Id="rId37" Type="http://schemas.openxmlformats.org/officeDocument/2006/relationships/font" Target="fonts/Sansita-italic.fntdata"/><Relationship Id="rId14" Type="http://schemas.openxmlformats.org/officeDocument/2006/relationships/slide" Target="slides/slide9.xml"/><Relationship Id="rId36" Type="http://schemas.openxmlformats.org/officeDocument/2006/relationships/font" Target="fonts/Sansita-bold.fntdata"/><Relationship Id="rId17" Type="http://schemas.openxmlformats.org/officeDocument/2006/relationships/slide" Target="slides/slide12.xml"/><Relationship Id="rId39" Type="http://schemas.openxmlformats.org/officeDocument/2006/relationships/font" Target="fonts/DMSans-bold.fntdata"/><Relationship Id="rId16" Type="http://schemas.openxmlformats.org/officeDocument/2006/relationships/slide" Target="slides/slide11.xml"/><Relationship Id="rId38" Type="http://schemas.openxmlformats.org/officeDocument/2006/relationships/font" Target="fonts/Sansit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14.png"/><Relationship Id="rId10" Type="http://schemas.openxmlformats.org/officeDocument/2006/relationships/image" Target="../media/image4.png"/><Relationship Id="rId9"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7.png"/><Relationship Id="rId9"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9.png"/><Relationship Id="rId9" Type="http://schemas.openxmlformats.org/officeDocument/2006/relationships/image" Target="../media/image31.png"/><Relationship Id="rId5" Type="http://schemas.openxmlformats.org/officeDocument/2006/relationships/image" Target="../media/image28.png"/><Relationship Id="rId6" Type="http://schemas.openxmlformats.org/officeDocument/2006/relationships/image" Target="../media/image33.png"/><Relationship Id="rId7" Type="http://schemas.openxmlformats.org/officeDocument/2006/relationships/image" Target="../media/image35.png"/><Relationship Id="rId8" Type="http://schemas.openxmlformats.org/officeDocument/2006/relationships/image" Target="../media/image38.png"/></Relationships>
</file>

<file path=ppt/slides/_rels/slide7.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40.png"/><Relationship Id="rId13" Type="http://schemas.openxmlformats.org/officeDocument/2006/relationships/image" Target="../media/image10.png"/><Relationship Id="rId12"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32.png"/><Relationship Id="rId9" Type="http://schemas.openxmlformats.org/officeDocument/2006/relationships/image" Target="../media/image39.png"/><Relationship Id="rId5" Type="http://schemas.openxmlformats.org/officeDocument/2006/relationships/image" Target="../media/image18.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44.png"/></Relationships>
</file>

<file path=ppt/slides/_rels/slide8.xml.rels><?xml version="1.0" encoding="UTF-8" standalone="yes"?><Relationships xmlns="http://schemas.openxmlformats.org/package/2006/relationships"><Relationship Id="rId10" Type="http://schemas.openxmlformats.org/officeDocument/2006/relationships/image" Target="../media/image52.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56.png"/><Relationship Id="rId9" Type="http://schemas.openxmlformats.org/officeDocument/2006/relationships/image" Target="../media/image50.png"/><Relationship Id="rId5" Type="http://schemas.openxmlformats.org/officeDocument/2006/relationships/image" Target="../media/image43.png"/><Relationship Id="rId6" Type="http://schemas.openxmlformats.org/officeDocument/2006/relationships/image" Target="../media/image47.png"/><Relationship Id="rId7" Type="http://schemas.openxmlformats.org/officeDocument/2006/relationships/image" Target="../media/image51.png"/><Relationship Id="rId8" Type="http://schemas.openxmlformats.org/officeDocument/2006/relationships/image" Target="../media/image48.png"/></Relationships>
</file>

<file path=ppt/slides/_rels/slide9.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58.png"/><Relationship Id="rId13" Type="http://schemas.openxmlformats.org/officeDocument/2006/relationships/image" Target="../media/image53.png"/><Relationship Id="rId12"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55.png"/><Relationship Id="rId9" Type="http://schemas.openxmlformats.org/officeDocument/2006/relationships/image" Target="../media/image57.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9.png"/><Relationship Id="rId8" Type="http://schemas.openxmlformats.org/officeDocument/2006/relationships/image" Target="../media/image6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64.png"/><Relationship Id="rId5" Type="http://schemas.openxmlformats.org/officeDocument/2006/relationships/image" Target="../media/image59.png"/><Relationship Id="rId6" Type="http://schemas.openxmlformats.org/officeDocument/2006/relationships/image" Target="../media/image10.png"/><Relationship Id="rId7" Type="http://schemas.openxmlformats.org/officeDocument/2006/relationships/image" Target="../media/image66.png"/><Relationship Id="rId8"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67.png"/><Relationship Id="rId5" Type="http://schemas.openxmlformats.org/officeDocument/2006/relationships/image" Target="../media/image10.png"/><Relationship Id="rId6" Type="http://schemas.openxmlformats.org/officeDocument/2006/relationships/image" Target="../media/image66.png"/><Relationship Id="rId7" Type="http://schemas.openxmlformats.org/officeDocument/2006/relationships/image" Target="../media/image70.png"/><Relationship Id="rId8" Type="http://schemas.openxmlformats.org/officeDocument/2006/relationships/image" Target="../media/image7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73.png"/><Relationship Id="rId9" Type="http://schemas.openxmlformats.org/officeDocument/2006/relationships/image" Target="../media/image105.png"/><Relationship Id="rId5" Type="http://schemas.openxmlformats.org/officeDocument/2006/relationships/image" Target="../media/image27.png"/><Relationship Id="rId6" Type="http://schemas.openxmlformats.org/officeDocument/2006/relationships/image" Target="../media/image43.png"/><Relationship Id="rId7" Type="http://schemas.openxmlformats.org/officeDocument/2006/relationships/image" Target="../media/image84.png"/><Relationship Id="rId8" Type="http://schemas.openxmlformats.org/officeDocument/2006/relationships/image" Target="../media/image28.png"/></Relationships>
</file>

<file path=ppt/slides/_rels/slide13.xml.rels><?xml version="1.0" encoding="UTF-8" standalone="yes"?><Relationships xmlns="http://schemas.openxmlformats.org/package/2006/relationships"><Relationship Id="rId10"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13.png"/><Relationship Id="rId9" Type="http://schemas.openxmlformats.org/officeDocument/2006/relationships/image" Target="../media/image79.png"/><Relationship Id="rId5" Type="http://schemas.openxmlformats.org/officeDocument/2006/relationships/image" Target="../media/image43.png"/><Relationship Id="rId6" Type="http://schemas.openxmlformats.org/officeDocument/2006/relationships/image" Target="../media/image80.png"/><Relationship Id="rId7" Type="http://schemas.openxmlformats.org/officeDocument/2006/relationships/image" Target="../media/image77.png"/><Relationship Id="rId8" Type="http://schemas.openxmlformats.org/officeDocument/2006/relationships/image" Target="../media/image1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94.png"/><Relationship Id="rId5" Type="http://schemas.openxmlformats.org/officeDocument/2006/relationships/image" Target="../media/image106.png"/><Relationship Id="rId6" Type="http://schemas.openxmlformats.org/officeDocument/2006/relationships/image" Target="../media/image8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81.png"/><Relationship Id="rId5" Type="http://schemas.openxmlformats.org/officeDocument/2006/relationships/image" Target="../media/image115.png"/><Relationship Id="rId6" Type="http://schemas.openxmlformats.org/officeDocument/2006/relationships/image" Target="../media/image82.png"/><Relationship Id="rId7" Type="http://schemas.openxmlformats.org/officeDocument/2006/relationships/image" Target="../media/image85.png"/><Relationship Id="rId8" Type="http://schemas.openxmlformats.org/officeDocument/2006/relationships/image" Target="../media/image140.png"/></Relationships>
</file>

<file path=ppt/slides/_rels/slide16.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66.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83.png"/><Relationship Id="rId9" Type="http://schemas.openxmlformats.org/officeDocument/2006/relationships/image" Target="../media/image10.png"/><Relationship Id="rId5" Type="http://schemas.openxmlformats.org/officeDocument/2006/relationships/image" Target="../media/image92.png"/><Relationship Id="rId6" Type="http://schemas.openxmlformats.org/officeDocument/2006/relationships/image" Target="../media/image91.png"/><Relationship Id="rId7" Type="http://schemas.openxmlformats.org/officeDocument/2006/relationships/image" Target="../media/image88.png"/><Relationship Id="rId8" Type="http://schemas.openxmlformats.org/officeDocument/2006/relationships/image" Target="../media/image9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138.png"/><Relationship Id="rId5" Type="http://schemas.openxmlformats.org/officeDocument/2006/relationships/image" Target="../media/image129.png"/><Relationship Id="rId6" Type="http://schemas.openxmlformats.org/officeDocument/2006/relationships/image" Target="../media/image8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14.png"/><Relationship Id="rId5" Type="http://schemas.openxmlformats.org/officeDocument/2006/relationships/image" Target="../media/image1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93.png"/><Relationship Id="rId5" Type="http://schemas.openxmlformats.org/officeDocument/2006/relationships/image" Target="../media/image130.png"/><Relationship Id="rId6" Type="http://schemas.openxmlformats.org/officeDocument/2006/relationships/image" Target="../media/image9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96.png"/><Relationship Id="rId5" Type="http://schemas.openxmlformats.org/officeDocument/2006/relationships/image" Target="../media/image93.png"/><Relationship Id="rId6" Type="http://schemas.openxmlformats.org/officeDocument/2006/relationships/image" Target="../media/image100.png"/><Relationship Id="rId7" Type="http://schemas.openxmlformats.org/officeDocument/2006/relationships/image" Target="../media/image9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81.png"/><Relationship Id="rId9" Type="http://schemas.openxmlformats.org/officeDocument/2006/relationships/image" Target="../media/image85.png"/><Relationship Id="rId5" Type="http://schemas.openxmlformats.org/officeDocument/2006/relationships/image" Target="../media/image104.png"/><Relationship Id="rId6" Type="http://schemas.openxmlformats.org/officeDocument/2006/relationships/image" Target="../media/image115.png"/><Relationship Id="rId7" Type="http://schemas.openxmlformats.org/officeDocument/2006/relationships/image" Target="../media/image101.png"/><Relationship Id="rId8" Type="http://schemas.openxmlformats.org/officeDocument/2006/relationships/image" Target="../media/image136.png"/></Relationships>
</file>

<file path=ppt/slides/_rels/slide22.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7.png"/><Relationship Id="rId9"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121.png"/><Relationship Id="rId8" Type="http://schemas.openxmlformats.org/officeDocument/2006/relationships/image" Target="../media/image1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10.png"/></Relationships>
</file>

<file path=ppt/slides/_rels/slide24.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133.png"/><Relationship Id="rId13" Type="http://schemas.openxmlformats.org/officeDocument/2006/relationships/image" Target="../media/image31.png"/><Relationship Id="rId12"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55.png"/><Relationship Id="rId9" Type="http://schemas.openxmlformats.org/officeDocument/2006/relationships/image" Target="../media/image63.png"/><Relationship Id="rId5" Type="http://schemas.openxmlformats.org/officeDocument/2006/relationships/image" Target="../media/image128.png"/><Relationship Id="rId6" Type="http://schemas.openxmlformats.org/officeDocument/2006/relationships/image" Target="../media/image62.png"/><Relationship Id="rId7" Type="http://schemas.openxmlformats.org/officeDocument/2006/relationships/image" Target="../media/image69.png"/><Relationship Id="rId8"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4.png"/><Relationship Id="rId4" Type="http://schemas.openxmlformats.org/officeDocument/2006/relationships/image" Target="../media/image1.png"/><Relationship Id="rId9" Type="http://schemas.openxmlformats.org/officeDocument/2006/relationships/image" Target="../media/image139.png"/><Relationship Id="rId5" Type="http://schemas.openxmlformats.org/officeDocument/2006/relationships/image" Target="../media/image141.png"/><Relationship Id="rId6" Type="http://schemas.openxmlformats.org/officeDocument/2006/relationships/image" Target="../media/image38.png"/><Relationship Id="rId7" Type="http://schemas.openxmlformats.org/officeDocument/2006/relationships/image" Target="../media/image6.png"/><Relationship Id="rId8" Type="http://schemas.openxmlformats.org/officeDocument/2006/relationships/image" Target="../media/image1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129.png"/><Relationship Id="rId5" Type="http://schemas.openxmlformats.org/officeDocument/2006/relationships/image" Target="../media/image1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32.png"/><Relationship Id="rId5"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85" name="Google Shape;85;p1"/>
          <p:cNvSpPr/>
          <p:nvPr/>
        </p:nvSpPr>
        <p:spPr>
          <a:xfrm>
            <a:off x="5578626" y="2746207"/>
            <a:ext cx="6719608" cy="1857055"/>
          </a:xfrm>
          <a:custGeom>
            <a:rect b="b" l="l" r="r" t="t"/>
            <a:pathLst>
              <a:path extrusionOk="0" h="1857055" w="6719608">
                <a:moveTo>
                  <a:pt x="0" y="0"/>
                </a:moveTo>
                <a:lnTo>
                  <a:pt x="6719607" y="0"/>
                </a:lnTo>
                <a:lnTo>
                  <a:pt x="6719607" y="1857055"/>
                </a:lnTo>
                <a:lnTo>
                  <a:pt x="0" y="1857055"/>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13982031" y="1902860"/>
            <a:ext cx="3870678" cy="8384140"/>
          </a:xfrm>
          <a:custGeom>
            <a:rect b="b" l="l" r="r" t="t"/>
            <a:pathLst>
              <a:path extrusionOk="0" h="8384140" w="3870678">
                <a:moveTo>
                  <a:pt x="0" y="0"/>
                </a:moveTo>
                <a:lnTo>
                  <a:pt x="3870678" y="0"/>
                </a:lnTo>
                <a:lnTo>
                  <a:pt x="3870678" y="8384140"/>
                </a:lnTo>
                <a:lnTo>
                  <a:pt x="0" y="8384140"/>
                </a:lnTo>
                <a:lnTo>
                  <a:pt x="0" y="0"/>
                </a:lnTo>
                <a:close/>
              </a:path>
            </a:pathLst>
          </a:custGeom>
          <a:blipFill rotWithShape="1">
            <a:blip r:embed="rId5">
              <a:alphaModFix/>
            </a:blip>
            <a:stretch>
              <a:fillRect b="0" l="0" r="0" t="0"/>
            </a:stretch>
          </a:blipFill>
          <a:ln>
            <a:noFill/>
          </a:ln>
        </p:spPr>
      </p:sp>
      <p:sp>
        <p:nvSpPr>
          <p:cNvPr id="87" name="Google Shape;87;p1"/>
          <p:cNvSpPr txBox="1"/>
          <p:nvPr/>
        </p:nvSpPr>
        <p:spPr>
          <a:xfrm>
            <a:off x="787300" y="4151475"/>
            <a:ext cx="13686300" cy="21963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b="0" i="0" lang="en-US" sz="5945" u="none" cap="none" strike="noStrike">
                <a:solidFill>
                  <a:srgbClr val="000102"/>
                </a:solidFill>
                <a:latin typeface="Arial"/>
                <a:ea typeface="Arial"/>
                <a:cs typeface="Arial"/>
                <a:sym typeface="Arial"/>
              </a:rPr>
              <a:t>Dispositivos y Protocolos en la Capa 2: </a:t>
            </a:r>
            <a:endParaRPr sz="100"/>
          </a:p>
          <a:p>
            <a:pPr indent="0" lvl="0" marL="0" marR="0" rtl="0" algn="just">
              <a:lnSpc>
                <a:spcPct val="140018"/>
              </a:lnSpc>
              <a:spcBef>
                <a:spcPts val="0"/>
              </a:spcBef>
              <a:spcAft>
                <a:spcPts val="0"/>
              </a:spcAft>
              <a:buNone/>
            </a:pPr>
            <a:r>
              <a:rPr b="0" i="0" lang="en-US" sz="5945" u="none" cap="none" strike="noStrike">
                <a:solidFill>
                  <a:srgbClr val="000102"/>
                </a:solidFill>
                <a:latin typeface="Arial"/>
                <a:ea typeface="Arial"/>
                <a:cs typeface="Arial"/>
                <a:sym typeface="Arial"/>
              </a:rPr>
              <a:t>Segmentación y Direccion</a:t>
            </a:r>
            <a:r>
              <a:rPr b="0" i="0" lang="en-US" sz="5945" u="none" cap="none" strike="noStrike">
                <a:solidFill>
                  <a:srgbClr val="000102"/>
                </a:solidFill>
                <a:latin typeface="Arial"/>
                <a:ea typeface="Arial"/>
                <a:cs typeface="Arial"/>
                <a:sym typeface="Arial"/>
              </a:rPr>
              <a:t>a</a:t>
            </a:r>
            <a:r>
              <a:rPr b="0" i="0" lang="en-US" sz="5945" u="none" cap="none" strike="noStrike">
                <a:solidFill>
                  <a:srgbClr val="000102"/>
                </a:solidFill>
                <a:latin typeface="Arial"/>
                <a:ea typeface="Arial"/>
                <a:cs typeface="Arial"/>
                <a:sym typeface="Arial"/>
              </a:rPr>
              <a:t>miento</a:t>
            </a:r>
            <a:endParaRPr sz="100"/>
          </a:p>
        </p:txBody>
      </p:sp>
      <p:sp>
        <p:nvSpPr>
          <p:cNvPr id="88" name="Google Shape;88;p1"/>
          <p:cNvSpPr txBox="1"/>
          <p:nvPr/>
        </p:nvSpPr>
        <p:spPr>
          <a:xfrm>
            <a:off x="5252951" y="2864211"/>
            <a:ext cx="7371000" cy="1459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8516" u="none" cap="none" strike="noStrike">
                <a:solidFill>
                  <a:srgbClr val="000102"/>
                </a:solidFill>
                <a:latin typeface="Shantell Sans"/>
                <a:ea typeface="Shantell Sans"/>
                <a:cs typeface="Shantell Sans"/>
                <a:sym typeface="Shantell Sans"/>
              </a:rPr>
              <a:t>Unidad 2</a:t>
            </a:r>
            <a:endParaRPr/>
          </a:p>
        </p:txBody>
      </p:sp>
      <p:sp>
        <p:nvSpPr>
          <p:cNvPr id="89" name="Google Shape;89;p1"/>
          <p:cNvSpPr txBox="1"/>
          <p:nvPr/>
        </p:nvSpPr>
        <p:spPr>
          <a:xfrm>
            <a:off x="787301" y="7655448"/>
            <a:ext cx="9354242"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Shantell Sans"/>
                <a:ea typeface="Shantell Sans"/>
                <a:cs typeface="Shantell Sans"/>
                <a:sym typeface="Shantell Sans"/>
              </a:rPr>
              <a:t>Redes de Computadoras 1</a:t>
            </a:r>
            <a:endParaRPr/>
          </a:p>
        </p:txBody>
      </p:sp>
      <p:sp>
        <p:nvSpPr>
          <p:cNvPr id="90" name="Google Shape;90;p1"/>
          <p:cNvSpPr txBox="1"/>
          <p:nvPr/>
        </p:nvSpPr>
        <p:spPr>
          <a:xfrm>
            <a:off x="787301" y="8538098"/>
            <a:ext cx="751329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Shantell Sans"/>
                <a:ea typeface="Shantell Sans"/>
                <a:cs typeface="Shantell Sans"/>
                <a:sym typeface="Shantell Sans"/>
              </a:rPr>
              <a:t>Escuela de Ingenieria de Ciencias Y Sistemas</a:t>
            </a:r>
            <a:endParaRPr/>
          </a:p>
        </p:txBody>
      </p:sp>
      <p:sp>
        <p:nvSpPr>
          <p:cNvPr id="91" name="Google Shape;91;p1"/>
          <p:cNvSpPr txBox="1"/>
          <p:nvPr/>
        </p:nvSpPr>
        <p:spPr>
          <a:xfrm>
            <a:off x="787301" y="8958135"/>
            <a:ext cx="3870573"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Shantell Sans"/>
                <a:ea typeface="Shantell Sans"/>
                <a:cs typeface="Shantell Sans"/>
                <a:sym typeface="Shantell Sans"/>
              </a:rPr>
              <a:t>Facultad de Ingenieria</a:t>
            </a:r>
            <a:endParaRPr/>
          </a:p>
        </p:txBody>
      </p:sp>
      <p:sp>
        <p:nvSpPr>
          <p:cNvPr id="92" name="Google Shape;92;p1"/>
          <p:cNvSpPr txBox="1"/>
          <p:nvPr/>
        </p:nvSpPr>
        <p:spPr>
          <a:xfrm>
            <a:off x="787301" y="9378172"/>
            <a:ext cx="6890742"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Shantell Sans"/>
                <a:ea typeface="Shantell Sans"/>
                <a:cs typeface="Shantell Sans"/>
                <a:sym typeface="Shantell Sans"/>
              </a:rPr>
              <a:t>Universidad de San Carlos de Guatemala</a:t>
            </a:r>
            <a:endParaRPr/>
          </a:p>
        </p:txBody>
      </p:sp>
      <p:sp>
        <p:nvSpPr>
          <p:cNvPr id="93" name="Google Shape;93;p1"/>
          <p:cNvSpPr/>
          <p:nvPr/>
        </p:nvSpPr>
        <p:spPr>
          <a:xfrm>
            <a:off x="10405950" y="0"/>
            <a:ext cx="7952397" cy="2107603"/>
          </a:xfrm>
          <a:custGeom>
            <a:rect b="b" l="l" r="r" t="t"/>
            <a:pathLst>
              <a:path extrusionOk="0" h="2107603" w="7952397">
                <a:moveTo>
                  <a:pt x="0" y="0"/>
                </a:moveTo>
                <a:lnTo>
                  <a:pt x="7952397" y="0"/>
                </a:lnTo>
                <a:lnTo>
                  <a:pt x="7952397" y="2107603"/>
                </a:lnTo>
                <a:lnTo>
                  <a:pt x="0" y="2107603"/>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99" name="Google Shape;99;p2"/>
          <p:cNvSpPr/>
          <p:nvPr/>
        </p:nvSpPr>
        <p:spPr>
          <a:xfrm>
            <a:off x="2281454" y="1521332"/>
            <a:ext cx="5337736" cy="1000826"/>
          </a:xfrm>
          <a:custGeom>
            <a:rect b="b" l="l" r="r" t="t"/>
            <a:pathLst>
              <a:path extrusionOk="0" h="1000826" w="5337736">
                <a:moveTo>
                  <a:pt x="0" y="0"/>
                </a:moveTo>
                <a:lnTo>
                  <a:pt x="5337737" y="0"/>
                </a:lnTo>
                <a:lnTo>
                  <a:pt x="5337737" y="1000826"/>
                </a:lnTo>
                <a:lnTo>
                  <a:pt x="0" y="1000826"/>
                </a:lnTo>
                <a:lnTo>
                  <a:pt x="0" y="0"/>
                </a:lnTo>
                <a:close/>
              </a:path>
            </a:pathLst>
          </a:custGeom>
          <a:blipFill rotWithShape="1">
            <a:blip r:embed="rId4">
              <a:alphaModFix amt="57000"/>
            </a:blip>
            <a:stretch>
              <a:fillRect b="0" l="0" r="0" t="0"/>
            </a:stretch>
          </a:blipFill>
          <a:ln>
            <a:noFill/>
          </a:ln>
        </p:spPr>
      </p:sp>
      <p:sp>
        <p:nvSpPr>
          <p:cNvPr id="100" name="Google Shape;100;p2"/>
          <p:cNvSpPr/>
          <p:nvPr/>
        </p:nvSpPr>
        <p:spPr>
          <a:xfrm>
            <a:off x="11611713" y="1521332"/>
            <a:ext cx="5337736" cy="1000826"/>
          </a:xfrm>
          <a:custGeom>
            <a:rect b="b" l="l" r="r" t="t"/>
            <a:pathLst>
              <a:path extrusionOk="0" h="1000826" w="5337736">
                <a:moveTo>
                  <a:pt x="0" y="0"/>
                </a:moveTo>
                <a:lnTo>
                  <a:pt x="5337736" y="0"/>
                </a:lnTo>
                <a:lnTo>
                  <a:pt x="5337736" y="1000826"/>
                </a:lnTo>
                <a:lnTo>
                  <a:pt x="0" y="1000826"/>
                </a:lnTo>
                <a:lnTo>
                  <a:pt x="0" y="0"/>
                </a:lnTo>
                <a:close/>
              </a:path>
            </a:pathLst>
          </a:custGeom>
          <a:blipFill rotWithShape="1">
            <a:blip r:embed="rId5">
              <a:alphaModFix amt="57000"/>
            </a:blip>
            <a:stretch>
              <a:fillRect b="0" l="0" r="0" t="0"/>
            </a:stretch>
          </a:blipFill>
          <a:ln>
            <a:noFill/>
          </a:ln>
        </p:spPr>
      </p:sp>
      <p:sp>
        <p:nvSpPr>
          <p:cNvPr id="101" name="Google Shape;101;p2"/>
          <p:cNvSpPr/>
          <p:nvPr/>
        </p:nvSpPr>
        <p:spPr>
          <a:xfrm>
            <a:off x="1423098" y="2852584"/>
            <a:ext cx="7054449" cy="6567051"/>
          </a:xfrm>
          <a:custGeom>
            <a:rect b="b" l="l" r="r" t="t"/>
            <a:pathLst>
              <a:path extrusionOk="0" h="6567051" w="7054449">
                <a:moveTo>
                  <a:pt x="0" y="0"/>
                </a:moveTo>
                <a:lnTo>
                  <a:pt x="7054449" y="0"/>
                </a:lnTo>
                <a:lnTo>
                  <a:pt x="7054449" y="6567051"/>
                </a:lnTo>
                <a:lnTo>
                  <a:pt x="0" y="6567051"/>
                </a:lnTo>
                <a:lnTo>
                  <a:pt x="0" y="0"/>
                </a:lnTo>
                <a:close/>
              </a:path>
            </a:pathLst>
          </a:custGeom>
          <a:blipFill rotWithShape="1">
            <a:blip r:embed="rId6">
              <a:alphaModFix/>
            </a:blip>
            <a:stretch>
              <a:fillRect b="0" l="0" r="0" t="0"/>
            </a:stretch>
          </a:blipFill>
          <a:ln>
            <a:noFill/>
          </a:ln>
        </p:spPr>
      </p:sp>
      <p:sp>
        <p:nvSpPr>
          <p:cNvPr id="102" name="Google Shape;102;p2"/>
          <p:cNvSpPr/>
          <p:nvPr/>
        </p:nvSpPr>
        <p:spPr>
          <a:xfrm>
            <a:off x="2533102" y="5540324"/>
            <a:ext cx="469695" cy="469695"/>
          </a:xfrm>
          <a:custGeom>
            <a:rect b="b" l="l" r="r" t="t"/>
            <a:pathLst>
              <a:path extrusionOk="0" h="469695" w="469695">
                <a:moveTo>
                  <a:pt x="0" y="0"/>
                </a:moveTo>
                <a:lnTo>
                  <a:pt x="469695" y="0"/>
                </a:lnTo>
                <a:lnTo>
                  <a:pt x="469695" y="469695"/>
                </a:lnTo>
                <a:lnTo>
                  <a:pt x="0" y="469695"/>
                </a:lnTo>
                <a:lnTo>
                  <a:pt x="0" y="0"/>
                </a:lnTo>
                <a:close/>
              </a:path>
            </a:pathLst>
          </a:custGeom>
          <a:blipFill rotWithShape="1">
            <a:blip r:embed="rId7">
              <a:alphaModFix/>
            </a:blip>
            <a:stretch>
              <a:fillRect b="0" l="0" r="0" t="0"/>
            </a:stretch>
          </a:blipFill>
          <a:ln>
            <a:noFill/>
          </a:ln>
        </p:spPr>
      </p:sp>
      <p:sp>
        <p:nvSpPr>
          <p:cNvPr id="103" name="Google Shape;103;p2"/>
          <p:cNvSpPr/>
          <p:nvPr/>
        </p:nvSpPr>
        <p:spPr>
          <a:xfrm>
            <a:off x="2533102" y="6257669"/>
            <a:ext cx="469695" cy="469695"/>
          </a:xfrm>
          <a:custGeom>
            <a:rect b="b" l="l" r="r" t="t"/>
            <a:pathLst>
              <a:path extrusionOk="0" h="469695" w="469695">
                <a:moveTo>
                  <a:pt x="0" y="0"/>
                </a:moveTo>
                <a:lnTo>
                  <a:pt x="469695" y="0"/>
                </a:lnTo>
                <a:lnTo>
                  <a:pt x="469695" y="469695"/>
                </a:lnTo>
                <a:lnTo>
                  <a:pt x="0" y="469695"/>
                </a:lnTo>
                <a:lnTo>
                  <a:pt x="0" y="0"/>
                </a:lnTo>
                <a:close/>
              </a:path>
            </a:pathLst>
          </a:custGeom>
          <a:blipFill rotWithShape="1">
            <a:blip r:embed="rId7">
              <a:alphaModFix/>
            </a:blip>
            <a:stretch>
              <a:fillRect b="0" l="0" r="0" t="0"/>
            </a:stretch>
          </a:blipFill>
          <a:ln>
            <a:noFill/>
          </a:ln>
        </p:spPr>
      </p:sp>
      <p:sp>
        <p:nvSpPr>
          <p:cNvPr id="104" name="Google Shape;104;p2"/>
          <p:cNvSpPr/>
          <p:nvPr/>
        </p:nvSpPr>
        <p:spPr>
          <a:xfrm>
            <a:off x="2533102" y="6975014"/>
            <a:ext cx="469695" cy="469695"/>
          </a:xfrm>
          <a:custGeom>
            <a:rect b="b" l="l" r="r" t="t"/>
            <a:pathLst>
              <a:path extrusionOk="0" h="469695" w="469695">
                <a:moveTo>
                  <a:pt x="0" y="0"/>
                </a:moveTo>
                <a:lnTo>
                  <a:pt x="469695" y="0"/>
                </a:lnTo>
                <a:lnTo>
                  <a:pt x="469695" y="469695"/>
                </a:lnTo>
                <a:lnTo>
                  <a:pt x="0" y="469695"/>
                </a:lnTo>
                <a:lnTo>
                  <a:pt x="0" y="0"/>
                </a:lnTo>
                <a:close/>
              </a:path>
            </a:pathLst>
          </a:custGeom>
          <a:blipFill rotWithShape="1">
            <a:blip r:embed="rId7">
              <a:alphaModFix/>
            </a:blip>
            <a:stretch>
              <a:fillRect b="0" l="0" r="0" t="0"/>
            </a:stretch>
          </a:blipFill>
          <a:ln>
            <a:noFill/>
          </a:ln>
        </p:spPr>
      </p:sp>
      <p:sp>
        <p:nvSpPr>
          <p:cNvPr id="105" name="Google Shape;105;p2"/>
          <p:cNvSpPr/>
          <p:nvPr/>
        </p:nvSpPr>
        <p:spPr>
          <a:xfrm>
            <a:off x="2533102" y="7692359"/>
            <a:ext cx="469695" cy="469695"/>
          </a:xfrm>
          <a:custGeom>
            <a:rect b="b" l="l" r="r" t="t"/>
            <a:pathLst>
              <a:path extrusionOk="0" h="469695" w="469695">
                <a:moveTo>
                  <a:pt x="0" y="0"/>
                </a:moveTo>
                <a:lnTo>
                  <a:pt x="469695" y="0"/>
                </a:lnTo>
                <a:lnTo>
                  <a:pt x="469695" y="469695"/>
                </a:lnTo>
                <a:lnTo>
                  <a:pt x="0" y="469695"/>
                </a:lnTo>
                <a:lnTo>
                  <a:pt x="0" y="0"/>
                </a:lnTo>
                <a:close/>
              </a:path>
            </a:pathLst>
          </a:custGeom>
          <a:blipFill rotWithShape="1">
            <a:blip r:embed="rId7">
              <a:alphaModFix/>
            </a:blip>
            <a:stretch>
              <a:fillRect b="0" l="0" r="0" t="0"/>
            </a:stretch>
          </a:blipFill>
          <a:ln>
            <a:noFill/>
          </a:ln>
        </p:spPr>
      </p:sp>
      <p:sp>
        <p:nvSpPr>
          <p:cNvPr id="106" name="Google Shape;106;p2"/>
          <p:cNvSpPr/>
          <p:nvPr/>
        </p:nvSpPr>
        <p:spPr>
          <a:xfrm>
            <a:off x="2533102" y="4202029"/>
            <a:ext cx="469695" cy="545997"/>
          </a:xfrm>
          <a:custGeom>
            <a:rect b="b" l="l" r="r" t="t"/>
            <a:pathLst>
              <a:path extrusionOk="0" h="545997" w="469695">
                <a:moveTo>
                  <a:pt x="0" y="0"/>
                </a:moveTo>
                <a:lnTo>
                  <a:pt x="469695" y="0"/>
                </a:lnTo>
                <a:lnTo>
                  <a:pt x="469695" y="545997"/>
                </a:lnTo>
                <a:lnTo>
                  <a:pt x="0" y="545997"/>
                </a:lnTo>
                <a:lnTo>
                  <a:pt x="0" y="0"/>
                </a:lnTo>
                <a:close/>
              </a:path>
            </a:pathLst>
          </a:custGeom>
          <a:blipFill rotWithShape="1">
            <a:blip r:embed="rId8">
              <a:alphaModFix/>
            </a:blip>
            <a:stretch>
              <a:fillRect b="0" l="0" r="0" t="0"/>
            </a:stretch>
          </a:blipFill>
          <a:ln>
            <a:noFill/>
          </a:ln>
        </p:spPr>
      </p:sp>
      <p:sp>
        <p:nvSpPr>
          <p:cNvPr id="107" name="Google Shape;107;p2"/>
          <p:cNvSpPr/>
          <p:nvPr/>
        </p:nvSpPr>
        <p:spPr>
          <a:xfrm>
            <a:off x="10753357" y="2691249"/>
            <a:ext cx="7054449" cy="6567051"/>
          </a:xfrm>
          <a:custGeom>
            <a:rect b="b" l="l" r="r" t="t"/>
            <a:pathLst>
              <a:path extrusionOk="0" h="6567051" w="7054449">
                <a:moveTo>
                  <a:pt x="0" y="0"/>
                </a:moveTo>
                <a:lnTo>
                  <a:pt x="7054449" y="0"/>
                </a:lnTo>
                <a:lnTo>
                  <a:pt x="7054449" y="6567051"/>
                </a:lnTo>
                <a:lnTo>
                  <a:pt x="0" y="6567051"/>
                </a:lnTo>
                <a:lnTo>
                  <a:pt x="0" y="0"/>
                </a:lnTo>
                <a:close/>
              </a:path>
            </a:pathLst>
          </a:custGeom>
          <a:blipFill rotWithShape="1">
            <a:blip r:embed="rId6">
              <a:alphaModFix/>
            </a:blip>
            <a:stretch>
              <a:fillRect b="0" l="0" r="0" t="0"/>
            </a:stretch>
          </a:blipFill>
          <a:ln>
            <a:noFill/>
          </a:ln>
        </p:spPr>
      </p:sp>
      <p:sp>
        <p:nvSpPr>
          <p:cNvPr id="108" name="Google Shape;108;p2"/>
          <p:cNvSpPr/>
          <p:nvPr/>
        </p:nvSpPr>
        <p:spPr>
          <a:xfrm>
            <a:off x="11992773" y="4533464"/>
            <a:ext cx="927251" cy="927251"/>
          </a:xfrm>
          <a:custGeom>
            <a:rect b="b" l="l" r="r" t="t"/>
            <a:pathLst>
              <a:path extrusionOk="0" h="927251" w="927251">
                <a:moveTo>
                  <a:pt x="0" y="0"/>
                </a:moveTo>
                <a:lnTo>
                  <a:pt x="927252" y="0"/>
                </a:lnTo>
                <a:lnTo>
                  <a:pt x="927252" y="927251"/>
                </a:lnTo>
                <a:lnTo>
                  <a:pt x="0" y="927251"/>
                </a:lnTo>
                <a:lnTo>
                  <a:pt x="0" y="0"/>
                </a:lnTo>
                <a:close/>
              </a:path>
            </a:pathLst>
          </a:custGeom>
          <a:blipFill rotWithShape="1">
            <a:blip r:embed="rId9">
              <a:alphaModFix/>
            </a:blip>
            <a:stretch>
              <a:fillRect b="0" l="0" r="0" t="0"/>
            </a:stretch>
          </a:blipFill>
          <a:ln>
            <a:noFill/>
          </a:ln>
        </p:spPr>
      </p:sp>
      <p:sp>
        <p:nvSpPr>
          <p:cNvPr id="109" name="Google Shape;109;p2"/>
          <p:cNvSpPr/>
          <p:nvPr/>
        </p:nvSpPr>
        <p:spPr>
          <a:xfrm>
            <a:off x="12038102" y="5862666"/>
            <a:ext cx="836595" cy="864697"/>
          </a:xfrm>
          <a:custGeom>
            <a:rect b="b" l="l" r="r" t="t"/>
            <a:pathLst>
              <a:path extrusionOk="0" h="864697" w="836595">
                <a:moveTo>
                  <a:pt x="0" y="0"/>
                </a:moveTo>
                <a:lnTo>
                  <a:pt x="836594" y="0"/>
                </a:lnTo>
                <a:lnTo>
                  <a:pt x="836594" y="864698"/>
                </a:lnTo>
                <a:lnTo>
                  <a:pt x="0" y="864698"/>
                </a:lnTo>
                <a:lnTo>
                  <a:pt x="0" y="0"/>
                </a:lnTo>
                <a:close/>
              </a:path>
            </a:pathLst>
          </a:custGeom>
          <a:blipFill rotWithShape="1">
            <a:blip r:embed="rId10">
              <a:alphaModFix/>
            </a:blip>
            <a:stretch>
              <a:fillRect b="0" l="0" r="0" t="0"/>
            </a:stretch>
          </a:blipFill>
          <a:ln>
            <a:noFill/>
          </a:ln>
        </p:spPr>
      </p:sp>
      <p:sp>
        <p:nvSpPr>
          <p:cNvPr id="110" name="Google Shape;110;p2"/>
          <p:cNvSpPr txBox="1"/>
          <p:nvPr/>
        </p:nvSpPr>
        <p:spPr>
          <a:xfrm>
            <a:off x="2767949" y="1617282"/>
            <a:ext cx="4364746" cy="81244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4763" u="none" cap="none" strike="noStrike">
                <a:solidFill>
                  <a:srgbClr val="000102"/>
                </a:solidFill>
                <a:latin typeface="Arial"/>
                <a:ea typeface="Arial"/>
                <a:cs typeface="Arial"/>
                <a:sym typeface="Arial"/>
              </a:rPr>
              <a:t>Agenda</a:t>
            </a:r>
            <a:endParaRPr/>
          </a:p>
        </p:txBody>
      </p:sp>
      <p:sp>
        <p:nvSpPr>
          <p:cNvPr id="111" name="Google Shape;111;p2"/>
          <p:cNvSpPr txBox="1"/>
          <p:nvPr/>
        </p:nvSpPr>
        <p:spPr>
          <a:xfrm>
            <a:off x="12098208" y="1626807"/>
            <a:ext cx="4364746" cy="713387"/>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4163" u="none" cap="none" strike="noStrike">
                <a:solidFill>
                  <a:srgbClr val="000102"/>
                </a:solidFill>
                <a:latin typeface="Arial"/>
                <a:ea typeface="Arial"/>
                <a:cs typeface="Arial"/>
                <a:sym typeface="Arial"/>
              </a:rPr>
              <a:t>Recursos</a:t>
            </a:r>
            <a:endParaRPr/>
          </a:p>
        </p:txBody>
      </p:sp>
      <p:sp>
        <p:nvSpPr>
          <p:cNvPr id="112" name="Google Shape;112;p2"/>
          <p:cNvSpPr txBox="1"/>
          <p:nvPr/>
        </p:nvSpPr>
        <p:spPr>
          <a:xfrm>
            <a:off x="3164006" y="4280991"/>
            <a:ext cx="3968689" cy="40648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Foro #</a:t>
            </a:r>
            <a:endParaRPr/>
          </a:p>
        </p:txBody>
      </p:sp>
      <p:sp>
        <p:nvSpPr>
          <p:cNvPr id="113" name="Google Shape;113;p2"/>
          <p:cNvSpPr txBox="1"/>
          <p:nvPr/>
        </p:nvSpPr>
        <p:spPr>
          <a:xfrm>
            <a:off x="13081950" y="4822876"/>
            <a:ext cx="2312327"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000102"/>
                </a:solidFill>
                <a:latin typeface="Shantell Sans"/>
                <a:ea typeface="Shantell Sans"/>
                <a:cs typeface="Shantell Sans"/>
                <a:sym typeface="Shantell Sans"/>
              </a:rPr>
              <a:t>Link del video</a:t>
            </a:r>
            <a:endParaRPr/>
          </a:p>
        </p:txBody>
      </p:sp>
      <p:sp>
        <p:nvSpPr>
          <p:cNvPr id="114" name="Google Shape;114;p2"/>
          <p:cNvSpPr txBox="1"/>
          <p:nvPr/>
        </p:nvSpPr>
        <p:spPr>
          <a:xfrm>
            <a:off x="13081950" y="6067959"/>
            <a:ext cx="2108438"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000102"/>
                </a:solidFill>
                <a:latin typeface="Shantell Sans"/>
                <a:ea typeface="Shantell Sans"/>
                <a:cs typeface="Shantell Sans"/>
                <a:sym typeface="Shantell Sans"/>
              </a:rPr>
              <a:t>Link del quiz</a:t>
            </a:r>
            <a:endParaRPr/>
          </a:p>
        </p:txBody>
      </p:sp>
      <p:sp>
        <p:nvSpPr>
          <p:cNvPr id="115" name="Google Shape;115;p2"/>
          <p:cNvSpPr txBox="1"/>
          <p:nvPr/>
        </p:nvSpPr>
        <p:spPr>
          <a:xfrm>
            <a:off x="3164006" y="5306049"/>
            <a:ext cx="3968700" cy="87600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Spanning Tree Protocol (STP)</a:t>
            </a:r>
            <a:endParaRPr/>
          </a:p>
        </p:txBody>
      </p:sp>
      <p:sp>
        <p:nvSpPr>
          <p:cNvPr id="116" name="Google Shape;116;p2"/>
          <p:cNvSpPr txBox="1"/>
          <p:nvPr/>
        </p:nvSpPr>
        <p:spPr>
          <a:xfrm>
            <a:off x="3164006" y="6331106"/>
            <a:ext cx="3437611" cy="40648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Ejemplo Practico</a:t>
            </a:r>
            <a:endParaRPr/>
          </a:p>
        </p:txBody>
      </p:sp>
      <p:sp>
        <p:nvSpPr>
          <p:cNvPr id="117" name="Google Shape;117;p2"/>
          <p:cNvSpPr txBox="1"/>
          <p:nvPr/>
        </p:nvSpPr>
        <p:spPr>
          <a:xfrm>
            <a:off x="3164006" y="7048451"/>
            <a:ext cx="3437611" cy="40648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Quiz</a:t>
            </a:r>
            <a:endParaRPr/>
          </a:p>
        </p:txBody>
      </p:sp>
      <p:sp>
        <p:nvSpPr>
          <p:cNvPr id="118" name="Google Shape;118;p2"/>
          <p:cNvSpPr txBox="1"/>
          <p:nvPr/>
        </p:nvSpPr>
        <p:spPr>
          <a:xfrm>
            <a:off x="3164006" y="7765796"/>
            <a:ext cx="3437611" cy="40648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Asistencia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124" name="Google Shape;124;p3"/>
          <p:cNvSpPr/>
          <p:nvPr/>
        </p:nvSpPr>
        <p:spPr>
          <a:xfrm>
            <a:off x="5361260" y="1990571"/>
            <a:ext cx="6875006" cy="4695057"/>
          </a:xfrm>
          <a:custGeom>
            <a:rect b="b" l="l" r="r" t="t"/>
            <a:pathLst>
              <a:path extrusionOk="0" h="4695057" w="6875006">
                <a:moveTo>
                  <a:pt x="0" y="0"/>
                </a:moveTo>
                <a:lnTo>
                  <a:pt x="6875006" y="0"/>
                </a:lnTo>
                <a:lnTo>
                  <a:pt x="6875006" y="4695057"/>
                </a:lnTo>
                <a:lnTo>
                  <a:pt x="0" y="4695057"/>
                </a:lnTo>
                <a:lnTo>
                  <a:pt x="0" y="0"/>
                </a:lnTo>
                <a:close/>
              </a:path>
            </a:pathLst>
          </a:custGeom>
          <a:blipFill rotWithShape="1">
            <a:blip r:embed="rId4">
              <a:alphaModFix/>
            </a:blip>
            <a:stretch>
              <a:fillRect b="0" l="0" r="0" t="0"/>
            </a:stretch>
          </a:blipFill>
          <a:ln>
            <a:noFill/>
          </a:ln>
        </p:spPr>
      </p:sp>
      <p:sp>
        <p:nvSpPr>
          <p:cNvPr id="125" name="Google Shape;125;p3"/>
          <p:cNvSpPr/>
          <p:nvPr/>
        </p:nvSpPr>
        <p:spPr>
          <a:xfrm>
            <a:off x="7472499" y="6728437"/>
            <a:ext cx="3522026" cy="3694433"/>
          </a:xfrm>
          <a:custGeom>
            <a:rect b="b" l="l" r="r" t="t"/>
            <a:pathLst>
              <a:path extrusionOk="0" h="3694433" w="3522026">
                <a:moveTo>
                  <a:pt x="0" y="0"/>
                </a:moveTo>
                <a:lnTo>
                  <a:pt x="3522026" y="0"/>
                </a:lnTo>
                <a:lnTo>
                  <a:pt x="3522026" y="3694433"/>
                </a:lnTo>
                <a:lnTo>
                  <a:pt x="0" y="3694433"/>
                </a:lnTo>
                <a:lnTo>
                  <a:pt x="0" y="0"/>
                </a:lnTo>
                <a:close/>
              </a:path>
            </a:pathLst>
          </a:custGeom>
          <a:blipFill rotWithShape="1">
            <a:blip r:embed="rId5">
              <a:alphaModFix/>
            </a:blip>
            <a:stretch>
              <a:fillRect b="0" l="0" r="0" t="0"/>
            </a:stretch>
          </a:blipFill>
          <a:ln>
            <a:noFill/>
          </a:ln>
        </p:spPr>
      </p:sp>
      <p:sp>
        <p:nvSpPr>
          <p:cNvPr id="126" name="Google Shape;126;p3"/>
          <p:cNvSpPr/>
          <p:nvPr/>
        </p:nvSpPr>
        <p:spPr>
          <a:xfrm>
            <a:off x="6784804" y="3041367"/>
            <a:ext cx="3518666" cy="659750"/>
          </a:xfrm>
          <a:custGeom>
            <a:rect b="b" l="l" r="r" t="t"/>
            <a:pathLst>
              <a:path extrusionOk="0" h="659750" w="3518666">
                <a:moveTo>
                  <a:pt x="0" y="0"/>
                </a:moveTo>
                <a:lnTo>
                  <a:pt x="3518666" y="0"/>
                </a:lnTo>
                <a:lnTo>
                  <a:pt x="3518666" y="659750"/>
                </a:lnTo>
                <a:lnTo>
                  <a:pt x="0" y="659750"/>
                </a:lnTo>
                <a:lnTo>
                  <a:pt x="0" y="0"/>
                </a:lnTo>
                <a:close/>
              </a:path>
            </a:pathLst>
          </a:custGeom>
          <a:blipFill rotWithShape="1">
            <a:blip r:embed="rId6">
              <a:alphaModFix amt="57000"/>
            </a:blip>
            <a:stretch>
              <a:fillRect b="0" l="0" r="0" t="0"/>
            </a:stretch>
          </a:blipFill>
          <a:ln>
            <a:noFill/>
          </a:ln>
        </p:spPr>
      </p:sp>
      <p:sp>
        <p:nvSpPr>
          <p:cNvPr id="127" name="Google Shape;127;p3"/>
          <p:cNvSpPr/>
          <p:nvPr/>
        </p:nvSpPr>
        <p:spPr>
          <a:xfrm>
            <a:off x="3311681" y="4535342"/>
            <a:ext cx="1436473" cy="1691778"/>
          </a:xfrm>
          <a:custGeom>
            <a:rect b="b" l="l" r="r" t="t"/>
            <a:pathLst>
              <a:path extrusionOk="0" h="1691778" w="1436473">
                <a:moveTo>
                  <a:pt x="0" y="0"/>
                </a:moveTo>
                <a:lnTo>
                  <a:pt x="1436474" y="0"/>
                </a:lnTo>
                <a:lnTo>
                  <a:pt x="1436474" y="1691778"/>
                </a:lnTo>
                <a:lnTo>
                  <a:pt x="0" y="1691778"/>
                </a:lnTo>
                <a:lnTo>
                  <a:pt x="0" y="0"/>
                </a:lnTo>
                <a:close/>
              </a:path>
            </a:pathLst>
          </a:custGeom>
          <a:blipFill rotWithShape="1">
            <a:blip r:embed="rId7">
              <a:alphaModFix/>
            </a:blip>
            <a:stretch>
              <a:fillRect b="0" l="0" r="0" t="0"/>
            </a:stretch>
          </a:blipFill>
          <a:ln>
            <a:noFill/>
          </a:ln>
        </p:spPr>
      </p:sp>
      <p:sp>
        <p:nvSpPr>
          <p:cNvPr id="128" name="Google Shape;128;p3"/>
          <p:cNvSpPr/>
          <p:nvPr/>
        </p:nvSpPr>
        <p:spPr>
          <a:xfrm>
            <a:off x="12236266" y="2587886"/>
            <a:ext cx="1231804" cy="1016798"/>
          </a:xfrm>
          <a:custGeom>
            <a:rect b="b" l="l" r="r" t="t"/>
            <a:pathLst>
              <a:path extrusionOk="0" h="1016798" w="1231804">
                <a:moveTo>
                  <a:pt x="0" y="0"/>
                </a:moveTo>
                <a:lnTo>
                  <a:pt x="1231804" y="0"/>
                </a:lnTo>
                <a:lnTo>
                  <a:pt x="1231804" y="1016798"/>
                </a:lnTo>
                <a:lnTo>
                  <a:pt x="0" y="1016798"/>
                </a:lnTo>
                <a:lnTo>
                  <a:pt x="0" y="0"/>
                </a:lnTo>
                <a:close/>
              </a:path>
            </a:pathLst>
          </a:custGeom>
          <a:blipFill rotWithShape="1">
            <a:blip r:embed="rId8">
              <a:alphaModFix/>
            </a:blip>
            <a:stretch>
              <a:fillRect b="0" l="0" r="0" t="0"/>
            </a:stretch>
          </a:blipFill>
          <a:ln>
            <a:noFill/>
          </a:ln>
        </p:spPr>
      </p:sp>
      <p:sp>
        <p:nvSpPr>
          <p:cNvPr id="129" name="Google Shape;129;p3"/>
          <p:cNvSpPr/>
          <p:nvPr/>
        </p:nvSpPr>
        <p:spPr>
          <a:xfrm rot="690437">
            <a:off x="12744614" y="6335828"/>
            <a:ext cx="1223596" cy="1327372"/>
          </a:xfrm>
          <a:custGeom>
            <a:rect b="b" l="l" r="r" t="t"/>
            <a:pathLst>
              <a:path extrusionOk="0" h="1327372" w="1223596">
                <a:moveTo>
                  <a:pt x="0" y="0"/>
                </a:moveTo>
                <a:lnTo>
                  <a:pt x="1223596" y="0"/>
                </a:lnTo>
                <a:lnTo>
                  <a:pt x="1223596" y="1327372"/>
                </a:lnTo>
                <a:lnTo>
                  <a:pt x="0" y="1327372"/>
                </a:lnTo>
                <a:lnTo>
                  <a:pt x="0" y="0"/>
                </a:lnTo>
                <a:close/>
              </a:path>
            </a:pathLst>
          </a:custGeom>
          <a:blipFill rotWithShape="1">
            <a:blip r:embed="rId9">
              <a:alphaModFix/>
            </a:blip>
            <a:stretch>
              <a:fillRect b="0" l="0" r="0" t="0"/>
            </a:stretch>
          </a:blipFill>
          <a:ln>
            <a:noFill/>
          </a:ln>
        </p:spPr>
      </p:sp>
      <p:sp>
        <p:nvSpPr>
          <p:cNvPr id="130" name="Google Shape;130;p3"/>
          <p:cNvSpPr txBox="1"/>
          <p:nvPr/>
        </p:nvSpPr>
        <p:spPr>
          <a:xfrm>
            <a:off x="6268798" y="3643882"/>
            <a:ext cx="5404880" cy="2111214"/>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17" u="none" cap="none" strike="noStrike">
                <a:solidFill>
                  <a:srgbClr val="000102"/>
                </a:solidFill>
                <a:latin typeface="Shantell Sans"/>
                <a:ea typeface="Shantell Sans"/>
                <a:cs typeface="Shantell Sans"/>
                <a:sym typeface="Shantell Sans"/>
              </a:rPr>
              <a:t>El estudiante realiza instalación de simulador de cisco en su sistema operativo para que pueda aplicar los conceptos adquiridos en la gestión de redes computacionales </a:t>
            </a:r>
            <a:endParaRPr/>
          </a:p>
        </p:txBody>
      </p:sp>
      <p:sp>
        <p:nvSpPr>
          <p:cNvPr id="131" name="Google Shape;131;p3"/>
          <p:cNvSpPr txBox="1"/>
          <p:nvPr/>
        </p:nvSpPr>
        <p:spPr>
          <a:xfrm>
            <a:off x="3311681" y="928293"/>
            <a:ext cx="11269519" cy="1019468"/>
          </a:xfrm>
          <a:prstGeom prst="rect">
            <a:avLst/>
          </a:prstGeom>
          <a:noFill/>
          <a:ln>
            <a:noFill/>
          </a:ln>
        </p:spPr>
        <p:txBody>
          <a:bodyPr anchorCtr="0" anchor="t" bIns="0" lIns="0" spcFirstLastPara="1" rIns="0" wrap="square" tIns="0">
            <a:spAutoFit/>
          </a:bodyPr>
          <a:lstStyle/>
          <a:p>
            <a:pPr indent="0" lvl="0" marL="0" marR="0" rtl="0" algn="ctr">
              <a:lnSpc>
                <a:spcPct val="81992"/>
              </a:lnSpc>
              <a:spcBef>
                <a:spcPts val="0"/>
              </a:spcBef>
              <a:spcAft>
                <a:spcPts val="0"/>
              </a:spcAft>
              <a:buNone/>
            </a:pPr>
            <a:r>
              <a:rPr b="0" i="0" lang="en-US" sz="8724" u="none" cap="none" strike="noStrike">
                <a:solidFill>
                  <a:srgbClr val="000102"/>
                </a:solidFill>
                <a:latin typeface="Arial"/>
                <a:ea typeface="Arial"/>
                <a:cs typeface="Arial"/>
                <a:sym typeface="Arial"/>
              </a:rPr>
              <a:t>Competencias Que desarrollaremos</a:t>
            </a:r>
            <a:endParaRPr/>
          </a:p>
        </p:txBody>
      </p:sp>
      <p:sp>
        <p:nvSpPr>
          <p:cNvPr id="132" name="Google Shape;132;p3"/>
          <p:cNvSpPr txBox="1"/>
          <p:nvPr/>
        </p:nvSpPr>
        <p:spPr>
          <a:xfrm>
            <a:off x="6902062" y="3080651"/>
            <a:ext cx="3284151" cy="524033"/>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33" u="none" cap="none" strike="noStrike">
                <a:solidFill>
                  <a:srgbClr val="000102"/>
                </a:solidFill>
                <a:latin typeface="Shantell Sans"/>
                <a:ea typeface="Shantell Sans"/>
                <a:cs typeface="Shantell Sans"/>
                <a:sym typeface="Shantell Sans"/>
              </a:rPr>
              <a:t>Competencia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138" name="Google Shape;138;p4"/>
          <p:cNvSpPr/>
          <p:nvPr/>
        </p:nvSpPr>
        <p:spPr>
          <a:xfrm>
            <a:off x="9430440" y="3105600"/>
            <a:ext cx="8097350" cy="4979870"/>
          </a:xfrm>
          <a:custGeom>
            <a:rect b="b" l="l" r="r" t="t"/>
            <a:pathLst>
              <a:path extrusionOk="0" h="4979870" w="8097350">
                <a:moveTo>
                  <a:pt x="0" y="0"/>
                </a:moveTo>
                <a:lnTo>
                  <a:pt x="8097350" y="0"/>
                </a:lnTo>
                <a:lnTo>
                  <a:pt x="8097350" y="4979870"/>
                </a:lnTo>
                <a:lnTo>
                  <a:pt x="0" y="4979870"/>
                </a:lnTo>
                <a:lnTo>
                  <a:pt x="0" y="0"/>
                </a:lnTo>
                <a:close/>
              </a:path>
            </a:pathLst>
          </a:custGeom>
          <a:blipFill rotWithShape="1">
            <a:blip r:embed="rId4">
              <a:alphaModFix/>
            </a:blip>
            <a:stretch>
              <a:fillRect b="0" l="0" r="0" t="0"/>
            </a:stretch>
          </a:blipFill>
          <a:ln>
            <a:noFill/>
          </a:ln>
        </p:spPr>
      </p:sp>
      <p:sp>
        <p:nvSpPr>
          <p:cNvPr id="139" name="Google Shape;139;p4"/>
          <p:cNvSpPr/>
          <p:nvPr/>
        </p:nvSpPr>
        <p:spPr>
          <a:xfrm>
            <a:off x="6653840" y="860711"/>
            <a:ext cx="5337736" cy="1000826"/>
          </a:xfrm>
          <a:custGeom>
            <a:rect b="b" l="l" r="r" t="t"/>
            <a:pathLst>
              <a:path extrusionOk="0" h="1000826" w="5337736">
                <a:moveTo>
                  <a:pt x="0" y="0"/>
                </a:moveTo>
                <a:lnTo>
                  <a:pt x="5337736" y="0"/>
                </a:lnTo>
                <a:lnTo>
                  <a:pt x="5337736" y="1000825"/>
                </a:lnTo>
                <a:lnTo>
                  <a:pt x="0" y="1000825"/>
                </a:lnTo>
                <a:lnTo>
                  <a:pt x="0" y="0"/>
                </a:lnTo>
                <a:close/>
              </a:path>
            </a:pathLst>
          </a:custGeom>
          <a:blipFill rotWithShape="1">
            <a:blip r:embed="rId5">
              <a:alphaModFix amt="57000"/>
            </a:blip>
            <a:stretch>
              <a:fillRect b="0" l="0" r="0" t="0"/>
            </a:stretch>
          </a:blipFill>
          <a:ln>
            <a:noFill/>
          </a:ln>
        </p:spPr>
      </p:sp>
      <p:sp>
        <p:nvSpPr>
          <p:cNvPr id="140" name="Google Shape;140;p4"/>
          <p:cNvSpPr txBox="1"/>
          <p:nvPr/>
        </p:nvSpPr>
        <p:spPr>
          <a:xfrm>
            <a:off x="4515924" y="513834"/>
            <a:ext cx="9829033" cy="1513605"/>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8764" u="none" cap="none" strike="noStrike">
                <a:solidFill>
                  <a:srgbClr val="000000"/>
                </a:solidFill>
                <a:latin typeface="Arial"/>
                <a:ea typeface="Arial"/>
                <a:cs typeface="Arial"/>
                <a:sym typeface="Arial"/>
              </a:rPr>
              <a:t>Spanning Tree Protocol (STP)</a:t>
            </a:r>
            <a:endParaRPr/>
          </a:p>
        </p:txBody>
      </p:sp>
      <p:sp>
        <p:nvSpPr>
          <p:cNvPr id="141" name="Google Shape;141;p4"/>
          <p:cNvSpPr/>
          <p:nvPr/>
        </p:nvSpPr>
        <p:spPr>
          <a:xfrm>
            <a:off x="1303129" y="2189840"/>
            <a:ext cx="7630869" cy="6944091"/>
          </a:xfrm>
          <a:custGeom>
            <a:rect b="b" l="l" r="r" t="t"/>
            <a:pathLst>
              <a:path extrusionOk="0" h="6944091" w="7630869">
                <a:moveTo>
                  <a:pt x="0" y="0"/>
                </a:moveTo>
                <a:lnTo>
                  <a:pt x="7630869" y="0"/>
                </a:lnTo>
                <a:lnTo>
                  <a:pt x="7630869" y="6944091"/>
                </a:lnTo>
                <a:lnTo>
                  <a:pt x="0" y="6944091"/>
                </a:lnTo>
                <a:lnTo>
                  <a:pt x="0" y="0"/>
                </a:lnTo>
                <a:close/>
              </a:path>
            </a:pathLst>
          </a:custGeom>
          <a:blipFill rotWithShape="1">
            <a:blip r:embed="rId6">
              <a:alphaModFix/>
            </a:blip>
            <a:stretch>
              <a:fillRect b="0" l="0" r="0" t="0"/>
            </a:stretch>
          </a:blipFill>
          <a:ln>
            <a:noFill/>
          </a:ln>
        </p:spPr>
      </p:sp>
      <p:sp>
        <p:nvSpPr>
          <p:cNvPr id="142" name="Google Shape;142;p4"/>
          <p:cNvSpPr txBox="1"/>
          <p:nvPr/>
        </p:nvSpPr>
        <p:spPr>
          <a:xfrm>
            <a:off x="1486770" y="3459256"/>
            <a:ext cx="7263587" cy="4215407"/>
          </a:xfrm>
          <a:prstGeom prst="rect">
            <a:avLst/>
          </a:prstGeom>
          <a:noFill/>
          <a:ln>
            <a:noFill/>
          </a:ln>
        </p:spPr>
        <p:txBody>
          <a:bodyPr anchorCtr="0" anchor="t" bIns="0" lIns="0" spcFirstLastPara="1" rIns="0" wrap="square" tIns="0">
            <a:spAutoFit/>
          </a:bodyPr>
          <a:lstStyle/>
          <a:p>
            <a:pPr indent="0" lvl="0" marL="0" marR="0" rtl="0" algn="l">
              <a:lnSpc>
                <a:spcPct val="139975"/>
              </a:lnSpc>
              <a:spcBef>
                <a:spcPts val="0"/>
              </a:spcBef>
              <a:spcAft>
                <a:spcPts val="0"/>
              </a:spcAft>
              <a:buNone/>
            </a:pPr>
            <a:r>
              <a:rPr b="0" i="0" lang="en-US" sz="2429" u="none" cap="none" strike="noStrike">
                <a:solidFill>
                  <a:srgbClr val="000000"/>
                </a:solidFill>
                <a:latin typeface="Shantell Sans"/>
                <a:ea typeface="Shantell Sans"/>
                <a:cs typeface="Shantell Sans"/>
                <a:sym typeface="Shantell Sans"/>
              </a:rPr>
              <a:t>El spanning tree protocol o el protocolo de árbol de expansión se implementa en las redes de datos para controlar los bucles de red que ocurren en la capa 2 de OSI (modelo de interconexión de sistemas abiertos).</a:t>
            </a:r>
            <a:endParaRPr/>
          </a:p>
          <a:p>
            <a:pPr indent="0" lvl="0" marL="0" marR="0" rtl="0" algn="l">
              <a:lnSpc>
                <a:spcPct val="139975"/>
              </a:lnSpc>
              <a:spcBef>
                <a:spcPts val="0"/>
              </a:spcBef>
              <a:spcAft>
                <a:spcPts val="0"/>
              </a:spcAft>
              <a:buNone/>
            </a:pPr>
            <a:r>
              <a:t/>
            </a:r>
            <a:endParaRPr b="0" i="0" sz="2429" u="none" cap="none" strike="noStrike">
              <a:solidFill>
                <a:srgbClr val="000000"/>
              </a:solidFill>
              <a:latin typeface="Shantell Sans"/>
              <a:ea typeface="Shantell Sans"/>
              <a:cs typeface="Shantell Sans"/>
              <a:sym typeface="Shantell Sans"/>
            </a:endParaRPr>
          </a:p>
          <a:p>
            <a:pPr indent="0" lvl="0" marL="0" marR="0" rtl="0" algn="l">
              <a:lnSpc>
                <a:spcPct val="139975"/>
              </a:lnSpc>
              <a:spcBef>
                <a:spcPts val="0"/>
              </a:spcBef>
              <a:spcAft>
                <a:spcPts val="0"/>
              </a:spcAft>
              <a:buNone/>
            </a:pPr>
            <a:r>
              <a:rPr b="0" i="0" lang="en-US" sz="2429" u="none" cap="none" strike="noStrike">
                <a:solidFill>
                  <a:srgbClr val="000000"/>
                </a:solidFill>
                <a:latin typeface="Shantell Sans"/>
                <a:ea typeface="Shantell Sans"/>
                <a:cs typeface="Shantell Sans"/>
                <a:sym typeface="Shantell Sans"/>
              </a:rPr>
              <a:t>El protocolo spanning tree está diseñado para controlar enlaces redundantes que pueden afectar la red y su rendimiento.</a:t>
            </a:r>
            <a:endParaRPr/>
          </a:p>
          <a:p>
            <a:pPr indent="0" lvl="0" marL="0" marR="0" rtl="0" algn="l">
              <a:lnSpc>
                <a:spcPct val="139975"/>
              </a:lnSpc>
              <a:spcBef>
                <a:spcPts val="0"/>
              </a:spcBef>
              <a:spcAft>
                <a:spcPts val="0"/>
              </a:spcAft>
              <a:buNone/>
            </a:pPr>
            <a:r>
              <a:t/>
            </a:r>
            <a:endParaRPr b="0" i="0" sz="2429" u="none" cap="none" strike="noStrike">
              <a:solidFill>
                <a:srgbClr val="000000"/>
              </a:solidFill>
              <a:latin typeface="Shantell Sans"/>
              <a:ea typeface="Shantell Sans"/>
              <a:cs typeface="Shantell Sans"/>
              <a:sym typeface="Shante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148" name="Google Shape;148;p5"/>
          <p:cNvSpPr/>
          <p:nvPr/>
        </p:nvSpPr>
        <p:spPr>
          <a:xfrm>
            <a:off x="829809" y="2084646"/>
            <a:ext cx="10236748" cy="6321192"/>
          </a:xfrm>
          <a:custGeom>
            <a:rect b="b" l="l" r="r" t="t"/>
            <a:pathLst>
              <a:path extrusionOk="0" h="6321192" w="10236748">
                <a:moveTo>
                  <a:pt x="0" y="0"/>
                </a:moveTo>
                <a:lnTo>
                  <a:pt x="10236749" y="0"/>
                </a:lnTo>
                <a:lnTo>
                  <a:pt x="10236749" y="6321192"/>
                </a:lnTo>
                <a:lnTo>
                  <a:pt x="0" y="6321192"/>
                </a:lnTo>
                <a:lnTo>
                  <a:pt x="0" y="0"/>
                </a:lnTo>
                <a:close/>
              </a:path>
            </a:pathLst>
          </a:custGeom>
          <a:blipFill rotWithShape="1">
            <a:blip r:embed="rId4">
              <a:alphaModFix/>
            </a:blip>
            <a:stretch>
              <a:fillRect b="0" l="0" r="0" t="0"/>
            </a:stretch>
          </a:blipFill>
          <a:ln>
            <a:noFill/>
          </a:ln>
        </p:spPr>
      </p:sp>
      <p:grpSp>
        <p:nvGrpSpPr>
          <p:cNvPr id="149" name="Google Shape;149;p5"/>
          <p:cNvGrpSpPr/>
          <p:nvPr/>
        </p:nvGrpSpPr>
        <p:grpSpPr>
          <a:xfrm>
            <a:off x="12138189" y="970709"/>
            <a:ext cx="4766495" cy="3266926"/>
            <a:chOff x="0" y="-47625"/>
            <a:chExt cx="1255373" cy="860425"/>
          </a:xfrm>
        </p:grpSpPr>
        <p:sp>
          <p:nvSpPr>
            <p:cNvPr id="150" name="Google Shape;150;p5"/>
            <p:cNvSpPr/>
            <p:nvPr/>
          </p:nvSpPr>
          <p:spPr>
            <a:xfrm>
              <a:off x="0" y="0"/>
              <a:ext cx="1255373" cy="812800"/>
            </a:xfrm>
            <a:custGeom>
              <a:rect b="b" l="l" r="r" t="t"/>
              <a:pathLst>
                <a:path extrusionOk="0" h="812800" w="1255373">
                  <a:moveTo>
                    <a:pt x="131563" y="0"/>
                  </a:moveTo>
                  <a:lnTo>
                    <a:pt x="1123810" y="0"/>
                  </a:lnTo>
                  <a:cubicBezTo>
                    <a:pt x="1196470" y="0"/>
                    <a:pt x="1255373" y="58903"/>
                    <a:pt x="1255373" y="131563"/>
                  </a:cubicBezTo>
                  <a:lnTo>
                    <a:pt x="1255373" y="681237"/>
                  </a:lnTo>
                  <a:cubicBezTo>
                    <a:pt x="1255373" y="753897"/>
                    <a:pt x="1196470" y="812800"/>
                    <a:pt x="1123810" y="812800"/>
                  </a:cubicBezTo>
                  <a:lnTo>
                    <a:pt x="131563" y="812800"/>
                  </a:lnTo>
                  <a:cubicBezTo>
                    <a:pt x="58903" y="812800"/>
                    <a:pt x="0" y="753897"/>
                    <a:pt x="0" y="681237"/>
                  </a:cubicBezTo>
                  <a:lnTo>
                    <a:pt x="0" y="131563"/>
                  </a:lnTo>
                  <a:cubicBezTo>
                    <a:pt x="0" y="58903"/>
                    <a:pt x="58903" y="0"/>
                    <a:pt x="131563" y="0"/>
                  </a:cubicBezTo>
                  <a:close/>
                </a:path>
              </a:pathLst>
            </a:custGeom>
            <a:solidFill>
              <a:srgbClr val="C1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txBox="1"/>
            <p:nvPr/>
          </p:nvSpPr>
          <p:spPr>
            <a:xfrm>
              <a:off x="0" y="-47625"/>
              <a:ext cx="1255373"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8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5"/>
          <p:cNvSpPr/>
          <p:nvPr/>
        </p:nvSpPr>
        <p:spPr>
          <a:xfrm>
            <a:off x="12138189" y="1151535"/>
            <a:ext cx="4498492" cy="3081426"/>
          </a:xfrm>
          <a:custGeom>
            <a:rect b="b" l="l" r="r" t="t"/>
            <a:pathLst>
              <a:path extrusionOk="0" h="3081426" w="4498492">
                <a:moveTo>
                  <a:pt x="0" y="0"/>
                </a:moveTo>
                <a:lnTo>
                  <a:pt x="4498492" y="0"/>
                </a:lnTo>
                <a:lnTo>
                  <a:pt x="4498492" y="3081426"/>
                </a:lnTo>
                <a:lnTo>
                  <a:pt x="0" y="3081426"/>
                </a:lnTo>
                <a:lnTo>
                  <a:pt x="0" y="0"/>
                </a:lnTo>
                <a:close/>
              </a:path>
            </a:pathLst>
          </a:custGeom>
          <a:blipFill rotWithShape="1">
            <a:blip r:embed="rId5">
              <a:alphaModFix/>
            </a:blip>
            <a:stretch>
              <a:fillRect b="-1521" l="0" r="0" t="-1523"/>
            </a:stretch>
          </a:blipFill>
          <a:ln>
            <a:noFill/>
          </a:ln>
        </p:spPr>
      </p:sp>
      <p:sp>
        <p:nvSpPr>
          <p:cNvPr id="153" name="Google Shape;153;p5"/>
          <p:cNvSpPr/>
          <p:nvPr/>
        </p:nvSpPr>
        <p:spPr>
          <a:xfrm rot="-290293">
            <a:off x="14378954" y="4449146"/>
            <a:ext cx="1057469" cy="1493018"/>
          </a:xfrm>
          <a:custGeom>
            <a:rect b="b" l="l" r="r" t="t"/>
            <a:pathLst>
              <a:path extrusionOk="0" h="1493018" w="1057469">
                <a:moveTo>
                  <a:pt x="0" y="0"/>
                </a:moveTo>
                <a:lnTo>
                  <a:pt x="1057469" y="0"/>
                </a:lnTo>
                <a:lnTo>
                  <a:pt x="1057469" y="1493018"/>
                </a:lnTo>
                <a:lnTo>
                  <a:pt x="0" y="1493018"/>
                </a:lnTo>
                <a:lnTo>
                  <a:pt x="0" y="0"/>
                </a:lnTo>
                <a:close/>
              </a:path>
            </a:pathLst>
          </a:custGeom>
          <a:blipFill rotWithShape="1">
            <a:blip r:embed="rId6">
              <a:alphaModFix/>
            </a:blip>
            <a:stretch>
              <a:fillRect b="0" l="0" r="0" t="0"/>
            </a:stretch>
          </a:blipFill>
          <a:ln>
            <a:noFill/>
          </a:ln>
        </p:spPr>
      </p:sp>
      <p:grpSp>
        <p:nvGrpSpPr>
          <p:cNvPr id="154" name="Google Shape;154;p5"/>
          <p:cNvGrpSpPr/>
          <p:nvPr/>
        </p:nvGrpSpPr>
        <p:grpSpPr>
          <a:xfrm>
            <a:off x="13053176" y="6201107"/>
            <a:ext cx="4766495" cy="3266926"/>
            <a:chOff x="0" y="-47625"/>
            <a:chExt cx="1255373" cy="860425"/>
          </a:xfrm>
        </p:grpSpPr>
        <p:sp>
          <p:nvSpPr>
            <p:cNvPr id="155" name="Google Shape;155;p5"/>
            <p:cNvSpPr/>
            <p:nvPr/>
          </p:nvSpPr>
          <p:spPr>
            <a:xfrm>
              <a:off x="0" y="0"/>
              <a:ext cx="1255373" cy="812800"/>
            </a:xfrm>
            <a:custGeom>
              <a:rect b="b" l="l" r="r" t="t"/>
              <a:pathLst>
                <a:path extrusionOk="0" h="812800" w="1255373">
                  <a:moveTo>
                    <a:pt x="131563" y="0"/>
                  </a:moveTo>
                  <a:lnTo>
                    <a:pt x="1123810" y="0"/>
                  </a:lnTo>
                  <a:cubicBezTo>
                    <a:pt x="1196470" y="0"/>
                    <a:pt x="1255373" y="58903"/>
                    <a:pt x="1255373" y="131563"/>
                  </a:cubicBezTo>
                  <a:lnTo>
                    <a:pt x="1255373" y="681237"/>
                  </a:lnTo>
                  <a:cubicBezTo>
                    <a:pt x="1255373" y="753897"/>
                    <a:pt x="1196470" y="812800"/>
                    <a:pt x="1123810" y="812800"/>
                  </a:cubicBezTo>
                  <a:lnTo>
                    <a:pt x="131563" y="812800"/>
                  </a:lnTo>
                  <a:cubicBezTo>
                    <a:pt x="58903" y="812800"/>
                    <a:pt x="0" y="753897"/>
                    <a:pt x="0" y="681237"/>
                  </a:cubicBezTo>
                  <a:lnTo>
                    <a:pt x="0" y="131563"/>
                  </a:lnTo>
                  <a:cubicBezTo>
                    <a:pt x="0" y="58903"/>
                    <a:pt x="58903" y="0"/>
                    <a:pt x="131563" y="0"/>
                  </a:cubicBezTo>
                  <a:close/>
                </a:path>
              </a:pathLst>
            </a:custGeom>
            <a:solidFill>
              <a:srgbClr val="C1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0" y="-47625"/>
              <a:ext cx="1255373"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8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5"/>
          <p:cNvSpPr/>
          <p:nvPr/>
        </p:nvSpPr>
        <p:spPr>
          <a:xfrm>
            <a:off x="13053176" y="6381933"/>
            <a:ext cx="4502419" cy="3086100"/>
          </a:xfrm>
          <a:custGeom>
            <a:rect b="b" l="l" r="r" t="t"/>
            <a:pathLst>
              <a:path extrusionOk="0" h="3086100" w="4502419">
                <a:moveTo>
                  <a:pt x="0" y="0"/>
                </a:moveTo>
                <a:lnTo>
                  <a:pt x="4502418" y="0"/>
                </a:lnTo>
                <a:lnTo>
                  <a:pt x="4502418" y="3086100"/>
                </a:lnTo>
                <a:lnTo>
                  <a:pt x="0" y="3086100"/>
                </a:lnTo>
                <a:lnTo>
                  <a:pt x="0" y="0"/>
                </a:lnTo>
                <a:close/>
              </a:path>
            </a:pathLst>
          </a:custGeom>
          <a:blipFill rotWithShape="1">
            <a:blip r:embed="rId7">
              <a:alphaModFix/>
            </a:blip>
            <a:stretch>
              <a:fillRect b="-9076" l="0" r="0" t="-9076"/>
            </a:stretch>
          </a:blipFill>
          <a:ln>
            <a:noFill/>
          </a:ln>
        </p:spPr>
      </p:sp>
      <p:sp>
        <p:nvSpPr>
          <p:cNvPr id="158" name="Google Shape;158;p5"/>
          <p:cNvSpPr/>
          <p:nvPr/>
        </p:nvSpPr>
        <p:spPr>
          <a:xfrm>
            <a:off x="-1048329" y="567612"/>
            <a:ext cx="7315200" cy="1059653"/>
          </a:xfrm>
          <a:custGeom>
            <a:rect b="b" l="l" r="r" t="t"/>
            <a:pathLst>
              <a:path extrusionOk="0" h="1059653" w="7315200">
                <a:moveTo>
                  <a:pt x="0" y="0"/>
                </a:moveTo>
                <a:lnTo>
                  <a:pt x="7315200" y="0"/>
                </a:lnTo>
                <a:lnTo>
                  <a:pt x="7315200" y="1059653"/>
                </a:lnTo>
                <a:lnTo>
                  <a:pt x="0" y="1059653"/>
                </a:lnTo>
                <a:lnTo>
                  <a:pt x="0" y="0"/>
                </a:lnTo>
                <a:close/>
              </a:path>
            </a:pathLst>
          </a:custGeom>
          <a:blipFill rotWithShape="1">
            <a:blip r:embed="rId8">
              <a:alphaModFix/>
            </a:blip>
            <a:stretch>
              <a:fillRect b="0" l="0" r="0" t="0"/>
            </a:stretch>
          </a:blipFill>
          <a:ln>
            <a:noFill/>
          </a:ln>
        </p:spPr>
      </p:sp>
      <p:sp>
        <p:nvSpPr>
          <p:cNvPr id="159" name="Google Shape;159;p5"/>
          <p:cNvSpPr txBox="1"/>
          <p:nvPr/>
        </p:nvSpPr>
        <p:spPr>
          <a:xfrm>
            <a:off x="1407272" y="3108964"/>
            <a:ext cx="9155638" cy="5059398"/>
          </a:xfrm>
          <a:prstGeom prst="rect">
            <a:avLst/>
          </a:prstGeom>
          <a:noFill/>
          <a:ln>
            <a:noFill/>
          </a:ln>
        </p:spPr>
        <p:txBody>
          <a:bodyPr anchorCtr="0" anchor="t" bIns="0" lIns="0" spcFirstLastPara="1" rIns="0" wrap="square" tIns="0">
            <a:spAutoFit/>
          </a:bodyPr>
          <a:lstStyle/>
          <a:p>
            <a:pPr indent="0" lvl="0" marL="0" marR="0" rtl="0" algn="l">
              <a:lnSpc>
                <a:spcPct val="139975"/>
              </a:lnSpc>
              <a:spcBef>
                <a:spcPts val="0"/>
              </a:spcBef>
              <a:spcAft>
                <a:spcPts val="0"/>
              </a:spcAft>
              <a:buNone/>
            </a:pPr>
            <a:r>
              <a:rPr b="0" i="0" lang="en-US" sz="2429" u="none" cap="none" strike="noStrike">
                <a:solidFill>
                  <a:srgbClr val="000000"/>
                </a:solidFill>
                <a:latin typeface="Shantell Sans"/>
                <a:ea typeface="Shantell Sans"/>
                <a:cs typeface="Shantell Sans"/>
                <a:sym typeface="Shantell Sans"/>
              </a:rPr>
              <a:t>Veámoslo con un ejemplo: si conectamos tres switches entre sí, veremos que los estados de los puertos cambian de naranja a verde porque pasan por las etapas de escucha (listening) y aprendizaje (learning), y todos los switches realizan un proceso de elección.</a:t>
            </a:r>
            <a:endParaRPr/>
          </a:p>
          <a:p>
            <a:pPr indent="0" lvl="0" marL="0" marR="0" rtl="0" algn="l">
              <a:lnSpc>
                <a:spcPct val="139975"/>
              </a:lnSpc>
              <a:spcBef>
                <a:spcPts val="0"/>
              </a:spcBef>
              <a:spcAft>
                <a:spcPts val="0"/>
              </a:spcAft>
              <a:buNone/>
            </a:pPr>
            <a:r>
              <a:t/>
            </a:r>
            <a:endParaRPr b="0" i="0" sz="2429" u="none" cap="none" strike="noStrike">
              <a:solidFill>
                <a:srgbClr val="000000"/>
              </a:solidFill>
              <a:latin typeface="Shantell Sans"/>
              <a:ea typeface="Shantell Sans"/>
              <a:cs typeface="Shantell Sans"/>
              <a:sym typeface="Shantell Sans"/>
            </a:endParaRPr>
          </a:p>
          <a:p>
            <a:pPr indent="0" lvl="0" marL="0" marR="0" rtl="0" algn="l">
              <a:lnSpc>
                <a:spcPct val="139975"/>
              </a:lnSpc>
              <a:spcBef>
                <a:spcPts val="0"/>
              </a:spcBef>
              <a:spcAft>
                <a:spcPts val="0"/>
              </a:spcAft>
              <a:buNone/>
            </a:pPr>
            <a:r>
              <a:rPr b="0" i="0" lang="en-US" sz="2429" u="none" cap="none" strike="noStrike">
                <a:solidFill>
                  <a:srgbClr val="000000"/>
                </a:solidFill>
                <a:latin typeface="Shantell Sans"/>
                <a:ea typeface="Shantell Sans"/>
                <a:cs typeface="Shantell Sans"/>
                <a:sym typeface="Shantell Sans"/>
              </a:rPr>
              <a:t>Esto ocurre automáticamente cuando hay enlaces redundantes o múltiples switches conectados. Si todos los puertos estuvieran en estado activo o "forwarding", se generarían muchas solicitudes broadcast que saturarían la red. El STP evita estos escenarios.</a:t>
            </a:r>
            <a:endParaRPr/>
          </a:p>
          <a:p>
            <a:pPr indent="0" lvl="0" marL="0" marR="0" rtl="0" algn="l">
              <a:lnSpc>
                <a:spcPct val="139975"/>
              </a:lnSpc>
              <a:spcBef>
                <a:spcPts val="0"/>
              </a:spcBef>
              <a:spcAft>
                <a:spcPts val="0"/>
              </a:spcAft>
              <a:buNone/>
            </a:pPr>
            <a:r>
              <a:t/>
            </a:r>
            <a:endParaRPr b="0" i="0" sz="2429" u="none" cap="none" strike="noStrike">
              <a:solidFill>
                <a:srgbClr val="000000"/>
              </a:solidFill>
              <a:latin typeface="Shantell Sans"/>
              <a:ea typeface="Shantell Sans"/>
              <a:cs typeface="Shantell Sans"/>
              <a:sym typeface="Shantell Sans"/>
            </a:endParaRPr>
          </a:p>
        </p:txBody>
      </p:sp>
      <p:sp>
        <p:nvSpPr>
          <p:cNvPr id="160" name="Google Shape;160;p5"/>
          <p:cNvSpPr txBox="1"/>
          <p:nvPr/>
        </p:nvSpPr>
        <p:spPr>
          <a:xfrm>
            <a:off x="98429" y="405687"/>
            <a:ext cx="8613636" cy="132977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7680" u="none" cap="none" strike="noStrike">
                <a:solidFill>
                  <a:srgbClr val="000000"/>
                </a:solidFill>
                <a:latin typeface="Arial"/>
                <a:ea typeface="Arial"/>
                <a:cs typeface="Arial"/>
                <a:sym typeface="Arial"/>
              </a:rPr>
              <a:t>Spanning Tree Protocol (STP)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166" name="Google Shape;166;p6"/>
          <p:cNvGrpSpPr/>
          <p:nvPr/>
        </p:nvGrpSpPr>
        <p:grpSpPr>
          <a:xfrm>
            <a:off x="4639826" y="6731642"/>
            <a:ext cx="1991601" cy="920269"/>
            <a:chOff x="0" y="-38100"/>
            <a:chExt cx="212535" cy="98207"/>
          </a:xfrm>
        </p:grpSpPr>
        <p:sp>
          <p:nvSpPr>
            <p:cNvPr id="167" name="Google Shape;167;p6"/>
            <p:cNvSpPr/>
            <p:nvPr/>
          </p:nvSpPr>
          <p:spPr>
            <a:xfrm>
              <a:off x="0" y="0"/>
              <a:ext cx="212535" cy="60107"/>
            </a:xfrm>
            <a:custGeom>
              <a:rect b="b" l="l" r="r" t="t"/>
              <a:pathLst>
                <a:path extrusionOk="0" h="60107" w="212535">
                  <a:moveTo>
                    <a:pt x="30054" y="0"/>
                  </a:moveTo>
                  <a:lnTo>
                    <a:pt x="182482" y="0"/>
                  </a:lnTo>
                  <a:cubicBezTo>
                    <a:pt x="199080" y="0"/>
                    <a:pt x="212535" y="13455"/>
                    <a:pt x="212535" y="30054"/>
                  </a:cubicBezTo>
                  <a:lnTo>
                    <a:pt x="212535" y="30054"/>
                  </a:lnTo>
                  <a:cubicBezTo>
                    <a:pt x="212535" y="38024"/>
                    <a:pt x="209369" y="45668"/>
                    <a:pt x="203733" y="51305"/>
                  </a:cubicBezTo>
                  <a:cubicBezTo>
                    <a:pt x="198097" y="56941"/>
                    <a:pt x="190452" y="60107"/>
                    <a:pt x="182482" y="60107"/>
                  </a:cubicBezTo>
                  <a:lnTo>
                    <a:pt x="30054" y="60107"/>
                  </a:lnTo>
                  <a:cubicBezTo>
                    <a:pt x="13455" y="60107"/>
                    <a:pt x="0" y="46652"/>
                    <a:pt x="0" y="30054"/>
                  </a:cubicBezTo>
                  <a:lnTo>
                    <a:pt x="0" y="30054"/>
                  </a:lnTo>
                  <a:cubicBezTo>
                    <a:pt x="0" y="13455"/>
                    <a:pt x="13455" y="0"/>
                    <a:pt x="3005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txBox="1"/>
            <p:nvPr/>
          </p:nvSpPr>
          <p:spPr>
            <a:xfrm>
              <a:off x="0" y="-38100"/>
              <a:ext cx="212535" cy="98207"/>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9F9F4"/>
                  </a:solidFill>
                  <a:latin typeface="Shantell Sans"/>
                  <a:ea typeface="Shantell Sans"/>
                  <a:cs typeface="Shantell Sans"/>
                  <a:sym typeface="Shantell Sans"/>
                </a:rPr>
                <a:t>01</a:t>
              </a:r>
              <a:endParaRPr/>
            </a:p>
          </p:txBody>
        </p:sp>
      </p:grpSp>
      <p:grpSp>
        <p:nvGrpSpPr>
          <p:cNvPr id="169" name="Google Shape;169;p6"/>
          <p:cNvGrpSpPr/>
          <p:nvPr/>
        </p:nvGrpSpPr>
        <p:grpSpPr>
          <a:xfrm>
            <a:off x="11521119" y="6731642"/>
            <a:ext cx="1991601" cy="920269"/>
            <a:chOff x="0" y="-38100"/>
            <a:chExt cx="212535" cy="98207"/>
          </a:xfrm>
        </p:grpSpPr>
        <p:sp>
          <p:nvSpPr>
            <p:cNvPr id="170" name="Google Shape;170;p6"/>
            <p:cNvSpPr/>
            <p:nvPr/>
          </p:nvSpPr>
          <p:spPr>
            <a:xfrm>
              <a:off x="0" y="0"/>
              <a:ext cx="212535" cy="60107"/>
            </a:xfrm>
            <a:custGeom>
              <a:rect b="b" l="l" r="r" t="t"/>
              <a:pathLst>
                <a:path extrusionOk="0" h="60107" w="212535">
                  <a:moveTo>
                    <a:pt x="30054" y="0"/>
                  </a:moveTo>
                  <a:lnTo>
                    <a:pt x="182482" y="0"/>
                  </a:lnTo>
                  <a:cubicBezTo>
                    <a:pt x="199080" y="0"/>
                    <a:pt x="212535" y="13455"/>
                    <a:pt x="212535" y="30054"/>
                  </a:cubicBezTo>
                  <a:lnTo>
                    <a:pt x="212535" y="30054"/>
                  </a:lnTo>
                  <a:cubicBezTo>
                    <a:pt x="212535" y="38024"/>
                    <a:pt x="209369" y="45668"/>
                    <a:pt x="203733" y="51305"/>
                  </a:cubicBezTo>
                  <a:cubicBezTo>
                    <a:pt x="198097" y="56941"/>
                    <a:pt x="190452" y="60107"/>
                    <a:pt x="182482" y="60107"/>
                  </a:cubicBezTo>
                  <a:lnTo>
                    <a:pt x="30054" y="60107"/>
                  </a:lnTo>
                  <a:cubicBezTo>
                    <a:pt x="13455" y="60107"/>
                    <a:pt x="0" y="46652"/>
                    <a:pt x="0" y="30054"/>
                  </a:cubicBezTo>
                  <a:lnTo>
                    <a:pt x="0" y="30054"/>
                  </a:lnTo>
                  <a:cubicBezTo>
                    <a:pt x="0" y="13455"/>
                    <a:pt x="13455" y="0"/>
                    <a:pt x="3005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0" y="-38100"/>
              <a:ext cx="212535" cy="98207"/>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9F9F4"/>
                  </a:solidFill>
                  <a:latin typeface="Shantell Sans"/>
                  <a:ea typeface="Shantell Sans"/>
                  <a:cs typeface="Shantell Sans"/>
                  <a:sym typeface="Shantell Sans"/>
                </a:rPr>
                <a:t>03</a:t>
              </a:r>
              <a:endParaRPr/>
            </a:p>
          </p:txBody>
        </p:sp>
      </p:grpSp>
      <p:cxnSp>
        <p:nvCxnSpPr>
          <p:cNvPr id="172" name="Google Shape;172;p6"/>
          <p:cNvCxnSpPr/>
          <p:nvPr/>
        </p:nvCxnSpPr>
        <p:spPr>
          <a:xfrm flipH="1" rot="10800000">
            <a:off x="6631427" y="6301849"/>
            <a:ext cx="2363181" cy="1068439"/>
          </a:xfrm>
          <a:prstGeom prst="straightConnector1">
            <a:avLst/>
          </a:prstGeom>
          <a:noFill/>
          <a:ln cap="rnd" cmpd="sng" w="38100">
            <a:solidFill>
              <a:srgbClr val="000000"/>
            </a:solidFill>
            <a:prstDash val="solid"/>
            <a:round/>
            <a:headEnd len="sm" w="sm" type="none"/>
            <a:tailEnd len="med" w="med" type="stealth"/>
          </a:ln>
        </p:spPr>
      </p:cxnSp>
      <p:sp>
        <p:nvSpPr>
          <p:cNvPr id="173" name="Google Shape;173;p6"/>
          <p:cNvSpPr txBox="1"/>
          <p:nvPr/>
        </p:nvSpPr>
        <p:spPr>
          <a:xfrm>
            <a:off x="7632175" y="6977234"/>
            <a:ext cx="2888196" cy="639309"/>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0" i="0" lang="en-US" sz="1829" u="none" cap="none" strike="noStrike">
                <a:solidFill>
                  <a:srgbClr val="000102"/>
                </a:solidFill>
                <a:latin typeface="Shantell Sans"/>
                <a:ea typeface="Shantell Sans"/>
                <a:cs typeface="Shantell Sans"/>
                <a:sym typeface="Shantell Sans"/>
              </a:rPr>
              <a:t>Selección del Puerto Raíz (Root Port)</a:t>
            </a:r>
            <a:endParaRPr/>
          </a:p>
        </p:txBody>
      </p:sp>
      <p:grpSp>
        <p:nvGrpSpPr>
          <p:cNvPr id="174" name="Google Shape;174;p6"/>
          <p:cNvGrpSpPr/>
          <p:nvPr/>
        </p:nvGrpSpPr>
        <p:grpSpPr>
          <a:xfrm>
            <a:off x="7998807" y="5944825"/>
            <a:ext cx="1991601" cy="920269"/>
            <a:chOff x="0" y="-38100"/>
            <a:chExt cx="212535" cy="98207"/>
          </a:xfrm>
        </p:grpSpPr>
        <p:sp>
          <p:nvSpPr>
            <p:cNvPr id="175" name="Google Shape;175;p6"/>
            <p:cNvSpPr/>
            <p:nvPr/>
          </p:nvSpPr>
          <p:spPr>
            <a:xfrm>
              <a:off x="0" y="0"/>
              <a:ext cx="212535" cy="60107"/>
            </a:xfrm>
            <a:custGeom>
              <a:rect b="b" l="l" r="r" t="t"/>
              <a:pathLst>
                <a:path extrusionOk="0" h="60107" w="212535">
                  <a:moveTo>
                    <a:pt x="30054" y="0"/>
                  </a:moveTo>
                  <a:lnTo>
                    <a:pt x="182482" y="0"/>
                  </a:lnTo>
                  <a:cubicBezTo>
                    <a:pt x="199080" y="0"/>
                    <a:pt x="212535" y="13455"/>
                    <a:pt x="212535" y="30054"/>
                  </a:cubicBezTo>
                  <a:lnTo>
                    <a:pt x="212535" y="30054"/>
                  </a:lnTo>
                  <a:cubicBezTo>
                    <a:pt x="212535" y="38024"/>
                    <a:pt x="209369" y="45668"/>
                    <a:pt x="203733" y="51305"/>
                  </a:cubicBezTo>
                  <a:cubicBezTo>
                    <a:pt x="198097" y="56941"/>
                    <a:pt x="190452" y="60107"/>
                    <a:pt x="182482" y="60107"/>
                  </a:cubicBezTo>
                  <a:lnTo>
                    <a:pt x="30054" y="60107"/>
                  </a:lnTo>
                  <a:cubicBezTo>
                    <a:pt x="13455" y="60107"/>
                    <a:pt x="0" y="46652"/>
                    <a:pt x="0" y="30054"/>
                  </a:cubicBezTo>
                  <a:lnTo>
                    <a:pt x="0" y="30054"/>
                  </a:lnTo>
                  <a:cubicBezTo>
                    <a:pt x="0" y="13455"/>
                    <a:pt x="13455" y="0"/>
                    <a:pt x="3005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0" y="-38100"/>
              <a:ext cx="212535" cy="98207"/>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9F9F4"/>
                  </a:solidFill>
                  <a:latin typeface="Shantell Sans"/>
                  <a:ea typeface="Shantell Sans"/>
                  <a:cs typeface="Shantell Sans"/>
                  <a:sym typeface="Shantell Sans"/>
                </a:rPr>
                <a:t>02</a:t>
              </a:r>
              <a:endParaRPr/>
            </a:p>
          </p:txBody>
        </p:sp>
      </p:grpSp>
      <p:cxnSp>
        <p:nvCxnSpPr>
          <p:cNvPr id="177" name="Google Shape;177;p6"/>
          <p:cNvCxnSpPr/>
          <p:nvPr/>
        </p:nvCxnSpPr>
        <p:spPr>
          <a:xfrm>
            <a:off x="9990409" y="6583472"/>
            <a:ext cx="1530710" cy="786817"/>
          </a:xfrm>
          <a:prstGeom prst="straightConnector1">
            <a:avLst/>
          </a:prstGeom>
          <a:noFill/>
          <a:ln cap="rnd" cmpd="sng" w="38100">
            <a:solidFill>
              <a:srgbClr val="000000"/>
            </a:solidFill>
            <a:prstDash val="solid"/>
            <a:round/>
            <a:headEnd len="sm" w="sm" type="none"/>
            <a:tailEnd len="med" w="med" type="stealth"/>
          </a:ln>
        </p:spPr>
      </p:cxnSp>
      <p:sp>
        <p:nvSpPr>
          <p:cNvPr id="178" name="Google Shape;178;p6"/>
          <p:cNvSpPr/>
          <p:nvPr/>
        </p:nvSpPr>
        <p:spPr>
          <a:xfrm>
            <a:off x="13961017" y="710369"/>
            <a:ext cx="2303710" cy="636662"/>
          </a:xfrm>
          <a:custGeom>
            <a:rect b="b" l="l" r="r" t="t"/>
            <a:pathLst>
              <a:path extrusionOk="0" h="636662" w="2303710">
                <a:moveTo>
                  <a:pt x="0" y="0"/>
                </a:moveTo>
                <a:lnTo>
                  <a:pt x="2303710" y="0"/>
                </a:lnTo>
                <a:lnTo>
                  <a:pt x="2303710" y="636662"/>
                </a:lnTo>
                <a:lnTo>
                  <a:pt x="0" y="636662"/>
                </a:lnTo>
                <a:lnTo>
                  <a:pt x="0" y="0"/>
                </a:lnTo>
                <a:close/>
              </a:path>
            </a:pathLst>
          </a:custGeom>
          <a:blipFill rotWithShape="1">
            <a:blip r:embed="rId4">
              <a:alphaModFix/>
            </a:blip>
            <a:stretch>
              <a:fillRect b="0" l="0" r="0" t="0"/>
            </a:stretch>
          </a:blipFill>
          <a:ln>
            <a:noFill/>
          </a:ln>
        </p:spPr>
      </p:sp>
      <p:sp>
        <p:nvSpPr>
          <p:cNvPr id="179" name="Google Shape;179;p6"/>
          <p:cNvSpPr/>
          <p:nvPr/>
        </p:nvSpPr>
        <p:spPr>
          <a:xfrm>
            <a:off x="14865892" y="1385732"/>
            <a:ext cx="2303710" cy="636662"/>
          </a:xfrm>
          <a:custGeom>
            <a:rect b="b" l="l" r="r" t="t"/>
            <a:pathLst>
              <a:path extrusionOk="0" h="636662" w="2303710">
                <a:moveTo>
                  <a:pt x="0" y="0"/>
                </a:moveTo>
                <a:lnTo>
                  <a:pt x="2303710" y="0"/>
                </a:lnTo>
                <a:lnTo>
                  <a:pt x="2303710" y="636662"/>
                </a:lnTo>
                <a:lnTo>
                  <a:pt x="0" y="636662"/>
                </a:lnTo>
                <a:lnTo>
                  <a:pt x="0" y="0"/>
                </a:lnTo>
                <a:close/>
              </a:path>
            </a:pathLst>
          </a:custGeom>
          <a:blipFill rotWithShape="1">
            <a:blip r:embed="rId5">
              <a:alphaModFix/>
            </a:blip>
            <a:stretch>
              <a:fillRect b="0" l="0" r="0" t="0"/>
            </a:stretch>
          </a:blipFill>
          <a:ln>
            <a:noFill/>
          </a:ln>
        </p:spPr>
      </p:sp>
      <p:sp>
        <p:nvSpPr>
          <p:cNvPr id="180" name="Google Shape;180;p6"/>
          <p:cNvSpPr/>
          <p:nvPr/>
        </p:nvSpPr>
        <p:spPr>
          <a:xfrm>
            <a:off x="6133011" y="1538625"/>
            <a:ext cx="3664441" cy="1012718"/>
          </a:xfrm>
          <a:custGeom>
            <a:rect b="b" l="l" r="r" t="t"/>
            <a:pathLst>
              <a:path extrusionOk="0" h="1012718" w="3664441">
                <a:moveTo>
                  <a:pt x="0" y="0"/>
                </a:moveTo>
                <a:lnTo>
                  <a:pt x="3664442" y="0"/>
                </a:lnTo>
                <a:lnTo>
                  <a:pt x="3664442" y="1012719"/>
                </a:lnTo>
                <a:lnTo>
                  <a:pt x="0" y="1012719"/>
                </a:lnTo>
                <a:lnTo>
                  <a:pt x="0" y="0"/>
                </a:lnTo>
                <a:close/>
              </a:path>
            </a:pathLst>
          </a:custGeom>
          <a:blipFill rotWithShape="1">
            <a:blip r:embed="rId6">
              <a:alphaModFix/>
            </a:blip>
            <a:stretch>
              <a:fillRect b="0" l="0" r="0" t="0"/>
            </a:stretch>
          </a:blipFill>
          <a:ln>
            <a:noFill/>
          </a:ln>
        </p:spPr>
      </p:sp>
      <p:sp>
        <p:nvSpPr>
          <p:cNvPr id="181" name="Google Shape;181;p6"/>
          <p:cNvSpPr/>
          <p:nvPr/>
        </p:nvSpPr>
        <p:spPr>
          <a:xfrm>
            <a:off x="11934906" y="367565"/>
            <a:ext cx="5933135" cy="4516599"/>
          </a:xfrm>
          <a:custGeom>
            <a:rect b="b" l="l" r="r" t="t"/>
            <a:pathLst>
              <a:path extrusionOk="0" h="4516599" w="5933135">
                <a:moveTo>
                  <a:pt x="0" y="0"/>
                </a:moveTo>
                <a:lnTo>
                  <a:pt x="5933136" y="0"/>
                </a:lnTo>
                <a:lnTo>
                  <a:pt x="5933136" y="4516599"/>
                </a:lnTo>
                <a:lnTo>
                  <a:pt x="0" y="4516599"/>
                </a:lnTo>
                <a:lnTo>
                  <a:pt x="0" y="0"/>
                </a:lnTo>
                <a:close/>
              </a:path>
            </a:pathLst>
          </a:custGeom>
          <a:blipFill rotWithShape="1">
            <a:blip r:embed="rId7">
              <a:alphaModFix/>
            </a:blip>
            <a:stretch>
              <a:fillRect b="0" l="0" r="0" t="0"/>
            </a:stretch>
          </a:blipFill>
          <a:ln>
            <a:noFill/>
          </a:ln>
        </p:spPr>
      </p:sp>
      <p:sp>
        <p:nvSpPr>
          <p:cNvPr id="182" name="Google Shape;182;p6"/>
          <p:cNvSpPr/>
          <p:nvPr/>
        </p:nvSpPr>
        <p:spPr>
          <a:xfrm>
            <a:off x="-314401" y="9258300"/>
            <a:ext cx="3029098" cy="1894563"/>
          </a:xfrm>
          <a:custGeom>
            <a:rect b="b" l="l" r="r" t="t"/>
            <a:pathLst>
              <a:path extrusionOk="0" h="1894563" w="3029098">
                <a:moveTo>
                  <a:pt x="0" y="0"/>
                </a:moveTo>
                <a:lnTo>
                  <a:pt x="3029098" y="0"/>
                </a:lnTo>
                <a:lnTo>
                  <a:pt x="3029098" y="1894563"/>
                </a:lnTo>
                <a:lnTo>
                  <a:pt x="0" y="1894563"/>
                </a:lnTo>
                <a:lnTo>
                  <a:pt x="0" y="0"/>
                </a:lnTo>
                <a:close/>
              </a:path>
            </a:pathLst>
          </a:custGeom>
          <a:blipFill rotWithShape="1">
            <a:blip r:embed="rId8">
              <a:alphaModFix/>
            </a:blip>
            <a:stretch>
              <a:fillRect b="0" l="0" r="0" t="0"/>
            </a:stretch>
          </a:blipFill>
          <a:ln>
            <a:noFill/>
          </a:ln>
        </p:spPr>
      </p:sp>
      <p:sp>
        <p:nvSpPr>
          <p:cNvPr id="183" name="Google Shape;183;p6"/>
          <p:cNvSpPr/>
          <p:nvPr/>
        </p:nvSpPr>
        <p:spPr>
          <a:xfrm>
            <a:off x="16853240" y="2204512"/>
            <a:ext cx="2869521" cy="2938988"/>
          </a:xfrm>
          <a:custGeom>
            <a:rect b="b" l="l" r="r" t="t"/>
            <a:pathLst>
              <a:path extrusionOk="0" h="2938988" w="2869521">
                <a:moveTo>
                  <a:pt x="0" y="0"/>
                </a:moveTo>
                <a:lnTo>
                  <a:pt x="2869520" y="0"/>
                </a:lnTo>
                <a:lnTo>
                  <a:pt x="2869520" y="2938988"/>
                </a:lnTo>
                <a:lnTo>
                  <a:pt x="0" y="2938988"/>
                </a:lnTo>
                <a:lnTo>
                  <a:pt x="0" y="0"/>
                </a:lnTo>
                <a:close/>
              </a:path>
            </a:pathLst>
          </a:custGeom>
          <a:blipFill rotWithShape="1">
            <a:blip r:embed="rId9">
              <a:alphaModFix/>
            </a:blip>
            <a:stretch>
              <a:fillRect b="0" l="0" r="0" t="0"/>
            </a:stretch>
          </a:blipFill>
          <a:ln>
            <a:noFill/>
          </a:ln>
        </p:spPr>
      </p:sp>
      <p:sp>
        <p:nvSpPr>
          <p:cNvPr id="184" name="Google Shape;184;p6"/>
          <p:cNvSpPr txBox="1"/>
          <p:nvPr/>
        </p:nvSpPr>
        <p:spPr>
          <a:xfrm>
            <a:off x="1200148" y="2760894"/>
            <a:ext cx="8916841" cy="2335612"/>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674" u="none" cap="none" strike="noStrike">
                <a:solidFill>
                  <a:srgbClr val="000102"/>
                </a:solidFill>
                <a:latin typeface="Shantell Sans"/>
                <a:ea typeface="Shantell Sans"/>
                <a:cs typeface="Shantell Sans"/>
                <a:sym typeface="Shantell Sans"/>
              </a:rPr>
              <a:t>STP utiliza unidades llamadas BPDUs (Bridge Protocol Data Units) para intercambiar información entre switches. Uno de los switches es elegido como el Root Bridge, y los demás determinan la ruta más corta hacia él, creando una sola ruta sin bucles.</a:t>
            </a:r>
            <a:endParaRPr/>
          </a:p>
        </p:txBody>
      </p:sp>
      <p:sp>
        <p:nvSpPr>
          <p:cNvPr id="185" name="Google Shape;185;p6"/>
          <p:cNvSpPr txBox="1"/>
          <p:nvPr/>
        </p:nvSpPr>
        <p:spPr>
          <a:xfrm>
            <a:off x="4191528" y="7867817"/>
            <a:ext cx="2888196" cy="315459"/>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0" i="0" lang="en-US" sz="1829" u="none" cap="none" strike="noStrike">
                <a:solidFill>
                  <a:srgbClr val="000102"/>
                </a:solidFill>
                <a:latin typeface="Shantell Sans"/>
                <a:ea typeface="Shantell Sans"/>
                <a:cs typeface="Shantell Sans"/>
                <a:sym typeface="Shantell Sans"/>
              </a:rPr>
              <a:t>Selección del Root Bridge</a:t>
            </a:r>
            <a:endParaRPr/>
          </a:p>
        </p:txBody>
      </p:sp>
      <p:sp>
        <p:nvSpPr>
          <p:cNvPr id="186" name="Google Shape;186;p6"/>
          <p:cNvSpPr txBox="1"/>
          <p:nvPr/>
        </p:nvSpPr>
        <p:spPr>
          <a:xfrm>
            <a:off x="11072821" y="7867817"/>
            <a:ext cx="3080428" cy="639309"/>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0" i="0" lang="en-US" sz="1829" u="none" cap="none" strike="noStrike">
                <a:solidFill>
                  <a:srgbClr val="000102"/>
                </a:solidFill>
                <a:latin typeface="Shantell Sans"/>
                <a:ea typeface="Shantell Sans"/>
                <a:cs typeface="Shantell Sans"/>
                <a:sym typeface="Shantell Sans"/>
              </a:rPr>
              <a:t>Selección de puertos designados y no designados</a:t>
            </a:r>
            <a:endParaRPr/>
          </a:p>
        </p:txBody>
      </p:sp>
      <p:sp>
        <p:nvSpPr>
          <p:cNvPr id="187" name="Google Shape;187;p6"/>
          <p:cNvSpPr txBox="1"/>
          <p:nvPr/>
        </p:nvSpPr>
        <p:spPr>
          <a:xfrm>
            <a:off x="1200148" y="320295"/>
            <a:ext cx="9612900" cy="2114700"/>
          </a:xfrm>
          <a:prstGeom prst="rect">
            <a:avLst/>
          </a:prstGeom>
          <a:noFill/>
          <a:ln>
            <a:noFill/>
          </a:ln>
        </p:spPr>
        <p:txBody>
          <a:bodyPr anchorCtr="0" anchor="t" bIns="0" lIns="0" spcFirstLastPara="1" rIns="0" wrap="square" tIns="0">
            <a:spAutoFit/>
          </a:bodyPr>
          <a:lstStyle/>
          <a:p>
            <a:pPr indent="0" lvl="0" marL="0" marR="0" rtl="0" algn="l">
              <a:lnSpc>
                <a:spcPct val="112006"/>
              </a:lnSpc>
              <a:spcBef>
                <a:spcPts val="0"/>
              </a:spcBef>
              <a:spcAft>
                <a:spcPts val="0"/>
              </a:spcAft>
              <a:buNone/>
            </a:pPr>
            <a:r>
              <a:rPr b="0" i="0" lang="en-US" sz="6480" u="none" cap="none" strike="noStrike">
                <a:solidFill>
                  <a:srgbClr val="000102"/>
                </a:solidFill>
                <a:latin typeface="Arial"/>
                <a:ea typeface="Arial"/>
                <a:cs typeface="Arial"/>
                <a:sym typeface="Arial"/>
              </a:rPr>
              <a:t>¿Cómo funciona el Spanning Tree Protocol?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193" name="Google Shape;193;p7"/>
          <p:cNvSpPr/>
          <p:nvPr/>
        </p:nvSpPr>
        <p:spPr>
          <a:xfrm>
            <a:off x="12199916" y="5750877"/>
            <a:ext cx="11430000" cy="8229600"/>
          </a:xfrm>
          <a:custGeom>
            <a:rect b="b" l="l" r="r" t="t"/>
            <a:pathLst>
              <a:path extrusionOk="0" h="8229600" w="11430000">
                <a:moveTo>
                  <a:pt x="0" y="0"/>
                </a:moveTo>
                <a:lnTo>
                  <a:pt x="11430000" y="0"/>
                </a:lnTo>
                <a:lnTo>
                  <a:pt x="11430000" y="8229600"/>
                </a:lnTo>
                <a:lnTo>
                  <a:pt x="0" y="8229600"/>
                </a:lnTo>
                <a:lnTo>
                  <a:pt x="0" y="0"/>
                </a:lnTo>
                <a:close/>
              </a:path>
            </a:pathLst>
          </a:custGeom>
          <a:blipFill rotWithShape="1">
            <a:blip r:embed="rId4">
              <a:alphaModFix/>
            </a:blip>
            <a:stretch>
              <a:fillRect b="0" l="0" r="0" t="0"/>
            </a:stretch>
          </a:blipFill>
          <a:ln>
            <a:noFill/>
          </a:ln>
        </p:spPr>
      </p:sp>
      <p:sp>
        <p:nvSpPr>
          <p:cNvPr id="194" name="Google Shape;194;p7"/>
          <p:cNvSpPr/>
          <p:nvPr/>
        </p:nvSpPr>
        <p:spPr>
          <a:xfrm>
            <a:off x="1028700" y="4160970"/>
            <a:ext cx="5060685" cy="4605223"/>
          </a:xfrm>
          <a:custGeom>
            <a:rect b="b" l="l" r="r" t="t"/>
            <a:pathLst>
              <a:path extrusionOk="0" h="4605223" w="5060685">
                <a:moveTo>
                  <a:pt x="0" y="0"/>
                </a:moveTo>
                <a:lnTo>
                  <a:pt x="5060685" y="0"/>
                </a:lnTo>
                <a:lnTo>
                  <a:pt x="5060685" y="4605223"/>
                </a:lnTo>
                <a:lnTo>
                  <a:pt x="0" y="4605223"/>
                </a:lnTo>
                <a:lnTo>
                  <a:pt x="0" y="0"/>
                </a:lnTo>
                <a:close/>
              </a:path>
            </a:pathLst>
          </a:custGeom>
          <a:blipFill rotWithShape="1">
            <a:blip r:embed="rId5">
              <a:alphaModFix/>
            </a:blip>
            <a:stretch>
              <a:fillRect b="0" l="0" r="0" t="0"/>
            </a:stretch>
          </a:blipFill>
          <a:ln>
            <a:noFill/>
          </a:ln>
        </p:spPr>
      </p:sp>
      <p:sp>
        <p:nvSpPr>
          <p:cNvPr id="195" name="Google Shape;195;p7"/>
          <p:cNvSpPr/>
          <p:nvPr/>
        </p:nvSpPr>
        <p:spPr>
          <a:xfrm>
            <a:off x="6615357" y="4160970"/>
            <a:ext cx="5060685" cy="4605223"/>
          </a:xfrm>
          <a:custGeom>
            <a:rect b="b" l="l" r="r" t="t"/>
            <a:pathLst>
              <a:path extrusionOk="0" h="4605223" w="5060685">
                <a:moveTo>
                  <a:pt x="0" y="0"/>
                </a:moveTo>
                <a:lnTo>
                  <a:pt x="5060684" y="0"/>
                </a:lnTo>
                <a:lnTo>
                  <a:pt x="5060684" y="4605223"/>
                </a:lnTo>
                <a:lnTo>
                  <a:pt x="0" y="4605223"/>
                </a:lnTo>
                <a:lnTo>
                  <a:pt x="0" y="0"/>
                </a:lnTo>
                <a:close/>
              </a:path>
            </a:pathLst>
          </a:custGeom>
          <a:blipFill rotWithShape="1">
            <a:blip r:embed="rId5">
              <a:alphaModFix/>
            </a:blip>
            <a:stretch>
              <a:fillRect b="0" l="0" r="0" t="0"/>
            </a:stretch>
          </a:blipFill>
          <a:ln>
            <a:noFill/>
          </a:ln>
        </p:spPr>
      </p:sp>
      <p:sp>
        <p:nvSpPr>
          <p:cNvPr id="196" name="Google Shape;196;p7"/>
          <p:cNvSpPr/>
          <p:nvPr/>
        </p:nvSpPr>
        <p:spPr>
          <a:xfrm>
            <a:off x="12198615" y="4160970"/>
            <a:ext cx="5060685" cy="4605223"/>
          </a:xfrm>
          <a:custGeom>
            <a:rect b="b" l="l" r="r" t="t"/>
            <a:pathLst>
              <a:path extrusionOk="0" h="4605223" w="5060685">
                <a:moveTo>
                  <a:pt x="0" y="0"/>
                </a:moveTo>
                <a:lnTo>
                  <a:pt x="5060685" y="0"/>
                </a:lnTo>
                <a:lnTo>
                  <a:pt x="5060685" y="4605223"/>
                </a:lnTo>
                <a:lnTo>
                  <a:pt x="0" y="4605223"/>
                </a:lnTo>
                <a:lnTo>
                  <a:pt x="0" y="0"/>
                </a:lnTo>
                <a:close/>
              </a:path>
            </a:pathLst>
          </a:custGeom>
          <a:blipFill rotWithShape="1">
            <a:blip r:embed="rId5">
              <a:alphaModFix/>
            </a:blip>
            <a:stretch>
              <a:fillRect b="0" l="0" r="0" t="0"/>
            </a:stretch>
          </a:blipFill>
          <a:ln>
            <a:noFill/>
          </a:ln>
        </p:spPr>
      </p:sp>
      <p:sp>
        <p:nvSpPr>
          <p:cNvPr id="197" name="Google Shape;197;p7"/>
          <p:cNvSpPr/>
          <p:nvPr/>
        </p:nvSpPr>
        <p:spPr>
          <a:xfrm>
            <a:off x="4593490" y="7340603"/>
            <a:ext cx="1040792" cy="1080924"/>
          </a:xfrm>
          <a:custGeom>
            <a:rect b="b" l="l" r="r" t="t"/>
            <a:pathLst>
              <a:path extrusionOk="0" h="1080924" w="1040792">
                <a:moveTo>
                  <a:pt x="0" y="0"/>
                </a:moveTo>
                <a:lnTo>
                  <a:pt x="1040792" y="0"/>
                </a:lnTo>
                <a:lnTo>
                  <a:pt x="1040792" y="1080924"/>
                </a:lnTo>
                <a:lnTo>
                  <a:pt x="0" y="1080924"/>
                </a:lnTo>
                <a:lnTo>
                  <a:pt x="0" y="0"/>
                </a:lnTo>
                <a:close/>
              </a:path>
            </a:pathLst>
          </a:custGeom>
          <a:blipFill rotWithShape="1">
            <a:blip r:embed="rId6">
              <a:alphaModFix/>
            </a:blip>
            <a:stretch>
              <a:fillRect b="0" l="0" r="0" t="0"/>
            </a:stretch>
          </a:blipFill>
          <a:ln>
            <a:noFill/>
          </a:ln>
        </p:spPr>
      </p:sp>
      <p:sp>
        <p:nvSpPr>
          <p:cNvPr id="198" name="Google Shape;198;p7"/>
          <p:cNvSpPr/>
          <p:nvPr/>
        </p:nvSpPr>
        <p:spPr>
          <a:xfrm>
            <a:off x="10482901" y="4939245"/>
            <a:ext cx="840865" cy="1080924"/>
          </a:xfrm>
          <a:custGeom>
            <a:rect b="b" l="l" r="r" t="t"/>
            <a:pathLst>
              <a:path extrusionOk="0" h="1080924" w="840865">
                <a:moveTo>
                  <a:pt x="0" y="0"/>
                </a:moveTo>
                <a:lnTo>
                  <a:pt x="840865" y="0"/>
                </a:lnTo>
                <a:lnTo>
                  <a:pt x="840865" y="1080924"/>
                </a:lnTo>
                <a:lnTo>
                  <a:pt x="0" y="1080924"/>
                </a:lnTo>
                <a:lnTo>
                  <a:pt x="0" y="0"/>
                </a:lnTo>
                <a:close/>
              </a:path>
            </a:pathLst>
          </a:custGeom>
          <a:blipFill rotWithShape="1">
            <a:blip r:embed="rId7">
              <a:alphaModFix/>
            </a:blip>
            <a:stretch>
              <a:fillRect b="0" l="0" r="0" t="0"/>
            </a:stretch>
          </a:blipFill>
          <a:ln>
            <a:noFill/>
          </a:ln>
        </p:spPr>
      </p:sp>
      <p:sp>
        <p:nvSpPr>
          <p:cNvPr id="199" name="Google Shape;199;p7"/>
          <p:cNvSpPr/>
          <p:nvPr/>
        </p:nvSpPr>
        <p:spPr>
          <a:xfrm>
            <a:off x="12313949" y="4596136"/>
            <a:ext cx="686335" cy="883571"/>
          </a:xfrm>
          <a:custGeom>
            <a:rect b="b" l="l" r="r" t="t"/>
            <a:pathLst>
              <a:path extrusionOk="0" h="883571" w="686335">
                <a:moveTo>
                  <a:pt x="0" y="0"/>
                </a:moveTo>
                <a:lnTo>
                  <a:pt x="686335" y="0"/>
                </a:lnTo>
                <a:lnTo>
                  <a:pt x="686335" y="883571"/>
                </a:lnTo>
                <a:lnTo>
                  <a:pt x="0" y="883571"/>
                </a:lnTo>
                <a:lnTo>
                  <a:pt x="0" y="0"/>
                </a:lnTo>
                <a:close/>
              </a:path>
            </a:pathLst>
          </a:custGeom>
          <a:blipFill rotWithShape="1">
            <a:blip r:embed="rId8">
              <a:alphaModFix/>
            </a:blip>
            <a:stretch>
              <a:fillRect b="0" l="0" r="0" t="0"/>
            </a:stretch>
          </a:blipFill>
          <a:ln>
            <a:noFill/>
          </a:ln>
        </p:spPr>
      </p:sp>
      <p:sp>
        <p:nvSpPr>
          <p:cNvPr id="200" name="Google Shape;200;p7"/>
          <p:cNvSpPr/>
          <p:nvPr/>
        </p:nvSpPr>
        <p:spPr>
          <a:xfrm flipH="1" rot="-8868573">
            <a:off x="11355696" y="2491607"/>
            <a:ext cx="3004386" cy="848739"/>
          </a:xfrm>
          <a:custGeom>
            <a:rect b="b" l="l" r="r" t="t"/>
            <a:pathLst>
              <a:path extrusionOk="0" h="848739" w="3004386">
                <a:moveTo>
                  <a:pt x="3004385" y="0"/>
                </a:moveTo>
                <a:lnTo>
                  <a:pt x="0" y="0"/>
                </a:lnTo>
                <a:lnTo>
                  <a:pt x="0" y="848739"/>
                </a:lnTo>
                <a:lnTo>
                  <a:pt x="3004385" y="848739"/>
                </a:lnTo>
                <a:lnTo>
                  <a:pt x="3004385" y="0"/>
                </a:lnTo>
                <a:close/>
              </a:path>
            </a:pathLst>
          </a:custGeom>
          <a:blipFill rotWithShape="1">
            <a:blip r:embed="rId9">
              <a:alphaModFix/>
            </a:blip>
            <a:stretch>
              <a:fillRect b="0" l="0" r="0" t="0"/>
            </a:stretch>
          </a:blipFill>
          <a:ln>
            <a:noFill/>
          </a:ln>
        </p:spPr>
      </p:sp>
      <p:sp>
        <p:nvSpPr>
          <p:cNvPr id="201" name="Google Shape;201;p7"/>
          <p:cNvSpPr/>
          <p:nvPr/>
        </p:nvSpPr>
        <p:spPr>
          <a:xfrm flipH="1" rot="-7578442">
            <a:off x="8108418" y="3434508"/>
            <a:ext cx="2722138" cy="769004"/>
          </a:xfrm>
          <a:custGeom>
            <a:rect b="b" l="l" r="r" t="t"/>
            <a:pathLst>
              <a:path extrusionOk="0" h="769004" w="2722138">
                <a:moveTo>
                  <a:pt x="2722138" y="0"/>
                </a:moveTo>
                <a:lnTo>
                  <a:pt x="0" y="0"/>
                </a:lnTo>
                <a:lnTo>
                  <a:pt x="0" y="769004"/>
                </a:lnTo>
                <a:lnTo>
                  <a:pt x="2722138" y="769004"/>
                </a:lnTo>
                <a:lnTo>
                  <a:pt x="2722138" y="0"/>
                </a:lnTo>
                <a:close/>
              </a:path>
            </a:pathLst>
          </a:custGeom>
          <a:blipFill rotWithShape="1">
            <a:blip r:embed="rId9">
              <a:alphaModFix/>
            </a:blip>
            <a:stretch>
              <a:fillRect b="0" l="0" r="0" t="0"/>
            </a:stretch>
          </a:blipFill>
          <a:ln>
            <a:noFill/>
          </a:ln>
        </p:spPr>
      </p:sp>
      <p:sp>
        <p:nvSpPr>
          <p:cNvPr id="202" name="Google Shape;202;p7"/>
          <p:cNvSpPr/>
          <p:nvPr/>
        </p:nvSpPr>
        <p:spPr>
          <a:xfrm rot="9449644">
            <a:off x="4166444" y="2710375"/>
            <a:ext cx="2722138" cy="769004"/>
          </a:xfrm>
          <a:custGeom>
            <a:rect b="b" l="l" r="r" t="t"/>
            <a:pathLst>
              <a:path extrusionOk="0" h="769004" w="2722138">
                <a:moveTo>
                  <a:pt x="0" y="0"/>
                </a:moveTo>
                <a:lnTo>
                  <a:pt x="2722138" y="0"/>
                </a:lnTo>
                <a:lnTo>
                  <a:pt x="2722138" y="769004"/>
                </a:lnTo>
                <a:lnTo>
                  <a:pt x="0" y="769004"/>
                </a:lnTo>
                <a:lnTo>
                  <a:pt x="0" y="0"/>
                </a:lnTo>
                <a:close/>
              </a:path>
            </a:pathLst>
          </a:custGeom>
          <a:blipFill rotWithShape="1">
            <a:blip r:embed="rId9">
              <a:alphaModFix/>
            </a:blip>
            <a:stretch>
              <a:fillRect b="0" l="0" r="0" t="0"/>
            </a:stretch>
          </a:blipFill>
          <a:ln>
            <a:noFill/>
          </a:ln>
        </p:spPr>
      </p:sp>
      <p:sp>
        <p:nvSpPr>
          <p:cNvPr id="203" name="Google Shape;203;p7"/>
          <p:cNvSpPr/>
          <p:nvPr/>
        </p:nvSpPr>
        <p:spPr>
          <a:xfrm>
            <a:off x="6615357" y="1263707"/>
            <a:ext cx="5060685" cy="1910409"/>
          </a:xfrm>
          <a:custGeom>
            <a:rect b="b" l="l" r="r" t="t"/>
            <a:pathLst>
              <a:path extrusionOk="0" h="1910409" w="5060685">
                <a:moveTo>
                  <a:pt x="0" y="0"/>
                </a:moveTo>
                <a:lnTo>
                  <a:pt x="5060684" y="0"/>
                </a:lnTo>
                <a:lnTo>
                  <a:pt x="5060684" y="1910408"/>
                </a:lnTo>
                <a:lnTo>
                  <a:pt x="0" y="1910408"/>
                </a:lnTo>
                <a:lnTo>
                  <a:pt x="0" y="0"/>
                </a:lnTo>
                <a:close/>
              </a:path>
            </a:pathLst>
          </a:custGeom>
          <a:blipFill rotWithShape="1">
            <a:blip r:embed="rId10">
              <a:alphaModFix/>
            </a:blip>
            <a:stretch>
              <a:fillRect b="0" l="0" r="0" t="0"/>
            </a:stretch>
          </a:blipFill>
          <a:ln>
            <a:noFill/>
          </a:ln>
        </p:spPr>
      </p:sp>
      <p:sp>
        <p:nvSpPr>
          <p:cNvPr id="204" name="Google Shape;204;p7"/>
          <p:cNvSpPr/>
          <p:nvPr/>
        </p:nvSpPr>
        <p:spPr>
          <a:xfrm>
            <a:off x="-699843" y="8875166"/>
            <a:ext cx="7315200" cy="2823667"/>
          </a:xfrm>
          <a:custGeom>
            <a:rect b="b" l="l" r="r" t="t"/>
            <a:pathLst>
              <a:path extrusionOk="0" h="2823667" w="7315200">
                <a:moveTo>
                  <a:pt x="0" y="0"/>
                </a:moveTo>
                <a:lnTo>
                  <a:pt x="7315200" y="0"/>
                </a:lnTo>
                <a:lnTo>
                  <a:pt x="7315200" y="2823668"/>
                </a:lnTo>
                <a:lnTo>
                  <a:pt x="0" y="2823668"/>
                </a:lnTo>
                <a:lnTo>
                  <a:pt x="0" y="0"/>
                </a:lnTo>
                <a:close/>
              </a:path>
            </a:pathLst>
          </a:custGeom>
          <a:blipFill rotWithShape="1">
            <a:blip r:embed="rId11">
              <a:alphaModFix/>
            </a:blip>
            <a:stretch>
              <a:fillRect b="0" l="0" r="0" t="0"/>
            </a:stretch>
          </a:blipFill>
          <a:ln>
            <a:noFill/>
          </a:ln>
        </p:spPr>
      </p:sp>
      <p:sp>
        <p:nvSpPr>
          <p:cNvPr id="205" name="Google Shape;205;p7"/>
          <p:cNvSpPr/>
          <p:nvPr/>
        </p:nvSpPr>
        <p:spPr>
          <a:xfrm>
            <a:off x="-2691508" y="-1198823"/>
            <a:ext cx="5941949" cy="4114800"/>
          </a:xfrm>
          <a:custGeom>
            <a:rect b="b" l="l" r="r" t="t"/>
            <a:pathLst>
              <a:path extrusionOk="0" h="4114800" w="5941949">
                <a:moveTo>
                  <a:pt x="0" y="0"/>
                </a:moveTo>
                <a:lnTo>
                  <a:pt x="5941949" y="0"/>
                </a:lnTo>
                <a:lnTo>
                  <a:pt x="5941949" y="4114800"/>
                </a:lnTo>
                <a:lnTo>
                  <a:pt x="0" y="4114800"/>
                </a:lnTo>
                <a:lnTo>
                  <a:pt x="0" y="0"/>
                </a:lnTo>
                <a:close/>
              </a:path>
            </a:pathLst>
          </a:custGeom>
          <a:blipFill rotWithShape="1">
            <a:blip r:embed="rId12">
              <a:alphaModFix/>
            </a:blip>
            <a:stretch>
              <a:fillRect b="0" l="0" r="0" t="0"/>
            </a:stretch>
          </a:blipFill>
          <a:ln>
            <a:noFill/>
          </a:ln>
        </p:spPr>
      </p:sp>
      <p:sp>
        <p:nvSpPr>
          <p:cNvPr id="206" name="Google Shape;206;p7"/>
          <p:cNvSpPr/>
          <p:nvPr/>
        </p:nvSpPr>
        <p:spPr>
          <a:xfrm>
            <a:off x="7384667" y="1888795"/>
            <a:ext cx="3518666" cy="659750"/>
          </a:xfrm>
          <a:custGeom>
            <a:rect b="b" l="l" r="r" t="t"/>
            <a:pathLst>
              <a:path extrusionOk="0" h="659750" w="3518666">
                <a:moveTo>
                  <a:pt x="0" y="0"/>
                </a:moveTo>
                <a:lnTo>
                  <a:pt x="3518666" y="0"/>
                </a:lnTo>
                <a:lnTo>
                  <a:pt x="3518666" y="659750"/>
                </a:lnTo>
                <a:lnTo>
                  <a:pt x="0" y="659750"/>
                </a:lnTo>
                <a:lnTo>
                  <a:pt x="0" y="0"/>
                </a:lnTo>
                <a:close/>
              </a:path>
            </a:pathLst>
          </a:custGeom>
          <a:blipFill rotWithShape="1">
            <a:blip r:embed="rId13">
              <a:alphaModFix amt="57000"/>
            </a:blip>
            <a:stretch>
              <a:fillRect b="0" l="0" r="0" t="0"/>
            </a:stretch>
          </a:blipFill>
          <a:ln>
            <a:noFill/>
          </a:ln>
        </p:spPr>
      </p:sp>
      <p:sp>
        <p:nvSpPr>
          <p:cNvPr id="207" name="Google Shape;207;p7"/>
          <p:cNvSpPr txBox="1"/>
          <p:nvPr/>
        </p:nvSpPr>
        <p:spPr>
          <a:xfrm>
            <a:off x="7074869" y="4970156"/>
            <a:ext cx="3510381" cy="32336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Cuando los switches se conectan por primera vez, intercambian BPDUs con información como la dirección MAC, número de prioridad, número de puerto, etc. El switch con el Bridge ID más bajo es elegido como Root Bridge.</a:t>
            </a:r>
            <a:endParaRPr/>
          </a:p>
        </p:txBody>
      </p:sp>
      <p:sp>
        <p:nvSpPr>
          <p:cNvPr id="208" name="Google Shape;208;p7"/>
          <p:cNvSpPr txBox="1"/>
          <p:nvPr/>
        </p:nvSpPr>
        <p:spPr>
          <a:xfrm>
            <a:off x="12657116" y="5124510"/>
            <a:ext cx="4496155" cy="32336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Bridge ID = Prioridad + Dirección MAC</a:t>
            </a:r>
            <a:endParaRPr/>
          </a:p>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 (La prioridad predeterminada es 32768)</a:t>
            </a:r>
            <a:endParaRPr/>
          </a:p>
          <a:p>
            <a:pPr indent="0" lvl="0" marL="0" marR="0" rtl="0" algn="l">
              <a:lnSpc>
                <a:spcPct val="140000"/>
              </a:lnSpc>
              <a:spcBef>
                <a:spcPts val="0"/>
              </a:spcBef>
              <a:spcAft>
                <a:spcPts val="0"/>
              </a:spcAft>
              <a:buNone/>
            </a:pPr>
            <a:r>
              <a:t/>
            </a:r>
            <a:endParaRPr b="0" i="0" sz="2065" u="none" cap="none" strike="noStrike">
              <a:solidFill>
                <a:srgbClr val="000000"/>
              </a:solidFill>
              <a:latin typeface="Shantell Sans"/>
              <a:ea typeface="Shantell Sans"/>
              <a:cs typeface="Shantell Sans"/>
              <a:sym typeface="Shantell Sans"/>
            </a:endParaRPr>
          </a:p>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Ejemplo: si todos los switches tienen la misma prioridad, se usa la MAC más baja como criterio de desempate.</a:t>
            </a:r>
            <a:endParaRPr/>
          </a:p>
        </p:txBody>
      </p:sp>
      <p:sp>
        <p:nvSpPr>
          <p:cNvPr id="209" name="Google Shape;209;p7"/>
          <p:cNvSpPr txBox="1"/>
          <p:nvPr/>
        </p:nvSpPr>
        <p:spPr>
          <a:xfrm>
            <a:off x="6754881" y="1610608"/>
            <a:ext cx="4781635" cy="826761"/>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4782" u="none" cap="none" strike="noStrike">
                <a:solidFill>
                  <a:srgbClr val="000000"/>
                </a:solidFill>
                <a:latin typeface="Arial"/>
                <a:ea typeface="Arial"/>
                <a:cs typeface="Arial"/>
                <a:sym typeface="Arial"/>
              </a:rPr>
              <a:t>Selección del Root Bridge</a:t>
            </a:r>
            <a:endParaRPr/>
          </a:p>
        </p:txBody>
      </p:sp>
      <p:sp>
        <p:nvSpPr>
          <p:cNvPr id="210" name="Google Shape;210;p7"/>
          <p:cNvSpPr txBox="1"/>
          <p:nvPr/>
        </p:nvSpPr>
        <p:spPr>
          <a:xfrm>
            <a:off x="1495251" y="5009347"/>
            <a:ext cx="3510381" cy="287171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El Root Bridge es el switch principal dentro de la topología de nivel 2, y todos sus puertos están en estado de reenvío (forwarding). Este se selecciona mediante un proceso de elección.</a:t>
            </a:r>
            <a:endParaRPr/>
          </a:p>
        </p:txBody>
      </p:sp>
      <p:sp>
        <p:nvSpPr>
          <p:cNvPr id="211" name="Google Shape;211;p7"/>
          <p:cNvSpPr txBox="1"/>
          <p:nvPr/>
        </p:nvSpPr>
        <p:spPr>
          <a:xfrm>
            <a:off x="1262713" y="9229725"/>
            <a:ext cx="5720423" cy="70001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65" u="none" cap="none" strike="noStrike">
                <a:solidFill>
                  <a:srgbClr val="000000"/>
                </a:solidFill>
                <a:latin typeface="Shantell Sans"/>
                <a:ea typeface="Shantell Sans"/>
                <a:cs typeface="Shantell Sans"/>
                <a:sym typeface="Shantell Sans"/>
              </a:rPr>
              <a:t>Puedes verificarlo con el comando:</a:t>
            </a:r>
            <a:endParaRPr/>
          </a:p>
          <a:p>
            <a:pPr indent="0" lvl="0" marL="0" marR="0" rtl="0" algn="l">
              <a:lnSpc>
                <a:spcPct val="140000"/>
              </a:lnSpc>
              <a:spcBef>
                <a:spcPts val="0"/>
              </a:spcBef>
              <a:spcAft>
                <a:spcPts val="0"/>
              </a:spcAft>
              <a:buNone/>
            </a:pPr>
            <a:r>
              <a:rPr b="1" i="0" lang="en-US" sz="2065" u="none" cap="none" strike="noStrike">
                <a:solidFill>
                  <a:srgbClr val="000000"/>
                </a:solidFill>
                <a:latin typeface="Shantell Sans"/>
                <a:ea typeface="Shantell Sans"/>
                <a:cs typeface="Shantell Sans"/>
                <a:sym typeface="Shantell Sans"/>
              </a:rPr>
              <a:t>show spanning-tree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217" name="Google Shape;217;p8"/>
          <p:cNvGrpSpPr/>
          <p:nvPr/>
        </p:nvGrpSpPr>
        <p:grpSpPr>
          <a:xfrm>
            <a:off x="1603533" y="1209862"/>
            <a:ext cx="14521689" cy="7843239"/>
            <a:chOff x="0" y="-9525"/>
            <a:chExt cx="5754696" cy="3108141"/>
          </a:xfrm>
        </p:grpSpPr>
        <p:sp>
          <p:nvSpPr>
            <p:cNvPr id="218" name="Google Shape;218;p8"/>
            <p:cNvSpPr/>
            <p:nvPr/>
          </p:nvSpPr>
          <p:spPr>
            <a:xfrm>
              <a:off x="0" y="0"/>
              <a:ext cx="5754696" cy="3098616"/>
            </a:xfrm>
            <a:custGeom>
              <a:rect b="b" l="l" r="r" t="t"/>
              <a:pathLst>
                <a:path extrusionOk="0" h="3098616" w="5754696">
                  <a:moveTo>
                    <a:pt x="18126" y="0"/>
                  </a:moveTo>
                  <a:lnTo>
                    <a:pt x="5736570" y="0"/>
                  </a:lnTo>
                  <a:cubicBezTo>
                    <a:pt x="5746581" y="0"/>
                    <a:pt x="5754696" y="8115"/>
                    <a:pt x="5754696" y="18126"/>
                  </a:cubicBezTo>
                  <a:lnTo>
                    <a:pt x="5754696" y="3080490"/>
                  </a:lnTo>
                  <a:cubicBezTo>
                    <a:pt x="5754696" y="3085297"/>
                    <a:pt x="5752787" y="3089908"/>
                    <a:pt x="5749387" y="3093307"/>
                  </a:cubicBezTo>
                  <a:cubicBezTo>
                    <a:pt x="5745988" y="3096706"/>
                    <a:pt x="5741377" y="3098616"/>
                    <a:pt x="5736570" y="3098616"/>
                  </a:cubicBezTo>
                  <a:lnTo>
                    <a:pt x="18126" y="3098616"/>
                  </a:lnTo>
                  <a:cubicBezTo>
                    <a:pt x="13319" y="3098616"/>
                    <a:pt x="8708" y="3096706"/>
                    <a:pt x="5309" y="3093307"/>
                  </a:cubicBezTo>
                  <a:cubicBezTo>
                    <a:pt x="1910" y="3089908"/>
                    <a:pt x="0" y="3085297"/>
                    <a:pt x="0" y="3080490"/>
                  </a:cubicBezTo>
                  <a:lnTo>
                    <a:pt x="0" y="18126"/>
                  </a:lnTo>
                  <a:cubicBezTo>
                    <a:pt x="0" y="13319"/>
                    <a:pt x="1910" y="8708"/>
                    <a:pt x="5309" y="5309"/>
                  </a:cubicBezTo>
                  <a:cubicBezTo>
                    <a:pt x="8708" y="1910"/>
                    <a:pt x="13319" y="0"/>
                    <a:pt x="18126"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nvSpPr>
          <p:spPr>
            <a:xfrm>
              <a:off x="0" y="-9525"/>
              <a:ext cx="5754696" cy="3108141"/>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8"/>
          <p:cNvSpPr/>
          <p:nvPr/>
        </p:nvSpPr>
        <p:spPr>
          <a:xfrm>
            <a:off x="6663735" y="1360596"/>
            <a:ext cx="8947000" cy="7565807"/>
          </a:xfrm>
          <a:custGeom>
            <a:rect b="b" l="l" r="r" t="t"/>
            <a:pathLst>
              <a:path extrusionOk="0" h="7565807" w="8947000">
                <a:moveTo>
                  <a:pt x="0" y="0"/>
                </a:moveTo>
                <a:lnTo>
                  <a:pt x="8947000" y="0"/>
                </a:lnTo>
                <a:lnTo>
                  <a:pt x="8947000" y="7565808"/>
                </a:lnTo>
                <a:lnTo>
                  <a:pt x="0" y="7565808"/>
                </a:lnTo>
                <a:lnTo>
                  <a:pt x="0" y="0"/>
                </a:lnTo>
                <a:close/>
              </a:path>
            </a:pathLst>
          </a:custGeom>
          <a:blipFill rotWithShape="1">
            <a:blip r:embed="rId4">
              <a:alphaModFix/>
            </a:blip>
            <a:stretch>
              <a:fillRect b="0" l="0" r="0" t="0"/>
            </a:stretch>
          </a:blipFill>
          <a:ln>
            <a:noFill/>
          </a:ln>
        </p:spPr>
      </p:sp>
      <p:sp>
        <p:nvSpPr>
          <p:cNvPr id="221" name="Google Shape;221;p8"/>
          <p:cNvSpPr/>
          <p:nvPr/>
        </p:nvSpPr>
        <p:spPr>
          <a:xfrm>
            <a:off x="5892327" y="1413923"/>
            <a:ext cx="734337" cy="183584"/>
          </a:xfrm>
          <a:custGeom>
            <a:rect b="b" l="l" r="r" t="t"/>
            <a:pathLst>
              <a:path extrusionOk="0" h="183584" w="734337">
                <a:moveTo>
                  <a:pt x="0" y="0"/>
                </a:moveTo>
                <a:lnTo>
                  <a:pt x="734337" y="0"/>
                </a:lnTo>
                <a:lnTo>
                  <a:pt x="734337" y="183584"/>
                </a:lnTo>
                <a:lnTo>
                  <a:pt x="0" y="183584"/>
                </a:lnTo>
                <a:lnTo>
                  <a:pt x="0" y="0"/>
                </a:lnTo>
                <a:close/>
              </a:path>
            </a:pathLst>
          </a:custGeom>
          <a:blipFill rotWithShape="1">
            <a:blip r:embed="rId5">
              <a:alphaModFix/>
            </a:blip>
            <a:stretch>
              <a:fillRect b="0" l="0" r="0" t="0"/>
            </a:stretch>
          </a:blipFill>
          <a:ln>
            <a:noFill/>
          </a:ln>
        </p:spPr>
      </p:sp>
      <p:sp>
        <p:nvSpPr>
          <p:cNvPr id="222" name="Google Shape;222;p8"/>
          <p:cNvSpPr/>
          <p:nvPr/>
        </p:nvSpPr>
        <p:spPr>
          <a:xfrm>
            <a:off x="3208510" y="2301695"/>
            <a:ext cx="3050985" cy="843181"/>
          </a:xfrm>
          <a:custGeom>
            <a:rect b="b" l="l" r="r" t="t"/>
            <a:pathLst>
              <a:path extrusionOk="0" h="843181" w="3050985">
                <a:moveTo>
                  <a:pt x="0" y="0"/>
                </a:moveTo>
                <a:lnTo>
                  <a:pt x="3050985" y="0"/>
                </a:lnTo>
                <a:lnTo>
                  <a:pt x="3050985" y="843181"/>
                </a:lnTo>
                <a:lnTo>
                  <a:pt x="0" y="843181"/>
                </a:lnTo>
                <a:lnTo>
                  <a:pt x="0" y="0"/>
                </a:lnTo>
                <a:close/>
              </a:path>
            </a:pathLst>
          </a:custGeom>
          <a:blipFill rotWithShape="1">
            <a:blip r:embed="rId6">
              <a:alphaModFix/>
            </a:blip>
            <a:stretch>
              <a:fillRect b="0" l="0" r="0" t="0"/>
            </a:stretch>
          </a:blipFill>
          <a:ln>
            <a:noFill/>
          </a:ln>
        </p:spPr>
      </p:sp>
      <p:grpSp>
        <p:nvGrpSpPr>
          <p:cNvPr id="223" name="Google Shape;223;p8"/>
          <p:cNvGrpSpPr/>
          <p:nvPr/>
        </p:nvGrpSpPr>
        <p:grpSpPr>
          <a:xfrm>
            <a:off x="8584755" y="3953296"/>
            <a:ext cx="559245" cy="485018"/>
            <a:chOff x="0" y="0"/>
            <a:chExt cx="745660" cy="646691"/>
          </a:xfrm>
        </p:grpSpPr>
        <p:sp>
          <p:nvSpPr>
            <p:cNvPr id="224" name="Google Shape;224;p8"/>
            <p:cNvSpPr/>
            <p:nvPr/>
          </p:nvSpPr>
          <p:spPr>
            <a:xfrm>
              <a:off x="0" y="0"/>
              <a:ext cx="745660" cy="646691"/>
            </a:xfrm>
            <a:custGeom>
              <a:rect b="b" l="l" r="r" t="t"/>
              <a:pathLst>
                <a:path extrusionOk="0" h="646691" w="745660">
                  <a:moveTo>
                    <a:pt x="0" y="0"/>
                  </a:moveTo>
                  <a:lnTo>
                    <a:pt x="745660" y="0"/>
                  </a:lnTo>
                  <a:lnTo>
                    <a:pt x="745660" y="646691"/>
                  </a:lnTo>
                  <a:lnTo>
                    <a:pt x="0" y="646691"/>
                  </a:lnTo>
                  <a:lnTo>
                    <a:pt x="0" y="0"/>
                  </a:lnTo>
                  <a:close/>
                </a:path>
              </a:pathLst>
            </a:custGeom>
            <a:blipFill rotWithShape="1">
              <a:blip r:embed="rId7">
                <a:alphaModFix/>
              </a:blip>
              <a:stretch>
                <a:fillRect b="0" l="0" r="0" t="0"/>
              </a:stretch>
            </a:blipFill>
            <a:ln>
              <a:noFill/>
            </a:ln>
          </p:spPr>
        </p:sp>
        <p:sp>
          <p:nvSpPr>
            <p:cNvPr id="225" name="Google Shape;225;p8"/>
            <p:cNvSpPr txBox="1"/>
            <p:nvPr/>
          </p:nvSpPr>
          <p:spPr>
            <a:xfrm>
              <a:off x="126194" y="49031"/>
              <a:ext cx="493273" cy="491479"/>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69" u="none" cap="none" strike="noStrike">
                  <a:solidFill>
                    <a:srgbClr val="000000"/>
                  </a:solidFill>
                  <a:latin typeface="Arial"/>
                  <a:ea typeface="Arial"/>
                  <a:cs typeface="Arial"/>
                  <a:sym typeface="Arial"/>
                </a:rPr>
                <a:t>01</a:t>
              </a:r>
              <a:endParaRPr/>
            </a:p>
          </p:txBody>
        </p:sp>
      </p:grpSp>
      <p:grpSp>
        <p:nvGrpSpPr>
          <p:cNvPr id="226" name="Google Shape;226;p8"/>
          <p:cNvGrpSpPr/>
          <p:nvPr/>
        </p:nvGrpSpPr>
        <p:grpSpPr>
          <a:xfrm>
            <a:off x="8609329" y="4735677"/>
            <a:ext cx="559245" cy="485018"/>
            <a:chOff x="0" y="0"/>
            <a:chExt cx="745660" cy="646691"/>
          </a:xfrm>
        </p:grpSpPr>
        <p:sp>
          <p:nvSpPr>
            <p:cNvPr id="227" name="Google Shape;227;p8"/>
            <p:cNvSpPr/>
            <p:nvPr/>
          </p:nvSpPr>
          <p:spPr>
            <a:xfrm>
              <a:off x="0" y="0"/>
              <a:ext cx="745660" cy="646691"/>
            </a:xfrm>
            <a:custGeom>
              <a:rect b="b" l="l" r="r" t="t"/>
              <a:pathLst>
                <a:path extrusionOk="0" h="646691" w="745660">
                  <a:moveTo>
                    <a:pt x="0" y="0"/>
                  </a:moveTo>
                  <a:lnTo>
                    <a:pt x="745660" y="0"/>
                  </a:lnTo>
                  <a:lnTo>
                    <a:pt x="745660" y="646691"/>
                  </a:lnTo>
                  <a:lnTo>
                    <a:pt x="0" y="646691"/>
                  </a:lnTo>
                  <a:lnTo>
                    <a:pt x="0" y="0"/>
                  </a:lnTo>
                  <a:close/>
                </a:path>
              </a:pathLst>
            </a:custGeom>
            <a:blipFill rotWithShape="1">
              <a:blip r:embed="rId7">
                <a:alphaModFix/>
              </a:blip>
              <a:stretch>
                <a:fillRect b="0" l="0" r="0" t="0"/>
              </a:stretch>
            </a:blipFill>
            <a:ln>
              <a:noFill/>
            </a:ln>
          </p:spPr>
        </p:sp>
        <p:sp>
          <p:nvSpPr>
            <p:cNvPr id="228" name="Google Shape;228;p8"/>
            <p:cNvSpPr txBox="1"/>
            <p:nvPr/>
          </p:nvSpPr>
          <p:spPr>
            <a:xfrm>
              <a:off x="126194" y="49031"/>
              <a:ext cx="493273" cy="491479"/>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69" u="none" cap="none" strike="noStrike">
                  <a:solidFill>
                    <a:srgbClr val="000000"/>
                  </a:solidFill>
                  <a:latin typeface="Arial"/>
                  <a:ea typeface="Arial"/>
                  <a:cs typeface="Arial"/>
                  <a:sym typeface="Arial"/>
                </a:rPr>
                <a:t>02</a:t>
              </a:r>
              <a:endParaRPr/>
            </a:p>
          </p:txBody>
        </p:sp>
      </p:grpSp>
      <p:grpSp>
        <p:nvGrpSpPr>
          <p:cNvPr id="229" name="Google Shape;229;p8"/>
          <p:cNvGrpSpPr/>
          <p:nvPr/>
        </p:nvGrpSpPr>
        <p:grpSpPr>
          <a:xfrm>
            <a:off x="8618854" y="5479308"/>
            <a:ext cx="559245" cy="485018"/>
            <a:chOff x="0" y="0"/>
            <a:chExt cx="745660" cy="646691"/>
          </a:xfrm>
        </p:grpSpPr>
        <p:sp>
          <p:nvSpPr>
            <p:cNvPr id="230" name="Google Shape;230;p8"/>
            <p:cNvSpPr/>
            <p:nvPr/>
          </p:nvSpPr>
          <p:spPr>
            <a:xfrm>
              <a:off x="0" y="0"/>
              <a:ext cx="745660" cy="646691"/>
            </a:xfrm>
            <a:custGeom>
              <a:rect b="b" l="l" r="r" t="t"/>
              <a:pathLst>
                <a:path extrusionOk="0" h="646691" w="745660">
                  <a:moveTo>
                    <a:pt x="0" y="0"/>
                  </a:moveTo>
                  <a:lnTo>
                    <a:pt x="745660" y="0"/>
                  </a:lnTo>
                  <a:lnTo>
                    <a:pt x="745660" y="646691"/>
                  </a:lnTo>
                  <a:lnTo>
                    <a:pt x="0" y="646691"/>
                  </a:lnTo>
                  <a:lnTo>
                    <a:pt x="0" y="0"/>
                  </a:lnTo>
                  <a:close/>
                </a:path>
              </a:pathLst>
            </a:custGeom>
            <a:blipFill rotWithShape="1">
              <a:blip r:embed="rId7">
                <a:alphaModFix/>
              </a:blip>
              <a:stretch>
                <a:fillRect b="0" l="0" r="0" t="0"/>
              </a:stretch>
            </a:blipFill>
            <a:ln>
              <a:noFill/>
            </a:ln>
          </p:spPr>
        </p:sp>
        <p:sp>
          <p:nvSpPr>
            <p:cNvPr id="231" name="Google Shape;231;p8"/>
            <p:cNvSpPr txBox="1"/>
            <p:nvPr/>
          </p:nvSpPr>
          <p:spPr>
            <a:xfrm>
              <a:off x="126194" y="49031"/>
              <a:ext cx="493273" cy="491479"/>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69" u="none" cap="none" strike="noStrike">
                  <a:solidFill>
                    <a:srgbClr val="000000"/>
                  </a:solidFill>
                  <a:latin typeface="Arial"/>
                  <a:ea typeface="Arial"/>
                  <a:cs typeface="Arial"/>
                  <a:sym typeface="Arial"/>
                </a:rPr>
                <a:t>03</a:t>
              </a:r>
              <a:endParaRPr/>
            </a:p>
          </p:txBody>
        </p:sp>
      </p:grpSp>
      <p:grpSp>
        <p:nvGrpSpPr>
          <p:cNvPr id="232" name="Google Shape;232;p8"/>
          <p:cNvGrpSpPr/>
          <p:nvPr/>
        </p:nvGrpSpPr>
        <p:grpSpPr>
          <a:xfrm>
            <a:off x="8584755" y="6221501"/>
            <a:ext cx="559245" cy="485018"/>
            <a:chOff x="0" y="0"/>
            <a:chExt cx="745660" cy="646691"/>
          </a:xfrm>
        </p:grpSpPr>
        <p:sp>
          <p:nvSpPr>
            <p:cNvPr id="233" name="Google Shape;233;p8"/>
            <p:cNvSpPr/>
            <p:nvPr/>
          </p:nvSpPr>
          <p:spPr>
            <a:xfrm>
              <a:off x="0" y="0"/>
              <a:ext cx="745660" cy="646691"/>
            </a:xfrm>
            <a:custGeom>
              <a:rect b="b" l="l" r="r" t="t"/>
              <a:pathLst>
                <a:path extrusionOk="0" h="646691" w="745660">
                  <a:moveTo>
                    <a:pt x="0" y="0"/>
                  </a:moveTo>
                  <a:lnTo>
                    <a:pt x="745660" y="0"/>
                  </a:lnTo>
                  <a:lnTo>
                    <a:pt x="745660" y="646691"/>
                  </a:lnTo>
                  <a:lnTo>
                    <a:pt x="0" y="646691"/>
                  </a:lnTo>
                  <a:lnTo>
                    <a:pt x="0" y="0"/>
                  </a:lnTo>
                  <a:close/>
                </a:path>
              </a:pathLst>
            </a:custGeom>
            <a:blipFill rotWithShape="1">
              <a:blip r:embed="rId7">
                <a:alphaModFix/>
              </a:blip>
              <a:stretch>
                <a:fillRect b="0" l="0" r="0" t="0"/>
              </a:stretch>
            </a:blipFill>
            <a:ln>
              <a:noFill/>
            </a:ln>
          </p:spPr>
        </p:sp>
        <p:sp>
          <p:nvSpPr>
            <p:cNvPr id="234" name="Google Shape;234;p8"/>
            <p:cNvSpPr txBox="1"/>
            <p:nvPr/>
          </p:nvSpPr>
          <p:spPr>
            <a:xfrm>
              <a:off x="126194" y="49031"/>
              <a:ext cx="493273" cy="491479"/>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169" u="none" cap="none" strike="noStrike">
                  <a:solidFill>
                    <a:srgbClr val="000000"/>
                  </a:solidFill>
                  <a:latin typeface="Arial"/>
                  <a:ea typeface="Arial"/>
                  <a:cs typeface="Arial"/>
                  <a:sym typeface="Arial"/>
                </a:rPr>
                <a:t>04</a:t>
              </a:r>
              <a:endParaRPr/>
            </a:p>
          </p:txBody>
        </p:sp>
      </p:grpSp>
      <p:sp>
        <p:nvSpPr>
          <p:cNvPr id="235" name="Google Shape;235;p8"/>
          <p:cNvSpPr/>
          <p:nvPr/>
        </p:nvSpPr>
        <p:spPr>
          <a:xfrm>
            <a:off x="2500961" y="3521221"/>
            <a:ext cx="5131294" cy="3775442"/>
          </a:xfrm>
          <a:custGeom>
            <a:rect b="b" l="l" r="r" t="t"/>
            <a:pathLst>
              <a:path extrusionOk="0" h="3775442" w="5131294">
                <a:moveTo>
                  <a:pt x="0" y="0"/>
                </a:moveTo>
                <a:lnTo>
                  <a:pt x="5131294" y="0"/>
                </a:lnTo>
                <a:lnTo>
                  <a:pt x="5131294" y="3775442"/>
                </a:lnTo>
                <a:lnTo>
                  <a:pt x="0" y="3775442"/>
                </a:lnTo>
                <a:lnTo>
                  <a:pt x="0" y="0"/>
                </a:lnTo>
                <a:close/>
              </a:path>
            </a:pathLst>
          </a:custGeom>
          <a:blipFill rotWithShape="1">
            <a:blip r:embed="rId8">
              <a:alphaModFix/>
            </a:blip>
            <a:stretch>
              <a:fillRect b="0" l="0" r="0" t="0"/>
            </a:stretch>
          </a:blipFill>
          <a:ln>
            <a:noFill/>
          </a:ln>
        </p:spPr>
      </p:sp>
      <p:sp>
        <p:nvSpPr>
          <p:cNvPr id="236" name="Google Shape;236;p8"/>
          <p:cNvSpPr/>
          <p:nvPr/>
        </p:nvSpPr>
        <p:spPr>
          <a:xfrm>
            <a:off x="3423306" y="1839912"/>
            <a:ext cx="422980" cy="653480"/>
          </a:xfrm>
          <a:custGeom>
            <a:rect b="b" l="l" r="r" t="t"/>
            <a:pathLst>
              <a:path extrusionOk="0" h="653480" w="422980">
                <a:moveTo>
                  <a:pt x="0" y="0"/>
                </a:moveTo>
                <a:lnTo>
                  <a:pt x="422980" y="0"/>
                </a:lnTo>
                <a:lnTo>
                  <a:pt x="422980" y="653480"/>
                </a:lnTo>
                <a:lnTo>
                  <a:pt x="0" y="653480"/>
                </a:lnTo>
                <a:lnTo>
                  <a:pt x="0" y="0"/>
                </a:lnTo>
                <a:close/>
              </a:path>
            </a:pathLst>
          </a:custGeom>
          <a:blipFill rotWithShape="1">
            <a:blip r:embed="rId9">
              <a:alphaModFix/>
            </a:blip>
            <a:stretch>
              <a:fillRect b="0" l="0" r="0" t="0"/>
            </a:stretch>
          </a:blipFill>
          <a:ln>
            <a:noFill/>
          </a:ln>
        </p:spPr>
      </p:sp>
      <p:sp>
        <p:nvSpPr>
          <p:cNvPr id="237" name="Google Shape;237;p8"/>
          <p:cNvSpPr/>
          <p:nvPr/>
        </p:nvSpPr>
        <p:spPr>
          <a:xfrm>
            <a:off x="15276240" y="-1127290"/>
            <a:ext cx="3011760" cy="4114800"/>
          </a:xfrm>
          <a:custGeom>
            <a:rect b="b" l="l" r="r" t="t"/>
            <a:pathLst>
              <a:path extrusionOk="0" h="4114800" w="3011760">
                <a:moveTo>
                  <a:pt x="0" y="0"/>
                </a:moveTo>
                <a:lnTo>
                  <a:pt x="3011760" y="0"/>
                </a:lnTo>
                <a:lnTo>
                  <a:pt x="3011760" y="4114800"/>
                </a:lnTo>
                <a:lnTo>
                  <a:pt x="0" y="4114800"/>
                </a:lnTo>
                <a:lnTo>
                  <a:pt x="0" y="0"/>
                </a:lnTo>
                <a:close/>
              </a:path>
            </a:pathLst>
          </a:custGeom>
          <a:blipFill rotWithShape="1">
            <a:blip r:embed="rId10">
              <a:alphaModFix/>
            </a:blip>
            <a:stretch>
              <a:fillRect b="0" l="0" r="0" t="0"/>
            </a:stretch>
          </a:blipFill>
          <a:ln>
            <a:noFill/>
          </a:ln>
        </p:spPr>
      </p:sp>
      <p:sp>
        <p:nvSpPr>
          <p:cNvPr id="238" name="Google Shape;238;p8"/>
          <p:cNvSpPr txBox="1"/>
          <p:nvPr/>
        </p:nvSpPr>
        <p:spPr>
          <a:xfrm>
            <a:off x="8262644" y="1597504"/>
            <a:ext cx="7160700" cy="1815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4913" u="none" cap="none" strike="noStrike">
                <a:solidFill>
                  <a:srgbClr val="000000"/>
                </a:solidFill>
                <a:latin typeface="Arial"/>
                <a:ea typeface="Arial"/>
                <a:cs typeface="Arial"/>
                <a:sym typeface="Arial"/>
              </a:rPr>
              <a:t>Costos de puerto predeterminados en STP:</a:t>
            </a:r>
            <a:endParaRPr/>
          </a:p>
        </p:txBody>
      </p:sp>
      <p:sp>
        <p:nvSpPr>
          <p:cNvPr id="239" name="Google Shape;239;p8"/>
          <p:cNvSpPr txBox="1"/>
          <p:nvPr/>
        </p:nvSpPr>
        <p:spPr>
          <a:xfrm>
            <a:off x="2652794" y="1714380"/>
            <a:ext cx="4439700" cy="19440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5262" u="none" cap="none" strike="noStrike">
                <a:solidFill>
                  <a:srgbClr val="000000"/>
                </a:solidFill>
                <a:latin typeface="Arial"/>
                <a:ea typeface="Arial"/>
                <a:cs typeface="Arial"/>
                <a:sym typeface="Arial"/>
              </a:rPr>
              <a:t>Selección del Root Port</a:t>
            </a:r>
            <a:endParaRPr/>
          </a:p>
        </p:txBody>
      </p:sp>
      <p:sp>
        <p:nvSpPr>
          <p:cNvPr id="240" name="Google Shape;240;p8"/>
          <p:cNvSpPr txBox="1"/>
          <p:nvPr/>
        </p:nvSpPr>
        <p:spPr>
          <a:xfrm>
            <a:off x="2986281" y="4559193"/>
            <a:ext cx="4106098" cy="2046186"/>
          </a:xfrm>
          <a:prstGeom prst="rect">
            <a:avLst/>
          </a:prstGeom>
          <a:noFill/>
          <a:ln>
            <a:noFill/>
          </a:ln>
        </p:spPr>
        <p:txBody>
          <a:bodyPr anchorCtr="0" anchor="t" bIns="0" lIns="0" spcFirstLastPara="1" rIns="0" wrap="square" tIns="0">
            <a:spAutoFit/>
          </a:bodyPr>
          <a:lstStyle/>
          <a:p>
            <a:pPr indent="0" lvl="0" marL="0" marR="0" rtl="0" algn="l">
              <a:lnSpc>
                <a:spcPct val="140030"/>
              </a:lnSpc>
              <a:spcBef>
                <a:spcPts val="0"/>
              </a:spcBef>
              <a:spcAft>
                <a:spcPts val="0"/>
              </a:spcAft>
              <a:buNone/>
            </a:pPr>
            <a:r>
              <a:rPr b="0" i="0" lang="en-US" sz="1941" u="none" cap="none" strike="noStrike">
                <a:solidFill>
                  <a:srgbClr val="000000"/>
                </a:solidFill>
                <a:latin typeface="Shantell Sans"/>
                <a:ea typeface="Shantell Sans"/>
                <a:cs typeface="Shantell Sans"/>
                <a:sym typeface="Shantell Sans"/>
              </a:rPr>
              <a:t>El Puerto Raíz (Root Port) es el puerto del switch no raíz que tiene el camino más corto hacia el Root Bridge. Cada switch que no es el Root tendrá un solo Root Port.</a:t>
            </a:r>
            <a:endParaRPr/>
          </a:p>
        </p:txBody>
      </p:sp>
      <p:sp>
        <p:nvSpPr>
          <p:cNvPr id="241" name="Google Shape;241;p8"/>
          <p:cNvSpPr txBox="1"/>
          <p:nvPr/>
        </p:nvSpPr>
        <p:spPr>
          <a:xfrm>
            <a:off x="9274303" y="3306801"/>
            <a:ext cx="2961328" cy="38121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b="0" i="0" lang="en-US" sz="2241" u="none" cap="none" strike="noStrike">
                <a:solidFill>
                  <a:srgbClr val="000000"/>
                </a:solidFill>
                <a:latin typeface="Shantell Sans"/>
                <a:ea typeface="Shantell Sans"/>
                <a:cs typeface="Shantell Sans"/>
                <a:sym typeface="Shantell Sans"/>
              </a:rPr>
              <a:t>Velocidad de enlace</a:t>
            </a:r>
            <a:endParaRPr/>
          </a:p>
        </p:txBody>
      </p:sp>
      <p:sp>
        <p:nvSpPr>
          <p:cNvPr id="242" name="Google Shape;242;p8"/>
          <p:cNvSpPr txBox="1"/>
          <p:nvPr/>
        </p:nvSpPr>
        <p:spPr>
          <a:xfrm>
            <a:off x="12374722" y="3306801"/>
            <a:ext cx="1943754" cy="38121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b="0" i="0" lang="en-US" sz="2241" u="none" cap="none" strike="noStrike">
                <a:solidFill>
                  <a:srgbClr val="000000"/>
                </a:solidFill>
                <a:latin typeface="Shantell Sans"/>
                <a:ea typeface="Shantell Sans"/>
                <a:cs typeface="Shantell Sans"/>
                <a:sym typeface="Shantell Sans"/>
              </a:rPr>
              <a:t>Costo de STP</a:t>
            </a:r>
            <a:endParaRPr/>
          </a:p>
        </p:txBody>
      </p:sp>
      <p:sp>
        <p:nvSpPr>
          <p:cNvPr id="243" name="Google Shape;243;p8"/>
          <p:cNvSpPr txBox="1"/>
          <p:nvPr/>
        </p:nvSpPr>
        <p:spPr>
          <a:xfrm>
            <a:off x="9498349" y="3923174"/>
            <a:ext cx="1638887" cy="55838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10 Mbps (Ethernet)</a:t>
            </a:r>
            <a:endParaRPr/>
          </a:p>
        </p:txBody>
      </p:sp>
      <p:sp>
        <p:nvSpPr>
          <p:cNvPr id="244" name="Google Shape;244;p8"/>
          <p:cNvSpPr txBox="1"/>
          <p:nvPr/>
        </p:nvSpPr>
        <p:spPr>
          <a:xfrm>
            <a:off x="12374722" y="3923174"/>
            <a:ext cx="1638887" cy="27263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100</a:t>
            </a:r>
            <a:endParaRPr/>
          </a:p>
        </p:txBody>
      </p:sp>
      <p:sp>
        <p:nvSpPr>
          <p:cNvPr id="245" name="Google Shape;245;p8"/>
          <p:cNvSpPr txBox="1"/>
          <p:nvPr/>
        </p:nvSpPr>
        <p:spPr>
          <a:xfrm>
            <a:off x="12374722" y="4768815"/>
            <a:ext cx="1638887" cy="27263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19</a:t>
            </a:r>
            <a:endParaRPr/>
          </a:p>
        </p:txBody>
      </p:sp>
      <p:sp>
        <p:nvSpPr>
          <p:cNvPr id="246" name="Google Shape;246;p8"/>
          <p:cNvSpPr txBox="1"/>
          <p:nvPr/>
        </p:nvSpPr>
        <p:spPr>
          <a:xfrm>
            <a:off x="12372796" y="5571215"/>
            <a:ext cx="1638887" cy="27263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4</a:t>
            </a:r>
            <a:endParaRPr/>
          </a:p>
        </p:txBody>
      </p:sp>
      <p:sp>
        <p:nvSpPr>
          <p:cNvPr id="247" name="Google Shape;247;p8"/>
          <p:cNvSpPr txBox="1"/>
          <p:nvPr/>
        </p:nvSpPr>
        <p:spPr>
          <a:xfrm>
            <a:off x="12372796" y="6313408"/>
            <a:ext cx="1638887" cy="27263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2</a:t>
            </a:r>
            <a:endParaRPr/>
          </a:p>
        </p:txBody>
      </p:sp>
      <p:sp>
        <p:nvSpPr>
          <p:cNvPr id="248" name="Google Shape;248;p8"/>
          <p:cNvSpPr txBox="1"/>
          <p:nvPr/>
        </p:nvSpPr>
        <p:spPr>
          <a:xfrm>
            <a:off x="9274303" y="4747968"/>
            <a:ext cx="2145993" cy="55838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100 Mbps (FastEthernet)</a:t>
            </a:r>
            <a:endParaRPr/>
          </a:p>
        </p:txBody>
      </p:sp>
      <p:sp>
        <p:nvSpPr>
          <p:cNvPr id="249" name="Google Shape;249;p8"/>
          <p:cNvSpPr txBox="1"/>
          <p:nvPr/>
        </p:nvSpPr>
        <p:spPr>
          <a:xfrm>
            <a:off x="9274303" y="5572761"/>
            <a:ext cx="2145993" cy="55838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 Gbps (Gigabit Ethernet)</a:t>
            </a:r>
            <a:endParaRPr/>
          </a:p>
        </p:txBody>
      </p:sp>
      <p:sp>
        <p:nvSpPr>
          <p:cNvPr id="250" name="Google Shape;250;p8"/>
          <p:cNvSpPr txBox="1"/>
          <p:nvPr/>
        </p:nvSpPr>
        <p:spPr>
          <a:xfrm>
            <a:off x="9274303" y="6313408"/>
            <a:ext cx="2145993" cy="272630"/>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0" i="0" lang="en-US" sz="1641" u="none" cap="none" strike="noStrike">
                <a:solidFill>
                  <a:srgbClr val="000000"/>
                </a:solidFill>
                <a:latin typeface="Shantell Sans"/>
                <a:ea typeface="Shantell Sans"/>
                <a:cs typeface="Shantell Sans"/>
                <a:sym typeface="Shantell Sans"/>
              </a:rPr>
              <a:t>10 Gbps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256" name="Google Shape;256;p9"/>
          <p:cNvSpPr/>
          <p:nvPr/>
        </p:nvSpPr>
        <p:spPr>
          <a:xfrm flipH="1">
            <a:off x="679670" y="4647076"/>
            <a:ext cx="5643855" cy="2970079"/>
          </a:xfrm>
          <a:custGeom>
            <a:rect b="b" l="l" r="r" t="t"/>
            <a:pathLst>
              <a:path extrusionOk="0" h="2970079" w="5643855">
                <a:moveTo>
                  <a:pt x="5643855" y="0"/>
                </a:moveTo>
                <a:lnTo>
                  <a:pt x="0" y="0"/>
                </a:lnTo>
                <a:lnTo>
                  <a:pt x="0" y="2970079"/>
                </a:lnTo>
                <a:lnTo>
                  <a:pt x="5643855" y="2970079"/>
                </a:lnTo>
                <a:lnTo>
                  <a:pt x="5643855" y="0"/>
                </a:lnTo>
                <a:close/>
              </a:path>
            </a:pathLst>
          </a:custGeom>
          <a:blipFill rotWithShape="1">
            <a:blip r:embed="rId4">
              <a:alphaModFix/>
            </a:blip>
            <a:stretch>
              <a:fillRect b="0" l="0" r="0" t="0"/>
            </a:stretch>
          </a:blipFill>
          <a:ln>
            <a:noFill/>
          </a:ln>
        </p:spPr>
      </p:sp>
      <p:sp>
        <p:nvSpPr>
          <p:cNvPr id="257" name="Google Shape;257;p9"/>
          <p:cNvSpPr/>
          <p:nvPr/>
        </p:nvSpPr>
        <p:spPr>
          <a:xfrm>
            <a:off x="6791802" y="1696512"/>
            <a:ext cx="1763855" cy="1606711"/>
          </a:xfrm>
          <a:custGeom>
            <a:rect b="b" l="l" r="r" t="t"/>
            <a:pathLst>
              <a:path extrusionOk="0" h="1606711" w="1763855">
                <a:moveTo>
                  <a:pt x="0" y="0"/>
                </a:moveTo>
                <a:lnTo>
                  <a:pt x="1763855" y="0"/>
                </a:lnTo>
                <a:lnTo>
                  <a:pt x="1763855" y="1606712"/>
                </a:lnTo>
                <a:lnTo>
                  <a:pt x="0" y="1606712"/>
                </a:lnTo>
                <a:lnTo>
                  <a:pt x="0" y="0"/>
                </a:lnTo>
                <a:close/>
              </a:path>
            </a:pathLst>
          </a:custGeom>
          <a:blipFill rotWithShape="1">
            <a:blip r:embed="rId5">
              <a:alphaModFix/>
            </a:blip>
            <a:stretch>
              <a:fillRect b="0" l="0" r="0" t="0"/>
            </a:stretch>
          </a:blipFill>
          <a:ln>
            <a:noFill/>
          </a:ln>
        </p:spPr>
      </p:sp>
      <p:sp>
        <p:nvSpPr>
          <p:cNvPr id="258" name="Google Shape;258;p9"/>
          <p:cNvSpPr/>
          <p:nvPr/>
        </p:nvSpPr>
        <p:spPr>
          <a:xfrm>
            <a:off x="8191762" y="4951502"/>
            <a:ext cx="1763855" cy="1606711"/>
          </a:xfrm>
          <a:custGeom>
            <a:rect b="b" l="l" r="r" t="t"/>
            <a:pathLst>
              <a:path extrusionOk="0" h="1606711" w="1763855">
                <a:moveTo>
                  <a:pt x="0" y="0"/>
                </a:moveTo>
                <a:lnTo>
                  <a:pt x="1763855" y="0"/>
                </a:lnTo>
                <a:lnTo>
                  <a:pt x="1763855" y="1606711"/>
                </a:lnTo>
                <a:lnTo>
                  <a:pt x="0" y="1606711"/>
                </a:lnTo>
                <a:lnTo>
                  <a:pt x="0" y="0"/>
                </a:lnTo>
                <a:close/>
              </a:path>
            </a:pathLst>
          </a:custGeom>
          <a:blipFill rotWithShape="1">
            <a:blip r:embed="rId6">
              <a:alphaModFix/>
            </a:blip>
            <a:stretch>
              <a:fillRect b="0" l="0" r="0" t="0"/>
            </a:stretch>
          </a:blipFill>
          <a:ln>
            <a:noFill/>
          </a:ln>
        </p:spPr>
      </p:sp>
      <p:sp>
        <p:nvSpPr>
          <p:cNvPr id="259" name="Google Shape;259;p9"/>
          <p:cNvSpPr/>
          <p:nvPr/>
        </p:nvSpPr>
        <p:spPr>
          <a:xfrm>
            <a:off x="6740683" y="7807779"/>
            <a:ext cx="1763855" cy="1606711"/>
          </a:xfrm>
          <a:custGeom>
            <a:rect b="b" l="l" r="r" t="t"/>
            <a:pathLst>
              <a:path extrusionOk="0" h="1606711" w="1763855">
                <a:moveTo>
                  <a:pt x="0" y="0"/>
                </a:moveTo>
                <a:lnTo>
                  <a:pt x="1763854" y="0"/>
                </a:lnTo>
                <a:lnTo>
                  <a:pt x="1763854" y="1606711"/>
                </a:lnTo>
                <a:lnTo>
                  <a:pt x="0" y="1606711"/>
                </a:lnTo>
                <a:lnTo>
                  <a:pt x="0" y="0"/>
                </a:lnTo>
                <a:close/>
              </a:path>
            </a:pathLst>
          </a:custGeom>
          <a:blipFill rotWithShape="1">
            <a:blip r:embed="rId7">
              <a:alphaModFix/>
            </a:blip>
            <a:stretch>
              <a:fillRect b="0" l="0" r="0" t="0"/>
            </a:stretch>
          </a:blipFill>
          <a:ln>
            <a:noFill/>
          </a:ln>
        </p:spPr>
      </p:sp>
      <p:sp>
        <p:nvSpPr>
          <p:cNvPr id="260" name="Google Shape;260;p9"/>
          <p:cNvSpPr/>
          <p:nvPr/>
        </p:nvSpPr>
        <p:spPr>
          <a:xfrm rot="585500">
            <a:off x="5524728" y="2478202"/>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8">
              <a:alphaModFix/>
            </a:blip>
            <a:stretch>
              <a:fillRect b="0" l="0" r="0" t="0"/>
            </a:stretch>
          </a:blipFill>
          <a:ln>
            <a:noFill/>
          </a:ln>
        </p:spPr>
      </p:sp>
      <p:sp>
        <p:nvSpPr>
          <p:cNvPr id="261" name="Google Shape;261;p9"/>
          <p:cNvSpPr/>
          <p:nvPr/>
        </p:nvSpPr>
        <p:spPr>
          <a:xfrm rot="2979770">
            <a:off x="6774989" y="5166622"/>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8">
              <a:alphaModFix/>
            </a:blip>
            <a:stretch>
              <a:fillRect b="0" l="0" r="0" t="0"/>
            </a:stretch>
          </a:blipFill>
          <a:ln>
            <a:noFill/>
          </a:ln>
        </p:spPr>
      </p:sp>
      <p:sp>
        <p:nvSpPr>
          <p:cNvPr id="262" name="Google Shape;262;p9"/>
          <p:cNvSpPr/>
          <p:nvPr/>
        </p:nvSpPr>
        <p:spPr>
          <a:xfrm rot="4413288">
            <a:off x="5114107" y="7385729"/>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8">
              <a:alphaModFix/>
            </a:blip>
            <a:stretch>
              <a:fillRect b="0" l="0" r="0" t="0"/>
            </a:stretch>
          </a:blipFill>
          <a:ln>
            <a:noFill/>
          </a:ln>
        </p:spPr>
      </p:sp>
      <p:sp>
        <p:nvSpPr>
          <p:cNvPr id="263" name="Google Shape;263;p9"/>
          <p:cNvSpPr/>
          <p:nvPr/>
        </p:nvSpPr>
        <p:spPr>
          <a:xfrm>
            <a:off x="8613163" y="5219437"/>
            <a:ext cx="921052" cy="912679"/>
          </a:xfrm>
          <a:custGeom>
            <a:rect b="b" l="l" r="r" t="t"/>
            <a:pathLst>
              <a:path extrusionOk="0" h="912679" w="921052">
                <a:moveTo>
                  <a:pt x="0" y="0"/>
                </a:moveTo>
                <a:lnTo>
                  <a:pt x="921052" y="0"/>
                </a:lnTo>
                <a:lnTo>
                  <a:pt x="921052" y="912679"/>
                </a:lnTo>
                <a:lnTo>
                  <a:pt x="0" y="912679"/>
                </a:lnTo>
                <a:lnTo>
                  <a:pt x="0" y="0"/>
                </a:lnTo>
                <a:close/>
              </a:path>
            </a:pathLst>
          </a:custGeom>
          <a:blipFill rotWithShape="1">
            <a:blip r:embed="rId9">
              <a:alphaModFix/>
            </a:blip>
            <a:stretch>
              <a:fillRect b="0" l="0" r="0" t="0"/>
            </a:stretch>
          </a:blipFill>
          <a:ln>
            <a:noFill/>
          </a:ln>
        </p:spPr>
      </p:sp>
      <p:sp>
        <p:nvSpPr>
          <p:cNvPr id="264" name="Google Shape;264;p9"/>
          <p:cNvSpPr/>
          <p:nvPr/>
        </p:nvSpPr>
        <p:spPr>
          <a:xfrm>
            <a:off x="342798" y="8982659"/>
            <a:ext cx="3467261" cy="863663"/>
          </a:xfrm>
          <a:custGeom>
            <a:rect b="b" l="l" r="r" t="t"/>
            <a:pathLst>
              <a:path extrusionOk="0" h="863663" w="3467261">
                <a:moveTo>
                  <a:pt x="0" y="0"/>
                </a:moveTo>
                <a:lnTo>
                  <a:pt x="3467261" y="0"/>
                </a:lnTo>
                <a:lnTo>
                  <a:pt x="3467261" y="863663"/>
                </a:lnTo>
                <a:lnTo>
                  <a:pt x="0" y="863663"/>
                </a:lnTo>
                <a:lnTo>
                  <a:pt x="0" y="0"/>
                </a:lnTo>
                <a:close/>
              </a:path>
            </a:pathLst>
          </a:custGeom>
          <a:blipFill rotWithShape="1">
            <a:blip r:embed="rId10">
              <a:alphaModFix/>
            </a:blip>
            <a:stretch>
              <a:fillRect b="0" l="0" r="0" t="0"/>
            </a:stretch>
          </a:blipFill>
          <a:ln>
            <a:noFill/>
          </a:ln>
        </p:spPr>
      </p:sp>
      <p:sp>
        <p:nvSpPr>
          <p:cNvPr id="265" name="Google Shape;265;p9"/>
          <p:cNvSpPr/>
          <p:nvPr/>
        </p:nvSpPr>
        <p:spPr>
          <a:xfrm>
            <a:off x="16001986" y="-922836"/>
            <a:ext cx="2869521" cy="2938988"/>
          </a:xfrm>
          <a:custGeom>
            <a:rect b="b" l="l" r="r" t="t"/>
            <a:pathLst>
              <a:path extrusionOk="0" h="2938988" w="2869521">
                <a:moveTo>
                  <a:pt x="0" y="0"/>
                </a:moveTo>
                <a:lnTo>
                  <a:pt x="2869521" y="0"/>
                </a:lnTo>
                <a:lnTo>
                  <a:pt x="2869521" y="2938987"/>
                </a:lnTo>
                <a:lnTo>
                  <a:pt x="0" y="2938987"/>
                </a:lnTo>
                <a:lnTo>
                  <a:pt x="0" y="0"/>
                </a:lnTo>
                <a:close/>
              </a:path>
            </a:pathLst>
          </a:custGeom>
          <a:blipFill rotWithShape="1">
            <a:blip r:embed="rId11">
              <a:alphaModFix/>
            </a:blip>
            <a:stretch>
              <a:fillRect b="0" l="0" r="0" t="0"/>
            </a:stretch>
          </a:blipFill>
          <a:ln>
            <a:noFill/>
          </a:ln>
        </p:spPr>
      </p:sp>
      <p:sp>
        <p:nvSpPr>
          <p:cNvPr id="266" name="Google Shape;266;p9"/>
          <p:cNvSpPr/>
          <p:nvPr/>
        </p:nvSpPr>
        <p:spPr>
          <a:xfrm>
            <a:off x="7100637" y="7931385"/>
            <a:ext cx="1043945" cy="1075225"/>
          </a:xfrm>
          <a:custGeom>
            <a:rect b="b" l="l" r="r" t="t"/>
            <a:pathLst>
              <a:path extrusionOk="0" h="1075225" w="1043945">
                <a:moveTo>
                  <a:pt x="0" y="0"/>
                </a:moveTo>
                <a:lnTo>
                  <a:pt x="1043945" y="0"/>
                </a:lnTo>
                <a:lnTo>
                  <a:pt x="1043945" y="1075224"/>
                </a:lnTo>
                <a:lnTo>
                  <a:pt x="0" y="1075224"/>
                </a:lnTo>
                <a:lnTo>
                  <a:pt x="0" y="0"/>
                </a:lnTo>
                <a:close/>
              </a:path>
            </a:pathLst>
          </a:custGeom>
          <a:blipFill rotWithShape="1">
            <a:blip r:embed="rId12">
              <a:alphaModFix/>
            </a:blip>
            <a:stretch>
              <a:fillRect b="0" l="0" r="0" t="0"/>
            </a:stretch>
          </a:blipFill>
          <a:ln>
            <a:noFill/>
          </a:ln>
        </p:spPr>
      </p:sp>
      <p:sp>
        <p:nvSpPr>
          <p:cNvPr id="267" name="Google Shape;267;p9"/>
          <p:cNvSpPr/>
          <p:nvPr/>
        </p:nvSpPr>
        <p:spPr>
          <a:xfrm>
            <a:off x="7103200" y="1860650"/>
            <a:ext cx="1152549" cy="850791"/>
          </a:xfrm>
          <a:custGeom>
            <a:rect b="b" l="l" r="r" t="t"/>
            <a:pathLst>
              <a:path extrusionOk="0" h="850791" w="1152549">
                <a:moveTo>
                  <a:pt x="0" y="0"/>
                </a:moveTo>
                <a:lnTo>
                  <a:pt x="1152549" y="0"/>
                </a:lnTo>
                <a:lnTo>
                  <a:pt x="1152549" y="850791"/>
                </a:lnTo>
                <a:lnTo>
                  <a:pt x="0" y="850791"/>
                </a:lnTo>
                <a:lnTo>
                  <a:pt x="0" y="0"/>
                </a:lnTo>
                <a:close/>
              </a:path>
            </a:pathLst>
          </a:custGeom>
          <a:blipFill rotWithShape="1">
            <a:blip r:embed="rId13">
              <a:alphaModFix/>
            </a:blip>
            <a:stretch>
              <a:fillRect b="0" l="0" r="0" t="0"/>
            </a:stretch>
          </a:blipFill>
          <a:ln>
            <a:noFill/>
          </a:ln>
        </p:spPr>
      </p:sp>
      <p:sp>
        <p:nvSpPr>
          <p:cNvPr id="268" name="Google Shape;268;p9"/>
          <p:cNvSpPr txBox="1"/>
          <p:nvPr/>
        </p:nvSpPr>
        <p:spPr>
          <a:xfrm>
            <a:off x="944327" y="2395470"/>
            <a:ext cx="4382700" cy="1851300"/>
          </a:xfrm>
          <a:prstGeom prst="rect">
            <a:avLst/>
          </a:prstGeom>
          <a:noFill/>
          <a:ln>
            <a:noFill/>
          </a:ln>
        </p:spPr>
        <p:txBody>
          <a:bodyPr anchorCtr="0" anchor="t" bIns="0" lIns="0" spcFirstLastPara="1" rIns="0" wrap="square" tIns="0">
            <a:spAutoFit/>
          </a:bodyPr>
          <a:lstStyle/>
          <a:p>
            <a:pPr indent="0" lvl="0" marL="0" marR="0" rtl="0" algn="ctr">
              <a:lnSpc>
                <a:spcPct val="112015"/>
              </a:lnSpc>
              <a:spcBef>
                <a:spcPts val="0"/>
              </a:spcBef>
              <a:spcAft>
                <a:spcPts val="0"/>
              </a:spcAft>
              <a:buNone/>
            </a:pPr>
            <a:r>
              <a:rPr b="0" i="0" lang="en-US" sz="3712" u="none" cap="none" strike="noStrike">
                <a:solidFill>
                  <a:srgbClr val="000102"/>
                </a:solidFill>
                <a:latin typeface="Arial"/>
                <a:ea typeface="Arial"/>
                <a:cs typeface="Arial"/>
                <a:sym typeface="Arial"/>
              </a:rPr>
              <a:t>Selección de Puertos Designados y No Designados</a:t>
            </a:r>
            <a:endParaRPr/>
          </a:p>
        </p:txBody>
      </p:sp>
      <p:sp>
        <p:nvSpPr>
          <p:cNvPr id="269" name="Google Shape;269;p9"/>
          <p:cNvSpPr txBox="1"/>
          <p:nvPr/>
        </p:nvSpPr>
        <p:spPr>
          <a:xfrm>
            <a:off x="8680053" y="1708871"/>
            <a:ext cx="7766277" cy="80747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0" lang="en-US" sz="2334" u="none" cap="none" strike="noStrike">
                <a:solidFill>
                  <a:srgbClr val="000102"/>
                </a:solidFill>
                <a:latin typeface="Shantell Sans"/>
                <a:ea typeface="Shantell Sans"/>
                <a:cs typeface="Shantell Sans"/>
                <a:sym typeface="Shantell Sans"/>
              </a:rPr>
              <a:t>Puerto Raíz (Root Port)</a:t>
            </a:r>
            <a:r>
              <a:rPr b="0" i="0" lang="en-US" sz="2334" u="none" cap="none" strike="noStrike">
                <a:solidFill>
                  <a:srgbClr val="000102"/>
                </a:solidFill>
                <a:latin typeface="Shantell Sans"/>
                <a:ea typeface="Shantell Sans"/>
                <a:cs typeface="Shantell Sans"/>
                <a:sym typeface="Shantell Sans"/>
              </a:rPr>
              <a:t> – Siempre en estado de reenvío; es la ruta más corta hacia el Root Bridge.</a:t>
            </a:r>
            <a:endParaRPr/>
          </a:p>
        </p:txBody>
      </p:sp>
      <p:sp>
        <p:nvSpPr>
          <p:cNvPr id="270" name="Google Shape;270;p9"/>
          <p:cNvSpPr txBox="1"/>
          <p:nvPr/>
        </p:nvSpPr>
        <p:spPr>
          <a:xfrm>
            <a:off x="10184217" y="5171812"/>
            <a:ext cx="7766277" cy="80747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0" lang="en-US" sz="2334" u="none" cap="none" strike="noStrike">
                <a:solidFill>
                  <a:srgbClr val="000102"/>
                </a:solidFill>
                <a:latin typeface="Shantell Sans"/>
                <a:ea typeface="Shantell Sans"/>
                <a:cs typeface="Shantell Sans"/>
                <a:sym typeface="Shantell Sans"/>
              </a:rPr>
              <a:t>Puerto Designado (Designated Port)</a:t>
            </a:r>
            <a:r>
              <a:rPr b="0" i="0" lang="en-US" sz="2334" u="none" cap="none" strike="noStrike">
                <a:solidFill>
                  <a:srgbClr val="000102"/>
                </a:solidFill>
                <a:latin typeface="Shantell Sans"/>
                <a:ea typeface="Shantell Sans"/>
                <a:cs typeface="Shantell Sans"/>
                <a:sym typeface="Shantell Sans"/>
              </a:rPr>
              <a:t> – También en estado activo, reenvía datos.</a:t>
            </a:r>
            <a:endParaRPr/>
          </a:p>
        </p:txBody>
      </p:sp>
      <p:sp>
        <p:nvSpPr>
          <p:cNvPr id="271" name="Google Shape;271;p9"/>
          <p:cNvSpPr txBox="1"/>
          <p:nvPr/>
        </p:nvSpPr>
        <p:spPr>
          <a:xfrm>
            <a:off x="9073689" y="8041449"/>
            <a:ext cx="7766277" cy="80747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0" lang="en-US" sz="2334" u="none" cap="none" strike="noStrike">
                <a:solidFill>
                  <a:srgbClr val="000102"/>
                </a:solidFill>
                <a:latin typeface="Shantell Sans"/>
                <a:ea typeface="Shantell Sans"/>
                <a:cs typeface="Shantell Sans"/>
                <a:sym typeface="Shantell Sans"/>
              </a:rPr>
              <a:t>Puerto No Designado (Non-Designated Port)</a:t>
            </a:r>
            <a:r>
              <a:rPr b="0" i="0" lang="en-US" sz="2334" u="none" cap="none" strike="noStrike">
                <a:solidFill>
                  <a:srgbClr val="000102"/>
                </a:solidFill>
                <a:latin typeface="Shantell Sans"/>
                <a:ea typeface="Shantell Sans"/>
                <a:cs typeface="Shantell Sans"/>
                <a:sym typeface="Shantell Sans"/>
              </a:rPr>
              <a:t> – Está en estado de bloqueo (blocking).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277" name="Google Shape;277;p10"/>
          <p:cNvSpPr/>
          <p:nvPr/>
        </p:nvSpPr>
        <p:spPr>
          <a:xfrm>
            <a:off x="11058542" y="348563"/>
            <a:ext cx="5998917" cy="2692014"/>
          </a:xfrm>
          <a:custGeom>
            <a:rect b="b" l="l" r="r" t="t"/>
            <a:pathLst>
              <a:path extrusionOk="0" h="2692014" w="5998917">
                <a:moveTo>
                  <a:pt x="0" y="0"/>
                </a:moveTo>
                <a:lnTo>
                  <a:pt x="5998917" y="0"/>
                </a:lnTo>
                <a:lnTo>
                  <a:pt x="5998917" y="2692014"/>
                </a:lnTo>
                <a:lnTo>
                  <a:pt x="0" y="2692014"/>
                </a:lnTo>
                <a:lnTo>
                  <a:pt x="0" y="0"/>
                </a:lnTo>
                <a:close/>
              </a:path>
            </a:pathLst>
          </a:custGeom>
          <a:blipFill rotWithShape="1">
            <a:blip r:embed="rId4">
              <a:alphaModFix/>
            </a:blip>
            <a:stretch>
              <a:fillRect b="0" l="0" r="0" t="0"/>
            </a:stretch>
          </a:blipFill>
          <a:ln>
            <a:noFill/>
          </a:ln>
        </p:spPr>
      </p:sp>
      <p:sp>
        <p:nvSpPr>
          <p:cNvPr id="278" name="Google Shape;278;p10"/>
          <p:cNvSpPr/>
          <p:nvPr/>
        </p:nvSpPr>
        <p:spPr>
          <a:xfrm>
            <a:off x="832296" y="3393891"/>
            <a:ext cx="3929874" cy="5962743"/>
          </a:xfrm>
          <a:custGeom>
            <a:rect b="b" l="l" r="r" t="t"/>
            <a:pathLst>
              <a:path extrusionOk="0" h="5936989" w="3912901">
                <a:moveTo>
                  <a:pt x="3910361" y="5122918"/>
                </a:moveTo>
                <a:cubicBezTo>
                  <a:pt x="3909091" y="4957818"/>
                  <a:pt x="3912901" y="4796121"/>
                  <a:pt x="3902741" y="4656004"/>
                </a:cubicBezTo>
                <a:cubicBezTo>
                  <a:pt x="3911631" y="4621829"/>
                  <a:pt x="3902741" y="4496521"/>
                  <a:pt x="3911631" y="4441841"/>
                </a:cubicBezTo>
                <a:cubicBezTo>
                  <a:pt x="3907821" y="4403109"/>
                  <a:pt x="3909091" y="4364378"/>
                  <a:pt x="3902741" y="4350707"/>
                </a:cubicBezTo>
                <a:lnTo>
                  <a:pt x="3902741" y="4313115"/>
                </a:lnTo>
                <a:cubicBezTo>
                  <a:pt x="3905281" y="3907572"/>
                  <a:pt x="3906551" y="3515700"/>
                  <a:pt x="3900201" y="3109018"/>
                </a:cubicBezTo>
                <a:cubicBezTo>
                  <a:pt x="3900201" y="2995101"/>
                  <a:pt x="3898931" y="2882324"/>
                  <a:pt x="3898931" y="2768407"/>
                </a:cubicBezTo>
                <a:cubicBezTo>
                  <a:pt x="3896391" y="2738789"/>
                  <a:pt x="3895121" y="2708031"/>
                  <a:pt x="3893851" y="2676135"/>
                </a:cubicBezTo>
                <a:cubicBezTo>
                  <a:pt x="3892581" y="2534878"/>
                  <a:pt x="3895121" y="2399318"/>
                  <a:pt x="3895121" y="2264896"/>
                </a:cubicBezTo>
                <a:cubicBezTo>
                  <a:pt x="3897661" y="2153258"/>
                  <a:pt x="3898931" y="2038202"/>
                  <a:pt x="3896391" y="1924286"/>
                </a:cubicBezTo>
                <a:cubicBezTo>
                  <a:pt x="3896391" y="1922007"/>
                  <a:pt x="3897661" y="1923147"/>
                  <a:pt x="3897661" y="1924286"/>
                </a:cubicBezTo>
                <a:cubicBezTo>
                  <a:pt x="3893851" y="1827457"/>
                  <a:pt x="3891311" y="1687339"/>
                  <a:pt x="3893851" y="1572284"/>
                </a:cubicBezTo>
                <a:lnTo>
                  <a:pt x="3888771" y="1506212"/>
                </a:lnTo>
                <a:lnTo>
                  <a:pt x="3888771" y="1320528"/>
                </a:lnTo>
                <a:cubicBezTo>
                  <a:pt x="3891311" y="1150793"/>
                  <a:pt x="3893851" y="974090"/>
                  <a:pt x="3893851" y="783590"/>
                </a:cubicBezTo>
                <a:cubicBezTo>
                  <a:pt x="3893851" y="548640"/>
                  <a:pt x="3893851" y="311150"/>
                  <a:pt x="3895121" y="74930"/>
                </a:cubicBezTo>
                <a:lnTo>
                  <a:pt x="3895121" y="17780"/>
                </a:lnTo>
                <a:lnTo>
                  <a:pt x="3854481" y="17780"/>
                </a:lnTo>
                <a:lnTo>
                  <a:pt x="3854481" y="52070"/>
                </a:lnTo>
                <a:lnTo>
                  <a:pt x="3860831" y="52070"/>
                </a:lnTo>
                <a:lnTo>
                  <a:pt x="3860831" y="74930"/>
                </a:lnTo>
                <a:cubicBezTo>
                  <a:pt x="3860831" y="100330"/>
                  <a:pt x="3862101" y="127000"/>
                  <a:pt x="3862101" y="153670"/>
                </a:cubicBezTo>
                <a:cubicBezTo>
                  <a:pt x="3862101" y="191770"/>
                  <a:pt x="3862101" y="231140"/>
                  <a:pt x="3863371" y="270510"/>
                </a:cubicBezTo>
                <a:lnTo>
                  <a:pt x="3863371" y="508000"/>
                </a:lnTo>
                <a:cubicBezTo>
                  <a:pt x="3863371" y="661670"/>
                  <a:pt x="3864641" y="815340"/>
                  <a:pt x="3869721" y="965200"/>
                </a:cubicBezTo>
                <a:lnTo>
                  <a:pt x="3864641" y="955040"/>
                </a:lnTo>
                <a:cubicBezTo>
                  <a:pt x="3867181" y="993140"/>
                  <a:pt x="3867181" y="1033780"/>
                  <a:pt x="3868451" y="1071051"/>
                </a:cubicBezTo>
                <a:cubicBezTo>
                  <a:pt x="3868451" y="1091556"/>
                  <a:pt x="3869721" y="1112061"/>
                  <a:pt x="3869721" y="1133705"/>
                </a:cubicBezTo>
                <a:cubicBezTo>
                  <a:pt x="3870991" y="1263570"/>
                  <a:pt x="3865911" y="1399131"/>
                  <a:pt x="3869721" y="1528995"/>
                </a:cubicBezTo>
                <a:lnTo>
                  <a:pt x="3867181" y="1516465"/>
                </a:lnTo>
                <a:cubicBezTo>
                  <a:pt x="3865911" y="1699870"/>
                  <a:pt x="3867181" y="1877580"/>
                  <a:pt x="3868451" y="2053011"/>
                </a:cubicBezTo>
                <a:cubicBezTo>
                  <a:pt x="3868451" y="2136171"/>
                  <a:pt x="3867181" y="2219330"/>
                  <a:pt x="3868451" y="2302488"/>
                </a:cubicBezTo>
                <a:cubicBezTo>
                  <a:pt x="3867181" y="2485894"/>
                  <a:pt x="3870991" y="2608924"/>
                  <a:pt x="3870991" y="2793469"/>
                </a:cubicBezTo>
                <a:lnTo>
                  <a:pt x="3865911" y="2798025"/>
                </a:lnTo>
                <a:cubicBezTo>
                  <a:pt x="3883691" y="3107878"/>
                  <a:pt x="3850671" y="3448489"/>
                  <a:pt x="3869721" y="3770872"/>
                </a:cubicBezTo>
                <a:lnTo>
                  <a:pt x="3863371" y="3748089"/>
                </a:lnTo>
                <a:cubicBezTo>
                  <a:pt x="3873531" y="3798213"/>
                  <a:pt x="3859561" y="3942886"/>
                  <a:pt x="3876071" y="3924660"/>
                </a:cubicBezTo>
                <a:lnTo>
                  <a:pt x="3870991" y="3981618"/>
                </a:lnTo>
                <a:cubicBezTo>
                  <a:pt x="3892581" y="4200338"/>
                  <a:pt x="3860831" y="4380326"/>
                  <a:pt x="3874801" y="4649169"/>
                </a:cubicBezTo>
                <a:lnTo>
                  <a:pt x="3870991" y="4632081"/>
                </a:lnTo>
                <a:cubicBezTo>
                  <a:pt x="3873531" y="4703849"/>
                  <a:pt x="3876071" y="4787008"/>
                  <a:pt x="3872261" y="4839409"/>
                </a:cubicBezTo>
                <a:cubicBezTo>
                  <a:pt x="3872261" y="4831435"/>
                  <a:pt x="3870991" y="4834853"/>
                  <a:pt x="3869721" y="4817765"/>
                </a:cubicBezTo>
                <a:cubicBezTo>
                  <a:pt x="3854481" y="5058148"/>
                  <a:pt x="3870991" y="5336279"/>
                  <a:pt x="3870991" y="5600439"/>
                </a:cubicBezTo>
                <a:lnTo>
                  <a:pt x="3863371" y="5569959"/>
                </a:lnTo>
                <a:cubicBezTo>
                  <a:pt x="3865911" y="5608059"/>
                  <a:pt x="3867181" y="5657589"/>
                  <a:pt x="3867181" y="5710929"/>
                </a:cubicBezTo>
                <a:lnTo>
                  <a:pt x="3867181" y="5872218"/>
                </a:lnTo>
                <a:cubicBezTo>
                  <a:pt x="3863371" y="5872218"/>
                  <a:pt x="3860831" y="5870948"/>
                  <a:pt x="3855751" y="5870948"/>
                </a:cubicBezTo>
                <a:lnTo>
                  <a:pt x="3853211" y="5872218"/>
                </a:lnTo>
                <a:lnTo>
                  <a:pt x="3841781" y="5877298"/>
                </a:lnTo>
                <a:lnTo>
                  <a:pt x="3834161" y="5877298"/>
                </a:lnTo>
                <a:cubicBezTo>
                  <a:pt x="3813841" y="5872218"/>
                  <a:pt x="3817651" y="5874759"/>
                  <a:pt x="3808761" y="5869679"/>
                </a:cubicBezTo>
                <a:cubicBezTo>
                  <a:pt x="3704621" y="5868409"/>
                  <a:pt x="3690651" y="5858248"/>
                  <a:pt x="3616991" y="5853168"/>
                </a:cubicBezTo>
                <a:cubicBezTo>
                  <a:pt x="3616991" y="5853168"/>
                  <a:pt x="3618261" y="5853168"/>
                  <a:pt x="3616991" y="5854439"/>
                </a:cubicBezTo>
                <a:cubicBezTo>
                  <a:pt x="3566191" y="5863329"/>
                  <a:pt x="3496341" y="5858248"/>
                  <a:pt x="3455701" y="5856979"/>
                </a:cubicBezTo>
                <a:lnTo>
                  <a:pt x="3439191" y="5853168"/>
                </a:lnTo>
                <a:cubicBezTo>
                  <a:pt x="3415061" y="5844279"/>
                  <a:pt x="3321081" y="5869679"/>
                  <a:pt x="3352831" y="5855709"/>
                </a:cubicBezTo>
                <a:cubicBezTo>
                  <a:pt x="3142011" y="5859518"/>
                  <a:pt x="2900711" y="5859518"/>
                  <a:pt x="2791018" y="5859518"/>
                </a:cubicBezTo>
                <a:cubicBezTo>
                  <a:pt x="2776715" y="5865868"/>
                  <a:pt x="2712905" y="5859518"/>
                  <a:pt x="2735458" y="5869679"/>
                </a:cubicBezTo>
                <a:cubicBezTo>
                  <a:pt x="2710154" y="5856979"/>
                  <a:pt x="2634242" y="5854439"/>
                  <a:pt x="2606187" y="5854439"/>
                </a:cubicBezTo>
                <a:cubicBezTo>
                  <a:pt x="2607287" y="5853168"/>
                  <a:pt x="2608387" y="5851898"/>
                  <a:pt x="2612788" y="5851898"/>
                </a:cubicBezTo>
                <a:cubicBezTo>
                  <a:pt x="2558329" y="5835389"/>
                  <a:pt x="2547877" y="5867139"/>
                  <a:pt x="2496719" y="5846818"/>
                </a:cubicBezTo>
                <a:cubicBezTo>
                  <a:pt x="2488467" y="5860789"/>
                  <a:pt x="2403753" y="5843009"/>
                  <a:pt x="2374598" y="5858248"/>
                </a:cubicBezTo>
                <a:cubicBezTo>
                  <a:pt x="2368547" y="5855709"/>
                  <a:pt x="2366347" y="5851898"/>
                  <a:pt x="2368547" y="5850629"/>
                </a:cubicBezTo>
                <a:cubicBezTo>
                  <a:pt x="2276132" y="5848089"/>
                  <a:pt x="2174365" y="5846818"/>
                  <a:pt x="2096802" y="5844279"/>
                </a:cubicBezTo>
                <a:cubicBezTo>
                  <a:pt x="2030241" y="5856979"/>
                  <a:pt x="1935625" y="5839198"/>
                  <a:pt x="1877865" y="5855709"/>
                </a:cubicBezTo>
                <a:cubicBezTo>
                  <a:pt x="1830557" y="5851898"/>
                  <a:pt x="1753544" y="5845548"/>
                  <a:pt x="1687533" y="5851898"/>
                </a:cubicBezTo>
                <a:lnTo>
                  <a:pt x="1694134" y="5849359"/>
                </a:lnTo>
                <a:cubicBezTo>
                  <a:pt x="1619322" y="5850629"/>
                  <a:pt x="1525806" y="5850629"/>
                  <a:pt x="1474648" y="5862059"/>
                </a:cubicBezTo>
                <a:cubicBezTo>
                  <a:pt x="1452644" y="5845548"/>
                  <a:pt x="1420189" y="5849359"/>
                  <a:pt x="1387733" y="5844279"/>
                </a:cubicBezTo>
                <a:cubicBezTo>
                  <a:pt x="1337675" y="5851898"/>
                  <a:pt x="1237008" y="5849359"/>
                  <a:pt x="1160545" y="5856979"/>
                </a:cubicBezTo>
                <a:cubicBezTo>
                  <a:pt x="1148993" y="5849359"/>
                  <a:pt x="1097835" y="5860789"/>
                  <a:pt x="1093984" y="5849359"/>
                </a:cubicBezTo>
                <a:cubicBezTo>
                  <a:pt x="1004570" y="5856979"/>
                  <a:pt x="814070" y="5860789"/>
                  <a:pt x="617220" y="5862059"/>
                </a:cubicBezTo>
                <a:lnTo>
                  <a:pt x="318770" y="5862059"/>
                </a:lnTo>
                <a:lnTo>
                  <a:pt x="168910" y="5860789"/>
                </a:lnTo>
                <a:lnTo>
                  <a:pt x="93980" y="5859518"/>
                </a:lnTo>
                <a:lnTo>
                  <a:pt x="58420" y="5859518"/>
                </a:lnTo>
                <a:lnTo>
                  <a:pt x="45720" y="5858248"/>
                </a:lnTo>
                <a:lnTo>
                  <a:pt x="48260" y="5858248"/>
                </a:lnTo>
                <a:cubicBezTo>
                  <a:pt x="52070" y="5716009"/>
                  <a:pt x="55880" y="5576309"/>
                  <a:pt x="58420" y="5441689"/>
                </a:cubicBezTo>
                <a:cubicBezTo>
                  <a:pt x="55880" y="5417559"/>
                  <a:pt x="53340" y="5393429"/>
                  <a:pt x="49530" y="5368029"/>
                </a:cubicBezTo>
                <a:cubicBezTo>
                  <a:pt x="46990" y="5202929"/>
                  <a:pt x="45720" y="5020048"/>
                  <a:pt x="45720" y="4842827"/>
                </a:cubicBezTo>
                <a:cubicBezTo>
                  <a:pt x="46990" y="4805235"/>
                  <a:pt x="48260" y="4766503"/>
                  <a:pt x="45720" y="4726632"/>
                </a:cubicBezTo>
                <a:lnTo>
                  <a:pt x="45720" y="4701571"/>
                </a:lnTo>
                <a:lnTo>
                  <a:pt x="48260" y="4695875"/>
                </a:lnTo>
                <a:lnTo>
                  <a:pt x="49530" y="4634360"/>
                </a:lnTo>
                <a:cubicBezTo>
                  <a:pt x="50800" y="4635499"/>
                  <a:pt x="53340" y="4635499"/>
                  <a:pt x="54610" y="4640056"/>
                </a:cubicBezTo>
                <a:lnTo>
                  <a:pt x="54610" y="4652587"/>
                </a:lnTo>
                <a:lnTo>
                  <a:pt x="54610" y="4641195"/>
                </a:lnTo>
                <a:cubicBezTo>
                  <a:pt x="55880" y="4644612"/>
                  <a:pt x="57150" y="4649169"/>
                  <a:pt x="57150" y="4656004"/>
                </a:cubicBezTo>
                <a:lnTo>
                  <a:pt x="57150" y="4334759"/>
                </a:lnTo>
                <a:cubicBezTo>
                  <a:pt x="58420" y="4337038"/>
                  <a:pt x="59690" y="4339316"/>
                  <a:pt x="58420" y="4347290"/>
                </a:cubicBezTo>
                <a:cubicBezTo>
                  <a:pt x="69850" y="4265270"/>
                  <a:pt x="57150" y="4231095"/>
                  <a:pt x="57150" y="4178694"/>
                </a:cubicBezTo>
                <a:lnTo>
                  <a:pt x="57150" y="4168441"/>
                </a:lnTo>
                <a:cubicBezTo>
                  <a:pt x="57150" y="4150215"/>
                  <a:pt x="59690" y="4130849"/>
                  <a:pt x="63500" y="4105787"/>
                </a:cubicBezTo>
                <a:cubicBezTo>
                  <a:pt x="50800" y="4090978"/>
                  <a:pt x="64770" y="3938330"/>
                  <a:pt x="54610" y="3867701"/>
                </a:cubicBezTo>
                <a:lnTo>
                  <a:pt x="54610" y="3842640"/>
                </a:lnTo>
                <a:cubicBezTo>
                  <a:pt x="57150" y="3838083"/>
                  <a:pt x="58420" y="3835805"/>
                  <a:pt x="59690" y="3839222"/>
                </a:cubicBezTo>
                <a:cubicBezTo>
                  <a:pt x="62230" y="3647843"/>
                  <a:pt x="63500" y="3435958"/>
                  <a:pt x="66040" y="3273057"/>
                </a:cubicBezTo>
                <a:cubicBezTo>
                  <a:pt x="53340" y="3134079"/>
                  <a:pt x="71120" y="2937003"/>
                  <a:pt x="54610" y="2818530"/>
                </a:cubicBezTo>
                <a:cubicBezTo>
                  <a:pt x="58420" y="2719423"/>
                  <a:pt x="64770" y="2559940"/>
                  <a:pt x="58420" y="2422101"/>
                </a:cubicBezTo>
                <a:lnTo>
                  <a:pt x="60960" y="2435771"/>
                </a:lnTo>
                <a:cubicBezTo>
                  <a:pt x="59690" y="2279705"/>
                  <a:pt x="59690" y="2086047"/>
                  <a:pt x="48260" y="1978966"/>
                </a:cubicBezTo>
                <a:cubicBezTo>
                  <a:pt x="64770" y="1933399"/>
                  <a:pt x="60960" y="1866188"/>
                  <a:pt x="66040" y="1798978"/>
                </a:cubicBezTo>
                <a:cubicBezTo>
                  <a:pt x="58420" y="1695313"/>
                  <a:pt x="60960" y="1485707"/>
                  <a:pt x="53340" y="1327363"/>
                </a:cubicBezTo>
                <a:cubicBezTo>
                  <a:pt x="60960" y="1303441"/>
                  <a:pt x="50800" y="1196359"/>
                  <a:pt x="60960" y="1188385"/>
                </a:cubicBezTo>
                <a:cubicBezTo>
                  <a:pt x="53340" y="1028700"/>
                  <a:pt x="49530" y="836930"/>
                  <a:pt x="48260" y="638810"/>
                </a:cubicBezTo>
                <a:lnTo>
                  <a:pt x="48260" y="339090"/>
                </a:lnTo>
                <a:lnTo>
                  <a:pt x="49530" y="189230"/>
                </a:lnTo>
                <a:lnTo>
                  <a:pt x="50800" y="114300"/>
                </a:lnTo>
                <a:lnTo>
                  <a:pt x="50800" y="78740"/>
                </a:lnTo>
                <a:lnTo>
                  <a:pt x="52070" y="66040"/>
                </a:lnTo>
                <a:lnTo>
                  <a:pt x="64770" y="66040"/>
                </a:lnTo>
                <a:cubicBezTo>
                  <a:pt x="210820" y="69850"/>
                  <a:pt x="354330" y="73660"/>
                  <a:pt x="492760" y="77470"/>
                </a:cubicBezTo>
                <a:cubicBezTo>
                  <a:pt x="558800" y="71120"/>
                  <a:pt x="633730" y="58420"/>
                  <a:pt x="701040" y="50800"/>
                </a:cubicBezTo>
                <a:cubicBezTo>
                  <a:pt x="707390" y="52070"/>
                  <a:pt x="707390" y="53340"/>
                  <a:pt x="692150" y="53340"/>
                </a:cubicBezTo>
                <a:cubicBezTo>
                  <a:pt x="788670" y="50800"/>
                  <a:pt x="877570" y="62230"/>
                  <a:pt x="974090" y="59690"/>
                </a:cubicBezTo>
                <a:cubicBezTo>
                  <a:pt x="972820" y="60960"/>
                  <a:pt x="972820" y="60960"/>
                  <a:pt x="957580" y="63500"/>
                </a:cubicBezTo>
                <a:cubicBezTo>
                  <a:pt x="1036224" y="58420"/>
                  <a:pt x="1077481" y="72390"/>
                  <a:pt x="1123689" y="63500"/>
                </a:cubicBezTo>
                <a:lnTo>
                  <a:pt x="1126439" y="66040"/>
                </a:lnTo>
                <a:lnTo>
                  <a:pt x="1155594" y="62230"/>
                </a:lnTo>
                <a:cubicBezTo>
                  <a:pt x="1155044" y="64770"/>
                  <a:pt x="1153944" y="69850"/>
                  <a:pt x="1145142" y="69850"/>
                </a:cubicBezTo>
                <a:cubicBezTo>
                  <a:pt x="1500502" y="73660"/>
                  <a:pt x="1866863" y="55880"/>
                  <a:pt x="2231574" y="58420"/>
                </a:cubicBezTo>
                <a:lnTo>
                  <a:pt x="2217822" y="62230"/>
                </a:lnTo>
                <a:lnTo>
                  <a:pt x="2288784" y="55880"/>
                </a:lnTo>
                <a:cubicBezTo>
                  <a:pt x="2288234" y="57150"/>
                  <a:pt x="2284933" y="58420"/>
                  <a:pt x="2281633" y="59690"/>
                </a:cubicBezTo>
                <a:cubicBezTo>
                  <a:pt x="2372398" y="66040"/>
                  <a:pt x="2466463" y="55880"/>
                  <a:pt x="2554478" y="57150"/>
                </a:cubicBezTo>
                <a:cubicBezTo>
                  <a:pt x="2553928" y="58420"/>
                  <a:pt x="2540726" y="62230"/>
                  <a:pt x="2552828" y="64770"/>
                </a:cubicBezTo>
                <a:cubicBezTo>
                  <a:pt x="2618289" y="54610"/>
                  <a:pt x="2657895" y="77470"/>
                  <a:pt x="2690351" y="57150"/>
                </a:cubicBezTo>
                <a:cubicBezTo>
                  <a:pt x="2693651" y="58420"/>
                  <a:pt x="2695302" y="62230"/>
                  <a:pt x="2688701" y="64770"/>
                </a:cubicBezTo>
                <a:cubicBezTo>
                  <a:pt x="2870781" y="58420"/>
                  <a:pt x="3280441" y="58420"/>
                  <a:pt x="3703351" y="62230"/>
                </a:cubicBezTo>
                <a:cubicBezTo>
                  <a:pt x="3751611" y="59690"/>
                  <a:pt x="3802411" y="58420"/>
                  <a:pt x="3853211" y="55880"/>
                </a:cubicBezTo>
                <a:lnTo>
                  <a:pt x="3853211" y="20320"/>
                </a:lnTo>
                <a:cubicBezTo>
                  <a:pt x="3575081" y="19050"/>
                  <a:pt x="3295681" y="19050"/>
                  <a:pt x="3016281" y="17780"/>
                </a:cubicBezTo>
                <a:cubicBezTo>
                  <a:pt x="2557229" y="12700"/>
                  <a:pt x="2219472" y="0"/>
                  <a:pt x="1843759" y="24130"/>
                </a:cubicBezTo>
                <a:cubicBezTo>
                  <a:pt x="1844310" y="22860"/>
                  <a:pt x="1841009" y="21590"/>
                  <a:pt x="1850911" y="20320"/>
                </a:cubicBezTo>
                <a:cubicBezTo>
                  <a:pt x="1742543" y="24130"/>
                  <a:pt x="1644076" y="17780"/>
                  <a:pt x="1541759" y="21590"/>
                </a:cubicBezTo>
                <a:lnTo>
                  <a:pt x="1542309" y="20320"/>
                </a:lnTo>
                <a:cubicBezTo>
                  <a:pt x="1290367" y="34290"/>
                  <a:pt x="1002030" y="17780"/>
                  <a:pt x="438150" y="33020"/>
                </a:cubicBezTo>
                <a:lnTo>
                  <a:pt x="19050" y="33020"/>
                </a:lnTo>
                <a:lnTo>
                  <a:pt x="19050" y="78740"/>
                </a:lnTo>
                <a:cubicBezTo>
                  <a:pt x="19050" y="213360"/>
                  <a:pt x="20320" y="350520"/>
                  <a:pt x="20320" y="488950"/>
                </a:cubicBezTo>
                <a:cubicBezTo>
                  <a:pt x="7620" y="951230"/>
                  <a:pt x="11430" y="1369512"/>
                  <a:pt x="20320" y="1781890"/>
                </a:cubicBezTo>
                <a:cubicBezTo>
                  <a:pt x="26670" y="2291097"/>
                  <a:pt x="8890" y="2784355"/>
                  <a:pt x="13970" y="3292423"/>
                </a:cubicBezTo>
                <a:cubicBezTo>
                  <a:pt x="7620" y="3680879"/>
                  <a:pt x="21590" y="4084143"/>
                  <a:pt x="25400" y="4483990"/>
                </a:cubicBezTo>
                <a:cubicBezTo>
                  <a:pt x="20320" y="4633220"/>
                  <a:pt x="13970" y="4787008"/>
                  <a:pt x="15240" y="4946389"/>
                </a:cubicBezTo>
                <a:lnTo>
                  <a:pt x="19050" y="4933689"/>
                </a:lnTo>
                <a:cubicBezTo>
                  <a:pt x="13970" y="4983218"/>
                  <a:pt x="15240" y="5037829"/>
                  <a:pt x="19050" y="5089898"/>
                </a:cubicBezTo>
                <a:cubicBezTo>
                  <a:pt x="17780" y="5150859"/>
                  <a:pt x="17780" y="5213089"/>
                  <a:pt x="19050" y="5275318"/>
                </a:cubicBezTo>
                <a:cubicBezTo>
                  <a:pt x="19050" y="5276589"/>
                  <a:pt x="19050" y="5279129"/>
                  <a:pt x="17780" y="5280398"/>
                </a:cubicBezTo>
                <a:lnTo>
                  <a:pt x="16510" y="5267698"/>
                </a:lnTo>
                <a:cubicBezTo>
                  <a:pt x="12700" y="5291829"/>
                  <a:pt x="15240" y="5319768"/>
                  <a:pt x="19050" y="5347709"/>
                </a:cubicBezTo>
                <a:cubicBezTo>
                  <a:pt x="19050" y="5371839"/>
                  <a:pt x="20320" y="5394699"/>
                  <a:pt x="20320" y="5418829"/>
                </a:cubicBezTo>
                <a:lnTo>
                  <a:pt x="24130" y="5614409"/>
                </a:lnTo>
                <a:cubicBezTo>
                  <a:pt x="21590" y="5663939"/>
                  <a:pt x="34290" y="5787129"/>
                  <a:pt x="15240" y="5790939"/>
                </a:cubicBezTo>
                <a:cubicBezTo>
                  <a:pt x="15240" y="5747759"/>
                  <a:pt x="6350" y="5858248"/>
                  <a:pt x="1270" y="5761729"/>
                </a:cubicBezTo>
                <a:cubicBezTo>
                  <a:pt x="0" y="5773159"/>
                  <a:pt x="0" y="5801098"/>
                  <a:pt x="0" y="5830309"/>
                </a:cubicBezTo>
                <a:cubicBezTo>
                  <a:pt x="0" y="5839198"/>
                  <a:pt x="1270" y="5848089"/>
                  <a:pt x="1270" y="5855709"/>
                </a:cubicBezTo>
                <a:cubicBezTo>
                  <a:pt x="2540" y="5873489"/>
                  <a:pt x="5080" y="5886189"/>
                  <a:pt x="7620" y="5882379"/>
                </a:cubicBezTo>
                <a:cubicBezTo>
                  <a:pt x="17780" y="5892539"/>
                  <a:pt x="25400" y="5936989"/>
                  <a:pt x="33020" y="5876029"/>
                </a:cubicBezTo>
                <a:lnTo>
                  <a:pt x="60960" y="5876029"/>
                </a:lnTo>
                <a:cubicBezTo>
                  <a:pt x="91440" y="5876029"/>
                  <a:pt x="121920" y="5876029"/>
                  <a:pt x="152400" y="5877298"/>
                </a:cubicBezTo>
                <a:cubicBezTo>
                  <a:pt x="194310" y="5878568"/>
                  <a:pt x="234950" y="5879839"/>
                  <a:pt x="273050" y="5881109"/>
                </a:cubicBezTo>
                <a:cubicBezTo>
                  <a:pt x="991870" y="5907779"/>
                  <a:pt x="1313471" y="5891268"/>
                  <a:pt x="1624823" y="5874759"/>
                </a:cubicBezTo>
                <a:cubicBezTo>
                  <a:pt x="1888867" y="5883648"/>
                  <a:pt x="2152911" y="5863329"/>
                  <a:pt x="2409804" y="5876029"/>
                </a:cubicBezTo>
                <a:cubicBezTo>
                  <a:pt x="2267880" y="5878568"/>
                  <a:pt x="2127607" y="5883648"/>
                  <a:pt x="1981282" y="5887459"/>
                </a:cubicBezTo>
                <a:cubicBezTo>
                  <a:pt x="1984583" y="5886189"/>
                  <a:pt x="1986233" y="5884918"/>
                  <a:pt x="1989534" y="5883648"/>
                </a:cubicBezTo>
                <a:cubicBezTo>
                  <a:pt x="1978532" y="5886189"/>
                  <a:pt x="1966430" y="5889998"/>
                  <a:pt x="1953778" y="5888729"/>
                </a:cubicBezTo>
                <a:cubicBezTo>
                  <a:pt x="1950477" y="5887459"/>
                  <a:pt x="1957078" y="5886189"/>
                  <a:pt x="1961479" y="5884918"/>
                </a:cubicBezTo>
                <a:cubicBezTo>
                  <a:pt x="1913071" y="5874759"/>
                  <a:pt x="1820105" y="5891268"/>
                  <a:pt x="1789850" y="5883648"/>
                </a:cubicBezTo>
                <a:cubicBezTo>
                  <a:pt x="1776098" y="5884918"/>
                  <a:pt x="1770047" y="5888729"/>
                  <a:pt x="1777748" y="5892539"/>
                </a:cubicBezTo>
                <a:cubicBezTo>
                  <a:pt x="1599519" y="5895079"/>
                  <a:pt x="1408637" y="5897618"/>
                  <a:pt x="1226556" y="5905239"/>
                </a:cubicBezTo>
                <a:cubicBezTo>
                  <a:pt x="1217755" y="5903968"/>
                  <a:pt x="1216104" y="5901429"/>
                  <a:pt x="1218855" y="5897618"/>
                </a:cubicBezTo>
                <a:cubicBezTo>
                  <a:pt x="1063729" y="5914129"/>
                  <a:pt x="735330" y="5907779"/>
                  <a:pt x="368300" y="5905239"/>
                </a:cubicBezTo>
                <a:cubicBezTo>
                  <a:pt x="354330" y="5909048"/>
                  <a:pt x="405130" y="5910318"/>
                  <a:pt x="369570" y="5914129"/>
                </a:cubicBezTo>
                <a:cubicBezTo>
                  <a:pt x="487680" y="5919209"/>
                  <a:pt x="585470" y="5903968"/>
                  <a:pt x="692150" y="5911589"/>
                </a:cubicBezTo>
                <a:lnTo>
                  <a:pt x="678180" y="5915398"/>
                </a:lnTo>
                <a:cubicBezTo>
                  <a:pt x="755650" y="5917939"/>
                  <a:pt x="693420" y="5905239"/>
                  <a:pt x="774700" y="5910318"/>
                </a:cubicBezTo>
                <a:cubicBezTo>
                  <a:pt x="806450" y="5914129"/>
                  <a:pt x="767080" y="5915398"/>
                  <a:pt x="781050" y="5916668"/>
                </a:cubicBezTo>
                <a:cubicBezTo>
                  <a:pt x="946150" y="5915398"/>
                  <a:pt x="1067030" y="5919209"/>
                  <a:pt x="1134691" y="5909048"/>
                </a:cubicBezTo>
                <a:cubicBezTo>
                  <a:pt x="1151194" y="5917939"/>
                  <a:pt x="1211704" y="5909048"/>
                  <a:pt x="1238108" y="5917939"/>
                </a:cubicBezTo>
                <a:cubicBezTo>
                  <a:pt x="1256811" y="5914129"/>
                  <a:pt x="1274964" y="5915398"/>
                  <a:pt x="1282115" y="5909048"/>
                </a:cubicBezTo>
                <a:cubicBezTo>
                  <a:pt x="1532957" y="5914129"/>
                  <a:pt x="1789300" y="5905239"/>
                  <a:pt x="2046193" y="5905239"/>
                </a:cubicBezTo>
                <a:cubicBezTo>
                  <a:pt x="2166663" y="5887459"/>
                  <a:pt x="2310237" y="5909048"/>
                  <a:pt x="2453261" y="5902698"/>
                </a:cubicBezTo>
                <a:cubicBezTo>
                  <a:pt x="2454362" y="5902698"/>
                  <a:pt x="2453812" y="5903968"/>
                  <a:pt x="2453261" y="5903968"/>
                </a:cubicBezTo>
                <a:cubicBezTo>
                  <a:pt x="2500019" y="5900159"/>
                  <a:pt x="2567680" y="5897618"/>
                  <a:pt x="2623240" y="5900159"/>
                </a:cubicBezTo>
                <a:lnTo>
                  <a:pt x="2670548" y="5892539"/>
                </a:lnTo>
                <a:cubicBezTo>
                  <a:pt x="2776715" y="5897618"/>
                  <a:pt x="2883983" y="5900159"/>
                  <a:pt x="3128041" y="5900159"/>
                </a:cubicBezTo>
                <a:lnTo>
                  <a:pt x="3766851" y="5900159"/>
                </a:lnTo>
                <a:cubicBezTo>
                  <a:pt x="3763041" y="5901429"/>
                  <a:pt x="3751611" y="5902698"/>
                  <a:pt x="3727481" y="5903968"/>
                </a:cubicBezTo>
                <a:cubicBezTo>
                  <a:pt x="3746531" y="5905239"/>
                  <a:pt x="3818921" y="5905239"/>
                  <a:pt x="3854481" y="5901429"/>
                </a:cubicBezTo>
                <a:cubicBezTo>
                  <a:pt x="3859561" y="5901429"/>
                  <a:pt x="3864641" y="5900159"/>
                  <a:pt x="3868451" y="5900159"/>
                </a:cubicBezTo>
                <a:lnTo>
                  <a:pt x="3893851" y="5900159"/>
                </a:lnTo>
                <a:lnTo>
                  <a:pt x="3893851" y="5884918"/>
                </a:lnTo>
                <a:cubicBezTo>
                  <a:pt x="3901471" y="5881109"/>
                  <a:pt x="3887501" y="5882379"/>
                  <a:pt x="3893851" y="5874759"/>
                </a:cubicBezTo>
                <a:lnTo>
                  <a:pt x="3893851" y="5568689"/>
                </a:lnTo>
                <a:cubicBezTo>
                  <a:pt x="3898931" y="5587739"/>
                  <a:pt x="3891311" y="5651239"/>
                  <a:pt x="3900201" y="5642348"/>
                </a:cubicBezTo>
                <a:cubicBezTo>
                  <a:pt x="3904011" y="5597898"/>
                  <a:pt x="3897661" y="5578848"/>
                  <a:pt x="3893851" y="5568689"/>
                </a:cubicBezTo>
                <a:cubicBezTo>
                  <a:pt x="3893851" y="5387079"/>
                  <a:pt x="3895121" y="5204198"/>
                  <a:pt x="3895121" y="5022589"/>
                </a:cubicBezTo>
                <a:cubicBezTo>
                  <a:pt x="3896391" y="4907018"/>
                  <a:pt x="3896391" y="4802956"/>
                  <a:pt x="3897661" y="4701571"/>
                </a:cubicBezTo>
                <a:cubicBezTo>
                  <a:pt x="3904011" y="4961629"/>
                  <a:pt x="3898931" y="5249918"/>
                  <a:pt x="3897661" y="5533129"/>
                </a:cubicBezTo>
                <a:cubicBezTo>
                  <a:pt x="3901471" y="5547098"/>
                  <a:pt x="3902741" y="5496298"/>
                  <a:pt x="3906551" y="5531859"/>
                </a:cubicBezTo>
                <a:cubicBezTo>
                  <a:pt x="3911631" y="5413748"/>
                  <a:pt x="3896391" y="5315959"/>
                  <a:pt x="3904011" y="5209279"/>
                </a:cubicBezTo>
                <a:lnTo>
                  <a:pt x="3907821" y="5223248"/>
                </a:lnTo>
                <a:cubicBezTo>
                  <a:pt x="3910361" y="5145779"/>
                  <a:pt x="3897661" y="5208009"/>
                  <a:pt x="3902741" y="5126729"/>
                </a:cubicBezTo>
                <a:cubicBezTo>
                  <a:pt x="3907821" y="5097518"/>
                  <a:pt x="3909091" y="5138159"/>
                  <a:pt x="3910361" y="5122918"/>
                </a:cubicBezTo>
                <a:close/>
                <a:moveTo>
                  <a:pt x="3437921" y="5873489"/>
                </a:moveTo>
                <a:lnTo>
                  <a:pt x="3465861" y="5873489"/>
                </a:lnTo>
                <a:cubicBezTo>
                  <a:pt x="3459511" y="5872218"/>
                  <a:pt x="3450621" y="5872218"/>
                  <a:pt x="3437921" y="587348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5162200" y="3393891"/>
            <a:ext cx="5485009" cy="5962743"/>
          </a:xfrm>
          <a:custGeom>
            <a:rect b="b" l="l" r="r" t="t"/>
            <a:pathLst>
              <a:path extrusionOk="0" h="5936989" w="5461320">
                <a:moveTo>
                  <a:pt x="5458780" y="5122918"/>
                </a:moveTo>
                <a:cubicBezTo>
                  <a:pt x="5457510" y="4957818"/>
                  <a:pt x="5461320" y="4796121"/>
                  <a:pt x="5451160" y="4656004"/>
                </a:cubicBezTo>
                <a:cubicBezTo>
                  <a:pt x="5460050" y="4621829"/>
                  <a:pt x="5451160" y="4496521"/>
                  <a:pt x="5460050" y="4441841"/>
                </a:cubicBezTo>
                <a:cubicBezTo>
                  <a:pt x="5456240" y="4403109"/>
                  <a:pt x="5457510" y="4364378"/>
                  <a:pt x="5451160" y="4350707"/>
                </a:cubicBezTo>
                <a:lnTo>
                  <a:pt x="5451160" y="4313115"/>
                </a:lnTo>
                <a:cubicBezTo>
                  <a:pt x="5453700" y="3907572"/>
                  <a:pt x="5454970" y="3515700"/>
                  <a:pt x="5448620" y="3109018"/>
                </a:cubicBezTo>
                <a:cubicBezTo>
                  <a:pt x="5448620" y="2995101"/>
                  <a:pt x="5447350" y="2882324"/>
                  <a:pt x="5447350" y="2768407"/>
                </a:cubicBezTo>
                <a:cubicBezTo>
                  <a:pt x="5444810" y="2738789"/>
                  <a:pt x="5443540" y="2708031"/>
                  <a:pt x="5442270" y="2676135"/>
                </a:cubicBezTo>
                <a:cubicBezTo>
                  <a:pt x="5441000" y="2534878"/>
                  <a:pt x="5443540" y="2399318"/>
                  <a:pt x="5443540" y="2264896"/>
                </a:cubicBezTo>
                <a:cubicBezTo>
                  <a:pt x="5446080" y="2153258"/>
                  <a:pt x="5447350" y="2038202"/>
                  <a:pt x="5444810" y="1924286"/>
                </a:cubicBezTo>
                <a:cubicBezTo>
                  <a:pt x="5444810" y="1922007"/>
                  <a:pt x="5446080" y="1923147"/>
                  <a:pt x="5446080" y="1924286"/>
                </a:cubicBezTo>
                <a:cubicBezTo>
                  <a:pt x="5442270" y="1827457"/>
                  <a:pt x="5439730" y="1687339"/>
                  <a:pt x="5442270" y="1572284"/>
                </a:cubicBezTo>
                <a:lnTo>
                  <a:pt x="5437190" y="1506212"/>
                </a:lnTo>
                <a:lnTo>
                  <a:pt x="5437190" y="1320528"/>
                </a:lnTo>
                <a:cubicBezTo>
                  <a:pt x="5439730" y="1150793"/>
                  <a:pt x="5442270" y="974090"/>
                  <a:pt x="5442270" y="783590"/>
                </a:cubicBezTo>
                <a:cubicBezTo>
                  <a:pt x="5442270" y="548640"/>
                  <a:pt x="5442270" y="311150"/>
                  <a:pt x="5443540" y="74930"/>
                </a:cubicBezTo>
                <a:lnTo>
                  <a:pt x="5443540" y="17780"/>
                </a:lnTo>
                <a:lnTo>
                  <a:pt x="5402900" y="17780"/>
                </a:lnTo>
                <a:lnTo>
                  <a:pt x="5402900" y="52070"/>
                </a:lnTo>
                <a:lnTo>
                  <a:pt x="5409250" y="52070"/>
                </a:lnTo>
                <a:lnTo>
                  <a:pt x="5409250" y="74930"/>
                </a:lnTo>
                <a:cubicBezTo>
                  <a:pt x="5409250" y="100330"/>
                  <a:pt x="5410520" y="127000"/>
                  <a:pt x="5410520" y="153670"/>
                </a:cubicBezTo>
                <a:cubicBezTo>
                  <a:pt x="5410520" y="191770"/>
                  <a:pt x="5410520" y="231140"/>
                  <a:pt x="5411790" y="270510"/>
                </a:cubicBezTo>
                <a:lnTo>
                  <a:pt x="5411790" y="508000"/>
                </a:lnTo>
                <a:cubicBezTo>
                  <a:pt x="5411790" y="661670"/>
                  <a:pt x="5413060" y="815340"/>
                  <a:pt x="5418140" y="965200"/>
                </a:cubicBezTo>
                <a:lnTo>
                  <a:pt x="5413060" y="955040"/>
                </a:lnTo>
                <a:cubicBezTo>
                  <a:pt x="5415600" y="993140"/>
                  <a:pt x="5415600" y="1033780"/>
                  <a:pt x="5416870" y="1071051"/>
                </a:cubicBezTo>
                <a:cubicBezTo>
                  <a:pt x="5416870" y="1091556"/>
                  <a:pt x="5418140" y="1112061"/>
                  <a:pt x="5418140" y="1133705"/>
                </a:cubicBezTo>
                <a:cubicBezTo>
                  <a:pt x="5419410" y="1263570"/>
                  <a:pt x="5414330" y="1399131"/>
                  <a:pt x="5418140" y="1528995"/>
                </a:cubicBezTo>
                <a:lnTo>
                  <a:pt x="5415600" y="1516465"/>
                </a:lnTo>
                <a:cubicBezTo>
                  <a:pt x="5414330" y="1699870"/>
                  <a:pt x="5415600" y="1877580"/>
                  <a:pt x="5416870" y="2053011"/>
                </a:cubicBezTo>
                <a:cubicBezTo>
                  <a:pt x="5416870" y="2136171"/>
                  <a:pt x="5415600" y="2219330"/>
                  <a:pt x="5416870" y="2302488"/>
                </a:cubicBezTo>
                <a:cubicBezTo>
                  <a:pt x="5415600" y="2485894"/>
                  <a:pt x="5419410" y="2608924"/>
                  <a:pt x="5419410" y="2793469"/>
                </a:cubicBezTo>
                <a:lnTo>
                  <a:pt x="5414330" y="2798025"/>
                </a:lnTo>
                <a:cubicBezTo>
                  <a:pt x="5432110" y="3107878"/>
                  <a:pt x="5399090" y="3448489"/>
                  <a:pt x="5418140" y="3770872"/>
                </a:cubicBezTo>
                <a:lnTo>
                  <a:pt x="5411790" y="3748089"/>
                </a:lnTo>
                <a:cubicBezTo>
                  <a:pt x="5421950" y="3798213"/>
                  <a:pt x="5407980" y="3942886"/>
                  <a:pt x="5424490" y="3924660"/>
                </a:cubicBezTo>
                <a:lnTo>
                  <a:pt x="5419410" y="3981618"/>
                </a:lnTo>
                <a:cubicBezTo>
                  <a:pt x="5441000" y="4200338"/>
                  <a:pt x="5409250" y="4380326"/>
                  <a:pt x="5423220" y="4649169"/>
                </a:cubicBezTo>
                <a:lnTo>
                  <a:pt x="5419410" y="4632081"/>
                </a:lnTo>
                <a:cubicBezTo>
                  <a:pt x="5421950" y="4703849"/>
                  <a:pt x="5424490" y="4787008"/>
                  <a:pt x="5420680" y="4839409"/>
                </a:cubicBezTo>
                <a:cubicBezTo>
                  <a:pt x="5420680" y="4831435"/>
                  <a:pt x="5419410" y="4834853"/>
                  <a:pt x="5418140" y="4817765"/>
                </a:cubicBezTo>
                <a:cubicBezTo>
                  <a:pt x="5402900" y="5058148"/>
                  <a:pt x="5419410" y="5336279"/>
                  <a:pt x="5419410" y="5600439"/>
                </a:cubicBezTo>
                <a:lnTo>
                  <a:pt x="5411790" y="5569959"/>
                </a:lnTo>
                <a:cubicBezTo>
                  <a:pt x="5414330" y="5608059"/>
                  <a:pt x="5415600" y="5657589"/>
                  <a:pt x="5415600" y="5710929"/>
                </a:cubicBezTo>
                <a:lnTo>
                  <a:pt x="5415600" y="5872218"/>
                </a:lnTo>
                <a:cubicBezTo>
                  <a:pt x="5411790" y="5872218"/>
                  <a:pt x="5409250" y="5870948"/>
                  <a:pt x="5404170" y="5870948"/>
                </a:cubicBezTo>
                <a:lnTo>
                  <a:pt x="5401630" y="5872218"/>
                </a:lnTo>
                <a:lnTo>
                  <a:pt x="5390200" y="5877298"/>
                </a:lnTo>
                <a:lnTo>
                  <a:pt x="5382580" y="5877298"/>
                </a:lnTo>
                <a:cubicBezTo>
                  <a:pt x="5362260" y="5872218"/>
                  <a:pt x="5366070" y="5874759"/>
                  <a:pt x="5357180" y="5869679"/>
                </a:cubicBezTo>
                <a:cubicBezTo>
                  <a:pt x="5253040" y="5868409"/>
                  <a:pt x="5239070" y="5858248"/>
                  <a:pt x="5165410" y="5853168"/>
                </a:cubicBezTo>
                <a:cubicBezTo>
                  <a:pt x="5165410" y="5853168"/>
                  <a:pt x="5166680" y="5853168"/>
                  <a:pt x="5165410" y="5854439"/>
                </a:cubicBezTo>
                <a:cubicBezTo>
                  <a:pt x="5114610" y="5863329"/>
                  <a:pt x="5044760" y="5858248"/>
                  <a:pt x="5004120" y="5856979"/>
                </a:cubicBezTo>
                <a:lnTo>
                  <a:pt x="4987610" y="5853168"/>
                </a:lnTo>
                <a:cubicBezTo>
                  <a:pt x="4963480" y="5844279"/>
                  <a:pt x="4869500" y="5869679"/>
                  <a:pt x="4901250" y="5855709"/>
                </a:cubicBezTo>
                <a:cubicBezTo>
                  <a:pt x="4690430" y="5859518"/>
                  <a:pt x="4449130" y="5859518"/>
                  <a:pt x="4259730" y="5859518"/>
                </a:cubicBezTo>
                <a:cubicBezTo>
                  <a:pt x="4233517" y="5865868"/>
                  <a:pt x="4116565" y="5859518"/>
                  <a:pt x="4157901" y="5869679"/>
                </a:cubicBezTo>
                <a:cubicBezTo>
                  <a:pt x="4111524" y="5856979"/>
                  <a:pt x="3972392" y="5854439"/>
                  <a:pt x="3920974" y="5854439"/>
                </a:cubicBezTo>
                <a:cubicBezTo>
                  <a:pt x="3922990" y="5853168"/>
                  <a:pt x="3925006" y="5851898"/>
                  <a:pt x="3933072" y="5851898"/>
                </a:cubicBezTo>
                <a:cubicBezTo>
                  <a:pt x="3833260" y="5835389"/>
                  <a:pt x="3814104" y="5867139"/>
                  <a:pt x="3720341" y="5846818"/>
                </a:cubicBezTo>
                <a:cubicBezTo>
                  <a:pt x="3705218" y="5860789"/>
                  <a:pt x="3549954" y="5843009"/>
                  <a:pt x="3496519" y="5858248"/>
                </a:cubicBezTo>
                <a:cubicBezTo>
                  <a:pt x="3485429" y="5855709"/>
                  <a:pt x="3481396" y="5851898"/>
                  <a:pt x="3485429" y="5850629"/>
                </a:cubicBezTo>
                <a:cubicBezTo>
                  <a:pt x="3316051" y="5848089"/>
                  <a:pt x="3129533" y="5846818"/>
                  <a:pt x="2987376" y="5844279"/>
                </a:cubicBezTo>
                <a:cubicBezTo>
                  <a:pt x="2865384" y="5856979"/>
                  <a:pt x="2691973" y="5839198"/>
                  <a:pt x="2586111" y="5855709"/>
                </a:cubicBezTo>
                <a:cubicBezTo>
                  <a:pt x="2499405" y="5851898"/>
                  <a:pt x="2358257" y="5845548"/>
                  <a:pt x="2237272" y="5851898"/>
                </a:cubicBezTo>
                <a:lnTo>
                  <a:pt x="2249371" y="5849359"/>
                </a:lnTo>
                <a:cubicBezTo>
                  <a:pt x="2112255" y="5850629"/>
                  <a:pt x="1940860" y="5850629"/>
                  <a:pt x="1847097" y="5862059"/>
                </a:cubicBezTo>
                <a:cubicBezTo>
                  <a:pt x="1806769" y="5845548"/>
                  <a:pt x="1747285" y="5849359"/>
                  <a:pt x="1687801" y="5844279"/>
                </a:cubicBezTo>
                <a:cubicBezTo>
                  <a:pt x="1596055" y="5851898"/>
                  <a:pt x="1411553" y="5849359"/>
                  <a:pt x="1271413" y="5856979"/>
                </a:cubicBezTo>
                <a:cubicBezTo>
                  <a:pt x="1250241" y="5849359"/>
                  <a:pt x="1156478" y="5860789"/>
                  <a:pt x="1149420" y="5849359"/>
                </a:cubicBezTo>
                <a:cubicBezTo>
                  <a:pt x="1004570" y="5856979"/>
                  <a:pt x="814070" y="5860789"/>
                  <a:pt x="617220" y="5862059"/>
                </a:cubicBezTo>
                <a:lnTo>
                  <a:pt x="318770" y="5862059"/>
                </a:lnTo>
                <a:lnTo>
                  <a:pt x="168910" y="5860789"/>
                </a:lnTo>
                <a:lnTo>
                  <a:pt x="93980" y="5859518"/>
                </a:lnTo>
                <a:lnTo>
                  <a:pt x="58420" y="5859518"/>
                </a:lnTo>
                <a:lnTo>
                  <a:pt x="45720" y="5858248"/>
                </a:lnTo>
                <a:lnTo>
                  <a:pt x="48260" y="5858248"/>
                </a:lnTo>
                <a:cubicBezTo>
                  <a:pt x="52070" y="5716009"/>
                  <a:pt x="55880" y="5576309"/>
                  <a:pt x="58420" y="5441689"/>
                </a:cubicBezTo>
                <a:cubicBezTo>
                  <a:pt x="55880" y="5417559"/>
                  <a:pt x="53340" y="5393429"/>
                  <a:pt x="49530" y="5368029"/>
                </a:cubicBezTo>
                <a:cubicBezTo>
                  <a:pt x="46990" y="5202929"/>
                  <a:pt x="45720" y="5020048"/>
                  <a:pt x="45720" y="4842827"/>
                </a:cubicBezTo>
                <a:cubicBezTo>
                  <a:pt x="46990" y="4805235"/>
                  <a:pt x="48260" y="4766503"/>
                  <a:pt x="45720" y="4726632"/>
                </a:cubicBezTo>
                <a:lnTo>
                  <a:pt x="45720" y="4701571"/>
                </a:lnTo>
                <a:lnTo>
                  <a:pt x="48260" y="4695875"/>
                </a:lnTo>
                <a:lnTo>
                  <a:pt x="49530" y="4634360"/>
                </a:lnTo>
                <a:cubicBezTo>
                  <a:pt x="50800" y="4635499"/>
                  <a:pt x="53340" y="4635499"/>
                  <a:pt x="54610" y="4640056"/>
                </a:cubicBezTo>
                <a:lnTo>
                  <a:pt x="54610" y="4652587"/>
                </a:lnTo>
                <a:lnTo>
                  <a:pt x="54610" y="4641195"/>
                </a:lnTo>
                <a:cubicBezTo>
                  <a:pt x="55880" y="4644612"/>
                  <a:pt x="57150" y="4649169"/>
                  <a:pt x="57150" y="4656004"/>
                </a:cubicBezTo>
                <a:lnTo>
                  <a:pt x="57150" y="4334759"/>
                </a:lnTo>
                <a:cubicBezTo>
                  <a:pt x="58420" y="4337038"/>
                  <a:pt x="59690" y="4339316"/>
                  <a:pt x="58420" y="4347290"/>
                </a:cubicBezTo>
                <a:cubicBezTo>
                  <a:pt x="69850" y="4265270"/>
                  <a:pt x="57150" y="4231095"/>
                  <a:pt x="57150" y="4178694"/>
                </a:cubicBezTo>
                <a:lnTo>
                  <a:pt x="57150" y="4168441"/>
                </a:lnTo>
                <a:cubicBezTo>
                  <a:pt x="57150" y="4150215"/>
                  <a:pt x="59690" y="4130849"/>
                  <a:pt x="63500" y="4105787"/>
                </a:cubicBezTo>
                <a:cubicBezTo>
                  <a:pt x="50800" y="4090978"/>
                  <a:pt x="64770" y="3938330"/>
                  <a:pt x="54610" y="3867701"/>
                </a:cubicBezTo>
                <a:lnTo>
                  <a:pt x="54610" y="3842640"/>
                </a:lnTo>
                <a:cubicBezTo>
                  <a:pt x="57150" y="3838083"/>
                  <a:pt x="58420" y="3835805"/>
                  <a:pt x="59690" y="3839222"/>
                </a:cubicBezTo>
                <a:cubicBezTo>
                  <a:pt x="62230" y="3647843"/>
                  <a:pt x="63500" y="3435958"/>
                  <a:pt x="66040" y="3273057"/>
                </a:cubicBezTo>
                <a:cubicBezTo>
                  <a:pt x="53340" y="3134079"/>
                  <a:pt x="71120" y="2937003"/>
                  <a:pt x="54610" y="2818530"/>
                </a:cubicBezTo>
                <a:cubicBezTo>
                  <a:pt x="58420" y="2719423"/>
                  <a:pt x="64770" y="2559940"/>
                  <a:pt x="58420" y="2422101"/>
                </a:cubicBezTo>
                <a:lnTo>
                  <a:pt x="60960" y="2435771"/>
                </a:lnTo>
                <a:cubicBezTo>
                  <a:pt x="59690" y="2279705"/>
                  <a:pt x="59690" y="2086047"/>
                  <a:pt x="48260" y="1978966"/>
                </a:cubicBezTo>
                <a:cubicBezTo>
                  <a:pt x="64770" y="1933399"/>
                  <a:pt x="60960" y="1866188"/>
                  <a:pt x="66040" y="1798978"/>
                </a:cubicBezTo>
                <a:cubicBezTo>
                  <a:pt x="58420" y="1695313"/>
                  <a:pt x="60960" y="1485707"/>
                  <a:pt x="53340" y="1327363"/>
                </a:cubicBezTo>
                <a:cubicBezTo>
                  <a:pt x="60960" y="1303441"/>
                  <a:pt x="50800" y="1196359"/>
                  <a:pt x="60960" y="1188385"/>
                </a:cubicBezTo>
                <a:cubicBezTo>
                  <a:pt x="53340" y="1028700"/>
                  <a:pt x="49530" y="836930"/>
                  <a:pt x="48260" y="638810"/>
                </a:cubicBezTo>
                <a:lnTo>
                  <a:pt x="48260" y="339090"/>
                </a:lnTo>
                <a:lnTo>
                  <a:pt x="49530" y="189230"/>
                </a:lnTo>
                <a:lnTo>
                  <a:pt x="50800" y="114300"/>
                </a:lnTo>
                <a:lnTo>
                  <a:pt x="50800" y="78740"/>
                </a:lnTo>
                <a:lnTo>
                  <a:pt x="52070" y="66040"/>
                </a:lnTo>
                <a:lnTo>
                  <a:pt x="64770" y="66040"/>
                </a:lnTo>
                <a:cubicBezTo>
                  <a:pt x="210820" y="69850"/>
                  <a:pt x="354330" y="73660"/>
                  <a:pt x="492760" y="77470"/>
                </a:cubicBezTo>
                <a:cubicBezTo>
                  <a:pt x="558800" y="71120"/>
                  <a:pt x="633730" y="58420"/>
                  <a:pt x="701040" y="50800"/>
                </a:cubicBezTo>
                <a:cubicBezTo>
                  <a:pt x="707390" y="52070"/>
                  <a:pt x="707390" y="53340"/>
                  <a:pt x="692150" y="53340"/>
                </a:cubicBezTo>
                <a:cubicBezTo>
                  <a:pt x="788670" y="50800"/>
                  <a:pt x="877570" y="62230"/>
                  <a:pt x="974090" y="59690"/>
                </a:cubicBezTo>
                <a:cubicBezTo>
                  <a:pt x="972820" y="60960"/>
                  <a:pt x="972820" y="60960"/>
                  <a:pt x="957580" y="63500"/>
                </a:cubicBezTo>
                <a:cubicBezTo>
                  <a:pt x="1043559" y="58420"/>
                  <a:pt x="1119174" y="72390"/>
                  <a:pt x="1203863" y="63500"/>
                </a:cubicBezTo>
                <a:lnTo>
                  <a:pt x="1208904" y="66040"/>
                </a:lnTo>
                <a:lnTo>
                  <a:pt x="1262339" y="62230"/>
                </a:lnTo>
                <a:cubicBezTo>
                  <a:pt x="1261331" y="64770"/>
                  <a:pt x="1259314" y="69850"/>
                  <a:pt x="1243183" y="69850"/>
                </a:cubicBezTo>
                <a:cubicBezTo>
                  <a:pt x="1894483" y="73660"/>
                  <a:pt x="2565947" y="55880"/>
                  <a:pt x="3234386" y="58420"/>
                </a:cubicBezTo>
                <a:lnTo>
                  <a:pt x="3209181" y="62230"/>
                </a:lnTo>
                <a:lnTo>
                  <a:pt x="3339239" y="55880"/>
                </a:lnTo>
                <a:cubicBezTo>
                  <a:pt x="3338232" y="57150"/>
                  <a:pt x="3332182" y="58420"/>
                  <a:pt x="3326133" y="59690"/>
                </a:cubicBezTo>
                <a:cubicBezTo>
                  <a:pt x="3492487" y="66040"/>
                  <a:pt x="3664890" y="55880"/>
                  <a:pt x="3826202" y="57150"/>
                </a:cubicBezTo>
                <a:cubicBezTo>
                  <a:pt x="3825194" y="58420"/>
                  <a:pt x="3800997" y="62230"/>
                  <a:pt x="3823178" y="64770"/>
                </a:cubicBezTo>
                <a:cubicBezTo>
                  <a:pt x="3943154" y="54610"/>
                  <a:pt x="4015744" y="77470"/>
                  <a:pt x="4075228" y="57150"/>
                </a:cubicBezTo>
                <a:cubicBezTo>
                  <a:pt x="4081278" y="58420"/>
                  <a:pt x="4084303" y="62230"/>
                  <a:pt x="4072204" y="64770"/>
                </a:cubicBezTo>
                <a:cubicBezTo>
                  <a:pt x="4405920" y="58420"/>
                  <a:pt x="4828860" y="58420"/>
                  <a:pt x="5251770" y="62230"/>
                </a:cubicBezTo>
                <a:cubicBezTo>
                  <a:pt x="5300030" y="59690"/>
                  <a:pt x="5350830" y="58420"/>
                  <a:pt x="5401630" y="55880"/>
                </a:cubicBezTo>
                <a:lnTo>
                  <a:pt x="5401630" y="20320"/>
                </a:lnTo>
                <a:cubicBezTo>
                  <a:pt x="5123500" y="19050"/>
                  <a:pt x="4844100" y="19050"/>
                  <a:pt x="4564700" y="17780"/>
                </a:cubicBezTo>
                <a:cubicBezTo>
                  <a:pt x="3831243" y="12700"/>
                  <a:pt x="3212206" y="0"/>
                  <a:pt x="2523602" y="24130"/>
                </a:cubicBezTo>
                <a:cubicBezTo>
                  <a:pt x="2524611" y="22860"/>
                  <a:pt x="2518561" y="21590"/>
                  <a:pt x="2536709" y="20320"/>
                </a:cubicBezTo>
                <a:cubicBezTo>
                  <a:pt x="2338093" y="24130"/>
                  <a:pt x="2157624" y="17780"/>
                  <a:pt x="1970098" y="21590"/>
                </a:cubicBezTo>
                <a:lnTo>
                  <a:pt x="1971107" y="20320"/>
                </a:lnTo>
                <a:cubicBezTo>
                  <a:pt x="1509349" y="34290"/>
                  <a:pt x="1002030" y="17780"/>
                  <a:pt x="438150" y="33020"/>
                </a:cubicBezTo>
                <a:lnTo>
                  <a:pt x="19050" y="33020"/>
                </a:lnTo>
                <a:lnTo>
                  <a:pt x="19050" y="78740"/>
                </a:lnTo>
                <a:cubicBezTo>
                  <a:pt x="19050" y="213360"/>
                  <a:pt x="20320" y="350520"/>
                  <a:pt x="20320" y="488950"/>
                </a:cubicBezTo>
                <a:cubicBezTo>
                  <a:pt x="7620" y="951230"/>
                  <a:pt x="11430" y="1369512"/>
                  <a:pt x="20320" y="1781890"/>
                </a:cubicBezTo>
                <a:cubicBezTo>
                  <a:pt x="26670" y="2291097"/>
                  <a:pt x="8890" y="2784355"/>
                  <a:pt x="13970" y="3292423"/>
                </a:cubicBezTo>
                <a:cubicBezTo>
                  <a:pt x="7620" y="3680879"/>
                  <a:pt x="21590" y="4084143"/>
                  <a:pt x="25400" y="4483990"/>
                </a:cubicBezTo>
                <a:cubicBezTo>
                  <a:pt x="20320" y="4633220"/>
                  <a:pt x="13970" y="4787008"/>
                  <a:pt x="15240" y="4946389"/>
                </a:cubicBezTo>
                <a:lnTo>
                  <a:pt x="19050" y="4933689"/>
                </a:lnTo>
                <a:cubicBezTo>
                  <a:pt x="13970" y="4983218"/>
                  <a:pt x="15240" y="5037829"/>
                  <a:pt x="19050" y="5089898"/>
                </a:cubicBezTo>
                <a:cubicBezTo>
                  <a:pt x="17780" y="5150859"/>
                  <a:pt x="17780" y="5213089"/>
                  <a:pt x="19050" y="5275318"/>
                </a:cubicBezTo>
                <a:cubicBezTo>
                  <a:pt x="19050" y="5276589"/>
                  <a:pt x="19050" y="5279129"/>
                  <a:pt x="17780" y="5280398"/>
                </a:cubicBezTo>
                <a:lnTo>
                  <a:pt x="16510" y="5267698"/>
                </a:lnTo>
                <a:cubicBezTo>
                  <a:pt x="12700" y="5291829"/>
                  <a:pt x="15240" y="5319768"/>
                  <a:pt x="19050" y="5347709"/>
                </a:cubicBezTo>
                <a:cubicBezTo>
                  <a:pt x="19050" y="5371839"/>
                  <a:pt x="20320" y="5394699"/>
                  <a:pt x="20320" y="5418829"/>
                </a:cubicBezTo>
                <a:lnTo>
                  <a:pt x="24130" y="5614409"/>
                </a:lnTo>
                <a:cubicBezTo>
                  <a:pt x="21590" y="5663939"/>
                  <a:pt x="34290" y="5787129"/>
                  <a:pt x="15240" y="5790939"/>
                </a:cubicBezTo>
                <a:cubicBezTo>
                  <a:pt x="15240" y="5747759"/>
                  <a:pt x="6350" y="5858248"/>
                  <a:pt x="1270" y="5761729"/>
                </a:cubicBezTo>
                <a:cubicBezTo>
                  <a:pt x="0" y="5773159"/>
                  <a:pt x="0" y="5801098"/>
                  <a:pt x="0" y="5830309"/>
                </a:cubicBezTo>
                <a:cubicBezTo>
                  <a:pt x="0" y="5839198"/>
                  <a:pt x="1270" y="5848089"/>
                  <a:pt x="1270" y="5855709"/>
                </a:cubicBezTo>
                <a:cubicBezTo>
                  <a:pt x="2540" y="5873489"/>
                  <a:pt x="5080" y="5886189"/>
                  <a:pt x="7620" y="5882379"/>
                </a:cubicBezTo>
                <a:cubicBezTo>
                  <a:pt x="17780" y="5892539"/>
                  <a:pt x="25400" y="5936989"/>
                  <a:pt x="33020" y="5876029"/>
                </a:cubicBezTo>
                <a:lnTo>
                  <a:pt x="60960" y="5876029"/>
                </a:lnTo>
                <a:cubicBezTo>
                  <a:pt x="91440" y="5876029"/>
                  <a:pt x="121920" y="5876029"/>
                  <a:pt x="152400" y="5877298"/>
                </a:cubicBezTo>
                <a:cubicBezTo>
                  <a:pt x="194310" y="5878568"/>
                  <a:pt x="234950" y="5879839"/>
                  <a:pt x="273050" y="5881109"/>
                </a:cubicBezTo>
                <a:cubicBezTo>
                  <a:pt x="991870" y="5907779"/>
                  <a:pt x="1551694" y="5891268"/>
                  <a:pt x="2122337" y="5874759"/>
                </a:cubicBezTo>
                <a:cubicBezTo>
                  <a:pt x="2606275" y="5883648"/>
                  <a:pt x="3090213" y="5863329"/>
                  <a:pt x="3561045" y="5876029"/>
                </a:cubicBezTo>
                <a:cubicBezTo>
                  <a:pt x="3300928" y="5878568"/>
                  <a:pt x="3043836" y="5883648"/>
                  <a:pt x="2775654" y="5887459"/>
                </a:cubicBezTo>
                <a:cubicBezTo>
                  <a:pt x="2781703" y="5886189"/>
                  <a:pt x="2784727" y="5884918"/>
                  <a:pt x="2790777" y="5883648"/>
                </a:cubicBezTo>
                <a:cubicBezTo>
                  <a:pt x="2770613" y="5886189"/>
                  <a:pt x="2748432" y="5889998"/>
                  <a:pt x="2725243" y="5888729"/>
                </a:cubicBezTo>
                <a:cubicBezTo>
                  <a:pt x="2719194" y="5887459"/>
                  <a:pt x="2731292" y="5886189"/>
                  <a:pt x="2739358" y="5884918"/>
                </a:cubicBezTo>
                <a:cubicBezTo>
                  <a:pt x="2650636" y="5874759"/>
                  <a:pt x="2480250" y="5891268"/>
                  <a:pt x="2424798" y="5883648"/>
                </a:cubicBezTo>
                <a:cubicBezTo>
                  <a:pt x="2399593" y="5884918"/>
                  <a:pt x="2388503" y="5888729"/>
                  <a:pt x="2402618" y="5892539"/>
                </a:cubicBezTo>
                <a:cubicBezTo>
                  <a:pt x="2075960" y="5895079"/>
                  <a:pt x="1726113" y="5897618"/>
                  <a:pt x="1392397" y="5905239"/>
                </a:cubicBezTo>
                <a:cubicBezTo>
                  <a:pt x="1376266" y="5903968"/>
                  <a:pt x="1373241" y="5901429"/>
                  <a:pt x="1378283" y="5897618"/>
                </a:cubicBezTo>
                <a:cubicBezTo>
                  <a:pt x="1093969" y="5914129"/>
                  <a:pt x="735330" y="5907779"/>
                  <a:pt x="368300" y="5905239"/>
                </a:cubicBezTo>
                <a:cubicBezTo>
                  <a:pt x="354330" y="5909048"/>
                  <a:pt x="405130" y="5910318"/>
                  <a:pt x="369570" y="5914129"/>
                </a:cubicBezTo>
                <a:cubicBezTo>
                  <a:pt x="487680" y="5919209"/>
                  <a:pt x="585470" y="5903968"/>
                  <a:pt x="692150" y="5911589"/>
                </a:cubicBezTo>
                <a:lnTo>
                  <a:pt x="678180" y="5915398"/>
                </a:lnTo>
                <a:cubicBezTo>
                  <a:pt x="755650" y="5917939"/>
                  <a:pt x="693420" y="5905239"/>
                  <a:pt x="774700" y="5910318"/>
                </a:cubicBezTo>
                <a:cubicBezTo>
                  <a:pt x="806450" y="5914129"/>
                  <a:pt x="767080" y="5915398"/>
                  <a:pt x="781050" y="5916668"/>
                </a:cubicBezTo>
                <a:cubicBezTo>
                  <a:pt x="946150" y="5915398"/>
                  <a:pt x="1100018" y="5919209"/>
                  <a:pt x="1224027" y="5909048"/>
                </a:cubicBezTo>
                <a:cubicBezTo>
                  <a:pt x="1254273" y="5917939"/>
                  <a:pt x="1365176" y="5909048"/>
                  <a:pt x="1413570" y="5917939"/>
                </a:cubicBezTo>
                <a:cubicBezTo>
                  <a:pt x="1447849" y="5914129"/>
                  <a:pt x="1481119" y="5915398"/>
                  <a:pt x="1494226" y="5909048"/>
                </a:cubicBezTo>
                <a:cubicBezTo>
                  <a:pt x="1953967" y="5914129"/>
                  <a:pt x="2423790" y="5905239"/>
                  <a:pt x="2894622" y="5905239"/>
                </a:cubicBezTo>
                <a:cubicBezTo>
                  <a:pt x="3115418" y="5887459"/>
                  <a:pt x="3378560" y="5909048"/>
                  <a:pt x="3640693" y="5902698"/>
                </a:cubicBezTo>
                <a:cubicBezTo>
                  <a:pt x="3642709" y="5902698"/>
                  <a:pt x="3641701" y="5903968"/>
                  <a:pt x="3640693" y="5903968"/>
                </a:cubicBezTo>
                <a:cubicBezTo>
                  <a:pt x="3726390" y="5900159"/>
                  <a:pt x="3850399" y="5897618"/>
                  <a:pt x="3952228" y="5900159"/>
                </a:cubicBezTo>
                <a:lnTo>
                  <a:pt x="4038933" y="5892539"/>
                </a:lnTo>
                <a:cubicBezTo>
                  <a:pt x="4233517" y="5897618"/>
                  <a:pt x="4430116" y="5900159"/>
                  <a:pt x="4676460" y="5900159"/>
                </a:cubicBezTo>
                <a:lnTo>
                  <a:pt x="5315270" y="5900159"/>
                </a:lnTo>
                <a:cubicBezTo>
                  <a:pt x="5311460" y="5901429"/>
                  <a:pt x="5300030" y="5902698"/>
                  <a:pt x="5275900" y="5903968"/>
                </a:cubicBezTo>
                <a:cubicBezTo>
                  <a:pt x="5294950" y="5905239"/>
                  <a:pt x="5367340" y="5905239"/>
                  <a:pt x="5402900" y="5901429"/>
                </a:cubicBezTo>
                <a:cubicBezTo>
                  <a:pt x="5407980" y="5901429"/>
                  <a:pt x="5413060" y="5900159"/>
                  <a:pt x="5416870" y="5900159"/>
                </a:cubicBezTo>
                <a:lnTo>
                  <a:pt x="5442270" y="5900159"/>
                </a:lnTo>
                <a:lnTo>
                  <a:pt x="5442270" y="5884918"/>
                </a:lnTo>
                <a:cubicBezTo>
                  <a:pt x="5449890" y="5881109"/>
                  <a:pt x="5435920" y="5882379"/>
                  <a:pt x="5442270" y="5874759"/>
                </a:cubicBezTo>
                <a:lnTo>
                  <a:pt x="5442270" y="5568689"/>
                </a:lnTo>
                <a:cubicBezTo>
                  <a:pt x="5447350" y="5587739"/>
                  <a:pt x="5439730" y="5651239"/>
                  <a:pt x="5448620" y="5642348"/>
                </a:cubicBezTo>
                <a:cubicBezTo>
                  <a:pt x="5452430" y="5597898"/>
                  <a:pt x="5446080" y="5578848"/>
                  <a:pt x="5442270" y="5568689"/>
                </a:cubicBezTo>
                <a:cubicBezTo>
                  <a:pt x="5442270" y="5387079"/>
                  <a:pt x="5443540" y="5204198"/>
                  <a:pt x="5443540" y="5022589"/>
                </a:cubicBezTo>
                <a:cubicBezTo>
                  <a:pt x="5444810" y="4907018"/>
                  <a:pt x="5444810" y="4802956"/>
                  <a:pt x="5446080" y="4701571"/>
                </a:cubicBezTo>
                <a:cubicBezTo>
                  <a:pt x="5452430" y="4961629"/>
                  <a:pt x="5447350" y="5249918"/>
                  <a:pt x="5446080" y="5533129"/>
                </a:cubicBezTo>
                <a:cubicBezTo>
                  <a:pt x="5449890" y="5547098"/>
                  <a:pt x="5451160" y="5496298"/>
                  <a:pt x="5454970" y="5531859"/>
                </a:cubicBezTo>
                <a:cubicBezTo>
                  <a:pt x="5460050" y="5413748"/>
                  <a:pt x="5444810" y="5315959"/>
                  <a:pt x="5452430" y="5209279"/>
                </a:cubicBezTo>
                <a:lnTo>
                  <a:pt x="5456240" y="5223248"/>
                </a:lnTo>
                <a:cubicBezTo>
                  <a:pt x="5458780" y="5145779"/>
                  <a:pt x="5446080" y="5208009"/>
                  <a:pt x="5451160" y="5126729"/>
                </a:cubicBezTo>
                <a:cubicBezTo>
                  <a:pt x="5456240" y="5097518"/>
                  <a:pt x="5457510" y="5138159"/>
                  <a:pt x="5458780" y="5122918"/>
                </a:cubicBezTo>
                <a:close/>
                <a:moveTo>
                  <a:pt x="4986340" y="5873489"/>
                </a:moveTo>
                <a:lnTo>
                  <a:pt x="5014280" y="5873489"/>
                </a:lnTo>
                <a:cubicBezTo>
                  <a:pt x="5007930" y="5872218"/>
                  <a:pt x="4999040" y="5872218"/>
                  <a:pt x="4986340" y="587348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11059818" y="3393891"/>
            <a:ext cx="6710374" cy="5962743"/>
          </a:xfrm>
          <a:custGeom>
            <a:rect b="b" l="l" r="r" t="t"/>
            <a:pathLst>
              <a:path extrusionOk="0" h="5936989" w="6681392">
                <a:moveTo>
                  <a:pt x="6678852" y="5122918"/>
                </a:moveTo>
                <a:cubicBezTo>
                  <a:pt x="6677581" y="4957818"/>
                  <a:pt x="6681392" y="4796121"/>
                  <a:pt x="6671231" y="4656004"/>
                </a:cubicBezTo>
                <a:cubicBezTo>
                  <a:pt x="6680121" y="4621829"/>
                  <a:pt x="6671231" y="4496521"/>
                  <a:pt x="6680121" y="4441841"/>
                </a:cubicBezTo>
                <a:cubicBezTo>
                  <a:pt x="6676312" y="4403109"/>
                  <a:pt x="6677581" y="4364378"/>
                  <a:pt x="6671231" y="4350707"/>
                </a:cubicBezTo>
                <a:lnTo>
                  <a:pt x="6671231" y="4313115"/>
                </a:lnTo>
                <a:cubicBezTo>
                  <a:pt x="6673771" y="3907572"/>
                  <a:pt x="6675042" y="3515700"/>
                  <a:pt x="6668692" y="3109018"/>
                </a:cubicBezTo>
                <a:cubicBezTo>
                  <a:pt x="6668692" y="2995101"/>
                  <a:pt x="6667421" y="2882324"/>
                  <a:pt x="6667421" y="2768407"/>
                </a:cubicBezTo>
                <a:cubicBezTo>
                  <a:pt x="6664881" y="2738789"/>
                  <a:pt x="6663612" y="2708031"/>
                  <a:pt x="6662342" y="2676135"/>
                </a:cubicBezTo>
                <a:cubicBezTo>
                  <a:pt x="6661071" y="2534878"/>
                  <a:pt x="6663612" y="2399318"/>
                  <a:pt x="6663612" y="2264896"/>
                </a:cubicBezTo>
                <a:cubicBezTo>
                  <a:pt x="6666152" y="2153258"/>
                  <a:pt x="6667421" y="2038202"/>
                  <a:pt x="6664881" y="1924286"/>
                </a:cubicBezTo>
                <a:cubicBezTo>
                  <a:pt x="6664881" y="1922007"/>
                  <a:pt x="6666152" y="1923147"/>
                  <a:pt x="6666152" y="1924286"/>
                </a:cubicBezTo>
                <a:cubicBezTo>
                  <a:pt x="6662342" y="1827457"/>
                  <a:pt x="6659802" y="1687339"/>
                  <a:pt x="6662342" y="1572284"/>
                </a:cubicBezTo>
                <a:lnTo>
                  <a:pt x="6657262" y="1506212"/>
                </a:lnTo>
                <a:lnTo>
                  <a:pt x="6657262" y="1320528"/>
                </a:lnTo>
                <a:cubicBezTo>
                  <a:pt x="6659802" y="1150793"/>
                  <a:pt x="6662342" y="974090"/>
                  <a:pt x="6662342" y="783590"/>
                </a:cubicBezTo>
                <a:cubicBezTo>
                  <a:pt x="6662342" y="548640"/>
                  <a:pt x="6662342" y="311150"/>
                  <a:pt x="6663612" y="74930"/>
                </a:cubicBezTo>
                <a:lnTo>
                  <a:pt x="6663612" y="17780"/>
                </a:lnTo>
                <a:lnTo>
                  <a:pt x="6622971" y="17780"/>
                </a:lnTo>
                <a:lnTo>
                  <a:pt x="6622971" y="52070"/>
                </a:lnTo>
                <a:lnTo>
                  <a:pt x="6629321" y="52070"/>
                </a:lnTo>
                <a:lnTo>
                  <a:pt x="6629321" y="74930"/>
                </a:lnTo>
                <a:cubicBezTo>
                  <a:pt x="6629321" y="100330"/>
                  <a:pt x="6630592" y="127000"/>
                  <a:pt x="6630592" y="153670"/>
                </a:cubicBezTo>
                <a:cubicBezTo>
                  <a:pt x="6630592" y="191770"/>
                  <a:pt x="6630592" y="231140"/>
                  <a:pt x="6631862" y="270510"/>
                </a:cubicBezTo>
                <a:lnTo>
                  <a:pt x="6631862" y="508000"/>
                </a:lnTo>
                <a:cubicBezTo>
                  <a:pt x="6631862" y="661670"/>
                  <a:pt x="6633131" y="815340"/>
                  <a:pt x="6638212" y="965200"/>
                </a:cubicBezTo>
                <a:lnTo>
                  <a:pt x="6633131" y="955040"/>
                </a:lnTo>
                <a:cubicBezTo>
                  <a:pt x="6635671" y="993140"/>
                  <a:pt x="6635671" y="1033780"/>
                  <a:pt x="6636942" y="1071051"/>
                </a:cubicBezTo>
                <a:cubicBezTo>
                  <a:pt x="6636942" y="1091556"/>
                  <a:pt x="6638212" y="1112061"/>
                  <a:pt x="6638212" y="1133705"/>
                </a:cubicBezTo>
                <a:cubicBezTo>
                  <a:pt x="6639481" y="1263570"/>
                  <a:pt x="6634402" y="1399131"/>
                  <a:pt x="6638212" y="1528995"/>
                </a:cubicBezTo>
                <a:lnTo>
                  <a:pt x="6635671" y="1516465"/>
                </a:lnTo>
                <a:cubicBezTo>
                  <a:pt x="6634402" y="1699870"/>
                  <a:pt x="6635671" y="1877580"/>
                  <a:pt x="6636942" y="2053011"/>
                </a:cubicBezTo>
                <a:cubicBezTo>
                  <a:pt x="6636942" y="2136171"/>
                  <a:pt x="6635671" y="2219330"/>
                  <a:pt x="6636942" y="2302488"/>
                </a:cubicBezTo>
                <a:cubicBezTo>
                  <a:pt x="6635671" y="2485894"/>
                  <a:pt x="6639481" y="2608924"/>
                  <a:pt x="6639481" y="2793469"/>
                </a:cubicBezTo>
                <a:lnTo>
                  <a:pt x="6634402" y="2798025"/>
                </a:lnTo>
                <a:cubicBezTo>
                  <a:pt x="6652181" y="3107878"/>
                  <a:pt x="6619162" y="3448489"/>
                  <a:pt x="6638212" y="3770872"/>
                </a:cubicBezTo>
                <a:lnTo>
                  <a:pt x="6631862" y="3748089"/>
                </a:lnTo>
                <a:cubicBezTo>
                  <a:pt x="6642021" y="3798213"/>
                  <a:pt x="6628052" y="3942886"/>
                  <a:pt x="6644562" y="3924660"/>
                </a:cubicBezTo>
                <a:lnTo>
                  <a:pt x="6639481" y="3981618"/>
                </a:lnTo>
                <a:cubicBezTo>
                  <a:pt x="6661071" y="4200338"/>
                  <a:pt x="6629321" y="4380326"/>
                  <a:pt x="6643292" y="4649169"/>
                </a:cubicBezTo>
                <a:lnTo>
                  <a:pt x="6639481" y="4632081"/>
                </a:lnTo>
                <a:cubicBezTo>
                  <a:pt x="6642021" y="4703849"/>
                  <a:pt x="6644562" y="4787008"/>
                  <a:pt x="6640752" y="4839409"/>
                </a:cubicBezTo>
                <a:cubicBezTo>
                  <a:pt x="6640752" y="4831435"/>
                  <a:pt x="6639481" y="4834853"/>
                  <a:pt x="6638212" y="4817765"/>
                </a:cubicBezTo>
                <a:cubicBezTo>
                  <a:pt x="6622971" y="5058148"/>
                  <a:pt x="6639481" y="5336279"/>
                  <a:pt x="6639481" y="5600439"/>
                </a:cubicBezTo>
                <a:lnTo>
                  <a:pt x="6631862" y="5569959"/>
                </a:lnTo>
                <a:cubicBezTo>
                  <a:pt x="6634402" y="5608059"/>
                  <a:pt x="6635671" y="5657589"/>
                  <a:pt x="6635671" y="5710929"/>
                </a:cubicBezTo>
                <a:lnTo>
                  <a:pt x="6635671" y="5872218"/>
                </a:lnTo>
                <a:cubicBezTo>
                  <a:pt x="6631862" y="5872218"/>
                  <a:pt x="6629321" y="5870948"/>
                  <a:pt x="6624242" y="5870948"/>
                </a:cubicBezTo>
                <a:lnTo>
                  <a:pt x="6621702" y="5872218"/>
                </a:lnTo>
                <a:lnTo>
                  <a:pt x="6610271" y="5877298"/>
                </a:lnTo>
                <a:lnTo>
                  <a:pt x="6602652" y="5877298"/>
                </a:lnTo>
                <a:cubicBezTo>
                  <a:pt x="6582331" y="5872218"/>
                  <a:pt x="6586142" y="5874759"/>
                  <a:pt x="6577252" y="5869679"/>
                </a:cubicBezTo>
                <a:cubicBezTo>
                  <a:pt x="6473111" y="5868409"/>
                  <a:pt x="6459141" y="5858248"/>
                  <a:pt x="6385481" y="5853168"/>
                </a:cubicBezTo>
                <a:cubicBezTo>
                  <a:pt x="6385481" y="5853168"/>
                  <a:pt x="6386751" y="5853168"/>
                  <a:pt x="6385481" y="5854439"/>
                </a:cubicBezTo>
                <a:cubicBezTo>
                  <a:pt x="6334681" y="5863329"/>
                  <a:pt x="6264831" y="5858248"/>
                  <a:pt x="6224191" y="5856979"/>
                </a:cubicBezTo>
                <a:lnTo>
                  <a:pt x="6207681" y="5853168"/>
                </a:lnTo>
                <a:cubicBezTo>
                  <a:pt x="6183551" y="5844279"/>
                  <a:pt x="6089571" y="5869679"/>
                  <a:pt x="6121321" y="5855709"/>
                </a:cubicBezTo>
                <a:cubicBezTo>
                  <a:pt x="5910501" y="5859518"/>
                  <a:pt x="5669201" y="5859518"/>
                  <a:pt x="5416997" y="5859518"/>
                </a:cubicBezTo>
                <a:cubicBezTo>
                  <a:pt x="5381398" y="5865868"/>
                  <a:pt x="5222574" y="5859518"/>
                  <a:pt x="5278710" y="5869679"/>
                </a:cubicBezTo>
                <a:cubicBezTo>
                  <a:pt x="5215728" y="5856979"/>
                  <a:pt x="5026782" y="5854439"/>
                  <a:pt x="4956954" y="5854439"/>
                </a:cubicBezTo>
                <a:cubicBezTo>
                  <a:pt x="4959693" y="5853168"/>
                  <a:pt x="4962431" y="5851898"/>
                  <a:pt x="4973385" y="5851898"/>
                </a:cubicBezTo>
                <a:cubicBezTo>
                  <a:pt x="4837837" y="5835389"/>
                  <a:pt x="4811822" y="5867139"/>
                  <a:pt x="4684489" y="5846818"/>
                </a:cubicBezTo>
                <a:cubicBezTo>
                  <a:pt x="4663952" y="5860789"/>
                  <a:pt x="4453100" y="5843009"/>
                  <a:pt x="4380533" y="5858248"/>
                </a:cubicBezTo>
                <a:cubicBezTo>
                  <a:pt x="4365473" y="5855709"/>
                  <a:pt x="4359996" y="5851898"/>
                  <a:pt x="4365473" y="5850629"/>
                </a:cubicBezTo>
                <a:cubicBezTo>
                  <a:pt x="4135452" y="5848089"/>
                  <a:pt x="3882155" y="5846818"/>
                  <a:pt x="3689101" y="5844279"/>
                </a:cubicBezTo>
                <a:cubicBezTo>
                  <a:pt x="3523432" y="5856979"/>
                  <a:pt x="3287934" y="5839198"/>
                  <a:pt x="3144171" y="5855709"/>
                </a:cubicBezTo>
                <a:cubicBezTo>
                  <a:pt x="3026422" y="5851898"/>
                  <a:pt x="2834738" y="5845548"/>
                  <a:pt x="2670437" y="5851898"/>
                </a:cubicBezTo>
                <a:lnTo>
                  <a:pt x="2686868" y="5849359"/>
                </a:lnTo>
                <a:cubicBezTo>
                  <a:pt x="2500660" y="5850629"/>
                  <a:pt x="2267901" y="5850629"/>
                  <a:pt x="2140568" y="5862059"/>
                </a:cubicBezTo>
                <a:cubicBezTo>
                  <a:pt x="2085801" y="5845548"/>
                  <a:pt x="2005020" y="5849359"/>
                  <a:pt x="1924239" y="5844279"/>
                </a:cubicBezTo>
                <a:cubicBezTo>
                  <a:pt x="1799644" y="5851898"/>
                  <a:pt x="1549086" y="5849359"/>
                  <a:pt x="1358771" y="5856979"/>
                </a:cubicBezTo>
                <a:cubicBezTo>
                  <a:pt x="1330018" y="5849359"/>
                  <a:pt x="1202685" y="5860789"/>
                  <a:pt x="1193101" y="5849359"/>
                </a:cubicBezTo>
                <a:cubicBezTo>
                  <a:pt x="1004570" y="5856979"/>
                  <a:pt x="814070" y="5860789"/>
                  <a:pt x="617220" y="5862059"/>
                </a:cubicBezTo>
                <a:lnTo>
                  <a:pt x="318770" y="5862059"/>
                </a:lnTo>
                <a:lnTo>
                  <a:pt x="168910" y="5860789"/>
                </a:lnTo>
                <a:lnTo>
                  <a:pt x="93980" y="5859518"/>
                </a:lnTo>
                <a:lnTo>
                  <a:pt x="58420" y="5859518"/>
                </a:lnTo>
                <a:lnTo>
                  <a:pt x="45720" y="5858248"/>
                </a:lnTo>
                <a:lnTo>
                  <a:pt x="48260" y="5858248"/>
                </a:lnTo>
                <a:cubicBezTo>
                  <a:pt x="52070" y="5716009"/>
                  <a:pt x="55880" y="5576309"/>
                  <a:pt x="58420" y="5441689"/>
                </a:cubicBezTo>
                <a:cubicBezTo>
                  <a:pt x="55880" y="5417559"/>
                  <a:pt x="53340" y="5393429"/>
                  <a:pt x="49530" y="5368029"/>
                </a:cubicBezTo>
                <a:cubicBezTo>
                  <a:pt x="46990" y="5202929"/>
                  <a:pt x="45720" y="5020048"/>
                  <a:pt x="45720" y="4842827"/>
                </a:cubicBezTo>
                <a:cubicBezTo>
                  <a:pt x="46990" y="4805235"/>
                  <a:pt x="48260" y="4766503"/>
                  <a:pt x="45720" y="4726632"/>
                </a:cubicBezTo>
                <a:lnTo>
                  <a:pt x="45720" y="4701571"/>
                </a:lnTo>
                <a:lnTo>
                  <a:pt x="48260" y="4695875"/>
                </a:lnTo>
                <a:lnTo>
                  <a:pt x="49530" y="4634360"/>
                </a:lnTo>
                <a:cubicBezTo>
                  <a:pt x="50800" y="4635499"/>
                  <a:pt x="53340" y="4635499"/>
                  <a:pt x="54610" y="4640056"/>
                </a:cubicBezTo>
                <a:lnTo>
                  <a:pt x="54610" y="4652587"/>
                </a:lnTo>
                <a:lnTo>
                  <a:pt x="54610" y="4641195"/>
                </a:lnTo>
                <a:cubicBezTo>
                  <a:pt x="55880" y="4644612"/>
                  <a:pt x="57150" y="4649169"/>
                  <a:pt x="57150" y="4656004"/>
                </a:cubicBezTo>
                <a:lnTo>
                  <a:pt x="57150" y="4334759"/>
                </a:lnTo>
                <a:cubicBezTo>
                  <a:pt x="58420" y="4337038"/>
                  <a:pt x="59690" y="4339316"/>
                  <a:pt x="58420" y="4347290"/>
                </a:cubicBezTo>
                <a:cubicBezTo>
                  <a:pt x="69850" y="4265270"/>
                  <a:pt x="57150" y="4231095"/>
                  <a:pt x="57150" y="4178694"/>
                </a:cubicBezTo>
                <a:lnTo>
                  <a:pt x="57150" y="4168441"/>
                </a:lnTo>
                <a:cubicBezTo>
                  <a:pt x="57150" y="4150215"/>
                  <a:pt x="59690" y="4130849"/>
                  <a:pt x="63500" y="4105787"/>
                </a:cubicBezTo>
                <a:cubicBezTo>
                  <a:pt x="50800" y="4090978"/>
                  <a:pt x="64770" y="3938330"/>
                  <a:pt x="54610" y="3867701"/>
                </a:cubicBezTo>
                <a:lnTo>
                  <a:pt x="54610" y="3842640"/>
                </a:lnTo>
                <a:cubicBezTo>
                  <a:pt x="57150" y="3838083"/>
                  <a:pt x="58420" y="3835805"/>
                  <a:pt x="59690" y="3839222"/>
                </a:cubicBezTo>
                <a:cubicBezTo>
                  <a:pt x="62230" y="3647843"/>
                  <a:pt x="63500" y="3435958"/>
                  <a:pt x="66040" y="3273057"/>
                </a:cubicBezTo>
                <a:cubicBezTo>
                  <a:pt x="53340" y="3134079"/>
                  <a:pt x="71120" y="2937003"/>
                  <a:pt x="54610" y="2818530"/>
                </a:cubicBezTo>
                <a:cubicBezTo>
                  <a:pt x="58420" y="2719423"/>
                  <a:pt x="64770" y="2559940"/>
                  <a:pt x="58420" y="2422101"/>
                </a:cubicBezTo>
                <a:lnTo>
                  <a:pt x="60960" y="2435771"/>
                </a:lnTo>
                <a:cubicBezTo>
                  <a:pt x="59690" y="2279705"/>
                  <a:pt x="59690" y="2086047"/>
                  <a:pt x="48260" y="1978966"/>
                </a:cubicBezTo>
                <a:cubicBezTo>
                  <a:pt x="64770" y="1933399"/>
                  <a:pt x="60960" y="1866188"/>
                  <a:pt x="66040" y="1798978"/>
                </a:cubicBezTo>
                <a:cubicBezTo>
                  <a:pt x="58420" y="1695313"/>
                  <a:pt x="60960" y="1485707"/>
                  <a:pt x="53340" y="1327363"/>
                </a:cubicBezTo>
                <a:cubicBezTo>
                  <a:pt x="60960" y="1303441"/>
                  <a:pt x="50800" y="1196359"/>
                  <a:pt x="60960" y="1188385"/>
                </a:cubicBezTo>
                <a:cubicBezTo>
                  <a:pt x="53340" y="1028700"/>
                  <a:pt x="49530" y="836930"/>
                  <a:pt x="48260" y="638810"/>
                </a:cubicBezTo>
                <a:lnTo>
                  <a:pt x="48260" y="339090"/>
                </a:lnTo>
                <a:lnTo>
                  <a:pt x="49530" y="189230"/>
                </a:lnTo>
                <a:lnTo>
                  <a:pt x="50800" y="114300"/>
                </a:lnTo>
                <a:lnTo>
                  <a:pt x="50800" y="78740"/>
                </a:lnTo>
                <a:lnTo>
                  <a:pt x="52070" y="66040"/>
                </a:lnTo>
                <a:lnTo>
                  <a:pt x="64770" y="66040"/>
                </a:lnTo>
                <a:cubicBezTo>
                  <a:pt x="210820" y="69850"/>
                  <a:pt x="354330" y="73660"/>
                  <a:pt x="492760" y="77470"/>
                </a:cubicBezTo>
                <a:cubicBezTo>
                  <a:pt x="558800" y="71120"/>
                  <a:pt x="633730" y="58420"/>
                  <a:pt x="701040" y="50800"/>
                </a:cubicBezTo>
                <a:cubicBezTo>
                  <a:pt x="707390" y="52070"/>
                  <a:pt x="707390" y="53340"/>
                  <a:pt x="692150" y="53340"/>
                </a:cubicBezTo>
                <a:cubicBezTo>
                  <a:pt x="788670" y="50800"/>
                  <a:pt x="877570" y="62230"/>
                  <a:pt x="974090" y="59690"/>
                </a:cubicBezTo>
                <a:cubicBezTo>
                  <a:pt x="972820" y="60960"/>
                  <a:pt x="972820" y="60960"/>
                  <a:pt x="957580" y="63500"/>
                </a:cubicBezTo>
                <a:cubicBezTo>
                  <a:pt x="1049338" y="58420"/>
                  <a:pt x="1152026" y="72390"/>
                  <a:pt x="1267036" y="63500"/>
                </a:cubicBezTo>
                <a:lnTo>
                  <a:pt x="1273882" y="66040"/>
                </a:lnTo>
                <a:lnTo>
                  <a:pt x="1346448" y="62230"/>
                </a:lnTo>
                <a:cubicBezTo>
                  <a:pt x="1345079" y="64770"/>
                  <a:pt x="1342341" y="69850"/>
                  <a:pt x="1320434" y="69850"/>
                </a:cubicBezTo>
                <a:cubicBezTo>
                  <a:pt x="2204919" y="73660"/>
                  <a:pt x="3116788" y="55880"/>
                  <a:pt x="4024549" y="58420"/>
                </a:cubicBezTo>
                <a:lnTo>
                  <a:pt x="3990319" y="62230"/>
                </a:lnTo>
                <a:lnTo>
                  <a:pt x="4166942" y="55880"/>
                </a:lnTo>
                <a:cubicBezTo>
                  <a:pt x="4165573" y="57150"/>
                  <a:pt x="4157358" y="58420"/>
                  <a:pt x="4149143" y="59690"/>
                </a:cubicBezTo>
                <a:cubicBezTo>
                  <a:pt x="4375057" y="66040"/>
                  <a:pt x="4609185" y="55880"/>
                  <a:pt x="4828253" y="57150"/>
                </a:cubicBezTo>
                <a:cubicBezTo>
                  <a:pt x="4826883" y="58420"/>
                  <a:pt x="4794023" y="62230"/>
                  <a:pt x="4824145" y="64770"/>
                </a:cubicBezTo>
                <a:cubicBezTo>
                  <a:pt x="4987077" y="54610"/>
                  <a:pt x="5085657" y="77470"/>
                  <a:pt x="5166438" y="57150"/>
                </a:cubicBezTo>
                <a:cubicBezTo>
                  <a:pt x="5174653" y="58420"/>
                  <a:pt x="5178761" y="62230"/>
                  <a:pt x="5162330" y="64770"/>
                </a:cubicBezTo>
                <a:cubicBezTo>
                  <a:pt x="5615526" y="58420"/>
                  <a:pt x="6048931" y="58420"/>
                  <a:pt x="6471841" y="62230"/>
                </a:cubicBezTo>
                <a:cubicBezTo>
                  <a:pt x="6520102" y="59690"/>
                  <a:pt x="6570902" y="58420"/>
                  <a:pt x="6621702" y="55880"/>
                </a:cubicBezTo>
                <a:lnTo>
                  <a:pt x="6621702" y="20320"/>
                </a:lnTo>
                <a:cubicBezTo>
                  <a:pt x="6343571" y="19050"/>
                  <a:pt x="6064171" y="19050"/>
                  <a:pt x="5784771" y="17780"/>
                </a:cubicBezTo>
                <a:cubicBezTo>
                  <a:pt x="4835098" y="12700"/>
                  <a:pt x="3994427" y="0"/>
                  <a:pt x="3059282" y="24130"/>
                </a:cubicBezTo>
                <a:cubicBezTo>
                  <a:pt x="3060652" y="22860"/>
                  <a:pt x="3052436" y="21590"/>
                  <a:pt x="3077082" y="20320"/>
                </a:cubicBezTo>
                <a:cubicBezTo>
                  <a:pt x="2807355" y="24130"/>
                  <a:pt x="2562273" y="17780"/>
                  <a:pt x="2307607" y="21590"/>
                </a:cubicBezTo>
                <a:lnTo>
                  <a:pt x="2308976" y="20320"/>
                </a:lnTo>
                <a:cubicBezTo>
                  <a:pt x="1681895" y="34290"/>
                  <a:pt x="1002030" y="17780"/>
                  <a:pt x="438150" y="33020"/>
                </a:cubicBezTo>
                <a:lnTo>
                  <a:pt x="19050" y="33020"/>
                </a:lnTo>
                <a:lnTo>
                  <a:pt x="19050" y="78740"/>
                </a:lnTo>
                <a:cubicBezTo>
                  <a:pt x="19050" y="213360"/>
                  <a:pt x="20320" y="350520"/>
                  <a:pt x="20320" y="488950"/>
                </a:cubicBezTo>
                <a:cubicBezTo>
                  <a:pt x="7620" y="951230"/>
                  <a:pt x="11430" y="1369512"/>
                  <a:pt x="20320" y="1781890"/>
                </a:cubicBezTo>
                <a:cubicBezTo>
                  <a:pt x="26670" y="2291097"/>
                  <a:pt x="8890" y="2784355"/>
                  <a:pt x="13970" y="3292423"/>
                </a:cubicBezTo>
                <a:cubicBezTo>
                  <a:pt x="7620" y="3680879"/>
                  <a:pt x="21590" y="4084143"/>
                  <a:pt x="25400" y="4483990"/>
                </a:cubicBezTo>
                <a:cubicBezTo>
                  <a:pt x="20320" y="4633220"/>
                  <a:pt x="13970" y="4787008"/>
                  <a:pt x="15240" y="4946389"/>
                </a:cubicBezTo>
                <a:lnTo>
                  <a:pt x="19050" y="4933689"/>
                </a:lnTo>
                <a:cubicBezTo>
                  <a:pt x="13970" y="4983218"/>
                  <a:pt x="15240" y="5037829"/>
                  <a:pt x="19050" y="5089898"/>
                </a:cubicBezTo>
                <a:cubicBezTo>
                  <a:pt x="17780" y="5150859"/>
                  <a:pt x="17780" y="5213089"/>
                  <a:pt x="19050" y="5275318"/>
                </a:cubicBezTo>
                <a:cubicBezTo>
                  <a:pt x="19050" y="5276589"/>
                  <a:pt x="19050" y="5279129"/>
                  <a:pt x="17780" y="5280398"/>
                </a:cubicBezTo>
                <a:lnTo>
                  <a:pt x="16510" y="5267698"/>
                </a:lnTo>
                <a:cubicBezTo>
                  <a:pt x="12700" y="5291829"/>
                  <a:pt x="15240" y="5319768"/>
                  <a:pt x="19050" y="5347709"/>
                </a:cubicBezTo>
                <a:cubicBezTo>
                  <a:pt x="19050" y="5371839"/>
                  <a:pt x="20320" y="5394699"/>
                  <a:pt x="20320" y="5418829"/>
                </a:cubicBezTo>
                <a:lnTo>
                  <a:pt x="24130" y="5614409"/>
                </a:lnTo>
                <a:cubicBezTo>
                  <a:pt x="21590" y="5663939"/>
                  <a:pt x="34290" y="5787129"/>
                  <a:pt x="15240" y="5790939"/>
                </a:cubicBezTo>
                <a:cubicBezTo>
                  <a:pt x="15240" y="5747759"/>
                  <a:pt x="6350" y="5858248"/>
                  <a:pt x="1270" y="5761729"/>
                </a:cubicBezTo>
                <a:cubicBezTo>
                  <a:pt x="0" y="5773159"/>
                  <a:pt x="0" y="5801098"/>
                  <a:pt x="0" y="5830309"/>
                </a:cubicBezTo>
                <a:cubicBezTo>
                  <a:pt x="0" y="5839198"/>
                  <a:pt x="1270" y="5848089"/>
                  <a:pt x="1270" y="5855709"/>
                </a:cubicBezTo>
                <a:cubicBezTo>
                  <a:pt x="2540" y="5873489"/>
                  <a:pt x="5080" y="5886189"/>
                  <a:pt x="7620" y="5882379"/>
                </a:cubicBezTo>
                <a:cubicBezTo>
                  <a:pt x="17780" y="5892539"/>
                  <a:pt x="25400" y="5936989"/>
                  <a:pt x="33020" y="5876029"/>
                </a:cubicBezTo>
                <a:lnTo>
                  <a:pt x="60960" y="5876029"/>
                </a:lnTo>
                <a:cubicBezTo>
                  <a:pt x="91440" y="5876029"/>
                  <a:pt x="121920" y="5876029"/>
                  <a:pt x="152400" y="5877298"/>
                </a:cubicBezTo>
                <a:cubicBezTo>
                  <a:pt x="194310" y="5878568"/>
                  <a:pt x="234950" y="5879839"/>
                  <a:pt x="273050" y="5881109"/>
                </a:cubicBezTo>
                <a:cubicBezTo>
                  <a:pt x="991870" y="5907779"/>
                  <a:pt x="1739401" y="5891268"/>
                  <a:pt x="2514352" y="5874759"/>
                </a:cubicBezTo>
                <a:cubicBezTo>
                  <a:pt x="3171554" y="5883648"/>
                  <a:pt x="3828757" y="5863329"/>
                  <a:pt x="4468160" y="5876029"/>
                </a:cubicBezTo>
                <a:cubicBezTo>
                  <a:pt x="4114914" y="5878568"/>
                  <a:pt x="3765775" y="5883648"/>
                  <a:pt x="3401575" y="5887459"/>
                </a:cubicBezTo>
                <a:cubicBezTo>
                  <a:pt x="3409790" y="5886189"/>
                  <a:pt x="3413898" y="5884918"/>
                  <a:pt x="3422113" y="5883648"/>
                </a:cubicBezTo>
                <a:cubicBezTo>
                  <a:pt x="3394730" y="5886189"/>
                  <a:pt x="3364607" y="5889998"/>
                  <a:pt x="3333117" y="5888729"/>
                </a:cubicBezTo>
                <a:cubicBezTo>
                  <a:pt x="3324902" y="5887459"/>
                  <a:pt x="3341332" y="5886189"/>
                  <a:pt x="3352285" y="5884918"/>
                </a:cubicBezTo>
                <a:cubicBezTo>
                  <a:pt x="3231798" y="5874759"/>
                  <a:pt x="3000408" y="5891268"/>
                  <a:pt x="2925104" y="5883648"/>
                </a:cubicBezTo>
                <a:cubicBezTo>
                  <a:pt x="2890874" y="5884918"/>
                  <a:pt x="2875813" y="5888729"/>
                  <a:pt x="2894982" y="5892539"/>
                </a:cubicBezTo>
                <a:cubicBezTo>
                  <a:pt x="2451370" y="5895079"/>
                  <a:pt x="1976267" y="5897618"/>
                  <a:pt x="1523071" y="5905239"/>
                </a:cubicBezTo>
                <a:cubicBezTo>
                  <a:pt x="1501165" y="5903968"/>
                  <a:pt x="1497057" y="5901429"/>
                  <a:pt x="1503903" y="5897618"/>
                </a:cubicBezTo>
                <a:cubicBezTo>
                  <a:pt x="1117796" y="5914129"/>
                  <a:pt x="735330" y="5907779"/>
                  <a:pt x="368300" y="5905239"/>
                </a:cubicBezTo>
                <a:cubicBezTo>
                  <a:pt x="354330" y="5909048"/>
                  <a:pt x="405130" y="5910318"/>
                  <a:pt x="369570" y="5914129"/>
                </a:cubicBezTo>
                <a:cubicBezTo>
                  <a:pt x="487680" y="5919209"/>
                  <a:pt x="585470" y="5903968"/>
                  <a:pt x="692150" y="5911589"/>
                </a:cubicBezTo>
                <a:lnTo>
                  <a:pt x="678180" y="5915398"/>
                </a:lnTo>
                <a:cubicBezTo>
                  <a:pt x="755650" y="5917939"/>
                  <a:pt x="693420" y="5905239"/>
                  <a:pt x="774700" y="5910318"/>
                </a:cubicBezTo>
                <a:cubicBezTo>
                  <a:pt x="806450" y="5914129"/>
                  <a:pt x="767080" y="5915398"/>
                  <a:pt x="781050" y="5916668"/>
                </a:cubicBezTo>
                <a:cubicBezTo>
                  <a:pt x="946150" y="5915398"/>
                  <a:pt x="1126012" y="5919209"/>
                  <a:pt x="1294420" y="5909048"/>
                </a:cubicBezTo>
                <a:cubicBezTo>
                  <a:pt x="1335495" y="5917939"/>
                  <a:pt x="1486104" y="5909048"/>
                  <a:pt x="1551824" y="5917939"/>
                </a:cubicBezTo>
                <a:cubicBezTo>
                  <a:pt x="1598376" y="5914129"/>
                  <a:pt x="1643558" y="5915398"/>
                  <a:pt x="1661358" y="5909048"/>
                </a:cubicBezTo>
                <a:cubicBezTo>
                  <a:pt x="2285700" y="5914129"/>
                  <a:pt x="2923734" y="5905239"/>
                  <a:pt x="3563138" y="5905239"/>
                </a:cubicBezTo>
                <a:cubicBezTo>
                  <a:pt x="3862986" y="5887459"/>
                  <a:pt x="4220340" y="5909048"/>
                  <a:pt x="4576325" y="5902698"/>
                </a:cubicBezTo>
                <a:cubicBezTo>
                  <a:pt x="4579063" y="5902698"/>
                  <a:pt x="4577694" y="5903968"/>
                  <a:pt x="4576325" y="5903968"/>
                </a:cubicBezTo>
                <a:cubicBezTo>
                  <a:pt x="4692705" y="5900159"/>
                  <a:pt x="4861113" y="5897618"/>
                  <a:pt x="4999399" y="5900159"/>
                </a:cubicBezTo>
                <a:lnTo>
                  <a:pt x="5117148" y="5892539"/>
                </a:lnTo>
                <a:cubicBezTo>
                  <a:pt x="5381398" y="5897618"/>
                  <a:pt x="5648386" y="5900159"/>
                  <a:pt x="5896531" y="5900159"/>
                </a:cubicBezTo>
                <a:lnTo>
                  <a:pt x="6535341" y="5900159"/>
                </a:lnTo>
                <a:cubicBezTo>
                  <a:pt x="6531531" y="5901429"/>
                  <a:pt x="6520102" y="5902698"/>
                  <a:pt x="6495971" y="5903968"/>
                </a:cubicBezTo>
                <a:cubicBezTo>
                  <a:pt x="6515021" y="5905239"/>
                  <a:pt x="6587412" y="5905239"/>
                  <a:pt x="6622971" y="5901429"/>
                </a:cubicBezTo>
                <a:cubicBezTo>
                  <a:pt x="6628052" y="5901429"/>
                  <a:pt x="6633131" y="5900159"/>
                  <a:pt x="6636941" y="5900159"/>
                </a:cubicBezTo>
                <a:lnTo>
                  <a:pt x="6662341" y="5900159"/>
                </a:lnTo>
                <a:lnTo>
                  <a:pt x="6662341" y="5884918"/>
                </a:lnTo>
                <a:cubicBezTo>
                  <a:pt x="6669962" y="5881109"/>
                  <a:pt x="6655991" y="5882379"/>
                  <a:pt x="6662341" y="5874759"/>
                </a:cubicBezTo>
                <a:lnTo>
                  <a:pt x="6662341" y="5568689"/>
                </a:lnTo>
                <a:cubicBezTo>
                  <a:pt x="6667421" y="5587739"/>
                  <a:pt x="6659802" y="5651239"/>
                  <a:pt x="6668691" y="5642348"/>
                </a:cubicBezTo>
                <a:cubicBezTo>
                  <a:pt x="6672502" y="5597898"/>
                  <a:pt x="6666152" y="5578848"/>
                  <a:pt x="6662341" y="5568689"/>
                </a:cubicBezTo>
                <a:cubicBezTo>
                  <a:pt x="6662341" y="5387079"/>
                  <a:pt x="6663612" y="5204198"/>
                  <a:pt x="6663612" y="5022589"/>
                </a:cubicBezTo>
                <a:cubicBezTo>
                  <a:pt x="6664881" y="4907018"/>
                  <a:pt x="6664881" y="4802956"/>
                  <a:pt x="6666152" y="4701571"/>
                </a:cubicBezTo>
                <a:cubicBezTo>
                  <a:pt x="6672502" y="4961629"/>
                  <a:pt x="6667421" y="5249918"/>
                  <a:pt x="6666152" y="5533129"/>
                </a:cubicBezTo>
                <a:cubicBezTo>
                  <a:pt x="6669962" y="5547098"/>
                  <a:pt x="6671231" y="5496298"/>
                  <a:pt x="6675041" y="5531859"/>
                </a:cubicBezTo>
                <a:cubicBezTo>
                  <a:pt x="6680121" y="5413748"/>
                  <a:pt x="6664881" y="5315959"/>
                  <a:pt x="6672502" y="5209279"/>
                </a:cubicBezTo>
                <a:lnTo>
                  <a:pt x="6676312" y="5223248"/>
                </a:lnTo>
                <a:cubicBezTo>
                  <a:pt x="6678852" y="5145779"/>
                  <a:pt x="6666152" y="5208009"/>
                  <a:pt x="6671231" y="5126729"/>
                </a:cubicBezTo>
                <a:cubicBezTo>
                  <a:pt x="6676312" y="5097518"/>
                  <a:pt x="6677581" y="5138159"/>
                  <a:pt x="6678852" y="5122918"/>
                </a:cubicBezTo>
                <a:close/>
                <a:moveTo>
                  <a:pt x="6206411" y="5873489"/>
                </a:moveTo>
                <a:lnTo>
                  <a:pt x="6234351" y="5873489"/>
                </a:lnTo>
                <a:cubicBezTo>
                  <a:pt x="6228001" y="5872218"/>
                  <a:pt x="6219111" y="5872218"/>
                  <a:pt x="6206411" y="587348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4864790" y="2183332"/>
            <a:ext cx="4824571" cy="578949"/>
          </a:xfrm>
          <a:custGeom>
            <a:rect b="b" l="l" r="r" t="t"/>
            <a:pathLst>
              <a:path extrusionOk="0" h="578949" w="4824571">
                <a:moveTo>
                  <a:pt x="0" y="0"/>
                </a:moveTo>
                <a:lnTo>
                  <a:pt x="4824572" y="0"/>
                </a:lnTo>
                <a:lnTo>
                  <a:pt x="4824572" y="578948"/>
                </a:lnTo>
                <a:lnTo>
                  <a:pt x="0" y="578948"/>
                </a:lnTo>
                <a:lnTo>
                  <a:pt x="0" y="0"/>
                </a:lnTo>
                <a:close/>
              </a:path>
            </a:pathLst>
          </a:custGeom>
          <a:blipFill rotWithShape="1">
            <a:blip r:embed="rId5">
              <a:alphaModFix amt="52000"/>
            </a:blip>
            <a:stretch>
              <a:fillRect b="0" l="0" r="0" t="0"/>
            </a:stretch>
          </a:blipFill>
          <a:ln>
            <a:noFill/>
          </a:ln>
        </p:spPr>
      </p:sp>
      <p:sp>
        <p:nvSpPr>
          <p:cNvPr id="282" name="Google Shape;282;p10"/>
          <p:cNvSpPr/>
          <p:nvPr/>
        </p:nvSpPr>
        <p:spPr>
          <a:xfrm>
            <a:off x="1131567" y="3643056"/>
            <a:ext cx="3409782" cy="639334"/>
          </a:xfrm>
          <a:custGeom>
            <a:rect b="b" l="l" r="r" t="t"/>
            <a:pathLst>
              <a:path extrusionOk="0" h="639334" w="3409782">
                <a:moveTo>
                  <a:pt x="0" y="0"/>
                </a:moveTo>
                <a:lnTo>
                  <a:pt x="3409782" y="0"/>
                </a:lnTo>
                <a:lnTo>
                  <a:pt x="3409782" y="639334"/>
                </a:lnTo>
                <a:lnTo>
                  <a:pt x="0" y="639334"/>
                </a:lnTo>
                <a:lnTo>
                  <a:pt x="0" y="0"/>
                </a:lnTo>
                <a:close/>
              </a:path>
            </a:pathLst>
          </a:custGeom>
          <a:blipFill rotWithShape="1">
            <a:blip r:embed="rId6">
              <a:alphaModFix amt="57000"/>
            </a:blip>
            <a:stretch>
              <a:fillRect b="0" l="0" r="0" t="0"/>
            </a:stretch>
          </a:blipFill>
          <a:ln>
            <a:noFill/>
          </a:ln>
        </p:spPr>
      </p:sp>
      <p:sp>
        <p:nvSpPr>
          <p:cNvPr id="283" name="Google Shape;283;p10"/>
          <p:cNvSpPr/>
          <p:nvPr/>
        </p:nvSpPr>
        <p:spPr>
          <a:xfrm>
            <a:off x="6466943" y="3643720"/>
            <a:ext cx="3409782" cy="639334"/>
          </a:xfrm>
          <a:custGeom>
            <a:rect b="b" l="l" r="r" t="t"/>
            <a:pathLst>
              <a:path extrusionOk="0" h="639334" w="3409782">
                <a:moveTo>
                  <a:pt x="0" y="0"/>
                </a:moveTo>
                <a:lnTo>
                  <a:pt x="3409782" y="0"/>
                </a:lnTo>
                <a:lnTo>
                  <a:pt x="3409782" y="639334"/>
                </a:lnTo>
                <a:lnTo>
                  <a:pt x="0" y="639334"/>
                </a:lnTo>
                <a:lnTo>
                  <a:pt x="0" y="0"/>
                </a:lnTo>
                <a:close/>
              </a:path>
            </a:pathLst>
          </a:custGeom>
          <a:blipFill rotWithShape="1">
            <a:blip r:embed="rId7">
              <a:alphaModFix amt="57000"/>
            </a:blip>
            <a:stretch>
              <a:fillRect b="0" l="0" r="0" t="0"/>
            </a:stretch>
          </a:blipFill>
          <a:ln>
            <a:noFill/>
          </a:ln>
        </p:spPr>
      </p:sp>
      <p:sp>
        <p:nvSpPr>
          <p:cNvPr id="284" name="Google Shape;284;p10"/>
          <p:cNvSpPr/>
          <p:nvPr/>
        </p:nvSpPr>
        <p:spPr>
          <a:xfrm>
            <a:off x="12745261" y="3669033"/>
            <a:ext cx="3409782" cy="639334"/>
          </a:xfrm>
          <a:custGeom>
            <a:rect b="b" l="l" r="r" t="t"/>
            <a:pathLst>
              <a:path extrusionOk="0" h="639334" w="3409782">
                <a:moveTo>
                  <a:pt x="0" y="0"/>
                </a:moveTo>
                <a:lnTo>
                  <a:pt x="3409781" y="0"/>
                </a:lnTo>
                <a:lnTo>
                  <a:pt x="3409781" y="639334"/>
                </a:lnTo>
                <a:lnTo>
                  <a:pt x="0" y="639334"/>
                </a:lnTo>
                <a:lnTo>
                  <a:pt x="0" y="0"/>
                </a:lnTo>
                <a:close/>
              </a:path>
            </a:pathLst>
          </a:custGeom>
          <a:blipFill rotWithShape="1">
            <a:blip r:embed="rId8">
              <a:alphaModFix amt="57000"/>
            </a:blip>
            <a:stretch>
              <a:fillRect b="0" l="0" r="0" t="0"/>
            </a:stretch>
          </a:blipFill>
          <a:ln>
            <a:noFill/>
          </a:ln>
        </p:spPr>
      </p:sp>
      <p:sp>
        <p:nvSpPr>
          <p:cNvPr id="285" name="Google Shape;285;p10"/>
          <p:cNvSpPr txBox="1"/>
          <p:nvPr/>
        </p:nvSpPr>
        <p:spPr>
          <a:xfrm>
            <a:off x="675002" y="156375"/>
            <a:ext cx="10065300" cy="2342700"/>
          </a:xfrm>
          <a:prstGeom prst="rect">
            <a:avLst/>
          </a:prstGeom>
          <a:noFill/>
          <a:ln>
            <a:noFill/>
          </a:ln>
        </p:spPr>
        <p:txBody>
          <a:bodyPr anchorCtr="0" anchor="t" bIns="0" lIns="0" spcFirstLastPara="1" rIns="0" wrap="square" tIns="0">
            <a:spAutoFit/>
          </a:bodyPr>
          <a:lstStyle/>
          <a:p>
            <a:pPr indent="0" lvl="0" marL="0" marR="0" rtl="0" algn="l">
              <a:lnSpc>
                <a:spcPct val="81996"/>
              </a:lnSpc>
              <a:spcBef>
                <a:spcPts val="0"/>
              </a:spcBef>
              <a:spcAft>
                <a:spcPts val="0"/>
              </a:spcAft>
              <a:buNone/>
            </a:pPr>
            <a:r>
              <a:rPr b="0" i="0" lang="en-US" sz="9281" u="none" cap="none" strike="noStrike">
                <a:solidFill>
                  <a:srgbClr val="000102"/>
                </a:solidFill>
                <a:latin typeface="Arial"/>
                <a:ea typeface="Arial"/>
                <a:cs typeface="Arial"/>
                <a:sym typeface="Arial"/>
              </a:rPr>
              <a:t>Tipos de Spanning Tree Protocol</a:t>
            </a:r>
            <a:endParaRPr sz="100"/>
          </a:p>
        </p:txBody>
      </p:sp>
      <p:sp>
        <p:nvSpPr>
          <p:cNvPr id="286" name="Google Shape;286;p10"/>
          <p:cNvSpPr txBox="1"/>
          <p:nvPr/>
        </p:nvSpPr>
        <p:spPr>
          <a:xfrm>
            <a:off x="1442343" y="3717571"/>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Tipo</a:t>
            </a:r>
            <a:endParaRPr/>
          </a:p>
        </p:txBody>
      </p:sp>
      <p:sp>
        <p:nvSpPr>
          <p:cNvPr id="287" name="Google Shape;287;p10"/>
          <p:cNvSpPr txBox="1"/>
          <p:nvPr/>
        </p:nvSpPr>
        <p:spPr>
          <a:xfrm>
            <a:off x="6634845" y="3742170"/>
            <a:ext cx="3095648"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Estándar IEEE</a:t>
            </a:r>
            <a:endParaRPr/>
          </a:p>
        </p:txBody>
      </p:sp>
      <p:sp>
        <p:nvSpPr>
          <p:cNvPr id="288" name="Google Shape;288;p10"/>
          <p:cNvSpPr txBox="1"/>
          <p:nvPr/>
        </p:nvSpPr>
        <p:spPr>
          <a:xfrm>
            <a:off x="13021528" y="3742885"/>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Descripción</a:t>
            </a:r>
            <a:endParaRPr/>
          </a:p>
        </p:txBody>
      </p:sp>
      <p:sp>
        <p:nvSpPr>
          <p:cNvPr id="289" name="Google Shape;289;p10"/>
          <p:cNvSpPr txBox="1"/>
          <p:nvPr/>
        </p:nvSpPr>
        <p:spPr>
          <a:xfrm>
            <a:off x="1351987" y="4463365"/>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STP</a:t>
            </a:r>
            <a:endParaRPr/>
          </a:p>
        </p:txBody>
      </p:sp>
      <p:sp>
        <p:nvSpPr>
          <p:cNvPr id="290" name="Google Shape;290;p10"/>
          <p:cNvSpPr txBox="1"/>
          <p:nvPr/>
        </p:nvSpPr>
        <p:spPr>
          <a:xfrm>
            <a:off x="5693908" y="4463365"/>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802.1D</a:t>
            </a:r>
            <a:endParaRPr/>
          </a:p>
        </p:txBody>
      </p:sp>
      <p:sp>
        <p:nvSpPr>
          <p:cNvPr id="291" name="Google Shape;291;p10"/>
          <p:cNvSpPr txBox="1"/>
          <p:nvPr/>
        </p:nvSpPr>
        <p:spPr>
          <a:xfrm>
            <a:off x="1284444" y="6869944"/>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RSTP</a:t>
            </a:r>
            <a:endParaRPr/>
          </a:p>
        </p:txBody>
      </p:sp>
      <p:sp>
        <p:nvSpPr>
          <p:cNvPr id="292" name="Google Shape;292;p10"/>
          <p:cNvSpPr txBox="1"/>
          <p:nvPr/>
        </p:nvSpPr>
        <p:spPr>
          <a:xfrm>
            <a:off x="5626365" y="6869944"/>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802.1W</a:t>
            </a:r>
            <a:endParaRPr/>
          </a:p>
        </p:txBody>
      </p:sp>
      <p:sp>
        <p:nvSpPr>
          <p:cNvPr id="293" name="Google Shape;293;p10"/>
          <p:cNvSpPr txBox="1"/>
          <p:nvPr/>
        </p:nvSpPr>
        <p:spPr>
          <a:xfrm>
            <a:off x="1351987" y="5265558"/>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PVST</a:t>
            </a:r>
            <a:endParaRPr/>
          </a:p>
        </p:txBody>
      </p:sp>
      <p:sp>
        <p:nvSpPr>
          <p:cNvPr id="294" name="Google Shape;294;p10"/>
          <p:cNvSpPr txBox="1"/>
          <p:nvPr/>
        </p:nvSpPr>
        <p:spPr>
          <a:xfrm>
            <a:off x="5693908" y="5265558"/>
            <a:ext cx="4955853" cy="4973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920" u="none" cap="none" strike="noStrike">
                <a:solidFill>
                  <a:srgbClr val="000102"/>
                </a:solidFill>
                <a:latin typeface="Shantell Sans"/>
                <a:ea typeface="Shantell Sans"/>
                <a:cs typeface="Shantell Sans"/>
                <a:sym typeface="Shantell Sans"/>
              </a:rPr>
              <a:t>Cisco (basado en 802.1D)</a:t>
            </a:r>
            <a:endParaRPr/>
          </a:p>
        </p:txBody>
      </p:sp>
      <p:sp>
        <p:nvSpPr>
          <p:cNvPr id="295" name="Google Shape;295;p10"/>
          <p:cNvSpPr txBox="1"/>
          <p:nvPr/>
        </p:nvSpPr>
        <p:spPr>
          <a:xfrm>
            <a:off x="1284444" y="7672136"/>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MSTP</a:t>
            </a:r>
            <a:endParaRPr/>
          </a:p>
        </p:txBody>
      </p:sp>
      <p:sp>
        <p:nvSpPr>
          <p:cNvPr id="296" name="Google Shape;296;p10"/>
          <p:cNvSpPr txBox="1"/>
          <p:nvPr/>
        </p:nvSpPr>
        <p:spPr>
          <a:xfrm>
            <a:off x="5626365" y="7672136"/>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802.1S</a:t>
            </a:r>
            <a:endParaRPr/>
          </a:p>
        </p:txBody>
      </p:sp>
      <p:sp>
        <p:nvSpPr>
          <p:cNvPr id="297" name="Google Shape;297;p10"/>
          <p:cNvSpPr txBox="1"/>
          <p:nvPr/>
        </p:nvSpPr>
        <p:spPr>
          <a:xfrm>
            <a:off x="1351987" y="6067751"/>
            <a:ext cx="1445884"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PVST+</a:t>
            </a:r>
            <a:endParaRPr/>
          </a:p>
        </p:txBody>
      </p:sp>
      <p:sp>
        <p:nvSpPr>
          <p:cNvPr id="298" name="Google Shape;298;p10"/>
          <p:cNvSpPr txBox="1"/>
          <p:nvPr/>
        </p:nvSpPr>
        <p:spPr>
          <a:xfrm>
            <a:off x="5693908" y="6067751"/>
            <a:ext cx="2993708"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Cisco (mejorado)</a:t>
            </a:r>
            <a:endParaRPr/>
          </a:p>
        </p:txBody>
      </p:sp>
      <p:sp>
        <p:nvSpPr>
          <p:cNvPr id="299" name="Google Shape;299;p10"/>
          <p:cNvSpPr txBox="1"/>
          <p:nvPr/>
        </p:nvSpPr>
        <p:spPr>
          <a:xfrm>
            <a:off x="11392254" y="4491691"/>
            <a:ext cx="4339412"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Protocolo original</a:t>
            </a:r>
            <a:endParaRPr/>
          </a:p>
        </p:txBody>
      </p:sp>
      <p:sp>
        <p:nvSpPr>
          <p:cNvPr id="300" name="Google Shape;300;p10"/>
          <p:cNvSpPr txBox="1"/>
          <p:nvPr/>
        </p:nvSpPr>
        <p:spPr>
          <a:xfrm>
            <a:off x="11324712" y="6907795"/>
            <a:ext cx="4817519" cy="849818"/>
          </a:xfrm>
          <a:prstGeom prst="rect">
            <a:avLst/>
          </a:prstGeom>
          <a:noFill/>
          <a:ln>
            <a:noFill/>
          </a:ln>
        </p:spPr>
        <p:txBody>
          <a:bodyPr anchorCtr="0" anchor="t" bIns="0" lIns="0" spcFirstLastPara="1" rIns="0" wrap="square" tIns="0">
            <a:spAutoFit/>
          </a:bodyPr>
          <a:lstStyle/>
          <a:p>
            <a:pPr indent="0" lvl="0" marL="0" marR="0" rtl="0" algn="l">
              <a:lnSpc>
                <a:spcPct val="140024"/>
              </a:lnSpc>
              <a:spcBef>
                <a:spcPts val="0"/>
              </a:spcBef>
              <a:spcAft>
                <a:spcPts val="0"/>
              </a:spcAft>
              <a:buNone/>
            </a:pPr>
            <a:r>
              <a:rPr b="0" i="0" lang="en-US" sz="2451" u="none" cap="none" strike="noStrike">
                <a:solidFill>
                  <a:srgbClr val="000102"/>
                </a:solidFill>
                <a:latin typeface="Shantell Sans"/>
                <a:ea typeface="Shantell Sans"/>
                <a:cs typeface="Shantell Sans"/>
                <a:sym typeface="Shantell Sans"/>
              </a:rPr>
              <a:t>STP rápido con menor tiempo de convergencia</a:t>
            </a:r>
            <a:endParaRPr/>
          </a:p>
        </p:txBody>
      </p:sp>
      <p:sp>
        <p:nvSpPr>
          <p:cNvPr id="301" name="Google Shape;301;p10"/>
          <p:cNvSpPr txBox="1"/>
          <p:nvPr/>
        </p:nvSpPr>
        <p:spPr>
          <a:xfrm>
            <a:off x="11392254" y="5293884"/>
            <a:ext cx="4955853" cy="4973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920" u="none" cap="none" strike="noStrike">
                <a:solidFill>
                  <a:srgbClr val="000102"/>
                </a:solidFill>
                <a:latin typeface="Shantell Sans"/>
                <a:ea typeface="Shantell Sans"/>
                <a:cs typeface="Shantell Sans"/>
                <a:sym typeface="Shantell Sans"/>
              </a:rPr>
              <a:t>STP por VLAN</a:t>
            </a:r>
            <a:endParaRPr/>
          </a:p>
        </p:txBody>
      </p:sp>
      <p:sp>
        <p:nvSpPr>
          <p:cNvPr id="302" name="Google Shape;302;p10"/>
          <p:cNvSpPr txBox="1"/>
          <p:nvPr/>
        </p:nvSpPr>
        <p:spPr>
          <a:xfrm>
            <a:off x="11317736" y="7901783"/>
            <a:ext cx="4824494" cy="823656"/>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71" u="none" cap="none" strike="noStrike">
                <a:solidFill>
                  <a:srgbClr val="000102"/>
                </a:solidFill>
                <a:latin typeface="Shantell Sans"/>
                <a:ea typeface="Shantell Sans"/>
                <a:cs typeface="Shantell Sans"/>
                <a:sym typeface="Shantell Sans"/>
              </a:rPr>
              <a:t>Agrupa múltiples VLANs en una sola instancia STP</a:t>
            </a:r>
            <a:endParaRPr/>
          </a:p>
        </p:txBody>
      </p:sp>
      <p:sp>
        <p:nvSpPr>
          <p:cNvPr id="303" name="Google Shape;303;p10"/>
          <p:cNvSpPr txBox="1"/>
          <p:nvPr/>
        </p:nvSpPr>
        <p:spPr>
          <a:xfrm>
            <a:off x="11392254" y="6096077"/>
            <a:ext cx="4756951" cy="49739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17" u="none" cap="none" strike="noStrike">
                <a:solidFill>
                  <a:srgbClr val="000102"/>
                </a:solidFill>
                <a:latin typeface="Shantell Sans"/>
                <a:ea typeface="Shantell Sans"/>
                <a:cs typeface="Shantell Sans"/>
                <a:sym typeface="Shantell Sans"/>
              </a:rPr>
              <a:t>STP por VLAN mejorado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309" name="Google Shape;309;p11"/>
          <p:cNvSpPr txBox="1"/>
          <p:nvPr/>
        </p:nvSpPr>
        <p:spPr>
          <a:xfrm>
            <a:off x="7431484" y="2576567"/>
            <a:ext cx="3425032" cy="2743870"/>
          </a:xfrm>
          <a:prstGeom prst="rect">
            <a:avLst/>
          </a:prstGeom>
          <a:noFill/>
          <a:ln>
            <a:noFill/>
          </a:ln>
        </p:spPr>
        <p:txBody>
          <a:bodyPr anchorCtr="0" anchor="t" bIns="0" lIns="0" spcFirstLastPara="1" rIns="0" wrap="square" tIns="0">
            <a:spAutoFit/>
          </a:bodyPr>
          <a:lstStyle/>
          <a:p>
            <a:pPr indent="0" lvl="0" marL="0" marR="0" rtl="0" algn="ctr">
              <a:lnSpc>
                <a:spcPct val="112001"/>
              </a:lnSpc>
              <a:spcBef>
                <a:spcPts val="0"/>
              </a:spcBef>
              <a:spcAft>
                <a:spcPts val="0"/>
              </a:spcAft>
              <a:buNone/>
            </a:pPr>
            <a:r>
              <a:rPr b="0" i="0" lang="en-US" sz="6399" u="none" cap="none" strike="noStrike">
                <a:solidFill>
                  <a:srgbClr val="000102"/>
                </a:solidFill>
                <a:latin typeface="Arial"/>
                <a:ea typeface="Arial"/>
                <a:cs typeface="Arial"/>
                <a:sym typeface="Arial"/>
              </a:rPr>
              <a:t>Puertos del Spanning Tree Protocol</a:t>
            </a:r>
            <a:endParaRPr/>
          </a:p>
        </p:txBody>
      </p:sp>
      <p:sp>
        <p:nvSpPr>
          <p:cNvPr id="310" name="Google Shape;310;p11"/>
          <p:cNvSpPr/>
          <p:nvPr/>
        </p:nvSpPr>
        <p:spPr>
          <a:xfrm>
            <a:off x="11222889" y="1361009"/>
            <a:ext cx="1572630" cy="1341024"/>
          </a:xfrm>
          <a:custGeom>
            <a:rect b="b" l="l" r="r" t="t"/>
            <a:pathLst>
              <a:path extrusionOk="0" h="1341024" w="1572630">
                <a:moveTo>
                  <a:pt x="0" y="0"/>
                </a:moveTo>
                <a:lnTo>
                  <a:pt x="1572630" y="0"/>
                </a:lnTo>
                <a:lnTo>
                  <a:pt x="1572630" y="1341025"/>
                </a:lnTo>
                <a:lnTo>
                  <a:pt x="0" y="1341025"/>
                </a:lnTo>
                <a:lnTo>
                  <a:pt x="0" y="0"/>
                </a:lnTo>
                <a:close/>
              </a:path>
            </a:pathLst>
          </a:custGeom>
          <a:blipFill rotWithShape="1">
            <a:blip r:embed="rId4">
              <a:alphaModFix/>
            </a:blip>
            <a:stretch>
              <a:fillRect b="0" l="0" r="0" t="0"/>
            </a:stretch>
          </a:blipFill>
          <a:ln>
            <a:noFill/>
          </a:ln>
        </p:spPr>
      </p:sp>
      <p:sp>
        <p:nvSpPr>
          <p:cNvPr id="311" name="Google Shape;311;p11"/>
          <p:cNvSpPr/>
          <p:nvPr/>
        </p:nvSpPr>
        <p:spPr>
          <a:xfrm rot="-10352418">
            <a:off x="5621205" y="6328825"/>
            <a:ext cx="1572630" cy="1341024"/>
          </a:xfrm>
          <a:custGeom>
            <a:rect b="b" l="l" r="r" t="t"/>
            <a:pathLst>
              <a:path extrusionOk="0" h="1341024" w="1572630">
                <a:moveTo>
                  <a:pt x="0" y="0"/>
                </a:moveTo>
                <a:lnTo>
                  <a:pt x="1572630" y="0"/>
                </a:lnTo>
                <a:lnTo>
                  <a:pt x="1572630" y="1341025"/>
                </a:lnTo>
                <a:lnTo>
                  <a:pt x="0" y="1341025"/>
                </a:lnTo>
                <a:lnTo>
                  <a:pt x="0" y="0"/>
                </a:lnTo>
                <a:close/>
              </a:path>
            </a:pathLst>
          </a:custGeom>
          <a:blipFill rotWithShape="1">
            <a:blip r:embed="rId4">
              <a:alphaModFix/>
            </a:blip>
            <a:stretch>
              <a:fillRect b="0" l="0" r="0" t="0"/>
            </a:stretch>
          </a:blipFill>
          <a:ln>
            <a:noFill/>
          </a:ln>
        </p:spPr>
      </p:sp>
      <p:sp>
        <p:nvSpPr>
          <p:cNvPr id="312" name="Google Shape;312;p11"/>
          <p:cNvSpPr/>
          <p:nvPr/>
        </p:nvSpPr>
        <p:spPr>
          <a:xfrm rot="2456367">
            <a:off x="11222889" y="3999222"/>
            <a:ext cx="1572630" cy="1341024"/>
          </a:xfrm>
          <a:custGeom>
            <a:rect b="b" l="l" r="r" t="t"/>
            <a:pathLst>
              <a:path extrusionOk="0" h="1341024" w="1572630">
                <a:moveTo>
                  <a:pt x="0" y="0"/>
                </a:moveTo>
                <a:lnTo>
                  <a:pt x="1572630" y="0"/>
                </a:lnTo>
                <a:lnTo>
                  <a:pt x="1572630" y="1341025"/>
                </a:lnTo>
                <a:lnTo>
                  <a:pt x="0" y="1341025"/>
                </a:lnTo>
                <a:lnTo>
                  <a:pt x="0" y="0"/>
                </a:lnTo>
                <a:close/>
              </a:path>
            </a:pathLst>
          </a:custGeom>
          <a:blipFill rotWithShape="1">
            <a:blip r:embed="rId4">
              <a:alphaModFix/>
            </a:blip>
            <a:stretch>
              <a:fillRect b="0" l="0" r="0" t="0"/>
            </a:stretch>
          </a:blipFill>
          <a:ln>
            <a:noFill/>
          </a:ln>
        </p:spPr>
      </p:sp>
      <p:sp>
        <p:nvSpPr>
          <p:cNvPr id="313" name="Google Shape;313;p11"/>
          <p:cNvSpPr/>
          <p:nvPr/>
        </p:nvSpPr>
        <p:spPr>
          <a:xfrm rot="-8343632">
            <a:off x="5621205" y="3690612"/>
            <a:ext cx="1572630" cy="1341024"/>
          </a:xfrm>
          <a:custGeom>
            <a:rect b="b" l="l" r="r" t="t"/>
            <a:pathLst>
              <a:path extrusionOk="0" h="1341024" w="1572630">
                <a:moveTo>
                  <a:pt x="0" y="0"/>
                </a:moveTo>
                <a:lnTo>
                  <a:pt x="1572630" y="0"/>
                </a:lnTo>
                <a:lnTo>
                  <a:pt x="1572630" y="1341025"/>
                </a:lnTo>
                <a:lnTo>
                  <a:pt x="0" y="1341025"/>
                </a:lnTo>
                <a:lnTo>
                  <a:pt x="0" y="0"/>
                </a:lnTo>
                <a:close/>
              </a:path>
            </a:pathLst>
          </a:custGeom>
          <a:blipFill rotWithShape="1">
            <a:blip r:embed="rId4">
              <a:alphaModFix/>
            </a:blip>
            <a:stretch>
              <a:fillRect b="0" l="0" r="0" t="0"/>
            </a:stretch>
          </a:blipFill>
          <a:ln>
            <a:noFill/>
          </a:ln>
        </p:spPr>
      </p:sp>
      <p:sp>
        <p:nvSpPr>
          <p:cNvPr id="314" name="Google Shape;314;p11"/>
          <p:cNvSpPr/>
          <p:nvPr/>
        </p:nvSpPr>
        <p:spPr>
          <a:xfrm rot="-6769638">
            <a:off x="5853349" y="1323758"/>
            <a:ext cx="1572630" cy="1341024"/>
          </a:xfrm>
          <a:custGeom>
            <a:rect b="b" l="l" r="r" t="t"/>
            <a:pathLst>
              <a:path extrusionOk="0" h="1341024" w="1572630">
                <a:moveTo>
                  <a:pt x="0" y="0"/>
                </a:moveTo>
                <a:lnTo>
                  <a:pt x="1572630" y="0"/>
                </a:lnTo>
                <a:lnTo>
                  <a:pt x="1572630" y="1341024"/>
                </a:lnTo>
                <a:lnTo>
                  <a:pt x="0" y="1341024"/>
                </a:lnTo>
                <a:lnTo>
                  <a:pt x="0" y="0"/>
                </a:lnTo>
                <a:close/>
              </a:path>
            </a:pathLst>
          </a:custGeom>
          <a:blipFill rotWithShape="1">
            <a:blip r:embed="rId4">
              <a:alphaModFix/>
            </a:blip>
            <a:stretch>
              <a:fillRect b="0" l="0" r="0" t="0"/>
            </a:stretch>
          </a:blipFill>
          <a:ln>
            <a:noFill/>
          </a:ln>
        </p:spPr>
      </p:sp>
      <p:sp>
        <p:nvSpPr>
          <p:cNvPr id="315" name="Google Shape;315;p11"/>
          <p:cNvSpPr/>
          <p:nvPr/>
        </p:nvSpPr>
        <p:spPr>
          <a:xfrm>
            <a:off x="13139867" y="932364"/>
            <a:ext cx="4951481" cy="928403"/>
          </a:xfrm>
          <a:custGeom>
            <a:rect b="b" l="l" r="r" t="t"/>
            <a:pathLst>
              <a:path extrusionOk="0" h="928403" w="4951481">
                <a:moveTo>
                  <a:pt x="0" y="0"/>
                </a:moveTo>
                <a:lnTo>
                  <a:pt x="4951481" y="0"/>
                </a:lnTo>
                <a:lnTo>
                  <a:pt x="4951481" y="928403"/>
                </a:lnTo>
                <a:lnTo>
                  <a:pt x="0" y="928403"/>
                </a:lnTo>
                <a:lnTo>
                  <a:pt x="0" y="0"/>
                </a:lnTo>
                <a:close/>
              </a:path>
            </a:pathLst>
          </a:custGeom>
          <a:blipFill rotWithShape="1">
            <a:blip r:embed="rId5">
              <a:alphaModFix amt="57000"/>
            </a:blip>
            <a:stretch>
              <a:fillRect b="0" l="0" r="0" t="0"/>
            </a:stretch>
          </a:blipFill>
          <a:ln>
            <a:noFill/>
          </a:ln>
        </p:spPr>
      </p:sp>
      <p:sp>
        <p:nvSpPr>
          <p:cNvPr id="316" name="Google Shape;316;p11"/>
          <p:cNvSpPr/>
          <p:nvPr/>
        </p:nvSpPr>
        <p:spPr>
          <a:xfrm>
            <a:off x="1013512" y="920094"/>
            <a:ext cx="4703100" cy="881831"/>
          </a:xfrm>
          <a:custGeom>
            <a:rect b="b" l="l" r="r" t="t"/>
            <a:pathLst>
              <a:path extrusionOk="0" h="881831" w="4703100">
                <a:moveTo>
                  <a:pt x="0" y="0"/>
                </a:moveTo>
                <a:lnTo>
                  <a:pt x="4703101" y="0"/>
                </a:lnTo>
                <a:lnTo>
                  <a:pt x="4703101" y="881831"/>
                </a:lnTo>
                <a:lnTo>
                  <a:pt x="0" y="881831"/>
                </a:lnTo>
                <a:lnTo>
                  <a:pt x="0" y="0"/>
                </a:lnTo>
                <a:close/>
              </a:path>
            </a:pathLst>
          </a:custGeom>
          <a:blipFill rotWithShape="1">
            <a:blip r:embed="rId5">
              <a:alphaModFix amt="57000"/>
            </a:blip>
            <a:stretch>
              <a:fillRect b="0" l="0" r="0" t="0"/>
            </a:stretch>
          </a:blipFill>
          <a:ln>
            <a:noFill/>
          </a:ln>
        </p:spPr>
      </p:sp>
      <p:sp>
        <p:nvSpPr>
          <p:cNvPr id="317" name="Google Shape;317;p11"/>
          <p:cNvSpPr/>
          <p:nvPr/>
        </p:nvSpPr>
        <p:spPr>
          <a:xfrm>
            <a:off x="13139867" y="3796710"/>
            <a:ext cx="4951481" cy="928403"/>
          </a:xfrm>
          <a:custGeom>
            <a:rect b="b" l="l" r="r" t="t"/>
            <a:pathLst>
              <a:path extrusionOk="0" h="928403" w="4951481">
                <a:moveTo>
                  <a:pt x="0" y="0"/>
                </a:moveTo>
                <a:lnTo>
                  <a:pt x="4951481" y="0"/>
                </a:lnTo>
                <a:lnTo>
                  <a:pt x="4951481" y="928403"/>
                </a:lnTo>
                <a:lnTo>
                  <a:pt x="0" y="928403"/>
                </a:lnTo>
                <a:lnTo>
                  <a:pt x="0" y="0"/>
                </a:lnTo>
                <a:close/>
              </a:path>
            </a:pathLst>
          </a:custGeom>
          <a:blipFill rotWithShape="1">
            <a:blip r:embed="rId6">
              <a:alphaModFix amt="57000"/>
            </a:blip>
            <a:stretch>
              <a:fillRect b="0" l="0" r="0" t="0"/>
            </a:stretch>
          </a:blipFill>
          <a:ln>
            <a:noFill/>
          </a:ln>
        </p:spPr>
      </p:sp>
      <p:sp>
        <p:nvSpPr>
          <p:cNvPr id="318" name="Google Shape;318;p11"/>
          <p:cNvSpPr/>
          <p:nvPr/>
        </p:nvSpPr>
        <p:spPr>
          <a:xfrm>
            <a:off x="653412" y="3647986"/>
            <a:ext cx="4539325" cy="851124"/>
          </a:xfrm>
          <a:custGeom>
            <a:rect b="b" l="l" r="r" t="t"/>
            <a:pathLst>
              <a:path extrusionOk="0" h="851124" w="4539325">
                <a:moveTo>
                  <a:pt x="0" y="0"/>
                </a:moveTo>
                <a:lnTo>
                  <a:pt x="4539326" y="0"/>
                </a:lnTo>
                <a:lnTo>
                  <a:pt x="4539326" y="851124"/>
                </a:lnTo>
                <a:lnTo>
                  <a:pt x="0" y="851124"/>
                </a:lnTo>
                <a:lnTo>
                  <a:pt x="0" y="0"/>
                </a:lnTo>
                <a:close/>
              </a:path>
            </a:pathLst>
          </a:custGeom>
          <a:blipFill rotWithShape="1">
            <a:blip r:embed="rId6">
              <a:alphaModFix amt="57000"/>
            </a:blip>
            <a:stretch>
              <a:fillRect b="0" l="0" r="0" t="0"/>
            </a:stretch>
          </a:blipFill>
          <a:ln>
            <a:noFill/>
          </a:ln>
        </p:spPr>
      </p:sp>
      <p:sp>
        <p:nvSpPr>
          <p:cNvPr id="319" name="Google Shape;319;p11"/>
          <p:cNvSpPr/>
          <p:nvPr/>
        </p:nvSpPr>
        <p:spPr>
          <a:xfrm>
            <a:off x="357180" y="6729163"/>
            <a:ext cx="5016995" cy="940687"/>
          </a:xfrm>
          <a:custGeom>
            <a:rect b="b" l="l" r="r" t="t"/>
            <a:pathLst>
              <a:path extrusionOk="0" h="940687" w="5016995">
                <a:moveTo>
                  <a:pt x="0" y="0"/>
                </a:moveTo>
                <a:lnTo>
                  <a:pt x="5016995" y="0"/>
                </a:lnTo>
                <a:lnTo>
                  <a:pt x="5016995" y="940687"/>
                </a:lnTo>
                <a:lnTo>
                  <a:pt x="0" y="940687"/>
                </a:lnTo>
                <a:lnTo>
                  <a:pt x="0" y="0"/>
                </a:lnTo>
                <a:close/>
              </a:path>
            </a:pathLst>
          </a:custGeom>
          <a:blipFill rotWithShape="1">
            <a:blip r:embed="rId7">
              <a:alphaModFix amt="57000"/>
            </a:blip>
            <a:stretch>
              <a:fillRect b="0" l="0" r="0" t="0"/>
            </a:stretch>
          </a:blipFill>
          <a:ln>
            <a:noFill/>
          </a:ln>
        </p:spPr>
      </p:sp>
      <p:sp>
        <p:nvSpPr>
          <p:cNvPr id="320" name="Google Shape;320;p11"/>
          <p:cNvSpPr/>
          <p:nvPr/>
        </p:nvSpPr>
        <p:spPr>
          <a:xfrm>
            <a:off x="7274232" y="5382873"/>
            <a:ext cx="4948263" cy="2958649"/>
          </a:xfrm>
          <a:custGeom>
            <a:rect b="b" l="l" r="r" t="t"/>
            <a:pathLst>
              <a:path extrusionOk="0" h="2958649" w="4948263">
                <a:moveTo>
                  <a:pt x="0" y="0"/>
                </a:moveTo>
                <a:lnTo>
                  <a:pt x="4948263" y="0"/>
                </a:lnTo>
                <a:lnTo>
                  <a:pt x="4948263" y="2958649"/>
                </a:lnTo>
                <a:lnTo>
                  <a:pt x="0" y="2958649"/>
                </a:lnTo>
                <a:lnTo>
                  <a:pt x="0" y="0"/>
                </a:lnTo>
                <a:close/>
              </a:path>
            </a:pathLst>
          </a:custGeom>
          <a:blipFill rotWithShape="1">
            <a:blip r:embed="rId8">
              <a:alphaModFix/>
            </a:blip>
            <a:stretch>
              <a:fillRect b="0" l="0" r="0" t="0"/>
            </a:stretch>
          </a:blipFill>
          <a:ln>
            <a:noFill/>
          </a:ln>
        </p:spPr>
      </p:sp>
      <p:sp>
        <p:nvSpPr>
          <p:cNvPr id="321" name="Google Shape;321;p11"/>
          <p:cNvSpPr txBox="1"/>
          <p:nvPr/>
        </p:nvSpPr>
        <p:spPr>
          <a:xfrm>
            <a:off x="13716450" y="1960863"/>
            <a:ext cx="4056177" cy="1018265"/>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Ruta redundante hacia el Root Bridge, usada si falla el puerto designado.</a:t>
            </a:r>
            <a:endParaRPr/>
          </a:p>
        </p:txBody>
      </p:sp>
      <p:sp>
        <p:nvSpPr>
          <p:cNvPr id="322" name="Google Shape;322;p11"/>
          <p:cNvSpPr txBox="1"/>
          <p:nvPr/>
        </p:nvSpPr>
        <p:spPr>
          <a:xfrm>
            <a:off x="1456196" y="1874170"/>
            <a:ext cx="4056177"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Ruta más corta al Root Bridge desde un switch no raíz.</a:t>
            </a:r>
            <a:endParaRPr/>
          </a:p>
        </p:txBody>
      </p:sp>
      <p:sp>
        <p:nvSpPr>
          <p:cNvPr id="323" name="Google Shape;323;p11"/>
          <p:cNvSpPr txBox="1"/>
          <p:nvPr/>
        </p:nvSpPr>
        <p:spPr>
          <a:xfrm>
            <a:off x="13646113" y="5019807"/>
            <a:ext cx="4056177" cy="671676"/>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Ruta de respaldo que entra en acción si el designado falla.</a:t>
            </a:r>
            <a:endParaRPr/>
          </a:p>
        </p:txBody>
      </p:sp>
      <p:sp>
        <p:nvSpPr>
          <p:cNvPr id="324" name="Google Shape;324;p11"/>
          <p:cNvSpPr txBox="1"/>
          <p:nvPr/>
        </p:nvSpPr>
        <p:spPr>
          <a:xfrm>
            <a:off x="1317998" y="4641160"/>
            <a:ext cx="4056177"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Mejor camino desde un switch hacia el Root Bridge.</a:t>
            </a:r>
            <a:endParaRPr/>
          </a:p>
        </p:txBody>
      </p:sp>
      <p:sp>
        <p:nvSpPr>
          <p:cNvPr id="325" name="Google Shape;325;p11"/>
          <p:cNvSpPr txBox="1"/>
          <p:nvPr/>
        </p:nvSpPr>
        <p:spPr>
          <a:xfrm>
            <a:off x="1128428" y="7746050"/>
            <a:ext cx="4056177" cy="664297"/>
          </a:xfrm>
          <a:prstGeom prst="rect">
            <a:avLst/>
          </a:prstGeom>
          <a:noFill/>
          <a:ln>
            <a:noFill/>
          </a:ln>
        </p:spPr>
        <p:txBody>
          <a:bodyPr anchorCtr="0" anchor="t" bIns="0" lIns="0" spcFirstLastPara="1" rIns="0" wrap="square" tIns="0">
            <a:spAutoFit/>
          </a:bodyPr>
          <a:lstStyle/>
          <a:p>
            <a:pPr indent="0" lvl="0" marL="0" marR="0" rtl="0" algn="just">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No reenvía tráfico para evitar bucles.</a:t>
            </a:r>
            <a:endParaRPr/>
          </a:p>
        </p:txBody>
      </p:sp>
      <p:sp>
        <p:nvSpPr>
          <p:cNvPr id="326" name="Google Shape;326;p11"/>
          <p:cNvSpPr txBox="1"/>
          <p:nvPr/>
        </p:nvSpPr>
        <p:spPr>
          <a:xfrm>
            <a:off x="13646113" y="954311"/>
            <a:ext cx="4307360" cy="9484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Puerto de Respaldo (Backup Port)</a:t>
            </a:r>
            <a:endParaRPr/>
          </a:p>
        </p:txBody>
      </p:sp>
      <p:sp>
        <p:nvSpPr>
          <p:cNvPr id="327" name="Google Shape;327;p11"/>
          <p:cNvSpPr txBox="1"/>
          <p:nvPr/>
        </p:nvSpPr>
        <p:spPr>
          <a:xfrm>
            <a:off x="2171012" y="884739"/>
            <a:ext cx="3021726" cy="9484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Puerto Raíz</a:t>
            </a:r>
            <a:endParaRPr/>
          </a:p>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 (Root Port)</a:t>
            </a:r>
            <a:endParaRPr/>
          </a:p>
        </p:txBody>
      </p:sp>
      <p:sp>
        <p:nvSpPr>
          <p:cNvPr id="328" name="Google Shape;328;p11"/>
          <p:cNvSpPr txBox="1"/>
          <p:nvPr/>
        </p:nvSpPr>
        <p:spPr>
          <a:xfrm>
            <a:off x="13646113" y="3776679"/>
            <a:ext cx="4307360" cy="9484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Puerto Alternativo (Alternate Port)</a:t>
            </a:r>
            <a:endParaRPr/>
          </a:p>
        </p:txBody>
      </p:sp>
      <p:sp>
        <p:nvSpPr>
          <p:cNvPr id="329" name="Google Shape;329;p11"/>
          <p:cNvSpPr txBox="1"/>
          <p:nvPr/>
        </p:nvSpPr>
        <p:spPr>
          <a:xfrm>
            <a:off x="1128428" y="3575519"/>
            <a:ext cx="3730777" cy="9484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Puerto Designado (Designated Port)</a:t>
            </a:r>
            <a:endParaRPr/>
          </a:p>
        </p:txBody>
      </p:sp>
      <p:sp>
        <p:nvSpPr>
          <p:cNvPr id="330" name="Google Shape;330;p11"/>
          <p:cNvSpPr txBox="1"/>
          <p:nvPr/>
        </p:nvSpPr>
        <p:spPr>
          <a:xfrm>
            <a:off x="1078564" y="6681538"/>
            <a:ext cx="3830505" cy="9484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Puerto en Bloqueo (Blocking Port)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336" name="Google Shape;336;p12"/>
          <p:cNvGrpSpPr/>
          <p:nvPr/>
        </p:nvGrpSpPr>
        <p:grpSpPr>
          <a:xfrm>
            <a:off x="5660245" y="1007781"/>
            <a:ext cx="11624773" cy="8250519"/>
            <a:chOff x="0" y="-9525"/>
            <a:chExt cx="5293141" cy="3756732"/>
          </a:xfrm>
        </p:grpSpPr>
        <p:sp>
          <p:nvSpPr>
            <p:cNvPr id="337" name="Google Shape;337;p12"/>
            <p:cNvSpPr/>
            <p:nvPr/>
          </p:nvSpPr>
          <p:spPr>
            <a:xfrm>
              <a:off x="0" y="0"/>
              <a:ext cx="5293141" cy="3747207"/>
            </a:xfrm>
            <a:custGeom>
              <a:rect b="b" l="l" r="r" t="t"/>
              <a:pathLst>
                <a:path extrusionOk="0" h="3747207" w="5293141">
                  <a:moveTo>
                    <a:pt x="22643" y="0"/>
                  </a:moveTo>
                  <a:lnTo>
                    <a:pt x="5270498" y="0"/>
                  </a:lnTo>
                  <a:cubicBezTo>
                    <a:pt x="5283004" y="0"/>
                    <a:pt x="5293141" y="10138"/>
                    <a:pt x="5293141" y="22643"/>
                  </a:cubicBezTo>
                  <a:lnTo>
                    <a:pt x="5293141" y="3724564"/>
                  </a:lnTo>
                  <a:cubicBezTo>
                    <a:pt x="5293141" y="3737070"/>
                    <a:pt x="5283004" y="3747207"/>
                    <a:pt x="5270498" y="3747207"/>
                  </a:cubicBezTo>
                  <a:lnTo>
                    <a:pt x="22643" y="3747207"/>
                  </a:lnTo>
                  <a:cubicBezTo>
                    <a:pt x="10138" y="3747207"/>
                    <a:pt x="0" y="3737070"/>
                    <a:pt x="0" y="3724564"/>
                  </a:cubicBezTo>
                  <a:lnTo>
                    <a:pt x="0" y="22643"/>
                  </a:lnTo>
                  <a:cubicBezTo>
                    <a:pt x="0" y="10138"/>
                    <a:pt x="10138" y="0"/>
                    <a:pt x="22643"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txBox="1"/>
            <p:nvPr/>
          </p:nvSpPr>
          <p:spPr>
            <a:xfrm>
              <a:off x="0" y="-9525"/>
              <a:ext cx="5293141" cy="3756732"/>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9" name="Google Shape;339;p12"/>
          <p:cNvGrpSpPr/>
          <p:nvPr/>
        </p:nvGrpSpPr>
        <p:grpSpPr>
          <a:xfrm>
            <a:off x="1247643" y="2010899"/>
            <a:ext cx="5456124" cy="1727415"/>
            <a:chOff x="0" y="-9525"/>
            <a:chExt cx="1962273" cy="621258"/>
          </a:xfrm>
        </p:grpSpPr>
        <p:sp>
          <p:nvSpPr>
            <p:cNvPr id="340" name="Google Shape;340;p12"/>
            <p:cNvSpPr/>
            <p:nvPr/>
          </p:nvSpPr>
          <p:spPr>
            <a:xfrm>
              <a:off x="0" y="0"/>
              <a:ext cx="1962273" cy="611733"/>
            </a:xfrm>
            <a:custGeom>
              <a:rect b="b" l="l" r="r" t="t"/>
              <a:pathLst>
                <a:path extrusionOk="0" h="611733" w="1962273">
                  <a:moveTo>
                    <a:pt x="48244" y="0"/>
                  </a:moveTo>
                  <a:lnTo>
                    <a:pt x="1914029" y="0"/>
                  </a:lnTo>
                  <a:cubicBezTo>
                    <a:pt x="1940673" y="0"/>
                    <a:pt x="1962273" y="21600"/>
                    <a:pt x="1962273" y="48244"/>
                  </a:cubicBezTo>
                  <a:lnTo>
                    <a:pt x="1962273" y="563489"/>
                  </a:lnTo>
                  <a:cubicBezTo>
                    <a:pt x="1962273" y="590133"/>
                    <a:pt x="1940673" y="611733"/>
                    <a:pt x="1914029" y="611733"/>
                  </a:cubicBezTo>
                  <a:lnTo>
                    <a:pt x="48244" y="611733"/>
                  </a:lnTo>
                  <a:cubicBezTo>
                    <a:pt x="35449" y="611733"/>
                    <a:pt x="23178" y="606650"/>
                    <a:pt x="14130" y="597603"/>
                  </a:cubicBezTo>
                  <a:cubicBezTo>
                    <a:pt x="5083" y="588555"/>
                    <a:pt x="0" y="576284"/>
                    <a:pt x="0" y="563489"/>
                  </a:cubicBezTo>
                  <a:lnTo>
                    <a:pt x="0" y="48244"/>
                  </a:lnTo>
                  <a:cubicBezTo>
                    <a:pt x="0" y="21600"/>
                    <a:pt x="21600" y="0"/>
                    <a:pt x="48244"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txBox="1"/>
            <p:nvPr/>
          </p:nvSpPr>
          <p:spPr>
            <a:xfrm>
              <a:off x="0" y="-9525"/>
              <a:ext cx="1962273" cy="621258"/>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2" name="Google Shape;342;p12"/>
          <p:cNvSpPr/>
          <p:nvPr/>
        </p:nvSpPr>
        <p:spPr>
          <a:xfrm>
            <a:off x="7472135" y="866900"/>
            <a:ext cx="10099060" cy="8391400"/>
          </a:xfrm>
          <a:custGeom>
            <a:rect b="b" l="l" r="r" t="t"/>
            <a:pathLst>
              <a:path extrusionOk="0" h="8391400" w="10099060">
                <a:moveTo>
                  <a:pt x="0" y="0"/>
                </a:moveTo>
                <a:lnTo>
                  <a:pt x="10099059" y="0"/>
                </a:lnTo>
                <a:lnTo>
                  <a:pt x="10099059" y="8391400"/>
                </a:lnTo>
                <a:lnTo>
                  <a:pt x="0" y="8391400"/>
                </a:lnTo>
                <a:lnTo>
                  <a:pt x="0" y="0"/>
                </a:lnTo>
                <a:close/>
              </a:path>
            </a:pathLst>
          </a:custGeom>
          <a:blipFill rotWithShape="1">
            <a:blip r:embed="rId4">
              <a:alphaModFix/>
            </a:blip>
            <a:stretch>
              <a:fillRect b="0" l="0" r="0" t="0"/>
            </a:stretch>
          </a:blipFill>
          <a:ln>
            <a:noFill/>
          </a:ln>
        </p:spPr>
      </p:sp>
      <p:sp>
        <p:nvSpPr>
          <p:cNvPr id="343" name="Google Shape;343;p12"/>
          <p:cNvSpPr/>
          <p:nvPr/>
        </p:nvSpPr>
        <p:spPr>
          <a:xfrm>
            <a:off x="957797" y="4050661"/>
            <a:ext cx="8695448" cy="5369439"/>
          </a:xfrm>
          <a:custGeom>
            <a:rect b="b" l="l" r="r" t="t"/>
            <a:pathLst>
              <a:path extrusionOk="0" h="5369439" w="8695448">
                <a:moveTo>
                  <a:pt x="0" y="0"/>
                </a:moveTo>
                <a:lnTo>
                  <a:pt x="8695447" y="0"/>
                </a:lnTo>
                <a:lnTo>
                  <a:pt x="8695447" y="5369439"/>
                </a:lnTo>
                <a:lnTo>
                  <a:pt x="0" y="5369439"/>
                </a:lnTo>
                <a:lnTo>
                  <a:pt x="0" y="0"/>
                </a:lnTo>
                <a:close/>
              </a:path>
            </a:pathLst>
          </a:custGeom>
          <a:blipFill rotWithShape="1">
            <a:blip r:embed="rId5">
              <a:alphaModFix/>
            </a:blip>
            <a:stretch>
              <a:fillRect b="0" l="0" r="0" t="0"/>
            </a:stretch>
          </a:blipFill>
          <a:ln>
            <a:noFill/>
          </a:ln>
        </p:spPr>
      </p:sp>
      <p:sp>
        <p:nvSpPr>
          <p:cNvPr id="344" name="Google Shape;344;p12"/>
          <p:cNvSpPr/>
          <p:nvPr/>
        </p:nvSpPr>
        <p:spPr>
          <a:xfrm>
            <a:off x="15870058" y="1413269"/>
            <a:ext cx="912582" cy="228145"/>
          </a:xfrm>
          <a:custGeom>
            <a:rect b="b" l="l" r="r" t="t"/>
            <a:pathLst>
              <a:path extrusionOk="0" h="228145" w="912582">
                <a:moveTo>
                  <a:pt x="0" y="0"/>
                </a:moveTo>
                <a:lnTo>
                  <a:pt x="912582" y="0"/>
                </a:lnTo>
                <a:lnTo>
                  <a:pt x="912582" y="228146"/>
                </a:lnTo>
                <a:lnTo>
                  <a:pt x="0" y="228146"/>
                </a:lnTo>
                <a:lnTo>
                  <a:pt x="0" y="0"/>
                </a:lnTo>
                <a:close/>
              </a:path>
            </a:pathLst>
          </a:custGeom>
          <a:blipFill rotWithShape="1">
            <a:blip r:embed="rId6">
              <a:alphaModFix/>
            </a:blip>
            <a:stretch>
              <a:fillRect b="0" l="0" r="0" t="0"/>
            </a:stretch>
          </a:blipFill>
          <a:ln>
            <a:noFill/>
          </a:ln>
        </p:spPr>
      </p:sp>
      <p:sp>
        <p:nvSpPr>
          <p:cNvPr id="345" name="Google Shape;345;p12"/>
          <p:cNvSpPr/>
          <p:nvPr/>
        </p:nvSpPr>
        <p:spPr>
          <a:xfrm>
            <a:off x="10576346" y="2265898"/>
            <a:ext cx="5090260" cy="5755204"/>
          </a:xfrm>
          <a:custGeom>
            <a:rect b="b" l="l" r="r" t="t"/>
            <a:pathLst>
              <a:path extrusionOk="0" h="5755204" w="5090260">
                <a:moveTo>
                  <a:pt x="0" y="0"/>
                </a:moveTo>
                <a:lnTo>
                  <a:pt x="5090261" y="0"/>
                </a:lnTo>
                <a:lnTo>
                  <a:pt x="5090261" y="5755204"/>
                </a:lnTo>
                <a:lnTo>
                  <a:pt x="0" y="5755204"/>
                </a:lnTo>
                <a:lnTo>
                  <a:pt x="0" y="0"/>
                </a:lnTo>
                <a:close/>
              </a:path>
            </a:pathLst>
          </a:custGeom>
          <a:blipFill rotWithShape="1">
            <a:blip r:embed="rId7">
              <a:alphaModFix/>
            </a:blip>
            <a:stretch>
              <a:fillRect b="0" l="0" r="0" t="0"/>
            </a:stretch>
          </a:blipFill>
          <a:ln>
            <a:noFill/>
          </a:ln>
        </p:spPr>
      </p:sp>
      <p:sp>
        <p:nvSpPr>
          <p:cNvPr id="346" name="Google Shape;346;p12"/>
          <p:cNvSpPr/>
          <p:nvPr/>
        </p:nvSpPr>
        <p:spPr>
          <a:xfrm>
            <a:off x="1716535" y="2265898"/>
            <a:ext cx="4460310" cy="1232667"/>
          </a:xfrm>
          <a:custGeom>
            <a:rect b="b" l="l" r="r" t="t"/>
            <a:pathLst>
              <a:path extrusionOk="0" h="1232667" w="4460310">
                <a:moveTo>
                  <a:pt x="0" y="0"/>
                </a:moveTo>
                <a:lnTo>
                  <a:pt x="4460310" y="0"/>
                </a:lnTo>
                <a:lnTo>
                  <a:pt x="4460310" y="1232667"/>
                </a:lnTo>
                <a:lnTo>
                  <a:pt x="0" y="1232667"/>
                </a:lnTo>
                <a:lnTo>
                  <a:pt x="0" y="0"/>
                </a:lnTo>
                <a:close/>
              </a:path>
            </a:pathLst>
          </a:custGeom>
          <a:blipFill rotWithShape="1">
            <a:blip r:embed="rId8">
              <a:alphaModFix/>
            </a:blip>
            <a:stretch>
              <a:fillRect b="0" l="0" r="0" t="0"/>
            </a:stretch>
          </a:blipFill>
          <a:ln>
            <a:noFill/>
          </a:ln>
        </p:spPr>
      </p:sp>
      <p:sp>
        <p:nvSpPr>
          <p:cNvPr id="347" name="Google Shape;347;p12"/>
          <p:cNvSpPr/>
          <p:nvPr/>
        </p:nvSpPr>
        <p:spPr>
          <a:xfrm rot="-525537">
            <a:off x="7767869" y="-1028700"/>
            <a:ext cx="3011760" cy="4114800"/>
          </a:xfrm>
          <a:custGeom>
            <a:rect b="b" l="l" r="r" t="t"/>
            <a:pathLst>
              <a:path extrusionOk="0" h="4114800" w="3011760">
                <a:moveTo>
                  <a:pt x="0" y="0"/>
                </a:moveTo>
                <a:lnTo>
                  <a:pt x="3011760" y="0"/>
                </a:lnTo>
                <a:lnTo>
                  <a:pt x="3011760" y="4114800"/>
                </a:lnTo>
                <a:lnTo>
                  <a:pt x="0" y="4114800"/>
                </a:lnTo>
                <a:lnTo>
                  <a:pt x="0" y="0"/>
                </a:lnTo>
                <a:close/>
              </a:path>
            </a:pathLst>
          </a:custGeom>
          <a:blipFill rotWithShape="1">
            <a:blip r:embed="rId9">
              <a:alphaModFix/>
            </a:blip>
            <a:stretch>
              <a:fillRect b="0" l="0" r="0" t="0"/>
            </a:stretch>
          </a:blipFill>
          <a:ln>
            <a:noFill/>
          </a:ln>
        </p:spPr>
      </p:sp>
      <p:sp>
        <p:nvSpPr>
          <p:cNvPr id="348" name="Google Shape;348;p12"/>
          <p:cNvSpPr txBox="1"/>
          <p:nvPr/>
        </p:nvSpPr>
        <p:spPr>
          <a:xfrm>
            <a:off x="1282959" y="5193452"/>
            <a:ext cx="7861041" cy="3337528"/>
          </a:xfrm>
          <a:prstGeom prst="rect">
            <a:avLst/>
          </a:prstGeom>
          <a:noFill/>
          <a:ln>
            <a:noFill/>
          </a:ln>
        </p:spPr>
        <p:txBody>
          <a:bodyPr anchorCtr="0" anchor="t" bIns="0" lIns="0" spcFirstLastPara="1" rIns="0" wrap="square" tIns="0">
            <a:spAutoFit/>
          </a:bodyPr>
          <a:lstStyle/>
          <a:p>
            <a:pPr indent="-226830" lvl="1" marL="453660" marR="0" rtl="0" algn="l">
              <a:lnSpc>
                <a:spcPct val="139980"/>
              </a:lnSpc>
              <a:spcBef>
                <a:spcPts val="0"/>
              </a:spcBef>
              <a:spcAft>
                <a:spcPts val="0"/>
              </a:spcAft>
              <a:buClr>
                <a:srgbClr val="000000"/>
              </a:buClr>
              <a:buSzPts val="2101"/>
              <a:buFont typeface="Arial"/>
              <a:buChar char="•"/>
            </a:pPr>
            <a:r>
              <a:rPr b="1" i="0" lang="en-US" sz="2101" u="none" cap="none" strike="noStrike">
                <a:solidFill>
                  <a:srgbClr val="000000"/>
                </a:solidFill>
                <a:latin typeface="DM Sans"/>
                <a:ea typeface="DM Sans"/>
                <a:cs typeface="DM Sans"/>
                <a:sym typeface="DM Sans"/>
              </a:rPr>
              <a:t>Disabled</a:t>
            </a:r>
            <a:r>
              <a:rPr b="0" i="0" lang="en-US" sz="2101" u="none" cap="none" strike="noStrike">
                <a:solidFill>
                  <a:srgbClr val="000000"/>
                </a:solidFill>
                <a:latin typeface="DM Sans"/>
                <a:ea typeface="DM Sans"/>
                <a:cs typeface="DM Sans"/>
                <a:sym typeface="DM Sans"/>
              </a:rPr>
              <a:t> – No reenvía tráfico, completamente desactivado.</a:t>
            </a:r>
            <a:endParaRPr/>
          </a:p>
          <a:p>
            <a:pPr indent="-226830" lvl="1" marL="453660" marR="0" rtl="0" algn="l">
              <a:lnSpc>
                <a:spcPct val="139980"/>
              </a:lnSpc>
              <a:spcBef>
                <a:spcPts val="0"/>
              </a:spcBef>
              <a:spcAft>
                <a:spcPts val="0"/>
              </a:spcAft>
              <a:buClr>
                <a:srgbClr val="000000"/>
              </a:buClr>
              <a:buSzPts val="2101"/>
              <a:buFont typeface="Arial"/>
              <a:buChar char="•"/>
            </a:pPr>
            <a:r>
              <a:rPr b="1" i="0" lang="en-US" sz="2101" u="none" cap="none" strike="noStrike">
                <a:solidFill>
                  <a:srgbClr val="000000"/>
                </a:solidFill>
                <a:latin typeface="DM Sans"/>
                <a:ea typeface="DM Sans"/>
                <a:cs typeface="DM Sans"/>
                <a:sym typeface="DM Sans"/>
              </a:rPr>
              <a:t>Blocking</a:t>
            </a:r>
            <a:r>
              <a:rPr b="0" i="0" lang="en-US" sz="2101" u="none" cap="none" strike="noStrike">
                <a:solidFill>
                  <a:srgbClr val="000000"/>
                </a:solidFill>
                <a:latin typeface="DM Sans"/>
                <a:ea typeface="DM Sans"/>
                <a:cs typeface="DM Sans"/>
                <a:sym typeface="DM Sans"/>
              </a:rPr>
              <a:t> – No reenvía tramas ni aprende direcciones MAC, solo recibe BPDUs.</a:t>
            </a:r>
            <a:endParaRPr/>
          </a:p>
          <a:p>
            <a:pPr indent="-226830" lvl="1" marL="453660" marR="0" rtl="0" algn="l">
              <a:lnSpc>
                <a:spcPct val="139980"/>
              </a:lnSpc>
              <a:spcBef>
                <a:spcPts val="0"/>
              </a:spcBef>
              <a:spcAft>
                <a:spcPts val="0"/>
              </a:spcAft>
              <a:buClr>
                <a:srgbClr val="000000"/>
              </a:buClr>
              <a:buSzPts val="2101"/>
              <a:buFont typeface="Arial"/>
              <a:buChar char="•"/>
            </a:pPr>
            <a:r>
              <a:rPr b="1" i="0" lang="en-US" sz="2101" u="none" cap="none" strike="noStrike">
                <a:solidFill>
                  <a:srgbClr val="000000"/>
                </a:solidFill>
                <a:latin typeface="DM Sans"/>
                <a:ea typeface="DM Sans"/>
                <a:cs typeface="DM Sans"/>
                <a:sym typeface="DM Sans"/>
              </a:rPr>
              <a:t>Listening</a:t>
            </a:r>
            <a:r>
              <a:rPr b="0" i="0" lang="en-US" sz="2101" u="none" cap="none" strike="noStrike">
                <a:solidFill>
                  <a:srgbClr val="000000"/>
                </a:solidFill>
                <a:latin typeface="DM Sans"/>
                <a:ea typeface="DM Sans"/>
                <a:cs typeface="DM Sans"/>
                <a:sym typeface="DM Sans"/>
              </a:rPr>
              <a:t> – Escucha BPDUs, pero no reenvía tramas ni actualiza la tabla MAC.</a:t>
            </a:r>
            <a:endParaRPr/>
          </a:p>
          <a:p>
            <a:pPr indent="-226830" lvl="1" marL="453660" marR="0" rtl="0" algn="l">
              <a:lnSpc>
                <a:spcPct val="139980"/>
              </a:lnSpc>
              <a:spcBef>
                <a:spcPts val="0"/>
              </a:spcBef>
              <a:spcAft>
                <a:spcPts val="0"/>
              </a:spcAft>
              <a:buClr>
                <a:srgbClr val="000000"/>
              </a:buClr>
              <a:buSzPts val="2101"/>
              <a:buFont typeface="Arial"/>
              <a:buChar char="•"/>
            </a:pPr>
            <a:r>
              <a:rPr b="1" i="0" lang="en-US" sz="2101" u="none" cap="none" strike="noStrike">
                <a:solidFill>
                  <a:srgbClr val="000000"/>
                </a:solidFill>
                <a:latin typeface="DM Sans"/>
                <a:ea typeface="DM Sans"/>
                <a:cs typeface="DM Sans"/>
                <a:sym typeface="DM Sans"/>
              </a:rPr>
              <a:t>Learning</a:t>
            </a:r>
            <a:r>
              <a:rPr b="0" i="0" lang="en-US" sz="2101" u="none" cap="none" strike="noStrike">
                <a:solidFill>
                  <a:srgbClr val="000000"/>
                </a:solidFill>
                <a:latin typeface="DM Sans"/>
                <a:ea typeface="DM Sans"/>
                <a:cs typeface="DM Sans"/>
                <a:sym typeface="DM Sans"/>
              </a:rPr>
              <a:t> – Aprende direcciones MAC y puede enviar/recibir BPDUs.</a:t>
            </a:r>
            <a:endParaRPr/>
          </a:p>
          <a:p>
            <a:pPr indent="-226830" lvl="1" marL="453660" marR="0" rtl="0" algn="l">
              <a:lnSpc>
                <a:spcPct val="139980"/>
              </a:lnSpc>
              <a:spcBef>
                <a:spcPts val="0"/>
              </a:spcBef>
              <a:spcAft>
                <a:spcPts val="0"/>
              </a:spcAft>
              <a:buClr>
                <a:srgbClr val="000000"/>
              </a:buClr>
              <a:buSzPts val="2101"/>
              <a:buFont typeface="Arial"/>
              <a:buChar char="•"/>
            </a:pPr>
            <a:r>
              <a:rPr b="1" i="0" lang="en-US" sz="2101" u="none" cap="none" strike="noStrike">
                <a:solidFill>
                  <a:srgbClr val="000000"/>
                </a:solidFill>
                <a:latin typeface="DM Sans"/>
                <a:ea typeface="DM Sans"/>
                <a:cs typeface="DM Sans"/>
                <a:sym typeface="DM Sans"/>
              </a:rPr>
              <a:t>Forwarding</a:t>
            </a:r>
            <a:r>
              <a:rPr b="0" i="0" lang="en-US" sz="2101" u="none" cap="none" strike="noStrike">
                <a:solidFill>
                  <a:srgbClr val="000000"/>
                </a:solidFill>
                <a:latin typeface="DM Sans"/>
                <a:ea typeface="DM Sans"/>
                <a:cs typeface="DM Sans"/>
                <a:sym typeface="DM Sans"/>
              </a:rPr>
              <a:t> – Reenvía tramas de datos y aprende direcciones MAC.</a:t>
            </a:r>
            <a:endParaRPr/>
          </a:p>
        </p:txBody>
      </p:sp>
      <p:sp>
        <p:nvSpPr>
          <p:cNvPr id="349" name="Google Shape;349;p12"/>
          <p:cNvSpPr txBox="1"/>
          <p:nvPr/>
        </p:nvSpPr>
        <p:spPr>
          <a:xfrm>
            <a:off x="1446637" y="2077054"/>
            <a:ext cx="5058137" cy="1535864"/>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None/>
            </a:pPr>
            <a:r>
              <a:rPr b="0" i="0" lang="en-US" sz="4407" u="none" cap="none" strike="noStrike">
                <a:solidFill>
                  <a:srgbClr val="000000"/>
                </a:solidFill>
                <a:latin typeface="Arial"/>
                <a:ea typeface="Arial"/>
                <a:cs typeface="Arial"/>
                <a:sym typeface="Arial"/>
              </a:rPr>
              <a:t>Estados de los Puertos</a:t>
            </a:r>
            <a:endParaRPr/>
          </a:p>
          <a:p>
            <a:pPr indent="0" lvl="0" marL="0" marR="0" rtl="0" algn="ctr">
              <a:lnSpc>
                <a:spcPct val="140027"/>
              </a:lnSpc>
              <a:spcBef>
                <a:spcPts val="0"/>
              </a:spcBef>
              <a:spcAft>
                <a:spcPts val="0"/>
              </a:spcAft>
              <a:buNone/>
            </a:pPr>
            <a:r>
              <a:rPr b="0" i="0" lang="en-US" sz="4407" u="none" cap="none" strike="noStrike">
                <a:solidFill>
                  <a:srgbClr val="000000"/>
                </a:solidFill>
                <a:latin typeface="Arial"/>
                <a:ea typeface="Arial"/>
                <a:cs typeface="Arial"/>
                <a:sym typeface="Arial"/>
              </a:rPr>
              <a:t> en STP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355" name="Google Shape;355;p13"/>
          <p:cNvGrpSpPr/>
          <p:nvPr/>
        </p:nvGrpSpPr>
        <p:grpSpPr>
          <a:xfrm>
            <a:off x="7333345" y="1075782"/>
            <a:ext cx="7965635" cy="2496105"/>
            <a:chOff x="0" y="-9525"/>
            <a:chExt cx="3627015" cy="1136559"/>
          </a:xfrm>
        </p:grpSpPr>
        <p:sp>
          <p:nvSpPr>
            <p:cNvPr id="356" name="Google Shape;356;p13"/>
            <p:cNvSpPr/>
            <p:nvPr/>
          </p:nvSpPr>
          <p:spPr>
            <a:xfrm>
              <a:off x="0" y="0"/>
              <a:ext cx="3627015" cy="1127034"/>
            </a:xfrm>
            <a:custGeom>
              <a:rect b="b" l="l" r="r" t="t"/>
              <a:pathLst>
                <a:path extrusionOk="0" h="1127034" w="3627015">
                  <a:moveTo>
                    <a:pt x="33045" y="0"/>
                  </a:moveTo>
                  <a:lnTo>
                    <a:pt x="3593970" y="0"/>
                  </a:lnTo>
                  <a:cubicBezTo>
                    <a:pt x="3612221" y="0"/>
                    <a:pt x="3627015" y="14795"/>
                    <a:pt x="3627015" y="33045"/>
                  </a:cubicBezTo>
                  <a:lnTo>
                    <a:pt x="3627015" y="1093988"/>
                  </a:lnTo>
                  <a:cubicBezTo>
                    <a:pt x="3627015" y="1112239"/>
                    <a:pt x="3612221" y="1127034"/>
                    <a:pt x="3593970" y="1127034"/>
                  </a:cubicBezTo>
                  <a:lnTo>
                    <a:pt x="33045" y="1127034"/>
                  </a:lnTo>
                  <a:cubicBezTo>
                    <a:pt x="14795" y="1127034"/>
                    <a:pt x="0" y="1112239"/>
                    <a:pt x="0" y="1093988"/>
                  </a:cubicBezTo>
                  <a:lnTo>
                    <a:pt x="0" y="33045"/>
                  </a:lnTo>
                  <a:cubicBezTo>
                    <a:pt x="0" y="14795"/>
                    <a:pt x="14795" y="0"/>
                    <a:pt x="33045"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txBox="1"/>
            <p:nvPr/>
          </p:nvSpPr>
          <p:spPr>
            <a:xfrm>
              <a:off x="0" y="-9525"/>
              <a:ext cx="3627015" cy="1136559"/>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13"/>
          <p:cNvSpPr/>
          <p:nvPr/>
        </p:nvSpPr>
        <p:spPr>
          <a:xfrm>
            <a:off x="11831895" y="0"/>
            <a:ext cx="4198776" cy="4114800"/>
          </a:xfrm>
          <a:custGeom>
            <a:rect b="b" l="l" r="r" t="t"/>
            <a:pathLst>
              <a:path extrusionOk="0" h="4114800" w="4198776">
                <a:moveTo>
                  <a:pt x="0" y="0"/>
                </a:moveTo>
                <a:lnTo>
                  <a:pt x="4198775" y="0"/>
                </a:lnTo>
                <a:lnTo>
                  <a:pt x="4198775" y="4114800"/>
                </a:lnTo>
                <a:lnTo>
                  <a:pt x="0" y="4114800"/>
                </a:lnTo>
                <a:lnTo>
                  <a:pt x="0" y="0"/>
                </a:lnTo>
                <a:close/>
              </a:path>
            </a:pathLst>
          </a:custGeom>
          <a:blipFill rotWithShape="1">
            <a:blip r:embed="rId4">
              <a:alphaModFix/>
            </a:blip>
            <a:stretch>
              <a:fillRect b="0" l="0" r="0" t="0"/>
            </a:stretch>
          </a:blipFill>
          <a:ln>
            <a:noFill/>
          </a:ln>
        </p:spPr>
      </p:sp>
      <p:grpSp>
        <p:nvGrpSpPr>
          <p:cNvPr id="359" name="Google Shape;359;p13"/>
          <p:cNvGrpSpPr/>
          <p:nvPr/>
        </p:nvGrpSpPr>
        <p:grpSpPr>
          <a:xfrm>
            <a:off x="1028700" y="3149505"/>
            <a:ext cx="5493957" cy="4366367"/>
            <a:chOff x="0" y="-9525"/>
            <a:chExt cx="2501579" cy="1988150"/>
          </a:xfrm>
        </p:grpSpPr>
        <p:sp>
          <p:nvSpPr>
            <p:cNvPr id="360" name="Google Shape;360;p13"/>
            <p:cNvSpPr/>
            <p:nvPr/>
          </p:nvSpPr>
          <p:spPr>
            <a:xfrm>
              <a:off x="0" y="0"/>
              <a:ext cx="2501579" cy="1978625"/>
            </a:xfrm>
            <a:custGeom>
              <a:rect b="b" l="l" r="r" t="t"/>
              <a:pathLst>
                <a:path extrusionOk="0" h="1978625" w="2501579">
                  <a:moveTo>
                    <a:pt x="47912" y="0"/>
                  </a:moveTo>
                  <a:lnTo>
                    <a:pt x="2453667" y="0"/>
                  </a:lnTo>
                  <a:cubicBezTo>
                    <a:pt x="2480128" y="0"/>
                    <a:pt x="2501579" y="21451"/>
                    <a:pt x="2501579" y="47912"/>
                  </a:cubicBezTo>
                  <a:lnTo>
                    <a:pt x="2501579" y="1930714"/>
                  </a:lnTo>
                  <a:cubicBezTo>
                    <a:pt x="2501579" y="1957175"/>
                    <a:pt x="2480128" y="1978625"/>
                    <a:pt x="2453667" y="1978625"/>
                  </a:cubicBezTo>
                  <a:lnTo>
                    <a:pt x="47912" y="1978625"/>
                  </a:lnTo>
                  <a:cubicBezTo>
                    <a:pt x="21451" y="1978625"/>
                    <a:pt x="0" y="1957175"/>
                    <a:pt x="0" y="1930714"/>
                  </a:cubicBezTo>
                  <a:lnTo>
                    <a:pt x="0" y="47912"/>
                  </a:lnTo>
                  <a:cubicBezTo>
                    <a:pt x="0" y="21451"/>
                    <a:pt x="21451" y="0"/>
                    <a:pt x="47912"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txBox="1"/>
            <p:nvPr/>
          </p:nvSpPr>
          <p:spPr>
            <a:xfrm>
              <a:off x="0" y="-9525"/>
              <a:ext cx="2501579" cy="1988150"/>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13"/>
          <p:cNvSpPr/>
          <p:nvPr/>
        </p:nvSpPr>
        <p:spPr>
          <a:xfrm>
            <a:off x="5165191" y="3480891"/>
            <a:ext cx="912582" cy="228145"/>
          </a:xfrm>
          <a:custGeom>
            <a:rect b="b" l="l" r="r" t="t"/>
            <a:pathLst>
              <a:path extrusionOk="0" h="228145" w="912582">
                <a:moveTo>
                  <a:pt x="0" y="0"/>
                </a:moveTo>
                <a:lnTo>
                  <a:pt x="912582" y="0"/>
                </a:lnTo>
                <a:lnTo>
                  <a:pt x="912582" y="228145"/>
                </a:lnTo>
                <a:lnTo>
                  <a:pt x="0" y="228145"/>
                </a:lnTo>
                <a:lnTo>
                  <a:pt x="0" y="0"/>
                </a:lnTo>
                <a:close/>
              </a:path>
            </a:pathLst>
          </a:custGeom>
          <a:blipFill rotWithShape="1">
            <a:blip r:embed="rId5">
              <a:alphaModFix/>
            </a:blip>
            <a:stretch>
              <a:fillRect b="0" l="0" r="0" t="0"/>
            </a:stretch>
          </a:blipFill>
          <a:ln>
            <a:noFill/>
          </a:ln>
        </p:spPr>
      </p:sp>
      <p:grpSp>
        <p:nvGrpSpPr>
          <p:cNvPr id="363" name="Google Shape;363;p13"/>
          <p:cNvGrpSpPr/>
          <p:nvPr/>
        </p:nvGrpSpPr>
        <p:grpSpPr>
          <a:xfrm>
            <a:off x="7333345" y="4037658"/>
            <a:ext cx="7965635" cy="2496105"/>
            <a:chOff x="0" y="-9525"/>
            <a:chExt cx="3627015" cy="1136559"/>
          </a:xfrm>
        </p:grpSpPr>
        <p:sp>
          <p:nvSpPr>
            <p:cNvPr id="364" name="Google Shape;364;p13"/>
            <p:cNvSpPr/>
            <p:nvPr/>
          </p:nvSpPr>
          <p:spPr>
            <a:xfrm>
              <a:off x="0" y="0"/>
              <a:ext cx="3627015" cy="1127034"/>
            </a:xfrm>
            <a:custGeom>
              <a:rect b="b" l="l" r="r" t="t"/>
              <a:pathLst>
                <a:path extrusionOk="0" h="1127034" w="3627015">
                  <a:moveTo>
                    <a:pt x="33045" y="0"/>
                  </a:moveTo>
                  <a:lnTo>
                    <a:pt x="3593970" y="0"/>
                  </a:lnTo>
                  <a:cubicBezTo>
                    <a:pt x="3612221" y="0"/>
                    <a:pt x="3627015" y="14795"/>
                    <a:pt x="3627015" y="33045"/>
                  </a:cubicBezTo>
                  <a:lnTo>
                    <a:pt x="3627015" y="1093988"/>
                  </a:lnTo>
                  <a:cubicBezTo>
                    <a:pt x="3627015" y="1112239"/>
                    <a:pt x="3612221" y="1127034"/>
                    <a:pt x="3593970" y="1127034"/>
                  </a:cubicBezTo>
                  <a:lnTo>
                    <a:pt x="33045" y="1127034"/>
                  </a:lnTo>
                  <a:cubicBezTo>
                    <a:pt x="14795" y="1127034"/>
                    <a:pt x="0" y="1112239"/>
                    <a:pt x="0" y="1093988"/>
                  </a:cubicBezTo>
                  <a:lnTo>
                    <a:pt x="0" y="33045"/>
                  </a:lnTo>
                  <a:cubicBezTo>
                    <a:pt x="0" y="14795"/>
                    <a:pt x="14795" y="0"/>
                    <a:pt x="33045"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txBox="1"/>
            <p:nvPr/>
          </p:nvSpPr>
          <p:spPr>
            <a:xfrm>
              <a:off x="0" y="-9525"/>
              <a:ext cx="3627015" cy="1136559"/>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13"/>
          <p:cNvGrpSpPr/>
          <p:nvPr/>
        </p:nvGrpSpPr>
        <p:grpSpPr>
          <a:xfrm>
            <a:off x="7333345" y="6998619"/>
            <a:ext cx="7965635" cy="2496105"/>
            <a:chOff x="0" y="-9525"/>
            <a:chExt cx="3627015" cy="1136559"/>
          </a:xfrm>
        </p:grpSpPr>
        <p:sp>
          <p:nvSpPr>
            <p:cNvPr id="367" name="Google Shape;367;p13"/>
            <p:cNvSpPr/>
            <p:nvPr/>
          </p:nvSpPr>
          <p:spPr>
            <a:xfrm>
              <a:off x="0" y="0"/>
              <a:ext cx="3627015" cy="1127034"/>
            </a:xfrm>
            <a:custGeom>
              <a:rect b="b" l="l" r="r" t="t"/>
              <a:pathLst>
                <a:path extrusionOk="0" h="1127034" w="3627015">
                  <a:moveTo>
                    <a:pt x="33045" y="0"/>
                  </a:moveTo>
                  <a:lnTo>
                    <a:pt x="3593970" y="0"/>
                  </a:lnTo>
                  <a:cubicBezTo>
                    <a:pt x="3612221" y="0"/>
                    <a:pt x="3627015" y="14795"/>
                    <a:pt x="3627015" y="33045"/>
                  </a:cubicBezTo>
                  <a:lnTo>
                    <a:pt x="3627015" y="1093988"/>
                  </a:lnTo>
                  <a:cubicBezTo>
                    <a:pt x="3627015" y="1112239"/>
                    <a:pt x="3612221" y="1127034"/>
                    <a:pt x="3593970" y="1127034"/>
                  </a:cubicBezTo>
                  <a:lnTo>
                    <a:pt x="33045" y="1127034"/>
                  </a:lnTo>
                  <a:cubicBezTo>
                    <a:pt x="14795" y="1127034"/>
                    <a:pt x="0" y="1112239"/>
                    <a:pt x="0" y="1093988"/>
                  </a:cubicBezTo>
                  <a:lnTo>
                    <a:pt x="0" y="33045"/>
                  </a:lnTo>
                  <a:cubicBezTo>
                    <a:pt x="0" y="14795"/>
                    <a:pt x="14795" y="0"/>
                    <a:pt x="33045" y="0"/>
                  </a:cubicBezTo>
                  <a:close/>
                </a:path>
              </a:pathLst>
            </a:custGeom>
            <a:solidFill>
              <a:srgbClr val="FFFEF7"/>
            </a:solidFill>
            <a:ln cap="rnd" cmpd="sng" w="476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txBox="1"/>
            <p:nvPr/>
          </p:nvSpPr>
          <p:spPr>
            <a:xfrm>
              <a:off x="0" y="-9525"/>
              <a:ext cx="3627015" cy="1136559"/>
            </a:xfrm>
            <a:prstGeom prst="rect">
              <a:avLst/>
            </a:prstGeom>
            <a:noFill/>
            <a:ln>
              <a:noFill/>
            </a:ln>
          </p:spPr>
          <p:txBody>
            <a:bodyPr anchorCtr="0" anchor="ctr" bIns="0" lIns="0" spcFirstLastPara="1" rIns="0" wrap="square" tIns="0">
              <a:noAutofit/>
            </a:bodyPr>
            <a:lstStyle/>
            <a:p>
              <a:pPr indent="0" lvl="0" marL="0" marR="0" rtl="0" algn="ctr">
                <a:lnSpc>
                  <a:spcPct val="3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13"/>
          <p:cNvSpPr/>
          <p:nvPr/>
        </p:nvSpPr>
        <p:spPr>
          <a:xfrm>
            <a:off x="12950096" y="4672912"/>
            <a:ext cx="4102217" cy="4114800"/>
          </a:xfrm>
          <a:custGeom>
            <a:rect b="b" l="l" r="r" t="t"/>
            <a:pathLst>
              <a:path extrusionOk="0" h="4114800" w="4102217">
                <a:moveTo>
                  <a:pt x="0" y="0"/>
                </a:moveTo>
                <a:lnTo>
                  <a:pt x="4102217" y="0"/>
                </a:lnTo>
                <a:lnTo>
                  <a:pt x="4102217" y="4114800"/>
                </a:lnTo>
                <a:lnTo>
                  <a:pt x="0" y="4114800"/>
                </a:lnTo>
                <a:lnTo>
                  <a:pt x="0" y="0"/>
                </a:lnTo>
                <a:close/>
              </a:path>
            </a:pathLst>
          </a:custGeom>
          <a:blipFill rotWithShape="1">
            <a:blip r:embed="rId6">
              <a:alphaModFix/>
            </a:blip>
            <a:stretch>
              <a:fillRect b="0" l="0" r="0" t="0"/>
            </a:stretch>
          </a:blipFill>
          <a:ln>
            <a:noFill/>
          </a:ln>
        </p:spPr>
      </p:sp>
      <p:sp>
        <p:nvSpPr>
          <p:cNvPr id="370" name="Google Shape;370;p13"/>
          <p:cNvSpPr/>
          <p:nvPr/>
        </p:nvSpPr>
        <p:spPr>
          <a:xfrm>
            <a:off x="6077773" y="4987988"/>
            <a:ext cx="1556866" cy="710320"/>
          </a:xfrm>
          <a:custGeom>
            <a:rect b="b" l="l" r="r" t="t"/>
            <a:pathLst>
              <a:path extrusionOk="0" h="710320" w="1556866">
                <a:moveTo>
                  <a:pt x="0" y="0"/>
                </a:moveTo>
                <a:lnTo>
                  <a:pt x="1556866" y="0"/>
                </a:lnTo>
                <a:lnTo>
                  <a:pt x="1556866" y="710320"/>
                </a:lnTo>
                <a:lnTo>
                  <a:pt x="0" y="710320"/>
                </a:lnTo>
                <a:lnTo>
                  <a:pt x="0" y="0"/>
                </a:lnTo>
                <a:close/>
              </a:path>
            </a:pathLst>
          </a:custGeom>
          <a:blipFill rotWithShape="1">
            <a:blip r:embed="rId7">
              <a:alphaModFix/>
            </a:blip>
            <a:stretch>
              <a:fillRect b="0" l="0" r="0" t="0"/>
            </a:stretch>
          </a:blipFill>
          <a:ln>
            <a:noFill/>
          </a:ln>
        </p:spPr>
      </p:sp>
      <p:sp>
        <p:nvSpPr>
          <p:cNvPr id="371" name="Google Shape;371;p13"/>
          <p:cNvSpPr/>
          <p:nvPr/>
        </p:nvSpPr>
        <p:spPr>
          <a:xfrm rot="-1752697">
            <a:off x="5681504" y="2312337"/>
            <a:ext cx="1556866" cy="710320"/>
          </a:xfrm>
          <a:custGeom>
            <a:rect b="b" l="l" r="r" t="t"/>
            <a:pathLst>
              <a:path extrusionOk="0" h="710320" w="1556866">
                <a:moveTo>
                  <a:pt x="0" y="0"/>
                </a:moveTo>
                <a:lnTo>
                  <a:pt x="1556866" y="0"/>
                </a:lnTo>
                <a:lnTo>
                  <a:pt x="1556866" y="710320"/>
                </a:lnTo>
                <a:lnTo>
                  <a:pt x="0" y="710320"/>
                </a:lnTo>
                <a:lnTo>
                  <a:pt x="0" y="0"/>
                </a:lnTo>
                <a:close/>
              </a:path>
            </a:pathLst>
          </a:custGeom>
          <a:blipFill rotWithShape="1">
            <a:blip r:embed="rId7">
              <a:alphaModFix/>
            </a:blip>
            <a:stretch>
              <a:fillRect b="0" l="0" r="0" t="0"/>
            </a:stretch>
          </a:blipFill>
          <a:ln>
            <a:noFill/>
          </a:ln>
        </p:spPr>
      </p:sp>
      <p:sp>
        <p:nvSpPr>
          <p:cNvPr id="372" name="Google Shape;372;p13"/>
          <p:cNvSpPr/>
          <p:nvPr/>
        </p:nvSpPr>
        <p:spPr>
          <a:xfrm rot="2075699">
            <a:off x="5671184" y="7905620"/>
            <a:ext cx="1556866" cy="710320"/>
          </a:xfrm>
          <a:custGeom>
            <a:rect b="b" l="l" r="r" t="t"/>
            <a:pathLst>
              <a:path extrusionOk="0" h="710320" w="1556866">
                <a:moveTo>
                  <a:pt x="0" y="0"/>
                </a:moveTo>
                <a:lnTo>
                  <a:pt x="1556865" y="0"/>
                </a:lnTo>
                <a:lnTo>
                  <a:pt x="1556865" y="710320"/>
                </a:lnTo>
                <a:lnTo>
                  <a:pt x="0" y="710320"/>
                </a:lnTo>
                <a:lnTo>
                  <a:pt x="0" y="0"/>
                </a:lnTo>
                <a:close/>
              </a:path>
            </a:pathLst>
          </a:custGeom>
          <a:blipFill rotWithShape="1">
            <a:blip r:embed="rId7">
              <a:alphaModFix/>
            </a:blip>
            <a:stretch>
              <a:fillRect b="0" l="0" r="0" t="0"/>
            </a:stretch>
          </a:blipFill>
          <a:ln>
            <a:noFill/>
          </a:ln>
        </p:spPr>
      </p:sp>
      <p:sp>
        <p:nvSpPr>
          <p:cNvPr id="373" name="Google Shape;373;p13"/>
          <p:cNvSpPr/>
          <p:nvPr/>
        </p:nvSpPr>
        <p:spPr>
          <a:xfrm>
            <a:off x="1283349" y="3832535"/>
            <a:ext cx="4482013" cy="840377"/>
          </a:xfrm>
          <a:custGeom>
            <a:rect b="b" l="l" r="r" t="t"/>
            <a:pathLst>
              <a:path extrusionOk="0" h="840377" w="4482013">
                <a:moveTo>
                  <a:pt x="0" y="0"/>
                </a:moveTo>
                <a:lnTo>
                  <a:pt x="4482013" y="0"/>
                </a:lnTo>
                <a:lnTo>
                  <a:pt x="4482013" y="840377"/>
                </a:lnTo>
                <a:lnTo>
                  <a:pt x="0" y="840377"/>
                </a:lnTo>
                <a:lnTo>
                  <a:pt x="0" y="0"/>
                </a:lnTo>
                <a:close/>
              </a:path>
            </a:pathLst>
          </a:custGeom>
          <a:blipFill rotWithShape="1">
            <a:blip r:embed="rId8">
              <a:alphaModFix amt="57000"/>
            </a:blip>
            <a:stretch>
              <a:fillRect b="0" l="0" r="0" t="0"/>
            </a:stretch>
          </a:blipFill>
          <a:ln>
            <a:noFill/>
          </a:ln>
        </p:spPr>
      </p:sp>
      <p:sp>
        <p:nvSpPr>
          <p:cNvPr id="374" name="Google Shape;374;p13"/>
          <p:cNvSpPr/>
          <p:nvPr/>
        </p:nvSpPr>
        <p:spPr>
          <a:xfrm>
            <a:off x="2214812" y="686699"/>
            <a:ext cx="2542002" cy="2581805"/>
          </a:xfrm>
          <a:custGeom>
            <a:rect b="b" l="l" r="r" t="t"/>
            <a:pathLst>
              <a:path extrusionOk="0" h="2581805" w="2542002">
                <a:moveTo>
                  <a:pt x="0" y="0"/>
                </a:moveTo>
                <a:lnTo>
                  <a:pt x="2542002" y="0"/>
                </a:lnTo>
                <a:lnTo>
                  <a:pt x="2542002" y="2581805"/>
                </a:lnTo>
                <a:lnTo>
                  <a:pt x="0" y="2581805"/>
                </a:lnTo>
                <a:lnTo>
                  <a:pt x="0" y="0"/>
                </a:lnTo>
                <a:close/>
              </a:path>
            </a:pathLst>
          </a:custGeom>
          <a:blipFill rotWithShape="1">
            <a:blip r:embed="rId9">
              <a:alphaModFix/>
            </a:blip>
            <a:stretch>
              <a:fillRect b="0" l="0" r="0" t="0"/>
            </a:stretch>
          </a:blipFill>
          <a:ln>
            <a:noFill/>
          </a:ln>
        </p:spPr>
      </p:sp>
      <p:sp>
        <p:nvSpPr>
          <p:cNvPr id="375" name="Google Shape;375;p13"/>
          <p:cNvSpPr txBox="1"/>
          <p:nvPr/>
        </p:nvSpPr>
        <p:spPr>
          <a:xfrm>
            <a:off x="1384540" y="4949888"/>
            <a:ext cx="4482013" cy="184148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25" u="none" cap="none" strike="noStrike">
                <a:solidFill>
                  <a:srgbClr val="000000"/>
                </a:solidFill>
                <a:latin typeface="Shantell Sans"/>
                <a:ea typeface="Shantell Sans"/>
                <a:cs typeface="Shantell Sans"/>
                <a:sym typeface="Shantell Sans"/>
              </a:rPr>
              <a:t>El Spanning Tree Protocol (STP) tiene varias propiedades clave que lo hacen esencial para redes conmutadas con enlaces redundantes</a:t>
            </a:r>
            <a:endParaRPr/>
          </a:p>
        </p:txBody>
      </p:sp>
      <p:sp>
        <p:nvSpPr>
          <p:cNvPr id="376" name="Google Shape;376;p13"/>
          <p:cNvSpPr txBox="1"/>
          <p:nvPr/>
        </p:nvSpPr>
        <p:spPr>
          <a:xfrm>
            <a:off x="1384540" y="3689327"/>
            <a:ext cx="4279631" cy="107440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75" u="none" cap="none" strike="noStrike">
                <a:solidFill>
                  <a:srgbClr val="000000"/>
                </a:solidFill>
                <a:latin typeface="Arial"/>
                <a:ea typeface="Arial"/>
                <a:cs typeface="Arial"/>
                <a:sym typeface="Arial"/>
              </a:rPr>
              <a:t>Propiedades del Protocolo STP (Spanning Tree Protocol)</a:t>
            </a:r>
            <a:endParaRPr/>
          </a:p>
        </p:txBody>
      </p:sp>
      <p:sp>
        <p:nvSpPr>
          <p:cNvPr id="377" name="Google Shape;377;p13"/>
          <p:cNvSpPr txBox="1"/>
          <p:nvPr/>
        </p:nvSpPr>
        <p:spPr>
          <a:xfrm>
            <a:off x="7634639" y="1238371"/>
            <a:ext cx="7006388" cy="2221909"/>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1" i="1" lang="en-US" sz="1398" u="none" cap="none" strike="noStrike">
                <a:solidFill>
                  <a:srgbClr val="000000"/>
                </a:solidFill>
                <a:latin typeface="DM Sans"/>
                <a:ea typeface="DM Sans"/>
                <a:cs typeface="DM Sans"/>
                <a:sym typeface="DM Sans"/>
              </a:rPr>
              <a:t>Prevención de bucles</a:t>
            </a:r>
            <a:endParaRPr/>
          </a:p>
          <a:p>
            <a:pPr indent="0" lvl="0" marL="0" marR="0" rtl="0" algn="l">
              <a:lnSpc>
                <a:spcPct val="139985"/>
              </a:lnSpc>
              <a:spcBef>
                <a:spcPts val="0"/>
              </a:spcBef>
              <a:spcAft>
                <a:spcPts val="0"/>
              </a:spcAft>
              <a:buNone/>
            </a:pPr>
            <a:r>
              <a:rPr b="0" i="1" lang="en-US" sz="1398" u="none" cap="none" strike="noStrike">
                <a:solidFill>
                  <a:srgbClr val="000000"/>
                </a:solidFill>
                <a:latin typeface="Sansita"/>
                <a:ea typeface="Sansita"/>
                <a:cs typeface="Sansita"/>
                <a:sym typeface="Sansita"/>
              </a:rPr>
              <a:t>Elimina bucles en la red al bloquear enlaces redundantes.</a:t>
            </a:r>
            <a:endParaRPr/>
          </a:p>
          <a:p>
            <a:pPr indent="0" lvl="0" marL="0" marR="0" rtl="0" algn="l">
              <a:lnSpc>
                <a:spcPct val="139985"/>
              </a:lnSpc>
              <a:spcBef>
                <a:spcPts val="0"/>
              </a:spcBef>
              <a:spcAft>
                <a:spcPts val="0"/>
              </a:spcAft>
              <a:buNone/>
            </a:pPr>
            <a:r>
              <a:t/>
            </a:r>
            <a:endParaRPr b="0" i="1" sz="1398" u="none" cap="none" strike="noStrike">
              <a:solidFill>
                <a:srgbClr val="000000"/>
              </a:solidFill>
              <a:latin typeface="Sansita"/>
              <a:ea typeface="Sansita"/>
              <a:cs typeface="Sansita"/>
              <a:sym typeface="Sansita"/>
            </a:endParaRPr>
          </a:p>
          <a:p>
            <a:pPr indent="0" lvl="0" marL="0" marR="0" rtl="0" algn="l">
              <a:lnSpc>
                <a:spcPct val="139985"/>
              </a:lnSpc>
              <a:spcBef>
                <a:spcPts val="0"/>
              </a:spcBef>
              <a:spcAft>
                <a:spcPts val="0"/>
              </a:spcAft>
              <a:buNone/>
            </a:pPr>
            <a:r>
              <a:rPr b="1" i="1" lang="en-US" sz="1398" u="none" cap="none" strike="noStrike">
                <a:solidFill>
                  <a:srgbClr val="000000"/>
                </a:solidFill>
                <a:latin typeface="DM Sans"/>
                <a:ea typeface="DM Sans"/>
                <a:cs typeface="DM Sans"/>
                <a:sym typeface="DM Sans"/>
              </a:rPr>
              <a:t>Elección de Root Bridge</a:t>
            </a:r>
            <a:endParaRPr/>
          </a:p>
          <a:p>
            <a:pPr indent="0" lvl="0" marL="0" marR="0" rtl="0" algn="l">
              <a:lnSpc>
                <a:spcPct val="139985"/>
              </a:lnSpc>
              <a:spcBef>
                <a:spcPts val="0"/>
              </a:spcBef>
              <a:spcAft>
                <a:spcPts val="0"/>
              </a:spcAft>
              <a:buNone/>
            </a:pPr>
            <a:r>
              <a:rPr b="0" i="1" lang="en-US" sz="1398" u="none" cap="none" strike="noStrike">
                <a:solidFill>
                  <a:srgbClr val="000000"/>
                </a:solidFill>
                <a:latin typeface="Sansita"/>
                <a:ea typeface="Sansita"/>
                <a:cs typeface="Sansita"/>
                <a:sym typeface="Sansita"/>
              </a:rPr>
              <a:t>Todos los switches eligen automáticamente un Root Bridge con base en la menor prioridad + dirección MAC.</a:t>
            </a:r>
            <a:endParaRPr/>
          </a:p>
          <a:p>
            <a:pPr indent="0" lvl="0" marL="0" marR="0" rtl="0" algn="l">
              <a:lnSpc>
                <a:spcPct val="139985"/>
              </a:lnSpc>
              <a:spcBef>
                <a:spcPts val="0"/>
              </a:spcBef>
              <a:spcAft>
                <a:spcPts val="0"/>
              </a:spcAft>
              <a:buNone/>
            </a:pPr>
            <a:r>
              <a:t/>
            </a:r>
            <a:endParaRPr b="0" i="1" sz="1398" u="none" cap="none" strike="noStrike">
              <a:solidFill>
                <a:srgbClr val="000000"/>
              </a:solidFill>
              <a:latin typeface="Sansita"/>
              <a:ea typeface="Sansita"/>
              <a:cs typeface="Sansita"/>
              <a:sym typeface="Sansita"/>
            </a:endParaRPr>
          </a:p>
          <a:p>
            <a:pPr indent="0" lvl="0" marL="0" marR="0" rtl="0" algn="l">
              <a:lnSpc>
                <a:spcPct val="139985"/>
              </a:lnSpc>
              <a:spcBef>
                <a:spcPts val="0"/>
              </a:spcBef>
              <a:spcAft>
                <a:spcPts val="0"/>
              </a:spcAft>
              <a:buNone/>
            </a:pPr>
            <a:r>
              <a:rPr b="1" i="1" lang="en-US" sz="1398" u="none" cap="none" strike="noStrike">
                <a:solidFill>
                  <a:srgbClr val="000000"/>
                </a:solidFill>
                <a:latin typeface="DM Sans"/>
                <a:ea typeface="DM Sans"/>
                <a:cs typeface="DM Sans"/>
                <a:sym typeface="DM Sans"/>
              </a:rPr>
              <a:t>Topología lógica sin bucles</a:t>
            </a:r>
            <a:endParaRPr/>
          </a:p>
          <a:p>
            <a:pPr indent="0" lvl="0" marL="0" marR="0" rtl="0" algn="l">
              <a:lnSpc>
                <a:spcPct val="139985"/>
              </a:lnSpc>
              <a:spcBef>
                <a:spcPts val="0"/>
              </a:spcBef>
              <a:spcAft>
                <a:spcPts val="0"/>
              </a:spcAft>
              <a:buNone/>
            </a:pPr>
            <a:r>
              <a:rPr b="0" i="1" lang="en-US" sz="1398" u="none" cap="none" strike="noStrike">
                <a:solidFill>
                  <a:srgbClr val="000000"/>
                </a:solidFill>
                <a:latin typeface="Sansita"/>
                <a:ea typeface="Sansita"/>
                <a:cs typeface="Sansita"/>
                <a:sym typeface="Sansita"/>
              </a:rPr>
              <a:t>Crea una topología en forma de árbol (spanning tree) para evitar ciclos.</a:t>
            </a:r>
            <a:endParaRPr/>
          </a:p>
        </p:txBody>
      </p:sp>
      <p:sp>
        <p:nvSpPr>
          <p:cNvPr id="378" name="Google Shape;378;p13"/>
          <p:cNvSpPr txBox="1"/>
          <p:nvPr/>
        </p:nvSpPr>
        <p:spPr>
          <a:xfrm>
            <a:off x="7802952" y="4224148"/>
            <a:ext cx="6699434" cy="22218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Convergencia automática</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Detecta cambios en la red y ajusta dinámicamente los puertos para mantener la topología libre de bucles.</a:t>
            </a:r>
            <a:endParaRPr/>
          </a:p>
          <a:p>
            <a:pPr indent="0" lvl="0" marL="0" marR="0" rtl="0" algn="l">
              <a:lnSpc>
                <a:spcPct val="140000"/>
              </a:lnSpc>
              <a:spcBef>
                <a:spcPts val="0"/>
              </a:spcBef>
              <a:spcAft>
                <a:spcPts val="0"/>
              </a:spcAft>
              <a:buNone/>
            </a:pPr>
            <a:r>
              <a:t/>
            </a:r>
            <a:endParaRPr b="0" i="1" sz="1400" u="none" cap="none" strike="noStrike">
              <a:solidFill>
                <a:srgbClr val="000000"/>
              </a:solidFill>
              <a:latin typeface="Sansita"/>
              <a:ea typeface="Sansita"/>
              <a:cs typeface="Sansita"/>
              <a:sym typeface="Sansita"/>
            </a:endParaRPr>
          </a:p>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Uso de BPDUs (Bridge Protocol Data Units)</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Los switches intercambian BPDUs para compartir información de topología.</a:t>
            </a:r>
            <a:endParaRPr/>
          </a:p>
          <a:p>
            <a:pPr indent="0" lvl="0" marL="0" marR="0" rtl="0" algn="l">
              <a:lnSpc>
                <a:spcPct val="140000"/>
              </a:lnSpc>
              <a:spcBef>
                <a:spcPts val="0"/>
              </a:spcBef>
              <a:spcAft>
                <a:spcPts val="0"/>
              </a:spcAft>
              <a:buNone/>
            </a:pPr>
            <a:r>
              <a:t/>
            </a:r>
            <a:endParaRPr b="0" i="1" sz="1400" u="none" cap="none" strike="noStrike">
              <a:solidFill>
                <a:srgbClr val="000000"/>
              </a:solidFill>
              <a:latin typeface="Sansita"/>
              <a:ea typeface="Sansita"/>
              <a:cs typeface="Sansita"/>
              <a:sym typeface="Sansita"/>
            </a:endParaRPr>
          </a:p>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Bloqueo de puertos redundantes</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Identifica y bloquea puertos que podrían causar bucles.</a:t>
            </a:r>
            <a:endParaRPr/>
          </a:p>
        </p:txBody>
      </p:sp>
      <p:sp>
        <p:nvSpPr>
          <p:cNvPr id="379" name="Google Shape;379;p13"/>
          <p:cNvSpPr txBox="1"/>
          <p:nvPr/>
        </p:nvSpPr>
        <p:spPr>
          <a:xfrm>
            <a:off x="7788116" y="7150636"/>
            <a:ext cx="7510864" cy="24695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Detección y recuperación ante fallos</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Si un enlace falla, puede activar un puerto bloqueado como ruta alternativa.</a:t>
            </a:r>
            <a:endParaRPr/>
          </a:p>
          <a:p>
            <a:pPr indent="0" lvl="0" marL="0" marR="0" rtl="0" algn="l">
              <a:lnSpc>
                <a:spcPct val="140000"/>
              </a:lnSpc>
              <a:spcBef>
                <a:spcPts val="0"/>
              </a:spcBef>
              <a:spcAft>
                <a:spcPts val="0"/>
              </a:spcAft>
              <a:buNone/>
            </a:pPr>
            <a:r>
              <a:t/>
            </a:r>
            <a:endParaRPr b="0" i="1" sz="1400" u="none" cap="none" strike="noStrike">
              <a:solidFill>
                <a:srgbClr val="000000"/>
              </a:solidFill>
              <a:latin typeface="Sansita"/>
              <a:ea typeface="Sansita"/>
              <a:cs typeface="Sansita"/>
              <a:sym typeface="Sansita"/>
            </a:endParaRPr>
          </a:p>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Transiciones por estados</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Los puertos cambian de estado (blocking → listening → learning → forwarding) para estabilizar la red.</a:t>
            </a:r>
            <a:endParaRPr/>
          </a:p>
          <a:p>
            <a:pPr indent="0" lvl="0" marL="0" marR="0" rtl="0" algn="l">
              <a:lnSpc>
                <a:spcPct val="140000"/>
              </a:lnSpc>
              <a:spcBef>
                <a:spcPts val="0"/>
              </a:spcBef>
              <a:spcAft>
                <a:spcPts val="0"/>
              </a:spcAft>
              <a:buNone/>
            </a:pPr>
            <a:r>
              <a:t/>
            </a:r>
            <a:endParaRPr b="0" i="1" sz="1400" u="none" cap="none" strike="noStrike">
              <a:solidFill>
                <a:srgbClr val="000000"/>
              </a:solidFill>
              <a:latin typeface="Sansita"/>
              <a:ea typeface="Sansita"/>
              <a:cs typeface="Sansita"/>
              <a:sym typeface="Sansita"/>
            </a:endParaRPr>
          </a:p>
          <a:p>
            <a:pPr indent="0" lvl="0" marL="0" marR="0" rtl="0" algn="l">
              <a:lnSpc>
                <a:spcPct val="140000"/>
              </a:lnSpc>
              <a:spcBef>
                <a:spcPts val="0"/>
              </a:spcBef>
              <a:spcAft>
                <a:spcPts val="0"/>
              </a:spcAft>
              <a:buNone/>
            </a:pPr>
            <a:r>
              <a:rPr b="1" i="1" lang="en-US" sz="1400" u="none" cap="none" strike="noStrike">
                <a:solidFill>
                  <a:srgbClr val="000000"/>
                </a:solidFill>
                <a:latin typeface="DM Sans"/>
                <a:ea typeface="DM Sans"/>
                <a:cs typeface="DM Sans"/>
                <a:sym typeface="DM Sans"/>
              </a:rPr>
              <a:t>Evita tormentas de broadcast</a:t>
            </a:r>
            <a:endParaRPr/>
          </a:p>
          <a:p>
            <a:pPr indent="0" lvl="0" marL="0" marR="0" rtl="0" algn="l">
              <a:lnSpc>
                <a:spcPct val="140000"/>
              </a:lnSpc>
              <a:spcBef>
                <a:spcPts val="0"/>
              </a:spcBef>
              <a:spcAft>
                <a:spcPts val="0"/>
              </a:spcAft>
              <a:buNone/>
            </a:pPr>
            <a:r>
              <a:rPr b="0" i="1" lang="en-US" sz="1400" u="none" cap="none" strike="noStrike">
                <a:solidFill>
                  <a:srgbClr val="000000"/>
                </a:solidFill>
                <a:latin typeface="Sansita"/>
                <a:ea typeface="Sansita"/>
                <a:cs typeface="Sansita"/>
                <a:sym typeface="Sansita"/>
              </a:rPr>
              <a:t>Controla el flujo de tramas para evitar congestión causada por broadcasts repetitivos.</a:t>
            </a:r>
            <a:endParaRPr/>
          </a:p>
          <a:p>
            <a:pPr indent="0" lvl="0" marL="0" marR="0" rtl="0" algn="l">
              <a:lnSpc>
                <a:spcPct val="140000"/>
              </a:lnSpc>
              <a:spcBef>
                <a:spcPts val="0"/>
              </a:spcBef>
              <a:spcAft>
                <a:spcPts val="0"/>
              </a:spcAft>
              <a:buNone/>
            </a:pPr>
            <a:r>
              <a:t/>
            </a:r>
            <a:endParaRPr b="0" i="1" sz="1400" u="none" cap="none" strike="noStrike">
              <a:solidFill>
                <a:srgbClr val="000000"/>
              </a:solidFill>
              <a:latin typeface="Sansita"/>
              <a:ea typeface="Sansita"/>
              <a:cs typeface="Sansita"/>
              <a:sym typeface="Sansita"/>
            </a:endParaRPr>
          </a:p>
        </p:txBody>
      </p:sp>
      <p:sp>
        <p:nvSpPr>
          <p:cNvPr id="380" name="Google Shape;380;p13"/>
          <p:cNvSpPr/>
          <p:nvPr/>
        </p:nvSpPr>
        <p:spPr>
          <a:xfrm>
            <a:off x="481181" y="9062892"/>
            <a:ext cx="3467261" cy="863663"/>
          </a:xfrm>
          <a:custGeom>
            <a:rect b="b" l="l" r="r" t="t"/>
            <a:pathLst>
              <a:path extrusionOk="0" h="863663" w="3467261">
                <a:moveTo>
                  <a:pt x="0" y="0"/>
                </a:moveTo>
                <a:lnTo>
                  <a:pt x="3467261" y="0"/>
                </a:lnTo>
                <a:lnTo>
                  <a:pt x="3467261" y="863664"/>
                </a:lnTo>
                <a:lnTo>
                  <a:pt x="0" y="863664"/>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386" name="Google Shape;386;p14"/>
          <p:cNvSpPr/>
          <p:nvPr/>
        </p:nvSpPr>
        <p:spPr>
          <a:xfrm>
            <a:off x="-440744" y="665482"/>
            <a:ext cx="8630084" cy="1250123"/>
          </a:xfrm>
          <a:custGeom>
            <a:rect b="b" l="l" r="r" t="t"/>
            <a:pathLst>
              <a:path extrusionOk="0" h="1250123" w="8630084">
                <a:moveTo>
                  <a:pt x="0" y="0"/>
                </a:moveTo>
                <a:lnTo>
                  <a:pt x="8630084" y="0"/>
                </a:lnTo>
                <a:lnTo>
                  <a:pt x="8630084" y="1250123"/>
                </a:lnTo>
                <a:lnTo>
                  <a:pt x="0" y="1250123"/>
                </a:lnTo>
                <a:lnTo>
                  <a:pt x="0" y="0"/>
                </a:lnTo>
                <a:close/>
              </a:path>
            </a:pathLst>
          </a:custGeom>
          <a:blipFill rotWithShape="1">
            <a:blip r:embed="rId4">
              <a:alphaModFix/>
            </a:blip>
            <a:stretch>
              <a:fillRect b="0" l="0" r="0" t="0"/>
            </a:stretch>
          </a:blipFill>
          <a:ln>
            <a:noFill/>
          </a:ln>
        </p:spPr>
      </p:sp>
      <p:sp>
        <p:nvSpPr>
          <p:cNvPr id="387" name="Google Shape;387;p14"/>
          <p:cNvSpPr/>
          <p:nvPr/>
        </p:nvSpPr>
        <p:spPr>
          <a:xfrm>
            <a:off x="13692778" y="182589"/>
            <a:ext cx="4468026" cy="3686121"/>
          </a:xfrm>
          <a:custGeom>
            <a:rect b="b" l="l" r="r" t="t"/>
            <a:pathLst>
              <a:path extrusionOk="0" h="3686121" w="4468026">
                <a:moveTo>
                  <a:pt x="0" y="0"/>
                </a:moveTo>
                <a:lnTo>
                  <a:pt x="4468025" y="0"/>
                </a:lnTo>
                <a:lnTo>
                  <a:pt x="4468025" y="3686121"/>
                </a:lnTo>
                <a:lnTo>
                  <a:pt x="0" y="3686121"/>
                </a:lnTo>
                <a:lnTo>
                  <a:pt x="0" y="0"/>
                </a:lnTo>
                <a:close/>
              </a:path>
            </a:pathLst>
          </a:custGeom>
          <a:blipFill rotWithShape="1">
            <a:blip r:embed="rId5">
              <a:alphaModFix/>
            </a:blip>
            <a:stretch>
              <a:fillRect b="0" l="0" r="0" t="0"/>
            </a:stretch>
          </a:blipFill>
          <a:ln>
            <a:noFill/>
          </a:ln>
        </p:spPr>
      </p:sp>
      <p:sp>
        <p:nvSpPr>
          <p:cNvPr id="388" name="Google Shape;388;p14"/>
          <p:cNvSpPr txBox="1"/>
          <p:nvPr/>
        </p:nvSpPr>
        <p:spPr>
          <a:xfrm>
            <a:off x="1770710" y="532275"/>
            <a:ext cx="8630100" cy="1236300"/>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None/>
            </a:pPr>
            <a:r>
              <a:rPr b="0" i="0" lang="en-US" sz="8031" u="none" cap="none" strike="noStrike">
                <a:solidFill>
                  <a:srgbClr val="000000"/>
                </a:solidFill>
                <a:latin typeface="Arial"/>
                <a:ea typeface="Arial"/>
                <a:cs typeface="Arial"/>
                <a:sym typeface="Arial"/>
              </a:rPr>
              <a:t>Modos de STP</a:t>
            </a:r>
            <a:endParaRPr/>
          </a:p>
        </p:txBody>
      </p:sp>
      <p:pic>
        <p:nvPicPr>
          <p:cNvPr id="389" name="Google Shape;389;p14"/>
          <p:cNvPicPr preferRelativeResize="0"/>
          <p:nvPr/>
        </p:nvPicPr>
        <p:blipFill>
          <a:blip r:embed="rId6">
            <a:alphaModFix/>
          </a:blip>
          <a:stretch>
            <a:fillRect/>
          </a:stretch>
        </p:blipFill>
        <p:spPr>
          <a:xfrm>
            <a:off x="2606525" y="3022425"/>
            <a:ext cx="13074951" cy="6224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395" name="Google Shape;395;p15"/>
          <p:cNvSpPr/>
          <p:nvPr/>
        </p:nvSpPr>
        <p:spPr>
          <a:xfrm>
            <a:off x="14510740" y="1614339"/>
            <a:ext cx="2546438" cy="593320"/>
          </a:xfrm>
          <a:custGeom>
            <a:rect b="b" l="l" r="r" t="t"/>
            <a:pathLst>
              <a:path extrusionOk="0" h="593320" w="2546438">
                <a:moveTo>
                  <a:pt x="0" y="0"/>
                </a:moveTo>
                <a:lnTo>
                  <a:pt x="2546439" y="0"/>
                </a:lnTo>
                <a:lnTo>
                  <a:pt x="2546439" y="593320"/>
                </a:lnTo>
                <a:lnTo>
                  <a:pt x="0" y="593320"/>
                </a:lnTo>
                <a:lnTo>
                  <a:pt x="0" y="0"/>
                </a:lnTo>
                <a:close/>
              </a:path>
            </a:pathLst>
          </a:custGeom>
          <a:blipFill rotWithShape="1">
            <a:blip r:embed="rId4">
              <a:alphaModFix amt="64000"/>
            </a:blip>
            <a:stretch>
              <a:fillRect b="0" l="0" r="0" t="0"/>
            </a:stretch>
          </a:blipFill>
          <a:ln>
            <a:noFill/>
          </a:ln>
        </p:spPr>
      </p:sp>
      <p:sp>
        <p:nvSpPr>
          <p:cNvPr id="396" name="Google Shape;396;p15"/>
          <p:cNvSpPr/>
          <p:nvPr/>
        </p:nvSpPr>
        <p:spPr>
          <a:xfrm>
            <a:off x="12857183" y="2344397"/>
            <a:ext cx="2546438" cy="593320"/>
          </a:xfrm>
          <a:custGeom>
            <a:rect b="b" l="l" r="r" t="t"/>
            <a:pathLst>
              <a:path extrusionOk="0" h="593320" w="2546438">
                <a:moveTo>
                  <a:pt x="0" y="0"/>
                </a:moveTo>
                <a:lnTo>
                  <a:pt x="2546439" y="0"/>
                </a:lnTo>
                <a:lnTo>
                  <a:pt x="2546439" y="593320"/>
                </a:lnTo>
                <a:lnTo>
                  <a:pt x="0" y="593320"/>
                </a:lnTo>
                <a:lnTo>
                  <a:pt x="0" y="0"/>
                </a:lnTo>
                <a:close/>
              </a:path>
            </a:pathLst>
          </a:custGeom>
          <a:blipFill rotWithShape="1">
            <a:blip r:embed="rId5">
              <a:alphaModFix amt="64000"/>
            </a:blip>
            <a:stretch>
              <a:fillRect b="0" l="0" r="0" t="0"/>
            </a:stretch>
          </a:blipFill>
          <a:ln>
            <a:noFill/>
          </a:ln>
        </p:spPr>
      </p:sp>
      <p:sp>
        <p:nvSpPr>
          <p:cNvPr id="397" name="Google Shape;397;p15"/>
          <p:cNvSpPr/>
          <p:nvPr/>
        </p:nvSpPr>
        <p:spPr>
          <a:xfrm>
            <a:off x="12650489" y="5309094"/>
            <a:ext cx="2546438" cy="593320"/>
          </a:xfrm>
          <a:custGeom>
            <a:rect b="b" l="l" r="r" t="t"/>
            <a:pathLst>
              <a:path extrusionOk="0" h="593320" w="2546438">
                <a:moveTo>
                  <a:pt x="0" y="0"/>
                </a:moveTo>
                <a:lnTo>
                  <a:pt x="2546438" y="0"/>
                </a:lnTo>
                <a:lnTo>
                  <a:pt x="2546438" y="593321"/>
                </a:lnTo>
                <a:lnTo>
                  <a:pt x="0" y="593321"/>
                </a:lnTo>
                <a:lnTo>
                  <a:pt x="0" y="0"/>
                </a:lnTo>
                <a:close/>
              </a:path>
            </a:pathLst>
          </a:custGeom>
          <a:blipFill rotWithShape="1">
            <a:blip r:embed="rId6">
              <a:alphaModFix amt="64000"/>
            </a:blip>
            <a:stretch>
              <a:fillRect b="0" l="0" r="0" t="0"/>
            </a:stretch>
          </a:blipFill>
          <a:ln>
            <a:noFill/>
          </a:ln>
        </p:spPr>
      </p:sp>
      <p:sp>
        <p:nvSpPr>
          <p:cNvPr id="398" name="Google Shape;398;p15"/>
          <p:cNvSpPr/>
          <p:nvPr/>
        </p:nvSpPr>
        <p:spPr>
          <a:xfrm>
            <a:off x="12073986" y="6470101"/>
            <a:ext cx="4873508" cy="3571875"/>
          </a:xfrm>
          <a:custGeom>
            <a:rect b="b" l="l" r="r" t="t"/>
            <a:pathLst>
              <a:path extrusionOk="0" h="3571875" w="4873508">
                <a:moveTo>
                  <a:pt x="0" y="0"/>
                </a:moveTo>
                <a:lnTo>
                  <a:pt x="4873508" y="0"/>
                </a:lnTo>
                <a:lnTo>
                  <a:pt x="4873508" y="3571875"/>
                </a:lnTo>
                <a:lnTo>
                  <a:pt x="0" y="3571875"/>
                </a:lnTo>
                <a:lnTo>
                  <a:pt x="0" y="0"/>
                </a:lnTo>
                <a:close/>
              </a:path>
            </a:pathLst>
          </a:custGeom>
          <a:blipFill rotWithShape="1">
            <a:blip r:embed="rId7">
              <a:alphaModFix/>
            </a:blip>
            <a:stretch>
              <a:fillRect b="0" l="0" r="0" t="0"/>
            </a:stretch>
          </a:blipFill>
          <a:ln>
            <a:noFill/>
          </a:ln>
        </p:spPr>
      </p:sp>
      <p:grpSp>
        <p:nvGrpSpPr>
          <p:cNvPr id="399" name="Google Shape;399;p15"/>
          <p:cNvGrpSpPr/>
          <p:nvPr/>
        </p:nvGrpSpPr>
        <p:grpSpPr>
          <a:xfrm>
            <a:off x="625149" y="3464542"/>
            <a:ext cx="9236478" cy="5533944"/>
            <a:chOff x="0" y="-47625"/>
            <a:chExt cx="2432653" cy="1457500"/>
          </a:xfrm>
        </p:grpSpPr>
        <p:sp>
          <p:nvSpPr>
            <p:cNvPr id="400" name="Google Shape;400;p15"/>
            <p:cNvSpPr/>
            <p:nvPr/>
          </p:nvSpPr>
          <p:spPr>
            <a:xfrm>
              <a:off x="0" y="0"/>
              <a:ext cx="2432652" cy="1409875"/>
            </a:xfrm>
            <a:custGeom>
              <a:rect b="b" l="l" r="r" t="t"/>
              <a:pathLst>
                <a:path extrusionOk="0" h="1409875" w="2432652">
                  <a:moveTo>
                    <a:pt x="67893" y="0"/>
                  </a:moveTo>
                  <a:lnTo>
                    <a:pt x="2364759" y="0"/>
                  </a:lnTo>
                  <a:cubicBezTo>
                    <a:pt x="2382766" y="0"/>
                    <a:pt x="2400035" y="7153"/>
                    <a:pt x="2412767" y="19886"/>
                  </a:cubicBezTo>
                  <a:cubicBezTo>
                    <a:pt x="2425499" y="32618"/>
                    <a:pt x="2432652" y="49887"/>
                    <a:pt x="2432652" y="67893"/>
                  </a:cubicBezTo>
                  <a:lnTo>
                    <a:pt x="2432652" y="1341981"/>
                  </a:lnTo>
                  <a:cubicBezTo>
                    <a:pt x="2432652" y="1379478"/>
                    <a:pt x="2402256" y="1409875"/>
                    <a:pt x="2364759" y="1409875"/>
                  </a:cubicBezTo>
                  <a:lnTo>
                    <a:pt x="67893" y="1409875"/>
                  </a:lnTo>
                  <a:cubicBezTo>
                    <a:pt x="30397" y="1409875"/>
                    <a:pt x="0" y="1379478"/>
                    <a:pt x="0" y="1341981"/>
                  </a:cubicBezTo>
                  <a:lnTo>
                    <a:pt x="0" y="67893"/>
                  </a:lnTo>
                  <a:cubicBezTo>
                    <a:pt x="0" y="30397"/>
                    <a:pt x="30397" y="0"/>
                    <a:pt x="67893" y="0"/>
                  </a:cubicBezTo>
                  <a:close/>
                </a:path>
              </a:pathLst>
            </a:custGeom>
            <a:solidFill>
              <a:srgbClr val="C1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txBox="1"/>
            <p:nvPr/>
          </p:nvSpPr>
          <p:spPr>
            <a:xfrm>
              <a:off x="0" y="-47625"/>
              <a:ext cx="2432653" cy="1457500"/>
            </a:xfrm>
            <a:prstGeom prst="rect">
              <a:avLst/>
            </a:prstGeom>
            <a:noFill/>
            <a:ln>
              <a:noFill/>
            </a:ln>
          </p:spPr>
          <p:txBody>
            <a:bodyPr anchorCtr="0" anchor="ctr" bIns="50800" lIns="50800" spcFirstLastPara="1" rIns="50800" wrap="square" tIns="50800">
              <a:noAutofit/>
            </a:bodyPr>
            <a:lstStyle/>
            <a:p>
              <a:pPr indent="0" lvl="0" marL="0" marR="0" rtl="0" algn="ctr">
                <a:lnSpc>
                  <a:spcPct val="18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2" name="Google Shape;402;p15"/>
          <p:cNvSpPr/>
          <p:nvPr/>
        </p:nvSpPr>
        <p:spPr>
          <a:xfrm>
            <a:off x="981040" y="3322180"/>
            <a:ext cx="9200973" cy="5353118"/>
          </a:xfrm>
          <a:custGeom>
            <a:rect b="b" l="l" r="r" t="t"/>
            <a:pathLst>
              <a:path extrusionOk="0" h="5353118" w="9200973">
                <a:moveTo>
                  <a:pt x="0" y="0"/>
                </a:moveTo>
                <a:lnTo>
                  <a:pt x="9200972" y="0"/>
                </a:lnTo>
                <a:lnTo>
                  <a:pt x="9200972" y="5353118"/>
                </a:lnTo>
                <a:lnTo>
                  <a:pt x="0" y="5353118"/>
                </a:lnTo>
                <a:lnTo>
                  <a:pt x="0" y="0"/>
                </a:lnTo>
                <a:close/>
              </a:path>
            </a:pathLst>
          </a:custGeom>
          <a:blipFill rotWithShape="1">
            <a:blip r:embed="rId8">
              <a:alphaModFix/>
            </a:blip>
            <a:stretch>
              <a:fillRect b="-7424" l="0" r="0" t="0"/>
            </a:stretch>
          </a:blipFill>
          <a:ln>
            <a:noFill/>
          </a:ln>
        </p:spPr>
      </p:sp>
      <p:sp>
        <p:nvSpPr>
          <p:cNvPr id="403" name="Google Shape;403;p15"/>
          <p:cNvSpPr txBox="1"/>
          <p:nvPr/>
        </p:nvSpPr>
        <p:spPr>
          <a:xfrm>
            <a:off x="1399749" y="510080"/>
            <a:ext cx="8782200" cy="2847600"/>
          </a:xfrm>
          <a:prstGeom prst="rect">
            <a:avLst/>
          </a:prstGeom>
          <a:noFill/>
          <a:ln>
            <a:noFill/>
          </a:ln>
        </p:spPr>
        <p:txBody>
          <a:bodyPr anchorCtr="0" anchor="t" bIns="0" lIns="0" spcFirstLastPara="1" rIns="0" wrap="square" tIns="0">
            <a:spAutoFit/>
          </a:bodyPr>
          <a:lstStyle/>
          <a:p>
            <a:pPr indent="0" lvl="0" marL="0" marR="0" rtl="0" algn="l">
              <a:lnSpc>
                <a:spcPct val="81996"/>
              </a:lnSpc>
              <a:spcBef>
                <a:spcPts val="0"/>
              </a:spcBef>
              <a:spcAft>
                <a:spcPts val="0"/>
              </a:spcAft>
              <a:buNone/>
            </a:pPr>
            <a:r>
              <a:rPr b="0" i="0" lang="en-US" sz="11281" u="none" cap="none" strike="noStrike">
                <a:solidFill>
                  <a:srgbClr val="000102"/>
                </a:solidFill>
                <a:latin typeface="Arial"/>
                <a:ea typeface="Arial"/>
                <a:cs typeface="Arial"/>
                <a:sym typeface="Arial"/>
              </a:rPr>
              <a:t>Dominio de Colisión</a:t>
            </a:r>
            <a:endParaRPr/>
          </a:p>
        </p:txBody>
      </p:sp>
      <p:sp>
        <p:nvSpPr>
          <p:cNvPr id="404" name="Google Shape;404;p15"/>
          <p:cNvSpPr txBox="1"/>
          <p:nvPr/>
        </p:nvSpPr>
        <p:spPr>
          <a:xfrm>
            <a:off x="10770541" y="1691004"/>
            <a:ext cx="7096499" cy="47790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Básicamente para saber qué es un </a:t>
            </a:r>
            <a:r>
              <a:rPr b="1" i="0" lang="en-US" sz="1970" u="none" cap="none" strike="noStrike">
                <a:solidFill>
                  <a:srgbClr val="000102"/>
                </a:solidFill>
                <a:latin typeface="Shantell Sans"/>
                <a:ea typeface="Shantell Sans"/>
                <a:cs typeface="Shantell Sans"/>
                <a:sym typeface="Shantell Sans"/>
              </a:rPr>
              <a:t>Dominio de Colisión</a:t>
            </a:r>
            <a:r>
              <a:rPr b="0" i="0" lang="en-US" sz="1970" u="none" cap="none" strike="noStrike">
                <a:solidFill>
                  <a:srgbClr val="000102"/>
                </a:solidFill>
                <a:latin typeface="Shantell Sans"/>
                <a:ea typeface="Shantell Sans"/>
                <a:cs typeface="Shantell Sans"/>
                <a:sym typeface="Shantell Sans"/>
              </a:rPr>
              <a:t> en redes</a:t>
            </a:r>
            <a:r>
              <a:rPr b="1" i="0" lang="en-US" sz="1970" u="none" cap="none" strike="noStrike">
                <a:solidFill>
                  <a:srgbClr val="000102"/>
                </a:solidFill>
                <a:latin typeface="Shantell Sans"/>
                <a:ea typeface="Shantell Sans"/>
                <a:cs typeface="Shantell Sans"/>
                <a:sym typeface="Shantell Sans"/>
              </a:rPr>
              <a:t>, </a:t>
            </a:r>
            <a:r>
              <a:rPr b="0" i="0" lang="en-US" sz="1970" u="none" cap="none" strike="noStrike">
                <a:solidFill>
                  <a:srgbClr val="000102"/>
                </a:solidFill>
                <a:latin typeface="Shantell Sans"/>
                <a:ea typeface="Shantell Sans"/>
                <a:cs typeface="Shantell Sans"/>
                <a:sym typeface="Shantell Sans"/>
              </a:rPr>
              <a:t>pensemos que esta implícito en su nombre, es una parte de la red donde </a:t>
            </a:r>
            <a:r>
              <a:rPr b="1" i="0" lang="en-US" sz="1970" u="none" cap="none" strike="noStrike">
                <a:solidFill>
                  <a:srgbClr val="000102"/>
                </a:solidFill>
                <a:latin typeface="Shantell Sans"/>
                <a:ea typeface="Shantell Sans"/>
                <a:cs typeface="Shantell Sans"/>
                <a:sym typeface="Shantell Sans"/>
              </a:rPr>
              <a:t>colisiones entre dispositivos ocurren</a:t>
            </a:r>
            <a:r>
              <a:rPr b="0" i="0" lang="en-US" sz="1970" u="none" cap="none" strike="noStrike">
                <a:solidFill>
                  <a:srgbClr val="000102"/>
                </a:solidFill>
                <a:latin typeface="Shantell Sans"/>
                <a:ea typeface="Shantell Sans"/>
                <a:cs typeface="Shantell Sans"/>
                <a:sym typeface="Shantell Sans"/>
              </a:rPr>
              <a:t>.</a:t>
            </a:r>
            <a:endParaRPr/>
          </a:p>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La colisión ocurre cuando dos dispositivos envían información al mismo tiempo en un segmento compartido.</a:t>
            </a:r>
            <a:endParaRPr/>
          </a:p>
          <a:p>
            <a:pPr indent="0" lvl="0" marL="0" marR="0" rtl="0" algn="l">
              <a:lnSpc>
                <a:spcPct val="140030"/>
              </a:lnSpc>
              <a:spcBef>
                <a:spcPts val="0"/>
              </a:spcBef>
              <a:spcAft>
                <a:spcPts val="0"/>
              </a:spcAft>
              <a:buNone/>
            </a:pPr>
            <a:r>
              <a:t/>
            </a:r>
            <a:endParaRPr b="0" i="0" sz="1970" u="none" cap="none" strike="noStrike">
              <a:solidFill>
                <a:srgbClr val="000102"/>
              </a:solidFill>
              <a:latin typeface="Shantell Sans"/>
              <a:ea typeface="Shantell Sans"/>
              <a:cs typeface="Shantell Sans"/>
              <a:sym typeface="Shantell Sans"/>
            </a:endParaRPr>
          </a:p>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Atrás en el tiempo lo que se utilizaba en una red era un Hub Ethernet, pero a diferencia de un switch Ethernet el primero no interpreta una señal eléctrica entrante como una trama Ethernet como si lo haría un Switch. Básicamente </a:t>
            </a:r>
            <a:r>
              <a:rPr b="1" i="0" lang="en-US" sz="1970" u="none" cap="none" strike="noStrike">
                <a:solidFill>
                  <a:srgbClr val="000102"/>
                </a:solidFill>
                <a:latin typeface="Shantell Sans"/>
                <a:ea typeface="Shantell Sans"/>
                <a:cs typeface="Shantell Sans"/>
                <a:sym typeface="Shantell Sans"/>
              </a:rPr>
              <a:t>un hub es un repetidor</a:t>
            </a:r>
            <a:r>
              <a:rPr b="0" i="0" lang="en-US" sz="1970" u="none" cap="none" strike="noStrike">
                <a:solidFill>
                  <a:srgbClr val="000102"/>
                </a:solidFill>
                <a:latin typeface="Shantell Sans"/>
                <a:ea typeface="Shantell Sans"/>
                <a:cs typeface="Shantell Sans"/>
                <a:sym typeface="Shantell Sans"/>
              </a:rPr>
              <a:t>, cuando un repetidor recibe una señal eléctrica éste </a:t>
            </a:r>
            <a:r>
              <a:rPr b="1" i="0" lang="en-US" sz="1970" u="none" cap="none" strike="noStrike">
                <a:solidFill>
                  <a:srgbClr val="000102"/>
                </a:solidFill>
                <a:latin typeface="Shantell Sans"/>
                <a:ea typeface="Shantell Sans"/>
                <a:cs typeface="Shantell Sans"/>
                <a:sym typeface="Shantell Sans"/>
              </a:rPr>
              <a:t>replica</a:t>
            </a:r>
            <a:r>
              <a:rPr b="0" i="0" lang="en-US" sz="1970" u="none" cap="none" strike="noStrike">
                <a:solidFill>
                  <a:srgbClr val="000102"/>
                </a:solidFill>
                <a:latin typeface="Shantell Sans"/>
                <a:ea typeface="Shantell Sans"/>
                <a:cs typeface="Shantell Sans"/>
                <a:sym typeface="Shantell Sans"/>
              </a:rPr>
              <a:t> la misma </a:t>
            </a:r>
            <a:r>
              <a:rPr b="1" i="0" lang="en-US" sz="1970" u="none" cap="none" strike="noStrike">
                <a:solidFill>
                  <a:srgbClr val="000102"/>
                </a:solidFill>
                <a:latin typeface="Shantell Sans"/>
                <a:ea typeface="Shantell Sans"/>
                <a:cs typeface="Shantell Sans"/>
                <a:sym typeface="Shantell Sans"/>
              </a:rPr>
              <a:t>por todos sus puertos</a:t>
            </a:r>
            <a:r>
              <a:rPr b="0" i="0" lang="en-US" sz="1970" u="none" cap="none" strike="noStrike">
                <a:solidFill>
                  <a:srgbClr val="000102"/>
                </a:solidFill>
                <a:latin typeface="Shantell Sans"/>
                <a:ea typeface="Shantell Sans"/>
                <a:cs typeface="Shantell Sans"/>
                <a:sym typeface="Shantell Sans"/>
              </a:rPr>
              <a:t> (a excepción del puerto de ingreso) </a:t>
            </a:r>
            <a:r>
              <a:rPr b="1" i="0" lang="en-US" sz="1970" u="none" cap="none" strike="noStrike">
                <a:solidFill>
                  <a:srgbClr val="000102"/>
                </a:solidFill>
                <a:latin typeface="Shantell Sans"/>
                <a:ea typeface="Shantell Sans"/>
                <a:cs typeface="Shantell Sans"/>
                <a:sym typeface="Shantell Sans"/>
              </a:rPr>
              <a:t>regenerando la señal</a:t>
            </a:r>
            <a:r>
              <a:rPr b="0" i="0" lang="en-US" sz="1970" u="none" cap="none" strike="noStrike">
                <a:solidFill>
                  <a:srgbClr val="000102"/>
                </a:solidFill>
                <a:latin typeface="Shantell Sans"/>
                <a:ea typeface="Shantell Sans"/>
                <a:cs typeface="Shantell Sans"/>
                <a:sym typeface="Shantell Sans"/>
              </a:rPr>
              <a:t>.</a:t>
            </a:r>
            <a:endParaRPr/>
          </a:p>
          <a:p>
            <a:pPr indent="0" lvl="0" marL="0" marR="0" rtl="0" algn="l">
              <a:lnSpc>
                <a:spcPct val="140030"/>
              </a:lnSpc>
              <a:spcBef>
                <a:spcPts val="0"/>
              </a:spcBef>
              <a:spcAft>
                <a:spcPts val="0"/>
              </a:spcAft>
              <a:buNone/>
            </a:pPr>
            <a:r>
              <a:t/>
            </a:r>
            <a:endParaRPr b="0" i="0" sz="1970" u="none" cap="none" strike="noStrike">
              <a:solidFill>
                <a:srgbClr val="000102"/>
              </a:solidFill>
              <a:latin typeface="Shantell Sans"/>
              <a:ea typeface="Shantell Sans"/>
              <a:cs typeface="Shantell Sans"/>
              <a:sym typeface="Shante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410" name="Google Shape;410;p16"/>
          <p:cNvSpPr/>
          <p:nvPr/>
        </p:nvSpPr>
        <p:spPr>
          <a:xfrm>
            <a:off x="6478827" y="4177659"/>
            <a:ext cx="1054277" cy="1162028"/>
          </a:xfrm>
          <a:custGeom>
            <a:rect b="b" l="l" r="r" t="t"/>
            <a:pathLst>
              <a:path extrusionOk="0" h="1162028" w="1054277">
                <a:moveTo>
                  <a:pt x="0" y="0"/>
                </a:moveTo>
                <a:lnTo>
                  <a:pt x="1054277" y="0"/>
                </a:lnTo>
                <a:lnTo>
                  <a:pt x="1054277" y="1162028"/>
                </a:lnTo>
                <a:lnTo>
                  <a:pt x="0" y="1162028"/>
                </a:lnTo>
                <a:lnTo>
                  <a:pt x="0" y="0"/>
                </a:lnTo>
                <a:close/>
              </a:path>
            </a:pathLst>
          </a:custGeom>
          <a:blipFill rotWithShape="1">
            <a:blip r:embed="rId4">
              <a:alphaModFix/>
            </a:blip>
            <a:stretch>
              <a:fillRect b="0" l="0" r="0" t="0"/>
            </a:stretch>
          </a:blipFill>
          <a:ln>
            <a:noFill/>
          </a:ln>
        </p:spPr>
      </p:sp>
      <p:sp>
        <p:nvSpPr>
          <p:cNvPr id="411" name="Google Shape;411;p16"/>
          <p:cNvSpPr/>
          <p:nvPr/>
        </p:nvSpPr>
        <p:spPr>
          <a:xfrm>
            <a:off x="2561485" y="4140844"/>
            <a:ext cx="699689" cy="1198844"/>
          </a:xfrm>
          <a:custGeom>
            <a:rect b="b" l="l" r="r" t="t"/>
            <a:pathLst>
              <a:path extrusionOk="0" h="1198844" w="699689">
                <a:moveTo>
                  <a:pt x="0" y="0"/>
                </a:moveTo>
                <a:lnTo>
                  <a:pt x="699689" y="0"/>
                </a:lnTo>
                <a:lnTo>
                  <a:pt x="699689" y="1198843"/>
                </a:lnTo>
                <a:lnTo>
                  <a:pt x="0" y="1198843"/>
                </a:lnTo>
                <a:lnTo>
                  <a:pt x="0" y="0"/>
                </a:lnTo>
                <a:close/>
              </a:path>
            </a:pathLst>
          </a:custGeom>
          <a:blipFill rotWithShape="1">
            <a:blip r:embed="rId5">
              <a:alphaModFix/>
            </a:blip>
            <a:stretch>
              <a:fillRect b="0" l="0" r="0" t="0"/>
            </a:stretch>
          </a:blipFill>
          <a:ln>
            <a:noFill/>
          </a:ln>
        </p:spPr>
      </p:sp>
      <p:sp>
        <p:nvSpPr>
          <p:cNvPr id="412" name="Google Shape;412;p16"/>
          <p:cNvSpPr/>
          <p:nvPr/>
        </p:nvSpPr>
        <p:spPr>
          <a:xfrm>
            <a:off x="10422509" y="4200939"/>
            <a:ext cx="1354473" cy="1078653"/>
          </a:xfrm>
          <a:custGeom>
            <a:rect b="b" l="l" r="r" t="t"/>
            <a:pathLst>
              <a:path extrusionOk="0" h="1078653" w="1354473">
                <a:moveTo>
                  <a:pt x="0" y="0"/>
                </a:moveTo>
                <a:lnTo>
                  <a:pt x="1354473" y="0"/>
                </a:lnTo>
                <a:lnTo>
                  <a:pt x="1354473" y="1078653"/>
                </a:lnTo>
                <a:lnTo>
                  <a:pt x="0" y="1078653"/>
                </a:lnTo>
                <a:lnTo>
                  <a:pt x="0" y="0"/>
                </a:lnTo>
                <a:close/>
              </a:path>
            </a:pathLst>
          </a:custGeom>
          <a:blipFill rotWithShape="1">
            <a:blip r:embed="rId6">
              <a:alphaModFix/>
            </a:blip>
            <a:stretch>
              <a:fillRect b="0" l="0" r="0" t="0"/>
            </a:stretch>
          </a:blipFill>
          <a:ln>
            <a:noFill/>
          </a:ln>
        </p:spPr>
      </p:sp>
      <p:sp>
        <p:nvSpPr>
          <p:cNvPr id="413" name="Google Shape;413;p16"/>
          <p:cNvSpPr txBox="1"/>
          <p:nvPr/>
        </p:nvSpPr>
        <p:spPr>
          <a:xfrm>
            <a:off x="1102564" y="6395288"/>
            <a:ext cx="3617531" cy="2278575"/>
          </a:xfrm>
          <a:prstGeom prst="rect">
            <a:avLst/>
          </a:prstGeom>
          <a:noFill/>
          <a:ln>
            <a:noFill/>
          </a:ln>
        </p:spPr>
        <p:txBody>
          <a:bodyPr anchorCtr="0" anchor="t" bIns="0" lIns="0" spcFirstLastPara="1" rIns="0" wrap="square" tIns="0">
            <a:spAutoFit/>
          </a:bodyPr>
          <a:lstStyle/>
          <a:p>
            <a:pPr indent="0" lvl="0" marL="0" marR="0" rtl="0" algn="just">
              <a:lnSpc>
                <a:spcPct val="140009"/>
              </a:lnSpc>
              <a:spcBef>
                <a:spcPts val="0"/>
              </a:spcBef>
              <a:spcAft>
                <a:spcPts val="0"/>
              </a:spcAft>
              <a:buNone/>
            </a:pPr>
            <a:r>
              <a:rPr b="0" i="0" lang="en-US" sz="2167" u="none" cap="none" strike="noStrike">
                <a:solidFill>
                  <a:srgbClr val="000102"/>
                </a:solidFill>
                <a:latin typeface="Shantell Sans"/>
                <a:ea typeface="Shantell Sans"/>
                <a:cs typeface="Shantell Sans"/>
                <a:sym typeface="Shantell Sans"/>
              </a:rPr>
              <a:t>El hub actúa como un repetidor, regenerando la señal y repitiendo cualquier señal eléctrica a todos sus puertos, incluso ignorando las reglas de CSMA/CD.</a:t>
            </a:r>
            <a:endParaRPr/>
          </a:p>
        </p:txBody>
      </p:sp>
      <p:sp>
        <p:nvSpPr>
          <p:cNvPr id="414" name="Google Shape;414;p16"/>
          <p:cNvSpPr txBox="1"/>
          <p:nvPr/>
        </p:nvSpPr>
        <p:spPr>
          <a:xfrm>
            <a:off x="9290980" y="6395288"/>
            <a:ext cx="3617531" cy="2278575"/>
          </a:xfrm>
          <a:prstGeom prst="rect">
            <a:avLst/>
          </a:prstGeom>
          <a:noFill/>
          <a:ln>
            <a:noFill/>
          </a:ln>
        </p:spPr>
        <p:txBody>
          <a:bodyPr anchorCtr="0" anchor="t" bIns="0" lIns="0" spcFirstLastPara="1" rIns="0" wrap="square" tIns="0">
            <a:spAutoFit/>
          </a:bodyPr>
          <a:lstStyle/>
          <a:p>
            <a:pPr indent="0" lvl="0" marL="0" marR="0" rtl="0" algn="just">
              <a:lnSpc>
                <a:spcPct val="140009"/>
              </a:lnSpc>
              <a:spcBef>
                <a:spcPts val="0"/>
              </a:spcBef>
              <a:spcAft>
                <a:spcPts val="0"/>
              </a:spcAft>
              <a:buNone/>
            </a:pPr>
            <a:r>
              <a:rPr b="0" i="0" lang="en-US" sz="2167" u="none" cap="none" strike="noStrike">
                <a:solidFill>
                  <a:srgbClr val="000102"/>
                </a:solidFill>
                <a:latin typeface="Shantell Sans"/>
                <a:ea typeface="Shantell Sans"/>
                <a:cs typeface="Shantell Sans"/>
                <a:sym typeface="Shantell Sans"/>
              </a:rPr>
              <a:t>Los dispositivos conectados deberán tomar turnos utilizando la lógica de CSMA/CD quien detectara las colisiones.</a:t>
            </a:r>
            <a:endParaRPr/>
          </a:p>
          <a:p>
            <a:pPr indent="0" lvl="0" marL="0" marR="0" rtl="0" algn="just">
              <a:lnSpc>
                <a:spcPct val="140009"/>
              </a:lnSpc>
              <a:spcBef>
                <a:spcPts val="0"/>
              </a:spcBef>
              <a:spcAft>
                <a:spcPts val="0"/>
              </a:spcAft>
              <a:buNone/>
            </a:pPr>
            <a:r>
              <a:t/>
            </a:r>
            <a:endParaRPr b="0" i="0" sz="2167" u="none" cap="none" strike="noStrike">
              <a:solidFill>
                <a:srgbClr val="000102"/>
              </a:solidFill>
              <a:latin typeface="Shantell Sans"/>
              <a:ea typeface="Shantell Sans"/>
              <a:cs typeface="Shantell Sans"/>
              <a:sym typeface="Shantell Sans"/>
            </a:endParaRPr>
          </a:p>
        </p:txBody>
      </p:sp>
      <p:sp>
        <p:nvSpPr>
          <p:cNvPr id="415" name="Google Shape;415;p16"/>
          <p:cNvSpPr txBox="1"/>
          <p:nvPr/>
        </p:nvSpPr>
        <p:spPr>
          <a:xfrm>
            <a:off x="5197200" y="6395288"/>
            <a:ext cx="3617531" cy="2278575"/>
          </a:xfrm>
          <a:prstGeom prst="rect">
            <a:avLst/>
          </a:prstGeom>
          <a:noFill/>
          <a:ln>
            <a:noFill/>
          </a:ln>
        </p:spPr>
        <p:txBody>
          <a:bodyPr anchorCtr="0" anchor="t" bIns="0" lIns="0" spcFirstLastPara="1" rIns="0" wrap="square" tIns="0">
            <a:spAutoFit/>
          </a:bodyPr>
          <a:lstStyle/>
          <a:p>
            <a:pPr indent="0" lvl="0" marL="0" marR="0" rtl="0" algn="just">
              <a:lnSpc>
                <a:spcPct val="140009"/>
              </a:lnSpc>
              <a:spcBef>
                <a:spcPts val="0"/>
              </a:spcBef>
              <a:spcAft>
                <a:spcPts val="0"/>
              </a:spcAft>
              <a:buNone/>
            </a:pPr>
            <a:r>
              <a:rPr b="0" i="0" lang="en-US" sz="2167" u="none" cap="none" strike="noStrike">
                <a:solidFill>
                  <a:srgbClr val="000102"/>
                </a:solidFill>
                <a:latin typeface="Shantell Sans"/>
                <a:ea typeface="Shantell Sans"/>
                <a:cs typeface="Shantell Sans"/>
                <a:sym typeface="Shantell Sans"/>
              </a:rPr>
              <a:t>Cuando dos o más dispositivos envían al mismo tiempo ocurre una colisión eléctrica, haciendo que las dos señales queden corruptas.</a:t>
            </a:r>
            <a:endParaRPr/>
          </a:p>
        </p:txBody>
      </p:sp>
      <p:sp>
        <p:nvSpPr>
          <p:cNvPr id="416" name="Google Shape;416;p16"/>
          <p:cNvSpPr txBox="1"/>
          <p:nvPr/>
        </p:nvSpPr>
        <p:spPr>
          <a:xfrm>
            <a:off x="13385616" y="6395288"/>
            <a:ext cx="3617531" cy="1516575"/>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2167" u="none" cap="none" strike="noStrike">
                <a:solidFill>
                  <a:srgbClr val="000102"/>
                </a:solidFill>
                <a:latin typeface="Shantell Sans"/>
                <a:ea typeface="Shantell Sans"/>
                <a:cs typeface="Shantell Sans"/>
                <a:sym typeface="Shantell Sans"/>
              </a:rPr>
              <a:t>Los Hubs entonces crean una topología física de tipo estrella.</a:t>
            </a:r>
            <a:endParaRPr/>
          </a:p>
          <a:p>
            <a:pPr indent="0" lvl="0" marL="0" marR="0" rtl="0" algn="ctr">
              <a:lnSpc>
                <a:spcPct val="140009"/>
              </a:lnSpc>
              <a:spcBef>
                <a:spcPts val="0"/>
              </a:spcBef>
              <a:spcAft>
                <a:spcPts val="0"/>
              </a:spcAft>
              <a:buNone/>
            </a:pPr>
            <a:r>
              <a:t/>
            </a:r>
            <a:endParaRPr b="0" i="0" sz="2167" u="none" cap="none" strike="noStrike">
              <a:solidFill>
                <a:srgbClr val="000102"/>
              </a:solidFill>
              <a:latin typeface="Shantell Sans"/>
              <a:ea typeface="Shantell Sans"/>
              <a:cs typeface="Shantell Sans"/>
              <a:sym typeface="Shantell Sans"/>
            </a:endParaRPr>
          </a:p>
        </p:txBody>
      </p:sp>
      <p:sp>
        <p:nvSpPr>
          <p:cNvPr id="417" name="Google Shape;417;p16"/>
          <p:cNvSpPr/>
          <p:nvPr/>
        </p:nvSpPr>
        <p:spPr>
          <a:xfrm>
            <a:off x="14512845" y="4200939"/>
            <a:ext cx="1036099" cy="1182271"/>
          </a:xfrm>
          <a:custGeom>
            <a:rect b="b" l="l" r="r" t="t"/>
            <a:pathLst>
              <a:path extrusionOk="0" h="1182271" w="1036099">
                <a:moveTo>
                  <a:pt x="0" y="0"/>
                </a:moveTo>
                <a:lnTo>
                  <a:pt x="1036099" y="0"/>
                </a:lnTo>
                <a:lnTo>
                  <a:pt x="1036099" y="1182271"/>
                </a:lnTo>
                <a:lnTo>
                  <a:pt x="0" y="1182271"/>
                </a:lnTo>
                <a:lnTo>
                  <a:pt x="0" y="0"/>
                </a:lnTo>
                <a:close/>
              </a:path>
            </a:pathLst>
          </a:custGeom>
          <a:blipFill rotWithShape="1">
            <a:blip r:embed="rId7">
              <a:alphaModFix/>
            </a:blip>
            <a:stretch>
              <a:fillRect b="0" l="0" r="0" t="0"/>
            </a:stretch>
          </a:blipFill>
          <a:ln>
            <a:noFill/>
          </a:ln>
        </p:spPr>
      </p:sp>
      <p:sp>
        <p:nvSpPr>
          <p:cNvPr id="418" name="Google Shape;418;p16"/>
          <p:cNvSpPr/>
          <p:nvPr/>
        </p:nvSpPr>
        <p:spPr>
          <a:xfrm rot="10800000">
            <a:off x="10255777" y="2047268"/>
            <a:ext cx="2977512" cy="1044836"/>
          </a:xfrm>
          <a:custGeom>
            <a:rect b="b" l="l" r="r" t="t"/>
            <a:pathLst>
              <a:path extrusionOk="0" h="1044836" w="2977512">
                <a:moveTo>
                  <a:pt x="2977512" y="1044836"/>
                </a:moveTo>
                <a:lnTo>
                  <a:pt x="0" y="1044836"/>
                </a:lnTo>
                <a:lnTo>
                  <a:pt x="0" y="0"/>
                </a:lnTo>
                <a:lnTo>
                  <a:pt x="2977512" y="0"/>
                </a:lnTo>
                <a:lnTo>
                  <a:pt x="2977512" y="1044836"/>
                </a:lnTo>
                <a:close/>
              </a:path>
            </a:pathLst>
          </a:custGeom>
          <a:blipFill rotWithShape="1">
            <a:blip r:embed="rId8">
              <a:alphaModFix amt="68000"/>
            </a:blip>
            <a:stretch>
              <a:fillRect b="0" l="0" r="0" t="0"/>
            </a:stretch>
          </a:blipFill>
          <a:ln>
            <a:noFill/>
          </a:ln>
        </p:spPr>
      </p:sp>
      <p:sp>
        <p:nvSpPr>
          <p:cNvPr id="419" name="Google Shape;419;p16"/>
          <p:cNvSpPr txBox="1"/>
          <p:nvPr/>
        </p:nvSpPr>
        <p:spPr>
          <a:xfrm>
            <a:off x="4515287" y="1068962"/>
            <a:ext cx="9257400" cy="2786700"/>
          </a:xfrm>
          <a:prstGeom prst="rect">
            <a:avLst/>
          </a:prstGeom>
          <a:noFill/>
          <a:ln>
            <a:noFill/>
          </a:ln>
        </p:spPr>
        <p:txBody>
          <a:bodyPr anchorCtr="0" anchor="t" bIns="0" lIns="0" spcFirstLastPara="1" rIns="0" wrap="square" tIns="0">
            <a:spAutoFit/>
          </a:bodyPr>
          <a:lstStyle/>
          <a:p>
            <a:pPr indent="0" lvl="0" marL="0" marR="0" rtl="0" algn="ctr">
              <a:lnSpc>
                <a:spcPct val="82000"/>
              </a:lnSpc>
              <a:spcBef>
                <a:spcPts val="0"/>
              </a:spcBef>
              <a:spcAft>
                <a:spcPts val="0"/>
              </a:spcAft>
              <a:buNone/>
            </a:pPr>
            <a:r>
              <a:rPr b="0" i="0" lang="en-US" sz="11039" u="none" cap="none" strike="noStrike">
                <a:solidFill>
                  <a:srgbClr val="000102"/>
                </a:solidFill>
                <a:latin typeface="Arial"/>
                <a:ea typeface="Arial"/>
                <a:cs typeface="Arial"/>
                <a:sym typeface="Arial"/>
              </a:rPr>
              <a:t>Dominio de Colisión</a:t>
            </a:r>
            <a:endParaRPr/>
          </a:p>
        </p:txBody>
      </p:sp>
      <p:sp>
        <p:nvSpPr>
          <p:cNvPr id="420" name="Google Shape;420;p16"/>
          <p:cNvSpPr/>
          <p:nvPr/>
        </p:nvSpPr>
        <p:spPr>
          <a:xfrm>
            <a:off x="1028700" y="5654012"/>
            <a:ext cx="3570231" cy="669418"/>
          </a:xfrm>
          <a:custGeom>
            <a:rect b="b" l="l" r="r" t="t"/>
            <a:pathLst>
              <a:path extrusionOk="0" h="669418" w="3570231">
                <a:moveTo>
                  <a:pt x="0" y="0"/>
                </a:moveTo>
                <a:lnTo>
                  <a:pt x="3570231" y="0"/>
                </a:lnTo>
                <a:lnTo>
                  <a:pt x="3570231" y="669419"/>
                </a:lnTo>
                <a:lnTo>
                  <a:pt x="0" y="669419"/>
                </a:lnTo>
                <a:lnTo>
                  <a:pt x="0" y="0"/>
                </a:lnTo>
                <a:close/>
              </a:path>
            </a:pathLst>
          </a:custGeom>
          <a:blipFill rotWithShape="1">
            <a:blip r:embed="rId9">
              <a:alphaModFix amt="57000"/>
            </a:blip>
            <a:stretch>
              <a:fillRect b="0" l="0" r="0" t="0"/>
            </a:stretch>
          </a:blipFill>
          <a:ln>
            <a:noFill/>
          </a:ln>
        </p:spPr>
      </p:sp>
      <p:sp>
        <p:nvSpPr>
          <p:cNvPr id="421" name="Google Shape;421;p16"/>
          <p:cNvSpPr/>
          <p:nvPr/>
        </p:nvSpPr>
        <p:spPr>
          <a:xfrm>
            <a:off x="5197200" y="5654012"/>
            <a:ext cx="3570231" cy="669418"/>
          </a:xfrm>
          <a:custGeom>
            <a:rect b="b" l="l" r="r" t="t"/>
            <a:pathLst>
              <a:path extrusionOk="0" h="669418" w="3570231">
                <a:moveTo>
                  <a:pt x="0" y="0"/>
                </a:moveTo>
                <a:lnTo>
                  <a:pt x="3570231" y="0"/>
                </a:lnTo>
                <a:lnTo>
                  <a:pt x="3570231" y="669419"/>
                </a:lnTo>
                <a:lnTo>
                  <a:pt x="0" y="669419"/>
                </a:lnTo>
                <a:lnTo>
                  <a:pt x="0" y="0"/>
                </a:lnTo>
                <a:close/>
              </a:path>
            </a:pathLst>
          </a:custGeom>
          <a:blipFill rotWithShape="1">
            <a:blip r:embed="rId10">
              <a:alphaModFix amt="57000"/>
            </a:blip>
            <a:stretch>
              <a:fillRect b="0" l="0" r="0" t="0"/>
            </a:stretch>
          </a:blipFill>
          <a:ln>
            <a:noFill/>
          </a:ln>
        </p:spPr>
      </p:sp>
      <p:sp>
        <p:nvSpPr>
          <p:cNvPr id="422" name="Google Shape;422;p16"/>
          <p:cNvSpPr/>
          <p:nvPr/>
        </p:nvSpPr>
        <p:spPr>
          <a:xfrm>
            <a:off x="9290980" y="5654012"/>
            <a:ext cx="3570231" cy="669418"/>
          </a:xfrm>
          <a:custGeom>
            <a:rect b="b" l="l" r="r" t="t"/>
            <a:pathLst>
              <a:path extrusionOk="0" h="669418" w="3570231">
                <a:moveTo>
                  <a:pt x="0" y="0"/>
                </a:moveTo>
                <a:lnTo>
                  <a:pt x="3570232" y="0"/>
                </a:lnTo>
                <a:lnTo>
                  <a:pt x="3570232" y="669419"/>
                </a:lnTo>
                <a:lnTo>
                  <a:pt x="0" y="669419"/>
                </a:lnTo>
                <a:lnTo>
                  <a:pt x="0" y="0"/>
                </a:lnTo>
                <a:close/>
              </a:path>
            </a:pathLst>
          </a:custGeom>
          <a:blipFill rotWithShape="1">
            <a:blip r:embed="rId11">
              <a:alphaModFix amt="57000"/>
            </a:blip>
            <a:stretch>
              <a:fillRect b="0" l="0" r="0" t="0"/>
            </a:stretch>
          </a:blipFill>
          <a:ln>
            <a:noFill/>
          </a:ln>
        </p:spPr>
      </p:sp>
      <p:sp>
        <p:nvSpPr>
          <p:cNvPr id="423" name="Google Shape;423;p16"/>
          <p:cNvSpPr/>
          <p:nvPr/>
        </p:nvSpPr>
        <p:spPr>
          <a:xfrm>
            <a:off x="13461287" y="5654012"/>
            <a:ext cx="3570231" cy="669418"/>
          </a:xfrm>
          <a:custGeom>
            <a:rect b="b" l="l" r="r" t="t"/>
            <a:pathLst>
              <a:path extrusionOk="0" h="669418" w="3570231">
                <a:moveTo>
                  <a:pt x="0" y="0"/>
                </a:moveTo>
                <a:lnTo>
                  <a:pt x="3570231" y="0"/>
                </a:lnTo>
                <a:lnTo>
                  <a:pt x="3570231" y="669419"/>
                </a:lnTo>
                <a:lnTo>
                  <a:pt x="0" y="669419"/>
                </a:lnTo>
                <a:lnTo>
                  <a:pt x="0" y="0"/>
                </a:lnTo>
                <a:close/>
              </a:path>
            </a:pathLst>
          </a:custGeom>
          <a:blipFill rotWithShape="1">
            <a:blip r:embed="rId12">
              <a:alphaModFix amt="57000"/>
            </a:blip>
            <a:stretch>
              <a:fillRect b="0" l="0" r="0" t="0"/>
            </a:stretch>
          </a:blipFill>
          <a:ln>
            <a:noFill/>
          </a:ln>
        </p:spPr>
      </p:sp>
      <p:sp>
        <p:nvSpPr>
          <p:cNvPr id="424" name="Google Shape;424;p16"/>
          <p:cNvSpPr txBox="1"/>
          <p:nvPr/>
        </p:nvSpPr>
        <p:spPr>
          <a:xfrm>
            <a:off x="1354100" y="5734275"/>
            <a:ext cx="2919431" cy="4626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01</a:t>
            </a:r>
            <a:endParaRPr/>
          </a:p>
        </p:txBody>
      </p:sp>
      <p:sp>
        <p:nvSpPr>
          <p:cNvPr id="425" name="Google Shape;425;p16"/>
          <p:cNvSpPr txBox="1"/>
          <p:nvPr/>
        </p:nvSpPr>
        <p:spPr>
          <a:xfrm>
            <a:off x="5522600" y="5734275"/>
            <a:ext cx="2919431" cy="4626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02</a:t>
            </a:r>
            <a:endParaRPr/>
          </a:p>
        </p:txBody>
      </p:sp>
      <p:sp>
        <p:nvSpPr>
          <p:cNvPr id="426" name="Google Shape;426;p16"/>
          <p:cNvSpPr txBox="1"/>
          <p:nvPr/>
        </p:nvSpPr>
        <p:spPr>
          <a:xfrm>
            <a:off x="9616381" y="5734275"/>
            <a:ext cx="2919431" cy="4626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03</a:t>
            </a:r>
            <a:endParaRPr/>
          </a:p>
        </p:txBody>
      </p:sp>
      <p:sp>
        <p:nvSpPr>
          <p:cNvPr id="427" name="Google Shape;427;p16"/>
          <p:cNvSpPr txBox="1"/>
          <p:nvPr/>
        </p:nvSpPr>
        <p:spPr>
          <a:xfrm>
            <a:off x="13786687" y="5734275"/>
            <a:ext cx="2919431" cy="4626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785" u="none" cap="none" strike="noStrike">
                <a:solidFill>
                  <a:srgbClr val="000102"/>
                </a:solidFill>
                <a:latin typeface="Shantell Sans"/>
                <a:ea typeface="Shantell Sans"/>
                <a:cs typeface="Shantell Sans"/>
                <a:sym typeface="Shantell Sans"/>
              </a:rPr>
              <a:t>04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433" name="Google Shape;433;p17"/>
          <p:cNvGrpSpPr/>
          <p:nvPr/>
        </p:nvGrpSpPr>
        <p:grpSpPr>
          <a:xfrm>
            <a:off x="1890218" y="3196236"/>
            <a:ext cx="14895672" cy="4828224"/>
            <a:chOff x="0" y="-28575"/>
            <a:chExt cx="3923140" cy="1271631"/>
          </a:xfrm>
        </p:grpSpPr>
        <p:sp>
          <p:nvSpPr>
            <p:cNvPr id="434" name="Google Shape;434;p17"/>
            <p:cNvSpPr/>
            <p:nvPr/>
          </p:nvSpPr>
          <p:spPr>
            <a:xfrm>
              <a:off x="0" y="0"/>
              <a:ext cx="3923140" cy="1243056"/>
            </a:xfrm>
            <a:custGeom>
              <a:rect b="b" l="l" r="r" t="t"/>
              <a:pathLst>
                <a:path extrusionOk="0" h="1243056" w="3923140">
                  <a:moveTo>
                    <a:pt x="26507" y="0"/>
                  </a:moveTo>
                  <a:lnTo>
                    <a:pt x="3896633" y="0"/>
                  </a:lnTo>
                  <a:cubicBezTo>
                    <a:pt x="3911273" y="0"/>
                    <a:pt x="3923140" y="11868"/>
                    <a:pt x="3923140" y="26507"/>
                  </a:cubicBezTo>
                  <a:lnTo>
                    <a:pt x="3923140" y="1216549"/>
                  </a:lnTo>
                  <a:cubicBezTo>
                    <a:pt x="3923140" y="1231188"/>
                    <a:pt x="3911273" y="1243056"/>
                    <a:pt x="3896633" y="1243056"/>
                  </a:cubicBezTo>
                  <a:lnTo>
                    <a:pt x="26507" y="1243056"/>
                  </a:lnTo>
                  <a:cubicBezTo>
                    <a:pt x="11868" y="1243056"/>
                    <a:pt x="0" y="1231188"/>
                    <a:pt x="0" y="1216549"/>
                  </a:cubicBezTo>
                  <a:lnTo>
                    <a:pt x="0" y="26507"/>
                  </a:lnTo>
                  <a:cubicBezTo>
                    <a:pt x="0" y="11868"/>
                    <a:pt x="11868" y="0"/>
                    <a:pt x="26507" y="0"/>
                  </a:cubicBezTo>
                  <a:close/>
                </a:path>
              </a:pathLst>
            </a:custGeom>
            <a:solidFill>
              <a:srgbClr val="0B6D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txBox="1"/>
            <p:nvPr/>
          </p:nvSpPr>
          <p:spPr>
            <a:xfrm>
              <a:off x="0" y="-28575"/>
              <a:ext cx="3923140" cy="1271631"/>
            </a:xfrm>
            <a:prstGeom prst="rect">
              <a:avLst/>
            </a:prstGeom>
            <a:noFill/>
            <a:ln>
              <a:noFill/>
            </a:ln>
          </p:spPr>
          <p:txBody>
            <a:bodyPr anchorCtr="0" anchor="ctr" bIns="50800" lIns="50800" spcFirstLastPara="1" rIns="50800" wrap="square" tIns="50800">
              <a:noAutofit/>
            </a:bodyPr>
            <a:lstStyle/>
            <a:p>
              <a:pPr indent="0" lvl="0" marL="0" marR="0" rtl="0" algn="ctr">
                <a:lnSpc>
                  <a:spcPct val="15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6" name="Google Shape;436;p17"/>
          <p:cNvSpPr/>
          <p:nvPr/>
        </p:nvSpPr>
        <p:spPr>
          <a:xfrm>
            <a:off x="2237303" y="3011382"/>
            <a:ext cx="14805761" cy="4570257"/>
          </a:xfrm>
          <a:custGeom>
            <a:rect b="b" l="l" r="r" t="t"/>
            <a:pathLst>
              <a:path extrusionOk="0" h="4570257" w="14805761">
                <a:moveTo>
                  <a:pt x="0" y="0"/>
                </a:moveTo>
                <a:lnTo>
                  <a:pt x="14805761" y="0"/>
                </a:lnTo>
                <a:lnTo>
                  <a:pt x="14805761" y="4570257"/>
                </a:lnTo>
                <a:lnTo>
                  <a:pt x="0" y="4570257"/>
                </a:lnTo>
                <a:lnTo>
                  <a:pt x="0" y="0"/>
                </a:lnTo>
                <a:close/>
              </a:path>
            </a:pathLst>
          </a:custGeom>
          <a:blipFill rotWithShape="1">
            <a:blip r:embed="rId4">
              <a:alphaModFix/>
            </a:blip>
            <a:stretch>
              <a:fillRect b="-10480" l="0" r="0" t="-11000"/>
            </a:stretch>
          </a:blipFill>
          <a:ln>
            <a:noFill/>
          </a:ln>
        </p:spPr>
      </p:sp>
      <p:sp>
        <p:nvSpPr>
          <p:cNvPr id="437" name="Google Shape;437;p17"/>
          <p:cNvSpPr/>
          <p:nvPr/>
        </p:nvSpPr>
        <p:spPr>
          <a:xfrm>
            <a:off x="5775939" y="-392074"/>
            <a:ext cx="6736122" cy="3403456"/>
          </a:xfrm>
          <a:custGeom>
            <a:rect b="b" l="l" r="r" t="t"/>
            <a:pathLst>
              <a:path extrusionOk="0" h="3403456" w="6736122">
                <a:moveTo>
                  <a:pt x="0" y="0"/>
                </a:moveTo>
                <a:lnTo>
                  <a:pt x="6736122" y="0"/>
                </a:lnTo>
                <a:lnTo>
                  <a:pt x="6736122" y="3403456"/>
                </a:lnTo>
                <a:lnTo>
                  <a:pt x="0" y="3403456"/>
                </a:lnTo>
                <a:lnTo>
                  <a:pt x="0" y="0"/>
                </a:lnTo>
                <a:close/>
              </a:path>
            </a:pathLst>
          </a:custGeom>
          <a:blipFill rotWithShape="1">
            <a:blip r:embed="rId5">
              <a:alphaModFix/>
            </a:blip>
            <a:stretch>
              <a:fillRect b="0" l="0" r="0" t="-38542"/>
            </a:stretch>
          </a:blipFill>
          <a:ln>
            <a:noFill/>
          </a:ln>
        </p:spPr>
      </p:sp>
      <p:sp>
        <p:nvSpPr>
          <p:cNvPr id="438" name="Google Shape;438;p17"/>
          <p:cNvSpPr/>
          <p:nvPr/>
        </p:nvSpPr>
        <p:spPr>
          <a:xfrm>
            <a:off x="2463586" y="8530096"/>
            <a:ext cx="398746" cy="1148222"/>
          </a:xfrm>
          <a:custGeom>
            <a:rect b="b" l="l" r="r" t="t"/>
            <a:pathLst>
              <a:path extrusionOk="0" h="1148222" w="398746">
                <a:moveTo>
                  <a:pt x="0" y="0"/>
                </a:moveTo>
                <a:lnTo>
                  <a:pt x="398746" y="0"/>
                </a:lnTo>
                <a:lnTo>
                  <a:pt x="398746" y="1148222"/>
                </a:lnTo>
                <a:lnTo>
                  <a:pt x="0" y="1148222"/>
                </a:lnTo>
                <a:lnTo>
                  <a:pt x="0" y="0"/>
                </a:lnTo>
                <a:close/>
              </a:path>
            </a:pathLst>
          </a:custGeom>
          <a:blipFill rotWithShape="1">
            <a:blip r:embed="rId6">
              <a:alphaModFix/>
            </a:blip>
            <a:stretch>
              <a:fillRect b="0" l="0" r="0" t="0"/>
            </a:stretch>
          </a:blipFill>
          <a:ln>
            <a:noFill/>
          </a:ln>
        </p:spPr>
      </p:sp>
      <p:sp>
        <p:nvSpPr>
          <p:cNvPr id="439" name="Google Shape;439;p17"/>
          <p:cNvSpPr txBox="1"/>
          <p:nvPr/>
        </p:nvSpPr>
        <p:spPr>
          <a:xfrm>
            <a:off x="2662959" y="1056706"/>
            <a:ext cx="12962082" cy="1349119"/>
          </a:xfrm>
          <a:prstGeom prst="rect">
            <a:avLst/>
          </a:prstGeom>
          <a:noFill/>
          <a:ln>
            <a:noFill/>
          </a:ln>
        </p:spPr>
        <p:txBody>
          <a:bodyPr anchorCtr="0" anchor="t" bIns="0" lIns="0" spcFirstLastPara="1" rIns="0" wrap="square" tIns="0">
            <a:spAutoFit/>
          </a:bodyPr>
          <a:lstStyle/>
          <a:p>
            <a:pPr indent="0" lvl="0" marL="0" marR="0" rtl="0" algn="ctr">
              <a:lnSpc>
                <a:spcPct val="140036"/>
              </a:lnSpc>
              <a:spcBef>
                <a:spcPts val="0"/>
              </a:spcBef>
              <a:spcAft>
                <a:spcPts val="0"/>
              </a:spcAft>
              <a:buNone/>
            </a:pPr>
            <a:r>
              <a:rPr b="1" i="0" lang="en-US" sz="3884" u="none" cap="none" strike="noStrike">
                <a:solidFill>
                  <a:srgbClr val="131416"/>
                </a:solidFill>
                <a:latin typeface="Shantell Sans"/>
                <a:ea typeface="Shantell Sans"/>
                <a:cs typeface="Shantell Sans"/>
                <a:sym typeface="Shantell Sans"/>
              </a:rPr>
              <a:t>Dispositivos (Hub, Bridge, Switch, Router) y los Dominios de Colisión</a:t>
            </a:r>
            <a:endParaRPr/>
          </a:p>
        </p:txBody>
      </p:sp>
      <p:sp>
        <p:nvSpPr>
          <p:cNvPr id="440" name="Google Shape;440;p17"/>
          <p:cNvSpPr txBox="1"/>
          <p:nvPr/>
        </p:nvSpPr>
        <p:spPr>
          <a:xfrm>
            <a:off x="3091760" y="8730966"/>
            <a:ext cx="7222631" cy="373241"/>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b="0" i="0" lang="en-US" sz="2256" u="none" cap="none" strike="noStrike">
                <a:solidFill>
                  <a:srgbClr val="000102"/>
                </a:solidFill>
                <a:latin typeface="Shantell Sans"/>
                <a:ea typeface="Shantell Sans"/>
                <a:cs typeface="Shantell Sans"/>
                <a:sym typeface="Shantell Sans"/>
              </a:rPr>
              <a:t>Los brides, switchs y routers crean dominios de colisión.</a:t>
            </a:r>
            <a:endParaRPr/>
          </a:p>
        </p:txBody>
      </p:sp>
      <p:sp>
        <p:nvSpPr>
          <p:cNvPr id="441" name="Google Shape;441;p17"/>
          <p:cNvSpPr txBox="1"/>
          <p:nvPr/>
        </p:nvSpPr>
        <p:spPr>
          <a:xfrm>
            <a:off x="7698325" y="3266632"/>
            <a:ext cx="3611316" cy="373241"/>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b="0" i="0" lang="en-US" sz="2256" u="none" cap="none" strike="noStrike">
                <a:solidFill>
                  <a:srgbClr val="000102"/>
                </a:solidFill>
                <a:latin typeface="Shantell Sans"/>
                <a:ea typeface="Shantell Sans"/>
                <a:cs typeface="Shantell Sans"/>
                <a:sym typeface="Shantell Sans"/>
              </a:rPr>
              <a:t>Cinco dominios de colisión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447" name="Google Shape;447;p18"/>
          <p:cNvSpPr/>
          <p:nvPr/>
        </p:nvSpPr>
        <p:spPr>
          <a:xfrm>
            <a:off x="10078075" y="1267971"/>
            <a:ext cx="4208573" cy="4247184"/>
          </a:xfrm>
          <a:custGeom>
            <a:rect b="b" l="l" r="r" t="t"/>
            <a:pathLst>
              <a:path extrusionOk="0" h="4247184" w="4208573">
                <a:moveTo>
                  <a:pt x="0" y="0"/>
                </a:moveTo>
                <a:lnTo>
                  <a:pt x="4208574" y="0"/>
                </a:lnTo>
                <a:lnTo>
                  <a:pt x="4208574" y="4247184"/>
                </a:lnTo>
                <a:lnTo>
                  <a:pt x="0" y="4247184"/>
                </a:lnTo>
                <a:lnTo>
                  <a:pt x="0" y="0"/>
                </a:lnTo>
                <a:close/>
              </a:path>
            </a:pathLst>
          </a:custGeom>
          <a:blipFill rotWithShape="1">
            <a:blip r:embed="rId4">
              <a:alphaModFix/>
            </a:blip>
            <a:stretch>
              <a:fillRect b="0" l="0" r="0" t="0"/>
            </a:stretch>
          </a:blipFill>
          <a:ln>
            <a:noFill/>
          </a:ln>
        </p:spPr>
      </p:sp>
      <p:sp>
        <p:nvSpPr>
          <p:cNvPr id="448" name="Google Shape;448;p18"/>
          <p:cNvSpPr/>
          <p:nvPr/>
        </p:nvSpPr>
        <p:spPr>
          <a:xfrm>
            <a:off x="9944100" y="3828077"/>
            <a:ext cx="7315200" cy="4030010"/>
          </a:xfrm>
          <a:custGeom>
            <a:rect b="b" l="l" r="r" t="t"/>
            <a:pathLst>
              <a:path extrusionOk="0" h="4030010" w="7315200">
                <a:moveTo>
                  <a:pt x="0" y="0"/>
                </a:moveTo>
                <a:lnTo>
                  <a:pt x="7315200" y="0"/>
                </a:lnTo>
                <a:lnTo>
                  <a:pt x="7315200" y="4030010"/>
                </a:lnTo>
                <a:lnTo>
                  <a:pt x="0" y="4030010"/>
                </a:lnTo>
                <a:lnTo>
                  <a:pt x="0" y="0"/>
                </a:lnTo>
                <a:close/>
              </a:path>
            </a:pathLst>
          </a:custGeom>
          <a:blipFill rotWithShape="1">
            <a:blip r:embed="rId5">
              <a:alphaModFix/>
            </a:blip>
            <a:stretch>
              <a:fillRect b="0" l="0" r="0" t="0"/>
            </a:stretch>
          </a:blipFill>
          <a:ln>
            <a:noFill/>
          </a:ln>
        </p:spPr>
      </p:sp>
      <p:sp>
        <p:nvSpPr>
          <p:cNvPr id="449" name="Google Shape;449;p18"/>
          <p:cNvSpPr txBox="1"/>
          <p:nvPr/>
        </p:nvSpPr>
        <p:spPr>
          <a:xfrm>
            <a:off x="1319997" y="251946"/>
            <a:ext cx="8092200" cy="26874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None/>
            </a:pPr>
            <a:r>
              <a:rPr b="0" i="0" lang="en-US" sz="9000" u="none" cap="none" strike="noStrike">
                <a:solidFill>
                  <a:srgbClr val="000000"/>
                </a:solidFill>
                <a:latin typeface="Arial"/>
                <a:ea typeface="Arial"/>
                <a:cs typeface="Arial"/>
                <a:sym typeface="Arial"/>
              </a:rPr>
              <a:t>Dominio de Broadcast</a:t>
            </a:r>
            <a:endParaRPr/>
          </a:p>
        </p:txBody>
      </p:sp>
      <p:sp>
        <p:nvSpPr>
          <p:cNvPr id="450" name="Google Shape;450;p18"/>
          <p:cNvSpPr txBox="1"/>
          <p:nvPr/>
        </p:nvSpPr>
        <p:spPr>
          <a:xfrm>
            <a:off x="1417285" y="2939340"/>
            <a:ext cx="8267424" cy="5778908"/>
          </a:xfrm>
          <a:prstGeom prst="rect">
            <a:avLst/>
          </a:prstGeom>
          <a:noFill/>
          <a:ln>
            <a:noFill/>
          </a:ln>
        </p:spPr>
        <p:txBody>
          <a:bodyPr anchorCtr="0" anchor="t" bIns="0" lIns="0" spcFirstLastPara="1" rIns="0" wrap="square" tIns="0">
            <a:spAutoFit/>
          </a:bodyPr>
          <a:lstStyle/>
          <a:p>
            <a:pPr indent="0" lvl="0" marL="0" marR="0" rtl="0" algn="l">
              <a:lnSpc>
                <a:spcPct val="135011"/>
              </a:lnSpc>
              <a:spcBef>
                <a:spcPts val="0"/>
              </a:spcBef>
              <a:spcAft>
                <a:spcPts val="0"/>
              </a:spcAft>
              <a:buNone/>
            </a:pPr>
            <a:r>
              <a:rPr b="0" i="0" lang="en-US" sz="2145" u="none" cap="none" strike="noStrike">
                <a:solidFill>
                  <a:srgbClr val="000000"/>
                </a:solidFill>
                <a:latin typeface="Shantell Sans"/>
                <a:ea typeface="Shantell Sans"/>
                <a:cs typeface="Shantell Sans"/>
                <a:sym typeface="Shantell Sans"/>
              </a:rPr>
              <a:t>El Dominio de </a:t>
            </a:r>
            <a:r>
              <a:rPr b="1" i="0" lang="en-US" sz="2145" u="none" cap="none" strike="noStrike">
                <a:solidFill>
                  <a:srgbClr val="000000"/>
                </a:solidFill>
                <a:latin typeface="Shantell Sans"/>
                <a:ea typeface="Shantell Sans"/>
                <a:cs typeface="Shantell Sans"/>
                <a:sym typeface="Shantell Sans"/>
              </a:rPr>
              <a:t>Broadcast</a:t>
            </a:r>
            <a:r>
              <a:rPr b="0" i="0" lang="en-US" sz="2145" u="none" cap="none" strike="noStrike">
                <a:solidFill>
                  <a:srgbClr val="000000"/>
                </a:solidFill>
                <a:latin typeface="Shantell Sans"/>
                <a:ea typeface="Shantell Sans"/>
                <a:cs typeface="Shantell Sans"/>
                <a:sym typeface="Shantell Sans"/>
              </a:rPr>
              <a:t> o Dominio de </a:t>
            </a:r>
            <a:r>
              <a:rPr b="1" i="0" lang="en-US" sz="2145" u="none" cap="none" strike="noStrike">
                <a:solidFill>
                  <a:srgbClr val="000000"/>
                </a:solidFill>
                <a:latin typeface="Shantell Sans"/>
                <a:ea typeface="Shantell Sans"/>
                <a:cs typeface="Shantell Sans"/>
                <a:sym typeface="Shantell Sans"/>
              </a:rPr>
              <a:t>Difusión</a:t>
            </a:r>
            <a:r>
              <a:rPr b="0" i="0" lang="en-US" sz="2145" u="none" cap="none" strike="noStrike">
                <a:solidFill>
                  <a:srgbClr val="000000"/>
                </a:solidFill>
                <a:latin typeface="Shantell Sans"/>
                <a:ea typeface="Shantell Sans"/>
                <a:cs typeface="Shantell Sans"/>
                <a:sym typeface="Shantell Sans"/>
              </a:rPr>
              <a:t> es un dominio donde un broadcast Ethernet es enviado.</a:t>
            </a:r>
            <a:endParaRPr/>
          </a:p>
          <a:p>
            <a:pPr indent="0" lvl="0" marL="0" marR="0" rtl="0" algn="l">
              <a:lnSpc>
                <a:spcPct val="135011"/>
              </a:lnSpc>
              <a:spcBef>
                <a:spcPts val="0"/>
              </a:spcBef>
              <a:spcAft>
                <a:spcPts val="0"/>
              </a:spcAft>
              <a:buNone/>
            </a:pPr>
            <a:r>
              <a:t/>
            </a:r>
            <a:endParaRPr b="0" i="0" sz="2145" u="none" cap="none" strike="noStrike">
              <a:solidFill>
                <a:srgbClr val="000000"/>
              </a:solidFill>
              <a:latin typeface="Shantell Sans"/>
              <a:ea typeface="Shantell Sans"/>
              <a:cs typeface="Shantell Sans"/>
              <a:sym typeface="Shantell Sans"/>
            </a:endParaRPr>
          </a:p>
          <a:p>
            <a:pPr indent="0" lvl="0" marL="0" marR="0" rtl="0" algn="l">
              <a:lnSpc>
                <a:spcPct val="135011"/>
              </a:lnSpc>
              <a:spcBef>
                <a:spcPts val="0"/>
              </a:spcBef>
              <a:spcAft>
                <a:spcPts val="0"/>
              </a:spcAft>
              <a:buNone/>
            </a:pPr>
            <a:r>
              <a:rPr b="0" i="0" lang="en-US" sz="2145" u="none" cap="none" strike="noStrike">
                <a:solidFill>
                  <a:srgbClr val="000000"/>
                </a:solidFill>
                <a:latin typeface="Shantell Sans"/>
                <a:ea typeface="Shantell Sans"/>
                <a:cs typeface="Shantell Sans"/>
                <a:sym typeface="Shantell Sans"/>
              </a:rPr>
              <a:t>Imagina que tienes una red con varios switches, configurados todos por defecto dentro de la VLAN 1, si se envía un flujo de tramas de broadcast en esa red, las tramas </a:t>
            </a:r>
            <a:r>
              <a:rPr b="1" i="0" lang="en-US" sz="2145" u="none" cap="none" strike="noStrike">
                <a:solidFill>
                  <a:srgbClr val="000000"/>
                </a:solidFill>
                <a:latin typeface="Shantell Sans"/>
                <a:ea typeface="Shantell Sans"/>
                <a:cs typeface="Shantell Sans"/>
                <a:sym typeface="Shantell Sans"/>
              </a:rPr>
              <a:t>llegaran a todos los puertos</a:t>
            </a:r>
            <a:r>
              <a:rPr b="0" i="0" lang="en-US" sz="2145" u="none" cap="none" strike="noStrike">
                <a:solidFill>
                  <a:srgbClr val="000000"/>
                </a:solidFill>
                <a:latin typeface="Shantell Sans"/>
                <a:ea typeface="Shantell Sans"/>
                <a:cs typeface="Shantell Sans"/>
                <a:sym typeface="Shantell Sans"/>
              </a:rPr>
              <a:t> de todos los dispositivos conectados (excepto desde donde salio la trama).</a:t>
            </a:r>
            <a:endParaRPr/>
          </a:p>
          <a:p>
            <a:pPr indent="0" lvl="0" marL="0" marR="0" rtl="0" algn="l">
              <a:lnSpc>
                <a:spcPct val="135011"/>
              </a:lnSpc>
              <a:spcBef>
                <a:spcPts val="0"/>
              </a:spcBef>
              <a:spcAft>
                <a:spcPts val="0"/>
              </a:spcAft>
              <a:buNone/>
            </a:pPr>
            <a:r>
              <a:t/>
            </a:r>
            <a:endParaRPr b="0" i="0" sz="2145" u="none" cap="none" strike="noStrike">
              <a:solidFill>
                <a:srgbClr val="000000"/>
              </a:solidFill>
              <a:latin typeface="Shantell Sans"/>
              <a:ea typeface="Shantell Sans"/>
              <a:cs typeface="Shantell Sans"/>
              <a:sym typeface="Shantell Sans"/>
            </a:endParaRPr>
          </a:p>
          <a:p>
            <a:pPr indent="0" lvl="0" marL="0" marR="0" rtl="0" algn="l">
              <a:lnSpc>
                <a:spcPct val="135011"/>
              </a:lnSpc>
              <a:spcBef>
                <a:spcPts val="0"/>
              </a:spcBef>
              <a:spcAft>
                <a:spcPts val="0"/>
              </a:spcAft>
              <a:buNone/>
            </a:pPr>
            <a:r>
              <a:rPr b="0" i="0" lang="en-US" sz="2145" u="none" cap="none" strike="noStrike">
                <a:solidFill>
                  <a:srgbClr val="000000"/>
                </a:solidFill>
                <a:latin typeface="Shantell Sans"/>
                <a:ea typeface="Shantell Sans"/>
                <a:cs typeface="Shantell Sans"/>
                <a:sym typeface="Shantell Sans"/>
              </a:rPr>
              <a:t>Todos los </a:t>
            </a:r>
            <a:r>
              <a:rPr b="1" i="0" lang="en-US" sz="2145" u="none" cap="none" strike="noStrike">
                <a:solidFill>
                  <a:srgbClr val="000000"/>
                </a:solidFill>
                <a:latin typeface="Shantell Sans"/>
                <a:ea typeface="Shantell Sans"/>
                <a:cs typeface="Shantell Sans"/>
                <a:sym typeface="Shantell Sans"/>
              </a:rPr>
              <a:t>puertos en un hub o switch</a:t>
            </a:r>
            <a:r>
              <a:rPr b="0" i="0" lang="en-US" sz="2145" u="none" cap="none" strike="noStrike">
                <a:solidFill>
                  <a:srgbClr val="000000"/>
                </a:solidFill>
                <a:latin typeface="Shantell Sans"/>
                <a:ea typeface="Shantell Sans"/>
                <a:cs typeface="Shantell Sans"/>
                <a:sym typeface="Shantell Sans"/>
              </a:rPr>
              <a:t> por defecto pertenecen al </a:t>
            </a:r>
            <a:r>
              <a:rPr b="1" i="0" lang="en-US" sz="2145" u="none" cap="none" strike="noStrike">
                <a:solidFill>
                  <a:srgbClr val="000000"/>
                </a:solidFill>
                <a:latin typeface="Shantell Sans"/>
                <a:ea typeface="Shantell Sans"/>
                <a:cs typeface="Shantell Sans"/>
                <a:sym typeface="Shantell Sans"/>
              </a:rPr>
              <a:t>mismo dominio de broadcast</a:t>
            </a:r>
            <a:r>
              <a:rPr b="0" i="0" lang="en-US" sz="2145" u="none" cap="none" strike="noStrike">
                <a:solidFill>
                  <a:srgbClr val="000000"/>
                </a:solidFill>
                <a:latin typeface="Shantell Sans"/>
                <a:ea typeface="Shantell Sans"/>
                <a:cs typeface="Shantell Sans"/>
                <a:sym typeface="Shantell Sans"/>
              </a:rPr>
              <a:t>.</a:t>
            </a:r>
            <a:endParaRPr/>
          </a:p>
          <a:p>
            <a:pPr indent="0" lvl="0" marL="0" marR="0" rtl="0" algn="l">
              <a:lnSpc>
                <a:spcPct val="135011"/>
              </a:lnSpc>
              <a:spcBef>
                <a:spcPts val="0"/>
              </a:spcBef>
              <a:spcAft>
                <a:spcPts val="0"/>
              </a:spcAft>
              <a:buNone/>
            </a:pPr>
            <a:r>
              <a:rPr b="0" i="0" lang="en-US" sz="2145" u="none" cap="none" strike="noStrike">
                <a:solidFill>
                  <a:srgbClr val="000000"/>
                </a:solidFill>
                <a:latin typeface="Shantell Sans"/>
                <a:ea typeface="Shantell Sans"/>
                <a:cs typeface="Shantell Sans"/>
                <a:sym typeface="Shantell Sans"/>
              </a:rPr>
              <a:t>Todos los </a:t>
            </a:r>
            <a:r>
              <a:rPr b="1" i="0" lang="en-US" sz="2145" u="none" cap="none" strike="noStrike">
                <a:solidFill>
                  <a:srgbClr val="000000"/>
                </a:solidFill>
                <a:latin typeface="Shantell Sans"/>
                <a:ea typeface="Shantell Sans"/>
                <a:cs typeface="Shantell Sans"/>
                <a:sym typeface="Shantell Sans"/>
              </a:rPr>
              <a:t>puertos en un router</a:t>
            </a:r>
            <a:r>
              <a:rPr b="0" i="0" lang="en-US" sz="2145" u="none" cap="none" strike="noStrike">
                <a:solidFill>
                  <a:srgbClr val="000000"/>
                </a:solidFill>
                <a:latin typeface="Shantell Sans"/>
                <a:ea typeface="Shantell Sans"/>
                <a:cs typeface="Shantell Sans"/>
                <a:sym typeface="Shantell Sans"/>
              </a:rPr>
              <a:t> están en </a:t>
            </a:r>
            <a:r>
              <a:rPr b="1" i="0" lang="en-US" sz="2145" u="none" cap="none" strike="noStrike">
                <a:solidFill>
                  <a:srgbClr val="000000"/>
                </a:solidFill>
                <a:latin typeface="Shantell Sans"/>
                <a:ea typeface="Shantell Sans"/>
                <a:cs typeface="Shantell Sans"/>
                <a:sym typeface="Shantell Sans"/>
              </a:rPr>
              <a:t>diferentes dominios de broadcast</a:t>
            </a:r>
            <a:r>
              <a:rPr b="0" i="0" lang="en-US" sz="2145" u="none" cap="none" strike="noStrike">
                <a:solidFill>
                  <a:srgbClr val="000000"/>
                </a:solidFill>
                <a:latin typeface="Shantell Sans"/>
                <a:ea typeface="Shantell Sans"/>
                <a:cs typeface="Shantell Sans"/>
                <a:sym typeface="Shantell Sans"/>
              </a:rPr>
              <a:t> y los routers no reenviaran las tramas de broadcast de un dominio a otro.</a:t>
            </a:r>
            <a:endParaRPr/>
          </a:p>
          <a:p>
            <a:pPr indent="0" lvl="0" marL="0" marR="0" rtl="0" algn="l">
              <a:lnSpc>
                <a:spcPct val="135011"/>
              </a:lnSpc>
              <a:spcBef>
                <a:spcPts val="0"/>
              </a:spcBef>
              <a:spcAft>
                <a:spcPts val="0"/>
              </a:spcAft>
              <a:buNone/>
            </a:pPr>
            <a:r>
              <a:t/>
            </a:r>
            <a:endParaRPr b="0" i="0" sz="2145" u="none" cap="none" strike="noStrike">
              <a:solidFill>
                <a:srgbClr val="000000"/>
              </a:solidFill>
              <a:latin typeface="Shantell Sans"/>
              <a:ea typeface="Shantell Sans"/>
              <a:cs typeface="Shantell Sans"/>
              <a:sym typeface="Shante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456" name="Google Shape;456;p19"/>
          <p:cNvSpPr/>
          <p:nvPr/>
        </p:nvSpPr>
        <p:spPr>
          <a:xfrm>
            <a:off x="7306397" y="2045771"/>
            <a:ext cx="4108386" cy="313731"/>
          </a:xfrm>
          <a:custGeom>
            <a:rect b="b" l="l" r="r" t="t"/>
            <a:pathLst>
              <a:path extrusionOk="0" h="313731" w="4108386">
                <a:moveTo>
                  <a:pt x="0" y="0"/>
                </a:moveTo>
                <a:lnTo>
                  <a:pt x="4108386" y="0"/>
                </a:lnTo>
                <a:lnTo>
                  <a:pt x="4108386" y="313732"/>
                </a:lnTo>
                <a:lnTo>
                  <a:pt x="0" y="313732"/>
                </a:lnTo>
                <a:lnTo>
                  <a:pt x="0" y="0"/>
                </a:lnTo>
                <a:close/>
              </a:path>
            </a:pathLst>
          </a:custGeom>
          <a:blipFill rotWithShape="1">
            <a:blip r:embed="rId4">
              <a:alphaModFix/>
            </a:blip>
            <a:stretch>
              <a:fillRect b="0" l="0" r="0" t="0"/>
            </a:stretch>
          </a:blipFill>
          <a:ln>
            <a:noFill/>
          </a:ln>
        </p:spPr>
      </p:sp>
      <p:grpSp>
        <p:nvGrpSpPr>
          <p:cNvPr id="457" name="Google Shape;457;p19"/>
          <p:cNvGrpSpPr/>
          <p:nvPr/>
        </p:nvGrpSpPr>
        <p:grpSpPr>
          <a:xfrm>
            <a:off x="2059080" y="4051494"/>
            <a:ext cx="14879772" cy="4828224"/>
            <a:chOff x="0" y="-28575"/>
            <a:chExt cx="3918952" cy="1271631"/>
          </a:xfrm>
        </p:grpSpPr>
        <p:sp>
          <p:nvSpPr>
            <p:cNvPr id="458" name="Google Shape;458;p19"/>
            <p:cNvSpPr/>
            <p:nvPr/>
          </p:nvSpPr>
          <p:spPr>
            <a:xfrm>
              <a:off x="0" y="0"/>
              <a:ext cx="3918952" cy="1243056"/>
            </a:xfrm>
            <a:custGeom>
              <a:rect b="b" l="l" r="r" t="t"/>
              <a:pathLst>
                <a:path extrusionOk="0" h="1243056" w="3918952">
                  <a:moveTo>
                    <a:pt x="14568" y="0"/>
                  </a:moveTo>
                  <a:lnTo>
                    <a:pt x="3904384" y="0"/>
                  </a:lnTo>
                  <a:cubicBezTo>
                    <a:pt x="3908247" y="0"/>
                    <a:pt x="3911953" y="1535"/>
                    <a:pt x="3914685" y="4267"/>
                  </a:cubicBezTo>
                  <a:cubicBezTo>
                    <a:pt x="3917417" y="6999"/>
                    <a:pt x="3918952" y="10705"/>
                    <a:pt x="3918952" y="14568"/>
                  </a:cubicBezTo>
                  <a:lnTo>
                    <a:pt x="3918952" y="1228488"/>
                  </a:lnTo>
                  <a:cubicBezTo>
                    <a:pt x="3918952" y="1232351"/>
                    <a:pt x="3917417" y="1236057"/>
                    <a:pt x="3914685" y="1238789"/>
                  </a:cubicBezTo>
                  <a:cubicBezTo>
                    <a:pt x="3911953" y="1241521"/>
                    <a:pt x="3908247" y="1243056"/>
                    <a:pt x="3904384" y="1243056"/>
                  </a:cubicBezTo>
                  <a:lnTo>
                    <a:pt x="14568" y="1243056"/>
                  </a:lnTo>
                  <a:cubicBezTo>
                    <a:pt x="10705" y="1243056"/>
                    <a:pt x="6999" y="1241521"/>
                    <a:pt x="4267" y="1238789"/>
                  </a:cubicBezTo>
                  <a:cubicBezTo>
                    <a:pt x="1535" y="1236057"/>
                    <a:pt x="0" y="1232351"/>
                    <a:pt x="0" y="1228488"/>
                  </a:cubicBezTo>
                  <a:lnTo>
                    <a:pt x="0" y="14568"/>
                  </a:lnTo>
                  <a:cubicBezTo>
                    <a:pt x="0" y="10705"/>
                    <a:pt x="1535" y="6999"/>
                    <a:pt x="4267" y="4267"/>
                  </a:cubicBezTo>
                  <a:cubicBezTo>
                    <a:pt x="6999" y="1535"/>
                    <a:pt x="10705" y="0"/>
                    <a:pt x="14568" y="0"/>
                  </a:cubicBezTo>
                  <a:close/>
                </a:path>
              </a:pathLst>
            </a:custGeom>
            <a:solidFill>
              <a:srgbClr val="0B6D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txBox="1"/>
            <p:nvPr/>
          </p:nvSpPr>
          <p:spPr>
            <a:xfrm>
              <a:off x="0" y="-28575"/>
              <a:ext cx="3918952" cy="1271631"/>
            </a:xfrm>
            <a:prstGeom prst="rect">
              <a:avLst/>
            </a:prstGeom>
            <a:noFill/>
            <a:ln>
              <a:noFill/>
            </a:ln>
          </p:spPr>
          <p:txBody>
            <a:bodyPr anchorCtr="0" anchor="ctr" bIns="50800" lIns="50800" spcFirstLastPara="1" rIns="50800" wrap="square" tIns="50800">
              <a:noAutofit/>
            </a:bodyPr>
            <a:lstStyle/>
            <a:p>
              <a:pPr indent="0" lvl="0" marL="0" marR="0" rtl="0" algn="ctr">
                <a:lnSpc>
                  <a:spcPct val="15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0" name="Google Shape;460;p19"/>
          <p:cNvSpPr/>
          <p:nvPr/>
        </p:nvSpPr>
        <p:spPr>
          <a:xfrm>
            <a:off x="2480022" y="3427945"/>
            <a:ext cx="14779278" cy="5022410"/>
          </a:xfrm>
          <a:custGeom>
            <a:rect b="b" l="l" r="r" t="t"/>
            <a:pathLst>
              <a:path extrusionOk="0" h="5022410" w="14779278">
                <a:moveTo>
                  <a:pt x="0" y="0"/>
                </a:moveTo>
                <a:lnTo>
                  <a:pt x="14779278" y="0"/>
                </a:lnTo>
                <a:lnTo>
                  <a:pt x="14779278" y="5022410"/>
                </a:lnTo>
                <a:lnTo>
                  <a:pt x="0" y="5022410"/>
                </a:lnTo>
                <a:lnTo>
                  <a:pt x="0" y="0"/>
                </a:lnTo>
                <a:close/>
              </a:path>
            </a:pathLst>
          </a:custGeom>
          <a:blipFill rotWithShape="1">
            <a:blip r:embed="rId5">
              <a:alphaModFix/>
            </a:blip>
            <a:stretch>
              <a:fillRect b="-10347" l="0" r="0" t="0"/>
            </a:stretch>
          </a:blipFill>
          <a:ln>
            <a:noFill/>
          </a:ln>
        </p:spPr>
      </p:sp>
      <p:sp>
        <p:nvSpPr>
          <p:cNvPr id="461" name="Google Shape;461;p19"/>
          <p:cNvSpPr/>
          <p:nvPr/>
        </p:nvSpPr>
        <p:spPr>
          <a:xfrm>
            <a:off x="1290412" y="348000"/>
            <a:ext cx="2850912" cy="3395542"/>
          </a:xfrm>
          <a:custGeom>
            <a:rect b="b" l="l" r="r" t="t"/>
            <a:pathLst>
              <a:path extrusionOk="0" h="3395542" w="2850912">
                <a:moveTo>
                  <a:pt x="0" y="0"/>
                </a:moveTo>
                <a:lnTo>
                  <a:pt x="2850912" y="0"/>
                </a:lnTo>
                <a:lnTo>
                  <a:pt x="2850912" y="3395543"/>
                </a:lnTo>
                <a:lnTo>
                  <a:pt x="0" y="3395543"/>
                </a:lnTo>
                <a:lnTo>
                  <a:pt x="0" y="0"/>
                </a:lnTo>
                <a:close/>
              </a:path>
            </a:pathLst>
          </a:custGeom>
          <a:blipFill rotWithShape="1">
            <a:blip r:embed="rId6">
              <a:alphaModFix/>
            </a:blip>
            <a:stretch>
              <a:fillRect b="-42103" l="0" r="0" t="0"/>
            </a:stretch>
          </a:blipFill>
          <a:ln>
            <a:noFill/>
          </a:ln>
        </p:spPr>
      </p:sp>
      <p:sp>
        <p:nvSpPr>
          <p:cNvPr id="462" name="Google Shape;462;p19"/>
          <p:cNvSpPr txBox="1"/>
          <p:nvPr/>
        </p:nvSpPr>
        <p:spPr>
          <a:xfrm>
            <a:off x="4983879" y="347993"/>
            <a:ext cx="9030300" cy="2892900"/>
          </a:xfrm>
          <a:prstGeom prst="rect">
            <a:avLst/>
          </a:prstGeom>
          <a:noFill/>
          <a:ln>
            <a:noFill/>
          </a:ln>
        </p:spPr>
        <p:txBody>
          <a:bodyPr anchorCtr="0" anchor="t" bIns="0" lIns="0" spcFirstLastPara="1" rIns="0" wrap="square" tIns="0">
            <a:spAutoFit/>
          </a:bodyPr>
          <a:lstStyle/>
          <a:p>
            <a:pPr indent="0" lvl="0" marL="0" marR="0" rtl="0" algn="ctr">
              <a:lnSpc>
                <a:spcPct val="82002"/>
              </a:lnSpc>
              <a:spcBef>
                <a:spcPts val="0"/>
              </a:spcBef>
              <a:spcAft>
                <a:spcPts val="0"/>
              </a:spcAft>
              <a:buNone/>
            </a:pPr>
            <a:r>
              <a:rPr b="0" i="0" lang="en-US" sz="7640" u="none" cap="none" strike="noStrike">
                <a:solidFill>
                  <a:srgbClr val="000102"/>
                </a:solidFill>
                <a:latin typeface="Arial"/>
                <a:ea typeface="Arial"/>
                <a:cs typeface="Arial"/>
                <a:sym typeface="Arial"/>
              </a:rPr>
              <a:t>Los Routers separan Dominios de Broadcast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468" name="Google Shape;468;p20"/>
          <p:cNvGrpSpPr/>
          <p:nvPr/>
        </p:nvGrpSpPr>
        <p:grpSpPr>
          <a:xfrm>
            <a:off x="1028700" y="4524464"/>
            <a:ext cx="9994648" cy="3890165"/>
            <a:chOff x="0" y="-28575"/>
            <a:chExt cx="2632335" cy="1024570"/>
          </a:xfrm>
        </p:grpSpPr>
        <p:sp>
          <p:nvSpPr>
            <p:cNvPr id="469" name="Google Shape;469;p20"/>
            <p:cNvSpPr/>
            <p:nvPr/>
          </p:nvSpPr>
          <p:spPr>
            <a:xfrm>
              <a:off x="0" y="0"/>
              <a:ext cx="2632335" cy="995995"/>
            </a:xfrm>
            <a:custGeom>
              <a:rect b="b" l="l" r="r" t="t"/>
              <a:pathLst>
                <a:path extrusionOk="0" h="995995" w="2632335">
                  <a:moveTo>
                    <a:pt x="21689" y="0"/>
                  </a:moveTo>
                  <a:lnTo>
                    <a:pt x="2610646" y="0"/>
                  </a:lnTo>
                  <a:cubicBezTo>
                    <a:pt x="2622625" y="0"/>
                    <a:pt x="2632335" y="9710"/>
                    <a:pt x="2632335" y="21689"/>
                  </a:cubicBezTo>
                  <a:lnTo>
                    <a:pt x="2632335" y="974306"/>
                  </a:lnTo>
                  <a:cubicBezTo>
                    <a:pt x="2632335" y="986285"/>
                    <a:pt x="2622625" y="995995"/>
                    <a:pt x="2610646" y="995995"/>
                  </a:cubicBezTo>
                  <a:lnTo>
                    <a:pt x="21689" y="995995"/>
                  </a:lnTo>
                  <a:cubicBezTo>
                    <a:pt x="9710" y="995995"/>
                    <a:pt x="0" y="986285"/>
                    <a:pt x="0" y="974306"/>
                  </a:cubicBezTo>
                  <a:lnTo>
                    <a:pt x="0" y="21689"/>
                  </a:lnTo>
                  <a:cubicBezTo>
                    <a:pt x="0" y="9710"/>
                    <a:pt x="9710" y="0"/>
                    <a:pt x="21689" y="0"/>
                  </a:cubicBezTo>
                  <a:close/>
                </a:path>
              </a:pathLst>
            </a:custGeom>
            <a:solidFill>
              <a:srgbClr val="0B6D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txBox="1"/>
            <p:nvPr/>
          </p:nvSpPr>
          <p:spPr>
            <a:xfrm>
              <a:off x="0" y="-28575"/>
              <a:ext cx="2632335" cy="1024570"/>
            </a:xfrm>
            <a:prstGeom prst="rect">
              <a:avLst/>
            </a:prstGeom>
            <a:noFill/>
            <a:ln>
              <a:noFill/>
            </a:ln>
          </p:spPr>
          <p:txBody>
            <a:bodyPr anchorCtr="0" anchor="ctr" bIns="50800" lIns="50800" spcFirstLastPara="1" rIns="50800" wrap="square" tIns="50800">
              <a:noAutofit/>
            </a:bodyPr>
            <a:lstStyle/>
            <a:p>
              <a:pPr indent="0" lvl="0" marL="0" marR="0" rtl="0" algn="ctr">
                <a:lnSpc>
                  <a:spcPct val="15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1" name="Google Shape;471;p20"/>
          <p:cNvSpPr/>
          <p:nvPr/>
        </p:nvSpPr>
        <p:spPr>
          <a:xfrm>
            <a:off x="11328538" y="3442031"/>
            <a:ext cx="874791" cy="2381856"/>
          </a:xfrm>
          <a:custGeom>
            <a:rect b="b" l="l" r="r" t="t"/>
            <a:pathLst>
              <a:path extrusionOk="0" h="2381856" w="874791">
                <a:moveTo>
                  <a:pt x="0" y="0"/>
                </a:moveTo>
                <a:lnTo>
                  <a:pt x="874791" y="0"/>
                </a:lnTo>
                <a:lnTo>
                  <a:pt x="874791" y="2381857"/>
                </a:lnTo>
                <a:lnTo>
                  <a:pt x="0" y="2381857"/>
                </a:lnTo>
                <a:lnTo>
                  <a:pt x="0" y="0"/>
                </a:lnTo>
                <a:close/>
              </a:path>
            </a:pathLst>
          </a:custGeom>
          <a:blipFill rotWithShape="1">
            <a:blip r:embed="rId4">
              <a:alphaModFix/>
            </a:blip>
            <a:stretch>
              <a:fillRect b="0" l="0" r="0" t="0"/>
            </a:stretch>
          </a:blipFill>
          <a:ln>
            <a:noFill/>
          </a:ln>
        </p:spPr>
      </p:sp>
      <p:sp>
        <p:nvSpPr>
          <p:cNvPr id="472" name="Google Shape;472;p20"/>
          <p:cNvSpPr/>
          <p:nvPr/>
        </p:nvSpPr>
        <p:spPr>
          <a:xfrm flipH="1">
            <a:off x="16346331" y="3442031"/>
            <a:ext cx="912969" cy="2485808"/>
          </a:xfrm>
          <a:custGeom>
            <a:rect b="b" l="l" r="r" t="t"/>
            <a:pathLst>
              <a:path extrusionOk="0" h="2485808" w="912969">
                <a:moveTo>
                  <a:pt x="912969" y="0"/>
                </a:moveTo>
                <a:lnTo>
                  <a:pt x="0" y="0"/>
                </a:lnTo>
                <a:lnTo>
                  <a:pt x="0" y="2485808"/>
                </a:lnTo>
                <a:lnTo>
                  <a:pt x="912969" y="2485808"/>
                </a:lnTo>
                <a:lnTo>
                  <a:pt x="912969" y="0"/>
                </a:lnTo>
                <a:close/>
              </a:path>
            </a:pathLst>
          </a:custGeom>
          <a:blipFill rotWithShape="1">
            <a:blip r:embed="rId4">
              <a:alphaModFix/>
            </a:blip>
            <a:stretch>
              <a:fillRect b="0" l="0" r="0" t="0"/>
            </a:stretch>
          </a:blipFill>
          <a:ln>
            <a:noFill/>
          </a:ln>
        </p:spPr>
      </p:sp>
      <p:sp>
        <p:nvSpPr>
          <p:cNvPr id="473" name="Google Shape;473;p20"/>
          <p:cNvSpPr/>
          <p:nvPr/>
        </p:nvSpPr>
        <p:spPr>
          <a:xfrm>
            <a:off x="7209091" y="2045771"/>
            <a:ext cx="4108386" cy="313731"/>
          </a:xfrm>
          <a:custGeom>
            <a:rect b="b" l="l" r="r" t="t"/>
            <a:pathLst>
              <a:path extrusionOk="0" h="313731" w="4108386">
                <a:moveTo>
                  <a:pt x="0" y="0"/>
                </a:moveTo>
                <a:lnTo>
                  <a:pt x="4108386" y="0"/>
                </a:lnTo>
                <a:lnTo>
                  <a:pt x="4108386" y="313732"/>
                </a:lnTo>
                <a:lnTo>
                  <a:pt x="0" y="313732"/>
                </a:lnTo>
                <a:lnTo>
                  <a:pt x="0" y="0"/>
                </a:lnTo>
                <a:close/>
              </a:path>
            </a:pathLst>
          </a:custGeom>
          <a:blipFill rotWithShape="1">
            <a:blip r:embed="rId5">
              <a:alphaModFix/>
            </a:blip>
            <a:stretch>
              <a:fillRect b="0" l="0" r="0" t="0"/>
            </a:stretch>
          </a:blipFill>
          <a:ln>
            <a:noFill/>
          </a:ln>
        </p:spPr>
      </p:sp>
      <p:sp>
        <p:nvSpPr>
          <p:cNvPr id="474" name="Google Shape;474;p20"/>
          <p:cNvSpPr/>
          <p:nvPr/>
        </p:nvSpPr>
        <p:spPr>
          <a:xfrm>
            <a:off x="1219495" y="4632960"/>
            <a:ext cx="9803852" cy="3386794"/>
          </a:xfrm>
          <a:custGeom>
            <a:rect b="b" l="l" r="r" t="t"/>
            <a:pathLst>
              <a:path extrusionOk="0" h="3386794" w="9803852">
                <a:moveTo>
                  <a:pt x="0" y="0"/>
                </a:moveTo>
                <a:lnTo>
                  <a:pt x="9803853" y="0"/>
                </a:lnTo>
                <a:lnTo>
                  <a:pt x="9803853" y="3386793"/>
                </a:lnTo>
                <a:lnTo>
                  <a:pt x="0" y="3386793"/>
                </a:lnTo>
                <a:lnTo>
                  <a:pt x="0" y="0"/>
                </a:lnTo>
                <a:close/>
              </a:path>
            </a:pathLst>
          </a:custGeom>
          <a:blipFill rotWithShape="1">
            <a:blip r:embed="rId6">
              <a:alphaModFix/>
            </a:blip>
            <a:stretch>
              <a:fillRect b="-8551" l="0" r="0" t="0"/>
            </a:stretch>
          </a:blipFill>
          <a:ln>
            <a:noFill/>
          </a:ln>
        </p:spPr>
      </p:sp>
      <p:sp>
        <p:nvSpPr>
          <p:cNvPr id="475" name="Google Shape;475;p20"/>
          <p:cNvSpPr/>
          <p:nvPr/>
        </p:nvSpPr>
        <p:spPr>
          <a:xfrm>
            <a:off x="1401709" y="1824443"/>
            <a:ext cx="2850912" cy="3395542"/>
          </a:xfrm>
          <a:custGeom>
            <a:rect b="b" l="l" r="r" t="t"/>
            <a:pathLst>
              <a:path extrusionOk="0" h="3395542" w="2850912">
                <a:moveTo>
                  <a:pt x="0" y="0"/>
                </a:moveTo>
                <a:lnTo>
                  <a:pt x="2850912" y="0"/>
                </a:lnTo>
                <a:lnTo>
                  <a:pt x="2850912" y="3395542"/>
                </a:lnTo>
                <a:lnTo>
                  <a:pt x="0" y="3395542"/>
                </a:lnTo>
                <a:lnTo>
                  <a:pt x="0" y="0"/>
                </a:lnTo>
                <a:close/>
              </a:path>
            </a:pathLst>
          </a:custGeom>
          <a:blipFill rotWithShape="1">
            <a:blip r:embed="rId7">
              <a:alphaModFix/>
            </a:blip>
            <a:stretch>
              <a:fillRect b="-42103" l="0" r="0" t="0"/>
            </a:stretch>
          </a:blipFill>
          <a:ln>
            <a:noFill/>
          </a:ln>
        </p:spPr>
      </p:sp>
      <p:sp>
        <p:nvSpPr>
          <p:cNvPr id="476" name="Google Shape;476;p20"/>
          <p:cNvSpPr txBox="1"/>
          <p:nvPr/>
        </p:nvSpPr>
        <p:spPr>
          <a:xfrm>
            <a:off x="12072058" y="3737082"/>
            <a:ext cx="4372625" cy="148290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0" i="0" lang="en-US" sz="2126" u="none" cap="none" strike="noStrike">
                <a:solidFill>
                  <a:srgbClr val="000102"/>
                </a:solidFill>
                <a:latin typeface="Shantell Sans"/>
                <a:ea typeface="Shantell Sans"/>
                <a:cs typeface="Shantell Sans"/>
                <a:sym typeface="Shantell Sans"/>
              </a:rPr>
              <a:t>En los swtches si queremos separar dominios de broadcast lo que debemos hacer es crear VLANs para distintos puertos.</a:t>
            </a:r>
            <a:endParaRPr/>
          </a:p>
        </p:txBody>
      </p:sp>
      <p:sp>
        <p:nvSpPr>
          <p:cNvPr id="477" name="Google Shape;477;p20"/>
          <p:cNvSpPr txBox="1"/>
          <p:nvPr/>
        </p:nvSpPr>
        <p:spPr>
          <a:xfrm>
            <a:off x="12060998" y="6230265"/>
            <a:ext cx="5835386" cy="1841464"/>
          </a:xfrm>
          <a:prstGeom prst="rect">
            <a:avLst/>
          </a:prstGeom>
          <a:noFill/>
          <a:ln>
            <a:noFill/>
          </a:ln>
        </p:spPr>
        <p:txBody>
          <a:bodyPr anchorCtr="0" anchor="t" bIns="0" lIns="0" spcFirstLastPara="1" rIns="0" wrap="square" tIns="0">
            <a:spAutoFit/>
          </a:bodyPr>
          <a:lstStyle/>
          <a:p>
            <a:pPr indent="-229546" lvl="1" marL="459095" marR="0" rtl="0" algn="l">
              <a:lnSpc>
                <a:spcPct val="139981"/>
              </a:lnSpc>
              <a:spcBef>
                <a:spcPts val="0"/>
              </a:spcBef>
              <a:spcAft>
                <a:spcPts val="0"/>
              </a:spcAft>
              <a:buClr>
                <a:srgbClr val="000102"/>
              </a:buClr>
              <a:buSzPts val="2126"/>
              <a:buFont typeface="Arial"/>
              <a:buChar char="•"/>
            </a:pPr>
            <a:r>
              <a:rPr b="0" i="0" lang="en-US" sz="2126" u="none" cap="none" strike="noStrike">
                <a:solidFill>
                  <a:srgbClr val="000102"/>
                </a:solidFill>
                <a:latin typeface="Shantell Sans"/>
                <a:ea typeface="Shantell Sans"/>
                <a:cs typeface="Shantell Sans"/>
                <a:sym typeface="Shantell Sans"/>
              </a:rPr>
              <a:t>Por definición </a:t>
            </a:r>
            <a:r>
              <a:rPr b="1" i="0" lang="en-US" sz="2126" u="none" cap="none" strike="noStrike">
                <a:solidFill>
                  <a:srgbClr val="000102"/>
                </a:solidFill>
                <a:latin typeface="Shantell Sans"/>
                <a:ea typeface="Shantell Sans"/>
                <a:cs typeface="Shantell Sans"/>
                <a:sym typeface="Shantell Sans"/>
              </a:rPr>
              <a:t>las VLANs son dominios de broadcast</a:t>
            </a:r>
            <a:r>
              <a:rPr b="0" i="0" lang="en-US" sz="2126" u="none" cap="none" strike="noStrike">
                <a:solidFill>
                  <a:srgbClr val="000102"/>
                </a:solidFill>
                <a:latin typeface="Shantell Sans"/>
                <a:ea typeface="Shantell Sans"/>
                <a:cs typeface="Shantell Sans"/>
                <a:sym typeface="Shantell Sans"/>
              </a:rPr>
              <a:t> creados por configuración.</a:t>
            </a:r>
            <a:endParaRPr/>
          </a:p>
          <a:p>
            <a:pPr indent="-229546" lvl="1" marL="459095" marR="0" rtl="0" algn="l">
              <a:lnSpc>
                <a:spcPct val="139981"/>
              </a:lnSpc>
              <a:spcBef>
                <a:spcPts val="0"/>
              </a:spcBef>
              <a:spcAft>
                <a:spcPts val="0"/>
              </a:spcAft>
              <a:buClr>
                <a:srgbClr val="000102"/>
              </a:buClr>
              <a:buSzPts val="2126"/>
              <a:buFont typeface="Arial"/>
              <a:buChar char="•"/>
            </a:pPr>
            <a:r>
              <a:rPr b="0" i="0" lang="en-US" sz="2126" u="none" cap="none" strike="noStrike">
                <a:solidFill>
                  <a:srgbClr val="000102"/>
                </a:solidFill>
                <a:latin typeface="Shantell Sans"/>
                <a:ea typeface="Shantell Sans"/>
                <a:cs typeface="Shantell Sans"/>
                <a:sym typeface="Shantell Sans"/>
              </a:rPr>
              <a:t>Los </a:t>
            </a:r>
            <a:r>
              <a:rPr b="1" i="0" lang="en-US" sz="2126" u="none" cap="none" strike="noStrike">
                <a:solidFill>
                  <a:srgbClr val="000102"/>
                </a:solidFill>
                <a:latin typeface="Shantell Sans"/>
                <a:ea typeface="Shantell Sans"/>
                <a:cs typeface="Shantell Sans"/>
                <a:sym typeface="Shantell Sans"/>
              </a:rPr>
              <a:t>Routers separan dominios de broadcast</a:t>
            </a:r>
            <a:r>
              <a:rPr b="0" i="0" lang="en-US" sz="2126" u="none" cap="none" strike="noStrike">
                <a:solidFill>
                  <a:srgbClr val="000102"/>
                </a:solidFill>
                <a:latin typeface="Shantell Sans"/>
                <a:ea typeface="Shantell Sans"/>
                <a:cs typeface="Shantell Sans"/>
                <a:sym typeface="Shantell Sans"/>
              </a:rPr>
              <a:t> por cada interfaz Ethernet.</a:t>
            </a:r>
            <a:endParaRPr/>
          </a:p>
          <a:p>
            <a:pPr indent="0" lvl="0" marL="0" marR="0" rtl="0" algn="l">
              <a:lnSpc>
                <a:spcPct val="139981"/>
              </a:lnSpc>
              <a:spcBef>
                <a:spcPts val="0"/>
              </a:spcBef>
              <a:spcAft>
                <a:spcPts val="0"/>
              </a:spcAft>
              <a:buNone/>
            </a:pPr>
            <a:r>
              <a:t/>
            </a:r>
            <a:endParaRPr b="0" i="0" sz="2126" u="none" cap="none" strike="noStrike">
              <a:solidFill>
                <a:srgbClr val="000102"/>
              </a:solidFill>
              <a:latin typeface="Shantell Sans"/>
              <a:ea typeface="Shantell Sans"/>
              <a:cs typeface="Shantell Sans"/>
              <a:sym typeface="Shantell Sans"/>
            </a:endParaRPr>
          </a:p>
        </p:txBody>
      </p:sp>
      <p:sp>
        <p:nvSpPr>
          <p:cNvPr id="478" name="Google Shape;478;p20"/>
          <p:cNvSpPr txBox="1"/>
          <p:nvPr/>
        </p:nvSpPr>
        <p:spPr>
          <a:xfrm>
            <a:off x="5144054" y="1089893"/>
            <a:ext cx="8459845" cy="1607784"/>
          </a:xfrm>
          <a:prstGeom prst="rect">
            <a:avLst/>
          </a:prstGeom>
          <a:noFill/>
          <a:ln>
            <a:noFill/>
          </a:ln>
        </p:spPr>
        <p:txBody>
          <a:bodyPr anchorCtr="0" anchor="t" bIns="0" lIns="0" spcFirstLastPara="1" rIns="0" wrap="square" tIns="0">
            <a:spAutoFit/>
          </a:bodyPr>
          <a:lstStyle/>
          <a:p>
            <a:pPr indent="0" lvl="0" marL="0" marR="0" rtl="0" algn="ctr">
              <a:lnSpc>
                <a:spcPct val="82010"/>
              </a:lnSpc>
              <a:spcBef>
                <a:spcPts val="0"/>
              </a:spcBef>
              <a:spcAft>
                <a:spcPts val="0"/>
              </a:spcAft>
              <a:buNone/>
            </a:pPr>
            <a:r>
              <a:rPr b="0" i="0" lang="en-US" sz="7293" u="none" cap="none" strike="noStrike">
                <a:solidFill>
                  <a:srgbClr val="000102"/>
                </a:solidFill>
                <a:latin typeface="Arial"/>
                <a:ea typeface="Arial"/>
                <a:cs typeface="Arial"/>
                <a:sym typeface="Arial"/>
              </a:rPr>
              <a:t>Las VLANs separan Dominios de Broadcast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484" name="Google Shape;484;p21"/>
          <p:cNvSpPr/>
          <p:nvPr/>
        </p:nvSpPr>
        <p:spPr>
          <a:xfrm>
            <a:off x="1149595" y="3781705"/>
            <a:ext cx="2546438" cy="593320"/>
          </a:xfrm>
          <a:custGeom>
            <a:rect b="b" l="l" r="r" t="t"/>
            <a:pathLst>
              <a:path extrusionOk="0" h="593320" w="2546438">
                <a:moveTo>
                  <a:pt x="0" y="0"/>
                </a:moveTo>
                <a:lnTo>
                  <a:pt x="2546439" y="0"/>
                </a:lnTo>
                <a:lnTo>
                  <a:pt x="2546439" y="593320"/>
                </a:lnTo>
                <a:lnTo>
                  <a:pt x="0" y="593320"/>
                </a:lnTo>
                <a:lnTo>
                  <a:pt x="0" y="0"/>
                </a:lnTo>
                <a:close/>
              </a:path>
            </a:pathLst>
          </a:custGeom>
          <a:blipFill rotWithShape="1">
            <a:blip r:embed="rId4">
              <a:alphaModFix amt="64000"/>
            </a:blip>
            <a:stretch>
              <a:fillRect b="0" l="0" r="0" t="0"/>
            </a:stretch>
          </a:blipFill>
          <a:ln>
            <a:noFill/>
          </a:ln>
        </p:spPr>
      </p:sp>
      <p:sp>
        <p:nvSpPr>
          <p:cNvPr id="485" name="Google Shape;485;p21"/>
          <p:cNvSpPr/>
          <p:nvPr/>
        </p:nvSpPr>
        <p:spPr>
          <a:xfrm>
            <a:off x="1136250" y="7048229"/>
            <a:ext cx="2546438" cy="593320"/>
          </a:xfrm>
          <a:custGeom>
            <a:rect b="b" l="l" r="r" t="t"/>
            <a:pathLst>
              <a:path extrusionOk="0" h="593320" w="2546438">
                <a:moveTo>
                  <a:pt x="0" y="0"/>
                </a:moveTo>
                <a:lnTo>
                  <a:pt x="2546438" y="0"/>
                </a:lnTo>
                <a:lnTo>
                  <a:pt x="2546438" y="593320"/>
                </a:lnTo>
                <a:lnTo>
                  <a:pt x="0" y="593320"/>
                </a:lnTo>
                <a:lnTo>
                  <a:pt x="0" y="0"/>
                </a:lnTo>
                <a:close/>
              </a:path>
            </a:pathLst>
          </a:custGeom>
          <a:blipFill rotWithShape="1">
            <a:blip r:embed="rId5">
              <a:alphaModFix amt="64000"/>
            </a:blip>
            <a:stretch>
              <a:fillRect b="0" l="0" r="0" t="0"/>
            </a:stretch>
          </a:blipFill>
          <a:ln>
            <a:noFill/>
          </a:ln>
        </p:spPr>
      </p:sp>
      <p:sp>
        <p:nvSpPr>
          <p:cNvPr id="486" name="Google Shape;486;p21"/>
          <p:cNvSpPr/>
          <p:nvPr/>
        </p:nvSpPr>
        <p:spPr>
          <a:xfrm>
            <a:off x="1149595" y="4792340"/>
            <a:ext cx="2546438" cy="593320"/>
          </a:xfrm>
          <a:custGeom>
            <a:rect b="b" l="l" r="r" t="t"/>
            <a:pathLst>
              <a:path extrusionOk="0" h="593320" w="2546438">
                <a:moveTo>
                  <a:pt x="0" y="0"/>
                </a:moveTo>
                <a:lnTo>
                  <a:pt x="2546439" y="0"/>
                </a:lnTo>
                <a:lnTo>
                  <a:pt x="2546439" y="593320"/>
                </a:lnTo>
                <a:lnTo>
                  <a:pt x="0" y="593320"/>
                </a:lnTo>
                <a:lnTo>
                  <a:pt x="0" y="0"/>
                </a:lnTo>
                <a:close/>
              </a:path>
            </a:pathLst>
          </a:custGeom>
          <a:blipFill rotWithShape="1">
            <a:blip r:embed="rId6">
              <a:alphaModFix amt="64000"/>
            </a:blip>
            <a:stretch>
              <a:fillRect b="0" l="0" r="0" t="0"/>
            </a:stretch>
          </a:blipFill>
          <a:ln>
            <a:noFill/>
          </a:ln>
        </p:spPr>
      </p:sp>
      <p:sp>
        <p:nvSpPr>
          <p:cNvPr id="487" name="Google Shape;487;p21"/>
          <p:cNvSpPr/>
          <p:nvPr/>
        </p:nvSpPr>
        <p:spPr>
          <a:xfrm>
            <a:off x="1136250" y="8058864"/>
            <a:ext cx="2546438" cy="593320"/>
          </a:xfrm>
          <a:custGeom>
            <a:rect b="b" l="l" r="r" t="t"/>
            <a:pathLst>
              <a:path extrusionOk="0" h="593320" w="2546438">
                <a:moveTo>
                  <a:pt x="0" y="0"/>
                </a:moveTo>
                <a:lnTo>
                  <a:pt x="2546438" y="0"/>
                </a:lnTo>
                <a:lnTo>
                  <a:pt x="2546438" y="593321"/>
                </a:lnTo>
                <a:lnTo>
                  <a:pt x="0" y="593321"/>
                </a:lnTo>
                <a:lnTo>
                  <a:pt x="0" y="0"/>
                </a:lnTo>
                <a:close/>
              </a:path>
            </a:pathLst>
          </a:custGeom>
          <a:blipFill rotWithShape="1">
            <a:blip r:embed="rId7">
              <a:alphaModFix amt="64000"/>
            </a:blip>
            <a:stretch>
              <a:fillRect b="0" l="0" r="0" t="0"/>
            </a:stretch>
          </a:blipFill>
          <a:ln>
            <a:noFill/>
          </a:ln>
        </p:spPr>
      </p:sp>
      <p:sp>
        <p:nvSpPr>
          <p:cNvPr id="488" name="Google Shape;488;p21"/>
          <p:cNvSpPr/>
          <p:nvPr/>
        </p:nvSpPr>
        <p:spPr>
          <a:xfrm>
            <a:off x="1149595" y="5928585"/>
            <a:ext cx="2546438" cy="593320"/>
          </a:xfrm>
          <a:custGeom>
            <a:rect b="b" l="l" r="r" t="t"/>
            <a:pathLst>
              <a:path extrusionOk="0" h="593320" w="2546438">
                <a:moveTo>
                  <a:pt x="0" y="0"/>
                </a:moveTo>
                <a:lnTo>
                  <a:pt x="2546439" y="0"/>
                </a:lnTo>
                <a:lnTo>
                  <a:pt x="2546439" y="593320"/>
                </a:lnTo>
                <a:lnTo>
                  <a:pt x="0" y="593320"/>
                </a:lnTo>
                <a:lnTo>
                  <a:pt x="0" y="0"/>
                </a:lnTo>
                <a:close/>
              </a:path>
            </a:pathLst>
          </a:custGeom>
          <a:blipFill rotWithShape="1">
            <a:blip r:embed="rId8">
              <a:alphaModFix amt="64000"/>
            </a:blip>
            <a:stretch>
              <a:fillRect b="0" l="0" r="0" t="0"/>
            </a:stretch>
          </a:blipFill>
          <a:ln>
            <a:noFill/>
          </a:ln>
        </p:spPr>
      </p:sp>
      <p:sp>
        <p:nvSpPr>
          <p:cNvPr id="489" name="Google Shape;489;p21"/>
          <p:cNvSpPr/>
          <p:nvPr/>
        </p:nvSpPr>
        <p:spPr>
          <a:xfrm>
            <a:off x="12487674" y="3476630"/>
            <a:ext cx="4873508" cy="3571875"/>
          </a:xfrm>
          <a:custGeom>
            <a:rect b="b" l="l" r="r" t="t"/>
            <a:pathLst>
              <a:path extrusionOk="0" h="3571875" w="4873508">
                <a:moveTo>
                  <a:pt x="0" y="0"/>
                </a:moveTo>
                <a:lnTo>
                  <a:pt x="4873508" y="0"/>
                </a:lnTo>
                <a:lnTo>
                  <a:pt x="4873508" y="3571875"/>
                </a:lnTo>
                <a:lnTo>
                  <a:pt x="0" y="3571875"/>
                </a:lnTo>
                <a:lnTo>
                  <a:pt x="0" y="0"/>
                </a:lnTo>
                <a:close/>
              </a:path>
            </a:pathLst>
          </a:custGeom>
          <a:blipFill rotWithShape="1">
            <a:blip r:embed="rId9">
              <a:alphaModFix/>
            </a:blip>
            <a:stretch>
              <a:fillRect b="0" l="0" r="0" t="0"/>
            </a:stretch>
          </a:blipFill>
          <a:ln>
            <a:noFill/>
          </a:ln>
        </p:spPr>
      </p:sp>
      <p:sp>
        <p:nvSpPr>
          <p:cNvPr id="490" name="Google Shape;490;p21"/>
          <p:cNvSpPr txBox="1"/>
          <p:nvPr/>
        </p:nvSpPr>
        <p:spPr>
          <a:xfrm>
            <a:off x="1538425" y="804350"/>
            <a:ext cx="13815900" cy="1423800"/>
          </a:xfrm>
          <a:prstGeom prst="rect">
            <a:avLst/>
          </a:prstGeom>
          <a:noFill/>
          <a:ln>
            <a:noFill/>
          </a:ln>
        </p:spPr>
        <p:txBody>
          <a:bodyPr anchorCtr="0" anchor="t" bIns="0" lIns="0" spcFirstLastPara="1" rIns="0" wrap="square" tIns="0">
            <a:spAutoFit/>
          </a:bodyPr>
          <a:lstStyle/>
          <a:p>
            <a:pPr indent="0" lvl="0" marL="0" marR="0" rtl="0" algn="l">
              <a:lnSpc>
                <a:spcPct val="81996"/>
              </a:lnSpc>
              <a:spcBef>
                <a:spcPts val="0"/>
              </a:spcBef>
              <a:spcAft>
                <a:spcPts val="0"/>
              </a:spcAft>
              <a:buNone/>
            </a:pPr>
            <a:r>
              <a:rPr b="0" i="0" lang="en-US" sz="11281" u="none" cap="none" strike="noStrike">
                <a:solidFill>
                  <a:srgbClr val="000102"/>
                </a:solidFill>
                <a:latin typeface="Arial"/>
                <a:ea typeface="Arial"/>
                <a:cs typeface="Arial"/>
                <a:sym typeface="Arial"/>
              </a:rPr>
              <a:t>Optimización de STP</a:t>
            </a:r>
            <a:endParaRPr/>
          </a:p>
        </p:txBody>
      </p:sp>
      <p:sp>
        <p:nvSpPr>
          <p:cNvPr id="491" name="Google Shape;491;p21"/>
          <p:cNvSpPr txBox="1"/>
          <p:nvPr/>
        </p:nvSpPr>
        <p:spPr>
          <a:xfrm>
            <a:off x="1028700" y="3861422"/>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Root Bridge</a:t>
            </a:r>
            <a:endParaRPr/>
          </a:p>
        </p:txBody>
      </p:sp>
      <p:sp>
        <p:nvSpPr>
          <p:cNvPr id="492" name="Google Shape;492;p21"/>
          <p:cNvSpPr txBox="1"/>
          <p:nvPr/>
        </p:nvSpPr>
        <p:spPr>
          <a:xfrm>
            <a:off x="1015354" y="7127947"/>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BPDU Guard</a:t>
            </a:r>
            <a:endParaRPr/>
          </a:p>
        </p:txBody>
      </p:sp>
      <p:sp>
        <p:nvSpPr>
          <p:cNvPr id="493" name="Google Shape;493;p21"/>
          <p:cNvSpPr txBox="1"/>
          <p:nvPr/>
        </p:nvSpPr>
        <p:spPr>
          <a:xfrm>
            <a:off x="1149595" y="4872057"/>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Edge Ports</a:t>
            </a:r>
            <a:endParaRPr/>
          </a:p>
        </p:txBody>
      </p:sp>
      <p:sp>
        <p:nvSpPr>
          <p:cNvPr id="494" name="Google Shape;494;p21"/>
          <p:cNvSpPr txBox="1"/>
          <p:nvPr/>
        </p:nvSpPr>
        <p:spPr>
          <a:xfrm>
            <a:off x="1136250" y="8138582"/>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VLANs y STP</a:t>
            </a:r>
            <a:endParaRPr/>
          </a:p>
        </p:txBody>
      </p:sp>
      <p:sp>
        <p:nvSpPr>
          <p:cNvPr id="495" name="Google Shape;495;p21"/>
          <p:cNvSpPr txBox="1"/>
          <p:nvPr/>
        </p:nvSpPr>
        <p:spPr>
          <a:xfrm>
            <a:off x="1028700" y="6008303"/>
            <a:ext cx="2788229" cy="444007"/>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659" u="none" cap="none" strike="noStrike">
                <a:solidFill>
                  <a:srgbClr val="000102"/>
                </a:solidFill>
                <a:latin typeface="Shantell Sans"/>
                <a:ea typeface="Shantell Sans"/>
                <a:cs typeface="Shantell Sans"/>
                <a:sym typeface="Shantell Sans"/>
              </a:rPr>
              <a:t>PortFast</a:t>
            </a:r>
            <a:endParaRPr/>
          </a:p>
        </p:txBody>
      </p:sp>
      <p:sp>
        <p:nvSpPr>
          <p:cNvPr id="496" name="Google Shape;496;p21"/>
          <p:cNvSpPr txBox="1"/>
          <p:nvPr/>
        </p:nvSpPr>
        <p:spPr>
          <a:xfrm>
            <a:off x="3816929" y="3932252"/>
            <a:ext cx="6798815" cy="3213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Selecciona el switch más adecuado para optimizar el tráfico.</a:t>
            </a:r>
            <a:endParaRPr/>
          </a:p>
        </p:txBody>
      </p:sp>
      <p:sp>
        <p:nvSpPr>
          <p:cNvPr id="497" name="Google Shape;497;p21"/>
          <p:cNvSpPr txBox="1"/>
          <p:nvPr/>
        </p:nvSpPr>
        <p:spPr>
          <a:xfrm>
            <a:off x="3803583" y="7198777"/>
            <a:ext cx="6798815"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Este se activa en puertos de acceso para proteger la red de configuraciones incorrectas.</a:t>
            </a:r>
            <a:endParaRPr/>
          </a:p>
        </p:txBody>
      </p:sp>
      <p:sp>
        <p:nvSpPr>
          <p:cNvPr id="498" name="Google Shape;498;p21"/>
          <p:cNvSpPr txBox="1"/>
          <p:nvPr/>
        </p:nvSpPr>
        <p:spPr>
          <a:xfrm>
            <a:off x="1399724" y="2812333"/>
            <a:ext cx="8953658"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Existen distintas maneras para optimizar dicho protocolo, entre las cuales podemos tomar en cuenta:</a:t>
            </a:r>
            <a:endParaRPr/>
          </a:p>
        </p:txBody>
      </p:sp>
      <p:sp>
        <p:nvSpPr>
          <p:cNvPr id="499" name="Google Shape;499;p21"/>
          <p:cNvSpPr txBox="1"/>
          <p:nvPr/>
        </p:nvSpPr>
        <p:spPr>
          <a:xfrm>
            <a:off x="3816929" y="4942887"/>
            <a:ext cx="7069108"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Configura los puertos de acceso para evitar la participación en STP.</a:t>
            </a:r>
            <a:endParaRPr/>
          </a:p>
        </p:txBody>
      </p:sp>
      <p:sp>
        <p:nvSpPr>
          <p:cNvPr id="500" name="Google Shape;500;p21"/>
          <p:cNvSpPr txBox="1"/>
          <p:nvPr/>
        </p:nvSpPr>
        <p:spPr>
          <a:xfrm>
            <a:off x="3803583" y="8209412"/>
            <a:ext cx="7069108"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Implementa RSTP o MSTP para mejorar la eficiencia en redes VLAN.</a:t>
            </a:r>
            <a:endParaRPr/>
          </a:p>
        </p:txBody>
      </p:sp>
      <p:sp>
        <p:nvSpPr>
          <p:cNvPr id="501" name="Google Shape;501;p21"/>
          <p:cNvSpPr txBox="1"/>
          <p:nvPr/>
        </p:nvSpPr>
        <p:spPr>
          <a:xfrm>
            <a:off x="3816929" y="6079133"/>
            <a:ext cx="7563307" cy="664297"/>
          </a:xfrm>
          <a:prstGeom prst="rect">
            <a:avLst/>
          </a:prstGeom>
          <a:noFill/>
          <a:ln>
            <a:noFill/>
          </a:ln>
        </p:spPr>
        <p:txBody>
          <a:bodyPr anchorCtr="0" anchor="t" bIns="0" lIns="0" spcFirstLastPara="1" rIns="0" wrap="square" tIns="0">
            <a:spAutoFit/>
          </a:bodyPr>
          <a:lstStyle/>
          <a:p>
            <a:pPr indent="0" lvl="0" marL="0" marR="0" rtl="0" algn="l">
              <a:lnSpc>
                <a:spcPct val="140101"/>
              </a:lnSpc>
              <a:spcBef>
                <a:spcPts val="0"/>
              </a:spcBef>
              <a:spcAft>
                <a:spcPts val="0"/>
              </a:spcAft>
              <a:buNone/>
            </a:pPr>
            <a:r>
              <a:rPr b="0" i="0" lang="en-US" sz="1970" u="none" cap="none" strike="noStrike">
                <a:solidFill>
                  <a:srgbClr val="000102"/>
                </a:solidFill>
                <a:latin typeface="Shantell Sans"/>
                <a:ea typeface="Shantell Sans"/>
                <a:cs typeface="Shantell Sans"/>
                <a:sym typeface="Shantell Sans"/>
              </a:rPr>
              <a:t>Habilita PortFast en puertos conectados a dispositivos finales para acelerar la transición a estado de reenvío.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507" name="Google Shape;507;p22"/>
          <p:cNvSpPr/>
          <p:nvPr/>
        </p:nvSpPr>
        <p:spPr>
          <a:xfrm>
            <a:off x="5949544" y="2195412"/>
            <a:ext cx="5339836" cy="3646663"/>
          </a:xfrm>
          <a:custGeom>
            <a:rect b="b" l="l" r="r" t="t"/>
            <a:pathLst>
              <a:path extrusionOk="0" h="3646663" w="5339836">
                <a:moveTo>
                  <a:pt x="0" y="0"/>
                </a:moveTo>
                <a:lnTo>
                  <a:pt x="5339836" y="0"/>
                </a:lnTo>
                <a:lnTo>
                  <a:pt x="5339836" y="3646663"/>
                </a:lnTo>
                <a:lnTo>
                  <a:pt x="0" y="3646663"/>
                </a:lnTo>
                <a:lnTo>
                  <a:pt x="0" y="0"/>
                </a:lnTo>
                <a:close/>
              </a:path>
            </a:pathLst>
          </a:custGeom>
          <a:blipFill rotWithShape="1">
            <a:blip r:embed="rId4">
              <a:alphaModFix/>
            </a:blip>
            <a:stretch>
              <a:fillRect b="0" l="0" r="0" t="0"/>
            </a:stretch>
          </a:blipFill>
          <a:ln>
            <a:noFill/>
          </a:ln>
        </p:spPr>
      </p:sp>
      <p:sp>
        <p:nvSpPr>
          <p:cNvPr id="508" name="Google Shape;508;p22"/>
          <p:cNvSpPr/>
          <p:nvPr/>
        </p:nvSpPr>
        <p:spPr>
          <a:xfrm>
            <a:off x="1195729" y="4523438"/>
            <a:ext cx="5107542" cy="3488025"/>
          </a:xfrm>
          <a:custGeom>
            <a:rect b="b" l="l" r="r" t="t"/>
            <a:pathLst>
              <a:path extrusionOk="0" h="3488025" w="5107542">
                <a:moveTo>
                  <a:pt x="0" y="0"/>
                </a:moveTo>
                <a:lnTo>
                  <a:pt x="5107542" y="0"/>
                </a:lnTo>
                <a:lnTo>
                  <a:pt x="5107542" y="3488026"/>
                </a:lnTo>
                <a:lnTo>
                  <a:pt x="0" y="3488026"/>
                </a:lnTo>
                <a:lnTo>
                  <a:pt x="0" y="0"/>
                </a:lnTo>
                <a:close/>
              </a:path>
            </a:pathLst>
          </a:custGeom>
          <a:blipFill rotWithShape="1">
            <a:blip r:embed="rId4">
              <a:alphaModFix/>
            </a:blip>
            <a:stretch>
              <a:fillRect b="0" l="0" r="0" t="0"/>
            </a:stretch>
          </a:blipFill>
          <a:ln>
            <a:noFill/>
          </a:ln>
        </p:spPr>
      </p:sp>
      <p:sp>
        <p:nvSpPr>
          <p:cNvPr id="509" name="Google Shape;509;p22"/>
          <p:cNvSpPr/>
          <p:nvPr/>
        </p:nvSpPr>
        <p:spPr>
          <a:xfrm flipH="1">
            <a:off x="11293145" y="4000397"/>
            <a:ext cx="5508082" cy="3761561"/>
          </a:xfrm>
          <a:custGeom>
            <a:rect b="b" l="l" r="r" t="t"/>
            <a:pathLst>
              <a:path extrusionOk="0" h="3761561" w="5508082">
                <a:moveTo>
                  <a:pt x="5508083" y="0"/>
                </a:moveTo>
                <a:lnTo>
                  <a:pt x="0" y="0"/>
                </a:lnTo>
                <a:lnTo>
                  <a:pt x="0" y="3761561"/>
                </a:lnTo>
                <a:lnTo>
                  <a:pt x="5508083" y="3761561"/>
                </a:lnTo>
                <a:lnTo>
                  <a:pt x="5508083" y="0"/>
                </a:lnTo>
                <a:close/>
              </a:path>
            </a:pathLst>
          </a:custGeom>
          <a:blipFill rotWithShape="1">
            <a:blip r:embed="rId4">
              <a:alphaModFix/>
            </a:blip>
            <a:stretch>
              <a:fillRect b="0" l="0" r="0" t="0"/>
            </a:stretch>
          </a:blipFill>
          <a:ln>
            <a:noFill/>
          </a:ln>
        </p:spPr>
      </p:sp>
      <p:sp>
        <p:nvSpPr>
          <p:cNvPr id="510" name="Google Shape;510;p22"/>
          <p:cNvSpPr/>
          <p:nvPr/>
        </p:nvSpPr>
        <p:spPr>
          <a:xfrm>
            <a:off x="6627500" y="5842075"/>
            <a:ext cx="4367025" cy="4580796"/>
          </a:xfrm>
          <a:custGeom>
            <a:rect b="b" l="l" r="r" t="t"/>
            <a:pathLst>
              <a:path extrusionOk="0" h="4580796" w="4367025">
                <a:moveTo>
                  <a:pt x="0" y="0"/>
                </a:moveTo>
                <a:lnTo>
                  <a:pt x="4367025" y="0"/>
                </a:lnTo>
                <a:lnTo>
                  <a:pt x="4367025" y="4580795"/>
                </a:lnTo>
                <a:lnTo>
                  <a:pt x="0" y="4580795"/>
                </a:lnTo>
                <a:lnTo>
                  <a:pt x="0" y="0"/>
                </a:lnTo>
                <a:close/>
              </a:path>
            </a:pathLst>
          </a:custGeom>
          <a:blipFill rotWithShape="1">
            <a:blip r:embed="rId5">
              <a:alphaModFix/>
            </a:blip>
            <a:stretch>
              <a:fillRect b="0" l="0" r="0" t="0"/>
            </a:stretch>
          </a:blipFill>
          <a:ln>
            <a:noFill/>
          </a:ln>
        </p:spPr>
      </p:sp>
      <p:sp>
        <p:nvSpPr>
          <p:cNvPr id="511" name="Google Shape;511;p22"/>
          <p:cNvSpPr/>
          <p:nvPr/>
        </p:nvSpPr>
        <p:spPr>
          <a:xfrm>
            <a:off x="7252983" y="3154508"/>
            <a:ext cx="2732958" cy="512430"/>
          </a:xfrm>
          <a:custGeom>
            <a:rect b="b" l="l" r="r" t="t"/>
            <a:pathLst>
              <a:path extrusionOk="0" h="512430" w="2732958">
                <a:moveTo>
                  <a:pt x="0" y="0"/>
                </a:moveTo>
                <a:lnTo>
                  <a:pt x="2732958" y="0"/>
                </a:lnTo>
                <a:lnTo>
                  <a:pt x="2732958" y="512429"/>
                </a:lnTo>
                <a:lnTo>
                  <a:pt x="0" y="512429"/>
                </a:lnTo>
                <a:lnTo>
                  <a:pt x="0" y="0"/>
                </a:lnTo>
                <a:close/>
              </a:path>
            </a:pathLst>
          </a:custGeom>
          <a:blipFill rotWithShape="1">
            <a:blip r:embed="rId6">
              <a:alphaModFix amt="57000"/>
            </a:blip>
            <a:stretch>
              <a:fillRect b="0" l="0" r="0" t="0"/>
            </a:stretch>
          </a:blipFill>
          <a:ln>
            <a:noFill/>
          </a:ln>
        </p:spPr>
      </p:sp>
      <p:sp>
        <p:nvSpPr>
          <p:cNvPr id="512" name="Google Shape;512;p22"/>
          <p:cNvSpPr/>
          <p:nvPr/>
        </p:nvSpPr>
        <p:spPr>
          <a:xfrm>
            <a:off x="2198710" y="5368748"/>
            <a:ext cx="2732958" cy="512430"/>
          </a:xfrm>
          <a:custGeom>
            <a:rect b="b" l="l" r="r" t="t"/>
            <a:pathLst>
              <a:path extrusionOk="0" h="512430" w="2732958">
                <a:moveTo>
                  <a:pt x="0" y="0"/>
                </a:moveTo>
                <a:lnTo>
                  <a:pt x="2732958" y="0"/>
                </a:lnTo>
                <a:lnTo>
                  <a:pt x="2732958" y="512429"/>
                </a:lnTo>
                <a:lnTo>
                  <a:pt x="0" y="512429"/>
                </a:lnTo>
                <a:lnTo>
                  <a:pt x="0" y="0"/>
                </a:lnTo>
                <a:close/>
              </a:path>
            </a:pathLst>
          </a:custGeom>
          <a:blipFill rotWithShape="1">
            <a:blip r:embed="rId7">
              <a:alphaModFix amt="57000"/>
            </a:blip>
            <a:stretch>
              <a:fillRect b="0" l="0" r="0" t="0"/>
            </a:stretch>
          </a:blipFill>
          <a:ln>
            <a:noFill/>
          </a:ln>
        </p:spPr>
      </p:sp>
      <p:sp>
        <p:nvSpPr>
          <p:cNvPr id="513" name="Google Shape;513;p22"/>
          <p:cNvSpPr/>
          <p:nvPr/>
        </p:nvSpPr>
        <p:spPr>
          <a:xfrm>
            <a:off x="12624032" y="4899580"/>
            <a:ext cx="2732958" cy="512430"/>
          </a:xfrm>
          <a:custGeom>
            <a:rect b="b" l="l" r="r" t="t"/>
            <a:pathLst>
              <a:path extrusionOk="0" h="512430" w="2732958">
                <a:moveTo>
                  <a:pt x="0" y="0"/>
                </a:moveTo>
                <a:lnTo>
                  <a:pt x="2732957" y="0"/>
                </a:lnTo>
                <a:lnTo>
                  <a:pt x="2732957" y="512429"/>
                </a:lnTo>
                <a:lnTo>
                  <a:pt x="0" y="512429"/>
                </a:lnTo>
                <a:lnTo>
                  <a:pt x="0" y="0"/>
                </a:lnTo>
                <a:close/>
              </a:path>
            </a:pathLst>
          </a:custGeom>
          <a:blipFill rotWithShape="1">
            <a:blip r:embed="rId8">
              <a:alphaModFix amt="57000"/>
            </a:blip>
            <a:stretch>
              <a:fillRect b="0" l="0" r="0" t="0"/>
            </a:stretch>
          </a:blipFill>
          <a:ln>
            <a:noFill/>
          </a:ln>
        </p:spPr>
      </p:sp>
      <p:sp>
        <p:nvSpPr>
          <p:cNvPr id="514" name="Google Shape;514;p22"/>
          <p:cNvSpPr/>
          <p:nvPr/>
        </p:nvSpPr>
        <p:spPr>
          <a:xfrm>
            <a:off x="1028700" y="3154508"/>
            <a:ext cx="1436473" cy="1691778"/>
          </a:xfrm>
          <a:custGeom>
            <a:rect b="b" l="l" r="r" t="t"/>
            <a:pathLst>
              <a:path extrusionOk="0" h="1691778" w="1436473">
                <a:moveTo>
                  <a:pt x="0" y="0"/>
                </a:moveTo>
                <a:lnTo>
                  <a:pt x="1436473" y="0"/>
                </a:lnTo>
                <a:lnTo>
                  <a:pt x="1436473" y="1691778"/>
                </a:lnTo>
                <a:lnTo>
                  <a:pt x="0" y="1691778"/>
                </a:lnTo>
                <a:lnTo>
                  <a:pt x="0" y="0"/>
                </a:lnTo>
                <a:close/>
              </a:path>
            </a:pathLst>
          </a:custGeom>
          <a:blipFill rotWithShape="1">
            <a:blip r:embed="rId9">
              <a:alphaModFix/>
            </a:blip>
            <a:stretch>
              <a:fillRect b="0" l="0" r="0" t="0"/>
            </a:stretch>
          </a:blipFill>
          <a:ln>
            <a:noFill/>
          </a:ln>
        </p:spPr>
      </p:sp>
      <p:sp>
        <p:nvSpPr>
          <p:cNvPr id="515" name="Google Shape;515;p22"/>
          <p:cNvSpPr/>
          <p:nvPr/>
        </p:nvSpPr>
        <p:spPr>
          <a:xfrm>
            <a:off x="11822542" y="2578069"/>
            <a:ext cx="1231804" cy="1016798"/>
          </a:xfrm>
          <a:custGeom>
            <a:rect b="b" l="l" r="r" t="t"/>
            <a:pathLst>
              <a:path extrusionOk="0" h="1016798" w="1231804">
                <a:moveTo>
                  <a:pt x="0" y="0"/>
                </a:moveTo>
                <a:lnTo>
                  <a:pt x="1231804" y="0"/>
                </a:lnTo>
                <a:lnTo>
                  <a:pt x="1231804" y="1016798"/>
                </a:lnTo>
                <a:lnTo>
                  <a:pt x="0" y="1016798"/>
                </a:lnTo>
                <a:lnTo>
                  <a:pt x="0" y="0"/>
                </a:lnTo>
                <a:close/>
              </a:path>
            </a:pathLst>
          </a:custGeom>
          <a:blipFill rotWithShape="1">
            <a:blip r:embed="rId10">
              <a:alphaModFix/>
            </a:blip>
            <a:stretch>
              <a:fillRect b="0" l="0" r="0" t="0"/>
            </a:stretch>
          </a:blipFill>
          <a:ln>
            <a:noFill/>
          </a:ln>
        </p:spPr>
      </p:sp>
      <p:sp>
        <p:nvSpPr>
          <p:cNvPr id="516" name="Google Shape;516;p22"/>
          <p:cNvSpPr/>
          <p:nvPr/>
        </p:nvSpPr>
        <p:spPr>
          <a:xfrm rot="690437">
            <a:off x="14187017" y="8120172"/>
            <a:ext cx="1223596" cy="1327372"/>
          </a:xfrm>
          <a:custGeom>
            <a:rect b="b" l="l" r="r" t="t"/>
            <a:pathLst>
              <a:path extrusionOk="0" h="1327372" w="1223596">
                <a:moveTo>
                  <a:pt x="0" y="0"/>
                </a:moveTo>
                <a:lnTo>
                  <a:pt x="1223596" y="0"/>
                </a:lnTo>
                <a:lnTo>
                  <a:pt x="1223596" y="1327373"/>
                </a:lnTo>
                <a:lnTo>
                  <a:pt x="0" y="1327373"/>
                </a:lnTo>
                <a:lnTo>
                  <a:pt x="0" y="0"/>
                </a:lnTo>
                <a:close/>
              </a:path>
            </a:pathLst>
          </a:custGeom>
          <a:blipFill rotWithShape="1">
            <a:blip r:embed="rId11">
              <a:alphaModFix/>
            </a:blip>
            <a:stretch>
              <a:fillRect b="0" l="0" r="0" t="0"/>
            </a:stretch>
          </a:blipFill>
          <a:ln>
            <a:noFill/>
          </a:ln>
        </p:spPr>
      </p:sp>
      <p:sp>
        <p:nvSpPr>
          <p:cNvPr id="517" name="Google Shape;517;p22"/>
          <p:cNvSpPr txBox="1"/>
          <p:nvPr/>
        </p:nvSpPr>
        <p:spPr>
          <a:xfrm>
            <a:off x="1889002" y="5813500"/>
            <a:ext cx="3720997" cy="1647755"/>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1877" u="none" cap="none" strike="noStrike">
                <a:solidFill>
                  <a:srgbClr val="000102"/>
                </a:solidFill>
                <a:latin typeface="Shantell Sans"/>
                <a:ea typeface="Shantell Sans"/>
                <a:cs typeface="Shantell Sans"/>
                <a:sym typeface="Shantell Sans"/>
              </a:rPr>
              <a:t>Para poner como root las vlan en el server se debe configurar el stp</a:t>
            </a:r>
            <a:endParaRPr/>
          </a:p>
          <a:p>
            <a:pPr indent="-202705" lvl="1" marL="405410" marR="0" rtl="0" algn="l">
              <a:lnSpc>
                <a:spcPct val="140010"/>
              </a:lnSpc>
              <a:spcBef>
                <a:spcPts val="0"/>
              </a:spcBef>
              <a:spcAft>
                <a:spcPts val="0"/>
              </a:spcAft>
              <a:buClr>
                <a:srgbClr val="000102"/>
              </a:buClr>
              <a:buSzPts val="1877"/>
              <a:buFont typeface="Arial"/>
              <a:buChar char="•"/>
            </a:pPr>
            <a:r>
              <a:rPr b="0" i="0" lang="en-US" sz="1877" u="none" cap="none" strike="noStrike">
                <a:solidFill>
                  <a:srgbClr val="000102"/>
                </a:solidFill>
                <a:latin typeface="Shantell Sans"/>
                <a:ea typeface="Shantell Sans"/>
                <a:cs typeface="Shantell Sans"/>
                <a:sym typeface="Shantell Sans"/>
              </a:rPr>
              <a:t>conf t</a:t>
            </a:r>
            <a:endParaRPr/>
          </a:p>
          <a:p>
            <a:pPr indent="-202705" lvl="1" marL="405410" marR="0" rtl="0" algn="l">
              <a:lnSpc>
                <a:spcPct val="140010"/>
              </a:lnSpc>
              <a:spcBef>
                <a:spcPts val="0"/>
              </a:spcBef>
              <a:spcAft>
                <a:spcPts val="0"/>
              </a:spcAft>
              <a:buClr>
                <a:srgbClr val="000102"/>
              </a:buClr>
              <a:buSzPts val="1877"/>
              <a:buFont typeface="Arial"/>
              <a:buChar char="•"/>
            </a:pPr>
            <a:r>
              <a:rPr b="0" i="0" lang="en-US" sz="1877" u="none" cap="none" strike="noStrike">
                <a:solidFill>
                  <a:srgbClr val="000102"/>
                </a:solidFill>
                <a:latin typeface="Shantell Sans"/>
                <a:ea typeface="Shantell Sans"/>
                <a:cs typeface="Shantell Sans"/>
                <a:sym typeface="Shantell Sans"/>
              </a:rPr>
              <a:t>spanning-tree vlan # root primary</a:t>
            </a:r>
            <a:endParaRPr/>
          </a:p>
        </p:txBody>
      </p:sp>
      <p:sp>
        <p:nvSpPr>
          <p:cNvPr id="518" name="Google Shape;518;p22"/>
          <p:cNvSpPr txBox="1"/>
          <p:nvPr/>
        </p:nvSpPr>
        <p:spPr>
          <a:xfrm>
            <a:off x="12314323" y="5420091"/>
            <a:ext cx="3720997" cy="131438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1877" u="none" cap="none" strike="noStrike">
                <a:solidFill>
                  <a:srgbClr val="000102"/>
                </a:solidFill>
                <a:latin typeface="Shantell Sans"/>
                <a:ea typeface="Shantell Sans"/>
                <a:cs typeface="Shantell Sans"/>
                <a:sym typeface="Shantell Sans"/>
              </a:rPr>
              <a:t>Para mostrar los puertos bloqueados</a:t>
            </a:r>
            <a:endParaRPr/>
          </a:p>
          <a:p>
            <a:pPr indent="-202705" lvl="1" marL="405410" marR="0" rtl="0" algn="l">
              <a:lnSpc>
                <a:spcPct val="140010"/>
              </a:lnSpc>
              <a:spcBef>
                <a:spcPts val="0"/>
              </a:spcBef>
              <a:spcAft>
                <a:spcPts val="0"/>
              </a:spcAft>
              <a:buClr>
                <a:srgbClr val="000102"/>
              </a:buClr>
              <a:buSzPts val="1877"/>
              <a:buFont typeface="Arial"/>
              <a:buChar char="•"/>
            </a:pPr>
            <a:r>
              <a:rPr b="0" i="0" lang="en-US" sz="1877" u="none" cap="none" strike="noStrike">
                <a:solidFill>
                  <a:srgbClr val="000102"/>
                </a:solidFill>
                <a:latin typeface="Shantell Sans"/>
                <a:ea typeface="Shantell Sans"/>
                <a:cs typeface="Shantell Sans"/>
                <a:sym typeface="Shantell Sans"/>
              </a:rPr>
              <a:t>show spanning-tree blockedports</a:t>
            </a:r>
            <a:endParaRPr/>
          </a:p>
        </p:txBody>
      </p:sp>
      <p:sp>
        <p:nvSpPr>
          <p:cNvPr id="519" name="Google Shape;519;p22"/>
          <p:cNvSpPr txBox="1"/>
          <p:nvPr/>
        </p:nvSpPr>
        <p:spPr>
          <a:xfrm>
            <a:off x="6758963" y="3704221"/>
            <a:ext cx="3720997" cy="131438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1877" u="none" cap="none" strike="noStrike">
                <a:solidFill>
                  <a:srgbClr val="000102"/>
                </a:solidFill>
                <a:latin typeface="Shantell Sans"/>
                <a:ea typeface="Shantell Sans"/>
                <a:cs typeface="Shantell Sans"/>
                <a:sym typeface="Shantell Sans"/>
              </a:rPr>
              <a:t>Verificar el Switch Root.</a:t>
            </a:r>
            <a:endParaRPr/>
          </a:p>
          <a:p>
            <a:pPr indent="-202705" lvl="1" marL="405410" marR="0" rtl="0" algn="l">
              <a:lnSpc>
                <a:spcPct val="140010"/>
              </a:lnSpc>
              <a:spcBef>
                <a:spcPts val="0"/>
              </a:spcBef>
              <a:spcAft>
                <a:spcPts val="0"/>
              </a:spcAft>
              <a:buClr>
                <a:srgbClr val="000102"/>
              </a:buClr>
              <a:buSzPts val="1877"/>
              <a:buFont typeface="Arial"/>
              <a:buChar char="•"/>
            </a:pPr>
            <a:r>
              <a:rPr b="0" i="0" lang="en-US" sz="1877" u="none" cap="none" strike="noStrike">
                <a:solidFill>
                  <a:srgbClr val="000102"/>
                </a:solidFill>
                <a:latin typeface="Shantell Sans"/>
                <a:ea typeface="Shantell Sans"/>
                <a:cs typeface="Shantell Sans"/>
                <a:sym typeface="Shantell Sans"/>
              </a:rPr>
              <a:t>sh spanning-tree root Verificar STP</a:t>
            </a:r>
            <a:endParaRPr/>
          </a:p>
          <a:p>
            <a:pPr indent="-202705" lvl="1" marL="405410" marR="0" rtl="0" algn="l">
              <a:lnSpc>
                <a:spcPct val="140010"/>
              </a:lnSpc>
              <a:spcBef>
                <a:spcPts val="0"/>
              </a:spcBef>
              <a:spcAft>
                <a:spcPts val="0"/>
              </a:spcAft>
              <a:buClr>
                <a:srgbClr val="000102"/>
              </a:buClr>
              <a:buSzPts val="1877"/>
              <a:buFont typeface="Arial"/>
              <a:buChar char="•"/>
            </a:pPr>
            <a:r>
              <a:rPr b="0" i="0" lang="en-US" sz="1877" u="none" cap="none" strike="noStrike">
                <a:solidFill>
                  <a:srgbClr val="000102"/>
                </a:solidFill>
                <a:latin typeface="Shantell Sans"/>
                <a:ea typeface="Shantell Sans"/>
                <a:cs typeface="Shantell Sans"/>
                <a:sym typeface="Shantell Sans"/>
              </a:rPr>
              <a:t>show spanning-tree brief</a:t>
            </a:r>
            <a:endParaRPr/>
          </a:p>
        </p:txBody>
      </p:sp>
      <p:sp>
        <p:nvSpPr>
          <p:cNvPr id="520" name="Google Shape;520;p22"/>
          <p:cNvSpPr txBox="1"/>
          <p:nvPr/>
        </p:nvSpPr>
        <p:spPr>
          <a:xfrm>
            <a:off x="3287225" y="1092350"/>
            <a:ext cx="10448700" cy="1235100"/>
          </a:xfrm>
          <a:prstGeom prst="rect">
            <a:avLst/>
          </a:prstGeom>
          <a:noFill/>
          <a:ln>
            <a:noFill/>
          </a:ln>
        </p:spPr>
        <p:txBody>
          <a:bodyPr anchorCtr="0" anchor="t" bIns="0" lIns="0" spcFirstLastPara="1" rIns="0" wrap="square" tIns="0">
            <a:spAutoFit/>
          </a:bodyPr>
          <a:lstStyle/>
          <a:p>
            <a:pPr indent="0" lvl="0" marL="0" marR="0" rtl="0" algn="ctr">
              <a:lnSpc>
                <a:spcPct val="81996"/>
              </a:lnSpc>
              <a:spcBef>
                <a:spcPts val="0"/>
              </a:spcBef>
              <a:spcAft>
                <a:spcPts val="0"/>
              </a:spcAft>
              <a:buNone/>
            </a:pPr>
            <a:r>
              <a:rPr b="0" i="0" lang="en-US" sz="9787" u="none" cap="none" strike="noStrike">
                <a:solidFill>
                  <a:srgbClr val="000102"/>
                </a:solidFill>
                <a:latin typeface="Arial"/>
                <a:ea typeface="Arial"/>
                <a:cs typeface="Arial"/>
                <a:sym typeface="Arial"/>
              </a:rPr>
              <a:t>Comandos -STP</a:t>
            </a:r>
            <a:endParaRPr/>
          </a:p>
        </p:txBody>
      </p:sp>
      <p:sp>
        <p:nvSpPr>
          <p:cNvPr id="521" name="Google Shape;521;p22"/>
          <p:cNvSpPr txBox="1"/>
          <p:nvPr/>
        </p:nvSpPr>
        <p:spPr>
          <a:xfrm>
            <a:off x="2289785" y="5354859"/>
            <a:ext cx="2550809" cy="419779"/>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US" sz="2433" u="none" cap="none" strike="noStrike">
                <a:solidFill>
                  <a:srgbClr val="000102"/>
                </a:solidFill>
                <a:latin typeface="Shantell Sans"/>
                <a:ea typeface="Shantell Sans"/>
                <a:cs typeface="Shantell Sans"/>
                <a:sym typeface="Shantell Sans"/>
              </a:rPr>
              <a:t>01</a:t>
            </a:r>
            <a:endParaRPr/>
          </a:p>
        </p:txBody>
      </p:sp>
      <p:sp>
        <p:nvSpPr>
          <p:cNvPr id="522" name="Google Shape;522;p22"/>
          <p:cNvSpPr txBox="1"/>
          <p:nvPr/>
        </p:nvSpPr>
        <p:spPr>
          <a:xfrm>
            <a:off x="12715106" y="4961451"/>
            <a:ext cx="2550809" cy="419779"/>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US" sz="2433" u="none" cap="none" strike="noStrike">
                <a:solidFill>
                  <a:srgbClr val="000102"/>
                </a:solidFill>
                <a:latin typeface="Shantell Sans"/>
                <a:ea typeface="Shantell Sans"/>
                <a:cs typeface="Shantell Sans"/>
                <a:sym typeface="Shantell Sans"/>
              </a:rPr>
              <a:t>03</a:t>
            </a:r>
            <a:endParaRPr/>
          </a:p>
        </p:txBody>
      </p:sp>
      <p:sp>
        <p:nvSpPr>
          <p:cNvPr id="523" name="Google Shape;523;p22"/>
          <p:cNvSpPr txBox="1"/>
          <p:nvPr/>
        </p:nvSpPr>
        <p:spPr>
          <a:xfrm>
            <a:off x="7252983" y="3172258"/>
            <a:ext cx="2550809" cy="419779"/>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US" sz="2433" u="none" cap="none" strike="noStrike">
                <a:solidFill>
                  <a:srgbClr val="000102"/>
                </a:solidFill>
                <a:latin typeface="Shantell Sans"/>
                <a:ea typeface="Shantell Sans"/>
                <a:cs typeface="Shantell Sans"/>
                <a:sym typeface="Shantell Sans"/>
              </a:rPr>
              <a:t>02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grpSp>
        <p:nvGrpSpPr>
          <p:cNvPr id="529" name="Google Shape;529;p23"/>
          <p:cNvGrpSpPr/>
          <p:nvPr/>
        </p:nvGrpSpPr>
        <p:grpSpPr>
          <a:xfrm>
            <a:off x="7181282" y="3565699"/>
            <a:ext cx="4762472" cy="3286875"/>
            <a:chOff x="0" y="-28575"/>
            <a:chExt cx="1935062" cy="1335505"/>
          </a:xfrm>
        </p:grpSpPr>
        <p:sp>
          <p:nvSpPr>
            <p:cNvPr id="530" name="Google Shape;530;p23"/>
            <p:cNvSpPr/>
            <p:nvPr/>
          </p:nvSpPr>
          <p:spPr>
            <a:xfrm>
              <a:off x="0" y="0"/>
              <a:ext cx="1935062" cy="1306930"/>
            </a:xfrm>
            <a:custGeom>
              <a:rect b="b" l="l" r="r" t="t"/>
              <a:pathLst>
                <a:path extrusionOk="0" h="1306930" w="1935062">
                  <a:moveTo>
                    <a:pt x="27635" y="0"/>
                  </a:moveTo>
                  <a:lnTo>
                    <a:pt x="1907427" y="0"/>
                  </a:lnTo>
                  <a:cubicBezTo>
                    <a:pt x="1922689" y="0"/>
                    <a:pt x="1935062" y="12373"/>
                    <a:pt x="1935062" y="27635"/>
                  </a:cubicBezTo>
                  <a:lnTo>
                    <a:pt x="1935062" y="1279295"/>
                  </a:lnTo>
                  <a:cubicBezTo>
                    <a:pt x="1935062" y="1294558"/>
                    <a:pt x="1922689" y="1306930"/>
                    <a:pt x="1907427" y="1306930"/>
                  </a:cubicBezTo>
                  <a:lnTo>
                    <a:pt x="27635" y="1306930"/>
                  </a:lnTo>
                  <a:cubicBezTo>
                    <a:pt x="12373" y="1306930"/>
                    <a:pt x="0" y="1294558"/>
                    <a:pt x="0" y="1279295"/>
                  </a:cubicBezTo>
                  <a:lnTo>
                    <a:pt x="0" y="27635"/>
                  </a:lnTo>
                  <a:cubicBezTo>
                    <a:pt x="0" y="12373"/>
                    <a:pt x="12373" y="0"/>
                    <a:pt x="27635" y="0"/>
                  </a:cubicBezTo>
                  <a:close/>
                </a:path>
              </a:pathLst>
            </a:custGeom>
            <a:solidFill>
              <a:srgbClr val="4FD1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3"/>
            <p:cNvSpPr txBox="1"/>
            <p:nvPr/>
          </p:nvSpPr>
          <p:spPr>
            <a:xfrm>
              <a:off x="0" y="-28575"/>
              <a:ext cx="1935062" cy="1335505"/>
            </a:xfrm>
            <a:prstGeom prst="rect">
              <a:avLst/>
            </a:prstGeom>
            <a:noFill/>
            <a:ln>
              <a:noFill/>
            </a:ln>
          </p:spPr>
          <p:txBody>
            <a:bodyPr anchorCtr="0" anchor="ctr" bIns="50800" lIns="50800" spcFirstLastPara="1" rIns="50800" wrap="square" tIns="50800">
              <a:noAutofit/>
            </a:bodyPr>
            <a:lstStyle/>
            <a:p>
              <a:pPr indent="0" lvl="0" marL="0" marR="0" rtl="0" algn="ctr">
                <a:lnSpc>
                  <a:spcPct val="15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2" name="Google Shape;532;p23"/>
          <p:cNvSpPr/>
          <p:nvPr/>
        </p:nvSpPr>
        <p:spPr>
          <a:xfrm>
            <a:off x="7398052" y="3434426"/>
            <a:ext cx="4729527" cy="3221650"/>
          </a:xfrm>
          <a:custGeom>
            <a:rect b="b" l="l" r="r" t="t"/>
            <a:pathLst>
              <a:path extrusionOk="0" h="3221650" w="4729527">
                <a:moveTo>
                  <a:pt x="0" y="0"/>
                </a:moveTo>
                <a:lnTo>
                  <a:pt x="4729527" y="0"/>
                </a:lnTo>
                <a:lnTo>
                  <a:pt x="4729527" y="3221650"/>
                </a:lnTo>
                <a:lnTo>
                  <a:pt x="0" y="3221650"/>
                </a:lnTo>
                <a:lnTo>
                  <a:pt x="0" y="0"/>
                </a:lnTo>
                <a:close/>
              </a:path>
            </a:pathLst>
          </a:custGeom>
          <a:blipFill rotWithShape="1">
            <a:blip r:embed="rId4">
              <a:alphaModFix/>
            </a:blip>
            <a:stretch>
              <a:fillRect b="0" l="0" r="0" t="0"/>
            </a:stretch>
          </a:blipFill>
          <a:ln>
            <a:noFill/>
          </a:ln>
        </p:spPr>
      </p:sp>
      <p:sp>
        <p:nvSpPr>
          <p:cNvPr id="533" name="Google Shape;533;p23"/>
          <p:cNvSpPr txBox="1"/>
          <p:nvPr/>
        </p:nvSpPr>
        <p:spPr>
          <a:xfrm>
            <a:off x="1669027" y="502000"/>
            <a:ext cx="13728900" cy="2607300"/>
          </a:xfrm>
          <a:prstGeom prst="rect">
            <a:avLst/>
          </a:prstGeom>
          <a:noFill/>
          <a:ln>
            <a:noFill/>
          </a:ln>
        </p:spPr>
        <p:txBody>
          <a:bodyPr anchorCtr="0" anchor="t" bIns="0" lIns="0" spcFirstLastPara="1" rIns="0" wrap="square" tIns="0">
            <a:spAutoFit/>
          </a:bodyPr>
          <a:lstStyle/>
          <a:p>
            <a:pPr indent="0" lvl="0" marL="0" marR="0" rtl="0" algn="just">
              <a:lnSpc>
                <a:spcPct val="113002"/>
              </a:lnSpc>
              <a:spcBef>
                <a:spcPts val="0"/>
              </a:spcBef>
              <a:spcAft>
                <a:spcPts val="0"/>
              </a:spcAft>
              <a:buNone/>
            </a:pPr>
            <a:r>
              <a:rPr b="0" i="0" lang="en-US" sz="7951" u="none" cap="none" strike="noStrike">
                <a:solidFill>
                  <a:srgbClr val="131416"/>
                </a:solidFill>
                <a:latin typeface="Arial"/>
                <a:ea typeface="Arial"/>
                <a:cs typeface="Arial"/>
                <a:sym typeface="Arial"/>
              </a:rPr>
              <a:t>Aplicaciones Por Medio de Ejemplos</a:t>
            </a:r>
            <a:endParaRPr sz="700"/>
          </a:p>
        </p:txBody>
      </p:sp>
      <p:sp>
        <p:nvSpPr>
          <p:cNvPr id="534" name="Google Shape;534;p23"/>
          <p:cNvSpPr txBox="1"/>
          <p:nvPr/>
        </p:nvSpPr>
        <p:spPr>
          <a:xfrm>
            <a:off x="2021742" y="3109305"/>
            <a:ext cx="4979210" cy="4373260"/>
          </a:xfrm>
          <a:prstGeom prst="rect">
            <a:avLst/>
          </a:prstGeom>
          <a:noFill/>
          <a:ln>
            <a:noFill/>
          </a:ln>
        </p:spPr>
        <p:txBody>
          <a:bodyPr anchorCtr="0" anchor="t" bIns="0" lIns="0" spcFirstLastPara="1" rIns="0" wrap="square" tIns="0">
            <a:spAutoFit/>
          </a:bodyPr>
          <a:lstStyle/>
          <a:p>
            <a:pPr indent="0" lvl="0" marL="0" marR="0" rtl="0" algn="l">
              <a:lnSpc>
                <a:spcPct val="172980"/>
              </a:lnSpc>
              <a:spcBef>
                <a:spcPts val="0"/>
              </a:spcBef>
              <a:spcAft>
                <a:spcPts val="0"/>
              </a:spcAft>
              <a:buNone/>
            </a:pPr>
            <a:r>
              <a:rPr b="0" i="0" lang="en-US" sz="1832" u="none" cap="none" strike="noStrike">
                <a:solidFill>
                  <a:srgbClr val="131416"/>
                </a:solidFill>
                <a:latin typeface="Arial"/>
                <a:ea typeface="Arial"/>
                <a:cs typeface="Arial"/>
                <a:sym typeface="Arial"/>
              </a:rPr>
              <a:t>STP se aplica en redes con switches redundantes para evitar bucles. Por ejemplo, en una topología en triángulo con tres switches, STP elige un switch como root y bloquea uno de los enlaces redundantes (como el que conecta SW2 con SW3) para mantener una única ruta activa. Si un enlace principal falla, el enlace bloqueado se activa, pero la convergencia puede tardar hasta 50 segundos.</a:t>
            </a:r>
            <a:endParaRPr/>
          </a:p>
        </p:txBody>
      </p:sp>
      <p:sp>
        <p:nvSpPr>
          <p:cNvPr id="535" name="Google Shape;535;p23"/>
          <p:cNvSpPr txBox="1"/>
          <p:nvPr/>
        </p:nvSpPr>
        <p:spPr>
          <a:xfrm>
            <a:off x="12700359" y="3109305"/>
            <a:ext cx="4979210" cy="3973140"/>
          </a:xfrm>
          <a:prstGeom prst="rect">
            <a:avLst/>
          </a:prstGeom>
          <a:noFill/>
          <a:ln>
            <a:noFill/>
          </a:ln>
        </p:spPr>
        <p:txBody>
          <a:bodyPr anchorCtr="0" anchor="t" bIns="0" lIns="0" spcFirstLastPara="1" rIns="0" wrap="square" tIns="0">
            <a:spAutoFit/>
          </a:bodyPr>
          <a:lstStyle/>
          <a:p>
            <a:pPr indent="0" lvl="0" marL="0" marR="0" rtl="0" algn="l">
              <a:lnSpc>
                <a:spcPct val="172980"/>
              </a:lnSpc>
              <a:spcBef>
                <a:spcPts val="0"/>
              </a:spcBef>
              <a:spcAft>
                <a:spcPts val="0"/>
              </a:spcAft>
              <a:buNone/>
            </a:pPr>
            <a:r>
              <a:rPr b="0" i="0" lang="en-US" sz="1832" u="none" cap="none" strike="noStrike">
                <a:solidFill>
                  <a:srgbClr val="131416"/>
                </a:solidFill>
                <a:latin typeface="Arial"/>
                <a:ea typeface="Arial"/>
                <a:cs typeface="Arial"/>
                <a:sym typeface="Arial"/>
              </a:rPr>
              <a:t>RSTP mejora la velocidad de recuperación de la red. En una red de campus con un switch central (root) y dos switches de acceso conectados entre sí y al root, RSTP mantiene un puerto alternativo bloqueado entre los switches de acceso. Si ocurre una falla, el cambio de estado es casi inmediato (1–2 segundos), asegurando una rápida recuperación del servicio.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541" name="Google Shape;541;p24"/>
          <p:cNvSpPr/>
          <p:nvPr/>
        </p:nvSpPr>
        <p:spPr>
          <a:xfrm flipH="1">
            <a:off x="551384" y="3658461"/>
            <a:ext cx="5643855" cy="2970079"/>
          </a:xfrm>
          <a:custGeom>
            <a:rect b="b" l="l" r="r" t="t"/>
            <a:pathLst>
              <a:path extrusionOk="0" h="2970079" w="5643855">
                <a:moveTo>
                  <a:pt x="5643855" y="0"/>
                </a:moveTo>
                <a:lnTo>
                  <a:pt x="0" y="0"/>
                </a:lnTo>
                <a:lnTo>
                  <a:pt x="0" y="2970078"/>
                </a:lnTo>
                <a:lnTo>
                  <a:pt x="5643855" y="2970078"/>
                </a:lnTo>
                <a:lnTo>
                  <a:pt x="5643855" y="0"/>
                </a:lnTo>
                <a:close/>
              </a:path>
            </a:pathLst>
          </a:custGeom>
          <a:blipFill rotWithShape="1">
            <a:blip r:embed="rId4">
              <a:alphaModFix/>
            </a:blip>
            <a:stretch>
              <a:fillRect b="0" l="0" r="0" t="0"/>
            </a:stretch>
          </a:blipFill>
          <a:ln>
            <a:noFill/>
          </a:ln>
        </p:spPr>
      </p:sp>
      <p:sp>
        <p:nvSpPr>
          <p:cNvPr id="542" name="Google Shape;542;p24"/>
          <p:cNvSpPr txBox="1"/>
          <p:nvPr/>
        </p:nvSpPr>
        <p:spPr>
          <a:xfrm>
            <a:off x="675000" y="289425"/>
            <a:ext cx="17055300" cy="1362900"/>
          </a:xfrm>
          <a:prstGeom prst="rect">
            <a:avLst/>
          </a:prstGeom>
          <a:noFill/>
          <a:ln>
            <a:noFill/>
          </a:ln>
        </p:spPr>
        <p:txBody>
          <a:bodyPr anchorCtr="0" anchor="t" bIns="0" lIns="0" spcFirstLastPara="1" rIns="0" wrap="square" tIns="0">
            <a:spAutoFit/>
          </a:bodyPr>
          <a:lstStyle/>
          <a:p>
            <a:pPr indent="0" lvl="0" marL="0" marR="0" rtl="0" algn="ctr">
              <a:lnSpc>
                <a:spcPct val="111995"/>
              </a:lnSpc>
              <a:spcBef>
                <a:spcPts val="0"/>
              </a:spcBef>
              <a:spcAft>
                <a:spcPts val="0"/>
              </a:spcAft>
              <a:buNone/>
            </a:pPr>
            <a:r>
              <a:rPr b="0" i="0" lang="en-US" sz="8854" u="none" cap="none" strike="noStrike">
                <a:solidFill>
                  <a:srgbClr val="000102"/>
                </a:solidFill>
                <a:latin typeface="Arial"/>
                <a:ea typeface="Arial"/>
                <a:cs typeface="Arial"/>
                <a:sym typeface="Arial"/>
              </a:rPr>
              <a:t>Conceptos clave Aprendidos </a:t>
            </a:r>
            <a:endParaRPr sz="100"/>
          </a:p>
        </p:txBody>
      </p:sp>
      <p:sp>
        <p:nvSpPr>
          <p:cNvPr id="543" name="Google Shape;543;p24"/>
          <p:cNvSpPr/>
          <p:nvPr/>
        </p:nvSpPr>
        <p:spPr>
          <a:xfrm>
            <a:off x="6791802" y="1696512"/>
            <a:ext cx="1763855" cy="1606711"/>
          </a:xfrm>
          <a:custGeom>
            <a:rect b="b" l="l" r="r" t="t"/>
            <a:pathLst>
              <a:path extrusionOk="0" h="1606711" w="1763855">
                <a:moveTo>
                  <a:pt x="0" y="0"/>
                </a:moveTo>
                <a:lnTo>
                  <a:pt x="1763855" y="0"/>
                </a:lnTo>
                <a:lnTo>
                  <a:pt x="1763855" y="1606712"/>
                </a:lnTo>
                <a:lnTo>
                  <a:pt x="0" y="1606712"/>
                </a:lnTo>
                <a:lnTo>
                  <a:pt x="0" y="0"/>
                </a:lnTo>
                <a:close/>
              </a:path>
            </a:pathLst>
          </a:custGeom>
          <a:blipFill rotWithShape="1">
            <a:blip r:embed="rId5">
              <a:alphaModFix/>
            </a:blip>
            <a:stretch>
              <a:fillRect b="0" l="0" r="0" t="0"/>
            </a:stretch>
          </a:blipFill>
          <a:ln>
            <a:noFill/>
          </a:ln>
        </p:spPr>
      </p:sp>
      <p:sp>
        <p:nvSpPr>
          <p:cNvPr id="544" name="Google Shape;544;p24"/>
          <p:cNvSpPr/>
          <p:nvPr/>
        </p:nvSpPr>
        <p:spPr>
          <a:xfrm>
            <a:off x="7961953" y="4752146"/>
            <a:ext cx="1763855" cy="1606711"/>
          </a:xfrm>
          <a:custGeom>
            <a:rect b="b" l="l" r="r" t="t"/>
            <a:pathLst>
              <a:path extrusionOk="0" h="1606711" w="1763855">
                <a:moveTo>
                  <a:pt x="0" y="0"/>
                </a:moveTo>
                <a:lnTo>
                  <a:pt x="1763854" y="0"/>
                </a:lnTo>
                <a:lnTo>
                  <a:pt x="1763854" y="1606711"/>
                </a:lnTo>
                <a:lnTo>
                  <a:pt x="0" y="1606711"/>
                </a:lnTo>
                <a:lnTo>
                  <a:pt x="0" y="0"/>
                </a:lnTo>
                <a:close/>
              </a:path>
            </a:pathLst>
          </a:custGeom>
          <a:blipFill rotWithShape="1">
            <a:blip r:embed="rId6">
              <a:alphaModFix/>
            </a:blip>
            <a:stretch>
              <a:fillRect b="0" l="0" r="0" t="0"/>
            </a:stretch>
          </a:blipFill>
          <a:ln>
            <a:noFill/>
          </a:ln>
        </p:spPr>
      </p:sp>
      <p:sp>
        <p:nvSpPr>
          <p:cNvPr id="545" name="Google Shape;545;p24"/>
          <p:cNvSpPr/>
          <p:nvPr/>
        </p:nvSpPr>
        <p:spPr>
          <a:xfrm>
            <a:off x="5519413" y="7807779"/>
            <a:ext cx="1763855" cy="1606711"/>
          </a:xfrm>
          <a:custGeom>
            <a:rect b="b" l="l" r="r" t="t"/>
            <a:pathLst>
              <a:path extrusionOk="0" h="1606711" w="1763855">
                <a:moveTo>
                  <a:pt x="0" y="0"/>
                </a:moveTo>
                <a:lnTo>
                  <a:pt x="1763854" y="0"/>
                </a:lnTo>
                <a:lnTo>
                  <a:pt x="1763854" y="1606711"/>
                </a:lnTo>
                <a:lnTo>
                  <a:pt x="0" y="1606711"/>
                </a:lnTo>
                <a:lnTo>
                  <a:pt x="0" y="0"/>
                </a:lnTo>
                <a:close/>
              </a:path>
            </a:pathLst>
          </a:custGeom>
          <a:blipFill rotWithShape="1">
            <a:blip r:embed="rId7">
              <a:alphaModFix/>
            </a:blip>
            <a:stretch>
              <a:fillRect b="0" l="0" r="0" t="0"/>
            </a:stretch>
          </a:blipFill>
          <a:ln>
            <a:noFill/>
          </a:ln>
        </p:spPr>
      </p:sp>
      <p:sp>
        <p:nvSpPr>
          <p:cNvPr id="546" name="Google Shape;546;p24"/>
          <p:cNvSpPr/>
          <p:nvPr/>
        </p:nvSpPr>
        <p:spPr>
          <a:xfrm>
            <a:off x="7283267" y="2016151"/>
            <a:ext cx="678685" cy="748050"/>
          </a:xfrm>
          <a:custGeom>
            <a:rect b="b" l="l" r="r" t="t"/>
            <a:pathLst>
              <a:path extrusionOk="0" h="748050" w="678685">
                <a:moveTo>
                  <a:pt x="0" y="0"/>
                </a:moveTo>
                <a:lnTo>
                  <a:pt x="678686" y="0"/>
                </a:lnTo>
                <a:lnTo>
                  <a:pt x="678686" y="748050"/>
                </a:lnTo>
                <a:lnTo>
                  <a:pt x="0" y="748050"/>
                </a:lnTo>
                <a:lnTo>
                  <a:pt x="0" y="0"/>
                </a:lnTo>
                <a:close/>
              </a:path>
            </a:pathLst>
          </a:custGeom>
          <a:blipFill rotWithShape="1">
            <a:blip r:embed="rId8">
              <a:alphaModFix/>
            </a:blip>
            <a:stretch>
              <a:fillRect b="0" l="0" r="0" t="0"/>
            </a:stretch>
          </a:blipFill>
          <a:ln>
            <a:noFill/>
          </a:ln>
        </p:spPr>
      </p:sp>
      <p:sp>
        <p:nvSpPr>
          <p:cNvPr id="547" name="Google Shape;547;p24"/>
          <p:cNvSpPr/>
          <p:nvPr/>
        </p:nvSpPr>
        <p:spPr>
          <a:xfrm rot="585500">
            <a:off x="5524728" y="2478202"/>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9">
              <a:alphaModFix/>
            </a:blip>
            <a:stretch>
              <a:fillRect b="0" l="0" r="0" t="0"/>
            </a:stretch>
          </a:blipFill>
          <a:ln>
            <a:noFill/>
          </a:ln>
        </p:spPr>
      </p:sp>
      <p:sp>
        <p:nvSpPr>
          <p:cNvPr id="548" name="Google Shape;548;p24"/>
          <p:cNvSpPr/>
          <p:nvPr/>
        </p:nvSpPr>
        <p:spPr>
          <a:xfrm rot="2979770">
            <a:off x="6665208" y="4900427"/>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9">
              <a:alphaModFix/>
            </a:blip>
            <a:stretch>
              <a:fillRect b="0" l="0" r="0" t="0"/>
            </a:stretch>
          </a:blipFill>
          <a:ln>
            <a:noFill/>
          </a:ln>
        </p:spPr>
      </p:sp>
      <p:sp>
        <p:nvSpPr>
          <p:cNvPr id="549" name="Google Shape;549;p24"/>
          <p:cNvSpPr/>
          <p:nvPr/>
        </p:nvSpPr>
        <p:spPr>
          <a:xfrm rot="5701608">
            <a:off x="5020722" y="6457787"/>
            <a:ext cx="1069420" cy="1091311"/>
          </a:xfrm>
          <a:custGeom>
            <a:rect b="b" l="l" r="r" t="t"/>
            <a:pathLst>
              <a:path extrusionOk="0" h="1091311" w="1069420">
                <a:moveTo>
                  <a:pt x="0" y="0"/>
                </a:moveTo>
                <a:lnTo>
                  <a:pt x="1069420" y="0"/>
                </a:lnTo>
                <a:lnTo>
                  <a:pt x="1069420" y="1091311"/>
                </a:lnTo>
                <a:lnTo>
                  <a:pt x="0" y="1091311"/>
                </a:lnTo>
                <a:lnTo>
                  <a:pt x="0" y="0"/>
                </a:lnTo>
                <a:close/>
              </a:path>
            </a:pathLst>
          </a:custGeom>
          <a:blipFill rotWithShape="1">
            <a:blip r:embed="rId9">
              <a:alphaModFix/>
            </a:blip>
            <a:stretch>
              <a:fillRect b="0" l="0" r="0" t="0"/>
            </a:stretch>
          </a:blipFill>
          <a:ln>
            <a:noFill/>
          </a:ln>
        </p:spPr>
      </p:sp>
      <p:sp>
        <p:nvSpPr>
          <p:cNvPr id="550" name="Google Shape;550;p24"/>
          <p:cNvSpPr/>
          <p:nvPr/>
        </p:nvSpPr>
        <p:spPr>
          <a:xfrm>
            <a:off x="5762570" y="7936059"/>
            <a:ext cx="1277540" cy="912861"/>
          </a:xfrm>
          <a:custGeom>
            <a:rect b="b" l="l" r="r" t="t"/>
            <a:pathLst>
              <a:path extrusionOk="0" h="912861" w="1277540">
                <a:moveTo>
                  <a:pt x="0" y="0"/>
                </a:moveTo>
                <a:lnTo>
                  <a:pt x="1277540" y="0"/>
                </a:lnTo>
                <a:lnTo>
                  <a:pt x="1277540" y="912861"/>
                </a:lnTo>
                <a:lnTo>
                  <a:pt x="0" y="912861"/>
                </a:lnTo>
                <a:lnTo>
                  <a:pt x="0" y="0"/>
                </a:lnTo>
                <a:close/>
              </a:path>
            </a:pathLst>
          </a:custGeom>
          <a:blipFill rotWithShape="1">
            <a:blip r:embed="rId10">
              <a:alphaModFix/>
            </a:blip>
            <a:stretch>
              <a:fillRect b="0" l="0" r="0" t="0"/>
            </a:stretch>
          </a:blipFill>
          <a:ln>
            <a:noFill/>
          </a:ln>
        </p:spPr>
      </p:sp>
      <p:sp>
        <p:nvSpPr>
          <p:cNvPr id="551" name="Google Shape;551;p24"/>
          <p:cNvSpPr/>
          <p:nvPr/>
        </p:nvSpPr>
        <p:spPr>
          <a:xfrm>
            <a:off x="8503383" y="5015991"/>
            <a:ext cx="921052" cy="912679"/>
          </a:xfrm>
          <a:custGeom>
            <a:rect b="b" l="l" r="r" t="t"/>
            <a:pathLst>
              <a:path extrusionOk="0" h="912679" w="921052">
                <a:moveTo>
                  <a:pt x="0" y="0"/>
                </a:moveTo>
                <a:lnTo>
                  <a:pt x="921052" y="0"/>
                </a:lnTo>
                <a:lnTo>
                  <a:pt x="921052" y="912679"/>
                </a:lnTo>
                <a:lnTo>
                  <a:pt x="0" y="912679"/>
                </a:lnTo>
                <a:lnTo>
                  <a:pt x="0" y="0"/>
                </a:lnTo>
                <a:close/>
              </a:path>
            </a:pathLst>
          </a:custGeom>
          <a:blipFill rotWithShape="1">
            <a:blip r:embed="rId11">
              <a:alphaModFix/>
            </a:blip>
            <a:stretch>
              <a:fillRect b="0" l="0" r="0" t="0"/>
            </a:stretch>
          </a:blipFill>
          <a:ln>
            <a:noFill/>
          </a:ln>
        </p:spPr>
      </p:sp>
      <p:sp>
        <p:nvSpPr>
          <p:cNvPr id="552" name="Google Shape;552;p24"/>
          <p:cNvSpPr/>
          <p:nvPr/>
        </p:nvSpPr>
        <p:spPr>
          <a:xfrm>
            <a:off x="342798" y="8982659"/>
            <a:ext cx="3467261" cy="863663"/>
          </a:xfrm>
          <a:custGeom>
            <a:rect b="b" l="l" r="r" t="t"/>
            <a:pathLst>
              <a:path extrusionOk="0" h="863663" w="3467261">
                <a:moveTo>
                  <a:pt x="0" y="0"/>
                </a:moveTo>
                <a:lnTo>
                  <a:pt x="3467261" y="0"/>
                </a:lnTo>
                <a:lnTo>
                  <a:pt x="3467261" y="863663"/>
                </a:lnTo>
                <a:lnTo>
                  <a:pt x="0" y="863663"/>
                </a:lnTo>
                <a:lnTo>
                  <a:pt x="0" y="0"/>
                </a:lnTo>
                <a:close/>
              </a:path>
            </a:pathLst>
          </a:custGeom>
          <a:blipFill rotWithShape="1">
            <a:blip r:embed="rId12">
              <a:alphaModFix/>
            </a:blip>
            <a:stretch>
              <a:fillRect b="0" l="0" r="0" t="0"/>
            </a:stretch>
          </a:blipFill>
          <a:ln>
            <a:noFill/>
          </a:ln>
        </p:spPr>
      </p:sp>
      <p:sp>
        <p:nvSpPr>
          <p:cNvPr id="553" name="Google Shape;553;p24"/>
          <p:cNvSpPr/>
          <p:nvPr/>
        </p:nvSpPr>
        <p:spPr>
          <a:xfrm>
            <a:off x="16001986" y="-922836"/>
            <a:ext cx="2869521" cy="2938988"/>
          </a:xfrm>
          <a:custGeom>
            <a:rect b="b" l="l" r="r" t="t"/>
            <a:pathLst>
              <a:path extrusionOk="0" h="2938988" w="2869521">
                <a:moveTo>
                  <a:pt x="0" y="0"/>
                </a:moveTo>
                <a:lnTo>
                  <a:pt x="2869521" y="0"/>
                </a:lnTo>
                <a:lnTo>
                  <a:pt x="2869521" y="2938987"/>
                </a:lnTo>
                <a:lnTo>
                  <a:pt x="0" y="2938987"/>
                </a:lnTo>
                <a:lnTo>
                  <a:pt x="0" y="0"/>
                </a:lnTo>
                <a:close/>
              </a:path>
            </a:pathLst>
          </a:custGeom>
          <a:blipFill rotWithShape="1">
            <a:blip r:embed="rId13">
              <a:alphaModFix/>
            </a:blip>
            <a:stretch>
              <a:fillRect b="0" l="0" r="0" t="0"/>
            </a:stretch>
          </a:blipFill>
          <a:ln>
            <a:noFill/>
          </a:ln>
        </p:spPr>
      </p:sp>
      <p:sp>
        <p:nvSpPr>
          <p:cNvPr id="554" name="Google Shape;554;p24"/>
          <p:cNvSpPr txBox="1"/>
          <p:nvPr/>
        </p:nvSpPr>
        <p:spPr>
          <a:xfrm>
            <a:off x="8680053" y="1708871"/>
            <a:ext cx="7766400" cy="186330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1834" u="none" cap="none" strike="noStrike">
                <a:solidFill>
                  <a:srgbClr val="000102"/>
                </a:solidFill>
                <a:latin typeface="Shantell Sans"/>
                <a:ea typeface="Shantell Sans"/>
                <a:cs typeface="Shantell Sans"/>
                <a:sym typeface="Shantell Sans"/>
              </a:rPr>
              <a:t>El protocolo STP (Spanning Tree Protocol) es un mecanismo de red utilizado en switches para evitar bucles de capa 2 en topologías redundantes. Cuando múltiples caminos existen entre switches, STP identifica una ruta principal y bloquea las rutas redundantes, manteniendo solo un camino activo a la vez.</a:t>
            </a:r>
            <a:endParaRPr sz="900"/>
          </a:p>
        </p:txBody>
      </p:sp>
      <p:sp>
        <p:nvSpPr>
          <p:cNvPr id="555" name="Google Shape;555;p24"/>
          <p:cNvSpPr txBox="1"/>
          <p:nvPr/>
        </p:nvSpPr>
        <p:spPr>
          <a:xfrm>
            <a:off x="9963932" y="4511165"/>
            <a:ext cx="7766400" cy="265380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1834" u="none" cap="none" strike="noStrike">
                <a:solidFill>
                  <a:srgbClr val="000102"/>
                </a:solidFill>
                <a:latin typeface="Shantell Sans"/>
                <a:ea typeface="Shantell Sans"/>
                <a:cs typeface="Shantell Sans"/>
                <a:sym typeface="Shantell Sans"/>
              </a:rPr>
              <a:t>STP funciona eligiendo un switch raíz (root bridge) y calculando la mejor ruta hacia él desde los demás switches, basándose en el costo del camino. Las interfaces se colocan en distintos estados (como blocking, listening, learning y forwarding) dependiendo de su rol dentro del árbol. Además, existen varios modos como PVST, RPVST y MST que optimizan el protocolo para diferentes escenarios, ofreciendo mayor rapidez o segmentación por VLAN.</a:t>
            </a:r>
            <a:endParaRPr sz="900"/>
          </a:p>
        </p:txBody>
      </p:sp>
      <p:sp>
        <p:nvSpPr>
          <p:cNvPr id="556" name="Google Shape;556;p24"/>
          <p:cNvSpPr txBox="1"/>
          <p:nvPr/>
        </p:nvSpPr>
        <p:spPr>
          <a:xfrm>
            <a:off x="7499735" y="8103973"/>
            <a:ext cx="10230600" cy="170820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2134" u="none" cap="none" strike="noStrike">
                <a:solidFill>
                  <a:srgbClr val="000102"/>
                </a:solidFill>
                <a:latin typeface="Shantell Sans"/>
                <a:ea typeface="Shantell Sans"/>
                <a:cs typeface="Shantell Sans"/>
                <a:sym typeface="Shantell Sans"/>
              </a:rPr>
              <a:t>Para mejorar el funcionamiento de STP, es importante conocer los conceptos de dominios de colisión y broadcast. Cada puerto de switch reduce los dominios de colisión, mientras que los dominios de broadcast se limitan con routers</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562" name="Google Shape;562;p25"/>
          <p:cNvSpPr/>
          <p:nvPr/>
        </p:nvSpPr>
        <p:spPr>
          <a:xfrm>
            <a:off x="5860067" y="1624819"/>
            <a:ext cx="5876672" cy="1624098"/>
          </a:xfrm>
          <a:custGeom>
            <a:rect b="b" l="l" r="r" t="t"/>
            <a:pathLst>
              <a:path extrusionOk="0" h="1624098" w="5876672">
                <a:moveTo>
                  <a:pt x="0" y="0"/>
                </a:moveTo>
                <a:lnTo>
                  <a:pt x="5876671" y="0"/>
                </a:lnTo>
                <a:lnTo>
                  <a:pt x="5876671" y="1624099"/>
                </a:lnTo>
                <a:lnTo>
                  <a:pt x="0" y="1624099"/>
                </a:lnTo>
                <a:lnTo>
                  <a:pt x="0" y="0"/>
                </a:lnTo>
                <a:close/>
              </a:path>
            </a:pathLst>
          </a:custGeom>
          <a:blipFill rotWithShape="1">
            <a:blip r:embed="rId4">
              <a:alphaModFix/>
            </a:blip>
            <a:stretch>
              <a:fillRect b="0" l="0" r="0" t="0"/>
            </a:stretch>
          </a:blipFill>
          <a:ln>
            <a:noFill/>
          </a:ln>
        </p:spPr>
      </p:sp>
      <p:sp>
        <p:nvSpPr>
          <p:cNvPr id="563" name="Google Shape;563;p25"/>
          <p:cNvSpPr/>
          <p:nvPr/>
        </p:nvSpPr>
        <p:spPr>
          <a:xfrm rot="-6654147">
            <a:off x="-14515" y="7521145"/>
            <a:ext cx="3621024" cy="4114800"/>
          </a:xfrm>
          <a:custGeom>
            <a:rect b="b" l="l" r="r" t="t"/>
            <a:pathLst>
              <a:path extrusionOk="0" h="4114800" w="3621024">
                <a:moveTo>
                  <a:pt x="0" y="0"/>
                </a:moveTo>
                <a:lnTo>
                  <a:pt x="3621024" y="0"/>
                </a:lnTo>
                <a:lnTo>
                  <a:pt x="3621024" y="4114800"/>
                </a:lnTo>
                <a:lnTo>
                  <a:pt x="0" y="4114800"/>
                </a:lnTo>
                <a:lnTo>
                  <a:pt x="0" y="0"/>
                </a:lnTo>
                <a:close/>
              </a:path>
            </a:pathLst>
          </a:custGeom>
          <a:blipFill rotWithShape="1">
            <a:blip r:embed="rId5">
              <a:alphaModFix/>
            </a:blip>
            <a:stretch>
              <a:fillRect b="0" l="0" r="0" t="0"/>
            </a:stretch>
          </a:blipFill>
          <a:ln>
            <a:noFill/>
          </a:ln>
        </p:spPr>
      </p:sp>
      <p:sp>
        <p:nvSpPr>
          <p:cNvPr id="564" name="Google Shape;564;p25"/>
          <p:cNvSpPr/>
          <p:nvPr/>
        </p:nvSpPr>
        <p:spPr>
          <a:xfrm rot="2238683">
            <a:off x="15352012" y="-154860"/>
            <a:ext cx="3814577" cy="2385844"/>
          </a:xfrm>
          <a:custGeom>
            <a:rect b="b" l="l" r="r" t="t"/>
            <a:pathLst>
              <a:path extrusionOk="0" h="2385844" w="3814577">
                <a:moveTo>
                  <a:pt x="0" y="0"/>
                </a:moveTo>
                <a:lnTo>
                  <a:pt x="3814576" y="0"/>
                </a:lnTo>
                <a:lnTo>
                  <a:pt x="3814576" y="2385844"/>
                </a:lnTo>
                <a:lnTo>
                  <a:pt x="0" y="2385844"/>
                </a:lnTo>
                <a:lnTo>
                  <a:pt x="0" y="0"/>
                </a:lnTo>
                <a:close/>
              </a:path>
            </a:pathLst>
          </a:custGeom>
          <a:blipFill rotWithShape="1">
            <a:blip r:embed="rId6">
              <a:alphaModFix/>
            </a:blip>
            <a:stretch>
              <a:fillRect b="0" l="0" r="0" t="0"/>
            </a:stretch>
          </a:blipFill>
          <a:ln>
            <a:noFill/>
          </a:ln>
        </p:spPr>
      </p:sp>
      <p:sp>
        <p:nvSpPr>
          <p:cNvPr id="565" name="Google Shape;565;p25"/>
          <p:cNvSpPr/>
          <p:nvPr/>
        </p:nvSpPr>
        <p:spPr>
          <a:xfrm>
            <a:off x="12382302" y="1227346"/>
            <a:ext cx="4182540" cy="9059654"/>
          </a:xfrm>
          <a:custGeom>
            <a:rect b="b" l="l" r="r" t="t"/>
            <a:pathLst>
              <a:path extrusionOk="0" h="9059654" w="4182540">
                <a:moveTo>
                  <a:pt x="0" y="0"/>
                </a:moveTo>
                <a:lnTo>
                  <a:pt x="4182540" y="0"/>
                </a:lnTo>
                <a:lnTo>
                  <a:pt x="4182540" y="9059654"/>
                </a:lnTo>
                <a:lnTo>
                  <a:pt x="0" y="9059654"/>
                </a:lnTo>
                <a:lnTo>
                  <a:pt x="0" y="0"/>
                </a:lnTo>
                <a:close/>
              </a:path>
            </a:pathLst>
          </a:custGeom>
          <a:blipFill rotWithShape="1">
            <a:blip r:embed="rId7">
              <a:alphaModFix/>
            </a:blip>
            <a:stretch>
              <a:fillRect b="0" l="0" r="0" t="0"/>
            </a:stretch>
          </a:blipFill>
          <a:ln>
            <a:noFill/>
          </a:ln>
        </p:spPr>
      </p:sp>
      <p:sp>
        <p:nvSpPr>
          <p:cNvPr id="566" name="Google Shape;566;p25"/>
          <p:cNvSpPr/>
          <p:nvPr/>
        </p:nvSpPr>
        <p:spPr>
          <a:xfrm rot="2247882">
            <a:off x="-532354" y="355004"/>
            <a:ext cx="4402065" cy="1347392"/>
          </a:xfrm>
          <a:custGeom>
            <a:rect b="b" l="l" r="r" t="t"/>
            <a:pathLst>
              <a:path extrusionOk="0" h="1347392" w="4402065">
                <a:moveTo>
                  <a:pt x="0" y="0"/>
                </a:moveTo>
                <a:lnTo>
                  <a:pt x="4402066" y="0"/>
                </a:lnTo>
                <a:lnTo>
                  <a:pt x="4402066" y="1347392"/>
                </a:lnTo>
                <a:lnTo>
                  <a:pt x="0" y="1347392"/>
                </a:lnTo>
                <a:lnTo>
                  <a:pt x="0" y="0"/>
                </a:lnTo>
                <a:close/>
              </a:path>
            </a:pathLst>
          </a:custGeom>
          <a:blipFill rotWithShape="1">
            <a:blip r:embed="rId8">
              <a:alphaModFix/>
            </a:blip>
            <a:stretch>
              <a:fillRect b="0" l="0" r="0" t="0"/>
            </a:stretch>
          </a:blipFill>
          <a:ln>
            <a:noFill/>
          </a:ln>
        </p:spPr>
      </p:sp>
      <p:sp>
        <p:nvSpPr>
          <p:cNvPr id="567" name="Google Shape;567;p25"/>
          <p:cNvSpPr/>
          <p:nvPr/>
        </p:nvSpPr>
        <p:spPr>
          <a:xfrm>
            <a:off x="4106315" y="3418134"/>
            <a:ext cx="7054449" cy="6567051"/>
          </a:xfrm>
          <a:custGeom>
            <a:rect b="b" l="l" r="r" t="t"/>
            <a:pathLst>
              <a:path extrusionOk="0" h="6567051" w="7054449">
                <a:moveTo>
                  <a:pt x="0" y="0"/>
                </a:moveTo>
                <a:lnTo>
                  <a:pt x="7054449" y="0"/>
                </a:lnTo>
                <a:lnTo>
                  <a:pt x="7054449" y="6567051"/>
                </a:lnTo>
                <a:lnTo>
                  <a:pt x="0" y="6567051"/>
                </a:lnTo>
                <a:lnTo>
                  <a:pt x="0" y="0"/>
                </a:lnTo>
                <a:close/>
              </a:path>
            </a:pathLst>
          </a:custGeom>
          <a:blipFill rotWithShape="1">
            <a:blip r:embed="rId9">
              <a:alphaModFix/>
            </a:blip>
            <a:stretch>
              <a:fillRect b="0" l="0" r="0" t="0"/>
            </a:stretch>
          </a:blipFill>
          <a:ln>
            <a:noFill/>
          </a:ln>
        </p:spPr>
      </p:sp>
      <p:sp>
        <p:nvSpPr>
          <p:cNvPr id="568" name="Google Shape;568;p25"/>
          <p:cNvSpPr txBox="1"/>
          <p:nvPr/>
        </p:nvSpPr>
        <p:spPr>
          <a:xfrm>
            <a:off x="5989351" y="870375"/>
            <a:ext cx="9545700" cy="2474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16078" u="none" cap="none" strike="noStrike">
                <a:solidFill>
                  <a:srgbClr val="000102"/>
                </a:solidFill>
                <a:latin typeface="Arial"/>
                <a:ea typeface="Arial"/>
                <a:cs typeface="Arial"/>
                <a:sym typeface="Arial"/>
              </a:rPr>
              <a:t>Semana</a:t>
            </a:r>
            <a:endParaRPr/>
          </a:p>
        </p:txBody>
      </p:sp>
      <p:sp>
        <p:nvSpPr>
          <p:cNvPr id="569" name="Google Shape;569;p25"/>
          <p:cNvSpPr txBox="1"/>
          <p:nvPr/>
        </p:nvSpPr>
        <p:spPr>
          <a:xfrm>
            <a:off x="5669046" y="397367"/>
            <a:ext cx="6067692" cy="95241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565" u="none" cap="none" strike="noStrike">
                <a:solidFill>
                  <a:srgbClr val="000102"/>
                </a:solidFill>
                <a:latin typeface="Shantell Sans"/>
                <a:ea typeface="Shantell Sans"/>
                <a:cs typeface="Shantell Sans"/>
                <a:sym typeface="Shantell Sans"/>
              </a:rPr>
              <a:t>Valor de la</a:t>
            </a:r>
            <a:endParaRPr/>
          </a:p>
        </p:txBody>
      </p:sp>
      <p:sp>
        <p:nvSpPr>
          <p:cNvPr id="570" name="Google Shape;570;p25"/>
          <p:cNvSpPr txBox="1"/>
          <p:nvPr/>
        </p:nvSpPr>
        <p:spPr>
          <a:xfrm>
            <a:off x="5083373" y="4920980"/>
            <a:ext cx="5100334" cy="3168344"/>
          </a:xfrm>
          <a:prstGeom prst="rect">
            <a:avLst/>
          </a:prstGeom>
          <a:noFill/>
          <a:ln>
            <a:noFill/>
          </a:ln>
        </p:spPr>
        <p:txBody>
          <a:bodyPr anchorCtr="0" anchor="t" bIns="0" lIns="0" spcFirstLastPara="1" rIns="0" wrap="square" tIns="0">
            <a:spAutoFit/>
          </a:bodyPr>
          <a:lstStyle/>
          <a:p>
            <a:pPr indent="0" lvl="0" marL="0" marR="0" rtl="0" algn="ctr">
              <a:lnSpc>
                <a:spcPct val="140045"/>
              </a:lnSpc>
              <a:spcBef>
                <a:spcPts val="0"/>
              </a:spcBef>
              <a:spcAft>
                <a:spcPts val="0"/>
              </a:spcAft>
              <a:buNone/>
            </a:pPr>
            <a:r>
              <a:rPr b="0" i="0" lang="en-US" sz="2617" u="none" cap="none" strike="noStrike">
                <a:solidFill>
                  <a:srgbClr val="000102"/>
                </a:solidFill>
                <a:latin typeface="Shantell Sans"/>
                <a:ea typeface="Shantell Sans"/>
                <a:cs typeface="Shantell Sans"/>
                <a:sym typeface="Shantell Sans"/>
              </a:rPr>
              <a:t>Fomentar el análisis lógico para identificar, comprender y solucionar conflictos de red relacionados con STP. Incentivar el trabajo en equipo para diseñar, probar y optimizar entornos de red que utilicen STP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576" name="Google Shape;576;p26"/>
          <p:cNvSpPr/>
          <p:nvPr/>
        </p:nvSpPr>
        <p:spPr>
          <a:xfrm>
            <a:off x="2181579" y="-381590"/>
            <a:ext cx="4862079" cy="3403456"/>
          </a:xfrm>
          <a:custGeom>
            <a:rect b="b" l="l" r="r" t="t"/>
            <a:pathLst>
              <a:path extrusionOk="0" h="3403456" w="4862079">
                <a:moveTo>
                  <a:pt x="0" y="0"/>
                </a:moveTo>
                <a:lnTo>
                  <a:pt x="4862079" y="0"/>
                </a:lnTo>
                <a:lnTo>
                  <a:pt x="4862079" y="3403456"/>
                </a:lnTo>
                <a:lnTo>
                  <a:pt x="0" y="3403456"/>
                </a:lnTo>
                <a:lnTo>
                  <a:pt x="0" y="0"/>
                </a:lnTo>
                <a:close/>
              </a:path>
            </a:pathLst>
          </a:custGeom>
          <a:blipFill rotWithShape="1">
            <a:blip r:embed="rId4">
              <a:alphaModFix/>
            </a:blip>
            <a:stretch>
              <a:fillRect b="0" l="0" r="0" t="0"/>
            </a:stretch>
          </a:blipFill>
          <a:ln>
            <a:noFill/>
          </a:ln>
        </p:spPr>
      </p:sp>
      <p:sp>
        <p:nvSpPr>
          <p:cNvPr id="577" name="Google Shape;577;p26"/>
          <p:cNvSpPr/>
          <p:nvPr/>
        </p:nvSpPr>
        <p:spPr>
          <a:xfrm>
            <a:off x="11519305" y="6257842"/>
            <a:ext cx="6915497" cy="4956106"/>
          </a:xfrm>
          <a:custGeom>
            <a:rect b="b" l="l" r="r" t="t"/>
            <a:pathLst>
              <a:path extrusionOk="0" h="4956106" w="6915497">
                <a:moveTo>
                  <a:pt x="0" y="0"/>
                </a:moveTo>
                <a:lnTo>
                  <a:pt x="6915497" y="0"/>
                </a:lnTo>
                <a:lnTo>
                  <a:pt x="6915497" y="4956107"/>
                </a:lnTo>
                <a:lnTo>
                  <a:pt x="0" y="4956107"/>
                </a:lnTo>
                <a:lnTo>
                  <a:pt x="0" y="0"/>
                </a:lnTo>
                <a:close/>
              </a:path>
            </a:pathLst>
          </a:custGeom>
          <a:blipFill rotWithShape="1">
            <a:blip r:embed="rId5">
              <a:alphaModFix/>
            </a:blip>
            <a:stretch>
              <a:fillRect b="0" l="0" r="0" t="0"/>
            </a:stretch>
          </a:blipFill>
          <a:ln>
            <a:noFill/>
          </a:ln>
        </p:spPr>
      </p:sp>
      <p:sp>
        <p:nvSpPr>
          <p:cNvPr id="578" name="Google Shape;578;p26"/>
          <p:cNvSpPr txBox="1"/>
          <p:nvPr/>
        </p:nvSpPr>
        <p:spPr>
          <a:xfrm>
            <a:off x="1803640" y="3261195"/>
            <a:ext cx="11061558" cy="3645901"/>
          </a:xfrm>
          <a:prstGeom prst="rect">
            <a:avLst/>
          </a:prstGeom>
          <a:noFill/>
          <a:ln>
            <a:noFill/>
          </a:ln>
        </p:spPr>
        <p:txBody>
          <a:bodyPr anchorCtr="0" anchor="t" bIns="0" lIns="0" spcFirstLastPara="1" rIns="0" wrap="square" tIns="0">
            <a:spAutoFit/>
          </a:bodyPr>
          <a:lstStyle/>
          <a:p>
            <a:pPr indent="-284364" lvl="1" marL="568731" marR="0" rtl="0" algn="l">
              <a:lnSpc>
                <a:spcPct val="139977"/>
              </a:lnSpc>
              <a:spcBef>
                <a:spcPts val="0"/>
              </a:spcBef>
              <a:spcAft>
                <a:spcPts val="0"/>
              </a:spcAft>
              <a:buClr>
                <a:srgbClr val="000102"/>
              </a:buClr>
              <a:buSzPts val="2634"/>
              <a:buFont typeface="Arial"/>
              <a:buChar char="•"/>
            </a:pPr>
            <a:r>
              <a:rPr b="0" i="0" lang="en-US" sz="2634" u="none" cap="none" strike="noStrike">
                <a:solidFill>
                  <a:srgbClr val="000102"/>
                </a:solidFill>
                <a:latin typeface="Shantell Sans"/>
                <a:ea typeface="Shantell Sans"/>
                <a:cs typeface="Shantell Sans"/>
                <a:sym typeface="Shantell Sans"/>
              </a:rPr>
              <a:t>CCNA desde Cero. (s.f.). Dominio de broadcast. https://ccnadesdecero.com/curso/dominio-de-broadcast/</a:t>
            </a:r>
            <a:endParaRPr/>
          </a:p>
          <a:p>
            <a:pPr indent="-284364" lvl="1" marL="568731" marR="0" rtl="0" algn="l">
              <a:lnSpc>
                <a:spcPct val="139977"/>
              </a:lnSpc>
              <a:spcBef>
                <a:spcPts val="0"/>
              </a:spcBef>
              <a:spcAft>
                <a:spcPts val="0"/>
              </a:spcAft>
              <a:buClr>
                <a:srgbClr val="000102"/>
              </a:buClr>
              <a:buSzPts val="2634"/>
              <a:buFont typeface="Arial"/>
              <a:buChar char="•"/>
            </a:pPr>
            <a:r>
              <a:rPr b="0" i="0" lang="en-US" sz="2634" u="none" cap="none" strike="noStrike">
                <a:solidFill>
                  <a:srgbClr val="000102"/>
                </a:solidFill>
                <a:latin typeface="Shantell Sans"/>
                <a:ea typeface="Shantell Sans"/>
                <a:cs typeface="Shantell Sans"/>
                <a:sym typeface="Shantell Sans"/>
              </a:rPr>
              <a:t>CCNA desde Cero. (s.f.). Dominio de colisión. https://ccnadesdecero.com/curso/dominio-de-colision/</a:t>
            </a:r>
            <a:endParaRPr/>
          </a:p>
          <a:p>
            <a:pPr indent="-284364" lvl="1" marL="568731" marR="0" rtl="0" algn="l">
              <a:lnSpc>
                <a:spcPct val="139977"/>
              </a:lnSpc>
              <a:spcBef>
                <a:spcPts val="0"/>
              </a:spcBef>
              <a:spcAft>
                <a:spcPts val="0"/>
              </a:spcAft>
              <a:buClr>
                <a:srgbClr val="000102"/>
              </a:buClr>
              <a:buSzPts val="2634"/>
              <a:buFont typeface="Arial"/>
              <a:buChar char="•"/>
            </a:pPr>
            <a:r>
              <a:rPr b="0" i="0" lang="en-US" sz="2634" u="none" cap="none" strike="noStrike">
                <a:solidFill>
                  <a:srgbClr val="000102"/>
                </a:solidFill>
                <a:latin typeface="Shantell Sans"/>
                <a:ea typeface="Shantell Sans"/>
                <a:cs typeface="Shantell Sans"/>
                <a:sym typeface="Shantell Sans"/>
              </a:rPr>
              <a:t>CCNA desde Cero. (s.f.). Spanning Tree Protocol (STP): ¿cómo funciona?. https://ccnadesdecero.es/spanning-tree-protocol-stp-como-funciona/</a:t>
            </a:r>
            <a:endParaRPr/>
          </a:p>
          <a:p>
            <a:pPr indent="-284364" lvl="1" marL="568731" marR="0" rtl="0" algn="l">
              <a:lnSpc>
                <a:spcPct val="139977"/>
              </a:lnSpc>
              <a:spcBef>
                <a:spcPts val="0"/>
              </a:spcBef>
              <a:spcAft>
                <a:spcPts val="0"/>
              </a:spcAft>
              <a:buClr>
                <a:srgbClr val="000102"/>
              </a:buClr>
              <a:buSzPts val="2634"/>
              <a:buFont typeface="Arial"/>
              <a:buChar char="•"/>
            </a:pPr>
            <a:r>
              <a:rPr b="0" i="0" lang="en-US" sz="2634" u="none" cap="none" strike="noStrike">
                <a:solidFill>
                  <a:srgbClr val="000102"/>
                </a:solidFill>
                <a:latin typeface="Shantell Sans"/>
                <a:ea typeface="Shantell Sans"/>
                <a:cs typeface="Shantell Sans"/>
                <a:sym typeface="Shantell Sans"/>
              </a:rPr>
              <a:t>Pynet Labs. (s.f.). Spanning Tree Protocol Explained. https://www.pynetlabs.com/spanning-tree-protocol-explained/</a:t>
            </a:r>
            <a:endParaRPr/>
          </a:p>
        </p:txBody>
      </p:sp>
      <p:sp>
        <p:nvSpPr>
          <p:cNvPr id="579" name="Google Shape;579;p26"/>
          <p:cNvSpPr txBox="1"/>
          <p:nvPr/>
        </p:nvSpPr>
        <p:spPr>
          <a:xfrm>
            <a:off x="2841701" y="1209225"/>
            <a:ext cx="10390800" cy="1715400"/>
          </a:xfrm>
          <a:prstGeom prst="rect">
            <a:avLst/>
          </a:prstGeom>
          <a:noFill/>
          <a:ln>
            <a:noFill/>
          </a:ln>
        </p:spPr>
        <p:txBody>
          <a:bodyPr anchorCtr="0" anchor="t" bIns="0" lIns="0" spcFirstLastPara="1" rIns="0" wrap="square" tIns="0">
            <a:spAutoFit/>
          </a:bodyPr>
          <a:lstStyle/>
          <a:p>
            <a:pPr indent="0" lvl="0" marL="0" marR="0" rtl="0" algn="l">
              <a:lnSpc>
                <a:spcPct val="81996"/>
              </a:lnSpc>
              <a:spcBef>
                <a:spcPts val="0"/>
              </a:spcBef>
              <a:spcAft>
                <a:spcPts val="0"/>
              </a:spcAft>
              <a:buNone/>
            </a:pPr>
            <a:r>
              <a:rPr b="0" i="0" lang="en-US" sz="13592" u="none" cap="none" strike="noStrike">
                <a:solidFill>
                  <a:srgbClr val="000102"/>
                </a:solidFill>
                <a:latin typeface="Arial"/>
                <a:ea typeface="Arial"/>
                <a:cs typeface="Arial"/>
                <a:sym typeface="Arial"/>
              </a:rPr>
              <a:t>Referencias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0712" l="0" r="0" t="-80712"/>
            </a:stretch>
          </a:blipFill>
          <a:ln>
            <a:noFill/>
          </a:ln>
        </p:spPr>
      </p:sp>
      <p:sp>
        <p:nvSpPr>
          <p:cNvPr id="585" name="Google Shape;585;p27"/>
          <p:cNvSpPr txBox="1"/>
          <p:nvPr/>
        </p:nvSpPr>
        <p:spPr>
          <a:xfrm>
            <a:off x="5622870" y="827708"/>
            <a:ext cx="7789800" cy="52026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10974" u="none" cap="none" strike="noStrike">
                <a:solidFill>
                  <a:srgbClr val="131416"/>
                </a:solidFill>
                <a:latin typeface="Arial"/>
                <a:ea typeface="Arial"/>
                <a:cs typeface="Arial"/>
                <a:sym typeface="Arial"/>
              </a:rPr>
              <a:t>¡GRACIAS POR SU  ATENCIÓN!</a:t>
            </a:r>
            <a:endParaRPr/>
          </a:p>
        </p:txBody>
      </p:sp>
      <p:sp>
        <p:nvSpPr>
          <p:cNvPr id="586" name="Google Shape;586;p2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
        <p:nvSpPr>
          <p:cNvPr id="587" name="Google Shape;587;p27"/>
          <p:cNvSpPr/>
          <p:nvPr/>
        </p:nvSpPr>
        <p:spPr>
          <a:xfrm>
            <a:off x="0" y="1264701"/>
            <a:ext cx="5891700" cy="1803342"/>
          </a:xfrm>
          <a:custGeom>
            <a:rect b="b" l="l" r="r" t="t"/>
            <a:pathLst>
              <a:path extrusionOk="0" h="1803342" w="5891700">
                <a:moveTo>
                  <a:pt x="0" y="0"/>
                </a:moveTo>
                <a:lnTo>
                  <a:pt x="5891700" y="0"/>
                </a:lnTo>
                <a:lnTo>
                  <a:pt x="5891700" y="1803342"/>
                </a:lnTo>
                <a:lnTo>
                  <a:pt x="0" y="1803342"/>
                </a:lnTo>
                <a:lnTo>
                  <a:pt x="0" y="0"/>
                </a:lnTo>
                <a:close/>
              </a:path>
            </a:pathLst>
          </a:custGeom>
          <a:blipFill rotWithShape="1">
            <a:blip r:embed="rId5">
              <a:alphaModFix/>
            </a:blip>
            <a:stretch>
              <a:fillRect b="0" l="0" r="0" t="0"/>
            </a:stretch>
          </a:blipFill>
          <a:ln>
            <a:noFill/>
          </a:ln>
        </p:spPr>
      </p:sp>
      <p:sp>
        <p:nvSpPr>
          <p:cNvPr id="588" name="Google Shape;588;p27"/>
          <p:cNvSpPr txBox="1"/>
          <p:nvPr/>
        </p:nvSpPr>
        <p:spPr>
          <a:xfrm>
            <a:off x="5414714" y="6043976"/>
            <a:ext cx="6704991" cy="90805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589" name="Google Shape;589;p2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Shantell Sans"/>
                <a:ea typeface="Shantell Sans"/>
                <a:cs typeface="Shantell Sans"/>
                <a:sym typeface="Shantell Sans"/>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