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10287000" cx="18288000"/>
  <p:notesSz cx="6858000" cy="9144000"/>
  <p:embeddedFontLst>
    <p:embeddedFont>
      <p:font typeface="Sniglet"/>
      <p:regular r:id="rId53"/>
    </p:embeddedFont>
    <p:embeddedFont>
      <p:font typeface="Montserrat"/>
      <p:regular r:id="rId54"/>
      <p:bold r:id="rId55"/>
      <p:italic r:id="rId56"/>
      <p:boldItalic r:id="rId57"/>
    </p:embeddedFont>
    <p:embeddedFont>
      <p:font typeface="Public Sans"/>
      <p:regular r:id="rId58"/>
      <p:bold r:id="rId59"/>
      <p:italic r:id="rId60"/>
      <p:boldItalic r:id="rId61"/>
    </p:embeddedFont>
    <p:embeddedFont>
      <p:font typeface="Borel"/>
      <p:regular r:id="rId62"/>
    </p:embeddedFont>
    <p:embeddedFont>
      <p:font typeface="Shadows Into Light"/>
      <p:regular r:id="rId63"/>
    </p:embeddedFont>
    <p:embeddedFont>
      <p:font typeface="Open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8" roundtripDataSignature="AMtx7miMJiC6R84KwPdUERkDZ/A/o2/m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D5E93D-8A74-4A15-8813-B31B81A636AC}">
  <a:tblStyle styleId="{31D5E93D-8A74-4A15-8813-B31B81A636A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Borel-regular.fntdata"/><Relationship Id="rId61" Type="http://schemas.openxmlformats.org/officeDocument/2006/relationships/font" Target="fonts/PublicSans-boldItalic.fntdata"/><Relationship Id="rId20" Type="http://schemas.openxmlformats.org/officeDocument/2006/relationships/slide" Target="slides/slide14.xml"/><Relationship Id="rId64" Type="http://schemas.openxmlformats.org/officeDocument/2006/relationships/font" Target="fonts/OpenSans-regular.fntdata"/><Relationship Id="rId63" Type="http://schemas.openxmlformats.org/officeDocument/2006/relationships/font" Target="fonts/ShadowsIntoLight-regular.fntdata"/><Relationship Id="rId22" Type="http://schemas.openxmlformats.org/officeDocument/2006/relationships/slide" Target="slides/slide16.xml"/><Relationship Id="rId66" Type="http://schemas.openxmlformats.org/officeDocument/2006/relationships/font" Target="fonts/OpenSans-italic.fntdata"/><Relationship Id="rId21" Type="http://schemas.openxmlformats.org/officeDocument/2006/relationships/slide" Target="slides/slide15.xml"/><Relationship Id="rId65" Type="http://schemas.openxmlformats.org/officeDocument/2006/relationships/font" Target="fonts/OpenSans-bold.fntdata"/><Relationship Id="rId24" Type="http://schemas.openxmlformats.org/officeDocument/2006/relationships/slide" Target="slides/slide18.xml"/><Relationship Id="rId68" Type="http://customschemas.google.com/relationships/presentationmetadata" Target="metadata"/><Relationship Id="rId23" Type="http://schemas.openxmlformats.org/officeDocument/2006/relationships/slide" Target="slides/slide17.xml"/><Relationship Id="rId67" Type="http://schemas.openxmlformats.org/officeDocument/2006/relationships/font" Target="fonts/OpenSans-boldItalic.fntdata"/><Relationship Id="rId60" Type="http://schemas.openxmlformats.org/officeDocument/2006/relationships/font" Target="fonts/Public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Sniglet-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Montserrat-bold.fntdata"/><Relationship Id="rId10" Type="http://schemas.openxmlformats.org/officeDocument/2006/relationships/slide" Target="slides/slide4.xml"/><Relationship Id="rId54" Type="http://schemas.openxmlformats.org/officeDocument/2006/relationships/font" Target="fonts/Montserrat-regular.fntdata"/><Relationship Id="rId13" Type="http://schemas.openxmlformats.org/officeDocument/2006/relationships/slide" Target="slides/slide7.xml"/><Relationship Id="rId57" Type="http://schemas.openxmlformats.org/officeDocument/2006/relationships/font" Target="fonts/Montserrat-boldItalic.fntdata"/><Relationship Id="rId12" Type="http://schemas.openxmlformats.org/officeDocument/2006/relationships/slide" Target="slides/slide6.xml"/><Relationship Id="rId56" Type="http://schemas.openxmlformats.org/officeDocument/2006/relationships/font" Target="fonts/Montserrat-italic.fntdata"/><Relationship Id="rId15" Type="http://schemas.openxmlformats.org/officeDocument/2006/relationships/slide" Target="slides/slide9.xml"/><Relationship Id="rId59" Type="http://schemas.openxmlformats.org/officeDocument/2006/relationships/font" Target="fonts/PublicSans-bold.fntdata"/><Relationship Id="rId14" Type="http://schemas.openxmlformats.org/officeDocument/2006/relationships/slide" Target="slides/slide8.xml"/><Relationship Id="rId58" Type="http://schemas.openxmlformats.org/officeDocument/2006/relationships/font" Target="fonts/Public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 Id="rId4" Type="http://schemas.openxmlformats.org/officeDocument/2006/relationships/image" Target="../media/image60.png"/><Relationship Id="rId5" Type="http://schemas.openxmlformats.org/officeDocument/2006/relationships/image" Target="../media/image33.png"/><Relationship Id="rId6" Type="http://schemas.openxmlformats.org/officeDocument/2006/relationships/image" Target="../media/image25.png"/><Relationship Id="rId7"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32.png"/><Relationship Id="rId5"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8.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3.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3.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39.png"/><Relationship Id="rId5"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0.png"/><Relationship Id="rId4" Type="http://schemas.openxmlformats.org/officeDocument/2006/relationships/image" Target="../media/image39.png"/><Relationship Id="rId5"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61.jpg"/><Relationship Id="rId4" Type="http://schemas.openxmlformats.org/officeDocument/2006/relationships/image" Target="../media/image52.png"/><Relationship Id="rId9" Type="http://schemas.openxmlformats.org/officeDocument/2006/relationships/image" Target="../media/image53.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50.png"/><Relationship Id="rId8"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7.pn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55.png"/><Relationship Id="rId4" Type="http://schemas.openxmlformats.org/officeDocument/2006/relationships/image" Target="../media/image57.png"/><Relationship Id="rId5" Type="http://schemas.openxmlformats.org/officeDocument/2006/relationships/image" Target="../media/image59.png"/><Relationship Id="rId6" Type="http://schemas.openxmlformats.org/officeDocument/2006/relationships/image" Target="../media/image5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0.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83" name="Shape 83"/>
        <p:cNvGrpSpPr/>
        <p:nvPr/>
      </p:nvGrpSpPr>
      <p:grpSpPr>
        <a:xfrm>
          <a:off x="0" y="0"/>
          <a:ext cx="0" cy="0"/>
          <a:chOff x="0" y="0"/>
          <a:chExt cx="0" cy="0"/>
        </a:xfrm>
      </p:grpSpPr>
      <p:grpSp>
        <p:nvGrpSpPr>
          <p:cNvPr id="84" name="Google Shape;84;p1"/>
          <p:cNvGrpSpPr/>
          <p:nvPr/>
        </p:nvGrpSpPr>
        <p:grpSpPr>
          <a:xfrm>
            <a:off x="-5028099" y="1539161"/>
            <a:ext cx="7719139" cy="7719139"/>
            <a:chOff x="0" y="0"/>
            <a:chExt cx="812800" cy="812800"/>
          </a:xfrm>
        </p:grpSpPr>
        <p:sp>
          <p:nvSpPr>
            <p:cNvPr id="85" name="Google Shape;8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a:off x="15596960" y="1539161"/>
            <a:ext cx="7719139" cy="7719139"/>
            <a:chOff x="0" y="0"/>
            <a:chExt cx="812800" cy="812800"/>
          </a:xfrm>
        </p:grpSpPr>
        <p:sp>
          <p:nvSpPr>
            <p:cNvPr id="88" name="Google Shape;88;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
          <p:cNvGrpSpPr/>
          <p:nvPr/>
        </p:nvGrpSpPr>
        <p:grpSpPr>
          <a:xfrm>
            <a:off x="1030217" y="1013257"/>
            <a:ext cx="860074" cy="333578"/>
            <a:chOff x="0" y="0"/>
            <a:chExt cx="1146765" cy="444771"/>
          </a:xfrm>
        </p:grpSpPr>
        <p:grpSp>
          <p:nvGrpSpPr>
            <p:cNvPr id="91" name="Google Shape;91;p1"/>
            <p:cNvGrpSpPr/>
            <p:nvPr/>
          </p:nvGrpSpPr>
          <p:grpSpPr>
            <a:xfrm>
              <a:off x="0" y="0"/>
              <a:ext cx="444771" cy="444771"/>
              <a:chOff x="0" y="0"/>
              <a:chExt cx="812800" cy="812800"/>
            </a:xfrm>
          </p:grpSpPr>
          <p:sp>
            <p:nvSpPr>
              <p:cNvPr id="92" name="Google Shape;92;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4" name="Google Shape;94;p1"/>
            <p:cNvGrpSpPr/>
            <p:nvPr/>
          </p:nvGrpSpPr>
          <p:grpSpPr>
            <a:xfrm>
              <a:off x="701994" y="0"/>
              <a:ext cx="444771" cy="444771"/>
              <a:chOff x="0" y="0"/>
              <a:chExt cx="812800" cy="812800"/>
            </a:xfrm>
          </p:grpSpPr>
          <p:sp>
            <p:nvSpPr>
              <p:cNvPr id="95" name="Google Shape;9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97" name="Google Shape;97;p1"/>
          <p:cNvSpPr txBox="1"/>
          <p:nvPr/>
        </p:nvSpPr>
        <p:spPr>
          <a:xfrm>
            <a:off x="3620867" y="3602936"/>
            <a:ext cx="11046300" cy="22851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6185" u="none" cap="none" strike="noStrike">
                <a:solidFill>
                  <a:srgbClr val="000000"/>
                </a:solidFill>
                <a:latin typeface="Arial"/>
                <a:ea typeface="Arial"/>
                <a:cs typeface="Arial"/>
                <a:sym typeface="Arial"/>
              </a:rPr>
              <a:t>DISPOSITIVOS Y PROTOCOLOS EN LA CAPA 3</a:t>
            </a:r>
            <a:endParaRPr sz="900"/>
          </a:p>
        </p:txBody>
      </p:sp>
      <p:sp>
        <p:nvSpPr>
          <p:cNvPr id="98" name="Google Shape;98;p1"/>
          <p:cNvSpPr txBox="1"/>
          <p:nvPr/>
        </p:nvSpPr>
        <p:spPr>
          <a:xfrm>
            <a:off x="4289871" y="6033439"/>
            <a:ext cx="9708257" cy="118046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Sniglet"/>
                <a:ea typeface="Sniglet"/>
                <a:cs typeface="Sniglet"/>
                <a:sym typeface="Sniglet"/>
              </a:rPr>
              <a:t>ENRUTAMIENTO, ALTA DISPONIBILIDAD Y SEGURIDAD</a:t>
            </a:r>
            <a:endParaRPr/>
          </a:p>
        </p:txBody>
      </p:sp>
      <p:sp>
        <p:nvSpPr>
          <p:cNvPr id="99" name="Google Shape;99;p1"/>
          <p:cNvSpPr/>
          <p:nvPr/>
        </p:nvSpPr>
        <p:spPr>
          <a:xfrm>
            <a:off x="11108366" y="85530"/>
            <a:ext cx="7117533" cy="1886341"/>
          </a:xfrm>
          <a:custGeom>
            <a:rect b="b" l="l" r="r" t="t"/>
            <a:pathLst>
              <a:path extrusionOk="0" h="1886341" w="7117533">
                <a:moveTo>
                  <a:pt x="0" y="0"/>
                </a:moveTo>
                <a:lnTo>
                  <a:pt x="7117533" y="0"/>
                </a:lnTo>
                <a:lnTo>
                  <a:pt x="7117533" y="1886340"/>
                </a:lnTo>
                <a:lnTo>
                  <a:pt x="0" y="1886340"/>
                </a:lnTo>
                <a:lnTo>
                  <a:pt x="0" y="0"/>
                </a:lnTo>
                <a:close/>
              </a:path>
            </a:pathLst>
          </a:custGeom>
          <a:blipFill rotWithShape="1">
            <a:blip r:embed="rId3">
              <a:alphaModFix/>
            </a:blip>
            <a:stretch>
              <a:fillRect b="0" l="0" r="0" t="0"/>
            </a:stretch>
          </a:blipFill>
          <a:ln>
            <a:noFill/>
          </a:ln>
        </p:spPr>
      </p:sp>
      <p:sp>
        <p:nvSpPr>
          <p:cNvPr id="100" name="Google Shape;100;p1"/>
          <p:cNvSpPr txBox="1"/>
          <p:nvPr/>
        </p:nvSpPr>
        <p:spPr>
          <a:xfrm>
            <a:off x="1697552" y="7999057"/>
            <a:ext cx="9608475" cy="1997456"/>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609" u="none" cap="none" strike="noStrike">
                <a:solidFill>
                  <a:srgbClr val="272626"/>
                </a:solidFill>
                <a:latin typeface="Sniglet"/>
                <a:ea typeface="Sniglet"/>
                <a:cs typeface="Sniglet"/>
                <a:sym typeface="Sniglet"/>
              </a:rPr>
              <a:t>Redes de Computadoras 1</a:t>
            </a:r>
            <a:endParaRPr/>
          </a:p>
          <a:p>
            <a:pPr indent="0" lvl="0" marL="0" marR="0" rtl="0" algn="l">
              <a:lnSpc>
                <a:spcPct val="140015"/>
              </a:lnSpc>
              <a:spcBef>
                <a:spcPts val="0"/>
              </a:spcBef>
              <a:spcAft>
                <a:spcPts val="0"/>
              </a:spcAft>
              <a:buNone/>
            </a:pPr>
            <a:r>
              <a:rPr b="0" i="0" lang="en-US" sz="2609" u="none" cap="none" strike="noStrike">
                <a:solidFill>
                  <a:srgbClr val="272626"/>
                </a:solidFill>
                <a:latin typeface="Sniglet"/>
                <a:ea typeface="Sniglet"/>
                <a:cs typeface="Sniglet"/>
                <a:sym typeface="Sniglet"/>
              </a:rPr>
              <a:t>Escuela de Ingeniería de Ciencias y Sistemas</a:t>
            </a:r>
            <a:endParaRPr/>
          </a:p>
          <a:p>
            <a:pPr indent="0" lvl="0" marL="0" marR="0" rtl="0" algn="l">
              <a:lnSpc>
                <a:spcPct val="140015"/>
              </a:lnSpc>
              <a:spcBef>
                <a:spcPts val="0"/>
              </a:spcBef>
              <a:spcAft>
                <a:spcPts val="0"/>
              </a:spcAft>
              <a:buNone/>
            </a:pPr>
            <a:r>
              <a:rPr b="0" i="0" lang="en-US" sz="2609" u="none" cap="none" strike="noStrike">
                <a:solidFill>
                  <a:srgbClr val="272626"/>
                </a:solidFill>
                <a:latin typeface="Sniglet"/>
                <a:ea typeface="Sniglet"/>
                <a:cs typeface="Sniglet"/>
                <a:sym typeface="Sniglet"/>
              </a:rPr>
              <a:t>Facultad de Ingeniería</a:t>
            </a:r>
            <a:endParaRPr/>
          </a:p>
          <a:p>
            <a:pPr indent="0" lvl="0" marL="0" marR="0" rtl="0" algn="l">
              <a:lnSpc>
                <a:spcPct val="140015"/>
              </a:lnSpc>
              <a:spcBef>
                <a:spcPts val="0"/>
              </a:spcBef>
              <a:spcAft>
                <a:spcPts val="0"/>
              </a:spcAft>
              <a:buNone/>
            </a:pPr>
            <a:r>
              <a:rPr b="0" i="0" lang="en-US" sz="2609" u="none" cap="none" strike="noStrike">
                <a:solidFill>
                  <a:srgbClr val="272626"/>
                </a:solidFill>
                <a:latin typeface="Sniglet"/>
                <a:ea typeface="Sniglet"/>
                <a:cs typeface="Sniglet"/>
                <a:sym typeface="Sniglet"/>
              </a:rPr>
              <a:t>Universidad de San Carlos de Guatemala</a:t>
            </a:r>
            <a:endParaRPr/>
          </a:p>
        </p:txBody>
      </p:sp>
      <p:sp>
        <p:nvSpPr>
          <p:cNvPr id="101" name="Google Shape;101;p1"/>
          <p:cNvSpPr txBox="1"/>
          <p:nvPr/>
        </p:nvSpPr>
        <p:spPr>
          <a:xfrm>
            <a:off x="4958875" y="1979242"/>
            <a:ext cx="8370250"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200" u="none" cap="none" strike="noStrike">
                <a:solidFill>
                  <a:srgbClr val="253754"/>
                </a:solidFill>
                <a:latin typeface="Shadows Into Light"/>
                <a:ea typeface="Shadows Into Light"/>
                <a:cs typeface="Shadows Into Light"/>
                <a:sym typeface="Shadows Into Light"/>
              </a:rPr>
              <a:t>UNIDAD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05" name="Shape 105"/>
        <p:cNvGrpSpPr/>
        <p:nvPr/>
      </p:nvGrpSpPr>
      <p:grpSpPr>
        <a:xfrm>
          <a:off x="0" y="0"/>
          <a:ext cx="0" cy="0"/>
          <a:chOff x="0" y="0"/>
          <a:chExt cx="0" cy="0"/>
        </a:xfrm>
      </p:grpSpPr>
      <p:sp>
        <p:nvSpPr>
          <p:cNvPr id="106" name="Google Shape;106;p2"/>
          <p:cNvSpPr/>
          <p:nvPr/>
        </p:nvSpPr>
        <p:spPr>
          <a:xfrm rot="-6501204">
            <a:off x="-4899086" y="-8147683"/>
            <a:ext cx="9798172" cy="13143890"/>
          </a:xfrm>
          <a:custGeom>
            <a:rect b="b" l="l" r="r" t="t"/>
            <a:pathLst>
              <a:path extrusionOk="0" h="13143890" w="9798172">
                <a:moveTo>
                  <a:pt x="0" y="0"/>
                </a:moveTo>
                <a:lnTo>
                  <a:pt x="9798172" y="0"/>
                </a:lnTo>
                <a:lnTo>
                  <a:pt x="9798172" y="13143889"/>
                </a:lnTo>
                <a:lnTo>
                  <a:pt x="0" y="13143889"/>
                </a:lnTo>
                <a:lnTo>
                  <a:pt x="0" y="0"/>
                </a:lnTo>
                <a:close/>
              </a:path>
            </a:pathLst>
          </a:custGeom>
          <a:blipFill rotWithShape="1">
            <a:blip r:embed="rId3">
              <a:alphaModFix/>
            </a:blip>
            <a:stretch>
              <a:fillRect b="0" l="0" r="0" t="0"/>
            </a:stretch>
          </a:blipFill>
          <a:ln>
            <a:noFill/>
          </a:ln>
        </p:spPr>
      </p:sp>
      <p:sp>
        <p:nvSpPr>
          <p:cNvPr id="107" name="Google Shape;107;p2"/>
          <p:cNvSpPr/>
          <p:nvPr/>
        </p:nvSpPr>
        <p:spPr>
          <a:xfrm rot="-8798399">
            <a:off x="11434890" y="2417332"/>
            <a:ext cx="9798172" cy="13143890"/>
          </a:xfrm>
          <a:custGeom>
            <a:rect b="b" l="l" r="r" t="t"/>
            <a:pathLst>
              <a:path extrusionOk="0" h="13143890" w="9798172">
                <a:moveTo>
                  <a:pt x="0" y="0"/>
                </a:moveTo>
                <a:lnTo>
                  <a:pt x="9798172" y="0"/>
                </a:lnTo>
                <a:lnTo>
                  <a:pt x="9798172" y="13143890"/>
                </a:lnTo>
                <a:lnTo>
                  <a:pt x="0" y="13143890"/>
                </a:lnTo>
                <a:lnTo>
                  <a:pt x="0" y="0"/>
                </a:lnTo>
                <a:close/>
              </a:path>
            </a:pathLst>
          </a:custGeom>
          <a:blipFill rotWithShape="1">
            <a:blip r:embed="rId3">
              <a:alphaModFix/>
            </a:blip>
            <a:stretch>
              <a:fillRect b="0" l="0" r="0" t="0"/>
            </a:stretch>
          </a:blipFill>
          <a:ln>
            <a:noFill/>
          </a:ln>
        </p:spPr>
      </p:sp>
      <p:sp>
        <p:nvSpPr>
          <p:cNvPr id="108" name="Google Shape;108;p2"/>
          <p:cNvSpPr/>
          <p:nvPr/>
        </p:nvSpPr>
        <p:spPr>
          <a:xfrm rot="-10300046">
            <a:off x="9878897" y="-2159443"/>
            <a:ext cx="12908738" cy="11171926"/>
          </a:xfrm>
          <a:custGeom>
            <a:rect b="b" l="l" r="r" t="t"/>
            <a:pathLst>
              <a:path extrusionOk="0" h="11165647" w="12901483">
                <a:moveTo>
                  <a:pt x="0" y="0"/>
                </a:moveTo>
                <a:lnTo>
                  <a:pt x="12901483" y="0"/>
                </a:lnTo>
                <a:lnTo>
                  <a:pt x="12901483" y="11165647"/>
                </a:lnTo>
                <a:lnTo>
                  <a:pt x="0" y="11165647"/>
                </a:lnTo>
                <a:lnTo>
                  <a:pt x="0" y="0"/>
                </a:lnTo>
                <a:close/>
              </a:path>
            </a:pathLst>
          </a:custGeom>
          <a:blipFill rotWithShape="1">
            <a:blip r:embed="rId4">
              <a:alphaModFix/>
            </a:blip>
            <a:stretch>
              <a:fillRect b="0" l="0" r="0" t="0"/>
            </a:stretch>
          </a:blipFill>
          <a:ln>
            <a:noFill/>
          </a:ln>
        </p:spPr>
      </p:sp>
      <p:sp>
        <p:nvSpPr>
          <p:cNvPr id="109" name="Google Shape;109;p2"/>
          <p:cNvSpPr/>
          <p:nvPr/>
        </p:nvSpPr>
        <p:spPr>
          <a:xfrm rot="458160">
            <a:off x="-3775194" y="6616870"/>
            <a:ext cx="8481393" cy="7340260"/>
          </a:xfrm>
          <a:custGeom>
            <a:rect b="b" l="l" r="r" t="t"/>
            <a:pathLst>
              <a:path extrusionOk="0" h="7340260" w="8481393">
                <a:moveTo>
                  <a:pt x="0" y="0"/>
                </a:moveTo>
                <a:lnTo>
                  <a:pt x="8481393" y="0"/>
                </a:lnTo>
                <a:lnTo>
                  <a:pt x="8481393" y="7340260"/>
                </a:lnTo>
                <a:lnTo>
                  <a:pt x="0" y="7340260"/>
                </a:lnTo>
                <a:lnTo>
                  <a:pt x="0" y="0"/>
                </a:lnTo>
                <a:close/>
              </a:path>
            </a:pathLst>
          </a:custGeom>
          <a:blipFill rotWithShape="1">
            <a:blip r:embed="rId4">
              <a:alphaModFix/>
            </a:blip>
            <a:stretch>
              <a:fillRect b="0" l="0" r="0" t="0"/>
            </a:stretch>
          </a:blipFill>
          <a:ln>
            <a:noFill/>
          </a:ln>
        </p:spPr>
      </p:sp>
      <p:sp>
        <p:nvSpPr>
          <p:cNvPr id="110" name="Google Shape;110;p2"/>
          <p:cNvSpPr txBox="1"/>
          <p:nvPr/>
        </p:nvSpPr>
        <p:spPr>
          <a:xfrm>
            <a:off x="2344704" y="1943183"/>
            <a:ext cx="6411555" cy="1319860"/>
          </a:xfrm>
          <a:prstGeom prst="rect">
            <a:avLst/>
          </a:prstGeom>
          <a:noFill/>
          <a:ln>
            <a:noFill/>
          </a:ln>
        </p:spPr>
        <p:txBody>
          <a:bodyPr anchorCtr="0" anchor="t" bIns="0" lIns="0" spcFirstLastPara="1" rIns="0" wrap="square" tIns="0">
            <a:spAutoFit/>
          </a:bodyPr>
          <a:lstStyle/>
          <a:p>
            <a:pPr indent="0" lvl="0" marL="0" marR="0" rtl="0" algn="l">
              <a:lnSpc>
                <a:spcPct val="139989"/>
              </a:lnSpc>
              <a:spcBef>
                <a:spcPts val="0"/>
              </a:spcBef>
              <a:spcAft>
                <a:spcPts val="0"/>
              </a:spcAft>
              <a:buNone/>
            </a:pPr>
            <a:r>
              <a:rPr b="1" i="0" lang="en-US" sz="7662" u="none" cap="none" strike="noStrike">
                <a:solidFill>
                  <a:srgbClr val="152540"/>
                </a:solidFill>
                <a:latin typeface="Arial"/>
                <a:ea typeface="Arial"/>
                <a:cs typeface="Arial"/>
                <a:sym typeface="Arial"/>
              </a:rPr>
              <a:t>AGENDA</a:t>
            </a:r>
            <a:endParaRPr/>
          </a:p>
        </p:txBody>
      </p:sp>
      <p:sp>
        <p:nvSpPr>
          <p:cNvPr id="111" name="Google Shape;111;p2"/>
          <p:cNvSpPr txBox="1"/>
          <p:nvPr/>
        </p:nvSpPr>
        <p:spPr>
          <a:xfrm>
            <a:off x="1927375" y="4225275"/>
            <a:ext cx="12747300" cy="3309000"/>
          </a:xfrm>
          <a:prstGeom prst="rect">
            <a:avLst/>
          </a:prstGeom>
          <a:noFill/>
          <a:ln>
            <a:noFill/>
          </a:ln>
        </p:spPr>
        <p:txBody>
          <a:bodyPr anchorCtr="0" anchor="t" bIns="0" lIns="0" spcFirstLastPara="1" rIns="0" wrap="square" tIns="0">
            <a:spAutoFit/>
          </a:bodyPr>
          <a:lstStyle/>
          <a:p>
            <a:pPr indent="-446310" lvl="1" marL="892621" marR="0" rtl="0" algn="l">
              <a:lnSpc>
                <a:spcPct val="140009"/>
              </a:lnSpc>
              <a:spcBef>
                <a:spcPts val="0"/>
              </a:spcBef>
              <a:spcAft>
                <a:spcPts val="0"/>
              </a:spcAft>
              <a:buClr>
                <a:srgbClr val="152540"/>
              </a:buClr>
              <a:buSzPts val="4134"/>
              <a:buFont typeface="Arial"/>
              <a:buChar char="•"/>
            </a:pPr>
            <a:r>
              <a:rPr b="0" i="0" lang="en-US" sz="4134" u="none" cap="none" strike="noStrike">
                <a:solidFill>
                  <a:srgbClr val="152540"/>
                </a:solidFill>
                <a:latin typeface="Arial"/>
                <a:ea typeface="Arial"/>
                <a:cs typeface="Arial"/>
                <a:sym typeface="Arial"/>
              </a:rPr>
              <a:t>Foro Semanal</a:t>
            </a:r>
            <a:endParaRPr/>
          </a:p>
          <a:p>
            <a:pPr indent="-446311" lvl="1" marL="892620" marR="0" rtl="0" algn="l">
              <a:lnSpc>
                <a:spcPct val="140009"/>
              </a:lnSpc>
              <a:spcBef>
                <a:spcPts val="0"/>
              </a:spcBef>
              <a:spcAft>
                <a:spcPts val="0"/>
              </a:spcAft>
              <a:buClr>
                <a:srgbClr val="152540"/>
              </a:buClr>
              <a:buSzPts val="4134"/>
              <a:buFont typeface="Arial"/>
              <a:buChar char="•"/>
            </a:pPr>
            <a:r>
              <a:rPr lang="en-US" sz="4134">
                <a:solidFill>
                  <a:srgbClr val="152540"/>
                </a:solidFill>
              </a:rPr>
              <a:t>Protocolos de Redundancia de puerta de enlace</a:t>
            </a:r>
            <a:endParaRPr sz="4134">
              <a:solidFill>
                <a:srgbClr val="152540"/>
              </a:solidFill>
            </a:endParaRPr>
          </a:p>
          <a:p>
            <a:pPr indent="-446311" lvl="1" marL="892620" marR="0" rtl="0" algn="l">
              <a:lnSpc>
                <a:spcPct val="140009"/>
              </a:lnSpc>
              <a:spcBef>
                <a:spcPts val="0"/>
              </a:spcBef>
              <a:spcAft>
                <a:spcPts val="0"/>
              </a:spcAft>
              <a:buClr>
                <a:srgbClr val="152540"/>
              </a:buClr>
              <a:buSzPts val="4134"/>
              <a:buChar char="•"/>
            </a:pPr>
            <a:r>
              <a:rPr lang="en-US" sz="4134">
                <a:solidFill>
                  <a:srgbClr val="152540"/>
                </a:solidFill>
              </a:rPr>
              <a:t>Configuración</a:t>
            </a:r>
            <a:r>
              <a:rPr lang="en-US" sz="4134">
                <a:solidFill>
                  <a:srgbClr val="152540"/>
                </a:solidFill>
              </a:rPr>
              <a:t> básica de firewall</a:t>
            </a:r>
            <a:endParaRPr sz="4134">
              <a:solidFill>
                <a:srgbClr val="152540"/>
              </a:solidFill>
            </a:endParaRPr>
          </a:p>
          <a:p>
            <a:pPr indent="-446310" lvl="1" marL="892621" marR="0" rtl="0" algn="l">
              <a:lnSpc>
                <a:spcPct val="140009"/>
              </a:lnSpc>
              <a:spcBef>
                <a:spcPts val="0"/>
              </a:spcBef>
              <a:spcAft>
                <a:spcPts val="0"/>
              </a:spcAft>
              <a:buClr>
                <a:srgbClr val="152540"/>
              </a:buClr>
              <a:buSzPts val="4134"/>
              <a:buChar char="•"/>
            </a:pPr>
            <a:r>
              <a:rPr lang="en-US" sz="4134">
                <a:solidFill>
                  <a:srgbClr val="152540"/>
                </a:solidFill>
              </a:rPr>
              <a:t>ACL (Listas de control de acceso)</a:t>
            </a:r>
            <a:endParaRPr sz="4134">
              <a:solidFill>
                <a:srgbClr val="152540"/>
              </a:solidFill>
            </a:endParaRPr>
          </a:p>
        </p:txBody>
      </p:sp>
      <p:sp>
        <p:nvSpPr>
          <p:cNvPr id="112" name="Google Shape;112;p2"/>
          <p:cNvSpPr txBox="1"/>
          <p:nvPr/>
        </p:nvSpPr>
        <p:spPr>
          <a:xfrm>
            <a:off x="15420400" y="4356775"/>
            <a:ext cx="1563000" cy="33090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4134" u="none" cap="none" strike="noStrike">
                <a:solidFill>
                  <a:schemeClr val="lt1"/>
                </a:solidFill>
                <a:latin typeface="Arial"/>
                <a:ea typeface="Arial"/>
                <a:cs typeface="Arial"/>
                <a:sym typeface="Arial"/>
              </a:rPr>
              <a:t>01</a:t>
            </a:r>
            <a:endParaRPr>
              <a:solidFill>
                <a:schemeClr val="lt1"/>
              </a:solidFill>
            </a:endParaRPr>
          </a:p>
          <a:p>
            <a:pPr indent="0" lvl="0" marL="0" marR="0" rtl="0" algn="ctr">
              <a:lnSpc>
                <a:spcPct val="140009"/>
              </a:lnSpc>
              <a:spcBef>
                <a:spcPts val="0"/>
              </a:spcBef>
              <a:spcAft>
                <a:spcPts val="0"/>
              </a:spcAft>
              <a:buNone/>
            </a:pPr>
            <a:r>
              <a:rPr b="1" i="0" lang="en-US" sz="4134" u="none" cap="none" strike="noStrike">
                <a:solidFill>
                  <a:schemeClr val="lt1"/>
                </a:solidFill>
                <a:latin typeface="Arial"/>
                <a:ea typeface="Arial"/>
                <a:cs typeface="Arial"/>
                <a:sym typeface="Arial"/>
              </a:rPr>
              <a:t>02</a:t>
            </a:r>
            <a:endParaRPr b="1" sz="4134">
              <a:solidFill>
                <a:schemeClr val="lt1"/>
              </a:solidFill>
            </a:endParaRPr>
          </a:p>
          <a:p>
            <a:pPr indent="0" lvl="0" marL="0" marR="0" rtl="0" algn="ctr">
              <a:lnSpc>
                <a:spcPct val="140009"/>
              </a:lnSpc>
              <a:spcBef>
                <a:spcPts val="0"/>
              </a:spcBef>
              <a:spcAft>
                <a:spcPts val="0"/>
              </a:spcAft>
              <a:buNone/>
            </a:pPr>
            <a:r>
              <a:rPr b="1" lang="en-US" sz="4134">
                <a:solidFill>
                  <a:schemeClr val="lt1"/>
                </a:solidFill>
              </a:rPr>
              <a:t>03</a:t>
            </a:r>
            <a:endParaRPr b="1" sz="4134">
              <a:solidFill>
                <a:schemeClr val="lt1"/>
              </a:solidFill>
            </a:endParaRPr>
          </a:p>
          <a:p>
            <a:pPr indent="0" lvl="0" marL="0" marR="0" rtl="0" algn="ctr">
              <a:lnSpc>
                <a:spcPct val="140009"/>
              </a:lnSpc>
              <a:spcBef>
                <a:spcPts val="0"/>
              </a:spcBef>
              <a:spcAft>
                <a:spcPts val="0"/>
              </a:spcAft>
              <a:buNone/>
            </a:pPr>
            <a:r>
              <a:rPr b="1" lang="en-US" sz="4134">
                <a:solidFill>
                  <a:schemeClr val="lt1"/>
                </a:solidFill>
              </a:rPr>
              <a:t>04</a:t>
            </a:r>
            <a:endParaRPr b="1" sz="4134">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116" name="Shape 116"/>
        <p:cNvGrpSpPr/>
        <p:nvPr/>
      </p:nvGrpSpPr>
      <p:grpSpPr>
        <a:xfrm>
          <a:off x="0" y="0"/>
          <a:ext cx="0" cy="0"/>
          <a:chOff x="0" y="0"/>
          <a:chExt cx="0" cy="0"/>
        </a:xfrm>
      </p:grpSpPr>
      <p:sp>
        <p:nvSpPr>
          <p:cNvPr id="117" name="Google Shape;117;p3"/>
          <p:cNvSpPr txBox="1"/>
          <p:nvPr/>
        </p:nvSpPr>
        <p:spPr>
          <a:xfrm>
            <a:off x="5120841" y="1832515"/>
            <a:ext cx="8046318" cy="1184910"/>
          </a:xfrm>
          <a:prstGeom prst="rect">
            <a:avLst/>
          </a:prstGeom>
          <a:noFill/>
          <a:ln>
            <a:noFill/>
          </a:ln>
        </p:spPr>
        <p:txBody>
          <a:bodyPr anchorCtr="0" anchor="t" bIns="0" lIns="0" spcFirstLastPara="1" rIns="0" wrap="square" tIns="0">
            <a:spAutoFit/>
          </a:bodyPr>
          <a:lstStyle/>
          <a:p>
            <a:pPr indent="0" lvl="1" marL="0" marR="0" rtl="0" algn="ctr">
              <a:lnSpc>
                <a:spcPct val="114000"/>
              </a:lnSpc>
              <a:spcBef>
                <a:spcPts val="0"/>
              </a:spcBef>
              <a:spcAft>
                <a:spcPts val="0"/>
              </a:spcAft>
              <a:buNone/>
            </a:pPr>
            <a:r>
              <a:rPr b="0" i="0" lang="en-US" sz="8000" u="none" cap="none" strike="noStrike">
                <a:solidFill>
                  <a:srgbClr val="152540"/>
                </a:solidFill>
                <a:latin typeface="Arial"/>
                <a:ea typeface="Arial"/>
                <a:cs typeface="Arial"/>
                <a:sym typeface="Arial"/>
              </a:rPr>
              <a:t>Compentencias</a:t>
            </a:r>
            <a:endParaRPr/>
          </a:p>
        </p:txBody>
      </p:sp>
      <p:sp>
        <p:nvSpPr>
          <p:cNvPr id="118" name="Google Shape;118;p3"/>
          <p:cNvSpPr txBox="1"/>
          <p:nvPr/>
        </p:nvSpPr>
        <p:spPr>
          <a:xfrm>
            <a:off x="3402251" y="4232388"/>
            <a:ext cx="11483400" cy="5655300"/>
          </a:xfrm>
          <a:prstGeom prst="rect">
            <a:avLst/>
          </a:prstGeom>
          <a:noFill/>
          <a:ln>
            <a:noFill/>
          </a:ln>
        </p:spPr>
        <p:txBody>
          <a:bodyPr anchorCtr="0" anchor="t" bIns="0" lIns="0" spcFirstLastPara="1" rIns="0" wrap="square" tIns="0">
            <a:spAutoFit/>
          </a:bodyPr>
          <a:lstStyle/>
          <a:p>
            <a:pPr indent="0" lvl="0" marL="0" marR="0" rtl="0" algn="ctr">
              <a:lnSpc>
                <a:spcPct val="157000"/>
              </a:lnSpc>
              <a:spcBef>
                <a:spcPts val="0"/>
              </a:spcBef>
              <a:spcAft>
                <a:spcPts val="0"/>
              </a:spcAft>
              <a:buNone/>
            </a:pPr>
            <a:r>
              <a:rPr b="0" i="0" lang="en-US" sz="2200" u="none" cap="none" strike="noStrike">
                <a:solidFill>
                  <a:srgbClr val="152540"/>
                </a:solidFill>
                <a:latin typeface="Public Sans"/>
                <a:ea typeface="Public Sans"/>
                <a:cs typeface="Public Sans"/>
                <a:sym typeface="Public Sans"/>
              </a:rPr>
              <a:t>El estudiante configura protocolos de alta disponibilidad como HSRP mediante la asignacion de prioridades para garantizar la continuidad del servicio y la tolerancia a fallos en la red. </a:t>
            </a:r>
            <a:endParaRPr/>
          </a:p>
          <a:p>
            <a:pPr indent="0" lvl="0" marL="0" marR="0" rtl="0" algn="ctr">
              <a:lnSpc>
                <a:spcPct val="157000"/>
              </a:lnSpc>
              <a:spcBef>
                <a:spcPts val="0"/>
              </a:spcBef>
              <a:spcAft>
                <a:spcPts val="0"/>
              </a:spcAft>
              <a:buNone/>
            </a:pPr>
            <a:r>
              <a:t/>
            </a:r>
            <a:endParaRPr b="0" i="0" sz="2200" u="none" cap="none" strike="noStrike">
              <a:solidFill>
                <a:srgbClr val="152540"/>
              </a:solidFill>
              <a:latin typeface="Public Sans"/>
              <a:ea typeface="Public Sans"/>
              <a:cs typeface="Public Sans"/>
              <a:sym typeface="Public Sans"/>
            </a:endParaRPr>
          </a:p>
          <a:p>
            <a:pPr indent="0" lvl="0" marL="0" marR="0" rtl="0" algn="ctr">
              <a:lnSpc>
                <a:spcPct val="157000"/>
              </a:lnSpc>
              <a:spcBef>
                <a:spcPts val="0"/>
              </a:spcBef>
              <a:spcAft>
                <a:spcPts val="0"/>
              </a:spcAft>
              <a:buNone/>
            </a:pPr>
            <a:r>
              <a:rPr b="0" i="0" lang="en-US" sz="2200" u="none" cap="none" strike="noStrike">
                <a:solidFill>
                  <a:srgbClr val="152540"/>
                </a:solidFill>
                <a:latin typeface="Public Sans"/>
                <a:ea typeface="Public Sans"/>
                <a:cs typeface="Public Sans"/>
                <a:sym typeface="Public Sans"/>
              </a:rPr>
              <a:t>El estudiante diseña una topología de red utilizando dispositivos de red virtuales o físicos para crear un entorno funcional que cumpla requerimientos específicos de comunicación </a:t>
            </a:r>
            <a:endParaRPr/>
          </a:p>
          <a:p>
            <a:pPr indent="0" lvl="0" marL="0" marR="0" rtl="0" algn="ctr">
              <a:lnSpc>
                <a:spcPct val="157000"/>
              </a:lnSpc>
              <a:spcBef>
                <a:spcPts val="0"/>
              </a:spcBef>
              <a:spcAft>
                <a:spcPts val="0"/>
              </a:spcAft>
              <a:buNone/>
            </a:pPr>
            <a:r>
              <a:t/>
            </a:r>
            <a:endParaRPr b="0" i="0" sz="2200" u="none" cap="none" strike="noStrike">
              <a:solidFill>
                <a:srgbClr val="152540"/>
              </a:solidFill>
              <a:latin typeface="Public Sans"/>
              <a:ea typeface="Public Sans"/>
              <a:cs typeface="Public Sans"/>
              <a:sym typeface="Public Sans"/>
            </a:endParaRPr>
          </a:p>
          <a:p>
            <a:pPr indent="0" lvl="0" marL="0" marR="0" rtl="0" algn="ctr">
              <a:lnSpc>
                <a:spcPct val="157000"/>
              </a:lnSpc>
              <a:spcBef>
                <a:spcPts val="0"/>
              </a:spcBef>
              <a:spcAft>
                <a:spcPts val="0"/>
              </a:spcAft>
              <a:buNone/>
            </a:pPr>
            <a:r>
              <a:rPr b="0" i="0" lang="en-US" sz="2200" u="none" cap="none" strike="noStrike">
                <a:solidFill>
                  <a:srgbClr val="152540"/>
                </a:solidFill>
                <a:latin typeface="Public Sans"/>
                <a:ea typeface="Public Sans"/>
                <a:cs typeface="Public Sans"/>
                <a:sym typeface="Public Sans"/>
              </a:rPr>
              <a:t>El estudiante diseña y crea  redes segmentadas aplicando técnicas de etiquetado y optimización  para aislar y gestionar el tráfico de manera eficiente entre diferentes grupos de usuarios, asegurando redundancia y evitando bucles en la red. </a:t>
            </a:r>
            <a:endParaRPr/>
          </a:p>
        </p:txBody>
      </p:sp>
      <p:sp>
        <p:nvSpPr>
          <p:cNvPr id="119" name="Google Shape;119;p3"/>
          <p:cNvSpPr/>
          <p:nvPr/>
        </p:nvSpPr>
        <p:spPr>
          <a:xfrm rot="10800000">
            <a:off x="493096" y="-754562"/>
            <a:ext cx="6109506" cy="1966150"/>
          </a:xfrm>
          <a:custGeom>
            <a:rect b="b" l="l" r="r" t="t"/>
            <a:pathLst>
              <a:path extrusionOk="0" h="1966150" w="6109506">
                <a:moveTo>
                  <a:pt x="0" y="0"/>
                </a:moveTo>
                <a:lnTo>
                  <a:pt x="6109505" y="0"/>
                </a:lnTo>
                <a:lnTo>
                  <a:pt x="6109505" y="1966150"/>
                </a:lnTo>
                <a:lnTo>
                  <a:pt x="0" y="1966150"/>
                </a:lnTo>
                <a:lnTo>
                  <a:pt x="0" y="0"/>
                </a:lnTo>
                <a:close/>
              </a:path>
            </a:pathLst>
          </a:custGeom>
          <a:blipFill rotWithShape="1">
            <a:blip r:embed="rId3">
              <a:alphaModFix/>
            </a:blip>
            <a:stretch>
              <a:fillRect b="0" l="0" r="0" t="0"/>
            </a:stretch>
          </a:blipFill>
          <a:ln>
            <a:noFill/>
          </a:ln>
        </p:spPr>
      </p:sp>
      <p:sp>
        <p:nvSpPr>
          <p:cNvPr id="120" name="Google Shape;120;p3"/>
          <p:cNvSpPr/>
          <p:nvPr/>
        </p:nvSpPr>
        <p:spPr>
          <a:xfrm>
            <a:off x="14746851" y="9116938"/>
            <a:ext cx="4026521" cy="2868897"/>
          </a:xfrm>
          <a:custGeom>
            <a:rect b="b" l="l" r="r" t="t"/>
            <a:pathLst>
              <a:path extrusionOk="0" h="2868897" w="4026521">
                <a:moveTo>
                  <a:pt x="0" y="0"/>
                </a:moveTo>
                <a:lnTo>
                  <a:pt x="4026522" y="0"/>
                </a:lnTo>
                <a:lnTo>
                  <a:pt x="4026522" y="2868897"/>
                </a:lnTo>
                <a:lnTo>
                  <a:pt x="0" y="2868897"/>
                </a:lnTo>
                <a:lnTo>
                  <a:pt x="0" y="0"/>
                </a:lnTo>
                <a:close/>
              </a:path>
            </a:pathLst>
          </a:custGeom>
          <a:blipFill rotWithShape="1">
            <a:blip r:embed="rId4">
              <a:alphaModFix/>
            </a:blip>
            <a:stretch>
              <a:fillRect b="0" l="0" r="0" t="0"/>
            </a:stretch>
          </a:blipFill>
          <a:ln>
            <a:noFill/>
          </a:ln>
        </p:spPr>
      </p:sp>
      <p:sp>
        <p:nvSpPr>
          <p:cNvPr id="121" name="Google Shape;121;p3"/>
          <p:cNvSpPr/>
          <p:nvPr/>
        </p:nvSpPr>
        <p:spPr>
          <a:xfrm>
            <a:off x="1028700" y="7339924"/>
            <a:ext cx="897957" cy="1287393"/>
          </a:xfrm>
          <a:custGeom>
            <a:rect b="b" l="l" r="r" t="t"/>
            <a:pathLst>
              <a:path extrusionOk="0" h="1287393" w="897957">
                <a:moveTo>
                  <a:pt x="0" y="0"/>
                </a:moveTo>
                <a:lnTo>
                  <a:pt x="897957" y="0"/>
                </a:lnTo>
                <a:lnTo>
                  <a:pt x="897957" y="1287393"/>
                </a:lnTo>
                <a:lnTo>
                  <a:pt x="0" y="1287393"/>
                </a:lnTo>
                <a:lnTo>
                  <a:pt x="0" y="0"/>
                </a:lnTo>
                <a:close/>
              </a:path>
            </a:pathLst>
          </a:custGeom>
          <a:blipFill rotWithShape="1">
            <a:blip r:embed="rId5">
              <a:alphaModFix/>
            </a:blip>
            <a:stretch>
              <a:fillRect b="0" l="0" r="0" t="0"/>
            </a:stretch>
          </a:blipFill>
          <a:ln>
            <a:noFill/>
          </a:ln>
        </p:spPr>
      </p:sp>
      <p:sp>
        <p:nvSpPr>
          <p:cNvPr id="122" name="Google Shape;122;p3"/>
          <p:cNvSpPr/>
          <p:nvPr/>
        </p:nvSpPr>
        <p:spPr>
          <a:xfrm>
            <a:off x="286027" y="9078995"/>
            <a:ext cx="3261822" cy="2564607"/>
          </a:xfrm>
          <a:custGeom>
            <a:rect b="b" l="l" r="r" t="t"/>
            <a:pathLst>
              <a:path extrusionOk="0" h="2564607" w="3261822">
                <a:moveTo>
                  <a:pt x="0" y="0"/>
                </a:moveTo>
                <a:lnTo>
                  <a:pt x="3261821" y="0"/>
                </a:lnTo>
                <a:lnTo>
                  <a:pt x="3261821" y="2564608"/>
                </a:lnTo>
                <a:lnTo>
                  <a:pt x="0" y="2564608"/>
                </a:lnTo>
                <a:lnTo>
                  <a:pt x="0" y="0"/>
                </a:lnTo>
                <a:close/>
              </a:path>
            </a:pathLst>
          </a:custGeom>
          <a:blipFill rotWithShape="1">
            <a:blip r:embed="rId6">
              <a:alphaModFix/>
            </a:blip>
            <a:stretch>
              <a:fillRect b="0" l="0" r="0" t="0"/>
            </a:stretch>
          </a:blipFill>
          <a:ln>
            <a:noFill/>
          </a:ln>
        </p:spPr>
      </p:sp>
      <p:sp>
        <p:nvSpPr>
          <p:cNvPr id="123" name="Google Shape;123;p3"/>
          <p:cNvSpPr/>
          <p:nvPr/>
        </p:nvSpPr>
        <p:spPr>
          <a:xfrm>
            <a:off x="14746851" y="-605637"/>
            <a:ext cx="2345750" cy="2796721"/>
          </a:xfrm>
          <a:custGeom>
            <a:rect b="b" l="l" r="r" t="t"/>
            <a:pathLst>
              <a:path extrusionOk="0" h="2796721" w="2345750">
                <a:moveTo>
                  <a:pt x="0" y="0"/>
                </a:moveTo>
                <a:lnTo>
                  <a:pt x="2345750" y="0"/>
                </a:lnTo>
                <a:lnTo>
                  <a:pt x="2345750" y="2796721"/>
                </a:lnTo>
                <a:lnTo>
                  <a:pt x="0" y="2796721"/>
                </a:lnTo>
                <a:lnTo>
                  <a:pt x="0" y="0"/>
                </a:lnTo>
                <a:close/>
              </a:path>
            </a:pathLst>
          </a:custGeom>
          <a:blipFill rotWithShape="1">
            <a:blip r:embed="rId7">
              <a:alphaModFix/>
            </a:blip>
            <a:stretch>
              <a:fillRect b="0" l="0" r="0" t="0"/>
            </a:stretch>
          </a:blipFill>
          <a:ln>
            <a:noFill/>
          </a:ln>
        </p:spPr>
      </p:sp>
      <p:sp>
        <p:nvSpPr>
          <p:cNvPr id="124" name="Google Shape;124;p3"/>
          <p:cNvSpPr txBox="1"/>
          <p:nvPr/>
        </p:nvSpPr>
        <p:spPr>
          <a:xfrm>
            <a:off x="4916557" y="3181440"/>
            <a:ext cx="8250600" cy="769800"/>
          </a:xfrm>
          <a:prstGeom prst="rect">
            <a:avLst/>
          </a:prstGeom>
          <a:noFill/>
          <a:ln>
            <a:noFill/>
          </a:ln>
        </p:spPr>
        <p:txBody>
          <a:bodyPr anchorCtr="0" anchor="t" bIns="0" lIns="0" spcFirstLastPara="1" rIns="0" wrap="square" tIns="0">
            <a:spAutoFit/>
          </a:bodyPr>
          <a:lstStyle/>
          <a:p>
            <a:pPr indent="0" lvl="1" marL="0" marR="0" rtl="0" algn="ctr">
              <a:lnSpc>
                <a:spcPct val="113998"/>
              </a:lnSpc>
              <a:spcBef>
                <a:spcPts val="0"/>
              </a:spcBef>
              <a:spcAft>
                <a:spcPts val="0"/>
              </a:spcAft>
              <a:buNone/>
            </a:pPr>
            <a:r>
              <a:rPr b="0" i="0" lang="en-US" sz="5001" u="none" cap="none" strike="noStrike">
                <a:solidFill>
                  <a:srgbClr val="152540"/>
                </a:solidFill>
                <a:latin typeface="Arial"/>
                <a:ea typeface="Arial"/>
                <a:cs typeface="Arial"/>
                <a:sym typeface="Arial"/>
              </a:rPr>
              <a:t>QUE DESARROLLAREMOS</a:t>
            </a:r>
            <a:endParaRPr sz="100"/>
          </a:p>
        </p:txBody>
      </p:sp>
      <p:sp>
        <p:nvSpPr>
          <p:cNvPr id="125" name="Google Shape;125;p3"/>
          <p:cNvSpPr/>
          <p:nvPr/>
        </p:nvSpPr>
        <p:spPr>
          <a:xfrm rot="-1739179">
            <a:off x="3507390" y="2018898"/>
            <a:ext cx="1543738" cy="1406205"/>
          </a:xfrm>
          <a:custGeom>
            <a:rect b="b" l="l" r="r" t="t"/>
            <a:pathLst>
              <a:path extrusionOk="0" h="1406205" w="1543738">
                <a:moveTo>
                  <a:pt x="0" y="0"/>
                </a:moveTo>
                <a:lnTo>
                  <a:pt x="1543737" y="0"/>
                </a:lnTo>
                <a:lnTo>
                  <a:pt x="1543737" y="1406204"/>
                </a:lnTo>
                <a:lnTo>
                  <a:pt x="0" y="1406204"/>
                </a:lnTo>
                <a:lnTo>
                  <a:pt x="0" y="0"/>
                </a:lnTo>
                <a:close/>
              </a:path>
            </a:pathLst>
          </a:custGeom>
          <a:blipFill rotWithShape="1">
            <a:blip r:embed="rId8">
              <a:alphaModFix/>
            </a:blip>
            <a:stretch>
              <a:fillRect b="0" l="0" r="0" t="0"/>
            </a:stretch>
          </a:blipFill>
          <a:ln>
            <a:noFill/>
          </a:ln>
        </p:spPr>
      </p:sp>
      <p:sp>
        <p:nvSpPr>
          <p:cNvPr id="126" name="Google Shape;126;p3"/>
          <p:cNvSpPr/>
          <p:nvPr/>
        </p:nvSpPr>
        <p:spPr>
          <a:xfrm rot="9024564">
            <a:off x="13404327" y="2689148"/>
            <a:ext cx="1485172" cy="1352856"/>
          </a:xfrm>
          <a:custGeom>
            <a:rect b="b" l="l" r="r" t="t"/>
            <a:pathLst>
              <a:path extrusionOk="0" h="1352856" w="1485172">
                <a:moveTo>
                  <a:pt x="0" y="0"/>
                </a:moveTo>
                <a:lnTo>
                  <a:pt x="1485172" y="0"/>
                </a:lnTo>
                <a:lnTo>
                  <a:pt x="1485172" y="1352856"/>
                </a:lnTo>
                <a:lnTo>
                  <a:pt x="0" y="1352856"/>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30" name="Shape 130"/>
        <p:cNvGrpSpPr/>
        <p:nvPr/>
      </p:nvGrpSpPr>
      <p:grpSpPr>
        <a:xfrm>
          <a:off x="0" y="0"/>
          <a:ext cx="0" cy="0"/>
          <a:chOff x="0" y="0"/>
          <a:chExt cx="0" cy="0"/>
        </a:xfrm>
      </p:grpSpPr>
      <p:sp>
        <p:nvSpPr>
          <p:cNvPr id="131" name="Google Shape;131;p4"/>
          <p:cNvSpPr/>
          <p:nvPr/>
        </p:nvSpPr>
        <p:spPr>
          <a:xfrm rot="6982806">
            <a:off x="720300" y="6421716"/>
            <a:ext cx="8842272" cy="11861584"/>
          </a:xfrm>
          <a:custGeom>
            <a:rect b="b" l="l" r="r" t="t"/>
            <a:pathLst>
              <a:path extrusionOk="0" h="11861584" w="8842272">
                <a:moveTo>
                  <a:pt x="0" y="0"/>
                </a:moveTo>
                <a:lnTo>
                  <a:pt x="8842272" y="0"/>
                </a:lnTo>
                <a:lnTo>
                  <a:pt x="8842272" y="11861584"/>
                </a:lnTo>
                <a:lnTo>
                  <a:pt x="0" y="11861584"/>
                </a:lnTo>
                <a:lnTo>
                  <a:pt x="0" y="0"/>
                </a:lnTo>
                <a:close/>
              </a:path>
            </a:pathLst>
          </a:custGeom>
          <a:blipFill rotWithShape="1">
            <a:blip r:embed="rId3">
              <a:alphaModFix amt="65999"/>
            </a:blip>
            <a:stretch>
              <a:fillRect b="0" l="0" r="0" t="0"/>
            </a:stretch>
          </a:blipFill>
          <a:ln>
            <a:noFill/>
          </a:ln>
        </p:spPr>
      </p:sp>
      <p:sp>
        <p:nvSpPr>
          <p:cNvPr id="132" name="Google Shape;132;p4"/>
          <p:cNvSpPr/>
          <p:nvPr/>
        </p:nvSpPr>
        <p:spPr>
          <a:xfrm rot="-6501204">
            <a:off x="11046831" y="-5088864"/>
            <a:ext cx="8807178" cy="11814508"/>
          </a:xfrm>
          <a:custGeom>
            <a:rect b="b" l="l" r="r" t="t"/>
            <a:pathLst>
              <a:path extrusionOk="0" h="11814508" w="8807178">
                <a:moveTo>
                  <a:pt x="0" y="0"/>
                </a:moveTo>
                <a:lnTo>
                  <a:pt x="8807178" y="0"/>
                </a:lnTo>
                <a:lnTo>
                  <a:pt x="8807178" y="11814507"/>
                </a:lnTo>
                <a:lnTo>
                  <a:pt x="0" y="11814507"/>
                </a:lnTo>
                <a:lnTo>
                  <a:pt x="0" y="0"/>
                </a:lnTo>
                <a:close/>
              </a:path>
            </a:pathLst>
          </a:custGeom>
          <a:blipFill rotWithShape="1">
            <a:blip r:embed="rId3">
              <a:alphaModFix amt="65999"/>
            </a:blip>
            <a:stretch>
              <a:fillRect b="0" l="0" r="0" t="0"/>
            </a:stretch>
          </a:blipFill>
          <a:ln>
            <a:noFill/>
          </a:ln>
        </p:spPr>
      </p:sp>
      <p:sp>
        <p:nvSpPr>
          <p:cNvPr id="133" name="Google Shape;133;p4"/>
          <p:cNvSpPr/>
          <p:nvPr/>
        </p:nvSpPr>
        <p:spPr>
          <a:xfrm rot="10571821">
            <a:off x="10628437" y="8363453"/>
            <a:ext cx="5947318" cy="7978109"/>
          </a:xfrm>
          <a:custGeom>
            <a:rect b="b" l="l" r="r" t="t"/>
            <a:pathLst>
              <a:path extrusionOk="0" h="7978109" w="5947318">
                <a:moveTo>
                  <a:pt x="0" y="0"/>
                </a:moveTo>
                <a:lnTo>
                  <a:pt x="5947318" y="0"/>
                </a:lnTo>
                <a:lnTo>
                  <a:pt x="5947318" y="7978110"/>
                </a:lnTo>
                <a:lnTo>
                  <a:pt x="0" y="7978110"/>
                </a:lnTo>
                <a:lnTo>
                  <a:pt x="0" y="0"/>
                </a:lnTo>
                <a:close/>
              </a:path>
            </a:pathLst>
          </a:custGeom>
          <a:blipFill rotWithShape="1">
            <a:blip r:embed="rId3">
              <a:alphaModFix/>
            </a:blip>
            <a:stretch>
              <a:fillRect b="0" l="0" r="0" t="0"/>
            </a:stretch>
          </a:blipFill>
          <a:ln>
            <a:noFill/>
          </a:ln>
        </p:spPr>
      </p:sp>
      <p:sp>
        <p:nvSpPr>
          <p:cNvPr id="134" name="Google Shape;134;p4"/>
          <p:cNvSpPr/>
          <p:nvPr/>
        </p:nvSpPr>
        <p:spPr>
          <a:xfrm rot="-5114765">
            <a:off x="11561828" y="5146485"/>
            <a:ext cx="8542938" cy="7393525"/>
          </a:xfrm>
          <a:custGeom>
            <a:rect b="b" l="l" r="r" t="t"/>
            <a:pathLst>
              <a:path extrusionOk="0" h="7393525" w="8542938">
                <a:moveTo>
                  <a:pt x="0" y="0"/>
                </a:moveTo>
                <a:lnTo>
                  <a:pt x="8542938" y="0"/>
                </a:lnTo>
                <a:lnTo>
                  <a:pt x="8542938" y="7393525"/>
                </a:lnTo>
                <a:lnTo>
                  <a:pt x="0" y="7393525"/>
                </a:lnTo>
                <a:lnTo>
                  <a:pt x="0" y="0"/>
                </a:lnTo>
                <a:close/>
              </a:path>
            </a:pathLst>
          </a:custGeom>
          <a:blipFill rotWithShape="1">
            <a:blip r:embed="rId4">
              <a:alphaModFix/>
            </a:blip>
            <a:stretch>
              <a:fillRect b="0" l="0" r="0" t="0"/>
            </a:stretch>
          </a:blipFill>
          <a:ln>
            <a:noFill/>
          </a:ln>
        </p:spPr>
      </p:sp>
      <p:sp>
        <p:nvSpPr>
          <p:cNvPr id="135" name="Google Shape;135;p4"/>
          <p:cNvSpPr/>
          <p:nvPr/>
        </p:nvSpPr>
        <p:spPr>
          <a:xfrm rot="-5058328">
            <a:off x="13255544" y="-4131370"/>
            <a:ext cx="7156478" cy="6935278"/>
          </a:xfrm>
          <a:custGeom>
            <a:rect b="b" l="l" r="r" t="t"/>
            <a:pathLst>
              <a:path extrusionOk="0" h="6935278" w="7156478">
                <a:moveTo>
                  <a:pt x="0" y="0"/>
                </a:moveTo>
                <a:lnTo>
                  <a:pt x="7156479" y="0"/>
                </a:lnTo>
                <a:lnTo>
                  <a:pt x="7156479" y="6935279"/>
                </a:lnTo>
                <a:lnTo>
                  <a:pt x="0" y="6935279"/>
                </a:lnTo>
                <a:lnTo>
                  <a:pt x="0" y="0"/>
                </a:lnTo>
                <a:close/>
              </a:path>
            </a:pathLst>
          </a:custGeom>
          <a:blipFill rotWithShape="1">
            <a:blip r:embed="rId5">
              <a:alphaModFix/>
            </a:blip>
            <a:stretch>
              <a:fillRect b="0" l="0" r="0" t="0"/>
            </a:stretch>
          </a:blipFill>
          <a:ln>
            <a:noFill/>
          </a:ln>
        </p:spPr>
      </p:sp>
      <p:sp>
        <p:nvSpPr>
          <p:cNvPr id="136" name="Google Shape;136;p4"/>
          <p:cNvSpPr/>
          <p:nvPr/>
        </p:nvSpPr>
        <p:spPr>
          <a:xfrm rot="3318101">
            <a:off x="-3880130" y="6803731"/>
            <a:ext cx="10117864" cy="10062676"/>
          </a:xfrm>
          <a:custGeom>
            <a:rect b="b" l="l" r="r" t="t"/>
            <a:pathLst>
              <a:path extrusionOk="0" h="10062676" w="10117864">
                <a:moveTo>
                  <a:pt x="0" y="0"/>
                </a:moveTo>
                <a:lnTo>
                  <a:pt x="10117864" y="0"/>
                </a:lnTo>
                <a:lnTo>
                  <a:pt x="10117864" y="10062675"/>
                </a:lnTo>
                <a:lnTo>
                  <a:pt x="0" y="10062675"/>
                </a:lnTo>
                <a:lnTo>
                  <a:pt x="0" y="0"/>
                </a:lnTo>
                <a:close/>
              </a:path>
            </a:pathLst>
          </a:custGeom>
          <a:blipFill rotWithShape="1">
            <a:blip r:embed="rId6">
              <a:alphaModFix/>
            </a:blip>
            <a:stretch>
              <a:fillRect b="0" l="0" r="0" t="0"/>
            </a:stretch>
          </a:blipFill>
          <a:ln>
            <a:noFill/>
          </a:ln>
        </p:spPr>
      </p:sp>
      <p:sp>
        <p:nvSpPr>
          <p:cNvPr id="137" name="Google Shape;137;p4"/>
          <p:cNvSpPr/>
          <p:nvPr/>
        </p:nvSpPr>
        <p:spPr>
          <a:xfrm rot="6800871">
            <a:off x="-1846725" y="-2878373"/>
            <a:ext cx="8542938" cy="7393525"/>
          </a:xfrm>
          <a:custGeom>
            <a:rect b="b" l="l" r="r" t="t"/>
            <a:pathLst>
              <a:path extrusionOk="0" h="7393525" w="8542938">
                <a:moveTo>
                  <a:pt x="0" y="0"/>
                </a:moveTo>
                <a:lnTo>
                  <a:pt x="8542938" y="0"/>
                </a:lnTo>
                <a:lnTo>
                  <a:pt x="8542938" y="7393525"/>
                </a:lnTo>
                <a:lnTo>
                  <a:pt x="0" y="7393525"/>
                </a:lnTo>
                <a:lnTo>
                  <a:pt x="0" y="0"/>
                </a:lnTo>
                <a:close/>
              </a:path>
            </a:pathLst>
          </a:custGeom>
          <a:blipFill rotWithShape="1">
            <a:blip r:embed="rId4">
              <a:alphaModFix/>
            </a:blip>
            <a:stretch>
              <a:fillRect b="0" l="0" r="0" t="0"/>
            </a:stretch>
          </a:blipFill>
          <a:ln>
            <a:noFill/>
          </a:ln>
        </p:spPr>
      </p:sp>
      <p:sp>
        <p:nvSpPr>
          <p:cNvPr id="138" name="Google Shape;138;p4"/>
          <p:cNvSpPr txBox="1"/>
          <p:nvPr/>
        </p:nvSpPr>
        <p:spPr>
          <a:xfrm>
            <a:off x="5141436" y="5727981"/>
            <a:ext cx="8005127" cy="1900317"/>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434" u="none" cap="none" strike="noStrike">
                <a:solidFill>
                  <a:srgbClr val="152540"/>
                </a:solidFill>
                <a:latin typeface="Arial"/>
                <a:ea typeface="Arial"/>
                <a:cs typeface="Arial"/>
                <a:sym typeface="Arial"/>
              </a:rPr>
              <a:t>de puerta de enlace (Default Gateway)</a:t>
            </a:r>
            <a:endParaRPr/>
          </a:p>
        </p:txBody>
      </p:sp>
      <p:sp>
        <p:nvSpPr>
          <p:cNvPr id="139" name="Google Shape;139;p4"/>
          <p:cNvSpPr txBox="1"/>
          <p:nvPr/>
        </p:nvSpPr>
        <p:spPr>
          <a:xfrm>
            <a:off x="2802575" y="3801352"/>
            <a:ext cx="12682850" cy="2040929"/>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b="1" i="0" lang="en-US" sz="11898" u="none" cap="none" strike="noStrike">
                <a:solidFill>
                  <a:srgbClr val="152540"/>
                </a:solidFill>
                <a:latin typeface="Arial"/>
                <a:ea typeface="Arial"/>
                <a:cs typeface="Arial"/>
                <a:sym typeface="Arial"/>
              </a:rPr>
              <a:t>REDUNDANCIA</a:t>
            </a:r>
            <a:endParaRPr/>
          </a:p>
        </p:txBody>
      </p:sp>
      <p:sp>
        <p:nvSpPr>
          <p:cNvPr id="140" name="Google Shape;140;p4"/>
          <p:cNvSpPr txBox="1"/>
          <p:nvPr/>
        </p:nvSpPr>
        <p:spPr>
          <a:xfrm>
            <a:off x="5372963" y="3117101"/>
            <a:ext cx="7542074" cy="1086593"/>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0" i="0" lang="en-US" sz="6345" u="none" cap="none" strike="noStrike">
                <a:solidFill>
                  <a:srgbClr val="152540"/>
                </a:solidFill>
                <a:latin typeface="Arial"/>
                <a:ea typeface="Arial"/>
                <a:cs typeface="Arial"/>
                <a:sym typeface="Arial"/>
              </a:rPr>
              <a:t>PROTOCOLOS 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44" name="Shape 144"/>
        <p:cNvGrpSpPr/>
        <p:nvPr/>
      </p:nvGrpSpPr>
      <p:grpSpPr>
        <a:xfrm>
          <a:off x="0" y="0"/>
          <a:ext cx="0" cy="0"/>
          <a:chOff x="0" y="0"/>
          <a:chExt cx="0" cy="0"/>
        </a:xfrm>
      </p:grpSpPr>
      <p:sp>
        <p:nvSpPr>
          <p:cNvPr id="145" name="Google Shape;145;p5"/>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sp>
      <p:sp>
        <p:nvSpPr>
          <p:cNvPr id="146" name="Google Shape;146;p5"/>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147" name="Google Shape;147;p5"/>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sp>
      <p:sp>
        <p:nvSpPr>
          <p:cNvPr id="148" name="Google Shape;148;p5"/>
          <p:cNvSpPr txBox="1"/>
          <p:nvPr/>
        </p:nvSpPr>
        <p:spPr>
          <a:xfrm>
            <a:off x="1904222" y="1615133"/>
            <a:ext cx="13759362" cy="966389"/>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5686" u="none" cap="none" strike="noStrike">
                <a:solidFill>
                  <a:srgbClr val="152540"/>
                </a:solidFill>
                <a:latin typeface="Arial"/>
                <a:ea typeface="Arial"/>
                <a:cs typeface="Arial"/>
                <a:sym typeface="Arial"/>
              </a:rPr>
              <a:t>PROTOCOLOS DE REDUNDANCIA</a:t>
            </a:r>
            <a:endParaRPr/>
          </a:p>
        </p:txBody>
      </p:sp>
      <p:sp>
        <p:nvSpPr>
          <p:cNvPr id="149" name="Google Shape;149;p5"/>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sp>
      <p:sp>
        <p:nvSpPr>
          <p:cNvPr id="150" name="Google Shape;150;p5"/>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sp>
      <p:sp>
        <p:nvSpPr>
          <p:cNvPr id="151" name="Google Shape;151;p5"/>
          <p:cNvSpPr txBox="1"/>
          <p:nvPr/>
        </p:nvSpPr>
        <p:spPr>
          <a:xfrm>
            <a:off x="1886691" y="4676437"/>
            <a:ext cx="14514619" cy="26004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En una red IP, los dispositivos finales (como computadoras y servidores) se comunican fuera de su red local a través de una </a:t>
            </a:r>
            <a:r>
              <a:rPr b="1" i="0" lang="en-US" sz="2994" u="none" cap="none" strike="noStrike">
                <a:solidFill>
                  <a:srgbClr val="152540"/>
                </a:solidFill>
                <a:latin typeface="Arial"/>
                <a:ea typeface="Arial"/>
                <a:cs typeface="Arial"/>
                <a:sym typeface="Arial"/>
              </a:rPr>
              <a:t>puerta de enlace predeterminada</a:t>
            </a:r>
            <a:r>
              <a:rPr b="0" i="0" lang="en-US" sz="2994" u="none" cap="none" strike="noStrike">
                <a:solidFill>
                  <a:srgbClr val="152540"/>
                </a:solidFill>
                <a:latin typeface="Arial"/>
                <a:ea typeface="Arial"/>
                <a:cs typeface="Arial"/>
                <a:sym typeface="Arial"/>
              </a:rPr>
              <a:t> (default gateway), que normalmente es un router. Si ese router falla, los dispositivos no pueden acceder a recursos externos, generando una interrupción en la conectividad.</a:t>
            </a:r>
            <a:endParaRPr/>
          </a:p>
        </p:txBody>
      </p:sp>
      <p:sp>
        <p:nvSpPr>
          <p:cNvPr id="152" name="Google Shape;152;p5"/>
          <p:cNvSpPr txBox="1"/>
          <p:nvPr/>
        </p:nvSpPr>
        <p:spPr>
          <a:xfrm>
            <a:off x="1904222" y="2444870"/>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7326" u="none" cap="none" strike="noStrike">
                <a:solidFill>
                  <a:srgbClr val="152540"/>
                </a:solidFill>
                <a:latin typeface="Arial"/>
                <a:ea typeface="Arial"/>
                <a:cs typeface="Arial"/>
                <a:sym typeface="Arial"/>
              </a:rPr>
              <a:t>DE PUERTA DE ENLACE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56" name="Shape 156"/>
        <p:cNvGrpSpPr/>
        <p:nvPr/>
      </p:nvGrpSpPr>
      <p:grpSpPr>
        <a:xfrm>
          <a:off x="0" y="0"/>
          <a:ext cx="0" cy="0"/>
          <a:chOff x="0" y="0"/>
          <a:chExt cx="0" cy="0"/>
        </a:xfrm>
      </p:grpSpPr>
      <p:sp>
        <p:nvSpPr>
          <p:cNvPr id="157" name="Google Shape;157;p6"/>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sp>
      <p:sp>
        <p:nvSpPr>
          <p:cNvPr id="158" name="Google Shape;158;p6"/>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159" name="Google Shape;159;p6"/>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sp>
      <p:sp>
        <p:nvSpPr>
          <p:cNvPr id="160" name="Google Shape;160;p6"/>
          <p:cNvSpPr txBox="1"/>
          <p:nvPr/>
        </p:nvSpPr>
        <p:spPr>
          <a:xfrm>
            <a:off x="1904222" y="1615133"/>
            <a:ext cx="13759362" cy="966389"/>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5686" u="none" cap="none" strike="noStrike">
                <a:solidFill>
                  <a:srgbClr val="152540"/>
                </a:solidFill>
                <a:latin typeface="Arial"/>
                <a:ea typeface="Arial"/>
                <a:cs typeface="Arial"/>
                <a:sym typeface="Arial"/>
              </a:rPr>
              <a:t>PROTOCOLOS DE REDUNDANCIA</a:t>
            </a:r>
            <a:endParaRPr/>
          </a:p>
        </p:txBody>
      </p:sp>
      <p:sp>
        <p:nvSpPr>
          <p:cNvPr id="161" name="Google Shape;161;p6"/>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sp>
      <p:sp>
        <p:nvSpPr>
          <p:cNvPr id="162" name="Google Shape;162;p6"/>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sp>
      <p:sp>
        <p:nvSpPr>
          <p:cNvPr id="163" name="Google Shape;163;p6"/>
          <p:cNvSpPr txBox="1"/>
          <p:nvPr/>
        </p:nvSpPr>
        <p:spPr>
          <a:xfrm>
            <a:off x="1886691" y="4676437"/>
            <a:ext cx="14514619" cy="207659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Para evitar este punto único de falla, se utilizan los protocolos de redundancia de puerta de enlace, que permiten que varios routers </a:t>
            </a:r>
            <a:r>
              <a:rPr b="1" i="0" lang="en-US" sz="2994" u="none" cap="none" strike="noStrike">
                <a:solidFill>
                  <a:srgbClr val="152540"/>
                </a:solidFill>
                <a:latin typeface="Arial"/>
                <a:ea typeface="Arial"/>
                <a:cs typeface="Arial"/>
                <a:sym typeface="Arial"/>
              </a:rPr>
              <a:t>trabajen juntos</a:t>
            </a:r>
            <a:r>
              <a:rPr b="0" i="0" lang="en-US" sz="2994" u="none" cap="none" strike="noStrike">
                <a:solidFill>
                  <a:srgbClr val="152540"/>
                </a:solidFill>
                <a:latin typeface="Arial"/>
                <a:ea typeface="Arial"/>
                <a:cs typeface="Arial"/>
                <a:sym typeface="Arial"/>
              </a:rPr>
              <a:t> </a:t>
            </a:r>
            <a:r>
              <a:rPr b="1" i="0" lang="en-US" sz="2994" u="none" cap="none" strike="noStrike">
                <a:solidFill>
                  <a:srgbClr val="152540"/>
                </a:solidFill>
                <a:latin typeface="Arial"/>
                <a:ea typeface="Arial"/>
                <a:cs typeface="Arial"/>
                <a:sym typeface="Arial"/>
              </a:rPr>
              <a:t>para ofrecer una sola puerta de enlace virtual</a:t>
            </a:r>
            <a:r>
              <a:rPr b="0" i="0" lang="en-US" sz="2994" u="none" cap="none" strike="noStrike">
                <a:solidFill>
                  <a:srgbClr val="152540"/>
                </a:solidFill>
                <a:latin typeface="Arial"/>
                <a:ea typeface="Arial"/>
                <a:cs typeface="Arial"/>
                <a:sym typeface="Arial"/>
              </a:rPr>
              <a:t>, garantizando alta disponibilidad y, en algunos casos, balanceo de carga.</a:t>
            </a:r>
            <a:endParaRPr/>
          </a:p>
        </p:txBody>
      </p:sp>
      <p:sp>
        <p:nvSpPr>
          <p:cNvPr id="164" name="Google Shape;164;p6"/>
          <p:cNvSpPr txBox="1"/>
          <p:nvPr/>
        </p:nvSpPr>
        <p:spPr>
          <a:xfrm>
            <a:off x="1904222" y="2444870"/>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7326" u="none" cap="none" strike="noStrike">
                <a:solidFill>
                  <a:srgbClr val="152540"/>
                </a:solidFill>
                <a:latin typeface="Arial"/>
                <a:ea typeface="Arial"/>
                <a:cs typeface="Arial"/>
                <a:sym typeface="Arial"/>
              </a:rPr>
              <a:t>DE PUERTA DE ENLACE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68" name="Shape 168"/>
        <p:cNvGrpSpPr/>
        <p:nvPr/>
      </p:nvGrpSpPr>
      <p:grpSpPr>
        <a:xfrm>
          <a:off x="0" y="0"/>
          <a:ext cx="0" cy="0"/>
          <a:chOff x="0" y="0"/>
          <a:chExt cx="0" cy="0"/>
        </a:xfrm>
      </p:grpSpPr>
      <p:sp>
        <p:nvSpPr>
          <p:cNvPr id="169" name="Google Shape;169;p7"/>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170" name="Google Shape;170;p7"/>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171" name="Google Shape;171;p7"/>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172" name="Google Shape;172;p7"/>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173" name="Google Shape;173;p7"/>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174" name="Google Shape;174;p7"/>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175" name="Google Shape;175;p7"/>
          <p:cNvSpPr txBox="1"/>
          <p:nvPr/>
        </p:nvSpPr>
        <p:spPr>
          <a:xfrm>
            <a:off x="1200136" y="1505697"/>
            <a:ext cx="13759362" cy="870929"/>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5086" u="none" cap="none" strike="noStrike">
                <a:solidFill>
                  <a:srgbClr val="152540"/>
                </a:solidFill>
                <a:latin typeface="Arial"/>
                <a:ea typeface="Arial"/>
                <a:cs typeface="Arial"/>
                <a:sym typeface="Arial"/>
              </a:rPr>
              <a:t>PROTOCOLOS DE REDUNDANCIA</a:t>
            </a:r>
            <a:endParaRPr/>
          </a:p>
        </p:txBody>
      </p:sp>
      <p:sp>
        <p:nvSpPr>
          <p:cNvPr id="176" name="Google Shape;176;p7"/>
          <p:cNvSpPr txBox="1"/>
          <p:nvPr/>
        </p:nvSpPr>
        <p:spPr>
          <a:xfrm>
            <a:off x="1200136" y="2364009"/>
            <a:ext cx="16407294"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DE PUERTA DE ENLACE PREDETERMINADA</a:t>
            </a:r>
            <a:endParaRPr/>
          </a:p>
        </p:txBody>
      </p:sp>
      <p:sp>
        <p:nvSpPr>
          <p:cNvPr id="177" name="Google Shape;177;p7"/>
          <p:cNvSpPr txBox="1"/>
          <p:nvPr/>
        </p:nvSpPr>
        <p:spPr>
          <a:xfrm>
            <a:off x="1200136" y="4032462"/>
            <a:ext cx="14514619" cy="31243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Los protocolos de redundancia de gateway predeterminado son utilizados en redes</a:t>
            </a:r>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de computadoras para garantizar la disponibilidad del gateway predeterminado en</a:t>
            </a:r>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caso de fallo de un router.</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Permiten que varios routers compartan una dirección IP virtual para proporcionar redundancia y alta disponibilidad en la red.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754"/>
        </a:solidFill>
      </p:bgPr>
    </p:bg>
    <p:spTree>
      <p:nvGrpSpPr>
        <p:cNvPr id="181" name="Shape 181"/>
        <p:cNvGrpSpPr/>
        <p:nvPr/>
      </p:nvGrpSpPr>
      <p:grpSpPr>
        <a:xfrm>
          <a:off x="0" y="0"/>
          <a:ext cx="0" cy="0"/>
          <a:chOff x="0" y="0"/>
          <a:chExt cx="0" cy="0"/>
        </a:xfrm>
      </p:grpSpPr>
      <p:grpSp>
        <p:nvGrpSpPr>
          <p:cNvPr id="182" name="Google Shape;182;p8"/>
          <p:cNvGrpSpPr/>
          <p:nvPr/>
        </p:nvGrpSpPr>
        <p:grpSpPr>
          <a:xfrm>
            <a:off x="1106950" y="6029875"/>
            <a:ext cx="5141041" cy="3076815"/>
            <a:chOff x="0" y="0"/>
            <a:chExt cx="812800" cy="406701"/>
          </a:xfrm>
        </p:grpSpPr>
        <p:sp>
          <p:nvSpPr>
            <p:cNvPr id="183" name="Google Shape;183;p8"/>
            <p:cNvSpPr/>
            <p:nvPr/>
          </p:nvSpPr>
          <p:spPr>
            <a:xfrm>
              <a:off x="0" y="0"/>
              <a:ext cx="812800" cy="406701"/>
            </a:xfrm>
            <a:custGeom>
              <a:rect b="b" l="l" r="r" t="t"/>
              <a:pathLst>
                <a:path extrusionOk="0" h="406701" w="812800">
                  <a:moveTo>
                    <a:pt x="39153" y="0"/>
                  </a:moveTo>
                  <a:lnTo>
                    <a:pt x="773647" y="0"/>
                  </a:lnTo>
                  <a:cubicBezTo>
                    <a:pt x="784031" y="0"/>
                    <a:pt x="793990" y="4125"/>
                    <a:pt x="801332" y="11468"/>
                  </a:cubicBezTo>
                  <a:cubicBezTo>
                    <a:pt x="808675" y="18810"/>
                    <a:pt x="812800" y="28769"/>
                    <a:pt x="812800" y="39153"/>
                  </a:cubicBezTo>
                  <a:lnTo>
                    <a:pt x="812800" y="367548"/>
                  </a:lnTo>
                  <a:cubicBezTo>
                    <a:pt x="812800" y="377932"/>
                    <a:pt x="808675" y="387891"/>
                    <a:pt x="801332" y="395233"/>
                  </a:cubicBezTo>
                  <a:cubicBezTo>
                    <a:pt x="793990" y="402576"/>
                    <a:pt x="784031" y="406701"/>
                    <a:pt x="773647" y="406701"/>
                  </a:cubicBezTo>
                  <a:lnTo>
                    <a:pt x="39153" y="406701"/>
                  </a:lnTo>
                  <a:cubicBezTo>
                    <a:pt x="17530" y="406701"/>
                    <a:pt x="0" y="389172"/>
                    <a:pt x="0" y="367548"/>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txBox="1"/>
            <p:nvPr/>
          </p:nvSpPr>
          <p:spPr>
            <a:xfrm>
              <a:off x="0" y="9525"/>
              <a:ext cx="812800" cy="397176"/>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8"/>
          <p:cNvGrpSpPr/>
          <p:nvPr/>
        </p:nvGrpSpPr>
        <p:grpSpPr>
          <a:xfrm>
            <a:off x="6575100" y="6029874"/>
            <a:ext cx="5141041" cy="3076815"/>
            <a:chOff x="0" y="0"/>
            <a:chExt cx="812800" cy="406701"/>
          </a:xfrm>
        </p:grpSpPr>
        <p:sp>
          <p:nvSpPr>
            <p:cNvPr id="186" name="Google Shape;186;p8"/>
            <p:cNvSpPr/>
            <p:nvPr/>
          </p:nvSpPr>
          <p:spPr>
            <a:xfrm>
              <a:off x="0" y="0"/>
              <a:ext cx="812800" cy="406701"/>
            </a:xfrm>
            <a:custGeom>
              <a:rect b="b" l="l" r="r" t="t"/>
              <a:pathLst>
                <a:path extrusionOk="0" h="406701" w="812800">
                  <a:moveTo>
                    <a:pt x="39153" y="0"/>
                  </a:moveTo>
                  <a:lnTo>
                    <a:pt x="773647" y="0"/>
                  </a:lnTo>
                  <a:cubicBezTo>
                    <a:pt x="784031" y="0"/>
                    <a:pt x="793990" y="4125"/>
                    <a:pt x="801332" y="11468"/>
                  </a:cubicBezTo>
                  <a:cubicBezTo>
                    <a:pt x="808675" y="18810"/>
                    <a:pt x="812800" y="28769"/>
                    <a:pt x="812800" y="39153"/>
                  </a:cubicBezTo>
                  <a:lnTo>
                    <a:pt x="812800" y="367548"/>
                  </a:lnTo>
                  <a:cubicBezTo>
                    <a:pt x="812800" y="377932"/>
                    <a:pt x="808675" y="387891"/>
                    <a:pt x="801332" y="395233"/>
                  </a:cubicBezTo>
                  <a:cubicBezTo>
                    <a:pt x="793990" y="402576"/>
                    <a:pt x="784031" y="406701"/>
                    <a:pt x="773647" y="406701"/>
                  </a:cubicBezTo>
                  <a:lnTo>
                    <a:pt x="39153" y="406701"/>
                  </a:lnTo>
                  <a:cubicBezTo>
                    <a:pt x="17530" y="406701"/>
                    <a:pt x="0" y="389172"/>
                    <a:pt x="0" y="367548"/>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txBox="1"/>
            <p:nvPr/>
          </p:nvSpPr>
          <p:spPr>
            <a:xfrm>
              <a:off x="0" y="9525"/>
              <a:ext cx="812800" cy="397176"/>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8" name="Google Shape;188;p8"/>
          <p:cNvGrpSpPr/>
          <p:nvPr/>
        </p:nvGrpSpPr>
        <p:grpSpPr>
          <a:xfrm>
            <a:off x="12040000" y="6029874"/>
            <a:ext cx="5141041" cy="3076815"/>
            <a:chOff x="0" y="0"/>
            <a:chExt cx="812800" cy="406701"/>
          </a:xfrm>
        </p:grpSpPr>
        <p:sp>
          <p:nvSpPr>
            <p:cNvPr id="189" name="Google Shape;189;p8"/>
            <p:cNvSpPr/>
            <p:nvPr/>
          </p:nvSpPr>
          <p:spPr>
            <a:xfrm>
              <a:off x="0" y="0"/>
              <a:ext cx="812800" cy="406701"/>
            </a:xfrm>
            <a:custGeom>
              <a:rect b="b" l="l" r="r" t="t"/>
              <a:pathLst>
                <a:path extrusionOk="0" h="406701" w="812800">
                  <a:moveTo>
                    <a:pt x="39153" y="0"/>
                  </a:moveTo>
                  <a:lnTo>
                    <a:pt x="773647" y="0"/>
                  </a:lnTo>
                  <a:cubicBezTo>
                    <a:pt x="784031" y="0"/>
                    <a:pt x="793990" y="4125"/>
                    <a:pt x="801332" y="11468"/>
                  </a:cubicBezTo>
                  <a:cubicBezTo>
                    <a:pt x="808675" y="18810"/>
                    <a:pt x="812800" y="28769"/>
                    <a:pt x="812800" y="39153"/>
                  </a:cubicBezTo>
                  <a:lnTo>
                    <a:pt x="812800" y="367548"/>
                  </a:lnTo>
                  <a:cubicBezTo>
                    <a:pt x="812800" y="377932"/>
                    <a:pt x="808675" y="387891"/>
                    <a:pt x="801332" y="395233"/>
                  </a:cubicBezTo>
                  <a:cubicBezTo>
                    <a:pt x="793990" y="402576"/>
                    <a:pt x="784031" y="406701"/>
                    <a:pt x="773647" y="406701"/>
                  </a:cubicBezTo>
                  <a:lnTo>
                    <a:pt x="39153" y="406701"/>
                  </a:lnTo>
                  <a:cubicBezTo>
                    <a:pt x="17530" y="406701"/>
                    <a:pt x="0" y="389172"/>
                    <a:pt x="0" y="367548"/>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txBox="1"/>
            <p:nvPr/>
          </p:nvSpPr>
          <p:spPr>
            <a:xfrm>
              <a:off x="0" y="9525"/>
              <a:ext cx="812800" cy="397176"/>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1" name="Google Shape;191;p8"/>
          <p:cNvSpPr txBox="1"/>
          <p:nvPr/>
        </p:nvSpPr>
        <p:spPr>
          <a:xfrm>
            <a:off x="1485110" y="6616108"/>
            <a:ext cx="4384724" cy="135929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859" u="none" cap="none" strike="noStrike">
                <a:solidFill>
                  <a:srgbClr val="253754"/>
                </a:solidFill>
                <a:latin typeface="Arial"/>
                <a:ea typeface="Arial"/>
                <a:cs typeface="Arial"/>
                <a:sym typeface="Arial"/>
              </a:rPr>
              <a:t>HSRP (Hot Standby Router Protocol)</a:t>
            </a:r>
            <a:endParaRPr/>
          </a:p>
        </p:txBody>
      </p:sp>
      <p:sp>
        <p:nvSpPr>
          <p:cNvPr id="192" name="Google Shape;192;p8"/>
          <p:cNvSpPr txBox="1"/>
          <p:nvPr/>
        </p:nvSpPr>
        <p:spPr>
          <a:xfrm>
            <a:off x="6611982" y="6616108"/>
            <a:ext cx="5104171" cy="135929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859" u="none" cap="none" strike="noStrike">
                <a:solidFill>
                  <a:srgbClr val="253754"/>
                </a:solidFill>
                <a:latin typeface="Arial"/>
                <a:ea typeface="Arial"/>
                <a:cs typeface="Arial"/>
                <a:sym typeface="Arial"/>
              </a:rPr>
              <a:t>VRRP (Virtual Router Redundancy Protocol)</a:t>
            </a:r>
            <a:endParaRPr/>
          </a:p>
        </p:txBody>
      </p:sp>
      <p:sp>
        <p:nvSpPr>
          <p:cNvPr id="193" name="Google Shape;193;p8"/>
          <p:cNvSpPr txBox="1"/>
          <p:nvPr/>
        </p:nvSpPr>
        <p:spPr>
          <a:xfrm>
            <a:off x="2673248" y="4558596"/>
            <a:ext cx="2008447" cy="198365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b="1" i="0" lang="en-US" sz="11528" u="none" cap="none" strike="noStrike">
                <a:solidFill>
                  <a:srgbClr val="D89C6C"/>
                </a:solidFill>
                <a:latin typeface="Arial"/>
                <a:ea typeface="Arial"/>
                <a:cs typeface="Arial"/>
                <a:sym typeface="Arial"/>
              </a:rPr>
              <a:t>01</a:t>
            </a:r>
            <a:endParaRPr/>
          </a:p>
        </p:txBody>
      </p:sp>
      <p:sp>
        <p:nvSpPr>
          <p:cNvPr id="194" name="Google Shape;194;p8"/>
          <p:cNvSpPr txBox="1"/>
          <p:nvPr/>
        </p:nvSpPr>
        <p:spPr>
          <a:xfrm>
            <a:off x="8139777" y="4558596"/>
            <a:ext cx="2008447" cy="198365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b="1" i="0" lang="en-US" sz="11528" u="none" cap="none" strike="noStrike">
                <a:solidFill>
                  <a:srgbClr val="D89C6C"/>
                </a:solidFill>
                <a:latin typeface="Arial"/>
                <a:ea typeface="Arial"/>
                <a:cs typeface="Arial"/>
                <a:sym typeface="Arial"/>
              </a:rPr>
              <a:t>02</a:t>
            </a:r>
            <a:endParaRPr/>
          </a:p>
        </p:txBody>
      </p:sp>
      <p:sp>
        <p:nvSpPr>
          <p:cNvPr id="195" name="Google Shape;195;p8"/>
          <p:cNvSpPr txBox="1"/>
          <p:nvPr/>
        </p:nvSpPr>
        <p:spPr>
          <a:xfrm>
            <a:off x="13611628" y="4558596"/>
            <a:ext cx="2008447" cy="198365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b="1" i="0" lang="en-US" sz="11528" u="none" cap="none" strike="noStrike">
                <a:solidFill>
                  <a:srgbClr val="D89C6C"/>
                </a:solidFill>
                <a:latin typeface="Arial"/>
                <a:ea typeface="Arial"/>
                <a:cs typeface="Arial"/>
                <a:sym typeface="Arial"/>
              </a:rPr>
              <a:t>03</a:t>
            </a:r>
            <a:endParaRPr/>
          </a:p>
        </p:txBody>
      </p:sp>
      <p:cxnSp>
        <p:nvCxnSpPr>
          <p:cNvPr id="196" name="Google Shape;196;p8"/>
          <p:cNvCxnSpPr/>
          <p:nvPr/>
        </p:nvCxnSpPr>
        <p:spPr>
          <a:xfrm>
            <a:off x="1311213" y="8170363"/>
            <a:ext cx="4732518" cy="0"/>
          </a:xfrm>
          <a:prstGeom prst="straightConnector1">
            <a:avLst/>
          </a:prstGeom>
          <a:noFill/>
          <a:ln cap="flat" cmpd="sng" w="38100">
            <a:solidFill>
              <a:srgbClr val="253754"/>
            </a:solidFill>
            <a:prstDash val="solid"/>
            <a:round/>
            <a:headEnd len="sm" w="sm" type="none"/>
            <a:tailEnd len="sm" w="sm" type="none"/>
          </a:ln>
        </p:spPr>
      </p:cxnSp>
      <p:cxnSp>
        <p:nvCxnSpPr>
          <p:cNvPr id="197" name="Google Shape;197;p8"/>
          <p:cNvCxnSpPr/>
          <p:nvPr/>
        </p:nvCxnSpPr>
        <p:spPr>
          <a:xfrm>
            <a:off x="6779369" y="8170363"/>
            <a:ext cx="4732518" cy="0"/>
          </a:xfrm>
          <a:prstGeom prst="straightConnector1">
            <a:avLst/>
          </a:prstGeom>
          <a:noFill/>
          <a:ln cap="flat" cmpd="sng" w="38100">
            <a:solidFill>
              <a:srgbClr val="253754"/>
            </a:solidFill>
            <a:prstDash val="solid"/>
            <a:round/>
            <a:headEnd len="sm" w="sm" type="none"/>
            <a:tailEnd len="sm" w="sm" type="none"/>
          </a:ln>
        </p:spPr>
      </p:cxnSp>
      <p:cxnSp>
        <p:nvCxnSpPr>
          <p:cNvPr id="198" name="Google Shape;198;p8"/>
          <p:cNvCxnSpPr/>
          <p:nvPr/>
        </p:nvCxnSpPr>
        <p:spPr>
          <a:xfrm>
            <a:off x="12244269" y="8170363"/>
            <a:ext cx="4732518" cy="0"/>
          </a:xfrm>
          <a:prstGeom prst="straightConnector1">
            <a:avLst/>
          </a:prstGeom>
          <a:noFill/>
          <a:ln cap="flat" cmpd="sng" w="38100">
            <a:solidFill>
              <a:srgbClr val="253754"/>
            </a:solidFill>
            <a:prstDash val="solid"/>
            <a:round/>
            <a:headEnd len="sm" w="sm" type="none"/>
            <a:tailEnd len="sm" w="sm" type="none"/>
          </a:ln>
        </p:spPr>
      </p:cxnSp>
      <p:sp>
        <p:nvSpPr>
          <p:cNvPr id="199" name="Google Shape;199;p8"/>
          <p:cNvSpPr/>
          <p:nvPr/>
        </p:nvSpPr>
        <p:spPr>
          <a:xfrm>
            <a:off x="16321534" y="-285545"/>
            <a:ext cx="1966466" cy="1884231"/>
          </a:xfrm>
          <a:custGeom>
            <a:rect b="b" l="l" r="r" t="t"/>
            <a:pathLst>
              <a:path extrusionOk="0" h="1884231" w="1966466">
                <a:moveTo>
                  <a:pt x="0" y="0"/>
                </a:moveTo>
                <a:lnTo>
                  <a:pt x="1966466" y="0"/>
                </a:lnTo>
                <a:lnTo>
                  <a:pt x="1966466" y="1884232"/>
                </a:lnTo>
                <a:lnTo>
                  <a:pt x="0" y="1884232"/>
                </a:lnTo>
                <a:lnTo>
                  <a:pt x="0" y="0"/>
                </a:lnTo>
                <a:close/>
              </a:path>
            </a:pathLst>
          </a:custGeom>
          <a:blipFill rotWithShape="1">
            <a:blip r:embed="rId3">
              <a:alphaModFix/>
            </a:blip>
            <a:stretch>
              <a:fillRect b="0" l="0" r="0" t="0"/>
            </a:stretch>
          </a:blipFill>
          <a:ln>
            <a:noFill/>
          </a:ln>
        </p:spPr>
      </p:sp>
      <p:sp>
        <p:nvSpPr>
          <p:cNvPr id="200" name="Google Shape;200;p8"/>
          <p:cNvSpPr/>
          <p:nvPr/>
        </p:nvSpPr>
        <p:spPr>
          <a:xfrm>
            <a:off x="17304767" y="854768"/>
            <a:ext cx="1966466" cy="1884231"/>
          </a:xfrm>
          <a:custGeom>
            <a:rect b="b" l="l" r="r" t="t"/>
            <a:pathLst>
              <a:path extrusionOk="0" h="1884231" w="1966466">
                <a:moveTo>
                  <a:pt x="0" y="0"/>
                </a:moveTo>
                <a:lnTo>
                  <a:pt x="1966466" y="0"/>
                </a:lnTo>
                <a:lnTo>
                  <a:pt x="1966466" y="1884232"/>
                </a:lnTo>
                <a:lnTo>
                  <a:pt x="0" y="1884232"/>
                </a:lnTo>
                <a:lnTo>
                  <a:pt x="0" y="0"/>
                </a:lnTo>
                <a:close/>
              </a:path>
            </a:pathLst>
          </a:custGeom>
          <a:blipFill rotWithShape="1">
            <a:blip r:embed="rId3">
              <a:alphaModFix/>
            </a:blip>
            <a:stretch>
              <a:fillRect b="0" l="0" r="0" t="0"/>
            </a:stretch>
          </a:blipFill>
          <a:ln>
            <a:noFill/>
          </a:ln>
        </p:spPr>
      </p:sp>
      <p:sp>
        <p:nvSpPr>
          <p:cNvPr id="201" name="Google Shape;201;p8"/>
          <p:cNvSpPr/>
          <p:nvPr/>
        </p:nvSpPr>
        <p:spPr>
          <a:xfrm>
            <a:off x="0" y="9258300"/>
            <a:ext cx="1966466" cy="1884231"/>
          </a:xfrm>
          <a:custGeom>
            <a:rect b="b" l="l" r="r" t="t"/>
            <a:pathLst>
              <a:path extrusionOk="0" h="1884231" w="1966466">
                <a:moveTo>
                  <a:pt x="0" y="0"/>
                </a:moveTo>
                <a:lnTo>
                  <a:pt x="1966466" y="0"/>
                </a:lnTo>
                <a:lnTo>
                  <a:pt x="1966466" y="1884231"/>
                </a:lnTo>
                <a:lnTo>
                  <a:pt x="0" y="1884231"/>
                </a:lnTo>
                <a:lnTo>
                  <a:pt x="0" y="0"/>
                </a:lnTo>
                <a:close/>
              </a:path>
            </a:pathLst>
          </a:custGeom>
          <a:blipFill rotWithShape="1">
            <a:blip r:embed="rId3">
              <a:alphaModFix/>
            </a:blip>
            <a:stretch>
              <a:fillRect b="0" l="0" r="0" t="0"/>
            </a:stretch>
          </a:blipFill>
          <a:ln>
            <a:noFill/>
          </a:ln>
        </p:spPr>
      </p:sp>
      <p:sp>
        <p:nvSpPr>
          <p:cNvPr id="202" name="Google Shape;202;p8"/>
          <p:cNvSpPr/>
          <p:nvPr/>
        </p:nvSpPr>
        <p:spPr>
          <a:xfrm>
            <a:off x="-937766" y="8402769"/>
            <a:ext cx="1966466" cy="1884231"/>
          </a:xfrm>
          <a:custGeom>
            <a:rect b="b" l="l" r="r" t="t"/>
            <a:pathLst>
              <a:path extrusionOk="0" h="1884231" w="1966466">
                <a:moveTo>
                  <a:pt x="0" y="0"/>
                </a:moveTo>
                <a:lnTo>
                  <a:pt x="1966466" y="0"/>
                </a:lnTo>
                <a:lnTo>
                  <a:pt x="1966466" y="1884231"/>
                </a:lnTo>
                <a:lnTo>
                  <a:pt x="0" y="1884231"/>
                </a:lnTo>
                <a:lnTo>
                  <a:pt x="0" y="0"/>
                </a:lnTo>
                <a:close/>
              </a:path>
            </a:pathLst>
          </a:custGeom>
          <a:blipFill rotWithShape="1">
            <a:blip r:embed="rId3">
              <a:alphaModFix/>
            </a:blip>
            <a:stretch>
              <a:fillRect b="0" l="0" r="0" t="0"/>
            </a:stretch>
          </a:blipFill>
          <a:ln>
            <a:noFill/>
          </a:ln>
        </p:spPr>
      </p:sp>
      <p:sp>
        <p:nvSpPr>
          <p:cNvPr id="203" name="Google Shape;203;p8"/>
          <p:cNvSpPr/>
          <p:nvPr/>
        </p:nvSpPr>
        <p:spPr>
          <a:xfrm rot="672866">
            <a:off x="-1045588" y="-1783519"/>
            <a:ext cx="6556116" cy="6126988"/>
          </a:xfrm>
          <a:custGeom>
            <a:rect b="b" l="l" r="r" t="t"/>
            <a:pathLst>
              <a:path extrusionOk="0" h="6126988" w="6556116">
                <a:moveTo>
                  <a:pt x="0" y="0"/>
                </a:moveTo>
                <a:lnTo>
                  <a:pt x="6556116" y="0"/>
                </a:lnTo>
                <a:lnTo>
                  <a:pt x="6556116" y="6126988"/>
                </a:lnTo>
                <a:lnTo>
                  <a:pt x="0" y="6126988"/>
                </a:lnTo>
                <a:lnTo>
                  <a:pt x="0" y="0"/>
                </a:lnTo>
                <a:close/>
              </a:path>
            </a:pathLst>
          </a:custGeom>
          <a:blipFill rotWithShape="1">
            <a:blip r:embed="rId4">
              <a:alphaModFix/>
            </a:blip>
            <a:stretch>
              <a:fillRect b="0" l="0" r="0" t="0"/>
            </a:stretch>
          </a:blipFill>
          <a:ln>
            <a:noFill/>
          </a:ln>
        </p:spPr>
      </p:sp>
      <p:sp>
        <p:nvSpPr>
          <p:cNvPr id="204" name="Google Shape;204;p8"/>
          <p:cNvSpPr/>
          <p:nvPr/>
        </p:nvSpPr>
        <p:spPr>
          <a:xfrm rot="-10799999">
            <a:off x="12715117" y="7583041"/>
            <a:ext cx="6556116" cy="6126988"/>
          </a:xfrm>
          <a:custGeom>
            <a:rect b="b" l="l" r="r" t="t"/>
            <a:pathLst>
              <a:path extrusionOk="0" h="6126988" w="6556116">
                <a:moveTo>
                  <a:pt x="0" y="0"/>
                </a:moveTo>
                <a:lnTo>
                  <a:pt x="6556116" y="0"/>
                </a:lnTo>
                <a:lnTo>
                  <a:pt x="6556116" y="6126988"/>
                </a:lnTo>
                <a:lnTo>
                  <a:pt x="0" y="6126988"/>
                </a:lnTo>
                <a:lnTo>
                  <a:pt x="0" y="0"/>
                </a:lnTo>
                <a:close/>
              </a:path>
            </a:pathLst>
          </a:custGeom>
          <a:blipFill rotWithShape="1">
            <a:blip r:embed="rId4">
              <a:alphaModFix/>
            </a:blip>
            <a:stretch>
              <a:fillRect b="0" l="0" r="0" t="0"/>
            </a:stretch>
          </a:blipFill>
          <a:ln>
            <a:noFill/>
          </a:ln>
        </p:spPr>
      </p:sp>
      <p:sp>
        <p:nvSpPr>
          <p:cNvPr id="205" name="Google Shape;205;p8"/>
          <p:cNvSpPr txBox="1"/>
          <p:nvPr/>
        </p:nvSpPr>
        <p:spPr>
          <a:xfrm>
            <a:off x="3043528" y="1601419"/>
            <a:ext cx="13759362" cy="870929"/>
          </a:xfrm>
          <a:prstGeom prst="rect">
            <a:avLst/>
          </a:prstGeom>
          <a:noFill/>
          <a:ln>
            <a:noFill/>
          </a:ln>
        </p:spPr>
        <p:txBody>
          <a:bodyPr anchorCtr="0" anchor="t" bIns="0" lIns="0" spcFirstLastPara="1" rIns="0" wrap="square" tIns="0">
            <a:spAutoFit/>
          </a:bodyPr>
          <a:lstStyle/>
          <a:p>
            <a:pPr indent="0" lvl="0" marL="0" marR="0" rtl="0" algn="r">
              <a:lnSpc>
                <a:spcPct val="140011"/>
              </a:lnSpc>
              <a:spcBef>
                <a:spcPts val="0"/>
              </a:spcBef>
              <a:spcAft>
                <a:spcPts val="0"/>
              </a:spcAft>
              <a:buNone/>
            </a:pPr>
            <a:r>
              <a:rPr b="0" i="0" lang="en-US" sz="5086" u="none" cap="none" strike="noStrike">
                <a:solidFill>
                  <a:srgbClr val="FFFFFF"/>
                </a:solidFill>
                <a:latin typeface="Arial"/>
                <a:ea typeface="Arial"/>
                <a:cs typeface="Arial"/>
                <a:sym typeface="Arial"/>
              </a:rPr>
              <a:t>PROTOCOLOS DE REDUNDANCIA</a:t>
            </a:r>
            <a:endParaRPr/>
          </a:p>
        </p:txBody>
      </p:sp>
      <p:sp>
        <p:nvSpPr>
          <p:cNvPr id="206" name="Google Shape;206;p8"/>
          <p:cNvSpPr txBox="1"/>
          <p:nvPr/>
        </p:nvSpPr>
        <p:spPr>
          <a:xfrm>
            <a:off x="395596" y="2358048"/>
            <a:ext cx="16407294" cy="954982"/>
          </a:xfrm>
          <a:prstGeom prst="rect">
            <a:avLst/>
          </a:prstGeom>
          <a:noFill/>
          <a:ln>
            <a:noFill/>
          </a:ln>
        </p:spPr>
        <p:txBody>
          <a:bodyPr anchorCtr="0" anchor="t" bIns="0" lIns="0" spcFirstLastPara="1" rIns="0" wrap="square" tIns="0">
            <a:spAutoFit/>
          </a:bodyPr>
          <a:lstStyle/>
          <a:p>
            <a:pPr indent="0" lvl="0" marL="0" marR="0" rtl="0" algn="r">
              <a:lnSpc>
                <a:spcPct val="140003"/>
              </a:lnSpc>
              <a:spcBef>
                <a:spcPts val="0"/>
              </a:spcBef>
              <a:spcAft>
                <a:spcPts val="0"/>
              </a:spcAft>
              <a:buNone/>
            </a:pPr>
            <a:r>
              <a:rPr b="1" i="0" lang="en-US" sz="5527" u="none" cap="none" strike="noStrike">
                <a:solidFill>
                  <a:srgbClr val="FFFFFF"/>
                </a:solidFill>
                <a:latin typeface="Arial"/>
                <a:ea typeface="Arial"/>
                <a:cs typeface="Arial"/>
                <a:sym typeface="Arial"/>
              </a:rPr>
              <a:t>DE PUERTA DE ENLACE PREDETERMINADA</a:t>
            </a:r>
            <a:endParaRPr/>
          </a:p>
        </p:txBody>
      </p:sp>
      <p:sp>
        <p:nvSpPr>
          <p:cNvPr id="207" name="Google Shape;207;p8"/>
          <p:cNvSpPr txBox="1"/>
          <p:nvPr/>
        </p:nvSpPr>
        <p:spPr>
          <a:xfrm>
            <a:off x="1200136" y="4032462"/>
            <a:ext cx="14514619" cy="504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FFFFFF"/>
                </a:solidFill>
                <a:latin typeface="Arial"/>
                <a:ea typeface="Arial"/>
                <a:cs typeface="Arial"/>
                <a:sym typeface="Arial"/>
              </a:rPr>
              <a:t>Los tres principales protocolos utilizados para esta finalidad son:</a:t>
            </a:r>
            <a:endParaRPr/>
          </a:p>
        </p:txBody>
      </p:sp>
      <p:sp>
        <p:nvSpPr>
          <p:cNvPr id="208" name="Google Shape;208;p8"/>
          <p:cNvSpPr txBox="1"/>
          <p:nvPr/>
        </p:nvSpPr>
        <p:spPr>
          <a:xfrm>
            <a:off x="12078103" y="6704171"/>
            <a:ext cx="5104171" cy="135929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859" u="none" cap="none" strike="noStrike">
                <a:solidFill>
                  <a:srgbClr val="253754"/>
                </a:solidFill>
                <a:latin typeface="Arial"/>
                <a:ea typeface="Arial"/>
                <a:cs typeface="Arial"/>
                <a:sym typeface="Arial"/>
              </a:rPr>
              <a:t>GLBP (Gateway Load Balancing Protocol)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12" name="Shape 212"/>
        <p:cNvGrpSpPr/>
        <p:nvPr/>
      </p:nvGrpSpPr>
      <p:grpSpPr>
        <a:xfrm>
          <a:off x="0" y="0"/>
          <a:ext cx="0" cy="0"/>
          <a:chOff x="0" y="0"/>
          <a:chExt cx="0" cy="0"/>
        </a:xfrm>
      </p:grpSpPr>
      <p:sp>
        <p:nvSpPr>
          <p:cNvPr id="213" name="Google Shape;213;p9"/>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sp>
      <p:sp>
        <p:nvSpPr>
          <p:cNvPr id="214" name="Google Shape;214;p9"/>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15" name="Google Shape;215;p9"/>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sp>
      <p:sp>
        <p:nvSpPr>
          <p:cNvPr id="216" name="Google Shape;216;p9"/>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sp>
      <p:sp>
        <p:nvSpPr>
          <p:cNvPr id="217" name="Google Shape;217;p9"/>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sp>
      <p:sp>
        <p:nvSpPr>
          <p:cNvPr id="218" name="Google Shape;218;p9"/>
          <p:cNvSpPr txBox="1"/>
          <p:nvPr/>
        </p:nvSpPr>
        <p:spPr>
          <a:xfrm>
            <a:off x="1886691" y="285356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HSRP (Hot Standby Router Protocol) es un protocolo de redundancia de gateway predeterminado utilizado en redes de computadoras. HSRP permite que dos o más routers compartan una dirección IP virtual, de modo que parezca que hay un único gateway predeterminado en la red.</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Uno de los routers es designado como el "router activo" y es el responsable de procesar todo el tráfico de red. El otro router es el "router en espera" y monitorea continuamente al router activo. Si el router activo falla, el router en espera asume automáticamente el papel de router activo y comienza a procesar el tráfico de red.</a:t>
            </a:r>
            <a:endParaRPr/>
          </a:p>
        </p:txBody>
      </p:sp>
      <p:sp>
        <p:nvSpPr>
          <p:cNvPr id="219" name="Google Shape;219;p9"/>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7326" u="none" cap="none" strike="noStrike">
                <a:solidFill>
                  <a:srgbClr val="152540"/>
                </a:solidFill>
                <a:latin typeface="Arial"/>
                <a:ea typeface="Arial"/>
                <a:cs typeface="Arial"/>
                <a:sym typeface="Arial"/>
              </a:rPr>
              <a:t>HSRP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23" name="Shape 223"/>
        <p:cNvGrpSpPr/>
        <p:nvPr/>
      </p:nvGrpSpPr>
      <p:grpSpPr>
        <a:xfrm>
          <a:off x="0" y="0"/>
          <a:ext cx="0" cy="0"/>
          <a:chOff x="0" y="0"/>
          <a:chExt cx="0" cy="0"/>
        </a:xfrm>
      </p:grpSpPr>
      <p:sp>
        <p:nvSpPr>
          <p:cNvPr id="224" name="Google Shape;224;p10"/>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sp>
      <p:sp>
        <p:nvSpPr>
          <p:cNvPr id="225" name="Google Shape;225;p10"/>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26" name="Google Shape;226;p10"/>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sp>
      <p:sp>
        <p:nvSpPr>
          <p:cNvPr id="227" name="Google Shape;227;p10"/>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sp>
      <p:sp>
        <p:nvSpPr>
          <p:cNvPr id="228" name="Google Shape;228;p10"/>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sp>
      <p:sp>
        <p:nvSpPr>
          <p:cNvPr id="229" name="Google Shape;229;p10"/>
          <p:cNvSpPr txBox="1"/>
          <p:nvPr/>
        </p:nvSpPr>
        <p:spPr>
          <a:xfrm>
            <a:off x="1886691" y="2853563"/>
            <a:ext cx="14514619" cy="417209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HSRP es comúnmente utilizado en redes de alta disponibilidad para garantizar que haya un gateway predeterminado siempre disponible para los dispositivos de la red. También puede ser utilizado para equilibrar la carga de tráfico en la red y para permitir el mantenimiento de rutina en los routers sin interrupción del servicio de red.</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HSRP es un protocolo desarrollado por Cisco Systems como parte de su suite de protocolos de enrutamiento.</a:t>
            </a:r>
            <a:endParaRPr/>
          </a:p>
        </p:txBody>
      </p:sp>
      <p:sp>
        <p:nvSpPr>
          <p:cNvPr id="230" name="Google Shape;230;p10"/>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7326" u="none" cap="none" strike="noStrike">
                <a:solidFill>
                  <a:srgbClr val="152540"/>
                </a:solidFill>
                <a:latin typeface="Arial"/>
                <a:ea typeface="Arial"/>
                <a:cs typeface="Arial"/>
                <a:sym typeface="Arial"/>
              </a:rPr>
              <a:t>HSRP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34" name="Shape 234"/>
        <p:cNvGrpSpPr/>
        <p:nvPr/>
      </p:nvGrpSpPr>
      <p:grpSpPr>
        <a:xfrm>
          <a:off x="0" y="0"/>
          <a:ext cx="0" cy="0"/>
          <a:chOff x="0" y="0"/>
          <a:chExt cx="0" cy="0"/>
        </a:xfrm>
      </p:grpSpPr>
      <p:sp>
        <p:nvSpPr>
          <p:cNvPr id="235" name="Google Shape;235;p11"/>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sp>
      <p:sp>
        <p:nvSpPr>
          <p:cNvPr id="236" name="Google Shape;236;p11"/>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37" name="Google Shape;237;p11"/>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sp>
      <p:sp>
        <p:nvSpPr>
          <p:cNvPr id="238" name="Google Shape;238;p11"/>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sp>
      <p:sp>
        <p:nvSpPr>
          <p:cNvPr id="239" name="Google Shape;239;p11"/>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sp>
      <p:sp>
        <p:nvSpPr>
          <p:cNvPr id="240" name="Google Shape;240;p11"/>
          <p:cNvSpPr txBox="1"/>
          <p:nvPr/>
        </p:nvSpPr>
        <p:spPr>
          <a:xfrm>
            <a:off x="1886691" y="2853563"/>
            <a:ext cx="14514619" cy="364821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Se utiliza principalmente en redes de gran tamaño donde es necesario garantizar la</a:t>
            </a:r>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disponibilidad del gateway predeterminado de la red en caso de que falle el router activo.</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En una configuración HSRP típica, dos o más routers están configurados para compartir una dirección IP virtual, que es la dirección IP que los dispositivos de la red utilizan como su gateway predeterminado.</a:t>
            </a:r>
            <a:endParaRPr/>
          </a:p>
        </p:txBody>
      </p:sp>
      <p:sp>
        <p:nvSpPr>
          <p:cNvPr id="241" name="Google Shape;241;p11"/>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7326" u="none" cap="none" strike="noStrike">
                <a:solidFill>
                  <a:srgbClr val="152540"/>
                </a:solidFill>
                <a:latin typeface="Arial"/>
                <a:ea typeface="Arial"/>
                <a:cs typeface="Arial"/>
                <a:sym typeface="Arial"/>
              </a:rPr>
              <a:t>HSRP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45" name="Shape 245"/>
        <p:cNvGrpSpPr/>
        <p:nvPr/>
      </p:nvGrpSpPr>
      <p:grpSpPr>
        <a:xfrm>
          <a:off x="0" y="0"/>
          <a:ext cx="0" cy="0"/>
          <a:chOff x="0" y="0"/>
          <a:chExt cx="0" cy="0"/>
        </a:xfrm>
      </p:grpSpPr>
      <p:sp>
        <p:nvSpPr>
          <p:cNvPr id="246" name="Google Shape;246;p12"/>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247" name="Google Shape;247;p12"/>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248" name="Google Shape;248;p12"/>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49" name="Google Shape;249;p12"/>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50" name="Google Shape;250;p12"/>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251" name="Google Shape;251;p12"/>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252" name="Google Shape;252;p12"/>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¿CÓMO FUNCIONA?</a:t>
            </a:r>
            <a:endParaRPr/>
          </a:p>
        </p:txBody>
      </p:sp>
      <p:sp>
        <p:nvSpPr>
          <p:cNvPr id="253" name="Google Shape;253;p12"/>
          <p:cNvSpPr txBox="1"/>
          <p:nvPr/>
        </p:nvSpPr>
        <p:spPr>
          <a:xfrm>
            <a:off x="1200136" y="2797403"/>
            <a:ext cx="14514619" cy="52198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HSRP utiliza un protocolo de votación para determinar qué router debe ser el router activo en la red. Cada router HSRP envía mensajes de anuncio periódicos, conocidos como "hello packets", para informar a los demás routers de su presencia en la red.</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Los routers HSRP también intercambian información sobre su prioridad y su estado actual. El router con la mayor prioridad se convierte en el router activo. Si hay un empate en la prioridad, el router con la dirección IP más alta se convierte en el router activo. El router activo es el responsable de procesar todo el tráfico hacia la dirección IP virtual compartida.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57" name="Shape 257"/>
        <p:cNvGrpSpPr/>
        <p:nvPr/>
      </p:nvGrpSpPr>
      <p:grpSpPr>
        <a:xfrm>
          <a:off x="0" y="0"/>
          <a:ext cx="0" cy="0"/>
          <a:chOff x="0" y="0"/>
          <a:chExt cx="0" cy="0"/>
        </a:xfrm>
      </p:grpSpPr>
      <p:sp>
        <p:nvSpPr>
          <p:cNvPr id="258" name="Google Shape;258;p13"/>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259" name="Google Shape;259;p13"/>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260" name="Google Shape;260;p13"/>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61" name="Google Shape;261;p13"/>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62" name="Google Shape;262;p13"/>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263" name="Google Shape;263;p13"/>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264" name="Google Shape;264;p13"/>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¿CÓMO FUNCIONA?</a:t>
            </a:r>
            <a:endParaRPr/>
          </a:p>
        </p:txBody>
      </p:sp>
      <p:sp>
        <p:nvSpPr>
          <p:cNvPr id="265" name="Google Shape;265;p13"/>
          <p:cNvSpPr txBox="1"/>
          <p:nvPr/>
        </p:nvSpPr>
        <p:spPr>
          <a:xfrm>
            <a:off x="1200136" y="279740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Los paquetes que llegan a los routers en espera son ignorados. Los routers en espera monitorean continuamente al router activo y, si detectan una falla en el router activo, el router en espera con la prioridad más alta se convierte en el nuevo router activo. Cuando se produce un cambio en el estado del router activo, se envía un paquete de notificación a través de la red para informar a los demás dispositivos.</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Los dispositivos en la red actualizan su tabla de direcciones MAC con la dirección MAC del nuevo router activo.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69" name="Shape 269"/>
        <p:cNvGrpSpPr/>
        <p:nvPr/>
      </p:nvGrpSpPr>
      <p:grpSpPr>
        <a:xfrm>
          <a:off x="0" y="0"/>
          <a:ext cx="0" cy="0"/>
          <a:chOff x="0" y="0"/>
          <a:chExt cx="0" cy="0"/>
        </a:xfrm>
      </p:grpSpPr>
      <p:sp>
        <p:nvSpPr>
          <p:cNvPr id="270" name="Google Shape;270;p14"/>
          <p:cNvSpPr/>
          <p:nvPr/>
        </p:nvSpPr>
        <p:spPr>
          <a:xfrm>
            <a:off x="1696281" y="2105635"/>
            <a:ext cx="5172975" cy="6356958"/>
          </a:xfrm>
          <a:custGeom>
            <a:rect b="b" l="l" r="r" t="t"/>
            <a:pathLst>
              <a:path extrusionOk="0" h="6356958" w="5172975">
                <a:moveTo>
                  <a:pt x="0" y="0"/>
                </a:moveTo>
                <a:lnTo>
                  <a:pt x="5172974" y="0"/>
                </a:lnTo>
                <a:lnTo>
                  <a:pt x="5172974" y="6356958"/>
                </a:lnTo>
                <a:lnTo>
                  <a:pt x="0" y="6356958"/>
                </a:lnTo>
                <a:lnTo>
                  <a:pt x="0" y="0"/>
                </a:lnTo>
                <a:close/>
              </a:path>
            </a:pathLst>
          </a:custGeom>
          <a:blipFill rotWithShape="1">
            <a:blip r:embed="rId3">
              <a:alphaModFix/>
            </a:blip>
            <a:stretch>
              <a:fillRect b="0" l="0" r="0" t="0"/>
            </a:stretch>
          </a:blipFill>
          <a:ln>
            <a:noFill/>
          </a:ln>
        </p:spPr>
      </p:sp>
      <p:sp>
        <p:nvSpPr>
          <p:cNvPr id="271" name="Google Shape;271;p14"/>
          <p:cNvSpPr/>
          <p:nvPr/>
        </p:nvSpPr>
        <p:spPr>
          <a:xfrm>
            <a:off x="8334357" y="2105635"/>
            <a:ext cx="8534066" cy="6501406"/>
          </a:xfrm>
          <a:custGeom>
            <a:rect b="b" l="l" r="r" t="t"/>
            <a:pathLst>
              <a:path extrusionOk="0" h="6501406" w="8534066">
                <a:moveTo>
                  <a:pt x="0" y="0"/>
                </a:moveTo>
                <a:lnTo>
                  <a:pt x="8534066" y="0"/>
                </a:lnTo>
                <a:lnTo>
                  <a:pt x="8534066" y="6501406"/>
                </a:lnTo>
                <a:lnTo>
                  <a:pt x="0" y="6501406"/>
                </a:lnTo>
                <a:lnTo>
                  <a:pt x="0" y="0"/>
                </a:lnTo>
                <a:close/>
              </a:path>
            </a:pathLst>
          </a:custGeom>
          <a:blipFill rotWithShape="1">
            <a:blip r:embed="rId4">
              <a:alphaModFix/>
            </a:blip>
            <a:stretch>
              <a:fillRect b="0" l="0" r="0" t="0"/>
            </a:stretch>
          </a:blipFill>
          <a:ln>
            <a:noFill/>
          </a:ln>
        </p:spPr>
      </p:sp>
      <p:sp>
        <p:nvSpPr>
          <p:cNvPr id="272" name="Google Shape;272;p14"/>
          <p:cNvSpPr txBox="1"/>
          <p:nvPr/>
        </p:nvSpPr>
        <p:spPr>
          <a:xfrm>
            <a:off x="9144000" y="3904728"/>
            <a:ext cx="8063090" cy="28460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interface </a:t>
            </a:r>
            <a:r>
              <a:rPr b="0" i="0" lang="en-US" sz="2700" u="none" cap="none" strike="noStrike">
                <a:solidFill>
                  <a:srgbClr val="FFFFFF"/>
                </a:solidFill>
                <a:latin typeface="Open Sans"/>
                <a:ea typeface="Open Sans"/>
                <a:cs typeface="Open Sans"/>
                <a:sym typeface="Open Sans"/>
              </a:rPr>
              <a:t>&lt;nombre_interfaz&gt; </a:t>
            </a:r>
            <a:endParaRPr/>
          </a:p>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ip address</a:t>
            </a:r>
            <a:r>
              <a:rPr b="0" i="0" lang="en-US" sz="2700" u="none" cap="none" strike="noStrike">
                <a:solidFill>
                  <a:srgbClr val="FFFFFF"/>
                </a:solidFill>
                <a:latin typeface="Open Sans"/>
                <a:ea typeface="Open Sans"/>
                <a:cs typeface="Open Sans"/>
                <a:sym typeface="Open Sans"/>
              </a:rPr>
              <a:t> &lt;dirección_ip_fisica&lt;máscara_de_subred&gt; </a:t>
            </a:r>
            <a:endParaRPr/>
          </a:p>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standby</a:t>
            </a:r>
            <a:r>
              <a:rPr b="0" i="0" lang="en-US" sz="2700" u="none" cap="none" strike="noStrike">
                <a:solidFill>
                  <a:srgbClr val="FFFFFF"/>
                </a:solidFill>
                <a:latin typeface="Open Sans"/>
                <a:ea typeface="Open Sans"/>
                <a:cs typeface="Open Sans"/>
                <a:sym typeface="Open Sans"/>
              </a:rPr>
              <a:t> &lt;grupo&gt; ip &lt;dirección_ip_virtual&gt; </a:t>
            </a:r>
            <a:endParaRPr/>
          </a:p>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standby </a:t>
            </a:r>
            <a:r>
              <a:rPr b="0" i="0" lang="en-US" sz="2700" u="none" cap="none" strike="noStrike">
                <a:solidFill>
                  <a:srgbClr val="FFFFFF"/>
                </a:solidFill>
                <a:latin typeface="Open Sans"/>
                <a:ea typeface="Open Sans"/>
                <a:cs typeface="Open Sans"/>
                <a:sym typeface="Open Sans"/>
              </a:rPr>
              <a:t>&lt;grupo&gt; priority &lt;prioridad&gt; </a:t>
            </a:r>
            <a:endParaRPr/>
          </a:p>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standby </a:t>
            </a:r>
            <a:r>
              <a:rPr b="0" i="0" lang="en-US" sz="2700" u="none" cap="none" strike="noStrike">
                <a:solidFill>
                  <a:srgbClr val="FFFFFF"/>
                </a:solidFill>
                <a:latin typeface="Open Sans"/>
                <a:ea typeface="Open Sans"/>
                <a:cs typeface="Open Sans"/>
                <a:sym typeface="Open Sans"/>
              </a:rPr>
              <a:t>&lt;grupo&gt; preempt</a:t>
            </a:r>
            <a:endParaRPr/>
          </a:p>
        </p:txBody>
      </p:sp>
      <p:sp>
        <p:nvSpPr>
          <p:cNvPr id="273" name="Google Shape;273;p14"/>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274" name="Google Shape;274;p14"/>
          <p:cNvSpPr txBox="1"/>
          <p:nvPr/>
        </p:nvSpPr>
        <p:spPr>
          <a:xfrm>
            <a:off x="1028700" y="494059"/>
            <a:ext cx="6510933" cy="954982"/>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1" i="0" lang="en-US" sz="5527" u="none" cap="none" strike="noStrike">
                <a:solidFill>
                  <a:srgbClr val="000000"/>
                </a:solidFill>
                <a:latin typeface="Arial"/>
                <a:ea typeface="Arial"/>
                <a:cs typeface="Arial"/>
                <a:sym typeface="Arial"/>
              </a:rPr>
              <a:t>CONFIGURACIÓN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78" name="Shape 278"/>
        <p:cNvGrpSpPr/>
        <p:nvPr/>
      </p:nvGrpSpPr>
      <p:grpSpPr>
        <a:xfrm>
          <a:off x="0" y="0"/>
          <a:ext cx="0" cy="0"/>
          <a:chOff x="0" y="0"/>
          <a:chExt cx="0" cy="0"/>
        </a:xfrm>
      </p:grpSpPr>
      <p:sp>
        <p:nvSpPr>
          <p:cNvPr id="279" name="Google Shape;279;p15"/>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sp>
      <p:sp>
        <p:nvSpPr>
          <p:cNvPr id="280" name="Google Shape;280;p15"/>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81" name="Google Shape;281;p15"/>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sp>
      <p:sp>
        <p:nvSpPr>
          <p:cNvPr id="282" name="Google Shape;282;p15"/>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sp>
      <p:sp>
        <p:nvSpPr>
          <p:cNvPr id="283" name="Google Shape;283;p15"/>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sp>
      <p:sp>
        <p:nvSpPr>
          <p:cNvPr id="284" name="Google Shape;284;p15"/>
          <p:cNvSpPr txBox="1"/>
          <p:nvPr/>
        </p:nvSpPr>
        <p:spPr>
          <a:xfrm>
            <a:off x="1886691" y="2853563"/>
            <a:ext cx="14514619" cy="626759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VRRP (Virtual Router Redundancy Protocol) es un protocolo de red de alta disponibilidad definido por el estándar RFC 5798, que permite que múltiples routers trabajen juntos para simular un solo router virtual, al que los hosts de una red local pueden usar como su puerta de enlace predeterminada.</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Su objetivo principal es eliminar el punto único de falla que representa una única puerta de enlace, permitiendo que si un router falla, otro tome automáticamente su lugar sin intervención del usuario ni necesidad de reconfigurar a los hosts.</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Es un protocolo multivendor, lo que significa que puede ser implementado en equipos de distintos fabricantes (a diferencia de HSRP o GLBP, que son propietarios de Cisco).</a:t>
            </a:r>
            <a:endParaRPr/>
          </a:p>
        </p:txBody>
      </p:sp>
      <p:sp>
        <p:nvSpPr>
          <p:cNvPr id="285" name="Google Shape;285;p15"/>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7326" u="none" cap="none" strike="noStrike">
                <a:solidFill>
                  <a:srgbClr val="152540"/>
                </a:solidFill>
                <a:latin typeface="Arial"/>
                <a:ea typeface="Arial"/>
                <a:cs typeface="Arial"/>
                <a:sym typeface="Arial"/>
              </a:rPr>
              <a:t>VRRP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89" name="Shape 289"/>
        <p:cNvGrpSpPr/>
        <p:nvPr/>
      </p:nvGrpSpPr>
      <p:grpSpPr>
        <a:xfrm>
          <a:off x="0" y="0"/>
          <a:ext cx="0" cy="0"/>
          <a:chOff x="0" y="0"/>
          <a:chExt cx="0" cy="0"/>
        </a:xfrm>
      </p:grpSpPr>
      <p:sp>
        <p:nvSpPr>
          <p:cNvPr id="290" name="Google Shape;290;p16"/>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291" name="Google Shape;291;p16"/>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292" name="Google Shape;292;p16"/>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93" name="Google Shape;293;p16"/>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294" name="Google Shape;294;p16"/>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295" name="Google Shape;295;p16"/>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296" name="Google Shape;296;p16"/>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¿CÓMO FUNCIONA?</a:t>
            </a:r>
            <a:endParaRPr/>
          </a:p>
        </p:txBody>
      </p:sp>
      <p:sp>
        <p:nvSpPr>
          <p:cNvPr id="297" name="Google Shape;297;p16"/>
          <p:cNvSpPr txBox="1"/>
          <p:nvPr/>
        </p:nvSpPr>
        <p:spPr>
          <a:xfrm>
            <a:off x="1200136" y="279740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Todos los routers participantes con el protocolo VRRP se configuran con un número de identificación (ID) de grupo VRRP en común. Se define una IP virtual que es la que será compartida por el grupo VRRP.</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Cada router tiene una prioridad VRRP que por defecto es 100 y el que tenga el valor más alto es el que gana.</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El router con la mayor prioridad se convierte en el maestro. En caso de empate, gana el router con la dirección IP más alta.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01" name="Shape 301"/>
        <p:cNvGrpSpPr/>
        <p:nvPr/>
      </p:nvGrpSpPr>
      <p:grpSpPr>
        <a:xfrm>
          <a:off x="0" y="0"/>
          <a:ext cx="0" cy="0"/>
          <a:chOff x="0" y="0"/>
          <a:chExt cx="0" cy="0"/>
        </a:xfrm>
      </p:grpSpPr>
      <p:sp>
        <p:nvSpPr>
          <p:cNvPr id="302" name="Google Shape;302;p17"/>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03" name="Google Shape;303;p17"/>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04" name="Google Shape;304;p17"/>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05" name="Google Shape;305;p17"/>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06" name="Google Shape;306;p17"/>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307" name="Google Shape;307;p17"/>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308" name="Google Shape;308;p17"/>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¿CÓMO FUNCIONA?</a:t>
            </a:r>
            <a:endParaRPr/>
          </a:p>
        </p:txBody>
      </p:sp>
      <p:sp>
        <p:nvSpPr>
          <p:cNvPr id="309" name="Google Shape;309;p17"/>
          <p:cNvSpPr txBox="1"/>
          <p:nvPr/>
        </p:nvSpPr>
        <p:spPr>
          <a:xfrm>
            <a:off x="1200136" y="2797403"/>
            <a:ext cx="14514619" cy="364821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El router maestro envía mensajes de anuncio cada pocos segundos (por defecto cada 1 segundo). Estos mensajes indican que sigue activo. Y por lo general estos mensajes se envían mediante la dirección multicast 224.0.0.18 (IPv4).</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Los demás routers se convierten en routers backup y estos se encuentran en espera. Realizan un monitoreo al router maestro y se encuentran listos para asumir el rol si este llegara a fallar.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13" name="Shape 313"/>
        <p:cNvGrpSpPr/>
        <p:nvPr/>
      </p:nvGrpSpPr>
      <p:grpSpPr>
        <a:xfrm>
          <a:off x="0" y="0"/>
          <a:ext cx="0" cy="0"/>
          <a:chOff x="0" y="0"/>
          <a:chExt cx="0" cy="0"/>
        </a:xfrm>
      </p:grpSpPr>
      <p:sp>
        <p:nvSpPr>
          <p:cNvPr id="314" name="Google Shape;314;p18"/>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15" name="Google Shape;315;p18"/>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16" name="Google Shape;316;p18"/>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17" name="Google Shape;317;p18"/>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18" name="Google Shape;318;p18"/>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319" name="Google Shape;319;p18"/>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320" name="Google Shape;320;p18"/>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¿CÓMO FUNCIONA?</a:t>
            </a:r>
            <a:endParaRPr/>
          </a:p>
        </p:txBody>
      </p:sp>
      <p:sp>
        <p:nvSpPr>
          <p:cNvPr id="321" name="Google Shape;321;p18"/>
          <p:cNvSpPr txBox="1"/>
          <p:nvPr/>
        </p:nvSpPr>
        <p:spPr>
          <a:xfrm>
            <a:off x="1200136" y="2797403"/>
            <a:ext cx="14514619" cy="364821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Si los routers backup no reciben anuncios dentro del tiempo límite (3 veces el intervalo por defecto), se considera que el maestro ha fallado y el router backup con la mayor prioridad se convierte en el nuevo maestro tomando el control de la IP y la MAC virtual.</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Si el router original vuelve y tiene mayor prioridad, puede o no retornar el rol de maestro, dependiendo de la configuración de la opción preempt.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25" name="Shape 325"/>
        <p:cNvGrpSpPr/>
        <p:nvPr/>
      </p:nvGrpSpPr>
      <p:grpSpPr>
        <a:xfrm>
          <a:off x="0" y="0"/>
          <a:ext cx="0" cy="0"/>
          <a:chOff x="0" y="0"/>
          <a:chExt cx="0" cy="0"/>
        </a:xfrm>
      </p:grpSpPr>
      <p:sp>
        <p:nvSpPr>
          <p:cNvPr id="326" name="Google Shape;326;p19"/>
          <p:cNvSpPr/>
          <p:nvPr/>
        </p:nvSpPr>
        <p:spPr>
          <a:xfrm>
            <a:off x="8334357" y="2105635"/>
            <a:ext cx="8534066" cy="6501406"/>
          </a:xfrm>
          <a:custGeom>
            <a:rect b="b" l="l" r="r" t="t"/>
            <a:pathLst>
              <a:path extrusionOk="0" h="6501406" w="8534066">
                <a:moveTo>
                  <a:pt x="0" y="0"/>
                </a:moveTo>
                <a:lnTo>
                  <a:pt x="8534066" y="0"/>
                </a:lnTo>
                <a:lnTo>
                  <a:pt x="8534066" y="6501406"/>
                </a:lnTo>
                <a:lnTo>
                  <a:pt x="0" y="6501406"/>
                </a:lnTo>
                <a:lnTo>
                  <a:pt x="0" y="0"/>
                </a:lnTo>
                <a:close/>
              </a:path>
            </a:pathLst>
          </a:custGeom>
          <a:blipFill rotWithShape="1">
            <a:blip r:embed="rId3">
              <a:alphaModFix/>
            </a:blip>
            <a:stretch>
              <a:fillRect b="0" l="0" r="0" t="0"/>
            </a:stretch>
          </a:blipFill>
          <a:ln>
            <a:noFill/>
          </a:ln>
        </p:spPr>
      </p:sp>
      <p:sp>
        <p:nvSpPr>
          <p:cNvPr id="327" name="Google Shape;327;p19"/>
          <p:cNvSpPr txBox="1"/>
          <p:nvPr/>
        </p:nvSpPr>
        <p:spPr>
          <a:xfrm>
            <a:off x="9144000" y="3904728"/>
            <a:ext cx="8063090" cy="33223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iinterface </a:t>
            </a:r>
            <a:r>
              <a:rPr b="0" i="0" lang="en-US" sz="2700" u="none" cap="none" strike="noStrike">
                <a:solidFill>
                  <a:srgbClr val="FFFFFF"/>
                </a:solidFill>
                <a:latin typeface="Open Sans"/>
                <a:ea typeface="Open Sans"/>
                <a:cs typeface="Open Sans"/>
                <a:sym typeface="Open Sans"/>
              </a:rPr>
              <a:t>&lt;nombre_interfaz&gt; </a:t>
            </a:r>
            <a:endParaRPr/>
          </a:p>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ip address </a:t>
            </a:r>
            <a:r>
              <a:rPr b="0" i="0" lang="en-US" sz="2700" u="none" cap="none" strike="noStrike">
                <a:solidFill>
                  <a:srgbClr val="FFFFFF"/>
                </a:solidFill>
                <a:latin typeface="Open Sans"/>
                <a:ea typeface="Open Sans"/>
                <a:cs typeface="Open Sans"/>
                <a:sym typeface="Open Sans"/>
              </a:rPr>
              <a:t>&lt;dirección_ip_fisica&gt;</a:t>
            </a:r>
            <a:r>
              <a:rPr b="0" i="0" lang="en-US" sz="2700" u="none" cap="none" strike="noStrike">
                <a:solidFill>
                  <a:srgbClr val="C8AB37"/>
                </a:solidFill>
                <a:latin typeface="Open Sans"/>
                <a:ea typeface="Open Sans"/>
                <a:cs typeface="Open Sans"/>
                <a:sym typeface="Open Sans"/>
              </a:rPr>
              <a:t> </a:t>
            </a:r>
            <a:r>
              <a:rPr b="0" i="0" lang="en-US" sz="2700" u="none" cap="none" strike="noStrike">
                <a:solidFill>
                  <a:srgbClr val="FFFFFF"/>
                </a:solidFill>
                <a:latin typeface="Open Sans"/>
                <a:ea typeface="Open Sans"/>
                <a:cs typeface="Open Sans"/>
                <a:sym typeface="Open Sans"/>
              </a:rPr>
              <a:t>&lt;máscara_de_subred&gt; </a:t>
            </a:r>
            <a:endParaRPr/>
          </a:p>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vrrp </a:t>
            </a:r>
            <a:r>
              <a:rPr b="0" i="0" lang="en-US" sz="2700" u="none" cap="none" strike="noStrike">
                <a:solidFill>
                  <a:srgbClr val="FFFFFF"/>
                </a:solidFill>
                <a:latin typeface="Open Sans"/>
                <a:ea typeface="Open Sans"/>
                <a:cs typeface="Open Sans"/>
                <a:sym typeface="Open Sans"/>
              </a:rPr>
              <a:t>&lt;ID_VRRP&gt; ip &lt;dirección_ip_virtual&gt; </a:t>
            </a:r>
            <a:endParaRPr/>
          </a:p>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vrrp </a:t>
            </a:r>
            <a:r>
              <a:rPr b="0" i="0" lang="en-US" sz="2700" u="none" cap="none" strike="noStrike">
                <a:solidFill>
                  <a:srgbClr val="FFFFFF"/>
                </a:solidFill>
                <a:latin typeface="Open Sans"/>
                <a:ea typeface="Open Sans"/>
                <a:cs typeface="Open Sans"/>
                <a:sym typeface="Open Sans"/>
              </a:rPr>
              <a:t>&lt;ID_VRRP&gt; </a:t>
            </a:r>
            <a:r>
              <a:rPr b="0" i="0" lang="en-US" sz="2700" u="none" cap="none" strike="noStrike">
                <a:solidFill>
                  <a:srgbClr val="C8AB37"/>
                </a:solidFill>
                <a:latin typeface="Open Sans"/>
                <a:ea typeface="Open Sans"/>
                <a:cs typeface="Open Sans"/>
                <a:sym typeface="Open Sans"/>
              </a:rPr>
              <a:t>priority </a:t>
            </a:r>
            <a:r>
              <a:rPr b="0" i="0" lang="en-US" sz="2700" u="none" cap="none" strike="noStrike">
                <a:solidFill>
                  <a:srgbClr val="FFFFFF"/>
                </a:solidFill>
                <a:latin typeface="Open Sans"/>
                <a:ea typeface="Open Sans"/>
                <a:cs typeface="Open Sans"/>
                <a:sym typeface="Open Sans"/>
              </a:rPr>
              <a:t>&lt;prioridad&gt; </a:t>
            </a:r>
            <a:endParaRPr/>
          </a:p>
          <a:p>
            <a:pPr indent="0" lvl="0" marL="0" marR="0" rtl="0" algn="l">
              <a:lnSpc>
                <a:spcPct val="140000"/>
              </a:lnSpc>
              <a:spcBef>
                <a:spcPts val="0"/>
              </a:spcBef>
              <a:spcAft>
                <a:spcPts val="0"/>
              </a:spcAft>
              <a:buNone/>
            </a:pPr>
            <a:r>
              <a:rPr b="0" i="0" lang="en-US" sz="2700" u="none" cap="none" strike="noStrike">
                <a:solidFill>
                  <a:srgbClr val="C8AB37"/>
                </a:solidFill>
                <a:latin typeface="Open Sans"/>
                <a:ea typeface="Open Sans"/>
                <a:cs typeface="Open Sans"/>
                <a:sym typeface="Open Sans"/>
              </a:rPr>
              <a:t>vrrp </a:t>
            </a:r>
            <a:r>
              <a:rPr b="0" i="0" lang="en-US" sz="2700" u="none" cap="none" strike="noStrike">
                <a:solidFill>
                  <a:srgbClr val="FFFFFF"/>
                </a:solidFill>
                <a:latin typeface="Open Sans"/>
                <a:ea typeface="Open Sans"/>
                <a:cs typeface="Open Sans"/>
                <a:sym typeface="Open Sans"/>
              </a:rPr>
              <a:t>&lt;ID_VRRP&gt; </a:t>
            </a:r>
            <a:r>
              <a:rPr b="0" i="0" lang="en-US" sz="2700" u="none" cap="none" strike="noStrike">
                <a:solidFill>
                  <a:srgbClr val="C8AB37"/>
                </a:solidFill>
                <a:latin typeface="Open Sans"/>
                <a:ea typeface="Open Sans"/>
                <a:cs typeface="Open Sans"/>
                <a:sym typeface="Open Sans"/>
              </a:rPr>
              <a:t>preempt</a:t>
            </a:r>
            <a:endParaRPr/>
          </a:p>
          <a:p>
            <a:pPr indent="0" lvl="0" marL="0" marR="0" rtl="0" algn="l">
              <a:lnSpc>
                <a:spcPct val="140000"/>
              </a:lnSpc>
              <a:spcBef>
                <a:spcPts val="0"/>
              </a:spcBef>
              <a:spcAft>
                <a:spcPts val="0"/>
              </a:spcAft>
              <a:buNone/>
            </a:pPr>
            <a:r>
              <a:t/>
            </a:r>
            <a:endParaRPr b="0" i="0" sz="2700" u="none" cap="none" strike="noStrike">
              <a:solidFill>
                <a:srgbClr val="C8AB37"/>
              </a:solidFill>
              <a:latin typeface="Open Sans"/>
              <a:ea typeface="Open Sans"/>
              <a:cs typeface="Open Sans"/>
              <a:sym typeface="Open Sans"/>
            </a:endParaRPr>
          </a:p>
        </p:txBody>
      </p:sp>
      <p:sp>
        <p:nvSpPr>
          <p:cNvPr id="328" name="Google Shape;328;p19"/>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4">
              <a:alphaModFix/>
            </a:blip>
            <a:stretch>
              <a:fillRect b="0" l="0" r="0" t="0"/>
            </a:stretch>
          </a:blipFill>
          <a:ln>
            <a:noFill/>
          </a:ln>
        </p:spPr>
      </p:sp>
      <p:sp>
        <p:nvSpPr>
          <p:cNvPr id="329" name="Google Shape;329;p19"/>
          <p:cNvSpPr txBox="1"/>
          <p:nvPr/>
        </p:nvSpPr>
        <p:spPr>
          <a:xfrm>
            <a:off x="1028700" y="494059"/>
            <a:ext cx="6510933" cy="954982"/>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1" i="0" lang="en-US" sz="5527" u="none" cap="none" strike="noStrike">
                <a:solidFill>
                  <a:srgbClr val="000000"/>
                </a:solidFill>
                <a:latin typeface="Arial"/>
                <a:ea typeface="Arial"/>
                <a:cs typeface="Arial"/>
                <a:sym typeface="Arial"/>
              </a:rPr>
              <a:t>CONFIGURACIÓN</a:t>
            </a:r>
            <a:endParaRPr/>
          </a:p>
        </p:txBody>
      </p:sp>
      <p:sp>
        <p:nvSpPr>
          <p:cNvPr id="330" name="Google Shape;330;p19"/>
          <p:cNvSpPr/>
          <p:nvPr/>
        </p:nvSpPr>
        <p:spPr>
          <a:xfrm>
            <a:off x="663847" y="2292643"/>
            <a:ext cx="7240640" cy="6127391"/>
          </a:xfrm>
          <a:custGeom>
            <a:rect b="b" l="l" r="r" t="t"/>
            <a:pathLst>
              <a:path extrusionOk="0" h="6127391" w="7240640">
                <a:moveTo>
                  <a:pt x="0" y="0"/>
                </a:moveTo>
                <a:lnTo>
                  <a:pt x="7240639" y="0"/>
                </a:lnTo>
                <a:lnTo>
                  <a:pt x="7240639" y="6127391"/>
                </a:lnTo>
                <a:lnTo>
                  <a:pt x="0" y="6127391"/>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34" name="Shape 334"/>
        <p:cNvGrpSpPr/>
        <p:nvPr/>
      </p:nvGrpSpPr>
      <p:grpSpPr>
        <a:xfrm>
          <a:off x="0" y="0"/>
          <a:ext cx="0" cy="0"/>
          <a:chOff x="0" y="0"/>
          <a:chExt cx="0" cy="0"/>
        </a:xfrm>
      </p:grpSpPr>
      <p:sp>
        <p:nvSpPr>
          <p:cNvPr id="335" name="Google Shape;335;p20"/>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sp>
      <p:sp>
        <p:nvSpPr>
          <p:cNvPr id="336" name="Google Shape;336;p20"/>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37" name="Google Shape;337;p20"/>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sp>
      <p:sp>
        <p:nvSpPr>
          <p:cNvPr id="338" name="Google Shape;338;p20"/>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sp>
      <p:sp>
        <p:nvSpPr>
          <p:cNvPr id="339" name="Google Shape;339;p20"/>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sp>
      <p:sp>
        <p:nvSpPr>
          <p:cNvPr id="340" name="Google Shape;340;p20"/>
          <p:cNvSpPr txBox="1"/>
          <p:nvPr/>
        </p:nvSpPr>
        <p:spPr>
          <a:xfrm>
            <a:off x="1886691" y="3311820"/>
            <a:ext cx="14514619" cy="364821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GLBP (Gateway Load Balancing Protocol) es un protocolo de redundancia de gateway predeterminado que permite que varios routers compartan una dirección IP</a:t>
            </a:r>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virtual y balanceen la carga de tráfico en la red.</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En lugar de tener un solo router activo como en HSRP y VRRP, GLBP permite que varios routers compartan el tráfico de la red, lo que mejora la eficiencia y el rendimiento de la red.</a:t>
            </a:r>
            <a:endParaRPr/>
          </a:p>
        </p:txBody>
      </p:sp>
      <p:sp>
        <p:nvSpPr>
          <p:cNvPr id="341" name="Google Shape;341;p20"/>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7326" u="none" cap="none" strike="noStrike">
                <a:solidFill>
                  <a:srgbClr val="152540"/>
                </a:solidFill>
                <a:latin typeface="Arial"/>
                <a:ea typeface="Arial"/>
                <a:cs typeface="Arial"/>
                <a:sym typeface="Arial"/>
              </a:rPr>
              <a:t>GLBP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45" name="Shape 345"/>
        <p:cNvGrpSpPr/>
        <p:nvPr/>
      </p:nvGrpSpPr>
      <p:grpSpPr>
        <a:xfrm>
          <a:off x="0" y="0"/>
          <a:ext cx="0" cy="0"/>
          <a:chOff x="0" y="0"/>
          <a:chExt cx="0" cy="0"/>
        </a:xfrm>
      </p:grpSpPr>
      <p:sp>
        <p:nvSpPr>
          <p:cNvPr id="346" name="Google Shape;346;p21"/>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sp>
      <p:sp>
        <p:nvSpPr>
          <p:cNvPr id="347" name="Google Shape;347;p21"/>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48" name="Google Shape;348;p21"/>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sp>
      <p:sp>
        <p:nvSpPr>
          <p:cNvPr id="349" name="Google Shape;349;p21"/>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sp>
      <p:sp>
        <p:nvSpPr>
          <p:cNvPr id="350" name="Google Shape;350;p21"/>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sp>
      <p:sp>
        <p:nvSpPr>
          <p:cNvPr id="351" name="Google Shape;351;p21"/>
          <p:cNvSpPr txBox="1"/>
          <p:nvPr/>
        </p:nvSpPr>
        <p:spPr>
          <a:xfrm>
            <a:off x="1886691" y="3575323"/>
            <a:ext cx="14514619" cy="31243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Así como el HSRP, GLBP también es un protocolo propietario de Cisco Systems.</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El algoritmo de carga balanceada selecciona un router activo en función de su carga actual, la velocidad de su enlace y la prioridad del router. De esta manera, el tráfico de la red se distribuye de manera eficiente y equilibrada entre los routers activos, lo que evita la congestión de la red y garantiza un rendimiento óptimo.</a:t>
            </a:r>
            <a:endParaRPr/>
          </a:p>
        </p:txBody>
      </p:sp>
      <p:sp>
        <p:nvSpPr>
          <p:cNvPr id="352" name="Google Shape;352;p21"/>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7326" u="none" cap="none" strike="noStrike">
                <a:solidFill>
                  <a:srgbClr val="152540"/>
                </a:solidFill>
                <a:latin typeface="Arial"/>
                <a:ea typeface="Arial"/>
                <a:cs typeface="Arial"/>
                <a:sym typeface="Arial"/>
              </a:rPr>
              <a:t>GLBP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56" name="Shape 356"/>
        <p:cNvGrpSpPr/>
        <p:nvPr/>
      </p:nvGrpSpPr>
      <p:grpSpPr>
        <a:xfrm>
          <a:off x="0" y="0"/>
          <a:ext cx="0" cy="0"/>
          <a:chOff x="0" y="0"/>
          <a:chExt cx="0" cy="0"/>
        </a:xfrm>
      </p:grpSpPr>
      <p:sp>
        <p:nvSpPr>
          <p:cNvPr id="357" name="Google Shape;357;p22"/>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58" name="Google Shape;358;p22"/>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59" name="Google Shape;359;p22"/>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60" name="Google Shape;360;p22"/>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61" name="Google Shape;361;p22"/>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362" name="Google Shape;362;p22"/>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363" name="Google Shape;363;p22"/>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¿CÓMO FUNCIONA?</a:t>
            </a:r>
            <a:endParaRPr/>
          </a:p>
        </p:txBody>
      </p:sp>
      <p:sp>
        <p:nvSpPr>
          <p:cNvPr id="364" name="Google Shape;364;p22"/>
          <p:cNvSpPr txBox="1"/>
          <p:nvPr/>
        </p:nvSpPr>
        <p:spPr>
          <a:xfrm>
            <a:off x="1200136" y="279740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Los routers GLBP envían paquetes "hello" (anuncios de GLBP) a través de la red para informar a los demás routers de su presencia y estado actual. Los paquetes "hello" contienen información sobre la dirección IP virtual compartida, la prioridad del router y el estado actual (activo o en espera).</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Utilizan un algoritmo de votación para determinar qué router debe ser el router activo. A diferencia de HSRP y VRRP, GLBP no utiliza una prioridad estática para determinar qué router debe ser el activo, sino que utiliza un algoritmo de carga balanceada para distribuir el tráfico en los routers activos.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68" name="Shape 368"/>
        <p:cNvGrpSpPr/>
        <p:nvPr/>
      </p:nvGrpSpPr>
      <p:grpSpPr>
        <a:xfrm>
          <a:off x="0" y="0"/>
          <a:ext cx="0" cy="0"/>
          <a:chOff x="0" y="0"/>
          <a:chExt cx="0" cy="0"/>
        </a:xfrm>
      </p:grpSpPr>
      <p:sp>
        <p:nvSpPr>
          <p:cNvPr id="369" name="Google Shape;369;p23"/>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70" name="Google Shape;370;p23"/>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71" name="Google Shape;371;p23"/>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72" name="Google Shape;372;p23"/>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73" name="Google Shape;373;p23"/>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374" name="Google Shape;374;p23"/>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375" name="Google Shape;375;p23"/>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¿CÓMO FUNCIONA?</a:t>
            </a:r>
            <a:endParaRPr/>
          </a:p>
        </p:txBody>
      </p:sp>
      <p:sp>
        <p:nvSpPr>
          <p:cNvPr id="376" name="Google Shape;376;p23"/>
          <p:cNvSpPr txBox="1"/>
          <p:nvPr/>
        </p:nvSpPr>
        <p:spPr>
          <a:xfrm>
            <a:off x="1200136" y="279740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Una vez que se ha seleccionado el router activo, GLBP asigna una dirección MAC virtual a cada uno de los routers activos. Esta dirección MAC virtual se utiliza como la dirección MAC del gateway predeterminado en la tabla de direcciones MAC de los dispositivos en la red.</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Cuando se envía un paquete hacia la dirección IP virtual compartida, el dispositivo de origen utiliza la dirección MAC virtual del router activo correspondiente para enrutar el tráfico. Si hay varios routers activos, GLBP utiliza un algoritmo de balanceo de carga para distribuir el tráfico entre ellos.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80" name="Shape 380"/>
        <p:cNvGrpSpPr/>
        <p:nvPr/>
      </p:nvGrpSpPr>
      <p:grpSpPr>
        <a:xfrm>
          <a:off x="0" y="0"/>
          <a:ext cx="0" cy="0"/>
          <a:chOff x="0" y="0"/>
          <a:chExt cx="0" cy="0"/>
        </a:xfrm>
      </p:grpSpPr>
      <p:sp>
        <p:nvSpPr>
          <p:cNvPr id="381" name="Google Shape;381;p24"/>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82" name="Google Shape;382;p24"/>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sp>
      <p:sp>
        <p:nvSpPr>
          <p:cNvPr id="383" name="Google Shape;383;p24"/>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84" name="Google Shape;384;p24"/>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sp>
      <p:sp>
        <p:nvSpPr>
          <p:cNvPr id="385" name="Google Shape;385;p24"/>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sp>
      <p:sp>
        <p:nvSpPr>
          <p:cNvPr id="386" name="Google Shape;386;p24"/>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sp>
      <p:sp>
        <p:nvSpPr>
          <p:cNvPr id="387" name="Google Shape;387;p24"/>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5527" u="none" cap="none" strike="noStrike">
                <a:solidFill>
                  <a:srgbClr val="152540"/>
                </a:solidFill>
                <a:latin typeface="Arial"/>
                <a:ea typeface="Arial"/>
                <a:cs typeface="Arial"/>
                <a:sym typeface="Arial"/>
              </a:rPr>
              <a:t>¿CÓMO FUNCIONA?</a:t>
            </a:r>
            <a:endParaRPr/>
          </a:p>
        </p:txBody>
      </p:sp>
      <p:sp>
        <p:nvSpPr>
          <p:cNvPr id="388" name="Google Shape;388;p24"/>
          <p:cNvSpPr txBox="1"/>
          <p:nvPr/>
        </p:nvSpPr>
        <p:spPr>
          <a:xfrm>
            <a:off x="1200136" y="2797403"/>
            <a:ext cx="14514619" cy="31243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Si se produce una falla en el router activo, GLBP selecciona automáticamente un nuevo router activo y actualiza la dirección MAC virtual correspondiente.</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El cambio es transparente para los dispositivos en la red y no requiere que se realicen cambios manuales en las tablas de enrutamiento o en las tablas de direcciones MAC.</a:t>
            </a:r>
            <a:endParaRPr/>
          </a:p>
        </p:txBody>
      </p:sp>
      <p:sp>
        <p:nvSpPr>
          <p:cNvPr id="389" name="Google Shape;389;p24"/>
          <p:cNvSpPr/>
          <p:nvPr/>
        </p:nvSpPr>
        <p:spPr>
          <a:xfrm>
            <a:off x="9144000" y="5441346"/>
            <a:ext cx="5708555" cy="4531166"/>
          </a:xfrm>
          <a:custGeom>
            <a:rect b="b" l="l" r="r" t="t"/>
            <a:pathLst>
              <a:path extrusionOk="0" h="4531166" w="5708555">
                <a:moveTo>
                  <a:pt x="0" y="0"/>
                </a:moveTo>
                <a:lnTo>
                  <a:pt x="5708555" y="0"/>
                </a:lnTo>
                <a:lnTo>
                  <a:pt x="5708555" y="4531166"/>
                </a:lnTo>
                <a:lnTo>
                  <a:pt x="0" y="453116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93" name="Shape 393"/>
        <p:cNvGrpSpPr/>
        <p:nvPr/>
      </p:nvGrpSpPr>
      <p:grpSpPr>
        <a:xfrm>
          <a:off x="0" y="0"/>
          <a:ext cx="0" cy="0"/>
          <a:chOff x="0" y="0"/>
          <a:chExt cx="0" cy="0"/>
        </a:xfrm>
      </p:grpSpPr>
      <p:cxnSp>
        <p:nvCxnSpPr>
          <p:cNvPr id="394" name="Google Shape;394;p25"/>
          <p:cNvCxnSpPr/>
          <p:nvPr/>
        </p:nvCxnSpPr>
        <p:spPr>
          <a:xfrm>
            <a:off x="1028700" y="1009650"/>
            <a:ext cx="12867103" cy="0"/>
          </a:xfrm>
          <a:prstGeom prst="straightConnector1">
            <a:avLst/>
          </a:prstGeom>
          <a:noFill/>
          <a:ln cap="flat" cmpd="sng" w="85725">
            <a:solidFill>
              <a:srgbClr val="152540"/>
            </a:solidFill>
            <a:prstDash val="solid"/>
            <a:round/>
            <a:headEnd len="sm" w="sm" type="none"/>
            <a:tailEnd len="sm" w="sm" type="none"/>
          </a:ln>
        </p:spPr>
      </p:cxnSp>
      <p:grpSp>
        <p:nvGrpSpPr>
          <p:cNvPr id="395" name="Google Shape;395;p25"/>
          <p:cNvGrpSpPr/>
          <p:nvPr/>
        </p:nvGrpSpPr>
        <p:grpSpPr>
          <a:xfrm rot="-5400000">
            <a:off x="-3998652" y="9652275"/>
            <a:ext cx="7715406" cy="3949739"/>
            <a:chOff x="0" y="-47625"/>
            <a:chExt cx="886891" cy="454025"/>
          </a:xfrm>
        </p:grpSpPr>
        <p:sp>
          <p:nvSpPr>
            <p:cNvPr id="396" name="Google Shape;396;p25"/>
            <p:cNvSpPr/>
            <p:nvPr/>
          </p:nvSpPr>
          <p:spPr>
            <a:xfrm>
              <a:off x="0" y="0"/>
              <a:ext cx="886891" cy="406400"/>
            </a:xfrm>
            <a:custGeom>
              <a:rect b="b" l="l" r="r" t="t"/>
              <a:pathLst>
                <a:path extrusionOk="0" h="406400" w="886891">
                  <a:moveTo>
                    <a:pt x="683691" y="0"/>
                  </a:moveTo>
                  <a:cubicBezTo>
                    <a:pt x="795915" y="0"/>
                    <a:pt x="886891" y="90976"/>
                    <a:pt x="886891" y="203200"/>
                  </a:cubicBezTo>
                  <a:cubicBezTo>
                    <a:pt x="886891" y="315424"/>
                    <a:pt x="795915" y="406400"/>
                    <a:pt x="683691"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15254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5"/>
            <p:cNvSpPr txBox="1"/>
            <p:nvPr/>
          </p:nvSpPr>
          <p:spPr>
            <a:xfrm>
              <a:off x="0" y="-47625"/>
              <a:ext cx="886891"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8" name="Google Shape;398;p25"/>
          <p:cNvGrpSpPr/>
          <p:nvPr/>
        </p:nvGrpSpPr>
        <p:grpSpPr>
          <a:xfrm rot="5400000">
            <a:off x="14300385" y="-2087563"/>
            <a:ext cx="7426906" cy="4175126"/>
            <a:chOff x="0" y="-47625"/>
            <a:chExt cx="807640" cy="454025"/>
          </a:xfrm>
        </p:grpSpPr>
        <p:sp>
          <p:nvSpPr>
            <p:cNvPr id="399" name="Google Shape;399;p25"/>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15254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5"/>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1" name="Google Shape;401;p25"/>
          <p:cNvSpPr txBox="1"/>
          <p:nvPr/>
        </p:nvSpPr>
        <p:spPr>
          <a:xfrm>
            <a:off x="2910501" y="2375147"/>
            <a:ext cx="12743700" cy="59283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10135" u="none" cap="none" strike="noStrike">
                <a:solidFill>
                  <a:srgbClr val="4D4C4C"/>
                </a:solidFill>
                <a:latin typeface="Arial"/>
                <a:ea typeface="Arial"/>
                <a:cs typeface="Arial"/>
                <a:sym typeface="Arial"/>
              </a:rPr>
              <a:t>CONFIGURACIÓN </a:t>
            </a:r>
            <a:r>
              <a:rPr b="1" lang="en-US" sz="10135">
                <a:solidFill>
                  <a:srgbClr val="4D4C4C"/>
                </a:solidFill>
              </a:rPr>
              <a:t>BÁSICA</a:t>
            </a:r>
            <a:r>
              <a:rPr b="1" i="0" lang="en-US" sz="10135" u="none" cap="none" strike="noStrike">
                <a:solidFill>
                  <a:srgbClr val="4D4C4C"/>
                </a:solidFill>
                <a:latin typeface="Arial"/>
                <a:ea typeface="Arial"/>
                <a:cs typeface="Arial"/>
                <a:sym typeface="Arial"/>
              </a:rPr>
              <a:t> DE FIREWALL</a:t>
            </a:r>
            <a:endParaRPr/>
          </a:p>
        </p:txBody>
      </p:sp>
      <p:grpSp>
        <p:nvGrpSpPr>
          <p:cNvPr id="402" name="Google Shape;402;p25"/>
          <p:cNvGrpSpPr/>
          <p:nvPr/>
        </p:nvGrpSpPr>
        <p:grpSpPr>
          <a:xfrm rot="-5400000">
            <a:off x="15751254" y="2375175"/>
            <a:ext cx="959812" cy="959812"/>
            <a:chOff x="0" y="0"/>
            <a:chExt cx="812800" cy="812800"/>
          </a:xfrm>
        </p:grpSpPr>
        <p:sp>
          <p:nvSpPr>
            <p:cNvPr id="403" name="Google Shape;403;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05" name="Google Shape;405;p25"/>
          <p:cNvCxnSpPr/>
          <p:nvPr/>
        </p:nvCxnSpPr>
        <p:spPr>
          <a:xfrm>
            <a:off x="4168622" y="9301162"/>
            <a:ext cx="13090678" cy="0"/>
          </a:xfrm>
          <a:prstGeom prst="straightConnector1">
            <a:avLst/>
          </a:prstGeom>
          <a:noFill/>
          <a:ln cap="flat" cmpd="sng" w="85725">
            <a:solidFill>
              <a:srgbClr val="152540"/>
            </a:solidFill>
            <a:prstDash val="solid"/>
            <a:round/>
            <a:headEnd len="sm" w="sm" type="none"/>
            <a:tailEnd len="sm" w="sm" type="none"/>
          </a:ln>
        </p:spPr>
      </p:cxnSp>
      <p:grpSp>
        <p:nvGrpSpPr>
          <p:cNvPr id="406" name="Google Shape;406;p25"/>
          <p:cNvGrpSpPr/>
          <p:nvPr/>
        </p:nvGrpSpPr>
        <p:grpSpPr>
          <a:xfrm>
            <a:off x="643702" y="8715761"/>
            <a:ext cx="3524919" cy="3524919"/>
            <a:chOff x="0" y="0"/>
            <a:chExt cx="812800" cy="812800"/>
          </a:xfrm>
        </p:grpSpPr>
        <p:sp>
          <p:nvSpPr>
            <p:cNvPr id="407" name="Google Shape;407;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p25"/>
          <p:cNvGrpSpPr/>
          <p:nvPr/>
        </p:nvGrpSpPr>
        <p:grpSpPr>
          <a:xfrm>
            <a:off x="422629" y="7549965"/>
            <a:ext cx="1212142" cy="1165796"/>
            <a:chOff x="0" y="0"/>
            <a:chExt cx="1616189" cy="1554394"/>
          </a:xfrm>
        </p:grpSpPr>
        <p:grpSp>
          <p:nvGrpSpPr>
            <p:cNvPr id="410" name="Google Shape;410;p25"/>
            <p:cNvGrpSpPr/>
            <p:nvPr/>
          </p:nvGrpSpPr>
          <p:grpSpPr>
            <a:xfrm>
              <a:off x="0" y="0"/>
              <a:ext cx="1554394" cy="1554394"/>
              <a:chOff x="0" y="0"/>
              <a:chExt cx="812800" cy="812800"/>
            </a:xfrm>
          </p:grpSpPr>
          <p:sp>
            <p:nvSpPr>
              <p:cNvPr id="411" name="Google Shape;411;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3" name="Google Shape;413;p25"/>
            <p:cNvSpPr/>
            <p:nvPr/>
          </p:nvSpPr>
          <p:spPr>
            <a:xfrm>
              <a:off x="107634" y="45839"/>
              <a:ext cx="1508555" cy="1508555"/>
            </a:xfrm>
            <a:custGeom>
              <a:rect b="b" l="l" r="r" t="t"/>
              <a:pathLst>
                <a:path extrusionOk="0" h="1508555" w="1508555">
                  <a:moveTo>
                    <a:pt x="0" y="0"/>
                  </a:moveTo>
                  <a:lnTo>
                    <a:pt x="1508555" y="0"/>
                  </a:lnTo>
                  <a:lnTo>
                    <a:pt x="1508555" y="1508555"/>
                  </a:lnTo>
                  <a:lnTo>
                    <a:pt x="0" y="1508555"/>
                  </a:lnTo>
                  <a:lnTo>
                    <a:pt x="0" y="0"/>
                  </a:lnTo>
                  <a:close/>
                </a:path>
              </a:pathLst>
            </a:custGeom>
            <a:blipFill rotWithShape="1">
              <a:blip r:embed="rId3">
                <a:alphaModFix/>
              </a:blip>
              <a:stretch>
                <a:fillRect b="0" l="0" r="0" t="0"/>
              </a:stretch>
            </a:blipFill>
            <a:ln>
              <a:noFill/>
            </a:ln>
          </p:spPr>
        </p:sp>
      </p:grpSp>
      <p:sp>
        <p:nvSpPr>
          <p:cNvPr id="414" name="Google Shape;414;p25"/>
          <p:cNvSpPr/>
          <p:nvPr/>
        </p:nvSpPr>
        <p:spPr>
          <a:xfrm rot="-5400000">
            <a:off x="13895803" y="-2200160"/>
            <a:ext cx="3899060" cy="3899060"/>
          </a:xfrm>
          <a:custGeom>
            <a:rect b="b" l="l" r="r" t="t"/>
            <a:pathLst>
              <a:path extrusionOk="0" h="3899060" w="3899060">
                <a:moveTo>
                  <a:pt x="0" y="0"/>
                </a:moveTo>
                <a:lnTo>
                  <a:pt x="3899060" y="0"/>
                </a:lnTo>
                <a:lnTo>
                  <a:pt x="3899060" y="3899060"/>
                </a:lnTo>
                <a:lnTo>
                  <a:pt x="0" y="389906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418" name="Shape 418"/>
        <p:cNvGrpSpPr/>
        <p:nvPr/>
      </p:nvGrpSpPr>
      <p:grpSpPr>
        <a:xfrm>
          <a:off x="0" y="0"/>
          <a:ext cx="0" cy="0"/>
          <a:chOff x="0" y="0"/>
          <a:chExt cx="0" cy="0"/>
        </a:xfrm>
      </p:grpSpPr>
      <p:grpSp>
        <p:nvGrpSpPr>
          <p:cNvPr id="419" name="Google Shape;419;p26"/>
          <p:cNvGrpSpPr/>
          <p:nvPr/>
        </p:nvGrpSpPr>
        <p:grpSpPr>
          <a:xfrm rot="10800000">
            <a:off x="13986999" y="-2149600"/>
            <a:ext cx="6316248" cy="3550757"/>
            <a:chOff x="0" y="-47625"/>
            <a:chExt cx="807640" cy="454025"/>
          </a:xfrm>
        </p:grpSpPr>
        <p:sp>
          <p:nvSpPr>
            <p:cNvPr id="420" name="Google Shape;420;p26"/>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6"/>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2" name="Google Shape;422;p26"/>
          <p:cNvGrpSpPr/>
          <p:nvPr/>
        </p:nvGrpSpPr>
        <p:grpSpPr>
          <a:xfrm>
            <a:off x="17259300" y="-746671"/>
            <a:ext cx="15452459" cy="12017010"/>
            <a:chOff x="0" y="-47625"/>
            <a:chExt cx="4069783" cy="3164974"/>
          </a:xfrm>
        </p:grpSpPr>
        <p:sp>
          <p:nvSpPr>
            <p:cNvPr id="423" name="Google Shape;423;p26"/>
            <p:cNvSpPr/>
            <p:nvPr/>
          </p:nvSpPr>
          <p:spPr>
            <a:xfrm>
              <a:off x="0" y="0"/>
              <a:ext cx="4069783" cy="3117349"/>
            </a:xfrm>
            <a:custGeom>
              <a:rect b="b" l="l" r="r" t="t"/>
              <a:pathLst>
                <a:path extrusionOk="0" h="3117349" w="4069783">
                  <a:moveTo>
                    <a:pt x="0" y="0"/>
                  </a:moveTo>
                  <a:lnTo>
                    <a:pt x="4069783" y="0"/>
                  </a:lnTo>
                  <a:lnTo>
                    <a:pt x="4069783" y="3117349"/>
                  </a:lnTo>
                  <a:lnTo>
                    <a:pt x="0" y="3117349"/>
                  </a:lnTo>
                  <a:close/>
                </a:path>
              </a:pathLst>
            </a:custGeom>
            <a:solidFill>
              <a:srgbClr val="152540"/>
            </a:solidFill>
            <a:ln>
              <a:noFill/>
            </a:ln>
          </p:spPr>
        </p:sp>
        <p:sp>
          <p:nvSpPr>
            <p:cNvPr id="424" name="Google Shape;424;p26"/>
            <p:cNvSpPr txBox="1"/>
            <p:nvPr/>
          </p:nvSpPr>
          <p:spPr>
            <a:xfrm>
              <a:off x="0" y="-47625"/>
              <a:ext cx="4069782" cy="316497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5" name="Google Shape;425;p26"/>
          <p:cNvSpPr txBox="1"/>
          <p:nvPr/>
        </p:nvSpPr>
        <p:spPr>
          <a:xfrm>
            <a:off x="6507994" y="3901544"/>
            <a:ext cx="10637129" cy="242316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1" i="0" lang="en-US" sz="14100" u="none" cap="none" strike="noStrike">
                <a:solidFill>
                  <a:srgbClr val="4D4C4C"/>
                </a:solidFill>
                <a:latin typeface="Arial"/>
                <a:ea typeface="Arial"/>
                <a:cs typeface="Arial"/>
                <a:sym typeface="Arial"/>
              </a:rPr>
              <a:t>Firewall</a:t>
            </a:r>
            <a:endParaRPr/>
          </a:p>
        </p:txBody>
      </p:sp>
      <p:grpSp>
        <p:nvGrpSpPr>
          <p:cNvPr id="426" name="Google Shape;426;p26"/>
          <p:cNvGrpSpPr/>
          <p:nvPr/>
        </p:nvGrpSpPr>
        <p:grpSpPr>
          <a:xfrm rot="10800000">
            <a:off x="-2136122" y="3073364"/>
            <a:ext cx="8227978" cy="4625459"/>
            <a:chOff x="0" y="-47625"/>
            <a:chExt cx="807640" cy="454025"/>
          </a:xfrm>
        </p:grpSpPr>
        <p:sp>
          <p:nvSpPr>
            <p:cNvPr id="427" name="Google Shape;427;p26"/>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6"/>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9" name="Google Shape;429;p26"/>
          <p:cNvGrpSpPr/>
          <p:nvPr/>
        </p:nvGrpSpPr>
        <p:grpSpPr>
          <a:xfrm>
            <a:off x="879387" y="2646483"/>
            <a:ext cx="1098480" cy="1098480"/>
            <a:chOff x="0" y="0"/>
            <a:chExt cx="812800" cy="812800"/>
          </a:xfrm>
        </p:grpSpPr>
        <p:sp>
          <p:nvSpPr>
            <p:cNvPr id="430" name="Google Shape;430;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2" name="Google Shape;432;p26"/>
          <p:cNvSpPr/>
          <p:nvPr/>
        </p:nvSpPr>
        <p:spPr>
          <a:xfrm>
            <a:off x="-1698802" y="5514834"/>
            <a:ext cx="3397604" cy="3397604"/>
          </a:xfrm>
          <a:custGeom>
            <a:rect b="b" l="l" r="r" t="t"/>
            <a:pathLst>
              <a:path extrusionOk="0" h="3397604" w="3397604">
                <a:moveTo>
                  <a:pt x="0" y="0"/>
                </a:moveTo>
                <a:lnTo>
                  <a:pt x="3397604" y="0"/>
                </a:lnTo>
                <a:lnTo>
                  <a:pt x="3397604" y="3397603"/>
                </a:lnTo>
                <a:lnTo>
                  <a:pt x="0" y="339760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436" name="Shape 436"/>
        <p:cNvGrpSpPr/>
        <p:nvPr/>
      </p:nvGrpSpPr>
      <p:grpSpPr>
        <a:xfrm>
          <a:off x="0" y="0"/>
          <a:ext cx="0" cy="0"/>
          <a:chOff x="0" y="0"/>
          <a:chExt cx="0" cy="0"/>
        </a:xfrm>
      </p:grpSpPr>
      <p:grpSp>
        <p:nvGrpSpPr>
          <p:cNvPr id="437" name="Google Shape;437;p27"/>
          <p:cNvGrpSpPr/>
          <p:nvPr/>
        </p:nvGrpSpPr>
        <p:grpSpPr>
          <a:xfrm rot="-5400000">
            <a:off x="6070407" y="2371269"/>
            <a:ext cx="5966360" cy="20036644"/>
            <a:chOff x="0" y="-47625"/>
            <a:chExt cx="1571387" cy="5277141"/>
          </a:xfrm>
        </p:grpSpPr>
        <p:sp>
          <p:nvSpPr>
            <p:cNvPr id="438" name="Google Shape;438;p27"/>
            <p:cNvSpPr/>
            <p:nvPr/>
          </p:nvSpPr>
          <p:spPr>
            <a:xfrm>
              <a:off x="0" y="0"/>
              <a:ext cx="1571387" cy="5229516"/>
            </a:xfrm>
            <a:custGeom>
              <a:rect b="b" l="l" r="r" t="t"/>
              <a:pathLst>
                <a:path extrusionOk="0" h="5229516" w="1571387">
                  <a:moveTo>
                    <a:pt x="0" y="0"/>
                  </a:moveTo>
                  <a:lnTo>
                    <a:pt x="1571387" y="0"/>
                  </a:lnTo>
                  <a:lnTo>
                    <a:pt x="1571387" y="5229516"/>
                  </a:lnTo>
                  <a:lnTo>
                    <a:pt x="0" y="5229516"/>
                  </a:lnTo>
                  <a:close/>
                </a:path>
              </a:pathLst>
            </a:custGeom>
            <a:solidFill>
              <a:srgbClr val="152540"/>
            </a:solidFill>
            <a:ln>
              <a:noFill/>
            </a:ln>
          </p:spPr>
        </p:sp>
        <p:sp>
          <p:nvSpPr>
            <p:cNvPr id="439" name="Google Shape;439;p27"/>
            <p:cNvSpPr txBox="1"/>
            <p:nvPr/>
          </p:nvSpPr>
          <p:spPr>
            <a:xfrm>
              <a:off x="0" y="-47625"/>
              <a:ext cx="1571387" cy="527714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0" name="Google Shape;440;p27"/>
          <p:cNvGrpSpPr/>
          <p:nvPr/>
        </p:nvGrpSpPr>
        <p:grpSpPr>
          <a:xfrm>
            <a:off x="14680271" y="8076578"/>
            <a:ext cx="8227978" cy="4625459"/>
            <a:chOff x="0" y="-47625"/>
            <a:chExt cx="807640" cy="454025"/>
          </a:xfrm>
        </p:grpSpPr>
        <p:sp>
          <p:nvSpPr>
            <p:cNvPr id="441" name="Google Shape;441;p27"/>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7"/>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3" name="Google Shape;443;p27"/>
          <p:cNvSpPr/>
          <p:nvPr/>
        </p:nvSpPr>
        <p:spPr>
          <a:xfrm>
            <a:off x="-2368250" y="-2004346"/>
            <a:ext cx="4736499" cy="4736499"/>
          </a:xfrm>
          <a:custGeom>
            <a:rect b="b" l="l" r="r" t="t"/>
            <a:pathLst>
              <a:path extrusionOk="0" h="4736499" w="4736499">
                <a:moveTo>
                  <a:pt x="0" y="0"/>
                </a:moveTo>
                <a:lnTo>
                  <a:pt x="4736500" y="0"/>
                </a:lnTo>
                <a:lnTo>
                  <a:pt x="4736500" y="4736499"/>
                </a:lnTo>
                <a:lnTo>
                  <a:pt x="0" y="4736499"/>
                </a:lnTo>
                <a:lnTo>
                  <a:pt x="0" y="0"/>
                </a:lnTo>
                <a:close/>
              </a:path>
            </a:pathLst>
          </a:custGeom>
          <a:blipFill rotWithShape="1">
            <a:blip r:embed="rId3">
              <a:alphaModFix/>
            </a:blip>
            <a:stretch>
              <a:fillRect b="0" l="0" r="0" t="0"/>
            </a:stretch>
          </a:blipFill>
          <a:ln>
            <a:noFill/>
          </a:ln>
        </p:spPr>
      </p:sp>
      <p:sp>
        <p:nvSpPr>
          <p:cNvPr id="444" name="Google Shape;444;p27"/>
          <p:cNvSpPr txBox="1"/>
          <p:nvPr/>
        </p:nvSpPr>
        <p:spPr>
          <a:xfrm>
            <a:off x="2548240" y="1648487"/>
            <a:ext cx="12978113" cy="204147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0" i="0" lang="en-US" sz="10752" u="none" cap="none" strike="noStrike">
                <a:solidFill>
                  <a:srgbClr val="152540"/>
                </a:solidFill>
                <a:latin typeface="Arial"/>
                <a:ea typeface="Arial"/>
                <a:cs typeface="Arial"/>
                <a:sym typeface="Arial"/>
              </a:rPr>
              <a:t>Firewall</a:t>
            </a:r>
            <a:endParaRPr/>
          </a:p>
        </p:txBody>
      </p:sp>
      <p:sp>
        <p:nvSpPr>
          <p:cNvPr id="445" name="Google Shape;445;p27"/>
          <p:cNvSpPr txBox="1"/>
          <p:nvPr/>
        </p:nvSpPr>
        <p:spPr>
          <a:xfrm>
            <a:off x="2743335" y="3775682"/>
            <a:ext cx="13161311" cy="445325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2799" u="none" cap="none" strike="noStrike">
                <a:solidFill>
                  <a:srgbClr val="4D4C4C"/>
                </a:solidFill>
                <a:latin typeface="Arial"/>
                <a:ea typeface="Arial"/>
                <a:cs typeface="Arial"/>
                <a:sym typeface="Arial"/>
              </a:rPr>
              <a:t>Un firewall (o cortafuegos) es un sistema de seguridad de red que controla el tráfico que entra y sale de una red o de un dispositivo, permitiendo o bloqueando datos según un conjunto de reglas predefinidas.</a:t>
            </a:r>
            <a:endParaRPr/>
          </a:p>
          <a:p>
            <a:pPr indent="0" lvl="0" marL="0" marR="0" rtl="0" algn="ctr">
              <a:lnSpc>
                <a:spcPct val="140014"/>
              </a:lnSpc>
              <a:spcBef>
                <a:spcPts val="0"/>
              </a:spcBef>
              <a:spcAft>
                <a:spcPts val="0"/>
              </a:spcAft>
              <a:buNone/>
            </a:pPr>
            <a:r>
              <a:t/>
            </a:r>
            <a:endParaRPr b="1" i="0" sz="2799" u="none" cap="none" strike="noStrike">
              <a:solidFill>
                <a:srgbClr val="4D4C4C"/>
              </a:solidFill>
              <a:latin typeface="Arial"/>
              <a:ea typeface="Arial"/>
              <a:cs typeface="Arial"/>
              <a:sym typeface="Arial"/>
            </a:endParaRPr>
          </a:p>
          <a:p>
            <a:pPr indent="0" lvl="0" marL="0" marR="0" rtl="0" algn="ctr">
              <a:lnSpc>
                <a:spcPct val="140014"/>
              </a:lnSpc>
              <a:spcBef>
                <a:spcPts val="0"/>
              </a:spcBef>
              <a:spcAft>
                <a:spcPts val="0"/>
              </a:spcAft>
              <a:buNone/>
            </a:pPr>
            <a:r>
              <a:rPr b="1" i="0" lang="en-US" sz="2799" u="none" cap="none" strike="noStrike">
                <a:solidFill>
                  <a:srgbClr val="4D4C4C"/>
                </a:solidFill>
                <a:latin typeface="Arial"/>
                <a:ea typeface="Arial"/>
                <a:cs typeface="Arial"/>
                <a:sym typeface="Arial"/>
              </a:rPr>
              <a:t>Es como un portero digital: decide qué datos pueden entrar o salir de una red, y cuáles deben ser bloqueados, protegiendo un sistema de accesos no autorizados o peligrosos.</a:t>
            </a:r>
            <a:endParaRPr/>
          </a:p>
          <a:p>
            <a:pPr indent="0" lvl="0" marL="0" marR="0" rtl="0" algn="ctr">
              <a:lnSpc>
                <a:spcPct val="140014"/>
              </a:lnSpc>
              <a:spcBef>
                <a:spcPts val="0"/>
              </a:spcBef>
              <a:spcAft>
                <a:spcPts val="0"/>
              </a:spcAft>
              <a:buNone/>
            </a:pPr>
            <a:r>
              <a:t/>
            </a:r>
            <a:endParaRPr b="1" i="0" sz="2799" u="none" cap="none" strike="noStrike">
              <a:solidFill>
                <a:srgbClr val="4D4C4C"/>
              </a:solidFill>
              <a:latin typeface="Arial"/>
              <a:ea typeface="Arial"/>
              <a:cs typeface="Arial"/>
              <a:sym typeface="Arial"/>
            </a:endParaRPr>
          </a:p>
        </p:txBody>
      </p:sp>
      <p:sp>
        <p:nvSpPr>
          <p:cNvPr id="446" name="Google Shape;446;p27"/>
          <p:cNvSpPr/>
          <p:nvPr/>
        </p:nvSpPr>
        <p:spPr>
          <a:xfrm>
            <a:off x="2383354" y="2058062"/>
            <a:ext cx="1191142" cy="1193312"/>
          </a:xfrm>
          <a:custGeom>
            <a:rect b="b" l="l" r="r" t="t"/>
            <a:pathLst>
              <a:path extrusionOk="0" h="1193312" w="1191142">
                <a:moveTo>
                  <a:pt x="0" y="0"/>
                </a:moveTo>
                <a:lnTo>
                  <a:pt x="1191143" y="0"/>
                </a:lnTo>
                <a:lnTo>
                  <a:pt x="1191143" y="1193312"/>
                </a:lnTo>
                <a:lnTo>
                  <a:pt x="0" y="1193312"/>
                </a:lnTo>
                <a:lnTo>
                  <a:pt x="0" y="0"/>
                </a:lnTo>
                <a:close/>
              </a:path>
            </a:pathLst>
          </a:custGeom>
          <a:blipFill rotWithShape="1">
            <a:blip r:embed="rId4">
              <a:alphaModFix/>
            </a:blip>
            <a:stretch>
              <a:fillRect b="0" l="0" r="0" t="0"/>
            </a:stretch>
          </a:blipFill>
          <a:ln>
            <a:noFill/>
          </a:ln>
        </p:spPr>
      </p:sp>
      <p:sp>
        <p:nvSpPr>
          <p:cNvPr id="447" name="Google Shape;447;p27"/>
          <p:cNvSpPr/>
          <p:nvPr/>
        </p:nvSpPr>
        <p:spPr>
          <a:xfrm rot="10800000">
            <a:off x="14713503" y="2058062"/>
            <a:ext cx="1191142" cy="1193312"/>
          </a:xfrm>
          <a:custGeom>
            <a:rect b="b" l="l" r="r" t="t"/>
            <a:pathLst>
              <a:path extrusionOk="0" h="1193312" w="1191142">
                <a:moveTo>
                  <a:pt x="0" y="0"/>
                </a:moveTo>
                <a:lnTo>
                  <a:pt x="1191143" y="0"/>
                </a:lnTo>
                <a:lnTo>
                  <a:pt x="1191143" y="1193312"/>
                </a:lnTo>
                <a:lnTo>
                  <a:pt x="0" y="1193312"/>
                </a:lnTo>
                <a:lnTo>
                  <a:pt x="0" y="0"/>
                </a:lnTo>
                <a:close/>
              </a:path>
            </a:pathLst>
          </a:custGeom>
          <a:blipFill rotWithShape="1">
            <a:blip r:embed="rId4">
              <a:alphaModFix/>
            </a:blip>
            <a:stretch>
              <a:fillRect b="0" l="0" r="0" t="0"/>
            </a:stretch>
          </a:blipFill>
          <a:ln>
            <a:noFill/>
          </a:ln>
        </p:spPr>
      </p:sp>
      <p:grpSp>
        <p:nvGrpSpPr>
          <p:cNvPr id="448" name="Google Shape;448;p27"/>
          <p:cNvGrpSpPr/>
          <p:nvPr/>
        </p:nvGrpSpPr>
        <p:grpSpPr>
          <a:xfrm>
            <a:off x="16766691" y="7934195"/>
            <a:ext cx="1255142" cy="1255142"/>
            <a:chOff x="0" y="0"/>
            <a:chExt cx="812800" cy="812800"/>
          </a:xfrm>
        </p:grpSpPr>
        <p:sp>
          <p:nvSpPr>
            <p:cNvPr id="449" name="Google Shape;449;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454" name="Shape 454"/>
        <p:cNvGrpSpPr/>
        <p:nvPr/>
      </p:nvGrpSpPr>
      <p:grpSpPr>
        <a:xfrm>
          <a:off x="0" y="0"/>
          <a:ext cx="0" cy="0"/>
          <a:chOff x="0" y="0"/>
          <a:chExt cx="0" cy="0"/>
        </a:xfrm>
      </p:grpSpPr>
      <p:sp>
        <p:nvSpPr>
          <p:cNvPr id="455" name="Google Shape;455;p28"/>
          <p:cNvSpPr txBox="1"/>
          <p:nvPr/>
        </p:nvSpPr>
        <p:spPr>
          <a:xfrm>
            <a:off x="9074526" y="707862"/>
            <a:ext cx="7949794" cy="1275588"/>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None/>
            </a:pPr>
            <a:r>
              <a:rPr b="1" i="0" lang="en-US" sz="8099" u="none" cap="none" strike="noStrike">
                <a:solidFill>
                  <a:srgbClr val="4D4C4C"/>
                </a:solidFill>
                <a:latin typeface="Arial"/>
                <a:ea typeface="Arial"/>
                <a:cs typeface="Arial"/>
                <a:sym typeface="Arial"/>
              </a:rPr>
              <a:t>USOS</a:t>
            </a:r>
            <a:endParaRPr/>
          </a:p>
        </p:txBody>
      </p:sp>
      <p:grpSp>
        <p:nvGrpSpPr>
          <p:cNvPr id="456" name="Google Shape;456;p28"/>
          <p:cNvGrpSpPr/>
          <p:nvPr/>
        </p:nvGrpSpPr>
        <p:grpSpPr>
          <a:xfrm>
            <a:off x="9211303" y="2684200"/>
            <a:ext cx="791364" cy="791364"/>
            <a:chOff x="0" y="0"/>
            <a:chExt cx="812800" cy="812800"/>
          </a:xfrm>
        </p:grpSpPr>
        <p:sp>
          <p:nvSpPr>
            <p:cNvPr id="457" name="Google Shape;457;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9" name="Google Shape;459;p28"/>
          <p:cNvGrpSpPr/>
          <p:nvPr/>
        </p:nvGrpSpPr>
        <p:grpSpPr>
          <a:xfrm>
            <a:off x="9272400" y="4489608"/>
            <a:ext cx="791364" cy="791364"/>
            <a:chOff x="0" y="0"/>
            <a:chExt cx="812800" cy="812800"/>
          </a:xfrm>
        </p:grpSpPr>
        <p:sp>
          <p:nvSpPr>
            <p:cNvPr id="460" name="Google Shape;460;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2" name="Google Shape;462;p28"/>
          <p:cNvGrpSpPr/>
          <p:nvPr/>
        </p:nvGrpSpPr>
        <p:grpSpPr>
          <a:xfrm rot="-5400000">
            <a:off x="-2269244" y="187502"/>
            <a:ext cx="11836639" cy="9754024"/>
            <a:chOff x="0" y="-47625"/>
            <a:chExt cx="3117469" cy="2568961"/>
          </a:xfrm>
        </p:grpSpPr>
        <p:sp>
          <p:nvSpPr>
            <p:cNvPr id="463" name="Google Shape;463;p28"/>
            <p:cNvSpPr/>
            <p:nvPr/>
          </p:nvSpPr>
          <p:spPr>
            <a:xfrm>
              <a:off x="0" y="0"/>
              <a:ext cx="3117469" cy="2521336"/>
            </a:xfrm>
            <a:custGeom>
              <a:rect b="b" l="l" r="r" t="t"/>
              <a:pathLst>
                <a:path extrusionOk="0" h="2521336" w="3117469">
                  <a:moveTo>
                    <a:pt x="0" y="0"/>
                  </a:moveTo>
                  <a:lnTo>
                    <a:pt x="3117469" y="0"/>
                  </a:lnTo>
                  <a:lnTo>
                    <a:pt x="3117469" y="2521336"/>
                  </a:lnTo>
                  <a:lnTo>
                    <a:pt x="0" y="2521336"/>
                  </a:lnTo>
                  <a:close/>
                </a:path>
              </a:pathLst>
            </a:custGeom>
            <a:solidFill>
              <a:srgbClr val="12507A"/>
            </a:solidFill>
            <a:ln>
              <a:noFill/>
            </a:ln>
          </p:spPr>
        </p:sp>
        <p:sp>
          <p:nvSpPr>
            <p:cNvPr id="464" name="Google Shape;464;p28"/>
            <p:cNvSpPr txBox="1"/>
            <p:nvPr/>
          </p:nvSpPr>
          <p:spPr>
            <a:xfrm>
              <a:off x="0" y="-47625"/>
              <a:ext cx="3117469" cy="256896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5" name="Google Shape;465;p28"/>
          <p:cNvSpPr/>
          <p:nvPr/>
        </p:nvSpPr>
        <p:spPr>
          <a:xfrm>
            <a:off x="1028700" y="1167106"/>
            <a:ext cx="6656162" cy="8227732"/>
          </a:xfrm>
          <a:custGeom>
            <a:rect b="b" l="l" r="r" t="t"/>
            <a:pathLst>
              <a:path extrusionOk="0" h="1274691" w="1031214">
                <a:moveTo>
                  <a:pt x="0" y="0"/>
                </a:moveTo>
                <a:lnTo>
                  <a:pt x="1031214" y="0"/>
                </a:lnTo>
                <a:lnTo>
                  <a:pt x="1031214" y="1274691"/>
                </a:lnTo>
                <a:lnTo>
                  <a:pt x="0" y="1274691"/>
                </a:lnTo>
                <a:close/>
              </a:path>
            </a:pathLst>
          </a:custGeom>
          <a:blipFill rotWithShape="1">
            <a:blip r:embed="rId3">
              <a:alphaModFix/>
            </a:blip>
            <a:stretch>
              <a:fillRect b="0" l="-39895" r="-39895" t="0"/>
            </a:stretch>
          </a:blipFill>
          <a:ln cap="sq" cmpd="sng" w="85725">
            <a:solidFill>
              <a:srgbClr val="FFFDF7"/>
            </a:solidFill>
            <a:prstDash val="solid"/>
            <a:miter lim="8000"/>
            <a:headEnd len="sm" w="sm" type="none"/>
            <a:tailEnd len="sm" w="sm" type="none"/>
          </a:ln>
        </p:spPr>
      </p:sp>
      <p:grpSp>
        <p:nvGrpSpPr>
          <p:cNvPr id="466" name="Google Shape;466;p28"/>
          <p:cNvGrpSpPr/>
          <p:nvPr/>
        </p:nvGrpSpPr>
        <p:grpSpPr>
          <a:xfrm>
            <a:off x="11828114" y="-3596759"/>
            <a:ext cx="9568435" cy="4625459"/>
            <a:chOff x="0" y="-47625"/>
            <a:chExt cx="939217" cy="454025"/>
          </a:xfrm>
        </p:grpSpPr>
        <p:sp>
          <p:nvSpPr>
            <p:cNvPr id="467" name="Google Shape;467;p28"/>
            <p:cNvSpPr/>
            <p:nvPr/>
          </p:nvSpPr>
          <p:spPr>
            <a:xfrm>
              <a:off x="0" y="0"/>
              <a:ext cx="939217" cy="406400"/>
            </a:xfrm>
            <a:custGeom>
              <a:rect b="b" l="l" r="r" t="t"/>
              <a:pathLst>
                <a:path extrusionOk="0" h="406400" w="939217">
                  <a:moveTo>
                    <a:pt x="736017" y="0"/>
                  </a:moveTo>
                  <a:cubicBezTo>
                    <a:pt x="848241" y="0"/>
                    <a:pt x="939217" y="90976"/>
                    <a:pt x="939217" y="203200"/>
                  </a:cubicBezTo>
                  <a:cubicBezTo>
                    <a:pt x="939217" y="315424"/>
                    <a:pt x="848241" y="406400"/>
                    <a:pt x="73601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8"/>
            <p:cNvSpPr txBox="1"/>
            <p:nvPr/>
          </p:nvSpPr>
          <p:spPr>
            <a:xfrm>
              <a:off x="0" y="-47625"/>
              <a:ext cx="939217"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9" name="Google Shape;469;p28"/>
          <p:cNvSpPr/>
          <p:nvPr/>
        </p:nvSpPr>
        <p:spPr>
          <a:xfrm>
            <a:off x="16283032" y="-1586869"/>
            <a:ext cx="4009935" cy="4009935"/>
          </a:xfrm>
          <a:custGeom>
            <a:rect b="b" l="l" r="r" t="t"/>
            <a:pathLst>
              <a:path extrusionOk="0" h="4009935" w="4009935">
                <a:moveTo>
                  <a:pt x="0" y="0"/>
                </a:moveTo>
                <a:lnTo>
                  <a:pt x="4009936" y="0"/>
                </a:lnTo>
                <a:lnTo>
                  <a:pt x="4009936" y="4009935"/>
                </a:lnTo>
                <a:lnTo>
                  <a:pt x="0" y="4009935"/>
                </a:lnTo>
                <a:lnTo>
                  <a:pt x="0" y="0"/>
                </a:lnTo>
                <a:close/>
              </a:path>
            </a:pathLst>
          </a:custGeom>
          <a:blipFill rotWithShape="1">
            <a:blip r:embed="rId4">
              <a:alphaModFix/>
            </a:blip>
            <a:stretch>
              <a:fillRect b="0" l="0" r="0" t="0"/>
            </a:stretch>
          </a:blipFill>
          <a:ln>
            <a:noFill/>
          </a:ln>
        </p:spPr>
      </p:sp>
      <p:grpSp>
        <p:nvGrpSpPr>
          <p:cNvPr id="470" name="Google Shape;470;p28"/>
          <p:cNvGrpSpPr/>
          <p:nvPr/>
        </p:nvGrpSpPr>
        <p:grpSpPr>
          <a:xfrm>
            <a:off x="13575832" y="625185"/>
            <a:ext cx="959812" cy="959812"/>
            <a:chOff x="0" y="0"/>
            <a:chExt cx="812800" cy="812800"/>
          </a:xfrm>
        </p:grpSpPr>
        <p:sp>
          <p:nvSpPr>
            <p:cNvPr id="471" name="Google Shape;471;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3" name="Google Shape;473;p28"/>
          <p:cNvGrpSpPr/>
          <p:nvPr/>
        </p:nvGrpSpPr>
        <p:grpSpPr>
          <a:xfrm>
            <a:off x="9257640" y="6023486"/>
            <a:ext cx="791364" cy="791364"/>
            <a:chOff x="0" y="0"/>
            <a:chExt cx="812800" cy="812800"/>
          </a:xfrm>
        </p:grpSpPr>
        <p:sp>
          <p:nvSpPr>
            <p:cNvPr id="474" name="Google Shape;474;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6" name="Google Shape;476;p28"/>
          <p:cNvGrpSpPr/>
          <p:nvPr/>
        </p:nvGrpSpPr>
        <p:grpSpPr>
          <a:xfrm>
            <a:off x="9302860" y="7910225"/>
            <a:ext cx="791364" cy="791364"/>
            <a:chOff x="0" y="0"/>
            <a:chExt cx="812800" cy="812800"/>
          </a:xfrm>
        </p:grpSpPr>
        <p:sp>
          <p:nvSpPr>
            <p:cNvPr id="477" name="Google Shape;477;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9" name="Google Shape;479;p28"/>
          <p:cNvSpPr txBox="1"/>
          <p:nvPr/>
        </p:nvSpPr>
        <p:spPr>
          <a:xfrm>
            <a:off x="10195628" y="2457733"/>
            <a:ext cx="7307011" cy="1498474"/>
          </a:xfrm>
          <a:prstGeom prst="rect">
            <a:avLst/>
          </a:prstGeom>
          <a:noFill/>
          <a:ln>
            <a:noFill/>
          </a:ln>
        </p:spPr>
        <p:txBody>
          <a:bodyPr anchorCtr="0" anchor="t" bIns="0" lIns="0" spcFirstLastPara="1" rIns="0" wrap="square" tIns="0">
            <a:spAutoFit/>
          </a:bodyPr>
          <a:lstStyle/>
          <a:p>
            <a:pPr indent="0" lvl="0" marL="0" marR="0" rtl="0" algn="l">
              <a:lnSpc>
                <a:spcPct val="154013"/>
              </a:lnSpc>
              <a:spcBef>
                <a:spcPts val="0"/>
              </a:spcBef>
              <a:spcAft>
                <a:spcPts val="0"/>
              </a:spcAft>
              <a:buNone/>
            </a:pPr>
            <a:r>
              <a:rPr b="0" i="0" lang="en-US" sz="3899" u="none" cap="none" strike="noStrike">
                <a:solidFill>
                  <a:srgbClr val="253754"/>
                </a:solidFill>
                <a:latin typeface="Arial"/>
                <a:ea typeface="Arial"/>
                <a:cs typeface="Arial"/>
                <a:sym typeface="Arial"/>
              </a:rPr>
              <a:t>Bloquear accesos no deseados desde internet</a:t>
            </a:r>
            <a:endParaRPr/>
          </a:p>
        </p:txBody>
      </p:sp>
      <p:sp>
        <p:nvSpPr>
          <p:cNvPr id="480" name="Google Shape;480;p28"/>
          <p:cNvSpPr txBox="1"/>
          <p:nvPr/>
        </p:nvSpPr>
        <p:spPr>
          <a:xfrm>
            <a:off x="9118807" y="2764844"/>
            <a:ext cx="944958" cy="629389"/>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None/>
            </a:pPr>
            <a:r>
              <a:rPr b="1" i="0" lang="en-US" sz="3720" u="none" cap="none" strike="noStrike">
                <a:solidFill>
                  <a:srgbClr val="FFFFFF"/>
                </a:solidFill>
                <a:latin typeface="Arial"/>
                <a:ea typeface="Arial"/>
                <a:cs typeface="Arial"/>
                <a:sym typeface="Arial"/>
              </a:rPr>
              <a:t>01</a:t>
            </a:r>
            <a:endParaRPr/>
          </a:p>
        </p:txBody>
      </p:sp>
      <p:sp>
        <p:nvSpPr>
          <p:cNvPr id="481" name="Google Shape;481;p28"/>
          <p:cNvSpPr txBox="1"/>
          <p:nvPr/>
        </p:nvSpPr>
        <p:spPr>
          <a:xfrm>
            <a:off x="10279333" y="4544498"/>
            <a:ext cx="7630570" cy="736474"/>
          </a:xfrm>
          <a:prstGeom prst="rect">
            <a:avLst/>
          </a:prstGeom>
          <a:noFill/>
          <a:ln>
            <a:noFill/>
          </a:ln>
        </p:spPr>
        <p:txBody>
          <a:bodyPr anchorCtr="0" anchor="t" bIns="0" lIns="0" spcFirstLastPara="1" rIns="0" wrap="square" tIns="0">
            <a:spAutoFit/>
          </a:bodyPr>
          <a:lstStyle/>
          <a:p>
            <a:pPr indent="0" lvl="0" marL="0" marR="0" rtl="0" algn="l">
              <a:lnSpc>
                <a:spcPct val="154013"/>
              </a:lnSpc>
              <a:spcBef>
                <a:spcPts val="0"/>
              </a:spcBef>
              <a:spcAft>
                <a:spcPts val="0"/>
              </a:spcAft>
              <a:buNone/>
            </a:pPr>
            <a:r>
              <a:rPr b="0" i="0" lang="en-US" sz="3899" u="none" cap="none" strike="noStrike">
                <a:solidFill>
                  <a:srgbClr val="253754"/>
                </a:solidFill>
                <a:latin typeface="Arial"/>
                <a:ea typeface="Arial"/>
                <a:cs typeface="Arial"/>
                <a:sym typeface="Arial"/>
              </a:rPr>
              <a:t>Permitir solo trafico confiable</a:t>
            </a:r>
            <a:endParaRPr/>
          </a:p>
        </p:txBody>
      </p:sp>
      <p:sp>
        <p:nvSpPr>
          <p:cNvPr id="482" name="Google Shape;482;p28"/>
          <p:cNvSpPr txBox="1"/>
          <p:nvPr/>
        </p:nvSpPr>
        <p:spPr>
          <a:xfrm>
            <a:off x="9180843" y="4576046"/>
            <a:ext cx="944958" cy="629389"/>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None/>
            </a:pPr>
            <a:r>
              <a:rPr b="1" i="0" lang="en-US" sz="3720" u="none" cap="none" strike="noStrike">
                <a:solidFill>
                  <a:srgbClr val="FFFFFF"/>
                </a:solidFill>
                <a:latin typeface="Arial"/>
                <a:ea typeface="Arial"/>
                <a:cs typeface="Arial"/>
                <a:sym typeface="Arial"/>
              </a:rPr>
              <a:t>02</a:t>
            </a:r>
            <a:endParaRPr/>
          </a:p>
        </p:txBody>
      </p:sp>
      <p:sp>
        <p:nvSpPr>
          <p:cNvPr id="483" name="Google Shape;483;p28"/>
          <p:cNvSpPr txBox="1"/>
          <p:nvPr/>
        </p:nvSpPr>
        <p:spPr>
          <a:xfrm>
            <a:off x="10264573" y="6078376"/>
            <a:ext cx="7630570" cy="1498474"/>
          </a:xfrm>
          <a:prstGeom prst="rect">
            <a:avLst/>
          </a:prstGeom>
          <a:noFill/>
          <a:ln>
            <a:noFill/>
          </a:ln>
        </p:spPr>
        <p:txBody>
          <a:bodyPr anchorCtr="0" anchor="t" bIns="0" lIns="0" spcFirstLastPara="1" rIns="0" wrap="square" tIns="0">
            <a:spAutoFit/>
          </a:bodyPr>
          <a:lstStyle/>
          <a:p>
            <a:pPr indent="0" lvl="0" marL="0" marR="0" rtl="0" algn="l">
              <a:lnSpc>
                <a:spcPct val="154013"/>
              </a:lnSpc>
              <a:spcBef>
                <a:spcPts val="0"/>
              </a:spcBef>
              <a:spcAft>
                <a:spcPts val="0"/>
              </a:spcAft>
              <a:buNone/>
            </a:pPr>
            <a:r>
              <a:rPr b="0" i="0" lang="en-US" sz="3899" u="none" cap="none" strike="noStrike">
                <a:solidFill>
                  <a:srgbClr val="253754"/>
                </a:solidFill>
                <a:latin typeface="Arial"/>
                <a:ea typeface="Arial"/>
                <a:cs typeface="Arial"/>
                <a:sym typeface="Arial"/>
              </a:rPr>
              <a:t>Proteger la red de virus, ataques y hackers</a:t>
            </a:r>
            <a:endParaRPr/>
          </a:p>
        </p:txBody>
      </p:sp>
      <p:sp>
        <p:nvSpPr>
          <p:cNvPr id="484" name="Google Shape;484;p28"/>
          <p:cNvSpPr txBox="1"/>
          <p:nvPr/>
        </p:nvSpPr>
        <p:spPr>
          <a:xfrm>
            <a:off x="9166083" y="6109924"/>
            <a:ext cx="944958" cy="638914"/>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None/>
            </a:pPr>
            <a:r>
              <a:rPr b="1" i="0" lang="en-US" sz="3720" u="none" cap="none" strike="noStrike">
                <a:solidFill>
                  <a:srgbClr val="FFFFFF"/>
                </a:solidFill>
                <a:latin typeface="Arial"/>
                <a:ea typeface="Arial"/>
                <a:cs typeface="Arial"/>
                <a:sym typeface="Arial"/>
              </a:rPr>
              <a:t>03</a:t>
            </a:r>
            <a:endParaRPr/>
          </a:p>
        </p:txBody>
      </p:sp>
      <p:sp>
        <p:nvSpPr>
          <p:cNvPr id="485" name="Google Shape;485;p28"/>
          <p:cNvSpPr txBox="1"/>
          <p:nvPr/>
        </p:nvSpPr>
        <p:spPr>
          <a:xfrm>
            <a:off x="10309792" y="7965115"/>
            <a:ext cx="7630570" cy="1498474"/>
          </a:xfrm>
          <a:prstGeom prst="rect">
            <a:avLst/>
          </a:prstGeom>
          <a:noFill/>
          <a:ln>
            <a:noFill/>
          </a:ln>
        </p:spPr>
        <p:txBody>
          <a:bodyPr anchorCtr="0" anchor="t" bIns="0" lIns="0" spcFirstLastPara="1" rIns="0" wrap="square" tIns="0">
            <a:spAutoFit/>
          </a:bodyPr>
          <a:lstStyle/>
          <a:p>
            <a:pPr indent="0" lvl="0" marL="0" marR="0" rtl="0" algn="l">
              <a:lnSpc>
                <a:spcPct val="154013"/>
              </a:lnSpc>
              <a:spcBef>
                <a:spcPts val="0"/>
              </a:spcBef>
              <a:spcAft>
                <a:spcPts val="0"/>
              </a:spcAft>
              <a:buNone/>
            </a:pPr>
            <a:r>
              <a:rPr b="0" i="0" lang="en-US" sz="3899" u="none" cap="none" strike="noStrike">
                <a:solidFill>
                  <a:srgbClr val="253754"/>
                </a:solidFill>
                <a:latin typeface="Arial"/>
                <a:ea typeface="Arial"/>
                <a:cs typeface="Arial"/>
                <a:sym typeface="Arial"/>
              </a:rPr>
              <a:t>Controlar el uso de internet (bloqueo de sitios o servicios, etc)</a:t>
            </a:r>
            <a:endParaRPr/>
          </a:p>
        </p:txBody>
      </p:sp>
      <p:sp>
        <p:nvSpPr>
          <p:cNvPr id="486" name="Google Shape;486;p28"/>
          <p:cNvSpPr txBox="1"/>
          <p:nvPr/>
        </p:nvSpPr>
        <p:spPr>
          <a:xfrm>
            <a:off x="9211303" y="7996663"/>
            <a:ext cx="944958" cy="629389"/>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None/>
            </a:pPr>
            <a:r>
              <a:rPr b="1" i="0" lang="en-US" sz="3720" u="none" cap="none" strike="noStrike">
                <a:solidFill>
                  <a:srgbClr val="FFFFFF"/>
                </a:solidFill>
                <a:latin typeface="Arial"/>
                <a:ea typeface="Arial"/>
                <a:cs typeface="Arial"/>
                <a:sym typeface="Arial"/>
              </a:rPr>
              <a:t>04</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490" name="Shape 490"/>
        <p:cNvGrpSpPr/>
        <p:nvPr/>
      </p:nvGrpSpPr>
      <p:grpSpPr>
        <a:xfrm>
          <a:off x="0" y="0"/>
          <a:ext cx="0" cy="0"/>
          <a:chOff x="0" y="0"/>
          <a:chExt cx="0" cy="0"/>
        </a:xfrm>
      </p:grpSpPr>
      <p:cxnSp>
        <p:nvCxnSpPr>
          <p:cNvPr id="491" name="Google Shape;491;p29"/>
          <p:cNvCxnSpPr/>
          <p:nvPr/>
        </p:nvCxnSpPr>
        <p:spPr>
          <a:xfrm>
            <a:off x="1249361" y="3097456"/>
            <a:ext cx="16320602" cy="0"/>
          </a:xfrm>
          <a:prstGeom prst="straightConnector1">
            <a:avLst/>
          </a:prstGeom>
          <a:noFill/>
          <a:ln cap="flat" cmpd="sng" w="38100">
            <a:solidFill>
              <a:srgbClr val="152540"/>
            </a:solidFill>
            <a:prstDash val="solid"/>
            <a:round/>
            <a:headEnd len="sm" w="sm" type="none"/>
            <a:tailEnd len="med" w="med" type="triangle"/>
          </a:ln>
        </p:spPr>
      </p:cxnSp>
      <p:grpSp>
        <p:nvGrpSpPr>
          <p:cNvPr id="492" name="Google Shape;492;p29"/>
          <p:cNvGrpSpPr/>
          <p:nvPr/>
        </p:nvGrpSpPr>
        <p:grpSpPr>
          <a:xfrm>
            <a:off x="3916249" y="2934730"/>
            <a:ext cx="325451" cy="325451"/>
            <a:chOff x="0" y="0"/>
            <a:chExt cx="812800" cy="812800"/>
          </a:xfrm>
        </p:grpSpPr>
        <p:sp>
          <p:nvSpPr>
            <p:cNvPr id="493" name="Google Shape;493;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9"/>
            <p:cNvSpPr txBox="1"/>
            <p:nvPr/>
          </p:nvSpPr>
          <p:spPr>
            <a:xfrm>
              <a:off x="76200" y="76200"/>
              <a:ext cx="660400" cy="660400"/>
            </a:xfrm>
            <a:prstGeom prst="rect">
              <a:avLst/>
            </a:prstGeom>
            <a:noFill/>
            <a:ln>
              <a:noFill/>
            </a:ln>
          </p:spPr>
          <p:txBody>
            <a:bodyPr anchorCtr="0" anchor="ctr" bIns="50800" lIns="50800" spcFirstLastPara="1" rIns="50800" wrap="square" tIns="50800">
              <a:noAutofit/>
            </a:bodyPr>
            <a:lstStyle/>
            <a:p>
              <a:pPr indent="0" lvl="0" marL="0" marR="0" rtl="0" algn="ctr">
                <a:lnSpc>
                  <a:spcPct val="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5" name="Google Shape;495;p29"/>
          <p:cNvGrpSpPr/>
          <p:nvPr/>
        </p:nvGrpSpPr>
        <p:grpSpPr>
          <a:xfrm>
            <a:off x="9094813" y="2934730"/>
            <a:ext cx="325451" cy="325451"/>
            <a:chOff x="0" y="0"/>
            <a:chExt cx="812800" cy="812800"/>
          </a:xfrm>
        </p:grpSpPr>
        <p:sp>
          <p:nvSpPr>
            <p:cNvPr id="496" name="Google Shape;496;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9"/>
            <p:cNvSpPr txBox="1"/>
            <p:nvPr/>
          </p:nvSpPr>
          <p:spPr>
            <a:xfrm>
              <a:off x="76200" y="76200"/>
              <a:ext cx="660400" cy="660400"/>
            </a:xfrm>
            <a:prstGeom prst="rect">
              <a:avLst/>
            </a:prstGeom>
            <a:noFill/>
            <a:ln>
              <a:noFill/>
            </a:ln>
          </p:spPr>
          <p:txBody>
            <a:bodyPr anchorCtr="0" anchor="ctr" bIns="50800" lIns="50800" spcFirstLastPara="1" rIns="50800" wrap="square" tIns="50800">
              <a:noAutofit/>
            </a:bodyPr>
            <a:lstStyle/>
            <a:p>
              <a:pPr indent="0" lvl="0" marL="0" marR="0" rtl="0" algn="ctr">
                <a:lnSpc>
                  <a:spcPct val="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8" name="Google Shape;498;p29"/>
          <p:cNvGrpSpPr/>
          <p:nvPr/>
        </p:nvGrpSpPr>
        <p:grpSpPr>
          <a:xfrm>
            <a:off x="-3271034" y="-3520368"/>
            <a:ext cx="9568435" cy="4625459"/>
            <a:chOff x="0" y="-47625"/>
            <a:chExt cx="939217" cy="454025"/>
          </a:xfrm>
        </p:grpSpPr>
        <p:sp>
          <p:nvSpPr>
            <p:cNvPr id="499" name="Google Shape;499;p29"/>
            <p:cNvSpPr/>
            <p:nvPr/>
          </p:nvSpPr>
          <p:spPr>
            <a:xfrm>
              <a:off x="0" y="0"/>
              <a:ext cx="939217" cy="406400"/>
            </a:xfrm>
            <a:custGeom>
              <a:rect b="b" l="l" r="r" t="t"/>
              <a:pathLst>
                <a:path extrusionOk="0" h="406400" w="939217">
                  <a:moveTo>
                    <a:pt x="736017" y="0"/>
                  </a:moveTo>
                  <a:cubicBezTo>
                    <a:pt x="848241" y="0"/>
                    <a:pt x="939217" y="90976"/>
                    <a:pt x="939217" y="203200"/>
                  </a:cubicBezTo>
                  <a:cubicBezTo>
                    <a:pt x="939217" y="315424"/>
                    <a:pt x="848241" y="406400"/>
                    <a:pt x="73601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9"/>
            <p:cNvSpPr txBox="1"/>
            <p:nvPr/>
          </p:nvSpPr>
          <p:spPr>
            <a:xfrm>
              <a:off x="0" y="-47625"/>
              <a:ext cx="939217"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1" name="Google Shape;501;p29"/>
          <p:cNvSpPr/>
          <p:nvPr/>
        </p:nvSpPr>
        <p:spPr>
          <a:xfrm>
            <a:off x="16058915" y="-2034868"/>
            <a:ext cx="4009935" cy="4009935"/>
          </a:xfrm>
          <a:custGeom>
            <a:rect b="b" l="l" r="r" t="t"/>
            <a:pathLst>
              <a:path extrusionOk="0" h="4009935" w="4009935">
                <a:moveTo>
                  <a:pt x="0" y="0"/>
                </a:moveTo>
                <a:lnTo>
                  <a:pt x="4009935" y="0"/>
                </a:lnTo>
                <a:lnTo>
                  <a:pt x="4009935" y="4009935"/>
                </a:lnTo>
                <a:lnTo>
                  <a:pt x="0" y="4009935"/>
                </a:lnTo>
                <a:lnTo>
                  <a:pt x="0" y="0"/>
                </a:lnTo>
                <a:close/>
              </a:path>
            </a:pathLst>
          </a:custGeom>
          <a:blipFill rotWithShape="1">
            <a:blip r:embed="rId3">
              <a:alphaModFix/>
            </a:blip>
            <a:stretch>
              <a:fillRect b="0" l="0" r="0" t="0"/>
            </a:stretch>
          </a:blipFill>
          <a:ln>
            <a:noFill/>
          </a:ln>
        </p:spPr>
      </p:sp>
      <p:grpSp>
        <p:nvGrpSpPr>
          <p:cNvPr id="502" name="Google Shape;502;p29"/>
          <p:cNvGrpSpPr/>
          <p:nvPr/>
        </p:nvGrpSpPr>
        <p:grpSpPr>
          <a:xfrm>
            <a:off x="1249361" y="539989"/>
            <a:ext cx="959812" cy="959812"/>
            <a:chOff x="0" y="0"/>
            <a:chExt cx="812800" cy="812800"/>
          </a:xfrm>
        </p:grpSpPr>
        <p:sp>
          <p:nvSpPr>
            <p:cNvPr id="503" name="Google Shape;503;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5" name="Google Shape;505;p29"/>
          <p:cNvGrpSpPr/>
          <p:nvPr/>
        </p:nvGrpSpPr>
        <p:grpSpPr>
          <a:xfrm>
            <a:off x="14566068" y="2934730"/>
            <a:ext cx="325451" cy="325451"/>
            <a:chOff x="0" y="0"/>
            <a:chExt cx="812800" cy="812800"/>
          </a:xfrm>
        </p:grpSpPr>
        <p:sp>
          <p:nvSpPr>
            <p:cNvPr id="506" name="Google Shape;506;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9"/>
            <p:cNvSpPr txBox="1"/>
            <p:nvPr/>
          </p:nvSpPr>
          <p:spPr>
            <a:xfrm>
              <a:off x="76200" y="76200"/>
              <a:ext cx="660400" cy="660400"/>
            </a:xfrm>
            <a:prstGeom prst="rect">
              <a:avLst/>
            </a:prstGeom>
            <a:noFill/>
            <a:ln>
              <a:noFill/>
            </a:ln>
          </p:spPr>
          <p:txBody>
            <a:bodyPr anchorCtr="0" anchor="ctr" bIns="50800" lIns="50800" spcFirstLastPara="1" rIns="50800" wrap="square" tIns="50800">
              <a:noAutofit/>
            </a:bodyPr>
            <a:lstStyle/>
            <a:p>
              <a:pPr indent="0" lvl="0" marL="0" marR="0" rtl="0" algn="ctr">
                <a:lnSpc>
                  <a:spcPct val="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8" name="Google Shape;508;p29"/>
          <p:cNvSpPr/>
          <p:nvPr/>
        </p:nvSpPr>
        <p:spPr>
          <a:xfrm>
            <a:off x="2874200" y="7869475"/>
            <a:ext cx="2084101" cy="2180715"/>
          </a:xfrm>
          <a:custGeom>
            <a:rect b="b" l="l" r="r" t="t"/>
            <a:pathLst>
              <a:path extrusionOk="0" h="2760399" w="2760399">
                <a:moveTo>
                  <a:pt x="0" y="0"/>
                </a:moveTo>
                <a:lnTo>
                  <a:pt x="2760399" y="0"/>
                </a:lnTo>
                <a:lnTo>
                  <a:pt x="2760399" y="2760399"/>
                </a:lnTo>
                <a:lnTo>
                  <a:pt x="0" y="2760399"/>
                </a:lnTo>
                <a:lnTo>
                  <a:pt x="0" y="0"/>
                </a:lnTo>
                <a:close/>
              </a:path>
            </a:pathLst>
          </a:custGeom>
          <a:blipFill rotWithShape="1">
            <a:blip r:embed="rId4">
              <a:alphaModFix/>
            </a:blip>
            <a:stretch>
              <a:fillRect b="0" l="0" r="0" t="0"/>
            </a:stretch>
          </a:blipFill>
          <a:ln>
            <a:noFill/>
          </a:ln>
        </p:spPr>
      </p:sp>
      <p:sp>
        <p:nvSpPr>
          <p:cNvPr id="509" name="Google Shape;509;p29"/>
          <p:cNvSpPr/>
          <p:nvPr/>
        </p:nvSpPr>
        <p:spPr>
          <a:xfrm>
            <a:off x="7599063" y="8737473"/>
            <a:ext cx="1242026" cy="1242026"/>
          </a:xfrm>
          <a:custGeom>
            <a:rect b="b" l="l" r="r" t="t"/>
            <a:pathLst>
              <a:path extrusionOk="0" h="1242026" w="1242026">
                <a:moveTo>
                  <a:pt x="0" y="0"/>
                </a:moveTo>
                <a:lnTo>
                  <a:pt x="1242025" y="0"/>
                </a:lnTo>
                <a:lnTo>
                  <a:pt x="1242025" y="1242026"/>
                </a:lnTo>
                <a:lnTo>
                  <a:pt x="0" y="1242026"/>
                </a:lnTo>
                <a:lnTo>
                  <a:pt x="0" y="0"/>
                </a:lnTo>
                <a:close/>
              </a:path>
            </a:pathLst>
          </a:custGeom>
          <a:blipFill rotWithShape="1">
            <a:blip r:embed="rId5">
              <a:alphaModFix/>
            </a:blip>
            <a:stretch>
              <a:fillRect b="0" l="0" r="0" t="0"/>
            </a:stretch>
          </a:blipFill>
          <a:ln>
            <a:noFill/>
          </a:ln>
        </p:spPr>
      </p:sp>
      <p:sp>
        <p:nvSpPr>
          <p:cNvPr id="510" name="Google Shape;510;p29"/>
          <p:cNvSpPr/>
          <p:nvPr/>
        </p:nvSpPr>
        <p:spPr>
          <a:xfrm>
            <a:off x="9213200" y="8669048"/>
            <a:ext cx="2383171" cy="1406071"/>
          </a:xfrm>
          <a:custGeom>
            <a:rect b="b" l="l" r="r" t="t"/>
            <a:pathLst>
              <a:path extrusionOk="0" h="1406071" w="2383171">
                <a:moveTo>
                  <a:pt x="0" y="0"/>
                </a:moveTo>
                <a:lnTo>
                  <a:pt x="2383171" y="0"/>
                </a:lnTo>
                <a:lnTo>
                  <a:pt x="2383171" y="1406071"/>
                </a:lnTo>
                <a:lnTo>
                  <a:pt x="0" y="1406071"/>
                </a:lnTo>
                <a:lnTo>
                  <a:pt x="0" y="0"/>
                </a:lnTo>
                <a:close/>
              </a:path>
            </a:pathLst>
          </a:custGeom>
          <a:blipFill rotWithShape="1">
            <a:blip r:embed="rId6">
              <a:alphaModFix/>
            </a:blip>
            <a:stretch>
              <a:fillRect b="0" l="0" r="0" t="0"/>
            </a:stretch>
          </a:blipFill>
          <a:ln>
            <a:noFill/>
          </a:ln>
        </p:spPr>
      </p:sp>
      <p:sp>
        <p:nvSpPr>
          <p:cNvPr id="511" name="Google Shape;511;p29"/>
          <p:cNvSpPr/>
          <p:nvPr/>
        </p:nvSpPr>
        <p:spPr>
          <a:xfrm>
            <a:off x="13208012" y="8282523"/>
            <a:ext cx="3367014" cy="1767682"/>
          </a:xfrm>
          <a:custGeom>
            <a:rect b="b" l="l" r="r" t="t"/>
            <a:pathLst>
              <a:path extrusionOk="0" h="1767682" w="3367014">
                <a:moveTo>
                  <a:pt x="0" y="0"/>
                </a:moveTo>
                <a:lnTo>
                  <a:pt x="3367014" y="0"/>
                </a:lnTo>
                <a:lnTo>
                  <a:pt x="3367014" y="1767682"/>
                </a:lnTo>
                <a:lnTo>
                  <a:pt x="0" y="1767682"/>
                </a:lnTo>
                <a:lnTo>
                  <a:pt x="0" y="0"/>
                </a:lnTo>
                <a:close/>
              </a:path>
            </a:pathLst>
          </a:custGeom>
          <a:blipFill rotWithShape="1">
            <a:blip r:embed="rId7">
              <a:alphaModFix/>
            </a:blip>
            <a:stretch>
              <a:fillRect b="0" l="0" r="0" t="0"/>
            </a:stretch>
          </a:blipFill>
          <a:ln>
            <a:noFill/>
          </a:ln>
        </p:spPr>
      </p:sp>
      <p:sp>
        <p:nvSpPr>
          <p:cNvPr id="512" name="Google Shape;512;p29"/>
          <p:cNvSpPr txBox="1"/>
          <p:nvPr/>
        </p:nvSpPr>
        <p:spPr>
          <a:xfrm>
            <a:off x="2616016" y="1318825"/>
            <a:ext cx="13177983" cy="1514475"/>
          </a:xfrm>
          <a:prstGeom prst="rect">
            <a:avLst/>
          </a:prstGeom>
          <a:noFill/>
          <a:ln>
            <a:noFill/>
          </a:ln>
        </p:spPr>
        <p:txBody>
          <a:bodyPr anchorCtr="0" anchor="t" bIns="0" lIns="0" spcFirstLastPara="1" rIns="0" wrap="square" tIns="0">
            <a:spAutoFit/>
          </a:bodyPr>
          <a:lstStyle/>
          <a:p>
            <a:pPr indent="0" lvl="0" marL="0" marR="0" rtl="0" algn="ctr">
              <a:lnSpc>
                <a:spcPct val="120011"/>
              </a:lnSpc>
              <a:spcBef>
                <a:spcPts val="0"/>
              </a:spcBef>
              <a:spcAft>
                <a:spcPts val="0"/>
              </a:spcAft>
              <a:buNone/>
            </a:pPr>
            <a:r>
              <a:rPr b="0" i="0" lang="en-US" sz="8755" u="none" cap="none" strike="noStrike">
                <a:solidFill>
                  <a:srgbClr val="152540"/>
                </a:solidFill>
                <a:latin typeface="Arial"/>
                <a:ea typeface="Arial"/>
                <a:cs typeface="Arial"/>
                <a:sym typeface="Arial"/>
              </a:rPr>
              <a:t>Tipos de Firewall</a:t>
            </a:r>
            <a:endParaRPr/>
          </a:p>
        </p:txBody>
      </p:sp>
      <p:sp>
        <p:nvSpPr>
          <p:cNvPr id="513" name="Google Shape;513;p29"/>
          <p:cNvSpPr txBox="1"/>
          <p:nvPr/>
        </p:nvSpPr>
        <p:spPr>
          <a:xfrm>
            <a:off x="1528255" y="3882482"/>
            <a:ext cx="4776000" cy="3987000"/>
          </a:xfrm>
          <a:prstGeom prst="rect">
            <a:avLst/>
          </a:prstGeom>
          <a:noFill/>
          <a:ln>
            <a:noFill/>
          </a:ln>
        </p:spPr>
        <p:txBody>
          <a:bodyPr anchorCtr="0" anchor="t" bIns="0" lIns="0" spcFirstLastPara="1" rIns="0" wrap="square" tIns="0">
            <a:spAutoFit/>
          </a:bodyPr>
          <a:lstStyle/>
          <a:p>
            <a:pPr indent="0" lvl="0" marL="0" marR="0" rtl="0" algn="ctr">
              <a:lnSpc>
                <a:spcPct val="122018"/>
              </a:lnSpc>
              <a:spcBef>
                <a:spcPts val="0"/>
              </a:spcBef>
              <a:spcAft>
                <a:spcPts val="0"/>
              </a:spcAft>
              <a:buNone/>
            </a:pPr>
            <a:r>
              <a:rPr b="0" i="0" lang="en-US" sz="1962" u="none" cap="none" strike="noStrike">
                <a:solidFill>
                  <a:srgbClr val="4D4C4C"/>
                </a:solidFill>
                <a:latin typeface="Arial"/>
                <a:ea typeface="Arial"/>
                <a:cs typeface="Arial"/>
                <a:sym typeface="Arial"/>
              </a:rPr>
              <a:t>Dispositivo físico que protege redes completas.</a:t>
            </a:r>
            <a:endParaRPr/>
          </a:p>
          <a:p>
            <a:pPr indent="0" lvl="0" marL="0" marR="0" rtl="0" algn="ctr">
              <a:lnSpc>
                <a:spcPct val="122018"/>
              </a:lnSpc>
              <a:spcBef>
                <a:spcPts val="0"/>
              </a:spcBef>
              <a:spcAft>
                <a:spcPts val="0"/>
              </a:spcAft>
              <a:buNone/>
            </a:pPr>
            <a:r>
              <a:t/>
            </a:r>
            <a:endParaRPr b="0" i="0" sz="1962" u="none" cap="none" strike="noStrike">
              <a:solidFill>
                <a:srgbClr val="4D4C4C"/>
              </a:solidFill>
              <a:latin typeface="Arial"/>
              <a:ea typeface="Arial"/>
              <a:cs typeface="Arial"/>
              <a:sym typeface="Arial"/>
            </a:endParaRPr>
          </a:p>
          <a:p>
            <a:pPr indent="0" lvl="0" marL="0" marR="0" rtl="0" algn="ctr">
              <a:lnSpc>
                <a:spcPct val="122018"/>
              </a:lnSpc>
              <a:spcBef>
                <a:spcPts val="0"/>
              </a:spcBef>
              <a:spcAft>
                <a:spcPts val="0"/>
              </a:spcAft>
              <a:buNone/>
            </a:pPr>
            <a:r>
              <a:rPr b="0" i="0" lang="en-US" sz="1962" u="none" cap="none" strike="noStrike">
                <a:solidFill>
                  <a:srgbClr val="4D4C4C"/>
                </a:solidFill>
                <a:latin typeface="Arial"/>
                <a:ea typeface="Arial"/>
                <a:cs typeface="Arial"/>
                <a:sym typeface="Arial"/>
              </a:rPr>
              <a:t>Se intala fisicamente entre la red interna y la externa</a:t>
            </a:r>
            <a:endParaRPr/>
          </a:p>
          <a:p>
            <a:pPr indent="0" lvl="0" marL="0" marR="0" rtl="0" algn="ctr">
              <a:lnSpc>
                <a:spcPct val="122018"/>
              </a:lnSpc>
              <a:spcBef>
                <a:spcPts val="0"/>
              </a:spcBef>
              <a:spcAft>
                <a:spcPts val="0"/>
              </a:spcAft>
              <a:buNone/>
            </a:pPr>
            <a:r>
              <a:rPr b="0" i="0" lang="en-US" sz="1962" u="none" cap="none" strike="noStrike">
                <a:solidFill>
                  <a:srgbClr val="4D4C4C"/>
                </a:solidFill>
                <a:latin typeface="Arial"/>
                <a:ea typeface="Arial"/>
                <a:cs typeface="Arial"/>
                <a:sym typeface="Arial"/>
              </a:rPr>
              <a:t> (como los ASA de Cisco o los FortiGate).</a:t>
            </a:r>
            <a:endParaRPr/>
          </a:p>
          <a:p>
            <a:pPr indent="0" lvl="0" marL="0" marR="0" rtl="0" algn="ctr">
              <a:lnSpc>
                <a:spcPct val="122018"/>
              </a:lnSpc>
              <a:spcBef>
                <a:spcPts val="0"/>
              </a:spcBef>
              <a:spcAft>
                <a:spcPts val="0"/>
              </a:spcAft>
              <a:buNone/>
            </a:pPr>
            <a:r>
              <a:t/>
            </a:r>
            <a:endParaRPr b="0" i="0" sz="1962" u="none" cap="none" strike="noStrike">
              <a:solidFill>
                <a:srgbClr val="4D4C4C"/>
              </a:solidFill>
              <a:latin typeface="Arial"/>
              <a:ea typeface="Arial"/>
              <a:cs typeface="Arial"/>
              <a:sym typeface="Arial"/>
            </a:endParaRPr>
          </a:p>
          <a:p>
            <a:pPr indent="0" lvl="0" marL="0" marR="0" rtl="0" algn="ctr">
              <a:lnSpc>
                <a:spcPct val="122018"/>
              </a:lnSpc>
              <a:spcBef>
                <a:spcPts val="0"/>
              </a:spcBef>
              <a:spcAft>
                <a:spcPts val="0"/>
              </a:spcAft>
              <a:buNone/>
            </a:pPr>
            <a:r>
              <a:rPr b="0" i="0" lang="en-US" sz="1962" u="none" cap="none" strike="noStrike">
                <a:solidFill>
                  <a:srgbClr val="4D4C4C"/>
                </a:solidFill>
                <a:latin typeface="Arial"/>
                <a:ea typeface="Arial"/>
                <a:cs typeface="Arial"/>
                <a:sym typeface="Arial"/>
              </a:rPr>
              <a:t>Son dispositivos Dedicados, tienen alta velocidad de filtrado, protegen redes completas y son ideales para empresas o centros de datos.</a:t>
            </a:r>
            <a:endParaRPr/>
          </a:p>
        </p:txBody>
      </p:sp>
      <p:sp>
        <p:nvSpPr>
          <p:cNvPr id="514" name="Google Shape;514;p29"/>
          <p:cNvSpPr txBox="1"/>
          <p:nvPr/>
        </p:nvSpPr>
        <p:spPr>
          <a:xfrm>
            <a:off x="7208336" y="3848953"/>
            <a:ext cx="4597200" cy="4820100"/>
          </a:xfrm>
          <a:prstGeom prst="rect">
            <a:avLst/>
          </a:prstGeom>
          <a:noFill/>
          <a:ln>
            <a:noFill/>
          </a:ln>
        </p:spPr>
        <p:txBody>
          <a:bodyPr anchorCtr="0" anchor="t" bIns="0" lIns="0" spcFirstLastPara="1" rIns="0" wrap="square" tIns="0">
            <a:spAutoFit/>
          </a:bodyPr>
          <a:lstStyle/>
          <a:p>
            <a:pPr indent="0" lvl="0" marL="0" marR="0" rtl="0" algn="ctr">
              <a:lnSpc>
                <a:spcPct val="122024"/>
              </a:lnSpc>
              <a:spcBef>
                <a:spcPts val="0"/>
              </a:spcBef>
              <a:spcAft>
                <a:spcPts val="0"/>
              </a:spcAft>
              <a:buNone/>
            </a:pPr>
            <a:r>
              <a:rPr b="0" i="0" lang="en-US" sz="1857" u="none" cap="none" strike="noStrike">
                <a:solidFill>
                  <a:srgbClr val="4D4C4C"/>
                </a:solidFill>
                <a:latin typeface="Arial"/>
                <a:ea typeface="Arial"/>
                <a:cs typeface="Arial"/>
                <a:sym typeface="Arial"/>
              </a:rPr>
              <a:t>Software instalado en un equipo individual.</a:t>
            </a:r>
            <a:endParaRPr/>
          </a:p>
          <a:p>
            <a:pPr indent="0" lvl="0" marL="0" marR="0" rtl="0" algn="ctr">
              <a:lnSpc>
                <a:spcPct val="122024"/>
              </a:lnSpc>
              <a:spcBef>
                <a:spcPts val="0"/>
              </a:spcBef>
              <a:spcAft>
                <a:spcPts val="0"/>
              </a:spcAft>
              <a:buNone/>
            </a:pPr>
            <a:r>
              <a:t/>
            </a:r>
            <a:endParaRPr b="0" i="0" sz="1857" u="none" cap="none" strike="noStrike">
              <a:solidFill>
                <a:srgbClr val="4D4C4C"/>
              </a:solidFill>
              <a:latin typeface="Arial"/>
              <a:ea typeface="Arial"/>
              <a:cs typeface="Arial"/>
              <a:sym typeface="Arial"/>
            </a:endParaRPr>
          </a:p>
          <a:p>
            <a:pPr indent="0" lvl="0" marL="0" marR="0" rtl="0" algn="ctr">
              <a:lnSpc>
                <a:spcPct val="122024"/>
              </a:lnSpc>
              <a:spcBef>
                <a:spcPts val="0"/>
              </a:spcBef>
              <a:spcAft>
                <a:spcPts val="0"/>
              </a:spcAft>
              <a:buNone/>
            </a:pPr>
            <a:r>
              <a:rPr b="0" i="0" lang="en-US" sz="1857" u="none" cap="none" strike="noStrike">
                <a:solidFill>
                  <a:srgbClr val="4D4C4C"/>
                </a:solidFill>
                <a:latin typeface="Arial"/>
                <a:ea typeface="Arial"/>
                <a:cs typeface="Arial"/>
                <a:sym typeface="Arial"/>
              </a:rPr>
              <a:t>Se instala en cada computadora o servidor individual.</a:t>
            </a:r>
            <a:endParaRPr/>
          </a:p>
          <a:p>
            <a:pPr indent="0" lvl="0" marL="0" marR="0" rtl="0" algn="ctr">
              <a:lnSpc>
                <a:spcPct val="122024"/>
              </a:lnSpc>
              <a:spcBef>
                <a:spcPts val="0"/>
              </a:spcBef>
              <a:spcAft>
                <a:spcPts val="0"/>
              </a:spcAft>
              <a:buNone/>
            </a:pPr>
            <a:r>
              <a:rPr b="0" i="0" lang="en-US" sz="1857" u="none" cap="none" strike="noStrike">
                <a:solidFill>
                  <a:srgbClr val="4D4C4C"/>
                </a:solidFill>
                <a:latin typeface="Arial"/>
                <a:ea typeface="Arial"/>
                <a:cs typeface="Arial"/>
                <a:sym typeface="Arial"/>
              </a:rPr>
              <a:t>(como el Firewall de Windows o UFW de linux).</a:t>
            </a:r>
            <a:endParaRPr/>
          </a:p>
          <a:p>
            <a:pPr indent="0" lvl="0" marL="0" marR="0" rtl="0" algn="ctr">
              <a:lnSpc>
                <a:spcPct val="122024"/>
              </a:lnSpc>
              <a:spcBef>
                <a:spcPts val="0"/>
              </a:spcBef>
              <a:spcAft>
                <a:spcPts val="0"/>
              </a:spcAft>
              <a:buNone/>
            </a:pPr>
            <a:r>
              <a:t/>
            </a:r>
            <a:endParaRPr b="0" i="0" sz="1857" u="none" cap="none" strike="noStrike">
              <a:solidFill>
                <a:srgbClr val="4D4C4C"/>
              </a:solidFill>
              <a:latin typeface="Arial"/>
              <a:ea typeface="Arial"/>
              <a:cs typeface="Arial"/>
              <a:sym typeface="Arial"/>
            </a:endParaRPr>
          </a:p>
          <a:p>
            <a:pPr indent="0" lvl="0" marL="0" marR="0" rtl="0" algn="ctr">
              <a:lnSpc>
                <a:spcPct val="122024"/>
              </a:lnSpc>
              <a:spcBef>
                <a:spcPts val="0"/>
              </a:spcBef>
              <a:spcAft>
                <a:spcPts val="0"/>
              </a:spcAft>
              <a:buNone/>
            </a:pPr>
            <a:r>
              <a:rPr b="0" i="0" lang="en-US" sz="1857" u="none" cap="none" strike="noStrike">
                <a:solidFill>
                  <a:srgbClr val="4D4C4C"/>
                </a:solidFill>
                <a:latin typeface="Arial"/>
                <a:ea typeface="Arial"/>
                <a:cs typeface="Arial"/>
                <a:sym typeface="Arial"/>
              </a:rPr>
              <a:t>Controlan el tráfico de entrada y salida de un solo equipo.</a:t>
            </a:r>
            <a:endParaRPr/>
          </a:p>
          <a:p>
            <a:pPr indent="0" lvl="0" marL="0" marR="0" rtl="0" algn="ctr">
              <a:lnSpc>
                <a:spcPct val="122024"/>
              </a:lnSpc>
              <a:spcBef>
                <a:spcPts val="0"/>
              </a:spcBef>
              <a:spcAft>
                <a:spcPts val="0"/>
              </a:spcAft>
              <a:buNone/>
            </a:pPr>
            <a:r>
              <a:t/>
            </a:r>
            <a:endParaRPr b="0" i="0" sz="1857" u="none" cap="none" strike="noStrike">
              <a:solidFill>
                <a:srgbClr val="4D4C4C"/>
              </a:solidFill>
              <a:latin typeface="Arial"/>
              <a:ea typeface="Arial"/>
              <a:cs typeface="Arial"/>
              <a:sym typeface="Arial"/>
            </a:endParaRPr>
          </a:p>
          <a:p>
            <a:pPr indent="0" lvl="0" marL="0" marR="0" rtl="0" algn="ctr">
              <a:lnSpc>
                <a:spcPct val="122024"/>
              </a:lnSpc>
              <a:spcBef>
                <a:spcPts val="0"/>
              </a:spcBef>
              <a:spcAft>
                <a:spcPts val="0"/>
              </a:spcAft>
              <a:buNone/>
            </a:pPr>
            <a:r>
              <a:rPr b="0" i="0" lang="en-US" sz="1857" u="none" cap="none" strike="noStrike">
                <a:solidFill>
                  <a:srgbClr val="4D4C4C"/>
                </a:solidFill>
                <a:latin typeface="Arial"/>
                <a:ea typeface="Arial"/>
                <a:cs typeface="Arial"/>
                <a:sym typeface="Arial"/>
              </a:rPr>
              <a:t>Permiten personalización por aplicación o puerto.</a:t>
            </a:r>
            <a:endParaRPr/>
          </a:p>
          <a:p>
            <a:pPr indent="0" lvl="0" marL="0" marR="0" rtl="0" algn="ctr">
              <a:lnSpc>
                <a:spcPct val="122024"/>
              </a:lnSpc>
              <a:spcBef>
                <a:spcPts val="0"/>
              </a:spcBef>
              <a:spcAft>
                <a:spcPts val="0"/>
              </a:spcAft>
              <a:buNone/>
            </a:pPr>
            <a:r>
              <a:t/>
            </a:r>
            <a:endParaRPr b="0" i="0" sz="1857" u="none" cap="none" strike="noStrike">
              <a:solidFill>
                <a:srgbClr val="4D4C4C"/>
              </a:solidFill>
              <a:latin typeface="Arial"/>
              <a:ea typeface="Arial"/>
              <a:cs typeface="Arial"/>
              <a:sym typeface="Arial"/>
            </a:endParaRPr>
          </a:p>
          <a:p>
            <a:pPr indent="0" lvl="0" marL="0" marR="0" rtl="0" algn="ctr">
              <a:lnSpc>
                <a:spcPct val="122024"/>
              </a:lnSpc>
              <a:spcBef>
                <a:spcPts val="0"/>
              </a:spcBef>
              <a:spcAft>
                <a:spcPts val="0"/>
              </a:spcAft>
              <a:buNone/>
            </a:pPr>
            <a:r>
              <a:rPr b="0" i="0" lang="en-US" sz="1857" u="none" cap="none" strike="noStrike">
                <a:solidFill>
                  <a:srgbClr val="4D4C4C"/>
                </a:solidFill>
                <a:latin typeface="Arial"/>
                <a:ea typeface="Arial"/>
                <a:cs typeface="Arial"/>
                <a:sym typeface="Arial"/>
              </a:rPr>
              <a:t>La protección es individual y no de la red.</a:t>
            </a:r>
            <a:endParaRPr/>
          </a:p>
        </p:txBody>
      </p:sp>
      <p:sp>
        <p:nvSpPr>
          <p:cNvPr id="515" name="Google Shape;515;p29"/>
          <p:cNvSpPr txBox="1"/>
          <p:nvPr/>
        </p:nvSpPr>
        <p:spPr>
          <a:xfrm>
            <a:off x="3036379" y="3498307"/>
            <a:ext cx="2085192" cy="384175"/>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None/>
            </a:pPr>
            <a:r>
              <a:rPr b="1" i="0" lang="en-US" sz="2499" u="none" cap="none" strike="noStrike">
                <a:solidFill>
                  <a:srgbClr val="4D4C4C"/>
                </a:solidFill>
                <a:latin typeface="Arial"/>
                <a:ea typeface="Arial"/>
                <a:cs typeface="Arial"/>
                <a:sym typeface="Arial"/>
              </a:rPr>
              <a:t>DE RED</a:t>
            </a:r>
            <a:endParaRPr/>
          </a:p>
        </p:txBody>
      </p:sp>
      <p:sp>
        <p:nvSpPr>
          <p:cNvPr id="516" name="Google Shape;516;p29"/>
          <p:cNvSpPr txBox="1"/>
          <p:nvPr/>
        </p:nvSpPr>
        <p:spPr>
          <a:xfrm>
            <a:off x="7966102" y="3396340"/>
            <a:ext cx="2624141" cy="384175"/>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None/>
            </a:pPr>
            <a:r>
              <a:rPr b="1" i="0" lang="en-US" sz="2499" u="none" cap="none" strike="noStrike">
                <a:solidFill>
                  <a:srgbClr val="4D4C4C"/>
                </a:solidFill>
                <a:latin typeface="Arial"/>
                <a:ea typeface="Arial"/>
                <a:cs typeface="Arial"/>
                <a:sym typeface="Arial"/>
              </a:rPr>
              <a:t>DE HOST</a:t>
            </a:r>
            <a:endParaRPr/>
          </a:p>
        </p:txBody>
      </p:sp>
      <p:sp>
        <p:nvSpPr>
          <p:cNvPr id="517" name="Google Shape;517;p29"/>
          <p:cNvSpPr txBox="1"/>
          <p:nvPr/>
        </p:nvSpPr>
        <p:spPr>
          <a:xfrm>
            <a:off x="12441058" y="4444090"/>
            <a:ext cx="4900922" cy="3333545"/>
          </a:xfrm>
          <a:prstGeom prst="rect">
            <a:avLst/>
          </a:prstGeom>
          <a:noFill/>
          <a:ln>
            <a:noFill/>
          </a:ln>
        </p:spPr>
        <p:txBody>
          <a:bodyPr anchorCtr="0" anchor="t" bIns="0" lIns="0" spcFirstLastPara="1" rIns="0" wrap="square" tIns="0">
            <a:spAutoFit/>
          </a:bodyPr>
          <a:lstStyle/>
          <a:p>
            <a:pPr indent="0" lvl="0" marL="0" marR="0" rtl="0" algn="ctr">
              <a:lnSpc>
                <a:spcPct val="121986"/>
              </a:lnSpc>
              <a:spcBef>
                <a:spcPts val="0"/>
              </a:spcBef>
              <a:spcAft>
                <a:spcPts val="0"/>
              </a:spcAft>
              <a:buNone/>
            </a:pPr>
            <a:r>
              <a:rPr b="0" i="0" lang="en-US" sz="1792" u="none" cap="none" strike="noStrike">
                <a:solidFill>
                  <a:srgbClr val="4D4C4C"/>
                </a:solidFill>
                <a:latin typeface="Arial"/>
                <a:ea typeface="Arial"/>
                <a:cs typeface="Arial"/>
                <a:sym typeface="Arial"/>
              </a:rPr>
              <a:t>Servicio en línea que protege redes o sitios desde Internet.</a:t>
            </a:r>
            <a:endParaRPr/>
          </a:p>
          <a:p>
            <a:pPr indent="0" lvl="0" marL="0" marR="0" rtl="0" algn="ctr">
              <a:lnSpc>
                <a:spcPct val="121986"/>
              </a:lnSpc>
              <a:spcBef>
                <a:spcPts val="0"/>
              </a:spcBef>
              <a:spcAft>
                <a:spcPts val="0"/>
              </a:spcAft>
              <a:buNone/>
            </a:pPr>
            <a:r>
              <a:t/>
            </a:r>
            <a:endParaRPr b="0" i="0" sz="1792" u="none" cap="none" strike="noStrike">
              <a:solidFill>
                <a:srgbClr val="4D4C4C"/>
              </a:solidFill>
              <a:latin typeface="Arial"/>
              <a:ea typeface="Arial"/>
              <a:cs typeface="Arial"/>
              <a:sym typeface="Arial"/>
            </a:endParaRPr>
          </a:p>
          <a:p>
            <a:pPr indent="0" lvl="0" marL="0" marR="0" rtl="0" algn="ctr">
              <a:lnSpc>
                <a:spcPct val="121986"/>
              </a:lnSpc>
              <a:spcBef>
                <a:spcPts val="0"/>
              </a:spcBef>
              <a:spcAft>
                <a:spcPts val="0"/>
              </a:spcAft>
              <a:buNone/>
            </a:pPr>
            <a:r>
              <a:rPr b="0" i="0" lang="en-US" sz="1792" u="none" cap="none" strike="noStrike">
                <a:solidFill>
                  <a:srgbClr val="4D4C4C"/>
                </a:solidFill>
                <a:latin typeface="Arial"/>
                <a:ea typeface="Arial"/>
                <a:cs typeface="Arial"/>
                <a:sym typeface="Arial"/>
              </a:rPr>
              <a:t>Se ubican en servidores remotos ( infraestructura como los AWS Security Groups, Azure Firewall o cloudflare)</a:t>
            </a:r>
            <a:endParaRPr/>
          </a:p>
          <a:p>
            <a:pPr indent="0" lvl="0" marL="0" marR="0" rtl="0" algn="ctr">
              <a:lnSpc>
                <a:spcPct val="121986"/>
              </a:lnSpc>
              <a:spcBef>
                <a:spcPts val="0"/>
              </a:spcBef>
              <a:spcAft>
                <a:spcPts val="0"/>
              </a:spcAft>
              <a:buNone/>
            </a:pPr>
            <a:r>
              <a:t/>
            </a:r>
            <a:endParaRPr b="0" i="0" sz="1792" u="none" cap="none" strike="noStrike">
              <a:solidFill>
                <a:srgbClr val="4D4C4C"/>
              </a:solidFill>
              <a:latin typeface="Arial"/>
              <a:ea typeface="Arial"/>
              <a:cs typeface="Arial"/>
              <a:sym typeface="Arial"/>
            </a:endParaRPr>
          </a:p>
          <a:p>
            <a:pPr indent="0" lvl="0" marL="0" marR="0" rtl="0" algn="ctr">
              <a:lnSpc>
                <a:spcPct val="121986"/>
              </a:lnSpc>
              <a:spcBef>
                <a:spcPts val="0"/>
              </a:spcBef>
              <a:spcAft>
                <a:spcPts val="0"/>
              </a:spcAft>
              <a:buNone/>
            </a:pPr>
            <a:r>
              <a:rPr b="0" i="0" lang="en-US" sz="1792" u="none" cap="none" strike="noStrike">
                <a:solidFill>
                  <a:srgbClr val="4D4C4C"/>
                </a:solidFill>
                <a:latin typeface="Arial"/>
                <a:ea typeface="Arial"/>
                <a:cs typeface="Arial"/>
                <a:sym typeface="Arial"/>
              </a:rPr>
              <a:t>Es escalable y centralizado.</a:t>
            </a:r>
            <a:endParaRPr/>
          </a:p>
          <a:p>
            <a:pPr indent="0" lvl="0" marL="0" marR="0" rtl="0" algn="ctr">
              <a:lnSpc>
                <a:spcPct val="121986"/>
              </a:lnSpc>
              <a:spcBef>
                <a:spcPts val="0"/>
              </a:spcBef>
              <a:spcAft>
                <a:spcPts val="0"/>
              </a:spcAft>
              <a:buNone/>
            </a:pPr>
            <a:r>
              <a:t/>
            </a:r>
            <a:endParaRPr b="0" i="0" sz="1792" u="none" cap="none" strike="noStrike">
              <a:solidFill>
                <a:srgbClr val="4D4C4C"/>
              </a:solidFill>
              <a:latin typeface="Arial"/>
              <a:ea typeface="Arial"/>
              <a:cs typeface="Arial"/>
              <a:sym typeface="Arial"/>
            </a:endParaRPr>
          </a:p>
          <a:p>
            <a:pPr indent="0" lvl="0" marL="0" marR="0" rtl="0" algn="ctr">
              <a:lnSpc>
                <a:spcPct val="121986"/>
              </a:lnSpc>
              <a:spcBef>
                <a:spcPts val="0"/>
              </a:spcBef>
              <a:spcAft>
                <a:spcPts val="0"/>
              </a:spcAft>
              <a:buNone/>
            </a:pPr>
            <a:r>
              <a:rPr b="0" i="0" lang="en-US" sz="1792" u="none" cap="none" strike="noStrike">
                <a:solidFill>
                  <a:srgbClr val="4D4C4C"/>
                </a:solidFill>
                <a:latin typeface="Arial"/>
                <a:ea typeface="Arial"/>
                <a:cs typeface="Arial"/>
                <a:sym typeface="Arial"/>
              </a:rPr>
              <a:t>Se configura por medio de navegador, API o SDK.</a:t>
            </a:r>
            <a:endParaRPr/>
          </a:p>
          <a:p>
            <a:pPr indent="0" lvl="0" marL="0" marR="0" rtl="0" algn="ctr">
              <a:lnSpc>
                <a:spcPct val="121986"/>
              </a:lnSpc>
              <a:spcBef>
                <a:spcPts val="0"/>
              </a:spcBef>
              <a:spcAft>
                <a:spcPts val="0"/>
              </a:spcAft>
              <a:buNone/>
            </a:pPr>
            <a:r>
              <a:t/>
            </a:r>
            <a:endParaRPr b="0" i="0" sz="1792" u="none" cap="none" strike="noStrike">
              <a:solidFill>
                <a:srgbClr val="4D4C4C"/>
              </a:solidFill>
              <a:latin typeface="Arial"/>
              <a:ea typeface="Arial"/>
              <a:cs typeface="Arial"/>
              <a:sym typeface="Arial"/>
            </a:endParaRPr>
          </a:p>
        </p:txBody>
      </p:sp>
      <p:sp>
        <p:nvSpPr>
          <p:cNvPr id="518" name="Google Shape;518;p29"/>
          <p:cNvSpPr txBox="1"/>
          <p:nvPr/>
        </p:nvSpPr>
        <p:spPr>
          <a:xfrm>
            <a:off x="13434774" y="3583665"/>
            <a:ext cx="2624141" cy="765175"/>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None/>
            </a:pPr>
            <a:r>
              <a:rPr b="1" i="0" lang="en-US" sz="2499" u="none" cap="none" strike="noStrike">
                <a:solidFill>
                  <a:srgbClr val="4D4C4C"/>
                </a:solidFill>
                <a:latin typeface="Arial"/>
                <a:ea typeface="Arial"/>
                <a:cs typeface="Arial"/>
                <a:sym typeface="Arial"/>
              </a:rPr>
              <a:t>BASADO EN LA NUBE</a:t>
            </a:r>
            <a:endParaRPr/>
          </a:p>
        </p:txBody>
      </p:sp>
      <p:cxnSp>
        <p:nvCxnSpPr>
          <p:cNvPr id="519" name="Google Shape;519;p29"/>
          <p:cNvCxnSpPr/>
          <p:nvPr/>
        </p:nvCxnSpPr>
        <p:spPr>
          <a:xfrm>
            <a:off x="6718699" y="3552438"/>
            <a:ext cx="0" cy="6158086"/>
          </a:xfrm>
          <a:prstGeom prst="straightConnector1">
            <a:avLst/>
          </a:prstGeom>
          <a:noFill/>
          <a:ln cap="flat" cmpd="sng" w="38100">
            <a:solidFill>
              <a:srgbClr val="4D4C4C"/>
            </a:solidFill>
            <a:prstDash val="solid"/>
            <a:round/>
            <a:headEnd len="sm" w="sm" type="none"/>
            <a:tailEnd len="sm" w="sm" type="none"/>
          </a:ln>
        </p:spPr>
      </p:cxnSp>
      <p:cxnSp>
        <p:nvCxnSpPr>
          <p:cNvPr id="520" name="Google Shape;520;p29"/>
          <p:cNvCxnSpPr/>
          <p:nvPr/>
        </p:nvCxnSpPr>
        <p:spPr>
          <a:xfrm>
            <a:off x="12295254" y="3507832"/>
            <a:ext cx="0" cy="6158086"/>
          </a:xfrm>
          <a:prstGeom prst="straightConnector1">
            <a:avLst/>
          </a:prstGeom>
          <a:noFill/>
          <a:ln cap="flat" cmpd="sng" w="38100">
            <a:solidFill>
              <a:srgbClr val="4D4C4C"/>
            </a:solidFill>
            <a:prstDash val="solid"/>
            <a:round/>
            <a:headEnd len="sm" w="sm" type="none"/>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24" name="Shape 524"/>
        <p:cNvGrpSpPr/>
        <p:nvPr/>
      </p:nvGrpSpPr>
      <p:grpSpPr>
        <a:xfrm>
          <a:off x="0" y="0"/>
          <a:ext cx="0" cy="0"/>
          <a:chOff x="0" y="0"/>
          <a:chExt cx="0" cy="0"/>
        </a:xfrm>
      </p:grpSpPr>
      <p:grpSp>
        <p:nvGrpSpPr>
          <p:cNvPr id="525" name="Google Shape;525;p30"/>
          <p:cNvGrpSpPr/>
          <p:nvPr/>
        </p:nvGrpSpPr>
        <p:grpSpPr>
          <a:xfrm rot="-5400000">
            <a:off x="7921866" y="187247"/>
            <a:ext cx="11836639" cy="9754024"/>
            <a:chOff x="0" y="-47625"/>
            <a:chExt cx="3117469" cy="2568961"/>
          </a:xfrm>
        </p:grpSpPr>
        <p:sp>
          <p:nvSpPr>
            <p:cNvPr id="526" name="Google Shape;526;p30"/>
            <p:cNvSpPr/>
            <p:nvPr/>
          </p:nvSpPr>
          <p:spPr>
            <a:xfrm>
              <a:off x="0" y="0"/>
              <a:ext cx="3117469" cy="2521336"/>
            </a:xfrm>
            <a:custGeom>
              <a:rect b="b" l="l" r="r" t="t"/>
              <a:pathLst>
                <a:path extrusionOk="0" h="2521336" w="3117469">
                  <a:moveTo>
                    <a:pt x="0" y="0"/>
                  </a:moveTo>
                  <a:lnTo>
                    <a:pt x="3117469" y="0"/>
                  </a:lnTo>
                  <a:lnTo>
                    <a:pt x="3117469" y="2521336"/>
                  </a:lnTo>
                  <a:lnTo>
                    <a:pt x="0" y="2521336"/>
                  </a:lnTo>
                  <a:close/>
                </a:path>
              </a:pathLst>
            </a:custGeom>
            <a:solidFill>
              <a:srgbClr val="152540"/>
            </a:solidFill>
            <a:ln>
              <a:noFill/>
            </a:ln>
          </p:spPr>
        </p:sp>
        <p:sp>
          <p:nvSpPr>
            <p:cNvPr id="527" name="Google Shape;527;p30"/>
            <p:cNvSpPr txBox="1"/>
            <p:nvPr/>
          </p:nvSpPr>
          <p:spPr>
            <a:xfrm>
              <a:off x="0" y="-47625"/>
              <a:ext cx="3117469" cy="256896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p30"/>
          <p:cNvGrpSpPr/>
          <p:nvPr/>
        </p:nvGrpSpPr>
        <p:grpSpPr>
          <a:xfrm rot="10800000">
            <a:off x="7089472" y="-2686123"/>
            <a:ext cx="13682253" cy="4625459"/>
            <a:chOff x="0" y="-47625"/>
            <a:chExt cx="1343020" cy="454025"/>
          </a:xfrm>
        </p:grpSpPr>
        <p:sp>
          <p:nvSpPr>
            <p:cNvPr id="529" name="Google Shape;529;p30"/>
            <p:cNvSpPr/>
            <p:nvPr/>
          </p:nvSpPr>
          <p:spPr>
            <a:xfrm>
              <a:off x="0" y="0"/>
              <a:ext cx="1343020" cy="406400"/>
            </a:xfrm>
            <a:custGeom>
              <a:rect b="b" l="l" r="r" t="t"/>
              <a:pathLst>
                <a:path extrusionOk="0" h="406400" w="1343020">
                  <a:moveTo>
                    <a:pt x="1139820" y="0"/>
                  </a:moveTo>
                  <a:cubicBezTo>
                    <a:pt x="1252045" y="0"/>
                    <a:pt x="1343020" y="90976"/>
                    <a:pt x="1343020" y="203200"/>
                  </a:cubicBezTo>
                  <a:cubicBezTo>
                    <a:pt x="1343020" y="315424"/>
                    <a:pt x="1252045" y="406400"/>
                    <a:pt x="11398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0"/>
            <p:cNvSpPr txBox="1"/>
            <p:nvPr/>
          </p:nvSpPr>
          <p:spPr>
            <a:xfrm>
              <a:off x="0" y="-47625"/>
              <a:ext cx="134302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1" name="Google Shape;531;p30"/>
          <p:cNvSpPr/>
          <p:nvPr/>
        </p:nvSpPr>
        <p:spPr>
          <a:xfrm>
            <a:off x="-2506918" y="8424265"/>
            <a:ext cx="4326365" cy="4326365"/>
          </a:xfrm>
          <a:custGeom>
            <a:rect b="b" l="l" r="r" t="t"/>
            <a:pathLst>
              <a:path extrusionOk="0" h="4326365" w="4326365">
                <a:moveTo>
                  <a:pt x="0" y="0"/>
                </a:moveTo>
                <a:lnTo>
                  <a:pt x="4326365" y="0"/>
                </a:lnTo>
                <a:lnTo>
                  <a:pt x="4326365" y="4326365"/>
                </a:lnTo>
                <a:lnTo>
                  <a:pt x="0" y="4326365"/>
                </a:lnTo>
                <a:lnTo>
                  <a:pt x="0" y="0"/>
                </a:lnTo>
                <a:close/>
              </a:path>
            </a:pathLst>
          </a:custGeom>
          <a:blipFill rotWithShape="1">
            <a:blip r:embed="rId3">
              <a:alphaModFix/>
            </a:blip>
            <a:stretch>
              <a:fillRect b="0" l="0" r="0" t="0"/>
            </a:stretch>
          </a:blipFill>
          <a:ln>
            <a:noFill/>
          </a:ln>
        </p:spPr>
      </p:sp>
      <p:sp>
        <p:nvSpPr>
          <p:cNvPr id="532" name="Google Shape;532;p30"/>
          <p:cNvSpPr/>
          <p:nvPr/>
        </p:nvSpPr>
        <p:spPr>
          <a:xfrm>
            <a:off x="698357" y="3431909"/>
            <a:ext cx="660687" cy="661890"/>
          </a:xfrm>
          <a:custGeom>
            <a:rect b="b" l="l" r="r" t="t"/>
            <a:pathLst>
              <a:path extrusionOk="0" h="661890" w="660687">
                <a:moveTo>
                  <a:pt x="0" y="0"/>
                </a:moveTo>
                <a:lnTo>
                  <a:pt x="660686" y="0"/>
                </a:lnTo>
                <a:lnTo>
                  <a:pt x="660686" y="661890"/>
                </a:lnTo>
                <a:lnTo>
                  <a:pt x="0" y="661890"/>
                </a:lnTo>
                <a:lnTo>
                  <a:pt x="0" y="0"/>
                </a:lnTo>
                <a:close/>
              </a:path>
            </a:pathLst>
          </a:custGeom>
          <a:blipFill rotWithShape="1">
            <a:blip r:embed="rId4">
              <a:alphaModFix/>
            </a:blip>
            <a:stretch>
              <a:fillRect b="0" l="0" r="0" t="0"/>
            </a:stretch>
          </a:blipFill>
          <a:ln>
            <a:noFill/>
          </a:ln>
        </p:spPr>
      </p:sp>
      <p:grpSp>
        <p:nvGrpSpPr>
          <p:cNvPr id="533" name="Google Shape;533;p30"/>
          <p:cNvGrpSpPr/>
          <p:nvPr/>
        </p:nvGrpSpPr>
        <p:grpSpPr>
          <a:xfrm rot="10800000">
            <a:off x="7457005" y="443095"/>
            <a:ext cx="1035787" cy="1035787"/>
            <a:chOff x="0" y="0"/>
            <a:chExt cx="812800" cy="812800"/>
          </a:xfrm>
        </p:grpSpPr>
        <p:sp>
          <p:nvSpPr>
            <p:cNvPr id="534" name="Google Shape;534;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6" name="Google Shape;536;p30"/>
          <p:cNvSpPr/>
          <p:nvPr/>
        </p:nvSpPr>
        <p:spPr>
          <a:xfrm>
            <a:off x="9833064" y="644500"/>
            <a:ext cx="7727862" cy="8633115"/>
          </a:xfrm>
          <a:custGeom>
            <a:rect b="b" l="l" r="r" t="t"/>
            <a:pathLst>
              <a:path extrusionOk="0" h="1400010" w="1253208">
                <a:moveTo>
                  <a:pt x="0" y="0"/>
                </a:moveTo>
                <a:lnTo>
                  <a:pt x="1253208" y="0"/>
                </a:lnTo>
                <a:lnTo>
                  <a:pt x="1253208" y="1400010"/>
                </a:lnTo>
                <a:lnTo>
                  <a:pt x="0" y="1400010"/>
                </a:lnTo>
                <a:close/>
              </a:path>
            </a:pathLst>
          </a:custGeom>
          <a:blipFill rotWithShape="1">
            <a:blip r:embed="rId5">
              <a:alphaModFix/>
            </a:blip>
            <a:stretch>
              <a:fillRect b="0" l="-65762" r="-65762" t="0"/>
            </a:stretch>
          </a:blipFill>
          <a:ln cap="sq" cmpd="sng" w="85725">
            <a:solidFill>
              <a:srgbClr val="FFFDF7"/>
            </a:solidFill>
            <a:prstDash val="solid"/>
            <a:miter lim="8000"/>
            <a:headEnd len="sm" w="sm" type="none"/>
            <a:tailEnd len="sm" w="sm" type="none"/>
          </a:ln>
        </p:spPr>
      </p:sp>
      <p:sp>
        <p:nvSpPr>
          <p:cNvPr id="537" name="Google Shape;537;p30"/>
          <p:cNvSpPr txBox="1"/>
          <p:nvPr/>
        </p:nvSpPr>
        <p:spPr>
          <a:xfrm>
            <a:off x="1627772" y="3392872"/>
            <a:ext cx="6315030" cy="4908102"/>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1" i="0" lang="en-US" sz="2517" u="none" cap="none" strike="noStrike">
                <a:solidFill>
                  <a:srgbClr val="4D4C4C"/>
                </a:solidFill>
                <a:latin typeface="Arial"/>
                <a:ea typeface="Arial"/>
                <a:cs typeface="Arial"/>
                <a:sym typeface="Arial"/>
              </a:rPr>
              <a:t>Un puerto es como una puerta virtual en un dispositivo que permite que diferentes tipos de servicios o aplicaciones se comuniquen a través de la red.</a:t>
            </a:r>
            <a:endParaRPr/>
          </a:p>
          <a:p>
            <a:pPr indent="0" lvl="0" marL="0" marR="0" rtl="0" algn="just">
              <a:lnSpc>
                <a:spcPct val="140007"/>
              </a:lnSpc>
              <a:spcBef>
                <a:spcPts val="0"/>
              </a:spcBef>
              <a:spcAft>
                <a:spcPts val="0"/>
              </a:spcAft>
              <a:buNone/>
            </a:pPr>
            <a:r>
              <a:t/>
            </a:r>
            <a:endParaRPr b="1" i="0" sz="2517" u="none" cap="none" strike="noStrike">
              <a:solidFill>
                <a:srgbClr val="4D4C4C"/>
              </a:solidFill>
              <a:latin typeface="Arial"/>
              <a:ea typeface="Arial"/>
              <a:cs typeface="Arial"/>
              <a:sym typeface="Arial"/>
            </a:endParaRPr>
          </a:p>
          <a:p>
            <a:pPr indent="0" lvl="0" marL="0" marR="0" rtl="0" algn="just">
              <a:lnSpc>
                <a:spcPct val="140007"/>
              </a:lnSpc>
              <a:spcBef>
                <a:spcPts val="0"/>
              </a:spcBef>
              <a:spcAft>
                <a:spcPts val="0"/>
              </a:spcAft>
              <a:buNone/>
            </a:pPr>
            <a:r>
              <a:rPr b="1" i="0" lang="en-US" sz="2517" u="none" cap="none" strike="noStrike">
                <a:solidFill>
                  <a:srgbClr val="4D4C4C"/>
                </a:solidFill>
                <a:latin typeface="Arial"/>
                <a:ea typeface="Arial"/>
                <a:cs typeface="Arial"/>
                <a:sym typeface="Arial"/>
              </a:rPr>
              <a:t>Cada dispositivo (como un PC o servidor) puede tener hasta 65,535 puertos numerados, y cada uno sirve para una tarea o servicio específico.</a:t>
            </a:r>
            <a:endParaRPr/>
          </a:p>
        </p:txBody>
      </p:sp>
      <p:sp>
        <p:nvSpPr>
          <p:cNvPr id="538" name="Google Shape;538;p30"/>
          <p:cNvSpPr txBox="1"/>
          <p:nvPr/>
        </p:nvSpPr>
        <p:spPr>
          <a:xfrm>
            <a:off x="1627772" y="1850357"/>
            <a:ext cx="7871917" cy="1268295"/>
          </a:xfrm>
          <a:prstGeom prst="rect">
            <a:avLst/>
          </a:prstGeom>
          <a:noFill/>
          <a:ln>
            <a:noFill/>
          </a:ln>
        </p:spPr>
        <p:txBody>
          <a:bodyPr anchorCtr="0" anchor="t" bIns="0" lIns="0" spcFirstLastPara="1" rIns="0" wrap="square" tIns="0">
            <a:spAutoFit/>
          </a:bodyPr>
          <a:lstStyle/>
          <a:p>
            <a:pPr indent="0" lvl="0" marL="0" marR="0" rtl="0" algn="l">
              <a:lnSpc>
                <a:spcPct val="109009"/>
              </a:lnSpc>
              <a:spcBef>
                <a:spcPts val="0"/>
              </a:spcBef>
              <a:spcAft>
                <a:spcPts val="0"/>
              </a:spcAft>
              <a:buNone/>
            </a:pPr>
            <a:r>
              <a:rPr b="1" i="0" lang="en-US" sz="8968" u="none" cap="none" strike="noStrike">
                <a:solidFill>
                  <a:srgbClr val="4D4C4C"/>
                </a:solidFill>
                <a:latin typeface="Arial"/>
                <a:ea typeface="Arial"/>
                <a:cs typeface="Arial"/>
                <a:sym typeface="Arial"/>
              </a:rPr>
              <a:t>PUERTOS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42" name="Shape 542"/>
        <p:cNvGrpSpPr/>
        <p:nvPr/>
      </p:nvGrpSpPr>
      <p:grpSpPr>
        <a:xfrm>
          <a:off x="0" y="0"/>
          <a:ext cx="0" cy="0"/>
          <a:chOff x="0" y="0"/>
          <a:chExt cx="0" cy="0"/>
        </a:xfrm>
      </p:grpSpPr>
      <p:grpSp>
        <p:nvGrpSpPr>
          <p:cNvPr id="543" name="Google Shape;543;p31"/>
          <p:cNvGrpSpPr/>
          <p:nvPr/>
        </p:nvGrpSpPr>
        <p:grpSpPr>
          <a:xfrm>
            <a:off x="-807912" y="-6641789"/>
            <a:ext cx="20593590" cy="7670489"/>
            <a:chOff x="0" y="-47625"/>
            <a:chExt cx="5423826" cy="2020211"/>
          </a:xfrm>
        </p:grpSpPr>
        <p:sp>
          <p:nvSpPr>
            <p:cNvPr id="544" name="Google Shape;544;p31"/>
            <p:cNvSpPr/>
            <p:nvPr/>
          </p:nvSpPr>
          <p:spPr>
            <a:xfrm>
              <a:off x="0" y="0"/>
              <a:ext cx="5423826" cy="1972586"/>
            </a:xfrm>
            <a:custGeom>
              <a:rect b="b" l="l" r="r" t="t"/>
              <a:pathLst>
                <a:path extrusionOk="0" h="1972586" w="5423826">
                  <a:moveTo>
                    <a:pt x="0" y="0"/>
                  </a:moveTo>
                  <a:lnTo>
                    <a:pt x="5423826" y="0"/>
                  </a:lnTo>
                  <a:lnTo>
                    <a:pt x="5423826" y="1972586"/>
                  </a:lnTo>
                  <a:lnTo>
                    <a:pt x="0" y="1972586"/>
                  </a:lnTo>
                  <a:close/>
                </a:path>
              </a:pathLst>
            </a:custGeom>
            <a:solidFill>
              <a:srgbClr val="152540"/>
            </a:solidFill>
            <a:ln>
              <a:noFill/>
            </a:ln>
          </p:spPr>
        </p:sp>
        <p:sp>
          <p:nvSpPr>
            <p:cNvPr id="545" name="Google Shape;545;p31"/>
            <p:cNvSpPr txBox="1"/>
            <p:nvPr/>
          </p:nvSpPr>
          <p:spPr>
            <a:xfrm>
              <a:off x="0" y="-47625"/>
              <a:ext cx="5423826" cy="202021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6" name="Google Shape;546;p31"/>
          <p:cNvGrpSpPr/>
          <p:nvPr/>
        </p:nvGrpSpPr>
        <p:grpSpPr>
          <a:xfrm>
            <a:off x="-1068907" y="9077474"/>
            <a:ext cx="21201429" cy="7670489"/>
            <a:chOff x="0" y="-47625"/>
            <a:chExt cx="5583916" cy="2020211"/>
          </a:xfrm>
        </p:grpSpPr>
        <p:sp>
          <p:nvSpPr>
            <p:cNvPr id="547" name="Google Shape;547;p31"/>
            <p:cNvSpPr/>
            <p:nvPr/>
          </p:nvSpPr>
          <p:spPr>
            <a:xfrm>
              <a:off x="0" y="0"/>
              <a:ext cx="5583916" cy="1972586"/>
            </a:xfrm>
            <a:custGeom>
              <a:rect b="b" l="l" r="r" t="t"/>
              <a:pathLst>
                <a:path extrusionOk="0" h="1972586" w="5583916">
                  <a:moveTo>
                    <a:pt x="0" y="0"/>
                  </a:moveTo>
                  <a:lnTo>
                    <a:pt x="5583916" y="0"/>
                  </a:lnTo>
                  <a:lnTo>
                    <a:pt x="5583916" y="1972586"/>
                  </a:lnTo>
                  <a:lnTo>
                    <a:pt x="0" y="1972586"/>
                  </a:lnTo>
                  <a:close/>
                </a:path>
              </a:pathLst>
            </a:custGeom>
            <a:solidFill>
              <a:srgbClr val="152540"/>
            </a:solidFill>
            <a:ln>
              <a:noFill/>
            </a:ln>
          </p:spPr>
        </p:sp>
        <p:sp>
          <p:nvSpPr>
            <p:cNvPr id="548" name="Google Shape;548;p31"/>
            <p:cNvSpPr txBox="1"/>
            <p:nvPr/>
          </p:nvSpPr>
          <p:spPr>
            <a:xfrm>
              <a:off x="0" y="-47625"/>
              <a:ext cx="5583916" cy="202021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9" name="Google Shape;549;p31"/>
          <p:cNvGrpSpPr/>
          <p:nvPr/>
        </p:nvGrpSpPr>
        <p:grpSpPr>
          <a:xfrm>
            <a:off x="-1537717" y="8650481"/>
            <a:ext cx="5955018" cy="1401622"/>
            <a:chOff x="0" y="-47625"/>
            <a:chExt cx="1928998" cy="454025"/>
          </a:xfrm>
        </p:grpSpPr>
        <p:sp>
          <p:nvSpPr>
            <p:cNvPr id="550" name="Google Shape;550;p31"/>
            <p:cNvSpPr/>
            <p:nvPr/>
          </p:nvSpPr>
          <p:spPr>
            <a:xfrm>
              <a:off x="0" y="0"/>
              <a:ext cx="1928998" cy="406400"/>
            </a:xfrm>
            <a:custGeom>
              <a:rect b="b" l="l" r="r" t="t"/>
              <a:pathLst>
                <a:path extrusionOk="0" h="406400" w="1928998">
                  <a:moveTo>
                    <a:pt x="1725798" y="0"/>
                  </a:moveTo>
                  <a:cubicBezTo>
                    <a:pt x="1838022" y="0"/>
                    <a:pt x="1928998" y="90976"/>
                    <a:pt x="1928998" y="203200"/>
                  </a:cubicBezTo>
                  <a:cubicBezTo>
                    <a:pt x="1928998" y="315424"/>
                    <a:pt x="1838022" y="406400"/>
                    <a:pt x="17257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1"/>
            <p:cNvSpPr txBox="1"/>
            <p:nvPr/>
          </p:nvSpPr>
          <p:spPr>
            <a:xfrm>
              <a:off x="0" y="-47625"/>
              <a:ext cx="1928998"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52" name="Google Shape;552;p31"/>
          <p:cNvGrpSpPr/>
          <p:nvPr/>
        </p:nvGrpSpPr>
        <p:grpSpPr>
          <a:xfrm>
            <a:off x="13270030" y="-144631"/>
            <a:ext cx="5924969" cy="1394551"/>
            <a:chOff x="0" y="-47625"/>
            <a:chExt cx="1928998" cy="454025"/>
          </a:xfrm>
        </p:grpSpPr>
        <p:sp>
          <p:nvSpPr>
            <p:cNvPr id="553" name="Google Shape;553;p31"/>
            <p:cNvSpPr/>
            <p:nvPr/>
          </p:nvSpPr>
          <p:spPr>
            <a:xfrm>
              <a:off x="0" y="0"/>
              <a:ext cx="1928998" cy="406400"/>
            </a:xfrm>
            <a:custGeom>
              <a:rect b="b" l="l" r="r" t="t"/>
              <a:pathLst>
                <a:path extrusionOk="0" h="406400" w="1928998">
                  <a:moveTo>
                    <a:pt x="1725798" y="0"/>
                  </a:moveTo>
                  <a:cubicBezTo>
                    <a:pt x="1838022" y="0"/>
                    <a:pt x="1928998" y="90976"/>
                    <a:pt x="1928998" y="203200"/>
                  </a:cubicBezTo>
                  <a:cubicBezTo>
                    <a:pt x="1928998" y="315424"/>
                    <a:pt x="1838022" y="406400"/>
                    <a:pt x="17257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1"/>
            <p:cNvSpPr txBox="1"/>
            <p:nvPr/>
          </p:nvSpPr>
          <p:spPr>
            <a:xfrm>
              <a:off x="0" y="-47625"/>
              <a:ext cx="1928998"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5" name="Google Shape;555;p31"/>
          <p:cNvSpPr/>
          <p:nvPr/>
        </p:nvSpPr>
        <p:spPr>
          <a:xfrm>
            <a:off x="-1537717" y="3605783"/>
            <a:ext cx="3075434" cy="3075434"/>
          </a:xfrm>
          <a:custGeom>
            <a:rect b="b" l="l" r="r" t="t"/>
            <a:pathLst>
              <a:path extrusionOk="0" h="3075434" w="3075434">
                <a:moveTo>
                  <a:pt x="0" y="0"/>
                </a:moveTo>
                <a:lnTo>
                  <a:pt x="3075434" y="0"/>
                </a:lnTo>
                <a:lnTo>
                  <a:pt x="3075434" y="3075434"/>
                </a:lnTo>
                <a:lnTo>
                  <a:pt x="0" y="3075434"/>
                </a:lnTo>
                <a:lnTo>
                  <a:pt x="0" y="0"/>
                </a:lnTo>
                <a:close/>
              </a:path>
            </a:pathLst>
          </a:custGeom>
          <a:blipFill rotWithShape="1">
            <a:blip r:embed="rId3">
              <a:alphaModFix/>
            </a:blip>
            <a:stretch>
              <a:fillRect b="0" l="0" r="0" t="0"/>
            </a:stretch>
          </a:blipFill>
          <a:ln>
            <a:noFill/>
          </a:ln>
        </p:spPr>
      </p:sp>
      <p:sp>
        <p:nvSpPr>
          <p:cNvPr id="556" name="Google Shape;556;p31"/>
          <p:cNvSpPr/>
          <p:nvPr/>
        </p:nvSpPr>
        <p:spPr>
          <a:xfrm>
            <a:off x="16710243" y="3605783"/>
            <a:ext cx="3075434" cy="3075434"/>
          </a:xfrm>
          <a:custGeom>
            <a:rect b="b" l="l" r="r" t="t"/>
            <a:pathLst>
              <a:path extrusionOk="0" h="3075434" w="3075434">
                <a:moveTo>
                  <a:pt x="0" y="0"/>
                </a:moveTo>
                <a:lnTo>
                  <a:pt x="3075434" y="0"/>
                </a:lnTo>
                <a:lnTo>
                  <a:pt x="3075434" y="3075434"/>
                </a:lnTo>
                <a:lnTo>
                  <a:pt x="0" y="3075434"/>
                </a:lnTo>
                <a:lnTo>
                  <a:pt x="0" y="0"/>
                </a:lnTo>
                <a:close/>
              </a:path>
            </a:pathLst>
          </a:custGeom>
          <a:blipFill rotWithShape="1">
            <a:blip r:embed="rId3">
              <a:alphaModFix/>
            </a:blip>
            <a:stretch>
              <a:fillRect b="0" l="0" r="0" t="0"/>
            </a:stretch>
          </a:blipFill>
          <a:ln>
            <a:noFill/>
          </a:ln>
        </p:spPr>
      </p:sp>
      <p:sp>
        <p:nvSpPr>
          <p:cNvPr id="557" name="Google Shape;557;p31"/>
          <p:cNvSpPr/>
          <p:nvPr/>
        </p:nvSpPr>
        <p:spPr>
          <a:xfrm>
            <a:off x="2802259" y="1487232"/>
            <a:ext cx="1191142" cy="1193312"/>
          </a:xfrm>
          <a:custGeom>
            <a:rect b="b" l="l" r="r" t="t"/>
            <a:pathLst>
              <a:path extrusionOk="0" h="1193312" w="1191142">
                <a:moveTo>
                  <a:pt x="0" y="0"/>
                </a:moveTo>
                <a:lnTo>
                  <a:pt x="1191142" y="0"/>
                </a:lnTo>
                <a:lnTo>
                  <a:pt x="1191142" y="1193312"/>
                </a:lnTo>
                <a:lnTo>
                  <a:pt x="0" y="1193312"/>
                </a:lnTo>
                <a:lnTo>
                  <a:pt x="0" y="0"/>
                </a:lnTo>
                <a:close/>
              </a:path>
            </a:pathLst>
          </a:custGeom>
          <a:blipFill rotWithShape="1">
            <a:blip r:embed="rId4">
              <a:alphaModFix/>
            </a:blip>
            <a:stretch>
              <a:fillRect b="0" l="0" r="0" t="0"/>
            </a:stretch>
          </a:blipFill>
          <a:ln>
            <a:noFill/>
          </a:ln>
        </p:spPr>
      </p:sp>
      <p:sp>
        <p:nvSpPr>
          <p:cNvPr id="558" name="Google Shape;558;p31"/>
          <p:cNvSpPr/>
          <p:nvPr/>
        </p:nvSpPr>
        <p:spPr>
          <a:xfrm rot="10800000">
            <a:off x="14044619" y="1487232"/>
            <a:ext cx="1191142" cy="1193312"/>
          </a:xfrm>
          <a:custGeom>
            <a:rect b="b" l="l" r="r" t="t"/>
            <a:pathLst>
              <a:path extrusionOk="0" h="1193312" w="1191142">
                <a:moveTo>
                  <a:pt x="0" y="0"/>
                </a:moveTo>
                <a:lnTo>
                  <a:pt x="1191142" y="0"/>
                </a:lnTo>
                <a:lnTo>
                  <a:pt x="1191142" y="1193312"/>
                </a:lnTo>
                <a:lnTo>
                  <a:pt x="0" y="1193312"/>
                </a:lnTo>
                <a:lnTo>
                  <a:pt x="0" y="0"/>
                </a:lnTo>
                <a:close/>
              </a:path>
            </a:pathLst>
          </a:custGeom>
          <a:blipFill rotWithShape="1">
            <a:blip r:embed="rId4">
              <a:alphaModFix/>
            </a:blip>
            <a:stretch>
              <a:fillRect b="0" l="0" r="0" t="0"/>
            </a:stretch>
          </a:blipFill>
          <a:ln>
            <a:noFill/>
          </a:ln>
        </p:spPr>
      </p:sp>
      <p:graphicFrame>
        <p:nvGraphicFramePr>
          <p:cNvPr id="559" name="Google Shape;559;p31"/>
          <p:cNvGraphicFramePr/>
          <p:nvPr/>
        </p:nvGraphicFramePr>
        <p:xfrm>
          <a:off x="2802259" y="3071069"/>
          <a:ext cx="3000000" cy="3000000"/>
        </p:xfrm>
        <a:graphic>
          <a:graphicData uri="http://schemas.openxmlformats.org/drawingml/2006/table">
            <a:tbl>
              <a:tblPr>
                <a:noFill/>
                <a:tableStyleId>{31D5E93D-8A74-4A15-8813-B31B81A636AC}</a:tableStyleId>
              </a:tblPr>
              <a:tblGrid>
                <a:gridCol w="2990575"/>
                <a:gridCol w="4768125"/>
                <a:gridCol w="4335050"/>
              </a:tblGrid>
              <a:tr h="1024500">
                <a:tc>
                  <a:txBody>
                    <a:bodyPr/>
                    <a:lstStyle/>
                    <a:p>
                      <a:pPr indent="0" lvl="0" marL="0" marR="0" rtl="0" algn="ctr">
                        <a:lnSpc>
                          <a:spcPct val="140015"/>
                        </a:lnSpc>
                        <a:spcBef>
                          <a:spcPts val="0"/>
                        </a:spcBef>
                        <a:spcAft>
                          <a:spcPts val="0"/>
                        </a:spcAft>
                        <a:buNone/>
                      </a:pPr>
                      <a:r>
                        <a:rPr lang="en-US" sz="2599" u="none" cap="none" strike="noStrike">
                          <a:solidFill>
                            <a:srgbClr val="000000"/>
                          </a:solidFill>
                          <a:latin typeface="Arial"/>
                          <a:ea typeface="Arial"/>
                          <a:cs typeface="Arial"/>
                          <a:sym typeface="Arial"/>
                        </a:rPr>
                        <a:t>Rango</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2D2D2"/>
                    </a:solidFill>
                  </a:tcPr>
                </a:tc>
                <a:tc>
                  <a:txBody>
                    <a:bodyPr/>
                    <a:lstStyle/>
                    <a:p>
                      <a:pPr indent="0" lvl="0" marL="0" marR="0" rtl="0" algn="ctr">
                        <a:lnSpc>
                          <a:spcPct val="140015"/>
                        </a:lnSpc>
                        <a:spcBef>
                          <a:spcPts val="0"/>
                        </a:spcBef>
                        <a:spcAft>
                          <a:spcPts val="0"/>
                        </a:spcAft>
                        <a:buNone/>
                      </a:pPr>
                      <a:r>
                        <a:rPr lang="en-US" sz="2599" u="none" cap="none" strike="noStrike">
                          <a:solidFill>
                            <a:srgbClr val="000000"/>
                          </a:solidFill>
                          <a:latin typeface="Arial"/>
                          <a:ea typeface="Arial"/>
                          <a:cs typeface="Arial"/>
                          <a:sym typeface="Arial"/>
                        </a:rPr>
                        <a:t>Nombre</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2D2D2"/>
                    </a:solidFill>
                  </a:tcPr>
                </a:tc>
                <a:tc>
                  <a:txBody>
                    <a:bodyPr/>
                    <a:lstStyle/>
                    <a:p>
                      <a:pPr indent="0" lvl="0" marL="0" marR="0" rtl="0" algn="ctr">
                        <a:lnSpc>
                          <a:spcPct val="140015"/>
                        </a:lnSpc>
                        <a:spcBef>
                          <a:spcPts val="0"/>
                        </a:spcBef>
                        <a:spcAft>
                          <a:spcPts val="0"/>
                        </a:spcAft>
                        <a:buNone/>
                      </a:pPr>
                      <a:r>
                        <a:rPr lang="en-US" sz="2599" u="none" cap="none" strike="noStrike">
                          <a:solidFill>
                            <a:srgbClr val="000000"/>
                          </a:solidFill>
                          <a:latin typeface="Arial"/>
                          <a:ea typeface="Arial"/>
                          <a:cs typeface="Arial"/>
                          <a:sym typeface="Arial"/>
                        </a:rPr>
                        <a:t>Uso</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2D2D2"/>
                    </a:solidFill>
                  </a:tcPr>
                </a:tc>
              </a:tr>
              <a:tr h="1687650">
                <a:tc>
                  <a:txBody>
                    <a:bodyPr/>
                    <a:lstStyle/>
                    <a:p>
                      <a:pPr indent="0" lvl="0" marL="0" marR="0" rtl="0" algn="ctr">
                        <a:lnSpc>
                          <a:spcPct val="140013"/>
                        </a:lnSpc>
                        <a:spcBef>
                          <a:spcPts val="0"/>
                        </a:spcBef>
                        <a:spcAft>
                          <a:spcPts val="0"/>
                        </a:spcAft>
                        <a:buNone/>
                      </a:pPr>
                      <a:r>
                        <a:rPr lang="en-US" sz="2999" u="none" cap="none" strike="noStrike">
                          <a:solidFill>
                            <a:srgbClr val="000000"/>
                          </a:solidFill>
                          <a:latin typeface="Arial"/>
                          <a:ea typeface="Arial"/>
                          <a:cs typeface="Arial"/>
                          <a:sym typeface="Arial"/>
                        </a:rPr>
                        <a:t>0–1023</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Puertos bien conocidos (Well-known ports)</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Reservados para servicios estándar</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397900">
                <a:tc>
                  <a:txBody>
                    <a:bodyPr/>
                    <a:lstStyle/>
                    <a:p>
                      <a:pPr indent="0" lvl="0" marL="0" marR="0" rtl="0" algn="ctr">
                        <a:lnSpc>
                          <a:spcPct val="140013"/>
                        </a:lnSpc>
                        <a:spcBef>
                          <a:spcPts val="0"/>
                        </a:spcBef>
                        <a:spcAft>
                          <a:spcPts val="0"/>
                        </a:spcAft>
                        <a:buNone/>
                      </a:pPr>
                      <a:r>
                        <a:rPr lang="en-US" sz="2999" u="none" cap="none" strike="noStrike">
                          <a:solidFill>
                            <a:srgbClr val="000000"/>
                          </a:solidFill>
                          <a:latin typeface="Arial"/>
                          <a:ea typeface="Arial"/>
                          <a:cs typeface="Arial"/>
                          <a:sym typeface="Arial"/>
                        </a:rPr>
                        <a:t>1024–49151</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Puertos registrados (Registered ports)</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Para aplicaciones de usuario o servicios</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397900">
                <a:tc>
                  <a:txBody>
                    <a:bodyPr/>
                    <a:lstStyle/>
                    <a:p>
                      <a:pPr indent="0" lvl="0" marL="0" marR="0" rtl="0" algn="ctr">
                        <a:lnSpc>
                          <a:spcPct val="140013"/>
                        </a:lnSpc>
                        <a:spcBef>
                          <a:spcPts val="0"/>
                        </a:spcBef>
                        <a:spcAft>
                          <a:spcPts val="0"/>
                        </a:spcAft>
                        <a:buNone/>
                      </a:pPr>
                      <a:r>
                        <a:rPr lang="en-US" sz="2999" u="none" cap="none" strike="noStrike">
                          <a:solidFill>
                            <a:srgbClr val="000000"/>
                          </a:solidFill>
                          <a:latin typeface="Arial"/>
                          <a:ea typeface="Arial"/>
                          <a:cs typeface="Arial"/>
                          <a:sym typeface="Arial"/>
                        </a:rPr>
                        <a:t>49152–65535</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Puertos dinámicos o privados (Dynamic ports)</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None/>
                      </a:pPr>
                      <a:r>
                        <a:rPr lang="en-US" sz="2399" u="none" cap="none" strike="noStrike">
                          <a:solidFill>
                            <a:srgbClr val="000000"/>
                          </a:solidFill>
                          <a:latin typeface="Arial"/>
                          <a:ea typeface="Arial"/>
                          <a:cs typeface="Arial"/>
                          <a:sym typeface="Arial"/>
                        </a:rPr>
                        <a:t>Usados temporalmente por el sistema</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560" name="Google Shape;560;p31"/>
          <p:cNvSpPr txBox="1"/>
          <p:nvPr/>
        </p:nvSpPr>
        <p:spPr>
          <a:xfrm>
            <a:off x="4369846" y="1513738"/>
            <a:ext cx="9401400" cy="1145700"/>
          </a:xfrm>
          <a:prstGeom prst="rect">
            <a:avLst/>
          </a:prstGeom>
          <a:noFill/>
          <a:ln>
            <a:noFill/>
          </a:ln>
        </p:spPr>
        <p:txBody>
          <a:bodyPr anchorCtr="0" anchor="t" bIns="0" lIns="0" spcFirstLastPara="1" rIns="0" wrap="square" tIns="0">
            <a:spAutoFit/>
          </a:bodyPr>
          <a:lstStyle/>
          <a:p>
            <a:pPr indent="0" lvl="0" marL="0" marR="0" rtl="0" algn="ctr">
              <a:lnSpc>
                <a:spcPct val="109001"/>
              </a:lnSpc>
              <a:spcBef>
                <a:spcPts val="0"/>
              </a:spcBef>
              <a:spcAft>
                <a:spcPts val="0"/>
              </a:spcAft>
              <a:buNone/>
            </a:pPr>
            <a:r>
              <a:rPr b="1" i="0" lang="en-US" sz="7443" u="none" cap="none" strike="noStrike">
                <a:solidFill>
                  <a:srgbClr val="152540"/>
                </a:solidFill>
                <a:latin typeface="Arial"/>
                <a:ea typeface="Arial"/>
                <a:cs typeface="Arial"/>
                <a:sym typeface="Arial"/>
              </a:rPr>
              <a:t>TIPOS DE PUERTOS</a:t>
            </a:r>
            <a:endParaRPr sz="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64" name="Shape 564"/>
        <p:cNvGrpSpPr/>
        <p:nvPr/>
      </p:nvGrpSpPr>
      <p:grpSpPr>
        <a:xfrm>
          <a:off x="0" y="0"/>
          <a:ext cx="0" cy="0"/>
          <a:chOff x="0" y="0"/>
          <a:chExt cx="0" cy="0"/>
        </a:xfrm>
      </p:grpSpPr>
      <p:grpSp>
        <p:nvGrpSpPr>
          <p:cNvPr id="565" name="Google Shape;565;p32"/>
          <p:cNvGrpSpPr/>
          <p:nvPr/>
        </p:nvGrpSpPr>
        <p:grpSpPr>
          <a:xfrm rot="-5400000">
            <a:off x="-2269244" y="187502"/>
            <a:ext cx="11836639" cy="9754024"/>
            <a:chOff x="0" y="-47625"/>
            <a:chExt cx="3117469" cy="2568961"/>
          </a:xfrm>
        </p:grpSpPr>
        <p:sp>
          <p:nvSpPr>
            <p:cNvPr id="566" name="Google Shape;566;p32"/>
            <p:cNvSpPr/>
            <p:nvPr/>
          </p:nvSpPr>
          <p:spPr>
            <a:xfrm>
              <a:off x="0" y="0"/>
              <a:ext cx="3117469" cy="2521336"/>
            </a:xfrm>
            <a:custGeom>
              <a:rect b="b" l="l" r="r" t="t"/>
              <a:pathLst>
                <a:path extrusionOk="0" h="2521336" w="3117469">
                  <a:moveTo>
                    <a:pt x="0" y="0"/>
                  </a:moveTo>
                  <a:lnTo>
                    <a:pt x="3117469" y="0"/>
                  </a:lnTo>
                  <a:lnTo>
                    <a:pt x="3117469" y="2521336"/>
                  </a:lnTo>
                  <a:lnTo>
                    <a:pt x="0" y="2521336"/>
                  </a:lnTo>
                  <a:close/>
                </a:path>
              </a:pathLst>
            </a:custGeom>
            <a:solidFill>
              <a:srgbClr val="152540"/>
            </a:solidFill>
            <a:ln>
              <a:noFill/>
            </a:ln>
          </p:spPr>
        </p:sp>
        <p:sp>
          <p:nvSpPr>
            <p:cNvPr id="567" name="Google Shape;567;p32"/>
            <p:cNvSpPr txBox="1"/>
            <p:nvPr/>
          </p:nvSpPr>
          <p:spPr>
            <a:xfrm>
              <a:off x="0" y="-47625"/>
              <a:ext cx="3117469" cy="256896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8" name="Google Shape;568;p32"/>
          <p:cNvSpPr/>
          <p:nvPr/>
        </p:nvSpPr>
        <p:spPr>
          <a:xfrm>
            <a:off x="453749" y="1537091"/>
            <a:ext cx="7481469" cy="7054847"/>
          </a:xfrm>
          <a:custGeom>
            <a:rect b="b" l="l" r="r" t="t"/>
            <a:pathLst>
              <a:path extrusionOk="0" h="1274691" w="1351774">
                <a:moveTo>
                  <a:pt x="0" y="0"/>
                </a:moveTo>
                <a:lnTo>
                  <a:pt x="1351774" y="0"/>
                </a:lnTo>
                <a:lnTo>
                  <a:pt x="1351774" y="1274691"/>
                </a:lnTo>
                <a:lnTo>
                  <a:pt x="0" y="1274691"/>
                </a:lnTo>
                <a:close/>
              </a:path>
            </a:pathLst>
          </a:custGeom>
          <a:blipFill rotWithShape="1">
            <a:blip r:embed="rId3">
              <a:alphaModFix/>
            </a:blip>
            <a:stretch>
              <a:fillRect b="0" l="-46695" r="-46694" t="0"/>
            </a:stretch>
          </a:blipFill>
          <a:ln cap="sq" cmpd="sng" w="85725">
            <a:solidFill>
              <a:srgbClr val="FFFDF7"/>
            </a:solidFill>
            <a:prstDash val="solid"/>
            <a:miter lim="8000"/>
            <a:headEnd len="sm" w="sm" type="none"/>
            <a:tailEnd len="sm" w="sm" type="none"/>
          </a:ln>
        </p:spPr>
      </p:sp>
      <p:grpSp>
        <p:nvGrpSpPr>
          <p:cNvPr id="569" name="Google Shape;569;p32"/>
          <p:cNvGrpSpPr/>
          <p:nvPr/>
        </p:nvGrpSpPr>
        <p:grpSpPr>
          <a:xfrm>
            <a:off x="11828114" y="-3596759"/>
            <a:ext cx="9568435" cy="4625459"/>
            <a:chOff x="0" y="-47625"/>
            <a:chExt cx="939217" cy="454025"/>
          </a:xfrm>
        </p:grpSpPr>
        <p:sp>
          <p:nvSpPr>
            <p:cNvPr id="570" name="Google Shape;570;p32"/>
            <p:cNvSpPr/>
            <p:nvPr/>
          </p:nvSpPr>
          <p:spPr>
            <a:xfrm>
              <a:off x="0" y="0"/>
              <a:ext cx="939217" cy="406400"/>
            </a:xfrm>
            <a:custGeom>
              <a:rect b="b" l="l" r="r" t="t"/>
              <a:pathLst>
                <a:path extrusionOk="0" h="406400" w="939217">
                  <a:moveTo>
                    <a:pt x="736017" y="0"/>
                  </a:moveTo>
                  <a:cubicBezTo>
                    <a:pt x="848241" y="0"/>
                    <a:pt x="939217" y="90976"/>
                    <a:pt x="939217" y="203200"/>
                  </a:cubicBezTo>
                  <a:cubicBezTo>
                    <a:pt x="939217" y="315424"/>
                    <a:pt x="848241" y="406400"/>
                    <a:pt x="73601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2"/>
            <p:cNvSpPr txBox="1"/>
            <p:nvPr/>
          </p:nvSpPr>
          <p:spPr>
            <a:xfrm>
              <a:off x="0" y="-47625"/>
              <a:ext cx="939217"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2" name="Google Shape;572;p32"/>
          <p:cNvSpPr/>
          <p:nvPr/>
        </p:nvSpPr>
        <p:spPr>
          <a:xfrm>
            <a:off x="16283032" y="-1586869"/>
            <a:ext cx="4009935" cy="4009935"/>
          </a:xfrm>
          <a:custGeom>
            <a:rect b="b" l="l" r="r" t="t"/>
            <a:pathLst>
              <a:path extrusionOk="0" h="4009935" w="4009935">
                <a:moveTo>
                  <a:pt x="0" y="0"/>
                </a:moveTo>
                <a:lnTo>
                  <a:pt x="4009936" y="0"/>
                </a:lnTo>
                <a:lnTo>
                  <a:pt x="4009936" y="4009935"/>
                </a:lnTo>
                <a:lnTo>
                  <a:pt x="0" y="4009935"/>
                </a:lnTo>
                <a:lnTo>
                  <a:pt x="0" y="0"/>
                </a:lnTo>
                <a:close/>
              </a:path>
            </a:pathLst>
          </a:custGeom>
          <a:blipFill rotWithShape="1">
            <a:blip r:embed="rId4">
              <a:alphaModFix/>
            </a:blip>
            <a:stretch>
              <a:fillRect b="0" l="0" r="0" t="0"/>
            </a:stretch>
          </a:blipFill>
          <a:ln>
            <a:noFill/>
          </a:ln>
        </p:spPr>
      </p:sp>
      <p:grpSp>
        <p:nvGrpSpPr>
          <p:cNvPr id="573" name="Google Shape;573;p32"/>
          <p:cNvGrpSpPr/>
          <p:nvPr/>
        </p:nvGrpSpPr>
        <p:grpSpPr>
          <a:xfrm>
            <a:off x="13575832" y="625185"/>
            <a:ext cx="959812" cy="959812"/>
            <a:chOff x="0" y="0"/>
            <a:chExt cx="812800" cy="812800"/>
          </a:xfrm>
        </p:grpSpPr>
        <p:sp>
          <p:nvSpPr>
            <p:cNvPr id="574" name="Google Shape;574;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6" name="Google Shape;576;p32"/>
          <p:cNvSpPr txBox="1"/>
          <p:nvPr/>
        </p:nvSpPr>
        <p:spPr>
          <a:xfrm>
            <a:off x="9112097" y="1565947"/>
            <a:ext cx="5669933" cy="1684754"/>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None/>
            </a:pPr>
            <a:r>
              <a:rPr b="1" i="0" lang="en-US" sz="5428" u="none" cap="none" strike="noStrike">
                <a:solidFill>
                  <a:srgbClr val="4D4C4C"/>
                </a:solidFill>
                <a:latin typeface="Arial"/>
                <a:ea typeface="Arial"/>
                <a:cs typeface="Arial"/>
                <a:sym typeface="Arial"/>
              </a:rPr>
              <a:t>ACL (ACCESS CONTROL LIST)</a:t>
            </a:r>
            <a:endParaRPr/>
          </a:p>
        </p:txBody>
      </p:sp>
      <p:sp>
        <p:nvSpPr>
          <p:cNvPr id="577" name="Google Shape;577;p32"/>
          <p:cNvSpPr txBox="1"/>
          <p:nvPr/>
        </p:nvSpPr>
        <p:spPr>
          <a:xfrm>
            <a:off x="9112097" y="3402279"/>
            <a:ext cx="8654521" cy="2854145"/>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1" i="0" lang="en-US" sz="2678" u="none" cap="none" strike="noStrike">
                <a:solidFill>
                  <a:srgbClr val="4D4C4C"/>
                </a:solidFill>
                <a:latin typeface="Arial"/>
                <a:ea typeface="Arial"/>
                <a:cs typeface="Arial"/>
                <a:sym typeface="Arial"/>
              </a:rPr>
              <a:t>Una ACL es una lista de reglas que se configuran en dispositivos para controlar el tráfico de red.</a:t>
            </a:r>
            <a:endParaRPr/>
          </a:p>
          <a:p>
            <a:pPr indent="0" lvl="0" marL="0" marR="0" rtl="0" algn="l">
              <a:lnSpc>
                <a:spcPct val="139992"/>
              </a:lnSpc>
              <a:spcBef>
                <a:spcPts val="0"/>
              </a:spcBef>
              <a:spcAft>
                <a:spcPts val="0"/>
              </a:spcAft>
              <a:buNone/>
            </a:pPr>
            <a:r>
              <a:t/>
            </a:r>
            <a:endParaRPr b="1" i="0" sz="2678" u="none" cap="none" strike="noStrike">
              <a:solidFill>
                <a:srgbClr val="4D4C4C"/>
              </a:solidFill>
              <a:latin typeface="Arial"/>
              <a:ea typeface="Arial"/>
              <a:cs typeface="Arial"/>
              <a:sym typeface="Arial"/>
            </a:endParaRPr>
          </a:p>
          <a:p>
            <a:pPr indent="0" lvl="0" marL="0" marR="0" rtl="0" algn="l">
              <a:lnSpc>
                <a:spcPct val="139992"/>
              </a:lnSpc>
              <a:spcBef>
                <a:spcPts val="0"/>
              </a:spcBef>
              <a:spcAft>
                <a:spcPts val="0"/>
              </a:spcAft>
              <a:buNone/>
            </a:pPr>
            <a:r>
              <a:rPr b="1" i="0" lang="en-US" sz="2678" u="none" cap="none" strike="noStrike">
                <a:solidFill>
                  <a:srgbClr val="4D4C4C"/>
                </a:solidFill>
                <a:latin typeface="Arial"/>
                <a:ea typeface="Arial"/>
                <a:cs typeface="Arial"/>
                <a:sym typeface="Arial"/>
              </a:rPr>
              <a:t>Permite o deniega el paso de paquetes según criterios como:</a:t>
            </a:r>
            <a:endParaRPr/>
          </a:p>
        </p:txBody>
      </p:sp>
      <p:sp>
        <p:nvSpPr>
          <p:cNvPr id="578" name="Google Shape;578;p32"/>
          <p:cNvSpPr txBox="1"/>
          <p:nvPr/>
        </p:nvSpPr>
        <p:spPr>
          <a:xfrm>
            <a:off x="9930715" y="6729345"/>
            <a:ext cx="6786587" cy="2139631"/>
          </a:xfrm>
          <a:prstGeom prst="rect">
            <a:avLst/>
          </a:prstGeom>
          <a:noFill/>
          <a:ln>
            <a:noFill/>
          </a:ln>
        </p:spPr>
        <p:txBody>
          <a:bodyPr anchorCtr="0" anchor="t" bIns="0" lIns="0" spcFirstLastPara="1" rIns="0" wrap="square" tIns="0">
            <a:spAutoFit/>
          </a:bodyPr>
          <a:lstStyle/>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Dirección IP origen o destino</a:t>
            </a:r>
            <a:endParaRPr/>
          </a:p>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Protocolo (TCP, UDP, ICMP, etc.)</a:t>
            </a:r>
            <a:endParaRPr/>
          </a:p>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Puerto (ej. 80 para HTTP, 443 para HTTPS)</a:t>
            </a:r>
            <a:endParaRPr/>
          </a:p>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Red específica</a:t>
            </a:r>
            <a:endParaRPr/>
          </a:p>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Interfaz (entrada o salida)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82" name="Shape 582"/>
        <p:cNvGrpSpPr/>
        <p:nvPr/>
      </p:nvGrpSpPr>
      <p:grpSpPr>
        <a:xfrm>
          <a:off x="0" y="0"/>
          <a:ext cx="0" cy="0"/>
          <a:chOff x="0" y="0"/>
          <a:chExt cx="0" cy="0"/>
        </a:xfrm>
      </p:grpSpPr>
      <p:sp>
        <p:nvSpPr>
          <p:cNvPr id="583" name="Google Shape;583;p33"/>
          <p:cNvSpPr txBox="1"/>
          <p:nvPr/>
        </p:nvSpPr>
        <p:spPr>
          <a:xfrm>
            <a:off x="4273103" y="693678"/>
            <a:ext cx="8542200" cy="15423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10019" u="none" cap="none" strike="noStrike">
                <a:solidFill>
                  <a:srgbClr val="152540"/>
                </a:solidFill>
                <a:latin typeface="Arial"/>
                <a:ea typeface="Arial"/>
                <a:cs typeface="Arial"/>
                <a:sym typeface="Arial"/>
              </a:rPr>
              <a:t>Tipos de ACL</a:t>
            </a:r>
            <a:endParaRPr sz="900"/>
          </a:p>
        </p:txBody>
      </p:sp>
      <p:grpSp>
        <p:nvGrpSpPr>
          <p:cNvPr id="584" name="Google Shape;584;p33"/>
          <p:cNvGrpSpPr/>
          <p:nvPr/>
        </p:nvGrpSpPr>
        <p:grpSpPr>
          <a:xfrm>
            <a:off x="879387" y="2646483"/>
            <a:ext cx="1098480" cy="1098480"/>
            <a:chOff x="0" y="0"/>
            <a:chExt cx="812800" cy="812800"/>
          </a:xfrm>
        </p:grpSpPr>
        <p:sp>
          <p:nvSpPr>
            <p:cNvPr id="585" name="Google Shape;585;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7" name="Google Shape;587;p33"/>
          <p:cNvSpPr/>
          <p:nvPr/>
        </p:nvSpPr>
        <p:spPr>
          <a:xfrm>
            <a:off x="-1698802" y="5514834"/>
            <a:ext cx="3397604" cy="3397604"/>
          </a:xfrm>
          <a:custGeom>
            <a:rect b="b" l="l" r="r" t="t"/>
            <a:pathLst>
              <a:path extrusionOk="0" h="3397604" w="3397604">
                <a:moveTo>
                  <a:pt x="0" y="0"/>
                </a:moveTo>
                <a:lnTo>
                  <a:pt x="3397604" y="0"/>
                </a:lnTo>
                <a:lnTo>
                  <a:pt x="3397604" y="3397603"/>
                </a:lnTo>
                <a:lnTo>
                  <a:pt x="0" y="3397603"/>
                </a:lnTo>
                <a:lnTo>
                  <a:pt x="0" y="0"/>
                </a:lnTo>
                <a:close/>
              </a:path>
            </a:pathLst>
          </a:custGeom>
          <a:blipFill rotWithShape="1">
            <a:blip r:embed="rId3">
              <a:alphaModFix/>
            </a:blip>
            <a:stretch>
              <a:fillRect b="0" l="0" r="0" t="0"/>
            </a:stretch>
          </a:blipFill>
          <a:ln>
            <a:noFill/>
          </a:ln>
        </p:spPr>
      </p:sp>
      <p:grpSp>
        <p:nvGrpSpPr>
          <p:cNvPr id="588" name="Google Shape;588;p33"/>
          <p:cNvGrpSpPr/>
          <p:nvPr/>
        </p:nvGrpSpPr>
        <p:grpSpPr>
          <a:xfrm rot="10800000">
            <a:off x="13986999" y="-2149600"/>
            <a:ext cx="6316248" cy="3550757"/>
            <a:chOff x="0" y="-47625"/>
            <a:chExt cx="807640" cy="454025"/>
          </a:xfrm>
        </p:grpSpPr>
        <p:sp>
          <p:nvSpPr>
            <p:cNvPr id="589" name="Google Shape;589;p33"/>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3"/>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91" name="Google Shape;591;p33"/>
          <p:cNvGrpSpPr/>
          <p:nvPr/>
        </p:nvGrpSpPr>
        <p:grpSpPr>
          <a:xfrm>
            <a:off x="17259300" y="-746671"/>
            <a:ext cx="15452459" cy="12017010"/>
            <a:chOff x="0" y="-47625"/>
            <a:chExt cx="4069783" cy="3164974"/>
          </a:xfrm>
        </p:grpSpPr>
        <p:sp>
          <p:nvSpPr>
            <p:cNvPr id="592" name="Google Shape;592;p33"/>
            <p:cNvSpPr/>
            <p:nvPr/>
          </p:nvSpPr>
          <p:spPr>
            <a:xfrm>
              <a:off x="0" y="0"/>
              <a:ext cx="4069783" cy="3117349"/>
            </a:xfrm>
            <a:custGeom>
              <a:rect b="b" l="l" r="r" t="t"/>
              <a:pathLst>
                <a:path extrusionOk="0" h="3117349" w="4069783">
                  <a:moveTo>
                    <a:pt x="0" y="0"/>
                  </a:moveTo>
                  <a:lnTo>
                    <a:pt x="4069783" y="0"/>
                  </a:lnTo>
                  <a:lnTo>
                    <a:pt x="4069783" y="3117349"/>
                  </a:lnTo>
                  <a:lnTo>
                    <a:pt x="0" y="3117349"/>
                  </a:lnTo>
                  <a:close/>
                </a:path>
              </a:pathLst>
            </a:custGeom>
            <a:solidFill>
              <a:srgbClr val="152540"/>
            </a:solidFill>
            <a:ln>
              <a:noFill/>
            </a:ln>
          </p:spPr>
        </p:sp>
        <p:sp>
          <p:nvSpPr>
            <p:cNvPr id="593" name="Google Shape;593;p33"/>
            <p:cNvSpPr txBox="1"/>
            <p:nvPr/>
          </p:nvSpPr>
          <p:spPr>
            <a:xfrm>
              <a:off x="0" y="-47625"/>
              <a:ext cx="4069782" cy="316497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aphicFrame>
        <p:nvGraphicFramePr>
          <p:cNvPr id="594" name="Google Shape;594;p33"/>
          <p:cNvGraphicFramePr/>
          <p:nvPr/>
        </p:nvGraphicFramePr>
        <p:xfrm>
          <a:off x="3237040" y="3142795"/>
          <a:ext cx="3000000" cy="3000000"/>
        </p:xfrm>
        <a:graphic>
          <a:graphicData uri="http://schemas.openxmlformats.org/drawingml/2006/table">
            <a:tbl>
              <a:tblPr>
                <a:noFill/>
                <a:tableStyleId>{31D5E93D-8A74-4A15-8813-B31B81A636AC}</a:tableStyleId>
              </a:tblPr>
              <a:tblGrid>
                <a:gridCol w="5307125"/>
                <a:gridCol w="5307125"/>
              </a:tblGrid>
              <a:tr h="1188725">
                <a:tc>
                  <a:txBody>
                    <a:bodyPr/>
                    <a:lstStyle/>
                    <a:p>
                      <a:pPr indent="0" lvl="0" marL="0" marR="0" rtl="0" algn="ctr">
                        <a:lnSpc>
                          <a:spcPct val="140017"/>
                        </a:lnSpc>
                        <a:spcBef>
                          <a:spcPts val="0"/>
                        </a:spcBef>
                        <a:spcAft>
                          <a:spcPts val="0"/>
                        </a:spcAft>
                        <a:buNone/>
                      </a:pPr>
                      <a:r>
                        <a:rPr b="1" lang="en-US" sz="2299" u="none" cap="none" strike="noStrike">
                          <a:solidFill>
                            <a:srgbClr val="000000"/>
                          </a:solidFill>
                          <a:latin typeface="Arial"/>
                          <a:ea typeface="Arial"/>
                          <a:cs typeface="Arial"/>
                          <a:sym typeface="Arial"/>
                        </a:rPr>
                        <a:t>Tipo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D2D2D2"/>
                    </a:solidFill>
                  </a:tcPr>
                </a:tc>
                <a:tc>
                  <a:txBody>
                    <a:bodyPr/>
                    <a:lstStyle/>
                    <a:p>
                      <a:pPr indent="0" lvl="0" marL="0" marR="0" rtl="0" algn="ctr">
                        <a:lnSpc>
                          <a:spcPct val="140017"/>
                        </a:lnSpc>
                        <a:spcBef>
                          <a:spcPts val="0"/>
                        </a:spcBef>
                        <a:spcAft>
                          <a:spcPts val="0"/>
                        </a:spcAft>
                        <a:buNone/>
                      </a:pPr>
                      <a:r>
                        <a:rPr b="1" lang="en-US" sz="2299" u="none" cap="none" strike="noStrike">
                          <a:solidFill>
                            <a:srgbClr val="000000"/>
                          </a:solidFill>
                          <a:latin typeface="Arial"/>
                          <a:ea typeface="Arial"/>
                          <a:cs typeface="Arial"/>
                          <a:sym typeface="Arial"/>
                        </a:rPr>
                        <a:t>Características principales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D2D2D2"/>
                    </a:solidFill>
                  </a:tcPr>
                </a:tc>
              </a:tr>
              <a:tr h="1188725">
                <a:tc>
                  <a:txBody>
                    <a:bodyPr/>
                    <a:lstStyle/>
                    <a:p>
                      <a:pPr indent="0" lvl="0" marL="0" marR="0" rtl="0" algn="ctr">
                        <a:lnSpc>
                          <a:spcPct val="140017"/>
                        </a:lnSpc>
                        <a:spcBef>
                          <a:spcPts val="0"/>
                        </a:spcBef>
                        <a:spcAft>
                          <a:spcPts val="0"/>
                        </a:spcAft>
                        <a:buNone/>
                      </a:pPr>
                      <a:r>
                        <a:rPr b="1" lang="en-US" sz="2299" u="none" cap="none" strike="noStrike">
                          <a:solidFill>
                            <a:srgbClr val="000000"/>
                          </a:solidFill>
                          <a:latin typeface="Arial"/>
                          <a:ea typeface="Arial"/>
                          <a:cs typeface="Arial"/>
                          <a:sym typeface="Arial"/>
                        </a:rPr>
                        <a:t>ACL Estándar</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7"/>
                        </a:lnSpc>
                        <a:spcBef>
                          <a:spcPts val="0"/>
                        </a:spcBef>
                        <a:spcAft>
                          <a:spcPts val="0"/>
                        </a:spcAft>
                        <a:buNone/>
                      </a:pPr>
                      <a:r>
                        <a:rPr lang="en-US" sz="2299" u="none" cap="none" strike="noStrike">
                          <a:solidFill>
                            <a:srgbClr val="000000"/>
                          </a:solidFill>
                          <a:latin typeface="Arial"/>
                          <a:ea typeface="Arial"/>
                          <a:cs typeface="Arial"/>
                          <a:sym typeface="Arial"/>
                        </a:rPr>
                        <a:t>Filtra solo por dirección IP origen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246025">
                <a:tc>
                  <a:txBody>
                    <a:bodyPr/>
                    <a:lstStyle/>
                    <a:p>
                      <a:pPr indent="0" lvl="0" marL="0" marR="0" rtl="0" algn="ctr">
                        <a:lnSpc>
                          <a:spcPct val="140017"/>
                        </a:lnSpc>
                        <a:spcBef>
                          <a:spcPts val="0"/>
                        </a:spcBef>
                        <a:spcAft>
                          <a:spcPts val="0"/>
                        </a:spcAft>
                        <a:buNone/>
                      </a:pPr>
                      <a:r>
                        <a:rPr b="1" lang="en-US" sz="2299" u="none" cap="none" strike="noStrike">
                          <a:solidFill>
                            <a:srgbClr val="000000"/>
                          </a:solidFill>
                          <a:latin typeface="Arial"/>
                          <a:ea typeface="Arial"/>
                          <a:cs typeface="Arial"/>
                          <a:sym typeface="Arial"/>
                        </a:rPr>
                        <a:t>ACL Extendida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7"/>
                        </a:lnSpc>
                        <a:spcBef>
                          <a:spcPts val="0"/>
                        </a:spcBef>
                        <a:spcAft>
                          <a:spcPts val="0"/>
                        </a:spcAft>
                        <a:buNone/>
                      </a:pPr>
                      <a:r>
                        <a:rPr lang="en-US" sz="2299" u="none" cap="none" strike="noStrike">
                          <a:solidFill>
                            <a:srgbClr val="000000"/>
                          </a:solidFill>
                          <a:latin typeface="Arial"/>
                          <a:ea typeface="Arial"/>
                          <a:cs typeface="Arial"/>
                          <a:sym typeface="Arial"/>
                        </a:rPr>
                        <a:t>Filtra por IP origen y destino, protocolo, puerto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246025">
                <a:tc>
                  <a:txBody>
                    <a:bodyPr/>
                    <a:lstStyle/>
                    <a:p>
                      <a:pPr indent="0" lvl="0" marL="0" marR="0" rtl="0" algn="ctr">
                        <a:lnSpc>
                          <a:spcPct val="140017"/>
                        </a:lnSpc>
                        <a:spcBef>
                          <a:spcPts val="0"/>
                        </a:spcBef>
                        <a:spcAft>
                          <a:spcPts val="0"/>
                        </a:spcAft>
                        <a:buNone/>
                      </a:pPr>
                      <a:r>
                        <a:rPr b="1" lang="en-US" sz="2299" u="none" cap="none" strike="noStrike">
                          <a:solidFill>
                            <a:srgbClr val="000000"/>
                          </a:solidFill>
                          <a:latin typeface="Arial"/>
                          <a:ea typeface="Arial"/>
                          <a:cs typeface="Arial"/>
                          <a:sym typeface="Arial"/>
                        </a:rPr>
                        <a:t>ACL Nombrada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7"/>
                        </a:lnSpc>
                        <a:spcBef>
                          <a:spcPts val="0"/>
                        </a:spcBef>
                        <a:spcAft>
                          <a:spcPts val="0"/>
                        </a:spcAft>
                        <a:buNone/>
                      </a:pPr>
                      <a:r>
                        <a:rPr lang="en-US" sz="2299" u="none" cap="none" strike="noStrike">
                          <a:solidFill>
                            <a:srgbClr val="000000"/>
                          </a:solidFill>
                          <a:latin typeface="Arial"/>
                          <a:ea typeface="Arial"/>
                          <a:cs typeface="Arial"/>
                          <a:sym typeface="Arial"/>
                        </a:rPr>
                        <a:t>ACLs que usan nombres en lugar de números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246025">
                <a:tc>
                  <a:txBody>
                    <a:bodyPr/>
                    <a:lstStyle/>
                    <a:p>
                      <a:pPr indent="0" lvl="0" marL="0" marR="0" rtl="0" algn="ctr">
                        <a:lnSpc>
                          <a:spcPct val="140017"/>
                        </a:lnSpc>
                        <a:spcBef>
                          <a:spcPts val="0"/>
                        </a:spcBef>
                        <a:spcAft>
                          <a:spcPts val="0"/>
                        </a:spcAft>
                        <a:buNone/>
                      </a:pPr>
                      <a:r>
                        <a:rPr b="1" lang="en-US" sz="2299" u="none" cap="none" strike="noStrike">
                          <a:solidFill>
                            <a:srgbClr val="000000"/>
                          </a:solidFill>
                          <a:latin typeface="Arial"/>
                          <a:ea typeface="Arial"/>
                          <a:cs typeface="Arial"/>
                          <a:sym typeface="Arial"/>
                        </a:rPr>
                        <a:t>ACL por MAC (en switches)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7"/>
                        </a:lnSpc>
                        <a:spcBef>
                          <a:spcPts val="0"/>
                        </a:spcBef>
                        <a:spcAft>
                          <a:spcPts val="0"/>
                        </a:spcAft>
                        <a:buNone/>
                      </a:pPr>
                      <a:r>
                        <a:rPr lang="en-US" sz="2299" u="none" cap="none" strike="noStrike">
                          <a:solidFill>
                            <a:srgbClr val="000000"/>
                          </a:solidFill>
                          <a:latin typeface="Arial"/>
                          <a:ea typeface="Arial"/>
                          <a:cs typeface="Arial"/>
                          <a:sym typeface="Arial"/>
                        </a:rPr>
                        <a:t>Filtra por dirección MAC, usada en switches de capa 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98" name="Shape 598"/>
        <p:cNvGrpSpPr/>
        <p:nvPr/>
      </p:nvGrpSpPr>
      <p:grpSpPr>
        <a:xfrm>
          <a:off x="0" y="0"/>
          <a:ext cx="0" cy="0"/>
          <a:chOff x="0" y="0"/>
          <a:chExt cx="0" cy="0"/>
        </a:xfrm>
      </p:grpSpPr>
      <p:sp>
        <p:nvSpPr>
          <p:cNvPr id="599" name="Google Shape;599;p34"/>
          <p:cNvSpPr txBox="1"/>
          <p:nvPr/>
        </p:nvSpPr>
        <p:spPr>
          <a:xfrm>
            <a:off x="2808267" y="809625"/>
            <a:ext cx="9616059" cy="108446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710" u="none" cap="none" strike="noStrike">
                <a:solidFill>
                  <a:srgbClr val="4D4C4C"/>
                </a:solidFill>
                <a:latin typeface="Arial"/>
                <a:ea typeface="Arial"/>
                <a:cs typeface="Arial"/>
                <a:sym typeface="Arial"/>
              </a:rPr>
              <a:t>¿Cómo funciona una ACL?</a:t>
            </a:r>
            <a:endParaRPr/>
          </a:p>
        </p:txBody>
      </p:sp>
      <p:grpSp>
        <p:nvGrpSpPr>
          <p:cNvPr id="600" name="Google Shape;600;p34"/>
          <p:cNvGrpSpPr/>
          <p:nvPr/>
        </p:nvGrpSpPr>
        <p:grpSpPr>
          <a:xfrm>
            <a:off x="879387" y="2646483"/>
            <a:ext cx="1098480" cy="1098480"/>
            <a:chOff x="0" y="0"/>
            <a:chExt cx="812800" cy="812800"/>
          </a:xfrm>
        </p:grpSpPr>
        <p:sp>
          <p:nvSpPr>
            <p:cNvPr id="601" name="Google Shape;601;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03" name="Google Shape;603;p34"/>
          <p:cNvSpPr/>
          <p:nvPr/>
        </p:nvSpPr>
        <p:spPr>
          <a:xfrm>
            <a:off x="-1698802" y="5514834"/>
            <a:ext cx="3397604" cy="3397604"/>
          </a:xfrm>
          <a:custGeom>
            <a:rect b="b" l="l" r="r" t="t"/>
            <a:pathLst>
              <a:path extrusionOk="0" h="3397604" w="3397604">
                <a:moveTo>
                  <a:pt x="0" y="0"/>
                </a:moveTo>
                <a:lnTo>
                  <a:pt x="3397604" y="0"/>
                </a:lnTo>
                <a:lnTo>
                  <a:pt x="3397604" y="3397603"/>
                </a:lnTo>
                <a:lnTo>
                  <a:pt x="0" y="3397603"/>
                </a:lnTo>
                <a:lnTo>
                  <a:pt x="0" y="0"/>
                </a:lnTo>
                <a:close/>
              </a:path>
            </a:pathLst>
          </a:custGeom>
          <a:blipFill rotWithShape="1">
            <a:blip r:embed="rId3">
              <a:alphaModFix/>
            </a:blip>
            <a:stretch>
              <a:fillRect b="0" l="0" r="0" t="0"/>
            </a:stretch>
          </a:blipFill>
          <a:ln>
            <a:noFill/>
          </a:ln>
        </p:spPr>
      </p:sp>
      <p:grpSp>
        <p:nvGrpSpPr>
          <p:cNvPr id="604" name="Google Shape;604;p34"/>
          <p:cNvGrpSpPr/>
          <p:nvPr/>
        </p:nvGrpSpPr>
        <p:grpSpPr>
          <a:xfrm rot="10800000">
            <a:off x="13986999" y="-2149600"/>
            <a:ext cx="6316248" cy="3550757"/>
            <a:chOff x="0" y="-47625"/>
            <a:chExt cx="807640" cy="454025"/>
          </a:xfrm>
        </p:grpSpPr>
        <p:sp>
          <p:nvSpPr>
            <p:cNvPr id="605" name="Google Shape;605;p34"/>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4"/>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7" name="Google Shape;607;p34"/>
          <p:cNvGrpSpPr/>
          <p:nvPr/>
        </p:nvGrpSpPr>
        <p:grpSpPr>
          <a:xfrm>
            <a:off x="17259300" y="-746671"/>
            <a:ext cx="15452459" cy="12017010"/>
            <a:chOff x="0" y="-47625"/>
            <a:chExt cx="4069783" cy="3164974"/>
          </a:xfrm>
        </p:grpSpPr>
        <p:sp>
          <p:nvSpPr>
            <p:cNvPr id="608" name="Google Shape;608;p34"/>
            <p:cNvSpPr/>
            <p:nvPr/>
          </p:nvSpPr>
          <p:spPr>
            <a:xfrm>
              <a:off x="0" y="0"/>
              <a:ext cx="4069783" cy="3117349"/>
            </a:xfrm>
            <a:custGeom>
              <a:rect b="b" l="l" r="r" t="t"/>
              <a:pathLst>
                <a:path extrusionOk="0" h="3117349" w="4069783">
                  <a:moveTo>
                    <a:pt x="0" y="0"/>
                  </a:moveTo>
                  <a:lnTo>
                    <a:pt x="4069783" y="0"/>
                  </a:lnTo>
                  <a:lnTo>
                    <a:pt x="4069783" y="3117349"/>
                  </a:lnTo>
                  <a:lnTo>
                    <a:pt x="0" y="3117349"/>
                  </a:lnTo>
                  <a:close/>
                </a:path>
              </a:pathLst>
            </a:custGeom>
            <a:solidFill>
              <a:srgbClr val="152540"/>
            </a:solidFill>
            <a:ln>
              <a:noFill/>
            </a:ln>
          </p:spPr>
        </p:sp>
        <p:sp>
          <p:nvSpPr>
            <p:cNvPr id="609" name="Google Shape;609;p34"/>
            <p:cNvSpPr txBox="1"/>
            <p:nvPr/>
          </p:nvSpPr>
          <p:spPr>
            <a:xfrm>
              <a:off x="0" y="-47625"/>
              <a:ext cx="4069782" cy="316497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0" name="Google Shape;610;p34"/>
          <p:cNvSpPr txBox="1"/>
          <p:nvPr/>
        </p:nvSpPr>
        <p:spPr>
          <a:xfrm>
            <a:off x="2593900" y="2079005"/>
            <a:ext cx="12676241" cy="2808580"/>
          </a:xfrm>
          <a:prstGeom prst="rect">
            <a:avLst/>
          </a:prstGeom>
          <a:noFill/>
          <a:ln>
            <a:noFill/>
          </a:ln>
        </p:spPr>
        <p:txBody>
          <a:bodyPr anchorCtr="0" anchor="t" bIns="0" lIns="0" spcFirstLastPara="1" rIns="0" wrap="square" tIns="0">
            <a:spAutoFit/>
          </a:bodyPr>
          <a:lstStyle/>
          <a:p>
            <a:pPr indent="-278076" lvl="1" marL="556152" marR="0" rtl="0" algn="l">
              <a:lnSpc>
                <a:spcPct val="140038"/>
              </a:lnSpc>
              <a:spcBef>
                <a:spcPts val="0"/>
              </a:spcBef>
              <a:spcAft>
                <a:spcPts val="0"/>
              </a:spcAft>
              <a:buClr>
                <a:srgbClr val="4D4C4C"/>
              </a:buClr>
              <a:buSzPts val="2575"/>
              <a:buFont typeface="Arial"/>
              <a:buChar char="•"/>
            </a:pPr>
            <a:r>
              <a:rPr b="1" i="0" lang="en-US" sz="2575" u="none" cap="none" strike="noStrike">
                <a:solidFill>
                  <a:srgbClr val="4D4C4C"/>
                </a:solidFill>
                <a:latin typeface="Arial"/>
                <a:ea typeface="Arial"/>
                <a:cs typeface="Arial"/>
                <a:sym typeface="Arial"/>
              </a:rPr>
              <a:t>Se evalúan las reglas en orden (de arriba hacia abajo).</a:t>
            </a:r>
            <a:endParaRPr/>
          </a:p>
          <a:p>
            <a:pPr indent="0" lvl="0" marL="0" marR="0" rtl="0" algn="l">
              <a:lnSpc>
                <a:spcPct val="140038"/>
              </a:lnSpc>
              <a:spcBef>
                <a:spcPts val="0"/>
              </a:spcBef>
              <a:spcAft>
                <a:spcPts val="0"/>
              </a:spcAft>
              <a:buNone/>
            </a:pPr>
            <a:r>
              <a:t/>
            </a:r>
            <a:endParaRPr b="1" i="0" sz="2575" u="none" cap="none" strike="noStrike">
              <a:solidFill>
                <a:srgbClr val="4D4C4C"/>
              </a:solidFill>
              <a:latin typeface="Arial"/>
              <a:ea typeface="Arial"/>
              <a:cs typeface="Arial"/>
              <a:sym typeface="Arial"/>
            </a:endParaRPr>
          </a:p>
          <a:p>
            <a:pPr indent="-278076" lvl="1" marL="556152" marR="0" rtl="0" algn="l">
              <a:lnSpc>
                <a:spcPct val="140038"/>
              </a:lnSpc>
              <a:spcBef>
                <a:spcPts val="0"/>
              </a:spcBef>
              <a:spcAft>
                <a:spcPts val="0"/>
              </a:spcAft>
              <a:buClr>
                <a:srgbClr val="4D4C4C"/>
              </a:buClr>
              <a:buSzPts val="2575"/>
              <a:buFont typeface="Arial"/>
              <a:buChar char="•"/>
            </a:pPr>
            <a:r>
              <a:rPr b="1" i="0" lang="en-US" sz="2575" u="none" cap="none" strike="noStrike">
                <a:solidFill>
                  <a:srgbClr val="4D4C4C"/>
                </a:solidFill>
                <a:latin typeface="Arial"/>
                <a:ea typeface="Arial"/>
                <a:cs typeface="Arial"/>
                <a:sym typeface="Arial"/>
              </a:rPr>
              <a:t>La primera coincidencia se aplica.</a:t>
            </a:r>
            <a:endParaRPr/>
          </a:p>
          <a:p>
            <a:pPr indent="0" lvl="0" marL="0" marR="0" rtl="0" algn="l">
              <a:lnSpc>
                <a:spcPct val="140038"/>
              </a:lnSpc>
              <a:spcBef>
                <a:spcPts val="0"/>
              </a:spcBef>
              <a:spcAft>
                <a:spcPts val="0"/>
              </a:spcAft>
              <a:buNone/>
            </a:pPr>
            <a:r>
              <a:t/>
            </a:r>
            <a:endParaRPr b="1" i="0" sz="2575" u="none" cap="none" strike="noStrike">
              <a:solidFill>
                <a:srgbClr val="4D4C4C"/>
              </a:solidFill>
              <a:latin typeface="Arial"/>
              <a:ea typeface="Arial"/>
              <a:cs typeface="Arial"/>
              <a:sym typeface="Arial"/>
            </a:endParaRPr>
          </a:p>
          <a:p>
            <a:pPr indent="-299666" lvl="1" marL="599331" marR="0" rtl="0" algn="l">
              <a:lnSpc>
                <a:spcPct val="140036"/>
              </a:lnSpc>
              <a:spcBef>
                <a:spcPts val="0"/>
              </a:spcBef>
              <a:spcAft>
                <a:spcPts val="0"/>
              </a:spcAft>
              <a:buClr>
                <a:srgbClr val="4D4C4C"/>
              </a:buClr>
              <a:buSzPts val="2775"/>
              <a:buFont typeface="Arial"/>
              <a:buChar char="•"/>
            </a:pPr>
            <a:r>
              <a:rPr b="1" i="0" lang="en-US" sz="2775" u="none" cap="none" strike="noStrike">
                <a:solidFill>
                  <a:srgbClr val="4D4C4C"/>
                </a:solidFill>
                <a:latin typeface="Arial"/>
                <a:ea typeface="Arial"/>
                <a:cs typeface="Arial"/>
                <a:sym typeface="Arial"/>
              </a:rPr>
              <a:t>Si no hay coincidencia, se aplica una regla implícita por defecto al final: deny all.</a:t>
            </a:r>
            <a:endParaRPr/>
          </a:p>
        </p:txBody>
      </p:sp>
      <p:sp>
        <p:nvSpPr>
          <p:cNvPr id="611" name="Google Shape;611;p34"/>
          <p:cNvSpPr txBox="1"/>
          <p:nvPr/>
        </p:nvSpPr>
        <p:spPr>
          <a:xfrm>
            <a:off x="2593900" y="5563443"/>
            <a:ext cx="6232532" cy="79564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604" u="none" cap="none" strike="noStrike">
                <a:solidFill>
                  <a:srgbClr val="4D4C4C"/>
                </a:solidFill>
                <a:latin typeface="Arial"/>
                <a:ea typeface="Arial"/>
                <a:cs typeface="Arial"/>
                <a:sym typeface="Arial"/>
              </a:rPr>
              <a:t>¿Dónde se aplican?</a:t>
            </a:r>
            <a:endParaRPr/>
          </a:p>
        </p:txBody>
      </p:sp>
      <p:sp>
        <p:nvSpPr>
          <p:cNvPr id="612" name="Google Shape;612;p34"/>
          <p:cNvSpPr txBox="1"/>
          <p:nvPr/>
        </p:nvSpPr>
        <p:spPr>
          <a:xfrm>
            <a:off x="3004024" y="6666859"/>
            <a:ext cx="9959411" cy="1553845"/>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4D4C4C"/>
              </a:buClr>
              <a:buSzPts val="2199"/>
              <a:buFont typeface="Arial"/>
              <a:buChar char="•"/>
            </a:pPr>
            <a:r>
              <a:rPr b="1" i="0" lang="en-US" sz="2199" u="none" cap="none" strike="noStrike">
                <a:solidFill>
                  <a:srgbClr val="4D4C4C"/>
                </a:solidFill>
                <a:latin typeface="Arial"/>
                <a:ea typeface="Arial"/>
                <a:cs typeface="Arial"/>
                <a:sym typeface="Arial"/>
              </a:rPr>
              <a:t>En interfaces de router, switches o dispositivos de seguridad como los ASA</a:t>
            </a:r>
            <a:endParaRPr/>
          </a:p>
          <a:p>
            <a:pPr indent="-237490" lvl="1" marL="474979" marR="0" rtl="0" algn="l">
              <a:lnSpc>
                <a:spcPct val="140018"/>
              </a:lnSpc>
              <a:spcBef>
                <a:spcPts val="0"/>
              </a:spcBef>
              <a:spcAft>
                <a:spcPts val="0"/>
              </a:spcAft>
              <a:buClr>
                <a:srgbClr val="4D4C4C"/>
              </a:buClr>
              <a:buSzPts val="2199"/>
              <a:buFont typeface="Arial"/>
              <a:buChar char="•"/>
            </a:pPr>
            <a:r>
              <a:rPr b="1" i="0" lang="en-US" sz="2199" u="none" cap="none" strike="noStrike">
                <a:solidFill>
                  <a:srgbClr val="4D4C4C"/>
                </a:solidFill>
                <a:latin typeface="Arial"/>
                <a:ea typeface="Arial"/>
                <a:cs typeface="Arial"/>
                <a:sym typeface="Arial"/>
              </a:rPr>
              <a:t>En sentido de tráfico:</a:t>
            </a:r>
            <a:endParaRPr/>
          </a:p>
          <a:p>
            <a:pPr indent="0" lvl="0" marL="0" marR="0" rtl="0" algn="l">
              <a:lnSpc>
                <a:spcPct val="140018"/>
              </a:lnSpc>
              <a:spcBef>
                <a:spcPts val="0"/>
              </a:spcBef>
              <a:spcAft>
                <a:spcPts val="0"/>
              </a:spcAft>
              <a:buNone/>
            </a:pPr>
            <a:r>
              <a:t/>
            </a:r>
            <a:endParaRPr b="1" i="0" sz="2199" u="none" cap="none" strike="noStrike">
              <a:solidFill>
                <a:srgbClr val="4D4C4C"/>
              </a:solidFill>
              <a:latin typeface="Arial"/>
              <a:ea typeface="Arial"/>
              <a:cs typeface="Arial"/>
              <a:sym typeface="Arial"/>
            </a:endParaRPr>
          </a:p>
        </p:txBody>
      </p:sp>
      <p:sp>
        <p:nvSpPr>
          <p:cNvPr id="613" name="Google Shape;613;p34"/>
          <p:cNvSpPr txBox="1"/>
          <p:nvPr/>
        </p:nvSpPr>
        <p:spPr>
          <a:xfrm>
            <a:off x="4658337" y="8031398"/>
            <a:ext cx="5915918" cy="772795"/>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i="0" lang="en-US" sz="2199" u="none" cap="none" strike="noStrike">
                <a:solidFill>
                  <a:srgbClr val="4D4C4C"/>
                </a:solidFill>
                <a:latin typeface="Arial"/>
                <a:ea typeface="Arial"/>
                <a:cs typeface="Arial"/>
                <a:sym typeface="Arial"/>
              </a:rPr>
              <a:t>in → cuando el tráfico entra por esa interfaz</a:t>
            </a:r>
            <a:endParaRPr/>
          </a:p>
          <a:p>
            <a:pPr indent="0" lvl="0" marL="0" marR="0" rtl="0" algn="ctr">
              <a:lnSpc>
                <a:spcPct val="140018"/>
              </a:lnSpc>
              <a:spcBef>
                <a:spcPts val="0"/>
              </a:spcBef>
              <a:spcAft>
                <a:spcPts val="0"/>
              </a:spcAft>
              <a:buNone/>
            </a:pPr>
            <a:r>
              <a:rPr b="1" i="0" lang="en-US" sz="2199" u="none" cap="none" strike="noStrike">
                <a:solidFill>
                  <a:srgbClr val="4D4C4C"/>
                </a:solidFill>
                <a:latin typeface="Arial"/>
                <a:ea typeface="Arial"/>
                <a:cs typeface="Arial"/>
                <a:sym typeface="Arial"/>
              </a:rPr>
              <a:t>out → cuando el tráfico sale por esa interfaz</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17" name="Shape 617"/>
        <p:cNvGrpSpPr/>
        <p:nvPr/>
      </p:nvGrpSpPr>
      <p:grpSpPr>
        <a:xfrm>
          <a:off x="0" y="0"/>
          <a:ext cx="0" cy="0"/>
          <a:chOff x="0" y="0"/>
          <a:chExt cx="0" cy="0"/>
        </a:xfrm>
      </p:grpSpPr>
      <p:grpSp>
        <p:nvGrpSpPr>
          <p:cNvPr id="618" name="Google Shape;618;p35"/>
          <p:cNvGrpSpPr/>
          <p:nvPr/>
        </p:nvGrpSpPr>
        <p:grpSpPr>
          <a:xfrm rot="-5400000">
            <a:off x="6070407" y="-12258207"/>
            <a:ext cx="5966360" cy="20036644"/>
            <a:chOff x="0" y="-47625"/>
            <a:chExt cx="1571387" cy="5277141"/>
          </a:xfrm>
        </p:grpSpPr>
        <p:sp>
          <p:nvSpPr>
            <p:cNvPr id="619" name="Google Shape;619;p35"/>
            <p:cNvSpPr/>
            <p:nvPr/>
          </p:nvSpPr>
          <p:spPr>
            <a:xfrm>
              <a:off x="0" y="0"/>
              <a:ext cx="1571387" cy="5229516"/>
            </a:xfrm>
            <a:custGeom>
              <a:rect b="b" l="l" r="r" t="t"/>
              <a:pathLst>
                <a:path extrusionOk="0" h="5229516" w="1571387">
                  <a:moveTo>
                    <a:pt x="0" y="0"/>
                  </a:moveTo>
                  <a:lnTo>
                    <a:pt x="1571387" y="0"/>
                  </a:lnTo>
                  <a:lnTo>
                    <a:pt x="1571387" y="5229516"/>
                  </a:lnTo>
                  <a:lnTo>
                    <a:pt x="0" y="5229516"/>
                  </a:lnTo>
                  <a:close/>
                </a:path>
              </a:pathLst>
            </a:custGeom>
            <a:solidFill>
              <a:srgbClr val="152540"/>
            </a:solidFill>
            <a:ln>
              <a:noFill/>
            </a:ln>
          </p:spPr>
        </p:sp>
        <p:sp>
          <p:nvSpPr>
            <p:cNvPr id="620" name="Google Shape;620;p35"/>
            <p:cNvSpPr txBox="1"/>
            <p:nvPr/>
          </p:nvSpPr>
          <p:spPr>
            <a:xfrm>
              <a:off x="0" y="-47625"/>
              <a:ext cx="1571387" cy="527714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1" name="Google Shape;621;p35"/>
          <p:cNvGrpSpPr/>
          <p:nvPr/>
        </p:nvGrpSpPr>
        <p:grpSpPr>
          <a:xfrm rot="10800000">
            <a:off x="13627384" y="-2382359"/>
            <a:ext cx="8227978" cy="4625459"/>
            <a:chOff x="0" y="-47625"/>
            <a:chExt cx="807640" cy="454025"/>
          </a:xfrm>
        </p:grpSpPr>
        <p:sp>
          <p:nvSpPr>
            <p:cNvPr id="622" name="Google Shape;622;p35"/>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5"/>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24" name="Google Shape;624;p35"/>
          <p:cNvSpPr/>
          <p:nvPr/>
        </p:nvSpPr>
        <p:spPr>
          <a:xfrm>
            <a:off x="-2368250" y="8057418"/>
            <a:ext cx="4736499" cy="4736499"/>
          </a:xfrm>
          <a:custGeom>
            <a:rect b="b" l="l" r="r" t="t"/>
            <a:pathLst>
              <a:path extrusionOk="0" h="4736499" w="4736499">
                <a:moveTo>
                  <a:pt x="0" y="0"/>
                </a:moveTo>
                <a:lnTo>
                  <a:pt x="4736500" y="0"/>
                </a:lnTo>
                <a:lnTo>
                  <a:pt x="4736500" y="4736500"/>
                </a:lnTo>
                <a:lnTo>
                  <a:pt x="0" y="4736500"/>
                </a:lnTo>
                <a:lnTo>
                  <a:pt x="0" y="0"/>
                </a:lnTo>
                <a:close/>
              </a:path>
            </a:pathLst>
          </a:custGeom>
          <a:blipFill rotWithShape="1">
            <a:blip r:embed="rId3">
              <a:alphaModFix/>
            </a:blip>
            <a:stretch>
              <a:fillRect b="0" l="0" r="0" t="0"/>
            </a:stretch>
          </a:blipFill>
          <a:ln>
            <a:noFill/>
          </a:ln>
        </p:spPr>
      </p:sp>
      <p:sp>
        <p:nvSpPr>
          <p:cNvPr id="625" name="Google Shape;625;p35"/>
          <p:cNvSpPr/>
          <p:nvPr/>
        </p:nvSpPr>
        <p:spPr>
          <a:xfrm>
            <a:off x="1282870" y="3512625"/>
            <a:ext cx="660687" cy="661890"/>
          </a:xfrm>
          <a:custGeom>
            <a:rect b="b" l="l" r="r" t="t"/>
            <a:pathLst>
              <a:path extrusionOk="0" h="661890" w="660687">
                <a:moveTo>
                  <a:pt x="0" y="0"/>
                </a:moveTo>
                <a:lnTo>
                  <a:pt x="660687" y="0"/>
                </a:lnTo>
                <a:lnTo>
                  <a:pt x="660687" y="661890"/>
                </a:lnTo>
                <a:lnTo>
                  <a:pt x="0" y="661890"/>
                </a:lnTo>
                <a:lnTo>
                  <a:pt x="0" y="0"/>
                </a:lnTo>
                <a:close/>
              </a:path>
            </a:pathLst>
          </a:custGeom>
          <a:blipFill rotWithShape="1">
            <a:blip r:embed="rId4">
              <a:alphaModFix/>
            </a:blip>
            <a:stretch>
              <a:fillRect b="0" l="0" r="0" t="0"/>
            </a:stretch>
          </a:blipFill>
          <a:ln>
            <a:noFill/>
          </a:ln>
        </p:spPr>
      </p:sp>
      <p:grpSp>
        <p:nvGrpSpPr>
          <p:cNvPr id="626" name="Google Shape;626;p35"/>
          <p:cNvGrpSpPr/>
          <p:nvPr/>
        </p:nvGrpSpPr>
        <p:grpSpPr>
          <a:xfrm rot="10800000">
            <a:off x="15936505" y="1188018"/>
            <a:ext cx="1139788" cy="1139788"/>
            <a:chOff x="0" y="0"/>
            <a:chExt cx="812800" cy="812800"/>
          </a:xfrm>
        </p:grpSpPr>
        <p:sp>
          <p:nvSpPr>
            <p:cNvPr id="627" name="Google Shape;627;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9" name="Google Shape;629;p35"/>
          <p:cNvGrpSpPr/>
          <p:nvPr/>
        </p:nvGrpSpPr>
        <p:grpSpPr>
          <a:xfrm>
            <a:off x="2368250" y="3331799"/>
            <a:ext cx="7614812" cy="4511572"/>
            <a:chOff x="0" y="-47625"/>
            <a:chExt cx="2005547" cy="1188233"/>
          </a:xfrm>
        </p:grpSpPr>
        <p:sp>
          <p:nvSpPr>
            <p:cNvPr id="630" name="Google Shape;630;p35"/>
            <p:cNvSpPr/>
            <p:nvPr/>
          </p:nvSpPr>
          <p:spPr>
            <a:xfrm>
              <a:off x="0" y="0"/>
              <a:ext cx="2005547" cy="1140608"/>
            </a:xfrm>
            <a:custGeom>
              <a:rect b="b" l="l" r="r" t="t"/>
              <a:pathLst>
                <a:path extrusionOk="0" h="1140608" w="2005547">
                  <a:moveTo>
                    <a:pt x="51851" y="0"/>
                  </a:moveTo>
                  <a:lnTo>
                    <a:pt x="1953696" y="0"/>
                  </a:lnTo>
                  <a:cubicBezTo>
                    <a:pt x="1982332" y="0"/>
                    <a:pt x="2005547" y="23215"/>
                    <a:pt x="2005547" y="51851"/>
                  </a:cubicBezTo>
                  <a:lnTo>
                    <a:pt x="2005547" y="1088757"/>
                  </a:lnTo>
                  <a:cubicBezTo>
                    <a:pt x="2005547" y="1102508"/>
                    <a:pt x="2000084" y="1115697"/>
                    <a:pt x="1990360" y="1125421"/>
                  </a:cubicBezTo>
                  <a:cubicBezTo>
                    <a:pt x="1980636" y="1135145"/>
                    <a:pt x="1967448" y="1140608"/>
                    <a:pt x="1953696" y="1140608"/>
                  </a:cubicBezTo>
                  <a:lnTo>
                    <a:pt x="51851" y="1140608"/>
                  </a:lnTo>
                  <a:cubicBezTo>
                    <a:pt x="23215" y="1140608"/>
                    <a:pt x="0" y="1117393"/>
                    <a:pt x="0" y="1088757"/>
                  </a:cubicBezTo>
                  <a:lnTo>
                    <a:pt x="0" y="51851"/>
                  </a:lnTo>
                  <a:cubicBezTo>
                    <a:pt x="0" y="23215"/>
                    <a:pt x="23215" y="0"/>
                    <a:pt x="5185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5"/>
            <p:cNvSpPr txBox="1"/>
            <p:nvPr/>
          </p:nvSpPr>
          <p:spPr>
            <a:xfrm>
              <a:off x="0" y="-47625"/>
              <a:ext cx="2005547" cy="1188233"/>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2" name="Google Shape;632;p35"/>
          <p:cNvSpPr txBox="1"/>
          <p:nvPr/>
        </p:nvSpPr>
        <p:spPr>
          <a:xfrm>
            <a:off x="2459999" y="1308568"/>
            <a:ext cx="12978113" cy="1838451"/>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b="0" i="0" lang="en-US" sz="10752" u="none" cap="none" strike="noStrike">
                <a:solidFill>
                  <a:srgbClr val="18072B"/>
                </a:solidFill>
                <a:latin typeface="Borel"/>
                <a:ea typeface="Borel"/>
                <a:cs typeface="Borel"/>
                <a:sym typeface="Borel"/>
              </a:rPr>
              <a:t>ACL ESTÁNDAR</a:t>
            </a:r>
            <a:endParaRPr/>
          </a:p>
        </p:txBody>
      </p:sp>
      <p:sp>
        <p:nvSpPr>
          <p:cNvPr id="633" name="Google Shape;633;p35"/>
          <p:cNvSpPr txBox="1"/>
          <p:nvPr/>
        </p:nvSpPr>
        <p:spPr>
          <a:xfrm>
            <a:off x="10786785" y="4505653"/>
            <a:ext cx="6642584" cy="2297066"/>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i="0" lang="en-US" sz="2627" u="none" cap="none" strike="noStrike">
                <a:solidFill>
                  <a:srgbClr val="4D4C4C"/>
                </a:solidFill>
                <a:latin typeface="Arial"/>
                <a:ea typeface="Arial"/>
                <a:cs typeface="Arial"/>
                <a:sym typeface="Arial"/>
              </a:rPr>
              <a:t>Solo filtra por dirección IP origen.</a:t>
            </a:r>
            <a:endParaRPr/>
          </a:p>
          <a:p>
            <a:pPr indent="0" lvl="0" marL="0" marR="0" rtl="0" algn="l">
              <a:lnSpc>
                <a:spcPct val="140007"/>
              </a:lnSpc>
              <a:spcBef>
                <a:spcPts val="0"/>
              </a:spcBef>
              <a:spcAft>
                <a:spcPts val="0"/>
              </a:spcAft>
              <a:buNone/>
            </a:pPr>
            <a:r>
              <a:t/>
            </a:r>
            <a:endParaRPr b="1" i="0" sz="2627" u="none" cap="none" strike="noStrike">
              <a:solidFill>
                <a:srgbClr val="4D4C4C"/>
              </a:solidFill>
              <a:latin typeface="Arial"/>
              <a:ea typeface="Arial"/>
              <a:cs typeface="Arial"/>
              <a:sym typeface="Arial"/>
            </a:endParaRPr>
          </a:p>
          <a:p>
            <a:pPr indent="0" lvl="0" marL="0" marR="0" rtl="0" algn="l">
              <a:lnSpc>
                <a:spcPct val="140007"/>
              </a:lnSpc>
              <a:spcBef>
                <a:spcPts val="0"/>
              </a:spcBef>
              <a:spcAft>
                <a:spcPts val="0"/>
              </a:spcAft>
              <a:buNone/>
            </a:pPr>
            <a:r>
              <a:rPr b="1" i="0" lang="en-US" sz="2627" u="none" cap="none" strike="noStrike">
                <a:solidFill>
                  <a:srgbClr val="4D4C4C"/>
                </a:solidFill>
                <a:latin typeface="Arial"/>
                <a:ea typeface="Arial"/>
                <a:cs typeface="Arial"/>
                <a:sym typeface="Arial"/>
              </a:rPr>
              <a:t>En este ejemplo bloquea el trafico entrante de la IP 192.168.1.10, luego se permite todo lo demás.</a:t>
            </a:r>
            <a:endParaRPr/>
          </a:p>
        </p:txBody>
      </p:sp>
      <p:sp>
        <p:nvSpPr>
          <p:cNvPr id="634" name="Google Shape;634;p35"/>
          <p:cNvSpPr txBox="1"/>
          <p:nvPr/>
        </p:nvSpPr>
        <p:spPr>
          <a:xfrm>
            <a:off x="2742356" y="4259272"/>
            <a:ext cx="6866599" cy="2713627"/>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3039" u="none" cap="none" strike="noStrike">
                <a:solidFill>
                  <a:srgbClr val="FFFFFF"/>
                </a:solidFill>
                <a:latin typeface="Consolas"/>
                <a:ea typeface="Consolas"/>
                <a:cs typeface="Consolas"/>
                <a:sym typeface="Consolas"/>
              </a:rPr>
              <a:t>access-list 1 deny 192.168.1.10</a:t>
            </a:r>
            <a:endParaRPr/>
          </a:p>
          <a:p>
            <a:pPr indent="0" lvl="0" marL="0" marR="0" rtl="0" algn="l">
              <a:lnSpc>
                <a:spcPct val="140013"/>
              </a:lnSpc>
              <a:spcBef>
                <a:spcPts val="0"/>
              </a:spcBef>
              <a:spcAft>
                <a:spcPts val="0"/>
              </a:spcAft>
              <a:buNone/>
            </a:pPr>
            <a:r>
              <a:rPr b="1" i="0" lang="en-US" sz="3039" u="none" cap="none" strike="noStrike">
                <a:solidFill>
                  <a:srgbClr val="FFFFFF"/>
                </a:solidFill>
                <a:latin typeface="Consolas"/>
                <a:ea typeface="Consolas"/>
                <a:cs typeface="Consolas"/>
                <a:sym typeface="Consolas"/>
              </a:rPr>
              <a:t>access-list 1 permit any</a:t>
            </a:r>
            <a:endParaRPr/>
          </a:p>
          <a:p>
            <a:pPr indent="0" lvl="0" marL="0" marR="0" rtl="0" algn="l">
              <a:lnSpc>
                <a:spcPct val="140013"/>
              </a:lnSpc>
              <a:spcBef>
                <a:spcPts val="0"/>
              </a:spcBef>
              <a:spcAft>
                <a:spcPts val="0"/>
              </a:spcAft>
              <a:buNone/>
            </a:pPr>
            <a:r>
              <a:t/>
            </a:r>
            <a:endParaRPr b="1" i="0" sz="3039" u="none" cap="none" strike="noStrike">
              <a:solidFill>
                <a:srgbClr val="FFFFFF"/>
              </a:solidFill>
              <a:latin typeface="Consolas"/>
              <a:ea typeface="Consolas"/>
              <a:cs typeface="Consolas"/>
              <a:sym typeface="Consolas"/>
            </a:endParaRPr>
          </a:p>
          <a:p>
            <a:pPr indent="0" lvl="0" marL="0" marR="0" rtl="0" algn="l">
              <a:lnSpc>
                <a:spcPct val="140013"/>
              </a:lnSpc>
              <a:spcBef>
                <a:spcPts val="0"/>
              </a:spcBef>
              <a:spcAft>
                <a:spcPts val="0"/>
              </a:spcAft>
              <a:buNone/>
            </a:pPr>
            <a:r>
              <a:rPr b="1" i="0" lang="en-US" sz="3039" u="none" cap="none" strike="noStrike">
                <a:solidFill>
                  <a:srgbClr val="FFFFFF"/>
                </a:solidFill>
                <a:latin typeface="Consolas"/>
                <a:ea typeface="Consolas"/>
                <a:cs typeface="Consolas"/>
                <a:sym typeface="Consolas"/>
              </a:rPr>
              <a:t>interface fastethernet0/0</a:t>
            </a:r>
            <a:endParaRPr/>
          </a:p>
          <a:p>
            <a:pPr indent="0" lvl="0" marL="0" marR="0" rtl="0" algn="l">
              <a:lnSpc>
                <a:spcPct val="140013"/>
              </a:lnSpc>
              <a:spcBef>
                <a:spcPts val="0"/>
              </a:spcBef>
              <a:spcAft>
                <a:spcPts val="0"/>
              </a:spcAft>
              <a:buNone/>
            </a:pPr>
            <a:r>
              <a:rPr b="1" i="0" lang="en-US" sz="3039" u="none" cap="none" strike="noStrike">
                <a:solidFill>
                  <a:srgbClr val="FFFFFF"/>
                </a:solidFill>
                <a:latin typeface="Consolas"/>
                <a:ea typeface="Consolas"/>
                <a:cs typeface="Consolas"/>
                <a:sym typeface="Consolas"/>
              </a:rPr>
              <a:t>ip access-group 1 in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38" name="Shape 638"/>
        <p:cNvGrpSpPr/>
        <p:nvPr/>
      </p:nvGrpSpPr>
      <p:grpSpPr>
        <a:xfrm>
          <a:off x="0" y="0"/>
          <a:ext cx="0" cy="0"/>
          <a:chOff x="0" y="0"/>
          <a:chExt cx="0" cy="0"/>
        </a:xfrm>
      </p:grpSpPr>
      <p:grpSp>
        <p:nvGrpSpPr>
          <p:cNvPr id="639" name="Google Shape;639;p36"/>
          <p:cNvGrpSpPr/>
          <p:nvPr/>
        </p:nvGrpSpPr>
        <p:grpSpPr>
          <a:xfrm rot="-5400000">
            <a:off x="6070407" y="-12258207"/>
            <a:ext cx="5966360" cy="20036644"/>
            <a:chOff x="0" y="-47625"/>
            <a:chExt cx="1571387" cy="5277141"/>
          </a:xfrm>
        </p:grpSpPr>
        <p:sp>
          <p:nvSpPr>
            <p:cNvPr id="640" name="Google Shape;640;p36"/>
            <p:cNvSpPr/>
            <p:nvPr/>
          </p:nvSpPr>
          <p:spPr>
            <a:xfrm>
              <a:off x="0" y="0"/>
              <a:ext cx="1571387" cy="5229516"/>
            </a:xfrm>
            <a:custGeom>
              <a:rect b="b" l="l" r="r" t="t"/>
              <a:pathLst>
                <a:path extrusionOk="0" h="5229516" w="1571387">
                  <a:moveTo>
                    <a:pt x="0" y="0"/>
                  </a:moveTo>
                  <a:lnTo>
                    <a:pt x="1571387" y="0"/>
                  </a:lnTo>
                  <a:lnTo>
                    <a:pt x="1571387" y="5229516"/>
                  </a:lnTo>
                  <a:lnTo>
                    <a:pt x="0" y="5229516"/>
                  </a:lnTo>
                  <a:close/>
                </a:path>
              </a:pathLst>
            </a:custGeom>
            <a:solidFill>
              <a:srgbClr val="152540"/>
            </a:solidFill>
            <a:ln>
              <a:noFill/>
            </a:ln>
          </p:spPr>
        </p:sp>
        <p:sp>
          <p:nvSpPr>
            <p:cNvPr id="641" name="Google Shape;641;p36"/>
            <p:cNvSpPr txBox="1"/>
            <p:nvPr/>
          </p:nvSpPr>
          <p:spPr>
            <a:xfrm>
              <a:off x="0" y="-47625"/>
              <a:ext cx="1571387" cy="527714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2" name="Google Shape;642;p36"/>
          <p:cNvGrpSpPr/>
          <p:nvPr/>
        </p:nvGrpSpPr>
        <p:grpSpPr>
          <a:xfrm rot="10800000">
            <a:off x="13627384" y="-2382359"/>
            <a:ext cx="8227978" cy="4625459"/>
            <a:chOff x="0" y="-47625"/>
            <a:chExt cx="807640" cy="454025"/>
          </a:xfrm>
        </p:grpSpPr>
        <p:sp>
          <p:nvSpPr>
            <p:cNvPr id="643" name="Google Shape;643;p36"/>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6"/>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45" name="Google Shape;645;p36"/>
          <p:cNvSpPr/>
          <p:nvPr/>
        </p:nvSpPr>
        <p:spPr>
          <a:xfrm>
            <a:off x="-2368250" y="8057418"/>
            <a:ext cx="4736499" cy="4736499"/>
          </a:xfrm>
          <a:custGeom>
            <a:rect b="b" l="l" r="r" t="t"/>
            <a:pathLst>
              <a:path extrusionOk="0" h="4736499" w="4736499">
                <a:moveTo>
                  <a:pt x="0" y="0"/>
                </a:moveTo>
                <a:lnTo>
                  <a:pt x="4736500" y="0"/>
                </a:lnTo>
                <a:lnTo>
                  <a:pt x="4736500" y="4736500"/>
                </a:lnTo>
                <a:lnTo>
                  <a:pt x="0" y="4736500"/>
                </a:lnTo>
                <a:lnTo>
                  <a:pt x="0" y="0"/>
                </a:lnTo>
                <a:close/>
              </a:path>
            </a:pathLst>
          </a:custGeom>
          <a:blipFill rotWithShape="1">
            <a:blip r:embed="rId3">
              <a:alphaModFix/>
            </a:blip>
            <a:stretch>
              <a:fillRect b="0" l="0" r="0" t="0"/>
            </a:stretch>
          </a:blipFill>
          <a:ln>
            <a:noFill/>
          </a:ln>
        </p:spPr>
      </p:sp>
      <p:sp>
        <p:nvSpPr>
          <p:cNvPr id="646" name="Google Shape;646;p36"/>
          <p:cNvSpPr/>
          <p:nvPr/>
        </p:nvSpPr>
        <p:spPr>
          <a:xfrm>
            <a:off x="1282870" y="3512625"/>
            <a:ext cx="660687" cy="661890"/>
          </a:xfrm>
          <a:custGeom>
            <a:rect b="b" l="l" r="r" t="t"/>
            <a:pathLst>
              <a:path extrusionOk="0" h="661890" w="660687">
                <a:moveTo>
                  <a:pt x="0" y="0"/>
                </a:moveTo>
                <a:lnTo>
                  <a:pt x="660687" y="0"/>
                </a:lnTo>
                <a:lnTo>
                  <a:pt x="660687" y="661890"/>
                </a:lnTo>
                <a:lnTo>
                  <a:pt x="0" y="661890"/>
                </a:lnTo>
                <a:lnTo>
                  <a:pt x="0" y="0"/>
                </a:lnTo>
                <a:close/>
              </a:path>
            </a:pathLst>
          </a:custGeom>
          <a:blipFill rotWithShape="1">
            <a:blip r:embed="rId4">
              <a:alphaModFix/>
            </a:blip>
            <a:stretch>
              <a:fillRect b="0" l="0" r="0" t="0"/>
            </a:stretch>
          </a:blipFill>
          <a:ln>
            <a:noFill/>
          </a:ln>
        </p:spPr>
      </p:sp>
      <p:grpSp>
        <p:nvGrpSpPr>
          <p:cNvPr id="647" name="Google Shape;647;p36"/>
          <p:cNvGrpSpPr/>
          <p:nvPr/>
        </p:nvGrpSpPr>
        <p:grpSpPr>
          <a:xfrm rot="10800000">
            <a:off x="15936505" y="1188018"/>
            <a:ext cx="1139788" cy="1139788"/>
            <a:chOff x="0" y="0"/>
            <a:chExt cx="812800" cy="812800"/>
          </a:xfrm>
        </p:grpSpPr>
        <p:sp>
          <p:nvSpPr>
            <p:cNvPr id="648" name="Google Shape;648;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50" name="Google Shape;650;p36"/>
          <p:cNvGrpSpPr/>
          <p:nvPr/>
        </p:nvGrpSpPr>
        <p:grpSpPr>
          <a:xfrm>
            <a:off x="2368250" y="3331799"/>
            <a:ext cx="7614812" cy="4511572"/>
            <a:chOff x="0" y="-47625"/>
            <a:chExt cx="2005547" cy="1188233"/>
          </a:xfrm>
        </p:grpSpPr>
        <p:sp>
          <p:nvSpPr>
            <p:cNvPr id="651" name="Google Shape;651;p36"/>
            <p:cNvSpPr/>
            <p:nvPr/>
          </p:nvSpPr>
          <p:spPr>
            <a:xfrm>
              <a:off x="0" y="0"/>
              <a:ext cx="2005547" cy="1140608"/>
            </a:xfrm>
            <a:custGeom>
              <a:rect b="b" l="l" r="r" t="t"/>
              <a:pathLst>
                <a:path extrusionOk="0" h="1140608" w="2005547">
                  <a:moveTo>
                    <a:pt x="51851" y="0"/>
                  </a:moveTo>
                  <a:lnTo>
                    <a:pt x="1953696" y="0"/>
                  </a:lnTo>
                  <a:cubicBezTo>
                    <a:pt x="1982332" y="0"/>
                    <a:pt x="2005547" y="23215"/>
                    <a:pt x="2005547" y="51851"/>
                  </a:cubicBezTo>
                  <a:lnTo>
                    <a:pt x="2005547" y="1088757"/>
                  </a:lnTo>
                  <a:cubicBezTo>
                    <a:pt x="2005547" y="1102508"/>
                    <a:pt x="2000084" y="1115697"/>
                    <a:pt x="1990360" y="1125421"/>
                  </a:cubicBezTo>
                  <a:cubicBezTo>
                    <a:pt x="1980636" y="1135145"/>
                    <a:pt x="1967448" y="1140608"/>
                    <a:pt x="1953696" y="1140608"/>
                  </a:cubicBezTo>
                  <a:lnTo>
                    <a:pt x="51851" y="1140608"/>
                  </a:lnTo>
                  <a:cubicBezTo>
                    <a:pt x="23215" y="1140608"/>
                    <a:pt x="0" y="1117393"/>
                    <a:pt x="0" y="1088757"/>
                  </a:cubicBezTo>
                  <a:lnTo>
                    <a:pt x="0" y="51851"/>
                  </a:lnTo>
                  <a:cubicBezTo>
                    <a:pt x="0" y="23215"/>
                    <a:pt x="23215" y="0"/>
                    <a:pt x="5185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6"/>
            <p:cNvSpPr txBox="1"/>
            <p:nvPr/>
          </p:nvSpPr>
          <p:spPr>
            <a:xfrm>
              <a:off x="0" y="-47625"/>
              <a:ext cx="2005547" cy="1188233"/>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53" name="Google Shape;653;p36"/>
          <p:cNvSpPr txBox="1"/>
          <p:nvPr/>
        </p:nvSpPr>
        <p:spPr>
          <a:xfrm>
            <a:off x="2459999" y="1308568"/>
            <a:ext cx="12978113" cy="1838451"/>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b="0" i="0" lang="en-US" sz="10752" u="none" cap="none" strike="noStrike">
                <a:solidFill>
                  <a:srgbClr val="18072B"/>
                </a:solidFill>
                <a:latin typeface="Borel"/>
                <a:ea typeface="Borel"/>
                <a:cs typeface="Borel"/>
                <a:sym typeface="Borel"/>
              </a:rPr>
              <a:t>ACL EXTENDIDA</a:t>
            </a:r>
            <a:endParaRPr/>
          </a:p>
        </p:txBody>
      </p:sp>
      <p:sp>
        <p:nvSpPr>
          <p:cNvPr id="654" name="Google Shape;654;p36"/>
          <p:cNvSpPr txBox="1"/>
          <p:nvPr/>
        </p:nvSpPr>
        <p:spPr>
          <a:xfrm>
            <a:off x="10616716" y="3861394"/>
            <a:ext cx="6642584" cy="3686775"/>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i="0" lang="en-US" sz="2627" u="none" cap="none" strike="noStrike">
                <a:solidFill>
                  <a:srgbClr val="4D4C4C"/>
                </a:solidFill>
                <a:latin typeface="Arial"/>
                <a:ea typeface="Arial"/>
                <a:cs typeface="Arial"/>
                <a:sym typeface="Arial"/>
              </a:rPr>
              <a:t>Permiten especificar:</a:t>
            </a:r>
            <a:endParaRPr/>
          </a:p>
          <a:p>
            <a:pPr indent="-283653" lvl="1" marL="567306" marR="0" rtl="0" algn="l">
              <a:lnSpc>
                <a:spcPct val="140007"/>
              </a:lnSpc>
              <a:spcBef>
                <a:spcPts val="0"/>
              </a:spcBef>
              <a:spcAft>
                <a:spcPts val="0"/>
              </a:spcAft>
              <a:buClr>
                <a:srgbClr val="4D4C4C"/>
              </a:buClr>
              <a:buSzPts val="2627"/>
              <a:buFont typeface="Arial"/>
              <a:buChar char="•"/>
            </a:pPr>
            <a:r>
              <a:rPr b="0" i="0" lang="en-US" sz="2627" u="none" cap="none" strike="noStrike">
                <a:solidFill>
                  <a:srgbClr val="4D4C4C"/>
                </a:solidFill>
                <a:latin typeface="Arial"/>
                <a:ea typeface="Arial"/>
                <a:cs typeface="Arial"/>
                <a:sym typeface="Arial"/>
              </a:rPr>
              <a:t>O</a:t>
            </a:r>
            <a:r>
              <a:rPr b="1" i="0" lang="en-US" sz="2627" u="none" cap="none" strike="noStrike">
                <a:solidFill>
                  <a:srgbClr val="4D4C4C"/>
                </a:solidFill>
                <a:latin typeface="Arial"/>
                <a:ea typeface="Arial"/>
                <a:cs typeface="Arial"/>
                <a:sym typeface="Arial"/>
              </a:rPr>
              <a:t>rigen y destino(red, host)</a:t>
            </a:r>
            <a:endParaRPr/>
          </a:p>
          <a:p>
            <a:pPr indent="-283653" lvl="1" marL="567306" marR="0" rtl="0" algn="l">
              <a:lnSpc>
                <a:spcPct val="140007"/>
              </a:lnSpc>
              <a:spcBef>
                <a:spcPts val="0"/>
              </a:spcBef>
              <a:spcAft>
                <a:spcPts val="0"/>
              </a:spcAft>
              <a:buClr>
                <a:srgbClr val="4D4C4C"/>
              </a:buClr>
              <a:buSzPts val="2627"/>
              <a:buFont typeface="Arial"/>
              <a:buChar char="•"/>
            </a:pPr>
            <a:r>
              <a:rPr b="1" i="0" lang="en-US" sz="2627" u="none" cap="none" strike="noStrike">
                <a:solidFill>
                  <a:srgbClr val="4D4C4C"/>
                </a:solidFill>
                <a:latin typeface="Arial"/>
                <a:ea typeface="Arial"/>
                <a:cs typeface="Arial"/>
                <a:sym typeface="Arial"/>
              </a:rPr>
              <a:t>Protocolo (TCP, UDP, ICMP)</a:t>
            </a:r>
            <a:endParaRPr/>
          </a:p>
          <a:p>
            <a:pPr indent="-283653" lvl="1" marL="567306" marR="0" rtl="0" algn="l">
              <a:lnSpc>
                <a:spcPct val="140007"/>
              </a:lnSpc>
              <a:spcBef>
                <a:spcPts val="0"/>
              </a:spcBef>
              <a:spcAft>
                <a:spcPts val="0"/>
              </a:spcAft>
              <a:buClr>
                <a:srgbClr val="4D4C4C"/>
              </a:buClr>
              <a:buSzPts val="2627"/>
              <a:buFont typeface="Arial"/>
              <a:buChar char="•"/>
            </a:pPr>
            <a:r>
              <a:rPr b="1" i="0" lang="en-US" sz="2627" u="none" cap="none" strike="noStrike">
                <a:solidFill>
                  <a:srgbClr val="4D4C4C"/>
                </a:solidFill>
                <a:latin typeface="Arial"/>
                <a:ea typeface="Arial"/>
                <a:cs typeface="Arial"/>
                <a:sym typeface="Arial"/>
              </a:rPr>
              <a:t>Puerto (ej. 80, 443, 21)</a:t>
            </a:r>
            <a:endParaRPr/>
          </a:p>
          <a:p>
            <a:pPr indent="0" lvl="0" marL="0" marR="0" rtl="0" algn="l">
              <a:lnSpc>
                <a:spcPct val="140007"/>
              </a:lnSpc>
              <a:spcBef>
                <a:spcPts val="0"/>
              </a:spcBef>
              <a:spcAft>
                <a:spcPts val="0"/>
              </a:spcAft>
              <a:buNone/>
            </a:pPr>
            <a:r>
              <a:t/>
            </a:r>
            <a:endParaRPr b="1" i="0" sz="2627" u="none" cap="none" strike="noStrike">
              <a:solidFill>
                <a:srgbClr val="4D4C4C"/>
              </a:solidFill>
              <a:latin typeface="Arial"/>
              <a:ea typeface="Arial"/>
              <a:cs typeface="Arial"/>
              <a:sym typeface="Arial"/>
            </a:endParaRPr>
          </a:p>
          <a:p>
            <a:pPr indent="0" lvl="0" marL="0" marR="0" rtl="0" algn="l">
              <a:lnSpc>
                <a:spcPct val="140007"/>
              </a:lnSpc>
              <a:spcBef>
                <a:spcPts val="0"/>
              </a:spcBef>
              <a:spcAft>
                <a:spcPts val="0"/>
              </a:spcAft>
              <a:buNone/>
            </a:pPr>
            <a:r>
              <a:rPr b="1" i="0" lang="en-US" sz="2627" u="none" cap="none" strike="noStrike">
                <a:solidFill>
                  <a:srgbClr val="4D4C4C"/>
                </a:solidFill>
                <a:latin typeface="Arial"/>
                <a:ea typeface="Arial"/>
                <a:cs typeface="Arial"/>
                <a:sym typeface="Arial"/>
              </a:rPr>
              <a:t>En ese ejemplo se bloquea entrante en el puerto 80, es decir trafico http y luego se permite todo lo demas.</a:t>
            </a:r>
            <a:endParaRPr/>
          </a:p>
        </p:txBody>
      </p:sp>
      <p:sp>
        <p:nvSpPr>
          <p:cNvPr id="655" name="Google Shape;655;p36"/>
          <p:cNvSpPr txBox="1"/>
          <p:nvPr/>
        </p:nvSpPr>
        <p:spPr>
          <a:xfrm>
            <a:off x="2538205" y="4454644"/>
            <a:ext cx="7274900" cy="234193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25" u="none" cap="none" strike="noStrike">
                <a:solidFill>
                  <a:srgbClr val="FFFFFF"/>
                </a:solidFill>
                <a:latin typeface="Consolas"/>
                <a:ea typeface="Consolas"/>
                <a:cs typeface="Consolas"/>
                <a:sym typeface="Consolas"/>
              </a:rPr>
              <a:t>access-list 100 deny tcp any any eq 80</a:t>
            </a:r>
            <a:endParaRPr/>
          </a:p>
          <a:p>
            <a:pPr indent="0" lvl="0" marL="0" marR="0" rtl="0" algn="l">
              <a:lnSpc>
                <a:spcPct val="140000"/>
              </a:lnSpc>
              <a:spcBef>
                <a:spcPts val="0"/>
              </a:spcBef>
              <a:spcAft>
                <a:spcPts val="0"/>
              </a:spcAft>
              <a:buNone/>
            </a:pPr>
            <a:r>
              <a:rPr b="1" i="0" lang="en-US" sz="2625" u="none" cap="none" strike="noStrike">
                <a:solidFill>
                  <a:srgbClr val="FFFFFF"/>
                </a:solidFill>
                <a:latin typeface="Consolas"/>
                <a:ea typeface="Consolas"/>
                <a:cs typeface="Consolas"/>
                <a:sym typeface="Consolas"/>
              </a:rPr>
              <a:t>access-list 100 permit ip any any</a:t>
            </a:r>
            <a:endParaRPr/>
          </a:p>
          <a:p>
            <a:pPr indent="0" lvl="0" marL="0" marR="0" rtl="0" algn="l">
              <a:lnSpc>
                <a:spcPct val="140000"/>
              </a:lnSpc>
              <a:spcBef>
                <a:spcPts val="0"/>
              </a:spcBef>
              <a:spcAft>
                <a:spcPts val="0"/>
              </a:spcAft>
              <a:buNone/>
            </a:pPr>
            <a:r>
              <a:t/>
            </a:r>
            <a:endParaRPr b="1" i="0" sz="2625" u="none" cap="none" strike="noStrike">
              <a:solidFill>
                <a:srgbClr val="FFFFFF"/>
              </a:solidFill>
              <a:latin typeface="Consolas"/>
              <a:ea typeface="Consolas"/>
              <a:cs typeface="Consolas"/>
              <a:sym typeface="Consolas"/>
            </a:endParaRPr>
          </a:p>
          <a:p>
            <a:pPr indent="0" lvl="0" marL="0" marR="0" rtl="0" algn="l">
              <a:lnSpc>
                <a:spcPct val="140000"/>
              </a:lnSpc>
              <a:spcBef>
                <a:spcPts val="0"/>
              </a:spcBef>
              <a:spcAft>
                <a:spcPts val="0"/>
              </a:spcAft>
              <a:buNone/>
            </a:pPr>
            <a:r>
              <a:rPr b="1" i="0" lang="en-US" sz="2625" u="none" cap="none" strike="noStrike">
                <a:solidFill>
                  <a:srgbClr val="FFFFFF"/>
                </a:solidFill>
                <a:latin typeface="Consolas"/>
                <a:ea typeface="Consolas"/>
                <a:cs typeface="Consolas"/>
                <a:sym typeface="Consolas"/>
              </a:rPr>
              <a:t>interface fastethernet0/0</a:t>
            </a:r>
            <a:endParaRPr/>
          </a:p>
          <a:p>
            <a:pPr indent="0" lvl="0" marL="0" marR="0" rtl="0" algn="l">
              <a:lnSpc>
                <a:spcPct val="140000"/>
              </a:lnSpc>
              <a:spcBef>
                <a:spcPts val="0"/>
              </a:spcBef>
              <a:spcAft>
                <a:spcPts val="0"/>
              </a:spcAft>
              <a:buNone/>
            </a:pPr>
            <a:r>
              <a:rPr b="1" i="0" lang="en-US" sz="2625" u="none" cap="none" strike="noStrike">
                <a:solidFill>
                  <a:srgbClr val="FFFFFF"/>
                </a:solidFill>
                <a:latin typeface="Consolas"/>
                <a:ea typeface="Consolas"/>
                <a:cs typeface="Consolas"/>
                <a:sym typeface="Consolas"/>
              </a:rPr>
              <a:t>ip access-group 100 in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59" name="Shape 659"/>
        <p:cNvGrpSpPr/>
        <p:nvPr/>
      </p:nvGrpSpPr>
      <p:grpSpPr>
        <a:xfrm>
          <a:off x="0" y="0"/>
          <a:ext cx="0" cy="0"/>
          <a:chOff x="0" y="0"/>
          <a:chExt cx="0" cy="0"/>
        </a:xfrm>
      </p:grpSpPr>
      <p:grpSp>
        <p:nvGrpSpPr>
          <p:cNvPr id="660" name="Google Shape;660;p37"/>
          <p:cNvGrpSpPr/>
          <p:nvPr/>
        </p:nvGrpSpPr>
        <p:grpSpPr>
          <a:xfrm>
            <a:off x="12518978" y="-3596759"/>
            <a:ext cx="8227978" cy="4625459"/>
            <a:chOff x="0" y="-47625"/>
            <a:chExt cx="807640" cy="454025"/>
          </a:xfrm>
        </p:grpSpPr>
        <p:sp>
          <p:nvSpPr>
            <p:cNvPr id="661" name="Google Shape;661;p37"/>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7"/>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63" name="Google Shape;663;p37"/>
          <p:cNvSpPr/>
          <p:nvPr/>
        </p:nvSpPr>
        <p:spPr>
          <a:xfrm>
            <a:off x="16224723" y="-1837642"/>
            <a:ext cx="4126554" cy="4126554"/>
          </a:xfrm>
          <a:custGeom>
            <a:rect b="b" l="l" r="r" t="t"/>
            <a:pathLst>
              <a:path extrusionOk="0" h="4126554" w="4126554">
                <a:moveTo>
                  <a:pt x="0" y="0"/>
                </a:moveTo>
                <a:lnTo>
                  <a:pt x="4126554" y="0"/>
                </a:lnTo>
                <a:lnTo>
                  <a:pt x="4126554" y="4126554"/>
                </a:lnTo>
                <a:lnTo>
                  <a:pt x="0" y="4126554"/>
                </a:lnTo>
                <a:lnTo>
                  <a:pt x="0" y="0"/>
                </a:lnTo>
                <a:close/>
              </a:path>
            </a:pathLst>
          </a:custGeom>
          <a:blipFill rotWithShape="1">
            <a:blip r:embed="rId3">
              <a:alphaModFix/>
            </a:blip>
            <a:stretch>
              <a:fillRect b="0" l="0" r="0" t="0"/>
            </a:stretch>
          </a:blipFill>
          <a:ln>
            <a:noFill/>
          </a:ln>
        </p:spPr>
      </p:sp>
      <p:grpSp>
        <p:nvGrpSpPr>
          <p:cNvPr id="664" name="Google Shape;664;p37"/>
          <p:cNvGrpSpPr/>
          <p:nvPr/>
        </p:nvGrpSpPr>
        <p:grpSpPr>
          <a:xfrm rot="10800000">
            <a:off x="-437583" y="9478693"/>
            <a:ext cx="1139788" cy="1139788"/>
            <a:chOff x="0" y="0"/>
            <a:chExt cx="812800" cy="812800"/>
          </a:xfrm>
        </p:grpSpPr>
        <p:sp>
          <p:nvSpPr>
            <p:cNvPr id="665" name="Google Shape;665;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7" name="Google Shape;667;p37"/>
          <p:cNvGrpSpPr/>
          <p:nvPr/>
        </p:nvGrpSpPr>
        <p:grpSpPr>
          <a:xfrm>
            <a:off x="556242" y="237952"/>
            <a:ext cx="17567237" cy="1400671"/>
            <a:chOff x="0" y="-47625"/>
            <a:chExt cx="4626762" cy="368901"/>
          </a:xfrm>
        </p:grpSpPr>
        <p:sp>
          <p:nvSpPr>
            <p:cNvPr id="668" name="Google Shape;668;p37"/>
            <p:cNvSpPr/>
            <p:nvPr/>
          </p:nvSpPr>
          <p:spPr>
            <a:xfrm>
              <a:off x="0" y="0"/>
              <a:ext cx="4626762" cy="321276"/>
            </a:xfrm>
            <a:custGeom>
              <a:rect b="b" l="l" r="r" t="t"/>
              <a:pathLst>
                <a:path extrusionOk="0" h="321276" w="4626762">
                  <a:moveTo>
                    <a:pt x="22476" y="0"/>
                  </a:moveTo>
                  <a:lnTo>
                    <a:pt x="4604286" y="0"/>
                  </a:lnTo>
                  <a:cubicBezTo>
                    <a:pt x="4616699" y="0"/>
                    <a:pt x="4626762" y="10063"/>
                    <a:pt x="4626762" y="22476"/>
                  </a:cubicBezTo>
                  <a:lnTo>
                    <a:pt x="4626762" y="298800"/>
                  </a:lnTo>
                  <a:cubicBezTo>
                    <a:pt x="4626762" y="311213"/>
                    <a:pt x="4616699" y="321276"/>
                    <a:pt x="4604286" y="321276"/>
                  </a:cubicBezTo>
                  <a:lnTo>
                    <a:pt x="22476" y="321276"/>
                  </a:lnTo>
                  <a:cubicBezTo>
                    <a:pt x="10063" y="321276"/>
                    <a:pt x="0" y="311213"/>
                    <a:pt x="0" y="298800"/>
                  </a:cubicBezTo>
                  <a:lnTo>
                    <a:pt x="0" y="22476"/>
                  </a:lnTo>
                  <a:cubicBezTo>
                    <a:pt x="0" y="10063"/>
                    <a:pt x="10063" y="0"/>
                    <a:pt x="2247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7"/>
            <p:cNvSpPr txBox="1"/>
            <p:nvPr/>
          </p:nvSpPr>
          <p:spPr>
            <a:xfrm>
              <a:off x="0" y="-47625"/>
              <a:ext cx="4626762" cy="36890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aphicFrame>
        <p:nvGraphicFramePr>
          <p:cNvPr id="670" name="Google Shape;670;p37"/>
          <p:cNvGraphicFramePr/>
          <p:nvPr/>
        </p:nvGraphicFramePr>
        <p:xfrm>
          <a:off x="4183506" y="1942812"/>
          <a:ext cx="3000000" cy="3000000"/>
        </p:xfrm>
        <a:graphic>
          <a:graphicData uri="http://schemas.openxmlformats.org/drawingml/2006/table">
            <a:tbl>
              <a:tblPr>
                <a:noFill/>
                <a:tableStyleId>{31D5E93D-8A74-4A15-8813-B31B81A636AC}</a:tableStyleId>
              </a:tblPr>
              <a:tblGrid>
                <a:gridCol w="4620300"/>
                <a:gridCol w="8995475"/>
              </a:tblGrid>
              <a:tr h="781050">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Parte</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Descripción</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81050">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access-list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Comando base que inicia una ACL</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&lt;número&gt;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Número de la ACL (100–199 para extendidas numéricas)</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&lt;accion&gt;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Acción a realizar: permit o deny</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&lt;protocolo&gt;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Protocolo a filtrar (puede ser ip, tcp, udp, icmp, etc.)</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&lt;origen&gt;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IP origen (puede ser red, host o any, si es un host se antepone "host")</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&lt;wildcard origen&gt;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Wildcard mask origen (solo se usa si el origen es un id de red)</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&lt;destino&gt;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IP destino(puede ser red, host o any, si es un host se antepone "host")</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&lt;wildcard destino&gt;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Wildcard mask destino(solo se usa si el destino es un id de red)</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43000">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[operador puerto]</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None/>
                      </a:pPr>
                      <a:r>
                        <a:rPr lang="en-US" sz="2099" u="none" cap="none" strike="noStrike">
                          <a:solidFill>
                            <a:srgbClr val="000000"/>
                          </a:solidFill>
                          <a:latin typeface="Arial"/>
                          <a:ea typeface="Arial"/>
                          <a:cs typeface="Arial"/>
                          <a:sym typeface="Arial"/>
                        </a:rPr>
                        <a:t>(opcional) Puerto destino,Se pueden usar los operadores lt (lower than), gt (greater than), eq (equal), neq (notequal) range (rango de puertos)</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71" name="Google Shape;671;p37"/>
          <p:cNvSpPr txBox="1"/>
          <p:nvPr/>
        </p:nvSpPr>
        <p:spPr>
          <a:xfrm>
            <a:off x="1556962" y="644525"/>
            <a:ext cx="17065371" cy="711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DF7"/>
                </a:solidFill>
                <a:latin typeface="Arial"/>
                <a:ea typeface="Arial"/>
                <a:cs typeface="Arial"/>
                <a:sym typeface="Arial"/>
              </a:rPr>
              <a:t>access-list &lt;número&gt; </a:t>
            </a:r>
            <a:endParaRPr/>
          </a:p>
          <a:p>
            <a:pPr indent="0" lvl="0" marL="0" marR="0" rtl="0" algn="l">
              <a:lnSpc>
                <a:spcPct val="140000"/>
              </a:lnSpc>
              <a:spcBef>
                <a:spcPts val="0"/>
              </a:spcBef>
              <a:spcAft>
                <a:spcPts val="0"/>
              </a:spcAft>
              <a:buNone/>
            </a:pPr>
            <a:r>
              <a:rPr b="1" i="0" lang="en-US" sz="2000" u="none" cap="none" strike="noStrike">
                <a:solidFill>
                  <a:srgbClr val="FFFDF7"/>
                </a:solidFill>
                <a:latin typeface="Arial"/>
                <a:ea typeface="Arial"/>
                <a:cs typeface="Arial"/>
                <a:sym typeface="Arial"/>
              </a:rPr>
              <a:t>&lt;acción&gt; &lt;protocolo&gt; &lt;origen&gt; &lt;wildcard origen&gt; [operador puerto] &lt;destino&gt; &lt;wildcard destino&gt; [operador puerto]</a:t>
            </a:r>
            <a:endParaRPr/>
          </a:p>
        </p:txBody>
      </p:sp>
      <p:sp>
        <p:nvSpPr>
          <p:cNvPr id="672" name="Google Shape;672;p37"/>
          <p:cNvSpPr txBox="1"/>
          <p:nvPr/>
        </p:nvSpPr>
        <p:spPr>
          <a:xfrm>
            <a:off x="331306" y="3737425"/>
            <a:ext cx="3382939" cy="2716899"/>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b="1" i="0" lang="en-US" sz="5191" u="none" cap="none" strike="noStrike">
                <a:solidFill>
                  <a:srgbClr val="000000"/>
                </a:solidFill>
                <a:latin typeface="Open Sans"/>
                <a:ea typeface="Open Sans"/>
                <a:cs typeface="Open Sans"/>
                <a:sym typeface="Open Sans"/>
              </a:rPr>
              <a:t>Partes de una ACL</a:t>
            </a:r>
            <a:endParaRPr/>
          </a:p>
          <a:p>
            <a:pPr indent="0" lvl="0" marL="0" marR="0" rtl="0" algn="ctr">
              <a:lnSpc>
                <a:spcPct val="139992"/>
              </a:lnSpc>
              <a:spcBef>
                <a:spcPts val="0"/>
              </a:spcBef>
              <a:spcAft>
                <a:spcPts val="0"/>
              </a:spcAft>
              <a:buNone/>
            </a:pPr>
            <a:r>
              <a:rPr b="1" i="0" lang="en-US" sz="5191" u="none" cap="none" strike="noStrike">
                <a:solidFill>
                  <a:srgbClr val="000000"/>
                </a:solidFill>
                <a:latin typeface="Open Sans"/>
                <a:ea typeface="Open Sans"/>
                <a:cs typeface="Open Sans"/>
                <a:sym typeface="Open Sans"/>
              </a:rPr>
              <a:t>Extendida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76" name="Shape 676"/>
        <p:cNvGrpSpPr/>
        <p:nvPr/>
      </p:nvGrpSpPr>
      <p:grpSpPr>
        <a:xfrm>
          <a:off x="0" y="0"/>
          <a:ext cx="0" cy="0"/>
          <a:chOff x="0" y="0"/>
          <a:chExt cx="0" cy="0"/>
        </a:xfrm>
      </p:grpSpPr>
      <p:grpSp>
        <p:nvGrpSpPr>
          <p:cNvPr id="677" name="Google Shape;677;p38"/>
          <p:cNvGrpSpPr/>
          <p:nvPr/>
        </p:nvGrpSpPr>
        <p:grpSpPr>
          <a:xfrm rot="-5400000">
            <a:off x="6070407" y="-12258207"/>
            <a:ext cx="5966360" cy="20036644"/>
            <a:chOff x="0" y="-47625"/>
            <a:chExt cx="1571387" cy="5277141"/>
          </a:xfrm>
        </p:grpSpPr>
        <p:sp>
          <p:nvSpPr>
            <p:cNvPr id="678" name="Google Shape;678;p38"/>
            <p:cNvSpPr/>
            <p:nvPr/>
          </p:nvSpPr>
          <p:spPr>
            <a:xfrm>
              <a:off x="0" y="0"/>
              <a:ext cx="1571387" cy="5229516"/>
            </a:xfrm>
            <a:custGeom>
              <a:rect b="b" l="l" r="r" t="t"/>
              <a:pathLst>
                <a:path extrusionOk="0" h="5229516" w="1571387">
                  <a:moveTo>
                    <a:pt x="0" y="0"/>
                  </a:moveTo>
                  <a:lnTo>
                    <a:pt x="1571387" y="0"/>
                  </a:lnTo>
                  <a:lnTo>
                    <a:pt x="1571387" y="5229516"/>
                  </a:lnTo>
                  <a:lnTo>
                    <a:pt x="0" y="5229516"/>
                  </a:lnTo>
                  <a:close/>
                </a:path>
              </a:pathLst>
            </a:custGeom>
            <a:solidFill>
              <a:srgbClr val="152540"/>
            </a:solidFill>
            <a:ln>
              <a:noFill/>
            </a:ln>
          </p:spPr>
        </p:sp>
        <p:sp>
          <p:nvSpPr>
            <p:cNvPr id="679" name="Google Shape;679;p38"/>
            <p:cNvSpPr txBox="1"/>
            <p:nvPr/>
          </p:nvSpPr>
          <p:spPr>
            <a:xfrm>
              <a:off x="0" y="-47625"/>
              <a:ext cx="1571387" cy="527714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80" name="Google Shape;680;p38"/>
          <p:cNvGrpSpPr/>
          <p:nvPr/>
        </p:nvGrpSpPr>
        <p:grpSpPr>
          <a:xfrm rot="10800000">
            <a:off x="13387452" y="-3222120"/>
            <a:ext cx="8227978" cy="4625459"/>
            <a:chOff x="0" y="-47625"/>
            <a:chExt cx="807640" cy="454025"/>
          </a:xfrm>
        </p:grpSpPr>
        <p:sp>
          <p:nvSpPr>
            <p:cNvPr id="681" name="Google Shape;681;p38"/>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8"/>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83" name="Google Shape;683;p38"/>
          <p:cNvSpPr/>
          <p:nvPr/>
        </p:nvSpPr>
        <p:spPr>
          <a:xfrm>
            <a:off x="-2608181" y="7217657"/>
            <a:ext cx="4736499" cy="4736499"/>
          </a:xfrm>
          <a:custGeom>
            <a:rect b="b" l="l" r="r" t="t"/>
            <a:pathLst>
              <a:path extrusionOk="0" h="4736499" w="4736499">
                <a:moveTo>
                  <a:pt x="0" y="0"/>
                </a:moveTo>
                <a:lnTo>
                  <a:pt x="4736499" y="0"/>
                </a:lnTo>
                <a:lnTo>
                  <a:pt x="4736499" y="4736500"/>
                </a:lnTo>
                <a:lnTo>
                  <a:pt x="0" y="4736500"/>
                </a:lnTo>
                <a:lnTo>
                  <a:pt x="0" y="0"/>
                </a:lnTo>
                <a:close/>
              </a:path>
            </a:pathLst>
          </a:custGeom>
          <a:blipFill rotWithShape="1">
            <a:blip r:embed="rId3">
              <a:alphaModFix/>
            </a:blip>
            <a:stretch>
              <a:fillRect b="0" l="0" r="0" t="0"/>
            </a:stretch>
          </a:blipFill>
          <a:ln>
            <a:noFill/>
          </a:ln>
        </p:spPr>
      </p:sp>
      <p:sp>
        <p:nvSpPr>
          <p:cNvPr id="684" name="Google Shape;684;p38"/>
          <p:cNvSpPr txBox="1"/>
          <p:nvPr/>
        </p:nvSpPr>
        <p:spPr>
          <a:xfrm>
            <a:off x="3107937" y="2359404"/>
            <a:ext cx="11982153" cy="240432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6885" u="none" cap="none" strike="noStrike">
                <a:solidFill>
                  <a:srgbClr val="18072B"/>
                </a:solidFill>
                <a:latin typeface="Borel"/>
                <a:ea typeface="Borel"/>
                <a:cs typeface="Borel"/>
                <a:sym typeface="Borel"/>
              </a:rPr>
              <a:t>NIVELES DE SEGURIDAD EN FIREWALLS ASA CISCO</a:t>
            </a:r>
            <a:endParaRPr/>
          </a:p>
        </p:txBody>
      </p:sp>
      <p:sp>
        <p:nvSpPr>
          <p:cNvPr id="685" name="Google Shape;685;p38"/>
          <p:cNvSpPr txBox="1"/>
          <p:nvPr/>
        </p:nvSpPr>
        <p:spPr>
          <a:xfrm>
            <a:off x="2624970" y="5291464"/>
            <a:ext cx="14249578" cy="3405154"/>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1" i="0" lang="en-US" sz="3188" u="none" cap="none" strike="noStrike">
                <a:solidFill>
                  <a:srgbClr val="4D4C4C"/>
                </a:solidFill>
                <a:latin typeface="Arial"/>
                <a:ea typeface="Arial"/>
                <a:cs typeface="Arial"/>
                <a:sym typeface="Arial"/>
              </a:rPr>
              <a:t>Los niveles de seguridad (security levels) son valores numéricos del 0 al 100 que se asignan a cada interfaz del firewall ASA para definir qué tan confiable es una red conectada a esa interfaz.</a:t>
            </a:r>
            <a:endParaRPr/>
          </a:p>
          <a:p>
            <a:pPr indent="0" lvl="0" marL="0" marR="0" rtl="0" algn="just">
              <a:lnSpc>
                <a:spcPct val="140025"/>
              </a:lnSpc>
              <a:spcBef>
                <a:spcPts val="0"/>
              </a:spcBef>
              <a:spcAft>
                <a:spcPts val="0"/>
              </a:spcAft>
              <a:buNone/>
            </a:pPr>
            <a:r>
              <a:t/>
            </a:r>
            <a:endParaRPr b="1" i="0" sz="3188" u="none" cap="none" strike="noStrike">
              <a:solidFill>
                <a:srgbClr val="4D4C4C"/>
              </a:solidFill>
              <a:latin typeface="Arial"/>
              <a:ea typeface="Arial"/>
              <a:cs typeface="Arial"/>
              <a:sym typeface="Arial"/>
            </a:endParaRPr>
          </a:p>
          <a:p>
            <a:pPr indent="0" lvl="0" marL="0" marR="0" rtl="0" algn="just">
              <a:lnSpc>
                <a:spcPct val="140025"/>
              </a:lnSpc>
              <a:spcBef>
                <a:spcPts val="0"/>
              </a:spcBef>
              <a:spcAft>
                <a:spcPts val="0"/>
              </a:spcAft>
              <a:buNone/>
            </a:pPr>
            <a:r>
              <a:rPr b="1" i="0" lang="en-US" sz="3188" u="none" cap="none" strike="noStrike">
                <a:solidFill>
                  <a:srgbClr val="4D4C4C"/>
                </a:solidFill>
                <a:latin typeface="Arial"/>
                <a:ea typeface="Arial"/>
                <a:cs typeface="Arial"/>
                <a:sym typeface="Arial"/>
              </a:rPr>
              <a:t>Mientras más alto el número, más confiable se considera esa red.</a:t>
            </a:r>
            <a:endParaRPr/>
          </a:p>
        </p:txBody>
      </p:sp>
      <p:sp>
        <p:nvSpPr>
          <p:cNvPr id="686" name="Google Shape;686;p38"/>
          <p:cNvSpPr/>
          <p:nvPr/>
        </p:nvSpPr>
        <p:spPr>
          <a:xfrm>
            <a:off x="1357849" y="4368421"/>
            <a:ext cx="660687" cy="661890"/>
          </a:xfrm>
          <a:custGeom>
            <a:rect b="b" l="l" r="r" t="t"/>
            <a:pathLst>
              <a:path extrusionOk="0" h="661890" w="660687">
                <a:moveTo>
                  <a:pt x="0" y="0"/>
                </a:moveTo>
                <a:lnTo>
                  <a:pt x="660686" y="0"/>
                </a:lnTo>
                <a:lnTo>
                  <a:pt x="660686" y="661890"/>
                </a:lnTo>
                <a:lnTo>
                  <a:pt x="0" y="661890"/>
                </a:lnTo>
                <a:lnTo>
                  <a:pt x="0" y="0"/>
                </a:lnTo>
                <a:close/>
              </a:path>
            </a:pathLst>
          </a:custGeom>
          <a:blipFill rotWithShape="1">
            <a:blip r:embed="rId4">
              <a:alphaModFix/>
            </a:blip>
            <a:stretch>
              <a:fillRect b="0" l="0" r="0" t="0"/>
            </a:stretch>
          </a:blipFill>
          <a:ln>
            <a:noFill/>
          </a:ln>
        </p:spPr>
      </p:sp>
      <p:grpSp>
        <p:nvGrpSpPr>
          <p:cNvPr id="687" name="Google Shape;687;p38"/>
          <p:cNvGrpSpPr/>
          <p:nvPr/>
        </p:nvGrpSpPr>
        <p:grpSpPr>
          <a:xfrm rot="10800000">
            <a:off x="16119512" y="743295"/>
            <a:ext cx="1139788" cy="1139788"/>
            <a:chOff x="0" y="0"/>
            <a:chExt cx="812800" cy="812800"/>
          </a:xfrm>
        </p:grpSpPr>
        <p:sp>
          <p:nvSpPr>
            <p:cNvPr id="688" name="Google Shape;688;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93" name="Shape 693"/>
        <p:cNvGrpSpPr/>
        <p:nvPr/>
      </p:nvGrpSpPr>
      <p:grpSpPr>
        <a:xfrm>
          <a:off x="0" y="0"/>
          <a:ext cx="0" cy="0"/>
          <a:chOff x="0" y="0"/>
          <a:chExt cx="0" cy="0"/>
        </a:xfrm>
      </p:grpSpPr>
      <p:grpSp>
        <p:nvGrpSpPr>
          <p:cNvPr id="694" name="Google Shape;694;p39"/>
          <p:cNvGrpSpPr/>
          <p:nvPr/>
        </p:nvGrpSpPr>
        <p:grpSpPr>
          <a:xfrm>
            <a:off x="12518978" y="-3596759"/>
            <a:ext cx="8227978" cy="4625459"/>
            <a:chOff x="0" y="-47625"/>
            <a:chExt cx="807640" cy="454025"/>
          </a:xfrm>
        </p:grpSpPr>
        <p:sp>
          <p:nvSpPr>
            <p:cNvPr id="695" name="Google Shape;695;p39"/>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9"/>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97" name="Google Shape;697;p39"/>
          <p:cNvSpPr/>
          <p:nvPr/>
        </p:nvSpPr>
        <p:spPr>
          <a:xfrm>
            <a:off x="16468040" y="-1387770"/>
            <a:ext cx="4126554" cy="4126554"/>
          </a:xfrm>
          <a:custGeom>
            <a:rect b="b" l="l" r="r" t="t"/>
            <a:pathLst>
              <a:path extrusionOk="0" h="4126554" w="4126554">
                <a:moveTo>
                  <a:pt x="0" y="0"/>
                </a:moveTo>
                <a:lnTo>
                  <a:pt x="4126554" y="0"/>
                </a:lnTo>
                <a:lnTo>
                  <a:pt x="4126554" y="4126554"/>
                </a:lnTo>
                <a:lnTo>
                  <a:pt x="0" y="4126554"/>
                </a:lnTo>
                <a:lnTo>
                  <a:pt x="0" y="0"/>
                </a:lnTo>
                <a:close/>
              </a:path>
            </a:pathLst>
          </a:custGeom>
          <a:blipFill rotWithShape="1">
            <a:blip r:embed="rId3">
              <a:alphaModFix/>
            </a:blip>
            <a:stretch>
              <a:fillRect b="0" l="0" r="0" t="0"/>
            </a:stretch>
          </a:blipFill>
          <a:ln>
            <a:noFill/>
          </a:ln>
        </p:spPr>
      </p:sp>
      <p:grpSp>
        <p:nvGrpSpPr>
          <p:cNvPr id="698" name="Google Shape;698;p39"/>
          <p:cNvGrpSpPr/>
          <p:nvPr/>
        </p:nvGrpSpPr>
        <p:grpSpPr>
          <a:xfrm>
            <a:off x="-2438492" y="8640935"/>
            <a:ext cx="8227978" cy="4625459"/>
            <a:chOff x="0" y="-47625"/>
            <a:chExt cx="807640" cy="454025"/>
          </a:xfrm>
        </p:grpSpPr>
        <p:sp>
          <p:nvSpPr>
            <p:cNvPr id="699" name="Google Shape;699;p39"/>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9"/>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01" name="Google Shape;701;p39"/>
          <p:cNvSpPr/>
          <p:nvPr/>
        </p:nvSpPr>
        <p:spPr>
          <a:xfrm rot="-2700000">
            <a:off x="-2346377" y="-43991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702" name="Google Shape;702;p39"/>
          <p:cNvSpPr txBox="1"/>
          <p:nvPr/>
        </p:nvSpPr>
        <p:spPr>
          <a:xfrm>
            <a:off x="2863944" y="1788051"/>
            <a:ext cx="8717382" cy="1094605"/>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0" i="0" lang="en-US" sz="6396" u="none" cap="none" strike="noStrike">
                <a:solidFill>
                  <a:srgbClr val="253754"/>
                </a:solidFill>
                <a:latin typeface="Borel"/>
                <a:ea typeface="Borel"/>
                <a:cs typeface="Borel"/>
                <a:sym typeface="Borel"/>
              </a:rPr>
              <a:t>RANGOS DE NIVELES</a:t>
            </a:r>
            <a:endParaRPr/>
          </a:p>
        </p:txBody>
      </p:sp>
      <p:sp>
        <p:nvSpPr>
          <p:cNvPr id="703" name="Google Shape;703;p39"/>
          <p:cNvSpPr txBox="1"/>
          <p:nvPr/>
        </p:nvSpPr>
        <p:spPr>
          <a:xfrm>
            <a:off x="1918815" y="3543216"/>
            <a:ext cx="14069542" cy="5462885"/>
          </a:xfrm>
          <a:prstGeom prst="rect">
            <a:avLst/>
          </a:prstGeom>
          <a:noFill/>
          <a:ln>
            <a:noFill/>
          </a:ln>
        </p:spPr>
        <p:txBody>
          <a:bodyPr anchorCtr="0" anchor="t" bIns="0" lIns="0" spcFirstLastPara="1" rIns="0" wrap="square" tIns="0">
            <a:spAutoFit/>
          </a:bodyPr>
          <a:lstStyle/>
          <a:p>
            <a:pPr indent="-336121" lvl="1" marL="672242" marR="0" rtl="0" algn="l">
              <a:lnSpc>
                <a:spcPct val="140025"/>
              </a:lnSpc>
              <a:spcBef>
                <a:spcPts val="0"/>
              </a:spcBef>
              <a:spcAft>
                <a:spcPts val="0"/>
              </a:spcAft>
              <a:buClr>
                <a:srgbClr val="4D4C4C"/>
              </a:buClr>
              <a:buSzPts val="3113"/>
              <a:buFont typeface="Arial"/>
              <a:buChar char="•"/>
            </a:pPr>
            <a:r>
              <a:rPr b="1" i="0" lang="en-US" sz="3113" u="none" cap="none" strike="noStrike">
                <a:solidFill>
                  <a:srgbClr val="4D4C4C"/>
                </a:solidFill>
                <a:latin typeface="Arial"/>
                <a:ea typeface="Arial"/>
                <a:cs typeface="Arial"/>
                <a:sym typeface="Arial"/>
              </a:rPr>
              <a:t>0 (cero): la red menos segura — normalmente se usa para la red externa (outside, como Internet).</a:t>
            </a:r>
            <a:endParaRPr/>
          </a:p>
          <a:p>
            <a:pPr indent="0" lvl="0" marL="0" marR="0" rtl="0" algn="l">
              <a:lnSpc>
                <a:spcPct val="140025"/>
              </a:lnSpc>
              <a:spcBef>
                <a:spcPts val="0"/>
              </a:spcBef>
              <a:spcAft>
                <a:spcPts val="0"/>
              </a:spcAft>
              <a:buNone/>
            </a:pPr>
            <a:r>
              <a:t/>
            </a:r>
            <a:endParaRPr b="1" i="0" sz="3113" u="none" cap="none" strike="noStrike">
              <a:solidFill>
                <a:srgbClr val="4D4C4C"/>
              </a:solidFill>
              <a:latin typeface="Arial"/>
              <a:ea typeface="Arial"/>
              <a:cs typeface="Arial"/>
              <a:sym typeface="Arial"/>
            </a:endParaRPr>
          </a:p>
          <a:p>
            <a:pPr indent="-336121" lvl="1" marL="672242" marR="0" rtl="0" algn="l">
              <a:lnSpc>
                <a:spcPct val="140025"/>
              </a:lnSpc>
              <a:spcBef>
                <a:spcPts val="0"/>
              </a:spcBef>
              <a:spcAft>
                <a:spcPts val="0"/>
              </a:spcAft>
              <a:buClr>
                <a:srgbClr val="4D4C4C"/>
              </a:buClr>
              <a:buSzPts val="3113"/>
              <a:buFont typeface="Arial"/>
              <a:buChar char="•"/>
            </a:pPr>
            <a:r>
              <a:rPr b="1" i="0" lang="en-US" sz="3113" u="none" cap="none" strike="noStrike">
                <a:solidFill>
                  <a:srgbClr val="4D4C4C"/>
                </a:solidFill>
                <a:latin typeface="Arial"/>
                <a:ea typeface="Arial"/>
                <a:cs typeface="Arial"/>
                <a:sym typeface="Arial"/>
              </a:rPr>
              <a:t>100: la red más segura — se usa para la red interna confiable (inside).</a:t>
            </a:r>
            <a:endParaRPr/>
          </a:p>
          <a:p>
            <a:pPr indent="0" lvl="0" marL="0" marR="0" rtl="0" algn="l">
              <a:lnSpc>
                <a:spcPct val="140025"/>
              </a:lnSpc>
              <a:spcBef>
                <a:spcPts val="0"/>
              </a:spcBef>
              <a:spcAft>
                <a:spcPts val="0"/>
              </a:spcAft>
              <a:buNone/>
            </a:pPr>
            <a:r>
              <a:t/>
            </a:r>
            <a:endParaRPr b="1" i="0" sz="3113" u="none" cap="none" strike="noStrike">
              <a:solidFill>
                <a:srgbClr val="4D4C4C"/>
              </a:solidFill>
              <a:latin typeface="Arial"/>
              <a:ea typeface="Arial"/>
              <a:cs typeface="Arial"/>
              <a:sym typeface="Arial"/>
            </a:endParaRPr>
          </a:p>
          <a:p>
            <a:pPr indent="-336121" lvl="1" marL="672242" marR="0" rtl="0" algn="l">
              <a:lnSpc>
                <a:spcPct val="140025"/>
              </a:lnSpc>
              <a:spcBef>
                <a:spcPts val="0"/>
              </a:spcBef>
              <a:spcAft>
                <a:spcPts val="0"/>
              </a:spcAft>
              <a:buClr>
                <a:srgbClr val="4D4C4C"/>
              </a:buClr>
              <a:buSzPts val="3113"/>
              <a:buFont typeface="Arial"/>
              <a:buChar char="•"/>
            </a:pPr>
            <a:r>
              <a:rPr b="1" i="0" lang="en-US" sz="3113" u="none" cap="none" strike="noStrike">
                <a:solidFill>
                  <a:srgbClr val="4D4C4C"/>
                </a:solidFill>
                <a:latin typeface="Arial"/>
                <a:ea typeface="Arial"/>
                <a:cs typeface="Arial"/>
                <a:sym typeface="Arial"/>
              </a:rPr>
              <a:t>Valores intermedios (ej. 50): se usan para redes semiconfiables, como una zona DMZ (donde hay servidores públicos).</a:t>
            </a:r>
            <a:endParaRPr/>
          </a:p>
          <a:p>
            <a:pPr indent="0" lvl="0" marL="0" marR="0" rtl="0" algn="l">
              <a:lnSpc>
                <a:spcPct val="140025"/>
              </a:lnSpc>
              <a:spcBef>
                <a:spcPts val="0"/>
              </a:spcBef>
              <a:spcAft>
                <a:spcPts val="0"/>
              </a:spcAft>
              <a:buNone/>
            </a:pPr>
            <a:r>
              <a:t/>
            </a:r>
            <a:endParaRPr b="1" i="0" sz="3113" u="none" cap="none" strike="noStrike">
              <a:solidFill>
                <a:srgbClr val="4D4C4C"/>
              </a:solidFill>
              <a:latin typeface="Arial"/>
              <a:ea typeface="Arial"/>
              <a:cs typeface="Arial"/>
              <a:sym typeface="Arial"/>
            </a:endParaRPr>
          </a:p>
        </p:txBody>
      </p:sp>
      <p:grpSp>
        <p:nvGrpSpPr>
          <p:cNvPr id="704" name="Google Shape;704;p39"/>
          <p:cNvGrpSpPr/>
          <p:nvPr/>
        </p:nvGrpSpPr>
        <p:grpSpPr>
          <a:xfrm rot="10800000">
            <a:off x="779027" y="8556229"/>
            <a:ext cx="1139788" cy="1139788"/>
            <a:chOff x="0" y="0"/>
            <a:chExt cx="812800" cy="812800"/>
          </a:xfrm>
        </p:grpSpPr>
        <p:sp>
          <p:nvSpPr>
            <p:cNvPr id="705" name="Google Shape;705;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710" name="Shape 710"/>
        <p:cNvGrpSpPr/>
        <p:nvPr/>
      </p:nvGrpSpPr>
      <p:grpSpPr>
        <a:xfrm>
          <a:off x="0" y="0"/>
          <a:ext cx="0" cy="0"/>
          <a:chOff x="0" y="0"/>
          <a:chExt cx="0" cy="0"/>
        </a:xfrm>
      </p:grpSpPr>
      <p:grpSp>
        <p:nvGrpSpPr>
          <p:cNvPr id="711" name="Google Shape;711;p40"/>
          <p:cNvGrpSpPr/>
          <p:nvPr/>
        </p:nvGrpSpPr>
        <p:grpSpPr>
          <a:xfrm>
            <a:off x="-3271034" y="-3520368"/>
            <a:ext cx="9568435" cy="4625459"/>
            <a:chOff x="0" y="-47625"/>
            <a:chExt cx="939217" cy="454025"/>
          </a:xfrm>
        </p:grpSpPr>
        <p:sp>
          <p:nvSpPr>
            <p:cNvPr id="712" name="Google Shape;712;p40"/>
            <p:cNvSpPr/>
            <p:nvPr/>
          </p:nvSpPr>
          <p:spPr>
            <a:xfrm>
              <a:off x="0" y="0"/>
              <a:ext cx="939217" cy="406400"/>
            </a:xfrm>
            <a:custGeom>
              <a:rect b="b" l="l" r="r" t="t"/>
              <a:pathLst>
                <a:path extrusionOk="0" h="406400" w="939217">
                  <a:moveTo>
                    <a:pt x="736017" y="0"/>
                  </a:moveTo>
                  <a:cubicBezTo>
                    <a:pt x="848241" y="0"/>
                    <a:pt x="939217" y="90976"/>
                    <a:pt x="939217" y="203200"/>
                  </a:cubicBezTo>
                  <a:cubicBezTo>
                    <a:pt x="939217" y="315424"/>
                    <a:pt x="848241" y="406400"/>
                    <a:pt x="73601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0"/>
            <p:cNvSpPr txBox="1"/>
            <p:nvPr/>
          </p:nvSpPr>
          <p:spPr>
            <a:xfrm>
              <a:off x="0" y="-47625"/>
              <a:ext cx="939217"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14" name="Google Shape;714;p40"/>
          <p:cNvSpPr/>
          <p:nvPr/>
        </p:nvSpPr>
        <p:spPr>
          <a:xfrm>
            <a:off x="16058915" y="-2034868"/>
            <a:ext cx="4009935" cy="4009935"/>
          </a:xfrm>
          <a:custGeom>
            <a:rect b="b" l="l" r="r" t="t"/>
            <a:pathLst>
              <a:path extrusionOk="0" h="4009935" w="4009935">
                <a:moveTo>
                  <a:pt x="0" y="0"/>
                </a:moveTo>
                <a:lnTo>
                  <a:pt x="4009935" y="0"/>
                </a:lnTo>
                <a:lnTo>
                  <a:pt x="4009935" y="4009935"/>
                </a:lnTo>
                <a:lnTo>
                  <a:pt x="0" y="4009935"/>
                </a:lnTo>
                <a:lnTo>
                  <a:pt x="0" y="0"/>
                </a:lnTo>
                <a:close/>
              </a:path>
            </a:pathLst>
          </a:custGeom>
          <a:blipFill rotWithShape="1">
            <a:blip r:embed="rId3">
              <a:alphaModFix/>
            </a:blip>
            <a:stretch>
              <a:fillRect b="0" l="0" r="0" t="0"/>
            </a:stretch>
          </a:blipFill>
          <a:ln>
            <a:noFill/>
          </a:ln>
        </p:spPr>
      </p:sp>
      <p:grpSp>
        <p:nvGrpSpPr>
          <p:cNvPr id="715" name="Google Shape;715;p40"/>
          <p:cNvGrpSpPr/>
          <p:nvPr/>
        </p:nvGrpSpPr>
        <p:grpSpPr>
          <a:xfrm>
            <a:off x="1249361" y="548794"/>
            <a:ext cx="959812" cy="959812"/>
            <a:chOff x="0" y="0"/>
            <a:chExt cx="812800" cy="812800"/>
          </a:xfrm>
        </p:grpSpPr>
        <p:sp>
          <p:nvSpPr>
            <p:cNvPr id="716" name="Google Shape;716;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4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18" name="Google Shape;718;p40"/>
          <p:cNvGrpSpPr/>
          <p:nvPr/>
        </p:nvGrpSpPr>
        <p:grpSpPr>
          <a:xfrm rot="-5400000">
            <a:off x="6095749" y="2493369"/>
            <a:ext cx="6818207" cy="21127995"/>
            <a:chOff x="0" y="-47625"/>
            <a:chExt cx="1795742" cy="5564575"/>
          </a:xfrm>
        </p:grpSpPr>
        <p:sp>
          <p:nvSpPr>
            <p:cNvPr id="719" name="Google Shape;719;p4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152540"/>
            </a:solidFill>
            <a:ln>
              <a:noFill/>
            </a:ln>
          </p:spPr>
        </p:sp>
        <p:sp>
          <p:nvSpPr>
            <p:cNvPr id="720" name="Google Shape;720;p4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aphicFrame>
        <p:nvGraphicFramePr>
          <p:cNvPr id="721" name="Google Shape;721;p40"/>
          <p:cNvGraphicFramePr/>
          <p:nvPr/>
        </p:nvGraphicFramePr>
        <p:xfrm>
          <a:off x="4518060" y="3718890"/>
          <a:ext cx="3000000" cy="3000000"/>
        </p:xfrm>
        <a:graphic>
          <a:graphicData uri="http://schemas.openxmlformats.org/drawingml/2006/table">
            <a:tbl>
              <a:tblPr>
                <a:noFill/>
                <a:tableStyleId>{31D5E93D-8A74-4A15-8813-B31B81A636AC}</a:tableStyleId>
              </a:tblPr>
              <a:tblGrid>
                <a:gridCol w="3698275"/>
                <a:gridCol w="5866300"/>
              </a:tblGrid>
              <a:tr h="805950">
                <a:tc>
                  <a:txBody>
                    <a:bodyPr/>
                    <a:lstStyle/>
                    <a:p>
                      <a:pPr indent="0" lvl="0" marL="0" marR="0" rtl="0" algn="l">
                        <a:lnSpc>
                          <a:spcPct val="140021"/>
                        </a:lnSpc>
                        <a:spcBef>
                          <a:spcPts val="0"/>
                        </a:spcBef>
                        <a:spcAft>
                          <a:spcPts val="0"/>
                        </a:spcAft>
                        <a:buNone/>
                      </a:pPr>
                      <a:r>
                        <a:rPr lang="en-US" sz="1899" u="none" cap="none" strike="noStrike">
                          <a:solidFill>
                            <a:srgbClr val="000000"/>
                          </a:solidFill>
                          <a:latin typeface="Montserrat"/>
                          <a:ea typeface="Montserrat"/>
                          <a:cs typeface="Montserrat"/>
                          <a:sym typeface="Montserrat"/>
                        </a:rPr>
                        <a:t>Tipo de tráfico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21"/>
                        </a:lnSpc>
                        <a:spcBef>
                          <a:spcPts val="0"/>
                        </a:spcBef>
                        <a:spcAft>
                          <a:spcPts val="0"/>
                        </a:spcAft>
                        <a:buNone/>
                      </a:pPr>
                      <a:r>
                        <a:rPr lang="en-US" sz="1899" u="none" cap="none" strike="noStrike">
                          <a:solidFill>
                            <a:srgbClr val="000000"/>
                          </a:solidFill>
                          <a:latin typeface="Montserrat"/>
                          <a:ea typeface="Montserrat"/>
                          <a:cs typeface="Montserrat"/>
                          <a:sym typeface="Montserrat"/>
                        </a:rPr>
                        <a:t>¿Permitido por defecto?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489225">
                <a:tc>
                  <a:txBody>
                    <a:bodyPr/>
                    <a:lstStyle/>
                    <a:p>
                      <a:pPr indent="0" lvl="0" marL="0" marR="0" rtl="0" algn="l">
                        <a:lnSpc>
                          <a:spcPct val="140021"/>
                        </a:lnSpc>
                        <a:spcBef>
                          <a:spcPts val="0"/>
                        </a:spcBef>
                        <a:spcAft>
                          <a:spcPts val="0"/>
                        </a:spcAft>
                        <a:buNone/>
                      </a:pPr>
                      <a:r>
                        <a:rPr lang="en-US" sz="1899" u="none" cap="none" strike="noStrike">
                          <a:solidFill>
                            <a:srgbClr val="000000"/>
                          </a:solidFill>
                          <a:latin typeface="Montserrat"/>
                          <a:ea typeface="Montserrat"/>
                          <a:cs typeface="Montserrat"/>
                          <a:sym typeface="Montserrat"/>
                        </a:rPr>
                        <a:t>De mayor a menor nivel</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21"/>
                        </a:lnSpc>
                        <a:spcBef>
                          <a:spcPts val="0"/>
                        </a:spcBef>
                        <a:spcAft>
                          <a:spcPts val="0"/>
                        </a:spcAft>
                        <a:buNone/>
                      </a:pPr>
                      <a:r>
                        <a:rPr lang="en-US" sz="1899" u="none" cap="none" strike="noStrike">
                          <a:solidFill>
                            <a:srgbClr val="000000"/>
                          </a:solidFill>
                          <a:latin typeface="Montserrat"/>
                          <a:ea typeface="Montserrat"/>
                          <a:cs typeface="Montserrat"/>
                          <a:sym typeface="Montserrat"/>
                        </a:rPr>
                        <a:t>Sí (permitido)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477675">
                <a:tc>
                  <a:txBody>
                    <a:bodyPr/>
                    <a:lstStyle/>
                    <a:p>
                      <a:pPr indent="0" lvl="0" marL="0" marR="0" rtl="0" algn="l">
                        <a:lnSpc>
                          <a:spcPct val="140021"/>
                        </a:lnSpc>
                        <a:spcBef>
                          <a:spcPts val="0"/>
                        </a:spcBef>
                        <a:spcAft>
                          <a:spcPts val="0"/>
                        </a:spcAft>
                        <a:buNone/>
                      </a:pPr>
                      <a:r>
                        <a:rPr lang="en-US" sz="1899" u="none" cap="none" strike="noStrike">
                          <a:solidFill>
                            <a:srgbClr val="000000"/>
                          </a:solidFill>
                          <a:latin typeface="Montserrat"/>
                          <a:ea typeface="Montserrat"/>
                          <a:cs typeface="Montserrat"/>
                          <a:sym typeface="Montserrat"/>
                        </a:rPr>
                        <a:t>De menor a mayor nivel</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21"/>
                        </a:lnSpc>
                        <a:spcBef>
                          <a:spcPts val="0"/>
                        </a:spcBef>
                        <a:spcAft>
                          <a:spcPts val="0"/>
                        </a:spcAft>
                        <a:buNone/>
                      </a:pPr>
                      <a:r>
                        <a:rPr lang="en-US" sz="1899" u="none" cap="none" strike="noStrike">
                          <a:solidFill>
                            <a:srgbClr val="000000"/>
                          </a:solidFill>
                          <a:latin typeface="Montserrat"/>
                          <a:ea typeface="Montserrat"/>
                          <a:cs typeface="Montserrat"/>
                          <a:sym typeface="Montserrat"/>
                        </a:rPr>
                        <a:t>No (bloqueado)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465375">
                <a:tc>
                  <a:txBody>
                    <a:bodyPr/>
                    <a:lstStyle/>
                    <a:p>
                      <a:pPr indent="0" lvl="0" marL="0" marR="0" rtl="0" algn="l">
                        <a:lnSpc>
                          <a:spcPct val="140021"/>
                        </a:lnSpc>
                        <a:spcBef>
                          <a:spcPts val="0"/>
                        </a:spcBef>
                        <a:spcAft>
                          <a:spcPts val="0"/>
                        </a:spcAft>
                        <a:buNone/>
                      </a:pPr>
                      <a:r>
                        <a:rPr lang="en-US" sz="1899" u="none" cap="none" strike="noStrike">
                          <a:solidFill>
                            <a:srgbClr val="000000"/>
                          </a:solidFill>
                          <a:latin typeface="Montserrat"/>
                          <a:ea typeface="Montserrat"/>
                          <a:cs typeface="Montserrat"/>
                          <a:sym typeface="Montserrat"/>
                        </a:rPr>
                        <a:t>Entre niveles iguales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21"/>
                        </a:lnSpc>
                        <a:spcBef>
                          <a:spcPts val="0"/>
                        </a:spcBef>
                        <a:spcAft>
                          <a:spcPts val="0"/>
                        </a:spcAft>
                        <a:buNone/>
                      </a:pPr>
                      <a:r>
                        <a:rPr lang="en-US" sz="1899" u="none" cap="none" strike="noStrike">
                          <a:solidFill>
                            <a:srgbClr val="000000"/>
                          </a:solidFill>
                          <a:latin typeface="Montserrat"/>
                          <a:ea typeface="Montserrat"/>
                          <a:cs typeface="Montserrat"/>
                          <a:sym typeface="Montserrat"/>
                        </a:rPr>
                        <a:t>No (bloqueado)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722" name="Google Shape;722;p40"/>
          <p:cNvSpPr txBox="1"/>
          <p:nvPr/>
        </p:nvSpPr>
        <p:spPr>
          <a:xfrm>
            <a:off x="4398094" y="2645494"/>
            <a:ext cx="9491811" cy="38227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i="0" lang="en-US" sz="2199" u="none" cap="none" strike="noStrike">
                <a:solidFill>
                  <a:srgbClr val="000000"/>
                </a:solidFill>
                <a:latin typeface="Arial"/>
                <a:ea typeface="Arial"/>
                <a:cs typeface="Arial"/>
                <a:sym typeface="Arial"/>
              </a:rPr>
              <a:t>Los niveles permiten que el ASA aplique reglas de tráfico automáticas:</a:t>
            </a:r>
            <a:endParaRPr/>
          </a:p>
        </p:txBody>
      </p:sp>
      <p:sp>
        <p:nvSpPr>
          <p:cNvPr id="723" name="Google Shape;723;p40"/>
          <p:cNvSpPr txBox="1"/>
          <p:nvPr/>
        </p:nvSpPr>
        <p:spPr>
          <a:xfrm>
            <a:off x="4014278" y="1422881"/>
            <a:ext cx="10259445" cy="678400"/>
          </a:xfrm>
          <a:prstGeom prst="rect">
            <a:avLst/>
          </a:prstGeom>
          <a:noFill/>
          <a:ln>
            <a:noFill/>
          </a:ln>
        </p:spPr>
        <p:txBody>
          <a:bodyPr anchorCtr="0" anchor="t" bIns="0" lIns="0" spcFirstLastPara="1" rIns="0" wrap="square" tIns="0">
            <a:spAutoFit/>
          </a:bodyPr>
          <a:lstStyle/>
          <a:p>
            <a:pPr indent="0" lvl="0" marL="0" marR="0" rtl="0" algn="ctr">
              <a:lnSpc>
                <a:spcPct val="139989"/>
              </a:lnSpc>
              <a:spcBef>
                <a:spcPts val="0"/>
              </a:spcBef>
              <a:spcAft>
                <a:spcPts val="0"/>
              </a:spcAft>
              <a:buNone/>
            </a:pPr>
            <a:r>
              <a:rPr b="1" i="0" lang="en-US" sz="3896" u="none" cap="none" strike="noStrike">
                <a:solidFill>
                  <a:srgbClr val="000000"/>
                </a:solidFill>
                <a:latin typeface="Arial"/>
                <a:ea typeface="Arial"/>
                <a:cs typeface="Arial"/>
                <a:sym typeface="Arial"/>
              </a:rPr>
              <a:t>¿Para qué sirven los niveles de seguridad?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754"/>
        </a:solidFill>
      </p:bgPr>
    </p:bg>
    <p:spTree>
      <p:nvGrpSpPr>
        <p:cNvPr id="727" name="Shape 727"/>
        <p:cNvGrpSpPr/>
        <p:nvPr/>
      </p:nvGrpSpPr>
      <p:grpSpPr>
        <a:xfrm>
          <a:off x="0" y="0"/>
          <a:ext cx="0" cy="0"/>
          <a:chOff x="0" y="0"/>
          <a:chExt cx="0" cy="0"/>
        </a:xfrm>
      </p:grpSpPr>
      <p:sp>
        <p:nvSpPr>
          <p:cNvPr id="728" name="Google Shape;728;p41"/>
          <p:cNvSpPr/>
          <p:nvPr/>
        </p:nvSpPr>
        <p:spPr>
          <a:xfrm>
            <a:off x="-290950" y="-2033784"/>
            <a:ext cx="8535602" cy="7976908"/>
          </a:xfrm>
          <a:custGeom>
            <a:rect b="b" l="l" r="r" t="t"/>
            <a:pathLst>
              <a:path extrusionOk="0" h="7976908" w="8535602">
                <a:moveTo>
                  <a:pt x="0" y="0"/>
                </a:moveTo>
                <a:lnTo>
                  <a:pt x="8535602" y="0"/>
                </a:lnTo>
                <a:lnTo>
                  <a:pt x="8535602" y="7976908"/>
                </a:lnTo>
                <a:lnTo>
                  <a:pt x="0" y="7976908"/>
                </a:lnTo>
                <a:lnTo>
                  <a:pt x="0" y="0"/>
                </a:lnTo>
                <a:close/>
              </a:path>
            </a:pathLst>
          </a:custGeom>
          <a:blipFill rotWithShape="1">
            <a:blip r:embed="rId3">
              <a:alphaModFix/>
            </a:blip>
            <a:stretch>
              <a:fillRect b="0" l="0" r="0" t="0"/>
            </a:stretch>
          </a:blipFill>
          <a:ln>
            <a:noFill/>
          </a:ln>
        </p:spPr>
      </p:sp>
      <p:sp>
        <p:nvSpPr>
          <p:cNvPr id="729" name="Google Shape;729;p41"/>
          <p:cNvSpPr/>
          <p:nvPr/>
        </p:nvSpPr>
        <p:spPr>
          <a:xfrm rot="-10151301">
            <a:off x="11077984" y="7038097"/>
            <a:ext cx="8535602" cy="7976908"/>
          </a:xfrm>
          <a:custGeom>
            <a:rect b="b" l="l" r="r" t="t"/>
            <a:pathLst>
              <a:path extrusionOk="0" h="7976908" w="8535602">
                <a:moveTo>
                  <a:pt x="0" y="0"/>
                </a:moveTo>
                <a:lnTo>
                  <a:pt x="8535602" y="0"/>
                </a:lnTo>
                <a:lnTo>
                  <a:pt x="8535602" y="7976908"/>
                </a:lnTo>
                <a:lnTo>
                  <a:pt x="0" y="7976908"/>
                </a:lnTo>
                <a:lnTo>
                  <a:pt x="0" y="0"/>
                </a:lnTo>
                <a:close/>
              </a:path>
            </a:pathLst>
          </a:custGeom>
          <a:blipFill rotWithShape="1">
            <a:blip r:embed="rId3">
              <a:alphaModFix/>
            </a:blip>
            <a:stretch>
              <a:fillRect b="0" l="0" r="0" t="0"/>
            </a:stretch>
          </a:blipFill>
          <a:ln>
            <a:noFill/>
          </a:ln>
        </p:spPr>
      </p:sp>
      <p:grpSp>
        <p:nvGrpSpPr>
          <p:cNvPr id="730" name="Google Shape;730;p41"/>
          <p:cNvGrpSpPr/>
          <p:nvPr/>
        </p:nvGrpSpPr>
        <p:grpSpPr>
          <a:xfrm>
            <a:off x="12784575" y="4159650"/>
            <a:ext cx="4474689" cy="5244526"/>
            <a:chOff x="0" y="0"/>
            <a:chExt cx="997323" cy="1136384"/>
          </a:xfrm>
        </p:grpSpPr>
        <p:sp>
          <p:nvSpPr>
            <p:cNvPr id="731" name="Google Shape;731;p41"/>
            <p:cNvSpPr/>
            <p:nvPr/>
          </p:nvSpPr>
          <p:spPr>
            <a:xfrm>
              <a:off x="0" y="0"/>
              <a:ext cx="997323" cy="1136384"/>
            </a:xfrm>
            <a:custGeom>
              <a:rect b="b" l="l" r="r" t="t"/>
              <a:pathLst>
                <a:path extrusionOk="0" h="1136384" w="997323">
                  <a:moveTo>
                    <a:pt x="102079" y="0"/>
                  </a:moveTo>
                  <a:lnTo>
                    <a:pt x="895245" y="0"/>
                  </a:lnTo>
                  <a:cubicBezTo>
                    <a:pt x="951621" y="0"/>
                    <a:pt x="997323" y="45702"/>
                    <a:pt x="997323" y="102079"/>
                  </a:cubicBezTo>
                  <a:lnTo>
                    <a:pt x="997323" y="1034305"/>
                  </a:lnTo>
                  <a:cubicBezTo>
                    <a:pt x="997323" y="1090682"/>
                    <a:pt x="951621" y="1136384"/>
                    <a:pt x="895245" y="1136384"/>
                  </a:cubicBezTo>
                  <a:lnTo>
                    <a:pt x="102079" y="1136384"/>
                  </a:lnTo>
                  <a:cubicBezTo>
                    <a:pt x="45702" y="1136384"/>
                    <a:pt x="0" y="1090682"/>
                    <a:pt x="0" y="1034305"/>
                  </a:cubicBezTo>
                  <a:lnTo>
                    <a:pt x="0" y="102079"/>
                  </a:lnTo>
                  <a:cubicBezTo>
                    <a:pt x="0" y="45702"/>
                    <a:pt x="45702" y="0"/>
                    <a:pt x="102079" y="0"/>
                  </a:cubicBezTo>
                  <a:close/>
                </a:path>
              </a:pathLst>
            </a:custGeom>
            <a:solidFill>
              <a:srgbClr val="000000">
                <a:alpha val="0"/>
              </a:srgbClr>
            </a:solidFill>
            <a:ln cap="rnd" cmpd="sng" w="38100">
              <a:solidFill>
                <a:srgbClr val="E3D8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41"/>
            <p:cNvSpPr txBox="1"/>
            <p:nvPr/>
          </p:nvSpPr>
          <p:spPr>
            <a:xfrm>
              <a:off x="0" y="9525"/>
              <a:ext cx="997323" cy="1126859"/>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33" name="Google Shape;733;p41"/>
          <p:cNvGrpSpPr/>
          <p:nvPr/>
        </p:nvGrpSpPr>
        <p:grpSpPr>
          <a:xfrm>
            <a:off x="7969875" y="4159650"/>
            <a:ext cx="4474689" cy="5244526"/>
            <a:chOff x="0" y="0"/>
            <a:chExt cx="997323" cy="1136384"/>
          </a:xfrm>
        </p:grpSpPr>
        <p:sp>
          <p:nvSpPr>
            <p:cNvPr id="734" name="Google Shape;734;p41"/>
            <p:cNvSpPr/>
            <p:nvPr/>
          </p:nvSpPr>
          <p:spPr>
            <a:xfrm>
              <a:off x="0" y="0"/>
              <a:ext cx="997323" cy="1136384"/>
            </a:xfrm>
            <a:custGeom>
              <a:rect b="b" l="l" r="r" t="t"/>
              <a:pathLst>
                <a:path extrusionOk="0" h="1136384" w="997323">
                  <a:moveTo>
                    <a:pt x="102079" y="0"/>
                  </a:moveTo>
                  <a:lnTo>
                    <a:pt x="895245" y="0"/>
                  </a:lnTo>
                  <a:cubicBezTo>
                    <a:pt x="951621" y="0"/>
                    <a:pt x="997323" y="45702"/>
                    <a:pt x="997323" y="102079"/>
                  </a:cubicBezTo>
                  <a:lnTo>
                    <a:pt x="997323" y="1034305"/>
                  </a:lnTo>
                  <a:cubicBezTo>
                    <a:pt x="997323" y="1090682"/>
                    <a:pt x="951621" y="1136384"/>
                    <a:pt x="895245" y="1136384"/>
                  </a:cubicBezTo>
                  <a:lnTo>
                    <a:pt x="102079" y="1136384"/>
                  </a:lnTo>
                  <a:cubicBezTo>
                    <a:pt x="45702" y="1136384"/>
                    <a:pt x="0" y="1090682"/>
                    <a:pt x="0" y="1034305"/>
                  </a:cubicBezTo>
                  <a:lnTo>
                    <a:pt x="0" y="102079"/>
                  </a:lnTo>
                  <a:cubicBezTo>
                    <a:pt x="0" y="45702"/>
                    <a:pt x="45702" y="0"/>
                    <a:pt x="102079" y="0"/>
                  </a:cubicBezTo>
                  <a:close/>
                </a:path>
              </a:pathLst>
            </a:custGeom>
            <a:solidFill>
              <a:srgbClr val="000000">
                <a:alpha val="0"/>
              </a:srgbClr>
            </a:solidFill>
            <a:ln cap="rnd" cmpd="sng" w="38100">
              <a:solidFill>
                <a:srgbClr val="E3D8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1"/>
            <p:cNvSpPr txBox="1"/>
            <p:nvPr/>
          </p:nvSpPr>
          <p:spPr>
            <a:xfrm>
              <a:off x="0" y="9525"/>
              <a:ext cx="997323" cy="1126859"/>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36" name="Google Shape;736;p41"/>
          <p:cNvGrpSpPr/>
          <p:nvPr/>
        </p:nvGrpSpPr>
        <p:grpSpPr>
          <a:xfrm>
            <a:off x="3150525" y="4159650"/>
            <a:ext cx="4474689" cy="5244526"/>
            <a:chOff x="0" y="0"/>
            <a:chExt cx="997323" cy="1136384"/>
          </a:xfrm>
        </p:grpSpPr>
        <p:sp>
          <p:nvSpPr>
            <p:cNvPr id="737" name="Google Shape;737;p41"/>
            <p:cNvSpPr/>
            <p:nvPr/>
          </p:nvSpPr>
          <p:spPr>
            <a:xfrm>
              <a:off x="0" y="0"/>
              <a:ext cx="997323" cy="1136384"/>
            </a:xfrm>
            <a:custGeom>
              <a:rect b="b" l="l" r="r" t="t"/>
              <a:pathLst>
                <a:path extrusionOk="0" h="1136384" w="997323">
                  <a:moveTo>
                    <a:pt x="102079" y="0"/>
                  </a:moveTo>
                  <a:lnTo>
                    <a:pt x="895245" y="0"/>
                  </a:lnTo>
                  <a:cubicBezTo>
                    <a:pt x="951621" y="0"/>
                    <a:pt x="997323" y="45702"/>
                    <a:pt x="997323" y="102079"/>
                  </a:cubicBezTo>
                  <a:lnTo>
                    <a:pt x="997323" y="1034305"/>
                  </a:lnTo>
                  <a:cubicBezTo>
                    <a:pt x="997323" y="1090682"/>
                    <a:pt x="951621" y="1136384"/>
                    <a:pt x="895245" y="1136384"/>
                  </a:cubicBezTo>
                  <a:lnTo>
                    <a:pt x="102079" y="1136384"/>
                  </a:lnTo>
                  <a:cubicBezTo>
                    <a:pt x="45702" y="1136384"/>
                    <a:pt x="0" y="1090682"/>
                    <a:pt x="0" y="1034305"/>
                  </a:cubicBezTo>
                  <a:lnTo>
                    <a:pt x="0" y="102079"/>
                  </a:lnTo>
                  <a:cubicBezTo>
                    <a:pt x="0" y="45702"/>
                    <a:pt x="45702" y="0"/>
                    <a:pt x="102079" y="0"/>
                  </a:cubicBezTo>
                  <a:close/>
                </a:path>
              </a:pathLst>
            </a:custGeom>
            <a:solidFill>
              <a:srgbClr val="000000">
                <a:alpha val="0"/>
              </a:srgbClr>
            </a:solidFill>
            <a:ln cap="rnd" cmpd="sng" w="38100">
              <a:solidFill>
                <a:srgbClr val="E3D8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1"/>
            <p:cNvSpPr txBox="1"/>
            <p:nvPr/>
          </p:nvSpPr>
          <p:spPr>
            <a:xfrm>
              <a:off x="0" y="9525"/>
              <a:ext cx="997323" cy="1126859"/>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9" name="Google Shape;739;p41"/>
          <p:cNvSpPr txBox="1"/>
          <p:nvPr/>
        </p:nvSpPr>
        <p:spPr>
          <a:xfrm>
            <a:off x="9006545" y="1249819"/>
            <a:ext cx="8184365" cy="1211565"/>
          </a:xfrm>
          <a:prstGeom prst="rect">
            <a:avLst/>
          </a:prstGeom>
          <a:noFill/>
          <a:ln>
            <a:noFill/>
          </a:ln>
        </p:spPr>
        <p:txBody>
          <a:bodyPr anchorCtr="0" anchor="t" bIns="0" lIns="0" spcFirstLastPara="1" rIns="0" wrap="square" tIns="0">
            <a:spAutoFit/>
          </a:bodyPr>
          <a:lstStyle/>
          <a:p>
            <a:pPr indent="0" lvl="0" marL="0" marR="0" rtl="0" algn="r">
              <a:lnSpc>
                <a:spcPct val="140005"/>
              </a:lnSpc>
              <a:spcBef>
                <a:spcPts val="0"/>
              </a:spcBef>
              <a:spcAft>
                <a:spcPts val="0"/>
              </a:spcAft>
              <a:buNone/>
            </a:pPr>
            <a:r>
              <a:rPr b="0" i="0" lang="en-US" sz="7029" u="none" cap="none" strike="noStrike">
                <a:solidFill>
                  <a:srgbClr val="EDE8E4"/>
                </a:solidFill>
                <a:latin typeface="Arial"/>
                <a:ea typeface="Arial"/>
                <a:cs typeface="Arial"/>
                <a:sym typeface="Arial"/>
              </a:rPr>
              <a:t>EJEMPLOS DE </a:t>
            </a:r>
            <a:endParaRPr/>
          </a:p>
        </p:txBody>
      </p:sp>
      <p:sp>
        <p:nvSpPr>
          <p:cNvPr id="740" name="Google Shape;740;p41"/>
          <p:cNvSpPr txBox="1"/>
          <p:nvPr/>
        </p:nvSpPr>
        <p:spPr>
          <a:xfrm>
            <a:off x="9067626" y="2231192"/>
            <a:ext cx="8184365" cy="1414117"/>
          </a:xfrm>
          <a:prstGeom prst="rect">
            <a:avLst/>
          </a:prstGeom>
          <a:noFill/>
          <a:ln>
            <a:noFill/>
          </a:ln>
        </p:spPr>
        <p:txBody>
          <a:bodyPr anchorCtr="0" anchor="t" bIns="0" lIns="0" spcFirstLastPara="1" rIns="0" wrap="square" tIns="0">
            <a:spAutoFit/>
          </a:bodyPr>
          <a:lstStyle/>
          <a:p>
            <a:pPr indent="0" lvl="0" marL="0" marR="0" rtl="0" algn="r">
              <a:lnSpc>
                <a:spcPct val="139995"/>
              </a:lnSpc>
              <a:spcBef>
                <a:spcPts val="0"/>
              </a:spcBef>
              <a:spcAft>
                <a:spcPts val="0"/>
              </a:spcAft>
              <a:buNone/>
            </a:pPr>
            <a:r>
              <a:rPr b="1" i="0" lang="en-US" sz="8271" u="none" cap="none" strike="noStrike">
                <a:solidFill>
                  <a:srgbClr val="EDE8E4"/>
                </a:solidFill>
                <a:latin typeface="Arial"/>
                <a:ea typeface="Arial"/>
                <a:cs typeface="Arial"/>
                <a:sym typeface="Arial"/>
              </a:rPr>
              <a:t>APLICACIÓN</a:t>
            </a:r>
            <a:endParaRPr/>
          </a:p>
        </p:txBody>
      </p:sp>
      <p:sp>
        <p:nvSpPr>
          <p:cNvPr id="741" name="Google Shape;741;p41"/>
          <p:cNvSpPr/>
          <p:nvPr/>
        </p:nvSpPr>
        <p:spPr>
          <a:xfrm rot="10800000">
            <a:off x="12784585" y="4159659"/>
            <a:ext cx="4474715" cy="1033825"/>
          </a:xfrm>
          <a:custGeom>
            <a:rect b="b" l="l" r="r" t="t"/>
            <a:pathLst>
              <a:path extrusionOk="0" h="1033825" w="4474715">
                <a:moveTo>
                  <a:pt x="0" y="0"/>
                </a:moveTo>
                <a:lnTo>
                  <a:pt x="4474715" y="0"/>
                </a:lnTo>
                <a:lnTo>
                  <a:pt x="4474715" y="1033825"/>
                </a:lnTo>
                <a:lnTo>
                  <a:pt x="0" y="1033825"/>
                </a:lnTo>
                <a:lnTo>
                  <a:pt x="0" y="0"/>
                </a:lnTo>
                <a:close/>
              </a:path>
            </a:pathLst>
          </a:custGeom>
          <a:blipFill rotWithShape="1">
            <a:blip r:embed="rId4">
              <a:alphaModFix/>
            </a:blip>
            <a:stretch>
              <a:fillRect b="0" l="0" r="0" t="-473591"/>
            </a:stretch>
          </a:blipFill>
          <a:ln>
            <a:noFill/>
          </a:ln>
        </p:spPr>
      </p:sp>
      <p:sp>
        <p:nvSpPr>
          <p:cNvPr id="742" name="Google Shape;742;p41"/>
          <p:cNvSpPr/>
          <p:nvPr/>
        </p:nvSpPr>
        <p:spPr>
          <a:xfrm rot="10800000">
            <a:off x="7969870" y="4159659"/>
            <a:ext cx="4474715" cy="1033825"/>
          </a:xfrm>
          <a:custGeom>
            <a:rect b="b" l="l" r="r" t="t"/>
            <a:pathLst>
              <a:path extrusionOk="0" h="1033825" w="4474715">
                <a:moveTo>
                  <a:pt x="0" y="0"/>
                </a:moveTo>
                <a:lnTo>
                  <a:pt x="4474715" y="0"/>
                </a:lnTo>
                <a:lnTo>
                  <a:pt x="4474715" y="1033825"/>
                </a:lnTo>
                <a:lnTo>
                  <a:pt x="0" y="1033825"/>
                </a:lnTo>
                <a:lnTo>
                  <a:pt x="0" y="0"/>
                </a:lnTo>
                <a:close/>
              </a:path>
            </a:pathLst>
          </a:custGeom>
          <a:blipFill rotWithShape="1">
            <a:blip r:embed="rId4">
              <a:alphaModFix/>
            </a:blip>
            <a:stretch>
              <a:fillRect b="0" l="0" r="0" t="-473591"/>
            </a:stretch>
          </a:blipFill>
          <a:ln>
            <a:noFill/>
          </a:ln>
        </p:spPr>
      </p:sp>
      <p:sp>
        <p:nvSpPr>
          <p:cNvPr id="743" name="Google Shape;743;p41"/>
          <p:cNvSpPr/>
          <p:nvPr/>
        </p:nvSpPr>
        <p:spPr>
          <a:xfrm rot="10800000">
            <a:off x="3150526" y="4159659"/>
            <a:ext cx="4474715" cy="1033825"/>
          </a:xfrm>
          <a:custGeom>
            <a:rect b="b" l="l" r="r" t="t"/>
            <a:pathLst>
              <a:path extrusionOk="0" h="1033825" w="4474715">
                <a:moveTo>
                  <a:pt x="0" y="0"/>
                </a:moveTo>
                <a:lnTo>
                  <a:pt x="4474715" y="0"/>
                </a:lnTo>
                <a:lnTo>
                  <a:pt x="4474715" y="1033825"/>
                </a:lnTo>
                <a:lnTo>
                  <a:pt x="0" y="1033825"/>
                </a:lnTo>
                <a:lnTo>
                  <a:pt x="0" y="0"/>
                </a:lnTo>
                <a:close/>
              </a:path>
            </a:pathLst>
          </a:custGeom>
          <a:blipFill rotWithShape="1">
            <a:blip r:embed="rId4">
              <a:alphaModFix/>
            </a:blip>
            <a:stretch>
              <a:fillRect b="0" l="0" r="0" t="-473591"/>
            </a:stretch>
          </a:blipFill>
          <a:ln>
            <a:noFill/>
          </a:ln>
        </p:spPr>
      </p:sp>
      <p:sp>
        <p:nvSpPr>
          <p:cNvPr id="744" name="Google Shape;744;p41"/>
          <p:cNvSpPr txBox="1"/>
          <p:nvPr/>
        </p:nvSpPr>
        <p:spPr>
          <a:xfrm>
            <a:off x="13159808" y="4249313"/>
            <a:ext cx="3596786" cy="878011"/>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2557" u="none" cap="none" strike="noStrike">
                <a:solidFill>
                  <a:srgbClr val="253754"/>
                </a:solidFill>
                <a:latin typeface="Arial"/>
                <a:ea typeface="Arial"/>
                <a:cs typeface="Arial"/>
                <a:sym typeface="Arial"/>
              </a:rPr>
              <a:t>GLBP (Gateway Load Balancing Protocol)</a:t>
            </a:r>
            <a:endParaRPr/>
          </a:p>
        </p:txBody>
      </p:sp>
      <p:sp>
        <p:nvSpPr>
          <p:cNvPr id="745" name="Google Shape;745;p41"/>
          <p:cNvSpPr txBox="1"/>
          <p:nvPr/>
        </p:nvSpPr>
        <p:spPr>
          <a:xfrm>
            <a:off x="8302778" y="4249313"/>
            <a:ext cx="3804269" cy="878011"/>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2557" u="none" cap="none" strike="noStrike">
                <a:solidFill>
                  <a:srgbClr val="253754"/>
                </a:solidFill>
                <a:latin typeface="Arial"/>
                <a:ea typeface="Arial"/>
                <a:cs typeface="Arial"/>
                <a:sym typeface="Arial"/>
              </a:rPr>
              <a:t>VRRP (Virtual Router Redundancy Protocol)</a:t>
            </a:r>
            <a:endParaRPr/>
          </a:p>
        </p:txBody>
      </p:sp>
      <p:sp>
        <p:nvSpPr>
          <p:cNvPr id="746" name="Google Shape;746;p41"/>
          <p:cNvSpPr txBox="1"/>
          <p:nvPr/>
        </p:nvSpPr>
        <p:spPr>
          <a:xfrm>
            <a:off x="3589490" y="4213753"/>
            <a:ext cx="3596786" cy="878011"/>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2557" u="none" cap="none" strike="noStrike">
                <a:solidFill>
                  <a:srgbClr val="253754"/>
                </a:solidFill>
                <a:latin typeface="Arial"/>
                <a:ea typeface="Arial"/>
                <a:cs typeface="Arial"/>
                <a:sym typeface="Arial"/>
              </a:rPr>
              <a:t>HSRP (Hot Standby Router Protocol)</a:t>
            </a:r>
            <a:endParaRPr/>
          </a:p>
        </p:txBody>
      </p:sp>
      <p:sp>
        <p:nvSpPr>
          <p:cNvPr id="747" name="Google Shape;747;p41"/>
          <p:cNvSpPr txBox="1"/>
          <p:nvPr/>
        </p:nvSpPr>
        <p:spPr>
          <a:xfrm>
            <a:off x="13098727" y="5538707"/>
            <a:ext cx="3898551" cy="3190027"/>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0" i="0" lang="en-US" sz="2283" u="none" cap="none" strike="noStrike">
                <a:solidFill>
                  <a:srgbClr val="EDE8E4"/>
                </a:solidFill>
                <a:latin typeface="Arial"/>
                <a:ea typeface="Arial"/>
                <a:cs typeface="Arial"/>
                <a:sym typeface="Arial"/>
              </a:rPr>
              <a:t>En un centro de datos, tres routers Cisco con GLBP distribuyen el tráfico saliente de múltiples servidores, optimizando la utilización del ancho de banda y evitando la sobrecarga en un solo router.</a:t>
            </a:r>
            <a:endParaRPr/>
          </a:p>
        </p:txBody>
      </p:sp>
      <p:sp>
        <p:nvSpPr>
          <p:cNvPr id="748" name="Google Shape;748;p41"/>
          <p:cNvSpPr txBox="1"/>
          <p:nvPr/>
        </p:nvSpPr>
        <p:spPr>
          <a:xfrm>
            <a:off x="8257952" y="6529942"/>
            <a:ext cx="3898551" cy="1135803"/>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0" i="0" lang="en-US" sz="3283" u="none" cap="none" strike="noStrike">
                <a:solidFill>
                  <a:srgbClr val="EDE8E4"/>
                </a:solidFill>
                <a:latin typeface="Arial"/>
                <a:ea typeface="Arial"/>
                <a:cs typeface="Arial"/>
                <a:sym typeface="Arial"/>
              </a:rPr>
              <a:t>Aplicación similar a HSRP</a:t>
            </a:r>
            <a:endParaRPr/>
          </a:p>
        </p:txBody>
      </p:sp>
      <p:sp>
        <p:nvSpPr>
          <p:cNvPr id="749" name="Google Shape;749;p41"/>
          <p:cNvSpPr txBox="1"/>
          <p:nvPr/>
        </p:nvSpPr>
        <p:spPr>
          <a:xfrm>
            <a:off x="3417208" y="5346877"/>
            <a:ext cx="3898500" cy="39114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2083" u="none" cap="none" strike="noStrike">
                <a:solidFill>
                  <a:srgbClr val="EDE8E4"/>
                </a:solidFill>
                <a:latin typeface="Arial"/>
                <a:ea typeface="Arial"/>
                <a:cs typeface="Arial"/>
                <a:sym typeface="Arial"/>
              </a:rPr>
              <a:t>En una empresa de servicios financieros, se configuran dos routers Cisco con HSRP para garantizar que, si uno falla, el otro asuma de inmediato el rol de gateway predeterminado. Esto asegura que las operaciones bancarias no se interrumpan.</a:t>
            </a:r>
            <a:endParaRPr/>
          </a:p>
        </p:txBody>
      </p:sp>
      <p:sp>
        <p:nvSpPr>
          <p:cNvPr id="750" name="Google Shape;750;p41"/>
          <p:cNvSpPr/>
          <p:nvPr/>
        </p:nvSpPr>
        <p:spPr>
          <a:xfrm>
            <a:off x="-1446812" y="7841762"/>
            <a:ext cx="5482705" cy="4884592"/>
          </a:xfrm>
          <a:custGeom>
            <a:rect b="b" l="l" r="r" t="t"/>
            <a:pathLst>
              <a:path extrusionOk="0" h="4884592" w="5482705">
                <a:moveTo>
                  <a:pt x="0" y="0"/>
                </a:moveTo>
                <a:lnTo>
                  <a:pt x="5482705" y="0"/>
                </a:lnTo>
                <a:lnTo>
                  <a:pt x="5482705" y="4884591"/>
                </a:lnTo>
                <a:lnTo>
                  <a:pt x="0" y="4884591"/>
                </a:lnTo>
                <a:lnTo>
                  <a:pt x="0" y="0"/>
                </a:lnTo>
                <a:close/>
              </a:path>
            </a:pathLst>
          </a:custGeom>
          <a:blipFill rotWithShape="1">
            <a:blip r:embed="rId5">
              <a:alphaModFix/>
            </a:blip>
            <a:stretch>
              <a:fillRect b="0" l="0" r="0" t="0"/>
            </a:stretch>
          </a:blipFill>
          <a:ln>
            <a:noFill/>
          </a:ln>
        </p:spPr>
      </p:sp>
      <p:sp>
        <p:nvSpPr>
          <p:cNvPr id="751" name="Google Shape;751;p41"/>
          <p:cNvSpPr/>
          <p:nvPr/>
        </p:nvSpPr>
        <p:spPr>
          <a:xfrm rot="10452176">
            <a:off x="15012576" y="-2759682"/>
            <a:ext cx="5482705" cy="4884592"/>
          </a:xfrm>
          <a:custGeom>
            <a:rect b="b" l="l" r="r" t="t"/>
            <a:pathLst>
              <a:path extrusionOk="0" h="4884592" w="5482705">
                <a:moveTo>
                  <a:pt x="0" y="0"/>
                </a:moveTo>
                <a:lnTo>
                  <a:pt x="5482705" y="0"/>
                </a:lnTo>
                <a:lnTo>
                  <a:pt x="5482705" y="4884591"/>
                </a:lnTo>
                <a:lnTo>
                  <a:pt x="0" y="4884591"/>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754"/>
        </a:solidFill>
      </p:bgPr>
    </p:bg>
    <p:spTree>
      <p:nvGrpSpPr>
        <p:cNvPr id="755" name="Shape 755"/>
        <p:cNvGrpSpPr/>
        <p:nvPr/>
      </p:nvGrpSpPr>
      <p:grpSpPr>
        <a:xfrm>
          <a:off x="0" y="0"/>
          <a:ext cx="0" cy="0"/>
          <a:chOff x="0" y="0"/>
          <a:chExt cx="0" cy="0"/>
        </a:xfrm>
      </p:grpSpPr>
      <p:sp>
        <p:nvSpPr>
          <p:cNvPr id="756" name="Google Shape;756;p42"/>
          <p:cNvSpPr/>
          <p:nvPr/>
        </p:nvSpPr>
        <p:spPr>
          <a:xfrm>
            <a:off x="-290950" y="-2033784"/>
            <a:ext cx="8535602" cy="7976908"/>
          </a:xfrm>
          <a:custGeom>
            <a:rect b="b" l="l" r="r" t="t"/>
            <a:pathLst>
              <a:path extrusionOk="0" h="7976908" w="8535602">
                <a:moveTo>
                  <a:pt x="0" y="0"/>
                </a:moveTo>
                <a:lnTo>
                  <a:pt x="8535602" y="0"/>
                </a:lnTo>
                <a:lnTo>
                  <a:pt x="8535602" y="7976908"/>
                </a:lnTo>
                <a:lnTo>
                  <a:pt x="0" y="7976908"/>
                </a:lnTo>
                <a:lnTo>
                  <a:pt x="0" y="0"/>
                </a:lnTo>
                <a:close/>
              </a:path>
            </a:pathLst>
          </a:custGeom>
          <a:blipFill rotWithShape="1">
            <a:blip r:embed="rId3">
              <a:alphaModFix/>
            </a:blip>
            <a:stretch>
              <a:fillRect b="0" l="0" r="0" t="0"/>
            </a:stretch>
          </a:blipFill>
          <a:ln>
            <a:noFill/>
          </a:ln>
        </p:spPr>
      </p:sp>
      <p:sp>
        <p:nvSpPr>
          <p:cNvPr id="757" name="Google Shape;757;p42"/>
          <p:cNvSpPr/>
          <p:nvPr/>
        </p:nvSpPr>
        <p:spPr>
          <a:xfrm rot="-10151301">
            <a:off x="11251364" y="7211477"/>
            <a:ext cx="8535602" cy="7976908"/>
          </a:xfrm>
          <a:custGeom>
            <a:rect b="b" l="l" r="r" t="t"/>
            <a:pathLst>
              <a:path extrusionOk="0" h="7976908" w="8535602">
                <a:moveTo>
                  <a:pt x="0" y="0"/>
                </a:moveTo>
                <a:lnTo>
                  <a:pt x="8535602" y="0"/>
                </a:lnTo>
                <a:lnTo>
                  <a:pt x="8535602" y="7976908"/>
                </a:lnTo>
                <a:lnTo>
                  <a:pt x="0" y="7976908"/>
                </a:lnTo>
                <a:lnTo>
                  <a:pt x="0" y="0"/>
                </a:lnTo>
                <a:close/>
              </a:path>
            </a:pathLst>
          </a:custGeom>
          <a:blipFill rotWithShape="1">
            <a:blip r:embed="rId3">
              <a:alphaModFix/>
            </a:blip>
            <a:stretch>
              <a:fillRect b="0" l="0" r="0" t="0"/>
            </a:stretch>
          </a:blipFill>
          <a:ln>
            <a:noFill/>
          </a:ln>
        </p:spPr>
      </p:sp>
      <p:grpSp>
        <p:nvGrpSpPr>
          <p:cNvPr id="758" name="Google Shape;758;p42"/>
          <p:cNvGrpSpPr/>
          <p:nvPr/>
        </p:nvGrpSpPr>
        <p:grpSpPr>
          <a:xfrm>
            <a:off x="12784575" y="4159649"/>
            <a:ext cx="4474689" cy="5413392"/>
            <a:chOff x="0" y="0"/>
            <a:chExt cx="997323" cy="1136384"/>
          </a:xfrm>
        </p:grpSpPr>
        <p:sp>
          <p:nvSpPr>
            <p:cNvPr id="759" name="Google Shape;759;p42"/>
            <p:cNvSpPr/>
            <p:nvPr/>
          </p:nvSpPr>
          <p:spPr>
            <a:xfrm>
              <a:off x="0" y="0"/>
              <a:ext cx="997323" cy="1136384"/>
            </a:xfrm>
            <a:custGeom>
              <a:rect b="b" l="l" r="r" t="t"/>
              <a:pathLst>
                <a:path extrusionOk="0" h="1136384" w="997323">
                  <a:moveTo>
                    <a:pt x="102079" y="0"/>
                  </a:moveTo>
                  <a:lnTo>
                    <a:pt x="895245" y="0"/>
                  </a:lnTo>
                  <a:cubicBezTo>
                    <a:pt x="951621" y="0"/>
                    <a:pt x="997323" y="45702"/>
                    <a:pt x="997323" y="102079"/>
                  </a:cubicBezTo>
                  <a:lnTo>
                    <a:pt x="997323" y="1034305"/>
                  </a:lnTo>
                  <a:cubicBezTo>
                    <a:pt x="997323" y="1090682"/>
                    <a:pt x="951621" y="1136384"/>
                    <a:pt x="895245" y="1136384"/>
                  </a:cubicBezTo>
                  <a:lnTo>
                    <a:pt x="102079" y="1136384"/>
                  </a:lnTo>
                  <a:cubicBezTo>
                    <a:pt x="45702" y="1136384"/>
                    <a:pt x="0" y="1090682"/>
                    <a:pt x="0" y="1034305"/>
                  </a:cubicBezTo>
                  <a:lnTo>
                    <a:pt x="0" y="102079"/>
                  </a:lnTo>
                  <a:cubicBezTo>
                    <a:pt x="0" y="45702"/>
                    <a:pt x="45702" y="0"/>
                    <a:pt x="102079" y="0"/>
                  </a:cubicBezTo>
                  <a:close/>
                </a:path>
              </a:pathLst>
            </a:custGeom>
            <a:solidFill>
              <a:srgbClr val="000000">
                <a:alpha val="0"/>
              </a:srgbClr>
            </a:solidFill>
            <a:ln cap="rnd" cmpd="sng" w="38100">
              <a:solidFill>
                <a:srgbClr val="E3D8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2"/>
            <p:cNvSpPr txBox="1"/>
            <p:nvPr/>
          </p:nvSpPr>
          <p:spPr>
            <a:xfrm>
              <a:off x="0" y="9525"/>
              <a:ext cx="997323" cy="1126859"/>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1" name="Google Shape;761;p42"/>
          <p:cNvGrpSpPr/>
          <p:nvPr/>
        </p:nvGrpSpPr>
        <p:grpSpPr>
          <a:xfrm>
            <a:off x="7969875" y="4159649"/>
            <a:ext cx="4474689" cy="5413392"/>
            <a:chOff x="0" y="0"/>
            <a:chExt cx="997323" cy="1136384"/>
          </a:xfrm>
        </p:grpSpPr>
        <p:sp>
          <p:nvSpPr>
            <p:cNvPr id="762" name="Google Shape;762;p42"/>
            <p:cNvSpPr/>
            <p:nvPr/>
          </p:nvSpPr>
          <p:spPr>
            <a:xfrm>
              <a:off x="0" y="0"/>
              <a:ext cx="997323" cy="1136384"/>
            </a:xfrm>
            <a:custGeom>
              <a:rect b="b" l="l" r="r" t="t"/>
              <a:pathLst>
                <a:path extrusionOk="0" h="1136384" w="997323">
                  <a:moveTo>
                    <a:pt x="102079" y="0"/>
                  </a:moveTo>
                  <a:lnTo>
                    <a:pt x="895245" y="0"/>
                  </a:lnTo>
                  <a:cubicBezTo>
                    <a:pt x="951621" y="0"/>
                    <a:pt x="997323" y="45702"/>
                    <a:pt x="997323" y="102079"/>
                  </a:cubicBezTo>
                  <a:lnTo>
                    <a:pt x="997323" y="1034305"/>
                  </a:lnTo>
                  <a:cubicBezTo>
                    <a:pt x="997323" y="1090682"/>
                    <a:pt x="951621" y="1136384"/>
                    <a:pt x="895245" y="1136384"/>
                  </a:cubicBezTo>
                  <a:lnTo>
                    <a:pt x="102079" y="1136384"/>
                  </a:lnTo>
                  <a:cubicBezTo>
                    <a:pt x="45702" y="1136384"/>
                    <a:pt x="0" y="1090682"/>
                    <a:pt x="0" y="1034305"/>
                  </a:cubicBezTo>
                  <a:lnTo>
                    <a:pt x="0" y="102079"/>
                  </a:lnTo>
                  <a:cubicBezTo>
                    <a:pt x="0" y="45702"/>
                    <a:pt x="45702" y="0"/>
                    <a:pt x="102079" y="0"/>
                  </a:cubicBezTo>
                  <a:close/>
                </a:path>
              </a:pathLst>
            </a:custGeom>
            <a:solidFill>
              <a:srgbClr val="000000">
                <a:alpha val="0"/>
              </a:srgbClr>
            </a:solidFill>
            <a:ln cap="rnd" cmpd="sng" w="38100">
              <a:solidFill>
                <a:srgbClr val="E3D8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2"/>
            <p:cNvSpPr txBox="1"/>
            <p:nvPr/>
          </p:nvSpPr>
          <p:spPr>
            <a:xfrm>
              <a:off x="0" y="9525"/>
              <a:ext cx="997323" cy="1126859"/>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4" name="Google Shape;764;p42"/>
          <p:cNvGrpSpPr/>
          <p:nvPr/>
        </p:nvGrpSpPr>
        <p:grpSpPr>
          <a:xfrm>
            <a:off x="3150525" y="4159649"/>
            <a:ext cx="4474689" cy="5413392"/>
            <a:chOff x="0" y="0"/>
            <a:chExt cx="997323" cy="1136384"/>
          </a:xfrm>
        </p:grpSpPr>
        <p:sp>
          <p:nvSpPr>
            <p:cNvPr id="765" name="Google Shape;765;p42"/>
            <p:cNvSpPr/>
            <p:nvPr/>
          </p:nvSpPr>
          <p:spPr>
            <a:xfrm>
              <a:off x="0" y="0"/>
              <a:ext cx="997323" cy="1136384"/>
            </a:xfrm>
            <a:custGeom>
              <a:rect b="b" l="l" r="r" t="t"/>
              <a:pathLst>
                <a:path extrusionOk="0" h="1136384" w="997323">
                  <a:moveTo>
                    <a:pt x="102079" y="0"/>
                  </a:moveTo>
                  <a:lnTo>
                    <a:pt x="895245" y="0"/>
                  </a:lnTo>
                  <a:cubicBezTo>
                    <a:pt x="951621" y="0"/>
                    <a:pt x="997323" y="45702"/>
                    <a:pt x="997323" y="102079"/>
                  </a:cubicBezTo>
                  <a:lnTo>
                    <a:pt x="997323" y="1034305"/>
                  </a:lnTo>
                  <a:cubicBezTo>
                    <a:pt x="997323" y="1090682"/>
                    <a:pt x="951621" y="1136384"/>
                    <a:pt x="895245" y="1136384"/>
                  </a:cubicBezTo>
                  <a:lnTo>
                    <a:pt x="102079" y="1136384"/>
                  </a:lnTo>
                  <a:cubicBezTo>
                    <a:pt x="45702" y="1136384"/>
                    <a:pt x="0" y="1090682"/>
                    <a:pt x="0" y="1034305"/>
                  </a:cubicBezTo>
                  <a:lnTo>
                    <a:pt x="0" y="102079"/>
                  </a:lnTo>
                  <a:cubicBezTo>
                    <a:pt x="0" y="45702"/>
                    <a:pt x="45702" y="0"/>
                    <a:pt x="102079" y="0"/>
                  </a:cubicBezTo>
                  <a:close/>
                </a:path>
              </a:pathLst>
            </a:custGeom>
            <a:solidFill>
              <a:srgbClr val="000000">
                <a:alpha val="0"/>
              </a:srgbClr>
            </a:solidFill>
            <a:ln cap="rnd" cmpd="sng" w="38100">
              <a:solidFill>
                <a:srgbClr val="E3D8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2"/>
            <p:cNvSpPr txBox="1"/>
            <p:nvPr/>
          </p:nvSpPr>
          <p:spPr>
            <a:xfrm>
              <a:off x="0" y="9525"/>
              <a:ext cx="997323" cy="1126859"/>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67" name="Google Shape;767;p42"/>
          <p:cNvSpPr txBox="1"/>
          <p:nvPr/>
        </p:nvSpPr>
        <p:spPr>
          <a:xfrm>
            <a:off x="9006545" y="1249819"/>
            <a:ext cx="8184365" cy="1211565"/>
          </a:xfrm>
          <a:prstGeom prst="rect">
            <a:avLst/>
          </a:prstGeom>
          <a:noFill/>
          <a:ln>
            <a:noFill/>
          </a:ln>
        </p:spPr>
        <p:txBody>
          <a:bodyPr anchorCtr="0" anchor="t" bIns="0" lIns="0" spcFirstLastPara="1" rIns="0" wrap="square" tIns="0">
            <a:spAutoFit/>
          </a:bodyPr>
          <a:lstStyle/>
          <a:p>
            <a:pPr indent="0" lvl="0" marL="0" marR="0" rtl="0" algn="r">
              <a:lnSpc>
                <a:spcPct val="140005"/>
              </a:lnSpc>
              <a:spcBef>
                <a:spcPts val="0"/>
              </a:spcBef>
              <a:spcAft>
                <a:spcPts val="0"/>
              </a:spcAft>
              <a:buNone/>
            </a:pPr>
            <a:r>
              <a:rPr b="0" i="0" lang="en-US" sz="7029" u="none" cap="none" strike="noStrike">
                <a:solidFill>
                  <a:srgbClr val="EDE8E4"/>
                </a:solidFill>
                <a:latin typeface="Arial"/>
                <a:ea typeface="Arial"/>
                <a:cs typeface="Arial"/>
                <a:sym typeface="Arial"/>
              </a:rPr>
              <a:t>EJEMPLOS DE </a:t>
            </a:r>
            <a:endParaRPr/>
          </a:p>
        </p:txBody>
      </p:sp>
      <p:sp>
        <p:nvSpPr>
          <p:cNvPr id="768" name="Google Shape;768;p42"/>
          <p:cNvSpPr txBox="1"/>
          <p:nvPr/>
        </p:nvSpPr>
        <p:spPr>
          <a:xfrm>
            <a:off x="9067626" y="2231192"/>
            <a:ext cx="8184365" cy="1414117"/>
          </a:xfrm>
          <a:prstGeom prst="rect">
            <a:avLst/>
          </a:prstGeom>
          <a:noFill/>
          <a:ln>
            <a:noFill/>
          </a:ln>
        </p:spPr>
        <p:txBody>
          <a:bodyPr anchorCtr="0" anchor="t" bIns="0" lIns="0" spcFirstLastPara="1" rIns="0" wrap="square" tIns="0">
            <a:spAutoFit/>
          </a:bodyPr>
          <a:lstStyle/>
          <a:p>
            <a:pPr indent="0" lvl="0" marL="0" marR="0" rtl="0" algn="r">
              <a:lnSpc>
                <a:spcPct val="139995"/>
              </a:lnSpc>
              <a:spcBef>
                <a:spcPts val="0"/>
              </a:spcBef>
              <a:spcAft>
                <a:spcPts val="0"/>
              </a:spcAft>
              <a:buNone/>
            </a:pPr>
            <a:r>
              <a:rPr b="1" i="0" lang="en-US" sz="8271" u="none" cap="none" strike="noStrike">
                <a:solidFill>
                  <a:srgbClr val="EDE8E4"/>
                </a:solidFill>
                <a:latin typeface="Arial"/>
                <a:ea typeface="Arial"/>
                <a:cs typeface="Arial"/>
                <a:sym typeface="Arial"/>
              </a:rPr>
              <a:t>APLICACIÓN</a:t>
            </a:r>
            <a:endParaRPr/>
          </a:p>
        </p:txBody>
      </p:sp>
      <p:sp>
        <p:nvSpPr>
          <p:cNvPr id="769" name="Google Shape;769;p42"/>
          <p:cNvSpPr/>
          <p:nvPr/>
        </p:nvSpPr>
        <p:spPr>
          <a:xfrm rot="10800000">
            <a:off x="12784585" y="4159659"/>
            <a:ext cx="4474715" cy="1033825"/>
          </a:xfrm>
          <a:custGeom>
            <a:rect b="b" l="l" r="r" t="t"/>
            <a:pathLst>
              <a:path extrusionOk="0" h="1033825" w="4474715">
                <a:moveTo>
                  <a:pt x="0" y="0"/>
                </a:moveTo>
                <a:lnTo>
                  <a:pt x="4474715" y="0"/>
                </a:lnTo>
                <a:lnTo>
                  <a:pt x="4474715" y="1033825"/>
                </a:lnTo>
                <a:lnTo>
                  <a:pt x="0" y="1033825"/>
                </a:lnTo>
                <a:lnTo>
                  <a:pt x="0" y="0"/>
                </a:lnTo>
                <a:close/>
              </a:path>
            </a:pathLst>
          </a:custGeom>
          <a:blipFill rotWithShape="1">
            <a:blip r:embed="rId4">
              <a:alphaModFix/>
            </a:blip>
            <a:stretch>
              <a:fillRect b="0" l="0" r="0" t="-473591"/>
            </a:stretch>
          </a:blipFill>
          <a:ln>
            <a:noFill/>
          </a:ln>
        </p:spPr>
      </p:sp>
      <p:sp>
        <p:nvSpPr>
          <p:cNvPr id="770" name="Google Shape;770;p42"/>
          <p:cNvSpPr/>
          <p:nvPr/>
        </p:nvSpPr>
        <p:spPr>
          <a:xfrm rot="10800000">
            <a:off x="7969870" y="4159659"/>
            <a:ext cx="4474715" cy="1033825"/>
          </a:xfrm>
          <a:custGeom>
            <a:rect b="b" l="l" r="r" t="t"/>
            <a:pathLst>
              <a:path extrusionOk="0" h="1033825" w="4474715">
                <a:moveTo>
                  <a:pt x="0" y="0"/>
                </a:moveTo>
                <a:lnTo>
                  <a:pt x="4474715" y="0"/>
                </a:lnTo>
                <a:lnTo>
                  <a:pt x="4474715" y="1033825"/>
                </a:lnTo>
                <a:lnTo>
                  <a:pt x="0" y="1033825"/>
                </a:lnTo>
                <a:lnTo>
                  <a:pt x="0" y="0"/>
                </a:lnTo>
                <a:close/>
              </a:path>
            </a:pathLst>
          </a:custGeom>
          <a:blipFill rotWithShape="1">
            <a:blip r:embed="rId4">
              <a:alphaModFix/>
            </a:blip>
            <a:stretch>
              <a:fillRect b="0" l="0" r="0" t="-473591"/>
            </a:stretch>
          </a:blipFill>
          <a:ln>
            <a:noFill/>
          </a:ln>
        </p:spPr>
      </p:sp>
      <p:sp>
        <p:nvSpPr>
          <p:cNvPr id="771" name="Google Shape;771;p42"/>
          <p:cNvSpPr/>
          <p:nvPr/>
        </p:nvSpPr>
        <p:spPr>
          <a:xfrm rot="10800000">
            <a:off x="3150526" y="4159659"/>
            <a:ext cx="4474715" cy="1033825"/>
          </a:xfrm>
          <a:custGeom>
            <a:rect b="b" l="l" r="r" t="t"/>
            <a:pathLst>
              <a:path extrusionOk="0" h="1033825" w="4474715">
                <a:moveTo>
                  <a:pt x="0" y="0"/>
                </a:moveTo>
                <a:lnTo>
                  <a:pt x="4474715" y="0"/>
                </a:lnTo>
                <a:lnTo>
                  <a:pt x="4474715" y="1033825"/>
                </a:lnTo>
                <a:lnTo>
                  <a:pt x="0" y="1033825"/>
                </a:lnTo>
                <a:lnTo>
                  <a:pt x="0" y="0"/>
                </a:lnTo>
                <a:close/>
              </a:path>
            </a:pathLst>
          </a:custGeom>
          <a:blipFill rotWithShape="1">
            <a:blip r:embed="rId4">
              <a:alphaModFix/>
            </a:blip>
            <a:stretch>
              <a:fillRect b="0" l="0" r="0" t="-473591"/>
            </a:stretch>
          </a:blipFill>
          <a:ln>
            <a:noFill/>
          </a:ln>
        </p:spPr>
      </p:sp>
      <p:sp>
        <p:nvSpPr>
          <p:cNvPr id="772" name="Google Shape;772;p42"/>
          <p:cNvSpPr txBox="1"/>
          <p:nvPr/>
        </p:nvSpPr>
        <p:spPr>
          <a:xfrm>
            <a:off x="13223549" y="4234827"/>
            <a:ext cx="3596786" cy="958657"/>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2757" u="none" cap="none" strike="noStrike">
                <a:solidFill>
                  <a:srgbClr val="253754"/>
                </a:solidFill>
                <a:latin typeface="Arial"/>
                <a:ea typeface="Arial"/>
                <a:cs typeface="Arial"/>
                <a:sym typeface="Arial"/>
              </a:rPr>
              <a:t>Niveles de seguridad en ASA</a:t>
            </a:r>
            <a:endParaRPr/>
          </a:p>
        </p:txBody>
      </p:sp>
      <p:sp>
        <p:nvSpPr>
          <p:cNvPr id="773" name="Google Shape;773;p42"/>
          <p:cNvSpPr txBox="1"/>
          <p:nvPr/>
        </p:nvSpPr>
        <p:spPr>
          <a:xfrm>
            <a:off x="8314552" y="4150888"/>
            <a:ext cx="3804269" cy="994217"/>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857" u="none" cap="none" strike="noStrike">
                <a:solidFill>
                  <a:srgbClr val="253754"/>
                </a:solidFill>
                <a:latin typeface="Arial"/>
                <a:ea typeface="Arial"/>
                <a:cs typeface="Arial"/>
                <a:sym typeface="Arial"/>
              </a:rPr>
              <a:t>ACLs (Access Control Lists)</a:t>
            </a:r>
            <a:endParaRPr/>
          </a:p>
        </p:txBody>
      </p:sp>
      <p:sp>
        <p:nvSpPr>
          <p:cNvPr id="774" name="Google Shape;774;p42"/>
          <p:cNvSpPr txBox="1"/>
          <p:nvPr/>
        </p:nvSpPr>
        <p:spPr>
          <a:xfrm>
            <a:off x="3589490" y="4213753"/>
            <a:ext cx="3596786" cy="878011"/>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2557" u="none" cap="none" strike="noStrike">
                <a:solidFill>
                  <a:srgbClr val="253754"/>
                </a:solidFill>
                <a:latin typeface="Arial"/>
                <a:ea typeface="Arial"/>
                <a:cs typeface="Arial"/>
                <a:sym typeface="Arial"/>
              </a:rPr>
              <a:t>Firewalls (ASA y otros)</a:t>
            </a:r>
            <a:endParaRPr/>
          </a:p>
        </p:txBody>
      </p:sp>
      <p:sp>
        <p:nvSpPr>
          <p:cNvPr id="775" name="Google Shape;775;p42"/>
          <p:cNvSpPr txBox="1"/>
          <p:nvPr/>
        </p:nvSpPr>
        <p:spPr>
          <a:xfrm>
            <a:off x="13129268" y="5476477"/>
            <a:ext cx="3898551" cy="348774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0" i="0" lang="en-US" sz="2483" u="none" cap="none" strike="noStrike">
                <a:solidFill>
                  <a:srgbClr val="EDE8E4"/>
                </a:solidFill>
                <a:latin typeface="Arial"/>
                <a:ea typeface="Arial"/>
                <a:cs typeface="Arial"/>
                <a:sym typeface="Arial"/>
              </a:rPr>
              <a:t>En una infraestructura de nube híbrida, se configura una DMZ con nivel 50 para servidores públicos, nivel 100 para red interna, y nivel 0 para Internet, controlando así el flujo con base en la confianza.</a:t>
            </a:r>
            <a:endParaRPr/>
          </a:p>
        </p:txBody>
      </p:sp>
      <p:sp>
        <p:nvSpPr>
          <p:cNvPr id="776" name="Google Shape;776;p42"/>
          <p:cNvSpPr txBox="1"/>
          <p:nvPr/>
        </p:nvSpPr>
        <p:spPr>
          <a:xfrm>
            <a:off x="8314552" y="5769468"/>
            <a:ext cx="3898551" cy="2611942"/>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0" i="0" lang="en-US" sz="2483" u="none" cap="none" strike="noStrike">
                <a:solidFill>
                  <a:srgbClr val="EDE8E4"/>
                </a:solidFill>
                <a:latin typeface="Arial"/>
                <a:ea typeface="Arial"/>
                <a:cs typeface="Arial"/>
                <a:sym typeface="Arial"/>
              </a:rPr>
              <a:t>En un entorno escolar, una ACL estándar bloquea el acceso a internet de la IP del laboratorio de exámenes durante ciertas horas.</a:t>
            </a:r>
            <a:endParaRPr/>
          </a:p>
        </p:txBody>
      </p:sp>
      <p:sp>
        <p:nvSpPr>
          <p:cNvPr id="777" name="Google Shape;777;p42"/>
          <p:cNvSpPr txBox="1"/>
          <p:nvPr/>
        </p:nvSpPr>
        <p:spPr>
          <a:xfrm>
            <a:off x="3495208" y="5466952"/>
            <a:ext cx="3898551" cy="3349412"/>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0" i="0" lang="en-US" sz="2383" u="none" cap="none" strike="noStrike">
                <a:solidFill>
                  <a:srgbClr val="EDE8E4"/>
                </a:solidFill>
                <a:latin typeface="Arial"/>
                <a:ea typeface="Arial"/>
                <a:cs typeface="Arial"/>
                <a:sym typeface="Arial"/>
              </a:rPr>
              <a:t>En una empresa de desarrollo web, se implementa un firewall ASA configurado para permitir tráfico HTTP/HTTPS hacia el servidor web, pero bloquear accesos SSH no autorizados desde fuera.</a:t>
            </a:r>
            <a:endParaRPr/>
          </a:p>
        </p:txBody>
      </p:sp>
      <p:sp>
        <p:nvSpPr>
          <p:cNvPr id="778" name="Google Shape;778;p42"/>
          <p:cNvSpPr/>
          <p:nvPr/>
        </p:nvSpPr>
        <p:spPr>
          <a:xfrm>
            <a:off x="-1446812" y="7841762"/>
            <a:ext cx="5482705" cy="4884592"/>
          </a:xfrm>
          <a:custGeom>
            <a:rect b="b" l="l" r="r" t="t"/>
            <a:pathLst>
              <a:path extrusionOk="0" h="4884592" w="5482705">
                <a:moveTo>
                  <a:pt x="0" y="0"/>
                </a:moveTo>
                <a:lnTo>
                  <a:pt x="5482705" y="0"/>
                </a:lnTo>
                <a:lnTo>
                  <a:pt x="5482705" y="4884591"/>
                </a:lnTo>
                <a:lnTo>
                  <a:pt x="0" y="4884591"/>
                </a:lnTo>
                <a:lnTo>
                  <a:pt x="0" y="0"/>
                </a:lnTo>
                <a:close/>
              </a:path>
            </a:pathLst>
          </a:custGeom>
          <a:blipFill rotWithShape="1">
            <a:blip r:embed="rId5">
              <a:alphaModFix/>
            </a:blip>
            <a:stretch>
              <a:fillRect b="0" l="0" r="0" t="0"/>
            </a:stretch>
          </a:blipFill>
          <a:ln>
            <a:noFill/>
          </a:ln>
        </p:spPr>
      </p:sp>
      <p:sp>
        <p:nvSpPr>
          <p:cNvPr id="779" name="Google Shape;779;p42"/>
          <p:cNvSpPr/>
          <p:nvPr/>
        </p:nvSpPr>
        <p:spPr>
          <a:xfrm rot="10452176">
            <a:off x="15012576" y="-2759682"/>
            <a:ext cx="5482705" cy="4884592"/>
          </a:xfrm>
          <a:custGeom>
            <a:rect b="b" l="l" r="r" t="t"/>
            <a:pathLst>
              <a:path extrusionOk="0" h="4884592" w="5482705">
                <a:moveTo>
                  <a:pt x="0" y="0"/>
                </a:moveTo>
                <a:lnTo>
                  <a:pt x="5482705" y="0"/>
                </a:lnTo>
                <a:lnTo>
                  <a:pt x="5482705" y="4884591"/>
                </a:lnTo>
                <a:lnTo>
                  <a:pt x="0" y="4884591"/>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4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3" l="0" r="0" t="-9964"/>
            </a:stretch>
          </a:blipFill>
          <a:ln>
            <a:noFill/>
          </a:ln>
        </p:spPr>
      </p:sp>
      <p:sp>
        <p:nvSpPr>
          <p:cNvPr id="785" name="Google Shape;785;p43"/>
          <p:cNvSpPr/>
          <p:nvPr/>
        </p:nvSpPr>
        <p:spPr>
          <a:xfrm rot="-1508563">
            <a:off x="7042952" y="1987343"/>
            <a:ext cx="4555195" cy="6023399"/>
          </a:xfrm>
          <a:custGeom>
            <a:rect b="b" l="l" r="r" t="t"/>
            <a:pathLst>
              <a:path extrusionOk="0" h="6023399" w="4555195">
                <a:moveTo>
                  <a:pt x="0" y="0"/>
                </a:moveTo>
                <a:lnTo>
                  <a:pt x="4555195" y="0"/>
                </a:lnTo>
                <a:lnTo>
                  <a:pt x="4555195" y="6023398"/>
                </a:lnTo>
                <a:lnTo>
                  <a:pt x="0" y="6023398"/>
                </a:lnTo>
                <a:lnTo>
                  <a:pt x="0" y="0"/>
                </a:lnTo>
                <a:close/>
              </a:path>
            </a:pathLst>
          </a:custGeom>
          <a:blipFill rotWithShape="1">
            <a:blip r:embed="rId4">
              <a:alphaModFix/>
            </a:blip>
            <a:stretch>
              <a:fillRect b="0" l="0" r="0" t="0"/>
            </a:stretch>
          </a:blipFill>
          <a:ln>
            <a:noFill/>
          </a:ln>
        </p:spPr>
      </p:sp>
      <p:sp>
        <p:nvSpPr>
          <p:cNvPr id="786" name="Google Shape;786;p43"/>
          <p:cNvSpPr/>
          <p:nvPr/>
        </p:nvSpPr>
        <p:spPr>
          <a:xfrm>
            <a:off x="12661944" y="1497972"/>
            <a:ext cx="4090367" cy="1294043"/>
          </a:xfrm>
          <a:custGeom>
            <a:rect b="b" l="l" r="r" t="t"/>
            <a:pathLst>
              <a:path extrusionOk="0" h="1294043" w="4090367">
                <a:moveTo>
                  <a:pt x="0" y="0"/>
                </a:moveTo>
                <a:lnTo>
                  <a:pt x="4090367" y="0"/>
                </a:lnTo>
                <a:lnTo>
                  <a:pt x="4090367" y="1294044"/>
                </a:lnTo>
                <a:lnTo>
                  <a:pt x="0" y="1294044"/>
                </a:lnTo>
                <a:lnTo>
                  <a:pt x="0" y="0"/>
                </a:lnTo>
                <a:close/>
              </a:path>
            </a:pathLst>
          </a:custGeom>
          <a:blipFill rotWithShape="1">
            <a:blip r:embed="rId5">
              <a:alphaModFix/>
            </a:blip>
            <a:stretch>
              <a:fillRect b="0" l="0" r="0" t="0"/>
            </a:stretch>
          </a:blipFill>
          <a:ln>
            <a:noFill/>
          </a:ln>
        </p:spPr>
      </p:sp>
      <p:sp>
        <p:nvSpPr>
          <p:cNvPr id="787" name="Google Shape;787;p43"/>
          <p:cNvSpPr/>
          <p:nvPr/>
        </p:nvSpPr>
        <p:spPr>
          <a:xfrm>
            <a:off x="1604622" y="1497972"/>
            <a:ext cx="4090367" cy="1294043"/>
          </a:xfrm>
          <a:custGeom>
            <a:rect b="b" l="l" r="r" t="t"/>
            <a:pathLst>
              <a:path extrusionOk="0" h="1294043" w="4090367">
                <a:moveTo>
                  <a:pt x="0" y="0"/>
                </a:moveTo>
                <a:lnTo>
                  <a:pt x="4090367" y="0"/>
                </a:lnTo>
                <a:lnTo>
                  <a:pt x="4090367" y="1294044"/>
                </a:lnTo>
                <a:lnTo>
                  <a:pt x="0" y="1294044"/>
                </a:lnTo>
                <a:lnTo>
                  <a:pt x="0" y="0"/>
                </a:lnTo>
                <a:close/>
              </a:path>
            </a:pathLst>
          </a:custGeom>
          <a:blipFill rotWithShape="1">
            <a:blip r:embed="rId5">
              <a:alphaModFix/>
            </a:blip>
            <a:stretch>
              <a:fillRect b="0" l="0" r="0" t="0"/>
            </a:stretch>
          </a:blipFill>
          <a:ln>
            <a:noFill/>
          </a:ln>
        </p:spPr>
      </p:sp>
      <p:sp>
        <p:nvSpPr>
          <p:cNvPr id="788" name="Google Shape;788;p43"/>
          <p:cNvSpPr/>
          <p:nvPr/>
        </p:nvSpPr>
        <p:spPr>
          <a:xfrm>
            <a:off x="12661944" y="6134001"/>
            <a:ext cx="4090367" cy="1294043"/>
          </a:xfrm>
          <a:custGeom>
            <a:rect b="b" l="l" r="r" t="t"/>
            <a:pathLst>
              <a:path extrusionOk="0" h="1294043" w="4090367">
                <a:moveTo>
                  <a:pt x="0" y="0"/>
                </a:moveTo>
                <a:lnTo>
                  <a:pt x="4090367" y="0"/>
                </a:lnTo>
                <a:lnTo>
                  <a:pt x="4090367" y="1294043"/>
                </a:lnTo>
                <a:lnTo>
                  <a:pt x="0" y="1294043"/>
                </a:lnTo>
                <a:lnTo>
                  <a:pt x="0" y="0"/>
                </a:lnTo>
                <a:close/>
              </a:path>
            </a:pathLst>
          </a:custGeom>
          <a:blipFill rotWithShape="1">
            <a:blip r:embed="rId5">
              <a:alphaModFix/>
            </a:blip>
            <a:stretch>
              <a:fillRect b="0" l="0" r="0" t="0"/>
            </a:stretch>
          </a:blipFill>
          <a:ln>
            <a:noFill/>
          </a:ln>
        </p:spPr>
      </p:sp>
      <p:sp>
        <p:nvSpPr>
          <p:cNvPr id="789" name="Google Shape;789;p43"/>
          <p:cNvSpPr/>
          <p:nvPr/>
        </p:nvSpPr>
        <p:spPr>
          <a:xfrm>
            <a:off x="1604622" y="6134001"/>
            <a:ext cx="4090367" cy="1294043"/>
          </a:xfrm>
          <a:custGeom>
            <a:rect b="b" l="l" r="r" t="t"/>
            <a:pathLst>
              <a:path extrusionOk="0" h="1294043" w="4090367">
                <a:moveTo>
                  <a:pt x="0" y="0"/>
                </a:moveTo>
                <a:lnTo>
                  <a:pt x="4090367" y="0"/>
                </a:lnTo>
                <a:lnTo>
                  <a:pt x="4090367" y="1294043"/>
                </a:lnTo>
                <a:lnTo>
                  <a:pt x="0" y="1294043"/>
                </a:lnTo>
                <a:lnTo>
                  <a:pt x="0" y="0"/>
                </a:lnTo>
                <a:close/>
              </a:path>
            </a:pathLst>
          </a:custGeom>
          <a:blipFill rotWithShape="1">
            <a:blip r:embed="rId5">
              <a:alphaModFix/>
            </a:blip>
            <a:stretch>
              <a:fillRect b="0" l="0" r="0" t="0"/>
            </a:stretch>
          </a:blipFill>
          <a:ln>
            <a:noFill/>
          </a:ln>
        </p:spPr>
      </p:sp>
      <p:sp>
        <p:nvSpPr>
          <p:cNvPr id="790" name="Google Shape;790;p43"/>
          <p:cNvSpPr txBox="1"/>
          <p:nvPr/>
        </p:nvSpPr>
        <p:spPr>
          <a:xfrm>
            <a:off x="12593011" y="3144594"/>
            <a:ext cx="3827048" cy="2114625"/>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1756" u="none" cap="none" strike="noStrike">
                <a:solidFill>
                  <a:srgbClr val="FFFFFF"/>
                </a:solidFill>
                <a:latin typeface="Sniglet"/>
                <a:ea typeface="Sniglet"/>
                <a:cs typeface="Sniglet"/>
                <a:sym typeface="Sniglet"/>
              </a:rPr>
              <a:t>Funciones clave:</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Bloquear accesos no autorizados.</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Permitir solo tráfico confiable.</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Prevenir ataques y virus.</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Control del uso de internet.</a:t>
            </a:r>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p:txBody>
      </p:sp>
      <p:sp>
        <p:nvSpPr>
          <p:cNvPr id="791" name="Google Shape;791;p43"/>
          <p:cNvSpPr txBox="1"/>
          <p:nvPr/>
        </p:nvSpPr>
        <p:spPr>
          <a:xfrm>
            <a:off x="369457" y="2911100"/>
            <a:ext cx="6542064" cy="2087942"/>
          </a:xfrm>
          <a:prstGeom prst="rect">
            <a:avLst/>
          </a:prstGeom>
          <a:noFill/>
          <a:ln>
            <a:noFill/>
          </a:ln>
        </p:spPr>
        <p:txBody>
          <a:bodyPr anchorCtr="0" anchor="t" bIns="0" lIns="0" spcFirstLastPara="1" rIns="0" wrap="square" tIns="0">
            <a:spAutoFit/>
          </a:bodyPr>
          <a:lstStyle/>
          <a:p>
            <a:pPr indent="0" lvl="0" marL="0" marR="0" rtl="0" algn="ctr">
              <a:lnSpc>
                <a:spcPct val="134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187207" lvl="1" marL="374413" marR="0" rtl="0" algn="ctr">
              <a:lnSpc>
                <a:spcPct val="139965"/>
              </a:lnSpc>
              <a:spcBef>
                <a:spcPts val="0"/>
              </a:spcBef>
              <a:spcAft>
                <a:spcPts val="0"/>
              </a:spcAft>
              <a:buClr>
                <a:srgbClr val="FFFFFF"/>
              </a:buClr>
              <a:buSzPts val="1734"/>
              <a:buFont typeface="Arial"/>
              <a:buChar char="•"/>
            </a:pPr>
            <a:r>
              <a:rPr b="0" i="0" lang="en-US" sz="1734" u="none" cap="none" strike="noStrike">
                <a:solidFill>
                  <a:srgbClr val="FFFFFF"/>
                </a:solidFill>
                <a:latin typeface="Sniglet"/>
                <a:ea typeface="Sniglet"/>
                <a:cs typeface="Sniglet"/>
                <a:sym typeface="Sniglet"/>
              </a:rPr>
              <a:t>HSRP (Hot Standby Router Protocol) – Propietario de Cisco.</a:t>
            </a:r>
            <a:endParaRPr/>
          </a:p>
          <a:p>
            <a:pPr indent="-187207" lvl="1" marL="374413" marR="0" rtl="0" algn="ctr">
              <a:lnSpc>
                <a:spcPct val="139965"/>
              </a:lnSpc>
              <a:spcBef>
                <a:spcPts val="0"/>
              </a:spcBef>
              <a:spcAft>
                <a:spcPts val="0"/>
              </a:spcAft>
              <a:buClr>
                <a:srgbClr val="FFFFFF"/>
              </a:buClr>
              <a:buSzPts val="1734"/>
              <a:buFont typeface="Arial"/>
              <a:buChar char="•"/>
            </a:pPr>
            <a:r>
              <a:rPr b="0" i="0" lang="en-US" sz="1734" u="none" cap="none" strike="noStrike">
                <a:solidFill>
                  <a:srgbClr val="FFFFFF"/>
                </a:solidFill>
                <a:latin typeface="Sniglet"/>
                <a:ea typeface="Sniglet"/>
                <a:cs typeface="Sniglet"/>
                <a:sym typeface="Sniglet"/>
              </a:rPr>
              <a:t>VRRP (Virtual Router Redundancy Protocol) – Estándar abierto.</a:t>
            </a:r>
            <a:endParaRPr/>
          </a:p>
          <a:p>
            <a:pPr indent="-187207" lvl="1" marL="374413" marR="0" rtl="0" algn="ctr">
              <a:lnSpc>
                <a:spcPct val="139965"/>
              </a:lnSpc>
              <a:spcBef>
                <a:spcPts val="0"/>
              </a:spcBef>
              <a:spcAft>
                <a:spcPts val="0"/>
              </a:spcAft>
              <a:buClr>
                <a:srgbClr val="FFFFFF"/>
              </a:buClr>
              <a:buSzPts val="1734"/>
              <a:buFont typeface="Arial"/>
              <a:buChar char="•"/>
            </a:pPr>
            <a:r>
              <a:rPr b="0" i="0" lang="en-US" sz="1734" u="none" cap="none" strike="noStrike">
                <a:solidFill>
                  <a:srgbClr val="FFFFFF"/>
                </a:solidFill>
                <a:latin typeface="Sniglet"/>
                <a:ea typeface="Sniglet"/>
                <a:cs typeface="Sniglet"/>
                <a:sym typeface="Sniglet"/>
              </a:rPr>
              <a:t>GLBP (Gateway Load Balancing Protocol) – Propietario de Cisco, permite balanceo de carga.</a:t>
            </a:r>
            <a:endParaRPr/>
          </a:p>
          <a:p>
            <a:pPr indent="0" lvl="0" marL="0" marR="0" rtl="0" algn="ctr">
              <a:lnSpc>
                <a:spcPct val="139965"/>
              </a:lnSpc>
              <a:spcBef>
                <a:spcPts val="0"/>
              </a:spcBef>
              <a:spcAft>
                <a:spcPts val="0"/>
              </a:spcAft>
              <a:buNone/>
            </a:pPr>
            <a:r>
              <a:t/>
            </a:r>
            <a:endParaRPr b="0" i="0" sz="1734" u="none" cap="none" strike="noStrike">
              <a:solidFill>
                <a:srgbClr val="FFFFFF"/>
              </a:solidFill>
              <a:latin typeface="Sniglet"/>
              <a:ea typeface="Sniglet"/>
              <a:cs typeface="Sniglet"/>
              <a:sym typeface="Sniglet"/>
            </a:endParaRPr>
          </a:p>
          <a:p>
            <a:pPr indent="0" lvl="0" marL="0" marR="0" rtl="0" algn="ctr">
              <a:lnSpc>
                <a:spcPct val="139965"/>
              </a:lnSpc>
              <a:spcBef>
                <a:spcPts val="0"/>
              </a:spcBef>
              <a:spcAft>
                <a:spcPts val="0"/>
              </a:spcAft>
              <a:buNone/>
            </a:pPr>
            <a:r>
              <a:t/>
            </a:r>
            <a:endParaRPr b="0" i="0" sz="1734" u="none" cap="none" strike="noStrike">
              <a:solidFill>
                <a:srgbClr val="FFFFFF"/>
              </a:solidFill>
              <a:latin typeface="Sniglet"/>
              <a:ea typeface="Sniglet"/>
              <a:cs typeface="Sniglet"/>
              <a:sym typeface="Sniglet"/>
            </a:endParaRPr>
          </a:p>
        </p:txBody>
      </p:sp>
      <p:sp>
        <p:nvSpPr>
          <p:cNvPr id="792" name="Google Shape;792;p43"/>
          <p:cNvSpPr txBox="1"/>
          <p:nvPr/>
        </p:nvSpPr>
        <p:spPr>
          <a:xfrm>
            <a:off x="12432123" y="7621483"/>
            <a:ext cx="4600257" cy="2723387"/>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Valores entre 0 (red menos confiable) y 100 (red más confiable).</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Tráfico de mayor a menor nivel: permitido por defecto.</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Tráfico de menor a mayor nivel o entre iguales: bloqueado por defecto.</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Permiten aplicar políticas de acceso basadas en confianza de red.</a:t>
            </a:r>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p:txBody>
      </p:sp>
      <p:sp>
        <p:nvSpPr>
          <p:cNvPr id="793" name="Google Shape;793;p43"/>
          <p:cNvSpPr txBox="1"/>
          <p:nvPr/>
        </p:nvSpPr>
        <p:spPr>
          <a:xfrm>
            <a:off x="1726965" y="7621483"/>
            <a:ext cx="3827048" cy="2114625"/>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Lista de reglas que permiten o bloquean tráfico basado en:</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IP origen/destino.</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Protocolo (TCP, UDP, ICMP).</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Puerto.</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Interfaz (entrada o salida).</a:t>
            </a:r>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p:txBody>
      </p:sp>
      <p:sp>
        <p:nvSpPr>
          <p:cNvPr id="794" name="Google Shape;794;p43"/>
          <p:cNvSpPr txBox="1"/>
          <p:nvPr/>
        </p:nvSpPr>
        <p:spPr>
          <a:xfrm>
            <a:off x="13388486" y="1911424"/>
            <a:ext cx="2637300" cy="4923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3199" u="none" cap="none" strike="noStrike">
                <a:solidFill>
                  <a:srgbClr val="FFFFFF"/>
                </a:solidFill>
                <a:latin typeface="Shadows Into Light"/>
                <a:ea typeface="Shadows Into Light"/>
                <a:cs typeface="Shadows Into Light"/>
                <a:sym typeface="Shadows Into Light"/>
              </a:rPr>
              <a:t>FIREWALLS</a:t>
            </a:r>
            <a:endParaRPr/>
          </a:p>
        </p:txBody>
      </p:sp>
      <p:sp>
        <p:nvSpPr>
          <p:cNvPr id="795" name="Google Shape;795;p43"/>
          <p:cNvSpPr txBox="1"/>
          <p:nvPr/>
        </p:nvSpPr>
        <p:spPr>
          <a:xfrm>
            <a:off x="2321838" y="1831208"/>
            <a:ext cx="2637300" cy="6276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en-US" sz="1699" u="none" cap="none" strike="noStrike">
                <a:solidFill>
                  <a:srgbClr val="FFFFFF"/>
                </a:solidFill>
                <a:latin typeface="Shadows Into Light"/>
                <a:ea typeface="Shadows Into Light"/>
                <a:cs typeface="Shadows Into Light"/>
                <a:sym typeface="Shadows Into Light"/>
              </a:rPr>
              <a:t>PROTOCOLOS DE REDUNDANCIA DE PUERTA DE ENLACE</a:t>
            </a:r>
            <a:endParaRPr sz="800"/>
          </a:p>
        </p:txBody>
      </p:sp>
      <p:sp>
        <p:nvSpPr>
          <p:cNvPr id="796" name="Google Shape;796;p43"/>
          <p:cNvSpPr txBox="1"/>
          <p:nvPr/>
        </p:nvSpPr>
        <p:spPr>
          <a:xfrm>
            <a:off x="13413610" y="6457130"/>
            <a:ext cx="2637300" cy="70170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0" i="0" lang="en-US" sz="1899" u="none" cap="none" strike="noStrike">
                <a:solidFill>
                  <a:srgbClr val="FFFFFF"/>
                </a:solidFill>
                <a:latin typeface="Shadows Into Light"/>
                <a:ea typeface="Shadows Into Light"/>
                <a:cs typeface="Shadows Into Light"/>
                <a:sym typeface="Shadows Into Light"/>
              </a:rPr>
              <a:t>NIVELES DE SEGURIDAD EN FIREWALLS ASA (CISCO)</a:t>
            </a:r>
            <a:endParaRPr sz="700"/>
          </a:p>
        </p:txBody>
      </p:sp>
      <p:sp>
        <p:nvSpPr>
          <p:cNvPr id="797" name="Google Shape;797;p43"/>
          <p:cNvSpPr txBox="1"/>
          <p:nvPr/>
        </p:nvSpPr>
        <p:spPr>
          <a:xfrm>
            <a:off x="2331163" y="6297113"/>
            <a:ext cx="2637300" cy="9972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US" sz="2699" u="none" cap="none" strike="noStrike">
                <a:solidFill>
                  <a:srgbClr val="FFFFFF"/>
                </a:solidFill>
                <a:latin typeface="Shadows Into Light"/>
                <a:ea typeface="Shadows Into Light"/>
                <a:cs typeface="Shadows Into Light"/>
                <a:sym typeface="Shadows Into Light"/>
              </a:rPr>
              <a:t>ACL (ACCESS CONTROL LIST)</a:t>
            </a:r>
            <a:endParaRPr sz="1200"/>
          </a:p>
        </p:txBody>
      </p:sp>
      <p:sp>
        <p:nvSpPr>
          <p:cNvPr id="798" name="Google Shape;798;p43"/>
          <p:cNvSpPr/>
          <p:nvPr/>
        </p:nvSpPr>
        <p:spPr>
          <a:xfrm rot="577984">
            <a:off x="10475096" y="1452402"/>
            <a:ext cx="1827509" cy="780845"/>
          </a:xfrm>
          <a:custGeom>
            <a:rect b="b" l="l" r="r" t="t"/>
            <a:pathLst>
              <a:path extrusionOk="0" h="780845" w="1827509">
                <a:moveTo>
                  <a:pt x="0" y="0"/>
                </a:moveTo>
                <a:lnTo>
                  <a:pt x="1827509" y="0"/>
                </a:lnTo>
                <a:lnTo>
                  <a:pt x="1827509" y="780844"/>
                </a:lnTo>
                <a:lnTo>
                  <a:pt x="0" y="780844"/>
                </a:lnTo>
                <a:lnTo>
                  <a:pt x="0" y="0"/>
                </a:lnTo>
                <a:close/>
              </a:path>
            </a:pathLst>
          </a:custGeom>
          <a:blipFill rotWithShape="1">
            <a:blip r:embed="rId6">
              <a:alphaModFix/>
            </a:blip>
            <a:stretch>
              <a:fillRect b="0" l="0" r="0" t="0"/>
            </a:stretch>
          </a:blipFill>
          <a:ln>
            <a:noFill/>
          </a:ln>
        </p:spPr>
      </p:sp>
      <p:sp>
        <p:nvSpPr>
          <p:cNvPr id="799" name="Google Shape;799;p43"/>
          <p:cNvSpPr/>
          <p:nvPr/>
        </p:nvSpPr>
        <p:spPr>
          <a:xfrm flipH="1" rot="-565549">
            <a:off x="6081248" y="1452402"/>
            <a:ext cx="1827509" cy="780845"/>
          </a:xfrm>
          <a:custGeom>
            <a:rect b="b" l="l" r="r" t="t"/>
            <a:pathLst>
              <a:path extrusionOk="0" h="780845" w="1827509">
                <a:moveTo>
                  <a:pt x="1827509" y="0"/>
                </a:moveTo>
                <a:lnTo>
                  <a:pt x="0" y="0"/>
                </a:lnTo>
                <a:lnTo>
                  <a:pt x="0" y="780844"/>
                </a:lnTo>
                <a:lnTo>
                  <a:pt x="1827509" y="780844"/>
                </a:lnTo>
                <a:lnTo>
                  <a:pt x="1827509" y="0"/>
                </a:lnTo>
                <a:close/>
              </a:path>
            </a:pathLst>
          </a:custGeom>
          <a:blipFill rotWithShape="1">
            <a:blip r:embed="rId6">
              <a:alphaModFix/>
            </a:blip>
            <a:stretch>
              <a:fillRect b="0" l="0" r="0" t="0"/>
            </a:stretch>
          </a:blipFill>
          <a:ln>
            <a:noFill/>
          </a:ln>
        </p:spPr>
      </p:sp>
      <p:sp>
        <p:nvSpPr>
          <p:cNvPr id="800" name="Google Shape;800;p43"/>
          <p:cNvSpPr/>
          <p:nvPr/>
        </p:nvSpPr>
        <p:spPr>
          <a:xfrm rot="-10222015">
            <a:off x="5747437" y="6928423"/>
            <a:ext cx="1827509" cy="780845"/>
          </a:xfrm>
          <a:custGeom>
            <a:rect b="b" l="l" r="r" t="t"/>
            <a:pathLst>
              <a:path extrusionOk="0" h="780845" w="1827509">
                <a:moveTo>
                  <a:pt x="0" y="0"/>
                </a:moveTo>
                <a:lnTo>
                  <a:pt x="1827509" y="0"/>
                </a:lnTo>
                <a:lnTo>
                  <a:pt x="1827509" y="780845"/>
                </a:lnTo>
                <a:lnTo>
                  <a:pt x="0" y="780845"/>
                </a:lnTo>
                <a:lnTo>
                  <a:pt x="0" y="0"/>
                </a:lnTo>
                <a:close/>
              </a:path>
            </a:pathLst>
          </a:custGeom>
          <a:blipFill rotWithShape="1">
            <a:blip r:embed="rId6">
              <a:alphaModFix/>
            </a:blip>
            <a:stretch>
              <a:fillRect b="0" l="0" r="0" t="0"/>
            </a:stretch>
          </a:blipFill>
          <a:ln>
            <a:noFill/>
          </a:ln>
        </p:spPr>
      </p:sp>
      <p:sp>
        <p:nvSpPr>
          <p:cNvPr id="801" name="Google Shape;801;p43"/>
          <p:cNvSpPr/>
          <p:nvPr/>
        </p:nvSpPr>
        <p:spPr>
          <a:xfrm flipH="1" rot="10234450">
            <a:off x="10810598" y="6928423"/>
            <a:ext cx="1827509" cy="780845"/>
          </a:xfrm>
          <a:custGeom>
            <a:rect b="b" l="l" r="r" t="t"/>
            <a:pathLst>
              <a:path extrusionOk="0" h="780845" w="1827509">
                <a:moveTo>
                  <a:pt x="1827509" y="0"/>
                </a:moveTo>
                <a:lnTo>
                  <a:pt x="0" y="0"/>
                </a:lnTo>
                <a:lnTo>
                  <a:pt x="0" y="780845"/>
                </a:lnTo>
                <a:lnTo>
                  <a:pt x="1827509" y="780845"/>
                </a:lnTo>
                <a:lnTo>
                  <a:pt x="1827509" y="0"/>
                </a:lnTo>
                <a:close/>
              </a:path>
            </a:pathLst>
          </a:custGeom>
          <a:blipFill rotWithShape="1">
            <a:blip r:embed="rId6">
              <a:alphaModFix/>
            </a:blip>
            <a:stretch>
              <a:fillRect b="0" l="0" r="0" t="0"/>
            </a:stretch>
          </a:blipFill>
          <a:ln>
            <a:noFill/>
          </a:ln>
        </p:spPr>
      </p:sp>
      <p:sp>
        <p:nvSpPr>
          <p:cNvPr id="802" name="Google Shape;802;p43"/>
          <p:cNvSpPr/>
          <p:nvPr/>
        </p:nvSpPr>
        <p:spPr>
          <a:xfrm rot="-2492452">
            <a:off x="14777619" y="8947652"/>
            <a:ext cx="5782005" cy="1576910"/>
          </a:xfrm>
          <a:custGeom>
            <a:rect b="b" l="l" r="r" t="t"/>
            <a:pathLst>
              <a:path extrusionOk="0" h="1576910" w="5782005">
                <a:moveTo>
                  <a:pt x="0" y="0"/>
                </a:moveTo>
                <a:lnTo>
                  <a:pt x="5782005" y="0"/>
                </a:lnTo>
                <a:lnTo>
                  <a:pt x="5782005" y="1576911"/>
                </a:lnTo>
                <a:lnTo>
                  <a:pt x="0" y="1576911"/>
                </a:lnTo>
                <a:lnTo>
                  <a:pt x="0" y="0"/>
                </a:lnTo>
                <a:close/>
              </a:path>
            </a:pathLst>
          </a:custGeom>
          <a:blipFill rotWithShape="1">
            <a:blip r:embed="rId7">
              <a:alphaModFix/>
            </a:blip>
            <a:stretch>
              <a:fillRect b="0" l="0" r="0" t="0"/>
            </a:stretch>
          </a:blipFill>
          <a:ln>
            <a:noFill/>
          </a:ln>
        </p:spPr>
      </p:sp>
      <p:sp>
        <p:nvSpPr>
          <p:cNvPr id="803" name="Google Shape;803;p43"/>
          <p:cNvSpPr/>
          <p:nvPr/>
        </p:nvSpPr>
        <p:spPr>
          <a:xfrm rot="-2492452">
            <a:off x="-1862303" y="240245"/>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7">
              <a:alphaModFix/>
            </a:blip>
            <a:stretch>
              <a:fillRect b="0" l="0" r="0" t="0"/>
            </a:stretch>
          </a:blipFill>
          <a:ln>
            <a:noFill/>
          </a:ln>
        </p:spPr>
      </p:sp>
      <p:sp>
        <p:nvSpPr>
          <p:cNvPr id="804" name="Google Shape;804;p43"/>
          <p:cNvSpPr/>
          <p:nvPr/>
        </p:nvSpPr>
        <p:spPr>
          <a:xfrm rot="1154987">
            <a:off x="16944349" y="965348"/>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805" name="Google Shape;805;p43"/>
          <p:cNvSpPr/>
          <p:nvPr/>
        </p:nvSpPr>
        <p:spPr>
          <a:xfrm rot="1385658">
            <a:off x="15712626" y="5003442"/>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806" name="Google Shape;806;p43"/>
          <p:cNvSpPr/>
          <p:nvPr/>
        </p:nvSpPr>
        <p:spPr>
          <a:xfrm rot="-904948">
            <a:off x="16878317" y="4249483"/>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807" name="Google Shape;807;p43"/>
          <p:cNvSpPr/>
          <p:nvPr/>
        </p:nvSpPr>
        <p:spPr>
          <a:xfrm rot="-1101707">
            <a:off x="5712992" y="4405405"/>
            <a:ext cx="1100927" cy="1187274"/>
          </a:xfrm>
          <a:custGeom>
            <a:rect b="b" l="l" r="r" t="t"/>
            <a:pathLst>
              <a:path extrusionOk="0" h="1187274" w="1100927">
                <a:moveTo>
                  <a:pt x="0" y="0"/>
                </a:moveTo>
                <a:lnTo>
                  <a:pt x="1100927" y="0"/>
                </a:lnTo>
                <a:lnTo>
                  <a:pt x="1100927" y="1187274"/>
                </a:lnTo>
                <a:lnTo>
                  <a:pt x="0" y="1187274"/>
                </a:lnTo>
                <a:lnTo>
                  <a:pt x="0" y="0"/>
                </a:lnTo>
                <a:close/>
              </a:path>
            </a:pathLst>
          </a:custGeom>
          <a:blipFill rotWithShape="1">
            <a:blip r:embed="rId8">
              <a:alphaModFix/>
            </a:blip>
            <a:stretch>
              <a:fillRect b="0" l="0" r="0" t="0"/>
            </a:stretch>
          </a:blipFill>
          <a:ln>
            <a:noFill/>
          </a:ln>
        </p:spPr>
      </p:sp>
      <p:sp>
        <p:nvSpPr>
          <p:cNvPr id="808" name="Google Shape;808;p43"/>
          <p:cNvSpPr/>
          <p:nvPr/>
        </p:nvSpPr>
        <p:spPr>
          <a:xfrm>
            <a:off x="8649480" y="1201050"/>
            <a:ext cx="1342139" cy="471300"/>
          </a:xfrm>
          <a:custGeom>
            <a:rect b="b" l="l" r="r" t="t"/>
            <a:pathLst>
              <a:path extrusionOk="0" h="471300" w="1342139">
                <a:moveTo>
                  <a:pt x="0" y="0"/>
                </a:moveTo>
                <a:lnTo>
                  <a:pt x="1342139" y="0"/>
                </a:lnTo>
                <a:lnTo>
                  <a:pt x="1342139" y="471300"/>
                </a:lnTo>
                <a:lnTo>
                  <a:pt x="0" y="471300"/>
                </a:lnTo>
                <a:lnTo>
                  <a:pt x="0" y="0"/>
                </a:lnTo>
                <a:close/>
              </a:path>
            </a:pathLst>
          </a:custGeom>
          <a:blipFill rotWithShape="1">
            <a:blip r:embed="rId9">
              <a:alphaModFix/>
            </a:blip>
            <a:stretch>
              <a:fillRect b="-33518" l="-13707" r="-15228" t="0"/>
            </a:stretch>
          </a:blipFill>
          <a:ln>
            <a:noFill/>
          </a:ln>
        </p:spPr>
      </p:sp>
      <p:sp>
        <p:nvSpPr>
          <p:cNvPr id="809" name="Google Shape;809;p43"/>
          <p:cNvSpPr/>
          <p:nvPr/>
        </p:nvSpPr>
        <p:spPr>
          <a:xfrm rot="-514891">
            <a:off x="811416" y="5228345"/>
            <a:ext cx="629902" cy="679306"/>
          </a:xfrm>
          <a:custGeom>
            <a:rect b="b" l="l" r="r" t="t"/>
            <a:pathLst>
              <a:path extrusionOk="0" h="679306" w="629902">
                <a:moveTo>
                  <a:pt x="0" y="0"/>
                </a:moveTo>
                <a:lnTo>
                  <a:pt x="629902" y="0"/>
                </a:lnTo>
                <a:lnTo>
                  <a:pt x="629902" y="679307"/>
                </a:lnTo>
                <a:lnTo>
                  <a:pt x="0" y="679307"/>
                </a:lnTo>
                <a:lnTo>
                  <a:pt x="0" y="0"/>
                </a:lnTo>
                <a:close/>
              </a:path>
            </a:pathLst>
          </a:custGeom>
          <a:blipFill rotWithShape="1">
            <a:blip r:embed="rId8">
              <a:alphaModFix/>
            </a:blip>
            <a:stretch>
              <a:fillRect b="0" l="0" r="0" t="0"/>
            </a:stretch>
          </a:blipFill>
          <a:ln>
            <a:noFill/>
          </a:ln>
        </p:spPr>
      </p:sp>
      <p:sp>
        <p:nvSpPr>
          <p:cNvPr id="810" name="Google Shape;810;p43"/>
          <p:cNvSpPr txBox="1"/>
          <p:nvPr/>
        </p:nvSpPr>
        <p:spPr>
          <a:xfrm>
            <a:off x="6197168" y="8449908"/>
            <a:ext cx="5893800" cy="1772700"/>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None/>
            </a:pPr>
            <a:r>
              <a:rPr b="0" i="0" lang="en-US" sz="4799" u="none" cap="none" strike="noStrike">
                <a:solidFill>
                  <a:srgbClr val="FFFFFF"/>
                </a:solidFill>
                <a:latin typeface="Shadows Into Light"/>
                <a:ea typeface="Shadows Into Light"/>
                <a:cs typeface="Shadows Into Light"/>
                <a:sym typeface="Shadows Into Light"/>
              </a:rPr>
              <a:t>CONCEPTOS CLAVE APRENDIDOS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754"/>
        </a:solidFill>
      </p:bgPr>
    </p:bg>
    <p:spTree>
      <p:nvGrpSpPr>
        <p:cNvPr id="814" name="Shape 814"/>
        <p:cNvGrpSpPr/>
        <p:nvPr/>
      </p:nvGrpSpPr>
      <p:grpSpPr>
        <a:xfrm>
          <a:off x="0" y="0"/>
          <a:ext cx="0" cy="0"/>
          <a:chOff x="0" y="0"/>
          <a:chExt cx="0" cy="0"/>
        </a:xfrm>
      </p:grpSpPr>
      <p:grpSp>
        <p:nvGrpSpPr>
          <p:cNvPr id="815" name="Google Shape;815;p44"/>
          <p:cNvGrpSpPr/>
          <p:nvPr/>
        </p:nvGrpSpPr>
        <p:grpSpPr>
          <a:xfrm>
            <a:off x="4208265" y="4164660"/>
            <a:ext cx="5141050" cy="4238108"/>
            <a:chOff x="0" y="0"/>
            <a:chExt cx="812800" cy="670045"/>
          </a:xfrm>
        </p:grpSpPr>
        <p:sp>
          <p:nvSpPr>
            <p:cNvPr id="816" name="Google Shape;816;p44"/>
            <p:cNvSpPr/>
            <p:nvPr/>
          </p:nvSpPr>
          <p:spPr>
            <a:xfrm>
              <a:off x="0" y="0"/>
              <a:ext cx="812800" cy="670045"/>
            </a:xfrm>
            <a:custGeom>
              <a:rect b="b" l="l" r="r" t="t"/>
              <a:pathLst>
                <a:path extrusionOk="0" h="670045" w="812800">
                  <a:moveTo>
                    <a:pt x="39153" y="0"/>
                  </a:moveTo>
                  <a:lnTo>
                    <a:pt x="773647" y="0"/>
                  </a:lnTo>
                  <a:cubicBezTo>
                    <a:pt x="784031" y="0"/>
                    <a:pt x="793990" y="4125"/>
                    <a:pt x="801332" y="11468"/>
                  </a:cubicBezTo>
                  <a:cubicBezTo>
                    <a:pt x="808675" y="18810"/>
                    <a:pt x="812800" y="28769"/>
                    <a:pt x="812800" y="39153"/>
                  </a:cubicBezTo>
                  <a:lnTo>
                    <a:pt x="812800" y="630891"/>
                  </a:lnTo>
                  <a:cubicBezTo>
                    <a:pt x="812800" y="641276"/>
                    <a:pt x="808675" y="651234"/>
                    <a:pt x="801332" y="658577"/>
                  </a:cubicBezTo>
                  <a:cubicBezTo>
                    <a:pt x="793990" y="665920"/>
                    <a:pt x="784031" y="670045"/>
                    <a:pt x="773647" y="670045"/>
                  </a:cubicBezTo>
                  <a:lnTo>
                    <a:pt x="39153" y="670045"/>
                  </a:lnTo>
                  <a:cubicBezTo>
                    <a:pt x="28769" y="670045"/>
                    <a:pt x="18810" y="665920"/>
                    <a:pt x="11468" y="658577"/>
                  </a:cubicBezTo>
                  <a:cubicBezTo>
                    <a:pt x="4125" y="651234"/>
                    <a:pt x="0" y="641276"/>
                    <a:pt x="0" y="630891"/>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4"/>
            <p:cNvSpPr txBox="1"/>
            <p:nvPr/>
          </p:nvSpPr>
          <p:spPr>
            <a:xfrm>
              <a:off x="0" y="9525"/>
              <a:ext cx="812800" cy="660520"/>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18" name="Google Shape;818;p44"/>
          <p:cNvGrpSpPr/>
          <p:nvPr/>
        </p:nvGrpSpPr>
        <p:grpSpPr>
          <a:xfrm>
            <a:off x="9676421" y="4164660"/>
            <a:ext cx="5141050" cy="4238108"/>
            <a:chOff x="0" y="0"/>
            <a:chExt cx="812800" cy="670045"/>
          </a:xfrm>
        </p:grpSpPr>
        <p:sp>
          <p:nvSpPr>
            <p:cNvPr id="819" name="Google Shape;819;p44"/>
            <p:cNvSpPr/>
            <p:nvPr/>
          </p:nvSpPr>
          <p:spPr>
            <a:xfrm>
              <a:off x="0" y="0"/>
              <a:ext cx="812800" cy="670045"/>
            </a:xfrm>
            <a:custGeom>
              <a:rect b="b" l="l" r="r" t="t"/>
              <a:pathLst>
                <a:path extrusionOk="0" h="670045" w="812800">
                  <a:moveTo>
                    <a:pt x="39153" y="0"/>
                  </a:moveTo>
                  <a:lnTo>
                    <a:pt x="773647" y="0"/>
                  </a:lnTo>
                  <a:cubicBezTo>
                    <a:pt x="784031" y="0"/>
                    <a:pt x="793990" y="4125"/>
                    <a:pt x="801332" y="11468"/>
                  </a:cubicBezTo>
                  <a:cubicBezTo>
                    <a:pt x="808675" y="18810"/>
                    <a:pt x="812800" y="28769"/>
                    <a:pt x="812800" y="39153"/>
                  </a:cubicBezTo>
                  <a:lnTo>
                    <a:pt x="812800" y="630891"/>
                  </a:lnTo>
                  <a:cubicBezTo>
                    <a:pt x="812800" y="641276"/>
                    <a:pt x="808675" y="651234"/>
                    <a:pt x="801332" y="658577"/>
                  </a:cubicBezTo>
                  <a:cubicBezTo>
                    <a:pt x="793990" y="665920"/>
                    <a:pt x="784031" y="670045"/>
                    <a:pt x="773647" y="670045"/>
                  </a:cubicBezTo>
                  <a:lnTo>
                    <a:pt x="39153" y="670045"/>
                  </a:lnTo>
                  <a:cubicBezTo>
                    <a:pt x="28769" y="670045"/>
                    <a:pt x="18810" y="665920"/>
                    <a:pt x="11468" y="658577"/>
                  </a:cubicBezTo>
                  <a:cubicBezTo>
                    <a:pt x="4125" y="651234"/>
                    <a:pt x="0" y="641276"/>
                    <a:pt x="0" y="630891"/>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4"/>
            <p:cNvSpPr txBox="1"/>
            <p:nvPr/>
          </p:nvSpPr>
          <p:spPr>
            <a:xfrm>
              <a:off x="0" y="9525"/>
              <a:ext cx="812800" cy="660520"/>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21" name="Google Shape;821;p44"/>
          <p:cNvSpPr txBox="1"/>
          <p:nvPr/>
        </p:nvSpPr>
        <p:spPr>
          <a:xfrm>
            <a:off x="5186971" y="2099810"/>
            <a:ext cx="8324690" cy="1252164"/>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7326" u="none" cap="none" strike="noStrike">
                <a:solidFill>
                  <a:srgbClr val="EDE8E4"/>
                </a:solidFill>
                <a:latin typeface="Arial"/>
                <a:ea typeface="Arial"/>
                <a:cs typeface="Arial"/>
                <a:sym typeface="Arial"/>
              </a:rPr>
              <a:t>VALORES</a:t>
            </a:r>
            <a:endParaRPr/>
          </a:p>
        </p:txBody>
      </p:sp>
      <p:sp>
        <p:nvSpPr>
          <p:cNvPr id="822" name="Google Shape;822;p44"/>
          <p:cNvSpPr txBox="1"/>
          <p:nvPr/>
        </p:nvSpPr>
        <p:spPr>
          <a:xfrm>
            <a:off x="5774575" y="4164650"/>
            <a:ext cx="2008500" cy="177450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b="1" i="0" lang="en-US" sz="11528" u="none" cap="none" strike="noStrike">
                <a:solidFill>
                  <a:srgbClr val="D89C6C"/>
                </a:solidFill>
                <a:latin typeface="Arial"/>
                <a:ea typeface="Arial"/>
                <a:cs typeface="Arial"/>
                <a:sym typeface="Arial"/>
              </a:rPr>
              <a:t>01</a:t>
            </a:r>
            <a:endParaRPr/>
          </a:p>
        </p:txBody>
      </p:sp>
      <p:sp>
        <p:nvSpPr>
          <p:cNvPr id="823" name="Google Shape;823;p44"/>
          <p:cNvSpPr txBox="1"/>
          <p:nvPr/>
        </p:nvSpPr>
        <p:spPr>
          <a:xfrm>
            <a:off x="11242725" y="4164649"/>
            <a:ext cx="2008500" cy="177450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b="1" i="0" lang="en-US" sz="11528" u="none" cap="none" strike="noStrike">
                <a:solidFill>
                  <a:srgbClr val="D89C6C"/>
                </a:solidFill>
                <a:latin typeface="Arial"/>
                <a:ea typeface="Arial"/>
                <a:cs typeface="Arial"/>
                <a:sym typeface="Arial"/>
              </a:rPr>
              <a:t>02</a:t>
            </a:r>
            <a:endParaRPr/>
          </a:p>
        </p:txBody>
      </p:sp>
      <p:sp>
        <p:nvSpPr>
          <p:cNvPr id="824" name="Google Shape;824;p44"/>
          <p:cNvSpPr txBox="1"/>
          <p:nvPr/>
        </p:nvSpPr>
        <p:spPr>
          <a:xfrm>
            <a:off x="4497085" y="5775093"/>
            <a:ext cx="4563411" cy="135862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0" i="0" lang="en-US" sz="2605" u="none" cap="none" strike="noStrike">
                <a:solidFill>
                  <a:srgbClr val="152540"/>
                </a:solidFill>
                <a:latin typeface="Arial"/>
                <a:ea typeface="Arial"/>
                <a:cs typeface="Arial"/>
                <a:sym typeface="Arial"/>
              </a:rPr>
              <a:t>Prevención, al configurar mecanismos que evitan caídas del servicio.</a:t>
            </a:r>
            <a:endParaRPr/>
          </a:p>
        </p:txBody>
      </p:sp>
      <p:sp>
        <p:nvSpPr>
          <p:cNvPr id="825" name="Google Shape;825;p44"/>
          <p:cNvSpPr txBox="1"/>
          <p:nvPr/>
        </p:nvSpPr>
        <p:spPr>
          <a:xfrm>
            <a:off x="9965241" y="5775093"/>
            <a:ext cx="4563411" cy="135862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0" i="0" lang="en-US" sz="2605" u="none" cap="none" strike="noStrike">
                <a:solidFill>
                  <a:srgbClr val="152540"/>
                </a:solidFill>
                <a:latin typeface="Arial"/>
                <a:ea typeface="Arial"/>
                <a:cs typeface="Arial"/>
                <a:sym typeface="Arial"/>
              </a:rPr>
              <a:t>Confiabilidad al realizar configuraciones que sean estables y seguras.</a:t>
            </a:r>
            <a:endParaRPr/>
          </a:p>
        </p:txBody>
      </p:sp>
      <p:cxnSp>
        <p:nvCxnSpPr>
          <p:cNvPr id="826" name="Google Shape;826;p44"/>
          <p:cNvCxnSpPr/>
          <p:nvPr/>
        </p:nvCxnSpPr>
        <p:spPr>
          <a:xfrm>
            <a:off x="4412531" y="5554699"/>
            <a:ext cx="4732518" cy="0"/>
          </a:xfrm>
          <a:prstGeom prst="straightConnector1">
            <a:avLst/>
          </a:prstGeom>
          <a:noFill/>
          <a:ln cap="flat" cmpd="sng" w="38100">
            <a:solidFill>
              <a:srgbClr val="253754"/>
            </a:solidFill>
            <a:prstDash val="solid"/>
            <a:round/>
            <a:headEnd len="sm" w="sm" type="none"/>
            <a:tailEnd len="sm" w="sm" type="none"/>
          </a:ln>
        </p:spPr>
      </p:cxnSp>
      <p:cxnSp>
        <p:nvCxnSpPr>
          <p:cNvPr id="827" name="Google Shape;827;p44"/>
          <p:cNvCxnSpPr/>
          <p:nvPr/>
        </p:nvCxnSpPr>
        <p:spPr>
          <a:xfrm>
            <a:off x="9880687" y="5554699"/>
            <a:ext cx="4732518" cy="0"/>
          </a:xfrm>
          <a:prstGeom prst="straightConnector1">
            <a:avLst/>
          </a:prstGeom>
          <a:noFill/>
          <a:ln cap="flat" cmpd="sng" w="38100">
            <a:solidFill>
              <a:srgbClr val="253754"/>
            </a:solidFill>
            <a:prstDash val="solid"/>
            <a:round/>
            <a:headEnd len="sm" w="sm" type="none"/>
            <a:tailEnd len="sm" w="sm" type="none"/>
          </a:ln>
        </p:spPr>
      </p:cxnSp>
      <p:cxnSp>
        <p:nvCxnSpPr>
          <p:cNvPr id="828" name="Google Shape;828;p44"/>
          <p:cNvCxnSpPr/>
          <p:nvPr/>
        </p:nvCxnSpPr>
        <p:spPr>
          <a:xfrm>
            <a:off x="15345588" y="5554699"/>
            <a:ext cx="4732518" cy="0"/>
          </a:xfrm>
          <a:prstGeom prst="straightConnector1">
            <a:avLst/>
          </a:prstGeom>
          <a:noFill/>
          <a:ln cap="flat" cmpd="sng" w="38100">
            <a:solidFill>
              <a:srgbClr val="253754"/>
            </a:solidFill>
            <a:prstDash val="solid"/>
            <a:round/>
            <a:headEnd len="sm" w="sm" type="none"/>
            <a:tailEnd len="sm" w="sm" type="none"/>
          </a:ln>
        </p:spPr>
      </p:cxnSp>
      <p:sp>
        <p:nvSpPr>
          <p:cNvPr id="829" name="Google Shape;829;p44"/>
          <p:cNvSpPr/>
          <p:nvPr/>
        </p:nvSpPr>
        <p:spPr>
          <a:xfrm>
            <a:off x="16321534" y="-285545"/>
            <a:ext cx="1966466" cy="1884231"/>
          </a:xfrm>
          <a:custGeom>
            <a:rect b="b" l="l" r="r" t="t"/>
            <a:pathLst>
              <a:path extrusionOk="0" h="1884231" w="1966466">
                <a:moveTo>
                  <a:pt x="0" y="0"/>
                </a:moveTo>
                <a:lnTo>
                  <a:pt x="1966466" y="0"/>
                </a:lnTo>
                <a:lnTo>
                  <a:pt x="1966466" y="1884232"/>
                </a:lnTo>
                <a:lnTo>
                  <a:pt x="0" y="1884232"/>
                </a:lnTo>
                <a:lnTo>
                  <a:pt x="0" y="0"/>
                </a:lnTo>
                <a:close/>
              </a:path>
            </a:pathLst>
          </a:custGeom>
          <a:blipFill rotWithShape="1">
            <a:blip r:embed="rId3">
              <a:alphaModFix/>
            </a:blip>
            <a:stretch>
              <a:fillRect b="0" l="0" r="0" t="0"/>
            </a:stretch>
          </a:blipFill>
          <a:ln>
            <a:noFill/>
          </a:ln>
        </p:spPr>
      </p:sp>
      <p:sp>
        <p:nvSpPr>
          <p:cNvPr id="830" name="Google Shape;830;p44"/>
          <p:cNvSpPr/>
          <p:nvPr/>
        </p:nvSpPr>
        <p:spPr>
          <a:xfrm>
            <a:off x="17304767" y="854768"/>
            <a:ext cx="1966466" cy="1884231"/>
          </a:xfrm>
          <a:custGeom>
            <a:rect b="b" l="l" r="r" t="t"/>
            <a:pathLst>
              <a:path extrusionOk="0" h="1884231" w="1966466">
                <a:moveTo>
                  <a:pt x="0" y="0"/>
                </a:moveTo>
                <a:lnTo>
                  <a:pt x="1966466" y="0"/>
                </a:lnTo>
                <a:lnTo>
                  <a:pt x="1966466" y="1884232"/>
                </a:lnTo>
                <a:lnTo>
                  <a:pt x="0" y="1884232"/>
                </a:lnTo>
                <a:lnTo>
                  <a:pt x="0" y="0"/>
                </a:lnTo>
                <a:close/>
              </a:path>
            </a:pathLst>
          </a:custGeom>
          <a:blipFill rotWithShape="1">
            <a:blip r:embed="rId3">
              <a:alphaModFix/>
            </a:blip>
            <a:stretch>
              <a:fillRect b="0" l="0" r="0" t="0"/>
            </a:stretch>
          </a:blipFill>
          <a:ln>
            <a:noFill/>
          </a:ln>
        </p:spPr>
      </p:sp>
      <p:sp>
        <p:nvSpPr>
          <p:cNvPr id="831" name="Google Shape;831;p44"/>
          <p:cNvSpPr/>
          <p:nvPr/>
        </p:nvSpPr>
        <p:spPr>
          <a:xfrm>
            <a:off x="0" y="9258300"/>
            <a:ext cx="1966466" cy="1884231"/>
          </a:xfrm>
          <a:custGeom>
            <a:rect b="b" l="l" r="r" t="t"/>
            <a:pathLst>
              <a:path extrusionOk="0" h="1884231" w="1966466">
                <a:moveTo>
                  <a:pt x="0" y="0"/>
                </a:moveTo>
                <a:lnTo>
                  <a:pt x="1966466" y="0"/>
                </a:lnTo>
                <a:lnTo>
                  <a:pt x="1966466" y="1884231"/>
                </a:lnTo>
                <a:lnTo>
                  <a:pt x="0" y="1884231"/>
                </a:lnTo>
                <a:lnTo>
                  <a:pt x="0" y="0"/>
                </a:lnTo>
                <a:close/>
              </a:path>
            </a:pathLst>
          </a:custGeom>
          <a:blipFill rotWithShape="1">
            <a:blip r:embed="rId3">
              <a:alphaModFix/>
            </a:blip>
            <a:stretch>
              <a:fillRect b="0" l="0" r="0" t="0"/>
            </a:stretch>
          </a:blipFill>
          <a:ln>
            <a:noFill/>
          </a:ln>
        </p:spPr>
      </p:sp>
      <p:sp>
        <p:nvSpPr>
          <p:cNvPr id="832" name="Google Shape;832;p44"/>
          <p:cNvSpPr/>
          <p:nvPr/>
        </p:nvSpPr>
        <p:spPr>
          <a:xfrm>
            <a:off x="-937766" y="8402769"/>
            <a:ext cx="1966466" cy="1884231"/>
          </a:xfrm>
          <a:custGeom>
            <a:rect b="b" l="l" r="r" t="t"/>
            <a:pathLst>
              <a:path extrusionOk="0" h="1884231" w="1966466">
                <a:moveTo>
                  <a:pt x="0" y="0"/>
                </a:moveTo>
                <a:lnTo>
                  <a:pt x="1966466" y="0"/>
                </a:lnTo>
                <a:lnTo>
                  <a:pt x="1966466" y="1884231"/>
                </a:lnTo>
                <a:lnTo>
                  <a:pt x="0" y="1884231"/>
                </a:lnTo>
                <a:lnTo>
                  <a:pt x="0" y="0"/>
                </a:lnTo>
                <a:close/>
              </a:path>
            </a:pathLst>
          </a:custGeom>
          <a:blipFill rotWithShape="1">
            <a:blip r:embed="rId3">
              <a:alphaModFix/>
            </a:blip>
            <a:stretch>
              <a:fillRect b="0" l="0" r="0" t="0"/>
            </a:stretch>
          </a:blipFill>
          <a:ln>
            <a:noFill/>
          </a:ln>
        </p:spPr>
      </p:sp>
      <p:sp>
        <p:nvSpPr>
          <p:cNvPr id="833" name="Google Shape;833;p44"/>
          <p:cNvSpPr/>
          <p:nvPr/>
        </p:nvSpPr>
        <p:spPr>
          <a:xfrm rot="672866">
            <a:off x="-1045588" y="-1783519"/>
            <a:ext cx="6556116" cy="6126988"/>
          </a:xfrm>
          <a:custGeom>
            <a:rect b="b" l="l" r="r" t="t"/>
            <a:pathLst>
              <a:path extrusionOk="0" h="6126988" w="6556116">
                <a:moveTo>
                  <a:pt x="0" y="0"/>
                </a:moveTo>
                <a:lnTo>
                  <a:pt x="6556116" y="0"/>
                </a:lnTo>
                <a:lnTo>
                  <a:pt x="6556116" y="6126988"/>
                </a:lnTo>
                <a:lnTo>
                  <a:pt x="0" y="6126988"/>
                </a:lnTo>
                <a:lnTo>
                  <a:pt x="0" y="0"/>
                </a:lnTo>
                <a:close/>
              </a:path>
            </a:pathLst>
          </a:custGeom>
          <a:blipFill rotWithShape="1">
            <a:blip r:embed="rId4">
              <a:alphaModFix/>
            </a:blip>
            <a:stretch>
              <a:fillRect b="0" l="0" r="0" t="0"/>
            </a:stretch>
          </a:blipFill>
          <a:ln>
            <a:noFill/>
          </a:ln>
        </p:spPr>
      </p:sp>
      <p:sp>
        <p:nvSpPr>
          <p:cNvPr id="834" name="Google Shape;834;p44"/>
          <p:cNvSpPr/>
          <p:nvPr/>
        </p:nvSpPr>
        <p:spPr>
          <a:xfrm rot="-10799999">
            <a:off x="12715117" y="7583041"/>
            <a:ext cx="6556116" cy="6126988"/>
          </a:xfrm>
          <a:custGeom>
            <a:rect b="b" l="l" r="r" t="t"/>
            <a:pathLst>
              <a:path extrusionOk="0" h="6126988" w="6556116">
                <a:moveTo>
                  <a:pt x="0" y="0"/>
                </a:moveTo>
                <a:lnTo>
                  <a:pt x="6556116" y="0"/>
                </a:lnTo>
                <a:lnTo>
                  <a:pt x="6556116" y="6126988"/>
                </a:lnTo>
                <a:lnTo>
                  <a:pt x="0" y="612698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838" name="Shape 838"/>
        <p:cNvGrpSpPr/>
        <p:nvPr/>
      </p:nvGrpSpPr>
      <p:grpSpPr>
        <a:xfrm>
          <a:off x="0" y="0"/>
          <a:ext cx="0" cy="0"/>
          <a:chOff x="0" y="0"/>
          <a:chExt cx="0" cy="0"/>
        </a:xfrm>
      </p:grpSpPr>
      <p:sp>
        <p:nvSpPr>
          <p:cNvPr id="839" name="Google Shape;839;p45"/>
          <p:cNvSpPr/>
          <p:nvPr/>
        </p:nvSpPr>
        <p:spPr>
          <a:xfrm rot="-6666580">
            <a:off x="9654716" y="2742945"/>
            <a:ext cx="9400422" cy="9722890"/>
          </a:xfrm>
          <a:custGeom>
            <a:rect b="b" l="l" r="r" t="t"/>
            <a:pathLst>
              <a:path extrusionOk="0" h="9722890" w="9400422">
                <a:moveTo>
                  <a:pt x="0" y="0"/>
                </a:moveTo>
                <a:lnTo>
                  <a:pt x="9400422" y="0"/>
                </a:lnTo>
                <a:lnTo>
                  <a:pt x="9400422" y="9722890"/>
                </a:lnTo>
                <a:lnTo>
                  <a:pt x="0" y="9722890"/>
                </a:lnTo>
                <a:lnTo>
                  <a:pt x="0" y="0"/>
                </a:lnTo>
                <a:close/>
              </a:path>
            </a:pathLst>
          </a:custGeom>
          <a:blipFill rotWithShape="1">
            <a:blip r:embed="rId3">
              <a:alphaModFix amt="8999"/>
            </a:blip>
            <a:stretch>
              <a:fillRect b="0" l="0" r="0" t="0"/>
            </a:stretch>
          </a:blipFill>
          <a:ln>
            <a:noFill/>
          </a:ln>
        </p:spPr>
      </p:sp>
      <p:sp>
        <p:nvSpPr>
          <p:cNvPr id="840" name="Google Shape;840;p45"/>
          <p:cNvSpPr/>
          <p:nvPr/>
        </p:nvSpPr>
        <p:spPr>
          <a:xfrm rot="5631316">
            <a:off x="-341565" y="-1602678"/>
            <a:ext cx="8656207" cy="8953145"/>
          </a:xfrm>
          <a:custGeom>
            <a:rect b="b" l="l" r="r" t="t"/>
            <a:pathLst>
              <a:path extrusionOk="0" h="8953145" w="8656207">
                <a:moveTo>
                  <a:pt x="0" y="0"/>
                </a:moveTo>
                <a:lnTo>
                  <a:pt x="8656206" y="0"/>
                </a:lnTo>
                <a:lnTo>
                  <a:pt x="8656206" y="8953145"/>
                </a:lnTo>
                <a:lnTo>
                  <a:pt x="0" y="8953145"/>
                </a:lnTo>
                <a:lnTo>
                  <a:pt x="0" y="0"/>
                </a:lnTo>
                <a:close/>
              </a:path>
            </a:pathLst>
          </a:custGeom>
          <a:blipFill rotWithShape="1">
            <a:blip r:embed="rId4">
              <a:alphaModFix amt="8999"/>
            </a:blip>
            <a:stretch>
              <a:fillRect b="0" l="0" r="0" t="0"/>
            </a:stretch>
          </a:blipFill>
          <a:ln>
            <a:noFill/>
          </a:ln>
        </p:spPr>
      </p:sp>
      <p:sp>
        <p:nvSpPr>
          <p:cNvPr id="841" name="Google Shape;841;p45"/>
          <p:cNvSpPr/>
          <p:nvPr/>
        </p:nvSpPr>
        <p:spPr>
          <a:xfrm>
            <a:off x="-330749" y="1468727"/>
            <a:ext cx="8343860" cy="9123127"/>
          </a:xfrm>
          <a:custGeom>
            <a:rect b="b" l="l" r="r" t="t"/>
            <a:pathLst>
              <a:path extrusionOk="0" h="9123127" w="8343860">
                <a:moveTo>
                  <a:pt x="0" y="0"/>
                </a:moveTo>
                <a:lnTo>
                  <a:pt x="8343860" y="0"/>
                </a:lnTo>
                <a:lnTo>
                  <a:pt x="8343860" y="9123127"/>
                </a:lnTo>
                <a:lnTo>
                  <a:pt x="0" y="9123127"/>
                </a:lnTo>
                <a:lnTo>
                  <a:pt x="0" y="0"/>
                </a:lnTo>
                <a:close/>
              </a:path>
            </a:pathLst>
          </a:custGeom>
          <a:blipFill rotWithShape="1">
            <a:blip r:embed="rId5">
              <a:alphaModFix/>
            </a:blip>
            <a:stretch>
              <a:fillRect b="0" l="0" r="0" t="0"/>
            </a:stretch>
          </a:blipFill>
          <a:ln>
            <a:noFill/>
          </a:ln>
        </p:spPr>
      </p:sp>
      <p:sp>
        <p:nvSpPr>
          <p:cNvPr id="842" name="Google Shape;842;p45"/>
          <p:cNvSpPr/>
          <p:nvPr/>
        </p:nvSpPr>
        <p:spPr>
          <a:xfrm rot="10800000">
            <a:off x="10613756" y="-239704"/>
            <a:ext cx="7797854" cy="8526128"/>
          </a:xfrm>
          <a:custGeom>
            <a:rect b="b" l="l" r="r" t="t"/>
            <a:pathLst>
              <a:path extrusionOk="0" h="8526128" w="7797854">
                <a:moveTo>
                  <a:pt x="0" y="0"/>
                </a:moveTo>
                <a:lnTo>
                  <a:pt x="7797854" y="0"/>
                </a:lnTo>
                <a:lnTo>
                  <a:pt x="7797854" y="8526127"/>
                </a:lnTo>
                <a:lnTo>
                  <a:pt x="0" y="8526127"/>
                </a:lnTo>
                <a:lnTo>
                  <a:pt x="0" y="0"/>
                </a:lnTo>
                <a:close/>
              </a:path>
            </a:pathLst>
          </a:custGeom>
          <a:blipFill rotWithShape="1">
            <a:blip r:embed="rId6">
              <a:alphaModFix/>
            </a:blip>
            <a:stretch>
              <a:fillRect b="0" l="0" r="0" t="0"/>
            </a:stretch>
          </a:blipFill>
          <a:ln>
            <a:noFill/>
          </a:ln>
        </p:spPr>
      </p:sp>
      <p:sp>
        <p:nvSpPr>
          <p:cNvPr id="843" name="Google Shape;843;p45"/>
          <p:cNvSpPr txBox="1"/>
          <p:nvPr/>
        </p:nvSpPr>
        <p:spPr>
          <a:xfrm>
            <a:off x="4894609" y="3925189"/>
            <a:ext cx="8498783" cy="4162578"/>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None/>
            </a:pPr>
            <a:r>
              <a:rPr b="0" i="0" lang="en-US" sz="2993" u="none" cap="none" strike="noStrike">
                <a:solidFill>
                  <a:srgbClr val="3D2917"/>
                </a:solidFill>
                <a:latin typeface="Arial"/>
                <a:ea typeface="Arial"/>
                <a:cs typeface="Arial"/>
                <a:sym typeface="Arial"/>
              </a:rPr>
              <a:t>https://www.cisco.com/c/en/us/td/docs/security/asa/asa923/configuration/firewall/asa-923-firewall-config/access-acls.html</a:t>
            </a:r>
            <a:endParaRPr/>
          </a:p>
          <a:p>
            <a:pPr indent="0" lvl="0" marL="0" marR="0" rtl="0" algn="ctr">
              <a:lnSpc>
                <a:spcPct val="140026"/>
              </a:lnSpc>
              <a:spcBef>
                <a:spcPts val="0"/>
              </a:spcBef>
              <a:spcAft>
                <a:spcPts val="0"/>
              </a:spcAft>
              <a:buNone/>
            </a:pPr>
            <a:r>
              <a:t/>
            </a:r>
            <a:endParaRPr b="0" i="0" sz="2993" u="none" cap="none" strike="noStrike">
              <a:solidFill>
                <a:srgbClr val="3D2917"/>
              </a:solidFill>
              <a:latin typeface="Arial"/>
              <a:ea typeface="Arial"/>
              <a:cs typeface="Arial"/>
              <a:sym typeface="Arial"/>
            </a:endParaRPr>
          </a:p>
          <a:p>
            <a:pPr indent="0" lvl="0" marL="0" marR="0" rtl="0" algn="ctr">
              <a:lnSpc>
                <a:spcPct val="140026"/>
              </a:lnSpc>
              <a:spcBef>
                <a:spcPts val="0"/>
              </a:spcBef>
              <a:spcAft>
                <a:spcPts val="0"/>
              </a:spcAft>
              <a:buNone/>
            </a:pPr>
            <a:r>
              <a:rPr b="0" i="0" lang="en-US" sz="2993" u="none" cap="none" strike="noStrike">
                <a:solidFill>
                  <a:srgbClr val="3D2917"/>
                </a:solidFill>
                <a:latin typeface="Arial"/>
                <a:ea typeface="Arial"/>
                <a:cs typeface="Arial"/>
                <a:sym typeface="Arial"/>
              </a:rPr>
              <a:t>https://www.cisco.com/c/en/us/td/docs/routers/sdwan/configuration/system-interface/ios-xe-17/systems-interfaces-book-xe-sdwan/m-hot-standby-router-protocol.html</a:t>
            </a:r>
            <a:endParaRPr/>
          </a:p>
        </p:txBody>
      </p:sp>
      <p:sp>
        <p:nvSpPr>
          <p:cNvPr id="844" name="Google Shape;844;p45"/>
          <p:cNvSpPr txBox="1"/>
          <p:nvPr/>
        </p:nvSpPr>
        <p:spPr>
          <a:xfrm>
            <a:off x="4760103" y="1180725"/>
            <a:ext cx="8767800" cy="19764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12841" u="none" cap="none" strike="noStrike">
                <a:solidFill>
                  <a:srgbClr val="3D2917"/>
                </a:solidFill>
                <a:latin typeface="Arial"/>
                <a:ea typeface="Arial"/>
                <a:cs typeface="Arial"/>
                <a:sym typeface="Arial"/>
              </a:rPr>
              <a:t>Referencias</a:t>
            </a:r>
            <a:endParaRPr sz="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754"/>
        </a:solidFill>
      </p:bgPr>
    </p:bg>
    <p:spTree>
      <p:nvGrpSpPr>
        <p:cNvPr id="848" name="Shape 848"/>
        <p:cNvGrpSpPr/>
        <p:nvPr/>
      </p:nvGrpSpPr>
      <p:grpSpPr>
        <a:xfrm>
          <a:off x="0" y="0"/>
          <a:ext cx="0" cy="0"/>
          <a:chOff x="0" y="0"/>
          <a:chExt cx="0" cy="0"/>
        </a:xfrm>
      </p:grpSpPr>
      <p:sp>
        <p:nvSpPr>
          <p:cNvPr id="849" name="Google Shape;849;p46"/>
          <p:cNvSpPr txBox="1"/>
          <p:nvPr/>
        </p:nvSpPr>
        <p:spPr>
          <a:xfrm>
            <a:off x="1838715" y="1447598"/>
            <a:ext cx="12921327" cy="4217017"/>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1" i="0" lang="en-US" sz="12100" u="none" cap="none" strike="noStrike">
                <a:solidFill>
                  <a:srgbClr val="EDE8E4"/>
                </a:solidFill>
                <a:latin typeface="Arial"/>
                <a:ea typeface="Arial"/>
                <a:cs typeface="Arial"/>
                <a:sym typeface="Arial"/>
              </a:rPr>
              <a:t>¡GRACIAS POR SU ATENCIÓN!</a:t>
            </a:r>
            <a:endParaRPr/>
          </a:p>
        </p:txBody>
      </p:sp>
      <p:cxnSp>
        <p:nvCxnSpPr>
          <p:cNvPr id="850" name="Google Shape;850;p46"/>
          <p:cNvCxnSpPr/>
          <p:nvPr/>
        </p:nvCxnSpPr>
        <p:spPr>
          <a:xfrm rot="10800000">
            <a:off x="1478627" y="1685723"/>
            <a:ext cx="0" cy="6915554"/>
          </a:xfrm>
          <a:prstGeom prst="straightConnector1">
            <a:avLst/>
          </a:prstGeom>
          <a:noFill/>
          <a:ln cap="flat" cmpd="sng" w="66675">
            <a:solidFill>
              <a:srgbClr val="E3D8D4"/>
            </a:solidFill>
            <a:prstDash val="solid"/>
            <a:round/>
            <a:headEnd len="sm" w="sm" type="none"/>
            <a:tailEnd len="sm" w="sm" type="none"/>
          </a:ln>
        </p:spPr>
      </p:cxnSp>
      <p:sp>
        <p:nvSpPr>
          <p:cNvPr id="851" name="Google Shape;851;p46"/>
          <p:cNvSpPr/>
          <p:nvPr/>
        </p:nvSpPr>
        <p:spPr>
          <a:xfrm rot="5400000">
            <a:off x="11536954" y="-795893"/>
            <a:ext cx="10116277" cy="9454121"/>
          </a:xfrm>
          <a:custGeom>
            <a:rect b="b" l="l" r="r" t="t"/>
            <a:pathLst>
              <a:path extrusionOk="0" h="9454121" w="10116277">
                <a:moveTo>
                  <a:pt x="0" y="0"/>
                </a:moveTo>
                <a:lnTo>
                  <a:pt x="10116278" y="0"/>
                </a:lnTo>
                <a:lnTo>
                  <a:pt x="10116278" y="9454121"/>
                </a:lnTo>
                <a:lnTo>
                  <a:pt x="0" y="9454121"/>
                </a:lnTo>
                <a:lnTo>
                  <a:pt x="0" y="0"/>
                </a:lnTo>
                <a:close/>
              </a:path>
            </a:pathLst>
          </a:custGeom>
          <a:blipFill rotWithShape="1">
            <a:blip r:embed="rId3">
              <a:alphaModFix/>
            </a:blip>
            <a:stretch>
              <a:fillRect b="0" l="0" r="0" t="0"/>
            </a:stretch>
          </a:blipFill>
          <a:ln>
            <a:noFill/>
          </a:ln>
        </p:spPr>
      </p:sp>
      <p:sp>
        <p:nvSpPr>
          <p:cNvPr id="852" name="Google Shape;852;p46"/>
          <p:cNvSpPr/>
          <p:nvPr/>
        </p:nvSpPr>
        <p:spPr>
          <a:xfrm>
            <a:off x="11088347" y="6044518"/>
            <a:ext cx="2928660" cy="4004230"/>
          </a:xfrm>
          <a:custGeom>
            <a:rect b="b" l="l" r="r" t="t"/>
            <a:pathLst>
              <a:path extrusionOk="0" h="4004230" w="2928660">
                <a:moveTo>
                  <a:pt x="0" y="0"/>
                </a:moveTo>
                <a:lnTo>
                  <a:pt x="2928660" y="0"/>
                </a:lnTo>
                <a:lnTo>
                  <a:pt x="2928660" y="4004230"/>
                </a:lnTo>
                <a:lnTo>
                  <a:pt x="0" y="4004230"/>
                </a:lnTo>
                <a:lnTo>
                  <a:pt x="0" y="0"/>
                </a:lnTo>
                <a:close/>
              </a:path>
            </a:pathLst>
          </a:custGeom>
          <a:blipFill rotWithShape="1">
            <a:blip r:embed="rId4">
              <a:alphaModFix/>
            </a:blip>
            <a:stretch>
              <a:fillRect b="0" l="0" r="0" t="0"/>
            </a:stretch>
          </a:blipFill>
          <a:ln>
            <a:noFill/>
          </a:ln>
        </p:spPr>
      </p:sp>
      <p:sp>
        <p:nvSpPr>
          <p:cNvPr id="853" name="Google Shape;853;p46"/>
          <p:cNvSpPr txBox="1"/>
          <p:nvPr/>
        </p:nvSpPr>
        <p:spPr>
          <a:xfrm>
            <a:off x="2137811" y="6356915"/>
            <a:ext cx="8324690" cy="3691832"/>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7326" u="none" cap="none" strike="noStrike">
                <a:solidFill>
                  <a:srgbClr val="EDE8E4"/>
                </a:solidFill>
                <a:latin typeface="Arial"/>
                <a:ea typeface="Arial"/>
                <a:cs typeface="Arial"/>
                <a:sym typeface="Arial"/>
              </a:rPr>
              <a:t>¿DUDAS?</a:t>
            </a:r>
            <a:endParaRPr/>
          </a:p>
          <a:p>
            <a:pPr indent="0" lvl="0" marL="0" marR="0" rtl="0" algn="ctr">
              <a:lnSpc>
                <a:spcPct val="140007"/>
              </a:lnSpc>
              <a:spcBef>
                <a:spcPts val="0"/>
              </a:spcBef>
              <a:spcAft>
                <a:spcPts val="0"/>
              </a:spcAft>
              <a:buNone/>
            </a:pPr>
            <a:r>
              <a:rPr b="1" i="0" lang="en-US" sz="2727" u="none" cap="none" strike="noStrike">
                <a:solidFill>
                  <a:srgbClr val="EDE8E4"/>
                </a:solidFill>
                <a:latin typeface="Arial"/>
                <a:ea typeface="Arial"/>
                <a:cs typeface="Arial"/>
                <a:sym typeface="Arial"/>
              </a:rPr>
              <a:t>RECUERDA QUE TENEMOS NUESTRO FORO SEMANAL DONDE PUEDES CONSULTAR CUALQUIER DUDA QUE TE SURJA EN LA SEMANA</a:t>
            </a:r>
            <a:endParaRPr/>
          </a:p>
          <a:p>
            <a:pPr indent="0" lvl="0" marL="0" marR="0" rtl="0" algn="ctr">
              <a:lnSpc>
                <a:spcPct val="140007"/>
              </a:lnSpc>
              <a:spcBef>
                <a:spcPts val="0"/>
              </a:spcBef>
              <a:spcAft>
                <a:spcPts val="0"/>
              </a:spcAft>
              <a:buNone/>
            </a:pPr>
            <a:r>
              <a:t/>
            </a:r>
            <a:endParaRPr b="1" i="0" sz="2727" u="none" cap="none" strike="noStrike">
              <a:solidFill>
                <a:srgbClr val="EDE8E4"/>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