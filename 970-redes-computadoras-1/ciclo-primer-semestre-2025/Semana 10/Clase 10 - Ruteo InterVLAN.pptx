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ial Bold" charset="1" panose="020B0802020202020204"/>
      <p:regular r:id="rId30"/>
    </p:embeddedFont>
    <p:embeddedFont>
      <p:font typeface="Arial" charset="1" panose="020B0502020202020204"/>
      <p:regular r:id="rId31"/>
    </p:embeddedFont>
    <p:embeddedFont>
      <p:font typeface="Monterchi Serif Bold" charset="1" panose="02000503060000020004"/>
      <p:regular r:id="rId32"/>
    </p:embeddedFont>
    <p:embeddedFont>
      <p:font typeface="Roboto" charset="1" panose="02000000000000000000"/>
      <p:regular r:id="rId33"/>
    </p:embeddedFont>
    <p:embeddedFont>
      <p:font typeface="Open Sans Bold" charset="1" panose="020B0806030504020204"/>
      <p:regular r:id="rId34"/>
    </p:embeddedFont>
    <p:embeddedFont>
      <p:font typeface="Roboto Bold" charset="1" panose="02000000000000000000"/>
      <p:regular r:id="rId35"/>
    </p:embeddedFont>
    <p:embeddedFont>
      <p:font typeface="Monterchi Serif" charset="1" panose="02000503060000020004"/>
      <p:regular r:id="rId36"/>
    </p:embeddedFont>
    <p:embeddedFont>
      <p:font typeface="Fredoka" charset="1" panose="02000000000000000000"/>
      <p:regular r:id="rId37"/>
    </p:embeddedFont>
    <p:embeddedFont>
      <p:font typeface="Overpass" charset="1" panose="00000500000000000000"/>
      <p:regular r:id="rId38"/>
    </p:embeddedFont>
    <p:embeddedFont>
      <p:font typeface="Garet" charset="1" panose="000000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https://ccnadesdecero.es/funcionamiento-enrutamiento-entre-vlan/"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https://ccnadesdecero.es/funcionamiento-enrutamiento-entre-vlan/"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60" y="0"/>
            <a:ext cx="18253440" cy="10286640"/>
          </a:xfrm>
          <a:custGeom>
            <a:avLst/>
            <a:gdLst/>
            <a:ahLst/>
            <a:cxnLst/>
            <a:rect r="r" b="b" t="t" l="l"/>
            <a:pathLst>
              <a:path h="10286640" w="18253440">
                <a:moveTo>
                  <a:pt x="0" y="0"/>
                </a:moveTo>
                <a:lnTo>
                  <a:pt x="18253440" y="0"/>
                </a:lnTo>
                <a:lnTo>
                  <a:pt x="18253440" y="10286640"/>
                </a:lnTo>
                <a:lnTo>
                  <a:pt x="0" y="10286640"/>
                </a:lnTo>
                <a:lnTo>
                  <a:pt x="0" y="0"/>
                </a:lnTo>
                <a:close/>
              </a:path>
            </a:pathLst>
          </a:custGeom>
          <a:blipFill>
            <a:blip r:embed="rId2">
              <a:alphaModFix amt="62000"/>
            </a:blip>
            <a:stretch>
              <a:fillRect l="0" t="0" r="0" b="0"/>
            </a:stretch>
          </a:blipFill>
        </p:spPr>
      </p:sp>
      <p:graphicFrame>
        <p:nvGraphicFramePr>
          <p:cNvPr name="Table 3" id="3"/>
          <p:cNvGraphicFramePr>
            <a:graphicFrameLocks noGrp="true"/>
          </p:cNvGraphicFramePr>
          <p:nvPr/>
        </p:nvGraphicFramePr>
        <p:xfrm>
          <a:off x="10656720" y="1940400"/>
          <a:ext cx="7366000" cy="1438110"/>
        </p:xfrm>
        <a:graphic>
          <a:graphicData uri="http://schemas.openxmlformats.org/drawingml/2006/table">
            <a:tbl>
              <a:tblPr/>
              <a:tblGrid>
                <a:gridCol w="3036741"/>
                <a:gridCol w="4329259"/>
              </a:tblGrid>
              <a:tr h="719055">
                <a:tc>
                  <a:txBody>
                    <a:bodyPr anchor="t" rtlCol="false"/>
                    <a:lstStyle/>
                    <a:p>
                      <a:pPr algn="l">
                        <a:lnSpc>
                          <a:spcPts val="3408"/>
                        </a:lnSpc>
                        <a:defRPr/>
                      </a:pPr>
                      <a:r>
                        <a:rPr lang="en-US" sz="2840" b="true">
                          <a:solidFill>
                            <a:srgbClr val="000000"/>
                          </a:solidFill>
                          <a:latin typeface="Arial Bold"/>
                          <a:ea typeface="Arial Bold"/>
                          <a:cs typeface="Arial Bold"/>
                          <a:sym typeface="Arial Bold"/>
                        </a:rPr>
                        <a:t>Día, Fecha:</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c>
                  <a:txBody>
                    <a:bodyPr anchor="t" rtlCol="false"/>
                    <a:lstStyle/>
                    <a:p>
                      <a:pPr algn="l">
                        <a:lnSpc>
                          <a:spcPts val="3919"/>
                        </a:lnSpc>
                        <a:defRPr/>
                      </a:pPr>
                      <a:r>
                        <a:rPr lang="en-US" sz="2799">
                          <a:solidFill>
                            <a:srgbClr val="000000"/>
                          </a:solidFill>
                          <a:latin typeface="Arial"/>
                          <a:ea typeface="Arial"/>
                          <a:cs typeface="Arial"/>
                          <a:sym typeface="Arial"/>
                        </a:rPr>
                        <a:t>Día, dd/mm/yyyy</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r>
              <a:tr h="719055">
                <a:tc>
                  <a:txBody>
                    <a:bodyPr anchor="t" rtlCol="false"/>
                    <a:lstStyle/>
                    <a:p>
                      <a:pPr algn="l">
                        <a:lnSpc>
                          <a:spcPts val="3408"/>
                        </a:lnSpc>
                        <a:defRPr/>
                      </a:pPr>
                      <a:r>
                        <a:rPr lang="en-US" sz="2840" b="true">
                          <a:solidFill>
                            <a:srgbClr val="000000"/>
                          </a:solidFill>
                          <a:latin typeface="Arial Bold"/>
                          <a:ea typeface="Arial Bold"/>
                          <a:cs typeface="Arial Bold"/>
                          <a:sym typeface="Arial Bold"/>
                        </a:rPr>
                        <a:t>Hora de inicio:</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c>
                  <a:txBody>
                    <a:bodyPr anchor="t" rtlCol="false"/>
                    <a:lstStyle/>
                    <a:p>
                      <a:pPr algn="l">
                        <a:lnSpc>
                          <a:spcPts val="3919"/>
                        </a:lnSpc>
                        <a:defRPr/>
                      </a:pPr>
                      <a:r>
                        <a:rPr lang="en-US" sz="2799">
                          <a:solidFill>
                            <a:srgbClr val="000000"/>
                          </a:solidFill>
                          <a:latin typeface="Arial"/>
                          <a:ea typeface="Arial"/>
                          <a:cs typeface="Arial"/>
                          <a:sym typeface="Arial"/>
                        </a:rPr>
                        <a:t>00:00 hrs</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r>
            </a:tbl>
          </a:graphicData>
        </a:graphic>
      </p:graphicFrame>
      <p:sp>
        <p:nvSpPr>
          <p:cNvPr name="TextBox 4" id="4"/>
          <p:cNvSpPr txBox="true"/>
          <p:nvPr/>
        </p:nvSpPr>
        <p:spPr>
          <a:xfrm rot="0">
            <a:off x="1618360" y="4512750"/>
            <a:ext cx="15051280" cy="8477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Laboratorio de Redes de Computadoras 1 [Sección]</a:t>
            </a:r>
          </a:p>
        </p:txBody>
      </p:sp>
      <p:sp>
        <p:nvSpPr>
          <p:cNvPr name="TextBox 5" id="5"/>
          <p:cNvSpPr txBox="true"/>
          <p:nvPr/>
        </p:nvSpPr>
        <p:spPr>
          <a:xfrm rot="0">
            <a:off x="3648960" y="5807475"/>
            <a:ext cx="10989360" cy="685800"/>
          </a:xfrm>
          <a:prstGeom prst="rect">
            <a:avLst/>
          </a:prstGeom>
        </p:spPr>
        <p:txBody>
          <a:bodyPr anchor="t" rtlCol="false" tIns="0" lIns="0" bIns="0" rIns="0">
            <a:spAutoFit/>
          </a:bodyPr>
          <a:lstStyle/>
          <a:p>
            <a:pPr algn="l">
              <a:lnSpc>
                <a:spcPts val="4800"/>
              </a:lnSpc>
            </a:pPr>
            <a:r>
              <a:rPr lang="en-US" sz="4000">
                <a:solidFill>
                  <a:srgbClr val="000000"/>
                </a:solidFill>
                <a:latin typeface="Arial"/>
                <a:ea typeface="Arial"/>
                <a:cs typeface="Arial"/>
                <a:sym typeface="Arial"/>
              </a:rPr>
              <a:t>Nombre Auxiliar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2207003" y="3957898"/>
            <a:ext cx="14239826" cy="250278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DISPOSITIVOS Y PROTOCOLOS EN LA CAPA 3: ENRUTAMIENTO, ALTA DISPONIBILIDAD Y SEGURIDAD</a:t>
            </a:r>
          </a:p>
        </p:txBody>
      </p:sp>
      <p:grpSp>
        <p:nvGrpSpPr>
          <p:cNvPr name="Group 3" id="3"/>
          <p:cNvGrpSpPr/>
          <p:nvPr/>
        </p:nvGrpSpPr>
        <p:grpSpPr>
          <a:xfrm rot="-5400000">
            <a:off x="-206005" y="835928"/>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5400000">
            <a:off x="14572655" y="8364469"/>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5400000">
            <a:off x="218303" y="1756286"/>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5400000">
            <a:off x="14996963" y="9284827"/>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57150"/>
            <a:ext cx="3199671" cy="423584"/>
          </a:xfrm>
          <a:prstGeom prst="rect">
            <a:avLst/>
          </a:prstGeom>
        </p:spPr>
        <p:txBody>
          <a:bodyPr anchor="t" rtlCol="false" tIns="0" lIns="0" bIns="0" rIns="0">
            <a:spAutoFit/>
          </a:bodyPr>
          <a:lstStyle/>
          <a:p>
            <a:pPr algn="ctr">
              <a:lnSpc>
                <a:spcPts val="3341"/>
              </a:lnSpc>
            </a:pPr>
            <a:r>
              <a:rPr lang="en-US" sz="2439" spc="-9">
                <a:solidFill>
                  <a:srgbClr val="6C9286"/>
                </a:solidFill>
                <a:latin typeface="Roboto"/>
                <a:ea typeface="Roboto"/>
                <a:cs typeface="Roboto"/>
                <a:sym typeface="Roboto"/>
              </a:rPr>
              <a:t>Clase #10</a:t>
            </a:r>
          </a:p>
        </p:txBody>
      </p:sp>
      <p:sp>
        <p:nvSpPr>
          <p:cNvPr name="Freeform 16" id="16"/>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17" id="17"/>
          <p:cNvSpPr txBox="true"/>
          <p:nvPr/>
        </p:nvSpPr>
        <p:spPr>
          <a:xfrm rot="0">
            <a:off x="1028700" y="7834026"/>
            <a:ext cx="8469904" cy="863600"/>
          </a:xfrm>
          <a:prstGeom prst="rect">
            <a:avLst/>
          </a:prstGeom>
        </p:spPr>
        <p:txBody>
          <a:bodyPr anchor="t" rtlCol="false" tIns="0" lIns="0" bIns="0" rIns="0">
            <a:spAutoFit/>
          </a:bodyPr>
          <a:lstStyle/>
          <a:p>
            <a:pPr algn="l">
              <a:lnSpc>
                <a:spcPts val="7000"/>
              </a:lnSpc>
            </a:pPr>
            <a:r>
              <a:rPr lang="en-US" sz="5000" b="true">
                <a:solidFill>
                  <a:srgbClr val="365B6D"/>
                </a:solidFill>
                <a:latin typeface="Open Sans Bold"/>
                <a:ea typeface="Open Sans Bold"/>
                <a:cs typeface="Open Sans Bold"/>
                <a:sym typeface="Open Sans Bold"/>
              </a:rPr>
              <a:t>Redes de Computadoras 1</a:t>
            </a:r>
          </a:p>
        </p:txBody>
      </p:sp>
      <p:sp>
        <p:nvSpPr>
          <p:cNvPr name="TextBox 18" id="18"/>
          <p:cNvSpPr txBox="true"/>
          <p:nvPr/>
        </p:nvSpPr>
        <p:spPr>
          <a:xfrm rot="0">
            <a:off x="1028700" y="8743013"/>
            <a:ext cx="6981379" cy="422275"/>
          </a:xfrm>
          <a:prstGeom prst="rect">
            <a:avLst/>
          </a:prstGeom>
        </p:spPr>
        <p:txBody>
          <a:bodyPr anchor="t" rtlCol="false" tIns="0" lIns="0" bIns="0" rIns="0">
            <a:spAutoFit/>
          </a:bodyPr>
          <a:lstStyle/>
          <a:p>
            <a:pPr algn="ctr">
              <a:lnSpc>
                <a:spcPts val="3499"/>
              </a:lnSpc>
            </a:pPr>
            <a:r>
              <a:rPr lang="en-US" sz="2499" b="true">
                <a:solidFill>
                  <a:srgbClr val="365B6D"/>
                </a:solidFill>
                <a:latin typeface="Open Sans Bold"/>
                <a:ea typeface="Open Sans Bold"/>
                <a:cs typeface="Open Sans Bold"/>
                <a:sym typeface="Open Sans Bold"/>
              </a:rPr>
              <a:t>Escuela de Ingenieria de Ciencias Y Sistemas</a:t>
            </a:r>
          </a:p>
        </p:txBody>
      </p:sp>
      <p:sp>
        <p:nvSpPr>
          <p:cNvPr name="TextBox 19" id="19"/>
          <p:cNvSpPr txBox="true"/>
          <p:nvPr/>
        </p:nvSpPr>
        <p:spPr>
          <a:xfrm rot="0">
            <a:off x="1028700" y="9164169"/>
            <a:ext cx="3525292" cy="422275"/>
          </a:xfrm>
          <a:prstGeom prst="rect">
            <a:avLst/>
          </a:prstGeom>
        </p:spPr>
        <p:txBody>
          <a:bodyPr anchor="t" rtlCol="false" tIns="0" lIns="0" bIns="0" rIns="0">
            <a:spAutoFit/>
          </a:bodyPr>
          <a:lstStyle/>
          <a:p>
            <a:pPr algn="ctr">
              <a:lnSpc>
                <a:spcPts val="3499"/>
              </a:lnSpc>
            </a:pPr>
            <a:r>
              <a:rPr lang="en-US" sz="2499" b="true">
                <a:solidFill>
                  <a:srgbClr val="365B6D"/>
                </a:solidFill>
                <a:latin typeface="Open Sans Bold"/>
                <a:ea typeface="Open Sans Bold"/>
                <a:cs typeface="Open Sans Bold"/>
                <a:sym typeface="Open Sans Bold"/>
              </a:rPr>
              <a:t>Facultad de Ingenieria</a:t>
            </a:r>
          </a:p>
        </p:txBody>
      </p:sp>
      <p:sp>
        <p:nvSpPr>
          <p:cNvPr name="TextBox 20" id="20"/>
          <p:cNvSpPr txBox="true"/>
          <p:nvPr/>
        </p:nvSpPr>
        <p:spPr>
          <a:xfrm rot="0">
            <a:off x="1028700" y="9586444"/>
            <a:ext cx="6407944" cy="422275"/>
          </a:xfrm>
          <a:prstGeom prst="rect">
            <a:avLst/>
          </a:prstGeom>
        </p:spPr>
        <p:txBody>
          <a:bodyPr anchor="t" rtlCol="false" tIns="0" lIns="0" bIns="0" rIns="0">
            <a:spAutoFit/>
          </a:bodyPr>
          <a:lstStyle/>
          <a:p>
            <a:pPr algn="ctr">
              <a:lnSpc>
                <a:spcPts val="3499"/>
              </a:lnSpc>
            </a:pPr>
            <a:r>
              <a:rPr lang="en-US" sz="2499" b="true">
                <a:solidFill>
                  <a:srgbClr val="365B6D"/>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3135796" y="3528610"/>
            <a:ext cx="4611143" cy="2316149"/>
          </a:xfrm>
          <a:prstGeom prst="rect">
            <a:avLst/>
          </a:prstGeom>
        </p:spPr>
        <p:txBody>
          <a:bodyPr anchor="t" rtlCol="false" tIns="0" lIns="0" bIns="0" rIns="0">
            <a:spAutoFit/>
          </a:bodyPr>
          <a:lstStyle/>
          <a:p>
            <a:pPr algn="l" marL="762319" indent="-381159" lvl="1">
              <a:lnSpc>
                <a:spcPts val="6249"/>
              </a:lnSpc>
              <a:buAutoNum type="arabicPeriod" startAt="1"/>
            </a:pPr>
            <a:r>
              <a:rPr lang="en-US" sz="3530">
                <a:solidFill>
                  <a:srgbClr val="365B6D"/>
                </a:solidFill>
                <a:latin typeface="Roboto"/>
                <a:ea typeface="Roboto"/>
                <a:cs typeface="Roboto"/>
                <a:sym typeface="Roboto"/>
              </a:rPr>
              <a:t>Foro #10</a:t>
            </a:r>
          </a:p>
          <a:p>
            <a:pPr algn="l" marL="762319" indent="-381159" lvl="1">
              <a:lnSpc>
                <a:spcPts val="6249"/>
              </a:lnSpc>
              <a:buAutoNum type="arabicPeriod" startAt="1"/>
            </a:pPr>
            <a:r>
              <a:rPr lang="en-US" sz="3530">
                <a:solidFill>
                  <a:srgbClr val="365B6D"/>
                </a:solidFill>
                <a:latin typeface="Roboto"/>
                <a:ea typeface="Roboto"/>
                <a:cs typeface="Roboto"/>
                <a:sym typeface="Roboto"/>
              </a:rPr>
              <a:t>Proyecto #2</a:t>
            </a:r>
          </a:p>
          <a:p>
            <a:pPr algn="l" marL="762319" indent="-381159" lvl="1">
              <a:lnSpc>
                <a:spcPts val="6249"/>
              </a:lnSpc>
              <a:buAutoNum type="arabicPeriod" startAt="1"/>
            </a:pPr>
            <a:r>
              <a:rPr lang="en-US" sz="3530">
                <a:solidFill>
                  <a:srgbClr val="365B6D"/>
                </a:solidFill>
                <a:latin typeface="Roboto"/>
                <a:ea typeface="Roboto"/>
                <a:cs typeface="Roboto"/>
                <a:sym typeface="Roboto"/>
              </a:rPr>
              <a:t>Contenido</a:t>
            </a:r>
          </a:p>
        </p:txBody>
      </p:sp>
      <p:sp>
        <p:nvSpPr>
          <p:cNvPr name="TextBox 3" id="3"/>
          <p:cNvSpPr txBox="true"/>
          <p:nvPr/>
        </p:nvSpPr>
        <p:spPr>
          <a:xfrm rot="0">
            <a:off x="3315526" y="2845096"/>
            <a:ext cx="4141578"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AGENDA</a:t>
            </a:r>
          </a:p>
        </p:txBody>
      </p:sp>
      <p:grpSp>
        <p:nvGrpSpPr>
          <p:cNvPr name="Group 4" id="4"/>
          <p:cNvGrpSpPr/>
          <p:nvPr/>
        </p:nvGrpSpPr>
        <p:grpSpPr>
          <a:xfrm rot="-5400000">
            <a:off x="-206005" y="835928"/>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5400000">
            <a:off x="14572655" y="8364469"/>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5400000">
            <a:off x="218303" y="1756286"/>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5400000">
            <a:off x="14996963" y="9284827"/>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6" id="16"/>
          <p:cNvSpPr txBox="true"/>
          <p:nvPr/>
        </p:nvSpPr>
        <p:spPr>
          <a:xfrm rot="0">
            <a:off x="14964881" y="233872"/>
            <a:ext cx="3199671" cy="423584"/>
          </a:xfrm>
          <a:prstGeom prst="rect">
            <a:avLst/>
          </a:prstGeom>
        </p:spPr>
        <p:txBody>
          <a:bodyPr anchor="t" rtlCol="false" tIns="0" lIns="0" bIns="0" rIns="0">
            <a:spAutoFit/>
          </a:bodyPr>
          <a:lstStyle/>
          <a:p>
            <a:pPr algn="ctr">
              <a:lnSpc>
                <a:spcPts val="3341"/>
              </a:lnSpc>
            </a:pPr>
            <a:r>
              <a:rPr lang="en-US" sz="2439" spc="-9">
                <a:solidFill>
                  <a:srgbClr val="6C9286"/>
                </a:solidFill>
                <a:latin typeface="Roboto"/>
                <a:ea typeface="Roboto"/>
                <a:cs typeface="Roboto"/>
                <a:sym typeface="Roboto"/>
              </a:rPr>
              <a:t>Clase #10</a:t>
            </a:r>
          </a:p>
        </p:txBody>
      </p:sp>
      <p:sp>
        <p:nvSpPr>
          <p:cNvPr name="TextBox 17" id="17"/>
          <p:cNvSpPr txBox="true"/>
          <p:nvPr/>
        </p:nvSpPr>
        <p:spPr>
          <a:xfrm rot="0">
            <a:off x="9404559" y="6476986"/>
            <a:ext cx="6924382" cy="734999"/>
          </a:xfrm>
          <a:prstGeom prst="rect">
            <a:avLst/>
          </a:prstGeom>
        </p:spPr>
        <p:txBody>
          <a:bodyPr anchor="t" rtlCol="false" tIns="0" lIns="0" bIns="0" rIns="0">
            <a:spAutoFit/>
          </a:bodyPr>
          <a:lstStyle/>
          <a:p>
            <a:pPr algn="l">
              <a:lnSpc>
                <a:spcPts val="6249"/>
              </a:lnSpc>
            </a:pPr>
            <a:r>
              <a:rPr lang="en-US" sz="3530" u="sng">
                <a:solidFill>
                  <a:srgbClr val="365B6D"/>
                </a:solidFill>
                <a:latin typeface="Roboto"/>
                <a:ea typeface="Roboto"/>
                <a:cs typeface="Roboto"/>
                <a:sym typeface="Roboto"/>
                <a:hlinkClick r:id="rId2" tooltip="https://ccnadesdecero.es/funcionamiento-enrutamiento-entre-vlan/"/>
              </a:rPr>
              <a:t>Enrutamiento entre VLAN</a:t>
            </a:r>
          </a:p>
        </p:txBody>
      </p:sp>
      <p:sp>
        <p:nvSpPr>
          <p:cNvPr name="TextBox 18" id="18"/>
          <p:cNvSpPr txBox="true"/>
          <p:nvPr/>
        </p:nvSpPr>
        <p:spPr>
          <a:xfrm rot="0">
            <a:off x="9584288" y="5793472"/>
            <a:ext cx="494377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RECURSOS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2996048"/>
            <a:ext cx="10643864"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Competencias a desarrollar</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3058218" y="4511786"/>
            <a:ext cx="12171564" cy="1490980"/>
          </a:xfrm>
          <a:prstGeom prst="rect">
            <a:avLst/>
          </a:prstGeom>
        </p:spPr>
        <p:txBody>
          <a:bodyPr anchor="t" rtlCol="false" tIns="0" lIns="0" bIns="0" rIns="0">
            <a:spAutoFit/>
          </a:bodyPr>
          <a:lstStyle/>
          <a:p>
            <a:pPr algn="just">
              <a:lnSpc>
                <a:spcPts val="3919"/>
              </a:lnSpc>
              <a:spcBef>
                <a:spcPct val="0"/>
              </a:spcBef>
            </a:pPr>
            <a:r>
              <a:rPr lang="en-US" sz="2799">
                <a:solidFill>
                  <a:srgbClr val="365B6D"/>
                </a:solidFill>
                <a:latin typeface="Roboto"/>
                <a:ea typeface="Roboto"/>
                <a:cs typeface="Roboto"/>
                <a:sym typeface="Roboto"/>
              </a:rPr>
              <a:t>Asegurar la conectividad entre distintas redes y subredes utilizando distintos protocolos de enrutamiento para optimizar la propagación de rutas y garantizar la eficiencia del tráfico en la red.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2708973" y="3376762"/>
            <a:ext cx="12965683" cy="1519205"/>
          </a:xfrm>
          <a:prstGeom prst="rect">
            <a:avLst/>
          </a:prstGeom>
        </p:spPr>
        <p:txBody>
          <a:bodyPr anchor="t" rtlCol="false" tIns="0" lIns="0" bIns="0" rIns="0">
            <a:spAutoFit/>
          </a:bodyPr>
          <a:lstStyle/>
          <a:p>
            <a:pPr algn="ctr" marL="0" indent="0" lvl="0">
              <a:lnSpc>
                <a:spcPts val="11088"/>
              </a:lnSpc>
            </a:pPr>
            <a:r>
              <a:rPr lang="en-US" b="true" sz="12458" spc="398">
                <a:solidFill>
                  <a:srgbClr val="365B6D"/>
                </a:solidFill>
                <a:latin typeface="Monterchi Serif Bold"/>
                <a:ea typeface="Monterchi Serif Bold"/>
                <a:cs typeface="Monterchi Serif Bold"/>
                <a:sym typeface="Monterchi Serif Bold"/>
              </a:rPr>
              <a:t>ENRUTAMIENTO</a:t>
            </a:r>
          </a:p>
        </p:txBody>
      </p:sp>
      <p:sp>
        <p:nvSpPr>
          <p:cNvPr name="TextBox 3" id="3"/>
          <p:cNvSpPr txBox="true"/>
          <p:nvPr/>
        </p:nvSpPr>
        <p:spPr>
          <a:xfrm rot="0">
            <a:off x="2708973" y="4845050"/>
            <a:ext cx="12965683" cy="1519205"/>
          </a:xfrm>
          <a:prstGeom prst="rect">
            <a:avLst/>
          </a:prstGeom>
        </p:spPr>
        <p:txBody>
          <a:bodyPr anchor="t" rtlCol="false" tIns="0" lIns="0" bIns="0" rIns="0">
            <a:spAutoFit/>
          </a:bodyPr>
          <a:lstStyle/>
          <a:p>
            <a:pPr algn="ctr" marL="0" indent="0" lvl="0">
              <a:lnSpc>
                <a:spcPts val="11088"/>
              </a:lnSpc>
            </a:pPr>
            <a:r>
              <a:rPr lang="en-US" b="true" sz="12458" spc="398">
                <a:solidFill>
                  <a:srgbClr val="6C9286"/>
                </a:solidFill>
                <a:latin typeface="Monterchi Serif Bold"/>
                <a:ea typeface="Monterchi Serif Bold"/>
                <a:cs typeface="Monterchi Serif Bold"/>
                <a:sym typeface="Monterchi Serif Bold"/>
              </a:rPr>
              <a:t>INTERVLAN</a:t>
            </a:r>
          </a:p>
        </p:txBody>
      </p:sp>
      <p:grpSp>
        <p:nvGrpSpPr>
          <p:cNvPr name="Group 4" id="4"/>
          <p:cNvGrpSpPr/>
          <p:nvPr/>
        </p:nvGrpSpPr>
        <p:grpSpPr>
          <a:xfrm rot="0">
            <a:off x="1136083" y="721474"/>
            <a:ext cx="3598580" cy="4114800"/>
            <a:chOff x="0" y="0"/>
            <a:chExt cx="4798106" cy="5486400"/>
          </a:xfrm>
        </p:grpSpPr>
        <p:grpSp>
          <p:nvGrpSpPr>
            <p:cNvPr name="Group 5" id="5"/>
            <p:cNvGrpSpPr/>
            <p:nvPr/>
          </p:nvGrpSpPr>
          <p:grpSpPr>
            <a:xfrm rot="0">
              <a:off x="0" y="359656"/>
              <a:ext cx="4798106" cy="314368"/>
              <a:chOff x="0" y="0"/>
              <a:chExt cx="947774" cy="62097"/>
            </a:xfrm>
          </p:grpSpPr>
          <p:sp>
            <p:nvSpPr>
              <p:cNvPr name="Freeform 6" id="6"/>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365B6D"/>
              </a:solidFill>
              <a:ln cap="sq">
                <a:noFill/>
                <a:prstDash val="solid"/>
                <a:miter/>
              </a:ln>
            </p:spPr>
          </p:sp>
          <p:sp>
            <p:nvSpPr>
              <p:cNvPr name="TextBox 7" id="7"/>
              <p:cNvSpPr txBox="true"/>
              <p:nvPr/>
            </p:nvSpPr>
            <p:spPr>
              <a:xfrm>
                <a:off x="0" y="-28575"/>
                <a:ext cx="947774" cy="90672"/>
              </a:xfrm>
              <a:prstGeom prst="rect">
                <a:avLst/>
              </a:prstGeom>
            </p:spPr>
            <p:txBody>
              <a:bodyPr anchor="ctr" rtlCol="false" tIns="50800" lIns="50800" bIns="50800" rIns="50800"/>
              <a:lstStyle/>
              <a:p>
                <a:pPr algn="ctr">
                  <a:lnSpc>
                    <a:spcPts val="2921"/>
                  </a:lnSpc>
                </a:pPr>
              </a:p>
            </p:txBody>
          </p:sp>
        </p:grpSp>
        <p:grpSp>
          <p:nvGrpSpPr>
            <p:cNvPr name="Group 8" id="8"/>
            <p:cNvGrpSpPr/>
            <p:nvPr/>
          </p:nvGrpSpPr>
          <p:grpSpPr>
            <a:xfrm rot="0">
              <a:off x="0" y="925401"/>
              <a:ext cx="3675307" cy="314368"/>
              <a:chOff x="0" y="0"/>
              <a:chExt cx="725987" cy="62097"/>
            </a:xfrm>
          </p:grpSpPr>
          <p:sp>
            <p:nvSpPr>
              <p:cNvPr name="Freeform 9" id="9"/>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365B6D"/>
              </a:solidFill>
              <a:ln cap="sq">
                <a:noFill/>
                <a:prstDash val="solid"/>
                <a:miter/>
              </a:ln>
            </p:spPr>
          </p:sp>
          <p:sp>
            <p:nvSpPr>
              <p:cNvPr name="TextBox 10" id="10"/>
              <p:cNvSpPr txBox="true"/>
              <p:nvPr/>
            </p:nvSpPr>
            <p:spPr>
              <a:xfrm>
                <a:off x="0" y="-28575"/>
                <a:ext cx="725987" cy="90672"/>
              </a:xfrm>
              <a:prstGeom prst="rect">
                <a:avLst/>
              </a:prstGeom>
            </p:spPr>
            <p:txBody>
              <a:bodyPr anchor="ctr" rtlCol="false" tIns="50800" lIns="50800" bIns="50800" rIns="50800"/>
              <a:lstStyle/>
              <a:p>
                <a:pPr algn="ctr">
                  <a:lnSpc>
                    <a:spcPts val="2921"/>
                  </a:lnSpc>
                </a:pPr>
              </a:p>
            </p:txBody>
          </p:sp>
        </p:grpSp>
        <p:grpSp>
          <p:nvGrpSpPr>
            <p:cNvPr name="Group 11" id="11"/>
            <p:cNvGrpSpPr/>
            <p:nvPr/>
          </p:nvGrpSpPr>
          <p:grpSpPr>
            <a:xfrm rot="-5400000">
              <a:off x="-650594" y="1538808"/>
              <a:ext cx="3391984" cy="314368"/>
              <a:chOff x="0" y="0"/>
              <a:chExt cx="670022" cy="62097"/>
            </a:xfrm>
          </p:grpSpPr>
          <p:sp>
            <p:nvSpPr>
              <p:cNvPr name="Freeform 12" id="12"/>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365B6D"/>
              </a:solidFill>
              <a:ln cap="sq">
                <a:noFill/>
                <a:prstDash val="solid"/>
                <a:miter/>
              </a:ln>
            </p:spPr>
          </p:sp>
          <p:sp>
            <p:nvSpPr>
              <p:cNvPr name="TextBox 13" id="13"/>
              <p:cNvSpPr txBox="true"/>
              <p:nvPr/>
            </p:nvSpPr>
            <p:spPr>
              <a:xfrm>
                <a:off x="0" y="-28575"/>
                <a:ext cx="670022" cy="90672"/>
              </a:xfrm>
              <a:prstGeom prst="rect">
                <a:avLst/>
              </a:prstGeom>
            </p:spPr>
            <p:txBody>
              <a:bodyPr anchor="ctr" rtlCol="false" tIns="50800" lIns="50800" bIns="50800" rIns="50800"/>
              <a:lstStyle/>
              <a:p>
                <a:pPr algn="ctr">
                  <a:lnSpc>
                    <a:spcPts val="2921"/>
                  </a:lnSpc>
                </a:pPr>
              </a:p>
            </p:txBody>
          </p:sp>
        </p:grpSp>
        <p:grpSp>
          <p:nvGrpSpPr>
            <p:cNvPr name="Group 14" id="14"/>
            <p:cNvGrpSpPr/>
            <p:nvPr/>
          </p:nvGrpSpPr>
          <p:grpSpPr>
            <a:xfrm rot="-5400000">
              <a:off x="-2123316" y="3048717"/>
              <a:ext cx="4560999" cy="314368"/>
              <a:chOff x="0" y="0"/>
              <a:chExt cx="900938" cy="62097"/>
            </a:xfrm>
          </p:grpSpPr>
          <p:sp>
            <p:nvSpPr>
              <p:cNvPr name="Freeform 15" id="15"/>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365B6D"/>
              </a:solidFill>
              <a:ln cap="sq">
                <a:noFill/>
                <a:prstDash val="solid"/>
                <a:miter/>
              </a:ln>
            </p:spPr>
          </p:sp>
          <p:sp>
            <p:nvSpPr>
              <p:cNvPr name="TextBox 16" id="16"/>
              <p:cNvSpPr txBox="true"/>
              <p:nvPr/>
            </p:nvSpPr>
            <p:spPr>
              <a:xfrm>
                <a:off x="0" y="-28575"/>
                <a:ext cx="900938" cy="90672"/>
              </a:xfrm>
              <a:prstGeom prst="rect">
                <a:avLst/>
              </a:prstGeom>
            </p:spPr>
            <p:txBody>
              <a:bodyPr anchor="ctr" rtlCol="false" tIns="50800" lIns="50800" bIns="50800" rIns="50800"/>
              <a:lstStyle/>
              <a:p>
                <a:pPr algn="ctr">
                  <a:lnSpc>
                    <a:spcPts val="2921"/>
                  </a:lnSpc>
                </a:pPr>
              </a:p>
            </p:txBody>
          </p:sp>
        </p:grpSp>
      </p:grpSp>
      <p:grpSp>
        <p:nvGrpSpPr>
          <p:cNvPr name="Group 17" id="17"/>
          <p:cNvGrpSpPr/>
          <p:nvPr/>
        </p:nvGrpSpPr>
        <p:grpSpPr>
          <a:xfrm rot="-10800000">
            <a:off x="13605221" y="5319624"/>
            <a:ext cx="3598580" cy="4114800"/>
            <a:chOff x="0" y="0"/>
            <a:chExt cx="4798106" cy="5486400"/>
          </a:xfrm>
        </p:grpSpPr>
        <p:grpSp>
          <p:nvGrpSpPr>
            <p:cNvPr name="Group 18" id="18"/>
            <p:cNvGrpSpPr/>
            <p:nvPr/>
          </p:nvGrpSpPr>
          <p:grpSpPr>
            <a:xfrm rot="0">
              <a:off x="0" y="359656"/>
              <a:ext cx="4798106" cy="314368"/>
              <a:chOff x="0" y="0"/>
              <a:chExt cx="947774" cy="62097"/>
            </a:xfrm>
          </p:grpSpPr>
          <p:sp>
            <p:nvSpPr>
              <p:cNvPr name="Freeform 19" id="19"/>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6C9286"/>
              </a:solidFill>
              <a:ln cap="sq">
                <a:noFill/>
                <a:prstDash val="solid"/>
                <a:miter/>
              </a:ln>
            </p:spPr>
          </p:sp>
          <p:sp>
            <p:nvSpPr>
              <p:cNvPr name="TextBox 20" id="20"/>
              <p:cNvSpPr txBox="true"/>
              <p:nvPr/>
            </p:nvSpPr>
            <p:spPr>
              <a:xfrm>
                <a:off x="0" y="-28575"/>
                <a:ext cx="94777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21" id="21"/>
            <p:cNvGrpSpPr/>
            <p:nvPr/>
          </p:nvGrpSpPr>
          <p:grpSpPr>
            <a:xfrm rot="0">
              <a:off x="0" y="925401"/>
              <a:ext cx="3675307" cy="314368"/>
              <a:chOff x="0" y="0"/>
              <a:chExt cx="725987" cy="62097"/>
            </a:xfrm>
          </p:grpSpPr>
          <p:sp>
            <p:nvSpPr>
              <p:cNvPr name="Freeform 22" id="22"/>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6C9286"/>
              </a:solidFill>
              <a:ln cap="sq">
                <a:noFill/>
                <a:prstDash val="solid"/>
                <a:miter/>
              </a:ln>
            </p:spPr>
          </p:sp>
          <p:sp>
            <p:nvSpPr>
              <p:cNvPr name="TextBox 23" id="23"/>
              <p:cNvSpPr txBox="true"/>
              <p:nvPr/>
            </p:nvSpPr>
            <p:spPr>
              <a:xfrm>
                <a:off x="0" y="-28575"/>
                <a:ext cx="725987"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24" id="24"/>
            <p:cNvGrpSpPr/>
            <p:nvPr/>
          </p:nvGrpSpPr>
          <p:grpSpPr>
            <a:xfrm rot="-5400000">
              <a:off x="-650594" y="1538808"/>
              <a:ext cx="3391984" cy="314368"/>
              <a:chOff x="0" y="0"/>
              <a:chExt cx="670022" cy="62097"/>
            </a:xfrm>
          </p:grpSpPr>
          <p:sp>
            <p:nvSpPr>
              <p:cNvPr name="Freeform 25" id="25"/>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6C9286"/>
              </a:solidFill>
              <a:ln cap="sq">
                <a:noFill/>
                <a:prstDash val="solid"/>
                <a:miter/>
              </a:ln>
            </p:spPr>
          </p:sp>
          <p:sp>
            <p:nvSpPr>
              <p:cNvPr name="TextBox 26" id="26"/>
              <p:cNvSpPr txBox="true"/>
              <p:nvPr/>
            </p:nvSpPr>
            <p:spPr>
              <a:xfrm>
                <a:off x="0" y="-28575"/>
                <a:ext cx="670022"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27" id="27"/>
            <p:cNvGrpSpPr/>
            <p:nvPr/>
          </p:nvGrpSpPr>
          <p:grpSpPr>
            <a:xfrm rot="-5400000">
              <a:off x="-2123316" y="3048717"/>
              <a:ext cx="4560999" cy="314368"/>
              <a:chOff x="0" y="0"/>
              <a:chExt cx="900938" cy="62097"/>
            </a:xfrm>
          </p:grpSpPr>
          <p:sp>
            <p:nvSpPr>
              <p:cNvPr name="Freeform 28" id="28"/>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6C9286"/>
              </a:solidFill>
              <a:ln cap="sq">
                <a:noFill/>
                <a:prstDash val="solid"/>
                <a:miter/>
              </a:ln>
            </p:spPr>
          </p:sp>
          <p:sp>
            <p:nvSpPr>
              <p:cNvPr name="TextBox 29" id="29"/>
              <p:cNvSpPr txBox="true"/>
              <p:nvPr/>
            </p:nvSpPr>
            <p:spPr>
              <a:xfrm>
                <a:off x="0" y="-28575"/>
                <a:ext cx="900938" cy="90672"/>
              </a:xfrm>
              <a:prstGeom prst="rect">
                <a:avLst/>
              </a:prstGeom>
            </p:spPr>
            <p:txBody>
              <a:bodyPr anchor="ctr" rtlCol="false" tIns="50800" lIns="50800" bIns="50800" rIns="50800"/>
              <a:lstStyle/>
              <a:p>
                <a:pPr algn="ctr" marL="0" indent="0" lvl="0">
                  <a:lnSpc>
                    <a:spcPts val="2921"/>
                  </a:lnSpc>
                  <a:spcBef>
                    <a:spcPct val="0"/>
                  </a:spcBef>
                </a:pPr>
              </a:p>
            </p:txBody>
          </p:sp>
        </p:grpSp>
      </p:grpSp>
      <p:grpSp>
        <p:nvGrpSpPr>
          <p:cNvPr name="Group 30" id="30"/>
          <p:cNvGrpSpPr/>
          <p:nvPr/>
        </p:nvGrpSpPr>
        <p:grpSpPr>
          <a:xfrm rot="-5400000">
            <a:off x="1126558" y="5307992"/>
            <a:ext cx="3598580" cy="4114800"/>
            <a:chOff x="0" y="0"/>
            <a:chExt cx="4798106" cy="5486400"/>
          </a:xfrm>
        </p:grpSpPr>
        <p:grpSp>
          <p:nvGrpSpPr>
            <p:cNvPr name="Group 31" id="31"/>
            <p:cNvGrpSpPr/>
            <p:nvPr/>
          </p:nvGrpSpPr>
          <p:grpSpPr>
            <a:xfrm rot="0">
              <a:off x="0" y="359656"/>
              <a:ext cx="4798106" cy="314368"/>
              <a:chOff x="0" y="0"/>
              <a:chExt cx="947774" cy="62097"/>
            </a:xfrm>
          </p:grpSpPr>
          <p:sp>
            <p:nvSpPr>
              <p:cNvPr name="Freeform 32" id="32"/>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6C9286"/>
              </a:solidFill>
              <a:ln cap="sq">
                <a:noFill/>
                <a:prstDash val="solid"/>
                <a:miter/>
              </a:ln>
            </p:spPr>
          </p:sp>
          <p:sp>
            <p:nvSpPr>
              <p:cNvPr name="TextBox 33" id="33"/>
              <p:cNvSpPr txBox="true"/>
              <p:nvPr/>
            </p:nvSpPr>
            <p:spPr>
              <a:xfrm>
                <a:off x="0" y="-28575"/>
                <a:ext cx="94777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34" id="34"/>
            <p:cNvGrpSpPr/>
            <p:nvPr/>
          </p:nvGrpSpPr>
          <p:grpSpPr>
            <a:xfrm rot="0">
              <a:off x="0" y="925401"/>
              <a:ext cx="3675307" cy="314368"/>
              <a:chOff x="0" y="0"/>
              <a:chExt cx="725987" cy="62097"/>
            </a:xfrm>
          </p:grpSpPr>
          <p:sp>
            <p:nvSpPr>
              <p:cNvPr name="Freeform 35" id="35"/>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6C9286"/>
              </a:solidFill>
              <a:ln cap="sq">
                <a:noFill/>
                <a:prstDash val="solid"/>
                <a:miter/>
              </a:ln>
            </p:spPr>
          </p:sp>
          <p:sp>
            <p:nvSpPr>
              <p:cNvPr name="TextBox 36" id="36"/>
              <p:cNvSpPr txBox="true"/>
              <p:nvPr/>
            </p:nvSpPr>
            <p:spPr>
              <a:xfrm>
                <a:off x="0" y="-28575"/>
                <a:ext cx="725987"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37" id="37"/>
            <p:cNvGrpSpPr/>
            <p:nvPr/>
          </p:nvGrpSpPr>
          <p:grpSpPr>
            <a:xfrm rot="-5400000">
              <a:off x="-650594" y="1538808"/>
              <a:ext cx="3391984" cy="314368"/>
              <a:chOff x="0" y="0"/>
              <a:chExt cx="670022" cy="62097"/>
            </a:xfrm>
          </p:grpSpPr>
          <p:sp>
            <p:nvSpPr>
              <p:cNvPr name="Freeform 38" id="38"/>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6C9286"/>
              </a:solidFill>
              <a:ln cap="sq">
                <a:noFill/>
                <a:prstDash val="solid"/>
                <a:miter/>
              </a:ln>
            </p:spPr>
          </p:sp>
          <p:sp>
            <p:nvSpPr>
              <p:cNvPr name="TextBox 39" id="39"/>
              <p:cNvSpPr txBox="true"/>
              <p:nvPr/>
            </p:nvSpPr>
            <p:spPr>
              <a:xfrm>
                <a:off x="0" y="-28575"/>
                <a:ext cx="670022"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40" id="40"/>
            <p:cNvGrpSpPr/>
            <p:nvPr/>
          </p:nvGrpSpPr>
          <p:grpSpPr>
            <a:xfrm rot="-5400000">
              <a:off x="-2123316" y="3048717"/>
              <a:ext cx="4560999" cy="314368"/>
              <a:chOff x="0" y="0"/>
              <a:chExt cx="900938" cy="62097"/>
            </a:xfrm>
          </p:grpSpPr>
          <p:sp>
            <p:nvSpPr>
              <p:cNvPr name="Freeform 41" id="41"/>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6C9286"/>
              </a:solidFill>
              <a:ln cap="sq">
                <a:noFill/>
                <a:prstDash val="solid"/>
                <a:miter/>
              </a:ln>
            </p:spPr>
          </p:sp>
          <p:sp>
            <p:nvSpPr>
              <p:cNvPr name="TextBox 42" id="42"/>
              <p:cNvSpPr txBox="true"/>
              <p:nvPr/>
            </p:nvSpPr>
            <p:spPr>
              <a:xfrm>
                <a:off x="0" y="-28575"/>
                <a:ext cx="900938" cy="90672"/>
              </a:xfrm>
              <a:prstGeom prst="rect">
                <a:avLst/>
              </a:prstGeom>
            </p:spPr>
            <p:txBody>
              <a:bodyPr anchor="ctr" rtlCol="false" tIns="50800" lIns="50800" bIns="50800" rIns="50800"/>
              <a:lstStyle/>
              <a:p>
                <a:pPr algn="ctr" marL="0" indent="0" lvl="0">
                  <a:lnSpc>
                    <a:spcPts val="2921"/>
                  </a:lnSpc>
                  <a:spcBef>
                    <a:spcPct val="0"/>
                  </a:spcBef>
                </a:pPr>
              </a:p>
            </p:txBody>
          </p:sp>
        </p:grpSp>
      </p:grpSp>
      <p:grpSp>
        <p:nvGrpSpPr>
          <p:cNvPr name="Group 43" id="43"/>
          <p:cNvGrpSpPr/>
          <p:nvPr/>
        </p:nvGrpSpPr>
        <p:grpSpPr>
          <a:xfrm rot="5400000">
            <a:off x="13614746" y="733106"/>
            <a:ext cx="3598580" cy="4114800"/>
            <a:chOff x="0" y="0"/>
            <a:chExt cx="4798106" cy="5486400"/>
          </a:xfrm>
        </p:grpSpPr>
        <p:grpSp>
          <p:nvGrpSpPr>
            <p:cNvPr name="Group 44" id="44"/>
            <p:cNvGrpSpPr/>
            <p:nvPr/>
          </p:nvGrpSpPr>
          <p:grpSpPr>
            <a:xfrm rot="0">
              <a:off x="0" y="359656"/>
              <a:ext cx="4798106" cy="314368"/>
              <a:chOff x="0" y="0"/>
              <a:chExt cx="947774" cy="62097"/>
            </a:xfrm>
          </p:grpSpPr>
          <p:sp>
            <p:nvSpPr>
              <p:cNvPr name="Freeform 45" id="45"/>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365B6D"/>
              </a:solidFill>
              <a:ln cap="sq">
                <a:noFill/>
                <a:prstDash val="solid"/>
                <a:miter/>
              </a:ln>
            </p:spPr>
          </p:sp>
          <p:sp>
            <p:nvSpPr>
              <p:cNvPr name="TextBox 46" id="46"/>
              <p:cNvSpPr txBox="true"/>
              <p:nvPr/>
            </p:nvSpPr>
            <p:spPr>
              <a:xfrm>
                <a:off x="0" y="-28575"/>
                <a:ext cx="94777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47" id="47"/>
            <p:cNvGrpSpPr/>
            <p:nvPr/>
          </p:nvGrpSpPr>
          <p:grpSpPr>
            <a:xfrm rot="0">
              <a:off x="0" y="925401"/>
              <a:ext cx="3675307" cy="314368"/>
              <a:chOff x="0" y="0"/>
              <a:chExt cx="725987" cy="62097"/>
            </a:xfrm>
          </p:grpSpPr>
          <p:sp>
            <p:nvSpPr>
              <p:cNvPr name="Freeform 48" id="48"/>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365B6D"/>
              </a:solidFill>
              <a:ln cap="sq">
                <a:noFill/>
                <a:prstDash val="solid"/>
                <a:miter/>
              </a:ln>
            </p:spPr>
          </p:sp>
          <p:sp>
            <p:nvSpPr>
              <p:cNvPr name="TextBox 49" id="49"/>
              <p:cNvSpPr txBox="true"/>
              <p:nvPr/>
            </p:nvSpPr>
            <p:spPr>
              <a:xfrm>
                <a:off x="0" y="-28575"/>
                <a:ext cx="725987"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50" id="50"/>
            <p:cNvGrpSpPr/>
            <p:nvPr/>
          </p:nvGrpSpPr>
          <p:grpSpPr>
            <a:xfrm rot="-5400000">
              <a:off x="-650594" y="1538808"/>
              <a:ext cx="3391984" cy="314368"/>
              <a:chOff x="0" y="0"/>
              <a:chExt cx="670022" cy="62097"/>
            </a:xfrm>
          </p:grpSpPr>
          <p:sp>
            <p:nvSpPr>
              <p:cNvPr name="Freeform 51" id="51"/>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365B6D"/>
              </a:solidFill>
              <a:ln cap="sq">
                <a:noFill/>
                <a:prstDash val="solid"/>
                <a:miter/>
              </a:ln>
            </p:spPr>
          </p:sp>
          <p:sp>
            <p:nvSpPr>
              <p:cNvPr name="TextBox 52" id="52"/>
              <p:cNvSpPr txBox="true"/>
              <p:nvPr/>
            </p:nvSpPr>
            <p:spPr>
              <a:xfrm>
                <a:off x="0" y="-28575"/>
                <a:ext cx="670022"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53" id="53"/>
            <p:cNvGrpSpPr/>
            <p:nvPr/>
          </p:nvGrpSpPr>
          <p:grpSpPr>
            <a:xfrm rot="-5400000">
              <a:off x="-2123316" y="3048717"/>
              <a:ext cx="4560999" cy="314368"/>
              <a:chOff x="0" y="0"/>
              <a:chExt cx="900938" cy="62097"/>
            </a:xfrm>
          </p:grpSpPr>
          <p:sp>
            <p:nvSpPr>
              <p:cNvPr name="Freeform 54" id="54"/>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365B6D"/>
              </a:solidFill>
              <a:ln cap="sq">
                <a:noFill/>
                <a:prstDash val="solid"/>
                <a:miter/>
              </a:ln>
            </p:spPr>
          </p:sp>
          <p:sp>
            <p:nvSpPr>
              <p:cNvPr name="TextBox 55" id="55"/>
              <p:cNvSpPr txBox="true"/>
              <p:nvPr/>
            </p:nvSpPr>
            <p:spPr>
              <a:xfrm>
                <a:off x="0" y="-28575"/>
                <a:ext cx="900938" cy="90672"/>
              </a:xfrm>
              <a:prstGeom prst="rect">
                <a:avLst/>
              </a:prstGeom>
            </p:spPr>
            <p:txBody>
              <a:bodyPr anchor="ctr" rtlCol="false" tIns="50800" lIns="50800" bIns="50800" rIns="50800"/>
              <a:lstStyle/>
              <a:p>
                <a:pPr algn="ctr" marL="0" indent="0" lvl="0">
                  <a:lnSpc>
                    <a:spcPts val="2921"/>
                  </a:lnSpc>
                  <a:spcBef>
                    <a:spcPct val="0"/>
                  </a:spcBef>
                </a:pPr>
              </a:p>
            </p:txBody>
          </p:sp>
        </p:grpSp>
      </p:grpSp>
      <p:sp>
        <p:nvSpPr>
          <p:cNvPr name="TextBox 56" id="56"/>
          <p:cNvSpPr txBox="true"/>
          <p:nvPr/>
        </p:nvSpPr>
        <p:spPr>
          <a:xfrm rot="0">
            <a:off x="8981696" y="1235728"/>
            <a:ext cx="420236" cy="280181"/>
          </a:xfrm>
          <a:prstGeom prst="rect">
            <a:avLst/>
          </a:prstGeom>
        </p:spPr>
        <p:txBody>
          <a:bodyPr anchor="t" rtlCol="false" tIns="0" lIns="0" bIns="0" rIns="0">
            <a:spAutoFit/>
          </a:bodyPr>
          <a:lstStyle/>
          <a:p>
            <a:pPr algn="ctr">
              <a:lnSpc>
                <a:spcPts val="2293"/>
              </a:lnSpc>
            </a:pPr>
            <a:r>
              <a:rPr lang="en-US" b="true" sz="1834" spc="-7">
                <a:solidFill>
                  <a:srgbClr val="365B6D"/>
                </a:solidFill>
                <a:latin typeface="Roboto Bold"/>
                <a:ea typeface="Roboto Bold"/>
                <a:cs typeface="Roboto Bold"/>
                <a:sym typeface="Roboto Bold"/>
              </a:rPr>
              <a:t>B</a:t>
            </a:r>
          </a:p>
        </p:txBody>
      </p:sp>
      <p:sp>
        <p:nvSpPr>
          <p:cNvPr name="TextBox 57" id="57"/>
          <p:cNvSpPr txBox="true"/>
          <p:nvPr/>
        </p:nvSpPr>
        <p:spPr>
          <a:xfrm rot="0">
            <a:off x="5140736" y="6583255"/>
            <a:ext cx="8102157" cy="913806"/>
          </a:xfrm>
          <a:prstGeom prst="rect">
            <a:avLst/>
          </a:prstGeom>
        </p:spPr>
        <p:txBody>
          <a:bodyPr anchor="t" rtlCol="false" tIns="0" lIns="0" bIns="0" rIns="0">
            <a:spAutoFit/>
          </a:bodyPr>
          <a:lstStyle/>
          <a:p>
            <a:pPr algn="ctr" marL="0" indent="0" lvl="0">
              <a:lnSpc>
                <a:spcPts val="6661"/>
              </a:lnSpc>
              <a:spcBef>
                <a:spcPct val="0"/>
              </a:spcBef>
            </a:pPr>
            <a:r>
              <a:rPr lang="en-US" b="true" sz="7484">
                <a:solidFill>
                  <a:srgbClr val="365B6D"/>
                </a:solidFill>
                <a:latin typeface="Monterchi Serif Bold"/>
                <a:ea typeface="Monterchi Serif Bold"/>
                <a:cs typeface="Monterchi Serif Bold"/>
                <a:sym typeface="Monterchi Serif Bold"/>
              </a:rPr>
              <a:t>Clase #10</a:t>
            </a:r>
          </a:p>
        </p:txBody>
      </p:sp>
      <p:grpSp>
        <p:nvGrpSpPr>
          <p:cNvPr name="Group 58" id="58"/>
          <p:cNvGrpSpPr/>
          <p:nvPr/>
        </p:nvGrpSpPr>
        <p:grpSpPr>
          <a:xfrm rot="-10800000">
            <a:off x="6388878" y="8928906"/>
            <a:ext cx="5605872" cy="235776"/>
            <a:chOff x="0" y="0"/>
            <a:chExt cx="1476444" cy="62097"/>
          </a:xfrm>
        </p:grpSpPr>
        <p:sp>
          <p:nvSpPr>
            <p:cNvPr name="Freeform 59" id="59"/>
            <p:cNvSpPr/>
            <p:nvPr/>
          </p:nvSpPr>
          <p:spPr>
            <a:xfrm flipH="false" flipV="false" rot="0">
              <a:off x="0" y="0"/>
              <a:ext cx="1476444" cy="62097"/>
            </a:xfrm>
            <a:custGeom>
              <a:avLst/>
              <a:gdLst/>
              <a:ahLst/>
              <a:cxnLst/>
              <a:rect r="r" b="b" t="t" l="l"/>
              <a:pathLst>
                <a:path h="62097" w="1476444">
                  <a:moveTo>
                    <a:pt x="0" y="0"/>
                  </a:moveTo>
                  <a:lnTo>
                    <a:pt x="1476444" y="0"/>
                  </a:lnTo>
                  <a:lnTo>
                    <a:pt x="1476444" y="62097"/>
                  </a:lnTo>
                  <a:lnTo>
                    <a:pt x="0" y="62097"/>
                  </a:lnTo>
                  <a:close/>
                </a:path>
              </a:pathLst>
            </a:custGeom>
            <a:solidFill>
              <a:srgbClr val="365B6D"/>
            </a:solidFill>
            <a:ln cap="sq">
              <a:noFill/>
              <a:prstDash val="solid"/>
              <a:miter/>
            </a:ln>
          </p:spPr>
        </p:sp>
        <p:sp>
          <p:nvSpPr>
            <p:cNvPr name="TextBox 60" id="60"/>
            <p:cNvSpPr txBox="true"/>
            <p:nvPr/>
          </p:nvSpPr>
          <p:spPr>
            <a:xfrm>
              <a:off x="0" y="-28575"/>
              <a:ext cx="147644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1" id="61"/>
          <p:cNvGrpSpPr/>
          <p:nvPr/>
        </p:nvGrpSpPr>
        <p:grpSpPr>
          <a:xfrm rot="-10800000">
            <a:off x="7317640" y="8504598"/>
            <a:ext cx="3748348" cy="235776"/>
            <a:chOff x="0" y="0"/>
            <a:chExt cx="987219" cy="62097"/>
          </a:xfrm>
        </p:grpSpPr>
        <p:sp>
          <p:nvSpPr>
            <p:cNvPr name="Freeform 62" id="62"/>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63" id="63"/>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9291139"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Recordando VLANs</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2865073"/>
            <a:ext cx="15345020" cy="59486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Son redes lógicas o segmentos de red que se crean dentro de una red física más grande, como una red local (LAN), con el objetivo de dividir y aislar el tráfico de red en grupos lógicos, en lugar de utilizar segmentación física.</a:t>
            </a:r>
          </a:p>
          <a:p>
            <a:pPr algn="just">
              <a:lnSpc>
                <a:spcPts val="3919"/>
              </a:lnSpc>
            </a:pPr>
          </a:p>
          <a:p>
            <a:pPr algn="just">
              <a:lnSpc>
                <a:spcPts val="3919"/>
              </a:lnSpc>
            </a:pPr>
            <a:r>
              <a:rPr lang="en-US" sz="2799">
                <a:solidFill>
                  <a:srgbClr val="365B6D"/>
                </a:solidFill>
                <a:latin typeface="Roboto"/>
                <a:ea typeface="Roboto"/>
                <a:cs typeface="Roboto"/>
                <a:sym typeface="Roboto"/>
              </a:rPr>
              <a:t>En una red VLAN, los dispositivos se agrupan en función de sus necesidades y características, en lugar de su ubicación física. Esto permite una mayor flexibilidad y seguridad en la administración de la red, ya que los dispositivos de una VLAN pueden comunicarse entre sí como si estuvieran conectados a un mismo switch físico, aunque pueden estar conectados a diferentes switches en la red física.</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Sin embargo, para que las VLANs puedan comunicarse entre sí, se necesita implementar el intervlan routing.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10644775" cy="1693164"/>
          </a:xfrm>
          <a:prstGeom prst="rect">
            <a:avLst/>
          </a:prstGeom>
        </p:spPr>
        <p:txBody>
          <a:bodyPr anchor="t" rtlCol="false" tIns="0" lIns="0" bIns="0" rIns="0">
            <a:spAutoFit/>
          </a:bodyPr>
          <a:lstStyle/>
          <a:p>
            <a:pPr algn="l">
              <a:lnSpc>
                <a:spcPts val="6408"/>
              </a:lnSpc>
            </a:pPr>
            <a:r>
              <a:rPr lang="en-US" sz="7200" b="true">
                <a:solidFill>
                  <a:srgbClr val="365B6D"/>
                </a:solidFill>
                <a:latin typeface="Monterchi Serif Bold"/>
                <a:ea typeface="Monterchi Serif Bold"/>
                <a:cs typeface="Monterchi Serif Bold"/>
                <a:sym typeface="Monterchi Serif Bold"/>
              </a:rPr>
              <a:t>InterVLAN Routing</a:t>
            </a:r>
          </a:p>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Enrutamiento entre VLAN</a:t>
            </a:r>
          </a:p>
        </p:txBody>
      </p:sp>
      <p:sp>
        <p:nvSpPr>
          <p:cNvPr name="TextBox 3" id="3"/>
          <p:cNvSpPr txBox="true"/>
          <p:nvPr/>
        </p:nvSpPr>
        <p:spPr>
          <a:xfrm rot="0">
            <a:off x="1550281" y="3886242"/>
            <a:ext cx="14862766" cy="34721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Es el proceso de permitir que las VLANs se comuniquen entre sí a través de un enrutador.</a:t>
            </a:r>
          </a:p>
          <a:p>
            <a:pPr algn="just">
              <a:lnSpc>
                <a:spcPts val="3919"/>
              </a:lnSpc>
            </a:pPr>
          </a:p>
          <a:p>
            <a:pPr algn="just">
              <a:lnSpc>
                <a:spcPts val="3919"/>
              </a:lnSpc>
            </a:pPr>
            <a:r>
              <a:rPr lang="en-US" sz="2799">
                <a:solidFill>
                  <a:srgbClr val="365B6D"/>
                </a:solidFill>
                <a:latin typeface="Roboto"/>
                <a:ea typeface="Roboto"/>
                <a:cs typeface="Roboto"/>
                <a:sym typeface="Roboto"/>
              </a:rPr>
              <a:t>Esto implica que el tráfico entre las VLANs se dirige a través de una interfaz de enrutamiento, lo que permite que las VLANs se comuniquen entre sí como si fueran redes separadas.</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El enrutamiento entre VLANs se realiza en la capa 3 del modelo OSI, lo que significa que se basa en direcciones IP para dirigir el tráfico entre las VLANs. </a:t>
            </a:r>
          </a:p>
        </p:txBody>
      </p:sp>
      <p:grpSp>
        <p:nvGrpSpPr>
          <p:cNvPr name="Group 4" id="4"/>
          <p:cNvGrpSpPr/>
          <p:nvPr/>
        </p:nvGrpSpPr>
        <p:grpSpPr>
          <a:xfrm rot="0">
            <a:off x="7730005" y="8598216"/>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0">
            <a:off x="6809647" y="9022524"/>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14148702" y="1638255"/>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13228344" y="2062564"/>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7916266"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Importancia del InterVLAN Routing</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3733341"/>
            <a:ext cx="15345020" cy="3472180"/>
          </a:xfrm>
          <a:prstGeom prst="rect">
            <a:avLst/>
          </a:prstGeom>
        </p:spPr>
        <p:txBody>
          <a:bodyPr anchor="t" rtlCol="false" tIns="0" lIns="0" bIns="0" rIns="0">
            <a:spAutoFit/>
          </a:bodyPr>
          <a:lstStyle/>
          <a:p>
            <a:pPr algn="just">
              <a:lnSpc>
                <a:spcPts val="3919"/>
              </a:lnSpc>
            </a:pPr>
            <a:r>
              <a:rPr lang="en-US" sz="2799" b="true">
                <a:solidFill>
                  <a:srgbClr val="365B6D"/>
                </a:solidFill>
                <a:latin typeface="Roboto Bold"/>
                <a:ea typeface="Roboto Bold"/>
                <a:cs typeface="Roboto Bold"/>
                <a:sym typeface="Roboto Bold"/>
              </a:rPr>
              <a:t>Seguridad</a:t>
            </a:r>
            <a:r>
              <a:rPr lang="en-US" sz="2799">
                <a:solidFill>
                  <a:srgbClr val="365B6D"/>
                </a:solidFill>
                <a:latin typeface="Roboto"/>
                <a:ea typeface="Roboto"/>
                <a:cs typeface="Roboto"/>
                <a:sym typeface="Roboto"/>
              </a:rPr>
              <a:t>: Las VLANs se utilizan para segmentar la red y controlar el acceso a ciertas áreas de la red. El intervlan routing permite establecer políticas de seguridad y control de acceso más precisas entre las VLANs, lo que ayuda a proteger la red de posibles amenazas internas.</a:t>
            </a:r>
          </a:p>
          <a:p>
            <a:pPr algn="just">
              <a:lnSpc>
                <a:spcPts val="3919"/>
              </a:lnSpc>
            </a:pPr>
          </a:p>
          <a:p>
            <a:pPr algn="just">
              <a:lnSpc>
                <a:spcPts val="3919"/>
              </a:lnSpc>
              <a:spcBef>
                <a:spcPct val="0"/>
              </a:spcBef>
            </a:pPr>
            <a:r>
              <a:rPr lang="en-US" b="true" sz="2799">
                <a:solidFill>
                  <a:srgbClr val="365B6D"/>
                </a:solidFill>
                <a:latin typeface="Roboto Bold"/>
                <a:ea typeface="Roboto Bold"/>
                <a:cs typeface="Roboto Bold"/>
                <a:sym typeface="Roboto Bold"/>
              </a:rPr>
              <a:t>Rendimiento</a:t>
            </a:r>
            <a:r>
              <a:rPr lang="en-US" sz="2799">
                <a:solidFill>
                  <a:srgbClr val="365B6D"/>
                </a:solidFill>
                <a:latin typeface="Roboto"/>
                <a:ea typeface="Roboto"/>
                <a:cs typeface="Roboto"/>
                <a:sym typeface="Roboto"/>
              </a:rPr>
              <a:t>: El intervlan routing puede mejorar el rendimiento de la red al permitir el tráfico directo entre las VLANs en lugar de tener que pasar por un enrutador central. Esto puede reducir la congestión de la red y mejorar la velocidad de transferencia de datos.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7916266"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Importancia del InterVLAN Routing</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3733341"/>
            <a:ext cx="15345020" cy="4462780"/>
          </a:xfrm>
          <a:prstGeom prst="rect">
            <a:avLst/>
          </a:prstGeom>
        </p:spPr>
        <p:txBody>
          <a:bodyPr anchor="t" rtlCol="false" tIns="0" lIns="0" bIns="0" rIns="0">
            <a:spAutoFit/>
          </a:bodyPr>
          <a:lstStyle/>
          <a:p>
            <a:pPr algn="just">
              <a:lnSpc>
                <a:spcPts val="3919"/>
              </a:lnSpc>
            </a:pPr>
            <a:r>
              <a:rPr lang="en-US" sz="2799" b="true">
                <a:solidFill>
                  <a:srgbClr val="365B6D"/>
                </a:solidFill>
                <a:latin typeface="Roboto Bold"/>
                <a:ea typeface="Roboto Bold"/>
                <a:cs typeface="Roboto Bold"/>
                <a:sym typeface="Roboto Bold"/>
              </a:rPr>
              <a:t>Escalabilidad</a:t>
            </a:r>
            <a:r>
              <a:rPr lang="en-US" sz="2799">
                <a:solidFill>
                  <a:srgbClr val="365B6D"/>
                </a:solidFill>
                <a:latin typeface="Roboto"/>
                <a:ea typeface="Roboto"/>
                <a:cs typeface="Roboto"/>
                <a:sym typeface="Roboto"/>
              </a:rPr>
              <a:t>: El uso de VLANs permite una mayor escalabilidad en la red, ya que se pueden agregar o modificar VLANs fácilmente sin tener que realizar cambios en la infraestructura física de la red. El intervlan routing permite que estas VLANs se comuniquen entre sí de manera eficiente, lo que facilita la expansión de la red a medida que las necesidades del negocio cambian.</a:t>
            </a:r>
          </a:p>
          <a:p>
            <a:pPr algn="just">
              <a:lnSpc>
                <a:spcPts val="3919"/>
              </a:lnSpc>
            </a:pPr>
          </a:p>
          <a:p>
            <a:pPr algn="just">
              <a:lnSpc>
                <a:spcPts val="3919"/>
              </a:lnSpc>
              <a:spcBef>
                <a:spcPct val="0"/>
              </a:spcBef>
            </a:pPr>
            <a:r>
              <a:rPr lang="en-US" b="true" sz="2799">
                <a:solidFill>
                  <a:srgbClr val="365B6D"/>
                </a:solidFill>
                <a:latin typeface="Roboto Bold"/>
                <a:ea typeface="Roboto Bold"/>
                <a:cs typeface="Roboto Bold"/>
                <a:sym typeface="Roboto Bold"/>
              </a:rPr>
              <a:t>Flexibilidad</a:t>
            </a:r>
            <a:r>
              <a:rPr lang="en-US" sz="2799">
                <a:solidFill>
                  <a:srgbClr val="365B6D"/>
                </a:solidFill>
                <a:latin typeface="Roboto"/>
                <a:ea typeface="Roboto"/>
                <a:cs typeface="Roboto"/>
                <a:sym typeface="Roboto"/>
              </a:rPr>
              <a:t>: El intervlan routing permite una mayor flexibilidad en el diseño de la red, ya que se pueden crear segmentos de red basados en la función o departamento de los dispositivos, lo que facilita la gestión del tráfico y la aplicación de políticas de red específicas para cada segmento.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238250"/>
            <a:ext cx="9291139"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¿Cómo se implementa?</a:t>
            </a:r>
          </a:p>
        </p:txBody>
      </p:sp>
      <p:sp>
        <p:nvSpPr>
          <p:cNvPr name="TextBox 3" id="3"/>
          <p:cNvSpPr txBox="true"/>
          <p:nvPr/>
        </p:nvSpPr>
        <p:spPr>
          <a:xfrm rot="0">
            <a:off x="1550281" y="2662612"/>
            <a:ext cx="3691457" cy="508254"/>
          </a:xfrm>
          <a:prstGeom prst="rect">
            <a:avLst/>
          </a:prstGeom>
        </p:spPr>
        <p:txBody>
          <a:bodyPr anchor="t" rtlCol="false" tIns="0" lIns="0" bIns="0" rIns="0">
            <a:spAutoFit/>
          </a:bodyPr>
          <a:lstStyle/>
          <a:p>
            <a:pPr algn="l" marL="0" indent="0" lvl="0">
              <a:lnSpc>
                <a:spcPts val="3738"/>
              </a:lnSpc>
              <a:spcBef>
                <a:spcPct val="0"/>
              </a:spcBef>
            </a:pPr>
            <a:r>
              <a:rPr lang="en-US" b="true" sz="4200">
                <a:solidFill>
                  <a:srgbClr val="365B6D"/>
                </a:solidFill>
                <a:latin typeface="Monterchi Serif Bold"/>
                <a:ea typeface="Monterchi Serif Bold"/>
                <a:cs typeface="Monterchi Serif Bold"/>
                <a:sym typeface="Monterchi Serif Bold"/>
              </a:rPr>
              <a:t>Formas</a:t>
            </a:r>
          </a:p>
        </p:txBody>
      </p:sp>
      <p:sp>
        <p:nvSpPr>
          <p:cNvPr name="TextBox 4" id="4"/>
          <p:cNvSpPr txBox="true"/>
          <p:nvPr/>
        </p:nvSpPr>
        <p:spPr>
          <a:xfrm rot="0">
            <a:off x="9973497" y="2662612"/>
            <a:ext cx="6070207" cy="508254"/>
          </a:xfrm>
          <a:prstGeom prst="rect">
            <a:avLst/>
          </a:prstGeom>
        </p:spPr>
        <p:txBody>
          <a:bodyPr anchor="t" rtlCol="false" tIns="0" lIns="0" bIns="0" rIns="0">
            <a:spAutoFit/>
          </a:bodyPr>
          <a:lstStyle/>
          <a:p>
            <a:pPr algn="l" marL="0" indent="0" lvl="0">
              <a:lnSpc>
                <a:spcPts val="3738"/>
              </a:lnSpc>
              <a:spcBef>
                <a:spcPct val="0"/>
              </a:spcBef>
            </a:pPr>
            <a:r>
              <a:rPr lang="en-US" b="true" sz="4200">
                <a:solidFill>
                  <a:srgbClr val="365B6D"/>
                </a:solidFill>
                <a:latin typeface="Monterchi Serif Bold"/>
                <a:ea typeface="Monterchi Serif Bold"/>
                <a:cs typeface="Monterchi Serif Bold"/>
                <a:sym typeface="Monterchi Serif Bold"/>
              </a:rPr>
              <a:t>Enrutamiento/Protocolos</a:t>
            </a:r>
          </a:p>
        </p:txBody>
      </p:sp>
      <p:sp>
        <p:nvSpPr>
          <p:cNvPr name="TextBox 5" id="5"/>
          <p:cNvSpPr txBox="true"/>
          <p:nvPr/>
        </p:nvSpPr>
        <p:spPr>
          <a:xfrm rot="0">
            <a:off x="9973497" y="3651150"/>
            <a:ext cx="6895498" cy="2481581"/>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Además, se puede implementar el enrutamiento estático o utilizar protocolos de enrutamiento dinámico, como OSPF o EIGRP, dependiendo de los requisitos y la complejidad de la red.</a:t>
            </a:r>
          </a:p>
        </p:txBody>
      </p:sp>
      <p:sp>
        <p:nvSpPr>
          <p:cNvPr name="TextBox 6" id="6"/>
          <p:cNvSpPr txBox="true"/>
          <p:nvPr/>
        </p:nvSpPr>
        <p:spPr>
          <a:xfrm rot="0">
            <a:off x="1550281" y="3651150"/>
            <a:ext cx="6810246" cy="5453381"/>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Las tres principales formas de implementarlo son:</a:t>
            </a:r>
          </a:p>
          <a:p>
            <a:pPr algn="just" marL="604513" indent="-302256" lvl="1">
              <a:lnSpc>
                <a:spcPts val="3919"/>
              </a:lnSpc>
              <a:buFont typeface="Arial"/>
              <a:buChar char="•"/>
            </a:pPr>
            <a:r>
              <a:rPr lang="en-US" sz="2799">
                <a:solidFill>
                  <a:srgbClr val="365B6D"/>
                </a:solidFill>
                <a:latin typeface="Roboto"/>
                <a:ea typeface="Roboto"/>
                <a:cs typeface="Roboto"/>
                <a:sym typeface="Roboto"/>
              </a:rPr>
              <a:t>InterVLAN Routin heredado: Esta es una solución antigua. No escala bien.</a:t>
            </a:r>
          </a:p>
          <a:p>
            <a:pPr algn="just" marL="604513" indent="-302256" lvl="1">
              <a:lnSpc>
                <a:spcPts val="3919"/>
              </a:lnSpc>
              <a:buFont typeface="Arial"/>
              <a:buChar char="•"/>
            </a:pPr>
            <a:r>
              <a:rPr lang="en-US" sz="2799">
                <a:solidFill>
                  <a:srgbClr val="365B6D"/>
                </a:solidFill>
                <a:latin typeface="Roboto"/>
                <a:ea typeface="Roboto"/>
                <a:cs typeface="Roboto"/>
                <a:sym typeface="Roboto"/>
              </a:rPr>
              <a:t>Router-on-a-stick: Esta es una solución aceptable para una red pequeña o mediana.</a:t>
            </a:r>
          </a:p>
          <a:p>
            <a:pPr algn="just" marL="604513" indent="-302256" lvl="1">
              <a:lnSpc>
                <a:spcPts val="3919"/>
              </a:lnSpc>
              <a:buFont typeface="Arial"/>
              <a:buChar char="•"/>
            </a:pPr>
            <a:r>
              <a:rPr lang="en-US" sz="2799">
                <a:solidFill>
                  <a:srgbClr val="365B6D"/>
                </a:solidFill>
                <a:latin typeface="Roboto"/>
                <a:ea typeface="Roboto"/>
                <a:cs typeface="Roboto"/>
                <a:sym typeface="Roboto"/>
              </a:rPr>
              <a:t>Switch de capa 3 con interfaces virtuales (SVIs): esta es la solución más escalable para organizaciones medianas y grandes.</a:t>
            </a:r>
          </a:p>
        </p:txBody>
      </p:sp>
      <p:grpSp>
        <p:nvGrpSpPr>
          <p:cNvPr name="Group 7" id="7"/>
          <p:cNvGrpSpPr/>
          <p:nvPr/>
        </p:nvGrpSpPr>
        <p:grpSpPr>
          <a:xfrm rot="0">
            <a:off x="1550281" y="3170810"/>
            <a:ext cx="3447749" cy="235776"/>
            <a:chOff x="0" y="0"/>
            <a:chExt cx="908049" cy="62097"/>
          </a:xfrm>
        </p:grpSpPr>
        <p:sp>
          <p:nvSpPr>
            <p:cNvPr name="Freeform 8" id="8"/>
            <p:cNvSpPr/>
            <p:nvPr/>
          </p:nvSpPr>
          <p:spPr>
            <a:xfrm flipH="false" flipV="false" rot="0">
              <a:off x="0" y="0"/>
              <a:ext cx="908049" cy="62097"/>
            </a:xfrm>
            <a:custGeom>
              <a:avLst/>
              <a:gdLst/>
              <a:ahLst/>
              <a:cxnLst/>
              <a:rect r="r" b="b" t="t" l="l"/>
              <a:pathLst>
                <a:path h="62097" w="908049">
                  <a:moveTo>
                    <a:pt x="0" y="0"/>
                  </a:moveTo>
                  <a:lnTo>
                    <a:pt x="908049" y="0"/>
                  </a:lnTo>
                  <a:lnTo>
                    <a:pt x="908049" y="62097"/>
                  </a:lnTo>
                  <a:lnTo>
                    <a:pt x="0" y="62097"/>
                  </a:lnTo>
                  <a:close/>
                </a:path>
              </a:pathLst>
            </a:custGeom>
            <a:solidFill>
              <a:srgbClr val="6C9286"/>
            </a:solidFill>
            <a:ln cap="sq">
              <a:noFill/>
              <a:prstDash val="solid"/>
              <a:miter/>
            </a:ln>
          </p:spPr>
        </p:sp>
        <p:sp>
          <p:nvSpPr>
            <p:cNvPr name="TextBox 9" id="9"/>
            <p:cNvSpPr txBox="true"/>
            <p:nvPr/>
          </p:nvSpPr>
          <p:spPr>
            <a:xfrm>
              <a:off x="0" y="-28575"/>
              <a:ext cx="90804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9973497" y="3170810"/>
            <a:ext cx="3447749" cy="235776"/>
            <a:chOff x="0" y="0"/>
            <a:chExt cx="908049" cy="62097"/>
          </a:xfrm>
        </p:grpSpPr>
        <p:sp>
          <p:nvSpPr>
            <p:cNvPr name="Freeform 11" id="11"/>
            <p:cNvSpPr/>
            <p:nvPr/>
          </p:nvSpPr>
          <p:spPr>
            <a:xfrm flipH="false" flipV="false" rot="0">
              <a:off x="0" y="0"/>
              <a:ext cx="908049" cy="62097"/>
            </a:xfrm>
            <a:custGeom>
              <a:avLst/>
              <a:gdLst/>
              <a:ahLst/>
              <a:cxnLst/>
              <a:rect r="r" b="b" t="t" l="l"/>
              <a:pathLst>
                <a:path h="62097" w="908049">
                  <a:moveTo>
                    <a:pt x="0" y="0"/>
                  </a:moveTo>
                  <a:lnTo>
                    <a:pt x="908049" y="0"/>
                  </a:lnTo>
                  <a:lnTo>
                    <a:pt x="908049" y="62097"/>
                  </a:lnTo>
                  <a:lnTo>
                    <a:pt x="0" y="62097"/>
                  </a:lnTo>
                  <a:close/>
                </a:path>
              </a:pathLst>
            </a:custGeom>
            <a:solidFill>
              <a:srgbClr val="6C9286"/>
            </a:solidFill>
            <a:ln cap="sq">
              <a:noFill/>
              <a:prstDash val="solid"/>
              <a:miter/>
            </a:ln>
          </p:spPr>
        </p:sp>
        <p:sp>
          <p:nvSpPr>
            <p:cNvPr name="TextBox 12" id="12"/>
            <p:cNvSpPr txBox="true"/>
            <p:nvPr/>
          </p:nvSpPr>
          <p:spPr>
            <a:xfrm>
              <a:off x="0" y="-28575"/>
              <a:ext cx="90804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4998030" y="3170810"/>
            <a:ext cx="3447749" cy="235776"/>
            <a:chOff x="0" y="0"/>
            <a:chExt cx="908049" cy="62097"/>
          </a:xfrm>
        </p:grpSpPr>
        <p:sp>
          <p:nvSpPr>
            <p:cNvPr name="Freeform 14" id="14"/>
            <p:cNvSpPr/>
            <p:nvPr/>
          </p:nvSpPr>
          <p:spPr>
            <a:xfrm flipH="false" flipV="false" rot="0">
              <a:off x="0" y="0"/>
              <a:ext cx="908049" cy="62097"/>
            </a:xfrm>
            <a:custGeom>
              <a:avLst/>
              <a:gdLst/>
              <a:ahLst/>
              <a:cxnLst/>
              <a:rect r="r" b="b" t="t" l="l"/>
              <a:pathLst>
                <a:path h="62097" w="908049">
                  <a:moveTo>
                    <a:pt x="0" y="0"/>
                  </a:moveTo>
                  <a:lnTo>
                    <a:pt x="908049" y="0"/>
                  </a:lnTo>
                  <a:lnTo>
                    <a:pt x="908049" y="62097"/>
                  </a:lnTo>
                  <a:lnTo>
                    <a:pt x="0" y="62097"/>
                  </a:lnTo>
                  <a:close/>
                </a:path>
              </a:pathLst>
            </a:custGeom>
            <a:solidFill>
              <a:srgbClr val="365B6D"/>
            </a:solidFill>
            <a:ln cap="sq">
              <a:noFill/>
              <a:prstDash val="solid"/>
              <a:miter/>
            </a:ln>
          </p:spPr>
        </p:sp>
        <p:sp>
          <p:nvSpPr>
            <p:cNvPr name="TextBox 15" id="15"/>
            <p:cNvSpPr txBox="true"/>
            <p:nvPr/>
          </p:nvSpPr>
          <p:spPr>
            <a:xfrm>
              <a:off x="0" y="-28575"/>
              <a:ext cx="90804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6" id="16"/>
          <p:cNvGrpSpPr/>
          <p:nvPr/>
        </p:nvGrpSpPr>
        <p:grpSpPr>
          <a:xfrm rot="0">
            <a:off x="13421246" y="3170810"/>
            <a:ext cx="3447749" cy="235776"/>
            <a:chOff x="0" y="0"/>
            <a:chExt cx="908049" cy="62097"/>
          </a:xfrm>
        </p:grpSpPr>
        <p:sp>
          <p:nvSpPr>
            <p:cNvPr name="Freeform 17" id="17"/>
            <p:cNvSpPr/>
            <p:nvPr/>
          </p:nvSpPr>
          <p:spPr>
            <a:xfrm flipH="false" flipV="false" rot="0">
              <a:off x="0" y="0"/>
              <a:ext cx="908049" cy="62097"/>
            </a:xfrm>
            <a:custGeom>
              <a:avLst/>
              <a:gdLst/>
              <a:ahLst/>
              <a:cxnLst/>
              <a:rect r="r" b="b" t="t" l="l"/>
              <a:pathLst>
                <a:path h="62097" w="908049">
                  <a:moveTo>
                    <a:pt x="0" y="0"/>
                  </a:moveTo>
                  <a:lnTo>
                    <a:pt x="908049" y="0"/>
                  </a:lnTo>
                  <a:lnTo>
                    <a:pt x="908049" y="62097"/>
                  </a:lnTo>
                  <a:lnTo>
                    <a:pt x="0" y="62097"/>
                  </a:lnTo>
                  <a:close/>
                </a:path>
              </a:pathLst>
            </a:custGeom>
            <a:solidFill>
              <a:srgbClr val="365B6D"/>
            </a:solidFill>
            <a:ln cap="sq">
              <a:noFill/>
              <a:prstDash val="solid"/>
              <a:miter/>
            </a:ln>
          </p:spPr>
        </p:sp>
        <p:sp>
          <p:nvSpPr>
            <p:cNvPr name="TextBox 18" id="18"/>
            <p:cNvSpPr txBox="true"/>
            <p:nvPr/>
          </p:nvSpPr>
          <p:spPr>
            <a:xfrm>
              <a:off x="0" y="-28575"/>
              <a:ext cx="90804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grpSp>
        <p:nvGrpSpPr>
          <p:cNvPr name="Group 2" id="2"/>
          <p:cNvGrpSpPr/>
          <p:nvPr/>
        </p:nvGrpSpPr>
        <p:grpSpPr>
          <a:xfrm rot="0">
            <a:off x="15150722" y="1234804"/>
            <a:ext cx="3748348" cy="235776"/>
            <a:chOff x="0" y="0"/>
            <a:chExt cx="987219" cy="62097"/>
          </a:xfrm>
        </p:grpSpPr>
        <p:sp>
          <p:nvSpPr>
            <p:cNvPr name="Freeform 3" id="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4" id="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5" id="5"/>
          <p:cNvGrpSpPr/>
          <p:nvPr/>
        </p:nvGrpSpPr>
        <p:grpSpPr>
          <a:xfrm rot="0">
            <a:off x="10893855" y="8695865"/>
            <a:ext cx="3748348" cy="235776"/>
            <a:chOff x="0" y="0"/>
            <a:chExt cx="987219" cy="62097"/>
          </a:xfrm>
        </p:grpSpPr>
        <p:sp>
          <p:nvSpPr>
            <p:cNvPr name="Freeform 6" id="6"/>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7" id="7"/>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8" id="8"/>
          <p:cNvGrpSpPr/>
          <p:nvPr/>
        </p:nvGrpSpPr>
        <p:grpSpPr>
          <a:xfrm rot="0">
            <a:off x="14230364" y="1659112"/>
            <a:ext cx="3748348" cy="235776"/>
            <a:chOff x="0" y="0"/>
            <a:chExt cx="987219" cy="62097"/>
          </a:xfrm>
        </p:grpSpPr>
        <p:sp>
          <p:nvSpPr>
            <p:cNvPr name="Freeform 9" id="9"/>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0" id="10"/>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1" id="11"/>
          <p:cNvGrpSpPr/>
          <p:nvPr/>
        </p:nvGrpSpPr>
        <p:grpSpPr>
          <a:xfrm rot="0">
            <a:off x="9973497" y="9120174"/>
            <a:ext cx="3748348" cy="235776"/>
            <a:chOff x="0" y="0"/>
            <a:chExt cx="987219" cy="62097"/>
          </a:xfrm>
        </p:grpSpPr>
        <p:sp>
          <p:nvSpPr>
            <p:cNvPr name="Freeform 12" id="12"/>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3" id="13"/>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Freeform 14" id="14"/>
          <p:cNvSpPr/>
          <p:nvPr/>
        </p:nvSpPr>
        <p:spPr>
          <a:xfrm flipH="false" flipV="false" rot="0">
            <a:off x="9420170" y="2795755"/>
            <a:ext cx="8603349" cy="4999243"/>
          </a:xfrm>
          <a:custGeom>
            <a:avLst/>
            <a:gdLst/>
            <a:ahLst/>
            <a:cxnLst/>
            <a:rect r="r" b="b" t="t" l="l"/>
            <a:pathLst>
              <a:path h="4999243" w="8603349">
                <a:moveTo>
                  <a:pt x="0" y="0"/>
                </a:moveTo>
                <a:lnTo>
                  <a:pt x="8603349" y="0"/>
                </a:lnTo>
                <a:lnTo>
                  <a:pt x="8603349" y="4999243"/>
                </a:lnTo>
                <a:lnTo>
                  <a:pt x="0" y="4999243"/>
                </a:lnTo>
                <a:lnTo>
                  <a:pt x="0" y="0"/>
                </a:lnTo>
                <a:close/>
              </a:path>
            </a:pathLst>
          </a:custGeom>
          <a:blipFill>
            <a:blip r:embed="rId2"/>
            <a:stretch>
              <a:fillRect l="0" t="0" r="0" b="0"/>
            </a:stretch>
          </a:blipFill>
        </p:spPr>
      </p:sp>
      <p:sp>
        <p:nvSpPr>
          <p:cNvPr name="TextBox 15" id="15"/>
          <p:cNvSpPr txBox="true"/>
          <p:nvPr/>
        </p:nvSpPr>
        <p:spPr>
          <a:xfrm rot="0">
            <a:off x="1550281" y="1847805"/>
            <a:ext cx="9291139"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InterVLAN Routing heredado</a:t>
            </a:r>
          </a:p>
        </p:txBody>
      </p:sp>
      <p:sp>
        <p:nvSpPr>
          <p:cNvPr name="TextBox 16" id="16"/>
          <p:cNvSpPr txBox="true"/>
          <p:nvPr/>
        </p:nvSpPr>
        <p:spPr>
          <a:xfrm rot="0">
            <a:off x="1550281" y="3791226"/>
            <a:ext cx="7261564" cy="3472180"/>
          </a:xfrm>
          <a:prstGeom prst="rect">
            <a:avLst/>
          </a:prstGeom>
        </p:spPr>
        <p:txBody>
          <a:bodyPr anchor="t" rtlCol="false" tIns="0" lIns="0" bIns="0" rIns="0">
            <a:spAutoFit/>
          </a:bodyPr>
          <a:lstStyle/>
          <a:p>
            <a:pPr algn="just">
              <a:lnSpc>
                <a:spcPts val="3919"/>
              </a:lnSpc>
              <a:spcBef>
                <a:spcPct val="0"/>
              </a:spcBef>
            </a:pPr>
            <a:r>
              <a:rPr lang="en-US" sz="2799">
                <a:solidFill>
                  <a:srgbClr val="365B6D"/>
                </a:solidFill>
                <a:latin typeface="Roboto"/>
                <a:ea typeface="Roboto"/>
                <a:cs typeface="Roboto"/>
                <a:sym typeface="Roboto"/>
              </a:rPr>
              <a:t>Se basa en el uso de un enrutador con múltiples interfaces Ethernet. Cada interfaz del enrutador estaba conectada a un puerto del switch en diferentes VLAN. Las interfaces del enrutador sirven como puertas de enlace predeterminada para los hosts locales en la subred de la VLAN. </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1064477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Router-on-a-stick</a:t>
            </a:r>
          </a:p>
        </p:txBody>
      </p:sp>
      <p:sp>
        <p:nvSpPr>
          <p:cNvPr name="TextBox 3" id="3"/>
          <p:cNvSpPr txBox="true"/>
          <p:nvPr/>
        </p:nvSpPr>
        <p:spPr>
          <a:xfrm rot="0">
            <a:off x="1550281" y="2931138"/>
            <a:ext cx="14862766" cy="49580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En esta configuración, un solo enrutador se utiliza para interconectar varias VLANs en una red, a través de una única interfaz de red física que se conecta a un switch capa 2.</a:t>
            </a:r>
          </a:p>
          <a:p>
            <a:pPr algn="just">
              <a:lnSpc>
                <a:spcPts val="3919"/>
              </a:lnSpc>
            </a:pPr>
          </a:p>
          <a:p>
            <a:pPr algn="just">
              <a:lnSpc>
                <a:spcPts val="3919"/>
              </a:lnSpc>
            </a:pPr>
            <a:r>
              <a:rPr lang="en-US" sz="2799">
                <a:solidFill>
                  <a:srgbClr val="365B6D"/>
                </a:solidFill>
                <a:latin typeface="Roboto"/>
                <a:ea typeface="Roboto"/>
                <a:cs typeface="Roboto"/>
                <a:sym typeface="Roboto"/>
              </a:rPr>
              <a:t>Utiliza subinterfaces en la interfaz física del enrutador para representar cada una de las VLANs. Cada subinterfaz se configura con una dirección IP y una máscara de red asociada a una VLAN específica.</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Luego, el enrutador utiliza etiquetas de VLAN (802.1Q) para marcar el tráfico que se intercambia entre el enrutador y el switch. El switch, a su vez, utiliza la información de etiquetas de VLAN para enviar el tráfico a la subinterfaz correcta del enrutador. </a:t>
            </a:r>
          </a:p>
        </p:txBody>
      </p:sp>
      <p:grpSp>
        <p:nvGrpSpPr>
          <p:cNvPr name="Group 4" id="4"/>
          <p:cNvGrpSpPr/>
          <p:nvPr/>
        </p:nvGrpSpPr>
        <p:grpSpPr>
          <a:xfrm rot="0">
            <a:off x="7730005" y="8598216"/>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0">
            <a:off x="6809647" y="9022524"/>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14148702" y="1638255"/>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13228344" y="2062564"/>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1064477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Router-on-a-stick</a:t>
            </a:r>
          </a:p>
        </p:txBody>
      </p:sp>
      <p:sp>
        <p:nvSpPr>
          <p:cNvPr name="TextBox 3" id="3"/>
          <p:cNvSpPr txBox="true"/>
          <p:nvPr/>
        </p:nvSpPr>
        <p:spPr>
          <a:xfrm rot="0">
            <a:off x="1550281" y="2931138"/>
            <a:ext cx="14862766" cy="44627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Es una solución eficiente y económica para implementar intervlan routing en redes pequeñas o medianas que utilizan VLANs.</a:t>
            </a:r>
          </a:p>
          <a:p>
            <a:pPr algn="just">
              <a:lnSpc>
                <a:spcPts val="3919"/>
              </a:lnSpc>
            </a:pPr>
          </a:p>
          <a:p>
            <a:pPr algn="just">
              <a:lnSpc>
                <a:spcPts val="3919"/>
              </a:lnSpc>
            </a:pPr>
            <a:r>
              <a:rPr lang="en-US" sz="2799">
                <a:solidFill>
                  <a:srgbClr val="365B6D"/>
                </a:solidFill>
                <a:latin typeface="Roboto"/>
                <a:ea typeface="Roboto"/>
                <a:cs typeface="Roboto"/>
                <a:sym typeface="Roboto"/>
              </a:rPr>
              <a:t>Permite la segmentación del tráfico entre VLANs y el control de acceso entre ellas, sin necesidad de tener múltiples interfaces físicas en el enrutador.</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Sin embargo, es importante tener en cuenta que el enrutador debe ser lo suficientemente potente para manejar el tráfico entre las VLANs, ya que todo el tráfico entre las VLANs pasará a través de la misma interfaz física del enrutador. </a:t>
            </a:r>
          </a:p>
        </p:txBody>
      </p:sp>
      <p:grpSp>
        <p:nvGrpSpPr>
          <p:cNvPr name="Group 4" id="4"/>
          <p:cNvGrpSpPr/>
          <p:nvPr/>
        </p:nvGrpSpPr>
        <p:grpSpPr>
          <a:xfrm rot="0">
            <a:off x="7730005" y="8598216"/>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0">
            <a:off x="6809647" y="9022524"/>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14148702" y="1638255"/>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13228344" y="2062564"/>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grpSp>
        <p:nvGrpSpPr>
          <p:cNvPr name="Group 2" id="2"/>
          <p:cNvGrpSpPr/>
          <p:nvPr/>
        </p:nvGrpSpPr>
        <p:grpSpPr>
          <a:xfrm rot="0">
            <a:off x="14892635" y="1028700"/>
            <a:ext cx="3748348" cy="235776"/>
            <a:chOff x="0" y="0"/>
            <a:chExt cx="987219" cy="62097"/>
          </a:xfrm>
        </p:grpSpPr>
        <p:sp>
          <p:nvSpPr>
            <p:cNvPr name="Freeform 3" id="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4" id="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5" id="5"/>
          <p:cNvGrpSpPr/>
          <p:nvPr/>
        </p:nvGrpSpPr>
        <p:grpSpPr>
          <a:xfrm rot="0">
            <a:off x="8589414" y="8598216"/>
            <a:ext cx="3748348" cy="235776"/>
            <a:chOff x="0" y="0"/>
            <a:chExt cx="987219" cy="62097"/>
          </a:xfrm>
        </p:grpSpPr>
        <p:sp>
          <p:nvSpPr>
            <p:cNvPr name="Freeform 6" id="6"/>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7" id="7"/>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8" id="8"/>
          <p:cNvGrpSpPr/>
          <p:nvPr/>
        </p:nvGrpSpPr>
        <p:grpSpPr>
          <a:xfrm rot="0">
            <a:off x="13972277" y="1453008"/>
            <a:ext cx="3748348" cy="235776"/>
            <a:chOff x="0" y="0"/>
            <a:chExt cx="987219" cy="62097"/>
          </a:xfrm>
        </p:grpSpPr>
        <p:sp>
          <p:nvSpPr>
            <p:cNvPr name="Freeform 9" id="9"/>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0" id="10"/>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1" id="11"/>
          <p:cNvGrpSpPr/>
          <p:nvPr/>
        </p:nvGrpSpPr>
        <p:grpSpPr>
          <a:xfrm rot="0">
            <a:off x="7669056" y="9022524"/>
            <a:ext cx="3748348" cy="235776"/>
            <a:chOff x="0" y="0"/>
            <a:chExt cx="987219" cy="62097"/>
          </a:xfrm>
        </p:grpSpPr>
        <p:sp>
          <p:nvSpPr>
            <p:cNvPr name="Freeform 12" id="12"/>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3" id="13"/>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Freeform 14" id="14"/>
          <p:cNvSpPr/>
          <p:nvPr/>
        </p:nvSpPr>
        <p:spPr>
          <a:xfrm flipH="false" flipV="false" rot="0">
            <a:off x="4244183" y="1784034"/>
            <a:ext cx="10598094" cy="6718932"/>
          </a:xfrm>
          <a:custGeom>
            <a:avLst/>
            <a:gdLst/>
            <a:ahLst/>
            <a:cxnLst/>
            <a:rect r="r" b="b" t="t" l="l"/>
            <a:pathLst>
              <a:path h="6718932" w="10598094">
                <a:moveTo>
                  <a:pt x="0" y="0"/>
                </a:moveTo>
                <a:lnTo>
                  <a:pt x="10598094" y="0"/>
                </a:lnTo>
                <a:lnTo>
                  <a:pt x="10598094" y="6718932"/>
                </a:lnTo>
                <a:lnTo>
                  <a:pt x="0" y="6718932"/>
                </a:lnTo>
                <a:lnTo>
                  <a:pt x="0" y="0"/>
                </a:lnTo>
                <a:close/>
              </a:path>
            </a:pathLst>
          </a:custGeom>
          <a:blipFill>
            <a:blip r:embed="rId2"/>
            <a:stretch>
              <a:fillRect l="0" t="0" r="0" b="0"/>
            </a:stretch>
          </a:blipFill>
        </p:spPr>
      </p:sp>
      <p:sp>
        <p:nvSpPr>
          <p:cNvPr name="TextBox 15" id="15"/>
          <p:cNvSpPr txBox="true"/>
          <p:nvPr/>
        </p:nvSpPr>
        <p:spPr>
          <a:xfrm rot="0">
            <a:off x="1311853" y="973710"/>
            <a:ext cx="6062640" cy="1025271"/>
          </a:xfrm>
          <a:prstGeom prst="rect">
            <a:avLst/>
          </a:prstGeom>
        </p:spPr>
        <p:txBody>
          <a:bodyPr anchor="t" rtlCol="false" tIns="0" lIns="0" bIns="0" rIns="0">
            <a:spAutoFit/>
          </a:bodyPr>
          <a:lstStyle/>
          <a:p>
            <a:pPr algn="l">
              <a:lnSpc>
                <a:spcPts val="7992"/>
              </a:lnSpc>
            </a:pPr>
            <a:r>
              <a:rPr lang="en-US" sz="7200" spc="-187">
                <a:solidFill>
                  <a:srgbClr val="365B6D"/>
                </a:solidFill>
                <a:latin typeface="Monterchi Serif"/>
                <a:ea typeface="Monterchi Serif"/>
                <a:cs typeface="Monterchi Serif"/>
                <a:sym typeface="Monterchi Serif"/>
              </a:rPr>
              <a:t>Router-on-a-stick</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9836724"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Switch de capa 3 con interfaces virtuales (SVIs)</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3636219"/>
            <a:ext cx="15345020" cy="44627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Requiere del uso de un switch que tiene capacidades de enrutamiento en la capa 3 del modelo OSI. Esto significa que el switch es capaz de tomar decisiones de enrutamiento y de reenviar paquetes IP entre diferentes VLANs en la red.</a:t>
            </a:r>
          </a:p>
          <a:p>
            <a:pPr algn="just">
              <a:lnSpc>
                <a:spcPts val="3919"/>
              </a:lnSpc>
            </a:pPr>
          </a:p>
          <a:p>
            <a:pPr algn="just">
              <a:lnSpc>
                <a:spcPts val="3919"/>
              </a:lnSpc>
            </a:pPr>
            <a:r>
              <a:rPr lang="en-US" sz="2799">
                <a:solidFill>
                  <a:srgbClr val="365B6D"/>
                </a:solidFill>
                <a:latin typeface="Roboto"/>
                <a:ea typeface="Roboto"/>
                <a:cs typeface="Roboto"/>
                <a:sym typeface="Roboto"/>
              </a:rPr>
              <a:t>A diferencia de un switch de capa 2, que solo puede realizar conmutación de capa 2 (basada en direcciones MAC), un switch de capa 3 tiene capacidad adicional para trabajar con direcciones IP y realizar funciones de enrutamiento.</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Emplea interfaces virtuales del switch (SVI), las cuales son configuradas en el switch de capa 3.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9836724"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Switch de capa 3 con interfaces virtuales (SVIs)</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3636219"/>
            <a:ext cx="15345020" cy="39674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Los SVIs entre VLAN se crean de la misma manera que se configura la interfaz de VLAN de administración.</a:t>
            </a:r>
          </a:p>
          <a:p>
            <a:pPr algn="just">
              <a:lnSpc>
                <a:spcPts val="3919"/>
              </a:lnSpc>
            </a:pPr>
          </a:p>
          <a:p>
            <a:pPr algn="just">
              <a:lnSpc>
                <a:spcPts val="3919"/>
              </a:lnSpc>
            </a:pPr>
            <a:r>
              <a:rPr lang="en-US" sz="2799">
                <a:solidFill>
                  <a:srgbClr val="365B6D"/>
                </a:solidFill>
                <a:latin typeface="Roboto"/>
                <a:ea typeface="Roboto"/>
                <a:cs typeface="Roboto"/>
                <a:sym typeface="Roboto"/>
              </a:rPr>
              <a:t>El SVI se crea para una VLAN que existe en el switch. Aunque es virtual, el SVI realiza las mismas funciones para la VLAN que lo haría una interfaz de enrutador.</a:t>
            </a:r>
          </a:p>
          <a:p>
            <a:pPr algn="just">
              <a:lnSpc>
                <a:spcPts val="3919"/>
              </a:lnSpc>
            </a:pPr>
          </a:p>
          <a:p>
            <a:pPr algn="just">
              <a:lnSpc>
                <a:spcPts val="3919"/>
              </a:lnSpc>
              <a:spcBef>
                <a:spcPct val="0"/>
              </a:spcBef>
            </a:pPr>
            <a:r>
              <a:rPr lang="en-US" sz="2799">
                <a:solidFill>
                  <a:srgbClr val="365B6D"/>
                </a:solidFill>
                <a:latin typeface="Roboto"/>
                <a:ea typeface="Roboto"/>
                <a:cs typeface="Roboto"/>
                <a:sym typeface="Roboto"/>
              </a:rPr>
              <a:t>Específicamente, proporciona el procesamiento de Capa 3 para los paquetes que se envían hacia o desde todos los puertos de switch asociados con esa VLAN.</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9836724"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Ventajas del uso de un switch de capa 3</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3963570"/>
            <a:ext cx="15345020" cy="39674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Es mucho más veloz que router-on-a-stick, porque todo el switching y el enrutamiento se realizan por hardware.</a:t>
            </a:r>
          </a:p>
          <a:p>
            <a:pPr algn="just">
              <a:lnSpc>
                <a:spcPts val="3919"/>
              </a:lnSpc>
            </a:pPr>
          </a:p>
          <a:p>
            <a:pPr algn="just">
              <a:lnSpc>
                <a:spcPts val="3919"/>
              </a:lnSpc>
            </a:pPr>
            <a:r>
              <a:rPr lang="en-US" sz="2799">
                <a:solidFill>
                  <a:srgbClr val="365B6D"/>
                </a:solidFill>
                <a:latin typeface="Roboto"/>
                <a:ea typeface="Roboto"/>
                <a:cs typeface="Roboto"/>
                <a:sym typeface="Roboto"/>
              </a:rPr>
              <a:t>El enrutamiento no requiere enlaces externos del switch al router para el enrutamiento.</a:t>
            </a:r>
          </a:p>
          <a:p>
            <a:pPr algn="just">
              <a:lnSpc>
                <a:spcPts val="3919"/>
              </a:lnSpc>
            </a:pPr>
          </a:p>
          <a:p>
            <a:pPr algn="just">
              <a:lnSpc>
                <a:spcPts val="3919"/>
              </a:lnSpc>
            </a:pPr>
            <a:r>
              <a:rPr lang="en-US" sz="2799">
                <a:solidFill>
                  <a:srgbClr val="365B6D"/>
                </a:solidFill>
                <a:latin typeface="Roboto"/>
                <a:ea typeface="Roboto"/>
                <a:cs typeface="Roboto"/>
                <a:sym typeface="Roboto"/>
              </a:rPr>
              <a:t>No se limitan a un solo enlace porque los EtherChannels de Capa 2 pueden ser usados como enlaces troncales entre los switches para aumentar el ancho de banda.</a:t>
            </a:r>
          </a:p>
          <a:p>
            <a:pPr algn="just">
              <a:lnSpc>
                <a:spcPts val="391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1847805"/>
            <a:ext cx="9836724"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Ventajas del uso de un switch de capa 3</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4465508"/>
            <a:ext cx="15345020" cy="2481580"/>
          </a:xfrm>
          <a:prstGeom prst="rect">
            <a:avLst/>
          </a:prstGeom>
        </p:spPr>
        <p:txBody>
          <a:bodyPr anchor="t" rtlCol="false" tIns="0" lIns="0" bIns="0" rIns="0">
            <a:spAutoFit/>
          </a:bodyPr>
          <a:lstStyle/>
          <a:p>
            <a:pPr algn="just">
              <a:lnSpc>
                <a:spcPts val="3919"/>
              </a:lnSpc>
            </a:pPr>
            <a:r>
              <a:rPr lang="en-US" sz="2799">
                <a:solidFill>
                  <a:srgbClr val="365B6D"/>
                </a:solidFill>
                <a:latin typeface="Roboto"/>
                <a:ea typeface="Roboto"/>
                <a:cs typeface="Roboto"/>
                <a:sym typeface="Roboto"/>
              </a:rPr>
              <a:t>La latencia es mucho más baja, dado que los datos no necesitan salir del switch para ser enrutados a una red diferente.</a:t>
            </a:r>
          </a:p>
          <a:p>
            <a:pPr algn="just">
              <a:lnSpc>
                <a:spcPts val="3919"/>
              </a:lnSpc>
            </a:pPr>
          </a:p>
          <a:p>
            <a:pPr algn="just">
              <a:lnSpc>
                <a:spcPts val="3919"/>
              </a:lnSpc>
            </a:pPr>
            <a:r>
              <a:rPr lang="en-US" sz="2799">
                <a:solidFill>
                  <a:srgbClr val="365B6D"/>
                </a:solidFill>
                <a:latin typeface="Roboto"/>
                <a:ea typeface="Roboto"/>
                <a:cs typeface="Roboto"/>
                <a:sym typeface="Roboto"/>
              </a:rPr>
              <a:t>Se implementan con mayor frecuencia en una LAN de campus que en enrutadores. </a:t>
            </a:r>
          </a:p>
          <a:p>
            <a:pPr algn="just">
              <a:lnSpc>
                <a:spcPts val="391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grpSp>
        <p:nvGrpSpPr>
          <p:cNvPr name="Group 2" id="2"/>
          <p:cNvGrpSpPr/>
          <p:nvPr/>
        </p:nvGrpSpPr>
        <p:grpSpPr>
          <a:xfrm rot="0">
            <a:off x="15150722" y="1234804"/>
            <a:ext cx="3748348" cy="235776"/>
            <a:chOff x="0" y="0"/>
            <a:chExt cx="987219" cy="62097"/>
          </a:xfrm>
        </p:grpSpPr>
        <p:sp>
          <p:nvSpPr>
            <p:cNvPr name="Freeform 3" id="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4" id="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5" id="5"/>
          <p:cNvGrpSpPr/>
          <p:nvPr/>
        </p:nvGrpSpPr>
        <p:grpSpPr>
          <a:xfrm rot="0">
            <a:off x="11068442" y="9066863"/>
            <a:ext cx="3748348" cy="235776"/>
            <a:chOff x="0" y="0"/>
            <a:chExt cx="987219" cy="62097"/>
          </a:xfrm>
        </p:grpSpPr>
        <p:sp>
          <p:nvSpPr>
            <p:cNvPr name="Freeform 6" id="6"/>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7" id="7"/>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8" id="8"/>
          <p:cNvGrpSpPr/>
          <p:nvPr/>
        </p:nvGrpSpPr>
        <p:grpSpPr>
          <a:xfrm rot="0">
            <a:off x="14230364" y="1659112"/>
            <a:ext cx="3748348" cy="235776"/>
            <a:chOff x="0" y="0"/>
            <a:chExt cx="987219" cy="62097"/>
          </a:xfrm>
        </p:grpSpPr>
        <p:sp>
          <p:nvSpPr>
            <p:cNvPr name="Freeform 9" id="9"/>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0" id="10"/>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1" id="11"/>
          <p:cNvGrpSpPr/>
          <p:nvPr/>
        </p:nvGrpSpPr>
        <p:grpSpPr>
          <a:xfrm rot="0">
            <a:off x="10148084" y="9491171"/>
            <a:ext cx="3748348" cy="235776"/>
            <a:chOff x="0" y="0"/>
            <a:chExt cx="987219" cy="62097"/>
          </a:xfrm>
        </p:grpSpPr>
        <p:sp>
          <p:nvSpPr>
            <p:cNvPr name="Freeform 12" id="12"/>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3" id="13"/>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Freeform 14" id="14"/>
          <p:cNvSpPr/>
          <p:nvPr/>
        </p:nvSpPr>
        <p:spPr>
          <a:xfrm flipH="false" flipV="false" rot="0">
            <a:off x="5409164" y="3370921"/>
            <a:ext cx="7469672" cy="5256436"/>
          </a:xfrm>
          <a:custGeom>
            <a:avLst/>
            <a:gdLst/>
            <a:ahLst/>
            <a:cxnLst/>
            <a:rect r="r" b="b" t="t" l="l"/>
            <a:pathLst>
              <a:path h="5256436" w="7469672">
                <a:moveTo>
                  <a:pt x="0" y="0"/>
                </a:moveTo>
                <a:lnTo>
                  <a:pt x="7469672" y="0"/>
                </a:lnTo>
                <a:lnTo>
                  <a:pt x="7469672" y="5256435"/>
                </a:lnTo>
                <a:lnTo>
                  <a:pt x="0" y="5256435"/>
                </a:lnTo>
                <a:lnTo>
                  <a:pt x="0" y="0"/>
                </a:lnTo>
                <a:close/>
              </a:path>
            </a:pathLst>
          </a:custGeom>
          <a:blipFill>
            <a:blip r:embed="rId2"/>
            <a:stretch>
              <a:fillRect l="0" t="0" r="0" b="0"/>
            </a:stretch>
          </a:blipFill>
        </p:spPr>
      </p:sp>
      <p:sp>
        <p:nvSpPr>
          <p:cNvPr name="TextBox 15" id="15"/>
          <p:cNvSpPr txBox="true"/>
          <p:nvPr/>
        </p:nvSpPr>
        <p:spPr>
          <a:xfrm rot="0">
            <a:off x="1637575" y="1238250"/>
            <a:ext cx="9836724" cy="1693164"/>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Switch de capa 3 con interfaces virtuales (SVIs)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3043237"/>
            <a:ext cx="1158769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EJEMPLOS DE APLICACIÓN</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4465508"/>
            <a:ext cx="15345020" cy="1986280"/>
          </a:xfrm>
          <a:prstGeom prst="rect">
            <a:avLst/>
          </a:prstGeom>
        </p:spPr>
        <p:txBody>
          <a:bodyPr anchor="t" rtlCol="false" tIns="0" lIns="0" bIns="0" rIns="0">
            <a:spAutoFit/>
          </a:bodyPr>
          <a:lstStyle/>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Segmentación de varias áreas de una oficina o escuela en el que se encuentran en redes distintas.</a:t>
            </a:r>
          </a:p>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Para empresas con una infraestructura más robusta, se emplean switches de capa 3 con SVIs para mejorar el rendimiento y reducir la latencia.</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1676786" y="1725569"/>
            <a:ext cx="1064477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Conceptos clave aprendidos</a:t>
            </a:r>
          </a:p>
        </p:txBody>
      </p:sp>
      <p:sp>
        <p:nvSpPr>
          <p:cNvPr name="TextBox 3" id="3"/>
          <p:cNvSpPr txBox="true"/>
          <p:nvPr/>
        </p:nvSpPr>
        <p:spPr>
          <a:xfrm rot="0">
            <a:off x="1087270" y="3214283"/>
            <a:ext cx="16113459" cy="3967480"/>
          </a:xfrm>
          <a:prstGeom prst="rect">
            <a:avLst/>
          </a:prstGeom>
        </p:spPr>
        <p:txBody>
          <a:bodyPr anchor="t" rtlCol="false" tIns="0" lIns="0" bIns="0" rIns="0">
            <a:spAutoFit/>
          </a:bodyPr>
          <a:lstStyle/>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InterVLAN Routing Heredado: Se basa en el uso de un enrutador con múltiples interfaces Ethernet. Cada interfaz del enrutador estaba conectada a un puerto del switch en diferentes VLAN.</a:t>
            </a:r>
          </a:p>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Router on-a-stick: Utiliza subinterfaces en una interfaz física del enrutador para representar cada una de las VLANs. Cada subinterfaz se configura con una dirección IP y una máscara de red asociada a una VLAN específica.</a:t>
            </a:r>
          </a:p>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Switch de capa 3 con interfaces virtuales (SVIs): Emplea interfaces virtuales del switch (SVI), las cuales son configuradas en el switch de capa 3. Los SVIs entre VLAN se crean de la misma manera que se configura la interfaz de VLAN de administración.</a:t>
            </a:r>
          </a:p>
        </p:txBody>
      </p:sp>
      <p:grpSp>
        <p:nvGrpSpPr>
          <p:cNvPr name="Group 4" id="4"/>
          <p:cNvGrpSpPr/>
          <p:nvPr/>
        </p:nvGrpSpPr>
        <p:grpSpPr>
          <a:xfrm rot="0">
            <a:off x="7730005" y="8598216"/>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0">
            <a:off x="6809647" y="9022524"/>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14148702" y="1638255"/>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13228344" y="2062564"/>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22.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1550281" y="3043237"/>
            <a:ext cx="9836724"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VALORES</a:t>
            </a:r>
          </a:p>
        </p:txBody>
      </p:sp>
      <p:grpSp>
        <p:nvGrpSpPr>
          <p:cNvPr name="Group 3" id="3"/>
          <p:cNvGrpSpPr/>
          <p:nvPr/>
        </p:nvGrpSpPr>
        <p:grpSpPr>
          <a:xfrm rot="0">
            <a:off x="15150722" y="1234804"/>
            <a:ext cx="3748348" cy="235776"/>
            <a:chOff x="0" y="0"/>
            <a:chExt cx="987219" cy="62097"/>
          </a:xfrm>
        </p:grpSpPr>
        <p:sp>
          <p:nvSpPr>
            <p:cNvPr name="Freeform 4" id="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5" id="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10893855" y="8695865"/>
            <a:ext cx="3748348" cy="235776"/>
            <a:chOff x="0" y="0"/>
            <a:chExt cx="987219" cy="62097"/>
          </a:xfrm>
        </p:grpSpPr>
        <p:sp>
          <p:nvSpPr>
            <p:cNvPr name="Freeform 7" id="7"/>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8" id="8"/>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0">
            <a:off x="14230364" y="1659112"/>
            <a:ext cx="3748348" cy="235776"/>
            <a:chOff x="0" y="0"/>
            <a:chExt cx="987219" cy="62097"/>
          </a:xfrm>
        </p:grpSpPr>
        <p:sp>
          <p:nvSpPr>
            <p:cNvPr name="Freeform 10" id="10"/>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1" id="11"/>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0">
            <a:off x="9973497" y="9120174"/>
            <a:ext cx="3748348" cy="235776"/>
            <a:chOff x="0" y="0"/>
            <a:chExt cx="987219" cy="62097"/>
          </a:xfrm>
        </p:grpSpPr>
        <p:sp>
          <p:nvSpPr>
            <p:cNvPr name="Freeform 13" id="13"/>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4" id="14"/>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
        <p:nvSpPr>
          <p:cNvPr name="TextBox 15" id="15"/>
          <p:cNvSpPr txBox="true"/>
          <p:nvPr/>
        </p:nvSpPr>
        <p:spPr>
          <a:xfrm rot="0">
            <a:off x="1550281" y="4465508"/>
            <a:ext cx="15345020" cy="995680"/>
          </a:xfrm>
          <a:prstGeom prst="rect">
            <a:avLst/>
          </a:prstGeom>
        </p:spPr>
        <p:txBody>
          <a:bodyPr anchor="t" rtlCol="false" tIns="0" lIns="0" bIns="0" rIns="0">
            <a:spAutoFit/>
          </a:bodyPr>
          <a:lstStyle/>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Análisis Lógico (Al comprender el tráfico entre VLANs)</a:t>
            </a:r>
          </a:p>
          <a:p>
            <a:pPr algn="just" marL="604518" indent="-302259" lvl="1">
              <a:lnSpc>
                <a:spcPts val="3919"/>
              </a:lnSpc>
              <a:spcBef>
                <a:spcPct val="0"/>
              </a:spcBef>
              <a:buFont typeface="Arial"/>
              <a:buChar char="•"/>
            </a:pPr>
            <a:r>
              <a:rPr lang="en-US" sz="2799">
                <a:solidFill>
                  <a:srgbClr val="365B6D"/>
                </a:solidFill>
                <a:latin typeface="Roboto"/>
                <a:ea typeface="Roboto"/>
                <a:cs typeface="Roboto"/>
                <a:sym typeface="Roboto"/>
              </a:rPr>
              <a:t>Adaptabilidad (Al tener distintas opciones de implementación al ruteo)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9E6DE"/>
        </a:solidFill>
      </p:bgPr>
    </p:bg>
    <p:spTree>
      <p:nvGrpSpPr>
        <p:cNvPr id="1" name=""/>
        <p:cNvGrpSpPr/>
        <p:nvPr/>
      </p:nvGrpSpPr>
      <p:grpSpPr>
        <a:xfrm>
          <a:off x="0" y="0"/>
          <a:ext cx="0" cy="0"/>
          <a:chOff x="0" y="0"/>
          <a:chExt cx="0" cy="0"/>
        </a:xfrm>
      </p:grpSpPr>
      <p:sp>
        <p:nvSpPr>
          <p:cNvPr name="TextBox 2" id="2"/>
          <p:cNvSpPr txBox="true"/>
          <p:nvPr/>
        </p:nvSpPr>
        <p:spPr>
          <a:xfrm rot="0">
            <a:off x="1786221" y="2870214"/>
            <a:ext cx="10644775" cy="883539"/>
          </a:xfrm>
          <a:prstGeom prst="rect">
            <a:avLst/>
          </a:prstGeom>
        </p:spPr>
        <p:txBody>
          <a:bodyPr anchor="t" rtlCol="false" tIns="0" lIns="0" bIns="0" rIns="0">
            <a:spAutoFit/>
          </a:bodyPr>
          <a:lstStyle/>
          <a:p>
            <a:pPr algn="l" marL="0" indent="0" lvl="0">
              <a:lnSpc>
                <a:spcPts val="6408"/>
              </a:lnSpc>
              <a:spcBef>
                <a:spcPct val="0"/>
              </a:spcBef>
            </a:pPr>
            <a:r>
              <a:rPr lang="en-US" b="true" sz="7200">
                <a:solidFill>
                  <a:srgbClr val="365B6D"/>
                </a:solidFill>
                <a:latin typeface="Monterchi Serif Bold"/>
                <a:ea typeface="Monterchi Serif Bold"/>
                <a:cs typeface="Monterchi Serif Bold"/>
                <a:sym typeface="Monterchi Serif Bold"/>
              </a:rPr>
              <a:t>Referencias</a:t>
            </a:r>
          </a:p>
        </p:txBody>
      </p:sp>
      <p:sp>
        <p:nvSpPr>
          <p:cNvPr name="TextBox 3" id="3"/>
          <p:cNvSpPr txBox="true"/>
          <p:nvPr/>
        </p:nvSpPr>
        <p:spPr>
          <a:xfrm rot="0">
            <a:off x="1550281" y="4173757"/>
            <a:ext cx="14862766" cy="500380"/>
          </a:xfrm>
          <a:prstGeom prst="rect">
            <a:avLst/>
          </a:prstGeom>
        </p:spPr>
        <p:txBody>
          <a:bodyPr anchor="t" rtlCol="false" tIns="0" lIns="0" bIns="0" rIns="0">
            <a:spAutoFit/>
          </a:bodyPr>
          <a:lstStyle/>
          <a:p>
            <a:pPr algn="just" marL="604518" indent="-302259" lvl="1">
              <a:lnSpc>
                <a:spcPts val="3919"/>
              </a:lnSpc>
              <a:spcBef>
                <a:spcPct val="0"/>
              </a:spcBef>
              <a:buFont typeface="Arial"/>
              <a:buChar char="•"/>
            </a:pPr>
            <a:r>
              <a:rPr lang="en-US" sz="2799" u="sng">
                <a:solidFill>
                  <a:srgbClr val="365B6D"/>
                </a:solidFill>
                <a:latin typeface="Roboto"/>
                <a:ea typeface="Roboto"/>
                <a:cs typeface="Roboto"/>
                <a:sym typeface="Roboto"/>
                <a:hlinkClick r:id="rId2" tooltip="https://ccnadesdecero.es/funcionamiento-enrutamiento-entre-vlan/"/>
              </a:rPr>
              <a:t>https://ccnadesdecero.es/funcionamiento-enrutamiento-entre-vlan/</a:t>
            </a:r>
          </a:p>
        </p:txBody>
      </p:sp>
      <p:grpSp>
        <p:nvGrpSpPr>
          <p:cNvPr name="Group 4" id="4"/>
          <p:cNvGrpSpPr/>
          <p:nvPr/>
        </p:nvGrpSpPr>
        <p:grpSpPr>
          <a:xfrm rot="0">
            <a:off x="7730005" y="8598216"/>
            <a:ext cx="3748348" cy="235776"/>
            <a:chOff x="0" y="0"/>
            <a:chExt cx="987219" cy="62097"/>
          </a:xfrm>
        </p:grpSpPr>
        <p:sp>
          <p:nvSpPr>
            <p:cNvPr name="Freeform 5" id="5"/>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6" id="6"/>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7" id="7"/>
          <p:cNvGrpSpPr/>
          <p:nvPr/>
        </p:nvGrpSpPr>
        <p:grpSpPr>
          <a:xfrm rot="0">
            <a:off x="6809647" y="9022524"/>
            <a:ext cx="3748348" cy="235776"/>
            <a:chOff x="0" y="0"/>
            <a:chExt cx="987219" cy="62097"/>
          </a:xfrm>
        </p:grpSpPr>
        <p:sp>
          <p:nvSpPr>
            <p:cNvPr name="Freeform 8" id="8"/>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9" id="9"/>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0" id="10"/>
          <p:cNvGrpSpPr/>
          <p:nvPr/>
        </p:nvGrpSpPr>
        <p:grpSpPr>
          <a:xfrm rot="0">
            <a:off x="14148702" y="1638255"/>
            <a:ext cx="3748348" cy="235776"/>
            <a:chOff x="0" y="0"/>
            <a:chExt cx="987219" cy="62097"/>
          </a:xfrm>
        </p:grpSpPr>
        <p:sp>
          <p:nvSpPr>
            <p:cNvPr name="Freeform 11" id="11"/>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6C9286"/>
            </a:solidFill>
            <a:ln cap="sq">
              <a:noFill/>
              <a:prstDash val="solid"/>
              <a:miter/>
            </a:ln>
          </p:spPr>
        </p:sp>
        <p:sp>
          <p:nvSpPr>
            <p:cNvPr name="TextBox 12" id="12"/>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3" id="13"/>
          <p:cNvGrpSpPr/>
          <p:nvPr/>
        </p:nvGrpSpPr>
        <p:grpSpPr>
          <a:xfrm rot="0">
            <a:off x="13228344" y="2062564"/>
            <a:ext cx="3748348" cy="235776"/>
            <a:chOff x="0" y="0"/>
            <a:chExt cx="987219" cy="62097"/>
          </a:xfrm>
        </p:grpSpPr>
        <p:sp>
          <p:nvSpPr>
            <p:cNvPr name="Freeform 14" id="14"/>
            <p:cNvSpPr/>
            <p:nvPr/>
          </p:nvSpPr>
          <p:spPr>
            <a:xfrm flipH="false" flipV="false" rot="0">
              <a:off x="0" y="0"/>
              <a:ext cx="987219" cy="62097"/>
            </a:xfrm>
            <a:custGeom>
              <a:avLst/>
              <a:gdLst/>
              <a:ahLst/>
              <a:cxnLst/>
              <a:rect r="r" b="b" t="t" l="l"/>
              <a:pathLst>
                <a:path h="62097" w="987219">
                  <a:moveTo>
                    <a:pt x="0" y="0"/>
                  </a:moveTo>
                  <a:lnTo>
                    <a:pt x="987219" y="0"/>
                  </a:lnTo>
                  <a:lnTo>
                    <a:pt x="987219" y="62097"/>
                  </a:lnTo>
                  <a:lnTo>
                    <a:pt x="0" y="62097"/>
                  </a:lnTo>
                  <a:close/>
                </a:path>
              </a:pathLst>
            </a:custGeom>
            <a:solidFill>
              <a:srgbClr val="365B6D"/>
            </a:solidFill>
            <a:ln cap="sq">
              <a:noFill/>
              <a:prstDash val="solid"/>
              <a:miter/>
            </a:ln>
          </p:spPr>
        </p:sp>
        <p:sp>
          <p:nvSpPr>
            <p:cNvPr name="TextBox 15" id="15"/>
            <p:cNvSpPr txBox="true"/>
            <p:nvPr/>
          </p:nvSpPr>
          <p:spPr>
            <a:xfrm>
              <a:off x="0" y="-28575"/>
              <a:ext cx="987219" cy="90672"/>
            </a:xfrm>
            <a:prstGeom prst="rect">
              <a:avLst/>
            </a:prstGeom>
          </p:spPr>
          <p:txBody>
            <a:bodyPr anchor="ctr" rtlCol="false" tIns="50800" lIns="50800" bIns="50800" rIns="50800"/>
            <a:lstStyle/>
            <a:p>
              <a:pPr algn="ctr" marL="0" indent="0" lvl="0">
                <a:lnSpc>
                  <a:spcPts val="2921"/>
                </a:lnSpc>
                <a:spcBef>
                  <a:spcPct val="0"/>
                </a:spcBef>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grpSp>
        <p:nvGrpSpPr>
          <p:cNvPr name="Group 2" id="2"/>
          <p:cNvGrpSpPr/>
          <p:nvPr/>
        </p:nvGrpSpPr>
        <p:grpSpPr>
          <a:xfrm rot="-5400000">
            <a:off x="1126558" y="5307992"/>
            <a:ext cx="3598580" cy="4114800"/>
            <a:chOff x="0" y="0"/>
            <a:chExt cx="4798106" cy="5486400"/>
          </a:xfrm>
        </p:grpSpPr>
        <p:grpSp>
          <p:nvGrpSpPr>
            <p:cNvPr name="Group 3" id="3"/>
            <p:cNvGrpSpPr/>
            <p:nvPr/>
          </p:nvGrpSpPr>
          <p:grpSpPr>
            <a:xfrm rot="0">
              <a:off x="0" y="359656"/>
              <a:ext cx="4798106" cy="314368"/>
              <a:chOff x="0" y="0"/>
              <a:chExt cx="947774" cy="62097"/>
            </a:xfrm>
          </p:grpSpPr>
          <p:sp>
            <p:nvSpPr>
              <p:cNvPr name="Freeform 4" id="4"/>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6C9286"/>
              </a:solidFill>
              <a:ln cap="sq">
                <a:noFill/>
                <a:prstDash val="solid"/>
                <a:miter/>
              </a:ln>
            </p:spPr>
          </p:sp>
          <p:sp>
            <p:nvSpPr>
              <p:cNvPr name="TextBox 5" id="5"/>
              <p:cNvSpPr txBox="true"/>
              <p:nvPr/>
            </p:nvSpPr>
            <p:spPr>
              <a:xfrm>
                <a:off x="0" y="-28575"/>
                <a:ext cx="94777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6" id="6"/>
            <p:cNvGrpSpPr/>
            <p:nvPr/>
          </p:nvGrpSpPr>
          <p:grpSpPr>
            <a:xfrm rot="0">
              <a:off x="0" y="925401"/>
              <a:ext cx="3675307" cy="314368"/>
              <a:chOff x="0" y="0"/>
              <a:chExt cx="725987" cy="62097"/>
            </a:xfrm>
          </p:grpSpPr>
          <p:sp>
            <p:nvSpPr>
              <p:cNvPr name="Freeform 7" id="7"/>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6C9286"/>
              </a:solidFill>
              <a:ln cap="sq">
                <a:noFill/>
                <a:prstDash val="solid"/>
                <a:miter/>
              </a:ln>
            </p:spPr>
          </p:sp>
          <p:sp>
            <p:nvSpPr>
              <p:cNvPr name="TextBox 8" id="8"/>
              <p:cNvSpPr txBox="true"/>
              <p:nvPr/>
            </p:nvSpPr>
            <p:spPr>
              <a:xfrm>
                <a:off x="0" y="-28575"/>
                <a:ext cx="725987"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9" id="9"/>
            <p:cNvGrpSpPr/>
            <p:nvPr/>
          </p:nvGrpSpPr>
          <p:grpSpPr>
            <a:xfrm rot="-5400000">
              <a:off x="-650594" y="1538808"/>
              <a:ext cx="3391984" cy="314368"/>
              <a:chOff x="0" y="0"/>
              <a:chExt cx="670022" cy="62097"/>
            </a:xfrm>
          </p:grpSpPr>
          <p:sp>
            <p:nvSpPr>
              <p:cNvPr name="Freeform 10" id="10"/>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6C9286"/>
              </a:solidFill>
              <a:ln cap="sq">
                <a:noFill/>
                <a:prstDash val="solid"/>
                <a:miter/>
              </a:ln>
            </p:spPr>
          </p:sp>
          <p:sp>
            <p:nvSpPr>
              <p:cNvPr name="TextBox 11" id="11"/>
              <p:cNvSpPr txBox="true"/>
              <p:nvPr/>
            </p:nvSpPr>
            <p:spPr>
              <a:xfrm>
                <a:off x="0" y="-28575"/>
                <a:ext cx="670022"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2" id="12"/>
            <p:cNvGrpSpPr/>
            <p:nvPr/>
          </p:nvGrpSpPr>
          <p:grpSpPr>
            <a:xfrm rot="-5400000">
              <a:off x="-2123316" y="3048717"/>
              <a:ext cx="4560999" cy="314368"/>
              <a:chOff x="0" y="0"/>
              <a:chExt cx="900938" cy="62097"/>
            </a:xfrm>
          </p:grpSpPr>
          <p:sp>
            <p:nvSpPr>
              <p:cNvPr name="Freeform 13" id="13"/>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6C9286"/>
              </a:solidFill>
              <a:ln cap="sq">
                <a:noFill/>
                <a:prstDash val="solid"/>
                <a:miter/>
              </a:ln>
            </p:spPr>
          </p:sp>
          <p:sp>
            <p:nvSpPr>
              <p:cNvPr name="TextBox 14" id="14"/>
              <p:cNvSpPr txBox="true"/>
              <p:nvPr/>
            </p:nvSpPr>
            <p:spPr>
              <a:xfrm>
                <a:off x="0" y="-28575"/>
                <a:ext cx="900938" cy="90672"/>
              </a:xfrm>
              <a:prstGeom prst="rect">
                <a:avLst/>
              </a:prstGeom>
            </p:spPr>
            <p:txBody>
              <a:bodyPr anchor="ctr" rtlCol="false" tIns="50800" lIns="50800" bIns="50800" rIns="50800"/>
              <a:lstStyle/>
              <a:p>
                <a:pPr algn="ctr" marL="0" indent="0" lvl="0">
                  <a:lnSpc>
                    <a:spcPts val="2921"/>
                  </a:lnSpc>
                  <a:spcBef>
                    <a:spcPct val="0"/>
                  </a:spcBef>
                </a:pPr>
              </a:p>
            </p:txBody>
          </p:sp>
        </p:grpSp>
      </p:grpSp>
      <p:grpSp>
        <p:nvGrpSpPr>
          <p:cNvPr name="Group 15" id="15"/>
          <p:cNvGrpSpPr/>
          <p:nvPr/>
        </p:nvGrpSpPr>
        <p:grpSpPr>
          <a:xfrm rot="5400000">
            <a:off x="13614746" y="733106"/>
            <a:ext cx="3598580" cy="4114800"/>
            <a:chOff x="0" y="0"/>
            <a:chExt cx="4798106" cy="5486400"/>
          </a:xfrm>
        </p:grpSpPr>
        <p:grpSp>
          <p:nvGrpSpPr>
            <p:cNvPr name="Group 16" id="16"/>
            <p:cNvGrpSpPr/>
            <p:nvPr/>
          </p:nvGrpSpPr>
          <p:grpSpPr>
            <a:xfrm rot="0">
              <a:off x="0" y="359656"/>
              <a:ext cx="4798106" cy="314368"/>
              <a:chOff x="0" y="0"/>
              <a:chExt cx="947774" cy="62097"/>
            </a:xfrm>
          </p:grpSpPr>
          <p:sp>
            <p:nvSpPr>
              <p:cNvPr name="Freeform 17" id="17"/>
              <p:cNvSpPr/>
              <p:nvPr/>
            </p:nvSpPr>
            <p:spPr>
              <a:xfrm flipH="false" flipV="false" rot="0">
                <a:off x="0" y="0"/>
                <a:ext cx="947774" cy="62097"/>
              </a:xfrm>
              <a:custGeom>
                <a:avLst/>
                <a:gdLst/>
                <a:ahLst/>
                <a:cxnLst/>
                <a:rect r="r" b="b" t="t" l="l"/>
                <a:pathLst>
                  <a:path h="62097" w="947774">
                    <a:moveTo>
                      <a:pt x="0" y="0"/>
                    </a:moveTo>
                    <a:lnTo>
                      <a:pt x="947774" y="0"/>
                    </a:lnTo>
                    <a:lnTo>
                      <a:pt x="947774" y="62097"/>
                    </a:lnTo>
                    <a:lnTo>
                      <a:pt x="0" y="62097"/>
                    </a:lnTo>
                    <a:close/>
                  </a:path>
                </a:pathLst>
              </a:custGeom>
              <a:solidFill>
                <a:srgbClr val="6C9286"/>
              </a:solidFill>
              <a:ln cap="sq">
                <a:noFill/>
                <a:prstDash val="solid"/>
                <a:miter/>
              </a:ln>
            </p:spPr>
          </p:sp>
          <p:sp>
            <p:nvSpPr>
              <p:cNvPr name="TextBox 18" id="18"/>
              <p:cNvSpPr txBox="true"/>
              <p:nvPr/>
            </p:nvSpPr>
            <p:spPr>
              <a:xfrm>
                <a:off x="0" y="-28575"/>
                <a:ext cx="947774"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19" id="19"/>
            <p:cNvGrpSpPr/>
            <p:nvPr/>
          </p:nvGrpSpPr>
          <p:grpSpPr>
            <a:xfrm rot="0">
              <a:off x="0" y="925401"/>
              <a:ext cx="3675307" cy="314368"/>
              <a:chOff x="0" y="0"/>
              <a:chExt cx="725987" cy="62097"/>
            </a:xfrm>
          </p:grpSpPr>
          <p:sp>
            <p:nvSpPr>
              <p:cNvPr name="Freeform 20" id="20"/>
              <p:cNvSpPr/>
              <p:nvPr/>
            </p:nvSpPr>
            <p:spPr>
              <a:xfrm flipH="false" flipV="false" rot="0">
                <a:off x="0" y="0"/>
                <a:ext cx="725987" cy="62097"/>
              </a:xfrm>
              <a:custGeom>
                <a:avLst/>
                <a:gdLst/>
                <a:ahLst/>
                <a:cxnLst/>
                <a:rect r="r" b="b" t="t" l="l"/>
                <a:pathLst>
                  <a:path h="62097" w="725987">
                    <a:moveTo>
                      <a:pt x="0" y="0"/>
                    </a:moveTo>
                    <a:lnTo>
                      <a:pt x="725987" y="0"/>
                    </a:lnTo>
                    <a:lnTo>
                      <a:pt x="725987" y="62097"/>
                    </a:lnTo>
                    <a:lnTo>
                      <a:pt x="0" y="62097"/>
                    </a:lnTo>
                    <a:close/>
                  </a:path>
                </a:pathLst>
              </a:custGeom>
              <a:solidFill>
                <a:srgbClr val="6C9286"/>
              </a:solidFill>
              <a:ln cap="sq">
                <a:noFill/>
                <a:prstDash val="solid"/>
                <a:miter/>
              </a:ln>
            </p:spPr>
          </p:sp>
          <p:sp>
            <p:nvSpPr>
              <p:cNvPr name="TextBox 21" id="21"/>
              <p:cNvSpPr txBox="true"/>
              <p:nvPr/>
            </p:nvSpPr>
            <p:spPr>
              <a:xfrm>
                <a:off x="0" y="-28575"/>
                <a:ext cx="725987"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22" id="22"/>
            <p:cNvGrpSpPr/>
            <p:nvPr/>
          </p:nvGrpSpPr>
          <p:grpSpPr>
            <a:xfrm rot="-5400000">
              <a:off x="-650594" y="1538808"/>
              <a:ext cx="3391984" cy="314368"/>
              <a:chOff x="0" y="0"/>
              <a:chExt cx="670022" cy="62097"/>
            </a:xfrm>
          </p:grpSpPr>
          <p:sp>
            <p:nvSpPr>
              <p:cNvPr name="Freeform 23" id="23"/>
              <p:cNvSpPr/>
              <p:nvPr/>
            </p:nvSpPr>
            <p:spPr>
              <a:xfrm flipH="false" flipV="false" rot="0">
                <a:off x="0" y="0"/>
                <a:ext cx="670022" cy="62097"/>
              </a:xfrm>
              <a:custGeom>
                <a:avLst/>
                <a:gdLst/>
                <a:ahLst/>
                <a:cxnLst/>
                <a:rect r="r" b="b" t="t" l="l"/>
                <a:pathLst>
                  <a:path h="62097" w="670022">
                    <a:moveTo>
                      <a:pt x="0" y="0"/>
                    </a:moveTo>
                    <a:lnTo>
                      <a:pt x="670022" y="0"/>
                    </a:lnTo>
                    <a:lnTo>
                      <a:pt x="670022" y="62097"/>
                    </a:lnTo>
                    <a:lnTo>
                      <a:pt x="0" y="62097"/>
                    </a:lnTo>
                    <a:close/>
                  </a:path>
                </a:pathLst>
              </a:custGeom>
              <a:solidFill>
                <a:srgbClr val="6C9286"/>
              </a:solidFill>
              <a:ln cap="sq">
                <a:noFill/>
                <a:prstDash val="solid"/>
                <a:miter/>
              </a:ln>
            </p:spPr>
          </p:sp>
          <p:sp>
            <p:nvSpPr>
              <p:cNvPr name="TextBox 24" id="24"/>
              <p:cNvSpPr txBox="true"/>
              <p:nvPr/>
            </p:nvSpPr>
            <p:spPr>
              <a:xfrm>
                <a:off x="0" y="-28575"/>
                <a:ext cx="670022" cy="90672"/>
              </a:xfrm>
              <a:prstGeom prst="rect">
                <a:avLst/>
              </a:prstGeom>
            </p:spPr>
            <p:txBody>
              <a:bodyPr anchor="ctr" rtlCol="false" tIns="50800" lIns="50800" bIns="50800" rIns="50800"/>
              <a:lstStyle/>
              <a:p>
                <a:pPr algn="ctr" marL="0" indent="0" lvl="0">
                  <a:lnSpc>
                    <a:spcPts val="2921"/>
                  </a:lnSpc>
                  <a:spcBef>
                    <a:spcPct val="0"/>
                  </a:spcBef>
                </a:pPr>
              </a:p>
            </p:txBody>
          </p:sp>
        </p:grpSp>
        <p:grpSp>
          <p:nvGrpSpPr>
            <p:cNvPr name="Group 25" id="25"/>
            <p:cNvGrpSpPr/>
            <p:nvPr/>
          </p:nvGrpSpPr>
          <p:grpSpPr>
            <a:xfrm rot="-5400000">
              <a:off x="-2123316" y="3048717"/>
              <a:ext cx="4560999" cy="314368"/>
              <a:chOff x="0" y="0"/>
              <a:chExt cx="900938" cy="62097"/>
            </a:xfrm>
          </p:grpSpPr>
          <p:sp>
            <p:nvSpPr>
              <p:cNvPr name="Freeform 26" id="26"/>
              <p:cNvSpPr/>
              <p:nvPr/>
            </p:nvSpPr>
            <p:spPr>
              <a:xfrm flipH="false" flipV="false" rot="0">
                <a:off x="0" y="0"/>
                <a:ext cx="900938" cy="62097"/>
              </a:xfrm>
              <a:custGeom>
                <a:avLst/>
                <a:gdLst/>
                <a:ahLst/>
                <a:cxnLst/>
                <a:rect r="r" b="b" t="t" l="l"/>
                <a:pathLst>
                  <a:path h="62097" w="900938">
                    <a:moveTo>
                      <a:pt x="0" y="0"/>
                    </a:moveTo>
                    <a:lnTo>
                      <a:pt x="900938" y="0"/>
                    </a:lnTo>
                    <a:lnTo>
                      <a:pt x="900938" y="62097"/>
                    </a:lnTo>
                    <a:lnTo>
                      <a:pt x="0" y="62097"/>
                    </a:lnTo>
                    <a:close/>
                  </a:path>
                </a:pathLst>
              </a:custGeom>
              <a:solidFill>
                <a:srgbClr val="6C9286"/>
              </a:solidFill>
              <a:ln cap="sq">
                <a:noFill/>
                <a:prstDash val="solid"/>
                <a:miter/>
              </a:ln>
            </p:spPr>
          </p:sp>
          <p:sp>
            <p:nvSpPr>
              <p:cNvPr name="TextBox 27" id="27"/>
              <p:cNvSpPr txBox="true"/>
              <p:nvPr/>
            </p:nvSpPr>
            <p:spPr>
              <a:xfrm>
                <a:off x="0" y="-28575"/>
                <a:ext cx="900938" cy="90672"/>
              </a:xfrm>
              <a:prstGeom prst="rect">
                <a:avLst/>
              </a:prstGeom>
            </p:spPr>
            <p:txBody>
              <a:bodyPr anchor="ctr" rtlCol="false" tIns="50800" lIns="50800" bIns="50800" rIns="50800"/>
              <a:lstStyle/>
              <a:p>
                <a:pPr algn="ctr" marL="0" indent="0" lvl="0">
                  <a:lnSpc>
                    <a:spcPts val="2921"/>
                  </a:lnSpc>
                  <a:spcBef>
                    <a:spcPct val="0"/>
                  </a:spcBef>
                </a:pPr>
              </a:p>
            </p:txBody>
          </p:sp>
        </p:grpSp>
      </p:grpSp>
      <p:grpSp>
        <p:nvGrpSpPr>
          <p:cNvPr name="Group 28" id="28"/>
          <p:cNvGrpSpPr/>
          <p:nvPr/>
        </p:nvGrpSpPr>
        <p:grpSpPr>
          <a:xfrm rot="0">
            <a:off x="3509505" y="2666795"/>
            <a:ext cx="9444385" cy="3846002"/>
            <a:chOff x="0" y="0"/>
            <a:chExt cx="12592514" cy="5128003"/>
          </a:xfrm>
        </p:grpSpPr>
        <p:sp>
          <p:nvSpPr>
            <p:cNvPr name="TextBox 29" id="29"/>
            <p:cNvSpPr txBox="true"/>
            <p:nvPr/>
          </p:nvSpPr>
          <p:spPr>
            <a:xfrm rot="0">
              <a:off x="0" y="-4233"/>
              <a:ext cx="12592514" cy="3657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¡GRACIAS POR SU ATENCIÓN!</a:t>
              </a:r>
            </a:p>
          </p:txBody>
        </p:sp>
        <p:sp>
          <p:nvSpPr>
            <p:cNvPr name="TextBox 30" id="30"/>
            <p:cNvSpPr txBox="true"/>
            <p:nvPr/>
          </p:nvSpPr>
          <p:spPr>
            <a:xfrm rot="0">
              <a:off x="0" y="3824135"/>
              <a:ext cx="12592514" cy="1303867"/>
            </a:xfrm>
            <a:prstGeom prst="rect">
              <a:avLst/>
            </a:prstGeom>
          </p:spPr>
          <p:txBody>
            <a:bodyPr anchor="t" rtlCol="false" tIns="0" lIns="0" bIns="0" rIns="0">
              <a:spAutoFit/>
            </a:bodyPr>
            <a:lstStyle/>
            <a:p>
              <a:pPr algn="ctr">
                <a:lnSpc>
                  <a:spcPts val="7149"/>
                </a:lnSpc>
              </a:pPr>
              <a:r>
                <a:rPr lang="en-US" sz="5499">
                  <a:solidFill>
                    <a:srgbClr val="000000"/>
                  </a:solidFill>
                  <a:latin typeface="Overpass"/>
                  <a:ea typeface="Overpass"/>
                  <a:cs typeface="Overpass"/>
                  <a:sym typeface="Overpass"/>
                </a:rPr>
                <a:t>¿Dudas?</a:t>
              </a:r>
            </a:p>
          </p:txBody>
        </p:sp>
      </p:grpSp>
      <p:sp>
        <p:nvSpPr>
          <p:cNvPr name="Freeform 31" id="31"/>
          <p:cNvSpPr/>
          <p:nvPr/>
        </p:nvSpPr>
        <p:spPr>
          <a:xfrm flipH="false" flipV="false" rot="0">
            <a:off x="13119634" y="2666795"/>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32" id="32"/>
          <p:cNvSpPr txBox="true"/>
          <p:nvPr/>
        </p:nvSpPr>
        <p:spPr>
          <a:xfrm rot="0">
            <a:off x="2411098" y="7381151"/>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DAGnjs-qjcc</dc:identifier>
  <dcterms:modified xsi:type="dcterms:W3CDTF">2011-08-01T06:04:30Z</dcterms:modified>
  <cp:revision>1</cp:revision>
  <dc:title>Clase 10 - Laboratorio de Redes de Computadoras 1</dc:title>
</cp:coreProperties>
</file>