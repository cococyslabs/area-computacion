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rial Bold" charset="1" panose="020B0802020202020204"/>
      <p:regular r:id="rId36"/>
    </p:embeddedFont>
    <p:embeddedFont>
      <p:font typeface="Arial" charset="1" panose="020B0502020202020204"/>
      <p:regular r:id="rId37"/>
    </p:embeddedFont>
    <p:embeddedFont>
      <p:font typeface="Roboto Slab Bold" charset="1" panose="00000000000000000000"/>
      <p:regular r:id="rId39"/>
    </p:embeddedFont>
    <p:embeddedFont>
      <p:font typeface="Open Sans Bold" charset="1" panose="00000000000000000000"/>
      <p:regular r:id="rId40"/>
    </p:embeddedFont>
    <p:embeddedFont>
      <p:font typeface="Open Sans" charset="1" panose="00000000000000000000"/>
      <p:regular r:id="rId41"/>
    </p:embeddedFont>
    <p:embeddedFont>
      <p:font typeface="Roboto Bold" charset="1" panose="02000000000000000000"/>
      <p:regular r:id="rId43"/>
    </p:embeddedFont>
    <p:embeddedFont>
      <p:font typeface="Roboto" charset="1" panose="02000000000000000000"/>
      <p:regular r:id="rId44"/>
    </p:embeddedFont>
    <p:embeddedFont>
      <p:font typeface="Nunito" charset="1" panose="00000000000000000000"/>
      <p:regular r:id="rId63"/>
    </p:embeddedFont>
    <p:embeddedFont>
      <p:font typeface="Nunito Bold" charset="1" panose="00000000000000000000"/>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3.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 Target="tableStyles.xml" Type="http://schemas.openxmlformats.org/officeDocument/2006/relationships/tableStyles"/><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slides/slide1.xml" Type="http://schemas.openxmlformats.org/officeDocument/2006/relationships/slide"/><Relationship Id="rId60" Target="notesSlides/notesSlide19.xml" Type="http://schemas.openxmlformats.org/officeDocument/2006/relationships/notesSlide"/><Relationship Id="rId61" Target="notesSlides/notesSlide20.xml" Type="http://schemas.openxmlformats.org/officeDocument/2006/relationships/notesSlide"/><Relationship Id="rId62" Target="notesSlides/notesSlide21.xml" Type="http://schemas.openxmlformats.org/officeDocument/2006/relationships/notesSlide"/><Relationship Id="rId63" Target="fonts/font63.fntdata" Type="http://schemas.openxmlformats.org/officeDocument/2006/relationships/font"/><Relationship Id="rId64" Target="fonts/font64.fntdata" Type="http://schemas.openxmlformats.org/officeDocument/2006/relationships/font"/><Relationship Id="rId65" Target="notesSlides/notesSlide22.xml" Type="http://schemas.openxmlformats.org/officeDocument/2006/relationships/notesSlide"/><Relationship Id="rId66" Target="notesSlides/notesSlide23.xml" Type="http://schemas.openxmlformats.org/officeDocument/2006/relationships/notesSlide"/><Relationship Id="rId67" Target="notesSlides/notesSlide24.xml" Type="http://schemas.openxmlformats.org/officeDocument/2006/relationships/notesSlide"/><Relationship Id="rId68" Target="notesSlides/notesSlide25.xml" Type="http://schemas.openxmlformats.org/officeDocument/2006/relationships/notesSlide"/><Relationship Id="rId69" Target="notesSlides/notesSlide26.xml" Type="http://schemas.openxmlformats.org/officeDocument/2006/relationships/notesSlide"/><Relationship Id="rId7" Target="slides/slide2.xml" Type="http://schemas.openxmlformats.org/officeDocument/2006/relationships/slide"/><Relationship Id="rId70" Target="notesSlides/notesSlide27.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17" Target="../media/image27.png" Type="http://schemas.openxmlformats.org/officeDocument/2006/relationships/image"/><Relationship Id="rId18" Target="../media/image28.svg" Type="http://schemas.openxmlformats.org/officeDocument/2006/relationships/image"/><Relationship Id="rId19" Target="../media/image29.png" Type="http://schemas.openxmlformats.org/officeDocument/2006/relationships/image"/><Relationship Id="rId2" Target="../notesSlides/notesSlide3.xml" Type="http://schemas.openxmlformats.org/officeDocument/2006/relationships/notesSlide"/><Relationship Id="rId20" Target="../media/image30.sv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7.png" Type="http://schemas.openxmlformats.org/officeDocument/2006/relationships/image"/><Relationship Id="rId4" Target="../media/image3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notesSlides/notesSlide5.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9.png" Type="http://schemas.openxmlformats.org/officeDocument/2006/relationships/image"/><Relationship Id="rId4"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 Id="rId6" Target="../media/image4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notesSlides/notesSlide10.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2" Target="../notesSlides/notesSlide12.xml" Type="http://schemas.openxmlformats.org/officeDocument/2006/relationships/notesSlide"/><Relationship Id="rId3" Target="../media/image47.png" Type="http://schemas.openxmlformats.org/officeDocument/2006/relationships/image"/><Relationship Id="rId4" Target="../media/image48.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2" Target="../notesSlides/notesSlide13.xml" Type="http://schemas.openxmlformats.org/officeDocument/2006/relationships/notesSlide"/><Relationship Id="rId3" Target="../media/image47.png" Type="http://schemas.openxmlformats.org/officeDocument/2006/relationships/image"/><Relationship Id="rId4" Target="../media/image48.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5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png" Type="http://schemas.openxmlformats.org/officeDocument/2006/relationships/image"/><Relationship Id="rId4" Target="../media/image7.png" Type="http://schemas.openxmlformats.org/officeDocument/2006/relationships/image"/><Relationship Id="rId5" Target="../media/image5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notesSlides/notesSlide16.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 Id="rId4" Target="../media/image7.png" Type="http://schemas.openxmlformats.org/officeDocument/2006/relationships/image"/><Relationship Id="rId5" Target="../media/image5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png" Type="http://schemas.openxmlformats.org/officeDocument/2006/relationships/image"/><Relationship Id="rId4" Target="../media/image7.png" Type="http://schemas.openxmlformats.org/officeDocument/2006/relationships/image"/><Relationship Id="rId5" Target="../media/image5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5.png" Type="http://schemas.openxmlformats.org/officeDocument/2006/relationships/image"/><Relationship Id="rId4" Target="../media/image41.png" Type="http://schemas.openxmlformats.org/officeDocument/2006/relationships/image"/><Relationship Id="rId5" Target="../media/image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 Id="rId7" Target="../media/image5.png" Type="http://schemas.openxmlformats.org/officeDocument/2006/relationships/image"/><Relationship Id="rId8" Target="../media/image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62.png" Type="http://schemas.openxmlformats.org/officeDocument/2006/relationships/image"/><Relationship Id="rId6" Target="../media/image59.png" Type="http://schemas.openxmlformats.org/officeDocument/2006/relationships/image"/><Relationship Id="rId7" Target="../media/image5.png" Type="http://schemas.openxmlformats.org/officeDocument/2006/relationships/image"/><Relationship Id="rId8" Target="../media/image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63.png" Type="http://schemas.openxmlformats.org/officeDocument/2006/relationships/image"/><Relationship Id="rId2" Target="../notesSlides/notesSlide27.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560" y="0"/>
            <a:ext cx="18253440" cy="10286640"/>
            <a:chOff x="0" y="0"/>
            <a:chExt cx="24337920" cy="13715520"/>
          </a:xfrm>
        </p:grpSpPr>
        <p:sp>
          <p:nvSpPr>
            <p:cNvPr name="Freeform 3" id="3"/>
            <p:cNvSpPr/>
            <p:nvPr/>
          </p:nvSpPr>
          <p:spPr>
            <a:xfrm flipH="false" flipV="false" rot="0">
              <a:off x="0" y="0"/>
              <a:ext cx="24337899" cy="13715492"/>
            </a:xfrm>
            <a:custGeom>
              <a:avLst/>
              <a:gdLst/>
              <a:ahLst/>
              <a:cxnLst/>
              <a:rect r="r" b="b" t="t" l="l"/>
              <a:pathLst>
                <a:path h="13715492" w="24337899">
                  <a:moveTo>
                    <a:pt x="0" y="0"/>
                  </a:moveTo>
                  <a:lnTo>
                    <a:pt x="24337899" y="0"/>
                  </a:lnTo>
                  <a:lnTo>
                    <a:pt x="24337899" y="13715492"/>
                  </a:lnTo>
                  <a:lnTo>
                    <a:pt x="0" y="13715492"/>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0656720" y="1940400"/>
          <a:ext cx="7353300" cy="1422400"/>
        </p:xfrm>
        <a:graphic>
          <a:graphicData uri="http://schemas.openxmlformats.org/drawingml/2006/table">
            <a:tbl>
              <a:tblPr/>
              <a:tblGrid>
                <a:gridCol w="3034834"/>
                <a:gridCol w="4318466"/>
              </a:tblGrid>
              <a:tr h="711200">
                <a:tc>
                  <a:txBody>
                    <a:bodyPr anchor="t" rtlCol="false"/>
                    <a:lstStyle/>
                    <a:p>
                      <a:pPr algn="l">
                        <a:lnSpc>
                          <a:spcPts val="4089"/>
                        </a:lnSpc>
                        <a:defRPr/>
                      </a:pPr>
                      <a:r>
                        <a:rPr lang="en-US" b="true" sz="2840">
                          <a:solidFill>
                            <a:srgbClr val="000000"/>
                          </a:solidFill>
                          <a:latin typeface="Arial Bold"/>
                          <a:ea typeface="Arial Bold"/>
                          <a:cs typeface="Arial Bold"/>
                          <a:sym typeface="Arial Bold"/>
                        </a:rPr>
                        <a:t>Día, Fecha:</a:t>
                      </a:r>
                      <a:endParaRPr lang="en-US" sz="1100"/>
                    </a:p>
                  </a:txBody>
                  <a:tcPr marL="91075" marR="91075" marT="91075" marB="91075"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1679"/>
                        </a:lnSpc>
                        <a:defRPr/>
                      </a:pPr>
                      <a:endParaRPr lang="en-US" sz="1100"/>
                    </a:p>
                  </a:txBody>
                  <a:tcPr marL="91075" marR="91075" marT="91075" marB="91075"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r h="711200">
                <a:tc>
                  <a:txBody>
                    <a:bodyPr anchor="t" rtlCol="false"/>
                    <a:lstStyle/>
                    <a:p>
                      <a:pPr algn="l">
                        <a:lnSpc>
                          <a:spcPts val="4089"/>
                        </a:lnSpc>
                        <a:defRPr/>
                      </a:pPr>
                      <a:r>
                        <a:rPr lang="en-US" b="true" sz="2840">
                          <a:solidFill>
                            <a:srgbClr val="000000"/>
                          </a:solidFill>
                          <a:latin typeface="Arial Bold"/>
                          <a:ea typeface="Arial Bold"/>
                          <a:cs typeface="Arial Bold"/>
                          <a:sym typeface="Arial Bold"/>
                        </a:rPr>
                        <a:t>Hora de inicio:</a:t>
                      </a:r>
                      <a:endParaRPr lang="en-US" sz="1100"/>
                    </a:p>
                  </a:txBody>
                  <a:tcPr marL="91075" marR="91075" marT="91075" marB="91075"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1679"/>
                        </a:lnSpc>
                        <a:defRPr/>
                      </a:pPr>
                      <a:endParaRPr lang="en-US" sz="1100"/>
                    </a:p>
                  </a:txBody>
                  <a:tcPr marL="91075" marR="91075" marT="91075" marB="91075"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bl>
          </a:graphicData>
        </a:graphic>
      </p:graphicFrame>
      <p:sp>
        <p:nvSpPr>
          <p:cNvPr name="TextBox 5" id="5"/>
          <p:cNvSpPr txBox="true"/>
          <p:nvPr/>
        </p:nvSpPr>
        <p:spPr>
          <a:xfrm rot="0">
            <a:off x="1536384" y="4303200"/>
            <a:ext cx="14835696" cy="1057275"/>
          </a:xfrm>
          <a:prstGeom prst="rect">
            <a:avLst/>
          </a:prstGeom>
        </p:spPr>
        <p:txBody>
          <a:bodyPr anchor="t" rtlCol="false" tIns="0" lIns="0" bIns="0" rIns="0">
            <a:spAutoFit/>
          </a:bodyPr>
          <a:lstStyle/>
          <a:p>
            <a:pPr algn="l">
              <a:lnSpc>
                <a:spcPts val="7198"/>
              </a:lnSpc>
            </a:pPr>
            <a:r>
              <a:rPr lang="en-US" sz="4999">
                <a:solidFill>
                  <a:srgbClr val="000000"/>
                </a:solidFill>
                <a:latin typeface="Arial"/>
                <a:ea typeface="Arial"/>
                <a:cs typeface="Arial"/>
                <a:sym typeface="Arial"/>
              </a:rPr>
              <a:t>Laboratorio de Redes de Computadoras 1 [Seccion]</a:t>
            </a:r>
          </a:p>
        </p:txBody>
      </p:sp>
      <p:sp>
        <p:nvSpPr>
          <p:cNvPr name="TextBox 6" id="6"/>
          <p:cNvSpPr txBox="true"/>
          <p:nvPr/>
        </p:nvSpPr>
        <p:spPr>
          <a:xfrm rot="0">
            <a:off x="3648960" y="5636025"/>
            <a:ext cx="10989360" cy="857250"/>
          </a:xfrm>
          <a:prstGeom prst="rect">
            <a:avLst/>
          </a:prstGeom>
        </p:spPr>
        <p:txBody>
          <a:bodyPr anchor="t" rtlCol="false" tIns="0" lIns="0" bIns="0" rIns="0">
            <a:spAutoFit/>
          </a:bodyPr>
          <a:lstStyle/>
          <a:p>
            <a:pPr algn="l">
              <a:lnSpc>
                <a:spcPts val="5759"/>
              </a:lnSpc>
            </a:pPr>
            <a:r>
              <a:rPr lang="en-US" sz="4000">
                <a:solidFill>
                  <a:srgbClr val="000000"/>
                </a:solidFill>
                <a:latin typeface="Arial"/>
                <a:ea typeface="Arial"/>
                <a:cs typeface="Arial"/>
                <a:sym typeface="Arial"/>
              </a:rPr>
              <a:t>Nombre Auxiliar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628867" y="7543299"/>
            <a:ext cx="3699265" cy="4195043"/>
            <a:chOff x="0" y="0"/>
            <a:chExt cx="4932353" cy="5593391"/>
          </a:xfrm>
        </p:grpSpPr>
        <p:sp>
          <p:nvSpPr>
            <p:cNvPr name="Freeform 3" id="3"/>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3"/>
              <a:stretch>
                <a:fillRect l="-23" t="0" r="-24" b="-1"/>
              </a:stretch>
            </a:blipFill>
          </p:spPr>
        </p:sp>
      </p:grpSp>
      <p:grpSp>
        <p:nvGrpSpPr>
          <p:cNvPr name="Group 4" id="4"/>
          <p:cNvGrpSpPr/>
          <p:nvPr/>
        </p:nvGrpSpPr>
        <p:grpSpPr>
          <a:xfrm rot="0">
            <a:off x="4123074" y="-2591505"/>
            <a:ext cx="4089204" cy="3747198"/>
            <a:chOff x="0" y="0"/>
            <a:chExt cx="5452272" cy="4996264"/>
          </a:xfrm>
        </p:grpSpPr>
        <p:sp>
          <p:nvSpPr>
            <p:cNvPr name="Freeform 5" id="5"/>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6" id="6"/>
          <p:cNvGrpSpPr/>
          <p:nvPr/>
        </p:nvGrpSpPr>
        <p:grpSpPr>
          <a:xfrm rot="-1780974">
            <a:off x="-2178011" y="4841048"/>
            <a:ext cx="3585363" cy="4186730"/>
            <a:chOff x="0" y="0"/>
            <a:chExt cx="4780484" cy="5582307"/>
          </a:xfrm>
        </p:grpSpPr>
        <p:sp>
          <p:nvSpPr>
            <p:cNvPr name="Freeform 7" id="7"/>
            <p:cNvSpPr/>
            <p:nvPr/>
          </p:nvSpPr>
          <p:spPr>
            <a:xfrm flipH="false" flipV="false" rot="0">
              <a:off x="0" y="0"/>
              <a:ext cx="4780534" cy="5582285"/>
            </a:xfrm>
            <a:custGeom>
              <a:avLst/>
              <a:gdLst/>
              <a:ahLst/>
              <a:cxnLst/>
              <a:rect r="r" b="b" t="t" l="l"/>
              <a:pathLst>
                <a:path h="5582285" w="4780534">
                  <a:moveTo>
                    <a:pt x="0" y="0"/>
                  </a:moveTo>
                  <a:lnTo>
                    <a:pt x="4780534" y="0"/>
                  </a:lnTo>
                  <a:lnTo>
                    <a:pt x="4780534" y="5582285"/>
                  </a:lnTo>
                  <a:lnTo>
                    <a:pt x="0" y="5582285"/>
                  </a:lnTo>
                  <a:lnTo>
                    <a:pt x="0" y="0"/>
                  </a:lnTo>
                  <a:close/>
                </a:path>
              </a:pathLst>
            </a:custGeom>
            <a:blipFill>
              <a:blip r:embed="rId5"/>
              <a:stretch>
                <a:fillRect l="-45" t="0" r="-44" b="0"/>
              </a:stretch>
            </a:blipFill>
          </p:spPr>
        </p:sp>
      </p:grpSp>
      <p:grpSp>
        <p:nvGrpSpPr>
          <p:cNvPr name="Group 8" id="8"/>
          <p:cNvGrpSpPr/>
          <p:nvPr/>
        </p:nvGrpSpPr>
        <p:grpSpPr>
          <a:xfrm rot="5400000">
            <a:off x="-547899" y="8993285"/>
            <a:ext cx="3603709" cy="3956167"/>
            <a:chOff x="0" y="0"/>
            <a:chExt cx="4804945" cy="5274889"/>
          </a:xfrm>
        </p:grpSpPr>
        <p:sp>
          <p:nvSpPr>
            <p:cNvPr name="Freeform 9" id="9"/>
            <p:cNvSpPr/>
            <p:nvPr/>
          </p:nvSpPr>
          <p:spPr>
            <a:xfrm flipH="false" flipV="false" rot="0">
              <a:off x="0" y="0"/>
              <a:ext cx="4804918" cy="5274945"/>
            </a:xfrm>
            <a:custGeom>
              <a:avLst/>
              <a:gdLst/>
              <a:ahLst/>
              <a:cxnLst/>
              <a:rect r="r" b="b" t="t" l="l"/>
              <a:pathLst>
                <a:path h="5274945" w="4804918">
                  <a:moveTo>
                    <a:pt x="0" y="0"/>
                  </a:moveTo>
                  <a:lnTo>
                    <a:pt x="4804918" y="0"/>
                  </a:lnTo>
                  <a:lnTo>
                    <a:pt x="4804918" y="5274945"/>
                  </a:lnTo>
                  <a:lnTo>
                    <a:pt x="0" y="5274945"/>
                  </a:lnTo>
                  <a:lnTo>
                    <a:pt x="0" y="0"/>
                  </a:lnTo>
                  <a:close/>
                </a:path>
              </a:pathLst>
            </a:custGeom>
            <a:blipFill>
              <a:blip r:embed="rId6"/>
              <a:stretch>
                <a:fillRect l="-61" t="0" r="-62" b="1"/>
              </a:stretch>
            </a:blipFill>
          </p:spPr>
        </p:sp>
      </p:grpSp>
      <p:grpSp>
        <p:nvGrpSpPr>
          <p:cNvPr name="Group 10" id="10"/>
          <p:cNvGrpSpPr/>
          <p:nvPr/>
        </p:nvGrpSpPr>
        <p:grpSpPr>
          <a:xfrm rot="0">
            <a:off x="3336814" y="9169514"/>
            <a:ext cx="3360824" cy="3416735"/>
            <a:chOff x="0" y="0"/>
            <a:chExt cx="4481099" cy="4555647"/>
          </a:xfrm>
        </p:grpSpPr>
        <p:sp>
          <p:nvSpPr>
            <p:cNvPr name="Freeform 11" id="11"/>
            <p:cNvSpPr/>
            <p:nvPr/>
          </p:nvSpPr>
          <p:spPr>
            <a:xfrm flipH="false" flipV="false" rot="0">
              <a:off x="0" y="0"/>
              <a:ext cx="4481068" cy="4555617"/>
            </a:xfrm>
            <a:custGeom>
              <a:avLst/>
              <a:gdLst/>
              <a:ahLst/>
              <a:cxnLst/>
              <a:rect r="r" b="b" t="t" l="l"/>
              <a:pathLst>
                <a:path h="4555617" w="4481068">
                  <a:moveTo>
                    <a:pt x="0" y="0"/>
                  </a:moveTo>
                  <a:lnTo>
                    <a:pt x="4481068" y="0"/>
                  </a:lnTo>
                  <a:lnTo>
                    <a:pt x="4481068" y="4555617"/>
                  </a:lnTo>
                  <a:lnTo>
                    <a:pt x="0" y="4555617"/>
                  </a:lnTo>
                  <a:lnTo>
                    <a:pt x="0" y="0"/>
                  </a:lnTo>
                  <a:close/>
                </a:path>
              </a:pathLst>
            </a:custGeom>
            <a:blipFill>
              <a:blip r:embed="rId7"/>
              <a:stretch>
                <a:fillRect l="-2" t="0" r="-3" b="0"/>
              </a:stretch>
            </a:blipFill>
          </p:spPr>
        </p:sp>
      </p:grpSp>
      <p:grpSp>
        <p:nvGrpSpPr>
          <p:cNvPr name="Group 12" id="12"/>
          <p:cNvGrpSpPr/>
          <p:nvPr/>
        </p:nvGrpSpPr>
        <p:grpSpPr>
          <a:xfrm rot="0">
            <a:off x="17381308" y="3942256"/>
            <a:ext cx="3290910" cy="3189191"/>
            <a:chOff x="0" y="0"/>
            <a:chExt cx="4387880" cy="4252255"/>
          </a:xfrm>
        </p:grpSpPr>
        <p:sp>
          <p:nvSpPr>
            <p:cNvPr name="Freeform 13" id="13"/>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8"/>
              <a:stretch>
                <a:fillRect l="0" t="-7" r="0" b="-8"/>
              </a:stretch>
            </a:blipFill>
          </p:spPr>
        </p:sp>
      </p:grpSp>
      <p:grpSp>
        <p:nvGrpSpPr>
          <p:cNvPr name="Group 14" id="14"/>
          <p:cNvGrpSpPr/>
          <p:nvPr/>
        </p:nvGrpSpPr>
        <p:grpSpPr>
          <a:xfrm rot="0">
            <a:off x="12756325" y="-2994024"/>
            <a:ext cx="4101774" cy="4034654"/>
            <a:chOff x="0" y="0"/>
            <a:chExt cx="5469032" cy="5379539"/>
          </a:xfrm>
        </p:grpSpPr>
        <p:sp>
          <p:nvSpPr>
            <p:cNvPr name="Freeform 15" id="15"/>
            <p:cNvSpPr/>
            <p:nvPr/>
          </p:nvSpPr>
          <p:spPr>
            <a:xfrm flipH="false" flipV="false" rot="0">
              <a:off x="0" y="0"/>
              <a:ext cx="5469001" cy="5379593"/>
            </a:xfrm>
            <a:custGeom>
              <a:avLst/>
              <a:gdLst/>
              <a:ahLst/>
              <a:cxnLst/>
              <a:rect r="r" b="b" t="t" l="l"/>
              <a:pathLst>
                <a:path h="5379593" w="5469001">
                  <a:moveTo>
                    <a:pt x="0" y="0"/>
                  </a:moveTo>
                  <a:lnTo>
                    <a:pt x="5469001" y="0"/>
                  </a:lnTo>
                  <a:lnTo>
                    <a:pt x="5469001" y="5379593"/>
                  </a:lnTo>
                  <a:lnTo>
                    <a:pt x="0" y="5379593"/>
                  </a:lnTo>
                  <a:lnTo>
                    <a:pt x="0" y="0"/>
                  </a:lnTo>
                  <a:close/>
                </a:path>
              </a:pathLst>
            </a:custGeom>
            <a:blipFill>
              <a:blip r:embed="rId9"/>
              <a:stretch>
                <a:fillRect l="0" t="-88" r="0" b="-87"/>
              </a:stretch>
            </a:blipFill>
          </p:spPr>
        </p:sp>
      </p:grpSp>
      <p:grpSp>
        <p:nvGrpSpPr>
          <p:cNvPr name="Group 16" id="16"/>
          <p:cNvGrpSpPr/>
          <p:nvPr/>
        </p:nvGrpSpPr>
        <p:grpSpPr>
          <a:xfrm rot="0">
            <a:off x="17191945" y="-717905"/>
            <a:ext cx="2933022" cy="4801077"/>
            <a:chOff x="0" y="0"/>
            <a:chExt cx="3910696" cy="6401436"/>
          </a:xfrm>
        </p:grpSpPr>
        <p:sp>
          <p:nvSpPr>
            <p:cNvPr name="Freeform 17" id="17"/>
            <p:cNvSpPr/>
            <p:nvPr/>
          </p:nvSpPr>
          <p:spPr>
            <a:xfrm flipH="false" flipV="false" rot="0">
              <a:off x="0" y="0"/>
              <a:ext cx="3910711" cy="6401435"/>
            </a:xfrm>
            <a:custGeom>
              <a:avLst/>
              <a:gdLst/>
              <a:ahLst/>
              <a:cxnLst/>
              <a:rect r="r" b="b" t="t" l="l"/>
              <a:pathLst>
                <a:path h="6401435" w="3910711">
                  <a:moveTo>
                    <a:pt x="0" y="0"/>
                  </a:moveTo>
                  <a:lnTo>
                    <a:pt x="3910711" y="0"/>
                  </a:lnTo>
                  <a:lnTo>
                    <a:pt x="3910711" y="6401435"/>
                  </a:lnTo>
                  <a:lnTo>
                    <a:pt x="0" y="6401435"/>
                  </a:lnTo>
                  <a:lnTo>
                    <a:pt x="0" y="0"/>
                  </a:lnTo>
                  <a:close/>
                </a:path>
              </a:pathLst>
            </a:custGeom>
            <a:blipFill>
              <a:blip r:embed="rId10"/>
              <a:stretch>
                <a:fillRect l="-130" t="0" r="-129" b="0"/>
              </a:stretch>
            </a:blipFill>
          </p:spPr>
        </p:sp>
      </p:grpSp>
      <p:grpSp>
        <p:nvGrpSpPr>
          <p:cNvPr name="Group 18" id="18"/>
          <p:cNvGrpSpPr/>
          <p:nvPr/>
        </p:nvGrpSpPr>
        <p:grpSpPr>
          <a:xfrm rot="0">
            <a:off x="12308650" y="9169514"/>
            <a:ext cx="3683224" cy="3522502"/>
            <a:chOff x="0" y="0"/>
            <a:chExt cx="4910965" cy="4696669"/>
          </a:xfrm>
        </p:grpSpPr>
        <p:sp>
          <p:nvSpPr>
            <p:cNvPr name="Freeform 19" id="19"/>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11"/>
              <a:stretch>
                <a:fillRect l="-39" t="0" r="-39" b="0"/>
              </a:stretch>
            </a:blipFill>
          </p:spPr>
        </p:sp>
      </p:grpSp>
      <p:grpSp>
        <p:nvGrpSpPr>
          <p:cNvPr name="Group 20" id="20"/>
          <p:cNvGrpSpPr/>
          <p:nvPr/>
        </p:nvGrpSpPr>
        <p:grpSpPr>
          <a:xfrm rot="-7064477">
            <a:off x="9010060" y="-1566428"/>
            <a:ext cx="3197600" cy="3733928"/>
            <a:chOff x="0" y="0"/>
            <a:chExt cx="4263467" cy="4978571"/>
          </a:xfrm>
        </p:grpSpPr>
        <p:sp>
          <p:nvSpPr>
            <p:cNvPr name="Freeform 21" id="21"/>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5"/>
              <a:stretch>
                <a:fillRect l="-45" t="0" r="-44" b="0"/>
              </a:stretch>
            </a:blipFill>
          </p:spPr>
        </p:sp>
      </p:grpSp>
      <p:grpSp>
        <p:nvGrpSpPr>
          <p:cNvPr name="Group 22" id="22"/>
          <p:cNvGrpSpPr/>
          <p:nvPr/>
        </p:nvGrpSpPr>
        <p:grpSpPr>
          <a:xfrm rot="5400000">
            <a:off x="-52048" y="-2848640"/>
            <a:ext cx="4320016" cy="4742532"/>
            <a:chOff x="0" y="0"/>
            <a:chExt cx="5760021" cy="6323376"/>
          </a:xfrm>
        </p:grpSpPr>
        <p:sp>
          <p:nvSpPr>
            <p:cNvPr name="Freeform 23" id="23"/>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6"/>
              <a:stretch>
                <a:fillRect l="-61" t="0" r="-63" b="0"/>
              </a:stretch>
            </a:blipFill>
          </p:spPr>
        </p:sp>
      </p:grpSp>
      <p:grpSp>
        <p:nvGrpSpPr>
          <p:cNvPr name="Group 24" id="24"/>
          <p:cNvGrpSpPr/>
          <p:nvPr/>
        </p:nvGrpSpPr>
        <p:grpSpPr>
          <a:xfrm rot="3887789">
            <a:off x="-2804950" y="803558"/>
            <a:ext cx="3200658" cy="5239172"/>
            <a:chOff x="0" y="0"/>
            <a:chExt cx="4267544" cy="6985563"/>
          </a:xfrm>
        </p:grpSpPr>
        <p:sp>
          <p:nvSpPr>
            <p:cNvPr name="Freeform 25" id="25"/>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10"/>
              <a:stretch>
                <a:fillRect l="-130" t="0" r="-129" b="0"/>
              </a:stretch>
            </a:blipFill>
          </p:spPr>
        </p:sp>
      </p:grpSp>
      <p:grpSp>
        <p:nvGrpSpPr>
          <p:cNvPr name="Group 26" id="26"/>
          <p:cNvGrpSpPr/>
          <p:nvPr/>
        </p:nvGrpSpPr>
        <p:grpSpPr>
          <a:xfrm rot="0">
            <a:off x="7135229" y="9264764"/>
            <a:ext cx="5173421" cy="5298662"/>
            <a:chOff x="0" y="0"/>
            <a:chExt cx="6897895" cy="7064883"/>
          </a:xfrm>
        </p:grpSpPr>
        <p:sp>
          <p:nvSpPr>
            <p:cNvPr name="Freeform 27" id="27"/>
            <p:cNvSpPr/>
            <p:nvPr/>
          </p:nvSpPr>
          <p:spPr>
            <a:xfrm flipH="false" flipV="false" rot="0">
              <a:off x="0" y="0"/>
              <a:ext cx="6897878" cy="7064883"/>
            </a:xfrm>
            <a:custGeom>
              <a:avLst/>
              <a:gdLst/>
              <a:ahLst/>
              <a:cxnLst/>
              <a:rect r="r" b="b" t="t" l="l"/>
              <a:pathLst>
                <a:path h="7064883" w="6897878">
                  <a:moveTo>
                    <a:pt x="0" y="0"/>
                  </a:moveTo>
                  <a:lnTo>
                    <a:pt x="6897878" y="0"/>
                  </a:lnTo>
                  <a:lnTo>
                    <a:pt x="6897878" y="7064883"/>
                  </a:lnTo>
                  <a:lnTo>
                    <a:pt x="0" y="7064883"/>
                  </a:lnTo>
                  <a:lnTo>
                    <a:pt x="0" y="0"/>
                  </a:lnTo>
                  <a:close/>
                </a:path>
              </a:pathLst>
            </a:custGeom>
            <a:blipFill>
              <a:blip r:embed="rId12"/>
              <a:stretch>
                <a:fillRect l="-21" t="0" r="-22" b="0"/>
              </a:stretch>
            </a:blipFill>
          </p:spPr>
        </p:sp>
      </p:grpSp>
      <p:sp>
        <p:nvSpPr>
          <p:cNvPr name="TextBox 28" id="28"/>
          <p:cNvSpPr txBox="true"/>
          <p:nvPr/>
        </p:nvSpPr>
        <p:spPr>
          <a:xfrm rot="0">
            <a:off x="1751808" y="2584602"/>
            <a:ext cx="13399404" cy="3587750"/>
          </a:xfrm>
          <a:prstGeom prst="rect">
            <a:avLst/>
          </a:prstGeom>
        </p:spPr>
        <p:txBody>
          <a:bodyPr anchor="t" rtlCol="false" tIns="0" lIns="0" bIns="0" rIns="0">
            <a:spAutoFit/>
          </a:bodyPr>
          <a:lstStyle/>
          <a:p>
            <a:pPr algn="ctr">
              <a:lnSpc>
                <a:spcPts val="8398"/>
              </a:lnSpc>
            </a:pPr>
            <a:r>
              <a:rPr lang="en-US" b="true" sz="6998">
                <a:solidFill>
                  <a:srgbClr val="3D3D3D"/>
                </a:solidFill>
                <a:latin typeface="Roboto Slab Bold"/>
                <a:ea typeface="Roboto Slab Bold"/>
                <a:cs typeface="Roboto Slab Bold"/>
                <a:sym typeface="Roboto Slab Bold"/>
              </a:rPr>
              <a:t>DISPOSITIVOS Y PROTOCOLOS EN LA CAPA 3: ENRUTAMIENTO, ALTA DISPONIBILIDAD Y SEGURIDAD</a:t>
            </a:r>
          </a:p>
        </p:txBody>
      </p:sp>
      <p:grpSp>
        <p:nvGrpSpPr>
          <p:cNvPr name="Group 29" id="29"/>
          <p:cNvGrpSpPr/>
          <p:nvPr/>
        </p:nvGrpSpPr>
        <p:grpSpPr>
          <a:xfrm rot="0">
            <a:off x="13252947" y="1028700"/>
            <a:ext cx="3796529" cy="1129467"/>
            <a:chOff x="0" y="0"/>
            <a:chExt cx="5062039" cy="1505956"/>
          </a:xfrm>
        </p:grpSpPr>
        <p:sp>
          <p:nvSpPr>
            <p:cNvPr name="Freeform 30" id="30"/>
            <p:cNvSpPr/>
            <p:nvPr/>
          </p:nvSpPr>
          <p:spPr>
            <a:xfrm flipH="false" flipV="false" rot="0">
              <a:off x="0" y="0"/>
              <a:ext cx="5062093" cy="1505966"/>
            </a:xfrm>
            <a:custGeom>
              <a:avLst/>
              <a:gdLst/>
              <a:ahLst/>
              <a:cxnLst/>
              <a:rect r="r" b="b" t="t" l="l"/>
              <a:pathLst>
                <a:path h="1505966" w="5062093">
                  <a:moveTo>
                    <a:pt x="0" y="0"/>
                  </a:moveTo>
                  <a:lnTo>
                    <a:pt x="5062093" y="0"/>
                  </a:lnTo>
                  <a:lnTo>
                    <a:pt x="5062093" y="1505966"/>
                  </a:lnTo>
                  <a:lnTo>
                    <a:pt x="0" y="1505966"/>
                  </a:lnTo>
                  <a:lnTo>
                    <a:pt x="0" y="0"/>
                  </a:lnTo>
                  <a:close/>
                </a:path>
              </a:pathLst>
            </a:custGeom>
            <a:blipFill>
              <a:blip r:embed="rId13"/>
              <a:stretch>
                <a:fillRect l="0" t="-182" r="1" b="-181"/>
              </a:stretch>
            </a:blipFill>
          </p:spPr>
        </p:sp>
      </p:grpSp>
      <p:sp>
        <p:nvSpPr>
          <p:cNvPr name="TextBox 31" id="31"/>
          <p:cNvSpPr txBox="true"/>
          <p:nvPr/>
        </p:nvSpPr>
        <p:spPr>
          <a:xfrm rot="0">
            <a:off x="1253955" y="7130925"/>
            <a:ext cx="4221275" cy="558493"/>
          </a:xfrm>
          <a:prstGeom prst="rect">
            <a:avLst/>
          </a:prstGeom>
        </p:spPr>
        <p:txBody>
          <a:bodyPr anchor="t" rtlCol="false" tIns="0" lIns="0" bIns="0" rIns="0">
            <a:spAutoFit/>
          </a:bodyPr>
          <a:lstStyle/>
          <a:p>
            <a:pPr algn="ctr">
              <a:lnSpc>
                <a:spcPts val="4322"/>
              </a:lnSpc>
            </a:pPr>
            <a:r>
              <a:rPr lang="en-US" b="true" sz="2572">
                <a:solidFill>
                  <a:srgbClr val="3D3D3D"/>
                </a:solidFill>
                <a:latin typeface="Open Sans Bold"/>
                <a:ea typeface="Open Sans Bold"/>
                <a:cs typeface="Open Sans Bold"/>
                <a:sym typeface="Open Sans Bold"/>
              </a:rPr>
              <a:t>Redes de Computadoras 1</a:t>
            </a:r>
          </a:p>
        </p:txBody>
      </p:sp>
      <p:sp>
        <p:nvSpPr>
          <p:cNvPr name="TextBox 32" id="32"/>
          <p:cNvSpPr txBox="true"/>
          <p:nvPr/>
        </p:nvSpPr>
        <p:spPr>
          <a:xfrm rot="0">
            <a:off x="1253955" y="7531705"/>
            <a:ext cx="6450542" cy="504493"/>
          </a:xfrm>
          <a:prstGeom prst="rect">
            <a:avLst/>
          </a:prstGeom>
        </p:spPr>
        <p:txBody>
          <a:bodyPr anchor="t" rtlCol="false" tIns="0" lIns="0" bIns="0" rIns="0">
            <a:spAutoFit/>
          </a:bodyPr>
          <a:lstStyle/>
          <a:p>
            <a:pPr algn="l">
              <a:lnSpc>
                <a:spcPts val="4125"/>
              </a:lnSpc>
            </a:pPr>
            <a:r>
              <a:rPr lang="en-US" sz="2456">
                <a:solidFill>
                  <a:srgbClr val="3D3D3D"/>
                </a:solidFill>
                <a:latin typeface="Open Sans"/>
                <a:ea typeface="Open Sans"/>
                <a:cs typeface="Open Sans"/>
                <a:sym typeface="Open Sans"/>
              </a:rPr>
              <a:t>Escuela de Ingenieria de Ciencias y Sistemas</a:t>
            </a:r>
          </a:p>
        </p:txBody>
      </p:sp>
      <p:sp>
        <p:nvSpPr>
          <p:cNvPr name="TextBox 33" id="33"/>
          <p:cNvSpPr txBox="true"/>
          <p:nvPr/>
        </p:nvSpPr>
        <p:spPr>
          <a:xfrm rot="0">
            <a:off x="1253955" y="7902849"/>
            <a:ext cx="3225271" cy="504493"/>
          </a:xfrm>
          <a:prstGeom prst="rect">
            <a:avLst/>
          </a:prstGeom>
        </p:spPr>
        <p:txBody>
          <a:bodyPr anchor="t" rtlCol="false" tIns="0" lIns="0" bIns="0" rIns="0">
            <a:spAutoFit/>
          </a:bodyPr>
          <a:lstStyle/>
          <a:p>
            <a:pPr algn="l">
              <a:lnSpc>
                <a:spcPts val="4125"/>
              </a:lnSpc>
            </a:pPr>
            <a:r>
              <a:rPr lang="en-US" sz="2456">
                <a:solidFill>
                  <a:srgbClr val="3D3D3D"/>
                </a:solidFill>
                <a:latin typeface="Open Sans"/>
                <a:ea typeface="Open Sans"/>
                <a:cs typeface="Open Sans"/>
                <a:sym typeface="Open Sans"/>
              </a:rPr>
              <a:t>Facultad de Ingenieria</a:t>
            </a:r>
          </a:p>
        </p:txBody>
      </p:sp>
      <p:sp>
        <p:nvSpPr>
          <p:cNvPr name="TextBox 34" id="34"/>
          <p:cNvSpPr txBox="true"/>
          <p:nvPr/>
        </p:nvSpPr>
        <p:spPr>
          <a:xfrm rot="0">
            <a:off x="1253955" y="8273992"/>
            <a:ext cx="5977750" cy="504493"/>
          </a:xfrm>
          <a:prstGeom prst="rect">
            <a:avLst/>
          </a:prstGeom>
        </p:spPr>
        <p:txBody>
          <a:bodyPr anchor="t" rtlCol="false" tIns="0" lIns="0" bIns="0" rIns="0">
            <a:spAutoFit/>
          </a:bodyPr>
          <a:lstStyle/>
          <a:p>
            <a:pPr algn="l">
              <a:lnSpc>
                <a:spcPts val="4125"/>
              </a:lnSpc>
            </a:pPr>
            <a:r>
              <a:rPr lang="en-US" sz="2456">
                <a:solidFill>
                  <a:srgbClr val="3D3D3D"/>
                </a:solidFill>
                <a:latin typeface="Open Sans"/>
                <a:ea typeface="Open Sans"/>
                <a:cs typeface="Open Sans"/>
                <a:sym typeface="Open Sans"/>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4743022" cy="1603327"/>
          </a:xfrm>
          <a:prstGeom prst="rect">
            <a:avLst/>
          </a:prstGeom>
        </p:spPr>
        <p:txBody>
          <a:bodyPr anchor="t" rtlCol="false" tIns="0" lIns="0" bIns="0" rIns="0">
            <a:spAutoFit/>
          </a:bodyPr>
          <a:lstStyle/>
          <a:p>
            <a:pPr algn="l">
              <a:lnSpc>
                <a:spcPts val="13631"/>
              </a:lnSpc>
            </a:pPr>
            <a:r>
              <a:rPr lang="en-US" b="true" sz="10143">
                <a:solidFill>
                  <a:srgbClr val="3D3D3D"/>
                </a:solidFill>
                <a:latin typeface="Roboto Slab Bold"/>
                <a:ea typeface="Roboto Slab Bold"/>
                <a:cs typeface="Roboto Slab Bold"/>
                <a:sym typeface="Roboto Slab Bold"/>
              </a:rPr>
              <a:t>Agenda</a:t>
            </a:r>
          </a:p>
        </p:txBody>
      </p:sp>
      <p:sp>
        <p:nvSpPr>
          <p:cNvPr name="Freeform 3" id="3"/>
          <p:cNvSpPr/>
          <p:nvPr/>
        </p:nvSpPr>
        <p:spPr>
          <a:xfrm flipH="false" flipV="false" rot="0">
            <a:off x="1028700" y="2853067"/>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096427" y="2913091"/>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372392" y="2955071"/>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Foro #</a:t>
            </a:r>
          </a:p>
        </p:txBody>
      </p:sp>
      <p:sp>
        <p:nvSpPr>
          <p:cNvPr name="TextBox 6" id="6"/>
          <p:cNvSpPr txBox="true"/>
          <p:nvPr/>
        </p:nvSpPr>
        <p:spPr>
          <a:xfrm rot="0">
            <a:off x="1051541" y="2955982"/>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01</a:t>
            </a:r>
          </a:p>
        </p:txBody>
      </p:sp>
      <p:sp>
        <p:nvSpPr>
          <p:cNvPr name="Freeform 7" id="7"/>
          <p:cNvSpPr/>
          <p:nvPr/>
        </p:nvSpPr>
        <p:spPr>
          <a:xfrm flipH="false" flipV="false" rot="0">
            <a:off x="1028700" y="3837235"/>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051541" y="3940150"/>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02</a:t>
            </a:r>
          </a:p>
        </p:txBody>
      </p:sp>
      <p:sp>
        <p:nvSpPr>
          <p:cNvPr name="Freeform 9" id="9"/>
          <p:cNvSpPr/>
          <p:nvPr/>
        </p:nvSpPr>
        <p:spPr>
          <a:xfrm flipH="false" flipV="false" rot="0">
            <a:off x="1028700" y="4897693"/>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51541" y="5000607"/>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03</a:t>
            </a:r>
          </a:p>
        </p:txBody>
      </p:sp>
      <p:sp>
        <p:nvSpPr>
          <p:cNvPr name="Freeform 11" id="11"/>
          <p:cNvSpPr/>
          <p:nvPr/>
        </p:nvSpPr>
        <p:spPr>
          <a:xfrm flipH="false" flipV="false" rot="0">
            <a:off x="2073586" y="3897259"/>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2349551" y="3939239"/>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Asistencia</a:t>
            </a:r>
          </a:p>
        </p:txBody>
      </p:sp>
      <p:sp>
        <p:nvSpPr>
          <p:cNvPr name="Freeform 13" id="13"/>
          <p:cNvSpPr/>
          <p:nvPr/>
        </p:nvSpPr>
        <p:spPr>
          <a:xfrm flipH="false" flipV="false" rot="0">
            <a:off x="2073586" y="4957717"/>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1051541" y="6944262"/>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5" id="15"/>
          <p:cNvSpPr txBox="true"/>
          <p:nvPr/>
        </p:nvSpPr>
        <p:spPr>
          <a:xfrm rot="0">
            <a:off x="1074382" y="7047177"/>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05</a:t>
            </a:r>
          </a:p>
        </p:txBody>
      </p:sp>
      <p:sp>
        <p:nvSpPr>
          <p:cNvPr name="Freeform 16" id="16"/>
          <p:cNvSpPr/>
          <p:nvPr/>
        </p:nvSpPr>
        <p:spPr>
          <a:xfrm flipH="false" flipV="false" rot="0">
            <a:off x="2096427" y="7004286"/>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7" id="17"/>
          <p:cNvSpPr/>
          <p:nvPr/>
        </p:nvSpPr>
        <p:spPr>
          <a:xfrm flipH="false" flipV="false" rot="0">
            <a:off x="1051541" y="8014222"/>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8" id="18"/>
          <p:cNvSpPr txBox="true"/>
          <p:nvPr/>
        </p:nvSpPr>
        <p:spPr>
          <a:xfrm rot="0">
            <a:off x="1074382" y="8117137"/>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06</a:t>
            </a:r>
          </a:p>
        </p:txBody>
      </p:sp>
      <p:sp>
        <p:nvSpPr>
          <p:cNvPr name="Freeform 19" id="19"/>
          <p:cNvSpPr/>
          <p:nvPr/>
        </p:nvSpPr>
        <p:spPr>
          <a:xfrm flipH="false" flipV="false" rot="0">
            <a:off x="2096427" y="8074246"/>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028700" y="5881801"/>
            <a:ext cx="815348" cy="815348"/>
          </a:xfrm>
          <a:custGeom>
            <a:avLst/>
            <a:gdLst/>
            <a:ahLst/>
            <a:cxnLst/>
            <a:rect r="r" b="b" t="t" l="l"/>
            <a:pathLst>
              <a:path h="815348" w="815348">
                <a:moveTo>
                  <a:pt x="0" y="0"/>
                </a:moveTo>
                <a:lnTo>
                  <a:pt x="815348" y="0"/>
                </a:lnTo>
                <a:lnTo>
                  <a:pt x="815348" y="815348"/>
                </a:lnTo>
                <a:lnTo>
                  <a:pt x="0" y="81534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21" id="21"/>
          <p:cNvSpPr txBox="true"/>
          <p:nvPr/>
        </p:nvSpPr>
        <p:spPr>
          <a:xfrm rot="0">
            <a:off x="1051541" y="5984715"/>
            <a:ext cx="769666" cy="523793"/>
          </a:xfrm>
          <a:prstGeom prst="rect">
            <a:avLst/>
          </a:prstGeom>
        </p:spPr>
        <p:txBody>
          <a:bodyPr anchor="t" rtlCol="false" tIns="0" lIns="0" bIns="0" rIns="0">
            <a:spAutoFit/>
          </a:bodyPr>
          <a:lstStyle/>
          <a:p>
            <a:pPr algn="ctr">
              <a:lnSpc>
                <a:spcPts val="4184"/>
              </a:lnSpc>
            </a:pPr>
            <a:r>
              <a:rPr lang="en-US" sz="2906">
                <a:solidFill>
                  <a:srgbClr val="3D3D3D"/>
                </a:solidFill>
                <a:latin typeface="Roboto"/>
                <a:ea typeface="Roboto"/>
                <a:cs typeface="Roboto"/>
                <a:sym typeface="Roboto"/>
              </a:rPr>
              <a:t>04</a:t>
            </a:r>
          </a:p>
        </p:txBody>
      </p:sp>
      <p:sp>
        <p:nvSpPr>
          <p:cNvPr name="Freeform 22" id="22"/>
          <p:cNvSpPr/>
          <p:nvPr/>
        </p:nvSpPr>
        <p:spPr>
          <a:xfrm flipH="false" flipV="false" rot="0">
            <a:off x="2073586" y="5941825"/>
            <a:ext cx="3115091" cy="678848"/>
          </a:xfrm>
          <a:custGeom>
            <a:avLst/>
            <a:gdLst/>
            <a:ahLst/>
            <a:cxnLst/>
            <a:rect r="r" b="b" t="t" l="l"/>
            <a:pathLst>
              <a:path h="678848" w="3115091">
                <a:moveTo>
                  <a:pt x="0" y="0"/>
                </a:moveTo>
                <a:lnTo>
                  <a:pt x="3115091" y="0"/>
                </a:lnTo>
                <a:lnTo>
                  <a:pt x="3115091" y="678848"/>
                </a:lnTo>
                <a:lnTo>
                  <a:pt x="0" y="678848"/>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3" id="23"/>
          <p:cNvSpPr txBox="true"/>
          <p:nvPr/>
        </p:nvSpPr>
        <p:spPr>
          <a:xfrm rot="0">
            <a:off x="2349551" y="4999697"/>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Fotografia</a:t>
            </a:r>
          </a:p>
        </p:txBody>
      </p:sp>
      <p:sp>
        <p:nvSpPr>
          <p:cNvPr name="TextBox 24" id="24"/>
          <p:cNvSpPr txBox="true"/>
          <p:nvPr/>
        </p:nvSpPr>
        <p:spPr>
          <a:xfrm rot="0">
            <a:off x="2349551" y="5983805"/>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Enrutamiento</a:t>
            </a:r>
          </a:p>
        </p:txBody>
      </p:sp>
      <p:sp>
        <p:nvSpPr>
          <p:cNvPr name="TextBox 25" id="25"/>
          <p:cNvSpPr txBox="true"/>
          <p:nvPr/>
        </p:nvSpPr>
        <p:spPr>
          <a:xfrm rot="0">
            <a:off x="2230046" y="7050016"/>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Enrutamiento estático</a:t>
            </a:r>
          </a:p>
        </p:txBody>
      </p:sp>
      <p:sp>
        <p:nvSpPr>
          <p:cNvPr name="TextBox 26" id="26"/>
          <p:cNvSpPr txBox="true"/>
          <p:nvPr/>
        </p:nvSpPr>
        <p:spPr>
          <a:xfrm rot="0">
            <a:off x="2230046" y="8116226"/>
            <a:ext cx="2563159" cy="430364"/>
          </a:xfrm>
          <a:prstGeom prst="rect">
            <a:avLst/>
          </a:prstGeom>
        </p:spPr>
        <p:txBody>
          <a:bodyPr anchor="t" rtlCol="false" tIns="0" lIns="0" bIns="0" rIns="0">
            <a:spAutoFit/>
          </a:bodyPr>
          <a:lstStyle/>
          <a:p>
            <a:pPr algn="l">
              <a:lnSpc>
                <a:spcPts val="3188"/>
              </a:lnSpc>
            </a:pPr>
            <a:r>
              <a:rPr lang="en-US" b="true" sz="1660">
                <a:solidFill>
                  <a:srgbClr val="3D3D3D"/>
                </a:solidFill>
                <a:latin typeface="Roboto Bold"/>
                <a:ea typeface="Roboto Bold"/>
                <a:cs typeface="Roboto Bold"/>
                <a:sym typeface="Roboto Bold"/>
              </a:rPr>
              <a:t>Tablas de enrutamiento</a:t>
            </a:r>
          </a:p>
        </p:txBody>
      </p:sp>
      <p:sp>
        <p:nvSpPr>
          <p:cNvPr name="TextBox 27" id="27"/>
          <p:cNvSpPr txBox="true"/>
          <p:nvPr/>
        </p:nvSpPr>
        <p:spPr>
          <a:xfrm rot="0">
            <a:off x="11196283" y="962025"/>
            <a:ext cx="5649373" cy="1603327"/>
          </a:xfrm>
          <a:prstGeom prst="rect">
            <a:avLst/>
          </a:prstGeom>
        </p:spPr>
        <p:txBody>
          <a:bodyPr anchor="t" rtlCol="false" tIns="0" lIns="0" bIns="0" rIns="0">
            <a:spAutoFit/>
          </a:bodyPr>
          <a:lstStyle/>
          <a:p>
            <a:pPr algn="l">
              <a:lnSpc>
                <a:spcPts val="13631"/>
              </a:lnSpc>
            </a:pPr>
            <a:r>
              <a:rPr lang="en-US" b="true" sz="10143">
                <a:solidFill>
                  <a:srgbClr val="3D3D3D"/>
                </a:solidFill>
                <a:latin typeface="Roboto Slab Bold"/>
                <a:ea typeface="Roboto Slab Bold"/>
                <a:cs typeface="Roboto Slab Bold"/>
                <a:sym typeface="Roboto Slab Bold"/>
              </a:rPr>
              <a:t>Recursos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8952725" y="1399425"/>
            <a:ext cx="7830273" cy="7421463"/>
          </a:xfrm>
          <a:custGeom>
            <a:avLst/>
            <a:gdLst/>
            <a:ahLst/>
            <a:cxnLst/>
            <a:rect r="r" b="b" t="t" l="l"/>
            <a:pathLst>
              <a:path h="7421463" w="7830273">
                <a:moveTo>
                  <a:pt x="0" y="0"/>
                </a:moveTo>
                <a:lnTo>
                  <a:pt x="7830273" y="0"/>
                </a:lnTo>
                <a:lnTo>
                  <a:pt x="7830273" y="7421463"/>
                </a:lnTo>
                <a:lnTo>
                  <a:pt x="0" y="742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9727225" y="1847250"/>
            <a:ext cx="6666000" cy="6565200"/>
          </a:xfrm>
          <a:prstGeom prst="rect">
            <a:avLst/>
          </a:prstGeom>
        </p:spPr>
        <p:txBody>
          <a:bodyPr anchor="t" rtlCol="false" tIns="0" lIns="0" bIns="0" rIns="0">
            <a:spAutoFit/>
          </a:bodyPr>
          <a:lstStyle/>
          <a:p>
            <a:pPr algn="ctr">
              <a:lnSpc>
                <a:spcPts val="5703"/>
              </a:lnSpc>
            </a:pPr>
            <a:r>
              <a:rPr lang="en-US" b="true" sz="4133">
                <a:solidFill>
                  <a:srgbClr val="3D3D3D"/>
                </a:solidFill>
                <a:latin typeface="Roboto Bold"/>
                <a:ea typeface="Roboto Bold"/>
                <a:cs typeface="Roboto Bold"/>
                <a:sym typeface="Roboto Bold"/>
              </a:rPr>
              <a:t>El estudiante asegura la conectividad entre distintas redes y subredes utilizando distintos protocolos de enrutamiento para optimizar la propagación de rutas y garantizar la eficiencia del tráfico en la red.</a:t>
            </a:r>
          </a:p>
        </p:txBody>
      </p:sp>
      <p:sp>
        <p:nvSpPr>
          <p:cNvPr name="TextBox 4" id="4"/>
          <p:cNvSpPr txBox="true"/>
          <p:nvPr/>
        </p:nvSpPr>
        <p:spPr>
          <a:xfrm rot="0">
            <a:off x="1572511" y="4228716"/>
            <a:ext cx="6666010" cy="1791467"/>
          </a:xfrm>
          <a:prstGeom prst="rect">
            <a:avLst/>
          </a:prstGeom>
        </p:spPr>
        <p:txBody>
          <a:bodyPr anchor="t" rtlCol="false" tIns="0" lIns="0" bIns="0" rIns="0">
            <a:spAutoFit/>
          </a:bodyPr>
          <a:lstStyle/>
          <a:p>
            <a:pPr algn="ctr">
              <a:lnSpc>
                <a:spcPts val="8020"/>
              </a:lnSpc>
            </a:pPr>
            <a:r>
              <a:rPr lang="en-US" b="true" sz="5967">
                <a:solidFill>
                  <a:srgbClr val="3D3D3D"/>
                </a:solidFill>
                <a:latin typeface="Roboto Slab Bold"/>
                <a:ea typeface="Roboto Slab Bold"/>
                <a:cs typeface="Roboto Slab Bold"/>
                <a:sym typeface="Roboto Slab Bold"/>
              </a:rPr>
              <a:t>Competencias que desarrollaremos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628867" y="7543299"/>
            <a:ext cx="3699265" cy="4195043"/>
            <a:chOff x="0" y="0"/>
            <a:chExt cx="4932353" cy="5593391"/>
          </a:xfrm>
        </p:grpSpPr>
        <p:sp>
          <p:nvSpPr>
            <p:cNvPr name="Freeform 3" id="3"/>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3"/>
              <a:stretch>
                <a:fillRect l="-23" t="0" r="-24" b="-1"/>
              </a:stretch>
            </a:blipFill>
          </p:spPr>
        </p:sp>
      </p:grpSp>
      <p:grpSp>
        <p:nvGrpSpPr>
          <p:cNvPr name="Group 4" id="4"/>
          <p:cNvGrpSpPr/>
          <p:nvPr/>
        </p:nvGrpSpPr>
        <p:grpSpPr>
          <a:xfrm rot="0">
            <a:off x="4123074" y="-2591505"/>
            <a:ext cx="4089204" cy="3747198"/>
            <a:chOff x="0" y="0"/>
            <a:chExt cx="5452272" cy="4996264"/>
          </a:xfrm>
        </p:grpSpPr>
        <p:sp>
          <p:nvSpPr>
            <p:cNvPr name="Freeform 5" id="5"/>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6" id="6"/>
          <p:cNvGrpSpPr/>
          <p:nvPr/>
        </p:nvGrpSpPr>
        <p:grpSpPr>
          <a:xfrm rot="-1780974">
            <a:off x="-2178011" y="4841048"/>
            <a:ext cx="3585363" cy="4186730"/>
            <a:chOff x="0" y="0"/>
            <a:chExt cx="4780484" cy="5582307"/>
          </a:xfrm>
        </p:grpSpPr>
        <p:sp>
          <p:nvSpPr>
            <p:cNvPr name="Freeform 7" id="7"/>
            <p:cNvSpPr/>
            <p:nvPr/>
          </p:nvSpPr>
          <p:spPr>
            <a:xfrm flipH="false" flipV="false" rot="0">
              <a:off x="0" y="0"/>
              <a:ext cx="4780534" cy="5582285"/>
            </a:xfrm>
            <a:custGeom>
              <a:avLst/>
              <a:gdLst/>
              <a:ahLst/>
              <a:cxnLst/>
              <a:rect r="r" b="b" t="t" l="l"/>
              <a:pathLst>
                <a:path h="5582285" w="4780534">
                  <a:moveTo>
                    <a:pt x="0" y="0"/>
                  </a:moveTo>
                  <a:lnTo>
                    <a:pt x="4780534" y="0"/>
                  </a:lnTo>
                  <a:lnTo>
                    <a:pt x="4780534" y="5582285"/>
                  </a:lnTo>
                  <a:lnTo>
                    <a:pt x="0" y="5582285"/>
                  </a:lnTo>
                  <a:lnTo>
                    <a:pt x="0" y="0"/>
                  </a:lnTo>
                  <a:close/>
                </a:path>
              </a:pathLst>
            </a:custGeom>
            <a:blipFill>
              <a:blip r:embed="rId5"/>
              <a:stretch>
                <a:fillRect l="-45" t="0" r="-44" b="0"/>
              </a:stretch>
            </a:blipFill>
          </p:spPr>
        </p:sp>
      </p:grpSp>
      <p:grpSp>
        <p:nvGrpSpPr>
          <p:cNvPr name="Group 8" id="8"/>
          <p:cNvGrpSpPr/>
          <p:nvPr/>
        </p:nvGrpSpPr>
        <p:grpSpPr>
          <a:xfrm rot="5400000">
            <a:off x="-547899" y="8993285"/>
            <a:ext cx="3603709" cy="3956167"/>
            <a:chOff x="0" y="0"/>
            <a:chExt cx="4804945" cy="5274889"/>
          </a:xfrm>
        </p:grpSpPr>
        <p:sp>
          <p:nvSpPr>
            <p:cNvPr name="Freeform 9" id="9"/>
            <p:cNvSpPr/>
            <p:nvPr/>
          </p:nvSpPr>
          <p:spPr>
            <a:xfrm flipH="false" flipV="false" rot="0">
              <a:off x="0" y="0"/>
              <a:ext cx="4804918" cy="5274945"/>
            </a:xfrm>
            <a:custGeom>
              <a:avLst/>
              <a:gdLst/>
              <a:ahLst/>
              <a:cxnLst/>
              <a:rect r="r" b="b" t="t" l="l"/>
              <a:pathLst>
                <a:path h="5274945" w="4804918">
                  <a:moveTo>
                    <a:pt x="0" y="0"/>
                  </a:moveTo>
                  <a:lnTo>
                    <a:pt x="4804918" y="0"/>
                  </a:lnTo>
                  <a:lnTo>
                    <a:pt x="4804918" y="5274945"/>
                  </a:lnTo>
                  <a:lnTo>
                    <a:pt x="0" y="5274945"/>
                  </a:lnTo>
                  <a:lnTo>
                    <a:pt x="0" y="0"/>
                  </a:lnTo>
                  <a:close/>
                </a:path>
              </a:pathLst>
            </a:custGeom>
            <a:blipFill>
              <a:blip r:embed="rId6"/>
              <a:stretch>
                <a:fillRect l="-61" t="0" r="-62" b="1"/>
              </a:stretch>
            </a:blipFill>
          </p:spPr>
        </p:sp>
      </p:grpSp>
      <p:grpSp>
        <p:nvGrpSpPr>
          <p:cNvPr name="Group 10" id="10"/>
          <p:cNvGrpSpPr/>
          <p:nvPr/>
        </p:nvGrpSpPr>
        <p:grpSpPr>
          <a:xfrm rot="0">
            <a:off x="3336814" y="9169514"/>
            <a:ext cx="3360824" cy="3416735"/>
            <a:chOff x="0" y="0"/>
            <a:chExt cx="4481099" cy="4555647"/>
          </a:xfrm>
        </p:grpSpPr>
        <p:sp>
          <p:nvSpPr>
            <p:cNvPr name="Freeform 11" id="11"/>
            <p:cNvSpPr/>
            <p:nvPr/>
          </p:nvSpPr>
          <p:spPr>
            <a:xfrm flipH="false" flipV="false" rot="0">
              <a:off x="0" y="0"/>
              <a:ext cx="4481068" cy="4555617"/>
            </a:xfrm>
            <a:custGeom>
              <a:avLst/>
              <a:gdLst/>
              <a:ahLst/>
              <a:cxnLst/>
              <a:rect r="r" b="b" t="t" l="l"/>
              <a:pathLst>
                <a:path h="4555617" w="4481068">
                  <a:moveTo>
                    <a:pt x="0" y="0"/>
                  </a:moveTo>
                  <a:lnTo>
                    <a:pt x="4481068" y="0"/>
                  </a:lnTo>
                  <a:lnTo>
                    <a:pt x="4481068" y="4555617"/>
                  </a:lnTo>
                  <a:lnTo>
                    <a:pt x="0" y="4555617"/>
                  </a:lnTo>
                  <a:lnTo>
                    <a:pt x="0" y="0"/>
                  </a:lnTo>
                  <a:close/>
                </a:path>
              </a:pathLst>
            </a:custGeom>
            <a:blipFill>
              <a:blip r:embed="rId7"/>
              <a:stretch>
                <a:fillRect l="-2" t="0" r="-3" b="0"/>
              </a:stretch>
            </a:blipFill>
          </p:spPr>
        </p:sp>
      </p:grpSp>
      <p:grpSp>
        <p:nvGrpSpPr>
          <p:cNvPr name="Group 12" id="12"/>
          <p:cNvGrpSpPr/>
          <p:nvPr/>
        </p:nvGrpSpPr>
        <p:grpSpPr>
          <a:xfrm rot="0">
            <a:off x="17381308" y="3942256"/>
            <a:ext cx="3290910" cy="3189191"/>
            <a:chOff x="0" y="0"/>
            <a:chExt cx="4387880" cy="4252255"/>
          </a:xfrm>
        </p:grpSpPr>
        <p:sp>
          <p:nvSpPr>
            <p:cNvPr name="Freeform 13" id="13"/>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8"/>
              <a:stretch>
                <a:fillRect l="0" t="-7" r="0" b="-8"/>
              </a:stretch>
            </a:blipFill>
          </p:spPr>
        </p:sp>
      </p:grpSp>
      <p:grpSp>
        <p:nvGrpSpPr>
          <p:cNvPr name="Group 14" id="14"/>
          <p:cNvGrpSpPr/>
          <p:nvPr/>
        </p:nvGrpSpPr>
        <p:grpSpPr>
          <a:xfrm rot="0">
            <a:off x="12756325" y="-2994024"/>
            <a:ext cx="4101774" cy="4034654"/>
            <a:chOff x="0" y="0"/>
            <a:chExt cx="5469032" cy="5379539"/>
          </a:xfrm>
        </p:grpSpPr>
        <p:sp>
          <p:nvSpPr>
            <p:cNvPr name="Freeform 15" id="15"/>
            <p:cNvSpPr/>
            <p:nvPr/>
          </p:nvSpPr>
          <p:spPr>
            <a:xfrm flipH="false" flipV="false" rot="0">
              <a:off x="0" y="0"/>
              <a:ext cx="5469001" cy="5379593"/>
            </a:xfrm>
            <a:custGeom>
              <a:avLst/>
              <a:gdLst/>
              <a:ahLst/>
              <a:cxnLst/>
              <a:rect r="r" b="b" t="t" l="l"/>
              <a:pathLst>
                <a:path h="5379593" w="5469001">
                  <a:moveTo>
                    <a:pt x="0" y="0"/>
                  </a:moveTo>
                  <a:lnTo>
                    <a:pt x="5469001" y="0"/>
                  </a:lnTo>
                  <a:lnTo>
                    <a:pt x="5469001" y="5379593"/>
                  </a:lnTo>
                  <a:lnTo>
                    <a:pt x="0" y="5379593"/>
                  </a:lnTo>
                  <a:lnTo>
                    <a:pt x="0" y="0"/>
                  </a:lnTo>
                  <a:close/>
                </a:path>
              </a:pathLst>
            </a:custGeom>
            <a:blipFill>
              <a:blip r:embed="rId9"/>
              <a:stretch>
                <a:fillRect l="0" t="-88" r="0" b="-87"/>
              </a:stretch>
            </a:blipFill>
          </p:spPr>
        </p:sp>
      </p:grpSp>
      <p:grpSp>
        <p:nvGrpSpPr>
          <p:cNvPr name="Group 16" id="16"/>
          <p:cNvGrpSpPr/>
          <p:nvPr/>
        </p:nvGrpSpPr>
        <p:grpSpPr>
          <a:xfrm rot="0">
            <a:off x="17191945" y="-717905"/>
            <a:ext cx="2933022" cy="4801077"/>
            <a:chOff x="0" y="0"/>
            <a:chExt cx="3910696" cy="6401436"/>
          </a:xfrm>
        </p:grpSpPr>
        <p:sp>
          <p:nvSpPr>
            <p:cNvPr name="Freeform 17" id="17"/>
            <p:cNvSpPr/>
            <p:nvPr/>
          </p:nvSpPr>
          <p:spPr>
            <a:xfrm flipH="false" flipV="false" rot="0">
              <a:off x="0" y="0"/>
              <a:ext cx="3910711" cy="6401435"/>
            </a:xfrm>
            <a:custGeom>
              <a:avLst/>
              <a:gdLst/>
              <a:ahLst/>
              <a:cxnLst/>
              <a:rect r="r" b="b" t="t" l="l"/>
              <a:pathLst>
                <a:path h="6401435" w="3910711">
                  <a:moveTo>
                    <a:pt x="0" y="0"/>
                  </a:moveTo>
                  <a:lnTo>
                    <a:pt x="3910711" y="0"/>
                  </a:lnTo>
                  <a:lnTo>
                    <a:pt x="3910711" y="6401435"/>
                  </a:lnTo>
                  <a:lnTo>
                    <a:pt x="0" y="6401435"/>
                  </a:lnTo>
                  <a:lnTo>
                    <a:pt x="0" y="0"/>
                  </a:lnTo>
                  <a:close/>
                </a:path>
              </a:pathLst>
            </a:custGeom>
            <a:blipFill>
              <a:blip r:embed="rId10"/>
              <a:stretch>
                <a:fillRect l="-130" t="0" r="-129" b="0"/>
              </a:stretch>
            </a:blipFill>
          </p:spPr>
        </p:sp>
      </p:grpSp>
      <p:grpSp>
        <p:nvGrpSpPr>
          <p:cNvPr name="Group 18" id="18"/>
          <p:cNvGrpSpPr/>
          <p:nvPr/>
        </p:nvGrpSpPr>
        <p:grpSpPr>
          <a:xfrm rot="0">
            <a:off x="12308650" y="9169514"/>
            <a:ext cx="3683224" cy="3522502"/>
            <a:chOff x="0" y="0"/>
            <a:chExt cx="4910965" cy="4696669"/>
          </a:xfrm>
        </p:grpSpPr>
        <p:sp>
          <p:nvSpPr>
            <p:cNvPr name="Freeform 19" id="19"/>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11"/>
              <a:stretch>
                <a:fillRect l="-39" t="0" r="-39" b="0"/>
              </a:stretch>
            </a:blipFill>
          </p:spPr>
        </p:sp>
      </p:grpSp>
      <p:grpSp>
        <p:nvGrpSpPr>
          <p:cNvPr name="Group 20" id="20"/>
          <p:cNvGrpSpPr/>
          <p:nvPr/>
        </p:nvGrpSpPr>
        <p:grpSpPr>
          <a:xfrm rot="-7064477">
            <a:off x="8856194" y="-2057464"/>
            <a:ext cx="3197600" cy="3733928"/>
            <a:chOff x="0" y="0"/>
            <a:chExt cx="4263467" cy="4978571"/>
          </a:xfrm>
        </p:grpSpPr>
        <p:sp>
          <p:nvSpPr>
            <p:cNvPr name="Freeform 21" id="21"/>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5"/>
              <a:stretch>
                <a:fillRect l="-45" t="0" r="-44" b="0"/>
              </a:stretch>
            </a:blipFill>
          </p:spPr>
        </p:sp>
      </p:grpSp>
      <p:grpSp>
        <p:nvGrpSpPr>
          <p:cNvPr name="Group 22" id="22"/>
          <p:cNvGrpSpPr/>
          <p:nvPr/>
        </p:nvGrpSpPr>
        <p:grpSpPr>
          <a:xfrm rot="5400000">
            <a:off x="-408200" y="-3205282"/>
            <a:ext cx="4320016" cy="4742532"/>
            <a:chOff x="0" y="0"/>
            <a:chExt cx="5760021" cy="6323376"/>
          </a:xfrm>
        </p:grpSpPr>
        <p:sp>
          <p:nvSpPr>
            <p:cNvPr name="Freeform 23" id="23"/>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6"/>
              <a:stretch>
                <a:fillRect l="-61" t="0" r="-63" b="0"/>
              </a:stretch>
            </a:blipFill>
          </p:spPr>
        </p:sp>
      </p:grpSp>
      <p:grpSp>
        <p:nvGrpSpPr>
          <p:cNvPr name="Group 24" id="24"/>
          <p:cNvGrpSpPr/>
          <p:nvPr/>
        </p:nvGrpSpPr>
        <p:grpSpPr>
          <a:xfrm rot="3887789">
            <a:off x="-2804950" y="803558"/>
            <a:ext cx="3200658" cy="5239172"/>
            <a:chOff x="0" y="0"/>
            <a:chExt cx="4267544" cy="6985563"/>
          </a:xfrm>
        </p:grpSpPr>
        <p:sp>
          <p:nvSpPr>
            <p:cNvPr name="Freeform 25" id="25"/>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10"/>
              <a:stretch>
                <a:fillRect l="-130" t="0" r="-129" b="0"/>
              </a:stretch>
            </a:blipFill>
          </p:spPr>
        </p:sp>
      </p:grpSp>
      <p:grpSp>
        <p:nvGrpSpPr>
          <p:cNvPr name="Group 26" id="26"/>
          <p:cNvGrpSpPr/>
          <p:nvPr/>
        </p:nvGrpSpPr>
        <p:grpSpPr>
          <a:xfrm rot="0">
            <a:off x="7135229" y="9264764"/>
            <a:ext cx="5173421" cy="5298662"/>
            <a:chOff x="0" y="0"/>
            <a:chExt cx="6897895" cy="7064883"/>
          </a:xfrm>
        </p:grpSpPr>
        <p:sp>
          <p:nvSpPr>
            <p:cNvPr name="Freeform 27" id="27"/>
            <p:cNvSpPr/>
            <p:nvPr/>
          </p:nvSpPr>
          <p:spPr>
            <a:xfrm flipH="false" flipV="false" rot="0">
              <a:off x="0" y="0"/>
              <a:ext cx="6897878" cy="7064883"/>
            </a:xfrm>
            <a:custGeom>
              <a:avLst/>
              <a:gdLst/>
              <a:ahLst/>
              <a:cxnLst/>
              <a:rect r="r" b="b" t="t" l="l"/>
              <a:pathLst>
                <a:path h="7064883" w="6897878">
                  <a:moveTo>
                    <a:pt x="0" y="0"/>
                  </a:moveTo>
                  <a:lnTo>
                    <a:pt x="6897878" y="0"/>
                  </a:lnTo>
                  <a:lnTo>
                    <a:pt x="6897878" y="7064883"/>
                  </a:lnTo>
                  <a:lnTo>
                    <a:pt x="0" y="7064883"/>
                  </a:lnTo>
                  <a:lnTo>
                    <a:pt x="0" y="0"/>
                  </a:lnTo>
                  <a:close/>
                </a:path>
              </a:pathLst>
            </a:custGeom>
            <a:blipFill>
              <a:blip r:embed="rId12"/>
              <a:stretch>
                <a:fillRect l="-21" t="0" r="-22" b="0"/>
              </a:stretch>
            </a:blipFill>
          </p:spPr>
        </p:sp>
      </p:grpSp>
      <p:sp>
        <p:nvSpPr>
          <p:cNvPr name="TextBox 28" id="28"/>
          <p:cNvSpPr txBox="true"/>
          <p:nvPr/>
        </p:nvSpPr>
        <p:spPr>
          <a:xfrm rot="0">
            <a:off x="2338557" y="3591304"/>
            <a:ext cx="13610886" cy="1714952"/>
          </a:xfrm>
          <a:prstGeom prst="rect">
            <a:avLst/>
          </a:prstGeom>
        </p:spPr>
        <p:txBody>
          <a:bodyPr anchor="t" rtlCol="false" tIns="0" lIns="0" bIns="0" rIns="0">
            <a:spAutoFit/>
          </a:bodyPr>
          <a:lstStyle/>
          <a:p>
            <a:pPr algn="ctr">
              <a:lnSpc>
                <a:spcPts val="15377"/>
              </a:lnSpc>
            </a:pPr>
            <a:r>
              <a:rPr lang="en-US" b="true" sz="12814">
                <a:solidFill>
                  <a:srgbClr val="3D3D3D"/>
                </a:solidFill>
                <a:latin typeface="Roboto Slab Bold"/>
                <a:ea typeface="Roboto Slab Bold"/>
                <a:cs typeface="Roboto Slab Bold"/>
                <a:sym typeface="Roboto Slab Bold"/>
              </a:rPr>
              <a:t>ENRUTAMIENTO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9643538" y="1078722"/>
            <a:ext cx="7981746" cy="8129556"/>
            <a:chOff x="0" y="0"/>
            <a:chExt cx="10642328" cy="10839408"/>
          </a:xfrm>
        </p:grpSpPr>
        <p:sp>
          <p:nvSpPr>
            <p:cNvPr name="Freeform 3" id="3"/>
            <p:cNvSpPr/>
            <p:nvPr/>
          </p:nvSpPr>
          <p:spPr>
            <a:xfrm flipH="false" flipV="false" rot="0">
              <a:off x="0" y="0"/>
              <a:ext cx="10642346" cy="10839450"/>
            </a:xfrm>
            <a:custGeom>
              <a:avLst/>
              <a:gdLst/>
              <a:ahLst/>
              <a:cxnLst/>
              <a:rect r="r" b="b" t="t" l="l"/>
              <a:pathLst>
                <a:path h="10839450" w="10642346">
                  <a:moveTo>
                    <a:pt x="0" y="0"/>
                  </a:moveTo>
                  <a:lnTo>
                    <a:pt x="10642346" y="0"/>
                  </a:lnTo>
                  <a:lnTo>
                    <a:pt x="10642346" y="10839450"/>
                  </a:lnTo>
                  <a:lnTo>
                    <a:pt x="0" y="10839450"/>
                  </a:lnTo>
                  <a:lnTo>
                    <a:pt x="0" y="0"/>
                  </a:lnTo>
                  <a:close/>
                </a:path>
              </a:pathLst>
            </a:custGeom>
            <a:blipFill>
              <a:blip r:embed="rId3"/>
              <a:stretch>
                <a:fillRect l="-71" t="0" r="-71" b="0"/>
              </a:stretch>
            </a:blipFill>
          </p:spPr>
        </p:sp>
      </p:grpSp>
      <p:grpSp>
        <p:nvGrpSpPr>
          <p:cNvPr name="Group 4" id="4"/>
          <p:cNvGrpSpPr/>
          <p:nvPr/>
        </p:nvGrpSpPr>
        <p:grpSpPr>
          <a:xfrm rot="0">
            <a:off x="10697924" y="1806890"/>
            <a:ext cx="6117283" cy="6258090"/>
            <a:chOff x="0" y="0"/>
            <a:chExt cx="8156377" cy="8344120"/>
          </a:xfrm>
        </p:grpSpPr>
        <p:sp>
          <p:nvSpPr>
            <p:cNvPr name="Freeform 5" id="5"/>
            <p:cNvSpPr/>
            <p:nvPr/>
          </p:nvSpPr>
          <p:spPr>
            <a:xfrm flipH="false" flipV="false" rot="0">
              <a:off x="0" y="0"/>
              <a:ext cx="8156321" cy="8344154"/>
            </a:xfrm>
            <a:custGeom>
              <a:avLst/>
              <a:gdLst/>
              <a:ahLst/>
              <a:cxnLst/>
              <a:rect r="r" b="b" t="t" l="l"/>
              <a:pathLst>
                <a:path h="8344154" w="8156321">
                  <a:moveTo>
                    <a:pt x="0" y="0"/>
                  </a:moveTo>
                  <a:lnTo>
                    <a:pt x="8156321" y="0"/>
                  </a:lnTo>
                  <a:lnTo>
                    <a:pt x="8156321" y="8344154"/>
                  </a:lnTo>
                  <a:lnTo>
                    <a:pt x="0" y="8344154"/>
                  </a:lnTo>
                  <a:lnTo>
                    <a:pt x="0" y="0"/>
                  </a:lnTo>
                  <a:close/>
                </a:path>
              </a:pathLst>
            </a:custGeom>
            <a:blipFill>
              <a:blip r:embed="rId4"/>
              <a:stretch>
                <a:fillRect l="0" t="0" r="0" b="0"/>
              </a:stretch>
            </a:blipFill>
          </p:spPr>
        </p:sp>
      </p:grpSp>
      <p:sp>
        <p:nvSpPr>
          <p:cNvPr name="TextBox 6" id="6"/>
          <p:cNvSpPr txBox="true"/>
          <p:nvPr/>
        </p:nvSpPr>
        <p:spPr>
          <a:xfrm rot="0">
            <a:off x="1546877" y="2402926"/>
            <a:ext cx="7327261"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Enrutamiento</a:t>
            </a:r>
          </a:p>
        </p:txBody>
      </p:sp>
      <p:sp>
        <p:nvSpPr>
          <p:cNvPr name="TextBox 7" id="7"/>
          <p:cNvSpPr txBox="true"/>
          <p:nvPr/>
        </p:nvSpPr>
        <p:spPr>
          <a:xfrm rot="0">
            <a:off x="1546877" y="4408327"/>
            <a:ext cx="7012639" cy="2921000"/>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Es el proceso mediante el cual se establece el camino que seguirán los datos para llegar desde su origen hasta su destino a través de una red de comunicación.</a:t>
            </a:r>
          </a:p>
          <a:p>
            <a:pPr algn="just">
              <a:lnSpc>
                <a:spcPts val="2352"/>
              </a:lnSpc>
            </a:pPr>
          </a:p>
          <a:p>
            <a:pPr algn="just">
              <a:lnSpc>
                <a:spcPts val="3358"/>
              </a:lnSpc>
            </a:pPr>
            <a:r>
              <a:rPr lang="en-US" sz="1999">
                <a:solidFill>
                  <a:srgbClr val="3D3D3D"/>
                </a:solidFill>
                <a:latin typeface="Roboto"/>
                <a:ea typeface="Roboto"/>
                <a:cs typeface="Roboto"/>
                <a:sym typeface="Roboto"/>
              </a:rPr>
              <a:t>Es esencial para que los dispositivos conectados a una red puedan comunicarse entre sí y para que los usuarios puedan acceder a los recursos y servicios de la red.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9280613" y="4475312"/>
            <a:ext cx="8218640" cy="2825158"/>
            <a:chOff x="0" y="0"/>
            <a:chExt cx="10958187" cy="3766877"/>
          </a:xfrm>
        </p:grpSpPr>
        <p:sp>
          <p:nvSpPr>
            <p:cNvPr name="Freeform 9" id="9"/>
            <p:cNvSpPr/>
            <p:nvPr/>
          </p:nvSpPr>
          <p:spPr>
            <a:xfrm flipH="false" flipV="false" rot="0">
              <a:off x="0" y="0"/>
              <a:ext cx="10958195" cy="3766820"/>
            </a:xfrm>
            <a:custGeom>
              <a:avLst/>
              <a:gdLst/>
              <a:ahLst/>
              <a:cxnLst/>
              <a:rect r="r" b="b" t="t" l="l"/>
              <a:pathLst>
                <a:path h="3766820" w="10958195">
                  <a:moveTo>
                    <a:pt x="0" y="0"/>
                  </a:moveTo>
                  <a:lnTo>
                    <a:pt x="10958195" y="0"/>
                  </a:lnTo>
                  <a:lnTo>
                    <a:pt x="10958195" y="3766820"/>
                  </a:lnTo>
                  <a:lnTo>
                    <a:pt x="0" y="3766820"/>
                  </a:lnTo>
                  <a:lnTo>
                    <a:pt x="0" y="0"/>
                  </a:lnTo>
                  <a:close/>
                </a:path>
              </a:pathLst>
            </a:custGeom>
            <a:blipFill>
              <a:blip r:embed="rId6"/>
              <a:stretch>
                <a:fillRect l="-33" t="0" r="-33" b="-1"/>
              </a:stretch>
            </a:blipFill>
          </p:spPr>
        </p:sp>
      </p:grpSp>
      <p:sp>
        <p:nvSpPr>
          <p:cNvPr name="TextBox 10" id="10"/>
          <p:cNvSpPr txBox="true"/>
          <p:nvPr/>
        </p:nvSpPr>
        <p:spPr>
          <a:xfrm rot="0">
            <a:off x="1546877" y="3822554"/>
            <a:ext cx="7012639" cy="3978275"/>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El proceso de enrutamiento implica tomar decisiones sobre la mejor ruta para enviar los paquetes de datos, teniendo en cuenta factores como la velocidad, la congestión, el costo y la disponibilidad de los enlaces de red.</a:t>
            </a:r>
          </a:p>
          <a:p>
            <a:pPr algn="just">
              <a:lnSpc>
                <a:spcPts val="2352"/>
              </a:lnSpc>
            </a:pPr>
          </a:p>
          <a:p>
            <a:pPr algn="just">
              <a:lnSpc>
                <a:spcPts val="3358"/>
              </a:lnSpc>
            </a:pPr>
            <a:r>
              <a:rPr lang="en-US" sz="1999">
                <a:solidFill>
                  <a:srgbClr val="3D3D3D"/>
                </a:solidFill>
                <a:latin typeface="Roboto"/>
                <a:ea typeface="Roboto"/>
                <a:cs typeface="Roboto"/>
                <a:sym typeface="Roboto"/>
              </a:rPr>
              <a:t>Existen diferentes tipos de enrutamiento, tales como el enrutamiento estático y el enrutamiento dinámico, y diferentes protocolos de enrutamiento que se utilizan para implementar el enrutamiento en redes de comunicación.</a:t>
            </a:r>
          </a:p>
        </p:txBody>
      </p:sp>
      <p:sp>
        <p:nvSpPr>
          <p:cNvPr name="TextBox 11" id="11"/>
          <p:cNvSpPr txBox="true"/>
          <p:nvPr/>
        </p:nvSpPr>
        <p:spPr>
          <a:xfrm rot="0">
            <a:off x="1546877" y="2402926"/>
            <a:ext cx="7327261"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Enrutamiento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sp>
        <p:nvSpPr>
          <p:cNvPr name="TextBox 8" id="8"/>
          <p:cNvSpPr txBox="true"/>
          <p:nvPr/>
        </p:nvSpPr>
        <p:spPr>
          <a:xfrm rot="0">
            <a:off x="1028700" y="2569775"/>
            <a:ext cx="16555592" cy="6484656"/>
          </a:xfrm>
          <a:prstGeom prst="rect">
            <a:avLst/>
          </a:prstGeom>
        </p:spPr>
        <p:txBody>
          <a:bodyPr anchor="t" rtlCol="false" tIns="0" lIns="0" bIns="0" rIns="0">
            <a:spAutoFit/>
          </a:bodyPr>
          <a:lstStyle/>
          <a:p>
            <a:pPr algn="just">
              <a:lnSpc>
                <a:spcPts val="5485"/>
              </a:lnSpc>
            </a:pPr>
            <a:r>
              <a:rPr lang="en-US" sz="3265">
                <a:solidFill>
                  <a:srgbClr val="3D3D3D"/>
                </a:solidFill>
                <a:latin typeface="Roboto"/>
                <a:ea typeface="Roboto"/>
                <a:cs typeface="Roboto"/>
                <a:sym typeface="Roboto"/>
              </a:rPr>
              <a:t>Se da en el nivel de red (capa 3) del modelo OSI y en la capa de internet (capa 3) del modelo TCP/IP.</a:t>
            </a:r>
          </a:p>
          <a:p>
            <a:pPr algn="just">
              <a:lnSpc>
                <a:spcPts val="2351"/>
              </a:lnSpc>
            </a:pPr>
          </a:p>
          <a:p>
            <a:pPr algn="just">
              <a:lnSpc>
                <a:spcPts val="5485"/>
              </a:lnSpc>
            </a:pPr>
            <a:r>
              <a:rPr lang="en-US" sz="3265">
                <a:solidFill>
                  <a:srgbClr val="3D3D3D"/>
                </a:solidFill>
                <a:latin typeface="Roboto"/>
                <a:ea typeface="Roboto"/>
                <a:cs typeface="Roboto"/>
                <a:sym typeface="Roboto"/>
              </a:rPr>
              <a:t>El enrutamiento se basa en la información contenida en las tablas de enrutamiento. Estas tablas contienen información sobre los destinos posibles, las rutas disponibles y las métricas para seleccionar la mejor ruta.</a:t>
            </a:r>
          </a:p>
          <a:p>
            <a:pPr algn="just">
              <a:lnSpc>
                <a:spcPts val="2351"/>
              </a:lnSpc>
            </a:pPr>
          </a:p>
          <a:p>
            <a:pPr algn="just">
              <a:lnSpc>
                <a:spcPts val="5485"/>
              </a:lnSpc>
            </a:pPr>
            <a:r>
              <a:rPr lang="en-US" sz="3265">
                <a:solidFill>
                  <a:srgbClr val="3D3D3D"/>
                </a:solidFill>
                <a:latin typeface="Roboto"/>
                <a:ea typeface="Roboto"/>
                <a:cs typeface="Roboto"/>
                <a:sym typeface="Roboto"/>
              </a:rPr>
              <a:t>Los routers son los dispositivos encargados de realizar el enrutamiento en las redes de comunicación. Estos reciben los paquetes de datos de una interfaz de red y los reenvían a través de otra interfaz, basándose en la información contenida en la tabla de enrutamiento.</a:t>
            </a:r>
          </a:p>
        </p:txBody>
      </p:sp>
      <p:sp>
        <p:nvSpPr>
          <p:cNvPr name="TextBox 9" id="9"/>
          <p:cNvSpPr txBox="true"/>
          <p:nvPr/>
        </p:nvSpPr>
        <p:spPr>
          <a:xfrm rot="0">
            <a:off x="1072429" y="1439983"/>
            <a:ext cx="7327261"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Enrutamiento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2498103" y="3951308"/>
            <a:ext cx="6463660" cy="4730532"/>
          </a:xfrm>
          <a:custGeom>
            <a:avLst/>
            <a:gdLst/>
            <a:ahLst/>
            <a:cxnLst/>
            <a:rect r="r" b="b" t="t" l="l"/>
            <a:pathLst>
              <a:path h="4730532" w="6463660">
                <a:moveTo>
                  <a:pt x="0" y="0"/>
                </a:moveTo>
                <a:lnTo>
                  <a:pt x="6463660" y="0"/>
                </a:lnTo>
                <a:lnTo>
                  <a:pt x="6463660" y="4730532"/>
                </a:lnTo>
                <a:lnTo>
                  <a:pt x="0" y="47305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3166126" y="5086350"/>
            <a:ext cx="5127616" cy="996442"/>
          </a:xfrm>
          <a:prstGeom prst="rect">
            <a:avLst/>
          </a:prstGeom>
        </p:spPr>
        <p:txBody>
          <a:bodyPr anchor="t" rtlCol="false" tIns="0" lIns="0" bIns="0" rIns="0">
            <a:spAutoFit/>
          </a:bodyPr>
          <a:lstStyle/>
          <a:p>
            <a:pPr algn="ctr">
              <a:lnSpc>
                <a:spcPts val="8332"/>
              </a:lnSpc>
            </a:pPr>
            <a:r>
              <a:rPr lang="en-US" b="true" sz="6199">
                <a:solidFill>
                  <a:srgbClr val="3D3D3D"/>
                </a:solidFill>
                <a:latin typeface="Roboto Slab Bold"/>
                <a:ea typeface="Roboto Slab Bold"/>
                <a:cs typeface="Roboto Slab Bold"/>
                <a:sym typeface="Roboto Slab Bold"/>
              </a:rPr>
              <a:t>1</a:t>
            </a:r>
          </a:p>
        </p:txBody>
      </p:sp>
      <p:sp>
        <p:nvSpPr>
          <p:cNvPr name="TextBox 4" id="4"/>
          <p:cNvSpPr txBox="true"/>
          <p:nvPr/>
        </p:nvSpPr>
        <p:spPr>
          <a:xfrm rot="0">
            <a:off x="3554298" y="5906937"/>
            <a:ext cx="4351271" cy="1387476"/>
          </a:xfrm>
          <a:prstGeom prst="rect">
            <a:avLst/>
          </a:prstGeom>
        </p:spPr>
        <p:txBody>
          <a:bodyPr anchor="t" rtlCol="false" tIns="0" lIns="0" bIns="0" rIns="0">
            <a:spAutoFit/>
          </a:bodyPr>
          <a:lstStyle/>
          <a:p>
            <a:pPr algn="ctr">
              <a:lnSpc>
                <a:spcPts val="5878"/>
              </a:lnSpc>
            </a:pPr>
            <a:r>
              <a:rPr lang="en-US" sz="3499">
                <a:solidFill>
                  <a:srgbClr val="3D3D3D"/>
                </a:solidFill>
                <a:latin typeface="Roboto"/>
                <a:ea typeface="Roboto"/>
                <a:cs typeface="Roboto"/>
                <a:sym typeface="Roboto"/>
              </a:rPr>
              <a:t>Enrutamiento Estático</a:t>
            </a:r>
          </a:p>
        </p:txBody>
      </p:sp>
      <p:sp>
        <p:nvSpPr>
          <p:cNvPr name="Freeform 5" id="5"/>
          <p:cNvSpPr/>
          <p:nvPr/>
        </p:nvSpPr>
        <p:spPr>
          <a:xfrm flipH="false" flipV="false" rot="0">
            <a:off x="9326236" y="3951308"/>
            <a:ext cx="6463660" cy="4730532"/>
          </a:xfrm>
          <a:custGeom>
            <a:avLst/>
            <a:gdLst/>
            <a:ahLst/>
            <a:cxnLst/>
            <a:rect r="r" b="b" t="t" l="l"/>
            <a:pathLst>
              <a:path h="4730532" w="6463660">
                <a:moveTo>
                  <a:pt x="0" y="0"/>
                </a:moveTo>
                <a:lnTo>
                  <a:pt x="6463660" y="0"/>
                </a:lnTo>
                <a:lnTo>
                  <a:pt x="6463660" y="4730532"/>
                </a:lnTo>
                <a:lnTo>
                  <a:pt x="0" y="47305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994258" y="5086350"/>
            <a:ext cx="5127616" cy="996442"/>
          </a:xfrm>
          <a:prstGeom prst="rect">
            <a:avLst/>
          </a:prstGeom>
        </p:spPr>
        <p:txBody>
          <a:bodyPr anchor="t" rtlCol="false" tIns="0" lIns="0" bIns="0" rIns="0">
            <a:spAutoFit/>
          </a:bodyPr>
          <a:lstStyle/>
          <a:p>
            <a:pPr algn="ctr">
              <a:lnSpc>
                <a:spcPts val="8332"/>
              </a:lnSpc>
            </a:pPr>
            <a:r>
              <a:rPr lang="en-US" b="true" sz="6199">
                <a:solidFill>
                  <a:srgbClr val="3D3D3D"/>
                </a:solidFill>
                <a:latin typeface="Roboto Slab Bold"/>
                <a:ea typeface="Roboto Slab Bold"/>
                <a:cs typeface="Roboto Slab Bold"/>
                <a:sym typeface="Roboto Slab Bold"/>
              </a:rPr>
              <a:t>2</a:t>
            </a:r>
          </a:p>
        </p:txBody>
      </p:sp>
      <p:sp>
        <p:nvSpPr>
          <p:cNvPr name="TextBox 7" id="7"/>
          <p:cNvSpPr txBox="true"/>
          <p:nvPr/>
        </p:nvSpPr>
        <p:spPr>
          <a:xfrm rot="0">
            <a:off x="10382431" y="5906937"/>
            <a:ext cx="4351271" cy="1387476"/>
          </a:xfrm>
          <a:prstGeom prst="rect">
            <a:avLst/>
          </a:prstGeom>
        </p:spPr>
        <p:txBody>
          <a:bodyPr anchor="t" rtlCol="false" tIns="0" lIns="0" bIns="0" rIns="0">
            <a:spAutoFit/>
          </a:bodyPr>
          <a:lstStyle/>
          <a:p>
            <a:pPr algn="ctr">
              <a:lnSpc>
                <a:spcPts val="5878"/>
              </a:lnSpc>
            </a:pPr>
            <a:r>
              <a:rPr lang="en-US" sz="3499">
                <a:solidFill>
                  <a:srgbClr val="3D3D3D"/>
                </a:solidFill>
                <a:latin typeface="Roboto"/>
                <a:ea typeface="Roboto"/>
                <a:cs typeface="Roboto"/>
                <a:sym typeface="Roboto"/>
              </a:rPr>
              <a:t>Enrutamiento Dinámico</a:t>
            </a:r>
          </a:p>
        </p:txBody>
      </p:sp>
      <p:sp>
        <p:nvSpPr>
          <p:cNvPr name="TextBox 8" id="8"/>
          <p:cNvSpPr txBox="true"/>
          <p:nvPr/>
        </p:nvSpPr>
        <p:spPr>
          <a:xfrm rot="0">
            <a:off x="3638405" y="1548010"/>
            <a:ext cx="11011190" cy="996442"/>
          </a:xfrm>
          <a:prstGeom prst="rect">
            <a:avLst/>
          </a:prstGeom>
        </p:spPr>
        <p:txBody>
          <a:bodyPr anchor="t" rtlCol="false" tIns="0" lIns="0" bIns="0" rIns="0">
            <a:spAutoFit/>
          </a:bodyPr>
          <a:lstStyle/>
          <a:p>
            <a:pPr algn="ctr">
              <a:lnSpc>
                <a:spcPts val="8332"/>
              </a:lnSpc>
            </a:pPr>
            <a:r>
              <a:rPr lang="en-US" b="true" sz="6199">
                <a:solidFill>
                  <a:srgbClr val="3D3D3D"/>
                </a:solidFill>
                <a:latin typeface="Roboto Slab Bold"/>
                <a:ea typeface="Roboto Slab Bold"/>
                <a:cs typeface="Roboto Slab Bold"/>
                <a:sym typeface="Roboto Slab Bold"/>
              </a:rPr>
              <a:t>Tipos de Enrutamiento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628867" y="7543299"/>
            <a:ext cx="3699265" cy="4195043"/>
            <a:chOff x="0" y="0"/>
            <a:chExt cx="4932353" cy="5593391"/>
          </a:xfrm>
        </p:grpSpPr>
        <p:sp>
          <p:nvSpPr>
            <p:cNvPr name="Freeform 3" id="3"/>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3"/>
              <a:stretch>
                <a:fillRect l="-23" t="0" r="-24" b="-1"/>
              </a:stretch>
            </a:blipFill>
          </p:spPr>
        </p:sp>
      </p:grpSp>
      <p:grpSp>
        <p:nvGrpSpPr>
          <p:cNvPr name="Group 4" id="4"/>
          <p:cNvGrpSpPr/>
          <p:nvPr/>
        </p:nvGrpSpPr>
        <p:grpSpPr>
          <a:xfrm rot="0">
            <a:off x="4123074" y="-2591505"/>
            <a:ext cx="4089204" cy="3747198"/>
            <a:chOff x="0" y="0"/>
            <a:chExt cx="5452272" cy="4996264"/>
          </a:xfrm>
        </p:grpSpPr>
        <p:sp>
          <p:nvSpPr>
            <p:cNvPr name="Freeform 5" id="5"/>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6" id="6"/>
          <p:cNvGrpSpPr/>
          <p:nvPr/>
        </p:nvGrpSpPr>
        <p:grpSpPr>
          <a:xfrm rot="-1780974">
            <a:off x="-2178011" y="4841048"/>
            <a:ext cx="3585363" cy="4186730"/>
            <a:chOff x="0" y="0"/>
            <a:chExt cx="4780484" cy="5582307"/>
          </a:xfrm>
        </p:grpSpPr>
        <p:sp>
          <p:nvSpPr>
            <p:cNvPr name="Freeform 7" id="7"/>
            <p:cNvSpPr/>
            <p:nvPr/>
          </p:nvSpPr>
          <p:spPr>
            <a:xfrm flipH="false" flipV="false" rot="0">
              <a:off x="0" y="0"/>
              <a:ext cx="4780534" cy="5582285"/>
            </a:xfrm>
            <a:custGeom>
              <a:avLst/>
              <a:gdLst/>
              <a:ahLst/>
              <a:cxnLst/>
              <a:rect r="r" b="b" t="t" l="l"/>
              <a:pathLst>
                <a:path h="5582285" w="4780534">
                  <a:moveTo>
                    <a:pt x="0" y="0"/>
                  </a:moveTo>
                  <a:lnTo>
                    <a:pt x="4780534" y="0"/>
                  </a:lnTo>
                  <a:lnTo>
                    <a:pt x="4780534" y="5582285"/>
                  </a:lnTo>
                  <a:lnTo>
                    <a:pt x="0" y="5582285"/>
                  </a:lnTo>
                  <a:lnTo>
                    <a:pt x="0" y="0"/>
                  </a:lnTo>
                  <a:close/>
                </a:path>
              </a:pathLst>
            </a:custGeom>
            <a:blipFill>
              <a:blip r:embed="rId5"/>
              <a:stretch>
                <a:fillRect l="-45" t="0" r="-44" b="0"/>
              </a:stretch>
            </a:blipFill>
          </p:spPr>
        </p:sp>
      </p:grpSp>
      <p:grpSp>
        <p:nvGrpSpPr>
          <p:cNvPr name="Group 8" id="8"/>
          <p:cNvGrpSpPr/>
          <p:nvPr/>
        </p:nvGrpSpPr>
        <p:grpSpPr>
          <a:xfrm rot="5400000">
            <a:off x="-547899" y="8993285"/>
            <a:ext cx="3603709" cy="3956167"/>
            <a:chOff x="0" y="0"/>
            <a:chExt cx="4804945" cy="5274889"/>
          </a:xfrm>
        </p:grpSpPr>
        <p:sp>
          <p:nvSpPr>
            <p:cNvPr name="Freeform 9" id="9"/>
            <p:cNvSpPr/>
            <p:nvPr/>
          </p:nvSpPr>
          <p:spPr>
            <a:xfrm flipH="false" flipV="false" rot="0">
              <a:off x="0" y="0"/>
              <a:ext cx="4804918" cy="5274945"/>
            </a:xfrm>
            <a:custGeom>
              <a:avLst/>
              <a:gdLst/>
              <a:ahLst/>
              <a:cxnLst/>
              <a:rect r="r" b="b" t="t" l="l"/>
              <a:pathLst>
                <a:path h="5274945" w="4804918">
                  <a:moveTo>
                    <a:pt x="0" y="0"/>
                  </a:moveTo>
                  <a:lnTo>
                    <a:pt x="4804918" y="0"/>
                  </a:lnTo>
                  <a:lnTo>
                    <a:pt x="4804918" y="5274945"/>
                  </a:lnTo>
                  <a:lnTo>
                    <a:pt x="0" y="5274945"/>
                  </a:lnTo>
                  <a:lnTo>
                    <a:pt x="0" y="0"/>
                  </a:lnTo>
                  <a:close/>
                </a:path>
              </a:pathLst>
            </a:custGeom>
            <a:blipFill>
              <a:blip r:embed="rId6"/>
              <a:stretch>
                <a:fillRect l="-61" t="0" r="-62" b="1"/>
              </a:stretch>
            </a:blipFill>
          </p:spPr>
        </p:sp>
      </p:grpSp>
      <p:grpSp>
        <p:nvGrpSpPr>
          <p:cNvPr name="Group 10" id="10"/>
          <p:cNvGrpSpPr/>
          <p:nvPr/>
        </p:nvGrpSpPr>
        <p:grpSpPr>
          <a:xfrm rot="0">
            <a:off x="3336814" y="9169514"/>
            <a:ext cx="3360824" cy="3416735"/>
            <a:chOff x="0" y="0"/>
            <a:chExt cx="4481099" cy="4555647"/>
          </a:xfrm>
        </p:grpSpPr>
        <p:sp>
          <p:nvSpPr>
            <p:cNvPr name="Freeform 11" id="11"/>
            <p:cNvSpPr/>
            <p:nvPr/>
          </p:nvSpPr>
          <p:spPr>
            <a:xfrm flipH="false" flipV="false" rot="0">
              <a:off x="0" y="0"/>
              <a:ext cx="4481068" cy="4555617"/>
            </a:xfrm>
            <a:custGeom>
              <a:avLst/>
              <a:gdLst/>
              <a:ahLst/>
              <a:cxnLst/>
              <a:rect r="r" b="b" t="t" l="l"/>
              <a:pathLst>
                <a:path h="4555617" w="4481068">
                  <a:moveTo>
                    <a:pt x="0" y="0"/>
                  </a:moveTo>
                  <a:lnTo>
                    <a:pt x="4481068" y="0"/>
                  </a:lnTo>
                  <a:lnTo>
                    <a:pt x="4481068" y="4555617"/>
                  </a:lnTo>
                  <a:lnTo>
                    <a:pt x="0" y="4555617"/>
                  </a:lnTo>
                  <a:lnTo>
                    <a:pt x="0" y="0"/>
                  </a:lnTo>
                  <a:close/>
                </a:path>
              </a:pathLst>
            </a:custGeom>
            <a:blipFill>
              <a:blip r:embed="rId7"/>
              <a:stretch>
                <a:fillRect l="-2" t="0" r="-3" b="0"/>
              </a:stretch>
            </a:blipFill>
          </p:spPr>
        </p:sp>
      </p:grpSp>
      <p:grpSp>
        <p:nvGrpSpPr>
          <p:cNvPr name="Group 12" id="12"/>
          <p:cNvGrpSpPr/>
          <p:nvPr/>
        </p:nvGrpSpPr>
        <p:grpSpPr>
          <a:xfrm rot="0">
            <a:off x="17381308" y="3942256"/>
            <a:ext cx="3290910" cy="3189191"/>
            <a:chOff x="0" y="0"/>
            <a:chExt cx="4387880" cy="4252255"/>
          </a:xfrm>
        </p:grpSpPr>
        <p:sp>
          <p:nvSpPr>
            <p:cNvPr name="Freeform 13" id="13"/>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8"/>
              <a:stretch>
                <a:fillRect l="0" t="-7" r="0" b="-8"/>
              </a:stretch>
            </a:blipFill>
          </p:spPr>
        </p:sp>
      </p:grpSp>
      <p:grpSp>
        <p:nvGrpSpPr>
          <p:cNvPr name="Group 14" id="14"/>
          <p:cNvGrpSpPr/>
          <p:nvPr/>
        </p:nvGrpSpPr>
        <p:grpSpPr>
          <a:xfrm rot="0">
            <a:off x="12756325" y="-2994024"/>
            <a:ext cx="4101774" cy="4034654"/>
            <a:chOff x="0" y="0"/>
            <a:chExt cx="5469032" cy="5379539"/>
          </a:xfrm>
        </p:grpSpPr>
        <p:sp>
          <p:nvSpPr>
            <p:cNvPr name="Freeform 15" id="15"/>
            <p:cNvSpPr/>
            <p:nvPr/>
          </p:nvSpPr>
          <p:spPr>
            <a:xfrm flipH="false" flipV="false" rot="0">
              <a:off x="0" y="0"/>
              <a:ext cx="5469001" cy="5379593"/>
            </a:xfrm>
            <a:custGeom>
              <a:avLst/>
              <a:gdLst/>
              <a:ahLst/>
              <a:cxnLst/>
              <a:rect r="r" b="b" t="t" l="l"/>
              <a:pathLst>
                <a:path h="5379593" w="5469001">
                  <a:moveTo>
                    <a:pt x="0" y="0"/>
                  </a:moveTo>
                  <a:lnTo>
                    <a:pt x="5469001" y="0"/>
                  </a:lnTo>
                  <a:lnTo>
                    <a:pt x="5469001" y="5379593"/>
                  </a:lnTo>
                  <a:lnTo>
                    <a:pt x="0" y="5379593"/>
                  </a:lnTo>
                  <a:lnTo>
                    <a:pt x="0" y="0"/>
                  </a:lnTo>
                  <a:close/>
                </a:path>
              </a:pathLst>
            </a:custGeom>
            <a:blipFill>
              <a:blip r:embed="rId9"/>
              <a:stretch>
                <a:fillRect l="0" t="-88" r="0" b="-87"/>
              </a:stretch>
            </a:blipFill>
          </p:spPr>
        </p:sp>
      </p:grpSp>
      <p:grpSp>
        <p:nvGrpSpPr>
          <p:cNvPr name="Group 16" id="16"/>
          <p:cNvGrpSpPr/>
          <p:nvPr/>
        </p:nvGrpSpPr>
        <p:grpSpPr>
          <a:xfrm rot="0">
            <a:off x="17191945" y="-717905"/>
            <a:ext cx="2933022" cy="4801077"/>
            <a:chOff x="0" y="0"/>
            <a:chExt cx="3910696" cy="6401436"/>
          </a:xfrm>
        </p:grpSpPr>
        <p:sp>
          <p:nvSpPr>
            <p:cNvPr name="Freeform 17" id="17"/>
            <p:cNvSpPr/>
            <p:nvPr/>
          </p:nvSpPr>
          <p:spPr>
            <a:xfrm flipH="false" flipV="false" rot="0">
              <a:off x="0" y="0"/>
              <a:ext cx="3910711" cy="6401435"/>
            </a:xfrm>
            <a:custGeom>
              <a:avLst/>
              <a:gdLst/>
              <a:ahLst/>
              <a:cxnLst/>
              <a:rect r="r" b="b" t="t" l="l"/>
              <a:pathLst>
                <a:path h="6401435" w="3910711">
                  <a:moveTo>
                    <a:pt x="0" y="0"/>
                  </a:moveTo>
                  <a:lnTo>
                    <a:pt x="3910711" y="0"/>
                  </a:lnTo>
                  <a:lnTo>
                    <a:pt x="3910711" y="6401435"/>
                  </a:lnTo>
                  <a:lnTo>
                    <a:pt x="0" y="6401435"/>
                  </a:lnTo>
                  <a:lnTo>
                    <a:pt x="0" y="0"/>
                  </a:lnTo>
                  <a:close/>
                </a:path>
              </a:pathLst>
            </a:custGeom>
            <a:blipFill>
              <a:blip r:embed="rId10"/>
              <a:stretch>
                <a:fillRect l="-130" t="0" r="-129" b="0"/>
              </a:stretch>
            </a:blipFill>
          </p:spPr>
        </p:sp>
      </p:grpSp>
      <p:grpSp>
        <p:nvGrpSpPr>
          <p:cNvPr name="Group 18" id="18"/>
          <p:cNvGrpSpPr/>
          <p:nvPr/>
        </p:nvGrpSpPr>
        <p:grpSpPr>
          <a:xfrm rot="0">
            <a:off x="12308650" y="9169514"/>
            <a:ext cx="3683224" cy="3522502"/>
            <a:chOff x="0" y="0"/>
            <a:chExt cx="4910965" cy="4696669"/>
          </a:xfrm>
        </p:grpSpPr>
        <p:sp>
          <p:nvSpPr>
            <p:cNvPr name="Freeform 19" id="19"/>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11"/>
              <a:stretch>
                <a:fillRect l="-39" t="0" r="-39" b="0"/>
              </a:stretch>
            </a:blipFill>
          </p:spPr>
        </p:sp>
      </p:grpSp>
      <p:grpSp>
        <p:nvGrpSpPr>
          <p:cNvPr name="Group 20" id="20"/>
          <p:cNvGrpSpPr/>
          <p:nvPr/>
        </p:nvGrpSpPr>
        <p:grpSpPr>
          <a:xfrm rot="-7064477">
            <a:off x="8856194" y="-2057464"/>
            <a:ext cx="3197600" cy="3733928"/>
            <a:chOff x="0" y="0"/>
            <a:chExt cx="4263467" cy="4978571"/>
          </a:xfrm>
        </p:grpSpPr>
        <p:sp>
          <p:nvSpPr>
            <p:cNvPr name="Freeform 21" id="21"/>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5"/>
              <a:stretch>
                <a:fillRect l="-45" t="0" r="-44" b="0"/>
              </a:stretch>
            </a:blipFill>
          </p:spPr>
        </p:sp>
      </p:grpSp>
      <p:grpSp>
        <p:nvGrpSpPr>
          <p:cNvPr name="Group 22" id="22"/>
          <p:cNvGrpSpPr/>
          <p:nvPr/>
        </p:nvGrpSpPr>
        <p:grpSpPr>
          <a:xfrm rot="5400000">
            <a:off x="-408200" y="-3205282"/>
            <a:ext cx="4320016" cy="4742532"/>
            <a:chOff x="0" y="0"/>
            <a:chExt cx="5760021" cy="6323376"/>
          </a:xfrm>
        </p:grpSpPr>
        <p:sp>
          <p:nvSpPr>
            <p:cNvPr name="Freeform 23" id="23"/>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6"/>
              <a:stretch>
                <a:fillRect l="-61" t="0" r="-63" b="0"/>
              </a:stretch>
            </a:blipFill>
          </p:spPr>
        </p:sp>
      </p:grpSp>
      <p:grpSp>
        <p:nvGrpSpPr>
          <p:cNvPr name="Group 24" id="24"/>
          <p:cNvGrpSpPr/>
          <p:nvPr/>
        </p:nvGrpSpPr>
        <p:grpSpPr>
          <a:xfrm rot="3887789">
            <a:off x="-2804950" y="803558"/>
            <a:ext cx="3200658" cy="5239172"/>
            <a:chOff x="0" y="0"/>
            <a:chExt cx="4267544" cy="6985563"/>
          </a:xfrm>
        </p:grpSpPr>
        <p:sp>
          <p:nvSpPr>
            <p:cNvPr name="Freeform 25" id="25"/>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10"/>
              <a:stretch>
                <a:fillRect l="-130" t="0" r="-129" b="0"/>
              </a:stretch>
            </a:blipFill>
          </p:spPr>
        </p:sp>
      </p:grpSp>
      <p:grpSp>
        <p:nvGrpSpPr>
          <p:cNvPr name="Group 26" id="26"/>
          <p:cNvGrpSpPr/>
          <p:nvPr/>
        </p:nvGrpSpPr>
        <p:grpSpPr>
          <a:xfrm rot="0">
            <a:off x="7135229" y="9264764"/>
            <a:ext cx="5173421" cy="5298662"/>
            <a:chOff x="0" y="0"/>
            <a:chExt cx="6897895" cy="7064883"/>
          </a:xfrm>
        </p:grpSpPr>
        <p:sp>
          <p:nvSpPr>
            <p:cNvPr name="Freeform 27" id="27"/>
            <p:cNvSpPr/>
            <p:nvPr/>
          </p:nvSpPr>
          <p:spPr>
            <a:xfrm flipH="false" flipV="false" rot="0">
              <a:off x="0" y="0"/>
              <a:ext cx="6897878" cy="7064883"/>
            </a:xfrm>
            <a:custGeom>
              <a:avLst/>
              <a:gdLst/>
              <a:ahLst/>
              <a:cxnLst/>
              <a:rect r="r" b="b" t="t" l="l"/>
              <a:pathLst>
                <a:path h="7064883" w="6897878">
                  <a:moveTo>
                    <a:pt x="0" y="0"/>
                  </a:moveTo>
                  <a:lnTo>
                    <a:pt x="6897878" y="0"/>
                  </a:lnTo>
                  <a:lnTo>
                    <a:pt x="6897878" y="7064883"/>
                  </a:lnTo>
                  <a:lnTo>
                    <a:pt x="0" y="7064883"/>
                  </a:lnTo>
                  <a:lnTo>
                    <a:pt x="0" y="0"/>
                  </a:lnTo>
                  <a:close/>
                </a:path>
              </a:pathLst>
            </a:custGeom>
            <a:blipFill>
              <a:blip r:embed="rId12"/>
              <a:stretch>
                <a:fillRect l="-21" t="0" r="-22" b="0"/>
              </a:stretch>
            </a:blipFill>
          </p:spPr>
        </p:sp>
      </p:grpSp>
      <p:sp>
        <p:nvSpPr>
          <p:cNvPr name="TextBox 28" id="28"/>
          <p:cNvSpPr txBox="true"/>
          <p:nvPr/>
        </p:nvSpPr>
        <p:spPr>
          <a:xfrm rot="0">
            <a:off x="2338557" y="3591304"/>
            <a:ext cx="13610886" cy="3342517"/>
          </a:xfrm>
          <a:prstGeom prst="rect">
            <a:avLst/>
          </a:prstGeom>
        </p:spPr>
        <p:txBody>
          <a:bodyPr anchor="t" rtlCol="false" tIns="0" lIns="0" bIns="0" rIns="0">
            <a:spAutoFit/>
          </a:bodyPr>
          <a:lstStyle/>
          <a:p>
            <a:pPr algn="ctr">
              <a:lnSpc>
                <a:spcPts val="15377"/>
              </a:lnSpc>
            </a:pPr>
            <a:r>
              <a:rPr lang="en-US" b="true" sz="12814">
                <a:solidFill>
                  <a:srgbClr val="3D3D3D"/>
                </a:solidFill>
                <a:latin typeface="Roboto Slab Bold"/>
                <a:ea typeface="Roboto Slab Bold"/>
                <a:cs typeface="Roboto Slab Bold"/>
                <a:sym typeface="Roboto Slab Bold"/>
              </a:rPr>
              <a:t>ENRUTAMIENTO ESTÁTICO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sp>
        <p:nvSpPr>
          <p:cNvPr name="TextBox 8" id="8"/>
          <p:cNvSpPr txBox="true"/>
          <p:nvPr/>
        </p:nvSpPr>
        <p:spPr>
          <a:xfrm rot="0">
            <a:off x="1546877" y="2825035"/>
            <a:ext cx="8953162"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Enrutamiento estático</a:t>
            </a:r>
          </a:p>
        </p:txBody>
      </p:sp>
      <p:sp>
        <p:nvSpPr>
          <p:cNvPr name="TextBox 9" id="9"/>
          <p:cNvSpPr txBox="true"/>
          <p:nvPr/>
        </p:nvSpPr>
        <p:spPr>
          <a:xfrm rot="0">
            <a:off x="1546877" y="4333598"/>
            <a:ext cx="15830026" cy="2216150"/>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Es un método de enrutamiento en el que las rutas a través de la red se configuran manualmente en cada dispositivo de red.</a:t>
            </a:r>
          </a:p>
          <a:p>
            <a:pPr algn="just">
              <a:lnSpc>
                <a:spcPts val="2352"/>
              </a:lnSpc>
            </a:pPr>
          </a:p>
          <a:p>
            <a:pPr algn="just">
              <a:lnSpc>
                <a:spcPts val="3358"/>
              </a:lnSpc>
            </a:pPr>
            <a:r>
              <a:rPr lang="en-US" sz="1999">
                <a:solidFill>
                  <a:srgbClr val="3D3D3D"/>
                </a:solidFill>
                <a:latin typeface="Roboto"/>
                <a:ea typeface="Roboto"/>
                <a:cs typeface="Roboto"/>
                <a:sym typeface="Roboto"/>
              </a:rPr>
              <a:t>Las rutas son configuradas por el administrador de red y no cambian a menos que se modifiquen manualmente.</a:t>
            </a:r>
          </a:p>
          <a:p>
            <a:pPr algn="just">
              <a:lnSpc>
                <a:spcPts val="2352"/>
              </a:lnSpc>
            </a:pPr>
          </a:p>
          <a:p>
            <a:pPr algn="just">
              <a:lnSpc>
                <a:spcPts val="3358"/>
              </a:lnSpc>
            </a:pPr>
            <a:r>
              <a:rPr lang="en-US" sz="1999">
                <a:solidFill>
                  <a:srgbClr val="3D3D3D"/>
                </a:solidFill>
                <a:latin typeface="Roboto"/>
                <a:ea typeface="Roboto"/>
                <a:cs typeface="Roboto"/>
                <a:sym typeface="Roboto"/>
              </a:rPr>
              <a:t>Las rutas estáticas se utilizan a menudo para redes pequeñas y simples que no cambian con frecuencia, pero puede ser tedioso y propenso a errores en redes más grandes y complejas.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546877" y="2263229"/>
            <a:ext cx="6068774" cy="27490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Ventajas del enrutamiento estático</a:t>
            </a:r>
          </a:p>
        </p:txBody>
      </p:sp>
      <p:sp>
        <p:nvSpPr>
          <p:cNvPr name="TextBox 3" id="3"/>
          <p:cNvSpPr txBox="true"/>
          <p:nvPr/>
        </p:nvSpPr>
        <p:spPr>
          <a:xfrm rot="0">
            <a:off x="1546877" y="5031016"/>
            <a:ext cx="6540707" cy="454025"/>
          </a:xfrm>
          <a:prstGeom prst="rect">
            <a:avLst/>
          </a:prstGeom>
        </p:spPr>
        <p:txBody>
          <a:bodyPr anchor="t" rtlCol="false" tIns="0" lIns="0" bIns="0" rIns="0">
            <a:spAutoFit/>
          </a:bodyPr>
          <a:lstStyle/>
          <a:p>
            <a:pPr algn="l">
              <a:lnSpc>
                <a:spcPts val="3358"/>
              </a:lnSpc>
            </a:pPr>
            <a:r>
              <a:rPr lang="en-US" sz="1999">
                <a:solidFill>
                  <a:srgbClr val="3D3D3D"/>
                </a:solidFill>
                <a:latin typeface="Roboto"/>
                <a:ea typeface="Roboto"/>
                <a:cs typeface="Roboto"/>
                <a:sym typeface="Roboto"/>
              </a:rPr>
              <a:t>Las ventajas del enrutamiento estático incluyen:</a:t>
            </a:r>
          </a:p>
        </p:txBody>
      </p:sp>
      <p:sp>
        <p:nvSpPr>
          <p:cNvPr name="Freeform 4" id="4"/>
          <p:cNvSpPr/>
          <p:nvPr/>
        </p:nvSpPr>
        <p:spPr>
          <a:xfrm flipH="false" flipV="false" rot="0">
            <a:off x="9377942" y="1894705"/>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093562" y="1399426"/>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1597594" y="1919104"/>
            <a:ext cx="4681424" cy="1230825"/>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La simplicidad de configuración y mantenimiento, ya que no se requiere un</a:t>
            </a:r>
          </a:p>
          <a:p>
            <a:pPr algn="ctr">
              <a:lnSpc>
                <a:spcPts val="3519"/>
              </a:lnSpc>
            </a:pPr>
            <a:r>
              <a:rPr lang="en-US" b="true" sz="1833">
                <a:solidFill>
                  <a:srgbClr val="3D3D3D"/>
                </a:solidFill>
                <a:latin typeface="Roboto Bold"/>
                <a:ea typeface="Roboto Bold"/>
                <a:cs typeface="Roboto Bold"/>
                <a:sym typeface="Roboto Bold"/>
              </a:rPr>
              <a:t>protocolo de enrutamiento dinámico.</a:t>
            </a:r>
          </a:p>
        </p:txBody>
      </p:sp>
      <p:sp>
        <p:nvSpPr>
          <p:cNvPr name="TextBox 7" id="7"/>
          <p:cNvSpPr txBox="true"/>
          <p:nvPr/>
        </p:nvSpPr>
        <p:spPr>
          <a:xfrm rot="0">
            <a:off x="9419659" y="2096367"/>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01</a:t>
            </a:r>
          </a:p>
        </p:txBody>
      </p:sp>
      <p:sp>
        <p:nvSpPr>
          <p:cNvPr name="Freeform 8" id="8"/>
          <p:cNvSpPr/>
          <p:nvPr/>
        </p:nvSpPr>
        <p:spPr>
          <a:xfrm flipH="false" flipV="false" rot="0">
            <a:off x="9377942" y="4397761"/>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1093562" y="3902482"/>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1597594" y="4422160"/>
            <a:ext cx="4681424" cy="1230825"/>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La estabilidad de las rutas, ya que no cambian a menos que se modifiquen</a:t>
            </a:r>
          </a:p>
          <a:p>
            <a:pPr algn="ctr">
              <a:lnSpc>
                <a:spcPts val="3519"/>
              </a:lnSpc>
            </a:pPr>
            <a:r>
              <a:rPr lang="en-US" b="true" sz="1833">
                <a:solidFill>
                  <a:srgbClr val="3D3D3D"/>
                </a:solidFill>
                <a:latin typeface="Roboto Bold"/>
                <a:ea typeface="Roboto Bold"/>
                <a:cs typeface="Roboto Bold"/>
                <a:sym typeface="Roboto Bold"/>
              </a:rPr>
              <a:t>manualmente.</a:t>
            </a:r>
          </a:p>
        </p:txBody>
      </p:sp>
      <p:sp>
        <p:nvSpPr>
          <p:cNvPr name="TextBox 11" id="11"/>
          <p:cNvSpPr txBox="true"/>
          <p:nvPr/>
        </p:nvSpPr>
        <p:spPr>
          <a:xfrm rot="0">
            <a:off x="9419659" y="4599423"/>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02</a:t>
            </a:r>
          </a:p>
        </p:txBody>
      </p:sp>
      <p:sp>
        <p:nvSpPr>
          <p:cNvPr name="Freeform 12" id="12"/>
          <p:cNvSpPr/>
          <p:nvPr/>
        </p:nvSpPr>
        <p:spPr>
          <a:xfrm flipH="false" flipV="false" rot="0">
            <a:off x="9377942" y="6903122"/>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1093562" y="6407843"/>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4" id="14"/>
          <p:cNvSpPr txBox="true"/>
          <p:nvPr/>
        </p:nvSpPr>
        <p:spPr>
          <a:xfrm rot="0">
            <a:off x="11597594" y="7104641"/>
            <a:ext cx="4681424" cy="859350"/>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El control total del administrador de red sobre las rutas.</a:t>
            </a:r>
          </a:p>
        </p:txBody>
      </p:sp>
      <p:sp>
        <p:nvSpPr>
          <p:cNvPr name="TextBox 15" id="15"/>
          <p:cNvSpPr txBox="true"/>
          <p:nvPr/>
        </p:nvSpPr>
        <p:spPr>
          <a:xfrm rot="0">
            <a:off x="9419659" y="7104783"/>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546877" y="2263229"/>
            <a:ext cx="6068774" cy="27490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Desventajas del enrutamiento estático</a:t>
            </a:r>
          </a:p>
        </p:txBody>
      </p:sp>
      <p:sp>
        <p:nvSpPr>
          <p:cNvPr name="TextBox 3" id="3"/>
          <p:cNvSpPr txBox="true"/>
          <p:nvPr/>
        </p:nvSpPr>
        <p:spPr>
          <a:xfrm rot="0">
            <a:off x="1546877" y="5031016"/>
            <a:ext cx="6540707" cy="806450"/>
          </a:xfrm>
          <a:prstGeom prst="rect">
            <a:avLst/>
          </a:prstGeom>
        </p:spPr>
        <p:txBody>
          <a:bodyPr anchor="t" rtlCol="false" tIns="0" lIns="0" bIns="0" rIns="0">
            <a:spAutoFit/>
          </a:bodyPr>
          <a:lstStyle/>
          <a:p>
            <a:pPr algn="l">
              <a:lnSpc>
                <a:spcPts val="3358"/>
              </a:lnSpc>
            </a:pPr>
            <a:r>
              <a:rPr lang="en-US" sz="1999">
                <a:solidFill>
                  <a:srgbClr val="3D3D3D"/>
                </a:solidFill>
                <a:latin typeface="Roboto"/>
                <a:ea typeface="Roboto"/>
                <a:cs typeface="Roboto"/>
                <a:sym typeface="Roboto"/>
              </a:rPr>
              <a:t>Sin embargo, el enrutamiento estático también tiene algunas limitaciones:</a:t>
            </a:r>
          </a:p>
        </p:txBody>
      </p:sp>
      <p:sp>
        <p:nvSpPr>
          <p:cNvPr name="Freeform 4" id="4"/>
          <p:cNvSpPr/>
          <p:nvPr/>
        </p:nvSpPr>
        <p:spPr>
          <a:xfrm flipH="false" flipV="false" rot="0">
            <a:off x="9377942" y="1894705"/>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093562" y="1399426"/>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1597594" y="2104841"/>
            <a:ext cx="4681424" cy="859350"/>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La falta de escalabilidad para redes grandes y complejas.</a:t>
            </a:r>
          </a:p>
        </p:txBody>
      </p:sp>
      <p:sp>
        <p:nvSpPr>
          <p:cNvPr name="TextBox 7" id="7"/>
          <p:cNvSpPr txBox="true"/>
          <p:nvPr/>
        </p:nvSpPr>
        <p:spPr>
          <a:xfrm rot="0">
            <a:off x="9419659" y="2096367"/>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01</a:t>
            </a:r>
          </a:p>
        </p:txBody>
      </p:sp>
      <p:sp>
        <p:nvSpPr>
          <p:cNvPr name="Freeform 8" id="8"/>
          <p:cNvSpPr/>
          <p:nvPr/>
        </p:nvSpPr>
        <p:spPr>
          <a:xfrm flipH="false" flipV="false" rot="0">
            <a:off x="9377942" y="4397761"/>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1093562" y="3902482"/>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1597594" y="4463229"/>
            <a:ext cx="4681424" cy="1230825"/>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La necesidad de una gestión cuidadosa de las rutas para evitar conflictos y bucles de enrutamiento.</a:t>
            </a:r>
          </a:p>
        </p:txBody>
      </p:sp>
      <p:sp>
        <p:nvSpPr>
          <p:cNvPr name="TextBox 11" id="11"/>
          <p:cNvSpPr txBox="true"/>
          <p:nvPr/>
        </p:nvSpPr>
        <p:spPr>
          <a:xfrm rot="0">
            <a:off x="9419659" y="4599423"/>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02</a:t>
            </a:r>
          </a:p>
        </p:txBody>
      </p:sp>
      <p:sp>
        <p:nvSpPr>
          <p:cNvPr name="Freeform 12" id="12"/>
          <p:cNvSpPr/>
          <p:nvPr/>
        </p:nvSpPr>
        <p:spPr>
          <a:xfrm flipH="false" flipV="false" rot="0">
            <a:off x="9377942" y="6903122"/>
            <a:ext cx="1489174" cy="1489174"/>
          </a:xfrm>
          <a:custGeom>
            <a:avLst/>
            <a:gdLst/>
            <a:ahLst/>
            <a:cxnLst/>
            <a:rect r="r" b="b" t="t" l="l"/>
            <a:pathLst>
              <a:path h="1489174" w="1489174">
                <a:moveTo>
                  <a:pt x="0" y="0"/>
                </a:moveTo>
                <a:lnTo>
                  <a:pt x="1489174" y="0"/>
                </a:lnTo>
                <a:lnTo>
                  <a:pt x="1489174" y="1489174"/>
                </a:lnTo>
                <a:lnTo>
                  <a:pt x="0" y="148917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1093562" y="6407843"/>
            <a:ext cx="5689488" cy="2449684"/>
          </a:xfrm>
          <a:custGeom>
            <a:avLst/>
            <a:gdLst/>
            <a:ahLst/>
            <a:cxnLst/>
            <a:rect r="r" b="b" t="t" l="l"/>
            <a:pathLst>
              <a:path h="2449684" w="5689488">
                <a:moveTo>
                  <a:pt x="0" y="0"/>
                </a:moveTo>
                <a:lnTo>
                  <a:pt x="5689488" y="0"/>
                </a:lnTo>
                <a:lnTo>
                  <a:pt x="5689488" y="2449684"/>
                </a:lnTo>
                <a:lnTo>
                  <a:pt x="0" y="24496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4" id="14"/>
          <p:cNvSpPr txBox="true"/>
          <p:nvPr/>
        </p:nvSpPr>
        <p:spPr>
          <a:xfrm rot="0">
            <a:off x="11597594" y="6927521"/>
            <a:ext cx="4681424" cy="1230825"/>
          </a:xfrm>
          <a:prstGeom prst="rect">
            <a:avLst/>
          </a:prstGeom>
        </p:spPr>
        <p:txBody>
          <a:bodyPr anchor="t" rtlCol="false" tIns="0" lIns="0" bIns="0" rIns="0">
            <a:spAutoFit/>
          </a:bodyPr>
          <a:lstStyle/>
          <a:p>
            <a:pPr algn="ctr">
              <a:lnSpc>
                <a:spcPts val="3519"/>
              </a:lnSpc>
            </a:pPr>
            <a:r>
              <a:rPr lang="en-US" b="true" sz="1833">
                <a:solidFill>
                  <a:srgbClr val="3D3D3D"/>
                </a:solidFill>
                <a:latin typeface="Roboto Bold"/>
                <a:ea typeface="Roboto Bold"/>
                <a:cs typeface="Roboto Bold"/>
                <a:sym typeface="Roboto Bold"/>
              </a:rPr>
              <a:t>La incapacidad de adaptarse automáticamente a cambios en la topología de la red.</a:t>
            </a:r>
          </a:p>
        </p:txBody>
      </p:sp>
      <p:sp>
        <p:nvSpPr>
          <p:cNvPr name="TextBox 15" id="15"/>
          <p:cNvSpPr txBox="true"/>
          <p:nvPr/>
        </p:nvSpPr>
        <p:spPr>
          <a:xfrm rot="0">
            <a:off x="9419659" y="7104783"/>
            <a:ext cx="1405739" cy="942975"/>
          </a:xfrm>
          <a:prstGeom prst="rect">
            <a:avLst/>
          </a:prstGeom>
        </p:spPr>
        <p:txBody>
          <a:bodyPr anchor="t" rtlCol="false" tIns="0" lIns="0" bIns="0" rIns="0">
            <a:spAutoFit/>
          </a:bodyPr>
          <a:lstStyle/>
          <a:p>
            <a:pPr algn="ctr">
              <a:lnSpc>
                <a:spcPts val="7642"/>
              </a:lnSpc>
            </a:pPr>
            <a:r>
              <a:rPr lang="en-US" sz="5306">
                <a:solidFill>
                  <a:srgbClr val="3D3D3D"/>
                </a:solidFill>
                <a:latin typeface="Roboto"/>
                <a:ea typeface="Roboto"/>
                <a:cs typeface="Roboto"/>
                <a:sym typeface="Roboto"/>
              </a:rPr>
              <a:t>03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sp>
        <p:nvSpPr>
          <p:cNvPr name="TextBox 8" id="8"/>
          <p:cNvSpPr txBox="true"/>
          <p:nvPr/>
        </p:nvSpPr>
        <p:spPr>
          <a:xfrm rot="0">
            <a:off x="1546877" y="2825035"/>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Protocolos de enrutamiento estático</a:t>
            </a:r>
          </a:p>
        </p:txBody>
      </p:sp>
      <p:sp>
        <p:nvSpPr>
          <p:cNvPr name="TextBox 9" id="9"/>
          <p:cNvSpPr txBox="true"/>
          <p:nvPr/>
        </p:nvSpPr>
        <p:spPr>
          <a:xfrm rot="0">
            <a:off x="1546877" y="4333598"/>
            <a:ext cx="15830026" cy="2568575"/>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Son protocolos de enrutamiento que utilizan enrutamiento estático para determinar las rutas a través de la red.</a:t>
            </a:r>
          </a:p>
          <a:p>
            <a:pPr algn="just">
              <a:lnSpc>
                <a:spcPts val="2352"/>
              </a:lnSpc>
            </a:pPr>
          </a:p>
          <a:p>
            <a:pPr algn="just">
              <a:lnSpc>
                <a:spcPts val="3358"/>
              </a:lnSpc>
            </a:pPr>
            <a:r>
              <a:rPr lang="en-US" sz="1999">
                <a:solidFill>
                  <a:srgbClr val="3D3D3D"/>
                </a:solidFill>
                <a:latin typeface="Roboto"/>
                <a:ea typeface="Roboto"/>
                <a:cs typeface="Roboto"/>
                <a:sym typeface="Roboto"/>
              </a:rPr>
              <a:t>En los protocolos de enrutamiento estático, se configuran las rutas en los dispositivos de red utilizando comandos de configuración manual. Estas rutas se mantienen constantes, independientemente de los cambios en la topología de la red.</a:t>
            </a:r>
          </a:p>
          <a:p>
            <a:pPr algn="just">
              <a:lnSpc>
                <a:spcPts val="2352"/>
              </a:lnSpc>
            </a:pPr>
          </a:p>
          <a:p>
            <a:pPr algn="just">
              <a:lnSpc>
                <a:spcPts val="3358"/>
              </a:lnSpc>
            </a:pPr>
            <a:r>
              <a:rPr lang="en-US" sz="1999">
                <a:solidFill>
                  <a:srgbClr val="3D3D3D"/>
                </a:solidFill>
                <a:latin typeface="Roboto"/>
                <a:ea typeface="Roboto"/>
                <a:cs typeface="Roboto"/>
                <a:sym typeface="Roboto"/>
              </a:rPr>
              <a:t>Algunos ejemplos de protocolos de enrutamiento estático comunes incluyen el Protocolo de enrutamiento IP (IP Routing Protocol) y el Protocolo de enrutamiento de gateway interior (Interior Gateway Routing Protocol, IGRP).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005088" y="7107769"/>
            <a:ext cx="4013963" cy="4551917"/>
            <a:chOff x="0" y="0"/>
            <a:chExt cx="5351951" cy="6069223"/>
          </a:xfrm>
        </p:grpSpPr>
        <p:sp>
          <p:nvSpPr>
            <p:cNvPr name="Freeform 3" id="3"/>
            <p:cNvSpPr/>
            <p:nvPr/>
          </p:nvSpPr>
          <p:spPr>
            <a:xfrm flipH="false" flipV="false" rot="0">
              <a:off x="0" y="0"/>
              <a:ext cx="5351907" cy="6069203"/>
            </a:xfrm>
            <a:custGeom>
              <a:avLst/>
              <a:gdLst/>
              <a:ahLst/>
              <a:cxnLst/>
              <a:rect r="r" b="b" t="t" l="l"/>
              <a:pathLst>
                <a:path h="6069203" w="5351907">
                  <a:moveTo>
                    <a:pt x="0" y="0"/>
                  </a:moveTo>
                  <a:lnTo>
                    <a:pt x="5351907" y="0"/>
                  </a:lnTo>
                  <a:lnTo>
                    <a:pt x="5351907" y="6069203"/>
                  </a:lnTo>
                  <a:lnTo>
                    <a:pt x="0" y="6069203"/>
                  </a:lnTo>
                  <a:lnTo>
                    <a:pt x="0" y="0"/>
                  </a:lnTo>
                  <a:close/>
                </a:path>
              </a:pathLst>
            </a:custGeom>
            <a:blipFill>
              <a:blip r:embed="rId3"/>
              <a:stretch>
                <a:fillRect l="-23" t="0" r="-23" b="0"/>
              </a:stretch>
            </a:blipFill>
          </p:spPr>
        </p:sp>
      </p:grpSp>
      <p:grpSp>
        <p:nvGrpSpPr>
          <p:cNvPr name="Group 4" id="4"/>
          <p:cNvGrpSpPr/>
          <p:nvPr/>
        </p:nvGrpSpPr>
        <p:grpSpPr>
          <a:xfrm rot="0">
            <a:off x="17005088" y="2916773"/>
            <a:ext cx="4324667" cy="4190996"/>
            <a:chOff x="0" y="0"/>
            <a:chExt cx="5766223" cy="5587995"/>
          </a:xfrm>
        </p:grpSpPr>
        <p:sp>
          <p:nvSpPr>
            <p:cNvPr name="Freeform 5" id="5"/>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4"/>
              <a:stretch>
                <a:fillRect l="0" t="-7" r="0" b="-7"/>
              </a:stretch>
            </a:blipFill>
          </p:spPr>
        </p:sp>
      </p:grpSp>
      <p:grpSp>
        <p:nvGrpSpPr>
          <p:cNvPr name="Group 6" id="6"/>
          <p:cNvGrpSpPr/>
          <p:nvPr/>
        </p:nvGrpSpPr>
        <p:grpSpPr>
          <a:xfrm rot="-7876794">
            <a:off x="17325809" y="-495334"/>
            <a:ext cx="3683224" cy="3522502"/>
            <a:chOff x="0" y="0"/>
            <a:chExt cx="4910965" cy="4696669"/>
          </a:xfrm>
        </p:grpSpPr>
        <p:sp>
          <p:nvSpPr>
            <p:cNvPr name="Freeform 7" id="7"/>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5"/>
              <a:stretch>
                <a:fillRect l="-39" t="0" r="-39" b="0"/>
              </a:stretch>
            </a:blipFill>
          </p:spPr>
        </p:sp>
      </p:grpSp>
      <p:sp>
        <p:nvSpPr>
          <p:cNvPr name="TextBox 8" id="8"/>
          <p:cNvSpPr txBox="true"/>
          <p:nvPr/>
        </p:nvSpPr>
        <p:spPr>
          <a:xfrm rot="0">
            <a:off x="1546877" y="1920331"/>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Tablas de enrutamiento</a:t>
            </a:r>
          </a:p>
        </p:txBody>
      </p:sp>
      <p:sp>
        <p:nvSpPr>
          <p:cNvPr name="TextBox 9" id="9"/>
          <p:cNvSpPr txBox="true"/>
          <p:nvPr/>
        </p:nvSpPr>
        <p:spPr>
          <a:xfrm rot="0">
            <a:off x="1546877" y="3659445"/>
            <a:ext cx="14735669" cy="3978275"/>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Una tabla de enrutamiento es una base de datos que contiene información sobre las rutas disponibles a través de una red.</a:t>
            </a:r>
          </a:p>
          <a:p>
            <a:pPr algn="just">
              <a:lnSpc>
                <a:spcPts val="2352"/>
              </a:lnSpc>
            </a:pPr>
          </a:p>
          <a:p>
            <a:pPr algn="just">
              <a:lnSpc>
                <a:spcPts val="3358"/>
              </a:lnSpc>
            </a:pPr>
            <a:r>
              <a:rPr lang="en-US" sz="1999">
                <a:solidFill>
                  <a:srgbClr val="3D3D3D"/>
                </a:solidFill>
                <a:latin typeface="Roboto"/>
                <a:ea typeface="Roboto"/>
                <a:cs typeface="Roboto"/>
                <a:sym typeface="Roboto"/>
              </a:rPr>
              <a:t>Cada dispositivo de red, incluyendo routers, switches y otros dispositivos, utiliza tablas de enrutamiento para determinar la ruta óptima a través de la red para enviar paquetes de datos.</a:t>
            </a:r>
          </a:p>
          <a:p>
            <a:pPr algn="just">
              <a:lnSpc>
                <a:spcPts val="2352"/>
              </a:lnSpc>
            </a:pPr>
          </a:p>
          <a:p>
            <a:pPr algn="just">
              <a:lnSpc>
                <a:spcPts val="3358"/>
              </a:lnSpc>
            </a:pPr>
            <a:r>
              <a:rPr lang="en-US" sz="1999">
                <a:solidFill>
                  <a:srgbClr val="3D3D3D"/>
                </a:solidFill>
                <a:latin typeface="Roboto"/>
                <a:ea typeface="Roboto"/>
                <a:cs typeface="Roboto"/>
                <a:sym typeface="Roboto"/>
              </a:rPr>
              <a:t>Las tablas de enrutamiento contienen información sobre las redes disponibles en la red, las direcciones IP de los dispositivos de red y los costos de las rutas.</a:t>
            </a:r>
          </a:p>
          <a:p>
            <a:pPr algn="just">
              <a:lnSpc>
                <a:spcPts val="2352"/>
              </a:lnSpc>
            </a:pPr>
          </a:p>
          <a:p>
            <a:pPr algn="just">
              <a:lnSpc>
                <a:spcPts val="3358"/>
              </a:lnSpc>
            </a:pPr>
            <a:r>
              <a:rPr lang="en-US" sz="1999">
                <a:solidFill>
                  <a:srgbClr val="3D3D3D"/>
                </a:solidFill>
                <a:latin typeface="Roboto"/>
                <a:ea typeface="Roboto"/>
                <a:cs typeface="Roboto"/>
                <a:sym typeface="Roboto"/>
              </a:rPr>
              <a:t>Los costos de las rutas se calculan en función de la distancia, el ancho de banda y otros factores que pueden afectar la calidad de la conexión.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628867" y="7543299"/>
            <a:ext cx="3699265" cy="4195043"/>
            <a:chOff x="0" y="0"/>
            <a:chExt cx="4932353" cy="5593391"/>
          </a:xfrm>
        </p:grpSpPr>
        <p:sp>
          <p:nvSpPr>
            <p:cNvPr name="Freeform 3" id="3"/>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3"/>
              <a:stretch>
                <a:fillRect l="-23" t="0" r="-24" b="-1"/>
              </a:stretch>
            </a:blipFill>
          </p:spPr>
        </p:sp>
      </p:grpSp>
      <p:grpSp>
        <p:nvGrpSpPr>
          <p:cNvPr name="Group 4" id="4"/>
          <p:cNvGrpSpPr/>
          <p:nvPr/>
        </p:nvGrpSpPr>
        <p:grpSpPr>
          <a:xfrm rot="0">
            <a:off x="4123074" y="-2591505"/>
            <a:ext cx="4089204" cy="3747198"/>
            <a:chOff x="0" y="0"/>
            <a:chExt cx="5452272" cy="4996264"/>
          </a:xfrm>
        </p:grpSpPr>
        <p:sp>
          <p:nvSpPr>
            <p:cNvPr name="Freeform 5" id="5"/>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6" id="6"/>
          <p:cNvGrpSpPr/>
          <p:nvPr/>
        </p:nvGrpSpPr>
        <p:grpSpPr>
          <a:xfrm rot="-1780974">
            <a:off x="-2178011" y="4841048"/>
            <a:ext cx="3585363" cy="4186730"/>
            <a:chOff x="0" y="0"/>
            <a:chExt cx="4780484" cy="5582307"/>
          </a:xfrm>
        </p:grpSpPr>
        <p:sp>
          <p:nvSpPr>
            <p:cNvPr name="Freeform 7" id="7"/>
            <p:cNvSpPr/>
            <p:nvPr/>
          </p:nvSpPr>
          <p:spPr>
            <a:xfrm flipH="false" flipV="false" rot="0">
              <a:off x="0" y="0"/>
              <a:ext cx="4780534" cy="5582285"/>
            </a:xfrm>
            <a:custGeom>
              <a:avLst/>
              <a:gdLst/>
              <a:ahLst/>
              <a:cxnLst/>
              <a:rect r="r" b="b" t="t" l="l"/>
              <a:pathLst>
                <a:path h="5582285" w="4780534">
                  <a:moveTo>
                    <a:pt x="0" y="0"/>
                  </a:moveTo>
                  <a:lnTo>
                    <a:pt x="4780534" y="0"/>
                  </a:lnTo>
                  <a:lnTo>
                    <a:pt x="4780534" y="5582285"/>
                  </a:lnTo>
                  <a:lnTo>
                    <a:pt x="0" y="5582285"/>
                  </a:lnTo>
                  <a:lnTo>
                    <a:pt x="0" y="0"/>
                  </a:lnTo>
                  <a:close/>
                </a:path>
              </a:pathLst>
            </a:custGeom>
            <a:blipFill>
              <a:blip r:embed="rId5"/>
              <a:stretch>
                <a:fillRect l="-45" t="0" r="-44" b="0"/>
              </a:stretch>
            </a:blipFill>
          </p:spPr>
        </p:sp>
      </p:grpSp>
      <p:grpSp>
        <p:nvGrpSpPr>
          <p:cNvPr name="Group 8" id="8"/>
          <p:cNvGrpSpPr/>
          <p:nvPr/>
        </p:nvGrpSpPr>
        <p:grpSpPr>
          <a:xfrm rot="5400000">
            <a:off x="-547899" y="8993285"/>
            <a:ext cx="3603709" cy="3956167"/>
            <a:chOff x="0" y="0"/>
            <a:chExt cx="4804945" cy="5274889"/>
          </a:xfrm>
        </p:grpSpPr>
        <p:sp>
          <p:nvSpPr>
            <p:cNvPr name="Freeform 9" id="9"/>
            <p:cNvSpPr/>
            <p:nvPr/>
          </p:nvSpPr>
          <p:spPr>
            <a:xfrm flipH="false" flipV="false" rot="0">
              <a:off x="0" y="0"/>
              <a:ext cx="4804918" cy="5274945"/>
            </a:xfrm>
            <a:custGeom>
              <a:avLst/>
              <a:gdLst/>
              <a:ahLst/>
              <a:cxnLst/>
              <a:rect r="r" b="b" t="t" l="l"/>
              <a:pathLst>
                <a:path h="5274945" w="4804918">
                  <a:moveTo>
                    <a:pt x="0" y="0"/>
                  </a:moveTo>
                  <a:lnTo>
                    <a:pt x="4804918" y="0"/>
                  </a:lnTo>
                  <a:lnTo>
                    <a:pt x="4804918" y="5274945"/>
                  </a:lnTo>
                  <a:lnTo>
                    <a:pt x="0" y="5274945"/>
                  </a:lnTo>
                  <a:lnTo>
                    <a:pt x="0" y="0"/>
                  </a:lnTo>
                  <a:close/>
                </a:path>
              </a:pathLst>
            </a:custGeom>
            <a:blipFill>
              <a:blip r:embed="rId6"/>
              <a:stretch>
                <a:fillRect l="-61" t="0" r="-62" b="1"/>
              </a:stretch>
            </a:blipFill>
          </p:spPr>
        </p:sp>
      </p:grpSp>
      <p:grpSp>
        <p:nvGrpSpPr>
          <p:cNvPr name="Group 10" id="10"/>
          <p:cNvGrpSpPr/>
          <p:nvPr/>
        </p:nvGrpSpPr>
        <p:grpSpPr>
          <a:xfrm rot="0">
            <a:off x="3336814" y="9169514"/>
            <a:ext cx="3360824" cy="3416735"/>
            <a:chOff x="0" y="0"/>
            <a:chExt cx="4481099" cy="4555647"/>
          </a:xfrm>
        </p:grpSpPr>
        <p:sp>
          <p:nvSpPr>
            <p:cNvPr name="Freeform 11" id="11"/>
            <p:cNvSpPr/>
            <p:nvPr/>
          </p:nvSpPr>
          <p:spPr>
            <a:xfrm flipH="false" flipV="false" rot="0">
              <a:off x="0" y="0"/>
              <a:ext cx="4481068" cy="4555617"/>
            </a:xfrm>
            <a:custGeom>
              <a:avLst/>
              <a:gdLst/>
              <a:ahLst/>
              <a:cxnLst/>
              <a:rect r="r" b="b" t="t" l="l"/>
              <a:pathLst>
                <a:path h="4555617" w="4481068">
                  <a:moveTo>
                    <a:pt x="0" y="0"/>
                  </a:moveTo>
                  <a:lnTo>
                    <a:pt x="4481068" y="0"/>
                  </a:lnTo>
                  <a:lnTo>
                    <a:pt x="4481068" y="4555617"/>
                  </a:lnTo>
                  <a:lnTo>
                    <a:pt x="0" y="4555617"/>
                  </a:lnTo>
                  <a:lnTo>
                    <a:pt x="0" y="0"/>
                  </a:lnTo>
                  <a:close/>
                </a:path>
              </a:pathLst>
            </a:custGeom>
            <a:blipFill>
              <a:blip r:embed="rId7"/>
              <a:stretch>
                <a:fillRect l="-2" t="0" r="-3" b="0"/>
              </a:stretch>
            </a:blipFill>
          </p:spPr>
        </p:sp>
      </p:grpSp>
      <p:grpSp>
        <p:nvGrpSpPr>
          <p:cNvPr name="Group 12" id="12"/>
          <p:cNvGrpSpPr/>
          <p:nvPr/>
        </p:nvGrpSpPr>
        <p:grpSpPr>
          <a:xfrm rot="0">
            <a:off x="17381308" y="3942256"/>
            <a:ext cx="3290910" cy="3189191"/>
            <a:chOff x="0" y="0"/>
            <a:chExt cx="4387880" cy="4252255"/>
          </a:xfrm>
        </p:grpSpPr>
        <p:sp>
          <p:nvSpPr>
            <p:cNvPr name="Freeform 13" id="13"/>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8"/>
              <a:stretch>
                <a:fillRect l="0" t="-7" r="0" b="-8"/>
              </a:stretch>
            </a:blipFill>
          </p:spPr>
        </p:sp>
      </p:grpSp>
      <p:grpSp>
        <p:nvGrpSpPr>
          <p:cNvPr name="Group 14" id="14"/>
          <p:cNvGrpSpPr/>
          <p:nvPr/>
        </p:nvGrpSpPr>
        <p:grpSpPr>
          <a:xfrm rot="0">
            <a:off x="12756325" y="-2994024"/>
            <a:ext cx="4101774" cy="4034654"/>
            <a:chOff x="0" y="0"/>
            <a:chExt cx="5469032" cy="5379539"/>
          </a:xfrm>
        </p:grpSpPr>
        <p:sp>
          <p:nvSpPr>
            <p:cNvPr name="Freeform 15" id="15"/>
            <p:cNvSpPr/>
            <p:nvPr/>
          </p:nvSpPr>
          <p:spPr>
            <a:xfrm flipH="false" flipV="false" rot="0">
              <a:off x="0" y="0"/>
              <a:ext cx="5469001" cy="5379593"/>
            </a:xfrm>
            <a:custGeom>
              <a:avLst/>
              <a:gdLst/>
              <a:ahLst/>
              <a:cxnLst/>
              <a:rect r="r" b="b" t="t" l="l"/>
              <a:pathLst>
                <a:path h="5379593" w="5469001">
                  <a:moveTo>
                    <a:pt x="0" y="0"/>
                  </a:moveTo>
                  <a:lnTo>
                    <a:pt x="5469001" y="0"/>
                  </a:lnTo>
                  <a:lnTo>
                    <a:pt x="5469001" y="5379593"/>
                  </a:lnTo>
                  <a:lnTo>
                    <a:pt x="0" y="5379593"/>
                  </a:lnTo>
                  <a:lnTo>
                    <a:pt x="0" y="0"/>
                  </a:lnTo>
                  <a:close/>
                </a:path>
              </a:pathLst>
            </a:custGeom>
            <a:blipFill>
              <a:blip r:embed="rId9"/>
              <a:stretch>
                <a:fillRect l="0" t="-88" r="0" b="-87"/>
              </a:stretch>
            </a:blipFill>
          </p:spPr>
        </p:sp>
      </p:grpSp>
      <p:grpSp>
        <p:nvGrpSpPr>
          <p:cNvPr name="Group 16" id="16"/>
          <p:cNvGrpSpPr/>
          <p:nvPr/>
        </p:nvGrpSpPr>
        <p:grpSpPr>
          <a:xfrm rot="0">
            <a:off x="17191945" y="-717905"/>
            <a:ext cx="2933022" cy="4801077"/>
            <a:chOff x="0" y="0"/>
            <a:chExt cx="3910696" cy="6401436"/>
          </a:xfrm>
        </p:grpSpPr>
        <p:sp>
          <p:nvSpPr>
            <p:cNvPr name="Freeform 17" id="17"/>
            <p:cNvSpPr/>
            <p:nvPr/>
          </p:nvSpPr>
          <p:spPr>
            <a:xfrm flipH="false" flipV="false" rot="0">
              <a:off x="0" y="0"/>
              <a:ext cx="3910711" cy="6401435"/>
            </a:xfrm>
            <a:custGeom>
              <a:avLst/>
              <a:gdLst/>
              <a:ahLst/>
              <a:cxnLst/>
              <a:rect r="r" b="b" t="t" l="l"/>
              <a:pathLst>
                <a:path h="6401435" w="3910711">
                  <a:moveTo>
                    <a:pt x="0" y="0"/>
                  </a:moveTo>
                  <a:lnTo>
                    <a:pt x="3910711" y="0"/>
                  </a:lnTo>
                  <a:lnTo>
                    <a:pt x="3910711" y="6401435"/>
                  </a:lnTo>
                  <a:lnTo>
                    <a:pt x="0" y="6401435"/>
                  </a:lnTo>
                  <a:lnTo>
                    <a:pt x="0" y="0"/>
                  </a:lnTo>
                  <a:close/>
                </a:path>
              </a:pathLst>
            </a:custGeom>
            <a:blipFill>
              <a:blip r:embed="rId10"/>
              <a:stretch>
                <a:fillRect l="-130" t="0" r="-129" b="0"/>
              </a:stretch>
            </a:blipFill>
          </p:spPr>
        </p:sp>
      </p:grpSp>
      <p:grpSp>
        <p:nvGrpSpPr>
          <p:cNvPr name="Group 18" id="18"/>
          <p:cNvGrpSpPr/>
          <p:nvPr/>
        </p:nvGrpSpPr>
        <p:grpSpPr>
          <a:xfrm rot="0">
            <a:off x="12308650" y="9169514"/>
            <a:ext cx="3683224" cy="3522502"/>
            <a:chOff x="0" y="0"/>
            <a:chExt cx="4910965" cy="4696669"/>
          </a:xfrm>
        </p:grpSpPr>
        <p:sp>
          <p:nvSpPr>
            <p:cNvPr name="Freeform 19" id="19"/>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11"/>
              <a:stretch>
                <a:fillRect l="-39" t="0" r="-39" b="0"/>
              </a:stretch>
            </a:blipFill>
          </p:spPr>
        </p:sp>
      </p:grpSp>
      <p:grpSp>
        <p:nvGrpSpPr>
          <p:cNvPr name="Group 20" id="20"/>
          <p:cNvGrpSpPr/>
          <p:nvPr/>
        </p:nvGrpSpPr>
        <p:grpSpPr>
          <a:xfrm rot="-7064477">
            <a:off x="8856194" y="-2057464"/>
            <a:ext cx="3197600" cy="3733928"/>
            <a:chOff x="0" y="0"/>
            <a:chExt cx="4263467" cy="4978571"/>
          </a:xfrm>
        </p:grpSpPr>
        <p:sp>
          <p:nvSpPr>
            <p:cNvPr name="Freeform 21" id="21"/>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5"/>
              <a:stretch>
                <a:fillRect l="-45" t="0" r="-44" b="0"/>
              </a:stretch>
            </a:blipFill>
          </p:spPr>
        </p:sp>
      </p:grpSp>
      <p:grpSp>
        <p:nvGrpSpPr>
          <p:cNvPr name="Group 22" id="22"/>
          <p:cNvGrpSpPr/>
          <p:nvPr/>
        </p:nvGrpSpPr>
        <p:grpSpPr>
          <a:xfrm rot="5400000">
            <a:off x="-408200" y="-3205282"/>
            <a:ext cx="4320016" cy="4742532"/>
            <a:chOff x="0" y="0"/>
            <a:chExt cx="5760021" cy="6323376"/>
          </a:xfrm>
        </p:grpSpPr>
        <p:sp>
          <p:nvSpPr>
            <p:cNvPr name="Freeform 23" id="23"/>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6"/>
              <a:stretch>
                <a:fillRect l="-61" t="0" r="-63" b="0"/>
              </a:stretch>
            </a:blipFill>
          </p:spPr>
        </p:sp>
      </p:grpSp>
      <p:grpSp>
        <p:nvGrpSpPr>
          <p:cNvPr name="Group 24" id="24"/>
          <p:cNvGrpSpPr/>
          <p:nvPr/>
        </p:nvGrpSpPr>
        <p:grpSpPr>
          <a:xfrm rot="3887789">
            <a:off x="-2804950" y="803558"/>
            <a:ext cx="3200658" cy="5239172"/>
            <a:chOff x="0" y="0"/>
            <a:chExt cx="4267544" cy="6985563"/>
          </a:xfrm>
        </p:grpSpPr>
        <p:sp>
          <p:nvSpPr>
            <p:cNvPr name="Freeform 25" id="25"/>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10"/>
              <a:stretch>
                <a:fillRect l="-130" t="0" r="-129" b="0"/>
              </a:stretch>
            </a:blipFill>
          </p:spPr>
        </p:sp>
      </p:grpSp>
      <p:grpSp>
        <p:nvGrpSpPr>
          <p:cNvPr name="Group 26" id="26"/>
          <p:cNvGrpSpPr/>
          <p:nvPr/>
        </p:nvGrpSpPr>
        <p:grpSpPr>
          <a:xfrm rot="0">
            <a:off x="7135229" y="9264764"/>
            <a:ext cx="5173421" cy="5298662"/>
            <a:chOff x="0" y="0"/>
            <a:chExt cx="6897895" cy="7064883"/>
          </a:xfrm>
        </p:grpSpPr>
        <p:sp>
          <p:nvSpPr>
            <p:cNvPr name="Freeform 27" id="27"/>
            <p:cNvSpPr/>
            <p:nvPr/>
          </p:nvSpPr>
          <p:spPr>
            <a:xfrm flipH="false" flipV="false" rot="0">
              <a:off x="0" y="0"/>
              <a:ext cx="6897878" cy="7064883"/>
            </a:xfrm>
            <a:custGeom>
              <a:avLst/>
              <a:gdLst/>
              <a:ahLst/>
              <a:cxnLst/>
              <a:rect r="r" b="b" t="t" l="l"/>
              <a:pathLst>
                <a:path h="7064883" w="6897878">
                  <a:moveTo>
                    <a:pt x="0" y="0"/>
                  </a:moveTo>
                  <a:lnTo>
                    <a:pt x="6897878" y="0"/>
                  </a:lnTo>
                  <a:lnTo>
                    <a:pt x="6897878" y="7064883"/>
                  </a:lnTo>
                  <a:lnTo>
                    <a:pt x="0" y="7064883"/>
                  </a:lnTo>
                  <a:lnTo>
                    <a:pt x="0" y="0"/>
                  </a:lnTo>
                  <a:close/>
                </a:path>
              </a:pathLst>
            </a:custGeom>
            <a:blipFill>
              <a:blip r:embed="rId12"/>
              <a:stretch>
                <a:fillRect l="-21" t="0" r="-22" b="0"/>
              </a:stretch>
            </a:blipFill>
          </p:spPr>
        </p:sp>
      </p:grpSp>
      <p:sp>
        <p:nvSpPr>
          <p:cNvPr name="TextBox 28" id="28"/>
          <p:cNvSpPr txBox="true"/>
          <p:nvPr/>
        </p:nvSpPr>
        <p:spPr>
          <a:xfrm rot="0">
            <a:off x="2338557" y="3591304"/>
            <a:ext cx="13610886" cy="3342517"/>
          </a:xfrm>
          <a:prstGeom prst="rect">
            <a:avLst/>
          </a:prstGeom>
        </p:spPr>
        <p:txBody>
          <a:bodyPr anchor="t" rtlCol="false" tIns="0" lIns="0" bIns="0" rIns="0">
            <a:spAutoFit/>
          </a:bodyPr>
          <a:lstStyle/>
          <a:p>
            <a:pPr algn="ctr">
              <a:lnSpc>
                <a:spcPts val="15377"/>
              </a:lnSpc>
            </a:pPr>
            <a:r>
              <a:rPr lang="en-US" b="true" sz="12814">
                <a:solidFill>
                  <a:srgbClr val="3D3D3D"/>
                </a:solidFill>
                <a:latin typeface="Roboto Slab Bold"/>
                <a:ea typeface="Roboto Slab Bold"/>
                <a:cs typeface="Roboto Slab Bold"/>
                <a:sym typeface="Roboto Slab Bold"/>
              </a:rPr>
              <a:t>TABLA DE ENRUTAMIENTO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sp>
        <p:nvSpPr>
          <p:cNvPr name="TextBox 8" id="8"/>
          <p:cNvSpPr txBox="true"/>
          <p:nvPr/>
        </p:nvSpPr>
        <p:spPr>
          <a:xfrm rot="0">
            <a:off x="1546877" y="1920331"/>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Tabla de enrutamiento</a:t>
            </a:r>
          </a:p>
        </p:txBody>
      </p:sp>
      <p:sp>
        <p:nvSpPr>
          <p:cNvPr name="TextBox 9" id="9"/>
          <p:cNvSpPr txBox="true"/>
          <p:nvPr/>
        </p:nvSpPr>
        <p:spPr>
          <a:xfrm rot="0">
            <a:off x="1546877" y="3659445"/>
            <a:ext cx="14735669" cy="4330700"/>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Los dispositivos de red utilizan la información de la tabla de enrutamiento para determinar la mejor ruta para enviar los paquetes de datos.</a:t>
            </a:r>
          </a:p>
          <a:p>
            <a:pPr algn="just">
              <a:lnSpc>
                <a:spcPts val="2352"/>
              </a:lnSpc>
            </a:pPr>
          </a:p>
          <a:p>
            <a:pPr algn="just">
              <a:lnSpc>
                <a:spcPts val="3358"/>
              </a:lnSpc>
            </a:pPr>
            <a:r>
              <a:rPr lang="en-US" sz="1999">
                <a:solidFill>
                  <a:srgbClr val="3D3D3D"/>
                </a:solidFill>
                <a:latin typeface="Roboto"/>
                <a:ea typeface="Roboto"/>
                <a:cs typeface="Roboto"/>
                <a:sym typeface="Roboto"/>
              </a:rPr>
              <a:t>Si un dispositivo de red no tiene una ruta disponible en su tabla de enrutamiento, enviará el paquete de datos a través de una puerta de enlace predeterminada.</a:t>
            </a:r>
          </a:p>
          <a:p>
            <a:pPr algn="just">
              <a:lnSpc>
                <a:spcPts val="2352"/>
              </a:lnSpc>
            </a:pPr>
          </a:p>
          <a:p>
            <a:pPr algn="just">
              <a:lnSpc>
                <a:spcPts val="3358"/>
              </a:lnSpc>
            </a:pPr>
            <a:r>
              <a:rPr lang="en-US" sz="1999">
                <a:solidFill>
                  <a:srgbClr val="3D3D3D"/>
                </a:solidFill>
                <a:latin typeface="Roboto"/>
                <a:ea typeface="Roboto"/>
                <a:cs typeface="Roboto"/>
                <a:sym typeface="Roboto"/>
              </a:rPr>
              <a:t>Es importante tener en cuenta que las tablas de enrutamiento son dinámicas y pueden cambiar con el tiempo en función de los cambios en la red.</a:t>
            </a:r>
          </a:p>
          <a:p>
            <a:pPr algn="just">
              <a:lnSpc>
                <a:spcPts val="2352"/>
              </a:lnSpc>
            </a:pPr>
          </a:p>
          <a:p>
            <a:pPr algn="just">
              <a:lnSpc>
                <a:spcPts val="3358"/>
              </a:lnSpc>
            </a:pPr>
            <a:r>
              <a:rPr lang="en-US" sz="1999">
                <a:solidFill>
                  <a:srgbClr val="3D3D3D"/>
                </a:solidFill>
                <a:latin typeface="Roboto"/>
                <a:ea typeface="Roboto"/>
                <a:cs typeface="Roboto"/>
                <a:sym typeface="Roboto"/>
              </a:rPr>
              <a:t>Los protocolos de enrutamiento dinámico actualizan automáticamente las tablas de enrutamiento para reflejar los cambios en la red, mientras que el enrutamiento estático requiere actualizaciones manuales de la tabla de enrutamiento.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005088" y="7107769"/>
            <a:ext cx="4013963" cy="4551917"/>
            <a:chOff x="0" y="0"/>
            <a:chExt cx="5351951" cy="6069223"/>
          </a:xfrm>
        </p:grpSpPr>
        <p:sp>
          <p:nvSpPr>
            <p:cNvPr name="Freeform 3" id="3"/>
            <p:cNvSpPr/>
            <p:nvPr/>
          </p:nvSpPr>
          <p:spPr>
            <a:xfrm flipH="false" flipV="false" rot="0">
              <a:off x="0" y="0"/>
              <a:ext cx="5351907" cy="6069203"/>
            </a:xfrm>
            <a:custGeom>
              <a:avLst/>
              <a:gdLst/>
              <a:ahLst/>
              <a:cxnLst/>
              <a:rect r="r" b="b" t="t" l="l"/>
              <a:pathLst>
                <a:path h="6069203" w="5351907">
                  <a:moveTo>
                    <a:pt x="0" y="0"/>
                  </a:moveTo>
                  <a:lnTo>
                    <a:pt x="5351907" y="0"/>
                  </a:lnTo>
                  <a:lnTo>
                    <a:pt x="5351907" y="6069203"/>
                  </a:lnTo>
                  <a:lnTo>
                    <a:pt x="0" y="6069203"/>
                  </a:lnTo>
                  <a:lnTo>
                    <a:pt x="0" y="0"/>
                  </a:lnTo>
                  <a:close/>
                </a:path>
              </a:pathLst>
            </a:custGeom>
            <a:blipFill>
              <a:blip r:embed="rId3"/>
              <a:stretch>
                <a:fillRect l="-23" t="0" r="-23" b="0"/>
              </a:stretch>
            </a:blipFill>
          </p:spPr>
        </p:sp>
      </p:grpSp>
      <p:grpSp>
        <p:nvGrpSpPr>
          <p:cNvPr name="Group 4" id="4"/>
          <p:cNvGrpSpPr/>
          <p:nvPr/>
        </p:nvGrpSpPr>
        <p:grpSpPr>
          <a:xfrm rot="0">
            <a:off x="17005088" y="2916773"/>
            <a:ext cx="4324667" cy="4190996"/>
            <a:chOff x="0" y="0"/>
            <a:chExt cx="5766223" cy="5587995"/>
          </a:xfrm>
        </p:grpSpPr>
        <p:sp>
          <p:nvSpPr>
            <p:cNvPr name="Freeform 5" id="5"/>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4"/>
              <a:stretch>
                <a:fillRect l="0" t="-7" r="0" b="-7"/>
              </a:stretch>
            </a:blipFill>
          </p:spPr>
        </p:sp>
      </p:grpSp>
      <p:grpSp>
        <p:nvGrpSpPr>
          <p:cNvPr name="Group 6" id="6"/>
          <p:cNvGrpSpPr/>
          <p:nvPr/>
        </p:nvGrpSpPr>
        <p:grpSpPr>
          <a:xfrm rot="-7876794">
            <a:off x="17325809" y="-495334"/>
            <a:ext cx="3683224" cy="3522502"/>
            <a:chOff x="0" y="0"/>
            <a:chExt cx="4910965" cy="4696669"/>
          </a:xfrm>
        </p:grpSpPr>
        <p:sp>
          <p:nvSpPr>
            <p:cNvPr name="Freeform 7" id="7"/>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5"/>
              <a:stretch>
                <a:fillRect l="-39" t="0" r="-39" b="0"/>
              </a:stretch>
            </a:blipFill>
          </p:spPr>
        </p:sp>
      </p:grpSp>
      <p:sp>
        <p:nvSpPr>
          <p:cNvPr name="TextBox 8" id="8"/>
          <p:cNvSpPr txBox="true"/>
          <p:nvPr/>
        </p:nvSpPr>
        <p:spPr>
          <a:xfrm rot="0">
            <a:off x="1546877" y="1920331"/>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Métodos de selección de ruta</a:t>
            </a:r>
          </a:p>
        </p:txBody>
      </p:sp>
      <p:sp>
        <p:nvSpPr>
          <p:cNvPr name="TextBox 9" id="9"/>
          <p:cNvSpPr txBox="true"/>
          <p:nvPr/>
        </p:nvSpPr>
        <p:spPr>
          <a:xfrm rot="0">
            <a:off x="1546877" y="3659445"/>
            <a:ext cx="14735669" cy="3997325"/>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Existen varios métodos que los dispositivos de red utilizan para seleccionar la ruta óptima a través de la red. Estos métodos incluyen:</a:t>
            </a:r>
          </a:p>
          <a:p>
            <a:pPr algn="just">
              <a:lnSpc>
                <a:spcPts val="2352"/>
              </a:lnSpc>
            </a:pPr>
          </a:p>
          <a:p>
            <a:pPr algn="just" marL="457079" indent="-152360" lvl="2">
              <a:lnSpc>
                <a:spcPts val="3358"/>
              </a:lnSpc>
              <a:buFont typeface="Arial"/>
              <a:buChar char="⚬"/>
            </a:pPr>
            <a:r>
              <a:rPr lang="en-US" b="true" sz="1999">
                <a:solidFill>
                  <a:srgbClr val="3D3D3D"/>
                </a:solidFill>
                <a:latin typeface="Roboto Bold"/>
                <a:ea typeface="Roboto Bold"/>
                <a:cs typeface="Roboto Bold"/>
                <a:sym typeface="Roboto Bold"/>
              </a:rPr>
              <a:t>Métrica</a:t>
            </a:r>
            <a:r>
              <a:rPr lang="en-US" sz="1999">
                <a:solidFill>
                  <a:srgbClr val="3D3D3D"/>
                </a:solidFill>
                <a:latin typeface="Roboto"/>
                <a:ea typeface="Roboto"/>
                <a:cs typeface="Roboto"/>
                <a:sym typeface="Roboto"/>
              </a:rPr>
              <a:t>: La métrica es un valor numérico utilizado para representar el costo de una ruta. Los dispositivos de red utilizan la métrica para seleccionar la ruta con el menor costo, que es generalmente la ruta más corta y rápida a través de la red.</a:t>
            </a:r>
          </a:p>
          <a:p>
            <a:pPr algn="just" marL="320116" indent="-106705" lvl="2">
              <a:lnSpc>
                <a:spcPts val="2352"/>
              </a:lnSpc>
            </a:pPr>
          </a:p>
          <a:p>
            <a:pPr algn="just" marL="457079" indent="-152360" lvl="2">
              <a:lnSpc>
                <a:spcPts val="3358"/>
              </a:lnSpc>
              <a:buFont typeface="Arial"/>
              <a:buChar char="⚬"/>
            </a:pPr>
            <a:r>
              <a:rPr lang="en-US" b="true" sz="1999">
                <a:solidFill>
                  <a:srgbClr val="3D3D3D"/>
                </a:solidFill>
                <a:latin typeface="Roboto Bold"/>
                <a:ea typeface="Roboto Bold"/>
                <a:cs typeface="Roboto Bold"/>
                <a:sym typeface="Roboto Bold"/>
              </a:rPr>
              <a:t>Longitud del prefijo</a:t>
            </a:r>
            <a:r>
              <a:rPr lang="en-US" sz="1999">
                <a:solidFill>
                  <a:srgbClr val="3D3D3D"/>
                </a:solidFill>
                <a:latin typeface="Roboto"/>
                <a:ea typeface="Roboto"/>
                <a:cs typeface="Roboto"/>
                <a:sym typeface="Roboto"/>
              </a:rPr>
              <a:t>: La longitud del prefijo se refiere a la cantidad de bits en una dirección IP que se utilizan para identificar la red. Los dispositivos de red utilizan la longitud del prefijo para seleccionar la ruta que coincide con la dirección IP de destino con el prefijo más largo. Esto asegura que el paquete de datos se envíe a la red correcta.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005088" y="7107769"/>
            <a:ext cx="4013963" cy="4551917"/>
            <a:chOff x="0" y="0"/>
            <a:chExt cx="5351951" cy="6069223"/>
          </a:xfrm>
        </p:grpSpPr>
        <p:sp>
          <p:nvSpPr>
            <p:cNvPr name="Freeform 3" id="3"/>
            <p:cNvSpPr/>
            <p:nvPr/>
          </p:nvSpPr>
          <p:spPr>
            <a:xfrm flipH="false" flipV="false" rot="0">
              <a:off x="0" y="0"/>
              <a:ext cx="5351907" cy="6069203"/>
            </a:xfrm>
            <a:custGeom>
              <a:avLst/>
              <a:gdLst/>
              <a:ahLst/>
              <a:cxnLst/>
              <a:rect r="r" b="b" t="t" l="l"/>
              <a:pathLst>
                <a:path h="6069203" w="5351907">
                  <a:moveTo>
                    <a:pt x="0" y="0"/>
                  </a:moveTo>
                  <a:lnTo>
                    <a:pt x="5351907" y="0"/>
                  </a:lnTo>
                  <a:lnTo>
                    <a:pt x="5351907" y="6069203"/>
                  </a:lnTo>
                  <a:lnTo>
                    <a:pt x="0" y="6069203"/>
                  </a:lnTo>
                  <a:lnTo>
                    <a:pt x="0" y="0"/>
                  </a:lnTo>
                  <a:close/>
                </a:path>
              </a:pathLst>
            </a:custGeom>
            <a:blipFill>
              <a:blip r:embed="rId3"/>
              <a:stretch>
                <a:fillRect l="-23" t="0" r="-23" b="0"/>
              </a:stretch>
            </a:blipFill>
          </p:spPr>
        </p:sp>
      </p:grpSp>
      <p:grpSp>
        <p:nvGrpSpPr>
          <p:cNvPr name="Group 4" id="4"/>
          <p:cNvGrpSpPr/>
          <p:nvPr/>
        </p:nvGrpSpPr>
        <p:grpSpPr>
          <a:xfrm rot="0">
            <a:off x="17005088" y="2916773"/>
            <a:ext cx="4324667" cy="4190996"/>
            <a:chOff x="0" y="0"/>
            <a:chExt cx="5766223" cy="5587995"/>
          </a:xfrm>
        </p:grpSpPr>
        <p:sp>
          <p:nvSpPr>
            <p:cNvPr name="Freeform 5" id="5"/>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4"/>
              <a:stretch>
                <a:fillRect l="0" t="-7" r="0" b="-7"/>
              </a:stretch>
            </a:blipFill>
          </p:spPr>
        </p:sp>
      </p:grpSp>
      <p:grpSp>
        <p:nvGrpSpPr>
          <p:cNvPr name="Group 6" id="6"/>
          <p:cNvGrpSpPr/>
          <p:nvPr/>
        </p:nvGrpSpPr>
        <p:grpSpPr>
          <a:xfrm rot="-7876794">
            <a:off x="17325809" y="-495334"/>
            <a:ext cx="3683224" cy="3522502"/>
            <a:chOff x="0" y="0"/>
            <a:chExt cx="4910965" cy="4696669"/>
          </a:xfrm>
        </p:grpSpPr>
        <p:sp>
          <p:nvSpPr>
            <p:cNvPr name="Freeform 7" id="7"/>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5"/>
              <a:stretch>
                <a:fillRect l="-39" t="0" r="-39" b="0"/>
              </a:stretch>
            </a:blipFill>
          </p:spPr>
        </p:sp>
      </p:grpSp>
      <p:sp>
        <p:nvSpPr>
          <p:cNvPr name="TextBox 8" id="8"/>
          <p:cNvSpPr txBox="true"/>
          <p:nvPr/>
        </p:nvSpPr>
        <p:spPr>
          <a:xfrm rot="0">
            <a:off x="1546877" y="1920331"/>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Métodos de selección de ruta</a:t>
            </a:r>
          </a:p>
        </p:txBody>
      </p:sp>
      <p:sp>
        <p:nvSpPr>
          <p:cNvPr name="TextBox 9" id="9"/>
          <p:cNvSpPr txBox="true"/>
          <p:nvPr/>
        </p:nvSpPr>
        <p:spPr>
          <a:xfrm rot="0">
            <a:off x="1546877" y="3773487"/>
            <a:ext cx="14735669" cy="2587625"/>
          </a:xfrm>
          <a:prstGeom prst="rect">
            <a:avLst/>
          </a:prstGeom>
        </p:spPr>
        <p:txBody>
          <a:bodyPr anchor="t" rtlCol="false" tIns="0" lIns="0" bIns="0" rIns="0">
            <a:spAutoFit/>
          </a:bodyPr>
          <a:lstStyle/>
          <a:p>
            <a:pPr algn="just" marL="457079" indent="-152360" lvl="2">
              <a:lnSpc>
                <a:spcPts val="3358"/>
              </a:lnSpc>
              <a:buFont typeface="Arial"/>
              <a:buChar char="⚬"/>
            </a:pPr>
            <a:r>
              <a:rPr lang="en-US" b="true" sz="1999">
                <a:solidFill>
                  <a:srgbClr val="3D3D3D"/>
                </a:solidFill>
                <a:latin typeface="Roboto Bold"/>
                <a:ea typeface="Roboto Bold"/>
                <a:cs typeface="Roboto Bold"/>
                <a:sym typeface="Roboto Bold"/>
              </a:rPr>
              <a:t>Ancho de banda</a:t>
            </a:r>
            <a:r>
              <a:rPr lang="en-US" sz="1999">
                <a:solidFill>
                  <a:srgbClr val="3D3D3D"/>
                </a:solidFill>
                <a:latin typeface="Roboto"/>
                <a:ea typeface="Roboto"/>
                <a:cs typeface="Roboto"/>
                <a:sym typeface="Roboto"/>
              </a:rPr>
              <a:t>: El ancho de banda se refiere a la cantidad de datos que se pueden transmitir a través de una conexión en un período de tiempo determinado. Los dispositivos de red pueden utilizar el ancho de banda para seleccionar la ruta con el ancho de banda más alto, lo que garantiza una conexión más rápida y confiable.</a:t>
            </a:r>
          </a:p>
          <a:p>
            <a:pPr algn="just" marL="320116" indent="-106705" lvl="2">
              <a:lnSpc>
                <a:spcPts val="2352"/>
              </a:lnSpc>
            </a:pPr>
          </a:p>
          <a:p>
            <a:pPr algn="just" marL="457079" indent="-152360" lvl="2">
              <a:lnSpc>
                <a:spcPts val="3358"/>
              </a:lnSpc>
              <a:buFont typeface="Arial"/>
              <a:buChar char="⚬"/>
            </a:pPr>
            <a:r>
              <a:rPr lang="en-US" b="true" sz="1999">
                <a:solidFill>
                  <a:srgbClr val="3D3D3D"/>
                </a:solidFill>
                <a:latin typeface="Roboto Bold"/>
                <a:ea typeface="Roboto Bold"/>
                <a:cs typeface="Roboto Bold"/>
                <a:sym typeface="Roboto Bold"/>
              </a:rPr>
              <a:t>Latencia</a:t>
            </a:r>
            <a:r>
              <a:rPr lang="en-US" sz="1999">
                <a:solidFill>
                  <a:srgbClr val="3D3D3D"/>
                </a:solidFill>
                <a:latin typeface="Roboto"/>
                <a:ea typeface="Roboto"/>
                <a:cs typeface="Roboto"/>
                <a:sym typeface="Roboto"/>
              </a:rPr>
              <a:t>: La latencia se refiere al tiempo que tarda un paquete de datos en viajar de un dispositivo a otro a través de la red. Los dispositivos de red pueden utilizar la latencia para seleccionar la ruta con la latencia más baja, lo que garantiza una conexión más rápida y confiable.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5400000">
            <a:off x="13923461" y="8609526"/>
            <a:ext cx="5821707" cy="6391096"/>
            <a:chOff x="0" y="0"/>
            <a:chExt cx="7762276" cy="8521461"/>
          </a:xfrm>
        </p:grpSpPr>
        <p:sp>
          <p:nvSpPr>
            <p:cNvPr name="Freeform 3" id="3"/>
            <p:cNvSpPr/>
            <p:nvPr/>
          </p:nvSpPr>
          <p:spPr>
            <a:xfrm flipH="false" flipV="false" rot="0">
              <a:off x="0" y="0"/>
              <a:ext cx="7762240" cy="8521446"/>
            </a:xfrm>
            <a:custGeom>
              <a:avLst/>
              <a:gdLst/>
              <a:ahLst/>
              <a:cxnLst/>
              <a:rect r="r" b="b" t="t" l="l"/>
              <a:pathLst>
                <a:path h="8521446" w="7762240">
                  <a:moveTo>
                    <a:pt x="0" y="0"/>
                  </a:moveTo>
                  <a:lnTo>
                    <a:pt x="7762240" y="0"/>
                  </a:lnTo>
                  <a:lnTo>
                    <a:pt x="7762240" y="8521446"/>
                  </a:lnTo>
                  <a:lnTo>
                    <a:pt x="0" y="8521446"/>
                  </a:lnTo>
                  <a:lnTo>
                    <a:pt x="0" y="0"/>
                  </a:lnTo>
                  <a:close/>
                </a:path>
              </a:pathLst>
            </a:custGeom>
            <a:blipFill>
              <a:blip r:embed="rId3"/>
              <a:stretch>
                <a:fillRect l="-61" t="0" r="-62" b="0"/>
              </a:stretch>
            </a:blipFill>
          </p:spPr>
        </p:sp>
      </p:grpSp>
      <p:grpSp>
        <p:nvGrpSpPr>
          <p:cNvPr name="Group 4" id="4"/>
          <p:cNvGrpSpPr/>
          <p:nvPr/>
        </p:nvGrpSpPr>
        <p:grpSpPr>
          <a:xfrm rot="5400000">
            <a:off x="6635474" y="-3409270"/>
            <a:ext cx="4320016" cy="4742532"/>
            <a:chOff x="0" y="0"/>
            <a:chExt cx="5760021" cy="6323376"/>
          </a:xfrm>
        </p:grpSpPr>
        <p:sp>
          <p:nvSpPr>
            <p:cNvPr name="Freeform 5" id="5"/>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4"/>
              <a:stretch>
                <a:fillRect l="-61" t="0" r="-63" b="0"/>
              </a:stretch>
            </a:blipFill>
          </p:spPr>
        </p:sp>
      </p:grpSp>
      <p:grpSp>
        <p:nvGrpSpPr>
          <p:cNvPr name="Group 6" id="6"/>
          <p:cNvGrpSpPr/>
          <p:nvPr/>
        </p:nvGrpSpPr>
        <p:grpSpPr>
          <a:xfrm rot="0">
            <a:off x="14068478" y="-441245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sp>
        <p:nvSpPr>
          <p:cNvPr name="TextBox 8" id="8"/>
          <p:cNvSpPr txBox="true"/>
          <p:nvPr/>
        </p:nvSpPr>
        <p:spPr>
          <a:xfrm rot="0">
            <a:off x="1546877" y="1920331"/>
            <a:ext cx="13971568" cy="9964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Seguridad de enrutamiento</a:t>
            </a:r>
          </a:p>
        </p:txBody>
      </p:sp>
      <p:sp>
        <p:nvSpPr>
          <p:cNvPr name="TextBox 9" id="9"/>
          <p:cNvSpPr txBox="true"/>
          <p:nvPr/>
        </p:nvSpPr>
        <p:spPr>
          <a:xfrm rot="0">
            <a:off x="1546877" y="3659445"/>
            <a:ext cx="14735669" cy="5035550"/>
          </a:xfrm>
          <a:prstGeom prst="rect">
            <a:avLst/>
          </a:prstGeom>
        </p:spPr>
        <p:txBody>
          <a:bodyPr anchor="t" rtlCol="false" tIns="0" lIns="0" bIns="0" rIns="0">
            <a:spAutoFit/>
          </a:bodyPr>
          <a:lstStyle/>
          <a:p>
            <a:pPr algn="just">
              <a:lnSpc>
                <a:spcPts val="3358"/>
              </a:lnSpc>
            </a:pPr>
            <a:r>
              <a:rPr lang="en-US" sz="1999">
                <a:solidFill>
                  <a:srgbClr val="3D3D3D"/>
                </a:solidFill>
                <a:latin typeface="Roboto"/>
                <a:ea typeface="Roboto"/>
                <a:cs typeface="Roboto"/>
                <a:sym typeface="Roboto"/>
              </a:rPr>
              <a:t>La seguridad en enrutamiento se refiere a las medidas que se toman para proteger los protocolos y las tablas de enrutamiento de una red contra amenazas externas o internas.</a:t>
            </a:r>
          </a:p>
          <a:p>
            <a:pPr algn="just">
              <a:lnSpc>
                <a:spcPts val="2352"/>
              </a:lnSpc>
            </a:pPr>
          </a:p>
          <a:p>
            <a:pPr algn="just">
              <a:lnSpc>
                <a:spcPts val="3358"/>
              </a:lnSpc>
            </a:pPr>
            <a:r>
              <a:rPr lang="en-US" sz="1999">
                <a:solidFill>
                  <a:srgbClr val="3D3D3D"/>
                </a:solidFill>
                <a:latin typeface="Roboto"/>
                <a:ea typeface="Roboto"/>
                <a:cs typeface="Roboto"/>
                <a:sym typeface="Roboto"/>
              </a:rPr>
              <a:t>Una de las principales amenazas a la seguridad del enrutamiento es el envenenamiento de la tabla de enrutamiento. Esto ocurre cuando un atacante modifica la información de enrutamiento para que los paquetes sean enviados a un destino diferente al que se pretende.</a:t>
            </a:r>
          </a:p>
          <a:p>
            <a:pPr algn="just">
              <a:lnSpc>
                <a:spcPts val="2352"/>
              </a:lnSpc>
            </a:pPr>
          </a:p>
          <a:p>
            <a:pPr algn="just">
              <a:lnSpc>
                <a:spcPts val="3358"/>
              </a:lnSpc>
            </a:pPr>
            <a:r>
              <a:rPr lang="en-US" sz="1999">
                <a:solidFill>
                  <a:srgbClr val="3D3D3D"/>
                </a:solidFill>
                <a:latin typeface="Roboto"/>
                <a:ea typeface="Roboto"/>
                <a:cs typeface="Roboto"/>
                <a:sym typeface="Roboto"/>
              </a:rPr>
              <a:t>Otro tipo de amenaza a la seguridad del enrutamiento es el ataque de denegación de servicio (DoS). Esto ocurre cuando un atacante sobrecarga el router con tráfico falso o inútil, lo que impide que el router procese y enrute paquetes legítimos.</a:t>
            </a:r>
          </a:p>
          <a:p>
            <a:pPr algn="just">
              <a:lnSpc>
                <a:spcPts val="2352"/>
              </a:lnSpc>
            </a:pPr>
          </a:p>
          <a:p>
            <a:pPr algn="just">
              <a:lnSpc>
                <a:spcPts val="3358"/>
              </a:lnSpc>
            </a:pPr>
            <a:r>
              <a:rPr lang="en-US" sz="1999">
                <a:solidFill>
                  <a:srgbClr val="3D3D3D"/>
                </a:solidFill>
                <a:latin typeface="Roboto"/>
                <a:ea typeface="Roboto"/>
                <a:cs typeface="Roboto"/>
                <a:sym typeface="Roboto"/>
              </a:rPr>
              <a:t>Es importante implementar medidas de seguridad en el enrutamiento para proteger la red contra posibles amenazas. Algunas de las medidas más comunes incluyen el uso de autenticación y cifrado, la limitación de accesos y la actualización constante de los protocolos y software de enrutamiento para prevenir vulnerabilidades.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39163" y="-1066798"/>
            <a:ext cx="4324667" cy="4190996"/>
            <a:chOff x="0" y="0"/>
            <a:chExt cx="5766223" cy="5587995"/>
          </a:xfrm>
        </p:grpSpPr>
        <p:sp>
          <p:nvSpPr>
            <p:cNvPr name="Freeform 3" id="3"/>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3"/>
              <a:stretch>
                <a:fillRect l="0" t="-7" r="0" b="-7"/>
              </a:stretch>
            </a:blipFill>
          </p:spPr>
        </p:sp>
      </p:grpSp>
      <p:grpSp>
        <p:nvGrpSpPr>
          <p:cNvPr name="Group 4" id="4"/>
          <p:cNvGrpSpPr/>
          <p:nvPr/>
        </p:nvGrpSpPr>
        <p:grpSpPr>
          <a:xfrm rot="0">
            <a:off x="-243455" y="7834535"/>
            <a:ext cx="3699265" cy="4195043"/>
            <a:chOff x="0" y="0"/>
            <a:chExt cx="4932353" cy="5593391"/>
          </a:xfrm>
        </p:grpSpPr>
        <p:sp>
          <p:nvSpPr>
            <p:cNvPr name="Freeform 5" id="5"/>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4"/>
              <a:stretch>
                <a:fillRect l="-23" t="0" r="-24" b="-1"/>
              </a:stretch>
            </a:blipFill>
          </p:spPr>
        </p:sp>
      </p:grpSp>
      <p:grpSp>
        <p:nvGrpSpPr>
          <p:cNvPr name="Group 6" id="6"/>
          <p:cNvGrpSpPr/>
          <p:nvPr/>
        </p:nvGrpSpPr>
        <p:grpSpPr>
          <a:xfrm rot="0">
            <a:off x="12819671" y="911481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16969726" y="137189"/>
            <a:ext cx="3200658" cy="5239172"/>
            <a:chOff x="0" y="0"/>
            <a:chExt cx="4267544" cy="6985563"/>
          </a:xfrm>
        </p:grpSpPr>
        <p:sp>
          <p:nvSpPr>
            <p:cNvPr name="Freeform 9" id="9"/>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6"/>
              <a:stretch>
                <a:fillRect l="-130" t="0" r="-129" b="0"/>
              </a:stretch>
            </a:blipFill>
          </p:spPr>
        </p:sp>
      </p:grpSp>
      <p:sp>
        <p:nvSpPr>
          <p:cNvPr name="TextBox 10" id="10"/>
          <p:cNvSpPr txBox="true"/>
          <p:nvPr/>
        </p:nvSpPr>
        <p:spPr>
          <a:xfrm rot="0">
            <a:off x="1471348" y="4177402"/>
            <a:ext cx="6129197" cy="18727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Conceptos Clave Aprendidos</a:t>
            </a:r>
          </a:p>
        </p:txBody>
      </p:sp>
      <p:sp>
        <p:nvSpPr>
          <p:cNvPr name="TextBox 11" id="11"/>
          <p:cNvSpPr txBox="true"/>
          <p:nvPr/>
        </p:nvSpPr>
        <p:spPr>
          <a:xfrm rot="0">
            <a:off x="6006777" y="948508"/>
            <a:ext cx="10782737" cy="8589007"/>
          </a:xfrm>
          <a:prstGeom prst="rect">
            <a:avLst/>
          </a:prstGeom>
        </p:spPr>
        <p:txBody>
          <a:bodyPr anchor="t" rtlCol="false" tIns="0" lIns="0" bIns="0" rIns="0">
            <a:spAutoFit/>
          </a:bodyPr>
          <a:lstStyle/>
          <a:p>
            <a:pPr algn="l">
              <a:lnSpc>
                <a:spcPts val="5738"/>
              </a:lnSpc>
            </a:pPr>
            <a:r>
              <a:rPr lang="en-US" sz="2391">
                <a:solidFill>
                  <a:srgbClr val="000000"/>
                </a:solidFill>
                <a:latin typeface="Nunito"/>
                <a:ea typeface="Nunito"/>
                <a:cs typeface="Nunito"/>
                <a:sym typeface="Nunito"/>
              </a:rPr>
              <a:t>🔹 </a:t>
            </a:r>
            <a:r>
              <a:rPr lang="en-US" sz="2391" b="true">
                <a:solidFill>
                  <a:srgbClr val="000000"/>
                </a:solidFill>
                <a:latin typeface="Nunito Bold"/>
                <a:ea typeface="Nunito Bold"/>
                <a:cs typeface="Nunito Bold"/>
                <a:sym typeface="Nunito Bold"/>
              </a:rPr>
              <a:t>Enrutamiento:</a:t>
            </a:r>
          </a:p>
          <a:p>
            <a:pPr algn="l">
              <a:lnSpc>
                <a:spcPts val="5738"/>
              </a:lnSpc>
            </a:pPr>
            <a:r>
              <a:rPr lang="en-US" sz="2391">
                <a:solidFill>
                  <a:srgbClr val="000000"/>
                </a:solidFill>
                <a:latin typeface="Nunito"/>
                <a:ea typeface="Nunito"/>
                <a:cs typeface="Nunito"/>
                <a:sym typeface="Nunito"/>
              </a:rPr>
              <a:t> Proceso mediante el cual un router selecciona el mejor camino para enviar paquetes hacia una red destino, ya sea de forma estática (manual) o dinámica (automática).</a:t>
            </a:r>
          </a:p>
          <a:p>
            <a:pPr algn="l">
              <a:lnSpc>
                <a:spcPts val="5738"/>
              </a:lnSpc>
            </a:pPr>
            <a:r>
              <a:rPr lang="en-US" sz="2391">
                <a:solidFill>
                  <a:srgbClr val="000000"/>
                </a:solidFill>
                <a:latin typeface="Nunito"/>
                <a:ea typeface="Nunito"/>
                <a:cs typeface="Nunito"/>
                <a:sym typeface="Nunito"/>
              </a:rPr>
              <a:t>🔹 </a:t>
            </a:r>
            <a:r>
              <a:rPr lang="en-US" sz="2391" b="true">
                <a:solidFill>
                  <a:srgbClr val="000000"/>
                </a:solidFill>
                <a:latin typeface="Nunito Bold"/>
                <a:ea typeface="Nunito Bold"/>
                <a:cs typeface="Nunito Bold"/>
                <a:sym typeface="Nunito Bold"/>
              </a:rPr>
              <a:t>Tabla de enrutamiento:</a:t>
            </a:r>
          </a:p>
          <a:p>
            <a:pPr algn="l">
              <a:lnSpc>
                <a:spcPts val="5738"/>
              </a:lnSpc>
            </a:pPr>
            <a:r>
              <a:rPr lang="en-US" sz="2391">
                <a:solidFill>
                  <a:srgbClr val="000000"/>
                </a:solidFill>
                <a:latin typeface="Nunito"/>
                <a:ea typeface="Nunito"/>
                <a:cs typeface="Nunito"/>
                <a:sym typeface="Nunito"/>
              </a:rPr>
              <a:t> Base de datos interna del router que contiene rutas hacia diferentes redes. Indica por dónde deben enviarse los paquetes para alcanzar cada destino.</a:t>
            </a:r>
          </a:p>
          <a:p>
            <a:pPr algn="l">
              <a:lnSpc>
                <a:spcPts val="5738"/>
              </a:lnSpc>
            </a:pPr>
            <a:r>
              <a:rPr lang="en-US" sz="2391">
                <a:solidFill>
                  <a:srgbClr val="000000"/>
                </a:solidFill>
                <a:latin typeface="Nunito"/>
                <a:ea typeface="Nunito"/>
                <a:cs typeface="Nunito"/>
                <a:sym typeface="Nunito"/>
              </a:rPr>
              <a:t>🔹 </a:t>
            </a:r>
            <a:r>
              <a:rPr lang="en-US" sz="2391" b="true">
                <a:solidFill>
                  <a:srgbClr val="000000"/>
                </a:solidFill>
                <a:latin typeface="Nunito Bold"/>
                <a:ea typeface="Nunito Bold"/>
                <a:cs typeface="Nunito Bold"/>
                <a:sym typeface="Nunito Bold"/>
              </a:rPr>
              <a:t>Ruta estática:</a:t>
            </a:r>
          </a:p>
          <a:p>
            <a:pPr algn="l">
              <a:lnSpc>
                <a:spcPts val="5738"/>
              </a:lnSpc>
            </a:pPr>
            <a:r>
              <a:rPr lang="en-US" sz="2391">
                <a:solidFill>
                  <a:srgbClr val="000000"/>
                </a:solidFill>
                <a:latin typeface="Nunito"/>
                <a:ea typeface="Nunito"/>
                <a:cs typeface="Nunito"/>
                <a:sym typeface="Nunito"/>
              </a:rPr>
              <a:t> Ruta configurada manualmente por un administrador de red para indicar el camino que debe seguir un paquete hacia una red que no está directamente conectada al router.</a:t>
            </a:r>
          </a:p>
          <a:p>
            <a:pPr algn="l">
              <a:lnSpc>
                <a:spcPts val="574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39163" y="-1066798"/>
            <a:ext cx="4324667" cy="4190996"/>
            <a:chOff x="0" y="0"/>
            <a:chExt cx="5766223" cy="5587995"/>
          </a:xfrm>
        </p:grpSpPr>
        <p:sp>
          <p:nvSpPr>
            <p:cNvPr name="Freeform 3" id="3"/>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3"/>
              <a:stretch>
                <a:fillRect l="0" t="-7" r="0" b="-7"/>
              </a:stretch>
            </a:blipFill>
          </p:spPr>
        </p:sp>
      </p:grpSp>
      <p:grpSp>
        <p:nvGrpSpPr>
          <p:cNvPr name="Group 4" id="4"/>
          <p:cNvGrpSpPr/>
          <p:nvPr/>
        </p:nvGrpSpPr>
        <p:grpSpPr>
          <a:xfrm rot="0">
            <a:off x="-243455" y="7834535"/>
            <a:ext cx="3699265" cy="4195043"/>
            <a:chOff x="0" y="0"/>
            <a:chExt cx="4932353" cy="5593391"/>
          </a:xfrm>
        </p:grpSpPr>
        <p:sp>
          <p:nvSpPr>
            <p:cNvPr name="Freeform 5" id="5"/>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4"/>
              <a:stretch>
                <a:fillRect l="-23" t="0" r="-24" b="-1"/>
              </a:stretch>
            </a:blipFill>
          </p:spPr>
        </p:sp>
      </p:grpSp>
      <p:grpSp>
        <p:nvGrpSpPr>
          <p:cNvPr name="Group 6" id="6"/>
          <p:cNvGrpSpPr/>
          <p:nvPr/>
        </p:nvGrpSpPr>
        <p:grpSpPr>
          <a:xfrm rot="0">
            <a:off x="12819671" y="911481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16969726" y="137189"/>
            <a:ext cx="3200658" cy="5239172"/>
            <a:chOff x="0" y="0"/>
            <a:chExt cx="4267544" cy="6985563"/>
          </a:xfrm>
        </p:grpSpPr>
        <p:sp>
          <p:nvSpPr>
            <p:cNvPr name="Freeform 9" id="9"/>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6"/>
              <a:stretch>
                <a:fillRect l="-130" t="0" r="-129" b="0"/>
              </a:stretch>
            </a:blipFill>
          </p:spPr>
        </p:sp>
      </p:grpSp>
      <p:sp>
        <p:nvSpPr>
          <p:cNvPr name="TextBox 10" id="10"/>
          <p:cNvSpPr txBox="true"/>
          <p:nvPr/>
        </p:nvSpPr>
        <p:spPr>
          <a:xfrm rot="0">
            <a:off x="1471348" y="4177402"/>
            <a:ext cx="6129197" cy="1872742"/>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Conceptos Clave Aprendidos</a:t>
            </a:r>
          </a:p>
        </p:txBody>
      </p:sp>
      <p:sp>
        <p:nvSpPr>
          <p:cNvPr name="TextBox 11" id="11"/>
          <p:cNvSpPr txBox="true"/>
          <p:nvPr/>
        </p:nvSpPr>
        <p:spPr>
          <a:xfrm rot="0">
            <a:off x="5979673" y="1244026"/>
            <a:ext cx="11279627" cy="8242100"/>
          </a:xfrm>
          <a:prstGeom prst="rect">
            <a:avLst/>
          </a:prstGeom>
        </p:spPr>
        <p:txBody>
          <a:bodyPr anchor="t" rtlCol="false" tIns="0" lIns="0" bIns="0" rIns="0">
            <a:spAutoFit/>
          </a:bodyPr>
          <a:lstStyle/>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 Next-hop (siguiente salto):</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 Dirección IP del router vecino al que debe enviarse un paquete para que continúe su camino hacia la red destino.</a:t>
            </a:r>
          </a:p>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 Interfaz de salida:</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 Interfaz del router local por la cual debe salir un paquete para alcanzar su destino, ya sea directamente o pasando por un next-hop.</a:t>
            </a:r>
          </a:p>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 Recursividad de rutas:</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 Proceso mediante el cual el router resuelve una ruta estática usando otra ruta existente en la tabla. Es decir, busca cómo llegar al next-hop utilizando una ruta conectada.</a:t>
            </a:r>
          </a:p>
          <a:p>
            <a:pPr algn="l" marL="540012" indent="-180004" lvl="2">
              <a:lnSpc>
                <a:spcPts val="6004"/>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39163" y="-1066798"/>
            <a:ext cx="4324667" cy="4190996"/>
            <a:chOff x="0" y="0"/>
            <a:chExt cx="5766223" cy="5587995"/>
          </a:xfrm>
        </p:grpSpPr>
        <p:sp>
          <p:nvSpPr>
            <p:cNvPr name="Freeform 3" id="3"/>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3"/>
              <a:stretch>
                <a:fillRect l="0" t="-7" r="0" b="-7"/>
              </a:stretch>
            </a:blipFill>
          </p:spPr>
        </p:sp>
      </p:grpSp>
      <p:grpSp>
        <p:nvGrpSpPr>
          <p:cNvPr name="Group 4" id="4"/>
          <p:cNvGrpSpPr/>
          <p:nvPr/>
        </p:nvGrpSpPr>
        <p:grpSpPr>
          <a:xfrm rot="0">
            <a:off x="-243455" y="7834535"/>
            <a:ext cx="3699265" cy="4195043"/>
            <a:chOff x="0" y="0"/>
            <a:chExt cx="4932353" cy="5593391"/>
          </a:xfrm>
        </p:grpSpPr>
        <p:sp>
          <p:nvSpPr>
            <p:cNvPr name="Freeform 5" id="5"/>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4"/>
              <a:stretch>
                <a:fillRect l="-23" t="0" r="-24" b="-1"/>
              </a:stretch>
            </a:blipFill>
          </p:spPr>
        </p:sp>
      </p:grpSp>
      <p:grpSp>
        <p:nvGrpSpPr>
          <p:cNvPr name="Group 6" id="6"/>
          <p:cNvGrpSpPr/>
          <p:nvPr/>
        </p:nvGrpSpPr>
        <p:grpSpPr>
          <a:xfrm rot="0">
            <a:off x="12819671" y="911481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16969726" y="137189"/>
            <a:ext cx="3200658" cy="5239172"/>
            <a:chOff x="0" y="0"/>
            <a:chExt cx="4267544" cy="6985563"/>
          </a:xfrm>
        </p:grpSpPr>
        <p:sp>
          <p:nvSpPr>
            <p:cNvPr name="Freeform 9" id="9"/>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6"/>
              <a:stretch>
                <a:fillRect l="-130" t="0" r="-129" b="0"/>
              </a:stretch>
            </a:blipFill>
          </p:spPr>
        </p:sp>
      </p:grpSp>
      <p:sp>
        <p:nvSpPr>
          <p:cNvPr name="TextBox 10" id="10"/>
          <p:cNvSpPr txBox="true"/>
          <p:nvPr/>
        </p:nvSpPr>
        <p:spPr>
          <a:xfrm rot="0">
            <a:off x="1471348" y="4177402"/>
            <a:ext cx="6129197" cy="2096414"/>
          </a:xfrm>
          <a:prstGeom prst="rect">
            <a:avLst/>
          </a:prstGeom>
        </p:spPr>
        <p:txBody>
          <a:bodyPr anchor="t" rtlCol="false" tIns="0" lIns="0" bIns="0" rIns="0">
            <a:spAutoFit/>
          </a:bodyPr>
          <a:lstStyle/>
          <a:p>
            <a:pPr algn="l">
              <a:lnSpc>
                <a:spcPts val="8332"/>
              </a:lnSpc>
            </a:pPr>
            <a:r>
              <a:rPr lang="en-US" b="true" sz="6199">
                <a:solidFill>
                  <a:srgbClr val="3D3D3D"/>
                </a:solidFill>
                <a:latin typeface="Roboto Slab Bold"/>
                <a:ea typeface="Roboto Slab Bold"/>
                <a:cs typeface="Roboto Slab Bold"/>
                <a:sym typeface="Roboto Slab Bold"/>
              </a:rPr>
              <a:t>Valores y Actitudes</a:t>
            </a:r>
          </a:p>
        </p:txBody>
      </p:sp>
      <p:sp>
        <p:nvSpPr>
          <p:cNvPr name="TextBox 11" id="11"/>
          <p:cNvSpPr txBox="true"/>
          <p:nvPr/>
        </p:nvSpPr>
        <p:spPr>
          <a:xfrm rot="0">
            <a:off x="5814479" y="1631923"/>
            <a:ext cx="11279627" cy="6727878"/>
          </a:xfrm>
          <a:prstGeom prst="rect">
            <a:avLst/>
          </a:prstGeom>
        </p:spPr>
        <p:txBody>
          <a:bodyPr anchor="t" rtlCol="false" tIns="0" lIns="0" bIns="0" rIns="0">
            <a:spAutoFit/>
          </a:bodyPr>
          <a:lstStyle/>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 Orden:</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 Seguir una lógica al estructurar rutas, usar una nomenclatura clara para redes y evitar redundancias.</a:t>
            </a:r>
          </a:p>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a:t>
            </a:r>
            <a:r>
              <a:rPr lang="en-US" b="true" sz="2501" strike="noStrike" u="none">
                <a:solidFill>
                  <a:srgbClr val="000000"/>
                </a:solidFill>
                <a:latin typeface="Nunito Bold"/>
                <a:ea typeface="Nunito Bold"/>
                <a:cs typeface="Nunito Bold"/>
                <a:sym typeface="Nunito Bold"/>
              </a:rPr>
              <a:t> Responsabilidad:</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 Verificar cuidadosamente cada ruta agregada. Un error mínimo puede dejar sin conexión a toda una red.</a:t>
            </a:r>
          </a:p>
          <a:p>
            <a:pPr algn="l" marL="540012" indent="-180004" lvl="2">
              <a:lnSpc>
                <a:spcPts val="6004"/>
              </a:lnSpc>
              <a:spcBef>
                <a:spcPct val="0"/>
              </a:spcBef>
            </a:pPr>
            <a:r>
              <a:rPr lang="en-US" b="true" sz="2501" strike="noStrike" u="none">
                <a:solidFill>
                  <a:srgbClr val="000000"/>
                </a:solidFill>
                <a:latin typeface="Nunito Bold"/>
                <a:ea typeface="Nunito Bold"/>
                <a:cs typeface="Nunito Bold"/>
                <a:sym typeface="Nunito Bold"/>
              </a:rPr>
              <a:t>🔹 Integridad</a:t>
            </a:r>
            <a:r>
              <a:rPr lang="en-US" b="true" sz="2501" strike="noStrike" u="none">
                <a:solidFill>
                  <a:srgbClr val="000000"/>
                </a:solidFill>
                <a:latin typeface="Nunito Bold"/>
                <a:ea typeface="Nunito Bold"/>
                <a:cs typeface="Nunito Bold"/>
                <a:sym typeface="Nunito Bold"/>
              </a:rPr>
              <a:t>:</a:t>
            </a:r>
          </a:p>
          <a:p>
            <a:pPr algn="l" marL="540012" indent="-180004" lvl="2">
              <a:lnSpc>
                <a:spcPts val="6004"/>
              </a:lnSpc>
              <a:spcBef>
                <a:spcPct val="0"/>
              </a:spcBef>
            </a:pPr>
            <a:r>
              <a:rPr lang="en-US" sz="2501" strike="noStrike" u="none">
                <a:solidFill>
                  <a:srgbClr val="000000"/>
                </a:solidFill>
                <a:latin typeface="Nunito"/>
                <a:ea typeface="Nunito"/>
                <a:cs typeface="Nunito"/>
                <a:sym typeface="Nunito"/>
              </a:rPr>
              <a:t>Configurar con base en el conocimiento aprendido, no copiar sin comprensión. Justificar cada ruta agregada.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54534" y="-1768422"/>
            <a:ext cx="4324667" cy="4190996"/>
            <a:chOff x="0" y="0"/>
            <a:chExt cx="5766223" cy="5587995"/>
          </a:xfrm>
        </p:grpSpPr>
        <p:sp>
          <p:nvSpPr>
            <p:cNvPr name="Freeform 3" id="3"/>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3"/>
              <a:stretch>
                <a:fillRect l="0" t="-7" r="0" b="-7"/>
              </a:stretch>
            </a:blipFill>
          </p:spPr>
        </p:sp>
      </p:grpSp>
      <p:grpSp>
        <p:nvGrpSpPr>
          <p:cNvPr name="Group 4" id="4"/>
          <p:cNvGrpSpPr/>
          <p:nvPr/>
        </p:nvGrpSpPr>
        <p:grpSpPr>
          <a:xfrm rot="0">
            <a:off x="-243455" y="7834535"/>
            <a:ext cx="3699265" cy="4195043"/>
            <a:chOff x="0" y="0"/>
            <a:chExt cx="4932353" cy="5593391"/>
          </a:xfrm>
        </p:grpSpPr>
        <p:sp>
          <p:nvSpPr>
            <p:cNvPr name="Freeform 5" id="5"/>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4"/>
              <a:stretch>
                <a:fillRect l="-23" t="0" r="-24" b="-1"/>
              </a:stretch>
            </a:blipFill>
          </p:spPr>
        </p:sp>
      </p:grpSp>
      <p:grpSp>
        <p:nvGrpSpPr>
          <p:cNvPr name="Group 6" id="6"/>
          <p:cNvGrpSpPr/>
          <p:nvPr/>
        </p:nvGrpSpPr>
        <p:grpSpPr>
          <a:xfrm rot="0">
            <a:off x="12819671" y="911481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17375203" y="0"/>
            <a:ext cx="3200658" cy="5239172"/>
            <a:chOff x="0" y="0"/>
            <a:chExt cx="4267544" cy="6985563"/>
          </a:xfrm>
        </p:grpSpPr>
        <p:sp>
          <p:nvSpPr>
            <p:cNvPr name="Freeform 9" id="9"/>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6"/>
              <a:stretch>
                <a:fillRect l="-130" t="0" r="-129" b="0"/>
              </a:stretch>
            </a:blipFill>
          </p:spPr>
        </p:sp>
      </p:grpSp>
      <p:sp>
        <p:nvSpPr>
          <p:cNvPr name="TextBox 10" id="10"/>
          <p:cNvSpPr txBox="true"/>
          <p:nvPr/>
        </p:nvSpPr>
        <p:spPr>
          <a:xfrm rot="0">
            <a:off x="6942354" y="933450"/>
            <a:ext cx="4403293" cy="1228878"/>
          </a:xfrm>
          <a:prstGeom prst="rect">
            <a:avLst/>
          </a:prstGeom>
        </p:spPr>
        <p:txBody>
          <a:bodyPr anchor="t" rtlCol="false" tIns="0" lIns="0" bIns="0" rIns="0">
            <a:spAutoFit/>
          </a:bodyPr>
          <a:lstStyle/>
          <a:p>
            <a:pPr algn="l">
              <a:lnSpc>
                <a:spcPts val="10007"/>
              </a:lnSpc>
            </a:pPr>
            <a:r>
              <a:rPr lang="en-US" b="true" sz="7446">
                <a:solidFill>
                  <a:srgbClr val="3D3D3D"/>
                </a:solidFill>
                <a:latin typeface="Roboto Slab Bold"/>
                <a:ea typeface="Roboto Slab Bold"/>
                <a:cs typeface="Roboto Slab Bold"/>
                <a:sym typeface="Roboto Slab Bold"/>
              </a:rPr>
              <a:t>Ejemplos</a:t>
            </a:r>
          </a:p>
        </p:txBody>
      </p:sp>
      <p:grpSp>
        <p:nvGrpSpPr>
          <p:cNvPr name="Group 11" id="11"/>
          <p:cNvGrpSpPr/>
          <p:nvPr/>
        </p:nvGrpSpPr>
        <p:grpSpPr>
          <a:xfrm rot="5400000">
            <a:off x="1754552" y="1796470"/>
            <a:ext cx="6271978" cy="6885404"/>
            <a:chOff x="0" y="0"/>
            <a:chExt cx="5760021" cy="6323376"/>
          </a:xfrm>
        </p:grpSpPr>
        <p:sp>
          <p:nvSpPr>
            <p:cNvPr name="Freeform 12" id="12"/>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7"/>
              <a:stretch>
                <a:fillRect l="-61" t="0" r="-63" b="0"/>
              </a:stretch>
            </a:blipFill>
          </p:spPr>
        </p:sp>
      </p:grpSp>
      <p:grpSp>
        <p:nvGrpSpPr>
          <p:cNvPr name="Group 13" id="13"/>
          <p:cNvGrpSpPr/>
          <p:nvPr/>
        </p:nvGrpSpPr>
        <p:grpSpPr>
          <a:xfrm rot="-7064477">
            <a:off x="9781209" y="1271827"/>
            <a:ext cx="6469032" cy="7554072"/>
            <a:chOff x="0" y="0"/>
            <a:chExt cx="4263467" cy="4978571"/>
          </a:xfrm>
        </p:grpSpPr>
        <p:sp>
          <p:nvSpPr>
            <p:cNvPr name="Freeform 14" id="14"/>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8"/>
              <a:stretch>
                <a:fillRect l="-45" t="0" r="-44" b="0"/>
              </a:stretch>
            </a:blipFill>
          </p:spPr>
        </p:sp>
      </p:grpSp>
      <p:sp>
        <p:nvSpPr>
          <p:cNvPr name="TextBox 15" id="15"/>
          <p:cNvSpPr txBox="true"/>
          <p:nvPr/>
        </p:nvSpPr>
        <p:spPr>
          <a:xfrm rot="0">
            <a:off x="2181961" y="3639718"/>
            <a:ext cx="5417158" cy="3528360"/>
          </a:xfrm>
          <a:prstGeom prst="rect">
            <a:avLst/>
          </a:prstGeom>
        </p:spPr>
        <p:txBody>
          <a:bodyPr anchor="t" rtlCol="false" tIns="0" lIns="0" bIns="0" rIns="0">
            <a:spAutoFit/>
          </a:bodyPr>
          <a:lstStyle/>
          <a:p>
            <a:pPr algn="ctr">
              <a:lnSpc>
                <a:spcPts val="4746"/>
              </a:lnSpc>
              <a:spcBef>
                <a:spcPct val="0"/>
              </a:spcBef>
            </a:pPr>
            <a:r>
              <a:rPr lang="en-US" b="true" sz="2471">
                <a:solidFill>
                  <a:srgbClr val="3D3D3D"/>
                </a:solidFill>
                <a:latin typeface="Roboto Bold"/>
                <a:ea typeface="Roboto Bold"/>
                <a:cs typeface="Roboto Bold"/>
                <a:sym typeface="Roboto Bold"/>
              </a:rPr>
              <a:t>Una empresa con múltiples sedes interconectadas por enlaces dedicados. Cada router conoce las redes internas propias y se configuran rutas estáticas hacia las redes de las otras sedes.</a:t>
            </a:r>
          </a:p>
        </p:txBody>
      </p:sp>
      <p:sp>
        <p:nvSpPr>
          <p:cNvPr name="TextBox 16" id="16"/>
          <p:cNvSpPr txBox="true"/>
          <p:nvPr/>
        </p:nvSpPr>
        <p:spPr>
          <a:xfrm rot="0">
            <a:off x="9814592" y="4025559"/>
            <a:ext cx="7213794" cy="2255776"/>
          </a:xfrm>
          <a:prstGeom prst="rect">
            <a:avLst/>
          </a:prstGeom>
        </p:spPr>
        <p:txBody>
          <a:bodyPr anchor="t" rtlCol="false" tIns="0" lIns="0" bIns="0" rIns="0">
            <a:spAutoFit/>
          </a:bodyPr>
          <a:lstStyle/>
          <a:p>
            <a:pPr algn="ctr">
              <a:lnSpc>
                <a:spcPts val="4588"/>
              </a:lnSpc>
              <a:spcBef>
                <a:spcPct val="0"/>
              </a:spcBef>
            </a:pPr>
            <a:r>
              <a:rPr lang="en-US" b="true" sz="2389">
                <a:solidFill>
                  <a:srgbClr val="3D3D3D"/>
                </a:solidFill>
                <a:latin typeface="Roboto Bold"/>
                <a:ea typeface="Roboto Bold"/>
                <a:cs typeface="Roboto Bold"/>
                <a:sym typeface="Roboto Bold"/>
              </a:rPr>
              <a:t>Se pueden crear e</a:t>
            </a:r>
            <a:r>
              <a:rPr lang="en-US" b="true" sz="2389">
                <a:solidFill>
                  <a:srgbClr val="3D3D3D"/>
                </a:solidFill>
                <a:latin typeface="Roboto Bold"/>
                <a:ea typeface="Roboto Bold"/>
                <a:cs typeface="Roboto Bold"/>
                <a:sym typeface="Roboto Bold"/>
              </a:rPr>
              <a:t>nlaces de respaldo o rutas de contingencia que es una ruta estática con mayor métrica o a través de una interfaz secundaria para usarse solo si la principal falla (backup route).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20434" y="-1958309"/>
            <a:ext cx="4324667" cy="4190996"/>
            <a:chOff x="0" y="0"/>
            <a:chExt cx="5766223" cy="5587995"/>
          </a:xfrm>
        </p:grpSpPr>
        <p:sp>
          <p:nvSpPr>
            <p:cNvPr name="Freeform 3" id="3"/>
            <p:cNvSpPr/>
            <p:nvPr/>
          </p:nvSpPr>
          <p:spPr>
            <a:xfrm flipH="false" flipV="false" rot="0">
              <a:off x="0" y="0"/>
              <a:ext cx="5766181" cy="5588000"/>
            </a:xfrm>
            <a:custGeom>
              <a:avLst/>
              <a:gdLst/>
              <a:ahLst/>
              <a:cxnLst/>
              <a:rect r="r" b="b" t="t" l="l"/>
              <a:pathLst>
                <a:path h="5588000" w="5766181">
                  <a:moveTo>
                    <a:pt x="0" y="0"/>
                  </a:moveTo>
                  <a:lnTo>
                    <a:pt x="5766181" y="0"/>
                  </a:lnTo>
                  <a:lnTo>
                    <a:pt x="5766181" y="5588000"/>
                  </a:lnTo>
                  <a:lnTo>
                    <a:pt x="0" y="5588000"/>
                  </a:lnTo>
                  <a:lnTo>
                    <a:pt x="0" y="0"/>
                  </a:lnTo>
                  <a:close/>
                </a:path>
              </a:pathLst>
            </a:custGeom>
            <a:blipFill>
              <a:blip r:embed="rId3"/>
              <a:stretch>
                <a:fillRect l="0" t="-7" r="0" b="-7"/>
              </a:stretch>
            </a:blipFill>
          </p:spPr>
        </p:sp>
      </p:grpSp>
      <p:grpSp>
        <p:nvGrpSpPr>
          <p:cNvPr name="Group 4" id="4"/>
          <p:cNvGrpSpPr/>
          <p:nvPr/>
        </p:nvGrpSpPr>
        <p:grpSpPr>
          <a:xfrm rot="0">
            <a:off x="-243455" y="7834535"/>
            <a:ext cx="3699265" cy="4195043"/>
            <a:chOff x="0" y="0"/>
            <a:chExt cx="4932353" cy="5593391"/>
          </a:xfrm>
        </p:grpSpPr>
        <p:sp>
          <p:nvSpPr>
            <p:cNvPr name="Freeform 5" id="5"/>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4"/>
              <a:stretch>
                <a:fillRect l="-23" t="0" r="-24" b="-1"/>
              </a:stretch>
            </a:blipFill>
          </p:spPr>
        </p:sp>
      </p:grpSp>
      <p:grpSp>
        <p:nvGrpSpPr>
          <p:cNvPr name="Group 6" id="6"/>
          <p:cNvGrpSpPr/>
          <p:nvPr/>
        </p:nvGrpSpPr>
        <p:grpSpPr>
          <a:xfrm rot="0">
            <a:off x="12819671" y="9114816"/>
            <a:ext cx="5531675" cy="5441156"/>
            <a:chOff x="0" y="0"/>
            <a:chExt cx="7375567" cy="7254875"/>
          </a:xfrm>
        </p:grpSpPr>
        <p:sp>
          <p:nvSpPr>
            <p:cNvPr name="Freeform 7" id="7"/>
            <p:cNvSpPr/>
            <p:nvPr/>
          </p:nvSpPr>
          <p:spPr>
            <a:xfrm flipH="false" flipV="false" rot="0">
              <a:off x="0" y="0"/>
              <a:ext cx="7375525" cy="7254875"/>
            </a:xfrm>
            <a:custGeom>
              <a:avLst/>
              <a:gdLst/>
              <a:ahLst/>
              <a:cxnLst/>
              <a:rect r="r" b="b" t="t" l="l"/>
              <a:pathLst>
                <a:path h="7254875" w="7375525">
                  <a:moveTo>
                    <a:pt x="0" y="0"/>
                  </a:moveTo>
                  <a:lnTo>
                    <a:pt x="7375525" y="0"/>
                  </a:lnTo>
                  <a:lnTo>
                    <a:pt x="7375525" y="7254875"/>
                  </a:lnTo>
                  <a:lnTo>
                    <a:pt x="0" y="7254875"/>
                  </a:lnTo>
                  <a:lnTo>
                    <a:pt x="0" y="0"/>
                  </a:lnTo>
                  <a:close/>
                </a:path>
              </a:pathLst>
            </a:custGeom>
            <a:blipFill>
              <a:blip r:embed="rId5"/>
              <a:stretch>
                <a:fillRect l="0" t="-88" r="0" b="-88"/>
              </a:stretch>
            </a:blipFill>
          </p:spPr>
        </p:sp>
      </p:grpSp>
      <p:grpSp>
        <p:nvGrpSpPr>
          <p:cNvPr name="Group 8" id="8"/>
          <p:cNvGrpSpPr/>
          <p:nvPr/>
        </p:nvGrpSpPr>
        <p:grpSpPr>
          <a:xfrm rot="0">
            <a:off x="16969726" y="137189"/>
            <a:ext cx="3200658" cy="5239172"/>
            <a:chOff x="0" y="0"/>
            <a:chExt cx="4267544" cy="6985563"/>
          </a:xfrm>
        </p:grpSpPr>
        <p:sp>
          <p:nvSpPr>
            <p:cNvPr name="Freeform 9" id="9"/>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6"/>
              <a:stretch>
                <a:fillRect l="-130" t="0" r="-129" b="0"/>
              </a:stretch>
            </a:blipFill>
          </p:spPr>
        </p:sp>
      </p:grpSp>
      <p:sp>
        <p:nvSpPr>
          <p:cNvPr name="TextBox 10" id="10"/>
          <p:cNvSpPr txBox="true"/>
          <p:nvPr/>
        </p:nvSpPr>
        <p:spPr>
          <a:xfrm rot="0">
            <a:off x="5647068" y="1373851"/>
            <a:ext cx="7354287" cy="1631946"/>
          </a:xfrm>
          <a:prstGeom prst="rect">
            <a:avLst/>
          </a:prstGeom>
        </p:spPr>
        <p:txBody>
          <a:bodyPr anchor="t" rtlCol="false" tIns="0" lIns="0" bIns="0" rIns="0">
            <a:spAutoFit/>
          </a:bodyPr>
          <a:lstStyle/>
          <a:p>
            <a:pPr algn="l">
              <a:lnSpc>
                <a:spcPts val="13715"/>
              </a:lnSpc>
            </a:pPr>
            <a:r>
              <a:rPr lang="en-US" b="true" sz="10205">
                <a:solidFill>
                  <a:srgbClr val="3D3D3D"/>
                </a:solidFill>
                <a:latin typeface="Roboto Slab Bold"/>
                <a:ea typeface="Roboto Slab Bold"/>
                <a:cs typeface="Roboto Slab Bold"/>
                <a:sym typeface="Roboto Slab Bold"/>
              </a:rPr>
              <a:t>Referencias</a:t>
            </a:r>
          </a:p>
        </p:txBody>
      </p:sp>
      <p:sp>
        <p:nvSpPr>
          <p:cNvPr name="TextBox 11" id="11"/>
          <p:cNvSpPr txBox="true"/>
          <p:nvPr/>
        </p:nvSpPr>
        <p:spPr>
          <a:xfrm rot="0">
            <a:off x="1028700" y="4396767"/>
            <a:ext cx="16591023" cy="2420619"/>
          </a:xfrm>
          <a:prstGeom prst="rect">
            <a:avLst/>
          </a:prstGeom>
        </p:spPr>
        <p:txBody>
          <a:bodyPr anchor="t" rtlCol="false" tIns="0" lIns="0" bIns="0" rIns="0">
            <a:spAutoFit/>
          </a:bodyPr>
          <a:lstStyle/>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https://www.cisco.com/c/en/us/td/docs/routers/ios/config/17-x/ip-routing/b-ip-routing/m_iri-iprouting.html </a:t>
            </a:r>
          </a:p>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https://www.cisco.com/c/en/us/td/docs/routers/ios/config/17-x/ip-routing/b-ip-routing/m_ip6-route-static-xe.html </a:t>
            </a:r>
          </a:p>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https://datatracker.ietf.org/doc/html/rfc1812 </a:t>
            </a:r>
          </a:p>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https://www.ciscopress.com/store/routing-tcp-ip-volume-i-2nd-edition-9781587052026 </a:t>
            </a:r>
          </a:p>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https://www.ciscopress.com/store/ccna-200-301-official-cert-guide-volume-1-9780135792735 </a:t>
            </a:r>
          </a:p>
          <a:p>
            <a:pPr algn="ctr" marL="502922" indent="-167641" lvl="2">
              <a:lnSpc>
                <a:spcPts val="3696"/>
              </a:lnSpc>
              <a:buAutoNum type="arabicPeriod" startAt="1"/>
            </a:pPr>
            <a:r>
              <a:rPr lang="en-US" sz="2200">
                <a:solidFill>
                  <a:srgbClr val="3D3D3D"/>
                </a:solidFill>
                <a:latin typeface="Open Sans"/>
                <a:ea typeface="Open Sans"/>
                <a:cs typeface="Open Sans"/>
                <a:sym typeface="Open Sans"/>
              </a:rPr>
              <a:t>https://www.cisco.com/c/en/us/support/docs/dial-access/floating-static-route/118263-technote-nexthop-00.html</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3721526" y="2690496"/>
            <a:ext cx="10844947" cy="4801232"/>
          </a:xfrm>
          <a:prstGeom prst="rect">
            <a:avLst/>
          </a:prstGeom>
        </p:spPr>
        <p:txBody>
          <a:bodyPr anchor="t" rtlCol="false" tIns="0" lIns="0" bIns="0" rIns="0">
            <a:spAutoFit/>
          </a:bodyPr>
          <a:lstStyle/>
          <a:p>
            <a:pPr algn="ctr">
              <a:lnSpc>
                <a:spcPts val="21502"/>
              </a:lnSpc>
            </a:pPr>
            <a:r>
              <a:rPr lang="en-US" b="true" sz="15999">
                <a:solidFill>
                  <a:srgbClr val="3D3D3D"/>
                </a:solidFill>
                <a:latin typeface="Roboto Slab Bold"/>
                <a:ea typeface="Roboto Slab Bold"/>
                <a:cs typeface="Roboto Slab Bold"/>
                <a:sym typeface="Roboto Slab Bold"/>
              </a:rPr>
              <a:t>¿Dudas o preguntas?</a:t>
            </a:r>
          </a:p>
        </p:txBody>
      </p:sp>
      <p:grpSp>
        <p:nvGrpSpPr>
          <p:cNvPr name="Group 3" id="3"/>
          <p:cNvGrpSpPr/>
          <p:nvPr/>
        </p:nvGrpSpPr>
        <p:grpSpPr>
          <a:xfrm rot="0">
            <a:off x="16265689" y="7131447"/>
            <a:ext cx="4062443" cy="4606895"/>
            <a:chOff x="0" y="0"/>
            <a:chExt cx="5416591" cy="6142527"/>
          </a:xfrm>
        </p:grpSpPr>
        <p:sp>
          <p:nvSpPr>
            <p:cNvPr name="Freeform 4" id="4"/>
            <p:cNvSpPr/>
            <p:nvPr/>
          </p:nvSpPr>
          <p:spPr>
            <a:xfrm flipH="false" flipV="false" rot="0">
              <a:off x="0" y="0"/>
              <a:ext cx="5416550" cy="6142482"/>
            </a:xfrm>
            <a:custGeom>
              <a:avLst/>
              <a:gdLst/>
              <a:ahLst/>
              <a:cxnLst/>
              <a:rect r="r" b="b" t="t" l="l"/>
              <a:pathLst>
                <a:path h="6142482" w="5416550">
                  <a:moveTo>
                    <a:pt x="0" y="0"/>
                  </a:moveTo>
                  <a:lnTo>
                    <a:pt x="5416550" y="0"/>
                  </a:lnTo>
                  <a:lnTo>
                    <a:pt x="5416550" y="6142482"/>
                  </a:lnTo>
                  <a:lnTo>
                    <a:pt x="0" y="6142482"/>
                  </a:lnTo>
                  <a:lnTo>
                    <a:pt x="0" y="0"/>
                  </a:lnTo>
                  <a:close/>
                </a:path>
              </a:pathLst>
            </a:custGeom>
            <a:blipFill>
              <a:blip r:embed="rId3"/>
              <a:stretch>
                <a:fillRect l="-23" t="0" r="-23" b="0"/>
              </a:stretch>
            </a:blipFill>
          </p:spPr>
        </p:sp>
      </p:grpSp>
      <p:grpSp>
        <p:nvGrpSpPr>
          <p:cNvPr name="Group 5" id="5"/>
          <p:cNvGrpSpPr/>
          <p:nvPr/>
        </p:nvGrpSpPr>
        <p:grpSpPr>
          <a:xfrm rot="0">
            <a:off x="4123074" y="-2591505"/>
            <a:ext cx="4089204" cy="3747198"/>
            <a:chOff x="0" y="0"/>
            <a:chExt cx="5452272" cy="4996264"/>
          </a:xfrm>
        </p:grpSpPr>
        <p:sp>
          <p:nvSpPr>
            <p:cNvPr name="Freeform 6" id="6"/>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7" id="7"/>
          <p:cNvGrpSpPr/>
          <p:nvPr/>
        </p:nvGrpSpPr>
        <p:grpSpPr>
          <a:xfrm rot="0">
            <a:off x="17259300" y="3548904"/>
            <a:ext cx="3290910" cy="3189191"/>
            <a:chOff x="0" y="0"/>
            <a:chExt cx="4387880" cy="4252255"/>
          </a:xfrm>
        </p:grpSpPr>
        <p:sp>
          <p:nvSpPr>
            <p:cNvPr name="Freeform 8" id="8"/>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5"/>
              <a:stretch>
                <a:fillRect l="0" t="-7" r="0" b="-8"/>
              </a:stretch>
            </a:blipFill>
          </p:spPr>
        </p:sp>
      </p:grpSp>
      <p:grpSp>
        <p:nvGrpSpPr>
          <p:cNvPr name="Group 9" id="9"/>
          <p:cNvGrpSpPr/>
          <p:nvPr/>
        </p:nvGrpSpPr>
        <p:grpSpPr>
          <a:xfrm rot="0">
            <a:off x="12308650" y="9169514"/>
            <a:ext cx="3683224" cy="3522502"/>
            <a:chOff x="0" y="0"/>
            <a:chExt cx="4910965" cy="4696669"/>
          </a:xfrm>
        </p:grpSpPr>
        <p:sp>
          <p:nvSpPr>
            <p:cNvPr name="Freeform 10" id="10"/>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6"/>
              <a:stretch>
                <a:fillRect l="-39" t="0" r="-39" b="0"/>
              </a:stretch>
            </a:blipFill>
          </p:spPr>
        </p:sp>
      </p:grpSp>
      <p:grpSp>
        <p:nvGrpSpPr>
          <p:cNvPr name="Group 11" id="11"/>
          <p:cNvGrpSpPr/>
          <p:nvPr/>
        </p:nvGrpSpPr>
        <p:grpSpPr>
          <a:xfrm rot="5400000">
            <a:off x="-408200" y="-3205282"/>
            <a:ext cx="4320016" cy="4742532"/>
            <a:chOff x="0" y="0"/>
            <a:chExt cx="5760021" cy="6323376"/>
          </a:xfrm>
        </p:grpSpPr>
        <p:sp>
          <p:nvSpPr>
            <p:cNvPr name="Freeform 12" id="12"/>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7"/>
              <a:stretch>
                <a:fillRect l="-61" t="0" r="-63" b="0"/>
              </a:stretch>
            </a:blipFill>
          </p:spPr>
        </p:sp>
      </p:grpSp>
      <p:grpSp>
        <p:nvGrpSpPr>
          <p:cNvPr name="Group 13" id="13"/>
          <p:cNvGrpSpPr/>
          <p:nvPr/>
        </p:nvGrpSpPr>
        <p:grpSpPr>
          <a:xfrm rot="3887789">
            <a:off x="-2804950" y="803558"/>
            <a:ext cx="3200658" cy="5239172"/>
            <a:chOff x="0" y="0"/>
            <a:chExt cx="4267544" cy="6985563"/>
          </a:xfrm>
        </p:grpSpPr>
        <p:sp>
          <p:nvSpPr>
            <p:cNvPr name="Freeform 14" id="14"/>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8"/>
              <a:stretch>
                <a:fillRect l="-130" t="0" r="-129"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6628867" y="7543299"/>
            <a:ext cx="3699265" cy="4195043"/>
            <a:chOff x="0" y="0"/>
            <a:chExt cx="4932353" cy="5593391"/>
          </a:xfrm>
        </p:grpSpPr>
        <p:sp>
          <p:nvSpPr>
            <p:cNvPr name="Freeform 3" id="3"/>
            <p:cNvSpPr/>
            <p:nvPr/>
          </p:nvSpPr>
          <p:spPr>
            <a:xfrm flipH="false" flipV="false" rot="0">
              <a:off x="0" y="0"/>
              <a:ext cx="4932299" cy="5593334"/>
            </a:xfrm>
            <a:custGeom>
              <a:avLst/>
              <a:gdLst/>
              <a:ahLst/>
              <a:cxnLst/>
              <a:rect r="r" b="b" t="t" l="l"/>
              <a:pathLst>
                <a:path h="5593334" w="4932299">
                  <a:moveTo>
                    <a:pt x="0" y="0"/>
                  </a:moveTo>
                  <a:lnTo>
                    <a:pt x="4932299" y="0"/>
                  </a:lnTo>
                  <a:lnTo>
                    <a:pt x="4932299" y="5593334"/>
                  </a:lnTo>
                  <a:lnTo>
                    <a:pt x="0" y="5593334"/>
                  </a:lnTo>
                  <a:lnTo>
                    <a:pt x="0" y="0"/>
                  </a:lnTo>
                  <a:close/>
                </a:path>
              </a:pathLst>
            </a:custGeom>
            <a:blipFill>
              <a:blip r:embed="rId3"/>
              <a:stretch>
                <a:fillRect l="-23" t="0" r="-24" b="-1"/>
              </a:stretch>
            </a:blipFill>
          </p:spPr>
        </p:sp>
      </p:grpSp>
      <p:grpSp>
        <p:nvGrpSpPr>
          <p:cNvPr name="Group 4" id="4"/>
          <p:cNvGrpSpPr/>
          <p:nvPr/>
        </p:nvGrpSpPr>
        <p:grpSpPr>
          <a:xfrm rot="0">
            <a:off x="4123074" y="-2591505"/>
            <a:ext cx="4089204" cy="3747198"/>
            <a:chOff x="0" y="0"/>
            <a:chExt cx="5452272" cy="4996264"/>
          </a:xfrm>
        </p:grpSpPr>
        <p:sp>
          <p:nvSpPr>
            <p:cNvPr name="Freeform 5" id="5"/>
            <p:cNvSpPr/>
            <p:nvPr/>
          </p:nvSpPr>
          <p:spPr>
            <a:xfrm flipH="false" flipV="false" rot="0">
              <a:off x="0" y="0"/>
              <a:ext cx="5452237" cy="4996307"/>
            </a:xfrm>
            <a:custGeom>
              <a:avLst/>
              <a:gdLst/>
              <a:ahLst/>
              <a:cxnLst/>
              <a:rect r="r" b="b" t="t" l="l"/>
              <a:pathLst>
                <a:path h="4996307" w="5452237">
                  <a:moveTo>
                    <a:pt x="0" y="0"/>
                  </a:moveTo>
                  <a:lnTo>
                    <a:pt x="5452237" y="0"/>
                  </a:lnTo>
                  <a:lnTo>
                    <a:pt x="5452237" y="4996307"/>
                  </a:lnTo>
                  <a:lnTo>
                    <a:pt x="0" y="4996307"/>
                  </a:lnTo>
                  <a:lnTo>
                    <a:pt x="0" y="0"/>
                  </a:lnTo>
                  <a:close/>
                </a:path>
              </a:pathLst>
            </a:custGeom>
            <a:blipFill>
              <a:blip r:embed="rId4"/>
              <a:stretch>
                <a:fillRect l="0" t="-81" r="0" b="-81"/>
              </a:stretch>
            </a:blipFill>
          </p:spPr>
        </p:sp>
      </p:grpSp>
      <p:grpSp>
        <p:nvGrpSpPr>
          <p:cNvPr name="Group 6" id="6"/>
          <p:cNvGrpSpPr/>
          <p:nvPr/>
        </p:nvGrpSpPr>
        <p:grpSpPr>
          <a:xfrm rot="-1780974">
            <a:off x="-2178011" y="4841048"/>
            <a:ext cx="3585363" cy="4186730"/>
            <a:chOff x="0" y="0"/>
            <a:chExt cx="4780484" cy="5582307"/>
          </a:xfrm>
        </p:grpSpPr>
        <p:sp>
          <p:nvSpPr>
            <p:cNvPr name="Freeform 7" id="7"/>
            <p:cNvSpPr/>
            <p:nvPr/>
          </p:nvSpPr>
          <p:spPr>
            <a:xfrm flipH="false" flipV="false" rot="0">
              <a:off x="0" y="0"/>
              <a:ext cx="4780534" cy="5582285"/>
            </a:xfrm>
            <a:custGeom>
              <a:avLst/>
              <a:gdLst/>
              <a:ahLst/>
              <a:cxnLst/>
              <a:rect r="r" b="b" t="t" l="l"/>
              <a:pathLst>
                <a:path h="5582285" w="4780534">
                  <a:moveTo>
                    <a:pt x="0" y="0"/>
                  </a:moveTo>
                  <a:lnTo>
                    <a:pt x="4780534" y="0"/>
                  </a:lnTo>
                  <a:lnTo>
                    <a:pt x="4780534" y="5582285"/>
                  </a:lnTo>
                  <a:lnTo>
                    <a:pt x="0" y="5582285"/>
                  </a:lnTo>
                  <a:lnTo>
                    <a:pt x="0" y="0"/>
                  </a:lnTo>
                  <a:close/>
                </a:path>
              </a:pathLst>
            </a:custGeom>
            <a:blipFill>
              <a:blip r:embed="rId5"/>
              <a:stretch>
                <a:fillRect l="-45" t="0" r="-44" b="0"/>
              </a:stretch>
            </a:blipFill>
          </p:spPr>
        </p:sp>
      </p:grpSp>
      <p:grpSp>
        <p:nvGrpSpPr>
          <p:cNvPr name="Group 8" id="8"/>
          <p:cNvGrpSpPr/>
          <p:nvPr/>
        </p:nvGrpSpPr>
        <p:grpSpPr>
          <a:xfrm rot="5400000">
            <a:off x="-547899" y="8993285"/>
            <a:ext cx="3603709" cy="3956167"/>
            <a:chOff x="0" y="0"/>
            <a:chExt cx="4804945" cy="5274889"/>
          </a:xfrm>
        </p:grpSpPr>
        <p:sp>
          <p:nvSpPr>
            <p:cNvPr name="Freeform 9" id="9"/>
            <p:cNvSpPr/>
            <p:nvPr/>
          </p:nvSpPr>
          <p:spPr>
            <a:xfrm flipH="false" flipV="false" rot="0">
              <a:off x="0" y="0"/>
              <a:ext cx="4804918" cy="5274945"/>
            </a:xfrm>
            <a:custGeom>
              <a:avLst/>
              <a:gdLst/>
              <a:ahLst/>
              <a:cxnLst/>
              <a:rect r="r" b="b" t="t" l="l"/>
              <a:pathLst>
                <a:path h="5274945" w="4804918">
                  <a:moveTo>
                    <a:pt x="0" y="0"/>
                  </a:moveTo>
                  <a:lnTo>
                    <a:pt x="4804918" y="0"/>
                  </a:lnTo>
                  <a:lnTo>
                    <a:pt x="4804918" y="5274945"/>
                  </a:lnTo>
                  <a:lnTo>
                    <a:pt x="0" y="5274945"/>
                  </a:lnTo>
                  <a:lnTo>
                    <a:pt x="0" y="0"/>
                  </a:lnTo>
                  <a:close/>
                </a:path>
              </a:pathLst>
            </a:custGeom>
            <a:blipFill>
              <a:blip r:embed="rId6"/>
              <a:stretch>
                <a:fillRect l="-61" t="0" r="-62" b="1"/>
              </a:stretch>
            </a:blipFill>
          </p:spPr>
        </p:sp>
      </p:grpSp>
      <p:grpSp>
        <p:nvGrpSpPr>
          <p:cNvPr name="Group 10" id="10"/>
          <p:cNvGrpSpPr/>
          <p:nvPr/>
        </p:nvGrpSpPr>
        <p:grpSpPr>
          <a:xfrm rot="0">
            <a:off x="3336814" y="9169514"/>
            <a:ext cx="3360824" cy="3416735"/>
            <a:chOff x="0" y="0"/>
            <a:chExt cx="4481099" cy="4555647"/>
          </a:xfrm>
        </p:grpSpPr>
        <p:sp>
          <p:nvSpPr>
            <p:cNvPr name="Freeform 11" id="11"/>
            <p:cNvSpPr/>
            <p:nvPr/>
          </p:nvSpPr>
          <p:spPr>
            <a:xfrm flipH="false" flipV="false" rot="0">
              <a:off x="0" y="0"/>
              <a:ext cx="4481068" cy="4555617"/>
            </a:xfrm>
            <a:custGeom>
              <a:avLst/>
              <a:gdLst/>
              <a:ahLst/>
              <a:cxnLst/>
              <a:rect r="r" b="b" t="t" l="l"/>
              <a:pathLst>
                <a:path h="4555617" w="4481068">
                  <a:moveTo>
                    <a:pt x="0" y="0"/>
                  </a:moveTo>
                  <a:lnTo>
                    <a:pt x="4481068" y="0"/>
                  </a:lnTo>
                  <a:lnTo>
                    <a:pt x="4481068" y="4555617"/>
                  </a:lnTo>
                  <a:lnTo>
                    <a:pt x="0" y="4555617"/>
                  </a:lnTo>
                  <a:lnTo>
                    <a:pt x="0" y="0"/>
                  </a:lnTo>
                  <a:close/>
                </a:path>
              </a:pathLst>
            </a:custGeom>
            <a:blipFill>
              <a:blip r:embed="rId7"/>
              <a:stretch>
                <a:fillRect l="-2" t="0" r="-3" b="0"/>
              </a:stretch>
            </a:blipFill>
          </p:spPr>
        </p:sp>
      </p:grpSp>
      <p:grpSp>
        <p:nvGrpSpPr>
          <p:cNvPr name="Group 12" id="12"/>
          <p:cNvGrpSpPr/>
          <p:nvPr/>
        </p:nvGrpSpPr>
        <p:grpSpPr>
          <a:xfrm rot="0">
            <a:off x="17381308" y="3942256"/>
            <a:ext cx="3290910" cy="3189191"/>
            <a:chOff x="0" y="0"/>
            <a:chExt cx="4387880" cy="4252255"/>
          </a:xfrm>
        </p:grpSpPr>
        <p:sp>
          <p:nvSpPr>
            <p:cNvPr name="Freeform 13" id="13"/>
            <p:cNvSpPr/>
            <p:nvPr/>
          </p:nvSpPr>
          <p:spPr>
            <a:xfrm flipH="false" flipV="false" rot="0">
              <a:off x="0" y="0"/>
              <a:ext cx="4387850" cy="4252214"/>
            </a:xfrm>
            <a:custGeom>
              <a:avLst/>
              <a:gdLst/>
              <a:ahLst/>
              <a:cxnLst/>
              <a:rect r="r" b="b" t="t" l="l"/>
              <a:pathLst>
                <a:path h="4252214" w="4387850">
                  <a:moveTo>
                    <a:pt x="0" y="0"/>
                  </a:moveTo>
                  <a:lnTo>
                    <a:pt x="4387850" y="0"/>
                  </a:lnTo>
                  <a:lnTo>
                    <a:pt x="4387850" y="4252214"/>
                  </a:lnTo>
                  <a:lnTo>
                    <a:pt x="0" y="4252214"/>
                  </a:lnTo>
                  <a:lnTo>
                    <a:pt x="0" y="0"/>
                  </a:lnTo>
                  <a:close/>
                </a:path>
              </a:pathLst>
            </a:custGeom>
            <a:blipFill>
              <a:blip r:embed="rId8"/>
              <a:stretch>
                <a:fillRect l="0" t="-7" r="0" b="-8"/>
              </a:stretch>
            </a:blipFill>
          </p:spPr>
        </p:sp>
      </p:grpSp>
      <p:grpSp>
        <p:nvGrpSpPr>
          <p:cNvPr name="Group 14" id="14"/>
          <p:cNvGrpSpPr/>
          <p:nvPr/>
        </p:nvGrpSpPr>
        <p:grpSpPr>
          <a:xfrm rot="0">
            <a:off x="12756325" y="-2994024"/>
            <a:ext cx="4101774" cy="4034654"/>
            <a:chOff x="0" y="0"/>
            <a:chExt cx="5469032" cy="5379539"/>
          </a:xfrm>
        </p:grpSpPr>
        <p:sp>
          <p:nvSpPr>
            <p:cNvPr name="Freeform 15" id="15"/>
            <p:cNvSpPr/>
            <p:nvPr/>
          </p:nvSpPr>
          <p:spPr>
            <a:xfrm flipH="false" flipV="false" rot="0">
              <a:off x="0" y="0"/>
              <a:ext cx="5469001" cy="5379593"/>
            </a:xfrm>
            <a:custGeom>
              <a:avLst/>
              <a:gdLst/>
              <a:ahLst/>
              <a:cxnLst/>
              <a:rect r="r" b="b" t="t" l="l"/>
              <a:pathLst>
                <a:path h="5379593" w="5469001">
                  <a:moveTo>
                    <a:pt x="0" y="0"/>
                  </a:moveTo>
                  <a:lnTo>
                    <a:pt x="5469001" y="0"/>
                  </a:lnTo>
                  <a:lnTo>
                    <a:pt x="5469001" y="5379593"/>
                  </a:lnTo>
                  <a:lnTo>
                    <a:pt x="0" y="5379593"/>
                  </a:lnTo>
                  <a:lnTo>
                    <a:pt x="0" y="0"/>
                  </a:lnTo>
                  <a:close/>
                </a:path>
              </a:pathLst>
            </a:custGeom>
            <a:blipFill>
              <a:blip r:embed="rId9"/>
              <a:stretch>
                <a:fillRect l="0" t="-88" r="0" b="-87"/>
              </a:stretch>
            </a:blipFill>
          </p:spPr>
        </p:sp>
      </p:grpSp>
      <p:grpSp>
        <p:nvGrpSpPr>
          <p:cNvPr name="Group 16" id="16"/>
          <p:cNvGrpSpPr/>
          <p:nvPr/>
        </p:nvGrpSpPr>
        <p:grpSpPr>
          <a:xfrm rot="0">
            <a:off x="17191945" y="-717905"/>
            <a:ext cx="2933022" cy="4801077"/>
            <a:chOff x="0" y="0"/>
            <a:chExt cx="3910696" cy="6401436"/>
          </a:xfrm>
        </p:grpSpPr>
        <p:sp>
          <p:nvSpPr>
            <p:cNvPr name="Freeform 17" id="17"/>
            <p:cNvSpPr/>
            <p:nvPr/>
          </p:nvSpPr>
          <p:spPr>
            <a:xfrm flipH="false" flipV="false" rot="0">
              <a:off x="0" y="0"/>
              <a:ext cx="3910711" cy="6401435"/>
            </a:xfrm>
            <a:custGeom>
              <a:avLst/>
              <a:gdLst/>
              <a:ahLst/>
              <a:cxnLst/>
              <a:rect r="r" b="b" t="t" l="l"/>
              <a:pathLst>
                <a:path h="6401435" w="3910711">
                  <a:moveTo>
                    <a:pt x="0" y="0"/>
                  </a:moveTo>
                  <a:lnTo>
                    <a:pt x="3910711" y="0"/>
                  </a:lnTo>
                  <a:lnTo>
                    <a:pt x="3910711" y="6401435"/>
                  </a:lnTo>
                  <a:lnTo>
                    <a:pt x="0" y="6401435"/>
                  </a:lnTo>
                  <a:lnTo>
                    <a:pt x="0" y="0"/>
                  </a:lnTo>
                  <a:close/>
                </a:path>
              </a:pathLst>
            </a:custGeom>
            <a:blipFill>
              <a:blip r:embed="rId10"/>
              <a:stretch>
                <a:fillRect l="-130" t="0" r="-129" b="0"/>
              </a:stretch>
            </a:blipFill>
          </p:spPr>
        </p:sp>
      </p:grpSp>
      <p:grpSp>
        <p:nvGrpSpPr>
          <p:cNvPr name="Group 18" id="18"/>
          <p:cNvGrpSpPr/>
          <p:nvPr/>
        </p:nvGrpSpPr>
        <p:grpSpPr>
          <a:xfrm rot="0">
            <a:off x="12308650" y="9169514"/>
            <a:ext cx="3683224" cy="3522502"/>
            <a:chOff x="0" y="0"/>
            <a:chExt cx="4910965" cy="4696669"/>
          </a:xfrm>
        </p:grpSpPr>
        <p:sp>
          <p:nvSpPr>
            <p:cNvPr name="Freeform 19" id="19"/>
            <p:cNvSpPr/>
            <p:nvPr/>
          </p:nvSpPr>
          <p:spPr>
            <a:xfrm flipH="false" flipV="false" rot="0">
              <a:off x="0" y="0"/>
              <a:ext cx="4910963" cy="4696714"/>
            </a:xfrm>
            <a:custGeom>
              <a:avLst/>
              <a:gdLst/>
              <a:ahLst/>
              <a:cxnLst/>
              <a:rect r="r" b="b" t="t" l="l"/>
              <a:pathLst>
                <a:path h="4696714" w="4910963">
                  <a:moveTo>
                    <a:pt x="0" y="0"/>
                  </a:moveTo>
                  <a:lnTo>
                    <a:pt x="4910963" y="0"/>
                  </a:lnTo>
                  <a:lnTo>
                    <a:pt x="4910963" y="4696714"/>
                  </a:lnTo>
                  <a:lnTo>
                    <a:pt x="0" y="4696714"/>
                  </a:lnTo>
                  <a:lnTo>
                    <a:pt x="0" y="0"/>
                  </a:lnTo>
                  <a:close/>
                </a:path>
              </a:pathLst>
            </a:custGeom>
            <a:blipFill>
              <a:blip r:embed="rId11"/>
              <a:stretch>
                <a:fillRect l="-39" t="0" r="-39" b="0"/>
              </a:stretch>
            </a:blipFill>
          </p:spPr>
        </p:sp>
      </p:grpSp>
      <p:grpSp>
        <p:nvGrpSpPr>
          <p:cNvPr name="Group 20" id="20"/>
          <p:cNvGrpSpPr/>
          <p:nvPr/>
        </p:nvGrpSpPr>
        <p:grpSpPr>
          <a:xfrm rot="-7064477">
            <a:off x="8856194" y="-2057464"/>
            <a:ext cx="3197600" cy="3733928"/>
            <a:chOff x="0" y="0"/>
            <a:chExt cx="4263467" cy="4978571"/>
          </a:xfrm>
        </p:grpSpPr>
        <p:sp>
          <p:nvSpPr>
            <p:cNvPr name="Freeform 21" id="21"/>
            <p:cNvSpPr/>
            <p:nvPr/>
          </p:nvSpPr>
          <p:spPr>
            <a:xfrm flipH="false" flipV="false" rot="0">
              <a:off x="0" y="0"/>
              <a:ext cx="4263517" cy="4978527"/>
            </a:xfrm>
            <a:custGeom>
              <a:avLst/>
              <a:gdLst/>
              <a:ahLst/>
              <a:cxnLst/>
              <a:rect r="r" b="b" t="t" l="l"/>
              <a:pathLst>
                <a:path h="4978527" w="4263517">
                  <a:moveTo>
                    <a:pt x="0" y="0"/>
                  </a:moveTo>
                  <a:lnTo>
                    <a:pt x="4263517" y="0"/>
                  </a:lnTo>
                  <a:lnTo>
                    <a:pt x="4263517" y="4978527"/>
                  </a:lnTo>
                  <a:lnTo>
                    <a:pt x="0" y="4978527"/>
                  </a:lnTo>
                  <a:lnTo>
                    <a:pt x="0" y="0"/>
                  </a:lnTo>
                  <a:close/>
                </a:path>
              </a:pathLst>
            </a:custGeom>
            <a:blipFill>
              <a:blip r:embed="rId5"/>
              <a:stretch>
                <a:fillRect l="-45" t="0" r="-44" b="0"/>
              </a:stretch>
            </a:blipFill>
          </p:spPr>
        </p:sp>
      </p:grpSp>
      <p:grpSp>
        <p:nvGrpSpPr>
          <p:cNvPr name="Group 22" id="22"/>
          <p:cNvGrpSpPr/>
          <p:nvPr/>
        </p:nvGrpSpPr>
        <p:grpSpPr>
          <a:xfrm rot="5400000">
            <a:off x="-408200" y="-3205282"/>
            <a:ext cx="4320016" cy="4742532"/>
            <a:chOff x="0" y="0"/>
            <a:chExt cx="5760021" cy="6323376"/>
          </a:xfrm>
        </p:grpSpPr>
        <p:sp>
          <p:nvSpPr>
            <p:cNvPr name="Freeform 23" id="23"/>
            <p:cNvSpPr/>
            <p:nvPr/>
          </p:nvSpPr>
          <p:spPr>
            <a:xfrm flipH="false" flipV="false" rot="0">
              <a:off x="0" y="0"/>
              <a:ext cx="5759958" cy="6323330"/>
            </a:xfrm>
            <a:custGeom>
              <a:avLst/>
              <a:gdLst/>
              <a:ahLst/>
              <a:cxnLst/>
              <a:rect r="r" b="b" t="t" l="l"/>
              <a:pathLst>
                <a:path h="6323330" w="5759958">
                  <a:moveTo>
                    <a:pt x="0" y="0"/>
                  </a:moveTo>
                  <a:lnTo>
                    <a:pt x="5759958" y="0"/>
                  </a:lnTo>
                  <a:lnTo>
                    <a:pt x="5759958" y="6323330"/>
                  </a:lnTo>
                  <a:lnTo>
                    <a:pt x="0" y="6323330"/>
                  </a:lnTo>
                  <a:lnTo>
                    <a:pt x="0" y="0"/>
                  </a:lnTo>
                  <a:close/>
                </a:path>
              </a:pathLst>
            </a:custGeom>
            <a:blipFill>
              <a:blip r:embed="rId6"/>
              <a:stretch>
                <a:fillRect l="-61" t="0" r="-63" b="0"/>
              </a:stretch>
            </a:blipFill>
          </p:spPr>
        </p:sp>
      </p:grpSp>
      <p:grpSp>
        <p:nvGrpSpPr>
          <p:cNvPr name="Group 24" id="24"/>
          <p:cNvGrpSpPr/>
          <p:nvPr/>
        </p:nvGrpSpPr>
        <p:grpSpPr>
          <a:xfrm rot="3887789">
            <a:off x="-2804950" y="803558"/>
            <a:ext cx="3200658" cy="5239172"/>
            <a:chOff x="0" y="0"/>
            <a:chExt cx="4267544" cy="6985563"/>
          </a:xfrm>
        </p:grpSpPr>
        <p:sp>
          <p:nvSpPr>
            <p:cNvPr name="Freeform 25" id="25"/>
            <p:cNvSpPr/>
            <p:nvPr/>
          </p:nvSpPr>
          <p:spPr>
            <a:xfrm flipH="false" flipV="false" rot="0">
              <a:off x="0" y="0"/>
              <a:ext cx="4267581" cy="6985508"/>
            </a:xfrm>
            <a:custGeom>
              <a:avLst/>
              <a:gdLst/>
              <a:ahLst/>
              <a:cxnLst/>
              <a:rect r="r" b="b" t="t" l="l"/>
              <a:pathLst>
                <a:path h="6985508" w="4267581">
                  <a:moveTo>
                    <a:pt x="0" y="0"/>
                  </a:moveTo>
                  <a:lnTo>
                    <a:pt x="4267581" y="0"/>
                  </a:lnTo>
                  <a:lnTo>
                    <a:pt x="4267581" y="6985508"/>
                  </a:lnTo>
                  <a:lnTo>
                    <a:pt x="0" y="6985508"/>
                  </a:lnTo>
                  <a:lnTo>
                    <a:pt x="0" y="0"/>
                  </a:lnTo>
                  <a:close/>
                </a:path>
              </a:pathLst>
            </a:custGeom>
            <a:blipFill>
              <a:blip r:embed="rId10"/>
              <a:stretch>
                <a:fillRect l="-130" t="0" r="-129" b="0"/>
              </a:stretch>
            </a:blipFill>
          </p:spPr>
        </p:sp>
      </p:grpSp>
      <p:grpSp>
        <p:nvGrpSpPr>
          <p:cNvPr name="Group 26" id="26"/>
          <p:cNvGrpSpPr/>
          <p:nvPr/>
        </p:nvGrpSpPr>
        <p:grpSpPr>
          <a:xfrm rot="0">
            <a:off x="7135229" y="9264764"/>
            <a:ext cx="5173421" cy="5298662"/>
            <a:chOff x="0" y="0"/>
            <a:chExt cx="6897895" cy="7064883"/>
          </a:xfrm>
        </p:grpSpPr>
        <p:sp>
          <p:nvSpPr>
            <p:cNvPr name="Freeform 27" id="27"/>
            <p:cNvSpPr/>
            <p:nvPr/>
          </p:nvSpPr>
          <p:spPr>
            <a:xfrm flipH="false" flipV="false" rot="0">
              <a:off x="0" y="0"/>
              <a:ext cx="6897878" cy="7064883"/>
            </a:xfrm>
            <a:custGeom>
              <a:avLst/>
              <a:gdLst/>
              <a:ahLst/>
              <a:cxnLst/>
              <a:rect r="r" b="b" t="t" l="l"/>
              <a:pathLst>
                <a:path h="7064883" w="6897878">
                  <a:moveTo>
                    <a:pt x="0" y="0"/>
                  </a:moveTo>
                  <a:lnTo>
                    <a:pt x="6897878" y="0"/>
                  </a:lnTo>
                  <a:lnTo>
                    <a:pt x="6897878" y="7064883"/>
                  </a:lnTo>
                  <a:lnTo>
                    <a:pt x="0" y="7064883"/>
                  </a:lnTo>
                  <a:lnTo>
                    <a:pt x="0" y="0"/>
                  </a:lnTo>
                  <a:close/>
                </a:path>
              </a:pathLst>
            </a:custGeom>
            <a:blipFill>
              <a:blip r:embed="rId12"/>
              <a:stretch>
                <a:fillRect l="-21" t="0" r="-22" b="0"/>
              </a:stretch>
            </a:blipFill>
          </p:spPr>
        </p:sp>
      </p:grpSp>
      <p:grpSp>
        <p:nvGrpSpPr>
          <p:cNvPr name="Group 28" id="28"/>
          <p:cNvGrpSpPr/>
          <p:nvPr/>
        </p:nvGrpSpPr>
        <p:grpSpPr>
          <a:xfrm rot="0">
            <a:off x="14386077" y="1572432"/>
            <a:ext cx="2611849" cy="3571068"/>
            <a:chOff x="0" y="0"/>
            <a:chExt cx="3482465" cy="4761424"/>
          </a:xfrm>
        </p:grpSpPr>
        <p:sp>
          <p:nvSpPr>
            <p:cNvPr name="Freeform 29" id="29"/>
            <p:cNvSpPr/>
            <p:nvPr/>
          </p:nvSpPr>
          <p:spPr>
            <a:xfrm flipH="false" flipV="false" rot="0">
              <a:off x="0" y="0"/>
              <a:ext cx="3482467" cy="4761484"/>
            </a:xfrm>
            <a:custGeom>
              <a:avLst/>
              <a:gdLst/>
              <a:ahLst/>
              <a:cxnLst/>
              <a:rect r="r" b="b" t="t" l="l"/>
              <a:pathLst>
                <a:path h="4761484" w="3482467">
                  <a:moveTo>
                    <a:pt x="0" y="0"/>
                  </a:moveTo>
                  <a:lnTo>
                    <a:pt x="3482467" y="0"/>
                  </a:lnTo>
                  <a:lnTo>
                    <a:pt x="3482467" y="4761484"/>
                  </a:lnTo>
                  <a:lnTo>
                    <a:pt x="0" y="4761484"/>
                  </a:lnTo>
                  <a:lnTo>
                    <a:pt x="0" y="0"/>
                  </a:lnTo>
                  <a:close/>
                </a:path>
              </a:pathLst>
            </a:custGeom>
            <a:blipFill>
              <a:blip r:embed="rId13"/>
              <a:stretch>
                <a:fillRect l="0" t="-5" r="0" b="-4"/>
              </a:stretch>
            </a:blipFill>
          </p:spPr>
        </p:sp>
      </p:grpSp>
      <p:sp>
        <p:nvSpPr>
          <p:cNvPr name="TextBox 30" id="30"/>
          <p:cNvSpPr txBox="true"/>
          <p:nvPr/>
        </p:nvSpPr>
        <p:spPr>
          <a:xfrm rot="0">
            <a:off x="3711424" y="3624120"/>
            <a:ext cx="10484153" cy="3342517"/>
          </a:xfrm>
          <a:prstGeom prst="rect">
            <a:avLst/>
          </a:prstGeom>
        </p:spPr>
        <p:txBody>
          <a:bodyPr anchor="t" rtlCol="false" tIns="0" lIns="0" bIns="0" rIns="0">
            <a:spAutoFit/>
          </a:bodyPr>
          <a:lstStyle/>
          <a:p>
            <a:pPr algn="ctr">
              <a:lnSpc>
                <a:spcPts val="15377"/>
              </a:lnSpc>
            </a:pPr>
            <a:r>
              <a:rPr lang="en-US" b="true" sz="12814">
                <a:solidFill>
                  <a:srgbClr val="3D3D3D"/>
                </a:solidFill>
                <a:latin typeface="Roboto Slab Bold"/>
                <a:ea typeface="Roboto Slab Bold"/>
                <a:cs typeface="Roboto Slab Bold"/>
                <a:sym typeface="Roboto Slab Bol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DAGoxnxoOdw</dc:identifier>
  <dcterms:modified xsi:type="dcterms:W3CDTF">2011-08-01T06:04:30Z</dcterms:modified>
  <cp:revision>1</cp:revision>
  <dc:title>Presentación Semana 8 - Ruteo.pptx</dc:title>
</cp:coreProperties>
</file>