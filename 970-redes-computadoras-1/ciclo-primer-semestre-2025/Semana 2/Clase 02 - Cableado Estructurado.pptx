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10287000" cx="18288000"/>
  <p:notesSz cx="6858000" cy="9144000"/>
  <p:embeddedFontLst>
    <p:embeddedFont>
      <p:font typeface="Montserrat"/>
      <p:regular r:id="rId67"/>
      <p:bold r:id="rId68"/>
      <p:italic r:id="rId69"/>
      <p:boldItalic r:id="rId70"/>
    </p:embeddedFont>
    <p:embeddedFont>
      <p:font typeface="Open Sans"/>
      <p:bold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3" roundtripDataSignature="AMtx7mifq5URrPzGmesXYSzqRlIKQiwK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4B983D-6FF3-4CA7-9CC2-62E9EFB05F40}">
  <a:tblStyle styleId="{234B983D-6FF3-4CA7-9CC2-62E9EFB05F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OpenSans-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penSans-bold.fntdata"/><Relationship Id="rId70" Type="http://schemas.openxmlformats.org/officeDocument/2006/relationships/font" Target="fonts/Montserrat-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Montserrat-bold.fntdata"/><Relationship Id="rId23" Type="http://schemas.openxmlformats.org/officeDocument/2006/relationships/slide" Target="slides/slide17.xml"/><Relationship Id="rId67" Type="http://schemas.openxmlformats.org/officeDocument/2006/relationships/font" Target="fonts/Montserrat-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7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0"/>
          <p:cNvSpPr/>
          <p:nvPr>
            <p:ph idx="2" type="pic"/>
          </p:nvPr>
        </p:nvSpPr>
        <p:spPr>
          <a:xfrm>
            <a:off x="1792288" y="612775"/>
            <a:ext cx="5486400" cy="4114800"/>
          </a:xfrm>
          <a:prstGeom prst="rect">
            <a:avLst/>
          </a:prstGeom>
          <a:noFill/>
          <a:ln>
            <a:noFill/>
          </a:ln>
        </p:spPr>
      </p:sp>
      <p:sp>
        <p:nvSpPr>
          <p:cNvPr id="64" name="Google Shape;64;p7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7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7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7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hyperlink" Target="https://www.youtube.com/watch?v=H6mBK5PU2pQ" TargetMode="External"/><Relationship Id="rId5" Type="http://schemas.openxmlformats.org/officeDocument/2006/relationships/hyperlink" Target="https://tabasco.gob.mx/sites/default/files/Manual-para-aplicar-la-norma-TIA-EIA-para-Cableado-Estructurado.pdf" TargetMode="External"/><Relationship Id="rId6" Type="http://schemas.openxmlformats.org/officeDocument/2006/relationships/hyperlink" Target="https://www.youtube.com/watch?v=XZmGGAbHqa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9.png"/><Relationship Id="rId4" Type="http://schemas.openxmlformats.org/officeDocument/2006/relationships/image" Target="../media/image29.png"/><Relationship Id="rId5"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2.png"/><Relationship Id="rId4" Type="http://schemas.openxmlformats.org/officeDocument/2006/relationships/image" Target="../media/image40.png"/><Relationship Id="rId5" Type="http://schemas.openxmlformats.org/officeDocument/2006/relationships/image" Target="../media/image36.png"/><Relationship Id="rId6" Type="http://schemas.openxmlformats.org/officeDocument/2006/relationships/image" Target="../media/image30.png"/><Relationship Id="rId7"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tabasco.gob.mx/sites/default/files/Manual-para-aplicar-la-norma-TIA-EIA-para-Cableado-Estructurado.pdf" TargetMode="External"/><Relationship Id="rId4" Type="http://schemas.openxmlformats.org/officeDocument/2006/relationships/hyperlink" Target="https://issuu.com/wendyjohanaestebancortes/docs/manual_de_normatividad/s/12470082"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6560" y="0"/>
            <a:ext cx="18253440" cy="10286640"/>
          </a:xfrm>
          <a:custGeom>
            <a:rect b="b" l="l" r="r" t="t"/>
            <a:pathLst>
              <a:path extrusionOk="0" h="10286640" w="18253440">
                <a:moveTo>
                  <a:pt x="0" y="0"/>
                </a:moveTo>
                <a:lnTo>
                  <a:pt x="18253440" y="0"/>
                </a:lnTo>
                <a:lnTo>
                  <a:pt x="18253440" y="10286640"/>
                </a:lnTo>
                <a:lnTo>
                  <a:pt x="0" y="10286640"/>
                </a:lnTo>
                <a:lnTo>
                  <a:pt x="0" y="0"/>
                </a:lnTo>
                <a:close/>
              </a:path>
            </a:pathLst>
          </a:custGeom>
          <a:blipFill rotWithShape="1">
            <a:blip r:embed="rId3">
              <a:alphaModFix amt="62000"/>
            </a:blip>
            <a:stretch>
              <a:fillRect b="0" l="0" r="0" t="0"/>
            </a:stretch>
          </a:blipFill>
          <a:ln>
            <a:noFill/>
          </a:ln>
        </p:spPr>
      </p:sp>
      <p:graphicFrame>
        <p:nvGraphicFramePr>
          <p:cNvPr id="85" name="Google Shape;85;p1"/>
          <p:cNvGraphicFramePr/>
          <p:nvPr/>
        </p:nvGraphicFramePr>
        <p:xfrm>
          <a:off x="10656720" y="1940400"/>
          <a:ext cx="3000000" cy="3000000"/>
        </p:xfrm>
        <a:graphic>
          <a:graphicData uri="http://schemas.openxmlformats.org/drawingml/2006/table">
            <a:tbl>
              <a:tblPr>
                <a:noFill/>
                <a:tableStyleId>{234B983D-6FF3-4CA7-9CC2-62E9EFB05F40}</a:tableStyleId>
              </a:tblPr>
              <a:tblGrid>
                <a:gridCol w="3036750"/>
                <a:gridCol w="4329250"/>
              </a:tblGrid>
              <a:tr h="71905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4"/>
                        </a:lnSpc>
                        <a:spcBef>
                          <a:spcPts val="0"/>
                        </a:spcBef>
                        <a:spcAft>
                          <a:spcPts val="0"/>
                        </a:spcAft>
                        <a:buNone/>
                      </a:pPr>
                      <a:r>
                        <a:rPr lang="en-US" sz="2799" u="none" cap="none" strike="noStrike">
                          <a:solidFill>
                            <a:srgbClr val="000000"/>
                          </a:solidFill>
                          <a:latin typeface="Arial"/>
                          <a:ea typeface="Arial"/>
                          <a:cs typeface="Arial"/>
                          <a:sym typeface="Arial"/>
                        </a:rPr>
                        <a:t>Día, dd/mm/yyyy</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1905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4"/>
                        </a:lnSpc>
                        <a:spcBef>
                          <a:spcPts val="0"/>
                        </a:spcBef>
                        <a:spcAft>
                          <a:spcPts val="0"/>
                        </a:spcAft>
                        <a:buNone/>
                      </a:pPr>
                      <a:r>
                        <a:rPr lang="en-US" sz="2799" u="none" cap="none" strike="noStrike">
                          <a:solidFill>
                            <a:srgbClr val="000000"/>
                          </a:solidFill>
                          <a:latin typeface="Arial"/>
                          <a:ea typeface="Arial"/>
                          <a:cs typeface="Arial"/>
                          <a:sym typeface="Arial"/>
                        </a:rPr>
                        <a:t>00:00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6" name="Google Shape;86;p1"/>
          <p:cNvSpPr txBox="1"/>
          <p:nvPr/>
        </p:nvSpPr>
        <p:spPr>
          <a:xfrm>
            <a:off x="1618360" y="4512750"/>
            <a:ext cx="15051280" cy="84772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0" i="0" lang="en-US" sz="4999" u="none" cap="none" strike="noStrike">
                <a:solidFill>
                  <a:srgbClr val="000000"/>
                </a:solidFill>
                <a:latin typeface="Arial"/>
                <a:ea typeface="Arial"/>
                <a:cs typeface="Arial"/>
                <a:sym typeface="Arial"/>
              </a:rPr>
              <a:t>Laboratorio de Redes de Computadoras 1 [Sección]</a:t>
            </a:r>
            <a:endParaRPr/>
          </a:p>
        </p:txBody>
      </p:sp>
      <p:sp>
        <p:nvSpPr>
          <p:cNvPr id="87" name="Google Shape;87;p1"/>
          <p:cNvSpPr txBox="1"/>
          <p:nvPr/>
        </p:nvSpPr>
        <p:spPr>
          <a:xfrm>
            <a:off x="3648960" y="5807475"/>
            <a:ext cx="10989360"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4000" u="none" cap="none" strike="noStrike">
                <a:solidFill>
                  <a:srgbClr val="000000"/>
                </a:solidFill>
                <a:latin typeface="Arial"/>
                <a:ea typeface="Arial"/>
                <a:cs typeface="Arial"/>
                <a:sym typeface="Arial"/>
              </a:rPr>
              <a:t>Nombre Auxiliar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91" name="Shape 91"/>
        <p:cNvGrpSpPr/>
        <p:nvPr/>
      </p:nvGrpSpPr>
      <p:grpSpPr>
        <a:xfrm>
          <a:off x="0" y="0"/>
          <a:ext cx="0" cy="0"/>
          <a:chOff x="0" y="0"/>
          <a:chExt cx="0" cy="0"/>
        </a:xfrm>
      </p:grpSpPr>
      <p:sp>
        <p:nvSpPr>
          <p:cNvPr id="92" name="Google Shape;92;p2"/>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93" name="Google Shape;93;p2"/>
          <p:cNvSpPr txBox="1"/>
          <p:nvPr/>
        </p:nvSpPr>
        <p:spPr>
          <a:xfrm>
            <a:off x="1028700" y="7834026"/>
            <a:ext cx="8469904"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Redes de Computadoras 1</a:t>
            </a:r>
            <a:endParaRPr/>
          </a:p>
        </p:txBody>
      </p:sp>
      <p:sp>
        <p:nvSpPr>
          <p:cNvPr id="94" name="Google Shape;94;p2"/>
          <p:cNvSpPr txBox="1"/>
          <p:nvPr/>
        </p:nvSpPr>
        <p:spPr>
          <a:xfrm>
            <a:off x="1028700" y="8743013"/>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95" name="Google Shape;95;p2"/>
          <p:cNvSpPr txBox="1"/>
          <p:nvPr/>
        </p:nvSpPr>
        <p:spPr>
          <a:xfrm>
            <a:off x="1028700" y="9164169"/>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6" name="Google Shape;96;p2"/>
          <p:cNvSpPr txBox="1"/>
          <p:nvPr/>
        </p:nvSpPr>
        <p:spPr>
          <a:xfrm>
            <a:off x="1028700" y="9586444"/>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7" name="Google Shape;97;p2"/>
          <p:cNvSpPr txBox="1"/>
          <p:nvPr/>
        </p:nvSpPr>
        <p:spPr>
          <a:xfrm>
            <a:off x="1877543" y="3612441"/>
            <a:ext cx="14532914" cy="22828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500" u="none" cap="none" strike="noStrike">
                <a:solidFill>
                  <a:srgbClr val="131416"/>
                </a:solidFill>
                <a:latin typeface="Arial"/>
                <a:ea typeface="Arial"/>
                <a:cs typeface="Arial"/>
                <a:sym typeface="Arial"/>
              </a:rPr>
              <a:t>FUNDAMENTOS E INFRAESTRUCTURA DE LAS REDES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1" name="Shape 101"/>
        <p:cNvGrpSpPr/>
        <p:nvPr/>
      </p:nvGrpSpPr>
      <p:grpSpPr>
        <a:xfrm>
          <a:off x="0" y="0"/>
          <a:ext cx="0" cy="0"/>
          <a:chOff x="0" y="0"/>
          <a:chExt cx="0" cy="0"/>
        </a:xfrm>
      </p:grpSpPr>
      <p:grpSp>
        <p:nvGrpSpPr>
          <p:cNvPr id="102" name="Google Shape;102;p3"/>
          <p:cNvGrpSpPr/>
          <p:nvPr/>
        </p:nvGrpSpPr>
        <p:grpSpPr>
          <a:xfrm>
            <a:off x="1201024" y="3468733"/>
            <a:ext cx="8618101" cy="818641"/>
            <a:chOff x="0" y="0"/>
            <a:chExt cx="11490801" cy="1091522"/>
          </a:xfrm>
        </p:grpSpPr>
        <p:sp>
          <p:nvSpPr>
            <p:cNvPr id="103" name="Google Shape;103;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04" name="Google Shape;104;p3"/>
            <p:cNvGrpSpPr/>
            <p:nvPr/>
          </p:nvGrpSpPr>
          <p:grpSpPr>
            <a:xfrm>
              <a:off x="80171" y="61710"/>
              <a:ext cx="923241" cy="968103"/>
              <a:chOff x="0" y="0"/>
              <a:chExt cx="812800" cy="852295"/>
            </a:xfrm>
          </p:grpSpPr>
          <p:sp>
            <p:nvSpPr>
              <p:cNvPr id="105" name="Google Shape;105;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1</a:t>
                </a:r>
                <a:endParaRPr/>
              </a:p>
            </p:txBody>
          </p:sp>
        </p:grpSp>
        <p:sp>
          <p:nvSpPr>
            <p:cNvPr id="107" name="Google Shape;107;p3"/>
            <p:cNvSpPr txBox="1"/>
            <p:nvPr/>
          </p:nvSpPr>
          <p:spPr>
            <a:xfrm>
              <a:off x="1354714" y="136186"/>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Foro #2</a:t>
              </a:r>
              <a:endParaRPr/>
            </a:p>
          </p:txBody>
        </p:sp>
      </p:grpSp>
      <p:grpSp>
        <p:nvGrpSpPr>
          <p:cNvPr id="108" name="Google Shape;108;p3"/>
          <p:cNvGrpSpPr/>
          <p:nvPr/>
        </p:nvGrpSpPr>
        <p:grpSpPr>
          <a:xfrm>
            <a:off x="1201024" y="4664307"/>
            <a:ext cx="8618101" cy="818641"/>
            <a:chOff x="0" y="0"/>
            <a:chExt cx="11490801" cy="1091522"/>
          </a:xfrm>
        </p:grpSpPr>
        <p:sp>
          <p:nvSpPr>
            <p:cNvPr id="109" name="Google Shape;109;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10" name="Google Shape;110;p3"/>
            <p:cNvGrpSpPr/>
            <p:nvPr/>
          </p:nvGrpSpPr>
          <p:grpSpPr>
            <a:xfrm>
              <a:off x="80171" y="61710"/>
              <a:ext cx="923241" cy="968103"/>
              <a:chOff x="0" y="0"/>
              <a:chExt cx="812800" cy="852295"/>
            </a:xfrm>
          </p:grpSpPr>
          <p:sp>
            <p:nvSpPr>
              <p:cNvPr id="111" name="Google Shape;111;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2</a:t>
                </a:r>
                <a:endParaRPr/>
              </a:p>
            </p:txBody>
          </p:sp>
        </p:grpSp>
        <p:sp>
          <p:nvSpPr>
            <p:cNvPr id="113" name="Google Shape;113;p3"/>
            <p:cNvSpPr txBox="1"/>
            <p:nvPr/>
          </p:nvSpPr>
          <p:spPr>
            <a:xfrm>
              <a:off x="1354714" y="165553"/>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Asignación al DTT</a:t>
              </a:r>
              <a:endParaRPr/>
            </a:p>
          </p:txBody>
        </p:sp>
      </p:grpSp>
      <p:grpSp>
        <p:nvGrpSpPr>
          <p:cNvPr id="114" name="Google Shape;114;p3"/>
          <p:cNvGrpSpPr/>
          <p:nvPr/>
        </p:nvGrpSpPr>
        <p:grpSpPr>
          <a:xfrm>
            <a:off x="1201024" y="5859881"/>
            <a:ext cx="8618101" cy="818641"/>
            <a:chOff x="0" y="0"/>
            <a:chExt cx="11490801" cy="1091522"/>
          </a:xfrm>
        </p:grpSpPr>
        <p:sp>
          <p:nvSpPr>
            <p:cNvPr id="115" name="Google Shape;115;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16" name="Google Shape;116;p3"/>
            <p:cNvGrpSpPr/>
            <p:nvPr/>
          </p:nvGrpSpPr>
          <p:grpSpPr>
            <a:xfrm>
              <a:off x="80171" y="61710"/>
              <a:ext cx="923241" cy="968103"/>
              <a:chOff x="0" y="0"/>
              <a:chExt cx="812800" cy="852295"/>
            </a:xfrm>
          </p:grpSpPr>
          <p:sp>
            <p:nvSpPr>
              <p:cNvPr id="117" name="Google Shape;117;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3</a:t>
                </a:r>
                <a:endParaRPr/>
              </a:p>
            </p:txBody>
          </p:sp>
        </p:grpSp>
        <p:sp>
          <p:nvSpPr>
            <p:cNvPr id="119" name="Google Shape;119;p3"/>
            <p:cNvSpPr txBox="1"/>
            <p:nvPr/>
          </p:nvSpPr>
          <p:spPr>
            <a:xfrm>
              <a:off x="1354714" y="136186"/>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PROGRAMA DEL LABORATORIO</a:t>
              </a:r>
              <a:endParaRPr/>
            </a:p>
          </p:txBody>
        </p:sp>
      </p:grpSp>
      <p:grpSp>
        <p:nvGrpSpPr>
          <p:cNvPr id="120" name="Google Shape;120;p3"/>
          <p:cNvGrpSpPr/>
          <p:nvPr/>
        </p:nvGrpSpPr>
        <p:grpSpPr>
          <a:xfrm>
            <a:off x="1201024" y="7059522"/>
            <a:ext cx="8283382" cy="818641"/>
            <a:chOff x="0" y="0"/>
            <a:chExt cx="11044510" cy="1091522"/>
          </a:xfrm>
        </p:grpSpPr>
        <p:sp>
          <p:nvSpPr>
            <p:cNvPr id="121" name="Google Shape;121;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22" name="Google Shape;122;p3"/>
            <p:cNvGrpSpPr/>
            <p:nvPr/>
          </p:nvGrpSpPr>
          <p:grpSpPr>
            <a:xfrm>
              <a:off x="80171" y="61710"/>
              <a:ext cx="923241" cy="968103"/>
              <a:chOff x="0" y="0"/>
              <a:chExt cx="812800" cy="852295"/>
            </a:xfrm>
          </p:grpSpPr>
          <p:sp>
            <p:nvSpPr>
              <p:cNvPr id="123" name="Google Shape;123;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4</a:t>
                </a:r>
                <a:endParaRPr/>
              </a:p>
            </p:txBody>
          </p:sp>
        </p:grpSp>
        <p:sp>
          <p:nvSpPr>
            <p:cNvPr id="125" name="Google Shape;125;p3"/>
            <p:cNvSpPr txBox="1"/>
            <p:nvPr/>
          </p:nvSpPr>
          <p:spPr>
            <a:xfrm>
              <a:off x="1354714" y="136186"/>
              <a:ext cx="9689796"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ENTREGA TAREA 1</a:t>
              </a:r>
              <a:endParaRPr/>
            </a:p>
          </p:txBody>
        </p:sp>
      </p:grpSp>
      <p:cxnSp>
        <p:nvCxnSpPr>
          <p:cNvPr id="126" name="Google Shape;126;p3"/>
          <p:cNvCxnSpPr/>
          <p:nvPr/>
        </p:nvCxnSpPr>
        <p:spPr>
          <a:xfrm>
            <a:off x="2191619" y="2459125"/>
            <a:ext cx="5625906" cy="0"/>
          </a:xfrm>
          <a:prstGeom prst="straightConnector1">
            <a:avLst/>
          </a:prstGeom>
          <a:noFill/>
          <a:ln cap="flat" cmpd="sng" w="57150">
            <a:solidFill>
              <a:srgbClr val="4E639E"/>
            </a:solidFill>
            <a:prstDash val="solid"/>
            <a:round/>
            <a:headEnd len="sm" w="sm" type="none"/>
            <a:tailEnd len="med" w="med" type="stealth"/>
          </a:ln>
        </p:spPr>
      </p:cxnSp>
      <p:grpSp>
        <p:nvGrpSpPr>
          <p:cNvPr id="127" name="Google Shape;127;p3"/>
          <p:cNvGrpSpPr/>
          <p:nvPr/>
        </p:nvGrpSpPr>
        <p:grpSpPr>
          <a:xfrm>
            <a:off x="1173238" y="791128"/>
            <a:ext cx="2036762" cy="2036762"/>
            <a:chOff x="0" y="0"/>
            <a:chExt cx="812800" cy="812800"/>
          </a:xfrm>
        </p:grpSpPr>
        <p:sp>
          <p:nvSpPr>
            <p:cNvPr id="128" name="Google Shape;128;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0" name="Google Shape;130;p3"/>
          <p:cNvGrpSpPr/>
          <p:nvPr/>
        </p:nvGrpSpPr>
        <p:grpSpPr>
          <a:xfrm>
            <a:off x="1286296" y="810178"/>
            <a:ext cx="1952280" cy="1952280"/>
            <a:chOff x="0" y="0"/>
            <a:chExt cx="812800" cy="812800"/>
          </a:xfrm>
        </p:grpSpPr>
        <p:sp>
          <p:nvSpPr>
            <p:cNvPr id="131" name="Google Shape;131;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33" name="Google Shape;133;p3"/>
          <p:cNvCxnSpPr/>
          <p:nvPr/>
        </p:nvCxnSpPr>
        <p:spPr>
          <a:xfrm rot="10800000">
            <a:off x="2304677" y="900550"/>
            <a:ext cx="0" cy="270525"/>
          </a:xfrm>
          <a:prstGeom prst="straightConnector1">
            <a:avLst/>
          </a:prstGeom>
          <a:noFill/>
          <a:ln cap="flat" cmpd="sng" w="38100">
            <a:solidFill>
              <a:srgbClr val="F2981B"/>
            </a:solidFill>
            <a:prstDash val="solid"/>
            <a:round/>
            <a:headEnd len="sm" w="sm" type="none"/>
            <a:tailEnd len="sm" w="sm" type="none"/>
          </a:ln>
        </p:spPr>
      </p:cxnSp>
      <p:cxnSp>
        <p:nvCxnSpPr>
          <p:cNvPr id="134" name="Google Shape;134;p3"/>
          <p:cNvCxnSpPr/>
          <p:nvPr/>
        </p:nvCxnSpPr>
        <p:spPr>
          <a:xfrm rot="10800000">
            <a:off x="2304677" y="2440075"/>
            <a:ext cx="0" cy="270525"/>
          </a:xfrm>
          <a:prstGeom prst="straightConnector1">
            <a:avLst/>
          </a:prstGeom>
          <a:noFill/>
          <a:ln cap="flat" cmpd="sng" w="38100">
            <a:solidFill>
              <a:srgbClr val="F2981B"/>
            </a:solidFill>
            <a:prstDash val="solid"/>
            <a:round/>
            <a:headEnd len="sm" w="sm" type="none"/>
            <a:tailEnd len="sm" w="sm" type="none"/>
          </a:ln>
        </p:spPr>
      </p:cxnSp>
      <p:cxnSp>
        <p:nvCxnSpPr>
          <p:cNvPr id="135" name="Google Shape;135;p3"/>
          <p:cNvCxnSpPr/>
          <p:nvPr/>
        </p:nvCxnSpPr>
        <p:spPr>
          <a:xfrm>
            <a:off x="1376668" y="1828559"/>
            <a:ext cx="270525" cy="0"/>
          </a:xfrm>
          <a:prstGeom prst="straightConnector1">
            <a:avLst/>
          </a:prstGeom>
          <a:noFill/>
          <a:ln cap="flat" cmpd="sng" w="38100">
            <a:solidFill>
              <a:srgbClr val="F2981B"/>
            </a:solidFill>
            <a:prstDash val="solid"/>
            <a:round/>
            <a:headEnd len="sm" w="sm" type="none"/>
            <a:tailEnd len="sm" w="sm" type="none"/>
          </a:ln>
        </p:spPr>
      </p:cxnSp>
      <p:cxnSp>
        <p:nvCxnSpPr>
          <p:cNvPr id="136" name="Google Shape;136;p3"/>
          <p:cNvCxnSpPr/>
          <p:nvPr/>
        </p:nvCxnSpPr>
        <p:spPr>
          <a:xfrm>
            <a:off x="1637147" y="1214806"/>
            <a:ext cx="227634" cy="146172"/>
          </a:xfrm>
          <a:prstGeom prst="straightConnector1">
            <a:avLst/>
          </a:prstGeom>
          <a:noFill/>
          <a:ln cap="flat" cmpd="sng" w="38100">
            <a:solidFill>
              <a:srgbClr val="F2981B"/>
            </a:solidFill>
            <a:prstDash val="solid"/>
            <a:round/>
            <a:headEnd len="sm" w="sm" type="none"/>
            <a:tailEnd len="sm" w="sm" type="none"/>
          </a:ln>
        </p:spPr>
      </p:cxnSp>
      <p:cxnSp>
        <p:nvCxnSpPr>
          <p:cNvPr id="137" name="Google Shape;137;p3"/>
          <p:cNvCxnSpPr/>
          <p:nvPr/>
        </p:nvCxnSpPr>
        <p:spPr>
          <a:xfrm flipH="1" rot="10800000">
            <a:off x="1659549" y="2257971"/>
            <a:ext cx="205895" cy="175474"/>
          </a:xfrm>
          <a:prstGeom prst="straightConnector1">
            <a:avLst/>
          </a:prstGeom>
          <a:noFill/>
          <a:ln cap="flat" cmpd="sng" w="38100">
            <a:solidFill>
              <a:srgbClr val="F2981B"/>
            </a:solidFill>
            <a:prstDash val="solid"/>
            <a:round/>
            <a:headEnd len="sm" w="sm" type="none"/>
            <a:tailEnd len="sm" w="sm" type="none"/>
          </a:ln>
        </p:spPr>
      </p:cxnSp>
      <p:sp>
        <p:nvSpPr>
          <p:cNvPr id="138" name="Google Shape;138;p3"/>
          <p:cNvSpPr txBox="1"/>
          <p:nvPr/>
        </p:nvSpPr>
        <p:spPr>
          <a:xfrm>
            <a:off x="-1199356" y="1312473"/>
            <a:ext cx="11556696" cy="1130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500" u="none" cap="none" strike="noStrike">
                <a:solidFill>
                  <a:srgbClr val="145C8C"/>
                </a:solidFill>
                <a:latin typeface="Arial"/>
                <a:ea typeface="Arial"/>
                <a:cs typeface="Arial"/>
                <a:sym typeface="Arial"/>
              </a:rPr>
              <a:t>AGENDA</a:t>
            </a:r>
            <a:endParaRPr/>
          </a:p>
        </p:txBody>
      </p:sp>
      <p:sp>
        <p:nvSpPr>
          <p:cNvPr id="139" name="Google Shape;139;p3"/>
          <p:cNvSpPr txBox="1"/>
          <p:nvPr/>
        </p:nvSpPr>
        <p:spPr>
          <a:xfrm>
            <a:off x="14297125" y="9432926"/>
            <a:ext cx="3990875" cy="8540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Montserrat"/>
                <a:ea typeface="Montserrat"/>
                <a:cs typeface="Montserrat"/>
                <a:sym typeface="Montserrat"/>
              </a:rPr>
              <a:t>CLASE 2</a:t>
            </a:r>
            <a:endParaRPr/>
          </a:p>
        </p:txBody>
      </p:sp>
      <p:grpSp>
        <p:nvGrpSpPr>
          <p:cNvPr id="140" name="Google Shape;140;p3"/>
          <p:cNvGrpSpPr/>
          <p:nvPr/>
        </p:nvGrpSpPr>
        <p:grpSpPr>
          <a:xfrm>
            <a:off x="1201024" y="8259163"/>
            <a:ext cx="8283382" cy="818641"/>
            <a:chOff x="0" y="0"/>
            <a:chExt cx="11044510" cy="1091522"/>
          </a:xfrm>
        </p:grpSpPr>
        <p:sp>
          <p:nvSpPr>
            <p:cNvPr id="141" name="Google Shape;141;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42" name="Google Shape;142;p3"/>
            <p:cNvGrpSpPr/>
            <p:nvPr/>
          </p:nvGrpSpPr>
          <p:grpSpPr>
            <a:xfrm>
              <a:off x="80171" y="61710"/>
              <a:ext cx="923241" cy="968103"/>
              <a:chOff x="0" y="0"/>
              <a:chExt cx="812800" cy="852295"/>
            </a:xfrm>
          </p:grpSpPr>
          <p:sp>
            <p:nvSpPr>
              <p:cNvPr id="143" name="Google Shape;143;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5</a:t>
                </a:r>
                <a:endParaRPr/>
              </a:p>
            </p:txBody>
          </p:sp>
        </p:grpSp>
        <p:sp>
          <p:nvSpPr>
            <p:cNvPr id="145" name="Google Shape;145;p3"/>
            <p:cNvSpPr txBox="1"/>
            <p:nvPr/>
          </p:nvSpPr>
          <p:spPr>
            <a:xfrm>
              <a:off x="1354714" y="136186"/>
              <a:ext cx="9689796"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CONTENIDO DE LA CLASE</a:t>
              </a:r>
              <a:endParaRPr/>
            </a:p>
          </p:txBody>
        </p:sp>
      </p:grpSp>
      <p:grpSp>
        <p:nvGrpSpPr>
          <p:cNvPr id="146" name="Google Shape;146;p3"/>
          <p:cNvGrpSpPr/>
          <p:nvPr/>
        </p:nvGrpSpPr>
        <p:grpSpPr>
          <a:xfrm>
            <a:off x="9454043" y="3373806"/>
            <a:ext cx="8618101" cy="818641"/>
            <a:chOff x="0" y="0"/>
            <a:chExt cx="11490801" cy="1091522"/>
          </a:xfrm>
        </p:grpSpPr>
        <p:sp>
          <p:nvSpPr>
            <p:cNvPr id="147" name="Google Shape;147;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48" name="Google Shape;148;p3"/>
            <p:cNvGrpSpPr/>
            <p:nvPr/>
          </p:nvGrpSpPr>
          <p:grpSpPr>
            <a:xfrm>
              <a:off x="80171" y="61710"/>
              <a:ext cx="923241" cy="968103"/>
              <a:chOff x="0" y="0"/>
              <a:chExt cx="812800" cy="852295"/>
            </a:xfrm>
          </p:grpSpPr>
          <p:sp>
            <p:nvSpPr>
              <p:cNvPr id="149" name="Google Shape;149;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1</a:t>
                </a:r>
                <a:endParaRPr/>
              </a:p>
            </p:txBody>
          </p:sp>
        </p:grpSp>
        <p:sp>
          <p:nvSpPr>
            <p:cNvPr id="151" name="Google Shape;151;p3"/>
            <p:cNvSpPr txBox="1"/>
            <p:nvPr/>
          </p:nvSpPr>
          <p:spPr>
            <a:xfrm>
              <a:off x="1354714" y="136186"/>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sng" cap="none" strike="noStrike">
                  <a:solidFill>
                    <a:srgbClr val="1F1674"/>
                  </a:solidFill>
                  <a:latin typeface="Bebas Neue"/>
                  <a:ea typeface="Bebas Neue"/>
                  <a:cs typeface="Bebas Neue"/>
                  <a:sym typeface="Bebas Neue"/>
                  <a:hlinkClick r:id="rId4">
                    <a:extLst>
                      <a:ext uri="{A12FA001-AC4F-418D-AE19-62706E023703}">
                        <ahyp:hlinkClr val="tx"/>
                      </a:ext>
                    </a:extLst>
                  </a:hlinkClick>
                </a:rPr>
                <a:t>VIDEO NORMAS Y ESTÁNDARES</a:t>
              </a:r>
              <a:endParaRPr/>
            </a:p>
          </p:txBody>
        </p:sp>
      </p:grpSp>
      <p:grpSp>
        <p:nvGrpSpPr>
          <p:cNvPr id="152" name="Google Shape;152;p3"/>
          <p:cNvGrpSpPr/>
          <p:nvPr/>
        </p:nvGrpSpPr>
        <p:grpSpPr>
          <a:xfrm>
            <a:off x="9454043" y="5859881"/>
            <a:ext cx="8618101" cy="818641"/>
            <a:chOff x="0" y="0"/>
            <a:chExt cx="11490801" cy="1091522"/>
          </a:xfrm>
        </p:grpSpPr>
        <p:sp>
          <p:nvSpPr>
            <p:cNvPr id="153" name="Google Shape;153;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54" name="Google Shape;154;p3"/>
            <p:cNvGrpSpPr/>
            <p:nvPr/>
          </p:nvGrpSpPr>
          <p:grpSpPr>
            <a:xfrm>
              <a:off x="80171" y="61710"/>
              <a:ext cx="923241" cy="968103"/>
              <a:chOff x="0" y="0"/>
              <a:chExt cx="812800" cy="852295"/>
            </a:xfrm>
          </p:grpSpPr>
          <p:sp>
            <p:nvSpPr>
              <p:cNvPr id="155" name="Google Shape;155;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3</a:t>
                </a:r>
                <a:endParaRPr/>
              </a:p>
            </p:txBody>
          </p:sp>
        </p:grpSp>
        <p:sp>
          <p:nvSpPr>
            <p:cNvPr id="157" name="Google Shape;157;p3"/>
            <p:cNvSpPr txBox="1"/>
            <p:nvPr/>
          </p:nvSpPr>
          <p:spPr>
            <a:xfrm>
              <a:off x="1354714" y="165553"/>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sng" cap="none" strike="noStrike">
                  <a:solidFill>
                    <a:srgbClr val="1F1674"/>
                  </a:solidFill>
                  <a:latin typeface="Bebas Neue"/>
                  <a:ea typeface="Bebas Neue"/>
                  <a:cs typeface="Bebas Neue"/>
                  <a:sym typeface="Bebas Neue"/>
                  <a:hlinkClick r:id="rId5">
                    <a:extLst>
                      <a:ext uri="{A12FA001-AC4F-418D-AE19-62706E023703}">
                        <ahyp:hlinkClr val="tx"/>
                      </a:ext>
                    </a:extLst>
                  </a:hlinkClick>
                </a:rPr>
                <a:t>CABLEADO Y GESTIÓN DE CABLES</a:t>
              </a:r>
              <a:endParaRPr/>
            </a:p>
          </p:txBody>
        </p:sp>
      </p:grpSp>
      <p:cxnSp>
        <p:nvCxnSpPr>
          <p:cNvPr id="158" name="Google Shape;158;p3"/>
          <p:cNvCxnSpPr/>
          <p:nvPr/>
        </p:nvCxnSpPr>
        <p:spPr>
          <a:xfrm>
            <a:off x="10384771" y="2478175"/>
            <a:ext cx="5625906" cy="0"/>
          </a:xfrm>
          <a:prstGeom prst="straightConnector1">
            <a:avLst/>
          </a:prstGeom>
          <a:noFill/>
          <a:ln cap="flat" cmpd="sng" w="57150">
            <a:solidFill>
              <a:srgbClr val="4E639E"/>
            </a:solidFill>
            <a:prstDash val="solid"/>
            <a:round/>
            <a:headEnd len="sm" w="sm" type="none"/>
            <a:tailEnd len="med" w="med" type="stealth"/>
          </a:ln>
        </p:spPr>
      </p:cxnSp>
      <p:grpSp>
        <p:nvGrpSpPr>
          <p:cNvPr id="159" name="Google Shape;159;p3"/>
          <p:cNvGrpSpPr/>
          <p:nvPr/>
        </p:nvGrpSpPr>
        <p:grpSpPr>
          <a:xfrm>
            <a:off x="9366390" y="810178"/>
            <a:ext cx="2036762" cy="2036762"/>
            <a:chOff x="0" y="0"/>
            <a:chExt cx="812800" cy="812800"/>
          </a:xfrm>
        </p:grpSpPr>
        <p:sp>
          <p:nvSpPr>
            <p:cNvPr id="160" name="Google Shape;160;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3"/>
          <p:cNvGrpSpPr/>
          <p:nvPr/>
        </p:nvGrpSpPr>
        <p:grpSpPr>
          <a:xfrm>
            <a:off x="9479448" y="829228"/>
            <a:ext cx="1952280" cy="1952280"/>
            <a:chOff x="0" y="0"/>
            <a:chExt cx="812800" cy="812800"/>
          </a:xfrm>
        </p:grpSpPr>
        <p:sp>
          <p:nvSpPr>
            <p:cNvPr id="163" name="Google Shape;16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65" name="Google Shape;165;p3"/>
          <p:cNvCxnSpPr/>
          <p:nvPr/>
        </p:nvCxnSpPr>
        <p:spPr>
          <a:xfrm rot="10800000">
            <a:off x="10497829" y="919600"/>
            <a:ext cx="0" cy="270525"/>
          </a:xfrm>
          <a:prstGeom prst="straightConnector1">
            <a:avLst/>
          </a:prstGeom>
          <a:noFill/>
          <a:ln cap="flat" cmpd="sng" w="38100">
            <a:solidFill>
              <a:srgbClr val="F2981B"/>
            </a:solidFill>
            <a:prstDash val="solid"/>
            <a:round/>
            <a:headEnd len="sm" w="sm" type="none"/>
            <a:tailEnd len="sm" w="sm" type="none"/>
          </a:ln>
        </p:spPr>
      </p:cxnSp>
      <p:cxnSp>
        <p:nvCxnSpPr>
          <p:cNvPr id="166" name="Google Shape;166;p3"/>
          <p:cNvCxnSpPr/>
          <p:nvPr/>
        </p:nvCxnSpPr>
        <p:spPr>
          <a:xfrm rot="10800000">
            <a:off x="10497829" y="2459125"/>
            <a:ext cx="0" cy="270525"/>
          </a:xfrm>
          <a:prstGeom prst="straightConnector1">
            <a:avLst/>
          </a:prstGeom>
          <a:noFill/>
          <a:ln cap="flat" cmpd="sng" w="38100">
            <a:solidFill>
              <a:srgbClr val="F2981B"/>
            </a:solidFill>
            <a:prstDash val="solid"/>
            <a:round/>
            <a:headEnd len="sm" w="sm" type="none"/>
            <a:tailEnd len="sm" w="sm" type="none"/>
          </a:ln>
        </p:spPr>
      </p:cxnSp>
      <p:cxnSp>
        <p:nvCxnSpPr>
          <p:cNvPr id="167" name="Google Shape;167;p3"/>
          <p:cNvCxnSpPr/>
          <p:nvPr/>
        </p:nvCxnSpPr>
        <p:spPr>
          <a:xfrm>
            <a:off x="9569820" y="1847609"/>
            <a:ext cx="270525" cy="0"/>
          </a:xfrm>
          <a:prstGeom prst="straightConnector1">
            <a:avLst/>
          </a:prstGeom>
          <a:noFill/>
          <a:ln cap="flat" cmpd="sng" w="38100">
            <a:solidFill>
              <a:srgbClr val="F2981B"/>
            </a:solidFill>
            <a:prstDash val="solid"/>
            <a:round/>
            <a:headEnd len="sm" w="sm" type="none"/>
            <a:tailEnd len="sm" w="sm" type="none"/>
          </a:ln>
        </p:spPr>
      </p:cxnSp>
      <p:cxnSp>
        <p:nvCxnSpPr>
          <p:cNvPr id="168" name="Google Shape;168;p3"/>
          <p:cNvCxnSpPr/>
          <p:nvPr/>
        </p:nvCxnSpPr>
        <p:spPr>
          <a:xfrm>
            <a:off x="9830299" y="1233856"/>
            <a:ext cx="227634" cy="146172"/>
          </a:xfrm>
          <a:prstGeom prst="straightConnector1">
            <a:avLst/>
          </a:prstGeom>
          <a:noFill/>
          <a:ln cap="flat" cmpd="sng" w="38100">
            <a:solidFill>
              <a:srgbClr val="F2981B"/>
            </a:solidFill>
            <a:prstDash val="solid"/>
            <a:round/>
            <a:headEnd len="sm" w="sm" type="none"/>
            <a:tailEnd len="sm" w="sm" type="none"/>
          </a:ln>
        </p:spPr>
      </p:cxnSp>
      <p:cxnSp>
        <p:nvCxnSpPr>
          <p:cNvPr id="169" name="Google Shape;169;p3"/>
          <p:cNvCxnSpPr/>
          <p:nvPr/>
        </p:nvCxnSpPr>
        <p:spPr>
          <a:xfrm flipH="1" rot="10800000">
            <a:off x="9852702" y="2277021"/>
            <a:ext cx="205895" cy="175474"/>
          </a:xfrm>
          <a:prstGeom prst="straightConnector1">
            <a:avLst/>
          </a:prstGeom>
          <a:noFill/>
          <a:ln cap="flat" cmpd="sng" w="38100">
            <a:solidFill>
              <a:srgbClr val="F2981B"/>
            </a:solidFill>
            <a:prstDash val="solid"/>
            <a:round/>
            <a:headEnd len="sm" w="sm" type="none"/>
            <a:tailEnd len="sm" w="sm" type="none"/>
          </a:ln>
        </p:spPr>
      </p:cxnSp>
      <p:sp>
        <p:nvSpPr>
          <p:cNvPr id="170" name="Google Shape;170;p3"/>
          <p:cNvSpPr txBox="1"/>
          <p:nvPr/>
        </p:nvSpPr>
        <p:spPr>
          <a:xfrm>
            <a:off x="6993796" y="1331523"/>
            <a:ext cx="11556696" cy="1130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500" u="none" cap="none" strike="noStrike">
                <a:solidFill>
                  <a:srgbClr val="145C8C"/>
                </a:solidFill>
                <a:latin typeface="Arial"/>
                <a:ea typeface="Arial"/>
                <a:cs typeface="Arial"/>
                <a:sym typeface="Arial"/>
              </a:rPr>
              <a:t>RECURSOS</a:t>
            </a:r>
            <a:endParaRPr/>
          </a:p>
        </p:txBody>
      </p:sp>
      <p:grpSp>
        <p:nvGrpSpPr>
          <p:cNvPr id="171" name="Google Shape;171;p3"/>
          <p:cNvGrpSpPr/>
          <p:nvPr/>
        </p:nvGrpSpPr>
        <p:grpSpPr>
          <a:xfrm>
            <a:off x="9479448" y="4660239"/>
            <a:ext cx="8618101" cy="818641"/>
            <a:chOff x="0" y="0"/>
            <a:chExt cx="11490801" cy="1091522"/>
          </a:xfrm>
        </p:grpSpPr>
        <p:sp>
          <p:nvSpPr>
            <p:cNvPr id="172" name="Google Shape;172;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73" name="Google Shape;173;p3"/>
            <p:cNvGrpSpPr/>
            <p:nvPr/>
          </p:nvGrpSpPr>
          <p:grpSpPr>
            <a:xfrm>
              <a:off x="80171" y="61710"/>
              <a:ext cx="923241" cy="968103"/>
              <a:chOff x="0" y="0"/>
              <a:chExt cx="812800" cy="852295"/>
            </a:xfrm>
          </p:grpSpPr>
          <p:sp>
            <p:nvSpPr>
              <p:cNvPr id="174" name="Google Shape;174;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2</a:t>
                </a:r>
                <a:endParaRPr/>
              </a:p>
            </p:txBody>
          </p:sp>
        </p:grpSp>
        <p:sp>
          <p:nvSpPr>
            <p:cNvPr id="176" name="Google Shape;176;p3"/>
            <p:cNvSpPr txBox="1"/>
            <p:nvPr/>
          </p:nvSpPr>
          <p:spPr>
            <a:xfrm>
              <a:off x="1354714" y="136186"/>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sng" cap="none" strike="noStrike">
                  <a:solidFill>
                    <a:srgbClr val="1F1674"/>
                  </a:solidFill>
                  <a:latin typeface="Bebas Neue"/>
                  <a:ea typeface="Bebas Neue"/>
                  <a:cs typeface="Bebas Neue"/>
                  <a:sym typeface="Bebas Neue"/>
                  <a:hlinkClick r:id="rId6">
                    <a:extLst>
                      <a:ext uri="{A12FA001-AC4F-418D-AE19-62706E023703}">
                        <ahyp:hlinkClr val="tx"/>
                      </a:ext>
                    </a:extLst>
                  </a:hlinkClick>
                </a:rPr>
                <a:t>INSIDE A GOOGLE DATA CENTER</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80" name="Shape 180"/>
        <p:cNvGrpSpPr/>
        <p:nvPr/>
      </p:nvGrpSpPr>
      <p:grpSpPr>
        <a:xfrm>
          <a:off x="0" y="0"/>
          <a:ext cx="0" cy="0"/>
          <a:chOff x="0" y="0"/>
          <a:chExt cx="0" cy="0"/>
        </a:xfrm>
      </p:grpSpPr>
      <p:grpSp>
        <p:nvGrpSpPr>
          <p:cNvPr id="181" name="Google Shape;181;p4"/>
          <p:cNvGrpSpPr/>
          <p:nvPr/>
        </p:nvGrpSpPr>
        <p:grpSpPr>
          <a:xfrm>
            <a:off x="1972206" y="3224211"/>
            <a:ext cx="15287111" cy="2933764"/>
            <a:chOff x="0" y="0"/>
            <a:chExt cx="20382814" cy="3911686"/>
          </a:xfrm>
        </p:grpSpPr>
        <p:sp>
          <p:nvSpPr>
            <p:cNvPr id="182" name="Google Shape;182;p4"/>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sp>
        <p:grpSp>
          <p:nvGrpSpPr>
            <p:cNvPr id="183" name="Google Shape;183;p4"/>
            <p:cNvGrpSpPr/>
            <p:nvPr/>
          </p:nvGrpSpPr>
          <p:grpSpPr>
            <a:xfrm>
              <a:off x="80171" y="61710"/>
              <a:ext cx="923241" cy="968103"/>
              <a:chOff x="0" y="0"/>
              <a:chExt cx="812800" cy="852295"/>
            </a:xfrm>
          </p:grpSpPr>
          <p:sp>
            <p:nvSpPr>
              <p:cNvPr id="184" name="Google Shape;184;p4"/>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Bebas Neue"/>
                    <a:ea typeface="Bebas Neue"/>
                    <a:cs typeface="Bebas Neue"/>
                    <a:sym typeface="Bebas Neue"/>
                  </a:rPr>
                  <a:t>-</a:t>
                </a:r>
                <a:endParaRPr/>
              </a:p>
            </p:txBody>
          </p:sp>
        </p:grpSp>
        <p:sp>
          <p:nvSpPr>
            <p:cNvPr id="186" name="Google Shape;186;p4"/>
            <p:cNvSpPr txBox="1"/>
            <p:nvPr/>
          </p:nvSpPr>
          <p:spPr>
            <a:xfrm>
              <a:off x="1354714" y="136186"/>
              <a:ext cx="19028100" cy="3775500"/>
            </a:xfrm>
            <a:prstGeom prst="rect">
              <a:avLst/>
            </a:prstGeom>
            <a:noFill/>
            <a:ln>
              <a:noFill/>
            </a:ln>
          </p:spPr>
          <p:txBody>
            <a:bodyPr anchorCtr="0" anchor="t" bIns="0" lIns="0" spcFirstLastPara="1" rIns="0" wrap="square" tIns="0">
              <a:spAutoFit/>
            </a:bodyPr>
            <a:lstStyle/>
            <a:p>
              <a:pPr indent="0" lvl="0" marL="0" marR="0" rtl="0" algn="just">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APLICA</a:t>
              </a:r>
              <a:r>
                <a:rPr b="1" lang="en-US" sz="3999">
                  <a:solidFill>
                    <a:srgbClr val="1F1674"/>
                  </a:solidFill>
                  <a:latin typeface="Bebas Neue"/>
                  <a:ea typeface="Bebas Neue"/>
                  <a:cs typeface="Bebas Neue"/>
                  <a:sym typeface="Bebas Neue"/>
                </a:rPr>
                <a:t> </a:t>
              </a:r>
              <a:r>
                <a:rPr b="1" i="0" lang="en-US" sz="3999" u="none" cap="none" strike="noStrike">
                  <a:solidFill>
                    <a:srgbClr val="1F1674"/>
                  </a:solidFill>
                  <a:latin typeface="Bebas Neue"/>
                  <a:ea typeface="Bebas Neue"/>
                  <a:cs typeface="Bebas Neue"/>
                  <a:sym typeface="Bebas Neue"/>
                </a:rPr>
                <a:t>LOS PRINCIPIOS DEL CABLEADO ESTRUCTURADO UTILIZANDO NORMAS Y ESTÁNDARES INTERNACIONALES PARA CONFIGURAR DISPOSITIVOS DE CAPA 2 Y 3, SIGUIENDO LOS PROTOCOLOS Y CONCEPTOS GENERALES DE REDES PARA ASEGURAR UNA INFRAESTRUCTURA EFICIENTE.</a:t>
              </a:r>
              <a:endParaRPr/>
            </a:p>
          </p:txBody>
        </p:sp>
      </p:grpSp>
      <p:cxnSp>
        <p:nvCxnSpPr>
          <p:cNvPr id="187" name="Google Shape;187;p4"/>
          <p:cNvCxnSpPr/>
          <p:nvPr/>
        </p:nvCxnSpPr>
        <p:spPr>
          <a:xfrm>
            <a:off x="1712928" y="2065194"/>
            <a:ext cx="5625906" cy="0"/>
          </a:xfrm>
          <a:prstGeom prst="straightConnector1">
            <a:avLst/>
          </a:prstGeom>
          <a:noFill/>
          <a:ln cap="flat" cmpd="sng" w="57150">
            <a:solidFill>
              <a:srgbClr val="4E639E"/>
            </a:solidFill>
            <a:prstDash val="solid"/>
            <a:round/>
            <a:headEnd len="sm" w="sm" type="none"/>
            <a:tailEnd len="med" w="med" type="stealth"/>
          </a:ln>
        </p:spPr>
      </p:cxnSp>
      <p:grpSp>
        <p:nvGrpSpPr>
          <p:cNvPr id="188" name="Google Shape;188;p4"/>
          <p:cNvGrpSpPr/>
          <p:nvPr/>
        </p:nvGrpSpPr>
        <p:grpSpPr>
          <a:xfrm>
            <a:off x="694547" y="397197"/>
            <a:ext cx="2036762" cy="2036762"/>
            <a:chOff x="0" y="0"/>
            <a:chExt cx="812800" cy="812800"/>
          </a:xfrm>
        </p:grpSpPr>
        <p:sp>
          <p:nvSpPr>
            <p:cNvPr id="189" name="Google Shape;18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1" name="Google Shape;191;p4"/>
          <p:cNvGrpSpPr/>
          <p:nvPr/>
        </p:nvGrpSpPr>
        <p:grpSpPr>
          <a:xfrm>
            <a:off x="807605" y="416247"/>
            <a:ext cx="1952280" cy="1952280"/>
            <a:chOff x="0" y="0"/>
            <a:chExt cx="812800" cy="812800"/>
          </a:xfrm>
        </p:grpSpPr>
        <p:sp>
          <p:nvSpPr>
            <p:cNvPr id="192" name="Google Shape;19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94" name="Google Shape;194;p4"/>
          <p:cNvCxnSpPr/>
          <p:nvPr/>
        </p:nvCxnSpPr>
        <p:spPr>
          <a:xfrm rot="10800000">
            <a:off x="1825986" y="506620"/>
            <a:ext cx="0" cy="270525"/>
          </a:xfrm>
          <a:prstGeom prst="straightConnector1">
            <a:avLst/>
          </a:prstGeom>
          <a:noFill/>
          <a:ln cap="flat" cmpd="sng" w="38100">
            <a:solidFill>
              <a:srgbClr val="F2981B"/>
            </a:solidFill>
            <a:prstDash val="solid"/>
            <a:round/>
            <a:headEnd len="sm" w="sm" type="none"/>
            <a:tailEnd len="sm" w="sm" type="none"/>
          </a:ln>
        </p:spPr>
      </p:cxnSp>
      <p:cxnSp>
        <p:nvCxnSpPr>
          <p:cNvPr id="195" name="Google Shape;195;p4"/>
          <p:cNvCxnSpPr/>
          <p:nvPr/>
        </p:nvCxnSpPr>
        <p:spPr>
          <a:xfrm rot="10800000">
            <a:off x="1825986" y="2046144"/>
            <a:ext cx="0" cy="270525"/>
          </a:xfrm>
          <a:prstGeom prst="straightConnector1">
            <a:avLst/>
          </a:prstGeom>
          <a:noFill/>
          <a:ln cap="flat" cmpd="sng" w="38100">
            <a:solidFill>
              <a:srgbClr val="F2981B"/>
            </a:solidFill>
            <a:prstDash val="solid"/>
            <a:round/>
            <a:headEnd len="sm" w="sm" type="none"/>
            <a:tailEnd len="sm" w="sm" type="none"/>
          </a:ln>
        </p:spPr>
      </p:cxnSp>
      <p:cxnSp>
        <p:nvCxnSpPr>
          <p:cNvPr id="196" name="Google Shape;196;p4"/>
          <p:cNvCxnSpPr/>
          <p:nvPr/>
        </p:nvCxnSpPr>
        <p:spPr>
          <a:xfrm>
            <a:off x="897977" y="1434628"/>
            <a:ext cx="270525" cy="0"/>
          </a:xfrm>
          <a:prstGeom prst="straightConnector1">
            <a:avLst/>
          </a:prstGeom>
          <a:noFill/>
          <a:ln cap="flat" cmpd="sng" w="38100">
            <a:solidFill>
              <a:srgbClr val="F2981B"/>
            </a:solidFill>
            <a:prstDash val="solid"/>
            <a:round/>
            <a:headEnd len="sm" w="sm" type="none"/>
            <a:tailEnd len="sm" w="sm" type="none"/>
          </a:ln>
        </p:spPr>
      </p:cxnSp>
      <p:cxnSp>
        <p:nvCxnSpPr>
          <p:cNvPr id="197" name="Google Shape;197;p4"/>
          <p:cNvCxnSpPr/>
          <p:nvPr/>
        </p:nvCxnSpPr>
        <p:spPr>
          <a:xfrm>
            <a:off x="1158456" y="820875"/>
            <a:ext cx="227634" cy="146172"/>
          </a:xfrm>
          <a:prstGeom prst="straightConnector1">
            <a:avLst/>
          </a:prstGeom>
          <a:noFill/>
          <a:ln cap="flat" cmpd="sng" w="38100">
            <a:solidFill>
              <a:srgbClr val="F2981B"/>
            </a:solidFill>
            <a:prstDash val="solid"/>
            <a:round/>
            <a:headEnd len="sm" w="sm" type="none"/>
            <a:tailEnd len="sm" w="sm" type="none"/>
          </a:ln>
        </p:spPr>
      </p:cxnSp>
      <p:cxnSp>
        <p:nvCxnSpPr>
          <p:cNvPr id="198" name="Google Shape;198;p4"/>
          <p:cNvCxnSpPr/>
          <p:nvPr/>
        </p:nvCxnSpPr>
        <p:spPr>
          <a:xfrm flipH="1" rot="10800000">
            <a:off x="1180858" y="1864040"/>
            <a:ext cx="205895" cy="175474"/>
          </a:xfrm>
          <a:prstGeom prst="straightConnector1">
            <a:avLst/>
          </a:prstGeom>
          <a:noFill/>
          <a:ln cap="flat" cmpd="sng" w="38100">
            <a:solidFill>
              <a:srgbClr val="F2981B"/>
            </a:solidFill>
            <a:prstDash val="solid"/>
            <a:round/>
            <a:headEnd len="sm" w="sm" type="none"/>
            <a:tailEnd len="sm" w="sm" type="none"/>
          </a:ln>
        </p:spPr>
      </p:cxnSp>
      <p:sp>
        <p:nvSpPr>
          <p:cNvPr id="199" name="Google Shape;199;p4"/>
          <p:cNvSpPr txBox="1"/>
          <p:nvPr/>
        </p:nvSpPr>
        <p:spPr>
          <a:xfrm>
            <a:off x="2888727" y="798041"/>
            <a:ext cx="14987855" cy="1130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6500" u="none" cap="none" strike="noStrike">
                <a:solidFill>
                  <a:srgbClr val="145C8C"/>
                </a:solidFill>
                <a:latin typeface="Arial"/>
                <a:ea typeface="Arial"/>
                <a:cs typeface="Arial"/>
                <a:sym typeface="Arial"/>
              </a:rPr>
              <a:t>COMPETENCIA(S) A DESARROLLAR</a:t>
            </a:r>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03" name="Shape 203"/>
        <p:cNvGrpSpPr/>
        <p:nvPr/>
      </p:nvGrpSpPr>
      <p:grpSpPr>
        <a:xfrm>
          <a:off x="0" y="0"/>
          <a:ext cx="0" cy="0"/>
          <a:chOff x="0" y="0"/>
          <a:chExt cx="0" cy="0"/>
        </a:xfrm>
      </p:grpSpPr>
      <p:sp>
        <p:nvSpPr>
          <p:cNvPr id="204" name="Google Shape;204;p5"/>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sp>
      <p:grpSp>
        <p:nvGrpSpPr>
          <p:cNvPr id="205" name="Google Shape;205;p5"/>
          <p:cNvGrpSpPr/>
          <p:nvPr/>
        </p:nvGrpSpPr>
        <p:grpSpPr>
          <a:xfrm rot="-182069">
            <a:off x="2624194" y="1635284"/>
            <a:ext cx="6817034" cy="6817034"/>
            <a:chOff x="0" y="0"/>
            <a:chExt cx="812800" cy="812800"/>
          </a:xfrm>
        </p:grpSpPr>
        <p:sp>
          <p:nvSpPr>
            <p:cNvPr id="206" name="Google Shape;206;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5"/>
          <p:cNvGrpSpPr/>
          <p:nvPr/>
        </p:nvGrpSpPr>
        <p:grpSpPr>
          <a:xfrm rot="-182069">
            <a:off x="3171294" y="1629937"/>
            <a:ext cx="6609519" cy="6609519"/>
            <a:chOff x="0" y="0"/>
            <a:chExt cx="812800" cy="812800"/>
          </a:xfrm>
        </p:grpSpPr>
        <p:sp>
          <p:nvSpPr>
            <p:cNvPr id="209" name="Google Shape;209;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1" name="Google Shape;211;p5"/>
          <p:cNvGrpSpPr/>
          <p:nvPr/>
        </p:nvGrpSpPr>
        <p:grpSpPr>
          <a:xfrm rot="-886328">
            <a:off x="2234838" y="5472307"/>
            <a:ext cx="896087" cy="968527"/>
            <a:chOff x="0" y="-47625"/>
            <a:chExt cx="236006" cy="255085"/>
          </a:xfrm>
        </p:grpSpPr>
        <p:sp>
          <p:nvSpPr>
            <p:cNvPr id="212" name="Google Shape;212;p5"/>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sp>
        <p:sp>
          <p:nvSpPr>
            <p:cNvPr id="213" name="Google Shape;213;p5"/>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5"/>
          <p:cNvGrpSpPr/>
          <p:nvPr/>
        </p:nvGrpSpPr>
        <p:grpSpPr>
          <a:xfrm rot="-738237">
            <a:off x="468910" y="5475585"/>
            <a:ext cx="2101522" cy="1431732"/>
            <a:chOff x="0" y="-47625"/>
            <a:chExt cx="553487" cy="377082"/>
          </a:xfrm>
        </p:grpSpPr>
        <p:sp>
          <p:nvSpPr>
            <p:cNvPr id="215" name="Google Shape;215;p5"/>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5"/>
          <p:cNvSpPr txBox="1"/>
          <p:nvPr/>
        </p:nvSpPr>
        <p:spPr>
          <a:xfrm>
            <a:off x="2448536" y="3853176"/>
            <a:ext cx="12470643" cy="2371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CABLEADO ESTRUCTURADO</a:t>
            </a:r>
            <a:endParaRPr/>
          </a:p>
        </p:txBody>
      </p:sp>
      <p:sp>
        <p:nvSpPr>
          <p:cNvPr id="218" name="Google Shape;218;p5"/>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sp>
      <p:sp>
        <p:nvSpPr>
          <p:cNvPr id="219" name="Google Shape;219;p5"/>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LABORATORIO DE REDES DE COMPUTADORAS 1</a:t>
            </a: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23" name="Shape 223"/>
        <p:cNvGrpSpPr/>
        <p:nvPr/>
      </p:nvGrpSpPr>
      <p:grpSpPr>
        <a:xfrm>
          <a:off x="0" y="0"/>
          <a:ext cx="0" cy="0"/>
          <a:chOff x="0" y="0"/>
          <a:chExt cx="0" cy="0"/>
        </a:xfrm>
      </p:grpSpPr>
      <p:grpSp>
        <p:nvGrpSpPr>
          <p:cNvPr id="224" name="Google Shape;224;p6"/>
          <p:cNvGrpSpPr/>
          <p:nvPr/>
        </p:nvGrpSpPr>
        <p:grpSpPr>
          <a:xfrm>
            <a:off x="1808506" y="534938"/>
            <a:ext cx="14499051" cy="2154982"/>
            <a:chOff x="0" y="-157626"/>
            <a:chExt cx="19332068" cy="2873309"/>
          </a:xfrm>
        </p:grpSpPr>
        <p:cxnSp>
          <p:nvCxnSpPr>
            <p:cNvPr id="225" name="Google Shape;225;p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226" name="Google Shape;226;p6"/>
            <p:cNvGrpSpPr/>
            <p:nvPr/>
          </p:nvGrpSpPr>
          <p:grpSpPr>
            <a:xfrm>
              <a:off x="0" y="0"/>
              <a:ext cx="2715683" cy="2715683"/>
              <a:chOff x="0" y="0"/>
              <a:chExt cx="812800" cy="812800"/>
            </a:xfrm>
          </p:grpSpPr>
          <p:sp>
            <p:nvSpPr>
              <p:cNvPr id="227" name="Google Shape;22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9" name="Google Shape;229;p6"/>
            <p:cNvGrpSpPr/>
            <p:nvPr/>
          </p:nvGrpSpPr>
          <p:grpSpPr>
            <a:xfrm>
              <a:off x="150744" y="-157626"/>
              <a:ext cx="2603039" cy="2786065"/>
              <a:chOff x="0" y="-57150"/>
              <a:chExt cx="812800" cy="869950"/>
            </a:xfrm>
          </p:grpSpPr>
          <p:sp>
            <p:nvSpPr>
              <p:cNvPr id="230" name="Google Shape;230;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32" name="Google Shape;232;p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233" name="Google Shape;233;p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234" name="Google Shape;234;p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235" name="Google Shape;235;p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236" name="Google Shape;236;p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237" name="Google Shape;237;p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238" name="Google Shape;238;p6"/>
          <p:cNvSpPr txBox="1"/>
          <p:nvPr/>
        </p:nvSpPr>
        <p:spPr>
          <a:xfrm>
            <a:off x="3845269" y="1394362"/>
            <a:ext cx="11783408" cy="74802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300" u="none" cap="none" strike="noStrike">
                <a:solidFill>
                  <a:srgbClr val="145C8C"/>
                </a:solidFill>
                <a:latin typeface="Arial"/>
                <a:ea typeface="Arial"/>
                <a:cs typeface="Arial"/>
                <a:sym typeface="Arial"/>
              </a:rPr>
              <a:t>¿QUÉ ES EL CABLEADO ESTRUCTURADO?</a:t>
            </a:r>
            <a:endParaRPr/>
          </a:p>
        </p:txBody>
      </p:sp>
      <p:sp>
        <p:nvSpPr>
          <p:cNvPr id="239" name="Google Shape;239;p6"/>
          <p:cNvSpPr txBox="1"/>
          <p:nvPr/>
        </p:nvSpPr>
        <p:spPr>
          <a:xfrm>
            <a:off x="1808506" y="3399379"/>
            <a:ext cx="14499051" cy="3114675"/>
          </a:xfrm>
          <a:prstGeom prst="rect">
            <a:avLst/>
          </a:prstGeom>
          <a:noFill/>
          <a:ln>
            <a:noFill/>
          </a:ln>
        </p:spPr>
        <p:txBody>
          <a:bodyPr anchorCtr="0" anchor="t" bIns="0" lIns="0" spcFirstLastPara="1" rIns="0" wrap="square" tIns="0">
            <a:spAutoFit/>
          </a:bodyPr>
          <a:lstStyle/>
          <a:p>
            <a:pPr indent="-323848" lvl="1" marL="647698" marR="0" rtl="0" algn="just">
              <a:lnSpc>
                <a:spcPct val="140013"/>
              </a:lnSpc>
              <a:spcBef>
                <a:spcPts val="0"/>
              </a:spcBef>
              <a:spcAft>
                <a:spcPts val="0"/>
              </a:spcAft>
              <a:buClr>
                <a:srgbClr val="1F1674"/>
              </a:buClr>
              <a:buSzPts val="2999"/>
              <a:buFont typeface="Arial"/>
              <a:buChar char="•"/>
            </a:pPr>
            <a:r>
              <a:rPr b="0" i="0" lang="en-US" sz="2999" u="none" cap="none" strike="noStrike">
                <a:solidFill>
                  <a:srgbClr val="1F1674"/>
                </a:solidFill>
                <a:latin typeface="Montserrat"/>
                <a:ea typeface="Montserrat"/>
                <a:cs typeface="Montserrat"/>
                <a:sym typeface="Montserrat"/>
              </a:rPr>
              <a:t>Es un Sistema de cables, conectores, canalizaciones y dispositivos, el cual permite establecer una infraestructura de telecomunicación en un edificio.</a:t>
            </a:r>
            <a:endParaRPr/>
          </a:p>
          <a:p>
            <a:pPr indent="-323848" lvl="1" marL="647698" marR="0" rtl="0" algn="just">
              <a:lnSpc>
                <a:spcPct val="140013"/>
              </a:lnSpc>
              <a:spcBef>
                <a:spcPts val="0"/>
              </a:spcBef>
              <a:spcAft>
                <a:spcPts val="0"/>
              </a:spcAft>
              <a:buClr>
                <a:srgbClr val="1F1674"/>
              </a:buClr>
              <a:buSzPts val="2999"/>
              <a:buFont typeface="Arial"/>
              <a:buChar char="•"/>
            </a:pPr>
            <a:r>
              <a:rPr b="0" i="0" lang="en-US" sz="2999" u="none" cap="none" strike="noStrike">
                <a:solidFill>
                  <a:srgbClr val="1F1674"/>
                </a:solidFill>
                <a:latin typeface="Montserrat"/>
                <a:ea typeface="Montserrat"/>
                <a:cs typeface="Montserrat"/>
                <a:sym typeface="Montserrat"/>
              </a:rPr>
              <a:t>Tiene estándares los cuales permiten que ofrezca flexibilidad de instalación e independencia. Además de una amplia capacidad de crecimiento y fácil administración</a:t>
            </a:r>
            <a:endParaRPr/>
          </a:p>
        </p:txBody>
      </p:sp>
      <p:sp>
        <p:nvSpPr>
          <p:cNvPr id="240" name="Google Shape;240;p6"/>
          <p:cNvSpPr/>
          <p:nvPr/>
        </p:nvSpPr>
        <p:spPr>
          <a:xfrm flipH="1">
            <a:off x="7374475" y="6948272"/>
            <a:ext cx="3539051" cy="2734721"/>
          </a:xfrm>
          <a:custGeom>
            <a:rect b="b" l="l" r="r" t="t"/>
            <a:pathLst>
              <a:path extrusionOk="0" h="2734721" w="3539051">
                <a:moveTo>
                  <a:pt x="3539050" y="0"/>
                </a:moveTo>
                <a:lnTo>
                  <a:pt x="0" y="0"/>
                </a:lnTo>
                <a:lnTo>
                  <a:pt x="0" y="2734721"/>
                </a:lnTo>
                <a:lnTo>
                  <a:pt x="3539050" y="2734721"/>
                </a:lnTo>
                <a:lnTo>
                  <a:pt x="3539050" y="0"/>
                </a:lnTo>
                <a:close/>
              </a:path>
            </a:pathLst>
          </a:custGeom>
          <a:blipFill rotWithShape="1">
            <a:blip r:embed="rId3">
              <a:alphaModFix/>
            </a:blip>
            <a:stretch>
              <a:fillRect b="0" l="0" r="0" t="0"/>
            </a:stretch>
          </a:blipFill>
          <a:ln>
            <a:noFill/>
          </a:ln>
        </p:spPr>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44" name="Shape 244"/>
        <p:cNvGrpSpPr/>
        <p:nvPr/>
      </p:nvGrpSpPr>
      <p:grpSpPr>
        <a:xfrm>
          <a:off x="0" y="0"/>
          <a:ext cx="0" cy="0"/>
          <a:chOff x="0" y="0"/>
          <a:chExt cx="0" cy="0"/>
        </a:xfrm>
      </p:grpSpPr>
      <p:grpSp>
        <p:nvGrpSpPr>
          <p:cNvPr id="245" name="Google Shape;245;p7"/>
          <p:cNvGrpSpPr/>
          <p:nvPr/>
        </p:nvGrpSpPr>
        <p:grpSpPr>
          <a:xfrm>
            <a:off x="1611566" y="3266178"/>
            <a:ext cx="14695991" cy="5270373"/>
            <a:chOff x="0" y="-47625"/>
            <a:chExt cx="3870549" cy="1388082"/>
          </a:xfrm>
        </p:grpSpPr>
        <p:sp>
          <p:nvSpPr>
            <p:cNvPr id="246" name="Google Shape;246;p7"/>
            <p:cNvSpPr/>
            <p:nvPr/>
          </p:nvSpPr>
          <p:spPr>
            <a:xfrm>
              <a:off x="0" y="0"/>
              <a:ext cx="3870549" cy="1340457"/>
            </a:xfrm>
            <a:custGeom>
              <a:rect b="b" l="l" r="r" t="t"/>
              <a:pathLst>
                <a:path extrusionOk="0" h="1340457" w="3870549">
                  <a:moveTo>
                    <a:pt x="26867" y="0"/>
                  </a:moveTo>
                  <a:lnTo>
                    <a:pt x="3843682" y="0"/>
                  </a:lnTo>
                  <a:cubicBezTo>
                    <a:pt x="3850808" y="0"/>
                    <a:pt x="3857641" y="2831"/>
                    <a:pt x="3862680" y="7869"/>
                  </a:cubicBezTo>
                  <a:cubicBezTo>
                    <a:pt x="3867719" y="12908"/>
                    <a:pt x="3870549" y="19741"/>
                    <a:pt x="3870549" y="26867"/>
                  </a:cubicBezTo>
                  <a:lnTo>
                    <a:pt x="3870549" y="1313590"/>
                  </a:lnTo>
                  <a:cubicBezTo>
                    <a:pt x="3870549" y="1320715"/>
                    <a:pt x="3867719" y="1327549"/>
                    <a:pt x="3862680" y="1332588"/>
                  </a:cubicBezTo>
                  <a:cubicBezTo>
                    <a:pt x="3857641" y="1337626"/>
                    <a:pt x="3850808" y="1340457"/>
                    <a:pt x="3843682" y="1340457"/>
                  </a:cubicBezTo>
                  <a:lnTo>
                    <a:pt x="26867" y="1340457"/>
                  </a:lnTo>
                  <a:cubicBezTo>
                    <a:pt x="19741" y="1340457"/>
                    <a:pt x="12908" y="1337626"/>
                    <a:pt x="7869" y="1332588"/>
                  </a:cubicBezTo>
                  <a:cubicBezTo>
                    <a:pt x="2831" y="1327549"/>
                    <a:pt x="0" y="1320715"/>
                    <a:pt x="0" y="1313590"/>
                  </a:cubicBezTo>
                  <a:lnTo>
                    <a:pt x="0" y="26867"/>
                  </a:lnTo>
                  <a:cubicBezTo>
                    <a:pt x="0" y="19741"/>
                    <a:pt x="2831" y="12908"/>
                    <a:pt x="7869" y="7869"/>
                  </a:cubicBezTo>
                  <a:cubicBezTo>
                    <a:pt x="12908" y="2831"/>
                    <a:pt x="19741" y="0"/>
                    <a:pt x="26867" y="0"/>
                  </a:cubicBezTo>
                  <a:close/>
                </a:path>
              </a:pathLst>
            </a:custGeom>
            <a:solidFill>
              <a:srgbClr val="FFA85A"/>
            </a:solidFill>
            <a:ln cap="rnd" cmpd="sng" w="15240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txBox="1"/>
            <p:nvPr/>
          </p:nvSpPr>
          <p:spPr>
            <a:xfrm>
              <a:off x="0" y="-47625"/>
              <a:ext cx="3870549" cy="1388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7"/>
          <p:cNvGrpSpPr/>
          <p:nvPr/>
        </p:nvGrpSpPr>
        <p:grpSpPr>
          <a:xfrm>
            <a:off x="1808506" y="534938"/>
            <a:ext cx="14499051" cy="2154982"/>
            <a:chOff x="0" y="-157626"/>
            <a:chExt cx="19332068" cy="2873309"/>
          </a:xfrm>
        </p:grpSpPr>
        <p:cxnSp>
          <p:nvCxnSpPr>
            <p:cNvPr id="249" name="Google Shape;249;p7"/>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250" name="Google Shape;250;p7"/>
            <p:cNvGrpSpPr/>
            <p:nvPr/>
          </p:nvGrpSpPr>
          <p:grpSpPr>
            <a:xfrm>
              <a:off x="0" y="0"/>
              <a:ext cx="2715683" cy="2715683"/>
              <a:chOff x="0" y="0"/>
              <a:chExt cx="812800" cy="812800"/>
            </a:xfrm>
          </p:grpSpPr>
          <p:sp>
            <p:nvSpPr>
              <p:cNvPr id="251" name="Google Shape;25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7"/>
            <p:cNvGrpSpPr/>
            <p:nvPr/>
          </p:nvGrpSpPr>
          <p:grpSpPr>
            <a:xfrm>
              <a:off x="150744" y="-157626"/>
              <a:ext cx="2603039" cy="2786065"/>
              <a:chOff x="0" y="-57150"/>
              <a:chExt cx="812800" cy="869950"/>
            </a:xfrm>
          </p:grpSpPr>
          <p:sp>
            <p:nvSpPr>
              <p:cNvPr id="254" name="Google Shape;25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56" name="Google Shape;256;p7"/>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257" name="Google Shape;257;p7"/>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258" name="Google Shape;258;p7"/>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259" name="Google Shape;259;p7"/>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260" name="Google Shape;260;p7"/>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261" name="Google Shape;261;p7"/>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262" name="Google Shape;262;p7"/>
          <p:cNvSpPr txBox="1"/>
          <p:nvPr/>
        </p:nvSpPr>
        <p:spPr>
          <a:xfrm>
            <a:off x="3829539" y="1281015"/>
            <a:ext cx="1178340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CABLEADO ESTRUCTURADO</a:t>
            </a:r>
            <a:endParaRPr/>
          </a:p>
        </p:txBody>
      </p:sp>
      <p:grpSp>
        <p:nvGrpSpPr>
          <p:cNvPr id="263" name="Google Shape;263;p7"/>
          <p:cNvGrpSpPr/>
          <p:nvPr/>
        </p:nvGrpSpPr>
        <p:grpSpPr>
          <a:xfrm>
            <a:off x="2011936" y="2961378"/>
            <a:ext cx="6724704" cy="5317250"/>
            <a:chOff x="0" y="-47625"/>
            <a:chExt cx="1771115" cy="1400428"/>
          </a:xfrm>
        </p:grpSpPr>
        <p:sp>
          <p:nvSpPr>
            <p:cNvPr id="264" name="Google Shape;264;p7"/>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sp>
        <p:sp>
          <p:nvSpPr>
            <p:cNvPr id="265" name="Google Shape;265;p7"/>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7"/>
          <p:cNvGrpSpPr/>
          <p:nvPr/>
        </p:nvGrpSpPr>
        <p:grpSpPr>
          <a:xfrm>
            <a:off x="9118972" y="2961378"/>
            <a:ext cx="6724704" cy="5317250"/>
            <a:chOff x="0" y="-47625"/>
            <a:chExt cx="1771115" cy="1400428"/>
          </a:xfrm>
        </p:grpSpPr>
        <p:sp>
          <p:nvSpPr>
            <p:cNvPr id="267" name="Google Shape;267;p7"/>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sp>
        <p:sp>
          <p:nvSpPr>
            <p:cNvPr id="268" name="Google Shape;268;p7"/>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9" name="Google Shape;269;p7"/>
          <p:cNvSpPr txBox="1"/>
          <p:nvPr/>
        </p:nvSpPr>
        <p:spPr>
          <a:xfrm>
            <a:off x="1714661" y="32213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500" u="none" cap="none" strike="noStrike">
                <a:solidFill>
                  <a:srgbClr val="1F1674"/>
                </a:solidFill>
                <a:latin typeface="Bebas Neue"/>
                <a:ea typeface="Bebas Neue"/>
                <a:cs typeface="Bebas Neue"/>
                <a:sym typeface="Bebas Neue"/>
              </a:rPr>
              <a:t>VENTAJAS</a:t>
            </a:r>
            <a:endParaRPr/>
          </a:p>
        </p:txBody>
      </p:sp>
      <p:sp>
        <p:nvSpPr>
          <p:cNvPr id="270" name="Google Shape;270;p7"/>
          <p:cNvSpPr txBox="1"/>
          <p:nvPr/>
        </p:nvSpPr>
        <p:spPr>
          <a:xfrm>
            <a:off x="2366774" y="4098684"/>
            <a:ext cx="6015029" cy="3729038"/>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 independiente de la información que se transmite.</a:t>
            </a:r>
            <a:endParaRPr/>
          </a:p>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Se gastan recursos en una sola estructura de cableado y no en varias.</a:t>
            </a:r>
            <a:endParaRPr/>
          </a:p>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Muy confiable</a:t>
            </a:r>
            <a:endParaRPr/>
          </a:p>
        </p:txBody>
      </p:sp>
      <p:sp>
        <p:nvSpPr>
          <p:cNvPr id="271" name="Google Shape;271;p7"/>
          <p:cNvSpPr txBox="1"/>
          <p:nvPr/>
        </p:nvSpPr>
        <p:spPr>
          <a:xfrm>
            <a:off x="8959561" y="32213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500" u="none" cap="none" strike="noStrike">
                <a:solidFill>
                  <a:srgbClr val="1F1674"/>
                </a:solidFill>
                <a:latin typeface="Bebas Neue"/>
                <a:ea typeface="Bebas Neue"/>
                <a:cs typeface="Bebas Neue"/>
                <a:sym typeface="Bebas Neue"/>
              </a:rPr>
              <a:t>DESVENTAJAS</a:t>
            </a:r>
            <a:endParaRPr/>
          </a:p>
        </p:txBody>
      </p:sp>
      <p:sp>
        <p:nvSpPr>
          <p:cNvPr id="272" name="Google Shape;272;p7"/>
          <p:cNvSpPr txBox="1"/>
          <p:nvPr/>
        </p:nvSpPr>
        <p:spPr>
          <a:xfrm>
            <a:off x="9519375" y="4098684"/>
            <a:ext cx="5721032" cy="3200400"/>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Diferentes trazados de cableado.</a:t>
            </a:r>
            <a:endParaRPr/>
          </a:p>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Incompatibilidad de sistemas.</a:t>
            </a:r>
            <a:endParaRPr/>
          </a:p>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Reinstalación para traslado</a:t>
            </a: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76" name="Shape 276"/>
        <p:cNvGrpSpPr/>
        <p:nvPr/>
      </p:nvGrpSpPr>
      <p:grpSpPr>
        <a:xfrm>
          <a:off x="0" y="0"/>
          <a:ext cx="0" cy="0"/>
          <a:chOff x="0" y="0"/>
          <a:chExt cx="0" cy="0"/>
        </a:xfrm>
      </p:grpSpPr>
      <p:sp>
        <p:nvSpPr>
          <p:cNvPr id="277" name="Google Shape;277;p8"/>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sp>
      <p:grpSp>
        <p:nvGrpSpPr>
          <p:cNvPr id="278" name="Google Shape;278;p8"/>
          <p:cNvGrpSpPr/>
          <p:nvPr/>
        </p:nvGrpSpPr>
        <p:grpSpPr>
          <a:xfrm rot="-182069">
            <a:off x="2624194" y="1635284"/>
            <a:ext cx="6817034" cy="6817034"/>
            <a:chOff x="0" y="0"/>
            <a:chExt cx="812800" cy="812800"/>
          </a:xfrm>
        </p:grpSpPr>
        <p:sp>
          <p:nvSpPr>
            <p:cNvPr id="279" name="Google Shape;279;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p8"/>
          <p:cNvGrpSpPr/>
          <p:nvPr/>
        </p:nvGrpSpPr>
        <p:grpSpPr>
          <a:xfrm rot="-182069">
            <a:off x="3171294" y="1629937"/>
            <a:ext cx="6609519" cy="6609519"/>
            <a:chOff x="0" y="0"/>
            <a:chExt cx="812800" cy="812800"/>
          </a:xfrm>
        </p:grpSpPr>
        <p:sp>
          <p:nvSpPr>
            <p:cNvPr id="282" name="Google Shape;282;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8"/>
          <p:cNvGrpSpPr/>
          <p:nvPr/>
        </p:nvGrpSpPr>
        <p:grpSpPr>
          <a:xfrm rot="-886328">
            <a:off x="2234838" y="5472307"/>
            <a:ext cx="896087" cy="968527"/>
            <a:chOff x="0" y="-47625"/>
            <a:chExt cx="236006" cy="255085"/>
          </a:xfrm>
        </p:grpSpPr>
        <p:sp>
          <p:nvSpPr>
            <p:cNvPr id="285" name="Google Shape;285;p8"/>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sp>
        <p:sp>
          <p:nvSpPr>
            <p:cNvPr id="286" name="Google Shape;286;p8"/>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8"/>
          <p:cNvGrpSpPr/>
          <p:nvPr/>
        </p:nvGrpSpPr>
        <p:grpSpPr>
          <a:xfrm rot="-738237">
            <a:off x="468910" y="5475585"/>
            <a:ext cx="2101522" cy="1431732"/>
            <a:chOff x="0" y="-47625"/>
            <a:chExt cx="553487" cy="377082"/>
          </a:xfrm>
        </p:grpSpPr>
        <p:sp>
          <p:nvSpPr>
            <p:cNvPr id="288" name="Google Shape;288;p8"/>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8"/>
          <p:cNvSpPr txBox="1"/>
          <p:nvPr/>
        </p:nvSpPr>
        <p:spPr>
          <a:xfrm>
            <a:off x="3178543" y="3362325"/>
            <a:ext cx="12470643" cy="35528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SUBSISTEMA DE UN SISTEMA DE CABLEADO ESTRUCTURADO</a:t>
            </a:r>
            <a:endParaRPr/>
          </a:p>
        </p:txBody>
      </p:sp>
      <p:sp>
        <p:nvSpPr>
          <p:cNvPr id="291" name="Google Shape;291;p8"/>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sp>
      <p:sp>
        <p:nvSpPr>
          <p:cNvPr id="292" name="Google Shape;292;p8"/>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LABORATORIO DE REDES DE COMPUTADORAS 1</a:t>
            </a:r>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296" name="Shape 296"/>
        <p:cNvGrpSpPr/>
        <p:nvPr/>
      </p:nvGrpSpPr>
      <p:grpSpPr>
        <a:xfrm>
          <a:off x="0" y="0"/>
          <a:ext cx="0" cy="0"/>
          <a:chOff x="0" y="0"/>
          <a:chExt cx="0" cy="0"/>
        </a:xfrm>
      </p:grpSpPr>
      <p:sp>
        <p:nvSpPr>
          <p:cNvPr id="297" name="Google Shape;297;p9"/>
          <p:cNvSpPr/>
          <p:nvPr/>
        </p:nvSpPr>
        <p:spPr>
          <a:xfrm>
            <a:off x="1028700" y="1929536"/>
            <a:ext cx="8196634" cy="5557265"/>
          </a:xfrm>
          <a:custGeom>
            <a:rect b="b" l="l" r="r" t="t"/>
            <a:pathLst>
              <a:path extrusionOk="0" h="5557265" w="8196634">
                <a:moveTo>
                  <a:pt x="0" y="0"/>
                </a:moveTo>
                <a:lnTo>
                  <a:pt x="8196634" y="0"/>
                </a:lnTo>
                <a:lnTo>
                  <a:pt x="8196634" y="5557265"/>
                </a:lnTo>
                <a:lnTo>
                  <a:pt x="0" y="5557265"/>
                </a:lnTo>
                <a:lnTo>
                  <a:pt x="0" y="0"/>
                </a:lnTo>
                <a:close/>
              </a:path>
            </a:pathLst>
          </a:custGeom>
          <a:blipFill rotWithShape="1">
            <a:blip r:embed="rId3">
              <a:alphaModFix/>
            </a:blip>
            <a:stretch>
              <a:fillRect b="0" l="0" r="0" t="0"/>
            </a:stretch>
          </a:blipFill>
          <a:ln>
            <a:noFill/>
          </a:ln>
        </p:spPr>
      </p:sp>
      <p:sp>
        <p:nvSpPr>
          <p:cNvPr id="298" name="Google Shape;298;p9"/>
          <p:cNvSpPr txBox="1"/>
          <p:nvPr/>
        </p:nvSpPr>
        <p:spPr>
          <a:xfrm>
            <a:off x="10350126" y="3074631"/>
            <a:ext cx="7035009" cy="320992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Acometida</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Cuarto de equipos</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Cableado vertical o Backbone</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Armario de Telecomunicaciones</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Cableado Horizontal/Distribución</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Área de Trabajo</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02" name="Shape 302"/>
        <p:cNvGrpSpPr/>
        <p:nvPr/>
      </p:nvGrpSpPr>
      <p:grpSpPr>
        <a:xfrm>
          <a:off x="0" y="0"/>
          <a:ext cx="0" cy="0"/>
          <a:chOff x="0" y="0"/>
          <a:chExt cx="0" cy="0"/>
        </a:xfrm>
      </p:grpSpPr>
      <p:grpSp>
        <p:nvGrpSpPr>
          <p:cNvPr id="303" name="Google Shape;303;p10"/>
          <p:cNvGrpSpPr/>
          <p:nvPr/>
        </p:nvGrpSpPr>
        <p:grpSpPr>
          <a:xfrm>
            <a:off x="2055756" y="504791"/>
            <a:ext cx="14499051" cy="2154982"/>
            <a:chOff x="0" y="-157626"/>
            <a:chExt cx="19332068" cy="2873309"/>
          </a:xfrm>
        </p:grpSpPr>
        <p:cxnSp>
          <p:nvCxnSpPr>
            <p:cNvPr id="304" name="Google Shape;304;p10"/>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05" name="Google Shape;305;p10"/>
            <p:cNvGrpSpPr/>
            <p:nvPr/>
          </p:nvGrpSpPr>
          <p:grpSpPr>
            <a:xfrm>
              <a:off x="0" y="0"/>
              <a:ext cx="2715683" cy="2715683"/>
              <a:chOff x="0" y="0"/>
              <a:chExt cx="812800" cy="812800"/>
            </a:xfrm>
          </p:grpSpPr>
          <p:sp>
            <p:nvSpPr>
              <p:cNvPr id="306" name="Google Shape;30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p10"/>
            <p:cNvGrpSpPr/>
            <p:nvPr/>
          </p:nvGrpSpPr>
          <p:grpSpPr>
            <a:xfrm>
              <a:off x="150744" y="-157626"/>
              <a:ext cx="2603039" cy="2786065"/>
              <a:chOff x="0" y="-57150"/>
              <a:chExt cx="812800" cy="869950"/>
            </a:xfrm>
          </p:grpSpPr>
          <p:sp>
            <p:nvSpPr>
              <p:cNvPr id="309" name="Google Shape;30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11" name="Google Shape;311;p10"/>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12" name="Google Shape;312;p10"/>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13" name="Google Shape;313;p10"/>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14" name="Google Shape;314;p10"/>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15" name="Google Shape;315;p10"/>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16" name="Google Shape;316;p10"/>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317" name="Google Shape;317;p10"/>
          <p:cNvSpPr/>
          <p:nvPr/>
        </p:nvSpPr>
        <p:spPr>
          <a:xfrm>
            <a:off x="7954393" y="3342372"/>
            <a:ext cx="9304907" cy="5216387"/>
          </a:xfrm>
          <a:custGeom>
            <a:rect b="b" l="l" r="r" t="t"/>
            <a:pathLst>
              <a:path extrusionOk="0" h="5216387" w="9304907">
                <a:moveTo>
                  <a:pt x="0" y="0"/>
                </a:moveTo>
                <a:lnTo>
                  <a:pt x="9304907" y="0"/>
                </a:lnTo>
                <a:lnTo>
                  <a:pt x="9304907" y="5216388"/>
                </a:lnTo>
                <a:lnTo>
                  <a:pt x="0" y="5216388"/>
                </a:lnTo>
                <a:lnTo>
                  <a:pt x="0" y="0"/>
                </a:lnTo>
                <a:close/>
              </a:path>
            </a:pathLst>
          </a:custGeom>
          <a:blipFill rotWithShape="1">
            <a:blip r:embed="rId3">
              <a:alphaModFix/>
            </a:blip>
            <a:stretch>
              <a:fillRect b="0" l="0" r="0" t="0"/>
            </a:stretch>
          </a:blipFill>
          <a:ln>
            <a:noFill/>
          </a:ln>
        </p:spPr>
      </p:sp>
      <p:sp>
        <p:nvSpPr>
          <p:cNvPr id="318" name="Google Shape;318;p10"/>
          <p:cNvSpPr txBox="1"/>
          <p:nvPr/>
        </p:nvSpPr>
        <p:spPr>
          <a:xfrm>
            <a:off x="833864" y="3672346"/>
            <a:ext cx="6138436" cy="424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FFFFFF"/>
                </a:solidFill>
                <a:latin typeface="Montserrat"/>
                <a:ea typeface="Montserrat"/>
                <a:cs typeface="Montserrat"/>
                <a:sym typeface="Montserrat"/>
              </a:rPr>
              <a:t>Este subsistema engloba a los cables, hardware de conexión, elementos de protección y equipo necesario para conectar las posibles instalaciones de proveedores externos con el sistema de cableado estructurado de la red local.</a:t>
            </a:r>
            <a:endParaRPr/>
          </a:p>
        </p:txBody>
      </p:sp>
      <p:sp>
        <p:nvSpPr>
          <p:cNvPr id="319" name="Google Shape;319;p10"/>
          <p:cNvSpPr txBox="1"/>
          <p:nvPr/>
        </p:nvSpPr>
        <p:spPr>
          <a:xfrm>
            <a:off x="4091940" y="1450384"/>
            <a:ext cx="1171673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F8FCFF"/>
                </a:solidFill>
                <a:latin typeface="Arial"/>
                <a:ea typeface="Arial"/>
                <a:cs typeface="Arial"/>
                <a:sym typeface="Arial"/>
              </a:rPr>
              <a:t>ACOMETIDA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23" name="Shape 323"/>
        <p:cNvGrpSpPr/>
        <p:nvPr/>
      </p:nvGrpSpPr>
      <p:grpSpPr>
        <a:xfrm>
          <a:off x="0" y="0"/>
          <a:ext cx="0" cy="0"/>
          <a:chOff x="0" y="0"/>
          <a:chExt cx="0" cy="0"/>
        </a:xfrm>
      </p:grpSpPr>
      <p:grpSp>
        <p:nvGrpSpPr>
          <p:cNvPr id="324" name="Google Shape;324;p11"/>
          <p:cNvGrpSpPr/>
          <p:nvPr/>
        </p:nvGrpSpPr>
        <p:grpSpPr>
          <a:xfrm>
            <a:off x="2055756" y="504791"/>
            <a:ext cx="14499051" cy="2154982"/>
            <a:chOff x="0" y="-157626"/>
            <a:chExt cx="19332068" cy="2873309"/>
          </a:xfrm>
        </p:grpSpPr>
        <p:cxnSp>
          <p:nvCxnSpPr>
            <p:cNvPr id="325" name="Google Shape;325;p11"/>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26" name="Google Shape;326;p11"/>
            <p:cNvGrpSpPr/>
            <p:nvPr/>
          </p:nvGrpSpPr>
          <p:grpSpPr>
            <a:xfrm>
              <a:off x="0" y="0"/>
              <a:ext cx="2715683" cy="2715683"/>
              <a:chOff x="0" y="0"/>
              <a:chExt cx="812800" cy="812800"/>
            </a:xfrm>
          </p:grpSpPr>
          <p:sp>
            <p:nvSpPr>
              <p:cNvPr id="327" name="Google Shape;327;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11"/>
            <p:cNvGrpSpPr/>
            <p:nvPr/>
          </p:nvGrpSpPr>
          <p:grpSpPr>
            <a:xfrm>
              <a:off x="150744" y="-157626"/>
              <a:ext cx="2603039" cy="2786065"/>
              <a:chOff x="0" y="-57150"/>
              <a:chExt cx="812800" cy="869950"/>
            </a:xfrm>
          </p:grpSpPr>
          <p:sp>
            <p:nvSpPr>
              <p:cNvPr id="330" name="Google Shape;33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32" name="Google Shape;332;p11"/>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33" name="Google Shape;333;p11"/>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34" name="Google Shape;334;p11"/>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35" name="Google Shape;335;p11"/>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36" name="Google Shape;336;p11"/>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37" name="Google Shape;337;p11"/>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338" name="Google Shape;338;p11"/>
          <p:cNvSpPr/>
          <p:nvPr/>
        </p:nvSpPr>
        <p:spPr>
          <a:xfrm>
            <a:off x="7915107" y="3729496"/>
            <a:ext cx="9567456" cy="5407039"/>
          </a:xfrm>
          <a:custGeom>
            <a:rect b="b" l="l" r="r" t="t"/>
            <a:pathLst>
              <a:path extrusionOk="0" h="5407039" w="9567456">
                <a:moveTo>
                  <a:pt x="0" y="0"/>
                </a:moveTo>
                <a:lnTo>
                  <a:pt x="9567456" y="0"/>
                </a:lnTo>
                <a:lnTo>
                  <a:pt x="9567456" y="5407040"/>
                </a:lnTo>
                <a:lnTo>
                  <a:pt x="0" y="5407040"/>
                </a:lnTo>
                <a:lnTo>
                  <a:pt x="0" y="0"/>
                </a:lnTo>
                <a:close/>
              </a:path>
            </a:pathLst>
          </a:custGeom>
          <a:blipFill rotWithShape="1">
            <a:blip r:embed="rId3">
              <a:alphaModFix/>
            </a:blip>
            <a:stretch>
              <a:fillRect b="0" l="0" r="0" t="0"/>
            </a:stretch>
          </a:blipFill>
          <a:ln>
            <a:noFill/>
          </a:ln>
        </p:spPr>
      </p:sp>
      <p:sp>
        <p:nvSpPr>
          <p:cNvPr id="339" name="Google Shape;339;p11"/>
          <p:cNvSpPr txBox="1"/>
          <p:nvPr/>
        </p:nvSpPr>
        <p:spPr>
          <a:xfrm>
            <a:off x="896781" y="3400425"/>
            <a:ext cx="6138436" cy="585787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Típicamente contienen una gran cantidad de equipos de telecomunicaciones que sirven a los ocupantes del edificio, terminaciones de cable.</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Únicamente debe guardar equipos directamente relacionados con el sistema de telecomunicaciones y sus sistemas de soporte.</a:t>
            </a:r>
            <a:endParaRPr/>
          </a:p>
        </p:txBody>
      </p:sp>
      <p:sp>
        <p:nvSpPr>
          <p:cNvPr id="340" name="Google Shape;340;p11"/>
          <p:cNvSpPr txBox="1"/>
          <p:nvPr/>
        </p:nvSpPr>
        <p:spPr>
          <a:xfrm>
            <a:off x="4091940" y="1450384"/>
            <a:ext cx="1171673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F8FCFF"/>
                </a:solidFill>
                <a:latin typeface="Arial"/>
                <a:ea typeface="Arial"/>
                <a:cs typeface="Arial"/>
                <a:sym typeface="Arial"/>
              </a:rPr>
              <a:t>CUARTO DE EQUIPOS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44" name="Shape 344"/>
        <p:cNvGrpSpPr/>
        <p:nvPr/>
      </p:nvGrpSpPr>
      <p:grpSpPr>
        <a:xfrm>
          <a:off x="0" y="0"/>
          <a:ext cx="0" cy="0"/>
          <a:chOff x="0" y="0"/>
          <a:chExt cx="0" cy="0"/>
        </a:xfrm>
      </p:grpSpPr>
      <p:grpSp>
        <p:nvGrpSpPr>
          <p:cNvPr id="345" name="Google Shape;345;p12"/>
          <p:cNvGrpSpPr/>
          <p:nvPr/>
        </p:nvGrpSpPr>
        <p:grpSpPr>
          <a:xfrm>
            <a:off x="2055756" y="504791"/>
            <a:ext cx="14499051" cy="2154982"/>
            <a:chOff x="0" y="-157626"/>
            <a:chExt cx="19332068" cy="2873309"/>
          </a:xfrm>
        </p:grpSpPr>
        <p:cxnSp>
          <p:nvCxnSpPr>
            <p:cNvPr id="346" name="Google Shape;346;p12"/>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47" name="Google Shape;347;p12"/>
            <p:cNvGrpSpPr/>
            <p:nvPr/>
          </p:nvGrpSpPr>
          <p:grpSpPr>
            <a:xfrm>
              <a:off x="0" y="0"/>
              <a:ext cx="2715683" cy="2715683"/>
              <a:chOff x="0" y="0"/>
              <a:chExt cx="812800" cy="812800"/>
            </a:xfrm>
          </p:grpSpPr>
          <p:sp>
            <p:nvSpPr>
              <p:cNvPr id="348" name="Google Shape;348;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0" name="Google Shape;350;p12"/>
            <p:cNvGrpSpPr/>
            <p:nvPr/>
          </p:nvGrpSpPr>
          <p:grpSpPr>
            <a:xfrm>
              <a:off x="150744" y="-157626"/>
              <a:ext cx="2603039" cy="2786065"/>
              <a:chOff x="0" y="-57150"/>
              <a:chExt cx="812800" cy="869950"/>
            </a:xfrm>
          </p:grpSpPr>
          <p:sp>
            <p:nvSpPr>
              <p:cNvPr id="351" name="Google Shape;3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53" name="Google Shape;353;p12"/>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54" name="Google Shape;354;p12"/>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55" name="Google Shape;355;p12"/>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56" name="Google Shape;356;p12"/>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57" name="Google Shape;357;p12"/>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58" name="Google Shape;358;p12"/>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359" name="Google Shape;359;p12"/>
          <p:cNvSpPr/>
          <p:nvPr/>
        </p:nvSpPr>
        <p:spPr>
          <a:xfrm>
            <a:off x="8577658" y="2659773"/>
            <a:ext cx="8681642" cy="6791761"/>
          </a:xfrm>
          <a:custGeom>
            <a:rect b="b" l="l" r="r" t="t"/>
            <a:pathLst>
              <a:path extrusionOk="0" h="6791761" w="8681642">
                <a:moveTo>
                  <a:pt x="0" y="0"/>
                </a:moveTo>
                <a:lnTo>
                  <a:pt x="8681642" y="0"/>
                </a:lnTo>
                <a:lnTo>
                  <a:pt x="8681642" y="6791761"/>
                </a:lnTo>
                <a:lnTo>
                  <a:pt x="0" y="6791761"/>
                </a:lnTo>
                <a:lnTo>
                  <a:pt x="0" y="0"/>
                </a:lnTo>
                <a:close/>
              </a:path>
            </a:pathLst>
          </a:custGeom>
          <a:blipFill rotWithShape="1">
            <a:blip r:embed="rId3">
              <a:alphaModFix/>
            </a:blip>
            <a:stretch>
              <a:fillRect b="0" l="0" r="0" t="0"/>
            </a:stretch>
          </a:blipFill>
          <a:ln>
            <a:noFill/>
          </a:ln>
        </p:spPr>
      </p:sp>
      <p:sp>
        <p:nvSpPr>
          <p:cNvPr id="360" name="Google Shape;360;p12"/>
          <p:cNvSpPr txBox="1"/>
          <p:nvPr/>
        </p:nvSpPr>
        <p:spPr>
          <a:xfrm>
            <a:off x="896781" y="3409950"/>
            <a:ext cx="6138436" cy="478155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Ofrece interconexión entre el cuarto de servicio, al cuarto de equipo y con el cuarto de telecomunicaciones.</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La fibra óptica es el medio más apropiado, debido a la capacidad y velocidad que ofrece (Multimodo).</a:t>
            </a:r>
            <a:endParaRPr/>
          </a:p>
        </p:txBody>
      </p:sp>
      <p:sp>
        <p:nvSpPr>
          <p:cNvPr id="361" name="Google Shape;361;p12"/>
          <p:cNvSpPr txBox="1"/>
          <p:nvPr/>
        </p:nvSpPr>
        <p:spPr>
          <a:xfrm>
            <a:off x="4076210" y="1212847"/>
            <a:ext cx="1171673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F8FCFF"/>
                </a:solidFill>
                <a:latin typeface="Arial"/>
                <a:ea typeface="Arial"/>
                <a:cs typeface="Arial"/>
                <a:sym typeface="Arial"/>
              </a:rPr>
              <a:t>CABLEADO VERTICAL</a:t>
            </a:r>
            <a:endParaRPr/>
          </a:p>
        </p:txBody>
      </p:sp>
      <p:sp>
        <p:nvSpPr>
          <p:cNvPr id="362" name="Google Shape;362;p12"/>
          <p:cNvSpPr txBox="1"/>
          <p:nvPr/>
        </p:nvSpPr>
        <p:spPr>
          <a:xfrm>
            <a:off x="6672413" y="1698622"/>
            <a:ext cx="6138436" cy="5143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FFFFFF"/>
                </a:solidFill>
                <a:latin typeface="Montserrat"/>
                <a:ea typeface="Montserrat"/>
                <a:cs typeface="Montserrat"/>
                <a:sym typeface="Montserrat"/>
              </a:rPr>
              <a:t>Backbone - Troncal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66" name="Shape 366"/>
        <p:cNvGrpSpPr/>
        <p:nvPr/>
      </p:nvGrpSpPr>
      <p:grpSpPr>
        <a:xfrm>
          <a:off x="0" y="0"/>
          <a:ext cx="0" cy="0"/>
          <a:chOff x="0" y="0"/>
          <a:chExt cx="0" cy="0"/>
        </a:xfrm>
      </p:grpSpPr>
      <p:grpSp>
        <p:nvGrpSpPr>
          <p:cNvPr id="367" name="Google Shape;367;p13"/>
          <p:cNvGrpSpPr/>
          <p:nvPr/>
        </p:nvGrpSpPr>
        <p:grpSpPr>
          <a:xfrm>
            <a:off x="2055756" y="504791"/>
            <a:ext cx="14499051" cy="2154982"/>
            <a:chOff x="0" y="-157626"/>
            <a:chExt cx="19332068" cy="2873309"/>
          </a:xfrm>
        </p:grpSpPr>
        <p:cxnSp>
          <p:nvCxnSpPr>
            <p:cNvPr id="368" name="Google Shape;368;p13"/>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69" name="Google Shape;369;p13"/>
            <p:cNvGrpSpPr/>
            <p:nvPr/>
          </p:nvGrpSpPr>
          <p:grpSpPr>
            <a:xfrm>
              <a:off x="0" y="0"/>
              <a:ext cx="2715683" cy="2715683"/>
              <a:chOff x="0" y="0"/>
              <a:chExt cx="812800" cy="812800"/>
            </a:xfrm>
          </p:grpSpPr>
          <p:sp>
            <p:nvSpPr>
              <p:cNvPr id="370" name="Google Shape;370;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2" name="Google Shape;372;p13"/>
            <p:cNvGrpSpPr/>
            <p:nvPr/>
          </p:nvGrpSpPr>
          <p:grpSpPr>
            <a:xfrm>
              <a:off x="150744" y="-157626"/>
              <a:ext cx="2603039" cy="2786065"/>
              <a:chOff x="0" y="-57150"/>
              <a:chExt cx="812800" cy="869950"/>
            </a:xfrm>
          </p:grpSpPr>
          <p:sp>
            <p:nvSpPr>
              <p:cNvPr id="373" name="Google Shape;373;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75" name="Google Shape;375;p13"/>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76" name="Google Shape;376;p13"/>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77" name="Google Shape;377;p13"/>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78" name="Google Shape;378;p13"/>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79" name="Google Shape;379;p13"/>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80" name="Google Shape;380;p13"/>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381" name="Google Shape;381;p13"/>
          <p:cNvSpPr/>
          <p:nvPr/>
        </p:nvSpPr>
        <p:spPr>
          <a:xfrm>
            <a:off x="8806107" y="3062881"/>
            <a:ext cx="8320255" cy="5542364"/>
          </a:xfrm>
          <a:custGeom>
            <a:rect b="b" l="l" r="r" t="t"/>
            <a:pathLst>
              <a:path extrusionOk="0" h="5542364" w="8320255">
                <a:moveTo>
                  <a:pt x="0" y="0"/>
                </a:moveTo>
                <a:lnTo>
                  <a:pt x="8320255" y="0"/>
                </a:lnTo>
                <a:lnTo>
                  <a:pt x="8320255" y="5542363"/>
                </a:lnTo>
                <a:lnTo>
                  <a:pt x="0" y="5542363"/>
                </a:lnTo>
                <a:lnTo>
                  <a:pt x="0" y="0"/>
                </a:lnTo>
                <a:close/>
              </a:path>
            </a:pathLst>
          </a:custGeom>
          <a:blipFill rotWithShape="1">
            <a:blip r:embed="rId3">
              <a:alphaModFix/>
            </a:blip>
            <a:stretch>
              <a:fillRect b="0" l="0" r="0" t="0"/>
            </a:stretch>
          </a:blipFill>
          <a:ln>
            <a:noFill/>
          </a:ln>
        </p:spPr>
      </p:sp>
      <p:sp>
        <p:nvSpPr>
          <p:cNvPr id="382" name="Google Shape;382;p13"/>
          <p:cNvSpPr txBox="1"/>
          <p:nvPr/>
        </p:nvSpPr>
        <p:spPr>
          <a:xfrm>
            <a:off x="896781" y="3409950"/>
            <a:ext cx="6138436" cy="479107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Su principal finalidad es la distribución del cableado horizontal, por tal razón atienden pisos individuales de edificios.</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Se usan para conectar cableado horizontal con el backbone y con equipos de telecomunicaciones.</a:t>
            </a:r>
            <a:endParaRPr/>
          </a:p>
        </p:txBody>
      </p:sp>
      <p:sp>
        <p:nvSpPr>
          <p:cNvPr id="383" name="Google Shape;383;p13"/>
          <p:cNvSpPr txBox="1"/>
          <p:nvPr/>
        </p:nvSpPr>
        <p:spPr>
          <a:xfrm>
            <a:off x="4091940" y="1450384"/>
            <a:ext cx="122200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F8FCFF"/>
                </a:solidFill>
                <a:latin typeface="Arial"/>
                <a:ea typeface="Arial"/>
                <a:cs typeface="Arial"/>
                <a:sym typeface="Arial"/>
              </a:rPr>
              <a:t>CUARTO DE TELECOMUNICACIONES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87" name="Shape 387"/>
        <p:cNvGrpSpPr/>
        <p:nvPr/>
      </p:nvGrpSpPr>
      <p:grpSpPr>
        <a:xfrm>
          <a:off x="0" y="0"/>
          <a:ext cx="0" cy="0"/>
          <a:chOff x="0" y="0"/>
          <a:chExt cx="0" cy="0"/>
        </a:xfrm>
      </p:grpSpPr>
      <p:grpSp>
        <p:nvGrpSpPr>
          <p:cNvPr id="388" name="Google Shape;388;p14"/>
          <p:cNvGrpSpPr/>
          <p:nvPr/>
        </p:nvGrpSpPr>
        <p:grpSpPr>
          <a:xfrm>
            <a:off x="2055756" y="504791"/>
            <a:ext cx="14499051" cy="2154982"/>
            <a:chOff x="0" y="-157626"/>
            <a:chExt cx="19332068" cy="2873309"/>
          </a:xfrm>
        </p:grpSpPr>
        <p:cxnSp>
          <p:nvCxnSpPr>
            <p:cNvPr id="389" name="Google Shape;389;p14"/>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90" name="Google Shape;390;p14"/>
            <p:cNvGrpSpPr/>
            <p:nvPr/>
          </p:nvGrpSpPr>
          <p:grpSpPr>
            <a:xfrm>
              <a:off x="0" y="0"/>
              <a:ext cx="2715683" cy="2715683"/>
              <a:chOff x="0" y="0"/>
              <a:chExt cx="812800" cy="812800"/>
            </a:xfrm>
          </p:grpSpPr>
          <p:sp>
            <p:nvSpPr>
              <p:cNvPr id="391" name="Google Shape;391;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3" name="Google Shape;393;p14"/>
            <p:cNvGrpSpPr/>
            <p:nvPr/>
          </p:nvGrpSpPr>
          <p:grpSpPr>
            <a:xfrm>
              <a:off x="150744" y="-157626"/>
              <a:ext cx="2603039" cy="2786065"/>
              <a:chOff x="0" y="-57150"/>
              <a:chExt cx="812800" cy="869950"/>
            </a:xfrm>
          </p:grpSpPr>
          <p:sp>
            <p:nvSpPr>
              <p:cNvPr id="394" name="Google Shape;394;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96" name="Google Shape;396;p14"/>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97" name="Google Shape;397;p14"/>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98" name="Google Shape;398;p14"/>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99" name="Google Shape;399;p14"/>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400" name="Google Shape;400;p14"/>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401" name="Google Shape;401;p14"/>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402" name="Google Shape;402;p14"/>
          <p:cNvSpPr/>
          <p:nvPr/>
        </p:nvSpPr>
        <p:spPr>
          <a:xfrm>
            <a:off x="9144000" y="3087432"/>
            <a:ext cx="7588018" cy="5512310"/>
          </a:xfrm>
          <a:custGeom>
            <a:rect b="b" l="l" r="r" t="t"/>
            <a:pathLst>
              <a:path extrusionOk="0" h="5512310" w="7588018">
                <a:moveTo>
                  <a:pt x="0" y="0"/>
                </a:moveTo>
                <a:lnTo>
                  <a:pt x="7588018" y="0"/>
                </a:lnTo>
                <a:lnTo>
                  <a:pt x="7588018" y="5512311"/>
                </a:lnTo>
                <a:lnTo>
                  <a:pt x="0" y="5512311"/>
                </a:lnTo>
                <a:lnTo>
                  <a:pt x="0" y="0"/>
                </a:lnTo>
                <a:close/>
              </a:path>
            </a:pathLst>
          </a:custGeom>
          <a:blipFill rotWithShape="1">
            <a:blip r:embed="rId3">
              <a:alphaModFix/>
            </a:blip>
            <a:stretch>
              <a:fillRect b="0" l="0" r="0" t="0"/>
            </a:stretch>
          </a:blipFill>
          <a:ln>
            <a:noFill/>
          </a:ln>
        </p:spPr>
      </p:sp>
      <p:sp>
        <p:nvSpPr>
          <p:cNvPr id="403" name="Google Shape;403;p14"/>
          <p:cNvSpPr txBox="1"/>
          <p:nvPr/>
        </p:nvSpPr>
        <p:spPr>
          <a:xfrm>
            <a:off x="896781" y="3419475"/>
            <a:ext cx="6138436" cy="478155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Se extiende desde el área de trabajo (WA) hasta el cuarto de telecomunicaciones, pasando por una cruzada horizontal llamada Cross Connect.</a:t>
            </a:r>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(Cross Connect): Punto de encuentro entre el Cableado Horizontal y Backbone.</a:t>
            </a:r>
            <a:endParaRPr/>
          </a:p>
        </p:txBody>
      </p:sp>
      <p:sp>
        <p:nvSpPr>
          <p:cNvPr id="404" name="Google Shape;404;p14"/>
          <p:cNvSpPr txBox="1"/>
          <p:nvPr/>
        </p:nvSpPr>
        <p:spPr>
          <a:xfrm>
            <a:off x="4091940" y="1450384"/>
            <a:ext cx="122200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F8FCFF"/>
                </a:solidFill>
                <a:latin typeface="Arial"/>
                <a:ea typeface="Arial"/>
                <a:cs typeface="Arial"/>
                <a:sym typeface="Arial"/>
              </a:rPr>
              <a:t>CABLEADO HORIZONTAL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408" name="Shape 408"/>
        <p:cNvGrpSpPr/>
        <p:nvPr/>
      </p:nvGrpSpPr>
      <p:grpSpPr>
        <a:xfrm>
          <a:off x="0" y="0"/>
          <a:ext cx="0" cy="0"/>
          <a:chOff x="0" y="0"/>
          <a:chExt cx="0" cy="0"/>
        </a:xfrm>
      </p:grpSpPr>
      <p:grpSp>
        <p:nvGrpSpPr>
          <p:cNvPr id="409" name="Google Shape;409;p15"/>
          <p:cNvGrpSpPr/>
          <p:nvPr/>
        </p:nvGrpSpPr>
        <p:grpSpPr>
          <a:xfrm>
            <a:off x="2055756" y="504791"/>
            <a:ext cx="14499051" cy="2154982"/>
            <a:chOff x="0" y="-157626"/>
            <a:chExt cx="19332068" cy="2873309"/>
          </a:xfrm>
        </p:grpSpPr>
        <p:cxnSp>
          <p:nvCxnSpPr>
            <p:cNvPr id="410" name="Google Shape;410;p15"/>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411" name="Google Shape;411;p15"/>
            <p:cNvGrpSpPr/>
            <p:nvPr/>
          </p:nvGrpSpPr>
          <p:grpSpPr>
            <a:xfrm>
              <a:off x="0" y="0"/>
              <a:ext cx="2715683" cy="2715683"/>
              <a:chOff x="0" y="0"/>
              <a:chExt cx="812800" cy="812800"/>
            </a:xfrm>
          </p:grpSpPr>
          <p:sp>
            <p:nvSpPr>
              <p:cNvPr id="412" name="Google Shape;412;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4" name="Google Shape;414;p15"/>
            <p:cNvGrpSpPr/>
            <p:nvPr/>
          </p:nvGrpSpPr>
          <p:grpSpPr>
            <a:xfrm>
              <a:off x="150744" y="-157626"/>
              <a:ext cx="2603039" cy="2786065"/>
              <a:chOff x="0" y="-57150"/>
              <a:chExt cx="812800" cy="869950"/>
            </a:xfrm>
          </p:grpSpPr>
          <p:sp>
            <p:nvSpPr>
              <p:cNvPr id="415" name="Google Shape;415;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17" name="Google Shape;417;p15"/>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418" name="Google Shape;418;p15"/>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419" name="Google Shape;419;p15"/>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420" name="Google Shape;420;p15"/>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421" name="Google Shape;421;p15"/>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422" name="Google Shape;422;p15"/>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423" name="Google Shape;423;p15"/>
          <p:cNvSpPr/>
          <p:nvPr/>
        </p:nvSpPr>
        <p:spPr>
          <a:xfrm>
            <a:off x="7781462" y="3700499"/>
            <a:ext cx="9477838" cy="4159117"/>
          </a:xfrm>
          <a:custGeom>
            <a:rect b="b" l="l" r="r" t="t"/>
            <a:pathLst>
              <a:path extrusionOk="0" h="4159117" w="9477838">
                <a:moveTo>
                  <a:pt x="0" y="0"/>
                </a:moveTo>
                <a:lnTo>
                  <a:pt x="9477838" y="0"/>
                </a:lnTo>
                <a:lnTo>
                  <a:pt x="9477838" y="4159117"/>
                </a:lnTo>
                <a:lnTo>
                  <a:pt x="0" y="4159117"/>
                </a:lnTo>
                <a:lnTo>
                  <a:pt x="0" y="0"/>
                </a:lnTo>
                <a:close/>
              </a:path>
            </a:pathLst>
          </a:custGeom>
          <a:blipFill rotWithShape="1">
            <a:blip r:embed="rId3">
              <a:alphaModFix/>
            </a:blip>
            <a:stretch>
              <a:fillRect b="0" l="0" r="0" t="0"/>
            </a:stretch>
          </a:blipFill>
          <a:ln>
            <a:noFill/>
          </a:ln>
        </p:spPr>
      </p:sp>
      <p:sp>
        <p:nvSpPr>
          <p:cNvPr id="424" name="Google Shape;424;p15"/>
          <p:cNvSpPr txBox="1"/>
          <p:nvPr/>
        </p:nvSpPr>
        <p:spPr>
          <a:xfrm>
            <a:off x="896781" y="3419475"/>
            <a:ext cx="6138436" cy="42529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El área de trabajo abarca desde la terminación del cableado horizontal en la salida de información, hasta el equipo en el cual se está corriendo una aplicación sea de voz, datos, video o control.</a:t>
            </a:r>
            <a:endParaRPr/>
          </a:p>
        </p:txBody>
      </p:sp>
      <p:sp>
        <p:nvSpPr>
          <p:cNvPr id="425" name="Google Shape;425;p15"/>
          <p:cNvSpPr txBox="1"/>
          <p:nvPr/>
        </p:nvSpPr>
        <p:spPr>
          <a:xfrm>
            <a:off x="4091940" y="1450384"/>
            <a:ext cx="122200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F8FCFF"/>
                </a:solidFill>
                <a:latin typeface="Arial"/>
                <a:ea typeface="Arial"/>
                <a:cs typeface="Arial"/>
                <a:sym typeface="Arial"/>
              </a:rPr>
              <a:t>ÁREA DE TRABAJO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429" name="Shape 429"/>
        <p:cNvGrpSpPr/>
        <p:nvPr/>
      </p:nvGrpSpPr>
      <p:grpSpPr>
        <a:xfrm>
          <a:off x="0" y="0"/>
          <a:ext cx="0" cy="0"/>
          <a:chOff x="0" y="0"/>
          <a:chExt cx="0" cy="0"/>
        </a:xfrm>
      </p:grpSpPr>
      <p:sp>
        <p:nvSpPr>
          <p:cNvPr id="430" name="Google Shape;430;p16"/>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sp>
      <p:grpSp>
        <p:nvGrpSpPr>
          <p:cNvPr id="431" name="Google Shape;431;p16"/>
          <p:cNvGrpSpPr/>
          <p:nvPr/>
        </p:nvGrpSpPr>
        <p:grpSpPr>
          <a:xfrm rot="-182069">
            <a:off x="2624194" y="1635284"/>
            <a:ext cx="6817034" cy="6817034"/>
            <a:chOff x="0" y="0"/>
            <a:chExt cx="812800" cy="812800"/>
          </a:xfrm>
        </p:grpSpPr>
        <p:sp>
          <p:nvSpPr>
            <p:cNvPr id="432" name="Google Shape;432;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4" name="Google Shape;434;p16"/>
          <p:cNvGrpSpPr/>
          <p:nvPr/>
        </p:nvGrpSpPr>
        <p:grpSpPr>
          <a:xfrm rot="-182069">
            <a:off x="3171294" y="1629937"/>
            <a:ext cx="6609519" cy="6609519"/>
            <a:chOff x="0" y="0"/>
            <a:chExt cx="812800" cy="812800"/>
          </a:xfrm>
        </p:grpSpPr>
        <p:sp>
          <p:nvSpPr>
            <p:cNvPr id="435" name="Google Shape;435;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7" name="Google Shape;437;p16"/>
          <p:cNvGrpSpPr/>
          <p:nvPr/>
        </p:nvGrpSpPr>
        <p:grpSpPr>
          <a:xfrm rot="-886328">
            <a:off x="2234838" y="5472307"/>
            <a:ext cx="896087" cy="968527"/>
            <a:chOff x="0" y="-47625"/>
            <a:chExt cx="236006" cy="255085"/>
          </a:xfrm>
        </p:grpSpPr>
        <p:sp>
          <p:nvSpPr>
            <p:cNvPr id="438" name="Google Shape;438;p16"/>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sp>
        <p:sp>
          <p:nvSpPr>
            <p:cNvPr id="439" name="Google Shape;439;p16"/>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0" name="Google Shape;440;p16"/>
          <p:cNvGrpSpPr/>
          <p:nvPr/>
        </p:nvGrpSpPr>
        <p:grpSpPr>
          <a:xfrm rot="-738237">
            <a:off x="468910" y="5475585"/>
            <a:ext cx="2101522" cy="1431732"/>
            <a:chOff x="0" y="-47625"/>
            <a:chExt cx="553487" cy="377082"/>
          </a:xfrm>
        </p:grpSpPr>
        <p:sp>
          <p:nvSpPr>
            <p:cNvPr id="441" name="Google Shape;441;p16"/>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3" name="Google Shape;443;p16"/>
          <p:cNvSpPr txBox="1"/>
          <p:nvPr/>
        </p:nvSpPr>
        <p:spPr>
          <a:xfrm>
            <a:off x="3087044" y="2381128"/>
            <a:ext cx="12470643" cy="4733661"/>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ELEMENTOS DE UN</a:t>
            </a:r>
            <a:endParaRPr/>
          </a:p>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sistemas de</a:t>
            </a:r>
            <a:endParaRPr/>
          </a:p>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cableado</a:t>
            </a:r>
            <a:endParaRPr/>
          </a:p>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estructurado</a:t>
            </a:r>
            <a:endParaRPr/>
          </a:p>
        </p:txBody>
      </p:sp>
      <p:sp>
        <p:nvSpPr>
          <p:cNvPr id="444" name="Google Shape;444;p16"/>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sp>
      <p:sp>
        <p:nvSpPr>
          <p:cNvPr id="445" name="Google Shape;445;p16"/>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LABORATORIO DE REDES DE COMPUTADORAS 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449" name="Shape 449"/>
        <p:cNvGrpSpPr/>
        <p:nvPr/>
      </p:nvGrpSpPr>
      <p:grpSpPr>
        <a:xfrm>
          <a:off x="0" y="0"/>
          <a:ext cx="0" cy="0"/>
          <a:chOff x="0" y="0"/>
          <a:chExt cx="0" cy="0"/>
        </a:xfrm>
      </p:grpSpPr>
      <p:sp>
        <p:nvSpPr>
          <p:cNvPr id="450" name="Google Shape;450;p17"/>
          <p:cNvSpPr/>
          <p:nvPr/>
        </p:nvSpPr>
        <p:spPr>
          <a:xfrm>
            <a:off x="738393" y="2441186"/>
            <a:ext cx="10463148" cy="5404628"/>
          </a:xfrm>
          <a:custGeom>
            <a:rect b="b" l="l" r="r" t="t"/>
            <a:pathLst>
              <a:path extrusionOk="0" h="5404628" w="10463148">
                <a:moveTo>
                  <a:pt x="0" y="0"/>
                </a:moveTo>
                <a:lnTo>
                  <a:pt x="10463148" y="0"/>
                </a:lnTo>
                <a:lnTo>
                  <a:pt x="10463148" y="5404628"/>
                </a:lnTo>
                <a:lnTo>
                  <a:pt x="0" y="5404628"/>
                </a:lnTo>
                <a:lnTo>
                  <a:pt x="0" y="0"/>
                </a:lnTo>
                <a:close/>
              </a:path>
            </a:pathLst>
          </a:custGeom>
          <a:blipFill rotWithShape="1">
            <a:blip r:embed="rId3">
              <a:alphaModFix/>
            </a:blip>
            <a:stretch>
              <a:fillRect b="0" l="0" r="0" t="0"/>
            </a:stretch>
          </a:blipFill>
          <a:ln>
            <a:noFill/>
          </a:ln>
        </p:spPr>
      </p:sp>
      <p:sp>
        <p:nvSpPr>
          <p:cNvPr id="451" name="Google Shape;451;p17"/>
          <p:cNvSpPr txBox="1"/>
          <p:nvPr/>
        </p:nvSpPr>
        <p:spPr>
          <a:xfrm>
            <a:off x="12099211" y="981075"/>
            <a:ext cx="5160089" cy="821178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1- Cableado de área de trabajo</a:t>
            </a:r>
            <a:endParaRPr/>
          </a:p>
          <a:p>
            <a:pPr indent="0" lvl="0" marL="0" marR="0" rtl="0" algn="l">
              <a:lnSpc>
                <a:spcPct val="140000"/>
              </a:lnSpc>
              <a:spcBef>
                <a:spcPts val="0"/>
              </a:spcBef>
              <a:spcAft>
                <a:spcPts val="0"/>
              </a:spcAft>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2- Cableado horizontal</a:t>
            </a:r>
            <a:endParaRPr/>
          </a:p>
          <a:p>
            <a:pPr indent="0" lvl="0" marL="0" marR="0" rtl="0" algn="l">
              <a:lnSpc>
                <a:spcPct val="140000"/>
              </a:lnSpc>
              <a:spcBef>
                <a:spcPts val="0"/>
              </a:spcBef>
              <a:spcAft>
                <a:spcPts val="0"/>
              </a:spcAft>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3- Cableado de administración</a:t>
            </a:r>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(armario de cableado, rack)</a:t>
            </a:r>
            <a:endParaRPr/>
          </a:p>
          <a:p>
            <a:pPr indent="0" lvl="0" marL="0" marR="0" rtl="0" algn="l">
              <a:lnSpc>
                <a:spcPct val="140000"/>
              </a:lnSpc>
              <a:spcBef>
                <a:spcPts val="0"/>
              </a:spcBef>
              <a:spcAft>
                <a:spcPts val="0"/>
              </a:spcAft>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4- Cableado vertical (central,</a:t>
            </a:r>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backbone)</a:t>
            </a:r>
            <a:endParaRPr/>
          </a:p>
          <a:p>
            <a:pPr indent="0" lvl="0" marL="0" marR="0" rtl="0" algn="l">
              <a:lnSpc>
                <a:spcPct val="140000"/>
              </a:lnSpc>
              <a:spcBef>
                <a:spcPts val="0"/>
              </a:spcBef>
              <a:spcAft>
                <a:spcPts val="0"/>
              </a:spcAft>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5- Centro de cálculo</a:t>
            </a:r>
            <a:endParaRPr/>
          </a:p>
          <a:p>
            <a:pPr indent="0" lvl="0" marL="0" marR="0" rtl="0" algn="l">
              <a:lnSpc>
                <a:spcPct val="140000"/>
              </a:lnSpc>
              <a:spcBef>
                <a:spcPts val="0"/>
              </a:spcBef>
              <a:spcAft>
                <a:spcPts val="0"/>
              </a:spcAft>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6- Cableado de equipamiento</a:t>
            </a:r>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(armario de entrada al edificio)</a:t>
            </a:r>
            <a:endParaRPr/>
          </a:p>
          <a:p>
            <a:pPr indent="0" lvl="0" marL="0" marR="0" rtl="0" algn="l">
              <a:lnSpc>
                <a:spcPct val="140000"/>
              </a:lnSpc>
              <a:spcBef>
                <a:spcPts val="0"/>
              </a:spcBef>
              <a:spcAft>
                <a:spcPts val="0"/>
              </a:spcAft>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7- Cableado del campus</a:t>
            </a:r>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(acometida, cableado entre</a:t>
            </a:r>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edificios)</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455" name="Shape 455"/>
        <p:cNvGrpSpPr/>
        <p:nvPr/>
      </p:nvGrpSpPr>
      <p:grpSpPr>
        <a:xfrm>
          <a:off x="0" y="0"/>
          <a:ext cx="0" cy="0"/>
          <a:chOff x="0" y="0"/>
          <a:chExt cx="0" cy="0"/>
        </a:xfrm>
      </p:grpSpPr>
      <p:sp>
        <p:nvSpPr>
          <p:cNvPr id="456" name="Google Shape;456;p18"/>
          <p:cNvSpPr/>
          <p:nvPr/>
        </p:nvSpPr>
        <p:spPr>
          <a:xfrm>
            <a:off x="860116" y="1699568"/>
            <a:ext cx="3975270" cy="3903319"/>
          </a:xfrm>
          <a:custGeom>
            <a:rect b="b" l="l" r="r" t="t"/>
            <a:pathLst>
              <a:path extrusionOk="0" h="3903319" w="3975270">
                <a:moveTo>
                  <a:pt x="0" y="0"/>
                </a:moveTo>
                <a:lnTo>
                  <a:pt x="3975269" y="0"/>
                </a:lnTo>
                <a:lnTo>
                  <a:pt x="3975269" y="3903320"/>
                </a:lnTo>
                <a:lnTo>
                  <a:pt x="0" y="3903320"/>
                </a:lnTo>
                <a:lnTo>
                  <a:pt x="0" y="0"/>
                </a:lnTo>
                <a:close/>
              </a:path>
            </a:pathLst>
          </a:custGeom>
          <a:blipFill rotWithShape="1">
            <a:blip r:embed="rId3">
              <a:alphaModFix/>
            </a:blip>
            <a:stretch>
              <a:fillRect b="0" l="0" r="0" t="0"/>
            </a:stretch>
          </a:blipFill>
          <a:ln>
            <a:noFill/>
          </a:ln>
        </p:spPr>
      </p:sp>
      <p:sp>
        <p:nvSpPr>
          <p:cNvPr id="457" name="Google Shape;457;p18"/>
          <p:cNvSpPr txBox="1"/>
          <p:nvPr/>
        </p:nvSpPr>
        <p:spPr>
          <a:xfrm>
            <a:off x="7431491" y="891200"/>
            <a:ext cx="9063814" cy="808368"/>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i="0" lang="en-US" sz="4757" u="none" cap="none" strike="noStrike">
                <a:solidFill>
                  <a:srgbClr val="FFFFFF"/>
                </a:solidFill>
                <a:latin typeface="Montserrat"/>
                <a:ea typeface="Montserrat"/>
                <a:cs typeface="Montserrat"/>
                <a:sym typeface="Montserrat"/>
              </a:rPr>
              <a:t>Cableado Horizontal incluye:</a:t>
            </a:r>
            <a:endParaRPr/>
          </a:p>
        </p:txBody>
      </p:sp>
      <p:sp>
        <p:nvSpPr>
          <p:cNvPr id="458" name="Google Shape;458;p18"/>
          <p:cNvSpPr txBox="1"/>
          <p:nvPr/>
        </p:nvSpPr>
        <p:spPr>
          <a:xfrm>
            <a:off x="857946" y="6253878"/>
            <a:ext cx="4601870" cy="184447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40" u="none" cap="none" strike="noStrike">
                <a:solidFill>
                  <a:srgbClr val="FFFFFF"/>
                </a:solidFill>
                <a:latin typeface="Montserrat"/>
                <a:ea typeface="Montserrat"/>
                <a:cs typeface="Montserrat"/>
                <a:sym typeface="Montserrat"/>
              </a:rPr>
              <a:t>Las salidas de</a:t>
            </a:r>
            <a:endParaRPr/>
          </a:p>
          <a:p>
            <a:pPr indent="0" lvl="0" marL="0" marR="0" rtl="0" algn="ctr">
              <a:lnSpc>
                <a:spcPct val="140000"/>
              </a:lnSpc>
              <a:spcBef>
                <a:spcPts val="0"/>
              </a:spcBef>
              <a:spcAft>
                <a:spcPts val="0"/>
              </a:spcAft>
              <a:buNone/>
            </a:pPr>
            <a:r>
              <a:rPr b="0" i="0" lang="en-US" sz="3540" u="none" cap="none" strike="noStrike">
                <a:solidFill>
                  <a:srgbClr val="FFFFFF"/>
                </a:solidFill>
                <a:latin typeface="Montserrat"/>
                <a:ea typeface="Montserrat"/>
                <a:cs typeface="Montserrat"/>
                <a:sym typeface="Montserrat"/>
              </a:rPr>
              <a:t>telecomunicaciones</a:t>
            </a:r>
            <a:endParaRPr/>
          </a:p>
          <a:p>
            <a:pPr indent="0" lvl="0" marL="0" marR="0" rtl="0" algn="ctr">
              <a:lnSpc>
                <a:spcPct val="140000"/>
              </a:lnSpc>
              <a:spcBef>
                <a:spcPts val="0"/>
              </a:spcBef>
              <a:spcAft>
                <a:spcPts val="0"/>
              </a:spcAft>
              <a:buNone/>
            </a:pPr>
            <a:r>
              <a:rPr b="0" i="0" lang="en-US" sz="3540" u="none" cap="none" strike="noStrike">
                <a:solidFill>
                  <a:srgbClr val="FFFFFF"/>
                </a:solidFill>
                <a:latin typeface="Montserrat"/>
                <a:ea typeface="Montserrat"/>
                <a:cs typeface="Montserrat"/>
                <a:sym typeface="Montserrat"/>
              </a:rPr>
              <a:t>en el área de trabajo</a:t>
            </a:r>
            <a:endParaRPr/>
          </a:p>
        </p:txBody>
      </p:sp>
      <p:sp>
        <p:nvSpPr>
          <p:cNvPr id="459" name="Google Shape;459;p18"/>
          <p:cNvSpPr txBox="1"/>
          <p:nvPr/>
        </p:nvSpPr>
        <p:spPr>
          <a:xfrm>
            <a:off x="6222315" y="3503982"/>
            <a:ext cx="3911579" cy="1074099"/>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3087" u="none" cap="none" strike="noStrike">
                <a:solidFill>
                  <a:srgbClr val="FFFFFF"/>
                </a:solidFill>
                <a:latin typeface="Montserrat"/>
                <a:ea typeface="Montserrat"/>
                <a:cs typeface="Montserrat"/>
                <a:sym typeface="Montserrat"/>
              </a:rPr>
              <a:t>Cables y conectores</a:t>
            </a:r>
            <a:endParaRPr/>
          </a:p>
          <a:p>
            <a:pPr indent="0" lvl="0" marL="0" marR="0" rtl="0" algn="ctr">
              <a:lnSpc>
                <a:spcPct val="140006"/>
              </a:lnSpc>
              <a:spcBef>
                <a:spcPts val="0"/>
              </a:spcBef>
              <a:spcAft>
                <a:spcPts val="0"/>
              </a:spcAft>
              <a:buNone/>
            </a:pPr>
            <a:r>
              <a:rPr b="0" i="0" lang="en-US" sz="3087" u="none" cap="none" strike="noStrike">
                <a:solidFill>
                  <a:srgbClr val="FFFFFF"/>
                </a:solidFill>
                <a:latin typeface="Montserrat"/>
                <a:ea typeface="Montserrat"/>
                <a:cs typeface="Montserrat"/>
                <a:sym typeface="Montserrat"/>
              </a:rPr>
              <a:t>instalados</a:t>
            </a:r>
            <a:endParaRPr/>
          </a:p>
        </p:txBody>
      </p:sp>
      <p:sp>
        <p:nvSpPr>
          <p:cNvPr id="460" name="Google Shape;460;p18"/>
          <p:cNvSpPr txBox="1"/>
          <p:nvPr/>
        </p:nvSpPr>
        <p:spPr>
          <a:xfrm>
            <a:off x="11143743" y="6244353"/>
            <a:ext cx="2094971" cy="70433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4174" u="none" cap="none" strike="noStrike">
                <a:solidFill>
                  <a:srgbClr val="FFFFFF"/>
                </a:solidFill>
                <a:latin typeface="Montserrat"/>
                <a:ea typeface="Montserrat"/>
                <a:cs typeface="Montserrat"/>
                <a:sym typeface="Montserrat"/>
              </a:rPr>
              <a:t>Paneles</a:t>
            </a:r>
            <a:endParaRPr/>
          </a:p>
        </p:txBody>
      </p:sp>
      <p:sp>
        <p:nvSpPr>
          <p:cNvPr id="461" name="Google Shape;461;p18"/>
          <p:cNvSpPr txBox="1"/>
          <p:nvPr/>
        </p:nvSpPr>
        <p:spPr>
          <a:xfrm>
            <a:off x="14866119" y="3575028"/>
            <a:ext cx="2574760" cy="1428176"/>
          </a:xfrm>
          <a:prstGeom prst="rect">
            <a:avLst/>
          </a:prstGeom>
          <a:noFill/>
          <a:ln>
            <a:noFill/>
          </a:ln>
        </p:spPr>
        <p:txBody>
          <a:bodyPr anchorCtr="0" anchor="t" bIns="0" lIns="0" spcFirstLastPara="1" rIns="0" wrap="square" tIns="0">
            <a:spAutoFit/>
          </a:bodyPr>
          <a:lstStyle/>
          <a:p>
            <a:pPr indent="0" lvl="0" marL="0" marR="0" rtl="0" algn="ctr">
              <a:lnSpc>
                <a:spcPct val="139995"/>
              </a:lnSpc>
              <a:spcBef>
                <a:spcPts val="0"/>
              </a:spcBef>
              <a:spcAft>
                <a:spcPts val="0"/>
              </a:spcAft>
              <a:buNone/>
            </a:pPr>
            <a:r>
              <a:rPr b="0" i="0" lang="en-US" sz="4143" u="none" cap="none" strike="noStrike">
                <a:solidFill>
                  <a:srgbClr val="FFFFFF"/>
                </a:solidFill>
                <a:latin typeface="Montserrat"/>
                <a:ea typeface="Montserrat"/>
                <a:cs typeface="Montserrat"/>
                <a:sym typeface="Montserrat"/>
              </a:rPr>
              <a:t>Cables de</a:t>
            </a:r>
            <a:endParaRPr/>
          </a:p>
          <a:p>
            <a:pPr indent="0" lvl="0" marL="0" marR="0" rtl="0" algn="ctr">
              <a:lnSpc>
                <a:spcPct val="139995"/>
              </a:lnSpc>
              <a:spcBef>
                <a:spcPts val="0"/>
              </a:spcBef>
              <a:spcAft>
                <a:spcPts val="0"/>
              </a:spcAft>
              <a:buNone/>
            </a:pPr>
            <a:r>
              <a:rPr b="0" i="0" lang="en-US" sz="4143" u="none" cap="none" strike="noStrike">
                <a:solidFill>
                  <a:srgbClr val="FFFFFF"/>
                </a:solidFill>
                <a:latin typeface="Montserrat"/>
                <a:ea typeface="Montserrat"/>
                <a:cs typeface="Montserrat"/>
                <a:sym typeface="Montserrat"/>
              </a:rPr>
              <a:t>empalme</a:t>
            </a:r>
            <a:endParaRPr/>
          </a:p>
        </p:txBody>
      </p:sp>
      <p:cxnSp>
        <p:nvCxnSpPr>
          <p:cNvPr id="462" name="Google Shape;462;p18"/>
          <p:cNvCxnSpPr/>
          <p:nvPr/>
        </p:nvCxnSpPr>
        <p:spPr>
          <a:xfrm>
            <a:off x="4516630" y="5416031"/>
            <a:ext cx="3310558" cy="1376269"/>
          </a:xfrm>
          <a:prstGeom prst="straightConnector1">
            <a:avLst/>
          </a:prstGeom>
          <a:noFill/>
          <a:ln cap="flat" cmpd="sng" w="190500">
            <a:solidFill>
              <a:srgbClr val="FFFFFF"/>
            </a:solidFill>
            <a:prstDash val="solid"/>
            <a:round/>
            <a:headEnd len="sm" w="sm" type="none"/>
            <a:tailEnd len="sm" w="sm" type="none"/>
          </a:ln>
        </p:spPr>
      </p:cxnSp>
      <p:cxnSp>
        <p:nvCxnSpPr>
          <p:cNvPr id="463" name="Google Shape;463;p18"/>
          <p:cNvCxnSpPr/>
          <p:nvPr/>
        </p:nvCxnSpPr>
        <p:spPr>
          <a:xfrm flipH="1">
            <a:off x="9144000" y="4202799"/>
            <a:ext cx="2447266" cy="2259753"/>
          </a:xfrm>
          <a:prstGeom prst="straightConnector1">
            <a:avLst/>
          </a:prstGeom>
          <a:noFill/>
          <a:ln cap="flat" cmpd="sng" w="190500">
            <a:solidFill>
              <a:srgbClr val="FFFFFF"/>
            </a:solidFill>
            <a:prstDash val="solid"/>
            <a:round/>
            <a:headEnd len="sm" w="sm" type="none"/>
            <a:tailEnd len="sm" w="sm" type="none"/>
          </a:ln>
        </p:spPr>
      </p:cxnSp>
      <p:grpSp>
        <p:nvGrpSpPr>
          <p:cNvPr id="464" name="Google Shape;464;p18"/>
          <p:cNvGrpSpPr/>
          <p:nvPr/>
        </p:nvGrpSpPr>
        <p:grpSpPr>
          <a:xfrm>
            <a:off x="7431491" y="5851600"/>
            <a:ext cx="1881401" cy="1881401"/>
            <a:chOff x="0" y="0"/>
            <a:chExt cx="2508535" cy="2508535"/>
          </a:xfrm>
        </p:grpSpPr>
        <p:grpSp>
          <p:nvGrpSpPr>
            <p:cNvPr id="465" name="Google Shape;465;p18"/>
            <p:cNvGrpSpPr/>
            <p:nvPr/>
          </p:nvGrpSpPr>
          <p:grpSpPr>
            <a:xfrm>
              <a:off x="0" y="0"/>
              <a:ext cx="2508535" cy="2508535"/>
              <a:chOff x="0" y="0"/>
              <a:chExt cx="812800" cy="812800"/>
            </a:xfrm>
          </p:grpSpPr>
          <p:sp>
            <p:nvSpPr>
              <p:cNvPr id="466" name="Google Shape;466;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E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8" name="Google Shape;468;p18"/>
            <p:cNvGrpSpPr/>
            <p:nvPr/>
          </p:nvGrpSpPr>
          <p:grpSpPr>
            <a:xfrm>
              <a:off x="256410" y="268501"/>
              <a:ext cx="1971533" cy="1971533"/>
              <a:chOff x="0" y="0"/>
              <a:chExt cx="812800" cy="812800"/>
            </a:xfrm>
          </p:grpSpPr>
          <p:sp>
            <p:nvSpPr>
              <p:cNvPr id="469" name="Google Shape;469;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66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cxnSp>
        <p:nvCxnSpPr>
          <p:cNvPr id="471" name="Google Shape;471;p18"/>
          <p:cNvCxnSpPr/>
          <p:nvPr/>
        </p:nvCxnSpPr>
        <p:spPr>
          <a:xfrm>
            <a:off x="12549375" y="4327216"/>
            <a:ext cx="3223994" cy="2465084"/>
          </a:xfrm>
          <a:prstGeom prst="straightConnector1">
            <a:avLst/>
          </a:prstGeom>
          <a:noFill/>
          <a:ln cap="flat" cmpd="sng" w="190500">
            <a:solidFill>
              <a:srgbClr val="FFFFFF"/>
            </a:solidFill>
            <a:prstDash val="solid"/>
            <a:round/>
            <a:headEnd len="sm" w="sm" type="none"/>
            <a:tailEnd len="sm" w="sm" type="none"/>
          </a:ln>
        </p:spPr>
      </p:cxnSp>
      <p:grpSp>
        <p:nvGrpSpPr>
          <p:cNvPr id="472" name="Google Shape;472;p18"/>
          <p:cNvGrpSpPr/>
          <p:nvPr/>
        </p:nvGrpSpPr>
        <p:grpSpPr>
          <a:xfrm>
            <a:off x="15212798" y="5750886"/>
            <a:ext cx="1881401" cy="1881401"/>
            <a:chOff x="0" y="0"/>
            <a:chExt cx="2508535" cy="2508535"/>
          </a:xfrm>
        </p:grpSpPr>
        <p:grpSp>
          <p:nvGrpSpPr>
            <p:cNvPr id="473" name="Google Shape;473;p18"/>
            <p:cNvGrpSpPr/>
            <p:nvPr/>
          </p:nvGrpSpPr>
          <p:grpSpPr>
            <a:xfrm>
              <a:off x="0" y="0"/>
              <a:ext cx="2508535" cy="2508535"/>
              <a:chOff x="0" y="0"/>
              <a:chExt cx="812800" cy="812800"/>
            </a:xfrm>
          </p:grpSpPr>
          <p:sp>
            <p:nvSpPr>
              <p:cNvPr id="474" name="Google Shape;474;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E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6" name="Google Shape;476;p18"/>
            <p:cNvGrpSpPr/>
            <p:nvPr/>
          </p:nvGrpSpPr>
          <p:grpSpPr>
            <a:xfrm>
              <a:off x="256410" y="268501"/>
              <a:ext cx="1971533" cy="1971533"/>
              <a:chOff x="0" y="0"/>
              <a:chExt cx="812800" cy="812800"/>
            </a:xfrm>
          </p:grpSpPr>
          <p:sp>
            <p:nvSpPr>
              <p:cNvPr id="477" name="Google Shape;477;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66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479" name="Google Shape;479;p18"/>
          <p:cNvGrpSpPr/>
          <p:nvPr/>
        </p:nvGrpSpPr>
        <p:grpSpPr>
          <a:xfrm>
            <a:off x="11250528" y="3262099"/>
            <a:ext cx="1881401" cy="1881401"/>
            <a:chOff x="0" y="0"/>
            <a:chExt cx="2508535" cy="2508535"/>
          </a:xfrm>
        </p:grpSpPr>
        <p:grpSp>
          <p:nvGrpSpPr>
            <p:cNvPr id="480" name="Google Shape;480;p18"/>
            <p:cNvGrpSpPr/>
            <p:nvPr/>
          </p:nvGrpSpPr>
          <p:grpSpPr>
            <a:xfrm>
              <a:off x="0" y="0"/>
              <a:ext cx="2508535" cy="2508535"/>
              <a:chOff x="0" y="0"/>
              <a:chExt cx="812800" cy="812800"/>
            </a:xfrm>
          </p:grpSpPr>
          <p:sp>
            <p:nvSpPr>
              <p:cNvPr id="481" name="Google Shape;481;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E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3" name="Google Shape;483;p18"/>
            <p:cNvGrpSpPr/>
            <p:nvPr/>
          </p:nvGrpSpPr>
          <p:grpSpPr>
            <a:xfrm>
              <a:off x="256410" y="268501"/>
              <a:ext cx="1971533" cy="1971533"/>
              <a:chOff x="0" y="0"/>
              <a:chExt cx="812800" cy="812800"/>
            </a:xfrm>
          </p:grpSpPr>
          <p:sp>
            <p:nvSpPr>
              <p:cNvPr id="484" name="Google Shape;484;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66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489" name="Shape 489"/>
        <p:cNvGrpSpPr/>
        <p:nvPr/>
      </p:nvGrpSpPr>
      <p:grpSpPr>
        <a:xfrm>
          <a:off x="0" y="0"/>
          <a:ext cx="0" cy="0"/>
          <a:chOff x="0" y="0"/>
          <a:chExt cx="0" cy="0"/>
        </a:xfrm>
      </p:grpSpPr>
      <p:sp>
        <p:nvSpPr>
          <p:cNvPr id="490" name="Google Shape;490;p19"/>
          <p:cNvSpPr/>
          <p:nvPr/>
        </p:nvSpPr>
        <p:spPr>
          <a:xfrm>
            <a:off x="9799497" y="1881750"/>
            <a:ext cx="7611549" cy="5559740"/>
          </a:xfrm>
          <a:custGeom>
            <a:rect b="b" l="l" r="r" t="t"/>
            <a:pathLst>
              <a:path extrusionOk="0" h="5559740" w="7611549">
                <a:moveTo>
                  <a:pt x="0" y="0"/>
                </a:moveTo>
                <a:lnTo>
                  <a:pt x="7611550" y="0"/>
                </a:lnTo>
                <a:lnTo>
                  <a:pt x="7611550" y="5559741"/>
                </a:lnTo>
                <a:lnTo>
                  <a:pt x="0" y="5559741"/>
                </a:lnTo>
                <a:lnTo>
                  <a:pt x="0" y="0"/>
                </a:lnTo>
                <a:close/>
              </a:path>
            </a:pathLst>
          </a:custGeom>
          <a:blipFill rotWithShape="1">
            <a:blip r:embed="rId3">
              <a:alphaModFix/>
            </a:blip>
            <a:stretch>
              <a:fillRect b="0" l="0" r="0" t="0"/>
            </a:stretch>
          </a:blipFill>
          <a:ln>
            <a:noFill/>
          </a:ln>
        </p:spPr>
      </p:sp>
      <p:sp>
        <p:nvSpPr>
          <p:cNvPr id="491" name="Google Shape;491;p19"/>
          <p:cNvSpPr txBox="1"/>
          <p:nvPr/>
        </p:nvSpPr>
        <p:spPr>
          <a:xfrm>
            <a:off x="1913795" y="694263"/>
            <a:ext cx="3435284" cy="171187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975" u="none" cap="none" strike="noStrike">
                <a:solidFill>
                  <a:srgbClr val="FFFFFF"/>
                </a:solidFill>
                <a:latin typeface="Montserrat"/>
                <a:ea typeface="Montserrat"/>
                <a:cs typeface="Montserrat"/>
                <a:sym typeface="Montserrat"/>
              </a:rPr>
              <a:t>Cableado</a:t>
            </a:r>
            <a:endParaRPr/>
          </a:p>
          <a:p>
            <a:pPr indent="0" lvl="0" marL="0" marR="0" rtl="0" algn="ctr">
              <a:lnSpc>
                <a:spcPct val="140000"/>
              </a:lnSpc>
              <a:spcBef>
                <a:spcPts val="0"/>
              </a:spcBef>
              <a:spcAft>
                <a:spcPts val="0"/>
              </a:spcAft>
              <a:buNone/>
            </a:pPr>
            <a:r>
              <a:rPr b="1" i="0" lang="en-US" sz="4975" u="none" cap="none" strike="noStrike">
                <a:solidFill>
                  <a:srgbClr val="FFFFFF"/>
                </a:solidFill>
                <a:latin typeface="Montserrat"/>
                <a:ea typeface="Montserrat"/>
                <a:cs typeface="Montserrat"/>
                <a:sym typeface="Montserrat"/>
              </a:rPr>
              <a:t>Horizontal</a:t>
            </a:r>
            <a:endParaRPr/>
          </a:p>
        </p:txBody>
      </p:sp>
      <p:sp>
        <p:nvSpPr>
          <p:cNvPr id="492" name="Google Shape;492;p19"/>
          <p:cNvSpPr txBox="1"/>
          <p:nvPr/>
        </p:nvSpPr>
        <p:spPr>
          <a:xfrm>
            <a:off x="1757329" y="2980513"/>
            <a:ext cx="8193670" cy="8959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El cableado horizontal se compone de dos elementos básicos: rutas y espacios verticales.</a:t>
            </a:r>
            <a:endParaRPr/>
          </a:p>
        </p:txBody>
      </p:sp>
      <p:sp>
        <p:nvSpPr>
          <p:cNvPr id="493" name="Google Shape;493;p19"/>
          <p:cNvSpPr txBox="1"/>
          <p:nvPr/>
        </p:nvSpPr>
        <p:spPr>
          <a:xfrm>
            <a:off x="1757329" y="4908169"/>
            <a:ext cx="6906614" cy="22818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Incluye:</a:t>
            </a:r>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Las salidas de telecomunicaciones en el área de trabajo.</a:t>
            </a:r>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Cables y conectores de transición.</a:t>
            </a:r>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Paneles y cables de empalme.</a:t>
            </a:r>
            <a:endParaRPr/>
          </a:p>
        </p:txBody>
      </p:sp>
      <p:sp>
        <p:nvSpPr>
          <p:cNvPr id="494" name="Google Shape;494;p19"/>
          <p:cNvSpPr txBox="1"/>
          <p:nvPr/>
        </p:nvSpPr>
        <p:spPr>
          <a:xfrm>
            <a:off x="1757329" y="8029274"/>
            <a:ext cx="12475105" cy="89605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Se deben hacer ciertas consideraciones a la hora de seleccionar el cableado</a:t>
            </a:r>
            <a:endParaRPr/>
          </a:p>
          <a:p>
            <a:pPr indent="0" lvl="0" marL="0" marR="0" rtl="0" algn="ctr">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horizontal: contiene la mayor cantidad de cables individuales en el edificio.</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498" name="Shape 498"/>
        <p:cNvGrpSpPr/>
        <p:nvPr/>
      </p:nvGrpSpPr>
      <p:grpSpPr>
        <a:xfrm>
          <a:off x="0" y="0"/>
          <a:ext cx="0" cy="0"/>
          <a:chOff x="0" y="0"/>
          <a:chExt cx="0" cy="0"/>
        </a:xfrm>
      </p:grpSpPr>
      <p:sp>
        <p:nvSpPr>
          <p:cNvPr id="499" name="Google Shape;499;p20"/>
          <p:cNvSpPr/>
          <p:nvPr/>
        </p:nvSpPr>
        <p:spPr>
          <a:xfrm>
            <a:off x="9833915" y="2173251"/>
            <a:ext cx="7771835" cy="6108177"/>
          </a:xfrm>
          <a:custGeom>
            <a:rect b="b" l="l" r="r" t="t"/>
            <a:pathLst>
              <a:path extrusionOk="0" h="6108177" w="7771835">
                <a:moveTo>
                  <a:pt x="0" y="0"/>
                </a:moveTo>
                <a:lnTo>
                  <a:pt x="7771836" y="0"/>
                </a:lnTo>
                <a:lnTo>
                  <a:pt x="7771836" y="6108177"/>
                </a:lnTo>
                <a:lnTo>
                  <a:pt x="0" y="6108177"/>
                </a:lnTo>
                <a:lnTo>
                  <a:pt x="0" y="0"/>
                </a:lnTo>
                <a:close/>
              </a:path>
            </a:pathLst>
          </a:custGeom>
          <a:blipFill rotWithShape="1">
            <a:blip r:embed="rId3">
              <a:alphaModFix/>
            </a:blip>
            <a:stretch>
              <a:fillRect b="0" l="0" r="0" t="0"/>
            </a:stretch>
          </a:blipFill>
          <a:ln>
            <a:noFill/>
          </a:ln>
        </p:spPr>
      </p:sp>
      <p:sp>
        <p:nvSpPr>
          <p:cNvPr id="500" name="Google Shape;500;p20"/>
          <p:cNvSpPr txBox="1"/>
          <p:nvPr/>
        </p:nvSpPr>
        <p:spPr>
          <a:xfrm>
            <a:off x="592793" y="3462621"/>
            <a:ext cx="8742975" cy="1686679"/>
          </a:xfrm>
          <a:prstGeom prst="rect">
            <a:avLst/>
          </a:prstGeom>
          <a:noFill/>
          <a:ln>
            <a:noFill/>
          </a:ln>
        </p:spPr>
        <p:txBody>
          <a:bodyPr anchorCtr="0" anchor="t" bIns="0" lIns="0" spcFirstLastPara="1" rIns="0" wrap="square" tIns="0">
            <a:spAutoFit/>
          </a:bodyPr>
          <a:lstStyle/>
          <a:p>
            <a:pPr indent="-349045" lvl="1" marL="698090" marR="0" rtl="0" algn="l">
              <a:lnSpc>
                <a:spcPct val="139993"/>
              </a:lnSpc>
              <a:spcBef>
                <a:spcPts val="0"/>
              </a:spcBef>
              <a:spcAft>
                <a:spcPts val="0"/>
              </a:spcAft>
              <a:buClr>
                <a:srgbClr val="FFFFFF"/>
              </a:buClr>
              <a:buSzPts val="3233"/>
              <a:buFont typeface="Arial"/>
              <a:buChar char="•"/>
            </a:pPr>
            <a:r>
              <a:rPr b="0" i="0" lang="en-US" sz="3233" u="none" cap="none" strike="noStrike">
                <a:solidFill>
                  <a:srgbClr val="FFFFFF"/>
                </a:solidFill>
                <a:latin typeface="Montserrat"/>
                <a:ea typeface="Montserrat"/>
                <a:cs typeface="Montserrat"/>
                <a:sym typeface="Montserrat"/>
              </a:rPr>
              <a:t>Se puede realizar backbone entre distintos gabinetes de telecomunicaciones (telefónica-datos).</a:t>
            </a:r>
            <a:endParaRPr/>
          </a:p>
        </p:txBody>
      </p:sp>
      <p:sp>
        <p:nvSpPr>
          <p:cNvPr id="501" name="Google Shape;501;p20"/>
          <p:cNvSpPr txBox="1"/>
          <p:nvPr/>
        </p:nvSpPr>
        <p:spPr>
          <a:xfrm>
            <a:off x="1185600" y="877993"/>
            <a:ext cx="5927804" cy="853206"/>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5034" u="none" cap="none" strike="noStrike">
                <a:solidFill>
                  <a:srgbClr val="FFFFFF"/>
                </a:solidFill>
                <a:latin typeface="Montserrat"/>
                <a:ea typeface="Montserrat"/>
                <a:cs typeface="Montserrat"/>
                <a:sym typeface="Montserrat"/>
              </a:rPr>
              <a:t>Cableado Vertical</a:t>
            </a:r>
            <a:endParaRPr/>
          </a:p>
        </p:txBody>
      </p:sp>
      <p:sp>
        <p:nvSpPr>
          <p:cNvPr id="502" name="Google Shape;502;p20"/>
          <p:cNvSpPr txBox="1"/>
          <p:nvPr/>
        </p:nvSpPr>
        <p:spPr>
          <a:xfrm>
            <a:off x="1185600" y="1848157"/>
            <a:ext cx="4393983" cy="583514"/>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0" i="0" lang="en-US" sz="3434" u="none" cap="none" strike="noStrike">
                <a:solidFill>
                  <a:srgbClr val="FFFFFF"/>
                </a:solidFill>
                <a:latin typeface="Montserrat"/>
                <a:ea typeface="Montserrat"/>
                <a:cs typeface="Montserrat"/>
                <a:sym typeface="Montserrat"/>
              </a:rPr>
              <a:t>Backbone - Troncal</a:t>
            </a:r>
            <a:endParaRPr/>
          </a:p>
        </p:txBody>
      </p:sp>
      <p:sp>
        <p:nvSpPr>
          <p:cNvPr id="503" name="Google Shape;503;p20"/>
          <p:cNvSpPr txBox="1"/>
          <p:nvPr/>
        </p:nvSpPr>
        <p:spPr>
          <a:xfrm>
            <a:off x="592793" y="5855432"/>
            <a:ext cx="8902387" cy="1765032"/>
          </a:xfrm>
          <a:prstGeom prst="rect">
            <a:avLst/>
          </a:prstGeom>
          <a:noFill/>
          <a:ln>
            <a:noFill/>
          </a:ln>
        </p:spPr>
        <p:txBody>
          <a:bodyPr anchorCtr="0" anchor="t" bIns="0" lIns="0" spcFirstLastPara="1" rIns="0" wrap="square" tIns="0">
            <a:spAutoFit/>
          </a:bodyPr>
          <a:lstStyle/>
          <a:p>
            <a:pPr indent="-365086" lvl="1" marL="730175" marR="0" rtl="0" algn="l">
              <a:lnSpc>
                <a:spcPct val="139976"/>
              </a:lnSpc>
              <a:spcBef>
                <a:spcPts val="0"/>
              </a:spcBef>
              <a:spcAft>
                <a:spcPts val="0"/>
              </a:spcAft>
              <a:buClr>
                <a:srgbClr val="FFFFFF"/>
              </a:buClr>
              <a:buSzPts val="3382"/>
              <a:buFont typeface="Arial"/>
              <a:buChar char="•"/>
            </a:pPr>
            <a:r>
              <a:rPr b="0" i="0" lang="en-US" sz="3382" u="none" cap="none" strike="noStrike">
                <a:solidFill>
                  <a:srgbClr val="FFFFFF"/>
                </a:solidFill>
                <a:latin typeface="Montserrat"/>
                <a:ea typeface="Montserrat"/>
                <a:cs typeface="Montserrat"/>
                <a:sym typeface="Montserrat"/>
              </a:rPr>
              <a:t>El backbone de datos se puede implementar con cables UTP (par trenzado) y/o con fibra óptica.</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507" name="Shape 507"/>
        <p:cNvGrpSpPr/>
        <p:nvPr/>
      </p:nvGrpSpPr>
      <p:grpSpPr>
        <a:xfrm>
          <a:off x="0" y="0"/>
          <a:ext cx="0" cy="0"/>
          <a:chOff x="0" y="0"/>
          <a:chExt cx="0" cy="0"/>
        </a:xfrm>
      </p:grpSpPr>
      <p:sp>
        <p:nvSpPr>
          <p:cNvPr id="508" name="Google Shape;508;p21"/>
          <p:cNvSpPr/>
          <p:nvPr/>
        </p:nvSpPr>
        <p:spPr>
          <a:xfrm>
            <a:off x="5165921" y="3531908"/>
            <a:ext cx="7956159" cy="5574546"/>
          </a:xfrm>
          <a:custGeom>
            <a:rect b="b" l="l" r="r" t="t"/>
            <a:pathLst>
              <a:path extrusionOk="0" h="5574546" w="7956159">
                <a:moveTo>
                  <a:pt x="0" y="0"/>
                </a:moveTo>
                <a:lnTo>
                  <a:pt x="7956158" y="0"/>
                </a:lnTo>
                <a:lnTo>
                  <a:pt x="7956158" y="5574546"/>
                </a:lnTo>
                <a:lnTo>
                  <a:pt x="0" y="5574546"/>
                </a:lnTo>
                <a:lnTo>
                  <a:pt x="0" y="0"/>
                </a:lnTo>
                <a:close/>
              </a:path>
            </a:pathLst>
          </a:custGeom>
          <a:blipFill rotWithShape="1">
            <a:blip r:embed="rId3">
              <a:alphaModFix/>
            </a:blip>
            <a:stretch>
              <a:fillRect b="0" l="0" r="0" t="0"/>
            </a:stretch>
          </a:blipFill>
          <a:ln>
            <a:noFill/>
          </a:ln>
        </p:spPr>
      </p:sp>
      <p:sp>
        <p:nvSpPr>
          <p:cNvPr id="509" name="Google Shape;509;p21"/>
          <p:cNvSpPr txBox="1"/>
          <p:nvPr/>
        </p:nvSpPr>
        <p:spPr>
          <a:xfrm>
            <a:off x="1232946" y="877993"/>
            <a:ext cx="5833111" cy="853206"/>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5034" u="none" cap="none" strike="noStrike">
                <a:solidFill>
                  <a:srgbClr val="FFFFFF"/>
                </a:solidFill>
                <a:latin typeface="Montserrat"/>
                <a:ea typeface="Montserrat"/>
                <a:cs typeface="Montserrat"/>
                <a:sym typeface="Montserrat"/>
              </a:rPr>
              <a:t>Cableado vertical</a:t>
            </a:r>
            <a:endParaRPr/>
          </a:p>
        </p:txBody>
      </p:sp>
      <p:sp>
        <p:nvSpPr>
          <p:cNvPr id="510" name="Google Shape;510;p21"/>
          <p:cNvSpPr txBox="1"/>
          <p:nvPr/>
        </p:nvSpPr>
        <p:spPr>
          <a:xfrm>
            <a:off x="1185600" y="1848157"/>
            <a:ext cx="15661431" cy="1187604"/>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0" i="0" lang="en-US" sz="3434" u="none" cap="none" strike="noStrike">
                <a:solidFill>
                  <a:srgbClr val="FFFFFF"/>
                </a:solidFill>
                <a:latin typeface="Montserrat"/>
                <a:ea typeface="Montserrat"/>
                <a:cs typeface="Montserrat"/>
                <a:sym typeface="Montserrat"/>
              </a:rPr>
              <a:t>Proporciona interconexiones entre cuartos de entrada y servicios del</a:t>
            </a:r>
            <a:endParaRPr/>
          </a:p>
          <a:p>
            <a:pPr indent="0" lvl="0" marL="0" marR="0" rtl="0" algn="ctr">
              <a:lnSpc>
                <a:spcPct val="140040"/>
              </a:lnSpc>
              <a:spcBef>
                <a:spcPts val="0"/>
              </a:spcBef>
              <a:spcAft>
                <a:spcPts val="0"/>
              </a:spcAft>
              <a:buNone/>
            </a:pPr>
            <a:r>
              <a:rPr b="0" i="0" lang="en-US" sz="3434" u="none" cap="none" strike="noStrike">
                <a:solidFill>
                  <a:srgbClr val="FFFFFF"/>
                </a:solidFill>
                <a:latin typeface="Montserrat"/>
                <a:ea typeface="Montserrat"/>
                <a:cs typeface="Montserrat"/>
                <a:sym typeface="Montserrat"/>
              </a:rPr>
              <a:t>edificio, cuartos de equipos y cuartos de telecomunicaciones</a:t>
            </a:r>
            <a:endParaRPr/>
          </a:p>
        </p:txBody>
      </p:sp>
      <p:sp>
        <p:nvSpPr>
          <p:cNvPr id="511" name="Google Shape;511;p21"/>
          <p:cNvSpPr txBox="1"/>
          <p:nvPr/>
        </p:nvSpPr>
        <p:spPr>
          <a:xfrm>
            <a:off x="1532133" y="4965897"/>
            <a:ext cx="3485720" cy="13532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Acometida de datos</a:t>
            </a:r>
            <a:endParaRPr/>
          </a:p>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los puestos de</a:t>
            </a:r>
            <a:endParaRPr/>
          </a:p>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trabajo</a:t>
            </a:r>
            <a:endParaRPr/>
          </a:p>
        </p:txBody>
      </p:sp>
      <p:sp>
        <p:nvSpPr>
          <p:cNvPr id="512" name="Google Shape;512;p21"/>
          <p:cNvSpPr txBox="1"/>
          <p:nvPr/>
        </p:nvSpPr>
        <p:spPr>
          <a:xfrm>
            <a:off x="13348575" y="4037836"/>
            <a:ext cx="3485720" cy="13532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Acometida del</a:t>
            </a:r>
            <a:endParaRPr/>
          </a:p>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backbone de</a:t>
            </a:r>
            <a:endParaRPr/>
          </a:p>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Acometida de datos</a:t>
            </a:r>
            <a:endParaRPr/>
          </a:p>
        </p:txBody>
      </p:sp>
      <p:sp>
        <p:nvSpPr>
          <p:cNvPr id="513" name="Google Shape;513;p21"/>
          <p:cNvSpPr txBox="1"/>
          <p:nvPr/>
        </p:nvSpPr>
        <p:spPr>
          <a:xfrm>
            <a:off x="13829372" y="6495237"/>
            <a:ext cx="2524125" cy="13532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Acometida del</a:t>
            </a:r>
            <a:endParaRPr/>
          </a:p>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backbone</a:t>
            </a:r>
            <a:endParaRPr/>
          </a:p>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telefónico</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517" name="Shape 517"/>
        <p:cNvGrpSpPr/>
        <p:nvPr/>
      </p:nvGrpSpPr>
      <p:grpSpPr>
        <a:xfrm>
          <a:off x="0" y="0"/>
          <a:ext cx="0" cy="0"/>
          <a:chOff x="0" y="0"/>
          <a:chExt cx="0" cy="0"/>
        </a:xfrm>
      </p:grpSpPr>
      <p:sp>
        <p:nvSpPr>
          <p:cNvPr id="518" name="Google Shape;518;p22"/>
          <p:cNvSpPr txBox="1"/>
          <p:nvPr/>
        </p:nvSpPr>
        <p:spPr>
          <a:xfrm>
            <a:off x="1121187" y="729393"/>
            <a:ext cx="6930707" cy="1014878"/>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5981" u="none" cap="none" strike="noStrike">
                <a:solidFill>
                  <a:srgbClr val="FFFFFF"/>
                </a:solidFill>
                <a:latin typeface="Montserrat"/>
                <a:ea typeface="Montserrat"/>
                <a:cs typeface="Montserrat"/>
                <a:sym typeface="Montserrat"/>
              </a:rPr>
              <a:t>Cableado vertical</a:t>
            </a:r>
            <a:endParaRPr/>
          </a:p>
        </p:txBody>
      </p:sp>
      <p:sp>
        <p:nvSpPr>
          <p:cNvPr id="519" name="Google Shape;519;p22"/>
          <p:cNvSpPr txBox="1"/>
          <p:nvPr/>
        </p:nvSpPr>
        <p:spPr>
          <a:xfrm>
            <a:off x="1232946" y="1788145"/>
            <a:ext cx="3353594" cy="4388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Backbone - Troncal</a:t>
            </a:r>
            <a:endParaRPr/>
          </a:p>
        </p:txBody>
      </p:sp>
      <p:sp>
        <p:nvSpPr>
          <p:cNvPr id="520" name="Google Shape;520;p22"/>
          <p:cNvSpPr txBox="1"/>
          <p:nvPr/>
        </p:nvSpPr>
        <p:spPr>
          <a:xfrm>
            <a:off x="1741141" y="2986514"/>
            <a:ext cx="12285504" cy="43878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En dichos gabinetes se dispone generalmente de las siguientes secciones:</a:t>
            </a:r>
            <a:endParaRPr/>
          </a:p>
        </p:txBody>
      </p:sp>
      <p:sp>
        <p:nvSpPr>
          <p:cNvPr id="521" name="Google Shape;521;p22"/>
          <p:cNvSpPr txBox="1"/>
          <p:nvPr/>
        </p:nvSpPr>
        <p:spPr>
          <a:xfrm>
            <a:off x="1741141" y="3659600"/>
            <a:ext cx="15518159" cy="4115435"/>
          </a:xfrm>
          <a:prstGeom prst="rect">
            <a:avLst/>
          </a:prstGeom>
          <a:noFill/>
          <a:ln>
            <a:noFill/>
          </a:ln>
        </p:spPr>
        <p:txBody>
          <a:bodyPr anchorCtr="0" anchor="t" bIns="0" lIns="0" spcFirstLastPara="1" rIns="0" wrap="square" tIns="0">
            <a:spAutoFit/>
          </a:bodyPr>
          <a:lstStyle/>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 Acometida de los puestos de trabajo: dos cables UTP llegan desde cada puesto de trabajo.</a:t>
            </a:r>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Acometida del backbone telefónico: cable multipar que puede terminar en regletas de conexión o en patch panels.</a:t>
            </a:r>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Acometida del backbone de datos: cables de fibras ópticas que se llevan a una bandeja de conexión adecuada.</a:t>
            </a:r>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En cuanto al área del cuarto de entrada de servicios de cableado En cables, accesorios de conexión, dispositivos de protección, y demás equipos es necesario para conectar el edificio a servicios externos.</a:t>
            </a:r>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525" name="Shape 525"/>
        <p:cNvGrpSpPr/>
        <p:nvPr/>
      </p:nvGrpSpPr>
      <p:grpSpPr>
        <a:xfrm>
          <a:off x="0" y="0"/>
          <a:ext cx="0" cy="0"/>
          <a:chOff x="0" y="0"/>
          <a:chExt cx="0" cy="0"/>
        </a:xfrm>
      </p:grpSpPr>
      <p:sp>
        <p:nvSpPr>
          <p:cNvPr id="526" name="Google Shape;526;p23"/>
          <p:cNvSpPr/>
          <p:nvPr/>
        </p:nvSpPr>
        <p:spPr>
          <a:xfrm>
            <a:off x="1028700" y="3091672"/>
            <a:ext cx="3665219" cy="2732493"/>
          </a:xfrm>
          <a:custGeom>
            <a:rect b="b" l="l" r="r" t="t"/>
            <a:pathLst>
              <a:path extrusionOk="0" h="2732493" w="3665219">
                <a:moveTo>
                  <a:pt x="0" y="0"/>
                </a:moveTo>
                <a:lnTo>
                  <a:pt x="3665219" y="0"/>
                </a:lnTo>
                <a:lnTo>
                  <a:pt x="3665219" y="2732493"/>
                </a:lnTo>
                <a:lnTo>
                  <a:pt x="0" y="2732493"/>
                </a:lnTo>
                <a:lnTo>
                  <a:pt x="0" y="0"/>
                </a:lnTo>
                <a:close/>
              </a:path>
            </a:pathLst>
          </a:custGeom>
          <a:blipFill rotWithShape="1">
            <a:blip r:embed="rId3">
              <a:alphaModFix/>
            </a:blip>
            <a:stretch>
              <a:fillRect b="0" l="0" r="0" t="0"/>
            </a:stretch>
          </a:blipFill>
          <a:ln>
            <a:noFill/>
          </a:ln>
        </p:spPr>
      </p:sp>
      <p:sp>
        <p:nvSpPr>
          <p:cNvPr id="527" name="Google Shape;527;p23"/>
          <p:cNvSpPr/>
          <p:nvPr/>
        </p:nvSpPr>
        <p:spPr>
          <a:xfrm>
            <a:off x="6733694" y="4732223"/>
            <a:ext cx="4030938" cy="3167166"/>
          </a:xfrm>
          <a:custGeom>
            <a:rect b="b" l="l" r="r" t="t"/>
            <a:pathLst>
              <a:path extrusionOk="0" h="3167166" w="4030938">
                <a:moveTo>
                  <a:pt x="0" y="0"/>
                </a:moveTo>
                <a:lnTo>
                  <a:pt x="4030938" y="0"/>
                </a:lnTo>
                <a:lnTo>
                  <a:pt x="4030938" y="3167165"/>
                </a:lnTo>
                <a:lnTo>
                  <a:pt x="0" y="3167165"/>
                </a:lnTo>
                <a:lnTo>
                  <a:pt x="0" y="0"/>
                </a:lnTo>
                <a:close/>
              </a:path>
            </a:pathLst>
          </a:custGeom>
          <a:blipFill rotWithShape="1">
            <a:blip r:embed="rId4">
              <a:alphaModFix/>
            </a:blip>
            <a:stretch>
              <a:fillRect b="0" l="0" r="0" t="0"/>
            </a:stretch>
          </a:blipFill>
          <a:ln>
            <a:noFill/>
          </a:ln>
        </p:spPr>
      </p:sp>
      <p:sp>
        <p:nvSpPr>
          <p:cNvPr id="528" name="Google Shape;528;p23"/>
          <p:cNvSpPr/>
          <p:nvPr/>
        </p:nvSpPr>
        <p:spPr>
          <a:xfrm>
            <a:off x="12470914" y="3274349"/>
            <a:ext cx="4788386" cy="2549816"/>
          </a:xfrm>
          <a:custGeom>
            <a:rect b="b" l="l" r="r" t="t"/>
            <a:pathLst>
              <a:path extrusionOk="0" h="2549816" w="4788386">
                <a:moveTo>
                  <a:pt x="0" y="0"/>
                </a:moveTo>
                <a:lnTo>
                  <a:pt x="4788386" y="0"/>
                </a:lnTo>
                <a:lnTo>
                  <a:pt x="4788386" y="2549816"/>
                </a:lnTo>
                <a:lnTo>
                  <a:pt x="0" y="2549816"/>
                </a:lnTo>
                <a:lnTo>
                  <a:pt x="0" y="0"/>
                </a:lnTo>
                <a:close/>
              </a:path>
            </a:pathLst>
          </a:custGeom>
          <a:blipFill rotWithShape="1">
            <a:blip r:embed="rId5">
              <a:alphaModFix/>
            </a:blip>
            <a:stretch>
              <a:fillRect b="0" l="0" r="0" t="0"/>
            </a:stretch>
          </a:blipFill>
          <a:ln>
            <a:noFill/>
          </a:ln>
        </p:spPr>
      </p:sp>
      <p:sp>
        <p:nvSpPr>
          <p:cNvPr id="529" name="Google Shape;529;p23"/>
          <p:cNvSpPr txBox="1"/>
          <p:nvPr/>
        </p:nvSpPr>
        <p:spPr>
          <a:xfrm>
            <a:off x="11001244" y="1139663"/>
            <a:ext cx="4480884" cy="645311"/>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3846" u="none" cap="none" strike="noStrike">
                <a:solidFill>
                  <a:srgbClr val="FFFFFF"/>
                </a:solidFill>
                <a:latin typeface="Montserrat"/>
                <a:ea typeface="Montserrat"/>
                <a:cs typeface="Montserrat"/>
                <a:sym typeface="Montserrat"/>
              </a:rPr>
              <a:t>Tomar en cuenta:</a:t>
            </a:r>
            <a:endParaRPr/>
          </a:p>
        </p:txBody>
      </p:sp>
      <p:sp>
        <p:nvSpPr>
          <p:cNvPr id="530" name="Google Shape;530;p23"/>
          <p:cNvSpPr txBox="1"/>
          <p:nvPr/>
        </p:nvSpPr>
        <p:spPr>
          <a:xfrm>
            <a:off x="1453653" y="2154409"/>
            <a:ext cx="2815312" cy="650933"/>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818" u="none" cap="none" strike="noStrike">
                <a:solidFill>
                  <a:srgbClr val="FFFFFF"/>
                </a:solidFill>
                <a:latin typeface="Montserrat"/>
                <a:ea typeface="Montserrat"/>
                <a:cs typeface="Montserrat"/>
                <a:sym typeface="Montserrat"/>
              </a:rPr>
              <a:t>Atenuación</a:t>
            </a:r>
            <a:endParaRPr/>
          </a:p>
        </p:txBody>
      </p:sp>
      <p:sp>
        <p:nvSpPr>
          <p:cNvPr id="531" name="Google Shape;531;p23"/>
          <p:cNvSpPr txBox="1"/>
          <p:nvPr/>
        </p:nvSpPr>
        <p:spPr>
          <a:xfrm>
            <a:off x="863323" y="6682922"/>
            <a:ext cx="4470208" cy="1113869"/>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0" i="0" lang="en-US" sz="3238" u="none" cap="none" strike="noStrike">
                <a:solidFill>
                  <a:srgbClr val="FFFFFF"/>
                </a:solidFill>
                <a:latin typeface="Montserrat"/>
                <a:ea typeface="Montserrat"/>
                <a:cs typeface="Montserrat"/>
                <a:sym typeface="Montserrat"/>
              </a:rPr>
              <a:t>Impedancia y</a:t>
            </a:r>
            <a:endParaRPr/>
          </a:p>
          <a:p>
            <a:pPr indent="0" lvl="0" marL="0" marR="0" rtl="0" algn="ctr">
              <a:lnSpc>
                <a:spcPct val="139993"/>
              </a:lnSpc>
              <a:spcBef>
                <a:spcPts val="0"/>
              </a:spcBef>
              <a:spcAft>
                <a:spcPts val="0"/>
              </a:spcAft>
              <a:buNone/>
            </a:pPr>
            <a:r>
              <a:rPr b="0" i="0" lang="en-US" sz="3238" u="none" cap="none" strike="noStrike">
                <a:solidFill>
                  <a:srgbClr val="FFFFFF"/>
                </a:solidFill>
                <a:latin typeface="Montserrat"/>
                <a:ea typeface="Montserrat"/>
                <a:cs typeface="Montserrat"/>
                <a:sym typeface="Montserrat"/>
              </a:rPr>
              <a:t>distorsión por retardo</a:t>
            </a:r>
            <a:endParaRPr/>
          </a:p>
        </p:txBody>
      </p:sp>
      <p:sp>
        <p:nvSpPr>
          <p:cNvPr id="532" name="Google Shape;532;p23"/>
          <p:cNvSpPr txBox="1"/>
          <p:nvPr/>
        </p:nvSpPr>
        <p:spPr>
          <a:xfrm>
            <a:off x="7079675" y="3116336"/>
            <a:ext cx="3338974" cy="1385667"/>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041" u="none" cap="none" strike="noStrike">
                <a:solidFill>
                  <a:srgbClr val="FFFFFF"/>
                </a:solidFill>
                <a:latin typeface="Montserrat"/>
                <a:ea typeface="Montserrat"/>
                <a:cs typeface="Montserrat"/>
                <a:sym typeface="Montserrat"/>
              </a:rPr>
              <a:t>Capacitancia</a:t>
            </a:r>
            <a:endParaRPr/>
          </a:p>
          <a:p>
            <a:pPr indent="0" lvl="0" marL="0" marR="0" rtl="0" algn="ctr">
              <a:lnSpc>
                <a:spcPct val="140014"/>
              </a:lnSpc>
              <a:spcBef>
                <a:spcPts val="0"/>
              </a:spcBef>
              <a:spcAft>
                <a:spcPts val="0"/>
              </a:spcAft>
              <a:buNone/>
            </a:pPr>
            <a:r>
              <a:rPr b="0" i="0" lang="en-US" sz="4041" u="none" cap="none" strike="noStrike">
                <a:solidFill>
                  <a:srgbClr val="FFFFFF"/>
                </a:solidFill>
                <a:latin typeface="Montserrat"/>
                <a:ea typeface="Montserrat"/>
                <a:cs typeface="Montserrat"/>
                <a:sym typeface="Montserrat"/>
              </a:rPr>
              <a:t>del cable</a:t>
            </a:r>
            <a:endParaRPr/>
          </a:p>
        </p:txBody>
      </p:sp>
      <p:sp>
        <p:nvSpPr>
          <p:cNvPr id="533" name="Google Shape;533;p23"/>
          <p:cNvSpPr txBox="1"/>
          <p:nvPr/>
        </p:nvSpPr>
        <p:spPr>
          <a:xfrm>
            <a:off x="12919745" y="6156112"/>
            <a:ext cx="3890723" cy="1110771"/>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0" i="0" lang="en-US" sz="3228" u="none" cap="none" strike="noStrike">
                <a:solidFill>
                  <a:srgbClr val="FFFFFF"/>
                </a:solidFill>
                <a:latin typeface="Montserrat"/>
                <a:ea typeface="Montserrat"/>
                <a:cs typeface="Montserrat"/>
                <a:sym typeface="Montserrat"/>
              </a:rPr>
              <a:t>Velocidad según la</a:t>
            </a:r>
            <a:endParaRPr/>
          </a:p>
          <a:p>
            <a:pPr indent="0" lvl="0" marL="0" marR="0" rtl="0" algn="ctr">
              <a:lnSpc>
                <a:spcPct val="140024"/>
              </a:lnSpc>
              <a:spcBef>
                <a:spcPts val="0"/>
              </a:spcBef>
              <a:spcAft>
                <a:spcPts val="0"/>
              </a:spcAft>
              <a:buNone/>
            </a:pPr>
            <a:r>
              <a:rPr b="0" i="0" lang="en-US" sz="3228" u="none" cap="none" strike="noStrike">
                <a:solidFill>
                  <a:srgbClr val="FFFFFF"/>
                </a:solidFill>
                <a:latin typeface="Montserrat"/>
                <a:ea typeface="Montserrat"/>
                <a:cs typeface="Montserrat"/>
                <a:sym typeface="Montserrat"/>
              </a:rPr>
              <a:t>categoría de la red</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537" name="Shape 537"/>
        <p:cNvGrpSpPr/>
        <p:nvPr/>
      </p:nvGrpSpPr>
      <p:grpSpPr>
        <a:xfrm>
          <a:off x="0" y="0"/>
          <a:ext cx="0" cy="0"/>
          <a:chOff x="0" y="0"/>
          <a:chExt cx="0" cy="0"/>
        </a:xfrm>
      </p:grpSpPr>
      <p:sp>
        <p:nvSpPr>
          <p:cNvPr id="538" name="Google Shape;538;p24"/>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sp>
      <p:grpSp>
        <p:nvGrpSpPr>
          <p:cNvPr id="539" name="Google Shape;539;p24"/>
          <p:cNvGrpSpPr/>
          <p:nvPr/>
        </p:nvGrpSpPr>
        <p:grpSpPr>
          <a:xfrm rot="-182069">
            <a:off x="2624194" y="1635284"/>
            <a:ext cx="6817034" cy="6817034"/>
            <a:chOff x="0" y="0"/>
            <a:chExt cx="812800" cy="812800"/>
          </a:xfrm>
        </p:grpSpPr>
        <p:sp>
          <p:nvSpPr>
            <p:cNvPr id="540" name="Google Shape;540;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2" name="Google Shape;542;p24"/>
          <p:cNvGrpSpPr/>
          <p:nvPr/>
        </p:nvGrpSpPr>
        <p:grpSpPr>
          <a:xfrm rot="-182069">
            <a:off x="3171294" y="1629937"/>
            <a:ext cx="6609519" cy="6609519"/>
            <a:chOff x="0" y="0"/>
            <a:chExt cx="812800" cy="812800"/>
          </a:xfrm>
        </p:grpSpPr>
        <p:sp>
          <p:nvSpPr>
            <p:cNvPr id="543" name="Google Shape;543;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5" name="Google Shape;545;p24"/>
          <p:cNvGrpSpPr/>
          <p:nvPr/>
        </p:nvGrpSpPr>
        <p:grpSpPr>
          <a:xfrm rot="-886328">
            <a:off x="2234838" y="5472307"/>
            <a:ext cx="896087" cy="968527"/>
            <a:chOff x="0" y="-47625"/>
            <a:chExt cx="236006" cy="255085"/>
          </a:xfrm>
        </p:grpSpPr>
        <p:sp>
          <p:nvSpPr>
            <p:cNvPr id="546" name="Google Shape;546;p24"/>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sp>
        <p:sp>
          <p:nvSpPr>
            <p:cNvPr id="547" name="Google Shape;547;p24"/>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8" name="Google Shape;548;p24"/>
          <p:cNvGrpSpPr/>
          <p:nvPr/>
        </p:nvGrpSpPr>
        <p:grpSpPr>
          <a:xfrm rot="-738237">
            <a:off x="468910" y="5475585"/>
            <a:ext cx="2101522" cy="1431732"/>
            <a:chOff x="0" y="-47625"/>
            <a:chExt cx="553487" cy="377082"/>
          </a:xfrm>
        </p:grpSpPr>
        <p:sp>
          <p:nvSpPr>
            <p:cNvPr id="549" name="Google Shape;549;p24"/>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1" name="Google Shape;551;p24"/>
          <p:cNvSpPr txBox="1"/>
          <p:nvPr/>
        </p:nvSpPr>
        <p:spPr>
          <a:xfrm>
            <a:off x="2908679" y="3744071"/>
            <a:ext cx="12470643" cy="2371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NORMAS Y ESTÁNDARES</a:t>
            </a:r>
            <a:endParaRPr/>
          </a:p>
        </p:txBody>
      </p:sp>
      <p:sp>
        <p:nvSpPr>
          <p:cNvPr id="552" name="Google Shape;552;p24"/>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sp>
      <p:sp>
        <p:nvSpPr>
          <p:cNvPr id="553" name="Google Shape;553;p24"/>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LABORATORIO DE REDES DE COMPUTADORAS 1</a:t>
            </a:r>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557" name="Shape 557"/>
        <p:cNvGrpSpPr/>
        <p:nvPr/>
      </p:nvGrpSpPr>
      <p:grpSpPr>
        <a:xfrm>
          <a:off x="0" y="0"/>
          <a:ext cx="0" cy="0"/>
          <a:chOff x="0" y="0"/>
          <a:chExt cx="0" cy="0"/>
        </a:xfrm>
      </p:grpSpPr>
      <p:grpSp>
        <p:nvGrpSpPr>
          <p:cNvPr id="558" name="Google Shape;558;p25"/>
          <p:cNvGrpSpPr/>
          <p:nvPr/>
        </p:nvGrpSpPr>
        <p:grpSpPr>
          <a:xfrm>
            <a:off x="1611566" y="3266178"/>
            <a:ext cx="14695991" cy="5270373"/>
            <a:chOff x="0" y="-47625"/>
            <a:chExt cx="3870549" cy="1388082"/>
          </a:xfrm>
        </p:grpSpPr>
        <p:sp>
          <p:nvSpPr>
            <p:cNvPr id="559" name="Google Shape;559;p25"/>
            <p:cNvSpPr/>
            <p:nvPr/>
          </p:nvSpPr>
          <p:spPr>
            <a:xfrm>
              <a:off x="0" y="0"/>
              <a:ext cx="3870549" cy="1340457"/>
            </a:xfrm>
            <a:custGeom>
              <a:rect b="b" l="l" r="r" t="t"/>
              <a:pathLst>
                <a:path extrusionOk="0" h="1340457" w="3870549">
                  <a:moveTo>
                    <a:pt x="26867" y="0"/>
                  </a:moveTo>
                  <a:lnTo>
                    <a:pt x="3843682" y="0"/>
                  </a:lnTo>
                  <a:cubicBezTo>
                    <a:pt x="3850808" y="0"/>
                    <a:pt x="3857641" y="2831"/>
                    <a:pt x="3862680" y="7869"/>
                  </a:cubicBezTo>
                  <a:cubicBezTo>
                    <a:pt x="3867719" y="12908"/>
                    <a:pt x="3870549" y="19741"/>
                    <a:pt x="3870549" y="26867"/>
                  </a:cubicBezTo>
                  <a:lnTo>
                    <a:pt x="3870549" y="1313590"/>
                  </a:lnTo>
                  <a:cubicBezTo>
                    <a:pt x="3870549" y="1320715"/>
                    <a:pt x="3867719" y="1327549"/>
                    <a:pt x="3862680" y="1332588"/>
                  </a:cubicBezTo>
                  <a:cubicBezTo>
                    <a:pt x="3857641" y="1337626"/>
                    <a:pt x="3850808" y="1340457"/>
                    <a:pt x="3843682" y="1340457"/>
                  </a:cubicBezTo>
                  <a:lnTo>
                    <a:pt x="26867" y="1340457"/>
                  </a:lnTo>
                  <a:cubicBezTo>
                    <a:pt x="19741" y="1340457"/>
                    <a:pt x="12908" y="1337626"/>
                    <a:pt x="7869" y="1332588"/>
                  </a:cubicBezTo>
                  <a:cubicBezTo>
                    <a:pt x="2831" y="1327549"/>
                    <a:pt x="0" y="1320715"/>
                    <a:pt x="0" y="1313590"/>
                  </a:cubicBezTo>
                  <a:lnTo>
                    <a:pt x="0" y="26867"/>
                  </a:lnTo>
                  <a:cubicBezTo>
                    <a:pt x="0" y="19741"/>
                    <a:pt x="2831" y="12908"/>
                    <a:pt x="7869" y="7869"/>
                  </a:cubicBezTo>
                  <a:cubicBezTo>
                    <a:pt x="12908" y="2831"/>
                    <a:pt x="19741" y="0"/>
                    <a:pt x="26867" y="0"/>
                  </a:cubicBezTo>
                  <a:close/>
                </a:path>
              </a:pathLst>
            </a:custGeom>
            <a:solidFill>
              <a:srgbClr val="FFA85A"/>
            </a:solidFill>
            <a:ln cap="rnd" cmpd="sng" w="15240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txBox="1"/>
            <p:nvPr/>
          </p:nvSpPr>
          <p:spPr>
            <a:xfrm>
              <a:off x="0" y="-47625"/>
              <a:ext cx="3870549" cy="1388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1" name="Google Shape;561;p25"/>
          <p:cNvGrpSpPr/>
          <p:nvPr/>
        </p:nvGrpSpPr>
        <p:grpSpPr>
          <a:xfrm>
            <a:off x="1808506" y="534938"/>
            <a:ext cx="14499051" cy="2154982"/>
            <a:chOff x="0" y="-157626"/>
            <a:chExt cx="19332068" cy="2873309"/>
          </a:xfrm>
        </p:grpSpPr>
        <p:cxnSp>
          <p:nvCxnSpPr>
            <p:cNvPr id="562" name="Google Shape;562;p25"/>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563" name="Google Shape;563;p25"/>
            <p:cNvGrpSpPr/>
            <p:nvPr/>
          </p:nvGrpSpPr>
          <p:grpSpPr>
            <a:xfrm>
              <a:off x="0" y="0"/>
              <a:ext cx="2715683" cy="2715683"/>
              <a:chOff x="0" y="0"/>
              <a:chExt cx="812800" cy="812800"/>
            </a:xfrm>
          </p:grpSpPr>
          <p:sp>
            <p:nvSpPr>
              <p:cNvPr id="564" name="Google Shape;564;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6" name="Google Shape;566;p25"/>
            <p:cNvGrpSpPr/>
            <p:nvPr/>
          </p:nvGrpSpPr>
          <p:grpSpPr>
            <a:xfrm>
              <a:off x="150744" y="-157626"/>
              <a:ext cx="2603039" cy="2786065"/>
              <a:chOff x="0" y="-57150"/>
              <a:chExt cx="812800" cy="869950"/>
            </a:xfrm>
          </p:grpSpPr>
          <p:sp>
            <p:nvSpPr>
              <p:cNvPr id="567" name="Google Shape;567;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5"/>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69" name="Google Shape;569;p25"/>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570" name="Google Shape;570;p25"/>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571" name="Google Shape;571;p25"/>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572" name="Google Shape;572;p25"/>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573" name="Google Shape;573;p25"/>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574" name="Google Shape;574;p25"/>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575" name="Google Shape;575;p25"/>
          <p:cNvSpPr txBox="1"/>
          <p:nvPr/>
        </p:nvSpPr>
        <p:spPr>
          <a:xfrm>
            <a:off x="3829792" y="1281015"/>
            <a:ext cx="1178340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NORMAS Y ESTÁNDARES</a:t>
            </a:r>
            <a:endParaRPr/>
          </a:p>
        </p:txBody>
      </p:sp>
      <p:grpSp>
        <p:nvGrpSpPr>
          <p:cNvPr id="576" name="Google Shape;576;p25"/>
          <p:cNvGrpSpPr/>
          <p:nvPr/>
        </p:nvGrpSpPr>
        <p:grpSpPr>
          <a:xfrm>
            <a:off x="2011936" y="2961378"/>
            <a:ext cx="6724704" cy="5317250"/>
            <a:chOff x="0" y="-47625"/>
            <a:chExt cx="1771115" cy="1400428"/>
          </a:xfrm>
        </p:grpSpPr>
        <p:sp>
          <p:nvSpPr>
            <p:cNvPr id="577" name="Google Shape;577;p25"/>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sp>
        <p:sp>
          <p:nvSpPr>
            <p:cNvPr id="578" name="Google Shape;578;p25"/>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9" name="Google Shape;579;p25"/>
          <p:cNvGrpSpPr/>
          <p:nvPr/>
        </p:nvGrpSpPr>
        <p:grpSpPr>
          <a:xfrm>
            <a:off x="9118972" y="2961378"/>
            <a:ext cx="6724704" cy="5317250"/>
            <a:chOff x="0" y="-47625"/>
            <a:chExt cx="1771115" cy="1400428"/>
          </a:xfrm>
        </p:grpSpPr>
        <p:sp>
          <p:nvSpPr>
            <p:cNvPr id="580" name="Google Shape;580;p25"/>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sp>
        <p:sp>
          <p:nvSpPr>
            <p:cNvPr id="581" name="Google Shape;581;p25"/>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2" name="Google Shape;582;p25"/>
          <p:cNvSpPr txBox="1"/>
          <p:nvPr/>
        </p:nvSpPr>
        <p:spPr>
          <a:xfrm>
            <a:off x="1611566" y="35642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500" u="none" cap="none" strike="noStrike">
                <a:solidFill>
                  <a:srgbClr val="1F1674"/>
                </a:solidFill>
                <a:latin typeface="Bebas Neue"/>
                <a:ea typeface="Bebas Neue"/>
                <a:cs typeface="Bebas Neue"/>
                <a:sym typeface="Bebas Neue"/>
              </a:rPr>
              <a:t>NORMA</a:t>
            </a:r>
            <a:endParaRPr/>
          </a:p>
        </p:txBody>
      </p:sp>
      <p:sp>
        <p:nvSpPr>
          <p:cNvPr id="583" name="Google Shape;583;p25"/>
          <p:cNvSpPr txBox="1"/>
          <p:nvPr/>
        </p:nvSpPr>
        <p:spPr>
          <a:xfrm>
            <a:off x="2263679" y="4636846"/>
            <a:ext cx="6015029" cy="2114550"/>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Establecen un lenguaje común entre las empresas, adminsitración pública , usuarios y consumidores.</a:t>
            </a:r>
            <a:endParaRPr/>
          </a:p>
        </p:txBody>
      </p:sp>
      <p:sp>
        <p:nvSpPr>
          <p:cNvPr id="584" name="Google Shape;584;p25"/>
          <p:cNvSpPr txBox="1"/>
          <p:nvPr/>
        </p:nvSpPr>
        <p:spPr>
          <a:xfrm>
            <a:off x="8959561" y="35642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500" u="none" cap="none" strike="noStrike">
                <a:solidFill>
                  <a:srgbClr val="1F1674"/>
                </a:solidFill>
                <a:latin typeface="Bebas Neue"/>
                <a:ea typeface="Bebas Neue"/>
                <a:cs typeface="Bebas Neue"/>
                <a:sym typeface="Bebas Neue"/>
              </a:rPr>
              <a:t>ESTANDAR</a:t>
            </a:r>
            <a:endParaRPr/>
          </a:p>
        </p:txBody>
      </p:sp>
      <p:sp>
        <p:nvSpPr>
          <p:cNvPr id="585" name="Google Shape;585;p25"/>
          <p:cNvSpPr txBox="1"/>
          <p:nvPr/>
        </p:nvSpPr>
        <p:spPr>
          <a:xfrm>
            <a:off x="9721496" y="4636846"/>
            <a:ext cx="5721032" cy="2647950"/>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Redacción y aprobación de normas para garantizar la calidad, funcionamiento para trabajar con una responsabilidad social</a:t>
            </a:r>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589" name="Shape 589"/>
        <p:cNvGrpSpPr/>
        <p:nvPr/>
      </p:nvGrpSpPr>
      <p:grpSpPr>
        <a:xfrm>
          <a:off x="0" y="0"/>
          <a:ext cx="0" cy="0"/>
          <a:chOff x="0" y="0"/>
          <a:chExt cx="0" cy="0"/>
        </a:xfrm>
      </p:grpSpPr>
      <p:grpSp>
        <p:nvGrpSpPr>
          <p:cNvPr id="590" name="Google Shape;590;p26"/>
          <p:cNvGrpSpPr/>
          <p:nvPr/>
        </p:nvGrpSpPr>
        <p:grpSpPr>
          <a:xfrm>
            <a:off x="1894444" y="4954748"/>
            <a:ext cx="428625" cy="4114800"/>
            <a:chOff x="0" y="0"/>
            <a:chExt cx="571500" cy="5486400"/>
          </a:xfrm>
        </p:grpSpPr>
        <p:grpSp>
          <p:nvGrpSpPr>
            <p:cNvPr id="591" name="Google Shape;591;p26"/>
            <p:cNvGrpSpPr/>
            <p:nvPr/>
          </p:nvGrpSpPr>
          <p:grpSpPr>
            <a:xfrm rot="10800000">
              <a:off x="0" y="2355915"/>
              <a:ext cx="571500" cy="1143000"/>
              <a:chOff x="0" y="0"/>
              <a:chExt cx="406400" cy="812800"/>
            </a:xfrm>
          </p:grpSpPr>
          <p:sp>
            <p:nvSpPr>
              <p:cNvPr id="592" name="Google Shape;592;p26"/>
              <p:cNvSpPr/>
              <p:nvPr/>
            </p:nvSpPr>
            <p:spPr>
              <a:xfrm>
                <a:off x="0" y="0"/>
                <a:ext cx="406400" cy="812800"/>
              </a:xfrm>
              <a:custGeom>
                <a:rect b="b" l="l" r="r" t="t"/>
                <a:pathLst>
                  <a:path extrusionOk="0" h="812800" w="406400">
                    <a:moveTo>
                      <a:pt x="406400" y="406400"/>
                    </a:moveTo>
                    <a:lnTo>
                      <a:pt x="0" y="0"/>
                    </a:lnTo>
                    <a:lnTo>
                      <a:pt x="0" y="203200"/>
                    </a:lnTo>
                    <a:lnTo>
                      <a:pt x="0" y="203200"/>
                    </a:lnTo>
                    <a:lnTo>
                      <a:pt x="0" y="609600"/>
                    </a:lnTo>
                    <a:lnTo>
                      <a:pt x="0" y="609600"/>
                    </a:lnTo>
                    <a:lnTo>
                      <a:pt x="0" y="812800"/>
                    </a:lnTo>
                    <a:lnTo>
                      <a:pt x="406400" y="406400"/>
                    </a:lnTo>
                    <a:close/>
                  </a:path>
                </a:pathLst>
              </a:custGeom>
              <a:solidFill>
                <a:srgbClr val="61E1FF"/>
              </a:solidFill>
              <a:ln cap="sq" cmpd="sng" w="57150">
                <a:solidFill>
                  <a:srgbClr val="FFA85A"/>
                </a:solidFill>
                <a:prstDash val="dash"/>
                <a:miter lim="8000"/>
                <a:headEnd len="sm" w="sm" type="none"/>
                <a:tailEnd len="sm" w="sm" type="none"/>
              </a:ln>
            </p:spPr>
          </p:sp>
          <p:sp>
            <p:nvSpPr>
              <p:cNvPr id="593" name="Google Shape;593;p26"/>
              <p:cNvSpPr txBox="1"/>
              <p:nvPr/>
            </p:nvSpPr>
            <p:spPr>
              <a:xfrm>
                <a:off x="0" y="155575"/>
                <a:ext cx="30480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94" name="Google Shape;594;p26"/>
            <p:cNvCxnSpPr/>
            <p:nvPr/>
          </p:nvCxnSpPr>
          <p:spPr>
            <a:xfrm>
              <a:off x="539750" y="0"/>
              <a:ext cx="0" cy="5486400"/>
            </a:xfrm>
            <a:prstGeom prst="straightConnector1">
              <a:avLst/>
            </a:prstGeom>
            <a:noFill/>
            <a:ln cap="flat" cmpd="sng" w="88900">
              <a:solidFill>
                <a:srgbClr val="4E639E"/>
              </a:solidFill>
              <a:prstDash val="solid"/>
              <a:round/>
              <a:headEnd len="sm" w="sm" type="none"/>
              <a:tailEnd len="sm" w="sm" type="none"/>
            </a:ln>
          </p:spPr>
        </p:cxnSp>
      </p:grpSp>
      <p:grpSp>
        <p:nvGrpSpPr>
          <p:cNvPr id="595" name="Google Shape;595;p26"/>
          <p:cNvGrpSpPr/>
          <p:nvPr/>
        </p:nvGrpSpPr>
        <p:grpSpPr>
          <a:xfrm>
            <a:off x="1894444" y="494555"/>
            <a:ext cx="14499051" cy="2154982"/>
            <a:chOff x="0" y="-157626"/>
            <a:chExt cx="19332068" cy="2873309"/>
          </a:xfrm>
        </p:grpSpPr>
        <p:cxnSp>
          <p:nvCxnSpPr>
            <p:cNvPr id="596" name="Google Shape;596;p2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597" name="Google Shape;597;p26"/>
            <p:cNvGrpSpPr/>
            <p:nvPr/>
          </p:nvGrpSpPr>
          <p:grpSpPr>
            <a:xfrm>
              <a:off x="0" y="0"/>
              <a:ext cx="2715683" cy="2715683"/>
              <a:chOff x="0" y="0"/>
              <a:chExt cx="812800" cy="812800"/>
            </a:xfrm>
          </p:grpSpPr>
          <p:sp>
            <p:nvSpPr>
              <p:cNvPr id="598" name="Google Shape;598;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26"/>
            <p:cNvGrpSpPr/>
            <p:nvPr/>
          </p:nvGrpSpPr>
          <p:grpSpPr>
            <a:xfrm>
              <a:off x="150744" y="-157626"/>
              <a:ext cx="2603039" cy="2786065"/>
              <a:chOff x="0" y="-57150"/>
              <a:chExt cx="812800" cy="869950"/>
            </a:xfrm>
          </p:grpSpPr>
          <p:sp>
            <p:nvSpPr>
              <p:cNvPr id="601" name="Google Shape;601;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03" name="Google Shape;603;p2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04" name="Google Shape;604;p2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05" name="Google Shape;605;p2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06" name="Google Shape;606;p2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07" name="Google Shape;607;p2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08" name="Google Shape;608;p2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609" name="Google Shape;609;p26"/>
          <p:cNvSpPr/>
          <p:nvPr/>
        </p:nvSpPr>
        <p:spPr>
          <a:xfrm>
            <a:off x="10127940" y="8287282"/>
            <a:ext cx="7924074" cy="1942036"/>
          </a:xfrm>
          <a:custGeom>
            <a:rect b="b" l="l" r="r" t="t"/>
            <a:pathLst>
              <a:path extrusionOk="0" h="1942036" w="7924074">
                <a:moveTo>
                  <a:pt x="0" y="0"/>
                </a:moveTo>
                <a:lnTo>
                  <a:pt x="7924074" y="0"/>
                </a:lnTo>
                <a:lnTo>
                  <a:pt x="7924074" y="1942036"/>
                </a:lnTo>
                <a:lnTo>
                  <a:pt x="0" y="1942036"/>
                </a:lnTo>
                <a:lnTo>
                  <a:pt x="0" y="0"/>
                </a:lnTo>
                <a:close/>
              </a:path>
            </a:pathLst>
          </a:custGeom>
          <a:blipFill rotWithShape="1">
            <a:blip r:embed="rId3">
              <a:alphaModFix/>
            </a:blip>
            <a:stretch>
              <a:fillRect b="0" l="0" r="0" t="0"/>
            </a:stretch>
          </a:blipFill>
          <a:ln>
            <a:noFill/>
          </a:ln>
        </p:spPr>
      </p:sp>
      <p:sp>
        <p:nvSpPr>
          <p:cNvPr id="610" name="Google Shape;610;p26"/>
          <p:cNvSpPr txBox="1"/>
          <p:nvPr/>
        </p:nvSpPr>
        <p:spPr>
          <a:xfrm>
            <a:off x="1489983" y="3324225"/>
            <a:ext cx="15630658" cy="1047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Son diferentes organizaciones las que regulan las normas y estándares,</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entre ellas están:</a:t>
            </a:r>
            <a:endParaRPr/>
          </a:p>
        </p:txBody>
      </p:sp>
      <p:sp>
        <p:nvSpPr>
          <p:cNvPr id="611" name="Google Shape;611;p26"/>
          <p:cNvSpPr txBox="1"/>
          <p:nvPr/>
        </p:nvSpPr>
        <p:spPr>
          <a:xfrm>
            <a:off x="2611035" y="5467350"/>
            <a:ext cx="13695136" cy="267176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TIA (Telecommunications Industry Association)</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ANSI (American National Standards Institute)</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EIA (Electronics Industries Alliance)</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ISO (International Stardards Organization)</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IEEE (Institute of Electronic and Electric Enginners)</a:t>
            </a:r>
            <a:endParaRPr/>
          </a:p>
        </p:txBody>
      </p:sp>
      <p:sp>
        <p:nvSpPr>
          <p:cNvPr id="612" name="Google Shape;612;p26"/>
          <p:cNvSpPr txBox="1"/>
          <p:nvPr/>
        </p:nvSpPr>
        <p:spPr>
          <a:xfrm>
            <a:off x="3829539" y="1281015"/>
            <a:ext cx="1178340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NORMAS Y ESTÁNDARES</a:t>
            </a:r>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16" name="Shape 616"/>
        <p:cNvGrpSpPr/>
        <p:nvPr/>
      </p:nvGrpSpPr>
      <p:grpSpPr>
        <a:xfrm>
          <a:off x="0" y="0"/>
          <a:ext cx="0" cy="0"/>
          <a:chOff x="0" y="0"/>
          <a:chExt cx="0" cy="0"/>
        </a:xfrm>
      </p:grpSpPr>
      <p:grpSp>
        <p:nvGrpSpPr>
          <p:cNvPr id="617" name="Google Shape;617;p27"/>
          <p:cNvGrpSpPr/>
          <p:nvPr/>
        </p:nvGrpSpPr>
        <p:grpSpPr>
          <a:xfrm>
            <a:off x="1894444" y="494555"/>
            <a:ext cx="14499051" cy="2154982"/>
            <a:chOff x="0" y="-157626"/>
            <a:chExt cx="19332068" cy="2873309"/>
          </a:xfrm>
        </p:grpSpPr>
        <p:cxnSp>
          <p:nvCxnSpPr>
            <p:cNvPr id="618" name="Google Shape;618;p27"/>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19" name="Google Shape;619;p27"/>
            <p:cNvGrpSpPr/>
            <p:nvPr/>
          </p:nvGrpSpPr>
          <p:grpSpPr>
            <a:xfrm>
              <a:off x="0" y="0"/>
              <a:ext cx="2715683" cy="2715683"/>
              <a:chOff x="0" y="0"/>
              <a:chExt cx="812800" cy="812800"/>
            </a:xfrm>
          </p:grpSpPr>
          <p:sp>
            <p:nvSpPr>
              <p:cNvPr id="620" name="Google Shape;620;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2" name="Google Shape;622;p27"/>
            <p:cNvGrpSpPr/>
            <p:nvPr/>
          </p:nvGrpSpPr>
          <p:grpSpPr>
            <a:xfrm>
              <a:off x="150744" y="-157626"/>
              <a:ext cx="2603039" cy="2786065"/>
              <a:chOff x="0" y="-57150"/>
              <a:chExt cx="812800" cy="869950"/>
            </a:xfrm>
          </p:grpSpPr>
          <p:sp>
            <p:nvSpPr>
              <p:cNvPr id="623" name="Google Shape;623;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7"/>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25" name="Google Shape;625;p27"/>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26" name="Google Shape;626;p27"/>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27" name="Google Shape;627;p27"/>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28" name="Google Shape;628;p27"/>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29" name="Google Shape;629;p27"/>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30" name="Google Shape;630;p27"/>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631" name="Google Shape;631;p27"/>
          <p:cNvSpPr txBox="1"/>
          <p:nvPr/>
        </p:nvSpPr>
        <p:spPr>
          <a:xfrm>
            <a:off x="1489983" y="3324225"/>
            <a:ext cx="15630658" cy="424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La Asociación de la Industria de las Telecomunicaciones ( TIA ) está acreditada por el Instituto Nacional Estadounidense de Estándares ( ANSI ) para desarrollar estándares industriales voluntarios y basados en el consenso para una amplia variedad de productos de tecnologías de la información y la comunicación ( TIC ), y actualmente representa a casi 400 empresas.</a:t>
            </a:r>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El Departamento de Tecnología y Estándares de TIA opera doce comités de ingeniería, que desarrollan pautas para equipos.</a:t>
            </a:r>
            <a:endParaRPr/>
          </a:p>
        </p:txBody>
      </p:sp>
      <p:sp>
        <p:nvSpPr>
          <p:cNvPr id="632" name="Google Shape;632;p27"/>
          <p:cNvSpPr/>
          <p:nvPr/>
        </p:nvSpPr>
        <p:spPr>
          <a:xfrm>
            <a:off x="14456226" y="8176613"/>
            <a:ext cx="2803074" cy="1537170"/>
          </a:xfrm>
          <a:custGeom>
            <a:rect b="b" l="l" r="r" t="t"/>
            <a:pathLst>
              <a:path extrusionOk="0" h="1537170" w="2803074">
                <a:moveTo>
                  <a:pt x="0" y="0"/>
                </a:moveTo>
                <a:lnTo>
                  <a:pt x="2803074" y="0"/>
                </a:lnTo>
                <a:lnTo>
                  <a:pt x="2803074" y="1537170"/>
                </a:lnTo>
                <a:lnTo>
                  <a:pt x="0" y="1537170"/>
                </a:lnTo>
                <a:lnTo>
                  <a:pt x="0" y="0"/>
                </a:lnTo>
                <a:close/>
              </a:path>
            </a:pathLst>
          </a:custGeom>
          <a:blipFill rotWithShape="1">
            <a:blip r:embed="rId3">
              <a:alphaModFix/>
            </a:blip>
            <a:stretch>
              <a:fillRect b="0" l="0" r="0" t="0"/>
            </a:stretch>
          </a:blipFill>
          <a:ln>
            <a:noFill/>
          </a:ln>
        </p:spPr>
      </p:sp>
      <p:sp>
        <p:nvSpPr>
          <p:cNvPr id="633" name="Google Shape;633;p27"/>
          <p:cNvSpPr txBox="1"/>
          <p:nvPr/>
        </p:nvSpPr>
        <p:spPr>
          <a:xfrm>
            <a:off x="3905327" y="508000"/>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TIA (TELECOMMUNICATIONS INDUSTRY</a:t>
            </a:r>
            <a:endParaRPr/>
          </a:p>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Association)</a:t>
            </a:r>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37" name="Shape 637"/>
        <p:cNvGrpSpPr/>
        <p:nvPr/>
      </p:nvGrpSpPr>
      <p:grpSpPr>
        <a:xfrm>
          <a:off x="0" y="0"/>
          <a:ext cx="0" cy="0"/>
          <a:chOff x="0" y="0"/>
          <a:chExt cx="0" cy="0"/>
        </a:xfrm>
      </p:grpSpPr>
      <p:grpSp>
        <p:nvGrpSpPr>
          <p:cNvPr id="638" name="Google Shape;638;p28"/>
          <p:cNvGrpSpPr/>
          <p:nvPr/>
        </p:nvGrpSpPr>
        <p:grpSpPr>
          <a:xfrm>
            <a:off x="1894444" y="494555"/>
            <a:ext cx="14499051" cy="2154982"/>
            <a:chOff x="0" y="-157626"/>
            <a:chExt cx="19332068" cy="2873309"/>
          </a:xfrm>
        </p:grpSpPr>
        <p:cxnSp>
          <p:nvCxnSpPr>
            <p:cNvPr id="639" name="Google Shape;639;p28"/>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40" name="Google Shape;640;p28"/>
            <p:cNvGrpSpPr/>
            <p:nvPr/>
          </p:nvGrpSpPr>
          <p:grpSpPr>
            <a:xfrm>
              <a:off x="0" y="0"/>
              <a:ext cx="2715683" cy="2715683"/>
              <a:chOff x="0" y="0"/>
              <a:chExt cx="812800" cy="812800"/>
            </a:xfrm>
          </p:grpSpPr>
          <p:sp>
            <p:nvSpPr>
              <p:cNvPr id="641" name="Google Shape;641;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3" name="Google Shape;643;p28"/>
            <p:cNvGrpSpPr/>
            <p:nvPr/>
          </p:nvGrpSpPr>
          <p:grpSpPr>
            <a:xfrm>
              <a:off x="150744" y="-157626"/>
              <a:ext cx="2603039" cy="2786065"/>
              <a:chOff x="0" y="-57150"/>
              <a:chExt cx="812800" cy="869950"/>
            </a:xfrm>
          </p:grpSpPr>
          <p:sp>
            <p:nvSpPr>
              <p:cNvPr id="644" name="Google Shape;644;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8"/>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46" name="Google Shape;646;p28"/>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47" name="Google Shape;647;p28"/>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48" name="Google Shape;648;p28"/>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49" name="Google Shape;649;p28"/>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50" name="Google Shape;650;p28"/>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51" name="Google Shape;651;p28"/>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652" name="Google Shape;652;p28"/>
          <p:cNvSpPr txBox="1"/>
          <p:nvPr/>
        </p:nvSpPr>
        <p:spPr>
          <a:xfrm>
            <a:off x="1489983" y="3324225"/>
            <a:ext cx="6775029" cy="48244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Radio privados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Torres celulares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Terminales de datos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Satélites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Equipos terminales telefónicos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Accesibilidad</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Dispositivos VoIP</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Cableado estructurado</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Centros de datos</a:t>
            </a:r>
            <a:endParaRPr/>
          </a:p>
        </p:txBody>
      </p:sp>
      <p:sp>
        <p:nvSpPr>
          <p:cNvPr id="653" name="Google Shape;653;p28"/>
          <p:cNvSpPr/>
          <p:nvPr/>
        </p:nvSpPr>
        <p:spPr>
          <a:xfrm>
            <a:off x="14456226" y="8176613"/>
            <a:ext cx="2803074" cy="1537170"/>
          </a:xfrm>
          <a:custGeom>
            <a:rect b="b" l="l" r="r" t="t"/>
            <a:pathLst>
              <a:path extrusionOk="0" h="1537170" w="2803074">
                <a:moveTo>
                  <a:pt x="0" y="0"/>
                </a:moveTo>
                <a:lnTo>
                  <a:pt x="2803074" y="0"/>
                </a:lnTo>
                <a:lnTo>
                  <a:pt x="2803074" y="1537170"/>
                </a:lnTo>
                <a:lnTo>
                  <a:pt x="0" y="1537170"/>
                </a:lnTo>
                <a:lnTo>
                  <a:pt x="0" y="0"/>
                </a:lnTo>
                <a:close/>
              </a:path>
            </a:pathLst>
          </a:custGeom>
          <a:blipFill rotWithShape="1">
            <a:blip r:embed="rId3">
              <a:alphaModFix/>
            </a:blip>
            <a:stretch>
              <a:fillRect b="0" l="0" r="0" t="0"/>
            </a:stretch>
          </a:blipFill>
          <a:ln>
            <a:noFill/>
          </a:ln>
        </p:spPr>
      </p:sp>
      <p:sp>
        <p:nvSpPr>
          <p:cNvPr id="654" name="Google Shape;654;p28"/>
          <p:cNvSpPr txBox="1"/>
          <p:nvPr/>
        </p:nvSpPr>
        <p:spPr>
          <a:xfrm>
            <a:off x="3905327" y="508000"/>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TIA (TELECOMMUNICATIONS INDUSTRY</a:t>
            </a:r>
            <a:endParaRPr/>
          </a:p>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Association)</a:t>
            </a:r>
            <a:endParaRPr/>
          </a:p>
        </p:txBody>
      </p:sp>
      <p:sp>
        <p:nvSpPr>
          <p:cNvPr id="655" name="Google Shape;655;p28"/>
          <p:cNvSpPr txBox="1"/>
          <p:nvPr/>
        </p:nvSpPr>
        <p:spPr>
          <a:xfrm>
            <a:off x="9144000" y="3324225"/>
            <a:ext cx="8489529" cy="320992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Comunicaciones de dispositivos móviles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Multidifusión multimedia</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Telemática vehicular</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TIC sanitarias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Comunicaciones de máquina a máquina</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Redes de servicios inteligentes .</a:t>
            </a:r>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59" name="Shape 659"/>
        <p:cNvGrpSpPr/>
        <p:nvPr/>
      </p:nvGrpSpPr>
      <p:grpSpPr>
        <a:xfrm>
          <a:off x="0" y="0"/>
          <a:ext cx="0" cy="0"/>
          <a:chOff x="0" y="0"/>
          <a:chExt cx="0" cy="0"/>
        </a:xfrm>
      </p:grpSpPr>
      <p:grpSp>
        <p:nvGrpSpPr>
          <p:cNvPr id="660" name="Google Shape;660;p29"/>
          <p:cNvGrpSpPr/>
          <p:nvPr/>
        </p:nvGrpSpPr>
        <p:grpSpPr>
          <a:xfrm>
            <a:off x="1894444" y="494555"/>
            <a:ext cx="14499051" cy="2154982"/>
            <a:chOff x="0" y="-157626"/>
            <a:chExt cx="19332068" cy="2873309"/>
          </a:xfrm>
        </p:grpSpPr>
        <p:cxnSp>
          <p:nvCxnSpPr>
            <p:cNvPr id="661" name="Google Shape;661;p29"/>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62" name="Google Shape;662;p29"/>
            <p:cNvGrpSpPr/>
            <p:nvPr/>
          </p:nvGrpSpPr>
          <p:grpSpPr>
            <a:xfrm>
              <a:off x="0" y="0"/>
              <a:ext cx="2715683" cy="2715683"/>
              <a:chOff x="0" y="0"/>
              <a:chExt cx="812800" cy="812800"/>
            </a:xfrm>
          </p:grpSpPr>
          <p:sp>
            <p:nvSpPr>
              <p:cNvPr id="663" name="Google Shape;663;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5" name="Google Shape;665;p29"/>
            <p:cNvGrpSpPr/>
            <p:nvPr/>
          </p:nvGrpSpPr>
          <p:grpSpPr>
            <a:xfrm>
              <a:off x="150744" y="-157626"/>
              <a:ext cx="2603039" cy="2786065"/>
              <a:chOff x="0" y="-57150"/>
              <a:chExt cx="812800" cy="869950"/>
            </a:xfrm>
          </p:grpSpPr>
          <p:sp>
            <p:nvSpPr>
              <p:cNvPr id="666" name="Google Shape;666;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9"/>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68" name="Google Shape;668;p29"/>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69" name="Google Shape;669;p29"/>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70" name="Google Shape;670;p29"/>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71" name="Google Shape;671;p29"/>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72" name="Google Shape;672;p29"/>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73" name="Google Shape;673;p29"/>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674" name="Google Shape;674;p29"/>
          <p:cNvSpPr txBox="1"/>
          <p:nvPr/>
        </p:nvSpPr>
        <p:spPr>
          <a:xfrm>
            <a:off x="920821" y="2601913"/>
            <a:ext cx="16338479" cy="691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El Instituto Nacional Estadounidense de Estándares (ANSI) es una organización privada sin fines de lucro que administra y coordina el sistema de evaluación de la conformidad y estándares voluntarios de los Estados Unidos. Fundado en 1918 , el Instituto trabaja en estrecha colaboración con partes interesadas de la industria y el gobierno para identificar y desarrollar soluciones basadas en estándares y conformidad para prioridades nacionales y globales.</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ANSI no es en sí misma una organización que desarrolla estándares. Más bien, el Instituto proporciona un marco para el desarrollo de normas justas y sistemas de evaluación de la conformidad de la calidad y trabaja continuamente para salvaguardar su integridad. Y como lugar neutral para la coordinación de soluciones basadas en estándares, el Instituto reúne a expertos y partes interesadas de los sectores público y privado para iniciar actividades colaborativas de estandarización que respondan a las prioridades nacionales.</a:t>
            </a:r>
            <a:endParaRPr/>
          </a:p>
        </p:txBody>
      </p:sp>
      <p:sp>
        <p:nvSpPr>
          <p:cNvPr id="675" name="Google Shape;675;p29"/>
          <p:cNvSpPr txBox="1"/>
          <p:nvPr/>
        </p:nvSpPr>
        <p:spPr>
          <a:xfrm>
            <a:off x="3905327" y="508000"/>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ANSI (AMERICAN NATIONAL STANDARDS Institute)</a:t>
            </a:r>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79" name="Shape 679"/>
        <p:cNvGrpSpPr/>
        <p:nvPr/>
      </p:nvGrpSpPr>
      <p:grpSpPr>
        <a:xfrm>
          <a:off x="0" y="0"/>
          <a:ext cx="0" cy="0"/>
          <a:chOff x="0" y="0"/>
          <a:chExt cx="0" cy="0"/>
        </a:xfrm>
      </p:grpSpPr>
      <p:grpSp>
        <p:nvGrpSpPr>
          <p:cNvPr id="680" name="Google Shape;680;p30"/>
          <p:cNvGrpSpPr/>
          <p:nvPr/>
        </p:nvGrpSpPr>
        <p:grpSpPr>
          <a:xfrm>
            <a:off x="1894444" y="494555"/>
            <a:ext cx="14499051" cy="2154982"/>
            <a:chOff x="0" y="-157626"/>
            <a:chExt cx="19332068" cy="2873309"/>
          </a:xfrm>
        </p:grpSpPr>
        <p:cxnSp>
          <p:nvCxnSpPr>
            <p:cNvPr id="681" name="Google Shape;681;p30"/>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82" name="Google Shape;682;p30"/>
            <p:cNvGrpSpPr/>
            <p:nvPr/>
          </p:nvGrpSpPr>
          <p:grpSpPr>
            <a:xfrm>
              <a:off x="0" y="0"/>
              <a:ext cx="2715683" cy="2715683"/>
              <a:chOff x="0" y="0"/>
              <a:chExt cx="812800" cy="812800"/>
            </a:xfrm>
          </p:grpSpPr>
          <p:sp>
            <p:nvSpPr>
              <p:cNvPr id="683" name="Google Shape;683;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85" name="Google Shape;685;p30"/>
            <p:cNvGrpSpPr/>
            <p:nvPr/>
          </p:nvGrpSpPr>
          <p:grpSpPr>
            <a:xfrm>
              <a:off x="150744" y="-157626"/>
              <a:ext cx="2603039" cy="2786065"/>
              <a:chOff x="0" y="-57150"/>
              <a:chExt cx="812800" cy="869950"/>
            </a:xfrm>
          </p:grpSpPr>
          <p:sp>
            <p:nvSpPr>
              <p:cNvPr id="686" name="Google Shape;686;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0"/>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88" name="Google Shape;688;p30"/>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89" name="Google Shape;689;p30"/>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90" name="Google Shape;690;p30"/>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91" name="Google Shape;691;p30"/>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92" name="Google Shape;692;p30"/>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93" name="Google Shape;693;p30"/>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694" name="Google Shape;694;p30"/>
          <p:cNvSpPr/>
          <p:nvPr/>
        </p:nvSpPr>
        <p:spPr>
          <a:xfrm>
            <a:off x="13104267" y="7831551"/>
            <a:ext cx="4551849" cy="2236458"/>
          </a:xfrm>
          <a:custGeom>
            <a:rect b="b" l="l" r="r" t="t"/>
            <a:pathLst>
              <a:path extrusionOk="0" h="2236458" w="4551849">
                <a:moveTo>
                  <a:pt x="0" y="0"/>
                </a:moveTo>
                <a:lnTo>
                  <a:pt x="4551849" y="0"/>
                </a:lnTo>
                <a:lnTo>
                  <a:pt x="4551849" y="2236458"/>
                </a:lnTo>
                <a:lnTo>
                  <a:pt x="0" y="2236458"/>
                </a:lnTo>
                <a:lnTo>
                  <a:pt x="0" y="0"/>
                </a:lnTo>
                <a:close/>
              </a:path>
            </a:pathLst>
          </a:custGeom>
          <a:blipFill rotWithShape="1">
            <a:blip r:embed="rId3">
              <a:alphaModFix/>
            </a:blip>
            <a:stretch>
              <a:fillRect b="0" l="0" r="0" t="0"/>
            </a:stretch>
          </a:blipFill>
          <a:ln>
            <a:noFill/>
          </a:ln>
        </p:spPr>
      </p:sp>
      <p:sp>
        <p:nvSpPr>
          <p:cNvPr id="695" name="Google Shape;695;p30"/>
          <p:cNvSpPr txBox="1"/>
          <p:nvPr/>
        </p:nvSpPr>
        <p:spPr>
          <a:xfrm>
            <a:off x="467575" y="2786062"/>
            <a:ext cx="6523359" cy="5881688"/>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ESTÁNDARES NACIONALES AMERICANOS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NORMALIZACIÓN INTERNACIONAL</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COMERCIO INTERNACIONAL Y DESARROLLO</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COORDINACIÓN DE NORMAS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AFILIACIÓN</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EDUCACIÓN Y FORMACIÓN</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ASUNTOS GUBERNAMENTALES</a:t>
            </a:r>
            <a:endParaRPr/>
          </a:p>
        </p:txBody>
      </p:sp>
      <p:sp>
        <p:nvSpPr>
          <p:cNvPr id="696" name="Google Shape;696;p30"/>
          <p:cNvSpPr txBox="1"/>
          <p:nvPr/>
        </p:nvSpPr>
        <p:spPr>
          <a:xfrm>
            <a:off x="3905327" y="508000"/>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ANSI (AMERICAN NATIONAL STANDARDS Institute)</a:t>
            </a:r>
            <a:endParaRPr/>
          </a:p>
        </p:txBody>
      </p:sp>
      <p:sp>
        <p:nvSpPr>
          <p:cNvPr id="697" name="Google Shape;697;p30"/>
          <p:cNvSpPr txBox="1"/>
          <p:nvPr/>
        </p:nvSpPr>
        <p:spPr>
          <a:xfrm>
            <a:off x="8310344" y="2786062"/>
            <a:ext cx="8489529" cy="534352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ALCANCE DEL CONSUMIDOR</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RECONOCIMIENTO DE LOGROS DE NORMALIZACIÓN</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PROGRAMAS DE REGISTRO DE IDENTIFICADORES BASADOS EN ESTÁNDARES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ACCESO A ESTÁNDARES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EVALUACIÓN DE LA CONFORMIDAD</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CREDENCIALIZACIÓN DE LA FUERZA LABORAL</a:t>
            </a:r>
            <a:endParaRPr/>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01" name="Shape 701"/>
        <p:cNvGrpSpPr/>
        <p:nvPr/>
      </p:nvGrpSpPr>
      <p:grpSpPr>
        <a:xfrm>
          <a:off x="0" y="0"/>
          <a:ext cx="0" cy="0"/>
          <a:chOff x="0" y="0"/>
          <a:chExt cx="0" cy="0"/>
        </a:xfrm>
      </p:grpSpPr>
      <p:grpSp>
        <p:nvGrpSpPr>
          <p:cNvPr id="702" name="Google Shape;702;p31"/>
          <p:cNvGrpSpPr/>
          <p:nvPr/>
        </p:nvGrpSpPr>
        <p:grpSpPr>
          <a:xfrm>
            <a:off x="1894444" y="494555"/>
            <a:ext cx="14499051" cy="2154982"/>
            <a:chOff x="0" y="-157626"/>
            <a:chExt cx="19332068" cy="2873309"/>
          </a:xfrm>
        </p:grpSpPr>
        <p:cxnSp>
          <p:nvCxnSpPr>
            <p:cNvPr id="703" name="Google Shape;703;p31"/>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04" name="Google Shape;704;p31"/>
            <p:cNvGrpSpPr/>
            <p:nvPr/>
          </p:nvGrpSpPr>
          <p:grpSpPr>
            <a:xfrm>
              <a:off x="0" y="0"/>
              <a:ext cx="2715683" cy="2715683"/>
              <a:chOff x="0" y="0"/>
              <a:chExt cx="812800" cy="812800"/>
            </a:xfrm>
          </p:grpSpPr>
          <p:sp>
            <p:nvSpPr>
              <p:cNvPr id="705" name="Google Shape;705;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07" name="Google Shape;707;p31"/>
            <p:cNvGrpSpPr/>
            <p:nvPr/>
          </p:nvGrpSpPr>
          <p:grpSpPr>
            <a:xfrm>
              <a:off x="150744" y="-157626"/>
              <a:ext cx="2603039" cy="2786065"/>
              <a:chOff x="0" y="-57150"/>
              <a:chExt cx="812800" cy="869950"/>
            </a:xfrm>
          </p:grpSpPr>
          <p:sp>
            <p:nvSpPr>
              <p:cNvPr id="708" name="Google Shape;708;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1"/>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710" name="Google Shape;710;p31"/>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11" name="Google Shape;711;p31"/>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12" name="Google Shape;712;p31"/>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13" name="Google Shape;713;p31"/>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14" name="Google Shape;714;p31"/>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15" name="Google Shape;715;p31"/>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716" name="Google Shape;716;p31"/>
          <p:cNvSpPr txBox="1"/>
          <p:nvPr/>
        </p:nvSpPr>
        <p:spPr>
          <a:xfrm>
            <a:off x="920821" y="2906411"/>
            <a:ext cx="16338479" cy="5848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Era una organización comercial y de estándares estadounidense compuesta como una alianza de asociaciones comerciales de fabricantes de productos electrónicos en los Estados Unidos.</a:t>
            </a:r>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Con el cambio de nombre de la EIA, también se adaptó la convención de nomenclatura de las normas. Por ejemplo, un estándar que define la comunicación</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en serie entre computadoras y módems se redactó originalmente como estándar recomendado , de ahí el nombre " RS " RS-232 . Posteriormente pasó a manos de la EIA como EIA-232 . Posteriormente este estándar fue gestionado por la TIA y se cambió el nombre al actual TIA-232 . Debido a que la EIA fue acreditada por ANSI para ayudar a desarrollar estándares en sus áreas.</a:t>
            </a:r>
            <a:endParaRPr/>
          </a:p>
        </p:txBody>
      </p:sp>
      <p:sp>
        <p:nvSpPr>
          <p:cNvPr id="717" name="Google Shape;717;p31"/>
          <p:cNvSpPr/>
          <p:nvPr/>
        </p:nvSpPr>
        <p:spPr>
          <a:xfrm>
            <a:off x="14335717" y="8586089"/>
            <a:ext cx="2923583" cy="1344422"/>
          </a:xfrm>
          <a:custGeom>
            <a:rect b="b" l="l" r="r" t="t"/>
            <a:pathLst>
              <a:path extrusionOk="0" h="1344422" w="2923583">
                <a:moveTo>
                  <a:pt x="0" y="0"/>
                </a:moveTo>
                <a:lnTo>
                  <a:pt x="2923583" y="0"/>
                </a:lnTo>
                <a:lnTo>
                  <a:pt x="2923583" y="1344422"/>
                </a:lnTo>
                <a:lnTo>
                  <a:pt x="0" y="1344422"/>
                </a:lnTo>
                <a:lnTo>
                  <a:pt x="0" y="0"/>
                </a:lnTo>
                <a:close/>
              </a:path>
            </a:pathLst>
          </a:custGeom>
          <a:blipFill rotWithShape="1">
            <a:blip r:embed="rId3">
              <a:alphaModFix/>
            </a:blip>
            <a:stretch>
              <a:fillRect b="0" l="0" r="0" t="0"/>
            </a:stretch>
          </a:blipFill>
          <a:ln>
            <a:noFill/>
          </a:ln>
        </p:spPr>
      </p:sp>
      <p:sp>
        <p:nvSpPr>
          <p:cNvPr id="718" name="Google Shape;718;p31"/>
          <p:cNvSpPr txBox="1"/>
          <p:nvPr/>
        </p:nvSpPr>
        <p:spPr>
          <a:xfrm>
            <a:off x="3873868" y="1146969"/>
            <a:ext cx="1411085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EIA (ELECTRONICS INDUSTRIES ALLIANCE)</a:t>
            </a:r>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22" name="Shape 722"/>
        <p:cNvGrpSpPr/>
        <p:nvPr/>
      </p:nvGrpSpPr>
      <p:grpSpPr>
        <a:xfrm>
          <a:off x="0" y="0"/>
          <a:ext cx="0" cy="0"/>
          <a:chOff x="0" y="0"/>
          <a:chExt cx="0" cy="0"/>
        </a:xfrm>
      </p:grpSpPr>
      <p:grpSp>
        <p:nvGrpSpPr>
          <p:cNvPr id="723" name="Google Shape;723;p32"/>
          <p:cNvGrpSpPr/>
          <p:nvPr/>
        </p:nvGrpSpPr>
        <p:grpSpPr>
          <a:xfrm>
            <a:off x="1894444" y="494555"/>
            <a:ext cx="14499051" cy="2154982"/>
            <a:chOff x="0" y="-157626"/>
            <a:chExt cx="19332068" cy="2873309"/>
          </a:xfrm>
        </p:grpSpPr>
        <p:cxnSp>
          <p:nvCxnSpPr>
            <p:cNvPr id="724" name="Google Shape;724;p32"/>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25" name="Google Shape;725;p32"/>
            <p:cNvGrpSpPr/>
            <p:nvPr/>
          </p:nvGrpSpPr>
          <p:grpSpPr>
            <a:xfrm>
              <a:off x="0" y="0"/>
              <a:ext cx="2715683" cy="2715683"/>
              <a:chOff x="0" y="0"/>
              <a:chExt cx="812800" cy="812800"/>
            </a:xfrm>
          </p:grpSpPr>
          <p:sp>
            <p:nvSpPr>
              <p:cNvPr id="726" name="Google Shape;726;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28" name="Google Shape;728;p32"/>
            <p:cNvGrpSpPr/>
            <p:nvPr/>
          </p:nvGrpSpPr>
          <p:grpSpPr>
            <a:xfrm>
              <a:off x="150744" y="-157626"/>
              <a:ext cx="2603039" cy="2786065"/>
              <a:chOff x="0" y="-57150"/>
              <a:chExt cx="812800" cy="869950"/>
            </a:xfrm>
          </p:grpSpPr>
          <p:sp>
            <p:nvSpPr>
              <p:cNvPr id="729" name="Google Shape;729;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2"/>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731" name="Google Shape;731;p32"/>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32" name="Google Shape;732;p32"/>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33" name="Google Shape;733;p32"/>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34" name="Google Shape;734;p32"/>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35" name="Google Shape;735;p32"/>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36" name="Google Shape;736;p32"/>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737" name="Google Shape;737;p32"/>
          <p:cNvSpPr/>
          <p:nvPr/>
        </p:nvSpPr>
        <p:spPr>
          <a:xfrm>
            <a:off x="7150688" y="7004651"/>
            <a:ext cx="3986625" cy="3084453"/>
          </a:xfrm>
          <a:custGeom>
            <a:rect b="b" l="l" r="r" t="t"/>
            <a:pathLst>
              <a:path extrusionOk="0" h="3084453" w="3986625">
                <a:moveTo>
                  <a:pt x="0" y="0"/>
                </a:moveTo>
                <a:lnTo>
                  <a:pt x="3986624" y="0"/>
                </a:lnTo>
                <a:lnTo>
                  <a:pt x="3986624" y="3084453"/>
                </a:lnTo>
                <a:lnTo>
                  <a:pt x="0" y="3084453"/>
                </a:lnTo>
                <a:lnTo>
                  <a:pt x="0" y="0"/>
                </a:lnTo>
                <a:close/>
              </a:path>
            </a:pathLst>
          </a:custGeom>
          <a:blipFill rotWithShape="1">
            <a:blip r:embed="rId3">
              <a:alphaModFix/>
            </a:blip>
            <a:stretch>
              <a:fillRect b="0" l="0" r="0" t="0"/>
            </a:stretch>
          </a:blipFill>
          <a:ln>
            <a:noFill/>
          </a:ln>
        </p:spPr>
      </p:sp>
      <p:sp>
        <p:nvSpPr>
          <p:cNvPr id="738" name="Google Shape;738;p32"/>
          <p:cNvSpPr txBox="1"/>
          <p:nvPr/>
        </p:nvSpPr>
        <p:spPr>
          <a:xfrm>
            <a:off x="920821" y="2906411"/>
            <a:ext cx="16338479" cy="1047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ISO es una organización voluntaria cuyos miembros son autoridades reconocidas en materia de normas, cada una de las cuales representa a un país.</a:t>
            </a:r>
            <a:endParaRPr/>
          </a:p>
        </p:txBody>
      </p:sp>
      <p:sp>
        <p:nvSpPr>
          <p:cNvPr id="739" name="Google Shape;739;p32"/>
          <p:cNvSpPr txBox="1"/>
          <p:nvPr/>
        </p:nvSpPr>
        <p:spPr>
          <a:xfrm>
            <a:off x="3543552" y="508000"/>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ISO (INTERNATIONAL </a:t>
            </a:r>
            <a:endParaRPr/>
          </a:p>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STANDARDS Organization)</a:t>
            </a:r>
            <a:endParaRPr/>
          </a:p>
        </p:txBody>
      </p:sp>
      <p:sp>
        <p:nvSpPr>
          <p:cNvPr id="740" name="Google Shape;740;p32"/>
          <p:cNvSpPr txBox="1"/>
          <p:nvPr/>
        </p:nvSpPr>
        <p:spPr>
          <a:xfrm>
            <a:off x="3848358" y="4332889"/>
            <a:ext cx="11242167" cy="267176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Estándares internacionales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Informes técnicos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Especificaciones técnicas y disponibles públicamente</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Corrección técnica</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Guías iso</a:t>
            </a:r>
            <a:endParaRPr/>
          </a:p>
        </p:txBody>
      </p:sp>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44" name="Shape 744"/>
        <p:cNvGrpSpPr/>
        <p:nvPr/>
      </p:nvGrpSpPr>
      <p:grpSpPr>
        <a:xfrm>
          <a:off x="0" y="0"/>
          <a:ext cx="0" cy="0"/>
          <a:chOff x="0" y="0"/>
          <a:chExt cx="0" cy="0"/>
        </a:xfrm>
      </p:grpSpPr>
      <p:grpSp>
        <p:nvGrpSpPr>
          <p:cNvPr id="745" name="Google Shape;745;p33"/>
          <p:cNvGrpSpPr/>
          <p:nvPr/>
        </p:nvGrpSpPr>
        <p:grpSpPr>
          <a:xfrm>
            <a:off x="1894444" y="494555"/>
            <a:ext cx="14499051" cy="2154982"/>
            <a:chOff x="0" y="-157626"/>
            <a:chExt cx="19332068" cy="2873309"/>
          </a:xfrm>
        </p:grpSpPr>
        <p:cxnSp>
          <p:nvCxnSpPr>
            <p:cNvPr id="746" name="Google Shape;746;p33"/>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47" name="Google Shape;747;p33"/>
            <p:cNvGrpSpPr/>
            <p:nvPr/>
          </p:nvGrpSpPr>
          <p:grpSpPr>
            <a:xfrm>
              <a:off x="0" y="0"/>
              <a:ext cx="2715683" cy="2715683"/>
              <a:chOff x="0" y="0"/>
              <a:chExt cx="812800" cy="812800"/>
            </a:xfrm>
          </p:grpSpPr>
          <p:sp>
            <p:nvSpPr>
              <p:cNvPr id="748" name="Google Shape;748;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50" name="Google Shape;750;p33"/>
            <p:cNvGrpSpPr/>
            <p:nvPr/>
          </p:nvGrpSpPr>
          <p:grpSpPr>
            <a:xfrm>
              <a:off x="150744" y="-157626"/>
              <a:ext cx="2603039" cy="2786065"/>
              <a:chOff x="0" y="-57150"/>
              <a:chExt cx="812800" cy="869950"/>
            </a:xfrm>
          </p:grpSpPr>
          <p:sp>
            <p:nvSpPr>
              <p:cNvPr id="751" name="Google Shape;751;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3"/>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753" name="Google Shape;753;p33"/>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54" name="Google Shape;754;p33"/>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55" name="Google Shape;755;p33"/>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56" name="Google Shape;756;p33"/>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57" name="Google Shape;757;p33"/>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58" name="Google Shape;758;p33"/>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759" name="Google Shape;759;p33"/>
          <p:cNvSpPr/>
          <p:nvPr/>
        </p:nvSpPr>
        <p:spPr>
          <a:xfrm>
            <a:off x="13310969" y="4701465"/>
            <a:ext cx="3948331" cy="2972175"/>
          </a:xfrm>
          <a:custGeom>
            <a:rect b="b" l="l" r="r" t="t"/>
            <a:pathLst>
              <a:path extrusionOk="0" h="2972175" w="3948331">
                <a:moveTo>
                  <a:pt x="0" y="0"/>
                </a:moveTo>
                <a:lnTo>
                  <a:pt x="3948331" y="0"/>
                </a:lnTo>
                <a:lnTo>
                  <a:pt x="3948331" y="2972175"/>
                </a:lnTo>
                <a:lnTo>
                  <a:pt x="0" y="2972175"/>
                </a:lnTo>
                <a:lnTo>
                  <a:pt x="0" y="0"/>
                </a:lnTo>
                <a:close/>
              </a:path>
            </a:pathLst>
          </a:custGeom>
          <a:blipFill rotWithShape="1">
            <a:blip r:embed="rId3">
              <a:alphaModFix/>
            </a:blip>
            <a:stretch>
              <a:fillRect b="0" l="0" r="0" t="0"/>
            </a:stretch>
          </a:blipFill>
          <a:ln>
            <a:noFill/>
          </a:ln>
        </p:spPr>
      </p:sp>
      <p:sp>
        <p:nvSpPr>
          <p:cNvPr id="760" name="Google Shape;760;p33"/>
          <p:cNvSpPr txBox="1"/>
          <p:nvPr/>
        </p:nvSpPr>
        <p:spPr>
          <a:xfrm>
            <a:off x="1407633" y="2926995"/>
            <a:ext cx="15472735" cy="1047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Asociación mundial de ingenieros dedicada a la normalización y el desarrollo en áreas técnicas. Con cerca de 425 000 miembros y voluntarios en 160 países.</a:t>
            </a:r>
            <a:endParaRPr/>
          </a:p>
        </p:txBody>
      </p:sp>
      <p:sp>
        <p:nvSpPr>
          <p:cNvPr id="761" name="Google Shape;761;p33"/>
          <p:cNvSpPr txBox="1"/>
          <p:nvPr/>
        </p:nvSpPr>
        <p:spPr>
          <a:xfrm>
            <a:off x="3543552" y="508000"/>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IEEE (INSTITUTE OF ELECTRONIC</a:t>
            </a:r>
            <a:endParaRPr/>
          </a:p>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AND ELECTRIC Enginners)</a:t>
            </a:r>
            <a:endParaRPr/>
          </a:p>
        </p:txBody>
      </p:sp>
      <p:sp>
        <p:nvSpPr>
          <p:cNvPr id="762" name="Google Shape;762;p33"/>
          <p:cNvSpPr txBox="1"/>
          <p:nvPr/>
        </p:nvSpPr>
        <p:spPr>
          <a:xfrm>
            <a:off x="1315932" y="4744736"/>
            <a:ext cx="11242167" cy="427196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Impulsar la innovación global</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Mejorar la comprensión pública de la ingeniería y la tecnología.</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Ser una fuente confiable de servicios y recursos educativos.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Proporcionar oportunidades de carrera y desarrollo profesional.</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Inspirar a una audiencia mundial.</a:t>
            </a:r>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66" name="Shape 766"/>
        <p:cNvGrpSpPr/>
        <p:nvPr/>
      </p:nvGrpSpPr>
      <p:grpSpPr>
        <a:xfrm>
          <a:off x="0" y="0"/>
          <a:ext cx="0" cy="0"/>
          <a:chOff x="0" y="0"/>
          <a:chExt cx="0" cy="0"/>
        </a:xfrm>
      </p:grpSpPr>
      <p:grpSp>
        <p:nvGrpSpPr>
          <p:cNvPr id="767" name="Google Shape;767;p34"/>
          <p:cNvGrpSpPr/>
          <p:nvPr/>
        </p:nvGrpSpPr>
        <p:grpSpPr>
          <a:xfrm>
            <a:off x="1894444" y="494555"/>
            <a:ext cx="14499051" cy="2154982"/>
            <a:chOff x="0" y="-157626"/>
            <a:chExt cx="19332068" cy="2873309"/>
          </a:xfrm>
        </p:grpSpPr>
        <p:cxnSp>
          <p:nvCxnSpPr>
            <p:cNvPr id="768" name="Google Shape;768;p34"/>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69" name="Google Shape;769;p34"/>
            <p:cNvGrpSpPr/>
            <p:nvPr/>
          </p:nvGrpSpPr>
          <p:grpSpPr>
            <a:xfrm>
              <a:off x="0" y="0"/>
              <a:ext cx="2715683" cy="2715683"/>
              <a:chOff x="0" y="0"/>
              <a:chExt cx="812800" cy="812800"/>
            </a:xfrm>
          </p:grpSpPr>
          <p:sp>
            <p:nvSpPr>
              <p:cNvPr id="770" name="Google Shape;770;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2" name="Google Shape;772;p34"/>
            <p:cNvGrpSpPr/>
            <p:nvPr/>
          </p:nvGrpSpPr>
          <p:grpSpPr>
            <a:xfrm>
              <a:off x="150744" y="-157626"/>
              <a:ext cx="2603039" cy="2786065"/>
              <a:chOff x="0" y="-57150"/>
              <a:chExt cx="812800" cy="869950"/>
            </a:xfrm>
          </p:grpSpPr>
          <p:sp>
            <p:nvSpPr>
              <p:cNvPr id="773" name="Google Shape;773;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4"/>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775" name="Google Shape;775;p34"/>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76" name="Google Shape;776;p34"/>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77" name="Google Shape;777;p34"/>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78" name="Google Shape;778;p34"/>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79" name="Google Shape;779;p34"/>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80" name="Google Shape;780;p34"/>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781" name="Google Shape;781;p34"/>
          <p:cNvSpPr/>
          <p:nvPr/>
        </p:nvSpPr>
        <p:spPr>
          <a:xfrm>
            <a:off x="13546910" y="4468148"/>
            <a:ext cx="3948331" cy="2972175"/>
          </a:xfrm>
          <a:custGeom>
            <a:rect b="b" l="l" r="r" t="t"/>
            <a:pathLst>
              <a:path extrusionOk="0" h="2972175" w="3948331">
                <a:moveTo>
                  <a:pt x="0" y="0"/>
                </a:moveTo>
                <a:lnTo>
                  <a:pt x="3948330" y="0"/>
                </a:lnTo>
                <a:lnTo>
                  <a:pt x="3948330" y="2972175"/>
                </a:lnTo>
                <a:lnTo>
                  <a:pt x="0" y="2972175"/>
                </a:lnTo>
                <a:lnTo>
                  <a:pt x="0" y="0"/>
                </a:lnTo>
                <a:close/>
              </a:path>
            </a:pathLst>
          </a:custGeom>
          <a:blipFill rotWithShape="1">
            <a:blip r:embed="rId3">
              <a:alphaModFix/>
            </a:blip>
            <a:stretch>
              <a:fillRect b="0" l="0" r="0" t="0"/>
            </a:stretch>
          </a:blipFill>
          <a:ln>
            <a:noFill/>
          </a:ln>
        </p:spPr>
      </p:sp>
      <p:sp>
        <p:nvSpPr>
          <p:cNvPr id="782" name="Google Shape;782;p34"/>
          <p:cNvSpPr txBox="1"/>
          <p:nvPr/>
        </p:nvSpPr>
        <p:spPr>
          <a:xfrm>
            <a:off x="1345514" y="3268186"/>
            <a:ext cx="1180842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IEEE es una de las organizaciones líderes en la creación de estándares en el mundo. IEEE realiza sus estándares y mantiene las funciones a través de la Asociación de estándares IEEE.</a:t>
            </a:r>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Estándares IEEE afectan a una amplia gama de industrias, incluyendo: potencia y energía, biomedicina y salud, tecnología de la información, las telecomunicaciones, el transporte, la nanotecnología, la seguridad de la información, y muchos más.</a:t>
            </a:r>
            <a:endParaRPr/>
          </a:p>
        </p:txBody>
      </p:sp>
      <p:sp>
        <p:nvSpPr>
          <p:cNvPr id="783" name="Google Shape;783;p34"/>
          <p:cNvSpPr txBox="1"/>
          <p:nvPr/>
        </p:nvSpPr>
        <p:spPr>
          <a:xfrm>
            <a:off x="3543552" y="508000"/>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IEEE (INSTITUTE OF ELECTRONIC</a:t>
            </a:r>
            <a:endParaRPr/>
          </a:p>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AND ELECTRIC Enginners)</a:t>
            </a:r>
            <a:endParaRPr/>
          </a:p>
        </p:txBody>
      </p:sp>
    </p:spTree>
  </p:cSld>
  <p:clrMapOvr>
    <a:masterClrMapping/>
  </p:clrMapOvr>
  <p:transition spd="slow">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87" name="Shape 787"/>
        <p:cNvGrpSpPr/>
        <p:nvPr/>
      </p:nvGrpSpPr>
      <p:grpSpPr>
        <a:xfrm>
          <a:off x="0" y="0"/>
          <a:ext cx="0" cy="0"/>
          <a:chOff x="0" y="0"/>
          <a:chExt cx="0" cy="0"/>
        </a:xfrm>
      </p:grpSpPr>
      <p:grpSp>
        <p:nvGrpSpPr>
          <p:cNvPr id="788" name="Google Shape;788;p35"/>
          <p:cNvGrpSpPr/>
          <p:nvPr/>
        </p:nvGrpSpPr>
        <p:grpSpPr>
          <a:xfrm>
            <a:off x="1894444" y="494555"/>
            <a:ext cx="14499051" cy="2154982"/>
            <a:chOff x="0" y="-157626"/>
            <a:chExt cx="19332068" cy="2873309"/>
          </a:xfrm>
        </p:grpSpPr>
        <p:cxnSp>
          <p:nvCxnSpPr>
            <p:cNvPr id="789" name="Google Shape;789;p35"/>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90" name="Google Shape;790;p35"/>
            <p:cNvGrpSpPr/>
            <p:nvPr/>
          </p:nvGrpSpPr>
          <p:grpSpPr>
            <a:xfrm>
              <a:off x="0" y="0"/>
              <a:ext cx="2715683" cy="2715683"/>
              <a:chOff x="0" y="0"/>
              <a:chExt cx="812800" cy="812800"/>
            </a:xfrm>
          </p:grpSpPr>
          <p:sp>
            <p:nvSpPr>
              <p:cNvPr id="791" name="Google Shape;791;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93" name="Google Shape;793;p35"/>
            <p:cNvGrpSpPr/>
            <p:nvPr/>
          </p:nvGrpSpPr>
          <p:grpSpPr>
            <a:xfrm>
              <a:off x="150744" y="-157626"/>
              <a:ext cx="2603039" cy="2786065"/>
              <a:chOff x="0" y="-57150"/>
              <a:chExt cx="812800" cy="869950"/>
            </a:xfrm>
          </p:grpSpPr>
          <p:sp>
            <p:nvSpPr>
              <p:cNvPr id="794" name="Google Shape;794;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5"/>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796" name="Google Shape;796;p35"/>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97" name="Google Shape;797;p35"/>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98" name="Google Shape;798;p35"/>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99" name="Google Shape;799;p35"/>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800" name="Google Shape;800;p35"/>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801" name="Google Shape;801;p35"/>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802" name="Google Shape;802;p35"/>
          <p:cNvSpPr/>
          <p:nvPr/>
        </p:nvSpPr>
        <p:spPr>
          <a:xfrm>
            <a:off x="13546910" y="4468148"/>
            <a:ext cx="3948331" cy="2972175"/>
          </a:xfrm>
          <a:custGeom>
            <a:rect b="b" l="l" r="r" t="t"/>
            <a:pathLst>
              <a:path extrusionOk="0" h="2972175" w="3948331">
                <a:moveTo>
                  <a:pt x="0" y="0"/>
                </a:moveTo>
                <a:lnTo>
                  <a:pt x="3948330" y="0"/>
                </a:lnTo>
                <a:lnTo>
                  <a:pt x="3948330" y="2972175"/>
                </a:lnTo>
                <a:lnTo>
                  <a:pt x="0" y="2972175"/>
                </a:lnTo>
                <a:lnTo>
                  <a:pt x="0" y="0"/>
                </a:lnTo>
                <a:close/>
              </a:path>
            </a:pathLst>
          </a:custGeom>
          <a:blipFill rotWithShape="1">
            <a:blip r:embed="rId3">
              <a:alphaModFix/>
            </a:blip>
            <a:stretch>
              <a:fillRect b="0" l="0" r="0" t="0"/>
            </a:stretch>
          </a:blipFill>
          <a:ln>
            <a:noFill/>
          </a:ln>
        </p:spPr>
      </p:sp>
      <p:sp>
        <p:nvSpPr>
          <p:cNvPr id="803" name="Google Shape;803;p35"/>
          <p:cNvSpPr txBox="1"/>
          <p:nvPr/>
        </p:nvSpPr>
        <p:spPr>
          <a:xfrm>
            <a:off x="1314055" y="2859222"/>
            <a:ext cx="11808424" cy="69437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El plan estratégico de esta organización</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Impulsar la innovación global a través de una amplia colaboración y el intercambio de conocimientos.</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Mejorar la comprensión pública de la ingeniería y la tecnología y aplicar normas para su aplicación práctica.</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Ser una fuente confiable de servicios y recursos educativos para apoyar el aprendizaje permanente.</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Proporcionar oportunidades de carrera y desarrollo profesional.</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Inspirar a una audiencia mundial construyendo comunidades que promueven intereses técnicos, informen las políticas públicas y amplíen el conocimiento en beneficio de la humanidad.</a:t>
            </a:r>
            <a:endParaRPr/>
          </a:p>
        </p:txBody>
      </p:sp>
      <p:sp>
        <p:nvSpPr>
          <p:cNvPr id="804" name="Google Shape;804;p35"/>
          <p:cNvSpPr txBox="1"/>
          <p:nvPr/>
        </p:nvSpPr>
        <p:spPr>
          <a:xfrm>
            <a:off x="3543552" y="508000"/>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IEEE (INSTITUTE OF ELECTRONIC</a:t>
            </a:r>
            <a:endParaRPr/>
          </a:p>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AND ELECTRIC Enginners)</a:t>
            </a:r>
            <a:endParaRPr/>
          </a:p>
        </p:txBody>
      </p:sp>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08" name="Shape 808"/>
        <p:cNvGrpSpPr/>
        <p:nvPr/>
      </p:nvGrpSpPr>
      <p:grpSpPr>
        <a:xfrm>
          <a:off x="0" y="0"/>
          <a:ext cx="0" cy="0"/>
          <a:chOff x="0" y="0"/>
          <a:chExt cx="0" cy="0"/>
        </a:xfrm>
      </p:grpSpPr>
      <p:sp>
        <p:nvSpPr>
          <p:cNvPr id="809" name="Google Shape;809;p36"/>
          <p:cNvSpPr/>
          <p:nvPr/>
        </p:nvSpPr>
        <p:spPr>
          <a:xfrm>
            <a:off x="2057212" y="3236452"/>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506" l="-209906" r="-18241" t="-3806"/>
            </a:stretch>
          </a:blipFill>
          <a:ln>
            <a:noFill/>
          </a:ln>
        </p:spPr>
      </p:sp>
      <p:grpSp>
        <p:nvGrpSpPr>
          <p:cNvPr id="810" name="Google Shape;810;p36"/>
          <p:cNvGrpSpPr/>
          <p:nvPr/>
        </p:nvGrpSpPr>
        <p:grpSpPr>
          <a:xfrm rot="10800000">
            <a:off x="1213407" y="5655802"/>
            <a:ext cx="428625" cy="857250"/>
            <a:chOff x="0" y="0"/>
            <a:chExt cx="406400" cy="812800"/>
          </a:xfrm>
        </p:grpSpPr>
        <p:sp>
          <p:nvSpPr>
            <p:cNvPr id="811" name="Google Shape;811;p36"/>
            <p:cNvSpPr/>
            <p:nvPr/>
          </p:nvSpPr>
          <p:spPr>
            <a:xfrm>
              <a:off x="0" y="0"/>
              <a:ext cx="406400" cy="812800"/>
            </a:xfrm>
            <a:custGeom>
              <a:rect b="b" l="l" r="r" t="t"/>
              <a:pathLst>
                <a:path extrusionOk="0" h="812800" w="406400">
                  <a:moveTo>
                    <a:pt x="406400" y="406400"/>
                  </a:moveTo>
                  <a:lnTo>
                    <a:pt x="0" y="0"/>
                  </a:lnTo>
                  <a:lnTo>
                    <a:pt x="0" y="203200"/>
                  </a:lnTo>
                  <a:lnTo>
                    <a:pt x="0" y="203200"/>
                  </a:lnTo>
                  <a:lnTo>
                    <a:pt x="0" y="609600"/>
                  </a:lnTo>
                  <a:lnTo>
                    <a:pt x="0" y="609600"/>
                  </a:lnTo>
                  <a:lnTo>
                    <a:pt x="0" y="812800"/>
                  </a:lnTo>
                  <a:lnTo>
                    <a:pt x="406400" y="406400"/>
                  </a:lnTo>
                  <a:close/>
                </a:path>
              </a:pathLst>
            </a:custGeom>
            <a:solidFill>
              <a:srgbClr val="61E1FF"/>
            </a:solidFill>
            <a:ln cap="sq" cmpd="sng" w="57150">
              <a:solidFill>
                <a:srgbClr val="FFA85A"/>
              </a:solidFill>
              <a:prstDash val="dash"/>
              <a:miter lim="8000"/>
              <a:headEnd len="sm" w="sm" type="none"/>
              <a:tailEnd len="sm" w="sm" type="none"/>
            </a:ln>
          </p:spPr>
        </p:sp>
        <p:sp>
          <p:nvSpPr>
            <p:cNvPr id="812" name="Google Shape;812;p36"/>
            <p:cNvSpPr txBox="1"/>
            <p:nvPr/>
          </p:nvSpPr>
          <p:spPr>
            <a:xfrm>
              <a:off x="0" y="155575"/>
              <a:ext cx="30480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813" name="Google Shape;813;p36"/>
          <p:cNvCxnSpPr/>
          <p:nvPr/>
        </p:nvCxnSpPr>
        <p:spPr>
          <a:xfrm>
            <a:off x="1642032" y="3086100"/>
            <a:ext cx="0" cy="6027911"/>
          </a:xfrm>
          <a:prstGeom prst="straightConnector1">
            <a:avLst/>
          </a:prstGeom>
          <a:noFill/>
          <a:ln cap="flat" cmpd="sng" w="66675">
            <a:solidFill>
              <a:srgbClr val="4E639E"/>
            </a:solidFill>
            <a:prstDash val="solid"/>
            <a:round/>
            <a:headEnd len="sm" w="sm" type="none"/>
            <a:tailEnd len="sm" w="sm" type="none"/>
          </a:ln>
        </p:spPr>
      </p:cxnSp>
      <p:sp>
        <p:nvSpPr>
          <p:cNvPr id="814" name="Google Shape;814;p36"/>
          <p:cNvSpPr txBox="1"/>
          <p:nvPr/>
        </p:nvSpPr>
        <p:spPr>
          <a:xfrm>
            <a:off x="3144362" y="3188827"/>
            <a:ext cx="14372539" cy="592518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600" u="none" cap="none" strike="noStrike">
                <a:solidFill>
                  <a:srgbClr val="1F1674"/>
                </a:solidFill>
                <a:latin typeface="Montserrat"/>
                <a:ea typeface="Montserrat"/>
                <a:cs typeface="Montserrat"/>
                <a:sym typeface="Montserrat"/>
              </a:rPr>
              <a:t>ANSI/TIA/EIA-568-A- TIA/EIA-568-B</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Estándar de Cableado de Telecomunicaciones en Edificios Comerciales para conectores RJ 45</a:t>
            </a:r>
            <a:endParaRPr/>
          </a:p>
          <a:p>
            <a:pPr indent="0" lvl="0" marL="0" marR="0" rtl="0" algn="just">
              <a:lnSpc>
                <a:spcPct val="140000"/>
              </a:lnSpc>
              <a:spcBef>
                <a:spcPts val="0"/>
              </a:spcBef>
              <a:spcAft>
                <a:spcPts val="0"/>
              </a:spcAft>
              <a:buNone/>
            </a:pPr>
            <a:r>
              <a:rPr b="1" i="0" lang="en-US" sz="2600" u="none" cap="none" strike="noStrike">
                <a:solidFill>
                  <a:srgbClr val="1F1674"/>
                </a:solidFill>
                <a:latin typeface="Montserrat"/>
                <a:ea typeface="Montserrat"/>
                <a:cs typeface="Montserrat"/>
                <a:sym typeface="Montserrat"/>
              </a:rPr>
              <a:t>ANSI/TIA/EIA-569</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Estándar para Ductos y Espacios de Telecomunicaciones en Edificios Comerciales</a:t>
            </a:r>
            <a:endParaRPr/>
          </a:p>
          <a:p>
            <a:pPr indent="0" lvl="0" marL="0" marR="0" rtl="0" algn="just">
              <a:lnSpc>
                <a:spcPct val="140000"/>
              </a:lnSpc>
              <a:spcBef>
                <a:spcPts val="0"/>
              </a:spcBef>
              <a:spcAft>
                <a:spcPts val="0"/>
              </a:spcAft>
              <a:buNone/>
            </a:pPr>
            <a:r>
              <a:rPr b="1" i="0" lang="en-US" sz="2600" u="none" cap="none" strike="noStrike">
                <a:solidFill>
                  <a:srgbClr val="1F1674"/>
                </a:solidFill>
                <a:latin typeface="Montserrat"/>
                <a:ea typeface="Montserrat"/>
                <a:cs typeface="Montserrat"/>
                <a:sym typeface="Montserrat"/>
              </a:rPr>
              <a:t>ANSI/TIA/EIA-570</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Estándar de Alambrado de Telecomunicaciones Residencial y Comercial Liviano</a:t>
            </a:r>
            <a:endParaRPr/>
          </a:p>
          <a:p>
            <a:pPr indent="0" lvl="0" marL="0" marR="0" rtl="0" algn="just">
              <a:lnSpc>
                <a:spcPct val="140000"/>
              </a:lnSpc>
              <a:spcBef>
                <a:spcPts val="0"/>
              </a:spcBef>
              <a:spcAft>
                <a:spcPts val="0"/>
              </a:spcAft>
              <a:buNone/>
            </a:pPr>
            <a:r>
              <a:rPr b="1" i="0" lang="en-US" sz="2600" u="none" cap="none" strike="noStrike">
                <a:solidFill>
                  <a:srgbClr val="1F1674"/>
                </a:solidFill>
                <a:latin typeface="Montserrat"/>
                <a:ea typeface="Montserrat"/>
                <a:cs typeface="Montserrat"/>
                <a:sym typeface="Montserrat"/>
              </a:rPr>
              <a:t>ANSI/TIA/EIA-606</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Estándar de Administración para la Infraestructura de Telecomunicaciones de Edificios</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Comerciales</a:t>
            </a:r>
            <a:endParaRPr/>
          </a:p>
          <a:p>
            <a:pPr indent="0" lvl="0" marL="0" marR="0" rtl="0" algn="just">
              <a:lnSpc>
                <a:spcPct val="140000"/>
              </a:lnSpc>
              <a:spcBef>
                <a:spcPts val="0"/>
              </a:spcBef>
              <a:spcAft>
                <a:spcPts val="0"/>
              </a:spcAft>
              <a:buNone/>
            </a:pPr>
            <a:r>
              <a:rPr b="1" i="0" lang="en-US" sz="2600" u="none" cap="none" strike="noStrike">
                <a:solidFill>
                  <a:srgbClr val="1F1674"/>
                </a:solidFill>
                <a:latin typeface="Montserrat"/>
                <a:ea typeface="Montserrat"/>
                <a:cs typeface="Montserrat"/>
                <a:sym typeface="Montserrat"/>
              </a:rPr>
              <a:t>ANSI/TIA/EIA-607</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Requerimientos para Telecomunicaciones de Puesta a Tierra y Puenteado de Edificios</a:t>
            </a:r>
            <a:endParaRPr/>
          </a:p>
          <a:p>
            <a:pPr indent="0" lvl="0" marL="0" marR="0" rtl="0" algn="just">
              <a:lnSpc>
                <a:spcPct val="140000"/>
              </a:lnSpc>
              <a:spcBef>
                <a:spcPts val="0"/>
              </a:spcBef>
              <a:spcAft>
                <a:spcPts val="0"/>
              </a:spcAft>
              <a:buNone/>
            </a:pPr>
            <a:r>
              <a:rPr b="0" i="0" lang="en-US" sz="2600" u="none" cap="none" strike="noStrike">
                <a:solidFill>
                  <a:srgbClr val="1F1674"/>
                </a:solidFill>
                <a:latin typeface="Montserrat"/>
                <a:ea typeface="Montserrat"/>
                <a:cs typeface="Montserrat"/>
                <a:sym typeface="Montserrat"/>
              </a:rPr>
              <a:t>Comerciales</a:t>
            </a:r>
            <a:endParaRPr/>
          </a:p>
        </p:txBody>
      </p:sp>
      <p:grpSp>
        <p:nvGrpSpPr>
          <p:cNvPr id="815" name="Google Shape;815;p36"/>
          <p:cNvGrpSpPr/>
          <p:nvPr/>
        </p:nvGrpSpPr>
        <p:grpSpPr>
          <a:xfrm>
            <a:off x="1894444" y="494555"/>
            <a:ext cx="14499051" cy="2154982"/>
            <a:chOff x="0" y="-157626"/>
            <a:chExt cx="19332068" cy="2873309"/>
          </a:xfrm>
        </p:grpSpPr>
        <p:cxnSp>
          <p:nvCxnSpPr>
            <p:cNvPr id="816" name="Google Shape;816;p3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817" name="Google Shape;817;p36"/>
            <p:cNvGrpSpPr/>
            <p:nvPr/>
          </p:nvGrpSpPr>
          <p:grpSpPr>
            <a:xfrm>
              <a:off x="0" y="0"/>
              <a:ext cx="2715683" cy="2715683"/>
              <a:chOff x="0" y="0"/>
              <a:chExt cx="812800" cy="812800"/>
            </a:xfrm>
          </p:grpSpPr>
          <p:sp>
            <p:nvSpPr>
              <p:cNvPr id="818" name="Google Shape;818;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0" name="Google Shape;820;p36"/>
            <p:cNvGrpSpPr/>
            <p:nvPr/>
          </p:nvGrpSpPr>
          <p:grpSpPr>
            <a:xfrm>
              <a:off x="150744" y="-157626"/>
              <a:ext cx="2603039" cy="2786065"/>
              <a:chOff x="0" y="-57150"/>
              <a:chExt cx="812800" cy="869950"/>
            </a:xfrm>
          </p:grpSpPr>
          <p:sp>
            <p:nvSpPr>
              <p:cNvPr id="821" name="Google Shape;821;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823" name="Google Shape;823;p3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824" name="Google Shape;824;p3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825" name="Google Shape;825;p3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826" name="Google Shape;826;p3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827" name="Google Shape;827;p3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828" name="Google Shape;828;p3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829" name="Google Shape;829;p36"/>
          <p:cNvSpPr txBox="1"/>
          <p:nvPr/>
        </p:nvSpPr>
        <p:spPr>
          <a:xfrm>
            <a:off x="4235644" y="1365250"/>
            <a:ext cx="1044591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NORMAS Y ESTÁNDARES</a:t>
            </a:r>
            <a:endParaRPr/>
          </a:p>
        </p:txBody>
      </p:sp>
      <p:sp>
        <p:nvSpPr>
          <p:cNvPr id="830" name="Google Shape;830;p36"/>
          <p:cNvSpPr/>
          <p:nvPr/>
        </p:nvSpPr>
        <p:spPr>
          <a:xfrm>
            <a:off x="2057212" y="4529321"/>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506" l="-209906" r="-18241" t="-3806"/>
            </a:stretch>
          </a:blipFill>
          <a:ln>
            <a:noFill/>
          </a:ln>
        </p:spPr>
      </p:sp>
      <p:sp>
        <p:nvSpPr>
          <p:cNvPr id="831" name="Google Shape;831;p36"/>
          <p:cNvSpPr/>
          <p:nvPr/>
        </p:nvSpPr>
        <p:spPr>
          <a:xfrm>
            <a:off x="2057212" y="5386571"/>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506" l="-209906" r="-18241" t="-3806"/>
            </a:stretch>
          </a:blipFill>
          <a:ln>
            <a:noFill/>
          </a:ln>
        </p:spPr>
      </p:sp>
      <p:sp>
        <p:nvSpPr>
          <p:cNvPr id="832" name="Google Shape;832;p36"/>
          <p:cNvSpPr/>
          <p:nvPr/>
        </p:nvSpPr>
        <p:spPr>
          <a:xfrm>
            <a:off x="2057212" y="6372627"/>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506" l="-209906" r="-18241" t="-3806"/>
            </a:stretch>
          </a:blipFill>
          <a:ln>
            <a:noFill/>
          </a:ln>
        </p:spPr>
      </p:sp>
      <p:sp>
        <p:nvSpPr>
          <p:cNvPr id="833" name="Google Shape;833;p36"/>
          <p:cNvSpPr/>
          <p:nvPr/>
        </p:nvSpPr>
        <p:spPr>
          <a:xfrm>
            <a:off x="2057212" y="7783375"/>
            <a:ext cx="705307" cy="538462"/>
          </a:xfrm>
          <a:custGeom>
            <a:rect b="b" l="l" r="r" t="t"/>
            <a:pathLst>
              <a:path extrusionOk="0" h="538462" w="705307">
                <a:moveTo>
                  <a:pt x="0" y="0"/>
                </a:moveTo>
                <a:lnTo>
                  <a:pt x="705307" y="0"/>
                </a:lnTo>
                <a:lnTo>
                  <a:pt x="705307" y="538462"/>
                </a:lnTo>
                <a:lnTo>
                  <a:pt x="0" y="538462"/>
                </a:lnTo>
                <a:lnTo>
                  <a:pt x="0" y="0"/>
                </a:lnTo>
                <a:close/>
              </a:path>
            </a:pathLst>
          </a:custGeom>
          <a:blipFill rotWithShape="1">
            <a:blip r:embed="rId3">
              <a:alphaModFix/>
            </a:blip>
            <a:stretch>
              <a:fillRect b="-238506" l="-209906" r="-18241" t="-3806"/>
            </a:stretch>
          </a:blipFill>
          <a:ln>
            <a:noFill/>
          </a:ln>
        </p:spPr>
      </p:sp>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37" name="Shape 837"/>
        <p:cNvGrpSpPr/>
        <p:nvPr/>
      </p:nvGrpSpPr>
      <p:grpSpPr>
        <a:xfrm>
          <a:off x="0" y="0"/>
          <a:ext cx="0" cy="0"/>
          <a:chOff x="0" y="0"/>
          <a:chExt cx="0" cy="0"/>
        </a:xfrm>
      </p:grpSpPr>
      <p:sp>
        <p:nvSpPr>
          <p:cNvPr id="838" name="Google Shape;838;p37"/>
          <p:cNvSpPr txBox="1"/>
          <p:nvPr/>
        </p:nvSpPr>
        <p:spPr>
          <a:xfrm>
            <a:off x="1352265" y="3658854"/>
            <a:ext cx="15583470"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Este estándar especifica los requisitos mínimos de cableado para telecomunicaciones, la topología recomendada y los límites de distancia, las especificaciones sobre el rendimiento de los aparatos de conexión y medios.</a:t>
            </a:r>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Este estándar especifica los requisitos de componentes y de transmisión según los medios.</a:t>
            </a:r>
            <a:endParaRPr/>
          </a:p>
        </p:txBody>
      </p:sp>
      <p:sp>
        <p:nvSpPr>
          <p:cNvPr id="839" name="Google Shape;839;p37"/>
          <p:cNvSpPr/>
          <p:nvPr/>
        </p:nvSpPr>
        <p:spPr>
          <a:xfrm>
            <a:off x="6059705" y="7373604"/>
            <a:ext cx="6168591" cy="2603705"/>
          </a:xfrm>
          <a:custGeom>
            <a:rect b="b" l="l" r="r" t="t"/>
            <a:pathLst>
              <a:path extrusionOk="0" h="2603705" w="6168591">
                <a:moveTo>
                  <a:pt x="0" y="0"/>
                </a:moveTo>
                <a:lnTo>
                  <a:pt x="6168590" y="0"/>
                </a:lnTo>
                <a:lnTo>
                  <a:pt x="6168590" y="2603705"/>
                </a:lnTo>
                <a:lnTo>
                  <a:pt x="0" y="2603705"/>
                </a:lnTo>
                <a:lnTo>
                  <a:pt x="0" y="0"/>
                </a:lnTo>
                <a:close/>
              </a:path>
            </a:pathLst>
          </a:custGeom>
          <a:blipFill rotWithShape="1">
            <a:blip r:embed="rId3">
              <a:alphaModFix/>
            </a:blip>
            <a:stretch>
              <a:fillRect b="0" l="0" r="0" t="0"/>
            </a:stretch>
          </a:blipFill>
          <a:ln>
            <a:noFill/>
          </a:ln>
        </p:spPr>
      </p:sp>
      <p:sp>
        <p:nvSpPr>
          <p:cNvPr id="840" name="Google Shape;840;p37"/>
          <p:cNvSpPr txBox="1"/>
          <p:nvPr/>
        </p:nvSpPr>
        <p:spPr>
          <a:xfrm>
            <a:off x="657199" y="338455"/>
            <a:ext cx="16973602" cy="24333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ANSI/TIA/EIA-568</a:t>
            </a:r>
            <a:endParaRPr/>
          </a:p>
          <a:p>
            <a:pPr indent="0" lvl="0" marL="0" marR="0" rtl="0" algn="l">
              <a:lnSpc>
                <a:spcPct val="140000"/>
              </a:lnSpc>
              <a:spcBef>
                <a:spcPts val="0"/>
              </a:spcBef>
              <a:spcAft>
                <a:spcPts val="0"/>
              </a:spcAft>
              <a:buNone/>
            </a:pPr>
            <a:r>
              <a:rPr b="0" i="0" lang="en-US" sz="4400" u="none" cap="none" strike="noStrike">
                <a:solidFill>
                  <a:srgbClr val="145C8C"/>
                </a:solidFill>
                <a:latin typeface="Arial"/>
                <a:ea typeface="Arial"/>
                <a:cs typeface="Arial"/>
                <a:sym typeface="Arial"/>
              </a:rPr>
              <a:t>Estándar de Cableado de Telecomunicaciones en Edificios Comerciales para conectores RJ 45</a:t>
            </a:r>
            <a:endParaRPr/>
          </a:p>
        </p:txBody>
      </p:sp>
      <p:sp>
        <p:nvSpPr>
          <p:cNvPr id="841" name="Google Shape;841;p37"/>
          <p:cNvSpPr txBox="1"/>
          <p:nvPr/>
        </p:nvSpPr>
        <p:spPr>
          <a:xfrm>
            <a:off x="657199" y="3055327"/>
            <a:ext cx="15583470" cy="5191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ANSI/TIA/EIA-568-A</a:t>
            </a:r>
            <a:endParaRPr/>
          </a:p>
        </p:txBody>
      </p:sp>
      <p:sp>
        <p:nvSpPr>
          <p:cNvPr id="842" name="Google Shape;842;p37"/>
          <p:cNvSpPr txBox="1"/>
          <p:nvPr/>
        </p:nvSpPr>
        <p:spPr>
          <a:xfrm>
            <a:off x="657199" y="5740154"/>
            <a:ext cx="15583470" cy="5191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TIA/EIA-568-B</a:t>
            </a:r>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46" name="Shape 846"/>
        <p:cNvGrpSpPr/>
        <p:nvPr/>
      </p:nvGrpSpPr>
      <p:grpSpPr>
        <a:xfrm>
          <a:off x="0" y="0"/>
          <a:ext cx="0" cy="0"/>
          <a:chOff x="0" y="0"/>
          <a:chExt cx="0" cy="0"/>
        </a:xfrm>
      </p:grpSpPr>
      <p:sp>
        <p:nvSpPr>
          <p:cNvPr id="847" name="Google Shape;847;p38"/>
          <p:cNvSpPr/>
          <p:nvPr/>
        </p:nvSpPr>
        <p:spPr>
          <a:xfrm>
            <a:off x="11529634" y="3254055"/>
            <a:ext cx="5114387" cy="6142158"/>
          </a:xfrm>
          <a:custGeom>
            <a:rect b="b" l="l" r="r" t="t"/>
            <a:pathLst>
              <a:path extrusionOk="0" h="6142158" w="5114387">
                <a:moveTo>
                  <a:pt x="0" y="0"/>
                </a:moveTo>
                <a:lnTo>
                  <a:pt x="5114387" y="0"/>
                </a:lnTo>
                <a:lnTo>
                  <a:pt x="5114387" y="6142158"/>
                </a:lnTo>
                <a:lnTo>
                  <a:pt x="0" y="6142158"/>
                </a:lnTo>
                <a:lnTo>
                  <a:pt x="0" y="0"/>
                </a:lnTo>
                <a:close/>
              </a:path>
            </a:pathLst>
          </a:custGeom>
          <a:blipFill rotWithShape="1">
            <a:blip r:embed="rId3">
              <a:alphaModFix/>
            </a:blip>
            <a:stretch>
              <a:fillRect b="0" l="0" r="0" t="0"/>
            </a:stretch>
          </a:blipFill>
          <a:ln>
            <a:noFill/>
          </a:ln>
        </p:spPr>
      </p:sp>
      <p:sp>
        <p:nvSpPr>
          <p:cNvPr id="848" name="Google Shape;848;p38"/>
          <p:cNvSpPr txBox="1"/>
          <p:nvPr/>
        </p:nvSpPr>
        <p:spPr>
          <a:xfrm>
            <a:off x="1028700" y="4623907"/>
            <a:ext cx="8882763" cy="2114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Este estándar será el central al momento de diseñar el sistema de cableado estructurado, ya que su enfoque central son las rutas y espacios donde se instalan los cables.</a:t>
            </a:r>
            <a:endParaRPr/>
          </a:p>
        </p:txBody>
      </p:sp>
      <p:sp>
        <p:nvSpPr>
          <p:cNvPr id="849" name="Google Shape;849;p38"/>
          <p:cNvSpPr txBox="1"/>
          <p:nvPr/>
        </p:nvSpPr>
        <p:spPr>
          <a:xfrm>
            <a:off x="657199" y="338455"/>
            <a:ext cx="16973602" cy="25380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ANSI/TIA/EIA-569</a:t>
            </a:r>
            <a:endParaRPr/>
          </a:p>
          <a:p>
            <a:pPr indent="0" lvl="0" marL="0" marR="0" rtl="0" algn="l">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Estándar para Ductos y Espacios de</a:t>
            </a:r>
            <a:endParaRPr/>
          </a:p>
          <a:p>
            <a:pPr indent="0" lvl="0" marL="0" marR="0" rtl="0" algn="l">
              <a:lnSpc>
                <a:spcPct val="140000"/>
              </a:lnSpc>
              <a:spcBef>
                <a:spcPts val="0"/>
              </a:spcBef>
              <a:spcAft>
                <a:spcPts val="0"/>
              </a:spcAft>
              <a:buNone/>
            </a:pPr>
            <a:r>
              <a:rPr b="0" i="0" lang="en-US" sz="4400" u="none" cap="none" strike="noStrike">
                <a:solidFill>
                  <a:srgbClr val="145C8C"/>
                </a:solidFill>
                <a:latin typeface="Arial"/>
                <a:ea typeface="Arial"/>
                <a:cs typeface="Arial"/>
                <a:sym typeface="Arial"/>
              </a:rPr>
              <a:t>Telecomunicaciones en Edificios Comerciales</a:t>
            </a:r>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53" name="Shape 853"/>
        <p:cNvGrpSpPr/>
        <p:nvPr/>
      </p:nvGrpSpPr>
      <p:grpSpPr>
        <a:xfrm>
          <a:off x="0" y="0"/>
          <a:ext cx="0" cy="0"/>
          <a:chOff x="0" y="0"/>
          <a:chExt cx="0" cy="0"/>
        </a:xfrm>
      </p:grpSpPr>
      <p:sp>
        <p:nvSpPr>
          <p:cNvPr id="854" name="Google Shape;854;p39"/>
          <p:cNvSpPr/>
          <p:nvPr/>
        </p:nvSpPr>
        <p:spPr>
          <a:xfrm>
            <a:off x="9865271" y="4046910"/>
            <a:ext cx="6623745" cy="2393010"/>
          </a:xfrm>
          <a:custGeom>
            <a:rect b="b" l="l" r="r" t="t"/>
            <a:pathLst>
              <a:path extrusionOk="0" h="2393010" w="6623745">
                <a:moveTo>
                  <a:pt x="0" y="0"/>
                </a:moveTo>
                <a:lnTo>
                  <a:pt x="6623745" y="0"/>
                </a:lnTo>
                <a:lnTo>
                  <a:pt x="6623745" y="2393010"/>
                </a:lnTo>
                <a:lnTo>
                  <a:pt x="0" y="2393010"/>
                </a:lnTo>
                <a:lnTo>
                  <a:pt x="0" y="0"/>
                </a:lnTo>
                <a:close/>
              </a:path>
            </a:pathLst>
          </a:custGeom>
          <a:blipFill rotWithShape="1">
            <a:blip r:embed="rId3">
              <a:alphaModFix/>
            </a:blip>
            <a:stretch>
              <a:fillRect b="0" l="0" r="0" t="0"/>
            </a:stretch>
          </a:blipFill>
          <a:ln>
            <a:noFill/>
          </a:ln>
        </p:spPr>
      </p:sp>
      <p:sp>
        <p:nvSpPr>
          <p:cNvPr id="855" name="Google Shape;855;p39"/>
          <p:cNvSpPr/>
          <p:nvPr/>
        </p:nvSpPr>
        <p:spPr>
          <a:xfrm>
            <a:off x="14695079" y="1976846"/>
            <a:ext cx="3079353" cy="1813865"/>
          </a:xfrm>
          <a:custGeom>
            <a:rect b="b" l="l" r="r" t="t"/>
            <a:pathLst>
              <a:path extrusionOk="0" h="1813865" w="3079353">
                <a:moveTo>
                  <a:pt x="0" y="0"/>
                </a:moveTo>
                <a:lnTo>
                  <a:pt x="3079352" y="0"/>
                </a:lnTo>
                <a:lnTo>
                  <a:pt x="3079352" y="1813865"/>
                </a:lnTo>
                <a:lnTo>
                  <a:pt x="0" y="1813865"/>
                </a:lnTo>
                <a:lnTo>
                  <a:pt x="0" y="0"/>
                </a:lnTo>
                <a:close/>
              </a:path>
            </a:pathLst>
          </a:custGeom>
          <a:blipFill rotWithShape="1">
            <a:blip r:embed="rId4">
              <a:alphaModFix/>
            </a:blip>
            <a:stretch>
              <a:fillRect b="0" l="0" r="0" t="0"/>
            </a:stretch>
          </a:blipFill>
          <a:ln>
            <a:noFill/>
          </a:ln>
        </p:spPr>
      </p:sp>
      <p:sp>
        <p:nvSpPr>
          <p:cNvPr id="856" name="Google Shape;856;p39"/>
          <p:cNvSpPr/>
          <p:nvPr/>
        </p:nvSpPr>
        <p:spPr>
          <a:xfrm>
            <a:off x="10858184" y="6918279"/>
            <a:ext cx="4341652" cy="3104939"/>
          </a:xfrm>
          <a:custGeom>
            <a:rect b="b" l="l" r="r" t="t"/>
            <a:pathLst>
              <a:path extrusionOk="0" h="3104939" w="4341652">
                <a:moveTo>
                  <a:pt x="0" y="0"/>
                </a:moveTo>
                <a:lnTo>
                  <a:pt x="4341652" y="0"/>
                </a:lnTo>
                <a:lnTo>
                  <a:pt x="4341652" y="3104939"/>
                </a:lnTo>
                <a:lnTo>
                  <a:pt x="0" y="3104939"/>
                </a:lnTo>
                <a:lnTo>
                  <a:pt x="0" y="0"/>
                </a:lnTo>
                <a:close/>
              </a:path>
            </a:pathLst>
          </a:custGeom>
          <a:blipFill rotWithShape="1">
            <a:blip r:embed="rId5">
              <a:alphaModFix/>
            </a:blip>
            <a:stretch>
              <a:fillRect b="0" l="0" r="0" t="0"/>
            </a:stretch>
          </a:blipFill>
          <a:ln>
            <a:noFill/>
          </a:ln>
        </p:spPr>
      </p:sp>
      <p:sp>
        <p:nvSpPr>
          <p:cNvPr id="857" name="Google Shape;857;p39"/>
          <p:cNvSpPr txBox="1"/>
          <p:nvPr/>
        </p:nvSpPr>
        <p:spPr>
          <a:xfrm>
            <a:off x="839948" y="3161077"/>
            <a:ext cx="8882763" cy="2647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Este estándar será el central al momento</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de diseñar el sistema de cableado</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estructurado, ya que su enfoque central</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son las rutas y espacios donde se instalan</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los cables.</a:t>
            </a:r>
            <a:endParaRPr/>
          </a:p>
        </p:txBody>
      </p:sp>
      <p:sp>
        <p:nvSpPr>
          <p:cNvPr id="858" name="Google Shape;858;p39"/>
          <p:cNvSpPr txBox="1"/>
          <p:nvPr/>
        </p:nvSpPr>
        <p:spPr>
          <a:xfrm>
            <a:off x="657199" y="338455"/>
            <a:ext cx="16973602" cy="24333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000" u="none" cap="none" strike="noStrike">
                <a:solidFill>
                  <a:srgbClr val="145C8C"/>
                </a:solidFill>
                <a:latin typeface="Arial"/>
                <a:ea typeface="Arial"/>
                <a:cs typeface="Arial"/>
                <a:sym typeface="Arial"/>
              </a:rPr>
              <a:t>ANSI/TIA/EIA-570</a:t>
            </a:r>
            <a:endParaRPr/>
          </a:p>
          <a:p>
            <a:pPr indent="0" lvl="0" marL="0" marR="0" rtl="0" algn="l">
              <a:lnSpc>
                <a:spcPct val="140000"/>
              </a:lnSpc>
              <a:spcBef>
                <a:spcPts val="0"/>
              </a:spcBef>
              <a:spcAft>
                <a:spcPts val="0"/>
              </a:spcAft>
              <a:buNone/>
            </a:pPr>
            <a:r>
              <a:rPr b="0" i="0" lang="en-US" sz="4400" u="none" cap="none" strike="noStrike">
                <a:solidFill>
                  <a:srgbClr val="145C8C"/>
                </a:solidFill>
                <a:latin typeface="Arial"/>
                <a:ea typeface="Arial"/>
                <a:cs typeface="Arial"/>
                <a:sym typeface="Arial"/>
              </a:rPr>
              <a:t>Estándar de Alambrado de telecomunicaciones Residencial y Comercial Liviano</a:t>
            </a:r>
            <a:endParaRPr/>
          </a:p>
        </p:txBody>
      </p:sp>
      <p:sp>
        <p:nvSpPr>
          <p:cNvPr id="859" name="Google Shape;859;p39"/>
          <p:cNvSpPr txBox="1"/>
          <p:nvPr/>
        </p:nvSpPr>
        <p:spPr>
          <a:xfrm>
            <a:off x="839948" y="6199552"/>
            <a:ext cx="8882763" cy="320516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Grados para cableado residencial:</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Grado 1</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Grado 2</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Par trenzado.</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62.5/125mm fibra optica multi-modo</a:t>
            </a:r>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50/125mm fibra optica multi-modo</a:t>
            </a:r>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63" name="Shape 863"/>
        <p:cNvGrpSpPr/>
        <p:nvPr/>
      </p:nvGrpSpPr>
      <p:grpSpPr>
        <a:xfrm>
          <a:off x="0" y="0"/>
          <a:ext cx="0" cy="0"/>
          <a:chOff x="0" y="0"/>
          <a:chExt cx="0" cy="0"/>
        </a:xfrm>
      </p:grpSpPr>
      <p:sp>
        <p:nvSpPr>
          <p:cNvPr id="864" name="Google Shape;864;p40"/>
          <p:cNvSpPr/>
          <p:nvPr/>
        </p:nvSpPr>
        <p:spPr>
          <a:xfrm>
            <a:off x="12357800" y="6050743"/>
            <a:ext cx="4901500" cy="3831792"/>
          </a:xfrm>
          <a:custGeom>
            <a:rect b="b" l="l" r="r" t="t"/>
            <a:pathLst>
              <a:path extrusionOk="0" h="3831792" w="4901500">
                <a:moveTo>
                  <a:pt x="0" y="0"/>
                </a:moveTo>
                <a:lnTo>
                  <a:pt x="4901500" y="0"/>
                </a:lnTo>
                <a:lnTo>
                  <a:pt x="4901500" y="3831791"/>
                </a:lnTo>
                <a:lnTo>
                  <a:pt x="0" y="3831791"/>
                </a:lnTo>
                <a:lnTo>
                  <a:pt x="0" y="0"/>
                </a:lnTo>
                <a:close/>
              </a:path>
            </a:pathLst>
          </a:custGeom>
          <a:blipFill rotWithShape="1">
            <a:blip r:embed="rId3">
              <a:alphaModFix/>
            </a:blip>
            <a:stretch>
              <a:fillRect b="0" l="0" r="0" t="0"/>
            </a:stretch>
          </a:blipFill>
          <a:ln>
            <a:noFill/>
          </a:ln>
        </p:spPr>
      </p:sp>
      <p:sp>
        <p:nvSpPr>
          <p:cNvPr id="865" name="Google Shape;865;p40"/>
          <p:cNvSpPr txBox="1"/>
          <p:nvPr/>
        </p:nvSpPr>
        <p:spPr>
          <a:xfrm>
            <a:off x="839948" y="3161077"/>
            <a:ext cx="16419352"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Este estándar establece guías para dueños, usuarios finales, consultores, contratistas, diseñadores, instaladores y administradores de la infraestructura de telecomunicaciones y sistemas relacionados.</a:t>
            </a:r>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La administración de los servicios que se ofrecen a través del cableado será más</a:t>
            </a:r>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fácil de realizar si se tiene una documentación.</a:t>
            </a:r>
            <a:endParaRPr/>
          </a:p>
        </p:txBody>
      </p:sp>
      <p:sp>
        <p:nvSpPr>
          <p:cNvPr id="866" name="Google Shape;866;p40"/>
          <p:cNvSpPr txBox="1"/>
          <p:nvPr/>
        </p:nvSpPr>
        <p:spPr>
          <a:xfrm>
            <a:off x="358341" y="318182"/>
            <a:ext cx="17272459" cy="22599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700" u="none" cap="none" strike="noStrike">
                <a:solidFill>
                  <a:srgbClr val="145C8C"/>
                </a:solidFill>
                <a:latin typeface="Arial"/>
                <a:ea typeface="Arial"/>
                <a:cs typeface="Arial"/>
                <a:sym typeface="Arial"/>
              </a:rPr>
              <a:t>ANSI/TIA/EIA-606</a:t>
            </a:r>
            <a:endParaRPr/>
          </a:p>
          <a:p>
            <a:pPr indent="0" lvl="0" marL="0" marR="0" rtl="0" algn="l">
              <a:lnSpc>
                <a:spcPct val="140000"/>
              </a:lnSpc>
              <a:spcBef>
                <a:spcPts val="0"/>
              </a:spcBef>
              <a:spcAft>
                <a:spcPts val="0"/>
              </a:spcAft>
              <a:buNone/>
            </a:pPr>
            <a:r>
              <a:rPr b="0" i="0" lang="en-US" sz="4100" u="none" cap="none" strike="noStrike">
                <a:solidFill>
                  <a:srgbClr val="145C8C"/>
                </a:solidFill>
                <a:latin typeface="Arial"/>
                <a:ea typeface="Arial"/>
                <a:cs typeface="Arial"/>
                <a:sym typeface="Arial"/>
              </a:rPr>
              <a:t>Estándar de Administración para la Infraestructura de Telecomunicaciones de Edificios Comerciales</a:t>
            </a:r>
            <a:endParaRPr/>
          </a:p>
        </p:txBody>
      </p:sp>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70" name="Shape 870"/>
        <p:cNvGrpSpPr/>
        <p:nvPr/>
      </p:nvGrpSpPr>
      <p:grpSpPr>
        <a:xfrm>
          <a:off x="0" y="0"/>
          <a:ext cx="0" cy="0"/>
          <a:chOff x="0" y="0"/>
          <a:chExt cx="0" cy="0"/>
        </a:xfrm>
      </p:grpSpPr>
      <p:sp>
        <p:nvSpPr>
          <p:cNvPr id="871" name="Google Shape;871;p41"/>
          <p:cNvSpPr/>
          <p:nvPr/>
        </p:nvSpPr>
        <p:spPr>
          <a:xfrm>
            <a:off x="11623778" y="6131839"/>
            <a:ext cx="5064103" cy="3890558"/>
          </a:xfrm>
          <a:custGeom>
            <a:rect b="b" l="l" r="r" t="t"/>
            <a:pathLst>
              <a:path extrusionOk="0" h="3890558" w="5064103">
                <a:moveTo>
                  <a:pt x="0" y="0"/>
                </a:moveTo>
                <a:lnTo>
                  <a:pt x="5064103" y="0"/>
                </a:lnTo>
                <a:lnTo>
                  <a:pt x="5064103" y="3890558"/>
                </a:lnTo>
                <a:lnTo>
                  <a:pt x="0" y="3890558"/>
                </a:lnTo>
                <a:lnTo>
                  <a:pt x="0" y="0"/>
                </a:lnTo>
                <a:close/>
              </a:path>
            </a:pathLst>
          </a:custGeom>
          <a:blipFill rotWithShape="1">
            <a:blip r:embed="rId3">
              <a:alphaModFix/>
            </a:blip>
            <a:stretch>
              <a:fillRect b="0" l="0" r="0" t="0"/>
            </a:stretch>
          </a:blipFill>
          <a:ln>
            <a:noFill/>
          </a:ln>
        </p:spPr>
      </p:sp>
      <p:sp>
        <p:nvSpPr>
          <p:cNvPr id="872" name="Google Shape;872;p41"/>
          <p:cNvSpPr txBox="1"/>
          <p:nvPr/>
        </p:nvSpPr>
        <p:spPr>
          <a:xfrm>
            <a:off x="839948" y="3161077"/>
            <a:ext cx="16419352"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Este estándar establece guías para dueños, usuarios finales, consultores, contratistas, diseñadores, instaladores y administradores de la infraestructura de telecomunicaciones y sistemas relacionados.</a:t>
            </a:r>
            <a:endParaRPr/>
          </a:p>
          <a:p>
            <a:pPr indent="0" lvl="0" marL="0" marR="0" rtl="0" algn="just">
              <a:lnSpc>
                <a:spcPct val="140000"/>
              </a:lnSpc>
              <a:spcBef>
                <a:spcPts val="0"/>
              </a:spcBef>
              <a:spcAft>
                <a:spcPts val="0"/>
              </a:spcAft>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3000" u="none" cap="none" strike="noStrike">
                <a:solidFill>
                  <a:srgbClr val="1F1674"/>
                </a:solidFill>
                <a:latin typeface="Montserrat"/>
                <a:ea typeface="Montserrat"/>
                <a:cs typeface="Montserrat"/>
                <a:sym typeface="Montserrat"/>
              </a:rPr>
              <a:t>La administración de los servicios que se ofrecen a través del cableado será más fácil de realizar si se tiene una documentación.</a:t>
            </a:r>
            <a:endParaRPr/>
          </a:p>
        </p:txBody>
      </p:sp>
      <p:sp>
        <p:nvSpPr>
          <p:cNvPr id="873" name="Google Shape;873;p41"/>
          <p:cNvSpPr txBox="1"/>
          <p:nvPr/>
        </p:nvSpPr>
        <p:spPr>
          <a:xfrm>
            <a:off x="358341" y="318182"/>
            <a:ext cx="17272459" cy="22599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700" u="none" cap="none" strike="noStrike">
                <a:solidFill>
                  <a:srgbClr val="145C8C"/>
                </a:solidFill>
                <a:latin typeface="Arial"/>
                <a:ea typeface="Arial"/>
                <a:cs typeface="Arial"/>
                <a:sym typeface="Arial"/>
              </a:rPr>
              <a:t>ANSI/TIA/EIA-607</a:t>
            </a:r>
            <a:endParaRPr/>
          </a:p>
          <a:p>
            <a:pPr indent="0" lvl="0" marL="0" marR="0" rtl="0" algn="l">
              <a:lnSpc>
                <a:spcPct val="140000"/>
              </a:lnSpc>
              <a:spcBef>
                <a:spcPts val="0"/>
              </a:spcBef>
              <a:spcAft>
                <a:spcPts val="0"/>
              </a:spcAft>
              <a:buNone/>
            </a:pPr>
            <a:r>
              <a:rPr b="0" i="0" lang="en-US" sz="4100" u="none" cap="none" strike="noStrike">
                <a:solidFill>
                  <a:srgbClr val="145C8C"/>
                </a:solidFill>
                <a:latin typeface="Arial"/>
                <a:ea typeface="Arial"/>
                <a:cs typeface="Arial"/>
                <a:sym typeface="Arial"/>
              </a:rPr>
              <a:t>Requerimientos para Telecomunicaciones de Puesta a Tierra y Puenteado de Edificios Comerciales</a:t>
            </a:r>
            <a:endParaRPr/>
          </a:p>
        </p:txBody>
      </p:sp>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77" name="Shape 877"/>
        <p:cNvGrpSpPr/>
        <p:nvPr/>
      </p:nvGrpSpPr>
      <p:grpSpPr>
        <a:xfrm>
          <a:off x="0" y="0"/>
          <a:ext cx="0" cy="0"/>
          <a:chOff x="0" y="0"/>
          <a:chExt cx="0" cy="0"/>
        </a:xfrm>
      </p:grpSpPr>
      <p:sp>
        <p:nvSpPr>
          <p:cNvPr id="878" name="Google Shape;878;p42"/>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sp>
      <p:grpSp>
        <p:nvGrpSpPr>
          <p:cNvPr id="879" name="Google Shape;879;p42"/>
          <p:cNvGrpSpPr/>
          <p:nvPr/>
        </p:nvGrpSpPr>
        <p:grpSpPr>
          <a:xfrm rot="-182069">
            <a:off x="2624194" y="1635284"/>
            <a:ext cx="6817034" cy="6817034"/>
            <a:chOff x="0" y="0"/>
            <a:chExt cx="812800" cy="812800"/>
          </a:xfrm>
        </p:grpSpPr>
        <p:sp>
          <p:nvSpPr>
            <p:cNvPr id="880" name="Google Shape;880;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2" name="Google Shape;882;p42"/>
          <p:cNvGrpSpPr/>
          <p:nvPr/>
        </p:nvGrpSpPr>
        <p:grpSpPr>
          <a:xfrm rot="-182069">
            <a:off x="3171294" y="1629937"/>
            <a:ext cx="6609519" cy="6609519"/>
            <a:chOff x="0" y="0"/>
            <a:chExt cx="812800" cy="812800"/>
          </a:xfrm>
        </p:grpSpPr>
        <p:sp>
          <p:nvSpPr>
            <p:cNvPr id="883" name="Google Shape;883;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5" name="Google Shape;885;p42"/>
          <p:cNvGrpSpPr/>
          <p:nvPr/>
        </p:nvGrpSpPr>
        <p:grpSpPr>
          <a:xfrm rot="-886328">
            <a:off x="2234838" y="5472307"/>
            <a:ext cx="896087" cy="968527"/>
            <a:chOff x="0" y="-47625"/>
            <a:chExt cx="236006" cy="255085"/>
          </a:xfrm>
        </p:grpSpPr>
        <p:sp>
          <p:nvSpPr>
            <p:cNvPr id="886" name="Google Shape;886;p42"/>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sp>
        <p:sp>
          <p:nvSpPr>
            <p:cNvPr id="887" name="Google Shape;887;p42"/>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8" name="Google Shape;888;p42"/>
          <p:cNvGrpSpPr/>
          <p:nvPr/>
        </p:nvGrpSpPr>
        <p:grpSpPr>
          <a:xfrm rot="-738237">
            <a:off x="468910" y="5475585"/>
            <a:ext cx="2101522" cy="1431732"/>
            <a:chOff x="0" y="-47625"/>
            <a:chExt cx="553487" cy="377082"/>
          </a:xfrm>
        </p:grpSpPr>
        <p:sp>
          <p:nvSpPr>
            <p:cNvPr id="889" name="Google Shape;889;p42"/>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2"/>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91" name="Google Shape;891;p42"/>
          <p:cNvSpPr txBox="1"/>
          <p:nvPr/>
        </p:nvSpPr>
        <p:spPr>
          <a:xfrm>
            <a:off x="3381565" y="3672403"/>
            <a:ext cx="12470643" cy="237159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7800" u="none" cap="none" strike="noStrike">
                <a:solidFill>
                  <a:srgbClr val="145C8C"/>
                </a:solidFill>
                <a:latin typeface="Arial"/>
                <a:ea typeface="Arial"/>
                <a:cs typeface="Arial"/>
                <a:sym typeface="Arial"/>
              </a:rPr>
              <a:t>MEDIOS DE TRANSMISIÓN</a:t>
            </a:r>
            <a:endParaRPr/>
          </a:p>
        </p:txBody>
      </p:sp>
      <p:sp>
        <p:nvSpPr>
          <p:cNvPr id="892" name="Google Shape;892;p42"/>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sp>
      <p:sp>
        <p:nvSpPr>
          <p:cNvPr id="893" name="Google Shape;893;p42"/>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LABORATORIO DE REDES DE COMPUTADORAS 1</a:t>
            </a:r>
            <a:endParaRPr/>
          </a:p>
        </p:txBody>
      </p:sp>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897" name="Shape 897"/>
        <p:cNvGrpSpPr/>
        <p:nvPr/>
      </p:nvGrpSpPr>
      <p:grpSpPr>
        <a:xfrm>
          <a:off x="0" y="0"/>
          <a:ext cx="0" cy="0"/>
          <a:chOff x="0" y="0"/>
          <a:chExt cx="0" cy="0"/>
        </a:xfrm>
      </p:grpSpPr>
      <p:sp>
        <p:nvSpPr>
          <p:cNvPr id="898" name="Google Shape;898;p43"/>
          <p:cNvSpPr/>
          <p:nvPr/>
        </p:nvSpPr>
        <p:spPr>
          <a:xfrm>
            <a:off x="1497120" y="6432643"/>
            <a:ext cx="2951057" cy="2939991"/>
          </a:xfrm>
          <a:custGeom>
            <a:rect b="b" l="l" r="r" t="t"/>
            <a:pathLst>
              <a:path extrusionOk="0" h="2939991" w="2951057">
                <a:moveTo>
                  <a:pt x="0" y="0"/>
                </a:moveTo>
                <a:lnTo>
                  <a:pt x="2951057" y="0"/>
                </a:lnTo>
                <a:lnTo>
                  <a:pt x="2951057" y="2939991"/>
                </a:lnTo>
                <a:lnTo>
                  <a:pt x="0" y="2939991"/>
                </a:lnTo>
                <a:lnTo>
                  <a:pt x="0" y="0"/>
                </a:lnTo>
                <a:close/>
              </a:path>
            </a:pathLst>
          </a:custGeom>
          <a:blipFill rotWithShape="1">
            <a:blip r:embed="rId3">
              <a:alphaModFix/>
            </a:blip>
            <a:stretch>
              <a:fillRect b="0" l="0" r="0" t="0"/>
            </a:stretch>
          </a:blipFill>
          <a:ln>
            <a:noFill/>
          </a:ln>
        </p:spPr>
      </p:sp>
      <p:sp>
        <p:nvSpPr>
          <p:cNvPr id="899" name="Google Shape;899;p43"/>
          <p:cNvSpPr/>
          <p:nvPr/>
        </p:nvSpPr>
        <p:spPr>
          <a:xfrm>
            <a:off x="5141995" y="6893417"/>
            <a:ext cx="3897959" cy="2364883"/>
          </a:xfrm>
          <a:custGeom>
            <a:rect b="b" l="l" r="r" t="t"/>
            <a:pathLst>
              <a:path extrusionOk="0" h="2364883" w="3897959">
                <a:moveTo>
                  <a:pt x="0" y="0"/>
                </a:moveTo>
                <a:lnTo>
                  <a:pt x="3897959" y="0"/>
                </a:lnTo>
                <a:lnTo>
                  <a:pt x="3897959" y="2364883"/>
                </a:lnTo>
                <a:lnTo>
                  <a:pt x="0" y="2364883"/>
                </a:lnTo>
                <a:lnTo>
                  <a:pt x="0" y="0"/>
                </a:lnTo>
                <a:close/>
              </a:path>
            </a:pathLst>
          </a:custGeom>
          <a:blipFill rotWithShape="1">
            <a:blip r:embed="rId4">
              <a:alphaModFix/>
            </a:blip>
            <a:stretch>
              <a:fillRect b="0" l="-48425" r="0" t="0"/>
            </a:stretch>
          </a:blipFill>
          <a:ln>
            <a:noFill/>
          </a:ln>
        </p:spPr>
      </p:sp>
      <p:sp>
        <p:nvSpPr>
          <p:cNvPr id="900" name="Google Shape;900;p43"/>
          <p:cNvSpPr/>
          <p:nvPr/>
        </p:nvSpPr>
        <p:spPr>
          <a:xfrm>
            <a:off x="10077621" y="5903884"/>
            <a:ext cx="3220643" cy="3220643"/>
          </a:xfrm>
          <a:custGeom>
            <a:rect b="b" l="l" r="r" t="t"/>
            <a:pathLst>
              <a:path extrusionOk="0" h="3220643" w="3220643">
                <a:moveTo>
                  <a:pt x="0" y="0"/>
                </a:moveTo>
                <a:lnTo>
                  <a:pt x="3220643" y="0"/>
                </a:lnTo>
                <a:lnTo>
                  <a:pt x="3220643" y="3220643"/>
                </a:lnTo>
                <a:lnTo>
                  <a:pt x="0" y="3220643"/>
                </a:lnTo>
                <a:lnTo>
                  <a:pt x="0" y="0"/>
                </a:lnTo>
                <a:close/>
              </a:path>
            </a:pathLst>
          </a:custGeom>
          <a:blipFill rotWithShape="1">
            <a:blip r:embed="rId5">
              <a:alphaModFix/>
            </a:blip>
            <a:stretch>
              <a:fillRect b="0" l="0" r="0" t="0"/>
            </a:stretch>
          </a:blipFill>
          <a:ln>
            <a:noFill/>
          </a:ln>
        </p:spPr>
      </p:sp>
      <p:sp>
        <p:nvSpPr>
          <p:cNvPr id="901" name="Google Shape;901;p43"/>
          <p:cNvSpPr/>
          <p:nvPr/>
        </p:nvSpPr>
        <p:spPr>
          <a:xfrm>
            <a:off x="14231885" y="6037657"/>
            <a:ext cx="3220643" cy="3220643"/>
          </a:xfrm>
          <a:custGeom>
            <a:rect b="b" l="l" r="r" t="t"/>
            <a:pathLst>
              <a:path extrusionOk="0" h="3220643" w="3220643">
                <a:moveTo>
                  <a:pt x="0" y="0"/>
                </a:moveTo>
                <a:lnTo>
                  <a:pt x="3220643" y="0"/>
                </a:lnTo>
                <a:lnTo>
                  <a:pt x="3220643" y="3220643"/>
                </a:lnTo>
                <a:lnTo>
                  <a:pt x="0" y="3220643"/>
                </a:lnTo>
                <a:lnTo>
                  <a:pt x="0" y="0"/>
                </a:lnTo>
                <a:close/>
              </a:path>
            </a:pathLst>
          </a:custGeom>
          <a:blipFill rotWithShape="1">
            <a:blip r:embed="rId6">
              <a:alphaModFix/>
            </a:blip>
            <a:stretch>
              <a:fillRect b="0" l="0" r="0" t="0"/>
            </a:stretch>
          </a:blipFill>
          <a:ln>
            <a:noFill/>
          </a:ln>
        </p:spPr>
      </p:sp>
      <p:sp>
        <p:nvSpPr>
          <p:cNvPr id="902" name="Google Shape;902;p43"/>
          <p:cNvSpPr/>
          <p:nvPr/>
        </p:nvSpPr>
        <p:spPr>
          <a:xfrm>
            <a:off x="9632069" y="1575541"/>
            <a:ext cx="7820459" cy="3675616"/>
          </a:xfrm>
          <a:custGeom>
            <a:rect b="b" l="l" r="r" t="t"/>
            <a:pathLst>
              <a:path extrusionOk="0" h="3675616" w="7820459">
                <a:moveTo>
                  <a:pt x="0" y="0"/>
                </a:moveTo>
                <a:lnTo>
                  <a:pt x="7820459" y="0"/>
                </a:lnTo>
                <a:lnTo>
                  <a:pt x="7820459" y="3675616"/>
                </a:lnTo>
                <a:lnTo>
                  <a:pt x="0" y="3675616"/>
                </a:lnTo>
                <a:lnTo>
                  <a:pt x="0" y="0"/>
                </a:lnTo>
                <a:close/>
              </a:path>
            </a:pathLst>
          </a:custGeom>
          <a:blipFill rotWithShape="1">
            <a:blip r:embed="rId7">
              <a:alphaModFix/>
            </a:blip>
            <a:stretch>
              <a:fillRect b="0" l="0" r="0" t="0"/>
            </a:stretch>
          </a:blipFill>
          <a:ln>
            <a:noFill/>
          </a:ln>
        </p:spPr>
      </p:sp>
      <p:sp>
        <p:nvSpPr>
          <p:cNvPr id="903" name="Google Shape;903;p43"/>
          <p:cNvSpPr txBox="1"/>
          <p:nvPr/>
        </p:nvSpPr>
        <p:spPr>
          <a:xfrm>
            <a:off x="1715729" y="1214227"/>
            <a:ext cx="5825133" cy="64642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800" u="none" cap="none" strike="noStrike">
                <a:solidFill>
                  <a:srgbClr val="FFFFFF"/>
                </a:solidFill>
                <a:latin typeface="Montserrat"/>
                <a:ea typeface="Montserrat"/>
                <a:cs typeface="Montserrat"/>
                <a:sym typeface="Montserrat"/>
              </a:rPr>
              <a:t>Medios de Transmisión</a:t>
            </a:r>
            <a:endParaRPr/>
          </a:p>
        </p:txBody>
      </p:sp>
      <p:sp>
        <p:nvSpPr>
          <p:cNvPr id="904" name="Google Shape;904;p43"/>
          <p:cNvSpPr txBox="1"/>
          <p:nvPr/>
        </p:nvSpPr>
        <p:spPr>
          <a:xfrm>
            <a:off x="2282756" y="2932064"/>
            <a:ext cx="4330843" cy="2211436"/>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0" i="0" lang="en-US" sz="3167" u="none" cap="none" strike="noStrike">
                <a:solidFill>
                  <a:srgbClr val="FFFFFF"/>
                </a:solidFill>
                <a:latin typeface="Montserrat"/>
                <a:ea typeface="Montserrat"/>
                <a:cs typeface="Montserrat"/>
                <a:sym typeface="Montserrat"/>
              </a:rPr>
              <a:t>Medios de Red</a:t>
            </a:r>
            <a:endParaRPr/>
          </a:p>
          <a:p>
            <a:pPr indent="-341889" lvl="1" marL="683779" marR="0" rtl="0" algn="l">
              <a:lnSpc>
                <a:spcPct val="139974"/>
              </a:lnSpc>
              <a:spcBef>
                <a:spcPts val="0"/>
              </a:spcBef>
              <a:spcAft>
                <a:spcPts val="0"/>
              </a:spcAft>
              <a:buClr>
                <a:srgbClr val="FFFFFF"/>
              </a:buClr>
              <a:buSzPts val="3167"/>
              <a:buFont typeface="Arial"/>
              <a:buChar char="•"/>
            </a:pPr>
            <a:r>
              <a:rPr b="0" i="0" lang="en-US" sz="3167" u="none" cap="none" strike="noStrike">
                <a:solidFill>
                  <a:srgbClr val="FFFFFF"/>
                </a:solidFill>
                <a:latin typeface="Montserrat"/>
                <a:ea typeface="Montserrat"/>
                <a:cs typeface="Montserrat"/>
                <a:sym typeface="Montserrat"/>
              </a:rPr>
              <a:t>Cobre</a:t>
            </a:r>
            <a:endParaRPr/>
          </a:p>
          <a:p>
            <a:pPr indent="-341889" lvl="1" marL="683779" marR="0" rtl="0" algn="l">
              <a:lnSpc>
                <a:spcPct val="139974"/>
              </a:lnSpc>
              <a:spcBef>
                <a:spcPts val="0"/>
              </a:spcBef>
              <a:spcAft>
                <a:spcPts val="0"/>
              </a:spcAft>
              <a:buClr>
                <a:srgbClr val="FFFFFF"/>
              </a:buClr>
              <a:buSzPts val="3167"/>
              <a:buFont typeface="Arial"/>
              <a:buChar char="•"/>
            </a:pPr>
            <a:r>
              <a:rPr b="0" i="0" lang="en-US" sz="3167" u="none" cap="none" strike="noStrike">
                <a:solidFill>
                  <a:srgbClr val="FFFFFF"/>
                </a:solidFill>
                <a:latin typeface="Montserrat"/>
                <a:ea typeface="Montserrat"/>
                <a:cs typeface="Montserrat"/>
                <a:sym typeface="Montserrat"/>
              </a:rPr>
              <a:t>Fibra Óptica</a:t>
            </a:r>
            <a:endParaRPr/>
          </a:p>
          <a:p>
            <a:pPr indent="-341889" lvl="1" marL="683779" marR="0" rtl="0" algn="l">
              <a:lnSpc>
                <a:spcPct val="139974"/>
              </a:lnSpc>
              <a:spcBef>
                <a:spcPts val="0"/>
              </a:spcBef>
              <a:spcAft>
                <a:spcPts val="0"/>
              </a:spcAft>
              <a:buClr>
                <a:srgbClr val="FFFFFF"/>
              </a:buClr>
              <a:buSzPts val="3167"/>
              <a:buFont typeface="Arial"/>
              <a:buChar char="•"/>
            </a:pPr>
            <a:r>
              <a:rPr b="0" i="0" lang="en-US" sz="3167" u="none" cap="none" strike="noStrike">
                <a:solidFill>
                  <a:srgbClr val="FFFFFF"/>
                </a:solidFill>
                <a:latin typeface="Montserrat"/>
                <a:ea typeface="Montserrat"/>
                <a:cs typeface="Montserrat"/>
                <a:sym typeface="Montserrat"/>
              </a:rPr>
              <a:t>Inalámbricos</a:t>
            </a:r>
            <a:endParaRPr/>
          </a:p>
        </p:txBody>
      </p:sp>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08" name="Shape 908"/>
        <p:cNvGrpSpPr/>
        <p:nvPr/>
      </p:nvGrpSpPr>
      <p:grpSpPr>
        <a:xfrm>
          <a:off x="0" y="0"/>
          <a:ext cx="0" cy="0"/>
          <a:chOff x="0" y="0"/>
          <a:chExt cx="0" cy="0"/>
        </a:xfrm>
      </p:grpSpPr>
      <p:sp>
        <p:nvSpPr>
          <p:cNvPr id="909" name="Google Shape;909;p44"/>
          <p:cNvSpPr txBox="1"/>
          <p:nvPr/>
        </p:nvSpPr>
        <p:spPr>
          <a:xfrm>
            <a:off x="1101828" y="785251"/>
            <a:ext cx="5813061" cy="663436"/>
          </a:xfrm>
          <a:prstGeom prst="rect">
            <a:avLst/>
          </a:prstGeom>
          <a:noFill/>
          <a:ln>
            <a:noFill/>
          </a:ln>
        </p:spPr>
        <p:txBody>
          <a:bodyPr anchorCtr="0" anchor="t" bIns="0" lIns="0" spcFirstLastPara="1" rIns="0" wrap="square" tIns="0">
            <a:spAutoFit/>
          </a:bodyPr>
          <a:lstStyle/>
          <a:p>
            <a:pPr indent="0" lvl="0" marL="0" marR="0" rtl="0" algn="ctr">
              <a:lnSpc>
                <a:spcPct val="139984"/>
              </a:lnSpc>
              <a:spcBef>
                <a:spcPts val="0"/>
              </a:spcBef>
              <a:spcAft>
                <a:spcPts val="0"/>
              </a:spcAft>
              <a:buNone/>
            </a:pPr>
            <a:r>
              <a:rPr b="1" i="0" lang="en-US" sz="3879" u="none" cap="none" strike="noStrike">
                <a:solidFill>
                  <a:srgbClr val="FFFFFF"/>
                </a:solidFill>
                <a:latin typeface="Montserrat"/>
                <a:ea typeface="Montserrat"/>
                <a:cs typeface="Montserrat"/>
                <a:sym typeface="Montserrat"/>
              </a:rPr>
              <a:t>Cable de Par Trenzado</a:t>
            </a:r>
            <a:endParaRPr/>
          </a:p>
        </p:txBody>
      </p:sp>
      <p:sp>
        <p:nvSpPr>
          <p:cNvPr id="910" name="Google Shape;910;p44"/>
          <p:cNvSpPr/>
          <p:nvPr/>
        </p:nvSpPr>
        <p:spPr>
          <a:xfrm>
            <a:off x="4741919" y="1905657"/>
            <a:ext cx="8232196" cy="3869132"/>
          </a:xfrm>
          <a:custGeom>
            <a:rect b="b" l="l" r="r" t="t"/>
            <a:pathLst>
              <a:path extrusionOk="0" h="3869132" w="8232196">
                <a:moveTo>
                  <a:pt x="0" y="0"/>
                </a:moveTo>
                <a:lnTo>
                  <a:pt x="8232196" y="0"/>
                </a:lnTo>
                <a:lnTo>
                  <a:pt x="8232196" y="3869132"/>
                </a:lnTo>
                <a:lnTo>
                  <a:pt x="0" y="3869132"/>
                </a:lnTo>
                <a:lnTo>
                  <a:pt x="0" y="0"/>
                </a:lnTo>
                <a:close/>
              </a:path>
            </a:pathLst>
          </a:custGeom>
          <a:blipFill rotWithShape="1">
            <a:blip r:embed="rId3">
              <a:alphaModFix/>
            </a:blip>
            <a:stretch>
              <a:fillRect b="0" l="0" r="0" t="0"/>
            </a:stretch>
          </a:blipFill>
          <a:ln>
            <a:noFill/>
          </a:ln>
        </p:spPr>
      </p:sp>
      <p:sp>
        <p:nvSpPr>
          <p:cNvPr id="911" name="Google Shape;911;p44"/>
          <p:cNvSpPr txBox="1"/>
          <p:nvPr/>
        </p:nvSpPr>
        <p:spPr>
          <a:xfrm>
            <a:off x="939518" y="6780809"/>
            <a:ext cx="16039999" cy="2076935"/>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980" u="none" cap="none" strike="noStrike">
                <a:solidFill>
                  <a:srgbClr val="FFFFFF"/>
                </a:solidFill>
                <a:latin typeface="Montserrat"/>
                <a:ea typeface="Montserrat"/>
                <a:cs typeface="Montserrat"/>
                <a:sym typeface="Montserrat"/>
              </a:rPr>
              <a:t>Es un tipo de cable que tiene dos conductores eléctricos aislados y entrelazados para anular las interferencias de fuentes externas y diafonía (Perturbación electromagnética producida en un canal de comunicación por el acoplamiento de este con otro u otros vecinos.) de los cables.</a:t>
            </a:r>
            <a:endParaRPr/>
          </a:p>
        </p:txBody>
      </p:sp>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15" name="Shape 915"/>
        <p:cNvGrpSpPr/>
        <p:nvPr/>
      </p:nvGrpSpPr>
      <p:grpSpPr>
        <a:xfrm>
          <a:off x="0" y="0"/>
          <a:ext cx="0" cy="0"/>
          <a:chOff x="0" y="0"/>
          <a:chExt cx="0" cy="0"/>
        </a:xfrm>
      </p:grpSpPr>
      <p:sp>
        <p:nvSpPr>
          <p:cNvPr id="916" name="Google Shape;916;p45"/>
          <p:cNvSpPr/>
          <p:nvPr/>
        </p:nvSpPr>
        <p:spPr>
          <a:xfrm>
            <a:off x="7115754" y="962619"/>
            <a:ext cx="9861136" cy="8295681"/>
          </a:xfrm>
          <a:custGeom>
            <a:rect b="b" l="l" r="r" t="t"/>
            <a:pathLst>
              <a:path extrusionOk="0" h="8295681" w="9861136">
                <a:moveTo>
                  <a:pt x="0" y="0"/>
                </a:moveTo>
                <a:lnTo>
                  <a:pt x="9861136" y="0"/>
                </a:lnTo>
                <a:lnTo>
                  <a:pt x="9861136" y="8295681"/>
                </a:lnTo>
                <a:lnTo>
                  <a:pt x="0" y="8295681"/>
                </a:lnTo>
                <a:lnTo>
                  <a:pt x="0" y="0"/>
                </a:lnTo>
                <a:close/>
              </a:path>
            </a:pathLst>
          </a:custGeom>
          <a:blipFill rotWithShape="1">
            <a:blip r:embed="rId3">
              <a:alphaModFix/>
            </a:blip>
            <a:stretch>
              <a:fillRect b="0" l="0" r="0" t="0"/>
            </a:stretch>
          </a:blipFill>
          <a:ln>
            <a:noFill/>
          </a:ln>
        </p:spPr>
      </p:sp>
      <p:sp>
        <p:nvSpPr>
          <p:cNvPr id="917" name="Google Shape;917;p45"/>
          <p:cNvSpPr txBox="1"/>
          <p:nvPr/>
        </p:nvSpPr>
        <p:spPr>
          <a:xfrm>
            <a:off x="1561234" y="3574871"/>
            <a:ext cx="3097609" cy="262582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FFFFFF"/>
                </a:solidFill>
                <a:latin typeface="Montserrat"/>
                <a:ea typeface="Montserrat"/>
                <a:cs typeface="Montserrat"/>
                <a:sym typeface="Montserrat"/>
              </a:rPr>
              <a:t>Cable de</a:t>
            </a:r>
            <a:endParaRPr/>
          </a:p>
          <a:p>
            <a:pPr indent="0" lvl="0" marL="0" marR="0" rtl="0" algn="l">
              <a:lnSpc>
                <a:spcPct val="140000"/>
              </a:lnSpc>
              <a:spcBef>
                <a:spcPts val="0"/>
              </a:spcBef>
              <a:spcAft>
                <a:spcPts val="0"/>
              </a:spcAft>
              <a:buNone/>
            </a:pPr>
            <a:r>
              <a:rPr b="1" i="0" lang="en-US" sz="5000" u="none" cap="none" strike="noStrike">
                <a:solidFill>
                  <a:srgbClr val="FFFFFF"/>
                </a:solidFill>
                <a:latin typeface="Montserrat"/>
                <a:ea typeface="Montserrat"/>
                <a:cs typeface="Montserrat"/>
                <a:sym typeface="Montserrat"/>
              </a:rPr>
              <a:t>Par</a:t>
            </a:r>
            <a:endParaRPr/>
          </a:p>
          <a:p>
            <a:pPr indent="0" lvl="0" marL="0" marR="0" rtl="0" algn="l">
              <a:lnSpc>
                <a:spcPct val="140000"/>
              </a:lnSpc>
              <a:spcBef>
                <a:spcPts val="0"/>
              </a:spcBef>
              <a:spcAft>
                <a:spcPts val="0"/>
              </a:spcAft>
              <a:buNone/>
            </a:pPr>
            <a:r>
              <a:rPr b="1" i="0" lang="en-US" sz="5000" u="none" cap="none" strike="noStrike">
                <a:solidFill>
                  <a:srgbClr val="FFFFFF"/>
                </a:solidFill>
                <a:latin typeface="Montserrat"/>
                <a:ea typeface="Montserrat"/>
                <a:cs typeface="Montserrat"/>
                <a:sym typeface="Montserrat"/>
              </a:rPr>
              <a:t>Trenzado</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21" name="Shape 921"/>
        <p:cNvGrpSpPr/>
        <p:nvPr/>
      </p:nvGrpSpPr>
      <p:grpSpPr>
        <a:xfrm>
          <a:off x="0" y="0"/>
          <a:ext cx="0" cy="0"/>
          <a:chOff x="0" y="0"/>
          <a:chExt cx="0" cy="0"/>
        </a:xfrm>
      </p:grpSpPr>
      <p:sp>
        <p:nvSpPr>
          <p:cNvPr id="922" name="Google Shape;922;p46"/>
          <p:cNvSpPr/>
          <p:nvPr/>
        </p:nvSpPr>
        <p:spPr>
          <a:xfrm>
            <a:off x="4270167" y="5232682"/>
            <a:ext cx="9325537" cy="4662768"/>
          </a:xfrm>
          <a:custGeom>
            <a:rect b="b" l="l" r="r" t="t"/>
            <a:pathLst>
              <a:path extrusionOk="0" h="4662768" w="9325537">
                <a:moveTo>
                  <a:pt x="0" y="0"/>
                </a:moveTo>
                <a:lnTo>
                  <a:pt x="9325537" y="0"/>
                </a:lnTo>
                <a:lnTo>
                  <a:pt x="9325537" y="4662768"/>
                </a:lnTo>
                <a:lnTo>
                  <a:pt x="0" y="4662768"/>
                </a:lnTo>
                <a:lnTo>
                  <a:pt x="0" y="0"/>
                </a:lnTo>
                <a:close/>
              </a:path>
            </a:pathLst>
          </a:custGeom>
          <a:blipFill rotWithShape="1">
            <a:blip r:embed="rId3">
              <a:alphaModFix/>
            </a:blip>
            <a:stretch>
              <a:fillRect b="0" l="0" r="0" t="0"/>
            </a:stretch>
          </a:blipFill>
          <a:ln>
            <a:noFill/>
          </a:ln>
        </p:spPr>
      </p:sp>
      <p:sp>
        <p:nvSpPr>
          <p:cNvPr id="923" name="Google Shape;923;p46"/>
          <p:cNvSpPr txBox="1"/>
          <p:nvPr/>
        </p:nvSpPr>
        <p:spPr>
          <a:xfrm>
            <a:off x="906335" y="962025"/>
            <a:ext cx="10976571"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Copper Straight-Through (ST) - Cable de red directo:</a:t>
            </a:r>
            <a:endParaRPr/>
          </a:p>
        </p:txBody>
      </p:sp>
      <p:sp>
        <p:nvSpPr>
          <p:cNvPr id="924" name="Google Shape;924;p46"/>
          <p:cNvSpPr txBox="1"/>
          <p:nvPr/>
        </p:nvSpPr>
        <p:spPr>
          <a:xfrm>
            <a:off x="906335" y="1878817"/>
            <a:ext cx="16960923" cy="3144443"/>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Se utiliza para conectar dispositivos diferentes, como un ordenador a un switch o un router a un switch. </a:t>
            </a:r>
            <a:endParaRPr/>
          </a:p>
          <a:p>
            <a:pPr indent="0" lvl="0" marL="0" marR="0" rtl="0" algn="just">
              <a:lnSpc>
                <a:spcPct val="140015"/>
              </a:lnSpc>
              <a:spcBef>
                <a:spcPts val="0"/>
              </a:spcBef>
              <a:spcAft>
                <a:spcPts val="0"/>
              </a:spcAft>
              <a:buNone/>
            </a:pPr>
            <a:r>
              <a:t/>
            </a:r>
            <a:endParaRPr b="0" i="0" sz="2549"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En un cable ST, los pines en un extremo del cable están conectados de la misma manera que en el otro extremo. Por ejemplo, el pin 1 en un extremo está conectado al pin 1 en el otro extremo.</a:t>
            </a:r>
            <a:endParaRPr/>
          </a:p>
          <a:p>
            <a:pPr indent="0" lvl="0" marL="0" marR="0" rtl="0" algn="just">
              <a:lnSpc>
                <a:spcPct val="140015"/>
              </a:lnSpc>
              <a:spcBef>
                <a:spcPts val="0"/>
              </a:spcBef>
              <a:spcAft>
                <a:spcPts val="0"/>
              </a:spcAft>
              <a:buNone/>
            </a:pPr>
            <a:r>
              <a:t/>
            </a:r>
            <a:endParaRPr b="0" i="0" sz="2549"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En resumen, el cable ST se usa para conectar dispositivos diferentes y mantener la secuencia de pines igual en ambos extremos.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28" name="Shape 928"/>
        <p:cNvGrpSpPr/>
        <p:nvPr/>
      </p:nvGrpSpPr>
      <p:grpSpPr>
        <a:xfrm>
          <a:off x="0" y="0"/>
          <a:ext cx="0" cy="0"/>
          <a:chOff x="0" y="0"/>
          <a:chExt cx="0" cy="0"/>
        </a:xfrm>
      </p:grpSpPr>
      <p:sp>
        <p:nvSpPr>
          <p:cNvPr id="929" name="Google Shape;929;p47"/>
          <p:cNvSpPr/>
          <p:nvPr/>
        </p:nvSpPr>
        <p:spPr>
          <a:xfrm>
            <a:off x="4796342" y="5397218"/>
            <a:ext cx="8695317" cy="4347658"/>
          </a:xfrm>
          <a:custGeom>
            <a:rect b="b" l="l" r="r" t="t"/>
            <a:pathLst>
              <a:path extrusionOk="0" h="4347658" w="8695317">
                <a:moveTo>
                  <a:pt x="0" y="0"/>
                </a:moveTo>
                <a:lnTo>
                  <a:pt x="8695316" y="0"/>
                </a:lnTo>
                <a:lnTo>
                  <a:pt x="8695316" y="4347658"/>
                </a:lnTo>
                <a:lnTo>
                  <a:pt x="0" y="4347658"/>
                </a:lnTo>
                <a:lnTo>
                  <a:pt x="0" y="0"/>
                </a:lnTo>
                <a:close/>
              </a:path>
            </a:pathLst>
          </a:custGeom>
          <a:blipFill rotWithShape="1">
            <a:blip r:embed="rId3">
              <a:alphaModFix/>
            </a:blip>
            <a:stretch>
              <a:fillRect b="0" l="0" r="0" t="0"/>
            </a:stretch>
          </a:blipFill>
          <a:ln>
            <a:noFill/>
          </a:ln>
        </p:spPr>
      </p:sp>
      <p:sp>
        <p:nvSpPr>
          <p:cNvPr id="930" name="Google Shape;930;p47"/>
          <p:cNvSpPr txBox="1"/>
          <p:nvPr/>
        </p:nvSpPr>
        <p:spPr>
          <a:xfrm>
            <a:off x="663538" y="740170"/>
            <a:ext cx="9727076"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Copper Crossover (CO) - Cable de red cruzado:</a:t>
            </a:r>
            <a:endParaRPr/>
          </a:p>
        </p:txBody>
      </p:sp>
      <p:sp>
        <p:nvSpPr>
          <p:cNvPr id="931" name="Google Shape;931;p47"/>
          <p:cNvSpPr txBox="1"/>
          <p:nvPr/>
        </p:nvSpPr>
        <p:spPr>
          <a:xfrm>
            <a:off x="663538" y="1579493"/>
            <a:ext cx="16960923" cy="3564007"/>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Se utiliza para conectar dispositivos iguales, como dos computadoras, o dos switches entre sí, sin necesidad de un dispositivo intermediario como un switch.</a:t>
            </a:r>
            <a:endParaRPr/>
          </a:p>
          <a:p>
            <a:pPr indent="0" lvl="0" marL="0" marR="0" rtl="0" algn="just">
              <a:lnSpc>
                <a:spcPct val="140015"/>
              </a:lnSpc>
              <a:spcBef>
                <a:spcPts val="0"/>
              </a:spcBef>
              <a:spcAft>
                <a:spcPts val="0"/>
              </a:spcAft>
              <a:buNone/>
            </a:pPr>
            <a:r>
              <a:t/>
            </a:r>
            <a:endParaRPr b="0" i="0" sz="2549"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En un cable CO, los pines están cruzados, es decir, el pin 1 en un extremo está conectado al pin 3 en el otro extremo, y viceversa. Esto permite que los dispositivos iguales puedan comunicarse correctamente.</a:t>
            </a:r>
            <a:endParaRPr/>
          </a:p>
          <a:p>
            <a:pPr indent="0" lvl="0" marL="0" marR="0" rtl="0" algn="just">
              <a:lnSpc>
                <a:spcPct val="140015"/>
              </a:lnSpc>
              <a:spcBef>
                <a:spcPts val="0"/>
              </a:spcBef>
              <a:spcAft>
                <a:spcPts val="0"/>
              </a:spcAft>
              <a:buNone/>
            </a:pPr>
            <a:r>
              <a:t/>
            </a:r>
            <a:endParaRPr b="0" i="0" sz="2549"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En resumen, el cable CO se usa para conectar dispositivos iguales y cruzar la</a:t>
            </a:r>
            <a:endParaRPr/>
          </a:p>
          <a:p>
            <a:pPr indent="0" lvl="0" marL="0" marR="0" rtl="0" algn="just">
              <a:lnSpc>
                <a:spcPct val="140015"/>
              </a:lnSpc>
              <a:spcBef>
                <a:spcPts val="0"/>
              </a:spcBef>
              <a:spcAft>
                <a:spcPts val="0"/>
              </a:spcAft>
              <a:buNone/>
            </a:pPr>
            <a:r>
              <a:rPr b="0" i="0" lang="en-US" sz="2549" u="none" cap="none" strike="noStrike">
                <a:solidFill>
                  <a:srgbClr val="FFFFFF"/>
                </a:solidFill>
                <a:latin typeface="Montserrat"/>
                <a:ea typeface="Montserrat"/>
                <a:cs typeface="Montserrat"/>
                <a:sym typeface="Montserrat"/>
              </a:rPr>
              <a:t>secuencia de pines para que puedan comunicarse directamente.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35" name="Shape 935"/>
        <p:cNvGrpSpPr/>
        <p:nvPr/>
      </p:nvGrpSpPr>
      <p:grpSpPr>
        <a:xfrm>
          <a:off x="0" y="0"/>
          <a:ext cx="0" cy="0"/>
          <a:chOff x="0" y="0"/>
          <a:chExt cx="0" cy="0"/>
        </a:xfrm>
      </p:grpSpPr>
      <p:sp>
        <p:nvSpPr>
          <p:cNvPr id="936" name="Google Shape;936;p48"/>
          <p:cNvSpPr txBox="1"/>
          <p:nvPr/>
        </p:nvSpPr>
        <p:spPr>
          <a:xfrm>
            <a:off x="827286" y="981075"/>
            <a:ext cx="8117748" cy="4388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Serial DCE (Data Communications Equipment):</a:t>
            </a:r>
            <a:endParaRPr/>
          </a:p>
        </p:txBody>
      </p:sp>
      <p:sp>
        <p:nvSpPr>
          <p:cNvPr id="937" name="Google Shape;937;p48"/>
          <p:cNvSpPr txBox="1"/>
          <p:nvPr/>
        </p:nvSpPr>
        <p:spPr>
          <a:xfrm>
            <a:off x="827286" y="1626029"/>
            <a:ext cx="16687803" cy="2267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Este tipo de cable se utiliza para conectar un dispositivo que actúa como equipo de comunicaciones de datos (DCE). Los dispositivos DCE son aquellos que proporcionan reloj de sincronización a la línea de comunicación.</a:t>
            </a:r>
            <a:endParaRPr/>
          </a:p>
          <a:p>
            <a:pPr indent="0" lvl="0" marL="0" marR="0" rtl="0" algn="l">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En el contexto de Packet Tracer, un router podría ser un ejemplo de un dispositivo DCE. Los routers suelen generar la señal de reloj y actúan como el equipo de comunicaciones de datos.</a:t>
            </a:r>
            <a:endParaRPr/>
          </a:p>
        </p:txBody>
      </p:sp>
      <p:sp>
        <p:nvSpPr>
          <p:cNvPr id="938" name="Google Shape;938;p48"/>
          <p:cNvSpPr txBox="1"/>
          <p:nvPr/>
        </p:nvSpPr>
        <p:spPr>
          <a:xfrm>
            <a:off x="827286" y="5291070"/>
            <a:ext cx="6644349" cy="4388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FFFFFF"/>
                </a:solidFill>
                <a:latin typeface="Montserrat"/>
                <a:ea typeface="Montserrat"/>
                <a:cs typeface="Montserrat"/>
                <a:sym typeface="Montserrat"/>
              </a:rPr>
              <a:t>Serial DTE (Data Terminal Equipment):</a:t>
            </a:r>
            <a:endParaRPr/>
          </a:p>
        </p:txBody>
      </p:sp>
      <p:sp>
        <p:nvSpPr>
          <p:cNvPr id="939" name="Google Shape;939;p48"/>
          <p:cNvSpPr txBox="1"/>
          <p:nvPr/>
        </p:nvSpPr>
        <p:spPr>
          <a:xfrm>
            <a:off x="827286" y="5939438"/>
            <a:ext cx="16432014" cy="2724983"/>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Este tipo de cable se utiliza para conectar un dispositivo que actúa como terminal de equipos de datos (DTE). Los dispositivos DTE son aquellos que utilizan el reloj proporcionado por el DCE para sincronizar la comunicación.</a:t>
            </a:r>
            <a:endParaRPr/>
          </a:p>
          <a:p>
            <a:pPr indent="0" lvl="0" marL="0" marR="0" rtl="0" algn="just">
              <a:lnSpc>
                <a:spcPct val="140000"/>
              </a:lnSpc>
              <a:spcBef>
                <a:spcPts val="0"/>
              </a:spcBef>
              <a:spcAft>
                <a:spcPts val="0"/>
              </a:spcAft>
              <a:buNone/>
            </a:pPr>
            <a:r>
              <a:rPr b="0" i="0" lang="en-US" sz="2600" u="none" cap="none" strike="noStrike">
                <a:solidFill>
                  <a:srgbClr val="FFFFFF"/>
                </a:solidFill>
                <a:latin typeface="Montserrat"/>
                <a:ea typeface="Montserrat"/>
                <a:cs typeface="Montserrat"/>
                <a:sym typeface="Montserrat"/>
              </a:rPr>
              <a:t>En Packet Tracer, un ordenador o un switch podrían ser ejemplos de dispositivos DTE. Estos dispositivos normalmente se sincronizan con el reloj proporcionado por el DCE para garantizar una comunicación eficiente.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43" name="Shape 943"/>
        <p:cNvGrpSpPr/>
        <p:nvPr/>
      </p:nvGrpSpPr>
      <p:grpSpPr>
        <a:xfrm>
          <a:off x="0" y="0"/>
          <a:ext cx="0" cy="0"/>
          <a:chOff x="0" y="0"/>
          <a:chExt cx="0" cy="0"/>
        </a:xfrm>
      </p:grpSpPr>
      <p:sp>
        <p:nvSpPr>
          <p:cNvPr id="944" name="Google Shape;944;p49"/>
          <p:cNvSpPr/>
          <p:nvPr/>
        </p:nvSpPr>
        <p:spPr>
          <a:xfrm>
            <a:off x="2542095" y="1965021"/>
            <a:ext cx="12493176" cy="7027411"/>
          </a:xfrm>
          <a:custGeom>
            <a:rect b="b" l="l" r="r" t="t"/>
            <a:pathLst>
              <a:path extrusionOk="0" h="7027411" w="12493176">
                <a:moveTo>
                  <a:pt x="0" y="0"/>
                </a:moveTo>
                <a:lnTo>
                  <a:pt x="12493176" y="0"/>
                </a:lnTo>
                <a:lnTo>
                  <a:pt x="12493176" y="7027411"/>
                </a:lnTo>
                <a:lnTo>
                  <a:pt x="0" y="7027411"/>
                </a:lnTo>
                <a:lnTo>
                  <a:pt x="0" y="0"/>
                </a:lnTo>
                <a:close/>
              </a:path>
            </a:pathLst>
          </a:custGeom>
          <a:blipFill rotWithShape="1">
            <a:blip r:embed="rId3">
              <a:alphaModFix/>
            </a:blip>
            <a:stretch>
              <a:fillRect b="0" l="0" r="0" t="0"/>
            </a:stretch>
          </a:blipFill>
          <a:ln>
            <a:noFill/>
          </a:ln>
        </p:spPr>
      </p:sp>
      <p:sp>
        <p:nvSpPr>
          <p:cNvPr id="945" name="Google Shape;945;p49"/>
          <p:cNvSpPr txBox="1"/>
          <p:nvPr/>
        </p:nvSpPr>
        <p:spPr>
          <a:xfrm>
            <a:off x="1028700" y="971550"/>
            <a:ext cx="7369308" cy="51441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000" u="none" cap="none" strike="noStrike">
                <a:solidFill>
                  <a:srgbClr val="FFFFFF"/>
                </a:solidFill>
                <a:latin typeface="Montserrat"/>
                <a:ea typeface="Montserrat"/>
                <a:cs typeface="Montserrat"/>
                <a:sym typeface="Montserrat"/>
              </a:rPr>
              <a:t>Categorías de Cable de Par Trenzado</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49" name="Shape 949"/>
        <p:cNvGrpSpPr/>
        <p:nvPr/>
      </p:nvGrpSpPr>
      <p:grpSpPr>
        <a:xfrm>
          <a:off x="0" y="0"/>
          <a:ext cx="0" cy="0"/>
          <a:chOff x="0" y="0"/>
          <a:chExt cx="0" cy="0"/>
        </a:xfrm>
      </p:grpSpPr>
      <p:sp>
        <p:nvSpPr>
          <p:cNvPr id="950" name="Google Shape;950;p50"/>
          <p:cNvSpPr txBox="1"/>
          <p:nvPr/>
        </p:nvSpPr>
        <p:spPr>
          <a:xfrm>
            <a:off x="735376" y="675990"/>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753" u="none" cap="none" strike="noStrike">
                <a:solidFill>
                  <a:srgbClr val="FFFFFF"/>
                </a:solidFill>
                <a:latin typeface="Montserrat"/>
                <a:ea typeface="Montserrat"/>
                <a:cs typeface="Montserrat"/>
                <a:sym typeface="Montserrat"/>
              </a:rPr>
              <a:t>Categorías de Cable de Par Trenzado</a:t>
            </a:r>
            <a:endParaRPr/>
          </a:p>
        </p:txBody>
      </p:sp>
      <p:sp>
        <p:nvSpPr>
          <p:cNvPr id="951" name="Google Shape;951;p50"/>
          <p:cNvSpPr txBox="1"/>
          <p:nvPr/>
        </p:nvSpPr>
        <p:spPr>
          <a:xfrm>
            <a:off x="1364546" y="2320311"/>
            <a:ext cx="2708108" cy="546896"/>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1" i="0" lang="en-US" sz="3218" u="none" cap="none" strike="noStrike">
                <a:solidFill>
                  <a:srgbClr val="FFFFFF"/>
                </a:solidFill>
                <a:latin typeface="Montserrat"/>
                <a:ea typeface="Montserrat"/>
                <a:cs typeface="Montserrat"/>
                <a:sym typeface="Montserrat"/>
              </a:rPr>
              <a:t>Categoría 1</a:t>
            </a:r>
            <a:endParaRPr/>
          </a:p>
        </p:txBody>
      </p:sp>
      <p:sp>
        <p:nvSpPr>
          <p:cNvPr id="952" name="Google Shape;952;p50"/>
          <p:cNvSpPr txBox="1"/>
          <p:nvPr/>
        </p:nvSpPr>
        <p:spPr>
          <a:xfrm>
            <a:off x="1455754" y="3010082"/>
            <a:ext cx="16139392" cy="1063159"/>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0" i="0" lang="en-US" sz="3051" u="none" cap="none" strike="noStrike">
                <a:solidFill>
                  <a:srgbClr val="FFFFFF"/>
                </a:solidFill>
                <a:latin typeface="Montserrat"/>
                <a:ea typeface="Montserrat"/>
                <a:cs typeface="Montserrat"/>
                <a:sym typeface="Montserrat"/>
              </a:rPr>
              <a:t>El cable CAT 1 o categoría 1, es el más adecuado para las comunicaciones telefónicas. No es adecuado para transmitir datos o para trabajarlos en una red.</a:t>
            </a:r>
            <a:endParaRPr/>
          </a:p>
        </p:txBody>
      </p:sp>
      <p:sp>
        <p:nvSpPr>
          <p:cNvPr id="953" name="Google Shape;953;p50"/>
          <p:cNvSpPr txBox="1"/>
          <p:nvPr/>
        </p:nvSpPr>
        <p:spPr>
          <a:xfrm>
            <a:off x="1364546" y="4831389"/>
            <a:ext cx="2748931" cy="546896"/>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1" i="0" lang="en-US" sz="3218" u="none" cap="none" strike="noStrike">
                <a:solidFill>
                  <a:srgbClr val="FFFFFF"/>
                </a:solidFill>
                <a:latin typeface="Montserrat"/>
                <a:ea typeface="Montserrat"/>
                <a:cs typeface="Montserrat"/>
                <a:sym typeface="Montserrat"/>
              </a:rPr>
              <a:t>Categoría 2</a:t>
            </a:r>
            <a:endParaRPr/>
          </a:p>
        </p:txBody>
      </p:sp>
      <p:sp>
        <p:nvSpPr>
          <p:cNvPr id="954" name="Google Shape;954;p50"/>
          <p:cNvSpPr txBox="1"/>
          <p:nvPr/>
        </p:nvSpPr>
        <p:spPr>
          <a:xfrm>
            <a:off x="1417546" y="5521160"/>
            <a:ext cx="15983679" cy="3180054"/>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0" i="0" lang="en-US" sz="3051" u="none" cap="none" strike="noStrike">
                <a:solidFill>
                  <a:srgbClr val="FFFFFF"/>
                </a:solidFill>
                <a:latin typeface="Montserrat"/>
                <a:ea typeface="Montserrat"/>
                <a:cs typeface="Montserrat"/>
                <a:sym typeface="Montserrat"/>
              </a:rPr>
              <a:t>El cable categoría 2, o CAT 2, es capaz de transmitir datos de hasta 4 Mbps. Se trata de cable nivel 2 y se usó en las redes ARCnet (arco de red) y Token Ring (configuración de anillo) hace algún tiempo.</a:t>
            </a:r>
            <a:endParaRPr/>
          </a:p>
          <a:p>
            <a:pPr indent="0" lvl="0" marL="0" marR="0" rtl="0" algn="just">
              <a:lnSpc>
                <a:spcPct val="139986"/>
              </a:lnSpc>
              <a:spcBef>
                <a:spcPts val="0"/>
              </a:spcBef>
              <a:spcAft>
                <a:spcPts val="0"/>
              </a:spcAft>
              <a:buNone/>
            </a:pPr>
            <a:r>
              <a:t/>
            </a:r>
            <a:endParaRPr b="0" i="0" sz="3051" u="none" cap="none" strike="noStrike">
              <a:solidFill>
                <a:srgbClr val="FFFFFF"/>
              </a:solidFill>
              <a:latin typeface="Montserrat"/>
              <a:ea typeface="Montserrat"/>
              <a:cs typeface="Montserrat"/>
              <a:sym typeface="Montserrat"/>
            </a:endParaRPr>
          </a:p>
          <a:p>
            <a:pPr indent="0" lvl="0" marL="0" marR="0" rtl="0" algn="just">
              <a:lnSpc>
                <a:spcPct val="139986"/>
              </a:lnSpc>
              <a:spcBef>
                <a:spcPts val="0"/>
              </a:spcBef>
              <a:spcAft>
                <a:spcPts val="0"/>
              </a:spcAft>
              <a:buNone/>
            </a:pPr>
            <a:r>
              <a:rPr b="0" i="0" lang="en-US" sz="3051" u="none" cap="none" strike="noStrike">
                <a:solidFill>
                  <a:srgbClr val="FFFFFF"/>
                </a:solidFill>
                <a:latin typeface="Montserrat"/>
                <a:ea typeface="Montserrat"/>
                <a:cs typeface="Montserrat"/>
                <a:sym typeface="Montserrat"/>
              </a:rPr>
              <a:t>El CAT 2 al igual que el CAT 1, no es adecuado para la transmisión de datos en una red.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58" name="Shape 958"/>
        <p:cNvGrpSpPr/>
        <p:nvPr/>
      </p:nvGrpSpPr>
      <p:grpSpPr>
        <a:xfrm>
          <a:off x="0" y="0"/>
          <a:ext cx="0" cy="0"/>
          <a:chOff x="0" y="0"/>
          <a:chExt cx="0" cy="0"/>
        </a:xfrm>
      </p:grpSpPr>
      <p:sp>
        <p:nvSpPr>
          <p:cNvPr id="959" name="Google Shape;959;p51"/>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753" u="none" cap="none" strike="noStrike">
                <a:solidFill>
                  <a:srgbClr val="FFFFFF"/>
                </a:solidFill>
                <a:latin typeface="Montserrat"/>
                <a:ea typeface="Montserrat"/>
                <a:cs typeface="Montserrat"/>
                <a:sym typeface="Montserrat"/>
              </a:rPr>
              <a:t>Categorías de Cable de Par Trenzado</a:t>
            </a:r>
            <a:endParaRPr/>
          </a:p>
        </p:txBody>
      </p:sp>
      <p:sp>
        <p:nvSpPr>
          <p:cNvPr id="960" name="Google Shape;960;p51"/>
          <p:cNvSpPr txBox="1"/>
          <p:nvPr/>
        </p:nvSpPr>
        <p:spPr>
          <a:xfrm>
            <a:off x="1028700" y="2166957"/>
            <a:ext cx="2408535"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3</a:t>
            </a:r>
            <a:endParaRPr/>
          </a:p>
        </p:txBody>
      </p:sp>
      <p:sp>
        <p:nvSpPr>
          <p:cNvPr id="961" name="Google Shape;961;p51"/>
          <p:cNvSpPr txBox="1"/>
          <p:nvPr/>
        </p:nvSpPr>
        <p:spPr>
          <a:xfrm>
            <a:off x="1028700" y="3150319"/>
            <a:ext cx="16624797" cy="223396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El cable categoría 3, o CAT 3, es un par trenzado, sin blindar, capaz de llevar a la creación de redes 100BASE-T y puede ayudar a la transmisión de datos de hasta 16MHz con una velocidad de hasta 10 Mbps. No se recomienda su uso con las instalaciones nuevas de redes.</a:t>
            </a:r>
            <a:endParaRPr/>
          </a:p>
        </p:txBody>
      </p:sp>
      <p:sp>
        <p:nvSpPr>
          <p:cNvPr id="962" name="Google Shape;962;p51"/>
          <p:cNvSpPr txBox="1"/>
          <p:nvPr/>
        </p:nvSpPr>
        <p:spPr>
          <a:xfrm>
            <a:off x="1028700" y="5822429"/>
            <a:ext cx="2447561"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4</a:t>
            </a:r>
            <a:endParaRPr/>
          </a:p>
        </p:txBody>
      </p:sp>
      <p:sp>
        <p:nvSpPr>
          <p:cNvPr id="963" name="Google Shape;963;p51"/>
          <p:cNvSpPr txBox="1"/>
          <p:nvPr/>
        </p:nvSpPr>
        <p:spPr>
          <a:xfrm>
            <a:off x="1028700" y="6808813"/>
            <a:ext cx="16873913" cy="223396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El cable categoría 4, o CAT 4, es un par trenzado sin blindar que soporta transmisiones de hasta 20MHz. Es confiable para la transmisión de datos por encima del CAT 3 y puede llegar a transmitir hasta 16 Mbps. Se utiliza sobre todo en las redes Token Ring.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67" name="Shape 967"/>
        <p:cNvGrpSpPr/>
        <p:nvPr/>
      </p:nvGrpSpPr>
      <p:grpSpPr>
        <a:xfrm>
          <a:off x="0" y="0"/>
          <a:ext cx="0" cy="0"/>
          <a:chOff x="0" y="0"/>
          <a:chExt cx="0" cy="0"/>
        </a:xfrm>
      </p:grpSpPr>
      <p:sp>
        <p:nvSpPr>
          <p:cNvPr id="968" name="Google Shape;968;p52"/>
          <p:cNvSpPr txBox="1"/>
          <p:nvPr/>
        </p:nvSpPr>
        <p:spPr>
          <a:xfrm>
            <a:off x="1028700" y="2136152"/>
            <a:ext cx="2409693"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5</a:t>
            </a:r>
            <a:endParaRPr/>
          </a:p>
        </p:txBody>
      </p:sp>
      <p:sp>
        <p:nvSpPr>
          <p:cNvPr id="969" name="Google Shape;969;p52"/>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753" u="none" cap="none" strike="noStrike">
                <a:solidFill>
                  <a:srgbClr val="FFFFFF"/>
                </a:solidFill>
                <a:latin typeface="Montserrat"/>
                <a:ea typeface="Montserrat"/>
                <a:cs typeface="Montserrat"/>
                <a:sym typeface="Montserrat"/>
              </a:rPr>
              <a:t>Categorías de Cable de Par Trenzado</a:t>
            </a:r>
            <a:endParaRPr/>
          </a:p>
        </p:txBody>
      </p:sp>
      <p:sp>
        <p:nvSpPr>
          <p:cNvPr id="970" name="Google Shape;970;p52"/>
          <p:cNvSpPr txBox="1"/>
          <p:nvPr/>
        </p:nvSpPr>
        <p:spPr>
          <a:xfrm>
            <a:off x="1028700" y="2827261"/>
            <a:ext cx="16230600" cy="1110143"/>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El cable categoría 5, o CAT 5, ayuda a la transmisión de hasta 100 MHz con velocidades de hasta 1000 Mbps.</a:t>
            </a:r>
            <a:endParaRPr/>
          </a:p>
        </p:txBody>
      </p:sp>
      <p:sp>
        <p:nvSpPr>
          <p:cNvPr id="971" name="Google Shape;971;p52"/>
          <p:cNvSpPr txBox="1"/>
          <p:nvPr/>
        </p:nvSpPr>
        <p:spPr>
          <a:xfrm>
            <a:off x="1028700" y="4080278"/>
            <a:ext cx="16230600" cy="1672051"/>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Es un cable UTP muy común y adecuado para el rendimiento 100BASE T. Estos cables se utilizan para la conexión de computadoras conectadas a redes de área local.</a:t>
            </a:r>
            <a:endParaRPr/>
          </a:p>
        </p:txBody>
      </p:sp>
      <p:sp>
        <p:nvSpPr>
          <p:cNvPr id="972" name="Google Shape;972;p52"/>
          <p:cNvSpPr txBox="1"/>
          <p:nvPr/>
        </p:nvSpPr>
        <p:spPr>
          <a:xfrm>
            <a:off x="1028700" y="6298613"/>
            <a:ext cx="2663197"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5e</a:t>
            </a:r>
            <a:endParaRPr/>
          </a:p>
        </p:txBody>
      </p:sp>
      <p:sp>
        <p:nvSpPr>
          <p:cNvPr id="973" name="Google Shape;973;p52"/>
          <p:cNvSpPr txBox="1"/>
          <p:nvPr/>
        </p:nvSpPr>
        <p:spPr>
          <a:xfrm>
            <a:off x="1028700" y="7024340"/>
            <a:ext cx="16230600" cy="2234225"/>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El cable categoría 5e o CAT 5e, es una versión mejorada sobre el de nivel 5. Sus características son similares al CAT 5 y es compatible con transmisión de hasta 10MHz. Es más adecuado para operaciones con Gigabit Ethernet y es una excelente opción para red 1000BASE 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77" name="Shape 977"/>
        <p:cNvGrpSpPr/>
        <p:nvPr/>
      </p:nvGrpSpPr>
      <p:grpSpPr>
        <a:xfrm>
          <a:off x="0" y="0"/>
          <a:ext cx="0" cy="0"/>
          <a:chOff x="0" y="0"/>
          <a:chExt cx="0" cy="0"/>
        </a:xfrm>
      </p:grpSpPr>
      <p:sp>
        <p:nvSpPr>
          <p:cNvPr id="978" name="Google Shape;978;p53"/>
          <p:cNvSpPr txBox="1"/>
          <p:nvPr/>
        </p:nvSpPr>
        <p:spPr>
          <a:xfrm>
            <a:off x="1028700" y="3156817"/>
            <a:ext cx="2426560"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6</a:t>
            </a:r>
            <a:endParaRPr/>
          </a:p>
        </p:txBody>
      </p:sp>
      <p:sp>
        <p:nvSpPr>
          <p:cNvPr id="979" name="Google Shape;979;p53"/>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753" u="none" cap="none" strike="noStrike">
                <a:solidFill>
                  <a:srgbClr val="FFFFFF"/>
                </a:solidFill>
                <a:latin typeface="Montserrat"/>
                <a:ea typeface="Montserrat"/>
                <a:cs typeface="Montserrat"/>
                <a:sym typeface="Montserrat"/>
              </a:rPr>
              <a:t>Categorías de Cable de Par Trenzado</a:t>
            </a:r>
            <a:endParaRPr/>
          </a:p>
        </p:txBody>
      </p:sp>
      <p:sp>
        <p:nvSpPr>
          <p:cNvPr id="980" name="Google Shape;980;p53"/>
          <p:cNvSpPr txBox="1"/>
          <p:nvPr/>
        </p:nvSpPr>
        <p:spPr>
          <a:xfrm>
            <a:off x="1028700" y="4274137"/>
            <a:ext cx="16089484" cy="1672051"/>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El cable Categoría 6, o CAT 6, es una propuesta de par trenzado sin blindar que puede soportar hasta 250 MHz de transmisión. Este cable con alambres de cobre puede soportar velocidades de 1 GB.</a:t>
            </a:r>
            <a:endParaRPr/>
          </a:p>
        </p:txBody>
      </p:sp>
      <p:sp>
        <p:nvSpPr>
          <p:cNvPr id="981" name="Google Shape;981;p53"/>
          <p:cNvSpPr txBox="1"/>
          <p:nvPr/>
        </p:nvSpPr>
        <p:spPr>
          <a:xfrm>
            <a:off x="1028700" y="6220369"/>
            <a:ext cx="16089484" cy="1672051"/>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CAT 6 es compatible con el CAT 5e, CAT 6 y CAT 3. Es adecuado para redes 1000BASE T, 100BASE T y 10BASE T y posee estrictas reglas acerca del ruido del sistema y la diafonía.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85" name="Shape 985"/>
        <p:cNvGrpSpPr/>
        <p:nvPr/>
      </p:nvGrpSpPr>
      <p:grpSpPr>
        <a:xfrm>
          <a:off x="0" y="0"/>
          <a:ext cx="0" cy="0"/>
          <a:chOff x="0" y="0"/>
          <a:chExt cx="0" cy="0"/>
        </a:xfrm>
      </p:grpSpPr>
      <p:sp>
        <p:nvSpPr>
          <p:cNvPr id="986" name="Google Shape;986;p54"/>
          <p:cNvSpPr txBox="1"/>
          <p:nvPr/>
        </p:nvSpPr>
        <p:spPr>
          <a:xfrm>
            <a:off x="887291" y="2396746"/>
            <a:ext cx="2419780"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7</a:t>
            </a:r>
            <a:endParaRPr/>
          </a:p>
        </p:txBody>
      </p:sp>
      <p:sp>
        <p:nvSpPr>
          <p:cNvPr id="987" name="Google Shape;987;p54"/>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753" u="none" cap="none" strike="noStrike">
                <a:solidFill>
                  <a:srgbClr val="FFFFFF"/>
                </a:solidFill>
                <a:latin typeface="Montserrat"/>
                <a:ea typeface="Montserrat"/>
                <a:cs typeface="Montserrat"/>
                <a:sym typeface="Montserrat"/>
              </a:rPr>
              <a:t>Categorías de Cable de Par Trenzado</a:t>
            </a:r>
            <a:endParaRPr/>
          </a:p>
        </p:txBody>
      </p:sp>
      <p:sp>
        <p:nvSpPr>
          <p:cNvPr id="988" name="Google Shape;988;p54"/>
          <p:cNvSpPr txBox="1"/>
          <p:nvPr/>
        </p:nvSpPr>
        <p:spPr>
          <a:xfrm>
            <a:off x="1028700" y="3539193"/>
            <a:ext cx="15739157" cy="223396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El cable categoría 7, CAT 7, es otro proyecto de norma que admite la transmisión de hasta 600MHz. CAT 7 es un estándar Ethernet de cable de cobre 10G que mide más de 100 metros. Es compatible con CAT 5 y CAT 6 y tiene reglas más estrictas que CAT 6 sobre el ruido del sistema y la diafonía.</a:t>
            </a:r>
            <a:endParaRPr/>
          </a:p>
        </p:txBody>
      </p:sp>
      <p:sp>
        <p:nvSpPr>
          <p:cNvPr id="989" name="Google Shape;989;p54"/>
          <p:cNvSpPr txBox="1"/>
          <p:nvPr/>
        </p:nvSpPr>
        <p:spPr>
          <a:xfrm>
            <a:off x="1081369" y="6593492"/>
            <a:ext cx="2549591"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63" u="none" cap="none" strike="noStrike">
                <a:solidFill>
                  <a:srgbClr val="FFFFFF"/>
                </a:solidFill>
                <a:latin typeface="Montserrat"/>
                <a:ea typeface="Montserrat"/>
                <a:cs typeface="Montserrat"/>
                <a:sym typeface="Montserrat"/>
              </a:rPr>
              <a:t>Categoría 8 </a:t>
            </a:r>
            <a:endParaRPr/>
          </a:p>
        </p:txBody>
      </p:sp>
      <p:sp>
        <p:nvSpPr>
          <p:cNvPr id="990" name="Google Shape;990;p54"/>
          <p:cNvSpPr txBox="1"/>
          <p:nvPr/>
        </p:nvSpPr>
        <p:spPr>
          <a:xfrm>
            <a:off x="1079795" y="7431782"/>
            <a:ext cx="14628654" cy="54830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Redes de alta velocidad de hasta 40 Gbit/s y frecuencias hasta 2000 MHz</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94" name="Shape 994"/>
        <p:cNvGrpSpPr/>
        <p:nvPr/>
      </p:nvGrpSpPr>
      <p:grpSpPr>
        <a:xfrm>
          <a:off x="0" y="0"/>
          <a:ext cx="0" cy="0"/>
          <a:chOff x="0" y="0"/>
          <a:chExt cx="0" cy="0"/>
        </a:xfrm>
      </p:grpSpPr>
      <p:sp>
        <p:nvSpPr>
          <p:cNvPr id="995" name="Google Shape;995;p55"/>
          <p:cNvSpPr/>
          <p:nvPr/>
        </p:nvSpPr>
        <p:spPr>
          <a:xfrm>
            <a:off x="497927" y="2357434"/>
            <a:ext cx="8205436" cy="5383379"/>
          </a:xfrm>
          <a:custGeom>
            <a:rect b="b" l="l" r="r" t="t"/>
            <a:pathLst>
              <a:path extrusionOk="0" h="5383379" w="8205436">
                <a:moveTo>
                  <a:pt x="0" y="0"/>
                </a:moveTo>
                <a:lnTo>
                  <a:pt x="8205435" y="0"/>
                </a:lnTo>
                <a:lnTo>
                  <a:pt x="8205435" y="5383379"/>
                </a:lnTo>
                <a:lnTo>
                  <a:pt x="0" y="5383379"/>
                </a:lnTo>
                <a:lnTo>
                  <a:pt x="0" y="0"/>
                </a:lnTo>
                <a:close/>
              </a:path>
            </a:pathLst>
          </a:custGeom>
          <a:blipFill rotWithShape="1">
            <a:blip r:embed="rId3">
              <a:alphaModFix/>
            </a:blip>
            <a:stretch>
              <a:fillRect b="0" l="0" r="0" t="0"/>
            </a:stretch>
          </a:blipFill>
          <a:ln>
            <a:noFill/>
          </a:ln>
        </p:spPr>
      </p:sp>
      <p:sp>
        <p:nvSpPr>
          <p:cNvPr id="996" name="Google Shape;996;p55"/>
          <p:cNvSpPr txBox="1"/>
          <p:nvPr/>
        </p:nvSpPr>
        <p:spPr>
          <a:xfrm>
            <a:off x="630576" y="584240"/>
            <a:ext cx="4525486" cy="803194"/>
          </a:xfrm>
          <a:prstGeom prst="rect">
            <a:avLst/>
          </a:prstGeom>
          <a:noFill/>
          <a:ln>
            <a:noFill/>
          </a:ln>
        </p:spPr>
        <p:txBody>
          <a:bodyPr anchorCtr="0" anchor="t" bIns="0" lIns="0" spcFirstLastPara="1" rIns="0" wrap="square" tIns="0">
            <a:spAutoFit/>
          </a:bodyPr>
          <a:lstStyle/>
          <a:p>
            <a:pPr indent="0" lvl="0" marL="0" marR="0" rtl="0" algn="ctr">
              <a:lnSpc>
                <a:spcPct val="139995"/>
              </a:lnSpc>
              <a:spcBef>
                <a:spcPts val="0"/>
              </a:spcBef>
              <a:spcAft>
                <a:spcPts val="0"/>
              </a:spcAft>
              <a:buNone/>
            </a:pPr>
            <a:r>
              <a:rPr b="1" i="0" lang="en-US" sz="4753" u="none" cap="none" strike="noStrike">
                <a:solidFill>
                  <a:srgbClr val="FFFFFF"/>
                </a:solidFill>
                <a:latin typeface="Montserrat"/>
                <a:ea typeface="Montserrat"/>
                <a:cs typeface="Montserrat"/>
                <a:sym typeface="Montserrat"/>
              </a:rPr>
              <a:t>DATA CENTER</a:t>
            </a:r>
            <a:endParaRPr/>
          </a:p>
        </p:txBody>
      </p:sp>
      <p:sp>
        <p:nvSpPr>
          <p:cNvPr id="997" name="Google Shape;997;p55"/>
          <p:cNvSpPr txBox="1"/>
          <p:nvPr/>
        </p:nvSpPr>
        <p:spPr>
          <a:xfrm>
            <a:off x="9144000" y="1314583"/>
            <a:ext cx="8461346" cy="6749075"/>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Un Data Center es, tal y como su nombre</a:t>
            </a:r>
            <a:endParaRPr/>
          </a:p>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indica, un “centro de datos” o “Centro de</a:t>
            </a:r>
            <a:endParaRPr/>
          </a:p>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Proceso de Datos” (CPD). Esta definición</a:t>
            </a:r>
            <a:endParaRPr/>
          </a:p>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engloba las dependencias y los sistemas</a:t>
            </a:r>
            <a:endParaRPr/>
          </a:p>
          <a:p>
            <a:pPr indent="0" lvl="0" marL="0" marR="0" rtl="0" algn="just">
              <a:lnSpc>
                <a:spcPct val="139993"/>
              </a:lnSpc>
              <a:spcBef>
                <a:spcPts val="0"/>
              </a:spcBef>
              <a:spcAft>
                <a:spcPts val="0"/>
              </a:spcAft>
              <a:buNone/>
            </a:pPr>
            <a:r>
              <a:rPr b="0" i="0" lang="en-US" sz="3163" u="none" cap="none" strike="noStrike">
                <a:solidFill>
                  <a:srgbClr val="FFFFFF"/>
                </a:solidFill>
                <a:latin typeface="Montserrat"/>
                <a:ea typeface="Montserrat"/>
                <a:cs typeface="Montserrat"/>
                <a:sym typeface="Montserrat"/>
              </a:rPr>
              <a:t>asociados gracias a los cuales:</a:t>
            </a:r>
            <a:endParaRPr/>
          </a:p>
          <a:p>
            <a:pPr indent="-341488" lvl="1" marL="682977" marR="0" rtl="0" algn="just">
              <a:lnSpc>
                <a:spcPct val="139993"/>
              </a:lnSpc>
              <a:spcBef>
                <a:spcPts val="0"/>
              </a:spcBef>
              <a:spcAft>
                <a:spcPts val="0"/>
              </a:spcAft>
              <a:buClr>
                <a:srgbClr val="FFFFFF"/>
              </a:buClr>
              <a:buSzPts val="3163"/>
              <a:buFont typeface="Arial"/>
              <a:buChar char="•"/>
            </a:pPr>
            <a:r>
              <a:rPr b="0" i="0" lang="en-US" sz="3163" u="none" cap="none" strike="noStrike">
                <a:solidFill>
                  <a:srgbClr val="FFFFFF"/>
                </a:solidFill>
                <a:latin typeface="Montserrat"/>
                <a:ea typeface="Montserrat"/>
                <a:cs typeface="Montserrat"/>
                <a:sym typeface="Montserrat"/>
              </a:rPr>
              <a:t>Los datos son almacenados, tratados y distribuidos al personal o procesos autorizados para consultarlos y/o modificarlos.</a:t>
            </a:r>
            <a:endParaRPr/>
          </a:p>
          <a:p>
            <a:pPr indent="-341488" lvl="1" marL="682977" marR="0" rtl="0" algn="just">
              <a:lnSpc>
                <a:spcPct val="139993"/>
              </a:lnSpc>
              <a:spcBef>
                <a:spcPts val="0"/>
              </a:spcBef>
              <a:spcAft>
                <a:spcPts val="0"/>
              </a:spcAft>
              <a:buClr>
                <a:srgbClr val="FFFFFF"/>
              </a:buClr>
              <a:buSzPts val="3163"/>
              <a:buFont typeface="Arial"/>
              <a:buChar char="•"/>
            </a:pPr>
            <a:r>
              <a:rPr b="0" i="0" lang="en-US" sz="3163" u="none" cap="none" strike="noStrike">
                <a:solidFill>
                  <a:srgbClr val="FFFFFF"/>
                </a:solidFill>
                <a:latin typeface="Montserrat"/>
                <a:ea typeface="Montserrat"/>
                <a:cs typeface="Montserrat"/>
                <a:sym typeface="Montserrat"/>
              </a:rPr>
              <a:t>Los servidores en los que se albergan estos datos se mantienen en un entorno de funcionamiento óptimo.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01" name="Shape 1001"/>
        <p:cNvGrpSpPr/>
        <p:nvPr/>
      </p:nvGrpSpPr>
      <p:grpSpPr>
        <a:xfrm>
          <a:off x="0" y="0"/>
          <a:ext cx="0" cy="0"/>
          <a:chOff x="0" y="0"/>
          <a:chExt cx="0" cy="0"/>
        </a:xfrm>
      </p:grpSpPr>
      <p:grpSp>
        <p:nvGrpSpPr>
          <p:cNvPr id="1002" name="Google Shape;1002;p56"/>
          <p:cNvGrpSpPr/>
          <p:nvPr/>
        </p:nvGrpSpPr>
        <p:grpSpPr>
          <a:xfrm>
            <a:off x="1894444" y="527357"/>
            <a:ext cx="14499051" cy="2154982"/>
            <a:chOff x="0" y="-157626"/>
            <a:chExt cx="19332068" cy="2873309"/>
          </a:xfrm>
        </p:grpSpPr>
        <p:cxnSp>
          <p:nvCxnSpPr>
            <p:cNvPr id="1003" name="Google Shape;1003;p5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1004" name="Google Shape;1004;p56"/>
            <p:cNvGrpSpPr/>
            <p:nvPr/>
          </p:nvGrpSpPr>
          <p:grpSpPr>
            <a:xfrm>
              <a:off x="0" y="0"/>
              <a:ext cx="2715683" cy="2715683"/>
              <a:chOff x="0" y="0"/>
              <a:chExt cx="812800" cy="812800"/>
            </a:xfrm>
          </p:grpSpPr>
          <p:sp>
            <p:nvSpPr>
              <p:cNvPr id="1005" name="Google Shape;1005;p5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7" name="Google Shape;1007;p56"/>
            <p:cNvGrpSpPr/>
            <p:nvPr/>
          </p:nvGrpSpPr>
          <p:grpSpPr>
            <a:xfrm>
              <a:off x="150744" y="-157626"/>
              <a:ext cx="2603039" cy="2786065"/>
              <a:chOff x="0" y="-57150"/>
              <a:chExt cx="812800" cy="869950"/>
            </a:xfrm>
          </p:grpSpPr>
          <p:sp>
            <p:nvSpPr>
              <p:cNvPr id="1008" name="Google Shape;1008;p5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10" name="Google Shape;1010;p5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1011" name="Google Shape;1011;p5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1012" name="Google Shape;1012;p5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1013" name="Google Shape;1013;p5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1014" name="Google Shape;1014;p5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1015" name="Google Shape;1015;p5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1016" name="Google Shape;1016;p56"/>
          <p:cNvSpPr txBox="1"/>
          <p:nvPr/>
        </p:nvSpPr>
        <p:spPr>
          <a:xfrm>
            <a:off x="3875192" y="1425039"/>
            <a:ext cx="126602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EJEMPLOS DE APLICACIÓN</a:t>
            </a:r>
            <a:endParaRPr/>
          </a:p>
        </p:txBody>
      </p:sp>
      <p:sp>
        <p:nvSpPr>
          <p:cNvPr id="1017" name="Google Shape;1017;p56"/>
          <p:cNvSpPr txBox="1"/>
          <p:nvPr/>
        </p:nvSpPr>
        <p:spPr>
          <a:xfrm>
            <a:off x="3184849" y="3791598"/>
            <a:ext cx="11918302" cy="2646654"/>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0" i="0" lang="en-US" sz="3051" u="none" cap="none" strike="noStrike">
                <a:solidFill>
                  <a:srgbClr val="000000"/>
                </a:solidFill>
                <a:latin typeface="Montserrat"/>
                <a:ea typeface="Montserrat"/>
                <a:cs typeface="Montserrat"/>
                <a:sym typeface="Montserrat"/>
              </a:rPr>
              <a:t>Se pueden realizar diseños de un sistema de cableado para una oficina.</a:t>
            </a:r>
            <a:endParaRPr/>
          </a:p>
          <a:p>
            <a:pPr indent="0" lvl="0" marL="0" marR="0" rtl="0" algn="just">
              <a:lnSpc>
                <a:spcPct val="139986"/>
              </a:lnSpc>
              <a:spcBef>
                <a:spcPts val="0"/>
              </a:spcBef>
              <a:spcAft>
                <a:spcPts val="0"/>
              </a:spcAft>
              <a:buNone/>
            </a:pPr>
            <a:r>
              <a:t/>
            </a:r>
            <a:endParaRPr b="0" i="0" sz="3051" u="none" cap="none" strike="noStrike">
              <a:solidFill>
                <a:srgbClr val="000000"/>
              </a:solidFill>
              <a:latin typeface="Montserrat"/>
              <a:ea typeface="Montserrat"/>
              <a:cs typeface="Montserrat"/>
              <a:sym typeface="Montserrat"/>
            </a:endParaRPr>
          </a:p>
          <a:p>
            <a:pPr indent="0" lvl="0" marL="0" marR="0" rtl="0" algn="just">
              <a:lnSpc>
                <a:spcPct val="139986"/>
              </a:lnSpc>
              <a:spcBef>
                <a:spcPts val="0"/>
              </a:spcBef>
              <a:spcAft>
                <a:spcPts val="0"/>
              </a:spcAft>
              <a:buNone/>
            </a:pPr>
            <a:r>
              <a:rPr b="0" i="0" lang="en-US" sz="3051" u="none" cap="none" strike="noStrike">
                <a:solidFill>
                  <a:srgbClr val="000000"/>
                </a:solidFill>
                <a:latin typeface="Montserrat"/>
                <a:ea typeface="Montserrat"/>
                <a:cs typeface="Montserrat"/>
                <a:sym typeface="Montserrat"/>
              </a:rPr>
              <a:t>Se pueden saber qué elementos utilizar para realizar el cableado estructurado de una sección.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21" name="Shape 1021"/>
        <p:cNvGrpSpPr/>
        <p:nvPr/>
      </p:nvGrpSpPr>
      <p:grpSpPr>
        <a:xfrm>
          <a:off x="0" y="0"/>
          <a:ext cx="0" cy="0"/>
          <a:chOff x="0" y="0"/>
          <a:chExt cx="0" cy="0"/>
        </a:xfrm>
      </p:grpSpPr>
      <p:grpSp>
        <p:nvGrpSpPr>
          <p:cNvPr id="1022" name="Google Shape;1022;p57"/>
          <p:cNvGrpSpPr/>
          <p:nvPr/>
        </p:nvGrpSpPr>
        <p:grpSpPr>
          <a:xfrm>
            <a:off x="1894444" y="527357"/>
            <a:ext cx="14499051" cy="2154982"/>
            <a:chOff x="0" y="-157626"/>
            <a:chExt cx="19332068" cy="2873309"/>
          </a:xfrm>
        </p:grpSpPr>
        <p:cxnSp>
          <p:nvCxnSpPr>
            <p:cNvPr id="1023" name="Google Shape;1023;p57"/>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1024" name="Google Shape;1024;p57"/>
            <p:cNvGrpSpPr/>
            <p:nvPr/>
          </p:nvGrpSpPr>
          <p:grpSpPr>
            <a:xfrm>
              <a:off x="0" y="0"/>
              <a:ext cx="2715683" cy="2715683"/>
              <a:chOff x="0" y="0"/>
              <a:chExt cx="812800" cy="812800"/>
            </a:xfrm>
          </p:grpSpPr>
          <p:sp>
            <p:nvSpPr>
              <p:cNvPr id="1025" name="Google Shape;1025;p5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7" name="Google Shape;1027;p57"/>
            <p:cNvGrpSpPr/>
            <p:nvPr/>
          </p:nvGrpSpPr>
          <p:grpSpPr>
            <a:xfrm>
              <a:off x="150744" y="-157626"/>
              <a:ext cx="2603039" cy="2786065"/>
              <a:chOff x="0" y="-57150"/>
              <a:chExt cx="812800" cy="869950"/>
            </a:xfrm>
          </p:grpSpPr>
          <p:sp>
            <p:nvSpPr>
              <p:cNvPr id="1028" name="Google Shape;1028;p5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7"/>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30" name="Google Shape;1030;p57"/>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1031" name="Google Shape;1031;p57"/>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1032" name="Google Shape;1032;p57"/>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1033" name="Google Shape;1033;p57"/>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1034" name="Google Shape;1034;p57"/>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1035" name="Google Shape;1035;p57"/>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1036" name="Google Shape;1036;p57"/>
          <p:cNvSpPr txBox="1"/>
          <p:nvPr/>
        </p:nvSpPr>
        <p:spPr>
          <a:xfrm>
            <a:off x="3875192" y="1425039"/>
            <a:ext cx="126602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CONCEPTOS CLAVE APRENDIDOS</a:t>
            </a:r>
            <a:endParaRPr/>
          </a:p>
        </p:txBody>
      </p:sp>
      <p:sp>
        <p:nvSpPr>
          <p:cNvPr id="1037" name="Google Shape;1037;p57"/>
          <p:cNvSpPr txBox="1"/>
          <p:nvPr/>
        </p:nvSpPr>
        <p:spPr>
          <a:xfrm>
            <a:off x="1455754" y="3241737"/>
            <a:ext cx="16139392" cy="5123789"/>
          </a:xfrm>
          <a:prstGeom prst="rect">
            <a:avLst/>
          </a:prstGeom>
          <a:noFill/>
          <a:ln>
            <a:noFill/>
          </a:ln>
        </p:spPr>
        <p:txBody>
          <a:bodyPr anchorCtr="0" anchor="t" bIns="0" lIns="0" spcFirstLastPara="1" rIns="0" wrap="square" tIns="0">
            <a:spAutoFit/>
          </a:bodyPr>
          <a:lstStyle/>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Cableado Estructurado: Sistema de cables, conectores, canalizaciones y dispositivos, el cual permite establecer una infraestructura de telecomunicación en un edificio.</a:t>
            </a:r>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Cableado Vertical: Ofrece interconexión entre el cuarto de servicio, al cuarto de equipo y con el cuarto de telecomunicaciones.</a:t>
            </a:r>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Cuarto de Telecomunicaciones: Se extiende desde el área de trabajo (WA) hasta el cuarto de telecomunicaciones, pasando por una cruzada horizontal llamada Cross Connect.</a:t>
            </a:r>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Cross Connect: Punto de encuentro entre el Cableado Horizontal y Backbone.</a:t>
            </a:r>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 Norma: Establecen un lenguaje común entre las empresas, adminsitración pública , usuarios y consumidores.</a:t>
            </a:r>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Estándar: Redacción y aprobación de normas para garantizar la calidad, funcionamiento para trabajar con una responsabilidad social</a:t>
            </a:r>
            <a:endParaRPr/>
          </a:p>
        </p:txBody>
      </p:sp>
    </p:spTree>
  </p:cSld>
  <p:clrMapOvr>
    <a:masterClrMapping/>
  </p:clrMapOvr>
  <p:transition spd="slow">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41" name="Shape 1041"/>
        <p:cNvGrpSpPr/>
        <p:nvPr/>
      </p:nvGrpSpPr>
      <p:grpSpPr>
        <a:xfrm>
          <a:off x="0" y="0"/>
          <a:ext cx="0" cy="0"/>
          <a:chOff x="0" y="0"/>
          <a:chExt cx="0" cy="0"/>
        </a:xfrm>
      </p:grpSpPr>
      <p:grpSp>
        <p:nvGrpSpPr>
          <p:cNvPr id="1042" name="Google Shape;1042;p58"/>
          <p:cNvGrpSpPr/>
          <p:nvPr/>
        </p:nvGrpSpPr>
        <p:grpSpPr>
          <a:xfrm>
            <a:off x="1894444" y="527357"/>
            <a:ext cx="14499051" cy="2154982"/>
            <a:chOff x="0" y="-157626"/>
            <a:chExt cx="19332068" cy="2873309"/>
          </a:xfrm>
        </p:grpSpPr>
        <p:cxnSp>
          <p:nvCxnSpPr>
            <p:cNvPr id="1043" name="Google Shape;1043;p58"/>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1044" name="Google Shape;1044;p58"/>
            <p:cNvGrpSpPr/>
            <p:nvPr/>
          </p:nvGrpSpPr>
          <p:grpSpPr>
            <a:xfrm>
              <a:off x="0" y="0"/>
              <a:ext cx="2715683" cy="2715683"/>
              <a:chOff x="0" y="0"/>
              <a:chExt cx="812800" cy="812800"/>
            </a:xfrm>
          </p:grpSpPr>
          <p:sp>
            <p:nvSpPr>
              <p:cNvPr id="1045" name="Google Shape;1045;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7" name="Google Shape;1047;p58"/>
            <p:cNvGrpSpPr/>
            <p:nvPr/>
          </p:nvGrpSpPr>
          <p:grpSpPr>
            <a:xfrm>
              <a:off x="150744" y="-157626"/>
              <a:ext cx="2603039" cy="2786065"/>
              <a:chOff x="0" y="-57150"/>
              <a:chExt cx="812800" cy="869950"/>
            </a:xfrm>
          </p:grpSpPr>
          <p:sp>
            <p:nvSpPr>
              <p:cNvPr id="1048" name="Google Shape;1048;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58"/>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50" name="Google Shape;1050;p58"/>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1051" name="Google Shape;1051;p58"/>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1052" name="Google Shape;1052;p58"/>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1053" name="Google Shape;1053;p58"/>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1054" name="Google Shape;1054;p58"/>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1055" name="Google Shape;1055;p58"/>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1056" name="Google Shape;1056;p58"/>
          <p:cNvSpPr txBox="1"/>
          <p:nvPr/>
        </p:nvSpPr>
        <p:spPr>
          <a:xfrm>
            <a:off x="3875192" y="1425039"/>
            <a:ext cx="126602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VALORES</a:t>
            </a:r>
            <a:endParaRPr/>
          </a:p>
        </p:txBody>
      </p:sp>
      <p:sp>
        <p:nvSpPr>
          <p:cNvPr id="1057" name="Google Shape;1057;p58"/>
          <p:cNvSpPr txBox="1"/>
          <p:nvPr/>
        </p:nvSpPr>
        <p:spPr>
          <a:xfrm>
            <a:off x="3613564" y="4433759"/>
            <a:ext cx="11060872" cy="2113254"/>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1" i="0" lang="en-US" sz="3051" u="none" cap="none" strike="noStrike">
                <a:solidFill>
                  <a:srgbClr val="000000"/>
                </a:solidFill>
                <a:latin typeface="Montserrat"/>
                <a:ea typeface="Montserrat"/>
                <a:cs typeface="Montserrat"/>
                <a:sym typeface="Montserrat"/>
              </a:rPr>
              <a:t>Responsabilidad</a:t>
            </a:r>
            <a:r>
              <a:rPr b="0" i="0" lang="en-US" sz="3051" u="none" cap="none" strike="noStrike">
                <a:solidFill>
                  <a:srgbClr val="000000"/>
                </a:solidFill>
                <a:latin typeface="Montserrat"/>
                <a:ea typeface="Montserrat"/>
                <a:cs typeface="Montserrat"/>
                <a:sym typeface="Montserrat"/>
              </a:rPr>
              <a:t> (por el cumplimiento de normas, estándares e instalación de cableado).</a:t>
            </a:r>
            <a:endParaRPr/>
          </a:p>
          <a:p>
            <a:pPr indent="0" lvl="0" marL="0" marR="0" rtl="0" algn="just">
              <a:lnSpc>
                <a:spcPct val="139986"/>
              </a:lnSpc>
              <a:spcBef>
                <a:spcPts val="0"/>
              </a:spcBef>
              <a:spcAft>
                <a:spcPts val="0"/>
              </a:spcAft>
              <a:buNone/>
            </a:pPr>
            <a:r>
              <a:t/>
            </a:r>
            <a:endParaRPr b="0" i="0" sz="3051" u="none" cap="none" strike="noStrike">
              <a:solidFill>
                <a:srgbClr val="000000"/>
              </a:solidFill>
              <a:latin typeface="Montserrat"/>
              <a:ea typeface="Montserrat"/>
              <a:cs typeface="Montserrat"/>
              <a:sym typeface="Montserrat"/>
            </a:endParaRPr>
          </a:p>
          <a:p>
            <a:pPr indent="0" lvl="0" marL="0" marR="0" rtl="0" algn="just">
              <a:lnSpc>
                <a:spcPct val="139986"/>
              </a:lnSpc>
              <a:spcBef>
                <a:spcPts val="0"/>
              </a:spcBef>
              <a:spcAft>
                <a:spcPts val="0"/>
              </a:spcAft>
              <a:buNone/>
            </a:pPr>
            <a:r>
              <a:rPr b="1" i="0" lang="en-US" sz="3051" u="none" cap="none" strike="noStrike">
                <a:solidFill>
                  <a:srgbClr val="000000"/>
                </a:solidFill>
                <a:latin typeface="Montserrat"/>
                <a:ea typeface="Montserrat"/>
                <a:cs typeface="Montserrat"/>
                <a:sym typeface="Montserrat"/>
              </a:rPr>
              <a:t>Orden y disciplina</a:t>
            </a:r>
            <a:r>
              <a:rPr b="0" i="0" lang="en-US" sz="3051" u="none" cap="none" strike="noStrike">
                <a:solidFill>
                  <a:srgbClr val="000000"/>
                </a:solidFill>
                <a:latin typeface="Montserrat"/>
                <a:ea typeface="Montserrat"/>
                <a:cs typeface="Montserrat"/>
                <a:sym typeface="Montserrat"/>
              </a:rPr>
              <a:t> (en la gestión de cables).</a:t>
            </a:r>
            <a:endParaRPr/>
          </a:p>
        </p:txBody>
      </p:sp>
    </p:spTree>
  </p:cSld>
  <p:clrMapOvr>
    <a:masterClrMapping/>
  </p:clrMapOvr>
  <p:transition spd="slow">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61" name="Shape 1061"/>
        <p:cNvGrpSpPr/>
        <p:nvPr/>
      </p:nvGrpSpPr>
      <p:grpSpPr>
        <a:xfrm>
          <a:off x="0" y="0"/>
          <a:ext cx="0" cy="0"/>
          <a:chOff x="0" y="0"/>
          <a:chExt cx="0" cy="0"/>
        </a:xfrm>
      </p:grpSpPr>
      <p:grpSp>
        <p:nvGrpSpPr>
          <p:cNvPr id="1062" name="Google Shape;1062;p59"/>
          <p:cNvGrpSpPr/>
          <p:nvPr/>
        </p:nvGrpSpPr>
        <p:grpSpPr>
          <a:xfrm>
            <a:off x="1894444" y="527357"/>
            <a:ext cx="14499051" cy="2154982"/>
            <a:chOff x="0" y="-157626"/>
            <a:chExt cx="19332068" cy="2873309"/>
          </a:xfrm>
        </p:grpSpPr>
        <p:cxnSp>
          <p:nvCxnSpPr>
            <p:cNvPr id="1063" name="Google Shape;1063;p59"/>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1064" name="Google Shape;1064;p59"/>
            <p:cNvGrpSpPr/>
            <p:nvPr/>
          </p:nvGrpSpPr>
          <p:grpSpPr>
            <a:xfrm>
              <a:off x="0" y="0"/>
              <a:ext cx="2715683" cy="2715683"/>
              <a:chOff x="0" y="0"/>
              <a:chExt cx="812800" cy="812800"/>
            </a:xfrm>
          </p:grpSpPr>
          <p:sp>
            <p:nvSpPr>
              <p:cNvPr id="1065" name="Google Shape;1065;p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7" name="Google Shape;1067;p59"/>
            <p:cNvGrpSpPr/>
            <p:nvPr/>
          </p:nvGrpSpPr>
          <p:grpSpPr>
            <a:xfrm>
              <a:off x="150744" y="-157626"/>
              <a:ext cx="2603039" cy="2786065"/>
              <a:chOff x="0" y="-57150"/>
              <a:chExt cx="812800" cy="869950"/>
            </a:xfrm>
          </p:grpSpPr>
          <p:sp>
            <p:nvSpPr>
              <p:cNvPr id="1068" name="Google Shape;1068;p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9"/>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70" name="Google Shape;1070;p59"/>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1071" name="Google Shape;1071;p59"/>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1072" name="Google Shape;1072;p59"/>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1073" name="Google Shape;1073;p59"/>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1074" name="Google Shape;1074;p59"/>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1075" name="Google Shape;1075;p59"/>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5999" u="none" cap="none" strike="noStrike">
                  <a:solidFill>
                    <a:srgbClr val="1F1674"/>
                  </a:solidFill>
                  <a:latin typeface="Arial"/>
                  <a:ea typeface="Arial"/>
                  <a:cs typeface="Arial"/>
                  <a:sym typeface="Arial"/>
                </a:rPr>
                <a:t>-</a:t>
              </a:r>
              <a:endParaRPr/>
            </a:p>
          </p:txBody>
        </p:sp>
      </p:grpSp>
      <p:sp>
        <p:nvSpPr>
          <p:cNvPr id="1076" name="Google Shape;1076;p59"/>
          <p:cNvSpPr txBox="1"/>
          <p:nvPr/>
        </p:nvSpPr>
        <p:spPr>
          <a:xfrm>
            <a:off x="3875192" y="1425039"/>
            <a:ext cx="126602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00" u="none" cap="none" strike="noStrike">
                <a:solidFill>
                  <a:srgbClr val="145C8C"/>
                </a:solidFill>
                <a:latin typeface="Arial"/>
                <a:ea typeface="Arial"/>
                <a:cs typeface="Arial"/>
                <a:sym typeface="Arial"/>
              </a:rPr>
              <a:t>REFERENCIAS</a:t>
            </a:r>
            <a:endParaRPr/>
          </a:p>
        </p:txBody>
      </p:sp>
      <p:sp>
        <p:nvSpPr>
          <p:cNvPr id="1077" name="Google Shape;1077;p59"/>
          <p:cNvSpPr txBox="1"/>
          <p:nvPr/>
        </p:nvSpPr>
        <p:spPr>
          <a:xfrm>
            <a:off x="1455754" y="4358522"/>
            <a:ext cx="16139392" cy="1046454"/>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0" i="0" lang="en-US" sz="3051" u="sng" cap="none" strike="noStrike">
                <a:solidFill>
                  <a:srgbClr val="000000"/>
                </a:solidFill>
                <a:latin typeface="Montserrat"/>
                <a:ea typeface="Montserrat"/>
                <a:cs typeface="Montserrat"/>
                <a:sym typeface="Montserrat"/>
                <a:hlinkClick r:id="rId3">
                  <a:extLst>
                    <a:ext uri="{A12FA001-AC4F-418D-AE19-62706E023703}">
                      <ahyp:hlinkClr val="tx"/>
                    </a:ext>
                  </a:extLst>
                </a:hlinkClick>
              </a:rPr>
              <a:t>https://tabasco.gob.mx/sites/default/files/Manual-para-aplicar-la-norma-TIA-EIA-para-Cableado-Estructurado.pdf</a:t>
            </a:r>
            <a:endParaRPr/>
          </a:p>
        </p:txBody>
      </p:sp>
      <p:sp>
        <p:nvSpPr>
          <p:cNvPr id="1078" name="Google Shape;1078;p59"/>
          <p:cNvSpPr txBox="1"/>
          <p:nvPr/>
        </p:nvSpPr>
        <p:spPr>
          <a:xfrm>
            <a:off x="1455754" y="5999228"/>
            <a:ext cx="16139392" cy="1046454"/>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0" i="0" lang="en-US" sz="3051" u="sng" cap="none" strike="noStrike">
                <a:solidFill>
                  <a:srgbClr val="000000"/>
                </a:solidFill>
                <a:latin typeface="Montserrat"/>
                <a:ea typeface="Montserrat"/>
                <a:cs typeface="Montserrat"/>
                <a:sym typeface="Montserrat"/>
                <a:hlinkClick r:id="rId4">
                  <a:extLst>
                    <a:ext uri="{A12FA001-AC4F-418D-AE19-62706E023703}">
                      <ahyp:hlinkClr val="tx"/>
                    </a:ext>
                  </a:extLst>
                </a:hlinkClick>
              </a:rPr>
              <a:t>https://issuu.com/wendyjohanaestebancortes/docs/manual_de_normatividad/s/12470082</a:t>
            </a:r>
            <a:endParaRPr/>
          </a:p>
        </p:txBody>
      </p:sp>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82" name="Shape 1082"/>
        <p:cNvGrpSpPr/>
        <p:nvPr/>
      </p:nvGrpSpPr>
      <p:grpSpPr>
        <a:xfrm>
          <a:off x="0" y="0"/>
          <a:ext cx="0" cy="0"/>
          <a:chOff x="0" y="0"/>
          <a:chExt cx="0" cy="0"/>
        </a:xfrm>
      </p:grpSpPr>
      <p:sp>
        <p:nvSpPr>
          <p:cNvPr id="1083" name="Google Shape;1083;p60"/>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1084" name="Google Shape;1084;p60"/>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1085" name="Google Shape;1085;p60"/>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1086" name="Google Shape;1086;p60"/>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