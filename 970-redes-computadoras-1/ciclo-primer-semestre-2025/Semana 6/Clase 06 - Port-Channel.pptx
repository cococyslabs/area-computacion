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rial Bold" charset="1" panose="020B0802020202020204"/>
      <p:regular r:id="rId33"/>
    </p:embeddedFont>
    <p:embeddedFont>
      <p:font typeface="Arial" charset="1" panose="020B0502020202020204"/>
      <p:regular r:id="rId34"/>
    </p:embeddedFont>
    <p:embeddedFont>
      <p:font typeface="Overpass" charset="1" panose="00000500000000000000"/>
      <p:regular r:id="rId35"/>
    </p:embeddedFont>
    <p:embeddedFont>
      <p:font typeface="Fredoka" charset="1" panose="02000000000000000000"/>
      <p:regular r:id="rId36"/>
    </p:embeddedFont>
    <p:embeddedFont>
      <p:font typeface="Open Sans Bold" charset="1" panose="020B0806030504020204"/>
      <p:regular r:id="rId37"/>
    </p:embeddedFont>
    <p:embeddedFont>
      <p:font typeface="Overpass Italics" charset="1" panose="00000500000000000000"/>
      <p:regular r:id="rId38"/>
    </p:embeddedFont>
    <p:embeddedFont>
      <p:font typeface="Overpass Ultra-Bold" charset="1" panose="00000900000000000000"/>
      <p:regular r:id="rId39"/>
    </p:embeddedFont>
    <p:embeddedFont>
      <p:font typeface="Garet" charset="1" panose="000000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gif" Type="http://schemas.openxmlformats.org/officeDocument/2006/relationships/image"/><Relationship Id="rId3" Target="../media/image3.gif"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gif" Type="http://schemas.openxmlformats.org/officeDocument/2006/relationships/image"/><Relationship Id="rId3" Target="../media/image3.gif" Type="http://schemas.openxmlformats.org/officeDocument/2006/relationships/image"/><Relationship Id="rId4" Target="https://www.youtube.com/watch?v=Zp_rXGqmpvE" TargetMode="External" Type="http://schemas.openxmlformats.org/officeDocument/2006/relationships/hyperlink"/><Relationship Id="rId5" Target="https://www.fs.com/es/blog/lacp-vs-pagp-comparison-4784.html" TargetMode="External" Type="http://schemas.openxmlformats.org/officeDocument/2006/relationships/hyperlink"/><Relationship Id="rId6" Target="https://ccnadesdecero.es/agregacion-de-enlaces-pagp-lacp/" TargetMode="External" Type="http://schemas.openxmlformats.org/officeDocument/2006/relationships/hyperlink"/><Relationship Id="rId7" Target="https://www.cisco.com/c/en/us/td/docs/switches/lan/catalyst6500/ios/15-4SY/config_guide/sup6T/15_3_sy_swcg_6T/etherchannel.pdf"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gif" Type="http://schemas.openxmlformats.org/officeDocument/2006/relationships/image"/><Relationship Id="rId3" Target="../media/image3.gi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gif" Type="http://schemas.openxmlformats.org/officeDocument/2006/relationships/image"/><Relationship Id="rId3" Target="../media/image6.gif"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gif" Type="http://schemas.openxmlformats.org/officeDocument/2006/relationships/image"/><Relationship Id="rId6" Target="../media/image10.gif" Type="http://schemas.openxmlformats.org/officeDocument/2006/relationships/image"/><Relationship Id="rId7" Target="../media/image11.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3.gif"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gif"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gif"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23.gif"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 Id="rId4" Target="../media/image24.gif"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 Id="rId4" Target="../media/image25.gif"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gif"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gif"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gif"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gif"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gif" Type="http://schemas.openxmlformats.org/officeDocument/2006/relationships/image"/><Relationship Id="rId3" Target="../media/image3.gif"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gif" Type="http://schemas.openxmlformats.org/officeDocument/2006/relationships/image"/><Relationship Id="rId3" Target="../media/image3.gif"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gif" Type="http://schemas.openxmlformats.org/officeDocument/2006/relationships/image"/><Relationship Id="rId3" Target="../media/image3.gif"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Zp_rXGqmpvE" TargetMode="External" Type="http://schemas.openxmlformats.org/officeDocument/2006/relationships/hyperlink"/><Relationship Id="rId3" Target="https://www.fs.com/es/blog/lacp-vs-pagp-comparison-4784.html" TargetMode="External" Type="http://schemas.openxmlformats.org/officeDocument/2006/relationships/hyperlink"/><Relationship Id="rId4" Target="https://ccnadesdecero.es/agregacion-de-enlaces-pagp-lacp/" TargetMode="External" Type="http://schemas.openxmlformats.org/officeDocument/2006/relationships/hyperlink"/><Relationship Id="rId5" Target="https://www.cisco.com/c/en/us/td/docs/switches/lan/catalyst6500/ios/15-4SY/config_guide/sup6T/15_3_sy_swcg_6T/etherchannel.pdf" TargetMode="External" Type="http://schemas.openxmlformats.org/officeDocument/2006/relationships/hyperlink"/><Relationship Id="rId6" Target="../media/image32.gif" Type="http://schemas.openxmlformats.org/officeDocument/2006/relationships/image"/><Relationship Id="rId7" Target="../media/image3.gif"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gif" Type="http://schemas.openxmlformats.org/officeDocument/2006/relationships/image"/><Relationship Id="rId3" Target="../media/image18.gif" Type="http://schemas.openxmlformats.org/officeDocument/2006/relationships/image"/><Relationship Id="rId4" Target="../media/image33.gif" Type="http://schemas.openxmlformats.org/officeDocument/2006/relationships/image"/><Relationship Id="rId5"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60" y="0"/>
            <a:ext cx="18253440" cy="10286640"/>
          </a:xfrm>
          <a:custGeom>
            <a:avLst/>
            <a:gdLst/>
            <a:ahLst/>
            <a:cxnLst/>
            <a:rect r="r" b="b" t="t" l="l"/>
            <a:pathLst>
              <a:path h="10286640" w="18253440">
                <a:moveTo>
                  <a:pt x="0" y="0"/>
                </a:moveTo>
                <a:lnTo>
                  <a:pt x="18253440" y="0"/>
                </a:lnTo>
                <a:lnTo>
                  <a:pt x="18253440" y="10286640"/>
                </a:lnTo>
                <a:lnTo>
                  <a:pt x="0" y="10286640"/>
                </a:lnTo>
                <a:lnTo>
                  <a:pt x="0" y="0"/>
                </a:lnTo>
                <a:close/>
              </a:path>
            </a:pathLst>
          </a:custGeom>
          <a:blipFill>
            <a:blip r:embed="rId2">
              <a:alphaModFix amt="62000"/>
            </a:blip>
            <a:stretch>
              <a:fillRect l="0" t="0" r="0" b="0"/>
            </a:stretch>
          </a:blipFill>
        </p:spPr>
      </p:sp>
      <p:graphicFrame>
        <p:nvGraphicFramePr>
          <p:cNvPr name="Table 3" id="3"/>
          <p:cNvGraphicFramePr>
            <a:graphicFrameLocks noGrp="true"/>
          </p:cNvGraphicFramePr>
          <p:nvPr/>
        </p:nvGraphicFramePr>
        <p:xfrm>
          <a:off x="10656720" y="1940400"/>
          <a:ext cx="7366000" cy="1438110"/>
        </p:xfrm>
        <a:graphic>
          <a:graphicData uri="http://schemas.openxmlformats.org/drawingml/2006/table">
            <a:tbl>
              <a:tblPr/>
              <a:tblGrid>
                <a:gridCol w="3036741"/>
                <a:gridCol w="4329259"/>
              </a:tblGrid>
              <a:tr h="719055">
                <a:tc>
                  <a:txBody>
                    <a:bodyPr anchor="t" rtlCol="false"/>
                    <a:lstStyle/>
                    <a:p>
                      <a:pPr algn="l">
                        <a:lnSpc>
                          <a:spcPts val="3408"/>
                        </a:lnSpc>
                        <a:defRPr/>
                      </a:pPr>
                      <a:r>
                        <a:rPr lang="en-US" sz="2840" b="true">
                          <a:solidFill>
                            <a:srgbClr val="000000"/>
                          </a:solidFill>
                          <a:latin typeface="Arial Bold"/>
                          <a:ea typeface="Arial Bold"/>
                          <a:cs typeface="Arial Bold"/>
                          <a:sym typeface="Arial Bold"/>
                        </a:rPr>
                        <a:t>Día, Fecha:</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c>
                  <a:txBody>
                    <a:bodyPr anchor="t" rtlCol="false"/>
                    <a:lstStyle/>
                    <a:p>
                      <a:pPr algn="l">
                        <a:lnSpc>
                          <a:spcPts val="3919"/>
                        </a:lnSpc>
                        <a:defRPr/>
                      </a:pPr>
                      <a:r>
                        <a:rPr lang="en-US" sz="2799">
                          <a:solidFill>
                            <a:srgbClr val="000000"/>
                          </a:solidFill>
                          <a:latin typeface="Arial"/>
                          <a:ea typeface="Arial"/>
                          <a:cs typeface="Arial"/>
                          <a:sym typeface="Arial"/>
                        </a:rPr>
                        <a:t>Día, dd/mm/yyyy</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r>
              <a:tr h="719055">
                <a:tc>
                  <a:txBody>
                    <a:bodyPr anchor="t" rtlCol="false"/>
                    <a:lstStyle/>
                    <a:p>
                      <a:pPr algn="l">
                        <a:lnSpc>
                          <a:spcPts val="3408"/>
                        </a:lnSpc>
                        <a:defRPr/>
                      </a:pPr>
                      <a:r>
                        <a:rPr lang="en-US" sz="2840" b="true">
                          <a:solidFill>
                            <a:srgbClr val="000000"/>
                          </a:solidFill>
                          <a:latin typeface="Arial Bold"/>
                          <a:ea typeface="Arial Bold"/>
                          <a:cs typeface="Arial Bold"/>
                          <a:sym typeface="Arial Bold"/>
                        </a:rPr>
                        <a:t>Hora de inicio:</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c>
                  <a:txBody>
                    <a:bodyPr anchor="t" rtlCol="false"/>
                    <a:lstStyle/>
                    <a:p>
                      <a:pPr algn="l">
                        <a:lnSpc>
                          <a:spcPts val="3919"/>
                        </a:lnSpc>
                        <a:defRPr/>
                      </a:pPr>
                      <a:r>
                        <a:rPr lang="en-US" sz="2799">
                          <a:solidFill>
                            <a:srgbClr val="000000"/>
                          </a:solidFill>
                          <a:latin typeface="Arial"/>
                          <a:ea typeface="Arial"/>
                          <a:cs typeface="Arial"/>
                          <a:sym typeface="Arial"/>
                        </a:rPr>
                        <a:t>00:00 hrs</a:t>
                      </a:r>
                      <a:endParaRPr lang="en-US" sz="1100"/>
                    </a:p>
                  </a:txBody>
                  <a:tcPr marL="91080" marR="91080" marT="91080" marB="91080" anchor="ctr">
                    <a:lnL cmpd="sng" algn="ctr" cap="flat" w="9360">
                      <a:solidFill>
                        <a:srgbClr val="9E9E9E"/>
                      </a:solidFill>
                      <a:prstDash val="solid"/>
                      <a:round/>
                      <a:headEnd type="none" w="med" len="med"/>
                      <a:tailEnd type="none" w="med" len="med"/>
                    </a:lnL>
                    <a:lnR cmpd="sng" algn="ctr" cap="flat" w="9360">
                      <a:solidFill>
                        <a:srgbClr val="9E9E9E"/>
                      </a:solidFill>
                      <a:prstDash val="solid"/>
                      <a:round/>
                      <a:headEnd type="none" w="med" len="med"/>
                      <a:tailEnd type="none" w="med" len="med"/>
                    </a:lnR>
                    <a:lnT cmpd="sng" algn="ctr" cap="flat" w="9360">
                      <a:solidFill>
                        <a:srgbClr val="9E9E9E"/>
                      </a:solidFill>
                      <a:prstDash val="solid"/>
                      <a:round/>
                      <a:headEnd type="none" w="med" len="med"/>
                      <a:tailEnd type="none" w="med" len="med"/>
                    </a:lnT>
                    <a:lnB cmpd="sng" algn="ctr" cap="flat" w="9360">
                      <a:solidFill>
                        <a:srgbClr val="9E9E9E"/>
                      </a:solidFill>
                      <a:prstDash val="solid"/>
                      <a:round/>
                      <a:headEnd type="none" w="med" len="med"/>
                      <a:tailEnd type="none" w="med" len="med"/>
                    </a:lnB>
                  </a:tcPr>
                </a:tc>
              </a:tr>
            </a:tbl>
          </a:graphicData>
        </a:graphic>
      </p:graphicFrame>
      <p:sp>
        <p:nvSpPr>
          <p:cNvPr name="TextBox 4" id="4"/>
          <p:cNvSpPr txBox="true"/>
          <p:nvPr/>
        </p:nvSpPr>
        <p:spPr>
          <a:xfrm rot="0">
            <a:off x="1618360" y="4512750"/>
            <a:ext cx="15051280" cy="8477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Laboratorio de Redes de Computadoras 1 [Sección]</a:t>
            </a:r>
          </a:p>
        </p:txBody>
      </p:sp>
      <p:sp>
        <p:nvSpPr>
          <p:cNvPr name="TextBox 5" id="5"/>
          <p:cNvSpPr txBox="true"/>
          <p:nvPr/>
        </p:nvSpPr>
        <p:spPr>
          <a:xfrm rot="0">
            <a:off x="3648960" y="5807475"/>
            <a:ext cx="10989360" cy="685800"/>
          </a:xfrm>
          <a:prstGeom prst="rect">
            <a:avLst/>
          </a:prstGeom>
        </p:spPr>
        <p:txBody>
          <a:bodyPr anchor="t" rtlCol="false" tIns="0" lIns="0" bIns="0" rIns="0">
            <a:spAutoFit/>
          </a:bodyPr>
          <a:lstStyle/>
          <a:p>
            <a:pPr algn="l">
              <a:lnSpc>
                <a:spcPts val="4800"/>
              </a:lnSpc>
            </a:pPr>
            <a:r>
              <a:rPr lang="en-US" sz="4000">
                <a:solidFill>
                  <a:srgbClr val="000000"/>
                </a:solidFill>
                <a:latin typeface="Arial"/>
                <a:ea typeface="Arial"/>
                <a:cs typeface="Arial"/>
                <a:sym typeface="Arial"/>
              </a:rPr>
              <a:t>Nombre Auxiliar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094170">
            <a:off x="14148180" y="-2590072"/>
            <a:ext cx="7036829" cy="7237544"/>
          </a:xfrm>
          <a:prstGeom prst="rect">
            <a:avLst/>
          </a:prstGeom>
        </p:spPr>
      </p:pic>
      <p:sp>
        <p:nvSpPr>
          <p:cNvPr name="TextBox 3" id="3"/>
          <p:cNvSpPr txBox="true"/>
          <p:nvPr/>
        </p:nvSpPr>
        <p:spPr>
          <a:xfrm rot="0">
            <a:off x="14909188" y="9330539"/>
            <a:ext cx="3002539" cy="800735"/>
          </a:xfrm>
          <a:prstGeom prst="rect">
            <a:avLst/>
          </a:prstGeom>
        </p:spPr>
        <p:txBody>
          <a:bodyPr anchor="t" rtlCol="false" tIns="0" lIns="0" bIns="0" rIns="0">
            <a:spAutoFit/>
          </a:bodyPr>
          <a:lstStyle/>
          <a:p>
            <a:pPr algn="r">
              <a:lnSpc>
                <a:spcPts val="5740"/>
              </a:lnSpc>
            </a:pPr>
            <a:r>
              <a:rPr lang="en-US" sz="4100">
                <a:solidFill>
                  <a:srgbClr val="000000"/>
                </a:solidFill>
                <a:latin typeface="Overpass"/>
                <a:ea typeface="Overpass"/>
                <a:cs typeface="Overpass"/>
                <a:sym typeface="Overpass"/>
              </a:rPr>
              <a:t>Clase #6</a:t>
            </a:r>
          </a:p>
        </p:txBody>
      </p:sp>
      <p:pic>
        <p:nvPicPr>
          <p:cNvPr name="Picture 4" id="4"/>
          <p:cNvPicPr>
            <a:picLocks noChangeAspect="true"/>
          </p:cNvPicPr>
          <p:nvPr/>
        </p:nvPicPr>
        <p:blipFill>
          <a:blip r:embed="rId3"/>
          <a:srcRect l="64771" t="21970" r="0" b="0"/>
          <a:stretch>
            <a:fillRect/>
          </a:stretch>
        </p:blipFill>
        <p:spPr>
          <a:xfrm flipH="false" flipV="false" rot="5400000">
            <a:off x="2310738" y="4172522"/>
            <a:ext cx="3803740" cy="8425216"/>
          </a:xfrm>
          <a:prstGeom prst="rect">
            <a:avLst/>
          </a:prstGeom>
        </p:spPr>
      </p:pic>
      <p:grpSp>
        <p:nvGrpSpPr>
          <p:cNvPr name="Group 5" id="5"/>
          <p:cNvGrpSpPr/>
          <p:nvPr/>
        </p:nvGrpSpPr>
        <p:grpSpPr>
          <a:xfrm rot="0">
            <a:off x="1028700" y="1028700"/>
            <a:ext cx="367402" cy="346352"/>
            <a:chOff x="0" y="0"/>
            <a:chExt cx="489869" cy="461803"/>
          </a:xfrm>
        </p:grpSpPr>
        <p:sp>
          <p:nvSpPr>
            <p:cNvPr name="AutoShape 6" id="6"/>
            <p:cNvSpPr/>
            <p:nvPr/>
          </p:nvSpPr>
          <p:spPr>
            <a:xfrm rot="0">
              <a:off x="0" y="0"/>
              <a:ext cx="489869" cy="0"/>
            </a:xfrm>
            <a:prstGeom prst="line">
              <a:avLst/>
            </a:prstGeom>
            <a:ln cap="rnd" w="50800">
              <a:solidFill>
                <a:srgbClr val="FFFAEF"/>
              </a:solidFill>
              <a:prstDash val="solid"/>
              <a:headEnd type="none" len="sm" w="sm"/>
              <a:tailEnd type="none" len="sm" w="sm"/>
            </a:ln>
          </p:spPr>
        </p:sp>
        <p:sp>
          <p:nvSpPr>
            <p:cNvPr name="AutoShape 7" id="7"/>
            <p:cNvSpPr/>
            <p:nvPr/>
          </p:nvSpPr>
          <p:spPr>
            <a:xfrm rot="0">
              <a:off x="0" y="205275"/>
              <a:ext cx="489869" cy="0"/>
            </a:xfrm>
            <a:prstGeom prst="line">
              <a:avLst/>
            </a:prstGeom>
            <a:ln cap="rnd" w="50800">
              <a:solidFill>
                <a:srgbClr val="FFFAEF"/>
              </a:solidFill>
              <a:prstDash val="solid"/>
              <a:headEnd type="none" len="sm" w="sm"/>
              <a:tailEnd type="none" len="sm" w="sm"/>
            </a:ln>
          </p:spPr>
        </p:sp>
        <p:sp>
          <p:nvSpPr>
            <p:cNvPr name="AutoShape 8" id="8"/>
            <p:cNvSpPr/>
            <p:nvPr/>
          </p:nvSpPr>
          <p:spPr>
            <a:xfrm rot="0">
              <a:off x="0" y="410931"/>
              <a:ext cx="489869" cy="0"/>
            </a:xfrm>
            <a:prstGeom prst="line">
              <a:avLst/>
            </a:prstGeom>
            <a:ln cap="rnd" w="50800">
              <a:solidFill>
                <a:srgbClr val="FFFAEF"/>
              </a:solidFill>
              <a:prstDash val="solid"/>
              <a:headEnd type="none" len="sm" w="sm"/>
              <a:tailEnd type="none" len="sm" w="sm"/>
            </a:ln>
          </p:spPr>
        </p:sp>
      </p:grpSp>
      <p:sp>
        <p:nvSpPr>
          <p:cNvPr name="Freeform 9" id="9"/>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4"/>
            <a:stretch>
              <a:fillRect l="0" t="0" r="0" b="0"/>
            </a:stretch>
          </a:blipFill>
        </p:spPr>
      </p:sp>
      <p:sp>
        <p:nvSpPr>
          <p:cNvPr name="TextBox 10" id="10"/>
          <p:cNvSpPr txBox="true"/>
          <p:nvPr/>
        </p:nvSpPr>
        <p:spPr>
          <a:xfrm rot="0">
            <a:off x="1877543" y="3055228"/>
            <a:ext cx="14532914" cy="3416300"/>
          </a:xfrm>
          <a:prstGeom prst="rect">
            <a:avLst/>
          </a:prstGeom>
        </p:spPr>
        <p:txBody>
          <a:bodyPr anchor="t" rtlCol="false" tIns="0" lIns="0" bIns="0" rIns="0">
            <a:spAutoFit/>
          </a:bodyPr>
          <a:lstStyle/>
          <a:p>
            <a:pPr algn="ctr" marL="0" indent="0" lvl="0">
              <a:lnSpc>
                <a:spcPts val="9100"/>
              </a:lnSpc>
              <a:spcBef>
                <a:spcPct val="0"/>
              </a:spcBef>
            </a:pPr>
            <a:r>
              <a:rPr lang="en-US" sz="6500">
                <a:solidFill>
                  <a:srgbClr val="FFFFFF"/>
                </a:solidFill>
                <a:latin typeface="Fredoka"/>
                <a:ea typeface="Fredoka"/>
                <a:cs typeface="Fredoka"/>
                <a:sym typeface="Fredoka"/>
              </a:rPr>
              <a:t>DISPOSITIVOS Y PROTOCOLOS EN LA CAPA 2: SEGMENTACIÓN Y DIRECCIONAMIENTO</a:t>
            </a:r>
          </a:p>
        </p:txBody>
      </p:sp>
      <p:sp>
        <p:nvSpPr>
          <p:cNvPr name="TextBox 11" id="11"/>
          <p:cNvSpPr txBox="true"/>
          <p:nvPr/>
        </p:nvSpPr>
        <p:spPr>
          <a:xfrm rot="0">
            <a:off x="1028700" y="7834026"/>
            <a:ext cx="8469904"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Open Sans Bold"/>
                <a:ea typeface="Open Sans Bold"/>
                <a:cs typeface="Open Sans Bold"/>
                <a:sym typeface="Open Sans Bold"/>
              </a:rPr>
              <a:t>Redes de Computadoras 1</a:t>
            </a:r>
          </a:p>
        </p:txBody>
      </p:sp>
      <p:sp>
        <p:nvSpPr>
          <p:cNvPr name="TextBox 12" id="12"/>
          <p:cNvSpPr txBox="true"/>
          <p:nvPr/>
        </p:nvSpPr>
        <p:spPr>
          <a:xfrm rot="0">
            <a:off x="1028700" y="8743013"/>
            <a:ext cx="6981379"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Escuela de Ingenieria de Ciencias Y Sistemas</a:t>
            </a:r>
          </a:p>
        </p:txBody>
      </p:sp>
      <p:sp>
        <p:nvSpPr>
          <p:cNvPr name="TextBox 13" id="13"/>
          <p:cNvSpPr txBox="true"/>
          <p:nvPr/>
        </p:nvSpPr>
        <p:spPr>
          <a:xfrm rot="0">
            <a:off x="1028700" y="9164169"/>
            <a:ext cx="3525292"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Facultad de Ingenieria</a:t>
            </a:r>
          </a:p>
        </p:txBody>
      </p:sp>
      <p:sp>
        <p:nvSpPr>
          <p:cNvPr name="TextBox 14" id="14"/>
          <p:cNvSpPr txBox="true"/>
          <p:nvPr/>
        </p:nvSpPr>
        <p:spPr>
          <a:xfrm rot="0">
            <a:off x="1028700" y="9586444"/>
            <a:ext cx="6407944"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094170">
            <a:off x="14148180" y="-2590072"/>
            <a:ext cx="7036829" cy="7237544"/>
          </a:xfrm>
          <a:prstGeom prst="rect">
            <a:avLst/>
          </a:prstGeom>
        </p:spPr>
      </p:pic>
      <p:sp>
        <p:nvSpPr>
          <p:cNvPr name="TextBox 3" id="3"/>
          <p:cNvSpPr txBox="true"/>
          <p:nvPr/>
        </p:nvSpPr>
        <p:spPr>
          <a:xfrm rot="0">
            <a:off x="1366455" y="1019175"/>
            <a:ext cx="7533118" cy="1914525"/>
          </a:xfrm>
          <a:prstGeom prst="rect">
            <a:avLst/>
          </a:prstGeom>
        </p:spPr>
        <p:txBody>
          <a:bodyPr anchor="t" rtlCol="false" tIns="0" lIns="0" bIns="0" rIns="0">
            <a:spAutoFit/>
          </a:bodyPr>
          <a:lstStyle/>
          <a:p>
            <a:pPr algn="ctr">
              <a:lnSpc>
                <a:spcPts val="15000"/>
              </a:lnSpc>
            </a:pPr>
            <a:r>
              <a:rPr lang="en-US" sz="12500">
                <a:solidFill>
                  <a:srgbClr val="FFFAEF"/>
                </a:solidFill>
                <a:latin typeface="Fredoka"/>
                <a:ea typeface="Fredoka"/>
                <a:cs typeface="Fredoka"/>
                <a:sym typeface="Fredoka"/>
              </a:rPr>
              <a:t>Agenda</a:t>
            </a:r>
          </a:p>
        </p:txBody>
      </p:sp>
      <p:sp>
        <p:nvSpPr>
          <p:cNvPr name="TextBox 4" id="4"/>
          <p:cNvSpPr txBox="true"/>
          <p:nvPr/>
        </p:nvSpPr>
        <p:spPr>
          <a:xfrm rot="0">
            <a:off x="14200136" y="537845"/>
            <a:ext cx="4087864" cy="800735"/>
          </a:xfrm>
          <a:prstGeom prst="rect">
            <a:avLst/>
          </a:prstGeom>
        </p:spPr>
        <p:txBody>
          <a:bodyPr anchor="t" rtlCol="false" tIns="0" lIns="0" bIns="0" rIns="0">
            <a:spAutoFit/>
          </a:bodyPr>
          <a:lstStyle/>
          <a:p>
            <a:pPr algn="ctr">
              <a:lnSpc>
                <a:spcPts val="5740"/>
              </a:lnSpc>
            </a:pPr>
            <a:r>
              <a:rPr lang="en-US" sz="4100">
                <a:solidFill>
                  <a:srgbClr val="000000"/>
                </a:solidFill>
                <a:latin typeface="Overpass"/>
                <a:ea typeface="Overpass"/>
                <a:cs typeface="Overpass"/>
                <a:sym typeface="Overpass"/>
              </a:rPr>
              <a:t>Clase #6</a:t>
            </a:r>
          </a:p>
        </p:txBody>
      </p:sp>
      <p:sp>
        <p:nvSpPr>
          <p:cNvPr name="TextBox 5" id="5"/>
          <p:cNvSpPr txBox="true"/>
          <p:nvPr/>
        </p:nvSpPr>
        <p:spPr>
          <a:xfrm rot="0">
            <a:off x="1756586" y="3033712"/>
            <a:ext cx="6857528" cy="4029076"/>
          </a:xfrm>
          <a:prstGeom prst="rect">
            <a:avLst/>
          </a:prstGeom>
        </p:spPr>
        <p:txBody>
          <a:bodyPr anchor="t" rtlCol="false" tIns="0" lIns="0" bIns="0" rIns="0">
            <a:spAutoFit/>
          </a:bodyPr>
          <a:lstStyle/>
          <a:p>
            <a:pPr algn="l" marL="971544" indent="-485772" lvl="1">
              <a:lnSpc>
                <a:spcPts val="6299"/>
              </a:lnSpc>
              <a:buFont typeface="Arial"/>
              <a:buChar char="•"/>
            </a:pPr>
            <a:r>
              <a:rPr lang="en-US" sz="4499">
                <a:solidFill>
                  <a:srgbClr val="FFFAEF"/>
                </a:solidFill>
                <a:latin typeface="Overpass"/>
                <a:ea typeface="Overpass"/>
                <a:cs typeface="Overpass"/>
                <a:sym typeface="Overpass"/>
              </a:rPr>
              <a:t>Foro #6</a:t>
            </a:r>
          </a:p>
          <a:p>
            <a:pPr algn="l" marL="971544" indent="-485772" lvl="1">
              <a:lnSpc>
                <a:spcPts val="6299"/>
              </a:lnSpc>
              <a:buFont typeface="Arial"/>
              <a:buChar char="•"/>
            </a:pPr>
            <a:r>
              <a:rPr lang="en-US" sz="4499">
                <a:solidFill>
                  <a:srgbClr val="FFFAEF"/>
                </a:solidFill>
                <a:latin typeface="Overpass"/>
                <a:ea typeface="Overpass"/>
                <a:cs typeface="Overpass"/>
                <a:sym typeface="Overpass"/>
              </a:rPr>
              <a:t>Examen Corto 1</a:t>
            </a:r>
          </a:p>
          <a:p>
            <a:pPr algn="l" marL="971544" indent="-485772" lvl="1">
              <a:lnSpc>
                <a:spcPts val="6299"/>
              </a:lnSpc>
              <a:buFont typeface="Arial"/>
              <a:buChar char="•"/>
            </a:pPr>
            <a:r>
              <a:rPr lang="en-US" sz="4499">
                <a:solidFill>
                  <a:srgbClr val="FFFAEF"/>
                </a:solidFill>
                <a:latin typeface="Overpass"/>
                <a:ea typeface="Overpass"/>
                <a:cs typeface="Overpass"/>
                <a:sym typeface="Overpass"/>
              </a:rPr>
              <a:t>Lectura Enunciado de Proyecto #1</a:t>
            </a:r>
          </a:p>
          <a:p>
            <a:pPr algn="l" marL="971544" indent="-485772" lvl="1">
              <a:lnSpc>
                <a:spcPts val="6299"/>
              </a:lnSpc>
              <a:buFont typeface="Arial"/>
              <a:buChar char="•"/>
            </a:pPr>
            <a:r>
              <a:rPr lang="en-US" sz="4499">
                <a:solidFill>
                  <a:srgbClr val="FFFAEF"/>
                </a:solidFill>
                <a:latin typeface="Overpass"/>
                <a:ea typeface="Overpass"/>
                <a:cs typeface="Overpass"/>
                <a:sym typeface="Overpass"/>
              </a:rPr>
              <a:t>Contenido</a:t>
            </a:r>
          </a:p>
        </p:txBody>
      </p:sp>
      <p:pic>
        <p:nvPicPr>
          <p:cNvPr name="Picture 6" id="6"/>
          <p:cNvPicPr>
            <a:picLocks noChangeAspect="true"/>
          </p:cNvPicPr>
          <p:nvPr/>
        </p:nvPicPr>
        <p:blipFill>
          <a:blip r:embed="rId3"/>
          <a:srcRect l="64771" t="21970" r="0" b="0"/>
          <a:stretch>
            <a:fillRect/>
          </a:stretch>
        </p:blipFill>
        <p:spPr>
          <a:xfrm flipH="false" flipV="false" rot="5400000">
            <a:off x="2310738" y="4172522"/>
            <a:ext cx="3803740" cy="8425216"/>
          </a:xfrm>
          <a:prstGeom prst="rect">
            <a:avLst/>
          </a:prstGeom>
        </p:spPr>
      </p:pic>
      <p:grpSp>
        <p:nvGrpSpPr>
          <p:cNvPr name="Group 7" id="7"/>
          <p:cNvGrpSpPr/>
          <p:nvPr/>
        </p:nvGrpSpPr>
        <p:grpSpPr>
          <a:xfrm rot="0">
            <a:off x="1028700" y="1028700"/>
            <a:ext cx="367402" cy="346352"/>
            <a:chOff x="0" y="0"/>
            <a:chExt cx="489869" cy="461803"/>
          </a:xfrm>
        </p:grpSpPr>
        <p:sp>
          <p:nvSpPr>
            <p:cNvPr name="AutoShape 8" id="8"/>
            <p:cNvSpPr/>
            <p:nvPr/>
          </p:nvSpPr>
          <p:spPr>
            <a:xfrm rot="0">
              <a:off x="0" y="0"/>
              <a:ext cx="489869" cy="0"/>
            </a:xfrm>
            <a:prstGeom prst="line">
              <a:avLst/>
            </a:prstGeom>
            <a:ln cap="rnd" w="50800">
              <a:solidFill>
                <a:srgbClr val="FFFAEF"/>
              </a:solidFill>
              <a:prstDash val="solid"/>
              <a:headEnd type="none" len="sm" w="sm"/>
              <a:tailEnd type="none" len="sm" w="sm"/>
            </a:ln>
          </p:spPr>
        </p:sp>
        <p:sp>
          <p:nvSpPr>
            <p:cNvPr name="AutoShape 9" id="9"/>
            <p:cNvSpPr/>
            <p:nvPr/>
          </p:nvSpPr>
          <p:spPr>
            <a:xfrm rot="0">
              <a:off x="0" y="205275"/>
              <a:ext cx="489869" cy="0"/>
            </a:xfrm>
            <a:prstGeom prst="line">
              <a:avLst/>
            </a:prstGeom>
            <a:ln cap="rnd" w="50800">
              <a:solidFill>
                <a:srgbClr val="FFFAEF"/>
              </a:solidFill>
              <a:prstDash val="solid"/>
              <a:headEnd type="none" len="sm" w="sm"/>
              <a:tailEnd type="none" len="sm" w="sm"/>
            </a:ln>
          </p:spPr>
        </p:sp>
        <p:sp>
          <p:nvSpPr>
            <p:cNvPr name="AutoShape 10" id="10"/>
            <p:cNvSpPr/>
            <p:nvPr/>
          </p:nvSpPr>
          <p:spPr>
            <a:xfrm rot="0">
              <a:off x="0" y="410931"/>
              <a:ext cx="489869" cy="0"/>
            </a:xfrm>
            <a:prstGeom prst="line">
              <a:avLst/>
            </a:prstGeom>
            <a:ln cap="rnd" w="50800">
              <a:solidFill>
                <a:srgbClr val="FFFAEF"/>
              </a:solidFill>
              <a:prstDash val="solid"/>
              <a:headEnd type="none" len="sm" w="sm"/>
              <a:tailEnd type="none" len="sm" w="sm"/>
            </a:ln>
          </p:spPr>
        </p:sp>
      </p:grpSp>
      <p:sp>
        <p:nvSpPr>
          <p:cNvPr name="TextBox 11" id="11"/>
          <p:cNvSpPr txBox="true"/>
          <p:nvPr/>
        </p:nvSpPr>
        <p:spPr>
          <a:xfrm rot="0">
            <a:off x="9855414" y="2492841"/>
            <a:ext cx="7533118" cy="1914525"/>
          </a:xfrm>
          <a:prstGeom prst="rect">
            <a:avLst/>
          </a:prstGeom>
        </p:spPr>
        <p:txBody>
          <a:bodyPr anchor="t" rtlCol="false" tIns="0" lIns="0" bIns="0" rIns="0">
            <a:spAutoFit/>
          </a:bodyPr>
          <a:lstStyle/>
          <a:p>
            <a:pPr algn="ctr">
              <a:lnSpc>
                <a:spcPts val="15000"/>
              </a:lnSpc>
            </a:pPr>
            <a:r>
              <a:rPr lang="en-US" sz="12500">
                <a:solidFill>
                  <a:srgbClr val="FFFAEF"/>
                </a:solidFill>
                <a:latin typeface="Fredoka"/>
                <a:ea typeface="Fredoka"/>
                <a:cs typeface="Fredoka"/>
                <a:sym typeface="Fredoka"/>
              </a:rPr>
              <a:t>Recursos</a:t>
            </a:r>
          </a:p>
        </p:txBody>
      </p:sp>
      <p:grpSp>
        <p:nvGrpSpPr>
          <p:cNvPr name="Group 12" id="12"/>
          <p:cNvGrpSpPr/>
          <p:nvPr/>
        </p:nvGrpSpPr>
        <p:grpSpPr>
          <a:xfrm rot="0">
            <a:off x="10334774" y="4840764"/>
            <a:ext cx="7456552" cy="548640"/>
            <a:chOff x="0" y="0"/>
            <a:chExt cx="9942069" cy="731520"/>
          </a:xfrm>
        </p:grpSpPr>
        <p:sp>
          <p:nvSpPr>
            <p:cNvPr name="TextBox 13" id="13"/>
            <p:cNvSpPr txBox="true"/>
            <p:nvPr/>
          </p:nvSpPr>
          <p:spPr>
            <a:xfrm rot="0">
              <a:off x="1127421" y="54187"/>
              <a:ext cx="8814647" cy="613198"/>
            </a:xfrm>
            <a:prstGeom prst="rect">
              <a:avLst/>
            </a:prstGeom>
          </p:spPr>
          <p:txBody>
            <a:bodyPr anchor="t" rtlCol="false" tIns="0" lIns="0" bIns="0" rIns="0">
              <a:spAutoFit/>
            </a:bodyPr>
            <a:lstStyle/>
            <a:p>
              <a:pPr algn="l">
                <a:lnSpc>
                  <a:spcPts val="3380"/>
                </a:lnSpc>
              </a:pPr>
              <a:r>
                <a:rPr lang="en-US" sz="2600" u="sng">
                  <a:solidFill>
                    <a:srgbClr val="FFFFFF"/>
                  </a:solidFill>
                  <a:latin typeface="Overpass"/>
                  <a:ea typeface="Overpass"/>
                  <a:cs typeface="Overpass"/>
                  <a:sym typeface="Overpass"/>
                  <a:hlinkClick r:id="rId4" tooltip="https://www.youtube.com/watch?v=Zp_rXGqmpvE"/>
                </a:rPr>
                <a:t>Problemas en Port Channel</a:t>
              </a:r>
            </a:p>
          </p:txBody>
        </p:sp>
        <p:sp>
          <p:nvSpPr>
            <p:cNvPr name="TextBox 14" id="14"/>
            <p:cNvSpPr txBox="true"/>
            <p:nvPr/>
          </p:nvSpPr>
          <p:spPr>
            <a:xfrm rot="0">
              <a:off x="0" y="-28575"/>
              <a:ext cx="998212" cy="760095"/>
            </a:xfrm>
            <a:prstGeom prst="rect">
              <a:avLst/>
            </a:prstGeom>
          </p:spPr>
          <p:txBody>
            <a:bodyPr anchor="t" rtlCol="false" tIns="0" lIns="0" bIns="0" rIns="0">
              <a:spAutoFit/>
            </a:bodyPr>
            <a:lstStyle/>
            <a:p>
              <a:pPr algn="l">
                <a:lnSpc>
                  <a:spcPts val="4680"/>
                </a:lnSpc>
              </a:pPr>
              <a:r>
                <a:rPr lang="en-US" sz="3600">
                  <a:solidFill>
                    <a:srgbClr val="FFFFFF"/>
                  </a:solidFill>
                  <a:latin typeface="Fredoka"/>
                  <a:ea typeface="Fredoka"/>
                  <a:cs typeface="Fredoka"/>
                  <a:sym typeface="Fredoka"/>
                </a:rPr>
                <a:t>01</a:t>
              </a:r>
            </a:p>
          </p:txBody>
        </p:sp>
      </p:grpSp>
      <p:grpSp>
        <p:nvGrpSpPr>
          <p:cNvPr name="Group 15" id="15"/>
          <p:cNvGrpSpPr/>
          <p:nvPr/>
        </p:nvGrpSpPr>
        <p:grpSpPr>
          <a:xfrm rot="0">
            <a:off x="10271857" y="5714672"/>
            <a:ext cx="7519469" cy="1048120"/>
            <a:chOff x="0" y="0"/>
            <a:chExt cx="10025959" cy="1397494"/>
          </a:xfrm>
        </p:grpSpPr>
        <p:sp>
          <p:nvSpPr>
            <p:cNvPr name="TextBox 16" id="16"/>
            <p:cNvSpPr txBox="true"/>
            <p:nvPr/>
          </p:nvSpPr>
          <p:spPr>
            <a:xfrm rot="0">
              <a:off x="1211311" y="-86854"/>
              <a:ext cx="8814647" cy="1208828"/>
            </a:xfrm>
            <a:prstGeom prst="rect">
              <a:avLst/>
            </a:prstGeom>
          </p:spPr>
          <p:txBody>
            <a:bodyPr anchor="t" rtlCol="false" tIns="0" lIns="0" bIns="0" rIns="0">
              <a:spAutoFit/>
            </a:bodyPr>
            <a:lstStyle/>
            <a:p>
              <a:pPr algn="l">
                <a:lnSpc>
                  <a:spcPts val="3477"/>
                </a:lnSpc>
              </a:pPr>
              <a:r>
                <a:rPr lang="en-US" sz="2675" u="sng">
                  <a:solidFill>
                    <a:srgbClr val="FFFFFF"/>
                  </a:solidFill>
                  <a:latin typeface="Overpass"/>
                  <a:ea typeface="Overpass"/>
                  <a:cs typeface="Overpass"/>
                  <a:sym typeface="Overpass"/>
                  <a:hlinkClick r:id="rId5" tooltip="https://www.fs.com/es/blog/lacp-vs-pagp-comparison-4784.html"/>
                </a:rPr>
                <a:t>https://www.fs.com/es/blog/lacp-vs-pagp-comparison-4784.html</a:t>
              </a:r>
            </a:p>
          </p:txBody>
        </p:sp>
        <p:sp>
          <p:nvSpPr>
            <p:cNvPr name="TextBox 17" id="17"/>
            <p:cNvSpPr txBox="true"/>
            <p:nvPr/>
          </p:nvSpPr>
          <p:spPr>
            <a:xfrm rot="0">
              <a:off x="0" y="-11712"/>
              <a:ext cx="998212" cy="760095"/>
            </a:xfrm>
            <a:prstGeom prst="rect">
              <a:avLst/>
            </a:prstGeom>
          </p:spPr>
          <p:txBody>
            <a:bodyPr anchor="t" rtlCol="false" tIns="0" lIns="0" bIns="0" rIns="0">
              <a:spAutoFit/>
            </a:bodyPr>
            <a:lstStyle/>
            <a:p>
              <a:pPr algn="l">
                <a:lnSpc>
                  <a:spcPts val="4680"/>
                </a:lnSpc>
              </a:pPr>
              <a:r>
                <a:rPr lang="en-US" sz="3600">
                  <a:solidFill>
                    <a:srgbClr val="FFFFFF"/>
                  </a:solidFill>
                  <a:latin typeface="Fredoka"/>
                  <a:ea typeface="Fredoka"/>
                  <a:cs typeface="Fredoka"/>
                  <a:sym typeface="Fredoka"/>
                </a:rPr>
                <a:t>02</a:t>
              </a:r>
            </a:p>
          </p:txBody>
        </p:sp>
      </p:grpSp>
      <p:grpSp>
        <p:nvGrpSpPr>
          <p:cNvPr name="Group 18" id="18"/>
          <p:cNvGrpSpPr/>
          <p:nvPr/>
        </p:nvGrpSpPr>
        <p:grpSpPr>
          <a:xfrm rot="0">
            <a:off x="10334774" y="6945556"/>
            <a:ext cx="7519469" cy="817457"/>
            <a:chOff x="0" y="0"/>
            <a:chExt cx="10025959" cy="1089942"/>
          </a:xfrm>
        </p:grpSpPr>
        <p:sp>
          <p:nvSpPr>
            <p:cNvPr name="TextBox 19" id="19"/>
            <p:cNvSpPr txBox="true"/>
            <p:nvPr/>
          </p:nvSpPr>
          <p:spPr>
            <a:xfrm rot="0">
              <a:off x="1211311" y="-90240"/>
              <a:ext cx="8814647" cy="1184698"/>
            </a:xfrm>
            <a:prstGeom prst="rect">
              <a:avLst/>
            </a:prstGeom>
          </p:spPr>
          <p:txBody>
            <a:bodyPr anchor="t" rtlCol="false" tIns="0" lIns="0" bIns="0" rIns="0">
              <a:spAutoFit/>
            </a:bodyPr>
            <a:lstStyle/>
            <a:p>
              <a:pPr algn="l">
                <a:lnSpc>
                  <a:spcPts val="3380"/>
                </a:lnSpc>
              </a:pPr>
              <a:r>
                <a:rPr lang="en-US" sz="2600" u="sng">
                  <a:solidFill>
                    <a:srgbClr val="FFFFFF"/>
                  </a:solidFill>
                  <a:latin typeface="Overpass"/>
                  <a:ea typeface="Overpass"/>
                  <a:cs typeface="Overpass"/>
                  <a:sym typeface="Overpass"/>
                  <a:hlinkClick r:id="rId6" tooltip="https://ccnadesdecero.es/agregacion-de-enlaces-pagp-lacp/"/>
                </a:rPr>
                <a:t>https://ccnadesdecero.es/agregacion-de-enlaces-pagp-lacp/</a:t>
              </a:r>
            </a:p>
          </p:txBody>
        </p:sp>
        <p:sp>
          <p:nvSpPr>
            <p:cNvPr name="TextBox 20" id="20"/>
            <p:cNvSpPr txBox="true"/>
            <p:nvPr/>
          </p:nvSpPr>
          <p:spPr>
            <a:xfrm rot="0">
              <a:off x="0" y="-27164"/>
              <a:ext cx="998212" cy="760095"/>
            </a:xfrm>
            <a:prstGeom prst="rect">
              <a:avLst/>
            </a:prstGeom>
          </p:spPr>
          <p:txBody>
            <a:bodyPr anchor="t" rtlCol="false" tIns="0" lIns="0" bIns="0" rIns="0">
              <a:spAutoFit/>
            </a:bodyPr>
            <a:lstStyle/>
            <a:p>
              <a:pPr algn="l">
                <a:lnSpc>
                  <a:spcPts val="4680"/>
                </a:lnSpc>
              </a:pPr>
              <a:r>
                <a:rPr lang="en-US" sz="3600">
                  <a:solidFill>
                    <a:srgbClr val="FFFFFF"/>
                  </a:solidFill>
                  <a:latin typeface="Fredoka"/>
                  <a:ea typeface="Fredoka"/>
                  <a:cs typeface="Fredoka"/>
                  <a:sym typeface="Fredoka"/>
                </a:rPr>
                <a:t>03</a:t>
              </a:r>
            </a:p>
          </p:txBody>
        </p:sp>
      </p:grpSp>
      <p:grpSp>
        <p:nvGrpSpPr>
          <p:cNvPr name="Group 21" id="21"/>
          <p:cNvGrpSpPr/>
          <p:nvPr/>
        </p:nvGrpSpPr>
        <p:grpSpPr>
          <a:xfrm rot="0">
            <a:off x="10271857" y="8201163"/>
            <a:ext cx="7519469" cy="1674707"/>
            <a:chOff x="0" y="0"/>
            <a:chExt cx="10025959" cy="2232942"/>
          </a:xfrm>
        </p:grpSpPr>
        <p:sp>
          <p:nvSpPr>
            <p:cNvPr name="TextBox 22" id="22"/>
            <p:cNvSpPr txBox="true"/>
            <p:nvPr/>
          </p:nvSpPr>
          <p:spPr>
            <a:xfrm rot="0">
              <a:off x="1211311" y="-90240"/>
              <a:ext cx="8814647" cy="2327698"/>
            </a:xfrm>
            <a:prstGeom prst="rect">
              <a:avLst/>
            </a:prstGeom>
          </p:spPr>
          <p:txBody>
            <a:bodyPr anchor="t" rtlCol="false" tIns="0" lIns="0" bIns="0" rIns="0">
              <a:spAutoFit/>
            </a:bodyPr>
            <a:lstStyle/>
            <a:p>
              <a:pPr algn="l">
                <a:lnSpc>
                  <a:spcPts val="3380"/>
                </a:lnSpc>
              </a:pPr>
              <a:r>
                <a:rPr lang="en-US" sz="2600" u="sng">
                  <a:solidFill>
                    <a:srgbClr val="FFFFFF"/>
                  </a:solidFill>
                  <a:latin typeface="Overpass"/>
                  <a:ea typeface="Overpass"/>
                  <a:cs typeface="Overpass"/>
                  <a:sym typeface="Overpass"/>
                  <a:hlinkClick r:id="rId7" tooltip="https://www.cisco.com/c/en/us/td/docs/switches/lan/catalyst6500/ios/15-4SY/config_guide/sup6T/15_3_sy_swcg_6T/etherchannel.pdf"/>
                </a:rPr>
                <a:t>https://www.cisco.com/c/en/us/td/docs/switches/lan/catalyst6500/ios/15-4SY/config_guide/sup6T/15_3_sy_swcg_6T/etherchannel.pdf</a:t>
              </a:r>
            </a:p>
          </p:txBody>
        </p:sp>
        <p:sp>
          <p:nvSpPr>
            <p:cNvPr name="TextBox 23" id="23"/>
            <p:cNvSpPr txBox="true"/>
            <p:nvPr/>
          </p:nvSpPr>
          <p:spPr>
            <a:xfrm rot="0">
              <a:off x="0" y="544336"/>
              <a:ext cx="998212" cy="760095"/>
            </a:xfrm>
            <a:prstGeom prst="rect">
              <a:avLst/>
            </a:prstGeom>
          </p:spPr>
          <p:txBody>
            <a:bodyPr anchor="t" rtlCol="false" tIns="0" lIns="0" bIns="0" rIns="0">
              <a:spAutoFit/>
            </a:bodyPr>
            <a:lstStyle/>
            <a:p>
              <a:pPr algn="l">
                <a:lnSpc>
                  <a:spcPts val="4680"/>
                </a:lnSpc>
              </a:pPr>
              <a:r>
                <a:rPr lang="en-US" sz="3600">
                  <a:solidFill>
                    <a:srgbClr val="FFFFFF"/>
                  </a:solidFill>
                  <a:latin typeface="Fredoka"/>
                  <a:ea typeface="Fredoka"/>
                  <a:cs typeface="Fredoka"/>
                  <a:sym typeface="Fredoka"/>
                </a:rPr>
                <a:t>04</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094170">
            <a:off x="14148180" y="-2590072"/>
            <a:ext cx="7036829" cy="7237544"/>
          </a:xfrm>
          <a:prstGeom prst="rect">
            <a:avLst/>
          </a:prstGeom>
        </p:spPr>
      </p:pic>
      <p:sp>
        <p:nvSpPr>
          <p:cNvPr name="TextBox 3" id="3"/>
          <p:cNvSpPr txBox="true"/>
          <p:nvPr/>
        </p:nvSpPr>
        <p:spPr>
          <a:xfrm rot="0">
            <a:off x="804343" y="1680507"/>
            <a:ext cx="16679313" cy="1228725"/>
          </a:xfrm>
          <a:prstGeom prst="rect">
            <a:avLst/>
          </a:prstGeom>
        </p:spPr>
        <p:txBody>
          <a:bodyPr anchor="t" rtlCol="false" tIns="0" lIns="0" bIns="0" rIns="0">
            <a:spAutoFit/>
          </a:bodyPr>
          <a:lstStyle/>
          <a:p>
            <a:pPr algn="ctr">
              <a:lnSpc>
                <a:spcPts val="9600"/>
              </a:lnSpc>
            </a:pPr>
            <a:r>
              <a:rPr lang="en-US" sz="8000">
                <a:solidFill>
                  <a:srgbClr val="FFFAEF"/>
                </a:solidFill>
                <a:latin typeface="Fredoka"/>
                <a:ea typeface="Fredoka"/>
                <a:cs typeface="Fredoka"/>
                <a:sym typeface="Fredoka"/>
              </a:rPr>
              <a:t>Competencias a desarrollar</a:t>
            </a:r>
          </a:p>
        </p:txBody>
      </p:sp>
      <p:sp>
        <p:nvSpPr>
          <p:cNvPr name="TextBox 4" id="4"/>
          <p:cNvSpPr txBox="true"/>
          <p:nvPr/>
        </p:nvSpPr>
        <p:spPr>
          <a:xfrm rot="0">
            <a:off x="14200136" y="537845"/>
            <a:ext cx="4087864" cy="800735"/>
          </a:xfrm>
          <a:prstGeom prst="rect">
            <a:avLst/>
          </a:prstGeom>
        </p:spPr>
        <p:txBody>
          <a:bodyPr anchor="t" rtlCol="false" tIns="0" lIns="0" bIns="0" rIns="0">
            <a:spAutoFit/>
          </a:bodyPr>
          <a:lstStyle/>
          <a:p>
            <a:pPr algn="ctr">
              <a:lnSpc>
                <a:spcPts val="5740"/>
              </a:lnSpc>
            </a:pPr>
            <a:r>
              <a:rPr lang="en-US" sz="4100">
                <a:solidFill>
                  <a:srgbClr val="000000"/>
                </a:solidFill>
                <a:latin typeface="Overpass"/>
                <a:ea typeface="Overpass"/>
                <a:cs typeface="Overpass"/>
                <a:sym typeface="Overpass"/>
              </a:rPr>
              <a:t>Clase #6</a:t>
            </a:r>
          </a:p>
        </p:txBody>
      </p:sp>
      <p:sp>
        <p:nvSpPr>
          <p:cNvPr name="TextBox 5" id="5"/>
          <p:cNvSpPr txBox="true"/>
          <p:nvPr/>
        </p:nvSpPr>
        <p:spPr>
          <a:xfrm rot="0">
            <a:off x="1554821" y="3730719"/>
            <a:ext cx="15178358" cy="4029076"/>
          </a:xfrm>
          <a:prstGeom prst="rect">
            <a:avLst/>
          </a:prstGeom>
        </p:spPr>
        <p:txBody>
          <a:bodyPr anchor="t" rtlCol="false" tIns="0" lIns="0" bIns="0" rIns="0">
            <a:spAutoFit/>
          </a:bodyPr>
          <a:lstStyle/>
          <a:p>
            <a:pPr algn="just" marL="971544" indent="-485772" lvl="1">
              <a:lnSpc>
                <a:spcPts val="6299"/>
              </a:lnSpc>
              <a:buFont typeface="Arial"/>
              <a:buChar char="•"/>
            </a:pPr>
            <a:r>
              <a:rPr lang="en-US" sz="4499">
                <a:solidFill>
                  <a:srgbClr val="FFFAEF"/>
                </a:solidFill>
                <a:latin typeface="Overpass"/>
                <a:ea typeface="Overpass"/>
                <a:cs typeface="Overpass"/>
                <a:sym typeface="Overpass"/>
              </a:rPr>
              <a:t>Diseño y creación de redes segmentadas, aplicando técnicas de etiquetado y optimización  para aislar y gestionar el tráfico de manera eficiente entre diferentes grupos de usuarios, asegurando redundancia y evitando bucles en la red. </a:t>
            </a:r>
          </a:p>
        </p:txBody>
      </p:sp>
      <p:pic>
        <p:nvPicPr>
          <p:cNvPr name="Picture 6" id="6"/>
          <p:cNvPicPr>
            <a:picLocks noChangeAspect="true"/>
          </p:cNvPicPr>
          <p:nvPr/>
        </p:nvPicPr>
        <p:blipFill>
          <a:blip r:embed="rId3"/>
          <a:srcRect l="64771" t="21970" r="0" b="0"/>
          <a:stretch>
            <a:fillRect/>
          </a:stretch>
        </p:blipFill>
        <p:spPr>
          <a:xfrm flipH="false" flipV="false" rot="5400000">
            <a:off x="2310738" y="4172522"/>
            <a:ext cx="3803740" cy="8425216"/>
          </a:xfrm>
          <a:prstGeom prst="rect">
            <a:avLst/>
          </a:prstGeom>
        </p:spPr>
      </p:pic>
      <p:grpSp>
        <p:nvGrpSpPr>
          <p:cNvPr name="Group 7" id="7"/>
          <p:cNvGrpSpPr/>
          <p:nvPr/>
        </p:nvGrpSpPr>
        <p:grpSpPr>
          <a:xfrm rot="0">
            <a:off x="1028700" y="1028700"/>
            <a:ext cx="367402" cy="346352"/>
            <a:chOff x="0" y="0"/>
            <a:chExt cx="489869" cy="461803"/>
          </a:xfrm>
        </p:grpSpPr>
        <p:sp>
          <p:nvSpPr>
            <p:cNvPr name="AutoShape 8" id="8"/>
            <p:cNvSpPr/>
            <p:nvPr/>
          </p:nvSpPr>
          <p:spPr>
            <a:xfrm rot="0">
              <a:off x="0" y="0"/>
              <a:ext cx="489869" cy="0"/>
            </a:xfrm>
            <a:prstGeom prst="line">
              <a:avLst/>
            </a:prstGeom>
            <a:ln cap="rnd" w="50800">
              <a:solidFill>
                <a:srgbClr val="FFFAEF"/>
              </a:solidFill>
              <a:prstDash val="solid"/>
              <a:headEnd type="none" len="sm" w="sm"/>
              <a:tailEnd type="none" len="sm" w="sm"/>
            </a:ln>
          </p:spPr>
        </p:sp>
        <p:sp>
          <p:nvSpPr>
            <p:cNvPr name="AutoShape 9" id="9"/>
            <p:cNvSpPr/>
            <p:nvPr/>
          </p:nvSpPr>
          <p:spPr>
            <a:xfrm rot="0">
              <a:off x="0" y="205275"/>
              <a:ext cx="489869" cy="0"/>
            </a:xfrm>
            <a:prstGeom prst="line">
              <a:avLst/>
            </a:prstGeom>
            <a:ln cap="rnd" w="50800">
              <a:solidFill>
                <a:srgbClr val="FFFAEF"/>
              </a:solidFill>
              <a:prstDash val="solid"/>
              <a:headEnd type="none" len="sm" w="sm"/>
              <a:tailEnd type="none" len="sm" w="sm"/>
            </a:ln>
          </p:spPr>
        </p:sp>
        <p:sp>
          <p:nvSpPr>
            <p:cNvPr name="AutoShape 10" id="10"/>
            <p:cNvSpPr/>
            <p:nvPr/>
          </p:nvSpPr>
          <p:spPr>
            <a:xfrm rot="0">
              <a:off x="0" y="410931"/>
              <a:ext cx="489869" cy="0"/>
            </a:xfrm>
            <a:prstGeom prst="line">
              <a:avLst/>
            </a:prstGeom>
            <a:ln cap="rnd" w="50800">
              <a:solidFill>
                <a:srgbClr val="FFFAEF"/>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3655377" y="6809666"/>
            <a:ext cx="6229999" cy="6954669"/>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0" y="0"/>
            <a:ext cx="6925457" cy="4700654"/>
          </a:xfrm>
          <a:prstGeom prst="rect">
            <a:avLst/>
          </a:prstGeom>
        </p:spPr>
      </p:pic>
      <p:sp>
        <p:nvSpPr>
          <p:cNvPr name="TextBox 4" id="4"/>
          <p:cNvSpPr txBox="true"/>
          <p:nvPr/>
        </p:nvSpPr>
        <p:spPr>
          <a:xfrm rot="0">
            <a:off x="1028700" y="587831"/>
            <a:ext cx="13531452" cy="13716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Agregación de Enlaces</a:t>
            </a:r>
          </a:p>
        </p:txBody>
      </p:sp>
      <p:sp>
        <p:nvSpPr>
          <p:cNvPr name="TextBox 5" id="5"/>
          <p:cNvSpPr txBox="true"/>
          <p:nvPr/>
        </p:nvSpPr>
        <p:spPr>
          <a:xfrm rot="0">
            <a:off x="1999540" y="2696204"/>
            <a:ext cx="14288920" cy="6372225"/>
          </a:xfrm>
          <a:prstGeom prst="rect">
            <a:avLst/>
          </a:prstGeom>
        </p:spPr>
        <p:txBody>
          <a:bodyPr anchor="t" rtlCol="false" tIns="0" lIns="0" bIns="0" rIns="0">
            <a:spAutoFit/>
          </a:bodyPr>
          <a:lstStyle/>
          <a:p>
            <a:pPr algn="just">
              <a:lnSpc>
                <a:spcPts val="3899"/>
              </a:lnSpc>
            </a:pPr>
            <a:r>
              <a:rPr lang="en-US" sz="2999">
                <a:solidFill>
                  <a:srgbClr val="000000"/>
                </a:solidFill>
                <a:latin typeface="Overpass"/>
                <a:ea typeface="Overpass"/>
                <a:cs typeface="Overpass"/>
                <a:sym typeface="Overpass"/>
              </a:rPr>
              <a:t>También conocida como EtherChannel o Port Channel, es una tecnología que permite combinar múltiples enlaces de red físicos en un solo enlace lógico de mayor ancho de banda. Esta tecnología se utiliza para mejorar la disponibilidad, el rendimiento y la redundancia de la red.</a:t>
            </a:r>
          </a:p>
          <a:p>
            <a:pPr algn="just">
              <a:lnSpc>
                <a:spcPts val="3899"/>
              </a:lnSpc>
            </a:pPr>
          </a:p>
          <a:p>
            <a:pPr algn="just">
              <a:lnSpc>
                <a:spcPts val="3899"/>
              </a:lnSpc>
            </a:pPr>
            <a:r>
              <a:rPr lang="en-US" sz="2999">
                <a:solidFill>
                  <a:srgbClr val="000000"/>
                </a:solidFill>
                <a:latin typeface="Overpass"/>
                <a:ea typeface="Overpass"/>
                <a:cs typeface="Overpass"/>
                <a:sym typeface="Overpass"/>
              </a:rPr>
              <a:t>Se implementa mediante el uso de un protocolo de control de agregación de enlaces (LACP, por sus siglas en inglés) que permite que los dispositivos de red se comuniquen y coordinen la configuración de los enlaces físicos para formar un canal de enlace lógico.</a:t>
            </a:r>
          </a:p>
          <a:p>
            <a:pPr algn="just">
              <a:lnSpc>
                <a:spcPts val="3899"/>
              </a:lnSpc>
            </a:pPr>
          </a:p>
          <a:p>
            <a:pPr algn="just">
              <a:lnSpc>
                <a:spcPts val="3899"/>
              </a:lnSpc>
            </a:pPr>
            <a:r>
              <a:rPr lang="en-US" sz="2999">
                <a:solidFill>
                  <a:srgbClr val="000000"/>
                </a:solidFill>
                <a:latin typeface="Overpass"/>
                <a:ea typeface="Overpass"/>
                <a:cs typeface="Overpass"/>
                <a:sym typeface="Overpass"/>
              </a:rPr>
              <a:t>Los enlaces físicos pueden ser de la misma velocidad o de velocidades diferentes, y pueden estar conectados entre dos dispositivos de red o entre varios dispositivos de red.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3124630" y="2018870"/>
            <a:ext cx="5143500" cy="11392761"/>
          </a:xfrm>
          <a:prstGeom prst="rect">
            <a:avLst/>
          </a:prstGeom>
        </p:spPr>
      </p:pic>
      <p:sp>
        <p:nvSpPr>
          <p:cNvPr name="Freeform 4" id="4"/>
          <p:cNvSpPr/>
          <p:nvPr/>
        </p:nvSpPr>
        <p:spPr>
          <a:xfrm flipH="false" flipV="false" rot="-1016799">
            <a:off x="9736550" y="-2506878"/>
            <a:ext cx="11406363" cy="9923536"/>
          </a:xfrm>
          <a:custGeom>
            <a:avLst/>
            <a:gdLst/>
            <a:ahLst/>
            <a:cxnLst/>
            <a:rect r="r" b="b" t="t" l="l"/>
            <a:pathLst>
              <a:path h="9923536" w="11406363">
                <a:moveTo>
                  <a:pt x="0" y="0"/>
                </a:moveTo>
                <a:lnTo>
                  <a:pt x="11406363" y="0"/>
                </a:lnTo>
                <a:lnTo>
                  <a:pt x="11406363" y="9923536"/>
                </a:lnTo>
                <a:lnTo>
                  <a:pt x="0" y="9923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8657442" y="536344"/>
            <a:ext cx="9001055" cy="1371600"/>
          </a:xfrm>
          <a:prstGeom prst="rect">
            <a:avLst/>
          </a:prstGeom>
        </p:spPr>
        <p:txBody>
          <a:bodyPr anchor="t" rtlCol="false" tIns="0" lIns="0" bIns="0" rIns="0">
            <a:spAutoFit/>
          </a:bodyPr>
          <a:lstStyle/>
          <a:p>
            <a:pPr algn="r">
              <a:lnSpc>
                <a:spcPts val="10800"/>
              </a:lnSpc>
            </a:pPr>
            <a:r>
              <a:rPr lang="en-US" sz="9000">
                <a:solidFill>
                  <a:srgbClr val="FFFAEF"/>
                </a:solidFill>
                <a:latin typeface="Fredoka"/>
                <a:ea typeface="Fredoka"/>
                <a:cs typeface="Fredoka"/>
                <a:sym typeface="Fredoka"/>
              </a:rPr>
              <a:t>EtherChannel</a:t>
            </a:r>
          </a:p>
        </p:txBody>
      </p:sp>
      <p:sp>
        <p:nvSpPr>
          <p:cNvPr name="TextBox 6" id="6"/>
          <p:cNvSpPr txBox="true"/>
          <p:nvPr/>
        </p:nvSpPr>
        <p:spPr>
          <a:xfrm rot="0">
            <a:off x="2064925" y="2705060"/>
            <a:ext cx="14506280" cy="872807"/>
          </a:xfrm>
          <a:prstGeom prst="rect">
            <a:avLst/>
          </a:prstGeom>
        </p:spPr>
        <p:txBody>
          <a:bodyPr anchor="t" rtlCol="false" tIns="0" lIns="0" bIns="0" rIns="0">
            <a:spAutoFit/>
          </a:bodyPr>
          <a:lstStyle/>
          <a:p>
            <a:pPr algn="l">
              <a:lnSpc>
                <a:spcPts val="3282"/>
              </a:lnSpc>
            </a:pPr>
            <a:r>
              <a:rPr lang="en-US" sz="2525">
                <a:solidFill>
                  <a:srgbClr val="FFFAEF"/>
                </a:solidFill>
                <a:latin typeface="Overpass"/>
                <a:ea typeface="Overpass"/>
                <a:cs typeface="Overpass"/>
                <a:sym typeface="Overpass"/>
              </a:rPr>
              <a:t>Al utilizar la agregación de enlaces, el tráfico de red se distribuye entre los enlaces físicos del canal de enlace lógico, lo que permite aumentar el ancho de banda disponible.</a:t>
            </a:r>
          </a:p>
        </p:txBody>
      </p:sp>
      <p:sp>
        <p:nvSpPr>
          <p:cNvPr name="TextBox 7" id="7"/>
          <p:cNvSpPr txBox="true"/>
          <p:nvPr/>
        </p:nvSpPr>
        <p:spPr>
          <a:xfrm rot="0">
            <a:off x="2064925" y="4377968"/>
            <a:ext cx="14506280" cy="836612"/>
          </a:xfrm>
          <a:prstGeom prst="rect">
            <a:avLst/>
          </a:prstGeom>
        </p:spPr>
        <p:txBody>
          <a:bodyPr anchor="t" rtlCol="false" tIns="0" lIns="0" bIns="0" rIns="0">
            <a:spAutoFit/>
          </a:bodyPr>
          <a:lstStyle/>
          <a:p>
            <a:pPr algn="l">
              <a:lnSpc>
                <a:spcPts val="3087"/>
              </a:lnSpc>
            </a:pPr>
            <a:r>
              <a:rPr lang="en-US" sz="2375">
                <a:solidFill>
                  <a:srgbClr val="FFFAEF"/>
                </a:solidFill>
                <a:latin typeface="Overpass"/>
                <a:ea typeface="Overpass"/>
                <a:cs typeface="Overpass"/>
                <a:sym typeface="Overpass"/>
              </a:rPr>
              <a:t>Si uno de los enlaces físicos falla, el tráfico de red se redistribuye automáticamente a los enlaces físicos restantes, lo que mejora la redundancia y la disponibilidad de la red.</a:t>
            </a:r>
          </a:p>
        </p:txBody>
      </p:sp>
      <p:sp>
        <p:nvSpPr>
          <p:cNvPr name="TextBox 8" id="8"/>
          <p:cNvSpPr txBox="true"/>
          <p:nvPr/>
        </p:nvSpPr>
        <p:spPr>
          <a:xfrm rot="0">
            <a:off x="2064925" y="6024205"/>
            <a:ext cx="14506280" cy="1161415"/>
          </a:xfrm>
          <a:prstGeom prst="rect">
            <a:avLst/>
          </a:prstGeom>
        </p:spPr>
        <p:txBody>
          <a:bodyPr anchor="t" rtlCol="false" tIns="0" lIns="0" bIns="0" rIns="0">
            <a:spAutoFit/>
          </a:bodyPr>
          <a:lstStyle/>
          <a:p>
            <a:pPr algn="l">
              <a:lnSpc>
                <a:spcPts val="2990"/>
              </a:lnSpc>
            </a:pPr>
            <a:r>
              <a:rPr lang="en-US" sz="2300">
                <a:solidFill>
                  <a:srgbClr val="FFFAEF"/>
                </a:solidFill>
                <a:latin typeface="Overpass"/>
                <a:ea typeface="Overpass"/>
                <a:cs typeface="Overpass"/>
                <a:sym typeface="Overpass"/>
              </a:rPr>
              <a:t>La agregación de puertos es una tecnología útil en entornos de red de alta disponibilidad, como centros de datos o redes empresariales críticas, ya que ayuda a garantizar que la red esté siempre disponible y funcionando correctamente. </a:t>
            </a:r>
          </a:p>
        </p:txBody>
      </p:sp>
      <p:pic>
        <p:nvPicPr>
          <p:cNvPr name="Picture 9" id="9"/>
          <p:cNvPicPr>
            <a:picLocks noChangeAspect="true"/>
          </p:cNvPicPr>
          <p:nvPr/>
        </p:nvPicPr>
        <p:blipFill>
          <a:blip r:embed="rId5"/>
          <a:srcRect l="0" t="0" r="0" b="0"/>
          <a:stretch>
            <a:fillRect/>
          </a:stretch>
        </p:blipFill>
        <p:spPr>
          <a:xfrm flipH="false" flipV="false" rot="0">
            <a:off x="16571205" y="2715796"/>
            <a:ext cx="832486" cy="862071"/>
          </a:xfrm>
          <a:prstGeom prst="rect">
            <a:avLst/>
          </a:prstGeom>
        </p:spPr>
      </p:pic>
      <p:pic>
        <p:nvPicPr>
          <p:cNvPr name="Picture 10" id="10"/>
          <p:cNvPicPr>
            <a:picLocks noChangeAspect="true"/>
          </p:cNvPicPr>
          <p:nvPr/>
        </p:nvPicPr>
        <p:blipFill>
          <a:blip r:embed="rId6"/>
          <a:srcRect l="0" t="0" r="0" b="0"/>
          <a:stretch>
            <a:fillRect/>
          </a:stretch>
        </p:blipFill>
        <p:spPr>
          <a:xfrm flipH="false" flipV="false" rot="0">
            <a:off x="698118" y="4463693"/>
            <a:ext cx="661164" cy="629608"/>
          </a:xfrm>
          <a:prstGeom prst="rect">
            <a:avLst/>
          </a:prstGeom>
        </p:spPr>
      </p:pic>
      <p:pic>
        <p:nvPicPr>
          <p:cNvPr name="Picture 11" id="11"/>
          <p:cNvPicPr>
            <a:picLocks noChangeAspect="true"/>
          </p:cNvPicPr>
          <p:nvPr/>
        </p:nvPicPr>
        <p:blipFill>
          <a:blip r:embed="rId7"/>
          <a:srcRect l="0" t="0" r="0" b="0"/>
          <a:stretch>
            <a:fillRect/>
          </a:stretch>
        </p:blipFill>
        <p:spPr>
          <a:xfrm flipH="false" flipV="false" rot="0">
            <a:off x="16601105" y="6100405"/>
            <a:ext cx="658195" cy="645077"/>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3124630" y="2018870"/>
            <a:ext cx="5143500" cy="11392761"/>
          </a:xfrm>
          <a:prstGeom prst="rect">
            <a:avLst/>
          </a:prstGeom>
        </p:spPr>
      </p:pic>
      <p:sp>
        <p:nvSpPr>
          <p:cNvPr name="Freeform 4" id="4"/>
          <p:cNvSpPr/>
          <p:nvPr/>
        </p:nvSpPr>
        <p:spPr>
          <a:xfrm flipH="false" flipV="false" rot="-1016799">
            <a:off x="9736550" y="-2506878"/>
            <a:ext cx="11406363" cy="9923536"/>
          </a:xfrm>
          <a:custGeom>
            <a:avLst/>
            <a:gdLst/>
            <a:ahLst/>
            <a:cxnLst/>
            <a:rect r="r" b="b" t="t" l="l"/>
            <a:pathLst>
              <a:path h="9923536" w="11406363">
                <a:moveTo>
                  <a:pt x="0" y="0"/>
                </a:moveTo>
                <a:lnTo>
                  <a:pt x="11406363" y="0"/>
                </a:lnTo>
                <a:lnTo>
                  <a:pt x="11406363" y="9923536"/>
                </a:lnTo>
                <a:lnTo>
                  <a:pt x="0" y="9923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1281314"/>
            <a:ext cx="1753926" cy="1253260"/>
          </a:xfrm>
          <a:custGeom>
            <a:avLst/>
            <a:gdLst/>
            <a:ahLst/>
            <a:cxnLst/>
            <a:rect r="r" b="b" t="t" l="l"/>
            <a:pathLst>
              <a:path h="1253260" w="1753926">
                <a:moveTo>
                  <a:pt x="0" y="0"/>
                </a:moveTo>
                <a:lnTo>
                  <a:pt x="1753926" y="0"/>
                </a:lnTo>
                <a:lnTo>
                  <a:pt x="1753926" y="1253259"/>
                </a:lnTo>
                <a:lnTo>
                  <a:pt x="0" y="12532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780136" y="4227256"/>
            <a:ext cx="1832488" cy="1832488"/>
          </a:xfrm>
          <a:custGeom>
            <a:avLst/>
            <a:gdLst/>
            <a:ahLst/>
            <a:cxnLst/>
            <a:rect r="r" b="b" t="t" l="l"/>
            <a:pathLst>
              <a:path h="1832488" w="1832488">
                <a:moveTo>
                  <a:pt x="0" y="0"/>
                </a:moveTo>
                <a:lnTo>
                  <a:pt x="1832488" y="0"/>
                </a:lnTo>
                <a:lnTo>
                  <a:pt x="1832488" y="1832488"/>
                </a:lnTo>
                <a:lnTo>
                  <a:pt x="0" y="18324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28700" y="7401125"/>
            <a:ext cx="1753926" cy="1253260"/>
          </a:xfrm>
          <a:custGeom>
            <a:avLst/>
            <a:gdLst/>
            <a:ahLst/>
            <a:cxnLst/>
            <a:rect r="r" b="b" t="t" l="l"/>
            <a:pathLst>
              <a:path h="1253260" w="1753926">
                <a:moveTo>
                  <a:pt x="0" y="0"/>
                </a:moveTo>
                <a:lnTo>
                  <a:pt x="1753926" y="0"/>
                </a:lnTo>
                <a:lnTo>
                  <a:pt x="1753926" y="1253259"/>
                </a:lnTo>
                <a:lnTo>
                  <a:pt x="0" y="12532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221146" y="4227256"/>
            <a:ext cx="1832488" cy="1832488"/>
          </a:xfrm>
          <a:custGeom>
            <a:avLst/>
            <a:gdLst/>
            <a:ahLst/>
            <a:cxnLst/>
            <a:rect r="r" b="b" t="t" l="l"/>
            <a:pathLst>
              <a:path h="1832488" w="1832488">
                <a:moveTo>
                  <a:pt x="0" y="0"/>
                </a:moveTo>
                <a:lnTo>
                  <a:pt x="1832488" y="0"/>
                </a:lnTo>
                <a:lnTo>
                  <a:pt x="1832488" y="1832488"/>
                </a:lnTo>
                <a:lnTo>
                  <a:pt x="0" y="18324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439732" y="7226196"/>
            <a:ext cx="1753926" cy="1253260"/>
          </a:xfrm>
          <a:custGeom>
            <a:avLst/>
            <a:gdLst/>
            <a:ahLst/>
            <a:cxnLst/>
            <a:rect r="r" b="b" t="t" l="l"/>
            <a:pathLst>
              <a:path h="1253260" w="1753926">
                <a:moveTo>
                  <a:pt x="0" y="0"/>
                </a:moveTo>
                <a:lnTo>
                  <a:pt x="1753925" y="0"/>
                </a:lnTo>
                <a:lnTo>
                  <a:pt x="1753925" y="1253259"/>
                </a:lnTo>
                <a:lnTo>
                  <a:pt x="0" y="12532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0" id="10"/>
          <p:cNvSpPr/>
          <p:nvPr/>
        </p:nvSpPr>
        <p:spPr>
          <a:xfrm flipV="true">
            <a:off x="2649027" y="5744694"/>
            <a:ext cx="2131110" cy="2734761"/>
          </a:xfrm>
          <a:prstGeom prst="line">
            <a:avLst/>
          </a:prstGeom>
          <a:ln cap="flat" w="38100">
            <a:solidFill>
              <a:srgbClr val="000000"/>
            </a:solidFill>
            <a:prstDash val="solid"/>
            <a:headEnd type="none" len="sm" w="sm"/>
            <a:tailEnd type="none" len="sm" w="sm"/>
          </a:ln>
        </p:spPr>
      </p:sp>
      <p:sp>
        <p:nvSpPr>
          <p:cNvPr name="AutoShape 11" id="11"/>
          <p:cNvSpPr/>
          <p:nvPr/>
        </p:nvSpPr>
        <p:spPr>
          <a:xfrm>
            <a:off x="2782626" y="1907944"/>
            <a:ext cx="1997511" cy="2541802"/>
          </a:xfrm>
          <a:prstGeom prst="line">
            <a:avLst/>
          </a:prstGeom>
          <a:ln cap="flat" w="38100">
            <a:solidFill>
              <a:srgbClr val="000000"/>
            </a:solidFill>
            <a:prstDash val="solid"/>
            <a:headEnd type="none" len="sm" w="sm"/>
            <a:tailEnd type="none" len="sm" w="sm"/>
          </a:ln>
        </p:spPr>
      </p:sp>
      <p:sp>
        <p:nvSpPr>
          <p:cNvPr name="AutoShape 12" id="12"/>
          <p:cNvSpPr/>
          <p:nvPr/>
        </p:nvSpPr>
        <p:spPr>
          <a:xfrm>
            <a:off x="6612624" y="4701660"/>
            <a:ext cx="3608521" cy="0"/>
          </a:xfrm>
          <a:prstGeom prst="line">
            <a:avLst/>
          </a:prstGeom>
          <a:ln cap="flat" w="38100">
            <a:solidFill>
              <a:srgbClr val="000000"/>
            </a:solidFill>
            <a:prstDash val="solid"/>
            <a:headEnd type="none" len="sm" w="sm"/>
            <a:tailEnd type="none" len="sm" w="sm"/>
          </a:ln>
        </p:spPr>
      </p:sp>
      <p:sp>
        <p:nvSpPr>
          <p:cNvPr name="AutoShape 13" id="13"/>
          <p:cNvSpPr/>
          <p:nvPr/>
        </p:nvSpPr>
        <p:spPr>
          <a:xfrm>
            <a:off x="6612624" y="5410751"/>
            <a:ext cx="3608521" cy="0"/>
          </a:xfrm>
          <a:prstGeom prst="line">
            <a:avLst/>
          </a:prstGeom>
          <a:ln cap="flat" w="38100">
            <a:solidFill>
              <a:srgbClr val="000000"/>
            </a:solidFill>
            <a:prstDash val="solid"/>
            <a:headEnd type="none" len="sm" w="sm"/>
            <a:tailEnd type="none" len="sm" w="sm"/>
          </a:ln>
        </p:spPr>
      </p:sp>
      <p:sp>
        <p:nvSpPr>
          <p:cNvPr name="AutoShape 14" id="14"/>
          <p:cNvSpPr/>
          <p:nvPr/>
        </p:nvSpPr>
        <p:spPr>
          <a:xfrm>
            <a:off x="12053634" y="5124450"/>
            <a:ext cx="3474923" cy="2382511"/>
          </a:xfrm>
          <a:prstGeom prst="line">
            <a:avLst/>
          </a:prstGeom>
          <a:ln cap="flat" w="38100">
            <a:solidFill>
              <a:srgbClr val="000000"/>
            </a:solidFill>
            <a:prstDash val="solid"/>
            <a:headEnd type="none" len="sm" w="sm"/>
            <a:tailEnd type="none" len="sm" w="sm"/>
          </a:ln>
        </p:spPr>
      </p:sp>
      <p:sp>
        <p:nvSpPr>
          <p:cNvPr name="Freeform 15" id="15"/>
          <p:cNvSpPr/>
          <p:nvPr/>
        </p:nvSpPr>
        <p:spPr>
          <a:xfrm flipH="false" flipV="false" rot="0">
            <a:off x="7809621" y="3676716"/>
            <a:ext cx="994061" cy="2553203"/>
          </a:xfrm>
          <a:custGeom>
            <a:avLst/>
            <a:gdLst/>
            <a:ahLst/>
            <a:cxnLst/>
            <a:rect r="r" b="b" t="t" l="l"/>
            <a:pathLst>
              <a:path h="2553203" w="994061">
                <a:moveTo>
                  <a:pt x="0" y="0"/>
                </a:moveTo>
                <a:lnTo>
                  <a:pt x="994061" y="0"/>
                </a:lnTo>
                <a:lnTo>
                  <a:pt x="994061" y="2553203"/>
                </a:lnTo>
                <a:lnTo>
                  <a:pt x="0" y="25532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8657442" y="536344"/>
            <a:ext cx="9001055" cy="1371600"/>
          </a:xfrm>
          <a:prstGeom prst="rect">
            <a:avLst/>
          </a:prstGeom>
        </p:spPr>
        <p:txBody>
          <a:bodyPr anchor="t" rtlCol="false" tIns="0" lIns="0" bIns="0" rIns="0">
            <a:spAutoFit/>
          </a:bodyPr>
          <a:lstStyle/>
          <a:p>
            <a:pPr algn="r">
              <a:lnSpc>
                <a:spcPts val="10800"/>
              </a:lnSpc>
            </a:pPr>
            <a:r>
              <a:rPr lang="en-US" sz="9000">
                <a:solidFill>
                  <a:srgbClr val="FFFAEF"/>
                </a:solidFill>
                <a:latin typeface="Fredoka"/>
                <a:ea typeface="Fredoka"/>
                <a:cs typeface="Fredoka"/>
                <a:sym typeface="Fredoka"/>
              </a:rPr>
              <a:t>EtherChannel</a:t>
            </a:r>
          </a:p>
        </p:txBody>
      </p:sp>
      <p:sp>
        <p:nvSpPr>
          <p:cNvPr name="TextBox 17" id="17"/>
          <p:cNvSpPr txBox="true"/>
          <p:nvPr/>
        </p:nvSpPr>
        <p:spPr>
          <a:xfrm rot="0">
            <a:off x="1388127" y="1489479"/>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PC1</a:t>
            </a:r>
          </a:p>
        </p:txBody>
      </p:sp>
      <p:sp>
        <p:nvSpPr>
          <p:cNvPr name="TextBox 18" id="18"/>
          <p:cNvSpPr txBox="true"/>
          <p:nvPr/>
        </p:nvSpPr>
        <p:spPr>
          <a:xfrm rot="0">
            <a:off x="1388127" y="7639050"/>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PC2</a:t>
            </a:r>
          </a:p>
        </p:txBody>
      </p:sp>
      <p:sp>
        <p:nvSpPr>
          <p:cNvPr name="TextBox 19" id="19"/>
          <p:cNvSpPr txBox="true"/>
          <p:nvPr/>
        </p:nvSpPr>
        <p:spPr>
          <a:xfrm rot="0">
            <a:off x="15832684" y="7467918"/>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PC3</a:t>
            </a:r>
          </a:p>
        </p:txBody>
      </p:sp>
      <p:sp>
        <p:nvSpPr>
          <p:cNvPr name="TextBox 20" id="20"/>
          <p:cNvSpPr txBox="true"/>
          <p:nvPr/>
        </p:nvSpPr>
        <p:spPr>
          <a:xfrm rot="0">
            <a:off x="3582276" y="3979924"/>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Eth0/1</a:t>
            </a:r>
          </a:p>
        </p:txBody>
      </p:sp>
      <p:sp>
        <p:nvSpPr>
          <p:cNvPr name="TextBox 21" id="21"/>
          <p:cNvSpPr txBox="true"/>
          <p:nvPr/>
        </p:nvSpPr>
        <p:spPr>
          <a:xfrm rot="0">
            <a:off x="3582276" y="5497362"/>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Eth0/2</a:t>
            </a:r>
          </a:p>
        </p:txBody>
      </p:sp>
      <p:sp>
        <p:nvSpPr>
          <p:cNvPr name="TextBox 22" id="22"/>
          <p:cNvSpPr txBox="true"/>
          <p:nvPr/>
        </p:nvSpPr>
        <p:spPr>
          <a:xfrm rot="0">
            <a:off x="3064740" y="7810182"/>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Eth0/0</a:t>
            </a:r>
          </a:p>
        </p:txBody>
      </p:sp>
      <p:sp>
        <p:nvSpPr>
          <p:cNvPr name="TextBox 23" id="23"/>
          <p:cNvSpPr txBox="true"/>
          <p:nvPr/>
        </p:nvSpPr>
        <p:spPr>
          <a:xfrm rot="0">
            <a:off x="2782626" y="1489479"/>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Eth0/0</a:t>
            </a:r>
          </a:p>
        </p:txBody>
      </p:sp>
      <p:sp>
        <p:nvSpPr>
          <p:cNvPr name="TextBox 24" id="24"/>
          <p:cNvSpPr txBox="true"/>
          <p:nvPr/>
        </p:nvSpPr>
        <p:spPr>
          <a:xfrm rot="0">
            <a:off x="14404660" y="7810182"/>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Eth0/0</a:t>
            </a:r>
          </a:p>
        </p:txBody>
      </p:sp>
      <p:sp>
        <p:nvSpPr>
          <p:cNvPr name="TextBox 25" id="25"/>
          <p:cNvSpPr txBox="true"/>
          <p:nvPr/>
        </p:nvSpPr>
        <p:spPr>
          <a:xfrm rot="0">
            <a:off x="6612624" y="4151056"/>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Eth1/1</a:t>
            </a:r>
          </a:p>
        </p:txBody>
      </p:sp>
      <p:sp>
        <p:nvSpPr>
          <p:cNvPr name="TextBox 26" id="26"/>
          <p:cNvSpPr txBox="true"/>
          <p:nvPr/>
        </p:nvSpPr>
        <p:spPr>
          <a:xfrm rot="0">
            <a:off x="6612624" y="5563103"/>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Eth1/2</a:t>
            </a:r>
          </a:p>
        </p:txBody>
      </p:sp>
      <p:sp>
        <p:nvSpPr>
          <p:cNvPr name="TextBox 27" id="27"/>
          <p:cNvSpPr txBox="true"/>
          <p:nvPr/>
        </p:nvSpPr>
        <p:spPr>
          <a:xfrm rot="0">
            <a:off x="12307263" y="4877118"/>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Eth0/1</a:t>
            </a:r>
          </a:p>
        </p:txBody>
      </p:sp>
      <p:sp>
        <p:nvSpPr>
          <p:cNvPr name="TextBox 28" id="28"/>
          <p:cNvSpPr txBox="true"/>
          <p:nvPr/>
        </p:nvSpPr>
        <p:spPr>
          <a:xfrm rot="0">
            <a:off x="9186074" y="4151056"/>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Eth0/2</a:t>
            </a:r>
          </a:p>
        </p:txBody>
      </p:sp>
      <p:sp>
        <p:nvSpPr>
          <p:cNvPr name="TextBox 29" id="29"/>
          <p:cNvSpPr txBox="true"/>
          <p:nvPr/>
        </p:nvSpPr>
        <p:spPr>
          <a:xfrm rot="0">
            <a:off x="9186074" y="5391971"/>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Eth0/3</a:t>
            </a:r>
          </a:p>
        </p:txBody>
      </p:sp>
      <p:sp>
        <p:nvSpPr>
          <p:cNvPr name="TextBox 30" id="30"/>
          <p:cNvSpPr txBox="true"/>
          <p:nvPr/>
        </p:nvSpPr>
        <p:spPr>
          <a:xfrm rot="0">
            <a:off x="5178845" y="6153719"/>
            <a:ext cx="1035072"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Switch1</a:t>
            </a:r>
          </a:p>
        </p:txBody>
      </p:sp>
      <p:sp>
        <p:nvSpPr>
          <p:cNvPr name="TextBox 31" id="31"/>
          <p:cNvSpPr txBox="true"/>
          <p:nvPr/>
        </p:nvSpPr>
        <p:spPr>
          <a:xfrm rot="0">
            <a:off x="10564188" y="6153719"/>
            <a:ext cx="1146404" cy="418465"/>
          </a:xfrm>
          <a:prstGeom prst="rect">
            <a:avLst/>
          </a:prstGeom>
        </p:spPr>
        <p:txBody>
          <a:bodyPr anchor="t" rtlCol="false" tIns="0" lIns="0" bIns="0" rIns="0">
            <a:spAutoFit/>
          </a:bodyPr>
          <a:lstStyle/>
          <a:p>
            <a:pPr algn="ctr">
              <a:lnSpc>
                <a:spcPts val="2990"/>
              </a:lnSpc>
            </a:pPr>
            <a:r>
              <a:rPr lang="en-US" sz="2300">
                <a:solidFill>
                  <a:srgbClr val="FFFAEF"/>
                </a:solidFill>
                <a:latin typeface="Overpass"/>
                <a:ea typeface="Overpass"/>
                <a:cs typeface="Overpass"/>
                <a:sym typeface="Overpass"/>
              </a:rPr>
              <a:t>Switch2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0">
            <a:off x="14955704" y="7197948"/>
            <a:ext cx="3468258" cy="3089052"/>
          </a:xfrm>
          <a:prstGeom prst="rect">
            <a:avLst/>
          </a:prstGeom>
        </p:spPr>
      </p:pic>
      <p:pic>
        <p:nvPicPr>
          <p:cNvPr name="Picture 3" id="3"/>
          <p:cNvPicPr>
            <a:picLocks noChangeAspect="true"/>
          </p:cNvPicPr>
          <p:nvPr/>
        </p:nvPicPr>
        <p:blipFill>
          <a:blip r:embed="rId3"/>
          <a:srcRect l="0" t="0" r="64034" b="46739"/>
          <a:stretch>
            <a:fillRect/>
          </a:stretch>
        </p:blipFill>
        <p:spPr>
          <a:xfrm flipH="true" flipV="false" rot="-5400000">
            <a:off x="1041561" y="-1041561"/>
            <a:ext cx="4331879" cy="6415001"/>
          </a:xfrm>
          <a:prstGeom prst="rect">
            <a:avLst/>
          </a:prstGeom>
        </p:spPr>
      </p:pic>
      <p:sp>
        <p:nvSpPr>
          <p:cNvPr name="TextBox 4" id="4"/>
          <p:cNvSpPr txBox="true"/>
          <p:nvPr/>
        </p:nvSpPr>
        <p:spPr>
          <a:xfrm rot="0">
            <a:off x="1275880" y="3024070"/>
            <a:ext cx="15736240" cy="4914900"/>
          </a:xfrm>
          <a:prstGeom prst="rect">
            <a:avLst/>
          </a:prstGeom>
        </p:spPr>
        <p:txBody>
          <a:bodyPr anchor="t" rtlCol="false" tIns="0" lIns="0" bIns="0" rIns="0">
            <a:spAutoFit/>
          </a:bodyPr>
          <a:lstStyle/>
          <a:p>
            <a:pPr algn="l">
              <a:lnSpc>
                <a:spcPts val="3899"/>
              </a:lnSpc>
            </a:pPr>
            <a:r>
              <a:rPr lang="en-US" sz="2999">
                <a:solidFill>
                  <a:srgbClr val="000000"/>
                </a:solidFill>
                <a:latin typeface="Overpass"/>
                <a:ea typeface="Overpass"/>
                <a:cs typeface="Overpass"/>
                <a:sym typeface="Overpass"/>
              </a:rPr>
              <a:t>La mayoría de las tareas de configuración se pueden realizar en la interfaz EtherChannel en lugar de en cada puerto individual, lo que asegura la coherencia de configuración en todos los enlaces.</a:t>
            </a:r>
          </a:p>
          <a:p>
            <a:pPr algn="l">
              <a:lnSpc>
                <a:spcPts val="3899"/>
              </a:lnSpc>
            </a:pPr>
          </a:p>
          <a:p>
            <a:pPr algn="l">
              <a:lnSpc>
                <a:spcPts val="3899"/>
              </a:lnSpc>
            </a:pPr>
            <a:r>
              <a:rPr lang="en-US" sz="2999">
                <a:solidFill>
                  <a:srgbClr val="000000"/>
                </a:solidFill>
                <a:latin typeface="Overpass"/>
                <a:ea typeface="Overpass"/>
                <a:cs typeface="Overpass"/>
                <a:sym typeface="Overpass"/>
              </a:rPr>
              <a:t>El EtherChannel depende de los puertos de switch existentes. No es necesario actualizar el enlace a una conexión más rápida y más costosa para tener más ancho de banda.</a:t>
            </a:r>
          </a:p>
          <a:p>
            <a:pPr algn="l">
              <a:lnSpc>
                <a:spcPts val="3899"/>
              </a:lnSpc>
            </a:pPr>
          </a:p>
          <a:p>
            <a:pPr algn="l">
              <a:lnSpc>
                <a:spcPts val="3899"/>
              </a:lnSpc>
            </a:pPr>
            <a:r>
              <a:rPr lang="en-US" sz="2999">
                <a:solidFill>
                  <a:srgbClr val="000000"/>
                </a:solidFill>
                <a:latin typeface="Overpass"/>
                <a:ea typeface="Overpass"/>
                <a:cs typeface="Overpass"/>
                <a:sym typeface="Overpass"/>
              </a:rPr>
              <a:t>El balanceo de carga ocurre entre los enlaces que forman parte del mismo EtherChannel. Según la plataforma de hardware, se pueden implementar uno o más métodos de balanceo de carga.</a:t>
            </a:r>
          </a:p>
        </p:txBody>
      </p:sp>
      <p:sp>
        <p:nvSpPr>
          <p:cNvPr name="TextBox 5" id="5"/>
          <p:cNvSpPr txBox="true"/>
          <p:nvPr/>
        </p:nvSpPr>
        <p:spPr>
          <a:xfrm rot="0">
            <a:off x="565324" y="617220"/>
            <a:ext cx="15988352" cy="13716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Ventajas del EtherChannel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0">
            <a:off x="14955704" y="7197948"/>
            <a:ext cx="3468258" cy="3089052"/>
          </a:xfrm>
          <a:prstGeom prst="rect">
            <a:avLst/>
          </a:prstGeom>
        </p:spPr>
      </p:pic>
      <p:pic>
        <p:nvPicPr>
          <p:cNvPr name="Picture 3" id="3"/>
          <p:cNvPicPr>
            <a:picLocks noChangeAspect="true"/>
          </p:cNvPicPr>
          <p:nvPr/>
        </p:nvPicPr>
        <p:blipFill>
          <a:blip r:embed="rId3"/>
          <a:srcRect l="0" t="0" r="64034" b="46739"/>
          <a:stretch>
            <a:fillRect/>
          </a:stretch>
        </p:blipFill>
        <p:spPr>
          <a:xfrm flipH="true" flipV="false" rot="-5400000">
            <a:off x="1041561" y="-1041561"/>
            <a:ext cx="4331879" cy="6415001"/>
          </a:xfrm>
          <a:prstGeom prst="rect">
            <a:avLst/>
          </a:prstGeom>
        </p:spPr>
      </p:pic>
      <p:sp>
        <p:nvSpPr>
          <p:cNvPr name="TextBox 4" id="4"/>
          <p:cNvSpPr txBox="true"/>
          <p:nvPr/>
        </p:nvSpPr>
        <p:spPr>
          <a:xfrm rot="0">
            <a:off x="1275880" y="2629404"/>
            <a:ext cx="15736240" cy="6372225"/>
          </a:xfrm>
          <a:prstGeom prst="rect">
            <a:avLst/>
          </a:prstGeom>
        </p:spPr>
        <p:txBody>
          <a:bodyPr anchor="t" rtlCol="false" tIns="0" lIns="0" bIns="0" rIns="0">
            <a:spAutoFit/>
          </a:bodyPr>
          <a:lstStyle/>
          <a:p>
            <a:pPr algn="just">
              <a:lnSpc>
                <a:spcPts val="3899"/>
              </a:lnSpc>
            </a:pPr>
            <a:r>
              <a:rPr lang="en-US" sz="2999">
                <a:solidFill>
                  <a:srgbClr val="000000"/>
                </a:solidFill>
                <a:latin typeface="Overpass"/>
                <a:ea typeface="Overpass"/>
                <a:cs typeface="Overpass"/>
                <a:sym typeface="Overpass"/>
              </a:rPr>
              <a:t>EtherChannel crea una agregación que se ve como un único enlace lógico. Cuando existen varios grupos EtherChannel entre dos switches, STP puede bloquear uno de los grupos para evitar los bucles de switching. Cuando STP bloquea uno de los enlaces redundantes, bloquea el EtherChannel completo. Esto bloquea todos los puertos que pertenecen a ese enlace EtherChannel. Donde solo existe un único enlace EtherChannel, todos los enlaces físicos en el EtherChannel están activos, ya que STP solo ve un único enlace (lógico).</a:t>
            </a:r>
          </a:p>
          <a:p>
            <a:pPr algn="just">
              <a:lnSpc>
                <a:spcPts val="3899"/>
              </a:lnSpc>
            </a:pPr>
          </a:p>
          <a:p>
            <a:pPr algn="just">
              <a:lnSpc>
                <a:spcPts val="3899"/>
              </a:lnSpc>
            </a:pPr>
            <a:r>
              <a:rPr lang="en-US" sz="2999">
                <a:solidFill>
                  <a:srgbClr val="000000"/>
                </a:solidFill>
                <a:latin typeface="Overpass"/>
                <a:ea typeface="Overpass"/>
                <a:cs typeface="Overpass"/>
                <a:sym typeface="Overpass"/>
              </a:rPr>
              <a:t>EtherChannel proporciona redundancia, ya que el enlace general se ve como una única conexión lógica. Además, la pérdida de un enlace físico dentro del canal no crea ningún cambio en la topología, por lo que no es necesario volver a calcular el árbol de expansión. Suponiendo que haya por lo menos un enlace físico presente, el EtherChannel permanece en funcionamiento, incluso si su rendimiento general disminuye debido a la pérdida de un enlace dentro del EtherChannel. </a:t>
            </a:r>
          </a:p>
        </p:txBody>
      </p:sp>
      <p:sp>
        <p:nvSpPr>
          <p:cNvPr name="TextBox 5" id="5"/>
          <p:cNvSpPr txBox="true"/>
          <p:nvPr/>
        </p:nvSpPr>
        <p:spPr>
          <a:xfrm rot="0">
            <a:off x="565324" y="617220"/>
            <a:ext cx="15988352" cy="13716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Ventajas del EtherChannel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10678866" y="3681927"/>
            <a:ext cx="9133702" cy="8617511"/>
          </a:xfrm>
          <a:prstGeom prst="rect">
            <a:avLst/>
          </a:prstGeom>
        </p:spPr>
      </p:pic>
      <p:sp>
        <p:nvSpPr>
          <p:cNvPr name="Freeform 3" id="3"/>
          <p:cNvSpPr/>
          <p:nvPr/>
        </p:nvSpPr>
        <p:spPr>
          <a:xfrm flipH="false" flipV="false" rot="5820624">
            <a:off x="-147850" y="-1833905"/>
            <a:ext cx="4514573" cy="5305588"/>
          </a:xfrm>
          <a:custGeom>
            <a:avLst/>
            <a:gdLst/>
            <a:ahLst/>
            <a:cxnLst/>
            <a:rect r="r" b="b" t="t" l="l"/>
            <a:pathLst>
              <a:path h="5305588" w="4514573">
                <a:moveTo>
                  <a:pt x="0" y="0"/>
                </a:moveTo>
                <a:lnTo>
                  <a:pt x="4514574" y="0"/>
                </a:lnTo>
                <a:lnTo>
                  <a:pt x="4514574"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9242" y="2372998"/>
            <a:ext cx="15245766" cy="1949988"/>
            <a:chOff x="0" y="0"/>
            <a:chExt cx="20327688" cy="2599984"/>
          </a:xfrm>
        </p:grpSpPr>
        <p:grpSp>
          <p:nvGrpSpPr>
            <p:cNvPr name="Group 5" id="5"/>
            <p:cNvGrpSpPr/>
            <p:nvPr/>
          </p:nvGrpSpPr>
          <p:grpSpPr>
            <a:xfrm rot="0">
              <a:off x="0" y="0"/>
              <a:ext cx="20327688" cy="2599984"/>
              <a:chOff x="0" y="0"/>
              <a:chExt cx="7223505" cy="923912"/>
            </a:xfrm>
          </p:grpSpPr>
          <p:sp>
            <p:nvSpPr>
              <p:cNvPr name="Freeform 6" id="6"/>
              <p:cNvSpPr/>
              <p:nvPr/>
            </p:nvSpPr>
            <p:spPr>
              <a:xfrm flipH="false" flipV="false" rot="0">
                <a:off x="0" y="0"/>
                <a:ext cx="7223506" cy="923912"/>
              </a:xfrm>
              <a:custGeom>
                <a:avLst/>
                <a:gdLst/>
                <a:ahLst/>
                <a:cxnLst/>
                <a:rect r="r" b="b" t="t" l="l"/>
                <a:pathLst>
                  <a:path h="923912" w="7223506">
                    <a:moveTo>
                      <a:pt x="7099045" y="923912"/>
                    </a:moveTo>
                    <a:lnTo>
                      <a:pt x="124460" y="923912"/>
                    </a:lnTo>
                    <a:cubicBezTo>
                      <a:pt x="55880" y="923912"/>
                      <a:pt x="0" y="868032"/>
                      <a:pt x="0" y="799452"/>
                    </a:cubicBezTo>
                    <a:lnTo>
                      <a:pt x="0" y="124460"/>
                    </a:lnTo>
                    <a:cubicBezTo>
                      <a:pt x="0" y="55880"/>
                      <a:pt x="55880" y="0"/>
                      <a:pt x="124460" y="0"/>
                    </a:cubicBezTo>
                    <a:lnTo>
                      <a:pt x="7099046" y="0"/>
                    </a:lnTo>
                    <a:cubicBezTo>
                      <a:pt x="7167625" y="0"/>
                      <a:pt x="7223506" y="55880"/>
                      <a:pt x="7223506" y="124460"/>
                    </a:cubicBezTo>
                    <a:lnTo>
                      <a:pt x="7223506" y="799452"/>
                    </a:lnTo>
                    <a:cubicBezTo>
                      <a:pt x="7223506" y="868032"/>
                      <a:pt x="7167625" y="923912"/>
                      <a:pt x="7099046" y="923912"/>
                    </a:cubicBezTo>
                    <a:close/>
                  </a:path>
                </a:pathLst>
              </a:custGeom>
              <a:solidFill>
                <a:srgbClr val="D8A1A6"/>
              </a:solidFill>
            </p:spPr>
          </p:sp>
        </p:grpSp>
        <p:sp>
          <p:nvSpPr>
            <p:cNvPr name="TextBox 7" id="7"/>
            <p:cNvSpPr txBox="true"/>
            <p:nvPr/>
          </p:nvSpPr>
          <p:spPr>
            <a:xfrm rot="0">
              <a:off x="1314466" y="268923"/>
              <a:ext cx="17319214"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Creación del canal de enlace lógico</a:t>
              </a:r>
            </a:p>
          </p:txBody>
        </p:sp>
        <p:sp>
          <p:nvSpPr>
            <p:cNvPr name="TextBox 8" id="8"/>
            <p:cNvSpPr txBox="true"/>
            <p:nvPr/>
          </p:nvSpPr>
          <p:spPr>
            <a:xfrm rot="0">
              <a:off x="1314466" y="1286486"/>
              <a:ext cx="17698756" cy="1027853"/>
            </a:xfrm>
            <a:prstGeom prst="rect">
              <a:avLst/>
            </a:prstGeom>
          </p:spPr>
          <p:txBody>
            <a:bodyPr anchor="t" rtlCol="false" tIns="0" lIns="0" bIns="0" rIns="0">
              <a:spAutoFit/>
            </a:bodyPr>
            <a:lstStyle/>
            <a:p>
              <a:pPr algn="l">
                <a:lnSpc>
                  <a:spcPts val="2990"/>
                </a:lnSpc>
              </a:pPr>
              <a:r>
                <a:rPr lang="en-US" sz="2300">
                  <a:solidFill>
                    <a:srgbClr val="000000"/>
                  </a:solidFill>
                  <a:latin typeface="Overpass"/>
                  <a:ea typeface="Overpass"/>
                  <a:cs typeface="Overpass"/>
                  <a:sym typeface="Overpass"/>
                </a:rPr>
                <a:t>Para crear un EtherChannel, se deben agregar los enlaces físicos a un canal de enlace lógico. Estos enlaces pueden estar conectados entre dos dispositivos de red o entre varios dispositivos de red.</a:t>
              </a:r>
            </a:p>
          </p:txBody>
        </p:sp>
      </p:grpSp>
      <p:sp>
        <p:nvSpPr>
          <p:cNvPr name="TextBox 9" id="9"/>
          <p:cNvSpPr txBox="true"/>
          <p:nvPr/>
        </p:nvSpPr>
        <p:spPr>
          <a:xfrm rot="0">
            <a:off x="1028700" y="654966"/>
            <a:ext cx="15476307" cy="1066800"/>
          </a:xfrm>
          <a:prstGeom prst="rect">
            <a:avLst/>
          </a:prstGeom>
        </p:spPr>
        <p:txBody>
          <a:bodyPr anchor="t" rtlCol="false" tIns="0" lIns="0" bIns="0" rIns="0">
            <a:spAutoFit/>
          </a:bodyPr>
          <a:lstStyle/>
          <a:p>
            <a:pPr algn="l">
              <a:lnSpc>
                <a:spcPts val="8460"/>
              </a:lnSpc>
            </a:pPr>
            <a:r>
              <a:rPr lang="en-US" sz="7050">
                <a:solidFill>
                  <a:srgbClr val="000000"/>
                </a:solidFill>
                <a:latin typeface="Fredoka"/>
                <a:ea typeface="Fredoka"/>
                <a:cs typeface="Fredoka"/>
                <a:sym typeface="Fredoka"/>
              </a:rPr>
              <a:t>Funcionamiento del EtherChannel</a:t>
            </a:r>
          </a:p>
        </p:txBody>
      </p:sp>
      <p:grpSp>
        <p:nvGrpSpPr>
          <p:cNvPr name="Group 10" id="10"/>
          <p:cNvGrpSpPr/>
          <p:nvPr/>
        </p:nvGrpSpPr>
        <p:grpSpPr>
          <a:xfrm rot="0">
            <a:off x="1259242" y="4752044"/>
            <a:ext cx="15245766" cy="1949988"/>
            <a:chOff x="0" y="0"/>
            <a:chExt cx="20327688" cy="2599984"/>
          </a:xfrm>
        </p:grpSpPr>
        <p:grpSp>
          <p:nvGrpSpPr>
            <p:cNvPr name="Group 11" id="11"/>
            <p:cNvGrpSpPr/>
            <p:nvPr/>
          </p:nvGrpSpPr>
          <p:grpSpPr>
            <a:xfrm rot="0">
              <a:off x="0" y="0"/>
              <a:ext cx="20327688" cy="2599984"/>
              <a:chOff x="0" y="0"/>
              <a:chExt cx="7223505" cy="923912"/>
            </a:xfrm>
          </p:grpSpPr>
          <p:sp>
            <p:nvSpPr>
              <p:cNvPr name="Freeform 12" id="12"/>
              <p:cNvSpPr/>
              <p:nvPr/>
            </p:nvSpPr>
            <p:spPr>
              <a:xfrm flipH="false" flipV="false" rot="0">
                <a:off x="0" y="0"/>
                <a:ext cx="7223506" cy="923912"/>
              </a:xfrm>
              <a:custGeom>
                <a:avLst/>
                <a:gdLst/>
                <a:ahLst/>
                <a:cxnLst/>
                <a:rect r="r" b="b" t="t" l="l"/>
                <a:pathLst>
                  <a:path h="923912" w="7223506">
                    <a:moveTo>
                      <a:pt x="7099045" y="923912"/>
                    </a:moveTo>
                    <a:lnTo>
                      <a:pt x="124460" y="923912"/>
                    </a:lnTo>
                    <a:cubicBezTo>
                      <a:pt x="55880" y="923912"/>
                      <a:pt x="0" y="868032"/>
                      <a:pt x="0" y="799452"/>
                    </a:cubicBezTo>
                    <a:lnTo>
                      <a:pt x="0" y="124460"/>
                    </a:lnTo>
                    <a:cubicBezTo>
                      <a:pt x="0" y="55880"/>
                      <a:pt x="55880" y="0"/>
                      <a:pt x="124460" y="0"/>
                    </a:cubicBezTo>
                    <a:lnTo>
                      <a:pt x="7099046" y="0"/>
                    </a:lnTo>
                    <a:cubicBezTo>
                      <a:pt x="7167625" y="0"/>
                      <a:pt x="7223506" y="55880"/>
                      <a:pt x="7223506" y="124460"/>
                    </a:cubicBezTo>
                    <a:lnTo>
                      <a:pt x="7223506" y="799452"/>
                    </a:lnTo>
                    <a:cubicBezTo>
                      <a:pt x="7223506" y="868032"/>
                      <a:pt x="7167625" y="923912"/>
                      <a:pt x="7099046" y="923912"/>
                    </a:cubicBezTo>
                    <a:close/>
                  </a:path>
                </a:pathLst>
              </a:custGeom>
              <a:solidFill>
                <a:srgbClr val="D8A1A6"/>
              </a:solidFill>
            </p:spPr>
          </p:sp>
        </p:grpSp>
        <p:sp>
          <p:nvSpPr>
            <p:cNvPr name="TextBox 13" id="13"/>
            <p:cNvSpPr txBox="true"/>
            <p:nvPr/>
          </p:nvSpPr>
          <p:spPr>
            <a:xfrm rot="0">
              <a:off x="1314466" y="268923"/>
              <a:ext cx="17319214"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Configuración del canal de enlace lógico</a:t>
              </a:r>
            </a:p>
          </p:txBody>
        </p:sp>
        <p:sp>
          <p:nvSpPr>
            <p:cNvPr name="TextBox 14" id="14"/>
            <p:cNvSpPr txBox="true"/>
            <p:nvPr/>
          </p:nvSpPr>
          <p:spPr>
            <a:xfrm rot="0">
              <a:off x="1314466" y="1286486"/>
              <a:ext cx="17698756" cy="1027853"/>
            </a:xfrm>
            <a:prstGeom prst="rect">
              <a:avLst/>
            </a:prstGeom>
          </p:spPr>
          <p:txBody>
            <a:bodyPr anchor="t" rtlCol="false" tIns="0" lIns="0" bIns="0" rIns="0">
              <a:spAutoFit/>
            </a:bodyPr>
            <a:lstStyle/>
            <a:p>
              <a:pPr algn="l">
                <a:lnSpc>
                  <a:spcPts val="2990"/>
                </a:lnSpc>
              </a:pPr>
              <a:r>
                <a:rPr lang="en-US" sz="2300">
                  <a:solidFill>
                    <a:srgbClr val="000000"/>
                  </a:solidFill>
                  <a:latin typeface="Overpass"/>
                  <a:ea typeface="Overpass"/>
                  <a:cs typeface="Overpass"/>
                  <a:sym typeface="Overpass"/>
                </a:rPr>
                <a:t>Después de crear el canal de enlace lógico, se debe configurar el modo de operación del canal. Esto dependerá del protocolo que se usará, lo cual se detallará más adelante.</a:t>
              </a:r>
            </a:p>
          </p:txBody>
        </p:sp>
      </p:grpSp>
      <p:grpSp>
        <p:nvGrpSpPr>
          <p:cNvPr name="Group 15" id="15"/>
          <p:cNvGrpSpPr/>
          <p:nvPr/>
        </p:nvGrpSpPr>
        <p:grpSpPr>
          <a:xfrm rot="0">
            <a:off x="1259242" y="7130657"/>
            <a:ext cx="15245766" cy="2692938"/>
            <a:chOff x="0" y="0"/>
            <a:chExt cx="20327688" cy="3590584"/>
          </a:xfrm>
        </p:grpSpPr>
        <p:grpSp>
          <p:nvGrpSpPr>
            <p:cNvPr name="Group 16" id="16"/>
            <p:cNvGrpSpPr/>
            <p:nvPr/>
          </p:nvGrpSpPr>
          <p:grpSpPr>
            <a:xfrm rot="0">
              <a:off x="0" y="0"/>
              <a:ext cx="20327688" cy="3590584"/>
              <a:chOff x="0" y="0"/>
              <a:chExt cx="7223505" cy="1275925"/>
            </a:xfrm>
          </p:grpSpPr>
          <p:sp>
            <p:nvSpPr>
              <p:cNvPr name="Freeform 17" id="17"/>
              <p:cNvSpPr/>
              <p:nvPr/>
            </p:nvSpPr>
            <p:spPr>
              <a:xfrm flipH="false" flipV="false" rot="0">
                <a:off x="0" y="0"/>
                <a:ext cx="7223506" cy="1275925"/>
              </a:xfrm>
              <a:custGeom>
                <a:avLst/>
                <a:gdLst/>
                <a:ahLst/>
                <a:cxnLst/>
                <a:rect r="r" b="b" t="t" l="l"/>
                <a:pathLst>
                  <a:path h="1275925" w="7223506">
                    <a:moveTo>
                      <a:pt x="7099045" y="1275925"/>
                    </a:moveTo>
                    <a:lnTo>
                      <a:pt x="124460" y="1275925"/>
                    </a:lnTo>
                    <a:cubicBezTo>
                      <a:pt x="55880" y="1275925"/>
                      <a:pt x="0" y="1220045"/>
                      <a:pt x="0" y="1151465"/>
                    </a:cubicBezTo>
                    <a:lnTo>
                      <a:pt x="0" y="124460"/>
                    </a:lnTo>
                    <a:cubicBezTo>
                      <a:pt x="0" y="55880"/>
                      <a:pt x="55880" y="0"/>
                      <a:pt x="124460" y="0"/>
                    </a:cubicBezTo>
                    <a:lnTo>
                      <a:pt x="7099046" y="0"/>
                    </a:lnTo>
                    <a:cubicBezTo>
                      <a:pt x="7167625" y="0"/>
                      <a:pt x="7223506" y="55880"/>
                      <a:pt x="7223506" y="124460"/>
                    </a:cubicBezTo>
                    <a:lnTo>
                      <a:pt x="7223506" y="1151465"/>
                    </a:lnTo>
                    <a:cubicBezTo>
                      <a:pt x="7223506" y="1220045"/>
                      <a:pt x="7167625" y="1275925"/>
                      <a:pt x="7099046" y="1275925"/>
                    </a:cubicBezTo>
                    <a:close/>
                  </a:path>
                </a:pathLst>
              </a:custGeom>
              <a:solidFill>
                <a:srgbClr val="D8A1A6"/>
              </a:solidFill>
            </p:spPr>
          </p:sp>
        </p:grpSp>
        <p:sp>
          <p:nvSpPr>
            <p:cNvPr name="TextBox 18" id="18"/>
            <p:cNvSpPr txBox="true"/>
            <p:nvPr/>
          </p:nvSpPr>
          <p:spPr>
            <a:xfrm rot="0">
              <a:off x="1314466" y="268923"/>
              <a:ext cx="17319214"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Distribución del tráfico</a:t>
              </a:r>
            </a:p>
          </p:txBody>
        </p:sp>
        <p:sp>
          <p:nvSpPr>
            <p:cNvPr name="TextBox 19" id="19"/>
            <p:cNvSpPr txBox="true"/>
            <p:nvPr/>
          </p:nvSpPr>
          <p:spPr>
            <a:xfrm rot="0">
              <a:off x="1314466" y="1286486"/>
              <a:ext cx="17698756" cy="2018453"/>
            </a:xfrm>
            <a:prstGeom prst="rect">
              <a:avLst/>
            </a:prstGeom>
          </p:spPr>
          <p:txBody>
            <a:bodyPr anchor="t" rtlCol="false" tIns="0" lIns="0" bIns="0" rIns="0">
              <a:spAutoFit/>
            </a:bodyPr>
            <a:lstStyle/>
            <a:p>
              <a:pPr algn="l">
                <a:lnSpc>
                  <a:spcPts val="2990"/>
                </a:lnSpc>
              </a:pPr>
              <a:r>
                <a:rPr lang="en-US" sz="2300">
                  <a:solidFill>
                    <a:srgbClr val="000000"/>
                  </a:solidFill>
                  <a:latin typeface="Overpass"/>
                  <a:ea typeface="Overpass"/>
                  <a:cs typeface="Overpass"/>
                  <a:sym typeface="Overpass"/>
                </a:rPr>
                <a:t>Una vez creado y configurado el canal de enlace lógico, el tráfico de red se distribuye automáticamente entre los enlaces físicos disponibles en el canal de enlace lógico. Esto se logra mediante el uso de un algoritmo de balanceo de carga, que distribuye el tráfico de red de manera uniforme entre los enlaces físicos del canal de enlace lógico. </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9781681">
            <a:off x="10678866" y="3681927"/>
            <a:ext cx="9133702" cy="8617511"/>
          </a:xfrm>
          <a:prstGeom prst="rect">
            <a:avLst/>
          </a:prstGeom>
        </p:spPr>
      </p:pic>
      <p:sp>
        <p:nvSpPr>
          <p:cNvPr name="Freeform 3" id="3"/>
          <p:cNvSpPr/>
          <p:nvPr/>
        </p:nvSpPr>
        <p:spPr>
          <a:xfrm flipH="false" flipV="false" rot="5820624">
            <a:off x="-147850" y="-1833905"/>
            <a:ext cx="4514573" cy="5305588"/>
          </a:xfrm>
          <a:custGeom>
            <a:avLst/>
            <a:gdLst/>
            <a:ahLst/>
            <a:cxnLst/>
            <a:rect r="r" b="b" t="t" l="l"/>
            <a:pathLst>
              <a:path h="5305588" w="4514573">
                <a:moveTo>
                  <a:pt x="0" y="0"/>
                </a:moveTo>
                <a:lnTo>
                  <a:pt x="4514574" y="0"/>
                </a:lnTo>
                <a:lnTo>
                  <a:pt x="4514574" y="5305588"/>
                </a:lnTo>
                <a:lnTo>
                  <a:pt x="0" y="5305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9242" y="2372998"/>
            <a:ext cx="15245766" cy="2321463"/>
            <a:chOff x="0" y="0"/>
            <a:chExt cx="20327688" cy="3095284"/>
          </a:xfrm>
        </p:grpSpPr>
        <p:grpSp>
          <p:nvGrpSpPr>
            <p:cNvPr name="Group 5" id="5"/>
            <p:cNvGrpSpPr/>
            <p:nvPr/>
          </p:nvGrpSpPr>
          <p:grpSpPr>
            <a:xfrm rot="0">
              <a:off x="0" y="0"/>
              <a:ext cx="20327688" cy="3095284"/>
              <a:chOff x="0" y="0"/>
              <a:chExt cx="7223505" cy="1099919"/>
            </a:xfrm>
          </p:grpSpPr>
          <p:sp>
            <p:nvSpPr>
              <p:cNvPr name="Freeform 6" id="6"/>
              <p:cNvSpPr/>
              <p:nvPr/>
            </p:nvSpPr>
            <p:spPr>
              <a:xfrm flipH="false" flipV="false" rot="0">
                <a:off x="0" y="0"/>
                <a:ext cx="7223506" cy="1099919"/>
              </a:xfrm>
              <a:custGeom>
                <a:avLst/>
                <a:gdLst/>
                <a:ahLst/>
                <a:cxnLst/>
                <a:rect r="r" b="b" t="t" l="l"/>
                <a:pathLst>
                  <a:path h="1099919" w="7223506">
                    <a:moveTo>
                      <a:pt x="7099045" y="1099919"/>
                    </a:moveTo>
                    <a:lnTo>
                      <a:pt x="124460" y="1099919"/>
                    </a:lnTo>
                    <a:cubicBezTo>
                      <a:pt x="55880" y="1099919"/>
                      <a:pt x="0" y="1044039"/>
                      <a:pt x="0" y="975459"/>
                    </a:cubicBezTo>
                    <a:lnTo>
                      <a:pt x="0" y="124460"/>
                    </a:lnTo>
                    <a:cubicBezTo>
                      <a:pt x="0" y="55880"/>
                      <a:pt x="55880" y="0"/>
                      <a:pt x="124460" y="0"/>
                    </a:cubicBezTo>
                    <a:lnTo>
                      <a:pt x="7099046" y="0"/>
                    </a:lnTo>
                    <a:cubicBezTo>
                      <a:pt x="7167625" y="0"/>
                      <a:pt x="7223506" y="55880"/>
                      <a:pt x="7223506" y="124460"/>
                    </a:cubicBezTo>
                    <a:lnTo>
                      <a:pt x="7223506" y="975459"/>
                    </a:lnTo>
                    <a:cubicBezTo>
                      <a:pt x="7223506" y="1044039"/>
                      <a:pt x="7167625" y="1099919"/>
                      <a:pt x="7099046" y="1099919"/>
                    </a:cubicBezTo>
                    <a:close/>
                  </a:path>
                </a:pathLst>
              </a:custGeom>
              <a:solidFill>
                <a:srgbClr val="D8A1A6"/>
              </a:solidFill>
            </p:spPr>
          </p:sp>
        </p:grpSp>
        <p:sp>
          <p:nvSpPr>
            <p:cNvPr name="TextBox 7" id="7"/>
            <p:cNvSpPr txBox="true"/>
            <p:nvPr/>
          </p:nvSpPr>
          <p:spPr>
            <a:xfrm rot="0">
              <a:off x="1314466" y="268923"/>
              <a:ext cx="17319214"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Resolución de fallos</a:t>
              </a:r>
            </a:p>
          </p:txBody>
        </p:sp>
        <p:sp>
          <p:nvSpPr>
            <p:cNvPr name="TextBox 8" id="8"/>
            <p:cNvSpPr txBox="true"/>
            <p:nvPr/>
          </p:nvSpPr>
          <p:spPr>
            <a:xfrm rot="0">
              <a:off x="1314466" y="1286486"/>
              <a:ext cx="17698756" cy="1523153"/>
            </a:xfrm>
            <a:prstGeom prst="rect">
              <a:avLst/>
            </a:prstGeom>
          </p:spPr>
          <p:txBody>
            <a:bodyPr anchor="t" rtlCol="false" tIns="0" lIns="0" bIns="0" rIns="0">
              <a:spAutoFit/>
            </a:bodyPr>
            <a:lstStyle/>
            <a:p>
              <a:pPr algn="l">
                <a:lnSpc>
                  <a:spcPts val="2990"/>
                </a:lnSpc>
              </a:pPr>
              <a:r>
                <a:rPr lang="en-US" sz="2300">
                  <a:solidFill>
                    <a:srgbClr val="000000"/>
                  </a:solidFill>
                  <a:latin typeface="Overpass"/>
                  <a:ea typeface="Overpass"/>
                  <a:cs typeface="Overpass"/>
                  <a:sym typeface="Overpass"/>
                </a:rPr>
                <a:t>Si un enlace físico en el canal de enlace lógico falla, el tráfico de red se redistribuye automáticamente a los enlaces físicos restantes. Esto se logra mediante el uso de la detección de fallos y la recuperación del canal de enlace lógico. </a:t>
              </a:r>
            </a:p>
          </p:txBody>
        </p:sp>
      </p:grpSp>
      <p:sp>
        <p:nvSpPr>
          <p:cNvPr name="Freeform 9" id="9"/>
          <p:cNvSpPr/>
          <p:nvPr/>
        </p:nvSpPr>
        <p:spPr>
          <a:xfrm flipH="false" flipV="false" rot="0">
            <a:off x="4507806" y="4789711"/>
            <a:ext cx="8518096" cy="5355371"/>
          </a:xfrm>
          <a:custGeom>
            <a:avLst/>
            <a:gdLst/>
            <a:ahLst/>
            <a:cxnLst/>
            <a:rect r="r" b="b" t="t" l="l"/>
            <a:pathLst>
              <a:path h="5355371" w="8518096">
                <a:moveTo>
                  <a:pt x="0" y="0"/>
                </a:moveTo>
                <a:lnTo>
                  <a:pt x="8518096" y="0"/>
                </a:lnTo>
                <a:lnTo>
                  <a:pt x="8518096" y="5355371"/>
                </a:lnTo>
                <a:lnTo>
                  <a:pt x="0" y="5355371"/>
                </a:lnTo>
                <a:lnTo>
                  <a:pt x="0" y="0"/>
                </a:lnTo>
                <a:close/>
              </a:path>
            </a:pathLst>
          </a:custGeom>
          <a:blipFill>
            <a:blip r:embed="rId5"/>
            <a:stretch>
              <a:fillRect l="0" t="0" r="0" b="0"/>
            </a:stretch>
          </a:blipFill>
        </p:spPr>
      </p:sp>
      <p:sp>
        <p:nvSpPr>
          <p:cNvPr name="TextBox 10" id="10"/>
          <p:cNvSpPr txBox="true"/>
          <p:nvPr/>
        </p:nvSpPr>
        <p:spPr>
          <a:xfrm rot="0">
            <a:off x="1028700" y="654966"/>
            <a:ext cx="15476307" cy="1066800"/>
          </a:xfrm>
          <a:prstGeom prst="rect">
            <a:avLst/>
          </a:prstGeom>
        </p:spPr>
        <p:txBody>
          <a:bodyPr anchor="t" rtlCol="false" tIns="0" lIns="0" bIns="0" rIns="0">
            <a:spAutoFit/>
          </a:bodyPr>
          <a:lstStyle/>
          <a:p>
            <a:pPr algn="l">
              <a:lnSpc>
                <a:spcPts val="8460"/>
              </a:lnSpc>
            </a:pPr>
            <a:r>
              <a:rPr lang="en-US" sz="7050">
                <a:solidFill>
                  <a:srgbClr val="000000"/>
                </a:solidFill>
                <a:latin typeface="Fredoka"/>
                <a:ea typeface="Fredoka"/>
                <a:cs typeface="Fredoka"/>
                <a:sym typeface="Fredoka"/>
              </a:rPr>
              <a:t>Funcionamiento del EtherChannel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1041561" y="-1041561"/>
            <a:ext cx="4331879" cy="6415001"/>
          </a:xfrm>
          <a:prstGeom prst="rect">
            <a:avLst/>
          </a:prstGeom>
        </p:spPr>
      </p:pic>
      <p:sp>
        <p:nvSpPr>
          <p:cNvPr name="TextBox 3" id="3"/>
          <p:cNvSpPr txBox="true"/>
          <p:nvPr/>
        </p:nvSpPr>
        <p:spPr>
          <a:xfrm rot="0">
            <a:off x="1028700" y="654966"/>
            <a:ext cx="15476307" cy="1066800"/>
          </a:xfrm>
          <a:prstGeom prst="rect">
            <a:avLst/>
          </a:prstGeom>
        </p:spPr>
        <p:txBody>
          <a:bodyPr anchor="t" rtlCol="false" tIns="0" lIns="0" bIns="0" rIns="0">
            <a:spAutoFit/>
          </a:bodyPr>
          <a:lstStyle/>
          <a:p>
            <a:pPr algn="l">
              <a:lnSpc>
                <a:spcPts val="8460"/>
              </a:lnSpc>
            </a:pPr>
            <a:r>
              <a:rPr lang="en-US" sz="7050">
                <a:solidFill>
                  <a:srgbClr val="000000"/>
                </a:solidFill>
                <a:latin typeface="Fredoka"/>
                <a:ea typeface="Fredoka"/>
                <a:cs typeface="Fredoka"/>
                <a:sym typeface="Fredoka"/>
              </a:rPr>
              <a:t>Funcionamiento del EtherChannel</a:t>
            </a:r>
          </a:p>
        </p:txBody>
      </p:sp>
      <p:pic>
        <p:nvPicPr>
          <p:cNvPr name="Picture 4" id="4"/>
          <p:cNvPicPr>
            <a:picLocks noChangeAspect="true"/>
          </p:cNvPicPr>
          <p:nvPr/>
        </p:nvPicPr>
        <p:blipFill>
          <a:blip r:embed="rId3"/>
          <a:srcRect l="0" t="0" r="0" b="0"/>
          <a:stretch>
            <a:fillRect/>
          </a:stretch>
        </p:blipFill>
        <p:spPr>
          <a:xfrm flipH="false" flipV="false" rot="-8937396">
            <a:off x="10318277" y="2531707"/>
            <a:ext cx="8964268" cy="8506586"/>
          </a:xfrm>
          <a:prstGeom prst="rect">
            <a:avLst/>
          </a:prstGeom>
        </p:spPr>
      </p:pic>
      <p:sp>
        <p:nvSpPr>
          <p:cNvPr name="TextBox 5" id="5"/>
          <p:cNvSpPr txBox="true"/>
          <p:nvPr/>
        </p:nvSpPr>
        <p:spPr>
          <a:xfrm rot="0">
            <a:off x="1590263" y="2587408"/>
            <a:ext cx="15486004" cy="1222375"/>
          </a:xfrm>
          <a:prstGeom prst="rect">
            <a:avLst/>
          </a:prstGeom>
        </p:spPr>
        <p:txBody>
          <a:bodyPr anchor="t" rtlCol="false" tIns="0" lIns="0" bIns="0" rIns="0">
            <a:spAutoFit/>
          </a:bodyPr>
          <a:lstStyle/>
          <a:p>
            <a:pPr algn="l">
              <a:lnSpc>
                <a:spcPts val="4549"/>
              </a:lnSpc>
            </a:pPr>
            <a:r>
              <a:rPr lang="en-US" sz="3499">
                <a:solidFill>
                  <a:srgbClr val="FFFFFF"/>
                </a:solidFill>
                <a:latin typeface="Overpass"/>
                <a:ea typeface="Overpass"/>
                <a:cs typeface="Overpass"/>
                <a:sym typeface="Overpass"/>
              </a:rPr>
              <a:t>Para garantizar que EtherChannel funcione sin problemas y proporcione los beneficios deseados, se deben seguir algunas mejores prácticas, que incluyen:</a:t>
            </a:r>
          </a:p>
        </p:txBody>
      </p:sp>
      <p:sp>
        <p:nvSpPr>
          <p:cNvPr name="TextBox 6" id="6"/>
          <p:cNvSpPr txBox="true"/>
          <p:nvPr/>
        </p:nvSpPr>
        <p:spPr>
          <a:xfrm rot="0">
            <a:off x="1590263" y="4448175"/>
            <a:ext cx="15669037" cy="3508375"/>
          </a:xfrm>
          <a:prstGeom prst="rect">
            <a:avLst/>
          </a:prstGeom>
        </p:spPr>
        <p:txBody>
          <a:bodyPr anchor="t" rtlCol="false" tIns="0" lIns="0" bIns="0" rIns="0">
            <a:spAutoFit/>
          </a:bodyPr>
          <a:lstStyle/>
          <a:p>
            <a:pPr algn="l" marL="755646" indent="-377823" lvl="1">
              <a:lnSpc>
                <a:spcPts val="4549"/>
              </a:lnSpc>
              <a:buAutoNum type="arabicPeriod" startAt="1"/>
            </a:pPr>
            <a:r>
              <a:rPr lang="en-US" sz="3499">
                <a:solidFill>
                  <a:srgbClr val="FFFFFF"/>
                </a:solidFill>
                <a:latin typeface="Overpass"/>
                <a:ea typeface="Overpass"/>
                <a:cs typeface="Overpass"/>
                <a:sym typeface="Overpass"/>
              </a:rPr>
              <a:t>Utilizar la misma velocidad y configuración de dúplex en todos los enlaces incluidos en EtherChannel.</a:t>
            </a:r>
          </a:p>
          <a:p>
            <a:pPr algn="l" marL="755646" indent="-377823" lvl="1">
              <a:lnSpc>
                <a:spcPts val="4549"/>
              </a:lnSpc>
              <a:buAutoNum type="arabicPeriod" startAt="1"/>
            </a:pPr>
            <a:r>
              <a:rPr lang="en-US" sz="3499">
                <a:solidFill>
                  <a:srgbClr val="FFFFFF"/>
                </a:solidFill>
                <a:latin typeface="Overpass"/>
                <a:ea typeface="Overpass"/>
                <a:cs typeface="Overpass"/>
                <a:sym typeface="Overpass"/>
              </a:rPr>
              <a:t>Utilizar el mismo tipo de cableado en todos los enlaces incluidos en EtherChannel.</a:t>
            </a:r>
          </a:p>
          <a:p>
            <a:pPr algn="l" marL="755646" indent="-377823" lvl="1">
              <a:lnSpc>
                <a:spcPts val="4549"/>
              </a:lnSpc>
              <a:buAutoNum type="arabicPeriod" startAt="1"/>
            </a:pPr>
            <a:r>
              <a:rPr lang="en-US" sz="3499">
                <a:solidFill>
                  <a:srgbClr val="FFFFFF"/>
                </a:solidFill>
                <a:latin typeface="Overpass"/>
                <a:ea typeface="Overpass"/>
                <a:cs typeface="Overpass"/>
                <a:sym typeface="Overpass"/>
              </a:rPr>
              <a:t>Utilizar varios switches para proporcionar redundancia.</a:t>
            </a:r>
          </a:p>
          <a:p>
            <a:pPr algn="l" marL="755646" indent="-377823" lvl="1">
              <a:lnSpc>
                <a:spcPts val="4549"/>
              </a:lnSpc>
              <a:buAutoNum type="arabicPeriod" startAt="1"/>
            </a:pPr>
            <a:r>
              <a:rPr lang="en-US" sz="3499">
                <a:solidFill>
                  <a:srgbClr val="FFFFFF"/>
                </a:solidFill>
                <a:latin typeface="Overpass"/>
                <a:ea typeface="Overpass"/>
                <a:cs typeface="Overpass"/>
                <a:sym typeface="Overpass"/>
              </a:rPr>
              <a:t>Monitorear la interfaz de EtherChannel en busca de errores o congestión.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10800000">
            <a:off x="0" y="-32502"/>
            <a:ext cx="3468258" cy="3089052"/>
          </a:xfrm>
          <a:prstGeom prst="rect">
            <a:avLst/>
          </a:prstGeom>
        </p:spPr>
      </p:pic>
      <p:sp>
        <p:nvSpPr>
          <p:cNvPr name="TextBox 3" id="3"/>
          <p:cNvSpPr txBox="true"/>
          <p:nvPr/>
        </p:nvSpPr>
        <p:spPr>
          <a:xfrm rot="0">
            <a:off x="4325229" y="413403"/>
            <a:ext cx="12754846"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EtherChannel Estático</a:t>
            </a:r>
          </a:p>
        </p:txBody>
      </p:sp>
      <p:sp>
        <p:nvSpPr>
          <p:cNvPr name="TextBox 4" id="4"/>
          <p:cNvSpPr txBox="true"/>
          <p:nvPr/>
        </p:nvSpPr>
        <p:spPr>
          <a:xfrm rot="0">
            <a:off x="939708" y="2549076"/>
            <a:ext cx="16408585" cy="4079875"/>
          </a:xfrm>
          <a:prstGeom prst="rect">
            <a:avLst/>
          </a:prstGeom>
        </p:spPr>
        <p:txBody>
          <a:bodyPr anchor="t" rtlCol="false" tIns="0" lIns="0" bIns="0" rIns="0">
            <a:spAutoFit/>
          </a:bodyPr>
          <a:lstStyle/>
          <a:p>
            <a:pPr algn="l">
              <a:lnSpc>
                <a:spcPts val="4549"/>
              </a:lnSpc>
            </a:pPr>
            <a:r>
              <a:rPr lang="en-US" sz="3499">
                <a:solidFill>
                  <a:srgbClr val="000000"/>
                </a:solidFill>
                <a:latin typeface="Overpass"/>
                <a:ea typeface="Overpass"/>
                <a:cs typeface="Overpass"/>
                <a:sym typeface="Overpass"/>
              </a:rPr>
              <a:t>En este modo los enlaces físicos se agregan manualmente al canal de enlace lógico sin la ayuda de un protocolo de control de agregación de enlaces. La distribución de tráfico se realiza mediante un algoritmo de balanceo de carga predeterminado, el cual distribuye el tráfico de manera uniforme entre los enlaces físicos del canal de enlace lógico.</a:t>
            </a:r>
          </a:p>
          <a:p>
            <a:pPr algn="l">
              <a:lnSpc>
                <a:spcPts val="4549"/>
              </a:lnSpc>
            </a:pPr>
          </a:p>
          <a:p>
            <a:pPr algn="l">
              <a:lnSpc>
                <a:spcPts val="4549"/>
              </a:lnSpc>
            </a:pPr>
            <a:r>
              <a:rPr lang="en-US" sz="3499">
                <a:solidFill>
                  <a:srgbClr val="000000"/>
                </a:solidFill>
                <a:latin typeface="Overpass"/>
                <a:ea typeface="Overpass"/>
                <a:cs typeface="Overpass"/>
                <a:sym typeface="Overpass"/>
              </a:rPr>
              <a:t>Se crea con los siguientes comandos:</a:t>
            </a:r>
          </a:p>
        </p:txBody>
      </p:sp>
      <p:pic>
        <p:nvPicPr>
          <p:cNvPr name="Picture 5" id="5"/>
          <p:cNvPicPr>
            <a:picLocks noChangeAspect="true"/>
          </p:cNvPicPr>
          <p:nvPr/>
        </p:nvPicPr>
        <p:blipFill>
          <a:blip r:embed="rId3"/>
          <a:srcRect l="70477" t="23497" r="0" b="0"/>
          <a:stretch>
            <a:fillRect/>
          </a:stretch>
        </p:blipFill>
        <p:spPr>
          <a:xfrm flipH="true" flipV="false" rot="-5400000">
            <a:off x="12514025" y="4513025"/>
            <a:ext cx="3215480" cy="8332470"/>
          </a:xfrm>
          <a:prstGeom prst="rect">
            <a:avLst/>
          </a:prstGeom>
        </p:spPr>
      </p:pic>
      <p:pic>
        <p:nvPicPr>
          <p:cNvPr name="Picture 6" id="6"/>
          <p:cNvPicPr>
            <a:picLocks noChangeAspect="true"/>
          </p:cNvPicPr>
          <p:nvPr/>
        </p:nvPicPr>
        <p:blipFill>
          <a:blip r:embed="rId4"/>
          <a:srcRect l="0" t="0" r="0" b="0"/>
          <a:stretch>
            <a:fillRect/>
          </a:stretch>
        </p:blipFill>
        <p:spPr>
          <a:xfrm flipH="false" flipV="false" rot="0">
            <a:off x="1028700" y="686382"/>
            <a:ext cx="549281" cy="825642"/>
          </a:xfrm>
          <a:prstGeom prst="rect">
            <a:avLst/>
          </a:prstGeom>
        </p:spPr>
      </p:pic>
      <p:sp>
        <p:nvSpPr>
          <p:cNvPr name="TextBox 7" id="7"/>
          <p:cNvSpPr txBox="true"/>
          <p:nvPr/>
        </p:nvSpPr>
        <p:spPr>
          <a:xfrm rot="0">
            <a:off x="3247966" y="7103560"/>
            <a:ext cx="9124671" cy="2613025"/>
          </a:xfrm>
          <a:prstGeom prst="rect">
            <a:avLst/>
          </a:prstGeom>
        </p:spPr>
        <p:txBody>
          <a:bodyPr anchor="t" rtlCol="false" tIns="0" lIns="0" bIns="0" rIns="0">
            <a:spAutoFit/>
          </a:bodyPr>
          <a:lstStyle/>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Port-channel 1</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exit</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range ethernet 0/0-1</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channel-group 1 mode on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10800000">
            <a:off x="0" y="-32502"/>
            <a:ext cx="3468258" cy="3089052"/>
          </a:xfrm>
          <a:prstGeom prst="rect">
            <a:avLst/>
          </a:prstGeom>
        </p:spPr>
      </p:pic>
      <p:sp>
        <p:nvSpPr>
          <p:cNvPr name="TextBox 3" id="3"/>
          <p:cNvSpPr txBox="true"/>
          <p:nvPr/>
        </p:nvSpPr>
        <p:spPr>
          <a:xfrm rot="0">
            <a:off x="3968966" y="413403"/>
            <a:ext cx="13111110"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EtherChannel Dinámico</a:t>
            </a:r>
          </a:p>
        </p:txBody>
      </p:sp>
      <p:sp>
        <p:nvSpPr>
          <p:cNvPr name="TextBox 4" id="4"/>
          <p:cNvSpPr txBox="true"/>
          <p:nvPr/>
        </p:nvSpPr>
        <p:spPr>
          <a:xfrm rot="0">
            <a:off x="939708" y="2682675"/>
            <a:ext cx="16408585" cy="5794375"/>
          </a:xfrm>
          <a:prstGeom prst="rect">
            <a:avLst/>
          </a:prstGeom>
        </p:spPr>
        <p:txBody>
          <a:bodyPr anchor="t" rtlCol="false" tIns="0" lIns="0" bIns="0" rIns="0">
            <a:spAutoFit/>
          </a:bodyPr>
          <a:lstStyle/>
          <a:p>
            <a:pPr algn="l">
              <a:lnSpc>
                <a:spcPts val="4549"/>
              </a:lnSpc>
            </a:pPr>
            <a:r>
              <a:rPr lang="en-US" sz="3499">
                <a:solidFill>
                  <a:srgbClr val="000000"/>
                </a:solidFill>
                <a:latin typeface="Overpass"/>
                <a:ea typeface="Overpass"/>
                <a:cs typeface="Overpass"/>
                <a:sym typeface="Overpass"/>
              </a:rPr>
              <a:t>En la configuración dinámica de EtherChannel, se utiliza el protocolo de control de agregación de enlaces (LACP o PAGP) para crear y administrar el canal de enlace lógico.</a:t>
            </a:r>
          </a:p>
          <a:p>
            <a:pPr algn="l">
              <a:lnSpc>
                <a:spcPts val="4549"/>
              </a:lnSpc>
            </a:pPr>
          </a:p>
          <a:p>
            <a:pPr algn="l">
              <a:lnSpc>
                <a:spcPts val="4549"/>
              </a:lnSpc>
            </a:pPr>
            <a:r>
              <a:rPr lang="en-US" sz="3499">
                <a:solidFill>
                  <a:srgbClr val="000000"/>
                </a:solidFill>
                <a:latin typeface="Overpass"/>
                <a:ea typeface="Overpass"/>
                <a:cs typeface="Overpass"/>
                <a:sym typeface="Overpass"/>
              </a:rPr>
              <a:t>El protocolo elegido permite la comunicación entre los dispositivos de red para negociar y establecer el canal de enlace lógico, lo que proporciona una mayor redundancia y distribución de carga.</a:t>
            </a:r>
          </a:p>
          <a:p>
            <a:pPr algn="l">
              <a:lnSpc>
                <a:spcPts val="4549"/>
              </a:lnSpc>
            </a:pPr>
          </a:p>
          <a:p>
            <a:pPr algn="l">
              <a:lnSpc>
                <a:spcPts val="4549"/>
              </a:lnSpc>
            </a:pPr>
            <a:r>
              <a:rPr lang="en-US" sz="3499">
                <a:solidFill>
                  <a:srgbClr val="000000"/>
                </a:solidFill>
                <a:latin typeface="Overpass"/>
                <a:ea typeface="Overpass"/>
                <a:cs typeface="Overpass"/>
                <a:sym typeface="Overpass"/>
              </a:rPr>
              <a:t>También permite la detección y recuperación automática de fallos en los enlaces físicos. </a:t>
            </a:r>
          </a:p>
        </p:txBody>
      </p:sp>
      <p:pic>
        <p:nvPicPr>
          <p:cNvPr name="Picture 5" id="5"/>
          <p:cNvPicPr>
            <a:picLocks noChangeAspect="true"/>
          </p:cNvPicPr>
          <p:nvPr/>
        </p:nvPicPr>
        <p:blipFill>
          <a:blip r:embed="rId3"/>
          <a:srcRect l="70477" t="23497" r="0" b="0"/>
          <a:stretch>
            <a:fillRect/>
          </a:stretch>
        </p:blipFill>
        <p:spPr>
          <a:xfrm flipH="true" flipV="false" rot="-5400000">
            <a:off x="12514025" y="4513025"/>
            <a:ext cx="3215480" cy="8332470"/>
          </a:xfrm>
          <a:prstGeom prst="rect">
            <a:avLst/>
          </a:prstGeom>
        </p:spPr>
      </p:pic>
      <p:pic>
        <p:nvPicPr>
          <p:cNvPr name="Picture 6" id="6"/>
          <p:cNvPicPr>
            <a:picLocks noChangeAspect="true"/>
          </p:cNvPicPr>
          <p:nvPr/>
        </p:nvPicPr>
        <p:blipFill>
          <a:blip r:embed="rId4"/>
          <a:srcRect l="0" t="0" r="0" b="0"/>
          <a:stretch>
            <a:fillRect/>
          </a:stretch>
        </p:blipFill>
        <p:spPr>
          <a:xfrm flipH="false" flipV="false" rot="0">
            <a:off x="1028700" y="761208"/>
            <a:ext cx="737522" cy="67599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10090262">
            <a:off x="-2969613" y="5184636"/>
            <a:ext cx="8774007" cy="7633386"/>
          </a:xfrm>
          <a:custGeom>
            <a:avLst/>
            <a:gdLst/>
            <a:ahLst/>
            <a:cxnLst/>
            <a:rect r="r" b="b" t="t" l="l"/>
            <a:pathLst>
              <a:path h="7633386" w="8774007">
                <a:moveTo>
                  <a:pt x="0" y="0"/>
                </a:moveTo>
                <a:lnTo>
                  <a:pt x="8774007" y="0"/>
                </a:lnTo>
                <a:lnTo>
                  <a:pt x="8774007" y="7633386"/>
                </a:lnTo>
                <a:lnTo>
                  <a:pt x="0" y="76333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0"/>
            <a:ext cx="4428108"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LACP</a:t>
            </a:r>
          </a:p>
        </p:txBody>
      </p:sp>
      <p:pic>
        <p:nvPicPr>
          <p:cNvPr name="Picture 4" id="4"/>
          <p:cNvPicPr>
            <a:picLocks noChangeAspect="true"/>
          </p:cNvPicPr>
          <p:nvPr/>
        </p:nvPicPr>
        <p:blipFill>
          <a:blip r:embed="rId4"/>
          <a:srcRect l="0" t="0" r="0" b="0"/>
          <a:stretch>
            <a:fillRect/>
          </a:stretch>
        </p:blipFill>
        <p:spPr>
          <a:xfrm flipH="false" flipV="false" rot="-7094170">
            <a:off x="13740886" y="-3287079"/>
            <a:ext cx="7036829" cy="7237544"/>
          </a:xfrm>
          <a:prstGeom prst="rect">
            <a:avLst/>
          </a:prstGeom>
        </p:spPr>
      </p:pic>
      <p:sp>
        <p:nvSpPr>
          <p:cNvPr name="TextBox 5" id="5"/>
          <p:cNvSpPr txBox="true"/>
          <p:nvPr/>
        </p:nvSpPr>
        <p:spPr>
          <a:xfrm rot="0">
            <a:off x="762660" y="1513877"/>
            <a:ext cx="16762681" cy="8315325"/>
          </a:xfrm>
          <a:prstGeom prst="rect">
            <a:avLst/>
          </a:prstGeom>
        </p:spPr>
        <p:txBody>
          <a:bodyPr anchor="t" rtlCol="false" tIns="0" lIns="0" bIns="0" rIns="0">
            <a:spAutoFit/>
          </a:bodyPr>
          <a:lstStyle/>
          <a:p>
            <a:pPr algn="just">
              <a:lnSpc>
                <a:spcPts val="3899"/>
              </a:lnSpc>
            </a:pPr>
            <a:r>
              <a:rPr lang="en-US" sz="2999">
                <a:solidFill>
                  <a:srgbClr val="000000"/>
                </a:solidFill>
                <a:latin typeface="Overpass"/>
                <a:ea typeface="Overpass"/>
                <a:cs typeface="Overpass"/>
                <a:sym typeface="Overpass"/>
              </a:rPr>
              <a:t>También conocido como Link Aggregation Control Protocol, es un protocolo de control de agregación de enlaces que se utiliza en conjunto con EtherChannel para configurar y controlar los enlaces físicos que conforman el canal.</a:t>
            </a:r>
          </a:p>
          <a:p>
            <a:pPr algn="just">
              <a:lnSpc>
                <a:spcPts val="3899"/>
              </a:lnSpc>
            </a:pPr>
          </a:p>
          <a:p>
            <a:pPr algn="just">
              <a:lnSpc>
                <a:spcPts val="3899"/>
              </a:lnSpc>
            </a:pPr>
            <a:r>
              <a:rPr lang="en-US" sz="2999">
                <a:solidFill>
                  <a:srgbClr val="000000"/>
                </a:solidFill>
                <a:latin typeface="Overpass"/>
                <a:ea typeface="Overpass"/>
                <a:cs typeface="Overpass"/>
                <a:sym typeface="Overpass"/>
              </a:rPr>
              <a:t>Trabaja en la capa de enlace de datos del modelo OSI y se encarga de negociar la creación del canal entre los dispositivos que conforman el enlace.</a:t>
            </a:r>
          </a:p>
          <a:p>
            <a:pPr algn="just">
              <a:lnSpc>
                <a:spcPts val="3899"/>
              </a:lnSpc>
            </a:pPr>
          </a:p>
          <a:p>
            <a:pPr algn="just">
              <a:lnSpc>
                <a:spcPts val="3899"/>
              </a:lnSpc>
            </a:pPr>
            <a:r>
              <a:rPr lang="en-US" sz="2999">
                <a:solidFill>
                  <a:srgbClr val="000000"/>
                </a:solidFill>
                <a:latin typeface="Overpass"/>
                <a:ea typeface="Overpass"/>
                <a:cs typeface="Overpass"/>
                <a:sym typeface="Overpass"/>
              </a:rPr>
              <a:t>Cuando LACP está habilitado en los dispositivos que forman parte del canal, estos intercambian mensajes LACP para determinar si pueden configurar un canal y cómo se deben configurar los enlaces físicos que formarán parte del mismo.</a:t>
            </a:r>
          </a:p>
          <a:p>
            <a:pPr algn="just">
              <a:lnSpc>
                <a:spcPts val="3899"/>
              </a:lnSpc>
            </a:pPr>
          </a:p>
          <a:p>
            <a:pPr algn="just">
              <a:lnSpc>
                <a:spcPts val="3899"/>
              </a:lnSpc>
            </a:pPr>
            <a:r>
              <a:rPr lang="en-US" sz="2999">
                <a:solidFill>
                  <a:srgbClr val="000000"/>
                </a:solidFill>
                <a:latin typeface="Overpass"/>
                <a:ea typeface="Overpass"/>
                <a:cs typeface="Overpass"/>
                <a:sym typeface="Overpass"/>
              </a:rPr>
              <a:t>LACP permite también monitorear y detectar fallos en el enlace y ajustar automáticamente la configuración en consecuencia.</a:t>
            </a:r>
          </a:p>
          <a:p>
            <a:pPr algn="just">
              <a:lnSpc>
                <a:spcPts val="3899"/>
              </a:lnSpc>
            </a:pPr>
          </a:p>
          <a:p>
            <a:pPr algn="just">
              <a:lnSpc>
                <a:spcPts val="3899"/>
              </a:lnSpc>
            </a:pPr>
            <a:r>
              <a:rPr lang="en-US" sz="2999">
                <a:solidFill>
                  <a:srgbClr val="000000"/>
                </a:solidFill>
                <a:latin typeface="Overpass"/>
                <a:ea typeface="Overpass"/>
                <a:cs typeface="Overpass"/>
                <a:sym typeface="Overpass"/>
              </a:rPr>
              <a:t>LACP admite dos modos de operación: "activo" y "pasivo". En el modo activo, el dispositivo envía mensajes LACP y negocia la creación del canal. En el modo pasivo, el dispositivo solo responde a los mensajes LACP que recibe.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3124630" y="2018870"/>
            <a:ext cx="5143500" cy="11392761"/>
          </a:xfrm>
          <a:prstGeom prst="rect">
            <a:avLst/>
          </a:prstGeom>
        </p:spPr>
      </p:pic>
      <p:sp>
        <p:nvSpPr>
          <p:cNvPr name="Freeform 4" id="4"/>
          <p:cNvSpPr/>
          <p:nvPr/>
        </p:nvSpPr>
        <p:spPr>
          <a:xfrm flipH="false" flipV="false" rot="-1016799">
            <a:off x="9736550" y="-2506878"/>
            <a:ext cx="11406363" cy="9923536"/>
          </a:xfrm>
          <a:custGeom>
            <a:avLst/>
            <a:gdLst/>
            <a:ahLst/>
            <a:cxnLst/>
            <a:rect r="r" b="b" t="t" l="l"/>
            <a:pathLst>
              <a:path h="9923536" w="11406363">
                <a:moveTo>
                  <a:pt x="0" y="0"/>
                </a:moveTo>
                <a:lnTo>
                  <a:pt x="11406363" y="0"/>
                </a:lnTo>
                <a:lnTo>
                  <a:pt x="11406363" y="9923536"/>
                </a:lnTo>
                <a:lnTo>
                  <a:pt x="0" y="9923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106812" y="2005468"/>
            <a:ext cx="10074377" cy="8069589"/>
          </a:xfrm>
          <a:custGeom>
            <a:avLst/>
            <a:gdLst/>
            <a:ahLst/>
            <a:cxnLst/>
            <a:rect r="r" b="b" t="t" l="l"/>
            <a:pathLst>
              <a:path h="8069589" w="10074377">
                <a:moveTo>
                  <a:pt x="0" y="0"/>
                </a:moveTo>
                <a:lnTo>
                  <a:pt x="10074376" y="0"/>
                </a:lnTo>
                <a:lnTo>
                  <a:pt x="10074376" y="8069589"/>
                </a:lnTo>
                <a:lnTo>
                  <a:pt x="0" y="8069589"/>
                </a:lnTo>
                <a:lnTo>
                  <a:pt x="0" y="0"/>
                </a:lnTo>
                <a:close/>
              </a:path>
            </a:pathLst>
          </a:custGeom>
          <a:blipFill>
            <a:blip r:embed="rId5"/>
            <a:stretch>
              <a:fillRect l="0" t="0" r="0" b="0"/>
            </a:stretch>
          </a:blipFill>
        </p:spPr>
      </p:sp>
      <p:sp>
        <p:nvSpPr>
          <p:cNvPr name="TextBox 6" id="6"/>
          <p:cNvSpPr txBox="true"/>
          <p:nvPr/>
        </p:nvSpPr>
        <p:spPr>
          <a:xfrm rot="0">
            <a:off x="1743229" y="342900"/>
            <a:ext cx="14801541" cy="1371600"/>
          </a:xfrm>
          <a:prstGeom prst="rect">
            <a:avLst/>
          </a:prstGeom>
        </p:spPr>
        <p:txBody>
          <a:bodyPr anchor="t" rtlCol="false" tIns="0" lIns="0" bIns="0" rIns="0">
            <a:spAutoFit/>
          </a:bodyPr>
          <a:lstStyle/>
          <a:p>
            <a:pPr algn="r">
              <a:lnSpc>
                <a:spcPts val="10800"/>
              </a:lnSpc>
            </a:pPr>
            <a:r>
              <a:rPr lang="en-US" sz="9000">
                <a:solidFill>
                  <a:srgbClr val="FFFAEF"/>
                </a:solidFill>
                <a:latin typeface="Fredoka"/>
                <a:ea typeface="Fredoka"/>
                <a:cs typeface="Fredoka"/>
                <a:sym typeface="Fredoka"/>
              </a:rPr>
              <a:t>Modos de Operación LACP</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10800000">
            <a:off x="0" y="-32502"/>
            <a:ext cx="3468258" cy="3089052"/>
          </a:xfrm>
          <a:prstGeom prst="rect">
            <a:avLst/>
          </a:prstGeom>
        </p:spPr>
      </p:pic>
      <p:sp>
        <p:nvSpPr>
          <p:cNvPr name="TextBox 3" id="3"/>
          <p:cNvSpPr txBox="true"/>
          <p:nvPr/>
        </p:nvSpPr>
        <p:spPr>
          <a:xfrm rot="0">
            <a:off x="4325229" y="413403"/>
            <a:ext cx="12754846"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Configurando LACP</a:t>
            </a:r>
          </a:p>
        </p:txBody>
      </p:sp>
      <p:sp>
        <p:nvSpPr>
          <p:cNvPr name="TextBox 4" id="4"/>
          <p:cNvSpPr txBox="true"/>
          <p:nvPr/>
        </p:nvSpPr>
        <p:spPr>
          <a:xfrm rot="0">
            <a:off x="1028700" y="3244456"/>
            <a:ext cx="16408585" cy="650875"/>
          </a:xfrm>
          <a:prstGeom prst="rect">
            <a:avLst/>
          </a:prstGeom>
        </p:spPr>
        <p:txBody>
          <a:bodyPr anchor="t" rtlCol="false" tIns="0" lIns="0" bIns="0" rIns="0">
            <a:spAutoFit/>
          </a:bodyPr>
          <a:lstStyle/>
          <a:p>
            <a:pPr algn="l">
              <a:lnSpc>
                <a:spcPts val="4549"/>
              </a:lnSpc>
            </a:pPr>
            <a:r>
              <a:rPr lang="en-US" sz="3499">
                <a:solidFill>
                  <a:srgbClr val="000000"/>
                </a:solidFill>
                <a:latin typeface="Overpass"/>
                <a:ea typeface="Overpass"/>
                <a:cs typeface="Overpass"/>
                <a:sym typeface="Overpass"/>
              </a:rPr>
              <a:t>En el modo de configuración global se ingresa lo siguiente:</a:t>
            </a:r>
          </a:p>
        </p:txBody>
      </p:sp>
      <p:pic>
        <p:nvPicPr>
          <p:cNvPr name="Picture 5" id="5"/>
          <p:cNvPicPr>
            <a:picLocks noChangeAspect="true"/>
          </p:cNvPicPr>
          <p:nvPr/>
        </p:nvPicPr>
        <p:blipFill>
          <a:blip r:embed="rId3"/>
          <a:srcRect l="70477" t="23497" r="0" b="0"/>
          <a:stretch>
            <a:fillRect/>
          </a:stretch>
        </p:blipFill>
        <p:spPr>
          <a:xfrm flipH="true" flipV="false" rot="-5400000">
            <a:off x="12514025" y="4513025"/>
            <a:ext cx="3215480" cy="8332470"/>
          </a:xfrm>
          <a:prstGeom prst="rect">
            <a:avLst/>
          </a:prstGeom>
        </p:spPr>
      </p:pic>
      <p:sp>
        <p:nvSpPr>
          <p:cNvPr name="TextBox 6" id="6"/>
          <p:cNvSpPr txBox="true"/>
          <p:nvPr/>
        </p:nvSpPr>
        <p:spPr>
          <a:xfrm rot="0">
            <a:off x="1734129" y="4085831"/>
            <a:ext cx="15525171" cy="4513263"/>
          </a:xfrm>
          <a:prstGeom prst="rect">
            <a:avLst/>
          </a:prstGeom>
        </p:spPr>
        <p:txBody>
          <a:bodyPr anchor="t" rtlCol="false" tIns="0" lIns="0" bIns="0" rIns="0">
            <a:spAutoFit/>
          </a:bodyPr>
          <a:lstStyle/>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Port-channel [número]</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description [descripción]</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exit</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range ethernet 0/0-1</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channel-group [número] mode [active/passive]</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(Aca también se realiza toda la configuración de modo troncal/modo acceso)</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exit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10090262">
            <a:off x="-2969613" y="5184636"/>
            <a:ext cx="8774007" cy="7633386"/>
          </a:xfrm>
          <a:custGeom>
            <a:avLst/>
            <a:gdLst/>
            <a:ahLst/>
            <a:cxnLst/>
            <a:rect r="r" b="b" t="t" l="l"/>
            <a:pathLst>
              <a:path h="7633386" w="8774007">
                <a:moveTo>
                  <a:pt x="0" y="0"/>
                </a:moveTo>
                <a:lnTo>
                  <a:pt x="8774007" y="0"/>
                </a:lnTo>
                <a:lnTo>
                  <a:pt x="8774007" y="7633386"/>
                </a:lnTo>
                <a:lnTo>
                  <a:pt x="0" y="76333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0"/>
            <a:ext cx="4428108"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PAGP</a:t>
            </a:r>
          </a:p>
        </p:txBody>
      </p:sp>
      <p:pic>
        <p:nvPicPr>
          <p:cNvPr name="Picture 4" id="4"/>
          <p:cNvPicPr>
            <a:picLocks noChangeAspect="true"/>
          </p:cNvPicPr>
          <p:nvPr/>
        </p:nvPicPr>
        <p:blipFill>
          <a:blip r:embed="rId4"/>
          <a:srcRect l="0" t="0" r="0" b="0"/>
          <a:stretch>
            <a:fillRect/>
          </a:stretch>
        </p:blipFill>
        <p:spPr>
          <a:xfrm flipH="false" flipV="false" rot="-7094170">
            <a:off x="13740886" y="-3287079"/>
            <a:ext cx="7036829" cy="7237544"/>
          </a:xfrm>
          <a:prstGeom prst="rect">
            <a:avLst/>
          </a:prstGeom>
        </p:spPr>
      </p:pic>
      <p:sp>
        <p:nvSpPr>
          <p:cNvPr name="TextBox 5" id="5"/>
          <p:cNvSpPr txBox="true"/>
          <p:nvPr/>
        </p:nvSpPr>
        <p:spPr>
          <a:xfrm rot="0">
            <a:off x="762660" y="2048272"/>
            <a:ext cx="16762681" cy="6372225"/>
          </a:xfrm>
          <a:prstGeom prst="rect">
            <a:avLst/>
          </a:prstGeom>
        </p:spPr>
        <p:txBody>
          <a:bodyPr anchor="t" rtlCol="false" tIns="0" lIns="0" bIns="0" rIns="0">
            <a:spAutoFit/>
          </a:bodyPr>
          <a:lstStyle/>
          <a:p>
            <a:pPr algn="just">
              <a:lnSpc>
                <a:spcPts val="3899"/>
              </a:lnSpc>
            </a:pPr>
            <a:r>
              <a:rPr lang="en-US" sz="2999">
                <a:solidFill>
                  <a:srgbClr val="000000"/>
                </a:solidFill>
                <a:latin typeface="Overpass"/>
                <a:ea typeface="Overpass"/>
                <a:cs typeface="Overpass"/>
                <a:sym typeface="Overpass"/>
              </a:rPr>
              <a:t>También conocido como Port Aggregation Protocol, es un protocolo de control de agregación de enlaces utilizado en redes de Cisco para configurar y controlar la agregación de enlaces. Al igual que LACP, PAGP permite combinar múltiples enlaces físicos en un solo enlace lógico de mayor capacidad y redundancia.</a:t>
            </a:r>
          </a:p>
          <a:p>
            <a:pPr algn="just">
              <a:lnSpc>
                <a:spcPts val="3899"/>
              </a:lnSpc>
            </a:pPr>
          </a:p>
          <a:p>
            <a:pPr algn="just">
              <a:lnSpc>
                <a:spcPts val="3899"/>
              </a:lnSpc>
            </a:pPr>
            <a:r>
              <a:rPr lang="en-US" sz="2999">
                <a:solidFill>
                  <a:srgbClr val="000000"/>
                </a:solidFill>
                <a:latin typeface="Overpass"/>
                <a:ea typeface="Overpass"/>
                <a:cs typeface="Overpass"/>
                <a:sym typeface="Overpass"/>
              </a:rPr>
              <a:t>Trabaja en la capa de enlace de datos del modelo OSI.</a:t>
            </a:r>
          </a:p>
          <a:p>
            <a:pPr algn="just">
              <a:lnSpc>
                <a:spcPts val="3899"/>
              </a:lnSpc>
            </a:pPr>
          </a:p>
          <a:p>
            <a:pPr algn="just">
              <a:lnSpc>
                <a:spcPts val="3899"/>
              </a:lnSpc>
            </a:pPr>
            <a:r>
              <a:rPr lang="en-US" sz="2999">
                <a:solidFill>
                  <a:srgbClr val="000000"/>
                </a:solidFill>
                <a:latin typeface="Overpass"/>
                <a:ea typeface="Overpass"/>
                <a:cs typeface="Overpass"/>
                <a:sym typeface="Overpass"/>
              </a:rPr>
              <a:t>A diferencia de LACP, PAGP no utiliza los conceptos de "grupo activo" y "grupo pasivo". En su lugar, PAGP utiliza los conceptos de "modo deseado" y "modo admitido".</a:t>
            </a:r>
          </a:p>
          <a:p>
            <a:pPr algn="just">
              <a:lnSpc>
                <a:spcPts val="3899"/>
              </a:lnSpc>
            </a:pPr>
          </a:p>
          <a:p>
            <a:pPr algn="just">
              <a:lnSpc>
                <a:spcPts val="3899"/>
              </a:lnSpc>
            </a:pPr>
            <a:r>
              <a:rPr lang="en-US" sz="2999">
                <a:solidFill>
                  <a:srgbClr val="000000"/>
                </a:solidFill>
                <a:latin typeface="Overpass"/>
                <a:ea typeface="Overpass"/>
                <a:cs typeface="Overpass"/>
                <a:sym typeface="Overpass"/>
              </a:rPr>
              <a:t>PAGP es un protocolo propietario de Cisco, mientras que LACP es un estándar abierto. Además, PAGP solo se utiliza en equipos de Cisco, mientras que LACP puede utilizarse en equipos de diferentes fabricantes.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3124630" y="2018870"/>
            <a:ext cx="5143500" cy="11392761"/>
          </a:xfrm>
          <a:prstGeom prst="rect">
            <a:avLst/>
          </a:prstGeom>
        </p:spPr>
      </p:pic>
      <p:sp>
        <p:nvSpPr>
          <p:cNvPr name="Freeform 4" id="4"/>
          <p:cNvSpPr/>
          <p:nvPr/>
        </p:nvSpPr>
        <p:spPr>
          <a:xfrm flipH="false" flipV="false" rot="-1016799">
            <a:off x="9736550" y="-2506878"/>
            <a:ext cx="11406363" cy="9923536"/>
          </a:xfrm>
          <a:custGeom>
            <a:avLst/>
            <a:gdLst/>
            <a:ahLst/>
            <a:cxnLst/>
            <a:rect r="r" b="b" t="t" l="l"/>
            <a:pathLst>
              <a:path h="9923536" w="11406363">
                <a:moveTo>
                  <a:pt x="0" y="0"/>
                </a:moveTo>
                <a:lnTo>
                  <a:pt x="11406363" y="0"/>
                </a:lnTo>
                <a:lnTo>
                  <a:pt x="11406363" y="9923536"/>
                </a:lnTo>
                <a:lnTo>
                  <a:pt x="0" y="99235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379605" y="1901270"/>
            <a:ext cx="10316670" cy="8163065"/>
          </a:xfrm>
          <a:custGeom>
            <a:avLst/>
            <a:gdLst/>
            <a:ahLst/>
            <a:cxnLst/>
            <a:rect r="r" b="b" t="t" l="l"/>
            <a:pathLst>
              <a:path h="8163065" w="10316670">
                <a:moveTo>
                  <a:pt x="0" y="0"/>
                </a:moveTo>
                <a:lnTo>
                  <a:pt x="10316670" y="0"/>
                </a:lnTo>
                <a:lnTo>
                  <a:pt x="10316670" y="8163065"/>
                </a:lnTo>
                <a:lnTo>
                  <a:pt x="0" y="8163065"/>
                </a:lnTo>
                <a:lnTo>
                  <a:pt x="0" y="0"/>
                </a:lnTo>
                <a:close/>
              </a:path>
            </a:pathLst>
          </a:custGeom>
          <a:blipFill>
            <a:blip r:embed="rId5"/>
            <a:stretch>
              <a:fillRect l="0" t="0" r="0" b="0"/>
            </a:stretch>
          </a:blipFill>
        </p:spPr>
      </p:sp>
      <p:sp>
        <p:nvSpPr>
          <p:cNvPr name="TextBox 6" id="6"/>
          <p:cNvSpPr txBox="true"/>
          <p:nvPr/>
        </p:nvSpPr>
        <p:spPr>
          <a:xfrm rot="0">
            <a:off x="1743229" y="342900"/>
            <a:ext cx="14801541" cy="1371600"/>
          </a:xfrm>
          <a:prstGeom prst="rect">
            <a:avLst/>
          </a:prstGeom>
        </p:spPr>
        <p:txBody>
          <a:bodyPr anchor="t" rtlCol="false" tIns="0" lIns="0" bIns="0" rIns="0">
            <a:spAutoFit/>
          </a:bodyPr>
          <a:lstStyle/>
          <a:p>
            <a:pPr algn="r">
              <a:lnSpc>
                <a:spcPts val="10800"/>
              </a:lnSpc>
            </a:pPr>
            <a:r>
              <a:rPr lang="en-US" sz="9000">
                <a:solidFill>
                  <a:srgbClr val="FFFAEF"/>
                </a:solidFill>
                <a:latin typeface="Fredoka"/>
                <a:ea typeface="Fredoka"/>
                <a:cs typeface="Fredoka"/>
                <a:sym typeface="Fredoka"/>
              </a:rPr>
              <a:t>Modos de Operación PAGP</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10800000">
            <a:off x="0" y="-32502"/>
            <a:ext cx="3468258" cy="3089052"/>
          </a:xfrm>
          <a:prstGeom prst="rect">
            <a:avLst/>
          </a:prstGeom>
        </p:spPr>
      </p:pic>
      <p:sp>
        <p:nvSpPr>
          <p:cNvPr name="TextBox 3" id="3"/>
          <p:cNvSpPr txBox="true"/>
          <p:nvPr/>
        </p:nvSpPr>
        <p:spPr>
          <a:xfrm rot="0">
            <a:off x="4325229" y="413403"/>
            <a:ext cx="12754846"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Configurando PAGP</a:t>
            </a:r>
          </a:p>
        </p:txBody>
      </p:sp>
      <p:sp>
        <p:nvSpPr>
          <p:cNvPr name="TextBox 4" id="4"/>
          <p:cNvSpPr txBox="true"/>
          <p:nvPr/>
        </p:nvSpPr>
        <p:spPr>
          <a:xfrm rot="0">
            <a:off x="1028700" y="3244456"/>
            <a:ext cx="16408585" cy="650875"/>
          </a:xfrm>
          <a:prstGeom prst="rect">
            <a:avLst/>
          </a:prstGeom>
        </p:spPr>
        <p:txBody>
          <a:bodyPr anchor="t" rtlCol="false" tIns="0" lIns="0" bIns="0" rIns="0">
            <a:spAutoFit/>
          </a:bodyPr>
          <a:lstStyle/>
          <a:p>
            <a:pPr algn="l">
              <a:lnSpc>
                <a:spcPts val="4549"/>
              </a:lnSpc>
            </a:pPr>
            <a:r>
              <a:rPr lang="en-US" sz="3499">
                <a:solidFill>
                  <a:srgbClr val="000000"/>
                </a:solidFill>
                <a:latin typeface="Overpass"/>
                <a:ea typeface="Overpass"/>
                <a:cs typeface="Overpass"/>
                <a:sym typeface="Overpass"/>
              </a:rPr>
              <a:t>En el modo de configuración global se ingresa lo siguiente:</a:t>
            </a:r>
          </a:p>
        </p:txBody>
      </p:sp>
      <p:pic>
        <p:nvPicPr>
          <p:cNvPr name="Picture 5" id="5"/>
          <p:cNvPicPr>
            <a:picLocks noChangeAspect="true"/>
          </p:cNvPicPr>
          <p:nvPr/>
        </p:nvPicPr>
        <p:blipFill>
          <a:blip r:embed="rId3"/>
          <a:srcRect l="70477" t="23497" r="0" b="0"/>
          <a:stretch>
            <a:fillRect/>
          </a:stretch>
        </p:blipFill>
        <p:spPr>
          <a:xfrm flipH="true" flipV="false" rot="-5400000">
            <a:off x="12514025" y="4513025"/>
            <a:ext cx="3215480" cy="8332470"/>
          </a:xfrm>
          <a:prstGeom prst="rect">
            <a:avLst/>
          </a:prstGeom>
        </p:spPr>
      </p:pic>
      <p:sp>
        <p:nvSpPr>
          <p:cNvPr name="TextBox 6" id="6"/>
          <p:cNvSpPr txBox="true"/>
          <p:nvPr/>
        </p:nvSpPr>
        <p:spPr>
          <a:xfrm rot="0">
            <a:off x="1734129" y="4085831"/>
            <a:ext cx="15525171" cy="4079875"/>
          </a:xfrm>
          <a:prstGeom prst="rect">
            <a:avLst/>
          </a:prstGeom>
        </p:spPr>
        <p:txBody>
          <a:bodyPr anchor="t" rtlCol="false" tIns="0" lIns="0" bIns="0" rIns="0">
            <a:spAutoFit/>
          </a:bodyPr>
          <a:lstStyle/>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Port-channel [número]</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description [descripción]</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exit</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interface range ethernet 0/0-1</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channel-group [numero] mode [desirable/auto]</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(Aca también se realiza toda la configuración de modo troncal/modo acceso)</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exit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2927178">
            <a:off x="2119528" y="-963026"/>
            <a:ext cx="12725595" cy="14205829"/>
          </a:xfrm>
          <a:prstGeom prst="rect">
            <a:avLst/>
          </a:prstGeom>
        </p:spPr>
      </p:pic>
      <p:sp>
        <p:nvSpPr>
          <p:cNvPr name="Freeform 3" id="3"/>
          <p:cNvSpPr/>
          <p:nvPr/>
        </p:nvSpPr>
        <p:spPr>
          <a:xfrm flipH="false" flipV="false" rot="1873312">
            <a:off x="9823683" y="3469259"/>
            <a:ext cx="11748976" cy="11578082"/>
          </a:xfrm>
          <a:custGeom>
            <a:avLst/>
            <a:gdLst/>
            <a:ahLst/>
            <a:cxnLst/>
            <a:rect r="r" b="b" t="t" l="l"/>
            <a:pathLst>
              <a:path h="11578082" w="11748976">
                <a:moveTo>
                  <a:pt x="0" y="0"/>
                </a:moveTo>
                <a:lnTo>
                  <a:pt x="11748975" y="0"/>
                </a:lnTo>
                <a:lnTo>
                  <a:pt x="11748975" y="11578082"/>
                </a:lnTo>
                <a:lnTo>
                  <a:pt x="0" y="11578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15072" y="536758"/>
            <a:ext cx="16329728" cy="1371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Verificando la configuración </a:t>
            </a:r>
          </a:p>
        </p:txBody>
      </p:sp>
      <p:sp>
        <p:nvSpPr>
          <p:cNvPr name="TextBox 5" id="5"/>
          <p:cNvSpPr txBox="true"/>
          <p:nvPr/>
        </p:nvSpPr>
        <p:spPr>
          <a:xfrm rot="0">
            <a:off x="1028700" y="3244456"/>
            <a:ext cx="16408585" cy="650875"/>
          </a:xfrm>
          <a:prstGeom prst="rect">
            <a:avLst/>
          </a:prstGeom>
        </p:spPr>
        <p:txBody>
          <a:bodyPr anchor="t" rtlCol="false" tIns="0" lIns="0" bIns="0" rIns="0">
            <a:spAutoFit/>
          </a:bodyPr>
          <a:lstStyle/>
          <a:p>
            <a:pPr algn="l">
              <a:lnSpc>
                <a:spcPts val="4549"/>
              </a:lnSpc>
            </a:pPr>
            <a:r>
              <a:rPr lang="en-US" sz="3499">
                <a:solidFill>
                  <a:srgbClr val="000000"/>
                </a:solidFill>
                <a:latin typeface="Overpass"/>
                <a:ea typeface="Overpass"/>
                <a:cs typeface="Overpass"/>
                <a:sym typeface="Overpass"/>
              </a:rPr>
              <a:t>Se puede verificar la configuración con los siguientes comandos</a:t>
            </a:r>
          </a:p>
        </p:txBody>
      </p:sp>
      <p:sp>
        <p:nvSpPr>
          <p:cNvPr name="TextBox 6" id="6"/>
          <p:cNvSpPr txBox="true"/>
          <p:nvPr/>
        </p:nvSpPr>
        <p:spPr>
          <a:xfrm rot="0">
            <a:off x="2762829" y="4419828"/>
            <a:ext cx="10850705" cy="1979613"/>
          </a:xfrm>
          <a:prstGeom prst="rect">
            <a:avLst/>
          </a:prstGeom>
        </p:spPr>
        <p:txBody>
          <a:bodyPr anchor="t" rtlCol="false" tIns="0" lIns="0" bIns="0" rIns="0">
            <a:spAutoFit/>
          </a:bodyPr>
          <a:lstStyle/>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show etherchannel summary</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show interfaces &lt;interfaz&gt; switchport</a:t>
            </a:r>
          </a:p>
          <a:p>
            <a:pPr algn="l" marL="755644" indent="-377822" lvl="1">
              <a:lnSpc>
                <a:spcPts val="4549"/>
              </a:lnSpc>
              <a:buFont typeface="Arial"/>
              <a:buChar char="•"/>
            </a:pPr>
            <a:r>
              <a:rPr lang="en-US" sz="3499" i="true">
                <a:solidFill>
                  <a:srgbClr val="000000"/>
                </a:solidFill>
                <a:latin typeface="Overpass Italics"/>
                <a:ea typeface="Overpass Italics"/>
                <a:cs typeface="Overpass Italics"/>
                <a:sym typeface="Overpass Italics"/>
              </a:rPr>
              <a:t>show &lt;lacp/pagp&gt; neighbor</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sp>
        <p:nvSpPr>
          <p:cNvPr name="Freeform 2" id="2"/>
          <p:cNvSpPr/>
          <p:nvPr/>
        </p:nvSpPr>
        <p:spPr>
          <a:xfrm flipH="false" flipV="false" rot="1012461">
            <a:off x="13533545" y="4950102"/>
            <a:ext cx="9508910" cy="9841045"/>
          </a:xfrm>
          <a:custGeom>
            <a:avLst/>
            <a:gdLst/>
            <a:ahLst/>
            <a:cxnLst/>
            <a:rect r="r" b="b" t="t" l="l"/>
            <a:pathLst>
              <a:path h="9841045" w="9508910">
                <a:moveTo>
                  <a:pt x="0" y="0"/>
                </a:moveTo>
                <a:lnTo>
                  <a:pt x="9508910" y="0"/>
                </a:lnTo>
                <a:lnTo>
                  <a:pt x="9508910" y="9841045"/>
                </a:lnTo>
                <a:lnTo>
                  <a:pt x="0" y="9841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rcRect l="0" t="0" r="64034" b="46739"/>
          <a:stretch>
            <a:fillRect/>
          </a:stretch>
        </p:blipFill>
        <p:spPr>
          <a:xfrm flipH="true" flipV="false" rot="-5400000">
            <a:off x="1041561" y="-1041561"/>
            <a:ext cx="4331879" cy="6415001"/>
          </a:xfrm>
          <a:prstGeom prst="rect">
            <a:avLst/>
          </a:prstGeom>
        </p:spPr>
      </p:pic>
      <p:sp>
        <p:nvSpPr>
          <p:cNvPr name="TextBox 4" id="4"/>
          <p:cNvSpPr txBox="true"/>
          <p:nvPr/>
        </p:nvSpPr>
        <p:spPr>
          <a:xfrm rot="0">
            <a:off x="400976" y="504875"/>
            <a:ext cx="17486047" cy="1371600"/>
          </a:xfrm>
          <a:prstGeom prst="rect">
            <a:avLst/>
          </a:prstGeom>
        </p:spPr>
        <p:txBody>
          <a:bodyPr anchor="t" rtlCol="false" tIns="0" lIns="0" bIns="0" rIns="0">
            <a:spAutoFit/>
          </a:bodyPr>
          <a:lstStyle/>
          <a:p>
            <a:pPr algn="ctr">
              <a:lnSpc>
                <a:spcPts val="10800"/>
              </a:lnSpc>
            </a:pPr>
            <a:r>
              <a:rPr lang="en-US" sz="9000">
                <a:solidFill>
                  <a:srgbClr val="FFFAEF"/>
                </a:solidFill>
                <a:latin typeface="Fredoka"/>
                <a:ea typeface="Fredoka"/>
                <a:cs typeface="Fredoka"/>
                <a:sym typeface="Fredoka"/>
              </a:rPr>
              <a:t>Diferencias entre LACP y PAGP</a:t>
            </a:r>
          </a:p>
        </p:txBody>
      </p:sp>
      <p:sp>
        <p:nvSpPr>
          <p:cNvPr name="TextBox 5" id="5"/>
          <p:cNvSpPr txBox="true"/>
          <p:nvPr/>
        </p:nvSpPr>
        <p:spPr>
          <a:xfrm rot="0">
            <a:off x="1397254" y="2569582"/>
            <a:ext cx="15493493" cy="6858000"/>
          </a:xfrm>
          <a:prstGeom prst="rect">
            <a:avLst/>
          </a:prstGeom>
        </p:spPr>
        <p:txBody>
          <a:bodyPr anchor="t" rtlCol="false" tIns="0" lIns="0" bIns="0" rIns="0">
            <a:spAutoFit/>
          </a:bodyPr>
          <a:lstStyle/>
          <a:p>
            <a:pPr algn="just">
              <a:lnSpc>
                <a:spcPts val="3899"/>
              </a:lnSpc>
            </a:pPr>
            <a:r>
              <a:rPr lang="en-US" sz="2999" b="true">
                <a:solidFill>
                  <a:srgbClr val="FFFAEF"/>
                </a:solidFill>
                <a:latin typeface="Overpass Ultra-Bold"/>
                <a:ea typeface="Overpass Ultra-Bold"/>
                <a:cs typeface="Overpass Ultra-Bold"/>
                <a:sym typeface="Overpass Ultra-Bold"/>
              </a:rPr>
              <a:t>Propietario del protocolo:</a:t>
            </a:r>
            <a:r>
              <a:rPr lang="en-US" sz="2999">
                <a:solidFill>
                  <a:srgbClr val="FFFAEF"/>
                </a:solidFill>
                <a:latin typeface="Overpass"/>
                <a:ea typeface="Overpass"/>
                <a:cs typeface="Overpass"/>
                <a:sym typeface="Overpass"/>
              </a:rPr>
              <a:t> PAgP es un protocolo propietario de Cisco, mientras que LACP es un estándar IEEE 802.3ad. Esto significa que LACP es compatible con dispositivos de múltiples proveedores, mientras que PAgP solo es compatible con dispositivos de Cisco.</a:t>
            </a:r>
          </a:p>
          <a:p>
            <a:pPr algn="just">
              <a:lnSpc>
                <a:spcPts val="3899"/>
              </a:lnSpc>
            </a:pPr>
          </a:p>
          <a:p>
            <a:pPr algn="just">
              <a:lnSpc>
                <a:spcPts val="3899"/>
              </a:lnSpc>
            </a:pPr>
            <a:r>
              <a:rPr lang="en-US" sz="2999" b="true">
                <a:solidFill>
                  <a:srgbClr val="FFFAEF"/>
                </a:solidFill>
                <a:latin typeface="Overpass Ultra-Bold"/>
                <a:ea typeface="Overpass Ultra-Bold"/>
                <a:cs typeface="Overpass Ultra-Bold"/>
                <a:sym typeface="Overpass Ultra-Bold"/>
              </a:rPr>
              <a:t>Modos de operación:</a:t>
            </a:r>
            <a:r>
              <a:rPr lang="en-US" sz="2999">
                <a:solidFill>
                  <a:srgbClr val="FFFAEF"/>
                </a:solidFill>
                <a:latin typeface="Overpass"/>
                <a:ea typeface="Overpass"/>
                <a:cs typeface="Overpass"/>
                <a:sym typeface="Overpass"/>
              </a:rPr>
              <a:t> LACP tiene dos modos de operación: "activo" y "pasivo", mientras que PAgP tiene dos modos de operación: “automático" y "deseable". En el modo “automático" o "deseable", el puerto intenta iniciar la agregación de enlaces y enviar paquetes de control para establecer el canal. En el modo "pasivo", el puerto simplemente responde a las solicitudes de agregación de enlaces. </a:t>
            </a:r>
          </a:p>
          <a:p>
            <a:pPr algn="just">
              <a:lnSpc>
                <a:spcPts val="3899"/>
              </a:lnSpc>
            </a:pPr>
          </a:p>
          <a:p>
            <a:pPr algn="just">
              <a:lnSpc>
                <a:spcPts val="3899"/>
              </a:lnSpc>
            </a:pPr>
            <a:r>
              <a:rPr lang="en-US" b="true" sz="2999">
                <a:solidFill>
                  <a:srgbClr val="FFFAEF"/>
                </a:solidFill>
                <a:latin typeface="Overpass Ultra-Bold"/>
                <a:ea typeface="Overpass Ultra-Bold"/>
                <a:cs typeface="Overpass Ultra-Bold"/>
                <a:sym typeface="Overpass Ultra-Bold"/>
              </a:rPr>
              <a:t>Flexibilidad de configuración:</a:t>
            </a:r>
            <a:r>
              <a:rPr lang="en-US" sz="2999">
                <a:solidFill>
                  <a:srgbClr val="FFFAEF"/>
                </a:solidFill>
                <a:latin typeface="Overpass"/>
                <a:ea typeface="Overpass"/>
                <a:cs typeface="Overpass"/>
                <a:sym typeface="Overpass"/>
              </a:rPr>
              <a:t> LACP es más flexible que PAgP en cuanto a la configuración del canal de enlace agregado. Por ejemplo, LACP permite la configuración de canales de enlace agregados con puertos de diferentes velocidades, mientras que PAgP requiere que los puertos tengan la misma velocidad.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028700" y="3740836"/>
            <a:ext cx="7871744" cy="27432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EJEMPLOS DE APLICACIÓN</a:t>
            </a:r>
          </a:p>
        </p:txBody>
      </p:sp>
      <p:grpSp>
        <p:nvGrpSpPr>
          <p:cNvPr name="Group 3" id="3"/>
          <p:cNvGrpSpPr/>
          <p:nvPr/>
        </p:nvGrpSpPr>
        <p:grpSpPr>
          <a:xfrm rot="0">
            <a:off x="9396047" y="2484651"/>
            <a:ext cx="7519469" cy="1252855"/>
            <a:chOff x="0" y="0"/>
            <a:chExt cx="10025959" cy="1670473"/>
          </a:xfrm>
        </p:grpSpPr>
        <p:sp>
          <p:nvSpPr>
            <p:cNvPr name="TextBox 4" id="4"/>
            <p:cNvSpPr txBox="true"/>
            <p:nvPr/>
          </p:nvSpPr>
          <p:spPr>
            <a:xfrm rot="0">
              <a:off x="1211311" y="-85725"/>
              <a:ext cx="8814647" cy="17561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Se puede utilizar para aumentar el ancho de banda de varios enlaces físicos y así poder evitar cuellos de botella.</a:t>
              </a:r>
            </a:p>
          </p:txBody>
        </p:sp>
        <p:sp>
          <p:nvSpPr>
            <p:cNvPr name="TextBox 5" id="5"/>
            <p:cNvSpPr txBox="true"/>
            <p:nvPr/>
          </p:nvSpPr>
          <p:spPr>
            <a:xfrm rot="0">
              <a:off x="0" y="440902"/>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01</a:t>
              </a:r>
            </a:p>
          </p:txBody>
        </p:sp>
      </p:grpSp>
      <p:pic>
        <p:nvPicPr>
          <p:cNvPr name="Picture 6" id="6"/>
          <p:cNvPicPr>
            <a:picLocks noChangeAspect="true"/>
          </p:cNvPicPr>
          <p:nvPr/>
        </p:nvPicPr>
        <p:blipFill>
          <a:blip r:embed="rId2"/>
          <a:srcRect l="0" t="0" r="0" b="0"/>
          <a:stretch>
            <a:fillRect/>
          </a:stretch>
        </p:blipFill>
        <p:spPr>
          <a:xfrm flipH="true" flipV="false" rot="0">
            <a:off x="-21944" y="0"/>
            <a:ext cx="11958233" cy="2098730"/>
          </a:xfrm>
          <a:prstGeom prst="rect">
            <a:avLst/>
          </a:prstGeom>
        </p:spPr>
      </p:pic>
      <p:pic>
        <p:nvPicPr>
          <p:cNvPr name="Picture 7" id="7"/>
          <p:cNvPicPr>
            <a:picLocks noChangeAspect="true"/>
          </p:cNvPicPr>
          <p:nvPr/>
        </p:nvPicPr>
        <p:blipFill>
          <a:blip r:embed="rId3"/>
          <a:srcRect l="0" t="0" r="64034" b="46739"/>
          <a:stretch>
            <a:fillRect/>
          </a:stretch>
        </p:blipFill>
        <p:spPr>
          <a:xfrm flipH="true" flipV="true" rot="5400000">
            <a:off x="1041561" y="4941242"/>
            <a:ext cx="4331879" cy="6415001"/>
          </a:xfrm>
          <a:prstGeom prst="rect">
            <a:avLst/>
          </a:prstGeom>
        </p:spPr>
      </p:pic>
      <p:grpSp>
        <p:nvGrpSpPr>
          <p:cNvPr name="Group 8" id="8"/>
          <p:cNvGrpSpPr/>
          <p:nvPr/>
        </p:nvGrpSpPr>
        <p:grpSpPr>
          <a:xfrm rot="0">
            <a:off x="9396047" y="4272487"/>
            <a:ext cx="7519469" cy="1681480"/>
            <a:chOff x="0" y="0"/>
            <a:chExt cx="10025959" cy="2241973"/>
          </a:xfrm>
        </p:grpSpPr>
        <p:sp>
          <p:nvSpPr>
            <p:cNvPr name="TextBox 9" id="9"/>
            <p:cNvSpPr txBox="true"/>
            <p:nvPr/>
          </p:nvSpPr>
          <p:spPr>
            <a:xfrm rot="0">
              <a:off x="1211311" y="-85725"/>
              <a:ext cx="8814647" cy="23276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Se puede usar para alta disponibilidad y redundancia, ya que si uno de los cables falla, los otros pueden seguir funcionando sin perder la conectividad.</a:t>
              </a:r>
            </a:p>
          </p:txBody>
        </p:sp>
        <p:sp>
          <p:nvSpPr>
            <p:cNvPr name="TextBox 10" id="10"/>
            <p:cNvSpPr txBox="true"/>
            <p:nvPr/>
          </p:nvSpPr>
          <p:spPr>
            <a:xfrm rot="0">
              <a:off x="0" y="729192"/>
              <a:ext cx="998212"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02</a:t>
              </a:r>
            </a:p>
          </p:txBody>
        </p:sp>
      </p:grpSp>
      <p:grpSp>
        <p:nvGrpSpPr>
          <p:cNvPr name="Group 11" id="11"/>
          <p:cNvGrpSpPr/>
          <p:nvPr/>
        </p:nvGrpSpPr>
        <p:grpSpPr>
          <a:xfrm rot="0">
            <a:off x="9396047" y="6487367"/>
            <a:ext cx="7519469" cy="1252855"/>
            <a:chOff x="0" y="0"/>
            <a:chExt cx="10025959" cy="1670473"/>
          </a:xfrm>
        </p:grpSpPr>
        <p:sp>
          <p:nvSpPr>
            <p:cNvPr name="TextBox 12" id="12"/>
            <p:cNvSpPr txBox="true"/>
            <p:nvPr/>
          </p:nvSpPr>
          <p:spPr>
            <a:xfrm rot="0">
              <a:off x="1211311" y="-85725"/>
              <a:ext cx="8814647" cy="17561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Para la optimización de tráfico de red, pudiendo balacear el tráfico de entrada/salida.</a:t>
              </a:r>
            </a:p>
          </p:txBody>
        </p:sp>
        <p:sp>
          <p:nvSpPr>
            <p:cNvPr name="TextBox 13" id="13"/>
            <p:cNvSpPr txBox="true"/>
            <p:nvPr/>
          </p:nvSpPr>
          <p:spPr>
            <a:xfrm rot="0">
              <a:off x="0" y="443442"/>
              <a:ext cx="998212"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03</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2989" t="67035" r="0" b="0"/>
          <a:stretch>
            <a:fillRect/>
          </a:stretch>
        </p:blipFill>
        <p:spPr>
          <a:xfrm flipH="false" flipV="false" rot="-10800000">
            <a:off x="0" y="-32502"/>
            <a:ext cx="3468258" cy="3089052"/>
          </a:xfrm>
          <a:prstGeom prst="rect">
            <a:avLst/>
          </a:prstGeom>
        </p:spPr>
      </p:pic>
      <p:sp>
        <p:nvSpPr>
          <p:cNvPr name="TextBox 3" id="3"/>
          <p:cNvSpPr txBox="true"/>
          <p:nvPr/>
        </p:nvSpPr>
        <p:spPr>
          <a:xfrm rot="0">
            <a:off x="3343602" y="313350"/>
            <a:ext cx="12754846" cy="27432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Conceptos Clave Aprendidos</a:t>
            </a:r>
          </a:p>
        </p:txBody>
      </p:sp>
      <p:pic>
        <p:nvPicPr>
          <p:cNvPr name="Picture 4" id="4"/>
          <p:cNvPicPr>
            <a:picLocks noChangeAspect="true"/>
          </p:cNvPicPr>
          <p:nvPr/>
        </p:nvPicPr>
        <p:blipFill>
          <a:blip r:embed="rId3"/>
          <a:srcRect l="70477" t="23497" r="0" b="0"/>
          <a:stretch>
            <a:fillRect/>
          </a:stretch>
        </p:blipFill>
        <p:spPr>
          <a:xfrm flipH="true" flipV="false" rot="-5400000">
            <a:off x="12514025" y="4513025"/>
            <a:ext cx="3215480" cy="8332470"/>
          </a:xfrm>
          <a:prstGeom prst="rect">
            <a:avLst/>
          </a:prstGeom>
        </p:spPr>
      </p:pic>
      <p:sp>
        <p:nvSpPr>
          <p:cNvPr name="TextBox 5" id="5"/>
          <p:cNvSpPr txBox="true"/>
          <p:nvPr/>
        </p:nvSpPr>
        <p:spPr>
          <a:xfrm rot="0">
            <a:off x="576281" y="3394553"/>
            <a:ext cx="17135439" cy="4079875"/>
          </a:xfrm>
          <a:prstGeom prst="rect">
            <a:avLst/>
          </a:prstGeom>
        </p:spPr>
        <p:txBody>
          <a:bodyPr anchor="t" rtlCol="false" tIns="0" lIns="0" bIns="0" rIns="0">
            <a:spAutoFit/>
          </a:bodyPr>
          <a:lstStyle/>
          <a:p>
            <a:pPr algn="l" marL="755644" indent="-377822" lvl="1">
              <a:lnSpc>
                <a:spcPts val="4549"/>
              </a:lnSpc>
              <a:buFont typeface="Arial"/>
              <a:buChar char="•"/>
            </a:pPr>
            <a:r>
              <a:rPr lang="en-US" sz="3499">
                <a:solidFill>
                  <a:srgbClr val="000000"/>
                </a:solidFill>
                <a:latin typeface="Overpass"/>
                <a:ea typeface="Overpass"/>
                <a:cs typeface="Overpass"/>
                <a:sym typeface="Overpass"/>
              </a:rPr>
              <a:t>Agregación de Enlaces: Es una tecnología que permite combinar múltiples enlaces de red físicos en un solo enlace lógico de mayor ancho de banda.</a:t>
            </a:r>
          </a:p>
          <a:p>
            <a:pPr algn="l" marL="755644" indent="-377822" lvl="1">
              <a:lnSpc>
                <a:spcPts val="4549"/>
              </a:lnSpc>
              <a:buFont typeface="Arial"/>
              <a:buChar char="•"/>
            </a:pPr>
            <a:r>
              <a:rPr lang="en-US" sz="3499">
                <a:solidFill>
                  <a:srgbClr val="000000"/>
                </a:solidFill>
                <a:latin typeface="Overpass"/>
                <a:ea typeface="Overpass"/>
                <a:cs typeface="Overpass"/>
                <a:sym typeface="Overpass"/>
              </a:rPr>
              <a:t>EtherChannel Estático: En este modo los enlaces físicos se agregan manualmente al canal de enlace lógico sin la ayuda de un protocolo de control de agregación de enlaces.</a:t>
            </a:r>
          </a:p>
          <a:p>
            <a:pPr algn="l" marL="755644" indent="-377822" lvl="1">
              <a:lnSpc>
                <a:spcPts val="4549"/>
              </a:lnSpc>
              <a:buFont typeface="Arial"/>
              <a:buChar char="•"/>
            </a:pPr>
            <a:r>
              <a:rPr lang="en-US" sz="3499">
                <a:solidFill>
                  <a:srgbClr val="000000"/>
                </a:solidFill>
                <a:latin typeface="Overpass"/>
                <a:ea typeface="Overpass"/>
                <a:cs typeface="Overpass"/>
                <a:sym typeface="Overpass"/>
              </a:rPr>
              <a:t>EtherChannel Dinámico: Se utiliza el protocolo de control de agregación de enlaces (LACP o PAGP) para crear y administrar el canal de enlace lógico.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028700" y="4426636"/>
            <a:ext cx="7074427" cy="13716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VALORES</a:t>
            </a:r>
          </a:p>
        </p:txBody>
      </p:sp>
      <p:grpSp>
        <p:nvGrpSpPr>
          <p:cNvPr name="Group 3" id="3"/>
          <p:cNvGrpSpPr/>
          <p:nvPr/>
        </p:nvGrpSpPr>
        <p:grpSpPr>
          <a:xfrm rot="0">
            <a:off x="9239711" y="3871940"/>
            <a:ext cx="7519469" cy="548640"/>
            <a:chOff x="0" y="0"/>
            <a:chExt cx="10025959" cy="731520"/>
          </a:xfrm>
        </p:grpSpPr>
        <p:sp>
          <p:nvSpPr>
            <p:cNvPr name="TextBox 4" id="4"/>
            <p:cNvSpPr txBox="true"/>
            <p:nvPr/>
          </p:nvSpPr>
          <p:spPr>
            <a:xfrm rot="0">
              <a:off x="1211311" y="16298"/>
              <a:ext cx="8814647" cy="6131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Capacidad de Diagnóstico</a:t>
              </a:r>
            </a:p>
          </p:txBody>
        </p:sp>
        <p:sp>
          <p:nvSpPr>
            <p:cNvPr name="TextBox 5" id="5"/>
            <p:cNvSpPr txBox="true"/>
            <p:nvPr/>
          </p:nvSpPr>
          <p:spPr>
            <a:xfrm rot="0">
              <a:off x="0" y="-28575"/>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01</a:t>
              </a:r>
            </a:p>
          </p:txBody>
        </p:sp>
      </p:grpSp>
      <p:pic>
        <p:nvPicPr>
          <p:cNvPr name="Picture 6" id="6"/>
          <p:cNvPicPr>
            <a:picLocks noChangeAspect="true"/>
          </p:cNvPicPr>
          <p:nvPr/>
        </p:nvPicPr>
        <p:blipFill>
          <a:blip r:embed="rId2"/>
          <a:srcRect l="0" t="0" r="0" b="0"/>
          <a:stretch>
            <a:fillRect/>
          </a:stretch>
        </p:blipFill>
        <p:spPr>
          <a:xfrm flipH="true" flipV="false" rot="0">
            <a:off x="-21944" y="0"/>
            <a:ext cx="11958233" cy="2098730"/>
          </a:xfrm>
          <a:prstGeom prst="rect">
            <a:avLst/>
          </a:prstGeom>
        </p:spPr>
      </p:pic>
      <p:pic>
        <p:nvPicPr>
          <p:cNvPr name="Picture 7" id="7"/>
          <p:cNvPicPr>
            <a:picLocks noChangeAspect="true"/>
          </p:cNvPicPr>
          <p:nvPr/>
        </p:nvPicPr>
        <p:blipFill>
          <a:blip r:embed="rId3"/>
          <a:srcRect l="0" t="0" r="64034" b="46739"/>
          <a:stretch>
            <a:fillRect/>
          </a:stretch>
        </p:blipFill>
        <p:spPr>
          <a:xfrm flipH="true" flipV="true" rot="5400000">
            <a:off x="1041561" y="4941242"/>
            <a:ext cx="4331879" cy="6415001"/>
          </a:xfrm>
          <a:prstGeom prst="rect">
            <a:avLst/>
          </a:prstGeom>
        </p:spPr>
      </p:pic>
      <p:grpSp>
        <p:nvGrpSpPr>
          <p:cNvPr name="Group 8" id="8"/>
          <p:cNvGrpSpPr/>
          <p:nvPr/>
        </p:nvGrpSpPr>
        <p:grpSpPr>
          <a:xfrm rot="0">
            <a:off x="9239711" y="4844172"/>
            <a:ext cx="7519469" cy="544830"/>
            <a:chOff x="0" y="0"/>
            <a:chExt cx="10025959" cy="726440"/>
          </a:xfrm>
        </p:grpSpPr>
        <p:sp>
          <p:nvSpPr>
            <p:cNvPr name="TextBox 9" id="9"/>
            <p:cNvSpPr txBox="true"/>
            <p:nvPr/>
          </p:nvSpPr>
          <p:spPr>
            <a:xfrm rot="0">
              <a:off x="1211311" y="13758"/>
              <a:ext cx="8814647" cy="6131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Solución de conflictos</a:t>
              </a:r>
            </a:p>
          </p:txBody>
        </p:sp>
        <p:sp>
          <p:nvSpPr>
            <p:cNvPr name="TextBox 10" id="10"/>
            <p:cNvSpPr txBox="true"/>
            <p:nvPr/>
          </p:nvSpPr>
          <p:spPr>
            <a:xfrm rot="0">
              <a:off x="0" y="-28575"/>
              <a:ext cx="998212"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02</a:t>
              </a:r>
            </a:p>
          </p:txBody>
        </p:sp>
      </p:grpSp>
      <p:grpSp>
        <p:nvGrpSpPr>
          <p:cNvPr name="Group 11" id="11"/>
          <p:cNvGrpSpPr/>
          <p:nvPr/>
        </p:nvGrpSpPr>
        <p:grpSpPr>
          <a:xfrm rot="0">
            <a:off x="9239711" y="5808102"/>
            <a:ext cx="7519469" cy="544830"/>
            <a:chOff x="0" y="0"/>
            <a:chExt cx="10025959" cy="726440"/>
          </a:xfrm>
        </p:grpSpPr>
        <p:sp>
          <p:nvSpPr>
            <p:cNvPr name="TextBox 12" id="12"/>
            <p:cNvSpPr txBox="true"/>
            <p:nvPr/>
          </p:nvSpPr>
          <p:spPr>
            <a:xfrm rot="0">
              <a:off x="1211311" y="13758"/>
              <a:ext cx="8814647" cy="613198"/>
            </a:xfrm>
            <a:prstGeom prst="rect">
              <a:avLst/>
            </a:prstGeom>
          </p:spPr>
          <p:txBody>
            <a:bodyPr anchor="t" rtlCol="false" tIns="0" lIns="0" bIns="0" rIns="0">
              <a:spAutoFit/>
            </a:bodyPr>
            <a:lstStyle/>
            <a:p>
              <a:pPr algn="l">
                <a:lnSpc>
                  <a:spcPts val="3380"/>
                </a:lnSpc>
              </a:pPr>
              <a:r>
                <a:rPr lang="en-US" sz="2600">
                  <a:solidFill>
                    <a:srgbClr val="000000"/>
                  </a:solidFill>
                  <a:latin typeface="Overpass"/>
                  <a:ea typeface="Overpass"/>
                  <a:cs typeface="Overpass"/>
                  <a:sym typeface="Overpass"/>
                </a:rPr>
                <a:t>Precision para visualizar y corregir errores</a:t>
              </a:r>
            </a:p>
          </p:txBody>
        </p:sp>
        <p:sp>
          <p:nvSpPr>
            <p:cNvPr name="TextBox 13" id="13"/>
            <p:cNvSpPr txBox="true"/>
            <p:nvPr/>
          </p:nvSpPr>
          <p:spPr>
            <a:xfrm rot="0">
              <a:off x="0" y="-28575"/>
              <a:ext cx="998212" cy="75501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03</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028700" y="4426636"/>
            <a:ext cx="7074427" cy="1371600"/>
          </a:xfrm>
          <a:prstGeom prst="rect">
            <a:avLst/>
          </a:prstGeom>
        </p:spPr>
        <p:txBody>
          <a:bodyPr anchor="t" rtlCol="false" tIns="0" lIns="0" bIns="0" rIns="0">
            <a:spAutoFit/>
          </a:bodyPr>
          <a:lstStyle/>
          <a:p>
            <a:pPr algn="l">
              <a:lnSpc>
                <a:spcPts val="10800"/>
              </a:lnSpc>
            </a:pPr>
            <a:r>
              <a:rPr lang="en-US" sz="9000">
                <a:solidFill>
                  <a:srgbClr val="000000"/>
                </a:solidFill>
                <a:latin typeface="Fredoka"/>
                <a:ea typeface="Fredoka"/>
                <a:cs typeface="Fredoka"/>
                <a:sym typeface="Fredoka"/>
              </a:rPr>
              <a:t>Referencias</a:t>
            </a:r>
          </a:p>
        </p:txBody>
      </p:sp>
      <p:grpSp>
        <p:nvGrpSpPr>
          <p:cNvPr name="Group 3" id="3"/>
          <p:cNvGrpSpPr/>
          <p:nvPr/>
        </p:nvGrpSpPr>
        <p:grpSpPr>
          <a:xfrm rot="0">
            <a:off x="9334087" y="2352646"/>
            <a:ext cx="7519469" cy="598699"/>
            <a:chOff x="0" y="0"/>
            <a:chExt cx="10025959" cy="798266"/>
          </a:xfrm>
        </p:grpSpPr>
        <p:sp>
          <p:nvSpPr>
            <p:cNvPr name="TextBox 4" id="4"/>
            <p:cNvSpPr txBox="true"/>
            <p:nvPr/>
          </p:nvSpPr>
          <p:spPr>
            <a:xfrm rot="0">
              <a:off x="1211311" y="189583"/>
              <a:ext cx="8814647" cy="613198"/>
            </a:xfrm>
            <a:prstGeom prst="rect">
              <a:avLst/>
            </a:prstGeom>
          </p:spPr>
          <p:txBody>
            <a:bodyPr anchor="t" rtlCol="false" tIns="0" lIns="0" bIns="0" rIns="0">
              <a:spAutoFit/>
            </a:bodyPr>
            <a:lstStyle/>
            <a:p>
              <a:pPr algn="l">
                <a:lnSpc>
                  <a:spcPts val="3380"/>
                </a:lnSpc>
              </a:pPr>
              <a:r>
                <a:rPr lang="en-US" sz="2600" u="sng">
                  <a:solidFill>
                    <a:srgbClr val="000000"/>
                  </a:solidFill>
                  <a:latin typeface="Overpass"/>
                  <a:ea typeface="Overpass"/>
                  <a:cs typeface="Overpass"/>
                  <a:sym typeface="Overpass"/>
                  <a:hlinkClick r:id="rId2" tooltip="https://youtu.be/Zp_rXGqmpvE"/>
                </a:rPr>
                <a:t>https://youtu.be/Zp_rXGqmpvE</a:t>
              </a:r>
            </a:p>
          </p:txBody>
        </p:sp>
        <p:sp>
          <p:nvSpPr>
            <p:cNvPr name="TextBox 5" id="5"/>
            <p:cNvSpPr txBox="true"/>
            <p:nvPr/>
          </p:nvSpPr>
          <p:spPr>
            <a:xfrm rot="0">
              <a:off x="0" y="-33091"/>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01</a:t>
              </a:r>
            </a:p>
          </p:txBody>
        </p:sp>
      </p:grpSp>
      <p:grpSp>
        <p:nvGrpSpPr>
          <p:cNvPr name="Group 6" id="6"/>
          <p:cNvGrpSpPr/>
          <p:nvPr/>
        </p:nvGrpSpPr>
        <p:grpSpPr>
          <a:xfrm rot="0">
            <a:off x="9334087" y="3854766"/>
            <a:ext cx="7519469" cy="1048120"/>
            <a:chOff x="0" y="0"/>
            <a:chExt cx="10025959" cy="1397494"/>
          </a:xfrm>
        </p:grpSpPr>
        <p:sp>
          <p:nvSpPr>
            <p:cNvPr name="TextBox 7" id="7"/>
            <p:cNvSpPr txBox="true"/>
            <p:nvPr/>
          </p:nvSpPr>
          <p:spPr>
            <a:xfrm rot="0">
              <a:off x="1211311" y="-86854"/>
              <a:ext cx="8814647" cy="1208828"/>
            </a:xfrm>
            <a:prstGeom prst="rect">
              <a:avLst/>
            </a:prstGeom>
          </p:spPr>
          <p:txBody>
            <a:bodyPr anchor="t" rtlCol="false" tIns="0" lIns="0" bIns="0" rIns="0">
              <a:spAutoFit/>
            </a:bodyPr>
            <a:lstStyle/>
            <a:p>
              <a:pPr algn="l">
                <a:lnSpc>
                  <a:spcPts val="3477"/>
                </a:lnSpc>
              </a:pPr>
              <a:r>
                <a:rPr lang="en-US" sz="2675" u="sng">
                  <a:solidFill>
                    <a:srgbClr val="000000"/>
                  </a:solidFill>
                  <a:latin typeface="Overpass"/>
                  <a:ea typeface="Overpass"/>
                  <a:cs typeface="Overpass"/>
                  <a:sym typeface="Overpass"/>
                  <a:hlinkClick r:id="rId3" tooltip="https://www.fs.com/es/blog/lacp-vs-pagp-comparison-4784.html"/>
                </a:rPr>
                <a:t>https://www.fs.com/es/blog/lacp-vs-pagp-comparison-4784.html</a:t>
              </a:r>
            </a:p>
          </p:txBody>
        </p:sp>
        <p:sp>
          <p:nvSpPr>
            <p:cNvPr name="TextBox 8" id="8"/>
            <p:cNvSpPr txBox="true"/>
            <p:nvPr/>
          </p:nvSpPr>
          <p:spPr>
            <a:xfrm rot="0">
              <a:off x="0" y="-11712"/>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02</a:t>
              </a:r>
            </a:p>
          </p:txBody>
        </p:sp>
      </p:grpSp>
      <p:grpSp>
        <p:nvGrpSpPr>
          <p:cNvPr name="Group 9" id="9"/>
          <p:cNvGrpSpPr/>
          <p:nvPr/>
        </p:nvGrpSpPr>
        <p:grpSpPr>
          <a:xfrm rot="0">
            <a:off x="9334087" y="5384508"/>
            <a:ext cx="7519469" cy="817457"/>
            <a:chOff x="0" y="0"/>
            <a:chExt cx="10025959" cy="1089942"/>
          </a:xfrm>
        </p:grpSpPr>
        <p:sp>
          <p:nvSpPr>
            <p:cNvPr name="TextBox 10" id="10"/>
            <p:cNvSpPr txBox="true"/>
            <p:nvPr/>
          </p:nvSpPr>
          <p:spPr>
            <a:xfrm rot="0">
              <a:off x="1211311" y="-90240"/>
              <a:ext cx="8814647" cy="1184698"/>
            </a:xfrm>
            <a:prstGeom prst="rect">
              <a:avLst/>
            </a:prstGeom>
          </p:spPr>
          <p:txBody>
            <a:bodyPr anchor="t" rtlCol="false" tIns="0" lIns="0" bIns="0" rIns="0">
              <a:spAutoFit/>
            </a:bodyPr>
            <a:lstStyle/>
            <a:p>
              <a:pPr algn="l">
                <a:lnSpc>
                  <a:spcPts val="3380"/>
                </a:lnSpc>
              </a:pPr>
              <a:r>
                <a:rPr lang="en-US" sz="2600" u="sng">
                  <a:solidFill>
                    <a:srgbClr val="000000"/>
                  </a:solidFill>
                  <a:latin typeface="Overpass"/>
                  <a:ea typeface="Overpass"/>
                  <a:cs typeface="Overpass"/>
                  <a:sym typeface="Overpass"/>
                  <a:hlinkClick r:id="rId4" tooltip="https://ccnadesdecero.es/agregacion-de-enlaces-pagp-lacp/"/>
                </a:rPr>
                <a:t>https://ccnadesdecero.es/agregacion-de-enlaces-pagp-lacp/</a:t>
              </a:r>
            </a:p>
          </p:txBody>
        </p:sp>
        <p:sp>
          <p:nvSpPr>
            <p:cNvPr name="TextBox 11" id="11"/>
            <p:cNvSpPr txBox="true"/>
            <p:nvPr/>
          </p:nvSpPr>
          <p:spPr>
            <a:xfrm rot="0">
              <a:off x="0" y="-27164"/>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03</a:t>
              </a:r>
            </a:p>
          </p:txBody>
        </p:sp>
      </p:grpSp>
      <p:grpSp>
        <p:nvGrpSpPr>
          <p:cNvPr name="Group 12" id="12"/>
          <p:cNvGrpSpPr/>
          <p:nvPr/>
        </p:nvGrpSpPr>
        <p:grpSpPr>
          <a:xfrm rot="0">
            <a:off x="9334087" y="6687739"/>
            <a:ext cx="7519469" cy="1674707"/>
            <a:chOff x="0" y="0"/>
            <a:chExt cx="10025959" cy="2232942"/>
          </a:xfrm>
        </p:grpSpPr>
        <p:sp>
          <p:nvSpPr>
            <p:cNvPr name="TextBox 13" id="13"/>
            <p:cNvSpPr txBox="true"/>
            <p:nvPr/>
          </p:nvSpPr>
          <p:spPr>
            <a:xfrm rot="0">
              <a:off x="1211311" y="-90240"/>
              <a:ext cx="8814647" cy="2327698"/>
            </a:xfrm>
            <a:prstGeom prst="rect">
              <a:avLst/>
            </a:prstGeom>
          </p:spPr>
          <p:txBody>
            <a:bodyPr anchor="t" rtlCol="false" tIns="0" lIns="0" bIns="0" rIns="0">
              <a:spAutoFit/>
            </a:bodyPr>
            <a:lstStyle/>
            <a:p>
              <a:pPr algn="l">
                <a:lnSpc>
                  <a:spcPts val="3380"/>
                </a:lnSpc>
              </a:pPr>
              <a:r>
                <a:rPr lang="en-US" sz="2600" u="sng">
                  <a:solidFill>
                    <a:srgbClr val="000000"/>
                  </a:solidFill>
                  <a:latin typeface="Overpass"/>
                  <a:ea typeface="Overpass"/>
                  <a:cs typeface="Overpass"/>
                  <a:sym typeface="Overpass"/>
                  <a:hlinkClick r:id="rId5" tooltip="https://www.cisco.com/c/en/us/td/docs/switches/lan/catalyst6500/ios/15-4SY/config_guide/sup6T/15_3_sy_swcg_6T/etherchannel.pdf"/>
                </a:rPr>
                <a:t>https://www.cisco.com/c/en/us/td/docs/switches/lan/catalyst6500/ios/15-4SY/config_guide/sup6T/15_3_sy_swcg_6T/etherchannel.pdf</a:t>
              </a:r>
            </a:p>
          </p:txBody>
        </p:sp>
        <p:sp>
          <p:nvSpPr>
            <p:cNvPr name="TextBox 14" id="14"/>
            <p:cNvSpPr txBox="true"/>
            <p:nvPr/>
          </p:nvSpPr>
          <p:spPr>
            <a:xfrm rot="0">
              <a:off x="0" y="544336"/>
              <a:ext cx="998212" cy="760095"/>
            </a:xfrm>
            <a:prstGeom prst="rect">
              <a:avLst/>
            </a:prstGeom>
          </p:spPr>
          <p:txBody>
            <a:bodyPr anchor="t" rtlCol="false" tIns="0" lIns="0" bIns="0" rIns="0">
              <a:spAutoFit/>
            </a:bodyPr>
            <a:lstStyle/>
            <a:p>
              <a:pPr algn="l">
                <a:lnSpc>
                  <a:spcPts val="4680"/>
                </a:lnSpc>
              </a:pPr>
              <a:r>
                <a:rPr lang="en-US" sz="3600">
                  <a:solidFill>
                    <a:srgbClr val="000000"/>
                  </a:solidFill>
                  <a:latin typeface="Fredoka"/>
                  <a:ea typeface="Fredoka"/>
                  <a:cs typeface="Fredoka"/>
                  <a:sym typeface="Fredoka"/>
                </a:rPr>
                <a:t>04</a:t>
              </a:r>
            </a:p>
          </p:txBody>
        </p:sp>
      </p:grpSp>
      <p:pic>
        <p:nvPicPr>
          <p:cNvPr name="Picture 15" id="15"/>
          <p:cNvPicPr>
            <a:picLocks noChangeAspect="true"/>
          </p:cNvPicPr>
          <p:nvPr/>
        </p:nvPicPr>
        <p:blipFill>
          <a:blip r:embed="rId6"/>
          <a:srcRect l="0" t="0" r="0" b="0"/>
          <a:stretch>
            <a:fillRect/>
          </a:stretch>
        </p:blipFill>
        <p:spPr>
          <a:xfrm flipH="true" flipV="false" rot="0">
            <a:off x="-21944" y="0"/>
            <a:ext cx="11958233" cy="2098730"/>
          </a:xfrm>
          <a:prstGeom prst="rect">
            <a:avLst/>
          </a:prstGeom>
        </p:spPr>
      </p:pic>
      <p:pic>
        <p:nvPicPr>
          <p:cNvPr name="Picture 16" id="16"/>
          <p:cNvPicPr>
            <a:picLocks noChangeAspect="true"/>
          </p:cNvPicPr>
          <p:nvPr/>
        </p:nvPicPr>
        <p:blipFill>
          <a:blip r:embed="rId7"/>
          <a:srcRect l="0" t="0" r="64034" b="46739"/>
          <a:stretch>
            <a:fillRect/>
          </a:stretch>
        </p:blipFill>
        <p:spPr>
          <a:xfrm flipH="true" flipV="true" rot="5400000">
            <a:off x="1041561" y="4941242"/>
            <a:ext cx="4331879" cy="6415001"/>
          </a:xfrm>
          <a:prstGeom prst="rect">
            <a:avLst/>
          </a:prstGeom>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408585">
            <a:off x="4499355" y="-533795"/>
            <a:ext cx="9289290" cy="10369815"/>
          </a:xfrm>
          <a:prstGeom prst="rect">
            <a:avLst/>
          </a:prstGeom>
        </p:spPr>
      </p:pic>
      <p:grpSp>
        <p:nvGrpSpPr>
          <p:cNvPr name="Group 3" id="3"/>
          <p:cNvGrpSpPr/>
          <p:nvPr/>
        </p:nvGrpSpPr>
        <p:grpSpPr>
          <a:xfrm rot="0">
            <a:off x="4421807" y="2622783"/>
            <a:ext cx="9444385" cy="3846002"/>
            <a:chOff x="0" y="0"/>
            <a:chExt cx="12592514" cy="5128003"/>
          </a:xfrm>
        </p:grpSpPr>
        <p:sp>
          <p:nvSpPr>
            <p:cNvPr name="TextBox 4" id="4"/>
            <p:cNvSpPr txBox="true"/>
            <p:nvPr/>
          </p:nvSpPr>
          <p:spPr>
            <a:xfrm rot="0">
              <a:off x="0" y="-4233"/>
              <a:ext cx="12592514" cy="3657600"/>
            </a:xfrm>
            <a:prstGeom prst="rect">
              <a:avLst/>
            </a:prstGeom>
          </p:spPr>
          <p:txBody>
            <a:bodyPr anchor="t" rtlCol="false" tIns="0" lIns="0" bIns="0" rIns="0">
              <a:spAutoFit/>
            </a:bodyPr>
            <a:lstStyle/>
            <a:p>
              <a:pPr algn="ctr">
                <a:lnSpc>
                  <a:spcPts val="10800"/>
                </a:lnSpc>
              </a:pPr>
              <a:r>
                <a:rPr lang="en-US" sz="9000">
                  <a:solidFill>
                    <a:srgbClr val="000000"/>
                  </a:solidFill>
                  <a:latin typeface="Fredoka"/>
                  <a:ea typeface="Fredoka"/>
                  <a:cs typeface="Fredoka"/>
                  <a:sym typeface="Fredoka"/>
                </a:rPr>
                <a:t>¡GRACIAS POR SU ATENCIÓN!</a:t>
              </a:r>
            </a:p>
          </p:txBody>
        </p:sp>
        <p:sp>
          <p:nvSpPr>
            <p:cNvPr name="TextBox 5" id="5"/>
            <p:cNvSpPr txBox="true"/>
            <p:nvPr/>
          </p:nvSpPr>
          <p:spPr>
            <a:xfrm rot="0">
              <a:off x="0" y="3824135"/>
              <a:ext cx="12592514" cy="1303867"/>
            </a:xfrm>
            <a:prstGeom prst="rect">
              <a:avLst/>
            </a:prstGeom>
          </p:spPr>
          <p:txBody>
            <a:bodyPr anchor="t" rtlCol="false" tIns="0" lIns="0" bIns="0" rIns="0">
              <a:spAutoFit/>
            </a:bodyPr>
            <a:lstStyle/>
            <a:p>
              <a:pPr algn="ctr">
                <a:lnSpc>
                  <a:spcPts val="7149"/>
                </a:lnSpc>
              </a:pPr>
              <a:r>
                <a:rPr lang="en-US" sz="5499">
                  <a:solidFill>
                    <a:srgbClr val="000000"/>
                  </a:solidFill>
                  <a:latin typeface="Overpass"/>
                  <a:ea typeface="Overpass"/>
                  <a:cs typeface="Overpass"/>
                  <a:sym typeface="Overpass"/>
                </a:rPr>
                <a:t>¿Dudas?</a:t>
              </a:r>
            </a:p>
          </p:txBody>
        </p:sp>
      </p:grpSp>
      <p:pic>
        <p:nvPicPr>
          <p:cNvPr name="Picture 6" id="6"/>
          <p:cNvPicPr>
            <a:picLocks noChangeAspect="true"/>
          </p:cNvPicPr>
          <p:nvPr/>
        </p:nvPicPr>
        <p:blipFill>
          <a:blip r:embed="rId3"/>
          <a:srcRect l="62989" t="67035" r="0" b="0"/>
          <a:stretch>
            <a:fillRect/>
          </a:stretch>
        </p:blipFill>
        <p:spPr>
          <a:xfrm flipH="false" flipV="false" rot="5400000">
            <a:off x="-202103" y="6179918"/>
            <a:ext cx="4312936" cy="3841377"/>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11640279" y="-4239083"/>
            <a:ext cx="8152651" cy="8478165"/>
          </a:xfrm>
          <a:prstGeom prst="rect">
            <a:avLst/>
          </a:prstGeom>
        </p:spPr>
      </p:pic>
      <p:sp>
        <p:nvSpPr>
          <p:cNvPr name="Freeform 8" id="8"/>
          <p:cNvSpPr/>
          <p:nvPr/>
        </p:nvSpPr>
        <p:spPr>
          <a:xfrm flipH="false" flipV="false" rot="0">
            <a:off x="14010939" y="1154535"/>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5"/>
            <a:stretch>
              <a:fillRect l="0" t="0" r="0" b="0"/>
            </a:stretch>
          </a:blipFill>
        </p:spPr>
      </p:sp>
      <p:sp>
        <p:nvSpPr>
          <p:cNvPr name="TextBox 9" id="9"/>
          <p:cNvSpPr txBox="true"/>
          <p:nvPr/>
        </p:nvSpPr>
        <p:spPr>
          <a:xfrm rot="0">
            <a:off x="2411098" y="7381151"/>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DAGnjimoszw</dc:identifier>
  <dcterms:modified xsi:type="dcterms:W3CDTF">2011-08-01T06:04:30Z</dcterms:modified>
  <cp:revision>1</cp:revision>
  <dc:title>Clase 06 - Laboratorio de Redes de Computadoras 1</dc:title>
</cp:coreProperties>
</file>