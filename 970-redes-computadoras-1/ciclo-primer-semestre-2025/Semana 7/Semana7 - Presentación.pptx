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Sniglet"/>
      <p:regular r:id="rId46"/>
    </p:embeddedFont>
    <p:embeddedFont>
      <p:font typeface="Anton"/>
      <p:regular r:id="rId47"/>
    </p:embeddedFont>
    <p:embeddedFont>
      <p:font typeface="Poppins"/>
      <p:regular r:id="rId48"/>
      <p:bold r:id="rId49"/>
      <p:italic r:id="rId50"/>
      <p:boldItalic r:id="rId51"/>
    </p:embeddedFont>
    <p:embeddedFont>
      <p:font typeface="Montserrat"/>
      <p:bold r:id="rId52"/>
      <p:boldItalic r:id="rId53"/>
    </p:embeddedFont>
    <p:embeddedFont>
      <p:font typeface="Shadows Into Light"/>
      <p:regular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9" roundtripDataSignature="AMtx7mj8ADz/kDN5REPGyhbpiX8uXeZH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BB7174-0767-40D5-939A-2182C66F6983}">
  <a:tblStyle styleId="{58BB7174-0767-40D5-939A-2182C66F698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Sniglet-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regular.fntdata"/><Relationship Id="rId47" Type="http://schemas.openxmlformats.org/officeDocument/2006/relationships/font" Target="fonts/Anton-regular.fntdata"/><Relationship Id="rId49"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oppins-boldItalic.fntdata"/><Relationship Id="rId50" Type="http://schemas.openxmlformats.org/officeDocument/2006/relationships/font" Target="fonts/Poppins-italic.fntdata"/><Relationship Id="rId53" Type="http://schemas.openxmlformats.org/officeDocument/2006/relationships/font" Target="fonts/Montserrat-boldItalic.fntdata"/><Relationship Id="rId52" Type="http://schemas.openxmlformats.org/officeDocument/2006/relationships/font" Target="fonts/Montserrat-bold.fntdata"/><Relationship Id="rId11" Type="http://schemas.openxmlformats.org/officeDocument/2006/relationships/slide" Target="slides/slide5.xml"/><Relationship Id="rId55" Type="http://schemas.openxmlformats.org/officeDocument/2006/relationships/font" Target="fonts/OpenSans-regular.fntdata"/><Relationship Id="rId10" Type="http://schemas.openxmlformats.org/officeDocument/2006/relationships/slide" Target="slides/slide4.xml"/><Relationship Id="rId54" Type="http://schemas.openxmlformats.org/officeDocument/2006/relationships/font" Target="fonts/ShadowsIntoLight-regular.fntdata"/><Relationship Id="rId13" Type="http://schemas.openxmlformats.org/officeDocument/2006/relationships/slide" Target="slides/slide7.xml"/><Relationship Id="rId57" Type="http://schemas.openxmlformats.org/officeDocument/2006/relationships/font" Target="fonts/OpenSans-italic.fntdata"/><Relationship Id="rId12" Type="http://schemas.openxmlformats.org/officeDocument/2006/relationships/slide" Target="slides/slide6.xml"/><Relationship Id="rId56" Type="http://schemas.openxmlformats.org/officeDocument/2006/relationships/font" Target="fonts/OpenSans-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OpenSans-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9"/>
          <p:cNvSpPr/>
          <p:nvPr>
            <p:ph idx="2" type="pic"/>
          </p:nvPr>
        </p:nvSpPr>
        <p:spPr>
          <a:xfrm>
            <a:off x="1792288" y="612775"/>
            <a:ext cx="5486400" cy="4114800"/>
          </a:xfrm>
          <a:prstGeom prst="rect">
            <a:avLst/>
          </a:prstGeom>
          <a:noFill/>
          <a:ln>
            <a:noFill/>
          </a:ln>
        </p:spPr>
      </p:sp>
      <p:sp>
        <p:nvSpPr>
          <p:cNvPr id="64" name="Google Shape;64;p4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0.jpg"/><Relationship Id="rId4" Type="http://schemas.openxmlformats.org/officeDocument/2006/relationships/image" Target="../media/image11.png"/><Relationship Id="rId11" Type="http://schemas.openxmlformats.org/officeDocument/2006/relationships/image" Target="../media/image2.png"/><Relationship Id="rId10"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0.png"/><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youtu.be/RgjxXMtiQO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0.jpg"/><Relationship Id="rId4" Type="http://schemas.openxmlformats.org/officeDocument/2006/relationships/image" Target="../media/image14.png"/><Relationship Id="rId11" Type="http://schemas.openxmlformats.org/officeDocument/2006/relationships/image" Target="../media/image7.png"/><Relationship Id="rId10" Type="http://schemas.openxmlformats.org/officeDocument/2006/relationships/image" Target="../media/image9.png"/><Relationship Id="rId12" Type="http://schemas.openxmlformats.org/officeDocument/2006/relationships/image" Target="../media/image15.png"/><Relationship Id="rId9"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16.png"/><Relationship Id="rId7"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calculator.net/ip-subnet-calculator.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16.png"/><Relationship Id="rId5" Type="http://schemas.openxmlformats.org/officeDocument/2006/relationships/image" Target="../media/image23.png"/><Relationship Id="rId6" Type="http://schemas.openxmlformats.org/officeDocument/2006/relationships/image" Target="../media/image19.png"/><Relationship Id="rId7" Type="http://schemas.openxmlformats.org/officeDocument/2006/relationships/image" Target="../media/image35.png"/><Relationship Id="rId8"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0.jpg"/><Relationship Id="rId4" Type="http://schemas.openxmlformats.org/officeDocument/2006/relationships/image" Target="../media/image32.png"/><Relationship Id="rId9" Type="http://schemas.openxmlformats.org/officeDocument/2006/relationships/image" Target="../media/image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0.jpg"/><Relationship Id="rId4" Type="http://schemas.openxmlformats.org/officeDocument/2006/relationships/image" Target="../media/image11.png"/><Relationship Id="rId11" Type="http://schemas.openxmlformats.org/officeDocument/2006/relationships/image" Target="../media/image9.png"/><Relationship Id="rId10" Type="http://schemas.openxmlformats.org/officeDocument/2006/relationships/image" Target="../media/image45.png"/><Relationship Id="rId9"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10.png"/><Relationship Id="rId7" Type="http://schemas.openxmlformats.org/officeDocument/2006/relationships/image" Target="../media/image15.png"/><Relationship Id="rId8"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2.jpg"/><Relationship Id="rId4" Type="http://schemas.openxmlformats.org/officeDocument/2006/relationships/image" Target="../media/image18.png"/><Relationship Id="rId10" Type="http://schemas.openxmlformats.org/officeDocument/2006/relationships/image" Target="../media/image9.png"/><Relationship Id="rId9" Type="http://schemas.openxmlformats.org/officeDocument/2006/relationships/image" Target="../media/image45.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6.png"/><Relationship Id="rId8"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2.jpg"/><Relationship Id="rId4" Type="http://schemas.openxmlformats.org/officeDocument/2006/relationships/image" Target="../media/image48.png"/><Relationship Id="rId11" Type="http://schemas.openxmlformats.org/officeDocument/2006/relationships/image" Target="../media/image45.png"/><Relationship Id="rId10" Type="http://schemas.openxmlformats.org/officeDocument/2006/relationships/image" Target="../media/image9.png"/><Relationship Id="rId12" Type="http://schemas.openxmlformats.org/officeDocument/2006/relationships/image" Target="../media/image49.png"/><Relationship Id="rId9" Type="http://schemas.openxmlformats.org/officeDocument/2006/relationships/image" Target="../media/image46.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85" name="Google Shape;85;p1"/>
          <p:cNvSpPr/>
          <p:nvPr/>
        </p:nvSpPr>
        <p:spPr>
          <a:xfrm flipH="1" rot="1893254">
            <a:off x="14961868" y="2144620"/>
            <a:ext cx="1946964" cy="3254802"/>
          </a:xfrm>
          <a:custGeom>
            <a:rect b="b" l="l" r="r" t="t"/>
            <a:pathLst>
              <a:path extrusionOk="0" h="3254802" w="1946964">
                <a:moveTo>
                  <a:pt x="1946964" y="0"/>
                </a:moveTo>
                <a:lnTo>
                  <a:pt x="0" y="0"/>
                </a:lnTo>
                <a:lnTo>
                  <a:pt x="0" y="3254803"/>
                </a:lnTo>
                <a:lnTo>
                  <a:pt x="1946964" y="3254803"/>
                </a:lnTo>
                <a:lnTo>
                  <a:pt x="1946964" y="0"/>
                </a:lnTo>
                <a:close/>
              </a:path>
            </a:pathLst>
          </a:custGeom>
          <a:blipFill rotWithShape="1">
            <a:blip r:embed="rId4">
              <a:alphaModFix/>
            </a:blip>
            <a:stretch>
              <a:fillRect b="0" l="0" r="0" t="0"/>
            </a:stretch>
          </a:blipFill>
          <a:ln>
            <a:noFill/>
          </a:ln>
        </p:spPr>
      </p:sp>
      <p:sp>
        <p:nvSpPr>
          <p:cNvPr id="86" name="Google Shape;86;p1"/>
          <p:cNvSpPr/>
          <p:nvPr/>
        </p:nvSpPr>
        <p:spPr>
          <a:xfrm rot="-1753902">
            <a:off x="-794369" y="5210525"/>
            <a:ext cx="4321366" cy="1532121"/>
          </a:xfrm>
          <a:custGeom>
            <a:rect b="b" l="l" r="r" t="t"/>
            <a:pathLst>
              <a:path extrusionOk="0" h="1532121" w="4321366">
                <a:moveTo>
                  <a:pt x="0" y="0"/>
                </a:moveTo>
                <a:lnTo>
                  <a:pt x="4321367" y="0"/>
                </a:lnTo>
                <a:lnTo>
                  <a:pt x="4321367" y="1532121"/>
                </a:lnTo>
                <a:lnTo>
                  <a:pt x="0" y="1532121"/>
                </a:lnTo>
                <a:lnTo>
                  <a:pt x="0" y="0"/>
                </a:lnTo>
                <a:close/>
              </a:path>
            </a:pathLst>
          </a:custGeom>
          <a:blipFill rotWithShape="1">
            <a:blip r:embed="rId5">
              <a:alphaModFix/>
            </a:blip>
            <a:stretch>
              <a:fillRect b="0" l="0" r="0" t="0"/>
            </a:stretch>
          </a:blipFill>
          <a:ln>
            <a:noFill/>
          </a:ln>
        </p:spPr>
      </p:sp>
      <p:sp>
        <p:nvSpPr>
          <p:cNvPr id="87" name="Google Shape;87;p1"/>
          <p:cNvSpPr/>
          <p:nvPr/>
        </p:nvSpPr>
        <p:spPr>
          <a:xfrm rot="-2210017">
            <a:off x="6252997" y="8975256"/>
            <a:ext cx="5782005" cy="1576910"/>
          </a:xfrm>
          <a:custGeom>
            <a:rect b="b" l="l" r="r" t="t"/>
            <a:pathLst>
              <a:path extrusionOk="0" h="1576910" w="5782005">
                <a:moveTo>
                  <a:pt x="0" y="0"/>
                </a:moveTo>
                <a:lnTo>
                  <a:pt x="5782006" y="0"/>
                </a:lnTo>
                <a:lnTo>
                  <a:pt x="5782006" y="1576911"/>
                </a:lnTo>
                <a:lnTo>
                  <a:pt x="0" y="1576911"/>
                </a:lnTo>
                <a:lnTo>
                  <a:pt x="0" y="0"/>
                </a:lnTo>
                <a:close/>
              </a:path>
            </a:pathLst>
          </a:custGeom>
          <a:blipFill rotWithShape="1">
            <a:blip r:embed="rId6">
              <a:alphaModFix/>
            </a:blip>
            <a:stretch>
              <a:fillRect b="0" l="0" r="0" t="0"/>
            </a:stretch>
          </a:blipFill>
          <a:ln>
            <a:noFill/>
          </a:ln>
        </p:spPr>
      </p:sp>
      <p:sp>
        <p:nvSpPr>
          <p:cNvPr id="88" name="Google Shape;88;p1"/>
          <p:cNvSpPr/>
          <p:nvPr/>
        </p:nvSpPr>
        <p:spPr>
          <a:xfrm flipH="1" rot="-5400000">
            <a:off x="3678097" y="-1718818"/>
            <a:ext cx="10142099" cy="13869537"/>
          </a:xfrm>
          <a:custGeom>
            <a:rect b="b" l="l" r="r" t="t"/>
            <a:pathLst>
              <a:path extrusionOk="0" h="13869537" w="10142099">
                <a:moveTo>
                  <a:pt x="0" y="13869537"/>
                </a:moveTo>
                <a:lnTo>
                  <a:pt x="10142099" y="13869537"/>
                </a:lnTo>
                <a:lnTo>
                  <a:pt x="10142099" y="0"/>
                </a:lnTo>
                <a:lnTo>
                  <a:pt x="0" y="0"/>
                </a:lnTo>
                <a:lnTo>
                  <a:pt x="0" y="13869537"/>
                </a:lnTo>
                <a:close/>
              </a:path>
            </a:pathLst>
          </a:custGeom>
          <a:blipFill rotWithShape="1">
            <a:blip r:embed="rId7">
              <a:alphaModFix/>
            </a:blip>
            <a:stretch>
              <a:fillRect b="0" l="0" r="0" t="0"/>
            </a:stretch>
          </a:blipFill>
          <a:ln>
            <a:noFill/>
          </a:ln>
        </p:spPr>
      </p:sp>
      <p:sp>
        <p:nvSpPr>
          <p:cNvPr id="89" name="Google Shape;89;p1"/>
          <p:cNvSpPr/>
          <p:nvPr/>
        </p:nvSpPr>
        <p:spPr>
          <a:xfrm rot="-5839654">
            <a:off x="48536" y="1381761"/>
            <a:ext cx="1342139" cy="471300"/>
          </a:xfrm>
          <a:custGeom>
            <a:rect b="b" l="l" r="r" t="t"/>
            <a:pathLst>
              <a:path extrusionOk="0" h="471300" w="1342139">
                <a:moveTo>
                  <a:pt x="0" y="0"/>
                </a:moveTo>
                <a:lnTo>
                  <a:pt x="1342139" y="0"/>
                </a:lnTo>
                <a:lnTo>
                  <a:pt x="1342139" y="471300"/>
                </a:lnTo>
                <a:lnTo>
                  <a:pt x="0" y="471300"/>
                </a:lnTo>
                <a:lnTo>
                  <a:pt x="0" y="0"/>
                </a:lnTo>
                <a:close/>
              </a:path>
            </a:pathLst>
          </a:custGeom>
          <a:blipFill rotWithShape="1">
            <a:blip r:embed="rId8">
              <a:alphaModFix/>
            </a:blip>
            <a:stretch>
              <a:fillRect b="-33518" l="-13707" r="-15228" t="0"/>
            </a:stretch>
          </a:blipFill>
          <a:ln>
            <a:noFill/>
          </a:ln>
        </p:spPr>
      </p:sp>
      <p:sp>
        <p:nvSpPr>
          <p:cNvPr id="90" name="Google Shape;90;p1"/>
          <p:cNvSpPr/>
          <p:nvPr/>
        </p:nvSpPr>
        <p:spPr>
          <a:xfrm rot="-688683">
            <a:off x="16544054" y="5092654"/>
            <a:ext cx="1100927" cy="1187274"/>
          </a:xfrm>
          <a:custGeom>
            <a:rect b="b" l="l" r="r" t="t"/>
            <a:pathLst>
              <a:path extrusionOk="0" h="1187274" w="1100927">
                <a:moveTo>
                  <a:pt x="0" y="0"/>
                </a:moveTo>
                <a:lnTo>
                  <a:pt x="1100926" y="0"/>
                </a:lnTo>
                <a:lnTo>
                  <a:pt x="1100926" y="1187274"/>
                </a:lnTo>
                <a:lnTo>
                  <a:pt x="0" y="1187274"/>
                </a:lnTo>
                <a:lnTo>
                  <a:pt x="0" y="0"/>
                </a:lnTo>
                <a:close/>
              </a:path>
            </a:pathLst>
          </a:custGeom>
          <a:blipFill rotWithShape="1">
            <a:blip r:embed="rId9">
              <a:alphaModFix/>
            </a:blip>
            <a:stretch>
              <a:fillRect b="0" l="0" r="0" t="0"/>
            </a:stretch>
          </a:blipFill>
          <a:ln>
            <a:noFill/>
          </a:ln>
        </p:spPr>
      </p:sp>
      <p:sp>
        <p:nvSpPr>
          <p:cNvPr id="91" name="Google Shape;91;p1"/>
          <p:cNvSpPr/>
          <p:nvPr/>
        </p:nvSpPr>
        <p:spPr>
          <a:xfrm rot="-975243">
            <a:off x="17097055" y="1277758"/>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9">
              <a:alphaModFix/>
            </a:blip>
            <a:stretch>
              <a:fillRect b="0" l="0" r="0" t="0"/>
            </a:stretch>
          </a:blipFill>
          <a:ln>
            <a:noFill/>
          </a:ln>
        </p:spPr>
      </p:sp>
      <p:sp>
        <p:nvSpPr>
          <p:cNvPr id="92" name="Google Shape;92;p1"/>
          <p:cNvSpPr/>
          <p:nvPr/>
        </p:nvSpPr>
        <p:spPr>
          <a:xfrm rot="-975243">
            <a:off x="433229" y="3913274"/>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9">
              <a:alphaModFix/>
            </a:blip>
            <a:stretch>
              <a:fillRect b="0" l="0" r="0" t="0"/>
            </a:stretch>
          </a:blipFill>
          <a:ln>
            <a:noFill/>
          </a:ln>
        </p:spPr>
      </p:sp>
      <p:sp>
        <p:nvSpPr>
          <p:cNvPr id="93" name="Google Shape;93;p1"/>
          <p:cNvSpPr/>
          <p:nvPr/>
        </p:nvSpPr>
        <p:spPr>
          <a:xfrm rot="756877">
            <a:off x="17042543" y="679927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9">
              <a:alphaModFix/>
            </a:blip>
            <a:stretch>
              <a:fillRect b="0" l="0" r="0" t="0"/>
            </a:stretch>
          </a:blipFill>
          <a:ln>
            <a:noFill/>
          </a:ln>
        </p:spPr>
      </p:sp>
      <p:sp>
        <p:nvSpPr>
          <p:cNvPr id="94" name="Google Shape;94;p1"/>
          <p:cNvSpPr txBox="1"/>
          <p:nvPr/>
        </p:nvSpPr>
        <p:spPr>
          <a:xfrm>
            <a:off x="5060731" y="3583591"/>
            <a:ext cx="8166600" cy="222240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0" i="0" lang="en-US" sz="6016" u="none" cap="none" strike="noStrike">
                <a:solidFill>
                  <a:srgbClr val="F15D54"/>
                </a:solidFill>
                <a:latin typeface="Arial"/>
                <a:ea typeface="Arial"/>
                <a:cs typeface="Arial"/>
                <a:sym typeface="Arial"/>
              </a:rPr>
              <a:t>Dispositivos y Protocolos en la Capa 3</a:t>
            </a:r>
            <a:endParaRPr sz="800"/>
          </a:p>
        </p:txBody>
      </p:sp>
      <p:sp>
        <p:nvSpPr>
          <p:cNvPr id="95" name="Google Shape;95;p1"/>
          <p:cNvSpPr/>
          <p:nvPr/>
        </p:nvSpPr>
        <p:spPr>
          <a:xfrm>
            <a:off x="4479678" y="4084856"/>
            <a:ext cx="581054" cy="1058644"/>
          </a:xfrm>
          <a:custGeom>
            <a:rect b="b" l="l" r="r" t="t"/>
            <a:pathLst>
              <a:path extrusionOk="0" h="1058644" w="581054">
                <a:moveTo>
                  <a:pt x="0" y="0"/>
                </a:moveTo>
                <a:lnTo>
                  <a:pt x="581053" y="0"/>
                </a:lnTo>
                <a:lnTo>
                  <a:pt x="581053" y="1058644"/>
                </a:lnTo>
                <a:lnTo>
                  <a:pt x="0" y="1058644"/>
                </a:lnTo>
                <a:lnTo>
                  <a:pt x="0" y="0"/>
                </a:lnTo>
                <a:close/>
              </a:path>
            </a:pathLst>
          </a:custGeom>
          <a:blipFill rotWithShape="1">
            <a:blip r:embed="rId10">
              <a:alphaModFix/>
            </a:blip>
            <a:stretch>
              <a:fillRect b="-96023" l="0" r="-370743" t="-54364"/>
            </a:stretch>
          </a:blipFill>
          <a:ln>
            <a:noFill/>
          </a:ln>
        </p:spPr>
      </p:sp>
      <p:sp>
        <p:nvSpPr>
          <p:cNvPr id="96" name="Google Shape;96;p1"/>
          <p:cNvSpPr/>
          <p:nvPr/>
        </p:nvSpPr>
        <p:spPr>
          <a:xfrm rot="10800000">
            <a:off x="13450195" y="4137836"/>
            <a:ext cx="581054" cy="1058644"/>
          </a:xfrm>
          <a:custGeom>
            <a:rect b="b" l="l" r="r" t="t"/>
            <a:pathLst>
              <a:path extrusionOk="0" h="1058644" w="581054">
                <a:moveTo>
                  <a:pt x="581053" y="1058645"/>
                </a:moveTo>
                <a:lnTo>
                  <a:pt x="0" y="1058645"/>
                </a:lnTo>
                <a:lnTo>
                  <a:pt x="0" y="0"/>
                </a:lnTo>
                <a:lnTo>
                  <a:pt x="581053" y="0"/>
                </a:lnTo>
                <a:lnTo>
                  <a:pt x="581053" y="1058645"/>
                </a:lnTo>
                <a:close/>
              </a:path>
            </a:pathLst>
          </a:custGeom>
          <a:blipFill rotWithShape="1">
            <a:blip r:embed="rId10">
              <a:alphaModFix/>
            </a:blip>
            <a:stretch>
              <a:fillRect b="-96023" l="0" r="-370743" t="-54364"/>
            </a:stretch>
          </a:blipFill>
          <a:ln>
            <a:noFill/>
          </a:ln>
        </p:spPr>
      </p:sp>
      <p:sp>
        <p:nvSpPr>
          <p:cNvPr id="97" name="Google Shape;97;p1"/>
          <p:cNvSpPr/>
          <p:nvPr/>
        </p:nvSpPr>
        <p:spPr>
          <a:xfrm>
            <a:off x="9144000" y="569342"/>
            <a:ext cx="5820879" cy="1542692"/>
          </a:xfrm>
          <a:custGeom>
            <a:rect b="b" l="l" r="r" t="t"/>
            <a:pathLst>
              <a:path extrusionOk="0" h="1542692" w="5820879">
                <a:moveTo>
                  <a:pt x="0" y="0"/>
                </a:moveTo>
                <a:lnTo>
                  <a:pt x="5820879" y="0"/>
                </a:lnTo>
                <a:lnTo>
                  <a:pt x="5820879" y="1542692"/>
                </a:lnTo>
                <a:lnTo>
                  <a:pt x="0" y="1542692"/>
                </a:lnTo>
                <a:lnTo>
                  <a:pt x="0" y="0"/>
                </a:lnTo>
                <a:close/>
              </a:path>
            </a:pathLst>
          </a:custGeom>
          <a:blipFill rotWithShape="1">
            <a:blip r:embed="rId11">
              <a:alphaModFix/>
            </a:blip>
            <a:stretch>
              <a:fillRect b="0" l="0" r="0" t="0"/>
            </a:stretch>
          </a:blipFill>
          <a:ln>
            <a:noFill/>
          </a:ln>
        </p:spPr>
      </p:sp>
      <p:sp>
        <p:nvSpPr>
          <p:cNvPr id="98" name="Google Shape;98;p1"/>
          <p:cNvSpPr txBox="1"/>
          <p:nvPr/>
        </p:nvSpPr>
        <p:spPr>
          <a:xfrm>
            <a:off x="5060731" y="2135841"/>
            <a:ext cx="8166538" cy="1571575"/>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9194" u="none" cap="none" strike="noStrike">
                <a:solidFill>
                  <a:srgbClr val="009B96"/>
                </a:solidFill>
                <a:latin typeface="Shadows Into Light"/>
                <a:ea typeface="Shadows Into Light"/>
                <a:cs typeface="Shadows Into Light"/>
                <a:sym typeface="Shadows Into Light"/>
              </a:rPr>
              <a:t>UNIDAD 3</a:t>
            </a:r>
            <a:endParaRPr/>
          </a:p>
        </p:txBody>
      </p:sp>
      <p:sp>
        <p:nvSpPr>
          <p:cNvPr id="99" name="Google Shape;99;p1"/>
          <p:cNvSpPr txBox="1"/>
          <p:nvPr/>
        </p:nvSpPr>
        <p:spPr>
          <a:xfrm>
            <a:off x="5623828" y="5909910"/>
            <a:ext cx="7040344" cy="11835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405" u="none" cap="none" strike="noStrike">
                <a:solidFill>
                  <a:srgbClr val="000000"/>
                </a:solidFill>
                <a:latin typeface="Sniglet"/>
                <a:ea typeface="Sniglet"/>
                <a:cs typeface="Sniglet"/>
                <a:sym typeface="Sniglet"/>
              </a:rPr>
              <a:t>Enrutamiento, Alta Disponibilidad y Seguridad</a:t>
            </a:r>
            <a:endParaRPr/>
          </a:p>
        </p:txBody>
      </p:sp>
      <p:sp>
        <p:nvSpPr>
          <p:cNvPr id="100" name="Google Shape;100;p1"/>
          <p:cNvSpPr txBox="1"/>
          <p:nvPr/>
        </p:nvSpPr>
        <p:spPr>
          <a:xfrm>
            <a:off x="3055696" y="7277568"/>
            <a:ext cx="9608400" cy="23040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609" u="none" cap="none" strike="noStrike">
                <a:solidFill>
                  <a:srgbClr val="272626"/>
                </a:solidFill>
                <a:latin typeface="Sniglet"/>
                <a:ea typeface="Sniglet"/>
                <a:cs typeface="Sniglet"/>
                <a:sym typeface="Sniglet"/>
              </a:rPr>
              <a:t>Redes de Computadoras 1</a:t>
            </a:r>
            <a:endParaRPr/>
          </a:p>
          <a:p>
            <a:pPr indent="0" lvl="0" marL="0" marR="0" rtl="0" algn="l">
              <a:lnSpc>
                <a:spcPct val="140015"/>
              </a:lnSpc>
              <a:spcBef>
                <a:spcPts val="0"/>
              </a:spcBef>
              <a:spcAft>
                <a:spcPts val="0"/>
              </a:spcAft>
              <a:buNone/>
            </a:pPr>
            <a:r>
              <a:rPr b="0" i="0" lang="en-US" sz="2609" u="none" cap="none" strike="noStrike">
                <a:solidFill>
                  <a:srgbClr val="272626"/>
                </a:solidFill>
                <a:latin typeface="Sniglet"/>
                <a:ea typeface="Sniglet"/>
                <a:cs typeface="Sniglet"/>
                <a:sym typeface="Sniglet"/>
              </a:rPr>
              <a:t>Escuela de Ingeniería de Ciencias y Sistemas</a:t>
            </a:r>
            <a:endParaRPr/>
          </a:p>
          <a:p>
            <a:pPr indent="0" lvl="0" marL="0" marR="0" rtl="0" algn="l">
              <a:lnSpc>
                <a:spcPct val="140015"/>
              </a:lnSpc>
              <a:spcBef>
                <a:spcPts val="0"/>
              </a:spcBef>
              <a:spcAft>
                <a:spcPts val="0"/>
              </a:spcAft>
              <a:buNone/>
            </a:pPr>
            <a:r>
              <a:rPr b="0" i="0" lang="en-US" sz="2609" u="none" cap="none" strike="noStrike">
                <a:solidFill>
                  <a:srgbClr val="272626"/>
                </a:solidFill>
                <a:latin typeface="Sniglet"/>
                <a:ea typeface="Sniglet"/>
                <a:cs typeface="Sniglet"/>
                <a:sym typeface="Sniglet"/>
              </a:rPr>
              <a:t>Facultad de Ingeniería</a:t>
            </a:r>
            <a:endParaRPr/>
          </a:p>
          <a:p>
            <a:pPr indent="0" lvl="0" marL="0" marR="0" rtl="0" algn="l">
              <a:lnSpc>
                <a:spcPct val="140015"/>
              </a:lnSpc>
              <a:spcBef>
                <a:spcPts val="0"/>
              </a:spcBef>
              <a:spcAft>
                <a:spcPts val="0"/>
              </a:spcAft>
              <a:buNone/>
            </a:pPr>
            <a:r>
              <a:rPr b="0" i="0" lang="en-US" sz="2609" u="none" cap="none" strike="noStrike">
                <a:solidFill>
                  <a:srgbClr val="272626"/>
                </a:solidFill>
                <a:latin typeface="Sniglet"/>
                <a:ea typeface="Sniglet"/>
                <a:cs typeface="Sniglet"/>
                <a:sym typeface="Sniglet"/>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nvSpPr>
        <p:spPr>
          <a:xfrm>
            <a:off x="3285097" y="1873275"/>
            <a:ext cx="8055000" cy="548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0" i="0" lang="en-US" sz="3562" u="none" cap="none" strike="noStrike">
                <a:solidFill>
                  <a:srgbClr val="000000"/>
                </a:solidFill>
                <a:latin typeface="Poppins"/>
                <a:ea typeface="Poppins"/>
                <a:cs typeface="Poppins"/>
                <a:sym typeface="Poppins"/>
              </a:rPr>
              <a:t>Foro Semanal</a:t>
            </a:r>
            <a:endParaRPr/>
          </a:p>
        </p:txBody>
      </p:sp>
      <p:sp>
        <p:nvSpPr>
          <p:cNvPr id="106" name="Google Shape;106;p2"/>
          <p:cNvSpPr/>
          <p:nvPr/>
        </p:nvSpPr>
        <p:spPr>
          <a:xfrm>
            <a:off x="1929550" y="2058800"/>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txBox="1"/>
          <p:nvPr/>
        </p:nvSpPr>
        <p:spPr>
          <a:xfrm>
            <a:off x="2042944" y="2048369"/>
            <a:ext cx="545100" cy="554100"/>
          </a:xfrm>
          <a:prstGeom prst="rect">
            <a:avLst/>
          </a:prstGeom>
          <a:noFill/>
          <a:ln>
            <a:noFill/>
          </a:ln>
        </p:spPr>
        <p:txBody>
          <a:bodyPr anchorCtr="0" anchor="t" bIns="0" lIns="0" spcFirstLastPara="1" rIns="0" wrap="square" tIns="0">
            <a:spAutoFit/>
          </a:bodyPr>
          <a:lstStyle/>
          <a:p>
            <a:pPr indent="0" lvl="0"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1</a:t>
            </a:r>
            <a:endParaRPr/>
          </a:p>
        </p:txBody>
      </p:sp>
      <p:sp>
        <p:nvSpPr>
          <p:cNvPr id="108" name="Google Shape;108;p2"/>
          <p:cNvSpPr txBox="1"/>
          <p:nvPr/>
        </p:nvSpPr>
        <p:spPr>
          <a:xfrm>
            <a:off x="3285097" y="4442316"/>
            <a:ext cx="80550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b="0" i="0" lang="en-US" sz="3562" u="none" cap="none" strike="noStrike">
                <a:solidFill>
                  <a:srgbClr val="000000"/>
                </a:solidFill>
                <a:latin typeface="Poppins"/>
                <a:ea typeface="Poppins"/>
                <a:cs typeface="Poppins"/>
                <a:sym typeface="Poppins"/>
              </a:rPr>
              <a:t>Entrega Proyecto No. 1 </a:t>
            </a:r>
            <a:endParaRPr/>
          </a:p>
        </p:txBody>
      </p:sp>
      <p:sp>
        <p:nvSpPr>
          <p:cNvPr id="109" name="Google Shape;109;p2"/>
          <p:cNvSpPr/>
          <p:nvPr/>
        </p:nvSpPr>
        <p:spPr>
          <a:xfrm>
            <a:off x="1929550" y="3341492"/>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txBox="1"/>
          <p:nvPr/>
        </p:nvSpPr>
        <p:spPr>
          <a:xfrm>
            <a:off x="2042944" y="3331061"/>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2</a:t>
            </a:r>
            <a:endParaRPr/>
          </a:p>
        </p:txBody>
      </p:sp>
      <p:sp>
        <p:nvSpPr>
          <p:cNvPr id="111" name="Google Shape;111;p2"/>
          <p:cNvSpPr txBox="1"/>
          <p:nvPr/>
        </p:nvSpPr>
        <p:spPr>
          <a:xfrm>
            <a:off x="3285097" y="3155967"/>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b="0" i="0" lang="en-US" sz="3562" u="none" cap="none" strike="noStrike">
                <a:solidFill>
                  <a:srgbClr val="000000"/>
                </a:solidFill>
                <a:latin typeface="Poppins"/>
                <a:ea typeface="Poppins"/>
                <a:cs typeface="Poppins"/>
                <a:sym typeface="Poppins"/>
              </a:rPr>
              <a:t>Dudas Proyecto No. 1</a:t>
            </a:r>
            <a:endParaRPr/>
          </a:p>
        </p:txBody>
      </p:sp>
      <p:sp>
        <p:nvSpPr>
          <p:cNvPr id="112" name="Google Shape;112;p2"/>
          <p:cNvSpPr/>
          <p:nvPr/>
        </p:nvSpPr>
        <p:spPr>
          <a:xfrm>
            <a:off x="1929550" y="5914190"/>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txBox="1"/>
          <p:nvPr/>
        </p:nvSpPr>
        <p:spPr>
          <a:xfrm>
            <a:off x="2042944" y="5903758"/>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4</a:t>
            </a:r>
            <a:endParaRPr/>
          </a:p>
        </p:txBody>
      </p:sp>
      <p:sp>
        <p:nvSpPr>
          <p:cNvPr id="114" name="Google Shape;114;p2"/>
          <p:cNvSpPr/>
          <p:nvPr/>
        </p:nvSpPr>
        <p:spPr>
          <a:xfrm>
            <a:off x="1929550" y="4627841"/>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2042944" y="4617410"/>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3</a:t>
            </a:r>
            <a:endParaRPr/>
          </a:p>
        </p:txBody>
      </p:sp>
      <p:sp>
        <p:nvSpPr>
          <p:cNvPr id="116" name="Google Shape;116;p2"/>
          <p:cNvSpPr/>
          <p:nvPr/>
        </p:nvSpPr>
        <p:spPr>
          <a:xfrm>
            <a:off x="1929550" y="7200538"/>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2042944" y="7190107"/>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5</a:t>
            </a:r>
            <a:endParaRPr/>
          </a:p>
        </p:txBody>
      </p:sp>
      <p:sp>
        <p:nvSpPr>
          <p:cNvPr id="118" name="Google Shape;118;p2"/>
          <p:cNvSpPr txBox="1"/>
          <p:nvPr/>
        </p:nvSpPr>
        <p:spPr>
          <a:xfrm>
            <a:off x="1822702" y="673125"/>
            <a:ext cx="4257587" cy="1200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7900" u="none" cap="none" strike="noStrike">
                <a:solidFill>
                  <a:srgbClr val="415AC6"/>
                </a:solidFill>
                <a:latin typeface="Arial"/>
                <a:ea typeface="Arial"/>
                <a:cs typeface="Arial"/>
                <a:sym typeface="Arial"/>
              </a:rPr>
              <a:t>Agenda</a:t>
            </a:r>
            <a:endParaRPr/>
          </a:p>
        </p:txBody>
      </p:sp>
      <p:sp>
        <p:nvSpPr>
          <p:cNvPr id="119" name="Google Shape;119;p2"/>
          <p:cNvSpPr txBox="1"/>
          <p:nvPr/>
        </p:nvSpPr>
        <p:spPr>
          <a:xfrm>
            <a:off x="3285097" y="5721351"/>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b="0" i="0" lang="en-US" sz="3562" u="none" cap="none" strike="noStrike">
                <a:solidFill>
                  <a:srgbClr val="000000"/>
                </a:solidFill>
                <a:latin typeface="Poppins"/>
                <a:ea typeface="Poppins"/>
                <a:cs typeface="Poppins"/>
                <a:sym typeface="Poppins"/>
              </a:rPr>
              <a:t>Tarea No. 4</a:t>
            </a:r>
            <a:endParaRPr/>
          </a:p>
        </p:txBody>
      </p:sp>
      <p:sp>
        <p:nvSpPr>
          <p:cNvPr id="120" name="Google Shape;120;p2"/>
          <p:cNvSpPr txBox="1"/>
          <p:nvPr/>
        </p:nvSpPr>
        <p:spPr>
          <a:xfrm>
            <a:off x="3285097" y="7004043"/>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lang="en-US" sz="3562">
                <a:latin typeface="Poppins"/>
                <a:ea typeface="Poppins"/>
                <a:cs typeface="Poppins"/>
                <a:sym typeface="Poppins"/>
              </a:rPr>
              <a:t>Direcciones IP</a:t>
            </a:r>
            <a:endParaRPr/>
          </a:p>
        </p:txBody>
      </p:sp>
      <p:sp>
        <p:nvSpPr>
          <p:cNvPr id="121" name="Google Shape;121;p2"/>
          <p:cNvSpPr txBox="1"/>
          <p:nvPr/>
        </p:nvSpPr>
        <p:spPr>
          <a:xfrm>
            <a:off x="766343" y="8658225"/>
            <a:ext cx="5313946" cy="1200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7900" u="none" cap="none" strike="noStrike">
                <a:solidFill>
                  <a:srgbClr val="415AC6"/>
                </a:solidFill>
                <a:latin typeface="Arial"/>
                <a:ea typeface="Arial"/>
                <a:cs typeface="Arial"/>
                <a:sym typeface="Arial"/>
              </a:rPr>
              <a:t>Recursos</a:t>
            </a:r>
            <a:endParaRPr/>
          </a:p>
        </p:txBody>
      </p:sp>
      <p:sp>
        <p:nvSpPr>
          <p:cNvPr id="122" name="Google Shape;122;p2"/>
          <p:cNvSpPr txBox="1"/>
          <p:nvPr/>
        </p:nvSpPr>
        <p:spPr>
          <a:xfrm>
            <a:off x="6519475" y="8709954"/>
            <a:ext cx="11552100" cy="5175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lang="en-US" sz="3362" u="sng">
                <a:solidFill>
                  <a:schemeClr val="hlink"/>
                </a:solidFill>
                <a:latin typeface="Poppins"/>
                <a:ea typeface="Poppins"/>
                <a:cs typeface="Poppins"/>
                <a:sym typeface="Poppins"/>
                <a:hlinkClick r:id="rId3"/>
              </a:rPr>
              <a:t>https://youtu.be/RgjxXMtiQO8</a:t>
            </a:r>
            <a:endParaRPr/>
          </a:p>
        </p:txBody>
      </p:sp>
      <p:sp>
        <p:nvSpPr>
          <p:cNvPr id="123" name="Google Shape;123;p2"/>
          <p:cNvSpPr txBox="1"/>
          <p:nvPr/>
        </p:nvSpPr>
        <p:spPr>
          <a:xfrm>
            <a:off x="10016672" y="1964213"/>
            <a:ext cx="8055000" cy="548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lang="en-US" sz="3562">
                <a:latin typeface="Poppins"/>
                <a:ea typeface="Poppins"/>
                <a:cs typeface="Poppins"/>
                <a:sym typeface="Poppins"/>
              </a:rPr>
              <a:t>Dirección de Red y de Host</a:t>
            </a:r>
            <a:endParaRPr/>
          </a:p>
        </p:txBody>
      </p:sp>
      <p:sp>
        <p:nvSpPr>
          <p:cNvPr id="124" name="Google Shape;124;p2"/>
          <p:cNvSpPr/>
          <p:nvPr/>
        </p:nvSpPr>
        <p:spPr>
          <a:xfrm>
            <a:off x="8661125" y="2149738"/>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txBox="1"/>
          <p:nvPr/>
        </p:nvSpPr>
        <p:spPr>
          <a:xfrm>
            <a:off x="8774519" y="2139307"/>
            <a:ext cx="545100" cy="554100"/>
          </a:xfrm>
          <a:prstGeom prst="rect">
            <a:avLst/>
          </a:prstGeom>
          <a:noFill/>
          <a:ln>
            <a:noFill/>
          </a:ln>
        </p:spPr>
        <p:txBody>
          <a:bodyPr anchorCtr="0" anchor="t" bIns="0" lIns="0" spcFirstLastPara="1" rIns="0" wrap="square" tIns="0">
            <a:spAutoFit/>
          </a:bodyPr>
          <a:lstStyle/>
          <a:p>
            <a:pPr indent="0" lvl="0"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1</a:t>
            </a:r>
            <a:endParaRPr/>
          </a:p>
        </p:txBody>
      </p:sp>
      <p:sp>
        <p:nvSpPr>
          <p:cNvPr id="126" name="Google Shape;126;p2"/>
          <p:cNvSpPr txBox="1"/>
          <p:nvPr/>
        </p:nvSpPr>
        <p:spPr>
          <a:xfrm>
            <a:off x="10016672" y="4533254"/>
            <a:ext cx="80550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lang="en-US" sz="3562">
                <a:latin typeface="Poppins"/>
                <a:ea typeface="Poppins"/>
                <a:cs typeface="Poppins"/>
                <a:sym typeface="Poppins"/>
              </a:rPr>
              <a:t>Mascara de subred</a:t>
            </a:r>
            <a:endParaRPr/>
          </a:p>
        </p:txBody>
      </p:sp>
      <p:sp>
        <p:nvSpPr>
          <p:cNvPr id="127" name="Google Shape;127;p2"/>
          <p:cNvSpPr/>
          <p:nvPr/>
        </p:nvSpPr>
        <p:spPr>
          <a:xfrm>
            <a:off x="8661125" y="3432430"/>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txBox="1"/>
          <p:nvPr/>
        </p:nvSpPr>
        <p:spPr>
          <a:xfrm>
            <a:off x="8774519" y="3421999"/>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2</a:t>
            </a:r>
            <a:endParaRPr/>
          </a:p>
        </p:txBody>
      </p:sp>
      <p:sp>
        <p:nvSpPr>
          <p:cNvPr id="129" name="Google Shape;129;p2"/>
          <p:cNvSpPr txBox="1"/>
          <p:nvPr/>
        </p:nvSpPr>
        <p:spPr>
          <a:xfrm>
            <a:off x="10016672" y="3246905"/>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lang="en-US" sz="3562">
                <a:latin typeface="Poppins"/>
                <a:ea typeface="Poppins"/>
                <a:cs typeface="Poppins"/>
                <a:sym typeface="Poppins"/>
              </a:rPr>
              <a:t>Notación CIDR</a:t>
            </a:r>
            <a:endParaRPr/>
          </a:p>
        </p:txBody>
      </p:sp>
      <p:sp>
        <p:nvSpPr>
          <p:cNvPr id="130" name="Google Shape;130;p2"/>
          <p:cNvSpPr/>
          <p:nvPr/>
        </p:nvSpPr>
        <p:spPr>
          <a:xfrm>
            <a:off x="8661125" y="6005128"/>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txBox="1"/>
          <p:nvPr/>
        </p:nvSpPr>
        <p:spPr>
          <a:xfrm>
            <a:off x="8774519" y="5994696"/>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4</a:t>
            </a:r>
            <a:endParaRPr/>
          </a:p>
        </p:txBody>
      </p:sp>
      <p:sp>
        <p:nvSpPr>
          <p:cNvPr id="132" name="Google Shape;132;p2"/>
          <p:cNvSpPr/>
          <p:nvPr/>
        </p:nvSpPr>
        <p:spPr>
          <a:xfrm>
            <a:off x="8661125" y="4718779"/>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txBox="1"/>
          <p:nvPr/>
        </p:nvSpPr>
        <p:spPr>
          <a:xfrm>
            <a:off x="8774519" y="4708348"/>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3</a:t>
            </a:r>
            <a:endParaRPr/>
          </a:p>
        </p:txBody>
      </p:sp>
      <p:sp>
        <p:nvSpPr>
          <p:cNvPr id="134" name="Google Shape;134;p2"/>
          <p:cNvSpPr/>
          <p:nvPr/>
        </p:nvSpPr>
        <p:spPr>
          <a:xfrm>
            <a:off x="8661125" y="7291476"/>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txBox="1"/>
          <p:nvPr/>
        </p:nvSpPr>
        <p:spPr>
          <a:xfrm>
            <a:off x="8774519" y="7281045"/>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None/>
            </a:pPr>
            <a:r>
              <a:rPr b="0" i="0" lang="en-US" sz="3600" u="none" cap="none" strike="noStrike">
                <a:solidFill>
                  <a:srgbClr val="FFFFFF"/>
                </a:solidFill>
                <a:latin typeface="Arial"/>
                <a:ea typeface="Arial"/>
                <a:cs typeface="Arial"/>
                <a:sym typeface="Arial"/>
              </a:rPr>
              <a:t>5</a:t>
            </a:r>
            <a:endParaRPr/>
          </a:p>
        </p:txBody>
      </p:sp>
      <p:sp>
        <p:nvSpPr>
          <p:cNvPr id="136" name="Google Shape;136;p2"/>
          <p:cNvSpPr txBox="1"/>
          <p:nvPr/>
        </p:nvSpPr>
        <p:spPr>
          <a:xfrm>
            <a:off x="10016672" y="5812289"/>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lang="en-US" sz="3562">
                <a:latin typeface="Poppins"/>
                <a:ea typeface="Poppins"/>
                <a:cs typeface="Poppins"/>
                <a:sym typeface="Poppins"/>
              </a:rPr>
              <a:t>Subnetting FLSM</a:t>
            </a:r>
            <a:endParaRPr/>
          </a:p>
        </p:txBody>
      </p:sp>
      <p:sp>
        <p:nvSpPr>
          <p:cNvPr id="137" name="Google Shape;137;p2"/>
          <p:cNvSpPr txBox="1"/>
          <p:nvPr/>
        </p:nvSpPr>
        <p:spPr>
          <a:xfrm>
            <a:off x="10016672" y="7094980"/>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None/>
            </a:pPr>
            <a:r>
              <a:rPr lang="en-US" sz="3562">
                <a:latin typeface="Poppins"/>
                <a:ea typeface="Poppins"/>
                <a:cs typeface="Poppins"/>
                <a:sym typeface="Poppins"/>
              </a:rPr>
              <a:t>Subnetting VLSM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143" name="Google Shape;143;p3"/>
          <p:cNvSpPr/>
          <p:nvPr/>
        </p:nvSpPr>
        <p:spPr>
          <a:xfrm rot="1509483">
            <a:off x="-1829473" y="981799"/>
            <a:ext cx="8431586" cy="8981716"/>
          </a:xfrm>
          <a:custGeom>
            <a:rect b="b" l="l" r="r" t="t"/>
            <a:pathLst>
              <a:path extrusionOk="0" h="8981716" w="8431586">
                <a:moveTo>
                  <a:pt x="0" y="0"/>
                </a:moveTo>
                <a:lnTo>
                  <a:pt x="8431586" y="0"/>
                </a:lnTo>
                <a:lnTo>
                  <a:pt x="8431586" y="8981716"/>
                </a:lnTo>
                <a:lnTo>
                  <a:pt x="0" y="8981716"/>
                </a:lnTo>
                <a:lnTo>
                  <a:pt x="0" y="0"/>
                </a:lnTo>
                <a:close/>
              </a:path>
            </a:pathLst>
          </a:custGeom>
          <a:blipFill rotWithShape="1">
            <a:blip r:embed="rId4">
              <a:alphaModFix/>
            </a:blip>
            <a:stretch>
              <a:fillRect b="0" l="0" r="0" t="0"/>
            </a:stretch>
          </a:blipFill>
          <a:ln>
            <a:noFill/>
          </a:ln>
        </p:spPr>
      </p:sp>
      <p:sp>
        <p:nvSpPr>
          <p:cNvPr id="144" name="Google Shape;144;p3"/>
          <p:cNvSpPr/>
          <p:nvPr/>
        </p:nvSpPr>
        <p:spPr>
          <a:xfrm rot="3061116">
            <a:off x="15098617" y="568631"/>
            <a:ext cx="4321366" cy="1532121"/>
          </a:xfrm>
          <a:custGeom>
            <a:rect b="b" l="l" r="r" t="t"/>
            <a:pathLst>
              <a:path extrusionOk="0" h="1532121" w="4321366">
                <a:moveTo>
                  <a:pt x="0" y="0"/>
                </a:moveTo>
                <a:lnTo>
                  <a:pt x="4321366" y="0"/>
                </a:lnTo>
                <a:lnTo>
                  <a:pt x="4321366" y="1532120"/>
                </a:lnTo>
                <a:lnTo>
                  <a:pt x="0" y="1532120"/>
                </a:lnTo>
                <a:lnTo>
                  <a:pt x="0" y="0"/>
                </a:lnTo>
                <a:close/>
              </a:path>
            </a:pathLst>
          </a:custGeom>
          <a:blipFill rotWithShape="1">
            <a:blip r:embed="rId5">
              <a:alphaModFix/>
            </a:blip>
            <a:stretch>
              <a:fillRect b="0" l="0" r="0" t="0"/>
            </a:stretch>
          </a:blipFill>
          <a:ln>
            <a:noFill/>
          </a:ln>
        </p:spPr>
      </p:sp>
      <p:sp>
        <p:nvSpPr>
          <p:cNvPr id="145" name="Google Shape;145;p3"/>
          <p:cNvSpPr/>
          <p:nvPr/>
        </p:nvSpPr>
        <p:spPr>
          <a:xfrm rot="-2492452">
            <a:off x="13636278" y="8469845"/>
            <a:ext cx="5782005" cy="1576910"/>
          </a:xfrm>
          <a:custGeom>
            <a:rect b="b" l="l" r="r" t="t"/>
            <a:pathLst>
              <a:path extrusionOk="0" h="1576910" w="5782005">
                <a:moveTo>
                  <a:pt x="0" y="0"/>
                </a:moveTo>
                <a:lnTo>
                  <a:pt x="5782005" y="0"/>
                </a:lnTo>
                <a:lnTo>
                  <a:pt x="5782005" y="1576910"/>
                </a:lnTo>
                <a:lnTo>
                  <a:pt x="0" y="1576910"/>
                </a:lnTo>
                <a:lnTo>
                  <a:pt x="0" y="0"/>
                </a:lnTo>
                <a:close/>
              </a:path>
            </a:pathLst>
          </a:custGeom>
          <a:blipFill rotWithShape="1">
            <a:blip r:embed="rId6">
              <a:alphaModFix/>
            </a:blip>
            <a:stretch>
              <a:fillRect b="0" l="0" r="0" t="0"/>
            </a:stretch>
          </a:blipFill>
          <a:ln>
            <a:noFill/>
          </a:ln>
        </p:spPr>
      </p:sp>
      <p:sp>
        <p:nvSpPr>
          <p:cNvPr id="146" name="Google Shape;146;p3"/>
          <p:cNvSpPr/>
          <p:nvPr/>
        </p:nvSpPr>
        <p:spPr>
          <a:xfrm>
            <a:off x="8386938" y="1212628"/>
            <a:ext cx="8872362" cy="8045672"/>
          </a:xfrm>
          <a:custGeom>
            <a:rect b="b" l="l" r="r" t="t"/>
            <a:pathLst>
              <a:path extrusionOk="0" h="8045672" w="8872362">
                <a:moveTo>
                  <a:pt x="0" y="0"/>
                </a:moveTo>
                <a:lnTo>
                  <a:pt x="8872362" y="0"/>
                </a:lnTo>
                <a:lnTo>
                  <a:pt x="8872362" y="8045672"/>
                </a:lnTo>
                <a:lnTo>
                  <a:pt x="0" y="8045672"/>
                </a:lnTo>
                <a:lnTo>
                  <a:pt x="0" y="0"/>
                </a:lnTo>
                <a:close/>
              </a:path>
            </a:pathLst>
          </a:custGeom>
          <a:blipFill rotWithShape="1">
            <a:blip r:embed="rId7">
              <a:alphaModFix/>
            </a:blip>
            <a:stretch>
              <a:fillRect b="0" l="0" r="0" t="0"/>
            </a:stretch>
          </a:blipFill>
          <a:ln>
            <a:noFill/>
          </a:ln>
        </p:spPr>
      </p:sp>
      <p:sp>
        <p:nvSpPr>
          <p:cNvPr id="147" name="Google Shape;147;p3"/>
          <p:cNvSpPr/>
          <p:nvPr/>
        </p:nvSpPr>
        <p:spPr>
          <a:xfrm rot="-1220900">
            <a:off x="6801430" y="5745297"/>
            <a:ext cx="2885614" cy="4195043"/>
          </a:xfrm>
          <a:custGeom>
            <a:rect b="b" l="l" r="r" t="t"/>
            <a:pathLst>
              <a:path extrusionOk="0" h="4195043" w="2885614">
                <a:moveTo>
                  <a:pt x="0" y="0"/>
                </a:moveTo>
                <a:lnTo>
                  <a:pt x="2885614" y="0"/>
                </a:lnTo>
                <a:lnTo>
                  <a:pt x="2885614" y="4195043"/>
                </a:lnTo>
                <a:lnTo>
                  <a:pt x="0" y="4195043"/>
                </a:lnTo>
                <a:lnTo>
                  <a:pt x="0" y="0"/>
                </a:lnTo>
                <a:close/>
              </a:path>
            </a:pathLst>
          </a:custGeom>
          <a:blipFill rotWithShape="1">
            <a:blip r:embed="rId8">
              <a:alphaModFix/>
            </a:blip>
            <a:stretch>
              <a:fillRect b="-6195" l="-230851" r="0" t="-7309"/>
            </a:stretch>
          </a:blipFill>
          <a:ln>
            <a:noFill/>
          </a:ln>
        </p:spPr>
      </p:sp>
      <p:sp>
        <p:nvSpPr>
          <p:cNvPr id="148" name="Google Shape;148;p3"/>
          <p:cNvSpPr/>
          <p:nvPr/>
        </p:nvSpPr>
        <p:spPr>
          <a:xfrm rot="738743">
            <a:off x="6011972" y="899260"/>
            <a:ext cx="2583812" cy="1103992"/>
          </a:xfrm>
          <a:custGeom>
            <a:rect b="b" l="l" r="r" t="t"/>
            <a:pathLst>
              <a:path extrusionOk="0" h="1103992" w="2583812">
                <a:moveTo>
                  <a:pt x="0" y="0"/>
                </a:moveTo>
                <a:lnTo>
                  <a:pt x="2583812" y="0"/>
                </a:lnTo>
                <a:lnTo>
                  <a:pt x="2583812" y="1103992"/>
                </a:lnTo>
                <a:lnTo>
                  <a:pt x="0" y="1103992"/>
                </a:lnTo>
                <a:lnTo>
                  <a:pt x="0" y="0"/>
                </a:lnTo>
                <a:close/>
              </a:path>
            </a:pathLst>
          </a:custGeom>
          <a:blipFill rotWithShape="1">
            <a:blip r:embed="rId9">
              <a:alphaModFix/>
            </a:blip>
            <a:stretch>
              <a:fillRect b="0" l="0" r="0" t="0"/>
            </a:stretch>
          </a:blipFill>
          <a:ln>
            <a:noFill/>
          </a:ln>
        </p:spPr>
      </p:sp>
      <p:sp>
        <p:nvSpPr>
          <p:cNvPr id="149" name="Google Shape;149;p3"/>
          <p:cNvSpPr/>
          <p:nvPr/>
        </p:nvSpPr>
        <p:spPr>
          <a:xfrm rot="4130080">
            <a:off x="4534580" y="662215"/>
            <a:ext cx="360530" cy="984887"/>
          </a:xfrm>
          <a:custGeom>
            <a:rect b="b" l="l" r="r" t="t"/>
            <a:pathLst>
              <a:path extrusionOk="0" h="984887" w="360530">
                <a:moveTo>
                  <a:pt x="0" y="0"/>
                </a:moveTo>
                <a:lnTo>
                  <a:pt x="360530" y="0"/>
                </a:lnTo>
                <a:lnTo>
                  <a:pt x="360530" y="984887"/>
                </a:lnTo>
                <a:lnTo>
                  <a:pt x="0" y="984887"/>
                </a:lnTo>
                <a:lnTo>
                  <a:pt x="0" y="0"/>
                </a:lnTo>
                <a:close/>
              </a:path>
            </a:pathLst>
          </a:custGeom>
          <a:blipFill rotWithShape="1">
            <a:blip r:embed="rId10">
              <a:alphaModFix/>
            </a:blip>
            <a:stretch>
              <a:fillRect b="0" l="0" r="0" t="0"/>
            </a:stretch>
          </a:blipFill>
          <a:ln>
            <a:noFill/>
          </a:ln>
        </p:spPr>
      </p:sp>
      <p:sp>
        <p:nvSpPr>
          <p:cNvPr id="150" name="Google Shape;150;p3"/>
          <p:cNvSpPr/>
          <p:nvPr/>
        </p:nvSpPr>
        <p:spPr>
          <a:xfrm rot="1393956">
            <a:off x="5609027" y="8496422"/>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11">
              <a:alphaModFix/>
            </a:blip>
            <a:stretch>
              <a:fillRect b="0" l="0" r="0" t="0"/>
            </a:stretch>
          </a:blipFill>
          <a:ln>
            <a:noFill/>
          </a:ln>
        </p:spPr>
      </p:sp>
      <p:sp>
        <p:nvSpPr>
          <p:cNvPr id="151" name="Google Shape;151;p3"/>
          <p:cNvSpPr txBox="1"/>
          <p:nvPr/>
        </p:nvSpPr>
        <p:spPr>
          <a:xfrm>
            <a:off x="9956217" y="4422308"/>
            <a:ext cx="5733900" cy="3201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600" u="none" cap="none" strike="noStrike">
                <a:solidFill>
                  <a:srgbClr val="323232"/>
                </a:solidFill>
                <a:latin typeface="Sniglet"/>
                <a:ea typeface="Sniglet"/>
                <a:cs typeface="Sniglet"/>
                <a:sym typeface="Sniglet"/>
              </a:rPr>
              <a:t>El estudiante aplica estrategias de subneteo fijo y variable mediante </a:t>
            </a:r>
            <a:r>
              <a:rPr lang="en-US" sz="2600">
                <a:solidFill>
                  <a:srgbClr val="323232"/>
                </a:solidFill>
                <a:latin typeface="Sniglet"/>
                <a:ea typeface="Sniglet"/>
                <a:cs typeface="Sniglet"/>
                <a:sym typeface="Sniglet"/>
              </a:rPr>
              <a:t>cálculos</a:t>
            </a:r>
            <a:r>
              <a:rPr b="0" i="0" lang="en-US" sz="2600" u="none" cap="none" strike="noStrike">
                <a:solidFill>
                  <a:srgbClr val="323232"/>
                </a:solidFill>
                <a:latin typeface="Sniglet"/>
                <a:ea typeface="Sniglet"/>
                <a:cs typeface="Sniglet"/>
                <a:sym typeface="Sniglet"/>
              </a:rPr>
              <a:t> de rangos y asignación eficiente de direcciones IP para optimizar la cantidad de IP disponibles en la red. </a:t>
            </a:r>
            <a:endParaRPr/>
          </a:p>
        </p:txBody>
      </p:sp>
      <p:sp>
        <p:nvSpPr>
          <p:cNvPr id="152" name="Google Shape;152;p3"/>
          <p:cNvSpPr txBox="1"/>
          <p:nvPr/>
        </p:nvSpPr>
        <p:spPr>
          <a:xfrm>
            <a:off x="9956217" y="2808652"/>
            <a:ext cx="5733804" cy="201168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4200" u="none" cap="none" strike="noStrike">
                <a:solidFill>
                  <a:srgbClr val="009B96"/>
                </a:solidFill>
                <a:latin typeface="Arial"/>
                <a:ea typeface="Arial"/>
                <a:cs typeface="Arial"/>
                <a:sym typeface="Arial"/>
              </a:rPr>
              <a:t>COMPETENCIA QUE DESARROLLAREMOS</a:t>
            </a:r>
            <a:endParaRPr/>
          </a:p>
          <a:p>
            <a:pPr indent="0" lvl="0" marL="0" marR="0" rtl="0" algn="ctr">
              <a:lnSpc>
                <a:spcPct val="125000"/>
              </a:lnSpc>
              <a:spcBef>
                <a:spcPts val="0"/>
              </a:spcBef>
              <a:spcAft>
                <a:spcPts val="0"/>
              </a:spcAft>
              <a:buNone/>
            </a:pPr>
            <a:r>
              <a:t/>
            </a:r>
            <a:endParaRPr b="0" i="0" sz="4200" u="none" cap="none" strike="noStrike">
              <a:solidFill>
                <a:srgbClr val="009B96"/>
              </a:solidFill>
              <a:latin typeface="Arial"/>
              <a:ea typeface="Arial"/>
              <a:cs typeface="Arial"/>
              <a:sym typeface="Arial"/>
            </a:endParaRPr>
          </a:p>
        </p:txBody>
      </p:sp>
      <p:sp>
        <p:nvSpPr>
          <p:cNvPr id="153" name="Google Shape;153;p3"/>
          <p:cNvSpPr/>
          <p:nvPr/>
        </p:nvSpPr>
        <p:spPr>
          <a:xfrm>
            <a:off x="9599000" y="3015845"/>
            <a:ext cx="428320" cy="780374"/>
          </a:xfrm>
          <a:custGeom>
            <a:rect b="b" l="l" r="r" t="t"/>
            <a:pathLst>
              <a:path extrusionOk="0" h="780374" w="428320">
                <a:moveTo>
                  <a:pt x="0" y="0"/>
                </a:moveTo>
                <a:lnTo>
                  <a:pt x="428320" y="0"/>
                </a:lnTo>
                <a:lnTo>
                  <a:pt x="428320" y="780374"/>
                </a:lnTo>
                <a:lnTo>
                  <a:pt x="0" y="780374"/>
                </a:lnTo>
                <a:lnTo>
                  <a:pt x="0" y="0"/>
                </a:lnTo>
                <a:close/>
              </a:path>
            </a:pathLst>
          </a:custGeom>
          <a:blipFill rotWithShape="1">
            <a:blip r:embed="rId12">
              <a:alphaModFix/>
            </a:blip>
            <a:stretch>
              <a:fillRect b="-96023" l="0" r="-370743" t="-54364"/>
            </a:stretch>
          </a:blipFill>
          <a:ln>
            <a:noFill/>
          </a:ln>
        </p:spPr>
      </p:sp>
      <p:sp>
        <p:nvSpPr>
          <p:cNvPr id="154" name="Google Shape;154;p3"/>
          <p:cNvSpPr/>
          <p:nvPr/>
        </p:nvSpPr>
        <p:spPr>
          <a:xfrm rot="10800000">
            <a:off x="15618917" y="3084487"/>
            <a:ext cx="428320" cy="780374"/>
          </a:xfrm>
          <a:custGeom>
            <a:rect b="b" l="l" r="r" t="t"/>
            <a:pathLst>
              <a:path extrusionOk="0" h="780374" w="428320">
                <a:moveTo>
                  <a:pt x="428321" y="780373"/>
                </a:moveTo>
                <a:lnTo>
                  <a:pt x="0" y="780373"/>
                </a:lnTo>
                <a:lnTo>
                  <a:pt x="0" y="0"/>
                </a:lnTo>
                <a:lnTo>
                  <a:pt x="428321" y="0"/>
                </a:lnTo>
                <a:lnTo>
                  <a:pt x="428321" y="780373"/>
                </a:lnTo>
                <a:close/>
              </a:path>
            </a:pathLst>
          </a:custGeom>
          <a:blipFill rotWithShape="1">
            <a:blip r:embed="rId12">
              <a:alphaModFix/>
            </a:blip>
            <a:stretch>
              <a:fillRect b="-96023" l="0" r="-370743" t="-54364"/>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grpSp>
        <p:nvGrpSpPr>
          <p:cNvPr id="159" name="Google Shape;159;p4"/>
          <p:cNvGrpSpPr/>
          <p:nvPr/>
        </p:nvGrpSpPr>
        <p:grpSpPr>
          <a:xfrm>
            <a:off x="-1536959" y="314325"/>
            <a:ext cx="9658350" cy="9658350"/>
            <a:chOff x="0" y="0"/>
            <a:chExt cx="812800" cy="812800"/>
          </a:xfrm>
        </p:grpSpPr>
        <p:sp>
          <p:nvSpPr>
            <p:cNvPr id="160" name="Google Shape;160;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5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txBox="1"/>
            <p:nvPr/>
          </p:nvSpPr>
          <p:spPr>
            <a:xfrm>
              <a:off x="76200" y="104775"/>
              <a:ext cx="660400" cy="631825"/>
            </a:xfrm>
            <a:prstGeom prst="rect">
              <a:avLst/>
            </a:prstGeom>
            <a:noFill/>
            <a:ln>
              <a:noFill/>
            </a:ln>
          </p:spPr>
          <p:txBody>
            <a:bodyPr anchorCtr="0" anchor="ctr" bIns="50800" lIns="50800" spcFirstLastPara="1" rIns="50800" wrap="square" tIns="50800">
              <a:noAutofit/>
            </a:bodyPr>
            <a:lstStyle/>
            <a:p>
              <a:pPr indent="0" lvl="0" marL="0" marR="0" rtl="0" algn="ctr">
                <a:lnSpc>
                  <a:spcPct val="86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2" name="Google Shape;162;p4"/>
          <p:cNvSpPr/>
          <p:nvPr/>
        </p:nvSpPr>
        <p:spPr>
          <a:xfrm>
            <a:off x="877765" y="1459165"/>
            <a:ext cx="7734291" cy="7368670"/>
          </a:xfrm>
          <a:custGeom>
            <a:rect b="b" l="l" r="r" t="t"/>
            <a:pathLst>
              <a:path extrusionOk="0" h="7368670" w="7734291">
                <a:moveTo>
                  <a:pt x="0" y="0"/>
                </a:moveTo>
                <a:lnTo>
                  <a:pt x="7734290" y="0"/>
                </a:lnTo>
                <a:lnTo>
                  <a:pt x="7734290" y="7368670"/>
                </a:lnTo>
                <a:lnTo>
                  <a:pt x="0" y="7368670"/>
                </a:lnTo>
                <a:lnTo>
                  <a:pt x="0" y="0"/>
                </a:lnTo>
                <a:close/>
              </a:path>
            </a:pathLst>
          </a:custGeom>
          <a:blipFill rotWithShape="1">
            <a:blip r:embed="rId3">
              <a:alphaModFix/>
            </a:blip>
            <a:stretch>
              <a:fillRect b="0" l="0" r="0" t="0"/>
            </a:stretch>
          </a:blipFill>
          <a:ln>
            <a:noFill/>
          </a:ln>
        </p:spPr>
      </p:sp>
      <p:sp>
        <p:nvSpPr>
          <p:cNvPr id="163" name="Google Shape;163;p4"/>
          <p:cNvSpPr/>
          <p:nvPr/>
        </p:nvSpPr>
        <p:spPr>
          <a:xfrm>
            <a:off x="17259300" y="801623"/>
            <a:ext cx="486295" cy="4114800"/>
          </a:xfrm>
          <a:custGeom>
            <a:rect b="b" l="l" r="r" t="t"/>
            <a:pathLst>
              <a:path extrusionOk="0" h="4114800" w="486295">
                <a:moveTo>
                  <a:pt x="0" y="0"/>
                </a:moveTo>
                <a:lnTo>
                  <a:pt x="486295" y="0"/>
                </a:lnTo>
                <a:lnTo>
                  <a:pt x="486295" y="4114800"/>
                </a:lnTo>
                <a:lnTo>
                  <a:pt x="0" y="4114800"/>
                </a:lnTo>
                <a:lnTo>
                  <a:pt x="0" y="0"/>
                </a:lnTo>
                <a:close/>
              </a:path>
            </a:pathLst>
          </a:custGeom>
          <a:blipFill rotWithShape="1">
            <a:blip r:embed="rId4">
              <a:alphaModFix/>
            </a:blip>
            <a:stretch>
              <a:fillRect b="0" l="0" r="0" t="0"/>
            </a:stretch>
          </a:blipFill>
          <a:ln>
            <a:noFill/>
          </a:ln>
        </p:spPr>
      </p:sp>
      <p:sp>
        <p:nvSpPr>
          <p:cNvPr id="164" name="Google Shape;164;p4"/>
          <p:cNvSpPr/>
          <p:nvPr/>
        </p:nvSpPr>
        <p:spPr>
          <a:xfrm>
            <a:off x="9032745" y="1113356"/>
            <a:ext cx="7315200" cy="691619"/>
          </a:xfrm>
          <a:custGeom>
            <a:rect b="b" l="l" r="r" t="t"/>
            <a:pathLst>
              <a:path extrusionOk="0" h="691619" w="7315200">
                <a:moveTo>
                  <a:pt x="0" y="0"/>
                </a:moveTo>
                <a:lnTo>
                  <a:pt x="7315200" y="0"/>
                </a:lnTo>
                <a:lnTo>
                  <a:pt x="7315200" y="691619"/>
                </a:lnTo>
                <a:lnTo>
                  <a:pt x="0" y="691619"/>
                </a:lnTo>
                <a:lnTo>
                  <a:pt x="0" y="0"/>
                </a:lnTo>
                <a:close/>
              </a:path>
            </a:pathLst>
          </a:custGeom>
          <a:blipFill rotWithShape="1">
            <a:blip r:embed="rId5">
              <a:alphaModFix/>
            </a:blip>
            <a:stretch>
              <a:fillRect b="0" l="0" r="0" t="0"/>
            </a:stretch>
          </a:blipFill>
          <a:ln>
            <a:noFill/>
          </a:ln>
        </p:spPr>
      </p:sp>
      <p:sp>
        <p:nvSpPr>
          <p:cNvPr id="165" name="Google Shape;165;p4"/>
          <p:cNvSpPr/>
          <p:nvPr/>
        </p:nvSpPr>
        <p:spPr>
          <a:xfrm>
            <a:off x="9032745" y="7387072"/>
            <a:ext cx="6089796" cy="1871228"/>
          </a:xfrm>
          <a:custGeom>
            <a:rect b="b" l="l" r="r" t="t"/>
            <a:pathLst>
              <a:path extrusionOk="0" h="1871228" w="6089796">
                <a:moveTo>
                  <a:pt x="0" y="0"/>
                </a:moveTo>
                <a:lnTo>
                  <a:pt x="6089796" y="0"/>
                </a:lnTo>
                <a:lnTo>
                  <a:pt x="6089796" y="1871228"/>
                </a:lnTo>
                <a:lnTo>
                  <a:pt x="0" y="1871228"/>
                </a:lnTo>
                <a:lnTo>
                  <a:pt x="0" y="0"/>
                </a:lnTo>
                <a:close/>
              </a:path>
            </a:pathLst>
          </a:custGeom>
          <a:blipFill rotWithShape="1">
            <a:blip r:embed="rId6">
              <a:alphaModFix/>
            </a:blip>
            <a:stretch>
              <a:fillRect b="0" l="0" r="0" t="0"/>
            </a:stretch>
          </a:blipFill>
          <a:ln>
            <a:noFill/>
          </a:ln>
        </p:spPr>
      </p:sp>
      <p:sp>
        <p:nvSpPr>
          <p:cNvPr id="166" name="Google Shape;166;p4"/>
          <p:cNvSpPr/>
          <p:nvPr/>
        </p:nvSpPr>
        <p:spPr>
          <a:xfrm>
            <a:off x="17413226" y="7387072"/>
            <a:ext cx="1050143" cy="1698492"/>
          </a:xfrm>
          <a:custGeom>
            <a:rect b="b" l="l" r="r" t="t"/>
            <a:pathLst>
              <a:path extrusionOk="0" h="1698492" w="1050143">
                <a:moveTo>
                  <a:pt x="0" y="0"/>
                </a:moveTo>
                <a:lnTo>
                  <a:pt x="1050143" y="0"/>
                </a:lnTo>
                <a:lnTo>
                  <a:pt x="1050143" y="1698492"/>
                </a:lnTo>
                <a:lnTo>
                  <a:pt x="0" y="1698492"/>
                </a:lnTo>
                <a:lnTo>
                  <a:pt x="0" y="0"/>
                </a:lnTo>
                <a:close/>
              </a:path>
            </a:pathLst>
          </a:custGeom>
          <a:blipFill rotWithShape="1">
            <a:blip r:embed="rId7">
              <a:alphaModFix/>
            </a:blip>
            <a:stretch>
              <a:fillRect b="0" l="0" r="0" t="0"/>
            </a:stretch>
          </a:blipFill>
          <a:ln>
            <a:noFill/>
          </a:ln>
        </p:spPr>
      </p:sp>
      <p:sp>
        <p:nvSpPr>
          <p:cNvPr id="167" name="Google Shape;167;p4"/>
          <p:cNvSpPr txBox="1"/>
          <p:nvPr/>
        </p:nvSpPr>
        <p:spPr>
          <a:xfrm>
            <a:off x="9144000" y="3147388"/>
            <a:ext cx="8269226" cy="312587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12065" u="none" cap="none" strike="noStrike">
                <a:solidFill>
                  <a:srgbClr val="5555AB"/>
                </a:solidFill>
                <a:latin typeface="Anton"/>
                <a:ea typeface="Anton"/>
                <a:cs typeface="Anton"/>
                <a:sym typeface="Anton"/>
              </a:rPr>
              <a:t>DIRECCIONES IP</a:t>
            </a:r>
            <a:endParaRPr/>
          </a:p>
        </p:txBody>
      </p:sp>
      <p:sp>
        <p:nvSpPr>
          <p:cNvPr id="168" name="Google Shape;168;p4"/>
          <p:cNvSpPr txBox="1"/>
          <p:nvPr/>
        </p:nvSpPr>
        <p:spPr>
          <a:xfrm>
            <a:off x="9931021" y="8228841"/>
            <a:ext cx="3907056" cy="225757"/>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None/>
            </a:pPr>
            <a:r>
              <a:rPr b="1" i="0" lang="en-US" sz="1762" u="none" cap="none" strike="noStrike">
                <a:solidFill>
                  <a:srgbClr val="5555AB"/>
                </a:solidFill>
                <a:latin typeface="Montserrat"/>
                <a:ea typeface="Montserrat"/>
                <a:cs typeface="Montserrat"/>
                <a:sym typeface="Montserrat"/>
              </a:rPr>
              <a:t>WWW.REDES1.COM</a:t>
            </a:r>
            <a:endParaRPr/>
          </a:p>
        </p:txBody>
      </p:sp>
      <p:sp>
        <p:nvSpPr>
          <p:cNvPr id="169" name="Google Shape;169;p4"/>
          <p:cNvSpPr txBox="1"/>
          <p:nvPr/>
        </p:nvSpPr>
        <p:spPr>
          <a:xfrm>
            <a:off x="10117846" y="1365320"/>
            <a:ext cx="2391841" cy="225757"/>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None/>
            </a:pPr>
            <a:r>
              <a:rPr b="1" i="0" lang="en-US" sz="1762" u="none" cap="none" strike="noStrike">
                <a:solidFill>
                  <a:srgbClr val="FFFFFF"/>
                </a:solidFill>
                <a:latin typeface="Montserrat"/>
                <a:ea typeface="Montserrat"/>
                <a:cs typeface="Montserrat"/>
                <a:sym typeface="Montserrat"/>
              </a:rPr>
              <a:t>REDES 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Direcciones IP</a:t>
            </a:r>
            <a:endParaRPr/>
          </a:p>
        </p:txBody>
      </p:sp>
      <p:sp>
        <p:nvSpPr>
          <p:cNvPr id="175" name="Google Shape;175;p5"/>
          <p:cNvSpPr txBox="1"/>
          <p:nvPr/>
        </p:nvSpPr>
        <p:spPr>
          <a:xfrm>
            <a:off x="1028709" y="1628772"/>
            <a:ext cx="13421700" cy="8355000"/>
          </a:xfrm>
          <a:prstGeom prst="rect">
            <a:avLst/>
          </a:prstGeom>
          <a:noFill/>
          <a:ln>
            <a:noFill/>
          </a:ln>
        </p:spPr>
        <p:txBody>
          <a:bodyPr anchorCtr="0" anchor="t" bIns="0" lIns="0" spcFirstLastPara="1" rIns="0" wrap="square" tIns="0">
            <a:spAutoFit/>
          </a:bodyPr>
          <a:lstStyle/>
          <a:p>
            <a:pPr indent="0" lvl="0" marL="0" marR="0" rtl="0" algn="l">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Son identificadores únicos asignados a cada dispositivo en una red de computadoras. Operan en la capa 3 del modelo OSI.</a:t>
            </a:r>
            <a:endParaRPr/>
          </a:p>
          <a:p>
            <a:pPr indent="0" lvl="0" marL="0" marR="0" rtl="0" algn="l">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l">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Permiten que los datos sean enrutados correctamente a través de la red para llegar a su destino.</a:t>
            </a:r>
            <a:endParaRPr/>
          </a:p>
          <a:p>
            <a:pPr indent="0" lvl="0" marL="0" marR="0" rtl="0" algn="l">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l">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Existen dos versiones principales de direcciones IP: IPv4 e IPv6.</a:t>
            </a:r>
            <a:endParaRPr/>
          </a:p>
          <a:p>
            <a:pPr indent="0" lvl="0" marL="0" marR="0" rtl="0" algn="l">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266399" lvl="1" marL="532800" marR="0" rtl="0" algn="l">
              <a:lnSpc>
                <a:spcPct val="150020"/>
              </a:lnSpc>
              <a:spcBef>
                <a:spcPts val="0"/>
              </a:spcBef>
              <a:spcAft>
                <a:spcPts val="0"/>
              </a:spcAft>
              <a:buClr>
                <a:srgbClr val="000000"/>
              </a:buClr>
              <a:buSzPts val="2467"/>
              <a:buFont typeface="Arial"/>
              <a:buChar char="•"/>
            </a:pPr>
            <a:r>
              <a:rPr b="0" i="0" lang="en-US" sz="2467" u="none" cap="none" strike="noStrike">
                <a:solidFill>
                  <a:srgbClr val="000000"/>
                </a:solidFill>
                <a:latin typeface="Poppins"/>
                <a:ea typeface="Poppins"/>
                <a:cs typeface="Poppins"/>
                <a:sym typeface="Poppins"/>
              </a:rPr>
              <a:t>La dirección IPv4 utiliza un formato de 32 bits y puede ser representada por cuatro números separados por puntos (ejemplo: 192.168.1.1).</a:t>
            </a:r>
            <a:endParaRPr/>
          </a:p>
          <a:p>
            <a:pPr indent="0" lvl="0" marL="0" marR="0" rtl="0" algn="l">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266399" lvl="1" marL="532800" marR="0" rtl="0" algn="l">
              <a:lnSpc>
                <a:spcPct val="150020"/>
              </a:lnSpc>
              <a:spcBef>
                <a:spcPts val="0"/>
              </a:spcBef>
              <a:spcAft>
                <a:spcPts val="0"/>
              </a:spcAft>
              <a:buClr>
                <a:srgbClr val="000000"/>
              </a:buClr>
              <a:buSzPts val="2467"/>
              <a:buFont typeface="Arial"/>
              <a:buChar char="•"/>
            </a:pPr>
            <a:r>
              <a:rPr b="0" i="0" lang="en-US" sz="2467" u="none" cap="none" strike="noStrike">
                <a:solidFill>
                  <a:srgbClr val="000000"/>
                </a:solidFill>
                <a:latin typeface="Poppins"/>
                <a:ea typeface="Poppins"/>
                <a:cs typeface="Poppins"/>
                <a:sym typeface="Poppins"/>
              </a:rPr>
              <a:t>La dirección IPv6 utiliza un formato de 128 bits y puede ser representada por ocho bloques de cuatro dígitos hexadecimales separados por dos puntos (ejemplo: 2001:0db8:85a3:0000:0000:8a2e:0370:7334). </a:t>
            </a:r>
            <a:endParaRPr/>
          </a:p>
          <a:p>
            <a:pPr indent="0" lvl="0" marL="0" marR="0" rtl="0" algn="l">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nvSpPr>
        <p:spPr>
          <a:xfrm>
            <a:off x="1024309" y="2005972"/>
            <a:ext cx="14089277" cy="630377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380" u="none" cap="none" strike="noStrike">
                <a:solidFill>
                  <a:srgbClr val="000000"/>
                </a:solidFill>
                <a:latin typeface="Poppins"/>
                <a:ea typeface="Poppins"/>
                <a:cs typeface="Poppins"/>
                <a:sym typeface="Poppins"/>
              </a:rPr>
              <a:t>Son asignadas a los dispositivos en una red por un servidor DHCP (Dynamic Host Configuration Protocol) o pueden ser configuradas manualmente en los dispositivos individuales.</a:t>
            </a:r>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None/>
            </a:pPr>
            <a:r>
              <a:rPr b="0" i="0" lang="en-US" sz="2380" u="none" cap="none" strike="noStrike">
                <a:solidFill>
                  <a:srgbClr val="000000"/>
                </a:solidFill>
                <a:latin typeface="Poppins"/>
                <a:ea typeface="Poppins"/>
                <a:cs typeface="Poppins"/>
                <a:sym typeface="Poppins"/>
              </a:rPr>
              <a:t>Una de las utilidades principales de la dirección IP, además de la de identificar los dispositivos, es la de permitir la comunicación con otros dentro de una red. Esta red puede ser interna o externa, y en función de esto se utilizarán IP de tipo privada o pública.</a:t>
            </a:r>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None/>
            </a:pPr>
            <a:r>
              <a:rPr b="0" i="0" lang="en-US" sz="2380" u="none" cap="none" strike="noStrike">
                <a:solidFill>
                  <a:srgbClr val="000000"/>
                </a:solidFill>
                <a:latin typeface="Poppins"/>
                <a:ea typeface="Poppins"/>
                <a:cs typeface="Poppins"/>
                <a:sym typeface="Poppins"/>
              </a:rPr>
              <a:t>Una dirección IP está compuesta por dos componentes: la dirección de red y la dirección de host.</a:t>
            </a:r>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None/>
            </a:pPr>
            <a:r>
              <a:rPr b="0" i="0" lang="en-US" sz="2380" u="none" cap="none" strike="noStrike">
                <a:solidFill>
                  <a:srgbClr val="000000"/>
                </a:solidFill>
                <a:latin typeface="Poppins"/>
                <a:ea typeface="Poppins"/>
                <a:cs typeface="Poppins"/>
                <a:sym typeface="Poppins"/>
              </a:rPr>
              <a:t>La dirección de red identifica a una red particular y la dirección de host identifica a un dispositivo específico dentro de esa red. </a:t>
            </a:r>
            <a:endParaRPr/>
          </a:p>
        </p:txBody>
      </p:sp>
      <p:sp>
        <p:nvSpPr>
          <p:cNvPr id="181" name="Google Shape;181;p6"/>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Direcciones IP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p:nvPr/>
        </p:nvSpPr>
        <p:spPr>
          <a:xfrm>
            <a:off x="4593246" y="3517995"/>
            <a:ext cx="10861532" cy="3918607"/>
          </a:xfrm>
          <a:custGeom>
            <a:rect b="b" l="l" r="r" t="t"/>
            <a:pathLst>
              <a:path extrusionOk="0" h="3918607" w="10861532">
                <a:moveTo>
                  <a:pt x="0" y="0"/>
                </a:moveTo>
                <a:lnTo>
                  <a:pt x="10861533" y="0"/>
                </a:lnTo>
                <a:lnTo>
                  <a:pt x="10861533" y="3918606"/>
                </a:lnTo>
                <a:lnTo>
                  <a:pt x="0" y="3918606"/>
                </a:lnTo>
                <a:lnTo>
                  <a:pt x="0" y="0"/>
                </a:lnTo>
                <a:close/>
              </a:path>
            </a:pathLst>
          </a:custGeom>
          <a:blipFill rotWithShape="1">
            <a:blip r:embed="rId3">
              <a:alphaModFix/>
            </a:blip>
            <a:stretch>
              <a:fillRect b="0" l="0" r="0" t="0"/>
            </a:stretch>
          </a:blipFill>
          <a:ln>
            <a:noFill/>
          </a:ln>
        </p:spPr>
      </p:sp>
      <p:sp>
        <p:nvSpPr>
          <p:cNvPr id="187" name="Google Shape;187;p7"/>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Direcciones IP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nvSpPr>
        <p:spPr>
          <a:xfrm>
            <a:off x="1024309" y="2005972"/>
            <a:ext cx="14089277" cy="7653611"/>
          </a:xfrm>
          <a:prstGeom prst="rect">
            <a:avLst/>
          </a:prstGeom>
          <a:noFill/>
          <a:ln>
            <a:noFill/>
          </a:ln>
        </p:spPr>
        <p:txBody>
          <a:bodyPr anchorCtr="0" anchor="t" bIns="0" lIns="0" spcFirstLastPara="1" rIns="0" wrap="square" tIns="0">
            <a:spAutoFit/>
          </a:bodyPr>
          <a:lstStyle/>
          <a:p>
            <a:pPr indent="-256987" lvl="1" marL="513975" marR="0" rtl="0" algn="l">
              <a:lnSpc>
                <a:spcPct val="150000"/>
              </a:lnSpc>
              <a:spcBef>
                <a:spcPts val="0"/>
              </a:spcBef>
              <a:spcAft>
                <a:spcPts val="0"/>
              </a:spcAft>
              <a:buClr>
                <a:srgbClr val="000000"/>
              </a:buClr>
              <a:buSzPts val="2380"/>
              <a:buFont typeface="Arial"/>
              <a:buChar char="•"/>
            </a:pPr>
            <a:r>
              <a:rPr b="0" i="0" lang="en-US" sz="2380" u="none" cap="none" strike="noStrike">
                <a:solidFill>
                  <a:srgbClr val="000000"/>
                </a:solidFill>
                <a:latin typeface="Poppins"/>
                <a:ea typeface="Poppins"/>
                <a:cs typeface="Poppins"/>
                <a:sym typeface="Poppins"/>
              </a:rPr>
              <a:t>IP dinámica</a:t>
            </a:r>
            <a:endParaRPr/>
          </a:p>
          <a:p>
            <a:pPr indent="0" lvl="0" marL="0" marR="0" rtl="0" algn="l">
              <a:lnSpc>
                <a:spcPct val="150000"/>
              </a:lnSpc>
              <a:spcBef>
                <a:spcPts val="0"/>
              </a:spcBef>
              <a:spcAft>
                <a:spcPts val="0"/>
              </a:spcAft>
              <a:buNone/>
            </a:pPr>
            <a:r>
              <a:rPr b="0" i="0" lang="en-US" sz="2380" u="none" cap="none" strike="noStrike">
                <a:solidFill>
                  <a:srgbClr val="000000"/>
                </a:solidFill>
                <a:latin typeface="Poppins"/>
                <a:ea typeface="Poppins"/>
                <a:cs typeface="Poppins"/>
                <a:sym typeface="Poppins"/>
              </a:rPr>
              <a:t>Se trata de una dirección que va cambiando cada cierto tiempo, es decir, tiene una duración limitado y no es definitiva. El uso de este tipo de IP impide el problema de agotamiento del rango de direcciones, evita algunos ataques, hace más difícil el rastreo ofreciendo una mayor privacidad y permite la optimización de recursos y tiempo por parte del administrador si se hace uso de un servidor DHCP. </a:t>
            </a:r>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a:p>
            <a:pPr indent="-256987" lvl="1" marL="513975" marR="0" rtl="0" algn="l">
              <a:lnSpc>
                <a:spcPct val="150000"/>
              </a:lnSpc>
              <a:spcBef>
                <a:spcPts val="0"/>
              </a:spcBef>
              <a:spcAft>
                <a:spcPts val="0"/>
              </a:spcAft>
              <a:buClr>
                <a:srgbClr val="000000"/>
              </a:buClr>
              <a:buSzPts val="2380"/>
              <a:buFont typeface="Arial"/>
              <a:buChar char="•"/>
            </a:pPr>
            <a:r>
              <a:rPr b="0" i="0" lang="en-US" sz="2380" u="none" cap="none" strike="noStrike">
                <a:solidFill>
                  <a:srgbClr val="000000"/>
                </a:solidFill>
                <a:latin typeface="Poppins"/>
                <a:ea typeface="Poppins"/>
                <a:cs typeface="Poppins"/>
                <a:sym typeface="Poppins"/>
              </a:rPr>
              <a:t>IP estática o fija</a:t>
            </a:r>
            <a:endParaRPr/>
          </a:p>
          <a:p>
            <a:pPr indent="0" lvl="0" marL="0" marR="0" rtl="0" algn="l">
              <a:lnSpc>
                <a:spcPct val="150000"/>
              </a:lnSpc>
              <a:spcBef>
                <a:spcPts val="0"/>
              </a:spcBef>
              <a:spcAft>
                <a:spcPts val="0"/>
              </a:spcAft>
              <a:buNone/>
            </a:pPr>
            <a:r>
              <a:rPr b="0" i="0" lang="en-US" sz="2380" u="none" cap="none" strike="noStrike">
                <a:solidFill>
                  <a:srgbClr val="000000"/>
                </a:solidFill>
                <a:latin typeface="Poppins"/>
                <a:ea typeface="Poppins"/>
                <a:cs typeface="Poppins"/>
                <a:sym typeface="Poppins"/>
              </a:rPr>
              <a:t>Es aquella que se asigna de forma manual y permite que un dispositivo que se conecte a la red lo haga siempre haciendo uso de la misma IP. Con su utilización se lleva a cabo una comunicación en algunos casos mucho más rápida. Pero a su vez, tienen un mayor coste y una menor privacidad al ser más fácil de hackear.</a:t>
            </a:r>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None/>
            </a:pPr>
            <a:r>
              <a:t/>
            </a:r>
            <a:endParaRPr b="0" i="0" sz="2380" u="none" cap="none" strike="noStrike">
              <a:solidFill>
                <a:srgbClr val="000000"/>
              </a:solidFill>
              <a:latin typeface="Poppins"/>
              <a:ea typeface="Poppins"/>
              <a:cs typeface="Poppins"/>
              <a:sym typeface="Poppins"/>
            </a:endParaRPr>
          </a:p>
        </p:txBody>
      </p:sp>
      <p:sp>
        <p:nvSpPr>
          <p:cNvPr id="193" name="Google Shape;193;p8"/>
          <p:cNvSpPr txBox="1"/>
          <p:nvPr/>
        </p:nvSpPr>
        <p:spPr>
          <a:xfrm>
            <a:off x="1028700" y="428625"/>
            <a:ext cx="14085000" cy="1215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lang="en-US" sz="7899">
                <a:solidFill>
                  <a:srgbClr val="415AC6"/>
                </a:solidFill>
              </a:rPr>
              <a:t>T</a:t>
            </a:r>
            <a:r>
              <a:rPr b="0" i="0" lang="en-US" sz="7899" u="none" cap="none" strike="noStrike">
                <a:solidFill>
                  <a:srgbClr val="415AC6"/>
                </a:solidFill>
                <a:latin typeface="Arial"/>
                <a:ea typeface="Arial"/>
                <a:cs typeface="Arial"/>
                <a:sym typeface="Arial"/>
              </a:rPr>
              <a:t>ipos de direcciones </a:t>
            </a:r>
            <a:r>
              <a:rPr lang="en-US" sz="7899">
                <a:solidFill>
                  <a:srgbClr val="415AC6"/>
                </a:solidFill>
              </a:rPr>
              <a:t>	IP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p:nvPr/>
        </p:nvSpPr>
        <p:spPr>
          <a:xfrm>
            <a:off x="11496849" y="428625"/>
            <a:ext cx="5762451" cy="2078968"/>
          </a:xfrm>
          <a:custGeom>
            <a:rect b="b" l="l" r="r" t="t"/>
            <a:pathLst>
              <a:path extrusionOk="0" h="2078968" w="5762451">
                <a:moveTo>
                  <a:pt x="0" y="0"/>
                </a:moveTo>
                <a:lnTo>
                  <a:pt x="5762451" y="0"/>
                </a:lnTo>
                <a:lnTo>
                  <a:pt x="5762451" y="2078968"/>
                </a:lnTo>
                <a:lnTo>
                  <a:pt x="0" y="2078968"/>
                </a:lnTo>
                <a:lnTo>
                  <a:pt x="0" y="0"/>
                </a:lnTo>
                <a:close/>
              </a:path>
            </a:pathLst>
          </a:custGeom>
          <a:blipFill rotWithShape="1">
            <a:blip r:embed="rId3">
              <a:alphaModFix/>
            </a:blip>
            <a:stretch>
              <a:fillRect b="0" l="0" r="0" t="0"/>
            </a:stretch>
          </a:blipFill>
          <a:ln>
            <a:noFill/>
          </a:ln>
        </p:spPr>
      </p:sp>
      <p:sp>
        <p:nvSpPr>
          <p:cNvPr id="199" name="Google Shape;199;p9"/>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Dirección de Red</a:t>
            </a:r>
            <a:endParaRPr/>
          </a:p>
        </p:txBody>
      </p:sp>
      <p:sp>
        <p:nvSpPr>
          <p:cNvPr id="200" name="Google Shape;200;p9"/>
          <p:cNvSpPr txBox="1"/>
          <p:nvPr/>
        </p:nvSpPr>
        <p:spPr>
          <a:xfrm>
            <a:off x="2433159" y="2785424"/>
            <a:ext cx="13421681" cy="60781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Se utiliza para identificar a un grupo de dispositivos que están conectados en una misma red y para establecer reglas de enrutamiento de paquetes de datos a través de la 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Se compone de los bits más significativos de una dirección IP y se utiliza para identificar a una subred específica. Cada subred tiene su propia dirección de red y se puede subdividir en múltiples subredes más pequeñas.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importante destacar que la dirección de red no puede ser utilizada por un dispositivo individual. En su lugar, cada dispositivo en una red recibe una dirección IP única, compuesta por la dirección de red y una dirección de host, que lo identifica de manera única en la red.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0"/>
          <p:cNvSpPr/>
          <p:nvPr/>
        </p:nvSpPr>
        <p:spPr>
          <a:xfrm>
            <a:off x="11496849" y="428625"/>
            <a:ext cx="5762451" cy="2078968"/>
          </a:xfrm>
          <a:custGeom>
            <a:rect b="b" l="l" r="r" t="t"/>
            <a:pathLst>
              <a:path extrusionOk="0" h="2078968" w="5762451">
                <a:moveTo>
                  <a:pt x="0" y="0"/>
                </a:moveTo>
                <a:lnTo>
                  <a:pt x="5762451" y="0"/>
                </a:lnTo>
                <a:lnTo>
                  <a:pt x="5762451" y="2078968"/>
                </a:lnTo>
                <a:lnTo>
                  <a:pt x="0" y="2078968"/>
                </a:lnTo>
                <a:lnTo>
                  <a:pt x="0" y="0"/>
                </a:lnTo>
                <a:close/>
              </a:path>
            </a:pathLst>
          </a:custGeom>
          <a:blipFill rotWithShape="1">
            <a:blip r:embed="rId3">
              <a:alphaModFix/>
            </a:blip>
            <a:stretch>
              <a:fillRect b="0" l="0" r="0" t="0"/>
            </a:stretch>
          </a:blipFill>
          <a:ln>
            <a:noFill/>
          </a:ln>
        </p:spPr>
      </p:sp>
      <p:sp>
        <p:nvSpPr>
          <p:cNvPr id="206" name="Google Shape;206;p10"/>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Dirección de HOST</a:t>
            </a:r>
            <a:endParaRPr/>
          </a:p>
        </p:txBody>
      </p:sp>
      <p:sp>
        <p:nvSpPr>
          <p:cNvPr id="207" name="Google Shape;207;p10"/>
          <p:cNvSpPr txBox="1"/>
          <p:nvPr/>
        </p:nvSpPr>
        <p:spPr>
          <a:xfrm>
            <a:off x="2433159" y="2402818"/>
            <a:ext cx="13421681" cy="74783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Identifica de manera única a un dispositivo individual en una 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Se compone de los bits menos significativos de una dirección IP y se utiliza para identificar a un dispositivo específico en una subred.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Cada dispositivo en una red debe tener una dirección IP única que lo identifique de manera distinta a otros dispositivos en la misma red. La dirección de host permite que los paquetes de datos puedan ser enrutados correctamente a su destino final, ya sea en la misma subred o en otra subred.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importante destacar que la dirección de host no puede ser utilizada para identificar a una subred o para establecer reglas de enrutamiento de paquetes de datos. En su lugar, es la dirección de red la que se utiliza para identificar a una subred y para enrutar paquetes de datos a través de la red.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Direccionamiento de </a:t>
            </a:r>
            <a:r>
              <a:rPr lang="en-US" sz="7899">
                <a:solidFill>
                  <a:srgbClr val="415AC6"/>
                </a:solidFill>
              </a:rPr>
              <a:t>IP </a:t>
            </a:r>
            <a:r>
              <a:rPr b="0" i="0" lang="en-US" sz="7899" u="none" cap="none" strike="noStrike">
                <a:solidFill>
                  <a:srgbClr val="415AC6"/>
                </a:solidFill>
                <a:latin typeface="Arial"/>
                <a:ea typeface="Arial"/>
                <a:cs typeface="Arial"/>
                <a:sym typeface="Arial"/>
              </a:rPr>
              <a:t>con Clases</a:t>
            </a:r>
            <a:endParaRPr/>
          </a:p>
        </p:txBody>
      </p:sp>
      <p:sp>
        <p:nvSpPr>
          <p:cNvPr id="213" name="Google Shape;213;p11"/>
          <p:cNvSpPr txBox="1"/>
          <p:nvPr/>
        </p:nvSpPr>
        <p:spPr>
          <a:xfrm>
            <a:off x="2433159" y="3710955"/>
            <a:ext cx="13421681" cy="42112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un sistema de asignación de direcciones IP que se utilizó en los primeros días de Internet para dividir el espacio de direcciones en grupos o clases. Estas clases eran A, B, y C, y cada una tenía un rango de direcciones IP y un formato de asignación específicos.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Sin embargo, este enfoque de direccionamiento por clases fue reemplazado por el direccionamiento CIDR (Classless Inter-Domain Routing) en la década de 1990 para hacer un uso más eficiente del espacio de direcciones IP.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Direccionamiento de </a:t>
            </a:r>
            <a:r>
              <a:rPr lang="en-US" sz="7899">
                <a:solidFill>
                  <a:srgbClr val="415AC6"/>
                </a:solidFill>
              </a:rPr>
              <a:t>IP </a:t>
            </a:r>
            <a:r>
              <a:rPr b="0" i="0" lang="en-US" sz="7899" u="none" cap="none" strike="noStrike">
                <a:solidFill>
                  <a:srgbClr val="415AC6"/>
                </a:solidFill>
                <a:latin typeface="Arial"/>
                <a:ea typeface="Arial"/>
                <a:cs typeface="Arial"/>
                <a:sym typeface="Arial"/>
              </a:rPr>
              <a:t>con Clases</a:t>
            </a:r>
            <a:endParaRPr/>
          </a:p>
        </p:txBody>
      </p:sp>
      <p:sp>
        <p:nvSpPr>
          <p:cNvPr id="219" name="Google Shape;219;p12"/>
          <p:cNvSpPr txBox="1"/>
          <p:nvPr/>
        </p:nvSpPr>
        <p:spPr>
          <a:xfrm>
            <a:off x="2271684" y="3266107"/>
            <a:ext cx="13421700" cy="6076500"/>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Clase A: Las direcciones IP de clase A se </a:t>
            </a:r>
            <a:r>
              <a:rPr lang="en-US" sz="2467">
                <a:latin typeface="Poppins"/>
                <a:ea typeface="Poppins"/>
                <a:cs typeface="Poppins"/>
                <a:sym typeface="Poppins"/>
              </a:rPr>
              <a:t>identifican</a:t>
            </a:r>
            <a:r>
              <a:rPr b="0" i="0" lang="en-US" sz="2467" u="none" cap="none" strike="noStrike">
                <a:solidFill>
                  <a:srgbClr val="000000"/>
                </a:solidFill>
                <a:latin typeface="Poppins"/>
                <a:ea typeface="Poppins"/>
                <a:cs typeface="Poppins"/>
                <a:sym typeface="Poppins"/>
              </a:rPr>
              <a:t> por tener el primer bit en 0. Estas direcciones tenían un rango de 0.0.0.0 a 127.255.255.255. El primer octeto (8 bits) se reservaba para la identificación de la red, mientras que los tres octetos restantes (24 bits) se utilizaban para identificar hosts en esa red. Las direcciones de clase A se utilizaban para redes muy grandes.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Clase B: Las direcciones IP de clase B se </a:t>
            </a:r>
            <a:r>
              <a:rPr lang="en-US" sz="2467">
                <a:latin typeface="Poppins"/>
                <a:ea typeface="Poppins"/>
                <a:cs typeface="Poppins"/>
                <a:sym typeface="Poppins"/>
              </a:rPr>
              <a:t>identifican</a:t>
            </a:r>
            <a:r>
              <a:rPr b="0" i="0" lang="en-US" sz="2467" u="none" cap="none" strike="noStrike">
                <a:solidFill>
                  <a:srgbClr val="000000"/>
                </a:solidFill>
                <a:latin typeface="Poppins"/>
                <a:ea typeface="Poppins"/>
                <a:cs typeface="Poppins"/>
                <a:sym typeface="Poppins"/>
              </a:rPr>
              <a:t> por tener los dos primeros bits en 10. Estas direcciones tenían un rango de 128.0.0.0 a 191.255.255.255. Los primeros dos octetos (16 bits) se reservaban para la identificación de la red, mientras que los dos octetos restantes (16 bits) se utilizaban para identificar hosts en esa red. Las direcciones de clase B se utilizaban para redes de tamaño mediano.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Direccionamiento de </a:t>
            </a:r>
            <a:r>
              <a:rPr lang="en-US" sz="7899">
                <a:solidFill>
                  <a:srgbClr val="415AC6"/>
                </a:solidFill>
              </a:rPr>
              <a:t>IP </a:t>
            </a:r>
            <a:r>
              <a:rPr b="0" i="0" lang="en-US" sz="7899" u="none" cap="none" strike="noStrike">
                <a:solidFill>
                  <a:srgbClr val="415AC6"/>
                </a:solidFill>
                <a:latin typeface="Arial"/>
                <a:ea typeface="Arial"/>
                <a:cs typeface="Arial"/>
                <a:sym typeface="Arial"/>
              </a:rPr>
              <a:t>con Clases</a:t>
            </a:r>
            <a:endParaRPr/>
          </a:p>
        </p:txBody>
      </p:sp>
      <p:sp>
        <p:nvSpPr>
          <p:cNvPr id="225" name="Google Shape;225;p13"/>
          <p:cNvSpPr txBox="1"/>
          <p:nvPr/>
        </p:nvSpPr>
        <p:spPr>
          <a:xfrm>
            <a:off x="2709934" y="3036525"/>
            <a:ext cx="13421700" cy="6646200"/>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Clase C: Las direcciones IP de clase C se identificaban por tener los tres primeros bits en 110. Estas direcciones tenían un rango de 192.0.0.0 a 223.255.255.255. Los primeros tres octetos (24 bits) se reservaban para la identificación de la red, mientras que el último octeto (8 bits) se utilizaba para identificar hosts en esa red. Las direcciones de clase C se utilizaban para redes más pequeñas.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Clase D: Las direcciones IP de clase D se identificaban por tener los cuatro primeros bits en 1110. Estas direcciones se reservaban para multicast, lo que significa que se utilizaban para transmitir datos a múltiples destinos en una 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Clase E: Las direcciones IP de clase E se identificaban por tener los cuatro primeros bits en 1111. Estas direcciones se reservaban para uso experimental y futuro.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4"/>
          <p:cNvSpPr txBox="1"/>
          <p:nvPr/>
        </p:nvSpPr>
        <p:spPr>
          <a:xfrm>
            <a:off x="2433159" y="3744187"/>
            <a:ext cx="13421681" cy="37445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A medida que Internet creció, se hizo evidente que este enfoque de direccionamiento por clases no permitía un uso eficiente del espacio de direcciones IP. Se creó el direccionamiento CIDR para permitir una asignación más flexible de direcciones, permitiendo subredes y divisiones más precisas de bloques de direcciones IP. CIDR también introdujo la notación de "prefijo de red" que se usa comúnmente hoy en día (por ejemplo, 192.168.1.0/24), lo que facilita la descripción de rangos de direcciones IP y subredes. </a:t>
            </a:r>
            <a:endParaRPr/>
          </a:p>
        </p:txBody>
      </p:sp>
      <p:sp>
        <p:nvSpPr>
          <p:cNvPr id="231" name="Google Shape;231;p14"/>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Direccionamiento de </a:t>
            </a:r>
            <a:r>
              <a:rPr lang="en-US" sz="7899">
                <a:solidFill>
                  <a:srgbClr val="415AC6"/>
                </a:solidFill>
              </a:rPr>
              <a:t>IP </a:t>
            </a:r>
            <a:r>
              <a:rPr b="0" i="0" lang="en-US" sz="7899" u="none" cap="none" strike="noStrike">
                <a:solidFill>
                  <a:srgbClr val="415AC6"/>
                </a:solidFill>
                <a:latin typeface="Arial"/>
                <a:ea typeface="Arial"/>
                <a:cs typeface="Arial"/>
                <a:sym typeface="Arial"/>
              </a:rPr>
              <a:t>con Clases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p:nvPr/>
        </p:nvSpPr>
        <p:spPr>
          <a:xfrm>
            <a:off x="1028700" y="2482024"/>
            <a:ext cx="16230600" cy="6776276"/>
          </a:xfrm>
          <a:custGeom>
            <a:rect b="b" l="l" r="r" t="t"/>
            <a:pathLst>
              <a:path extrusionOk="0" h="6776276" w="16230600">
                <a:moveTo>
                  <a:pt x="0" y="0"/>
                </a:moveTo>
                <a:lnTo>
                  <a:pt x="16230600" y="0"/>
                </a:lnTo>
                <a:lnTo>
                  <a:pt x="16230600" y="6776276"/>
                </a:lnTo>
                <a:lnTo>
                  <a:pt x="0" y="6776276"/>
                </a:lnTo>
                <a:lnTo>
                  <a:pt x="0" y="0"/>
                </a:lnTo>
                <a:close/>
              </a:path>
            </a:pathLst>
          </a:custGeom>
          <a:blipFill rotWithShape="1">
            <a:blip r:embed="rId3">
              <a:alphaModFix/>
            </a:blip>
            <a:stretch>
              <a:fillRect b="0" l="0" r="0" t="0"/>
            </a:stretch>
          </a:blipFill>
          <a:ln>
            <a:noFill/>
          </a:ln>
        </p:spPr>
      </p:sp>
      <p:sp>
        <p:nvSpPr>
          <p:cNvPr id="237" name="Google Shape;237;p15"/>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Clases de Direcciones IP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p:nvPr/>
        </p:nvSpPr>
        <p:spPr>
          <a:xfrm>
            <a:off x="3945798" y="4241861"/>
            <a:ext cx="10989908" cy="5767753"/>
          </a:xfrm>
          <a:custGeom>
            <a:rect b="b" l="l" r="r" t="t"/>
            <a:pathLst>
              <a:path extrusionOk="0" h="5767753" w="10989908">
                <a:moveTo>
                  <a:pt x="0" y="0"/>
                </a:moveTo>
                <a:lnTo>
                  <a:pt x="10989908" y="0"/>
                </a:lnTo>
                <a:lnTo>
                  <a:pt x="10989908" y="5767753"/>
                </a:lnTo>
                <a:lnTo>
                  <a:pt x="0" y="5767753"/>
                </a:lnTo>
                <a:lnTo>
                  <a:pt x="0" y="0"/>
                </a:lnTo>
                <a:close/>
              </a:path>
            </a:pathLst>
          </a:custGeom>
          <a:blipFill rotWithShape="1">
            <a:blip r:embed="rId3">
              <a:alphaModFix/>
            </a:blip>
            <a:stretch>
              <a:fillRect b="0" l="0" r="0" t="0"/>
            </a:stretch>
          </a:blipFill>
          <a:ln>
            <a:noFill/>
          </a:ln>
        </p:spPr>
      </p:sp>
      <p:sp>
        <p:nvSpPr>
          <p:cNvPr id="243" name="Google Shape;243;p16"/>
          <p:cNvSpPr txBox="1"/>
          <p:nvPr/>
        </p:nvSpPr>
        <p:spPr>
          <a:xfrm>
            <a:off x="1028700" y="428625"/>
            <a:ext cx="15806400" cy="1215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Clases de Direcciones IP Privadas</a:t>
            </a:r>
            <a:endParaRPr/>
          </a:p>
        </p:txBody>
      </p:sp>
      <p:sp>
        <p:nvSpPr>
          <p:cNvPr id="244" name="Google Shape;244;p16"/>
          <p:cNvSpPr txBox="1"/>
          <p:nvPr/>
        </p:nvSpPr>
        <p:spPr>
          <a:xfrm>
            <a:off x="2433159" y="2830935"/>
            <a:ext cx="13421681" cy="14109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Dentro de la clasificación anterior existe un rango de direcciones que se encuentran reservadas para su uso en redes privadas, y, por lo tanto, no van a tener salida a Internet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nvSpPr>
        <p:spPr>
          <a:xfrm>
            <a:off x="1024309" y="1996447"/>
            <a:ext cx="13421681" cy="70116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Permite a los dispositivos de una red identificar y separar la dirección de red de la dirección de host.</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La máscara de subred define la cantidad de bits que se utilizan para representar la dirección de red y la cantidad de bits que se utilizan para representar la dirección de host en una dirección IP.</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Se escriba como una dirección IP, pero se utiliza para especificar qué parte de una dirección IP se considera la dirección de red y qué parte se considera la dirección de host. Ejemplo (255.255.0.0).</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Al utilizar una máscara de subred, los dispositivos de la red pueden identificar y separar correctamente la dirección de red y la dirección de host, lo que les permite enrutar los paquetes de datos a su destino correcto. </a:t>
            </a:r>
            <a:endParaRPr/>
          </a:p>
        </p:txBody>
      </p:sp>
      <p:sp>
        <p:nvSpPr>
          <p:cNvPr id="250" name="Google Shape;250;p17"/>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Máscara de Subred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8"/>
          <p:cNvSpPr txBox="1"/>
          <p:nvPr/>
        </p:nvSpPr>
        <p:spPr>
          <a:xfrm>
            <a:off x="2433159" y="2805922"/>
            <a:ext cx="13421681" cy="51447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CIDR (Classless Inter-Domain Routing) es un sistema de notación de direcciones IP que se utiliza para describir la longitud de la máscara de subred en una red de computadoras.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La notación CIDR se representa como una dirección IP seguida de una barra diagonal y un número, que indica la longitud de la máscara de subred en bits.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Por ejemplo, 192.168.1.0/24 es una notación CIDR que indica que la máscara de subred es de 24 bits, lo que significa que hay 8 bits disponibles para direcciones de host. </a:t>
            </a:r>
            <a:endParaRPr/>
          </a:p>
        </p:txBody>
      </p:sp>
      <p:sp>
        <p:nvSpPr>
          <p:cNvPr id="256" name="Google Shape;256;p18"/>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Notación CIDR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p:nvPr/>
        </p:nvSpPr>
        <p:spPr>
          <a:xfrm>
            <a:off x="9631572" y="164247"/>
            <a:ext cx="7627728" cy="9958506"/>
          </a:xfrm>
          <a:custGeom>
            <a:rect b="b" l="l" r="r" t="t"/>
            <a:pathLst>
              <a:path extrusionOk="0" h="9958506" w="7627728">
                <a:moveTo>
                  <a:pt x="0" y="0"/>
                </a:moveTo>
                <a:lnTo>
                  <a:pt x="7627728" y="0"/>
                </a:lnTo>
                <a:lnTo>
                  <a:pt x="7627728" y="9958506"/>
                </a:lnTo>
                <a:lnTo>
                  <a:pt x="0" y="9958506"/>
                </a:lnTo>
                <a:lnTo>
                  <a:pt x="0" y="0"/>
                </a:lnTo>
                <a:close/>
              </a:path>
            </a:pathLst>
          </a:custGeom>
          <a:blipFill rotWithShape="1">
            <a:blip r:embed="rId3">
              <a:alphaModFix/>
            </a:blip>
            <a:stretch>
              <a:fillRect b="-2811" l="0" r="0" t="0"/>
            </a:stretch>
          </a:blipFill>
          <a:ln>
            <a:noFill/>
          </a:ln>
        </p:spPr>
      </p:sp>
      <p:sp>
        <p:nvSpPr>
          <p:cNvPr id="262" name="Google Shape;262;p19"/>
          <p:cNvSpPr txBox="1"/>
          <p:nvPr/>
        </p:nvSpPr>
        <p:spPr>
          <a:xfrm>
            <a:off x="1028700" y="3943350"/>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Notación CIDR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p:nvPr/>
        </p:nvSpPr>
        <p:spPr>
          <a:xfrm>
            <a:off x="4675332" y="1953559"/>
            <a:ext cx="8937335" cy="7017583"/>
          </a:xfrm>
          <a:custGeom>
            <a:rect b="b" l="l" r="r" t="t"/>
            <a:pathLst>
              <a:path extrusionOk="0" h="7017583" w="8937335">
                <a:moveTo>
                  <a:pt x="0" y="0"/>
                </a:moveTo>
                <a:lnTo>
                  <a:pt x="8937336" y="0"/>
                </a:lnTo>
                <a:lnTo>
                  <a:pt x="8937336" y="7017583"/>
                </a:lnTo>
                <a:lnTo>
                  <a:pt x="0" y="7017583"/>
                </a:lnTo>
                <a:lnTo>
                  <a:pt x="0" y="0"/>
                </a:lnTo>
                <a:close/>
              </a:path>
            </a:pathLst>
          </a:custGeom>
          <a:blipFill rotWithShape="1">
            <a:blip r:embed="rId3">
              <a:alphaModFix/>
            </a:blip>
            <a:stretch>
              <a:fillRect b="0" l="0" r="0" t="0"/>
            </a:stretch>
          </a:blipFill>
          <a:ln>
            <a:noFill/>
          </a:ln>
        </p:spPr>
      </p:sp>
      <p:sp>
        <p:nvSpPr>
          <p:cNvPr id="268" name="Google Shape;268;p20"/>
          <p:cNvSpPr txBox="1"/>
          <p:nvPr/>
        </p:nvSpPr>
        <p:spPr>
          <a:xfrm>
            <a:off x="1028700" y="428625"/>
            <a:ext cx="14085000" cy="1215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lang="en-US" sz="7899">
                <a:solidFill>
                  <a:srgbClr val="415AC6"/>
                </a:solidFill>
              </a:rPr>
              <a:t>E</a:t>
            </a:r>
            <a:r>
              <a:rPr b="0" i="0" lang="en-US" sz="7899" u="none" cap="none" strike="noStrike">
                <a:solidFill>
                  <a:srgbClr val="415AC6"/>
                </a:solidFill>
                <a:latin typeface="Arial"/>
                <a:ea typeface="Arial"/>
                <a:cs typeface="Arial"/>
                <a:sym typeface="Arial"/>
              </a:rPr>
              <a:t>jemplo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nvSpPr>
        <p:spPr>
          <a:xfrm>
            <a:off x="1028700" y="2880702"/>
            <a:ext cx="260252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ID de Red:</a:t>
            </a:r>
            <a:endParaRPr/>
          </a:p>
        </p:txBody>
      </p:sp>
      <p:sp>
        <p:nvSpPr>
          <p:cNvPr id="274" name="Google Shape;274;p21"/>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¿Para qué sirve esto?</a:t>
            </a:r>
            <a:endParaRPr/>
          </a:p>
        </p:txBody>
      </p:sp>
      <p:sp>
        <p:nvSpPr>
          <p:cNvPr id="275" name="Google Shape;275;p21"/>
          <p:cNvSpPr txBox="1"/>
          <p:nvPr/>
        </p:nvSpPr>
        <p:spPr>
          <a:xfrm>
            <a:off x="1028700" y="2141683"/>
            <a:ext cx="15514735" cy="4774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Para una red con un host con IP 10.10.20.15/20 se puede determinar lo siguiente:</a:t>
            </a:r>
            <a:endParaRPr/>
          </a:p>
        </p:txBody>
      </p:sp>
      <p:sp>
        <p:nvSpPr>
          <p:cNvPr id="276" name="Google Shape;276;p21"/>
          <p:cNvSpPr txBox="1"/>
          <p:nvPr/>
        </p:nvSpPr>
        <p:spPr>
          <a:xfrm>
            <a:off x="6688204" y="3002973"/>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10.10.16.0</a:t>
            </a:r>
            <a:endParaRPr/>
          </a:p>
        </p:txBody>
      </p:sp>
      <p:sp>
        <p:nvSpPr>
          <p:cNvPr id="277" name="Google Shape;277;p21"/>
          <p:cNvSpPr txBox="1"/>
          <p:nvPr/>
        </p:nvSpPr>
        <p:spPr>
          <a:xfrm>
            <a:off x="1028700" y="3641967"/>
            <a:ext cx="4334707"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Máscara de subred:</a:t>
            </a:r>
            <a:endParaRPr/>
          </a:p>
        </p:txBody>
      </p:sp>
      <p:sp>
        <p:nvSpPr>
          <p:cNvPr id="278" name="Google Shape;278;p21"/>
          <p:cNvSpPr txBox="1"/>
          <p:nvPr/>
        </p:nvSpPr>
        <p:spPr>
          <a:xfrm>
            <a:off x="6688204" y="3764237"/>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255.255.240.0</a:t>
            </a:r>
            <a:endParaRPr/>
          </a:p>
        </p:txBody>
      </p:sp>
      <p:sp>
        <p:nvSpPr>
          <p:cNvPr id="279" name="Google Shape;279;p21"/>
          <p:cNvSpPr txBox="1"/>
          <p:nvPr/>
        </p:nvSpPr>
        <p:spPr>
          <a:xfrm>
            <a:off x="1028700" y="4406222"/>
            <a:ext cx="487601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Primer host disponible:</a:t>
            </a:r>
            <a:endParaRPr/>
          </a:p>
        </p:txBody>
      </p:sp>
      <p:sp>
        <p:nvSpPr>
          <p:cNvPr id="280" name="Google Shape;280;p21"/>
          <p:cNvSpPr txBox="1"/>
          <p:nvPr/>
        </p:nvSpPr>
        <p:spPr>
          <a:xfrm>
            <a:off x="6688204" y="4528493"/>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10.10.16.1</a:t>
            </a:r>
            <a:endParaRPr/>
          </a:p>
        </p:txBody>
      </p:sp>
      <p:sp>
        <p:nvSpPr>
          <p:cNvPr id="281" name="Google Shape;281;p21"/>
          <p:cNvSpPr txBox="1"/>
          <p:nvPr/>
        </p:nvSpPr>
        <p:spPr>
          <a:xfrm>
            <a:off x="1028700" y="5167486"/>
            <a:ext cx="5200798"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Último host disponible:</a:t>
            </a:r>
            <a:endParaRPr/>
          </a:p>
        </p:txBody>
      </p:sp>
      <p:sp>
        <p:nvSpPr>
          <p:cNvPr id="282" name="Google Shape;282;p21"/>
          <p:cNvSpPr txBox="1"/>
          <p:nvPr/>
        </p:nvSpPr>
        <p:spPr>
          <a:xfrm>
            <a:off x="6688204" y="5289757"/>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10.10.31.254</a:t>
            </a:r>
            <a:endParaRPr/>
          </a:p>
        </p:txBody>
      </p:sp>
      <p:sp>
        <p:nvSpPr>
          <p:cNvPr id="283" name="Google Shape;283;p21"/>
          <p:cNvSpPr txBox="1"/>
          <p:nvPr/>
        </p:nvSpPr>
        <p:spPr>
          <a:xfrm>
            <a:off x="1028700" y="5931742"/>
            <a:ext cx="4731665"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Dirección de broadcast:</a:t>
            </a:r>
            <a:endParaRPr/>
          </a:p>
        </p:txBody>
      </p:sp>
      <p:sp>
        <p:nvSpPr>
          <p:cNvPr id="284" name="Google Shape;284;p21"/>
          <p:cNvSpPr txBox="1"/>
          <p:nvPr/>
        </p:nvSpPr>
        <p:spPr>
          <a:xfrm>
            <a:off x="6688204" y="6054012"/>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10.10.31.255</a:t>
            </a:r>
            <a:endParaRPr/>
          </a:p>
        </p:txBody>
      </p:sp>
      <p:sp>
        <p:nvSpPr>
          <p:cNvPr id="285" name="Google Shape;285;p21"/>
          <p:cNvSpPr txBox="1"/>
          <p:nvPr/>
        </p:nvSpPr>
        <p:spPr>
          <a:xfrm>
            <a:off x="1028700" y="6695997"/>
            <a:ext cx="487601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Número de hosts:</a:t>
            </a:r>
            <a:endParaRPr/>
          </a:p>
        </p:txBody>
      </p:sp>
      <p:sp>
        <p:nvSpPr>
          <p:cNvPr id="286" name="Google Shape;286;p21"/>
          <p:cNvSpPr txBox="1"/>
          <p:nvPr/>
        </p:nvSpPr>
        <p:spPr>
          <a:xfrm>
            <a:off x="6688204" y="6818268"/>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4096</a:t>
            </a:r>
            <a:endParaRPr/>
          </a:p>
        </p:txBody>
      </p:sp>
      <p:sp>
        <p:nvSpPr>
          <p:cNvPr id="287" name="Google Shape;287;p21"/>
          <p:cNvSpPr txBox="1"/>
          <p:nvPr/>
        </p:nvSpPr>
        <p:spPr>
          <a:xfrm>
            <a:off x="1028700" y="7457261"/>
            <a:ext cx="565950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2955" u="none" cap="none" strike="noStrike">
                <a:solidFill>
                  <a:srgbClr val="000000"/>
                </a:solidFill>
                <a:latin typeface="Poppins"/>
                <a:ea typeface="Poppins"/>
                <a:cs typeface="Poppins"/>
                <a:sym typeface="Poppins"/>
              </a:rPr>
              <a:t>Número de hosts utilizables:</a:t>
            </a:r>
            <a:endParaRPr/>
          </a:p>
        </p:txBody>
      </p:sp>
      <p:sp>
        <p:nvSpPr>
          <p:cNvPr id="288" name="Google Shape;288;p21"/>
          <p:cNvSpPr txBox="1"/>
          <p:nvPr/>
        </p:nvSpPr>
        <p:spPr>
          <a:xfrm>
            <a:off x="6688204" y="7579532"/>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700" u="none" cap="none" strike="noStrike">
                <a:solidFill>
                  <a:srgbClr val="000000"/>
                </a:solidFill>
                <a:latin typeface="Poppins"/>
                <a:ea typeface="Poppins"/>
                <a:cs typeface="Poppins"/>
                <a:sym typeface="Poppins"/>
              </a:rPr>
              <a:t>Número de hosts - 2 : 4094</a:t>
            </a:r>
            <a:endParaRPr/>
          </a:p>
        </p:txBody>
      </p:sp>
      <p:sp>
        <p:nvSpPr>
          <p:cNvPr id="289" name="Google Shape;289;p21"/>
          <p:cNvSpPr txBox="1"/>
          <p:nvPr/>
        </p:nvSpPr>
        <p:spPr>
          <a:xfrm>
            <a:off x="1058027" y="8373917"/>
            <a:ext cx="7925105" cy="94420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Existen herramientas que pueden hacer estos cálculos fácilmente:</a:t>
            </a:r>
            <a:endParaRPr/>
          </a:p>
        </p:txBody>
      </p:sp>
      <p:sp>
        <p:nvSpPr>
          <p:cNvPr id="290" name="Google Shape;290;p21"/>
          <p:cNvSpPr txBox="1"/>
          <p:nvPr/>
        </p:nvSpPr>
        <p:spPr>
          <a:xfrm>
            <a:off x="1058027" y="9342798"/>
            <a:ext cx="10397073" cy="4774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sng" cap="none" strike="noStrike">
                <a:solidFill>
                  <a:srgbClr val="000000"/>
                </a:solidFill>
                <a:latin typeface="Poppins"/>
                <a:ea typeface="Poppins"/>
                <a:cs typeface="Poppins"/>
                <a:sym typeface="Poppins"/>
                <a:hlinkClick r:id="rId3">
                  <a:extLst>
                    <a:ext uri="{A12FA001-AC4F-418D-AE19-62706E023703}">
                      <ahyp:hlinkClr val="tx"/>
                    </a:ext>
                  </a:extLst>
                </a:hlinkClick>
              </a:rPr>
              <a:t>https://www.calculator.net/ip-subnet-calculator.html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nvSpPr>
        <p:spPr>
          <a:xfrm>
            <a:off x="1028700" y="2043922"/>
            <a:ext cx="16230600" cy="70116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el proceso de dividir una red IP en subredes más pequeñas, lo que permite una asignación más eficiente de direcciones IP y una mayor flexibilidad en el diseño de redes.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Se utiliza para dividir una red en segmentos más pequeños para mejorar el rendimiento, la seguridad y la administración de la 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Para realizar el subnetting, se puede dividir una red en subredes más pequeñas mediante la manipulación de la máscara de subred.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Al aumentar la longitud de la máscara de subred, se crean más subredes, pero con</a:t>
            </a:r>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menos direcciones IP disponibles en cada una.</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Por lo tanto, es importante planificar cuidadosamente la asignación de direcciones</a:t>
            </a:r>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IP y la cantidad de subredes necesarias según los requisitos de la red.</a:t>
            </a:r>
            <a:endParaRPr/>
          </a:p>
        </p:txBody>
      </p:sp>
      <p:sp>
        <p:nvSpPr>
          <p:cNvPr id="296" name="Google Shape;296;p22"/>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Subnetting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7899" u="none" cap="none" strike="noStrike">
                <a:solidFill>
                  <a:srgbClr val="415AC6"/>
                </a:solidFill>
                <a:latin typeface="Arial"/>
                <a:ea typeface="Arial"/>
                <a:cs typeface="Arial"/>
                <a:sym typeface="Arial"/>
              </a:rPr>
              <a:t>Ventajas del Subnetting</a:t>
            </a:r>
            <a:endParaRPr/>
          </a:p>
        </p:txBody>
      </p:sp>
      <p:sp>
        <p:nvSpPr>
          <p:cNvPr id="302" name="Google Shape;302;p23"/>
          <p:cNvSpPr txBox="1"/>
          <p:nvPr/>
        </p:nvSpPr>
        <p:spPr>
          <a:xfrm>
            <a:off x="1028700" y="2440665"/>
            <a:ext cx="16230600" cy="51447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El subnetting ofrece varias ventajas, como la optimización del uso de direcciones IP,</a:t>
            </a:r>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ya que permite una asignación más eficiente de direcciones IP en redes grandes o en redes con escasez de direcciones IP públicas.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Además, el subnetting puede mejorar la seguridad de la red al permitir la segmentación de la red en subredes más pequeñas, lo que reduce la superficie de ataque y facilita la implementación de políticas de seguridad específicas para cada subred.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También puede mejorar el rendimiento de la red al limitar la difusión de tráfico a</a:t>
            </a:r>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nivel de subred y reducir la congestión de la red.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nvSpPr>
        <p:spPr>
          <a:xfrm>
            <a:off x="1028700" y="2440665"/>
            <a:ext cx="16230600" cy="56114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un enfoque de subnetting en el que todas las subredes en una red tienen la misma cantidad fija de direcciones IP. Esto significa que todas las subredes tienen la misma cantidad de direcciones IP disponibles para asignar a dispositivos o hosts.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En FLSM, la máscara de subred se mantiene constante para todas las subredes y se aplica a toda la red. Por lo tanto, todas las subredes tienen la misma cantidad de direcciones IP, independientemente del tamaño o la ubicación de la subred en la 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El FLSM es un método más simple de subnetting y es ampliamente utilizado en redes pequeñas o redes donde los requisitos de direcciones IP son predecibles y no cambian con el tiempo.</a:t>
            </a:r>
            <a:endParaRPr/>
          </a:p>
        </p:txBody>
      </p:sp>
      <p:sp>
        <p:nvSpPr>
          <p:cNvPr id="308" name="Google Shape;308;p24"/>
          <p:cNvSpPr txBox="1"/>
          <p:nvPr/>
        </p:nvSpPr>
        <p:spPr>
          <a:xfrm>
            <a:off x="1038225"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415AC6"/>
                </a:solidFill>
                <a:latin typeface="Arial"/>
                <a:ea typeface="Arial"/>
                <a:cs typeface="Arial"/>
                <a:sym typeface="Arial"/>
              </a:rPr>
              <a:t>FLSM - Fixed Length Subnet Mask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5"/>
          <p:cNvSpPr txBox="1"/>
          <p:nvPr/>
        </p:nvSpPr>
        <p:spPr>
          <a:xfrm>
            <a:off x="1028700" y="2489891"/>
            <a:ext cx="16230600" cy="42112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Sin embargo, también tiene algunas limitaciones, como el desperdicio de direcciones IP en subredes más pequeñas que no utilizan todas las direcciones disponibles, lo que puede resultar en una asignación ineficiente de direcciones IP en redes grandes o en redes con requisitos de direcciones IP variables.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importante planificar cuidadosamente la asignación de direcciones IP y la cantidad de subredes y hosts por subred necesarios en el proceso de FLSM, para asegurar una asignación eficiente de direcciones IP y cumplir con los requisitos de la red.</a:t>
            </a:r>
            <a:endParaRPr/>
          </a:p>
        </p:txBody>
      </p:sp>
      <p:sp>
        <p:nvSpPr>
          <p:cNvPr id="314" name="Google Shape;314;p25"/>
          <p:cNvSpPr txBox="1"/>
          <p:nvPr/>
        </p:nvSpPr>
        <p:spPr>
          <a:xfrm>
            <a:off x="1028700"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415AC6"/>
                </a:solidFill>
                <a:latin typeface="Arial"/>
                <a:ea typeface="Arial"/>
                <a:cs typeface="Arial"/>
                <a:sym typeface="Arial"/>
              </a:rPr>
              <a:t>FLSM - Fixed Length Subnet Mask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6"/>
          <p:cNvSpPr txBox="1"/>
          <p:nvPr/>
        </p:nvSpPr>
        <p:spPr>
          <a:xfrm>
            <a:off x="1028700" y="2581444"/>
            <a:ext cx="16230600" cy="654490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Determinar la cantidad de subredes necesarias:</a:t>
            </a:r>
            <a:r>
              <a:rPr b="0" i="0" lang="en-US" sz="2467" u="none" cap="none" strike="noStrike">
                <a:solidFill>
                  <a:srgbClr val="000000"/>
                </a:solidFill>
                <a:latin typeface="Poppins"/>
                <a:ea typeface="Poppins"/>
                <a:cs typeface="Poppins"/>
                <a:sym typeface="Poppins"/>
              </a:rPr>
              <a:t> Esto se basa en los requisitos de la red y la cantidad de segmentos de red que se desean crear.</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Determinar la cantidad de hosts por subred:</a:t>
            </a:r>
            <a:r>
              <a:rPr b="0" i="0" lang="en-US" sz="2467" u="none" cap="none" strike="noStrike">
                <a:solidFill>
                  <a:srgbClr val="000000"/>
                </a:solidFill>
                <a:latin typeface="Poppins"/>
                <a:ea typeface="Poppins"/>
                <a:cs typeface="Poppins"/>
                <a:sym typeface="Poppins"/>
              </a:rPr>
              <a:t> Esto se basa en la cantidad de dispositivos o hosts que se esperan en cada subred.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Seleccionar una máscara de subred:</a:t>
            </a:r>
            <a:r>
              <a:rPr b="0" i="0" lang="en-US" sz="2467" u="none" cap="none" strike="noStrike">
                <a:solidFill>
                  <a:srgbClr val="000000"/>
                </a:solidFill>
                <a:latin typeface="Poppins"/>
                <a:ea typeface="Poppins"/>
                <a:cs typeface="Poppins"/>
                <a:sym typeface="Poppins"/>
              </a:rPr>
              <a:t> Se selecciona una máscara de subred que pueda acomodar la cantidad de subredes y la cantidad de hosts por subred determinados en los pasos anteriores.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Aplicar la máscara de subred:</a:t>
            </a:r>
            <a:r>
              <a:rPr b="0" i="0" lang="en-US" sz="2467" u="none" cap="none" strike="noStrike">
                <a:solidFill>
                  <a:srgbClr val="000000"/>
                </a:solidFill>
                <a:latin typeface="Poppins"/>
                <a:ea typeface="Poppins"/>
                <a:cs typeface="Poppins"/>
                <a:sym typeface="Poppins"/>
              </a:rPr>
              <a:t> La máscara de subred seleccionada se aplica a todas las subredes en la red, dividiendo la red en subredes más pequeñas con la misma cantidad fija de direcciones IP disponibles. </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p:txBody>
      </p:sp>
      <p:sp>
        <p:nvSpPr>
          <p:cNvPr id="320" name="Google Shape;320;p26"/>
          <p:cNvSpPr txBox="1"/>
          <p:nvPr/>
        </p:nvSpPr>
        <p:spPr>
          <a:xfrm>
            <a:off x="1028700" y="733425"/>
            <a:ext cx="154347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415AC6"/>
                </a:solidFill>
                <a:latin typeface="Arial"/>
                <a:ea typeface="Arial"/>
                <a:cs typeface="Arial"/>
                <a:sym typeface="Arial"/>
              </a:rPr>
              <a:t>¿</a:t>
            </a:r>
            <a:r>
              <a:rPr lang="en-US" sz="6000">
                <a:solidFill>
                  <a:srgbClr val="415AC6"/>
                </a:solidFill>
              </a:rPr>
              <a:t>Cómo</a:t>
            </a:r>
            <a:r>
              <a:rPr b="0" i="0" lang="en-US" sz="6000" u="none" cap="none" strike="noStrike">
                <a:solidFill>
                  <a:srgbClr val="415AC6"/>
                </a:solidFill>
                <a:latin typeface="Arial"/>
                <a:ea typeface="Arial"/>
                <a:cs typeface="Arial"/>
                <a:sym typeface="Arial"/>
              </a:rPr>
              <a:t> se implementa </a:t>
            </a:r>
            <a:r>
              <a:rPr lang="en-US" sz="6000">
                <a:solidFill>
                  <a:srgbClr val="415AC6"/>
                </a:solidFill>
              </a:rPr>
              <a:t>FLSM</a:t>
            </a:r>
            <a:r>
              <a:rPr b="0" i="0" lang="en-US" sz="6000" u="none" cap="none" strike="noStrike">
                <a:solidFill>
                  <a:srgbClr val="415AC6"/>
                </a:solidFill>
                <a:latin typeface="Arial"/>
                <a:ea typeface="Arial"/>
                <a:cs typeface="Arial"/>
                <a:sym typeface="Arial"/>
              </a:rPr>
              <a:t>?</a:t>
            </a:r>
            <a:endParaRPr/>
          </a:p>
        </p:txBody>
      </p:sp>
      <p:sp>
        <p:nvSpPr>
          <p:cNvPr id="321" name="Google Shape;321;p26"/>
          <p:cNvSpPr/>
          <p:nvPr/>
        </p:nvSpPr>
        <p:spPr>
          <a:xfrm>
            <a:off x="512131" y="2767294"/>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6"/>
          <p:cNvSpPr txBox="1"/>
          <p:nvPr/>
        </p:nvSpPr>
        <p:spPr>
          <a:xfrm>
            <a:off x="559154" y="2826401"/>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1</a:t>
            </a:r>
            <a:endParaRPr/>
          </a:p>
        </p:txBody>
      </p:sp>
      <p:sp>
        <p:nvSpPr>
          <p:cNvPr id="323" name="Google Shape;323;p26"/>
          <p:cNvSpPr/>
          <p:nvPr/>
        </p:nvSpPr>
        <p:spPr>
          <a:xfrm>
            <a:off x="512131" y="4101603"/>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6"/>
          <p:cNvSpPr txBox="1"/>
          <p:nvPr/>
        </p:nvSpPr>
        <p:spPr>
          <a:xfrm>
            <a:off x="559154" y="4160711"/>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2</a:t>
            </a:r>
            <a:endParaRPr/>
          </a:p>
        </p:txBody>
      </p:sp>
      <p:sp>
        <p:nvSpPr>
          <p:cNvPr id="325" name="Google Shape;325;p26"/>
          <p:cNvSpPr/>
          <p:nvPr/>
        </p:nvSpPr>
        <p:spPr>
          <a:xfrm>
            <a:off x="512131" y="5526646"/>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txBox="1"/>
          <p:nvPr/>
        </p:nvSpPr>
        <p:spPr>
          <a:xfrm>
            <a:off x="559154" y="5585754"/>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3</a:t>
            </a:r>
            <a:endParaRPr/>
          </a:p>
        </p:txBody>
      </p:sp>
      <p:sp>
        <p:nvSpPr>
          <p:cNvPr id="327" name="Google Shape;327;p26"/>
          <p:cNvSpPr/>
          <p:nvPr/>
        </p:nvSpPr>
        <p:spPr>
          <a:xfrm>
            <a:off x="512131" y="7367557"/>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6"/>
          <p:cNvSpPr txBox="1"/>
          <p:nvPr/>
        </p:nvSpPr>
        <p:spPr>
          <a:xfrm>
            <a:off x="559154" y="7426664"/>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7"/>
          <p:cNvSpPr txBox="1"/>
          <p:nvPr/>
        </p:nvSpPr>
        <p:spPr>
          <a:xfrm>
            <a:off x="1028700" y="2305179"/>
            <a:ext cx="16230600" cy="654490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un enfoque de subnetting en el que se utilizan máscaras de subred de diferentes</a:t>
            </a:r>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longitudes para crear subredes con diferentes tamaños y capacidades de direcciones IP.</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A diferencia del FLSM, donde todas las subredes tienen la misma cantidad de direcciones IP disponibles, en VLSM se puede asignar una cantidad variable de direcciones IP a cada subred según sus necesidades específicas.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VLSM permite una asignación más eficiente de direcciones IP en redes donde los requisitos de direcciones IP varían significativamente entre diferentes subredes.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Esto significa que se pueden crear subredes más grandes con más direcciones IP para redes que tienen más dispositivos o hosts, y subredes más pequeñas con menos direcciones IP para redes que tienen menos dispositivos o hosts.</a:t>
            </a:r>
            <a:endParaRPr/>
          </a:p>
        </p:txBody>
      </p:sp>
      <p:sp>
        <p:nvSpPr>
          <p:cNvPr id="334" name="Google Shape;334;p27"/>
          <p:cNvSpPr txBox="1"/>
          <p:nvPr/>
        </p:nvSpPr>
        <p:spPr>
          <a:xfrm>
            <a:off x="1028700"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415AC6"/>
                </a:solidFill>
                <a:latin typeface="Arial"/>
                <a:ea typeface="Arial"/>
                <a:cs typeface="Arial"/>
                <a:sym typeface="Arial"/>
              </a:rPr>
              <a:t>VLSM - Variable Length Subnet Mask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8"/>
          <p:cNvSpPr txBox="1"/>
          <p:nvPr/>
        </p:nvSpPr>
        <p:spPr>
          <a:xfrm>
            <a:off x="1028700" y="2985474"/>
            <a:ext cx="16230600" cy="42112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Esto ayuda a evitar el desperdicio de direcciones IP y permite una administración más precisa de las direcciones IP en la red.</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Sin embargo, también puede ser más complejo de configurar y administrar que el FLSM, ya que implica el uso de máscaras de subred de diferentes longitudes.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0" i="0" lang="en-US" sz="2467" u="none" cap="none" strike="noStrike">
                <a:solidFill>
                  <a:srgbClr val="000000"/>
                </a:solidFill>
                <a:latin typeface="Poppins"/>
                <a:ea typeface="Poppins"/>
                <a:cs typeface="Poppins"/>
                <a:sym typeface="Poppins"/>
              </a:rPr>
              <a:t>Es importante planificar cuidadosamente la asignación de direcciones IP y las máscaras de subred en el proceso de VLSM para asegurar una configuración correcta y cumplir con los requisitos de la red.</a:t>
            </a:r>
            <a:endParaRPr/>
          </a:p>
        </p:txBody>
      </p:sp>
      <p:sp>
        <p:nvSpPr>
          <p:cNvPr id="340" name="Google Shape;340;p28"/>
          <p:cNvSpPr txBox="1"/>
          <p:nvPr/>
        </p:nvSpPr>
        <p:spPr>
          <a:xfrm>
            <a:off x="1028700"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415AC6"/>
                </a:solidFill>
                <a:latin typeface="Arial"/>
                <a:ea typeface="Arial"/>
                <a:cs typeface="Arial"/>
                <a:sym typeface="Arial"/>
              </a:rPr>
              <a:t>VLSM - Variable Length Subnet Mask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9"/>
          <p:cNvSpPr txBox="1"/>
          <p:nvPr/>
        </p:nvSpPr>
        <p:spPr>
          <a:xfrm>
            <a:off x="1420586" y="2043922"/>
            <a:ext cx="16230600" cy="74783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Identificar y definir los requisitos de las subredes:</a:t>
            </a:r>
            <a:r>
              <a:rPr b="0" i="0" lang="en-US" sz="2467" u="none" cap="none" strike="noStrike">
                <a:solidFill>
                  <a:srgbClr val="000000"/>
                </a:solidFill>
                <a:latin typeface="Poppins"/>
                <a:ea typeface="Poppins"/>
                <a:cs typeface="Poppins"/>
                <a:sym typeface="Poppins"/>
              </a:rPr>
              <a:t> Esto implica determinar la cantidad de subredes necesarias y la cantidad de hosts que se esperan en cada subred, teniendo en cuenta los requisitos de la red, por último, ordenar las redes por la cantidad de hosts, de mayor a menor.</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Seleccionar las máscaras de subred adecuadas:</a:t>
            </a:r>
            <a:r>
              <a:rPr b="0" i="0" lang="en-US" sz="2467" u="none" cap="none" strike="noStrike">
                <a:solidFill>
                  <a:srgbClr val="000000"/>
                </a:solidFill>
                <a:latin typeface="Poppins"/>
                <a:ea typeface="Poppins"/>
                <a:cs typeface="Poppins"/>
                <a:sym typeface="Poppins"/>
              </a:rPr>
              <a:t> Seleccionar máscaras de subred de diferentes longitudes que puedan acomodar los requisitos de cada subred identificada en el paso anterior.</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Aplicar las máscaras de subred:</a:t>
            </a:r>
            <a:r>
              <a:rPr b="0" i="0" lang="en-US" sz="2467" u="none" cap="none" strike="noStrike">
                <a:solidFill>
                  <a:srgbClr val="000000"/>
                </a:solidFill>
                <a:latin typeface="Poppins"/>
                <a:ea typeface="Poppins"/>
                <a:cs typeface="Poppins"/>
                <a:sym typeface="Poppins"/>
              </a:rPr>
              <a:t> Aplicar las máscaras de subred seleccionadas a cada subred en la red, creando subredes con diferentes capacidades de direcciones IP según sus necesidades específicas.</a:t>
            </a:r>
            <a:endParaRPr/>
          </a:p>
          <a:p>
            <a:pPr indent="0" lvl="0" marL="0" marR="0" rtl="0" algn="just">
              <a:lnSpc>
                <a:spcPct val="150020"/>
              </a:lnSpc>
              <a:spcBef>
                <a:spcPts val="0"/>
              </a:spcBef>
              <a:spcAft>
                <a:spcPts val="0"/>
              </a:spcAft>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None/>
            </a:pPr>
            <a:r>
              <a:rPr b="1" i="0" lang="en-US" sz="2467" u="none" cap="none" strike="noStrike">
                <a:solidFill>
                  <a:srgbClr val="000000"/>
                </a:solidFill>
                <a:latin typeface="Poppins"/>
                <a:ea typeface="Poppins"/>
                <a:cs typeface="Poppins"/>
                <a:sym typeface="Poppins"/>
              </a:rPr>
              <a:t>Configurar los dispositivos de red:</a:t>
            </a:r>
            <a:r>
              <a:rPr b="0" i="0" lang="en-US" sz="2467" u="none" cap="none" strike="noStrike">
                <a:solidFill>
                  <a:srgbClr val="000000"/>
                </a:solidFill>
                <a:latin typeface="Poppins"/>
                <a:ea typeface="Poppins"/>
                <a:cs typeface="Poppins"/>
                <a:sym typeface="Poppins"/>
              </a:rPr>
              <a:t> Configurar los dispositivos de red, como routers y switches, con las máscaras de subred adecuadas en cada interfaz que está conectada a una subred.</a:t>
            </a:r>
            <a:endParaRPr/>
          </a:p>
        </p:txBody>
      </p:sp>
      <p:sp>
        <p:nvSpPr>
          <p:cNvPr id="346" name="Google Shape;346;p29"/>
          <p:cNvSpPr/>
          <p:nvPr/>
        </p:nvSpPr>
        <p:spPr>
          <a:xfrm>
            <a:off x="868629" y="2198903"/>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9"/>
          <p:cNvSpPr txBox="1"/>
          <p:nvPr/>
        </p:nvSpPr>
        <p:spPr>
          <a:xfrm>
            <a:off x="915652" y="2258010"/>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1</a:t>
            </a:r>
            <a:endParaRPr/>
          </a:p>
        </p:txBody>
      </p:sp>
      <p:sp>
        <p:nvSpPr>
          <p:cNvPr id="348" name="Google Shape;348;p29"/>
          <p:cNvSpPr/>
          <p:nvPr/>
        </p:nvSpPr>
        <p:spPr>
          <a:xfrm>
            <a:off x="868629" y="4537556"/>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9"/>
          <p:cNvSpPr txBox="1"/>
          <p:nvPr/>
        </p:nvSpPr>
        <p:spPr>
          <a:xfrm>
            <a:off x="915652" y="4596663"/>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2</a:t>
            </a:r>
            <a:endParaRPr/>
          </a:p>
        </p:txBody>
      </p:sp>
      <p:sp>
        <p:nvSpPr>
          <p:cNvPr id="350" name="Google Shape;350;p29"/>
          <p:cNvSpPr/>
          <p:nvPr/>
        </p:nvSpPr>
        <p:spPr>
          <a:xfrm>
            <a:off x="868629" y="6383275"/>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txBox="1"/>
          <p:nvPr/>
        </p:nvSpPr>
        <p:spPr>
          <a:xfrm>
            <a:off x="915652" y="6442383"/>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3</a:t>
            </a:r>
            <a:endParaRPr/>
          </a:p>
        </p:txBody>
      </p:sp>
      <p:sp>
        <p:nvSpPr>
          <p:cNvPr id="352" name="Google Shape;352;p29"/>
          <p:cNvSpPr/>
          <p:nvPr/>
        </p:nvSpPr>
        <p:spPr>
          <a:xfrm>
            <a:off x="868629" y="8265508"/>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9"/>
          <p:cNvSpPr txBox="1"/>
          <p:nvPr/>
        </p:nvSpPr>
        <p:spPr>
          <a:xfrm>
            <a:off x="915652" y="8324615"/>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None/>
            </a:pPr>
            <a:r>
              <a:rPr b="1" i="0" lang="en-US" sz="953" u="none" cap="none" strike="noStrike">
                <a:solidFill>
                  <a:srgbClr val="FFFFFF"/>
                </a:solidFill>
                <a:latin typeface="Poppins"/>
                <a:ea typeface="Poppins"/>
                <a:cs typeface="Poppins"/>
                <a:sym typeface="Poppins"/>
              </a:rPr>
              <a:t>4</a:t>
            </a:r>
            <a:endParaRPr/>
          </a:p>
        </p:txBody>
      </p:sp>
      <p:sp>
        <p:nvSpPr>
          <p:cNvPr id="354" name="Google Shape;354;p29"/>
          <p:cNvSpPr txBox="1"/>
          <p:nvPr/>
        </p:nvSpPr>
        <p:spPr>
          <a:xfrm>
            <a:off x="1028700" y="733425"/>
            <a:ext cx="154347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6000" u="none" cap="none" strike="noStrike">
                <a:solidFill>
                  <a:srgbClr val="415AC6"/>
                </a:solidFill>
                <a:latin typeface="Arial"/>
                <a:ea typeface="Arial"/>
                <a:cs typeface="Arial"/>
                <a:sym typeface="Arial"/>
              </a:rPr>
              <a:t>¿</a:t>
            </a:r>
            <a:r>
              <a:rPr lang="en-US" sz="6000">
                <a:solidFill>
                  <a:srgbClr val="415AC6"/>
                </a:solidFill>
              </a:rPr>
              <a:t>Cómo</a:t>
            </a:r>
            <a:r>
              <a:rPr b="0" i="0" lang="en-US" sz="6000" u="none" cap="none" strike="noStrike">
                <a:solidFill>
                  <a:srgbClr val="415AC6"/>
                </a:solidFill>
                <a:latin typeface="Arial"/>
                <a:ea typeface="Arial"/>
                <a:cs typeface="Arial"/>
                <a:sym typeface="Arial"/>
              </a:rPr>
              <a:t> se implementa V</a:t>
            </a:r>
            <a:r>
              <a:rPr lang="en-US" sz="6000">
                <a:solidFill>
                  <a:srgbClr val="415AC6"/>
                </a:solidFill>
              </a:rPr>
              <a:t>LSM</a:t>
            </a:r>
            <a:r>
              <a:rPr b="0" i="0" lang="en-US" sz="6000" u="none" cap="none" strike="noStrike">
                <a:solidFill>
                  <a:srgbClr val="415AC6"/>
                </a:solidFill>
                <a:latin typeface="Arial"/>
                <a:ea typeface="Arial"/>
                <a:cs typeface="Arial"/>
                <a:sym typeface="Arial"/>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0"/>
          <p:cNvSpPr/>
          <p:nvPr/>
        </p:nvSpPr>
        <p:spPr>
          <a:xfrm>
            <a:off x="1292022" y="1028700"/>
            <a:ext cx="7315200" cy="691619"/>
          </a:xfrm>
          <a:custGeom>
            <a:rect b="b" l="l" r="r" t="t"/>
            <a:pathLst>
              <a:path extrusionOk="0" h="691619" w="7315200">
                <a:moveTo>
                  <a:pt x="0" y="0"/>
                </a:moveTo>
                <a:lnTo>
                  <a:pt x="7315200" y="0"/>
                </a:lnTo>
                <a:lnTo>
                  <a:pt x="7315200" y="691619"/>
                </a:lnTo>
                <a:lnTo>
                  <a:pt x="0" y="691619"/>
                </a:lnTo>
                <a:lnTo>
                  <a:pt x="0" y="0"/>
                </a:lnTo>
                <a:close/>
              </a:path>
            </a:pathLst>
          </a:custGeom>
          <a:blipFill rotWithShape="1">
            <a:blip r:embed="rId3">
              <a:alphaModFix/>
            </a:blip>
            <a:stretch>
              <a:fillRect b="0" l="0" r="0" t="0"/>
            </a:stretch>
          </a:blipFill>
          <a:ln>
            <a:noFill/>
          </a:ln>
        </p:spPr>
      </p:sp>
      <p:sp>
        <p:nvSpPr>
          <p:cNvPr id="360" name="Google Shape;360;p30"/>
          <p:cNvSpPr/>
          <p:nvPr/>
        </p:nvSpPr>
        <p:spPr>
          <a:xfrm flipH="1">
            <a:off x="-120935" y="9258300"/>
            <a:ext cx="734258" cy="1187583"/>
          </a:xfrm>
          <a:custGeom>
            <a:rect b="b" l="l" r="r" t="t"/>
            <a:pathLst>
              <a:path extrusionOk="0" h="1187583" w="734258">
                <a:moveTo>
                  <a:pt x="734259" y="0"/>
                </a:moveTo>
                <a:lnTo>
                  <a:pt x="0" y="0"/>
                </a:lnTo>
                <a:lnTo>
                  <a:pt x="0" y="1187583"/>
                </a:lnTo>
                <a:lnTo>
                  <a:pt x="734259" y="1187583"/>
                </a:lnTo>
                <a:lnTo>
                  <a:pt x="734259" y="0"/>
                </a:lnTo>
                <a:close/>
              </a:path>
            </a:pathLst>
          </a:custGeom>
          <a:blipFill rotWithShape="1">
            <a:blip r:embed="rId4">
              <a:alphaModFix/>
            </a:blip>
            <a:stretch>
              <a:fillRect b="0" l="0" r="0" t="0"/>
            </a:stretch>
          </a:blipFill>
          <a:ln>
            <a:noFill/>
          </a:ln>
        </p:spPr>
      </p:sp>
      <p:sp>
        <p:nvSpPr>
          <p:cNvPr id="361" name="Google Shape;361;p30"/>
          <p:cNvSpPr/>
          <p:nvPr/>
        </p:nvSpPr>
        <p:spPr>
          <a:xfrm>
            <a:off x="17259300" y="4168923"/>
            <a:ext cx="296510" cy="2508928"/>
          </a:xfrm>
          <a:custGeom>
            <a:rect b="b" l="l" r="r" t="t"/>
            <a:pathLst>
              <a:path extrusionOk="0" h="2508928" w="296510">
                <a:moveTo>
                  <a:pt x="0" y="0"/>
                </a:moveTo>
                <a:lnTo>
                  <a:pt x="296510" y="0"/>
                </a:lnTo>
                <a:lnTo>
                  <a:pt x="296510" y="2508928"/>
                </a:lnTo>
                <a:lnTo>
                  <a:pt x="0" y="2508928"/>
                </a:lnTo>
                <a:lnTo>
                  <a:pt x="0" y="0"/>
                </a:lnTo>
                <a:close/>
              </a:path>
            </a:pathLst>
          </a:custGeom>
          <a:blipFill rotWithShape="1">
            <a:blip r:embed="rId5">
              <a:alphaModFix/>
            </a:blip>
            <a:stretch>
              <a:fillRect b="0" l="0" r="0" t="0"/>
            </a:stretch>
          </a:blipFill>
          <a:ln>
            <a:noFill/>
          </a:ln>
        </p:spPr>
      </p:sp>
      <p:sp>
        <p:nvSpPr>
          <p:cNvPr id="362" name="Google Shape;362;p30"/>
          <p:cNvSpPr/>
          <p:nvPr/>
        </p:nvSpPr>
        <p:spPr>
          <a:xfrm>
            <a:off x="246194" y="2825359"/>
            <a:ext cx="6053413" cy="5470084"/>
          </a:xfrm>
          <a:custGeom>
            <a:rect b="b" l="l" r="r" t="t"/>
            <a:pathLst>
              <a:path extrusionOk="0" h="5470084" w="6053413">
                <a:moveTo>
                  <a:pt x="0" y="0"/>
                </a:moveTo>
                <a:lnTo>
                  <a:pt x="6053413" y="0"/>
                </a:lnTo>
                <a:lnTo>
                  <a:pt x="6053413" y="5470084"/>
                </a:lnTo>
                <a:lnTo>
                  <a:pt x="0" y="5470084"/>
                </a:lnTo>
                <a:lnTo>
                  <a:pt x="0" y="0"/>
                </a:lnTo>
                <a:close/>
              </a:path>
            </a:pathLst>
          </a:custGeom>
          <a:blipFill rotWithShape="1">
            <a:blip r:embed="rId6">
              <a:alphaModFix/>
            </a:blip>
            <a:stretch>
              <a:fillRect b="0" l="0" r="0" t="0"/>
            </a:stretch>
          </a:blipFill>
          <a:ln>
            <a:noFill/>
          </a:ln>
        </p:spPr>
      </p:sp>
      <p:graphicFrame>
        <p:nvGraphicFramePr>
          <p:cNvPr id="363" name="Google Shape;363;p30"/>
          <p:cNvGraphicFramePr/>
          <p:nvPr/>
        </p:nvGraphicFramePr>
        <p:xfrm>
          <a:off x="6203059" y="2922242"/>
          <a:ext cx="3000000" cy="3000000"/>
        </p:xfrm>
        <a:graphic>
          <a:graphicData uri="http://schemas.openxmlformats.org/drawingml/2006/table">
            <a:tbl>
              <a:tblPr>
                <a:noFill/>
                <a:tableStyleId>{58BB7174-0767-40D5-939A-2182C66F6983}</a:tableStyleId>
              </a:tblPr>
              <a:tblGrid>
                <a:gridCol w="3473575"/>
                <a:gridCol w="3473575"/>
                <a:gridCol w="3473575"/>
              </a:tblGrid>
              <a:tr h="1026550">
                <a:tc>
                  <a:txBody>
                    <a:bodyPr/>
                    <a:lstStyle/>
                    <a:p>
                      <a:pPr indent="0" lvl="0" marL="0" marR="0" rtl="0" algn="ctr">
                        <a:lnSpc>
                          <a:spcPct val="140068"/>
                        </a:lnSpc>
                        <a:spcBef>
                          <a:spcPts val="0"/>
                        </a:spcBef>
                        <a:spcAft>
                          <a:spcPts val="0"/>
                        </a:spcAft>
                        <a:buNone/>
                      </a:pPr>
                      <a:r>
                        <a:rPr b="1" lang="en-US" sz="1762" u="none" cap="none" strike="noStrike">
                          <a:solidFill>
                            <a:srgbClr val="000000"/>
                          </a:solidFill>
                          <a:latin typeface="Montserrat"/>
                          <a:ea typeface="Montserrat"/>
                          <a:cs typeface="Montserrat"/>
                          <a:sym typeface="Montserrat"/>
                        </a:rPr>
                        <a:t>Característica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solidFill>
                      <a:srgbClr val="DECDFF"/>
                    </a:solidFill>
                  </a:tcPr>
                </a:tc>
                <a:tc>
                  <a:txBody>
                    <a:bodyPr/>
                    <a:lstStyle/>
                    <a:p>
                      <a:pPr indent="0" lvl="0" marL="0" marR="0" rtl="0" algn="ctr">
                        <a:lnSpc>
                          <a:spcPct val="140068"/>
                        </a:lnSpc>
                        <a:spcBef>
                          <a:spcPts val="0"/>
                        </a:spcBef>
                        <a:spcAft>
                          <a:spcPts val="0"/>
                        </a:spcAft>
                        <a:buNone/>
                      </a:pPr>
                      <a:r>
                        <a:rPr b="1" lang="en-US" sz="1762" u="none" cap="none" strike="noStrike">
                          <a:solidFill>
                            <a:srgbClr val="000000"/>
                          </a:solidFill>
                          <a:latin typeface="Montserrat"/>
                          <a:ea typeface="Montserrat"/>
                          <a:cs typeface="Montserrat"/>
                          <a:sym typeface="Montserrat"/>
                        </a:rPr>
                        <a:t>FLSM</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solidFill>
                      <a:srgbClr val="DECDFF"/>
                    </a:solidFill>
                  </a:tcPr>
                </a:tc>
                <a:tc>
                  <a:txBody>
                    <a:bodyPr/>
                    <a:lstStyle/>
                    <a:p>
                      <a:pPr indent="0" lvl="0" marL="0" marR="0" rtl="0" algn="ctr">
                        <a:lnSpc>
                          <a:spcPct val="140068"/>
                        </a:lnSpc>
                        <a:spcBef>
                          <a:spcPts val="0"/>
                        </a:spcBef>
                        <a:spcAft>
                          <a:spcPts val="0"/>
                        </a:spcAft>
                        <a:buNone/>
                      </a:pPr>
                      <a:r>
                        <a:rPr b="1" lang="en-US" sz="1762" u="none" cap="none" strike="noStrike">
                          <a:solidFill>
                            <a:srgbClr val="000000"/>
                          </a:solidFill>
                          <a:latin typeface="Montserrat"/>
                          <a:ea typeface="Montserrat"/>
                          <a:cs typeface="Montserrat"/>
                          <a:sym typeface="Montserrat"/>
                        </a:rPr>
                        <a:t>VLSM</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solidFill>
                      <a:srgbClr val="DECDFF"/>
                    </a:solidFill>
                  </a:tcPr>
                </a:tc>
              </a:tr>
              <a:tr h="1084100">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Máscara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Fija para todas las subredes.</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Variable según necesidad.</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r h="1084100">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Eficiencia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Puede desperdiciar direcciones.</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Optimiza direcciones IP.</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r h="1026550">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Flexibilidad</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Baja.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Alta.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r h="1084100">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Uso recomendado</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Redes simples y fáciles de administrar.</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None/>
                      </a:pPr>
                      <a:r>
                        <a:rPr lang="en-US" sz="1762" u="none" cap="none" strike="noStrike">
                          <a:solidFill>
                            <a:srgbClr val="000000"/>
                          </a:solidFill>
                          <a:latin typeface="Montserrat"/>
                          <a:ea typeface="Montserrat"/>
                          <a:cs typeface="Montserrat"/>
                          <a:sym typeface="Montserrat"/>
                        </a:rPr>
                        <a:t>Redes grandes y escalables.</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bl>
          </a:graphicData>
        </a:graphic>
      </p:graphicFrame>
      <p:sp>
        <p:nvSpPr>
          <p:cNvPr id="364" name="Google Shape;364;p30"/>
          <p:cNvSpPr txBox="1"/>
          <p:nvPr/>
        </p:nvSpPr>
        <p:spPr>
          <a:xfrm>
            <a:off x="2383392" y="1280665"/>
            <a:ext cx="2391841" cy="225790"/>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None/>
            </a:pPr>
            <a:r>
              <a:rPr b="1" i="0" lang="en-US" sz="1762" u="none" cap="none" strike="noStrike">
                <a:solidFill>
                  <a:srgbClr val="FFFFFF"/>
                </a:solidFill>
                <a:latin typeface="Montserrat"/>
                <a:ea typeface="Montserrat"/>
                <a:cs typeface="Montserrat"/>
                <a:sym typeface="Montserrat"/>
              </a:rPr>
              <a:t>STUDIO SHODWE</a:t>
            </a:r>
            <a:endParaRPr/>
          </a:p>
        </p:txBody>
      </p:sp>
      <p:sp>
        <p:nvSpPr>
          <p:cNvPr id="365" name="Google Shape;365;p30"/>
          <p:cNvSpPr txBox="1"/>
          <p:nvPr/>
        </p:nvSpPr>
        <p:spPr>
          <a:xfrm>
            <a:off x="9008073" y="239629"/>
            <a:ext cx="8251227" cy="2524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5500" u="none" cap="none" strike="noStrike">
                <a:solidFill>
                  <a:srgbClr val="415AC6"/>
                </a:solidFill>
                <a:latin typeface="Arial"/>
                <a:ea typeface="Arial"/>
                <a:cs typeface="Arial"/>
                <a:sym typeface="Arial"/>
              </a:rPr>
              <a:t>Diferencias y Establecimiento de Redes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1"/>
          <p:cNvSpPr/>
          <p:nvPr/>
        </p:nvSpPr>
        <p:spPr>
          <a:xfrm>
            <a:off x="1292022" y="1028700"/>
            <a:ext cx="7315200" cy="691619"/>
          </a:xfrm>
          <a:custGeom>
            <a:rect b="b" l="l" r="r" t="t"/>
            <a:pathLst>
              <a:path extrusionOk="0" h="691619" w="7315200">
                <a:moveTo>
                  <a:pt x="0" y="0"/>
                </a:moveTo>
                <a:lnTo>
                  <a:pt x="7315200" y="0"/>
                </a:lnTo>
                <a:lnTo>
                  <a:pt x="7315200" y="691619"/>
                </a:lnTo>
                <a:lnTo>
                  <a:pt x="0" y="691619"/>
                </a:lnTo>
                <a:lnTo>
                  <a:pt x="0" y="0"/>
                </a:lnTo>
                <a:close/>
              </a:path>
            </a:pathLst>
          </a:custGeom>
          <a:blipFill rotWithShape="1">
            <a:blip r:embed="rId3">
              <a:alphaModFix/>
            </a:blip>
            <a:stretch>
              <a:fillRect b="0" l="0" r="0" t="0"/>
            </a:stretch>
          </a:blipFill>
          <a:ln>
            <a:noFill/>
          </a:ln>
        </p:spPr>
      </p:sp>
      <p:sp>
        <p:nvSpPr>
          <p:cNvPr id="371" name="Google Shape;371;p31"/>
          <p:cNvSpPr/>
          <p:nvPr/>
        </p:nvSpPr>
        <p:spPr>
          <a:xfrm>
            <a:off x="13766505" y="8648294"/>
            <a:ext cx="3970453" cy="1220012"/>
          </a:xfrm>
          <a:custGeom>
            <a:rect b="b" l="l" r="r" t="t"/>
            <a:pathLst>
              <a:path extrusionOk="0" h="1220012" w="3970453">
                <a:moveTo>
                  <a:pt x="0" y="0"/>
                </a:moveTo>
                <a:lnTo>
                  <a:pt x="3970453" y="0"/>
                </a:lnTo>
                <a:lnTo>
                  <a:pt x="3970453" y="1220012"/>
                </a:lnTo>
                <a:lnTo>
                  <a:pt x="0" y="1220012"/>
                </a:lnTo>
                <a:lnTo>
                  <a:pt x="0" y="0"/>
                </a:lnTo>
                <a:close/>
              </a:path>
            </a:pathLst>
          </a:custGeom>
          <a:blipFill rotWithShape="1">
            <a:blip r:embed="rId4">
              <a:alphaModFix/>
            </a:blip>
            <a:stretch>
              <a:fillRect b="0" l="0" r="0" t="0"/>
            </a:stretch>
          </a:blipFill>
          <a:ln>
            <a:noFill/>
          </a:ln>
        </p:spPr>
      </p:sp>
      <p:sp>
        <p:nvSpPr>
          <p:cNvPr id="372" name="Google Shape;372;p31"/>
          <p:cNvSpPr/>
          <p:nvPr/>
        </p:nvSpPr>
        <p:spPr>
          <a:xfrm flipH="1">
            <a:off x="-120935" y="9258300"/>
            <a:ext cx="734258" cy="1187583"/>
          </a:xfrm>
          <a:custGeom>
            <a:rect b="b" l="l" r="r" t="t"/>
            <a:pathLst>
              <a:path extrusionOk="0" h="1187583" w="734258">
                <a:moveTo>
                  <a:pt x="734259" y="0"/>
                </a:moveTo>
                <a:lnTo>
                  <a:pt x="0" y="0"/>
                </a:lnTo>
                <a:lnTo>
                  <a:pt x="0" y="1187583"/>
                </a:lnTo>
                <a:lnTo>
                  <a:pt x="734259" y="1187583"/>
                </a:lnTo>
                <a:lnTo>
                  <a:pt x="734259" y="0"/>
                </a:lnTo>
                <a:close/>
              </a:path>
            </a:pathLst>
          </a:custGeom>
          <a:blipFill rotWithShape="1">
            <a:blip r:embed="rId5">
              <a:alphaModFix/>
            </a:blip>
            <a:stretch>
              <a:fillRect b="0" l="0" r="0" t="0"/>
            </a:stretch>
          </a:blipFill>
          <a:ln>
            <a:noFill/>
          </a:ln>
        </p:spPr>
      </p:sp>
      <p:sp>
        <p:nvSpPr>
          <p:cNvPr id="373" name="Google Shape;373;p31"/>
          <p:cNvSpPr/>
          <p:nvPr/>
        </p:nvSpPr>
        <p:spPr>
          <a:xfrm>
            <a:off x="17336195" y="1242565"/>
            <a:ext cx="296510" cy="2508928"/>
          </a:xfrm>
          <a:custGeom>
            <a:rect b="b" l="l" r="r" t="t"/>
            <a:pathLst>
              <a:path extrusionOk="0" h="2508928" w="296510">
                <a:moveTo>
                  <a:pt x="0" y="0"/>
                </a:moveTo>
                <a:lnTo>
                  <a:pt x="296509" y="0"/>
                </a:lnTo>
                <a:lnTo>
                  <a:pt x="296509" y="2508927"/>
                </a:lnTo>
                <a:lnTo>
                  <a:pt x="0" y="2508927"/>
                </a:lnTo>
                <a:lnTo>
                  <a:pt x="0" y="0"/>
                </a:lnTo>
                <a:close/>
              </a:path>
            </a:pathLst>
          </a:custGeom>
          <a:blipFill rotWithShape="1">
            <a:blip r:embed="rId6">
              <a:alphaModFix/>
            </a:blip>
            <a:stretch>
              <a:fillRect b="0" l="0" r="0" t="0"/>
            </a:stretch>
          </a:blipFill>
          <a:ln>
            <a:noFill/>
          </a:ln>
        </p:spPr>
      </p:sp>
      <p:sp>
        <p:nvSpPr>
          <p:cNvPr id="374" name="Google Shape;374;p31"/>
          <p:cNvSpPr/>
          <p:nvPr/>
        </p:nvSpPr>
        <p:spPr>
          <a:xfrm>
            <a:off x="-241884" y="3947393"/>
            <a:ext cx="2541169" cy="2476071"/>
          </a:xfrm>
          <a:custGeom>
            <a:rect b="b" l="l" r="r" t="t"/>
            <a:pathLst>
              <a:path extrusionOk="0" h="2476071" w="2541169">
                <a:moveTo>
                  <a:pt x="0" y="0"/>
                </a:moveTo>
                <a:lnTo>
                  <a:pt x="2541168" y="0"/>
                </a:lnTo>
                <a:lnTo>
                  <a:pt x="2541168" y="2476072"/>
                </a:lnTo>
                <a:lnTo>
                  <a:pt x="0" y="2476072"/>
                </a:lnTo>
                <a:lnTo>
                  <a:pt x="0" y="0"/>
                </a:lnTo>
                <a:close/>
              </a:path>
            </a:pathLst>
          </a:custGeom>
          <a:blipFill rotWithShape="1">
            <a:blip r:embed="rId7">
              <a:alphaModFix/>
            </a:blip>
            <a:stretch>
              <a:fillRect b="0" l="0" r="0" t="0"/>
            </a:stretch>
          </a:blipFill>
          <a:ln>
            <a:noFill/>
          </a:ln>
        </p:spPr>
      </p:sp>
      <p:sp>
        <p:nvSpPr>
          <p:cNvPr id="375" name="Google Shape;375;p31"/>
          <p:cNvSpPr/>
          <p:nvPr/>
        </p:nvSpPr>
        <p:spPr>
          <a:xfrm>
            <a:off x="10732690" y="2834874"/>
            <a:ext cx="6486924" cy="5201334"/>
          </a:xfrm>
          <a:custGeom>
            <a:rect b="b" l="l" r="r" t="t"/>
            <a:pathLst>
              <a:path extrusionOk="0" h="5201334" w="6486924">
                <a:moveTo>
                  <a:pt x="0" y="0"/>
                </a:moveTo>
                <a:lnTo>
                  <a:pt x="6486924" y="0"/>
                </a:lnTo>
                <a:lnTo>
                  <a:pt x="6486924" y="5201334"/>
                </a:lnTo>
                <a:lnTo>
                  <a:pt x="0" y="5201334"/>
                </a:lnTo>
                <a:lnTo>
                  <a:pt x="0" y="0"/>
                </a:lnTo>
                <a:close/>
              </a:path>
            </a:pathLst>
          </a:custGeom>
          <a:blipFill rotWithShape="1">
            <a:blip r:embed="rId8">
              <a:alphaModFix/>
            </a:blip>
            <a:stretch>
              <a:fillRect b="0" l="0" r="0" t="0"/>
            </a:stretch>
          </a:blipFill>
          <a:ln>
            <a:noFill/>
          </a:ln>
        </p:spPr>
      </p:sp>
      <p:sp>
        <p:nvSpPr>
          <p:cNvPr id="376" name="Google Shape;376;p31"/>
          <p:cNvSpPr txBox="1"/>
          <p:nvPr/>
        </p:nvSpPr>
        <p:spPr>
          <a:xfrm>
            <a:off x="2383392" y="1280665"/>
            <a:ext cx="2391841" cy="225757"/>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None/>
            </a:pPr>
            <a:r>
              <a:rPr b="1" i="0" lang="en-US" sz="1762" u="none" cap="none" strike="noStrike">
                <a:solidFill>
                  <a:srgbClr val="FFFFFF"/>
                </a:solidFill>
                <a:latin typeface="Montserrat"/>
                <a:ea typeface="Montserrat"/>
                <a:cs typeface="Montserrat"/>
                <a:sym typeface="Montserrat"/>
              </a:rPr>
              <a:t>REDES 1</a:t>
            </a:r>
            <a:endParaRPr/>
          </a:p>
        </p:txBody>
      </p:sp>
      <p:sp>
        <p:nvSpPr>
          <p:cNvPr id="377" name="Google Shape;377;p31"/>
          <p:cNvSpPr txBox="1"/>
          <p:nvPr/>
        </p:nvSpPr>
        <p:spPr>
          <a:xfrm>
            <a:off x="14352167" y="9191324"/>
            <a:ext cx="2547340" cy="1529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49" u="none" cap="none" strike="noStrike">
                <a:solidFill>
                  <a:srgbClr val="5555AB"/>
                </a:solidFill>
                <a:latin typeface="Montserrat"/>
                <a:ea typeface="Montserrat"/>
                <a:cs typeface="Montserrat"/>
                <a:sym typeface="Montserrat"/>
              </a:rPr>
              <a:t>WWW.REDES1.COM</a:t>
            </a:r>
            <a:endParaRPr/>
          </a:p>
        </p:txBody>
      </p:sp>
      <p:sp>
        <p:nvSpPr>
          <p:cNvPr id="378" name="Google Shape;378;p31"/>
          <p:cNvSpPr txBox="1"/>
          <p:nvPr/>
        </p:nvSpPr>
        <p:spPr>
          <a:xfrm>
            <a:off x="2818162" y="4034322"/>
            <a:ext cx="8433406" cy="4001886"/>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0" i="0" lang="en-US" sz="6564" u="none" cap="none" strike="noStrike">
                <a:solidFill>
                  <a:srgbClr val="415AC6"/>
                </a:solidFill>
                <a:latin typeface="Arial"/>
                <a:ea typeface="Arial"/>
                <a:cs typeface="Arial"/>
                <a:sym typeface="Arial"/>
              </a:rPr>
              <a:t>APLICACIONES POR MEDIO DE EJEMPLOS</a:t>
            </a:r>
            <a:endParaRPr/>
          </a:p>
          <a:p>
            <a:pPr indent="0" lvl="0" marL="0" marR="0" rtl="0" algn="l">
              <a:lnSpc>
                <a:spcPct val="120003"/>
              </a:lnSpc>
              <a:spcBef>
                <a:spcPts val="0"/>
              </a:spcBef>
              <a:spcAft>
                <a:spcPts val="0"/>
              </a:spcAft>
              <a:buNone/>
            </a:pPr>
            <a:r>
              <a:t/>
            </a:r>
            <a:endParaRPr b="0" i="0" sz="6564" u="none" cap="none" strike="noStrike">
              <a:solidFill>
                <a:srgbClr val="415AC6"/>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2"/>
          <p:cNvSpPr txBox="1"/>
          <p:nvPr/>
        </p:nvSpPr>
        <p:spPr>
          <a:xfrm>
            <a:off x="1987638" y="837260"/>
            <a:ext cx="14876400" cy="1782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1580">
                <a:solidFill>
                  <a:srgbClr val="415AC6"/>
                </a:solidFill>
              </a:rPr>
              <a:t>E</a:t>
            </a:r>
            <a:r>
              <a:rPr b="0" i="0" lang="en-US" sz="11580" u="none" cap="none" strike="noStrike">
                <a:solidFill>
                  <a:srgbClr val="415AC6"/>
                </a:solidFill>
                <a:latin typeface="Arial"/>
                <a:ea typeface="Arial"/>
                <a:cs typeface="Arial"/>
                <a:sym typeface="Arial"/>
              </a:rPr>
              <a:t>jemplo FLSM</a:t>
            </a:r>
            <a:endParaRPr/>
          </a:p>
        </p:txBody>
      </p:sp>
      <p:sp>
        <p:nvSpPr>
          <p:cNvPr id="384" name="Google Shape;384;p32"/>
          <p:cNvSpPr txBox="1"/>
          <p:nvPr/>
        </p:nvSpPr>
        <p:spPr>
          <a:xfrm>
            <a:off x="1331563" y="4149943"/>
            <a:ext cx="15104801" cy="2987115"/>
          </a:xfrm>
          <a:prstGeom prst="rect">
            <a:avLst/>
          </a:prstGeom>
          <a:noFill/>
          <a:ln>
            <a:noFill/>
          </a:ln>
        </p:spPr>
        <p:txBody>
          <a:bodyPr anchorCtr="0" anchor="t" bIns="0" lIns="0" spcFirstLastPara="1" rIns="0" wrap="square" tIns="0">
            <a:spAutoFit/>
          </a:bodyPr>
          <a:lstStyle/>
          <a:p>
            <a:pPr indent="0" lvl="0" marL="0" marR="0" rtl="0" algn="ctr">
              <a:lnSpc>
                <a:spcPct val="149990"/>
              </a:lnSpc>
              <a:spcBef>
                <a:spcPts val="0"/>
              </a:spcBef>
              <a:spcAft>
                <a:spcPts val="0"/>
              </a:spcAft>
              <a:buNone/>
            </a:pPr>
            <a:r>
              <a:rPr b="0" i="0" lang="en-US" sz="5325" u="none" cap="none" strike="noStrike">
                <a:solidFill>
                  <a:srgbClr val="415AC6"/>
                </a:solidFill>
                <a:latin typeface="Poppins"/>
                <a:ea typeface="Poppins"/>
                <a:cs typeface="Poppins"/>
                <a:sym typeface="Poppins"/>
              </a:rPr>
              <a:t>Una empresa tiene 4 sucursales y cada una necesita 50 dispositivos en su red. Se tiene la red 192.168.1.0 /24.</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3"/>
          <p:cNvSpPr txBox="1"/>
          <p:nvPr/>
        </p:nvSpPr>
        <p:spPr>
          <a:xfrm>
            <a:off x="1028700" y="3027835"/>
            <a:ext cx="16744879" cy="2967120"/>
          </a:xfrm>
          <a:prstGeom prst="rect">
            <a:avLst/>
          </a:prstGeom>
          <a:noFill/>
          <a:ln>
            <a:noFill/>
          </a:ln>
        </p:spPr>
        <p:txBody>
          <a:bodyPr anchorCtr="0" anchor="t" bIns="0" lIns="0" spcFirstLastPara="1" rIns="0" wrap="square" tIns="0">
            <a:spAutoFit/>
          </a:bodyPr>
          <a:lstStyle/>
          <a:p>
            <a:pPr indent="-283136" lvl="1" marL="566273" marR="0" rtl="0" algn="l">
              <a:lnSpc>
                <a:spcPct val="150038"/>
              </a:lnSpc>
              <a:spcBef>
                <a:spcPts val="0"/>
              </a:spcBef>
              <a:spcAft>
                <a:spcPts val="0"/>
              </a:spcAft>
              <a:buClr>
                <a:srgbClr val="000000"/>
              </a:buClr>
              <a:buSzPts val="2622"/>
              <a:buFont typeface="Arial"/>
              <a:buChar char="•"/>
            </a:pPr>
            <a:r>
              <a:rPr b="0" i="0" lang="en-US" sz="2622" u="none" cap="none" strike="noStrike">
                <a:solidFill>
                  <a:srgbClr val="000000"/>
                </a:solidFill>
                <a:latin typeface="Poppins"/>
                <a:ea typeface="Poppins"/>
                <a:cs typeface="Poppins"/>
                <a:sym typeface="Poppins"/>
              </a:rPr>
              <a:t>Como cada sucursal necesita 50 IPs, seleccionamos una máscara que brinde al menos 50 direcciones.</a:t>
            </a:r>
            <a:endParaRPr/>
          </a:p>
          <a:p>
            <a:pPr indent="-283136" lvl="1" marL="566273" marR="0" rtl="0" algn="l">
              <a:lnSpc>
                <a:spcPct val="150038"/>
              </a:lnSpc>
              <a:spcBef>
                <a:spcPts val="0"/>
              </a:spcBef>
              <a:spcAft>
                <a:spcPts val="0"/>
              </a:spcAft>
              <a:buClr>
                <a:srgbClr val="000000"/>
              </a:buClr>
              <a:buSzPts val="2622"/>
              <a:buFont typeface="Arial"/>
              <a:buChar char="•"/>
            </a:pPr>
            <a:r>
              <a:rPr b="0" i="0" lang="en-US" sz="2622" u="none" cap="none" strike="noStrike">
                <a:solidFill>
                  <a:srgbClr val="000000"/>
                </a:solidFill>
                <a:latin typeface="Poppins"/>
                <a:ea typeface="Poppins"/>
                <a:cs typeface="Poppins"/>
                <a:sym typeface="Poppins"/>
              </a:rPr>
              <a:t>La subred más cercana es /26 (que da 64 hosts por subred: 62 útiles).</a:t>
            </a:r>
            <a:endParaRPr/>
          </a:p>
          <a:p>
            <a:pPr indent="0" lvl="0" marL="0" marR="0" rtl="0" algn="l">
              <a:lnSpc>
                <a:spcPct val="150038"/>
              </a:lnSpc>
              <a:spcBef>
                <a:spcPts val="0"/>
              </a:spcBef>
              <a:spcAft>
                <a:spcPts val="0"/>
              </a:spcAft>
              <a:buNone/>
            </a:pPr>
            <a:r>
              <a:t/>
            </a:r>
            <a:endParaRPr b="0" i="0" sz="2622" u="none" cap="none" strike="noStrike">
              <a:solidFill>
                <a:srgbClr val="000000"/>
              </a:solidFill>
              <a:latin typeface="Poppins"/>
              <a:ea typeface="Poppins"/>
              <a:cs typeface="Poppins"/>
              <a:sym typeface="Poppins"/>
            </a:endParaRPr>
          </a:p>
          <a:p>
            <a:pPr indent="-283136" lvl="1" marL="566273" marR="0" rtl="0" algn="l">
              <a:lnSpc>
                <a:spcPct val="150038"/>
              </a:lnSpc>
              <a:spcBef>
                <a:spcPts val="0"/>
              </a:spcBef>
              <a:spcAft>
                <a:spcPts val="0"/>
              </a:spcAft>
              <a:buClr>
                <a:srgbClr val="000000"/>
              </a:buClr>
              <a:buSzPts val="2622"/>
              <a:buFont typeface="Arial"/>
              <a:buChar char="•"/>
            </a:pPr>
            <a:r>
              <a:rPr b="0" i="0" lang="en-US" sz="2622" u="none" cap="none" strike="noStrike">
                <a:solidFill>
                  <a:srgbClr val="000000"/>
                </a:solidFill>
                <a:latin typeface="Poppins"/>
                <a:ea typeface="Poppins"/>
                <a:cs typeface="Poppins"/>
                <a:sym typeface="Poppins"/>
              </a:rPr>
              <a:t>Se dividen las subredes así:</a:t>
            </a:r>
            <a:endParaRPr/>
          </a:p>
          <a:p>
            <a:pPr indent="0" lvl="0" marL="0" marR="0" rtl="0" algn="l">
              <a:lnSpc>
                <a:spcPct val="150038"/>
              </a:lnSpc>
              <a:spcBef>
                <a:spcPts val="0"/>
              </a:spcBef>
              <a:spcAft>
                <a:spcPts val="0"/>
              </a:spcAft>
              <a:buNone/>
            </a:pPr>
            <a:r>
              <a:t/>
            </a:r>
            <a:endParaRPr b="0" i="0" sz="2622" u="none" cap="none" strike="noStrike">
              <a:solidFill>
                <a:srgbClr val="000000"/>
              </a:solidFill>
              <a:latin typeface="Poppins"/>
              <a:ea typeface="Poppins"/>
              <a:cs typeface="Poppins"/>
              <a:sym typeface="Poppins"/>
            </a:endParaRPr>
          </a:p>
        </p:txBody>
      </p:sp>
      <p:sp>
        <p:nvSpPr>
          <p:cNvPr id="390" name="Google Shape;390;p33"/>
          <p:cNvSpPr txBox="1"/>
          <p:nvPr/>
        </p:nvSpPr>
        <p:spPr>
          <a:xfrm>
            <a:off x="1028700" y="1028700"/>
            <a:ext cx="14876400" cy="1782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1580">
                <a:solidFill>
                  <a:srgbClr val="415AC6"/>
                </a:solidFill>
              </a:rPr>
              <a:t>S</a:t>
            </a:r>
            <a:r>
              <a:rPr b="0" i="0" lang="en-US" sz="11580" u="none" cap="none" strike="noStrike">
                <a:solidFill>
                  <a:srgbClr val="415AC6"/>
                </a:solidFill>
                <a:latin typeface="Arial"/>
                <a:ea typeface="Arial"/>
                <a:cs typeface="Arial"/>
                <a:sym typeface="Arial"/>
              </a:rPr>
              <a:t>olución   FLSM</a:t>
            </a:r>
            <a:endParaRPr/>
          </a:p>
        </p:txBody>
      </p:sp>
      <p:sp>
        <p:nvSpPr>
          <p:cNvPr id="391" name="Google Shape;391;p33"/>
          <p:cNvSpPr txBox="1"/>
          <p:nvPr/>
        </p:nvSpPr>
        <p:spPr>
          <a:xfrm>
            <a:off x="1300649" y="5885042"/>
            <a:ext cx="11762100" cy="3789900"/>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0" i="0" lang="en-US" sz="2619" u="none" cap="none" strike="noStrike">
                <a:solidFill>
                  <a:srgbClr val="000000"/>
                </a:solidFill>
                <a:latin typeface="Open Sans"/>
                <a:ea typeface="Open Sans"/>
                <a:cs typeface="Open Sans"/>
                <a:sym typeface="Open Sans"/>
              </a:rPr>
              <a:t>192.168.1.0/26 → Sucursal 1</a:t>
            </a:r>
            <a:endParaRPr/>
          </a:p>
          <a:p>
            <a:pPr indent="0" lvl="0" marL="0" marR="0" rtl="0" algn="ctr">
              <a:lnSpc>
                <a:spcPct val="140015"/>
              </a:lnSpc>
              <a:spcBef>
                <a:spcPts val="0"/>
              </a:spcBef>
              <a:spcAft>
                <a:spcPts val="0"/>
              </a:spcAft>
              <a:buNone/>
            </a:pPr>
            <a:r>
              <a:rPr b="0" i="0" lang="en-US" sz="2619" u="none" cap="none" strike="noStrike">
                <a:solidFill>
                  <a:srgbClr val="000000"/>
                </a:solidFill>
                <a:latin typeface="Open Sans"/>
                <a:ea typeface="Open Sans"/>
                <a:cs typeface="Open Sans"/>
                <a:sym typeface="Open Sans"/>
              </a:rPr>
              <a:t>192.168.1.64/26 → Sucursal 2</a:t>
            </a:r>
            <a:endParaRPr/>
          </a:p>
          <a:p>
            <a:pPr indent="0" lvl="0" marL="0" marR="0" rtl="0" algn="ctr">
              <a:lnSpc>
                <a:spcPct val="140015"/>
              </a:lnSpc>
              <a:spcBef>
                <a:spcPts val="0"/>
              </a:spcBef>
              <a:spcAft>
                <a:spcPts val="0"/>
              </a:spcAft>
              <a:buNone/>
            </a:pPr>
            <a:r>
              <a:rPr b="0" i="0" lang="en-US" sz="2619" u="none" cap="none" strike="noStrike">
                <a:solidFill>
                  <a:srgbClr val="000000"/>
                </a:solidFill>
                <a:latin typeface="Open Sans"/>
                <a:ea typeface="Open Sans"/>
                <a:cs typeface="Open Sans"/>
                <a:sym typeface="Open Sans"/>
              </a:rPr>
              <a:t>192.168.1.128/26 → Sucursal 3</a:t>
            </a:r>
            <a:endParaRPr/>
          </a:p>
          <a:p>
            <a:pPr indent="0" lvl="0" marL="0" marR="0" rtl="0" algn="ctr">
              <a:lnSpc>
                <a:spcPct val="140015"/>
              </a:lnSpc>
              <a:spcBef>
                <a:spcPts val="0"/>
              </a:spcBef>
              <a:spcAft>
                <a:spcPts val="0"/>
              </a:spcAft>
              <a:buNone/>
            </a:pPr>
            <a:r>
              <a:rPr b="0" i="0" lang="en-US" sz="2619" u="none" cap="none" strike="noStrike">
                <a:solidFill>
                  <a:srgbClr val="000000"/>
                </a:solidFill>
                <a:latin typeface="Open Sans"/>
                <a:ea typeface="Open Sans"/>
                <a:cs typeface="Open Sans"/>
                <a:sym typeface="Open Sans"/>
              </a:rPr>
              <a:t>192.168.1.192/26 → Sucursal 4</a:t>
            </a:r>
            <a:endParaRPr/>
          </a:p>
          <a:p>
            <a:pPr indent="0" lvl="0" marL="0" marR="0" rtl="0" algn="ctr">
              <a:lnSpc>
                <a:spcPct val="140015"/>
              </a:lnSpc>
              <a:spcBef>
                <a:spcPts val="0"/>
              </a:spcBef>
              <a:spcAft>
                <a:spcPts val="0"/>
              </a:spcAft>
              <a:buNone/>
            </a:pPr>
            <a:r>
              <a:t/>
            </a:r>
            <a:endParaRPr b="0" i="0" sz="2619" u="none" cap="none" strike="noStrike">
              <a:solidFill>
                <a:srgbClr val="000000"/>
              </a:solidFill>
              <a:latin typeface="Open Sans"/>
              <a:ea typeface="Open Sans"/>
              <a:cs typeface="Open Sans"/>
              <a:sym typeface="Open Sans"/>
            </a:endParaRPr>
          </a:p>
          <a:p>
            <a:pPr indent="0" lvl="0" marL="0" marR="0" rtl="0" algn="ctr">
              <a:lnSpc>
                <a:spcPct val="140015"/>
              </a:lnSpc>
              <a:spcBef>
                <a:spcPts val="0"/>
              </a:spcBef>
              <a:spcAft>
                <a:spcPts val="0"/>
              </a:spcAft>
              <a:buNone/>
            </a:pPr>
            <a:r>
              <a:rPr b="0" i="0" lang="en-US" sz="2619" u="none" cap="none" strike="noStrike">
                <a:solidFill>
                  <a:srgbClr val="000000"/>
                </a:solidFill>
                <a:latin typeface="Open Sans"/>
                <a:ea typeface="Open Sans"/>
                <a:cs typeface="Open Sans"/>
                <a:sym typeface="Open Sans"/>
              </a:rPr>
              <a:t>Desventaja: Se desperdician direcciones porque cada sucursal tiene más de lo que necesita.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4"/>
          <p:cNvSpPr txBox="1"/>
          <p:nvPr/>
        </p:nvSpPr>
        <p:spPr>
          <a:xfrm>
            <a:off x="1987638" y="837260"/>
            <a:ext cx="14876400" cy="1782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1580">
                <a:solidFill>
                  <a:srgbClr val="415AC6"/>
                </a:solidFill>
              </a:rPr>
              <a:t>E</a:t>
            </a:r>
            <a:r>
              <a:rPr b="0" i="0" lang="en-US" sz="11580" u="none" cap="none" strike="noStrike">
                <a:solidFill>
                  <a:srgbClr val="415AC6"/>
                </a:solidFill>
                <a:latin typeface="Arial"/>
                <a:ea typeface="Arial"/>
                <a:cs typeface="Arial"/>
                <a:sym typeface="Arial"/>
              </a:rPr>
              <a:t>jemplo   VLSM</a:t>
            </a:r>
            <a:endParaRPr/>
          </a:p>
        </p:txBody>
      </p:sp>
      <p:sp>
        <p:nvSpPr>
          <p:cNvPr id="397" name="Google Shape;397;p34"/>
          <p:cNvSpPr txBox="1"/>
          <p:nvPr/>
        </p:nvSpPr>
        <p:spPr>
          <a:xfrm>
            <a:off x="2141344" y="3480272"/>
            <a:ext cx="13100813" cy="4978057"/>
          </a:xfrm>
          <a:prstGeom prst="rect">
            <a:avLst/>
          </a:prstGeom>
          <a:noFill/>
          <a:ln>
            <a:noFill/>
          </a:ln>
        </p:spPr>
        <p:txBody>
          <a:bodyPr anchorCtr="0" anchor="t" bIns="0" lIns="0" spcFirstLastPara="1" rIns="0" wrap="square" tIns="0">
            <a:spAutoFit/>
          </a:bodyPr>
          <a:lstStyle/>
          <a:p>
            <a:pPr indent="-407181" lvl="1" marL="814363"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La misma empresa, pero ahora con diferentes necesidades:</a:t>
            </a:r>
            <a:endParaRPr/>
          </a:p>
          <a:p>
            <a:pPr indent="0" lvl="0" marL="0" marR="0" rtl="0" algn="l">
              <a:lnSpc>
                <a:spcPct val="150013"/>
              </a:lnSpc>
              <a:spcBef>
                <a:spcPts val="0"/>
              </a:spcBef>
              <a:spcAft>
                <a:spcPts val="0"/>
              </a:spcAft>
              <a:buNone/>
            </a:pPr>
            <a:r>
              <a:t/>
            </a:r>
            <a:endParaRPr b="0" i="0" sz="3771" u="none" cap="none" strike="noStrike">
              <a:solidFill>
                <a:srgbClr val="000000"/>
              </a:solidFill>
              <a:latin typeface="Poppins"/>
              <a:ea typeface="Poppins"/>
              <a:cs typeface="Poppins"/>
              <a:sym typeface="Poppins"/>
            </a:endParaRPr>
          </a:p>
          <a:p>
            <a:pPr indent="-407181" lvl="1" marL="814363"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1: 68 hosts</a:t>
            </a:r>
            <a:endParaRPr/>
          </a:p>
          <a:p>
            <a:pPr indent="-407181" lvl="1" marL="814363"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2: 20 hosts</a:t>
            </a:r>
            <a:endParaRPr/>
          </a:p>
          <a:p>
            <a:pPr indent="-407181" lvl="1" marL="814363"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3: 10 hosts</a:t>
            </a:r>
            <a:endParaRPr/>
          </a:p>
          <a:p>
            <a:pPr indent="-407181" lvl="1" marL="814363"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4: 2 hosts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txBox="1"/>
          <p:nvPr/>
        </p:nvSpPr>
        <p:spPr>
          <a:xfrm>
            <a:off x="1270319" y="893541"/>
            <a:ext cx="14876400" cy="1782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1580">
                <a:solidFill>
                  <a:srgbClr val="415AC6"/>
                </a:solidFill>
              </a:rPr>
              <a:t>S</a:t>
            </a:r>
            <a:r>
              <a:rPr b="0" i="0" lang="en-US" sz="11580" u="none" cap="none" strike="noStrike">
                <a:solidFill>
                  <a:srgbClr val="415AC6"/>
                </a:solidFill>
                <a:latin typeface="Arial"/>
                <a:ea typeface="Arial"/>
                <a:cs typeface="Arial"/>
                <a:sym typeface="Arial"/>
              </a:rPr>
              <a:t>olución   </a:t>
            </a:r>
            <a:r>
              <a:rPr lang="en-US" sz="11580">
                <a:solidFill>
                  <a:srgbClr val="415AC6"/>
                </a:solidFill>
              </a:rPr>
              <a:t>V</a:t>
            </a:r>
            <a:r>
              <a:rPr b="0" i="0" lang="en-US" sz="11580" u="none" cap="none" strike="noStrike">
                <a:solidFill>
                  <a:srgbClr val="415AC6"/>
                </a:solidFill>
                <a:latin typeface="Arial"/>
                <a:ea typeface="Arial"/>
                <a:cs typeface="Arial"/>
                <a:sym typeface="Arial"/>
              </a:rPr>
              <a:t>LSM</a:t>
            </a:r>
            <a:endParaRPr/>
          </a:p>
        </p:txBody>
      </p:sp>
      <p:sp>
        <p:nvSpPr>
          <p:cNvPr id="403" name="Google Shape;403;p35"/>
          <p:cNvSpPr txBox="1"/>
          <p:nvPr/>
        </p:nvSpPr>
        <p:spPr>
          <a:xfrm>
            <a:off x="772548" y="2677781"/>
            <a:ext cx="15464700" cy="7161600"/>
          </a:xfrm>
          <a:prstGeom prst="rect">
            <a:avLst/>
          </a:prstGeom>
          <a:noFill/>
          <a:ln>
            <a:noFill/>
          </a:ln>
        </p:spPr>
        <p:txBody>
          <a:bodyPr anchorCtr="0" anchor="t" bIns="0" lIns="0" spcFirstLastPara="1" rIns="0" wrap="square" tIns="0">
            <a:spAutoFit/>
          </a:bodyPr>
          <a:lstStyle/>
          <a:p>
            <a:pPr indent="-407182" lvl="1" marL="814365"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Asignamos solo lo necesario usando distintas </a:t>
            </a:r>
            <a:r>
              <a:rPr lang="en-US" sz="3771">
                <a:latin typeface="Poppins"/>
                <a:ea typeface="Poppins"/>
                <a:cs typeface="Poppins"/>
                <a:sym typeface="Poppins"/>
              </a:rPr>
              <a:t>máscaras</a:t>
            </a:r>
            <a:r>
              <a:rPr b="0" i="0" lang="en-US" sz="3771" u="none" cap="none" strike="noStrike">
                <a:solidFill>
                  <a:srgbClr val="000000"/>
                </a:solidFill>
                <a:latin typeface="Poppins"/>
                <a:ea typeface="Poppins"/>
                <a:cs typeface="Poppins"/>
                <a:sym typeface="Poppins"/>
              </a:rPr>
              <a:t>:</a:t>
            </a:r>
            <a:endParaRPr/>
          </a:p>
          <a:p>
            <a:pPr indent="0" lvl="0" marL="0" marR="0" rtl="0" algn="l">
              <a:lnSpc>
                <a:spcPct val="150013"/>
              </a:lnSpc>
              <a:spcBef>
                <a:spcPts val="0"/>
              </a:spcBef>
              <a:spcAft>
                <a:spcPts val="0"/>
              </a:spcAft>
              <a:buNone/>
            </a:pPr>
            <a:r>
              <a:t/>
            </a:r>
            <a:endParaRPr b="0" i="0" sz="3771" u="none" cap="none" strike="noStrike">
              <a:solidFill>
                <a:srgbClr val="000000"/>
              </a:solidFill>
              <a:latin typeface="Poppins"/>
              <a:ea typeface="Poppins"/>
              <a:cs typeface="Poppins"/>
              <a:sym typeface="Poppins"/>
            </a:endParaRPr>
          </a:p>
          <a:p>
            <a:pPr indent="-407182" lvl="1" marL="814365"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1 → /25 (128 hosts, 126 utilizables) → 192.168.1.0/25</a:t>
            </a:r>
            <a:endParaRPr/>
          </a:p>
          <a:p>
            <a:pPr indent="-407182" lvl="1" marL="814365"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2 → /27 (32 hosts, 30 utilizables) → 192.168.1.128/27</a:t>
            </a:r>
            <a:endParaRPr/>
          </a:p>
          <a:p>
            <a:pPr indent="-407182" lvl="1" marL="814365"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3 → /28 (16 hosts, 14 utilizables) → 192.168.1.160/28</a:t>
            </a:r>
            <a:endParaRPr/>
          </a:p>
          <a:p>
            <a:pPr indent="-407182" lvl="1" marL="814365" marR="0" rtl="0" algn="l">
              <a:lnSpc>
                <a:spcPct val="150013"/>
              </a:lnSpc>
              <a:spcBef>
                <a:spcPts val="0"/>
              </a:spcBef>
              <a:spcAft>
                <a:spcPts val="0"/>
              </a:spcAft>
              <a:buClr>
                <a:srgbClr val="000000"/>
              </a:buClr>
              <a:buSzPts val="3771"/>
              <a:buFont typeface="Arial"/>
              <a:buChar char="•"/>
            </a:pPr>
            <a:r>
              <a:rPr b="0" i="0" lang="en-US" sz="3771" u="none" cap="none" strike="noStrike">
                <a:solidFill>
                  <a:srgbClr val="000000"/>
                </a:solidFill>
                <a:latin typeface="Poppins"/>
                <a:ea typeface="Poppins"/>
                <a:cs typeface="Poppins"/>
                <a:sym typeface="Poppins"/>
              </a:rPr>
              <a:t>Sucursal 4 → /30 (4 hosts, 2 utilizables) → 192.168.1.176/30</a:t>
            </a:r>
            <a:endParaRPr/>
          </a:p>
          <a:p>
            <a:pPr indent="0" lvl="0" marL="0" marR="0" rtl="0" algn="l">
              <a:lnSpc>
                <a:spcPct val="150013"/>
              </a:lnSpc>
              <a:spcBef>
                <a:spcPts val="0"/>
              </a:spcBef>
              <a:spcAft>
                <a:spcPts val="0"/>
              </a:spcAft>
              <a:buNone/>
            </a:pPr>
            <a:r>
              <a:t/>
            </a:r>
            <a:endParaRPr b="0" i="0" sz="3771" u="none" cap="none" strike="noStrike">
              <a:solidFill>
                <a:srgbClr val="000000"/>
              </a:solidFill>
              <a:latin typeface="Poppins"/>
              <a:ea typeface="Poppins"/>
              <a:cs typeface="Poppins"/>
              <a:sym typeface="Poppins"/>
            </a:endParaRPr>
          </a:p>
          <a:p>
            <a:pPr indent="0" lvl="0" marL="0" marR="0" rtl="0" algn="l">
              <a:lnSpc>
                <a:spcPct val="150018"/>
              </a:lnSpc>
              <a:spcBef>
                <a:spcPts val="0"/>
              </a:spcBef>
              <a:spcAft>
                <a:spcPts val="0"/>
              </a:spcAft>
              <a:buNone/>
            </a:pPr>
            <a:r>
              <a:rPr b="0" i="0" lang="en-US" sz="2771" u="none" cap="none" strike="noStrike">
                <a:solidFill>
                  <a:srgbClr val="000000"/>
                </a:solidFill>
                <a:latin typeface="Poppins"/>
                <a:ea typeface="Poppins"/>
                <a:cs typeface="Poppins"/>
                <a:sym typeface="Poppins"/>
              </a:rPr>
              <a:t>Ventaja: Se aprovechan mejor las direcciones IP. Aunque en la sucursal 1 hay bastante desperdicio de ips.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409" name="Google Shape;409;p36"/>
          <p:cNvSpPr/>
          <p:nvPr/>
        </p:nvSpPr>
        <p:spPr>
          <a:xfrm rot="-1508563">
            <a:off x="7042952" y="1987343"/>
            <a:ext cx="4555195" cy="6023399"/>
          </a:xfrm>
          <a:custGeom>
            <a:rect b="b" l="l" r="r" t="t"/>
            <a:pathLst>
              <a:path extrusionOk="0" h="6023399" w="4555195">
                <a:moveTo>
                  <a:pt x="0" y="0"/>
                </a:moveTo>
                <a:lnTo>
                  <a:pt x="4555195" y="0"/>
                </a:lnTo>
                <a:lnTo>
                  <a:pt x="4555195" y="6023398"/>
                </a:lnTo>
                <a:lnTo>
                  <a:pt x="0" y="6023398"/>
                </a:lnTo>
                <a:lnTo>
                  <a:pt x="0" y="0"/>
                </a:lnTo>
                <a:close/>
              </a:path>
            </a:pathLst>
          </a:custGeom>
          <a:blipFill rotWithShape="1">
            <a:blip r:embed="rId4">
              <a:alphaModFix/>
            </a:blip>
            <a:stretch>
              <a:fillRect b="0" l="0" r="0" t="0"/>
            </a:stretch>
          </a:blipFill>
          <a:ln>
            <a:noFill/>
          </a:ln>
        </p:spPr>
      </p:sp>
      <p:sp>
        <p:nvSpPr>
          <p:cNvPr id="410" name="Google Shape;410;p36"/>
          <p:cNvSpPr/>
          <p:nvPr/>
        </p:nvSpPr>
        <p:spPr>
          <a:xfrm>
            <a:off x="12661944"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sp>
      <p:sp>
        <p:nvSpPr>
          <p:cNvPr id="411" name="Google Shape;411;p36"/>
          <p:cNvSpPr/>
          <p:nvPr/>
        </p:nvSpPr>
        <p:spPr>
          <a:xfrm>
            <a:off x="1604622"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sp>
      <p:sp>
        <p:nvSpPr>
          <p:cNvPr id="412" name="Google Shape;412;p36"/>
          <p:cNvSpPr/>
          <p:nvPr/>
        </p:nvSpPr>
        <p:spPr>
          <a:xfrm>
            <a:off x="12661944"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sp>
      <p:sp>
        <p:nvSpPr>
          <p:cNvPr id="413" name="Google Shape;413;p36"/>
          <p:cNvSpPr/>
          <p:nvPr/>
        </p:nvSpPr>
        <p:spPr>
          <a:xfrm>
            <a:off x="1604622"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sp>
      <p:sp>
        <p:nvSpPr>
          <p:cNvPr id="414" name="Google Shape;414;p36"/>
          <p:cNvSpPr txBox="1"/>
          <p:nvPr/>
        </p:nvSpPr>
        <p:spPr>
          <a:xfrm>
            <a:off x="12593011" y="3144594"/>
            <a:ext cx="3827048" cy="1201481"/>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Define cuántos bits son de red y cuántos de host.</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Ejemplo: 255.255.255.0 → /24.</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415" name="Google Shape;415;p36"/>
          <p:cNvSpPr txBox="1"/>
          <p:nvPr/>
        </p:nvSpPr>
        <p:spPr>
          <a:xfrm>
            <a:off x="1085329" y="3144594"/>
            <a:ext cx="4727767" cy="2114625"/>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Identifican dispositivos en la red.</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Operan en la Capa 3 del modelo OSI.</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Dos versiones: IPv4 (32 bits) y IPv6 (128 bits).</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Asignación: DHCP (dinámica) o manual (estática).</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416" name="Google Shape;416;p36"/>
          <p:cNvSpPr txBox="1"/>
          <p:nvPr/>
        </p:nvSpPr>
        <p:spPr>
          <a:xfrm>
            <a:off x="12593011" y="7780623"/>
            <a:ext cx="3827048" cy="1505862"/>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Tamaño de subred según necesidad.</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Más eficiente y flexible, pero complejo de administrar.</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417" name="Google Shape;417;p36"/>
          <p:cNvSpPr txBox="1"/>
          <p:nvPr/>
        </p:nvSpPr>
        <p:spPr>
          <a:xfrm>
            <a:off x="1535689" y="7780623"/>
            <a:ext cx="3827048" cy="1505862"/>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Misma cantidad de hosts por subred.</a:t>
            </a:r>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Simple, pero puede desperdiciar direcciones IP.</a:t>
            </a:r>
            <a:endParaRPr/>
          </a:p>
          <a:p>
            <a:pPr indent="0" lvl="0" marL="0" marR="0" rtl="0" algn="ctr">
              <a:lnSpc>
                <a:spcPct val="140034"/>
              </a:lnSpc>
              <a:spcBef>
                <a:spcPts val="0"/>
              </a:spcBef>
              <a:spcAft>
                <a:spcPts val="0"/>
              </a:spcAft>
              <a:buNone/>
            </a:pPr>
            <a:r>
              <a:t/>
            </a:r>
            <a:endParaRPr b="0" i="0" sz="1756" u="none" cap="none" strike="noStrike">
              <a:solidFill>
                <a:srgbClr val="FFFFFF"/>
              </a:solidFill>
              <a:latin typeface="Sniglet"/>
              <a:ea typeface="Sniglet"/>
              <a:cs typeface="Sniglet"/>
              <a:sym typeface="Sniglet"/>
            </a:endParaRPr>
          </a:p>
        </p:txBody>
      </p:sp>
      <p:sp>
        <p:nvSpPr>
          <p:cNvPr id="418" name="Google Shape;418;p36"/>
          <p:cNvSpPr txBox="1"/>
          <p:nvPr/>
        </p:nvSpPr>
        <p:spPr>
          <a:xfrm>
            <a:off x="13388486" y="1776149"/>
            <a:ext cx="2637300" cy="9972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2699" u="none" cap="none" strike="noStrike">
                <a:solidFill>
                  <a:srgbClr val="FFFFFF"/>
                </a:solidFill>
                <a:latin typeface="Shadows Into Light"/>
                <a:ea typeface="Shadows Into Light"/>
                <a:cs typeface="Shadows Into Light"/>
                <a:sym typeface="Shadows Into Light"/>
              </a:rPr>
              <a:t>MÁSCARA DE SUBRED</a:t>
            </a:r>
            <a:endParaRPr sz="900"/>
          </a:p>
        </p:txBody>
      </p:sp>
      <p:sp>
        <p:nvSpPr>
          <p:cNvPr id="419" name="Google Shape;419;p36"/>
          <p:cNvSpPr txBox="1"/>
          <p:nvPr/>
        </p:nvSpPr>
        <p:spPr>
          <a:xfrm>
            <a:off x="2331163" y="1757099"/>
            <a:ext cx="2637300" cy="5541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499" u="none" cap="none" strike="noStrike">
                <a:solidFill>
                  <a:srgbClr val="FFFFFF"/>
                </a:solidFill>
                <a:latin typeface="Shadows Into Light"/>
                <a:ea typeface="Shadows Into Light"/>
                <a:cs typeface="Shadows Into Light"/>
                <a:sym typeface="Shadows Into Light"/>
              </a:rPr>
              <a:t>DIRECCIONES </a:t>
            </a:r>
            <a:r>
              <a:rPr b="0" i="0" lang="en-US" sz="3599" u="none" cap="none" strike="noStrike">
                <a:solidFill>
                  <a:srgbClr val="FFFFFF"/>
                </a:solidFill>
                <a:latin typeface="Shadows Into Light"/>
                <a:ea typeface="Shadows Into Light"/>
                <a:cs typeface="Shadows Into Light"/>
                <a:sym typeface="Shadows Into Light"/>
              </a:rPr>
              <a:t>IP</a:t>
            </a:r>
            <a:endParaRPr sz="1000"/>
          </a:p>
        </p:txBody>
      </p:sp>
      <p:sp>
        <p:nvSpPr>
          <p:cNvPr id="420" name="Google Shape;420;p36"/>
          <p:cNvSpPr txBox="1"/>
          <p:nvPr/>
        </p:nvSpPr>
        <p:spPr>
          <a:xfrm>
            <a:off x="13388486" y="6297113"/>
            <a:ext cx="2637300" cy="7755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2099" u="none" cap="none" strike="noStrike">
                <a:solidFill>
                  <a:srgbClr val="FFFFFF"/>
                </a:solidFill>
                <a:latin typeface="Shadows Into Light"/>
                <a:ea typeface="Shadows Into Light"/>
                <a:cs typeface="Shadows Into Light"/>
                <a:sym typeface="Shadows Into Light"/>
              </a:rPr>
              <a:t>VLSM (VARIABLE LENGTH SUBNET MASK)</a:t>
            </a:r>
            <a:endParaRPr sz="600"/>
          </a:p>
        </p:txBody>
      </p:sp>
      <p:sp>
        <p:nvSpPr>
          <p:cNvPr id="421" name="Google Shape;421;p36"/>
          <p:cNvSpPr txBox="1"/>
          <p:nvPr/>
        </p:nvSpPr>
        <p:spPr>
          <a:xfrm>
            <a:off x="2331163" y="6297113"/>
            <a:ext cx="2637300" cy="8862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2399" u="none" cap="none" strike="noStrike">
                <a:solidFill>
                  <a:srgbClr val="FFFFFF"/>
                </a:solidFill>
                <a:latin typeface="Shadows Into Light"/>
                <a:ea typeface="Shadows Into Light"/>
                <a:cs typeface="Shadows Into Light"/>
                <a:sym typeface="Shadows Into Light"/>
              </a:rPr>
              <a:t>FLSM (FIXED LENGTH SUBNET MASK)</a:t>
            </a:r>
            <a:endParaRPr sz="900"/>
          </a:p>
        </p:txBody>
      </p:sp>
      <p:sp>
        <p:nvSpPr>
          <p:cNvPr id="422" name="Google Shape;422;p36"/>
          <p:cNvSpPr/>
          <p:nvPr/>
        </p:nvSpPr>
        <p:spPr>
          <a:xfrm rot="577984">
            <a:off x="10475096" y="1452402"/>
            <a:ext cx="1827509" cy="780845"/>
          </a:xfrm>
          <a:custGeom>
            <a:rect b="b" l="l" r="r" t="t"/>
            <a:pathLst>
              <a:path extrusionOk="0" h="780845" w="1827509">
                <a:moveTo>
                  <a:pt x="0" y="0"/>
                </a:moveTo>
                <a:lnTo>
                  <a:pt x="1827509" y="0"/>
                </a:lnTo>
                <a:lnTo>
                  <a:pt x="1827509" y="780844"/>
                </a:lnTo>
                <a:lnTo>
                  <a:pt x="0" y="780844"/>
                </a:lnTo>
                <a:lnTo>
                  <a:pt x="0" y="0"/>
                </a:lnTo>
                <a:close/>
              </a:path>
            </a:pathLst>
          </a:custGeom>
          <a:blipFill rotWithShape="1">
            <a:blip r:embed="rId6">
              <a:alphaModFix/>
            </a:blip>
            <a:stretch>
              <a:fillRect b="0" l="0" r="0" t="0"/>
            </a:stretch>
          </a:blipFill>
          <a:ln>
            <a:noFill/>
          </a:ln>
        </p:spPr>
      </p:sp>
      <p:sp>
        <p:nvSpPr>
          <p:cNvPr id="423" name="Google Shape;423;p36"/>
          <p:cNvSpPr/>
          <p:nvPr/>
        </p:nvSpPr>
        <p:spPr>
          <a:xfrm flipH="1" rot="-565549">
            <a:off x="6081248" y="1452402"/>
            <a:ext cx="1827509" cy="780845"/>
          </a:xfrm>
          <a:custGeom>
            <a:rect b="b" l="l" r="r" t="t"/>
            <a:pathLst>
              <a:path extrusionOk="0" h="780845" w="1827509">
                <a:moveTo>
                  <a:pt x="1827509" y="0"/>
                </a:moveTo>
                <a:lnTo>
                  <a:pt x="0" y="0"/>
                </a:lnTo>
                <a:lnTo>
                  <a:pt x="0" y="780844"/>
                </a:lnTo>
                <a:lnTo>
                  <a:pt x="1827509" y="780844"/>
                </a:lnTo>
                <a:lnTo>
                  <a:pt x="1827509" y="0"/>
                </a:lnTo>
                <a:close/>
              </a:path>
            </a:pathLst>
          </a:custGeom>
          <a:blipFill rotWithShape="1">
            <a:blip r:embed="rId6">
              <a:alphaModFix/>
            </a:blip>
            <a:stretch>
              <a:fillRect b="0" l="0" r="0" t="0"/>
            </a:stretch>
          </a:blipFill>
          <a:ln>
            <a:noFill/>
          </a:ln>
        </p:spPr>
      </p:sp>
      <p:sp>
        <p:nvSpPr>
          <p:cNvPr id="424" name="Google Shape;424;p36"/>
          <p:cNvSpPr/>
          <p:nvPr/>
        </p:nvSpPr>
        <p:spPr>
          <a:xfrm rot="-10222015">
            <a:off x="5747437" y="6928423"/>
            <a:ext cx="1827509" cy="780845"/>
          </a:xfrm>
          <a:custGeom>
            <a:rect b="b" l="l" r="r" t="t"/>
            <a:pathLst>
              <a:path extrusionOk="0" h="780845" w="1827509">
                <a:moveTo>
                  <a:pt x="0" y="0"/>
                </a:moveTo>
                <a:lnTo>
                  <a:pt x="1827509" y="0"/>
                </a:lnTo>
                <a:lnTo>
                  <a:pt x="1827509" y="780845"/>
                </a:lnTo>
                <a:lnTo>
                  <a:pt x="0" y="780845"/>
                </a:lnTo>
                <a:lnTo>
                  <a:pt x="0" y="0"/>
                </a:lnTo>
                <a:close/>
              </a:path>
            </a:pathLst>
          </a:custGeom>
          <a:blipFill rotWithShape="1">
            <a:blip r:embed="rId6">
              <a:alphaModFix/>
            </a:blip>
            <a:stretch>
              <a:fillRect b="0" l="0" r="0" t="0"/>
            </a:stretch>
          </a:blipFill>
          <a:ln>
            <a:noFill/>
          </a:ln>
        </p:spPr>
      </p:sp>
      <p:sp>
        <p:nvSpPr>
          <p:cNvPr id="425" name="Google Shape;425;p36"/>
          <p:cNvSpPr/>
          <p:nvPr/>
        </p:nvSpPr>
        <p:spPr>
          <a:xfrm flipH="1" rot="10234450">
            <a:off x="10810598" y="6928423"/>
            <a:ext cx="1827509" cy="780845"/>
          </a:xfrm>
          <a:custGeom>
            <a:rect b="b" l="l" r="r" t="t"/>
            <a:pathLst>
              <a:path extrusionOk="0" h="780845" w="1827509">
                <a:moveTo>
                  <a:pt x="1827509" y="0"/>
                </a:moveTo>
                <a:lnTo>
                  <a:pt x="0" y="0"/>
                </a:lnTo>
                <a:lnTo>
                  <a:pt x="0" y="780845"/>
                </a:lnTo>
                <a:lnTo>
                  <a:pt x="1827509" y="780845"/>
                </a:lnTo>
                <a:lnTo>
                  <a:pt x="1827509" y="0"/>
                </a:lnTo>
                <a:close/>
              </a:path>
            </a:pathLst>
          </a:custGeom>
          <a:blipFill rotWithShape="1">
            <a:blip r:embed="rId6">
              <a:alphaModFix/>
            </a:blip>
            <a:stretch>
              <a:fillRect b="0" l="0" r="0" t="0"/>
            </a:stretch>
          </a:blipFill>
          <a:ln>
            <a:noFill/>
          </a:ln>
        </p:spPr>
      </p:sp>
      <p:sp>
        <p:nvSpPr>
          <p:cNvPr id="426" name="Google Shape;426;p36"/>
          <p:cNvSpPr/>
          <p:nvPr/>
        </p:nvSpPr>
        <p:spPr>
          <a:xfrm rot="-2492452">
            <a:off x="14302266" y="9037716"/>
            <a:ext cx="5782005" cy="1576910"/>
          </a:xfrm>
          <a:custGeom>
            <a:rect b="b" l="l" r="r" t="t"/>
            <a:pathLst>
              <a:path extrusionOk="0" h="1576910" w="5782005">
                <a:moveTo>
                  <a:pt x="0" y="0"/>
                </a:moveTo>
                <a:lnTo>
                  <a:pt x="5782005" y="0"/>
                </a:lnTo>
                <a:lnTo>
                  <a:pt x="5782005" y="1576911"/>
                </a:lnTo>
                <a:lnTo>
                  <a:pt x="0" y="1576911"/>
                </a:lnTo>
                <a:lnTo>
                  <a:pt x="0" y="0"/>
                </a:lnTo>
                <a:close/>
              </a:path>
            </a:pathLst>
          </a:custGeom>
          <a:blipFill rotWithShape="1">
            <a:blip r:embed="rId7">
              <a:alphaModFix/>
            </a:blip>
            <a:stretch>
              <a:fillRect b="0" l="0" r="0" t="0"/>
            </a:stretch>
          </a:blipFill>
          <a:ln>
            <a:noFill/>
          </a:ln>
        </p:spPr>
      </p:sp>
      <p:sp>
        <p:nvSpPr>
          <p:cNvPr id="427" name="Google Shape;427;p36"/>
          <p:cNvSpPr/>
          <p:nvPr/>
        </p:nvSpPr>
        <p:spPr>
          <a:xfrm rot="-2492452">
            <a:off x="-1862303" y="240245"/>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7">
              <a:alphaModFix/>
            </a:blip>
            <a:stretch>
              <a:fillRect b="0" l="0" r="0" t="0"/>
            </a:stretch>
          </a:blipFill>
          <a:ln>
            <a:noFill/>
          </a:ln>
        </p:spPr>
      </p:sp>
      <p:sp>
        <p:nvSpPr>
          <p:cNvPr id="428" name="Google Shape;428;p36"/>
          <p:cNvSpPr/>
          <p:nvPr/>
        </p:nvSpPr>
        <p:spPr>
          <a:xfrm rot="1154987">
            <a:off x="16944349" y="965348"/>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429" name="Google Shape;429;p36"/>
          <p:cNvSpPr/>
          <p:nvPr/>
        </p:nvSpPr>
        <p:spPr>
          <a:xfrm rot="1385658">
            <a:off x="15712626" y="5003442"/>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430" name="Google Shape;430;p36"/>
          <p:cNvSpPr/>
          <p:nvPr/>
        </p:nvSpPr>
        <p:spPr>
          <a:xfrm rot="-904948">
            <a:off x="16878317" y="424948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431" name="Google Shape;431;p36"/>
          <p:cNvSpPr/>
          <p:nvPr/>
        </p:nvSpPr>
        <p:spPr>
          <a:xfrm rot="-1101707">
            <a:off x="5712992" y="4405405"/>
            <a:ext cx="1100927" cy="1187274"/>
          </a:xfrm>
          <a:custGeom>
            <a:rect b="b" l="l" r="r" t="t"/>
            <a:pathLst>
              <a:path extrusionOk="0" h="1187274" w="1100927">
                <a:moveTo>
                  <a:pt x="0" y="0"/>
                </a:moveTo>
                <a:lnTo>
                  <a:pt x="1100927" y="0"/>
                </a:lnTo>
                <a:lnTo>
                  <a:pt x="1100927" y="1187274"/>
                </a:lnTo>
                <a:lnTo>
                  <a:pt x="0" y="1187274"/>
                </a:lnTo>
                <a:lnTo>
                  <a:pt x="0" y="0"/>
                </a:lnTo>
                <a:close/>
              </a:path>
            </a:pathLst>
          </a:custGeom>
          <a:blipFill rotWithShape="1">
            <a:blip r:embed="rId8">
              <a:alphaModFix/>
            </a:blip>
            <a:stretch>
              <a:fillRect b="0" l="0" r="0" t="0"/>
            </a:stretch>
          </a:blipFill>
          <a:ln>
            <a:noFill/>
          </a:ln>
        </p:spPr>
      </p:sp>
      <p:sp>
        <p:nvSpPr>
          <p:cNvPr id="432" name="Google Shape;432;p36"/>
          <p:cNvSpPr/>
          <p:nvPr/>
        </p:nvSpPr>
        <p:spPr>
          <a:xfrm>
            <a:off x="8649480" y="1201050"/>
            <a:ext cx="1342139" cy="471300"/>
          </a:xfrm>
          <a:custGeom>
            <a:rect b="b" l="l" r="r" t="t"/>
            <a:pathLst>
              <a:path extrusionOk="0" h="471300" w="1342139">
                <a:moveTo>
                  <a:pt x="0" y="0"/>
                </a:moveTo>
                <a:lnTo>
                  <a:pt x="1342139" y="0"/>
                </a:lnTo>
                <a:lnTo>
                  <a:pt x="1342139" y="471300"/>
                </a:lnTo>
                <a:lnTo>
                  <a:pt x="0" y="471300"/>
                </a:lnTo>
                <a:lnTo>
                  <a:pt x="0" y="0"/>
                </a:lnTo>
                <a:close/>
              </a:path>
            </a:pathLst>
          </a:custGeom>
          <a:blipFill rotWithShape="1">
            <a:blip r:embed="rId9">
              <a:alphaModFix/>
            </a:blip>
            <a:stretch>
              <a:fillRect b="-33518" l="-13707" r="-15228" t="0"/>
            </a:stretch>
          </a:blipFill>
          <a:ln>
            <a:noFill/>
          </a:ln>
        </p:spPr>
      </p:sp>
      <p:sp>
        <p:nvSpPr>
          <p:cNvPr id="433" name="Google Shape;433;p36"/>
          <p:cNvSpPr/>
          <p:nvPr/>
        </p:nvSpPr>
        <p:spPr>
          <a:xfrm rot="-514891">
            <a:off x="811416" y="5228345"/>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8">
              <a:alphaModFix/>
            </a:blip>
            <a:stretch>
              <a:fillRect b="0" l="0" r="0" t="0"/>
            </a:stretch>
          </a:blipFill>
          <a:ln>
            <a:noFill/>
          </a:ln>
        </p:spPr>
      </p:sp>
      <p:sp>
        <p:nvSpPr>
          <p:cNvPr id="434" name="Google Shape;434;p36"/>
          <p:cNvSpPr txBox="1"/>
          <p:nvPr/>
        </p:nvSpPr>
        <p:spPr>
          <a:xfrm>
            <a:off x="6197093" y="8514295"/>
            <a:ext cx="5893800" cy="1772700"/>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None/>
            </a:pPr>
            <a:r>
              <a:rPr b="0" i="0" lang="en-US" sz="4799" u="none" cap="none" strike="noStrike">
                <a:solidFill>
                  <a:srgbClr val="FFFFFF"/>
                </a:solidFill>
                <a:latin typeface="Shadows Into Light"/>
                <a:ea typeface="Shadows Into Light"/>
                <a:cs typeface="Shadows Into Light"/>
                <a:sym typeface="Shadows Into Light"/>
              </a:rPr>
              <a:t>CONCEPTOS CLAVE APRENDIDOS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440" name="Google Shape;440;p37"/>
          <p:cNvSpPr/>
          <p:nvPr/>
        </p:nvSpPr>
        <p:spPr>
          <a:xfrm rot="1893254">
            <a:off x="1117064" y="3376625"/>
            <a:ext cx="1946964" cy="3254802"/>
          </a:xfrm>
          <a:custGeom>
            <a:rect b="b" l="l" r="r" t="t"/>
            <a:pathLst>
              <a:path extrusionOk="0" h="3254802" w="1946964">
                <a:moveTo>
                  <a:pt x="0" y="0"/>
                </a:moveTo>
                <a:lnTo>
                  <a:pt x="1946964" y="0"/>
                </a:lnTo>
                <a:lnTo>
                  <a:pt x="1946964" y="3254803"/>
                </a:lnTo>
                <a:lnTo>
                  <a:pt x="0" y="3254803"/>
                </a:lnTo>
                <a:lnTo>
                  <a:pt x="0" y="0"/>
                </a:lnTo>
                <a:close/>
              </a:path>
            </a:pathLst>
          </a:custGeom>
          <a:blipFill rotWithShape="1">
            <a:blip r:embed="rId4">
              <a:alphaModFix/>
            </a:blip>
            <a:stretch>
              <a:fillRect b="0" l="0" r="0" t="0"/>
            </a:stretch>
          </a:blipFill>
          <a:ln>
            <a:noFill/>
          </a:ln>
        </p:spPr>
      </p:sp>
      <p:sp>
        <p:nvSpPr>
          <p:cNvPr id="441" name="Google Shape;441;p37"/>
          <p:cNvSpPr/>
          <p:nvPr/>
        </p:nvSpPr>
        <p:spPr>
          <a:xfrm rot="9268304">
            <a:off x="14672063" y="2090200"/>
            <a:ext cx="4321366" cy="1532121"/>
          </a:xfrm>
          <a:custGeom>
            <a:rect b="b" l="l" r="r" t="t"/>
            <a:pathLst>
              <a:path extrusionOk="0" h="1532121" w="4321366">
                <a:moveTo>
                  <a:pt x="0" y="0"/>
                </a:moveTo>
                <a:lnTo>
                  <a:pt x="4321366" y="0"/>
                </a:lnTo>
                <a:lnTo>
                  <a:pt x="4321366" y="1532121"/>
                </a:lnTo>
                <a:lnTo>
                  <a:pt x="0" y="1532121"/>
                </a:lnTo>
                <a:lnTo>
                  <a:pt x="0" y="0"/>
                </a:lnTo>
                <a:close/>
              </a:path>
            </a:pathLst>
          </a:custGeom>
          <a:blipFill rotWithShape="1">
            <a:blip r:embed="rId5">
              <a:alphaModFix/>
            </a:blip>
            <a:stretch>
              <a:fillRect b="0" l="0" r="0" t="0"/>
            </a:stretch>
          </a:blipFill>
          <a:ln>
            <a:noFill/>
          </a:ln>
        </p:spPr>
      </p:sp>
      <p:sp>
        <p:nvSpPr>
          <p:cNvPr id="442" name="Google Shape;442;p37"/>
          <p:cNvSpPr/>
          <p:nvPr/>
        </p:nvSpPr>
        <p:spPr>
          <a:xfrm flipH="1" rot="-5400000">
            <a:off x="4523789" y="-1174738"/>
            <a:ext cx="9240423" cy="12636476"/>
          </a:xfrm>
          <a:custGeom>
            <a:rect b="b" l="l" r="r" t="t"/>
            <a:pathLst>
              <a:path extrusionOk="0" h="12636476" w="9240423">
                <a:moveTo>
                  <a:pt x="0" y="12636476"/>
                </a:moveTo>
                <a:lnTo>
                  <a:pt x="9240422" y="12636476"/>
                </a:lnTo>
                <a:lnTo>
                  <a:pt x="9240422" y="0"/>
                </a:lnTo>
                <a:lnTo>
                  <a:pt x="0" y="0"/>
                </a:lnTo>
                <a:lnTo>
                  <a:pt x="0" y="12636476"/>
                </a:lnTo>
                <a:close/>
              </a:path>
            </a:pathLst>
          </a:custGeom>
          <a:blipFill rotWithShape="1">
            <a:blip r:embed="rId6">
              <a:alphaModFix/>
            </a:blip>
            <a:stretch>
              <a:fillRect b="0" l="0" r="0" t="0"/>
            </a:stretch>
          </a:blipFill>
          <a:ln>
            <a:noFill/>
          </a:ln>
        </p:spPr>
      </p:sp>
      <p:sp>
        <p:nvSpPr>
          <p:cNvPr id="443" name="Google Shape;443;p37"/>
          <p:cNvSpPr txBox="1"/>
          <p:nvPr/>
        </p:nvSpPr>
        <p:spPr>
          <a:xfrm>
            <a:off x="5452261" y="4170248"/>
            <a:ext cx="8270875" cy="2729989"/>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3141" u="none" cap="none" strike="noStrike">
                <a:solidFill>
                  <a:srgbClr val="323232"/>
                </a:solidFill>
                <a:latin typeface="Sniglet"/>
                <a:ea typeface="Sniglet"/>
                <a:cs typeface="Sniglet"/>
                <a:sym typeface="Sniglet"/>
              </a:rPr>
              <a:t>Responsabilidad, al planificar cuidadosamente los recursos de red.</a:t>
            </a:r>
            <a:endParaRPr/>
          </a:p>
          <a:p>
            <a:pPr indent="0" lvl="0" marL="0" marR="0" rtl="0" algn="ctr">
              <a:lnSpc>
                <a:spcPct val="140019"/>
              </a:lnSpc>
              <a:spcBef>
                <a:spcPts val="0"/>
              </a:spcBef>
              <a:spcAft>
                <a:spcPts val="0"/>
              </a:spcAft>
              <a:buNone/>
            </a:pPr>
            <a:r>
              <a:t/>
            </a:r>
            <a:endParaRPr b="0" i="0" sz="3141" u="none" cap="none" strike="noStrike">
              <a:solidFill>
                <a:srgbClr val="323232"/>
              </a:solidFill>
              <a:latin typeface="Sniglet"/>
              <a:ea typeface="Sniglet"/>
              <a:cs typeface="Sniglet"/>
              <a:sym typeface="Sniglet"/>
            </a:endParaRPr>
          </a:p>
          <a:p>
            <a:pPr indent="0" lvl="0" marL="0" marR="0" rtl="0" algn="ctr">
              <a:lnSpc>
                <a:spcPct val="140019"/>
              </a:lnSpc>
              <a:spcBef>
                <a:spcPts val="0"/>
              </a:spcBef>
              <a:spcAft>
                <a:spcPts val="0"/>
              </a:spcAft>
              <a:buNone/>
            </a:pPr>
            <a:r>
              <a:rPr b="0" i="0" lang="en-US" sz="3141" u="none" cap="none" strike="noStrike">
                <a:solidFill>
                  <a:srgbClr val="323232"/>
                </a:solidFill>
                <a:latin typeface="Sniglet"/>
                <a:ea typeface="Sniglet"/>
                <a:cs typeface="Sniglet"/>
                <a:sym typeface="Sniglet"/>
              </a:rPr>
              <a:t>Pensamiento lógico y analítico, por los cálculos precisos que requiere el subneteo.</a:t>
            </a:r>
            <a:endParaRPr/>
          </a:p>
        </p:txBody>
      </p:sp>
      <p:sp>
        <p:nvSpPr>
          <p:cNvPr id="444" name="Google Shape;444;p37"/>
          <p:cNvSpPr txBox="1"/>
          <p:nvPr/>
        </p:nvSpPr>
        <p:spPr>
          <a:xfrm>
            <a:off x="6561255" y="2323047"/>
            <a:ext cx="6052887" cy="1442513"/>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US" sz="9152" u="none" cap="none" strike="noStrike">
                <a:solidFill>
                  <a:srgbClr val="009B96"/>
                </a:solidFill>
                <a:latin typeface="Arial"/>
                <a:ea typeface="Arial"/>
                <a:cs typeface="Arial"/>
                <a:sym typeface="Arial"/>
              </a:rPr>
              <a:t>Valores</a:t>
            </a:r>
            <a:endParaRPr/>
          </a:p>
        </p:txBody>
      </p:sp>
      <p:sp>
        <p:nvSpPr>
          <p:cNvPr id="445" name="Google Shape;445;p37"/>
          <p:cNvSpPr/>
          <p:nvPr/>
        </p:nvSpPr>
        <p:spPr>
          <a:xfrm>
            <a:off x="6262493" y="2528529"/>
            <a:ext cx="597525" cy="1088654"/>
          </a:xfrm>
          <a:custGeom>
            <a:rect b="b" l="l" r="r" t="t"/>
            <a:pathLst>
              <a:path extrusionOk="0" h="1088654" w="597525">
                <a:moveTo>
                  <a:pt x="0" y="0"/>
                </a:moveTo>
                <a:lnTo>
                  <a:pt x="597525" y="0"/>
                </a:lnTo>
                <a:lnTo>
                  <a:pt x="597525" y="1088653"/>
                </a:lnTo>
                <a:lnTo>
                  <a:pt x="0" y="1088653"/>
                </a:lnTo>
                <a:lnTo>
                  <a:pt x="0" y="0"/>
                </a:lnTo>
                <a:close/>
              </a:path>
            </a:pathLst>
          </a:custGeom>
          <a:blipFill rotWithShape="1">
            <a:blip r:embed="rId7">
              <a:alphaModFix/>
            </a:blip>
            <a:stretch>
              <a:fillRect b="-96023" l="0" r="-370743" t="-54364"/>
            </a:stretch>
          </a:blipFill>
          <a:ln>
            <a:noFill/>
          </a:ln>
        </p:spPr>
      </p:sp>
      <p:sp>
        <p:nvSpPr>
          <p:cNvPr id="446" name="Google Shape;446;p37"/>
          <p:cNvSpPr/>
          <p:nvPr/>
        </p:nvSpPr>
        <p:spPr>
          <a:xfrm rot="10800000">
            <a:off x="12315380" y="2528529"/>
            <a:ext cx="597525" cy="1088654"/>
          </a:xfrm>
          <a:custGeom>
            <a:rect b="b" l="l" r="r" t="t"/>
            <a:pathLst>
              <a:path extrusionOk="0" h="1088654" w="597525">
                <a:moveTo>
                  <a:pt x="597524" y="1088653"/>
                </a:moveTo>
                <a:lnTo>
                  <a:pt x="0" y="1088653"/>
                </a:lnTo>
                <a:lnTo>
                  <a:pt x="0" y="0"/>
                </a:lnTo>
                <a:lnTo>
                  <a:pt x="597524" y="0"/>
                </a:lnTo>
                <a:lnTo>
                  <a:pt x="597524" y="1088653"/>
                </a:lnTo>
                <a:close/>
              </a:path>
            </a:pathLst>
          </a:custGeom>
          <a:blipFill rotWithShape="1">
            <a:blip r:embed="rId7">
              <a:alphaModFix/>
            </a:blip>
            <a:stretch>
              <a:fillRect b="-96023" l="0" r="-370743" t="-54364"/>
            </a:stretch>
          </a:blipFill>
          <a:ln>
            <a:noFill/>
          </a:ln>
        </p:spPr>
      </p:sp>
      <p:sp>
        <p:nvSpPr>
          <p:cNvPr id="447" name="Google Shape;447;p37"/>
          <p:cNvSpPr/>
          <p:nvPr/>
        </p:nvSpPr>
        <p:spPr>
          <a:xfrm rot="-2492452">
            <a:off x="-1862303" y="240245"/>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8">
              <a:alphaModFix/>
            </a:blip>
            <a:stretch>
              <a:fillRect b="0" l="0" r="0" t="0"/>
            </a:stretch>
          </a:blipFill>
          <a:ln>
            <a:noFill/>
          </a:ln>
        </p:spPr>
      </p:sp>
      <p:sp>
        <p:nvSpPr>
          <p:cNvPr id="448" name="Google Shape;448;p37"/>
          <p:cNvSpPr/>
          <p:nvPr/>
        </p:nvSpPr>
        <p:spPr>
          <a:xfrm rot="-1307921">
            <a:off x="808536" y="2047696"/>
            <a:ext cx="1100927" cy="1187274"/>
          </a:xfrm>
          <a:custGeom>
            <a:rect b="b" l="l" r="r" t="t"/>
            <a:pathLst>
              <a:path extrusionOk="0" h="1187274" w="1100927">
                <a:moveTo>
                  <a:pt x="0" y="0"/>
                </a:moveTo>
                <a:lnTo>
                  <a:pt x="1100926" y="0"/>
                </a:lnTo>
                <a:lnTo>
                  <a:pt x="1100926" y="1187274"/>
                </a:lnTo>
                <a:lnTo>
                  <a:pt x="0" y="1187274"/>
                </a:lnTo>
                <a:lnTo>
                  <a:pt x="0" y="0"/>
                </a:lnTo>
                <a:close/>
              </a:path>
            </a:pathLst>
          </a:custGeom>
          <a:blipFill rotWithShape="1">
            <a:blip r:embed="rId9">
              <a:alphaModFix/>
            </a:blip>
            <a:stretch>
              <a:fillRect b="0" l="0" r="0" t="0"/>
            </a:stretch>
          </a:blipFill>
          <a:ln>
            <a:noFill/>
          </a:ln>
        </p:spPr>
      </p:sp>
      <p:sp>
        <p:nvSpPr>
          <p:cNvPr id="449" name="Google Shape;449;p37"/>
          <p:cNvSpPr/>
          <p:nvPr/>
        </p:nvSpPr>
        <p:spPr>
          <a:xfrm rot="2700000">
            <a:off x="16679382" y="7323552"/>
            <a:ext cx="969336" cy="969336"/>
          </a:xfrm>
          <a:custGeom>
            <a:rect b="b" l="l" r="r" t="t"/>
            <a:pathLst>
              <a:path extrusionOk="0" h="969336" w="969336">
                <a:moveTo>
                  <a:pt x="0" y="0"/>
                </a:moveTo>
                <a:lnTo>
                  <a:pt x="969336" y="0"/>
                </a:lnTo>
                <a:lnTo>
                  <a:pt x="969336" y="969336"/>
                </a:lnTo>
                <a:lnTo>
                  <a:pt x="0" y="969336"/>
                </a:lnTo>
                <a:lnTo>
                  <a:pt x="0" y="0"/>
                </a:lnTo>
                <a:close/>
              </a:path>
            </a:pathLst>
          </a:custGeom>
          <a:blipFill rotWithShape="1">
            <a:blip r:embed="rId10">
              <a:alphaModFix/>
            </a:blip>
            <a:stretch>
              <a:fillRect b="0" l="0" r="0" t="0"/>
            </a:stretch>
          </a:blipFill>
          <a:ln>
            <a:noFill/>
          </a:ln>
        </p:spPr>
      </p:sp>
      <p:sp>
        <p:nvSpPr>
          <p:cNvPr id="450" name="Google Shape;450;p37"/>
          <p:cNvSpPr/>
          <p:nvPr/>
        </p:nvSpPr>
        <p:spPr>
          <a:xfrm rot="1216371">
            <a:off x="16944349" y="4491027"/>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9">
              <a:alphaModFix/>
            </a:blip>
            <a:stretch>
              <a:fillRect b="0" l="0" r="0" t="0"/>
            </a:stretch>
          </a:blipFill>
          <a:ln>
            <a:noFill/>
          </a:ln>
        </p:spPr>
      </p:sp>
      <p:sp>
        <p:nvSpPr>
          <p:cNvPr id="451" name="Google Shape;451;p37"/>
          <p:cNvSpPr/>
          <p:nvPr/>
        </p:nvSpPr>
        <p:spPr>
          <a:xfrm rot="3198342">
            <a:off x="16298361" y="741385"/>
            <a:ext cx="360530" cy="984887"/>
          </a:xfrm>
          <a:custGeom>
            <a:rect b="b" l="l" r="r" t="t"/>
            <a:pathLst>
              <a:path extrusionOk="0" h="984887" w="360530">
                <a:moveTo>
                  <a:pt x="0" y="0"/>
                </a:moveTo>
                <a:lnTo>
                  <a:pt x="360530" y="0"/>
                </a:lnTo>
                <a:lnTo>
                  <a:pt x="360530" y="984888"/>
                </a:lnTo>
                <a:lnTo>
                  <a:pt x="0" y="984888"/>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457" name="Google Shape;457;p38"/>
          <p:cNvSpPr/>
          <p:nvPr/>
        </p:nvSpPr>
        <p:spPr>
          <a:xfrm rot="2538291">
            <a:off x="-722791" y="3739630"/>
            <a:ext cx="4321366" cy="1532121"/>
          </a:xfrm>
          <a:custGeom>
            <a:rect b="b" l="l" r="r" t="t"/>
            <a:pathLst>
              <a:path extrusionOk="0" h="1532121" w="4321366">
                <a:moveTo>
                  <a:pt x="0" y="0"/>
                </a:moveTo>
                <a:lnTo>
                  <a:pt x="4321367" y="0"/>
                </a:lnTo>
                <a:lnTo>
                  <a:pt x="4321367" y="1532121"/>
                </a:lnTo>
                <a:lnTo>
                  <a:pt x="0" y="1532121"/>
                </a:lnTo>
                <a:lnTo>
                  <a:pt x="0" y="0"/>
                </a:lnTo>
                <a:close/>
              </a:path>
            </a:pathLst>
          </a:custGeom>
          <a:blipFill rotWithShape="1">
            <a:blip r:embed="rId4">
              <a:alphaModFix/>
            </a:blip>
            <a:stretch>
              <a:fillRect b="0" l="0" r="0" t="0"/>
            </a:stretch>
          </a:blipFill>
          <a:ln>
            <a:noFill/>
          </a:ln>
        </p:spPr>
      </p:sp>
      <p:sp>
        <p:nvSpPr>
          <p:cNvPr id="458" name="Google Shape;458;p38"/>
          <p:cNvSpPr/>
          <p:nvPr/>
        </p:nvSpPr>
        <p:spPr>
          <a:xfrm flipH="1">
            <a:off x="14488756" y="6526551"/>
            <a:ext cx="1946964" cy="3254802"/>
          </a:xfrm>
          <a:custGeom>
            <a:rect b="b" l="l" r="r" t="t"/>
            <a:pathLst>
              <a:path extrusionOk="0" h="3254802" w="1946964">
                <a:moveTo>
                  <a:pt x="1946964" y="0"/>
                </a:moveTo>
                <a:lnTo>
                  <a:pt x="0" y="0"/>
                </a:lnTo>
                <a:lnTo>
                  <a:pt x="0" y="3254803"/>
                </a:lnTo>
                <a:lnTo>
                  <a:pt x="1946964" y="3254803"/>
                </a:lnTo>
                <a:lnTo>
                  <a:pt x="1946964" y="0"/>
                </a:lnTo>
                <a:close/>
              </a:path>
            </a:pathLst>
          </a:custGeom>
          <a:blipFill rotWithShape="1">
            <a:blip r:embed="rId5">
              <a:alphaModFix/>
            </a:blip>
            <a:stretch>
              <a:fillRect b="0" l="0" r="0" t="0"/>
            </a:stretch>
          </a:blipFill>
          <a:ln>
            <a:noFill/>
          </a:ln>
        </p:spPr>
      </p:sp>
      <p:sp>
        <p:nvSpPr>
          <p:cNvPr id="459" name="Google Shape;459;p38"/>
          <p:cNvSpPr/>
          <p:nvPr/>
        </p:nvSpPr>
        <p:spPr>
          <a:xfrm flipH="1" rot="-5400000">
            <a:off x="4523789" y="-1174738"/>
            <a:ext cx="9240423" cy="12636476"/>
          </a:xfrm>
          <a:custGeom>
            <a:rect b="b" l="l" r="r" t="t"/>
            <a:pathLst>
              <a:path extrusionOk="0" h="12636476" w="9240423">
                <a:moveTo>
                  <a:pt x="0" y="12636476"/>
                </a:moveTo>
                <a:lnTo>
                  <a:pt x="9240422" y="12636476"/>
                </a:lnTo>
                <a:lnTo>
                  <a:pt x="9240422" y="0"/>
                </a:lnTo>
                <a:lnTo>
                  <a:pt x="0" y="0"/>
                </a:lnTo>
                <a:lnTo>
                  <a:pt x="0" y="12636476"/>
                </a:lnTo>
                <a:close/>
              </a:path>
            </a:pathLst>
          </a:custGeom>
          <a:blipFill rotWithShape="1">
            <a:blip r:embed="rId6">
              <a:alphaModFix/>
            </a:blip>
            <a:stretch>
              <a:fillRect b="0" l="0" r="0" t="0"/>
            </a:stretch>
          </a:blipFill>
          <a:ln>
            <a:noFill/>
          </a:ln>
        </p:spPr>
      </p:sp>
      <p:sp>
        <p:nvSpPr>
          <p:cNvPr id="460" name="Google Shape;460;p38"/>
          <p:cNvSpPr/>
          <p:nvPr/>
        </p:nvSpPr>
        <p:spPr>
          <a:xfrm rot="2437967">
            <a:off x="14368297" y="424173"/>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7">
              <a:alphaModFix/>
            </a:blip>
            <a:stretch>
              <a:fillRect b="0" l="0" r="0" t="0"/>
            </a:stretch>
          </a:blipFill>
          <a:ln>
            <a:noFill/>
          </a:ln>
        </p:spPr>
      </p:sp>
      <p:sp>
        <p:nvSpPr>
          <p:cNvPr id="461" name="Google Shape;461;p38"/>
          <p:cNvSpPr/>
          <p:nvPr/>
        </p:nvSpPr>
        <p:spPr>
          <a:xfrm rot="-1307921">
            <a:off x="15827397" y="1938645"/>
            <a:ext cx="1100927" cy="1187274"/>
          </a:xfrm>
          <a:custGeom>
            <a:rect b="b" l="l" r="r" t="t"/>
            <a:pathLst>
              <a:path extrusionOk="0" h="1187274" w="1100927">
                <a:moveTo>
                  <a:pt x="0" y="0"/>
                </a:moveTo>
                <a:lnTo>
                  <a:pt x="1100927" y="0"/>
                </a:lnTo>
                <a:lnTo>
                  <a:pt x="1100927" y="1187273"/>
                </a:lnTo>
                <a:lnTo>
                  <a:pt x="0" y="1187273"/>
                </a:lnTo>
                <a:lnTo>
                  <a:pt x="0" y="0"/>
                </a:lnTo>
                <a:close/>
              </a:path>
            </a:pathLst>
          </a:custGeom>
          <a:blipFill rotWithShape="1">
            <a:blip r:embed="rId8">
              <a:alphaModFix/>
            </a:blip>
            <a:stretch>
              <a:fillRect b="0" l="0" r="0" t="0"/>
            </a:stretch>
          </a:blipFill>
          <a:ln>
            <a:noFill/>
          </a:ln>
        </p:spPr>
      </p:sp>
      <p:sp>
        <p:nvSpPr>
          <p:cNvPr id="462" name="Google Shape;462;p38"/>
          <p:cNvSpPr/>
          <p:nvPr/>
        </p:nvSpPr>
        <p:spPr>
          <a:xfrm rot="137640">
            <a:off x="16581881" y="3574646"/>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8">
              <a:alphaModFix/>
            </a:blip>
            <a:stretch>
              <a:fillRect b="0" l="0" r="0" t="0"/>
            </a:stretch>
          </a:blipFill>
          <a:ln>
            <a:noFill/>
          </a:ln>
        </p:spPr>
      </p:sp>
      <p:sp>
        <p:nvSpPr>
          <p:cNvPr id="463" name="Google Shape;463;p38"/>
          <p:cNvSpPr/>
          <p:nvPr/>
        </p:nvSpPr>
        <p:spPr>
          <a:xfrm rot="-1822635">
            <a:off x="1182208" y="1182208"/>
            <a:ext cx="969336" cy="969336"/>
          </a:xfrm>
          <a:custGeom>
            <a:rect b="b" l="l" r="r" t="t"/>
            <a:pathLst>
              <a:path extrusionOk="0" h="969336" w="969336">
                <a:moveTo>
                  <a:pt x="0" y="0"/>
                </a:moveTo>
                <a:lnTo>
                  <a:pt x="969335" y="0"/>
                </a:lnTo>
                <a:lnTo>
                  <a:pt x="969335" y="969335"/>
                </a:lnTo>
                <a:lnTo>
                  <a:pt x="0" y="969335"/>
                </a:lnTo>
                <a:lnTo>
                  <a:pt x="0" y="0"/>
                </a:lnTo>
                <a:close/>
              </a:path>
            </a:pathLst>
          </a:custGeom>
          <a:blipFill rotWithShape="1">
            <a:blip r:embed="rId9">
              <a:alphaModFix/>
            </a:blip>
            <a:stretch>
              <a:fillRect b="0" l="0" r="0" t="0"/>
            </a:stretch>
          </a:blipFill>
          <a:ln>
            <a:noFill/>
          </a:ln>
        </p:spPr>
      </p:sp>
      <p:sp>
        <p:nvSpPr>
          <p:cNvPr id="464" name="Google Shape;464;p38"/>
          <p:cNvSpPr txBox="1"/>
          <p:nvPr/>
        </p:nvSpPr>
        <p:spPr>
          <a:xfrm>
            <a:off x="4864067" y="2964334"/>
            <a:ext cx="8913908" cy="4342302"/>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3117" u="none" cap="none" strike="noStrike">
                <a:solidFill>
                  <a:srgbClr val="0D0D0D"/>
                </a:solidFill>
                <a:latin typeface="Sniglet"/>
                <a:ea typeface="Sniglet"/>
                <a:cs typeface="Sniglet"/>
                <a:sym typeface="Sniglet"/>
              </a:rPr>
              <a:t>https://www.fortinet.com/lat/resources/cyberglossary/what-is-ip-address#:~:text=Una%20direcci%C3%B3n%20de%20protocolo%20de,que%20utilizan%20Internet%20para%20comunicarse. </a:t>
            </a:r>
            <a:endParaRPr/>
          </a:p>
          <a:p>
            <a:pPr indent="0" lvl="0" marL="0" marR="0" rtl="0" algn="ctr">
              <a:lnSpc>
                <a:spcPct val="140006"/>
              </a:lnSpc>
              <a:spcBef>
                <a:spcPts val="0"/>
              </a:spcBef>
              <a:spcAft>
                <a:spcPts val="0"/>
              </a:spcAft>
              <a:buNone/>
            </a:pPr>
            <a:r>
              <a:t/>
            </a:r>
            <a:endParaRPr b="0" i="0" sz="3117" u="none" cap="none" strike="noStrike">
              <a:solidFill>
                <a:srgbClr val="0D0D0D"/>
              </a:solidFill>
              <a:latin typeface="Sniglet"/>
              <a:ea typeface="Sniglet"/>
              <a:cs typeface="Sniglet"/>
              <a:sym typeface="Sniglet"/>
            </a:endParaRPr>
          </a:p>
          <a:p>
            <a:pPr indent="0" lvl="0" marL="0" marR="0" rtl="0" algn="ctr">
              <a:lnSpc>
                <a:spcPct val="140006"/>
              </a:lnSpc>
              <a:spcBef>
                <a:spcPts val="0"/>
              </a:spcBef>
              <a:spcAft>
                <a:spcPts val="0"/>
              </a:spcAft>
              <a:buNone/>
            </a:pPr>
            <a:r>
              <a:rPr b="0" i="0" lang="en-US" sz="3117" u="none" cap="none" strike="noStrike">
                <a:solidFill>
                  <a:srgbClr val="0D0D0D"/>
                </a:solidFill>
                <a:latin typeface="Sniglet"/>
                <a:ea typeface="Sniglet"/>
                <a:cs typeface="Sniglet"/>
                <a:sym typeface="Sniglet"/>
              </a:rPr>
              <a:t>https://www.geeksforgeeks.org/introduction-of-variable-length-subnet-mask-vlsm/</a:t>
            </a:r>
            <a:endParaRPr/>
          </a:p>
        </p:txBody>
      </p:sp>
      <p:sp>
        <p:nvSpPr>
          <p:cNvPr id="465" name="Google Shape;465;p38"/>
          <p:cNvSpPr txBox="1"/>
          <p:nvPr/>
        </p:nvSpPr>
        <p:spPr>
          <a:xfrm>
            <a:off x="5597572" y="1877059"/>
            <a:ext cx="7092857" cy="834547"/>
          </a:xfrm>
          <a:prstGeom prst="rect">
            <a:avLst/>
          </a:prstGeom>
          <a:noFill/>
          <a:ln>
            <a:noFill/>
          </a:ln>
        </p:spPr>
        <p:txBody>
          <a:bodyPr anchorCtr="0" anchor="t" bIns="0" lIns="0" spcFirstLastPara="1" rIns="0" wrap="square" tIns="0">
            <a:spAutoFit/>
          </a:bodyPr>
          <a:lstStyle/>
          <a:p>
            <a:pPr indent="0" lvl="0" marL="0" marR="0" rtl="0" algn="ctr">
              <a:lnSpc>
                <a:spcPct val="125009"/>
              </a:lnSpc>
              <a:spcBef>
                <a:spcPts val="0"/>
              </a:spcBef>
              <a:spcAft>
                <a:spcPts val="0"/>
              </a:spcAft>
              <a:buNone/>
            </a:pPr>
            <a:r>
              <a:rPr b="0" i="0" lang="en-US" sz="5314" u="none" cap="none" strike="noStrike">
                <a:solidFill>
                  <a:srgbClr val="F15D54"/>
                </a:solidFill>
                <a:latin typeface="Shadows Into Light"/>
                <a:ea typeface="Shadows Into Light"/>
                <a:cs typeface="Shadows Into Light"/>
                <a:sym typeface="Shadows Into Light"/>
              </a:rPr>
              <a:t>REFERENCIAS</a:t>
            </a:r>
            <a:endParaRPr/>
          </a:p>
        </p:txBody>
      </p:sp>
      <p:sp>
        <p:nvSpPr>
          <p:cNvPr id="466" name="Google Shape;466;p38"/>
          <p:cNvSpPr txBox="1"/>
          <p:nvPr/>
        </p:nvSpPr>
        <p:spPr>
          <a:xfrm rot="1546052">
            <a:off x="10738347" y="9022185"/>
            <a:ext cx="2713609" cy="548919"/>
          </a:xfrm>
          <a:prstGeom prst="rect">
            <a:avLst/>
          </a:prstGeom>
          <a:noFill/>
          <a:ln>
            <a:noFill/>
          </a:ln>
        </p:spPr>
        <p:txBody>
          <a:bodyPr anchorCtr="0" anchor="t" bIns="0" lIns="0" spcFirstLastPara="1" rIns="0" wrap="square" tIns="0">
            <a:spAutoFit/>
          </a:bodyPr>
          <a:lstStyle/>
          <a:p>
            <a:pPr indent="0" lvl="0" marL="0" marR="0" rtl="0" algn="ctr">
              <a:lnSpc>
                <a:spcPct val="125014"/>
              </a:lnSpc>
              <a:spcBef>
                <a:spcPts val="0"/>
              </a:spcBef>
              <a:spcAft>
                <a:spcPts val="0"/>
              </a:spcAft>
              <a:buNone/>
            </a:pPr>
            <a:r>
              <a:rPr b="0" i="0" lang="en-US" sz="3446" u="none" cap="none" strike="noStrike">
                <a:solidFill>
                  <a:srgbClr val="323232"/>
                </a:solidFill>
                <a:latin typeface="Shadows Into Light"/>
                <a:ea typeface="Shadows Into Light"/>
                <a:cs typeface="Shadows Into Light"/>
                <a:sym typeface="Shadows Into Light"/>
              </a:rPr>
              <a:t>REFERENCIA</a:t>
            </a:r>
            <a:endParaRPr/>
          </a:p>
        </p:txBody>
      </p:sp>
      <p:sp>
        <p:nvSpPr>
          <p:cNvPr id="467" name="Google Shape;467;p38"/>
          <p:cNvSpPr/>
          <p:nvPr/>
        </p:nvSpPr>
        <p:spPr>
          <a:xfrm rot="849770">
            <a:off x="17292512" y="4884286"/>
            <a:ext cx="360530" cy="984887"/>
          </a:xfrm>
          <a:custGeom>
            <a:rect b="b" l="l" r="r" t="t"/>
            <a:pathLst>
              <a:path extrusionOk="0" h="984887" w="360530">
                <a:moveTo>
                  <a:pt x="0" y="0"/>
                </a:moveTo>
                <a:lnTo>
                  <a:pt x="360530" y="0"/>
                </a:lnTo>
                <a:lnTo>
                  <a:pt x="360530" y="984887"/>
                </a:lnTo>
                <a:lnTo>
                  <a:pt x="0" y="984887"/>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3" l="0" r="0" t="-9964"/>
            </a:stretch>
          </a:blipFill>
          <a:ln>
            <a:noFill/>
          </a:ln>
        </p:spPr>
      </p:sp>
      <p:sp>
        <p:nvSpPr>
          <p:cNvPr id="473" name="Google Shape;473;p39"/>
          <p:cNvSpPr/>
          <p:nvPr/>
        </p:nvSpPr>
        <p:spPr>
          <a:xfrm>
            <a:off x="1028700" y="915918"/>
            <a:ext cx="3046091" cy="2436873"/>
          </a:xfrm>
          <a:custGeom>
            <a:rect b="b" l="l" r="r" t="t"/>
            <a:pathLst>
              <a:path extrusionOk="0" h="2436873" w="3046091">
                <a:moveTo>
                  <a:pt x="0" y="0"/>
                </a:moveTo>
                <a:lnTo>
                  <a:pt x="3046091" y="0"/>
                </a:lnTo>
                <a:lnTo>
                  <a:pt x="3046091" y="2436872"/>
                </a:lnTo>
                <a:lnTo>
                  <a:pt x="0" y="2436872"/>
                </a:lnTo>
                <a:lnTo>
                  <a:pt x="0" y="0"/>
                </a:lnTo>
                <a:close/>
              </a:path>
            </a:pathLst>
          </a:custGeom>
          <a:blipFill rotWithShape="1">
            <a:blip r:embed="rId4">
              <a:alphaModFix/>
            </a:blip>
            <a:stretch>
              <a:fillRect b="0" l="0" r="0" t="0"/>
            </a:stretch>
          </a:blipFill>
          <a:ln>
            <a:noFill/>
          </a:ln>
        </p:spPr>
      </p:sp>
      <p:sp>
        <p:nvSpPr>
          <p:cNvPr id="474" name="Google Shape;474;p39"/>
          <p:cNvSpPr/>
          <p:nvPr/>
        </p:nvSpPr>
        <p:spPr>
          <a:xfrm rot="10800000">
            <a:off x="14213209" y="6934210"/>
            <a:ext cx="3046091" cy="2436873"/>
          </a:xfrm>
          <a:custGeom>
            <a:rect b="b" l="l" r="r" t="t"/>
            <a:pathLst>
              <a:path extrusionOk="0" h="2436873" w="3046091">
                <a:moveTo>
                  <a:pt x="0" y="0"/>
                </a:moveTo>
                <a:lnTo>
                  <a:pt x="3046091" y="0"/>
                </a:lnTo>
                <a:lnTo>
                  <a:pt x="3046091" y="2436872"/>
                </a:lnTo>
                <a:lnTo>
                  <a:pt x="0" y="2436872"/>
                </a:lnTo>
                <a:lnTo>
                  <a:pt x="0" y="0"/>
                </a:lnTo>
                <a:close/>
              </a:path>
            </a:pathLst>
          </a:custGeom>
          <a:blipFill rotWithShape="1">
            <a:blip r:embed="rId4">
              <a:alphaModFix/>
            </a:blip>
            <a:stretch>
              <a:fillRect b="0" l="0" r="0" t="0"/>
            </a:stretch>
          </a:blipFill>
          <a:ln>
            <a:noFill/>
          </a:ln>
        </p:spPr>
      </p:sp>
      <p:sp>
        <p:nvSpPr>
          <p:cNvPr id="475" name="Google Shape;475;p39"/>
          <p:cNvSpPr/>
          <p:nvPr/>
        </p:nvSpPr>
        <p:spPr>
          <a:xfrm flipH="1">
            <a:off x="14213209" y="914565"/>
            <a:ext cx="3046091" cy="2436873"/>
          </a:xfrm>
          <a:custGeom>
            <a:rect b="b" l="l" r="r" t="t"/>
            <a:pathLst>
              <a:path extrusionOk="0" h="2436873" w="3046091">
                <a:moveTo>
                  <a:pt x="3046091" y="0"/>
                </a:moveTo>
                <a:lnTo>
                  <a:pt x="0" y="0"/>
                </a:lnTo>
                <a:lnTo>
                  <a:pt x="0" y="2436873"/>
                </a:lnTo>
                <a:lnTo>
                  <a:pt x="3046091" y="2436873"/>
                </a:lnTo>
                <a:lnTo>
                  <a:pt x="3046091" y="0"/>
                </a:lnTo>
                <a:close/>
              </a:path>
            </a:pathLst>
          </a:custGeom>
          <a:blipFill rotWithShape="1">
            <a:blip r:embed="rId4">
              <a:alphaModFix/>
            </a:blip>
            <a:stretch>
              <a:fillRect b="0" l="0" r="0" t="0"/>
            </a:stretch>
          </a:blipFill>
          <a:ln>
            <a:noFill/>
          </a:ln>
        </p:spPr>
      </p:sp>
      <p:sp>
        <p:nvSpPr>
          <p:cNvPr id="476" name="Google Shape;476;p39"/>
          <p:cNvSpPr/>
          <p:nvPr/>
        </p:nvSpPr>
        <p:spPr>
          <a:xfrm flipH="1" rot="10800000">
            <a:off x="1028700" y="6935562"/>
            <a:ext cx="3046091" cy="2436873"/>
          </a:xfrm>
          <a:custGeom>
            <a:rect b="b" l="l" r="r" t="t"/>
            <a:pathLst>
              <a:path extrusionOk="0" h="2436873" w="3046091">
                <a:moveTo>
                  <a:pt x="3046091" y="0"/>
                </a:moveTo>
                <a:lnTo>
                  <a:pt x="0" y="0"/>
                </a:lnTo>
                <a:lnTo>
                  <a:pt x="0" y="2436873"/>
                </a:lnTo>
                <a:lnTo>
                  <a:pt x="3046091" y="2436873"/>
                </a:lnTo>
                <a:lnTo>
                  <a:pt x="3046091" y="0"/>
                </a:lnTo>
                <a:close/>
              </a:path>
            </a:pathLst>
          </a:custGeom>
          <a:blipFill rotWithShape="1">
            <a:blip r:embed="rId4">
              <a:alphaModFix/>
            </a:blip>
            <a:stretch>
              <a:fillRect b="0" l="0" r="0" t="0"/>
            </a:stretch>
          </a:blipFill>
          <a:ln>
            <a:noFill/>
          </a:ln>
        </p:spPr>
      </p:sp>
      <p:sp>
        <p:nvSpPr>
          <p:cNvPr id="477" name="Google Shape;477;p39"/>
          <p:cNvSpPr/>
          <p:nvPr/>
        </p:nvSpPr>
        <p:spPr>
          <a:xfrm rot="-701283">
            <a:off x="6252997" y="5750146"/>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5">
              <a:alphaModFix/>
            </a:blip>
            <a:stretch>
              <a:fillRect b="0" l="0" r="0" t="0"/>
            </a:stretch>
          </a:blipFill>
          <a:ln>
            <a:noFill/>
          </a:ln>
        </p:spPr>
      </p:sp>
      <p:sp>
        <p:nvSpPr>
          <p:cNvPr id="478" name="Google Shape;478;p39"/>
          <p:cNvSpPr txBox="1"/>
          <p:nvPr/>
        </p:nvSpPr>
        <p:spPr>
          <a:xfrm>
            <a:off x="5016732" y="3818965"/>
            <a:ext cx="8252100" cy="45597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None/>
            </a:pPr>
            <a:r>
              <a:rPr b="0" i="0" lang="en-US" sz="11843" u="none" cap="none" strike="noStrike">
                <a:solidFill>
                  <a:srgbClr val="F15D54"/>
                </a:solidFill>
                <a:latin typeface="Arial"/>
                <a:ea typeface="Arial"/>
                <a:cs typeface="Arial"/>
                <a:sym typeface="Arial"/>
              </a:rPr>
              <a:t>ATENCIÓN</a:t>
            </a:r>
            <a:r>
              <a:rPr b="0" i="0" lang="en-US" sz="12343" u="none" cap="none" strike="noStrike">
                <a:solidFill>
                  <a:srgbClr val="F15D54"/>
                </a:solidFill>
                <a:latin typeface="Arial"/>
                <a:ea typeface="Arial"/>
                <a:cs typeface="Arial"/>
                <a:sym typeface="Arial"/>
              </a:rPr>
              <a:t>!</a:t>
            </a:r>
            <a:endParaRPr/>
          </a:p>
          <a:p>
            <a:pPr indent="0" lvl="0" marL="0" marR="0" rtl="0" algn="ctr">
              <a:lnSpc>
                <a:spcPct val="189273"/>
              </a:lnSpc>
              <a:spcBef>
                <a:spcPts val="0"/>
              </a:spcBef>
              <a:spcAft>
                <a:spcPts val="0"/>
              </a:spcAft>
              <a:buNone/>
            </a:pPr>
            <a:r>
              <a:t/>
            </a:r>
            <a:endParaRPr b="0" i="0" sz="12343" u="none" cap="none" strike="noStrike">
              <a:solidFill>
                <a:srgbClr val="F15D54"/>
              </a:solidFill>
              <a:latin typeface="Arial"/>
              <a:ea typeface="Arial"/>
              <a:cs typeface="Arial"/>
              <a:sym typeface="Arial"/>
            </a:endParaRPr>
          </a:p>
        </p:txBody>
      </p:sp>
      <p:sp>
        <p:nvSpPr>
          <p:cNvPr id="479" name="Google Shape;479;p39"/>
          <p:cNvSpPr/>
          <p:nvPr/>
        </p:nvSpPr>
        <p:spPr>
          <a:xfrm rot="577984">
            <a:off x="2761902" y="3388477"/>
            <a:ext cx="2500403" cy="1068354"/>
          </a:xfrm>
          <a:custGeom>
            <a:rect b="b" l="l" r="r" t="t"/>
            <a:pathLst>
              <a:path extrusionOk="0" h="1068354" w="2500403">
                <a:moveTo>
                  <a:pt x="0" y="0"/>
                </a:moveTo>
                <a:lnTo>
                  <a:pt x="2500403" y="0"/>
                </a:lnTo>
                <a:lnTo>
                  <a:pt x="2500403" y="1068354"/>
                </a:lnTo>
                <a:lnTo>
                  <a:pt x="0" y="1068354"/>
                </a:lnTo>
                <a:lnTo>
                  <a:pt x="0" y="0"/>
                </a:lnTo>
                <a:close/>
              </a:path>
            </a:pathLst>
          </a:custGeom>
          <a:blipFill rotWithShape="1">
            <a:blip r:embed="rId6">
              <a:alphaModFix/>
            </a:blip>
            <a:stretch>
              <a:fillRect b="0" l="0" r="0" t="0"/>
            </a:stretch>
          </a:blipFill>
          <a:ln>
            <a:noFill/>
          </a:ln>
        </p:spPr>
      </p:sp>
      <p:sp>
        <p:nvSpPr>
          <p:cNvPr id="480" name="Google Shape;480;p39"/>
          <p:cNvSpPr/>
          <p:nvPr/>
        </p:nvSpPr>
        <p:spPr>
          <a:xfrm>
            <a:off x="8350165" y="1855594"/>
            <a:ext cx="1587670" cy="557519"/>
          </a:xfrm>
          <a:custGeom>
            <a:rect b="b" l="l" r="r" t="t"/>
            <a:pathLst>
              <a:path extrusionOk="0" h="557519" w="1587670">
                <a:moveTo>
                  <a:pt x="0" y="0"/>
                </a:moveTo>
                <a:lnTo>
                  <a:pt x="1587670" y="0"/>
                </a:lnTo>
                <a:lnTo>
                  <a:pt x="1587670" y="557520"/>
                </a:lnTo>
                <a:lnTo>
                  <a:pt x="0" y="557520"/>
                </a:lnTo>
                <a:lnTo>
                  <a:pt x="0" y="0"/>
                </a:lnTo>
                <a:close/>
              </a:path>
            </a:pathLst>
          </a:custGeom>
          <a:blipFill rotWithShape="1">
            <a:blip r:embed="rId7">
              <a:alphaModFix/>
            </a:blip>
            <a:stretch>
              <a:fillRect b="-33518" l="-13707" r="-15228" t="0"/>
            </a:stretch>
          </a:blipFill>
          <a:ln>
            <a:noFill/>
          </a:ln>
        </p:spPr>
      </p:sp>
      <p:sp>
        <p:nvSpPr>
          <p:cNvPr id="481" name="Google Shape;481;p39"/>
          <p:cNvSpPr/>
          <p:nvPr/>
        </p:nvSpPr>
        <p:spPr>
          <a:xfrm rot="-1307921">
            <a:off x="12242049" y="1307785"/>
            <a:ext cx="1100927" cy="1187274"/>
          </a:xfrm>
          <a:custGeom>
            <a:rect b="b" l="l" r="r" t="t"/>
            <a:pathLst>
              <a:path extrusionOk="0" h="1187274" w="1100927">
                <a:moveTo>
                  <a:pt x="0" y="0"/>
                </a:moveTo>
                <a:lnTo>
                  <a:pt x="1100926" y="0"/>
                </a:lnTo>
                <a:lnTo>
                  <a:pt x="1100926" y="1187274"/>
                </a:lnTo>
                <a:lnTo>
                  <a:pt x="0" y="1187274"/>
                </a:lnTo>
                <a:lnTo>
                  <a:pt x="0" y="0"/>
                </a:lnTo>
                <a:close/>
              </a:path>
            </a:pathLst>
          </a:custGeom>
          <a:blipFill rotWithShape="1">
            <a:blip r:embed="rId8">
              <a:alphaModFix/>
            </a:blip>
            <a:stretch>
              <a:fillRect b="0" l="0" r="0" t="0"/>
            </a:stretch>
          </a:blipFill>
          <a:ln>
            <a:noFill/>
          </a:ln>
        </p:spPr>
      </p:sp>
      <p:sp>
        <p:nvSpPr>
          <p:cNvPr id="482" name="Google Shape;482;p39"/>
          <p:cNvSpPr/>
          <p:nvPr/>
        </p:nvSpPr>
        <p:spPr>
          <a:xfrm rot="137640">
            <a:off x="12996532" y="2943787"/>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483" name="Google Shape;483;p39"/>
          <p:cNvSpPr/>
          <p:nvPr/>
        </p:nvSpPr>
        <p:spPr>
          <a:xfrm rot="-1315429">
            <a:off x="2687648" y="6130320"/>
            <a:ext cx="1646701" cy="1607779"/>
          </a:xfrm>
          <a:custGeom>
            <a:rect b="b" l="l" r="r" t="t"/>
            <a:pathLst>
              <a:path extrusionOk="0" h="1607779" w="1646701">
                <a:moveTo>
                  <a:pt x="0" y="0"/>
                </a:moveTo>
                <a:lnTo>
                  <a:pt x="1646701" y="0"/>
                </a:lnTo>
                <a:lnTo>
                  <a:pt x="1646701" y="1607779"/>
                </a:lnTo>
                <a:lnTo>
                  <a:pt x="0" y="1607779"/>
                </a:lnTo>
                <a:lnTo>
                  <a:pt x="0" y="0"/>
                </a:lnTo>
                <a:close/>
              </a:path>
            </a:pathLst>
          </a:custGeom>
          <a:blipFill rotWithShape="1">
            <a:blip r:embed="rId9">
              <a:alphaModFix/>
            </a:blip>
            <a:stretch>
              <a:fillRect b="0" l="0" r="0" t="0"/>
            </a:stretch>
          </a:blipFill>
          <a:ln>
            <a:noFill/>
          </a:ln>
        </p:spPr>
      </p:sp>
      <p:sp>
        <p:nvSpPr>
          <p:cNvPr id="484" name="Google Shape;484;p39"/>
          <p:cNvSpPr/>
          <p:nvPr/>
        </p:nvSpPr>
        <p:spPr>
          <a:xfrm rot="3198342">
            <a:off x="14032944" y="7069153"/>
            <a:ext cx="360530" cy="984887"/>
          </a:xfrm>
          <a:custGeom>
            <a:rect b="b" l="l" r="r" t="t"/>
            <a:pathLst>
              <a:path extrusionOk="0" h="984887" w="360530">
                <a:moveTo>
                  <a:pt x="0" y="0"/>
                </a:moveTo>
                <a:lnTo>
                  <a:pt x="360530" y="0"/>
                </a:lnTo>
                <a:lnTo>
                  <a:pt x="360530" y="984887"/>
                </a:lnTo>
                <a:lnTo>
                  <a:pt x="0" y="984887"/>
                </a:lnTo>
                <a:lnTo>
                  <a:pt x="0" y="0"/>
                </a:lnTo>
                <a:close/>
              </a:path>
            </a:pathLst>
          </a:custGeom>
          <a:blipFill rotWithShape="1">
            <a:blip r:embed="rId10">
              <a:alphaModFix/>
            </a:blip>
            <a:stretch>
              <a:fillRect b="0" l="0" r="0" t="0"/>
            </a:stretch>
          </a:blipFill>
          <a:ln>
            <a:noFill/>
          </a:ln>
        </p:spPr>
      </p:sp>
      <p:sp>
        <p:nvSpPr>
          <p:cNvPr id="485" name="Google Shape;485;p39"/>
          <p:cNvSpPr/>
          <p:nvPr/>
        </p:nvSpPr>
        <p:spPr>
          <a:xfrm rot="2700000">
            <a:off x="5260101" y="1562895"/>
            <a:ext cx="969336" cy="969336"/>
          </a:xfrm>
          <a:custGeom>
            <a:rect b="b" l="l" r="r" t="t"/>
            <a:pathLst>
              <a:path extrusionOk="0" h="969336" w="969336">
                <a:moveTo>
                  <a:pt x="0" y="0"/>
                </a:moveTo>
                <a:lnTo>
                  <a:pt x="969335" y="0"/>
                </a:lnTo>
                <a:lnTo>
                  <a:pt x="969335" y="969336"/>
                </a:lnTo>
                <a:lnTo>
                  <a:pt x="0" y="969336"/>
                </a:lnTo>
                <a:lnTo>
                  <a:pt x="0" y="0"/>
                </a:lnTo>
                <a:close/>
              </a:path>
            </a:pathLst>
          </a:custGeom>
          <a:blipFill rotWithShape="1">
            <a:blip r:embed="rId11">
              <a:alphaModFix/>
            </a:blip>
            <a:stretch>
              <a:fillRect b="0" l="0" r="0" t="0"/>
            </a:stretch>
          </a:blipFill>
          <a:ln>
            <a:noFill/>
          </a:ln>
        </p:spPr>
      </p:sp>
      <p:sp>
        <p:nvSpPr>
          <p:cNvPr id="486" name="Google Shape;486;p39"/>
          <p:cNvSpPr/>
          <p:nvPr/>
        </p:nvSpPr>
        <p:spPr>
          <a:xfrm rot="-1764908">
            <a:off x="15555990" y="5810882"/>
            <a:ext cx="360530" cy="984887"/>
          </a:xfrm>
          <a:custGeom>
            <a:rect b="b" l="l" r="r" t="t"/>
            <a:pathLst>
              <a:path extrusionOk="0" h="984887" w="360530">
                <a:moveTo>
                  <a:pt x="0" y="0"/>
                </a:moveTo>
                <a:lnTo>
                  <a:pt x="360529" y="0"/>
                </a:lnTo>
                <a:lnTo>
                  <a:pt x="360529" y="984887"/>
                </a:lnTo>
                <a:lnTo>
                  <a:pt x="0" y="984887"/>
                </a:lnTo>
                <a:lnTo>
                  <a:pt x="0" y="0"/>
                </a:lnTo>
                <a:close/>
              </a:path>
            </a:pathLst>
          </a:custGeom>
          <a:blipFill rotWithShape="1">
            <a:blip r:embed="rId10">
              <a:alphaModFix/>
            </a:blip>
            <a:stretch>
              <a:fillRect b="0" l="0" r="0" t="0"/>
            </a:stretch>
          </a:blipFill>
          <a:ln>
            <a:noFill/>
          </a:ln>
        </p:spPr>
      </p:sp>
      <p:sp>
        <p:nvSpPr>
          <p:cNvPr id="487" name="Google Shape;487;p39"/>
          <p:cNvSpPr/>
          <p:nvPr/>
        </p:nvSpPr>
        <p:spPr>
          <a:xfrm rot="1418040">
            <a:off x="14729127" y="2145336"/>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488" name="Google Shape;488;p39"/>
          <p:cNvSpPr/>
          <p:nvPr/>
        </p:nvSpPr>
        <p:spPr>
          <a:xfrm rot="-1172371">
            <a:off x="1826382" y="480452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sp>
      <p:sp>
        <p:nvSpPr>
          <p:cNvPr id="489" name="Google Shape;489;p39"/>
          <p:cNvSpPr/>
          <p:nvPr/>
        </p:nvSpPr>
        <p:spPr>
          <a:xfrm>
            <a:off x="12983189" y="6538601"/>
            <a:ext cx="2666990" cy="3646460"/>
          </a:xfrm>
          <a:custGeom>
            <a:rect b="b" l="l" r="r" t="t"/>
            <a:pathLst>
              <a:path extrusionOk="0" h="3646460" w="2666990">
                <a:moveTo>
                  <a:pt x="0" y="0"/>
                </a:moveTo>
                <a:lnTo>
                  <a:pt x="2666991" y="0"/>
                </a:lnTo>
                <a:lnTo>
                  <a:pt x="2666991" y="3646460"/>
                </a:lnTo>
                <a:lnTo>
                  <a:pt x="0" y="3646460"/>
                </a:lnTo>
                <a:lnTo>
                  <a:pt x="0" y="0"/>
                </a:lnTo>
                <a:close/>
              </a:path>
            </a:pathLst>
          </a:custGeom>
          <a:blipFill rotWithShape="1">
            <a:blip r:embed="rId12">
              <a:alphaModFix/>
            </a:blip>
            <a:stretch>
              <a:fillRect b="0" l="0" r="0" t="0"/>
            </a:stretch>
          </a:blipFill>
          <a:ln>
            <a:noFill/>
          </a:ln>
        </p:spPr>
      </p:sp>
      <p:sp>
        <p:nvSpPr>
          <p:cNvPr id="490" name="Google Shape;490;p39"/>
          <p:cNvSpPr txBox="1"/>
          <p:nvPr/>
        </p:nvSpPr>
        <p:spPr>
          <a:xfrm>
            <a:off x="6102991" y="2750966"/>
            <a:ext cx="5766300" cy="10500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6821" u="none" cap="none" strike="noStrike">
                <a:solidFill>
                  <a:srgbClr val="009B96"/>
                </a:solidFill>
                <a:latin typeface="Shadows Into Light"/>
                <a:ea typeface="Shadows Into Light"/>
                <a:cs typeface="Shadows Into Light"/>
                <a:sym typeface="Shadows Into Light"/>
              </a:rPr>
              <a:t>¡GRACIAS POR SU </a:t>
            </a:r>
            <a:endParaRPr sz="200"/>
          </a:p>
        </p:txBody>
      </p:sp>
      <p:sp>
        <p:nvSpPr>
          <p:cNvPr id="491" name="Google Shape;491;p39"/>
          <p:cNvSpPr txBox="1"/>
          <p:nvPr/>
        </p:nvSpPr>
        <p:spPr>
          <a:xfrm>
            <a:off x="4214508" y="8262570"/>
            <a:ext cx="8271315" cy="215035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None/>
            </a:pPr>
            <a:r>
              <a:rPr b="0" i="0" lang="en-US" sz="3073" u="none" cap="none" strike="noStrike">
                <a:solidFill>
                  <a:srgbClr val="FFFFFF"/>
                </a:solidFill>
                <a:latin typeface="Sniglet"/>
                <a:ea typeface="Sniglet"/>
                <a:cs typeface="Sniglet"/>
                <a:sym typeface="Sniglet"/>
              </a:rPr>
              <a:t>RECUERDA QUE TENEMOS NUESTRO FORO SEMANAL DONDE PUEDES CONSULTAR CUALQUIER DUDA QUE TE SURJA EN LA SEMANA</a:t>
            </a:r>
            <a:endParaRPr/>
          </a:p>
          <a:p>
            <a:pPr indent="0" lvl="0" marL="0" marR="0" rtl="0" algn="ctr">
              <a:lnSpc>
                <a:spcPct val="139993"/>
              </a:lnSpc>
              <a:spcBef>
                <a:spcPts val="0"/>
              </a:spcBef>
              <a:spcAft>
                <a:spcPts val="0"/>
              </a:spcAft>
              <a:buNone/>
            </a:pPr>
            <a:r>
              <a:t/>
            </a:r>
            <a:endParaRPr b="0" i="0" sz="3073" u="none" cap="none" strike="noStrike">
              <a:solidFill>
                <a:srgbClr val="FFFFFF"/>
              </a:solidFill>
              <a:latin typeface="Sniglet"/>
              <a:ea typeface="Sniglet"/>
              <a:cs typeface="Sniglet"/>
              <a:sym typeface="Sniglet"/>
            </a:endParaRPr>
          </a:p>
        </p:txBody>
      </p:sp>
      <p:sp>
        <p:nvSpPr>
          <p:cNvPr id="492" name="Google Shape;492;p39"/>
          <p:cNvSpPr txBox="1"/>
          <p:nvPr/>
        </p:nvSpPr>
        <p:spPr>
          <a:xfrm>
            <a:off x="4574956" y="6757171"/>
            <a:ext cx="7058100" cy="1505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9780" u="none" cap="none" strike="noStrike">
                <a:solidFill>
                  <a:srgbClr val="FFFFFF"/>
                </a:solidFill>
                <a:latin typeface="Arial"/>
                <a:ea typeface="Arial"/>
                <a:cs typeface="Arial"/>
                <a:sym typeface="Arial"/>
              </a:rPr>
              <a:t>¿</a:t>
            </a:r>
            <a:r>
              <a:rPr lang="en-US" sz="9780">
                <a:solidFill>
                  <a:srgbClr val="FFFFFF"/>
                </a:solidFill>
              </a:rPr>
              <a:t>D</a:t>
            </a:r>
            <a:r>
              <a:rPr b="0" i="0" lang="en-US" sz="9780" u="none" cap="none" strike="noStrike">
                <a:solidFill>
                  <a:srgbClr val="FFFFFF"/>
                </a:solidFill>
                <a:latin typeface="Arial"/>
                <a:ea typeface="Arial"/>
                <a:cs typeface="Arial"/>
                <a:sym typeface="Arial"/>
              </a:rPr>
              <a:t>udas?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