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6"/>
  </p:notesMasterIdLst>
  <p:sldIdLst>
    <p:sldId id="257" r:id="rId2"/>
    <p:sldId id="258" r:id="rId3"/>
    <p:sldId id="259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Doppio One" panose="020B0604020202020204" charset="0"/>
      <p:regular r:id="rId22"/>
    </p:embeddedFont>
    <p:embeddedFont>
      <p:font typeface="Encode Sans Condensed" panose="020B0604020202020204" charset="0"/>
      <p:regular r:id="rId23"/>
      <p:bold r:id="rId24"/>
    </p:embeddedFont>
    <p:embeddedFont>
      <p:font typeface="Wingdings 2" panose="05020102010507070707" pitchFamily="18" charset="2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iqUze8LM5118uhZbBACgmUmHIH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4BC229-47B1-4F37-A711-5E0385E0E5B5}">
  <a:tblStyle styleId="{364BC229-47B1-4F37-A711-5E0385E0E5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6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2031938fd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g22031938fd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2031938fd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g22031938fd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031938fd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g22031938fd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DCD5B32E-395D-038A-6F5B-55CFB6BA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:notes">
            <a:extLst>
              <a:ext uri="{FF2B5EF4-FFF2-40B4-BE49-F238E27FC236}">
                <a16:creationId xmlns:a16="http://schemas.microsoft.com/office/drawing/2014/main" id="{D23B7A06-0DAB-1059-5C86-DB597EBA6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35:notes">
            <a:extLst>
              <a:ext uri="{FF2B5EF4-FFF2-40B4-BE49-F238E27FC236}">
                <a16:creationId xmlns:a16="http://schemas.microsoft.com/office/drawing/2014/main" id="{1E4F6E0D-82D0-EC23-DAB6-332EB4D41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9616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68173569-C7CE-223A-D709-5CA519FE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:notes">
            <a:extLst>
              <a:ext uri="{FF2B5EF4-FFF2-40B4-BE49-F238E27FC236}">
                <a16:creationId xmlns:a16="http://schemas.microsoft.com/office/drawing/2014/main" id="{49A76F9D-A682-6FC4-9FA5-15DE00135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35:notes">
            <a:extLst>
              <a:ext uri="{FF2B5EF4-FFF2-40B4-BE49-F238E27FC236}">
                <a16:creationId xmlns:a16="http://schemas.microsoft.com/office/drawing/2014/main" id="{D1A4F09B-8218-13E6-677C-45E6EB7AF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7608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16F321E7-6B8E-DE5B-71C9-E762A4432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:notes">
            <a:extLst>
              <a:ext uri="{FF2B5EF4-FFF2-40B4-BE49-F238E27FC236}">
                <a16:creationId xmlns:a16="http://schemas.microsoft.com/office/drawing/2014/main" id="{BE0646CD-AC05-3F1B-7D12-E8BA82C32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35:notes">
            <a:extLst>
              <a:ext uri="{FF2B5EF4-FFF2-40B4-BE49-F238E27FC236}">
                <a16:creationId xmlns:a16="http://schemas.microsoft.com/office/drawing/2014/main" id="{0A2B4BBB-A0AA-E610-F4B8-2251EACBA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6835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>
          <a:extLst>
            <a:ext uri="{FF2B5EF4-FFF2-40B4-BE49-F238E27FC236}">
              <a16:creationId xmlns:a16="http://schemas.microsoft.com/office/drawing/2014/main" id="{8DDF3749-A386-1955-FE06-24B3B9E8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2031938fdf_0_21:notes">
            <a:extLst>
              <a:ext uri="{FF2B5EF4-FFF2-40B4-BE49-F238E27FC236}">
                <a16:creationId xmlns:a16="http://schemas.microsoft.com/office/drawing/2014/main" id="{86379AE6-E586-EFB7-03B8-11F10E9642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g22031938fdf_0_21:notes">
            <a:extLst>
              <a:ext uri="{FF2B5EF4-FFF2-40B4-BE49-F238E27FC236}">
                <a16:creationId xmlns:a16="http://schemas.microsoft.com/office/drawing/2014/main" id="{97531EA4-8A69-08CA-CF13-9453642EF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9363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>
          <a:extLst>
            <a:ext uri="{FF2B5EF4-FFF2-40B4-BE49-F238E27FC236}">
              <a16:creationId xmlns:a16="http://schemas.microsoft.com/office/drawing/2014/main" id="{110077F3-6BEF-9370-9195-F632033B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2031938fdf_0_21:notes">
            <a:extLst>
              <a:ext uri="{FF2B5EF4-FFF2-40B4-BE49-F238E27FC236}">
                <a16:creationId xmlns:a16="http://schemas.microsoft.com/office/drawing/2014/main" id="{14347666-62EF-BDB1-BDD2-16117B70B4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g22031938fdf_0_21:notes">
            <a:extLst>
              <a:ext uri="{FF2B5EF4-FFF2-40B4-BE49-F238E27FC236}">
                <a16:creationId xmlns:a16="http://schemas.microsoft.com/office/drawing/2014/main" id="{3905E75E-5C7A-67C2-6B07-C3C48ABC6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1644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D03A9922-47C0-A9EE-48F5-737465221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031938fdf_0_27:notes">
            <a:extLst>
              <a:ext uri="{FF2B5EF4-FFF2-40B4-BE49-F238E27FC236}">
                <a16:creationId xmlns:a16="http://schemas.microsoft.com/office/drawing/2014/main" id="{F7D61DAB-9BBC-9B4F-B370-A4CD6693CF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g22031938fdf_0_27:notes">
            <a:extLst>
              <a:ext uri="{FF2B5EF4-FFF2-40B4-BE49-F238E27FC236}">
                <a16:creationId xmlns:a16="http://schemas.microsoft.com/office/drawing/2014/main" id="{677D8F23-7005-D6F2-A7A9-EBF27B32AD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7832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4362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9583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8859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6524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8301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4654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5425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096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7637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4544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5040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5511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1256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50341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2"/>
          <p:cNvSpPr txBox="1">
            <a:spLocks noGrp="1"/>
          </p:cNvSpPr>
          <p:nvPr>
            <p:ph type="ctrTitle"/>
          </p:nvPr>
        </p:nvSpPr>
        <p:spPr>
          <a:xfrm>
            <a:off x="1473525" y="2562750"/>
            <a:ext cx="6196800" cy="151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>
                <a:latin typeface="Doppio One"/>
                <a:ea typeface="Doppio One"/>
                <a:cs typeface="Doppio One"/>
                <a:sym typeface="Doppi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subTitle" idx="1"/>
          </p:nvPr>
        </p:nvSpPr>
        <p:spPr>
          <a:xfrm>
            <a:off x="1473675" y="4056400"/>
            <a:ext cx="6196800" cy="5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4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2176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99804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3"/>
          <p:cNvSpPr txBox="1">
            <a:spLocks noGrp="1"/>
          </p:cNvSpPr>
          <p:nvPr>
            <p:ph type="title" idx="2"/>
          </p:nvPr>
        </p:nvSpPr>
        <p:spPr>
          <a:xfrm>
            <a:off x="1618650" y="16332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4" name="Google Shape;64;p43"/>
          <p:cNvSpPr txBox="1">
            <a:spLocks noGrp="1"/>
          </p:cNvSpPr>
          <p:nvPr>
            <p:ph type="title" idx="3"/>
          </p:nvPr>
        </p:nvSpPr>
        <p:spPr>
          <a:xfrm>
            <a:off x="1618650" y="30666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title" idx="4"/>
          </p:nvPr>
        </p:nvSpPr>
        <p:spPr>
          <a:xfrm>
            <a:off x="4204650" y="16332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title" idx="5"/>
          </p:nvPr>
        </p:nvSpPr>
        <p:spPr>
          <a:xfrm>
            <a:off x="4204650" y="30666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7" name="Google Shape;67;p43"/>
          <p:cNvSpPr txBox="1">
            <a:spLocks noGrp="1"/>
          </p:cNvSpPr>
          <p:nvPr>
            <p:ph type="title" idx="6"/>
          </p:nvPr>
        </p:nvSpPr>
        <p:spPr>
          <a:xfrm>
            <a:off x="6790650" y="16332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8" name="Google Shape;68;p43"/>
          <p:cNvSpPr txBox="1">
            <a:spLocks noGrp="1"/>
          </p:cNvSpPr>
          <p:nvPr>
            <p:ph type="title" idx="7"/>
          </p:nvPr>
        </p:nvSpPr>
        <p:spPr>
          <a:xfrm>
            <a:off x="6790650" y="30666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43"/>
          <p:cNvSpPr txBox="1">
            <a:spLocks noGrp="1"/>
          </p:cNvSpPr>
          <p:nvPr>
            <p:ph type="subTitle" idx="1"/>
          </p:nvPr>
        </p:nvSpPr>
        <p:spPr>
          <a:xfrm>
            <a:off x="720000" y="2187625"/>
            <a:ext cx="25320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43"/>
          <p:cNvSpPr txBox="1">
            <a:spLocks noGrp="1"/>
          </p:cNvSpPr>
          <p:nvPr>
            <p:ph type="subTitle" idx="8"/>
          </p:nvPr>
        </p:nvSpPr>
        <p:spPr>
          <a:xfrm>
            <a:off x="3306000" y="2187625"/>
            <a:ext cx="25320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43"/>
          <p:cNvSpPr txBox="1">
            <a:spLocks noGrp="1"/>
          </p:cNvSpPr>
          <p:nvPr>
            <p:ph type="subTitle" idx="9"/>
          </p:nvPr>
        </p:nvSpPr>
        <p:spPr>
          <a:xfrm>
            <a:off x="5892000" y="2187625"/>
            <a:ext cx="25320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2" name="Google Shape;72;p43"/>
          <p:cNvSpPr txBox="1">
            <a:spLocks noGrp="1"/>
          </p:cNvSpPr>
          <p:nvPr>
            <p:ph type="subTitle" idx="13"/>
          </p:nvPr>
        </p:nvSpPr>
        <p:spPr>
          <a:xfrm>
            <a:off x="720000" y="3621100"/>
            <a:ext cx="25320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43"/>
          <p:cNvSpPr txBox="1">
            <a:spLocks noGrp="1"/>
          </p:cNvSpPr>
          <p:nvPr>
            <p:ph type="subTitle" idx="14"/>
          </p:nvPr>
        </p:nvSpPr>
        <p:spPr>
          <a:xfrm>
            <a:off x="3306000" y="3621100"/>
            <a:ext cx="25320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subTitle" idx="15"/>
          </p:nvPr>
        </p:nvSpPr>
        <p:spPr>
          <a:xfrm>
            <a:off x="5892000" y="3621100"/>
            <a:ext cx="25320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7487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4"/>
          <p:cNvSpPr txBox="1">
            <a:spLocks noGrp="1"/>
          </p:cNvSpPr>
          <p:nvPr>
            <p:ph type="title"/>
          </p:nvPr>
        </p:nvSpPr>
        <p:spPr>
          <a:xfrm>
            <a:off x="3403454" y="783554"/>
            <a:ext cx="4383600" cy="162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9" name="Google Shape;79;p44"/>
          <p:cNvSpPr txBox="1">
            <a:spLocks noGrp="1"/>
          </p:cNvSpPr>
          <p:nvPr>
            <p:ph type="title" idx="2"/>
          </p:nvPr>
        </p:nvSpPr>
        <p:spPr>
          <a:xfrm>
            <a:off x="1356946" y="783550"/>
            <a:ext cx="2046600" cy="162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44"/>
          <p:cNvSpPr>
            <a:spLocks noGrp="1"/>
          </p:cNvSpPr>
          <p:nvPr>
            <p:ph type="pic" idx="3"/>
          </p:nvPr>
        </p:nvSpPr>
        <p:spPr>
          <a:xfrm>
            <a:off x="5" y="2967300"/>
            <a:ext cx="9144000" cy="2176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84561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7"/>
          <p:cNvSpPr txBox="1">
            <a:spLocks noGrp="1"/>
          </p:cNvSpPr>
          <p:nvPr>
            <p:ph type="title"/>
          </p:nvPr>
        </p:nvSpPr>
        <p:spPr>
          <a:xfrm>
            <a:off x="715950" y="873075"/>
            <a:ext cx="50886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7"/>
          <p:cNvSpPr txBox="1">
            <a:spLocks noGrp="1"/>
          </p:cNvSpPr>
          <p:nvPr>
            <p:ph type="subTitle" idx="1"/>
          </p:nvPr>
        </p:nvSpPr>
        <p:spPr>
          <a:xfrm>
            <a:off x="715952" y="2159125"/>
            <a:ext cx="5088600" cy="21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1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9497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privacy-and-security/security-config?hl=es-419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juniper.net/documentation/mx/es/software/junos/security-policies/topics/topic-map/security-user-role-firewall-polic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" descr="Un teclado de computadora&#10;&#10;Descripción generada automáticamente con confianza media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9091" t="23391"/>
          <a:stretch/>
        </p:blipFill>
        <p:spPr>
          <a:xfrm>
            <a:off x="20" y="10"/>
            <a:ext cx="9143980" cy="5143489"/>
          </a:xfrm>
          <a:prstGeom prst="rect">
            <a:avLst/>
          </a:prstGeom>
          <a:noFill/>
        </p:spPr>
      </p:pic>
      <p:sp>
        <p:nvSpPr>
          <p:cNvPr id="225" name="Freeform 6">
            <a:extLst>
              <a:ext uri="{FF2B5EF4-FFF2-40B4-BE49-F238E27FC236}">
                <a16:creationId xmlns:a16="http://schemas.microsoft.com/office/drawing/2014/main" id="{9D1A3D83-39F0-4366-BB12-3C5732003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55172" y="220174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218" name="Google Shape;218;p2"/>
          <p:cNvSpPr txBox="1">
            <a:spLocks noGrp="1"/>
          </p:cNvSpPr>
          <p:nvPr>
            <p:ph type="ctrTitle"/>
          </p:nvPr>
        </p:nvSpPr>
        <p:spPr>
          <a:xfrm>
            <a:off x="4292600" y="2438399"/>
            <a:ext cx="4279900" cy="1460947"/>
          </a:xfrm>
          <a:prstGeom prst="rect">
            <a:avLst/>
          </a:prstGeom>
        </p:spPr>
        <p:txBody>
          <a:bodyPr spcFirstLastPara="1" lIns="91425" tIns="91425" rIns="91425" bIns="91425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GT" sz="3000"/>
              <a:t>Redes de Computadoras 1   Clase S4</a:t>
            </a:r>
            <a:r>
              <a:rPr lang="es-GT" sz="30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27000">
              <a:schemeClr val="dk2"/>
            </a:gs>
            <a:gs pos="100000">
              <a:schemeClr val="lt1"/>
            </a:gs>
          </a:gsLst>
          <a:lin ang="8100019" scaled="0"/>
        </a:gra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"/>
          <p:cNvSpPr txBox="1">
            <a:spLocks noGrp="1"/>
          </p:cNvSpPr>
          <p:nvPr>
            <p:ph type="title"/>
          </p:nvPr>
        </p:nvSpPr>
        <p:spPr>
          <a:xfrm>
            <a:off x="645750" y="576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Contenido</a:t>
            </a:r>
            <a:endParaRPr dirty="0"/>
          </a:p>
        </p:txBody>
      </p:sp>
      <p:sp>
        <p:nvSpPr>
          <p:cNvPr id="226" name="Google Shape;226;p3"/>
          <p:cNvSpPr txBox="1">
            <a:spLocks noGrp="1"/>
          </p:cNvSpPr>
          <p:nvPr>
            <p:ph type="title" idx="2"/>
          </p:nvPr>
        </p:nvSpPr>
        <p:spPr>
          <a:xfrm>
            <a:off x="4204650" y="1850997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*</a:t>
            </a:r>
            <a:endParaRPr dirty="0"/>
          </a:p>
        </p:txBody>
      </p:sp>
      <p:sp>
        <p:nvSpPr>
          <p:cNvPr id="232" name="Google Shape;232;p3"/>
          <p:cNvSpPr txBox="1">
            <a:spLocks noGrp="1"/>
          </p:cNvSpPr>
          <p:nvPr>
            <p:ph type="subTitle" idx="1"/>
          </p:nvPr>
        </p:nvSpPr>
        <p:spPr>
          <a:xfrm>
            <a:off x="3306000" y="2405339"/>
            <a:ext cx="25320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dirty="0"/>
              <a:t>Access Point, Firewalls y Routers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Access Point</a:t>
            </a:r>
            <a:endParaRPr dirty="0"/>
          </a:p>
        </p:txBody>
      </p:sp>
      <p:sp>
        <p:nvSpPr>
          <p:cNvPr id="243" name="Google Shape;243;p4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 dirty="0"/>
          </a:p>
        </p:txBody>
      </p:sp>
      <p:pic>
        <p:nvPicPr>
          <p:cNvPr id="244" name="Google Shape;244;p4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32144" b="32144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465" name="Freeform: Shape 464">
            <a:extLst>
              <a:ext uri="{FF2B5EF4-FFF2-40B4-BE49-F238E27FC236}">
                <a16:creationId xmlns:a16="http://schemas.microsoft.com/office/drawing/2014/main" id="{9610F818-219E-491F-887F-B078103BA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804921"/>
            <a:ext cx="9143999" cy="2338578"/>
          </a:xfrm>
          <a:custGeom>
            <a:avLst/>
            <a:gdLst>
              <a:gd name="connsiteX0" fmla="*/ 0 w 12192000"/>
              <a:gd name="connsiteY0" fmla="*/ 0 h 3118104"/>
              <a:gd name="connsiteX1" fmla="*/ 3676329 w 12192000"/>
              <a:gd name="connsiteY1" fmla="*/ 0 h 3118104"/>
              <a:gd name="connsiteX2" fmla="*/ 5595257 w 12192000"/>
              <a:gd name="connsiteY2" fmla="*/ 0 h 3118104"/>
              <a:gd name="connsiteX3" fmla="*/ 5672349 w 12192000"/>
              <a:gd name="connsiteY3" fmla="*/ 0 h 3118104"/>
              <a:gd name="connsiteX4" fmla="*/ 6053347 w 12192000"/>
              <a:gd name="connsiteY4" fmla="*/ 263783 h 3118104"/>
              <a:gd name="connsiteX5" fmla="*/ 6061813 w 12192000"/>
              <a:gd name="connsiteY5" fmla="*/ 266713 h 3118104"/>
              <a:gd name="connsiteX6" fmla="*/ 6074513 w 12192000"/>
              <a:gd name="connsiteY6" fmla="*/ 271110 h 3118104"/>
              <a:gd name="connsiteX7" fmla="*/ 6087212 w 12192000"/>
              <a:gd name="connsiteY7" fmla="*/ 275506 h 3118104"/>
              <a:gd name="connsiteX8" fmla="*/ 6097797 w 12192000"/>
              <a:gd name="connsiteY8" fmla="*/ 275506 h 3118104"/>
              <a:gd name="connsiteX9" fmla="*/ 6110496 w 12192000"/>
              <a:gd name="connsiteY9" fmla="*/ 275506 h 3118104"/>
              <a:gd name="connsiteX10" fmla="*/ 6121079 w 12192000"/>
              <a:gd name="connsiteY10" fmla="*/ 271110 h 3118104"/>
              <a:gd name="connsiteX11" fmla="*/ 6133779 w 12192000"/>
              <a:gd name="connsiteY11" fmla="*/ 266713 h 3118104"/>
              <a:gd name="connsiteX12" fmla="*/ 6142246 w 12192000"/>
              <a:gd name="connsiteY12" fmla="*/ 263783 h 3118104"/>
              <a:gd name="connsiteX13" fmla="*/ 6523247 w 12192000"/>
              <a:gd name="connsiteY13" fmla="*/ 0 h 3118104"/>
              <a:gd name="connsiteX14" fmla="*/ 6596743 w 12192000"/>
              <a:gd name="connsiteY14" fmla="*/ 0 h 3118104"/>
              <a:gd name="connsiteX15" fmla="*/ 12186115 w 12192000"/>
              <a:gd name="connsiteY15" fmla="*/ 0 h 3118104"/>
              <a:gd name="connsiteX16" fmla="*/ 12192000 w 12192000"/>
              <a:gd name="connsiteY16" fmla="*/ 0 h 3118104"/>
              <a:gd name="connsiteX17" fmla="*/ 12192000 w 12192000"/>
              <a:gd name="connsiteY17" fmla="*/ 3118104 h 3118104"/>
              <a:gd name="connsiteX18" fmla="*/ 7728858 w 12192000"/>
              <a:gd name="connsiteY18" fmla="*/ 3118104 h 3118104"/>
              <a:gd name="connsiteX19" fmla="*/ 6596743 w 12192000"/>
              <a:gd name="connsiteY19" fmla="*/ 3118104 h 3118104"/>
              <a:gd name="connsiteX20" fmla="*/ 5595257 w 12192000"/>
              <a:gd name="connsiteY20" fmla="*/ 3118104 h 3118104"/>
              <a:gd name="connsiteX21" fmla="*/ 2906487 w 12192000"/>
              <a:gd name="connsiteY21" fmla="*/ 3118104 h 3118104"/>
              <a:gd name="connsiteX22" fmla="*/ 0 w 12192000"/>
              <a:gd name="connsiteY22" fmla="*/ 3118104 h 3118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2000" h="3118104">
                <a:moveTo>
                  <a:pt x="0" y="0"/>
                </a:moveTo>
                <a:lnTo>
                  <a:pt x="3676329" y="0"/>
                </a:lnTo>
                <a:lnTo>
                  <a:pt x="5595257" y="0"/>
                </a:lnTo>
                <a:lnTo>
                  <a:pt x="5672349" y="0"/>
                </a:lnTo>
                <a:lnTo>
                  <a:pt x="6053347" y="263783"/>
                </a:lnTo>
                <a:lnTo>
                  <a:pt x="6061813" y="266713"/>
                </a:lnTo>
                <a:lnTo>
                  <a:pt x="6074513" y="271110"/>
                </a:lnTo>
                <a:lnTo>
                  <a:pt x="6087212" y="275506"/>
                </a:lnTo>
                <a:lnTo>
                  <a:pt x="6097797" y="275506"/>
                </a:lnTo>
                <a:lnTo>
                  <a:pt x="6110496" y="275506"/>
                </a:lnTo>
                <a:lnTo>
                  <a:pt x="6121079" y="271110"/>
                </a:lnTo>
                <a:lnTo>
                  <a:pt x="6133779" y="266713"/>
                </a:lnTo>
                <a:lnTo>
                  <a:pt x="6142246" y="263783"/>
                </a:lnTo>
                <a:lnTo>
                  <a:pt x="6523247" y="0"/>
                </a:lnTo>
                <a:lnTo>
                  <a:pt x="6596743" y="0"/>
                </a:lnTo>
                <a:lnTo>
                  <a:pt x="12186115" y="0"/>
                </a:lnTo>
                <a:lnTo>
                  <a:pt x="12192000" y="0"/>
                </a:lnTo>
                <a:lnTo>
                  <a:pt x="12192000" y="3118104"/>
                </a:lnTo>
                <a:lnTo>
                  <a:pt x="7728858" y="3118104"/>
                </a:lnTo>
                <a:lnTo>
                  <a:pt x="6596743" y="3118104"/>
                </a:lnTo>
                <a:lnTo>
                  <a:pt x="5595257" y="3118104"/>
                </a:lnTo>
                <a:lnTo>
                  <a:pt x="2906487" y="3118104"/>
                </a:lnTo>
                <a:lnTo>
                  <a:pt x="0" y="3118104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Google Shape;456;p34"/>
          <p:cNvSpPr txBox="1">
            <a:spLocks noGrp="1"/>
          </p:cNvSpPr>
          <p:nvPr>
            <p:ph type="title"/>
          </p:nvPr>
        </p:nvSpPr>
        <p:spPr>
          <a:xfrm>
            <a:off x="607500" y="3060289"/>
            <a:ext cx="7929000" cy="76269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 marL="0" lvl="0" indent="0" algn="ctr" defTabSz="457200"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n-US" sz="4800" dirty="0">
                <a:solidFill>
                  <a:srgbClr val="FFFFFF"/>
                </a:solidFill>
              </a:rPr>
              <a:t>ACCESS POINT</a:t>
            </a:r>
          </a:p>
        </p:txBody>
      </p:sp>
      <p:sp>
        <p:nvSpPr>
          <p:cNvPr id="457" name="Google Shape;457;p34"/>
          <p:cNvSpPr txBox="1">
            <a:spLocks noGrp="1"/>
          </p:cNvSpPr>
          <p:nvPr>
            <p:ph type="subTitle" idx="1"/>
          </p:nvPr>
        </p:nvSpPr>
        <p:spPr>
          <a:xfrm>
            <a:off x="951270" y="3962400"/>
            <a:ext cx="7585230" cy="876299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algn="ctr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None/>
            </a:pP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 access point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inalámbrico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(WAP) es un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dispositivo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red que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permite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los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dispositivos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con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capacidad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inalámbrica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se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conecten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una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red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cableada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 Es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más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simple y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fácil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instalar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WAP para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conectar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todas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las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computadoras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o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los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5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dispositivos</a:t>
            </a:r>
            <a:r>
              <a:rPr lang="en-US" sz="105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la red que usar cables.</a:t>
            </a:r>
          </a:p>
        </p:txBody>
      </p:sp>
      <p:sp>
        <p:nvSpPr>
          <p:cNvPr id="467" name="Rounded Rectangle 16">
            <a:extLst>
              <a:ext uri="{FF2B5EF4-FFF2-40B4-BE49-F238E27FC236}">
                <a16:creationId xmlns:a16="http://schemas.microsoft.com/office/drawing/2014/main" id="{5A086AAD-1108-41EB-A7C9-5E22CA942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854" y="482598"/>
            <a:ext cx="5818353" cy="2113118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8" name="Google Shape;458;p34"/>
          <p:cNvPicPr preferRelativeResize="0"/>
          <p:nvPr/>
        </p:nvPicPr>
        <p:blipFill rotWithShape="1">
          <a:blip r:embed="rId3"/>
          <a:stretch/>
        </p:blipFill>
        <p:spPr>
          <a:xfrm>
            <a:off x="2964828" y="663607"/>
            <a:ext cx="3207449" cy="1740041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Freeform 6">
            <a:extLst>
              <a:ext uri="{FF2B5EF4-FFF2-40B4-BE49-F238E27FC236}">
                <a16:creationId xmlns:a16="http://schemas.microsoft.com/office/drawing/2014/main" id="{53576798-7F98-4C7F-B6C7-6D41B5A7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463" name="Google Shape;463;g22031938fdf_0_15"/>
          <p:cNvSpPr txBox="1">
            <a:spLocks noGrp="1"/>
          </p:cNvSpPr>
          <p:nvPr>
            <p:ph type="title"/>
          </p:nvPr>
        </p:nvSpPr>
        <p:spPr>
          <a:xfrm>
            <a:off x="607500" y="335391"/>
            <a:ext cx="7928998" cy="72783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n-US" sz="2200"/>
              <a:t>Tipos comunes de configuraciones de access point</a:t>
            </a:r>
          </a:p>
        </p:txBody>
      </p:sp>
      <p:sp>
        <p:nvSpPr>
          <p:cNvPr id="464" name="Google Shape;464;g22031938fdf_0_15"/>
          <p:cNvSpPr txBox="1">
            <a:spLocks noGrp="1"/>
          </p:cNvSpPr>
          <p:nvPr>
            <p:ph type="subTitle" idx="1"/>
          </p:nvPr>
        </p:nvSpPr>
        <p:spPr>
          <a:xfrm>
            <a:off x="614034" y="1809750"/>
            <a:ext cx="2876688" cy="272415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n-US" sz="1000" b="1"/>
              <a:t>Access point de raíz</a:t>
            </a:r>
          </a:p>
          <a:p>
            <a:pPr marL="45720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000"/>
              <a:t>Un access point se conecta directamente a una LAN cableada, lo que proporciona un punto de conexión para usuarios inalámbricos. </a:t>
            </a:r>
          </a:p>
          <a:p>
            <a:pPr marL="45720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endParaRPr lang="en-US" sz="1000"/>
          </a:p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n-US" sz="1000" b="1"/>
              <a:t>Access point repetidor</a:t>
            </a:r>
          </a:p>
          <a:p>
            <a:pPr marL="45720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000"/>
              <a:t>Un access point o extensión de malla puede configurarse como repetidora independiente para ampliar el alcance de la infraestructura o superar un obstáculo que bloquea las comunicaciones por radio.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endParaRPr lang="en-US" sz="1000"/>
          </a:p>
        </p:txBody>
      </p:sp>
      <p:pic>
        <p:nvPicPr>
          <p:cNvPr id="465" name="Google Shape;465;g22031938fdf_0_15"/>
          <p:cNvPicPr preferRelativeResize="0"/>
          <p:nvPr/>
        </p:nvPicPr>
        <p:blipFill rotWithShape="1">
          <a:blip r:embed="rId3"/>
          <a:stretch/>
        </p:blipFill>
        <p:spPr>
          <a:xfrm>
            <a:off x="3826388" y="1926329"/>
            <a:ext cx="4708012" cy="2554095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Freeform 6">
            <a:extLst>
              <a:ext uri="{FF2B5EF4-FFF2-40B4-BE49-F238E27FC236}">
                <a16:creationId xmlns:a16="http://schemas.microsoft.com/office/drawing/2014/main" id="{53576798-7F98-4C7F-B6C7-6D41B5A7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470" name="Google Shape;470;g22031938fdf_0_21"/>
          <p:cNvSpPr txBox="1">
            <a:spLocks noGrp="1"/>
          </p:cNvSpPr>
          <p:nvPr>
            <p:ph type="title"/>
          </p:nvPr>
        </p:nvSpPr>
        <p:spPr>
          <a:xfrm>
            <a:off x="607500" y="335391"/>
            <a:ext cx="7928998" cy="72783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n-US" sz="2200"/>
              <a:t>Tipos comunes de configuraciones de access point</a:t>
            </a:r>
          </a:p>
        </p:txBody>
      </p:sp>
      <p:sp>
        <p:nvSpPr>
          <p:cNvPr id="471" name="Google Shape;471;g22031938fdf_0_21"/>
          <p:cNvSpPr txBox="1">
            <a:spLocks noGrp="1"/>
          </p:cNvSpPr>
          <p:nvPr>
            <p:ph type="subTitle" idx="1"/>
          </p:nvPr>
        </p:nvSpPr>
        <p:spPr>
          <a:xfrm>
            <a:off x="614034" y="1809750"/>
            <a:ext cx="2876688" cy="272415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n-US" sz="900" b="1"/>
              <a:t>Puentes</a:t>
            </a:r>
          </a:p>
          <a:p>
            <a:pPr marL="45720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900"/>
              <a:t>Pueden configurarse access points como puentes de raíz o no de raíz a fin de unir varias redes. Un access point en este rol establecerá un enlace inalámbrico con un puente no de raíz.</a:t>
            </a:r>
          </a:p>
          <a:p>
            <a:pPr marL="45720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endParaRPr lang="en-US" sz="900"/>
          </a:p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n-US" sz="900" b="1"/>
              <a:t>Puente de grupo de trabajo</a:t>
            </a:r>
          </a:p>
          <a:p>
            <a:pPr marL="45720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900"/>
              <a:t>Los access points que están en modo de puente de grupos de trabajo pueden "asociarse" a otros access points como clientes y proporcionar conexiones de red para los dispositivos conectados a los puertos Ethernet.</a:t>
            </a: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endParaRPr lang="en-US" sz="900"/>
          </a:p>
        </p:txBody>
      </p:sp>
      <p:pic>
        <p:nvPicPr>
          <p:cNvPr id="472" name="Google Shape;472;g22031938fdf_0_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26388" y="1826283"/>
            <a:ext cx="4708012" cy="2754186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79277119-B941-4A45-9322-FA2BC135D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Freeform 23">
            <a:extLst>
              <a:ext uri="{FF2B5EF4-FFF2-40B4-BE49-F238E27FC236}">
                <a16:creationId xmlns:a16="http://schemas.microsoft.com/office/drawing/2014/main" id="{DFDB457D-F372-428B-A10D-41080EF93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5666246" y="0"/>
            <a:ext cx="3477754" cy="51435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7" name="Google Shape;477;g22031938fdf_0_27"/>
          <p:cNvSpPr txBox="1">
            <a:spLocks noGrp="1"/>
          </p:cNvSpPr>
          <p:nvPr>
            <p:ph type="title"/>
          </p:nvPr>
        </p:nvSpPr>
        <p:spPr>
          <a:xfrm>
            <a:off x="6052821" y="2572225"/>
            <a:ext cx="2704603" cy="316656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n-US" sz="2300" dirty="0" err="1"/>
              <a:t>Tipos</a:t>
            </a:r>
            <a:r>
              <a:rPr lang="en-US" sz="2300" dirty="0"/>
              <a:t> </a:t>
            </a:r>
            <a:r>
              <a:rPr lang="en-US" sz="2300" dirty="0" err="1"/>
              <a:t>comunes</a:t>
            </a:r>
            <a:r>
              <a:rPr lang="en-US" sz="2300" dirty="0"/>
              <a:t> de </a:t>
            </a:r>
            <a:r>
              <a:rPr lang="en-US" sz="2300" dirty="0" err="1"/>
              <a:t>configuraciones</a:t>
            </a:r>
            <a:r>
              <a:rPr lang="en-US" sz="2300" dirty="0"/>
              <a:t> de access point</a:t>
            </a:r>
          </a:p>
        </p:txBody>
      </p:sp>
      <p:sp>
        <p:nvSpPr>
          <p:cNvPr id="478" name="Google Shape;478;g22031938fdf_0_27"/>
          <p:cNvSpPr txBox="1">
            <a:spLocks noGrp="1"/>
          </p:cNvSpPr>
          <p:nvPr>
            <p:ph type="subTitle" idx="1"/>
          </p:nvPr>
        </p:nvSpPr>
        <p:spPr>
          <a:xfrm>
            <a:off x="6100761" y="342899"/>
            <a:ext cx="2435739" cy="222837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None/>
            </a:pPr>
            <a:r>
              <a:rPr lang="en-US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Unidad central </a:t>
            </a:r>
            <a:r>
              <a:rPr lang="en-US" b="1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una</a:t>
            </a:r>
            <a:r>
              <a:rPr lang="en-US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red </a:t>
            </a:r>
            <a:r>
              <a:rPr lang="en-US" b="1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totalmente</a:t>
            </a:r>
            <a:r>
              <a:rPr lang="en-US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inalámbrica</a:t>
            </a:r>
            <a:endParaRPr lang="en-US" b="1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una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red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totalmente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inalámbrica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un access point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actúa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una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unidad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raíz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independiente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 No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está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conectada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una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LAN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cableada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 Por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el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contrario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el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access point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funciona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concentrador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conecta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todas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las 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estaciones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juntas. </a:t>
            </a:r>
            <a:endParaRPr lang="en-US" b="1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lvl="0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None/>
            </a:pPr>
            <a:endParaRPr lang="en-US" sz="6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79" name="Google Shape;479;g22031938fdf_0_27"/>
          <p:cNvPicPr preferRelativeResize="0"/>
          <p:nvPr/>
        </p:nvPicPr>
        <p:blipFill rotWithShape="1">
          <a:blip r:embed="rId4"/>
          <a:stretch/>
        </p:blipFill>
        <p:spPr>
          <a:xfrm>
            <a:off x="482600" y="1231653"/>
            <a:ext cx="4701045" cy="2550316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493" name="Freeform: Shape 492">
            <a:extLst>
              <a:ext uri="{FF2B5EF4-FFF2-40B4-BE49-F238E27FC236}">
                <a16:creationId xmlns:a16="http://schemas.microsoft.com/office/drawing/2014/main" id="{9610F818-219E-491F-887F-B078103BA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804921"/>
            <a:ext cx="9143999" cy="2338578"/>
          </a:xfrm>
          <a:custGeom>
            <a:avLst/>
            <a:gdLst>
              <a:gd name="connsiteX0" fmla="*/ 0 w 12192000"/>
              <a:gd name="connsiteY0" fmla="*/ 0 h 3118104"/>
              <a:gd name="connsiteX1" fmla="*/ 3676329 w 12192000"/>
              <a:gd name="connsiteY1" fmla="*/ 0 h 3118104"/>
              <a:gd name="connsiteX2" fmla="*/ 5595257 w 12192000"/>
              <a:gd name="connsiteY2" fmla="*/ 0 h 3118104"/>
              <a:gd name="connsiteX3" fmla="*/ 5672349 w 12192000"/>
              <a:gd name="connsiteY3" fmla="*/ 0 h 3118104"/>
              <a:gd name="connsiteX4" fmla="*/ 6053347 w 12192000"/>
              <a:gd name="connsiteY4" fmla="*/ 263783 h 3118104"/>
              <a:gd name="connsiteX5" fmla="*/ 6061813 w 12192000"/>
              <a:gd name="connsiteY5" fmla="*/ 266713 h 3118104"/>
              <a:gd name="connsiteX6" fmla="*/ 6074513 w 12192000"/>
              <a:gd name="connsiteY6" fmla="*/ 271110 h 3118104"/>
              <a:gd name="connsiteX7" fmla="*/ 6087212 w 12192000"/>
              <a:gd name="connsiteY7" fmla="*/ 275506 h 3118104"/>
              <a:gd name="connsiteX8" fmla="*/ 6097797 w 12192000"/>
              <a:gd name="connsiteY8" fmla="*/ 275506 h 3118104"/>
              <a:gd name="connsiteX9" fmla="*/ 6110496 w 12192000"/>
              <a:gd name="connsiteY9" fmla="*/ 275506 h 3118104"/>
              <a:gd name="connsiteX10" fmla="*/ 6121079 w 12192000"/>
              <a:gd name="connsiteY10" fmla="*/ 271110 h 3118104"/>
              <a:gd name="connsiteX11" fmla="*/ 6133779 w 12192000"/>
              <a:gd name="connsiteY11" fmla="*/ 266713 h 3118104"/>
              <a:gd name="connsiteX12" fmla="*/ 6142246 w 12192000"/>
              <a:gd name="connsiteY12" fmla="*/ 263783 h 3118104"/>
              <a:gd name="connsiteX13" fmla="*/ 6523247 w 12192000"/>
              <a:gd name="connsiteY13" fmla="*/ 0 h 3118104"/>
              <a:gd name="connsiteX14" fmla="*/ 6596743 w 12192000"/>
              <a:gd name="connsiteY14" fmla="*/ 0 h 3118104"/>
              <a:gd name="connsiteX15" fmla="*/ 12186115 w 12192000"/>
              <a:gd name="connsiteY15" fmla="*/ 0 h 3118104"/>
              <a:gd name="connsiteX16" fmla="*/ 12192000 w 12192000"/>
              <a:gd name="connsiteY16" fmla="*/ 0 h 3118104"/>
              <a:gd name="connsiteX17" fmla="*/ 12192000 w 12192000"/>
              <a:gd name="connsiteY17" fmla="*/ 3118104 h 3118104"/>
              <a:gd name="connsiteX18" fmla="*/ 7728858 w 12192000"/>
              <a:gd name="connsiteY18" fmla="*/ 3118104 h 3118104"/>
              <a:gd name="connsiteX19" fmla="*/ 6596743 w 12192000"/>
              <a:gd name="connsiteY19" fmla="*/ 3118104 h 3118104"/>
              <a:gd name="connsiteX20" fmla="*/ 5595257 w 12192000"/>
              <a:gd name="connsiteY20" fmla="*/ 3118104 h 3118104"/>
              <a:gd name="connsiteX21" fmla="*/ 2906487 w 12192000"/>
              <a:gd name="connsiteY21" fmla="*/ 3118104 h 3118104"/>
              <a:gd name="connsiteX22" fmla="*/ 0 w 12192000"/>
              <a:gd name="connsiteY22" fmla="*/ 3118104 h 3118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2000" h="3118104">
                <a:moveTo>
                  <a:pt x="0" y="0"/>
                </a:moveTo>
                <a:lnTo>
                  <a:pt x="3676329" y="0"/>
                </a:lnTo>
                <a:lnTo>
                  <a:pt x="5595257" y="0"/>
                </a:lnTo>
                <a:lnTo>
                  <a:pt x="5672349" y="0"/>
                </a:lnTo>
                <a:lnTo>
                  <a:pt x="6053347" y="263783"/>
                </a:lnTo>
                <a:lnTo>
                  <a:pt x="6061813" y="266713"/>
                </a:lnTo>
                <a:lnTo>
                  <a:pt x="6074513" y="271110"/>
                </a:lnTo>
                <a:lnTo>
                  <a:pt x="6087212" y="275506"/>
                </a:lnTo>
                <a:lnTo>
                  <a:pt x="6097797" y="275506"/>
                </a:lnTo>
                <a:lnTo>
                  <a:pt x="6110496" y="275506"/>
                </a:lnTo>
                <a:lnTo>
                  <a:pt x="6121079" y="271110"/>
                </a:lnTo>
                <a:lnTo>
                  <a:pt x="6133779" y="266713"/>
                </a:lnTo>
                <a:lnTo>
                  <a:pt x="6142246" y="263783"/>
                </a:lnTo>
                <a:lnTo>
                  <a:pt x="6523247" y="0"/>
                </a:lnTo>
                <a:lnTo>
                  <a:pt x="6596743" y="0"/>
                </a:lnTo>
                <a:lnTo>
                  <a:pt x="12186115" y="0"/>
                </a:lnTo>
                <a:lnTo>
                  <a:pt x="12192000" y="0"/>
                </a:lnTo>
                <a:lnTo>
                  <a:pt x="12192000" y="3118104"/>
                </a:lnTo>
                <a:lnTo>
                  <a:pt x="7728858" y="3118104"/>
                </a:lnTo>
                <a:lnTo>
                  <a:pt x="6596743" y="3118104"/>
                </a:lnTo>
                <a:lnTo>
                  <a:pt x="5595257" y="3118104"/>
                </a:lnTo>
                <a:lnTo>
                  <a:pt x="2906487" y="3118104"/>
                </a:lnTo>
                <a:lnTo>
                  <a:pt x="0" y="3118104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Google Shape;484;p35"/>
          <p:cNvSpPr txBox="1">
            <a:spLocks noGrp="1"/>
          </p:cNvSpPr>
          <p:nvPr>
            <p:ph type="title"/>
          </p:nvPr>
        </p:nvSpPr>
        <p:spPr>
          <a:xfrm>
            <a:off x="607500" y="3060289"/>
            <a:ext cx="7929000" cy="84019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 defTabSz="457200"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n-US" sz="4800" dirty="0">
                <a:solidFill>
                  <a:srgbClr val="FFFFFF"/>
                </a:solidFill>
              </a:rPr>
              <a:t>FIREWALL</a:t>
            </a:r>
          </a:p>
        </p:txBody>
      </p:sp>
      <p:sp>
        <p:nvSpPr>
          <p:cNvPr id="485" name="Google Shape;485;p35"/>
          <p:cNvSpPr txBox="1">
            <a:spLocks noGrp="1"/>
          </p:cNvSpPr>
          <p:nvPr>
            <p:ph type="subTitle" idx="1"/>
          </p:nvPr>
        </p:nvSpPr>
        <p:spPr>
          <a:xfrm>
            <a:off x="951270" y="3900487"/>
            <a:ext cx="7248833" cy="691896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algn="ctr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None/>
            </a:pP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 firewall es un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sistema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seguridad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red de las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computadoras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restringe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el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tráfico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Internet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entrante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saliente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o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dentro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una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red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privada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 Este software o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esta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unidad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hardware y software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dedicados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funciona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bloqueando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o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permitiendo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los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paquetes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datos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forma </a:t>
            </a:r>
            <a:r>
              <a:rPr lang="en-US" sz="1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selectiva</a:t>
            </a:r>
            <a:r>
              <a:rPr 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95" name="Rounded Rectangle 16">
            <a:extLst>
              <a:ext uri="{FF2B5EF4-FFF2-40B4-BE49-F238E27FC236}">
                <a16:creationId xmlns:a16="http://schemas.microsoft.com/office/drawing/2014/main" id="{5A086AAD-1108-41EB-A7C9-5E22CA942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854" y="482598"/>
            <a:ext cx="5818353" cy="2113118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6" name="Google Shape;486;p35"/>
          <p:cNvPicPr preferRelativeResize="0"/>
          <p:nvPr/>
        </p:nvPicPr>
        <p:blipFill rotWithShape="1">
          <a:blip r:embed="rId3"/>
          <a:stretch/>
        </p:blipFill>
        <p:spPr>
          <a:xfrm>
            <a:off x="2986697" y="663607"/>
            <a:ext cx="3163711" cy="1740041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483">
          <a:extLst>
            <a:ext uri="{FF2B5EF4-FFF2-40B4-BE49-F238E27FC236}">
              <a16:creationId xmlns:a16="http://schemas.microsoft.com/office/drawing/2014/main" id="{F75CC4D1-D0D6-1818-CD2F-C222C3098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35">
            <a:extLst>
              <a:ext uri="{FF2B5EF4-FFF2-40B4-BE49-F238E27FC236}">
                <a16:creationId xmlns:a16="http://schemas.microsoft.com/office/drawing/2014/main" id="{F1AA5DBC-046A-AC4A-C60A-AB4FECAE4DD7}"/>
              </a:ext>
            </a:extLst>
          </p:cNvPr>
          <p:cNvPicPr preferRelativeResize="0"/>
          <p:nvPr/>
        </p:nvPicPr>
        <p:blipFill rotWithShape="1">
          <a:blip r:embed="rId3"/>
          <a:srcRect l="11111" t="6424" r="-2" b="2665"/>
          <a:stretch/>
        </p:blipFill>
        <p:spPr>
          <a:xfrm>
            <a:off x="0" y="1175668"/>
            <a:ext cx="4279899" cy="2823018"/>
          </a:xfrm>
          <a:prstGeom prst="rect">
            <a:avLst/>
          </a:prstGeom>
          <a:noFill/>
        </p:spPr>
      </p:pic>
      <p:sp>
        <p:nvSpPr>
          <p:cNvPr id="484" name="Google Shape;484;p35">
            <a:extLst>
              <a:ext uri="{FF2B5EF4-FFF2-40B4-BE49-F238E27FC236}">
                <a16:creationId xmlns:a16="http://schemas.microsoft.com/office/drawing/2014/main" id="{0459A782-F85F-7543-3425-F809868DC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2601" y="488949"/>
            <a:ext cx="4279899" cy="101600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n-US" sz="2500"/>
              <a:t>POLITICAS DE SEGURIDAD EN FIREWALL</a:t>
            </a:r>
          </a:p>
        </p:txBody>
      </p:sp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263C3CE2-664D-F431-8987-5C57CDB67AE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45975" y="1640475"/>
            <a:ext cx="4854000" cy="21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600"/>
              </a:spcAft>
              <a:buSzPts val="1400"/>
              <a:buChar char="●"/>
            </a:pPr>
            <a:r>
              <a:rPr lang="es-GT" sz="1400"/>
              <a:t>Las políticas de seguridad en un firewall son reglas y directrices establecidas para controlar el tráfico de red que puede entrar o salir de una red privada.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600"/>
              </a:spcAft>
              <a:buSzPts val="1400"/>
              <a:buChar char="●"/>
            </a:pPr>
            <a:endParaRPr lang="es-GT" sz="1400"/>
          </a:p>
          <a:p>
            <a:pPr marL="457200" lvl="0" indent="-317500" algn="just" rtl="0">
              <a:spcBef>
                <a:spcPts val="0"/>
              </a:spcBef>
              <a:spcAft>
                <a:spcPts val="600"/>
              </a:spcAft>
              <a:buSzPts val="1400"/>
              <a:buChar char="●"/>
            </a:pPr>
            <a:r>
              <a:rPr lang="es-GT" sz="1400"/>
              <a:t>Su principal objetivo es proteger la red de accesos no autorizados, prevenir ataques y mantener la integridad de los datos.</a:t>
            </a:r>
          </a:p>
        </p:txBody>
      </p:sp>
    </p:spTree>
    <p:extLst>
      <p:ext uri="{BB962C8B-B14F-4D97-AF65-F5344CB8AC3E}">
        <p14:creationId xmlns:p14="http://schemas.microsoft.com/office/powerpoint/2010/main" val="3499897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483">
          <a:extLst>
            <a:ext uri="{FF2B5EF4-FFF2-40B4-BE49-F238E27FC236}">
              <a16:creationId xmlns:a16="http://schemas.microsoft.com/office/drawing/2014/main" id="{C494482E-E790-D94F-F246-E7C798FD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35">
            <a:extLst>
              <a:ext uri="{FF2B5EF4-FFF2-40B4-BE49-F238E27FC236}">
                <a16:creationId xmlns:a16="http://schemas.microsoft.com/office/drawing/2014/main" id="{F9254DB3-EF29-D6AD-AF20-F7B283FB8A19}"/>
              </a:ext>
            </a:extLst>
          </p:cNvPr>
          <p:cNvPicPr preferRelativeResize="0"/>
          <p:nvPr/>
        </p:nvPicPr>
        <p:blipFill rotWithShape="1">
          <a:blip r:embed="rId3"/>
          <a:srcRect l="11111" t="6424" r="-2" b="2665"/>
          <a:stretch/>
        </p:blipFill>
        <p:spPr>
          <a:xfrm>
            <a:off x="0" y="1175668"/>
            <a:ext cx="4279899" cy="2823018"/>
          </a:xfrm>
          <a:prstGeom prst="rect">
            <a:avLst/>
          </a:prstGeom>
          <a:noFill/>
        </p:spPr>
      </p:pic>
      <p:sp>
        <p:nvSpPr>
          <p:cNvPr id="484" name="Google Shape;484;p35">
            <a:extLst>
              <a:ext uri="{FF2B5EF4-FFF2-40B4-BE49-F238E27FC236}">
                <a16:creationId xmlns:a16="http://schemas.microsoft.com/office/drawing/2014/main" id="{4177B8E2-5B1A-A56E-5924-FCBE7A244D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2601" y="488949"/>
            <a:ext cx="4279899" cy="101600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s-GT" sz="2500" dirty="0"/>
              <a:t>Componentes Clave de una Política de Seguridad</a:t>
            </a:r>
            <a:endParaRPr lang="en-US" sz="2500" dirty="0"/>
          </a:p>
        </p:txBody>
      </p:sp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CB7BD92A-F78D-C47E-3F18-492B16A561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1999" y="1973943"/>
            <a:ext cx="4327975" cy="180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600"/>
              </a:spcAft>
              <a:buSzPts val="1400"/>
              <a:buChar char="●"/>
            </a:pPr>
            <a:r>
              <a:rPr lang="es-GT" sz="1400" dirty="0"/>
              <a:t>Reglas de acceso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600"/>
              </a:spcAft>
              <a:buSzPts val="1400"/>
              <a:buChar char="●"/>
            </a:pPr>
            <a:r>
              <a:rPr lang="es-GT" sz="1400" dirty="0"/>
              <a:t>Filtros de contenido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600"/>
              </a:spcAft>
              <a:buSzPts val="1400"/>
              <a:buChar char="●"/>
            </a:pPr>
            <a:r>
              <a:rPr lang="es-GT" sz="1400" dirty="0"/>
              <a:t>Limitación de puertos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600"/>
              </a:spcAft>
              <a:buSzPts val="1400"/>
              <a:buChar char="●"/>
            </a:pPr>
            <a:r>
              <a:rPr lang="es-GT" sz="1400" dirty="0"/>
              <a:t>Autenticación y autorización</a:t>
            </a:r>
          </a:p>
        </p:txBody>
      </p:sp>
    </p:spTree>
    <p:extLst>
      <p:ext uri="{BB962C8B-B14F-4D97-AF65-F5344CB8AC3E}">
        <p14:creationId xmlns:p14="http://schemas.microsoft.com/office/powerpoint/2010/main" val="1819339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483">
          <a:extLst>
            <a:ext uri="{FF2B5EF4-FFF2-40B4-BE49-F238E27FC236}">
              <a16:creationId xmlns:a16="http://schemas.microsoft.com/office/drawing/2014/main" id="{DE6B7CA2-D08B-1639-0062-2A4457BC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35">
            <a:extLst>
              <a:ext uri="{FF2B5EF4-FFF2-40B4-BE49-F238E27FC236}">
                <a16:creationId xmlns:a16="http://schemas.microsoft.com/office/drawing/2014/main" id="{1605DDE8-4FEB-70CB-F782-2F94B24B8437}"/>
              </a:ext>
            </a:extLst>
          </p:cNvPr>
          <p:cNvPicPr preferRelativeResize="0"/>
          <p:nvPr/>
        </p:nvPicPr>
        <p:blipFill rotWithShape="1">
          <a:blip r:embed="rId3"/>
          <a:srcRect l="11111" t="6424" r="-2" b="2665"/>
          <a:stretch/>
        </p:blipFill>
        <p:spPr>
          <a:xfrm>
            <a:off x="0" y="1175668"/>
            <a:ext cx="4279899" cy="2823018"/>
          </a:xfrm>
          <a:prstGeom prst="rect">
            <a:avLst/>
          </a:prstGeom>
          <a:noFill/>
        </p:spPr>
      </p:pic>
      <p:sp>
        <p:nvSpPr>
          <p:cNvPr id="484" name="Google Shape;484;p35">
            <a:extLst>
              <a:ext uri="{FF2B5EF4-FFF2-40B4-BE49-F238E27FC236}">
                <a16:creationId xmlns:a16="http://schemas.microsoft.com/office/drawing/2014/main" id="{BEEE6764-640A-213D-8CBD-34E44D74AD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3429" y="488949"/>
            <a:ext cx="3819071" cy="101600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s-GT" sz="2500" dirty="0"/>
              <a:t>Tipos de Políticas de Seguridad en Firewall</a:t>
            </a:r>
            <a:endParaRPr lang="en-US" sz="2500" dirty="0"/>
          </a:p>
        </p:txBody>
      </p:sp>
      <p:sp>
        <p:nvSpPr>
          <p:cNvPr id="485" name="Google Shape;485;p35">
            <a:extLst>
              <a:ext uri="{FF2B5EF4-FFF2-40B4-BE49-F238E27FC236}">
                <a16:creationId xmlns:a16="http://schemas.microsoft.com/office/drawing/2014/main" id="{87278DC7-208E-D9D7-B737-6EC3492CB7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1999" y="1973943"/>
            <a:ext cx="4327975" cy="180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600"/>
              </a:spcAft>
              <a:buSzPts val="1400"/>
              <a:buChar char="●"/>
            </a:pPr>
            <a:r>
              <a:rPr lang="es-GT" sz="1400" dirty="0"/>
              <a:t>Bloquea el tráfico salvo el que esté expresamente permitido.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600"/>
              </a:spcAft>
              <a:buSzPts val="1400"/>
              <a:buChar char="●"/>
            </a:pPr>
            <a:r>
              <a:rPr lang="es-GT" sz="1400" dirty="0"/>
              <a:t>Solo permitir el tráfico especificado en las reglas, ideal para redes expuestas a internet.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600"/>
              </a:spcAft>
              <a:buSzPts val="1400"/>
              <a:buChar char="●"/>
            </a:pPr>
            <a:r>
              <a:rPr lang="es-GT" sz="1400" dirty="0"/>
              <a:t>Divide la red en segmentos (zonas) con distintas políticas según el nivel de seguridad requerido para cada una.</a:t>
            </a:r>
          </a:p>
        </p:txBody>
      </p:sp>
    </p:spTree>
    <p:extLst>
      <p:ext uri="{BB962C8B-B14F-4D97-AF65-F5344CB8AC3E}">
        <p14:creationId xmlns:p14="http://schemas.microsoft.com/office/powerpoint/2010/main" val="2336760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469">
          <a:extLst>
            <a:ext uri="{FF2B5EF4-FFF2-40B4-BE49-F238E27FC236}">
              <a16:creationId xmlns:a16="http://schemas.microsoft.com/office/drawing/2014/main" id="{27B27D20-B784-3D63-E593-2C919121A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Freeform 6">
            <a:extLst>
              <a:ext uri="{FF2B5EF4-FFF2-40B4-BE49-F238E27FC236}">
                <a16:creationId xmlns:a16="http://schemas.microsoft.com/office/drawing/2014/main" id="{53576798-7F98-4C7F-B6C7-6D41B5A7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470" name="Google Shape;470;g22031938fdf_0_21">
            <a:extLst>
              <a:ext uri="{FF2B5EF4-FFF2-40B4-BE49-F238E27FC236}">
                <a16:creationId xmlns:a16="http://schemas.microsoft.com/office/drawing/2014/main" id="{19922BED-02B2-0EE4-6743-AA00E8D0FC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500" y="335391"/>
            <a:ext cx="7928998" cy="72783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n-US" sz="2200"/>
              <a:t> ¿Qué es la Configuración de Seguridad en Redes?</a:t>
            </a:r>
            <a:endParaRPr lang="en-US" sz="2200" dirty="0"/>
          </a:p>
        </p:txBody>
      </p:sp>
      <p:pic>
        <p:nvPicPr>
          <p:cNvPr id="2050" name="Picture 2" descr="Seguridad en Redes: Conceptos Clave y Buenas Prácticas">
            <a:extLst>
              <a:ext uri="{FF2B5EF4-FFF2-40B4-BE49-F238E27FC236}">
                <a16:creationId xmlns:a16="http://schemas.microsoft.com/office/drawing/2014/main" id="{E1491D92-DDD2-7B21-3E83-03BA40B13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26388" y="2061684"/>
            <a:ext cx="4708012" cy="2283385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1" name="Google Shape;471;g22031938fdf_0_21">
            <a:extLst>
              <a:ext uri="{FF2B5EF4-FFF2-40B4-BE49-F238E27FC236}">
                <a16:creationId xmlns:a16="http://schemas.microsoft.com/office/drawing/2014/main" id="{17A83B0B-B109-F613-45AC-34AFCE4104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14034" y="1809750"/>
            <a:ext cx="2876688" cy="272415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s-GT" sz="1000" dirty="0"/>
              <a:t>La configuración de seguridad en redes es el conjunto de medidas, prácticas y ajustes técnicos aplicados a los dispositivos de red (</a:t>
            </a:r>
            <a:r>
              <a:rPr lang="es-GT" sz="1000" dirty="0" err="1"/>
              <a:t>routers</a:t>
            </a:r>
            <a:r>
              <a:rPr lang="es-GT" sz="1000" dirty="0"/>
              <a:t>, switches, firewalls, etc.) para proteger la red contra accesos no autorizados, ataques y vulnerabilidades.</a:t>
            </a:r>
          </a:p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s-GT" sz="1000" dirty="0"/>
              <a:t>Su objetivo es garantizar la integridad, confidencialidad y disponibilidad de los datos y recursos de la red.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30411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469">
          <a:extLst>
            <a:ext uri="{FF2B5EF4-FFF2-40B4-BE49-F238E27FC236}">
              <a16:creationId xmlns:a16="http://schemas.microsoft.com/office/drawing/2014/main" id="{6CFEB0CE-61BB-4870-BA81-AF1CCB36A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Freeform 6">
            <a:extLst>
              <a:ext uri="{FF2B5EF4-FFF2-40B4-BE49-F238E27FC236}">
                <a16:creationId xmlns:a16="http://schemas.microsoft.com/office/drawing/2014/main" id="{962C2B50-3ABD-2361-29B3-ECC4B9E67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470" name="Google Shape;470;g22031938fdf_0_21">
            <a:extLst>
              <a:ext uri="{FF2B5EF4-FFF2-40B4-BE49-F238E27FC236}">
                <a16:creationId xmlns:a16="http://schemas.microsoft.com/office/drawing/2014/main" id="{49D0F630-CE07-E95E-7AC7-67946F00FB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500" y="335391"/>
            <a:ext cx="7928998" cy="72783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s-GT" sz="2200" dirty="0"/>
              <a:t>Elementos Clave de una Configuración de Seguridad</a:t>
            </a:r>
            <a:endParaRPr lang="en-US" sz="2200" dirty="0"/>
          </a:p>
        </p:txBody>
      </p:sp>
      <p:pic>
        <p:nvPicPr>
          <p:cNvPr id="2050" name="Picture 2" descr="Seguridad en Redes: Conceptos Clave y Buenas Prácticas">
            <a:extLst>
              <a:ext uri="{FF2B5EF4-FFF2-40B4-BE49-F238E27FC236}">
                <a16:creationId xmlns:a16="http://schemas.microsoft.com/office/drawing/2014/main" id="{0B31099C-46A6-DD8D-16B2-3B4A923B6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26388" y="2061684"/>
            <a:ext cx="4708012" cy="2283385"/>
          </a:xfrm>
          <a:prstGeom prst="roundRect">
            <a:avLst>
              <a:gd name="adj" fmla="val 3876"/>
            </a:avLst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1" name="Google Shape;471;g22031938fdf_0_21">
            <a:extLst>
              <a:ext uri="{FF2B5EF4-FFF2-40B4-BE49-F238E27FC236}">
                <a16:creationId xmlns:a16="http://schemas.microsoft.com/office/drawing/2014/main" id="{8F1B0D9D-F304-BE61-6B34-AE18F47C89E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14034" y="1809750"/>
            <a:ext cx="2876688" cy="272415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s-GT" sz="1000" dirty="0"/>
              <a:t>Firewall </a:t>
            </a:r>
          </a:p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s-GT" sz="1000" dirty="0"/>
              <a:t>Segmentación de red</a:t>
            </a:r>
          </a:p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s-GT" sz="1000" dirty="0"/>
              <a:t>Control de acceso</a:t>
            </a:r>
          </a:p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s-GT" sz="1000" dirty="0"/>
              <a:t>VPN (Red Privada Virtual).</a:t>
            </a:r>
          </a:p>
          <a:p>
            <a:pPr marL="457200" lvl="0" indent="-31750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Font typeface="Wingdings 2" charset="2"/>
              <a:buChar char=""/>
            </a:pPr>
            <a:r>
              <a:rPr lang="es-GT" sz="1000" dirty="0"/>
              <a:t>Filtrado de contenido y control de aplicaciones: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7182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476">
          <a:extLst>
            <a:ext uri="{FF2B5EF4-FFF2-40B4-BE49-F238E27FC236}">
              <a16:creationId xmlns:a16="http://schemas.microsoft.com/office/drawing/2014/main" id="{B662F8F8-8CB9-6523-7423-549B8F7B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2381"/>
            <a:ext cx="9144000" cy="3902868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12839A1C-34CB-4C3C-8531-CA67525FD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Google Shape;477;g22031938fdf_0_27">
            <a:extLst>
              <a:ext uri="{FF2B5EF4-FFF2-40B4-BE49-F238E27FC236}">
                <a16:creationId xmlns:a16="http://schemas.microsoft.com/office/drawing/2014/main" id="{401A0C9A-F14E-BFEE-D6E0-7D85A9248F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1999" y="774688"/>
            <a:ext cx="4089400" cy="3594124"/>
          </a:xfrm>
          <a:prstGeom prst="rect">
            <a:avLst/>
          </a:prstGeom>
          <a:effectLst/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ts val="2800"/>
            </a:pPr>
            <a:r>
              <a:rPr lang="en-US" sz="4000" dirty="0" err="1"/>
              <a:t>Referencias</a:t>
            </a:r>
            <a:r>
              <a:rPr lang="en-US" sz="4000" dirty="0"/>
              <a:t> de </a:t>
            </a:r>
            <a:r>
              <a:rPr lang="en-US" sz="4000" dirty="0" err="1"/>
              <a:t>apoyo</a:t>
            </a:r>
            <a:endParaRPr lang="en-US" sz="4000" dirty="0"/>
          </a:p>
        </p:txBody>
      </p:sp>
      <p:sp useBgFill="1">
        <p:nvSpPr>
          <p:cNvPr id="497" name="Freeform: Shape 496">
            <a:extLst>
              <a:ext uri="{FF2B5EF4-FFF2-40B4-BE49-F238E27FC236}">
                <a16:creationId xmlns:a16="http://schemas.microsoft.com/office/drawing/2014/main" id="{FAC94EAF-F7F7-4727-AE69-A7036B4A5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488043" y="488043"/>
            <a:ext cx="5143500" cy="4167414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478" name="Google Shape;478;g22031938fdf_0_27">
            <a:extLst>
              <a:ext uri="{FF2B5EF4-FFF2-40B4-BE49-F238E27FC236}">
                <a16:creationId xmlns:a16="http://schemas.microsoft.com/office/drawing/2014/main" id="{BE39A330-3B9E-A0B8-8434-D2F8BD7C32A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2599" y="1711180"/>
            <a:ext cx="2995511" cy="1721139"/>
          </a:xfrm>
          <a:prstGeom prst="rect">
            <a:avLst/>
          </a:prstGeom>
          <a:effectLst/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None/>
            </a:pPr>
            <a:r>
              <a:rPr lang="en-US" sz="11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https://developer.android.com/privacy-and-security/security-config?hl=es-419</a:t>
            </a:r>
            <a:r>
              <a:rPr lang="en-US" sz="1100" dirty="0"/>
              <a:t> </a:t>
            </a:r>
          </a:p>
          <a:p>
            <a:pPr marL="0" lvl="0" indent="0" algn="ctr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None/>
            </a:pPr>
            <a:endParaRPr lang="en-US" sz="1100" dirty="0"/>
          </a:p>
          <a:p>
            <a:pPr marL="0" lvl="0" indent="0" algn="ctr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None/>
            </a:pPr>
            <a:r>
              <a:rPr lang="en-US" sz="11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https://www.juniper.net/documentation/mx/es/software/junos/security-policies/topics/topic-map/security-user-role-firewall-policy.html</a:t>
            </a:r>
            <a:r>
              <a:rPr lang="en-US" sz="1100" dirty="0"/>
              <a:t> </a:t>
            </a:r>
          </a:p>
          <a:p>
            <a:pPr marL="0" lvl="0" indent="0" algn="ctr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ts val="1400"/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29875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ble">
  <a:themeElements>
    <a:clrScheme name="Ci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Ci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i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TM03457503[[fn=Citable]]</Template>
  <TotalTime>8</TotalTime>
  <Words>603</Words>
  <Application>Microsoft Office PowerPoint</Application>
  <PresentationFormat>Presentación en pantalla (16:9)</PresentationFormat>
  <Paragraphs>51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Wingdings 2</vt:lpstr>
      <vt:lpstr>Doppio One</vt:lpstr>
      <vt:lpstr>Encode Sans Condensed</vt:lpstr>
      <vt:lpstr>Arial</vt:lpstr>
      <vt:lpstr>Century Gothic</vt:lpstr>
      <vt:lpstr>Bebas Neue</vt:lpstr>
      <vt:lpstr>Citable</vt:lpstr>
      <vt:lpstr>Redes de Computadoras 1   Clase S4 </vt:lpstr>
      <vt:lpstr>*</vt:lpstr>
      <vt:lpstr>01</vt:lpstr>
      <vt:lpstr>ACCESS POINT</vt:lpstr>
      <vt:lpstr>Tipos comunes de configuraciones de access point</vt:lpstr>
      <vt:lpstr>Tipos comunes de configuraciones de access point</vt:lpstr>
      <vt:lpstr>Tipos comunes de configuraciones de access point</vt:lpstr>
      <vt:lpstr>FIREWALL</vt:lpstr>
      <vt:lpstr>POLITICAS DE SEGURIDAD EN FIREWALL</vt:lpstr>
      <vt:lpstr>Componentes Clave de una Política de Seguridad</vt:lpstr>
      <vt:lpstr>Tipos de Políticas de Seguridad en Firewall</vt:lpstr>
      <vt:lpstr> ¿Qué es la Configuración de Seguridad en Redes?</vt:lpstr>
      <vt:lpstr>Elementos Clave de una Configuración de Seguridad</vt:lpstr>
      <vt:lpstr>Referencias de apoyo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Lopez de la Roca, Melani Alejandra</cp:lastModifiedBy>
  <cp:revision>3</cp:revision>
  <dcterms:modified xsi:type="dcterms:W3CDTF">2024-11-04T14:01:14Z</dcterms:modified>
</cp:coreProperties>
</file>