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Xa6dfk3vOvxZXeUr/cj4pPYFd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CB5B2B-5925-41B5-B167-E7C4309E5705}">
  <a:tblStyle styleId="{35CB5B2B-5925-41B5-B167-E7C4309E570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ec74319b4_0_7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2eec74319b4_0_7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ec74319b4_0_9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2eec74319b4_0_9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ec74319b4_0_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2eec74319b4_0_4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ec74319b4_0_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2eec74319b4_0_14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ec74319b4_0_2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2eec74319b4_0_23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ec74319b4_0_3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2eec74319b4_0_31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ec74319b4_0_3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2eec74319b4_0_39:notes"/>
          <p:cNvSpPr/>
          <p:nvPr>
            <p:ph idx="2" type="sldImg"/>
          </p:nvPr>
        </p:nvSpPr>
        <p:spPr>
          <a:xfrm>
            <a:off x="2857500" y="385763"/>
            <a:ext cx="3429000" cy="19288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ec74319b4_0_4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2eec74319b4_0_4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ec74319b4_0_6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2eec74319b4_0_6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/>
          <p:nvPr>
            <p:ph type="title"/>
          </p:nvPr>
        </p:nvSpPr>
        <p:spPr>
          <a:xfrm>
            <a:off x="3476478" y="1242778"/>
            <a:ext cx="372173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" type="body"/>
          </p:nvPr>
        </p:nvSpPr>
        <p:spPr>
          <a:xfrm>
            <a:off x="1166056" y="1611010"/>
            <a:ext cx="7012305" cy="2918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505199" cy="320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849" y="0"/>
            <a:ext cx="3867148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7"/>
          <p:cNvSpPr/>
          <p:nvPr/>
        </p:nvSpPr>
        <p:spPr>
          <a:xfrm>
            <a:off x="3403453" y="783554"/>
            <a:ext cx="4384040" cy="1626870"/>
          </a:xfrm>
          <a:custGeom>
            <a:rect b="b" l="l" r="r" t="t"/>
            <a:pathLst>
              <a:path extrusionOk="0" h="1626870" w="4384040">
                <a:moveTo>
                  <a:pt x="4383600" y="1626600"/>
                </a:moveTo>
                <a:lnTo>
                  <a:pt x="0" y="1626600"/>
                </a:lnTo>
                <a:lnTo>
                  <a:pt x="0" y="0"/>
                </a:lnTo>
                <a:lnTo>
                  <a:pt x="4383600" y="0"/>
                </a:lnTo>
                <a:lnTo>
                  <a:pt x="4383600" y="162660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7"/>
          <p:cNvSpPr txBox="1"/>
          <p:nvPr>
            <p:ph type="title"/>
          </p:nvPr>
        </p:nvSpPr>
        <p:spPr>
          <a:xfrm>
            <a:off x="3476478" y="1242778"/>
            <a:ext cx="372173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3476478" y="1242778"/>
            <a:ext cx="372173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476478" y="1242778"/>
            <a:ext cx="3721734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1166056" y="1611010"/>
            <a:ext cx="7012305" cy="2918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2"/>
          <p:cNvGrpSpPr/>
          <p:nvPr/>
        </p:nvGrpSpPr>
        <p:grpSpPr>
          <a:xfrm>
            <a:off x="0" y="0"/>
            <a:ext cx="9143999" cy="5143499"/>
            <a:chOff x="0" y="0"/>
            <a:chExt cx="9143999" cy="5143499"/>
          </a:xfrm>
        </p:grpSpPr>
        <p:pic>
          <p:nvPicPr>
            <p:cNvPr id="49" name="Google Shape;4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133600"/>
              <a:ext cx="3505199" cy="3009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38900" y="2176199"/>
              <a:ext cx="2705097" cy="2967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2"/>
            <p:cNvSpPr/>
            <p:nvPr/>
          </p:nvSpPr>
          <p:spPr>
            <a:xfrm>
              <a:off x="1473524" y="2562749"/>
              <a:ext cx="6949440" cy="1513205"/>
            </a:xfrm>
            <a:custGeom>
              <a:rect b="b" l="l" r="r" t="t"/>
              <a:pathLst>
                <a:path extrusionOk="0" h="1513204" w="6949440">
                  <a:moveTo>
                    <a:pt x="6949199" y="1512599"/>
                  </a:moveTo>
                  <a:lnTo>
                    <a:pt x="0" y="1512599"/>
                  </a:lnTo>
                  <a:lnTo>
                    <a:pt x="0" y="0"/>
                  </a:lnTo>
                  <a:lnTo>
                    <a:pt x="6949199" y="0"/>
                  </a:lnTo>
                  <a:lnTo>
                    <a:pt x="6949199" y="15125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2"/>
          <p:cNvSpPr txBox="1"/>
          <p:nvPr/>
        </p:nvSpPr>
        <p:spPr>
          <a:xfrm>
            <a:off x="1441400" y="2675425"/>
            <a:ext cx="7104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361565" lvl="0" marL="237363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Redes de Computadoras 1 </a:t>
            </a:r>
            <a:r>
              <a:rPr b="0" i="0" lang="en-US" sz="4200" u="none" cap="none" strike="noStrike">
                <a:solidFill>
                  <a:srgbClr val="11C7D7"/>
                </a:solidFill>
                <a:latin typeface="Verdana"/>
                <a:ea typeface="Verdana"/>
                <a:cs typeface="Verdana"/>
                <a:sym typeface="Verdana"/>
              </a:rPr>
              <a:t>Clase 1</a:t>
            </a:r>
            <a:endParaRPr b="0" i="0" sz="4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473674" y="4056400"/>
            <a:ext cx="6196965" cy="528320"/>
          </a:xfrm>
          <a:custGeom>
            <a:rect b="b" l="l" r="r" t="t"/>
            <a:pathLst>
              <a:path extrusionOk="0" h="528320" w="6196965">
                <a:moveTo>
                  <a:pt x="6196799" y="527999"/>
                </a:moveTo>
                <a:lnTo>
                  <a:pt x="0" y="527999"/>
                </a:lnTo>
                <a:lnTo>
                  <a:pt x="0" y="0"/>
                </a:lnTo>
                <a:lnTo>
                  <a:pt x="6196799" y="0"/>
                </a:lnTo>
                <a:lnTo>
                  <a:pt x="6196799" y="527999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9143999" cy="217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3"/>
          <p:cNvGrpSpPr/>
          <p:nvPr/>
        </p:nvGrpSpPr>
        <p:grpSpPr>
          <a:xfrm>
            <a:off x="0" y="0"/>
            <a:ext cx="9143999" cy="5143499"/>
            <a:chOff x="0" y="0"/>
            <a:chExt cx="9143999" cy="5143499"/>
          </a:xfrm>
        </p:grpSpPr>
        <p:pic>
          <p:nvPicPr>
            <p:cNvPr id="61" name="Google Shape;6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3"/>
            <p:cNvSpPr/>
            <p:nvPr/>
          </p:nvSpPr>
          <p:spPr>
            <a:xfrm>
              <a:off x="447749" y="381000"/>
              <a:ext cx="8248650" cy="4381500"/>
            </a:xfrm>
            <a:custGeom>
              <a:rect b="b" l="l" r="r" t="t"/>
              <a:pathLst>
                <a:path extrusionOk="0" h="4381500" w="8248650">
                  <a:moveTo>
                    <a:pt x="82484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8248499" y="0"/>
                  </a:lnTo>
                  <a:lnTo>
                    <a:pt x="82484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3"/>
          <p:cNvSpPr txBox="1"/>
          <p:nvPr>
            <p:ph type="title"/>
          </p:nvPr>
        </p:nvSpPr>
        <p:spPr>
          <a:xfrm>
            <a:off x="2748899" y="760875"/>
            <a:ext cx="3846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Tabla de Contenido</a:t>
            </a:r>
            <a:endParaRPr sz="3000"/>
          </a:p>
        </p:txBody>
      </p:sp>
      <p:graphicFrame>
        <p:nvGraphicFramePr>
          <p:cNvPr id="64" name="Google Shape;64;p3"/>
          <p:cNvGraphicFramePr/>
          <p:nvPr/>
        </p:nvGraphicFramePr>
        <p:xfrm>
          <a:off x="2155136" y="1770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{35CB5B2B-5925-41B5-B167-E7C4309E5705}</a:tableStyleId>
              </a:tblPr>
              <a:tblGrid>
                <a:gridCol w="2248300"/>
                <a:gridCol w="2585425"/>
              </a:tblGrid>
              <a:tr h="563875">
                <a:tc>
                  <a:txBody>
                    <a:bodyPr/>
                    <a:lstStyle/>
                    <a:p>
                      <a:pPr indent="0" lvl="0" marL="0" marR="44830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11C7D7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01</a:t>
                      </a:r>
                      <a:endParaRPr sz="30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0" marB="0" marR="0" marL="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28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11C7D7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02</a:t>
                      </a:r>
                      <a:endParaRPr sz="30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0" marB="0" marR="0" marL="0">
                    <a:solidFill>
                      <a:srgbClr val="171717"/>
                    </a:solidFill>
                  </a:tcPr>
                </a:tc>
              </a:tr>
              <a:tr h="758200">
                <a:tc>
                  <a:txBody>
                    <a:bodyPr/>
                    <a:lstStyle/>
                    <a:p>
                      <a:pPr indent="274320" lvl="0" marL="31750" marR="4826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Modelos de Referencia OSI y TCP/IP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274320" lvl="0" marL="31750" marR="4826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88900" marB="0" marR="0" marL="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Protocolos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88900" marB="0" marR="0" marL="0">
                    <a:solidFill>
                      <a:srgbClr val="1717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>
            <p:ph type="title"/>
          </p:nvPr>
        </p:nvSpPr>
        <p:spPr>
          <a:xfrm>
            <a:off x="3476475" y="922750"/>
            <a:ext cx="39183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Modelo OSI y TCP/IP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356946" y="783549"/>
            <a:ext cx="2046605" cy="1626870"/>
          </a:xfrm>
          <a:custGeom>
            <a:rect b="b" l="l" r="r" t="t"/>
            <a:pathLst>
              <a:path extrusionOk="0" h="1626870" w="2046604">
                <a:moveTo>
                  <a:pt x="2046600" y="1626599"/>
                </a:moveTo>
                <a:lnTo>
                  <a:pt x="0" y="1626599"/>
                </a:lnTo>
                <a:lnTo>
                  <a:pt x="0" y="0"/>
                </a:lnTo>
                <a:lnTo>
                  <a:pt x="2046600" y="0"/>
                </a:lnTo>
                <a:lnTo>
                  <a:pt x="2046600" y="1626599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1642249" y="922750"/>
            <a:ext cx="14070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1C7D7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b="0" i="0" sz="8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" y="2967300"/>
            <a:ext cx="9143994" cy="217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5"/>
          <p:cNvGrpSpPr/>
          <p:nvPr/>
        </p:nvGrpSpPr>
        <p:grpSpPr>
          <a:xfrm>
            <a:off x="0" y="0"/>
            <a:ext cx="9143999" cy="5143499"/>
            <a:chOff x="0" y="0"/>
            <a:chExt cx="9143999" cy="5143499"/>
          </a:xfrm>
        </p:grpSpPr>
        <p:pic>
          <p:nvPicPr>
            <p:cNvPr id="78" name="Google Shape;7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5"/>
            <p:cNvSpPr/>
            <p:nvPr/>
          </p:nvSpPr>
          <p:spPr>
            <a:xfrm>
              <a:off x="267800" y="1656200"/>
              <a:ext cx="3291204" cy="610235"/>
            </a:xfrm>
            <a:custGeom>
              <a:rect b="b" l="l" r="r" t="t"/>
              <a:pathLst>
                <a:path extrusionOk="0" h="610235" w="3291204">
                  <a:moveTo>
                    <a:pt x="3290699" y="610199"/>
                  </a:moveTo>
                  <a:lnTo>
                    <a:pt x="0" y="610199"/>
                  </a:lnTo>
                  <a:lnTo>
                    <a:pt x="0" y="0"/>
                  </a:lnTo>
                  <a:lnTo>
                    <a:pt x="3290699" y="0"/>
                  </a:lnTo>
                  <a:lnTo>
                    <a:pt x="3290699" y="6101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15"/>
          <p:cNvSpPr txBox="1"/>
          <p:nvPr>
            <p:ph type="title"/>
          </p:nvPr>
        </p:nvSpPr>
        <p:spPr>
          <a:xfrm>
            <a:off x="340825" y="1713975"/>
            <a:ext cx="227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Modelo OSI</a:t>
            </a:r>
            <a:endParaRPr sz="3000"/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7000" y="439050"/>
            <a:ext cx="5318751" cy="419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g2eec74319b4_0_7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87" name="Google Shape;87;g2eec74319b4_0_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g2eec74319b4_0_71"/>
            <p:cNvSpPr/>
            <p:nvPr/>
          </p:nvSpPr>
          <p:spPr>
            <a:xfrm>
              <a:off x="447550" y="361950"/>
              <a:ext cx="8248650" cy="4381500"/>
            </a:xfrm>
            <a:custGeom>
              <a:rect b="b" l="l" r="r" t="t"/>
              <a:pathLst>
                <a:path extrusionOk="0" h="4381500" w="8248650">
                  <a:moveTo>
                    <a:pt x="82484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8248499" y="0"/>
                  </a:lnTo>
                  <a:lnTo>
                    <a:pt x="82484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g2eec74319b4_0_71"/>
          <p:cNvSpPr txBox="1"/>
          <p:nvPr/>
        </p:nvSpPr>
        <p:spPr>
          <a:xfrm>
            <a:off x="359576" y="305100"/>
            <a:ext cx="2041500" cy="13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CAPA 1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 encarga de la transmisión física de bits a través del medio de transmisión, como cables, fibra óptica o inalámbrico.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0" name="Google Shape;90;g2eec74319b4_0_71"/>
          <p:cNvSpPr txBox="1"/>
          <p:nvPr/>
        </p:nvSpPr>
        <p:spPr>
          <a:xfrm>
            <a:off x="3314951" y="305100"/>
            <a:ext cx="2176800" cy="13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2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Proporciona la detección y corrección de errores en la capa física. Organiza bits en tramas y maneja el acceso al medio.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g2eec74319b4_0_71"/>
          <p:cNvSpPr txBox="1"/>
          <p:nvPr/>
        </p:nvSpPr>
        <p:spPr>
          <a:xfrm>
            <a:off x="6176801" y="212700"/>
            <a:ext cx="2176800" cy="13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3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 ocupa del enrutamiento, determina la mejor ruta para los datos y realiza funciones de direccionamiento.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g2eec74319b4_0_71"/>
          <p:cNvSpPr txBox="1"/>
          <p:nvPr/>
        </p:nvSpPr>
        <p:spPr>
          <a:xfrm>
            <a:off x="359575" y="2135950"/>
            <a:ext cx="20415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4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Proporciona servicios de extremo a extremo, asegurando la entrega de datos de manera confiable. Controla el flujo y la corrección de errores.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g2eec74319b4_0_71"/>
          <p:cNvSpPr txBox="1"/>
          <p:nvPr/>
        </p:nvSpPr>
        <p:spPr>
          <a:xfrm>
            <a:off x="3130450" y="2184575"/>
            <a:ext cx="26382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5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Establece, gestiona y finaliza sesiones de comunicación entre aplicaciones.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g2eec74319b4_0_71"/>
          <p:cNvSpPr txBox="1"/>
          <p:nvPr/>
        </p:nvSpPr>
        <p:spPr>
          <a:xfrm>
            <a:off x="3635202" y="3600600"/>
            <a:ext cx="25416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7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Proporciona servicios directamente a las aplicaciones finales. Es la capa más cercana al usuario.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5" name="Google Shape;95;g2eec74319b4_0_71"/>
          <p:cNvSpPr txBox="1"/>
          <p:nvPr/>
        </p:nvSpPr>
        <p:spPr>
          <a:xfrm>
            <a:off x="6741119" y="2184566"/>
            <a:ext cx="19470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6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 encarga de la representación y conversión de datos, asegurando que la información sea entendida por ambas partes.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0" y="0"/>
            <a:ext cx="9143999" cy="5143499"/>
            <a:chOff x="0" y="0"/>
            <a:chExt cx="9143999" cy="5143499"/>
          </a:xfrm>
        </p:grpSpPr>
        <p:pic>
          <p:nvPicPr>
            <p:cNvPr id="101" name="Google Shape;10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6"/>
            <p:cNvSpPr/>
            <p:nvPr/>
          </p:nvSpPr>
          <p:spPr>
            <a:xfrm>
              <a:off x="267800" y="1656200"/>
              <a:ext cx="3291204" cy="610235"/>
            </a:xfrm>
            <a:custGeom>
              <a:rect b="b" l="l" r="r" t="t"/>
              <a:pathLst>
                <a:path extrusionOk="0" h="610235" w="3291204">
                  <a:moveTo>
                    <a:pt x="3290699" y="610199"/>
                  </a:moveTo>
                  <a:lnTo>
                    <a:pt x="0" y="610199"/>
                  </a:lnTo>
                  <a:lnTo>
                    <a:pt x="0" y="0"/>
                  </a:lnTo>
                  <a:lnTo>
                    <a:pt x="3290699" y="0"/>
                  </a:lnTo>
                  <a:lnTo>
                    <a:pt x="3290699" y="6101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6"/>
          <p:cNvSpPr txBox="1"/>
          <p:nvPr>
            <p:ph type="title"/>
          </p:nvPr>
        </p:nvSpPr>
        <p:spPr>
          <a:xfrm>
            <a:off x="340825" y="1713975"/>
            <a:ext cx="2602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Modelo OSI</a:t>
            </a:r>
            <a:endParaRPr sz="3000"/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0900" y="152400"/>
            <a:ext cx="411366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7"/>
          <p:cNvGrpSpPr/>
          <p:nvPr/>
        </p:nvGrpSpPr>
        <p:grpSpPr>
          <a:xfrm>
            <a:off x="0" y="66675"/>
            <a:ext cx="9143899" cy="5076824"/>
            <a:chOff x="0" y="66675"/>
            <a:chExt cx="9143899" cy="5076824"/>
          </a:xfrm>
        </p:grpSpPr>
        <p:pic>
          <p:nvPicPr>
            <p:cNvPr id="111" name="Google Shape;11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66675"/>
              <a:ext cx="9143899" cy="5076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7"/>
            <p:cNvSpPr/>
            <p:nvPr/>
          </p:nvSpPr>
          <p:spPr>
            <a:xfrm>
              <a:off x="447749" y="381000"/>
              <a:ext cx="8248650" cy="4381500"/>
            </a:xfrm>
            <a:custGeom>
              <a:rect b="b" l="l" r="r" t="t"/>
              <a:pathLst>
                <a:path extrusionOk="0" h="4381500" w="8248650">
                  <a:moveTo>
                    <a:pt x="82484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8248499" y="0"/>
                  </a:lnTo>
                  <a:lnTo>
                    <a:pt x="82484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3280023" y="527950"/>
            <a:ext cx="3567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Modelo TCP/IP</a:t>
            </a:r>
            <a:endParaRPr sz="3000"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7012" y="1174050"/>
            <a:ext cx="4549984" cy="366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2eec74319b4_0_9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20" name="Google Shape;120;g2eec74319b4_0_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g2eec74319b4_0_92"/>
            <p:cNvSpPr/>
            <p:nvPr/>
          </p:nvSpPr>
          <p:spPr>
            <a:xfrm>
              <a:off x="447550" y="361950"/>
              <a:ext cx="8248650" cy="4381500"/>
            </a:xfrm>
            <a:custGeom>
              <a:rect b="b" l="l" r="r" t="t"/>
              <a:pathLst>
                <a:path extrusionOk="0" h="4381500" w="8248650">
                  <a:moveTo>
                    <a:pt x="82484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8248499" y="0"/>
                  </a:lnTo>
                  <a:lnTo>
                    <a:pt x="82484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g2eec74319b4_0_92"/>
          <p:cNvSpPr txBox="1"/>
          <p:nvPr/>
        </p:nvSpPr>
        <p:spPr>
          <a:xfrm>
            <a:off x="359575" y="305100"/>
            <a:ext cx="30693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Capa de Acceso a la Red: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Equivalente a las capas 1 y 2 del modelo OSI.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Incluye los protocolos que operan en la capa física y de enlace de datos. Facilita la conexión entre la red y la capa de red.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" name="Google Shape;123;g2eec74319b4_0_92"/>
          <p:cNvSpPr txBox="1"/>
          <p:nvPr/>
        </p:nvSpPr>
        <p:spPr>
          <a:xfrm>
            <a:off x="5445775" y="305100"/>
            <a:ext cx="3171300" cy="18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de Internet:</a:t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Equivalente a la capa 3 del modelo OSI.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Función: Maneja el enrutamiento de datos entre redes. Protocolos como IP (Internet Protocol) operan en esta capa.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g2eec74319b4_0_92"/>
          <p:cNvSpPr txBox="1"/>
          <p:nvPr/>
        </p:nvSpPr>
        <p:spPr>
          <a:xfrm>
            <a:off x="5203375" y="2805575"/>
            <a:ext cx="3413700" cy="19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de Aplicación:</a:t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Equivalente a las capas 5, 6 y 7 del modelo OSI.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Función: Contiene protocolos que permiten a las aplicaciones comunicarse a través de la red. Incluye HTTP, FTP, DNS.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" name="Google Shape;125;g2eec74319b4_0_92"/>
          <p:cNvSpPr txBox="1"/>
          <p:nvPr/>
        </p:nvSpPr>
        <p:spPr>
          <a:xfrm>
            <a:off x="599525" y="2799875"/>
            <a:ext cx="3298500" cy="1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Capa de Transporte:</a:t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Equivalente a la capa 4 del modelo OSI.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Función: Proporciona servicios de transporte de extremo a extremo. Incluye TCP (orientado a la conexión) y UDP (sin conexión).</a:t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6" name="Google Shape;126;g2eec74319b4_0_92"/>
          <p:cNvPicPr preferRelativeResize="0"/>
          <p:nvPr/>
        </p:nvPicPr>
        <p:blipFill rotWithShape="1">
          <a:blip r:embed="rId4">
            <a:alphaModFix/>
          </a:blip>
          <a:srcRect b="0" l="17149" r="0" t="0"/>
          <a:stretch/>
        </p:blipFill>
        <p:spPr>
          <a:xfrm>
            <a:off x="3659225" y="1732925"/>
            <a:ext cx="1339550" cy="1148850"/>
          </a:xfrm>
          <a:prstGeom prst="rect">
            <a:avLst/>
          </a:prstGeom>
          <a:noFill/>
          <a:ln>
            <a:noFill/>
          </a:ln>
          <a:effectLst>
            <a:outerShdw blurRad="271463" rotWithShape="0" algn="bl" dir="20460000" dist="114300">
              <a:srgbClr val="171717">
                <a:alpha val="75686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3476475" y="1242775"/>
            <a:ext cx="41718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Protocolos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356946" y="783549"/>
            <a:ext cx="2046605" cy="1626870"/>
          </a:xfrm>
          <a:custGeom>
            <a:rect b="b" l="l" r="r" t="t"/>
            <a:pathLst>
              <a:path extrusionOk="0" h="1626870" w="2046604">
                <a:moveTo>
                  <a:pt x="2046600" y="1626599"/>
                </a:moveTo>
                <a:lnTo>
                  <a:pt x="0" y="1626599"/>
                </a:lnTo>
                <a:lnTo>
                  <a:pt x="0" y="0"/>
                </a:lnTo>
                <a:lnTo>
                  <a:pt x="2046600" y="0"/>
                </a:lnTo>
                <a:lnTo>
                  <a:pt x="2046600" y="1626599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489999" y="933900"/>
            <a:ext cx="15300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1C7D7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b="0" i="0" sz="8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" y="2967300"/>
            <a:ext cx="9143994" cy="217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9"/>
          <p:cNvGrpSpPr/>
          <p:nvPr/>
        </p:nvGrpSpPr>
        <p:grpSpPr>
          <a:xfrm>
            <a:off x="0" y="9525"/>
            <a:ext cx="8887897" cy="5133974"/>
            <a:chOff x="0" y="9525"/>
            <a:chExt cx="8887897" cy="5133974"/>
          </a:xfrm>
        </p:grpSpPr>
        <p:pic>
          <p:nvPicPr>
            <p:cNvPr id="140" name="Google Shape;14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8887897" cy="5133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9"/>
            <p:cNvSpPr/>
            <p:nvPr/>
          </p:nvSpPr>
          <p:spPr>
            <a:xfrm>
              <a:off x="439198" y="381000"/>
              <a:ext cx="4905375" cy="4381500"/>
            </a:xfrm>
            <a:custGeom>
              <a:rect b="b" l="l" r="r" t="t"/>
              <a:pathLst>
                <a:path extrusionOk="0" h="4381500" w="4905375">
                  <a:moveTo>
                    <a:pt x="49052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4905299" y="0"/>
                  </a:lnTo>
                  <a:lnTo>
                    <a:pt x="49052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19"/>
          <p:cNvSpPr txBox="1"/>
          <p:nvPr/>
        </p:nvSpPr>
        <p:spPr>
          <a:xfrm>
            <a:off x="838425" y="1005570"/>
            <a:ext cx="3801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Son aquellos que definen los detalles de cómo transmitir y entregar un mensaje.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Conjunto de reglas que rigen la comunicación entre dispositivos en una red, como TCP/IP, HTTP, FTP, etc.</a:t>
            </a:r>
            <a:endParaRPr b="0" i="0" sz="17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0"/>
            <a:ext cx="3428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1509349" y="491600"/>
            <a:ext cx="12204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OSI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3371673" y="479400"/>
            <a:ext cx="16935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TCP/IP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5211699" y="452225"/>
            <a:ext cx="25611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Familia de protocolo TCP/IP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g2eec74319b4_0_4"/>
          <p:cNvGrpSpPr/>
          <p:nvPr/>
        </p:nvGrpSpPr>
        <p:grpSpPr>
          <a:xfrm>
            <a:off x="0" y="9525"/>
            <a:ext cx="8887897" cy="5133975"/>
            <a:chOff x="0" y="9525"/>
            <a:chExt cx="8887897" cy="5133975"/>
          </a:xfrm>
        </p:grpSpPr>
        <p:pic>
          <p:nvPicPr>
            <p:cNvPr id="157" name="Google Shape;157;g2eec74319b4_0_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8887897" cy="513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g2eec74319b4_0_4"/>
            <p:cNvSpPr/>
            <p:nvPr/>
          </p:nvSpPr>
          <p:spPr>
            <a:xfrm>
              <a:off x="439198" y="381000"/>
              <a:ext cx="4905375" cy="4381500"/>
            </a:xfrm>
            <a:custGeom>
              <a:rect b="b" l="l" r="r" t="t"/>
              <a:pathLst>
                <a:path extrusionOk="0" h="4381500" w="4905375">
                  <a:moveTo>
                    <a:pt x="49052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4905299" y="0"/>
                  </a:lnTo>
                  <a:lnTo>
                    <a:pt x="49052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g2eec74319b4_0_4"/>
          <p:cNvSpPr txBox="1"/>
          <p:nvPr/>
        </p:nvSpPr>
        <p:spPr>
          <a:xfrm>
            <a:off x="475150" y="500500"/>
            <a:ext cx="4751100" cy="377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HTTP (Hypertext Transfer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transferencia de hipertexto utilizado para la transmisión de datos en la World Wide Web. 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SMTP (Simple Mail Transfer Protocol)</a:t>
            </a: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utilizado para el envío de correos electrónicos. Define la forma en que los servidores de correo electrónico interactúan entre sí.</a:t>
            </a:r>
            <a:endParaRPr b="0" i="0" sz="17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0" name="Google Shape;160;g2eec74319b4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2eec74319b4_0_14"/>
          <p:cNvGrpSpPr/>
          <p:nvPr/>
        </p:nvGrpSpPr>
        <p:grpSpPr>
          <a:xfrm>
            <a:off x="0" y="9525"/>
            <a:ext cx="8887897" cy="5133975"/>
            <a:chOff x="0" y="9525"/>
            <a:chExt cx="8887897" cy="5133975"/>
          </a:xfrm>
        </p:grpSpPr>
        <p:pic>
          <p:nvPicPr>
            <p:cNvPr id="166" name="Google Shape;166;g2eec74319b4_0_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8887897" cy="513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g2eec74319b4_0_14"/>
            <p:cNvSpPr/>
            <p:nvPr/>
          </p:nvSpPr>
          <p:spPr>
            <a:xfrm>
              <a:off x="439198" y="381000"/>
              <a:ext cx="4905375" cy="4381500"/>
            </a:xfrm>
            <a:custGeom>
              <a:rect b="b" l="l" r="r" t="t"/>
              <a:pathLst>
                <a:path extrusionOk="0" h="4381500" w="4905375">
                  <a:moveTo>
                    <a:pt x="49052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4905299" y="0"/>
                  </a:lnTo>
                  <a:lnTo>
                    <a:pt x="49052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g2eec74319b4_0_14"/>
          <p:cNvSpPr txBox="1"/>
          <p:nvPr/>
        </p:nvSpPr>
        <p:spPr>
          <a:xfrm>
            <a:off x="475150" y="1007950"/>
            <a:ext cx="4751100" cy="430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Telnet: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que permite la conexión remota a un dispositivo a través de la red.</a:t>
            </a:r>
            <a:endParaRPr/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FTP (File Transfer Protocol):</a:t>
            </a:r>
            <a:endParaRPr/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para la transferencia de archivos entre un cliente y un servidor en una red. Permite subir y bajar archivos de un servidor.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9" name="Google Shape;169;g2eec74319b4_0_14"/>
          <p:cNvPicPr preferRelativeResize="0"/>
          <p:nvPr/>
        </p:nvPicPr>
        <p:blipFill rotWithShape="1">
          <a:blip r:embed="rId4">
            <a:alphaModFix/>
          </a:blip>
          <a:srcRect b="0" l="52743" r="0" t="0"/>
          <a:stretch/>
        </p:blipFill>
        <p:spPr>
          <a:xfrm>
            <a:off x="5477175" y="514350"/>
            <a:ext cx="3456874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2eec74319b4_0_23"/>
          <p:cNvGrpSpPr/>
          <p:nvPr/>
        </p:nvGrpSpPr>
        <p:grpSpPr>
          <a:xfrm>
            <a:off x="0" y="9525"/>
            <a:ext cx="8887897" cy="5133975"/>
            <a:chOff x="0" y="9525"/>
            <a:chExt cx="8887897" cy="5133975"/>
          </a:xfrm>
        </p:grpSpPr>
        <p:pic>
          <p:nvPicPr>
            <p:cNvPr id="175" name="Google Shape;175;g2eec74319b4_0_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8887897" cy="513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g2eec74319b4_0_23"/>
            <p:cNvSpPr/>
            <p:nvPr/>
          </p:nvSpPr>
          <p:spPr>
            <a:xfrm>
              <a:off x="439198" y="381000"/>
              <a:ext cx="4905375" cy="4381500"/>
            </a:xfrm>
            <a:custGeom>
              <a:rect b="b" l="l" r="r" t="t"/>
              <a:pathLst>
                <a:path extrusionOk="0" h="4381500" w="4905375">
                  <a:moveTo>
                    <a:pt x="49052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4905299" y="0"/>
                  </a:lnTo>
                  <a:lnTo>
                    <a:pt x="49052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g2eec74319b4_0_23"/>
          <p:cNvSpPr txBox="1"/>
          <p:nvPr/>
        </p:nvSpPr>
        <p:spPr>
          <a:xfrm>
            <a:off x="481950" y="623322"/>
            <a:ext cx="47511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DNS (Domain Name System):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que traduce nombres de dominio legibles por humanos en direcciones IP numéricas.</a:t>
            </a:r>
            <a:endParaRPr/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RIP (Routing Information Protocol):</a:t>
            </a:r>
            <a:endParaRPr/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enrutamiento utilizado para intercambiar información entre routers en una red. Ayuda a los routers a determinar las rutas más eficientes para enviar datos.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8" name="Google Shape;178;g2eec74319b4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g2eec74319b4_0_31"/>
          <p:cNvGrpSpPr/>
          <p:nvPr/>
        </p:nvGrpSpPr>
        <p:grpSpPr>
          <a:xfrm>
            <a:off x="0" y="9525"/>
            <a:ext cx="8887897" cy="5133975"/>
            <a:chOff x="0" y="9525"/>
            <a:chExt cx="8887897" cy="5133975"/>
          </a:xfrm>
        </p:grpSpPr>
        <p:pic>
          <p:nvPicPr>
            <p:cNvPr id="184" name="Google Shape;184;g2eec74319b4_0_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8887897" cy="513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g2eec74319b4_0_31"/>
            <p:cNvSpPr/>
            <p:nvPr/>
          </p:nvSpPr>
          <p:spPr>
            <a:xfrm>
              <a:off x="439198" y="381000"/>
              <a:ext cx="4905375" cy="4381500"/>
            </a:xfrm>
            <a:custGeom>
              <a:rect b="b" l="l" r="r" t="t"/>
              <a:pathLst>
                <a:path extrusionOk="0" h="4381500" w="4905375">
                  <a:moveTo>
                    <a:pt x="49052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4905299" y="0"/>
                  </a:lnTo>
                  <a:lnTo>
                    <a:pt x="49052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g2eec74319b4_0_31"/>
          <p:cNvSpPr txBox="1"/>
          <p:nvPr/>
        </p:nvSpPr>
        <p:spPr>
          <a:xfrm>
            <a:off x="373400" y="304875"/>
            <a:ext cx="5383500" cy="4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SNMP (Simple Network Management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utilizado para gestionar y monitorear dispositivos en una red. Permite a los administradores supervisar y controlar dispositivos de red.</a:t>
            </a:r>
            <a:endParaRPr b="0" i="0" sz="15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TCP (Transmission Control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control de transmisión que proporciona una comunicación fiable y orientada a la conexión.</a:t>
            </a:r>
            <a:endParaRPr b="0" i="0" sz="15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UDP (User Datagram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datagramas de usuario que ofrece una comunicación no orientada a la conexión y sin garantía de entrega.</a:t>
            </a:r>
            <a:endParaRPr b="0" i="0" sz="17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7" name="Google Shape;187;g2eec74319b4_0_31"/>
          <p:cNvPicPr preferRelativeResize="0"/>
          <p:nvPr/>
        </p:nvPicPr>
        <p:blipFill rotWithShape="1">
          <a:blip r:embed="rId4">
            <a:alphaModFix/>
          </a:blip>
          <a:srcRect b="0" l="52745" r="4190" t="0"/>
          <a:stretch/>
        </p:blipFill>
        <p:spPr>
          <a:xfrm>
            <a:off x="5988625" y="678175"/>
            <a:ext cx="2899274" cy="37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g2eec74319b4_0_39"/>
          <p:cNvGrpSpPr/>
          <p:nvPr/>
        </p:nvGrpSpPr>
        <p:grpSpPr>
          <a:xfrm>
            <a:off x="0" y="9525"/>
            <a:ext cx="8887897" cy="5133975"/>
            <a:chOff x="0" y="9525"/>
            <a:chExt cx="8887897" cy="5133975"/>
          </a:xfrm>
        </p:grpSpPr>
        <p:pic>
          <p:nvPicPr>
            <p:cNvPr id="193" name="Google Shape;193;g2eec74319b4_0_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8887897" cy="513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g2eec74319b4_0_39"/>
            <p:cNvSpPr/>
            <p:nvPr/>
          </p:nvSpPr>
          <p:spPr>
            <a:xfrm>
              <a:off x="439198" y="381000"/>
              <a:ext cx="4905375" cy="4381500"/>
            </a:xfrm>
            <a:custGeom>
              <a:rect b="b" l="l" r="r" t="t"/>
              <a:pathLst>
                <a:path extrusionOk="0" h="4381500" w="4905375">
                  <a:moveTo>
                    <a:pt x="49052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4905299" y="0"/>
                  </a:lnTo>
                  <a:lnTo>
                    <a:pt x="49052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g2eec74319b4_0_39"/>
          <p:cNvSpPr txBox="1"/>
          <p:nvPr/>
        </p:nvSpPr>
        <p:spPr>
          <a:xfrm>
            <a:off x="373400" y="304875"/>
            <a:ext cx="5383500" cy="4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IP (Internet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red que facilita la comunicación entre dispositivos en una red. IP es responsable de la asignación y enrutamiento de direcciones IP.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ARP (Address Resolution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utilizado para mapear direcciones IP a direcciones MAC en una red local.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IGMP (Internet Group Management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utilizado por hosts en una red para informar a los routers acerca de su afiliación a grupos de multidifusión IP.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6" name="Google Shape;196;g2eec74319b4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3725" y="0"/>
            <a:ext cx="29602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g2eec74319b4_0_47"/>
          <p:cNvGrpSpPr/>
          <p:nvPr/>
        </p:nvGrpSpPr>
        <p:grpSpPr>
          <a:xfrm>
            <a:off x="0" y="9525"/>
            <a:ext cx="8887897" cy="5133975"/>
            <a:chOff x="0" y="9525"/>
            <a:chExt cx="8887897" cy="5133975"/>
          </a:xfrm>
        </p:grpSpPr>
        <p:pic>
          <p:nvPicPr>
            <p:cNvPr id="202" name="Google Shape;202;g2eec74319b4_0_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525"/>
              <a:ext cx="8887897" cy="513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g2eec74319b4_0_47"/>
            <p:cNvSpPr/>
            <p:nvPr/>
          </p:nvSpPr>
          <p:spPr>
            <a:xfrm>
              <a:off x="439198" y="381000"/>
              <a:ext cx="4905375" cy="4381500"/>
            </a:xfrm>
            <a:custGeom>
              <a:rect b="b" l="l" r="r" t="t"/>
              <a:pathLst>
                <a:path extrusionOk="0" h="4381500" w="4905375">
                  <a:moveTo>
                    <a:pt x="4905299" y="4381499"/>
                  </a:moveTo>
                  <a:lnTo>
                    <a:pt x="0" y="4381499"/>
                  </a:lnTo>
                  <a:lnTo>
                    <a:pt x="0" y="0"/>
                  </a:lnTo>
                  <a:lnTo>
                    <a:pt x="4905299" y="0"/>
                  </a:lnTo>
                  <a:lnTo>
                    <a:pt x="4905299" y="4381499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g2eec74319b4_0_47"/>
          <p:cNvSpPr txBox="1"/>
          <p:nvPr/>
        </p:nvSpPr>
        <p:spPr>
          <a:xfrm>
            <a:off x="373400" y="838275"/>
            <a:ext cx="4968600" cy="4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ICMP (Internet Control Message Protocol):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utilizado para enviar mensajes de control y error en la red. ICMP es conocido por los mensajes de "ping" que se utilizan para probar la conectividad entre dispositivos.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Ethernet: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red de área local que define cómo los datos se envían y reciben en una red cableada.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5" name="Google Shape;205;g2eec74319b4_0_47"/>
          <p:cNvPicPr preferRelativeResize="0"/>
          <p:nvPr/>
        </p:nvPicPr>
        <p:blipFill rotWithShape="1">
          <a:blip r:embed="rId4">
            <a:alphaModFix/>
          </a:blip>
          <a:srcRect b="0" l="52743" r="0" t="0"/>
          <a:stretch/>
        </p:blipFill>
        <p:spPr>
          <a:xfrm>
            <a:off x="5569425" y="519100"/>
            <a:ext cx="3456874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ec74319b4_0_63"/>
          <p:cNvSpPr txBox="1"/>
          <p:nvPr/>
        </p:nvSpPr>
        <p:spPr>
          <a:xfrm>
            <a:off x="559650" y="581650"/>
            <a:ext cx="8024700" cy="3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Token Ring: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red de área local que utiliza un token para controlar el acceso a la red y evitar colisiones.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ATM (Asynchronous Transfer Mode):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red que utiliza celdas fijas de tamaño pequeño para la transmisión de datos a través de redes de alta velocidad.</a:t>
            </a:r>
            <a:endParaRPr b="0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Frame Relay: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2065" rtl="0" algn="just">
              <a:lnSpc>
                <a:spcPct val="100000"/>
              </a:lnSpc>
              <a:spcBef>
                <a:spcPts val="204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Protocolo de conmutación de paquetes utilizado en redes de área amplia. Proporciona un medio eficiente para la transmisión de datos.</a:t>
            </a:r>
            <a:endParaRPr b="1" i="0" sz="16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2024-07-26T23:48:00Z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