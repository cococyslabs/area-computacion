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lIgRHHVOezLyK2z8+ZuSc0l+W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1B3B69-B588-4706-BE6F-4ACEDCCB647F}">
  <a:tblStyle styleId="{B21B3B69-B588-4706-BE6F-4ACEDCCB64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f94a9877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f94a9877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f94a98771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9f94a98771_1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9f94a98771_1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9f94a98771_1_1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9f94a98771_1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9f94a98771_1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9f94a98771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39f94a98771_1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9f94a98771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9f94a98771_1_2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9f94a98771_1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9f94a98771_1_2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a0f968ce9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3a0f968ce9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0f968ce9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g3a0f968ce90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f94a98771_1_10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g39f94a98771_1_10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g39f94a98771_1_10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f94a98771_1_10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g39f94a98771_1_10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g39f94a98771_1_1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g39f94a98771_1_1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g39f94a98771_1_1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f94a98771_1_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g39f94a98771_1_1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g39f94a98771_1_1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g39f94a98771_1_1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g39f94a98771_1_1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f94a98771_1_11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g39f94a98771_1_11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g39f94a98771_1_1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g39f94a98771_1_1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g39f94a98771_1_1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f94a98771_1_1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g39f94a98771_1_125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g39f94a98771_1_125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g39f94a98771_1_1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g39f94a98771_1_1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g39f94a98771_1_1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f94a98771_1_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g39f94a98771_1_132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g39f94a98771_1_132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g39f94a98771_1_132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g39f94a98771_1_132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g39f94a98771_1_1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g39f94a98771_1_1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g39f94a98771_1_1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f94a98771_1_1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g39f94a98771_1_1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g39f94a98771_1_1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g39f94a98771_1_1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f94a98771_1_146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g39f94a98771_1_146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g39f94a98771_1_146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g39f94a98771_1_14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g39f94a98771_1_14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g39f94a98771_1_14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f94a98771_1_15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g39f94a98771_1_1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g39f94a98771_1_15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g39f94a98771_1_15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g39f94a98771_1_15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g39f94a98771_1_1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f94a98771_1_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g39f94a98771_1_160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g39f94a98771_1_1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g39f94a98771_1_1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g39f94a98771_1_1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9f94a98771_1_166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g39f94a98771_1_16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g39f94a98771_1_1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g39f94a98771_1_1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g39f94a98771_1_1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f94a98771_1_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g39f94a98771_1_9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g39f94a98771_1_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g39f94a98771_1_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g39f94a98771_1_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7.png"/><Relationship Id="rId5" Type="http://schemas.openxmlformats.org/officeDocument/2006/relationships/image" Target="../media/image36.png"/><Relationship Id="rId6" Type="http://schemas.openxmlformats.org/officeDocument/2006/relationships/image" Target="../media/image9.png"/><Relationship Id="rId7" Type="http://schemas.openxmlformats.org/officeDocument/2006/relationships/image" Target="../media/image22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8.png"/><Relationship Id="rId6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3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28.jpg"/><Relationship Id="rId5" Type="http://schemas.openxmlformats.org/officeDocument/2006/relationships/image" Target="../media/image20.png"/><Relationship Id="rId6" Type="http://schemas.openxmlformats.org/officeDocument/2006/relationships/image" Target="../media/image35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3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lab.wallarm.com/what/que-es-el-protocolo-coap-significado-y-arquitectura/?lang=es" TargetMode="External"/><Relationship Id="rId4" Type="http://schemas.openxmlformats.org/officeDocument/2006/relationships/hyperlink" Target="https://aws.amazon.com/es/what-is/mqtt/" TargetMode="External"/><Relationship Id="rId5" Type="http://schemas.openxmlformats.org/officeDocument/2006/relationships/hyperlink" Target="https://www.hivemq.com/blog/mqtt-essentials-part-6-mqtt-quality-of-service-levels/" TargetMode="External"/><Relationship Id="rId6" Type="http://schemas.openxmlformats.org/officeDocument/2006/relationships/image" Target="../media/image3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9f94a9877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8000" cy="1028700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9f94a98771_0_0"/>
          <p:cNvSpPr/>
          <p:nvPr/>
        </p:nvSpPr>
        <p:spPr>
          <a:xfrm>
            <a:off x="3598050" y="5988675"/>
            <a:ext cx="73650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TUTOR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9f94a98771_0_0"/>
          <p:cNvSpPr/>
          <p:nvPr/>
        </p:nvSpPr>
        <p:spPr>
          <a:xfrm>
            <a:off x="3090925" y="4781250"/>
            <a:ext cx="10142100" cy="724500"/>
          </a:xfrm>
          <a:prstGeom prst="rect">
            <a:avLst/>
          </a:prstGeom>
          <a:solidFill>
            <a:srgbClr val="EEECE1"/>
          </a:solidFill>
          <a:ln cap="flat" cmpd="sng" w="9525">
            <a:solidFill>
              <a:srgbClr val="1F49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0" i="0" lang="en-US" sz="3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NOMBRE DEL CURSO</a:t>
            </a:r>
            <a:endParaRPr b="0" i="0" sz="3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/>
          <p:nvPr/>
        </p:nvSpPr>
        <p:spPr>
          <a:xfrm>
            <a:off x="9059850" y="-105175"/>
            <a:ext cx="9144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"/>
          <p:cNvSpPr/>
          <p:nvPr/>
        </p:nvSpPr>
        <p:spPr>
          <a:xfrm>
            <a:off x="12573000" y="0"/>
            <a:ext cx="5715000" cy="1514631"/>
          </a:xfrm>
          <a:custGeom>
            <a:rect b="b" l="l" r="r" t="t"/>
            <a:pathLst>
              <a:path extrusionOk="0" h="1514631" w="5715000">
                <a:moveTo>
                  <a:pt x="0" y="0"/>
                </a:moveTo>
                <a:lnTo>
                  <a:pt x="5715000" y="0"/>
                </a:lnTo>
                <a:lnTo>
                  <a:pt x="5715000" y="1514631"/>
                </a:lnTo>
                <a:lnTo>
                  <a:pt x="0" y="151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8" name="Google Shape;168;p1"/>
          <p:cNvSpPr/>
          <p:nvPr/>
        </p:nvSpPr>
        <p:spPr>
          <a:xfrm>
            <a:off x="11588833" y="2596379"/>
            <a:ext cx="4254333" cy="4254333"/>
          </a:xfrm>
          <a:custGeom>
            <a:rect b="b" l="l" r="r" t="t"/>
            <a:pathLst>
              <a:path extrusionOk="0" h="4254333" w="4254333">
                <a:moveTo>
                  <a:pt x="0" y="0"/>
                </a:moveTo>
                <a:lnTo>
                  <a:pt x="4254334" y="0"/>
                </a:lnTo>
                <a:lnTo>
                  <a:pt x="4254334" y="4254333"/>
                </a:lnTo>
                <a:lnTo>
                  <a:pt x="0" y="4254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"/>
          <p:cNvSpPr/>
          <p:nvPr/>
        </p:nvSpPr>
        <p:spPr>
          <a:xfrm>
            <a:off x="13716000" y="5800358"/>
            <a:ext cx="3718305" cy="3718305"/>
          </a:xfrm>
          <a:custGeom>
            <a:rect b="b" l="l" r="r" t="t"/>
            <a:pathLst>
              <a:path extrusionOk="0" h="3718305" w="3718305">
                <a:moveTo>
                  <a:pt x="0" y="0"/>
                </a:moveTo>
                <a:lnTo>
                  <a:pt x="3718305" y="0"/>
                </a:lnTo>
                <a:lnTo>
                  <a:pt x="3718305" y="3718306"/>
                </a:lnTo>
                <a:lnTo>
                  <a:pt x="0" y="37183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70" name="Google Shape;170;p1"/>
          <p:cNvGrpSpPr/>
          <p:nvPr/>
        </p:nvGrpSpPr>
        <p:grpSpPr>
          <a:xfrm>
            <a:off x="146100" y="344396"/>
            <a:ext cx="9524925" cy="10004630"/>
            <a:chOff x="448800" y="-2740358"/>
            <a:chExt cx="12699900" cy="13339508"/>
          </a:xfrm>
        </p:grpSpPr>
        <p:sp>
          <p:nvSpPr>
            <p:cNvPr id="171" name="Google Shape;171;p1"/>
            <p:cNvSpPr txBox="1"/>
            <p:nvPr/>
          </p:nvSpPr>
          <p:spPr>
            <a:xfrm>
              <a:off x="1588938" y="2686050"/>
              <a:ext cx="9522000" cy="791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799" u="none" cap="none" strike="noStrike">
                  <a:solidFill>
                    <a:srgbClr val="FFB400"/>
                  </a:solidFill>
                  <a:latin typeface="Arial"/>
                  <a:ea typeface="Arial"/>
                  <a:cs typeface="Arial"/>
                  <a:sym typeface="Arial"/>
                </a:rPr>
                <a:t>Arquitectura de Computadores y Ensambladores 2</a:t>
              </a:r>
              <a:endParaRPr sz="1000"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Escuela de Ingeniería de Ciencias Y Sistemas</a:t>
              </a:r>
              <a:endParaRPr sz="1000"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Facultad de Ingeniería</a:t>
              </a:r>
              <a:endParaRPr sz="1000"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Universidad de San Carlos de Guatemala</a:t>
              </a:r>
              <a:endParaRPr sz="1000"/>
            </a:p>
          </p:txBody>
        </p:sp>
        <p:sp>
          <p:nvSpPr>
            <p:cNvPr id="172" name="Google Shape;172;p1"/>
            <p:cNvSpPr txBox="1"/>
            <p:nvPr/>
          </p:nvSpPr>
          <p:spPr>
            <a:xfrm>
              <a:off x="448800" y="-2740358"/>
              <a:ext cx="12699900" cy="474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IOT  Y</a:t>
              </a:r>
              <a:endParaRPr/>
            </a:p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PROTOCOLO</a:t>
              </a:r>
              <a:r>
                <a:rPr lang="en-US" sz="6799">
                  <a:solidFill>
                    <a:srgbClr val="0066CC"/>
                  </a:solidFill>
                </a:rPr>
                <a:t>S</a:t>
              </a:r>
              <a:r>
                <a:rPr b="0" i="0" lang="en-US" sz="6799" u="none" cap="none" strike="noStrike">
                  <a:solidFill>
                    <a:srgbClr val="0066CC"/>
                  </a:solidFill>
                  <a:latin typeface="Arial"/>
                  <a:ea typeface="Arial"/>
                  <a:cs typeface="Arial"/>
                  <a:sym typeface="Arial"/>
                </a:rPr>
                <a:t> HTTP Y M</a:t>
              </a:r>
              <a:r>
                <a:rPr lang="en-US" sz="6799">
                  <a:solidFill>
                    <a:srgbClr val="0066CC"/>
                  </a:solidFill>
                </a:rPr>
                <a:t>QTT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78" name="Google Shape;178;p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9" name="Google Shape;179;p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80" name="Google Shape;180;p2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"/>
          <p:cNvSpPr txBox="1"/>
          <p:nvPr/>
        </p:nvSpPr>
        <p:spPr>
          <a:xfrm>
            <a:off x="3667125" y="1500708"/>
            <a:ext cx="1095375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/>
          </a:p>
        </p:txBody>
      </p:sp>
      <p:grpSp>
        <p:nvGrpSpPr>
          <p:cNvPr id="182" name="Google Shape;182;p2"/>
          <p:cNvGrpSpPr/>
          <p:nvPr/>
        </p:nvGrpSpPr>
        <p:grpSpPr>
          <a:xfrm>
            <a:off x="1369949" y="3207962"/>
            <a:ext cx="15240000" cy="5080000"/>
            <a:chOff x="0" y="0"/>
            <a:chExt cx="20320000" cy="6773333"/>
          </a:xfrm>
        </p:grpSpPr>
        <p:sp>
          <p:nvSpPr>
            <p:cNvPr id="183" name="Google Shape;183;p2"/>
            <p:cNvSpPr txBox="1"/>
            <p:nvPr/>
          </p:nvSpPr>
          <p:spPr>
            <a:xfrm>
              <a:off x="0" y="392642"/>
              <a:ext cx="13546800" cy="363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95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🗓️</a:t>
              </a:r>
              <a:r>
                <a:rPr lang="en-US" sz="4925">
                  <a:solidFill>
                    <a:schemeClr val="dk1"/>
                  </a:solidFill>
                </a:rPr>
                <a:t>—--------</a:t>
              </a:r>
              <a:endParaRPr sz="1000"/>
            </a:p>
            <a:p>
              <a:pPr indent="0" lvl="0" marL="0" marR="0" rtl="0" algn="l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5525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📄 Agregar dudas al Foro  </a:t>
              </a:r>
              <a:endParaRPr sz="1000"/>
            </a:p>
          </p:txBody>
        </p:sp>
        <p:sp>
          <p:nvSpPr>
            <p:cNvPr id="184" name="Google Shape;184;p2"/>
            <p:cNvSpPr/>
            <p:nvPr/>
          </p:nvSpPr>
          <p:spPr>
            <a:xfrm flipH="1">
              <a:off x="13546667" y="0"/>
              <a:ext cx="6773333" cy="6773333"/>
            </a:xfrm>
            <a:custGeom>
              <a:rect b="b" l="l" r="r" t="t"/>
              <a:pathLst>
                <a:path extrusionOk="0" h="6773333" w="6773333">
                  <a:moveTo>
                    <a:pt x="6773333" y="0"/>
                  </a:moveTo>
                  <a:lnTo>
                    <a:pt x="0" y="0"/>
                  </a:lnTo>
                  <a:lnTo>
                    <a:pt x="0" y="6773333"/>
                  </a:lnTo>
                  <a:lnTo>
                    <a:pt x="6773333" y="6773333"/>
                  </a:lnTo>
                  <a:lnTo>
                    <a:pt x="6773333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190" name="Google Shape;190;p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1" name="Google Shape;191;p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192" name="Google Shape;192;p3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3"/>
          <p:cNvSpPr txBox="1"/>
          <p:nvPr/>
        </p:nvSpPr>
        <p:spPr>
          <a:xfrm>
            <a:off x="4857750" y="1500708"/>
            <a:ext cx="85725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COMPETENCIA</a:t>
            </a:r>
            <a:endParaRPr/>
          </a:p>
        </p:txBody>
      </p:sp>
      <p:sp>
        <p:nvSpPr>
          <p:cNvPr id="194" name="Google Shape;194;p3"/>
          <p:cNvSpPr/>
          <p:nvPr/>
        </p:nvSpPr>
        <p:spPr>
          <a:xfrm>
            <a:off x="964985" y="3047517"/>
            <a:ext cx="5715000" cy="5715000"/>
          </a:xfrm>
          <a:custGeom>
            <a:rect b="b" l="l" r="r" t="t"/>
            <a:pathLst>
              <a:path extrusionOk="0" h="5715000" w="5715000">
                <a:moveTo>
                  <a:pt x="0" y="0"/>
                </a:moveTo>
                <a:lnTo>
                  <a:pt x="5715000" y="0"/>
                </a:lnTo>
                <a:lnTo>
                  <a:pt x="5715000" y="5715000"/>
                </a:lnTo>
                <a:lnTo>
                  <a:pt x="0" y="5715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3"/>
          <p:cNvSpPr txBox="1"/>
          <p:nvPr/>
        </p:nvSpPr>
        <p:spPr>
          <a:xfrm>
            <a:off x="6679985" y="3747373"/>
            <a:ext cx="10005000" cy="4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1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estudiante comprende los sistemas de comunicación en IoT, identificando el rol de protocolos como HTTP y CoAP en la interacción entre dispositivos embebidos y servidores API RESTful, así como las estrategias de optimización de transmisión de datos en redes inalámbricas de bajo consumo.</a:t>
            </a:r>
            <a:endParaRPr sz="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200;p4"/>
          <p:cNvGrpSpPr/>
          <p:nvPr/>
        </p:nvGrpSpPr>
        <p:grpSpPr>
          <a:xfrm>
            <a:off x="767398" y="654414"/>
            <a:ext cx="16753209" cy="8716522"/>
            <a:chOff x="0" y="0"/>
            <a:chExt cx="69085396" cy="35944420"/>
          </a:xfrm>
        </p:grpSpPr>
        <p:sp>
          <p:nvSpPr>
            <p:cNvPr id="201" name="Google Shape;201;p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2" name="Google Shape;202;p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03" name="Google Shape;203;p4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" name="Google Shape;204;p4"/>
          <p:cNvSpPr txBox="1"/>
          <p:nvPr/>
        </p:nvSpPr>
        <p:spPr>
          <a:xfrm>
            <a:off x="3328500" y="3429000"/>
            <a:ext cx="11631000" cy="4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     Capa de Software (SDKs, Raspberry Pi)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🧪     Capa de Aplicaciones en IoT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🔌     Entorno de comunicación inálambrica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🧷     Protocolo HTTP, Gateways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🧷     </a:t>
            </a:r>
            <a:r>
              <a:rPr lang="en-US" sz="3900">
                <a:solidFill>
                  <a:schemeClr val="dk1"/>
                </a:solidFill>
              </a:rPr>
              <a:t>CoAP como alternativa a HTTP en IoT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3900"/>
              <a:t>Protocolo MQTT</a:t>
            </a:r>
            <a:endParaRPr sz="3900"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3367749" y="3300487"/>
            <a:ext cx="729331" cy="729331"/>
          </a:xfrm>
          <a:custGeom>
            <a:rect b="b" l="l" r="r" t="t"/>
            <a:pathLst>
              <a:path extrusionOk="0" h="729331" w="729331">
                <a:moveTo>
                  <a:pt x="0" y="0"/>
                </a:moveTo>
                <a:lnTo>
                  <a:pt x="729331" y="0"/>
                </a:lnTo>
                <a:lnTo>
                  <a:pt x="729331" y="729330"/>
                </a:lnTo>
                <a:lnTo>
                  <a:pt x="0" y="729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4"/>
          <p:cNvSpPr/>
          <p:nvPr/>
        </p:nvSpPr>
        <p:spPr>
          <a:xfrm>
            <a:off x="3367749" y="4029817"/>
            <a:ext cx="729331" cy="729331"/>
          </a:xfrm>
          <a:custGeom>
            <a:rect b="b" l="l" r="r" t="t"/>
            <a:pathLst>
              <a:path extrusionOk="0" h="729331" w="729331">
                <a:moveTo>
                  <a:pt x="0" y="0"/>
                </a:moveTo>
                <a:lnTo>
                  <a:pt x="729331" y="0"/>
                </a:lnTo>
                <a:lnTo>
                  <a:pt x="729331" y="729331"/>
                </a:lnTo>
                <a:lnTo>
                  <a:pt x="0" y="729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7" name="Google Shape;207;p4"/>
          <p:cNvSpPr/>
          <p:nvPr/>
        </p:nvSpPr>
        <p:spPr>
          <a:xfrm>
            <a:off x="3328505" y="4691869"/>
            <a:ext cx="729331" cy="729331"/>
          </a:xfrm>
          <a:custGeom>
            <a:rect b="b" l="l" r="r" t="t"/>
            <a:pathLst>
              <a:path extrusionOk="0" h="729331" w="729331">
                <a:moveTo>
                  <a:pt x="0" y="0"/>
                </a:moveTo>
                <a:lnTo>
                  <a:pt x="729330" y="0"/>
                </a:lnTo>
                <a:lnTo>
                  <a:pt x="729330" y="729331"/>
                </a:lnTo>
                <a:lnTo>
                  <a:pt x="0" y="729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8" name="Google Shape;208;p4"/>
          <p:cNvSpPr/>
          <p:nvPr/>
        </p:nvSpPr>
        <p:spPr>
          <a:xfrm>
            <a:off x="3367749" y="5621225"/>
            <a:ext cx="650841" cy="650841"/>
          </a:xfrm>
          <a:custGeom>
            <a:rect b="b" l="l" r="r" t="t"/>
            <a:pathLst>
              <a:path extrusionOk="0" h="650841" w="650841">
                <a:moveTo>
                  <a:pt x="0" y="0"/>
                </a:moveTo>
                <a:lnTo>
                  <a:pt x="650842" y="0"/>
                </a:lnTo>
                <a:lnTo>
                  <a:pt x="650842" y="650841"/>
                </a:lnTo>
                <a:lnTo>
                  <a:pt x="0" y="6508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9" name="Google Shape;209;p4"/>
          <p:cNvSpPr/>
          <p:nvPr/>
        </p:nvSpPr>
        <p:spPr>
          <a:xfrm>
            <a:off x="3367749" y="6338962"/>
            <a:ext cx="729331" cy="729331"/>
          </a:xfrm>
          <a:custGeom>
            <a:rect b="b" l="l" r="r" t="t"/>
            <a:pathLst>
              <a:path extrusionOk="0" h="729331" w="729331">
                <a:moveTo>
                  <a:pt x="0" y="0"/>
                </a:moveTo>
                <a:lnTo>
                  <a:pt x="729331" y="0"/>
                </a:lnTo>
                <a:lnTo>
                  <a:pt x="729331" y="729330"/>
                </a:lnTo>
                <a:lnTo>
                  <a:pt x="0" y="729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4"/>
          <p:cNvSpPr/>
          <p:nvPr/>
        </p:nvSpPr>
        <p:spPr>
          <a:xfrm>
            <a:off x="3367749" y="7134967"/>
            <a:ext cx="729331" cy="729331"/>
          </a:xfrm>
          <a:custGeom>
            <a:rect b="b" l="l" r="r" t="t"/>
            <a:pathLst>
              <a:path extrusionOk="0" h="729331" w="729331">
                <a:moveTo>
                  <a:pt x="0" y="0"/>
                </a:moveTo>
                <a:lnTo>
                  <a:pt x="729331" y="0"/>
                </a:lnTo>
                <a:lnTo>
                  <a:pt x="729331" y="729331"/>
                </a:lnTo>
                <a:lnTo>
                  <a:pt x="0" y="7293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1" name="Google Shape;211;p4"/>
          <p:cNvSpPr txBox="1"/>
          <p:nvPr/>
        </p:nvSpPr>
        <p:spPr>
          <a:xfrm>
            <a:off x="6286500" y="1500708"/>
            <a:ext cx="571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5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17" name="Google Shape;217;p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8" name="Google Shape;218;p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19" name="Google Shape;219;p5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5"/>
          <p:cNvSpPr/>
          <p:nvPr/>
        </p:nvSpPr>
        <p:spPr>
          <a:xfrm>
            <a:off x="1252987" y="3207962"/>
            <a:ext cx="5906779" cy="4407934"/>
          </a:xfrm>
          <a:custGeom>
            <a:rect b="b" l="l" r="r" t="t"/>
            <a:pathLst>
              <a:path extrusionOk="0" h="4407934" w="5906779">
                <a:moveTo>
                  <a:pt x="0" y="0"/>
                </a:moveTo>
                <a:lnTo>
                  <a:pt x="5906779" y="0"/>
                </a:lnTo>
                <a:lnTo>
                  <a:pt x="5906779" y="4407934"/>
                </a:lnTo>
                <a:lnTo>
                  <a:pt x="0" y="4407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5"/>
          <p:cNvSpPr txBox="1"/>
          <p:nvPr/>
        </p:nvSpPr>
        <p:spPr>
          <a:xfrm>
            <a:off x="571500" y="1500708"/>
            <a:ext cx="1714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CAPA DE SOFTWARE EN IOT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7821083" y="3441853"/>
            <a:ext cx="8466600" cy="48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Gestionan sensores, controlan actuadores, procesan datos y preparan la información para enviarla</a:t>
            </a:r>
            <a:endParaRPr sz="8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16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4"/>
              <a:buFont typeface="Arial"/>
              <a:buChar char="•"/>
            </a:pPr>
            <a:r>
              <a:rPr b="0" i="0" lang="en-US" sz="38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SDKs </a:t>
            </a:r>
            <a:endParaRPr sz="800"/>
          </a:p>
          <a:p>
            <a:pPr indent="-4416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4"/>
              <a:buFont typeface="Arial"/>
              <a:buChar char="•"/>
            </a:pPr>
            <a:r>
              <a:rPr b="0" i="0" lang="en-US" sz="38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Raspberry Pi como plataforma de desarrollo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6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28" name="Google Shape;228;p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29" name="Google Shape;229;p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30" name="Google Shape;230;p6"/>
          <p:cNvCxnSpPr/>
          <p:nvPr/>
        </p:nvCxnSpPr>
        <p:spPr>
          <a:xfrm>
            <a:off x="1028700" y="175232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6"/>
          <p:cNvSpPr/>
          <p:nvPr/>
        </p:nvSpPr>
        <p:spPr>
          <a:xfrm>
            <a:off x="7800179" y="6278677"/>
            <a:ext cx="9459121" cy="2979623"/>
          </a:xfrm>
          <a:custGeom>
            <a:rect b="b" l="l" r="r" t="t"/>
            <a:pathLst>
              <a:path extrusionOk="0" h="2979623" w="9459121">
                <a:moveTo>
                  <a:pt x="0" y="0"/>
                </a:moveTo>
                <a:lnTo>
                  <a:pt x="9459121" y="0"/>
                </a:lnTo>
                <a:lnTo>
                  <a:pt x="9459121" y="2979623"/>
                </a:lnTo>
                <a:lnTo>
                  <a:pt x="0" y="2979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2" name="Google Shape;232;p6"/>
          <p:cNvSpPr/>
          <p:nvPr/>
        </p:nvSpPr>
        <p:spPr>
          <a:xfrm>
            <a:off x="10972049" y="1752322"/>
            <a:ext cx="6094308" cy="4395519"/>
          </a:xfrm>
          <a:custGeom>
            <a:rect b="b" l="l" r="r" t="t"/>
            <a:pathLst>
              <a:path extrusionOk="0" h="4395519" w="6094308">
                <a:moveTo>
                  <a:pt x="0" y="0"/>
                </a:moveTo>
                <a:lnTo>
                  <a:pt x="6094308" y="0"/>
                </a:lnTo>
                <a:lnTo>
                  <a:pt x="6094308" y="4395520"/>
                </a:lnTo>
                <a:lnTo>
                  <a:pt x="0" y="43955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3" name="Google Shape;233;p6"/>
          <p:cNvSpPr txBox="1"/>
          <p:nvPr/>
        </p:nvSpPr>
        <p:spPr>
          <a:xfrm>
            <a:off x="1769456" y="1089763"/>
            <a:ext cx="14749087" cy="64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¿QUÉ ES UN SDK?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1769456" y="2032980"/>
            <a:ext cx="9024300" cy="25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conjunto de herramientas, bibliotecas, documentación, ejemplos de código y guías para crear apps para una plataforma específica.</a:t>
            </a:r>
            <a:endParaRPr sz="500"/>
          </a:p>
        </p:txBody>
      </p:sp>
      <p:sp>
        <p:nvSpPr>
          <p:cNvPr id="235" name="Google Shape;235;p6"/>
          <p:cNvSpPr txBox="1"/>
          <p:nvPr/>
        </p:nvSpPr>
        <p:spPr>
          <a:xfrm>
            <a:off x="1769456" y="4410435"/>
            <a:ext cx="7091700" cy="3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Beneficios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eficiente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rápida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sz="600"/>
          </a:p>
          <a:p>
            <a:pPr indent="-4289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44"/>
              <a:buFont typeface="Arial"/>
              <a:buChar char="•"/>
            </a:pPr>
            <a:r>
              <a:rPr b="0" i="0" lang="en-US" sz="36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Reducción de costos</a:t>
            </a:r>
            <a:endParaRPr sz="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" name="Google Shape;240;p7"/>
          <p:cNvGrpSpPr/>
          <p:nvPr/>
        </p:nvGrpSpPr>
        <p:grpSpPr>
          <a:xfrm>
            <a:off x="507796" y="542665"/>
            <a:ext cx="16751504" cy="8715635"/>
            <a:chOff x="0" y="0"/>
            <a:chExt cx="69085396" cy="35944420"/>
          </a:xfrm>
        </p:grpSpPr>
        <p:sp>
          <p:nvSpPr>
            <p:cNvPr id="241" name="Google Shape;241;p7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2" name="Google Shape;242;p7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43" name="Google Shape;243;p7"/>
          <p:cNvCxnSpPr/>
          <p:nvPr/>
        </p:nvCxnSpPr>
        <p:spPr>
          <a:xfrm>
            <a:off x="1028700" y="175232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7"/>
          <p:cNvSpPr/>
          <p:nvPr/>
        </p:nvSpPr>
        <p:spPr>
          <a:xfrm>
            <a:off x="13860606" y="2042505"/>
            <a:ext cx="3398694" cy="3398694"/>
          </a:xfrm>
          <a:custGeom>
            <a:rect b="b" l="l" r="r" t="t"/>
            <a:pathLst>
              <a:path extrusionOk="0" h="3398694" w="3398694">
                <a:moveTo>
                  <a:pt x="0" y="0"/>
                </a:moveTo>
                <a:lnTo>
                  <a:pt x="3398694" y="0"/>
                </a:lnTo>
                <a:lnTo>
                  <a:pt x="3398694" y="3398694"/>
                </a:lnTo>
                <a:lnTo>
                  <a:pt x="0" y="33986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7"/>
          <p:cNvSpPr/>
          <p:nvPr/>
        </p:nvSpPr>
        <p:spPr>
          <a:xfrm>
            <a:off x="12959343" y="5902034"/>
            <a:ext cx="1802526" cy="1802526"/>
          </a:xfrm>
          <a:custGeom>
            <a:rect b="b" l="l" r="r" t="t"/>
            <a:pathLst>
              <a:path extrusionOk="0" h="1802526" w="1802526">
                <a:moveTo>
                  <a:pt x="0" y="0"/>
                </a:moveTo>
                <a:lnTo>
                  <a:pt x="1802526" y="0"/>
                </a:lnTo>
                <a:lnTo>
                  <a:pt x="1802526" y="1802526"/>
                </a:lnTo>
                <a:lnTo>
                  <a:pt x="0" y="18025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6" name="Google Shape;246;p7"/>
          <p:cNvSpPr/>
          <p:nvPr/>
        </p:nvSpPr>
        <p:spPr>
          <a:xfrm>
            <a:off x="14761869" y="5902034"/>
            <a:ext cx="1776831" cy="1776831"/>
          </a:xfrm>
          <a:custGeom>
            <a:rect b="b" l="l" r="r" t="t"/>
            <a:pathLst>
              <a:path extrusionOk="0" h="1776831" w="1776831">
                <a:moveTo>
                  <a:pt x="0" y="0"/>
                </a:moveTo>
                <a:lnTo>
                  <a:pt x="1776831" y="0"/>
                </a:lnTo>
                <a:lnTo>
                  <a:pt x="1776831" y="1776831"/>
                </a:lnTo>
                <a:lnTo>
                  <a:pt x="0" y="17768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7" name="Google Shape;247;p7"/>
          <p:cNvSpPr/>
          <p:nvPr/>
        </p:nvSpPr>
        <p:spPr>
          <a:xfrm>
            <a:off x="11546861" y="2042505"/>
            <a:ext cx="3859529" cy="3859529"/>
          </a:xfrm>
          <a:custGeom>
            <a:rect b="b" l="l" r="r" t="t"/>
            <a:pathLst>
              <a:path extrusionOk="0" h="3859529" w="3859529">
                <a:moveTo>
                  <a:pt x="0" y="0"/>
                </a:moveTo>
                <a:lnTo>
                  <a:pt x="3859529" y="0"/>
                </a:lnTo>
                <a:lnTo>
                  <a:pt x="3859529" y="3859529"/>
                </a:lnTo>
                <a:lnTo>
                  <a:pt x="0" y="3859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8" name="Google Shape;248;p7"/>
          <p:cNvSpPr txBox="1"/>
          <p:nvPr/>
        </p:nvSpPr>
        <p:spPr>
          <a:xfrm>
            <a:off x="1769456" y="1089763"/>
            <a:ext cx="14749087" cy="64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RASPBERRY PI COMO PLATAFORMA IOT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1769456" y="2032980"/>
            <a:ext cx="9024300" cy="17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Suele actuar como un “gateway” agregando datos de sensores o dispositivos más simples como Arduino para enviarlos a la nube.</a:t>
            </a:r>
            <a:endParaRPr sz="300"/>
          </a:p>
        </p:txBody>
      </p:sp>
      <p:sp>
        <p:nvSpPr>
          <p:cNvPr id="250" name="Google Shape;250;p7"/>
          <p:cNvSpPr txBox="1"/>
          <p:nvPr/>
        </p:nvSpPr>
        <p:spPr>
          <a:xfrm>
            <a:off x="1769456" y="4751856"/>
            <a:ext cx="92541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Ejecuta un SO permitiendo programar en C/C++, Java, Python etc.</a:t>
            </a:r>
            <a:endParaRPr sz="900"/>
          </a:p>
        </p:txBody>
      </p:sp>
      <p:sp>
        <p:nvSpPr>
          <p:cNvPr id="251" name="Google Shape;251;p7"/>
          <p:cNvSpPr txBox="1"/>
          <p:nvPr/>
        </p:nvSpPr>
        <p:spPr>
          <a:xfrm>
            <a:off x="1769456" y="4151538"/>
            <a:ext cx="2520736" cy="57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Multilenguaje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1769456" y="5714977"/>
            <a:ext cx="2520736" cy="57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Sensores</a:t>
            </a:r>
            <a:endParaRPr/>
          </a:p>
        </p:txBody>
      </p:sp>
      <p:sp>
        <p:nvSpPr>
          <p:cNvPr id="253" name="Google Shape;253;p7"/>
          <p:cNvSpPr txBox="1"/>
          <p:nvPr/>
        </p:nvSpPr>
        <p:spPr>
          <a:xfrm>
            <a:off x="1769456" y="6276099"/>
            <a:ext cx="9878700" cy="9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Conexión en pines GPIO, actuadores usando protoolos I2C, SPI o UART.</a:t>
            </a:r>
            <a:endParaRPr sz="1000"/>
          </a:p>
        </p:txBody>
      </p:sp>
      <p:sp>
        <p:nvSpPr>
          <p:cNvPr id="254" name="Google Shape;254;p7"/>
          <p:cNvSpPr txBox="1"/>
          <p:nvPr/>
        </p:nvSpPr>
        <p:spPr>
          <a:xfrm>
            <a:off x="1769456" y="7257641"/>
            <a:ext cx="2520736" cy="57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Conectividad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1769456" y="7904489"/>
            <a:ext cx="9878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Bluetooth, Wi.-Fi integrados de fábrica. Claves para IoT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8"/>
          <p:cNvGrpSpPr/>
          <p:nvPr/>
        </p:nvGrpSpPr>
        <p:grpSpPr>
          <a:xfrm>
            <a:off x="571500" y="785682"/>
            <a:ext cx="16751504" cy="8715635"/>
            <a:chOff x="0" y="0"/>
            <a:chExt cx="69085396" cy="35944420"/>
          </a:xfrm>
        </p:grpSpPr>
        <p:sp>
          <p:nvSpPr>
            <p:cNvPr id="261" name="Google Shape;261;p8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2" name="Google Shape;262;p8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63" name="Google Shape;263;p8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8"/>
          <p:cNvSpPr/>
          <p:nvPr/>
        </p:nvSpPr>
        <p:spPr>
          <a:xfrm>
            <a:off x="1572928" y="3207962"/>
            <a:ext cx="5475016" cy="5475016"/>
          </a:xfrm>
          <a:custGeom>
            <a:rect b="b" l="l" r="r" t="t"/>
            <a:pathLst>
              <a:path extrusionOk="0" h="5475016" w="5475016">
                <a:moveTo>
                  <a:pt x="0" y="0"/>
                </a:moveTo>
                <a:lnTo>
                  <a:pt x="5475016" y="0"/>
                </a:lnTo>
                <a:lnTo>
                  <a:pt x="5475016" y="5475015"/>
                </a:lnTo>
                <a:lnTo>
                  <a:pt x="0" y="54750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5" name="Google Shape;265;p8"/>
          <p:cNvSpPr txBox="1"/>
          <p:nvPr/>
        </p:nvSpPr>
        <p:spPr>
          <a:xfrm>
            <a:off x="571500" y="1496001"/>
            <a:ext cx="1714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CAPA DE APLICACION EN IOT</a:t>
            </a:r>
            <a:endParaRPr/>
          </a:p>
        </p:txBody>
      </p:sp>
      <p:sp>
        <p:nvSpPr>
          <p:cNvPr id="266" name="Google Shape;266;p8"/>
          <p:cNvSpPr txBox="1"/>
          <p:nvPr/>
        </p:nvSpPr>
        <p:spPr>
          <a:xfrm>
            <a:off x="7731889" y="3456719"/>
            <a:ext cx="8466667" cy="401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capa de aplicación es la interfaz final donde los usuarios interactúan con el sistema IoT</a:t>
            </a:r>
            <a:endParaRPr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44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797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44"/>
              <a:buFont typeface="Arial"/>
              <a:buChar char="•"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Herramientas Low-Code/NoCode</a:t>
            </a:r>
            <a:endParaRPr/>
          </a:p>
          <a:p>
            <a:pPr indent="-4797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44"/>
              <a:buFont typeface="Arial"/>
              <a:buChar char="•"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móvil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1" name="Google Shape;271;p10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272" name="Google Shape;272;p1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3" name="Google Shape;273;p1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74" name="Google Shape;274;p10"/>
          <p:cNvCxnSpPr/>
          <p:nvPr/>
        </p:nvCxnSpPr>
        <p:spPr>
          <a:xfrm>
            <a:off x="1066800" y="247966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0"/>
          <p:cNvSpPr txBox="1"/>
          <p:nvPr/>
        </p:nvSpPr>
        <p:spPr>
          <a:xfrm>
            <a:off x="1737402" y="1360792"/>
            <a:ext cx="14494521" cy="1099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ENTORNO DE COMUNICACIÓN</a:t>
            </a:r>
            <a:endParaRPr/>
          </a:p>
        </p:txBody>
      </p:sp>
      <p:sp>
        <p:nvSpPr>
          <p:cNvPr id="276" name="Google Shape;276;p10"/>
          <p:cNvSpPr txBox="1"/>
          <p:nvPr/>
        </p:nvSpPr>
        <p:spPr>
          <a:xfrm>
            <a:off x="2667447" y="2694840"/>
            <a:ext cx="12953106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comunicación inalámbrica es la columna vertebral de IoT, y la elección del protocolo depende totalmente del caso de uso.</a:t>
            </a:r>
            <a:endParaRPr/>
          </a:p>
        </p:txBody>
      </p:sp>
      <p:graphicFrame>
        <p:nvGraphicFramePr>
          <p:cNvPr id="277" name="Google Shape;277;p10"/>
          <p:cNvGraphicFramePr/>
          <p:nvPr/>
        </p:nvGraphicFramePr>
        <p:xfrm>
          <a:off x="2552409" y="4304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{B21B3B69-B588-4706-BE6F-4ACEDCCB647F}</a:tableStyleId>
              </a:tblPr>
              <a:tblGrid>
                <a:gridCol w="3720275"/>
                <a:gridCol w="3720275"/>
                <a:gridCol w="3720275"/>
              </a:tblGrid>
              <a:tr h="76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Consumo de Energía y Ancho de Banda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típico en Arduino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98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Wi-Fi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Alto, Muy alto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Dispositivos que necesitan transmiti grandes cantidades de datos. Cámaras, domótica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Bluetooth (BLE)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 bajo, bajo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Conexión personal de dispositivos, wearebles, mandos. 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87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ZigBee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MuyBajo, Bajo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Redes de sensores malladas, automatización del hogar e industrial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0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LoRaWAN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Bajo, Bajo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Sensores remotos, rurales con objetivo alto de duración de batería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7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2" name="Google Shape;282;p11"/>
          <p:cNvGrpSpPr/>
          <p:nvPr/>
        </p:nvGrpSpPr>
        <p:grpSpPr>
          <a:xfrm>
            <a:off x="507796" y="542665"/>
            <a:ext cx="16751504" cy="8715635"/>
            <a:chOff x="0" y="0"/>
            <a:chExt cx="69085396" cy="35944420"/>
          </a:xfrm>
        </p:grpSpPr>
        <p:sp>
          <p:nvSpPr>
            <p:cNvPr id="283" name="Google Shape;283;p11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84" name="Google Shape;284;p11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85" name="Google Shape;285;p11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1"/>
          <p:cNvSpPr/>
          <p:nvPr/>
        </p:nvSpPr>
        <p:spPr>
          <a:xfrm>
            <a:off x="1028700" y="3777973"/>
            <a:ext cx="4559973" cy="4559973"/>
          </a:xfrm>
          <a:custGeom>
            <a:rect b="b" l="l" r="r" t="t"/>
            <a:pathLst>
              <a:path extrusionOk="0" h="4559973" w="4559973">
                <a:moveTo>
                  <a:pt x="0" y="0"/>
                </a:moveTo>
                <a:lnTo>
                  <a:pt x="4559973" y="0"/>
                </a:lnTo>
                <a:lnTo>
                  <a:pt x="4559973" y="4559973"/>
                </a:lnTo>
                <a:lnTo>
                  <a:pt x="0" y="45599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7" name="Google Shape;287;p11"/>
          <p:cNvSpPr/>
          <p:nvPr/>
        </p:nvSpPr>
        <p:spPr>
          <a:xfrm>
            <a:off x="14587667" y="1947193"/>
            <a:ext cx="1213435" cy="1213435"/>
          </a:xfrm>
          <a:custGeom>
            <a:rect b="b" l="l" r="r" t="t"/>
            <a:pathLst>
              <a:path extrusionOk="0" h="1213435" w="1213435">
                <a:moveTo>
                  <a:pt x="0" y="0"/>
                </a:moveTo>
                <a:lnTo>
                  <a:pt x="1213435" y="0"/>
                </a:lnTo>
                <a:lnTo>
                  <a:pt x="1213435" y="1213435"/>
                </a:lnTo>
                <a:lnTo>
                  <a:pt x="0" y="12134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8" name="Google Shape;288;p11"/>
          <p:cNvSpPr/>
          <p:nvPr/>
        </p:nvSpPr>
        <p:spPr>
          <a:xfrm>
            <a:off x="15559573" y="2692109"/>
            <a:ext cx="1465003" cy="1593974"/>
          </a:xfrm>
          <a:custGeom>
            <a:rect b="b" l="l" r="r" t="t"/>
            <a:pathLst>
              <a:path extrusionOk="0" h="1593974" w="1465003">
                <a:moveTo>
                  <a:pt x="0" y="0"/>
                </a:moveTo>
                <a:lnTo>
                  <a:pt x="1465003" y="0"/>
                </a:lnTo>
                <a:lnTo>
                  <a:pt x="1465003" y="1593974"/>
                </a:lnTo>
                <a:lnTo>
                  <a:pt x="0" y="1593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8802" t="0"/>
            </a:stretch>
          </a:blipFill>
          <a:ln>
            <a:noFill/>
          </a:ln>
        </p:spPr>
      </p:sp>
      <p:sp>
        <p:nvSpPr>
          <p:cNvPr id="289" name="Google Shape;289;p11"/>
          <p:cNvSpPr txBox="1"/>
          <p:nvPr/>
        </p:nvSpPr>
        <p:spPr>
          <a:xfrm>
            <a:off x="311898" y="1286690"/>
            <a:ext cx="17145000" cy="11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PROTOCOLO HTTP Y GATEWAYS</a:t>
            </a:r>
            <a:endParaRPr sz="1100"/>
          </a:p>
        </p:txBody>
      </p:sp>
      <p:sp>
        <p:nvSpPr>
          <p:cNvPr id="290" name="Google Shape;290;p11"/>
          <p:cNvSpPr txBox="1"/>
          <p:nvPr/>
        </p:nvSpPr>
        <p:spPr>
          <a:xfrm>
            <a:off x="5970623" y="3643756"/>
            <a:ext cx="9927000" cy="19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la web, los clientes, como un navegador, por ejemplo, se comunican con los distintos servidores web con ayuda del protocolo HTTP.</a:t>
            </a:r>
            <a:endParaRPr sz="800"/>
          </a:p>
        </p:txBody>
      </p:sp>
      <p:sp>
        <p:nvSpPr>
          <p:cNvPr id="291" name="Google Shape;291;p11"/>
          <p:cNvSpPr txBox="1"/>
          <p:nvPr/>
        </p:nvSpPr>
        <p:spPr>
          <a:xfrm>
            <a:off x="5970623" y="6050404"/>
            <a:ext cx="10321500" cy="25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escribes la dirección URL www.ejemplo.com en tu navegador, este se conecta con el servidor web y le envía una petición GET</a:t>
            </a:r>
            <a:endParaRPr sz="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oogle Shape;296;p12"/>
          <p:cNvGrpSpPr/>
          <p:nvPr/>
        </p:nvGrpSpPr>
        <p:grpSpPr>
          <a:xfrm>
            <a:off x="507796" y="785682"/>
            <a:ext cx="16751504" cy="8715635"/>
            <a:chOff x="0" y="0"/>
            <a:chExt cx="69085396" cy="35944420"/>
          </a:xfrm>
        </p:grpSpPr>
        <p:sp>
          <p:nvSpPr>
            <p:cNvPr id="297" name="Google Shape;297;p1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8" name="Google Shape;298;p1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299" name="Google Shape;299;p12"/>
          <p:cNvCxnSpPr/>
          <p:nvPr/>
        </p:nvCxnSpPr>
        <p:spPr>
          <a:xfrm>
            <a:off x="1028700" y="175232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0" name="Google Shape;300;p12"/>
          <p:cNvSpPr/>
          <p:nvPr/>
        </p:nvSpPr>
        <p:spPr>
          <a:xfrm>
            <a:off x="5661281" y="6576765"/>
            <a:ext cx="6444534" cy="2585869"/>
          </a:xfrm>
          <a:custGeom>
            <a:rect b="b" l="l" r="r" t="t"/>
            <a:pathLst>
              <a:path extrusionOk="0" h="2585869" w="6444534">
                <a:moveTo>
                  <a:pt x="0" y="0"/>
                </a:moveTo>
                <a:lnTo>
                  <a:pt x="6444534" y="0"/>
                </a:lnTo>
                <a:lnTo>
                  <a:pt x="6444534" y="2585870"/>
                </a:lnTo>
                <a:lnTo>
                  <a:pt x="0" y="25858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1" name="Google Shape;301;p12"/>
          <p:cNvSpPr txBox="1"/>
          <p:nvPr/>
        </p:nvSpPr>
        <p:spPr>
          <a:xfrm>
            <a:off x="1769456" y="1089763"/>
            <a:ext cx="14749087" cy="643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CONCEPTOS</a:t>
            </a: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1660351" y="2791868"/>
            <a:ext cx="6557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mensaje que el cliente envía. Una solicitud HTTP tiene partes clave:</a:t>
            </a:r>
            <a:endParaRPr sz="800"/>
          </a:p>
        </p:txBody>
      </p:sp>
      <p:sp>
        <p:nvSpPr>
          <p:cNvPr id="303" name="Google Shape;303;p12"/>
          <p:cNvSpPr txBox="1"/>
          <p:nvPr/>
        </p:nvSpPr>
        <p:spPr>
          <a:xfrm>
            <a:off x="1660351" y="2094129"/>
            <a:ext cx="2520736" cy="57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</p:txBody>
      </p:sp>
      <p:sp>
        <p:nvSpPr>
          <p:cNvPr id="304" name="Google Shape;304;p12"/>
          <p:cNvSpPr txBox="1"/>
          <p:nvPr/>
        </p:nvSpPr>
        <p:spPr>
          <a:xfrm>
            <a:off x="9823528" y="2655252"/>
            <a:ext cx="711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el mensaje que el servidor envía de vuelta al cliente después de procesar la solicitud.</a:t>
            </a:r>
            <a:endParaRPr sz="800"/>
          </a:p>
        </p:txBody>
      </p:sp>
      <p:sp>
        <p:nvSpPr>
          <p:cNvPr id="305" name="Google Shape;305;p12"/>
          <p:cNvSpPr txBox="1"/>
          <p:nvPr/>
        </p:nvSpPr>
        <p:spPr>
          <a:xfrm>
            <a:off x="1660351" y="3801518"/>
            <a:ext cx="8163176" cy="2028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Método HTTP (Verb)</a:t>
            </a:r>
            <a:endParaRPr/>
          </a:p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URL (Uniform Resource Locator)</a:t>
            </a:r>
            <a:endParaRPr/>
          </a:p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Headers (Encabezados)</a:t>
            </a:r>
            <a:endParaRPr/>
          </a:p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 (Cuerpo - Opcional): </a:t>
            </a:r>
            <a:endParaRPr/>
          </a:p>
        </p:txBody>
      </p:sp>
      <p:sp>
        <p:nvSpPr>
          <p:cNvPr id="306" name="Google Shape;306;p12"/>
          <p:cNvSpPr txBox="1"/>
          <p:nvPr/>
        </p:nvSpPr>
        <p:spPr>
          <a:xfrm>
            <a:off x="9829032" y="2046084"/>
            <a:ext cx="2520736" cy="570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Response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9823528" y="3801518"/>
            <a:ext cx="6695016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Status Code</a:t>
            </a:r>
            <a:endParaRPr/>
          </a:p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Headers (Encabezados)</a:t>
            </a:r>
            <a:endParaRPr/>
          </a:p>
          <a:p>
            <a:pPr indent="-359234" lvl="1" marL="718469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27"/>
              <a:buFont typeface="Arial"/>
              <a:buChar char="•"/>
            </a:pPr>
            <a:r>
              <a:rPr b="0" i="0" lang="en-US" sz="33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Body (Cuerpo - Opcional):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" name="Google Shape;312;p13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313" name="Google Shape;313;p1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4" name="Google Shape;314;p1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15" name="Google Shape;315;p13"/>
          <p:cNvCxnSpPr/>
          <p:nvPr/>
        </p:nvCxnSpPr>
        <p:spPr>
          <a:xfrm>
            <a:off x="1028700" y="2019345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13"/>
          <p:cNvSpPr txBox="1"/>
          <p:nvPr/>
        </p:nvSpPr>
        <p:spPr>
          <a:xfrm>
            <a:off x="6735266" y="1057623"/>
            <a:ext cx="4817468" cy="942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61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GET VS POST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3338035" y="2179046"/>
            <a:ext cx="11611800" cy="10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8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Estos son los dos métodos o verbos HTTP más importantes. Definen la intención de la solicitud (Request) que estás haciendo.</a:t>
            </a:r>
            <a:endParaRPr sz="500"/>
          </a:p>
        </p:txBody>
      </p:sp>
      <p:sp>
        <p:nvSpPr>
          <p:cNvPr id="318" name="Google Shape;318;p13"/>
          <p:cNvSpPr txBox="1"/>
          <p:nvPr/>
        </p:nvSpPr>
        <p:spPr>
          <a:xfrm>
            <a:off x="1028700" y="3998742"/>
            <a:ext cx="7494900" cy="5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556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7"/>
              <a:buFont typeface="Arial"/>
              <a:buChar char="•"/>
            </a:pPr>
            <a:r>
              <a:rPr b="0" i="0" lang="en-US" sz="34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Visible: Los parámetros se envían en la URL (ej: ?id=123&amp;categoria=libros). </a:t>
            </a:r>
            <a:endParaRPr sz="1000"/>
          </a:p>
          <a:p>
            <a:pPr indent="-38556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7"/>
              <a:buFont typeface="Arial"/>
              <a:buChar char="•"/>
            </a:pPr>
            <a:r>
              <a:rPr b="0" i="0" lang="en-US" sz="34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Idempotente: Hacer la misma solicitud GET múltiples veces no tiene efectos secundarios. </a:t>
            </a:r>
            <a:endParaRPr sz="1000"/>
          </a:p>
          <a:p>
            <a:pPr indent="-38556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7"/>
              <a:buFont typeface="Arial"/>
              <a:buChar char="•"/>
            </a:pPr>
            <a:r>
              <a:rPr b="0" i="0" lang="en-US" sz="34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Límite de longitud: Por lo que no se puede enviar mucha información con un GET.</a:t>
            </a:r>
            <a:endParaRPr sz="1000"/>
          </a:p>
        </p:txBody>
      </p:sp>
      <p:sp>
        <p:nvSpPr>
          <p:cNvPr id="319" name="Google Shape;319;p13"/>
          <p:cNvSpPr txBox="1"/>
          <p:nvPr/>
        </p:nvSpPr>
        <p:spPr>
          <a:xfrm>
            <a:off x="1867187" y="3296302"/>
            <a:ext cx="1267079" cy="711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GET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9812803" y="3391552"/>
            <a:ext cx="1609980" cy="711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POST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9144000" y="4189242"/>
            <a:ext cx="7494900" cy="41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92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7"/>
              <a:buFont typeface="Arial"/>
              <a:buChar char="•"/>
            </a:pPr>
            <a:r>
              <a:rPr b="0" i="0" lang="en-US" sz="33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Oculto: Los datos se envían en el cuerpo </a:t>
            </a:r>
            <a:endParaRPr sz="900"/>
          </a:p>
          <a:p>
            <a:pPr indent="-3792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7"/>
              <a:buFont typeface="Arial"/>
              <a:buChar char="•"/>
            </a:pPr>
            <a:r>
              <a:rPr b="0" i="0" lang="en-US" sz="33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Idempotente: Enviar múltiples veces puede tener efectos diferentes. </a:t>
            </a:r>
            <a:endParaRPr sz="900"/>
          </a:p>
          <a:p>
            <a:pPr indent="-379218" lvl="1" marL="821935" marR="0" rtl="0" algn="l">
              <a:lnSpc>
                <a:spcPct val="1199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7"/>
              <a:buFont typeface="Arial"/>
              <a:buChar char="•"/>
            </a:pPr>
            <a:r>
              <a:rPr b="0" i="0" lang="en-US" sz="330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límite: Se pueden enviar grandes cantidades de datos. 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Google Shape;326;p14"/>
          <p:cNvGrpSpPr/>
          <p:nvPr/>
        </p:nvGrpSpPr>
        <p:grpSpPr>
          <a:xfrm>
            <a:off x="768248" y="542665"/>
            <a:ext cx="16751504" cy="8715635"/>
            <a:chOff x="0" y="0"/>
            <a:chExt cx="69085396" cy="35944420"/>
          </a:xfrm>
        </p:grpSpPr>
        <p:sp>
          <p:nvSpPr>
            <p:cNvPr id="327" name="Google Shape;327;p14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8" name="Google Shape;328;p14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29" name="Google Shape;329;p14"/>
          <p:cNvCxnSpPr/>
          <p:nvPr/>
        </p:nvCxnSpPr>
        <p:spPr>
          <a:xfrm>
            <a:off x="1028700" y="235717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p14"/>
          <p:cNvSpPr/>
          <p:nvPr/>
        </p:nvSpPr>
        <p:spPr>
          <a:xfrm>
            <a:off x="2667447" y="4171144"/>
            <a:ext cx="2036965" cy="2036965"/>
          </a:xfrm>
          <a:custGeom>
            <a:rect b="b" l="l" r="r" t="t"/>
            <a:pathLst>
              <a:path extrusionOk="0" h="2036965" w="2036965">
                <a:moveTo>
                  <a:pt x="0" y="0"/>
                </a:moveTo>
                <a:lnTo>
                  <a:pt x="2036965" y="0"/>
                </a:lnTo>
                <a:lnTo>
                  <a:pt x="2036965" y="2036965"/>
                </a:lnTo>
                <a:lnTo>
                  <a:pt x="0" y="2036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1" name="Google Shape;331;p14"/>
          <p:cNvSpPr/>
          <p:nvPr/>
        </p:nvSpPr>
        <p:spPr>
          <a:xfrm>
            <a:off x="2700607" y="6615944"/>
            <a:ext cx="2003805" cy="2003805"/>
          </a:xfrm>
          <a:custGeom>
            <a:rect b="b" l="l" r="r" t="t"/>
            <a:pathLst>
              <a:path extrusionOk="0" h="2003805" w="2003805">
                <a:moveTo>
                  <a:pt x="0" y="0"/>
                </a:moveTo>
                <a:lnTo>
                  <a:pt x="2003805" y="0"/>
                </a:lnTo>
                <a:lnTo>
                  <a:pt x="2003805" y="2003805"/>
                </a:lnTo>
                <a:lnTo>
                  <a:pt x="0" y="20038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14"/>
          <p:cNvSpPr txBox="1"/>
          <p:nvPr/>
        </p:nvSpPr>
        <p:spPr>
          <a:xfrm>
            <a:off x="3139496" y="1271328"/>
            <a:ext cx="12009009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GATEWAY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2667447" y="2604205"/>
            <a:ext cx="129531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Nodo de red que actúa como puerta de entrada entre dos redes que usan dos protocolos de comunicación diferentes.</a:t>
            </a:r>
            <a:endParaRPr sz="800"/>
          </a:p>
        </p:txBody>
      </p:sp>
      <p:sp>
        <p:nvSpPr>
          <p:cNvPr id="334" name="Google Shape;334;p14"/>
          <p:cNvSpPr txBox="1"/>
          <p:nvPr/>
        </p:nvSpPr>
        <p:spPr>
          <a:xfrm>
            <a:off x="5496775" y="4232980"/>
            <a:ext cx="800530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Gateway de Red Doméstica</a:t>
            </a:r>
            <a:endParaRPr/>
          </a:p>
        </p:txBody>
      </p:sp>
      <p:sp>
        <p:nvSpPr>
          <p:cNvPr id="335" name="Google Shape;335;p14"/>
          <p:cNvSpPr txBox="1"/>
          <p:nvPr/>
        </p:nvSpPr>
        <p:spPr>
          <a:xfrm>
            <a:off x="5496775" y="5098257"/>
            <a:ext cx="989126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 traduce entre la red local privada y la internet pública. </a:t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5496775" y="6268281"/>
            <a:ext cx="800530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API Gateway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5496775" y="7192206"/>
            <a:ext cx="989126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Recibe todas las solicitudes HTTP, las enruta a los servicios correctos y puede combinar respuestas de varios servicios.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15"/>
          <p:cNvGrpSpPr/>
          <p:nvPr/>
        </p:nvGrpSpPr>
        <p:grpSpPr>
          <a:xfrm>
            <a:off x="768248" y="421818"/>
            <a:ext cx="16751504" cy="8715635"/>
            <a:chOff x="0" y="0"/>
            <a:chExt cx="69085396" cy="35944420"/>
          </a:xfrm>
        </p:grpSpPr>
        <p:sp>
          <p:nvSpPr>
            <p:cNvPr id="343" name="Google Shape;343;p15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4" name="Google Shape;344;p15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45" name="Google Shape;345;p15"/>
          <p:cNvCxnSpPr/>
          <p:nvPr/>
        </p:nvCxnSpPr>
        <p:spPr>
          <a:xfrm>
            <a:off x="1028700" y="235717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15"/>
          <p:cNvSpPr/>
          <p:nvPr/>
        </p:nvSpPr>
        <p:spPr>
          <a:xfrm>
            <a:off x="3110675" y="4020436"/>
            <a:ext cx="1799339" cy="1799339"/>
          </a:xfrm>
          <a:custGeom>
            <a:rect b="b" l="l" r="r" t="t"/>
            <a:pathLst>
              <a:path extrusionOk="0" h="1799339" w="1799339">
                <a:moveTo>
                  <a:pt x="0" y="0"/>
                </a:moveTo>
                <a:lnTo>
                  <a:pt x="1799339" y="0"/>
                </a:lnTo>
                <a:lnTo>
                  <a:pt x="1799339" y="1799339"/>
                </a:lnTo>
                <a:lnTo>
                  <a:pt x="0" y="17993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7" name="Google Shape;347;p15"/>
          <p:cNvSpPr txBox="1"/>
          <p:nvPr/>
        </p:nvSpPr>
        <p:spPr>
          <a:xfrm>
            <a:off x="4265810" y="895350"/>
            <a:ext cx="9816803" cy="16916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1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COMUNICACIÓN EN SISTEMAS EMBEBIDOS</a:t>
            </a:r>
            <a:endParaRPr/>
          </a:p>
        </p:txBody>
      </p:sp>
      <p:sp>
        <p:nvSpPr>
          <p:cNvPr id="348" name="Google Shape;348;p15"/>
          <p:cNvSpPr txBox="1"/>
          <p:nvPr/>
        </p:nvSpPr>
        <p:spPr>
          <a:xfrm>
            <a:off x="1190164" y="2591956"/>
            <a:ext cx="15921300" cy="1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Especialmente en IoT estos sistemas rara vez funcionan de forma aislada. Su valor aumenta cuando se envían datos a la nube o se reciben comandos desde una app.</a:t>
            </a:r>
            <a:endParaRPr sz="400"/>
          </a:p>
        </p:txBody>
      </p:sp>
      <p:sp>
        <p:nvSpPr>
          <p:cNvPr id="349" name="Google Shape;349;p15"/>
          <p:cNvSpPr txBox="1"/>
          <p:nvPr/>
        </p:nvSpPr>
        <p:spPr>
          <a:xfrm>
            <a:off x="5372083" y="4457700"/>
            <a:ext cx="9401400" cy="11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forma más común y eficiente de comunicación es usando REST sobre HTTP/HTTPS.</a:t>
            </a:r>
            <a:endParaRPr sz="300"/>
          </a:p>
        </p:txBody>
      </p:sp>
      <p:sp>
        <p:nvSpPr>
          <p:cNvPr id="350" name="Google Shape;350;p15"/>
          <p:cNvSpPr txBox="1"/>
          <p:nvPr/>
        </p:nvSpPr>
        <p:spPr>
          <a:xfrm>
            <a:off x="4543625" y="6184322"/>
            <a:ext cx="110583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es un conjunto de reglas para diseñar APIs. Es ideal:</a:t>
            </a:r>
            <a:endParaRPr sz="200"/>
          </a:p>
          <a:p>
            <a:pPr indent="-3972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4"/>
              <a:buFont typeface="Arial"/>
              <a:buChar char="•"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Simplicidad: Usa HTTP</a:t>
            </a:r>
            <a:endParaRPr sz="200"/>
          </a:p>
          <a:p>
            <a:pPr indent="-3972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4"/>
              <a:buFont typeface="Arial"/>
              <a:buChar char="•"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Ligero: Menos complejo comparado con XML</a:t>
            </a:r>
            <a:endParaRPr sz="200"/>
          </a:p>
          <a:p>
            <a:pPr indent="-39722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4"/>
              <a:buFont typeface="Arial"/>
              <a:buChar char="•"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Stateless: Cada solicitud es independiente</a:t>
            </a:r>
            <a:endParaRPr sz="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16"/>
          <p:cNvGrpSpPr/>
          <p:nvPr/>
        </p:nvGrpSpPr>
        <p:grpSpPr>
          <a:xfrm>
            <a:off x="768248" y="420721"/>
            <a:ext cx="16753209" cy="8716522"/>
            <a:chOff x="0" y="0"/>
            <a:chExt cx="69085396" cy="35944420"/>
          </a:xfrm>
        </p:grpSpPr>
        <p:sp>
          <p:nvSpPr>
            <p:cNvPr id="356" name="Google Shape;356;p1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57" name="Google Shape;357;p1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58" name="Google Shape;358;p16"/>
          <p:cNvCxnSpPr/>
          <p:nvPr/>
        </p:nvCxnSpPr>
        <p:spPr>
          <a:xfrm>
            <a:off x="1028700" y="2762250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6"/>
          <p:cNvSpPr/>
          <p:nvPr/>
        </p:nvSpPr>
        <p:spPr>
          <a:xfrm>
            <a:off x="2804739" y="4778539"/>
            <a:ext cx="1836893" cy="1836893"/>
          </a:xfrm>
          <a:custGeom>
            <a:rect b="b" l="l" r="r" t="t"/>
            <a:pathLst>
              <a:path extrusionOk="0" h="1836893" w="1836893">
                <a:moveTo>
                  <a:pt x="0" y="0"/>
                </a:moveTo>
                <a:lnTo>
                  <a:pt x="1836893" y="0"/>
                </a:lnTo>
                <a:lnTo>
                  <a:pt x="1836893" y="1836893"/>
                </a:lnTo>
                <a:lnTo>
                  <a:pt x="0" y="1836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16"/>
          <p:cNvSpPr/>
          <p:nvPr/>
        </p:nvSpPr>
        <p:spPr>
          <a:xfrm>
            <a:off x="4955498" y="7339332"/>
            <a:ext cx="2160590" cy="1564735"/>
          </a:xfrm>
          <a:custGeom>
            <a:rect b="b" l="l" r="r" t="t"/>
            <a:pathLst>
              <a:path extrusionOk="0" h="1564735" w="2160590">
                <a:moveTo>
                  <a:pt x="0" y="0"/>
                </a:moveTo>
                <a:lnTo>
                  <a:pt x="2160590" y="0"/>
                </a:lnTo>
                <a:lnTo>
                  <a:pt x="2160590" y="1564734"/>
                </a:lnTo>
                <a:lnTo>
                  <a:pt x="0" y="1564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5223" l="-7167" r="-3306" t="-21546"/>
            </a:stretch>
          </a:blipFill>
          <a:ln>
            <a:noFill/>
          </a:ln>
        </p:spPr>
      </p:sp>
      <p:sp>
        <p:nvSpPr>
          <p:cNvPr id="361" name="Google Shape;361;p16"/>
          <p:cNvSpPr/>
          <p:nvPr/>
        </p:nvSpPr>
        <p:spPr>
          <a:xfrm>
            <a:off x="7819153" y="4679971"/>
            <a:ext cx="1776853" cy="1776853"/>
          </a:xfrm>
          <a:custGeom>
            <a:rect b="b" l="l" r="r" t="t"/>
            <a:pathLst>
              <a:path extrusionOk="0" h="1776853" w="1776853">
                <a:moveTo>
                  <a:pt x="0" y="0"/>
                </a:moveTo>
                <a:lnTo>
                  <a:pt x="1776854" y="0"/>
                </a:lnTo>
                <a:lnTo>
                  <a:pt x="1776854" y="1776853"/>
                </a:lnTo>
                <a:lnTo>
                  <a:pt x="0" y="17768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16"/>
          <p:cNvSpPr/>
          <p:nvPr/>
        </p:nvSpPr>
        <p:spPr>
          <a:xfrm>
            <a:off x="13137568" y="4640115"/>
            <a:ext cx="2264664" cy="2058785"/>
          </a:xfrm>
          <a:custGeom>
            <a:rect b="b" l="l" r="r" t="t"/>
            <a:pathLst>
              <a:path extrusionOk="0" h="2058785" w="2264664">
                <a:moveTo>
                  <a:pt x="0" y="0"/>
                </a:moveTo>
                <a:lnTo>
                  <a:pt x="2264664" y="0"/>
                </a:lnTo>
                <a:lnTo>
                  <a:pt x="2264664" y="2058785"/>
                </a:lnTo>
                <a:lnTo>
                  <a:pt x="0" y="20587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16"/>
          <p:cNvSpPr/>
          <p:nvPr/>
        </p:nvSpPr>
        <p:spPr>
          <a:xfrm>
            <a:off x="11847603" y="7770435"/>
            <a:ext cx="2040536" cy="1133631"/>
          </a:xfrm>
          <a:custGeom>
            <a:rect b="b" l="l" r="r" t="t"/>
            <a:pathLst>
              <a:path extrusionOk="0" h="1133631" w="2040536">
                <a:moveTo>
                  <a:pt x="0" y="0"/>
                </a:moveTo>
                <a:lnTo>
                  <a:pt x="2040536" y="0"/>
                </a:lnTo>
                <a:lnTo>
                  <a:pt x="2040536" y="1133631"/>
                </a:lnTo>
                <a:lnTo>
                  <a:pt x="0" y="1133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4" name="Google Shape;364;p16"/>
          <p:cNvSpPr/>
          <p:nvPr/>
        </p:nvSpPr>
        <p:spPr>
          <a:xfrm>
            <a:off x="10427985" y="7060626"/>
            <a:ext cx="1419618" cy="1419618"/>
          </a:xfrm>
          <a:custGeom>
            <a:rect b="b" l="l" r="r" t="t"/>
            <a:pathLst>
              <a:path extrusionOk="0" h="1419618" w="1419618">
                <a:moveTo>
                  <a:pt x="0" y="0"/>
                </a:moveTo>
                <a:lnTo>
                  <a:pt x="1419618" y="0"/>
                </a:lnTo>
                <a:lnTo>
                  <a:pt x="1419618" y="1419618"/>
                </a:lnTo>
                <a:lnTo>
                  <a:pt x="0" y="14196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16"/>
          <p:cNvSpPr txBox="1"/>
          <p:nvPr/>
        </p:nvSpPr>
        <p:spPr>
          <a:xfrm>
            <a:off x="2907275" y="1019175"/>
            <a:ext cx="12495000" cy="19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32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FLUJO DE ENVÍO HACIA UN SERVIDOR RESTful</a:t>
            </a: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1651343" y="3236845"/>
            <a:ext cx="149853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3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 sensor de temperatura con ESP32  envía lecturas cada minuto a un servidor Web.</a:t>
            </a:r>
            <a:endParaRPr sz="300"/>
          </a:p>
        </p:txBody>
      </p:sp>
      <p:sp>
        <p:nvSpPr>
          <p:cNvPr id="367" name="Google Shape;367;p16"/>
          <p:cNvSpPr txBox="1"/>
          <p:nvPr/>
        </p:nvSpPr>
        <p:spPr>
          <a:xfrm>
            <a:off x="1651343" y="4000374"/>
            <a:ext cx="36246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2863" lvl="1" marL="669228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AutoNum type="arabicPeriod"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Leer la Temperatura</a:t>
            </a:r>
            <a:endParaRPr sz="900"/>
          </a:p>
        </p:txBody>
      </p:sp>
      <p:sp>
        <p:nvSpPr>
          <p:cNvPr id="368" name="Google Shape;368;p16"/>
          <p:cNvSpPr txBox="1"/>
          <p:nvPr/>
        </p:nvSpPr>
        <p:spPr>
          <a:xfrm>
            <a:off x="6355315" y="3972207"/>
            <a:ext cx="47046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Preparar el dato, formato ligero</a:t>
            </a:r>
            <a:endParaRPr sz="900"/>
          </a:p>
        </p:txBody>
      </p:sp>
      <p:sp>
        <p:nvSpPr>
          <p:cNvPr id="369" name="Google Shape;369;p16"/>
          <p:cNvSpPr txBox="1"/>
          <p:nvPr/>
        </p:nvSpPr>
        <p:spPr>
          <a:xfrm>
            <a:off x="12486540" y="4005155"/>
            <a:ext cx="35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Crear la solicitud HTTP</a:t>
            </a:r>
            <a:endParaRPr sz="700"/>
          </a:p>
        </p:txBody>
      </p:sp>
      <p:sp>
        <p:nvSpPr>
          <p:cNvPr id="370" name="Google Shape;370;p16"/>
          <p:cNvSpPr txBox="1"/>
          <p:nvPr/>
        </p:nvSpPr>
        <p:spPr>
          <a:xfrm>
            <a:off x="3940704" y="6853557"/>
            <a:ext cx="44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Enviar la solicitud, ESP32, Wifi</a:t>
            </a:r>
            <a:endParaRPr sz="600"/>
          </a:p>
        </p:txBody>
      </p:sp>
      <p:sp>
        <p:nvSpPr>
          <p:cNvPr id="371" name="Google Shape;371;p16"/>
          <p:cNvSpPr txBox="1"/>
          <p:nvPr/>
        </p:nvSpPr>
        <p:spPr>
          <a:xfrm>
            <a:off x="9235873" y="6848100"/>
            <a:ext cx="4455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El servidor procesa y responde</a:t>
            </a:r>
            <a:endParaRPr sz="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17"/>
          <p:cNvGrpSpPr/>
          <p:nvPr/>
        </p:nvGrpSpPr>
        <p:grpSpPr>
          <a:xfrm>
            <a:off x="571500" y="785682"/>
            <a:ext cx="16751504" cy="8715635"/>
            <a:chOff x="0" y="0"/>
            <a:chExt cx="69085396" cy="35944420"/>
          </a:xfrm>
        </p:grpSpPr>
        <p:sp>
          <p:nvSpPr>
            <p:cNvPr id="377" name="Google Shape;377;p17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8" name="Google Shape;378;p17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79" name="Google Shape;379;p17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0" name="Google Shape;380;p17"/>
          <p:cNvSpPr/>
          <p:nvPr/>
        </p:nvSpPr>
        <p:spPr>
          <a:xfrm>
            <a:off x="1028700" y="3466244"/>
            <a:ext cx="9436134" cy="5661681"/>
          </a:xfrm>
          <a:custGeom>
            <a:rect b="b" l="l" r="r" t="t"/>
            <a:pathLst>
              <a:path extrusionOk="0" h="5661681" w="9436134">
                <a:moveTo>
                  <a:pt x="0" y="0"/>
                </a:moveTo>
                <a:lnTo>
                  <a:pt x="9436134" y="0"/>
                </a:lnTo>
                <a:lnTo>
                  <a:pt x="9436134" y="5661681"/>
                </a:lnTo>
                <a:lnTo>
                  <a:pt x="0" y="5661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1" name="Google Shape;381;p17"/>
          <p:cNvSpPr txBox="1"/>
          <p:nvPr/>
        </p:nvSpPr>
        <p:spPr>
          <a:xfrm>
            <a:off x="571500" y="1496001"/>
            <a:ext cx="1714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CoAP alternativa a HTTP</a:t>
            </a:r>
            <a:endParaRPr/>
          </a:p>
        </p:txBody>
      </p:sp>
      <p:sp>
        <p:nvSpPr>
          <p:cNvPr id="382" name="Google Shape;382;p17"/>
          <p:cNvSpPr txBox="1"/>
          <p:nvPr/>
        </p:nvSpPr>
        <p:spPr>
          <a:xfrm>
            <a:off x="10911522" y="3456719"/>
            <a:ext cx="60351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de CoAP</a:t>
            </a:r>
            <a:endParaRPr sz="4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Clientes CoAP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Inicia la comunicación 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Modulo IoT o Smartphone</a:t>
            </a:r>
            <a:endParaRPr sz="4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Servidor CoAP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Nodo receptor </a:t>
            </a:r>
            <a:endParaRPr sz="400"/>
          </a:p>
          <a:p>
            <a:pPr indent="-416277" lvl="1" marL="959555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44"/>
              <a:buFont typeface="Arial"/>
              <a:buChar char="•"/>
            </a:pPr>
            <a:r>
              <a:rPr b="0" i="0" lang="en-US" sz="344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Procesa mensajes en la red y responde a ellos</a:t>
            </a:r>
            <a:endParaRPr sz="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18"/>
          <p:cNvGrpSpPr/>
          <p:nvPr/>
        </p:nvGrpSpPr>
        <p:grpSpPr>
          <a:xfrm>
            <a:off x="807292" y="1028700"/>
            <a:ext cx="16751504" cy="8715635"/>
            <a:chOff x="0" y="0"/>
            <a:chExt cx="69085396" cy="35944420"/>
          </a:xfrm>
        </p:grpSpPr>
        <p:sp>
          <p:nvSpPr>
            <p:cNvPr id="388" name="Google Shape;388;p18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89" name="Google Shape;389;p18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390" name="Google Shape;390;p18"/>
          <p:cNvCxnSpPr/>
          <p:nvPr/>
        </p:nvCxnSpPr>
        <p:spPr>
          <a:xfrm>
            <a:off x="1028700" y="2459814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1" name="Google Shape;391;p18"/>
          <p:cNvSpPr txBox="1"/>
          <p:nvPr/>
        </p:nvSpPr>
        <p:spPr>
          <a:xfrm>
            <a:off x="571500" y="1090754"/>
            <a:ext cx="17145000" cy="1350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¿Qué es CoAP? </a:t>
            </a:r>
            <a:endParaRPr/>
          </a:p>
        </p:txBody>
      </p:sp>
      <p:sp>
        <p:nvSpPr>
          <p:cNvPr id="392" name="Google Shape;392;p18"/>
          <p:cNvSpPr txBox="1"/>
          <p:nvPr/>
        </p:nvSpPr>
        <p:spPr>
          <a:xfrm>
            <a:off x="1715526" y="2877184"/>
            <a:ext cx="143274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"Protocolo de Aplicación Constringente", constituye un pilar en el crecimiento y proliferación de Internet de las Cosas (IoT)</a:t>
            </a:r>
            <a:endParaRPr sz="700"/>
          </a:p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2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7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atractivo principal de CoAP reside en la posibilidad de operar con UDP en lugar de TCP.</a:t>
            </a:r>
            <a:endParaRPr sz="700"/>
          </a:p>
        </p:txBody>
      </p:sp>
      <p:sp>
        <p:nvSpPr>
          <p:cNvPr id="393" name="Google Shape;393;p18"/>
          <p:cNvSpPr txBox="1"/>
          <p:nvPr/>
        </p:nvSpPr>
        <p:spPr>
          <a:xfrm>
            <a:off x="1419384" y="5805926"/>
            <a:ext cx="5482656" cy="928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1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HTTP </a:t>
            </a:r>
            <a:endParaRPr/>
          </a:p>
        </p:txBody>
      </p:sp>
      <p:sp>
        <p:nvSpPr>
          <p:cNvPr id="394" name="Google Shape;394;p18"/>
          <p:cNvSpPr txBox="1"/>
          <p:nvPr/>
        </p:nvSpPr>
        <p:spPr>
          <a:xfrm>
            <a:off x="1715526" y="6724753"/>
            <a:ext cx="69549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basa en TCP</a:t>
            </a:r>
            <a:endParaRPr sz="1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cabeceras, JSON</a:t>
            </a:r>
            <a:endParaRPr sz="1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 (GET, POST, PUT, DELETE)</a:t>
            </a:r>
            <a:endParaRPr sz="1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Puerto 80 o 443 para HTTPS</a:t>
            </a:r>
            <a:endParaRPr sz="100"/>
          </a:p>
        </p:txBody>
      </p:sp>
      <p:sp>
        <p:nvSpPr>
          <p:cNvPr id="395" name="Google Shape;395;p18"/>
          <p:cNvSpPr txBox="1"/>
          <p:nvPr/>
        </p:nvSpPr>
        <p:spPr>
          <a:xfrm>
            <a:off x="9183045" y="5805926"/>
            <a:ext cx="5482656" cy="928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91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CoAP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9614383" y="6724753"/>
            <a:ext cx="69549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basa en UDP, ligero </a:t>
            </a:r>
            <a:endParaRPr sz="2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binarios compactos, 4 bytes</a:t>
            </a:r>
            <a:endParaRPr sz="2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RESTful (GET, POST, PUT, DELETE)</a:t>
            </a:r>
            <a:endParaRPr sz="200"/>
          </a:p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4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Puerto 5683 y 5684 </a:t>
            </a:r>
            <a:endParaRPr sz="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1" name="Google Shape;401;g39f94a98771_1_86"/>
          <p:cNvGrpSpPr/>
          <p:nvPr/>
        </p:nvGrpSpPr>
        <p:grpSpPr>
          <a:xfrm>
            <a:off x="507796" y="542665"/>
            <a:ext cx="16753209" cy="8716522"/>
            <a:chOff x="0" y="0"/>
            <a:chExt cx="69085396" cy="35944420"/>
          </a:xfrm>
        </p:grpSpPr>
        <p:sp>
          <p:nvSpPr>
            <p:cNvPr id="402" name="Google Shape;402;g39f94a98771_1_8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03" name="Google Shape;403;g39f94a98771_1_8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04" name="Google Shape;404;g39f94a98771_1_86"/>
          <p:cNvCxnSpPr/>
          <p:nvPr/>
        </p:nvCxnSpPr>
        <p:spPr>
          <a:xfrm>
            <a:off x="711098" y="2432538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g39f94a98771_1_86"/>
          <p:cNvSpPr/>
          <p:nvPr/>
        </p:nvSpPr>
        <p:spPr>
          <a:xfrm>
            <a:off x="1028700" y="3403916"/>
            <a:ext cx="4063262" cy="3479168"/>
          </a:xfrm>
          <a:custGeom>
            <a:rect b="b" l="l" r="r" t="t"/>
            <a:pathLst>
              <a:path extrusionOk="0" h="3479168" w="4063262">
                <a:moveTo>
                  <a:pt x="0" y="0"/>
                </a:moveTo>
                <a:lnTo>
                  <a:pt x="4063262" y="0"/>
                </a:lnTo>
                <a:lnTo>
                  <a:pt x="4063262" y="3479168"/>
                </a:lnTo>
                <a:lnTo>
                  <a:pt x="0" y="34791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6" name="Google Shape;406;g39f94a98771_1_86"/>
          <p:cNvSpPr/>
          <p:nvPr/>
        </p:nvSpPr>
        <p:spPr>
          <a:xfrm>
            <a:off x="5570051" y="5566114"/>
            <a:ext cx="11093473" cy="3466710"/>
          </a:xfrm>
          <a:custGeom>
            <a:rect b="b" l="l" r="r" t="t"/>
            <a:pathLst>
              <a:path extrusionOk="0" h="3466710" w="11093473">
                <a:moveTo>
                  <a:pt x="0" y="0"/>
                </a:moveTo>
                <a:lnTo>
                  <a:pt x="11093473" y="0"/>
                </a:lnTo>
                <a:lnTo>
                  <a:pt x="11093473" y="3466710"/>
                </a:lnTo>
                <a:lnTo>
                  <a:pt x="0" y="34667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7" name="Google Shape;407;g39f94a98771_1_86"/>
          <p:cNvSpPr txBox="1"/>
          <p:nvPr/>
        </p:nvSpPr>
        <p:spPr>
          <a:xfrm>
            <a:off x="507796" y="1092028"/>
            <a:ext cx="16637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MQTT</a:t>
            </a:r>
            <a:endParaRPr/>
          </a:p>
        </p:txBody>
      </p:sp>
      <p:sp>
        <p:nvSpPr>
          <p:cNvPr id="408" name="Google Shape;408;g39f94a98771_1_86"/>
          <p:cNvSpPr txBox="1"/>
          <p:nvPr/>
        </p:nvSpPr>
        <p:spPr>
          <a:xfrm>
            <a:off x="5570051" y="2703926"/>
            <a:ext cx="10918200" cy="31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74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un protocolo de transmisión de datos orientado para el IoT, esta diseñado para ser extremadamente ligero y funcionar como publicador/suscriptor, ideal para conectar dispositivos remotos con mínimo ancho de banda</a:t>
            </a:r>
            <a:endParaRPr sz="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3" name="Google Shape;413;g39f94a98771_1_172"/>
          <p:cNvGrpSpPr/>
          <p:nvPr/>
        </p:nvGrpSpPr>
        <p:grpSpPr>
          <a:xfrm>
            <a:off x="299227" y="662805"/>
            <a:ext cx="17692770" cy="9205366"/>
            <a:chOff x="0" y="0"/>
            <a:chExt cx="69085396" cy="35944420"/>
          </a:xfrm>
        </p:grpSpPr>
        <p:sp>
          <p:nvSpPr>
            <p:cNvPr id="414" name="Google Shape;414;g39f94a98771_1_17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15" name="Google Shape;415;g39f94a98771_1_17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16" name="Google Shape;416;g39f94a98771_1_172"/>
          <p:cNvCxnSpPr/>
          <p:nvPr/>
        </p:nvCxnSpPr>
        <p:spPr>
          <a:xfrm>
            <a:off x="1028700" y="1752322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7" name="Google Shape;417;g39f94a98771_1_172"/>
          <p:cNvSpPr/>
          <p:nvPr/>
        </p:nvSpPr>
        <p:spPr>
          <a:xfrm>
            <a:off x="15872793" y="1752322"/>
            <a:ext cx="2294738" cy="2294738"/>
          </a:xfrm>
          <a:custGeom>
            <a:rect b="b" l="l" r="r" t="t"/>
            <a:pathLst>
              <a:path extrusionOk="0" h="2294738" w="2294738">
                <a:moveTo>
                  <a:pt x="0" y="0"/>
                </a:moveTo>
                <a:lnTo>
                  <a:pt x="2294738" y="0"/>
                </a:lnTo>
                <a:lnTo>
                  <a:pt x="2294738" y="2294738"/>
                </a:lnTo>
                <a:lnTo>
                  <a:pt x="0" y="22947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8" name="Google Shape;418;g39f94a98771_1_172"/>
          <p:cNvSpPr/>
          <p:nvPr/>
        </p:nvSpPr>
        <p:spPr>
          <a:xfrm>
            <a:off x="15103528" y="0"/>
            <a:ext cx="2287640" cy="2287640"/>
          </a:xfrm>
          <a:custGeom>
            <a:rect b="b" l="l" r="r" t="t"/>
            <a:pathLst>
              <a:path extrusionOk="0" h="2287640" w="2287640">
                <a:moveTo>
                  <a:pt x="0" y="0"/>
                </a:moveTo>
                <a:lnTo>
                  <a:pt x="2287640" y="0"/>
                </a:lnTo>
                <a:lnTo>
                  <a:pt x="2287640" y="2287640"/>
                </a:lnTo>
                <a:lnTo>
                  <a:pt x="0" y="22876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9" name="Google Shape;419;g39f94a98771_1_172"/>
          <p:cNvSpPr txBox="1"/>
          <p:nvPr/>
        </p:nvSpPr>
        <p:spPr>
          <a:xfrm>
            <a:off x="1123706" y="810997"/>
            <a:ext cx="14749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3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¿POR QUE MQTT PARA EL IOT?</a:t>
            </a:r>
            <a:endParaRPr/>
          </a:p>
        </p:txBody>
      </p:sp>
      <p:sp>
        <p:nvSpPr>
          <p:cNvPr id="420" name="Google Shape;420;g39f94a98771_1_172"/>
          <p:cNvSpPr txBox="1"/>
          <p:nvPr/>
        </p:nvSpPr>
        <p:spPr>
          <a:xfrm>
            <a:off x="1028700" y="2001014"/>
            <a:ext cx="16230600" cy="71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Ligero y eficiente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MQTT consume muy poco ancho de banda y recursos. Los mensajes pueden ser de solo 2 bytes, lo que lo hace ideal para sensores y microcontroladores con poca memoria y CPU.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Modelo publish/subscribe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dispositivos no necesitan saber quién recibe la información. Un sensor publica datos en un topic y cualquier aplicación suscrita los obtiene, facilitando la integración.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Confiabilidad con QoS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Ofrece tres niveles de calidad de servicio. Puedes decidir si los mensajes se envían solo una vez, al menos una vez, o exactamente una vez, según lo crítico de la aplicación.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2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Optimizado para redes inestables</a:t>
            </a:r>
            <a:endParaRPr sz="700"/>
          </a:p>
          <a:p>
            <a:pPr indent="0" lvl="0" marL="0" marR="0" rtl="0" algn="l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 muy bien en conexiones que se caen seguido, como WiFi débil o redes móviles. Incluye keep-alive, mensajes retenidos y avisos cuando un dispositivo se desconecta.</a:t>
            </a:r>
            <a:endParaRPr sz="7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5" name="Google Shape;425;g39f94a98771_1_183"/>
          <p:cNvGrpSpPr/>
          <p:nvPr/>
        </p:nvGrpSpPr>
        <p:grpSpPr>
          <a:xfrm>
            <a:off x="500252" y="575225"/>
            <a:ext cx="17561508" cy="9137072"/>
            <a:chOff x="0" y="0"/>
            <a:chExt cx="69085396" cy="35944420"/>
          </a:xfrm>
        </p:grpSpPr>
        <p:sp>
          <p:nvSpPr>
            <p:cNvPr id="426" name="Google Shape;426;g39f94a98771_1_183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7" name="Google Shape;427;g39f94a98771_1_183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28" name="Google Shape;428;g39f94a98771_1_183"/>
          <p:cNvCxnSpPr/>
          <p:nvPr/>
        </p:nvCxnSpPr>
        <p:spPr>
          <a:xfrm>
            <a:off x="1047750" y="1790064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g39f94a98771_1_183"/>
          <p:cNvSpPr txBox="1"/>
          <p:nvPr/>
        </p:nvSpPr>
        <p:spPr>
          <a:xfrm>
            <a:off x="1612755" y="904875"/>
            <a:ext cx="15335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NIVELES DE CALIDAD DE SERVICIO (QOS)</a:t>
            </a:r>
            <a:endParaRPr/>
          </a:p>
        </p:txBody>
      </p:sp>
      <p:graphicFrame>
        <p:nvGraphicFramePr>
          <p:cNvPr id="430" name="Google Shape;430;g39f94a98771_1_183"/>
          <p:cNvGraphicFramePr/>
          <p:nvPr/>
        </p:nvGraphicFramePr>
        <p:xfrm>
          <a:off x="837734" y="2352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{B21B3B69-B588-4706-BE6F-4ACEDCCB647F}</a:tableStyleId>
              </a:tblPr>
              <a:tblGrid>
                <a:gridCol w="4907675"/>
                <a:gridCol w="6014075"/>
                <a:gridCol w="5963800"/>
              </a:tblGrid>
              <a:tr h="1043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Nivel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Explicación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típico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245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 – At most once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4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mensaje se envía una sola vez, sin confirmación. Si se pierde, no se reintenta.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19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Datos no críticos, como sensores que reportan cada segundo.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– At least once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mensaje siempre llega, pero puede duplicarse. Se reintenta hasta recibir confirmación.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Telemetría importante, como alarmas o notificaciones.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– Exactly once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 mensaje llega una sola vez garantizada, sin duplicados. Es el más confiable, pero más lento.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Casos críticos como transacciones, control médico o industrial.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5" name="Google Shape;435;g39f94a98771_1_192"/>
          <p:cNvGrpSpPr/>
          <p:nvPr/>
        </p:nvGrpSpPr>
        <p:grpSpPr>
          <a:xfrm>
            <a:off x="507796" y="542665"/>
            <a:ext cx="16753209" cy="8716522"/>
            <a:chOff x="0" y="0"/>
            <a:chExt cx="69085396" cy="35944420"/>
          </a:xfrm>
        </p:grpSpPr>
        <p:sp>
          <p:nvSpPr>
            <p:cNvPr id="436" name="Google Shape;436;g39f94a98771_1_192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37" name="Google Shape;437;g39f94a98771_1_192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38" name="Google Shape;438;g39f94a98771_1_192"/>
          <p:cNvCxnSpPr/>
          <p:nvPr/>
        </p:nvCxnSpPr>
        <p:spPr>
          <a:xfrm>
            <a:off x="1028700" y="2061555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9" name="Google Shape;439;g39f94a98771_1_192"/>
          <p:cNvSpPr txBox="1"/>
          <p:nvPr/>
        </p:nvSpPr>
        <p:spPr>
          <a:xfrm>
            <a:off x="1394020" y="621120"/>
            <a:ext cx="14749200" cy="14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3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IMPLEMENTACIÓN Y PLATAFORMAS MQTT EN CASOS REALES</a:t>
            </a:r>
            <a:endParaRPr/>
          </a:p>
        </p:txBody>
      </p:sp>
      <p:sp>
        <p:nvSpPr>
          <p:cNvPr id="440" name="Google Shape;440;g39f94a98771_1_192"/>
          <p:cNvSpPr txBox="1"/>
          <p:nvPr/>
        </p:nvSpPr>
        <p:spPr>
          <a:xfrm>
            <a:off x="1228828" y="3135829"/>
            <a:ext cx="155016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casas inteligentes, los sensores de temperatura, luces y cerraduras usan MQTT para enviar datos a un broker (ej. Mosquitto). Las apps móviles reciben la información en tiempo real y pueden controlar dispositivos.</a:t>
            </a:r>
            <a:endParaRPr sz="600"/>
          </a:p>
        </p:txBody>
      </p:sp>
      <p:sp>
        <p:nvSpPr>
          <p:cNvPr id="441" name="Google Shape;441;g39f94a98771_1_192"/>
          <p:cNvSpPr txBox="1"/>
          <p:nvPr/>
        </p:nvSpPr>
        <p:spPr>
          <a:xfrm>
            <a:off x="1228828" y="2574706"/>
            <a:ext cx="83184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Smart Home</a:t>
            </a:r>
            <a:endParaRPr/>
          </a:p>
        </p:txBody>
      </p:sp>
      <p:sp>
        <p:nvSpPr>
          <p:cNvPr id="442" name="Google Shape;442;g39f94a98771_1_192"/>
          <p:cNvSpPr txBox="1"/>
          <p:nvPr/>
        </p:nvSpPr>
        <p:spPr>
          <a:xfrm>
            <a:off x="1228828" y="4444217"/>
            <a:ext cx="2520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Industria 4.0</a:t>
            </a:r>
            <a:endParaRPr/>
          </a:p>
        </p:txBody>
      </p:sp>
      <p:sp>
        <p:nvSpPr>
          <p:cNvPr id="443" name="Google Shape;443;g39f94a98771_1_192"/>
          <p:cNvSpPr txBox="1"/>
          <p:nvPr/>
        </p:nvSpPr>
        <p:spPr>
          <a:xfrm>
            <a:off x="1228828" y="5246178"/>
            <a:ext cx="15621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fábricas, MQTT conecta máquinas, PLCs y sensores de producción. Un broker central (ej. EMQX) recopila los datos y los manda a dashboards para monitoreo y mantenimiento predictivo.</a:t>
            </a:r>
            <a:endParaRPr sz="600"/>
          </a:p>
        </p:txBody>
      </p:sp>
      <p:sp>
        <p:nvSpPr>
          <p:cNvPr id="444" name="Google Shape;444;g39f94a98771_1_192"/>
          <p:cNvSpPr txBox="1"/>
          <p:nvPr/>
        </p:nvSpPr>
        <p:spPr>
          <a:xfrm>
            <a:off x="1228828" y="6423452"/>
            <a:ext cx="45330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23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Agricultura inteligente</a:t>
            </a:r>
            <a:endParaRPr/>
          </a:p>
        </p:txBody>
      </p:sp>
      <p:sp>
        <p:nvSpPr>
          <p:cNvPr id="445" name="Google Shape;445;g39f94a98771_1_192"/>
          <p:cNvSpPr txBox="1"/>
          <p:nvPr/>
        </p:nvSpPr>
        <p:spPr>
          <a:xfrm>
            <a:off x="1228828" y="6984575"/>
            <a:ext cx="15621600" cy="8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Sensores en cultivos miden humedad y temperatura, publican datos por MQTT, y un sistema central decide el riego automático.</a:t>
            </a:r>
            <a:endParaRPr sz="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g39f94a98771_1_206"/>
          <p:cNvGrpSpPr/>
          <p:nvPr/>
        </p:nvGrpSpPr>
        <p:grpSpPr>
          <a:xfrm>
            <a:off x="285730" y="534633"/>
            <a:ext cx="17713496" cy="9216149"/>
            <a:chOff x="0" y="0"/>
            <a:chExt cx="69085396" cy="35944420"/>
          </a:xfrm>
        </p:grpSpPr>
        <p:sp>
          <p:nvSpPr>
            <p:cNvPr id="451" name="Google Shape;451;g39f94a98771_1_20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52" name="Google Shape;452;g39f94a98771_1_20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53" name="Google Shape;453;g39f94a98771_1_206"/>
          <p:cNvCxnSpPr/>
          <p:nvPr/>
        </p:nvCxnSpPr>
        <p:spPr>
          <a:xfrm>
            <a:off x="1028700" y="2178686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g39f94a98771_1_206"/>
          <p:cNvSpPr txBox="1"/>
          <p:nvPr/>
        </p:nvSpPr>
        <p:spPr>
          <a:xfrm>
            <a:off x="780868" y="2178686"/>
            <a:ext cx="16946700" cy="7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MQTT permite que los clientes se conecten usando usuario y contraseña.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Algunos brokers también soportan certificados digitales para mayor seguridad.</a:t>
            </a:r>
            <a:endParaRPr sz="800"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Cifrado de datos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puede usar TLS/SSL para cifrar toda la comunicación entre clientes y broker.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evita que terceros intercepten mensajes sensibles.</a:t>
            </a:r>
            <a:endParaRPr sz="800"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 de acceso (ACLs)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brokers modernos permiten definir qué topics puede publicar o suscribirse cada cliente.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previene que un dispositivo mal configurado lea o escriba donde no debe.</a:t>
            </a:r>
            <a:endParaRPr sz="800"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Mensajes retenidos y “Will” seguros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retained messages (último valor guardado) y los will messages (mensaje de desconexión) pueden protegerse para que solo clientes autorizados los lean.</a:t>
            </a:r>
            <a:endParaRPr sz="800"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Limitaciones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MQTT por sí mismo no obliga a usar seguridad; depende del broker y la configuración.</a:t>
            </a:r>
            <a:endParaRPr sz="800"/>
          </a:p>
          <a:p>
            <a:pPr indent="-303185" lvl="1" marL="682571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61"/>
              <a:buFont typeface="Arial"/>
              <a:buChar char="•"/>
            </a:pPr>
            <a:r>
              <a:rPr b="0" i="0" lang="en-US" sz="256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Siempre es recomendable TLS + autenticación + ACL en entornos productivos.</a:t>
            </a:r>
            <a:endParaRPr sz="800"/>
          </a:p>
          <a:p>
            <a:pPr indent="0" lvl="0" marL="0" marR="0" rtl="0" algn="l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56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g39f94a98771_1_206"/>
          <p:cNvSpPr/>
          <p:nvPr/>
        </p:nvSpPr>
        <p:spPr>
          <a:xfrm rot="-877614">
            <a:off x="15300867" y="7639986"/>
            <a:ext cx="2526548" cy="2526548"/>
          </a:xfrm>
          <a:custGeom>
            <a:rect b="b" l="l" r="r" t="t"/>
            <a:pathLst>
              <a:path extrusionOk="0" h="2526785" w="2526785">
                <a:moveTo>
                  <a:pt x="0" y="0"/>
                </a:moveTo>
                <a:lnTo>
                  <a:pt x="2526785" y="0"/>
                </a:lnTo>
                <a:lnTo>
                  <a:pt x="2526785" y="2526784"/>
                </a:lnTo>
                <a:lnTo>
                  <a:pt x="0" y="2526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6" name="Google Shape;456;g39f94a98771_1_206"/>
          <p:cNvSpPr txBox="1"/>
          <p:nvPr/>
        </p:nvSpPr>
        <p:spPr>
          <a:xfrm>
            <a:off x="114300" y="828675"/>
            <a:ext cx="171450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99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SEGURIDAD DE MQTT</a:t>
            </a:r>
            <a:endParaRPr/>
          </a:p>
        </p:txBody>
      </p:sp>
      <p:sp>
        <p:nvSpPr>
          <p:cNvPr id="457" name="Google Shape;457;g39f94a98771_1_206"/>
          <p:cNvSpPr/>
          <p:nvPr/>
        </p:nvSpPr>
        <p:spPr>
          <a:xfrm>
            <a:off x="14732520" y="1028700"/>
            <a:ext cx="1149986" cy="1149986"/>
          </a:xfrm>
          <a:custGeom>
            <a:rect b="b" l="l" r="r" t="t"/>
            <a:pathLst>
              <a:path extrusionOk="0" h="1149986" w="1149986">
                <a:moveTo>
                  <a:pt x="0" y="0"/>
                </a:moveTo>
                <a:lnTo>
                  <a:pt x="1149986" y="0"/>
                </a:lnTo>
                <a:lnTo>
                  <a:pt x="1149986" y="1149986"/>
                </a:lnTo>
                <a:lnTo>
                  <a:pt x="0" y="1149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g39f94a98771_1_226"/>
          <p:cNvGrpSpPr/>
          <p:nvPr/>
        </p:nvGrpSpPr>
        <p:grpSpPr>
          <a:xfrm>
            <a:off x="500252" y="575225"/>
            <a:ext cx="17561508" cy="9137072"/>
            <a:chOff x="0" y="0"/>
            <a:chExt cx="69085396" cy="35944420"/>
          </a:xfrm>
        </p:grpSpPr>
        <p:sp>
          <p:nvSpPr>
            <p:cNvPr id="463" name="Google Shape;463;g39f94a98771_1_226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64" name="Google Shape;464;g39f94a98771_1_226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65" name="Google Shape;465;g39f94a98771_1_226"/>
          <p:cNvCxnSpPr/>
          <p:nvPr/>
        </p:nvCxnSpPr>
        <p:spPr>
          <a:xfrm flipH="1" rot="10800000">
            <a:off x="1047750" y="1771164"/>
            <a:ext cx="16381200" cy="1890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6" name="Google Shape;466;g39f94a98771_1_226"/>
          <p:cNvSpPr txBox="1"/>
          <p:nvPr/>
        </p:nvSpPr>
        <p:spPr>
          <a:xfrm>
            <a:off x="1612755" y="904875"/>
            <a:ext cx="15335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9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BROKERS MQTT MÁS CONOCIDOS</a:t>
            </a:r>
            <a:endParaRPr/>
          </a:p>
        </p:txBody>
      </p:sp>
      <p:graphicFrame>
        <p:nvGraphicFramePr>
          <p:cNvPr id="467" name="Google Shape;467;g39f94a98771_1_226"/>
          <p:cNvGraphicFramePr/>
          <p:nvPr/>
        </p:nvGraphicFramePr>
        <p:xfrm>
          <a:off x="1047750" y="2200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{B21B3B69-B588-4706-BE6F-4ACEDCCB647F}</a:tableStyleId>
              </a:tblPr>
              <a:tblGrid>
                <a:gridCol w="4445150"/>
                <a:gridCol w="4211575"/>
                <a:gridCol w="7724350"/>
              </a:tblGrid>
              <a:tr h="132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Descripción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típico / Ventajas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B400"/>
                    </a:solidFill>
                  </a:tcPr>
                </a:tc>
              </a:tr>
              <a:tr h="1712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Mosquitto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44272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 MQTT ligero y popular, código abierto.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19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Ideal para IoT casero y proyectos pequeños, soporta TLS y autenticación.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EMQX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 industrial y escalable, soporta millones de conexiones.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Uso en empresas y fábricas, compatible con MQTT 5, MQTT-SN, CoAP.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HiveMQ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 comercial y escalable, con dashboard web y plugins.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Ideal para IoT en producción y nube, con alta disponibilidad.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77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VerneMQ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Broker MQTT open source, muy escalable y distribuido.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1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 usa en sistemas críticos y despliegues de gran tamaño.</a:t>
                      </a:r>
                      <a:endParaRPr sz="1100" u="none" cap="none" strike="noStrike"/>
                    </a:p>
                  </a:txBody>
                  <a:tcPr marT="160800" marB="160800" marR="160800" marL="160800" anchor="ctr">
                    <a:lnL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2150">
                      <a:solidFill>
                        <a:srgbClr val="99AC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Google Shape;472;p19"/>
          <p:cNvGrpSpPr/>
          <p:nvPr/>
        </p:nvGrpSpPr>
        <p:grpSpPr>
          <a:xfrm>
            <a:off x="768248" y="785682"/>
            <a:ext cx="16751504" cy="8715635"/>
            <a:chOff x="0" y="0"/>
            <a:chExt cx="69085396" cy="35944420"/>
          </a:xfrm>
        </p:grpSpPr>
        <p:sp>
          <p:nvSpPr>
            <p:cNvPr id="473" name="Google Shape;473;p19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4" name="Google Shape;474;p19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75" name="Google Shape;475;p19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9"/>
          <p:cNvSpPr txBox="1"/>
          <p:nvPr/>
        </p:nvSpPr>
        <p:spPr>
          <a:xfrm>
            <a:off x="1524000" y="3757649"/>
            <a:ext cx="15240000" cy="35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 u="sng"/>
              <a:t>Protocolos: </a:t>
            </a:r>
            <a:r>
              <a:rPr lang="en-US" sz="3999"/>
              <a:t>Se definió este concepto así como la función de un Gateway y su relación con los protocolos.</a:t>
            </a:r>
            <a:endParaRPr sz="3999"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99"/>
              <a:t>MQTT: Se explicó la diferencia con otros protocolos y mediante un diagrama se presentó la arquitectura y como funciona este protocolo importante para IOT</a:t>
            </a:r>
            <a:endParaRPr sz="3999"/>
          </a:p>
        </p:txBody>
      </p:sp>
      <p:sp>
        <p:nvSpPr>
          <p:cNvPr id="477" name="Google Shape;477;p19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19"/>
          <p:cNvSpPr txBox="1"/>
          <p:nvPr/>
        </p:nvSpPr>
        <p:spPr>
          <a:xfrm>
            <a:off x="1864925" y="876300"/>
            <a:ext cx="1489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66CC"/>
                </a:solidFill>
              </a:rPr>
              <a:t>Conceptos clave aprendidos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g3a0f968ce90_0_0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484" name="Google Shape;484;g3a0f968ce90_0_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5" name="Google Shape;485;g3a0f968ce90_0_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86" name="Google Shape;486;g3a0f968ce90_0_0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7" name="Google Shape;487;g3a0f968ce90_0_0"/>
          <p:cNvSpPr txBox="1"/>
          <p:nvPr/>
        </p:nvSpPr>
        <p:spPr>
          <a:xfrm>
            <a:off x="1524000" y="3757649"/>
            <a:ext cx="15240000" cy="43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Aprendizaje continuo:</a:t>
            </a:r>
            <a:endParaRPr/>
          </a:p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la actitud y disposición del estudiante para seguir explorando, investigando y actualizándose en tecnologías, protocolos y aplicaciones de IoT más allá del contenido visto en la clase, fomentando la curiosidad, la reflexión crítica y la capacidad de adaptarse a los cambios en el ámbito tecnológico.</a:t>
            </a:r>
            <a:endParaRPr/>
          </a:p>
        </p:txBody>
      </p:sp>
      <p:sp>
        <p:nvSpPr>
          <p:cNvPr id="488" name="Google Shape;488;g3a0f968ce90_0_0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9" name="Google Shape;489;g3a0f968ce90_0_0"/>
          <p:cNvSpPr txBox="1"/>
          <p:nvPr/>
        </p:nvSpPr>
        <p:spPr>
          <a:xfrm>
            <a:off x="4381500" y="876300"/>
            <a:ext cx="95250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0066CC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4" name="Google Shape;494;g3a0f968ce90_0_10"/>
          <p:cNvGrpSpPr/>
          <p:nvPr/>
        </p:nvGrpSpPr>
        <p:grpSpPr>
          <a:xfrm>
            <a:off x="768248" y="785682"/>
            <a:ext cx="16753209" cy="8716522"/>
            <a:chOff x="0" y="0"/>
            <a:chExt cx="69085396" cy="35944420"/>
          </a:xfrm>
        </p:grpSpPr>
        <p:sp>
          <p:nvSpPr>
            <p:cNvPr id="495" name="Google Shape;495;g3a0f968ce90_0_10"/>
            <p:cNvSpPr/>
            <p:nvPr/>
          </p:nvSpPr>
          <p:spPr>
            <a:xfrm>
              <a:off x="72390" y="72390"/>
              <a:ext cx="68940619" cy="35799641"/>
            </a:xfrm>
            <a:custGeom>
              <a:rect b="b" l="l" r="r" t="t"/>
              <a:pathLst>
                <a:path extrusionOk="0" h="35799641" w="68940619">
                  <a:moveTo>
                    <a:pt x="0" y="0"/>
                  </a:moveTo>
                  <a:lnTo>
                    <a:pt x="68940619" y="0"/>
                  </a:lnTo>
                  <a:lnTo>
                    <a:pt x="68940619" y="35799641"/>
                  </a:lnTo>
                  <a:lnTo>
                    <a:pt x="0" y="35799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96" name="Google Shape;496;g3a0f968ce90_0_10"/>
            <p:cNvSpPr/>
            <p:nvPr/>
          </p:nvSpPr>
          <p:spPr>
            <a:xfrm>
              <a:off x="0" y="0"/>
              <a:ext cx="69085396" cy="35944420"/>
            </a:xfrm>
            <a:custGeom>
              <a:rect b="b" l="l" r="r" t="t"/>
              <a:pathLst>
                <a:path extrusionOk="0" h="35944420" w="69085396">
                  <a:moveTo>
                    <a:pt x="68940617" y="35799641"/>
                  </a:moveTo>
                  <a:lnTo>
                    <a:pt x="69085396" y="35799641"/>
                  </a:lnTo>
                  <a:lnTo>
                    <a:pt x="69085396" y="35944420"/>
                  </a:lnTo>
                  <a:lnTo>
                    <a:pt x="68940617" y="35944420"/>
                  </a:lnTo>
                  <a:lnTo>
                    <a:pt x="68940617" y="35799641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799641"/>
                  </a:lnTo>
                  <a:lnTo>
                    <a:pt x="0" y="35799641"/>
                  </a:lnTo>
                  <a:lnTo>
                    <a:pt x="0" y="144780"/>
                  </a:lnTo>
                  <a:close/>
                  <a:moveTo>
                    <a:pt x="0" y="35799641"/>
                  </a:moveTo>
                  <a:lnTo>
                    <a:pt x="144780" y="35799641"/>
                  </a:lnTo>
                  <a:lnTo>
                    <a:pt x="144780" y="35944420"/>
                  </a:lnTo>
                  <a:lnTo>
                    <a:pt x="0" y="35944420"/>
                  </a:lnTo>
                  <a:lnTo>
                    <a:pt x="0" y="35799641"/>
                  </a:lnTo>
                  <a:close/>
                  <a:moveTo>
                    <a:pt x="68940617" y="144780"/>
                  </a:moveTo>
                  <a:lnTo>
                    <a:pt x="69085396" y="144780"/>
                  </a:lnTo>
                  <a:lnTo>
                    <a:pt x="69085396" y="35799641"/>
                  </a:lnTo>
                  <a:lnTo>
                    <a:pt x="68940617" y="35799641"/>
                  </a:lnTo>
                  <a:lnTo>
                    <a:pt x="68940617" y="144780"/>
                  </a:lnTo>
                  <a:close/>
                  <a:moveTo>
                    <a:pt x="144780" y="35799641"/>
                  </a:moveTo>
                  <a:lnTo>
                    <a:pt x="68940617" y="35799641"/>
                  </a:lnTo>
                  <a:lnTo>
                    <a:pt x="68940617" y="35944420"/>
                  </a:lnTo>
                  <a:lnTo>
                    <a:pt x="144780" y="35944420"/>
                  </a:lnTo>
                  <a:lnTo>
                    <a:pt x="144780" y="35799641"/>
                  </a:lnTo>
                  <a:close/>
                  <a:moveTo>
                    <a:pt x="68940617" y="0"/>
                  </a:moveTo>
                  <a:lnTo>
                    <a:pt x="69085396" y="0"/>
                  </a:lnTo>
                  <a:lnTo>
                    <a:pt x="69085396" y="144780"/>
                  </a:lnTo>
                  <a:lnTo>
                    <a:pt x="68940617" y="144780"/>
                  </a:lnTo>
                  <a:lnTo>
                    <a:pt x="6894061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68940617" y="0"/>
                  </a:lnTo>
                  <a:lnTo>
                    <a:pt x="6894061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</p:sp>
      </p:grpSp>
      <p:cxnSp>
        <p:nvCxnSpPr>
          <p:cNvPr id="497" name="Google Shape;497;g3a0f968ce90_0_10"/>
          <p:cNvCxnSpPr/>
          <p:nvPr/>
        </p:nvCxnSpPr>
        <p:spPr>
          <a:xfrm>
            <a:off x="1028700" y="3026987"/>
            <a:ext cx="16230600" cy="0"/>
          </a:xfrm>
          <a:prstGeom prst="straightConnector1">
            <a:avLst/>
          </a:prstGeom>
          <a:noFill/>
          <a:ln cap="flat" cmpd="sng" w="381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8" name="Google Shape;498;g3a0f968ce90_0_10"/>
          <p:cNvSpPr txBox="1"/>
          <p:nvPr/>
        </p:nvSpPr>
        <p:spPr>
          <a:xfrm>
            <a:off x="1524000" y="3757649"/>
            <a:ext cx="15240000" cy="30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u="sng">
                <a:solidFill>
                  <a:schemeClr val="hlink"/>
                </a:solidFill>
                <a:hlinkClick r:id="rId3"/>
              </a:rPr>
              <a:t>Protocolo CoAP: ¿Qué es significado, arquitectura y función? — Wallarm</a:t>
            </a:r>
            <a:br>
              <a:rPr lang="en-US" sz="3400"/>
            </a:br>
            <a:br>
              <a:rPr lang="en-US" sz="3400"/>
            </a:br>
            <a:r>
              <a:rPr lang="en-US" sz="3400" u="sng">
                <a:solidFill>
                  <a:schemeClr val="hlink"/>
                </a:solidFill>
                <a:hlinkClick r:id="rId4"/>
              </a:rPr>
              <a:t>¿Qué es el MQTT? - Explicación del protocolo MQTT - AWS</a:t>
            </a:r>
            <a:br>
              <a:rPr lang="en-US" sz="3400"/>
            </a:br>
            <a:br>
              <a:rPr lang="en-US" sz="3400"/>
            </a:br>
            <a:r>
              <a:rPr lang="en-US" sz="3400" u="sng">
                <a:solidFill>
                  <a:schemeClr val="hlink"/>
                </a:solidFill>
                <a:hlinkClick r:id="rId5"/>
              </a:rPr>
              <a:t>What is MQTT Quality of Service (QoS) 0,1, &amp; 2? – MQTT Essentials: Part 6</a:t>
            </a:r>
            <a:endParaRPr sz="3400"/>
          </a:p>
        </p:txBody>
      </p:sp>
      <p:sp>
        <p:nvSpPr>
          <p:cNvPr id="499" name="Google Shape;499;g3a0f968ce90_0_10"/>
          <p:cNvSpPr/>
          <p:nvPr/>
        </p:nvSpPr>
        <p:spPr>
          <a:xfrm>
            <a:off x="13906500" y="7115175"/>
            <a:ext cx="2143125" cy="2143125"/>
          </a:xfrm>
          <a:custGeom>
            <a:rect b="b" l="l" r="r" t="t"/>
            <a:pathLst>
              <a:path extrusionOk="0" h="2143125" w="2143125">
                <a:moveTo>
                  <a:pt x="0" y="0"/>
                </a:moveTo>
                <a:lnTo>
                  <a:pt x="2143125" y="0"/>
                </a:lnTo>
                <a:lnTo>
                  <a:pt x="21431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0" name="Google Shape;500;g3a0f968ce90_0_10"/>
          <p:cNvSpPr txBox="1"/>
          <p:nvPr/>
        </p:nvSpPr>
        <p:spPr>
          <a:xfrm>
            <a:off x="4381500" y="876300"/>
            <a:ext cx="952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66CC"/>
                </a:solidFill>
              </a:rPr>
              <a:t>REFERENCIAS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5" name="Google Shape;505;p20"/>
          <p:cNvGrpSpPr/>
          <p:nvPr/>
        </p:nvGrpSpPr>
        <p:grpSpPr>
          <a:xfrm>
            <a:off x="2000250" y="3307556"/>
            <a:ext cx="9053422" cy="3636169"/>
            <a:chOff x="0" y="-47625"/>
            <a:chExt cx="12071229" cy="4848225"/>
          </a:xfrm>
        </p:grpSpPr>
        <p:sp>
          <p:nvSpPr>
            <p:cNvPr id="506" name="Google Shape;506;p20"/>
            <p:cNvSpPr txBox="1"/>
            <p:nvPr/>
          </p:nvSpPr>
          <p:spPr>
            <a:xfrm>
              <a:off x="0" y="-47625"/>
              <a:ext cx="12071229" cy="324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¡GRACIAS POR SU ATENCIÓN!</a:t>
              </a:r>
              <a:endParaRPr/>
            </a:p>
          </p:txBody>
        </p:sp>
        <p:sp>
          <p:nvSpPr>
            <p:cNvPr id="507" name="Google Shape;507;p20"/>
            <p:cNvSpPr txBox="1"/>
            <p:nvPr/>
          </p:nvSpPr>
          <p:spPr>
            <a:xfrm>
              <a:off x="0" y="3152775"/>
              <a:ext cx="12071229" cy="164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899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¿DUDAS?</a:t>
              </a:r>
              <a:endParaRPr/>
            </a:p>
          </p:txBody>
        </p:sp>
      </p:grpSp>
      <p:sp>
        <p:nvSpPr>
          <p:cNvPr id="508" name="Google Shape;508;p20"/>
          <p:cNvSpPr txBox="1"/>
          <p:nvPr/>
        </p:nvSpPr>
        <p:spPr>
          <a:xfrm>
            <a:off x="2000250" y="8496300"/>
            <a:ext cx="14287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SEMANA.</a:t>
            </a:r>
            <a:endParaRPr/>
          </a:p>
        </p:txBody>
      </p:sp>
      <p:sp>
        <p:nvSpPr>
          <p:cNvPr id="509" name="Google Shape;509;p20"/>
          <p:cNvSpPr/>
          <p:nvPr/>
        </p:nvSpPr>
        <p:spPr>
          <a:xfrm>
            <a:off x="13530482" y="3258015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