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 /><Relationship Id="rId33" Type="http://schemas.openxmlformats.org/officeDocument/2006/relationships/tableStyles" Target="tableStyles.xml" /><Relationship Id="rId3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09977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4634728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953485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4303096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240913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061141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790452" name="Google Shape;51;gcb241b134e_0_0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509837" name="Google Shape;52;gcb241b134e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400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9906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095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B6589B-848F-B32B-A29A-B8861EE10D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694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2502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678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C04DDF-20D6-1C41-5BED-69F5C065D2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346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90677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2776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AD2207-CEEC-6FB2-F9FC-9D93A5B5B6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719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224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79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9C37B5-7242-475C-BBAF-52CB8E7418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557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7257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38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EFE2A2-DA37-A68A-2CE9-4C91DCA6D2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4008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880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935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BF91C-3590-5195-64D8-C1152D5FA0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6044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0570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00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96C7B8-40BD-C766-C62E-B3215FFFE6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56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18224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5381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EC10DF-48EB-2113-AEE6-8A70F58CA9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765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7401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797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0BE7F7-9C35-B142-384E-C5B1DF78D3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554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8746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5112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6D7DC8-37FA-379D-F31E-CA4FE61B6E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452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48508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60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93167-9FB4-806A-D6EC-0FA74DCE04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351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5286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1110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E69C63-30C7-568E-FFA2-B33E471E66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641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5142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280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EFB735-2978-60B0-E3C1-6973D38D1C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817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0371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0988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49C3F9-D3EA-473A-4BAE-F0AD94849A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699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2662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19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62FF4-EE17-B207-F0AD-CAF56D8C4D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260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0858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17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51C206-2437-DC91-FF00-E1CF9E7C63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965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4124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30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402150-EE19-765B-CC82-A291AE42A5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181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64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509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BAFF0A-75DA-2ED9-F50C-20C99F7623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608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44561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205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552CB8-99A7-97F2-A9AD-F2A91EA196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720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7110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1693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FE2FF9-FC1B-B652-947F-4A1E2267A3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801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991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199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A5A7B-4A9B-28B9-3EB8-A8DC5A9D4B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369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6970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87682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8BAE68-26A1-076A-A4BF-504FD80EE9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326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1608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285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5B004B-FB14-6A69-0133-A96AD23902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8381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1320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398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90A166-966C-AE86-CA14-FD83B91C4E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734430" name="Google Shape;51;gcb241b134e_0_0:notes"/>
          <p:cNvSpPr/>
          <p:nvPr>
            <p:ph type="sldImg" idx="2"/>
          </p:nvPr>
        </p:nvSpPr>
        <p:spPr bwMode="auto">
          <a:xfrm>
            <a:off x="381299" y="685800"/>
            <a:ext cx="6095999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928254" name="Google Shape;52;gcb241b134e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382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9446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3098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254DCC-B36A-4672-1B7F-051704134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13435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024275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388367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065623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51583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54379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078430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8161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39575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2035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746788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912325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47597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683522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71868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8746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870042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84084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41024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666640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882041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05680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84547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53200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219526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636375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19749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4612987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73304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0267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102693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605030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67122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74660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9378128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26337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975783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180614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06998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765052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522352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27383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819937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2407447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384835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40283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2945548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58225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89454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419494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92232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414542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41408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66720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1349320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81647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91191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5211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7487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130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26939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7795247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9374445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jpg"/><Relationship Id="rId4" Type="http://schemas.openxmlformats.org/officeDocument/2006/relationships/image" Target="../media/image19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impactotic.co/tecnologia/cloud/migracion-a-la-nube-subase-a-la-tendencia-del-momento/" TargetMode="Externa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8491938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6902" y="0"/>
            <a:ext cx="18254197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743650" name="Google Shape;55;p13"/>
          <p:cNvGraphicFramePr>
            <a:graphicFrameLocks xmlns:a="http://schemas.openxmlformats.org/drawingml/2006/main"/>
          </p:cNvGraphicFramePr>
          <p:nvPr/>
        </p:nvGraphicFramePr>
        <p:xfrm rot="0">
          <a:off x="12599499" y="1940049"/>
          <a:ext cx="3703275" cy="927039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1518199"/>
                <a:gridCol w="2172375"/>
              </a:tblGrid>
              <a:tr h="3224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63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88907764" name="Google Shape;89;g364afea4f63_0_0"/>
          <p:cNvSpPr/>
          <p:nvPr/>
        </p:nvSpPr>
        <p:spPr bwMode="auto">
          <a:xfrm>
            <a:off x="3598049" y="5988674"/>
            <a:ext cx="7364999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NOMBRE DEL TUTOR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90641445" name="Google Shape;90;g364afea4f63_0_0"/>
          <p:cNvSpPr/>
          <p:nvPr/>
        </p:nvSpPr>
        <p:spPr bwMode="auto">
          <a:xfrm>
            <a:off x="3090924" y="4781250"/>
            <a:ext cx="101421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/>
            </a:pPr>
            <a:r>
              <a:rPr lang="en-US" sz="3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NOMBRE DEL CURSO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540368" name="AutoShape 2"/>
          <p:cNvSpPr/>
          <p:nvPr/>
        </p:nvSpPr>
        <p:spPr bwMode="auto">
          <a:xfrm rot="0"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74198172" name="TextBox 5"/>
          <p:cNvSpPr txBox="1"/>
          <p:nvPr/>
        </p:nvSpPr>
        <p:spPr bwMode="auto">
          <a:xfrm rot="0">
            <a:off x="-163003" y="2226095"/>
            <a:ext cx="9525000" cy="236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19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MIGRACIÓN DE LA NUBE</a:t>
            </a:r>
            <a:endParaRPr/>
          </a:p>
        </p:txBody>
      </p:sp>
      <p:sp>
        <p:nvSpPr>
          <p:cNvPr id="132497161" name="TextBox 6"/>
          <p:cNvSpPr txBox="1"/>
          <p:nvPr/>
        </p:nvSpPr>
        <p:spPr bwMode="auto">
          <a:xfrm rot="0" flipH="0" flipV="0">
            <a:off x="1028700" y="4707356"/>
            <a:ext cx="6504442" cy="468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9"/>
              </a:lnSpc>
              <a:defRPr/>
            </a:pPr>
            <a:r>
              <a:rPr lang="en-US" sz="3600">
                <a:solidFill>
                  <a:srgbClr val="FFB400"/>
                </a:solidFill>
                <a:latin typeface="KG Primary Penmanship"/>
                <a:ea typeface="KG Primary Penmanship"/>
                <a:cs typeface="KG Primary Penmanship"/>
              </a:rPr>
              <a:t>Arquitectura de Computadores y Ensambladores 2</a:t>
            </a:r>
            <a:endParaRPr sz="3600"/>
          </a:p>
          <a:p>
            <a:pPr marL="0" lvl="0" indent="0" algn="ctr">
              <a:lnSpc>
                <a:spcPts val="4680"/>
              </a:lnSpc>
              <a:defRPr/>
            </a:pPr>
            <a:r>
              <a:rPr lang="en-US" sz="3600">
                <a:solidFill>
                  <a:srgbClr val="FFFFFF"/>
                </a:solidFill>
                <a:latin typeface="KG Primary Penmanship"/>
                <a:ea typeface="KG Primary Penmanship"/>
                <a:cs typeface="KG Primary Penmanship"/>
              </a:rPr>
              <a:t>Escuel</a:t>
            </a:r>
            <a:r>
              <a:rPr lang="en-US" sz="3600">
                <a:solidFill>
                  <a:srgbClr val="FFFFFF"/>
                </a:solidFill>
                <a:latin typeface="KG Primary Penmanship"/>
                <a:ea typeface="KG Primary Penmanship"/>
                <a:cs typeface="KG Primary Penmanship"/>
              </a:rPr>
              <a:t>a de Ingeniería de Ciencias Y Sistemas</a:t>
            </a:r>
            <a:endParaRPr sz="3600"/>
          </a:p>
          <a:p>
            <a:pPr marL="0" lvl="0" indent="0" algn="ctr">
              <a:lnSpc>
                <a:spcPts val="4680"/>
              </a:lnSpc>
              <a:defRPr/>
            </a:pPr>
            <a:r>
              <a:rPr lang="en-US" sz="3600">
                <a:solidFill>
                  <a:srgbClr val="FFFFFF"/>
                </a:solidFill>
                <a:latin typeface="KG Primary Penmanship"/>
                <a:ea typeface="KG Primary Penmanship"/>
                <a:cs typeface="KG Primary Penmanship"/>
              </a:rPr>
              <a:t>Facultad de Ingeniería</a:t>
            </a:r>
            <a:endParaRPr sz="3600"/>
          </a:p>
          <a:p>
            <a:pPr marL="0" lvl="0" indent="0" algn="ctr">
              <a:lnSpc>
                <a:spcPts val="4680"/>
              </a:lnSpc>
              <a:defRPr/>
            </a:pPr>
            <a:r>
              <a:rPr lang="en-US" sz="3600">
                <a:solidFill>
                  <a:srgbClr val="FFFFFF"/>
                </a:solidFill>
                <a:latin typeface="KG Primary Penmanship"/>
                <a:ea typeface="KG Primary Penmanship"/>
                <a:cs typeface="KG Primary Penmanship"/>
              </a:rPr>
              <a:t>Universidad de San Carlos de Guatemala</a:t>
            </a:r>
            <a:endParaRPr sz="3600"/>
          </a:p>
        </p:txBody>
      </p:sp>
      <p:pic>
        <p:nvPicPr>
          <p:cNvPr id="75562850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486900" y="2705099"/>
            <a:ext cx="8340498" cy="4686300"/>
          </a:xfrm>
          <a:prstGeom prst="rect">
            <a:avLst/>
          </a:prstGeom>
        </p:spPr>
      </p:pic>
      <p:pic>
        <p:nvPicPr>
          <p:cNvPr id="1593283173" name="Google Shape;102;p1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 flipH="0" flipV="0">
            <a:off x="9964524" y="0"/>
            <a:ext cx="8323474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11928628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56003439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2162269" name="TextBox 6"/>
          <p:cNvSpPr txBox="1"/>
          <p:nvPr/>
        </p:nvSpPr>
        <p:spPr bwMode="auto">
          <a:xfrm rot="0">
            <a:off x="4857750" y="1500708"/>
            <a:ext cx="8572500" cy="135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COMPETENCIA</a:t>
            </a:r>
            <a:endParaRPr/>
          </a:p>
        </p:txBody>
      </p:sp>
      <p:grpSp>
        <p:nvGrpSpPr>
          <p:cNvPr id="1808487206" name="Group 7"/>
          <p:cNvGrpSpPr/>
          <p:nvPr/>
        </p:nvGrpSpPr>
        <p:grpSpPr bwMode="auto">
          <a:xfrm rot="0">
            <a:off x="2000250" y="3193674"/>
            <a:ext cx="14288940" cy="5919787"/>
            <a:chOff x="0" y="0"/>
            <a:chExt cx="14288940" cy="5919787"/>
          </a:xfrm>
        </p:grpSpPr>
        <p:sp>
          <p:nvSpPr>
            <p:cNvPr id="8" name="TextBox 8"/>
            <p:cNvSpPr txBox="1"/>
            <p:nvPr/>
          </p:nvSpPr>
          <p:spPr bwMode="auto">
            <a:xfrm rot="0">
              <a:off x="5715000" y="0"/>
              <a:ext cx="8573939" cy="48009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5400"/>
                </a:lnSpc>
                <a:defRPr/>
              </a:pPr>
              <a:r>
                <a:rPr sz="480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Relaciona las actividades de proyectos con las capas del stack IoT mediante esquemas, prácticas guiadas y documentación técnica en contextos de diseño modular y conectividad escalable </a:t>
              </a:r>
              <a:endParaRPr sz="4800"/>
            </a:p>
          </p:txBody>
        </p:sp>
        <p:sp>
          <p:nvSpPr>
            <p:cNvPr id="9" name="Freeform 9"/>
            <p:cNvSpPr/>
            <p:nvPr/>
          </p:nvSpPr>
          <p:spPr bwMode="auto">
            <a:xfrm rot="0" flipH="0" flipV="0">
              <a:off x="0" y="204787"/>
              <a:ext cx="5715000" cy="5714999"/>
            </a:xfrm>
            <a:custGeom>
              <a:avLst/>
              <a:gdLst/>
              <a:ahLst/>
              <a:cxnLst/>
              <a:rect l="l" t="t" r="r" b="b"/>
              <a:pathLst>
                <a:path w="7620000" h="7620000" fill="norm" stroke="1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07750710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40436631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0291864" name="TextBox 6"/>
          <p:cNvSpPr txBox="1"/>
          <p:nvPr/>
        </p:nvSpPr>
        <p:spPr bwMode="auto">
          <a:xfrm rot="0">
            <a:off x="6286500" y="1500708"/>
            <a:ext cx="5715000" cy="135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AGENDA</a:t>
            </a:r>
            <a:endParaRPr/>
          </a:p>
        </p:txBody>
      </p:sp>
      <p:grpSp>
        <p:nvGrpSpPr>
          <p:cNvPr id="799005" name="Group 7"/>
          <p:cNvGrpSpPr/>
          <p:nvPr/>
        </p:nvGrpSpPr>
        <p:grpSpPr bwMode="auto">
          <a:xfrm rot="0" flipH="0" flipV="0">
            <a:off x="1172764" y="3207961"/>
            <a:ext cx="16132968" cy="5916987"/>
            <a:chOff x="0" y="0"/>
            <a:chExt cx="16132968" cy="5916987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10417968" y="0"/>
              <a:ext cx="5715000" cy="5916987"/>
            </a:xfrm>
            <a:custGeom>
              <a:avLst/>
              <a:gdLst/>
              <a:ahLst/>
              <a:cxnLst/>
              <a:rect l="l" t="t" r="r" b="b"/>
              <a:pathLst>
                <a:path w="7620000" h="7620000" fill="norm" stroke="1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" name="TextBox 9"/>
            <p:cNvSpPr txBox="1"/>
            <p:nvPr/>
          </p:nvSpPr>
          <p:spPr bwMode="auto">
            <a:xfrm rot="0" flipH="0" flipV="0">
              <a:off x="0" y="710038"/>
              <a:ext cx="10091063" cy="51210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1036322" lvl="1" indent="-518161" algn="l">
                <a:lnSpc>
                  <a:spcPts val="5760"/>
                </a:lnSpc>
                <a:buFont typeface="Arial"/>
                <a:buChar char="•"/>
                <a:defRPr/>
              </a:pPr>
              <a:r>
                <a:rPr lang="en-US" sz="2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☁️ Conceptos Básicos de la Nube</a:t>
              </a:r>
              <a:endParaRPr sz="2600"/>
            </a:p>
            <a:p>
              <a:pPr marL="1036322" lvl="1" indent="-518161" algn="l">
                <a:lnSpc>
                  <a:spcPts val="5760"/>
                </a:lnSpc>
                <a:buFont typeface="Arial"/>
                <a:buChar char="•"/>
                <a:defRPr/>
              </a:pPr>
              <a:r>
                <a:rPr lang="en-US" sz="2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🚀 Estrategias de Migración a la Nube</a:t>
              </a:r>
              <a:endParaRPr sz="2600"/>
            </a:p>
            <a:p>
              <a:pPr marL="1036322" lvl="1" indent="-518161" algn="l">
                <a:lnSpc>
                  <a:spcPts val="5760"/>
                </a:lnSpc>
                <a:buFont typeface="Arial"/>
                <a:buChar char="•"/>
                <a:defRPr/>
              </a:pPr>
              <a:r>
                <a:rPr lang="en-US" sz="2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🧮 Evaluación de la Infraestructura Actual</a:t>
              </a:r>
              <a:endParaRPr sz="2600"/>
            </a:p>
            <a:p>
              <a:pPr marL="1036322" lvl="1" indent="-518161" algn="l">
                <a:lnSpc>
                  <a:spcPts val="5760"/>
                </a:lnSpc>
                <a:buFont typeface="Arial"/>
                <a:buChar char="•"/>
                <a:defRPr/>
              </a:pPr>
              <a:r>
                <a:rPr lang="en-US" sz="2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🏢 Selección de Proveedores</a:t>
              </a:r>
              <a:endParaRPr sz="2600"/>
            </a:p>
            <a:p>
              <a:pPr marL="1036322" lvl="1" indent="-518161" algn="l">
                <a:lnSpc>
                  <a:spcPts val="5760"/>
                </a:lnSpc>
                <a:buFont typeface="Arial"/>
                <a:buChar char="•"/>
                <a:defRPr/>
              </a:pPr>
              <a:r>
                <a:rPr lang="en-US" sz="2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🔐 Seguridad en la Migración</a:t>
              </a:r>
              <a:endParaRPr sz="2600"/>
            </a:p>
            <a:p>
              <a:pPr marL="1036322" lvl="1" indent="-518161" algn="l">
                <a:lnSpc>
                  <a:spcPts val="5760"/>
                </a:lnSpc>
                <a:buFont typeface="Arial"/>
                <a:buChar char="•"/>
                <a:defRPr/>
              </a:pPr>
              <a:r>
                <a:rPr lang="en-US" sz="2600">
                  <a:solidFill>
                    <a:srgbClr val="000000"/>
                  </a:solidFill>
                  <a:latin typeface="KG Primary Penmanship"/>
                  <a:ea typeface="KG Primary Penmanship"/>
                  <a:cs typeface="KG Primary Penmanship"/>
                </a:rPr>
                <a:t>🤖 Automatización de la Migración</a:t>
              </a:r>
              <a:endParaRPr lang="en-US" sz="26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endParaRPr>
            </a:p>
            <a:p>
              <a:pPr marL="1036320" lvl="1" indent="-518160" algn="l">
                <a:lnSpc>
                  <a:spcPts val="5759"/>
                </a:lnSpc>
                <a:buFont typeface="Arial"/>
                <a:buChar char="•"/>
                <a:defRPr/>
              </a:pPr>
              <a:endParaRPr sz="2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7989707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17737378" name="AutoShape 5"/>
          <p:cNvSpPr/>
          <p:nvPr/>
        </p:nvSpPr>
        <p:spPr bwMode="auto">
          <a:xfrm>
            <a:off x="1028700" y="3590889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70632366" name="TextBox 6"/>
          <p:cNvSpPr txBox="1"/>
          <p:nvPr/>
        </p:nvSpPr>
        <p:spPr bwMode="auto">
          <a:xfrm rot="0">
            <a:off x="1705159" y="847725"/>
            <a:ext cx="15118803" cy="247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CONCEPTOS BÁSICOS DE LA NUBE</a:t>
            </a:r>
            <a:endParaRPr/>
          </a:p>
        </p:txBody>
      </p:sp>
      <p:sp>
        <p:nvSpPr>
          <p:cNvPr id="1532027813" name="TextBox 7"/>
          <p:cNvSpPr txBox="1"/>
          <p:nvPr/>
        </p:nvSpPr>
        <p:spPr bwMode="auto">
          <a:xfrm rot="0">
            <a:off x="2000250" y="3838538"/>
            <a:ext cx="14287500" cy="176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8"/>
              </a:lnSpc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Computación en la nube (Cloud Computing) significa usar recursos (como servidores, bases de datos o almacenamiento) a través de Internet, en lugar de depender del hardware local.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1475352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36833875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73147504" name="Freeform 6"/>
          <p:cNvSpPr/>
          <p:nvPr/>
        </p:nvSpPr>
        <p:spPr bwMode="auto">
          <a:xfrm rot="0" flipH="0" flipV="0">
            <a:off x="5100638" y="4701074"/>
            <a:ext cx="7954486" cy="4378051"/>
          </a:xfrm>
          <a:custGeom>
            <a:avLst/>
            <a:gdLst/>
            <a:ahLst/>
            <a:cxnLst/>
            <a:rect l="l" t="t" r="r" b="b"/>
            <a:pathLst>
              <a:path w="7954486" h="4378051" fill="norm" stroke="1" extrusionOk="0">
                <a:moveTo>
                  <a:pt x="0" y="0"/>
                </a:moveTo>
                <a:lnTo>
                  <a:pt x="7954486" y="0"/>
                </a:lnTo>
                <a:lnTo>
                  <a:pt x="7954486" y="4378051"/>
                </a:lnTo>
                <a:lnTo>
                  <a:pt x="0" y="4378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296933886" name="TextBox 7"/>
          <p:cNvSpPr txBox="1"/>
          <p:nvPr/>
        </p:nvSpPr>
        <p:spPr bwMode="auto">
          <a:xfrm rot="0">
            <a:off x="5100638" y="1652212"/>
            <a:ext cx="8086725" cy="124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TIPOS DE NUBE:</a:t>
            </a:r>
            <a:endParaRPr/>
          </a:p>
        </p:txBody>
      </p:sp>
      <p:sp>
        <p:nvSpPr>
          <p:cNvPr id="1311995412" name="TextBox 8"/>
          <p:cNvSpPr txBox="1"/>
          <p:nvPr/>
        </p:nvSpPr>
        <p:spPr bwMode="auto">
          <a:xfrm rot="0">
            <a:off x="2000250" y="3007937"/>
            <a:ext cx="14287500" cy="176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Pública: recursos compartidos (AWS, Azure, GCP).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Privada: infraestructura exclusiva de una empresa.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Híbrida: mezcla de ambas.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0966031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35646336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6819669" name="Freeform 6"/>
          <p:cNvSpPr/>
          <p:nvPr/>
        </p:nvSpPr>
        <p:spPr bwMode="auto">
          <a:xfrm rot="0" flipH="0" flipV="0">
            <a:off x="5710272" y="4871712"/>
            <a:ext cx="6867456" cy="4386588"/>
          </a:xfrm>
          <a:custGeom>
            <a:avLst/>
            <a:gdLst/>
            <a:ahLst/>
            <a:cxnLst/>
            <a:rect l="l" t="t" r="r" b="b"/>
            <a:pathLst>
              <a:path w="6867456" h="4386588" fill="norm" stroke="1" extrusionOk="0">
                <a:moveTo>
                  <a:pt x="0" y="0"/>
                </a:moveTo>
                <a:lnTo>
                  <a:pt x="6867456" y="0"/>
                </a:lnTo>
                <a:lnTo>
                  <a:pt x="6867456" y="4386588"/>
                </a:lnTo>
                <a:lnTo>
                  <a:pt x="0" y="4386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357933158" name="TextBox 7"/>
          <p:cNvSpPr txBox="1"/>
          <p:nvPr/>
        </p:nvSpPr>
        <p:spPr bwMode="auto">
          <a:xfrm rot="0">
            <a:off x="3081338" y="1652212"/>
            <a:ext cx="12125325" cy="124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MODELOS DE SERVICIO:</a:t>
            </a:r>
            <a:endParaRPr/>
          </a:p>
        </p:txBody>
      </p:sp>
      <p:sp>
        <p:nvSpPr>
          <p:cNvPr id="384212642" name="TextBox 8"/>
          <p:cNvSpPr txBox="1"/>
          <p:nvPr/>
        </p:nvSpPr>
        <p:spPr bwMode="auto">
          <a:xfrm rot="0">
            <a:off x="2000250" y="3007937"/>
            <a:ext cx="14287500" cy="235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IaaS: Infraestructura (máquinas virtuales, redes).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PaaS: Plataforma (entornos listos para desarrollar).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SaaS: Software (aplicaciones listas para usar).</a:t>
            </a:r>
            <a:endParaRPr/>
          </a:p>
          <a:p>
            <a:pPr algn="l">
              <a:lnSpc>
                <a:spcPts val="465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15358659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295240522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26976479" name="Freeform 6"/>
          <p:cNvSpPr/>
          <p:nvPr/>
        </p:nvSpPr>
        <p:spPr bwMode="auto">
          <a:xfrm rot="0" flipH="0" flipV="0">
            <a:off x="6628006" y="5492147"/>
            <a:ext cx="5358720" cy="3567377"/>
          </a:xfrm>
          <a:custGeom>
            <a:avLst/>
            <a:gdLst/>
            <a:ahLst/>
            <a:cxnLst/>
            <a:rect l="l" t="t" r="r" b="b"/>
            <a:pathLst>
              <a:path w="5358720" h="3567377" fill="norm" stroke="1" extrusionOk="0">
                <a:moveTo>
                  <a:pt x="0" y="0"/>
                </a:moveTo>
                <a:lnTo>
                  <a:pt x="5358720" y="0"/>
                </a:lnTo>
                <a:lnTo>
                  <a:pt x="5358720" y="3567377"/>
                </a:lnTo>
                <a:lnTo>
                  <a:pt x="0" y="3567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794240472" name="TextBox 7"/>
          <p:cNvSpPr txBox="1"/>
          <p:nvPr/>
        </p:nvSpPr>
        <p:spPr bwMode="auto">
          <a:xfrm rot="0">
            <a:off x="2890838" y="1652212"/>
            <a:ext cx="12506325" cy="124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BENEFICIOS DE LA NUBE</a:t>
            </a:r>
            <a:endParaRPr/>
          </a:p>
        </p:txBody>
      </p:sp>
      <p:sp>
        <p:nvSpPr>
          <p:cNvPr id="1558730925" name="TextBox 8"/>
          <p:cNvSpPr txBox="1"/>
          <p:nvPr/>
        </p:nvSpPr>
        <p:spPr bwMode="auto">
          <a:xfrm rot="0">
            <a:off x="2000250" y="3007937"/>
            <a:ext cx="14287500" cy="235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Escalabilidad (aumentar o reducir recursos según demanda).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Ahorro de costos (pagas solo lo que usas).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Acceso global y remoto.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Respaldo automático y alta disponibilidad.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14303172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170072963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88637652" name="Freeform 6"/>
          <p:cNvSpPr/>
          <p:nvPr/>
        </p:nvSpPr>
        <p:spPr bwMode="auto">
          <a:xfrm rot="0" flipH="0" flipV="0">
            <a:off x="5693337" y="6334030"/>
            <a:ext cx="6618849" cy="2755096"/>
          </a:xfrm>
          <a:custGeom>
            <a:avLst/>
            <a:gdLst/>
            <a:ahLst/>
            <a:cxnLst/>
            <a:rect l="l" t="t" r="r" b="b"/>
            <a:pathLst>
              <a:path w="6618849" h="2755096" fill="norm" stroke="1" extrusionOk="0">
                <a:moveTo>
                  <a:pt x="0" y="0"/>
                </a:moveTo>
                <a:lnTo>
                  <a:pt x="6618849" y="0"/>
                </a:lnTo>
                <a:lnTo>
                  <a:pt x="6618849" y="2755096"/>
                </a:lnTo>
                <a:lnTo>
                  <a:pt x="0" y="2755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748027435" name="TextBox 7"/>
          <p:cNvSpPr txBox="1"/>
          <p:nvPr/>
        </p:nvSpPr>
        <p:spPr bwMode="auto">
          <a:xfrm rot="0">
            <a:off x="1028700" y="860471"/>
            <a:ext cx="15948123" cy="2166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6"/>
              </a:lnSpc>
              <a:defRPr/>
            </a:pPr>
            <a:r>
              <a:rPr lang="en-US" sz="61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EVALUACIÓN DE LA INFRAESTRUCTURA ACTUAL</a:t>
            </a:r>
            <a:endParaRPr/>
          </a:p>
        </p:txBody>
      </p:sp>
      <p:sp>
        <p:nvSpPr>
          <p:cNvPr id="1165218773" name="TextBox 8"/>
          <p:cNvSpPr txBox="1"/>
          <p:nvPr/>
        </p:nvSpPr>
        <p:spPr bwMode="auto">
          <a:xfrm rot="0">
            <a:off x="2000250" y="3007937"/>
            <a:ext cx="14287500" cy="293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8"/>
              </a:lnSpc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Antes de migrar, se analiza: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Aplicaciones actuales: ¿son compatibles con la nube?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Dependencias: bases de datos, librerías, hardware.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Requerimientos de rendimiento y seguridad.</a:t>
            </a:r>
            <a:endParaRPr/>
          </a:p>
          <a:p>
            <a:pPr algn="l">
              <a:lnSpc>
                <a:spcPts val="4658"/>
              </a:lnSpc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Esta evaluación determina qué se puede mover y qué necesita rediseño.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2534432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01614515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726936392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3019560" y="3994936"/>
          <a:ext cx="12320298" cy="5315942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6124329"/>
                <a:gridCol w="6195969"/>
              </a:tblGrid>
              <a:tr h="757907"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Estrategia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Descripción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</a:tr>
              <a:tr h="757907"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Rehost (Lift and Shift)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Mover sin cambiar nada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</a:tr>
              <a:tr h="757907"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Replatform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Hacer pequeños ajustes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</a:tr>
              <a:tr h="768500"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Repurchase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Sustituir por un servicio SaaS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</a:tr>
              <a:tr h="757907"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Refactor/Re-architect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Rediseñar completamente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</a:tr>
              <a:tr h="757907"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Retire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Eliminar sistemas obsoletos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</a:tr>
              <a:tr h="757907"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Retain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TC Motter Corpus Regular"/>
                          <a:ea typeface="ITC Motter Corpus Regular"/>
                          <a:cs typeface="ITC Motter Corpus Regular"/>
                        </a:rPr>
                        <a:t>Mantener en local temporalmente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algn="ctr">
                      <a:solidFill>
                        <a:srgbClr val="000000"/>
                      </a:solidFill>
                    </a:lnL>
                    <a:lnR w="38100" algn="ctr">
                      <a:solidFill>
                        <a:srgbClr val="000000"/>
                      </a:solidFill>
                    </a:lnR>
                    <a:lnT w="38100" algn="ctr">
                      <a:solidFill>
                        <a:srgbClr val="000000"/>
                      </a:solidFill>
                    </a:lnT>
                    <a:lnB w="381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50801733" name="TextBox 7"/>
          <p:cNvSpPr txBox="1"/>
          <p:nvPr/>
        </p:nvSpPr>
        <p:spPr bwMode="auto">
          <a:xfrm rot="0">
            <a:off x="2337006" y="604707"/>
            <a:ext cx="12909176" cy="247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ESTRATEGIAS DE MIGRACIÓN A LA NUBE</a:t>
            </a:r>
            <a:endParaRPr/>
          </a:p>
        </p:txBody>
      </p:sp>
      <p:sp>
        <p:nvSpPr>
          <p:cNvPr id="909373921" name="TextBox 8"/>
          <p:cNvSpPr txBox="1"/>
          <p:nvPr/>
        </p:nvSpPr>
        <p:spPr bwMode="auto">
          <a:xfrm rot="0">
            <a:off x="2000250" y="3007937"/>
            <a:ext cx="14287500" cy="602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8"/>
              </a:lnSpc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Existen 6 estrategias principales conocidas como las “6 R’s”: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80901202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50968352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57227482" name="Freeform 6"/>
          <p:cNvSpPr/>
          <p:nvPr/>
        </p:nvSpPr>
        <p:spPr bwMode="auto">
          <a:xfrm rot="0" flipH="0" flipV="0">
            <a:off x="4672935" y="3327399"/>
            <a:ext cx="9711763" cy="5262666"/>
          </a:xfrm>
          <a:custGeom>
            <a:avLst/>
            <a:gdLst/>
            <a:ahLst/>
            <a:cxnLst/>
            <a:rect l="l" t="t" r="r" b="b"/>
            <a:pathLst>
              <a:path w="8942128" h="5029947" fill="norm" stroke="1" extrusionOk="0">
                <a:moveTo>
                  <a:pt x="0" y="0"/>
                </a:moveTo>
                <a:lnTo>
                  <a:pt x="8942128" y="0"/>
                </a:lnTo>
                <a:lnTo>
                  <a:pt x="8942128" y="5029947"/>
                </a:lnTo>
                <a:lnTo>
                  <a:pt x="0" y="5029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654000123" name="TextBox 7"/>
          <p:cNvSpPr txBox="1"/>
          <p:nvPr/>
        </p:nvSpPr>
        <p:spPr bwMode="auto">
          <a:xfrm rot="0" flipH="0" flipV="0">
            <a:off x="3007502" y="752474"/>
            <a:ext cx="12272994" cy="24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ESTRATEGIAS DE MIGRACIÓN A LA NUBE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67303853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912374502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94984563" name="Freeform 6"/>
          <p:cNvSpPr/>
          <p:nvPr/>
        </p:nvSpPr>
        <p:spPr bwMode="auto">
          <a:xfrm rot="0" flipH="0" flipV="0">
            <a:off x="5277211" y="5941750"/>
            <a:ext cx="7733577" cy="3335105"/>
          </a:xfrm>
          <a:custGeom>
            <a:avLst/>
            <a:gdLst/>
            <a:ahLst/>
            <a:cxnLst/>
            <a:rect l="l" t="t" r="r" b="b"/>
            <a:pathLst>
              <a:path w="7733577" h="3335105" fill="norm" stroke="1" extrusionOk="0">
                <a:moveTo>
                  <a:pt x="0" y="0"/>
                </a:moveTo>
                <a:lnTo>
                  <a:pt x="7733578" y="0"/>
                </a:lnTo>
                <a:lnTo>
                  <a:pt x="7733578" y="3335105"/>
                </a:lnTo>
                <a:lnTo>
                  <a:pt x="0" y="3335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2019850201" name="TextBox 7"/>
          <p:cNvSpPr txBox="1"/>
          <p:nvPr/>
        </p:nvSpPr>
        <p:spPr bwMode="auto">
          <a:xfrm rot="0">
            <a:off x="1433512" y="1652212"/>
            <a:ext cx="15420975" cy="124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SELECCIÓN DE PROVEEDORES</a:t>
            </a:r>
            <a:endParaRPr/>
          </a:p>
        </p:txBody>
      </p:sp>
      <p:sp>
        <p:nvSpPr>
          <p:cNvPr id="625394453" name="TextBox 8"/>
          <p:cNvSpPr txBox="1"/>
          <p:nvPr/>
        </p:nvSpPr>
        <p:spPr bwMode="auto">
          <a:xfrm rot="0">
            <a:off x="2000250" y="3007937"/>
            <a:ext cx="14287500" cy="293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8"/>
              </a:lnSpc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Los proveedores más conocidos son: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Amazon Web Services (AWS)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Microsoft Azure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Google Cloud Platform (GCP)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Oracle Cloud / IBM Cloud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0587375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574341990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67451498" name="TextBox 6"/>
          <p:cNvSpPr txBox="1"/>
          <p:nvPr/>
        </p:nvSpPr>
        <p:spPr bwMode="auto">
          <a:xfrm rot="0">
            <a:off x="1433512" y="1652212"/>
            <a:ext cx="15420975" cy="124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SELECCIÓN DE PROVEEDORES</a:t>
            </a:r>
            <a:endParaRPr/>
          </a:p>
        </p:txBody>
      </p:sp>
      <p:sp>
        <p:nvSpPr>
          <p:cNvPr id="618945523" name="TextBox 7"/>
          <p:cNvSpPr txBox="1"/>
          <p:nvPr/>
        </p:nvSpPr>
        <p:spPr bwMode="auto">
          <a:xfrm rot="0">
            <a:off x="2000250" y="3007937"/>
            <a:ext cx="14287500" cy="4099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8"/>
              </a:lnSpc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Criterios para elegir: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Costo y facturación.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Regiones disponibles.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Integraciones y soporte.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Certificaciones de seguridad.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Compatibilidad con tus herramientas actuales.</a:t>
            </a:r>
            <a:endParaRPr/>
          </a:p>
          <a:p>
            <a:pPr algn="l">
              <a:lnSpc>
                <a:spcPts val="465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63811551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43000115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80388906" name="Freeform 6"/>
          <p:cNvSpPr/>
          <p:nvPr/>
        </p:nvSpPr>
        <p:spPr bwMode="auto">
          <a:xfrm rot="0" flipH="0" flipV="0">
            <a:off x="10226174" y="4054548"/>
            <a:ext cx="6166472" cy="3468641"/>
          </a:xfrm>
          <a:custGeom>
            <a:avLst/>
            <a:gdLst/>
            <a:ahLst/>
            <a:cxnLst/>
            <a:rect l="l" t="t" r="r" b="b"/>
            <a:pathLst>
              <a:path w="6166472" h="3468641" fill="norm" stroke="1" extrusionOk="0">
                <a:moveTo>
                  <a:pt x="0" y="0"/>
                </a:moveTo>
                <a:lnTo>
                  <a:pt x="6166472" y="0"/>
                </a:lnTo>
                <a:lnTo>
                  <a:pt x="6166472" y="3468641"/>
                </a:lnTo>
                <a:lnTo>
                  <a:pt x="0" y="3468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579858814" name="TextBox 7"/>
          <p:cNvSpPr txBox="1"/>
          <p:nvPr/>
        </p:nvSpPr>
        <p:spPr bwMode="auto">
          <a:xfrm rot="0">
            <a:off x="1285875" y="1652212"/>
            <a:ext cx="15716250" cy="124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SEGURIDAD EN LA MIGRACIÓN</a:t>
            </a:r>
            <a:endParaRPr/>
          </a:p>
        </p:txBody>
      </p:sp>
      <p:sp>
        <p:nvSpPr>
          <p:cNvPr id="1950088472" name="TextBox 8"/>
          <p:cNvSpPr txBox="1"/>
          <p:nvPr/>
        </p:nvSpPr>
        <p:spPr bwMode="auto">
          <a:xfrm rot="0">
            <a:off x="1285875" y="3379392"/>
            <a:ext cx="8626041" cy="5978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9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La seguridad debe estar presente desde el primer día:</a:t>
            </a:r>
            <a:endParaRPr sz="3000"/>
          </a:p>
          <a:p>
            <a:pPr marL="769871" lvl="1" indent="-384936" algn="l">
              <a:lnSpc>
                <a:spcPts val="427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Cifrado de datos: tanto en tránsito como en reposo.</a:t>
            </a:r>
            <a:endParaRPr sz="3000"/>
          </a:p>
          <a:p>
            <a:pPr marL="769871" lvl="1" indent="-384936" algn="l">
              <a:lnSpc>
                <a:spcPts val="427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Control de accesos: usar IAM, roles y políticas.</a:t>
            </a:r>
            <a:endParaRPr sz="3000"/>
          </a:p>
          <a:p>
            <a:pPr marL="769871" lvl="1" indent="-384936" algn="l">
              <a:lnSpc>
                <a:spcPts val="427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Auditorías y monitoreo.</a:t>
            </a:r>
            <a:endParaRPr sz="3000"/>
          </a:p>
          <a:p>
            <a:pPr marL="769871" lvl="1" indent="-384936" algn="l">
              <a:lnSpc>
                <a:spcPts val="427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Backups automáticos.</a:t>
            </a:r>
            <a:endParaRPr sz="3000"/>
          </a:p>
          <a:p>
            <a:pPr algn="l">
              <a:lnSpc>
                <a:spcPts val="4279"/>
              </a:lnSpc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En la nube, la seguridad es compartida:</a:t>
            </a:r>
            <a:endParaRPr sz="3000"/>
          </a:p>
          <a:p>
            <a:pPr marL="769871" lvl="1" indent="-384936" algn="l">
              <a:lnSpc>
                <a:spcPts val="427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El proveedor protege la infraestructura.</a:t>
            </a:r>
            <a:endParaRPr sz="3000"/>
          </a:p>
          <a:p>
            <a:pPr marL="769871" lvl="1" indent="-384936" algn="l">
              <a:lnSpc>
                <a:spcPts val="4279"/>
              </a:lnSpc>
              <a:buFont typeface="Arial"/>
              <a:buChar char="•"/>
              <a:defRPr/>
            </a:pPr>
            <a:r>
              <a:rPr lang="en-US" sz="30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El usuario protege sus aplicaciones y datos.</a:t>
            </a:r>
            <a:endParaRPr sz="3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64509504" name="Group 2"/>
          <p:cNvGrpSpPr/>
          <p:nvPr/>
        </p:nvGrpSpPr>
        <p:grpSpPr bwMode="auto">
          <a:xfrm rot="0">
            <a:off x="750695" y="919031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11354777" name="AutoShape 5"/>
          <p:cNvSpPr/>
          <p:nvPr/>
        </p:nvSpPr>
        <p:spPr bwMode="auto">
          <a:xfrm>
            <a:off x="1028700" y="4243133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33111214" name="Freeform 6"/>
          <p:cNvSpPr/>
          <p:nvPr/>
        </p:nvSpPr>
        <p:spPr bwMode="auto">
          <a:xfrm rot="0" flipH="0" flipV="0">
            <a:off x="9555758" y="4670174"/>
            <a:ext cx="7163678" cy="3499968"/>
          </a:xfrm>
          <a:custGeom>
            <a:avLst/>
            <a:gdLst/>
            <a:ahLst/>
            <a:cxnLst/>
            <a:rect l="l" t="t" r="r" b="b"/>
            <a:pathLst>
              <a:path w="7163678" h="3499968" fill="norm" stroke="1" extrusionOk="0">
                <a:moveTo>
                  <a:pt x="0" y="0"/>
                </a:moveTo>
                <a:lnTo>
                  <a:pt x="7163678" y="0"/>
                </a:lnTo>
                <a:lnTo>
                  <a:pt x="7163678" y="3499968"/>
                </a:lnTo>
                <a:lnTo>
                  <a:pt x="0" y="3499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203066554" name="TextBox 7"/>
          <p:cNvSpPr txBox="1"/>
          <p:nvPr/>
        </p:nvSpPr>
        <p:spPr bwMode="auto">
          <a:xfrm rot="0">
            <a:off x="2234994" y="847725"/>
            <a:ext cx="13818012" cy="247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AUTOMATIZACIÓN DE LA MIGRACIÓN</a:t>
            </a:r>
            <a:endParaRPr/>
          </a:p>
        </p:txBody>
      </p:sp>
      <p:sp>
        <p:nvSpPr>
          <p:cNvPr id="2100661101" name="TextBox 8"/>
          <p:cNvSpPr txBox="1"/>
          <p:nvPr/>
        </p:nvSpPr>
        <p:spPr bwMode="auto">
          <a:xfrm rot="0">
            <a:off x="1184152" y="4111773"/>
            <a:ext cx="8089913" cy="600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  <a:defRPr/>
            </a:pPr>
            <a:r>
              <a:rPr lang="en-US" sz="28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La automatización permite mover servicios a la nube sin intervención manual, reduciendo errores y tiempos.</a:t>
            </a:r>
            <a:endParaRPr sz="2800"/>
          </a:p>
          <a:p>
            <a:pPr algn="l">
              <a:lnSpc>
                <a:spcPts val="3937"/>
              </a:lnSpc>
              <a:defRPr/>
            </a:pPr>
            <a:r>
              <a:rPr lang="en-US" sz="28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Herramientas comunes:</a:t>
            </a:r>
            <a:endParaRPr sz="2800"/>
          </a:p>
          <a:p>
            <a:pPr marL="708504" lvl="1" indent="-354252" algn="l">
              <a:lnSpc>
                <a:spcPts val="3937"/>
              </a:lnSpc>
              <a:buFont typeface="Arial"/>
              <a:buChar char="•"/>
              <a:defRPr/>
            </a:pPr>
            <a:r>
              <a:rPr lang="en-US" sz="28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Terraform (infraestructura como código)</a:t>
            </a:r>
            <a:endParaRPr sz="2800"/>
          </a:p>
          <a:p>
            <a:pPr marL="708504" lvl="1" indent="-354252" algn="l">
              <a:lnSpc>
                <a:spcPts val="3937"/>
              </a:lnSpc>
              <a:buFont typeface="Arial"/>
              <a:buChar char="•"/>
              <a:defRPr/>
            </a:pPr>
            <a:r>
              <a:rPr lang="en-US" sz="28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Ansible (configuración de servidores)</a:t>
            </a:r>
            <a:endParaRPr sz="2800"/>
          </a:p>
          <a:p>
            <a:pPr marL="708504" lvl="1" indent="-354252" algn="l">
              <a:lnSpc>
                <a:spcPts val="3937"/>
              </a:lnSpc>
              <a:buFont typeface="Arial"/>
              <a:buChar char="•"/>
              <a:defRPr/>
            </a:pPr>
            <a:r>
              <a:rPr lang="en-US" sz="28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AWS Migration Hub</a:t>
            </a:r>
            <a:endParaRPr sz="2800"/>
          </a:p>
          <a:p>
            <a:pPr marL="708504" lvl="1" indent="-354252" algn="l">
              <a:lnSpc>
                <a:spcPts val="3937"/>
              </a:lnSpc>
              <a:buFont typeface="Arial"/>
              <a:buChar char="•"/>
              <a:defRPr/>
            </a:pPr>
            <a:r>
              <a:rPr lang="en-US" sz="28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Azure Migrate</a:t>
            </a:r>
            <a:endParaRPr sz="2800"/>
          </a:p>
          <a:p>
            <a:pPr algn="l">
              <a:lnSpc>
                <a:spcPts val="3937"/>
              </a:lnSpc>
              <a:defRPr/>
            </a:pPr>
            <a:r>
              <a:rPr lang="en-US" sz="28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Ejemplo: usar Terraform para crear automáticamente máquinas virtuales y bases de datos en la nube.</a:t>
            </a:r>
            <a:endParaRPr sz="2800"/>
          </a:p>
          <a:p>
            <a:pPr algn="l">
              <a:lnSpc>
                <a:spcPts val="3937"/>
              </a:lnSpc>
              <a:defRPr/>
            </a:pP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35411336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52504788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1076538" name="TextBox 6"/>
          <p:cNvSpPr txBox="1"/>
          <p:nvPr/>
        </p:nvSpPr>
        <p:spPr bwMode="auto">
          <a:xfrm rot="0">
            <a:off x="2705100" y="1652212"/>
            <a:ext cx="12877799" cy="124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defRPr/>
            </a:pPr>
            <a:r>
              <a:rPr lang="en-US" sz="7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RETOS DE LA MIGRACIÓN</a:t>
            </a:r>
            <a:endParaRPr/>
          </a:p>
        </p:txBody>
      </p:sp>
      <p:sp>
        <p:nvSpPr>
          <p:cNvPr id="1787390427" name="TextBox 7"/>
          <p:cNvSpPr txBox="1"/>
          <p:nvPr/>
        </p:nvSpPr>
        <p:spPr bwMode="auto">
          <a:xfrm rot="0">
            <a:off x="2000250" y="3007937"/>
            <a:ext cx="14287500" cy="3516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Latencia o dependencia de conexión a Internet.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Costos imprevistos.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Falta de personal capacitado.</a:t>
            </a:r>
            <a:endParaRPr/>
          </a:p>
          <a:p>
            <a:pPr marL="838188" lvl="1" indent="-419094" algn="l">
              <a:lnSpc>
                <a:spcPts val="4658"/>
              </a:lnSpc>
              <a:buFont typeface="Arial"/>
              <a:buChar char="•"/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Integración con sistemas antiguos.</a:t>
            </a:r>
            <a:endParaRPr/>
          </a:p>
          <a:p>
            <a:pPr algn="l">
              <a:lnSpc>
                <a:spcPts val="4658"/>
              </a:lnSpc>
              <a:defRPr/>
            </a:pPr>
            <a:r>
              <a:rPr lang="en-US" sz="39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Solución: planificar, probar, monitorear y capacitar al equipo.</a:t>
            </a:r>
            <a:endParaRPr/>
          </a:p>
          <a:p>
            <a:pPr algn="l">
              <a:lnSpc>
                <a:spcPts val="465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8208431" name="Group 2"/>
          <p:cNvGrpSpPr/>
          <p:nvPr/>
        </p:nvGrpSpPr>
        <p:grpSpPr bwMode="auto">
          <a:xfrm rot="0">
            <a:off x="768247" y="785682"/>
            <a:ext cx="16751502" cy="8715634"/>
            <a:chOff x="0" y="0"/>
            <a:chExt cx="69085396" cy="35944419"/>
          </a:xfrm>
        </p:grpSpPr>
        <p:sp>
          <p:nvSpPr>
            <p:cNvPr id="1332102862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06731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83265288" name="AutoShape 5"/>
          <p:cNvSpPr/>
          <p:nvPr/>
        </p:nvSpPr>
        <p:spPr bwMode="auto">
          <a:xfrm>
            <a:off x="1028700" y="3843083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71482333" name="TextBox 7"/>
          <p:cNvSpPr txBox="1"/>
          <p:nvPr/>
        </p:nvSpPr>
        <p:spPr bwMode="auto">
          <a:xfrm rot="0">
            <a:off x="2234993" y="847724"/>
            <a:ext cx="13818371" cy="124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8"/>
              </a:lnSpc>
              <a:defRPr/>
            </a:pPr>
            <a:r>
              <a:rPr lang="en-US" sz="7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Servicios en la nube para IoT</a:t>
            </a:r>
            <a:endParaRPr/>
          </a:p>
        </p:txBody>
      </p:sp>
      <p:sp>
        <p:nvSpPr>
          <p:cNvPr id="1535949528" name="TextBox 8"/>
          <p:cNvSpPr txBox="1"/>
          <p:nvPr/>
        </p:nvSpPr>
        <p:spPr bwMode="auto">
          <a:xfrm rot="0" flipH="0" flipV="0">
            <a:off x="1184152" y="4111773"/>
            <a:ext cx="8328876" cy="3500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6"/>
              </a:lnSpc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Los servicios en la nube para IoT permiten conectar, administrar, almacenar y analizar datos generados por dispositivos IoT de forma escalable, segura y eficiente. Facilitan la implementación y gestión de aplicaciones IoT sin infraestructura física, con procesamiento y análisis en tiempo real.</a:t>
            </a:r>
            <a:endParaRPr sz="3600"/>
          </a:p>
        </p:txBody>
      </p:sp>
      <p:pic>
        <p:nvPicPr>
          <p:cNvPr id="19073524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715500" y="4511823"/>
            <a:ext cx="6849835" cy="3832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9564321" name="Group 2"/>
          <p:cNvGrpSpPr/>
          <p:nvPr/>
        </p:nvGrpSpPr>
        <p:grpSpPr bwMode="auto">
          <a:xfrm rot="0">
            <a:off x="768247" y="785682"/>
            <a:ext cx="16751502" cy="8715634"/>
            <a:chOff x="0" y="0"/>
            <a:chExt cx="69085396" cy="35944419"/>
          </a:xfrm>
        </p:grpSpPr>
        <p:sp>
          <p:nvSpPr>
            <p:cNvPr id="660020486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35621128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82987680" name="AutoShape 5"/>
          <p:cNvSpPr/>
          <p:nvPr/>
        </p:nvSpPr>
        <p:spPr bwMode="auto">
          <a:xfrm>
            <a:off x="1028700" y="3843083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89417768" name="TextBox 7"/>
          <p:cNvSpPr txBox="1"/>
          <p:nvPr/>
        </p:nvSpPr>
        <p:spPr bwMode="auto">
          <a:xfrm rot="0">
            <a:off x="2234993" y="847724"/>
            <a:ext cx="13818371" cy="124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8"/>
              </a:lnSpc>
              <a:defRPr/>
            </a:pPr>
            <a:r>
              <a:rPr lang="en-US" sz="7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Funciones principales</a:t>
            </a:r>
            <a:endParaRPr/>
          </a:p>
        </p:txBody>
      </p:sp>
      <p:sp>
        <p:nvSpPr>
          <p:cNvPr id="26621386" name="TextBox 8"/>
          <p:cNvSpPr txBox="1"/>
          <p:nvPr/>
        </p:nvSpPr>
        <p:spPr bwMode="auto">
          <a:xfrm rot="0">
            <a:off x="1184152" y="4111773"/>
            <a:ext cx="8089913" cy="4414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Conectividad y administración de dispositivos: Conexión segura de miles de millones de dispositivos y gestión remota de su ciclo de vida.</a:t>
            </a:r>
            <a:endParaRPr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Almacenamiento y procesamiento de datos: Recopilación, almacenamiento y preparación de datos para análisis y visualización.</a:t>
            </a:r>
            <a:endParaRPr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Análisis avanzado e IA/ML: Integración con inteligencia artificial y machine learning para optimizar procesos.</a:t>
            </a:r>
            <a:endParaRPr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algn="l">
              <a:lnSpc>
                <a:spcPts val="3936"/>
              </a:lnSpc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Seguridad: Protección de la comunicación y operación desde la nube hasta la periferia.</a:t>
            </a:r>
            <a:endParaRPr sz="2800"/>
          </a:p>
        </p:txBody>
      </p:sp>
      <p:pic>
        <p:nvPicPr>
          <p:cNvPr id="99249182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306049" y="4343399"/>
            <a:ext cx="6536266" cy="36766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088684" name="Group 2"/>
          <p:cNvGrpSpPr/>
          <p:nvPr/>
        </p:nvGrpSpPr>
        <p:grpSpPr bwMode="auto">
          <a:xfrm rot="0">
            <a:off x="768247" y="785682"/>
            <a:ext cx="16751502" cy="8715634"/>
            <a:chOff x="0" y="0"/>
            <a:chExt cx="69085396" cy="35944419"/>
          </a:xfrm>
        </p:grpSpPr>
        <p:sp>
          <p:nvSpPr>
            <p:cNvPr id="759224450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00838135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544707918" name="AutoShape 5"/>
          <p:cNvSpPr/>
          <p:nvPr/>
        </p:nvSpPr>
        <p:spPr bwMode="auto">
          <a:xfrm>
            <a:off x="1028700" y="3843083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73559798" name="TextBox 7"/>
          <p:cNvSpPr txBox="1"/>
          <p:nvPr/>
        </p:nvSpPr>
        <p:spPr bwMode="auto">
          <a:xfrm rot="0">
            <a:off x="2234993" y="847724"/>
            <a:ext cx="13818371" cy="124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8"/>
              </a:lnSpc>
              <a:defRPr/>
            </a:pPr>
            <a:r>
              <a:rPr lang="en-US" sz="7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Protocolos de conexión</a:t>
            </a:r>
            <a:endParaRPr/>
          </a:p>
        </p:txBody>
      </p:sp>
      <p:sp>
        <p:nvSpPr>
          <p:cNvPr id="1704565819" name="TextBox 8"/>
          <p:cNvSpPr txBox="1"/>
          <p:nvPr/>
        </p:nvSpPr>
        <p:spPr bwMode="auto">
          <a:xfrm rot="0">
            <a:off x="1184152" y="4111773"/>
            <a:ext cx="8094953" cy="313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Los dispositivos IoT se conectan a la nube mediante protocolos ligeros y eficientes como: </a:t>
            </a:r>
            <a:endParaRPr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MQTT (Message Queuing Telemetry Transport)</a:t>
            </a:r>
            <a:endParaRPr sz="28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CoAP (Constrained Application Protocol)</a:t>
            </a:r>
            <a:endParaRPr sz="2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algn="l">
              <a:lnSpc>
                <a:spcPts val="3936"/>
              </a:lnSpc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Estos protocolos garantizan comunicación segura y de bajo consumo entre dispositivos</a:t>
            </a:r>
            <a:r>
              <a:rPr lang="es-GT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y la nube.</a:t>
            </a:r>
            <a:endParaRPr sz="2800"/>
          </a:p>
        </p:txBody>
      </p:sp>
      <p:pic>
        <p:nvPicPr>
          <p:cNvPr id="26381338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800000" cy="1800000"/>
          </a:xfrm>
          <a:prstGeom prst="rect">
            <a:avLst/>
          </a:prstGeom>
        </p:spPr>
      </p:pic>
      <p:pic>
        <p:nvPicPr>
          <p:cNvPr id="137324517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486900" y="4229099"/>
            <a:ext cx="7080310" cy="3924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66340930" name="Group 2"/>
          <p:cNvGrpSpPr/>
          <p:nvPr/>
        </p:nvGrpSpPr>
        <p:grpSpPr bwMode="auto">
          <a:xfrm rot="0">
            <a:off x="768247" y="785682"/>
            <a:ext cx="16751502" cy="8715634"/>
            <a:chOff x="0" y="0"/>
            <a:chExt cx="69085396" cy="35944419"/>
          </a:xfrm>
        </p:grpSpPr>
        <p:sp>
          <p:nvSpPr>
            <p:cNvPr id="2069015908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70034533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11111392" name="AutoShape 5"/>
          <p:cNvSpPr/>
          <p:nvPr/>
        </p:nvSpPr>
        <p:spPr bwMode="auto">
          <a:xfrm>
            <a:off x="1028700" y="3843083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95398105" name="TextBox 7"/>
          <p:cNvSpPr txBox="1"/>
          <p:nvPr/>
        </p:nvSpPr>
        <p:spPr bwMode="auto">
          <a:xfrm rot="0">
            <a:off x="2234993" y="847724"/>
            <a:ext cx="13818371" cy="1244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8"/>
              </a:lnSpc>
              <a:defRPr/>
            </a:pPr>
            <a:r>
              <a:rPr lang="en-US" sz="7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Plataformas líderes</a:t>
            </a:r>
            <a:endParaRPr/>
          </a:p>
        </p:txBody>
      </p:sp>
      <p:sp>
        <p:nvSpPr>
          <p:cNvPr id="1405172214" name="TextBox 8"/>
          <p:cNvSpPr txBox="1"/>
          <p:nvPr/>
        </p:nvSpPr>
        <p:spPr bwMode="auto">
          <a:xfrm rot="0">
            <a:off x="1184152" y="4111773"/>
            <a:ext cx="8092793" cy="419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3879" indent="-283879"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AWS IoT: Incluye AWS IoT Core, Device Defender, IoT Analytics y Greengrass. Ideal para sectores industriales, comerciales y automotrices.</a:t>
            </a:r>
            <a:endParaRPr sz="36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283879" indent="-283879" algn="l">
              <a:lnSpc>
                <a:spcPts val="3936"/>
              </a:lnSpc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Azure IoT: Ofrece conectividad, almacenamiento y análisis en tiempo real, con</a:t>
            </a:r>
            <a:r>
              <a:rPr lang="es-GT" sz="3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herramientas para soluciones empresariales.</a:t>
            </a:r>
            <a:endParaRPr sz="3600"/>
          </a:p>
        </p:txBody>
      </p:sp>
      <p:pic>
        <p:nvPicPr>
          <p:cNvPr id="149669553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944099" y="5644125"/>
            <a:ext cx="2347349" cy="2347349"/>
          </a:xfrm>
          <a:prstGeom prst="rect">
            <a:avLst/>
          </a:prstGeom>
        </p:spPr>
      </p:pic>
      <p:pic>
        <p:nvPicPr>
          <p:cNvPr id="88557105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3468349" y="3943350"/>
            <a:ext cx="3843083" cy="3843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24168751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624343121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4029378" name="TextBox 6"/>
          <p:cNvSpPr txBox="1"/>
          <p:nvPr/>
        </p:nvSpPr>
        <p:spPr bwMode="auto">
          <a:xfrm rot="0">
            <a:off x="1422378" y="3007936"/>
            <a:ext cx="11077856" cy="5298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9"/>
              </a:lnSpc>
              <a:defRPr/>
            </a:pP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☁️ Comprendió los tipos de nube (pública, privada, híbrida) y los modelos de servicio (IaaS, PaaS, SaaS). </a:t>
            </a:r>
            <a:endParaRPr/>
          </a:p>
          <a:p>
            <a:pPr algn="l">
              <a:lnSpc>
                <a:spcPts val="3209"/>
              </a:lnSpc>
              <a:defRPr/>
            </a:pP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📈</a:t>
            </a: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 Identificó los beneficios estratégicos de la nube: escalabilidad, ahorro, disponibilidad y acceso remoto. </a:t>
            </a:r>
            <a:endParaRPr/>
          </a:p>
          <a:p>
            <a:pPr algn="l">
              <a:lnSpc>
                <a:spcPts val="3209"/>
              </a:lnSpc>
              <a:defRPr/>
            </a:pP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🧮</a:t>
            </a: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 Aplicó las 6 estrategias de migración (Rehost, Replatform, Repurchase, Refactor, Retire, Retain) para evaluar escenarios reales. </a:t>
            </a:r>
            <a:endParaRPr/>
          </a:p>
          <a:p>
            <a:pPr algn="l">
              <a:lnSpc>
                <a:spcPts val="3209"/>
              </a:lnSpc>
              <a:defRPr/>
            </a:pP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🔐 Reconoció la importancia de la seguridad compartida en la nube: cifrado, IAM, auditorías y backups. </a:t>
            </a:r>
            <a:endParaRPr/>
          </a:p>
          <a:p>
            <a:pPr algn="l">
              <a:lnSpc>
                <a:spcPts val="3209"/>
              </a:lnSpc>
              <a:defRPr/>
            </a:pP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⚙️ Exploró herramientas de automatización como Terraform y Ansible para migraciones reproducibles. </a:t>
            </a:r>
            <a:endParaRPr lang="en-US" sz="2650">
              <a:solidFill>
                <a:srgbClr val="000000"/>
              </a:solidFill>
              <a:latin typeface="KG Primary Penmanship"/>
              <a:ea typeface="KG Primary Penmanship"/>
              <a:cs typeface="KG Primary Penmanship"/>
            </a:endParaRPr>
          </a:p>
          <a:p>
            <a:pPr algn="l">
              <a:lnSpc>
                <a:spcPts val="3208"/>
              </a:lnSpc>
              <a:defRPr/>
            </a:pPr>
            <a:r>
              <a:rPr lang="es-GT" sz="2650" b="0" i="0" u="none" strike="noStrike" cap="none" spc="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☁️</a:t>
            </a:r>
            <a:r>
              <a:rPr lang="es-GT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Reconozco los principales proveedores de cloud para IOT.</a:t>
            </a:r>
            <a:endParaRPr/>
          </a:p>
          <a:p>
            <a:pPr algn="l">
              <a:lnSpc>
                <a:spcPts val="3209"/>
              </a:lnSpc>
              <a:defRPr/>
            </a:pPr>
            <a:endParaRPr/>
          </a:p>
          <a:p>
            <a:pPr algn="l">
              <a:lnSpc>
                <a:spcPts val="3209"/>
              </a:lnSpc>
              <a:defRPr/>
            </a:pPr>
            <a:endParaRPr/>
          </a:p>
        </p:txBody>
      </p:sp>
      <p:sp>
        <p:nvSpPr>
          <p:cNvPr id="599395776" name="TextBox 7"/>
          <p:cNvSpPr txBox="1"/>
          <p:nvPr/>
        </p:nvSpPr>
        <p:spPr bwMode="auto">
          <a:xfrm rot="0">
            <a:off x="4381500" y="876299"/>
            <a:ext cx="952500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defRPr/>
            </a:pPr>
            <a:r>
              <a:rPr lang="en-US" sz="6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CONCEPTOS CLAVE APRENDIDOS</a:t>
            </a:r>
            <a:endParaRPr/>
          </a:p>
        </p:txBody>
      </p:sp>
      <p:sp>
        <p:nvSpPr>
          <p:cNvPr id="1342108818" name="Freeform 8"/>
          <p:cNvSpPr/>
          <p:nvPr/>
        </p:nvSpPr>
        <p:spPr bwMode="auto">
          <a:xfrm rot="0" flipH="0" flipV="0">
            <a:off x="13361517" y="4456047"/>
            <a:ext cx="2619375" cy="2619375"/>
          </a:xfrm>
          <a:custGeom>
            <a:avLst/>
            <a:gdLst/>
            <a:ahLst/>
            <a:cxnLst/>
            <a:rect l="l" t="t" r="r" b="b"/>
            <a:pathLst>
              <a:path w="2619375" h="2619375" fill="norm" stroke="1" extrusionOk="0">
                <a:moveTo>
                  <a:pt x="0" y="0"/>
                </a:moveTo>
                <a:lnTo>
                  <a:pt x="2619375" y="0"/>
                </a:lnTo>
                <a:lnTo>
                  <a:pt x="2619375" y="2619375"/>
                </a:lnTo>
                <a:lnTo>
                  <a:pt x="0" y="261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4977375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63708433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56147824" name="TextBox 6"/>
          <p:cNvSpPr txBox="1"/>
          <p:nvPr/>
        </p:nvSpPr>
        <p:spPr bwMode="auto">
          <a:xfrm rot="0">
            <a:off x="1523999" y="3105149"/>
            <a:ext cx="15241799" cy="2057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99"/>
              </a:lnSpc>
              <a:defRPr/>
            </a:pPr>
            <a:r>
              <a:rPr lang="en-US" sz="4500" u="sng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🔐 </a:t>
            </a:r>
            <a:r>
              <a:rPr lang="en-US" sz="4500" b="0" i="0" u="sng" strike="noStrike" cap="none" spc="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Seguridad digital</a:t>
            </a:r>
            <a:r>
              <a:rPr lang="en-US" sz="4500" u="sng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:</a:t>
            </a:r>
            <a:endParaRPr/>
          </a:p>
          <a:p>
            <a:pPr algn="just">
              <a:lnSpc>
                <a:spcPts val="5399"/>
              </a:lnSpc>
              <a:defRPr/>
            </a:pPr>
            <a:r>
              <a:rPr lang="en-US" sz="4500" b="0" i="0" u="none" strike="noStrike" cap="none" spc="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promover prácticas responsables en el uso de tecnologías en la nube, garantizando la protección de datos</a:t>
            </a:r>
            <a:r>
              <a:rPr lang="es-GT" sz="45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.</a:t>
            </a:r>
            <a:endParaRPr/>
          </a:p>
        </p:txBody>
      </p:sp>
      <p:sp>
        <p:nvSpPr>
          <p:cNvPr id="240694874" name="Freeform 7"/>
          <p:cNvSpPr/>
          <p:nvPr/>
        </p:nvSpPr>
        <p:spPr bwMode="auto">
          <a:xfrm rot="0" flipH="0" flipV="0">
            <a:off x="12477750" y="640080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 fill="norm" stroke="1" extrusionOk="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279148564" name="TextBox 8"/>
          <p:cNvSpPr txBox="1"/>
          <p:nvPr/>
        </p:nvSpPr>
        <p:spPr bwMode="auto">
          <a:xfrm rot="0">
            <a:off x="4381500" y="876299"/>
            <a:ext cx="952500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defRPr/>
            </a:pPr>
            <a:r>
              <a:rPr lang="en-US" sz="6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NOMBRE DEL VALOR Y/O ACTITUD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1202978" name="Group 2"/>
          <p:cNvGrpSpPr/>
          <p:nvPr/>
        </p:nvGrpSpPr>
        <p:grpSpPr bwMode="auto">
          <a:xfrm rot="0">
            <a:off x="768248" y="785682"/>
            <a:ext cx="16751504" cy="8715635"/>
            <a:chOff x="0" y="0"/>
            <a:chExt cx="69085397" cy="3594442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72390" y="72390"/>
              <a:ext cx="68940619" cy="35799641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9085396" cy="35944420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2131935666" name="AutoShape 5"/>
          <p:cNvSpPr/>
          <p:nvPr/>
        </p:nvSpPr>
        <p:spPr bwMode="auto">
          <a:xfrm>
            <a:off x="1028700" y="3026987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9640297" name="TextBox 6"/>
          <p:cNvSpPr txBox="1"/>
          <p:nvPr/>
        </p:nvSpPr>
        <p:spPr bwMode="auto">
          <a:xfrm rot="0">
            <a:off x="4857750" y="1500708"/>
            <a:ext cx="8572500" cy="135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9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REFERENCIAS</a:t>
            </a:r>
            <a:endParaRPr/>
          </a:p>
        </p:txBody>
      </p:sp>
      <p:sp>
        <p:nvSpPr>
          <p:cNvPr id="723034932" name="TextBox 7"/>
          <p:cNvSpPr txBox="1"/>
          <p:nvPr/>
        </p:nvSpPr>
        <p:spPr bwMode="auto">
          <a:xfrm rot="0">
            <a:off x="1047749" y="3188911"/>
            <a:ext cx="16194659" cy="4999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  <a:defRPr/>
            </a:pPr>
            <a:r>
              <a:rPr lang="en-US" sz="41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REFERENCIAS:</a:t>
            </a:r>
            <a:endParaRPr/>
          </a:p>
          <a:p>
            <a:pPr algn="l">
              <a:lnSpc>
                <a:spcPts val="4920"/>
              </a:lnSpc>
              <a:defRPr/>
            </a:pPr>
            <a:r>
              <a:rPr lang="en-US" sz="41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https://azure.microsoft.com/es-es/resources/cloud-computing-dictionary/what-is-cloud-migration/</a:t>
            </a:r>
            <a:endParaRPr/>
          </a:p>
          <a:p>
            <a:pPr algn="l">
              <a:lnSpc>
                <a:spcPts val="4920"/>
              </a:lnSpc>
              <a:defRPr/>
            </a:pPr>
            <a:endParaRPr/>
          </a:p>
          <a:p>
            <a:pPr marL="0" marR="0" indent="0" algn="l">
              <a:lnSpc>
                <a:spcPts val="492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100" b="0" i="0" u="sng" strike="noStrike" cap="none" spc="0">
                <a:solidFill>
                  <a:schemeClr val="tx1"/>
                </a:solidFill>
                <a:latin typeface="KG Primary Penmanship"/>
                <a:ea typeface="KG Primary Penmanship"/>
                <a:cs typeface="KG Primary Penmanship"/>
                <a:hlinkClick r:id="rId3" tooltip=""/>
              </a:rPr>
              <a:t>https://impactotic.co/tecnologia/cloud/migracion-a-la-nube-subase-a-la-tendencia-del-momento/</a:t>
            </a:r>
            <a:endParaRPr sz="4100">
              <a:solidFill>
                <a:schemeClr val="tx1"/>
              </a:solidFill>
              <a:latin typeface="KG Primary Penmanship"/>
              <a:ea typeface="KG Primary Penmanship"/>
              <a:cs typeface="KG Primary Penmanship"/>
            </a:endParaRPr>
          </a:p>
          <a:p>
            <a:pPr algn="l">
              <a:lnSpc>
                <a:spcPts val="4919"/>
              </a:lnSpc>
              <a:defRPr/>
            </a:pPr>
            <a:endParaRPr/>
          </a:p>
          <a:p>
            <a:pPr algn="l">
              <a:lnSpc>
                <a:spcPts val="4919"/>
              </a:lnSpc>
              <a:defRPr/>
            </a:pPr>
            <a:r>
              <a:rPr lang="en-US" sz="4100" b="0" i="0" u="none" strike="noStrike" cap="none" spc="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https://ndmarketingdigital.com/como-se-conecta-iot-a-la-nube/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98459672" name="Group 2"/>
          <p:cNvGrpSpPr/>
          <p:nvPr/>
        </p:nvGrpSpPr>
        <p:grpSpPr bwMode="auto">
          <a:xfrm rot="0">
            <a:off x="768247" y="785682"/>
            <a:ext cx="16751502" cy="8715634"/>
            <a:chOff x="0" y="0"/>
            <a:chExt cx="69085396" cy="35944419"/>
          </a:xfrm>
        </p:grpSpPr>
        <p:sp>
          <p:nvSpPr>
            <p:cNvPr id="1129088674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68503717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946237796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16458006" name="TextBox 7"/>
          <p:cNvSpPr txBox="1"/>
          <p:nvPr/>
        </p:nvSpPr>
        <p:spPr bwMode="auto">
          <a:xfrm rot="0">
            <a:off x="4381499" y="876298"/>
            <a:ext cx="9525359" cy="106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defRPr/>
            </a:pPr>
            <a:r>
              <a:rPr lang="en-US" sz="6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Ejemplo práctico</a:t>
            </a:r>
            <a:endParaRPr/>
          </a:p>
        </p:txBody>
      </p:sp>
      <p:pic>
        <p:nvPicPr>
          <p:cNvPr id="1469322560" name="Google Shape;192;g364f262177b_0_2" title="Gemini_Generated_Image_u2i06ou2i06ou2i0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flipH="0" flipV="0">
            <a:off x="1028699" y="3312736"/>
            <a:ext cx="4074527" cy="5583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2912263" name="Group 2"/>
          <p:cNvGrpSpPr/>
          <p:nvPr/>
        </p:nvGrpSpPr>
        <p:grpSpPr bwMode="auto">
          <a:xfrm rot="0">
            <a:off x="768247" y="785682"/>
            <a:ext cx="16751502" cy="8715634"/>
            <a:chOff x="0" y="0"/>
            <a:chExt cx="69085396" cy="35944419"/>
          </a:xfrm>
        </p:grpSpPr>
        <p:sp>
          <p:nvSpPr>
            <p:cNvPr id="1980151047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2856314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48905976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82511911" name="TextBox 7"/>
          <p:cNvSpPr txBox="1"/>
          <p:nvPr/>
        </p:nvSpPr>
        <p:spPr bwMode="auto">
          <a:xfrm rot="0">
            <a:off x="4381499" y="876298"/>
            <a:ext cx="9534358" cy="106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defRPr/>
            </a:pPr>
            <a:r>
              <a:rPr lang="es-GT" sz="6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Practiquemos lo aprendido</a:t>
            </a:r>
            <a:endParaRPr/>
          </a:p>
        </p:txBody>
      </p:sp>
      <p:pic>
        <p:nvPicPr>
          <p:cNvPr id="1354711616" name="Google Shape;198;g364afea4f63_0_148" title="Gemini_Generated_Image_mopnfwmopnfwmopn (1)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180294" y="3505199"/>
            <a:ext cx="4077823" cy="4077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3663946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6902" y="0"/>
            <a:ext cx="18254197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00326122" name="Google Shape;55;p13"/>
          <p:cNvGraphicFramePr>
            <a:graphicFrameLocks xmlns:a="http://schemas.openxmlformats.org/drawingml/2006/main"/>
          </p:cNvGraphicFramePr>
          <p:nvPr/>
        </p:nvGraphicFramePr>
        <p:xfrm rot="0">
          <a:off x="16899" y="1507249"/>
          <a:ext cx="2999999" cy="2999999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2766549"/>
                <a:gridCol w="2463324"/>
              </a:tblGrid>
              <a:tr h="3224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63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286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94474685" name="Google Shape;56;p13"/>
          <p:cNvSpPr txBox="1"/>
          <p:nvPr/>
        </p:nvSpPr>
        <p:spPr bwMode="auto">
          <a:xfrm>
            <a:off x="0" y="4281899"/>
            <a:ext cx="18037800" cy="80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" b="1"/>
              <a:t>Participantes: llenar las siguientes cajas de texto (tomar información del chat del meet)</a:t>
            </a:r>
            <a:endParaRPr b="1"/>
          </a:p>
        </p:txBody>
      </p:sp>
      <p:sp>
        <p:nvSpPr>
          <p:cNvPr id="1855278659" name="Google Shape;57;p13"/>
          <p:cNvSpPr txBox="1"/>
          <p:nvPr/>
        </p:nvSpPr>
        <p:spPr bwMode="auto">
          <a:xfrm>
            <a:off x="16899" y="4955797"/>
            <a:ext cx="6167399" cy="51101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99179947" name="Google Shape;58;p13"/>
          <p:cNvGraphicFramePr>
            <a:graphicFrameLocks xmlns:a="http://schemas.openxmlformats.org/drawingml/2006/main"/>
          </p:cNvGraphicFramePr>
          <p:nvPr/>
        </p:nvGraphicFramePr>
        <p:xfrm rot="0">
          <a:off x="10656399" y="1940049"/>
          <a:ext cx="2999999" cy="2999999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1518199"/>
                <a:gridCol w="2172375"/>
              </a:tblGrid>
              <a:tr h="3224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63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286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500" b="1"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3" marR="91423" marT="91423" marB="91423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54359577" name="Google Shape;59;p13"/>
          <p:cNvSpPr txBox="1"/>
          <p:nvPr/>
        </p:nvSpPr>
        <p:spPr bwMode="auto">
          <a:xfrm>
            <a:off x="6261599" y="4955797"/>
            <a:ext cx="6167399" cy="51101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531705" name="Google Shape;60;p13"/>
          <p:cNvSpPr txBox="1"/>
          <p:nvPr/>
        </p:nvSpPr>
        <p:spPr bwMode="auto">
          <a:xfrm>
            <a:off x="12506299" y="4955797"/>
            <a:ext cx="5764799" cy="51101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3" tIns="91423" rIns="91423" bIns="91423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904738" name="TextBox 5"/>
          <p:cNvSpPr txBox="1"/>
          <p:nvPr/>
        </p:nvSpPr>
        <p:spPr bwMode="auto">
          <a:xfrm rot="0">
            <a:off x="2000250" y="8496300"/>
            <a:ext cx="142875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99"/>
              </a:lnSpc>
              <a:defRPr/>
            </a:pPr>
            <a:r>
              <a:rPr lang="en-US" sz="2500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</a:rPr>
              <a:t>RECUERDA QUE TENEMOS NUESTRO FORO SEMANAL DONDE PUEDES CONSULTAR CUALQUIER DUDA QUE TE SURJA EN LA SEMANA.</a:t>
            </a:r>
            <a:endParaRPr/>
          </a:p>
        </p:txBody>
      </p:sp>
      <p:sp>
        <p:nvSpPr>
          <p:cNvPr id="1453790279" name="Freeform 6"/>
          <p:cNvSpPr/>
          <p:nvPr/>
        </p:nvSpPr>
        <p:spPr bwMode="auto">
          <a:xfrm rot="0" flipH="0" flipV="0">
            <a:off x="13530482" y="3258015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 fill="norm" stroke="1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756704645" name="TextBox 3"/>
          <p:cNvSpPr txBox="1"/>
          <p:nvPr/>
        </p:nvSpPr>
        <p:spPr bwMode="auto">
          <a:xfrm rot="0" flipH="0" flipV="0">
            <a:off x="2647949" y="2717006"/>
            <a:ext cx="9054501" cy="3611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479"/>
              </a:lnSpc>
              <a:defRPr/>
            </a:pPr>
            <a:r>
              <a:rPr lang="en-US" sz="7900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</a:rPr>
              <a:t>¡GRACIAS POR SU ATENCIÓN!</a:t>
            </a:r>
            <a:endParaRPr lang="en-US" sz="7900">
              <a:solidFill>
                <a:srgbClr val="FFFFFF"/>
              </a:solidFill>
              <a:latin typeface="ITC Motter Corpus Regular"/>
              <a:ea typeface="ITC Motter Corpus Regular"/>
              <a:cs typeface="ITC Motter Corpus Regular"/>
            </a:endParaRPr>
          </a:p>
          <a:p>
            <a:pPr marL="0" lvl="0" indent="0" algn="ctr">
              <a:lnSpc>
                <a:spcPts val="9478"/>
              </a:lnSpc>
              <a:defRPr/>
            </a:pPr>
            <a:r>
              <a:rPr lang="en-US" sz="7900" b="0" i="0" u="none" strike="noStrike" cap="none" spc="0">
                <a:solidFill>
                  <a:srgbClr val="FFFFFF"/>
                </a:solidFill>
                <a:latin typeface="ITC Motter Corpus Regular"/>
                <a:ea typeface="ITC Motter Corpus Regular"/>
                <a:cs typeface="ITC Motter Corpus Regular"/>
              </a:rPr>
              <a:t>¿DUDAS?</a:t>
            </a:r>
            <a:endParaRPr sz="7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Ultima Clase - ACE2 - DOS</dc:title>
  <dc:identifier>DAG1b_SGpT8</dc:identifier>
  <cp:lastModifiedBy/>
  <cp:revision>3</cp:revision>
  <dcterms:created xsi:type="dcterms:W3CDTF">2006-08-16T00:00:00Z</dcterms:created>
  <dcterms:modified xsi:type="dcterms:W3CDTF">2025-10-29T17:59:50Z</dcterms:modified>
</cp:coreProperties>
</file>