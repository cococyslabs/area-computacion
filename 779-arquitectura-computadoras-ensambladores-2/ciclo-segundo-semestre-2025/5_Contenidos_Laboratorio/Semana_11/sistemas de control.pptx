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671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8226930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734069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457750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14755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5949738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0374490" name="Google Shape;51;gcb241b134e_0_0:notes"/>
          <p:cNvSpPr/>
          <p:nvPr>
            <p:ph type="sldImg" idx="2"/>
          </p:nvPr>
        </p:nvSpPr>
        <p:spPr bwMode="auto">
          <a:xfrm>
            <a:off x="3812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277618" name="Google Shape;52;gcb241b134e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743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087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00381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0D3244-5B1A-93D5-F8AE-FA0E0298EB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435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1626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252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0F10D0-1E32-563B-F714-1066ABF5DB9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9934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35396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69063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CBC217-5A79-BA3C-CE0C-3488E58BCB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5492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613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778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C75EE7-D522-08A9-C4EA-A9835C3CA94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0242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6092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331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D58412-9F5C-CB2C-AAD2-4485B77152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77820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18732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7798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819C8C-5CBF-EA08-93C9-171106003F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1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82190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6863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72B180-CFAD-F980-780A-8D6EDBD15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611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7363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9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9AD677-F8A4-6904-131E-A92C2E4F11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419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383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539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AD45AB-D696-B761-0E7A-D3DE86FAE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6444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239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51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CE3F7F-5C3D-FFF9-D323-F267C26CB9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906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743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5575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1E61D1-E2CB-041D-7479-C5CEA7B0A23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93851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1943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166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3D6497-650D-66F1-EA81-9058EBE21B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4273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8865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974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BFB189-E2B7-0533-EC25-36501B24F3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85679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95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46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BDD26-3495-F53F-B02A-8BA1AE476D0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333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013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061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6FEC01-66F3-E845-FCD8-B26E0DC676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7353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39735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0079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241483-6A53-4D04-BBC0-B163997136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038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4820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379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B18F93-A726-AE7A-BAA4-524F8A6E1A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737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9512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8202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2BF81E-CF7F-61BE-4288-9244D33F2C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022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4797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93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FBD91D-6D9E-BECC-0F15-DDD5F52CF4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7553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29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1430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644666-685B-532F-3AB0-2E8877CD29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404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46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40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8517-892C-6DF3-F861-2C31F57E39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533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4404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468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52D4E8-FB68-59BD-6E23-7A49A3F686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1169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934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8064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42DA49-2010-C911-6B77-00F3AC65B8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4289285" name="Google Shape;51;gcb241b134e_0_0:notes"/>
          <p:cNvSpPr/>
          <p:nvPr>
            <p:ph type="sldImg" idx="2"/>
          </p:nvPr>
        </p:nvSpPr>
        <p:spPr bwMode="auto">
          <a:xfrm>
            <a:off x="381298" y="685800"/>
            <a:ext cx="6095998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63256" name="Google Shape;52;gcb241b134e_0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2" tIns="91422" rIns="91422" bIns="91422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8572920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97526486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3058373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00718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57150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49388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9488606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87443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6207919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40618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82959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6914673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20614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6375589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35024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6973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0909310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129188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6299385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074090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496873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327333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7590197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76605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7581721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1127024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009097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9860004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255862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7065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1303082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5209604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094940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972959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6266068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905816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685247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1071512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145634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565194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90061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603534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204692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8324257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9903167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4446035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4336892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56424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43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9391482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502414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6290833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8522551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667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506959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853118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130275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93904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43771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768423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69674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796395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279210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9024125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6902" y="0"/>
            <a:ext cx="18254196" cy="10287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296394" name="Google Shape;55;p13"/>
          <p:cNvGraphicFramePr>
            <a:graphicFrameLocks xmlns:a="http://schemas.openxmlformats.org/drawingml/2006/main"/>
          </p:cNvGraphicFramePr>
          <p:nvPr/>
        </p:nvGraphicFramePr>
        <p:xfrm rot="0">
          <a:off x="12599498" y="1940049"/>
          <a:ext cx="3703275" cy="927038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518198"/>
                <a:gridCol w="2172375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26431431" name="Google Shape;89;g364afea4f63_0_0"/>
          <p:cNvSpPr/>
          <p:nvPr/>
        </p:nvSpPr>
        <p:spPr bwMode="auto">
          <a:xfrm>
            <a:off x="3598048" y="5988673"/>
            <a:ext cx="7364998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NOMBRE DEL TUTOR</a:t>
            </a:r>
            <a:endParaRPr sz="2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53696338" name="Google Shape;90;g364afea4f63_0_0"/>
          <p:cNvSpPr/>
          <p:nvPr/>
        </p:nvSpPr>
        <p:spPr bwMode="auto">
          <a:xfrm>
            <a:off x="3090924" y="4781250"/>
            <a:ext cx="10142100" cy="724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/>
            </a:pPr>
            <a:r>
              <a:rPr lang="en-US" sz="3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NOMBRE DEL CURSO</a:t>
            </a:r>
            <a:endParaRPr sz="3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12332" name="AutoShape 2"/>
          <p:cNvSpPr/>
          <p:nvPr/>
        </p:nvSpPr>
        <p:spPr bwMode="auto">
          <a:xfrm rot="0">
            <a:off x="9144000" y="0"/>
            <a:ext cx="9144000" cy="10287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32737084" name="TextBox 5"/>
          <p:cNvSpPr txBox="1"/>
          <p:nvPr/>
        </p:nvSpPr>
        <p:spPr bwMode="auto">
          <a:xfrm rot="0">
            <a:off x="-163002" y="2226094"/>
            <a:ext cx="9525359" cy="2316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11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SISTEMAS DECONTROL</a:t>
            </a:r>
            <a:endParaRPr/>
          </a:p>
        </p:txBody>
      </p:sp>
      <p:sp>
        <p:nvSpPr>
          <p:cNvPr id="695268741" name="TextBox 6"/>
          <p:cNvSpPr txBox="1"/>
          <p:nvPr/>
        </p:nvSpPr>
        <p:spPr bwMode="auto">
          <a:xfrm rot="0" flipH="0" flipV="0">
            <a:off x="1028700" y="4707355"/>
            <a:ext cx="6504441" cy="4688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58"/>
              </a:lnSpc>
              <a:defRPr/>
            </a:pPr>
            <a:r>
              <a:rPr lang="en-US" sz="3600">
                <a:solidFill>
                  <a:srgbClr val="FFB400"/>
                </a:solidFill>
                <a:latin typeface="KG Primary Penmanship"/>
                <a:ea typeface="KG Primary Penmanship"/>
                <a:cs typeface="KG Primary Penmanship"/>
              </a:rPr>
              <a:t>Arquitectura de Computadores y Ensambladores 2</a:t>
            </a:r>
            <a:endParaRPr sz="3600"/>
          </a:p>
          <a:p>
            <a:pPr marL="0" lvl="0" indent="0" algn="ctr">
              <a:lnSpc>
                <a:spcPts val="4679"/>
              </a:lnSpc>
              <a:defRPr/>
            </a:pP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Escuel</a:t>
            </a: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a de Ingeniería de Ciencias Y Sistemas</a:t>
            </a:r>
            <a:endParaRPr sz="3600"/>
          </a:p>
          <a:p>
            <a:pPr marL="0" lvl="0" indent="0" algn="ctr">
              <a:lnSpc>
                <a:spcPts val="4679"/>
              </a:lnSpc>
              <a:defRPr/>
            </a:pP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Facultad de Ingeniería</a:t>
            </a:r>
            <a:endParaRPr sz="3600"/>
          </a:p>
          <a:p>
            <a:pPr marL="0" lvl="0" indent="0" algn="ctr">
              <a:lnSpc>
                <a:spcPts val="4679"/>
              </a:lnSpc>
              <a:defRPr/>
            </a:pPr>
            <a:r>
              <a:rPr lang="en-US" sz="3600">
                <a:solidFill>
                  <a:srgbClr val="FFFFFF"/>
                </a:solidFill>
                <a:latin typeface="KG Primary Penmanship"/>
                <a:ea typeface="KG Primary Penmanship"/>
                <a:cs typeface="KG Primary Penmanship"/>
              </a:rPr>
              <a:t>Universidad de San Carlos de Guatemala</a:t>
            </a:r>
            <a:endParaRPr sz="3600"/>
          </a:p>
        </p:txBody>
      </p:sp>
      <p:pic>
        <p:nvPicPr>
          <p:cNvPr id="453731430" name="Google Shape;102;p1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0" flipV="0">
            <a:off x="9964523" y="0"/>
            <a:ext cx="8323473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64054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144000" y="3274174"/>
            <a:ext cx="8793433" cy="31692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19154231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159215649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32961880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8098053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59363902" name="TextBox 6"/>
          <p:cNvSpPr txBox="1"/>
          <p:nvPr/>
        </p:nvSpPr>
        <p:spPr bwMode="auto">
          <a:xfrm rot="0">
            <a:off x="4857750" y="1500707"/>
            <a:ext cx="8572500" cy="135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COMPETENCIA</a:t>
            </a:r>
            <a:endParaRPr/>
          </a:p>
        </p:txBody>
      </p:sp>
      <p:grpSp>
        <p:nvGrpSpPr>
          <p:cNvPr id="199298566" name="Group 7"/>
          <p:cNvGrpSpPr/>
          <p:nvPr/>
        </p:nvGrpSpPr>
        <p:grpSpPr bwMode="auto">
          <a:xfrm rot="0">
            <a:off x="2000250" y="3193673"/>
            <a:ext cx="14290378" cy="5919786"/>
            <a:chOff x="0" y="0"/>
            <a:chExt cx="14290378" cy="5919786"/>
          </a:xfrm>
        </p:grpSpPr>
        <p:sp>
          <p:nvSpPr>
            <p:cNvPr id="1531824093" name="TextBox 8"/>
            <p:cNvSpPr txBox="1"/>
            <p:nvPr/>
          </p:nvSpPr>
          <p:spPr bwMode="auto">
            <a:xfrm rot="0">
              <a:off x="5715000" y="0"/>
              <a:ext cx="8575378" cy="438948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>
                <a:defRPr/>
              </a:pPr>
              <a:r>
                <a:rPr sz="4800" b="0" i="0" u="none">
                  <a:solidFill>
                    <a:srgbClr val="000000"/>
                  </a:solidFill>
                  <a:latin typeface="Arial"/>
                  <a:ea typeface="Arial"/>
                  <a:cs typeface="Arial"/>
                </a:rPr>
                <a:t>Analiza marcos de trabajo IoT y sistemas de automatización con Arduino, Raspberry Pi y bibliotecas de programación en proyectos de laboratorio aplicados a entornos reales </a:t>
              </a:r>
              <a:endParaRPr sz="4800"/>
            </a:p>
          </p:txBody>
        </p:sp>
        <p:sp>
          <p:nvSpPr>
            <p:cNvPr id="851272171" name="Freeform 9"/>
            <p:cNvSpPr/>
            <p:nvPr/>
          </p:nvSpPr>
          <p:spPr bwMode="auto">
            <a:xfrm rot="0" flipH="0" flipV="0">
              <a:off x="0" y="204786"/>
              <a:ext cx="5715000" cy="5714998"/>
            </a:xfrm>
            <a:custGeom>
              <a:avLst/>
              <a:gdLst/>
              <a:ahLst/>
              <a:cxnLst/>
              <a:rect l="l" t="t" r="r" b="b"/>
              <a:pathLst>
                <a:path w="7620000" h="7620000" fill="norm" stroke="1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50843426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742417923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46085125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55367368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76241558" name="TextBox 6"/>
          <p:cNvSpPr txBox="1"/>
          <p:nvPr/>
        </p:nvSpPr>
        <p:spPr bwMode="auto">
          <a:xfrm rot="0">
            <a:off x="6286500" y="1500707"/>
            <a:ext cx="5715000" cy="135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AGENDA</a:t>
            </a:r>
            <a:endParaRPr/>
          </a:p>
        </p:txBody>
      </p:sp>
      <p:grpSp>
        <p:nvGrpSpPr>
          <p:cNvPr id="1358281112" name="Group 7"/>
          <p:cNvGrpSpPr/>
          <p:nvPr/>
        </p:nvGrpSpPr>
        <p:grpSpPr bwMode="auto">
          <a:xfrm rot="0" flipH="0" flipV="0">
            <a:off x="1172763" y="3207960"/>
            <a:ext cx="16132968" cy="5916987"/>
            <a:chOff x="0" y="0"/>
            <a:chExt cx="16132968" cy="5916987"/>
          </a:xfrm>
        </p:grpSpPr>
        <p:sp>
          <p:nvSpPr>
            <p:cNvPr id="12633011" name="Freeform 8"/>
            <p:cNvSpPr/>
            <p:nvPr/>
          </p:nvSpPr>
          <p:spPr bwMode="auto">
            <a:xfrm rot="0" flipH="0" flipV="0">
              <a:off x="10417967" y="0"/>
              <a:ext cx="5715000" cy="5916987"/>
            </a:xfrm>
            <a:custGeom>
              <a:avLst/>
              <a:gdLst/>
              <a:ahLst/>
              <a:cxnLst/>
              <a:rect l="l" t="t" r="r" b="b"/>
              <a:pathLst>
                <a:path w="7620000" h="7620000" fill="norm" stroke="1" extrusionOk="0">
                  <a:moveTo>
                    <a:pt x="0" y="0"/>
                  </a:moveTo>
                  <a:lnTo>
                    <a:pt x="7620000" y="0"/>
                  </a:lnTo>
                  <a:lnTo>
                    <a:pt x="76200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501036330" name="TextBox 9"/>
            <p:cNvSpPr txBox="1"/>
            <p:nvPr/>
          </p:nvSpPr>
          <p:spPr bwMode="auto">
            <a:xfrm rot="0" flipH="0" flipV="0">
              <a:off x="0" y="710037"/>
              <a:ext cx="10099702" cy="184605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marL="829194" lvl="1" indent="-371994" algn="just">
                <a:lnSpc>
                  <a:spcPts val="4386"/>
                </a:lnSpc>
                <a:buFont typeface="Arial"/>
                <a:buChar char="•"/>
                <a:defRPr/>
              </a:pPr>
              <a:r>
                <a:rPr lang="en-US" sz="2600" b="0" i="0" u="none" strike="noStrike" cap="none" spc="0">
                  <a:solidFill>
                    <a:srgbClr val="313E50"/>
                  </a:solidFill>
                  <a:latin typeface="Repo Light"/>
                  <a:ea typeface="Repo Light"/>
                  <a:cs typeface="Repo Light"/>
                </a:rPr>
                <a:t>🎮</a:t>
              </a:r>
              <a:r>
                <a:rPr lang="es-GT" sz="2600" b="0" i="0" u="none" strike="noStrike" cap="none" spc="0">
                  <a:solidFill>
                    <a:srgbClr val="313E50"/>
                  </a:solidFill>
                  <a:latin typeface="Repo Light"/>
                  <a:ea typeface="Repo Light"/>
                  <a:cs typeface="Repo Light"/>
                </a:rPr>
                <a:t> </a:t>
              </a:r>
              <a:r>
                <a:rPr lang="en-US" sz="2600" b="0" i="0" u="none" strike="noStrike" cap="none" spc="0">
                  <a:solidFill>
                    <a:srgbClr val="313E50"/>
                  </a:solidFill>
                  <a:latin typeface="Repo Light"/>
                  <a:ea typeface="Repo Light"/>
                  <a:cs typeface="Repo Light"/>
                </a:rPr>
                <a:t>Sistema de Control</a:t>
              </a:r>
              <a:endParaRPr lang="en-US" sz="2600" b="0" i="0" u="none" strike="noStrike" cap="none" spc="0">
                <a:solidFill>
                  <a:srgbClr val="313E50"/>
                </a:solidFill>
                <a:latin typeface="Times New Roman"/>
                <a:cs typeface="Times New Roman"/>
              </a:endParaRPr>
            </a:p>
            <a:p>
              <a:pPr marL="829194" lvl="1" indent="-371994" algn="just">
                <a:lnSpc>
                  <a:spcPts val="4386"/>
                </a:lnSpc>
                <a:buFont typeface="Arial"/>
                <a:buChar char="•"/>
                <a:defRPr/>
              </a:pPr>
              <a:r>
                <a:rPr lang="en-US" sz="2600" b="0" i="0" u="none" strike="noStrike" cap="none" spc="0">
                  <a:solidFill>
                    <a:srgbClr val="313E50"/>
                  </a:solidFill>
                  <a:latin typeface="Repo Light"/>
                  <a:ea typeface="Repo Light"/>
                  <a:cs typeface="Repo Light"/>
                </a:rPr>
                <a:t>💻</a:t>
              </a:r>
              <a:r>
                <a:rPr lang="es-GT" sz="2600" b="0" i="0" u="none" strike="noStrike" cap="none" spc="0">
                  <a:solidFill>
                    <a:srgbClr val="313E50"/>
                  </a:solidFill>
                  <a:latin typeface="Repo Light"/>
                  <a:ea typeface="Repo Light"/>
                  <a:cs typeface="Repo Light"/>
                </a:rPr>
                <a:t> </a:t>
              </a:r>
              <a:r>
                <a:rPr lang="en-US" sz="2600" b="0" i="0" u="none" strike="noStrike" cap="none" spc="0">
                  <a:solidFill>
                    <a:srgbClr val="313E50"/>
                  </a:solidFill>
                  <a:latin typeface="Repo Light"/>
                  <a:ea typeface="Repo Light"/>
                  <a:cs typeface="Repo Light"/>
                </a:rPr>
                <a:t>Tipos de Sistemas</a:t>
              </a:r>
              <a:endParaRPr sz="2600"/>
            </a:p>
            <a:p>
              <a:pPr marL="1036319" lvl="1" indent="-518159" algn="l">
                <a:lnSpc>
                  <a:spcPts val="5758"/>
                </a:lnSpc>
                <a:buFont typeface="Arial"/>
                <a:buChar char="•"/>
                <a:defRPr/>
              </a:pPr>
              <a:endParaRPr sz="2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0459027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46390428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58397790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62060854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3351639" name="TextBox 6"/>
          <p:cNvSpPr txBox="1"/>
          <p:nvPr/>
        </p:nvSpPr>
        <p:spPr bwMode="auto">
          <a:xfrm rot="0" flipH="0" flipV="0">
            <a:off x="2886948" y="1318612"/>
            <a:ext cx="13168351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SISTEMAS DECONTROL</a:t>
            </a:r>
            <a:endParaRPr/>
          </a:p>
        </p:txBody>
      </p:sp>
      <p:sp>
        <p:nvSpPr>
          <p:cNvPr id="1892177013" name="TextBox 9"/>
          <p:cNvSpPr txBox="1"/>
          <p:nvPr/>
        </p:nvSpPr>
        <p:spPr bwMode="auto">
          <a:xfrm rot="0" flipH="0" flipV="0">
            <a:off x="1172763" y="3641527"/>
            <a:ext cx="8802624" cy="5247999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lvl="1" algn="just">
              <a:lnSpc>
                <a:spcPts val="4479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Sistema: </a:t>
            </a:r>
            <a:endParaRPr sz="2600"/>
          </a:p>
          <a:p>
            <a:pPr marL="690880" lvl="1" indent="-345439" algn="just">
              <a:lnSpc>
                <a:spcPts val="4479"/>
              </a:lnSpc>
              <a:buFont typeface="Arial"/>
              <a:buChar char="•"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“Conjunto de reglas o principios sobre una materia relacionalmente enlazados entre si”</a:t>
            </a:r>
            <a:endParaRPr sz="2600"/>
          </a:p>
          <a:p>
            <a:pPr marL="690880" lvl="1" indent="-345439" algn="just">
              <a:lnSpc>
                <a:spcPts val="4479"/>
              </a:lnSpc>
              <a:buFont typeface="Arial"/>
              <a:buChar char="•"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“Conjunto de cosas que relacionadas entre si ordenadamente contribuyen a determinado objeto.”</a:t>
            </a:r>
            <a:endParaRPr sz="2600"/>
          </a:p>
          <a:p>
            <a:pPr marL="829193" lvl="1" indent="-371993" algn="just">
              <a:lnSpc>
                <a:spcPts val="4386"/>
              </a:lnSpc>
              <a:buFont typeface="Arial"/>
              <a:buChar char="•"/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“Conjunto de elementos o componentes que se relacionan entre si, para dar solución a un problema”</a:t>
            </a:r>
            <a:endParaRPr sz="2600"/>
          </a:p>
          <a:p>
            <a:pPr marL="1036319" lvl="1" indent="-518159" algn="l">
              <a:lnSpc>
                <a:spcPts val="5758"/>
              </a:lnSpc>
              <a:buFont typeface="Arial"/>
              <a:buChar char="•"/>
              <a:defRPr/>
            </a:pPr>
            <a:endParaRPr sz="2600"/>
          </a:p>
        </p:txBody>
      </p:sp>
      <p:sp>
        <p:nvSpPr>
          <p:cNvPr id="123897746" name="Freeform 7"/>
          <p:cNvSpPr/>
          <p:nvPr/>
        </p:nvSpPr>
        <p:spPr bwMode="auto">
          <a:xfrm rot="0" flipH="0" flipV="0">
            <a:off x="10192741" y="4321791"/>
            <a:ext cx="6743582" cy="3691368"/>
          </a:xfrm>
          <a:custGeom>
            <a:avLst/>
            <a:gdLst/>
            <a:ahLst/>
            <a:cxnLst/>
            <a:rect l="l" t="t" r="r" b="b"/>
            <a:pathLst>
              <a:path w="7408602" h="4055394" fill="norm" stroke="1" extrusionOk="0">
                <a:moveTo>
                  <a:pt x="0" y="0"/>
                </a:moveTo>
                <a:lnTo>
                  <a:pt x="7408602" y="0"/>
                </a:lnTo>
                <a:lnTo>
                  <a:pt x="7408602" y="4055393"/>
                </a:lnTo>
                <a:lnTo>
                  <a:pt x="0" y="4055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71" r="0" b="-10971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70560970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621969899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30422696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47740956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13096206" name="TextBox 6"/>
          <p:cNvSpPr txBox="1"/>
          <p:nvPr/>
        </p:nvSpPr>
        <p:spPr bwMode="auto">
          <a:xfrm rot="0" flipH="0" flipV="0">
            <a:off x="3951977" y="1248575"/>
            <a:ext cx="10384403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TIPOS DE SISTEMAS</a:t>
            </a:r>
            <a:endParaRPr/>
          </a:p>
        </p:txBody>
      </p:sp>
      <p:sp>
        <p:nvSpPr>
          <p:cNvPr id="1659418366" name="TextBox 9"/>
          <p:cNvSpPr txBox="1"/>
          <p:nvPr/>
        </p:nvSpPr>
        <p:spPr bwMode="auto">
          <a:xfrm rot="0" flipH="0" flipV="0">
            <a:off x="799244" y="3574420"/>
            <a:ext cx="14596989" cy="5828770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marL="690880" lvl="1" indent="-345439" algn="just">
              <a:lnSpc>
                <a:spcPts val="4479"/>
              </a:lnSpc>
              <a:buFont typeface="Arial"/>
              <a:buChar char="•"/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Sistema Abierto: 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Es el canal o ruta a través del cual se envían y reciben los mensajes. Cada "tema" organiza la comunicación en categorías para facilitar el intercambio de mensajes.</a:t>
            </a:r>
            <a:endParaRPr sz="2000"/>
          </a:p>
          <a:p>
            <a:pPr algn="just">
              <a:lnSpc>
                <a:spcPts val="4479"/>
              </a:lnSpc>
              <a:defRPr/>
            </a:pPr>
            <a:endParaRPr sz="2000"/>
          </a:p>
          <a:p>
            <a:pPr marL="690880" lvl="1" indent="-345439" algn="just">
              <a:lnSpc>
                <a:spcPts val="4479"/>
              </a:lnSpc>
              <a:buFont typeface="Arial"/>
              <a:buChar char="•"/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Sistema Cerrado: 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es un sistema físico que no interactúa con otros agentes físicos situados fuera de él y por lo tanto no está conectado casualmente ni relacionado con nada externo a él.</a:t>
            </a:r>
            <a:endParaRPr sz="2000"/>
          </a:p>
          <a:p>
            <a:pPr marL="690880" lvl="1" indent="-345439" algn="just">
              <a:lnSpc>
                <a:spcPts val="4479"/>
              </a:lnSpc>
              <a:buFont typeface="Arial"/>
              <a:buChar char="•"/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Sistema Natural</a:t>
            </a:r>
            <a:r>
              <a:rPr lang="en-US" sz="20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: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Denominamos sistema natural a aquel conjunto relacionado de elementos que surge como una propiedad de la naturaleza.</a:t>
            </a:r>
            <a:endParaRPr sz="2000"/>
          </a:p>
          <a:p>
            <a:pPr marL="829193" lvl="1" indent="-371993" algn="just">
              <a:lnSpc>
                <a:spcPts val="4386"/>
              </a:lnSpc>
              <a:buFont typeface="Arial"/>
              <a:buChar char="•"/>
              <a:defRPr/>
            </a:pPr>
            <a:r>
              <a:rPr lang="en-US" sz="20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Sistema Artifical:</a:t>
            </a:r>
            <a:r>
              <a:rPr lang="en-US" sz="20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es un tipo de sistema que fue creado por el hombre. El ser humano es quien crea el sistema artificial y le pone un fin en particular, siempre para satisfacer sus necesidades.</a:t>
            </a:r>
            <a:endParaRPr sz="2000"/>
          </a:p>
          <a:p>
            <a:pPr marL="1036319" lvl="1" indent="-518159" algn="l">
              <a:lnSpc>
                <a:spcPts val="5758"/>
              </a:lnSpc>
              <a:buFont typeface="Arial"/>
              <a:buChar char="•"/>
              <a:defRPr/>
            </a:pP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4149039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728656775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anchor="ctr"/>
            <a:p>
              <a:pPr algn="ctr">
                <a:defRPr/>
              </a:pPr>
              <a:endParaRPr/>
            </a:p>
          </p:txBody>
        </p:sp>
        <p:sp>
          <p:nvSpPr>
            <p:cNvPr id="741873239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68701841" name="Freeform 7"/>
          <p:cNvSpPr/>
          <p:nvPr/>
        </p:nvSpPr>
        <p:spPr bwMode="auto">
          <a:xfrm rot="0" flipH="0" flipV="0">
            <a:off x="4373031" y="1295906"/>
            <a:ext cx="9066199" cy="7135699"/>
          </a:xfrm>
          <a:custGeom>
            <a:avLst/>
            <a:gdLst/>
            <a:ahLst/>
            <a:cxnLst/>
            <a:rect l="l" t="t" r="r" b="b"/>
            <a:pathLst>
              <a:path w="9066200" h="7135700" fill="norm" stroke="1" extrusionOk="0">
                <a:moveTo>
                  <a:pt x="0" y="0"/>
                </a:moveTo>
                <a:lnTo>
                  <a:pt x="9066200" y="0"/>
                </a:lnTo>
                <a:lnTo>
                  <a:pt x="9066200" y="7135700"/>
                </a:lnTo>
                <a:lnTo>
                  <a:pt x="0" y="713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8656548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626219939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90463566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77569312" name="TextBox 9"/>
          <p:cNvSpPr txBox="1"/>
          <p:nvPr/>
        </p:nvSpPr>
        <p:spPr bwMode="auto">
          <a:xfrm rot="0" flipH="0" flipV="0">
            <a:off x="3806146" y="1256601"/>
            <a:ext cx="10100781" cy="2845159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Es un conjunto de dispositivos encargados de administrar, ordenar, dirigir o regular el comportamiento de otro sistema.</a:t>
            </a:r>
            <a:endParaRPr sz="2600"/>
          </a:p>
          <a:p>
            <a:pPr algn="just">
              <a:lnSpc>
                <a:spcPts val="4479"/>
              </a:lnSpc>
              <a:defRPr/>
            </a:pPr>
            <a:endParaRPr sz="2600"/>
          </a:p>
          <a:p>
            <a:pPr algn="just">
              <a:lnSpc>
                <a:spcPts val="4479"/>
              </a:lnSpc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Su finalidad es reducir las probabilidades de fallo y obtener los resultados deseados.</a:t>
            </a:r>
            <a:endParaRPr sz="2600"/>
          </a:p>
        </p:txBody>
      </p:sp>
      <p:sp>
        <p:nvSpPr>
          <p:cNvPr id="2031495309" name="Freeform 7"/>
          <p:cNvSpPr/>
          <p:nvPr/>
        </p:nvSpPr>
        <p:spPr bwMode="auto">
          <a:xfrm rot="0" flipH="0" flipV="0">
            <a:off x="5477599" y="4288943"/>
            <a:ext cx="7946850" cy="5067407"/>
          </a:xfrm>
          <a:custGeom>
            <a:avLst/>
            <a:gdLst/>
            <a:ahLst/>
            <a:cxnLst/>
            <a:rect l="l" t="t" r="r" b="b"/>
            <a:pathLst>
              <a:path w="7946851" h="5067408" fill="norm" stroke="1" extrusionOk="0">
                <a:moveTo>
                  <a:pt x="0" y="0"/>
                </a:moveTo>
                <a:lnTo>
                  <a:pt x="7946852" y="0"/>
                </a:lnTo>
                <a:lnTo>
                  <a:pt x="7946852" y="5067408"/>
                </a:lnTo>
                <a:lnTo>
                  <a:pt x="0" y="50674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41435486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979922438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54273513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12958734" name="AutoShape 5"/>
          <p:cNvSpPr/>
          <p:nvPr/>
        </p:nvSpPr>
        <p:spPr bwMode="auto">
          <a:xfrm>
            <a:off x="1028700" y="3615295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0124563" name="TextBox 6"/>
          <p:cNvSpPr txBox="1"/>
          <p:nvPr/>
        </p:nvSpPr>
        <p:spPr bwMode="auto">
          <a:xfrm rot="0" flipH="0" flipV="0">
            <a:off x="1486213" y="772325"/>
            <a:ext cx="15578336" cy="27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TIPOS DE SISTEMAS DE CONTROL</a:t>
            </a:r>
            <a:endParaRPr/>
          </a:p>
        </p:txBody>
      </p:sp>
      <p:sp>
        <p:nvSpPr>
          <p:cNvPr id="1102292452" name="TextBox 9"/>
          <p:cNvSpPr txBox="1"/>
          <p:nvPr/>
        </p:nvSpPr>
        <p:spPr bwMode="auto">
          <a:xfrm rot="0" flipH="0" flipV="0">
            <a:off x="1172763" y="3917998"/>
            <a:ext cx="10102221" cy="4257399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defRPr/>
            </a:pPr>
            <a:r>
              <a:rPr lang="en-US" sz="26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• SISO: </a:t>
            </a: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Una entrada y una salida (single input, single output).</a:t>
            </a:r>
            <a:endParaRPr sz="2600"/>
          </a:p>
          <a:p>
            <a:pPr algn="just">
              <a:lnSpc>
                <a:spcPts val="4479"/>
              </a:lnSpc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</a:t>
            </a:r>
            <a:r>
              <a:rPr lang="en-US" sz="26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SIMO:</a:t>
            </a: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Una entrada y múltiples salidas (single input, multiple output).</a:t>
            </a:r>
            <a:endParaRPr sz="2600"/>
          </a:p>
          <a:p>
            <a:pPr algn="just">
              <a:lnSpc>
                <a:spcPts val="4479"/>
              </a:lnSpc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</a:t>
            </a:r>
            <a:r>
              <a:rPr lang="en-US" sz="26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MISO:</a:t>
            </a: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Múltiples entradas y una salida (multiple input, single output).</a:t>
            </a:r>
            <a:endParaRPr sz="2600"/>
          </a:p>
          <a:p>
            <a:pPr algn="just">
              <a:lnSpc>
                <a:spcPts val="4479"/>
              </a:lnSpc>
              <a:defRPr/>
            </a:pP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</a:t>
            </a:r>
            <a:r>
              <a:rPr lang="en-US" sz="2600" b="1" i="0" u="none" strike="noStrike" cap="none" spc="0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MIMO: </a:t>
            </a:r>
            <a:r>
              <a:rPr lang="en-US" sz="2600" b="0" i="0" u="none" strike="noStrike" cap="none" spc="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Múltiples entradas y múltiples salidas (multiple input,multiple output).</a:t>
            </a:r>
            <a:endParaRPr sz="2600"/>
          </a:p>
          <a:p>
            <a:pPr>
              <a:defRPr/>
            </a:pPr>
            <a:endParaRPr/>
          </a:p>
        </p:txBody>
      </p:sp>
      <p:sp>
        <p:nvSpPr>
          <p:cNvPr id="2029124768" name="Freeform 7"/>
          <p:cNvSpPr/>
          <p:nvPr/>
        </p:nvSpPr>
        <p:spPr bwMode="auto">
          <a:xfrm rot="0" flipH="0" flipV="0">
            <a:off x="11728961" y="3917998"/>
            <a:ext cx="5335588" cy="5064796"/>
          </a:xfrm>
          <a:custGeom>
            <a:avLst/>
            <a:gdLst/>
            <a:ahLst/>
            <a:cxnLst/>
            <a:rect l="l" t="t" r="r" b="b"/>
            <a:pathLst>
              <a:path w="6070155" h="5762083" fill="norm" stroke="1" extrusionOk="0">
                <a:moveTo>
                  <a:pt x="0" y="0"/>
                </a:moveTo>
                <a:lnTo>
                  <a:pt x="6070155" y="0"/>
                </a:lnTo>
                <a:lnTo>
                  <a:pt x="6070155" y="5762083"/>
                </a:lnTo>
                <a:lnTo>
                  <a:pt x="0" y="5762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1478966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308474791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40236607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26015752" name="AutoShape 5"/>
          <p:cNvSpPr/>
          <p:nvPr/>
        </p:nvSpPr>
        <p:spPr bwMode="auto">
          <a:xfrm>
            <a:off x="972670" y="3643310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90512061" name="TextBox 6"/>
          <p:cNvSpPr txBox="1"/>
          <p:nvPr/>
        </p:nvSpPr>
        <p:spPr bwMode="auto">
          <a:xfrm rot="0" flipH="0" flipV="0">
            <a:off x="1290110" y="996443"/>
            <a:ext cx="15424255" cy="27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Casos de Uso: Tipos de sistema de control</a:t>
            </a:r>
            <a:endParaRPr/>
          </a:p>
        </p:txBody>
      </p:sp>
      <p:sp>
        <p:nvSpPr>
          <p:cNvPr id="1061965121" name="TextBox 11"/>
          <p:cNvSpPr txBox="1"/>
          <p:nvPr/>
        </p:nvSpPr>
        <p:spPr bwMode="auto">
          <a:xfrm rot="0">
            <a:off x="9383948" y="4398673"/>
            <a:ext cx="7148652" cy="60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  <a:defRPr/>
            </a:pPr>
            <a:r>
              <a:rPr lang="en-US" sz="3400">
                <a:solidFill>
                  <a:srgbClr val="0B8F84"/>
                </a:solidFill>
                <a:latin typeface="Open Sans"/>
                <a:ea typeface="Open Sans"/>
                <a:cs typeface="Open Sans"/>
              </a:rPr>
              <a:t>SIMO: Control de iluminación</a:t>
            </a:r>
            <a:endParaRPr/>
          </a:p>
        </p:txBody>
      </p:sp>
      <p:sp>
        <p:nvSpPr>
          <p:cNvPr id="35497461" name="TextBox 10"/>
          <p:cNvSpPr txBox="1"/>
          <p:nvPr/>
        </p:nvSpPr>
        <p:spPr bwMode="auto">
          <a:xfrm rot="0">
            <a:off x="1236156" y="4336097"/>
            <a:ext cx="7148652" cy="60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  <a:defRPr/>
            </a:pPr>
            <a:r>
              <a:rPr lang="en-US" sz="3400">
                <a:solidFill>
                  <a:srgbClr val="0B8F84"/>
                </a:solidFill>
                <a:latin typeface="Open Sans"/>
                <a:ea typeface="Open Sans"/>
                <a:cs typeface="Open Sans"/>
              </a:rPr>
              <a:t>SISO: Termostato de un horno</a:t>
            </a:r>
            <a:endParaRPr/>
          </a:p>
        </p:txBody>
      </p:sp>
      <p:sp>
        <p:nvSpPr>
          <p:cNvPr id="1732661922" name="Freeform 7"/>
          <p:cNvSpPr/>
          <p:nvPr/>
        </p:nvSpPr>
        <p:spPr bwMode="auto">
          <a:xfrm rot="0" flipH="0" flipV="0">
            <a:off x="1516303" y="5078714"/>
            <a:ext cx="7148292" cy="3563934"/>
          </a:xfrm>
          <a:custGeom>
            <a:avLst/>
            <a:gdLst/>
            <a:ahLst/>
            <a:cxnLst/>
            <a:rect l="l" t="t" r="r" b="b"/>
            <a:pathLst>
              <a:path w="7148293" h="3563935" fill="norm" stroke="1" extrusionOk="0">
                <a:moveTo>
                  <a:pt x="0" y="0"/>
                </a:moveTo>
                <a:lnTo>
                  <a:pt x="7148293" y="0"/>
                </a:lnTo>
                <a:lnTo>
                  <a:pt x="7148293" y="3563935"/>
                </a:lnTo>
                <a:lnTo>
                  <a:pt x="0" y="35639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674955707" name="Freeform 8"/>
          <p:cNvSpPr/>
          <p:nvPr/>
        </p:nvSpPr>
        <p:spPr bwMode="auto">
          <a:xfrm rot="0" flipH="0" flipV="0">
            <a:off x="9707747" y="5078714"/>
            <a:ext cx="6136500" cy="3429504"/>
          </a:xfrm>
          <a:custGeom>
            <a:avLst/>
            <a:gdLst/>
            <a:ahLst/>
            <a:cxnLst/>
            <a:rect l="l" t="t" r="r" b="b"/>
            <a:pathLst>
              <a:path w="6136501" h="3429504" fill="norm" stroke="1" extrusionOk="0">
                <a:moveTo>
                  <a:pt x="0" y="0"/>
                </a:moveTo>
                <a:lnTo>
                  <a:pt x="6136501" y="0"/>
                </a:lnTo>
                <a:lnTo>
                  <a:pt x="6136501" y="3429505"/>
                </a:lnTo>
                <a:lnTo>
                  <a:pt x="0" y="34295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46463363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2131272790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00050435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280895806" name="AutoShape 5"/>
          <p:cNvSpPr/>
          <p:nvPr/>
        </p:nvSpPr>
        <p:spPr bwMode="auto">
          <a:xfrm>
            <a:off x="1028700" y="3545258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25086472" name="TextBox 6"/>
          <p:cNvSpPr txBox="1"/>
          <p:nvPr/>
        </p:nvSpPr>
        <p:spPr bwMode="auto">
          <a:xfrm rot="0" flipH="0" flipV="0">
            <a:off x="1348187" y="926406"/>
            <a:ext cx="15591623" cy="27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Casos de Uso: Tipos de sistema de control</a:t>
            </a:r>
            <a:endParaRPr/>
          </a:p>
        </p:txBody>
      </p:sp>
      <p:sp>
        <p:nvSpPr>
          <p:cNvPr id="1781031161" name="Freeform 7"/>
          <p:cNvSpPr/>
          <p:nvPr/>
        </p:nvSpPr>
        <p:spPr bwMode="auto">
          <a:xfrm rot="0" flipH="0" flipV="0">
            <a:off x="2317510" y="5148751"/>
            <a:ext cx="6195048" cy="3484714"/>
          </a:xfrm>
          <a:custGeom>
            <a:avLst/>
            <a:gdLst/>
            <a:ahLst/>
            <a:cxnLst/>
            <a:rect l="l" t="t" r="r" b="b"/>
            <a:pathLst>
              <a:path w="6195049" h="3484715" fill="norm" stroke="1" extrusionOk="0">
                <a:moveTo>
                  <a:pt x="0" y="0"/>
                </a:moveTo>
                <a:lnTo>
                  <a:pt x="6195049" y="0"/>
                </a:lnTo>
                <a:lnTo>
                  <a:pt x="6195049" y="3484715"/>
                </a:lnTo>
                <a:lnTo>
                  <a:pt x="0" y="34847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200965929" name="Freeform 8"/>
          <p:cNvSpPr/>
          <p:nvPr/>
        </p:nvSpPr>
        <p:spPr bwMode="auto">
          <a:xfrm rot="0" flipH="0" flipV="0">
            <a:off x="9958249" y="5250422"/>
            <a:ext cx="6284671" cy="3487074"/>
          </a:xfrm>
          <a:custGeom>
            <a:avLst/>
            <a:gdLst/>
            <a:ahLst/>
            <a:cxnLst/>
            <a:rect l="l" t="t" r="r" b="b"/>
            <a:pathLst>
              <a:path w="6284672" h="3487075" fill="norm" stroke="1" extrusionOk="0">
                <a:moveTo>
                  <a:pt x="0" y="0"/>
                </a:moveTo>
                <a:lnTo>
                  <a:pt x="6284672" y="0"/>
                </a:lnTo>
                <a:lnTo>
                  <a:pt x="6284672" y="3487076"/>
                </a:lnTo>
                <a:lnTo>
                  <a:pt x="0" y="3487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61864151" name="TextBox 10"/>
          <p:cNvSpPr txBox="1"/>
          <p:nvPr/>
        </p:nvSpPr>
        <p:spPr bwMode="auto">
          <a:xfrm rot="0">
            <a:off x="1840889" y="4069957"/>
            <a:ext cx="7148652" cy="604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  <a:defRPr/>
            </a:pPr>
            <a:r>
              <a:rPr lang="en-US" sz="3400">
                <a:solidFill>
                  <a:srgbClr val="0B8F84"/>
                </a:solidFill>
                <a:latin typeface="Open Sans"/>
                <a:ea typeface="Open Sans"/>
                <a:cs typeface="Open Sans"/>
              </a:rPr>
              <a:t>MISO: Control de tráfico (semáforo)</a:t>
            </a:r>
            <a:endParaRPr/>
          </a:p>
        </p:txBody>
      </p:sp>
      <p:sp>
        <p:nvSpPr>
          <p:cNvPr id="1652392953" name="TextBox 11"/>
          <p:cNvSpPr txBox="1"/>
          <p:nvPr/>
        </p:nvSpPr>
        <p:spPr bwMode="auto">
          <a:xfrm rot="0">
            <a:off x="9526438" y="4069957"/>
            <a:ext cx="7148652" cy="120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8"/>
              </a:lnSpc>
              <a:defRPr/>
            </a:pPr>
            <a:r>
              <a:rPr lang="en-US" sz="3400">
                <a:solidFill>
                  <a:srgbClr val="0B8F84"/>
                </a:solidFill>
                <a:latin typeface="Open Sans"/>
                <a:ea typeface="Open Sans"/>
                <a:cs typeface="Open Sans"/>
              </a:rPr>
              <a:t>MIMO: Control de un vehículo autónomo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56431607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2014909449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709319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481541146" name="AutoShape 5"/>
          <p:cNvSpPr/>
          <p:nvPr/>
        </p:nvSpPr>
        <p:spPr bwMode="auto">
          <a:xfrm>
            <a:off x="1084729" y="3573042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06369103" name="TextBox 6"/>
          <p:cNvSpPr txBox="1"/>
          <p:nvPr/>
        </p:nvSpPr>
        <p:spPr bwMode="auto">
          <a:xfrm rot="0" flipH="0" flipV="0">
            <a:off x="957943" y="870377"/>
            <a:ext cx="16231320" cy="27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CLASIFICACIÓN DE LOS SISTEMAS DE CONTROL</a:t>
            </a:r>
            <a:endParaRPr/>
          </a:p>
        </p:txBody>
      </p:sp>
      <p:sp>
        <p:nvSpPr>
          <p:cNvPr id="827323128" name=""/>
          <p:cNvSpPr txBox="1"/>
          <p:nvPr/>
        </p:nvSpPr>
        <p:spPr bwMode="auto">
          <a:xfrm rot="0" flipH="0" flipV="0">
            <a:off x="1425224" y="4310043"/>
            <a:ext cx="8938139" cy="2367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ts val="4479"/>
              </a:lnSpc>
              <a:defRPr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</a:t>
            </a: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Lazo abierto: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El proceso de control posee una señal de entrada y da como resultado una señal de salida independiente, no hay retroalimentación.</a:t>
            </a:r>
            <a:endParaRPr/>
          </a:p>
          <a:p>
            <a:pPr algn="l">
              <a:lnSpc>
                <a:spcPts val="4479"/>
              </a:lnSpc>
              <a:defRPr/>
            </a:pP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</a:t>
            </a:r>
            <a:r>
              <a:rPr lang="en-US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</a:rPr>
              <a:t> Lazo cerrado:</a:t>
            </a:r>
            <a:r>
              <a:rPr lang="en-US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El proceso de control utiliza retroalimentación desde un resultado final para ajustar la acción o señal salida.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77682305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764496177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16023625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317488659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2620024" name="TextBox 6"/>
          <p:cNvSpPr txBox="1"/>
          <p:nvPr/>
        </p:nvSpPr>
        <p:spPr bwMode="auto">
          <a:xfrm rot="0">
            <a:off x="6286500" y="1500707"/>
            <a:ext cx="5715360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Lazo Abierto</a:t>
            </a:r>
            <a:endParaRPr/>
          </a:p>
        </p:txBody>
      </p:sp>
      <p:sp>
        <p:nvSpPr>
          <p:cNvPr id="615761833" name="Freeform 7"/>
          <p:cNvSpPr/>
          <p:nvPr/>
        </p:nvSpPr>
        <p:spPr bwMode="auto">
          <a:xfrm rot="0" flipH="0" flipV="0">
            <a:off x="3172657" y="3412994"/>
            <a:ext cx="11301258" cy="3461010"/>
          </a:xfrm>
          <a:custGeom>
            <a:avLst/>
            <a:gdLst/>
            <a:ahLst/>
            <a:cxnLst/>
            <a:rect l="l" t="t" r="r" b="b"/>
            <a:pathLst>
              <a:path w="11301259" h="3461011" fill="norm" stroke="1" extrusionOk="0">
                <a:moveTo>
                  <a:pt x="0" y="0"/>
                </a:moveTo>
                <a:lnTo>
                  <a:pt x="11301259" y="0"/>
                </a:lnTo>
                <a:lnTo>
                  <a:pt x="11301259" y="3461010"/>
                </a:lnTo>
                <a:lnTo>
                  <a:pt x="0" y="3461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34704560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470867162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79461877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27152515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2636665" name="TextBox 6"/>
          <p:cNvSpPr txBox="1"/>
          <p:nvPr/>
        </p:nvSpPr>
        <p:spPr bwMode="auto">
          <a:xfrm rot="0" flipH="0" flipV="0">
            <a:off x="5289500" y="1500707"/>
            <a:ext cx="7708999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Lazo Cerrado</a:t>
            </a:r>
            <a:endParaRPr/>
          </a:p>
        </p:txBody>
      </p:sp>
      <p:sp>
        <p:nvSpPr>
          <p:cNvPr id="1733134612" name="Freeform 7"/>
          <p:cNvSpPr/>
          <p:nvPr/>
        </p:nvSpPr>
        <p:spPr bwMode="auto">
          <a:xfrm rot="0" flipH="0" flipV="0">
            <a:off x="3493370" y="3634250"/>
            <a:ext cx="11301258" cy="4139085"/>
          </a:xfrm>
          <a:custGeom>
            <a:avLst/>
            <a:gdLst/>
            <a:ahLst/>
            <a:cxnLst/>
            <a:rect l="l" t="t" r="r" b="b"/>
            <a:pathLst>
              <a:path w="11301259" h="4139086" fill="norm" stroke="1" extrusionOk="0">
                <a:moveTo>
                  <a:pt x="0" y="0"/>
                </a:moveTo>
                <a:lnTo>
                  <a:pt x="11301258" y="0"/>
                </a:lnTo>
                <a:lnTo>
                  <a:pt x="11301258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2505951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712393786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77314767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485320873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79076747" name="TextBox 6"/>
          <p:cNvSpPr txBox="1"/>
          <p:nvPr/>
        </p:nvSpPr>
        <p:spPr bwMode="auto">
          <a:xfrm rot="0" flipH="0" flipV="0">
            <a:off x="1248087" y="1500707"/>
            <a:ext cx="15716970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SISTEMA DE CONTROL PID</a:t>
            </a:r>
            <a:endParaRPr/>
          </a:p>
        </p:txBody>
      </p:sp>
      <p:sp>
        <p:nvSpPr>
          <p:cNvPr id="1233961503" name="TextBox 8"/>
          <p:cNvSpPr txBox="1"/>
          <p:nvPr/>
        </p:nvSpPr>
        <p:spPr bwMode="auto">
          <a:xfrm rot="0" flipH="0" flipV="0">
            <a:off x="1777180" y="3169882"/>
            <a:ext cx="14165340" cy="6258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 Mecanismo de control por realimentación ampliamente utilizado en sistemas de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control industriales.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Calcula la desviación o error entre un valor medio y un valor deseado.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Utiliza 3 parámetros: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– Proporcional (P) »» Error actual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– Integral (I) »» Error pasado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– Derivativo (D) »» Error futuro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La sumatoria de los tres parámetros se utiliza para ajustar el proceso mediante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actuadores en el sistema.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2528116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381891917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07723874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72861072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55309315" name="TextBox 6"/>
          <p:cNvSpPr txBox="1"/>
          <p:nvPr/>
        </p:nvSpPr>
        <p:spPr bwMode="auto">
          <a:xfrm rot="0" flipH="0" flipV="0">
            <a:off x="3111066" y="1402656"/>
            <a:ext cx="12159822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¿QUÉ SIGNIFICA P-I-D?</a:t>
            </a:r>
            <a:endParaRPr/>
          </a:p>
        </p:txBody>
      </p:sp>
      <p:sp>
        <p:nvSpPr>
          <p:cNvPr id="350410962" name="TextBox 8"/>
          <p:cNvSpPr txBox="1"/>
          <p:nvPr/>
        </p:nvSpPr>
        <p:spPr bwMode="auto">
          <a:xfrm rot="0">
            <a:off x="1609092" y="3828228"/>
            <a:ext cx="14391690" cy="3983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Proporcional (P): genera una acción de control correctivo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proporcional al error.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Integral (I): corrección proporcional a la integral del error.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Asegura la aplicación de un esfuerzo de control suficiente, el error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de seguimiento se reduce a cero.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Derivativo (D): genera una acción de control proporcional al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cambio de rango del error. Efecto estabilizante.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21075013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948260536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04673304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40907869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75319340" name="TextBox 6"/>
          <p:cNvSpPr txBox="1"/>
          <p:nvPr/>
        </p:nvSpPr>
        <p:spPr bwMode="auto">
          <a:xfrm rot="0" flipH="0" flipV="0">
            <a:off x="4525808" y="1500707"/>
            <a:ext cx="9844013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Controlador PID</a:t>
            </a:r>
            <a:endParaRPr/>
          </a:p>
        </p:txBody>
      </p:sp>
      <p:sp>
        <p:nvSpPr>
          <p:cNvPr id="602139846" name="Freeform 8"/>
          <p:cNvSpPr/>
          <p:nvPr/>
        </p:nvSpPr>
        <p:spPr bwMode="auto">
          <a:xfrm rot="0" flipH="0" flipV="0">
            <a:off x="2833089" y="3540139"/>
            <a:ext cx="11291814" cy="4859588"/>
          </a:xfrm>
          <a:custGeom>
            <a:avLst/>
            <a:gdLst/>
            <a:ahLst/>
            <a:cxnLst/>
            <a:rect l="l" t="t" r="r" b="b"/>
            <a:pathLst>
              <a:path w="11291814" h="4859589" fill="norm" stroke="1" extrusionOk="0">
                <a:moveTo>
                  <a:pt x="0" y="0"/>
                </a:moveTo>
                <a:lnTo>
                  <a:pt x="11291814" y="0"/>
                </a:lnTo>
                <a:lnTo>
                  <a:pt x="11291814" y="4859588"/>
                </a:lnTo>
                <a:lnTo>
                  <a:pt x="0" y="4859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45051134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1546217419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27601694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888157069" name="AutoShape 5"/>
          <p:cNvSpPr/>
          <p:nvPr/>
        </p:nvSpPr>
        <p:spPr bwMode="auto">
          <a:xfrm>
            <a:off x="998276" y="4021508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8571315" name="TextBox 6"/>
          <p:cNvSpPr txBox="1"/>
          <p:nvPr/>
        </p:nvSpPr>
        <p:spPr bwMode="auto">
          <a:xfrm rot="0" flipH="0" flipV="0">
            <a:off x="1248087" y="1500707"/>
            <a:ext cx="15730977" cy="27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FUNCIONAMIENTO DEL CONTROLADOR PID</a:t>
            </a:r>
            <a:endParaRPr/>
          </a:p>
        </p:txBody>
      </p:sp>
      <p:sp>
        <p:nvSpPr>
          <p:cNvPr id="616021172" name="TextBox 8"/>
          <p:cNvSpPr txBox="1"/>
          <p:nvPr/>
        </p:nvSpPr>
        <p:spPr bwMode="auto">
          <a:xfrm rot="0">
            <a:off x="1709820" y="4363869"/>
            <a:ext cx="14309488" cy="4552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En un tiempo t utilizando sensores, medimos el estado del sistema.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En un tiempo t+1 se realiza un nuevo muestreo del sistema.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Se analiza la desviación del error en el muestreo.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Se genera una señal mediante un controlador (Arduino) capaz de generar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una señal que sea capaz cambiar el estado de un actuador.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Un actuador(motor, válvula, bomba, etc) modifica al sistema de manera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controlada.</a:t>
            </a:r>
            <a:endParaRPr/>
          </a:p>
          <a:p>
            <a:pPr algn="just">
              <a:lnSpc>
                <a:spcPts val="4479"/>
              </a:lnSpc>
              <a:defRPr/>
            </a:pPr>
            <a:r>
              <a:rPr lang="en-US" sz="320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Repite el ciclo.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127496237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394398032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84445854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350443310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9891753" name="TextBox 6"/>
          <p:cNvSpPr txBox="1"/>
          <p:nvPr/>
        </p:nvSpPr>
        <p:spPr bwMode="auto">
          <a:xfrm rot="0" flipH="0" flipV="0">
            <a:off x="5488080" y="1500707"/>
            <a:ext cx="7428852" cy="1351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UTILIZACIÓN</a:t>
            </a:r>
            <a:endParaRPr/>
          </a:p>
        </p:txBody>
      </p:sp>
      <p:sp>
        <p:nvSpPr>
          <p:cNvPr id="1895012342" name="TextBox 7"/>
          <p:cNvSpPr txBox="1"/>
          <p:nvPr/>
        </p:nvSpPr>
        <p:spPr bwMode="auto">
          <a:xfrm rot="0">
            <a:off x="1666359" y="3601134"/>
            <a:ext cx="8746488" cy="1823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7"/>
              </a:lnSpc>
              <a:defRPr/>
            </a:pP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Llenado de tanques</a:t>
            </a:r>
            <a:endParaRPr/>
          </a:p>
          <a:p>
            <a:pPr algn="just">
              <a:lnSpc>
                <a:spcPts val="3587"/>
              </a:lnSpc>
              <a:defRPr/>
            </a:pP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Control de temperatura</a:t>
            </a:r>
            <a:endParaRPr/>
          </a:p>
          <a:p>
            <a:pPr algn="just">
              <a:lnSpc>
                <a:spcPts val="3587"/>
              </a:lnSpc>
              <a:defRPr/>
            </a:pP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Gestión de velocidad de un vehículo</a:t>
            </a:r>
            <a:endParaRPr/>
          </a:p>
          <a:p>
            <a:pPr algn="just">
              <a:lnSpc>
                <a:spcPts val="3587"/>
              </a:lnSpc>
              <a:defRPr/>
            </a:pPr>
            <a:r>
              <a:rPr lang="en-US" sz="255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• Péndulos invertidos (Equilibrio)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4671065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2009774658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25211642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21749280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12079093" name="TextBox 6"/>
          <p:cNvSpPr txBox="1"/>
          <p:nvPr/>
        </p:nvSpPr>
        <p:spPr bwMode="auto">
          <a:xfrm rot="0">
            <a:off x="1422378" y="3007935"/>
            <a:ext cx="11109535" cy="1630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8"/>
              </a:lnSpc>
              <a:defRPr/>
            </a:pP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☁️ Comprendió los tipos de </a:t>
            </a:r>
            <a:r>
              <a:rPr lang="es-GT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sistemas</a:t>
            </a: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(</a:t>
            </a:r>
            <a:r>
              <a:rPr lang="es-GT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abierto cerrado)</a:t>
            </a: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.</a:t>
            </a:r>
            <a:endParaRPr lang="en-US" sz="2650">
              <a:solidFill>
                <a:srgbClr val="000000"/>
              </a:solidFill>
              <a:latin typeface="KG Primary Penmanship"/>
              <a:ea typeface="KG Primary Penmanship"/>
              <a:cs typeface="KG Primary Penmanship"/>
            </a:endParaRPr>
          </a:p>
          <a:p>
            <a:pPr algn="l">
              <a:lnSpc>
                <a:spcPts val="3208"/>
              </a:lnSpc>
              <a:defRPr/>
            </a:pPr>
            <a:r>
              <a:rPr lang="en-US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🎮</a:t>
            </a:r>
            <a:r>
              <a:rPr lang="es-GT" sz="265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 Aprendio que es controlador PID</a:t>
            </a:r>
            <a:endParaRPr/>
          </a:p>
          <a:p>
            <a:pPr algn="l">
              <a:lnSpc>
                <a:spcPts val="3208"/>
              </a:lnSpc>
              <a:defRPr/>
            </a:pPr>
            <a:endParaRPr/>
          </a:p>
          <a:p>
            <a:pPr algn="l">
              <a:lnSpc>
                <a:spcPts val="3208"/>
              </a:lnSpc>
              <a:defRPr/>
            </a:pPr>
            <a:endParaRPr/>
          </a:p>
        </p:txBody>
      </p:sp>
      <p:sp>
        <p:nvSpPr>
          <p:cNvPr id="1959777147" name="TextBox 7"/>
          <p:cNvSpPr txBox="1"/>
          <p:nvPr/>
        </p:nvSpPr>
        <p:spPr bwMode="auto">
          <a:xfrm rot="0">
            <a:off x="4381499" y="876298"/>
            <a:ext cx="9524999" cy="213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defRPr/>
            </a:pPr>
            <a:r>
              <a:rPr lang="en-US" sz="6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CONCEPTOS CLAVE APRENDIDOS</a:t>
            </a:r>
            <a:endParaRPr/>
          </a:p>
        </p:txBody>
      </p:sp>
      <p:sp>
        <p:nvSpPr>
          <p:cNvPr id="82731573" name="Freeform 8"/>
          <p:cNvSpPr/>
          <p:nvPr/>
        </p:nvSpPr>
        <p:spPr bwMode="auto">
          <a:xfrm rot="0" flipH="0" flipV="0">
            <a:off x="13361517" y="4456046"/>
            <a:ext cx="2619374" cy="2619374"/>
          </a:xfrm>
          <a:custGeom>
            <a:avLst/>
            <a:gdLst/>
            <a:ahLst/>
            <a:cxnLst/>
            <a:rect l="l" t="t" r="r" b="b"/>
            <a:pathLst>
              <a:path w="2619375" h="2619375" fill="norm" stroke="1" extrusionOk="0">
                <a:moveTo>
                  <a:pt x="0" y="0"/>
                </a:moveTo>
                <a:lnTo>
                  <a:pt x="2619375" y="0"/>
                </a:lnTo>
                <a:lnTo>
                  <a:pt x="2619375" y="2619375"/>
                </a:lnTo>
                <a:lnTo>
                  <a:pt x="0" y="261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1930386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461020609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51435256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74877492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26711705" name="TextBox 6"/>
          <p:cNvSpPr txBox="1"/>
          <p:nvPr/>
        </p:nvSpPr>
        <p:spPr bwMode="auto">
          <a:xfrm rot="0">
            <a:off x="1523998" y="3105148"/>
            <a:ext cx="15242518" cy="342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98"/>
              </a:lnSpc>
              <a:defRPr/>
            </a:pPr>
            <a:r>
              <a:rPr lang="en-US" sz="4500" u="sng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🔐 </a:t>
            </a:r>
            <a:r>
              <a:rPr lang="en-US" sz="4500" b="0" i="0" u="sng" strike="noStrike" cap="none" spc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Precisión y responsabilidad técnica</a:t>
            </a:r>
            <a:r>
              <a:rPr lang="en-US" sz="4500" u="sng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:</a:t>
            </a:r>
            <a:endParaRPr/>
          </a:p>
          <a:p>
            <a:pPr algn="just">
              <a:lnSpc>
                <a:spcPts val="5398"/>
              </a:lnSpc>
              <a:defRPr/>
            </a:pPr>
            <a:r>
              <a:rPr lang="en-US" sz="4500" b="0" i="0" u="none" strike="noStrike" cap="none" spc="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fomentar el diseño y análisis riguroso de sistemas de control, promoviendo la toma de decisiones fundamentadas, la confiabilidad operativa y el compromiso con soluciones seguras y eficientes.</a:t>
            </a:r>
            <a:endParaRPr/>
          </a:p>
        </p:txBody>
      </p:sp>
      <p:sp>
        <p:nvSpPr>
          <p:cNvPr id="164504697" name="Freeform 7"/>
          <p:cNvSpPr/>
          <p:nvPr/>
        </p:nvSpPr>
        <p:spPr bwMode="auto">
          <a:xfrm rot="0" flipH="0" flipV="0">
            <a:off x="12477749" y="6400800"/>
            <a:ext cx="2857500" cy="2857500"/>
          </a:xfrm>
          <a:custGeom>
            <a:avLst/>
            <a:gdLst/>
            <a:ahLst/>
            <a:cxnLst/>
            <a:rect l="l" t="t" r="r" b="b"/>
            <a:pathLst>
              <a:path w="2857500" h="2857500" fill="norm" stroke="1" extrusionOk="0">
                <a:moveTo>
                  <a:pt x="0" y="0"/>
                </a:moveTo>
                <a:lnTo>
                  <a:pt x="2857500" y="0"/>
                </a:lnTo>
                <a:lnTo>
                  <a:pt x="28575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id="1803361660" name="TextBox 8"/>
          <p:cNvSpPr txBox="1"/>
          <p:nvPr/>
        </p:nvSpPr>
        <p:spPr bwMode="auto">
          <a:xfrm rot="0">
            <a:off x="4381499" y="876298"/>
            <a:ext cx="9524999" cy="213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defRPr/>
            </a:pPr>
            <a:r>
              <a:rPr lang="en-US" sz="60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NOMBRE DEL VALOR Y/O ACTITUD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578220" name="Group 2"/>
          <p:cNvGrpSpPr/>
          <p:nvPr/>
        </p:nvGrpSpPr>
        <p:grpSpPr bwMode="auto">
          <a:xfrm rot="0">
            <a:off x="768247" y="785682"/>
            <a:ext cx="16751503" cy="8715634"/>
            <a:chOff x="0" y="0"/>
            <a:chExt cx="69085396" cy="35944419"/>
          </a:xfrm>
        </p:grpSpPr>
        <p:sp>
          <p:nvSpPr>
            <p:cNvPr id="897588306" name="Freeform 3"/>
            <p:cNvSpPr/>
            <p:nvPr/>
          </p:nvSpPr>
          <p:spPr bwMode="auto">
            <a:xfrm rot="0" flipH="0" flipV="0">
              <a:off x="72389" y="72389"/>
              <a:ext cx="68940618" cy="35799640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6708181" name="Freeform 4"/>
            <p:cNvSpPr/>
            <p:nvPr/>
          </p:nvSpPr>
          <p:spPr bwMode="auto">
            <a:xfrm rot="0" flipH="0" flipV="0">
              <a:off x="0" y="0"/>
              <a:ext cx="69085395" cy="35944419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921200659" name="AutoShape 5"/>
          <p:cNvSpPr/>
          <p:nvPr/>
        </p:nvSpPr>
        <p:spPr bwMode="auto">
          <a:xfrm>
            <a:off x="1028700" y="3026986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6637854" name="TextBox 6"/>
          <p:cNvSpPr txBox="1"/>
          <p:nvPr/>
        </p:nvSpPr>
        <p:spPr bwMode="auto">
          <a:xfrm rot="0">
            <a:off x="4857750" y="1500707"/>
            <a:ext cx="8572500" cy="135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38"/>
              </a:lnSpc>
              <a:defRPr/>
            </a:pPr>
            <a:r>
              <a:rPr lang="en-US" sz="760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REFERENCIAS</a:t>
            </a:r>
            <a:endParaRPr/>
          </a:p>
        </p:txBody>
      </p:sp>
      <p:sp>
        <p:nvSpPr>
          <p:cNvPr id="562663308" name="TextBox 7"/>
          <p:cNvSpPr txBox="1"/>
          <p:nvPr/>
        </p:nvSpPr>
        <p:spPr bwMode="auto">
          <a:xfrm rot="0">
            <a:off x="1047748" y="3188910"/>
            <a:ext cx="16195738" cy="2499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9"/>
              </a:lnSpc>
              <a:defRPr/>
            </a:pPr>
            <a:r>
              <a:rPr lang="en-US" sz="4100">
                <a:solidFill>
                  <a:srgbClr val="000000"/>
                </a:solidFill>
                <a:latin typeface="KG Primary Penmanship"/>
                <a:ea typeface="KG Primary Penmanship"/>
                <a:cs typeface="KG Primary Penmanship"/>
              </a:rPr>
              <a:t>REFERENCIAS:</a:t>
            </a:r>
            <a:endParaRPr/>
          </a:p>
          <a:p>
            <a:pPr algn="l">
              <a:lnSpc>
                <a:spcPts val="4918"/>
              </a:lnSpc>
              <a:defRPr/>
            </a:pPr>
            <a:r>
              <a:rPr lang="en-US" sz="4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https://www.ni.com/es/shop/labview/pid-theory-explained.html?srsltid=AfmBOorR6rEXuDdsE4dMK1_pMIMnBjkuHkCkDzisy4AAu-18If7EuARQ</a:t>
            </a:r>
            <a:endParaRPr sz="4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19601569" name="Group 2"/>
          <p:cNvGrpSpPr/>
          <p:nvPr/>
        </p:nvGrpSpPr>
        <p:grpSpPr bwMode="auto">
          <a:xfrm rot="0">
            <a:off x="768246" y="785682"/>
            <a:ext cx="16751502" cy="8715633"/>
            <a:chOff x="0" y="0"/>
            <a:chExt cx="69085395" cy="35944418"/>
          </a:xfrm>
        </p:grpSpPr>
        <p:sp>
          <p:nvSpPr>
            <p:cNvPr id="637182996" name="Freeform 3"/>
            <p:cNvSpPr/>
            <p:nvPr/>
          </p:nvSpPr>
          <p:spPr bwMode="auto">
            <a:xfrm rot="0" flipH="0" flipV="0">
              <a:off x="72388" y="72388"/>
              <a:ext cx="68940617" cy="35799639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29939262" name="Freeform 4"/>
            <p:cNvSpPr/>
            <p:nvPr/>
          </p:nvSpPr>
          <p:spPr bwMode="auto">
            <a:xfrm rot="0" flipH="0" flipV="0">
              <a:off x="0" y="0"/>
              <a:ext cx="69085395" cy="35944418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1756872939" name="AutoShape 5"/>
          <p:cNvSpPr/>
          <p:nvPr/>
        </p:nvSpPr>
        <p:spPr bwMode="auto">
          <a:xfrm>
            <a:off x="1028700" y="3026985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38377419" name="TextBox 7"/>
          <p:cNvSpPr txBox="1"/>
          <p:nvPr/>
        </p:nvSpPr>
        <p:spPr bwMode="auto">
          <a:xfrm rot="0">
            <a:off x="4381498" y="876297"/>
            <a:ext cx="9525358" cy="106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8"/>
              </a:lnSpc>
              <a:defRPr/>
            </a:pPr>
            <a:r>
              <a:rPr lang="en-US" sz="6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Ejemplo práctico</a:t>
            </a:r>
            <a:endParaRPr/>
          </a:p>
        </p:txBody>
      </p:sp>
      <p:pic>
        <p:nvPicPr>
          <p:cNvPr id="2119026369" name="Google Shape;192;g364f262177b_0_2" title="Gemini_Generated_Image_u2i06ou2i06ou2i0.png"/>
          <p:cNvPicPr/>
          <p:nvPr/>
        </p:nvPicPr>
        <p:blipFill rotWithShape="1">
          <a:blip r:embed="rId3">
            <a:alphaModFix/>
          </a:blip>
          <a:stretch/>
        </p:blipFill>
        <p:spPr bwMode="auto">
          <a:xfrm flipH="0" flipV="0">
            <a:off x="1028698" y="3312735"/>
            <a:ext cx="4074526" cy="5583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E1E2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5728742" name="Group 2"/>
          <p:cNvGrpSpPr/>
          <p:nvPr/>
        </p:nvGrpSpPr>
        <p:grpSpPr bwMode="auto">
          <a:xfrm rot="0">
            <a:off x="768246" y="785682"/>
            <a:ext cx="16751502" cy="8715633"/>
            <a:chOff x="0" y="0"/>
            <a:chExt cx="69085395" cy="35944418"/>
          </a:xfrm>
        </p:grpSpPr>
        <p:sp>
          <p:nvSpPr>
            <p:cNvPr id="86501078" name="Freeform 3"/>
            <p:cNvSpPr/>
            <p:nvPr/>
          </p:nvSpPr>
          <p:spPr bwMode="auto">
            <a:xfrm rot="0" flipH="0" flipV="0">
              <a:off x="72388" y="72388"/>
              <a:ext cx="68940617" cy="35799639"/>
            </a:xfrm>
            <a:custGeom>
              <a:avLst/>
              <a:gdLst/>
              <a:ahLst/>
              <a:cxnLst/>
              <a:rect l="l" t="t" r="r" b="b"/>
              <a:pathLst>
                <a:path w="68940619" h="35799641" fill="norm" stroke="1" extrusionOk="0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88886188" name="Freeform 4"/>
            <p:cNvSpPr/>
            <p:nvPr/>
          </p:nvSpPr>
          <p:spPr bwMode="auto">
            <a:xfrm rot="0" flipH="0" flipV="0">
              <a:off x="0" y="0"/>
              <a:ext cx="69085395" cy="35944418"/>
            </a:xfrm>
            <a:custGeom>
              <a:avLst/>
              <a:gdLst/>
              <a:ahLst/>
              <a:cxnLst/>
              <a:rect l="l" t="t" r="r" b="b"/>
              <a:pathLst>
                <a:path w="69085396" h="35944420" fill="norm" stroke="1" extrusionOk="0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588108284" name="AutoShape 5"/>
          <p:cNvSpPr/>
          <p:nvPr/>
        </p:nvSpPr>
        <p:spPr bwMode="auto">
          <a:xfrm>
            <a:off x="1028700" y="3026985"/>
            <a:ext cx="16230600" cy="0"/>
          </a:xfrm>
          <a:prstGeom prst="line">
            <a:avLst/>
          </a:prstGeom>
          <a:ln w="3810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50909767" name="TextBox 7"/>
          <p:cNvSpPr txBox="1"/>
          <p:nvPr/>
        </p:nvSpPr>
        <p:spPr bwMode="auto">
          <a:xfrm rot="0">
            <a:off x="4381498" y="876297"/>
            <a:ext cx="9534357" cy="1067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8"/>
              </a:lnSpc>
              <a:defRPr/>
            </a:pPr>
            <a:r>
              <a:rPr lang="es-GT" sz="6000" b="0" i="0" u="none" strike="noStrike" cap="none" spc="0">
                <a:solidFill>
                  <a:srgbClr val="0066CC"/>
                </a:solidFill>
                <a:latin typeface="ITC Motter Corpus Regular"/>
                <a:ea typeface="ITC Motter Corpus Regular"/>
                <a:cs typeface="ITC Motter Corpus Regular"/>
              </a:rPr>
              <a:t>Practiquemos lo aprendido</a:t>
            </a:r>
            <a:endParaRPr/>
          </a:p>
        </p:txBody>
      </p:sp>
      <p:pic>
        <p:nvPicPr>
          <p:cNvPr id="1490919752" name="Google Shape;198;g364afea4f63_0_148" title="Gemini_Generated_Image_mopnfwmopnfwmopn (1).png"/>
          <p:cNvPicPr/>
          <p:nvPr/>
        </p:nvPicPr>
        <p:blipFill rotWithShape="1">
          <a:blip r:embed="rId3">
            <a:alphaModFix/>
          </a:blip>
          <a:srcRect l="0" t="0" r="0" b="0"/>
          <a:stretch/>
        </p:blipFill>
        <p:spPr bwMode="auto">
          <a:xfrm>
            <a:off x="1180293" y="3505198"/>
            <a:ext cx="4077822" cy="4077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46371820" name="Google Shape;54;p13"/>
          <p:cNvPicPr/>
          <p:nvPr/>
        </p:nvPicPr>
        <p:blipFill rotWithShape="1">
          <a:blip r:embed="rId3">
            <a:alphaModFix amt="62000"/>
          </a:blip>
          <a:stretch/>
        </p:blipFill>
        <p:spPr bwMode="auto">
          <a:xfrm>
            <a:off x="16902" y="0"/>
            <a:ext cx="18254196" cy="10287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4535600" name="Google Shape;55;p13"/>
          <p:cNvGraphicFramePr>
            <a:graphicFrameLocks xmlns:a="http://schemas.openxmlformats.org/drawingml/2006/main"/>
          </p:cNvGraphicFramePr>
          <p:nvPr/>
        </p:nvGraphicFramePr>
        <p:xfrm rot="0">
          <a:off x="16898" y="1507248"/>
          <a:ext cx="2999998" cy="2999998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2766548"/>
                <a:gridCol w="2463323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286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45203363" name="Google Shape;56;p13"/>
          <p:cNvSpPr txBox="1"/>
          <p:nvPr/>
        </p:nvSpPr>
        <p:spPr bwMode="auto">
          <a:xfrm>
            <a:off x="0" y="4281898"/>
            <a:ext cx="18037800" cy="80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s" b="1"/>
              <a:t>Participantes: llenar las siguientes cajas de texto (tomar información del chat del meet)</a:t>
            </a:r>
            <a:endParaRPr b="1"/>
          </a:p>
        </p:txBody>
      </p:sp>
      <p:sp>
        <p:nvSpPr>
          <p:cNvPr id="1138272876" name="Google Shape;57;p13"/>
          <p:cNvSpPr txBox="1"/>
          <p:nvPr/>
        </p:nvSpPr>
        <p:spPr bwMode="auto">
          <a:xfrm>
            <a:off x="16898" y="4955796"/>
            <a:ext cx="6167398" cy="51101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883901123" name="Google Shape;58;p13"/>
          <p:cNvGraphicFramePr>
            <a:graphicFrameLocks xmlns:a="http://schemas.openxmlformats.org/drawingml/2006/main"/>
          </p:cNvGraphicFramePr>
          <p:nvPr/>
        </p:nvGraphicFramePr>
        <p:xfrm rot="0">
          <a:off x="10656398" y="1940049"/>
          <a:ext cx="2999998" cy="2999998"/>
        </p:xfrm>
        <a:graphic>
          <a:graphicData uri="http://schemas.openxmlformats.org/drawingml/2006/table">
            <a:tbl>
              <a:tblPr firstRow="0" firstCol="0" lastRow="0" lastCol="0" bandRow="0" bandCol="0">
                <a:noFill/>
              </a:tblPr>
              <a:tblGrid>
                <a:gridCol w="1518198"/>
                <a:gridCol w="2172375"/>
              </a:tblGrid>
              <a:tr h="32245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631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400" b="1">
                        <a:solidFill>
                          <a:schemeClr val="dk1"/>
                        </a:solidFill>
                      </a:endParaRPr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  <a:tr h="3286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  <a:defRPr/>
                      </a:pPr>
                      <a:r>
                        <a:rPr lang="es" sz="14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500" b="1"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endParaRPr/>
                    </a:p>
                  </a:txBody>
                  <a:tcPr marL="91422" marR="91422" marT="91422" marB="91422">
                    <a:lnL w="12699" algn="ctr">
                      <a:solidFill>
                        <a:srgbClr val="000000"/>
                      </a:solidFill>
                    </a:lnL>
                    <a:lnR w="12699" algn="ctr">
                      <a:solidFill>
                        <a:srgbClr val="000000"/>
                      </a:solidFill>
                    </a:lnR>
                    <a:lnT w="12699" algn="ctr">
                      <a:solidFill>
                        <a:srgbClr val="000000"/>
                      </a:solidFill>
                    </a:lnT>
                    <a:lnB w="12699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47700845" name="Google Shape;59;p13"/>
          <p:cNvSpPr txBox="1"/>
          <p:nvPr/>
        </p:nvSpPr>
        <p:spPr bwMode="auto">
          <a:xfrm>
            <a:off x="6261598" y="4955796"/>
            <a:ext cx="6167398" cy="51101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92259678" name="Google Shape;60;p13"/>
          <p:cNvSpPr txBox="1"/>
          <p:nvPr/>
        </p:nvSpPr>
        <p:spPr bwMode="auto">
          <a:xfrm>
            <a:off x="12506298" y="4955796"/>
            <a:ext cx="5764798" cy="511019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2" tIns="91422" rIns="91422" bIns="91422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Clase8_04-04-2024</dc:title>
  <dc:identifier>DAGTMBmudPw</dc:identifier>
  <cp:lastModifiedBy/>
  <cp:revision>3</cp:revision>
  <dcterms:created xsi:type="dcterms:W3CDTF">2006-08-16T00:00:00Z</dcterms:created>
  <dcterms:modified xsi:type="dcterms:W3CDTF">2025-10-29T18:25:59Z</dcterms:modified>
</cp:coreProperties>
</file>