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1043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3284741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7268E1E-0E44-426D-905E-8AD9B19D2182}" type="datetimeFigureOut">
              <a:rPr lang="cs-CZ"/>
              <a:t>1.7.2013</a:t>
            </a:fld>
            <a:endParaRPr lang="cs-CZ"/>
          </a:p>
        </p:txBody>
      </p:sp>
      <p:sp>
        <p:nvSpPr>
          <p:cNvPr id="7629422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cs-CZ"/>
          </a:p>
        </p:txBody>
      </p:sp>
      <p:sp>
        <p:nvSpPr>
          <p:cNvPr id="20204981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17605758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0006990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71B2431-D351-4C6E-A3CF-9DFAC0E3E050}" type="slidenum">
              <a:rPr lang="cs-CZ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2708" name="Google Shape;51;gcb241b134e_0_0:notes"/>
          <p:cNvSpPr/>
          <p:nvPr>
            <p:ph type="sldImg" idx="2"/>
          </p:nvPr>
        </p:nvSpPr>
        <p:spPr bwMode="auto">
          <a:xfrm>
            <a:off x="3812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333946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681585-8DAE-83A2-2082-0574F6C70F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F51E1C-1960-DF66-2C26-4A0152F0B6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2B248-3DDB-5EA2-854E-B8D63BA55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325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79147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630022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1503396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Definición corta: HTTP = protocolo para transferir datos entre cliente y servidor.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Uso original: diseñado para la web (páginas, archivos).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Relevancia en IoT: permite que sensores y dispositivos envíen datos a la nube o a servidores.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 sencillo: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 de temperatura → API HTTP → App móvil.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Ventajas principales: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Fácil de implementar.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Altamente compatible con servicios, APIs y plataformas.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Nota final: aunque funciona bien, no siempre es eficiente para IoT → transición natural hacia otros protocolos como MQTT.</a:t>
            </a:r>
            <a:endParaRPr/>
          </a:p>
        </p:txBody>
      </p:sp>
      <p:sp>
        <p:nvSpPr>
          <p:cNvPr id="13803255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83405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5818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57030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6542049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809137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Cómo funciona: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El cliente (sensor, dispositivo IoT, app móvil) envía solicitudes HTTP.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El servidor recibe, procesa y responde con datos o comandos.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 sencillo: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 de humedad → envía datos al servidor → app muestra si debes regar las plantas.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Flujo básico en IoT: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Sensores → API REST → Base de datos/Nube → Aplicación de usuario.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Ventaja: fácil de integrar con APIs y dashboards.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Limitación futura: cada solicitud lleva encabezados y datos extra → no siempre eficiente en dispositivos con recursos limitados.</a:t>
            </a:r>
            <a:endParaRPr/>
          </a:p>
        </p:txBody>
      </p:sp>
      <p:sp>
        <p:nvSpPr>
          <p:cNvPr id="11403249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81490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7922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83463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86385562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2"/>
            <a:ext cx="3429000" cy="256698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145593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199"/>
            <a:ext cx="7315200" cy="3081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Definición corta: HTTP = protocolo para transferir datos entre cliente y servidor.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Uso original: diseñado para la web (páginas, archivos).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Relevancia en IoT: permite que sensores y dispositivos envíen datos a la nube o a servidores.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 sencillo: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 de temperatura → API HTTP → App móvil.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Ventajas principales: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Fácil de implementar.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Altamente compatible con servicios, APIs y plataformas.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Nota final: aunque funciona bien, no siempre es eficiente para IoT → transición natural hacia otros protocolos como MQTT.</a:t>
            </a:r>
            <a:endParaRPr/>
          </a:p>
        </p:txBody>
      </p:sp>
      <p:sp>
        <p:nvSpPr>
          <p:cNvPr id="3577382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50865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2322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91564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3091599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2"/>
            <a:ext cx="3429000" cy="256698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84922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199"/>
            <a:ext cx="7315200" cy="3081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Definición corta: HTTP = protocolo para transferir datos entre cliente y servidor.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Uso original: diseñado para la web (páginas, archivos).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Relevancia en IoT: permite que sensores y dispositivos envíen datos a la nube o a servidores.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 sencillo: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 de temperatura → API HTTP → App móvil.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Ventajas principales: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Fácil de implementar.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Altamente compatible con servicios, APIs y plataformas.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Nota final: aunque funciona bien, no siempre es eficiente para IoT → transición natural hacia otros protocolos como MQTT.</a:t>
            </a:r>
            <a:endParaRPr/>
          </a:p>
        </p:txBody>
      </p:sp>
      <p:sp>
        <p:nvSpPr>
          <p:cNvPr id="3576633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558906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854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39790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400092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02549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Monitoreo remoto: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Sensores envían datos vía HTTP a la nube → dashboards muestran información en tiempo real.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Ejemplo: temperatura, humedad, consumo energético.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Control de dispositivos: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Apps móviles o web envían solicitudes HTTP → el servidor da instrucciones al dispositivo.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Ejemplo: encender luces, abrir una válvula, ajustar un termostato.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Integración con servicios externos: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APIs HTTP conectan dispositivos con plataformas como AWS IoT, Azure IoT o Google Cloud.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Visualización de datos: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HTTP facilita mostrar métricas e historiales en dashboards accesibles desde cualquier navegador.</a:t>
            </a:r>
            <a:endParaRPr/>
          </a:p>
        </p:txBody>
      </p:sp>
      <p:sp>
        <p:nvSpPr>
          <p:cNvPr id="6545352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42505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9362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59297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052816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25798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Primera imagen (sensor):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“Aquí tenemos un sensor de temperatura que toma una lectura, por ejemplo 27 °C.”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Segunda imagen (API HTTP/servidor):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“El sensor envía esta información usando HTTP a un servidor o API en la nube, donde los datos se procesan y almacenan.”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Tercera imagen (app móvil):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“Finalmente, una aplicación móvil puede consultar esos datos mediante HTTP y mostrarlos en tiempo real al usuario.”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Cierre rápido: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“Este flujo es muy común en IoT: dispositivo → nube → aplicación. HTTP es el puente que conecta todo.”</a:t>
            </a:r>
            <a:endParaRPr/>
          </a:p>
        </p:txBody>
      </p:sp>
      <p:sp>
        <p:nvSpPr>
          <p:cNvPr id="1647262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54689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635112-FD93-1453-C1FA-1083365121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1193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411312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55615108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70427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Reducir tamaño del mensaje: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GZIP permite comprimir el contenido antes de enviarlo.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Ejemplo: un mensaje de 2 KB puede reducirse a 500 B.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Usar CBOR en vez de JSON: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JSON es texto → más pesado.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CBOR es binario → hasta 40% más liviano.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Headers mínimos: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No siempre necesitamos enviar todo; menos datos → menos energía y tiempo.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Conexiones persistentes: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Evitan abrir/cerrar sesión cada vez → menos latencia y menor consumo energético.</a:t>
            </a:r>
            <a:endParaRPr/>
          </a:p>
        </p:txBody>
      </p:sp>
      <p:sp>
        <p:nvSpPr>
          <p:cNvPr id="9347401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193530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9817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732890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65948995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990291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Encabezados pesados: cada solicitud HTTP incluye mucha información extra → aumenta el tamaño de los mensajes.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Mayor consumo de energía: mantener conexiones repetitivas impacta en dispositivos IoT con batería.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Latencia acumulada: cada petición abre y cierra conexión → ralentiza sistemas con múltiples transmisiones.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Escalabilidad limitada: cuando hay muchos dispositivos IoT → HTTP puede saturar servidores y redes.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Ejemplo sencillo: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“Si tenemos 500 sensores que envían datos cada segundo, el tráfico HTTP puede generar cuellos de botella y retrasos en la información.”</a:t>
            </a:r>
            <a:endParaRPr/>
          </a:p>
        </p:txBody>
      </p:sp>
      <p:sp>
        <p:nvSpPr>
          <p:cNvPr id="3436790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478333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8134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14110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5929301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2"/>
            <a:ext cx="3429000" cy="256698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5976027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199"/>
            <a:ext cx="7315200" cy="3081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Primera imagen (sensor):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“Aquí tenemos un sensor de temperatura que toma una lectura, por ejemplo 27 °C.”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Segunda imagen (API HTTP/servidor):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“El sensor envía esta información usando HTTP a un servidor o API en la nube, donde los datos se procesan y almacenan.”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Tercera imagen (app móvil):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“Finalmente, una aplicación móvil puede consultar esos datos mediante HTTP y mostrarlos en tiempo real al usuario.”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Cierre rápido: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“Este flujo es muy común en IoT: dispositivo → nube → aplicación. HTTP es el puente que conecta todo.”</a:t>
            </a:r>
            <a:endParaRPr/>
          </a:p>
        </p:txBody>
      </p:sp>
      <p:sp>
        <p:nvSpPr>
          <p:cNvPr id="5345515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600415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687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88060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399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0496341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2"/>
            <a:ext cx="3429000" cy="256698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0791960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199"/>
            <a:ext cx="7315200" cy="3081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Primera imagen (sensor):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“Aquí tenemos un sensor de temperatura que toma una lectura, por ejemplo 27 °C.”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Segunda imagen (API HTTP/servidor):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“El sensor envía esta información usando HTTP a un servidor o API en la nube, donde los datos se procesan y almacenan.”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Tercera imagen (app móvil):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“Finalmente, una aplicación móvil puede consultar esos datos mediante HTTP y mostrarlos en tiempo real al usuario.”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Cierre rápido: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“Este flujo es muy común en IoT: dispositivo → nube → aplicación. HTTP es el puente que conecta todo.”</a:t>
            </a:r>
            <a:endParaRPr/>
          </a:p>
        </p:txBody>
      </p:sp>
      <p:sp>
        <p:nvSpPr>
          <p:cNvPr id="19848735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451953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399"/>
            <a:ext cx="3962399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733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455685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0082768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709663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Sensor (izquierda):</a:t>
            </a:r>
            <a:endParaRPr/>
          </a:p>
          <a:p>
            <a:pPr>
              <a:defRPr/>
            </a:pPr>
            <a:r>
              <a:rPr lang="en-US"/>
              <a:t>Representa un dispositivo IoT que genera datos (ej. temperatura, humedad).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Optimización (GZIP y CBOR):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GZIP: técnica de compresión de texto → reduce el tamaño de mensajes HTTP.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CBOR: formato binario más compacto que JSON → mensajes más ligeros y rápidos.</a:t>
            </a:r>
            <a:endParaRPr/>
          </a:p>
          <a:p>
            <a:pPr>
              <a:defRPr/>
            </a:pPr>
            <a:r>
              <a:rPr lang="en-US"/>
              <a:t>Ambos ayudan a que los datos viajen más rápido y consuman menos energía/red.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Servidor (centro):</a:t>
            </a:r>
            <a:endParaRPr/>
          </a:p>
          <a:p>
            <a:pPr>
              <a:defRPr/>
            </a:pPr>
            <a:r>
              <a:rPr lang="en-US"/>
              <a:t>Recibe la información ya optimizada y más liviana, lo que reduce carga y ancho de banda.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Dashboard (derecha):</a:t>
            </a:r>
            <a:endParaRPr/>
          </a:p>
          <a:p>
            <a:pPr>
              <a:defRPr/>
            </a:pPr>
            <a:r>
              <a:rPr lang="en-US"/>
              <a:t>Visualiza los datos en tiempo real → gráficos, métricas, información accesible.</a:t>
            </a:r>
            <a:endParaRPr/>
          </a:p>
        </p:txBody>
      </p:sp>
      <p:sp>
        <p:nvSpPr>
          <p:cNvPr id="11228507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088528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4653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30161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8812154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9973816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Sensor (izquierda):</a:t>
            </a:r>
            <a:endParaRPr/>
          </a:p>
          <a:p>
            <a:pPr>
              <a:defRPr/>
            </a:pPr>
            <a:r>
              <a:rPr lang="en-US"/>
              <a:t>Representa un dispositivo IoT que genera datos (ej. temperatura, humedad).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Optimización (GZIP y CBOR):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GZIP: técnica de compresión de texto → reduce el tamaño de mensajes HTTP.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CBOR: formato binario más compacto que JSON → mensajes más ligeros y rápidos.</a:t>
            </a:r>
            <a:endParaRPr/>
          </a:p>
          <a:p>
            <a:pPr>
              <a:defRPr/>
            </a:pPr>
            <a:r>
              <a:rPr lang="en-US"/>
              <a:t>Ambos ayudan a que los datos viajen más rápido y consuman menos energía/red.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Servidor (centro):</a:t>
            </a:r>
            <a:endParaRPr/>
          </a:p>
          <a:p>
            <a:pPr>
              <a:defRPr/>
            </a:pPr>
            <a:r>
              <a:rPr lang="en-US"/>
              <a:t>Recibe la información ya optimizada y más liviana, lo que reduce carga y ancho de banda.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Dashboard (derecha):</a:t>
            </a:r>
            <a:endParaRPr/>
          </a:p>
          <a:p>
            <a:pPr>
              <a:defRPr/>
            </a:pPr>
            <a:r>
              <a:rPr lang="en-US"/>
              <a:t>Visualiza los datos en tiempo real → gráficos, métricas, información accesible.</a:t>
            </a:r>
            <a:endParaRPr/>
          </a:p>
        </p:txBody>
      </p:sp>
      <p:sp>
        <p:nvSpPr>
          <p:cNvPr id="2926724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294176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5922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605293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77611014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364270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defRPr/>
            </a:pPr>
            <a:r>
              <a:rPr lang="en-US"/>
              <a:t>Sensor (izquierda):</a:t>
            </a:r>
            <a:endParaRPr/>
          </a:p>
          <a:p>
            <a:pPr>
              <a:defRPr/>
            </a:pPr>
            <a:r>
              <a:rPr lang="en-US"/>
              <a:t>Representa un dispositivo IoT que genera datos (ej. temperatura, humedad).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Optimización (GZIP y CBOR):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GZIP: técnica de compresión de texto → reduce el tamaño de mensajes HTTP.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CBOR: formato binario más compacto que JSON → mensajes más ligeros y rápidos.</a:t>
            </a:r>
            <a:endParaRPr/>
          </a:p>
          <a:p>
            <a:pPr>
              <a:defRPr/>
            </a:pPr>
            <a:r>
              <a:rPr lang="en-US"/>
              <a:t>Ambos ayudan a que los datos viajen más rápido y consuman menos energía/red.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Servidor (centro):</a:t>
            </a:r>
            <a:endParaRPr/>
          </a:p>
          <a:p>
            <a:pPr>
              <a:defRPr/>
            </a:pPr>
            <a:r>
              <a:rPr lang="en-US"/>
              <a:t>Recibe la información ya optimizada y más liviana, lo que reduce carga y ancho de banda.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Dashboard (derecha):</a:t>
            </a:r>
            <a:endParaRPr/>
          </a:p>
          <a:p>
            <a:pPr>
              <a:defRPr/>
            </a:pPr>
            <a:r>
              <a:rPr lang="en-US"/>
              <a:t>Visualiza los datos en tiempo real → gráficos, métricas, información accesible.</a:t>
            </a:r>
            <a:endParaRPr/>
          </a:p>
        </p:txBody>
      </p:sp>
      <p:sp>
        <p:nvSpPr>
          <p:cNvPr id="13862306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78055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9B27C-B1D4-64EA-E7A3-59EA1FFA25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7A00D1-2253-574C-DB9C-9E3C80EE9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42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2771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045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527E93-E754-84BA-E6D0-49D0B7121D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33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4546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289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166B23-DFB8-90C8-DE49-12D3A47072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954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74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18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A60787-9AF9-E462-26B6-1B3E2590D3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180820" name="Google Shape;51;gcb241b134e_0_0:notes"/>
          <p:cNvSpPr/>
          <p:nvPr>
            <p:ph type="sldImg" idx="2"/>
          </p:nvPr>
        </p:nvSpPr>
        <p:spPr bwMode="auto">
          <a:xfrm>
            <a:off x="3812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158160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E2E37-9AB9-DAF8-1CB6-9935E1B07C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7755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179225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949612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122608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73696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938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72196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31762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215407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2586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08010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49548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65293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523538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3791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309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76334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000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75497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89817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89716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4609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0406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62905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79246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37351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85636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10500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440223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83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88035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708664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47726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36790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347601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25346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59544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05606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99836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36880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172426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45630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344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068055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073167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94947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143196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07603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878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740628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51791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2097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167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60757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835853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37988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115345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6855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7991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88670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75611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619022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87618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media2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media3.sv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media4.sv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impactotic.co/tecnologia/cloud/migracion-a-la-nube-subase-a-la-tendencia-del-momento/" TargetMode="Externa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3467098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6" cy="1028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206977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2599498" y="1940049"/>
          <a:ext cx="3703275" cy="92703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518198"/>
                <a:gridCol w="2172375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1201310" name="Google Shape;89;g364afea4f63_0_0"/>
          <p:cNvSpPr/>
          <p:nvPr/>
        </p:nvSpPr>
        <p:spPr bwMode="auto">
          <a:xfrm>
            <a:off x="3598048" y="5988673"/>
            <a:ext cx="7364998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TUTOR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4296419" name="Google Shape;90;g364afea4f63_0_0"/>
          <p:cNvSpPr/>
          <p:nvPr/>
        </p:nvSpPr>
        <p:spPr bwMode="auto">
          <a:xfrm>
            <a:off x="3090924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/>
            </a:pPr>
            <a:r>
              <a:rPr lang="en-US" sz="3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CURSO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576358" name="AutoShape 2"/>
          <p:cNvSpPr/>
          <p:nvPr/>
        </p:nvSpPr>
        <p:spPr bwMode="auto">
          <a:xfrm rot="0"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1988559571" name="Group 5"/>
          <p:cNvGrpSpPr/>
          <p:nvPr/>
        </p:nvGrpSpPr>
        <p:grpSpPr bwMode="auto">
          <a:xfrm rot="0">
            <a:off x="-190500" y="2399665"/>
            <a:ext cx="9525000" cy="5487670"/>
            <a:chOff x="0" y="0"/>
            <a:chExt cx="12700000" cy="7316894"/>
          </a:xfrm>
        </p:grpSpPr>
        <p:sp>
          <p:nvSpPr>
            <p:cNvPr id="6" name="TextBox 6"/>
            <p:cNvSpPr txBox="1"/>
            <p:nvPr/>
          </p:nvSpPr>
          <p:spPr bwMode="auto">
            <a:xfrm rot="0">
              <a:off x="1588938" y="2686050"/>
              <a:ext cx="9522124" cy="46308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59"/>
                </a:lnSpc>
                <a:defRPr/>
              </a:pPr>
              <a:r>
                <a:rPr lang="en-US" sz="5200">
                  <a:solidFill>
                    <a:srgbClr val="FFB400"/>
                  </a:solidFill>
                  <a:latin typeface="KG Primary Penmanship"/>
                  <a:ea typeface="KG Primary Penmanship"/>
                  <a:cs typeface="KG Primary Penmanship"/>
                </a:rPr>
                <a:t>Arquitectura de Computadores y Ensambladores 2</a:t>
              </a:r>
              <a:endParaRPr/>
            </a:p>
            <a:p>
              <a:pPr marL="0" lvl="0" indent="0" algn="ctr">
                <a:lnSpc>
                  <a:spcPts val="4680"/>
                </a:lnSpc>
                <a:defRPr/>
              </a:pPr>
              <a:r>
                <a:rPr lang="en-US" sz="3600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</a:rPr>
                <a:t>Escuel</a:t>
              </a:r>
              <a:r>
                <a:rPr lang="en-US" sz="3600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</a:rPr>
                <a:t>a de Ingeniería de Ciencias Y Sistemas</a:t>
              </a:r>
              <a:endParaRPr/>
            </a:p>
            <a:p>
              <a:pPr marL="0" lvl="0" indent="0" algn="ctr">
                <a:lnSpc>
                  <a:spcPts val="4680"/>
                </a:lnSpc>
                <a:defRPr/>
              </a:pPr>
              <a:r>
                <a:rPr lang="en-US" sz="3600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</a:rPr>
                <a:t>Facultad de Ingeniería</a:t>
              </a:r>
              <a:endParaRPr/>
            </a:p>
            <a:p>
              <a:pPr marL="0" lvl="0" indent="0" algn="ctr">
                <a:lnSpc>
                  <a:spcPts val="4680"/>
                </a:lnSpc>
                <a:defRPr/>
              </a:pPr>
              <a:r>
                <a:rPr lang="en-US" sz="3600">
                  <a:solidFill>
                    <a:srgbClr val="FFFFFF"/>
                  </a:solidFill>
                  <a:latin typeface="KG Primary Penmanship"/>
                  <a:ea typeface="KG Primary Penmanship"/>
                  <a:cs typeface="KG Primary Penmanship"/>
                </a:rPr>
                <a:t>Universidad de San Carlos de Guatemala</a:t>
              </a:r>
              <a:endParaRPr/>
            </a:p>
          </p:txBody>
        </p:sp>
        <p:sp>
          <p:nvSpPr>
            <p:cNvPr id="7" name="TextBox 7"/>
            <p:cNvSpPr txBox="1"/>
            <p:nvPr/>
          </p:nvSpPr>
          <p:spPr bwMode="auto">
            <a:xfrm rot="0">
              <a:off x="0" y="-47625"/>
              <a:ext cx="12700000" cy="279082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159"/>
                </a:lnSpc>
                <a:defRPr/>
              </a:pPr>
              <a:r>
                <a:rPr lang="en-US" sz="6800">
                  <a:solidFill>
                    <a:srgbClr val="0066CC"/>
                  </a:solidFill>
                  <a:latin typeface="ITC Motter Corpus Regular"/>
                  <a:ea typeface="ITC Motter Corpus Regular"/>
                  <a:cs typeface="ITC Motter Corpus Regular"/>
                </a:rPr>
                <a:t>MACHINE LEARNING EN IOT</a:t>
              </a:r>
              <a:endParaRPr/>
            </a:p>
          </p:txBody>
        </p:sp>
      </p:grpSp>
      <p:pic>
        <p:nvPicPr>
          <p:cNvPr id="13431918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144000" y="0"/>
            <a:ext cx="12591875" cy="10287000"/>
          </a:xfrm>
          <a:prstGeom prst="rect">
            <a:avLst/>
          </a:prstGeom>
        </p:spPr>
      </p:pic>
      <p:pic>
        <p:nvPicPr>
          <p:cNvPr id="251647941" name="Google Shape;102;p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flipH="0" flipV="0">
            <a:off x="10063058" y="0"/>
            <a:ext cx="8323473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6823069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059711698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5436119" name="TextBox 6"/>
          <p:cNvSpPr txBox="1"/>
          <p:nvPr/>
        </p:nvSpPr>
        <p:spPr bwMode="auto">
          <a:xfrm rot="0">
            <a:off x="4857750" y="1500708"/>
            <a:ext cx="85725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COMPETENCIA</a:t>
            </a:r>
            <a:endParaRPr/>
          </a:p>
        </p:txBody>
      </p:sp>
      <p:grpSp>
        <p:nvGrpSpPr>
          <p:cNvPr id="1470848998" name="Group 7"/>
          <p:cNvGrpSpPr/>
          <p:nvPr/>
        </p:nvGrpSpPr>
        <p:grpSpPr bwMode="auto">
          <a:xfrm rot="0">
            <a:off x="2000250" y="3207961"/>
            <a:ext cx="14288579" cy="5715000"/>
            <a:chOff x="0" y="0"/>
            <a:chExt cx="14288579" cy="57150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5715000" cy="5715000"/>
            </a:xfrm>
            <a:custGeom>
              <a:avLst/>
              <a:gdLst/>
              <a:ahLst/>
              <a:cxnLst/>
              <a:rect l="l" t="t" r="r" b="b"/>
              <a:pathLst>
                <a:path w="7620000" h="7620000" fill="norm" stroke="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id="9" name="TextBox 9"/>
            <p:cNvSpPr txBox="1"/>
            <p:nvPr/>
          </p:nvSpPr>
          <p:spPr bwMode="auto">
            <a:xfrm rot="0">
              <a:off x="5715000" y="557212"/>
              <a:ext cx="8573579" cy="38103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000"/>
                </a:lnSpc>
                <a:defRPr/>
              </a:pPr>
              <a:r>
                <a:rPr lang="en-US" sz="5000" b="0" i="0" u="none" strike="noStrike" cap="none" spc="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Desarolla con  modelos de IA preexistente en proyectos IoT mediante Edge Computing en contextos de prototipado educativo</a:t>
              </a:r>
              <a:r>
                <a:rPr lang="es-GT" sz="5000" b="0" i="0" u="none" strike="noStrike" cap="none" spc="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.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7105292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50633513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8907037" name="TextBox 6"/>
          <p:cNvSpPr txBox="1"/>
          <p:nvPr/>
        </p:nvSpPr>
        <p:spPr bwMode="auto">
          <a:xfrm rot="0">
            <a:off x="6286500" y="1500708"/>
            <a:ext cx="57150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AGENDA</a:t>
            </a:r>
            <a:endParaRPr/>
          </a:p>
        </p:txBody>
      </p:sp>
      <p:grpSp>
        <p:nvGrpSpPr>
          <p:cNvPr id="1125919192" name="Group 7"/>
          <p:cNvGrpSpPr/>
          <p:nvPr/>
        </p:nvGrpSpPr>
        <p:grpSpPr bwMode="auto">
          <a:xfrm rot="0">
            <a:off x="1832105" y="3207961"/>
            <a:ext cx="15427193" cy="6348616"/>
            <a:chOff x="0" y="0"/>
            <a:chExt cx="15427193" cy="6348616"/>
          </a:xfrm>
        </p:grpSpPr>
        <p:sp>
          <p:nvSpPr>
            <p:cNvPr id="8" name="TextBox 8"/>
            <p:cNvSpPr txBox="1"/>
            <p:nvPr/>
          </p:nvSpPr>
          <p:spPr bwMode="auto">
            <a:xfrm rot="0">
              <a:off x="0" y="188756"/>
              <a:ext cx="9550527" cy="61598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Intr</a:t>
              </a: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oducción a IoT y Machine Learning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Sensores y Recolección de Datos en IoT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Preprocesamiento de Datos para Machine L.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Modelos de Machine Learning Comunes en IoT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Entrenamiento y Evaluación de Modelos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Implementación de Modelos en Dispositivos IoT</a:t>
              </a:r>
              <a:endParaRPr sz="3600"/>
            </a:p>
            <a:p>
              <a:pPr marL="872620" lvl="1" indent="-436310" algn="l">
                <a:lnSpc>
                  <a:spcPts val="4850"/>
                </a:lnSpc>
                <a:buFont typeface="Arial"/>
                <a:buChar char="•"/>
                <a:defRPr/>
              </a:pPr>
              <a:r>
                <a:rPr lang="en-US" sz="3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Casos de Uso</a:t>
              </a:r>
              <a:endParaRPr sz="3600"/>
            </a:p>
          </p:txBody>
        </p:sp>
        <p:sp>
          <p:nvSpPr>
            <p:cNvPr id="9" name="Freeform 9"/>
            <p:cNvSpPr/>
            <p:nvPr/>
          </p:nvSpPr>
          <p:spPr bwMode="auto">
            <a:xfrm rot="0" flipH="0" flipV="0">
              <a:off x="9550167" y="0"/>
              <a:ext cx="5877025" cy="5877025"/>
            </a:xfrm>
            <a:custGeom>
              <a:avLst/>
              <a:gdLst/>
              <a:ahLst/>
              <a:cxnLst/>
              <a:rect l="l" t="t" r="r" b="b"/>
              <a:pathLst>
                <a:path w="7836035" h="7836035" fill="norm" stroke="1" extrusionOk="0">
                  <a:moveTo>
                    <a:pt x="0" y="0"/>
                  </a:moveTo>
                  <a:lnTo>
                    <a:pt x="7836035" y="0"/>
                  </a:lnTo>
                  <a:lnTo>
                    <a:pt x="7836035" y="7836035"/>
                  </a:lnTo>
                  <a:lnTo>
                    <a:pt x="0" y="7836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038358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24247874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19322453" name="TextBox 6"/>
          <p:cNvSpPr txBox="1"/>
          <p:nvPr/>
        </p:nvSpPr>
        <p:spPr bwMode="auto">
          <a:xfrm rot="0">
            <a:off x="1878284" y="3393379"/>
            <a:ext cx="11403933" cy="548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El Internet de las Cosas (IoT) consiste en la interconexión de objetos físicos, como sensores, electrodomésticos, vehículos o dispositivos médicos, que se comunican entre sí a través de internet.</a:t>
            </a:r>
            <a:endParaRPr sz="3000"/>
          </a:p>
          <a:p>
            <a:pPr algn="l">
              <a:lnSpc>
                <a:spcPts val="479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El Machine Learning, por su parte, permite que estos dispositivos no solo recolecten datos, sino que también aprendan de ellos, reconozcan patrones y tomen decisiones de manera autónoma.</a:t>
            </a:r>
            <a:endParaRPr sz="3000"/>
          </a:p>
          <a:p>
            <a:pPr algn="l">
              <a:lnSpc>
                <a:spcPts val="479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La unión de IoT y ML está revolucionando sectores como la salud, la agricultura, la industria y las ciudades inteligentes.</a:t>
            </a:r>
            <a:endParaRPr sz="3000"/>
          </a:p>
        </p:txBody>
      </p:sp>
      <p:sp>
        <p:nvSpPr>
          <p:cNvPr id="1465007389" name="Freeform 7"/>
          <p:cNvSpPr/>
          <p:nvPr/>
        </p:nvSpPr>
        <p:spPr bwMode="auto">
          <a:xfrm rot="0" flipH="0" flipV="0">
            <a:off x="13280419" y="6208465"/>
            <a:ext cx="3895107" cy="2595115"/>
          </a:xfrm>
          <a:custGeom>
            <a:avLst/>
            <a:gdLst/>
            <a:ahLst/>
            <a:cxnLst/>
            <a:rect l="l" t="t" r="r" b="b"/>
            <a:pathLst>
              <a:path w="3895107" h="2595115" fill="norm" stroke="1" extrusionOk="0">
                <a:moveTo>
                  <a:pt x="0" y="0"/>
                </a:moveTo>
                <a:lnTo>
                  <a:pt x="3895107" y="0"/>
                </a:lnTo>
                <a:lnTo>
                  <a:pt x="3895107" y="2595115"/>
                </a:lnTo>
                <a:lnTo>
                  <a:pt x="0" y="2595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84747632" name="TextBox 8"/>
          <p:cNvSpPr txBox="1"/>
          <p:nvPr/>
        </p:nvSpPr>
        <p:spPr bwMode="auto">
          <a:xfrm rot="0">
            <a:off x="571500" y="1500708"/>
            <a:ext cx="171450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 IOT + MACHINE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0561346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30599650" name="Freeform 5"/>
          <p:cNvSpPr/>
          <p:nvPr/>
        </p:nvSpPr>
        <p:spPr bwMode="auto">
          <a:xfrm rot="0" flipH="0" flipV="0">
            <a:off x="10341024" y="2878732"/>
            <a:ext cx="7158193" cy="4203712"/>
          </a:xfrm>
          <a:custGeom>
            <a:avLst/>
            <a:gdLst/>
            <a:ahLst/>
            <a:cxnLst/>
            <a:rect l="l" t="t" r="r" b="b"/>
            <a:pathLst>
              <a:path w="7158193" h="4203712" fill="norm" stroke="1" extrusionOk="0">
                <a:moveTo>
                  <a:pt x="0" y="0"/>
                </a:moveTo>
                <a:lnTo>
                  <a:pt x="7158193" y="0"/>
                </a:lnTo>
                <a:lnTo>
                  <a:pt x="7158193" y="4203712"/>
                </a:lnTo>
                <a:lnTo>
                  <a:pt x="0" y="4203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400" b="0"/>
            </a:stretch>
          </a:blipFill>
        </p:spPr>
      </p:sp>
      <p:sp>
        <p:nvSpPr>
          <p:cNvPr id="171400364" name="TextBox 6"/>
          <p:cNvSpPr txBox="1"/>
          <p:nvPr/>
        </p:nvSpPr>
        <p:spPr bwMode="auto">
          <a:xfrm rot="0">
            <a:off x="2438400" y="876299"/>
            <a:ext cx="1341120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 ECOSISTEMA IOT INTELIGENTE</a:t>
            </a:r>
            <a:endParaRPr/>
          </a:p>
        </p:txBody>
      </p:sp>
      <p:sp>
        <p:nvSpPr>
          <p:cNvPr id="1379839069" name="TextBox 7"/>
          <p:cNvSpPr txBox="1"/>
          <p:nvPr/>
        </p:nvSpPr>
        <p:spPr bwMode="auto">
          <a:xfrm rot="0">
            <a:off x="1376317" y="2357568"/>
            <a:ext cx="8965065" cy="584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7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Un sistema IoT típico se compone de s</a:t>
            </a: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ensores que capturan información, una red de comunicación que transporta los datos, un centro de procesamiento (en la nube o en el borde) y aplicaciones que convierten esos datos en conocimiento útil.</a:t>
            </a:r>
            <a:endParaRPr sz="3000"/>
          </a:p>
          <a:p>
            <a:pPr algn="l">
              <a:lnSpc>
                <a:spcPts val="5117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Cuando se integra el ML, el ecosistema se fortalece porque los dispositivos ya no dependen de instrucciones predefinidas, sino que aprenden de la experiencia y se adaptan a nuevas situaciones.</a:t>
            </a:r>
            <a:endParaRPr sz="3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2501899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045848368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8090518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91919142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61719391" name="TextBox 6"/>
          <p:cNvSpPr txBox="1"/>
          <p:nvPr/>
        </p:nvSpPr>
        <p:spPr bwMode="auto">
          <a:xfrm rot="0">
            <a:off x="1149902" y="3743563"/>
            <a:ext cx="11408612" cy="365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Machine Learning permite descubrir patrones ocultos en  grandes volúmenes de datos generados por IoT.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 algoritmos aprenden de la experiencia y se adaptan a  cambios en el entorno.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Facilita la detección temprana de anomalías y eventos  inusuales en tiempo real.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Convierte datos históricos y actuales en predicciones que  apoyan la toma de decisiones. </a:t>
            </a:r>
            <a:endParaRPr sz="3000"/>
          </a:p>
        </p:txBody>
      </p:sp>
      <p:sp>
        <p:nvSpPr>
          <p:cNvPr id="424583633" name="TextBox 8"/>
          <p:cNvSpPr txBox="1"/>
          <p:nvPr/>
        </p:nvSpPr>
        <p:spPr bwMode="auto">
          <a:xfrm rot="0">
            <a:off x="571500" y="1500707"/>
            <a:ext cx="17145360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¿Qué aporta Machine Learning?</a:t>
            </a:r>
            <a:endParaRPr/>
          </a:p>
        </p:txBody>
      </p:sp>
      <p:pic>
        <p:nvPicPr>
          <p:cNvPr id="1338959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553766" y="4040139"/>
            <a:ext cx="4705533" cy="38600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2632218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39950419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49756279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3448029" name="AutoShape 5"/>
          <p:cNvSpPr/>
          <p:nvPr/>
        </p:nvSpPr>
        <p:spPr bwMode="auto">
          <a:xfrm>
            <a:off x="1028700" y="430165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8883704" name="TextBox 6"/>
          <p:cNvSpPr txBox="1"/>
          <p:nvPr/>
        </p:nvSpPr>
        <p:spPr bwMode="auto">
          <a:xfrm rot="0">
            <a:off x="1402034" y="5480474"/>
            <a:ext cx="11412931" cy="274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7792" indent="-217792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Los datos son transmitidos a través de protocolos de red  hacia plataformas de almacenamiento y procesamiento.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Una vez almacenados, se limpian, transforman y preparan  para el entrenamiento de modelos</a:t>
            </a:r>
            <a:r>
              <a:rPr lang="es-GT"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Machine Learning toma estos datos y los convierte en  predicciones y decisiones que retroalimentan al sistema</a:t>
            </a:r>
            <a:r>
              <a:rPr lang="es-GT"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65277568" name="TextBox 8"/>
          <p:cNvSpPr txBox="1"/>
          <p:nvPr/>
        </p:nvSpPr>
        <p:spPr bwMode="auto">
          <a:xfrm rot="0">
            <a:off x="571500" y="1500707"/>
            <a:ext cx="17147519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El flujo de IoT hacia ML</a:t>
            </a:r>
            <a:r>
              <a:rPr lang="es-GT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:</a:t>
            </a:r>
            <a:endParaRPr lang="es-GT" sz="7600" b="0" i="0" u="none" strike="noStrike" cap="none" spc="0">
              <a:solidFill>
                <a:srgbClr val="0066CC"/>
              </a:solidFill>
              <a:latin typeface="ITC Motter Corpus Regular"/>
              <a:ea typeface="ITC Motter Corpus Regular"/>
              <a:cs typeface="ITC Motter Corpus Regular"/>
            </a:endParaRPr>
          </a:p>
        </p:txBody>
      </p:sp>
      <p:sp>
        <p:nvSpPr>
          <p:cNvPr id="2135031112" name="TextBox 8"/>
          <p:cNvSpPr txBox="1"/>
          <p:nvPr/>
        </p:nvSpPr>
        <p:spPr bwMode="auto">
          <a:xfrm rot="0">
            <a:off x="571500" y="2753243"/>
            <a:ext cx="17148598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5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Pipeline general: de sensores a modelos</a:t>
            </a:r>
            <a:endParaRPr sz="5000" b="0" i="0" u="none" strike="noStrike" cap="none" spc="0">
              <a:solidFill>
                <a:srgbClr val="0066CC"/>
              </a:solidFill>
              <a:latin typeface="ITC Motter Corpus Regular"/>
              <a:ea typeface="ITC Motter Corpus Regular"/>
              <a:cs typeface="ITC Motter Corpus Regular"/>
            </a:endParaRPr>
          </a:p>
        </p:txBody>
      </p:sp>
      <p:pic>
        <p:nvPicPr>
          <p:cNvPr id="16017300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503088" y="5266764"/>
            <a:ext cx="2857500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8648663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04293126" name="Freeform 5"/>
          <p:cNvSpPr/>
          <p:nvPr/>
        </p:nvSpPr>
        <p:spPr bwMode="auto">
          <a:xfrm rot="0" flipH="0" flipV="0">
            <a:off x="8818677" y="3190075"/>
            <a:ext cx="7487723" cy="5816454"/>
          </a:xfrm>
          <a:custGeom>
            <a:avLst/>
            <a:gdLst/>
            <a:ahLst/>
            <a:cxnLst/>
            <a:rect l="l" t="t" r="r" b="b"/>
            <a:pathLst>
              <a:path w="7487723" h="5816454" fill="norm" stroke="1" extrusionOk="0">
                <a:moveTo>
                  <a:pt x="0" y="0"/>
                </a:moveTo>
                <a:lnTo>
                  <a:pt x="7487723" y="0"/>
                </a:lnTo>
                <a:lnTo>
                  <a:pt x="7487723" y="5816454"/>
                </a:lnTo>
                <a:lnTo>
                  <a:pt x="0" y="581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341202396" name="TextBox 6"/>
          <p:cNvSpPr txBox="1"/>
          <p:nvPr/>
        </p:nvSpPr>
        <p:spPr bwMode="auto">
          <a:xfrm rot="0" flipH="0" flipV="0">
            <a:off x="1218166" y="595181"/>
            <a:ext cx="16237427" cy="259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18"/>
              </a:lnSpc>
              <a:defRPr/>
            </a:pPr>
            <a:r>
              <a:rPr lang="en-US" sz="73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SENSORES Y RECOLECCIÓN DE DATOS</a:t>
            </a:r>
            <a:endParaRPr/>
          </a:p>
        </p:txBody>
      </p:sp>
      <p:sp>
        <p:nvSpPr>
          <p:cNvPr id="1299299738" name="TextBox 7"/>
          <p:cNvSpPr txBox="1"/>
          <p:nvPr/>
        </p:nvSpPr>
        <p:spPr bwMode="auto">
          <a:xfrm rot="0">
            <a:off x="1405545" y="3126321"/>
            <a:ext cx="6152136" cy="594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051" indent="-416051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 sensores IoT capturan datos físicos como temperatura,  humedad, presión, movimiento o señales biomédicas.  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16051" indent="-416051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Estos dispositivos suelen tener recursos limitados en memoria,  procesamiento y energía.  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16051" indent="-416051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información capturada debe transmitirse de forma eficiente  mediante protocolos adecuados.  </a:t>
            </a:r>
            <a:endParaRPr sz="3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16051" indent="-416051">
              <a:buFont typeface="Arial"/>
              <a:buChar char="•"/>
              <a:defRPr/>
            </a:pPr>
            <a:r>
              <a:rPr sz="3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MQTT, HTTP y CoAP son opciones comunes, cada una con  ventajas y limitaciones según el contexto.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611330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51155996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19251393" name="TextBox 6"/>
          <p:cNvSpPr txBox="1"/>
          <p:nvPr/>
        </p:nvSpPr>
        <p:spPr bwMode="auto">
          <a:xfrm rot="0">
            <a:off x="0" y="896562"/>
            <a:ext cx="18288000" cy="2854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defRPr/>
            </a:pPr>
            <a:r>
              <a:rPr lang="en-US" sz="8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PREPROCESAMIENTO DE DATOS</a:t>
            </a:r>
            <a:endParaRPr/>
          </a:p>
        </p:txBody>
      </p:sp>
      <p:sp>
        <p:nvSpPr>
          <p:cNvPr id="1489176702" name="TextBox 7"/>
          <p:cNvSpPr txBox="1"/>
          <p:nvPr/>
        </p:nvSpPr>
        <p:spPr bwMode="auto">
          <a:xfrm rot="0" flipH="0" flipV="0">
            <a:off x="1167530" y="3429000"/>
            <a:ext cx="9369788" cy="589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Los datos crudos que generan los sensores rara vez son útiles directamente.</a:t>
            </a:r>
            <a:endParaRPr sz="2500"/>
          </a:p>
          <a:p>
            <a:pPr algn="l">
              <a:lnSpc>
                <a:spcPts val="4218"/>
              </a:lnSpc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El preprocesamiento incluye:</a:t>
            </a:r>
            <a:endParaRPr sz="2500"/>
          </a:p>
          <a:p>
            <a:pPr marL="758969" lvl="1" indent="-379484" algn="l">
              <a:lnSpc>
                <a:spcPts val="4218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Limpieza de valores erróneos o duplicados.</a:t>
            </a:r>
            <a:endParaRPr sz="2500"/>
          </a:p>
          <a:p>
            <a:pPr marL="758969" lvl="1" indent="-379484" algn="l">
              <a:lnSpc>
                <a:spcPts val="4218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Normalización de escalas para que diferentes magnitudes puedan compararse.</a:t>
            </a:r>
            <a:endParaRPr sz="2500"/>
          </a:p>
          <a:p>
            <a:pPr marL="758969" lvl="1" indent="-379484" algn="l">
              <a:lnSpc>
                <a:spcPts val="4218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Transformación en formatos adecuados para alimentar modelos de ML.</a:t>
            </a:r>
            <a:endParaRPr sz="2500"/>
          </a:p>
          <a:p>
            <a:pPr marL="758969" lvl="1" indent="-379484" algn="l">
              <a:lnSpc>
                <a:spcPts val="4218"/>
              </a:lnSpc>
              <a:buFont typeface="Arial"/>
              <a:buChar char="•"/>
              <a:defRPr/>
            </a:pPr>
            <a:r>
              <a: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Este paso es esencial porque asegura que el aprendizaje automático no se vea afectado por ruido o inconsistencias.</a:t>
            </a:r>
            <a:endParaRPr sz="2500"/>
          </a:p>
          <a:p>
            <a:pPr algn="l">
              <a:lnSpc>
                <a:spcPts val="4218"/>
              </a:lnSpc>
              <a:defRPr/>
            </a:pPr>
            <a:endParaRPr sz="2500"/>
          </a:p>
        </p:txBody>
      </p:sp>
      <p:pic>
        <p:nvPicPr>
          <p:cNvPr id="1303723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35985" y="4495799"/>
            <a:ext cx="6726600" cy="2848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8476649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27682088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90802576" name="TextBox 6"/>
          <p:cNvSpPr txBox="1"/>
          <p:nvPr/>
        </p:nvSpPr>
        <p:spPr bwMode="auto">
          <a:xfrm rot="0">
            <a:off x="1146134" y="3295285"/>
            <a:ext cx="12999075" cy="60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El entrenamiento suele realizarse en la nube o en servidores, utilizando grandes volúmenes de datos históricos.</a:t>
            </a:r>
            <a:endParaRPr sz="3500"/>
          </a:p>
          <a:p>
            <a:pPr algn="l">
              <a:lnSpc>
                <a:spcPts val="4799"/>
              </a:lnSpc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Posteriormente, los modelos se prueban con métricas como:</a:t>
            </a:r>
            <a:endParaRPr sz="35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Precisión: cuántas predicciones fueron correctas.</a:t>
            </a:r>
            <a:endParaRPr sz="35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Recall: cuántos casos positivos fueron identificados correctamente.</a:t>
            </a:r>
            <a:endParaRPr sz="35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F1-score: equilibrio entre precisión y recall.</a:t>
            </a:r>
            <a:endParaRPr sz="35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De esta forma, se garantiza que el modelo funcionará correctamente en dispositivos IoT reales.</a:t>
            </a:r>
            <a:endParaRPr sz="3500"/>
          </a:p>
          <a:p>
            <a:pPr algn="l">
              <a:lnSpc>
                <a:spcPts val="4799"/>
              </a:lnSpc>
              <a:defRPr/>
            </a:pPr>
            <a:endParaRPr sz="3500"/>
          </a:p>
        </p:txBody>
      </p:sp>
      <p:sp>
        <p:nvSpPr>
          <p:cNvPr id="1384526237" name="Freeform 7"/>
          <p:cNvSpPr/>
          <p:nvPr/>
        </p:nvSpPr>
        <p:spPr bwMode="auto">
          <a:xfrm rot="0" flipH="0" flipV="0">
            <a:off x="13575696" y="3705334"/>
            <a:ext cx="3683604" cy="4391252"/>
          </a:xfrm>
          <a:custGeom>
            <a:avLst/>
            <a:gdLst/>
            <a:ahLst/>
            <a:cxnLst/>
            <a:rect l="l" t="t" r="r" b="b"/>
            <a:pathLst>
              <a:path w="3683604" h="4391252" fill="norm" stroke="1" extrusionOk="0">
                <a:moveTo>
                  <a:pt x="0" y="0"/>
                </a:moveTo>
                <a:lnTo>
                  <a:pt x="3683604" y="0"/>
                </a:lnTo>
                <a:lnTo>
                  <a:pt x="3683604" y="4391253"/>
                </a:lnTo>
                <a:lnTo>
                  <a:pt x="0" y="4391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61" t="0" r="-94061" b="0"/>
            </a:stretch>
          </a:blipFill>
        </p:spPr>
      </p:sp>
      <p:sp>
        <p:nvSpPr>
          <p:cNvPr id="579149146" name="TextBox 8"/>
          <p:cNvSpPr txBox="1"/>
          <p:nvPr/>
        </p:nvSpPr>
        <p:spPr bwMode="auto">
          <a:xfrm rot="0">
            <a:off x="571500" y="831792"/>
            <a:ext cx="17145000" cy="219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defRPr/>
            </a:pPr>
            <a:r>
              <a:rPr lang="en-US" sz="62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 ENTRENAMIENTO Y EVALUACIÓN DE MODELOS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8174189" name="Group 2"/>
          <p:cNvGrpSpPr/>
          <p:nvPr/>
        </p:nvGrpSpPr>
        <p:grpSpPr bwMode="auto">
          <a:xfrm rot="0">
            <a:off x="507796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83331850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4945382" name="TextBox 6"/>
          <p:cNvSpPr txBox="1"/>
          <p:nvPr/>
        </p:nvSpPr>
        <p:spPr bwMode="auto">
          <a:xfrm rot="0">
            <a:off x="0" y="751147"/>
            <a:ext cx="18288000" cy="227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defRPr/>
            </a:pPr>
            <a:r>
              <a:rPr lang="en-US" sz="64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IMPLEMENTACIÓN EN DISPOSITIVOS IOT</a:t>
            </a:r>
            <a:endParaRPr/>
          </a:p>
        </p:txBody>
      </p:sp>
      <p:sp>
        <p:nvSpPr>
          <p:cNvPr id="1245745905" name="TextBox 7"/>
          <p:cNvSpPr txBox="1"/>
          <p:nvPr/>
        </p:nvSpPr>
        <p:spPr bwMode="auto">
          <a:xfrm rot="0">
            <a:off x="1477156" y="4362450"/>
            <a:ext cx="14436775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  <a:defRPr/>
            </a:pPr>
            <a:r>
              <a:rPr lang="en-US" sz="3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Una vez entrenado y evaluado, el modelo debe implementarse en el dispositivo final.</a:t>
            </a:r>
            <a:endParaRPr/>
          </a:p>
          <a:p>
            <a:pPr algn="just">
              <a:lnSpc>
                <a:spcPts val="4079"/>
              </a:lnSpc>
              <a:defRPr/>
            </a:pPr>
            <a:r>
              <a:rPr lang="en-US" sz="3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Aquí el reto es adaptarlo para que consuma poca energía, ocupe poca memoria y responda en milisegundos.</a:t>
            </a:r>
            <a:endParaRPr/>
          </a:p>
          <a:p>
            <a:pPr algn="just">
              <a:lnSpc>
                <a:spcPts val="4079"/>
              </a:lnSpc>
              <a:defRPr/>
            </a:pPr>
            <a:r>
              <a:rPr lang="en-US" sz="34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Esto se logra con técnicas como quantization (reducir precisión de cálculos) o TinyML, que es Machine Learning específicamente diseñado para microcontroladores y sensores.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5435941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0882434" name="TextBox 5"/>
          <p:cNvSpPr txBox="1"/>
          <p:nvPr/>
        </p:nvSpPr>
        <p:spPr bwMode="auto">
          <a:xfrm rot="0">
            <a:off x="1130382" y="3248024"/>
            <a:ext cx="11926748" cy="548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En IoT no se pueden usar modelos muy pesados debido a la limitación de energía y memoria.</a:t>
            </a:r>
            <a:endParaRPr sz="3000"/>
          </a:p>
          <a:p>
            <a:pPr algn="l">
              <a:lnSpc>
                <a:spcPts val="479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Algunos de los más comunes son:</a:t>
            </a:r>
            <a:endParaRPr sz="30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Regresión lineal y logística: ideales para predicciones rápidas.</a:t>
            </a:r>
            <a:endParaRPr sz="30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Árboles de decisión: simples y eficientes.</a:t>
            </a:r>
            <a:endParaRPr sz="30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Redes neuronales ligeras: adaptadas para microcontroladores.</a:t>
            </a:r>
            <a:endParaRPr sz="3000"/>
          </a:p>
          <a:p>
            <a:pPr marL="863599" lvl="1" indent="-431799" algn="l">
              <a:lnSpc>
                <a:spcPts val="479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Estos modelos permiten predecir comportamientos, clasificar eventos y detectar anomalías en tiempo real.</a:t>
            </a:r>
            <a:endParaRPr sz="3000"/>
          </a:p>
          <a:p>
            <a:pPr algn="l">
              <a:lnSpc>
                <a:spcPts val="4799"/>
              </a:lnSpc>
              <a:defRPr/>
            </a:pPr>
            <a:endParaRPr sz="3000"/>
          </a:p>
        </p:txBody>
      </p:sp>
      <p:sp>
        <p:nvSpPr>
          <p:cNvPr id="1159188845" name="Freeform 6"/>
          <p:cNvSpPr/>
          <p:nvPr/>
        </p:nvSpPr>
        <p:spPr bwMode="auto">
          <a:xfrm rot="0" flipH="0" flipV="0">
            <a:off x="12649714" y="4653513"/>
            <a:ext cx="4609586" cy="3088423"/>
          </a:xfrm>
          <a:custGeom>
            <a:avLst/>
            <a:gdLst/>
            <a:ahLst/>
            <a:cxnLst/>
            <a:rect l="l" t="t" r="r" b="b"/>
            <a:pathLst>
              <a:path w="4609586" h="3088423" fill="norm" stroke="1" extrusionOk="0">
                <a:moveTo>
                  <a:pt x="0" y="0"/>
                </a:moveTo>
                <a:lnTo>
                  <a:pt x="4609586" y="0"/>
                </a:lnTo>
                <a:lnTo>
                  <a:pt x="4609586" y="3088422"/>
                </a:lnTo>
                <a:lnTo>
                  <a:pt x="0" y="3088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60608947" name="TextBox 7"/>
          <p:cNvSpPr txBox="1"/>
          <p:nvPr/>
        </p:nvSpPr>
        <p:spPr bwMode="auto">
          <a:xfrm rot="0">
            <a:off x="141783" y="626110"/>
            <a:ext cx="18288000" cy="263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  <a:defRPr/>
            </a:pPr>
            <a:r>
              <a:rPr lang="en-US" sz="74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MODELOS DE MACHINE LEARNING EN IOT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0684157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2098945714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10245795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15755280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734660" name="TextBox 6"/>
          <p:cNvSpPr txBox="1"/>
          <p:nvPr/>
        </p:nvSpPr>
        <p:spPr bwMode="auto">
          <a:xfrm rot="0" flipH="0" flipV="0">
            <a:off x="618068" y="1247626"/>
            <a:ext cx="17051862" cy="142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defRPr/>
            </a:pPr>
            <a:r>
              <a:rPr lang="en-US" sz="8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Nube vs. Edge Computing</a:t>
            </a:r>
            <a:endParaRPr/>
          </a:p>
        </p:txBody>
      </p:sp>
      <p:sp>
        <p:nvSpPr>
          <p:cNvPr id="1390945881" name="TextBox 7"/>
          <p:cNvSpPr txBox="1"/>
          <p:nvPr/>
        </p:nvSpPr>
        <p:spPr bwMode="auto">
          <a:xfrm rot="0" flipH="0" flipV="0">
            <a:off x="1223960" y="3733799"/>
            <a:ext cx="8589458" cy="381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979" indent="-360979"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Nube (Cloud): centraliza el almacenamiento y procesamiento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 alta capacidad de cómputo.</a:t>
            </a:r>
            <a:endParaRPr lang="en-US" sz="2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60979" indent="-360979"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Ventajas: escalabilidad, disponibilidad global, integración con</a:t>
            </a:r>
            <a:r>
              <a:rPr lang="es-GT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servicios de analítica y ML.</a:t>
            </a:r>
            <a:endParaRPr lang="en-US" sz="2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60979" indent="-360979"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Limitaciones: dependencia de conectividad estable, mayor</a:t>
            </a:r>
            <a:r>
              <a:rPr lang="es-GT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latencia y posibles riesgos de privacidad.</a:t>
            </a:r>
            <a:endParaRPr lang="en-US" sz="2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60979" indent="-360979"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Edge Computing: lleva el procesamiento cerca del dispositivo,</a:t>
            </a:r>
            <a:r>
              <a:rPr lang="es-GT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reduciendo latencia y consumo de ancho de banda.</a:t>
            </a:r>
            <a:endParaRPr lang="en-US" sz="25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60979" indent="-360979">
              <a:buFont typeface="Arial"/>
              <a:buChar char="•"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Beneficio clave: permite decisiones rápidas incluso sin</a:t>
            </a:r>
            <a:r>
              <a:rPr lang="es-GT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conexión constante a internet</a:t>
            </a:r>
            <a:endParaRPr lang="en-US" sz="25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1571569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13419" y="3143249"/>
            <a:ext cx="7344154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0040302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29960129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87619962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86282461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46353101" name="TextBox 6"/>
          <p:cNvSpPr txBox="1"/>
          <p:nvPr/>
        </p:nvSpPr>
        <p:spPr bwMode="auto">
          <a:xfrm rot="0" flipH="0" flipV="0">
            <a:off x="618067" y="1247625"/>
            <a:ext cx="17052221" cy="142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defRPr/>
            </a:pPr>
            <a:r>
              <a:rPr lang="en-US" sz="8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Edge Computing Infrastructure</a:t>
            </a:r>
            <a:endParaRPr/>
          </a:p>
        </p:txBody>
      </p:sp>
      <p:pic>
        <p:nvPicPr>
          <p:cNvPr id="11887436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94535" y="3156856"/>
            <a:ext cx="6881487" cy="5987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61814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085743676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04522786" name="TextBox 6"/>
          <p:cNvSpPr txBox="1"/>
          <p:nvPr/>
        </p:nvSpPr>
        <p:spPr bwMode="auto">
          <a:xfrm rot="0">
            <a:off x="1154638" y="3143250"/>
            <a:ext cx="10009181" cy="591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061" lvl="1" indent="-419030" algn="just">
              <a:lnSpc>
                <a:spcPts val="4658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Agricultura inteligente: sensores de humedad del suelo combinados con ML predicen cuándo regar los cultivos.</a:t>
            </a:r>
            <a:endParaRPr sz="3500"/>
          </a:p>
          <a:p>
            <a:pPr marL="838061" lvl="1" indent="-419030" algn="just">
              <a:lnSpc>
                <a:spcPts val="4658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Salud conectada: wearables que detectan anomalías cardíacas en tiempo real.</a:t>
            </a:r>
            <a:endParaRPr sz="3500"/>
          </a:p>
          <a:p>
            <a:pPr marL="838061" lvl="1" indent="-419030" algn="just">
              <a:lnSpc>
                <a:spcPts val="4658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Ciudades inteligentes: semáforos que ajustan los tiempos de luz según el tráfico.</a:t>
            </a:r>
            <a:endParaRPr sz="3500"/>
          </a:p>
          <a:p>
            <a:pPr marL="838061" lvl="1" indent="-419030" algn="just">
              <a:lnSpc>
                <a:spcPts val="4658"/>
              </a:lnSpc>
              <a:buFont typeface="Arial"/>
              <a:buChar char="•"/>
              <a:defRPr/>
            </a:pPr>
            <a:r>
              <a:rPr lang="en-US" sz="3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Industria 4.0: máquinas que anticipan fallos para reducir costos de mantenimiento.</a:t>
            </a:r>
            <a:endParaRPr sz="3500"/>
          </a:p>
          <a:p>
            <a:pPr algn="just">
              <a:lnSpc>
                <a:spcPts val="4658"/>
              </a:lnSpc>
              <a:defRPr/>
            </a:pPr>
            <a:endParaRPr sz="3500"/>
          </a:p>
        </p:txBody>
      </p:sp>
      <p:sp>
        <p:nvSpPr>
          <p:cNvPr id="858118676" name="Freeform 7"/>
          <p:cNvSpPr/>
          <p:nvPr/>
        </p:nvSpPr>
        <p:spPr bwMode="auto">
          <a:xfrm rot="0" flipH="0" flipV="0">
            <a:off x="11586803" y="3207962"/>
            <a:ext cx="5511792" cy="5800717"/>
          </a:xfrm>
          <a:custGeom>
            <a:avLst/>
            <a:gdLst/>
            <a:ahLst/>
            <a:cxnLst/>
            <a:rect l="l" t="t" r="r" b="b"/>
            <a:pathLst>
              <a:path w="5511792" h="5800717" fill="norm" stroke="1" extrusionOk="0">
                <a:moveTo>
                  <a:pt x="0" y="0"/>
                </a:moveTo>
                <a:lnTo>
                  <a:pt x="5511792" y="0"/>
                </a:lnTo>
                <a:lnTo>
                  <a:pt x="5511792" y="5800716"/>
                </a:lnTo>
                <a:lnTo>
                  <a:pt x="0" y="5800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84330987" name="TextBox 8"/>
          <p:cNvSpPr txBox="1"/>
          <p:nvPr/>
        </p:nvSpPr>
        <p:spPr bwMode="auto">
          <a:xfrm rot="0">
            <a:off x="2528888" y="1410912"/>
            <a:ext cx="13230225" cy="1435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defRPr/>
            </a:pPr>
            <a:r>
              <a:rPr lang="en-US" sz="8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CASOS DE USO REALES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1330068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04188070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6193264" name="Freeform 6"/>
          <p:cNvSpPr/>
          <p:nvPr/>
        </p:nvSpPr>
        <p:spPr bwMode="auto">
          <a:xfrm rot="0" flipH="0" flipV="0">
            <a:off x="6129647" y="6077779"/>
            <a:ext cx="5654259" cy="3180521"/>
          </a:xfrm>
          <a:custGeom>
            <a:avLst/>
            <a:gdLst/>
            <a:ahLst/>
            <a:cxnLst/>
            <a:rect l="l" t="t" r="r" b="b"/>
            <a:pathLst>
              <a:path w="5654259" h="3180521" fill="norm" stroke="1" extrusionOk="0">
                <a:moveTo>
                  <a:pt x="0" y="0"/>
                </a:moveTo>
                <a:lnTo>
                  <a:pt x="5654259" y="0"/>
                </a:lnTo>
                <a:lnTo>
                  <a:pt x="5654259" y="3180521"/>
                </a:lnTo>
                <a:lnTo>
                  <a:pt x="0" y="3180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860605196" name="TextBox 7"/>
          <p:cNvSpPr txBox="1"/>
          <p:nvPr/>
        </p:nvSpPr>
        <p:spPr bwMode="auto">
          <a:xfrm rot="0">
            <a:off x="1154638" y="3162299"/>
            <a:ext cx="14971367" cy="388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5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 pesar de su potencial, existen desafíos:</a:t>
            </a:r>
            <a:endParaRPr sz="3000"/>
          </a:p>
          <a:p>
            <a:pPr marL="787219" lvl="1" indent="-393609" algn="just">
              <a:lnSpc>
                <a:spcPts val="4375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Seguridad: proteger datos sensibles que viajan entre sensores y servidores.</a:t>
            </a:r>
            <a:endParaRPr sz="3000"/>
          </a:p>
          <a:p>
            <a:pPr marL="787219" lvl="1" indent="-393609" algn="just">
              <a:lnSpc>
                <a:spcPts val="4375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Priv</a:t>
            </a: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acidad: garantizar que la información personal no sea mal utilizada.</a:t>
            </a:r>
            <a:endParaRPr sz="3000"/>
          </a:p>
          <a:p>
            <a:pPr marL="787219" lvl="1" indent="-393609" algn="just">
              <a:lnSpc>
                <a:spcPts val="4375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Escalab</a:t>
            </a: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ilidad: manejar miles de dispositivos conectados al mismo tiempo.</a:t>
            </a:r>
            <a:endParaRPr sz="3000"/>
          </a:p>
          <a:p>
            <a:pPr marL="787219" lvl="1" indent="-393609" algn="just">
              <a:lnSpc>
                <a:spcPts val="4375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Eficiencia energética: extender la vida útil de baterías en sensores y dispositivos portátiles.</a:t>
            </a:r>
            <a:endParaRPr sz="3000"/>
          </a:p>
          <a:p>
            <a:pPr algn="just">
              <a:lnSpc>
                <a:spcPts val="4375"/>
              </a:lnSpc>
              <a:defRPr/>
            </a:pPr>
            <a:endParaRPr sz="3000"/>
          </a:p>
        </p:txBody>
      </p:sp>
      <p:sp>
        <p:nvSpPr>
          <p:cNvPr id="571219705" name="TextBox 8"/>
          <p:cNvSpPr txBox="1"/>
          <p:nvPr/>
        </p:nvSpPr>
        <p:spPr bwMode="auto">
          <a:xfrm rot="0">
            <a:off x="2005425" y="588727"/>
            <a:ext cx="13902703" cy="243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3"/>
              </a:lnSpc>
              <a:defRPr/>
            </a:pPr>
            <a:r>
              <a:rPr lang="en-US" sz="685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RETOS DEL MACHINE LEARNING EN IOT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9733270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09271630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3888031" name="Freeform 6"/>
          <p:cNvSpPr/>
          <p:nvPr/>
        </p:nvSpPr>
        <p:spPr bwMode="auto">
          <a:xfrm rot="0" flipH="0" flipV="0">
            <a:off x="5884648" y="6043623"/>
            <a:ext cx="5924910" cy="3103172"/>
          </a:xfrm>
          <a:custGeom>
            <a:avLst/>
            <a:gdLst/>
            <a:ahLst/>
            <a:cxnLst/>
            <a:rect l="l" t="t" r="r" b="b"/>
            <a:pathLst>
              <a:path w="5924910" h="3103172" fill="norm" stroke="1" extrusionOk="0">
                <a:moveTo>
                  <a:pt x="0" y="0"/>
                </a:moveTo>
                <a:lnTo>
                  <a:pt x="5924910" y="0"/>
                </a:lnTo>
                <a:lnTo>
                  <a:pt x="5924910" y="3103172"/>
                </a:lnTo>
                <a:lnTo>
                  <a:pt x="0" y="310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414805505" name="TextBox 7"/>
          <p:cNvSpPr txBox="1"/>
          <p:nvPr/>
        </p:nvSpPr>
        <p:spPr bwMode="auto">
          <a:xfrm rot="0">
            <a:off x="1154638" y="3143250"/>
            <a:ext cx="15385287" cy="318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82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En el futuro, veremos dispositivos más autónomos capaces de aprender sin necesidad de conectarse siempre a la nube.</a:t>
            </a:r>
            <a:endParaRPr sz="3000"/>
          </a:p>
          <a:p>
            <a:pPr algn="just">
              <a:lnSpc>
                <a:spcPts val="4182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La combinación de IoT, Machine Learning y tecnologías emergentes como 5G y Edge Computing permitirá sistemas aún más rápidos, seguros y eficientes.</a:t>
            </a:r>
            <a:endParaRPr sz="3000"/>
          </a:p>
          <a:p>
            <a:pPr algn="just">
              <a:lnSpc>
                <a:spcPts val="4182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La visión final es un mundo donde cada dispositivo contribuya de forma activa a mejorar nuestra vida diaria.</a:t>
            </a:r>
            <a:endParaRPr sz="3000"/>
          </a:p>
        </p:txBody>
      </p:sp>
      <p:sp>
        <p:nvSpPr>
          <p:cNvPr id="1034857415" name="TextBox 8"/>
          <p:cNvSpPr txBox="1"/>
          <p:nvPr/>
        </p:nvSpPr>
        <p:spPr bwMode="auto">
          <a:xfrm rot="0">
            <a:off x="862012" y="1410912"/>
            <a:ext cx="16563975" cy="1435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defRPr/>
            </a:pPr>
            <a:r>
              <a:rPr lang="en-US" sz="8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FUTURO DE IOT INTELIGENTE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8881986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51822141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1457277" name="TextBox 6"/>
          <p:cNvSpPr txBox="1"/>
          <p:nvPr/>
        </p:nvSpPr>
        <p:spPr bwMode="auto">
          <a:xfrm rot="0">
            <a:off x="4381500" y="876299"/>
            <a:ext cx="952500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CONCEPTOS CLAVE APRENDIDOS</a:t>
            </a:r>
            <a:endParaRPr/>
          </a:p>
        </p:txBody>
      </p:sp>
      <p:grpSp>
        <p:nvGrpSpPr>
          <p:cNvPr id="2008218112" name="Group 7"/>
          <p:cNvGrpSpPr/>
          <p:nvPr/>
        </p:nvGrpSpPr>
        <p:grpSpPr bwMode="auto">
          <a:xfrm rot="0">
            <a:off x="3386569" y="3002756"/>
            <a:ext cx="11158842" cy="6621406"/>
            <a:chOff x="0" y="0"/>
            <a:chExt cx="11158842" cy="6621406"/>
          </a:xfrm>
        </p:grpSpPr>
        <p:sp>
          <p:nvSpPr>
            <p:cNvPr id="8" name="TextBox 8"/>
            <p:cNvSpPr txBox="1"/>
            <p:nvPr/>
          </p:nvSpPr>
          <p:spPr bwMode="auto">
            <a:xfrm rot="0">
              <a:off x="0" y="0"/>
              <a:ext cx="11158842" cy="50672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652673" lvl="1" indent="-326337" algn="l">
                <a:lnSpc>
                  <a:spcPts val="3627"/>
                </a:lnSpc>
                <a:buFont typeface="Arial"/>
                <a:buChar char="•"/>
                <a:defRPr/>
              </a:pP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🌐 IoT + 🤖 ML: combinación que p</a:t>
              </a: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ermite que los dispositivos no solo recojan da</a:t>
              </a: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tos,</a:t>
              </a: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 sino que aprendan y actúen</a:t>
              </a: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Sensores: base de todo sistema IoT, generan la materia prima de los modelos.</a:t>
              </a:r>
              <a:endParaRPr sz="2500"/>
            </a:p>
            <a:p>
              <a:pPr marL="652673" lvl="1" indent="-326337" algn="l">
                <a:lnSpc>
                  <a:spcPts val="3627"/>
                </a:lnSpc>
                <a:buFont typeface="Arial"/>
                <a:buChar char="•"/>
                <a:defRPr/>
              </a:pP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🛰️ Sensores: base de todo sistema IoT, generan la materia prima de los modelos</a:t>
              </a:r>
              <a:endParaRPr sz="2500"/>
            </a:p>
            <a:p>
              <a:pPr marL="652673" lvl="1" indent="-326337" algn="l">
                <a:lnSpc>
                  <a:spcPts val="3627"/>
                </a:lnSpc>
                <a:buFont typeface="Arial"/>
                <a:buChar char="•"/>
                <a:defRPr/>
              </a:pP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🧹 Preprocesamiento: limpiar, normalizar y transformar datos para asegurar calidad</a:t>
              </a:r>
              <a:endParaRPr lang="en-US" sz="2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endParaRPr>
            </a:p>
            <a:p>
              <a:pPr marL="652672" lvl="1" indent="-326336" algn="l">
                <a:lnSpc>
                  <a:spcPts val="3626"/>
                </a:lnSpc>
                <a:buFont typeface="Arial"/>
                <a:buChar char="•"/>
                <a:defRPr/>
              </a:pP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💻</a:t>
              </a:r>
              <a:r>
                <a:rPr lang="es-GT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 Edge Computing: Aprendio diferencia de edge vs cloud</a:t>
              </a:r>
              <a:endParaRPr sz="2500"/>
            </a:p>
            <a:p>
              <a:pPr marL="652673" lvl="1" indent="-326337" algn="l">
                <a:lnSpc>
                  <a:spcPts val="3627"/>
                </a:lnSpc>
                <a:buFont typeface="Arial"/>
                <a:buChar char="•"/>
                <a:defRPr/>
              </a:pPr>
              <a:r>
                <a:rPr lang="en-US" sz="25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🌾🏥🌆🏭 Casos de Uso: agricultura, salud, ciudades inteligentes e industria</a:t>
              </a:r>
              <a:endParaRPr sz="2500"/>
            </a:p>
            <a:p>
              <a:pPr algn="l">
                <a:lnSpc>
                  <a:spcPts val="3627"/>
                </a:lnSpc>
                <a:defRPr/>
              </a:pPr>
              <a:endParaRPr sz="2500"/>
            </a:p>
          </p:txBody>
        </p:sp>
        <p:sp>
          <p:nvSpPr>
            <p:cNvPr id="9" name="Freeform 9"/>
            <p:cNvSpPr/>
            <p:nvPr/>
          </p:nvSpPr>
          <p:spPr bwMode="auto">
            <a:xfrm rot="0" flipH="0" flipV="0">
              <a:off x="4544326" y="4581096"/>
              <a:ext cx="2040309" cy="2040309"/>
            </a:xfrm>
            <a:custGeom>
              <a:avLst/>
              <a:gdLst/>
              <a:ahLst/>
              <a:cxnLst/>
              <a:rect l="l" t="t" r="r" b="b"/>
              <a:pathLst>
                <a:path w="2720413" h="2720413" fill="norm" stroke="1" extrusionOk="0">
                  <a:moveTo>
                    <a:pt x="0" y="0"/>
                  </a:moveTo>
                  <a:lnTo>
                    <a:pt x="2720413" y="0"/>
                  </a:lnTo>
                  <a:lnTo>
                    <a:pt x="2720413" y="2720413"/>
                  </a:lnTo>
                  <a:lnTo>
                    <a:pt x="0" y="2720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0674298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65206876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61654993" name="Group 6"/>
          <p:cNvGrpSpPr/>
          <p:nvPr/>
        </p:nvGrpSpPr>
        <p:grpSpPr bwMode="auto">
          <a:xfrm rot="0">
            <a:off x="2000250" y="3238500"/>
            <a:ext cx="14287500" cy="5910695"/>
            <a:chOff x="0" y="0"/>
            <a:chExt cx="19050000" cy="7880927"/>
          </a:xfrm>
        </p:grpSpPr>
        <p:sp>
          <p:nvSpPr>
            <p:cNvPr id="7" name="TextBox 7"/>
            <p:cNvSpPr txBox="1"/>
            <p:nvPr/>
          </p:nvSpPr>
          <p:spPr bwMode="auto">
            <a:xfrm rot="0">
              <a:off x="0" y="-9525"/>
              <a:ext cx="19050000" cy="5292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27"/>
                </a:lnSpc>
                <a:defRPr/>
              </a:pPr>
              <a:r>
                <a:rPr lang="en-US" sz="3250" u="sng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Coo</a:t>
              </a:r>
              <a:r>
                <a:rPr lang="en-US" sz="3250" u="sng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peración: </a:t>
              </a:r>
              <a:r>
                <a:rPr lang="en-US" sz="325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los dispositivos IoT funcionan en red, compartiendo datos; de la misma manera, los equipos humanos logran más cuando trabajan juntos.</a:t>
              </a:r>
              <a:endParaRPr/>
            </a:p>
            <a:p>
              <a:pPr algn="just">
                <a:lnSpc>
                  <a:spcPts val="3927"/>
                </a:lnSpc>
                <a:defRPr/>
              </a:pPr>
              <a:endParaRPr/>
            </a:p>
            <a:p>
              <a:pPr algn="just">
                <a:lnSpc>
                  <a:spcPts val="3927"/>
                </a:lnSpc>
                <a:defRPr/>
              </a:pPr>
              <a:r>
                <a:rPr lang="en-US" sz="3250" u="sng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Responsabilidad:</a:t>
              </a:r>
              <a:r>
                <a:rPr lang="en-US" sz="325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 la implementación de ML en IoT exige un uso ético y seguro de los datos, reflejando el deber de actuar con responsabilidad en nuestras acciones.</a:t>
              </a:r>
              <a:endParaRPr/>
            </a:p>
            <a:p>
              <a:pPr algn="just">
                <a:lnSpc>
                  <a:spcPts val="3927"/>
                </a:lnSpc>
                <a:defRPr/>
              </a:pPr>
              <a:endParaRPr/>
            </a:p>
            <a:p>
              <a:pPr algn="just">
                <a:lnSpc>
                  <a:spcPts val="3927"/>
                </a:lnSpc>
                <a:defRPr/>
              </a:pPr>
              <a:r>
                <a:rPr lang="en-US" sz="3250" u="sng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Confianza: </a:t>
              </a:r>
              <a:r>
                <a:rPr lang="en-US" sz="325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un sistema IoT-ML funciona solo si confiamos en que los datos son reales; en la sociedad, la confianza fortalece los vínculos y permite avanzar unidos.</a:t>
              </a:r>
              <a:endParaRPr/>
            </a:p>
          </p:txBody>
        </p:sp>
        <p:sp>
          <p:nvSpPr>
            <p:cNvPr id="8" name="Freeform 8"/>
            <p:cNvSpPr/>
            <p:nvPr/>
          </p:nvSpPr>
          <p:spPr bwMode="auto">
            <a:xfrm rot="0" flipH="0" flipV="0">
              <a:off x="8226136" y="5283200"/>
              <a:ext cx="2597727" cy="2597727"/>
            </a:xfrm>
            <a:custGeom>
              <a:avLst/>
              <a:gdLst/>
              <a:ahLst/>
              <a:cxnLst/>
              <a:rect l="l" t="t" r="r" b="b"/>
              <a:pathLst>
                <a:path w="2597727" h="2597727" fill="norm" stroke="1" extrusionOk="0">
                  <a:moveTo>
                    <a:pt x="0" y="0"/>
                  </a:moveTo>
                  <a:lnTo>
                    <a:pt x="2597728" y="0"/>
                  </a:lnTo>
                  <a:lnTo>
                    <a:pt x="2597728" y="2597727"/>
                  </a:lnTo>
                  <a:lnTo>
                    <a:pt x="0" y="2597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id="1139115236" name="TextBox 9"/>
          <p:cNvSpPr txBox="1"/>
          <p:nvPr/>
        </p:nvSpPr>
        <p:spPr bwMode="auto">
          <a:xfrm rot="0">
            <a:off x="4381500" y="876299"/>
            <a:ext cx="952500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NOMBRE DEL VALOR Y/O ACTITUD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07748600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130348640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40592548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46213809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89507836" name="TextBox 6"/>
          <p:cNvSpPr txBox="1"/>
          <p:nvPr/>
        </p:nvSpPr>
        <p:spPr bwMode="auto">
          <a:xfrm rot="0">
            <a:off x="4857750" y="1500707"/>
            <a:ext cx="8572500" cy="135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REFERENCIAS</a:t>
            </a:r>
            <a:endParaRPr/>
          </a:p>
        </p:txBody>
      </p:sp>
      <p:sp>
        <p:nvSpPr>
          <p:cNvPr id="737427394" name="TextBox 7"/>
          <p:cNvSpPr txBox="1"/>
          <p:nvPr/>
        </p:nvSpPr>
        <p:spPr bwMode="auto">
          <a:xfrm rot="0">
            <a:off x="1047748" y="3188910"/>
            <a:ext cx="16194658" cy="4999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  <a:defRPr/>
            </a:pPr>
            <a:r>
              <a:rPr lang="en-US" sz="41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REFERENCIAS:</a:t>
            </a:r>
            <a:endParaRPr/>
          </a:p>
          <a:p>
            <a:pPr algn="l">
              <a:lnSpc>
                <a:spcPts val="4919"/>
              </a:lnSpc>
              <a:defRPr/>
            </a:pPr>
            <a:r>
              <a:rPr lang="en-US" sz="41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https://azure.microsoft.com/es-es/resources/cloud-computing-dictionary/what-is-cloud-migration/</a:t>
            </a:r>
            <a:endParaRPr/>
          </a:p>
          <a:p>
            <a:pPr algn="l">
              <a:lnSpc>
                <a:spcPts val="4919"/>
              </a:lnSpc>
              <a:defRPr/>
            </a:pPr>
            <a:endParaRPr/>
          </a:p>
          <a:p>
            <a:pPr marL="0" marR="0" indent="0" algn="l">
              <a:lnSpc>
                <a:spcPts val="491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100" b="0" i="0" u="sng" strike="noStrike" cap="none" spc="0">
                <a:solidFill>
                  <a:schemeClr val="tx1"/>
                </a:solidFill>
                <a:latin typeface="KG Primary Penmanship"/>
                <a:ea typeface="KG Primary Penmanship"/>
                <a:cs typeface="KG Primary Penmanship"/>
                <a:hlinkClick r:id="rId3" tooltip=""/>
              </a:rPr>
              <a:t>https://impactotic.co/tecnologia/cloud/migracion-a-la-nube-subase-a-la-tendencia-del-momento/</a:t>
            </a:r>
            <a:endParaRPr sz="4100">
              <a:solidFill>
                <a:schemeClr val="tx1"/>
              </a:solidFill>
              <a:latin typeface="KG Primary Penmanship"/>
              <a:ea typeface="KG Primary Penmanship"/>
              <a:cs typeface="KG Primary Penmanship"/>
            </a:endParaRPr>
          </a:p>
          <a:p>
            <a:pPr algn="l">
              <a:lnSpc>
                <a:spcPts val="4918"/>
              </a:lnSpc>
              <a:defRPr/>
            </a:pPr>
            <a:endParaRPr/>
          </a:p>
          <a:p>
            <a:pPr algn="l">
              <a:lnSpc>
                <a:spcPts val="4918"/>
              </a:lnSpc>
              <a:defRPr/>
            </a:pPr>
            <a:r>
              <a:rPr lang="en-US" sz="4100" b="0" i="0" u="none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https://ndmarketingdigital.com/como-se-conecta-iot-a-la-nube/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0849068" name="Group 2"/>
          <p:cNvGrpSpPr/>
          <p:nvPr/>
        </p:nvGrpSpPr>
        <p:grpSpPr bwMode="auto">
          <a:xfrm rot="0">
            <a:off x="768246" y="785682"/>
            <a:ext cx="16751502" cy="8715633"/>
            <a:chOff x="0" y="0"/>
            <a:chExt cx="69085395" cy="35944418"/>
          </a:xfrm>
        </p:grpSpPr>
        <p:sp>
          <p:nvSpPr>
            <p:cNvPr id="1237404236" name="Freeform 3"/>
            <p:cNvSpPr/>
            <p:nvPr/>
          </p:nvSpPr>
          <p:spPr bwMode="auto">
            <a:xfrm rot="0" flipH="0" flipV="0">
              <a:off x="72388" y="72388"/>
              <a:ext cx="68940617" cy="35799639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89908472" name="Freeform 4"/>
            <p:cNvSpPr/>
            <p:nvPr/>
          </p:nvSpPr>
          <p:spPr bwMode="auto">
            <a:xfrm rot="0" flipH="0" flipV="0">
              <a:off x="0" y="0"/>
              <a:ext cx="69085395" cy="35944418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062087172" name="AutoShape 5"/>
          <p:cNvSpPr/>
          <p:nvPr/>
        </p:nvSpPr>
        <p:spPr bwMode="auto">
          <a:xfrm>
            <a:off x="1028700" y="302698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5129394" name="TextBox 7"/>
          <p:cNvSpPr txBox="1"/>
          <p:nvPr/>
        </p:nvSpPr>
        <p:spPr bwMode="auto">
          <a:xfrm rot="0">
            <a:off x="4381498" y="876297"/>
            <a:ext cx="9525358" cy="106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  <a:defRPr/>
            </a:pPr>
            <a:r>
              <a:rPr lang="en-US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Ejemplo práctico</a:t>
            </a:r>
            <a:endParaRPr/>
          </a:p>
        </p:txBody>
      </p:sp>
      <p:pic>
        <p:nvPicPr>
          <p:cNvPr id="587902636" name="Google Shape;192;g364f262177b_0_2" title="Gemini_Generated_Image_u2i06ou2i06ou2i0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0" flipV="0">
            <a:off x="1028698" y="3312735"/>
            <a:ext cx="4074526" cy="5583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83769" name="Group 2"/>
          <p:cNvGrpSpPr/>
          <p:nvPr/>
        </p:nvGrpSpPr>
        <p:grpSpPr bwMode="auto">
          <a:xfrm rot="0">
            <a:off x="768246" y="785682"/>
            <a:ext cx="16751502" cy="8715633"/>
            <a:chOff x="0" y="0"/>
            <a:chExt cx="69085395" cy="35944418"/>
          </a:xfrm>
        </p:grpSpPr>
        <p:sp>
          <p:nvSpPr>
            <p:cNvPr id="3009302" name="Freeform 3"/>
            <p:cNvSpPr/>
            <p:nvPr/>
          </p:nvSpPr>
          <p:spPr bwMode="auto">
            <a:xfrm rot="0" flipH="0" flipV="0">
              <a:off x="72388" y="72388"/>
              <a:ext cx="68940617" cy="35799639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7632239" name="Freeform 4"/>
            <p:cNvSpPr/>
            <p:nvPr/>
          </p:nvSpPr>
          <p:spPr bwMode="auto">
            <a:xfrm rot="0" flipH="0" flipV="0">
              <a:off x="0" y="0"/>
              <a:ext cx="69085395" cy="35944418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69858156" name="AutoShape 5"/>
          <p:cNvSpPr/>
          <p:nvPr/>
        </p:nvSpPr>
        <p:spPr bwMode="auto">
          <a:xfrm>
            <a:off x="1028700" y="302698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62697289" name="TextBox 7"/>
          <p:cNvSpPr txBox="1"/>
          <p:nvPr/>
        </p:nvSpPr>
        <p:spPr bwMode="auto">
          <a:xfrm rot="0">
            <a:off x="4381498" y="876297"/>
            <a:ext cx="9534357" cy="106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  <a:defRPr/>
            </a:pPr>
            <a:r>
              <a:rPr lang="es-GT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Practiquemos lo aprendido</a:t>
            </a:r>
            <a:endParaRPr/>
          </a:p>
        </p:txBody>
      </p:sp>
      <p:pic>
        <p:nvPicPr>
          <p:cNvPr id="28577504" name="Google Shape;198;g364afea4f63_0_148" title="Gemini_Generated_Image_mopnfwmopnfwmopn (1)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180293" y="3505198"/>
            <a:ext cx="4077822" cy="4077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2652234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6" cy="1028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4137176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6898" y="1507248"/>
          <a:ext cx="2999998" cy="299999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2766548"/>
                <a:gridCol w="2463323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286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02247686" name="Google Shape;56;p13"/>
          <p:cNvSpPr txBox="1"/>
          <p:nvPr/>
        </p:nvSpPr>
        <p:spPr bwMode="auto">
          <a:xfrm>
            <a:off x="0" y="4281898"/>
            <a:ext cx="18037800" cy="8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" b="1"/>
              <a:t>Participantes: llenar las siguientes cajas de texto (tomar información del chat del meet)</a:t>
            </a:r>
            <a:endParaRPr b="1"/>
          </a:p>
        </p:txBody>
      </p:sp>
      <p:sp>
        <p:nvSpPr>
          <p:cNvPr id="1209363421" name="Google Shape;57;p13"/>
          <p:cNvSpPr txBox="1"/>
          <p:nvPr/>
        </p:nvSpPr>
        <p:spPr bwMode="auto">
          <a:xfrm>
            <a:off x="16898" y="4955796"/>
            <a:ext cx="61673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26434395" name="Google Shape;58;p13"/>
          <p:cNvGraphicFramePr>
            <a:graphicFrameLocks xmlns:a="http://schemas.openxmlformats.org/drawingml/2006/main"/>
          </p:cNvGraphicFramePr>
          <p:nvPr/>
        </p:nvGraphicFramePr>
        <p:xfrm rot="0">
          <a:off x="10656398" y="1738220"/>
          <a:ext cx="2999998" cy="299999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719588"/>
                <a:gridCol w="2460540"/>
              </a:tblGrid>
              <a:tr h="524442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524442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524442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500" b="1"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03600894" name="Google Shape;59;p13"/>
          <p:cNvSpPr txBox="1"/>
          <p:nvPr/>
        </p:nvSpPr>
        <p:spPr bwMode="auto">
          <a:xfrm>
            <a:off x="6261598" y="4955796"/>
            <a:ext cx="61673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8645323" name="Google Shape;60;p13"/>
          <p:cNvSpPr txBox="1"/>
          <p:nvPr/>
        </p:nvSpPr>
        <p:spPr bwMode="auto">
          <a:xfrm>
            <a:off x="12506298" y="4955796"/>
            <a:ext cx="57647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7003142" name="Group 2"/>
          <p:cNvGrpSpPr/>
          <p:nvPr/>
        </p:nvGrpSpPr>
        <p:grpSpPr bwMode="auto">
          <a:xfrm rot="0">
            <a:off x="2000250" y="3343275"/>
            <a:ext cx="9053422" cy="3600450"/>
            <a:chOff x="0" y="0"/>
            <a:chExt cx="12071229" cy="4800600"/>
          </a:xfrm>
        </p:grpSpPr>
        <p:sp>
          <p:nvSpPr>
            <p:cNvPr id="3" name="TextBox 3"/>
            <p:cNvSpPr txBox="1"/>
            <p:nvPr/>
          </p:nvSpPr>
          <p:spPr bwMode="auto">
            <a:xfrm rot="0">
              <a:off x="0" y="-47625"/>
              <a:ext cx="12071229" cy="32480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479"/>
                </a:lnSpc>
                <a:defRPr/>
              </a:pPr>
              <a:r>
                <a:rPr lang="en-US" sz="7900">
                  <a:solidFill>
                    <a:srgbClr val="FFFFFF"/>
                  </a:solidFill>
                  <a:latin typeface="ITC Motter Corpus Regular"/>
                  <a:ea typeface="ITC Motter Corpus Regular"/>
                  <a:cs typeface="ITC Motter Corpus Regular"/>
                </a:rPr>
                <a:t>¡GRACIAS POR SU ATENCIÓN!</a:t>
              </a:r>
              <a:endParaRPr/>
            </a:p>
          </p:txBody>
        </p:sp>
        <p:sp>
          <p:nvSpPr>
            <p:cNvPr id="4" name="TextBox 4"/>
            <p:cNvSpPr txBox="1"/>
            <p:nvPr/>
          </p:nvSpPr>
          <p:spPr bwMode="auto">
            <a:xfrm rot="0">
              <a:off x="0" y="3152775"/>
              <a:ext cx="12071229" cy="1647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479"/>
                </a:lnSpc>
                <a:defRPr/>
              </a:pPr>
              <a:r>
                <a:rPr lang="en-US" sz="7900">
                  <a:solidFill>
                    <a:srgbClr val="FFFFFF"/>
                  </a:solidFill>
                  <a:latin typeface="ITC Motter Corpus Regular"/>
                  <a:ea typeface="ITC Motter Corpus Regular"/>
                  <a:cs typeface="ITC Motter Corpus Regular"/>
                </a:rPr>
                <a:t>¿DUDAS?</a:t>
              </a:r>
              <a:endParaRPr/>
            </a:p>
          </p:txBody>
        </p:sp>
      </p:grpSp>
      <p:sp>
        <p:nvSpPr>
          <p:cNvPr id="545318730" name="TextBox 5"/>
          <p:cNvSpPr txBox="1"/>
          <p:nvPr/>
        </p:nvSpPr>
        <p:spPr bwMode="auto">
          <a:xfrm rot="0">
            <a:off x="2000250" y="8496300"/>
            <a:ext cx="142875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9"/>
              </a:lnSpc>
              <a:defRPr/>
            </a:pPr>
            <a:r>
              <a:rPr lang="en-US" sz="2500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1336177439" name="Freeform 6"/>
          <p:cNvSpPr/>
          <p:nvPr/>
        </p:nvSpPr>
        <p:spPr bwMode="auto">
          <a:xfrm rot="0" flipH="0" flipV="0">
            <a:off x="13530482" y="3258015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fill="norm" stroke="1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</dc:title>
  <dc:identifier>DAG0MHjbCL0</dc:identifier>
  <cp:lastModifiedBy/>
  <cp:revision>2</cp:revision>
  <dcterms:created xsi:type="dcterms:W3CDTF">2006-08-16T00:00:00Z</dcterms:created>
  <dcterms:modified xsi:type="dcterms:W3CDTF">2025-10-29T17:50:13Z</dcterms:modified>
</cp:coreProperties>
</file>