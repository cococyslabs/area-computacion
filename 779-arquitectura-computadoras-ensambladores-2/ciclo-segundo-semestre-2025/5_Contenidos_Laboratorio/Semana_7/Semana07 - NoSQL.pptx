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FqNE5htjEZi1EAfW7MWGoSnKx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79970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9f979970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f9799708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f97997084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9f97997084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9732523" y="2639944"/>
            <a:ext cx="3983477" cy="3983477"/>
          </a:xfrm>
          <a:custGeom>
            <a:rect b="b" l="l" r="r" t="t"/>
            <a:pathLst>
              <a:path extrusionOk="0" h="3983477" w="3983477">
                <a:moveTo>
                  <a:pt x="0" y="0"/>
                </a:moveTo>
                <a:lnTo>
                  <a:pt x="3983477" y="0"/>
                </a:lnTo>
                <a:lnTo>
                  <a:pt x="3983477" y="3983477"/>
                </a:lnTo>
                <a:lnTo>
                  <a:pt x="0" y="3983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3865627" y="6053650"/>
            <a:ext cx="3994370" cy="3994370"/>
          </a:xfrm>
          <a:custGeom>
            <a:rect b="b" l="l" r="r" t="t"/>
            <a:pathLst>
              <a:path extrusionOk="0" h="3994370" w="3994370">
                <a:moveTo>
                  <a:pt x="0" y="0"/>
                </a:moveTo>
                <a:lnTo>
                  <a:pt x="3994371" y="0"/>
                </a:lnTo>
                <a:lnTo>
                  <a:pt x="3994371" y="3994370"/>
                </a:lnTo>
                <a:lnTo>
                  <a:pt x="0" y="3994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1"/>
          <p:cNvGrpSpPr/>
          <p:nvPr/>
        </p:nvGrpSpPr>
        <p:grpSpPr>
          <a:xfrm>
            <a:off x="-96981" y="2363946"/>
            <a:ext cx="9369136" cy="5523389"/>
            <a:chOff x="0" y="-47625"/>
            <a:chExt cx="12492181" cy="7364519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1562937" y="2686050"/>
              <a:ext cx="9366307" cy="46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Arquitectura de Computadores y Ensambladores 2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47625"/>
              <a:ext cx="12492181" cy="279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BASES DE DATOS NOSQL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03" name="Google Shape;103;p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05" name="Google Shape;105;p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 txBox="1"/>
          <p:nvPr/>
        </p:nvSpPr>
        <p:spPr>
          <a:xfrm>
            <a:off x="3667125" y="1500708"/>
            <a:ext cx="1095375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369949" y="3500062"/>
            <a:ext cx="14509632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95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🗓️ Entregar el Proyecto 2, fecha límite 24/10 - 23:59hrs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📄 Agregar dudas al Foro 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Presentaciones Clases Magistral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4620875" y="6316927"/>
            <a:ext cx="2941373" cy="2941373"/>
          </a:xfrm>
          <a:custGeom>
            <a:rect b="b" l="l" r="r" t="t"/>
            <a:pathLst>
              <a:path extrusionOk="0" h="2941373" w="2941373">
                <a:moveTo>
                  <a:pt x="0" y="0"/>
                </a:moveTo>
                <a:lnTo>
                  <a:pt x="2941373" y="0"/>
                </a:lnTo>
                <a:lnTo>
                  <a:pt x="2941373" y="2941373"/>
                </a:lnTo>
                <a:lnTo>
                  <a:pt x="0" y="2941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14" name="Google Shape;114;p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16" name="Google Shape;116;p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 txBox="1"/>
          <p:nvPr/>
        </p:nvSpPr>
        <p:spPr>
          <a:xfrm>
            <a:off x="4857750" y="1500708"/>
            <a:ext cx="85725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2145" y="3026987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5308314" y="3824691"/>
            <a:ext cx="11616339" cy="3136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analiza datos recolectados por sensores conectados a Arduino mediante software de análisis de datos como Python y bibliotecas especializadas para identificar patrones y anomalías, dentro del contexto que se este aplicando en tiempo real. 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25" name="Google Shape;125;p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27" name="Google Shape;127;p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9489759" y="6356613"/>
            <a:ext cx="8031693" cy="3855212"/>
          </a:xfrm>
          <a:custGeom>
            <a:rect b="b" l="l" r="r" t="t"/>
            <a:pathLst>
              <a:path extrusionOk="0" h="3855212" w="8031693">
                <a:moveTo>
                  <a:pt x="0" y="0"/>
                </a:moveTo>
                <a:lnTo>
                  <a:pt x="8031693" y="0"/>
                </a:lnTo>
                <a:lnTo>
                  <a:pt x="8031693" y="3855212"/>
                </a:lnTo>
                <a:lnTo>
                  <a:pt x="0" y="3855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 txBox="1"/>
          <p:nvPr/>
        </p:nvSpPr>
        <p:spPr>
          <a:xfrm>
            <a:off x="571500" y="1548333"/>
            <a:ext cx="17162949" cy="10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6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BASES DE DATOS NOSQL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194350" y="3268311"/>
            <a:ext cx="159171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Bases de Datos NoSQL (Not Only SQL) son sistemas de almacenamiento de datos que no siguen el modelo relacional tradicional basado en tablas y SQL.</a:t>
            </a:r>
            <a:endParaRPr sz="500"/>
          </a:p>
          <a:p>
            <a:pPr indent="-384339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Fueron creadas para resolver las limitaciones de las bases de datos relacionales frente a los grandes volúmenes de datos, la alta velocidad de acceso y la variedad de estructuras (texto, JSON, sensores, redes sociales, etc.).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36" name="Google Shape;136;p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7" name="Google Shape;137;p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38" name="Google Shape;138;p5"/>
          <p:cNvCxnSpPr/>
          <p:nvPr/>
        </p:nvCxnSpPr>
        <p:spPr>
          <a:xfrm>
            <a:off x="1028700" y="1919805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 txBox="1"/>
          <p:nvPr/>
        </p:nvSpPr>
        <p:spPr>
          <a:xfrm>
            <a:off x="571500" y="876300"/>
            <a:ext cx="17162949" cy="10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6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EL MUNDO NOSQL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028700" y="2135542"/>
            <a:ext cx="16130100" cy="6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principales: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Char char="•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usan esquemas fijos (los documentos o registros pueden tener diferentes campos).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Char char="•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Permiten escalar horizontalmente (añadir más nodos/servidores).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Char char="•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Diseñadas para manejar datos masivos y distribuidos.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Char char="•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Soportan estructuras como documentos, pares clave-valor, columnas o grafos.</a:t>
            </a:r>
            <a:endParaRPr sz="500"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principales de NoSQL: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AutoNum type="arabicPeriod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Documentales → almacenan datos en formato JSON o BSON (ej. MongoDB).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AutoNum type="arabicPeriod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Clave-valor → datos simples asociados a una clave única (ej. Redis).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AutoNum type="arabicPeriod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columnas → optimizadas para lecturas y escrituras masivas por columnas (ej. Cassandra).</a:t>
            </a:r>
            <a:endParaRPr sz="500"/>
          </a:p>
          <a:p>
            <a:pPr indent="-354153" lvl="1" marL="822606" marR="0" rtl="0" algn="just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9"/>
              <a:buFont typeface="Arial"/>
              <a:buAutoNum type="arabicPeriod"/>
            </a:pPr>
            <a:r>
              <a:rPr b="0" i="0" lang="en-US" sz="29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grafos → modelan relaciones complejas entre entidades (ej. Neo4j).</a:t>
            </a:r>
            <a:endParaRPr sz="500"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6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46" name="Google Shape;146;p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7" name="Google Shape;147;p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48" name="Google Shape;148;p6"/>
          <p:cNvCxnSpPr/>
          <p:nvPr/>
        </p:nvCxnSpPr>
        <p:spPr>
          <a:xfrm>
            <a:off x="1028700" y="2086339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6"/>
          <p:cNvSpPr txBox="1"/>
          <p:nvPr/>
        </p:nvSpPr>
        <p:spPr>
          <a:xfrm>
            <a:off x="768248" y="902803"/>
            <a:ext cx="16751504" cy="9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85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BENEFICIOS DEL NOSQL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028700" y="1654609"/>
            <a:ext cx="16686600" cy="7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72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Escalabilidad horizontal: se puede aumentar la capacidad agregando más servidores.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 de esquema: no es necesario definir una estructura rígida antes de almacenar datos.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disponibilidad y tolerancia a fallos: muchos sistemas NoSQL replican datos automáticamente.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Alto rendimiento: ideales para grandes volúmenes de lectura y escritura.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 a datos no estructurados: como logs, sensores IoT, redes sociales, etc.</a:t>
            </a:r>
            <a:endParaRPr sz="5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de uso: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con millones de usuarios (Facebook, Netflix, Twitter).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Analítica en tiempo real (telemetría, IoT, trading).</a:t>
            </a:r>
            <a:endParaRPr sz="500"/>
          </a:p>
          <a:p>
            <a:pPr indent="-384338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89"/>
              <a:buFont typeface="Arial"/>
              <a:buChar char="•"/>
            </a:pPr>
            <a:r>
              <a:rPr b="0" i="0" lang="en-US" sz="31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caché o colas de mensajes.</a:t>
            </a:r>
            <a:endParaRPr sz="5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7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56" name="Google Shape;156;p7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7" name="Google Shape;157;p7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58" name="Google Shape;158;p7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1866500" y="3026987"/>
            <a:ext cx="3097276" cy="1436166"/>
          </a:xfrm>
          <a:custGeom>
            <a:rect b="b" l="l" r="r" t="t"/>
            <a:pathLst>
              <a:path extrusionOk="0" h="1436166" w="3097276">
                <a:moveTo>
                  <a:pt x="0" y="0"/>
                </a:moveTo>
                <a:lnTo>
                  <a:pt x="3097276" y="0"/>
                </a:lnTo>
                <a:lnTo>
                  <a:pt x="3097276" y="1436166"/>
                </a:lnTo>
                <a:lnTo>
                  <a:pt x="0" y="1436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3219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7526506" y="3217188"/>
            <a:ext cx="2873048" cy="958880"/>
          </a:xfrm>
          <a:custGeom>
            <a:rect b="b" l="l" r="r" t="t"/>
            <a:pathLst>
              <a:path extrusionOk="0" h="958880" w="2873048">
                <a:moveTo>
                  <a:pt x="0" y="0"/>
                </a:moveTo>
                <a:lnTo>
                  <a:pt x="2873048" y="0"/>
                </a:lnTo>
                <a:lnTo>
                  <a:pt x="2873048" y="958880"/>
                </a:lnTo>
                <a:lnTo>
                  <a:pt x="0" y="958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/>
          <p:nvPr/>
        </p:nvSpPr>
        <p:spPr>
          <a:xfrm>
            <a:off x="12962284" y="3026987"/>
            <a:ext cx="3424305" cy="1273923"/>
          </a:xfrm>
          <a:custGeom>
            <a:rect b="b" l="l" r="r" t="t"/>
            <a:pathLst>
              <a:path extrusionOk="0" h="1273923" w="3424305">
                <a:moveTo>
                  <a:pt x="0" y="0"/>
                </a:moveTo>
                <a:lnTo>
                  <a:pt x="3424305" y="0"/>
                </a:lnTo>
                <a:lnTo>
                  <a:pt x="3424305" y="1273923"/>
                </a:lnTo>
                <a:lnTo>
                  <a:pt x="0" y="127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768248" y="933450"/>
            <a:ext cx="10256730" cy="616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BASES NOSQL MAS CONOCIDAS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768248" y="1543052"/>
            <a:ext cx="16986124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COMPARATIVAS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6465550" y="4328170"/>
            <a:ext cx="5356800" cy="46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</a:t>
            </a:r>
            <a:endParaRPr sz="8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base clave-valor en memoria, extremadamente rápida, usada principalmente para caché, manejo de sesiones o colas de tareas, aunque no es ideal para almacenar datos permanentes.</a:t>
            </a:r>
            <a:endParaRPr sz="800"/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2393950" y="4449669"/>
            <a:ext cx="4560900" cy="4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InfluxDB</a:t>
            </a:r>
            <a:endParaRPr sz="9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su parte, está especializada en series temporales, lo que la hace perfecta para registrar métricas, datos de sensores e información de IoT.</a:t>
            </a:r>
            <a:endParaRPr sz="900"/>
          </a:p>
        </p:txBody>
      </p:sp>
      <p:sp>
        <p:nvSpPr>
          <p:cNvPr id="166" name="Google Shape;166;p7"/>
          <p:cNvSpPr txBox="1"/>
          <p:nvPr/>
        </p:nvSpPr>
        <p:spPr>
          <a:xfrm>
            <a:off x="1143908" y="4328170"/>
            <a:ext cx="47526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 </a:t>
            </a:r>
            <a:endParaRPr sz="6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base de datos documental que almacena información en formato JSON, ideal para aplicaciones web y datos estructurados o semiestructurados gracias a su flexibilidad y escalabilidad.</a:t>
            </a:r>
            <a:endParaRPr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8"/>
          <p:cNvGrpSpPr/>
          <p:nvPr/>
        </p:nvGrpSpPr>
        <p:grpSpPr>
          <a:xfrm>
            <a:off x="768248" y="542665"/>
            <a:ext cx="16751504" cy="8880827"/>
            <a:chOff x="0" y="0"/>
            <a:chExt cx="69085396" cy="36625693"/>
          </a:xfrm>
        </p:grpSpPr>
        <p:sp>
          <p:nvSpPr>
            <p:cNvPr id="172" name="Google Shape;172;p8"/>
            <p:cNvSpPr/>
            <p:nvPr/>
          </p:nvSpPr>
          <p:spPr>
            <a:xfrm>
              <a:off x="72390" y="72390"/>
              <a:ext cx="68940619" cy="36480914"/>
            </a:xfrm>
            <a:custGeom>
              <a:rect b="b" l="l" r="r" t="t"/>
              <a:pathLst>
                <a:path extrusionOk="0" h="36480914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6480914"/>
                  </a:lnTo>
                  <a:lnTo>
                    <a:pt x="0" y="36480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3" name="Google Shape;173;p8"/>
            <p:cNvSpPr/>
            <p:nvPr/>
          </p:nvSpPr>
          <p:spPr>
            <a:xfrm>
              <a:off x="0" y="0"/>
              <a:ext cx="69085396" cy="36625693"/>
            </a:xfrm>
            <a:custGeom>
              <a:rect b="b" l="l" r="r" t="t"/>
              <a:pathLst>
                <a:path extrusionOk="0" h="36625693" w="69085396">
                  <a:moveTo>
                    <a:pt x="68940617" y="36480914"/>
                  </a:moveTo>
                  <a:lnTo>
                    <a:pt x="69085396" y="36480914"/>
                  </a:lnTo>
                  <a:lnTo>
                    <a:pt x="69085396" y="36625693"/>
                  </a:lnTo>
                  <a:lnTo>
                    <a:pt x="68940617" y="36625693"/>
                  </a:lnTo>
                  <a:lnTo>
                    <a:pt x="68940617" y="3648091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6480914"/>
                  </a:lnTo>
                  <a:lnTo>
                    <a:pt x="0" y="36480914"/>
                  </a:lnTo>
                  <a:lnTo>
                    <a:pt x="0" y="144780"/>
                  </a:lnTo>
                  <a:close/>
                  <a:moveTo>
                    <a:pt x="0" y="36480914"/>
                  </a:moveTo>
                  <a:lnTo>
                    <a:pt x="144780" y="36480914"/>
                  </a:lnTo>
                  <a:lnTo>
                    <a:pt x="144780" y="36625693"/>
                  </a:lnTo>
                  <a:lnTo>
                    <a:pt x="0" y="36625693"/>
                  </a:lnTo>
                  <a:lnTo>
                    <a:pt x="0" y="36480914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6480914"/>
                  </a:lnTo>
                  <a:lnTo>
                    <a:pt x="68940617" y="36480914"/>
                  </a:lnTo>
                  <a:lnTo>
                    <a:pt x="68940617" y="144780"/>
                  </a:lnTo>
                  <a:close/>
                  <a:moveTo>
                    <a:pt x="144780" y="36480914"/>
                  </a:moveTo>
                  <a:lnTo>
                    <a:pt x="68940617" y="36480914"/>
                  </a:lnTo>
                  <a:lnTo>
                    <a:pt x="68940617" y="36625693"/>
                  </a:lnTo>
                  <a:lnTo>
                    <a:pt x="144780" y="36625693"/>
                  </a:lnTo>
                  <a:lnTo>
                    <a:pt x="144780" y="36480914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74" name="Google Shape;174;p8"/>
          <p:cNvCxnSpPr/>
          <p:nvPr/>
        </p:nvCxnSpPr>
        <p:spPr>
          <a:xfrm>
            <a:off x="1028700" y="1741463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8"/>
          <p:cNvSpPr txBox="1"/>
          <p:nvPr/>
        </p:nvSpPr>
        <p:spPr>
          <a:xfrm>
            <a:off x="3139496" y="655613"/>
            <a:ext cx="1200900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USOS EN EL IOT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898474" y="1842553"/>
            <a:ext cx="16360800" cy="72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Almacenamiento flexible: Permite guardar datos heterogéneos de sensores y dispositivos sin un esquema fijo.</a:t>
            </a:r>
            <a:endParaRPr sz="900"/>
          </a:p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velocidad: Procesa grandes volúmenes de datos en tiempo real, ideal para lecturas frecuentes de sensores.</a:t>
            </a:r>
            <a:endParaRPr sz="900"/>
          </a:p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Escalabilidad horizontal: Soporta el crecimiento masivo de dispositivos conectados sin degradar el rendimiento.</a:t>
            </a:r>
            <a:endParaRPr sz="900"/>
          </a:p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series temporales: Facilita el análisis de métricas y tendencias a lo largo del tiempo (temperatura, consumo, ubicación).</a:t>
            </a:r>
            <a:endParaRPr sz="900"/>
          </a:p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Caché y procesamiento en memoria: Mejora la respuesta de sistemas en tiempo real para alertas y control de dispositivos.</a:t>
            </a:r>
            <a:endParaRPr sz="900"/>
          </a:p>
          <a:p>
            <a:pPr indent="-350875" lvl="1" marL="765249" marR="0" rtl="0" algn="just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3"/>
              <a:buFont typeface="Arial"/>
              <a:buChar char="•"/>
            </a:pPr>
            <a:r>
              <a:rPr b="0" i="0" lang="en-US" sz="30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disponibilidad y tolerancia a fallos: Garantiza que los datos críticos de IoT estén siempre accesibles incluso ante fallas de nodos.</a:t>
            </a:r>
            <a:endParaRPr sz="9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9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82" name="Google Shape;182;p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3" name="Google Shape;183;p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84" name="Google Shape;184;p9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9"/>
          <p:cNvSpPr txBox="1"/>
          <p:nvPr/>
        </p:nvSpPr>
        <p:spPr>
          <a:xfrm>
            <a:off x="1524000" y="3757649"/>
            <a:ext cx="152400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Orden:</a:t>
            </a:r>
            <a:endParaRPr sz="800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concepto de orden es fundamental para garantizar que los datos y procesos se ejecuten de manera organizada y eficiente. Al igual que el valor de la semana busca priorizar la disciplina y la estructura en nuestras actividades, los sistemas informáticos requieren orden en el almacenamiento de datos, en la ejecución de tareas y en la comunicación entre componentes.</a:t>
            </a:r>
            <a:endParaRPr sz="800"/>
          </a:p>
        </p:txBody>
      </p:sp>
      <p:sp>
        <p:nvSpPr>
          <p:cNvPr id="186" name="Google Shape;186;p9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9"/>
          <p:cNvSpPr txBox="1"/>
          <p:nvPr/>
        </p:nvSpPr>
        <p:spPr>
          <a:xfrm>
            <a:off x="4381500" y="876300"/>
            <a:ext cx="9525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0"/>
          <p:cNvGrpSpPr/>
          <p:nvPr/>
        </p:nvGrpSpPr>
        <p:grpSpPr>
          <a:xfrm>
            <a:off x="2000250" y="3307556"/>
            <a:ext cx="9053422" cy="3636169"/>
            <a:chOff x="0" y="-47625"/>
            <a:chExt cx="12071229" cy="4848225"/>
          </a:xfrm>
        </p:grpSpPr>
        <p:sp>
          <p:nvSpPr>
            <p:cNvPr id="193" name="Google Shape;193;p10"/>
            <p:cNvSpPr txBox="1"/>
            <p:nvPr/>
          </p:nvSpPr>
          <p:spPr>
            <a:xfrm>
              <a:off x="0" y="-47625"/>
              <a:ext cx="12071229" cy="324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 POR SU ATENCIÓN!</a:t>
              </a:r>
              <a:endParaRPr/>
            </a:p>
          </p:txBody>
        </p:sp>
        <p:sp>
          <p:nvSpPr>
            <p:cNvPr id="194" name="Google Shape;194;p10"/>
            <p:cNvSpPr txBox="1"/>
            <p:nvPr/>
          </p:nvSpPr>
          <p:spPr>
            <a:xfrm>
              <a:off x="0" y="3152775"/>
              <a:ext cx="12071229" cy="164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¿DUDAS?</a:t>
              </a:r>
              <a:endParaRPr/>
            </a:p>
          </p:txBody>
        </p:sp>
      </p:grpSp>
      <p:sp>
        <p:nvSpPr>
          <p:cNvPr id="195" name="Google Shape;195;p10"/>
          <p:cNvSpPr txBox="1"/>
          <p:nvPr/>
        </p:nvSpPr>
        <p:spPr>
          <a:xfrm>
            <a:off x="2000250" y="849630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3530482" y="325801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