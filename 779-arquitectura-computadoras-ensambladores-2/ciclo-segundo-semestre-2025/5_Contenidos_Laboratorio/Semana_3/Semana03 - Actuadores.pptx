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NdgF4pizjJgT79jERwgBj1kvT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11B399-E2D9-44DC-85B8-9311BD3A1089}">
  <a:tblStyle styleId="{5611B399-E2D9-44DC-85B8-9311BD3A108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927f98a7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927f98a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0f7b1748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0f7b1748d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0f7b1748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a0f7b1748d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rsoarduino.powarsteam.com/introduccion/espanol/indice/11-introduccion-a-los-actuadores" TargetMode="External"/><Relationship Id="rId4" Type="http://schemas.openxmlformats.org/officeDocument/2006/relationships/hyperlink" Target="https://aprendiendoarduino.wordpress.com/2016/12/18/sensores-y-actuadores/" TargetMode="External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9f927f98a7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9f927f98a7_0_1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9f927f98a7_0_1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CURSO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2573000" y="0"/>
            <a:ext cx="5715000" cy="1514631"/>
          </a:xfrm>
          <a:custGeom>
            <a:rect b="b" l="l" r="r" t="t"/>
            <a:pathLst>
              <a:path extrusionOk="0" h="1514631" w="5715000">
                <a:moveTo>
                  <a:pt x="0" y="0"/>
                </a:moveTo>
                <a:lnTo>
                  <a:pt x="5715000" y="0"/>
                </a:lnTo>
                <a:lnTo>
                  <a:pt x="5715000" y="1514631"/>
                </a:lnTo>
                <a:lnTo>
                  <a:pt x="0" y="151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0728959" y="1948753"/>
            <a:ext cx="5974083" cy="5974083"/>
          </a:xfrm>
          <a:custGeom>
            <a:rect b="b" l="l" r="r" t="t"/>
            <a:pathLst>
              <a:path extrusionOk="0" h="5974083" w="5974083">
                <a:moveTo>
                  <a:pt x="0" y="0"/>
                </a:moveTo>
                <a:lnTo>
                  <a:pt x="5974082" y="0"/>
                </a:lnTo>
                <a:lnTo>
                  <a:pt x="5974082" y="5974083"/>
                </a:lnTo>
                <a:lnTo>
                  <a:pt x="0" y="5974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4" name="Google Shape;94;p1"/>
          <p:cNvGrpSpPr/>
          <p:nvPr/>
        </p:nvGrpSpPr>
        <p:grpSpPr>
          <a:xfrm>
            <a:off x="-190500" y="2878296"/>
            <a:ext cx="9525000" cy="4494689"/>
            <a:chOff x="0" y="-47625"/>
            <a:chExt cx="12700000" cy="5992919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1588938" y="1314450"/>
              <a:ext cx="9522124" cy="4630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199" u="none" cap="none" strike="noStrike">
                  <a:solidFill>
                    <a:srgbClr val="FFB400"/>
                  </a:solidFill>
                  <a:latin typeface="Arial"/>
                  <a:ea typeface="Arial"/>
                  <a:cs typeface="Arial"/>
                  <a:sym typeface="Arial"/>
                </a:rPr>
                <a:t>Arquitectura de Computadores y Ensambladores 2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Escuela de Ingeniería de Ciencias Y Sistemas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Facultad de Ingeniería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Universidad de San Carlos de Guatemala</a:t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12700000" cy="1419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799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ACTUADORES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02" name="Google Shape;102;p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04" name="Google Shape;104;p2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2"/>
          <p:cNvSpPr txBox="1"/>
          <p:nvPr/>
        </p:nvSpPr>
        <p:spPr>
          <a:xfrm>
            <a:off x="3667125" y="1500708"/>
            <a:ext cx="1095375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1369949" y="3207962"/>
            <a:ext cx="15240000" cy="5080000"/>
            <a:chOff x="0" y="0"/>
            <a:chExt cx="20320000" cy="6773333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0" y="392642"/>
              <a:ext cx="13546800" cy="40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9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92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🗓️ </a:t>
              </a:r>
              <a:r>
                <a:rPr lang="en-US" sz="4925"/>
                <a:t>—--------</a:t>
              </a:r>
              <a:r>
                <a:rPr b="0" i="0" lang="en-US" sz="492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400"/>
            </a:p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92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📄 </a:t>
              </a:r>
              <a:r>
                <a:rPr lang="en-US" sz="4925">
                  <a:solidFill>
                    <a:schemeClr val="dk1"/>
                  </a:solidFill>
                </a:rPr>
                <a:t>—--------</a:t>
              </a:r>
              <a:endParaRPr sz="400"/>
            </a:p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92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Agregar dudas al Foro </a:t>
              </a:r>
              <a:endParaRPr sz="400"/>
            </a:p>
          </p:txBody>
        </p:sp>
        <p:sp>
          <p:nvSpPr>
            <p:cNvPr id="108" name="Google Shape;108;p2"/>
            <p:cNvSpPr/>
            <p:nvPr/>
          </p:nvSpPr>
          <p:spPr>
            <a:xfrm flipH="1">
              <a:off x="13546667" y="0"/>
              <a:ext cx="6773333" cy="6773333"/>
            </a:xfrm>
            <a:custGeom>
              <a:rect b="b" l="l" r="r" t="t"/>
              <a:pathLst>
                <a:path extrusionOk="0" h="6773333" w="6773333">
                  <a:moveTo>
                    <a:pt x="6773333" y="0"/>
                  </a:moveTo>
                  <a:lnTo>
                    <a:pt x="0" y="0"/>
                  </a:lnTo>
                  <a:lnTo>
                    <a:pt x="0" y="6773333"/>
                  </a:lnTo>
                  <a:lnTo>
                    <a:pt x="6773333" y="6773333"/>
                  </a:lnTo>
                  <a:lnTo>
                    <a:pt x="6773333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3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14" name="Google Shape;114;p3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5" name="Google Shape;115;p3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16" name="Google Shape;116;p3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3"/>
          <p:cNvSpPr txBox="1"/>
          <p:nvPr/>
        </p:nvSpPr>
        <p:spPr>
          <a:xfrm>
            <a:off x="4857750" y="1500708"/>
            <a:ext cx="85725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COMPETENCIA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964985" y="3047517"/>
            <a:ext cx="5715000" cy="5715000"/>
          </a:xfrm>
          <a:custGeom>
            <a:rect b="b" l="l" r="r" t="t"/>
            <a:pathLst>
              <a:path extrusionOk="0" h="5715000" w="5715000">
                <a:moveTo>
                  <a:pt x="0" y="0"/>
                </a:moveTo>
                <a:lnTo>
                  <a:pt x="5715000" y="0"/>
                </a:lnTo>
                <a:lnTo>
                  <a:pt x="57150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 txBox="1"/>
          <p:nvPr/>
        </p:nvSpPr>
        <p:spPr>
          <a:xfrm>
            <a:off x="6679985" y="3747373"/>
            <a:ext cx="10005000" cy="50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 y aplica los fundamentos de la automatización en sistemas embebidos, utilizando Arduino como plataforma de desarrollo, para implementar soluciones que respondan de forma eficiente a eventos del entorno mediante el uso de sensores, interrupciones y actuadores.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4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25" name="Google Shape;125;p4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4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27" name="Google Shape;127;p4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 txBox="1"/>
          <p:nvPr/>
        </p:nvSpPr>
        <p:spPr>
          <a:xfrm>
            <a:off x="4500612" y="3429000"/>
            <a:ext cx="92868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📍 ¿Qué es un actuador?</a:t>
            </a:r>
            <a:endParaRPr sz="6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🧪 Clasificación de Actuadores</a:t>
            </a:r>
            <a:endParaRPr sz="6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🔌 Actuadores Eléctricos</a:t>
            </a:r>
            <a:endParaRPr sz="6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🧷 Actuadores Mecánicos</a:t>
            </a:r>
            <a:endParaRPr sz="6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🧷 Actuadores Neumáticos</a:t>
            </a:r>
            <a:endParaRPr sz="6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Usos en la industria</a:t>
            </a:r>
            <a:endParaRPr sz="6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678848" y="7186100"/>
            <a:ext cx="705480" cy="705480"/>
          </a:xfrm>
          <a:custGeom>
            <a:rect b="b" l="l" r="r" t="t"/>
            <a:pathLst>
              <a:path extrusionOk="0" h="705480" w="705480">
                <a:moveTo>
                  <a:pt x="0" y="0"/>
                </a:moveTo>
                <a:lnTo>
                  <a:pt x="705479" y="0"/>
                </a:lnTo>
                <a:lnTo>
                  <a:pt x="705479" y="705479"/>
                </a:lnTo>
                <a:lnTo>
                  <a:pt x="0" y="705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6286500" y="1500708"/>
            <a:ext cx="57150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5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36" name="Google Shape;136;p5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7" name="Google Shape;137;p5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38" name="Google Shape;138;p5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5"/>
          <p:cNvSpPr/>
          <p:nvPr/>
        </p:nvSpPr>
        <p:spPr>
          <a:xfrm>
            <a:off x="2308742" y="3451378"/>
            <a:ext cx="5120602" cy="5120602"/>
          </a:xfrm>
          <a:custGeom>
            <a:rect b="b" l="l" r="r" t="t"/>
            <a:pathLst>
              <a:path extrusionOk="0" h="5120602" w="5120602">
                <a:moveTo>
                  <a:pt x="0" y="0"/>
                </a:moveTo>
                <a:lnTo>
                  <a:pt x="5120601" y="0"/>
                </a:lnTo>
                <a:lnTo>
                  <a:pt x="5120601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571500" y="1500708"/>
            <a:ext cx="171450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¿QUÉ ES UN ACTUADOR?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7821083" y="3441853"/>
            <a:ext cx="8466600" cy="52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dispositivo capaz de transformar un tipo de energía en una magnitud física. </a:t>
            </a:r>
            <a:endParaRPr sz="6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actuador recibe la “orden” desde Arduino y en función de ella activa un elemento final como una motor, válvula entre otros.</a:t>
            </a:r>
            <a:endParaRPr sz="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6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47" name="Google Shape;147;p6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8" name="Google Shape;148;p6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49" name="Google Shape;149;p6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6"/>
          <p:cNvSpPr/>
          <p:nvPr/>
        </p:nvSpPr>
        <p:spPr>
          <a:xfrm>
            <a:off x="12294740" y="3824510"/>
            <a:ext cx="3896001" cy="3896001"/>
          </a:xfrm>
          <a:custGeom>
            <a:rect b="b" l="l" r="r" t="t"/>
            <a:pathLst>
              <a:path extrusionOk="0" h="3896001" w="3896001">
                <a:moveTo>
                  <a:pt x="0" y="0"/>
                </a:moveTo>
                <a:lnTo>
                  <a:pt x="3896000" y="0"/>
                </a:lnTo>
                <a:lnTo>
                  <a:pt x="3896000" y="3896000"/>
                </a:lnTo>
                <a:lnTo>
                  <a:pt x="0" y="389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6"/>
          <p:cNvSpPr txBox="1"/>
          <p:nvPr/>
        </p:nvSpPr>
        <p:spPr>
          <a:xfrm>
            <a:off x="1769456" y="710910"/>
            <a:ext cx="14749087" cy="2316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37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CLASIFICACIÓN DE ACTUADORES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1769456" y="3653335"/>
            <a:ext cx="9871500" cy="47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contexto de Arduino se pueden clasificar según dos tipos: </a:t>
            </a:r>
            <a:endParaRPr sz="700"/>
          </a:p>
          <a:p>
            <a:pPr indent="-4353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44"/>
              <a:buFont typeface="Arial"/>
              <a:buAutoNum type="arabicPeriod"/>
            </a:pPr>
            <a:r>
              <a:rPr b="0" i="0" lang="en-US" sz="37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Energía que utilizan</a:t>
            </a:r>
            <a:endParaRPr sz="700"/>
          </a:p>
          <a:p>
            <a:pPr indent="-4353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44"/>
              <a:buFont typeface="Arial"/>
              <a:buChar char="•"/>
            </a:pPr>
            <a:r>
              <a:rPr b="0" i="0" lang="en-US" sz="37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Eléctricos, Neumáticos, Hidráulicos y Térmicos</a:t>
            </a:r>
            <a:endParaRPr sz="700"/>
          </a:p>
          <a:p>
            <a:pPr indent="-4353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44"/>
              <a:buFont typeface="Arial"/>
              <a:buAutoNum type="arabicPeriod"/>
            </a:pPr>
            <a:r>
              <a:rPr b="0" i="0" lang="en-US" sz="37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Movimiento que generan</a:t>
            </a:r>
            <a:endParaRPr sz="700"/>
          </a:p>
          <a:p>
            <a:pPr indent="-4353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44"/>
              <a:buFont typeface="Arial"/>
              <a:buChar char="•"/>
            </a:pPr>
            <a:r>
              <a:rPr b="0" i="0" lang="en-US" sz="37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Lineales, Rotativos y Oscilantes</a:t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7"/>
          <p:cNvGrpSpPr/>
          <p:nvPr/>
        </p:nvGrpSpPr>
        <p:grpSpPr>
          <a:xfrm>
            <a:off x="830580" y="773430"/>
            <a:ext cx="8151453" cy="4207817"/>
            <a:chOff x="0" y="0"/>
            <a:chExt cx="33617660" cy="17353587"/>
          </a:xfrm>
        </p:grpSpPr>
        <p:sp>
          <p:nvSpPr>
            <p:cNvPr id="158" name="Google Shape;158;p7"/>
            <p:cNvSpPr/>
            <p:nvPr/>
          </p:nvSpPr>
          <p:spPr>
            <a:xfrm>
              <a:off x="72390" y="72390"/>
              <a:ext cx="33472877" cy="17208808"/>
            </a:xfrm>
            <a:custGeom>
              <a:rect b="b" l="l" r="r" t="t"/>
              <a:pathLst>
                <a:path extrusionOk="0" h="17208808" w="33472877">
                  <a:moveTo>
                    <a:pt x="0" y="0"/>
                  </a:moveTo>
                  <a:lnTo>
                    <a:pt x="33472877" y="0"/>
                  </a:lnTo>
                  <a:lnTo>
                    <a:pt x="33472877" y="17208808"/>
                  </a:lnTo>
                  <a:lnTo>
                    <a:pt x="0" y="17208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9" name="Google Shape;159;p7"/>
            <p:cNvSpPr/>
            <p:nvPr/>
          </p:nvSpPr>
          <p:spPr>
            <a:xfrm>
              <a:off x="0" y="0"/>
              <a:ext cx="33617660" cy="17353587"/>
            </a:xfrm>
            <a:custGeom>
              <a:rect b="b" l="l" r="r" t="t"/>
              <a:pathLst>
                <a:path extrusionOk="0" h="17353587" w="33617660">
                  <a:moveTo>
                    <a:pt x="33472878" y="17208807"/>
                  </a:moveTo>
                  <a:lnTo>
                    <a:pt x="33617660" y="17208807"/>
                  </a:lnTo>
                  <a:lnTo>
                    <a:pt x="33617660" y="17353587"/>
                  </a:lnTo>
                  <a:lnTo>
                    <a:pt x="33472878" y="17353587"/>
                  </a:lnTo>
                  <a:lnTo>
                    <a:pt x="33472878" y="17208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208807"/>
                  </a:lnTo>
                  <a:lnTo>
                    <a:pt x="0" y="17208807"/>
                  </a:lnTo>
                  <a:lnTo>
                    <a:pt x="0" y="144780"/>
                  </a:lnTo>
                  <a:close/>
                  <a:moveTo>
                    <a:pt x="0" y="17208807"/>
                  </a:moveTo>
                  <a:lnTo>
                    <a:pt x="144780" y="17208807"/>
                  </a:lnTo>
                  <a:lnTo>
                    <a:pt x="144780" y="17353587"/>
                  </a:lnTo>
                  <a:lnTo>
                    <a:pt x="0" y="17353587"/>
                  </a:lnTo>
                  <a:lnTo>
                    <a:pt x="0" y="17208807"/>
                  </a:lnTo>
                  <a:close/>
                  <a:moveTo>
                    <a:pt x="33472878" y="144780"/>
                  </a:moveTo>
                  <a:lnTo>
                    <a:pt x="33617660" y="144780"/>
                  </a:lnTo>
                  <a:lnTo>
                    <a:pt x="33617660" y="17208807"/>
                  </a:lnTo>
                  <a:lnTo>
                    <a:pt x="33472878" y="17208807"/>
                  </a:lnTo>
                  <a:lnTo>
                    <a:pt x="33472878" y="144780"/>
                  </a:lnTo>
                  <a:close/>
                  <a:moveTo>
                    <a:pt x="144780" y="17208807"/>
                  </a:moveTo>
                  <a:lnTo>
                    <a:pt x="33472878" y="17208807"/>
                  </a:lnTo>
                  <a:lnTo>
                    <a:pt x="33472878" y="17353587"/>
                  </a:lnTo>
                  <a:lnTo>
                    <a:pt x="144780" y="17353587"/>
                  </a:lnTo>
                  <a:lnTo>
                    <a:pt x="144780" y="17208807"/>
                  </a:lnTo>
                  <a:close/>
                  <a:moveTo>
                    <a:pt x="33472878" y="0"/>
                  </a:moveTo>
                  <a:lnTo>
                    <a:pt x="33617660" y="0"/>
                  </a:lnTo>
                  <a:lnTo>
                    <a:pt x="33617660" y="144780"/>
                  </a:lnTo>
                  <a:lnTo>
                    <a:pt x="33472878" y="144780"/>
                  </a:lnTo>
                  <a:lnTo>
                    <a:pt x="3347287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472878" y="0"/>
                  </a:lnTo>
                  <a:lnTo>
                    <a:pt x="3347287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60" name="Google Shape;160;p7"/>
          <p:cNvGrpSpPr/>
          <p:nvPr/>
        </p:nvGrpSpPr>
        <p:grpSpPr>
          <a:xfrm>
            <a:off x="9305925" y="773430"/>
            <a:ext cx="8151453" cy="4207817"/>
            <a:chOff x="0" y="0"/>
            <a:chExt cx="33617660" cy="17353587"/>
          </a:xfrm>
        </p:grpSpPr>
        <p:sp>
          <p:nvSpPr>
            <p:cNvPr id="161" name="Google Shape;161;p7"/>
            <p:cNvSpPr/>
            <p:nvPr/>
          </p:nvSpPr>
          <p:spPr>
            <a:xfrm>
              <a:off x="72390" y="72390"/>
              <a:ext cx="33472877" cy="17208808"/>
            </a:xfrm>
            <a:custGeom>
              <a:rect b="b" l="l" r="r" t="t"/>
              <a:pathLst>
                <a:path extrusionOk="0" h="17208808" w="33472877">
                  <a:moveTo>
                    <a:pt x="0" y="0"/>
                  </a:moveTo>
                  <a:lnTo>
                    <a:pt x="33472877" y="0"/>
                  </a:lnTo>
                  <a:lnTo>
                    <a:pt x="33472877" y="17208808"/>
                  </a:lnTo>
                  <a:lnTo>
                    <a:pt x="0" y="17208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2" name="Google Shape;162;p7"/>
            <p:cNvSpPr/>
            <p:nvPr/>
          </p:nvSpPr>
          <p:spPr>
            <a:xfrm>
              <a:off x="0" y="0"/>
              <a:ext cx="33617660" cy="17353587"/>
            </a:xfrm>
            <a:custGeom>
              <a:rect b="b" l="l" r="r" t="t"/>
              <a:pathLst>
                <a:path extrusionOk="0" h="17353587" w="33617660">
                  <a:moveTo>
                    <a:pt x="33472878" y="17208807"/>
                  </a:moveTo>
                  <a:lnTo>
                    <a:pt x="33617660" y="17208807"/>
                  </a:lnTo>
                  <a:lnTo>
                    <a:pt x="33617660" y="17353587"/>
                  </a:lnTo>
                  <a:lnTo>
                    <a:pt x="33472878" y="17353587"/>
                  </a:lnTo>
                  <a:lnTo>
                    <a:pt x="33472878" y="17208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208807"/>
                  </a:lnTo>
                  <a:lnTo>
                    <a:pt x="0" y="17208807"/>
                  </a:lnTo>
                  <a:lnTo>
                    <a:pt x="0" y="144780"/>
                  </a:lnTo>
                  <a:close/>
                  <a:moveTo>
                    <a:pt x="0" y="17208807"/>
                  </a:moveTo>
                  <a:lnTo>
                    <a:pt x="144780" y="17208807"/>
                  </a:lnTo>
                  <a:lnTo>
                    <a:pt x="144780" y="17353587"/>
                  </a:lnTo>
                  <a:lnTo>
                    <a:pt x="0" y="17353587"/>
                  </a:lnTo>
                  <a:lnTo>
                    <a:pt x="0" y="17208807"/>
                  </a:lnTo>
                  <a:close/>
                  <a:moveTo>
                    <a:pt x="33472878" y="144780"/>
                  </a:moveTo>
                  <a:lnTo>
                    <a:pt x="33617660" y="144780"/>
                  </a:lnTo>
                  <a:lnTo>
                    <a:pt x="33617660" y="17208807"/>
                  </a:lnTo>
                  <a:lnTo>
                    <a:pt x="33472878" y="17208807"/>
                  </a:lnTo>
                  <a:lnTo>
                    <a:pt x="33472878" y="144780"/>
                  </a:lnTo>
                  <a:close/>
                  <a:moveTo>
                    <a:pt x="144780" y="17208807"/>
                  </a:moveTo>
                  <a:lnTo>
                    <a:pt x="33472878" y="17208807"/>
                  </a:lnTo>
                  <a:lnTo>
                    <a:pt x="33472878" y="17353587"/>
                  </a:lnTo>
                  <a:lnTo>
                    <a:pt x="144780" y="17353587"/>
                  </a:lnTo>
                  <a:lnTo>
                    <a:pt x="144780" y="17208807"/>
                  </a:lnTo>
                  <a:close/>
                  <a:moveTo>
                    <a:pt x="33472878" y="0"/>
                  </a:moveTo>
                  <a:lnTo>
                    <a:pt x="33617660" y="0"/>
                  </a:lnTo>
                  <a:lnTo>
                    <a:pt x="33617660" y="144780"/>
                  </a:lnTo>
                  <a:lnTo>
                    <a:pt x="33472878" y="144780"/>
                  </a:lnTo>
                  <a:lnTo>
                    <a:pt x="3347287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472878" y="0"/>
                  </a:lnTo>
                  <a:lnTo>
                    <a:pt x="3347287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63" name="Google Shape;163;p7"/>
          <p:cNvGrpSpPr/>
          <p:nvPr/>
        </p:nvGrpSpPr>
        <p:grpSpPr>
          <a:xfrm>
            <a:off x="830580" y="5305425"/>
            <a:ext cx="8151453" cy="4207817"/>
            <a:chOff x="0" y="0"/>
            <a:chExt cx="33617660" cy="17353587"/>
          </a:xfrm>
        </p:grpSpPr>
        <p:sp>
          <p:nvSpPr>
            <p:cNvPr id="164" name="Google Shape;164;p7"/>
            <p:cNvSpPr/>
            <p:nvPr/>
          </p:nvSpPr>
          <p:spPr>
            <a:xfrm>
              <a:off x="72390" y="72390"/>
              <a:ext cx="33472877" cy="17208808"/>
            </a:xfrm>
            <a:custGeom>
              <a:rect b="b" l="l" r="r" t="t"/>
              <a:pathLst>
                <a:path extrusionOk="0" h="17208808" w="33472877">
                  <a:moveTo>
                    <a:pt x="0" y="0"/>
                  </a:moveTo>
                  <a:lnTo>
                    <a:pt x="33472877" y="0"/>
                  </a:lnTo>
                  <a:lnTo>
                    <a:pt x="33472877" y="17208808"/>
                  </a:lnTo>
                  <a:lnTo>
                    <a:pt x="0" y="17208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5" name="Google Shape;165;p7"/>
            <p:cNvSpPr/>
            <p:nvPr/>
          </p:nvSpPr>
          <p:spPr>
            <a:xfrm>
              <a:off x="0" y="0"/>
              <a:ext cx="33617660" cy="17353587"/>
            </a:xfrm>
            <a:custGeom>
              <a:rect b="b" l="l" r="r" t="t"/>
              <a:pathLst>
                <a:path extrusionOk="0" h="17353587" w="33617660">
                  <a:moveTo>
                    <a:pt x="33472878" y="17208807"/>
                  </a:moveTo>
                  <a:lnTo>
                    <a:pt x="33617660" y="17208807"/>
                  </a:lnTo>
                  <a:lnTo>
                    <a:pt x="33617660" y="17353587"/>
                  </a:lnTo>
                  <a:lnTo>
                    <a:pt x="33472878" y="17353587"/>
                  </a:lnTo>
                  <a:lnTo>
                    <a:pt x="33472878" y="17208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208807"/>
                  </a:lnTo>
                  <a:lnTo>
                    <a:pt x="0" y="17208807"/>
                  </a:lnTo>
                  <a:lnTo>
                    <a:pt x="0" y="144780"/>
                  </a:lnTo>
                  <a:close/>
                  <a:moveTo>
                    <a:pt x="0" y="17208807"/>
                  </a:moveTo>
                  <a:lnTo>
                    <a:pt x="144780" y="17208807"/>
                  </a:lnTo>
                  <a:lnTo>
                    <a:pt x="144780" y="17353587"/>
                  </a:lnTo>
                  <a:lnTo>
                    <a:pt x="0" y="17353587"/>
                  </a:lnTo>
                  <a:lnTo>
                    <a:pt x="0" y="17208807"/>
                  </a:lnTo>
                  <a:close/>
                  <a:moveTo>
                    <a:pt x="33472878" y="144780"/>
                  </a:moveTo>
                  <a:lnTo>
                    <a:pt x="33617660" y="144780"/>
                  </a:lnTo>
                  <a:lnTo>
                    <a:pt x="33617660" y="17208807"/>
                  </a:lnTo>
                  <a:lnTo>
                    <a:pt x="33472878" y="17208807"/>
                  </a:lnTo>
                  <a:lnTo>
                    <a:pt x="33472878" y="144780"/>
                  </a:lnTo>
                  <a:close/>
                  <a:moveTo>
                    <a:pt x="144780" y="17208807"/>
                  </a:moveTo>
                  <a:lnTo>
                    <a:pt x="33472878" y="17208807"/>
                  </a:lnTo>
                  <a:lnTo>
                    <a:pt x="33472878" y="17353587"/>
                  </a:lnTo>
                  <a:lnTo>
                    <a:pt x="144780" y="17353587"/>
                  </a:lnTo>
                  <a:lnTo>
                    <a:pt x="144780" y="17208807"/>
                  </a:lnTo>
                  <a:close/>
                  <a:moveTo>
                    <a:pt x="33472878" y="0"/>
                  </a:moveTo>
                  <a:lnTo>
                    <a:pt x="33617660" y="0"/>
                  </a:lnTo>
                  <a:lnTo>
                    <a:pt x="33617660" y="144780"/>
                  </a:lnTo>
                  <a:lnTo>
                    <a:pt x="33472878" y="144780"/>
                  </a:lnTo>
                  <a:lnTo>
                    <a:pt x="3347287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472878" y="0"/>
                  </a:lnTo>
                  <a:lnTo>
                    <a:pt x="3347287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66" name="Google Shape;166;p7"/>
          <p:cNvGrpSpPr/>
          <p:nvPr/>
        </p:nvGrpSpPr>
        <p:grpSpPr>
          <a:xfrm>
            <a:off x="9305925" y="5305425"/>
            <a:ext cx="8151453" cy="4207817"/>
            <a:chOff x="0" y="0"/>
            <a:chExt cx="33617660" cy="17353587"/>
          </a:xfrm>
        </p:grpSpPr>
        <p:sp>
          <p:nvSpPr>
            <p:cNvPr id="167" name="Google Shape;167;p7"/>
            <p:cNvSpPr/>
            <p:nvPr/>
          </p:nvSpPr>
          <p:spPr>
            <a:xfrm>
              <a:off x="72390" y="72390"/>
              <a:ext cx="33472877" cy="17208808"/>
            </a:xfrm>
            <a:custGeom>
              <a:rect b="b" l="l" r="r" t="t"/>
              <a:pathLst>
                <a:path extrusionOk="0" h="17208808" w="33472877">
                  <a:moveTo>
                    <a:pt x="0" y="0"/>
                  </a:moveTo>
                  <a:lnTo>
                    <a:pt x="33472877" y="0"/>
                  </a:lnTo>
                  <a:lnTo>
                    <a:pt x="33472877" y="17208808"/>
                  </a:lnTo>
                  <a:lnTo>
                    <a:pt x="0" y="17208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8" name="Google Shape;168;p7"/>
            <p:cNvSpPr/>
            <p:nvPr/>
          </p:nvSpPr>
          <p:spPr>
            <a:xfrm>
              <a:off x="0" y="0"/>
              <a:ext cx="33617660" cy="17353587"/>
            </a:xfrm>
            <a:custGeom>
              <a:rect b="b" l="l" r="r" t="t"/>
              <a:pathLst>
                <a:path extrusionOk="0" h="17353587" w="33617660">
                  <a:moveTo>
                    <a:pt x="33472878" y="17208807"/>
                  </a:moveTo>
                  <a:lnTo>
                    <a:pt x="33617660" y="17208807"/>
                  </a:lnTo>
                  <a:lnTo>
                    <a:pt x="33617660" y="17353587"/>
                  </a:lnTo>
                  <a:lnTo>
                    <a:pt x="33472878" y="17353587"/>
                  </a:lnTo>
                  <a:lnTo>
                    <a:pt x="33472878" y="17208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208807"/>
                  </a:lnTo>
                  <a:lnTo>
                    <a:pt x="0" y="17208807"/>
                  </a:lnTo>
                  <a:lnTo>
                    <a:pt x="0" y="144780"/>
                  </a:lnTo>
                  <a:close/>
                  <a:moveTo>
                    <a:pt x="0" y="17208807"/>
                  </a:moveTo>
                  <a:lnTo>
                    <a:pt x="144780" y="17208807"/>
                  </a:lnTo>
                  <a:lnTo>
                    <a:pt x="144780" y="17353587"/>
                  </a:lnTo>
                  <a:lnTo>
                    <a:pt x="0" y="17353587"/>
                  </a:lnTo>
                  <a:lnTo>
                    <a:pt x="0" y="17208807"/>
                  </a:lnTo>
                  <a:close/>
                  <a:moveTo>
                    <a:pt x="33472878" y="144780"/>
                  </a:moveTo>
                  <a:lnTo>
                    <a:pt x="33617660" y="144780"/>
                  </a:lnTo>
                  <a:lnTo>
                    <a:pt x="33617660" y="17208807"/>
                  </a:lnTo>
                  <a:lnTo>
                    <a:pt x="33472878" y="17208807"/>
                  </a:lnTo>
                  <a:lnTo>
                    <a:pt x="33472878" y="144780"/>
                  </a:lnTo>
                  <a:close/>
                  <a:moveTo>
                    <a:pt x="144780" y="17208807"/>
                  </a:moveTo>
                  <a:lnTo>
                    <a:pt x="33472878" y="17208807"/>
                  </a:lnTo>
                  <a:lnTo>
                    <a:pt x="33472878" y="17353587"/>
                  </a:lnTo>
                  <a:lnTo>
                    <a:pt x="144780" y="17353587"/>
                  </a:lnTo>
                  <a:lnTo>
                    <a:pt x="144780" y="17208807"/>
                  </a:lnTo>
                  <a:close/>
                  <a:moveTo>
                    <a:pt x="33472878" y="0"/>
                  </a:moveTo>
                  <a:lnTo>
                    <a:pt x="33617660" y="0"/>
                  </a:lnTo>
                  <a:lnTo>
                    <a:pt x="33617660" y="144780"/>
                  </a:lnTo>
                  <a:lnTo>
                    <a:pt x="33472878" y="144780"/>
                  </a:lnTo>
                  <a:lnTo>
                    <a:pt x="3347287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472878" y="0"/>
                  </a:lnTo>
                  <a:lnTo>
                    <a:pt x="3347287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69" name="Google Shape;169;p7"/>
          <p:cNvSpPr/>
          <p:nvPr/>
        </p:nvSpPr>
        <p:spPr>
          <a:xfrm>
            <a:off x="3230199" y="1028700"/>
            <a:ext cx="2975570" cy="2975570"/>
          </a:xfrm>
          <a:custGeom>
            <a:rect b="b" l="l" r="r" t="t"/>
            <a:pathLst>
              <a:path extrusionOk="0" h="2975570" w="2975570">
                <a:moveTo>
                  <a:pt x="0" y="0"/>
                </a:moveTo>
                <a:lnTo>
                  <a:pt x="2975570" y="0"/>
                </a:lnTo>
                <a:lnTo>
                  <a:pt x="2975570" y="2975570"/>
                </a:lnTo>
                <a:lnTo>
                  <a:pt x="0" y="2975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7"/>
          <p:cNvSpPr/>
          <p:nvPr/>
        </p:nvSpPr>
        <p:spPr>
          <a:xfrm>
            <a:off x="12233290" y="1028700"/>
            <a:ext cx="3088864" cy="3088864"/>
          </a:xfrm>
          <a:custGeom>
            <a:rect b="b" l="l" r="r" t="t"/>
            <a:pathLst>
              <a:path extrusionOk="0" h="3088864" w="3088864">
                <a:moveTo>
                  <a:pt x="0" y="0"/>
                </a:moveTo>
                <a:lnTo>
                  <a:pt x="3088864" y="0"/>
                </a:lnTo>
                <a:lnTo>
                  <a:pt x="3088864" y="3088864"/>
                </a:lnTo>
                <a:lnTo>
                  <a:pt x="0" y="3088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7"/>
          <p:cNvSpPr/>
          <p:nvPr/>
        </p:nvSpPr>
        <p:spPr>
          <a:xfrm>
            <a:off x="3230199" y="5675758"/>
            <a:ext cx="2866553" cy="2866553"/>
          </a:xfrm>
          <a:custGeom>
            <a:rect b="b" l="l" r="r" t="t"/>
            <a:pathLst>
              <a:path extrusionOk="0" h="2866553" w="2866553">
                <a:moveTo>
                  <a:pt x="0" y="0"/>
                </a:moveTo>
                <a:lnTo>
                  <a:pt x="2866553" y="0"/>
                </a:lnTo>
                <a:lnTo>
                  <a:pt x="2866553" y="2866553"/>
                </a:lnTo>
                <a:lnTo>
                  <a:pt x="0" y="2866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7"/>
          <p:cNvSpPr/>
          <p:nvPr/>
        </p:nvSpPr>
        <p:spPr>
          <a:xfrm>
            <a:off x="12260183" y="5675758"/>
            <a:ext cx="2711217" cy="2711217"/>
          </a:xfrm>
          <a:custGeom>
            <a:rect b="b" l="l" r="r" t="t"/>
            <a:pathLst>
              <a:path extrusionOk="0" h="2711217" w="2711217">
                <a:moveTo>
                  <a:pt x="0" y="0"/>
                </a:moveTo>
                <a:lnTo>
                  <a:pt x="2711218" y="0"/>
                </a:lnTo>
                <a:lnTo>
                  <a:pt x="2711218" y="2711217"/>
                </a:lnTo>
                <a:lnTo>
                  <a:pt x="0" y="2711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7"/>
          <p:cNvSpPr txBox="1"/>
          <p:nvPr/>
        </p:nvSpPr>
        <p:spPr>
          <a:xfrm>
            <a:off x="3770174" y="4199919"/>
            <a:ext cx="18957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Motor DC</a:t>
            </a:r>
            <a:endParaRPr sz="200"/>
          </a:p>
        </p:txBody>
      </p:sp>
      <p:sp>
        <p:nvSpPr>
          <p:cNvPr id="174" name="Google Shape;174;p7"/>
          <p:cNvSpPr txBox="1"/>
          <p:nvPr/>
        </p:nvSpPr>
        <p:spPr>
          <a:xfrm>
            <a:off x="12388524" y="4199919"/>
            <a:ext cx="24546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Servo Motor</a:t>
            </a:r>
            <a:endParaRPr sz="400"/>
          </a:p>
        </p:txBody>
      </p:sp>
      <p:sp>
        <p:nvSpPr>
          <p:cNvPr id="175" name="Google Shape;175;p7"/>
          <p:cNvSpPr txBox="1"/>
          <p:nvPr/>
        </p:nvSpPr>
        <p:spPr>
          <a:xfrm>
            <a:off x="4197692" y="8742336"/>
            <a:ext cx="10407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Relay</a:t>
            </a:r>
            <a:endParaRPr sz="200"/>
          </a:p>
        </p:txBody>
      </p:sp>
      <p:sp>
        <p:nvSpPr>
          <p:cNvPr id="176" name="Google Shape;176;p7"/>
          <p:cNvSpPr txBox="1"/>
          <p:nvPr/>
        </p:nvSpPr>
        <p:spPr>
          <a:xfrm>
            <a:off x="13204241" y="8742336"/>
            <a:ext cx="8232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LED</a:t>
            </a:r>
            <a:endParaRPr sz="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8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82" name="Google Shape;182;p8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3" name="Google Shape;183;p8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84" name="Google Shape;184;p8"/>
          <p:cNvCxnSpPr/>
          <p:nvPr/>
        </p:nvCxnSpPr>
        <p:spPr>
          <a:xfrm>
            <a:off x="1066800" y="2479662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8"/>
          <p:cNvSpPr txBox="1"/>
          <p:nvPr/>
        </p:nvSpPr>
        <p:spPr>
          <a:xfrm>
            <a:off x="2495550" y="1360792"/>
            <a:ext cx="13335000" cy="109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ACTUADORES ELÉCTRICOS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2667447" y="2694840"/>
            <a:ext cx="12953106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dispositivos que transforman energía eléctrica en algún tipo de acción física: movimiento, luz, sonido calor, etc.</a:t>
            </a:r>
            <a:endParaRPr/>
          </a:p>
        </p:txBody>
      </p:sp>
      <p:graphicFrame>
        <p:nvGraphicFramePr>
          <p:cNvPr id="187" name="Google Shape;187;p8"/>
          <p:cNvGraphicFramePr/>
          <p:nvPr/>
        </p:nvGraphicFramePr>
        <p:xfrm>
          <a:off x="2552409" y="4304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{5611B399-E2D9-44DC-85B8-9311BD3A1089}</a:tableStyleId>
              </a:tblPr>
              <a:tblGrid>
                <a:gridCol w="3720275"/>
                <a:gridCol w="3720275"/>
                <a:gridCol w="3720275"/>
              </a:tblGrid>
              <a:tr h="61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típico en Arduino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</a:tr>
              <a:tr h="87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Motores DC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Motor de ventilador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Ventiladores, ruedas de robots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Motores de paso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NEMA 17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impresoras 3D, posicionamiento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LEDs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LED RGB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indicadores, iluminación decorativa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Pantallas 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LCD 16X2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Interfaces de usuario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Relés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Módulo de relé 5V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On/Off cargas de voltaje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9"/>
          <p:cNvGrpSpPr/>
          <p:nvPr/>
        </p:nvGrpSpPr>
        <p:grpSpPr>
          <a:xfrm>
            <a:off x="767323" y="785232"/>
            <a:ext cx="16753209" cy="8716522"/>
            <a:chOff x="0" y="0"/>
            <a:chExt cx="69085396" cy="35944420"/>
          </a:xfrm>
        </p:grpSpPr>
        <p:sp>
          <p:nvSpPr>
            <p:cNvPr id="193" name="Google Shape;193;p9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4" name="Google Shape;194;p9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95" name="Google Shape;195;p9"/>
          <p:cNvCxnSpPr/>
          <p:nvPr/>
        </p:nvCxnSpPr>
        <p:spPr>
          <a:xfrm>
            <a:off x="1066800" y="2479662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9"/>
          <p:cNvSpPr txBox="1"/>
          <p:nvPr/>
        </p:nvSpPr>
        <p:spPr>
          <a:xfrm>
            <a:off x="2540868" y="1369351"/>
            <a:ext cx="4817468" cy="942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1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3338035" y="2740157"/>
            <a:ext cx="116118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9300" lvl="1" marL="860201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4"/>
              <a:buFont typeface="Arial"/>
              <a:buChar char="•"/>
            </a:pPr>
            <a:r>
              <a:rPr b="0" i="0" lang="en-US" sz="31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Fácil control desde microcontroladores como Arduino.</a:t>
            </a:r>
            <a:endParaRPr sz="600"/>
          </a:p>
          <a:p>
            <a:pPr indent="-379300" lvl="1" marL="860201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4"/>
              <a:buFont typeface="Arial"/>
              <a:buChar char="•"/>
            </a:pPr>
            <a:r>
              <a:rPr b="0" i="0" lang="en-US" sz="31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Compatibles con alimentación de baja tensión (5V, 12V).</a:t>
            </a:r>
            <a:endParaRPr sz="600"/>
          </a:p>
          <a:p>
            <a:pPr indent="-379300" lvl="1" marL="860201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4"/>
              <a:buFont typeface="Arial"/>
              <a:buChar char="•"/>
            </a:pPr>
            <a:r>
              <a:rPr b="0" i="0" lang="en-US" sz="31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 variedad de tipos y tamaños.</a:t>
            </a:r>
            <a:endParaRPr sz="600"/>
          </a:p>
          <a:p>
            <a:pPr indent="-379300" lvl="1" marL="860201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4"/>
              <a:buFont typeface="Arial"/>
              <a:buChar char="•"/>
            </a:pPr>
            <a:r>
              <a:rPr b="0" i="0" lang="en-US" sz="31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sencilla con sensores para sistemas automáticos</a:t>
            </a:r>
            <a:endParaRPr sz="600"/>
          </a:p>
        </p:txBody>
      </p:sp>
      <p:sp>
        <p:nvSpPr>
          <p:cNvPr id="198" name="Google Shape;198;p9"/>
          <p:cNvSpPr txBox="1"/>
          <p:nvPr/>
        </p:nvSpPr>
        <p:spPr>
          <a:xfrm>
            <a:off x="2540868" y="5423972"/>
            <a:ext cx="5511204" cy="89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6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3338035" y="6457619"/>
            <a:ext cx="11095500" cy="27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6518" lvl="1" marL="82193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7"/>
              <a:buFont typeface="Arial"/>
              <a:buChar char="•"/>
            </a:pPr>
            <a:r>
              <a:rPr b="0" i="0" lang="en-US" sz="31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Consumen energía eléctrica de forma continua.</a:t>
            </a:r>
            <a:endParaRPr sz="700"/>
          </a:p>
          <a:p>
            <a:pPr indent="-366518" lvl="1" marL="82193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7"/>
              <a:buFont typeface="Arial"/>
              <a:buChar char="•"/>
            </a:pPr>
            <a:r>
              <a:rPr b="0" i="0" lang="en-US" sz="31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Limitados en fuerza y alcance en comparación con hidráulicos o neumáticos.</a:t>
            </a:r>
            <a:endParaRPr sz="700"/>
          </a:p>
          <a:p>
            <a:pPr indent="-366518" lvl="1" marL="82193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7"/>
              <a:buFont typeface="Arial"/>
              <a:buChar char="•"/>
            </a:pPr>
            <a:r>
              <a:rPr b="0" i="0" lang="en-US" sz="31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Algunos requieren controladores adicionales (ej. drivers para motores paso a paso).</a:t>
            </a:r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10"/>
          <p:cNvGrpSpPr/>
          <p:nvPr/>
        </p:nvGrpSpPr>
        <p:grpSpPr>
          <a:xfrm>
            <a:off x="767398" y="416440"/>
            <a:ext cx="16753209" cy="8716522"/>
            <a:chOff x="0" y="0"/>
            <a:chExt cx="69085396" cy="35944420"/>
          </a:xfrm>
        </p:grpSpPr>
        <p:sp>
          <p:nvSpPr>
            <p:cNvPr id="205" name="Google Shape;205;p10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6" name="Google Shape;206;p10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07" name="Google Shape;207;p10"/>
          <p:cNvCxnSpPr/>
          <p:nvPr/>
        </p:nvCxnSpPr>
        <p:spPr>
          <a:xfrm>
            <a:off x="1028700" y="2357178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0"/>
          <p:cNvSpPr/>
          <p:nvPr/>
        </p:nvSpPr>
        <p:spPr>
          <a:xfrm>
            <a:off x="5635677" y="4204405"/>
            <a:ext cx="1978583" cy="1978583"/>
          </a:xfrm>
          <a:custGeom>
            <a:rect b="b" l="l" r="r" t="t"/>
            <a:pathLst>
              <a:path extrusionOk="0" h="1978583" w="1978583">
                <a:moveTo>
                  <a:pt x="0" y="0"/>
                </a:moveTo>
                <a:lnTo>
                  <a:pt x="1978583" y="0"/>
                </a:lnTo>
                <a:lnTo>
                  <a:pt x="1978583" y="1978583"/>
                </a:lnTo>
                <a:lnTo>
                  <a:pt x="0" y="1978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0"/>
          <p:cNvSpPr/>
          <p:nvPr/>
        </p:nvSpPr>
        <p:spPr>
          <a:xfrm>
            <a:off x="5635677" y="6984429"/>
            <a:ext cx="1872984" cy="1872984"/>
          </a:xfrm>
          <a:custGeom>
            <a:rect b="b" l="l" r="r" t="t"/>
            <a:pathLst>
              <a:path extrusionOk="0" h="1872984" w="1872984">
                <a:moveTo>
                  <a:pt x="0" y="0"/>
                </a:moveTo>
                <a:lnTo>
                  <a:pt x="1872984" y="0"/>
                </a:lnTo>
                <a:lnTo>
                  <a:pt x="1872984" y="1872985"/>
                </a:lnTo>
                <a:lnTo>
                  <a:pt x="0" y="187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0"/>
          <p:cNvSpPr txBox="1"/>
          <p:nvPr/>
        </p:nvSpPr>
        <p:spPr>
          <a:xfrm>
            <a:off x="3139496" y="1271328"/>
            <a:ext cx="1200900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ACTUADORES MECÁNICOS</a:t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2667447" y="2604205"/>
            <a:ext cx="129531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Dispositivos que producen movimiento o fuerza a partir de energía eléctrica, térmica, hidráulica, neumática o manual.</a:t>
            </a:r>
            <a:endParaRPr sz="800"/>
          </a:p>
        </p:txBody>
      </p:sp>
      <p:sp>
        <p:nvSpPr>
          <p:cNvPr id="212" name="Google Shape;212;p10"/>
          <p:cNvSpPr txBox="1"/>
          <p:nvPr/>
        </p:nvSpPr>
        <p:spPr>
          <a:xfrm>
            <a:off x="9281300" y="4500247"/>
            <a:ext cx="4841400" cy="1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sz="400"/>
          </a:p>
          <a:p>
            <a:pPr indent="-4162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Char char="•"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Simples (Poleas)</a:t>
            </a:r>
            <a:endParaRPr sz="400"/>
          </a:p>
          <a:p>
            <a:pPr indent="-4162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Char char="•"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Bajo mantenimiento</a:t>
            </a:r>
            <a:endParaRPr sz="400"/>
          </a:p>
        </p:txBody>
      </p:sp>
      <p:sp>
        <p:nvSpPr>
          <p:cNvPr id="213" name="Google Shape;213;p10"/>
          <p:cNvSpPr txBox="1"/>
          <p:nvPr/>
        </p:nvSpPr>
        <p:spPr>
          <a:xfrm>
            <a:off x="9281302" y="6896975"/>
            <a:ext cx="7173600" cy="17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 sz="300"/>
          </a:p>
          <a:p>
            <a:pPr indent="-4099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44"/>
              <a:buFont typeface="Arial"/>
              <a:buChar char="•"/>
            </a:pPr>
            <a:r>
              <a:rPr b="0" i="0" lang="en-US" sz="33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Menos control preciso</a:t>
            </a:r>
            <a:endParaRPr sz="300"/>
          </a:p>
          <a:p>
            <a:pPr indent="-4099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44"/>
              <a:buFont typeface="Arial"/>
              <a:buChar char="•"/>
            </a:pPr>
            <a:r>
              <a:rPr b="0" i="0" lang="en-US" sz="33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Dependencia de sensores</a:t>
            </a:r>
            <a:endParaRPr sz="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1"/>
          <p:cNvGrpSpPr/>
          <p:nvPr/>
        </p:nvGrpSpPr>
        <p:grpSpPr>
          <a:xfrm>
            <a:off x="768248" y="421818"/>
            <a:ext cx="16751504" cy="8715635"/>
            <a:chOff x="0" y="0"/>
            <a:chExt cx="69085396" cy="35944420"/>
          </a:xfrm>
        </p:grpSpPr>
        <p:sp>
          <p:nvSpPr>
            <p:cNvPr id="219" name="Google Shape;219;p11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0" name="Google Shape;220;p11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21" name="Google Shape;221;p11"/>
          <p:cNvCxnSpPr/>
          <p:nvPr/>
        </p:nvCxnSpPr>
        <p:spPr>
          <a:xfrm>
            <a:off x="1028700" y="2357178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1"/>
          <p:cNvSpPr/>
          <p:nvPr/>
        </p:nvSpPr>
        <p:spPr>
          <a:xfrm>
            <a:off x="5635677" y="4204405"/>
            <a:ext cx="1978583" cy="1978583"/>
          </a:xfrm>
          <a:custGeom>
            <a:rect b="b" l="l" r="r" t="t"/>
            <a:pathLst>
              <a:path extrusionOk="0" h="1978583" w="1978583">
                <a:moveTo>
                  <a:pt x="0" y="0"/>
                </a:moveTo>
                <a:lnTo>
                  <a:pt x="1978583" y="0"/>
                </a:lnTo>
                <a:lnTo>
                  <a:pt x="1978583" y="1978583"/>
                </a:lnTo>
                <a:lnTo>
                  <a:pt x="0" y="1978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1"/>
          <p:cNvSpPr/>
          <p:nvPr/>
        </p:nvSpPr>
        <p:spPr>
          <a:xfrm>
            <a:off x="5635677" y="6984429"/>
            <a:ext cx="1872984" cy="1872984"/>
          </a:xfrm>
          <a:custGeom>
            <a:rect b="b" l="l" r="r" t="t"/>
            <a:pathLst>
              <a:path extrusionOk="0" h="1872984" w="1872984">
                <a:moveTo>
                  <a:pt x="0" y="0"/>
                </a:moveTo>
                <a:lnTo>
                  <a:pt x="1872984" y="0"/>
                </a:lnTo>
                <a:lnTo>
                  <a:pt x="1872984" y="1872985"/>
                </a:lnTo>
                <a:lnTo>
                  <a:pt x="0" y="187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1"/>
          <p:cNvSpPr txBox="1"/>
          <p:nvPr/>
        </p:nvSpPr>
        <p:spPr>
          <a:xfrm>
            <a:off x="3139496" y="1271328"/>
            <a:ext cx="1248105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ACTUADORES NEUMÁTICOS</a:t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1579825" y="2591956"/>
            <a:ext cx="15188700" cy="1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Dispositivos que funcionan con aire comprimido para generar movimiento o fuerza. Necesitan un compresor y suelen controlarse con válvulas solenoides.</a:t>
            </a:r>
            <a:endParaRPr sz="600"/>
          </a:p>
        </p:txBody>
      </p:sp>
      <p:sp>
        <p:nvSpPr>
          <p:cNvPr id="226" name="Google Shape;226;p11"/>
          <p:cNvSpPr txBox="1"/>
          <p:nvPr/>
        </p:nvSpPr>
        <p:spPr>
          <a:xfrm>
            <a:off x="9144000" y="4169759"/>
            <a:ext cx="7624500" cy="2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sz="600"/>
          </a:p>
          <a:p>
            <a:pPr indent="-4289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4"/>
              <a:buFont typeface="Arial"/>
              <a:buChar char="•"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Rápidos, seguros</a:t>
            </a:r>
            <a:endParaRPr sz="600"/>
          </a:p>
          <a:p>
            <a:pPr indent="-4289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4"/>
              <a:buFont typeface="Arial"/>
              <a:buChar char="•"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Ideales para ambientes industriales</a:t>
            </a:r>
            <a:endParaRPr sz="600"/>
          </a:p>
        </p:txBody>
      </p:sp>
      <p:sp>
        <p:nvSpPr>
          <p:cNvPr id="227" name="Google Shape;227;p11"/>
          <p:cNvSpPr txBox="1"/>
          <p:nvPr/>
        </p:nvSpPr>
        <p:spPr>
          <a:xfrm>
            <a:off x="9174212" y="6819064"/>
            <a:ext cx="6729600" cy="18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 sz="500"/>
          </a:p>
          <a:p>
            <a:pPr indent="-4226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4"/>
              <a:buFont typeface="Arial"/>
              <a:buChar char="•"/>
            </a:pPr>
            <a:r>
              <a:rPr b="0" i="0" lang="en-US" sz="3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Requieren un compresor</a:t>
            </a:r>
            <a:endParaRPr sz="500"/>
          </a:p>
          <a:p>
            <a:pPr indent="-4226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4"/>
              <a:buFont typeface="Arial"/>
              <a:buChar char="•"/>
            </a:pPr>
            <a:r>
              <a:rPr b="0" i="0" lang="en-US" sz="3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Mantenimiento de aire limpio</a:t>
            </a:r>
            <a:endParaRPr sz="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2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33" name="Google Shape;233;p1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4" name="Google Shape;234;p1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35" name="Google Shape;235;p12"/>
          <p:cNvCxnSpPr/>
          <p:nvPr/>
        </p:nvCxnSpPr>
        <p:spPr>
          <a:xfrm>
            <a:off x="1028700" y="1962150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2"/>
          <p:cNvSpPr txBox="1"/>
          <p:nvPr/>
        </p:nvSpPr>
        <p:spPr>
          <a:xfrm>
            <a:off x="571500" y="876300"/>
            <a:ext cx="17145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USOS EN LA INDUSTRIA</a:t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2273986" y="2300215"/>
            <a:ext cx="140856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32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Mécanicos:</a:t>
            </a:r>
            <a:endParaRPr sz="900"/>
          </a:p>
          <a:p>
            <a:pPr indent="-414384" lvl="1" marL="892269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2"/>
              <a:buFont typeface="Arial"/>
              <a:buChar char="•"/>
            </a:pPr>
            <a:r>
              <a:rPr b="0" i="0" lang="en-US" sz="3632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i="0" lang="en-US" sz="3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de poleas en elevadores</a:t>
            </a:r>
            <a:endParaRPr sz="900"/>
          </a:p>
          <a:p>
            <a:pPr indent="-414384" lvl="1" marL="892269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2"/>
              <a:buFont typeface="Arial"/>
              <a:buChar char="•"/>
            </a:pPr>
            <a:r>
              <a:rPr b="0" i="0" lang="en-US" sz="3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Engranajes y reductores, transmiten potencia en robots y cintas trasnportadoras</a:t>
            </a:r>
            <a:endParaRPr sz="900"/>
          </a:p>
        </p:txBody>
      </p:sp>
      <p:sp>
        <p:nvSpPr>
          <p:cNvPr id="238" name="Google Shape;238;p12"/>
          <p:cNvSpPr txBox="1"/>
          <p:nvPr/>
        </p:nvSpPr>
        <p:spPr>
          <a:xfrm>
            <a:off x="2273986" y="4982597"/>
            <a:ext cx="14085600" cy="19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32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Neumaticos:</a:t>
            </a:r>
            <a:endParaRPr sz="900"/>
          </a:p>
          <a:p>
            <a:pPr indent="-414384" lvl="1" marL="892269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2"/>
              <a:buFont typeface="Arial"/>
              <a:buChar char="•"/>
            </a:pPr>
            <a:r>
              <a:rPr b="0" i="0" lang="en-US" sz="3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Pinzas neumáticas para manipular objetos frágiles</a:t>
            </a:r>
            <a:endParaRPr sz="900"/>
          </a:p>
          <a:p>
            <a:pPr indent="-414384" lvl="1" marL="892269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2"/>
              <a:buFont typeface="Arial"/>
              <a:buChar char="•"/>
            </a:pPr>
            <a:r>
              <a:rPr b="0" i="0" lang="en-US" sz="3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Motor neumático en herramientas de montaje y taladros</a:t>
            </a:r>
            <a:endParaRPr sz="900"/>
          </a:p>
        </p:txBody>
      </p:sp>
      <p:sp>
        <p:nvSpPr>
          <p:cNvPr id="239" name="Google Shape;239;p12"/>
          <p:cNvSpPr txBox="1"/>
          <p:nvPr/>
        </p:nvSpPr>
        <p:spPr>
          <a:xfrm>
            <a:off x="2273986" y="7180212"/>
            <a:ext cx="140856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32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Eléctricos:</a:t>
            </a:r>
            <a:endParaRPr sz="900"/>
          </a:p>
          <a:p>
            <a:pPr indent="-414384" lvl="1" marL="892269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2"/>
              <a:buFont typeface="Arial"/>
              <a:buChar char="•"/>
            </a:pPr>
            <a:r>
              <a:rPr b="0" i="0" lang="en-US" sz="3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Motor stepper en impresoras 3D y control de válvulas</a:t>
            </a:r>
            <a:endParaRPr sz="900"/>
          </a:p>
          <a:p>
            <a:pPr indent="-414384" lvl="1" marL="892269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2"/>
              <a:buFont typeface="Arial"/>
              <a:buChar char="•"/>
            </a:pPr>
            <a:r>
              <a:rPr b="0" i="0" lang="en-US" sz="3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Relé en control de encendido y apagado, usado en máquinas e iluminación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g3a0f7b1748d_0_11"/>
          <p:cNvGrpSpPr/>
          <p:nvPr/>
        </p:nvGrpSpPr>
        <p:grpSpPr>
          <a:xfrm>
            <a:off x="768248" y="785682"/>
            <a:ext cx="16753209" cy="8716522"/>
            <a:chOff x="0" y="0"/>
            <a:chExt cx="69085396" cy="35944420"/>
          </a:xfrm>
        </p:grpSpPr>
        <p:sp>
          <p:nvSpPr>
            <p:cNvPr id="245" name="Google Shape;245;g3a0f7b1748d_0_11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6" name="Google Shape;246;g3a0f7b1748d_0_11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47" name="Google Shape;247;g3a0f7b1748d_0_11"/>
          <p:cNvCxnSpPr/>
          <p:nvPr/>
        </p:nvCxnSpPr>
        <p:spPr>
          <a:xfrm>
            <a:off x="1028700" y="1962150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g3a0f7b1748d_0_11"/>
          <p:cNvSpPr txBox="1"/>
          <p:nvPr/>
        </p:nvSpPr>
        <p:spPr>
          <a:xfrm>
            <a:off x="571500" y="876300"/>
            <a:ext cx="1714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66CC"/>
                </a:solidFill>
              </a:rPr>
              <a:t>CONCEPTOS CLAVE APRENDIDOS</a:t>
            </a:r>
            <a:endParaRPr/>
          </a:p>
        </p:txBody>
      </p:sp>
      <p:sp>
        <p:nvSpPr>
          <p:cNvPr id="249" name="Google Shape;249;g3a0f7b1748d_0_11"/>
          <p:cNvSpPr txBox="1"/>
          <p:nvPr/>
        </p:nvSpPr>
        <p:spPr>
          <a:xfrm>
            <a:off x="2273986" y="3668965"/>
            <a:ext cx="14085600" cy="3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9232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32"/>
              <a:buChar char="•"/>
            </a:pPr>
            <a:r>
              <a:rPr lang="en-US" sz="4200">
                <a:solidFill>
                  <a:schemeClr val="dk1"/>
                </a:solidFill>
              </a:rPr>
              <a:t>📍 ¿Qué es un actuador?: Se definió que es un actuador y como funcionan con ejemplos reales.</a:t>
            </a:r>
            <a:endParaRPr sz="600">
              <a:solidFill>
                <a:schemeClr val="dk1"/>
              </a:solidFill>
            </a:endParaRPr>
          </a:p>
          <a:p>
            <a:pPr indent="-459232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32"/>
              <a:buChar char="•"/>
            </a:pPr>
            <a:r>
              <a:rPr lang="en-US" sz="4200">
                <a:solidFill>
                  <a:schemeClr val="dk1"/>
                </a:solidFill>
              </a:rPr>
              <a:t>🧪 Clasificación de Actuadores: Se mostró los conceptos que indican los tipos de actuadores según la energía que utilizan y el movimiento que generan.</a:t>
            </a:r>
            <a:endParaRPr sz="3632" u="sn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3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55" name="Google Shape;255;p13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56" name="Google Shape;256;p13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57" name="Google Shape;257;p13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13"/>
          <p:cNvSpPr txBox="1"/>
          <p:nvPr/>
        </p:nvSpPr>
        <p:spPr>
          <a:xfrm>
            <a:off x="1524000" y="3757649"/>
            <a:ext cx="15240000" cy="4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Curiosidad técnica:</a:t>
            </a:r>
            <a:endParaRPr sz="1300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Impulsó el deseo de comprender cómo funcionan los actuadores y como transforman energía de diferentes tipos a una magnitud física. </a:t>
            </a:r>
            <a:endParaRPr sz="1300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Rigor y orden:</a:t>
            </a:r>
            <a:endParaRPr sz="1300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Reforzó la importancia de los conceptos sobre actuadores y comprendiendo su valor y uso en la industria.</a:t>
            </a:r>
            <a:endParaRPr sz="1300"/>
          </a:p>
        </p:txBody>
      </p:sp>
      <p:sp>
        <p:nvSpPr>
          <p:cNvPr id="259" name="Google Shape;259;p13"/>
          <p:cNvSpPr/>
          <p:nvPr/>
        </p:nvSpPr>
        <p:spPr>
          <a:xfrm>
            <a:off x="13906500" y="7115175"/>
            <a:ext cx="2143125" cy="2143125"/>
          </a:xfrm>
          <a:custGeom>
            <a:rect b="b" l="l" r="r" t="t"/>
            <a:pathLst>
              <a:path extrusionOk="0" h="2143125" w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3"/>
          <p:cNvSpPr txBox="1"/>
          <p:nvPr/>
        </p:nvSpPr>
        <p:spPr>
          <a:xfrm>
            <a:off x="4381500" y="876300"/>
            <a:ext cx="9525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g3a0f7b1748d_0_22"/>
          <p:cNvGrpSpPr/>
          <p:nvPr/>
        </p:nvGrpSpPr>
        <p:grpSpPr>
          <a:xfrm>
            <a:off x="768248" y="785682"/>
            <a:ext cx="16753209" cy="8716522"/>
            <a:chOff x="0" y="0"/>
            <a:chExt cx="69085396" cy="35944420"/>
          </a:xfrm>
        </p:grpSpPr>
        <p:sp>
          <p:nvSpPr>
            <p:cNvPr id="266" name="Google Shape;266;g3a0f7b1748d_0_2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7" name="Google Shape;267;g3a0f7b1748d_0_2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68" name="Google Shape;268;g3a0f7b1748d_0_22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g3a0f7b1748d_0_22"/>
          <p:cNvSpPr txBox="1"/>
          <p:nvPr/>
        </p:nvSpPr>
        <p:spPr>
          <a:xfrm>
            <a:off x="1524000" y="3757649"/>
            <a:ext cx="1524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u="sng">
                <a:solidFill>
                  <a:schemeClr val="hlink"/>
                </a:solidFill>
                <a:hlinkClick r:id="rId3"/>
              </a:rPr>
              <a:t>11 - Introducción a los actuadores | Curso Arduino (Español</a:t>
            </a:r>
            <a:endParaRPr sz="4600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4600"/>
            </a:br>
            <a:r>
              <a:rPr lang="en-US" sz="4400" u="sng">
                <a:solidFill>
                  <a:schemeClr val="hlink"/>
                </a:solidFill>
                <a:hlinkClick r:id="rId4"/>
              </a:rPr>
              <a:t>Sensores y Actuadores | Aprendiendo Arduino</a:t>
            </a:r>
            <a:endParaRPr sz="7400"/>
          </a:p>
        </p:txBody>
      </p:sp>
      <p:sp>
        <p:nvSpPr>
          <p:cNvPr id="270" name="Google Shape;270;g3a0f7b1748d_0_22"/>
          <p:cNvSpPr/>
          <p:nvPr/>
        </p:nvSpPr>
        <p:spPr>
          <a:xfrm>
            <a:off x="13906500" y="7115175"/>
            <a:ext cx="2143125" cy="2143125"/>
          </a:xfrm>
          <a:custGeom>
            <a:rect b="b" l="l" r="r" t="t"/>
            <a:pathLst>
              <a:path extrusionOk="0" h="2143125" w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g3a0f7b1748d_0_22"/>
          <p:cNvSpPr txBox="1"/>
          <p:nvPr/>
        </p:nvSpPr>
        <p:spPr>
          <a:xfrm>
            <a:off x="4381500" y="876300"/>
            <a:ext cx="952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66CC"/>
                </a:solidFill>
              </a:rPr>
              <a:t>REFERENCIAS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14"/>
          <p:cNvGrpSpPr/>
          <p:nvPr/>
        </p:nvGrpSpPr>
        <p:grpSpPr>
          <a:xfrm>
            <a:off x="2000250" y="3307556"/>
            <a:ext cx="9053422" cy="3636169"/>
            <a:chOff x="0" y="-47625"/>
            <a:chExt cx="12071229" cy="4848225"/>
          </a:xfrm>
        </p:grpSpPr>
        <p:sp>
          <p:nvSpPr>
            <p:cNvPr id="277" name="Google Shape;277;p14"/>
            <p:cNvSpPr txBox="1"/>
            <p:nvPr/>
          </p:nvSpPr>
          <p:spPr>
            <a:xfrm>
              <a:off x="0" y="-47625"/>
              <a:ext cx="12071229" cy="324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¡GRACIAS POR SU ATENCIÓN!</a:t>
              </a:r>
              <a:endParaRPr/>
            </a:p>
          </p:txBody>
        </p:sp>
        <p:sp>
          <p:nvSpPr>
            <p:cNvPr id="278" name="Google Shape;278;p14"/>
            <p:cNvSpPr txBox="1"/>
            <p:nvPr/>
          </p:nvSpPr>
          <p:spPr>
            <a:xfrm>
              <a:off x="0" y="3152775"/>
              <a:ext cx="12071229" cy="164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¿DUDAS?</a:t>
              </a:r>
              <a:endParaRPr/>
            </a:p>
          </p:txBody>
        </p:sp>
      </p:grpSp>
      <p:sp>
        <p:nvSpPr>
          <p:cNvPr id="279" name="Google Shape;279;p14"/>
          <p:cNvSpPr txBox="1"/>
          <p:nvPr/>
        </p:nvSpPr>
        <p:spPr>
          <a:xfrm>
            <a:off x="2000250" y="8496300"/>
            <a:ext cx="1428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13530482" y="3258015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