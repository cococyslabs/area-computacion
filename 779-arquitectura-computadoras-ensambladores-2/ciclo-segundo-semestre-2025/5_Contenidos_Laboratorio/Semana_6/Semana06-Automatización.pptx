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htlu3+mVpakuCz7jMZjBvn/nkT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1A831A-B7C5-498F-A5F5-3F394D986A3A}">
  <a:tblStyle styleId="{CE1A831A-B7C5-498F-A5F5-3F394D986A3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f96e206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9f96e206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8" name="Google Shape;138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9" name="Google Shape;139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🧩 Desglose del concepto: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 qué es automatizar: "es hacer que algo se haga solo, sin que lo tengamos que repetir nosotros".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 simple: dispensador automático de jabón.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Sensor detecta la mano (entrada).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Circuito decide si hay que activar.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Bomba empuja el jabón (salida).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🕰️ Dato curioso: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Automatización no es nueva. Desde la Revolución Industrial ya existían mecanismos automáticos (como los telares de Jacquard).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🧠 Frase clave para que recuerden: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“Automatizar es enseñarle a una máquina cómo pensar en una tarea específica.”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💬 Pregunta interactiva: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“¿Qué cosas de su día creen que están automatizadas y tal vez nunca lo pensaron?”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(Ejemplo: semáforos, escaleras eléctricas, notificaciones en el celular...)</a:t>
            </a:r>
            <a:endParaRPr/>
          </a:p>
        </p:txBody>
      </p:sp>
      <p:sp>
        <p:nvSpPr>
          <p:cNvPr id="141" name="Google Shape;141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2" name="Google Shape;202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3" name="Google Shape;203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📲 Por qué las notificaciones son automatización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Definición básica: La automatización es hacer que un sistema realice una tarea sin intervención humana constante.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Una notificación se genera y se envía sola en respuesta a un evento → tú no tienes que estar revisando manualmente cada 5 segundos.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Sensor → en este caso es un evento digital (nuevo mensaje, cambio de estado, alerta del sistema).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Procesador → la app o el sistema operativo detecta el evento.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Actuador → vibra el teléfono, suena la alerta o aparece el banner.</a:t>
            </a:r>
            <a:endParaRPr/>
          </a:p>
        </p:txBody>
      </p:sp>
      <p:sp>
        <p:nvSpPr>
          <p:cNvPr id="205" name="Google Shape;205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0" name="Google Shape;230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1" name="Google Shape;231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4" name="Google Shape;234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6" name="Google Shape;246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7" name="Google Shape;247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🗣️ Explicación oral para alargar el tema: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“En automatización, una interrupción no solo es útil… a veces es obligatoria por seguridad o eficiencia.”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Ejemplos reales: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Banda transportadora → botón de paro de emergencia.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Sistema de riego → sensor de lluvia que corta la bomba.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Alarma → sensor PIR que dispara sirena al instante.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Motor de puerta → fotocelda que detiene cierre si detecta un obstáculo.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Ventaja clave: el sistema no desperdicia tiempo revisando constantemente las condiciones → más tareas en paralelo.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💬 Pregunta para la clase: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“¿Qué pasaría si en lugar de usar interrupción, la banda transportadora revisara el botón solo cada 2 segundos?”</a:t>
            </a:r>
            <a:endParaRPr/>
          </a:p>
        </p:txBody>
      </p:sp>
      <p:sp>
        <p:nvSpPr>
          <p:cNvPr id="249" name="Google Shape;249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0" name="Google Shape;250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2" name="Google Shape;272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3" name="Google Shape;273;p1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Explicación oral: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Aclarar que no siempre significa “desempleo”.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Ejemplo: en fábricas modernas, el robot hace soldaduras y el humano supervisa calidad y mantenimiento.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Introducir la idea de que la automatización cambia qué hacemos, no siempre que nos reemplaza.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💡 Por qué no siempre significa desempleo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Transforma el trabajo en vez de eliminarlo: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Ejemplo: en una línea de ensamblaje, un robot puede atornillar piezas, pero ahora se necesita un técnico que lo programe, lo mantenga y lo repare.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 nuevos roles: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vez que se automatiza algo, suelen aparecer puestos nuevos: programadores, técnicos de mantenimiento, supervisores de calidad, diseñadores de sistemas.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Permite reasignar personal a tareas más complejas: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 quitas el trabajo repetitivo, puedes mover a la persona a control de calidad, diseño, o atención al cliente.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humano sigue siendo insustituible en ciertas áreas: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Creatividad, resolución de problemas no previstos, decisiones éticas.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📌 Ejemplo real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 una planta embotelladora que automatizó el llenado de botellas: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Antes: 10 personas llenaban y tapaban botellas manualmente.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Después: 2 operan el sistema, 3 están en mantenimiento, 2 en control de calidad, 3 en logística.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despidieron a todos; reasignaron tareas.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💬 Frase para la clase: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“La automatización no te quita el trabajo… pero sí te puede quitar el trabajo si no aprendes a trabajar con ella.”</a:t>
            </a:r>
            <a:endParaRPr/>
          </a:p>
        </p:txBody>
      </p:sp>
      <p:sp>
        <p:nvSpPr>
          <p:cNvPr id="275" name="Google Shape;275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6" name="Google Shape;276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8" name="Google Shape;288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9" name="Google Shape;289;p1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Ejemplos para explicar oralmente: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Fábricas de autos: robots soldadores trabajan 24/7 con precisión milimétrica → menos operarios en soldadura manual.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Minería subterránea: vehículos automatizados en zonas peligrosas sustituyen operadores humanos.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Bancos: cajeros automáticos redujeron la cantidad de cajeros humanos para operaciones básicas.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Logística: robots en almacenes (Amazon Kiva) hacen el trabajo de transporte interno que antes hacían decenas de personas.</a:t>
            </a:r>
            <a:endParaRPr/>
          </a:p>
        </p:txBody>
      </p:sp>
      <p:sp>
        <p:nvSpPr>
          <p:cNvPr id="291" name="Google Shape;291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2" name="Google Shape;292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4" name="Google Shape;304;p1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5" name="Google Shape;305;p1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Ejemplos para explicar oralmente: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Diagnóstico médico complejo: aunque haya IA, un médico evalúa contexto y factores humanos.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Diseño de productos: la creatividad y empatía del diseñador no la reemplaza una máquina.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Atención personalizada: en servicios donde la confianza y la relación son clave (psicología, educación).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Supervisión y mantenimiento: incluso sistemas 100 % automáticos requieren técnicos y operadores humanos.</a:t>
            </a:r>
            <a:endParaRPr/>
          </a:p>
        </p:txBody>
      </p:sp>
      <p:sp>
        <p:nvSpPr>
          <p:cNvPr id="307" name="Google Shape;307;p1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8" name="Google Shape;308;p1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1" name="Google Shape;321;p1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2" name="Google Shape;322;p1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Explicación oral: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Retos: requieren que la gente aprenda a trabajar con máquinas, cambie su mentalidad y adquiera habilidades nuevas.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Oportunidades: surgen puestos como programador de robots, técnico de mantenimiento, especialista en 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Ejemplo: antes no existía el puesto de operador de drones agrícolas, y hoy es muy demandado.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💬 Pregunta a la clase: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“Si tuvieran que capacitarse en algo hoy para asegurar su trabajo en 10 años, ¿qué aprenderían?”</a:t>
            </a:r>
            <a:endParaRPr/>
          </a:p>
        </p:txBody>
      </p:sp>
      <p:sp>
        <p:nvSpPr>
          <p:cNvPr id="324" name="Google Shape;324;p1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5" name="Google Shape;325;p1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youtube.com/shorts/Eq_LF9MTlCQ?si=zcIusFeCnTLGBF_3" TargetMode="External"/><Relationship Id="rId4" Type="http://schemas.openxmlformats.org/officeDocument/2006/relationships/hyperlink" Target="https://youtu.be/gerVdgfdz2U?si=RUQK3yMq1OuWLfts" TargetMode="External"/><Relationship Id="rId5" Type="http://schemas.openxmlformats.org/officeDocument/2006/relationships/hyperlink" Target="https://youtube.com/shorts/TGzc1ouvrrM?si=Mx_STlvWYl-rG9zS" TargetMode="External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9f96e206f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9f96e206f4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TUTOR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9f96e206f4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CURSO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12573000" y="0"/>
            <a:ext cx="5715000" cy="1514631"/>
          </a:xfrm>
          <a:custGeom>
            <a:rect b="b" l="l" r="r" t="t"/>
            <a:pathLst>
              <a:path extrusionOk="0" h="1514631" w="5715000">
                <a:moveTo>
                  <a:pt x="0" y="0"/>
                </a:moveTo>
                <a:lnTo>
                  <a:pt x="5715000" y="0"/>
                </a:lnTo>
                <a:lnTo>
                  <a:pt x="5715000" y="1514631"/>
                </a:lnTo>
                <a:lnTo>
                  <a:pt x="0" y="1514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"/>
          <p:cNvSpPr/>
          <p:nvPr/>
        </p:nvSpPr>
        <p:spPr>
          <a:xfrm>
            <a:off x="10858500" y="2286000"/>
            <a:ext cx="5715000" cy="5715000"/>
          </a:xfrm>
          <a:custGeom>
            <a:rect b="b" l="l" r="r" t="t"/>
            <a:pathLst>
              <a:path extrusionOk="0" h="5715000" w="5715000">
                <a:moveTo>
                  <a:pt x="0" y="0"/>
                </a:moveTo>
                <a:lnTo>
                  <a:pt x="5715000" y="0"/>
                </a:lnTo>
                <a:lnTo>
                  <a:pt x="57150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" name="Google Shape;98;p1"/>
          <p:cNvGrpSpPr/>
          <p:nvPr/>
        </p:nvGrpSpPr>
        <p:grpSpPr>
          <a:xfrm>
            <a:off x="-190462" y="1699708"/>
            <a:ext cx="9524925" cy="8089505"/>
            <a:chOff x="50" y="-1638125"/>
            <a:chExt cx="12699900" cy="10786008"/>
          </a:xfrm>
        </p:grpSpPr>
        <p:sp>
          <p:nvSpPr>
            <p:cNvPr id="99" name="Google Shape;99;p1"/>
            <p:cNvSpPr txBox="1"/>
            <p:nvPr/>
          </p:nvSpPr>
          <p:spPr>
            <a:xfrm>
              <a:off x="1589005" y="405583"/>
              <a:ext cx="9522000" cy="87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199" u="none" cap="none" strike="noStrike">
                  <a:solidFill>
                    <a:srgbClr val="FFB400"/>
                  </a:solidFill>
                  <a:latin typeface="Arial"/>
                  <a:ea typeface="Arial"/>
                  <a:cs typeface="Arial"/>
                  <a:sym typeface="Arial"/>
                </a:rPr>
                <a:t>Arquitectura de Computadores y Ensambladores 2</a:t>
              </a:r>
              <a:endParaRPr/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Escuela de Ingeniería de Ciencias Y Sistemas</a:t>
              </a:r>
              <a:endParaRPr/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Facultad de Ingeniería</a:t>
              </a:r>
              <a:endParaRPr/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Universidad de San Carlos de Guatemala</a:t>
              </a:r>
              <a:endParaRPr/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50" y="-1638125"/>
              <a:ext cx="12699900" cy="13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600" u="none" cap="none" strike="noStrike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</a:rPr>
                <a:t>AUTOMATIZACIÓN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2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06" name="Google Shape;106;p2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7" name="Google Shape;107;p2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08" name="Google Shape;108;p2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2"/>
          <p:cNvSpPr txBox="1"/>
          <p:nvPr/>
        </p:nvSpPr>
        <p:spPr>
          <a:xfrm>
            <a:off x="3667125" y="1500708"/>
            <a:ext cx="10953750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RECORDATORIOS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1047750" y="3198437"/>
            <a:ext cx="12297616" cy="3835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422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💠 Última oportunidad para DTT</a:t>
            </a:r>
            <a:endParaRPr/>
          </a:p>
          <a:p>
            <a:pPr indent="0" lvl="0" marL="0" marR="0" rtl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📅 Práctica: Enunciado en UEDI/Classroom</a:t>
            </a:r>
            <a:endParaRPr/>
          </a:p>
          <a:p>
            <a:pPr indent="0" lvl="0" marL="0" marR="0" rtl="0" algn="l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3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📄 Siguiente semana - Corto 1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 flipH="1">
            <a:off x="13705927" y="3564138"/>
            <a:ext cx="3534323" cy="3534323"/>
          </a:xfrm>
          <a:custGeom>
            <a:rect b="b" l="l" r="r" t="t"/>
            <a:pathLst>
              <a:path extrusionOk="0" h="3534323" w="3534323">
                <a:moveTo>
                  <a:pt x="3534323" y="0"/>
                </a:moveTo>
                <a:lnTo>
                  <a:pt x="0" y="0"/>
                </a:lnTo>
                <a:lnTo>
                  <a:pt x="0" y="3534323"/>
                </a:lnTo>
                <a:lnTo>
                  <a:pt x="3534323" y="3534323"/>
                </a:lnTo>
                <a:lnTo>
                  <a:pt x="353432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3"/>
          <p:cNvGrpSpPr/>
          <p:nvPr/>
        </p:nvGrpSpPr>
        <p:grpSpPr>
          <a:xfrm>
            <a:off x="768248" y="785682"/>
            <a:ext cx="16753209" cy="8716522"/>
            <a:chOff x="0" y="0"/>
            <a:chExt cx="69085396" cy="35944420"/>
          </a:xfrm>
        </p:grpSpPr>
        <p:sp>
          <p:nvSpPr>
            <p:cNvPr id="117" name="Google Shape;117;p3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8" name="Google Shape;118;p3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19" name="Google Shape;119;p3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3"/>
          <p:cNvSpPr txBox="1"/>
          <p:nvPr/>
        </p:nvSpPr>
        <p:spPr>
          <a:xfrm>
            <a:off x="4857750" y="1500708"/>
            <a:ext cx="8572500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COMPETENCIA</a:t>
            </a:r>
            <a:endParaRPr/>
          </a:p>
        </p:txBody>
      </p:sp>
      <p:grpSp>
        <p:nvGrpSpPr>
          <p:cNvPr id="121" name="Google Shape;121;p3"/>
          <p:cNvGrpSpPr/>
          <p:nvPr/>
        </p:nvGrpSpPr>
        <p:grpSpPr>
          <a:xfrm>
            <a:off x="1285875" y="3203225"/>
            <a:ext cx="14677675" cy="5525776"/>
            <a:chOff x="0" y="-6316"/>
            <a:chExt cx="19570233" cy="7367700"/>
          </a:xfrm>
        </p:grpSpPr>
        <p:sp>
          <p:nvSpPr>
            <p:cNvPr id="122" name="Google Shape;122;p3"/>
            <p:cNvSpPr/>
            <p:nvPr/>
          </p:nvSpPr>
          <p:spPr>
            <a:xfrm>
              <a:off x="0" y="0"/>
              <a:ext cx="7192146" cy="7192146"/>
            </a:xfrm>
            <a:custGeom>
              <a:rect b="b" l="l" r="r" t="t"/>
              <a:pathLst>
                <a:path extrusionOk="0" h="7192146" w="7192146">
                  <a:moveTo>
                    <a:pt x="0" y="0"/>
                  </a:moveTo>
                  <a:lnTo>
                    <a:pt x="7192146" y="0"/>
                  </a:lnTo>
                  <a:lnTo>
                    <a:pt x="7192146" y="7192146"/>
                  </a:lnTo>
                  <a:lnTo>
                    <a:pt x="0" y="71921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3" name="Google Shape;123;p3"/>
            <p:cNvSpPr txBox="1"/>
            <p:nvPr/>
          </p:nvSpPr>
          <p:spPr>
            <a:xfrm>
              <a:off x="7604133" y="-6316"/>
              <a:ext cx="11966100" cy="736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8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Comprende y aplica los fundamentos de la automatización en sistemas embebidos, utilizando Arduino como plataforma de desarrollo, para implementar soluciones que respondan de forma eficiente a eventos del entorno mediante el uso de sensores, interrupciones y actuadores.</a:t>
              </a:r>
              <a:endParaRPr sz="5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4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29" name="Google Shape;129;p4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0" name="Google Shape;130;p4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31" name="Google Shape;131;p4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4"/>
          <p:cNvSpPr txBox="1"/>
          <p:nvPr/>
        </p:nvSpPr>
        <p:spPr>
          <a:xfrm>
            <a:off x="6286500" y="1500708"/>
            <a:ext cx="5715000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grpSp>
        <p:nvGrpSpPr>
          <p:cNvPr id="133" name="Google Shape;133;p4"/>
          <p:cNvGrpSpPr/>
          <p:nvPr/>
        </p:nvGrpSpPr>
        <p:grpSpPr>
          <a:xfrm>
            <a:off x="2000250" y="3200818"/>
            <a:ext cx="14287500" cy="5812858"/>
            <a:chOff x="0" y="-9525"/>
            <a:chExt cx="19050000" cy="7750477"/>
          </a:xfrm>
        </p:grpSpPr>
        <p:sp>
          <p:nvSpPr>
            <p:cNvPr id="134" name="Google Shape;134;p4"/>
            <p:cNvSpPr txBox="1"/>
            <p:nvPr/>
          </p:nvSpPr>
          <p:spPr>
            <a:xfrm>
              <a:off x="0" y="-9525"/>
              <a:ext cx="11792857" cy="77504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6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🔌 ¿Qué es la automatización?</a:t>
              </a:r>
              <a:endParaRPr/>
            </a:p>
            <a:p>
              <a:pPr indent="0" lvl="0" marL="0" marR="0" rtl="0" algn="l">
                <a:lnSpc>
                  <a:spcPct val="12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6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🏭 Usos de la automatización en la vida diaria</a:t>
              </a:r>
              <a:endParaRPr/>
            </a:p>
            <a:p>
              <a:pPr indent="0" lvl="0" marL="0" marR="0" rtl="0" algn="l">
                <a:lnSpc>
                  <a:spcPct val="12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6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⏱️ Interrupciones en Arduino para automatización</a:t>
              </a:r>
              <a:endParaRPr/>
            </a:p>
            <a:p>
              <a:pPr indent="0" lvl="0" marL="0" marR="0" rtl="0" algn="l">
                <a:lnSpc>
                  <a:spcPct val="12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6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🧠 ¿Reemplaza la automatización al factor humano?</a:t>
              </a:r>
              <a:endParaRPr/>
            </a:p>
            <a:p>
              <a:pPr indent="0" lvl="0" marL="0" marR="0" rtl="0" algn="l">
                <a:lnSpc>
                  <a:spcPct val="12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6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🕰️ Comparación: millis() vs. interrupciones</a:t>
              </a: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11792857" y="241905"/>
              <a:ext cx="7257143" cy="7257143"/>
            </a:xfrm>
            <a:custGeom>
              <a:rect b="b" l="l" r="r" t="t"/>
              <a:pathLst>
                <a:path extrusionOk="0" h="7257143" w="7257143">
                  <a:moveTo>
                    <a:pt x="0" y="0"/>
                  </a:moveTo>
                  <a:lnTo>
                    <a:pt x="7257143" y="0"/>
                  </a:lnTo>
                  <a:lnTo>
                    <a:pt x="7257143" y="7257143"/>
                  </a:lnTo>
                  <a:lnTo>
                    <a:pt x="0" y="72571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5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45" name="Google Shape;145;p5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6" name="Google Shape;146;p5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47" name="Google Shape;147;p5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8" name="Google Shape;148;p5"/>
          <p:cNvGrpSpPr/>
          <p:nvPr/>
        </p:nvGrpSpPr>
        <p:grpSpPr>
          <a:xfrm>
            <a:off x="1520717" y="3207962"/>
            <a:ext cx="15246565" cy="4762500"/>
            <a:chOff x="0" y="0"/>
            <a:chExt cx="20328754" cy="6350000"/>
          </a:xfrm>
        </p:grpSpPr>
        <p:sp>
          <p:nvSpPr>
            <p:cNvPr id="149" name="Google Shape;149;p5"/>
            <p:cNvSpPr txBox="1"/>
            <p:nvPr/>
          </p:nvSpPr>
          <p:spPr>
            <a:xfrm>
              <a:off x="6565900" y="298141"/>
              <a:ext cx="13762854" cy="571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509444" lvl="1" marL="1018887" marR="0" rtl="0" algn="just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9"/>
                <a:buFont typeface="Arial"/>
                <a:buChar char="•"/>
              </a:pPr>
              <a:r>
                <a:rPr b="0" i="0" lang="en-US" sz="47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Proceso donde sistemas realizan tareas con poca o ninguna intervención humana.</a:t>
              </a:r>
              <a:endParaRPr/>
            </a:p>
            <a:p>
              <a:pPr indent="-509444" lvl="1" marL="1018887" marR="0" rtl="0" algn="just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9"/>
                <a:buFont typeface="Arial"/>
                <a:buChar char="•"/>
              </a:pPr>
              <a:r>
                <a:rPr b="0" i="0" lang="en-US" sz="47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Usa sensores, controladores y actuadores para funcionar.</a:t>
              </a:r>
              <a:endParaRPr/>
            </a:p>
            <a:p>
              <a:pPr indent="-509444" lvl="1" marL="1018887" marR="0" rtl="0" algn="just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9"/>
                <a:buFont typeface="Arial"/>
                <a:buChar char="•"/>
              </a:pPr>
              <a:r>
                <a:rPr b="0" i="0" lang="en-US" sz="47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Detecta cambios, toma decisiones y ejecuta acciones automáticamente.</a:t>
              </a: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6350000"/>
                  </a:lnTo>
                  <a:lnTo>
                    <a:pt x="0" y="6350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51" name="Google Shape;151;p5"/>
          <p:cNvSpPr txBox="1"/>
          <p:nvPr/>
        </p:nvSpPr>
        <p:spPr>
          <a:xfrm>
            <a:off x="1008459" y="1571566"/>
            <a:ext cx="16271081" cy="1274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¿QUÉ ES LA AUTOMATIZACIÓN?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6"/>
          <p:cNvGrpSpPr/>
          <p:nvPr/>
        </p:nvGrpSpPr>
        <p:grpSpPr>
          <a:xfrm>
            <a:off x="830580" y="773430"/>
            <a:ext cx="8151453" cy="4207817"/>
            <a:chOff x="0" y="0"/>
            <a:chExt cx="33617660" cy="17353587"/>
          </a:xfrm>
        </p:grpSpPr>
        <p:sp>
          <p:nvSpPr>
            <p:cNvPr id="157" name="Google Shape;157;p6"/>
            <p:cNvSpPr/>
            <p:nvPr/>
          </p:nvSpPr>
          <p:spPr>
            <a:xfrm>
              <a:off x="72390" y="72390"/>
              <a:ext cx="33472877" cy="17208808"/>
            </a:xfrm>
            <a:custGeom>
              <a:rect b="b" l="l" r="r" t="t"/>
              <a:pathLst>
                <a:path extrusionOk="0" h="17208808" w="33472877">
                  <a:moveTo>
                    <a:pt x="0" y="0"/>
                  </a:moveTo>
                  <a:lnTo>
                    <a:pt x="33472877" y="0"/>
                  </a:lnTo>
                  <a:lnTo>
                    <a:pt x="33472877" y="17208808"/>
                  </a:lnTo>
                  <a:lnTo>
                    <a:pt x="0" y="17208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8" name="Google Shape;158;p6"/>
            <p:cNvSpPr/>
            <p:nvPr/>
          </p:nvSpPr>
          <p:spPr>
            <a:xfrm>
              <a:off x="0" y="0"/>
              <a:ext cx="33617660" cy="17353587"/>
            </a:xfrm>
            <a:custGeom>
              <a:rect b="b" l="l" r="r" t="t"/>
              <a:pathLst>
                <a:path extrusionOk="0" h="17353587" w="33617660">
                  <a:moveTo>
                    <a:pt x="33472878" y="17208807"/>
                  </a:moveTo>
                  <a:lnTo>
                    <a:pt x="33617660" y="17208807"/>
                  </a:lnTo>
                  <a:lnTo>
                    <a:pt x="33617660" y="17353587"/>
                  </a:lnTo>
                  <a:lnTo>
                    <a:pt x="33472878" y="17353587"/>
                  </a:lnTo>
                  <a:lnTo>
                    <a:pt x="33472878" y="1720880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208807"/>
                  </a:lnTo>
                  <a:lnTo>
                    <a:pt x="0" y="17208807"/>
                  </a:lnTo>
                  <a:lnTo>
                    <a:pt x="0" y="144780"/>
                  </a:lnTo>
                  <a:close/>
                  <a:moveTo>
                    <a:pt x="0" y="17208807"/>
                  </a:moveTo>
                  <a:lnTo>
                    <a:pt x="144780" y="17208807"/>
                  </a:lnTo>
                  <a:lnTo>
                    <a:pt x="144780" y="17353587"/>
                  </a:lnTo>
                  <a:lnTo>
                    <a:pt x="0" y="17353587"/>
                  </a:lnTo>
                  <a:lnTo>
                    <a:pt x="0" y="17208807"/>
                  </a:lnTo>
                  <a:close/>
                  <a:moveTo>
                    <a:pt x="33472878" y="144780"/>
                  </a:moveTo>
                  <a:lnTo>
                    <a:pt x="33617660" y="144780"/>
                  </a:lnTo>
                  <a:lnTo>
                    <a:pt x="33617660" y="17208807"/>
                  </a:lnTo>
                  <a:lnTo>
                    <a:pt x="33472878" y="17208807"/>
                  </a:lnTo>
                  <a:lnTo>
                    <a:pt x="33472878" y="144780"/>
                  </a:lnTo>
                  <a:close/>
                  <a:moveTo>
                    <a:pt x="144780" y="17208807"/>
                  </a:moveTo>
                  <a:lnTo>
                    <a:pt x="33472878" y="17208807"/>
                  </a:lnTo>
                  <a:lnTo>
                    <a:pt x="33472878" y="17353587"/>
                  </a:lnTo>
                  <a:lnTo>
                    <a:pt x="144780" y="17353587"/>
                  </a:lnTo>
                  <a:lnTo>
                    <a:pt x="144780" y="17208807"/>
                  </a:lnTo>
                  <a:close/>
                  <a:moveTo>
                    <a:pt x="33472878" y="0"/>
                  </a:moveTo>
                  <a:lnTo>
                    <a:pt x="33617660" y="0"/>
                  </a:lnTo>
                  <a:lnTo>
                    <a:pt x="33617660" y="144780"/>
                  </a:lnTo>
                  <a:lnTo>
                    <a:pt x="33472878" y="144780"/>
                  </a:lnTo>
                  <a:lnTo>
                    <a:pt x="33472878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3472878" y="0"/>
                  </a:lnTo>
                  <a:lnTo>
                    <a:pt x="33472878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159" name="Google Shape;159;p6"/>
          <p:cNvGrpSpPr/>
          <p:nvPr/>
        </p:nvGrpSpPr>
        <p:grpSpPr>
          <a:xfrm>
            <a:off x="9305925" y="773430"/>
            <a:ext cx="8151453" cy="4207817"/>
            <a:chOff x="0" y="0"/>
            <a:chExt cx="33617660" cy="17353587"/>
          </a:xfrm>
        </p:grpSpPr>
        <p:sp>
          <p:nvSpPr>
            <p:cNvPr id="160" name="Google Shape;160;p6"/>
            <p:cNvSpPr/>
            <p:nvPr/>
          </p:nvSpPr>
          <p:spPr>
            <a:xfrm>
              <a:off x="72390" y="72390"/>
              <a:ext cx="33472877" cy="17208808"/>
            </a:xfrm>
            <a:custGeom>
              <a:rect b="b" l="l" r="r" t="t"/>
              <a:pathLst>
                <a:path extrusionOk="0" h="17208808" w="33472877">
                  <a:moveTo>
                    <a:pt x="0" y="0"/>
                  </a:moveTo>
                  <a:lnTo>
                    <a:pt x="33472877" y="0"/>
                  </a:lnTo>
                  <a:lnTo>
                    <a:pt x="33472877" y="17208808"/>
                  </a:lnTo>
                  <a:lnTo>
                    <a:pt x="0" y="17208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1" name="Google Shape;161;p6"/>
            <p:cNvSpPr/>
            <p:nvPr/>
          </p:nvSpPr>
          <p:spPr>
            <a:xfrm>
              <a:off x="0" y="0"/>
              <a:ext cx="33617660" cy="17353587"/>
            </a:xfrm>
            <a:custGeom>
              <a:rect b="b" l="l" r="r" t="t"/>
              <a:pathLst>
                <a:path extrusionOk="0" h="17353587" w="33617660">
                  <a:moveTo>
                    <a:pt x="33472878" y="17208807"/>
                  </a:moveTo>
                  <a:lnTo>
                    <a:pt x="33617660" y="17208807"/>
                  </a:lnTo>
                  <a:lnTo>
                    <a:pt x="33617660" y="17353587"/>
                  </a:lnTo>
                  <a:lnTo>
                    <a:pt x="33472878" y="17353587"/>
                  </a:lnTo>
                  <a:lnTo>
                    <a:pt x="33472878" y="1720880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208807"/>
                  </a:lnTo>
                  <a:lnTo>
                    <a:pt x="0" y="17208807"/>
                  </a:lnTo>
                  <a:lnTo>
                    <a:pt x="0" y="144780"/>
                  </a:lnTo>
                  <a:close/>
                  <a:moveTo>
                    <a:pt x="0" y="17208807"/>
                  </a:moveTo>
                  <a:lnTo>
                    <a:pt x="144780" y="17208807"/>
                  </a:lnTo>
                  <a:lnTo>
                    <a:pt x="144780" y="17353587"/>
                  </a:lnTo>
                  <a:lnTo>
                    <a:pt x="0" y="17353587"/>
                  </a:lnTo>
                  <a:lnTo>
                    <a:pt x="0" y="17208807"/>
                  </a:lnTo>
                  <a:close/>
                  <a:moveTo>
                    <a:pt x="33472878" y="144780"/>
                  </a:moveTo>
                  <a:lnTo>
                    <a:pt x="33617660" y="144780"/>
                  </a:lnTo>
                  <a:lnTo>
                    <a:pt x="33617660" y="17208807"/>
                  </a:lnTo>
                  <a:lnTo>
                    <a:pt x="33472878" y="17208807"/>
                  </a:lnTo>
                  <a:lnTo>
                    <a:pt x="33472878" y="144780"/>
                  </a:lnTo>
                  <a:close/>
                  <a:moveTo>
                    <a:pt x="144780" y="17208807"/>
                  </a:moveTo>
                  <a:lnTo>
                    <a:pt x="33472878" y="17208807"/>
                  </a:lnTo>
                  <a:lnTo>
                    <a:pt x="33472878" y="17353587"/>
                  </a:lnTo>
                  <a:lnTo>
                    <a:pt x="144780" y="17353587"/>
                  </a:lnTo>
                  <a:lnTo>
                    <a:pt x="144780" y="17208807"/>
                  </a:lnTo>
                  <a:close/>
                  <a:moveTo>
                    <a:pt x="33472878" y="0"/>
                  </a:moveTo>
                  <a:lnTo>
                    <a:pt x="33617660" y="0"/>
                  </a:lnTo>
                  <a:lnTo>
                    <a:pt x="33617660" y="144780"/>
                  </a:lnTo>
                  <a:lnTo>
                    <a:pt x="33472878" y="144780"/>
                  </a:lnTo>
                  <a:lnTo>
                    <a:pt x="33472878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3472878" y="0"/>
                  </a:lnTo>
                  <a:lnTo>
                    <a:pt x="33472878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162" name="Google Shape;162;p6"/>
          <p:cNvGrpSpPr/>
          <p:nvPr/>
        </p:nvGrpSpPr>
        <p:grpSpPr>
          <a:xfrm>
            <a:off x="830580" y="5305425"/>
            <a:ext cx="8151453" cy="4207817"/>
            <a:chOff x="0" y="0"/>
            <a:chExt cx="33617660" cy="17353587"/>
          </a:xfrm>
        </p:grpSpPr>
        <p:sp>
          <p:nvSpPr>
            <p:cNvPr id="163" name="Google Shape;163;p6"/>
            <p:cNvSpPr/>
            <p:nvPr/>
          </p:nvSpPr>
          <p:spPr>
            <a:xfrm>
              <a:off x="72390" y="72390"/>
              <a:ext cx="33472877" cy="17208808"/>
            </a:xfrm>
            <a:custGeom>
              <a:rect b="b" l="l" r="r" t="t"/>
              <a:pathLst>
                <a:path extrusionOk="0" h="17208808" w="33472877">
                  <a:moveTo>
                    <a:pt x="0" y="0"/>
                  </a:moveTo>
                  <a:lnTo>
                    <a:pt x="33472877" y="0"/>
                  </a:lnTo>
                  <a:lnTo>
                    <a:pt x="33472877" y="17208808"/>
                  </a:lnTo>
                  <a:lnTo>
                    <a:pt x="0" y="17208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4" name="Google Shape;164;p6"/>
            <p:cNvSpPr/>
            <p:nvPr/>
          </p:nvSpPr>
          <p:spPr>
            <a:xfrm>
              <a:off x="0" y="0"/>
              <a:ext cx="33617660" cy="17353587"/>
            </a:xfrm>
            <a:custGeom>
              <a:rect b="b" l="l" r="r" t="t"/>
              <a:pathLst>
                <a:path extrusionOk="0" h="17353587" w="33617660">
                  <a:moveTo>
                    <a:pt x="33472878" y="17208807"/>
                  </a:moveTo>
                  <a:lnTo>
                    <a:pt x="33617660" y="17208807"/>
                  </a:lnTo>
                  <a:lnTo>
                    <a:pt x="33617660" y="17353587"/>
                  </a:lnTo>
                  <a:lnTo>
                    <a:pt x="33472878" y="17353587"/>
                  </a:lnTo>
                  <a:lnTo>
                    <a:pt x="33472878" y="1720880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208807"/>
                  </a:lnTo>
                  <a:lnTo>
                    <a:pt x="0" y="17208807"/>
                  </a:lnTo>
                  <a:lnTo>
                    <a:pt x="0" y="144780"/>
                  </a:lnTo>
                  <a:close/>
                  <a:moveTo>
                    <a:pt x="0" y="17208807"/>
                  </a:moveTo>
                  <a:lnTo>
                    <a:pt x="144780" y="17208807"/>
                  </a:lnTo>
                  <a:lnTo>
                    <a:pt x="144780" y="17353587"/>
                  </a:lnTo>
                  <a:lnTo>
                    <a:pt x="0" y="17353587"/>
                  </a:lnTo>
                  <a:lnTo>
                    <a:pt x="0" y="17208807"/>
                  </a:lnTo>
                  <a:close/>
                  <a:moveTo>
                    <a:pt x="33472878" y="144780"/>
                  </a:moveTo>
                  <a:lnTo>
                    <a:pt x="33617660" y="144780"/>
                  </a:lnTo>
                  <a:lnTo>
                    <a:pt x="33617660" y="17208807"/>
                  </a:lnTo>
                  <a:lnTo>
                    <a:pt x="33472878" y="17208807"/>
                  </a:lnTo>
                  <a:lnTo>
                    <a:pt x="33472878" y="144780"/>
                  </a:lnTo>
                  <a:close/>
                  <a:moveTo>
                    <a:pt x="144780" y="17208807"/>
                  </a:moveTo>
                  <a:lnTo>
                    <a:pt x="33472878" y="17208807"/>
                  </a:lnTo>
                  <a:lnTo>
                    <a:pt x="33472878" y="17353587"/>
                  </a:lnTo>
                  <a:lnTo>
                    <a:pt x="144780" y="17353587"/>
                  </a:lnTo>
                  <a:lnTo>
                    <a:pt x="144780" y="17208807"/>
                  </a:lnTo>
                  <a:close/>
                  <a:moveTo>
                    <a:pt x="33472878" y="0"/>
                  </a:moveTo>
                  <a:lnTo>
                    <a:pt x="33617660" y="0"/>
                  </a:lnTo>
                  <a:lnTo>
                    <a:pt x="33617660" y="144780"/>
                  </a:lnTo>
                  <a:lnTo>
                    <a:pt x="33472878" y="144780"/>
                  </a:lnTo>
                  <a:lnTo>
                    <a:pt x="33472878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3472878" y="0"/>
                  </a:lnTo>
                  <a:lnTo>
                    <a:pt x="33472878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165" name="Google Shape;165;p6"/>
          <p:cNvGrpSpPr/>
          <p:nvPr/>
        </p:nvGrpSpPr>
        <p:grpSpPr>
          <a:xfrm>
            <a:off x="9305925" y="5305425"/>
            <a:ext cx="8151453" cy="4207817"/>
            <a:chOff x="0" y="0"/>
            <a:chExt cx="33617660" cy="17353587"/>
          </a:xfrm>
        </p:grpSpPr>
        <p:sp>
          <p:nvSpPr>
            <p:cNvPr id="166" name="Google Shape;166;p6"/>
            <p:cNvSpPr/>
            <p:nvPr/>
          </p:nvSpPr>
          <p:spPr>
            <a:xfrm>
              <a:off x="72390" y="72390"/>
              <a:ext cx="33472877" cy="17208808"/>
            </a:xfrm>
            <a:custGeom>
              <a:rect b="b" l="l" r="r" t="t"/>
              <a:pathLst>
                <a:path extrusionOk="0" h="17208808" w="33472877">
                  <a:moveTo>
                    <a:pt x="0" y="0"/>
                  </a:moveTo>
                  <a:lnTo>
                    <a:pt x="33472877" y="0"/>
                  </a:lnTo>
                  <a:lnTo>
                    <a:pt x="33472877" y="17208808"/>
                  </a:lnTo>
                  <a:lnTo>
                    <a:pt x="0" y="172088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7" name="Google Shape;167;p6"/>
            <p:cNvSpPr/>
            <p:nvPr/>
          </p:nvSpPr>
          <p:spPr>
            <a:xfrm>
              <a:off x="0" y="0"/>
              <a:ext cx="33617660" cy="17353587"/>
            </a:xfrm>
            <a:custGeom>
              <a:rect b="b" l="l" r="r" t="t"/>
              <a:pathLst>
                <a:path extrusionOk="0" h="17353587" w="33617660">
                  <a:moveTo>
                    <a:pt x="33472878" y="17208807"/>
                  </a:moveTo>
                  <a:lnTo>
                    <a:pt x="33617660" y="17208807"/>
                  </a:lnTo>
                  <a:lnTo>
                    <a:pt x="33617660" y="17353587"/>
                  </a:lnTo>
                  <a:lnTo>
                    <a:pt x="33472878" y="17353587"/>
                  </a:lnTo>
                  <a:lnTo>
                    <a:pt x="33472878" y="1720880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7208807"/>
                  </a:lnTo>
                  <a:lnTo>
                    <a:pt x="0" y="17208807"/>
                  </a:lnTo>
                  <a:lnTo>
                    <a:pt x="0" y="144780"/>
                  </a:lnTo>
                  <a:close/>
                  <a:moveTo>
                    <a:pt x="0" y="17208807"/>
                  </a:moveTo>
                  <a:lnTo>
                    <a:pt x="144780" y="17208807"/>
                  </a:lnTo>
                  <a:lnTo>
                    <a:pt x="144780" y="17353587"/>
                  </a:lnTo>
                  <a:lnTo>
                    <a:pt x="0" y="17353587"/>
                  </a:lnTo>
                  <a:lnTo>
                    <a:pt x="0" y="17208807"/>
                  </a:lnTo>
                  <a:close/>
                  <a:moveTo>
                    <a:pt x="33472878" y="144780"/>
                  </a:moveTo>
                  <a:lnTo>
                    <a:pt x="33617660" y="144780"/>
                  </a:lnTo>
                  <a:lnTo>
                    <a:pt x="33617660" y="17208807"/>
                  </a:lnTo>
                  <a:lnTo>
                    <a:pt x="33472878" y="17208807"/>
                  </a:lnTo>
                  <a:lnTo>
                    <a:pt x="33472878" y="144780"/>
                  </a:lnTo>
                  <a:close/>
                  <a:moveTo>
                    <a:pt x="144780" y="17208807"/>
                  </a:moveTo>
                  <a:lnTo>
                    <a:pt x="33472878" y="17208807"/>
                  </a:lnTo>
                  <a:lnTo>
                    <a:pt x="33472878" y="17353587"/>
                  </a:lnTo>
                  <a:lnTo>
                    <a:pt x="144780" y="17353587"/>
                  </a:lnTo>
                  <a:lnTo>
                    <a:pt x="144780" y="17208807"/>
                  </a:lnTo>
                  <a:close/>
                  <a:moveTo>
                    <a:pt x="33472878" y="0"/>
                  </a:moveTo>
                  <a:lnTo>
                    <a:pt x="33617660" y="0"/>
                  </a:lnTo>
                  <a:lnTo>
                    <a:pt x="33617660" y="144780"/>
                  </a:lnTo>
                  <a:lnTo>
                    <a:pt x="33472878" y="144780"/>
                  </a:lnTo>
                  <a:lnTo>
                    <a:pt x="33472878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33472878" y="0"/>
                  </a:lnTo>
                  <a:lnTo>
                    <a:pt x="33472878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168" name="Google Shape;168;p6"/>
          <p:cNvSpPr/>
          <p:nvPr/>
        </p:nvSpPr>
        <p:spPr>
          <a:xfrm>
            <a:off x="3001306" y="972338"/>
            <a:ext cx="3810000" cy="3810000"/>
          </a:xfrm>
          <a:custGeom>
            <a:rect b="b" l="l" r="r" t="t"/>
            <a:pathLst>
              <a:path extrusionOk="0" h="3810000" w="3810000">
                <a:moveTo>
                  <a:pt x="0" y="0"/>
                </a:moveTo>
                <a:lnTo>
                  <a:pt x="3810000" y="0"/>
                </a:lnTo>
                <a:lnTo>
                  <a:pt x="3810000" y="3810000"/>
                </a:lnTo>
                <a:lnTo>
                  <a:pt x="0" y="381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11476651" y="972338"/>
            <a:ext cx="3810000" cy="3810000"/>
          </a:xfrm>
          <a:custGeom>
            <a:rect b="b" l="l" r="r" t="t"/>
            <a:pathLst>
              <a:path extrusionOk="0" h="3810000" w="3810000">
                <a:moveTo>
                  <a:pt x="0" y="0"/>
                </a:moveTo>
                <a:lnTo>
                  <a:pt x="3810000" y="0"/>
                </a:lnTo>
                <a:lnTo>
                  <a:pt x="3810000" y="3810000"/>
                </a:lnTo>
                <a:lnTo>
                  <a:pt x="0" y="381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6"/>
          <p:cNvSpPr/>
          <p:nvPr/>
        </p:nvSpPr>
        <p:spPr>
          <a:xfrm>
            <a:off x="3001306" y="5504333"/>
            <a:ext cx="3810000" cy="3810000"/>
          </a:xfrm>
          <a:custGeom>
            <a:rect b="b" l="l" r="r" t="t"/>
            <a:pathLst>
              <a:path extrusionOk="0" h="3810000" w="3810000">
                <a:moveTo>
                  <a:pt x="0" y="0"/>
                </a:moveTo>
                <a:lnTo>
                  <a:pt x="3810000" y="0"/>
                </a:lnTo>
                <a:lnTo>
                  <a:pt x="3810000" y="3810000"/>
                </a:lnTo>
                <a:lnTo>
                  <a:pt x="0" y="381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6"/>
          <p:cNvSpPr/>
          <p:nvPr/>
        </p:nvSpPr>
        <p:spPr>
          <a:xfrm>
            <a:off x="11476651" y="5504333"/>
            <a:ext cx="3810000" cy="3810000"/>
          </a:xfrm>
          <a:custGeom>
            <a:rect b="b" l="l" r="r" t="t"/>
            <a:pathLst>
              <a:path extrusionOk="0" h="3810000" w="3810000">
                <a:moveTo>
                  <a:pt x="0" y="0"/>
                </a:moveTo>
                <a:lnTo>
                  <a:pt x="3810000" y="0"/>
                </a:lnTo>
                <a:lnTo>
                  <a:pt x="3810000" y="3810000"/>
                </a:lnTo>
                <a:lnTo>
                  <a:pt x="0" y="381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7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77" name="Google Shape;177;p7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8" name="Google Shape;178;p7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79" name="Google Shape;179;p7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7"/>
          <p:cNvSpPr txBox="1"/>
          <p:nvPr/>
        </p:nvSpPr>
        <p:spPr>
          <a:xfrm>
            <a:off x="4609281" y="774007"/>
            <a:ext cx="9069437" cy="2072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¿CÓMO FUNCIONA LA</a:t>
            </a:r>
            <a:endParaRPr/>
          </a:p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AUTOMATIZACIÓN?</a:t>
            </a:r>
            <a:endParaRPr/>
          </a:p>
        </p:txBody>
      </p:sp>
      <p:grpSp>
        <p:nvGrpSpPr>
          <p:cNvPr id="181" name="Google Shape;181;p7"/>
          <p:cNvGrpSpPr/>
          <p:nvPr/>
        </p:nvGrpSpPr>
        <p:grpSpPr>
          <a:xfrm>
            <a:off x="1395875" y="3230143"/>
            <a:ext cx="16125566" cy="6272051"/>
            <a:chOff x="-1440833" y="29575"/>
            <a:chExt cx="21500754" cy="8362735"/>
          </a:xfrm>
        </p:grpSpPr>
        <p:sp>
          <p:nvSpPr>
            <p:cNvPr id="182" name="Google Shape;182;p7"/>
            <p:cNvSpPr txBox="1"/>
            <p:nvPr/>
          </p:nvSpPr>
          <p:spPr>
            <a:xfrm>
              <a:off x="-1440833" y="29575"/>
              <a:ext cx="17780100" cy="60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596887" lvl="1" marL="1320774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117"/>
                <a:buFont typeface="Arial"/>
                <a:buAutoNum type="arabicPeriod"/>
              </a:pPr>
              <a:r>
                <a:rPr b="0" i="0" lang="en-US" sz="51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Entrada: Un sensor detecta un cambio.</a:t>
              </a:r>
              <a:endParaRPr sz="400"/>
            </a:p>
            <a:p>
              <a:pPr indent="-596887" lvl="1" marL="1320774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117"/>
                <a:buFont typeface="Arial"/>
                <a:buAutoNum type="arabicPeriod"/>
              </a:pPr>
              <a:r>
                <a:rPr b="0" i="0" lang="en-US" sz="51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Proceso: El sistema analiza la información.</a:t>
              </a:r>
              <a:endParaRPr sz="400"/>
            </a:p>
            <a:p>
              <a:pPr indent="-596887" lvl="1" marL="1320774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117"/>
                <a:buFont typeface="Arial"/>
                <a:buAutoNum type="arabicPeriod"/>
              </a:pPr>
              <a:r>
                <a:rPr b="0" i="0" lang="en-US" sz="511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Salida: Se ejecuta una acción automáticamente.</a:t>
              </a:r>
              <a:endParaRPr sz="400"/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6721679" y="5449408"/>
              <a:ext cx="2942902" cy="2942902"/>
            </a:xfrm>
            <a:custGeom>
              <a:rect b="b" l="l" r="r" t="t"/>
              <a:pathLst>
                <a:path extrusionOk="0" h="2942902" w="2942902">
                  <a:moveTo>
                    <a:pt x="0" y="0"/>
                  </a:moveTo>
                  <a:lnTo>
                    <a:pt x="2942902" y="0"/>
                  </a:lnTo>
                  <a:lnTo>
                    <a:pt x="2942902" y="2942901"/>
                  </a:lnTo>
                  <a:lnTo>
                    <a:pt x="0" y="29429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4" name="Google Shape;184;p7"/>
            <p:cNvSpPr/>
            <p:nvPr/>
          </p:nvSpPr>
          <p:spPr>
            <a:xfrm>
              <a:off x="11913969" y="5449408"/>
              <a:ext cx="2942902" cy="2942902"/>
            </a:xfrm>
            <a:custGeom>
              <a:rect b="b" l="l" r="r" t="t"/>
              <a:pathLst>
                <a:path extrusionOk="0" h="2942902" w="2942902">
                  <a:moveTo>
                    <a:pt x="0" y="0"/>
                  </a:moveTo>
                  <a:lnTo>
                    <a:pt x="2942902" y="0"/>
                  </a:lnTo>
                  <a:lnTo>
                    <a:pt x="2942902" y="2942901"/>
                  </a:lnTo>
                  <a:lnTo>
                    <a:pt x="0" y="29429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85" name="Google Shape;185;p7"/>
            <p:cNvCxnSpPr/>
            <p:nvPr/>
          </p:nvCxnSpPr>
          <p:spPr>
            <a:xfrm>
              <a:off x="5699895" y="6391982"/>
              <a:ext cx="1177161" cy="0"/>
            </a:xfrm>
            <a:prstGeom prst="straightConnector1">
              <a:avLst/>
            </a:prstGeom>
            <a:noFill/>
            <a:ln cap="flat" cmpd="sng" w="47075">
              <a:solidFill>
                <a:srgbClr val="CCCCCC"/>
              </a:solidFill>
              <a:prstDash val="dot"/>
              <a:round/>
              <a:headEnd len="sm" w="sm" type="none"/>
              <a:tailEnd len="med" w="med" type="stealth"/>
            </a:ln>
          </p:spPr>
        </p:cxnSp>
        <p:sp>
          <p:nvSpPr>
            <p:cNvPr id="186" name="Google Shape;186;p7"/>
            <p:cNvSpPr/>
            <p:nvPr/>
          </p:nvSpPr>
          <p:spPr>
            <a:xfrm>
              <a:off x="17117019" y="5449408"/>
              <a:ext cx="2942902" cy="2942902"/>
            </a:xfrm>
            <a:custGeom>
              <a:rect b="b" l="l" r="r" t="t"/>
              <a:pathLst>
                <a:path extrusionOk="0" h="2942902" w="2942902">
                  <a:moveTo>
                    <a:pt x="0" y="0"/>
                  </a:moveTo>
                  <a:lnTo>
                    <a:pt x="2942902" y="0"/>
                  </a:lnTo>
                  <a:lnTo>
                    <a:pt x="2942902" y="2942901"/>
                  </a:lnTo>
                  <a:lnTo>
                    <a:pt x="0" y="29429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87" name="Google Shape;187;p7"/>
            <p:cNvCxnSpPr/>
            <p:nvPr/>
          </p:nvCxnSpPr>
          <p:spPr>
            <a:xfrm>
              <a:off x="10897565" y="6391982"/>
              <a:ext cx="1177200" cy="0"/>
            </a:xfrm>
            <a:prstGeom prst="straightConnector1">
              <a:avLst/>
            </a:prstGeom>
            <a:noFill/>
            <a:ln cap="flat" cmpd="sng" w="47075">
              <a:solidFill>
                <a:srgbClr val="CCCCCC"/>
              </a:solidFill>
              <a:prstDash val="dot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8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93" name="Google Shape;193;p8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4" name="Google Shape;194;p8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95" name="Google Shape;195;p8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8"/>
          <p:cNvSpPr txBox="1"/>
          <p:nvPr/>
        </p:nvSpPr>
        <p:spPr>
          <a:xfrm>
            <a:off x="4994151" y="774007"/>
            <a:ext cx="8299698" cy="2072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¿DÓNDE SE USA LA</a:t>
            </a:r>
            <a:endParaRPr/>
          </a:p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AUTOMATIZACIÓN?</a:t>
            </a:r>
            <a:endParaRPr/>
          </a:p>
        </p:txBody>
      </p:sp>
      <p:grpSp>
        <p:nvGrpSpPr>
          <p:cNvPr id="197" name="Google Shape;197;p8"/>
          <p:cNvGrpSpPr/>
          <p:nvPr/>
        </p:nvGrpSpPr>
        <p:grpSpPr>
          <a:xfrm>
            <a:off x="954025" y="3193674"/>
            <a:ext cx="16379949" cy="4795200"/>
            <a:chOff x="0" y="-19050"/>
            <a:chExt cx="21839932" cy="6393600"/>
          </a:xfrm>
        </p:grpSpPr>
        <p:sp>
          <p:nvSpPr>
            <p:cNvPr id="198" name="Google Shape;198;p8"/>
            <p:cNvSpPr txBox="1"/>
            <p:nvPr/>
          </p:nvSpPr>
          <p:spPr>
            <a:xfrm>
              <a:off x="0" y="-19050"/>
              <a:ext cx="15659400" cy="6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🏭 </a:t>
              </a:r>
              <a:r>
                <a:rPr b="0" i="0" lang="en-US" sz="37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Industria</a:t>
              </a:r>
              <a:r>
                <a:rPr b="0" i="0" lang="en-US" sz="3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líneas de ensamblaje, control de calidad</a:t>
              </a:r>
              <a:endParaRPr sz="600"/>
            </a:p>
            <a:p>
              <a:pPr indent="0" lvl="0" marL="0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🚜 </a:t>
              </a:r>
              <a:r>
                <a:rPr b="0" i="0" lang="en-US" sz="37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Agricultura</a:t>
              </a:r>
              <a:r>
                <a:rPr b="0" i="0" lang="en-US" sz="3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sistemas de riego, drones, clima</a:t>
              </a:r>
              <a:endParaRPr sz="600"/>
            </a:p>
            <a:p>
              <a:pPr indent="0" lvl="0" marL="0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🏠 </a:t>
              </a:r>
              <a:r>
                <a:rPr b="0" i="0" lang="en-US" sz="37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Hogar</a:t>
              </a:r>
              <a:r>
                <a:rPr b="0" i="0" lang="en-US" sz="3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luces, persianas, electrodomésticos</a:t>
              </a:r>
              <a:endParaRPr sz="600"/>
            </a:p>
            <a:p>
              <a:pPr indent="0" lvl="0" marL="0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🧬 Salud: quirófanos robotizados, dispensación de medicina</a:t>
              </a:r>
              <a:endParaRPr sz="600"/>
            </a:p>
            <a:p>
              <a:pPr indent="0" lvl="0" marL="0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🚘 Transporte: frenos automáticos, control de crucero</a:t>
              </a:r>
              <a:endParaRPr sz="600"/>
            </a:p>
            <a:p>
              <a:pPr indent="0" lvl="0" marL="0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🔐 Seguridad: alarmas, sensores de movimiento</a:t>
              </a:r>
              <a:endParaRPr sz="600"/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16353532" y="38100"/>
              <a:ext cx="5486400" cy="5486400"/>
            </a:xfrm>
            <a:custGeom>
              <a:rect b="b" l="l" r="r" t="t"/>
              <a:pathLst>
                <a:path extrusionOk="0"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9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209" name="Google Shape;209;p9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0" name="Google Shape;210;p9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11" name="Google Shape;211;p9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9"/>
          <p:cNvSpPr txBox="1"/>
          <p:nvPr/>
        </p:nvSpPr>
        <p:spPr>
          <a:xfrm>
            <a:off x="4452268" y="738447"/>
            <a:ext cx="9383464" cy="2107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AUTOMATIZACIÓN EN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LA VIDA DIARIA</a:t>
            </a:r>
            <a:endParaRPr/>
          </a:p>
        </p:txBody>
      </p:sp>
      <p:grpSp>
        <p:nvGrpSpPr>
          <p:cNvPr id="213" name="Google Shape;213;p9"/>
          <p:cNvGrpSpPr/>
          <p:nvPr/>
        </p:nvGrpSpPr>
        <p:grpSpPr>
          <a:xfrm>
            <a:off x="1524000" y="3200818"/>
            <a:ext cx="15240075" cy="5352750"/>
            <a:chOff x="0" y="-9525"/>
            <a:chExt cx="20320100" cy="7137000"/>
          </a:xfrm>
        </p:grpSpPr>
        <p:sp>
          <p:nvSpPr>
            <p:cNvPr id="214" name="Google Shape;214;p9"/>
            <p:cNvSpPr txBox="1"/>
            <p:nvPr/>
          </p:nvSpPr>
          <p:spPr>
            <a:xfrm>
              <a:off x="6209600" y="-9525"/>
              <a:ext cx="14110500" cy="71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506747" lvl="1" marL="1153194" marR="0" rtl="0" algn="just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41"/>
                <a:buFont typeface="Arial"/>
                <a:buChar char="•"/>
              </a:pPr>
              <a:r>
                <a:rPr b="0" i="0" lang="en-US" sz="424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Faroles automáticos al anochecer</a:t>
              </a:r>
              <a:endParaRPr sz="300"/>
            </a:p>
            <a:p>
              <a:pPr indent="-506747" lvl="1" marL="1153194" marR="0" rtl="0" algn="just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41"/>
                <a:buFont typeface="Arial"/>
                <a:buChar char="•"/>
              </a:pPr>
              <a:r>
                <a:rPr b="0" i="0" lang="en-US" sz="424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Puertas que se abren solas</a:t>
              </a:r>
              <a:endParaRPr sz="300"/>
            </a:p>
            <a:p>
              <a:pPr indent="-506747" lvl="1" marL="1153194" marR="0" rtl="0" algn="just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41"/>
                <a:buFont typeface="Arial"/>
                <a:buChar char="•"/>
              </a:pPr>
              <a:r>
                <a:rPr b="0" i="0" lang="en-US" sz="424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Termoduchas que regulan la temperatura</a:t>
              </a:r>
              <a:endParaRPr sz="300"/>
            </a:p>
            <a:p>
              <a:pPr indent="-506747" lvl="1" marL="1153194" marR="0" rtl="0" algn="just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41"/>
                <a:buFont typeface="Arial"/>
                <a:buChar char="•"/>
              </a:pPr>
              <a:r>
                <a:rPr b="0" i="0" lang="en-US" sz="424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Dispensadores sin contacto</a:t>
              </a:r>
              <a:endParaRPr sz="300"/>
            </a:p>
            <a:p>
              <a:pPr indent="-506747" lvl="1" marL="1153194" marR="0" rtl="0" algn="just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41"/>
                <a:buFont typeface="Arial"/>
                <a:buChar char="•"/>
              </a:pPr>
              <a:r>
                <a:rPr b="0" i="0" lang="en-US" sz="424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Notificaciones automáticas del celular</a:t>
              </a:r>
              <a:endParaRPr sz="300"/>
            </a:p>
            <a:p>
              <a:pPr indent="-506747" lvl="1" marL="1153194" marR="0" rtl="0" algn="just">
                <a:lnSpc>
                  <a:spcPct val="11999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41"/>
                <a:buFont typeface="Arial"/>
                <a:buChar char="•"/>
              </a:pPr>
              <a:r>
                <a:rPr b="0" i="0" lang="en-US" sz="4241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Bots en redes sociales y apps</a:t>
              </a:r>
              <a:endParaRPr sz="300"/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0" y="129367"/>
              <a:ext cx="6209600" cy="6209600"/>
            </a:xfrm>
            <a:custGeom>
              <a:rect b="b" l="l" r="r" t="t"/>
              <a:pathLst>
                <a:path extrusionOk="0" h="6209600" w="6209600">
                  <a:moveTo>
                    <a:pt x="0" y="0"/>
                  </a:moveTo>
                  <a:lnTo>
                    <a:pt x="6209600" y="0"/>
                  </a:lnTo>
                  <a:lnTo>
                    <a:pt x="6209600" y="6209600"/>
                  </a:lnTo>
                  <a:lnTo>
                    <a:pt x="0" y="62096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10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221" name="Google Shape;221;p10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22" name="Google Shape;222;p10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23" name="Google Shape;223;p10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10"/>
          <p:cNvSpPr txBox="1"/>
          <p:nvPr/>
        </p:nvSpPr>
        <p:spPr>
          <a:xfrm>
            <a:off x="0" y="712412"/>
            <a:ext cx="182880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BENEFICIOS Y RETOS DE LA AUTOMATIZACIÓN</a:t>
            </a:r>
            <a:endParaRPr/>
          </a:p>
        </p:txBody>
      </p:sp>
      <p:grpSp>
        <p:nvGrpSpPr>
          <p:cNvPr id="225" name="Google Shape;225;p10"/>
          <p:cNvGrpSpPr/>
          <p:nvPr/>
        </p:nvGrpSpPr>
        <p:grpSpPr>
          <a:xfrm>
            <a:off x="2397811" y="3207962"/>
            <a:ext cx="13492379" cy="6007969"/>
            <a:chOff x="0" y="0"/>
            <a:chExt cx="17989838" cy="8010626"/>
          </a:xfrm>
        </p:grpSpPr>
        <p:sp>
          <p:nvSpPr>
            <p:cNvPr id="226" name="Google Shape;226;p10"/>
            <p:cNvSpPr/>
            <p:nvPr/>
          </p:nvSpPr>
          <p:spPr>
            <a:xfrm>
              <a:off x="10058400" y="178394"/>
              <a:ext cx="7931438" cy="7653838"/>
            </a:xfrm>
            <a:custGeom>
              <a:rect b="b" l="l" r="r" t="t"/>
              <a:pathLst>
                <a:path extrusionOk="0" h="7653838" w="7931438">
                  <a:moveTo>
                    <a:pt x="0" y="0"/>
                  </a:moveTo>
                  <a:lnTo>
                    <a:pt x="7931438" y="0"/>
                  </a:lnTo>
                  <a:lnTo>
                    <a:pt x="7931438" y="7653838"/>
                  </a:lnTo>
                  <a:lnTo>
                    <a:pt x="0" y="76538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27" name="Google Shape;227;p10"/>
            <p:cNvSpPr txBox="1"/>
            <p:nvPr/>
          </p:nvSpPr>
          <p:spPr>
            <a:xfrm>
              <a:off x="0" y="0"/>
              <a:ext cx="9267885" cy="80106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40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BENEFICIOS</a:t>
              </a:r>
              <a:endParaRPr/>
            </a:p>
            <a:p>
              <a:pPr indent="-393017" lvl="1" marL="786035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40"/>
                <a:buFont typeface="Arial"/>
                <a:buChar char="•"/>
              </a:pPr>
              <a:r>
                <a:rPr b="0" i="0" lang="en-US" sz="364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Mayor eficiencia y velocidad</a:t>
              </a:r>
              <a:endParaRPr/>
            </a:p>
            <a:p>
              <a:pPr indent="-393017" lvl="1" marL="786035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40"/>
                <a:buFont typeface="Arial"/>
                <a:buChar char="•"/>
              </a:pPr>
              <a:r>
                <a:rPr b="0" i="0" lang="en-US" sz="364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Reducción de errores humanos</a:t>
              </a:r>
              <a:endParaRPr/>
            </a:p>
            <a:p>
              <a:pPr indent="-393017" lvl="1" marL="786035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40"/>
                <a:buFont typeface="Arial"/>
                <a:buChar char="•"/>
              </a:pPr>
              <a:r>
                <a:rPr b="0" i="0" lang="en-US" sz="364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Mayor seguridad en entornos peligrosos</a:t>
              </a:r>
              <a:endParaRPr/>
            </a:p>
            <a:p>
              <a:pPr indent="-393017" lvl="1" marL="786035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40"/>
                <a:buFont typeface="Arial"/>
                <a:buChar char="•"/>
              </a:pPr>
              <a:r>
                <a:rPr b="0" i="0" lang="en-US" sz="364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Operación continua 24/7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40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RETOS</a:t>
              </a:r>
              <a:endParaRPr/>
            </a:p>
            <a:p>
              <a:pPr indent="-393017" lvl="1" marL="786035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40"/>
                <a:buFont typeface="Arial"/>
                <a:buChar char="•"/>
              </a:pPr>
              <a:r>
                <a:rPr b="0" i="0" lang="en-US" sz="364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Costo inicial alto</a:t>
              </a:r>
              <a:endParaRPr/>
            </a:p>
            <a:p>
              <a:pPr indent="-393017" lvl="1" marL="786035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40"/>
                <a:buFont typeface="Arial"/>
                <a:buChar char="•"/>
              </a:pPr>
              <a:r>
                <a:rPr b="0" i="0" lang="en-US" sz="364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Desplazamiento de empleos repetitivos</a:t>
              </a:r>
              <a:endParaRPr/>
            </a:p>
            <a:p>
              <a:pPr indent="-393017" lvl="1" marL="786035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40"/>
                <a:buFont typeface="Arial"/>
                <a:buChar char="•"/>
              </a:pPr>
              <a:r>
                <a:rPr b="0" i="0" lang="en-US" sz="364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Dependencia tecnológica</a:t>
              </a:r>
              <a:endParaRPr/>
            </a:p>
            <a:p>
              <a:pPr indent="-393017" lvl="1" marL="786035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40"/>
                <a:buFont typeface="Arial"/>
                <a:buChar char="•"/>
              </a:pPr>
              <a:r>
                <a:rPr b="0" i="0" lang="en-US" sz="364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Mantenimiento especializado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11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237" name="Google Shape;237;p11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8" name="Google Shape;238;p11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39" name="Google Shape;239;p11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1"/>
          <p:cNvSpPr txBox="1"/>
          <p:nvPr/>
        </p:nvSpPr>
        <p:spPr>
          <a:xfrm>
            <a:off x="0" y="836237"/>
            <a:ext cx="182880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RECORDANDO QUÉ ES UNA INTERRUPCIÓN</a:t>
            </a:r>
            <a:endParaRPr/>
          </a:p>
        </p:txBody>
      </p:sp>
      <p:grpSp>
        <p:nvGrpSpPr>
          <p:cNvPr id="241" name="Google Shape;241;p11"/>
          <p:cNvGrpSpPr/>
          <p:nvPr/>
        </p:nvGrpSpPr>
        <p:grpSpPr>
          <a:xfrm>
            <a:off x="956518" y="3076993"/>
            <a:ext cx="16374963" cy="5512594"/>
            <a:chOff x="0" y="-9525"/>
            <a:chExt cx="21833284" cy="7350125"/>
          </a:xfrm>
        </p:grpSpPr>
        <p:sp>
          <p:nvSpPr>
            <p:cNvPr id="242" name="Google Shape;242;p11"/>
            <p:cNvSpPr txBox="1"/>
            <p:nvPr/>
          </p:nvSpPr>
          <p:spPr>
            <a:xfrm>
              <a:off x="0" y="-9525"/>
              <a:ext cx="21833284" cy="2905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516551" lvl="1" marL="1033104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85"/>
                <a:buFont typeface="Arial"/>
                <a:buChar char="•"/>
              </a:pPr>
              <a:r>
                <a:rPr b="0" i="0" lang="en-US" sz="4785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Evento que detiene el flujo normal del programa para atender algo urgente.</a:t>
              </a:r>
              <a:endParaRPr/>
            </a:p>
            <a:p>
              <a:pPr indent="-516551" lvl="1" marL="1033104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85"/>
                <a:buFont typeface="Arial"/>
                <a:buChar char="•"/>
              </a:pPr>
              <a:r>
                <a:rPr b="0" i="0" lang="en-US" sz="4785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Respuesta inmediata, sin esperar el ciclo principal (</a:t>
              </a:r>
              <a:r>
                <a:rPr b="0" i="0" lang="en-US" sz="4785" u="none" cap="none" strike="noStrike">
                  <a:solidFill>
                    <a:srgbClr val="FFB400"/>
                  </a:solidFill>
                  <a:latin typeface="Arial"/>
                  <a:ea typeface="Arial"/>
                  <a:cs typeface="Arial"/>
                  <a:sym typeface="Arial"/>
                </a:rPr>
                <a:t>loop()</a:t>
              </a:r>
              <a:r>
                <a:rPr b="0" i="0" lang="en-US" sz="4785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/>
            </a:p>
            <a:p>
              <a:pPr indent="-516551" lvl="1" marL="1033104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85"/>
                <a:buFont typeface="Arial"/>
                <a:buChar char="•"/>
              </a:pPr>
              <a:r>
                <a:rPr b="0" i="0" lang="en-US" sz="4785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Ideal para reacciones críticas en automatización.</a:t>
              </a: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8694142" y="2895600"/>
              <a:ext cx="4445000" cy="4445000"/>
            </a:xfrm>
            <a:custGeom>
              <a:rect b="b" l="l" r="r" t="t"/>
              <a:pathLst>
                <a:path extrusionOk="0" h="44450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4445000"/>
                  </a:lnTo>
                  <a:lnTo>
                    <a:pt x="0" y="4445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12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253" name="Google Shape;253;p12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54" name="Google Shape;254;p12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55" name="Google Shape;255;p12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2"/>
          <p:cNvSpPr txBox="1"/>
          <p:nvPr/>
        </p:nvSpPr>
        <p:spPr>
          <a:xfrm>
            <a:off x="0" y="614232"/>
            <a:ext cx="18288000" cy="234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INTERRUPCIONES EN AUTOMATIZACIÓN</a:t>
            </a:r>
            <a:endParaRPr/>
          </a:p>
        </p:txBody>
      </p:sp>
      <p:grpSp>
        <p:nvGrpSpPr>
          <p:cNvPr id="257" name="Google Shape;257;p12"/>
          <p:cNvGrpSpPr/>
          <p:nvPr/>
        </p:nvGrpSpPr>
        <p:grpSpPr>
          <a:xfrm>
            <a:off x="2153022" y="3093662"/>
            <a:ext cx="13981956" cy="6336088"/>
            <a:chOff x="0" y="0"/>
            <a:chExt cx="18642608" cy="8448118"/>
          </a:xfrm>
        </p:grpSpPr>
        <p:sp>
          <p:nvSpPr>
            <p:cNvPr id="258" name="Google Shape;258;p12"/>
            <p:cNvSpPr txBox="1"/>
            <p:nvPr/>
          </p:nvSpPr>
          <p:spPr>
            <a:xfrm>
              <a:off x="0" y="0"/>
              <a:ext cx="18642608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509444" lvl="1" marL="1018887" marR="0" rtl="0" algn="just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9"/>
                <a:buFont typeface="Arial"/>
                <a:buChar char="•"/>
              </a:pPr>
              <a:r>
                <a:rPr b="0" i="0" lang="en-US" sz="47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Detectan y reaccionan a eventos críticos al instante.</a:t>
              </a:r>
              <a:endParaRPr/>
            </a:p>
            <a:p>
              <a:pPr indent="-509444" lvl="1" marL="1018887" marR="0" rtl="0" algn="just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9"/>
                <a:buFont typeface="Arial"/>
                <a:buChar char="•"/>
              </a:pPr>
              <a:r>
                <a:rPr b="0" i="0" lang="en-US" sz="47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Ideales para paros de emergencia o condiciones de seguridad.</a:t>
              </a:r>
              <a:endParaRPr/>
            </a:p>
            <a:p>
              <a:pPr indent="-509444" lvl="1" marL="1018887" marR="0" rtl="0" algn="just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19"/>
                <a:buFont typeface="Arial"/>
                <a:buChar char="•"/>
              </a:pPr>
              <a:r>
                <a:rPr b="0" i="0" lang="en-US" sz="47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Permiten supervisar múltiples procesos sin bloquear el programa.</a:t>
              </a:r>
              <a:endParaRPr/>
            </a:p>
          </p:txBody>
        </p:sp>
        <p:sp>
          <p:nvSpPr>
            <p:cNvPr id="259" name="Google Shape;259;p12"/>
            <p:cNvSpPr/>
            <p:nvPr/>
          </p:nvSpPr>
          <p:spPr>
            <a:xfrm>
              <a:off x="6463804" y="2733118"/>
              <a:ext cx="5715000" cy="5715000"/>
            </a:xfrm>
            <a:custGeom>
              <a:rect b="b" l="l" r="r" t="t"/>
              <a:pathLst>
                <a:path extrusionOk="0" h="57150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5715000"/>
                  </a:lnTo>
                  <a:lnTo>
                    <a:pt x="0" y="5715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13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265" name="Google Shape;265;p13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66" name="Google Shape;266;p13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67" name="Google Shape;267;p13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68" name="Google Shape;268;p13"/>
          <p:cNvGraphicFramePr/>
          <p:nvPr/>
        </p:nvGraphicFramePr>
        <p:xfrm>
          <a:off x="3309937" y="32079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{CE1A831A-B7C5-498F-A5F5-3F394D986A3A}</a:tableStyleId>
              </a:tblPr>
              <a:tblGrid>
                <a:gridCol w="1835700"/>
                <a:gridCol w="1835700"/>
                <a:gridCol w="2262175"/>
                <a:gridCol w="1835700"/>
              </a:tblGrid>
              <a:tr h="471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Caso de uso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Evento que dispara la interrupción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Acción inmediata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Beneficio clave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400"/>
                    </a:solidFill>
                  </a:tcPr>
                </a:tc>
              </a:tr>
              <a:tr h="471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Banda transportadora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Botón de paro de emergencia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Detener motor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Evita accidentes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Sistema de riego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Sensor de lluvia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Corta bomba de agua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Ahorro de agua y energía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Puerta automática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Fotocelda detecta obstáculo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Detiene cierre y se abre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Seguridad de personas/objetos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Alarma de intrusión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Sensor PIR detecta movimiento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Activa sirena y luces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Respuesta inmediata a intrusión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Ventilador industrial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Sensor de temperatura alta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Apaga motor o activa enfriamiento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Previene daños por sobrecalentamiento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Ascensor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Botón de apertura de emergencia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Detiene ascensor y abre puertas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Evita atrapamientos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Máquina de envasado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Sensor de tapa mal colocada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Pausa proceso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Garantiza calidad del producto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Impresora 3D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Sensor de filamento agotado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Pausa impresión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98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Evita impresiones fallidas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875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9" name="Google Shape;269;p13"/>
          <p:cNvSpPr txBox="1"/>
          <p:nvPr/>
        </p:nvSpPr>
        <p:spPr>
          <a:xfrm>
            <a:off x="0" y="864177"/>
            <a:ext cx="18288000" cy="1981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EJEMPLOS REALES DE USO DE INTERRUPCIONES EN AUTOMATIZACIÓN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14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279" name="Google Shape;279;p14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0" name="Google Shape;280;p14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81" name="Google Shape;281;p14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14"/>
          <p:cNvSpPr txBox="1"/>
          <p:nvPr/>
        </p:nvSpPr>
        <p:spPr>
          <a:xfrm>
            <a:off x="0" y="885825"/>
            <a:ext cx="18288000" cy="1981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¿REEMPLAZA LA AUTOMATIZACIÓN AL FACTOR HUMANO?</a:t>
            </a:r>
            <a:endParaRPr/>
          </a:p>
        </p:txBody>
      </p:sp>
      <p:grpSp>
        <p:nvGrpSpPr>
          <p:cNvPr id="283" name="Google Shape;283;p14"/>
          <p:cNvGrpSpPr/>
          <p:nvPr/>
        </p:nvGrpSpPr>
        <p:grpSpPr>
          <a:xfrm>
            <a:off x="1261170" y="3181768"/>
            <a:ext cx="15765661" cy="5817394"/>
            <a:chOff x="0" y="-9525"/>
            <a:chExt cx="21020881" cy="7756525"/>
          </a:xfrm>
        </p:grpSpPr>
        <p:sp>
          <p:nvSpPr>
            <p:cNvPr id="284" name="Google Shape;284;p14"/>
            <p:cNvSpPr/>
            <p:nvPr/>
          </p:nvSpPr>
          <p:spPr>
            <a:xfrm>
              <a:off x="7970441" y="2667000"/>
              <a:ext cx="5080000" cy="5080000"/>
            </a:xfrm>
            <a:custGeom>
              <a:rect b="b" l="l" r="r" t="t"/>
              <a:pathLst>
                <a:path extrusionOk="0" h="5080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5080000"/>
                  </a:lnTo>
                  <a:lnTo>
                    <a:pt x="0" y="5080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5" name="Google Shape;285;p14"/>
            <p:cNvSpPr txBox="1"/>
            <p:nvPr/>
          </p:nvSpPr>
          <p:spPr>
            <a:xfrm>
              <a:off x="0" y="-9525"/>
              <a:ext cx="21020881" cy="2676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474980" lvl="1" marL="949961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Char char="•"/>
              </a:pPr>
              <a:r>
                <a:rPr b="0" i="0" lang="en-US" sz="4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 algunos casos, sí sustituye tareas repetitivas o peligrosas.</a:t>
              </a:r>
              <a:endParaRPr/>
            </a:p>
            <a:p>
              <a:pPr indent="-474980" lvl="1" marL="949961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Char char="•"/>
              </a:pPr>
              <a:r>
                <a:rPr b="0" i="0" lang="en-US" sz="4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 otros, el humano sigue siendo esencial para supervisión y toma de decisiones.</a:t>
              </a:r>
              <a:endParaRPr/>
            </a:p>
            <a:p>
              <a:pPr indent="-474980" lvl="1" marL="949961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Char char="•"/>
              </a:pPr>
              <a:r>
                <a:rPr b="0" i="0" lang="en-US" sz="4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Automatización transforma el rol humano en lugar de eliminarlo por completo.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15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295" name="Google Shape;295;p15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6" name="Google Shape;296;p15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97" name="Google Shape;297;p15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8" name="Google Shape;298;p15"/>
          <p:cNvGrpSpPr/>
          <p:nvPr/>
        </p:nvGrpSpPr>
        <p:grpSpPr>
          <a:xfrm>
            <a:off x="928688" y="3312737"/>
            <a:ext cx="16430625" cy="4054611"/>
            <a:chOff x="0" y="0"/>
            <a:chExt cx="21907500" cy="5406147"/>
          </a:xfrm>
        </p:grpSpPr>
        <p:sp>
          <p:nvSpPr>
            <p:cNvPr id="299" name="Google Shape;299;p15"/>
            <p:cNvSpPr txBox="1"/>
            <p:nvPr/>
          </p:nvSpPr>
          <p:spPr>
            <a:xfrm>
              <a:off x="5406147" y="876157"/>
              <a:ext cx="16501353" cy="3644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485504" lvl="1" marL="971007" marR="0" rtl="0" algn="l">
                <a:lnSpc>
                  <a:spcPct val="1199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7"/>
                <a:buFont typeface="Arial"/>
                <a:buChar char="•"/>
              </a:pPr>
              <a:r>
                <a:rPr b="0" i="0" lang="en-US" sz="449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Tareas repetitivas y de bajo valor creativo</a:t>
              </a:r>
              <a:endParaRPr/>
            </a:p>
            <a:p>
              <a:pPr indent="-485504" lvl="1" marL="971007" marR="0" rtl="0" algn="l">
                <a:lnSpc>
                  <a:spcPct val="1199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7"/>
                <a:buFont typeface="Arial"/>
                <a:buChar char="•"/>
              </a:pPr>
              <a:r>
                <a:rPr b="0" i="0" lang="en-US" sz="449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Trabajos peligrosos o en entornos extremos</a:t>
              </a:r>
              <a:endParaRPr/>
            </a:p>
            <a:p>
              <a:pPr indent="-485504" lvl="1" marL="971007" marR="0" rtl="0" algn="l">
                <a:lnSpc>
                  <a:spcPct val="1199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7"/>
                <a:buFont typeface="Arial"/>
                <a:buChar char="•"/>
              </a:pPr>
              <a:r>
                <a:rPr b="0" i="0" lang="en-US" sz="449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Procesos que requieren alta velocidad y precisión constante</a:t>
              </a:r>
              <a:endParaRPr/>
            </a:p>
            <a:p>
              <a:pPr indent="-485504" lvl="1" marL="971007" marR="0" rtl="0" algn="l">
                <a:lnSpc>
                  <a:spcPct val="1199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7"/>
                <a:buFont typeface="Arial"/>
                <a:buChar char="•"/>
              </a:pPr>
              <a:r>
                <a:rPr b="0" i="0" lang="en-US" sz="449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Reducción de costos operativos a largo plazo</a:t>
              </a: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0" y="0"/>
              <a:ext cx="5406147" cy="5406147"/>
            </a:xfrm>
            <a:custGeom>
              <a:rect b="b" l="l" r="r" t="t"/>
              <a:pathLst>
                <a:path extrusionOk="0" h="5406147" w="5406147">
                  <a:moveTo>
                    <a:pt x="0" y="0"/>
                  </a:moveTo>
                  <a:lnTo>
                    <a:pt x="5406147" y="0"/>
                  </a:lnTo>
                  <a:lnTo>
                    <a:pt x="5406147" y="5406147"/>
                  </a:lnTo>
                  <a:lnTo>
                    <a:pt x="0" y="54061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01" name="Google Shape;301;p15"/>
          <p:cNvSpPr txBox="1"/>
          <p:nvPr/>
        </p:nvSpPr>
        <p:spPr>
          <a:xfrm>
            <a:off x="0" y="885825"/>
            <a:ext cx="18288000" cy="185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CASOS DONDE SÍ REEMPLAZA AL FACTOR HUMANO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16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311" name="Google Shape;311;p16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12" name="Google Shape;312;p16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313" name="Google Shape;313;p16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16"/>
          <p:cNvSpPr txBox="1"/>
          <p:nvPr/>
        </p:nvSpPr>
        <p:spPr>
          <a:xfrm>
            <a:off x="828000" y="885825"/>
            <a:ext cx="165744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CASOS DONDE NO REEMPLAZA AL FACTOR HUMANO</a:t>
            </a:r>
            <a:endParaRPr/>
          </a:p>
        </p:txBody>
      </p:sp>
      <p:grpSp>
        <p:nvGrpSpPr>
          <p:cNvPr id="315" name="Google Shape;315;p16"/>
          <p:cNvGrpSpPr/>
          <p:nvPr/>
        </p:nvGrpSpPr>
        <p:grpSpPr>
          <a:xfrm>
            <a:off x="1310775" y="3026968"/>
            <a:ext cx="16187947" cy="6396802"/>
            <a:chOff x="-598767" y="196308"/>
            <a:chExt cx="21583930" cy="8529069"/>
          </a:xfrm>
        </p:grpSpPr>
        <p:sp>
          <p:nvSpPr>
            <p:cNvPr id="316" name="Google Shape;316;p16"/>
            <p:cNvSpPr txBox="1"/>
            <p:nvPr/>
          </p:nvSpPr>
          <p:spPr>
            <a:xfrm>
              <a:off x="-598767" y="196308"/>
              <a:ext cx="16509900" cy="65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492711" lvl="1" marL="985422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64"/>
                <a:buFont typeface="Arial"/>
                <a:buChar char="•"/>
              </a:pPr>
              <a:r>
                <a:rPr b="0" i="0" lang="en-US" sz="456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Tareas que requieren juicio y toma de decisiones complejas</a:t>
              </a:r>
              <a:endParaRPr/>
            </a:p>
            <a:p>
              <a:pPr indent="-492711" lvl="1" marL="985422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64"/>
                <a:buFont typeface="Arial"/>
                <a:buChar char="•"/>
              </a:pPr>
              <a:r>
                <a:rPr b="0" i="0" lang="en-US" sz="456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Actividades creativas e innovadoras</a:t>
              </a:r>
              <a:endParaRPr/>
            </a:p>
            <a:p>
              <a:pPr indent="-492711" lvl="1" marL="985422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64"/>
                <a:buFont typeface="Arial"/>
                <a:buChar char="•"/>
              </a:pPr>
              <a:r>
                <a:rPr b="0" i="0" lang="en-US" sz="456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Interacción humana personalizada</a:t>
              </a:r>
              <a:endParaRPr/>
            </a:p>
            <a:p>
              <a:pPr indent="-492711" lvl="1" marL="985422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564"/>
                <a:buFont typeface="Arial"/>
                <a:buChar char="•"/>
              </a:pPr>
              <a:r>
                <a:rPr b="0" i="0" lang="en-US" sz="456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Mantenimiento y mejora de sistemas automatizados</a:t>
              </a:r>
              <a:endParaRPr/>
            </a:p>
          </p:txBody>
        </p:sp>
        <p:sp>
          <p:nvSpPr>
            <p:cNvPr id="317" name="Google Shape;317;p16"/>
            <p:cNvSpPr/>
            <p:nvPr/>
          </p:nvSpPr>
          <p:spPr>
            <a:xfrm>
              <a:off x="12622136" y="4250108"/>
              <a:ext cx="4475270" cy="4475270"/>
            </a:xfrm>
            <a:custGeom>
              <a:rect b="b" l="l" r="r" t="t"/>
              <a:pathLst>
                <a:path extrusionOk="0" h="4475270" w="4475270">
                  <a:moveTo>
                    <a:pt x="0" y="0"/>
                  </a:moveTo>
                  <a:lnTo>
                    <a:pt x="4475271" y="0"/>
                  </a:lnTo>
                  <a:lnTo>
                    <a:pt x="4475271" y="4475271"/>
                  </a:lnTo>
                  <a:lnTo>
                    <a:pt x="0" y="447527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8" name="Google Shape;318;p16"/>
            <p:cNvSpPr/>
            <p:nvPr/>
          </p:nvSpPr>
          <p:spPr>
            <a:xfrm>
              <a:off x="16509893" y="4250108"/>
              <a:ext cx="4475270" cy="4475270"/>
            </a:xfrm>
            <a:custGeom>
              <a:rect b="b" l="l" r="r" t="t"/>
              <a:pathLst>
                <a:path extrusionOk="0" h="4475270" w="4475270">
                  <a:moveTo>
                    <a:pt x="0" y="0"/>
                  </a:moveTo>
                  <a:lnTo>
                    <a:pt x="4475271" y="0"/>
                  </a:lnTo>
                  <a:lnTo>
                    <a:pt x="4475271" y="4475271"/>
                  </a:lnTo>
                  <a:lnTo>
                    <a:pt x="0" y="447527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17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328" name="Google Shape;328;p17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29" name="Google Shape;329;p17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330" name="Google Shape;330;p17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17"/>
          <p:cNvSpPr txBox="1"/>
          <p:nvPr/>
        </p:nvSpPr>
        <p:spPr>
          <a:xfrm>
            <a:off x="5415483" y="866775"/>
            <a:ext cx="7457033" cy="2072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RETOS Y NUEVAS</a:t>
            </a:r>
            <a:endParaRPr/>
          </a:p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OPORTUNIDADES</a:t>
            </a:r>
            <a:endParaRPr/>
          </a:p>
        </p:txBody>
      </p:sp>
      <p:grpSp>
        <p:nvGrpSpPr>
          <p:cNvPr id="332" name="Google Shape;332;p17"/>
          <p:cNvGrpSpPr/>
          <p:nvPr/>
        </p:nvGrpSpPr>
        <p:grpSpPr>
          <a:xfrm>
            <a:off x="1461979" y="3177350"/>
            <a:ext cx="15797321" cy="5815125"/>
            <a:chOff x="-441817" y="86184"/>
            <a:chExt cx="21063094" cy="7753500"/>
          </a:xfrm>
        </p:grpSpPr>
        <p:sp>
          <p:nvSpPr>
            <p:cNvPr id="333" name="Google Shape;333;p17"/>
            <p:cNvSpPr txBox="1"/>
            <p:nvPr/>
          </p:nvSpPr>
          <p:spPr>
            <a:xfrm>
              <a:off x="-441817" y="86184"/>
              <a:ext cx="18166200" cy="77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564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RETOS</a:t>
              </a:r>
              <a:endParaRPr sz="400"/>
            </a:p>
            <a:p>
              <a:pPr indent="-429211" lvl="1" marL="985422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64"/>
                <a:buFont typeface="Arial"/>
                <a:buChar char="•"/>
              </a:pPr>
              <a:r>
                <a:rPr b="0" i="0" lang="en-US" sz="356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Adaptación a nuevas tecnologías</a:t>
              </a:r>
              <a:endParaRPr sz="400"/>
            </a:p>
            <a:p>
              <a:pPr indent="-429211" lvl="1" marL="985422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64"/>
                <a:buFont typeface="Arial"/>
                <a:buChar char="•"/>
              </a:pPr>
              <a:r>
                <a:rPr b="0" i="0" lang="en-US" sz="356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Capacitación constante</a:t>
              </a:r>
              <a:endParaRPr sz="400"/>
            </a:p>
            <a:p>
              <a:pPr indent="-429211" lvl="1" marL="985422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64"/>
                <a:buFont typeface="Arial"/>
                <a:buChar char="•"/>
              </a:pPr>
              <a:r>
                <a:rPr b="0" i="0" lang="en-US" sz="356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Cambios en la estructura laboral</a:t>
              </a:r>
              <a:endParaRPr sz="400"/>
            </a:p>
            <a:p>
              <a:pPr indent="0" lvl="0" marL="0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56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564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OPORTUNIDADES</a:t>
              </a:r>
              <a:endParaRPr sz="400"/>
            </a:p>
            <a:p>
              <a:pPr indent="-429211" lvl="1" marL="985422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64"/>
                <a:buFont typeface="Arial"/>
                <a:buChar char="•"/>
              </a:pPr>
              <a:r>
                <a:rPr b="0" i="0" lang="en-US" sz="356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Nuevos puestos técnicos y especializados</a:t>
              </a:r>
              <a:endParaRPr sz="400"/>
            </a:p>
            <a:p>
              <a:pPr indent="-429211" lvl="1" marL="985422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64"/>
                <a:buFont typeface="Arial"/>
                <a:buChar char="•"/>
              </a:pPr>
              <a:r>
                <a:rPr b="0" i="0" lang="en-US" sz="356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Mayor seguridad en entornos peligrosos</a:t>
              </a:r>
              <a:endParaRPr sz="400"/>
            </a:p>
            <a:p>
              <a:pPr indent="-429211" lvl="1" marL="985422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64"/>
                <a:buFont typeface="Arial"/>
                <a:buChar char="•"/>
              </a:pPr>
              <a:r>
                <a:rPr b="0" i="0" lang="en-US" sz="356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Aumento de la productividad y calidad</a:t>
              </a:r>
              <a:endParaRPr sz="400"/>
            </a:p>
          </p:txBody>
        </p:sp>
        <p:sp>
          <p:nvSpPr>
            <p:cNvPr id="334" name="Google Shape;334;p17"/>
            <p:cNvSpPr/>
            <p:nvPr/>
          </p:nvSpPr>
          <p:spPr>
            <a:xfrm>
              <a:off x="16239777" y="1650484"/>
              <a:ext cx="4381500" cy="4229100"/>
            </a:xfrm>
            <a:custGeom>
              <a:rect b="b" l="l" r="r" t="t"/>
              <a:pathLst>
                <a:path extrusionOk="0" h="7620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18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340" name="Google Shape;340;p18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41" name="Google Shape;341;p18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342" name="Google Shape;342;p18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43" name="Google Shape;343;p18"/>
          <p:cNvGraphicFramePr/>
          <p:nvPr/>
        </p:nvGraphicFramePr>
        <p:xfrm>
          <a:off x="3201398" y="31889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{CE1A831A-B7C5-498F-A5F5-3F394D986A3A}</a:tableStyleId>
              </a:tblPr>
              <a:tblGrid>
                <a:gridCol w="3400400"/>
                <a:gridCol w="4000550"/>
                <a:gridCol w="4484250"/>
              </a:tblGrid>
              <a:tr h="61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Criterio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millis()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Interrupciones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400"/>
                    </a:solidFill>
                  </a:tcPr>
                </a:tc>
              </a:tr>
              <a:tr h="61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Velocidad de respuesta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Depende del ciclo del loop()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Inmediata al evento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Complejidad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Baja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 (manejo de ISR)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Uso de CPU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(polling constante)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(solo reacciona al evento)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Ideal para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Tareas periódicas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Eventos críticos/imprevisibles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Ejemplo típico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Leer temperatura cada 5 s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Detener motor si puerta se abre</a:t>
                      </a:r>
                      <a:endParaRPr sz="1100" u="none" cap="none" strike="noStrike"/>
                    </a:p>
                  </a:txBody>
                  <a:tcPr marT="126850" marB="126850" marR="126850" marL="126850" anchor="ctr">
                    <a:lnL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3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4" name="Google Shape;344;p18"/>
          <p:cNvSpPr/>
          <p:nvPr/>
        </p:nvSpPr>
        <p:spPr>
          <a:xfrm>
            <a:off x="7715250" y="6871881"/>
            <a:ext cx="2857500" cy="2857500"/>
          </a:xfrm>
          <a:custGeom>
            <a:rect b="b" l="l" r="r" t="t"/>
            <a:pathLst>
              <a:path extrusionOk="0" h="2857500" w="2857500">
                <a:moveTo>
                  <a:pt x="0" y="0"/>
                </a:moveTo>
                <a:lnTo>
                  <a:pt x="2857500" y="0"/>
                </a:lnTo>
                <a:lnTo>
                  <a:pt x="28575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5" name="Google Shape;345;p18"/>
          <p:cNvSpPr txBox="1"/>
          <p:nvPr/>
        </p:nvSpPr>
        <p:spPr>
          <a:xfrm>
            <a:off x="3064371" y="885825"/>
            <a:ext cx="12159258" cy="1981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COMPARACIÓN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FFB400"/>
                </a:solidFill>
                <a:latin typeface="Arial"/>
                <a:ea typeface="Arial"/>
                <a:cs typeface="Arial"/>
                <a:sym typeface="Arial"/>
              </a:rPr>
              <a:t>MILLIS()</a:t>
            </a:r>
            <a:r>
              <a:rPr b="0" i="0" lang="en-US" sz="56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 VS </a:t>
            </a:r>
            <a:r>
              <a:rPr b="0" i="0" lang="en-US" sz="5600" u="none" cap="none" strike="noStrike">
                <a:solidFill>
                  <a:srgbClr val="FFB400"/>
                </a:solidFill>
                <a:latin typeface="Arial"/>
                <a:ea typeface="Arial"/>
                <a:cs typeface="Arial"/>
                <a:sym typeface="Arial"/>
              </a:rPr>
              <a:t>INTERRUPCIONES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19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351" name="Google Shape;351;p19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52" name="Google Shape;352;p19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353" name="Google Shape;353;p19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19"/>
          <p:cNvSpPr txBox="1"/>
          <p:nvPr/>
        </p:nvSpPr>
        <p:spPr>
          <a:xfrm>
            <a:off x="1192900" y="3114125"/>
            <a:ext cx="14735700" cy="59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🌍 Identificó usos de la automatización en distintos sectores, desde la industria hasta la vida cotidiana.</a:t>
            </a:r>
            <a:endParaRPr sz="10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🚨 Reconoció el papel de las interrupciones en Arduino para responder a eventos críticos sin retrasos.</a:t>
            </a:r>
            <a:endParaRPr sz="10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Comparó el uso de </a:t>
            </a:r>
            <a:r>
              <a:rPr b="0" i="0" lang="en-US" sz="3280" u="none" cap="none" strike="noStrike">
                <a:solidFill>
                  <a:srgbClr val="FFB400"/>
                </a:solidFill>
                <a:latin typeface="Arial"/>
                <a:ea typeface="Arial"/>
                <a:cs typeface="Arial"/>
                <a:sym typeface="Arial"/>
              </a:rPr>
              <a:t>millis()</a:t>
            </a:r>
            <a:r>
              <a:rPr b="0" i="0" lang="en-US" sz="32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frente a interrupciones, entendiendo cuándo es más eficiente cada método.</a:t>
            </a:r>
            <a:endParaRPr sz="10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👥 Analizó el impacto de la automatización en el factor humano, diferenciando entre reemplazo y apoyo en las tareas.</a:t>
            </a:r>
            <a:endParaRPr sz="10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🔧 Observó ejemplos reales de automatización aplicados a sensores, actuadores y control de procesos.</a:t>
            </a:r>
            <a:endParaRPr sz="1000"/>
          </a:p>
        </p:txBody>
      </p:sp>
      <p:sp>
        <p:nvSpPr>
          <p:cNvPr id="355" name="Google Shape;355;p19"/>
          <p:cNvSpPr/>
          <p:nvPr/>
        </p:nvSpPr>
        <p:spPr>
          <a:xfrm>
            <a:off x="15314038" y="7454739"/>
            <a:ext cx="2143125" cy="2143125"/>
          </a:xfrm>
          <a:custGeom>
            <a:rect b="b" l="l" r="r" t="t"/>
            <a:pathLst>
              <a:path extrusionOk="0" h="2143125" w="2143125">
                <a:moveTo>
                  <a:pt x="0" y="0"/>
                </a:moveTo>
                <a:lnTo>
                  <a:pt x="2143125" y="0"/>
                </a:lnTo>
                <a:lnTo>
                  <a:pt x="21431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19"/>
          <p:cNvSpPr txBox="1"/>
          <p:nvPr/>
        </p:nvSpPr>
        <p:spPr>
          <a:xfrm>
            <a:off x="4381500" y="876300"/>
            <a:ext cx="95250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CONCEPTOS CLAVE APRENDIDOS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20"/>
          <p:cNvGrpSpPr/>
          <p:nvPr/>
        </p:nvGrpSpPr>
        <p:grpSpPr>
          <a:xfrm>
            <a:off x="768248" y="785682"/>
            <a:ext cx="16753209" cy="8716522"/>
            <a:chOff x="0" y="0"/>
            <a:chExt cx="69085396" cy="35944420"/>
          </a:xfrm>
        </p:grpSpPr>
        <p:sp>
          <p:nvSpPr>
            <p:cNvPr id="362" name="Google Shape;362;p20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63" name="Google Shape;363;p20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364" name="Google Shape;364;p20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65" name="Google Shape;365;p20"/>
          <p:cNvGrpSpPr/>
          <p:nvPr/>
        </p:nvGrpSpPr>
        <p:grpSpPr>
          <a:xfrm>
            <a:off x="1028700" y="3019843"/>
            <a:ext cx="16726688" cy="5899500"/>
            <a:chOff x="0" y="-9525"/>
            <a:chExt cx="22302250" cy="7866000"/>
          </a:xfrm>
        </p:grpSpPr>
        <p:sp>
          <p:nvSpPr>
            <p:cNvPr id="366" name="Google Shape;366;p20"/>
            <p:cNvSpPr txBox="1"/>
            <p:nvPr/>
          </p:nvSpPr>
          <p:spPr>
            <a:xfrm>
              <a:off x="0" y="-9525"/>
              <a:ext cx="17780100" cy="786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Curiosidad técnica</a:t>
              </a:r>
              <a:r>
                <a:rPr b="0" i="0" lang="en-US" sz="26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sz="600"/>
            </a:p>
            <a:p>
              <a:pPr indent="0" lvl="0" marL="0" marR="0" rtl="0" algn="just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Impulsó el interés por descubrir cómo los sistemas automatizados toman decisiones y actúan en tiempo real, fomentando la experimentación y la integración de hardware y software.</a:t>
              </a:r>
              <a:endParaRPr sz="600"/>
            </a:p>
            <a:p>
              <a:pPr indent="0" lvl="0" marL="0" marR="0" rtl="0" algn="just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Pensamiento crítico</a:t>
              </a:r>
              <a:r>
                <a:rPr b="0" i="0" lang="en-US" sz="26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sz="600"/>
            </a:p>
            <a:p>
              <a:pPr indent="0" lvl="0" marL="0" marR="0" rtl="0" algn="just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Promovió el análisis de las ventajas y limitaciones de cada técnica de programación (</a:t>
              </a:r>
              <a:r>
                <a:rPr b="0" i="0" lang="en-US" sz="2699" u="none" cap="none" strike="noStrike">
                  <a:solidFill>
                    <a:srgbClr val="FFB400"/>
                  </a:solidFill>
                  <a:latin typeface="Arial"/>
                  <a:ea typeface="Arial"/>
                  <a:cs typeface="Arial"/>
                  <a:sym typeface="Arial"/>
                </a:rPr>
                <a:t>millis()</a:t>
              </a:r>
              <a:r>
                <a:rPr b="0" i="0" lang="en-US" sz="26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vs </a:t>
              </a:r>
              <a:r>
                <a:rPr b="0" i="0" lang="en-US" sz="2699" u="none" cap="none" strike="noStrike">
                  <a:solidFill>
                    <a:srgbClr val="FFB400"/>
                  </a:solidFill>
                  <a:latin typeface="Arial"/>
                  <a:ea typeface="Arial"/>
                  <a:cs typeface="Arial"/>
                  <a:sym typeface="Arial"/>
                </a:rPr>
                <a:t>interrupciones</a:t>
              </a:r>
              <a:r>
                <a:rPr b="0" i="0" lang="en-US" sz="26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), evaluando su impacto en la eficiencia del sistema.</a:t>
              </a:r>
              <a:endParaRPr sz="600"/>
            </a:p>
            <a:p>
              <a:pPr indent="0" lvl="0" marL="0" marR="0" rtl="0" algn="just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Responsabilidad profesional</a:t>
              </a:r>
              <a:r>
                <a:rPr b="0" i="0" lang="en-US" sz="26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sz="600"/>
            </a:p>
            <a:p>
              <a:pPr indent="0" lvl="0" marL="0" marR="0" rtl="0" algn="just">
                <a:lnSpc>
                  <a:spcPct val="12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Refuerza la importancia de diseñar sistemas automatizados seguros, confiables y que consideren la interacción con el factor humano.</a:t>
              </a:r>
              <a:endParaRPr sz="600"/>
            </a:p>
          </p:txBody>
        </p:sp>
        <p:sp>
          <p:nvSpPr>
            <p:cNvPr id="367" name="Google Shape;367;p20"/>
            <p:cNvSpPr/>
            <p:nvPr/>
          </p:nvSpPr>
          <p:spPr>
            <a:xfrm>
              <a:off x="18968500" y="1519388"/>
              <a:ext cx="3333750" cy="3367088"/>
            </a:xfrm>
            <a:custGeom>
              <a:rect b="b" l="l" r="r" t="t"/>
              <a:pathLst>
                <a:path extrusionOk="0" h="4445000" w="4445000">
                  <a:moveTo>
                    <a:pt x="0" y="0"/>
                  </a:moveTo>
                  <a:lnTo>
                    <a:pt x="4445000" y="0"/>
                  </a:lnTo>
                  <a:lnTo>
                    <a:pt x="4445000" y="4445000"/>
                  </a:lnTo>
                  <a:lnTo>
                    <a:pt x="0" y="4445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68" name="Google Shape;368;p20"/>
          <p:cNvSpPr txBox="1"/>
          <p:nvPr/>
        </p:nvSpPr>
        <p:spPr>
          <a:xfrm>
            <a:off x="4381500" y="876300"/>
            <a:ext cx="95250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NOMBRE DEL VALOR Y/O ACTITUD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21"/>
          <p:cNvGrpSpPr/>
          <p:nvPr/>
        </p:nvGrpSpPr>
        <p:grpSpPr>
          <a:xfrm>
            <a:off x="2000250" y="3307556"/>
            <a:ext cx="9053422" cy="3636169"/>
            <a:chOff x="0" y="-47625"/>
            <a:chExt cx="12071229" cy="4848225"/>
          </a:xfrm>
        </p:grpSpPr>
        <p:sp>
          <p:nvSpPr>
            <p:cNvPr id="374" name="Google Shape;374;p21"/>
            <p:cNvSpPr txBox="1"/>
            <p:nvPr/>
          </p:nvSpPr>
          <p:spPr>
            <a:xfrm>
              <a:off x="0" y="-47625"/>
              <a:ext cx="12071229" cy="324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8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¡GRACIAS POR SU ATENCIÓN!</a:t>
              </a:r>
              <a:endParaRPr/>
            </a:p>
          </p:txBody>
        </p:sp>
        <p:sp>
          <p:nvSpPr>
            <p:cNvPr id="375" name="Google Shape;375;p21"/>
            <p:cNvSpPr txBox="1"/>
            <p:nvPr/>
          </p:nvSpPr>
          <p:spPr>
            <a:xfrm>
              <a:off x="0" y="3152775"/>
              <a:ext cx="12071229" cy="164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8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¿DUDAS?</a:t>
              </a:r>
              <a:endParaRPr/>
            </a:p>
          </p:txBody>
        </p:sp>
      </p:grpSp>
      <p:sp>
        <p:nvSpPr>
          <p:cNvPr id="376" name="Google Shape;376;p21"/>
          <p:cNvSpPr txBox="1"/>
          <p:nvPr/>
        </p:nvSpPr>
        <p:spPr>
          <a:xfrm>
            <a:off x="2000250" y="8496300"/>
            <a:ext cx="1428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SEMANA.</a:t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13530482" y="3258015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