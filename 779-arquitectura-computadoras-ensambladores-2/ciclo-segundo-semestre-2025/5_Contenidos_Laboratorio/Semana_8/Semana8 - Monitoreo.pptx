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pWta4YlDtAd3ctaY+Hie+R3ui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0fdfeaef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a0fdfeae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a0fdfeaef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a0fdfeaefe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a0fdfeaefe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CURSO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12573000" y="0"/>
            <a:ext cx="5715000" cy="1514631"/>
          </a:xfrm>
          <a:custGeom>
            <a:rect b="b" l="l" r="r" t="t"/>
            <a:pathLst>
              <a:path extrusionOk="0" h="1514631" w="5715000">
                <a:moveTo>
                  <a:pt x="0" y="0"/>
                </a:moveTo>
                <a:lnTo>
                  <a:pt x="5715000" y="0"/>
                </a:lnTo>
                <a:lnTo>
                  <a:pt x="5715000" y="1514631"/>
                </a:lnTo>
                <a:lnTo>
                  <a:pt x="0" y="151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2383741" y="2128786"/>
            <a:ext cx="4254333" cy="4254333"/>
          </a:xfrm>
          <a:custGeom>
            <a:rect b="b" l="l" r="r" t="t"/>
            <a:pathLst>
              <a:path extrusionOk="0" h="4254333" w="4254333">
                <a:moveTo>
                  <a:pt x="0" y="0"/>
                </a:moveTo>
                <a:lnTo>
                  <a:pt x="4254334" y="0"/>
                </a:lnTo>
                <a:lnTo>
                  <a:pt x="4254334" y="4254333"/>
                </a:lnTo>
                <a:lnTo>
                  <a:pt x="0" y="4254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13716000" y="5800358"/>
            <a:ext cx="3718305" cy="3718305"/>
          </a:xfrm>
          <a:custGeom>
            <a:rect b="b" l="l" r="r" t="t"/>
            <a:pathLst>
              <a:path extrusionOk="0" h="3718305" w="3718305">
                <a:moveTo>
                  <a:pt x="0" y="0"/>
                </a:moveTo>
                <a:lnTo>
                  <a:pt x="3718305" y="0"/>
                </a:lnTo>
                <a:lnTo>
                  <a:pt x="3718305" y="3718306"/>
                </a:lnTo>
                <a:lnTo>
                  <a:pt x="0" y="3718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10048135" y="5301652"/>
            <a:ext cx="3956648" cy="3956648"/>
          </a:xfrm>
          <a:custGeom>
            <a:rect b="b" l="l" r="r" t="t"/>
            <a:pathLst>
              <a:path extrusionOk="0" h="3956648" w="3956648">
                <a:moveTo>
                  <a:pt x="0" y="0"/>
                </a:moveTo>
                <a:lnTo>
                  <a:pt x="3956647" y="0"/>
                </a:lnTo>
                <a:lnTo>
                  <a:pt x="3956647" y="3956648"/>
                </a:lnTo>
                <a:lnTo>
                  <a:pt x="0" y="3956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6" name="Google Shape;96;p1"/>
          <p:cNvGrpSpPr/>
          <p:nvPr/>
        </p:nvGrpSpPr>
        <p:grpSpPr>
          <a:xfrm>
            <a:off x="-96981" y="2363946"/>
            <a:ext cx="9369136" cy="5523389"/>
            <a:chOff x="0" y="-47625"/>
            <a:chExt cx="12492181" cy="7364519"/>
          </a:xfrm>
        </p:grpSpPr>
        <p:sp>
          <p:nvSpPr>
            <p:cNvPr id="97" name="Google Shape;97;p1"/>
            <p:cNvSpPr txBox="1"/>
            <p:nvPr/>
          </p:nvSpPr>
          <p:spPr>
            <a:xfrm>
              <a:off x="1562937" y="2686050"/>
              <a:ext cx="9366307" cy="4630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199" u="none" cap="none" strike="noStrike">
                  <a:solidFill>
                    <a:srgbClr val="FFB400"/>
                  </a:solidFill>
                  <a:latin typeface="Arial"/>
                  <a:ea typeface="Arial"/>
                  <a:cs typeface="Arial"/>
                  <a:sym typeface="Arial"/>
                </a:rPr>
                <a:t>Arquitectura de Computadores y Ensambladores 2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Escuela de Ingeniería de Ciencias Y Sistemas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Facultad de Ingeniería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Universidad de San Carlos de Guatemala</a:t>
              </a:r>
              <a:endParaRPr/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0" y="-47625"/>
              <a:ext cx="12492181" cy="2790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799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MONITOREO DE DATOS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04" name="Google Shape;104;p2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06" name="Google Shape;106;p2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2"/>
          <p:cNvSpPr txBox="1"/>
          <p:nvPr/>
        </p:nvSpPr>
        <p:spPr>
          <a:xfrm>
            <a:off x="3667125" y="1500708"/>
            <a:ext cx="1095375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369949" y="3500062"/>
            <a:ext cx="13713707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95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Horarios de calificación se publicarán entre semana</a:t>
            </a:r>
            <a:endParaRPr/>
          </a:p>
          <a:p>
            <a:pPr indent="0" lvl="0" marL="0" marR="0" rtl="0" algn="l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📄 Agregar dudas al Foro </a:t>
            </a:r>
            <a:endParaRPr/>
          </a:p>
          <a:p>
            <a:pPr indent="0" lvl="0" marL="0" marR="0" rtl="0" algn="l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Conferencia del Curso - Sábado 20/09</a:t>
            </a:r>
            <a:endParaRPr/>
          </a:p>
          <a:p>
            <a:pPr indent="0" lvl="0" marL="0" marR="0" rtl="0" algn="l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9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14109216" y="6181092"/>
            <a:ext cx="2941373" cy="2941373"/>
          </a:xfrm>
          <a:custGeom>
            <a:rect b="b" l="l" r="r" t="t"/>
            <a:pathLst>
              <a:path extrusionOk="0" h="2941373" w="2941373">
                <a:moveTo>
                  <a:pt x="0" y="0"/>
                </a:moveTo>
                <a:lnTo>
                  <a:pt x="2941373" y="0"/>
                </a:lnTo>
                <a:lnTo>
                  <a:pt x="2941373" y="2941372"/>
                </a:lnTo>
                <a:lnTo>
                  <a:pt x="0" y="2941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3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15" name="Google Shape;115;p3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3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17" name="Google Shape;117;p3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3"/>
          <p:cNvSpPr txBox="1"/>
          <p:nvPr/>
        </p:nvSpPr>
        <p:spPr>
          <a:xfrm>
            <a:off x="4857750" y="1500708"/>
            <a:ext cx="85725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COMPETENCIA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92145" y="3026987"/>
            <a:ext cx="5715000" cy="5715000"/>
          </a:xfrm>
          <a:custGeom>
            <a:rect b="b" l="l" r="r" t="t"/>
            <a:pathLst>
              <a:path extrusionOk="0" h="5715000" w="5715000">
                <a:moveTo>
                  <a:pt x="0" y="0"/>
                </a:moveTo>
                <a:lnTo>
                  <a:pt x="5715000" y="0"/>
                </a:lnTo>
                <a:lnTo>
                  <a:pt x="57150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3"/>
          <p:cNvSpPr txBox="1"/>
          <p:nvPr/>
        </p:nvSpPr>
        <p:spPr>
          <a:xfrm>
            <a:off x="5027823" y="3188912"/>
            <a:ext cx="11616339" cy="6253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estudiante diseña una interfaz gráfica para visualización de datos en tiempo real usando herramientas como Grafana  para representar información recolectada desde sensores conectados a Raspberry Pi. 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estudiante integra soluciones IoT utilizando hardware, software y análisis de datos mediante metodologías activas como ABP (aprendizaje basado en proyectos) para resolver problemas prácticos en áreas como automatización y monitoreo ambiental.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4"/>
          <p:cNvGrpSpPr/>
          <p:nvPr/>
        </p:nvGrpSpPr>
        <p:grpSpPr>
          <a:xfrm>
            <a:off x="768248" y="696489"/>
            <a:ext cx="16751504" cy="8715635"/>
            <a:chOff x="0" y="0"/>
            <a:chExt cx="69085396" cy="35944420"/>
          </a:xfrm>
        </p:grpSpPr>
        <p:sp>
          <p:nvSpPr>
            <p:cNvPr id="126" name="Google Shape;126;p4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7" name="Google Shape;127;p4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28" name="Google Shape;128;p4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4"/>
          <p:cNvSpPr txBox="1"/>
          <p:nvPr/>
        </p:nvSpPr>
        <p:spPr>
          <a:xfrm>
            <a:off x="1390346" y="4325206"/>
            <a:ext cx="9792307" cy="3067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📍     Introducción al monitoreo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🧪     Monitoreo de datos con Grafana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🔌     Creación de Dashboards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🧷     Ejemplo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10920412" y="3207962"/>
            <a:ext cx="5715000" cy="5715000"/>
          </a:xfrm>
          <a:custGeom>
            <a:rect b="b" l="l" r="r" t="t"/>
            <a:pathLst>
              <a:path extrusionOk="0" h="5715000" w="5715000">
                <a:moveTo>
                  <a:pt x="0" y="0"/>
                </a:moveTo>
                <a:lnTo>
                  <a:pt x="5715000" y="0"/>
                </a:lnTo>
                <a:lnTo>
                  <a:pt x="57150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4"/>
          <p:cNvSpPr txBox="1"/>
          <p:nvPr/>
        </p:nvSpPr>
        <p:spPr>
          <a:xfrm>
            <a:off x="6286500" y="1500708"/>
            <a:ext cx="57150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5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37" name="Google Shape;137;p5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8" name="Google Shape;138;p5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39" name="Google Shape;139;p5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5"/>
          <p:cNvSpPr txBox="1"/>
          <p:nvPr/>
        </p:nvSpPr>
        <p:spPr>
          <a:xfrm>
            <a:off x="1253885" y="3238471"/>
            <a:ext cx="15780230" cy="5540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monitoreo es el proceso de recoger, visualizar y analizar datos de sistemas, dispositivos o aplicaciones para entender su comportamiento, detectar fallos y optimizar su rendimiento.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Importancia:</a:t>
            </a:r>
            <a:endParaRPr/>
          </a:p>
          <a:p>
            <a:pPr indent="-441489" lvl="1" marL="882978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89"/>
              <a:buFont typeface="Arial"/>
              <a:buChar char="•"/>
            </a:pPr>
            <a:r>
              <a:rPr b="0" i="0" lang="en-US" sz="40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detectar problemas antes de que afecten al usuario.</a:t>
            </a:r>
            <a:endParaRPr/>
          </a:p>
          <a:p>
            <a:pPr indent="-441489" lvl="1" marL="882978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89"/>
              <a:buFont typeface="Arial"/>
              <a:buChar char="•"/>
            </a:pPr>
            <a:r>
              <a:rPr b="0" i="0" lang="en-US" sz="40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Ayuda a tomar decisiones basadas en datos (data-driven).</a:t>
            </a:r>
            <a:endParaRPr/>
          </a:p>
          <a:p>
            <a:pPr indent="-441489" lvl="1" marL="882978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89"/>
              <a:buFont typeface="Arial"/>
              <a:buChar char="•"/>
            </a:pPr>
            <a:r>
              <a:rPr b="0" i="0" lang="en-US" sz="40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 el mantenimiento preventivo.</a:t>
            </a:r>
            <a:endParaRPr/>
          </a:p>
          <a:p>
            <a:pPr indent="-441489" lvl="1" marL="882978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89"/>
              <a:buFont typeface="Arial"/>
              <a:buChar char="•"/>
            </a:pPr>
            <a:r>
              <a:rPr b="0" i="0" lang="en-US" sz="40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 la eficiencia y reduce costos.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3676052" y="5657617"/>
            <a:ext cx="3843700" cy="3843700"/>
          </a:xfrm>
          <a:custGeom>
            <a:rect b="b" l="l" r="r" t="t"/>
            <a:pathLst>
              <a:path extrusionOk="0" h="3843700" w="3843700">
                <a:moveTo>
                  <a:pt x="0" y="0"/>
                </a:moveTo>
                <a:lnTo>
                  <a:pt x="3843700" y="0"/>
                </a:lnTo>
                <a:lnTo>
                  <a:pt x="3843700" y="3843701"/>
                </a:lnTo>
                <a:lnTo>
                  <a:pt x="0" y="3843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5"/>
          <p:cNvSpPr txBox="1"/>
          <p:nvPr/>
        </p:nvSpPr>
        <p:spPr>
          <a:xfrm>
            <a:off x="571500" y="1548333"/>
            <a:ext cx="17162949" cy="1024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6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INTRODUCCIÓN AL MONITOREO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6"/>
          <p:cNvGrpSpPr/>
          <p:nvPr/>
        </p:nvGrpSpPr>
        <p:grpSpPr>
          <a:xfrm>
            <a:off x="944494" y="229387"/>
            <a:ext cx="16751504" cy="9510543"/>
            <a:chOff x="0" y="0"/>
            <a:chExt cx="69085396" cy="39222725"/>
          </a:xfrm>
        </p:grpSpPr>
        <p:sp>
          <p:nvSpPr>
            <p:cNvPr id="148" name="Google Shape;148;p6"/>
            <p:cNvSpPr/>
            <p:nvPr/>
          </p:nvSpPr>
          <p:spPr>
            <a:xfrm>
              <a:off x="72390" y="72390"/>
              <a:ext cx="68940619" cy="39077946"/>
            </a:xfrm>
            <a:custGeom>
              <a:rect b="b" l="l" r="r" t="t"/>
              <a:pathLst>
                <a:path extrusionOk="0" h="39077946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9077946"/>
                  </a:lnTo>
                  <a:lnTo>
                    <a:pt x="0" y="390779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9" name="Google Shape;149;p6"/>
            <p:cNvSpPr/>
            <p:nvPr/>
          </p:nvSpPr>
          <p:spPr>
            <a:xfrm>
              <a:off x="0" y="0"/>
              <a:ext cx="69085396" cy="39222725"/>
            </a:xfrm>
            <a:custGeom>
              <a:rect b="b" l="l" r="r" t="t"/>
              <a:pathLst>
                <a:path extrusionOk="0" h="39222725" w="69085396">
                  <a:moveTo>
                    <a:pt x="68940617" y="39077947"/>
                  </a:moveTo>
                  <a:lnTo>
                    <a:pt x="69085396" y="39077947"/>
                  </a:lnTo>
                  <a:lnTo>
                    <a:pt x="69085396" y="39222725"/>
                  </a:lnTo>
                  <a:lnTo>
                    <a:pt x="68940617" y="39222725"/>
                  </a:lnTo>
                  <a:lnTo>
                    <a:pt x="68940617" y="3907794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9077947"/>
                  </a:lnTo>
                  <a:lnTo>
                    <a:pt x="0" y="39077947"/>
                  </a:lnTo>
                  <a:lnTo>
                    <a:pt x="0" y="144780"/>
                  </a:lnTo>
                  <a:close/>
                  <a:moveTo>
                    <a:pt x="0" y="39077947"/>
                  </a:moveTo>
                  <a:lnTo>
                    <a:pt x="144780" y="39077947"/>
                  </a:lnTo>
                  <a:lnTo>
                    <a:pt x="144780" y="39222725"/>
                  </a:lnTo>
                  <a:lnTo>
                    <a:pt x="0" y="39222725"/>
                  </a:lnTo>
                  <a:lnTo>
                    <a:pt x="0" y="39077947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9077947"/>
                  </a:lnTo>
                  <a:lnTo>
                    <a:pt x="68940617" y="39077947"/>
                  </a:lnTo>
                  <a:lnTo>
                    <a:pt x="68940617" y="144780"/>
                  </a:lnTo>
                  <a:close/>
                  <a:moveTo>
                    <a:pt x="144780" y="39077947"/>
                  </a:moveTo>
                  <a:lnTo>
                    <a:pt x="68940617" y="39077947"/>
                  </a:lnTo>
                  <a:lnTo>
                    <a:pt x="68940617" y="39222725"/>
                  </a:lnTo>
                  <a:lnTo>
                    <a:pt x="144780" y="39222725"/>
                  </a:lnTo>
                  <a:lnTo>
                    <a:pt x="144780" y="39077947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50" name="Google Shape;150;p6"/>
          <p:cNvCxnSpPr/>
          <p:nvPr/>
        </p:nvCxnSpPr>
        <p:spPr>
          <a:xfrm>
            <a:off x="1146010" y="1782692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6"/>
          <p:cNvSpPr/>
          <p:nvPr/>
        </p:nvSpPr>
        <p:spPr>
          <a:xfrm>
            <a:off x="13266106" y="5687208"/>
            <a:ext cx="3350528" cy="3350528"/>
          </a:xfrm>
          <a:custGeom>
            <a:rect b="b" l="l" r="r" t="t"/>
            <a:pathLst>
              <a:path extrusionOk="0" h="3350528" w="3350528">
                <a:moveTo>
                  <a:pt x="0" y="0"/>
                </a:moveTo>
                <a:lnTo>
                  <a:pt x="3350528" y="0"/>
                </a:lnTo>
                <a:lnTo>
                  <a:pt x="3350528" y="3350529"/>
                </a:lnTo>
                <a:lnTo>
                  <a:pt x="0" y="3350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6"/>
          <p:cNvSpPr txBox="1"/>
          <p:nvPr/>
        </p:nvSpPr>
        <p:spPr>
          <a:xfrm>
            <a:off x="768248" y="596757"/>
            <a:ext cx="16986124" cy="1015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MONITOREO EN EL CONTEXTO DEL IOT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1485715" y="2367428"/>
            <a:ext cx="15669063" cy="3067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Necesidad de monitoreo en IoT:</a:t>
            </a:r>
            <a:endParaRPr/>
          </a:p>
          <a:p>
            <a:pPr indent="-432443" lvl="1" marL="864887" marR="0" rtl="0" algn="just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5"/>
              <a:buFont typeface="Arial"/>
              <a:buChar char="•"/>
            </a:pPr>
            <a:r>
              <a:rPr b="0" i="0" lang="en-US" sz="40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dispositivos generan grandes volúmenes de datos.</a:t>
            </a:r>
            <a:endParaRPr/>
          </a:p>
          <a:p>
            <a:pPr indent="-432443" lvl="1" marL="864887" marR="0" rtl="0" algn="just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5"/>
              <a:buFont typeface="Arial"/>
              <a:buChar char="•"/>
            </a:pPr>
            <a:r>
              <a:rPr b="0" i="0" lang="en-US" sz="40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necesario vigilar su estado, rendimiento, y datos ambientales (temperatura, humedad, consumo energético, etc.).</a:t>
            </a:r>
            <a:endParaRPr/>
          </a:p>
          <a:p>
            <a:pPr indent="0" lvl="0" marL="0" marR="0" rtl="0" algn="just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1485715" y="5124450"/>
            <a:ext cx="15669063" cy="3067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Desafíos:</a:t>
            </a:r>
            <a:endParaRPr/>
          </a:p>
          <a:p>
            <a:pPr indent="-432443" lvl="1" marL="864887" marR="0" rtl="0" algn="just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5"/>
              <a:buFont typeface="Arial"/>
              <a:buChar char="•"/>
            </a:pPr>
            <a:r>
              <a:rPr b="0" i="0" lang="en-US" sz="40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Escalabilidad (miles de dispositivos).</a:t>
            </a:r>
            <a:endParaRPr/>
          </a:p>
          <a:p>
            <a:pPr indent="-432443" lvl="1" marL="864887" marR="0" rtl="0" algn="just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5"/>
              <a:buFont typeface="Arial"/>
              <a:buChar char="•"/>
            </a:pPr>
            <a:r>
              <a:rPr b="0" i="0" lang="en-US" sz="40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Conectividad y pérdida de datos.</a:t>
            </a:r>
            <a:endParaRPr/>
          </a:p>
          <a:p>
            <a:pPr indent="-432443" lvl="1" marL="864887" marR="0" rtl="0" algn="just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5"/>
              <a:buFont typeface="Arial"/>
              <a:buChar char="•"/>
            </a:pPr>
            <a:r>
              <a:rPr b="0" i="0" lang="en-US" sz="40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Seguridad de la información.</a:t>
            </a:r>
            <a:endParaRPr/>
          </a:p>
          <a:p>
            <a:pPr indent="0" lvl="0" marL="0" marR="0" rtl="0" algn="just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7"/>
          <p:cNvGrpSpPr/>
          <p:nvPr/>
        </p:nvGrpSpPr>
        <p:grpSpPr>
          <a:xfrm>
            <a:off x="831043" y="555931"/>
            <a:ext cx="16751504" cy="9471593"/>
            <a:chOff x="0" y="0"/>
            <a:chExt cx="69085396" cy="39062090"/>
          </a:xfrm>
        </p:grpSpPr>
        <p:sp>
          <p:nvSpPr>
            <p:cNvPr id="160" name="Google Shape;160;p7"/>
            <p:cNvSpPr/>
            <p:nvPr/>
          </p:nvSpPr>
          <p:spPr>
            <a:xfrm>
              <a:off x="72390" y="72390"/>
              <a:ext cx="68940619" cy="38917311"/>
            </a:xfrm>
            <a:custGeom>
              <a:rect b="b" l="l" r="r" t="t"/>
              <a:pathLst>
                <a:path extrusionOk="0" h="3891731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8917311"/>
                  </a:lnTo>
                  <a:lnTo>
                    <a:pt x="0" y="38917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1" name="Google Shape;161;p7"/>
            <p:cNvSpPr/>
            <p:nvPr/>
          </p:nvSpPr>
          <p:spPr>
            <a:xfrm>
              <a:off x="0" y="0"/>
              <a:ext cx="69085396" cy="39062090"/>
            </a:xfrm>
            <a:custGeom>
              <a:rect b="b" l="l" r="r" t="t"/>
              <a:pathLst>
                <a:path extrusionOk="0" h="39062090" w="69085396">
                  <a:moveTo>
                    <a:pt x="68940617" y="38917308"/>
                  </a:moveTo>
                  <a:lnTo>
                    <a:pt x="69085396" y="38917308"/>
                  </a:lnTo>
                  <a:lnTo>
                    <a:pt x="69085396" y="39062090"/>
                  </a:lnTo>
                  <a:lnTo>
                    <a:pt x="68940617" y="39062090"/>
                  </a:lnTo>
                  <a:lnTo>
                    <a:pt x="68940617" y="3891730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8917308"/>
                  </a:lnTo>
                  <a:lnTo>
                    <a:pt x="0" y="38917308"/>
                  </a:lnTo>
                  <a:lnTo>
                    <a:pt x="0" y="144780"/>
                  </a:lnTo>
                  <a:close/>
                  <a:moveTo>
                    <a:pt x="0" y="38917308"/>
                  </a:moveTo>
                  <a:lnTo>
                    <a:pt x="144780" y="38917308"/>
                  </a:lnTo>
                  <a:lnTo>
                    <a:pt x="144780" y="39062090"/>
                  </a:lnTo>
                  <a:lnTo>
                    <a:pt x="0" y="39062090"/>
                  </a:lnTo>
                  <a:lnTo>
                    <a:pt x="0" y="38917308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8917308"/>
                  </a:lnTo>
                  <a:lnTo>
                    <a:pt x="68940617" y="38917308"/>
                  </a:lnTo>
                  <a:lnTo>
                    <a:pt x="68940617" y="144780"/>
                  </a:lnTo>
                  <a:close/>
                  <a:moveTo>
                    <a:pt x="144780" y="38917308"/>
                  </a:moveTo>
                  <a:lnTo>
                    <a:pt x="68940617" y="38917308"/>
                  </a:lnTo>
                  <a:lnTo>
                    <a:pt x="68940617" y="39062090"/>
                  </a:lnTo>
                  <a:lnTo>
                    <a:pt x="144780" y="39062090"/>
                  </a:lnTo>
                  <a:lnTo>
                    <a:pt x="144780" y="38917308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62" name="Google Shape;162;p7"/>
          <p:cNvCxnSpPr/>
          <p:nvPr/>
        </p:nvCxnSpPr>
        <p:spPr>
          <a:xfrm>
            <a:off x="1091495" y="2228048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7"/>
          <p:cNvSpPr txBox="1"/>
          <p:nvPr/>
        </p:nvSpPr>
        <p:spPr>
          <a:xfrm>
            <a:off x="1091495" y="2189948"/>
            <a:ext cx="16230600" cy="8299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Qué es Grafana:</a:t>
            </a:r>
            <a:endParaRPr/>
          </a:p>
          <a:p>
            <a:pPr indent="0" lvl="0" marL="0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plataforma open source para visualizar datos en tiempo real a través de paneles interactivos (dashboards).</a:t>
            </a:r>
            <a:endParaRPr/>
          </a:p>
          <a:p>
            <a:pPr indent="0" lvl="0" marL="0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Ventajas:</a:t>
            </a:r>
            <a:endParaRPr/>
          </a:p>
          <a:p>
            <a:pPr indent="-370086" lvl="1" marL="740172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8"/>
              <a:buFont typeface="Arial"/>
              <a:buChar char="•"/>
            </a:pPr>
            <a:r>
              <a:rPr b="0" i="0" lang="en-US" sz="34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 con múltiples fuentes de datos: InfluxDB, Prometheus, MQTT, MySQL, etc.</a:t>
            </a:r>
            <a:endParaRPr/>
          </a:p>
          <a:p>
            <a:pPr indent="-370086" lvl="1" marL="740172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8"/>
              <a:buFont typeface="Arial"/>
              <a:buChar char="•"/>
            </a:pPr>
            <a:r>
              <a:rPr b="0" i="0" lang="en-US" sz="34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Alertas configurables.</a:t>
            </a:r>
            <a:endParaRPr/>
          </a:p>
          <a:p>
            <a:pPr indent="-370086" lvl="1" marL="740172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8"/>
              <a:buFont typeface="Arial"/>
              <a:buChar char="•"/>
            </a:pPr>
            <a:r>
              <a:rPr b="0" i="0" lang="en-US" sz="34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Interfaz web atractiva y personalizable.</a:t>
            </a:r>
            <a:endParaRPr/>
          </a:p>
          <a:p>
            <a:pPr indent="-370086" lvl="1" marL="740172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8"/>
              <a:buFont typeface="Arial"/>
              <a:buChar char="•"/>
            </a:pPr>
            <a:r>
              <a:rPr b="0" i="0" lang="en-US" sz="34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para entornos IoT.</a:t>
            </a:r>
            <a:endParaRPr/>
          </a:p>
          <a:p>
            <a:pPr indent="0" lvl="0" marL="0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de uso:</a:t>
            </a:r>
            <a:endParaRPr/>
          </a:p>
          <a:p>
            <a:pPr indent="-370086" lvl="1" marL="740172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8"/>
              <a:buFont typeface="Arial"/>
              <a:buChar char="•"/>
            </a:pPr>
            <a:r>
              <a:rPr b="0" i="0" lang="en-US" sz="34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 dashboard que muestra:</a:t>
            </a:r>
            <a:endParaRPr/>
          </a:p>
          <a:p>
            <a:pPr indent="-370086" lvl="1" marL="740172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8"/>
              <a:buFont typeface="Arial"/>
              <a:buChar char="•"/>
            </a:pPr>
            <a:r>
              <a:rPr b="0" i="0" lang="en-US" sz="34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Temperatura y humedad de sensores en distintas zonas.</a:t>
            </a:r>
            <a:endParaRPr/>
          </a:p>
          <a:p>
            <a:pPr indent="-370086" lvl="1" marL="740172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8"/>
              <a:buFont typeface="Arial"/>
              <a:buChar char="•"/>
            </a:pPr>
            <a:r>
              <a:rPr b="0" i="0" lang="en-US" sz="34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Estado de conexión de los dispositivos.</a:t>
            </a:r>
            <a:endParaRPr/>
          </a:p>
          <a:p>
            <a:pPr indent="-370086" lvl="1" marL="740172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8"/>
              <a:buFont typeface="Arial"/>
              <a:buChar char="•"/>
            </a:pPr>
            <a:r>
              <a:rPr b="0" i="0" lang="en-US" sz="342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Consumo energético de cada sensor.</a:t>
            </a:r>
            <a:endParaRPr/>
          </a:p>
          <a:p>
            <a:pPr indent="0" lvl="0" marL="0" marR="0" rtl="0" algn="just">
              <a:lnSpc>
                <a:spcPct val="11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3468067" y="5830501"/>
            <a:ext cx="3854028" cy="3937705"/>
          </a:xfrm>
          <a:custGeom>
            <a:rect b="b" l="l" r="r" t="t"/>
            <a:pathLst>
              <a:path extrusionOk="0" h="3937705" w="3854028">
                <a:moveTo>
                  <a:pt x="0" y="0"/>
                </a:moveTo>
                <a:lnTo>
                  <a:pt x="3854028" y="0"/>
                </a:lnTo>
                <a:lnTo>
                  <a:pt x="3854028" y="3937705"/>
                </a:lnTo>
                <a:lnTo>
                  <a:pt x="0" y="39377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7"/>
          <p:cNvSpPr txBox="1"/>
          <p:nvPr/>
        </p:nvSpPr>
        <p:spPr>
          <a:xfrm>
            <a:off x="625321" y="626914"/>
            <a:ext cx="17162949" cy="1582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6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GRAFANA: HERRAMIENTA DE VISUALIZACIÓN Y MONITOREO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8"/>
          <p:cNvGrpSpPr/>
          <p:nvPr/>
        </p:nvGrpSpPr>
        <p:grpSpPr>
          <a:xfrm>
            <a:off x="768248" y="466164"/>
            <a:ext cx="16988675" cy="9417118"/>
            <a:chOff x="0" y="0"/>
            <a:chExt cx="69085396" cy="38295238"/>
          </a:xfrm>
        </p:grpSpPr>
        <p:sp>
          <p:nvSpPr>
            <p:cNvPr id="171" name="Google Shape;171;p8"/>
            <p:cNvSpPr/>
            <p:nvPr/>
          </p:nvSpPr>
          <p:spPr>
            <a:xfrm>
              <a:off x="72390" y="72390"/>
              <a:ext cx="68940619" cy="38150458"/>
            </a:xfrm>
            <a:custGeom>
              <a:rect b="b" l="l" r="r" t="t"/>
              <a:pathLst>
                <a:path extrusionOk="0" h="38150458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8150458"/>
                  </a:lnTo>
                  <a:lnTo>
                    <a:pt x="0" y="381504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2" name="Google Shape;172;p8"/>
            <p:cNvSpPr/>
            <p:nvPr/>
          </p:nvSpPr>
          <p:spPr>
            <a:xfrm>
              <a:off x="0" y="0"/>
              <a:ext cx="69085396" cy="38295238"/>
            </a:xfrm>
            <a:custGeom>
              <a:rect b="b" l="l" r="r" t="t"/>
              <a:pathLst>
                <a:path extrusionOk="0" h="38295238" w="69085396">
                  <a:moveTo>
                    <a:pt x="68940617" y="38150456"/>
                  </a:moveTo>
                  <a:lnTo>
                    <a:pt x="69085396" y="38150456"/>
                  </a:lnTo>
                  <a:lnTo>
                    <a:pt x="69085396" y="38295238"/>
                  </a:lnTo>
                  <a:lnTo>
                    <a:pt x="68940617" y="38295238"/>
                  </a:lnTo>
                  <a:lnTo>
                    <a:pt x="68940617" y="3815045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8150456"/>
                  </a:lnTo>
                  <a:lnTo>
                    <a:pt x="0" y="38150456"/>
                  </a:lnTo>
                  <a:lnTo>
                    <a:pt x="0" y="144780"/>
                  </a:lnTo>
                  <a:close/>
                  <a:moveTo>
                    <a:pt x="0" y="38150456"/>
                  </a:moveTo>
                  <a:lnTo>
                    <a:pt x="144780" y="38150456"/>
                  </a:lnTo>
                  <a:lnTo>
                    <a:pt x="144780" y="38295238"/>
                  </a:lnTo>
                  <a:lnTo>
                    <a:pt x="0" y="38295238"/>
                  </a:lnTo>
                  <a:lnTo>
                    <a:pt x="0" y="38150456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8150456"/>
                  </a:lnTo>
                  <a:lnTo>
                    <a:pt x="68940617" y="38150456"/>
                  </a:lnTo>
                  <a:lnTo>
                    <a:pt x="68940617" y="144780"/>
                  </a:lnTo>
                  <a:close/>
                  <a:moveTo>
                    <a:pt x="144780" y="38150456"/>
                  </a:moveTo>
                  <a:lnTo>
                    <a:pt x="68940617" y="38150456"/>
                  </a:lnTo>
                  <a:lnTo>
                    <a:pt x="68940617" y="38295238"/>
                  </a:lnTo>
                  <a:lnTo>
                    <a:pt x="144780" y="38295238"/>
                  </a:lnTo>
                  <a:lnTo>
                    <a:pt x="144780" y="38150456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73" name="Google Shape;173;p8"/>
          <p:cNvCxnSpPr/>
          <p:nvPr/>
        </p:nvCxnSpPr>
        <p:spPr>
          <a:xfrm>
            <a:off x="1028700" y="2429961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8"/>
          <p:cNvSpPr/>
          <p:nvPr/>
        </p:nvSpPr>
        <p:spPr>
          <a:xfrm>
            <a:off x="5802844" y="7033781"/>
            <a:ext cx="6549856" cy="2849187"/>
          </a:xfrm>
          <a:custGeom>
            <a:rect b="b" l="l" r="r" t="t"/>
            <a:pathLst>
              <a:path extrusionOk="0" h="2849187" w="6549856">
                <a:moveTo>
                  <a:pt x="0" y="0"/>
                </a:moveTo>
                <a:lnTo>
                  <a:pt x="6549855" y="0"/>
                </a:lnTo>
                <a:lnTo>
                  <a:pt x="6549855" y="2849187"/>
                </a:lnTo>
                <a:lnTo>
                  <a:pt x="0" y="28491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8"/>
          <p:cNvSpPr txBox="1"/>
          <p:nvPr/>
        </p:nvSpPr>
        <p:spPr>
          <a:xfrm>
            <a:off x="1028700" y="800450"/>
            <a:ext cx="16230600" cy="1610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1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ARQUITECTURA BÁSICA DEL MONITOREO IOT CON GRAFANA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1169387" y="2801206"/>
            <a:ext cx="14120655" cy="2457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Sensores IoT: Capturan los datos.</a:t>
            </a:r>
            <a:endParaRPr/>
          </a:p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Gateway o broker MQTT: Transmite los datos a la nube o base de datos.</a:t>
            </a:r>
            <a:endParaRPr/>
          </a:p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Base de datos temporal (ej. InfluxDB): Almacena los datos históricos.</a:t>
            </a:r>
            <a:endParaRPr/>
          </a:p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Grafana: Consulta la base de datos y visualiza los resultados.</a:t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1169387" y="5611081"/>
            <a:ext cx="16089913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Estos 4 pasos son el proceso básico para el manejo de datos y su visualización, es importante tener en cuenta que tipo de datos se desea capturar y graficar posteriormente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9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83" name="Google Shape;183;p9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4" name="Google Shape;184;p9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85" name="Google Shape;185;p9"/>
          <p:cNvCxnSpPr/>
          <p:nvPr/>
        </p:nvCxnSpPr>
        <p:spPr>
          <a:xfrm>
            <a:off x="1028700" y="2086339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9"/>
          <p:cNvSpPr txBox="1"/>
          <p:nvPr/>
        </p:nvSpPr>
        <p:spPr>
          <a:xfrm>
            <a:off x="1028700" y="2517159"/>
            <a:ext cx="16097196" cy="6296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8383" lvl="1" marL="816766" marR="0" rtl="0" algn="just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3"/>
              <a:buFont typeface="Arial"/>
              <a:buAutoNum type="arabicPeriod"/>
            </a:pPr>
            <a:r>
              <a:rPr b="0" i="0" lang="en-US" sz="37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Conectar la fuente de datos: Añade la base donde se almacenan los datos, como InfluxDB, Prometheus o MQTT.</a:t>
            </a:r>
            <a:endParaRPr/>
          </a:p>
          <a:p>
            <a:pPr indent="-408383" lvl="1" marL="816766" marR="0" rtl="0" algn="just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3"/>
              <a:buFont typeface="Arial"/>
              <a:buAutoNum type="arabicPeriod"/>
            </a:pPr>
            <a:r>
              <a:rPr b="0" i="0" lang="en-US" sz="37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Crear un nuevo dashboard: Accede al menú y selecciona “+ → Dashboard → Add new panel”.</a:t>
            </a:r>
            <a:endParaRPr/>
          </a:p>
          <a:p>
            <a:pPr indent="-408383" lvl="1" marL="816766" marR="0" rtl="0" algn="just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3"/>
              <a:buFont typeface="Arial"/>
              <a:buAutoNum type="arabicPeriod"/>
            </a:pPr>
            <a:r>
              <a:rPr b="0" i="0" lang="en-US" sz="37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Escribir la consulta: Define los datos que deseas mostrar, como la temperatura o la humedad.</a:t>
            </a:r>
            <a:endParaRPr/>
          </a:p>
          <a:p>
            <a:pPr indent="-408383" lvl="1" marL="816766" marR="0" rtl="0" algn="just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3"/>
              <a:buFont typeface="Arial"/>
              <a:buAutoNum type="arabicPeriod"/>
            </a:pPr>
            <a:r>
              <a:rPr b="0" i="0" lang="en-US" sz="37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Elegir el tipo de visualización: Elige entre gráficos, indicadores, tablas o mapas según el tipo de datos.</a:t>
            </a:r>
            <a:endParaRPr/>
          </a:p>
          <a:p>
            <a:pPr indent="-408383" lvl="1" marL="816766" marR="0" rtl="0" algn="just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3"/>
              <a:buFont typeface="Arial"/>
              <a:buAutoNum type="arabicPeriod"/>
            </a:pPr>
            <a:r>
              <a:rPr b="0" i="0" lang="en-US" sz="37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Personalizar el panel: Ajusta colores, unidades, límites y nombres para mejorar la claridad.</a:t>
            </a:r>
            <a:endParaRPr/>
          </a:p>
          <a:p>
            <a:pPr indent="-408383" lvl="1" marL="816766" marR="0" rtl="0" algn="just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3"/>
              <a:buFont typeface="Arial"/>
              <a:buAutoNum type="arabicPeriod"/>
            </a:pPr>
            <a:r>
              <a:rPr b="0" i="0" lang="en-US" sz="37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Configurar alertas: Establece condiciones para recibir notificaciones, como en el caso de una temperatura alta.</a:t>
            </a:r>
            <a:endParaRPr/>
          </a:p>
          <a:p>
            <a:pPr indent="-408383" lvl="1" marL="816766" marR="0" rtl="0" algn="just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3"/>
              <a:buFont typeface="Arial"/>
              <a:buAutoNum type="arabicPeriod"/>
            </a:pPr>
            <a:r>
              <a:rPr b="0" i="0" lang="en-US" sz="378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Organizar y compartir: Agrupa los paneles, utiliza variables (por zonas o sensores) y comparte el dashboard.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768248" y="890364"/>
            <a:ext cx="16751504" cy="951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85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CREACIÓN DE DASHBOARDS EN GRAFANA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0"/>
          <p:cNvGrpSpPr/>
          <p:nvPr/>
        </p:nvGrpSpPr>
        <p:grpSpPr>
          <a:xfrm>
            <a:off x="768248" y="696489"/>
            <a:ext cx="16751504" cy="8715635"/>
            <a:chOff x="0" y="0"/>
            <a:chExt cx="69085396" cy="35944420"/>
          </a:xfrm>
        </p:grpSpPr>
        <p:sp>
          <p:nvSpPr>
            <p:cNvPr id="193" name="Google Shape;193;p10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4" name="Google Shape;194;p10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95" name="Google Shape;195;p10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0"/>
          <p:cNvSpPr/>
          <p:nvPr/>
        </p:nvSpPr>
        <p:spPr>
          <a:xfrm>
            <a:off x="3995902" y="4075090"/>
            <a:ext cx="4043807" cy="4043807"/>
          </a:xfrm>
          <a:custGeom>
            <a:rect b="b" l="l" r="r" t="t"/>
            <a:pathLst>
              <a:path extrusionOk="0" h="4043807" w="4043807">
                <a:moveTo>
                  <a:pt x="0" y="0"/>
                </a:moveTo>
                <a:lnTo>
                  <a:pt x="4043807" y="0"/>
                </a:lnTo>
                <a:lnTo>
                  <a:pt x="4043807" y="4043806"/>
                </a:lnTo>
                <a:lnTo>
                  <a:pt x="0" y="40438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0"/>
          <p:cNvSpPr/>
          <p:nvPr/>
        </p:nvSpPr>
        <p:spPr>
          <a:xfrm>
            <a:off x="8884603" y="3919451"/>
            <a:ext cx="4355083" cy="4355083"/>
          </a:xfrm>
          <a:custGeom>
            <a:rect b="b" l="l" r="r" t="t"/>
            <a:pathLst>
              <a:path extrusionOk="0" h="4355083" w="4355083">
                <a:moveTo>
                  <a:pt x="0" y="0"/>
                </a:moveTo>
                <a:lnTo>
                  <a:pt x="4355083" y="0"/>
                </a:lnTo>
                <a:lnTo>
                  <a:pt x="4355083" y="4355084"/>
                </a:lnTo>
                <a:lnTo>
                  <a:pt x="0" y="4355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0"/>
          <p:cNvSpPr txBox="1"/>
          <p:nvPr/>
        </p:nvSpPr>
        <p:spPr>
          <a:xfrm>
            <a:off x="2017562" y="1500708"/>
            <a:ext cx="13496917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EJEMPLO PRACTICO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1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204" name="Google Shape;204;p11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5" name="Google Shape;205;p11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06" name="Google Shape;206;p11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11"/>
          <p:cNvSpPr txBox="1"/>
          <p:nvPr/>
        </p:nvSpPr>
        <p:spPr>
          <a:xfrm>
            <a:off x="1524000" y="3757649"/>
            <a:ext cx="152400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Resolución pragmática de Problemas:</a:t>
            </a:r>
            <a:endParaRPr/>
          </a:p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la habilidad del estudiante para seleccionar, integrar y aplicar de manera efectiva las herramientas y frameworks más adecuados (y a menudo, diversos) para construir una solución funcional y eficiente a un problema del mundo real, sin buscar la "tecnología perfecta" sino la "mejor opción para el contexto".</a:t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13906500" y="7115175"/>
            <a:ext cx="2143125" cy="2143125"/>
          </a:xfrm>
          <a:custGeom>
            <a:rect b="b" l="l" r="r" t="t"/>
            <a:pathLst>
              <a:path extrusionOk="0" h="2143125" w="2143125">
                <a:moveTo>
                  <a:pt x="0" y="0"/>
                </a:moveTo>
                <a:lnTo>
                  <a:pt x="2143125" y="0"/>
                </a:lnTo>
                <a:lnTo>
                  <a:pt x="21431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1"/>
          <p:cNvSpPr txBox="1"/>
          <p:nvPr/>
        </p:nvSpPr>
        <p:spPr>
          <a:xfrm>
            <a:off x="4381500" y="876300"/>
            <a:ext cx="9525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12"/>
          <p:cNvGrpSpPr/>
          <p:nvPr/>
        </p:nvGrpSpPr>
        <p:grpSpPr>
          <a:xfrm>
            <a:off x="2000250" y="3307556"/>
            <a:ext cx="9053422" cy="3636169"/>
            <a:chOff x="0" y="-47625"/>
            <a:chExt cx="12071229" cy="4848225"/>
          </a:xfrm>
        </p:grpSpPr>
        <p:sp>
          <p:nvSpPr>
            <p:cNvPr id="215" name="Google Shape;215;p12"/>
            <p:cNvSpPr txBox="1"/>
            <p:nvPr/>
          </p:nvSpPr>
          <p:spPr>
            <a:xfrm>
              <a:off x="0" y="-47625"/>
              <a:ext cx="12071229" cy="324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¡GRACIAS POR SU ATENCIÓN!</a:t>
              </a:r>
              <a:endParaRPr/>
            </a:p>
          </p:txBody>
        </p:sp>
        <p:sp>
          <p:nvSpPr>
            <p:cNvPr id="216" name="Google Shape;216;p12"/>
            <p:cNvSpPr txBox="1"/>
            <p:nvPr/>
          </p:nvSpPr>
          <p:spPr>
            <a:xfrm>
              <a:off x="0" y="3152775"/>
              <a:ext cx="12071229" cy="164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¿DUDAS?</a:t>
              </a:r>
              <a:endParaRPr/>
            </a:p>
          </p:txBody>
        </p:sp>
      </p:grpSp>
      <p:sp>
        <p:nvSpPr>
          <p:cNvPr id="217" name="Google Shape;217;p12"/>
          <p:cNvSpPr txBox="1"/>
          <p:nvPr/>
        </p:nvSpPr>
        <p:spPr>
          <a:xfrm>
            <a:off x="2000250" y="8496300"/>
            <a:ext cx="1428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13530482" y="3258015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