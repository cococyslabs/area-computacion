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Poppins Light"/>
      <p:regular r:id="rId30"/>
      <p:bold r:id="rId31"/>
      <p:italic r:id="rId32"/>
      <p:boldItalic r:id="rId33"/>
    </p:embeddedFont>
    <p:embeddedFont>
      <p:font typeface="Poppins Medium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hSejwC6WlFKfxXTGPp9rZ+hcPX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PoppinsSemiBold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slide" Target="slides/slide20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Light-bold.fntdata"/><Relationship Id="rId30" Type="http://schemas.openxmlformats.org/officeDocument/2006/relationships/font" Target="fonts/PoppinsLight-regular.fntdata"/><Relationship Id="rId11" Type="http://schemas.openxmlformats.org/officeDocument/2006/relationships/slide" Target="slides/slide6.xml"/><Relationship Id="rId33" Type="http://schemas.openxmlformats.org/officeDocument/2006/relationships/font" Target="fonts/Poppins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Light-italic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.fntdata"/><Relationship Id="rId12" Type="http://schemas.openxmlformats.org/officeDocument/2006/relationships/slide" Target="slides/slide7.xml"/><Relationship Id="rId34" Type="http://schemas.openxmlformats.org/officeDocument/2006/relationships/font" Target="fonts/PoppinsMedium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Medium-italic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941df5d0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941df5d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f941df5d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9f941df5d0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941df5d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f941df5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0f8f0de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0f8f0de6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0f8f0de6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a0f8f0de6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f941df5d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9f941df5d0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hyperlink" Target="https://iotdunia.com/what-is-iot-framework/" TargetMode="External"/><Relationship Id="rId6" Type="http://schemas.openxmlformats.org/officeDocument/2006/relationships/hyperlink" Target="https://www.minew.com/es/iot-communication-protocols/" TargetMode="External"/><Relationship Id="rId7" Type="http://schemas.openxmlformats.org/officeDocument/2006/relationships/hyperlink" Target="https://processing.org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9f941df5d0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9f941df5d0_0_52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9f941df5d0_0_52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CURSO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 rot="10800000">
            <a:off x="13657658" y="2650916"/>
            <a:ext cx="7641615" cy="5845836"/>
          </a:xfrm>
          <a:custGeom>
            <a:rect b="b" l="l" r="r" t="t"/>
            <a:pathLst>
              <a:path extrusionOk="0" h="5845836" w="7641615">
                <a:moveTo>
                  <a:pt x="7641615" y="5845835"/>
                </a:moveTo>
                <a:lnTo>
                  <a:pt x="0" y="5845835"/>
                </a:lnTo>
                <a:lnTo>
                  <a:pt x="0" y="0"/>
                </a:lnTo>
                <a:lnTo>
                  <a:pt x="7641615" y="0"/>
                </a:lnTo>
                <a:lnTo>
                  <a:pt x="7641615" y="584583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1112850" y="2009696"/>
            <a:ext cx="11330400" cy="6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25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Processing y </a:t>
            </a:r>
            <a:endParaRPr b="1" sz="12725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25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Stacked Framework</a:t>
            </a:r>
            <a:endParaRPr b="1" sz="12725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2573000" y="0"/>
            <a:ext cx="5715000" cy="1514631"/>
          </a:xfrm>
          <a:custGeom>
            <a:rect b="b" l="l" r="r" t="t"/>
            <a:pathLst>
              <a:path extrusionOk="0" h="1514631" w="5715000">
                <a:moveTo>
                  <a:pt x="0" y="0"/>
                </a:moveTo>
                <a:lnTo>
                  <a:pt x="5715000" y="0"/>
                </a:lnTo>
                <a:lnTo>
                  <a:pt x="5715000" y="1514631"/>
                </a:lnTo>
                <a:lnTo>
                  <a:pt x="0" y="151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 rot="-499561">
            <a:off x="-331288" y="4888380"/>
            <a:ext cx="1508812" cy="5317400"/>
          </a:xfrm>
          <a:custGeom>
            <a:rect b="b" l="l" r="r" t="t"/>
            <a:pathLst>
              <a:path extrusionOk="0" h="5317400" w="1508812">
                <a:moveTo>
                  <a:pt x="0" y="0"/>
                </a:moveTo>
                <a:lnTo>
                  <a:pt x="1508812" y="0"/>
                </a:lnTo>
                <a:lnTo>
                  <a:pt x="1508812" y="5317400"/>
                </a:lnTo>
                <a:lnTo>
                  <a:pt x="0" y="531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9" name="Google Shape;99;p2"/>
          <p:cNvCxnSpPr/>
          <p:nvPr/>
        </p:nvCxnSpPr>
        <p:spPr>
          <a:xfrm>
            <a:off x="10296053" y="4301192"/>
            <a:ext cx="6382984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"/>
          <p:cNvCxnSpPr/>
          <p:nvPr/>
        </p:nvCxnSpPr>
        <p:spPr>
          <a:xfrm>
            <a:off x="10296053" y="5745093"/>
            <a:ext cx="6382984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2"/>
          <p:cNvSpPr/>
          <p:nvPr/>
        </p:nvSpPr>
        <p:spPr>
          <a:xfrm>
            <a:off x="2277442" y="2975306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10296053" y="3350966"/>
            <a:ext cx="5887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—-------	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896106" y="933450"/>
            <a:ext cx="854073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24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Recordatorios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296053" y="4900067"/>
            <a:ext cx="6608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—-------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g39f941df5d0_0_35"/>
          <p:cNvGrpSpPr/>
          <p:nvPr/>
        </p:nvGrpSpPr>
        <p:grpSpPr>
          <a:xfrm>
            <a:off x="767398" y="612339"/>
            <a:ext cx="16753209" cy="8716522"/>
            <a:chOff x="0" y="0"/>
            <a:chExt cx="69085396" cy="35944420"/>
          </a:xfrm>
        </p:grpSpPr>
        <p:sp>
          <p:nvSpPr>
            <p:cNvPr id="110" name="Google Shape;110;g39f941df5d0_0_35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1" name="Google Shape;111;g39f941df5d0_0_35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12" name="Google Shape;112;g39f941df5d0_0_35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g39f941df5d0_0_35"/>
          <p:cNvSpPr/>
          <p:nvPr/>
        </p:nvSpPr>
        <p:spPr>
          <a:xfrm>
            <a:off x="12497076" y="3404076"/>
            <a:ext cx="4514482" cy="4514482"/>
          </a:xfrm>
          <a:custGeom>
            <a:rect b="b" l="l" r="r" t="t"/>
            <a:pathLst>
              <a:path extrusionOk="0" h="4514482" w="4514482">
                <a:moveTo>
                  <a:pt x="0" y="0"/>
                </a:moveTo>
                <a:lnTo>
                  <a:pt x="4514482" y="0"/>
                </a:lnTo>
                <a:lnTo>
                  <a:pt x="4514482" y="4514482"/>
                </a:lnTo>
                <a:lnTo>
                  <a:pt x="0" y="4514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g39f941df5d0_0_35"/>
          <p:cNvSpPr txBox="1"/>
          <p:nvPr/>
        </p:nvSpPr>
        <p:spPr>
          <a:xfrm>
            <a:off x="1345750" y="3737267"/>
            <a:ext cx="11270400" cy="45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000" u="none" cap="none" strike="noStrike">
                <a:solidFill>
                  <a:schemeClr val="dk1"/>
                </a:solidFill>
              </a:rPr>
              <a:t>📎 Introducción y Conceptos generales: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000" u="none" cap="none" strike="noStrike">
                <a:solidFill>
                  <a:schemeClr val="dk1"/>
                </a:solidFill>
              </a:rPr>
              <a:t>       ¿Qué es Processing?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000" u="none" cap="none" strike="noStrike">
                <a:solidFill>
                  <a:schemeClr val="dk1"/>
                </a:solidFill>
              </a:rPr>
              <a:t>📎 </a:t>
            </a:r>
            <a:r>
              <a:rPr lang="en-US" sz="5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IoT Stacked Framework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000" u="none" cap="none" strike="noStrike">
                <a:solidFill>
                  <a:schemeClr val="dk1"/>
                </a:solidFill>
              </a:rPr>
              <a:t>📎 </a:t>
            </a:r>
            <a:r>
              <a:rPr lang="en-US" sz="5000">
                <a:solidFill>
                  <a:schemeClr val="dk1"/>
                </a:solidFill>
              </a:rPr>
              <a:t>Protocolos de comunicación IoT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000" u="none" cap="none" strike="noStrike">
              <a:solidFill>
                <a:schemeClr val="dk1"/>
              </a:solidFill>
            </a:endParaRPr>
          </a:p>
        </p:txBody>
      </p:sp>
      <p:sp>
        <p:nvSpPr>
          <p:cNvPr id="115" name="Google Shape;115;g39f941df5d0_0_35"/>
          <p:cNvSpPr txBox="1"/>
          <p:nvPr/>
        </p:nvSpPr>
        <p:spPr>
          <a:xfrm>
            <a:off x="6286500" y="1500708"/>
            <a:ext cx="5715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14436964" y="410048"/>
            <a:ext cx="3282359" cy="3383875"/>
          </a:xfrm>
          <a:custGeom>
            <a:rect b="b" l="l" r="r" t="t"/>
            <a:pathLst>
              <a:path extrusionOk="0" h="3383875" w="3282359">
                <a:moveTo>
                  <a:pt x="0" y="0"/>
                </a:moveTo>
                <a:lnTo>
                  <a:pt x="3282359" y="0"/>
                </a:lnTo>
                <a:lnTo>
                  <a:pt x="3282359" y="3383875"/>
                </a:lnTo>
                <a:lnTo>
                  <a:pt x="0" y="3383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 txBox="1"/>
          <p:nvPr/>
        </p:nvSpPr>
        <p:spPr>
          <a:xfrm>
            <a:off x="1421826" y="2021976"/>
            <a:ext cx="947906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74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Competencias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421826" y="3880064"/>
            <a:ext cx="11908160" cy="3777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estudiante configura sistemas de comunicación IoT utilizando protocolos como HTTP o COAP mediante servidores API RESTful y dispositivos embebidos para optimizar la transmisión de datos en redes inalámbricas de bajo consumo. 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4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g39f941df5d0_0_0"/>
          <p:cNvGrpSpPr/>
          <p:nvPr/>
        </p:nvGrpSpPr>
        <p:grpSpPr>
          <a:xfrm>
            <a:off x="660196" y="938082"/>
            <a:ext cx="16753209" cy="8716522"/>
            <a:chOff x="0" y="0"/>
            <a:chExt cx="69085396" cy="35944420"/>
          </a:xfrm>
        </p:grpSpPr>
        <p:sp>
          <p:nvSpPr>
            <p:cNvPr id="128" name="Google Shape;128;g39f941df5d0_0_0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g39f941df5d0_0_0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30" name="Google Shape;130;g39f941df5d0_0_0"/>
          <p:cNvCxnSpPr/>
          <p:nvPr/>
        </p:nvCxnSpPr>
        <p:spPr>
          <a:xfrm>
            <a:off x="1181100" y="2351425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g39f941df5d0_0_0"/>
          <p:cNvSpPr/>
          <p:nvPr/>
        </p:nvSpPr>
        <p:spPr>
          <a:xfrm>
            <a:off x="12188633" y="4240111"/>
            <a:ext cx="4558252" cy="2567815"/>
          </a:xfrm>
          <a:custGeom>
            <a:rect b="b" l="l" r="r" t="t"/>
            <a:pathLst>
              <a:path extrusionOk="0" h="2567815" w="4558252">
                <a:moveTo>
                  <a:pt x="0" y="0"/>
                </a:moveTo>
                <a:lnTo>
                  <a:pt x="4558252" y="0"/>
                </a:lnTo>
                <a:lnTo>
                  <a:pt x="4558252" y="2567816"/>
                </a:lnTo>
                <a:lnTo>
                  <a:pt x="0" y="256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g39f941df5d0_0_0"/>
          <p:cNvSpPr/>
          <p:nvPr/>
        </p:nvSpPr>
        <p:spPr>
          <a:xfrm>
            <a:off x="9661345" y="2975500"/>
            <a:ext cx="2717526" cy="2717526"/>
          </a:xfrm>
          <a:custGeom>
            <a:rect b="b" l="l" r="r" t="t"/>
            <a:pathLst>
              <a:path extrusionOk="0" h="2717526" w="2717526">
                <a:moveTo>
                  <a:pt x="0" y="0"/>
                </a:moveTo>
                <a:lnTo>
                  <a:pt x="2717526" y="0"/>
                </a:lnTo>
                <a:lnTo>
                  <a:pt x="2717526" y="2717526"/>
                </a:lnTo>
                <a:lnTo>
                  <a:pt x="0" y="2717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g39f941df5d0_0_0"/>
          <p:cNvSpPr/>
          <p:nvPr/>
        </p:nvSpPr>
        <p:spPr>
          <a:xfrm>
            <a:off x="8138301" y="4800541"/>
            <a:ext cx="2316198" cy="2316198"/>
          </a:xfrm>
          <a:custGeom>
            <a:rect b="b" l="l" r="r" t="t"/>
            <a:pathLst>
              <a:path extrusionOk="0" h="2316198" w="2316198">
                <a:moveTo>
                  <a:pt x="0" y="0"/>
                </a:moveTo>
                <a:lnTo>
                  <a:pt x="2316198" y="0"/>
                </a:lnTo>
                <a:lnTo>
                  <a:pt x="2316198" y="2316198"/>
                </a:lnTo>
                <a:lnTo>
                  <a:pt x="0" y="2316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g39f941df5d0_0_0"/>
          <p:cNvSpPr txBox="1"/>
          <p:nvPr/>
        </p:nvSpPr>
        <p:spPr>
          <a:xfrm>
            <a:off x="1381228" y="1360029"/>
            <a:ext cx="147492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3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¿QUÉ ES PROCESSING?</a:t>
            </a:r>
            <a:endParaRPr/>
          </a:p>
        </p:txBody>
      </p:sp>
      <p:sp>
        <p:nvSpPr>
          <p:cNvPr id="135" name="Google Shape;135;g39f941df5d0_0_0"/>
          <p:cNvSpPr txBox="1"/>
          <p:nvPr/>
        </p:nvSpPr>
        <p:spPr>
          <a:xfrm>
            <a:off x="1381228" y="2726764"/>
            <a:ext cx="125934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lenguaje de programación, desarrollado para hacer más fácil la programación a personas con intereses en diseño y arte.</a:t>
            </a:r>
            <a:endParaRPr/>
          </a:p>
        </p:txBody>
      </p:sp>
      <p:sp>
        <p:nvSpPr>
          <p:cNvPr id="136" name="Google Shape;136;g39f941df5d0_0_0"/>
          <p:cNvSpPr txBox="1"/>
          <p:nvPr/>
        </p:nvSpPr>
        <p:spPr>
          <a:xfrm>
            <a:off x="1381228" y="4315213"/>
            <a:ext cx="7654800" cy="30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trabajar con gracias a sus bibliotecas </a:t>
            </a:r>
            <a:endParaRPr/>
          </a:p>
          <a:p>
            <a:pPr indent="-370871" lvl="1" marL="741742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Char char="•"/>
            </a:pPr>
            <a:r>
              <a:rPr b="0" i="0" lang="en-US" sz="34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Sonido </a:t>
            </a:r>
            <a:endParaRPr/>
          </a:p>
          <a:p>
            <a:pPr indent="-370871" lvl="1" marL="741742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Char char="•"/>
            </a:pPr>
            <a:r>
              <a:rPr b="0" i="0" lang="en-US" sz="34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/>
          </a:p>
          <a:p>
            <a:pPr indent="-370871" lvl="1" marL="741742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Char char="•"/>
            </a:pPr>
            <a:r>
              <a:rPr b="0" i="0" lang="en-US" sz="34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Gráficos 3D </a:t>
            </a:r>
            <a:endParaRPr/>
          </a:p>
        </p:txBody>
      </p:sp>
      <p:sp>
        <p:nvSpPr>
          <p:cNvPr id="137" name="Google Shape;137;g39f941df5d0_0_0"/>
          <p:cNvSpPr txBox="1"/>
          <p:nvPr/>
        </p:nvSpPr>
        <p:spPr>
          <a:xfrm>
            <a:off x="1381228" y="7283049"/>
            <a:ext cx="153657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Surge en el año 2001, creado por Casey Reas y Ben Fry en el MIT Media Lab</a:t>
            </a:r>
            <a:endParaRPr/>
          </a:p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software gratuito y OpenSource</a:t>
            </a:r>
            <a:endParaRPr/>
          </a:p>
          <a:p>
            <a:pPr indent="0" lvl="0" marL="0" marR="0" rtl="0" algn="l">
              <a:lnSpc>
                <a:spcPct val="12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Tiene como fin crear animaciones, gráficos y programas interactivos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 rot="10800000">
            <a:off x="-1881514" y="6074563"/>
            <a:ext cx="7641615" cy="5845836"/>
          </a:xfrm>
          <a:custGeom>
            <a:rect b="b" l="l" r="r" t="t"/>
            <a:pathLst>
              <a:path extrusionOk="0" h="5845836" w="7641615">
                <a:moveTo>
                  <a:pt x="7641615" y="5845836"/>
                </a:moveTo>
                <a:lnTo>
                  <a:pt x="0" y="5845836"/>
                </a:lnTo>
                <a:lnTo>
                  <a:pt x="0" y="0"/>
                </a:lnTo>
                <a:lnTo>
                  <a:pt x="7641615" y="0"/>
                </a:lnTo>
                <a:lnTo>
                  <a:pt x="7641615" y="584583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0"/>
          <p:cNvSpPr/>
          <p:nvPr/>
        </p:nvSpPr>
        <p:spPr>
          <a:xfrm>
            <a:off x="8792395" y="4230652"/>
            <a:ext cx="9495605" cy="6238388"/>
          </a:xfrm>
          <a:custGeom>
            <a:rect b="b" l="l" r="r" t="t"/>
            <a:pathLst>
              <a:path extrusionOk="0" h="6238388" w="9495605">
                <a:moveTo>
                  <a:pt x="0" y="0"/>
                </a:moveTo>
                <a:lnTo>
                  <a:pt x="9495605" y="0"/>
                </a:lnTo>
                <a:lnTo>
                  <a:pt x="9495605" y="6238388"/>
                </a:lnTo>
                <a:lnTo>
                  <a:pt x="0" y="6238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199" l="0" r="0" t="-25009"/>
            </a:stretch>
          </a:blipFill>
          <a:ln>
            <a:noFill/>
          </a:ln>
        </p:spPr>
      </p:sp>
      <p:sp>
        <p:nvSpPr>
          <p:cNvPr id="144" name="Google Shape;144;p10"/>
          <p:cNvSpPr txBox="1"/>
          <p:nvPr/>
        </p:nvSpPr>
        <p:spPr>
          <a:xfrm>
            <a:off x="1509056" y="1737278"/>
            <a:ext cx="1096435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24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Introducción a IoT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/>
        </p:nvSpPr>
        <p:spPr>
          <a:xfrm>
            <a:off x="1028700" y="1511075"/>
            <a:ext cx="16338308" cy="826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 un modelo en capas (stack) que organiza cómo funcionan los sistemas de Internet de las Cosas (IoT).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1028700" y="2280147"/>
            <a:ext cx="15626394" cy="781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Capas típicas en un IoT Stack</a:t>
            </a:r>
            <a:endParaRPr/>
          </a:p>
          <a:p>
            <a:pPr indent="-237490" lvl="1" marL="4749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Poppins"/>
              <a:buAutoNum type="arabicPeriod"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Hardware / Devices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Todo lo físico: sensores de temperatura, humedad, cámaras, actuadores y microcontroladores.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Capturan información del entorno o realizan acciones físicas.</a:t>
            </a:r>
            <a:endParaRPr/>
          </a:p>
          <a:p>
            <a:pPr indent="-237490" lvl="1" marL="4749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Poppins"/>
              <a:buAutoNum type="arabicPeriod"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Programas y firmware que corren en los dispositivos o gateways.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Gestionan sensores, controlan actuadores, procesan datos y preparan la información para enviarla.</a:t>
            </a:r>
            <a:endParaRPr/>
          </a:p>
          <a:p>
            <a:pPr indent="-237490" lvl="1" marL="4749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Poppins"/>
              <a:buAutoNum type="arabicPeriod"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Communications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Cómo los dispositivos envían datos entre sí o hacia la nube.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Protocolos y redes como Wi-Fi, Bluetooth, Zigbee, LoRa, MQTT, HTTP, 4G/5G.</a:t>
            </a:r>
            <a:endParaRPr/>
          </a:p>
          <a:p>
            <a:pPr indent="-237490" lvl="1" marL="4749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Poppins"/>
              <a:buAutoNum type="arabicPeriod"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 Platform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Servidores y plataformas en la nube que almacenan, procesan y analizan los datos.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Incluye bases de datos, APIs, dashboards y herramientas de análisis.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AWS IoT, Azure IoT Hub, Google Cloud IoT.</a:t>
            </a:r>
            <a:endParaRPr/>
          </a:p>
          <a:p>
            <a:pPr indent="-237490" lvl="1" marL="4749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Poppins"/>
              <a:buAutoNum type="arabicPeriod"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 Applications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Aplicaciones finales para el usuario donde se visualiza la información o se controlan dispositivos.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Interfaces web, apps móviles o dashboards interactivos.</a:t>
            </a:r>
            <a:endParaRPr/>
          </a:p>
          <a:p>
            <a:pPr indent="-316653" lvl="2" marL="94996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⚬"/>
            </a:pPr>
            <a:r>
              <a:rPr b="0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app de domótica, panel industrial de monitoreo.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1028700" y="547688"/>
            <a:ext cx="1463005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Introducción al IoT Stacked Framework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 flipH="1" rot="-8171779">
            <a:off x="16658597" y="6168063"/>
            <a:ext cx="4024687" cy="4528480"/>
          </a:xfrm>
          <a:custGeom>
            <a:rect b="b" l="l" r="r" t="t"/>
            <a:pathLst>
              <a:path extrusionOk="0" h="4528480" w="4024687">
                <a:moveTo>
                  <a:pt x="4024687" y="0"/>
                </a:moveTo>
                <a:lnTo>
                  <a:pt x="0" y="0"/>
                </a:lnTo>
                <a:lnTo>
                  <a:pt x="0" y="4528480"/>
                </a:lnTo>
                <a:lnTo>
                  <a:pt x="4024687" y="4528480"/>
                </a:lnTo>
                <a:lnTo>
                  <a:pt x="40246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7" name="Google Shape;157;p12"/>
          <p:cNvCxnSpPr/>
          <p:nvPr/>
        </p:nvCxnSpPr>
        <p:spPr>
          <a:xfrm>
            <a:off x="1028700" y="2313073"/>
            <a:ext cx="11534737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12"/>
          <p:cNvSpPr/>
          <p:nvPr/>
        </p:nvSpPr>
        <p:spPr>
          <a:xfrm>
            <a:off x="2477354" y="3095586"/>
            <a:ext cx="12558248" cy="6671569"/>
          </a:xfrm>
          <a:custGeom>
            <a:rect b="b" l="l" r="r" t="t"/>
            <a:pathLst>
              <a:path extrusionOk="0" h="6671569" w="12558248">
                <a:moveTo>
                  <a:pt x="0" y="0"/>
                </a:moveTo>
                <a:lnTo>
                  <a:pt x="12558248" y="0"/>
                </a:lnTo>
                <a:lnTo>
                  <a:pt x="12558248" y="6671569"/>
                </a:lnTo>
                <a:lnTo>
                  <a:pt x="0" y="6671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2"/>
          <p:cNvSpPr txBox="1"/>
          <p:nvPr/>
        </p:nvSpPr>
        <p:spPr>
          <a:xfrm>
            <a:off x="1028700" y="962025"/>
            <a:ext cx="1291553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24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IoT Stacked Framework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13"/>
          <p:cNvCxnSpPr/>
          <p:nvPr/>
        </p:nvCxnSpPr>
        <p:spPr>
          <a:xfrm rot="10800000">
            <a:off x="8438180" y="1324305"/>
            <a:ext cx="0" cy="7638389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3"/>
          <p:cNvSpPr/>
          <p:nvPr/>
        </p:nvSpPr>
        <p:spPr>
          <a:xfrm>
            <a:off x="553778" y="2622433"/>
            <a:ext cx="3442587" cy="2613816"/>
          </a:xfrm>
          <a:custGeom>
            <a:rect b="b" l="l" r="r" t="t"/>
            <a:pathLst>
              <a:path extrusionOk="0" h="2613816" w="3442587">
                <a:moveTo>
                  <a:pt x="0" y="0"/>
                </a:moveTo>
                <a:lnTo>
                  <a:pt x="3442587" y="0"/>
                </a:lnTo>
                <a:lnTo>
                  <a:pt x="3442587" y="2613816"/>
                </a:lnTo>
                <a:lnTo>
                  <a:pt x="0" y="2613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3"/>
          <p:cNvSpPr/>
          <p:nvPr/>
        </p:nvSpPr>
        <p:spPr>
          <a:xfrm>
            <a:off x="3990528" y="3094127"/>
            <a:ext cx="4447652" cy="3096548"/>
          </a:xfrm>
          <a:custGeom>
            <a:rect b="b" l="l" r="r" t="t"/>
            <a:pathLst>
              <a:path extrusionOk="0" h="3096548" w="4447652">
                <a:moveTo>
                  <a:pt x="0" y="0"/>
                </a:moveTo>
                <a:lnTo>
                  <a:pt x="4447652" y="0"/>
                </a:lnTo>
                <a:lnTo>
                  <a:pt x="4447652" y="3096549"/>
                </a:lnTo>
                <a:lnTo>
                  <a:pt x="0" y="3096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3"/>
          <p:cNvSpPr/>
          <p:nvPr/>
        </p:nvSpPr>
        <p:spPr>
          <a:xfrm>
            <a:off x="547941" y="5632896"/>
            <a:ext cx="3442587" cy="3442587"/>
          </a:xfrm>
          <a:custGeom>
            <a:rect b="b" l="l" r="r" t="t"/>
            <a:pathLst>
              <a:path extrusionOk="0" h="3442587" w="3442587">
                <a:moveTo>
                  <a:pt x="0" y="0"/>
                </a:moveTo>
                <a:lnTo>
                  <a:pt x="3442587" y="0"/>
                </a:lnTo>
                <a:lnTo>
                  <a:pt x="3442587" y="3442587"/>
                </a:lnTo>
                <a:lnTo>
                  <a:pt x="0" y="3442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3"/>
          <p:cNvSpPr/>
          <p:nvPr/>
        </p:nvSpPr>
        <p:spPr>
          <a:xfrm>
            <a:off x="3996365" y="6607224"/>
            <a:ext cx="4447652" cy="3435811"/>
          </a:xfrm>
          <a:custGeom>
            <a:rect b="b" l="l" r="r" t="t"/>
            <a:pathLst>
              <a:path extrusionOk="0" h="3435811" w="4447652">
                <a:moveTo>
                  <a:pt x="0" y="0"/>
                </a:moveTo>
                <a:lnTo>
                  <a:pt x="4447652" y="0"/>
                </a:lnTo>
                <a:lnTo>
                  <a:pt x="4447652" y="3435811"/>
                </a:lnTo>
                <a:lnTo>
                  <a:pt x="0" y="34358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3"/>
          <p:cNvSpPr txBox="1"/>
          <p:nvPr/>
        </p:nvSpPr>
        <p:spPr>
          <a:xfrm>
            <a:off x="553778" y="421397"/>
            <a:ext cx="7143814" cy="210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Placas utilizadas en IoT</a:t>
            </a:r>
            <a:endParaRPr/>
          </a:p>
        </p:txBody>
      </p:sp>
      <p:grpSp>
        <p:nvGrpSpPr>
          <p:cNvPr id="170" name="Google Shape;170;p13"/>
          <p:cNvGrpSpPr/>
          <p:nvPr/>
        </p:nvGrpSpPr>
        <p:grpSpPr>
          <a:xfrm>
            <a:off x="9020354" y="1302874"/>
            <a:ext cx="8765698" cy="1557546"/>
            <a:chOff x="0" y="-28575"/>
            <a:chExt cx="11687598" cy="2076729"/>
          </a:xfrm>
        </p:grpSpPr>
        <p:sp>
          <p:nvSpPr>
            <p:cNvPr id="171" name="Google Shape;171;p13"/>
            <p:cNvSpPr txBox="1"/>
            <p:nvPr/>
          </p:nvSpPr>
          <p:spPr>
            <a:xfrm>
              <a:off x="0" y="-28575"/>
              <a:ext cx="11687598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ARDUINO UNO / MEGA / NANO</a:t>
              </a:r>
              <a:endParaRPr/>
            </a:p>
          </p:txBody>
        </p:sp>
        <p:sp>
          <p:nvSpPr>
            <p:cNvPr id="172" name="Google Shape;172;p13"/>
            <p:cNvSpPr txBox="1"/>
            <p:nvPr/>
          </p:nvSpPr>
          <p:spPr>
            <a:xfrm>
              <a:off x="0" y="767782"/>
              <a:ext cx="11687598" cy="128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50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Microcontroladores fáciles de programar, ideales para prototipos y proyectos educativos con sensores y actuadores. No tienen Wi-Fi ni Bluetooth integrado y tienen memoria limitada.</a:t>
              </a:r>
              <a:endParaRPr/>
            </a:p>
          </p:txBody>
        </p:sp>
      </p:grpSp>
      <p:grpSp>
        <p:nvGrpSpPr>
          <p:cNvPr id="173" name="Google Shape;173;p13"/>
          <p:cNvGrpSpPr/>
          <p:nvPr/>
        </p:nvGrpSpPr>
        <p:grpSpPr>
          <a:xfrm>
            <a:off x="9020354" y="3345007"/>
            <a:ext cx="8765698" cy="1557546"/>
            <a:chOff x="0" y="-28575"/>
            <a:chExt cx="11687598" cy="2076729"/>
          </a:xfrm>
        </p:grpSpPr>
        <p:sp>
          <p:nvSpPr>
            <p:cNvPr id="174" name="Google Shape;174;p13"/>
            <p:cNvSpPr txBox="1"/>
            <p:nvPr/>
          </p:nvSpPr>
          <p:spPr>
            <a:xfrm>
              <a:off x="0" y="-28575"/>
              <a:ext cx="11687598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RASPBERRY PI</a:t>
              </a:r>
              <a:endParaRPr/>
            </a:p>
          </p:txBody>
        </p:sp>
        <p:sp>
          <p:nvSpPr>
            <p:cNvPr id="175" name="Google Shape;175;p13"/>
            <p:cNvSpPr txBox="1"/>
            <p:nvPr/>
          </p:nvSpPr>
          <p:spPr>
            <a:xfrm>
              <a:off x="0" y="767782"/>
              <a:ext cx="11687598" cy="128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50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Mini computadora Linux con gran capacidad de procesamiento, usada como gateway IoT o servidor local. Soporta cámaras, dashboards y tareas complejas, pero consume más energía.</a:t>
              </a:r>
              <a:endParaRPr/>
            </a:p>
          </p:txBody>
        </p:sp>
      </p:grpSp>
      <p:grpSp>
        <p:nvGrpSpPr>
          <p:cNvPr id="176" name="Google Shape;176;p13"/>
          <p:cNvGrpSpPr/>
          <p:nvPr/>
        </p:nvGrpSpPr>
        <p:grpSpPr>
          <a:xfrm>
            <a:off x="9020354" y="5364992"/>
            <a:ext cx="8765698" cy="1580406"/>
            <a:chOff x="0" y="-28575"/>
            <a:chExt cx="11687598" cy="2107209"/>
          </a:xfrm>
        </p:grpSpPr>
        <p:sp>
          <p:nvSpPr>
            <p:cNvPr id="177" name="Google Shape;177;p13"/>
            <p:cNvSpPr txBox="1"/>
            <p:nvPr/>
          </p:nvSpPr>
          <p:spPr>
            <a:xfrm>
              <a:off x="0" y="-28575"/>
              <a:ext cx="11687598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25" u="none" cap="none" strike="noStrik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ESP32</a:t>
              </a:r>
              <a:endParaRPr/>
            </a:p>
          </p:txBody>
        </p:sp>
        <p:sp>
          <p:nvSpPr>
            <p:cNvPr id="178" name="Google Shape;178;p13"/>
            <p:cNvSpPr txBox="1"/>
            <p:nvPr/>
          </p:nvSpPr>
          <p:spPr>
            <a:xfrm>
              <a:off x="0" y="762702"/>
              <a:ext cx="11687598" cy="1315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5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Versión más potente del ESP8266, con Wi-Fi y Bluetooth, más pines y capacidad de multitarea. Ideal para proyectos IoT más complejos, aunque consume más energía.</a:t>
              </a:r>
              <a:endParaRPr/>
            </a:p>
          </p:txBody>
        </p:sp>
      </p:grpSp>
      <p:grpSp>
        <p:nvGrpSpPr>
          <p:cNvPr id="179" name="Google Shape;179;p13"/>
          <p:cNvGrpSpPr/>
          <p:nvPr/>
        </p:nvGrpSpPr>
        <p:grpSpPr>
          <a:xfrm>
            <a:off x="9020354" y="7332758"/>
            <a:ext cx="8765698" cy="1913781"/>
            <a:chOff x="0" y="-28575"/>
            <a:chExt cx="11687598" cy="2551709"/>
          </a:xfrm>
        </p:grpSpPr>
        <p:sp>
          <p:nvSpPr>
            <p:cNvPr id="180" name="Google Shape;180;p13"/>
            <p:cNvSpPr txBox="1"/>
            <p:nvPr/>
          </p:nvSpPr>
          <p:spPr>
            <a:xfrm>
              <a:off x="0" y="-28575"/>
              <a:ext cx="11687598" cy="612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25" u="none" cap="none" strike="noStrik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BEAGLEBONE</a:t>
              </a:r>
              <a:endParaRPr/>
            </a:p>
          </p:txBody>
        </p:sp>
        <p:sp>
          <p:nvSpPr>
            <p:cNvPr id="181" name="Google Shape;181;p13"/>
            <p:cNvSpPr txBox="1"/>
            <p:nvPr/>
          </p:nvSpPr>
          <p:spPr>
            <a:xfrm>
              <a:off x="0" y="762702"/>
              <a:ext cx="11687598" cy="176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5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Mini computadora embebida potente, con muchos GPIO y capacidades de tiempo real, usada en robótica avanzada y automatización industrial. Curva de aprendizaje más alta y comunidad más pequeña.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/>
          <p:nvPr/>
        </p:nvSpPr>
        <p:spPr>
          <a:xfrm>
            <a:off x="15853828" y="7723546"/>
            <a:ext cx="3282359" cy="3383875"/>
          </a:xfrm>
          <a:custGeom>
            <a:rect b="b" l="l" r="r" t="t"/>
            <a:pathLst>
              <a:path extrusionOk="0" h="3383875" w="3282359">
                <a:moveTo>
                  <a:pt x="0" y="0"/>
                </a:moveTo>
                <a:lnTo>
                  <a:pt x="3282359" y="0"/>
                </a:lnTo>
                <a:lnTo>
                  <a:pt x="3282359" y="3383876"/>
                </a:lnTo>
                <a:lnTo>
                  <a:pt x="0" y="33838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4"/>
          <p:cNvSpPr/>
          <p:nvPr/>
        </p:nvSpPr>
        <p:spPr>
          <a:xfrm>
            <a:off x="4831921" y="4925640"/>
            <a:ext cx="8372017" cy="5229442"/>
          </a:xfrm>
          <a:custGeom>
            <a:rect b="b" l="l" r="r" t="t"/>
            <a:pathLst>
              <a:path extrusionOk="0" h="5229442" w="8372017">
                <a:moveTo>
                  <a:pt x="0" y="0"/>
                </a:moveTo>
                <a:lnTo>
                  <a:pt x="8372017" y="0"/>
                </a:lnTo>
                <a:lnTo>
                  <a:pt x="8372017" y="5229442"/>
                </a:lnTo>
                <a:lnTo>
                  <a:pt x="0" y="5229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4"/>
          <p:cNvSpPr txBox="1"/>
          <p:nvPr/>
        </p:nvSpPr>
        <p:spPr>
          <a:xfrm>
            <a:off x="1028700" y="1094350"/>
            <a:ext cx="1378907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Protocolos de Comunicacion (fisicos)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1028700" y="2376415"/>
            <a:ext cx="16618693" cy="210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IoT, los protocolos de comunicación físicos son los que permiten que los dispositivos intercambien datos a nivel de hardware, determinando cómo se transmiten las señales y hasta qué distancia. Elegir el protocolo adecuado es crucial, ya que afecta el alcance, la velocidad de transmisión, el consumo de energía y la estabilidad de la red. Entre los más usados se encuentran Wi-Fi, Bluetooth, Zigbee y LoRa, cada uno con características específicas según el tipo de aplicación IoT.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/>
          <p:nvPr/>
        </p:nvSpPr>
        <p:spPr>
          <a:xfrm>
            <a:off x="12365476" y="6907587"/>
            <a:ext cx="6125255" cy="3379413"/>
          </a:xfrm>
          <a:custGeom>
            <a:rect b="b" l="l" r="r" t="t"/>
            <a:pathLst>
              <a:path extrusionOk="0" h="3379413" w="6125255">
                <a:moveTo>
                  <a:pt x="0" y="0"/>
                </a:moveTo>
                <a:lnTo>
                  <a:pt x="6125255" y="0"/>
                </a:lnTo>
                <a:lnTo>
                  <a:pt x="6125255" y="3379413"/>
                </a:lnTo>
                <a:lnTo>
                  <a:pt x="0" y="3379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953"/>
            </a:stretch>
          </a:blipFill>
          <a:ln>
            <a:noFill/>
          </a:ln>
        </p:spPr>
      </p:sp>
      <p:sp>
        <p:nvSpPr>
          <p:cNvPr id="195" name="Google Shape;195;p15"/>
          <p:cNvSpPr txBox="1"/>
          <p:nvPr/>
        </p:nvSpPr>
        <p:spPr>
          <a:xfrm>
            <a:off x="1028700" y="547688"/>
            <a:ext cx="1378907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Bluetooth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 rot="-1596872">
            <a:off x="16840573" y="-1139298"/>
            <a:ext cx="1343326" cy="4734190"/>
          </a:xfrm>
          <a:custGeom>
            <a:rect b="b" l="l" r="r" t="t"/>
            <a:pathLst>
              <a:path extrusionOk="0" h="4734190" w="1343326">
                <a:moveTo>
                  <a:pt x="0" y="0"/>
                </a:moveTo>
                <a:lnTo>
                  <a:pt x="1343326" y="0"/>
                </a:lnTo>
                <a:lnTo>
                  <a:pt x="1343326" y="4734190"/>
                </a:lnTo>
                <a:lnTo>
                  <a:pt x="0" y="4734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5"/>
          <p:cNvSpPr txBox="1"/>
          <p:nvPr/>
        </p:nvSpPr>
        <p:spPr>
          <a:xfrm>
            <a:off x="1028700" y="1609136"/>
            <a:ext cx="16618693" cy="126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Bluetooth es un protocolo de comunicación inalámbrica de corto alcance que permite que dispositivos cercanos intercambien datos sin necesidad de cables. En IoT, se usa para conectar sensores, actuadores y dispositivos personales de manera eficiente y con bajo consumo energético.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1028700" y="3170262"/>
            <a:ext cx="16618693" cy="503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Bluetooth clásico (BR/EDR)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Mayor velocidad (~3 Mbps)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Consumo de energía más alto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Usado en audio, periféricos y transferencias rápidas de datos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Bluetooth Low Energy (BLE)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Diseñado para bajo consumo energético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Velocidad menor, pero suficiente para sensores y notificaciones periódicas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Ideal para wearables, domótica y sensores IoT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Alcance: corto, típicamente 10–100 metros según la versión y entorno.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/>
          <p:nvPr/>
        </p:nvSpPr>
        <p:spPr>
          <a:xfrm rot="-1596872">
            <a:off x="111134" y="7058742"/>
            <a:ext cx="1343326" cy="4734190"/>
          </a:xfrm>
          <a:custGeom>
            <a:rect b="b" l="l" r="r" t="t"/>
            <a:pathLst>
              <a:path extrusionOk="0" h="4734190" w="1343326">
                <a:moveTo>
                  <a:pt x="0" y="0"/>
                </a:moveTo>
                <a:lnTo>
                  <a:pt x="1343326" y="0"/>
                </a:lnTo>
                <a:lnTo>
                  <a:pt x="1343326" y="4734190"/>
                </a:lnTo>
                <a:lnTo>
                  <a:pt x="0" y="4734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6"/>
          <p:cNvSpPr/>
          <p:nvPr/>
        </p:nvSpPr>
        <p:spPr>
          <a:xfrm>
            <a:off x="7142784" y="6284256"/>
            <a:ext cx="4390525" cy="4002744"/>
          </a:xfrm>
          <a:custGeom>
            <a:rect b="b" l="l" r="r" t="t"/>
            <a:pathLst>
              <a:path extrusionOk="0" h="4002744" w="4390525">
                <a:moveTo>
                  <a:pt x="0" y="0"/>
                </a:moveTo>
                <a:lnTo>
                  <a:pt x="4390525" y="0"/>
                </a:lnTo>
                <a:lnTo>
                  <a:pt x="4390525" y="4002744"/>
                </a:lnTo>
                <a:lnTo>
                  <a:pt x="0" y="40027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786" l="0" r="0" t="0"/>
            </a:stretch>
          </a:blipFill>
          <a:ln>
            <a:noFill/>
          </a:ln>
        </p:spPr>
      </p:sp>
      <p:sp>
        <p:nvSpPr>
          <p:cNvPr id="205" name="Google Shape;205;p16"/>
          <p:cNvSpPr txBox="1"/>
          <p:nvPr/>
        </p:nvSpPr>
        <p:spPr>
          <a:xfrm>
            <a:off x="1028700" y="547688"/>
            <a:ext cx="1378907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Zigbee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028700" y="1609136"/>
            <a:ext cx="16618693" cy="126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protocolo de comunicación inalámbrica de corto a medio alcance diseñado para redes de bajo consumo y bajo ancho de banda. Es muy usado en IoT para conectar sensores y actuadores en entornos domésticos e industriales.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1028700" y="3430737"/>
            <a:ext cx="16230600" cy="3358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Alcance: típicamente 10–100 metros por nodo, pero se puede ampliar con redes en malla (mesh).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Consumo: muy bajo, ideal para dispositivos alimentados por batería.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Topología: malla (mesh), lo que permite que los datos se retransmitan entre nodos y se aumente la cobertura.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Frecuencia: 2.4 GHz globalmente, aunque existen bandas regionales (868 MHz en Europa, 915 MHz en EE. UU.).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/>
          <p:nvPr/>
        </p:nvSpPr>
        <p:spPr>
          <a:xfrm>
            <a:off x="6277465" y="7004173"/>
            <a:ext cx="6121162" cy="3205959"/>
          </a:xfrm>
          <a:custGeom>
            <a:rect b="b" l="l" r="r" t="t"/>
            <a:pathLst>
              <a:path extrusionOk="0" h="3205959" w="6121162">
                <a:moveTo>
                  <a:pt x="0" y="0"/>
                </a:moveTo>
                <a:lnTo>
                  <a:pt x="6121163" y="0"/>
                </a:lnTo>
                <a:lnTo>
                  <a:pt x="6121163" y="3205959"/>
                </a:lnTo>
                <a:lnTo>
                  <a:pt x="0" y="3205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7"/>
          <p:cNvSpPr txBox="1"/>
          <p:nvPr/>
        </p:nvSpPr>
        <p:spPr>
          <a:xfrm>
            <a:off x="1028700" y="547688"/>
            <a:ext cx="1378907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Wi-Fi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028700" y="1729276"/>
            <a:ext cx="16618693" cy="126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Wi-Fi es un protocolo de comunicación inalámbrica que permite a los dispositivos conectarse a una red local (LAN) o a internet sin necesidad de cables. En IoT, Wi-Fi se usa para transmitir datos de sensores y actuadores a servidores o la nube, permitiendo monitoreo y control remoto.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028700" y="3645323"/>
            <a:ext cx="16618693" cy="3358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Alcance: Medio, generalmente 30–100 metros según el entorno y el router.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Velocidad: Alta, suficiente para transmitir datos en tiempo real o archivos grandes.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Consumo de energía: Relativamente alto comparado con Zigbee o LoRa, lo que puede afectar dispositivos pequeños alimentados por batería.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Topología: Funciona principalmente en estrella, donde todos los dispositivos se conectan a un punto de acceso o router.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6" name="Google Shape;216;p17"/>
          <p:cNvSpPr/>
          <p:nvPr/>
        </p:nvSpPr>
        <p:spPr>
          <a:xfrm rot="-479821">
            <a:off x="-709884" y="8767108"/>
            <a:ext cx="3477167" cy="2886049"/>
          </a:xfrm>
          <a:custGeom>
            <a:rect b="b" l="l" r="r" t="t"/>
            <a:pathLst>
              <a:path extrusionOk="0" h="2886049" w="3477167">
                <a:moveTo>
                  <a:pt x="0" y="0"/>
                </a:moveTo>
                <a:lnTo>
                  <a:pt x="3477168" y="0"/>
                </a:lnTo>
                <a:lnTo>
                  <a:pt x="3477168" y="2886049"/>
                </a:lnTo>
                <a:lnTo>
                  <a:pt x="0" y="2886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/>
          <p:nvPr/>
        </p:nvSpPr>
        <p:spPr>
          <a:xfrm rot="-479821">
            <a:off x="-709884" y="8767108"/>
            <a:ext cx="3477167" cy="2886049"/>
          </a:xfrm>
          <a:custGeom>
            <a:rect b="b" l="l" r="r" t="t"/>
            <a:pathLst>
              <a:path extrusionOk="0" h="2886049" w="3477167">
                <a:moveTo>
                  <a:pt x="0" y="0"/>
                </a:moveTo>
                <a:lnTo>
                  <a:pt x="3477168" y="0"/>
                </a:lnTo>
                <a:lnTo>
                  <a:pt x="3477168" y="2886049"/>
                </a:lnTo>
                <a:lnTo>
                  <a:pt x="0" y="2886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8"/>
          <p:cNvSpPr/>
          <p:nvPr/>
        </p:nvSpPr>
        <p:spPr>
          <a:xfrm>
            <a:off x="12473235" y="7016195"/>
            <a:ext cx="5814765" cy="3270805"/>
          </a:xfrm>
          <a:custGeom>
            <a:rect b="b" l="l" r="r" t="t"/>
            <a:pathLst>
              <a:path extrusionOk="0" h="3270805" w="5814765">
                <a:moveTo>
                  <a:pt x="0" y="0"/>
                </a:moveTo>
                <a:lnTo>
                  <a:pt x="5814765" y="0"/>
                </a:lnTo>
                <a:lnTo>
                  <a:pt x="5814765" y="3270805"/>
                </a:lnTo>
                <a:lnTo>
                  <a:pt x="0" y="3270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8"/>
          <p:cNvSpPr txBox="1"/>
          <p:nvPr/>
        </p:nvSpPr>
        <p:spPr>
          <a:xfrm>
            <a:off x="1028700" y="547688"/>
            <a:ext cx="1378907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LoRa (Long Range)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1028700" y="1729276"/>
            <a:ext cx="16618693" cy="126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 un protocolo de comunicación inalámbrica de largo alcance y bajo consumo, pensado para redes de área amplia (LPWAN – Low Power Wide Area Network). Es ideal para dispositivos que envían pequeñas cantidades de datos de manera esporádica y que pueden estar ubicados a kilómetros de distancia del receptor.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1028700" y="3390721"/>
            <a:ext cx="16618693" cy="377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Características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Alcance: muy largo, típicamente 1–15 km dependiendo del entorno y la antena.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Consumo: extremadamente bajo, adecuado para dispositivos alimentados por batería durante meses o años.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Velocidad: baja (~0.3–50 kbps), suficiente para sensores y mensajes cortos.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Topología: estrella, donde todos los nodos se conectan a un gateway que luego envía la información a la nube.</a:t>
            </a:r>
            <a:endParaRPr/>
          </a:p>
          <a:p>
            <a:pPr indent="-257656" lvl="1" marL="515312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Arial"/>
              <a:buChar char="•"/>
            </a:pPr>
            <a:r>
              <a:rPr b="0" i="0" lang="en-US" sz="23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Frecuencia: licencias libres, típicamente 868 MHz (Europa) o 915 MHz (EE. UU.).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/>
        </p:nvSpPr>
        <p:spPr>
          <a:xfrm>
            <a:off x="1028700" y="683987"/>
            <a:ext cx="1481117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Redes Inalámbricas en IoT</a:t>
            </a:r>
            <a:endParaRPr/>
          </a:p>
        </p:txBody>
      </p:sp>
      <p:cxnSp>
        <p:nvCxnSpPr>
          <p:cNvPr id="231" name="Google Shape;231;p19"/>
          <p:cNvCxnSpPr/>
          <p:nvPr/>
        </p:nvCxnSpPr>
        <p:spPr>
          <a:xfrm>
            <a:off x="1028700" y="1798412"/>
            <a:ext cx="11792816" cy="9525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9"/>
          <p:cNvSpPr txBox="1"/>
          <p:nvPr/>
        </p:nvSpPr>
        <p:spPr>
          <a:xfrm>
            <a:off x="1028700" y="2304470"/>
            <a:ext cx="16618693" cy="218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Access Point (AP)</a:t>
            </a:r>
            <a:endParaRPr/>
          </a:p>
          <a:p>
            <a:pPr indent="0" lvl="0" marL="0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Access Point es un dispositivo que crea una red Wi-Fi a la que otros dispositivos pueden conectarse. Funciona como un punto central de comunicación.</a:t>
            </a:r>
            <a:endParaRPr/>
          </a:p>
          <a:p>
            <a:pPr indent="-225272" lvl="1" marL="450543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6"/>
              <a:buFont typeface="Arial"/>
              <a:buChar char="•"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Función: Permite que los dispositivos IoT se conecten a la red y, si está conectado a internet, también a la nube.</a:t>
            </a:r>
            <a:endParaRPr/>
          </a:p>
          <a:p>
            <a:pPr indent="-225272" lvl="1" marL="450543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6"/>
              <a:buFont typeface="Arial"/>
              <a:buChar char="•"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Usos: Routers, gateways IoT, hubs domésticos.</a:t>
            </a:r>
            <a:endParaRPr/>
          </a:p>
          <a:p>
            <a:pPr indent="0" lvl="0" marL="0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1028700" y="4995584"/>
            <a:ext cx="16618693" cy="182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Soft AP (Access Point “blando” o virtual) es cuando un dispositivo, como un microcontrolador o una Raspberry Pi, actúa como un punto de acceso Wi-Fi sin ser un router físico.</a:t>
            </a:r>
            <a:endParaRPr/>
          </a:p>
          <a:p>
            <a:pPr indent="-225272" lvl="1" marL="450543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6"/>
              <a:buFont typeface="Arial"/>
              <a:buChar char="•"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Función: Permite que otros dispositivos se conecten directamente a él para configuración o transmisión de datos local.</a:t>
            </a:r>
            <a:endParaRPr/>
          </a:p>
          <a:p>
            <a:pPr indent="-225272" lvl="1" marL="450543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6"/>
              <a:buFont typeface="Arial"/>
              <a:buChar char="•"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Usos: Configurar IoT por primera vez, conexión directa entre dispositivos sin infraestructura de red.</a:t>
            </a:r>
            <a:endParaRPr/>
          </a:p>
          <a:p>
            <a:pPr indent="0" lvl="0" marL="0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1028700" y="7304779"/>
            <a:ext cx="16618693" cy="182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Cliente Wi-Fi</a:t>
            </a:r>
            <a:endParaRPr/>
          </a:p>
          <a:p>
            <a:pPr indent="0" lvl="0" marL="0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cliente Wi-Fi es cualquier dispositivo que se conecta a un AP o Soft AP para comunicarse.</a:t>
            </a:r>
            <a:endParaRPr/>
          </a:p>
          <a:p>
            <a:pPr indent="-225272" lvl="1" marL="450543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6"/>
              <a:buFont typeface="Arial"/>
              <a:buChar char="•"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Función: Recibe y envía datos a través de la red creada por el AP.</a:t>
            </a:r>
            <a:endParaRPr/>
          </a:p>
          <a:p>
            <a:pPr indent="-225272" lvl="1" marL="450543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6"/>
              <a:buFont typeface="Arial"/>
              <a:buChar char="•"/>
            </a:pPr>
            <a:r>
              <a:rPr b="0" i="0" lang="en-US" sz="2086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Usos: Sensores, actuadores, cámaras IP, smartphones u otros dispositivos IoT que necesitan conectividad.</a:t>
            </a:r>
            <a:endParaRPr/>
          </a:p>
          <a:p>
            <a:pPr indent="0" lvl="0" marL="0" marR="0" rtl="0" algn="just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86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/>
        </p:nvSpPr>
        <p:spPr>
          <a:xfrm>
            <a:off x="1354048" y="5248000"/>
            <a:ext cx="152892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00">
                <a:solidFill>
                  <a:schemeClr val="lt1"/>
                </a:solidFill>
              </a:rPr>
              <a:t>📎 Introducción y Conceptos generales Se definió qué es processing y sus funciones principales</a:t>
            </a:r>
            <a:endParaRPr sz="3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00">
                <a:solidFill>
                  <a:schemeClr val="lt1"/>
                </a:solidFill>
              </a:rPr>
              <a:t>📎 </a:t>
            </a:r>
            <a:r>
              <a:rPr lang="en-US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IoT Stacked Framework: Se vieron las capas del framework y se explicó la relación con el proyecto propuesto.</a:t>
            </a:r>
            <a:endParaRPr sz="3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</a:rPr>
              <a:t>📎 Protocolos de comunicación IoT: Se definieron los protocolos más usados en IoT y también ejemplos de uso en la industria</a:t>
            </a:r>
            <a:endParaRPr b="1" sz="3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354057" y="872350"/>
            <a:ext cx="103362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Conceptos clave aprendidos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11276478" y="-2001451"/>
            <a:ext cx="7160084" cy="5477464"/>
          </a:xfrm>
          <a:custGeom>
            <a:rect b="b" l="l" r="r" t="t"/>
            <a:pathLst>
              <a:path extrusionOk="0" h="5477464" w="7160084">
                <a:moveTo>
                  <a:pt x="0" y="0"/>
                </a:moveTo>
                <a:lnTo>
                  <a:pt x="7160084" y="0"/>
                </a:lnTo>
                <a:lnTo>
                  <a:pt x="7160084" y="5477464"/>
                </a:lnTo>
                <a:lnTo>
                  <a:pt x="0" y="5477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20"/>
          <p:cNvSpPr/>
          <p:nvPr/>
        </p:nvSpPr>
        <p:spPr>
          <a:xfrm flipH="1" rot="-7698346">
            <a:off x="15471221" y="2223544"/>
            <a:ext cx="2866797" cy="2955461"/>
          </a:xfrm>
          <a:custGeom>
            <a:rect b="b" l="l" r="r" t="t"/>
            <a:pathLst>
              <a:path extrusionOk="0" h="2955461" w="2866797">
                <a:moveTo>
                  <a:pt x="2866796" y="0"/>
                </a:moveTo>
                <a:lnTo>
                  <a:pt x="0" y="0"/>
                </a:lnTo>
                <a:lnTo>
                  <a:pt x="0" y="2955461"/>
                </a:lnTo>
                <a:lnTo>
                  <a:pt x="2866796" y="2955461"/>
                </a:lnTo>
                <a:lnTo>
                  <a:pt x="28667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0f8f0de69_0_0"/>
          <p:cNvSpPr txBox="1"/>
          <p:nvPr/>
        </p:nvSpPr>
        <p:spPr>
          <a:xfrm>
            <a:off x="1354057" y="5247988"/>
            <a:ext cx="116565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3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27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“El compromiso asegura que cada miembro cumpla con su responsabilidad, mientras que la toma de decisiones conjunta garantiza soluciones más sólidas y consensuadas.”</a:t>
            </a:r>
            <a:endParaRPr/>
          </a:p>
        </p:txBody>
      </p:sp>
      <p:sp>
        <p:nvSpPr>
          <p:cNvPr id="248" name="Google Shape;248;g3a0f8f0de69_0_0"/>
          <p:cNvSpPr txBox="1"/>
          <p:nvPr/>
        </p:nvSpPr>
        <p:spPr>
          <a:xfrm>
            <a:off x="1354057" y="872350"/>
            <a:ext cx="103362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Valor de la semana</a:t>
            </a:r>
            <a:endParaRPr/>
          </a:p>
        </p:txBody>
      </p:sp>
      <p:sp>
        <p:nvSpPr>
          <p:cNvPr id="249" name="Google Shape;249;g3a0f8f0de69_0_0"/>
          <p:cNvSpPr/>
          <p:nvPr/>
        </p:nvSpPr>
        <p:spPr>
          <a:xfrm>
            <a:off x="11276478" y="-2001451"/>
            <a:ext cx="7160084" cy="5477464"/>
          </a:xfrm>
          <a:custGeom>
            <a:rect b="b" l="l" r="r" t="t"/>
            <a:pathLst>
              <a:path extrusionOk="0" h="5477464" w="7160084">
                <a:moveTo>
                  <a:pt x="0" y="0"/>
                </a:moveTo>
                <a:lnTo>
                  <a:pt x="7160084" y="0"/>
                </a:lnTo>
                <a:lnTo>
                  <a:pt x="7160084" y="5477464"/>
                </a:lnTo>
                <a:lnTo>
                  <a:pt x="0" y="5477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g3a0f8f0de69_0_0"/>
          <p:cNvSpPr/>
          <p:nvPr/>
        </p:nvSpPr>
        <p:spPr>
          <a:xfrm flipH="1" rot="-7698120">
            <a:off x="15471399" y="2223282"/>
            <a:ext cx="2867693" cy="2956384"/>
          </a:xfrm>
          <a:custGeom>
            <a:rect b="b" l="l" r="r" t="t"/>
            <a:pathLst>
              <a:path extrusionOk="0" h="2955461" w="2866797">
                <a:moveTo>
                  <a:pt x="2866796" y="0"/>
                </a:moveTo>
                <a:lnTo>
                  <a:pt x="0" y="0"/>
                </a:lnTo>
                <a:lnTo>
                  <a:pt x="0" y="2955461"/>
                </a:lnTo>
                <a:lnTo>
                  <a:pt x="2866796" y="2955461"/>
                </a:lnTo>
                <a:lnTo>
                  <a:pt x="28667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g3a0f8f0de69_0_0"/>
          <p:cNvSpPr txBox="1"/>
          <p:nvPr/>
        </p:nvSpPr>
        <p:spPr>
          <a:xfrm>
            <a:off x="1354057" y="4521251"/>
            <a:ext cx="110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Compromiso y  Toma de decisiones conjunta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0f8f0de69_0_8"/>
          <p:cNvSpPr txBox="1"/>
          <p:nvPr/>
        </p:nvSpPr>
        <p:spPr>
          <a:xfrm>
            <a:off x="1354057" y="872350"/>
            <a:ext cx="10336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Referencias</a:t>
            </a:r>
            <a:endParaRPr/>
          </a:p>
        </p:txBody>
      </p:sp>
      <p:sp>
        <p:nvSpPr>
          <p:cNvPr id="257" name="Google Shape;257;g3a0f8f0de69_0_8"/>
          <p:cNvSpPr/>
          <p:nvPr/>
        </p:nvSpPr>
        <p:spPr>
          <a:xfrm>
            <a:off x="11276478" y="-2001451"/>
            <a:ext cx="7160084" cy="5477464"/>
          </a:xfrm>
          <a:custGeom>
            <a:rect b="b" l="l" r="r" t="t"/>
            <a:pathLst>
              <a:path extrusionOk="0" h="5477464" w="7160084">
                <a:moveTo>
                  <a:pt x="0" y="0"/>
                </a:moveTo>
                <a:lnTo>
                  <a:pt x="7160084" y="0"/>
                </a:lnTo>
                <a:lnTo>
                  <a:pt x="7160084" y="5477464"/>
                </a:lnTo>
                <a:lnTo>
                  <a:pt x="0" y="5477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g3a0f8f0de69_0_8"/>
          <p:cNvSpPr/>
          <p:nvPr/>
        </p:nvSpPr>
        <p:spPr>
          <a:xfrm flipH="1" rot="-7698120">
            <a:off x="15471399" y="2223282"/>
            <a:ext cx="2867693" cy="2956384"/>
          </a:xfrm>
          <a:custGeom>
            <a:rect b="b" l="l" r="r" t="t"/>
            <a:pathLst>
              <a:path extrusionOk="0" h="2955461" w="2866797">
                <a:moveTo>
                  <a:pt x="2866796" y="0"/>
                </a:moveTo>
                <a:lnTo>
                  <a:pt x="0" y="0"/>
                </a:lnTo>
                <a:lnTo>
                  <a:pt x="0" y="2955461"/>
                </a:lnTo>
                <a:lnTo>
                  <a:pt x="2866796" y="2955461"/>
                </a:lnTo>
                <a:lnTo>
                  <a:pt x="28667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g3a0f8f0de69_0_8"/>
          <p:cNvSpPr txBox="1"/>
          <p:nvPr/>
        </p:nvSpPr>
        <p:spPr>
          <a:xfrm>
            <a:off x="1354047" y="4521250"/>
            <a:ext cx="15096600" cy="3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u="sng">
                <a:solidFill>
                  <a:schemeClr val="hlink"/>
                </a:solidFill>
                <a:hlinkClick r:id="rId5"/>
              </a:rPr>
              <a:t>What is IoT framework? Complete Guide &amp; Top 10 Open source IoT frameworks in 2025</a:t>
            </a:r>
            <a:br>
              <a:rPr lang="en-US" sz="3400"/>
            </a:br>
            <a:br>
              <a:rPr lang="en-US" sz="3400"/>
            </a:br>
            <a:r>
              <a:rPr lang="en-US" sz="3400" u="sng">
                <a:solidFill>
                  <a:schemeClr val="hlink"/>
                </a:solidFill>
                <a:hlinkClick r:id="rId6"/>
              </a:rPr>
              <a:t>7 Protocolos esenciales de comunicación IoT para aumentar sus dispositivos</a:t>
            </a:r>
            <a:br>
              <a:rPr lang="en-US" sz="3400"/>
            </a:br>
            <a:br>
              <a:rPr lang="en-US" sz="3400"/>
            </a:br>
            <a:r>
              <a:rPr lang="en-US" sz="3400" u="sng">
                <a:solidFill>
                  <a:schemeClr val="hlink"/>
                </a:solidFill>
                <a:hlinkClick r:id="rId7"/>
              </a:rPr>
              <a:t>Welcome to Processing! / Processing.org</a:t>
            </a:r>
            <a:endParaRPr sz="3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f941df5d0_0_58"/>
          <p:cNvSpPr txBox="1"/>
          <p:nvPr/>
        </p:nvSpPr>
        <p:spPr>
          <a:xfrm>
            <a:off x="4571995" y="5176054"/>
            <a:ext cx="8658900" cy="28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5" name="Google Shape;265;g39f941df5d0_0_58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g39f941df5d0_0_58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