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60" r:id="rId12"/>
    <p:sldId id="261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Impact" panose="020B0806030902050204" pitchFamily="34" charset="0"/>
      <p:regular r:id="rId18"/>
    </p:embeddedFont>
    <p:embeddedFont>
      <p:font typeface="Lobster" panose="00000500000000000000" pitchFamily="2" charset="0"/>
      <p:regular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  <p:embeddedFont>
      <p:font typeface="Pacifico" panose="00000500000000000000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VTfPeuph8O4z6nnE8PyMA4ke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6" autoAdjust="0"/>
    <p:restoredTop sz="94660"/>
  </p:normalViewPr>
  <p:slideViewPr>
    <p:cSldViewPr snapToGrid="0">
      <p:cViewPr varScale="1">
        <p:scale>
          <a:sx n="37" d="100"/>
          <a:sy n="37" d="100"/>
        </p:scale>
        <p:origin x="108" y="11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layground.arduino.cc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86" name="Google Shape;86;p1"/>
          <p:cNvSpPr txBox="1"/>
          <p:nvPr/>
        </p:nvSpPr>
        <p:spPr>
          <a:xfrm>
            <a:off x="587406" y="6348821"/>
            <a:ext cx="10318571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Computadores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50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Ensambladores</a:t>
            </a:r>
            <a:r>
              <a:rPr lang="en-US" sz="50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2</a:t>
            </a:r>
          </a:p>
        </p:txBody>
      </p:sp>
      <p:sp>
        <p:nvSpPr>
          <p:cNvPr id="87" name="Google Shape;87;p1"/>
          <p:cNvSpPr txBox="1"/>
          <p:nvPr/>
        </p:nvSpPr>
        <p:spPr>
          <a:xfrm>
            <a:off x="2518963" y="2803373"/>
            <a:ext cx="12375000" cy="2843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6600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Control y Automatización con Arduino e </a:t>
            </a:r>
            <a:r>
              <a:rPr lang="es-MX" sz="6600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IoT</a:t>
            </a:r>
            <a:endParaRPr lang="en-US" sz="66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</a:t>
            </a:r>
            <a:r>
              <a:rPr lang="en-US" sz="2499" b="1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Ciencias</a:t>
            </a:r>
            <a:r>
              <a:rPr lang="en-US" sz="2499" b="1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Y Sistemas</a:t>
            </a:r>
            <a:endParaRPr sz="2499" b="1" i="0" u="none" strike="noStrike" cap="none" dirty="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2499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 extrusionOk="0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Sensores</a:t>
              </a:r>
              <a:endParaRPr dirty="0"/>
            </a:p>
          </p:txBody>
        </p:sp>
      </p:grpSp>
      <p:sp>
        <p:nvSpPr>
          <p:cNvPr id="99" name="Google Shape;99;p2"/>
          <p:cNvSpPr/>
          <p:nvPr/>
        </p:nvSpPr>
        <p:spPr>
          <a:xfrm>
            <a:off x="878654" y="4740441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 extrusionOk="0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3" name="Google Shape;103;p2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4" name="Google Shape;104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6" name="Google Shape;106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https://youtu.be/8TJ1aEXYtus</a:t>
              </a:r>
              <a:endParaRPr dirty="0"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410014" cy="333738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99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6488300" y="5365870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29" name="Google Shape;129;p2"/>
          <p:cNvSpPr txBox="1"/>
          <p:nvPr/>
        </p:nvSpPr>
        <p:spPr>
          <a:xfrm>
            <a:off x="7087316" y="629513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todos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los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como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lo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sean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cortos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entregas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horarios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calificación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 link de video y link o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codigo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quizziz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lo </a:t>
            </a:r>
            <a:r>
              <a:rPr lang="en-US" sz="2241" b="0" i="0" u="none" strike="noStrike" cap="none" dirty="0" err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amerita</a:t>
            </a:r>
            <a:r>
              <a:rPr lang="en-US" sz="2241" b="0" i="0" u="none" strike="noStrike" cap="none" dirty="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30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32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2542" y="-1"/>
            <a:ext cx="18288000" cy="1028699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Google Shape;134;p3"/>
          <p:cNvSpPr txBox="1"/>
          <p:nvPr/>
        </p:nvSpPr>
        <p:spPr>
          <a:xfrm>
            <a:off x="1705552" y="914400"/>
            <a:ext cx="5393517" cy="19962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i="0" u="none" strike="noStrike" kern="1200" cap="none">
                <a:solidFill>
                  <a:schemeClr val="tx1"/>
                </a:solidFill>
                <a:latin typeface="+mj-lt"/>
                <a:ea typeface="+mj-ea"/>
                <a:cs typeface="+mj-cs"/>
                <a:sym typeface="Impact"/>
              </a:rPr>
              <a:t>COMPETENCIA(S) QUE DESARROLLAREMOS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705551" y="3291153"/>
            <a:ext cx="4738111" cy="5862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1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Open Sans"/>
              </a:rPr>
              <a:t>Analiza datos recolectados por sensores conectados a Arduino mediante software de análisis de datos como Python y bibliotecas especializadas para identificar patrones y anomalías, dentro del contexto que se esté aplicando en tiempo real. </a:t>
            </a:r>
            <a:endParaRPr lang="en-US" sz="30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C15D06-4031-BA68-B576-24FF32F59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9" r="17485"/>
          <a:stretch>
            <a:fillRect/>
          </a:stretch>
        </p:blipFill>
        <p:spPr bwMode="auto">
          <a:xfrm>
            <a:off x="7422282" y="1"/>
            <a:ext cx="10865718" cy="10286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ECB90D-4A78-99F7-1CD2-154E536D1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0715" y="4441074"/>
            <a:ext cx="6054501" cy="358140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6300" b="1"/>
              <a:t>Sensores</a:t>
            </a:r>
            <a:br>
              <a:rPr lang="es-MX" sz="6300" b="1"/>
            </a:br>
            <a:br>
              <a:rPr lang="es-MX" sz="6300" b="1"/>
            </a:br>
            <a:r>
              <a:rPr lang="es-MX" sz="6300" b="1"/>
              <a:t>¿Qué es un Sensor?</a:t>
            </a:r>
            <a:endParaRPr lang="es-GT" sz="63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79F15B-EC25-0411-3FBC-0B62AE269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713" y="1429555"/>
            <a:ext cx="6054500" cy="256477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2600" dirty="0"/>
              <a:t>Un sensor es un dispositivo que detecta magnitudes físicas o químicas (como temperatura, luz, humedad, etc.) y las convierte en señales eléctricas que pueden ser leídas por un microcontrolador como Arduino.</a:t>
            </a:r>
            <a:endParaRPr lang="es-GT" sz="2600" dirty="0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6046505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8715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Kit de 16 sensores para Arduino y Raspberry — Talos Electronics">
            <a:extLst>
              <a:ext uri="{FF2B5EF4-FFF2-40B4-BE49-F238E27FC236}">
                <a16:creationId xmlns:a16="http://schemas.microsoft.com/office/drawing/2014/main" id="{0A3CF590-906F-72FD-8A7D-5027F22F9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36395" y="1000092"/>
            <a:ext cx="8198686" cy="819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200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28DD3-FE6C-0AAE-5E6B-06593346F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Freeform: Shape 820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80157" cy="10287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ADE976-0BCA-3A71-EC14-9949C0AD6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914400"/>
            <a:ext cx="5609011" cy="1996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Sensores Comunes en Arduino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24B2FC-3BBF-0887-EEC7-D0F6D26E9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3549" y="3291153"/>
            <a:ext cx="5140501" cy="5862879"/>
          </a:xfrm>
        </p:spPr>
        <p:txBody>
          <a:bodyPr vert="horz" lIns="91440" tIns="45720" rIns="91440" bIns="45720" rtlCol="0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 sensores más comunes usados con Arduino incluyen: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 de temperatura (LM35, DHT11)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 de luz (LDR, BH1750)&gt; 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 de movimiento (PIR)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 ultrasónico (HC-SR04)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Sensor de humedad de suelo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Acelerómetro/Giroscopio (MPU6050)</a:t>
            </a:r>
          </a:p>
        </p:txBody>
      </p:sp>
      <p:pic>
        <p:nvPicPr>
          <p:cNvPr id="8194" name="Picture 2" descr="Kit 16 sensores para Arduino (Intermedio) BricoGeek | BricoGeek.com">
            <a:extLst>
              <a:ext uri="{FF2B5EF4-FFF2-40B4-BE49-F238E27FC236}">
                <a16:creationId xmlns:a16="http://schemas.microsoft.com/office/drawing/2014/main" id="{98883F6E-AB6F-FC1A-D616-69317F013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68185" y="1860611"/>
            <a:ext cx="9232712" cy="6601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7528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7B7F3-F24E-5569-E98C-F12438F0F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CB8BB2-F805-337B-A6B7-6FF45B918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01863" y="3034665"/>
            <a:ext cx="3704436" cy="4269105"/>
          </a:xfrm>
        </p:spPr>
        <p:txBody>
          <a:bodyPr anchor="ctr">
            <a:normAutofit/>
          </a:bodyPr>
          <a:lstStyle/>
          <a:p>
            <a:pPr algn="l"/>
            <a:r>
              <a:rPr lang="es-MX" sz="5600" b="1"/>
              <a:t>Sensores Analógicos vs Digitales</a:t>
            </a:r>
            <a:endParaRPr lang="es-GT" sz="56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2B769F-BF13-9591-A0E7-F079BF48D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1862" y="7629525"/>
            <a:ext cx="3669697" cy="1767447"/>
          </a:xfrm>
        </p:spPr>
        <p:txBody>
          <a:bodyPr>
            <a:normAutofit/>
          </a:bodyPr>
          <a:lstStyle/>
          <a:p>
            <a:pPr marL="4826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900"/>
              <a:t>Analógicos: entregan valores continuos (ej: 0 a 1023 en Arduino).</a:t>
            </a:r>
          </a:p>
          <a:p>
            <a:pPr marL="4826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1900"/>
              <a:t>Digitales:** solo entregan dos estados: alto (1) o bajo (0).</a:t>
            </a:r>
            <a:endParaRPr lang="es-GT" sz="1900"/>
          </a:p>
        </p:txBody>
      </p:sp>
      <p:sp>
        <p:nvSpPr>
          <p:cNvPr id="13321" name="Rectangle 1332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50960" y="-1240850"/>
            <a:ext cx="2573217" cy="128751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323" name="Rectangle 1332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27" y="996462"/>
            <a:ext cx="12123948" cy="84005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Sinal Analógico vs Digital com Arduino - Tutorial - YouTube">
            <a:extLst>
              <a:ext uri="{FF2B5EF4-FFF2-40B4-BE49-F238E27FC236}">
                <a16:creationId xmlns:a16="http://schemas.microsoft.com/office/drawing/2014/main" id="{FC405FF8-4B20-927D-664A-9C1A8926B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7857" y="1986963"/>
            <a:ext cx="11412456" cy="641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5" name="Rectangle 1332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925671" y="5088146"/>
            <a:ext cx="2578608" cy="2285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22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24D52-C5F5-850A-B2C7-76808865E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E615F-3E21-9189-A317-B3BDEDDA35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9967" y="1112086"/>
            <a:ext cx="5053851" cy="24243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Conexión de Sensores al Arduino</a:t>
            </a:r>
          </a:p>
        </p:txBody>
      </p:sp>
      <p:pic>
        <p:nvPicPr>
          <p:cNvPr id="12290" name="Picture 2" descr="Conexión entre el sensor de voltaje FZ0430 y Arduino. Fuente propia ...">
            <a:extLst>
              <a:ext uri="{FF2B5EF4-FFF2-40B4-BE49-F238E27FC236}">
                <a16:creationId xmlns:a16="http://schemas.microsoft.com/office/drawing/2014/main" id="{E51C8263-20F0-6BAD-2FE4-185B76BAA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2" r="-2" b="-2"/>
          <a:stretch>
            <a:fillRect/>
          </a:stretch>
        </p:blipFill>
        <p:spPr bwMode="auto">
          <a:xfrm>
            <a:off x="20" y="10"/>
            <a:ext cx="11085374" cy="10286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95" name="Rectangle 12294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19516" y="3521124"/>
            <a:ext cx="2446362" cy="11085393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7" name="Rectangle 12296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2878592" y="2878590"/>
            <a:ext cx="10281420" cy="4524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2299" name="Rectangle 12298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692485" y="6637582"/>
            <a:ext cx="4392908" cy="364941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F78E69-1171-F750-1F90-55A058BDF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19967" y="3800214"/>
            <a:ext cx="5053851" cy="51717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Pasos básicos: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Identificar tipo de sensor (analógico/digital)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Conectar VCC (5V/3.3V), GND y señal (output)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Usar resistencias pull-up/pull-down si se requiere</a:t>
            </a:r>
          </a:p>
        </p:txBody>
      </p:sp>
    </p:spTree>
    <p:extLst>
      <p:ext uri="{BB962C8B-B14F-4D97-AF65-F5344CB8AC3E}">
        <p14:creationId xmlns:p14="http://schemas.microsoft.com/office/powerpoint/2010/main" val="1528491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ECA51E-5130-8DD2-3C42-18C7E3CEE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8" name="Rectangle 1127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71" name="Group 11270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002" y="7264753"/>
            <a:ext cx="18295002" cy="3024089"/>
            <a:chOff x="-4668" y="4843169"/>
            <a:chExt cx="12196668" cy="2016059"/>
          </a:xfrm>
        </p:grpSpPr>
        <p:sp>
          <p:nvSpPr>
            <p:cNvPr id="11272" name="Rectangle 11271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3" name="Rectangle 11272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4" name="Rectangle 11273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75" name="Rectangle 11274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82A4B19-6F17-396D-3C34-C75140665A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596" y="788973"/>
            <a:ext cx="6424474" cy="1800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Lectura de Datos desde Sensores</a:t>
            </a:r>
          </a:p>
        </p:txBody>
      </p:sp>
      <p:sp>
        <p:nvSpPr>
          <p:cNvPr id="11280" name="Rectangle 1127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4799" y="2917369"/>
            <a:ext cx="6035040" cy="411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486DAE-0F79-42DD-E046-390C200EA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599" y="3046651"/>
            <a:ext cx="6424476" cy="52679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 Arduino se usa: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analogRead(pin) para sensores analógicos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digitalRead(pin) para sensores digitales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 puede imprimir el valor con Serial.println(valor)</a:t>
            </a:r>
          </a:p>
        </p:txBody>
      </p:sp>
      <p:sp>
        <p:nvSpPr>
          <p:cNvPr id="11281" name="Rectangle 1127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338765" y="9080040"/>
            <a:ext cx="1110996" cy="2311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57385" y="322802"/>
            <a:ext cx="1110996" cy="177502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9" name="Rectangle 1127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45189" y="532438"/>
            <a:ext cx="9277460" cy="887281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Conectar el sensor - Física con Arduino">
            <a:extLst>
              <a:ext uri="{FF2B5EF4-FFF2-40B4-BE49-F238E27FC236}">
                <a16:creationId xmlns:a16="http://schemas.microsoft.com/office/drawing/2014/main" id="{68AAE001-4660-1C53-3D86-0DF4DB4BC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81607" y="3164365"/>
            <a:ext cx="8442027" cy="360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4864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A29FF-E741-A845-8A66-3E5E9D371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D3A125-7D7E-2AE5-8DF1-B96BE0E08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2784" y="4416135"/>
            <a:ext cx="6054501" cy="358140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8100" b="1"/>
              <a:t>Uso del Convertidor ADC</a:t>
            </a:r>
            <a:endParaRPr lang="es-GT" sz="8100" b="1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EA67F67-BBBE-1BE0-FAFA-B034DC5B3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2787" y="1429555"/>
            <a:ext cx="6054499" cy="2564774"/>
          </a:xfrm>
        </p:spPr>
        <p:txBody>
          <a:bodyPr anchor="b">
            <a:normAutofit/>
          </a:bodyPr>
          <a:lstStyle/>
          <a:p>
            <a:pPr marL="4826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2600"/>
              <a:t>El ADC (Analog to Digital Converter) convierte señales analógicas en valores digitales.</a:t>
            </a:r>
          </a:p>
          <a:p>
            <a:pPr marL="939800" lvl="1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2600"/>
              <a:t> Arduino UNO tiene resolución de 10 bits (valores de 0 a 1023)</a:t>
            </a:r>
          </a:p>
          <a:p>
            <a:pPr marL="939800" lvl="1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MX" sz="2600"/>
              <a:t>Se lee con analogRead(pin)</a:t>
            </a:r>
            <a:endParaRPr lang="es-GT" sz="2600"/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2241495" cy="10287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236" y="587829"/>
            <a:ext cx="9014049" cy="902561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ADS1115 convertidor analógico digital ADC para Arduino y ESP8266">
            <a:extLst>
              <a:ext uri="{FF2B5EF4-FFF2-40B4-BE49-F238E27FC236}">
                <a16:creationId xmlns:a16="http://schemas.microsoft.com/office/drawing/2014/main" id="{A6B10C09-6355-6EF2-504F-CCF2A22B7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0260" y="2857354"/>
            <a:ext cx="8304002" cy="448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257" name="Group 1025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90724" y="4477488"/>
            <a:ext cx="1097283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258" name="Rectangle 1025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5" name="Rectangle 1025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6" name="Rectangle 1025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309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C0EE-5F61-53A1-BB04-D7F1D7AC9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B47A3059-69F2-4E12-ACD8-A5FE28191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E42D35-4656-C39B-823D-945E4820D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18481" y="1487164"/>
            <a:ext cx="6904501" cy="16317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Manejo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Bibliotecas</a:t>
            </a:r>
            <a:r>
              <a:rPr 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4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Sensores</a:t>
            </a:r>
            <a:endParaRPr lang="en-US" sz="4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218" name="Picture 2" descr="Biblioteca Arduino: aprenda como criar a sua - Parte 1 - MakerHero">
            <a:extLst>
              <a:ext uri="{FF2B5EF4-FFF2-40B4-BE49-F238E27FC236}">
                <a16:creationId xmlns:a16="http://schemas.microsoft.com/office/drawing/2014/main" id="{716D48F6-2FEB-B4DD-3486-D5253F80B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017" y="2797424"/>
            <a:ext cx="9375095" cy="4609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Rectangle 922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075097" y="581909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18482" y="3428311"/>
            <a:ext cx="67894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86C486-250D-8B12-A9AB-4605F5627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18481" y="4026142"/>
            <a:ext cx="6904501" cy="5239302"/>
          </a:xfrm>
        </p:spPr>
        <p:txBody>
          <a:bodyPr vert="horz" lIns="91440" tIns="45720" rIns="91440" bIns="45720" rtlCol="0">
            <a:normAutofit/>
          </a:bodyPr>
          <a:lstStyle/>
          <a:p>
            <a:pPr marL="4826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Muchos sensores necesitan librerías específicas: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Instalar desde el "Manejador de bibliotecas" de Arduino IDE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Ejemplos: `DHT.h`, `Wire.h`, `Adafruit_Sensor.h`</a:t>
            </a:r>
          </a:p>
          <a:p>
            <a:pPr marL="939800" lvl="1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7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Facilitan lecturas y configuraciones avanzadas</a:t>
            </a:r>
          </a:p>
        </p:txBody>
      </p:sp>
    </p:spTree>
    <p:extLst>
      <p:ext uri="{BB962C8B-B14F-4D97-AF65-F5344CB8AC3E}">
        <p14:creationId xmlns:p14="http://schemas.microsoft.com/office/powerpoint/2010/main" val="1033358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1374889" y="3650660"/>
            <a:ext cx="14365903" cy="14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aplicacion que vallan de acuerdo a los temas vistos (comprension y aplicacion)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13447195" y="5334021"/>
            <a:ext cx="4626468" cy="4575998"/>
          </a:xfrm>
          <a:custGeom>
            <a:avLst/>
            <a:gdLst/>
            <a:ahLst/>
            <a:cxnLst/>
            <a:rect l="l" t="t" r="r" b="b"/>
            <a:pathLst>
              <a:path w="4626468" h="4575998" extrusionOk="0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53" name="Google Shape;153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14" b="0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5" name="Group 205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826" y="-1"/>
            <a:ext cx="7819901" cy="10324544"/>
            <a:chOff x="-19217" y="-1"/>
            <a:chExt cx="5213267" cy="6883030"/>
          </a:xfrm>
        </p:grpSpPr>
        <p:sp>
          <p:nvSpPr>
            <p:cNvPr id="2056" name="Rectangle 205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7" name="Rectangle 205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8" name="Google Shape;158;p6"/>
          <p:cNvSpPr txBox="1"/>
          <p:nvPr/>
        </p:nvSpPr>
        <p:spPr>
          <a:xfrm>
            <a:off x="1133226" y="1109752"/>
            <a:ext cx="5553870" cy="2424305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i="0" u="none" strike="noStrike" kern="1200" cap="none">
                <a:solidFill>
                  <a:srgbClr val="FFFFFF"/>
                </a:solidFill>
                <a:latin typeface="+mj-lt"/>
                <a:ea typeface="+mj-ea"/>
                <a:cs typeface="+mj-cs"/>
                <a:sym typeface="Impact"/>
              </a:rPr>
              <a:t>CONCEPTOS CLAVE APRENDIDOS 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133226" y="3688674"/>
            <a:ext cx="5553868" cy="528723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28575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Sensor Analógico</a:t>
            </a:r>
          </a:p>
          <a:p>
            <a:pPr marL="28575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ADC (Analog-to-Digital Converter)</a:t>
            </a:r>
          </a:p>
          <a:p>
            <a:pPr marL="28575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Potenciómetro</a:t>
            </a:r>
          </a:p>
          <a:p>
            <a:pPr marL="28575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Monitor Serial</a:t>
            </a:r>
          </a:p>
        </p:txBody>
      </p:sp>
      <p:pic>
        <p:nvPicPr>
          <p:cNvPr id="2050" name="Picture 2" descr="conceptos clave de solución 2940897 Vector en Vecteezy">
            <a:extLst>
              <a:ext uri="{FF2B5EF4-FFF2-40B4-BE49-F238E27FC236}">
                <a16:creationId xmlns:a16="http://schemas.microsoft.com/office/drawing/2014/main" id="{CDCE3B3A-EFDD-825F-D501-2FF798683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8986" y="1180671"/>
            <a:ext cx="7628443" cy="792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02982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Google Shape;166;p7"/>
          <p:cNvSpPr txBox="1"/>
          <p:nvPr/>
        </p:nvSpPr>
        <p:spPr>
          <a:xfrm>
            <a:off x="1307163" y="1028700"/>
            <a:ext cx="6529674" cy="221199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rgbClr val="595959"/>
                </a:solidFill>
                <a:latin typeface="+mj-lt"/>
                <a:ea typeface="+mj-ea"/>
                <a:cs typeface="+mj-cs"/>
                <a:sym typeface="Impact"/>
              </a:rPr>
              <a:t>NOMBRE DEL </a:t>
            </a:r>
            <a:r>
              <a:rPr lang="en-US" sz="4800" i="0" u="none" strike="noStrike" kern="1200" cap="none">
                <a:solidFill>
                  <a:srgbClr val="595959"/>
                </a:solidFill>
                <a:latin typeface="+mj-lt"/>
                <a:ea typeface="+mj-ea"/>
                <a:cs typeface="+mj-cs"/>
                <a:sym typeface="Impact"/>
              </a:rPr>
              <a:t>VALOR Y/O ACTITUD</a:t>
            </a:r>
            <a:endParaRPr lang="en-US" sz="4800" kern="1200">
              <a:solidFill>
                <a:srgbClr val="595959"/>
              </a:solidFill>
              <a:latin typeface="+mj-lt"/>
              <a:ea typeface="+mj-ea"/>
              <a:cs typeface="+mj-cs"/>
              <a:sym typeface="Impact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1307163" y="3671005"/>
            <a:ext cx="6529674" cy="5655651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0" i="0" u="none" strike="noStrike" kern="1200" cap="none">
                <a:solidFill>
                  <a:srgbClr val="595959"/>
                </a:solidFill>
                <a:latin typeface="+mn-lt"/>
                <a:ea typeface="+mn-ea"/>
                <a:cs typeface="+mn-cs"/>
                <a:sym typeface="Arial"/>
              </a:rPr>
              <a:t>Comunicación efectiva: Evita errores al conectar sensores al compartir bien la información técnica.</a:t>
            </a:r>
          </a:p>
          <a:p>
            <a:pPr marL="457200" marR="0" lvl="0" indent="-22860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000" b="0" i="0" u="none" strike="noStrike" kern="1200" cap="none">
                <a:solidFill>
                  <a:srgbClr val="595959"/>
                </a:solidFill>
                <a:latin typeface="+mn-lt"/>
                <a:ea typeface="+mn-ea"/>
                <a:cs typeface="+mn-cs"/>
                <a:sym typeface="Arial"/>
              </a:rPr>
              <a:t>Responsabilidad compartida: Cada quien asegura que su sensor funcione correctamente.</a:t>
            </a:r>
            <a:endParaRPr lang="en-US" sz="3000" kern="1200">
              <a:solidFill>
                <a:srgbClr val="595959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 descr="Valores ¡Es lo que realmente importa! - Neurona Digital Mag">
            <a:extLst>
              <a:ext uri="{FF2B5EF4-FFF2-40B4-BE49-F238E27FC236}">
                <a16:creationId xmlns:a16="http://schemas.microsoft.com/office/drawing/2014/main" id="{0FB72F1C-0509-5615-74F4-D4C6DE29C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72701" y="2785145"/>
            <a:ext cx="7195584" cy="478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803381" y="4280604"/>
            <a:ext cx="6911332" cy="437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https://www.arduino.cc/</a:t>
            </a:r>
            <a:endParaRPr lang="es-MX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https://playground.arduino.cc/</a:t>
            </a:r>
            <a:endParaRPr lang="es-MX" sz="3151" dirty="0">
              <a:solidFill>
                <a:srgbClr val="131416"/>
              </a:solidFill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Libro: "Beginning Arduino" </a:t>
            </a:r>
            <a:r>
              <a:rPr lang="en-US" sz="3151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Michael McRoberts</a:t>
            </a:r>
            <a:endParaRPr lang="es-MX" sz="3151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Documentación oficial de sensores (</a:t>
            </a:r>
            <a:r>
              <a:rPr lang="es-MX" sz="3151" b="0" i="0" u="none" strike="noStrike" cap="none" dirty="0" err="1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datasheets</a:t>
            </a:r>
            <a:r>
              <a:rPr lang="es-MX" sz="3151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457200" marR="0" lvl="0" indent="-45720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9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99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87" name="Google Shape;187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575</Words>
  <Application>Microsoft Office PowerPoint</Application>
  <PresentationFormat>Personalizado</PresentationFormat>
  <Paragraphs>65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Open Sans</vt:lpstr>
      <vt:lpstr>Lobster</vt:lpstr>
      <vt:lpstr>Arial</vt:lpstr>
      <vt:lpstr>Pacifico</vt:lpstr>
      <vt:lpstr>Impact</vt:lpstr>
      <vt:lpstr>Calibri</vt:lpstr>
      <vt:lpstr>Office Theme</vt:lpstr>
      <vt:lpstr>Presentación de PowerPoint</vt:lpstr>
      <vt:lpstr>Presentación de PowerPoint</vt:lpstr>
      <vt:lpstr>Presentación de PowerPoint</vt:lpstr>
      <vt:lpstr>Sensores  ¿Qué es un Sensor?</vt:lpstr>
      <vt:lpstr>Tipos de Sensores Comunes en Arduino</vt:lpstr>
      <vt:lpstr>Sensores Analógicos vs Digitales</vt:lpstr>
      <vt:lpstr>Conexión de Sensores al Arduino</vt:lpstr>
      <vt:lpstr>Lectura de Datos desde Sensores</vt:lpstr>
      <vt:lpstr>Uso del Convertidor ADC</vt:lpstr>
      <vt:lpstr>Manejo de Bibliotecas para Sensores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Axel Calderon</cp:lastModifiedBy>
  <cp:revision>11</cp:revision>
  <dcterms:created xsi:type="dcterms:W3CDTF">2006-08-16T00:00:00Z</dcterms:created>
  <dcterms:modified xsi:type="dcterms:W3CDTF">2025-05-21T01:17:30Z</dcterms:modified>
</cp:coreProperties>
</file>