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65" r:id="rId6"/>
    <p:sldId id="266" r:id="rId7"/>
    <p:sldId id="267" r:id="rId8"/>
    <p:sldId id="268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Impact" panose="020B0806030902050204" pitchFamily="34" charset="0"/>
      <p:regular r:id="rId16"/>
    </p:embeddedFont>
    <p:embeddedFont>
      <p:font typeface="Lobster" panose="00000500000000000000" pitchFamily="2" charset="0"/>
      <p:regular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Pacifico" panose="00000500000000000000" pitchFamily="2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VTfPeuph8O4z6nnE8PyMA4ke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78" y="10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s/docs/Web/HTTP" TargetMode="External"/><Relationship Id="rId7" Type="http://schemas.openxmlformats.org/officeDocument/2006/relationships/hyperlink" Target="https://mosquitto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ws.amazon.com/es/iot-core/" TargetMode="External"/><Relationship Id="rId5" Type="http://schemas.openxmlformats.org/officeDocument/2006/relationships/hyperlink" Target="https://www.hivemq.com/mqtt-essentials/" TargetMode="External"/><Relationship Id="rId4" Type="http://schemas.openxmlformats.org/officeDocument/2006/relationships/hyperlink" Target="https://mqtt.org/documentation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" name="Google Shape;86;p1"/>
          <p:cNvSpPr txBox="1"/>
          <p:nvPr/>
        </p:nvSpPr>
        <p:spPr>
          <a:xfrm>
            <a:off x="1063302" y="6994239"/>
            <a:ext cx="9861371" cy="189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r>
              <a:rPr lang="en-US" sz="44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44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Computadores</a:t>
            </a:r>
            <a:r>
              <a:rPr lang="en-US" sz="44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44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Ensambladores</a:t>
            </a:r>
            <a:r>
              <a:rPr lang="en-US" sz="44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2711468" y="2429161"/>
            <a:ext cx="1237500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Protocolos</a:t>
            </a:r>
            <a:r>
              <a:rPr lang="en-US" sz="72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72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Comunicación</a:t>
            </a:r>
            <a:r>
              <a:rPr lang="en-US" sz="72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72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Intercapa</a:t>
            </a:r>
            <a:endParaRPr sz="7200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604119" y="4641707"/>
            <a:ext cx="5805560" cy="845385"/>
            <a:chOff x="0" y="-76200"/>
            <a:chExt cx="1964221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sz="27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Protocolo HTTP en soluciones </a:t>
              </a:r>
              <a:r>
                <a:rPr lang="es-MX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IoT</a:t>
              </a:r>
              <a:endParaRPr dirty="0"/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4" name="Google Shape;10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https://youtu.be/QeRvIgLgDI4</a:t>
              </a:r>
              <a:endParaRPr dirty="0"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</a:t>
              </a:r>
              <a:r>
                <a:rPr lang="en-US" sz="44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Quizziz</a:t>
              </a:r>
              <a:endParaRPr dirty="0"/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6488300" y="5365870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9" name="Google Shape;129;p2"/>
          <p:cNvSpPr txBox="1"/>
          <p:nvPr/>
        </p:nvSpPr>
        <p:spPr>
          <a:xfrm>
            <a:off x="7087316" y="6295138"/>
            <a:ext cx="3428436" cy="273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41" b="0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todos los recordatorios como lo sean, cortos, entregas, horarios de calificación. Colocaras, link de video y link o codigo de quizziz si lo amerita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e concept of competency or skill ability, work responsibility ...">
            <a:extLst>
              <a:ext uri="{FF2B5EF4-FFF2-40B4-BE49-F238E27FC236}">
                <a16:creationId xmlns:a16="http://schemas.microsoft.com/office/drawing/2014/main" id="{6CC6F41B-4D56-56F4-5102-58740F08F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" r="4874"/>
          <a:stretch>
            <a:fillRect/>
          </a:stretch>
        </p:blipFill>
        <p:spPr bwMode="auto">
          <a:xfrm>
            <a:off x="1" y="10"/>
            <a:ext cx="14504463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87528" y="0"/>
            <a:ext cx="10600467" cy="10287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Google Shape;134;p3"/>
          <p:cNvSpPr txBox="1"/>
          <p:nvPr/>
        </p:nvSpPr>
        <p:spPr>
          <a:xfrm>
            <a:off x="11297415" y="547687"/>
            <a:ext cx="5733283" cy="284986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COMPETENCIA(S) QUE DESARROLLAREMOS</a:t>
            </a:r>
            <a:endParaRPr lang="en-US" sz="47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1297415" y="3651301"/>
            <a:ext cx="5733283" cy="5614143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1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configura un sistema IoT basado en Arduino y Raspberry Pi utilizando protocolos como MQTT y bibliotecas específicas para implementar comunicación segura entre dispositivos embebidos</a:t>
            </a:r>
            <a:endParaRPr lang="en-US" sz="3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53CAE-20A3-EC4A-4551-0826A5195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D18969DA-E869-40AF-94FC-E40F96D7D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CA64E8-777B-2034-FE64-4FA09B783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0186" y="2208913"/>
            <a:ext cx="6686551" cy="32035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5100" b="1"/>
              <a:t>Protocolo HTTP en soluciones IoT</a:t>
            </a:r>
            <a:br>
              <a:rPr lang="es-MX" sz="5100" b="1"/>
            </a:br>
            <a:br>
              <a:rPr lang="es-MX" sz="5100" b="1"/>
            </a:br>
            <a:r>
              <a:rPr lang="es-MX" sz="5100" b="1"/>
              <a:t>Concepto de protocolo</a:t>
            </a:r>
            <a:endParaRPr lang="es-GT" sz="51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E06E10-9CE4-016D-1C01-DE03BB465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7332" y="5749557"/>
            <a:ext cx="6315585" cy="159488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MX" sz="2800" dirty="0"/>
              <a:t>HTTP (</a:t>
            </a:r>
            <a:r>
              <a:rPr lang="es-MX" sz="2800" dirty="0" err="1"/>
              <a:t>HyperText</a:t>
            </a:r>
            <a:r>
              <a:rPr lang="es-MX" sz="2800" dirty="0"/>
              <a:t> Transfer </a:t>
            </a:r>
            <a:r>
              <a:rPr lang="es-MX" sz="2800" dirty="0" err="1"/>
              <a:t>Protocol</a:t>
            </a:r>
            <a:r>
              <a:rPr lang="es-MX" sz="2800" dirty="0"/>
              <a:t>) es un protocolo de aplicación utilizado para transferir datos en la web. En entornos </a:t>
            </a:r>
            <a:r>
              <a:rPr lang="es-MX" sz="2800" dirty="0" err="1"/>
              <a:t>IoT</a:t>
            </a:r>
            <a:r>
              <a:rPr lang="es-MX" sz="2800" dirty="0"/>
              <a:t> se usa principalmente en comunicaciones cliente-servidor donde se requiere interoperabilidad con servicios web.</a:t>
            </a:r>
            <a:endParaRPr lang="es-GT" sz="2800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0776B1EE-A7D1-46A3-81E9-19E58E41D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884892" y="1"/>
            <a:ext cx="11403106" cy="726140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IoT Communication Protocols">
            <a:extLst>
              <a:ext uri="{FF2B5EF4-FFF2-40B4-BE49-F238E27FC236}">
                <a16:creationId xmlns:a16="http://schemas.microsoft.com/office/drawing/2014/main" id="{C7967944-D9F8-5148-60D3-6E790E442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61174" y="2621491"/>
            <a:ext cx="7776318" cy="439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A0A40C28-B748-4B4A-BF04-30E783CE7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56493"/>
            <a:ext cx="16020843" cy="2030508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54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971767-3BF0-705D-9B31-170B010FA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2784" y="4416135"/>
            <a:ext cx="6054501" cy="3581400"/>
          </a:xfrm>
        </p:spPr>
        <p:txBody>
          <a:bodyPr anchor="t">
            <a:normAutofit/>
          </a:bodyPr>
          <a:lstStyle/>
          <a:p>
            <a:pPr algn="l"/>
            <a:r>
              <a:rPr lang="es-GT" sz="8100" b="1"/>
              <a:t>Arquitectura MQTT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A3FA49-9032-68F4-7385-04C3F4376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2787" y="1429555"/>
            <a:ext cx="6054499" cy="256477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300"/>
              <a:t>MQTT (Message Queuing Telemetry Transport) es un protocolo ligero basado en el modelo publicador-suscriptor. Su arquitectura consta de clientes y un broker, permitiendo una comunicación eficiente en redes de bajo ancho de banda.</a:t>
            </a:r>
            <a:endParaRPr lang="es-GT" sz="230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2241495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236" y="587829"/>
            <a:ext cx="9014049" cy="902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Qué es MQTT? Definición y detalles">
            <a:extLst>
              <a:ext uri="{FF2B5EF4-FFF2-40B4-BE49-F238E27FC236}">
                <a16:creationId xmlns:a16="http://schemas.microsoft.com/office/drawing/2014/main" id="{D611E218-9835-8314-D132-04755B6C7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260" y="2919635"/>
            <a:ext cx="8304002" cy="435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90724" y="4477488"/>
            <a:ext cx="1097283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Rectangle 206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672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39FBD-7E5A-ABF6-7A17-21D4C429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4316748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6C9AB7-16CD-1D7E-D7C0-9C45E4D3D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6404" y="946404"/>
            <a:ext cx="5399532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5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Niveles de calidad de servicio (QoS)</a:t>
            </a:r>
          </a:p>
        </p:txBody>
      </p:sp>
      <p:sp>
        <p:nvSpPr>
          <p:cNvPr id="3083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49239" y="2029968"/>
            <a:ext cx="2331720" cy="27432"/>
          </a:xfrm>
          <a:custGeom>
            <a:avLst/>
            <a:gdLst>
              <a:gd name="connsiteX0" fmla="*/ 0 w 2331720"/>
              <a:gd name="connsiteY0" fmla="*/ 0 h 27432"/>
              <a:gd name="connsiteX1" fmla="*/ 559613 w 2331720"/>
              <a:gd name="connsiteY1" fmla="*/ 0 h 27432"/>
              <a:gd name="connsiteX2" fmla="*/ 1142543 w 2331720"/>
              <a:gd name="connsiteY2" fmla="*/ 0 h 27432"/>
              <a:gd name="connsiteX3" fmla="*/ 1725473 w 2331720"/>
              <a:gd name="connsiteY3" fmla="*/ 0 h 27432"/>
              <a:gd name="connsiteX4" fmla="*/ 2331720 w 2331720"/>
              <a:gd name="connsiteY4" fmla="*/ 0 h 27432"/>
              <a:gd name="connsiteX5" fmla="*/ 2331720 w 2331720"/>
              <a:gd name="connsiteY5" fmla="*/ 27432 h 27432"/>
              <a:gd name="connsiteX6" fmla="*/ 1748790 w 2331720"/>
              <a:gd name="connsiteY6" fmla="*/ 27432 h 27432"/>
              <a:gd name="connsiteX7" fmla="*/ 1212494 w 2331720"/>
              <a:gd name="connsiteY7" fmla="*/ 27432 h 27432"/>
              <a:gd name="connsiteX8" fmla="*/ 676199 w 2331720"/>
              <a:gd name="connsiteY8" fmla="*/ 27432 h 27432"/>
              <a:gd name="connsiteX9" fmla="*/ 0 w 2331720"/>
              <a:gd name="connsiteY9" fmla="*/ 27432 h 27432"/>
              <a:gd name="connsiteX10" fmla="*/ 0 w 2331720"/>
              <a:gd name="connsiteY10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31720" h="27432" fill="none" extrusionOk="0">
                <a:moveTo>
                  <a:pt x="0" y="0"/>
                </a:moveTo>
                <a:cubicBezTo>
                  <a:pt x="193316" y="-14286"/>
                  <a:pt x="386509" y="-1125"/>
                  <a:pt x="559613" y="0"/>
                </a:cubicBezTo>
                <a:cubicBezTo>
                  <a:pt x="732717" y="1125"/>
                  <a:pt x="909882" y="-9285"/>
                  <a:pt x="1142543" y="0"/>
                </a:cubicBezTo>
                <a:cubicBezTo>
                  <a:pt x="1375204" y="9285"/>
                  <a:pt x="1490929" y="16422"/>
                  <a:pt x="1725473" y="0"/>
                </a:cubicBezTo>
                <a:cubicBezTo>
                  <a:pt x="1960017" y="-16422"/>
                  <a:pt x="2090698" y="-22558"/>
                  <a:pt x="2331720" y="0"/>
                </a:cubicBezTo>
                <a:cubicBezTo>
                  <a:pt x="2332023" y="11145"/>
                  <a:pt x="2331293" y="14758"/>
                  <a:pt x="2331720" y="27432"/>
                </a:cubicBezTo>
                <a:cubicBezTo>
                  <a:pt x="2105542" y="52313"/>
                  <a:pt x="2039251" y="32774"/>
                  <a:pt x="1748790" y="27432"/>
                </a:cubicBezTo>
                <a:cubicBezTo>
                  <a:pt x="1458329" y="22091"/>
                  <a:pt x="1436072" y="17457"/>
                  <a:pt x="1212494" y="27432"/>
                </a:cubicBezTo>
                <a:cubicBezTo>
                  <a:pt x="988916" y="37407"/>
                  <a:pt x="936768" y="34014"/>
                  <a:pt x="676199" y="27432"/>
                </a:cubicBezTo>
                <a:cubicBezTo>
                  <a:pt x="415630" y="20850"/>
                  <a:pt x="187181" y="2482"/>
                  <a:pt x="0" y="27432"/>
                </a:cubicBezTo>
                <a:cubicBezTo>
                  <a:pt x="-1145" y="17399"/>
                  <a:pt x="-496" y="9484"/>
                  <a:pt x="0" y="0"/>
                </a:cubicBezTo>
                <a:close/>
              </a:path>
              <a:path w="2331720" h="27432" stroke="0" extrusionOk="0">
                <a:moveTo>
                  <a:pt x="0" y="0"/>
                </a:moveTo>
                <a:cubicBezTo>
                  <a:pt x="139991" y="7893"/>
                  <a:pt x="383267" y="9775"/>
                  <a:pt x="559613" y="0"/>
                </a:cubicBezTo>
                <a:cubicBezTo>
                  <a:pt x="735959" y="-9775"/>
                  <a:pt x="830019" y="19030"/>
                  <a:pt x="1072591" y="0"/>
                </a:cubicBezTo>
                <a:cubicBezTo>
                  <a:pt x="1315163" y="-19030"/>
                  <a:pt x="1496242" y="-320"/>
                  <a:pt x="1702156" y="0"/>
                </a:cubicBezTo>
                <a:cubicBezTo>
                  <a:pt x="1908071" y="320"/>
                  <a:pt x="2097549" y="18703"/>
                  <a:pt x="2331720" y="0"/>
                </a:cubicBezTo>
                <a:cubicBezTo>
                  <a:pt x="2332591" y="6699"/>
                  <a:pt x="2332407" y="13731"/>
                  <a:pt x="2331720" y="27432"/>
                </a:cubicBezTo>
                <a:cubicBezTo>
                  <a:pt x="2093003" y="17823"/>
                  <a:pt x="1999036" y="42677"/>
                  <a:pt x="1795424" y="27432"/>
                </a:cubicBezTo>
                <a:cubicBezTo>
                  <a:pt x="1591812" y="12187"/>
                  <a:pt x="1414520" y="21492"/>
                  <a:pt x="1259129" y="27432"/>
                </a:cubicBezTo>
                <a:cubicBezTo>
                  <a:pt x="1103738" y="33372"/>
                  <a:pt x="912643" y="24838"/>
                  <a:pt x="629564" y="27432"/>
                </a:cubicBezTo>
                <a:cubicBezTo>
                  <a:pt x="346485" y="30026"/>
                  <a:pt x="198767" y="35305"/>
                  <a:pt x="0" y="27432"/>
                </a:cubicBezTo>
                <a:cubicBezTo>
                  <a:pt x="-806" y="19304"/>
                  <a:pt x="1360" y="9038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D1E681-C15C-F38F-E162-C3885C88E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693" y="946404"/>
            <a:ext cx="10611613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8260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MQTT define tres niveles de QoS:- 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QoS 0: "At most once" – mensaje entregado una vez, sin confirmación.- 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QoS 1: "At least once" – mensaje confirmado por el receptor.- 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QoS 2: "Exactly once" – entrega garantizada y única.</a:t>
            </a:r>
          </a:p>
        </p:txBody>
      </p:sp>
      <p:pic>
        <p:nvPicPr>
          <p:cNvPr id="3074" name="Picture 2" descr="MQTT QoS | Aprendiendo Arduino">
            <a:extLst>
              <a:ext uri="{FF2B5EF4-FFF2-40B4-BE49-F238E27FC236}">
                <a16:creationId xmlns:a16="http://schemas.microsoft.com/office/drawing/2014/main" id="{B5C11F68-631A-948F-A19C-B6131D291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66485" y="4457700"/>
            <a:ext cx="15736741" cy="491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303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046EE-41D3-AFEA-BA4D-493B4DF1A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6" name="Rectangle 4115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16230600" cy="822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06CBAA-8D75-9B2F-E20F-0B808BD0C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8912" y="2070846"/>
            <a:ext cx="6842053" cy="3519343"/>
          </a:xfrm>
        </p:spPr>
        <p:txBody>
          <a:bodyPr anchor="b">
            <a:normAutofit/>
          </a:bodyPr>
          <a:lstStyle/>
          <a:p>
            <a:r>
              <a:rPr lang="es-MX" sz="4800" b="1">
                <a:solidFill>
                  <a:srgbClr val="595959"/>
                </a:solidFill>
              </a:rPr>
              <a:t>Implementación y plataformas en casos reales</a:t>
            </a:r>
            <a:endParaRPr lang="es-GT" sz="4800" b="1">
              <a:solidFill>
                <a:srgbClr val="595959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EB98E4-96CB-F1C3-05B5-AD52F145C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8912" y="6092017"/>
            <a:ext cx="6842053" cy="2124135"/>
          </a:xfrm>
        </p:spPr>
        <p:txBody>
          <a:bodyPr anchor="t">
            <a:normAutofit/>
          </a:bodyPr>
          <a:lstStyle/>
          <a:p>
            <a:r>
              <a:rPr lang="es-MX" sz="2100">
                <a:solidFill>
                  <a:srgbClr val="595959"/>
                </a:solidFill>
              </a:rPr>
              <a:t>MQTT se implementa en sistemas como domótica, telemetría industrial y sensores remotos. Plataformas como AWS IoT Core, Mosquitto, HiveMQ y Node-RED son usadas comúnmente.</a:t>
            </a:r>
            <a:endParaRPr lang="es-GT" sz="2100">
              <a:solidFill>
                <a:srgbClr val="595959"/>
              </a:solidFill>
            </a:endParaRPr>
          </a:p>
        </p:txBody>
      </p:sp>
      <p:pic>
        <p:nvPicPr>
          <p:cNvPr id="4098" name="Picture 2" descr="Navixy MQTT Capabilities">
            <a:extLst>
              <a:ext uri="{FF2B5EF4-FFF2-40B4-BE49-F238E27FC236}">
                <a16:creationId xmlns:a16="http://schemas.microsoft.com/office/drawing/2014/main" id="{2F922D5B-783A-B843-A921-CC7C9E25A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16402" y="2889787"/>
            <a:ext cx="6027645" cy="450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983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CB6B1-FC4B-4996-6479-C61753E2D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0" name="Rectangle 5139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CACF6D-8273-AEDB-F4C4-D3E004096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222" y="1198054"/>
            <a:ext cx="7831778" cy="4608023"/>
          </a:xfrm>
        </p:spPr>
        <p:txBody>
          <a:bodyPr anchor="b">
            <a:normAutofit/>
          </a:bodyPr>
          <a:lstStyle/>
          <a:p>
            <a:r>
              <a:rPr lang="es-GT" b="1"/>
              <a:t>Seguridad del protocolo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C93670-49BB-1FD4-3FF0-78A2A4A86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222" y="5944188"/>
            <a:ext cx="7831777" cy="3153162"/>
          </a:xfrm>
        </p:spPr>
        <p:txBody>
          <a:bodyPr anchor="t">
            <a:normAutofit/>
          </a:bodyPr>
          <a:lstStyle/>
          <a:p>
            <a:r>
              <a:rPr lang="es-MX"/>
              <a:t>MQTT puede usar TLS/SSL para cifrado de mensajes y autenticación mediante usuarios y contraseñas. También permite el uso de certificados X.509 para mayor seguridad en dispositivos IoT.</a:t>
            </a:r>
            <a:endParaRPr lang="es-GT"/>
          </a:p>
        </p:txBody>
      </p:sp>
      <p:sp>
        <p:nvSpPr>
          <p:cNvPr id="5142" name="Freeform: Shape 5141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06088" y="0"/>
            <a:ext cx="2606102" cy="1439304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44" name="Freeform: Shape 5143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51004" y="1"/>
            <a:ext cx="1732713" cy="886514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MQTT Security | EMQX">
            <a:extLst>
              <a:ext uri="{FF2B5EF4-FFF2-40B4-BE49-F238E27FC236}">
                <a16:creationId xmlns:a16="http://schemas.microsoft.com/office/drawing/2014/main" id="{4C588A9A-142A-3012-C5F5-0E0088862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76864" y="1997780"/>
            <a:ext cx="7409256" cy="5717018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6" name="Freeform: Shape 5145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48388" y="4374367"/>
            <a:ext cx="239612" cy="829494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148" name="Freeform: Shape 5147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2660" y="8576859"/>
            <a:ext cx="2657413" cy="171014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50" name="Freeform: Shape 5149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71266" y="9388134"/>
            <a:ext cx="2348910" cy="898867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52" name="Freeform: Shape 5151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5730" y="8753475"/>
            <a:ext cx="2322270" cy="1533526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2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374889" y="3650660"/>
            <a:ext cx="14365903" cy="14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se pueda dar ejemplos de aplicacion que vallan de acuerdo a los temas vistos (comprension y aplicacion)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53" name="Google Shape;153;p5"/>
          <p:cNvSpPr txBox="1"/>
          <p:nvPr/>
        </p:nvSpPr>
        <p:spPr>
          <a:xfrm>
            <a:off x="14141311" y="6442453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 b="0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de la Taxonomía de Bloom nos habla de la parte de crear (llevar a la realidad la teoría aprendida) trata de dar ejemplos de este estilo, si aplican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50E4C519-FBE9-4ABE-A8F9-C2CBE3269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Cinco ideias de negócios de baixo custo para consideração - RafaS GeeK">
            <a:extLst>
              <a:ext uri="{FF2B5EF4-FFF2-40B4-BE49-F238E27FC236}">
                <a16:creationId xmlns:a16="http://schemas.microsoft.com/office/drawing/2014/main" id="{C1431B97-7357-104D-D6F3-D8C7C1225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6" r="5757"/>
          <a:stretch>
            <a:fillRect/>
          </a:stretch>
        </p:blipFill>
        <p:spPr bwMode="auto">
          <a:xfrm>
            <a:off x="4868455" y="-1"/>
            <a:ext cx="13419545" cy="10286999"/>
          </a:xfrm>
          <a:custGeom>
            <a:avLst/>
            <a:gdLst/>
            <a:ahLst/>
            <a:cxnLst/>
            <a:rect l="l" t="t" r="r" b="b"/>
            <a:pathLst>
              <a:path w="8946363" h="6858000">
                <a:moveTo>
                  <a:pt x="0" y="0"/>
                </a:moveTo>
                <a:lnTo>
                  <a:pt x="8946363" y="0"/>
                </a:lnTo>
                <a:lnTo>
                  <a:pt x="8946363" y="6858000"/>
                </a:lnTo>
                <a:lnTo>
                  <a:pt x="1" y="6858000"/>
                </a:lnTo>
                <a:lnTo>
                  <a:pt x="60040" y="6788731"/>
                </a:lnTo>
                <a:cubicBezTo>
                  <a:pt x="770566" y="5928901"/>
                  <a:pt x="1210035" y="4741057"/>
                  <a:pt x="1210035" y="3429001"/>
                </a:cubicBezTo>
                <a:cubicBezTo>
                  <a:pt x="1210035" y="2116945"/>
                  <a:pt x="770566" y="929101"/>
                  <a:pt x="60040" y="6927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59" name="Freeform: Shape 2058">
            <a:extLst>
              <a:ext uri="{FF2B5EF4-FFF2-40B4-BE49-F238E27FC236}">
                <a16:creationId xmlns:a16="http://schemas.microsoft.com/office/drawing/2014/main" id="{80EC29FB-299E-49F3-8C7B-01199632A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683508" cy="10286999"/>
          </a:xfrm>
          <a:custGeom>
            <a:avLst/>
            <a:gdLst>
              <a:gd name="connsiteX0" fmla="*/ 0 w 4455672"/>
              <a:gd name="connsiteY0" fmla="*/ 0 h 6858000"/>
              <a:gd name="connsiteX1" fmla="*/ 3245636 w 4455672"/>
              <a:gd name="connsiteY1" fmla="*/ 0 h 6858000"/>
              <a:gd name="connsiteX2" fmla="*/ 3305677 w 4455672"/>
              <a:gd name="connsiteY2" fmla="*/ 69272 h 6858000"/>
              <a:gd name="connsiteX3" fmla="*/ 4455672 w 4455672"/>
              <a:gd name="connsiteY3" fmla="*/ 3429001 h 6858000"/>
              <a:gd name="connsiteX4" fmla="*/ 3305677 w 4455672"/>
              <a:gd name="connsiteY4" fmla="*/ 6788731 h 6858000"/>
              <a:gd name="connsiteX5" fmla="*/ 3245638 w 4455672"/>
              <a:gd name="connsiteY5" fmla="*/ 6858000 h 6858000"/>
              <a:gd name="connsiteX6" fmla="*/ 0 w 44556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2" h="6858000">
                <a:moveTo>
                  <a:pt x="0" y="0"/>
                </a:moveTo>
                <a:lnTo>
                  <a:pt x="3245636" y="0"/>
                </a:lnTo>
                <a:lnTo>
                  <a:pt x="3305677" y="69272"/>
                </a:lnTo>
                <a:cubicBezTo>
                  <a:pt x="4016203" y="929101"/>
                  <a:pt x="4455672" y="2116945"/>
                  <a:pt x="4455672" y="3429001"/>
                </a:cubicBezTo>
                <a:cubicBezTo>
                  <a:pt x="4455672" y="4741057"/>
                  <a:pt x="4016203" y="5928901"/>
                  <a:pt x="3305677" y="6788731"/>
                </a:cubicBezTo>
                <a:lnTo>
                  <a:pt x="3245638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61" name="Freeform: Shape 2060">
            <a:extLst>
              <a:ext uri="{FF2B5EF4-FFF2-40B4-BE49-F238E27FC236}">
                <a16:creationId xmlns:a16="http://schemas.microsoft.com/office/drawing/2014/main" id="{C29A2522-B27A-45C5-897B-79A1407D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69792" cy="10287000"/>
          </a:xfrm>
          <a:custGeom>
            <a:avLst/>
            <a:gdLst>
              <a:gd name="connsiteX0" fmla="*/ 0 w 4446528"/>
              <a:gd name="connsiteY0" fmla="*/ 0 h 6858000"/>
              <a:gd name="connsiteX1" fmla="*/ 3236492 w 4446528"/>
              <a:gd name="connsiteY1" fmla="*/ 0 h 6858000"/>
              <a:gd name="connsiteX2" fmla="*/ 3296533 w 4446528"/>
              <a:gd name="connsiteY2" fmla="*/ 69272 h 6858000"/>
              <a:gd name="connsiteX3" fmla="*/ 4446528 w 4446528"/>
              <a:gd name="connsiteY3" fmla="*/ 3429001 h 6858000"/>
              <a:gd name="connsiteX4" fmla="*/ 3296533 w 4446528"/>
              <a:gd name="connsiteY4" fmla="*/ 6788731 h 6858000"/>
              <a:gd name="connsiteX5" fmla="*/ 3236494 w 4446528"/>
              <a:gd name="connsiteY5" fmla="*/ 6858000 h 6858000"/>
              <a:gd name="connsiteX6" fmla="*/ 0 w 44465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8" h="6858000">
                <a:moveTo>
                  <a:pt x="0" y="0"/>
                </a:moveTo>
                <a:lnTo>
                  <a:pt x="3236492" y="0"/>
                </a:lnTo>
                <a:lnTo>
                  <a:pt x="3296533" y="69272"/>
                </a:lnTo>
                <a:cubicBezTo>
                  <a:pt x="4007059" y="929101"/>
                  <a:pt x="4446528" y="2116945"/>
                  <a:pt x="4446528" y="3429001"/>
                </a:cubicBezTo>
                <a:cubicBezTo>
                  <a:pt x="4446528" y="4741057"/>
                  <a:pt x="4007059" y="5928901"/>
                  <a:pt x="3296533" y="6788731"/>
                </a:cubicBezTo>
                <a:lnTo>
                  <a:pt x="32364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56641" y="1741932"/>
            <a:ext cx="5157216" cy="185851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CONCEPTOS CLAVE APRENDIDOS </a:t>
            </a: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31441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271" y="3665220"/>
            <a:ext cx="50749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556641" y="4077081"/>
            <a:ext cx="5158359" cy="48108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MQTT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BROKER MQTT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QOS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50E4C519-FBE9-4ABE-A8F9-C2CBE3269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misión empresarial declaración de misión, objetivos y filosofía ...">
            <a:extLst>
              <a:ext uri="{FF2B5EF4-FFF2-40B4-BE49-F238E27FC236}">
                <a16:creationId xmlns:a16="http://schemas.microsoft.com/office/drawing/2014/main" id="{57D7D1B7-C821-3C38-060A-313223D4D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3" r="6351"/>
          <a:stretch>
            <a:fillRect/>
          </a:stretch>
        </p:blipFill>
        <p:spPr bwMode="auto">
          <a:xfrm>
            <a:off x="4868455" y="-1"/>
            <a:ext cx="13419545" cy="10286999"/>
          </a:xfrm>
          <a:custGeom>
            <a:avLst/>
            <a:gdLst/>
            <a:ahLst/>
            <a:cxnLst/>
            <a:rect l="l" t="t" r="r" b="b"/>
            <a:pathLst>
              <a:path w="8946363" h="6858000">
                <a:moveTo>
                  <a:pt x="0" y="0"/>
                </a:moveTo>
                <a:lnTo>
                  <a:pt x="8946363" y="0"/>
                </a:lnTo>
                <a:lnTo>
                  <a:pt x="8946363" y="6858000"/>
                </a:lnTo>
                <a:lnTo>
                  <a:pt x="1" y="6858000"/>
                </a:lnTo>
                <a:lnTo>
                  <a:pt x="60040" y="6788731"/>
                </a:lnTo>
                <a:cubicBezTo>
                  <a:pt x="770566" y="5928901"/>
                  <a:pt x="1210035" y="4741057"/>
                  <a:pt x="1210035" y="3429001"/>
                </a:cubicBezTo>
                <a:cubicBezTo>
                  <a:pt x="1210035" y="2116945"/>
                  <a:pt x="770566" y="929101"/>
                  <a:pt x="60040" y="6927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3081" name="Freeform: Shape 3080">
            <a:extLst>
              <a:ext uri="{FF2B5EF4-FFF2-40B4-BE49-F238E27FC236}">
                <a16:creationId xmlns:a16="http://schemas.microsoft.com/office/drawing/2014/main" id="{80EC29FB-299E-49F3-8C7B-01199632A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683508" cy="10286999"/>
          </a:xfrm>
          <a:custGeom>
            <a:avLst/>
            <a:gdLst>
              <a:gd name="connsiteX0" fmla="*/ 0 w 4455672"/>
              <a:gd name="connsiteY0" fmla="*/ 0 h 6858000"/>
              <a:gd name="connsiteX1" fmla="*/ 3245636 w 4455672"/>
              <a:gd name="connsiteY1" fmla="*/ 0 h 6858000"/>
              <a:gd name="connsiteX2" fmla="*/ 3305677 w 4455672"/>
              <a:gd name="connsiteY2" fmla="*/ 69272 h 6858000"/>
              <a:gd name="connsiteX3" fmla="*/ 4455672 w 4455672"/>
              <a:gd name="connsiteY3" fmla="*/ 3429001 h 6858000"/>
              <a:gd name="connsiteX4" fmla="*/ 3305677 w 4455672"/>
              <a:gd name="connsiteY4" fmla="*/ 6788731 h 6858000"/>
              <a:gd name="connsiteX5" fmla="*/ 3245638 w 4455672"/>
              <a:gd name="connsiteY5" fmla="*/ 6858000 h 6858000"/>
              <a:gd name="connsiteX6" fmla="*/ 0 w 44556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2" h="6858000">
                <a:moveTo>
                  <a:pt x="0" y="0"/>
                </a:moveTo>
                <a:lnTo>
                  <a:pt x="3245636" y="0"/>
                </a:lnTo>
                <a:lnTo>
                  <a:pt x="3305677" y="69272"/>
                </a:lnTo>
                <a:cubicBezTo>
                  <a:pt x="4016203" y="929101"/>
                  <a:pt x="4455672" y="2116945"/>
                  <a:pt x="4455672" y="3429001"/>
                </a:cubicBezTo>
                <a:cubicBezTo>
                  <a:pt x="4455672" y="4741057"/>
                  <a:pt x="4016203" y="5928901"/>
                  <a:pt x="3305677" y="6788731"/>
                </a:cubicBezTo>
                <a:lnTo>
                  <a:pt x="3245638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83" name="Freeform: Shape 3082">
            <a:extLst>
              <a:ext uri="{FF2B5EF4-FFF2-40B4-BE49-F238E27FC236}">
                <a16:creationId xmlns:a16="http://schemas.microsoft.com/office/drawing/2014/main" id="{C29A2522-B27A-45C5-897B-79A1407D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669792" cy="10287000"/>
          </a:xfrm>
          <a:custGeom>
            <a:avLst/>
            <a:gdLst>
              <a:gd name="connsiteX0" fmla="*/ 0 w 4446528"/>
              <a:gd name="connsiteY0" fmla="*/ 0 h 6858000"/>
              <a:gd name="connsiteX1" fmla="*/ 3236492 w 4446528"/>
              <a:gd name="connsiteY1" fmla="*/ 0 h 6858000"/>
              <a:gd name="connsiteX2" fmla="*/ 3296533 w 4446528"/>
              <a:gd name="connsiteY2" fmla="*/ 69272 h 6858000"/>
              <a:gd name="connsiteX3" fmla="*/ 4446528 w 4446528"/>
              <a:gd name="connsiteY3" fmla="*/ 3429001 h 6858000"/>
              <a:gd name="connsiteX4" fmla="*/ 3296533 w 4446528"/>
              <a:gd name="connsiteY4" fmla="*/ 6788731 h 6858000"/>
              <a:gd name="connsiteX5" fmla="*/ 3236494 w 4446528"/>
              <a:gd name="connsiteY5" fmla="*/ 6858000 h 6858000"/>
              <a:gd name="connsiteX6" fmla="*/ 0 w 44465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8" h="6858000">
                <a:moveTo>
                  <a:pt x="0" y="0"/>
                </a:moveTo>
                <a:lnTo>
                  <a:pt x="3236492" y="0"/>
                </a:lnTo>
                <a:lnTo>
                  <a:pt x="3296533" y="69272"/>
                </a:lnTo>
                <a:cubicBezTo>
                  <a:pt x="4007059" y="929101"/>
                  <a:pt x="4446528" y="2116945"/>
                  <a:pt x="4446528" y="3429001"/>
                </a:cubicBezTo>
                <a:cubicBezTo>
                  <a:pt x="4446528" y="4741057"/>
                  <a:pt x="4007059" y="5928901"/>
                  <a:pt x="3296533" y="6788731"/>
                </a:cubicBezTo>
                <a:lnTo>
                  <a:pt x="32364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556641" y="1741932"/>
            <a:ext cx="5157216" cy="185851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9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NOMBRE DEL </a:t>
            </a:r>
            <a:r>
              <a:rPr lang="en-US" sz="39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VALOR Y/O ACTITUD</a:t>
            </a:r>
            <a:endParaRPr lang="en-US" sz="39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31441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271" y="3665220"/>
            <a:ext cx="50749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556641" y="4077081"/>
            <a:ext cx="5158359" cy="48108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rPr>
              <a:t>Disciplina: Garantiza orden, precisión y cumplimiento en la implementación de una arquitectura IoT confiable.</a:t>
            </a:r>
            <a:endParaRPr lang="en-US" sz="2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4916233" y="4352793"/>
            <a:ext cx="845553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20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https://developer.mozilla.org/es/docs/Web/HTTP</a:t>
            </a:r>
            <a:endParaRPr lang="es-MX" sz="2000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hlinkClick r:id="rId4"/>
              </a:rPr>
              <a:t>https://mqtt.org/documentation/</a:t>
            </a:r>
            <a:endParaRPr lang="es-MX" sz="2000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hlinkClick r:id="rId5"/>
              </a:rPr>
              <a:t>https://www.hivemq.com/mqtt-essentials/</a:t>
            </a:r>
            <a:endParaRPr lang="es-MX" sz="2000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hlinkClick r:id="rId6"/>
              </a:rPr>
              <a:t>https://aws.amazon.com/es/iot-core/</a:t>
            </a:r>
            <a:endParaRPr lang="es-MX" sz="2000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2000" dirty="0">
                <a:hlinkClick r:id="rId7"/>
              </a:rPr>
              <a:t>https://mosquitto.org/</a:t>
            </a:r>
            <a:endParaRPr lang="es-MX" sz="2000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2000" dirty="0"/>
              <a:t>https://nodered.org/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87" name="Google Shape;18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492</Words>
  <Application>Microsoft Office PowerPoint</Application>
  <PresentationFormat>Personalizado</PresentationFormat>
  <Paragraphs>47</Paragraphs>
  <Slides>13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Impact</vt:lpstr>
      <vt:lpstr>Calibri</vt:lpstr>
      <vt:lpstr>Open Sans</vt:lpstr>
      <vt:lpstr>Lobster</vt:lpstr>
      <vt:lpstr>Arial</vt:lpstr>
      <vt:lpstr>Pacifico</vt:lpstr>
      <vt:lpstr>Office Theme</vt:lpstr>
      <vt:lpstr>Presentación de PowerPoint</vt:lpstr>
      <vt:lpstr>Presentación de PowerPoint</vt:lpstr>
      <vt:lpstr>Presentación de PowerPoint</vt:lpstr>
      <vt:lpstr>Protocolo HTTP en soluciones IoT  Concepto de protocolo</vt:lpstr>
      <vt:lpstr>Arquitectura MQTT</vt:lpstr>
      <vt:lpstr>Niveles de calidad de servicio (QoS)</vt:lpstr>
      <vt:lpstr>Implementación y plataformas en casos reales</vt:lpstr>
      <vt:lpstr>Seguridad del protocolo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Axel Calderon</cp:lastModifiedBy>
  <cp:revision>6</cp:revision>
  <dcterms:created xsi:type="dcterms:W3CDTF">2006-08-16T00:00:00Z</dcterms:created>
  <dcterms:modified xsi:type="dcterms:W3CDTF">2025-05-17T04:05:08Z</dcterms:modified>
</cp:coreProperties>
</file>