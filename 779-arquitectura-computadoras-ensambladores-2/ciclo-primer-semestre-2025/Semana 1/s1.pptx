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10287000" cx="18288000"/>
  <p:notesSz cx="6858000" cy="9144000"/>
  <p:embeddedFontLst>
    <p:embeddedFont>
      <p:font typeface="Lobster"/>
      <p:regular r:id="rId28"/>
    </p:embeddedFont>
    <p:embeddedFont>
      <p:font typeface="Pacifico"/>
      <p:regular r:id="rId29"/>
    </p:embeddedFont>
    <p:embeddedFont>
      <p:font typeface="Open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g6MAmf7pmgalI9+rZf6XUGZgub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Lobster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acific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bold.fntdata"/><Relationship Id="rId30" Type="http://schemas.openxmlformats.org/officeDocument/2006/relationships/font" Target="fonts/OpenSans-regular.fntdata"/><Relationship Id="rId11" Type="http://schemas.openxmlformats.org/officeDocument/2006/relationships/slide" Target="slides/slide6.xml"/><Relationship Id="rId33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32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5" name="Google Shape;27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3" name="Google Shape;28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2" name="Google Shape;29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8" name="Google Shape;38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2" name="Google Shape;5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2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arduino.cc/" TargetMode="External"/><Relationship Id="rId4" Type="http://schemas.openxmlformats.org/officeDocument/2006/relationships/hyperlink" Target="https://www.arduino.cc/reference/en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"/>
          <p:cNvSpPr txBox="1"/>
          <p:nvPr/>
        </p:nvSpPr>
        <p:spPr>
          <a:xfrm>
            <a:off x="2663342" y="2487963"/>
            <a:ext cx="12375000" cy="396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Fundamentos de Arduino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1063302" y="6994239"/>
            <a:ext cx="10583265" cy="1551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Arquitectura de Computadores y Ensambladores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/>
          <p:cNvGrpSpPr/>
          <p:nvPr/>
        </p:nvGrpSpPr>
        <p:grpSpPr>
          <a:xfrm>
            <a:off x="1628532" y="4499779"/>
            <a:ext cx="4613551" cy="845385"/>
            <a:chOff x="0" y="-76200"/>
            <a:chExt cx="1964221" cy="359923"/>
          </a:xfrm>
        </p:grpSpPr>
        <p:sp>
          <p:nvSpPr>
            <p:cNvPr id="89" name="Google Shape;8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Introducción a Arduino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" name="Google Shape;91;p2"/>
          <p:cNvSpPr/>
          <p:nvPr/>
        </p:nvSpPr>
        <p:spPr>
          <a:xfrm>
            <a:off x="651749" y="468222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" name="Google Shape;92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93" name="Google Shape;93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98" name="Google Shape;98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https://youtu.be/uRpRega8ESA</a:t>
              </a:r>
              <a:endParaRPr/>
            </a:p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2"/>
          <p:cNvGrpSpPr/>
          <p:nvPr/>
        </p:nvGrpSpPr>
        <p:grpSpPr>
          <a:xfrm>
            <a:off x="11904838" y="7200503"/>
            <a:ext cx="5353646" cy="1701145"/>
            <a:chOff x="0" y="-10921"/>
            <a:chExt cx="1410014" cy="448038"/>
          </a:xfrm>
        </p:grpSpPr>
        <p:sp>
          <p:nvSpPr>
            <p:cNvPr id="102" name="Google Shape;102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0" y="-10921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" name="Google Shape;104;p2"/>
          <p:cNvGrpSpPr/>
          <p:nvPr/>
        </p:nvGrpSpPr>
        <p:grpSpPr>
          <a:xfrm>
            <a:off x="1628532" y="5423597"/>
            <a:ext cx="4613551" cy="845385"/>
            <a:chOff x="0" y="-76200"/>
            <a:chExt cx="1964221" cy="359923"/>
          </a:xfrm>
        </p:grpSpPr>
        <p:sp>
          <p:nvSpPr>
            <p:cNvPr id="105" name="Google Shape;10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Interrupciones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2"/>
          <p:cNvSpPr/>
          <p:nvPr/>
        </p:nvSpPr>
        <p:spPr>
          <a:xfrm>
            <a:off x="651749" y="5565062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6679354" y="5370560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7"/>
                </a:lnTo>
                <a:lnTo>
                  <a:pt x="0" y="4575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7278370" y="6299828"/>
            <a:ext cx="3428436" cy="2730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Colocaras todos los recordatorios como lo sean, cortos, entregas, horarios de calificación. Colocaras, link de video y link o codigo de quizziz si lo amerita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" name="Google Shape;110;p2"/>
          <p:cNvGrpSpPr/>
          <p:nvPr/>
        </p:nvGrpSpPr>
        <p:grpSpPr>
          <a:xfrm>
            <a:off x="11522813" y="5007774"/>
            <a:ext cx="5353646" cy="1701145"/>
            <a:chOff x="0" y="-114300"/>
            <a:chExt cx="1410014" cy="448038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https://youtu.be/GBtAGITjWu0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960120" y="488053"/>
            <a:ext cx="6552903" cy="2935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 b="0" i="0" sz="4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960120" y="3880491"/>
            <a:ext cx="5212080" cy="27432"/>
          </a:xfrm>
          <a:custGeom>
            <a:rect b="b" l="l" r="r" t="t"/>
            <a:pathLst>
              <a:path extrusionOk="0" fill="none" h="27432" w="5212080">
                <a:moveTo>
                  <a:pt x="0" y="0"/>
                </a:moveTo>
                <a:cubicBezTo>
                  <a:pt x="128838" y="-11329"/>
                  <a:pt x="306779" y="5198"/>
                  <a:pt x="599389" y="0"/>
                </a:cubicBezTo>
                <a:cubicBezTo>
                  <a:pt x="891999" y="-5198"/>
                  <a:pt x="916635" y="-24425"/>
                  <a:pt x="1198778" y="0"/>
                </a:cubicBezTo>
                <a:cubicBezTo>
                  <a:pt x="1480921" y="24425"/>
                  <a:pt x="1761605" y="-17440"/>
                  <a:pt x="1954530" y="0"/>
                </a:cubicBezTo>
                <a:cubicBezTo>
                  <a:pt x="2147455" y="17440"/>
                  <a:pt x="2239112" y="-16223"/>
                  <a:pt x="2501798" y="0"/>
                </a:cubicBezTo>
                <a:cubicBezTo>
                  <a:pt x="2764484" y="16223"/>
                  <a:pt x="2838074" y="12987"/>
                  <a:pt x="3049067" y="0"/>
                </a:cubicBezTo>
                <a:cubicBezTo>
                  <a:pt x="3260060" y="-12987"/>
                  <a:pt x="3470388" y="-15138"/>
                  <a:pt x="3700577" y="0"/>
                </a:cubicBezTo>
                <a:cubicBezTo>
                  <a:pt x="3930766" y="15138"/>
                  <a:pt x="4052672" y="-14938"/>
                  <a:pt x="4247845" y="0"/>
                </a:cubicBezTo>
                <a:cubicBezTo>
                  <a:pt x="4443018" y="14938"/>
                  <a:pt x="4730158" y="-1623"/>
                  <a:pt x="5212080" y="0"/>
                </a:cubicBezTo>
                <a:cubicBezTo>
                  <a:pt x="5212790" y="9050"/>
                  <a:pt x="5211442" y="21151"/>
                  <a:pt x="5212080" y="27432"/>
                </a:cubicBezTo>
                <a:cubicBezTo>
                  <a:pt x="4991075" y="27722"/>
                  <a:pt x="4932008" y="37429"/>
                  <a:pt x="4664812" y="27432"/>
                </a:cubicBezTo>
                <a:cubicBezTo>
                  <a:pt x="4397616" y="17435"/>
                  <a:pt x="4374940" y="47585"/>
                  <a:pt x="4117543" y="27432"/>
                </a:cubicBezTo>
                <a:cubicBezTo>
                  <a:pt x="3860146" y="7279"/>
                  <a:pt x="3773367" y="36569"/>
                  <a:pt x="3466033" y="27432"/>
                </a:cubicBezTo>
                <a:cubicBezTo>
                  <a:pt x="3158699" y="18296"/>
                  <a:pt x="3137854" y="54523"/>
                  <a:pt x="2918765" y="27432"/>
                </a:cubicBezTo>
                <a:cubicBezTo>
                  <a:pt x="2699676" y="341"/>
                  <a:pt x="2536311" y="13149"/>
                  <a:pt x="2423617" y="27432"/>
                </a:cubicBezTo>
                <a:cubicBezTo>
                  <a:pt x="2310923" y="41715"/>
                  <a:pt x="2021228" y="23141"/>
                  <a:pt x="1772107" y="27432"/>
                </a:cubicBezTo>
                <a:cubicBezTo>
                  <a:pt x="1522986" y="31724"/>
                  <a:pt x="1317107" y="20364"/>
                  <a:pt x="1120597" y="27432"/>
                </a:cubicBezTo>
                <a:cubicBezTo>
                  <a:pt x="924087" y="34501"/>
                  <a:pt x="454536" y="8495"/>
                  <a:pt x="0" y="27432"/>
                </a:cubicBezTo>
                <a:cubicBezTo>
                  <a:pt x="-1228" y="21145"/>
                  <a:pt x="-815" y="8816"/>
                  <a:pt x="0" y="0"/>
                </a:cubicBezTo>
                <a:close/>
              </a:path>
              <a:path extrusionOk="0" h="27432" w="5212080">
                <a:moveTo>
                  <a:pt x="0" y="0"/>
                </a:moveTo>
                <a:cubicBezTo>
                  <a:pt x="233695" y="-764"/>
                  <a:pt x="364103" y="24957"/>
                  <a:pt x="547268" y="0"/>
                </a:cubicBezTo>
                <a:cubicBezTo>
                  <a:pt x="730433" y="-24957"/>
                  <a:pt x="937737" y="-21107"/>
                  <a:pt x="1303020" y="0"/>
                </a:cubicBezTo>
                <a:cubicBezTo>
                  <a:pt x="1668303" y="21107"/>
                  <a:pt x="1620404" y="13071"/>
                  <a:pt x="1798168" y="0"/>
                </a:cubicBezTo>
                <a:cubicBezTo>
                  <a:pt x="1975932" y="-13071"/>
                  <a:pt x="2090998" y="4232"/>
                  <a:pt x="2293315" y="0"/>
                </a:cubicBezTo>
                <a:cubicBezTo>
                  <a:pt x="2495632" y="-4232"/>
                  <a:pt x="2738710" y="-17332"/>
                  <a:pt x="2944825" y="0"/>
                </a:cubicBezTo>
                <a:cubicBezTo>
                  <a:pt x="3150940" y="17332"/>
                  <a:pt x="3308101" y="26665"/>
                  <a:pt x="3544214" y="0"/>
                </a:cubicBezTo>
                <a:cubicBezTo>
                  <a:pt x="3780327" y="-26665"/>
                  <a:pt x="4028425" y="-24303"/>
                  <a:pt x="4247845" y="0"/>
                </a:cubicBezTo>
                <a:cubicBezTo>
                  <a:pt x="4467265" y="24303"/>
                  <a:pt x="4779418" y="33057"/>
                  <a:pt x="5212080" y="0"/>
                </a:cubicBezTo>
                <a:cubicBezTo>
                  <a:pt x="5212137" y="6776"/>
                  <a:pt x="5210915" y="20935"/>
                  <a:pt x="5212080" y="27432"/>
                </a:cubicBezTo>
                <a:cubicBezTo>
                  <a:pt x="4921467" y="60248"/>
                  <a:pt x="4631077" y="62273"/>
                  <a:pt x="4456328" y="27432"/>
                </a:cubicBezTo>
                <a:cubicBezTo>
                  <a:pt x="4281579" y="-7409"/>
                  <a:pt x="4048724" y="47667"/>
                  <a:pt x="3856939" y="27432"/>
                </a:cubicBezTo>
                <a:cubicBezTo>
                  <a:pt x="3665154" y="7197"/>
                  <a:pt x="3498754" y="15866"/>
                  <a:pt x="3257550" y="27432"/>
                </a:cubicBezTo>
                <a:cubicBezTo>
                  <a:pt x="3016346" y="38998"/>
                  <a:pt x="2854089" y="39360"/>
                  <a:pt x="2710282" y="27432"/>
                </a:cubicBezTo>
                <a:cubicBezTo>
                  <a:pt x="2566475" y="15504"/>
                  <a:pt x="2336282" y="56792"/>
                  <a:pt x="2110892" y="27432"/>
                </a:cubicBezTo>
                <a:cubicBezTo>
                  <a:pt x="1885502" y="-1928"/>
                  <a:pt x="1825148" y="42061"/>
                  <a:pt x="1615745" y="27432"/>
                </a:cubicBezTo>
                <a:cubicBezTo>
                  <a:pt x="1406342" y="12803"/>
                  <a:pt x="1193655" y="44031"/>
                  <a:pt x="1016356" y="27432"/>
                </a:cubicBezTo>
                <a:cubicBezTo>
                  <a:pt x="839057" y="10833"/>
                  <a:pt x="292902" y="7819"/>
                  <a:pt x="0" y="27432"/>
                </a:cubicBezTo>
                <a:cubicBezTo>
                  <a:pt x="-234" y="21031"/>
                  <a:pt x="-921" y="632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960120" y="4309348"/>
            <a:ext cx="6365383" cy="49810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3300"/>
              <a:buFont typeface="Arial"/>
              <a:buChar char="•"/>
            </a:pPr>
            <a:r>
              <a:rPr b="1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 rutinas de interrupción en sistemas embebidos usando Arduino IDE y bibliotecas específicas para gestionar eventos asincrónicos de sensores y actuadores en aplicaciones de automatización que requieren respuesta en tiempo real</a:t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a importancia de conocer a la competencia - Impulsa blog" id="121" name="Google Shape;121;p3"/>
          <p:cNvPicPr preferRelativeResize="0"/>
          <p:nvPr/>
        </p:nvPicPr>
        <p:blipFill rotWithShape="1">
          <a:blip r:embed="rId3">
            <a:alphaModFix/>
          </a:blip>
          <a:srcRect b="2297" l="0" r="1" t="0"/>
          <a:stretch/>
        </p:blipFill>
        <p:spPr>
          <a:xfrm>
            <a:off x="7967553" y="10"/>
            <a:ext cx="10318162" cy="10286990"/>
          </a:xfrm>
          <a:custGeom>
            <a:rect b="b" l="l" r="r" t="t"/>
            <a:pathLst>
              <a:path extrusionOk="0" h="6858000" w="6878775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/>
          <p:nvPr/>
        </p:nvSpPr>
        <p:spPr>
          <a:xfrm>
            <a:off x="0" y="-1"/>
            <a:ext cx="18283428" cy="1028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2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dk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3428" cy="1029357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2"/>
          <p:cNvSpPr/>
          <p:nvPr/>
        </p:nvSpPr>
        <p:spPr>
          <a:xfrm>
            <a:off x="807813" y="1093762"/>
            <a:ext cx="16649028" cy="80994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E5B8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2"/>
          <p:cNvSpPr txBox="1"/>
          <p:nvPr>
            <p:ph type="title"/>
          </p:nvPr>
        </p:nvSpPr>
        <p:spPr>
          <a:xfrm>
            <a:off x="9895524" y="1357516"/>
            <a:ext cx="6883992" cy="28337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6100"/>
              <a:t>Introducción a Arduino</a:t>
            </a:r>
            <a:br>
              <a:rPr b="1" lang="en-US" sz="6100"/>
            </a:br>
            <a:r>
              <a:rPr b="1" lang="en-US" sz="6100"/>
              <a:t>	¿Qué es Arduino? </a:t>
            </a:r>
            <a:endParaRPr b="1" sz="6100"/>
          </a:p>
        </p:txBody>
      </p:sp>
      <p:pic>
        <p:nvPicPr>
          <p:cNvPr descr="Arduíno, tecnologia e hardware livre | Blog de Hardware - Cursos Microcamp" id="132" name="Google Shape;13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1210" y="2286554"/>
            <a:ext cx="8202521" cy="570075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9895524" y="4448388"/>
            <a:ext cx="6883992" cy="44810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700"/>
              <a:t>Arduino es una plataforma de prototipado electrónico de código abierto basada en hardware y software flexibles y fáciles de usar. Está diseñada para facilitar el desarrollo de proyectos interactivos con sensores, actuadores y microcontroladores.</a:t>
            </a:r>
            <a:endParaRPr sz="2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12230100" y="1692141"/>
            <a:ext cx="5151270" cy="2122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4800"/>
              <a:t>Componentes de Hardware de Arduino</a:t>
            </a:r>
            <a:endParaRPr b="1" sz="4800"/>
          </a:p>
        </p:txBody>
      </p:sp>
      <p:sp>
        <p:nvSpPr>
          <p:cNvPr id="139" name="Google Shape;139;p23"/>
          <p:cNvSpPr/>
          <p:nvPr/>
        </p:nvSpPr>
        <p:spPr>
          <a:xfrm>
            <a:off x="0" y="0"/>
            <a:ext cx="11364685" cy="10287000"/>
          </a:xfrm>
          <a:prstGeom prst="rect">
            <a:avLst/>
          </a:prstGeom>
          <a:solidFill>
            <a:srgbClr val="F2F2F2">
              <a:alpha val="6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RTES DE LA PLACA ARDUINO UNO ~ Blog Educativo del Taller de ..." id="140" name="Google Shape;14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3852" y="2535270"/>
            <a:ext cx="9332843" cy="52263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" name="Google Shape;141;p23"/>
          <p:cNvCxnSpPr/>
          <p:nvPr/>
        </p:nvCxnSpPr>
        <p:spPr>
          <a:xfrm>
            <a:off x="12299085" y="1306719"/>
            <a:ext cx="1105408" cy="0"/>
          </a:xfrm>
          <a:prstGeom prst="straightConnector1">
            <a:avLst/>
          </a:prstGeom>
          <a:noFill/>
          <a:ln cap="flat" cmpd="sng" w="571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12230100" y="3815046"/>
            <a:ext cx="5151270" cy="5398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3000"/>
              <a:t>Una placa Arduino típica contiene: microcontrolador, memoria flash, puertos USB, regulador de voltaje, temporizadores, pines digitales/análogos, y más. Estos componentes permiten la comunicación y control de dispositivos externos.</a:t>
            </a:r>
            <a:endParaRPr sz="3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24"/>
          <p:cNvGrpSpPr/>
          <p:nvPr/>
        </p:nvGrpSpPr>
        <p:grpSpPr>
          <a:xfrm>
            <a:off x="-28826" y="-1"/>
            <a:ext cx="7819901" cy="10324544"/>
            <a:chOff x="-19217" y="-1"/>
            <a:chExt cx="5213267" cy="6883030"/>
          </a:xfrm>
        </p:grpSpPr>
        <p:sp>
          <p:nvSpPr>
            <p:cNvPr id="148" name="Google Shape;148;p24"/>
            <p:cNvSpPr/>
            <p:nvPr/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4"/>
            <p:cNvSpPr/>
            <p:nvPr/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>
              <a:gsLst>
                <a:gs pos="0">
                  <a:srgbClr val="31859B"/>
                </a:gs>
                <a:gs pos="60000">
                  <a:srgbClr val="92CCDC">
                    <a:alpha val="0"/>
                  </a:srgbClr>
                </a:gs>
                <a:gs pos="100000">
                  <a:srgbClr val="92CCDC">
                    <a:alpha val="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4"/>
            <p:cNvSpPr/>
            <p:nvPr/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>
              <a:gsLst>
                <a:gs pos="0">
                  <a:srgbClr val="D99593">
                    <a:alpha val="77647"/>
                  </a:srgbClr>
                </a:gs>
                <a:gs pos="3000">
                  <a:srgbClr val="D99593">
                    <a:alpha val="77647"/>
                  </a:srgbClr>
                </a:gs>
                <a:gs pos="42000">
                  <a:srgbClr val="C0504D">
                    <a:alpha val="0"/>
                  </a:srgbClr>
                </a:gs>
                <a:gs pos="100000">
                  <a:srgbClr val="C0504D">
                    <a:alpha val="0"/>
                  </a:srgbClr>
                </a:gs>
              </a:gsLst>
              <a:lin ang="3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4"/>
            <p:cNvSpPr/>
            <p:nvPr/>
          </p:nvSpPr>
          <p:spPr>
            <a:xfrm rot="-54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rgbClr val="4BACC6">
                    <a:alpha val="85882"/>
                  </a:srgbClr>
                </a:gs>
                <a:gs pos="57000">
                  <a:srgbClr val="C0504D">
                    <a:alpha val="0"/>
                  </a:srgbClr>
                </a:gs>
                <a:gs pos="100000">
                  <a:srgbClr val="C0504D">
                    <a:alpha val="0"/>
                  </a:srgbClr>
                </a:gs>
              </a:gsLst>
              <a:lin ang="13800001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" name="Google Shape;152;p24"/>
          <p:cNvSpPr txBox="1"/>
          <p:nvPr>
            <p:ph type="title"/>
          </p:nvPr>
        </p:nvSpPr>
        <p:spPr>
          <a:xfrm>
            <a:off x="1133226" y="1109752"/>
            <a:ext cx="5553870" cy="24243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4800">
                <a:solidFill>
                  <a:srgbClr val="FFFFFF"/>
                </a:solidFill>
              </a:rPr>
              <a:t>Familia de Placas Arduino</a:t>
            </a:r>
            <a:endParaRPr b="1" sz="4800">
              <a:solidFill>
                <a:srgbClr val="FFFFFF"/>
              </a:solidFill>
            </a:endParaRPr>
          </a:p>
        </p:txBody>
      </p:sp>
      <p:sp>
        <p:nvSpPr>
          <p:cNvPr id="153" name="Google Shape;153;p24"/>
          <p:cNvSpPr txBox="1"/>
          <p:nvPr>
            <p:ph idx="1" type="body"/>
          </p:nvPr>
        </p:nvSpPr>
        <p:spPr>
          <a:xfrm>
            <a:off x="1133226" y="3688674"/>
            <a:ext cx="5553868" cy="5287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3000">
                <a:solidFill>
                  <a:srgbClr val="FFFFFF"/>
                </a:solidFill>
              </a:rPr>
              <a:t>La familia Arduino incluye modelos como: Uno, Nano, Mega, Leonardo, Due, entre otros. Cada uno varía en tamaño, número de pines, potencia de procesamiento y funcionalidades específicas.</a:t>
            </a:r>
            <a:endParaRPr sz="3000">
              <a:solidFill>
                <a:srgbClr val="FFFFFF"/>
              </a:solidFill>
            </a:endParaRPr>
          </a:p>
        </p:txBody>
      </p:sp>
      <p:pic>
        <p:nvPicPr>
          <p:cNvPr descr="O que é Arduino (e para que serve) - Arduino e Cia" id="154" name="Google Shape;1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00379" y="1180671"/>
            <a:ext cx="7925656" cy="7925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5"/>
          <p:cNvSpPr txBox="1"/>
          <p:nvPr>
            <p:ph type="title"/>
          </p:nvPr>
        </p:nvSpPr>
        <p:spPr>
          <a:xfrm>
            <a:off x="946404" y="754380"/>
            <a:ext cx="5129784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7200"/>
              <a:t>Arduino IDE</a:t>
            </a:r>
            <a:endParaRPr b="1" sz="7200"/>
          </a:p>
        </p:txBody>
      </p:sp>
      <p:sp>
        <p:nvSpPr>
          <p:cNvPr id="161" name="Google Shape;161;p25"/>
          <p:cNvSpPr/>
          <p:nvPr/>
        </p:nvSpPr>
        <p:spPr>
          <a:xfrm rot="5400000">
            <a:off x="5349239" y="1837944"/>
            <a:ext cx="2331720" cy="27432"/>
          </a:xfrm>
          <a:custGeom>
            <a:rect b="b" l="l" r="r" t="t"/>
            <a:pathLst>
              <a:path extrusionOk="0" fill="none" h="27432" w="2331720">
                <a:moveTo>
                  <a:pt x="0" y="0"/>
                </a:moveTo>
                <a:cubicBezTo>
                  <a:pt x="193316" y="-14286"/>
                  <a:pt x="386509" y="-1125"/>
                  <a:pt x="559613" y="0"/>
                </a:cubicBezTo>
                <a:cubicBezTo>
                  <a:pt x="732717" y="1125"/>
                  <a:pt x="909882" y="-9285"/>
                  <a:pt x="1142543" y="0"/>
                </a:cubicBezTo>
                <a:cubicBezTo>
                  <a:pt x="1375204" y="9285"/>
                  <a:pt x="1490929" y="16422"/>
                  <a:pt x="1725473" y="0"/>
                </a:cubicBezTo>
                <a:cubicBezTo>
                  <a:pt x="1960017" y="-16422"/>
                  <a:pt x="2090698" y="-22558"/>
                  <a:pt x="2331720" y="0"/>
                </a:cubicBezTo>
                <a:cubicBezTo>
                  <a:pt x="2332023" y="11145"/>
                  <a:pt x="2331293" y="14758"/>
                  <a:pt x="2331720" y="27432"/>
                </a:cubicBezTo>
                <a:cubicBezTo>
                  <a:pt x="2105542" y="52313"/>
                  <a:pt x="2039251" y="32774"/>
                  <a:pt x="1748790" y="27432"/>
                </a:cubicBezTo>
                <a:cubicBezTo>
                  <a:pt x="1458329" y="22091"/>
                  <a:pt x="1436072" y="17457"/>
                  <a:pt x="1212494" y="27432"/>
                </a:cubicBezTo>
                <a:cubicBezTo>
                  <a:pt x="988916" y="37407"/>
                  <a:pt x="936768" y="34014"/>
                  <a:pt x="676199" y="27432"/>
                </a:cubicBezTo>
                <a:cubicBezTo>
                  <a:pt x="415630" y="20850"/>
                  <a:pt x="187181" y="2482"/>
                  <a:pt x="0" y="27432"/>
                </a:cubicBezTo>
                <a:cubicBezTo>
                  <a:pt x="-1145" y="17399"/>
                  <a:pt x="-496" y="9484"/>
                  <a:pt x="0" y="0"/>
                </a:cubicBezTo>
                <a:close/>
              </a:path>
              <a:path extrusionOk="0" h="27432" w="2331720">
                <a:moveTo>
                  <a:pt x="0" y="0"/>
                </a:moveTo>
                <a:cubicBezTo>
                  <a:pt x="139991" y="7893"/>
                  <a:pt x="383267" y="9775"/>
                  <a:pt x="559613" y="0"/>
                </a:cubicBezTo>
                <a:cubicBezTo>
                  <a:pt x="735959" y="-9775"/>
                  <a:pt x="830019" y="19030"/>
                  <a:pt x="1072591" y="0"/>
                </a:cubicBezTo>
                <a:cubicBezTo>
                  <a:pt x="1315163" y="-19030"/>
                  <a:pt x="1496242" y="-320"/>
                  <a:pt x="1702156" y="0"/>
                </a:cubicBezTo>
                <a:cubicBezTo>
                  <a:pt x="1908071" y="320"/>
                  <a:pt x="2097549" y="18703"/>
                  <a:pt x="2331720" y="0"/>
                </a:cubicBezTo>
                <a:cubicBezTo>
                  <a:pt x="2332591" y="6699"/>
                  <a:pt x="2332407" y="13731"/>
                  <a:pt x="2331720" y="27432"/>
                </a:cubicBezTo>
                <a:cubicBezTo>
                  <a:pt x="2093003" y="17823"/>
                  <a:pt x="1999036" y="42677"/>
                  <a:pt x="1795424" y="27432"/>
                </a:cubicBezTo>
                <a:cubicBezTo>
                  <a:pt x="1591812" y="12187"/>
                  <a:pt x="1414520" y="21492"/>
                  <a:pt x="1259129" y="27432"/>
                </a:cubicBezTo>
                <a:cubicBezTo>
                  <a:pt x="1103738" y="33372"/>
                  <a:pt x="912643" y="24838"/>
                  <a:pt x="629564" y="27432"/>
                </a:cubicBezTo>
                <a:cubicBezTo>
                  <a:pt x="346485" y="30026"/>
                  <a:pt x="198767" y="35305"/>
                  <a:pt x="0" y="27432"/>
                </a:cubicBezTo>
                <a:cubicBezTo>
                  <a:pt x="-806" y="19304"/>
                  <a:pt x="1360" y="903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6981442" y="754380"/>
            <a:ext cx="10341864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3300"/>
              <a:t>El Entorno de Desarrollo Integrado (IDE) de Arduino permite escribir, compilar y cargar programas (sketches) en las placas Arduino. Es multiplataforma y fácil de usar incluso para principiantes.</a:t>
            </a:r>
            <a:endParaRPr sz="3300"/>
          </a:p>
        </p:txBody>
      </p:sp>
      <p:pic>
        <p:nvPicPr>
          <p:cNvPr descr="Beginners Guide to Arduino IDE and Arduino Programming" id="163" name="Google Shape;16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4658" y="3436404"/>
            <a:ext cx="11660395" cy="5939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6"/>
          <p:cNvSpPr/>
          <p:nvPr/>
        </p:nvSpPr>
        <p:spPr>
          <a:xfrm>
            <a:off x="-1" y="0"/>
            <a:ext cx="6683509" cy="10287000"/>
          </a:xfrm>
          <a:custGeom>
            <a:rect b="b" l="l" r="r" t="t"/>
            <a:pathLst>
              <a:path extrusionOk="0" h="6858000" w="4455673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l" dist="38100">
              <a:srgbClr val="D8D8D8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6"/>
          <p:cNvSpPr/>
          <p:nvPr/>
        </p:nvSpPr>
        <p:spPr>
          <a:xfrm>
            <a:off x="0" y="0"/>
            <a:ext cx="6669793" cy="10287000"/>
          </a:xfrm>
          <a:custGeom>
            <a:rect b="b" l="l" r="r" t="t"/>
            <a:pathLst>
              <a:path extrusionOk="0" h="6858000" w="4446529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6"/>
          <p:cNvSpPr txBox="1"/>
          <p:nvPr>
            <p:ph type="title"/>
          </p:nvPr>
        </p:nvSpPr>
        <p:spPr>
          <a:xfrm>
            <a:off x="556641" y="1741932"/>
            <a:ext cx="5157216" cy="18585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4200"/>
              <a:t>Puertos y Pines del Arduino</a:t>
            </a:r>
            <a:endParaRPr b="1" sz="4200"/>
          </a:p>
        </p:txBody>
      </p:sp>
      <p:sp>
        <p:nvSpPr>
          <p:cNvPr id="172" name="Google Shape;172;p26"/>
          <p:cNvSpPr/>
          <p:nvPr/>
        </p:nvSpPr>
        <p:spPr>
          <a:xfrm>
            <a:off x="0" y="2139819"/>
            <a:ext cx="192024" cy="9808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6"/>
          <p:cNvSpPr/>
          <p:nvPr/>
        </p:nvSpPr>
        <p:spPr>
          <a:xfrm>
            <a:off x="593839" y="3665220"/>
            <a:ext cx="5074920" cy="27432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556641" y="4077081"/>
            <a:ext cx="5158359" cy="481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600"/>
              <a:t>Los pines se dividen en digitales, analógicos, PWM, VCC y GND. Los puertos permiten la conexión física y lógica con periféricos y sensores.</a:t>
            </a:r>
            <a:endParaRPr sz="2600"/>
          </a:p>
        </p:txBody>
      </p:sp>
      <p:pic>
        <p:nvPicPr>
          <p:cNvPr descr="Arduino Uno Pinout Diagram ADC - Complete Guide" id="175" name="Google Shape;17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1776" y="2493397"/>
            <a:ext cx="10383012" cy="5451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-1" y="0"/>
            <a:ext cx="6683509" cy="10287000"/>
          </a:xfrm>
          <a:custGeom>
            <a:rect b="b" l="l" r="r" t="t"/>
            <a:pathLst>
              <a:path extrusionOk="0" h="6858000" w="4455673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l" dist="38100">
              <a:srgbClr val="D8D8D8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0" y="0"/>
            <a:ext cx="6669793" cy="10287000"/>
          </a:xfrm>
          <a:custGeom>
            <a:rect b="b" l="l" r="r" t="t"/>
            <a:pathLst>
              <a:path extrusionOk="0" h="6858000" w="4446529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 txBox="1"/>
          <p:nvPr>
            <p:ph type="title"/>
          </p:nvPr>
        </p:nvSpPr>
        <p:spPr>
          <a:xfrm>
            <a:off x="556641" y="1741932"/>
            <a:ext cx="5157216" cy="18585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4200"/>
              <a:t>Sintaxis de Arduino</a:t>
            </a:r>
            <a:endParaRPr b="1" sz="4200"/>
          </a:p>
        </p:txBody>
      </p:sp>
      <p:sp>
        <p:nvSpPr>
          <p:cNvPr id="184" name="Google Shape;184;p27"/>
          <p:cNvSpPr/>
          <p:nvPr/>
        </p:nvSpPr>
        <p:spPr>
          <a:xfrm>
            <a:off x="0" y="2139819"/>
            <a:ext cx="192024" cy="9808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7"/>
          <p:cNvSpPr/>
          <p:nvPr/>
        </p:nvSpPr>
        <p:spPr>
          <a:xfrm>
            <a:off x="593839" y="3665220"/>
            <a:ext cx="5074920" cy="27432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7"/>
          <p:cNvSpPr txBox="1"/>
          <p:nvPr>
            <p:ph idx="1" type="body"/>
          </p:nvPr>
        </p:nvSpPr>
        <p:spPr>
          <a:xfrm>
            <a:off x="556641" y="4077081"/>
            <a:ext cx="5158359" cy="481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600"/>
              <a:t>La sintaxis básica de Arduino está basada en C/C++. Funciones como setup(), loop(), pinMode(), digitalWrite() y delay() son fundamentales para cualquier sketch.</a:t>
            </a:r>
            <a:endParaRPr sz="2600"/>
          </a:p>
        </p:txBody>
      </p:sp>
      <p:pic>
        <p:nvPicPr>
          <p:cNvPr descr="EASY-HOW-TO Hello World in Arduino IDE Tutorial - YouTube" id="187" name="Google Shape;18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1776" y="2298716"/>
            <a:ext cx="10383012" cy="58404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/>
          <p:nvPr/>
        </p:nvSpPr>
        <p:spPr>
          <a:xfrm>
            <a:off x="0" y="-1"/>
            <a:ext cx="18283428" cy="1028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8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dk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3428" cy="1029357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8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8"/>
          <p:cNvSpPr/>
          <p:nvPr/>
        </p:nvSpPr>
        <p:spPr>
          <a:xfrm>
            <a:off x="807813" y="1093762"/>
            <a:ext cx="16649028" cy="80994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E5B8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8"/>
          <p:cNvSpPr txBox="1"/>
          <p:nvPr>
            <p:ph type="title"/>
          </p:nvPr>
        </p:nvSpPr>
        <p:spPr>
          <a:xfrm>
            <a:off x="1787949" y="1357516"/>
            <a:ext cx="5444332" cy="28337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6100"/>
              <a:t>Subida y Ejecución de Código</a:t>
            </a:r>
            <a:endParaRPr b="1" sz="6100"/>
          </a:p>
        </p:txBody>
      </p:sp>
      <p:sp>
        <p:nvSpPr>
          <p:cNvPr id="198" name="Google Shape;198;p28"/>
          <p:cNvSpPr txBox="1"/>
          <p:nvPr>
            <p:ph idx="1" type="body"/>
          </p:nvPr>
        </p:nvSpPr>
        <p:spPr>
          <a:xfrm>
            <a:off x="1787949" y="4448388"/>
            <a:ext cx="5444332" cy="44810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700"/>
              <a:t>Para subir código al Arduino, se utiliza el botón "Upload" en el IDE. Una vez cargado, el programa se ejecuta automáticamente en bucle mediante la función loop().</a:t>
            </a:r>
            <a:endParaRPr sz="2700"/>
          </a:p>
        </p:txBody>
      </p:sp>
      <p:pic>
        <p:nvPicPr>
          <p:cNvPr descr="How to Install and Configure the Arduino IDE - Circuit Basics" id="199" name="Google Shape;199;p28"/>
          <p:cNvPicPr preferRelativeResize="0"/>
          <p:nvPr/>
        </p:nvPicPr>
        <p:blipFill rotWithShape="1">
          <a:blip r:embed="rId4">
            <a:alphaModFix/>
          </a:blip>
          <a:srcRect b="3406" l="0" r="0" t="0"/>
          <a:stretch/>
        </p:blipFill>
        <p:spPr>
          <a:xfrm>
            <a:off x="8038726" y="1343415"/>
            <a:ext cx="9160749" cy="7587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/>
          <p:nvPr>
            <p:ph type="title"/>
          </p:nvPr>
        </p:nvSpPr>
        <p:spPr>
          <a:xfrm>
            <a:off x="1315039" y="1112086"/>
            <a:ext cx="5183732" cy="24243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4100"/>
              <a:t>Interrupciones</a:t>
            </a:r>
            <a:br>
              <a:rPr b="1" lang="en-US" sz="4100"/>
            </a:br>
            <a:br>
              <a:rPr b="1" lang="en-US" sz="4100"/>
            </a:br>
            <a:r>
              <a:rPr b="1" lang="en-US" sz="4100"/>
              <a:t>Concepto de Interrupciones</a:t>
            </a:r>
            <a:endParaRPr b="1" sz="4100"/>
          </a:p>
        </p:txBody>
      </p:sp>
      <p:sp>
        <p:nvSpPr>
          <p:cNvPr id="205" name="Google Shape;205;p29"/>
          <p:cNvSpPr txBox="1"/>
          <p:nvPr>
            <p:ph idx="1" type="body"/>
          </p:nvPr>
        </p:nvSpPr>
        <p:spPr>
          <a:xfrm>
            <a:off x="1315039" y="3800214"/>
            <a:ext cx="5183732" cy="5171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3000"/>
              <a:t>Las interrupciones son señales que detienen temporalmente la ejecución del programa principal para atender eventos críticos o urgentes.</a:t>
            </a:r>
            <a:endParaRPr sz="3000"/>
          </a:p>
        </p:txBody>
      </p:sp>
      <p:pic>
        <p:nvPicPr>
          <p:cNvPr descr="Interrupciones en Arduino con AttachInterrupt - Proyectos con Arduino" id="206" name="Google Shape;20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1508" y="2526857"/>
            <a:ext cx="9584019" cy="5247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7" name="Google Shape;207;p29"/>
          <p:cNvGrpSpPr/>
          <p:nvPr/>
        </p:nvGrpSpPr>
        <p:grpSpPr>
          <a:xfrm flipH="1">
            <a:off x="18102957" y="0"/>
            <a:ext cx="185043" cy="10287000"/>
            <a:chOff x="12068638" y="0"/>
            <a:chExt cx="123362" cy="6858000"/>
          </a:xfrm>
        </p:grpSpPr>
        <p:sp>
          <p:nvSpPr>
            <p:cNvPr id="208" name="Google Shape;208;p29"/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9"/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0">
                  <a:srgbClr val="92CCDC">
                    <a:alpha val="0"/>
                  </a:srgbClr>
                </a:gs>
                <a:gs pos="19000">
                  <a:srgbClr val="92CCDC">
                    <a:alpha val="0"/>
                  </a:srgbClr>
                </a:gs>
                <a:gs pos="100000">
                  <a:srgbClr val="92CCDC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/>
          <p:nvPr>
            <p:ph type="title"/>
          </p:nvPr>
        </p:nvSpPr>
        <p:spPr>
          <a:xfrm>
            <a:off x="1257300" y="1201489"/>
            <a:ext cx="5531236" cy="23912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4800"/>
              <a:t>Interrupciones de Hardware y Software</a:t>
            </a:r>
            <a:endParaRPr b="1" sz="4800"/>
          </a:p>
        </p:txBody>
      </p:sp>
      <p:sp>
        <p:nvSpPr>
          <p:cNvPr id="215" name="Google Shape;215;p30"/>
          <p:cNvSpPr txBox="1"/>
          <p:nvPr>
            <p:ph idx="1" type="body"/>
          </p:nvPr>
        </p:nvSpPr>
        <p:spPr>
          <a:xfrm>
            <a:off x="8012319" y="1127332"/>
            <a:ext cx="9018381" cy="2649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3000"/>
              <a:t>Las interrupciones de hardware son generadas por componentes físicos (como pulsadores). Las de software se activan mediante llamadas dentro del código.</a:t>
            </a:r>
            <a:endParaRPr sz="3000"/>
          </a:p>
        </p:txBody>
      </p:sp>
      <p:pic>
        <p:nvPicPr>
          <p:cNvPr descr="Using Interrupts with Arduino - Electronics-Lab" id="216" name="Google Shape;216;p30"/>
          <p:cNvPicPr preferRelativeResize="0"/>
          <p:nvPr/>
        </p:nvPicPr>
        <p:blipFill rotWithShape="1">
          <a:blip r:embed="rId3">
            <a:alphaModFix/>
          </a:blip>
          <a:srcRect b="11751" l="0" r="0" t="14205"/>
          <a:stretch/>
        </p:blipFill>
        <p:spPr>
          <a:xfrm>
            <a:off x="-3" y="4227393"/>
            <a:ext cx="18288003" cy="60596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7" name="Google Shape;217;p30"/>
          <p:cNvGrpSpPr/>
          <p:nvPr/>
        </p:nvGrpSpPr>
        <p:grpSpPr>
          <a:xfrm>
            <a:off x="-7536" y="10106632"/>
            <a:ext cx="18310798" cy="185044"/>
            <a:chOff x="-5025" y="6737718"/>
            <a:chExt cx="12207200" cy="123363"/>
          </a:xfrm>
        </p:grpSpPr>
        <p:sp>
          <p:nvSpPr>
            <p:cNvPr id="218" name="Google Shape;218;p30"/>
            <p:cNvSpPr/>
            <p:nvPr/>
          </p:nvSpPr>
          <p:spPr>
            <a:xfrm flipH="1" rot="5400000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30"/>
            <p:cNvSpPr/>
            <p:nvPr/>
          </p:nvSpPr>
          <p:spPr>
            <a:xfrm rot="-54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0">
                  <a:srgbClr val="4BACC6">
                    <a:alpha val="0"/>
                  </a:srgbClr>
                </a:gs>
                <a:gs pos="19000">
                  <a:srgbClr val="4BACC6">
                    <a:alpha val="0"/>
                  </a:srgbClr>
                </a:gs>
                <a:gs pos="100000">
                  <a:srgbClr val="92CCDC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 txBox="1"/>
          <p:nvPr>
            <p:ph type="title"/>
          </p:nvPr>
        </p:nvSpPr>
        <p:spPr>
          <a:xfrm>
            <a:off x="1257300" y="1201489"/>
            <a:ext cx="5531236" cy="23912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4800"/>
              <a:t>Interrupciones Internas y Externas</a:t>
            </a:r>
            <a:endParaRPr b="1" sz="4800"/>
          </a:p>
        </p:txBody>
      </p:sp>
      <p:sp>
        <p:nvSpPr>
          <p:cNvPr id="225" name="Google Shape;225;p31"/>
          <p:cNvSpPr txBox="1"/>
          <p:nvPr>
            <p:ph idx="1" type="body"/>
          </p:nvPr>
        </p:nvSpPr>
        <p:spPr>
          <a:xfrm>
            <a:off x="8012319" y="1127332"/>
            <a:ext cx="9018381" cy="2649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3000"/>
              <a:t>Las internas provienen del propio microcontrolador (temporizadores, errores), mientras que las externas vienen de dispositivos conectados a pines específicos.</a:t>
            </a:r>
            <a:endParaRPr sz="3000"/>
          </a:p>
        </p:txBody>
      </p:sp>
      <p:pic>
        <p:nvPicPr>
          <p:cNvPr descr="Interrupciones con Arduino a través de un ejemplo práctico" id="226" name="Google Shape;226;p31"/>
          <p:cNvPicPr preferRelativeResize="0"/>
          <p:nvPr/>
        </p:nvPicPr>
        <p:blipFill rotWithShape="1">
          <a:blip r:embed="rId3">
            <a:alphaModFix/>
          </a:blip>
          <a:srcRect b="14216" l="0" r="0" t="23189"/>
          <a:stretch/>
        </p:blipFill>
        <p:spPr>
          <a:xfrm>
            <a:off x="-3" y="4227393"/>
            <a:ext cx="18288004" cy="60596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p31"/>
          <p:cNvGrpSpPr/>
          <p:nvPr/>
        </p:nvGrpSpPr>
        <p:grpSpPr>
          <a:xfrm>
            <a:off x="-7536" y="10106632"/>
            <a:ext cx="18310798" cy="185044"/>
            <a:chOff x="-5025" y="6737718"/>
            <a:chExt cx="12207200" cy="123363"/>
          </a:xfrm>
        </p:grpSpPr>
        <p:sp>
          <p:nvSpPr>
            <p:cNvPr id="228" name="Google Shape;228;p31"/>
            <p:cNvSpPr/>
            <p:nvPr/>
          </p:nvSpPr>
          <p:spPr>
            <a:xfrm flipH="1" rot="5400000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31"/>
            <p:cNvSpPr/>
            <p:nvPr/>
          </p:nvSpPr>
          <p:spPr>
            <a:xfrm rot="-54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0">
                  <a:srgbClr val="4BACC6">
                    <a:alpha val="0"/>
                  </a:srgbClr>
                </a:gs>
                <a:gs pos="19000">
                  <a:srgbClr val="4BACC6">
                    <a:alpha val="0"/>
                  </a:srgbClr>
                </a:gs>
                <a:gs pos="100000">
                  <a:srgbClr val="92CCDC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/>
          <p:nvPr>
            <p:ph type="title"/>
          </p:nvPr>
        </p:nvSpPr>
        <p:spPr>
          <a:xfrm>
            <a:off x="1257300" y="1201489"/>
            <a:ext cx="5531236" cy="23912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4800"/>
              <a:t>Excepciones</a:t>
            </a:r>
            <a:endParaRPr b="1" sz="4800"/>
          </a:p>
        </p:txBody>
      </p:sp>
      <p:sp>
        <p:nvSpPr>
          <p:cNvPr id="235" name="Google Shape;235;p32"/>
          <p:cNvSpPr txBox="1"/>
          <p:nvPr>
            <p:ph idx="1" type="body"/>
          </p:nvPr>
        </p:nvSpPr>
        <p:spPr>
          <a:xfrm>
            <a:off x="8012319" y="1127332"/>
            <a:ext cx="9018381" cy="2649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3000"/>
              <a:t>Las excepciones son condiciones anormales que ocurren durante la ejecución del programa, como errores de división o acceso a memoria inválida.</a:t>
            </a:r>
            <a:endParaRPr sz="3000"/>
          </a:p>
        </p:txBody>
      </p:sp>
      <p:pic>
        <p:nvPicPr>
          <p:cNvPr descr="Desentrañando el misterio de los errores de sintaxis: una guía completa" id="236" name="Google Shape;236;p32"/>
          <p:cNvPicPr preferRelativeResize="0"/>
          <p:nvPr/>
        </p:nvPicPr>
        <p:blipFill rotWithShape="1">
          <a:blip r:embed="rId3">
            <a:alphaModFix/>
          </a:blip>
          <a:srcRect b="19209" l="0" r="0" t="21886"/>
          <a:stretch/>
        </p:blipFill>
        <p:spPr>
          <a:xfrm>
            <a:off x="-3" y="4227393"/>
            <a:ext cx="18288004" cy="60596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32"/>
          <p:cNvGrpSpPr/>
          <p:nvPr/>
        </p:nvGrpSpPr>
        <p:grpSpPr>
          <a:xfrm>
            <a:off x="-7536" y="10106632"/>
            <a:ext cx="18310798" cy="185044"/>
            <a:chOff x="-5025" y="6737718"/>
            <a:chExt cx="12207200" cy="123363"/>
          </a:xfrm>
        </p:grpSpPr>
        <p:sp>
          <p:nvSpPr>
            <p:cNvPr id="238" name="Google Shape;238;p32"/>
            <p:cNvSpPr/>
            <p:nvPr/>
          </p:nvSpPr>
          <p:spPr>
            <a:xfrm flipH="1" rot="5400000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32"/>
            <p:cNvSpPr/>
            <p:nvPr/>
          </p:nvSpPr>
          <p:spPr>
            <a:xfrm rot="-54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0">
                  <a:srgbClr val="4BACC6">
                    <a:alpha val="0"/>
                  </a:srgbClr>
                </a:gs>
                <a:gs pos="19000">
                  <a:srgbClr val="4BACC6">
                    <a:alpha val="0"/>
                  </a:srgbClr>
                </a:gs>
                <a:gs pos="100000">
                  <a:srgbClr val="92CCDC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/>
          <p:nvPr/>
        </p:nvSpPr>
        <p:spPr>
          <a:xfrm>
            <a:off x="0" y="-1"/>
            <a:ext cx="18283428" cy="1028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3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dk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3428" cy="1029357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3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3"/>
          <p:cNvSpPr/>
          <p:nvPr/>
        </p:nvSpPr>
        <p:spPr>
          <a:xfrm>
            <a:off x="807813" y="1093762"/>
            <a:ext cx="16649028" cy="80994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E5B8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3"/>
          <p:cNvSpPr txBox="1"/>
          <p:nvPr>
            <p:ph type="title"/>
          </p:nvPr>
        </p:nvSpPr>
        <p:spPr>
          <a:xfrm>
            <a:off x="1787949" y="1357516"/>
            <a:ext cx="5444332" cy="28337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7200"/>
              <a:t>Condiciones de Disparo</a:t>
            </a:r>
            <a:endParaRPr b="1" sz="7200"/>
          </a:p>
        </p:txBody>
      </p:sp>
      <p:sp>
        <p:nvSpPr>
          <p:cNvPr id="250" name="Google Shape;250;p33"/>
          <p:cNvSpPr txBox="1"/>
          <p:nvPr>
            <p:ph idx="1" type="body"/>
          </p:nvPr>
        </p:nvSpPr>
        <p:spPr>
          <a:xfrm>
            <a:off x="1787949" y="4448388"/>
            <a:ext cx="5444332" cy="44810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700"/>
              <a:t>Las interrupciones pueden dispararse por flanco ascendente (rising), flanco descendente (falling), cambio (change) o nivel bajo (low level).</a:t>
            </a:r>
            <a:endParaRPr sz="2700"/>
          </a:p>
        </p:txBody>
      </p:sp>
      <p:pic>
        <p:nvPicPr>
          <p:cNvPr descr="ARDUINO HARİCİ KESMELER || ARDUINO EXTERNAL INTERRUPT || RISING ..." id="251" name="Google Shape;25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38726" y="2560469"/>
            <a:ext cx="9160749" cy="5152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/>
          <p:nvPr/>
        </p:nvSpPr>
        <p:spPr>
          <a:xfrm>
            <a:off x="4573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hat is ISR - Programming - Arduino Forum" id="257" name="Google Shape;257;p34"/>
          <p:cNvPicPr preferRelativeResize="0"/>
          <p:nvPr/>
        </p:nvPicPr>
        <p:blipFill rotWithShape="1">
          <a:blip r:embed="rId3">
            <a:alphaModFix/>
          </a:blip>
          <a:srcRect b="5351" l="0" r="-1" t="0"/>
          <a:stretch/>
        </p:blipFill>
        <p:spPr>
          <a:xfrm>
            <a:off x="3783534" y="10"/>
            <a:ext cx="14504463" cy="1028699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4"/>
          <p:cNvSpPr/>
          <p:nvPr/>
        </p:nvSpPr>
        <p:spPr>
          <a:xfrm>
            <a:off x="-1" y="0"/>
            <a:ext cx="11085394" cy="10287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7647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4"/>
          <p:cNvSpPr txBox="1"/>
          <p:nvPr>
            <p:ph type="title"/>
          </p:nvPr>
        </p:nvSpPr>
        <p:spPr>
          <a:xfrm>
            <a:off x="1257300" y="547687"/>
            <a:ext cx="5733283" cy="2849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6000"/>
              <a:t>Rutinas de Servicio de Interrupción</a:t>
            </a:r>
            <a:endParaRPr b="1" sz="6000"/>
          </a:p>
        </p:txBody>
      </p:sp>
      <p:sp>
        <p:nvSpPr>
          <p:cNvPr id="260" name="Google Shape;260;p34"/>
          <p:cNvSpPr txBox="1"/>
          <p:nvPr>
            <p:ph idx="1" type="body"/>
          </p:nvPr>
        </p:nvSpPr>
        <p:spPr>
          <a:xfrm>
            <a:off x="1257300" y="3651301"/>
            <a:ext cx="5733283" cy="5614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3000"/>
              <a:t>&gt;ISR (Interrupt Service Routine) es la función que se ejecuta cuando ocurre una interrupción. Debe ser rápida y evitar funciones bloqueantes.</a:t>
            </a:r>
            <a:endParaRPr sz="3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etachInterrupt() | Cộng đồng Arduino Việt Nam" id="266" name="Google Shape;266;p35"/>
          <p:cNvPicPr preferRelativeResize="0"/>
          <p:nvPr/>
        </p:nvPicPr>
        <p:blipFill rotWithShape="1">
          <a:blip r:embed="rId3">
            <a:alphaModFix/>
          </a:blip>
          <a:srcRect b="1" l="1615" r="6386" t="0"/>
          <a:stretch/>
        </p:blipFill>
        <p:spPr>
          <a:xfrm>
            <a:off x="4864042" y="10"/>
            <a:ext cx="13423961" cy="10286990"/>
          </a:xfrm>
          <a:custGeom>
            <a:rect b="b" l="l" r="r" t="t"/>
            <a:pathLst>
              <a:path extrusionOk="0" h="6858000" w="8949307">
                <a:moveTo>
                  <a:pt x="0" y="0"/>
                </a:moveTo>
                <a:lnTo>
                  <a:pt x="8949307" y="0"/>
                </a:lnTo>
                <a:lnTo>
                  <a:pt x="8949307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9" y="4741056"/>
                  <a:pt x="1212979" y="3429000"/>
                </a:cubicBezTo>
                <a:cubicBezTo>
                  <a:pt x="1212979" y="2116944"/>
                  <a:pt x="773509" y="929100"/>
                  <a:pt x="62983" y="69271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67" name="Google Shape;267;p35"/>
          <p:cNvSpPr/>
          <p:nvPr/>
        </p:nvSpPr>
        <p:spPr>
          <a:xfrm>
            <a:off x="-1" y="0"/>
            <a:ext cx="6683509" cy="10287000"/>
          </a:xfrm>
          <a:custGeom>
            <a:rect b="b" l="l" r="r" t="t"/>
            <a:pathLst>
              <a:path extrusionOk="0" h="6858000" w="4455673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5"/>
          <p:cNvSpPr/>
          <p:nvPr/>
        </p:nvSpPr>
        <p:spPr>
          <a:xfrm>
            <a:off x="0" y="0"/>
            <a:ext cx="6669793" cy="10287000"/>
          </a:xfrm>
          <a:custGeom>
            <a:rect b="b" l="l" r="r" t="t"/>
            <a:pathLst>
              <a:path extrusionOk="0" h="6858000" w="4446529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5"/>
          <p:cNvSpPr txBox="1"/>
          <p:nvPr>
            <p:ph type="title"/>
          </p:nvPr>
        </p:nvSpPr>
        <p:spPr>
          <a:xfrm>
            <a:off x="556641" y="1741932"/>
            <a:ext cx="5157216" cy="16885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4200"/>
              <a:t>Interrupciones en Arduino</a:t>
            </a:r>
            <a:endParaRPr b="1" sz="4200"/>
          </a:p>
        </p:txBody>
      </p:sp>
      <p:sp>
        <p:nvSpPr>
          <p:cNvPr id="270" name="Google Shape;270;p35"/>
          <p:cNvSpPr/>
          <p:nvPr/>
        </p:nvSpPr>
        <p:spPr>
          <a:xfrm rot="5400000">
            <a:off x="993839" y="908685"/>
            <a:ext cx="109728" cy="822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5"/>
          <p:cNvSpPr/>
          <p:nvPr/>
        </p:nvSpPr>
        <p:spPr>
          <a:xfrm>
            <a:off x="642366" y="3665220"/>
            <a:ext cx="5006340" cy="27432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5"/>
          <p:cNvSpPr txBox="1"/>
          <p:nvPr>
            <p:ph idx="1" type="body"/>
          </p:nvPr>
        </p:nvSpPr>
        <p:spPr>
          <a:xfrm>
            <a:off x="556641" y="4077081"/>
            <a:ext cx="5158359" cy="481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600"/>
              <a:t>En Arduino, se usan attachInterrupt() y detachInterrupt() para configurar y deshabilitar interrupciones en pines específicos. Mejoran la reactividad del sistema ante eventos externos.</a:t>
            </a:r>
            <a:endParaRPr sz="2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APLICACIONES POR MEDIO DE EJEMPLOS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78" name="Google Shape;278;p5"/>
          <p:cNvSpPr txBox="1"/>
          <p:nvPr/>
        </p:nvSpPr>
        <p:spPr>
          <a:xfrm>
            <a:off x="1374889" y="3650660"/>
            <a:ext cx="14365903" cy="1903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Cuando se pueda dar de aplicacion que vallan de acuerdo a los temas vistos (comprensiejemploson y aplicacion)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5"/>
          <p:cNvSpPr txBox="1"/>
          <p:nvPr/>
        </p:nvSpPr>
        <p:spPr>
          <a:xfrm>
            <a:off x="14141311" y="6442453"/>
            <a:ext cx="3238236" cy="2463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Parte de la Taxonomía de Bloom nos habla de la parte de crear (llevar a la realidad la teoría aprendida) trata de dar ejemplos de este estilo, si aplican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6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6"/>
          <p:cNvSpPr txBox="1"/>
          <p:nvPr/>
        </p:nvSpPr>
        <p:spPr>
          <a:xfrm>
            <a:off x="960120" y="488053"/>
            <a:ext cx="6552903" cy="2935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6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 b="0" i="0" sz="6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6"/>
          <p:cNvSpPr/>
          <p:nvPr/>
        </p:nvSpPr>
        <p:spPr>
          <a:xfrm>
            <a:off x="960120" y="3880491"/>
            <a:ext cx="5212080" cy="27432"/>
          </a:xfrm>
          <a:custGeom>
            <a:rect b="b" l="l" r="r" t="t"/>
            <a:pathLst>
              <a:path extrusionOk="0" fill="none" h="27432" w="5212080">
                <a:moveTo>
                  <a:pt x="0" y="0"/>
                </a:moveTo>
                <a:cubicBezTo>
                  <a:pt x="128838" y="-11329"/>
                  <a:pt x="306779" y="5198"/>
                  <a:pt x="599389" y="0"/>
                </a:cubicBezTo>
                <a:cubicBezTo>
                  <a:pt x="891999" y="-5198"/>
                  <a:pt x="916635" y="-24425"/>
                  <a:pt x="1198778" y="0"/>
                </a:cubicBezTo>
                <a:cubicBezTo>
                  <a:pt x="1480921" y="24425"/>
                  <a:pt x="1761605" y="-17440"/>
                  <a:pt x="1954530" y="0"/>
                </a:cubicBezTo>
                <a:cubicBezTo>
                  <a:pt x="2147455" y="17440"/>
                  <a:pt x="2239112" y="-16223"/>
                  <a:pt x="2501798" y="0"/>
                </a:cubicBezTo>
                <a:cubicBezTo>
                  <a:pt x="2764484" y="16223"/>
                  <a:pt x="2838074" y="12987"/>
                  <a:pt x="3049067" y="0"/>
                </a:cubicBezTo>
                <a:cubicBezTo>
                  <a:pt x="3260060" y="-12987"/>
                  <a:pt x="3470388" y="-15138"/>
                  <a:pt x="3700577" y="0"/>
                </a:cubicBezTo>
                <a:cubicBezTo>
                  <a:pt x="3930766" y="15138"/>
                  <a:pt x="4052672" y="-14938"/>
                  <a:pt x="4247845" y="0"/>
                </a:cubicBezTo>
                <a:cubicBezTo>
                  <a:pt x="4443018" y="14938"/>
                  <a:pt x="4730158" y="-1623"/>
                  <a:pt x="5212080" y="0"/>
                </a:cubicBezTo>
                <a:cubicBezTo>
                  <a:pt x="5212790" y="9050"/>
                  <a:pt x="5211442" y="21151"/>
                  <a:pt x="5212080" y="27432"/>
                </a:cubicBezTo>
                <a:cubicBezTo>
                  <a:pt x="4991075" y="27722"/>
                  <a:pt x="4932008" y="37429"/>
                  <a:pt x="4664812" y="27432"/>
                </a:cubicBezTo>
                <a:cubicBezTo>
                  <a:pt x="4397616" y="17435"/>
                  <a:pt x="4374940" y="47585"/>
                  <a:pt x="4117543" y="27432"/>
                </a:cubicBezTo>
                <a:cubicBezTo>
                  <a:pt x="3860146" y="7279"/>
                  <a:pt x="3773367" y="36569"/>
                  <a:pt x="3466033" y="27432"/>
                </a:cubicBezTo>
                <a:cubicBezTo>
                  <a:pt x="3158699" y="18296"/>
                  <a:pt x="3137854" y="54523"/>
                  <a:pt x="2918765" y="27432"/>
                </a:cubicBezTo>
                <a:cubicBezTo>
                  <a:pt x="2699676" y="341"/>
                  <a:pt x="2536311" y="13149"/>
                  <a:pt x="2423617" y="27432"/>
                </a:cubicBezTo>
                <a:cubicBezTo>
                  <a:pt x="2310923" y="41715"/>
                  <a:pt x="2021228" y="23141"/>
                  <a:pt x="1772107" y="27432"/>
                </a:cubicBezTo>
                <a:cubicBezTo>
                  <a:pt x="1522986" y="31724"/>
                  <a:pt x="1317107" y="20364"/>
                  <a:pt x="1120597" y="27432"/>
                </a:cubicBezTo>
                <a:cubicBezTo>
                  <a:pt x="924087" y="34501"/>
                  <a:pt x="454536" y="8495"/>
                  <a:pt x="0" y="27432"/>
                </a:cubicBezTo>
                <a:cubicBezTo>
                  <a:pt x="-1228" y="21145"/>
                  <a:pt x="-815" y="8816"/>
                  <a:pt x="0" y="0"/>
                </a:cubicBezTo>
                <a:close/>
              </a:path>
              <a:path extrusionOk="0" h="27432" w="5212080">
                <a:moveTo>
                  <a:pt x="0" y="0"/>
                </a:moveTo>
                <a:cubicBezTo>
                  <a:pt x="233695" y="-764"/>
                  <a:pt x="364103" y="24957"/>
                  <a:pt x="547268" y="0"/>
                </a:cubicBezTo>
                <a:cubicBezTo>
                  <a:pt x="730433" y="-24957"/>
                  <a:pt x="937737" y="-21107"/>
                  <a:pt x="1303020" y="0"/>
                </a:cubicBezTo>
                <a:cubicBezTo>
                  <a:pt x="1668303" y="21107"/>
                  <a:pt x="1620404" y="13071"/>
                  <a:pt x="1798168" y="0"/>
                </a:cubicBezTo>
                <a:cubicBezTo>
                  <a:pt x="1975932" y="-13071"/>
                  <a:pt x="2090998" y="4232"/>
                  <a:pt x="2293315" y="0"/>
                </a:cubicBezTo>
                <a:cubicBezTo>
                  <a:pt x="2495632" y="-4232"/>
                  <a:pt x="2738710" y="-17332"/>
                  <a:pt x="2944825" y="0"/>
                </a:cubicBezTo>
                <a:cubicBezTo>
                  <a:pt x="3150940" y="17332"/>
                  <a:pt x="3308101" y="26665"/>
                  <a:pt x="3544214" y="0"/>
                </a:cubicBezTo>
                <a:cubicBezTo>
                  <a:pt x="3780327" y="-26665"/>
                  <a:pt x="4028425" y="-24303"/>
                  <a:pt x="4247845" y="0"/>
                </a:cubicBezTo>
                <a:cubicBezTo>
                  <a:pt x="4467265" y="24303"/>
                  <a:pt x="4779418" y="33057"/>
                  <a:pt x="5212080" y="0"/>
                </a:cubicBezTo>
                <a:cubicBezTo>
                  <a:pt x="5212137" y="6776"/>
                  <a:pt x="5210915" y="20935"/>
                  <a:pt x="5212080" y="27432"/>
                </a:cubicBezTo>
                <a:cubicBezTo>
                  <a:pt x="4921467" y="60248"/>
                  <a:pt x="4631077" y="62273"/>
                  <a:pt x="4456328" y="27432"/>
                </a:cubicBezTo>
                <a:cubicBezTo>
                  <a:pt x="4281579" y="-7409"/>
                  <a:pt x="4048724" y="47667"/>
                  <a:pt x="3856939" y="27432"/>
                </a:cubicBezTo>
                <a:cubicBezTo>
                  <a:pt x="3665154" y="7197"/>
                  <a:pt x="3498754" y="15866"/>
                  <a:pt x="3257550" y="27432"/>
                </a:cubicBezTo>
                <a:cubicBezTo>
                  <a:pt x="3016346" y="38998"/>
                  <a:pt x="2854089" y="39360"/>
                  <a:pt x="2710282" y="27432"/>
                </a:cubicBezTo>
                <a:cubicBezTo>
                  <a:pt x="2566475" y="15504"/>
                  <a:pt x="2336282" y="56792"/>
                  <a:pt x="2110892" y="27432"/>
                </a:cubicBezTo>
                <a:cubicBezTo>
                  <a:pt x="1885502" y="-1928"/>
                  <a:pt x="1825148" y="42061"/>
                  <a:pt x="1615745" y="27432"/>
                </a:cubicBezTo>
                <a:cubicBezTo>
                  <a:pt x="1406342" y="12803"/>
                  <a:pt x="1193655" y="44031"/>
                  <a:pt x="1016356" y="27432"/>
                </a:cubicBezTo>
                <a:cubicBezTo>
                  <a:pt x="839057" y="10833"/>
                  <a:pt x="292902" y="7819"/>
                  <a:pt x="0" y="27432"/>
                </a:cubicBezTo>
                <a:cubicBezTo>
                  <a:pt x="-234" y="21031"/>
                  <a:pt x="-921" y="632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6"/>
          <p:cNvSpPr txBox="1"/>
          <p:nvPr/>
        </p:nvSpPr>
        <p:spPr>
          <a:xfrm>
            <a:off x="960120" y="4309348"/>
            <a:ext cx="6365383" cy="49810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•"/>
            </a:pPr>
            <a:r>
              <a:rPr b="0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Arduino</a:t>
            </a:r>
            <a:endParaRPr/>
          </a:p>
          <a:p>
            <a:pPr indent="-22860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•"/>
            </a:pPr>
            <a:r>
              <a:rPr b="0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Interrupciones</a:t>
            </a:r>
            <a:endParaRPr/>
          </a:p>
          <a:p>
            <a:pPr indent="-22860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•"/>
            </a:pPr>
            <a:r>
              <a:rPr b="0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Pines Digitales</a:t>
            </a:r>
            <a:endParaRPr/>
          </a:p>
          <a:p>
            <a:pPr indent="-22860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3300"/>
              <a:buFont typeface="Arial"/>
              <a:buChar char="•"/>
            </a:pPr>
            <a:r>
              <a:rPr b="0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Rutinas de servicio de interrupcion</a:t>
            </a:r>
            <a:endParaRPr/>
          </a:p>
        </p:txBody>
      </p:sp>
      <p:pic>
        <p:nvPicPr>
          <p:cNvPr descr="Conceptos básicos de psicología que debes saber" id="289" name="Google Shape;289;p6"/>
          <p:cNvPicPr preferRelativeResize="0"/>
          <p:nvPr/>
        </p:nvPicPr>
        <p:blipFill rotWithShape="1">
          <a:blip r:embed="rId3">
            <a:alphaModFix/>
          </a:blip>
          <a:srcRect b="0" l="28325" r="4721" t="0"/>
          <a:stretch/>
        </p:blipFill>
        <p:spPr>
          <a:xfrm>
            <a:off x="7967553" y="10"/>
            <a:ext cx="10318162" cy="10286990"/>
          </a:xfrm>
          <a:custGeom>
            <a:rect b="b" l="l" r="r" t="t"/>
            <a:pathLst>
              <a:path extrusionOk="0" h="6858000" w="6878775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7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7"/>
          <p:cNvSpPr txBox="1"/>
          <p:nvPr/>
        </p:nvSpPr>
        <p:spPr>
          <a:xfrm>
            <a:off x="960120" y="488053"/>
            <a:ext cx="6552903" cy="2935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6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NOMBRE DEL VALOR Y/O ACTITUD</a:t>
            </a:r>
            <a:endParaRPr b="0" i="0" sz="6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960120" y="3880491"/>
            <a:ext cx="5212080" cy="27432"/>
          </a:xfrm>
          <a:custGeom>
            <a:rect b="b" l="l" r="r" t="t"/>
            <a:pathLst>
              <a:path extrusionOk="0" fill="none" h="27432" w="5212080">
                <a:moveTo>
                  <a:pt x="0" y="0"/>
                </a:moveTo>
                <a:cubicBezTo>
                  <a:pt x="128838" y="-11329"/>
                  <a:pt x="306779" y="5198"/>
                  <a:pt x="599389" y="0"/>
                </a:cubicBezTo>
                <a:cubicBezTo>
                  <a:pt x="891999" y="-5198"/>
                  <a:pt x="916635" y="-24425"/>
                  <a:pt x="1198778" y="0"/>
                </a:cubicBezTo>
                <a:cubicBezTo>
                  <a:pt x="1480921" y="24425"/>
                  <a:pt x="1761605" y="-17440"/>
                  <a:pt x="1954530" y="0"/>
                </a:cubicBezTo>
                <a:cubicBezTo>
                  <a:pt x="2147455" y="17440"/>
                  <a:pt x="2239112" y="-16223"/>
                  <a:pt x="2501798" y="0"/>
                </a:cubicBezTo>
                <a:cubicBezTo>
                  <a:pt x="2764484" y="16223"/>
                  <a:pt x="2838074" y="12987"/>
                  <a:pt x="3049067" y="0"/>
                </a:cubicBezTo>
                <a:cubicBezTo>
                  <a:pt x="3260060" y="-12987"/>
                  <a:pt x="3470388" y="-15138"/>
                  <a:pt x="3700577" y="0"/>
                </a:cubicBezTo>
                <a:cubicBezTo>
                  <a:pt x="3930766" y="15138"/>
                  <a:pt x="4052672" y="-14938"/>
                  <a:pt x="4247845" y="0"/>
                </a:cubicBezTo>
                <a:cubicBezTo>
                  <a:pt x="4443018" y="14938"/>
                  <a:pt x="4730158" y="-1623"/>
                  <a:pt x="5212080" y="0"/>
                </a:cubicBezTo>
                <a:cubicBezTo>
                  <a:pt x="5212790" y="9050"/>
                  <a:pt x="5211442" y="21151"/>
                  <a:pt x="5212080" y="27432"/>
                </a:cubicBezTo>
                <a:cubicBezTo>
                  <a:pt x="4991075" y="27722"/>
                  <a:pt x="4932008" y="37429"/>
                  <a:pt x="4664812" y="27432"/>
                </a:cubicBezTo>
                <a:cubicBezTo>
                  <a:pt x="4397616" y="17435"/>
                  <a:pt x="4374940" y="47585"/>
                  <a:pt x="4117543" y="27432"/>
                </a:cubicBezTo>
                <a:cubicBezTo>
                  <a:pt x="3860146" y="7279"/>
                  <a:pt x="3773367" y="36569"/>
                  <a:pt x="3466033" y="27432"/>
                </a:cubicBezTo>
                <a:cubicBezTo>
                  <a:pt x="3158699" y="18296"/>
                  <a:pt x="3137854" y="54523"/>
                  <a:pt x="2918765" y="27432"/>
                </a:cubicBezTo>
                <a:cubicBezTo>
                  <a:pt x="2699676" y="341"/>
                  <a:pt x="2536311" y="13149"/>
                  <a:pt x="2423617" y="27432"/>
                </a:cubicBezTo>
                <a:cubicBezTo>
                  <a:pt x="2310923" y="41715"/>
                  <a:pt x="2021228" y="23141"/>
                  <a:pt x="1772107" y="27432"/>
                </a:cubicBezTo>
                <a:cubicBezTo>
                  <a:pt x="1522986" y="31724"/>
                  <a:pt x="1317107" y="20364"/>
                  <a:pt x="1120597" y="27432"/>
                </a:cubicBezTo>
                <a:cubicBezTo>
                  <a:pt x="924087" y="34501"/>
                  <a:pt x="454536" y="8495"/>
                  <a:pt x="0" y="27432"/>
                </a:cubicBezTo>
                <a:cubicBezTo>
                  <a:pt x="-1228" y="21145"/>
                  <a:pt x="-815" y="8816"/>
                  <a:pt x="0" y="0"/>
                </a:cubicBezTo>
                <a:close/>
              </a:path>
              <a:path extrusionOk="0" h="27432" w="5212080">
                <a:moveTo>
                  <a:pt x="0" y="0"/>
                </a:moveTo>
                <a:cubicBezTo>
                  <a:pt x="233695" y="-764"/>
                  <a:pt x="364103" y="24957"/>
                  <a:pt x="547268" y="0"/>
                </a:cubicBezTo>
                <a:cubicBezTo>
                  <a:pt x="730433" y="-24957"/>
                  <a:pt x="937737" y="-21107"/>
                  <a:pt x="1303020" y="0"/>
                </a:cubicBezTo>
                <a:cubicBezTo>
                  <a:pt x="1668303" y="21107"/>
                  <a:pt x="1620404" y="13071"/>
                  <a:pt x="1798168" y="0"/>
                </a:cubicBezTo>
                <a:cubicBezTo>
                  <a:pt x="1975932" y="-13071"/>
                  <a:pt x="2090998" y="4232"/>
                  <a:pt x="2293315" y="0"/>
                </a:cubicBezTo>
                <a:cubicBezTo>
                  <a:pt x="2495632" y="-4232"/>
                  <a:pt x="2738710" y="-17332"/>
                  <a:pt x="2944825" y="0"/>
                </a:cubicBezTo>
                <a:cubicBezTo>
                  <a:pt x="3150940" y="17332"/>
                  <a:pt x="3308101" y="26665"/>
                  <a:pt x="3544214" y="0"/>
                </a:cubicBezTo>
                <a:cubicBezTo>
                  <a:pt x="3780327" y="-26665"/>
                  <a:pt x="4028425" y="-24303"/>
                  <a:pt x="4247845" y="0"/>
                </a:cubicBezTo>
                <a:cubicBezTo>
                  <a:pt x="4467265" y="24303"/>
                  <a:pt x="4779418" y="33057"/>
                  <a:pt x="5212080" y="0"/>
                </a:cubicBezTo>
                <a:cubicBezTo>
                  <a:pt x="5212137" y="6776"/>
                  <a:pt x="5210915" y="20935"/>
                  <a:pt x="5212080" y="27432"/>
                </a:cubicBezTo>
                <a:cubicBezTo>
                  <a:pt x="4921467" y="60248"/>
                  <a:pt x="4631077" y="62273"/>
                  <a:pt x="4456328" y="27432"/>
                </a:cubicBezTo>
                <a:cubicBezTo>
                  <a:pt x="4281579" y="-7409"/>
                  <a:pt x="4048724" y="47667"/>
                  <a:pt x="3856939" y="27432"/>
                </a:cubicBezTo>
                <a:cubicBezTo>
                  <a:pt x="3665154" y="7197"/>
                  <a:pt x="3498754" y="15866"/>
                  <a:pt x="3257550" y="27432"/>
                </a:cubicBezTo>
                <a:cubicBezTo>
                  <a:pt x="3016346" y="38998"/>
                  <a:pt x="2854089" y="39360"/>
                  <a:pt x="2710282" y="27432"/>
                </a:cubicBezTo>
                <a:cubicBezTo>
                  <a:pt x="2566475" y="15504"/>
                  <a:pt x="2336282" y="56792"/>
                  <a:pt x="2110892" y="27432"/>
                </a:cubicBezTo>
                <a:cubicBezTo>
                  <a:pt x="1885502" y="-1928"/>
                  <a:pt x="1825148" y="42061"/>
                  <a:pt x="1615745" y="27432"/>
                </a:cubicBezTo>
                <a:cubicBezTo>
                  <a:pt x="1406342" y="12803"/>
                  <a:pt x="1193655" y="44031"/>
                  <a:pt x="1016356" y="27432"/>
                </a:cubicBezTo>
                <a:cubicBezTo>
                  <a:pt x="839057" y="10833"/>
                  <a:pt x="292902" y="7819"/>
                  <a:pt x="0" y="27432"/>
                </a:cubicBezTo>
                <a:cubicBezTo>
                  <a:pt x="-234" y="21031"/>
                  <a:pt x="-921" y="632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7"/>
          <p:cNvSpPr txBox="1"/>
          <p:nvPr/>
        </p:nvSpPr>
        <p:spPr>
          <a:xfrm>
            <a:off x="960120" y="4309348"/>
            <a:ext cx="6365383" cy="49810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•"/>
            </a:pPr>
            <a:r>
              <a:rPr b="0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Adaptabilidad: Permite cambiar sensores o conexiones si algo falla.</a:t>
            </a:r>
            <a:endParaRPr/>
          </a:p>
          <a:p>
            <a:pPr indent="-1905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3300"/>
              <a:buFont typeface="Arial"/>
              <a:buChar char="•"/>
            </a:pPr>
            <a:r>
              <a:rPr b="0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Escucha activa: Mejora la elección y ubicación de sensores en equipo.</a:t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s Valores que sí lo son. Valores reales - Search&amp;Drive" id="298" name="Google Shape;298;p7"/>
          <p:cNvPicPr preferRelativeResize="0"/>
          <p:nvPr/>
        </p:nvPicPr>
        <p:blipFill rotWithShape="1">
          <a:blip r:embed="rId3">
            <a:alphaModFix/>
          </a:blip>
          <a:srcRect b="0" l="20050" r="12997" t="0"/>
          <a:stretch/>
        </p:blipFill>
        <p:spPr>
          <a:xfrm>
            <a:off x="7967553" y="10"/>
            <a:ext cx="10318162" cy="10286990"/>
          </a:xfrm>
          <a:custGeom>
            <a:rect b="b" l="l" r="r" t="t"/>
            <a:pathLst>
              <a:path extrusionOk="0" h="6858000" w="6878775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04" name="Google Shape;304;p8"/>
          <p:cNvSpPr txBox="1"/>
          <p:nvPr/>
        </p:nvSpPr>
        <p:spPr>
          <a:xfrm>
            <a:off x="4019550" y="4280604"/>
            <a:ext cx="8695163" cy="2338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0" i="0" lang="en-US" sz="3151" u="sng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https://www.arduino.cc/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0" i="0" lang="en-US" sz="3151" u="sng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https://www.arduino.cc/reference/en/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https://forum.arduino.cc/</a:t>
            </a:r>
            <a:endParaRPr/>
          </a:p>
          <a:p>
            <a:pPr indent="-36830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10" name="Google Shape;310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