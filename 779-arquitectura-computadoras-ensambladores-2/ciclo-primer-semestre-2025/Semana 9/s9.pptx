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60" r:id="rId18"/>
    <p:sldId id="261" r:id="rId19"/>
    <p:sldId id="262" r:id="rId20"/>
    <p:sldId id="263" r:id="rId21"/>
    <p:sldId id="264" r:id="rId22"/>
  </p:sldIdLst>
  <p:sldSz cx="18288000" cy="10287000"/>
  <p:notesSz cx="6858000" cy="9144000"/>
  <p:embeddedFontLst>
    <p:embeddedFont>
      <p:font typeface="Impact" panose="020B0806030902050204" pitchFamily="34" charset="0"/>
      <p:regular r:id="rId24"/>
    </p:embeddedFont>
    <p:embeddedFont>
      <p:font typeface="Lobster" panose="00000500000000000000" pitchFamily="2" charset="0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Pacifico" panose="00000500000000000000" pitchFamily="2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VTfPeuph8O4z6nnE8PyMA4ke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4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edis.io/documentation/" TargetMode="External"/><Relationship Id="rId4" Type="http://schemas.openxmlformats.org/officeDocument/2006/relationships/hyperlink" Target="https://docs.influxdata.com/influxdb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" name="Google Shape;86;p1"/>
          <p:cNvSpPr txBox="1"/>
          <p:nvPr/>
        </p:nvSpPr>
        <p:spPr>
          <a:xfrm>
            <a:off x="1063303" y="6994239"/>
            <a:ext cx="9356604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Computadores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Ensambladores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2687405" y="1582512"/>
            <a:ext cx="123750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Datos y Monitoreo en la Nube con </a:t>
            </a:r>
            <a:r>
              <a:rPr lang="es-MX" sz="7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IoT</a:t>
            </a:r>
            <a:endParaRPr sz="7000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723674" y="4470329"/>
            <a:ext cx="4613551" cy="845385"/>
            <a:chOff x="0" y="-76200"/>
            <a:chExt cx="1964221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Bases de Datos NoSQL</a:t>
              </a:r>
              <a:endParaRPr dirty="0"/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4" name="Google Shape;10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https://youtu.be/d_gOQiIF_-o</a:t>
              </a:r>
              <a:endParaRPr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11713784" y="7323870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2" name="Google Shape;112;p2"/>
          <p:cNvGrpSpPr/>
          <p:nvPr/>
        </p:nvGrpSpPr>
        <p:grpSpPr>
          <a:xfrm>
            <a:off x="1575241" y="5464888"/>
            <a:ext cx="4613551" cy="845385"/>
            <a:chOff x="0" y="-76200"/>
            <a:chExt cx="1964221" cy="359923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Monitoreo de Datos con Grafana</a:t>
              </a:r>
              <a:endParaRPr dirty="0"/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2" name="Google Shape;106;p2">
            <a:extLst>
              <a:ext uri="{FF2B5EF4-FFF2-40B4-BE49-F238E27FC236}">
                <a16:creationId xmlns:a16="http://schemas.microsoft.com/office/drawing/2014/main" id="{AD3D28DD-88B4-56E4-C977-92EFE3B1D0D0}"/>
              </a:ext>
            </a:extLst>
          </p:cNvPr>
          <p:cNvGrpSpPr/>
          <p:nvPr/>
        </p:nvGrpSpPr>
        <p:grpSpPr>
          <a:xfrm>
            <a:off x="11637567" y="4826119"/>
            <a:ext cx="5353646" cy="1701145"/>
            <a:chOff x="0" y="-114300"/>
            <a:chExt cx="1410014" cy="448038"/>
          </a:xfrm>
        </p:grpSpPr>
        <p:sp>
          <p:nvSpPr>
            <p:cNvPr id="3" name="Google Shape;107;p2">
              <a:extLst>
                <a:ext uri="{FF2B5EF4-FFF2-40B4-BE49-F238E27FC236}">
                  <a16:creationId xmlns:a16="http://schemas.microsoft.com/office/drawing/2014/main" id="{2EDB0814-40DD-449A-A243-FEFD1482AA0D}"/>
                </a:ext>
              </a:extLst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Google Shape;108;p2">
              <a:extLst>
                <a:ext uri="{FF2B5EF4-FFF2-40B4-BE49-F238E27FC236}">
                  <a16:creationId xmlns:a16="http://schemas.microsoft.com/office/drawing/2014/main" id="{B24DA2DB-AE9E-CCF0-547E-76C924EB13D3}"/>
                </a:ext>
              </a:extLst>
            </p:cNvPr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https://youtu.be/2W8f7sR9_TM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!!Rectangle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mpetências e Habilidades: O que são, Diferenças e Como desenvolver ...">
            <a:extLst>
              <a:ext uri="{FF2B5EF4-FFF2-40B4-BE49-F238E27FC236}">
                <a16:creationId xmlns:a16="http://schemas.microsoft.com/office/drawing/2014/main" id="{253E1058-DA5F-9D20-94E3-9E8857D68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65"/>
          <a:stretch>
            <a:fillRect/>
          </a:stretch>
        </p:blipFill>
        <p:spPr bwMode="auto">
          <a:xfrm>
            <a:off x="20" y="10"/>
            <a:ext cx="18287978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1624" y="6328357"/>
            <a:ext cx="16751170" cy="3133976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577340" y="6748272"/>
            <a:ext cx="5417820" cy="230428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COMPETENCIA(S) QUE DESARROLLAREMOS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612" y="7367278"/>
            <a:ext cx="192024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65312" y="7881627"/>
            <a:ext cx="21945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7943739" y="6748272"/>
            <a:ext cx="9091533" cy="230428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00" b="1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analiza datos recolectados por sensores conectados a Arduino mediante software de análisis de datos como Python y bibliotecas especializadas para identificar patrones y anomalías, dentro del contexto que se esté aplicando en tiempo real</a:t>
            </a:r>
            <a:endParaRPr lang="en-US" sz="2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18969DA-E869-40AF-94FC-E40F96D7D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5200DF-5F21-ED28-A0D5-91DA6EE72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186" y="2208913"/>
            <a:ext cx="7103877" cy="32035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GT" sz="5600" b="1"/>
              <a:t>Bases de Datos NoSQL</a:t>
            </a:r>
            <a:br>
              <a:rPr lang="es-GT" sz="5600" b="1"/>
            </a:br>
            <a:br>
              <a:rPr lang="es-GT" sz="5600" b="1"/>
            </a:br>
            <a:r>
              <a:rPr lang="es-GT" sz="5600" b="1"/>
              <a:t>Conceptos Generales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A057CC-7676-E00D-EDB9-AC488713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332" y="5827059"/>
            <a:ext cx="6315585" cy="151738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2100"/>
              <a:t> Las bases de datos NoSQL son sistemas de almacenamiento de datos no relacionales, diseñados para manejar grandes volúmenes de información no estructurada o semi-estructurada.</a:t>
            </a:r>
            <a:endParaRPr lang="es-GT" sz="210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0776B1EE-A7D1-46A3-81E9-19E58E41D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884892" y="1"/>
            <a:ext cx="11403106" cy="726140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A0A40C28-B748-4B4A-BF04-30E783CE7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56493"/>
            <a:ext cx="16020843" cy="2030508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EC863F36-0F48-41B7-9BE9-293E1494F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4000" y="868107"/>
            <a:ext cx="8471140" cy="760303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9" name="Rectangle 6">
            <a:extLst>
              <a:ext uri="{FF2B5EF4-FFF2-40B4-BE49-F238E27FC236}">
                <a16:creationId xmlns:a16="http://schemas.microsoft.com/office/drawing/2014/main" id="{A133C5F2-62E8-4CED-A258-6C8C07DC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7738" y="383212"/>
            <a:ext cx="2051438" cy="643476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Bases de datos relacionales vs. no relacionales">
            <a:extLst>
              <a:ext uri="{FF2B5EF4-FFF2-40B4-BE49-F238E27FC236}">
                <a16:creationId xmlns:a16="http://schemas.microsoft.com/office/drawing/2014/main" id="{EC8B1399-12FB-7B75-7878-37A73C413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26599" y="2387955"/>
            <a:ext cx="7505943" cy="454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6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11C0C-210B-4D28-8DD5-DA30C19D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Freeform: Shape 205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8570" cy="10287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23330" cy="10287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791CA-C35A-2766-9106-79DE8BDE3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MX" sz="7200" b="1"/>
              <a:t>Beneficios de una Base NoSQL</a:t>
            </a:r>
            <a:endParaRPr lang="es-GT" sz="72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3F5C6-BF98-6DF4-76C1-32697088A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1" y="7309383"/>
            <a:ext cx="5899959" cy="1812211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s-MX" dirty="0"/>
              <a:t>Escalabilidad horizontal, flexibilidad en el modelo de datos, alto rendimiento y tolerancia a fallos son ventajas clave de las bases NoSQL sobre los sistemas tradicionales SQL.</a:t>
            </a:r>
            <a:endParaRPr lang="es-GT" dirty="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Software de Productividad: Notion">
            <a:extLst>
              <a:ext uri="{FF2B5EF4-FFF2-40B4-BE49-F238E27FC236}">
                <a16:creationId xmlns:a16="http://schemas.microsoft.com/office/drawing/2014/main" id="{9D2720F5-01E3-95D2-7170-A416CC6BD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1534" y="2626747"/>
            <a:ext cx="9613254" cy="480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4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D11DE-7687-57BB-2CDF-B140EEDC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Qué es la comunicación de análisis de datos y cómo funciona - Universidad  ORT Uruguay">
            <a:extLst>
              <a:ext uri="{FF2B5EF4-FFF2-40B4-BE49-F238E27FC236}">
                <a16:creationId xmlns:a16="http://schemas.microsoft.com/office/drawing/2014/main" id="{B03D6EFB-ACDD-80BD-8CE7-1C991C860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>
            <a:fillRect/>
          </a:stretch>
        </p:blipFill>
        <p:spPr bwMode="auto">
          <a:xfrm>
            <a:off x="3783537" y="10"/>
            <a:ext cx="14504463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00467" cy="10287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789CD1-D8AC-83B2-C6B5-9888EF79D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342" y="1115170"/>
            <a:ext cx="5960077" cy="5538042"/>
          </a:xfrm>
          <a:noFill/>
        </p:spPr>
        <p:txBody>
          <a:bodyPr>
            <a:normAutofit/>
          </a:bodyPr>
          <a:lstStyle/>
          <a:p>
            <a:pPr algn="l"/>
            <a:r>
              <a:rPr lang="es-GT" sz="7800" b="1"/>
              <a:t>Plataformas Interactivas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26A599-90C5-C8C9-64D3-34EFB2D95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343" y="6943851"/>
            <a:ext cx="5960079" cy="2227978"/>
          </a:xfrm>
          <a:noFill/>
        </p:spPr>
        <p:txBody>
          <a:bodyPr>
            <a:normAutofit/>
          </a:bodyPr>
          <a:lstStyle/>
          <a:p>
            <a:pPr algn="l"/>
            <a:r>
              <a:rPr lang="es-MX" sz="3000"/>
              <a:t>Las bases NoSQL permiten interacción en tiempo real con los datos, ideal para aplicaciones web modernas, </a:t>
            </a:r>
            <a:r>
              <a:rPr lang="es-MX" sz="3000" err="1"/>
              <a:t>IoT</a:t>
            </a:r>
            <a:r>
              <a:rPr lang="es-MX" sz="3000"/>
              <a:t> y </a:t>
            </a:r>
            <a:r>
              <a:rPr lang="es-MX" sz="3000" err="1"/>
              <a:t>big</a:t>
            </a:r>
            <a:r>
              <a:rPr lang="es-MX" sz="3000"/>
              <a:t> data.</a:t>
            </a:r>
            <a:endParaRPr lang="es-GT" sz="3000"/>
          </a:p>
        </p:txBody>
      </p:sp>
    </p:spTree>
    <p:extLst>
      <p:ext uri="{BB962C8B-B14F-4D97-AF65-F5344CB8AC3E}">
        <p14:creationId xmlns:p14="http://schemas.microsoft.com/office/powerpoint/2010/main" val="26267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96F10-400B-AD57-B01C-DA1402B0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345474-D2B2-1B16-CFB9-1F9F0219C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0715" y="4237872"/>
            <a:ext cx="6054501" cy="3581400"/>
          </a:xfrm>
        </p:spPr>
        <p:txBody>
          <a:bodyPr anchor="t">
            <a:normAutofit/>
          </a:bodyPr>
          <a:lstStyle/>
          <a:p>
            <a:pPr algn="l"/>
            <a:r>
              <a:rPr lang="es-GT" sz="8100" b="1"/>
              <a:t>MongoDB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76E955-1912-A495-DDF4-79182ECE9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713" y="1226353"/>
            <a:ext cx="6054500" cy="2564774"/>
          </a:xfrm>
        </p:spPr>
        <p:txBody>
          <a:bodyPr anchor="b">
            <a:normAutofit/>
          </a:bodyPr>
          <a:lstStyle/>
          <a:p>
            <a:pPr algn="l"/>
            <a:r>
              <a:rPr lang="es-MX" sz="3000"/>
              <a:t>Base de datos NoSQL tipo documento, flexible y escalable. Almacena datos en formato BSON (similar a JSON).</a:t>
            </a:r>
            <a:endParaRPr lang="es-GT" sz="30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4274286"/>
            <a:ext cx="1097283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8715" y="1019598"/>
            <a:ext cx="9014049" cy="8135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793D86F-C904-9697-52F0-32EAC4A75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3738" y="3011507"/>
            <a:ext cx="8304001" cy="415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31352" y="9532609"/>
            <a:ext cx="9011412" cy="685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0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0C261-4F8C-067C-71DC-B500B8BA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3E8573-B36F-B551-8BDA-ADE121D39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0715" y="4441074"/>
            <a:ext cx="6054501" cy="3581400"/>
          </a:xfrm>
        </p:spPr>
        <p:txBody>
          <a:bodyPr anchor="t">
            <a:normAutofit/>
          </a:bodyPr>
          <a:lstStyle/>
          <a:p>
            <a:pPr algn="l"/>
            <a:r>
              <a:rPr lang="es-GT" sz="8100" b="1"/>
              <a:t>InfluxDB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CBDECD-3311-6599-D24C-7241EF1C2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713" y="1429555"/>
            <a:ext cx="6054500" cy="2564774"/>
          </a:xfrm>
        </p:spPr>
        <p:txBody>
          <a:bodyPr anchor="b">
            <a:normAutofit/>
          </a:bodyPr>
          <a:lstStyle/>
          <a:p>
            <a:pPr algn="l"/>
            <a:r>
              <a:rPr lang="es-MX" sz="3000"/>
              <a:t>&gt;Base de datos especializada en series temporales, ideal para monitoreo, sensores, logs y métricas en tiempo real.</a:t>
            </a:r>
            <a:endParaRPr lang="es-GT" sz="3000"/>
          </a:p>
        </p:txBody>
      </p:sp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4477488"/>
            <a:ext cx="1097283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130" name="Rectangle 512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1" name="Rectangle 513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2" name="Rectangle 513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6046505" y="0"/>
            <a:ext cx="2241495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8715" y="587829"/>
            <a:ext cx="9014049" cy="902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InfluxDB: gestión fiable de bases de datos de series temporales - IONOS  México">
            <a:extLst>
              <a:ext uri="{FF2B5EF4-FFF2-40B4-BE49-F238E27FC236}">
                <a16:creationId xmlns:a16="http://schemas.microsoft.com/office/drawing/2014/main" id="{5CC0774A-0AA3-D8DB-6E2B-DD93CF573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3738" y="2104905"/>
            <a:ext cx="8304001" cy="59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87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482C2-F43E-1DA9-3064-F7F23A68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53" name="Freeform: Shape 615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8570" cy="10287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155" name="Freeform: Shape 615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23330" cy="10287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6ECCBC-B669-519C-86B1-5C65E9821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GT" sz="7200" b="1"/>
              <a:t>Redis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069BCA-B54D-A7B8-CB29-D3955A154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1" y="7309383"/>
            <a:ext cx="5899959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800"/>
              <a:t>Base de datos en memoria tipo clave-valor. Muy rápida, usada comúnmente como caché o para mensajería en tiempo real.</a:t>
            </a:r>
            <a:endParaRPr lang="es-GT" sz="2800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46" name="Picture 2" descr="Introducción a Redis: Base de datos en Memoria 2025">
            <a:extLst>
              <a:ext uri="{FF2B5EF4-FFF2-40B4-BE49-F238E27FC236}">
                <a16:creationId xmlns:a16="http://schemas.microsoft.com/office/drawing/2014/main" id="{CF0F1C6E-B648-4422-7C76-203D7978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1534" y="1521224"/>
            <a:ext cx="9613254" cy="701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46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4263B-062B-0D56-AEEF-7B5D195E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5DAF87-7EA8-D575-50F2-A92488CBE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222" y="1198054"/>
            <a:ext cx="7831778" cy="4608023"/>
          </a:xfrm>
        </p:spPr>
        <p:txBody>
          <a:bodyPr anchor="b">
            <a:normAutofit/>
          </a:bodyPr>
          <a:lstStyle/>
          <a:p>
            <a:r>
              <a:rPr lang="es-MX" b="1" dirty="0"/>
              <a:t>Monitoreo de Datos con Grafana</a:t>
            </a:r>
            <a:br>
              <a:rPr lang="es-MX" b="1" dirty="0"/>
            </a:br>
            <a:br>
              <a:rPr lang="es-MX" b="1" dirty="0"/>
            </a:br>
            <a:r>
              <a:rPr lang="es-MX" b="1" dirty="0"/>
              <a:t>Introducción a Grafana</a:t>
            </a:r>
            <a:endParaRPr lang="es-GT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42B03-733D-E3F3-B39D-96625C8B1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222" y="5944188"/>
            <a:ext cx="7831777" cy="3153162"/>
          </a:xfrm>
        </p:spPr>
        <p:txBody>
          <a:bodyPr anchor="t">
            <a:normAutofit/>
          </a:bodyPr>
          <a:lstStyle/>
          <a:p>
            <a:r>
              <a:rPr lang="es-MX"/>
              <a:t>Herramienta open </a:t>
            </a:r>
            <a:r>
              <a:rPr lang="es-MX" err="1"/>
              <a:t>source</a:t>
            </a:r>
            <a:r>
              <a:rPr lang="es-MX"/>
              <a:t> para visualización de datos en tiempo real. Soporta múltiples fuentes de datos como MySQL, PostgreSQL, </a:t>
            </a:r>
            <a:r>
              <a:rPr lang="es-MX" err="1"/>
              <a:t>InfluxDB</a:t>
            </a:r>
            <a:r>
              <a:rPr lang="es-MX"/>
              <a:t>, </a:t>
            </a:r>
            <a:r>
              <a:rPr lang="es-MX" err="1"/>
              <a:t>Prometheus</a:t>
            </a:r>
            <a:r>
              <a:rPr lang="es-MX"/>
              <a:t>, etc.</a:t>
            </a:r>
            <a:endParaRPr lang="es-GT"/>
          </a:p>
        </p:txBody>
      </p:sp>
      <p:sp>
        <p:nvSpPr>
          <p:cNvPr id="7177" name="Freeform: Shape 717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6088" y="0"/>
            <a:ext cx="2606102" cy="1439304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79" name="Freeform: Shape 717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51004" y="1"/>
            <a:ext cx="1732713" cy="886514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15BA929-C13D-4366-49EA-054B045FC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76864" y="2716867"/>
            <a:ext cx="7409256" cy="427884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1" name="Freeform: Shape 718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48388" y="4374367"/>
            <a:ext cx="239612" cy="829494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83" name="Freeform: Shape 718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660" y="8576859"/>
            <a:ext cx="2657413" cy="171014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85" name="Freeform: Shape 718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71266" y="9388134"/>
            <a:ext cx="2348910" cy="898867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87" name="Freeform: Shape 718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5730" y="8753475"/>
            <a:ext cx="2322270" cy="1533526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9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235D6-9777-E693-427A-8FD3D9A4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3" name="Rectangle 8202">
            <a:extLst>
              <a:ext uri="{FF2B5EF4-FFF2-40B4-BE49-F238E27FC236}">
                <a16:creationId xmlns:a16="http://schemas.microsoft.com/office/drawing/2014/main" id="{8C886788-700E-4D20-9F80-E0E96837A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205" name="Freeform: Shape 8204">
            <a:extLst>
              <a:ext uri="{FF2B5EF4-FFF2-40B4-BE49-F238E27FC236}">
                <a16:creationId xmlns:a16="http://schemas.microsoft.com/office/drawing/2014/main" id="{1850674C-4E08-4C62-A3E2-6337FE4F7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8570" cy="10287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207" name="Freeform: Shape 8206">
            <a:extLst>
              <a:ext uri="{FF2B5EF4-FFF2-40B4-BE49-F238E27FC236}">
                <a16:creationId xmlns:a16="http://schemas.microsoft.com/office/drawing/2014/main" id="{BCE4FF05-2B0C-4C97-A9B4-E163085A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23330" cy="10287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780254-F61B-2676-CBE4-B933E65C7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1687068"/>
            <a:ext cx="6035040" cy="4800600"/>
          </a:xfrm>
        </p:spPr>
        <p:txBody>
          <a:bodyPr>
            <a:normAutofit/>
          </a:bodyPr>
          <a:lstStyle/>
          <a:p>
            <a:pPr algn="l"/>
            <a:r>
              <a:rPr lang="es-MX" sz="7200" b="1"/>
              <a:t>Instalación y Configuración de Grafana</a:t>
            </a:r>
            <a:endParaRPr lang="es-GT" sz="72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B97A69-14D1-F9CF-6C28-823DD76B1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" y="7310628"/>
            <a:ext cx="5897880" cy="181051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800"/>
              <a:t>Instalación sencilla en múltiples plataformas (Linux, Windows, Docker). Configuración inicial mediante interfaz web.</a:t>
            </a:r>
            <a:endParaRPr lang="es-GT" sz="2800"/>
          </a:p>
        </p:txBody>
      </p:sp>
      <p:sp>
        <p:nvSpPr>
          <p:cNvPr id="8209" name="Rectangle 8208">
            <a:extLst>
              <a:ext uri="{FF2B5EF4-FFF2-40B4-BE49-F238E27FC236}">
                <a16:creationId xmlns:a16="http://schemas.microsoft.com/office/drawing/2014/main" id="{529C2A7A-A6B6-4A56-B11C-8E967D88A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98" name="Picture 6" descr="Linux - ITD Consulting">
            <a:extLst>
              <a:ext uri="{FF2B5EF4-FFF2-40B4-BE49-F238E27FC236}">
                <a16:creationId xmlns:a16="http://schemas.microsoft.com/office/drawing/2014/main" id="{9BB05F78-3E56-7F5F-22BE-C929D43BC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74932" y="852219"/>
            <a:ext cx="7674833" cy="458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11" name="Rectangle 8210">
            <a:extLst>
              <a:ext uri="{FF2B5EF4-FFF2-40B4-BE49-F238E27FC236}">
                <a16:creationId xmlns:a16="http://schemas.microsoft.com/office/drawing/2014/main" id="{FDBD7205-E536-4134-8768-AC3E1A3C5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96" name="Picture 4" descr="Análisis del logo de Windows - FOROALFA">
            <a:extLst>
              <a:ext uri="{FF2B5EF4-FFF2-40B4-BE49-F238E27FC236}">
                <a16:creationId xmlns:a16="http://schemas.microsoft.com/office/drawing/2014/main" id="{35D2FC28-DF11-C5A8-DF4A-91EC11272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1795" y="5741625"/>
            <a:ext cx="3511296" cy="35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Docker 1.0 brings container technology to the enterprise | ZDNET">
            <a:extLst>
              <a:ext uri="{FF2B5EF4-FFF2-40B4-BE49-F238E27FC236}">
                <a16:creationId xmlns:a16="http://schemas.microsoft.com/office/drawing/2014/main" id="{4D23EE5F-2682-0202-F6FB-8F0F491BE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97519" y="6086788"/>
            <a:ext cx="4306824" cy="282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216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D8EAA-E33F-1418-BEE9-6D078DF7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A3A38D-B090-C166-C5B2-348F86CFE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507" y="960120"/>
            <a:ext cx="5601021" cy="5349240"/>
          </a:xfrm>
        </p:spPr>
        <p:txBody>
          <a:bodyPr anchor="b">
            <a:normAutofit/>
          </a:bodyPr>
          <a:lstStyle/>
          <a:p>
            <a:pPr algn="l"/>
            <a:r>
              <a:rPr lang="es-GT" sz="8100" b="1"/>
              <a:t>Fuentes de Datos Compatibles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DAED67-0114-F2B1-061E-CC3BBF0FD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508" y="6954012"/>
            <a:ext cx="5601021" cy="235915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GT" sz="3000"/>
              <a:t>Grafana se conecta a diversas fuentes: </a:t>
            </a:r>
            <a:r>
              <a:rPr lang="es-GT" sz="3000" err="1"/>
              <a:t>InfluxDB</a:t>
            </a:r>
            <a:r>
              <a:rPr lang="es-GT" sz="3000"/>
              <a:t>, MySQL, PostgreSQL, MongoDB (con </a:t>
            </a:r>
            <a:r>
              <a:rPr lang="es-GT" sz="3000" err="1"/>
              <a:t>plugins</a:t>
            </a:r>
            <a:r>
              <a:rPr lang="es-GT" sz="3000"/>
              <a:t>), </a:t>
            </a:r>
            <a:r>
              <a:rPr lang="es-GT" sz="3000" err="1"/>
              <a:t>Prometheus</a:t>
            </a:r>
            <a:r>
              <a:rPr lang="es-GT" sz="3000"/>
              <a:t>, entre otros.</a:t>
            </a:r>
          </a:p>
        </p:txBody>
      </p:sp>
      <p:sp>
        <p:nvSpPr>
          <p:cNvPr id="922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5507" y="6613900"/>
            <a:ext cx="5212080" cy="27432"/>
          </a:xfrm>
          <a:custGeom>
            <a:avLst/>
            <a:gdLst>
              <a:gd name="connsiteX0" fmla="*/ 0 w 5212080"/>
              <a:gd name="connsiteY0" fmla="*/ 0 h 27432"/>
              <a:gd name="connsiteX1" fmla="*/ 599389 w 5212080"/>
              <a:gd name="connsiteY1" fmla="*/ 0 h 27432"/>
              <a:gd name="connsiteX2" fmla="*/ 1198778 w 5212080"/>
              <a:gd name="connsiteY2" fmla="*/ 0 h 27432"/>
              <a:gd name="connsiteX3" fmla="*/ 1954530 w 5212080"/>
              <a:gd name="connsiteY3" fmla="*/ 0 h 27432"/>
              <a:gd name="connsiteX4" fmla="*/ 2501798 w 5212080"/>
              <a:gd name="connsiteY4" fmla="*/ 0 h 27432"/>
              <a:gd name="connsiteX5" fmla="*/ 3049067 w 5212080"/>
              <a:gd name="connsiteY5" fmla="*/ 0 h 27432"/>
              <a:gd name="connsiteX6" fmla="*/ 3700577 w 5212080"/>
              <a:gd name="connsiteY6" fmla="*/ 0 h 27432"/>
              <a:gd name="connsiteX7" fmla="*/ 4247845 w 5212080"/>
              <a:gd name="connsiteY7" fmla="*/ 0 h 27432"/>
              <a:gd name="connsiteX8" fmla="*/ 5212080 w 5212080"/>
              <a:gd name="connsiteY8" fmla="*/ 0 h 27432"/>
              <a:gd name="connsiteX9" fmla="*/ 5212080 w 5212080"/>
              <a:gd name="connsiteY9" fmla="*/ 27432 h 27432"/>
              <a:gd name="connsiteX10" fmla="*/ 4664812 w 5212080"/>
              <a:gd name="connsiteY10" fmla="*/ 27432 h 27432"/>
              <a:gd name="connsiteX11" fmla="*/ 4117543 w 5212080"/>
              <a:gd name="connsiteY11" fmla="*/ 27432 h 27432"/>
              <a:gd name="connsiteX12" fmla="*/ 3466033 w 5212080"/>
              <a:gd name="connsiteY12" fmla="*/ 27432 h 27432"/>
              <a:gd name="connsiteX13" fmla="*/ 2918765 w 5212080"/>
              <a:gd name="connsiteY13" fmla="*/ 27432 h 27432"/>
              <a:gd name="connsiteX14" fmla="*/ 2423617 w 5212080"/>
              <a:gd name="connsiteY14" fmla="*/ 27432 h 27432"/>
              <a:gd name="connsiteX15" fmla="*/ 1772107 w 5212080"/>
              <a:gd name="connsiteY15" fmla="*/ 27432 h 27432"/>
              <a:gd name="connsiteX16" fmla="*/ 1120597 w 5212080"/>
              <a:gd name="connsiteY16" fmla="*/ 27432 h 27432"/>
              <a:gd name="connsiteX17" fmla="*/ 0 w 5212080"/>
              <a:gd name="connsiteY17" fmla="*/ 27432 h 27432"/>
              <a:gd name="connsiteX18" fmla="*/ 0 w 521208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212080" h="27432" fill="none" extrusionOk="0">
                <a:moveTo>
                  <a:pt x="0" y="0"/>
                </a:moveTo>
                <a:cubicBezTo>
                  <a:pt x="128838" y="-11329"/>
                  <a:pt x="306779" y="5198"/>
                  <a:pt x="599389" y="0"/>
                </a:cubicBezTo>
                <a:cubicBezTo>
                  <a:pt x="891999" y="-5198"/>
                  <a:pt x="916635" y="-24425"/>
                  <a:pt x="1198778" y="0"/>
                </a:cubicBezTo>
                <a:cubicBezTo>
                  <a:pt x="1480921" y="24425"/>
                  <a:pt x="1761605" y="-17440"/>
                  <a:pt x="1954530" y="0"/>
                </a:cubicBezTo>
                <a:cubicBezTo>
                  <a:pt x="2147455" y="17440"/>
                  <a:pt x="2239112" y="-16223"/>
                  <a:pt x="2501798" y="0"/>
                </a:cubicBezTo>
                <a:cubicBezTo>
                  <a:pt x="2764484" y="16223"/>
                  <a:pt x="2838074" y="12987"/>
                  <a:pt x="3049067" y="0"/>
                </a:cubicBezTo>
                <a:cubicBezTo>
                  <a:pt x="3260060" y="-12987"/>
                  <a:pt x="3470388" y="-15138"/>
                  <a:pt x="3700577" y="0"/>
                </a:cubicBezTo>
                <a:cubicBezTo>
                  <a:pt x="3930766" y="15138"/>
                  <a:pt x="4052672" y="-14938"/>
                  <a:pt x="4247845" y="0"/>
                </a:cubicBezTo>
                <a:cubicBezTo>
                  <a:pt x="4443018" y="14938"/>
                  <a:pt x="4730158" y="-1623"/>
                  <a:pt x="5212080" y="0"/>
                </a:cubicBezTo>
                <a:cubicBezTo>
                  <a:pt x="5212790" y="9050"/>
                  <a:pt x="5211442" y="21151"/>
                  <a:pt x="5212080" y="27432"/>
                </a:cubicBezTo>
                <a:cubicBezTo>
                  <a:pt x="4991075" y="27722"/>
                  <a:pt x="4932008" y="37429"/>
                  <a:pt x="4664812" y="27432"/>
                </a:cubicBezTo>
                <a:cubicBezTo>
                  <a:pt x="4397616" y="17435"/>
                  <a:pt x="4374940" y="47585"/>
                  <a:pt x="4117543" y="27432"/>
                </a:cubicBezTo>
                <a:cubicBezTo>
                  <a:pt x="3860146" y="7279"/>
                  <a:pt x="3773367" y="36569"/>
                  <a:pt x="3466033" y="27432"/>
                </a:cubicBezTo>
                <a:cubicBezTo>
                  <a:pt x="3158699" y="18296"/>
                  <a:pt x="3137854" y="54523"/>
                  <a:pt x="2918765" y="27432"/>
                </a:cubicBezTo>
                <a:cubicBezTo>
                  <a:pt x="2699676" y="341"/>
                  <a:pt x="2536311" y="13149"/>
                  <a:pt x="2423617" y="27432"/>
                </a:cubicBezTo>
                <a:cubicBezTo>
                  <a:pt x="2310923" y="41715"/>
                  <a:pt x="2021228" y="23141"/>
                  <a:pt x="1772107" y="27432"/>
                </a:cubicBezTo>
                <a:cubicBezTo>
                  <a:pt x="1522986" y="31724"/>
                  <a:pt x="1317107" y="20364"/>
                  <a:pt x="1120597" y="27432"/>
                </a:cubicBezTo>
                <a:cubicBezTo>
                  <a:pt x="924087" y="34501"/>
                  <a:pt x="454536" y="8495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5212080" h="27432" stroke="0" extrusionOk="0">
                <a:moveTo>
                  <a:pt x="0" y="0"/>
                </a:moveTo>
                <a:cubicBezTo>
                  <a:pt x="233695" y="-764"/>
                  <a:pt x="364103" y="24957"/>
                  <a:pt x="547268" y="0"/>
                </a:cubicBezTo>
                <a:cubicBezTo>
                  <a:pt x="730433" y="-24957"/>
                  <a:pt x="937737" y="-21107"/>
                  <a:pt x="1303020" y="0"/>
                </a:cubicBezTo>
                <a:cubicBezTo>
                  <a:pt x="1668303" y="21107"/>
                  <a:pt x="1620404" y="13071"/>
                  <a:pt x="1798168" y="0"/>
                </a:cubicBezTo>
                <a:cubicBezTo>
                  <a:pt x="1975932" y="-13071"/>
                  <a:pt x="2090998" y="4232"/>
                  <a:pt x="2293315" y="0"/>
                </a:cubicBezTo>
                <a:cubicBezTo>
                  <a:pt x="2495632" y="-4232"/>
                  <a:pt x="2738710" y="-17332"/>
                  <a:pt x="2944825" y="0"/>
                </a:cubicBezTo>
                <a:cubicBezTo>
                  <a:pt x="3150940" y="17332"/>
                  <a:pt x="3308101" y="26665"/>
                  <a:pt x="3544214" y="0"/>
                </a:cubicBezTo>
                <a:cubicBezTo>
                  <a:pt x="3780327" y="-26665"/>
                  <a:pt x="4028425" y="-24303"/>
                  <a:pt x="4247845" y="0"/>
                </a:cubicBezTo>
                <a:cubicBezTo>
                  <a:pt x="4467265" y="24303"/>
                  <a:pt x="4779418" y="33057"/>
                  <a:pt x="5212080" y="0"/>
                </a:cubicBezTo>
                <a:cubicBezTo>
                  <a:pt x="5212137" y="6776"/>
                  <a:pt x="5210915" y="20935"/>
                  <a:pt x="5212080" y="27432"/>
                </a:cubicBezTo>
                <a:cubicBezTo>
                  <a:pt x="4921467" y="60248"/>
                  <a:pt x="4631077" y="62273"/>
                  <a:pt x="4456328" y="27432"/>
                </a:cubicBezTo>
                <a:cubicBezTo>
                  <a:pt x="4281579" y="-7409"/>
                  <a:pt x="4048724" y="47667"/>
                  <a:pt x="3856939" y="27432"/>
                </a:cubicBezTo>
                <a:cubicBezTo>
                  <a:pt x="3665154" y="7197"/>
                  <a:pt x="3498754" y="15866"/>
                  <a:pt x="3257550" y="27432"/>
                </a:cubicBezTo>
                <a:cubicBezTo>
                  <a:pt x="3016346" y="38998"/>
                  <a:pt x="2854089" y="39360"/>
                  <a:pt x="2710282" y="27432"/>
                </a:cubicBezTo>
                <a:cubicBezTo>
                  <a:pt x="2566475" y="15504"/>
                  <a:pt x="2336282" y="56792"/>
                  <a:pt x="2110892" y="27432"/>
                </a:cubicBezTo>
                <a:cubicBezTo>
                  <a:pt x="1885502" y="-1928"/>
                  <a:pt x="1825148" y="42061"/>
                  <a:pt x="1615745" y="27432"/>
                </a:cubicBezTo>
                <a:cubicBezTo>
                  <a:pt x="1406342" y="12803"/>
                  <a:pt x="1193655" y="44031"/>
                  <a:pt x="1016356" y="27432"/>
                </a:cubicBezTo>
                <a:cubicBezTo>
                  <a:pt x="839057" y="10833"/>
                  <a:pt x="292902" y="7819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Database Design Bad Practices | Toptal®">
            <a:extLst>
              <a:ext uri="{FF2B5EF4-FFF2-40B4-BE49-F238E27FC236}">
                <a16:creationId xmlns:a16="http://schemas.microsoft.com/office/drawing/2014/main" id="{A75E739F-7155-F9B5-BC06-2B4A742A8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6" r="23046"/>
          <a:stretch>
            <a:fillRect/>
          </a:stretch>
        </p:blipFill>
        <p:spPr bwMode="auto">
          <a:xfrm>
            <a:off x="7967553" y="10"/>
            <a:ext cx="10318162" cy="10286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971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BB811-1AC6-1F75-9628-D1FDAC4F9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What is Grafana? Why Use It? Everything You Should Know About It -  Scaleyourapp">
            <a:extLst>
              <a:ext uri="{FF2B5EF4-FFF2-40B4-BE49-F238E27FC236}">
                <a16:creationId xmlns:a16="http://schemas.microsoft.com/office/drawing/2014/main" id="{EFDBA974-3CC1-8949-533F-2654A97F0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8" t="9091" r="30375" b="-4"/>
          <a:stretch>
            <a:fillRect/>
          </a:stretch>
        </p:blipFill>
        <p:spPr bwMode="auto">
          <a:xfrm>
            <a:off x="5285232" y="10"/>
            <a:ext cx="13002768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4901" cy="10287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D27B7A-7386-DD40-C9CB-E11C995D6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GT" sz="7200" b="1"/>
              <a:t>Creación de Dashboards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08AF92-E2B5-541A-E39D-7D55A4994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0" y="7309383"/>
            <a:ext cx="6035038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800"/>
              <a:t>Permite crear paneles personalizados con gráficos, tablas y alertas. Ideal para monitoreo en tiempo real de servidores, sensores o apps.</a:t>
            </a:r>
            <a:endParaRPr lang="es-GT" sz="2800"/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019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8961B-0DA4-853C-E905-7FB1B874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8" name="Rectangle 11277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0D865C-2D03-10C8-32A7-6A0E679A7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222" y="1198054"/>
            <a:ext cx="7831778" cy="4608023"/>
          </a:xfrm>
        </p:spPr>
        <p:txBody>
          <a:bodyPr anchor="b">
            <a:normAutofit/>
          </a:bodyPr>
          <a:lstStyle/>
          <a:p>
            <a:r>
              <a:rPr lang="es-GT" b="1"/>
              <a:t>Alertas y Notificaciones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13E0B1-C2E5-2F17-055F-117D7191D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222" y="5944188"/>
            <a:ext cx="7831777" cy="3153162"/>
          </a:xfrm>
        </p:spPr>
        <p:txBody>
          <a:bodyPr anchor="t">
            <a:normAutofit/>
          </a:bodyPr>
          <a:lstStyle/>
          <a:p>
            <a:r>
              <a:rPr lang="es-MX"/>
              <a:t>Grafana permite configurar alertas basadas en umbrales o comportamientos anómalos, con notificaciones por correo, </a:t>
            </a:r>
            <a:r>
              <a:rPr lang="es-MX" err="1"/>
              <a:t>Slack</a:t>
            </a:r>
            <a:r>
              <a:rPr lang="es-MX"/>
              <a:t>, Telegram, etc.</a:t>
            </a:r>
            <a:endParaRPr lang="es-GT"/>
          </a:p>
        </p:txBody>
      </p:sp>
      <p:sp>
        <p:nvSpPr>
          <p:cNvPr id="11280" name="Freeform: Shape 11279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6088" y="0"/>
            <a:ext cx="2606102" cy="1439304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282" name="Freeform: Shape 11281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51004" y="1"/>
            <a:ext cx="1732713" cy="886514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266" name="Picture 2" descr="Alert rules | Grafana documentation">
            <a:extLst>
              <a:ext uri="{FF2B5EF4-FFF2-40B4-BE49-F238E27FC236}">
                <a16:creationId xmlns:a16="http://schemas.microsoft.com/office/drawing/2014/main" id="{91621B67-2F51-1765-211F-ADDBBAD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9" r="26716"/>
          <a:stretch>
            <a:fillRect/>
          </a:stretch>
        </p:blipFill>
        <p:spPr bwMode="auto">
          <a:xfrm>
            <a:off x="10630358" y="1814367"/>
            <a:ext cx="6102267" cy="608384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84" name="Freeform: Shape 11283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48388" y="4374367"/>
            <a:ext cx="239612" cy="829494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286" name="Freeform: Shape 11285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660" y="8576859"/>
            <a:ext cx="2657413" cy="171014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288" name="Freeform: Shape 11287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71266" y="9388134"/>
            <a:ext cx="2348910" cy="898867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290" name="Freeform: Shape 11289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5730" y="8753475"/>
            <a:ext cx="2322270" cy="1533526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BAB89-3854-00AE-4DF3-B478AC17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D0F469-EAA8-E975-D279-17C674B90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222" y="1198054"/>
            <a:ext cx="7831778" cy="4608023"/>
          </a:xfrm>
        </p:spPr>
        <p:txBody>
          <a:bodyPr anchor="b">
            <a:normAutofit/>
          </a:bodyPr>
          <a:lstStyle/>
          <a:p>
            <a:r>
              <a:rPr lang="es-GT" b="1" dirty="0"/>
              <a:t>Consultas con </a:t>
            </a:r>
            <a:r>
              <a:rPr lang="es-GT" b="1" dirty="0" err="1"/>
              <a:t>Grafana</a:t>
            </a:r>
            <a:endParaRPr lang="es-GT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2B449F-727A-121E-E1E7-97A6B0575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222" y="5944188"/>
            <a:ext cx="7831777" cy="3153162"/>
          </a:xfrm>
        </p:spPr>
        <p:txBody>
          <a:bodyPr anchor="t">
            <a:normAutofit/>
          </a:bodyPr>
          <a:lstStyle/>
          <a:p>
            <a:r>
              <a:rPr lang="es-GT"/>
              <a:t>Usando lenguajes específicos de cada fuente de datos (como Flux para </a:t>
            </a:r>
            <a:r>
              <a:rPr lang="es-GT" err="1"/>
              <a:t>InfluxDB</a:t>
            </a:r>
            <a:r>
              <a:rPr lang="es-GT"/>
              <a:t> o SQL para bases relacionales) se pueden construir consultas dinámicas.</a:t>
            </a:r>
          </a:p>
        </p:txBody>
      </p:sp>
      <p:sp>
        <p:nvSpPr>
          <p:cNvPr id="12297" name="Freeform: Shape 1229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6088" y="0"/>
            <a:ext cx="2606102" cy="1439304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299" name="Freeform: Shape 1229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51004" y="1"/>
            <a:ext cx="1732713" cy="886514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290" name="Picture 2" descr="How to get Grafana dashboard variables into flux query? - Grafana - Grafana  Labs Community Forums">
            <a:extLst>
              <a:ext uri="{FF2B5EF4-FFF2-40B4-BE49-F238E27FC236}">
                <a16:creationId xmlns:a16="http://schemas.microsoft.com/office/drawing/2014/main" id="{AA56EF28-B90F-ECCB-FA07-D8A94A910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76864" y="1893878"/>
            <a:ext cx="7409256" cy="592482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01" name="Freeform: Shape 1230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48388" y="4374367"/>
            <a:ext cx="239612" cy="829494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303" name="Freeform: Shape 1230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660" y="8576859"/>
            <a:ext cx="2657413" cy="171014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05" name="Freeform: Shape 1230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71266" y="9388134"/>
            <a:ext cx="2348910" cy="898867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307" name="Freeform: Shape 1230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5730" y="8753475"/>
            <a:ext cx="2322270" cy="1533526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5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AA117-0E9D-05FF-AA29-B809FABE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1" name="Rectangle 13320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4C9BC0-1060-DA3E-4121-6E70DFBE1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6555340"/>
            <a:ext cx="13716000" cy="1789707"/>
          </a:xfrm>
        </p:spPr>
        <p:txBody>
          <a:bodyPr>
            <a:normAutofit/>
          </a:bodyPr>
          <a:lstStyle/>
          <a:p>
            <a:r>
              <a:rPr lang="es-GT" sz="6600" b="1"/>
              <a:t>Monitoreo en Proyectos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63252-FA2A-47DC-536D-96A846F96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8454697"/>
            <a:ext cx="13716000" cy="9701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GT" sz="2700"/>
              <a:t>Aplicaciones reales: monitoreo de servidores, </a:t>
            </a:r>
            <a:r>
              <a:rPr lang="es-GT" sz="2700" err="1"/>
              <a:t>IoT</a:t>
            </a:r>
            <a:r>
              <a:rPr lang="es-GT" sz="2700"/>
              <a:t>, sensores ambientales, métricas de tráfico web, entre otros.</a:t>
            </a:r>
          </a:p>
        </p:txBody>
      </p:sp>
      <p:pic>
        <p:nvPicPr>
          <p:cNvPr id="13316" name="Picture 4" descr="IoT-Monitoreo Ambiental Basado: Tipos y casos de uso | Digi International">
            <a:extLst>
              <a:ext uri="{FF2B5EF4-FFF2-40B4-BE49-F238E27FC236}">
                <a16:creationId xmlns:a16="http://schemas.microsoft.com/office/drawing/2014/main" id="{7D33BAEF-1B55-E2D0-38B4-36A247B0F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86"/>
          <a:stretch>
            <a:fillRect/>
          </a:stretch>
        </p:blipFill>
        <p:spPr bwMode="auto">
          <a:xfrm>
            <a:off x="2535069" y="579307"/>
            <a:ext cx="13355161" cy="5650314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708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374889" y="3650660"/>
            <a:ext cx="14365903" cy="475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Monitoreo en tiempo real de sensores </a:t>
            </a:r>
            <a:r>
              <a:rPr lang="es-MX" sz="3575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s-MX" sz="3575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InfluxDB</a:t>
            </a: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MX" sz="3575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Grafana</a:t>
            </a:r>
            <a:endParaRPr lang="es-MX" sz="3575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Sistema de control ambiental usando Arduino, </a:t>
            </a:r>
            <a:r>
              <a:rPr lang="es-MX" sz="3575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InfluxDB</a:t>
            </a: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y paneles en </a:t>
            </a:r>
            <a:r>
              <a:rPr lang="es-MX" sz="3575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Grafana</a:t>
            </a:r>
            <a:endParaRPr lang="es-MX" sz="3575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Alertas automáticas en </a:t>
            </a:r>
            <a:r>
              <a:rPr lang="es-MX" sz="3575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Grafana</a:t>
            </a: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ante caídas de servicio o picos de tráfico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deias - o que são, tipos, classificação e características">
            <a:extLst>
              <a:ext uri="{FF2B5EF4-FFF2-40B4-BE49-F238E27FC236}">
                <a16:creationId xmlns:a16="http://schemas.microsoft.com/office/drawing/2014/main" id="{DEB00B80-C442-AF56-17BD-03767C2EA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39"/>
          <a:stretch>
            <a:fillRect/>
          </a:stretch>
        </p:blipFill>
        <p:spPr bwMode="auto">
          <a:xfrm>
            <a:off x="20" y="10"/>
            <a:ext cx="18287980" cy="669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: Rounded Corners 205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79328"/>
            <a:ext cx="14073807" cy="10287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850392" y="6304917"/>
            <a:ext cx="12835789" cy="8040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i="0" u="none" strike="noStrike" kern="1200" cap="none">
                <a:solidFill>
                  <a:schemeClr val="bg1"/>
                </a:solidFill>
                <a:latin typeface="+mj-lt"/>
                <a:ea typeface="+mj-ea"/>
                <a:cs typeface="+mj-cs"/>
                <a:sym typeface="Impact"/>
              </a:rPr>
              <a:t>CONCEPTOS CLAVE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850392" y="7434471"/>
            <a:ext cx="16587216" cy="258298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Escalabilidad horizontal vs. vertical en bases de datos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Consistencia vs. disponibilidad: Teorema CAP en sistemas distribuidos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Modelado de datos en bases NoSQL (orientado a uso, no a relaciones)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Persistencia de datos en Redis (RDB vs. AOF)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Tipos de visualizaciones avanzadas en </a:t>
            </a:r>
            <a:r>
              <a:rPr lang="es-MX" sz="2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Grafana</a:t>
            </a:r>
            <a:r>
              <a:rPr lang="es-MX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s-MX" sz="2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heatmap</a:t>
            </a:r>
            <a:r>
              <a:rPr lang="es-MX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gauge, time series, etc.)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MX" sz="2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78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0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542" y="-1"/>
            <a:ext cx="18288000" cy="1028699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Google Shape;166;p7"/>
          <p:cNvSpPr txBox="1"/>
          <p:nvPr/>
        </p:nvSpPr>
        <p:spPr>
          <a:xfrm>
            <a:off x="1705552" y="914400"/>
            <a:ext cx="5393517" cy="19962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NOMBRE DEL </a:t>
            </a:r>
            <a:r>
              <a:rPr lang="en-US" sz="44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VALOR Y/O ACTITUD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705551" y="3291153"/>
            <a:ext cx="4738111" cy="5862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Orden: Tener una estructura clara y organizada en una base de datos es crucial para que la información sea accesible y útil</a:t>
            </a:r>
            <a:endParaRPr lang="en-US" sz="3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 descr="Icono de escala de equilibrio de justicia legal | Vector Premium">
            <a:extLst>
              <a:ext uri="{FF2B5EF4-FFF2-40B4-BE49-F238E27FC236}">
                <a16:creationId xmlns:a16="http://schemas.microsoft.com/office/drawing/2014/main" id="{5929A8A3-520C-6770-9A01-442573B8B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 r="9718" b="-1"/>
          <a:stretch>
            <a:fillRect/>
          </a:stretch>
        </p:blipFill>
        <p:spPr bwMode="auto">
          <a:xfrm>
            <a:off x="7422282" y="1"/>
            <a:ext cx="10865718" cy="10286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099193" y="4369095"/>
            <a:ext cx="8319694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6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https://www.mongodb.com/docs/</a:t>
            </a:r>
            <a:endParaRPr lang="es-MX" sz="3600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600" dirty="0">
                <a:hlinkClick r:id="rId4"/>
              </a:rPr>
              <a:t>https://docs.influxdata.com/influxdb/</a:t>
            </a:r>
            <a:endParaRPr lang="es-MX" sz="3600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600" dirty="0">
                <a:hlinkClick r:id="rId5"/>
              </a:rPr>
              <a:t>https://redis.io/documentation/</a:t>
            </a:r>
            <a:endParaRPr lang="es-MX" sz="3600" dirty="0"/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600" dirty="0"/>
              <a:t>https://grafana.com/docs/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87" name="Google Shape;18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652</Words>
  <Application>Microsoft Office PowerPoint</Application>
  <PresentationFormat>Custom</PresentationFormat>
  <Paragraphs>60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Pacifico</vt:lpstr>
      <vt:lpstr>Open Sans</vt:lpstr>
      <vt:lpstr>Arial</vt:lpstr>
      <vt:lpstr>Impact</vt:lpstr>
      <vt:lpstr>Calibri</vt:lpstr>
      <vt:lpstr>Lobster</vt:lpstr>
      <vt:lpstr>Office Theme</vt:lpstr>
      <vt:lpstr>PowerPoint Presentation</vt:lpstr>
      <vt:lpstr>PowerPoint Presentation</vt:lpstr>
      <vt:lpstr>PowerPoint Presentation</vt:lpstr>
      <vt:lpstr>Bases de Datos NoSQL  Conceptos Generales</vt:lpstr>
      <vt:lpstr>Beneficios de una Base NoSQL</vt:lpstr>
      <vt:lpstr>Plataformas Interactivas</vt:lpstr>
      <vt:lpstr>MongoDB</vt:lpstr>
      <vt:lpstr>InfluxDB</vt:lpstr>
      <vt:lpstr>Redis</vt:lpstr>
      <vt:lpstr>Monitoreo de Datos con Grafana  Introducción a Grafana</vt:lpstr>
      <vt:lpstr>Instalación y Configuración de Grafana</vt:lpstr>
      <vt:lpstr>Fuentes de Datos Compatibles</vt:lpstr>
      <vt:lpstr>Creación de Dashboards</vt:lpstr>
      <vt:lpstr>Alertas y Notificaciones</vt:lpstr>
      <vt:lpstr>Consultas con Grafana</vt:lpstr>
      <vt:lpstr>Monitoreo en Proyectos Reales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Eli Barrientos</cp:lastModifiedBy>
  <cp:revision>10</cp:revision>
  <dcterms:created xsi:type="dcterms:W3CDTF">2006-08-16T00:00:00Z</dcterms:created>
  <dcterms:modified xsi:type="dcterms:W3CDTF">2025-05-30T19:18:04Z</dcterms:modified>
</cp:coreProperties>
</file>