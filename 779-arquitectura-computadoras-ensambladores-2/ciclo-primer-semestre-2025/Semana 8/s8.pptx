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Lobster"/>
      <p:regular r:id="rId21"/>
    </p:embeddedFon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NEFeKhhMvZQA+Lnrwsqjjjago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acifico-regular.fntdata"/><Relationship Id="rId21" Type="http://schemas.openxmlformats.org/officeDocument/2006/relationships/font" Target="fonts/Lobster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3js.org/" TargetMode="External"/><Relationship Id="rId4" Type="http://schemas.openxmlformats.org/officeDocument/2006/relationships/hyperlink" Target="https://p5js.org/" TargetMode="External"/><Relationship Id="rId5" Type="http://schemas.openxmlformats.org/officeDocument/2006/relationships/hyperlink" Target="https://threejs.org/" TargetMode="External"/><Relationship Id="rId6" Type="http://schemas.openxmlformats.org/officeDocument/2006/relationships/hyperlink" Target="https://www.chartjs.org/" TargetMode="External"/><Relationship Id="rId7" Type="http://schemas.openxmlformats.org/officeDocument/2006/relationships/hyperlink" Target="https://axios-http.com/" TargetMode="External"/><Relationship Id="rId8" Type="http://schemas.openxmlformats.org/officeDocument/2006/relationships/hyperlink" Target="https://developer.mozilla.org/es/docs/Web/API/Fetch_API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6994239"/>
            <a:ext cx="10313534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Computadores y Ensambladores 2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623610" y="2089359"/>
            <a:ext cx="12375000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0" lang="en-US" sz="8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Visualización de Data en Tiempo Real</a:t>
            </a:r>
            <a:endParaRPr b="0" i="0" sz="8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"/>
          <p:cNvGrpSpPr/>
          <p:nvPr/>
        </p:nvGrpSpPr>
        <p:grpSpPr>
          <a:xfrm>
            <a:off x="1733552" y="4709801"/>
            <a:ext cx="4613551" cy="845385"/>
            <a:chOff x="0" y="-76200"/>
            <a:chExt cx="1964221" cy="359923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Visualización de Datos en la Web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7 habilidades necesarias para los trabajos del futuro — Observatorio de ..." id="125" name="Google Shape;125;p3"/>
          <p:cNvPicPr preferRelativeResize="0"/>
          <p:nvPr/>
        </p:nvPicPr>
        <p:blipFill rotWithShape="1">
          <a:blip r:embed="rId3">
            <a:alphaModFix/>
          </a:blip>
          <a:srcRect b="6163" l="17840" r="-1" t="2926"/>
          <a:stretch/>
        </p:blipFill>
        <p:spPr>
          <a:xfrm>
            <a:off x="20" y="10"/>
            <a:ext cx="1300274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 flipH="1">
            <a:off x="3653098" y="0"/>
            <a:ext cx="14634902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40000"/>
                </a:srgbClr>
              </a:gs>
              <a:gs pos="35000">
                <a:srgbClr val="FFFFFF">
                  <a:alpha val="75686"/>
                </a:srgbClr>
              </a:gs>
              <a:gs pos="52999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2555705" y="1741932"/>
            <a:ext cx="5157216" cy="1687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13031000" y="908685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2679527" y="3665220"/>
            <a:ext cx="4828032" cy="13716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2555705" y="4077081"/>
            <a:ext cx="5158359" cy="481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 una interfaz gráfica para visualización de datos en tiempo real usando herramientas como Processing o p5.js para representar información recolectada desde sensores conectados a Arduino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2"/>
          <p:cNvSpPr/>
          <p:nvPr/>
        </p:nvSpPr>
        <p:spPr>
          <a:xfrm rot="-4995211">
            <a:off x="1013459" y="1163774"/>
            <a:ext cx="4481849" cy="4481849"/>
          </a:xfrm>
          <a:prstGeom prst="arc">
            <a:avLst>
              <a:gd fmla="val 14455503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 txBox="1"/>
          <p:nvPr>
            <p:ph type="ctrTitle"/>
          </p:nvPr>
        </p:nvSpPr>
        <p:spPr>
          <a:xfrm>
            <a:off x="1339227" y="2055256"/>
            <a:ext cx="762837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Visualización de Datos en la Web</a:t>
            </a:r>
            <a:br>
              <a:rPr b="1" lang="en-US"/>
            </a:br>
            <a:br>
              <a:rPr b="1" lang="en-US"/>
            </a:br>
            <a:r>
              <a:rPr b="1" lang="en-US"/>
              <a:t>¿Qué es la visualización de datos?</a:t>
            </a:r>
            <a:endParaRPr b="1"/>
          </a:p>
        </p:txBody>
      </p:sp>
      <p:sp>
        <p:nvSpPr>
          <p:cNvPr id="138" name="Google Shape;138;p22"/>
          <p:cNvSpPr txBox="1"/>
          <p:nvPr>
            <p:ph idx="1" type="subTitle"/>
          </p:nvPr>
        </p:nvSpPr>
        <p:spPr>
          <a:xfrm>
            <a:off x="1339227" y="5774767"/>
            <a:ext cx="7628370" cy="28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700"/>
              <a:t>La visualización de datos consiste en representar información compleja mediante gráficos, diagramas o animaciones para facilitar su comprensión. En la web se logra usando herramientas como librerías y frameworks que permiten integrar estos elementos a sitios interactivos.</a:t>
            </a:r>
            <a:endParaRPr sz="2700"/>
          </a:p>
        </p:txBody>
      </p:sp>
      <p:sp>
        <p:nvSpPr>
          <p:cNvPr id="139" name="Google Shape;139;p22"/>
          <p:cNvSpPr/>
          <p:nvPr/>
        </p:nvSpPr>
        <p:spPr>
          <a:xfrm>
            <a:off x="15524703" y="1249029"/>
            <a:ext cx="1657414" cy="16124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sualización de datos: ¿Por qué es tan importante hoy? - Teleduc" id="140" name="Google Shape;140;p22"/>
          <p:cNvPicPr preferRelativeResize="0"/>
          <p:nvPr/>
        </p:nvPicPr>
        <p:blipFill rotWithShape="1">
          <a:blip r:embed="rId3">
            <a:alphaModFix/>
          </a:blip>
          <a:srcRect b="-1" l="20455" r="23294" t="0"/>
          <a:stretch/>
        </p:blipFill>
        <p:spPr>
          <a:xfrm>
            <a:off x="9782071" y="1160584"/>
            <a:ext cx="7792497" cy="7792497"/>
          </a:xfrm>
          <a:custGeom>
            <a:rect b="b" l="l" r="r" t="t"/>
            <a:pathLst>
              <a:path extrusionOk="0" h="3741748" w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10226709" y="7186080"/>
            <a:ext cx="1315056" cy="13150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0" y="0"/>
            <a:ext cx="8480157" cy="10287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 txBox="1"/>
          <p:nvPr>
            <p:ph type="ctrTitle"/>
          </p:nvPr>
        </p:nvSpPr>
        <p:spPr>
          <a:xfrm>
            <a:off x="1257300" y="914400"/>
            <a:ext cx="5609011" cy="1996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 Framework populares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subTitle"/>
          </p:nvPr>
        </p:nvSpPr>
        <p:spPr>
          <a:xfrm>
            <a:off x="1293549" y="3291153"/>
            <a:ext cx="5140501" cy="5862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82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frameworks ayudan a construir interfaces visuales dinámicas. Algunos ejemplos son:  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D3.js: Para visualizaciones personalizadas avanzadas.  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Chart.js / Recharts / Victory: Para gráficos simples y rápidos.  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 + Viz.js, React + Plotly: Integración en aplicaciones modernas.</a:t>
            </a:r>
            <a:endParaRPr/>
          </a:p>
        </p:txBody>
      </p:sp>
      <p:pic>
        <p:nvPicPr>
          <p:cNvPr descr="Los top frameworks para Front End - CodersLink"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8185" y="2347758"/>
            <a:ext cx="9232712" cy="562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ué es una api rest? ¿Cómo funciona? ¿En que tipo de web utilizarlas?"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954" y="1678674"/>
            <a:ext cx="13281808" cy="332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962661" y="934912"/>
            <a:ext cx="16357579" cy="841182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>
            <p:ph type="ctrTitle"/>
          </p:nvPr>
        </p:nvSpPr>
        <p:spPr>
          <a:xfrm>
            <a:off x="1933956" y="5143500"/>
            <a:ext cx="13382508" cy="25699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2000"/>
              <a:t>¿Qué es una API?</a:t>
            </a:r>
            <a:endParaRPr/>
          </a:p>
        </p:txBody>
      </p:sp>
      <p:sp>
        <p:nvSpPr>
          <p:cNvPr id="160" name="Google Shape;160;p24"/>
          <p:cNvSpPr txBox="1"/>
          <p:nvPr>
            <p:ph idx="1" type="subTitle"/>
          </p:nvPr>
        </p:nvSpPr>
        <p:spPr>
          <a:xfrm>
            <a:off x="1933954" y="7713457"/>
            <a:ext cx="10981947" cy="112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200"/>
              <a:t>Una API (Application Programming Interface) es una interfaz que permite a diferentes programas comunicarse entre sí. En la web, las APIs públicas ofrecen acceso a datos estructurados (como estadísticas, clima o finanzas) que luego pueden ser visualizados.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12262"/>
          <a:stretch/>
        </p:blipFill>
        <p:spPr>
          <a:xfrm>
            <a:off x="20" y="10"/>
            <a:ext cx="18287980" cy="6698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0" y="6179328"/>
            <a:ext cx="14073807" cy="10287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>
            <p:ph type="ctrTitle"/>
          </p:nvPr>
        </p:nvSpPr>
        <p:spPr>
          <a:xfrm>
            <a:off x="850392" y="6304917"/>
            <a:ext cx="12835789" cy="80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Librerías populares de consumo de datos</a:t>
            </a:r>
            <a:endParaRPr/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850392" y="7434471"/>
            <a:ext cx="16587216" cy="195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82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librerías facilitan obtener y procesar datos desde APIs: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Axios / Fetch API: Para solicitudes HTTP.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PapaParse: Para leer archivos CSV.</a:t>
            </a:r>
            <a:endParaRPr/>
          </a:p>
          <a:p>
            <a:pPr indent="-228600" lvl="1" marL="9398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Lodash / Ramda: Manipulación funcional de datos.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 rot="-4995211">
            <a:off x="1013459" y="1163774"/>
            <a:ext cx="4481849" cy="4481849"/>
          </a:xfrm>
          <a:prstGeom prst="arc">
            <a:avLst>
              <a:gd fmla="val 14455503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type="ctrTitle"/>
          </p:nvPr>
        </p:nvSpPr>
        <p:spPr>
          <a:xfrm>
            <a:off x="1339227" y="2055256"/>
            <a:ext cx="762837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¿Qué es p5.js?</a:t>
            </a:r>
            <a:endParaRPr b="1"/>
          </a:p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1339227" y="5774767"/>
            <a:ext cx="7628370" cy="28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&gt; p5.js es una biblioteca de JavaScript orientada al arte y visualización creativa. Permite dibujar gráficos directamente sobre el navegador y manipularlos en tiempo real. Ideal para proyectos artísticos o educativos.</a:t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15524703" y="1249029"/>
            <a:ext cx="1657414" cy="16124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xploring the Creative Potential of P5.js: A Technical Guide | by RickA |  Medium" id="179" name="Google Shape;179;p26"/>
          <p:cNvPicPr preferRelativeResize="0"/>
          <p:nvPr/>
        </p:nvPicPr>
        <p:blipFill rotWithShape="1">
          <a:blip r:embed="rId3">
            <a:alphaModFix/>
          </a:blip>
          <a:srcRect b="-1" l="19134" r="24615" t="0"/>
          <a:stretch/>
        </p:blipFill>
        <p:spPr>
          <a:xfrm>
            <a:off x="9782071" y="1160584"/>
            <a:ext cx="7792497" cy="7792497"/>
          </a:xfrm>
          <a:custGeom>
            <a:rect b="b" l="l" r="r" t="t"/>
            <a:pathLst>
              <a:path extrusionOk="0" h="3741748" w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0" name="Google Shape;180;p26"/>
          <p:cNvSpPr/>
          <p:nvPr/>
        </p:nvSpPr>
        <p:spPr>
          <a:xfrm>
            <a:off x="10226709" y="7186080"/>
            <a:ext cx="1315056" cy="13150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>
            <p:ph type="ctrTitle"/>
          </p:nvPr>
        </p:nvSpPr>
        <p:spPr>
          <a:xfrm>
            <a:off x="1293186" y="2208913"/>
            <a:ext cx="7103877" cy="320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/>
              <a:t>¿Qué es Three.js?</a:t>
            </a:r>
            <a:endParaRPr/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1687332" y="5827059"/>
            <a:ext cx="6315585" cy="15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400"/>
              <a:t>Three.js es una librería de JavaScript para crear gráficos 3D en el navegador usando WebGL. Facilita la creación de escenas 3D interactivas y es ideal para visualizaciones avanzadas o experiencias inmersivas.</a:t>
            </a:r>
            <a:endParaRPr sz="2400"/>
          </a:p>
        </p:txBody>
      </p:sp>
      <p:sp>
        <p:nvSpPr>
          <p:cNvPr id="188" name="Google Shape;188;p27"/>
          <p:cNvSpPr/>
          <p:nvPr/>
        </p:nvSpPr>
        <p:spPr>
          <a:xfrm flipH="1">
            <a:off x="6884892" y="1"/>
            <a:ext cx="11403106" cy="726140"/>
          </a:xfrm>
          <a:custGeom>
            <a:rect b="b" l="l" r="r" t="t"/>
            <a:pathLst>
              <a:path extrusionOk="0"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0" y="8256493"/>
            <a:ext cx="16020843" cy="2030508"/>
          </a:xfrm>
          <a:custGeom>
            <a:rect b="b" l="l" r="r" t="t"/>
            <a:pathLst>
              <a:path extrusionOk="0"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9144000" y="868107"/>
            <a:ext cx="8471140" cy="7603032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rotWithShape="0" algn="tl" dir="3000000" dist="12700">
              <a:srgbClr val="000000">
                <a:alpha val="2392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12037738" y="383212"/>
            <a:ext cx="2051438" cy="643476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.js Geometry Tutorial for Beginners"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6599" y="2547456"/>
            <a:ext cx="7505943" cy="4222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4889" y="3650660"/>
            <a:ext cx="14365903" cy="14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aplicacion que vallan de acuerdo a los temas vistos (comprension y aplicacion)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-22542" y="-1"/>
            <a:ext cx="18288000" cy="10286998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1705552" y="914400"/>
            <a:ext cx="5393517" cy="1996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1705551" y="3291153"/>
            <a:ext cx="4738111" cy="5862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P5.js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WebSerial API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Web Interactica</a:t>
            </a:r>
            <a:endParaRPr/>
          </a:p>
        </p:txBody>
      </p:sp>
      <p:pic>
        <p:nvPicPr>
          <p:cNvPr descr="iUP25k celebra 10 anos a premiar as ideias &quot;made in U.Porto&quot;"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15471" r="14023" t="0"/>
          <a:stretch/>
        </p:blipFill>
        <p:spPr>
          <a:xfrm>
            <a:off x="7422282" y="1"/>
            <a:ext cx="10865718" cy="10286999"/>
          </a:xfrm>
          <a:custGeom>
            <a:rect b="b" l="l" r="r" t="t"/>
            <a:pathLst>
              <a:path extrusionOk="0" h="6857999" w="7243812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960120" y="7166608"/>
            <a:ext cx="5128485" cy="2118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 que no sabías del valor del dinero en el tiempo | BBVA México" id="216" name="Google Shape;216;p7"/>
          <p:cNvPicPr preferRelativeResize="0"/>
          <p:nvPr/>
        </p:nvPicPr>
        <p:blipFill rotWithShape="1">
          <a:blip r:embed="rId3">
            <a:alphaModFix/>
          </a:blip>
          <a:srcRect b="4748" l="0" r="0" t="23694"/>
          <a:stretch/>
        </p:blipFill>
        <p:spPr>
          <a:xfrm>
            <a:off x="20" y="10"/>
            <a:ext cx="18287980" cy="6837635"/>
          </a:xfrm>
          <a:custGeom>
            <a:rect b="b" l="l" r="r" t="t"/>
            <a:pathLst>
              <a:path extrusionOk="0" h="4558430" w="12188952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 rot="5400000">
            <a:off x="5491958" y="8202309"/>
            <a:ext cx="2057400" cy="27432"/>
          </a:xfrm>
          <a:custGeom>
            <a:rect b="b" l="l" r="r" t="t"/>
            <a:pathLst>
              <a:path extrusionOk="0" fill="none" h="27432" w="2057400">
                <a:moveTo>
                  <a:pt x="0" y="0"/>
                </a:moveTo>
                <a:cubicBezTo>
                  <a:pt x="302803" y="-32679"/>
                  <a:pt x="450041" y="32706"/>
                  <a:pt x="685800" y="0"/>
                </a:cubicBezTo>
                <a:cubicBezTo>
                  <a:pt x="921559" y="-32706"/>
                  <a:pt x="1009847" y="29047"/>
                  <a:pt x="1309878" y="0"/>
                </a:cubicBezTo>
                <a:cubicBezTo>
                  <a:pt x="1609909" y="-29047"/>
                  <a:pt x="1809302" y="29901"/>
                  <a:pt x="2057400" y="0"/>
                </a:cubicBezTo>
                <a:cubicBezTo>
                  <a:pt x="2056280" y="10493"/>
                  <a:pt x="2057243" y="20203"/>
                  <a:pt x="2057400" y="27432"/>
                </a:cubicBezTo>
                <a:cubicBezTo>
                  <a:pt x="1773018" y="-8870"/>
                  <a:pt x="1583133" y="36663"/>
                  <a:pt x="1330452" y="27432"/>
                </a:cubicBezTo>
                <a:cubicBezTo>
                  <a:pt x="1077771" y="18201"/>
                  <a:pt x="835436" y="58848"/>
                  <a:pt x="685800" y="27432"/>
                </a:cubicBezTo>
                <a:cubicBezTo>
                  <a:pt x="536164" y="-3984"/>
                  <a:pt x="241183" y="24057"/>
                  <a:pt x="0" y="27432"/>
                </a:cubicBezTo>
                <a:cubicBezTo>
                  <a:pt x="-47" y="18228"/>
                  <a:pt x="-305" y="9449"/>
                  <a:pt x="0" y="0"/>
                </a:cubicBezTo>
                <a:close/>
              </a:path>
              <a:path extrusionOk="0" h="27432" w="2057400">
                <a:moveTo>
                  <a:pt x="0" y="0"/>
                </a:moveTo>
                <a:cubicBezTo>
                  <a:pt x="303435" y="-7297"/>
                  <a:pt x="415843" y="-14809"/>
                  <a:pt x="624078" y="0"/>
                </a:cubicBezTo>
                <a:cubicBezTo>
                  <a:pt x="832313" y="14809"/>
                  <a:pt x="1133755" y="24795"/>
                  <a:pt x="1289304" y="0"/>
                </a:cubicBezTo>
                <a:cubicBezTo>
                  <a:pt x="1444853" y="-24795"/>
                  <a:pt x="1722910" y="22004"/>
                  <a:pt x="2057400" y="0"/>
                </a:cubicBezTo>
                <a:cubicBezTo>
                  <a:pt x="2056965" y="10475"/>
                  <a:pt x="2058277" y="19313"/>
                  <a:pt x="2057400" y="27432"/>
                </a:cubicBezTo>
                <a:cubicBezTo>
                  <a:pt x="1751285" y="-1123"/>
                  <a:pt x="1645759" y="29270"/>
                  <a:pt x="1412748" y="27432"/>
                </a:cubicBezTo>
                <a:cubicBezTo>
                  <a:pt x="1179737" y="25594"/>
                  <a:pt x="962869" y="32322"/>
                  <a:pt x="685800" y="27432"/>
                </a:cubicBezTo>
                <a:cubicBezTo>
                  <a:pt x="408731" y="22542"/>
                  <a:pt x="220204" y="52941"/>
                  <a:pt x="0" y="27432"/>
                </a:cubicBezTo>
                <a:cubicBezTo>
                  <a:pt x="-933" y="21824"/>
                  <a:pt x="-517" y="1114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981441" y="7166608"/>
            <a:ext cx="10346439" cy="209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Comprensión: Permite interpretar correctamente el funcionamiento de cada parte del sistema IoT y cómo se relacionan entre sí.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4466857" y="2726124"/>
            <a:ext cx="9354286" cy="5430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https://d3js.org/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https://p5js.org/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https://threejs.org/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https://www.chartjs.org/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https://axios-http.com/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https://developer.mozilla.org/es/docs/Web/API/Fetch_API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https://apexcharts.com/javascript-chart-library/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