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60" r:id="rId13"/>
    <p:sldId id="261" r:id="rId14"/>
    <p:sldId id="262" r:id="rId15"/>
    <p:sldId id="263" r:id="rId16"/>
    <p:sldId id="264" r:id="rId17"/>
  </p:sldIdLst>
  <p:sldSz cx="18288000" cy="10287000"/>
  <p:notesSz cx="6858000" cy="9144000"/>
  <p:embeddedFontLst>
    <p:embeddedFont>
      <p:font typeface="Impact" panose="020B0806030902050204" pitchFamily="34" charset="0"/>
      <p:regular r:id="rId19"/>
    </p:embeddedFont>
    <p:embeddedFont>
      <p:font typeface="Lobster" panose="00000500000000000000" pitchFamily="2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acifico" panose="00000500000000000000" pitchFamily="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lit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e.arduino.cc/projecthub/iot-machine-learni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6994239"/>
            <a:ext cx="10122148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Ensambladores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2410958" y="1798543"/>
            <a:ext cx="12375000" cy="46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2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Datos y Monitoreo en la Nube con </a:t>
            </a:r>
            <a:r>
              <a:rPr lang="es-MX" sz="7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IoT</a:t>
            </a:r>
            <a:endParaRPr sz="72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866989" y="4520485"/>
            <a:ext cx="4613551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Machine Learning </a:t>
              </a: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</a:t>
              </a: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IoT</a:t>
              </a:r>
              <a:endParaRPr dirty="0"/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https://youtu.be/YFtmaDvcyQ0</a:t>
              </a:r>
              <a:endParaRPr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1739805" y="5032666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2119967" y="1112086"/>
            <a:ext cx="5053851" cy="2424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COMPETENCIA(S) QUE DESARROLLAREMOS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1026" name="Picture 2" descr="Desarrollo de habilidades: el común denominador compañías exitosas ...">
            <a:extLst>
              <a:ext uri="{FF2B5EF4-FFF2-40B4-BE49-F238E27FC236}">
                <a16:creationId xmlns:a16="http://schemas.microsoft.com/office/drawing/2014/main" id="{B33D824F-4C76-5888-9934-5927AFEF1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6" r="21182"/>
          <a:stretch>
            <a:fillRect/>
          </a:stretch>
        </p:blipFill>
        <p:spPr bwMode="auto">
          <a:xfrm>
            <a:off x="20" y="10"/>
            <a:ext cx="11085374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19516" y="3521124"/>
            <a:ext cx="2446362" cy="11085393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878592" y="2878590"/>
            <a:ext cx="10281420" cy="4524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692485" y="6637582"/>
            <a:ext cx="4392908" cy="364941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5" name="Google Shape;135;p3"/>
          <p:cNvSpPr txBox="1"/>
          <p:nvPr/>
        </p:nvSpPr>
        <p:spPr>
          <a:xfrm>
            <a:off x="12119967" y="3800214"/>
            <a:ext cx="5053851" cy="517174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1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evalúa el rendimiento de un modelo de machine learning desplegado en IoT mediante métricas como precisión y pérdida en entornos reales para asegurar su efectividad en la detección de anomalías. dependiendo del contexto utilizado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51A362-1F6B-B95B-5A05-123FA1F5B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715" y="4441074"/>
            <a:ext cx="6054501" cy="358140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8100" b="1"/>
              <a:t>Machine Learning en IoT</a:t>
            </a:r>
            <a:endParaRPr lang="es-GT" sz="81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A2EF41-81C6-925B-CB01-FA3592D26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713" y="1429555"/>
            <a:ext cx="6054500" cy="2564774"/>
          </a:xfrm>
        </p:spPr>
        <p:txBody>
          <a:bodyPr anchor="b">
            <a:normAutofit/>
          </a:bodyPr>
          <a:lstStyle/>
          <a:p>
            <a:pPr algn="l"/>
            <a:r>
              <a:rPr lang="es-MX" sz="3000" dirty="0"/>
              <a:t>&gt;</a:t>
            </a:r>
            <a:r>
              <a:rPr lang="es-MX" sz="3000" dirty="0" err="1"/>
              <a:t>itroducción</a:t>
            </a:r>
            <a:r>
              <a:rPr lang="es-MX" sz="3000" dirty="0"/>
              <a:t> al uso del aprendizaje automático en sistemas conectados a Internet de las Cosas (</a:t>
            </a:r>
            <a:r>
              <a:rPr lang="es-MX" sz="3000" dirty="0" err="1"/>
              <a:t>IoT</a:t>
            </a:r>
            <a:r>
              <a:rPr lang="es-MX" sz="3000" dirty="0"/>
              <a:t>).</a:t>
            </a:r>
            <a:endParaRPr lang="es-GT" sz="3000" dirty="0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046505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8715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rduino IoT Cloud 2021 - Getting Started with Arduino &amp; ESP32">
            <a:extLst>
              <a:ext uri="{FF2B5EF4-FFF2-40B4-BE49-F238E27FC236}">
                <a16:creationId xmlns:a16="http://schemas.microsoft.com/office/drawing/2014/main" id="{750A8086-F718-7838-F70D-D221B6DD9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3738" y="2763935"/>
            <a:ext cx="8304001" cy="467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5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62761-1531-EF2D-42A2-EAD213E4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21033" y="1801968"/>
            <a:ext cx="7212453" cy="6132999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4A46C7-A3A9-E061-8B49-0C85DFB36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61" y="4150659"/>
            <a:ext cx="4321242" cy="4607859"/>
          </a:xfrm>
        </p:spPr>
        <p:txBody>
          <a:bodyPr anchor="t">
            <a:normAutofit/>
          </a:bodyPr>
          <a:lstStyle/>
          <a:p>
            <a:pPr algn="l"/>
            <a:r>
              <a:rPr lang="es-MX" sz="6000" b="1">
                <a:solidFill>
                  <a:srgbClr val="FFFFFF"/>
                </a:solidFill>
              </a:rPr>
              <a:t>Introducción a IoT y Machine Learning</a:t>
            </a:r>
            <a:endParaRPr lang="es-GT" sz="6000" b="1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0F5639-1FF4-A89B-B93F-E3E9A3F16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63" y="1210236"/>
            <a:ext cx="4379607" cy="224117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300" dirty="0" err="1">
                <a:solidFill>
                  <a:srgbClr val="FFFFFF"/>
                </a:solidFill>
              </a:rPr>
              <a:t>IoT</a:t>
            </a:r>
            <a:r>
              <a:rPr lang="es-MX" sz="2300" dirty="0">
                <a:solidFill>
                  <a:srgbClr val="FFFFFF"/>
                </a:solidFill>
              </a:rPr>
              <a:t> permite conectar dispositivos físicos a internet, mientras que ML permite tomar decisiones inteligentes con datos. Su combinación mejora eficiencia, predicción y automatización.</a:t>
            </a:r>
            <a:endParaRPr lang="es-GT" sz="23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Design and Implementation of a Sensor-Cloud Platform for Physical Sensor  Management on CoT Environments">
            <a:extLst>
              <a:ext uri="{FF2B5EF4-FFF2-40B4-BE49-F238E27FC236}">
                <a16:creationId xmlns:a16="http://schemas.microsoft.com/office/drawing/2014/main" id="{5180D6F0-2138-687F-8744-EA933D1A4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3642" y="2406744"/>
            <a:ext cx="10838622" cy="547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43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1CFBC-3AA8-AD49-CF54-230793B3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4EB20A-D899-6152-D51E-44B2E88A3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507" y="960120"/>
            <a:ext cx="5601021" cy="5349240"/>
          </a:xfrm>
        </p:spPr>
        <p:txBody>
          <a:bodyPr anchor="b">
            <a:normAutofit/>
          </a:bodyPr>
          <a:lstStyle/>
          <a:p>
            <a:pPr algn="l"/>
            <a:r>
              <a:rPr lang="es-MX" sz="8100" b="1"/>
              <a:t>Sensores y Recolección de Datos en IoT</a:t>
            </a:r>
            <a:endParaRPr lang="es-GT" sz="81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1811FF-34A2-7DB0-BACA-96CDA073E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508" y="6954012"/>
            <a:ext cx="5601021" cy="235915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3000"/>
              <a:t>Los sensores recogen información ambiental como temperatura, humedad o movimiento. Estos datos son clave para alimentar modelos de ML.</a:t>
            </a:r>
            <a:endParaRPr lang="es-GT" sz="3000"/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5507" y="6613900"/>
            <a:ext cx="5212080" cy="27432"/>
          </a:xfrm>
          <a:custGeom>
            <a:avLst/>
            <a:gdLst>
              <a:gd name="connsiteX0" fmla="*/ 0 w 5212080"/>
              <a:gd name="connsiteY0" fmla="*/ 0 h 27432"/>
              <a:gd name="connsiteX1" fmla="*/ 599389 w 5212080"/>
              <a:gd name="connsiteY1" fmla="*/ 0 h 27432"/>
              <a:gd name="connsiteX2" fmla="*/ 1198778 w 5212080"/>
              <a:gd name="connsiteY2" fmla="*/ 0 h 27432"/>
              <a:gd name="connsiteX3" fmla="*/ 1954530 w 5212080"/>
              <a:gd name="connsiteY3" fmla="*/ 0 h 27432"/>
              <a:gd name="connsiteX4" fmla="*/ 2501798 w 5212080"/>
              <a:gd name="connsiteY4" fmla="*/ 0 h 27432"/>
              <a:gd name="connsiteX5" fmla="*/ 3049067 w 5212080"/>
              <a:gd name="connsiteY5" fmla="*/ 0 h 27432"/>
              <a:gd name="connsiteX6" fmla="*/ 3700577 w 5212080"/>
              <a:gd name="connsiteY6" fmla="*/ 0 h 27432"/>
              <a:gd name="connsiteX7" fmla="*/ 4247845 w 5212080"/>
              <a:gd name="connsiteY7" fmla="*/ 0 h 27432"/>
              <a:gd name="connsiteX8" fmla="*/ 5212080 w 5212080"/>
              <a:gd name="connsiteY8" fmla="*/ 0 h 27432"/>
              <a:gd name="connsiteX9" fmla="*/ 5212080 w 5212080"/>
              <a:gd name="connsiteY9" fmla="*/ 27432 h 27432"/>
              <a:gd name="connsiteX10" fmla="*/ 4664812 w 5212080"/>
              <a:gd name="connsiteY10" fmla="*/ 27432 h 27432"/>
              <a:gd name="connsiteX11" fmla="*/ 4117543 w 5212080"/>
              <a:gd name="connsiteY11" fmla="*/ 27432 h 27432"/>
              <a:gd name="connsiteX12" fmla="*/ 3466033 w 5212080"/>
              <a:gd name="connsiteY12" fmla="*/ 27432 h 27432"/>
              <a:gd name="connsiteX13" fmla="*/ 2918765 w 5212080"/>
              <a:gd name="connsiteY13" fmla="*/ 27432 h 27432"/>
              <a:gd name="connsiteX14" fmla="*/ 2423617 w 5212080"/>
              <a:gd name="connsiteY14" fmla="*/ 27432 h 27432"/>
              <a:gd name="connsiteX15" fmla="*/ 1772107 w 5212080"/>
              <a:gd name="connsiteY15" fmla="*/ 27432 h 27432"/>
              <a:gd name="connsiteX16" fmla="*/ 1120597 w 5212080"/>
              <a:gd name="connsiteY16" fmla="*/ 27432 h 27432"/>
              <a:gd name="connsiteX17" fmla="*/ 0 w 5212080"/>
              <a:gd name="connsiteY17" fmla="*/ 27432 h 27432"/>
              <a:gd name="connsiteX18" fmla="*/ 0 w 521208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212080" h="27432" fill="none" extrusionOk="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5212080" h="27432" stroke="0" extrusionOk="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925AD1-1E77-6B0E-81A7-1F86C883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15" r="21915"/>
          <a:stretch>
            <a:fillRect/>
          </a:stretch>
        </p:blipFill>
        <p:spPr>
          <a:xfrm>
            <a:off x="7967553" y="10"/>
            <a:ext cx="10318162" cy="10286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748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88776-1FC4-B0BB-5DEB-B230E439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05" name="Arc 4104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822530" y="4720785"/>
            <a:ext cx="4481849" cy="448184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79ED5B-BF00-AFD7-6E91-396CE0F0A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3484296"/>
            <a:ext cx="8236635" cy="3581400"/>
          </a:xfrm>
        </p:spPr>
        <p:txBody>
          <a:bodyPr anchor="b">
            <a:normAutofit/>
          </a:bodyPr>
          <a:lstStyle/>
          <a:p>
            <a:pPr algn="l"/>
            <a:r>
              <a:rPr lang="es-MX" b="1" dirty="0"/>
              <a:t>Preprocesamiento de Datos para Machine </a:t>
            </a:r>
            <a:r>
              <a:rPr lang="es-MX" b="1" dirty="0" err="1"/>
              <a:t>Learning</a:t>
            </a:r>
            <a:endParaRPr lang="es-GT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670E4A-4AF4-FB22-8464-F730EB008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7203807"/>
            <a:ext cx="8236635" cy="2117989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/>
              <a:t>Los datos recolectados se limpian, normalizan y transforman antes de ser usados en modelos. Esto mejora precisión y rendimiento del sistema.</a:t>
            </a:r>
            <a:endParaRPr lang="es-GT"/>
          </a:p>
        </p:txBody>
      </p:sp>
      <p:pic>
        <p:nvPicPr>
          <p:cNvPr id="4098" name="Picture 2" descr="Preoricesamiento de datos con Python | JacobSoft">
            <a:extLst>
              <a:ext uri="{FF2B5EF4-FFF2-40B4-BE49-F238E27FC236}">
                <a16:creationId xmlns:a16="http://schemas.microsoft.com/office/drawing/2014/main" id="{72B8B062-CF65-592B-2563-FE3F28B5B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26599" y="981850"/>
            <a:ext cx="7753923" cy="4981900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57876" y="671044"/>
            <a:ext cx="1101211" cy="1101212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38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C92AC-C659-9286-0945-EF57A716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Árbol de decisiones: Definición, pasos hacer uno y ejemplos">
            <a:extLst>
              <a:ext uri="{FF2B5EF4-FFF2-40B4-BE49-F238E27FC236}">
                <a16:creationId xmlns:a16="http://schemas.microsoft.com/office/drawing/2014/main" id="{FC67068C-83CF-A893-2FE5-B25B374DA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8" r="17890" b="5375"/>
          <a:stretch>
            <a:fillRect/>
          </a:stretch>
        </p:blipFill>
        <p:spPr bwMode="auto">
          <a:xfrm>
            <a:off x="5285232" y="10"/>
            <a:ext cx="13002768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4901" cy="10287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6D0D29-F0C0-6C2B-75F7-E465899E0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6700" b="1"/>
              <a:t>Modelos de Machine Learning Comunes en IoT</a:t>
            </a:r>
            <a:endParaRPr lang="es-GT" sz="67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23A1B3-ED6D-AD14-C7DE-C936089F0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300"/>
              <a:t>Ejemplos: Regresión lineal, árboles de decisión, redes neuronales ligeras, y clasificadores como SVM. Se eligen según recursos del dispositivo y tipo de problema.</a:t>
            </a:r>
            <a:endParaRPr lang="es-GT" sz="2300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429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AE9AE-6FB0-F024-80D6-BCC3037E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8BFFBB-FE71-D127-DEE7-3547AAB3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 dirty="0"/>
              <a:t>Entrenamiento y Evaluación de Modelos</a:t>
            </a:r>
            <a:endParaRPr lang="es-GT" sz="7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E3EBE-1887-B4C6-DFDC-2551C228C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300" dirty="0"/>
              <a:t>Se entrenan modelos con datos históricos y se evalúan usando métricas como precisión, </a:t>
            </a:r>
            <a:r>
              <a:rPr lang="es-MX" sz="2300" dirty="0" err="1"/>
              <a:t>recall</a:t>
            </a:r>
            <a:r>
              <a:rPr lang="es-MX" sz="2300" dirty="0"/>
              <a:t> y F1-score. Es crucial validar antes de implementar en dispositivos reales.</a:t>
            </a:r>
            <a:endParaRPr lang="es-GT" sz="2300" dirty="0"/>
          </a:p>
        </p:txBody>
      </p:sp>
      <p:sp>
        <p:nvSpPr>
          <p:cNvPr id="6153" name="!!accent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146" name="Picture 2" descr="Métricas en Machine Learning: Todo lo que necesitas saber">
            <a:extLst>
              <a:ext uri="{FF2B5EF4-FFF2-40B4-BE49-F238E27FC236}">
                <a16:creationId xmlns:a16="http://schemas.microsoft.com/office/drawing/2014/main" id="{D266C168-F51E-3515-80D0-F6BC3D6D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1" r="25321"/>
          <a:stretch>
            <a:fillRect/>
          </a:stretch>
        </p:blipFill>
        <p:spPr bwMode="auto">
          <a:xfrm>
            <a:off x="7302730" y="10"/>
            <a:ext cx="10985270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98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403B5-3372-AE97-8523-8921F748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D4996F-F434-48CB-7948-9447205D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9" r="31320" b="-1"/>
          <a:stretch>
            <a:fillRect/>
          </a:stretch>
        </p:blipFill>
        <p:spPr>
          <a:xfrm>
            <a:off x="5285232" y="10"/>
            <a:ext cx="13002768" cy="10286990"/>
          </a:xfrm>
          <a:prstGeom prst="rect">
            <a:avLst/>
          </a:prstGeom>
        </p:spPr>
      </p:pic>
      <p:sp>
        <p:nvSpPr>
          <p:cNvPr id="20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4901" cy="10287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D4D09-DCAA-070D-93A3-2B37CD26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6700" b="1"/>
              <a:t>Implementación de Modelos en Dispositivos IoT</a:t>
            </a:r>
            <a:endParaRPr lang="es-GT" sz="6700" b="1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1E0253F-C6C4-27CD-6315-6ABDC2DEF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800" dirty="0"/>
              <a:t>Se adapta el modelo para ejecutarse en dispositivos con pocos recursos. Opciones: </a:t>
            </a:r>
            <a:r>
              <a:rPr lang="es-MX" sz="2800" dirty="0" err="1"/>
              <a:t>TensorFlow</a:t>
            </a:r>
            <a:r>
              <a:rPr lang="es-MX" sz="2800" dirty="0"/>
              <a:t> Lite, Edge ML, </a:t>
            </a:r>
            <a:r>
              <a:rPr lang="es-MX" sz="2800" dirty="0" err="1"/>
              <a:t>microML</a:t>
            </a:r>
            <a:r>
              <a:rPr lang="es-MX" sz="2800" dirty="0"/>
              <a:t> u optimización manual.</a:t>
            </a:r>
            <a:endParaRPr lang="es-GT" sz="2800" dirty="0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49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F7868-06A1-4298-FDFD-B7688564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Casos de uso de IA y ML: 7 ejemplos a tener en cuenta">
            <a:extLst>
              <a:ext uri="{FF2B5EF4-FFF2-40B4-BE49-F238E27FC236}">
                <a16:creationId xmlns:a16="http://schemas.microsoft.com/office/drawing/2014/main" id="{07061F3E-DAEB-FDAF-DF0C-E1DF83598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2" r="77"/>
          <a:stretch>
            <a:fillRect/>
          </a:stretch>
        </p:blipFill>
        <p:spPr bwMode="auto">
          <a:xfrm>
            <a:off x="3783534" y="10"/>
            <a:ext cx="14504463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A270F5-9D52-3909-BA1F-B668D1696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547687"/>
            <a:ext cx="5733283" cy="284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Casos de Uso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608DAE-0D7F-D2EE-5DD3-E5D5E0936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3651301"/>
            <a:ext cx="5733283" cy="5614143"/>
          </a:xfrm>
        </p:spPr>
        <p:txBody>
          <a:bodyPr vert="horz" lIns="91440" tIns="45720" rIns="91440" bIns="45720" rtlCol="0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Ejemplos prácticos: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Agricultura inteligente (predicción de riego).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Monitoreo médico remoto.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Predicción de fallos en maquinaria industrial.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Hogares inteligentes.</a:t>
            </a:r>
          </a:p>
        </p:txBody>
      </p:sp>
    </p:spTree>
    <p:extLst>
      <p:ext uri="{BB962C8B-B14F-4D97-AF65-F5344CB8AC3E}">
        <p14:creationId xmlns:p14="http://schemas.microsoft.com/office/powerpoint/2010/main" val="72737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57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Optimización del Consumo Energético en Hogares Inteligentes con Redes Neuronales Ligeras</a:t>
            </a: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Análisis de Tráfico Urbano en Tiempo Real para Gestión Inteligente de Semáforos</a:t>
            </a: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Reconocimiento de Patrones de Uso en Dispositivos Domésticos para Personalización Automática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Google Shape;158;p6"/>
          <p:cNvSpPr txBox="1"/>
          <p:nvPr/>
        </p:nvSpPr>
        <p:spPr>
          <a:xfrm>
            <a:off x="960120" y="7166608"/>
            <a:ext cx="5128485" cy="211817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CONCEPTOS CLAVE</a:t>
            </a:r>
            <a:endParaRPr lang="en-US" sz="4500" kern="1200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2050" name="Picture 2" descr="+100 ideias EXCLUSIVAS para criar um curso online. Pegue a sua!">
            <a:extLst>
              <a:ext uri="{FF2B5EF4-FFF2-40B4-BE49-F238E27FC236}">
                <a16:creationId xmlns:a16="http://schemas.microsoft.com/office/drawing/2014/main" id="{816F8958-B228-5313-E942-D99A973EE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41" b="22535"/>
          <a:stretch>
            <a:fillRect/>
          </a:stretch>
        </p:blipFill>
        <p:spPr bwMode="auto">
          <a:xfrm>
            <a:off x="20" y="10"/>
            <a:ext cx="18287980" cy="6837635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91958" y="8202309"/>
            <a:ext cx="2057400" cy="27432"/>
          </a:xfrm>
          <a:custGeom>
            <a:avLst/>
            <a:gdLst>
              <a:gd name="connsiteX0" fmla="*/ 0 w 2057400"/>
              <a:gd name="connsiteY0" fmla="*/ 0 h 27432"/>
              <a:gd name="connsiteX1" fmla="*/ 685800 w 2057400"/>
              <a:gd name="connsiteY1" fmla="*/ 0 h 27432"/>
              <a:gd name="connsiteX2" fmla="*/ 1309878 w 2057400"/>
              <a:gd name="connsiteY2" fmla="*/ 0 h 27432"/>
              <a:gd name="connsiteX3" fmla="*/ 2057400 w 2057400"/>
              <a:gd name="connsiteY3" fmla="*/ 0 h 27432"/>
              <a:gd name="connsiteX4" fmla="*/ 2057400 w 2057400"/>
              <a:gd name="connsiteY4" fmla="*/ 27432 h 27432"/>
              <a:gd name="connsiteX5" fmla="*/ 1330452 w 2057400"/>
              <a:gd name="connsiteY5" fmla="*/ 27432 h 27432"/>
              <a:gd name="connsiteX6" fmla="*/ 685800 w 2057400"/>
              <a:gd name="connsiteY6" fmla="*/ 27432 h 27432"/>
              <a:gd name="connsiteX7" fmla="*/ 0 w 2057400"/>
              <a:gd name="connsiteY7" fmla="*/ 27432 h 27432"/>
              <a:gd name="connsiteX8" fmla="*/ 0 w 2057400"/>
              <a:gd name="connsiteY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7400" h="27432" fill="none" extrusionOk="0">
                <a:moveTo>
                  <a:pt x="0" y="0"/>
                </a:moveTo>
                <a:cubicBezTo>
                  <a:pt x="302803" y="-32679"/>
                  <a:pt x="450041" y="32706"/>
                  <a:pt x="685800" y="0"/>
                </a:cubicBezTo>
                <a:cubicBezTo>
                  <a:pt x="921559" y="-32706"/>
                  <a:pt x="1009847" y="29047"/>
                  <a:pt x="1309878" y="0"/>
                </a:cubicBezTo>
                <a:cubicBezTo>
                  <a:pt x="1609909" y="-29047"/>
                  <a:pt x="1809302" y="29901"/>
                  <a:pt x="2057400" y="0"/>
                </a:cubicBezTo>
                <a:cubicBezTo>
                  <a:pt x="2056280" y="10493"/>
                  <a:pt x="2057243" y="20203"/>
                  <a:pt x="2057400" y="27432"/>
                </a:cubicBezTo>
                <a:cubicBezTo>
                  <a:pt x="1773018" y="-8870"/>
                  <a:pt x="1583133" y="36663"/>
                  <a:pt x="1330452" y="27432"/>
                </a:cubicBezTo>
                <a:cubicBezTo>
                  <a:pt x="1077771" y="18201"/>
                  <a:pt x="835436" y="58848"/>
                  <a:pt x="685800" y="27432"/>
                </a:cubicBezTo>
                <a:cubicBezTo>
                  <a:pt x="536164" y="-3984"/>
                  <a:pt x="241183" y="24057"/>
                  <a:pt x="0" y="27432"/>
                </a:cubicBezTo>
                <a:cubicBezTo>
                  <a:pt x="-47" y="18228"/>
                  <a:pt x="-305" y="9449"/>
                  <a:pt x="0" y="0"/>
                </a:cubicBezTo>
                <a:close/>
              </a:path>
              <a:path w="2057400" h="27432" stroke="0" extrusionOk="0">
                <a:moveTo>
                  <a:pt x="0" y="0"/>
                </a:moveTo>
                <a:cubicBezTo>
                  <a:pt x="303435" y="-7297"/>
                  <a:pt x="415843" y="-14809"/>
                  <a:pt x="624078" y="0"/>
                </a:cubicBezTo>
                <a:cubicBezTo>
                  <a:pt x="832313" y="14809"/>
                  <a:pt x="1133755" y="24795"/>
                  <a:pt x="1289304" y="0"/>
                </a:cubicBezTo>
                <a:cubicBezTo>
                  <a:pt x="1444853" y="-24795"/>
                  <a:pt x="1722910" y="22004"/>
                  <a:pt x="2057400" y="0"/>
                </a:cubicBezTo>
                <a:cubicBezTo>
                  <a:pt x="2056965" y="10475"/>
                  <a:pt x="2058277" y="19313"/>
                  <a:pt x="2057400" y="27432"/>
                </a:cubicBezTo>
                <a:cubicBezTo>
                  <a:pt x="1751285" y="-1123"/>
                  <a:pt x="1645759" y="29270"/>
                  <a:pt x="1412748" y="27432"/>
                </a:cubicBezTo>
                <a:cubicBezTo>
                  <a:pt x="1179737" y="25594"/>
                  <a:pt x="962869" y="32322"/>
                  <a:pt x="685800" y="27432"/>
                </a:cubicBezTo>
                <a:cubicBezTo>
                  <a:pt x="408731" y="22542"/>
                  <a:pt x="220204" y="52941"/>
                  <a:pt x="0" y="27432"/>
                </a:cubicBezTo>
                <a:cubicBezTo>
                  <a:pt x="-933" y="21824"/>
                  <a:pt x="-517" y="1114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Google Shape;159;p6"/>
          <p:cNvSpPr txBox="1"/>
          <p:nvPr/>
        </p:nvSpPr>
        <p:spPr>
          <a:xfrm>
            <a:off x="6981441" y="7166608"/>
            <a:ext cx="10346439" cy="276896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85000" lnSpcReduction="10000"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TinyML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Machine Learning </a:t>
            </a:r>
            <a:r>
              <a:rPr lang="en-US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Ultraligero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Microcontroladores</a:t>
            </a: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Edge Computing vs. Cloud Computing en Aplicaciones </a:t>
            </a:r>
            <a:r>
              <a:rPr lang="es-MX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IoT</a:t>
            </a: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 ML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Trade</a:t>
            </a: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-off entre Precisión y Recursos en Modelos de </a:t>
            </a:r>
            <a:r>
              <a:rPr lang="es-MX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IoT</a:t>
            </a:r>
            <a:endParaRPr lang="es-MX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 </a:t>
            </a:r>
            <a:r>
              <a:rPr lang="es-MX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aplicado a Dispositivos con Pocos Datos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Seguridad y Privacidad en Sistemas de </a:t>
            </a:r>
            <a:r>
              <a:rPr lang="es-MX" sz="3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IoT</a:t>
            </a:r>
            <a:r>
              <a:rPr lang="es-MX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 </a:t>
            </a:r>
            <a:r>
              <a:rPr lang="es-MX" sz="3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Aprendizaje Automático</a:t>
            </a:r>
            <a:endParaRPr lang="es-MX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3428" cy="10286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83" name="Picture 308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3428" cy="10293570"/>
          </a:xfrm>
          <a:prstGeom prst="rect">
            <a:avLst/>
          </a:prstGeom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813" y="1093762"/>
            <a:ext cx="16649028" cy="809947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9895524" y="1357516"/>
            <a:ext cx="6883992" cy="283370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NOMBRE DEL </a:t>
            </a:r>
            <a:r>
              <a:rPr lang="en-US" sz="61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VALOR Y/O ACTITUD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3074" name="Picture 2" descr="¿Cuál es la diferencia entre conducta y comportamiento? | UNIR">
            <a:extLst>
              <a:ext uri="{FF2B5EF4-FFF2-40B4-BE49-F238E27FC236}">
                <a16:creationId xmlns:a16="http://schemas.microsoft.com/office/drawing/2014/main" id="{06433BCA-AA0B-1EC5-9E5E-A1B1CC133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0"/>
          <a:stretch/>
        </p:blipFill>
        <p:spPr bwMode="auto">
          <a:xfrm>
            <a:off x="1081210" y="1654728"/>
            <a:ext cx="8202521" cy="696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Google Shape;167;p7"/>
          <p:cNvSpPr txBox="1"/>
          <p:nvPr/>
        </p:nvSpPr>
        <p:spPr>
          <a:xfrm>
            <a:off x="9895524" y="4448388"/>
            <a:ext cx="6883992" cy="448109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Perseverancia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: dado que es la ultima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clase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los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estudiantes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han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tenido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perserverancia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para </a:t>
            </a:r>
            <a:r>
              <a:rPr lang="en-US" sz="27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llegar</a:t>
            </a:r>
            <a:r>
              <a:rPr lang="en-US" sz="27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al final</a:t>
            </a:r>
            <a:endParaRPr lang="en-US" sz="2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803381" y="4280604"/>
            <a:ext cx="6911332" cy="339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https://www.tensorflow.org/lite</a:t>
            </a:r>
            <a:endParaRPr lang="en-US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https://create.arduino.cc/projecthub/iot-machine-learning</a:t>
            </a:r>
            <a:endParaRPr lang="en-US" sz="3151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https://developer.arm.com/solutions/machine-learning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494</Words>
  <Application>Microsoft Office PowerPoint</Application>
  <PresentationFormat>Custom</PresentationFormat>
  <Paragraphs>51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Pacifico</vt:lpstr>
      <vt:lpstr>Arial</vt:lpstr>
      <vt:lpstr>Lobster</vt:lpstr>
      <vt:lpstr>Impact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Machine Learning en IoT</vt:lpstr>
      <vt:lpstr>Introducción a IoT y Machine Learning</vt:lpstr>
      <vt:lpstr>Sensores y Recolección de Datos en IoT</vt:lpstr>
      <vt:lpstr>Preprocesamiento de Datos para Machine Learning</vt:lpstr>
      <vt:lpstr>Modelos de Machine Learning Comunes en IoT</vt:lpstr>
      <vt:lpstr>Entrenamiento y Evaluación de Modelos</vt:lpstr>
      <vt:lpstr>Implementación de Modelos en Dispositivos IoT</vt:lpstr>
      <vt:lpstr>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Eli Barrientos</cp:lastModifiedBy>
  <cp:revision>11</cp:revision>
  <dcterms:created xsi:type="dcterms:W3CDTF">2006-08-16T00:00:00Z</dcterms:created>
  <dcterms:modified xsi:type="dcterms:W3CDTF">2025-05-30T19:20:22Z</dcterms:modified>
</cp:coreProperties>
</file>