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5" r:id="rId5"/>
    <p:sldId id="266" r:id="rId6"/>
    <p:sldId id="267" r:id="rId7"/>
    <p:sldId id="268" r:id="rId8"/>
    <p:sldId id="269" r:id="rId9"/>
    <p:sldId id="270" r:id="rId10"/>
    <p:sldId id="272" r:id="rId11"/>
    <p:sldId id="260" r:id="rId12"/>
    <p:sldId id="261" r:id="rId13"/>
    <p:sldId id="262" r:id="rId14"/>
    <p:sldId id="263" r:id="rId15"/>
    <p:sldId id="264" r:id="rId16"/>
  </p:sldIdLst>
  <p:sldSz cx="18288000" cy="10287000"/>
  <p:notesSz cx="6858000" cy="9144000"/>
  <p:embeddedFontLst>
    <p:embeddedFont>
      <p:font typeface="Impact" panose="020B0806030902050204" pitchFamily="34" charset="0"/>
      <p:regular r:id="rId18"/>
    </p:embeddedFont>
    <p:embeddedFont>
      <p:font typeface="Lobster" panose="00000500000000000000" pitchFamily="2" charset="0"/>
      <p:regular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  <p:embeddedFont>
      <p:font typeface="Pacifico" panose="00000500000000000000" pitchFamily="2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gVTfPeuph8O4z6nnE8PyMA4ke/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29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38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cloud-migration/" TargetMode="External"/><Relationship Id="rId7" Type="http://schemas.openxmlformats.org/officeDocument/2006/relationships/hyperlink" Target="https://cloudsecurityalliance.org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artner.com/" TargetMode="External"/><Relationship Id="rId5" Type="http://schemas.openxmlformats.org/officeDocument/2006/relationships/hyperlink" Target="https://cloud.google.com/solutions/migration" TargetMode="External"/><Relationship Id="rId4" Type="http://schemas.openxmlformats.org/officeDocument/2006/relationships/hyperlink" Target="https://learn.microsoft.com/es-es/azure/architecture/cloud-adoption-guide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86" name="Google Shape;86;p1"/>
          <p:cNvSpPr txBox="1"/>
          <p:nvPr/>
        </p:nvSpPr>
        <p:spPr>
          <a:xfrm>
            <a:off x="1063303" y="6994239"/>
            <a:ext cx="1041986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Arquitectura</a:t>
            </a:r>
            <a:r>
              <a:rPr lang="en-US" sz="40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40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Computadores</a:t>
            </a:r>
            <a:r>
              <a:rPr lang="en-US" sz="40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sz="40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Ensambladores</a:t>
            </a:r>
            <a:r>
              <a:rPr lang="en-US" sz="40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2</a:t>
            </a:r>
          </a:p>
        </p:txBody>
      </p:sp>
      <p:sp>
        <p:nvSpPr>
          <p:cNvPr id="87" name="Google Shape;87;p1"/>
          <p:cNvSpPr txBox="1"/>
          <p:nvPr/>
        </p:nvSpPr>
        <p:spPr>
          <a:xfrm>
            <a:off x="2751200" y="2771514"/>
            <a:ext cx="12375000" cy="280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65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Arquitectura de Datos y Monitoreo en la Nube con </a:t>
            </a:r>
            <a:r>
              <a:rPr lang="es-MX" sz="65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IoT</a:t>
            </a:r>
            <a:endParaRPr sz="6500" dirty="0"/>
          </a:p>
        </p:txBody>
      </p:sp>
      <p:sp>
        <p:nvSpPr>
          <p:cNvPr id="88" name="Google Shape;88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sz="2499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sz="2499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"/>
          <p:cNvGrpSpPr/>
          <p:nvPr/>
        </p:nvGrpSpPr>
        <p:grpSpPr>
          <a:xfrm>
            <a:off x="1332012" y="4496251"/>
            <a:ext cx="4613551" cy="845385"/>
            <a:chOff x="0" y="-76200"/>
            <a:chExt cx="1964221" cy="359923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Migración</a:t>
              </a:r>
              <a:r>
                <a:rPr lang="en-US" sz="2799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 la Nube</a:t>
              </a:r>
              <a:endParaRPr dirty="0"/>
            </a:p>
          </p:txBody>
        </p:sp>
      </p:grpSp>
      <p:sp>
        <p:nvSpPr>
          <p:cNvPr id="99" name="Google Shape;99;p2"/>
          <p:cNvSpPr/>
          <p:nvPr/>
        </p:nvSpPr>
        <p:spPr>
          <a:xfrm>
            <a:off x="878654" y="4740441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00" name="Google Shape;100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1083836" cy="333738"/>
            </a:xfrm>
            <a:custGeom>
              <a:avLst/>
              <a:gdLst/>
              <a:ahLst/>
              <a:cxnLst/>
              <a:rect l="l" t="t" r="r" b="b"/>
              <a:pathLst>
                <a:path w="1083836" h="333738" extrusionOk="0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03" name="Google Shape;103;p2"/>
          <p:cNvSpPr/>
          <p:nvPr/>
        </p:nvSpPr>
        <p:spPr>
          <a:xfrm>
            <a:off x="651754" y="3429735"/>
            <a:ext cx="753892" cy="872928"/>
          </a:xfrm>
          <a:custGeom>
            <a:avLst/>
            <a:gdLst/>
            <a:ahLst/>
            <a:cxnLst/>
            <a:rect l="l" t="t" r="r" b="b"/>
            <a:pathLst>
              <a:path w="753892" h="872928" extrusionOk="0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4" name="Google Shape;104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i="0" u="none" strike="noStrike" cap="non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i="0" u="none" strike="noStrike" cap="non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06" name="Google Shape;106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410014" cy="333738"/>
            </a:xfrm>
            <a:custGeom>
              <a:avLst/>
              <a:gdLst/>
              <a:ahLst/>
              <a:cxnLst/>
              <a:rect l="l" t="t" r="r" b="b"/>
              <a:pathLst>
                <a:path w="1410014" h="333738" extrusionOk="0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99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https://youtu.be/4TdacbabSjc</a:t>
              </a:r>
              <a:endParaRPr dirty="0"/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11739805" y="5032666"/>
            <a:ext cx="5353646" cy="1267162"/>
          </a:xfrm>
          <a:custGeom>
            <a:avLst/>
            <a:gdLst/>
            <a:ahLst/>
            <a:cxnLst/>
            <a:rect l="l" t="t" r="r" b="b"/>
            <a:pathLst>
              <a:path w="1410014" h="333738" extrusionOk="0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/>
          <p:nvPr/>
        </p:nvSpPr>
        <p:spPr>
          <a:xfrm>
            <a:off x="12230100" y="1692141"/>
            <a:ext cx="5151270" cy="2122905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COMPETENCIA(S) QUE DESARROLLAREMOS</a:t>
            </a: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  <a:sym typeface="Impact"/>
            </a:endParaRPr>
          </a:p>
        </p:txBody>
      </p:sp>
      <p:pic>
        <p:nvPicPr>
          <p:cNvPr id="1026" name="Picture 2" descr="Competências e habilidades: conheça 9 dicas para desenvolvê-las">
            <a:extLst>
              <a:ext uri="{FF2B5EF4-FFF2-40B4-BE49-F238E27FC236}">
                <a16:creationId xmlns:a16="http://schemas.microsoft.com/office/drawing/2014/main" id="{4EF2F8FB-6EBB-8B2D-5D7D-F5C717FB9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96" r="31967"/>
          <a:stretch>
            <a:fillRect/>
          </a:stretch>
        </p:blipFill>
        <p:spPr bwMode="auto">
          <a:xfrm>
            <a:off x="-14829" y="10"/>
            <a:ext cx="11358907" cy="1028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299085" y="1306719"/>
            <a:ext cx="1105408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Google Shape;135;p3"/>
          <p:cNvSpPr txBox="1"/>
          <p:nvPr/>
        </p:nvSpPr>
        <p:spPr>
          <a:xfrm>
            <a:off x="12230100" y="3815046"/>
            <a:ext cx="5151270" cy="5398528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b="1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Open Sans"/>
              </a:rPr>
              <a:t>configura un sistema IoT basado en Arduino y Raspberry Pi utilizando protocolos como MQTT y bibliotecas específicas para implementar comunicación segura entre dispositivos embebidos</a:t>
            </a:r>
            <a:endParaRPr lang="en-US" sz="30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D34815-F9FE-714D-EC1A-94750F724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971" y="1683544"/>
            <a:ext cx="6035040" cy="4806201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 sz="5600" b="1"/>
              <a:t>Migración a la Nube</a:t>
            </a:r>
            <a:br>
              <a:rPr lang="es-MX" sz="5600" b="1"/>
            </a:br>
            <a:br>
              <a:rPr lang="es-MX" sz="5600" b="1"/>
            </a:br>
            <a:r>
              <a:rPr lang="es-MX" sz="5600" b="1"/>
              <a:t>Conceptos Básicos de la Nube</a:t>
            </a:r>
            <a:endParaRPr lang="es-GT" sz="5600" b="1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0F0AD9-D670-81CC-F0C1-0FE44896B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971" y="7309383"/>
            <a:ext cx="5899959" cy="1812211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 sz="2300"/>
              <a:t>La nube es un modelo de entrega de servicios informáticos a través de internet. Incluye infraestructura (IaaS), plataforma (PaaS) y software (SaaS). Permite escalabilidad, flexibilidad y reducción de costos.</a:t>
            </a:r>
            <a:endParaRPr lang="es-GT" sz="230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39882" y="520187"/>
            <a:ext cx="219456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3" y="6820380"/>
            <a:ext cx="603504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026" name="Picture 2" descr="Introducción al Cloud Computing: Conceptos Clave y Beneficios - We Learn  Data">
            <a:extLst>
              <a:ext uri="{FF2B5EF4-FFF2-40B4-BE49-F238E27FC236}">
                <a16:creationId xmlns:a16="http://schemas.microsoft.com/office/drawing/2014/main" id="{823D74FF-6E5D-6236-AA71-5A8B48768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96912" y="1489206"/>
            <a:ext cx="10269544" cy="7081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5814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Estrategias de migración a la nube y desafíos">
            <a:extLst>
              <a:ext uri="{FF2B5EF4-FFF2-40B4-BE49-F238E27FC236}">
                <a16:creationId xmlns:a16="http://schemas.microsoft.com/office/drawing/2014/main" id="{E3252B5B-4231-DB86-5C9B-237F65E4D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53" b="1"/>
          <a:stretch>
            <a:fillRect/>
          </a:stretch>
        </p:blipFill>
        <p:spPr bwMode="auto">
          <a:xfrm>
            <a:off x="5285232" y="10"/>
            <a:ext cx="13002768" cy="1028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4901" cy="10287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B2C026-DBD5-D965-3C43-A5581D4A1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971" y="1683544"/>
            <a:ext cx="6035040" cy="4806201"/>
          </a:xfrm>
        </p:spPr>
        <p:txBody>
          <a:bodyPr anchor="b">
            <a:normAutofit/>
          </a:bodyPr>
          <a:lstStyle/>
          <a:p>
            <a:pPr algn="l"/>
            <a:r>
              <a:rPr lang="es-MX" sz="7200" b="1"/>
              <a:t>Estrategias de Migración a la Nube</a:t>
            </a:r>
            <a:endParaRPr lang="es-GT" sz="7200" b="1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3C1FF1-0556-0FD6-51E6-640D731D9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970" y="7309383"/>
            <a:ext cx="6035038" cy="1812211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 sz="1900"/>
              <a:t>Existen seis estrategias comunes: Rehost (levantar y trasladar), Replatform (ajustes menores), Repurchase (cambiar de solución), Refactor (reconstruir), Retire (dejar atrás aplicaciones obsoletas) y Retain (mantener en local por ahora).</a:t>
            </a:r>
            <a:endParaRPr lang="es-GT" sz="190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39882" y="520187"/>
            <a:ext cx="219456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64" name="Rectangle 206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3" y="6820380"/>
            <a:ext cx="596646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8403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E1BD98-4F4E-99B5-2025-E1B4FB0EC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126309" y="2126307"/>
            <a:ext cx="10313727" cy="6061116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37743" y="3990710"/>
            <a:ext cx="6533391" cy="6057905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71323" y="2457128"/>
            <a:ext cx="10286358" cy="5372102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7" name="Freeform: Shape 308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21033" y="1801968"/>
            <a:ext cx="7212453" cy="6132999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8A6A3C7-D372-DB12-25FD-A0FC14944F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061" y="4150659"/>
            <a:ext cx="4321242" cy="4607859"/>
          </a:xfrm>
        </p:spPr>
        <p:txBody>
          <a:bodyPr anchor="t">
            <a:normAutofit/>
          </a:bodyPr>
          <a:lstStyle/>
          <a:p>
            <a:pPr algn="l"/>
            <a:r>
              <a:rPr lang="es-MX" sz="5100" b="1">
                <a:solidFill>
                  <a:srgbClr val="FFFFFF"/>
                </a:solidFill>
              </a:rPr>
              <a:t>Evaluación de la Infraestructura Actual</a:t>
            </a:r>
            <a:endParaRPr lang="es-GT" sz="5100" b="1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7AE3D9-EEC8-C118-DF6C-2DFC8DE84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063" y="1210236"/>
            <a:ext cx="4379607" cy="2241175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 sz="1900">
                <a:solidFill>
                  <a:srgbClr val="FFFFFF"/>
                </a:solidFill>
              </a:rPr>
              <a:t>Es clave auditar los sistemas actuales, identificar dependencias, analizar costos y determinar qué aplicaciones son candidatas ideales para la migración. Herramientas como AWS Migration Evaluator o Azure Migrate pueden ayudar.</a:t>
            </a:r>
            <a:endParaRPr lang="es-GT" sz="1900">
              <a:solidFill>
                <a:srgbClr val="FFFFFF"/>
              </a:solidFill>
            </a:endParaRPr>
          </a:p>
        </p:txBody>
      </p:sp>
      <p:pic>
        <p:nvPicPr>
          <p:cNvPr id="3074" name="Picture 2" descr="La infraestructura en la nube - Evaluando Software">
            <a:extLst>
              <a:ext uri="{FF2B5EF4-FFF2-40B4-BE49-F238E27FC236}">
                <a16:creationId xmlns:a16="http://schemas.microsoft.com/office/drawing/2014/main" id="{08A41687-6B48-F1B3-E7FC-79938FE7F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53642" y="740310"/>
            <a:ext cx="10838622" cy="8806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1268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34BDFB-338C-7931-BC84-6F8473DF8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05" name="Freeform: Shape 4104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38570" cy="10287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107" name="Freeform: Shape 4106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23330" cy="10287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303F4A-E6CD-CEA3-D864-38A4473925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971" y="1683544"/>
            <a:ext cx="6035040" cy="4806201"/>
          </a:xfrm>
        </p:spPr>
        <p:txBody>
          <a:bodyPr anchor="b">
            <a:normAutofit/>
          </a:bodyPr>
          <a:lstStyle/>
          <a:p>
            <a:pPr algn="l"/>
            <a:r>
              <a:rPr lang="es-MX" sz="7200" b="1"/>
              <a:t>Selección de Proveedores</a:t>
            </a:r>
            <a:endParaRPr lang="es-GT" sz="7200" b="1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7DB5AC-B758-7767-3DC3-DCD361F30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971" y="7309383"/>
            <a:ext cx="5899959" cy="1812211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 sz="1900"/>
              <a:t>Factores clave: costo, ubicación de centros de datos, soporte técnico, cumplimiento normativo (GDPR, HIPAA, etc.) y compatibilidad con tecnologías actuales. Los principales proveedores son AWS, Microsoft Azure y Google Cloud Platform.</a:t>
            </a:r>
            <a:endParaRPr lang="es-GT" sz="1900"/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39882" y="520187"/>
            <a:ext cx="219456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3" y="6820380"/>
            <a:ext cx="603504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98" name="Picture 2" descr="Cuál es el mejor proveedor de servicios en la nube? - Donde las  aplicaciones nacen">
            <a:extLst>
              <a:ext uri="{FF2B5EF4-FFF2-40B4-BE49-F238E27FC236}">
                <a16:creationId xmlns:a16="http://schemas.microsoft.com/office/drawing/2014/main" id="{E059C0D7-89A6-D83C-7A47-CCD3BD081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21534" y="2098019"/>
            <a:ext cx="9613254" cy="5864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548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FD3520-5669-191E-5556-45AAD0664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7" name="Rectangle 5126">
            <a:extLst>
              <a:ext uri="{FF2B5EF4-FFF2-40B4-BE49-F238E27FC236}">
                <a16:creationId xmlns:a16="http://schemas.microsoft.com/office/drawing/2014/main" id="{0E2F58BF-12E5-4B5A-AD25-4DAAA2742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CC8FC7-CB7D-8A53-B35C-F738F8AAA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971" y="1683544"/>
            <a:ext cx="6035040" cy="4806201"/>
          </a:xfrm>
        </p:spPr>
        <p:txBody>
          <a:bodyPr anchor="b">
            <a:normAutofit/>
          </a:bodyPr>
          <a:lstStyle/>
          <a:p>
            <a:pPr algn="l"/>
            <a:r>
              <a:rPr lang="es-MX" sz="7200" b="1"/>
              <a:t>Seguridad en la Migración</a:t>
            </a:r>
            <a:endParaRPr lang="es-GT" sz="7200" b="1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0EDACA-D9D7-705A-32A8-3E9EB251D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970" y="7309383"/>
            <a:ext cx="6035038" cy="1812211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 sz="2100"/>
              <a:t>&gt;Proteger los datos durante la migración es vital. Usar cifrado, autenticación multifactor, auditorías continuas y políticas de acceso basadas en roles (RBAC) son buenas prácticas. Además, revisar certificaciones del proveedor.</a:t>
            </a:r>
            <a:endParaRPr lang="es-GT" sz="2100"/>
          </a:p>
        </p:txBody>
      </p:sp>
      <p:sp>
        <p:nvSpPr>
          <p:cNvPr id="5138" name="!!accent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39882" y="520187"/>
            <a:ext cx="219456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39" name="Rectangle 513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3" y="6820380"/>
            <a:ext cx="603504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122" name="Picture 2" descr="Qué es la seguridad en la nube? Consejos y riesgos | NFON">
            <a:extLst>
              <a:ext uri="{FF2B5EF4-FFF2-40B4-BE49-F238E27FC236}">
                <a16:creationId xmlns:a16="http://schemas.microsoft.com/office/drawing/2014/main" id="{A4E68970-0445-11DF-3746-F1774FCDF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7" r="16468"/>
          <a:stretch>
            <a:fillRect/>
          </a:stretch>
        </p:blipFill>
        <p:spPr bwMode="auto">
          <a:xfrm>
            <a:off x="7302730" y="10"/>
            <a:ext cx="10985270" cy="1028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6541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AC334-861F-FFA2-2690-BD3DEC7D8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3" name="Rectangle 6152">
            <a:extLst>
              <a:ext uri="{FF2B5EF4-FFF2-40B4-BE49-F238E27FC236}">
                <a16:creationId xmlns:a16="http://schemas.microsoft.com/office/drawing/2014/main" id="{A1D7EC86-7CB9-431D-8AC3-8AAF0440B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155" name="Rectangle 6154">
            <a:extLst>
              <a:ext uri="{FF2B5EF4-FFF2-40B4-BE49-F238E27FC236}">
                <a16:creationId xmlns:a16="http://schemas.microsoft.com/office/drawing/2014/main" id="{D4B9777F-B610-419B-9193-80306388F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7" name="!!Arc">
            <a:extLst>
              <a:ext uri="{FF2B5EF4-FFF2-40B4-BE49-F238E27FC236}">
                <a16:creationId xmlns:a16="http://schemas.microsoft.com/office/drawing/2014/main" id="{311F016A-A753-449B-9EA6-322199B71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7715">
            <a:off x="1662780" y="1163773"/>
            <a:ext cx="4481848" cy="4481849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334D5A-54E2-F7B6-B512-85D117C8D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1113" y="1687482"/>
            <a:ext cx="6638943" cy="3581400"/>
          </a:xfrm>
        </p:spPr>
        <p:txBody>
          <a:bodyPr>
            <a:normAutofit/>
          </a:bodyPr>
          <a:lstStyle/>
          <a:p>
            <a:pPr algn="l"/>
            <a:r>
              <a:rPr lang="es-MX" b="1"/>
              <a:t>Automatización de la Migración</a:t>
            </a:r>
            <a:endParaRPr lang="es-GT" b="1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09ECB5-8A97-E624-12CA-0233FBFF5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1113" y="5450536"/>
            <a:ext cx="6638943" cy="2483643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 sz="2700"/>
              <a:t>&gt;Usar herramientas de automatización reduce errores humanos y acelera el proceso. Herramientas como </a:t>
            </a:r>
            <a:r>
              <a:rPr lang="es-MX" sz="2700" err="1"/>
              <a:t>CloudEndure</a:t>
            </a:r>
            <a:r>
              <a:rPr lang="es-MX" sz="2700"/>
              <a:t>, Azure Site </a:t>
            </a:r>
            <a:r>
              <a:rPr lang="es-MX" sz="2700" err="1"/>
              <a:t>Recovery</a:t>
            </a:r>
            <a:r>
              <a:rPr lang="es-MX" sz="2700"/>
              <a:t> o </a:t>
            </a:r>
            <a:r>
              <a:rPr lang="es-MX" sz="2700" err="1"/>
              <a:t>Terraform</a:t>
            </a:r>
            <a:r>
              <a:rPr lang="es-MX" sz="2700"/>
              <a:t> permiten orquestar y gestionar la migración de forma eficiente.</a:t>
            </a:r>
            <a:endParaRPr lang="es-GT" sz="2700"/>
          </a:p>
        </p:txBody>
      </p:sp>
      <p:pic>
        <p:nvPicPr>
          <p:cNvPr id="6148" name="Picture 4" descr="Las ventajas de utilizar plataformas de automatización de procesos basadas  en la nube">
            <a:extLst>
              <a:ext uri="{FF2B5EF4-FFF2-40B4-BE49-F238E27FC236}">
                <a16:creationId xmlns:a16="http://schemas.microsoft.com/office/drawing/2014/main" id="{B7D7B31B-F3B4-180E-8CCB-307030E91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21" r="19120"/>
          <a:stretch>
            <a:fillRect/>
          </a:stretch>
        </p:blipFill>
        <p:spPr bwMode="auto">
          <a:xfrm>
            <a:off x="8600652" y="-1"/>
            <a:ext cx="9687348" cy="10287001"/>
          </a:xfrm>
          <a:custGeom>
            <a:avLst/>
            <a:gdLst/>
            <a:ahLst/>
            <a:cxnLst/>
            <a:rect l="l" t="t" r="r" b="b"/>
            <a:pathLst>
              <a:path w="6458232" h="6858001">
                <a:moveTo>
                  <a:pt x="2209000" y="0"/>
                </a:moveTo>
                <a:lnTo>
                  <a:pt x="6458232" y="0"/>
                </a:lnTo>
                <a:lnTo>
                  <a:pt x="6458232" y="6858001"/>
                </a:lnTo>
                <a:lnTo>
                  <a:pt x="651045" y="6858001"/>
                </a:lnTo>
                <a:lnTo>
                  <a:pt x="635146" y="6830200"/>
                </a:lnTo>
                <a:cubicBezTo>
                  <a:pt x="230085" y="6080469"/>
                  <a:pt x="0" y="5221296"/>
                  <a:pt x="0" y="4308089"/>
                </a:cubicBezTo>
                <a:cubicBezTo>
                  <a:pt x="0" y="2572997"/>
                  <a:pt x="830606" y="1032965"/>
                  <a:pt x="2113832" y="6804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9" name="!!Rectangle">
            <a:extLst>
              <a:ext uri="{FF2B5EF4-FFF2-40B4-BE49-F238E27FC236}">
                <a16:creationId xmlns:a16="http://schemas.microsoft.com/office/drawing/2014/main" id="{95106A28-883A-4993-BF9E-C403B81A8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91403" y="6411685"/>
            <a:ext cx="1237884" cy="123788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61" name="!!Oval">
            <a:extLst>
              <a:ext uri="{FF2B5EF4-FFF2-40B4-BE49-F238E27FC236}">
                <a16:creationId xmlns:a16="http://schemas.microsoft.com/office/drawing/2014/main" id="{F5AE4E4F-9F4C-43ED-8299-9BD63B74E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1113" y="8474529"/>
            <a:ext cx="819150" cy="8191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7640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89D229-8039-F13D-6C27-E832292DB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D71C36-71B2-E313-FF86-7BDE0A7BE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2222" y="1198054"/>
            <a:ext cx="7831778" cy="4608023"/>
          </a:xfrm>
        </p:spPr>
        <p:txBody>
          <a:bodyPr anchor="b">
            <a:normAutofit/>
          </a:bodyPr>
          <a:lstStyle/>
          <a:p>
            <a:r>
              <a:rPr lang="es-MX" b="1" dirty="0"/>
              <a:t>Conclusión</a:t>
            </a:r>
            <a:endParaRPr lang="es-GT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CFD152-8339-677E-75FC-41D76C3B1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5222" y="5944188"/>
            <a:ext cx="7831777" cy="3153162"/>
          </a:xfrm>
        </p:spPr>
        <p:txBody>
          <a:bodyPr anchor="t">
            <a:normAutofit/>
          </a:bodyPr>
          <a:lstStyle/>
          <a:p>
            <a:r>
              <a:rPr lang="es-MX"/>
              <a:t>&gt;Migrar a la nube ofrece ventajas significativas si se planifica correctamente. Evaluar, elegir bien al proveedor, asegurar los datos y automatizar procesos son claves para el éxito.</a:t>
            </a:r>
            <a:endParaRPr lang="es-GT"/>
          </a:p>
        </p:txBody>
      </p:sp>
      <p:sp>
        <p:nvSpPr>
          <p:cNvPr id="7177" name="Freeform: Shape 7176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06088" y="0"/>
            <a:ext cx="2606102" cy="1439304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79" name="Freeform: Shape 7178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851004" y="1"/>
            <a:ext cx="1732713" cy="886514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170" name="Picture 2" descr="Migración a la nube">
            <a:extLst>
              <a:ext uri="{FF2B5EF4-FFF2-40B4-BE49-F238E27FC236}">
                <a16:creationId xmlns:a16="http://schemas.microsoft.com/office/drawing/2014/main" id="{26C05105-5794-018D-9DA8-447573207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76864" y="1891847"/>
            <a:ext cx="7409256" cy="5928885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81" name="Freeform: Shape 7180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48388" y="4374367"/>
            <a:ext cx="239612" cy="829494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183" name="Freeform: Shape 7182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2660" y="8576859"/>
            <a:ext cx="2657413" cy="171014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85" name="Freeform: Shape 7184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71266" y="9388134"/>
            <a:ext cx="2348910" cy="898867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187" name="Freeform: Shape 7186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965730" y="8753475"/>
            <a:ext cx="2322270" cy="1533526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33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1374889" y="3650660"/>
            <a:ext cx="14365903" cy="3806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marR="0" lvl="0" indent="-571500" algn="l" rtl="0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3575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Migración de un sistema contable local a la nube con AWS</a:t>
            </a:r>
          </a:p>
          <a:p>
            <a:pPr marL="571500" marR="0" lvl="0" indent="-571500" algn="l" rtl="0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3575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Selección de proveedor para hospedar una app móvil escalable</a:t>
            </a:r>
          </a:p>
          <a:p>
            <a:pPr marL="571500" marR="0" lvl="0" indent="-571500" algn="l" rtl="0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3575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Migración híbrida: mantener algunos servicios en local mientras otros van a la nube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8283427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Gere Ideias Para Alcançar Melhorias - Blog | IMAM">
            <a:extLst>
              <a:ext uri="{FF2B5EF4-FFF2-40B4-BE49-F238E27FC236}">
                <a16:creationId xmlns:a16="http://schemas.microsoft.com/office/drawing/2014/main" id="{B6B8DC65-7621-9285-7F0C-F7C5C684D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" r="3106"/>
          <a:stretch>
            <a:fillRect/>
          </a:stretch>
        </p:blipFill>
        <p:spPr bwMode="auto">
          <a:xfrm>
            <a:off x="1" y="10"/>
            <a:ext cx="14504463" cy="1028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87528" y="0"/>
            <a:ext cx="10600467" cy="10287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Google Shape;158;p6"/>
          <p:cNvSpPr txBox="1"/>
          <p:nvPr/>
        </p:nvSpPr>
        <p:spPr>
          <a:xfrm>
            <a:off x="11297415" y="547687"/>
            <a:ext cx="5733283" cy="284986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CONCEPTOS CLAVE</a:t>
            </a: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  <a:sym typeface="Impact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11297415" y="3651301"/>
            <a:ext cx="5733283" cy="6297917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3000" b="0" i="0" u="none" strike="noStrike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Tolerancia a fallos y alta disponibilidad en entornos </a:t>
            </a:r>
            <a:r>
              <a:rPr lang="es-MX" sz="3000" b="0" i="0" u="none" strike="noStrike" kern="12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cloud</a:t>
            </a:r>
            <a:endParaRPr lang="es-MX" sz="3000" b="0" i="0" u="none" strike="noStrike" kern="1200" cap="none" dirty="0">
              <a:solidFill>
                <a:schemeClr val="tx1"/>
              </a:solidFill>
              <a:latin typeface="+mn-lt"/>
              <a:ea typeface="+mn-ea"/>
              <a:cs typeface="+mn-cs"/>
              <a:sym typeface="Arial"/>
            </a:endParaRP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3000" b="0" i="0" u="none" strike="noStrike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Gobernanza y cumplimiento normativo </a:t>
            </a:r>
            <a:r>
              <a:rPr lang="es-MX" sz="3000" b="0" i="0" u="none" strike="noStrike" kern="12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post-migración</a:t>
            </a:r>
            <a:endParaRPr lang="es-MX" sz="3000" b="0" i="0" u="none" strike="noStrike" kern="1200" cap="none" dirty="0">
              <a:solidFill>
                <a:schemeClr val="tx1"/>
              </a:solidFill>
              <a:latin typeface="+mn-lt"/>
              <a:ea typeface="+mn-ea"/>
              <a:cs typeface="+mn-cs"/>
              <a:sym typeface="Arial"/>
            </a:endParaRP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3000" b="0" i="0" u="none" strike="noStrike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Costos ocultos en la nube: gestión eficiente de recursos</a:t>
            </a: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3000" b="0" i="0" u="none" strike="noStrike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Diferencias entre arquitecturas monolíticas y basadas en microservicios en la migración</a:t>
            </a: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3000" b="0" i="0" u="none" strike="noStrike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Uso de DevOps y CI/CD como parte del proceso de migración continua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Google Shape;166;p7"/>
          <p:cNvSpPr txBox="1"/>
          <p:nvPr/>
        </p:nvSpPr>
        <p:spPr>
          <a:xfrm>
            <a:off x="1335507" y="960120"/>
            <a:ext cx="5601021" cy="534924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5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NOMBRE DEL </a:t>
            </a:r>
            <a:r>
              <a:rPr lang="en-US" sz="7500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VALOR Y/O ACTITUD</a:t>
            </a:r>
            <a:endParaRPr lang="en-US" sz="7500" kern="1200">
              <a:solidFill>
                <a:schemeClr val="tx1"/>
              </a:solidFill>
              <a:latin typeface="+mj-lt"/>
              <a:ea typeface="+mj-ea"/>
              <a:cs typeface="+mj-cs"/>
              <a:sym typeface="Impact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1335508" y="6954012"/>
            <a:ext cx="5601021" cy="2359152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R="0"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4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Honestidad: La transparencia y la integridad en el manejo de datos y procesos</a:t>
            </a:r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8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5507" y="6613900"/>
            <a:ext cx="5212080" cy="27432"/>
          </a:xfrm>
          <a:custGeom>
            <a:avLst/>
            <a:gdLst>
              <a:gd name="connsiteX0" fmla="*/ 0 w 5212080"/>
              <a:gd name="connsiteY0" fmla="*/ 0 h 27432"/>
              <a:gd name="connsiteX1" fmla="*/ 599389 w 5212080"/>
              <a:gd name="connsiteY1" fmla="*/ 0 h 27432"/>
              <a:gd name="connsiteX2" fmla="*/ 1198778 w 5212080"/>
              <a:gd name="connsiteY2" fmla="*/ 0 h 27432"/>
              <a:gd name="connsiteX3" fmla="*/ 1954530 w 5212080"/>
              <a:gd name="connsiteY3" fmla="*/ 0 h 27432"/>
              <a:gd name="connsiteX4" fmla="*/ 2501798 w 5212080"/>
              <a:gd name="connsiteY4" fmla="*/ 0 h 27432"/>
              <a:gd name="connsiteX5" fmla="*/ 3049067 w 5212080"/>
              <a:gd name="connsiteY5" fmla="*/ 0 h 27432"/>
              <a:gd name="connsiteX6" fmla="*/ 3700577 w 5212080"/>
              <a:gd name="connsiteY6" fmla="*/ 0 h 27432"/>
              <a:gd name="connsiteX7" fmla="*/ 4247845 w 5212080"/>
              <a:gd name="connsiteY7" fmla="*/ 0 h 27432"/>
              <a:gd name="connsiteX8" fmla="*/ 5212080 w 5212080"/>
              <a:gd name="connsiteY8" fmla="*/ 0 h 27432"/>
              <a:gd name="connsiteX9" fmla="*/ 5212080 w 5212080"/>
              <a:gd name="connsiteY9" fmla="*/ 27432 h 27432"/>
              <a:gd name="connsiteX10" fmla="*/ 4664812 w 5212080"/>
              <a:gd name="connsiteY10" fmla="*/ 27432 h 27432"/>
              <a:gd name="connsiteX11" fmla="*/ 4117543 w 5212080"/>
              <a:gd name="connsiteY11" fmla="*/ 27432 h 27432"/>
              <a:gd name="connsiteX12" fmla="*/ 3466033 w 5212080"/>
              <a:gd name="connsiteY12" fmla="*/ 27432 h 27432"/>
              <a:gd name="connsiteX13" fmla="*/ 2918765 w 5212080"/>
              <a:gd name="connsiteY13" fmla="*/ 27432 h 27432"/>
              <a:gd name="connsiteX14" fmla="*/ 2423617 w 5212080"/>
              <a:gd name="connsiteY14" fmla="*/ 27432 h 27432"/>
              <a:gd name="connsiteX15" fmla="*/ 1772107 w 5212080"/>
              <a:gd name="connsiteY15" fmla="*/ 27432 h 27432"/>
              <a:gd name="connsiteX16" fmla="*/ 1120597 w 5212080"/>
              <a:gd name="connsiteY16" fmla="*/ 27432 h 27432"/>
              <a:gd name="connsiteX17" fmla="*/ 0 w 5212080"/>
              <a:gd name="connsiteY17" fmla="*/ 27432 h 27432"/>
              <a:gd name="connsiteX18" fmla="*/ 0 w 5212080"/>
              <a:gd name="connsiteY18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212080" h="27432" fill="none" extrusionOk="0">
                <a:moveTo>
                  <a:pt x="0" y="0"/>
                </a:moveTo>
                <a:cubicBezTo>
                  <a:pt x="128838" y="-11329"/>
                  <a:pt x="306779" y="5198"/>
                  <a:pt x="599389" y="0"/>
                </a:cubicBezTo>
                <a:cubicBezTo>
                  <a:pt x="891999" y="-5198"/>
                  <a:pt x="916635" y="-24425"/>
                  <a:pt x="1198778" y="0"/>
                </a:cubicBezTo>
                <a:cubicBezTo>
                  <a:pt x="1480921" y="24425"/>
                  <a:pt x="1761605" y="-17440"/>
                  <a:pt x="1954530" y="0"/>
                </a:cubicBezTo>
                <a:cubicBezTo>
                  <a:pt x="2147455" y="17440"/>
                  <a:pt x="2239112" y="-16223"/>
                  <a:pt x="2501798" y="0"/>
                </a:cubicBezTo>
                <a:cubicBezTo>
                  <a:pt x="2764484" y="16223"/>
                  <a:pt x="2838074" y="12987"/>
                  <a:pt x="3049067" y="0"/>
                </a:cubicBezTo>
                <a:cubicBezTo>
                  <a:pt x="3260060" y="-12987"/>
                  <a:pt x="3470388" y="-15138"/>
                  <a:pt x="3700577" y="0"/>
                </a:cubicBezTo>
                <a:cubicBezTo>
                  <a:pt x="3930766" y="15138"/>
                  <a:pt x="4052672" y="-14938"/>
                  <a:pt x="4247845" y="0"/>
                </a:cubicBezTo>
                <a:cubicBezTo>
                  <a:pt x="4443018" y="14938"/>
                  <a:pt x="4730158" y="-1623"/>
                  <a:pt x="5212080" y="0"/>
                </a:cubicBezTo>
                <a:cubicBezTo>
                  <a:pt x="5212790" y="9050"/>
                  <a:pt x="5211442" y="21151"/>
                  <a:pt x="5212080" y="27432"/>
                </a:cubicBezTo>
                <a:cubicBezTo>
                  <a:pt x="4991075" y="27722"/>
                  <a:pt x="4932008" y="37429"/>
                  <a:pt x="4664812" y="27432"/>
                </a:cubicBezTo>
                <a:cubicBezTo>
                  <a:pt x="4397616" y="17435"/>
                  <a:pt x="4374940" y="47585"/>
                  <a:pt x="4117543" y="27432"/>
                </a:cubicBezTo>
                <a:cubicBezTo>
                  <a:pt x="3860146" y="7279"/>
                  <a:pt x="3773367" y="36569"/>
                  <a:pt x="3466033" y="27432"/>
                </a:cubicBezTo>
                <a:cubicBezTo>
                  <a:pt x="3158699" y="18296"/>
                  <a:pt x="3137854" y="54523"/>
                  <a:pt x="2918765" y="27432"/>
                </a:cubicBezTo>
                <a:cubicBezTo>
                  <a:pt x="2699676" y="341"/>
                  <a:pt x="2536311" y="13149"/>
                  <a:pt x="2423617" y="27432"/>
                </a:cubicBezTo>
                <a:cubicBezTo>
                  <a:pt x="2310923" y="41715"/>
                  <a:pt x="2021228" y="23141"/>
                  <a:pt x="1772107" y="27432"/>
                </a:cubicBezTo>
                <a:cubicBezTo>
                  <a:pt x="1522986" y="31724"/>
                  <a:pt x="1317107" y="20364"/>
                  <a:pt x="1120597" y="27432"/>
                </a:cubicBezTo>
                <a:cubicBezTo>
                  <a:pt x="924087" y="34501"/>
                  <a:pt x="454536" y="8495"/>
                  <a:pt x="0" y="27432"/>
                </a:cubicBezTo>
                <a:cubicBezTo>
                  <a:pt x="-1228" y="21145"/>
                  <a:pt x="-815" y="8816"/>
                  <a:pt x="0" y="0"/>
                </a:cubicBezTo>
                <a:close/>
              </a:path>
              <a:path w="5212080" h="27432" stroke="0" extrusionOk="0">
                <a:moveTo>
                  <a:pt x="0" y="0"/>
                </a:moveTo>
                <a:cubicBezTo>
                  <a:pt x="233695" y="-764"/>
                  <a:pt x="364103" y="24957"/>
                  <a:pt x="547268" y="0"/>
                </a:cubicBezTo>
                <a:cubicBezTo>
                  <a:pt x="730433" y="-24957"/>
                  <a:pt x="937737" y="-21107"/>
                  <a:pt x="1303020" y="0"/>
                </a:cubicBezTo>
                <a:cubicBezTo>
                  <a:pt x="1668303" y="21107"/>
                  <a:pt x="1620404" y="13071"/>
                  <a:pt x="1798168" y="0"/>
                </a:cubicBezTo>
                <a:cubicBezTo>
                  <a:pt x="1975932" y="-13071"/>
                  <a:pt x="2090998" y="4232"/>
                  <a:pt x="2293315" y="0"/>
                </a:cubicBezTo>
                <a:cubicBezTo>
                  <a:pt x="2495632" y="-4232"/>
                  <a:pt x="2738710" y="-17332"/>
                  <a:pt x="2944825" y="0"/>
                </a:cubicBezTo>
                <a:cubicBezTo>
                  <a:pt x="3150940" y="17332"/>
                  <a:pt x="3308101" y="26665"/>
                  <a:pt x="3544214" y="0"/>
                </a:cubicBezTo>
                <a:cubicBezTo>
                  <a:pt x="3780327" y="-26665"/>
                  <a:pt x="4028425" y="-24303"/>
                  <a:pt x="4247845" y="0"/>
                </a:cubicBezTo>
                <a:cubicBezTo>
                  <a:pt x="4467265" y="24303"/>
                  <a:pt x="4779418" y="33057"/>
                  <a:pt x="5212080" y="0"/>
                </a:cubicBezTo>
                <a:cubicBezTo>
                  <a:pt x="5212137" y="6776"/>
                  <a:pt x="5210915" y="20935"/>
                  <a:pt x="5212080" y="27432"/>
                </a:cubicBezTo>
                <a:cubicBezTo>
                  <a:pt x="4921467" y="60248"/>
                  <a:pt x="4631077" y="62273"/>
                  <a:pt x="4456328" y="27432"/>
                </a:cubicBezTo>
                <a:cubicBezTo>
                  <a:pt x="4281579" y="-7409"/>
                  <a:pt x="4048724" y="47667"/>
                  <a:pt x="3856939" y="27432"/>
                </a:cubicBezTo>
                <a:cubicBezTo>
                  <a:pt x="3665154" y="7197"/>
                  <a:pt x="3498754" y="15866"/>
                  <a:pt x="3257550" y="27432"/>
                </a:cubicBezTo>
                <a:cubicBezTo>
                  <a:pt x="3016346" y="38998"/>
                  <a:pt x="2854089" y="39360"/>
                  <a:pt x="2710282" y="27432"/>
                </a:cubicBezTo>
                <a:cubicBezTo>
                  <a:pt x="2566475" y="15504"/>
                  <a:pt x="2336282" y="56792"/>
                  <a:pt x="2110892" y="27432"/>
                </a:cubicBezTo>
                <a:cubicBezTo>
                  <a:pt x="1885502" y="-1928"/>
                  <a:pt x="1825148" y="42061"/>
                  <a:pt x="1615745" y="27432"/>
                </a:cubicBezTo>
                <a:cubicBezTo>
                  <a:pt x="1406342" y="12803"/>
                  <a:pt x="1193655" y="44031"/>
                  <a:pt x="1016356" y="27432"/>
                </a:cubicBezTo>
                <a:cubicBezTo>
                  <a:pt x="839057" y="10833"/>
                  <a:pt x="292902" y="7819"/>
                  <a:pt x="0" y="27432"/>
                </a:cubicBezTo>
                <a:cubicBezTo>
                  <a:pt x="-234" y="21031"/>
                  <a:pt x="-921" y="632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️ Los 12 tipos de actitud (y sus características)">
            <a:extLst>
              <a:ext uri="{FF2B5EF4-FFF2-40B4-BE49-F238E27FC236}">
                <a16:creationId xmlns:a16="http://schemas.microsoft.com/office/drawing/2014/main" id="{9685B430-23AC-6A91-DFD0-D7A58030D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43" r="22793"/>
          <a:stretch>
            <a:fillRect/>
          </a:stretch>
        </p:blipFill>
        <p:spPr bwMode="auto">
          <a:xfrm>
            <a:off x="7967553" y="10"/>
            <a:ext cx="10318162" cy="10286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5688334" y="2896098"/>
            <a:ext cx="6911332" cy="7768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151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https://aws.amazon.com/cloud-migration/</a:t>
            </a:r>
            <a:endParaRPr lang="en-US" sz="3151" b="0" i="0" u="none" strike="noStrike" cap="none" dirty="0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151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https://learn.microsoft.com/es-es/azure/architecture/cloud-adoption-guide/</a:t>
            </a:r>
            <a:endParaRPr lang="en-US" sz="3151" dirty="0">
              <a:solidFill>
                <a:srgbClr val="131416"/>
              </a:solidFill>
            </a:endParaRPr>
          </a:p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151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https://cloud.google.com/solutions/migration</a:t>
            </a:r>
            <a:endParaRPr lang="en-US" sz="3151" b="0" i="0" u="none" strike="noStrike" cap="none" dirty="0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151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https://www.gartner.com/</a:t>
            </a:r>
            <a:endParaRPr lang="en-US" sz="3151" dirty="0">
              <a:solidFill>
                <a:srgbClr val="131416"/>
              </a:solidFill>
            </a:endParaRPr>
          </a:p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151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https://cloudsecurityalliance.org/</a:t>
            </a:r>
            <a:endParaRPr lang="en-US" sz="3151" b="0" i="0" u="none" strike="noStrike" cap="none" dirty="0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151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https://www.terraform.io/</a:t>
            </a:r>
          </a:p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3151" b="0" i="0" u="none" strike="noStrike" cap="none" dirty="0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9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>
              <a:latin typeface="Impact"/>
              <a:ea typeface="Impact"/>
              <a:cs typeface="Impact"/>
              <a:sym typeface="Impact"/>
            </a:endParaRPr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99" i="0" u="none" strike="noStrike" cap="non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13963751" y="102870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87" name="Google Shape;187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564</Words>
  <Application>Microsoft Office PowerPoint</Application>
  <PresentationFormat>Custom</PresentationFormat>
  <Paragraphs>48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Pacifico</vt:lpstr>
      <vt:lpstr>Arial</vt:lpstr>
      <vt:lpstr>Impact</vt:lpstr>
      <vt:lpstr>Open Sans</vt:lpstr>
      <vt:lpstr>Calibri</vt:lpstr>
      <vt:lpstr>Lobster</vt:lpstr>
      <vt:lpstr>Office Theme</vt:lpstr>
      <vt:lpstr>PowerPoint Presentation</vt:lpstr>
      <vt:lpstr>PowerPoint Presentation</vt:lpstr>
      <vt:lpstr>PowerPoint Presentation</vt:lpstr>
      <vt:lpstr>Migración a la Nube  Conceptos Básicos de la Nube</vt:lpstr>
      <vt:lpstr>Estrategias de Migración a la Nube</vt:lpstr>
      <vt:lpstr>Evaluación de la Infraestructura Actual</vt:lpstr>
      <vt:lpstr>Selección de Proveedores</vt:lpstr>
      <vt:lpstr>Seguridad en la Migración</vt:lpstr>
      <vt:lpstr>Automatización de la Migración</vt:lpstr>
      <vt:lpstr>Conclusión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Eli Barrientos</cp:lastModifiedBy>
  <cp:revision>8</cp:revision>
  <dcterms:created xsi:type="dcterms:W3CDTF">2006-08-16T00:00:00Z</dcterms:created>
  <dcterms:modified xsi:type="dcterms:W3CDTF">2025-05-30T19:19:21Z</dcterms:modified>
</cp:coreProperties>
</file>