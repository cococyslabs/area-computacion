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V8GaoRXIYwXIeFVJ7e+CNYId7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7D9405-14BA-45B7-9BAA-48F566D69A7D}">
  <a:tblStyle styleId="{7D7D9405-14BA-45B7-9BAA-48F566D69A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9pPr>
          </a:lstStyle>
          <a:p/>
        </p:txBody>
      </p:sp>
      <p:sp>
        <p:nvSpPr>
          <p:cNvPr id="8" name="Google Shape;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2" y="1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" name="Google Shape;16;p1"/>
          <p:cNvGraphicFramePr/>
          <p:nvPr/>
        </p:nvGraphicFramePr>
        <p:xfrm>
          <a:off x="5328201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{7D7D9405-14BA-45B7-9BAA-48F566D69A7D}</a:tableStyleId>
              </a:tblPr>
              <a:tblGrid>
                <a:gridCol w="1518200"/>
                <a:gridCol w="2172375"/>
              </a:tblGrid>
              <a:tr h="4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11/10/2025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10:30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" name="Google Shape;17;p1"/>
          <p:cNvSpPr txBox="1"/>
          <p:nvPr/>
        </p:nvSpPr>
        <p:spPr>
          <a:xfrm>
            <a:off x="1440175" y="2258301"/>
            <a:ext cx="6792000" cy="5693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de computadoras 2</a:t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1778700" y="2900751"/>
            <a:ext cx="5586600" cy="4905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8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</a:t>
            </a:r>
            <a:endParaRPr b="0" i="0" sz="1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917823" y="1638300"/>
            <a:ext cx="7308205" cy="1866900"/>
          </a:xfrm>
          <a:prstGeom prst="rect">
            <a:avLst/>
          </a:prstGeom>
          <a:solidFill>
            <a:srgbClr val="FFFFFF">
              <a:alpha val="9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628055" y="2095500"/>
            <a:ext cx="58875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Redes de Computadoras 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311085" y="2781300"/>
            <a:ext cx="652168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Unidad 3: DHCP y Modelo Jerárquico de Redes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 de la Clase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304800" y="9715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Temas a Desarrollar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04800" y="1314450"/>
            <a:ext cx="85344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Dynamic Host Configuration Protocol (DHCP)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Configuración de DHCP en routers Cisco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Modelo Jerárquico de Redes de Cisco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Capas de Acceso, Distribución y Núcleo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04800" y="2647950"/>
            <a:ext cx="8534400" cy="1104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57200" y="2838450"/>
            <a:ext cx="8394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57200" y="3143250"/>
            <a:ext cx="8394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Tener instalado Cisco Packet Tracer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57200" y="3371850"/>
            <a:ext cx="8394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Revisar configuraciones previas de routers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304800" y="3905250"/>
            <a:ext cx="8534400" cy="1104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7200" y="4095750"/>
            <a:ext cx="8394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Recursos Adicionales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7200" y="4400550"/>
            <a:ext cx="8394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Video: https://netacad.com/dhcp-basics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57200" y="4629150"/>
            <a:ext cx="839419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Evaluación diagnóstica disponible en Moodle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Competencias a Desarrollar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04800" y="1847850"/>
            <a:ext cx="8534400" cy="1562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4"/>
          <p:cNvCxnSpPr/>
          <p:nvPr/>
        </p:nvCxnSpPr>
        <p:spPr>
          <a:xfrm>
            <a:off x="328613" y="1847850"/>
            <a:ext cx="0" cy="1562100"/>
          </a:xfrm>
          <a:prstGeom prst="straightConnector1">
            <a:avLst/>
          </a:prstGeom>
          <a:noFill/>
          <a:ln cap="flat" cmpd="sng" w="47625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4"/>
          <p:cNvSpPr/>
          <p:nvPr/>
        </p:nvSpPr>
        <p:spPr>
          <a:xfrm>
            <a:off x="581025" y="2114550"/>
            <a:ext cx="81901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Competencia Técnica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81025" y="2457450"/>
            <a:ext cx="81901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estudiante diseña e implementa redes de computadoras aplicando principios de enrutamiento, segmentación de redes, redundancia y gestión de servicios de red para garantizar la disponibilidad, eficiencia y seguridad de los servicios de red en entornos empresariales.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04800" y="3562350"/>
            <a:ext cx="8534400" cy="533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74904" y="3714750"/>
            <a:ext cx="8394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finalizar esta clase, serás capaz de configurar DHCP y comprender el modelo jerárquico de redes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04800" y="152400"/>
            <a:ext cx="630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Dynamic Host Configuration Protocol (DHCP)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04800" y="15621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04800" y="1905000"/>
            <a:ext cx="8705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DHCP es un protocolo de red que permite asignar automáticamente direcciones IP y otros parámetros de configuración a los dispositivos de una red, eliminando la necesidad de configuración manual.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04800" y="25908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Beneficios Principales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04800" y="2933700"/>
            <a:ext cx="8534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Administración centralizada de direcciones IP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Configuración automática de dispositivos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Reducción de errores de configuración manual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Reutilización eficiente de direcciones IP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Facilita la movilidad de dispositivos en la red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Componentes de DHCP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04800" y="1173807"/>
            <a:ext cx="8534400" cy="10970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6"/>
          <p:cNvCxnSpPr/>
          <p:nvPr/>
        </p:nvCxnSpPr>
        <p:spPr>
          <a:xfrm>
            <a:off x="328613" y="1173807"/>
            <a:ext cx="0" cy="1097012"/>
          </a:xfrm>
          <a:prstGeom prst="straightConnector1">
            <a:avLst/>
          </a:prstGeom>
          <a:noFill/>
          <a:ln cap="flat" cmpd="sng" w="47625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6"/>
          <p:cNvSpPr/>
          <p:nvPr/>
        </p:nvSpPr>
        <p:spPr>
          <a:xfrm>
            <a:off x="535186" y="1394668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1. Servidor DHCP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35186" y="1668959"/>
            <a:ext cx="82836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Dispositivo de red que gestiona y asigna direcciones IP. Mantiene un pool de direcciones disponibles y registra las asignaciones realizadas.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04800" y="2423220"/>
            <a:ext cx="8534400" cy="10970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6"/>
          <p:cNvCxnSpPr/>
          <p:nvPr/>
        </p:nvCxnSpPr>
        <p:spPr>
          <a:xfrm>
            <a:off x="328613" y="2423220"/>
            <a:ext cx="0" cy="1097012"/>
          </a:xfrm>
          <a:prstGeom prst="straightConnector1">
            <a:avLst/>
          </a:prstGeom>
          <a:noFill/>
          <a:ln cap="flat" cmpd="sng" w="47625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6"/>
          <p:cNvSpPr/>
          <p:nvPr/>
        </p:nvSpPr>
        <p:spPr>
          <a:xfrm>
            <a:off x="535186" y="2644080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2. Cliente DHCP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35186" y="2918371"/>
            <a:ext cx="82836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Cualquier dispositivo que solicita configuración de red automática. Puede ser una computadora, smartphone, impresora o cualquier dispositivo con interfaz de red.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04800" y="3672632"/>
            <a:ext cx="8534400" cy="10970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6"/>
          <p:cNvCxnSpPr/>
          <p:nvPr/>
        </p:nvCxnSpPr>
        <p:spPr>
          <a:xfrm>
            <a:off x="328613" y="3672632"/>
            <a:ext cx="0" cy="1097012"/>
          </a:xfrm>
          <a:prstGeom prst="straightConnector1">
            <a:avLst/>
          </a:prstGeom>
          <a:noFill/>
          <a:ln cap="flat" cmpd="sng" w="476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/>
          <p:nvPr/>
        </p:nvSpPr>
        <p:spPr>
          <a:xfrm>
            <a:off x="535186" y="3893493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3. Agente de Retransmisión (DHCP Relay)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35186" y="4167783"/>
            <a:ext cx="82836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Router o dispositivo que reenvía solicitudes DHCP entre clientes y servidores en diferentes subredes, permitiendo centralizar servidores DHCP.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DORA de DHCP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04800" y="1051620"/>
            <a:ext cx="8534400" cy="8457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7"/>
          <p:cNvCxnSpPr/>
          <p:nvPr/>
        </p:nvCxnSpPr>
        <p:spPr>
          <a:xfrm>
            <a:off x="328613" y="1051620"/>
            <a:ext cx="0" cy="845790"/>
          </a:xfrm>
          <a:prstGeom prst="straightConnector1">
            <a:avLst/>
          </a:prstGeom>
          <a:noFill/>
          <a:ln cap="flat" cmpd="sng" w="47625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7"/>
          <p:cNvSpPr/>
          <p:nvPr/>
        </p:nvSpPr>
        <p:spPr>
          <a:xfrm>
            <a:off x="504825" y="1242120"/>
            <a:ext cx="83456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1. DISCOVER (Descubrimiento)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04825" y="1516410"/>
            <a:ext cx="83456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cliente envía un mensaje broadcast buscando servidores DHCP disponibles en la red.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04800" y="2049810"/>
            <a:ext cx="8534400" cy="8457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7"/>
          <p:cNvCxnSpPr/>
          <p:nvPr/>
        </p:nvCxnSpPr>
        <p:spPr>
          <a:xfrm>
            <a:off x="328613" y="2049810"/>
            <a:ext cx="0" cy="845790"/>
          </a:xfrm>
          <a:prstGeom prst="straightConnector1">
            <a:avLst/>
          </a:prstGeom>
          <a:noFill/>
          <a:ln cap="flat" cmpd="sng" w="47625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7"/>
          <p:cNvSpPr/>
          <p:nvPr/>
        </p:nvSpPr>
        <p:spPr>
          <a:xfrm>
            <a:off x="504825" y="2240310"/>
            <a:ext cx="83456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2. OFFER (Oferta)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04825" y="2514600"/>
            <a:ext cx="83456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Los servidores DHCP responden con ofertas que incluyen una dirección IP disponible y parámetros de configuración.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04800" y="3048000"/>
            <a:ext cx="8534400" cy="8457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7"/>
          <p:cNvCxnSpPr/>
          <p:nvPr/>
        </p:nvCxnSpPr>
        <p:spPr>
          <a:xfrm>
            <a:off x="328613" y="3048000"/>
            <a:ext cx="0" cy="845790"/>
          </a:xfrm>
          <a:prstGeom prst="straightConnector1">
            <a:avLst/>
          </a:prstGeom>
          <a:noFill/>
          <a:ln cap="flat" cmpd="sng" w="47625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7"/>
          <p:cNvSpPr/>
          <p:nvPr/>
        </p:nvSpPr>
        <p:spPr>
          <a:xfrm>
            <a:off x="504825" y="3238500"/>
            <a:ext cx="83456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3. REQUEST (Solicitud)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04825" y="3512790"/>
            <a:ext cx="83456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cliente selecciona una oferta y envía un mensaje REQUEST aceptando la configuración ofrecida por un servidor específico.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04800" y="4046190"/>
            <a:ext cx="8534400" cy="84579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328613" y="4046190"/>
            <a:ext cx="0" cy="845790"/>
          </a:xfrm>
          <a:prstGeom prst="straightConnector1">
            <a:avLst/>
          </a:prstGeom>
          <a:noFill/>
          <a:ln cap="flat" cmpd="sng" w="47625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504825" y="4236690"/>
            <a:ext cx="83456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4. ACKNOWLEDGE (Confirmación)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4825" y="4510980"/>
            <a:ext cx="83456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servidor confirma la asignación y el cliente configura su interfaz con los parámetros recibidos.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304800" y="152400"/>
            <a:ext cx="6635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Configuración Básica de DHCP en Router Cisco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304800" y="1314450"/>
            <a:ext cx="87050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Comandos de Configuración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304800" y="1619250"/>
            <a:ext cx="8534400" cy="12192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8"/>
          <p:cNvCxnSpPr/>
          <p:nvPr/>
        </p:nvCxnSpPr>
        <p:spPr>
          <a:xfrm>
            <a:off x="328613" y="1619250"/>
            <a:ext cx="0" cy="1219200"/>
          </a:xfrm>
          <a:prstGeom prst="straightConnector1">
            <a:avLst/>
          </a:prstGeom>
          <a:noFill/>
          <a:ln cap="flat" cmpd="sng" w="476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8"/>
          <p:cNvSpPr/>
          <p:nvPr/>
        </p:nvSpPr>
        <p:spPr>
          <a:xfrm>
            <a:off x="504825" y="1771650"/>
            <a:ext cx="834561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Router(config)# </a:t>
            </a:r>
            <a:r>
              <a:rPr lang="en-US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ip dhcp pool RED_LAN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04825" y="1924050"/>
            <a:ext cx="834561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Router(dhcp-config)# </a:t>
            </a:r>
            <a:r>
              <a:rPr lang="en-US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network 192.168.1.0 255.255.255.0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04825" y="2076450"/>
            <a:ext cx="834561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Router(dhcp-config)# </a:t>
            </a:r>
            <a:r>
              <a:rPr lang="en-US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default-router 192.168.1.1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04825" y="2228850"/>
            <a:ext cx="834561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Router(dhcp-config)# </a:t>
            </a:r>
            <a:r>
              <a:rPr lang="en-US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dns-server 8.8.8.8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04825" y="2381250"/>
            <a:ext cx="834561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Router(dhcp-config)# </a:t>
            </a:r>
            <a:r>
              <a:rPr lang="en-US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lease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04825" y="2533650"/>
            <a:ext cx="834561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Router(config)# </a:t>
            </a:r>
            <a:r>
              <a:rPr lang="en-US" sz="900">
                <a:solidFill>
                  <a:srgbClr val="FFD54F"/>
                </a:solidFill>
                <a:latin typeface="Arial"/>
                <a:ea typeface="Arial"/>
                <a:cs typeface="Arial"/>
                <a:sym typeface="Arial"/>
              </a:rPr>
              <a:t>ip dhcp excluded-address 192.168.1.1 192.168.1.10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304800" y="3028950"/>
            <a:ext cx="87050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Explicación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304800" y="3333750"/>
            <a:ext cx="85344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Pool de direcciones para red LAN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Gateway predeterminado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Servidor DNS configurado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Tiempo de concesión en días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04800" y="152400"/>
            <a:ext cx="52658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Jerárquico de Redes de Cisco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304800" y="14097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304800" y="1752600"/>
            <a:ext cx="8705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Modelo Jerárquico de Cisco es una metodología de diseño que organiza la red en tres capas funcionales, facilitando la escalabilidad, mantenimiento y solución de problemas en redes empresariales.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304800" y="24384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Beneficios del Modelo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304800" y="2781300"/>
            <a:ext cx="8534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Escalabilidad mejorada de la infraestructura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Redundancia y alta disponibilidad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Rendimiento optimizado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Facilita el mantenimiento y resolución de problemas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Mayor seguridad mediante segmentación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Costos optimizados por funcionalidad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304800" y="152400"/>
            <a:ext cx="53143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Tres Capas del Modelo Jerárquico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304800" y="1173807"/>
            <a:ext cx="8534400" cy="10970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10"/>
          <p:cNvCxnSpPr/>
          <p:nvPr/>
        </p:nvCxnSpPr>
        <p:spPr>
          <a:xfrm>
            <a:off x="328613" y="1173807"/>
            <a:ext cx="0" cy="1097012"/>
          </a:xfrm>
          <a:prstGeom prst="straightConnector1">
            <a:avLst/>
          </a:prstGeom>
          <a:noFill/>
          <a:ln cap="flat" cmpd="sng" w="47625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0"/>
          <p:cNvSpPr/>
          <p:nvPr/>
        </p:nvSpPr>
        <p:spPr>
          <a:xfrm>
            <a:off x="535186" y="1394668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Capa de Acceso (Access Layer)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35186" y="1668959"/>
            <a:ext cx="82836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Punto de conexión para dispositivos finales. Proporciona acceso a la red para usuarios y dispositivos. Implementa control de acceso y segmentación con VLANs.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304800" y="2423220"/>
            <a:ext cx="8534400" cy="10970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0"/>
          <p:cNvCxnSpPr/>
          <p:nvPr/>
        </p:nvCxnSpPr>
        <p:spPr>
          <a:xfrm>
            <a:off x="328613" y="2423220"/>
            <a:ext cx="0" cy="1097012"/>
          </a:xfrm>
          <a:prstGeom prst="straightConnector1">
            <a:avLst/>
          </a:prstGeom>
          <a:noFill/>
          <a:ln cap="flat" cmpd="sng" w="47625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0"/>
          <p:cNvSpPr/>
          <p:nvPr/>
        </p:nvSpPr>
        <p:spPr>
          <a:xfrm>
            <a:off x="535186" y="2644080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Capa de Distribución (Distribution Layer)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535186" y="2918371"/>
            <a:ext cx="82836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Agrega el tráfico de múltiples switches de acceso. Implementa políticas de red, enrutamiento entre VLANs, listas de control de acceso y calidad de servicio (QoS).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304800" y="3672632"/>
            <a:ext cx="8534400" cy="10970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0"/>
          <p:cNvCxnSpPr/>
          <p:nvPr/>
        </p:nvCxnSpPr>
        <p:spPr>
          <a:xfrm>
            <a:off x="328613" y="3672632"/>
            <a:ext cx="0" cy="1097012"/>
          </a:xfrm>
          <a:prstGeom prst="straightConnector1">
            <a:avLst/>
          </a:prstGeom>
          <a:noFill/>
          <a:ln cap="flat" cmpd="sng" w="476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0"/>
          <p:cNvSpPr/>
          <p:nvPr/>
        </p:nvSpPr>
        <p:spPr>
          <a:xfrm>
            <a:off x="535186" y="3893493"/>
            <a:ext cx="82836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Capa de Núcleo (Core Layer)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535186" y="4167783"/>
            <a:ext cx="82836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Backbone de alta velocidad de la red. Transporta grandes volúmenes de tráfico de forma rápida y confiable. Se enfoca en velocidad y redundancia sin procesamiento de políticas.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304800" y="152400"/>
            <a:ext cx="690772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Comparación de las Capas del Modelo Jerárquico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1"/>
          <p:cNvGraphicFramePr/>
          <p:nvPr/>
        </p:nvGraphicFramePr>
        <p:xfrm>
          <a:off x="304800" y="1478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{7D7D9405-14BA-45B7-9BAA-48F566D69A7D}</a:tableStyleId>
              </a:tblPr>
              <a:tblGrid>
                <a:gridCol w="1920225"/>
                <a:gridCol w="1920225"/>
                <a:gridCol w="1920225"/>
                <a:gridCol w="1920225"/>
              </a:tblGrid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Aspecto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Acceso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Distribución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Núcleo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1B9A"/>
                    </a:solidFill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Función principal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Conectar dispositivos finales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Agregar tráfico y enrutar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Transporte de alta velocidad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Equipos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Switches acceso, APs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Switches L3, routers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Routers y switches core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Velocidad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100 Mbps - 1 Gbps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 Gbps - 10 Gbps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10 Gbps - 100 Gbps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Redundancia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Opcional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Recomendada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Crítica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Complejidad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Baja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Media-Alta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Media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Políticas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Port security, VLANs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ACLs, QoS, rutas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Mínimas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Costo por puerto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Bajo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Medio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Alto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304800" y="152400"/>
            <a:ext cx="53046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Diseño de Red con Modelo Jerárquico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304800" y="14478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Mejores Prácticas de Diseño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304800" y="1790700"/>
            <a:ext cx="85344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Mantener simplicidad en el núcleo: solo conmutación de alta velocidad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Implementar redundancia en distribución y núcleo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Aplicar políticas de seguridad en distribución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Usar VLANs para segmentar tráfico en acceso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304800" y="31623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Consideraciones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304800" y="3505200"/>
            <a:ext cx="8534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Redes pequeñas pueden combinar distribución y núcleo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Enlaces redundantes entre capas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Usar protocolos como HSRP/VRRP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 Aprendidos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304800" y="13716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Sobre DHCP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304800" y="1714500"/>
            <a:ext cx="85344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DHCP automatiza la asignación de direcciones IP y parámetros de red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proceso DORA garantiza una asignación confiable de direcciones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 configuración en Cisco incluye pools, exclusiones y parámetros DNS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DHCP Relay permite centralizar servidores en redes segmentadas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304800" y="308610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Sobre Modelo Jerárquico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304800" y="3429000"/>
            <a:ext cx="85344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Las tres capas (Acceso, Distribución, Núcleo) tienen funciones específicas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diseño jerárquico facilita escalabilidad y mantenimiento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 redundancia es clave en distribución y núcleo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7620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Las políticas de red se aplican en la capa de distribución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Valor: Rigor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304800" y="1733550"/>
            <a:ext cx="853440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14"/>
          <p:cNvCxnSpPr/>
          <p:nvPr/>
        </p:nvCxnSpPr>
        <p:spPr>
          <a:xfrm>
            <a:off x="328613" y="1733550"/>
            <a:ext cx="0" cy="1600200"/>
          </a:xfrm>
          <a:prstGeom prst="straightConnector1">
            <a:avLst/>
          </a:prstGeom>
          <a:noFill/>
          <a:ln cap="flat" cmpd="sng" w="47625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4"/>
          <p:cNvSpPr/>
          <p:nvPr/>
        </p:nvSpPr>
        <p:spPr>
          <a:xfrm>
            <a:off x="578453" y="2076450"/>
            <a:ext cx="80347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Aplicar Metodologías Sistemáticas en el Diseño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578453" y="2533650"/>
            <a:ext cx="803471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rigor en el diseño de redes implica seguir metodologías estructuradas como el Modelo Jerárquico de Cisco, aplicar configuraciones correctas y documentadas, y validar cada paso del proceso de implementación.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1083915" y="3486150"/>
            <a:ext cx="6976021" cy="7239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1247327" y="3714750"/>
            <a:ext cx="664919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rigor profesional garantiza redes confiables, escalables y mantenibles en el tiempo.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Referencias Bibliográficas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304800" y="11620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A1B9A"/>
                </a:solidFill>
                <a:latin typeface="Arial"/>
                <a:ea typeface="Arial"/>
                <a:cs typeface="Arial"/>
                <a:sym typeface="Arial"/>
              </a:rPr>
              <a:t>Documentación Oficial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304800" y="1504950"/>
            <a:ext cx="8534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Cisco Networking Academy - CCNA Routing and Switching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Cisco IOS Configuration Guide - DHCP Services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RFC 2131 - Dynamic Host Configuration Protocol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304800" y="25717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Recursos en Línea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304800" y="2914650"/>
            <a:ext cx="8534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https://netacad.com - Cisco Networking Academy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https://cisco.com/go/srnd - Cisco SRND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https://learningnetwork.cisco.com - Cisco Learning Network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304800" y="3981450"/>
            <a:ext cx="87050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Libros Recomendados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304800" y="4324350"/>
            <a:ext cx="853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noAutofit/>
          </a:bodyPr>
          <a:lstStyle/>
          <a:p>
            <a:pPr indent="-85725" lvl="0" marL="66675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50"/>
              <a:buFont typeface="Arial"/>
              <a:buChar char="•"/>
            </a:pPr>
            <a:r>
              <a:rPr lang="en-US" sz="13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Odom, W. (2020). CCNA 200-301 Official Cert Guide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/>
          <p:nvPr/>
        </p:nvSpPr>
        <p:spPr>
          <a:xfrm>
            <a:off x="2207036" y="2286000"/>
            <a:ext cx="472977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/>
          <p:nvPr/>
        </p:nvSpPr>
        <p:spPr>
          <a:xfrm>
            <a:off x="777036" y="2286000"/>
            <a:ext cx="758977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Practiquemos lo Aprendido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/>
          <p:nvPr/>
        </p:nvSpPr>
        <p:spPr>
          <a:xfrm>
            <a:off x="3094639" y="2286000"/>
            <a:ext cx="295472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/>
          <p:nvPr/>
        </p:nvSpPr>
        <p:spPr>
          <a:xfrm>
            <a:off x="1213778" y="2286000"/>
            <a:ext cx="671629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 por su Atención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2025-10-30T05:29:01Z</dcterms:created>
  <dc:creator>Redes de Computadoras 2</dc:creator>
</cp:coreProperties>
</file>