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LG0GOcoRV4HQ01PwJh7Yfdd9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954C54-FB07-4B8F-8D6D-FFDB34B18364}">
  <a:tblStyle styleId="{D8954C54-FB07-4B8F-8D6D-FFDB34B183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G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8" name="Google Shape;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2" y="1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Google Shape;16;p1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{D8954C54-FB07-4B8F-8D6D-FFDB34B18364}</a:tableStyleId>
              </a:tblPr>
              <a:tblGrid>
                <a:gridCol w="1518200"/>
                <a:gridCol w="2172375"/>
              </a:tblGrid>
              <a:tr h="4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s-GT" sz="1900" u="none" cap="none" strike="noStrike"/>
                        <a:t>11/10/2025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GT" sz="14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s-GT" sz="1900" u="none" cap="none" strike="noStrike"/>
                        <a:t>10:30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" name="Google Shape;17;p1"/>
          <p:cNvSpPr txBox="1"/>
          <p:nvPr/>
        </p:nvSpPr>
        <p:spPr>
          <a:xfrm>
            <a:off x="1440175" y="2258301"/>
            <a:ext cx="6792000" cy="5693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2</a:t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1778700" y="2900751"/>
            <a:ext cx="5586600" cy="49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19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</a:t>
            </a:r>
            <a:endParaRPr b="0" i="0" sz="19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1231106" y="1638300"/>
            <a:ext cx="6681639" cy="1866900"/>
          </a:xfrm>
          <a:prstGeom prst="rect">
            <a:avLst/>
          </a:prstGeom>
          <a:solidFill>
            <a:srgbClr val="FFFFFF">
              <a:alpha val="9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630634" y="2095500"/>
            <a:ext cx="58825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3600"/>
              <a:buFont typeface="Arial"/>
              <a:buNone/>
            </a:pPr>
            <a:r>
              <a:rPr b="1" i="0" lang="es-GT" sz="3600" u="none" cap="none" strike="noStrike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Redes de Computadoras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630634" y="2609850"/>
            <a:ext cx="5882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2250"/>
              <a:buFont typeface="Arial"/>
              <a:buNone/>
            </a:pPr>
            <a:r>
              <a:rPr b="1" i="0" lang="es-GT" sz="225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Unidad 7: Internet</a:t>
            </a:r>
            <a:br>
              <a:rPr b="1" i="0" lang="es-GT" sz="225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GT" sz="2250" u="none" cap="none" strike="noStrike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Unidad 3: Trafico en capa 3.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 de la Clase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304800" y="12001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Temas a Desarrollar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04800" y="1543050"/>
            <a:ext cx="8534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Border Gateway Protocol (BGP)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Seguridad SSL/TLS y certificados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Implementación de HTTPS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04800" y="2571750"/>
            <a:ext cx="8534400" cy="876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2762250"/>
            <a:ext cx="8394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57200" y="306705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Conceptos previos de enrutamiento dinámico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04800" y="3600450"/>
            <a:ext cx="8534400" cy="876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7200" y="3790950"/>
            <a:ext cx="8394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4315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409575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Video: https://netacad.com/bgp-basics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a Desarrollar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04800" y="1485900"/>
            <a:ext cx="8534400" cy="125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4"/>
          <p:cNvCxnSpPr/>
          <p:nvPr/>
        </p:nvCxnSpPr>
        <p:spPr>
          <a:xfrm>
            <a:off x="328613" y="1485900"/>
            <a:ext cx="0" cy="1257300"/>
          </a:xfrm>
          <a:prstGeom prst="straightConnector1">
            <a:avLst/>
          </a:prstGeom>
          <a:noFill/>
          <a:ln cap="flat" cmpd="sng" w="47625">
            <a:solidFill>
              <a:srgbClr val="E64A1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4"/>
          <p:cNvSpPr/>
          <p:nvPr/>
        </p:nvSpPr>
        <p:spPr>
          <a:xfrm>
            <a:off x="581025" y="1752600"/>
            <a:ext cx="81901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Protocolos de Enrutamiento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81025" y="2095500"/>
            <a:ext cx="819016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estudiante identifica principios de protocolos de enrutamiento dinámico comparando características y desventajas para implementación eficiente.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04800" y="2895600"/>
            <a:ext cx="8534400" cy="125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4"/>
          <p:cNvCxnSpPr/>
          <p:nvPr/>
        </p:nvCxnSpPr>
        <p:spPr>
          <a:xfrm>
            <a:off x="328613" y="2895600"/>
            <a:ext cx="0" cy="1257300"/>
          </a:xfrm>
          <a:prstGeom prst="straightConnector1">
            <a:avLst/>
          </a:prstGeom>
          <a:noFill/>
          <a:ln cap="flat" cmpd="sng" w="47625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4"/>
          <p:cNvSpPr/>
          <p:nvPr/>
        </p:nvSpPr>
        <p:spPr>
          <a:xfrm>
            <a:off x="581025" y="3162300"/>
            <a:ext cx="81901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Diseño e Implementación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81025" y="3505200"/>
            <a:ext cx="819016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estudiante diseña redes aplicando principios de enrutamiento y seguridad para garantizar disponibilidad y eficiencia en entornos empresariales.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04800" y="152400"/>
            <a:ext cx="682028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Fundamentos de Border Gateway Protocol (BGP)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04800" y="15621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¿Qué es BGP?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04800" y="1905000"/>
            <a:ext cx="8705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BGP es el protocolo de enrutamiento utilizado en Internet para intercambiar información de enrutamiento entre Sistemas Autónomos (AS). Es el protocolo que mantiene la Internet funcionando.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04800" y="25908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04800" y="293370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Protocolo de vector de ruta (path vector)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 TCP puerto 179 para comunicación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Soporta CIDR y agregación de rutas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Altamente escalable y robusto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BGP: iBGP vs eBGP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6"/>
          <p:cNvGraphicFramePr/>
          <p:nvPr/>
        </p:nvGraphicFramePr>
        <p:xfrm>
          <a:off x="304800" y="1478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{D8954C54-FB07-4B8F-8D6D-FFDB34B18364}</a:tableStyleId>
              </a:tblPr>
              <a:tblGrid>
                <a:gridCol w="2560300"/>
                <a:gridCol w="2560300"/>
                <a:gridCol w="2560300"/>
              </a:tblGrid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-GT" sz="1100" u="none" cap="none" strike="noStrike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-GT" sz="1100" u="none" cap="none" strike="noStrike">
                          <a:solidFill>
                            <a:srgbClr val="FFFFFF"/>
                          </a:solidFill>
                        </a:rPr>
                        <a:t>iBGP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-GT" sz="1100" u="none" cap="none" strike="noStrike">
                          <a:solidFill>
                            <a:srgbClr val="FFFFFF"/>
                          </a:solidFill>
                        </a:rPr>
                        <a:t>eBGP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4315"/>
                    </a:solidFill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Uso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Dentro del mismo 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Entre diferentes 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Número 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Mismo 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Diferentes 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TTL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255 (sin límite)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1 (vecinos directos)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Next-hop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Se preserva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Se modifica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Administrative Distance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200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20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Sincronización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Requerida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No requerida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Configuración Básica de BGP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04800" y="1931460"/>
            <a:ext cx="870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Comandos de Configuración eBGP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04800" y="2236260"/>
            <a:ext cx="8534400" cy="9144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7"/>
          <p:cNvCxnSpPr/>
          <p:nvPr/>
        </p:nvCxnSpPr>
        <p:spPr>
          <a:xfrm>
            <a:off x="328613" y="2236260"/>
            <a:ext cx="0" cy="914400"/>
          </a:xfrm>
          <a:prstGeom prst="straightConnector1">
            <a:avLst/>
          </a:prstGeom>
          <a:noFill/>
          <a:ln cap="flat" cmpd="sng" w="47625">
            <a:solidFill>
              <a:srgbClr val="D843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7"/>
          <p:cNvSpPr/>
          <p:nvPr/>
        </p:nvSpPr>
        <p:spPr>
          <a:xfrm>
            <a:off x="504825" y="2388660"/>
            <a:ext cx="8345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Router(config)# </a:t>
            </a:r>
            <a:r>
              <a:rPr lang="es-GT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router bgp 65001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04825" y="2541060"/>
            <a:ext cx="8345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Router(config-router)# </a:t>
            </a:r>
            <a:r>
              <a:rPr lang="es-GT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neighbor 10.1.1.2 remote-as 65002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04825" y="2693460"/>
            <a:ext cx="8345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Router(config-router)# </a:t>
            </a:r>
            <a:r>
              <a:rPr lang="es-GT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network 192.168.1.0 mask 255.255.255.0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4825" y="2845860"/>
            <a:ext cx="8345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s-GT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Router(config-router)# </a:t>
            </a:r>
            <a:r>
              <a:rPr lang="es-GT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no auto-summary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304800" y="152400"/>
            <a:ext cx="59070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Políticas de Enrutamiento y Atributos BGP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304800" y="1307157"/>
            <a:ext cx="8534400" cy="906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8"/>
          <p:cNvCxnSpPr/>
          <p:nvPr/>
        </p:nvCxnSpPr>
        <p:spPr>
          <a:xfrm>
            <a:off x="328613" y="1307157"/>
            <a:ext cx="0" cy="906512"/>
          </a:xfrm>
          <a:prstGeom prst="straightConnector1">
            <a:avLst/>
          </a:prstGeom>
          <a:noFill/>
          <a:ln cap="flat" cmpd="sng" w="47625">
            <a:solidFill>
              <a:srgbClr val="E64A1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8"/>
          <p:cNvSpPr/>
          <p:nvPr/>
        </p:nvSpPr>
        <p:spPr>
          <a:xfrm>
            <a:off x="535186" y="1528018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AS-PATH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35186" y="1802309"/>
            <a:ext cx="82836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Lista de números AS atravesados. Previene loops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304800" y="2366070"/>
            <a:ext cx="8534400" cy="906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8"/>
          <p:cNvCxnSpPr/>
          <p:nvPr/>
        </p:nvCxnSpPr>
        <p:spPr>
          <a:xfrm>
            <a:off x="328613" y="2366070"/>
            <a:ext cx="0" cy="906512"/>
          </a:xfrm>
          <a:prstGeom prst="straightConnector1">
            <a:avLst/>
          </a:prstGeom>
          <a:noFill/>
          <a:ln cap="flat" cmpd="sng" w="47625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8"/>
          <p:cNvSpPr/>
          <p:nvPr/>
        </p:nvSpPr>
        <p:spPr>
          <a:xfrm>
            <a:off x="535186" y="2586930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LOCAL_PREF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35186" y="2861221"/>
            <a:ext cx="82836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Preferencia local para salida del 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04800" y="3424982"/>
            <a:ext cx="8534400" cy="906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8"/>
          <p:cNvCxnSpPr/>
          <p:nvPr/>
        </p:nvCxnSpPr>
        <p:spPr>
          <a:xfrm>
            <a:off x="328613" y="3424982"/>
            <a:ext cx="0" cy="906512"/>
          </a:xfrm>
          <a:prstGeom prst="straightConnector1">
            <a:avLst/>
          </a:prstGeom>
          <a:noFill/>
          <a:ln cap="flat" cmpd="sng" w="47625">
            <a:solidFill>
              <a:srgbClr val="D843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8"/>
          <p:cNvSpPr/>
          <p:nvPr/>
        </p:nvSpPr>
        <p:spPr>
          <a:xfrm>
            <a:off x="535186" y="3645843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4315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rPr>
              <a:t>MED (Multi-Exit Discriminator)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35186" y="3920133"/>
            <a:ext cx="82836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Sugiere punto de entrada preferido a AS vecino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Comparación: BGP vs RIP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9"/>
          <p:cNvGraphicFramePr/>
          <p:nvPr/>
        </p:nvGraphicFramePr>
        <p:xfrm>
          <a:off x="304800" y="1478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{D8954C54-FB07-4B8F-8D6D-FFDB34B18364}</a:tableStyleId>
              </a:tblPr>
              <a:tblGrid>
                <a:gridCol w="2560300"/>
                <a:gridCol w="2560300"/>
                <a:gridCol w="2560300"/>
              </a:tblGrid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-GT" sz="1100" u="none" cap="none" strike="noStrike">
                          <a:solidFill>
                            <a:srgbClr val="FFFFFF"/>
                          </a:solidFill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-GT" sz="1100" u="none" cap="none" strike="noStrike">
                          <a:solidFill>
                            <a:srgbClr val="FFFFFF"/>
                          </a:solidFill>
                        </a:rPr>
                        <a:t>BGP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-GT" sz="1100" u="none" cap="none" strike="noStrike">
                          <a:solidFill>
                            <a:srgbClr val="FFFFFF"/>
                          </a:solidFill>
                        </a:rPr>
                        <a:t>RIP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4A19"/>
                    </a:solidFill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Tipo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Vector de ruta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Vector de distancia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Métrica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Atributos complejos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Saltos (max 15)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Convergencia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Lenta pero estable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Rápida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Internet (miles de rutas)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Redes pequeñas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Protocolo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TCP puerto 179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UDP puerto 520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Uso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Entre ISPs y 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Redes LAN pequeñas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Complejidad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Alta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GT" sz="1100" u="none" cap="none" strike="noStrike">
                          <a:solidFill>
                            <a:srgbClr val="000000"/>
                          </a:solidFill>
                        </a:rPr>
                        <a:t>Baja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SSL/TLS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304800" y="15811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Historia y Evolución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304800" y="192405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SSL 1.0 (1994) - Nunca lanzado públicamente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SSL 3.0 (1996) - Base para TLS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TLS 1.0 (1999) - Estándar moderno inicial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TLS 1.3 (2018) - Versión actual más segura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304800" y="3257550"/>
            <a:ext cx="85344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3448050"/>
            <a:ext cx="8394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TLS (Transport Layer Security) es el sucesor de SSL y proporciona comunicaciones seguras en Internet mediante cifrado.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Funcionamiento de SSL/TLS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304800" y="18478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Capas de Seguridad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304800" y="2190750"/>
            <a:ext cx="8534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Cifrado: Protege datos de interceptación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Autenticación: Verifica identidad del servidor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Integridad: Detecta modificación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304800" y="32575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Proceso TLS Handshake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304800" y="3600450"/>
            <a:ext cx="87050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Cliente y servidor negocian versión TLS, intercambian certificados, acuerdan algoritmos de cifrado y establecen claves de sesión.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Certificados SSL/TLS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304800" y="1307157"/>
            <a:ext cx="8534400" cy="906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2"/>
          <p:cNvCxnSpPr/>
          <p:nvPr/>
        </p:nvCxnSpPr>
        <p:spPr>
          <a:xfrm>
            <a:off x="328613" y="1307157"/>
            <a:ext cx="0" cy="906512"/>
          </a:xfrm>
          <a:prstGeom prst="straightConnector1">
            <a:avLst/>
          </a:prstGeom>
          <a:noFill/>
          <a:ln cap="flat" cmpd="sng" w="47625">
            <a:solidFill>
              <a:srgbClr val="E64A1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2"/>
          <p:cNvSpPr/>
          <p:nvPr/>
        </p:nvSpPr>
        <p:spPr>
          <a:xfrm>
            <a:off x="535186" y="1528018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Certificado Estándar (DV)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535186" y="1802309"/>
            <a:ext cx="82836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Validación de dominio. Económico y rápido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304800" y="2366070"/>
            <a:ext cx="8534400" cy="906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2"/>
          <p:cNvCxnSpPr/>
          <p:nvPr/>
        </p:nvCxnSpPr>
        <p:spPr>
          <a:xfrm>
            <a:off x="328613" y="2366070"/>
            <a:ext cx="0" cy="906512"/>
          </a:xfrm>
          <a:prstGeom prst="straightConnector1">
            <a:avLst/>
          </a:prstGeom>
          <a:noFill/>
          <a:ln cap="flat" cmpd="sng" w="47625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2"/>
          <p:cNvSpPr/>
          <p:nvPr/>
        </p:nvSpPr>
        <p:spPr>
          <a:xfrm>
            <a:off x="535186" y="2586930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Wildcard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535186" y="2861221"/>
            <a:ext cx="82836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Protege dominio y todos sus subdominios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304800" y="3424982"/>
            <a:ext cx="8534400" cy="906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2"/>
          <p:cNvCxnSpPr/>
          <p:nvPr/>
        </p:nvCxnSpPr>
        <p:spPr>
          <a:xfrm>
            <a:off x="328613" y="3424982"/>
            <a:ext cx="0" cy="906512"/>
          </a:xfrm>
          <a:prstGeom prst="straightConnector1">
            <a:avLst/>
          </a:prstGeom>
          <a:noFill/>
          <a:ln cap="flat" cmpd="sng" w="47625">
            <a:solidFill>
              <a:srgbClr val="D843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2"/>
          <p:cNvSpPr/>
          <p:nvPr/>
        </p:nvSpPr>
        <p:spPr>
          <a:xfrm>
            <a:off x="535186" y="3645843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4315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rPr>
              <a:t>Extended Validation (EV)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535186" y="3920133"/>
            <a:ext cx="82836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s-GT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Validación exhaustiva. Muestra barra verde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304800" y="152400"/>
            <a:ext cx="634422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Validación de Certificados y Autoridades (CA)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304800" y="16764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Autoridades de Certificación (CA)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304800" y="2019300"/>
            <a:ext cx="8705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Entidades confiables que emiten y validan certificados digitales. Ejemplos: DigiCert, Let's Encrypt, GlobalSign.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304800" y="24765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Proceso de Validación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304800" y="281940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Navegador verifica firma digital del certificado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Comprueba cadena de confianza hasta CA raíz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Valida fecha de expiración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Confirma que el dominio coincida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Importancia de HTTPS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304800" y="15811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Beneficios de Seguridad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304800" y="1924050"/>
            <a:ext cx="8534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Protege datos sensibles en tránsito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Previene ataques man-in-the-middle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Autenticación del servidor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Mejora SEO y confianza del usuario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Requerido para PWA y HTTP/2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304800" y="3562350"/>
            <a:ext cx="8534400" cy="53340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374904" y="3714750"/>
            <a:ext cx="8394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s-GT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Chrome marca sitios HTTP como "No seguro"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Problemas Comunes SSL/TLS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4800" y="13716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Problemas Frecuentes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04800" y="171450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Certificado expirado o no válido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Nombre de dominio no coincide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Cadena de certificados incompleta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Protocolo o cifrado obsoleto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304800" y="30861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Soluciones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304800" y="3429000"/>
            <a:ext cx="8534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Renovar certificados antes del vencimiento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Configurar correctamente certificados intermedios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Actualizar versiones TLS (mínimo 1.2)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304800" y="2228850"/>
            <a:ext cx="42748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BGP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304800" y="2571750"/>
            <a:ext cx="4191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Protocolo de Internet entre 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iBGP dentro, eBGP entre 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 atributos para políticas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4648200" y="2228850"/>
            <a:ext cx="42748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SSL/TLS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4648200" y="2571750"/>
            <a:ext cx="4191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Cifrado de comunicaciones web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Certificados validan identidad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HTTPS es estándar actual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Valor: Paciencia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304800" y="2019300"/>
            <a:ext cx="853440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7"/>
          <p:cNvCxnSpPr/>
          <p:nvPr/>
        </p:nvCxnSpPr>
        <p:spPr>
          <a:xfrm>
            <a:off x="328613" y="2019300"/>
            <a:ext cx="0" cy="1600200"/>
          </a:xfrm>
          <a:prstGeom prst="straightConnector1">
            <a:avLst/>
          </a:prstGeom>
          <a:noFill/>
          <a:ln cap="flat" cmpd="sng" w="47625">
            <a:solidFill>
              <a:srgbClr val="E64A1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7"/>
          <p:cNvSpPr/>
          <p:nvPr/>
        </p:nvSpPr>
        <p:spPr>
          <a:xfrm>
            <a:off x="578453" y="2362200"/>
            <a:ext cx="80347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800"/>
              <a:buFont typeface="Arial"/>
              <a:buNone/>
            </a:pPr>
            <a:r>
              <a:rPr b="1" lang="es-GT" sz="180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Correcta Asignación de Números 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78453" y="2819400"/>
            <a:ext cx="803471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s-GT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paciencia en BGP implica asignar números AS correctamente, planificar cuidadosamente las políticas de enrutamiento y esperar la convergencia antes de hacer cambios adicionales.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s-GT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Bibliográficas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04800" y="14287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64A19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E64A19"/>
                </a:solidFill>
                <a:latin typeface="Arial"/>
                <a:ea typeface="Arial"/>
                <a:cs typeface="Arial"/>
                <a:sym typeface="Arial"/>
              </a:rPr>
              <a:t>Documentación Oficial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04800" y="1771650"/>
            <a:ext cx="853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RFC 4271 - Border Gateway Protocol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RFC 8446 - TLS Protocol Version 1.3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04800" y="25336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FF6F00"/>
                </a:solidFill>
                <a:latin typeface="Arial"/>
                <a:ea typeface="Arial"/>
                <a:cs typeface="Arial"/>
                <a:sym typeface="Arial"/>
              </a:rPr>
              <a:t>Recursos en Línea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04800" y="2876550"/>
            <a:ext cx="853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https://bgp.he.net - Hurricane Electric BGP Toolkit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https://letsencrypt.org - Certificados SSL gratuitos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04800" y="36385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84315"/>
              </a:buClr>
              <a:buSzPts val="1350"/>
              <a:buFont typeface="Arial"/>
              <a:buNone/>
            </a:pPr>
            <a:r>
              <a:rPr b="1" lang="es-GT" sz="135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rPr>
              <a:t>Libros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04800" y="3981450"/>
            <a:ext cx="853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s-GT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Halabi, B. (2000). Internet Routing Architectures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2207036" y="2286000"/>
            <a:ext cx="472977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s-GT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3202408" y="2286000"/>
            <a:ext cx="273918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s-GT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1213778" y="2000250"/>
            <a:ext cx="671629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s-GT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2025-10-30T14:00:14Z</dcterms:created>
  <dc:creator>Redes de Computadoras 2</dc:creator>
</cp:coreProperties>
</file>