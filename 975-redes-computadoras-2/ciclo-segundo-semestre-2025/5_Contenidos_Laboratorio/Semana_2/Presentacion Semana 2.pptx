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gO99qKfow4QvDZSBhGzkeIqhr8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B6CB98E-815F-4E51-8025-1E5064D85F7A}">
  <a:tblStyle styleId="{EB6CB98E-815F-4E51-8025-1E5064D85F7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customschemas.google.com/relationships/presentationmetadata" Target="meta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GT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" name="Google Shape;2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" name="Google Shape;46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" name="Google Shape;64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0" name="Google Shape;110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" name="Google Shape;133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" name="Google Shape;141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4" name="Google Shape;164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0" name="Google Shape;220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9" name="Google Shape;239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9" name="Google Shape;259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4" name="Google Shape;274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1" name="Google Shape;311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8" name="Google Shape;338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9" name="Google Shape;359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5" name="Google Shape;385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1" name="Google Shape;391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7" name="Google Shape;397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3" name="Google Shape;403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1800"/>
            </a:lvl9pPr>
          </a:lstStyle>
          <a:p/>
        </p:txBody>
      </p:sp>
      <p:sp>
        <p:nvSpPr>
          <p:cNvPr id="8" name="Google Shape;8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l"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1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2" y="1"/>
            <a:ext cx="9127099" cy="51435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" name="Google Shape;16;p1"/>
          <p:cNvGraphicFramePr/>
          <p:nvPr/>
        </p:nvGraphicFramePr>
        <p:xfrm>
          <a:off x="5328201" y="970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{EB6CB98E-815F-4E51-8025-1E5064D85F7A}</a:tableStyleId>
              </a:tblPr>
              <a:tblGrid>
                <a:gridCol w="1518200"/>
                <a:gridCol w="2172375"/>
              </a:tblGrid>
              <a:tr h="46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s-GT" sz="1400" u="none" cap="none" strike="noStrik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r>
                        <a:rPr lang="es-GT" sz="1900" u="none" cap="none" strike="noStrike"/>
                        <a:t>11/10/2025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6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s-GT" sz="14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r>
                        <a:rPr lang="es-GT" sz="1900" u="none" cap="none" strike="noStrike"/>
                        <a:t>10:30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" name="Google Shape;17;p1"/>
          <p:cNvSpPr txBox="1"/>
          <p:nvPr/>
        </p:nvSpPr>
        <p:spPr>
          <a:xfrm>
            <a:off x="1440175" y="2258301"/>
            <a:ext cx="6792000" cy="56935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GT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Redes de computadoras 2</a:t>
            </a:r>
            <a:endParaRPr/>
          </a:p>
        </p:txBody>
      </p:sp>
      <p:sp>
        <p:nvSpPr>
          <p:cNvPr id="18" name="Google Shape;18;p1"/>
          <p:cNvSpPr txBox="1"/>
          <p:nvPr/>
        </p:nvSpPr>
        <p:spPr>
          <a:xfrm>
            <a:off x="1778700" y="2900751"/>
            <a:ext cx="5586600" cy="49055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GT" sz="198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NOMBRE DEL TUTOR</a:t>
            </a:r>
            <a:endParaRPr b="0" i="0" sz="1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"/>
          <p:cNvSpPr/>
          <p:nvPr/>
        </p:nvSpPr>
        <p:spPr>
          <a:xfrm>
            <a:off x="235130" y="1040674"/>
            <a:ext cx="8673737" cy="3062151"/>
          </a:xfrm>
          <a:prstGeom prst="roundRect">
            <a:avLst>
              <a:gd fmla="val 128" name="adj"/>
            </a:avLst>
          </a:prstGeom>
          <a:solidFill>
            <a:srgbClr val="FFFFFF">
              <a:alpha val="97647"/>
            </a:srgbClr>
          </a:solidFill>
          <a:ln>
            <a:noFill/>
          </a:ln>
          <a:effectLst>
            <a:outerShdw blurRad="304800" rotWithShape="0" algn="bl" dir="5400000" dist="762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374904" y="2613388"/>
            <a:ext cx="839419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196F3"/>
              </a:buClr>
              <a:buSzPts val="2250"/>
              <a:buFont typeface="Arial"/>
              <a:buNone/>
            </a:pPr>
            <a:r>
              <a:rPr b="1" i="0" lang="es-GT" sz="2250" u="none" cap="none" strike="noStrike">
                <a:solidFill>
                  <a:srgbClr val="2196F3"/>
                </a:solidFill>
                <a:latin typeface="Arial"/>
                <a:ea typeface="Arial"/>
                <a:cs typeface="Arial"/>
                <a:sym typeface="Arial"/>
              </a:rPr>
              <a:t>Unidad 1: Arquitectura de Redes</a:t>
            </a:r>
            <a:br>
              <a:rPr b="1" i="0" lang="es-GT" sz="2250" u="none" cap="none" strike="noStrike">
                <a:solidFill>
                  <a:srgbClr val="2196F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s-GT" sz="2250" u="none" cap="none" strike="noStrike">
                <a:solidFill>
                  <a:srgbClr val="2196F3"/>
                </a:solidFill>
                <a:latin typeface="Arial"/>
                <a:ea typeface="Arial"/>
                <a:cs typeface="Arial"/>
                <a:sym typeface="Arial"/>
              </a:rPr>
              <a:t>Unidad 2: </a:t>
            </a:r>
            <a:r>
              <a:rPr b="1" lang="es-GT" sz="2250">
                <a:solidFill>
                  <a:srgbClr val="2196F3"/>
                </a:solidFill>
              </a:rPr>
              <a:t>Tráfico</a:t>
            </a:r>
            <a:r>
              <a:rPr b="1" i="0" lang="es-GT" sz="2250" u="none" cap="none" strike="noStrike">
                <a:solidFill>
                  <a:srgbClr val="2196F3"/>
                </a:solidFill>
                <a:latin typeface="Arial"/>
                <a:ea typeface="Arial"/>
                <a:cs typeface="Arial"/>
                <a:sym typeface="Arial"/>
              </a:rPr>
              <a:t> en capa 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895366" y="1615713"/>
            <a:ext cx="735326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47A1"/>
              </a:buClr>
              <a:buSzPts val="4500"/>
              <a:buFont typeface="Arial"/>
              <a:buNone/>
            </a:pPr>
            <a:r>
              <a:rPr b="1" i="0" lang="es-GT" sz="4500" u="none" cap="none" strike="noStrike">
                <a:solidFill>
                  <a:srgbClr val="0D47A1"/>
                </a:solidFill>
                <a:latin typeface="Arial"/>
                <a:ea typeface="Arial"/>
                <a:cs typeface="Arial"/>
                <a:sym typeface="Arial"/>
              </a:rPr>
              <a:t>Redes de Computadoras 2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/>
          <p:nvPr/>
        </p:nvSpPr>
        <p:spPr>
          <a:xfrm>
            <a:off x="0" y="0"/>
            <a:ext cx="9144000" cy="838200"/>
          </a:xfrm>
          <a:prstGeom prst="roundRect">
            <a:avLst>
              <a:gd fmla="val 0" name="adj"/>
            </a:avLst>
          </a:prstGeom>
          <a:solidFill>
            <a:srgbClr val="1C3D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228600" y="228600"/>
            <a:ext cx="4439984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lang="es-GT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Agenda de la Clase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0" y="990600"/>
            <a:ext cx="9144000" cy="4152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228600" y="1059210"/>
            <a:ext cx="886053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96F3"/>
              </a:buClr>
              <a:buSzPts val="1350"/>
              <a:buFont typeface="Arial"/>
              <a:buNone/>
            </a:pPr>
            <a:r>
              <a:rPr b="1" lang="es-GT" sz="1350">
                <a:solidFill>
                  <a:srgbClr val="2196F3"/>
                </a:solidFill>
                <a:latin typeface="Arial"/>
                <a:ea typeface="Arial"/>
                <a:cs typeface="Arial"/>
                <a:sym typeface="Arial"/>
              </a:rPr>
              <a:t>Temas a Desarrollar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228600" y="1402110"/>
            <a:ext cx="868680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noAutofit/>
          </a:bodyPr>
          <a:lstStyle/>
          <a:p>
            <a:pPr indent="-85725" lvl="0" marL="66675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s-GT" sz="1350">
                <a:solidFill>
                  <a:srgbClr val="212121"/>
                </a:solidFill>
              </a:rPr>
              <a:t> </a:t>
            </a:r>
            <a:r>
              <a:rPr lang="es-GT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Tipos de redes: LAN, MAN y WAN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66675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s-GT" sz="1350">
                <a:solidFill>
                  <a:srgbClr val="212121"/>
                </a:solidFill>
              </a:rPr>
              <a:t> </a:t>
            </a:r>
            <a:r>
              <a:rPr lang="es-GT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Introducción a VLANs y su importancia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66675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s-GT" sz="1350">
                <a:solidFill>
                  <a:srgbClr val="212121"/>
                </a:solidFill>
              </a:rPr>
              <a:t> </a:t>
            </a:r>
            <a:r>
              <a:rPr lang="es-GT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Configuración básica de VLANs en switches Cisco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66675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s-GT" sz="1350">
                <a:solidFill>
                  <a:srgbClr val="212121"/>
                </a:solidFill>
              </a:rPr>
              <a:t> </a:t>
            </a:r>
            <a:r>
              <a:rPr lang="es-GT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Problemas comunes y mejores prácticas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228600" y="2773710"/>
            <a:ext cx="886053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96F3"/>
              </a:buClr>
              <a:buSzPts val="1350"/>
              <a:buFont typeface="Arial"/>
              <a:buNone/>
            </a:pPr>
            <a:r>
              <a:rPr b="1" lang="es-GT" sz="1350">
                <a:solidFill>
                  <a:srgbClr val="2196F3"/>
                </a:solidFill>
                <a:latin typeface="Arial"/>
                <a:ea typeface="Arial"/>
                <a:cs typeface="Arial"/>
                <a:sym typeface="Arial"/>
              </a:rPr>
              <a:t>Recordatorios Importantes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228600" y="3116610"/>
            <a:ext cx="86868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noAutofit/>
          </a:bodyPr>
          <a:lstStyle/>
          <a:p>
            <a:pPr indent="-85725" lvl="0" marL="66675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Char char="•"/>
            </a:pPr>
            <a:r>
              <a:rPr lang="es-GT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Recordatorio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182392" y="4069110"/>
            <a:ext cx="8686800" cy="967680"/>
          </a:xfrm>
          <a:prstGeom prst="roundRect">
            <a:avLst>
              <a:gd fmla="val 7875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" name="Google Shape;40;p3"/>
          <p:cNvCxnSpPr/>
          <p:nvPr/>
        </p:nvCxnSpPr>
        <p:spPr>
          <a:xfrm>
            <a:off x="201442" y="4069110"/>
            <a:ext cx="0" cy="967680"/>
          </a:xfrm>
          <a:prstGeom prst="straightConnector1">
            <a:avLst/>
          </a:prstGeom>
          <a:noFill/>
          <a:ln cap="flat" cmpd="sng" w="381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3"/>
          <p:cNvSpPr/>
          <p:nvPr/>
        </p:nvSpPr>
        <p:spPr>
          <a:xfrm>
            <a:off x="342382" y="4229100"/>
            <a:ext cx="857301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96F3"/>
              </a:buClr>
              <a:buSzPts val="1200"/>
              <a:buFont typeface="Arial"/>
              <a:buNone/>
            </a:pPr>
            <a:r>
              <a:rPr b="1" lang="es-GT" sz="1200">
                <a:solidFill>
                  <a:srgbClr val="2196F3"/>
                </a:solidFill>
                <a:latin typeface="Arial"/>
                <a:ea typeface="Arial"/>
                <a:cs typeface="Arial"/>
                <a:sym typeface="Arial"/>
              </a:rPr>
              <a:t>Recursos Adicionales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342382" y="4533900"/>
            <a:ext cx="857301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lang="es-GT" sz="9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Video tutorial: Configuración de VLANs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342382" y="4724400"/>
            <a:ext cx="857301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900"/>
              <a:buFont typeface="Arial"/>
              <a:buNone/>
            </a:pPr>
            <a:r>
              <a:rPr b="1" lang="es-GT" sz="900">
                <a:solidFill>
                  <a:srgbClr val="00BCD4"/>
                </a:solidFill>
                <a:latin typeface="Arial"/>
                <a:ea typeface="Arial"/>
                <a:cs typeface="Arial"/>
                <a:sym typeface="Arial"/>
              </a:rPr>
              <a:t>https://netacad.com/vlans-basics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asterized-gradient-e4305935.png" id="49" name="Google Shape;4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4"/>
          <p:cNvSpPr/>
          <p:nvPr/>
        </p:nvSpPr>
        <p:spPr>
          <a:xfrm>
            <a:off x="228600" y="228600"/>
            <a:ext cx="4634294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lang="es-GT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Competencias a Desarrollar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0" y="990600"/>
            <a:ext cx="9144000" cy="41529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228600" y="1554510"/>
            <a:ext cx="8686800" cy="1531590"/>
          </a:xfrm>
          <a:prstGeom prst="roundRect">
            <a:avLst>
              <a:gd fmla="val 4975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19050">
              <a:srgbClr val="000000">
                <a:alpha val="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" name="Google Shape;53;p4"/>
          <p:cNvCxnSpPr/>
          <p:nvPr/>
        </p:nvCxnSpPr>
        <p:spPr>
          <a:xfrm>
            <a:off x="252413" y="1554510"/>
            <a:ext cx="0" cy="1531590"/>
          </a:xfrm>
          <a:prstGeom prst="straightConnector1">
            <a:avLst/>
          </a:prstGeom>
          <a:noFill/>
          <a:ln cap="flat" cmpd="sng" w="47625">
            <a:solidFill>
              <a:srgbClr val="2196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" name="Google Shape;54;p4"/>
          <p:cNvSpPr/>
          <p:nvPr/>
        </p:nvSpPr>
        <p:spPr>
          <a:xfrm>
            <a:off x="581025" y="1897410"/>
            <a:ext cx="195373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800"/>
              <a:buFont typeface="Arial"/>
              <a:buNone/>
            </a:pPr>
            <a:r>
              <a:rPr b="1" lang="es-GT" sz="1800">
                <a:solidFill>
                  <a:srgbClr val="00BCD4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848767" y="1897410"/>
            <a:ext cx="791707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3D5A"/>
              </a:buClr>
              <a:buSzPts val="1200"/>
              <a:buFont typeface="Arial"/>
              <a:buNone/>
            </a:pPr>
            <a:r>
              <a:rPr b="1" lang="es-GT" sz="1200">
                <a:solidFill>
                  <a:srgbClr val="1C3D5A"/>
                </a:solidFill>
                <a:latin typeface="Arial"/>
                <a:ea typeface="Arial"/>
                <a:cs typeface="Arial"/>
                <a:sym typeface="Arial"/>
              </a:rPr>
              <a:t>Competencia Técnica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848767" y="2171700"/>
            <a:ext cx="791707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Arial"/>
              <a:buNone/>
            </a:pPr>
            <a:r>
              <a:rPr lang="es-GT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El estudiante diseña e implementa redes de computadoras aplicando principios de enrutamiento, segmentación de redes, redundancia y gestión de servicios de red para garantizar la disponibilidad, eficiencia y seguridad de los servicios de red en entornos empresariales.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228600" y="3238500"/>
            <a:ext cx="8686800" cy="1341090"/>
          </a:xfrm>
          <a:prstGeom prst="roundRect">
            <a:avLst>
              <a:gd fmla="val 5682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19050">
              <a:srgbClr val="000000">
                <a:alpha val="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" name="Google Shape;58;p4"/>
          <p:cNvCxnSpPr/>
          <p:nvPr/>
        </p:nvCxnSpPr>
        <p:spPr>
          <a:xfrm>
            <a:off x="252413" y="3238500"/>
            <a:ext cx="0" cy="1341090"/>
          </a:xfrm>
          <a:prstGeom prst="straightConnector1">
            <a:avLst/>
          </a:prstGeom>
          <a:noFill/>
          <a:ln cap="flat" cmpd="sng" w="47625">
            <a:solidFill>
              <a:srgbClr val="2196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" name="Google Shape;59;p4"/>
          <p:cNvSpPr/>
          <p:nvPr/>
        </p:nvSpPr>
        <p:spPr>
          <a:xfrm>
            <a:off x="581025" y="3581400"/>
            <a:ext cx="195373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800"/>
              <a:buFont typeface="Arial"/>
              <a:buNone/>
            </a:pPr>
            <a:r>
              <a:rPr b="1" lang="es-GT" sz="1800">
                <a:solidFill>
                  <a:srgbClr val="00BCD4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848767" y="3581400"/>
            <a:ext cx="791707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3D5A"/>
              </a:buClr>
              <a:buSzPts val="1200"/>
              <a:buFont typeface="Arial"/>
              <a:buNone/>
            </a:pPr>
            <a:r>
              <a:rPr b="1" lang="es-GT" sz="1200">
                <a:solidFill>
                  <a:srgbClr val="1C3D5A"/>
                </a:solidFill>
                <a:latin typeface="Arial"/>
                <a:ea typeface="Arial"/>
                <a:cs typeface="Arial"/>
                <a:sym typeface="Arial"/>
              </a:rPr>
              <a:t>Competencia Práctica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848767" y="3855690"/>
            <a:ext cx="791707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Arial"/>
              <a:buNone/>
            </a:pPr>
            <a:r>
              <a:rPr lang="es-GT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El estudiante administra interfaces y configuraciones de seguridad en dispositivos de red mediante el uso de comandos, técnicas y buenas prácticas para asegurar el correcto funcionamiento y la seguridad de la red.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"/>
          <p:cNvSpPr/>
          <p:nvPr/>
        </p:nvSpPr>
        <p:spPr>
          <a:xfrm>
            <a:off x="0" y="0"/>
            <a:ext cx="9144000" cy="647700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304800" y="152400"/>
            <a:ext cx="452742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lang="es-GT" sz="2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Redes LAN - Local Area Network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304800" y="1638300"/>
            <a:ext cx="450799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3D5A"/>
              </a:buClr>
              <a:buSzPts val="1500"/>
              <a:buFont typeface="Arial"/>
              <a:buNone/>
            </a:pPr>
            <a:r>
              <a:rPr b="1" lang="es-GT" sz="1500">
                <a:solidFill>
                  <a:srgbClr val="1C3D5A"/>
                </a:solidFill>
                <a:latin typeface="Arial"/>
                <a:ea typeface="Arial"/>
                <a:cs typeface="Arial"/>
                <a:sym typeface="Arial"/>
              </a:rPr>
              <a:t>Definición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304800" y="2057400"/>
            <a:ext cx="45079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lang="es-GT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Red de área local que conecta dispositivos en un área geográfica limitada como una oficina, edificio o campus.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304800" y="2743200"/>
            <a:ext cx="450799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3D5A"/>
              </a:buClr>
              <a:buSzPts val="1500"/>
              <a:buFont typeface="Arial"/>
              <a:buNone/>
            </a:pPr>
            <a:r>
              <a:rPr b="1" lang="es-GT" sz="1500">
                <a:solidFill>
                  <a:srgbClr val="1C3D5A"/>
                </a:solidFill>
                <a:latin typeface="Arial"/>
                <a:ea typeface="Arial"/>
                <a:cs typeface="Arial"/>
                <a:sym typeface="Arial"/>
              </a:rPr>
              <a:t>Características Principales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304800" y="3162300"/>
            <a:ext cx="441960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noAutofit/>
          </a:bodyPr>
          <a:lstStyle/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s-GT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Alcance: hasta 1 km aproximadamente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s-GT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Alta velocidad: 100 Mbps a 10 Gbps o más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s-GT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Baja latencia y alto rendimiento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s-GT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Propiedad privada (una organización)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5029200" y="1409105"/>
            <a:ext cx="3810000" cy="927497"/>
          </a:xfrm>
          <a:prstGeom prst="roundRect">
            <a:avLst>
              <a:gd fmla="val 8216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" name="Google Shape;74;p5"/>
          <p:cNvCxnSpPr/>
          <p:nvPr/>
        </p:nvCxnSpPr>
        <p:spPr>
          <a:xfrm>
            <a:off x="5029200" y="1423392"/>
            <a:ext cx="3810000" cy="0"/>
          </a:xfrm>
          <a:prstGeom prst="straightConnector1">
            <a:avLst/>
          </a:prstGeom>
          <a:noFill/>
          <a:ln cap="flat" cmpd="sng" w="28575">
            <a:solidFill>
              <a:srgbClr val="2196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" name="Google Shape;75;p5"/>
          <p:cNvSpPr/>
          <p:nvPr/>
        </p:nvSpPr>
        <p:spPr>
          <a:xfrm>
            <a:off x="5211961" y="1658541"/>
            <a:ext cx="35133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96F3"/>
              </a:buClr>
              <a:buSzPts val="1200"/>
              <a:buFont typeface="Arial"/>
              <a:buNone/>
            </a:pPr>
            <a:r>
              <a:rPr b="1" lang="es-GT" sz="1200">
                <a:solidFill>
                  <a:srgbClr val="2196F3"/>
                </a:solidFill>
                <a:latin typeface="Arial"/>
                <a:ea typeface="Arial"/>
                <a:cs typeface="Arial"/>
                <a:sym typeface="Arial"/>
              </a:rPr>
              <a:t>Tecnologías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5211961" y="1925241"/>
            <a:ext cx="351336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Arial"/>
              <a:buNone/>
            </a:pPr>
            <a:r>
              <a:rPr lang="es-GT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Ethernet, Wi-Fi, Switches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5029200" y="2412802"/>
            <a:ext cx="3810000" cy="927497"/>
          </a:xfrm>
          <a:prstGeom prst="roundRect">
            <a:avLst>
              <a:gd fmla="val 8216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" name="Google Shape;78;p5"/>
          <p:cNvCxnSpPr/>
          <p:nvPr/>
        </p:nvCxnSpPr>
        <p:spPr>
          <a:xfrm>
            <a:off x="5029200" y="2427089"/>
            <a:ext cx="3810000" cy="0"/>
          </a:xfrm>
          <a:prstGeom prst="straightConnector1">
            <a:avLst/>
          </a:prstGeom>
          <a:noFill/>
          <a:ln cap="flat" cmpd="sng" w="28575">
            <a:solidFill>
              <a:srgbClr val="2196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" name="Google Shape;79;p5"/>
          <p:cNvSpPr/>
          <p:nvPr/>
        </p:nvSpPr>
        <p:spPr>
          <a:xfrm>
            <a:off x="5211961" y="2662238"/>
            <a:ext cx="35133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96F3"/>
              </a:buClr>
              <a:buSzPts val="1200"/>
              <a:buFont typeface="Arial"/>
              <a:buNone/>
            </a:pPr>
            <a:r>
              <a:rPr b="1" lang="es-GT" sz="1200">
                <a:solidFill>
                  <a:srgbClr val="2196F3"/>
                </a:solidFill>
                <a:latin typeface="Arial"/>
                <a:ea typeface="Arial"/>
                <a:cs typeface="Arial"/>
                <a:sym typeface="Arial"/>
              </a:rPr>
              <a:t>Ejemplos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5211961" y="2928938"/>
            <a:ext cx="351336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Arial"/>
              <a:buNone/>
            </a:pPr>
            <a:r>
              <a:rPr lang="es-GT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Red de oficina, red doméstica, laboratorio de cómputo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5029200" y="3416498"/>
            <a:ext cx="3810000" cy="1117997"/>
          </a:xfrm>
          <a:prstGeom prst="roundRect">
            <a:avLst>
              <a:gd fmla="val 6816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" name="Google Shape;82;p5"/>
          <p:cNvCxnSpPr/>
          <p:nvPr/>
        </p:nvCxnSpPr>
        <p:spPr>
          <a:xfrm>
            <a:off x="5029200" y="3430786"/>
            <a:ext cx="3810000" cy="0"/>
          </a:xfrm>
          <a:prstGeom prst="straightConnector1">
            <a:avLst/>
          </a:prstGeom>
          <a:noFill/>
          <a:ln cap="flat" cmpd="sng" w="28575">
            <a:solidFill>
              <a:srgbClr val="2196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" name="Google Shape;83;p5"/>
          <p:cNvSpPr/>
          <p:nvPr/>
        </p:nvSpPr>
        <p:spPr>
          <a:xfrm>
            <a:off x="5211961" y="3665934"/>
            <a:ext cx="35133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96F3"/>
              </a:buClr>
              <a:buSzPts val="1200"/>
              <a:buFont typeface="Arial"/>
              <a:buNone/>
            </a:pPr>
            <a:r>
              <a:rPr b="1" lang="es-GT" sz="1200">
                <a:solidFill>
                  <a:srgbClr val="2196F3"/>
                </a:solidFill>
                <a:latin typeface="Arial"/>
                <a:ea typeface="Arial"/>
                <a:cs typeface="Arial"/>
                <a:sym typeface="Arial"/>
              </a:rPr>
              <a:t>Ventajas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5211961" y="3932634"/>
            <a:ext cx="351336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Arial"/>
              <a:buNone/>
            </a:pPr>
            <a:r>
              <a:rPr lang="es-GT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Compartir recursos, comunicación rápida, bajo costo de implementación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"/>
          <p:cNvSpPr/>
          <p:nvPr/>
        </p:nvSpPr>
        <p:spPr>
          <a:xfrm>
            <a:off x="0" y="0"/>
            <a:ext cx="9144000" cy="647700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304800" y="152400"/>
            <a:ext cx="557669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lang="es-GT" sz="2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Redes MAN - Metropolitan </a:t>
            </a:r>
            <a:r>
              <a:rPr b="1" lang="es-GT" sz="2250">
                <a:solidFill>
                  <a:srgbClr val="FFFFFF"/>
                </a:solidFill>
              </a:rPr>
              <a:t>Área</a:t>
            </a:r>
            <a:r>
              <a:rPr b="1" lang="es-GT" sz="2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Network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304800" y="1638300"/>
            <a:ext cx="450799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3D5A"/>
              </a:buClr>
              <a:buSzPts val="1500"/>
              <a:buFont typeface="Arial"/>
              <a:buNone/>
            </a:pPr>
            <a:r>
              <a:rPr b="1" lang="es-GT" sz="1500">
                <a:solidFill>
                  <a:srgbClr val="1C3D5A"/>
                </a:solidFill>
                <a:latin typeface="Arial"/>
                <a:ea typeface="Arial"/>
                <a:cs typeface="Arial"/>
                <a:sym typeface="Arial"/>
              </a:rPr>
              <a:t>Definición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304800" y="2057400"/>
            <a:ext cx="45079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lang="es-GT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Red de área metropolitana que interconecta varias LANs dentro de una ciudad o área metropolitana.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304800" y="2743200"/>
            <a:ext cx="450799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3D5A"/>
              </a:buClr>
              <a:buSzPts val="1500"/>
              <a:buFont typeface="Arial"/>
              <a:buNone/>
            </a:pPr>
            <a:r>
              <a:rPr b="1" lang="es-GT" sz="1500">
                <a:solidFill>
                  <a:srgbClr val="1C3D5A"/>
                </a:solidFill>
                <a:latin typeface="Arial"/>
                <a:ea typeface="Arial"/>
                <a:cs typeface="Arial"/>
                <a:sym typeface="Arial"/>
              </a:rPr>
              <a:t>Características Principales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304800" y="3162300"/>
            <a:ext cx="441960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noAutofit/>
          </a:bodyPr>
          <a:lstStyle/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s-GT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Alcance: 5 km a 50 km aproximadamente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s-GT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Velocidad: 100 Mbps a 10 Gbps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s-GT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Conecta múltiples edificios en una ciudad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s-GT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Puede ser pública o privada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5029200" y="1313855"/>
            <a:ext cx="3810000" cy="927497"/>
          </a:xfrm>
          <a:prstGeom prst="roundRect">
            <a:avLst>
              <a:gd fmla="val 8216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" name="Google Shape;97;p6"/>
          <p:cNvCxnSpPr/>
          <p:nvPr/>
        </p:nvCxnSpPr>
        <p:spPr>
          <a:xfrm>
            <a:off x="5029200" y="1328142"/>
            <a:ext cx="3810000" cy="0"/>
          </a:xfrm>
          <a:prstGeom prst="straightConnector1">
            <a:avLst/>
          </a:prstGeom>
          <a:noFill/>
          <a:ln cap="flat" cmpd="sng" w="28575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" name="Google Shape;98;p6"/>
          <p:cNvSpPr/>
          <p:nvPr/>
        </p:nvSpPr>
        <p:spPr>
          <a:xfrm>
            <a:off x="5211961" y="1563291"/>
            <a:ext cx="35133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200"/>
              <a:buFont typeface="Arial"/>
              <a:buNone/>
            </a:pPr>
            <a:r>
              <a:rPr b="1" lang="es-GT" sz="1200">
                <a:solidFill>
                  <a:srgbClr val="00BCD4"/>
                </a:solidFill>
                <a:latin typeface="Arial"/>
                <a:ea typeface="Arial"/>
                <a:cs typeface="Arial"/>
                <a:sym typeface="Arial"/>
              </a:rPr>
              <a:t>Tecnologías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5211961" y="1829991"/>
            <a:ext cx="351336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Arial"/>
              <a:buNone/>
            </a:pPr>
            <a:r>
              <a:rPr lang="es-GT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Fibra óptica, MPLS, Metro Ethernet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5029200" y="2317552"/>
            <a:ext cx="3810000" cy="1117997"/>
          </a:xfrm>
          <a:prstGeom prst="roundRect">
            <a:avLst>
              <a:gd fmla="val 6816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" name="Google Shape;101;p6"/>
          <p:cNvCxnSpPr/>
          <p:nvPr/>
        </p:nvCxnSpPr>
        <p:spPr>
          <a:xfrm>
            <a:off x="5029200" y="2331839"/>
            <a:ext cx="3810000" cy="0"/>
          </a:xfrm>
          <a:prstGeom prst="straightConnector1">
            <a:avLst/>
          </a:prstGeom>
          <a:noFill/>
          <a:ln cap="flat" cmpd="sng" w="28575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p6"/>
          <p:cNvSpPr/>
          <p:nvPr/>
        </p:nvSpPr>
        <p:spPr>
          <a:xfrm>
            <a:off x="5211961" y="2566988"/>
            <a:ext cx="35133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200"/>
              <a:buFont typeface="Arial"/>
              <a:buNone/>
            </a:pPr>
            <a:r>
              <a:rPr b="1" lang="es-GT" sz="1200">
                <a:solidFill>
                  <a:srgbClr val="00BCD4"/>
                </a:solidFill>
                <a:latin typeface="Arial"/>
                <a:ea typeface="Arial"/>
                <a:cs typeface="Arial"/>
                <a:sym typeface="Arial"/>
              </a:rPr>
              <a:t>Ejemplos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5211961" y="2833688"/>
            <a:ext cx="351336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Arial"/>
              <a:buNone/>
            </a:pPr>
            <a:r>
              <a:rPr lang="es-GT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Red universitaria multi-campus, red bancaria urbana, red de gobierno municipal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5029200" y="3511748"/>
            <a:ext cx="3810000" cy="1117997"/>
          </a:xfrm>
          <a:prstGeom prst="roundRect">
            <a:avLst>
              <a:gd fmla="val 6816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" name="Google Shape;105;p6"/>
          <p:cNvCxnSpPr/>
          <p:nvPr/>
        </p:nvCxnSpPr>
        <p:spPr>
          <a:xfrm>
            <a:off x="5029200" y="3526036"/>
            <a:ext cx="3810000" cy="0"/>
          </a:xfrm>
          <a:prstGeom prst="straightConnector1">
            <a:avLst/>
          </a:prstGeom>
          <a:noFill/>
          <a:ln cap="flat" cmpd="sng" w="28575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" name="Google Shape;106;p6"/>
          <p:cNvSpPr/>
          <p:nvPr/>
        </p:nvSpPr>
        <p:spPr>
          <a:xfrm>
            <a:off x="5211961" y="3761184"/>
            <a:ext cx="35133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200"/>
              <a:buFont typeface="Arial"/>
              <a:buNone/>
            </a:pPr>
            <a:r>
              <a:rPr b="1" lang="es-GT" sz="1200">
                <a:solidFill>
                  <a:srgbClr val="00BCD4"/>
                </a:solidFill>
                <a:latin typeface="Arial"/>
                <a:ea typeface="Arial"/>
                <a:cs typeface="Arial"/>
                <a:sym typeface="Arial"/>
              </a:rPr>
              <a:t>Ventajas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5211961" y="4027884"/>
            <a:ext cx="351336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Arial"/>
              <a:buNone/>
            </a:pPr>
            <a:r>
              <a:rPr lang="es-GT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Mayor cobertura que LAN, menor costo que WAN, alta velocidad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"/>
          <p:cNvSpPr/>
          <p:nvPr/>
        </p:nvSpPr>
        <p:spPr>
          <a:xfrm>
            <a:off x="0" y="0"/>
            <a:ext cx="9144000" cy="647700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304800" y="152400"/>
            <a:ext cx="454685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lang="es-GT" sz="2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Redes WAN - Wide Area Network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304800" y="1638300"/>
            <a:ext cx="450799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3D5A"/>
              </a:buClr>
              <a:buSzPts val="1500"/>
              <a:buFont typeface="Arial"/>
              <a:buNone/>
            </a:pPr>
            <a:r>
              <a:rPr b="1" lang="es-GT" sz="1500">
                <a:solidFill>
                  <a:srgbClr val="1C3D5A"/>
                </a:solidFill>
                <a:latin typeface="Arial"/>
                <a:ea typeface="Arial"/>
                <a:cs typeface="Arial"/>
                <a:sym typeface="Arial"/>
              </a:rPr>
              <a:t>Definición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304800" y="2057400"/>
            <a:ext cx="45079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lang="es-GT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Red de área amplia que conecta dispositivos en áreas geográficas extensas, incluso entre países y continentes.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304800" y="2743200"/>
            <a:ext cx="450799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3D5A"/>
              </a:buClr>
              <a:buSzPts val="1500"/>
              <a:buFont typeface="Arial"/>
              <a:buNone/>
            </a:pPr>
            <a:r>
              <a:rPr b="1" lang="es-GT" sz="1500">
                <a:solidFill>
                  <a:srgbClr val="1C3D5A"/>
                </a:solidFill>
                <a:latin typeface="Arial"/>
                <a:ea typeface="Arial"/>
                <a:cs typeface="Arial"/>
                <a:sym typeface="Arial"/>
              </a:rPr>
              <a:t>Características Principales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304800" y="3162300"/>
            <a:ext cx="441960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noAutofit/>
          </a:bodyPr>
          <a:lstStyle/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s-GT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Alcance: miles de kilómetros (global)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s-GT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Velocidad variable: depende del proveedor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s-GT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Mayor latencia que LAN o MAN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s-GT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Generalmente propiedad de proveedores ISP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5029200" y="1313855"/>
            <a:ext cx="3810000" cy="927497"/>
          </a:xfrm>
          <a:prstGeom prst="roundRect">
            <a:avLst>
              <a:gd fmla="val 8216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" name="Google Shape;120;p7"/>
          <p:cNvCxnSpPr/>
          <p:nvPr/>
        </p:nvCxnSpPr>
        <p:spPr>
          <a:xfrm>
            <a:off x="5029200" y="1328142"/>
            <a:ext cx="3810000" cy="0"/>
          </a:xfrm>
          <a:prstGeom prst="straightConnector1">
            <a:avLst/>
          </a:prstGeom>
          <a:noFill/>
          <a:ln cap="flat" cmpd="sng" w="28575">
            <a:solidFill>
              <a:srgbClr val="1976D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" name="Google Shape;121;p7"/>
          <p:cNvSpPr/>
          <p:nvPr/>
        </p:nvSpPr>
        <p:spPr>
          <a:xfrm>
            <a:off x="5211961" y="1563291"/>
            <a:ext cx="35133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976D2"/>
              </a:buClr>
              <a:buSzPts val="1200"/>
              <a:buFont typeface="Arial"/>
              <a:buNone/>
            </a:pPr>
            <a:r>
              <a:rPr b="1" lang="es-GT" sz="1200">
                <a:solidFill>
                  <a:srgbClr val="1976D2"/>
                </a:solidFill>
                <a:latin typeface="Arial"/>
                <a:ea typeface="Arial"/>
                <a:cs typeface="Arial"/>
                <a:sym typeface="Arial"/>
              </a:rPr>
              <a:t>Tecnologías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5211961" y="1829991"/>
            <a:ext cx="351336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Arial"/>
              <a:buNone/>
            </a:pPr>
            <a:r>
              <a:rPr lang="es-GT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MPLS, Frame Relay, Leased Lines, VPN, Internet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5029200" y="2317552"/>
            <a:ext cx="3810000" cy="1117997"/>
          </a:xfrm>
          <a:prstGeom prst="roundRect">
            <a:avLst>
              <a:gd fmla="val 6816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" name="Google Shape;124;p7"/>
          <p:cNvCxnSpPr/>
          <p:nvPr/>
        </p:nvCxnSpPr>
        <p:spPr>
          <a:xfrm>
            <a:off x="5029200" y="2331839"/>
            <a:ext cx="3810000" cy="0"/>
          </a:xfrm>
          <a:prstGeom prst="straightConnector1">
            <a:avLst/>
          </a:prstGeom>
          <a:noFill/>
          <a:ln cap="flat" cmpd="sng" w="28575">
            <a:solidFill>
              <a:srgbClr val="1976D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5" name="Google Shape;125;p7"/>
          <p:cNvSpPr/>
          <p:nvPr/>
        </p:nvSpPr>
        <p:spPr>
          <a:xfrm>
            <a:off x="5211961" y="2566988"/>
            <a:ext cx="35133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976D2"/>
              </a:buClr>
              <a:buSzPts val="1200"/>
              <a:buFont typeface="Arial"/>
              <a:buNone/>
            </a:pPr>
            <a:r>
              <a:rPr b="1" lang="es-GT" sz="1200">
                <a:solidFill>
                  <a:srgbClr val="1976D2"/>
                </a:solidFill>
                <a:latin typeface="Arial"/>
                <a:ea typeface="Arial"/>
                <a:cs typeface="Arial"/>
                <a:sym typeface="Arial"/>
              </a:rPr>
              <a:t>Ejemplos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5211961" y="2833688"/>
            <a:ext cx="351336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Arial"/>
              <a:buNone/>
            </a:pPr>
            <a:r>
              <a:rPr lang="es-GT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Internet, red corporativa multinacional, red bancaria internacional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5029200" y="3511748"/>
            <a:ext cx="3810000" cy="1117997"/>
          </a:xfrm>
          <a:prstGeom prst="roundRect">
            <a:avLst>
              <a:gd fmla="val 6816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7"/>
          <p:cNvCxnSpPr/>
          <p:nvPr/>
        </p:nvCxnSpPr>
        <p:spPr>
          <a:xfrm>
            <a:off x="5029200" y="3526036"/>
            <a:ext cx="3810000" cy="0"/>
          </a:xfrm>
          <a:prstGeom prst="straightConnector1">
            <a:avLst/>
          </a:prstGeom>
          <a:noFill/>
          <a:ln cap="flat" cmpd="sng" w="28575">
            <a:solidFill>
              <a:srgbClr val="1976D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" name="Google Shape;129;p7"/>
          <p:cNvSpPr/>
          <p:nvPr/>
        </p:nvSpPr>
        <p:spPr>
          <a:xfrm>
            <a:off x="5211961" y="3761184"/>
            <a:ext cx="35133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976D2"/>
              </a:buClr>
              <a:buSzPts val="1200"/>
              <a:buFont typeface="Arial"/>
              <a:buNone/>
            </a:pPr>
            <a:r>
              <a:rPr b="1" lang="es-GT" sz="1200">
                <a:solidFill>
                  <a:srgbClr val="1976D2"/>
                </a:solidFill>
                <a:latin typeface="Arial"/>
                <a:ea typeface="Arial"/>
                <a:cs typeface="Arial"/>
                <a:sym typeface="Arial"/>
              </a:rPr>
              <a:t>Ventajas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5211961" y="4027884"/>
            <a:ext cx="351336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Arial"/>
              <a:buNone/>
            </a:pPr>
            <a:r>
              <a:rPr lang="es-GT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Cobertura global, conectividad entre oficinas distantes, acceso remoto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asterized-gradient-873bc563.png" id="136" name="Google Shape;13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8"/>
          <p:cNvSpPr/>
          <p:nvPr/>
        </p:nvSpPr>
        <p:spPr>
          <a:xfrm>
            <a:off x="304800" y="152400"/>
            <a:ext cx="496462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lang="es-GT" sz="2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Comparación: LAN vs MAN vs WAN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8" name="Google Shape;138;p8"/>
          <p:cNvGraphicFramePr/>
          <p:nvPr/>
        </p:nvGraphicFramePr>
        <p:xfrm>
          <a:off x="304800" y="110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{EB6CB98E-815F-4E51-8025-1E5064D85F7A}</a:tableStyleId>
              </a:tblPr>
              <a:tblGrid>
                <a:gridCol w="2011675"/>
                <a:gridCol w="2103125"/>
                <a:gridCol w="2103125"/>
                <a:gridCol w="2103125"/>
              </a:tblGrid>
              <a:tr h="453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s-GT" sz="1400" u="none" cap="none" strike="noStrike">
                          <a:solidFill>
                            <a:srgbClr val="FFFFFF"/>
                          </a:solidFill>
                        </a:rPr>
                        <a:t>Característica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s-GT" sz="1400" u="none" cap="none" strike="noStrike">
                          <a:solidFill>
                            <a:srgbClr val="FFFFFF"/>
                          </a:solidFill>
                        </a:rPr>
                        <a:t>LAN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96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s-GT" sz="1400" u="none" cap="none" strike="noStrike">
                          <a:solidFill>
                            <a:srgbClr val="FFFFFF"/>
                          </a:solidFill>
                        </a:rPr>
                        <a:t>MAN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C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s-GT" sz="1400" u="none" cap="none" strike="noStrike">
                          <a:solidFill>
                            <a:srgbClr val="FFFFFF"/>
                          </a:solidFill>
                        </a:rPr>
                        <a:t>WAN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76D2"/>
                    </a:solidFill>
                  </a:tcPr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s-GT" sz="1200" u="none" cap="none" strike="noStrike">
                          <a:solidFill>
                            <a:srgbClr val="000000"/>
                          </a:solidFill>
                        </a:rPr>
                        <a:t>Alcance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s-GT" sz="1200" u="none" cap="none" strike="noStrike">
                          <a:solidFill>
                            <a:srgbClr val="000000"/>
                          </a:solidFill>
                        </a:rPr>
                        <a:t>Hasta 1 km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s-GT" sz="1200" u="none" cap="none" strike="noStrike">
                          <a:solidFill>
                            <a:srgbClr val="000000"/>
                          </a:solidFill>
                        </a:rPr>
                        <a:t>5-50 km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s-GT" sz="1200" u="none" cap="none" strike="noStrike">
                          <a:solidFill>
                            <a:srgbClr val="000000"/>
                          </a:solidFill>
                        </a:rPr>
                        <a:t>Global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s-GT" sz="1200" u="none" cap="none" strike="noStrike">
                          <a:solidFill>
                            <a:srgbClr val="000000"/>
                          </a:solidFill>
                        </a:rPr>
                        <a:t>Velocidad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s-GT" sz="1200" u="none" cap="none" strike="noStrike">
                          <a:solidFill>
                            <a:srgbClr val="000000"/>
                          </a:solidFill>
                        </a:rPr>
                        <a:t>100 Mbps - 10 Gbps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s-GT" sz="1200" u="none" cap="none" strike="noStrike">
                          <a:solidFill>
                            <a:srgbClr val="000000"/>
                          </a:solidFill>
                        </a:rPr>
                        <a:t>100 Mbps - 10 Gbps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s-GT" sz="1200" u="none" cap="none" strike="noStrike">
                          <a:solidFill>
                            <a:srgbClr val="000000"/>
                          </a:solidFill>
                        </a:rPr>
                        <a:t>Variable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s-GT" sz="1200" u="none" cap="none" strike="noStrike">
                          <a:solidFill>
                            <a:srgbClr val="000000"/>
                          </a:solidFill>
                        </a:rPr>
                        <a:t>Latencia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s-GT" sz="1200" u="none" cap="none" strike="noStrike">
                          <a:solidFill>
                            <a:srgbClr val="000000"/>
                          </a:solidFill>
                        </a:rPr>
                        <a:t>Muy baja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s-GT" sz="1200" u="none" cap="none" strike="noStrike">
                          <a:solidFill>
                            <a:srgbClr val="000000"/>
                          </a:solidFill>
                        </a:rPr>
                        <a:t>Baja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s-GT" sz="1200" u="none" cap="none" strike="noStrike">
                          <a:solidFill>
                            <a:srgbClr val="000000"/>
                          </a:solidFill>
                        </a:rPr>
                        <a:t>Media-Alta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s-GT" sz="1200" u="none" cap="none" strike="noStrike">
                          <a:solidFill>
                            <a:srgbClr val="000000"/>
                          </a:solidFill>
                        </a:rPr>
                        <a:t>Propiedad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s-GT" sz="1200" u="none" cap="none" strike="noStrike">
                          <a:solidFill>
                            <a:srgbClr val="000000"/>
                          </a:solidFill>
                        </a:rPr>
                        <a:t>Privada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s-GT" sz="1200" u="none" cap="none" strike="noStrike">
                          <a:solidFill>
                            <a:srgbClr val="000000"/>
                          </a:solidFill>
                        </a:rPr>
                        <a:t>Pública o Privada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s-GT" sz="1200" u="none" cap="none" strike="noStrike">
                          <a:solidFill>
                            <a:srgbClr val="000000"/>
                          </a:solidFill>
                        </a:rPr>
                        <a:t>Proveedor ISP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s-GT" sz="1200" u="none" cap="none" strike="noStrike">
                          <a:solidFill>
                            <a:srgbClr val="000000"/>
                          </a:solidFill>
                        </a:rPr>
                        <a:t>Costo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s-GT" sz="1200" u="none" cap="none" strike="noStrike">
                          <a:solidFill>
                            <a:srgbClr val="000000"/>
                          </a:solidFill>
                        </a:rPr>
                        <a:t>Bajo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s-GT" sz="1200" u="none" cap="none" strike="noStrike">
                          <a:solidFill>
                            <a:srgbClr val="000000"/>
                          </a:solidFill>
                        </a:rPr>
                        <a:t>Medio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s-GT" sz="1200" u="none" cap="none" strike="noStrike">
                          <a:solidFill>
                            <a:srgbClr val="000000"/>
                          </a:solidFill>
                        </a:rPr>
                        <a:t>Alto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s-GT" sz="1200" u="none" cap="none" strike="noStrike">
                          <a:solidFill>
                            <a:srgbClr val="000000"/>
                          </a:solidFill>
                        </a:rPr>
                        <a:t>Ejemplos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s-GT" sz="1200" u="none" cap="none" strike="noStrike">
                          <a:solidFill>
                            <a:srgbClr val="000000"/>
                          </a:solidFill>
                        </a:rPr>
                        <a:t>Oficina, Campus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s-GT" sz="1200" u="none" cap="none" strike="noStrike">
                          <a:solidFill>
                            <a:srgbClr val="000000"/>
                          </a:solidFill>
                        </a:rPr>
                        <a:t>Red Urbana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s-GT" sz="1200" u="none" cap="none" strike="noStrike">
                          <a:solidFill>
                            <a:srgbClr val="000000"/>
                          </a:solidFill>
                        </a:rPr>
                        <a:t>Internet, VPN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304800" y="228600"/>
            <a:ext cx="436226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lang="es-GT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¿Qué es una VLAN?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304800" y="685800"/>
            <a:ext cx="870508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lang="es-GT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Virtual Local Area Network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gradient-85643324.png" id="147" name="Google Shape;14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011710"/>
            <a:ext cx="8686800" cy="153159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9"/>
          <p:cNvSpPr/>
          <p:nvPr/>
        </p:nvSpPr>
        <p:spPr>
          <a:xfrm>
            <a:off x="533400" y="2354610"/>
            <a:ext cx="823874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lang="es-GT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Definición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533400" y="2743200"/>
            <a:ext cx="823874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s-GT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Una VLAN es una red local virtual que permite segmentar lógicamente una red física en múltiples redes independientes, sin necesidad de separación física.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228600" y="3695700"/>
            <a:ext cx="2793950" cy="807690"/>
          </a:xfrm>
          <a:prstGeom prst="roundRect">
            <a:avLst>
              <a:gd fmla="val 9434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" name="Google Shape;151;p9"/>
          <p:cNvCxnSpPr/>
          <p:nvPr/>
        </p:nvCxnSpPr>
        <p:spPr>
          <a:xfrm>
            <a:off x="247650" y="3695700"/>
            <a:ext cx="0" cy="807690"/>
          </a:xfrm>
          <a:prstGeom prst="straightConnector1">
            <a:avLst/>
          </a:prstGeom>
          <a:noFill/>
          <a:ln cap="flat" cmpd="sng" w="381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2" name="Google Shape;152;p9"/>
          <p:cNvSpPr/>
          <p:nvPr/>
        </p:nvSpPr>
        <p:spPr>
          <a:xfrm>
            <a:off x="419100" y="3886200"/>
            <a:ext cx="250007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96F3"/>
              </a:buClr>
              <a:buSzPts val="1200"/>
              <a:buFont typeface="Arial"/>
              <a:buNone/>
            </a:pPr>
            <a:r>
              <a:rPr b="1" lang="es-GT" sz="1200">
                <a:solidFill>
                  <a:srgbClr val="2196F3"/>
                </a:solidFill>
                <a:latin typeface="Arial"/>
                <a:ea typeface="Arial"/>
                <a:cs typeface="Arial"/>
                <a:sym typeface="Arial"/>
              </a:rPr>
              <a:t>Seguridad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419100" y="4160490"/>
            <a:ext cx="2500071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lang="es-GT" sz="9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Aísla tráfico entre departamentos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3174950" y="3695700"/>
            <a:ext cx="2793950" cy="807690"/>
          </a:xfrm>
          <a:prstGeom prst="roundRect">
            <a:avLst>
              <a:gd fmla="val 9434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" name="Google Shape;155;p9"/>
          <p:cNvCxnSpPr/>
          <p:nvPr/>
        </p:nvCxnSpPr>
        <p:spPr>
          <a:xfrm>
            <a:off x="3194000" y="3695700"/>
            <a:ext cx="0" cy="807690"/>
          </a:xfrm>
          <a:prstGeom prst="straightConnector1">
            <a:avLst/>
          </a:prstGeom>
          <a:noFill/>
          <a:ln cap="flat" cmpd="sng" w="381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6" name="Google Shape;156;p9"/>
          <p:cNvSpPr/>
          <p:nvPr/>
        </p:nvSpPr>
        <p:spPr>
          <a:xfrm>
            <a:off x="3365450" y="3886200"/>
            <a:ext cx="250007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96F3"/>
              </a:buClr>
              <a:buSzPts val="1200"/>
              <a:buFont typeface="Arial"/>
              <a:buNone/>
            </a:pPr>
            <a:r>
              <a:rPr b="1" lang="es-GT" sz="1200">
                <a:solidFill>
                  <a:srgbClr val="2196F3"/>
                </a:solidFill>
                <a:latin typeface="Arial"/>
                <a:ea typeface="Arial"/>
                <a:cs typeface="Arial"/>
                <a:sym typeface="Arial"/>
              </a:rPr>
              <a:t>Rendimiento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3365450" y="4160490"/>
            <a:ext cx="2500071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lang="es-GT" sz="9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Reduce dominios de broadcast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6121301" y="3695700"/>
            <a:ext cx="2793950" cy="807690"/>
          </a:xfrm>
          <a:prstGeom prst="roundRect">
            <a:avLst>
              <a:gd fmla="val 9434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" name="Google Shape;159;p9"/>
          <p:cNvCxnSpPr/>
          <p:nvPr/>
        </p:nvCxnSpPr>
        <p:spPr>
          <a:xfrm>
            <a:off x="6140351" y="3695700"/>
            <a:ext cx="0" cy="807690"/>
          </a:xfrm>
          <a:prstGeom prst="straightConnector1">
            <a:avLst/>
          </a:prstGeom>
          <a:noFill/>
          <a:ln cap="flat" cmpd="sng" w="381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0" name="Google Shape;160;p9"/>
          <p:cNvSpPr/>
          <p:nvPr/>
        </p:nvSpPr>
        <p:spPr>
          <a:xfrm>
            <a:off x="6311801" y="3886200"/>
            <a:ext cx="250007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96F3"/>
              </a:buClr>
              <a:buSzPts val="1200"/>
              <a:buFont typeface="Arial"/>
              <a:buNone/>
            </a:pPr>
            <a:r>
              <a:rPr b="1" lang="es-GT" sz="1200">
                <a:solidFill>
                  <a:srgbClr val="2196F3"/>
                </a:solidFill>
                <a:latin typeface="Arial"/>
                <a:ea typeface="Arial"/>
                <a:cs typeface="Arial"/>
                <a:sym typeface="Arial"/>
              </a:rPr>
              <a:t>Flexibilidad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6311801" y="4160490"/>
            <a:ext cx="2500071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lang="es-GT" sz="9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Organización lógica de usuarios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"/>
          <p:cNvSpPr/>
          <p:nvPr/>
        </p:nvSpPr>
        <p:spPr>
          <a:xfrm>
            <a:off x="0" y="0"/>
            <a:ext cx="9144000" cy="647700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304800" y="152400"/>
            <a:ext cx="43622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lang="es-GT" sz="2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Tipos de VLANs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0" y="800100"/>
            <a:ext cx="9144000" cy="4343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304800" y="1352550"/>
            <a:ext cx="4191000" cy="1543050"/>
          </a:xfrm>
          <a:prstGeom prst="roundRect">
            <a:avLst>
              <a:gd fmla="val 4938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19050">
              <a:srgbClr val="000000">
                <a:alpha val="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1" name="Google Shape;171;p10"/>
          <p:cNvCxnSpPr/>
          <p:nvPr/>
        </p:nvCxnSpPr>
        <p:spPr>
          <a:xfrm>
            <a:off x="304800" y="1371600"/>
            <a:ext cx="4191000" cy="0"/>
          </a:xfrm>
          <a:prstGeom prst="straightConnector1">
            <a:avLst/>
          </a:prstGeom>
          <a:noFill/>
          <a:ln cap="flat" cmpd="sng" w="38100">
            <a:solidFill>
              <a:srgbClr val="2196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2" name="Google Shape;172;p10"/>
          <p:cNvSpPr/>
          <p:nvPr/>
        </p:nvSpPr>
        <p:spPr>
          <a:xfrm>
            <a:off x="533400" y="1619250"/>
            <a:ext cx="476250" cy="476250"/>
          </a:xfrm>
          <a:prstGeom prst="roundRect">
            <a:avLst>
              <a:gd fmla="val 192000" name="adj"/>
            </a:avLst>
          </a:prstGeom>
          <a:solidFill>
            <a:srgbClr val="2196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718542" y="1724025"/>
            <a:ext cx="10808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s-GT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1085850" y="1724025"/>
            <a:ext cx="126331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3D5A"/>
              </a:buClr>
              <a:buSzPts val="1350"/>
              <a:buFont typeface="Arial"/>
              <a:buNone/>
            </a:pPr>
            <a:r>
              <a:rPr b="1" lang="es-GT" sz="1350">
                <a:solidFill>
                  <a:srgbClr val="1C3D5A"/>
                </a:solidFill>
                <a:latin typeface="Arial"/>
                <a:ea typeface="Arial"/>
                <a:cs typeface="Arial"/>
                <a:sym typeface="Arial"/>
              </a:rPr>
              <a:t>VLAN de Datos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533400" y="2247900"/>
            <a:ext cx="380847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Arial"/>
              <a:buNone/>
            </a:pPr>
            <a:r>
              <a:rPr lang="es-GT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Transporta tráfico generado por usuarios. Es la más común y se usa para segmentar usuarios por departamento o función.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4648200" y="1352550"/>
            <a:ext cx="4191000" cy="1543050"/>
          </a:xfrm>
          <a:prstGeom prst="roundRect">
            <a:avLst>
              <a:gd fmla="val 4938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19050">
              <a:srgbClr val="000000">
                <a:alpha val="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" name="Google Shape;177;p10"/>
          <p:cNvCxnSpPr/>
          <p:nvPr/>
        </p:nvCxnSpPr>
        <p:spPr>
          <a:xfrm>
            <a:off x="4648200" y="1371600"/>
            <a:ext cx="4191000" cy="0"/>
          </a:xfrm>
          <a:prstGeom prst="straightConnector1">
            <a:avLst/>
          </a:prstGeom>
          <a:noFill/>
          <a:ln cap="flat" cmpd="sng" w="38100">
            <a:solidFill>
              <a:srgbClr val="2196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8" name="Google Shape;178;p10"/>
          <p:cNvSpPr/>
          <p:nvPr/>
        </p:nvSpPr>
        <p:spPr>
          <a:xfrm>
            <a:off x="4876800" y="1619250"/>
            <a:ext cx="476250" cy="476250"/>
          </a:xfrm>
          <a:prstGeom prst="roundRect">
            <a:avLst>
              <a:gd fmla="val 192000" name="adj"/>
            </a:avLst>
          </a:prstGeom>
          <a:solidFill>
            <a:srgbClr val="2196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5061942" y="1724025"/>
            <a:ext cx="10808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s-GT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5429250" y="1724025"/>
            <a:ext cx="1075233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3D5A"/>
              </a:buClr>
              <a:buSzPts val="1350"/>
              <a:buFont typeface="Arial"/>
              <a:buNone/>
            </a:pPr>
            <a:r>
              <a:rPr b="1" lang="es-GT" sz="1350">
                <a:solidFill>
                  <a:srgbClr val="1C3D5A"/>
                </a:solidFill>
                <a:latin typeface="Arial"/>
                <a:ea typeface="Arial"/>
                <a:cs typeface="Arial"/>
                <a:sym typeface="Arial"/>
              </a:rPr>
              <a:t>VLAN de Voz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4876800" y="2247900"/>
            <a:ext cx="380847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Arial"/>
              <a:buNone/>
            </a:pPr>
            <a:r>
              <a:rPr lang="es-GT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Dedicada al tráfico de VoIP. Garantiza calidad de servicio y prioridad para llamadas telefónicas IP.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304800" y="3048000"/>
            <a:ext cx="4191000" cy="1543050"/>
          </a:xfrm>
          <a:prstGeom prst="roundRect">
            <a:avLst>
              <a:gd fmla="val 4938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19050">
              <a:srgbClr val="000000">
                <a:alpha val="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3" name="Google Shape;183;p10"/>
          <p:cNvCxnSpPr/>
          <p:nvPr/>
        </p:nvCxnSpPr>
        <p:spPr>
          <a:xfrm>
            <a:off x="304800" y="3067050"/>
            <a:ext cx="4191000" cy="0"/>
          </a:xfrm>
          <a:prstGeom prst="straightConnector1">
            <a:avLst/>
          </a:prstGeom>
          <a:noFill/>
          <a:ln cap="flat" cmpd="sng" w="38100">
            <a:solidFill>
              <a:srgbClr val="2196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4" name="Google Shape;184;p10"/>
          <p:cNvSpPr/>
          <p:nvPr/>
        </p:nvSpPr>
        <p:spPr>
          <a:xfrm>
            <a:off x="533400" y="3314700"/>
            <a:ext cx="476250" cy="476250"/>
          </a:xfrm>
          <a:prstGeom prst="roundRect">
            <a:avLst>
              <a:gd fmla="val 192000" name="adj"/>
            </a:avLst>
          </a:prstGeom>
          <a:solidFill>
            <a:srgbClr val="2196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718542" y="3419475"/>
            <a:ext cx="10808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s-GT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1085850" y="3419475"/>
            <a:ext cx="104957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3D5A"/>
              </a:buClr>
              <a:buSzPts val="1350"/>
              <a:buFont typeface="Arial"/>
              <a:buNone/>
            </a:pPr>
            <a:r>
              <a:rPr b="1" lang="es-GT" sz="1350">
                <a:solidFill>
                  <a:srgbClr val="1C3D5A"/>
                </a:solidFill>
                <a:latin typeface="Arial"/>
                <a:ea typeface="Arial"/>
                <a:cs typeface="Arial"/>
                <a:sym typeface="Arial"/>
              </a:rPr>
              <a:t>VLAN Nativa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533400" y="3943350"/>
            <a:ext cx="380847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Arial"/>
              <a:buNone/>
            </a:pPr>
            <a:r>
              <a:rPr lang="es-GT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Asignada a un puerto trunk para tráfico sin etiqueta 802.1Q. Por defecto es VLAN 1, pero debe cambiarse por seguridad.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4648200" y="3048000"/>
            <a:ext cx="4191000" cy="1543050"/>
          </a:xfrm>
          <a:prstGeom prst="roundRect">
            <a:avLst>
              <a:gd fmla="val 4938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19050">
              <a:srgbClr val="000000">
                <a:alpha val="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9" name="Google Shape;189;p10"/>
          <p:cNvCxnSpPr/>
          <p:nvPr/>
        </p:nvCxnSpPr>
        <p:spPr>
          <a:xfrm>
            <a:off x="4648200" y="3067050"/>
            <a:ext cx="4191000" cy="0"/>
          </a:xfrm>
          <a:prstGeom prst="straightConnector1">
            <a:avLst/>
          </a:prstGeom>
          <a:noFill/>
          <a:ln cap="flat" cmpd="sng" w="38100">
            <a:solidFill>
              <a:srgbClr val="2196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0" name="Google Shape;190;p10"/>
          <p:cNvSpPr/>
          <p:nvPr/>
        </p:nvSpPr>
        <p:spPr>
          <a:xfrm>
            <a:off x="4876800" y="3314700"/>
            <a:ext cx="476250" cy="476250"/>
          </a:xfrm>
          <a:prstGeom prst="roundRect">
            <a:avLst>
              <a:gd fmla="val 192000" name="adj"/>
            </a:avLst>
          </a:prstGeom>
          <a:solidFill>
            <a:srgbClr val="2196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5061942" y="3419475"/>
            <a:ext cx="10808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s-GT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5429250" y="3419475"/>
            <a:ext cx="204374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3D5A"/>
              </a:buClr>
              <a:buSzPts val="1350"/>
              <a:buFont typeface="Arial"/>
              <a:buNone/>
            </a:pPr>
            <a:r>
              <a:rPr b="1" lang="es-GT" sz="1350">
                <a:solidFill>
                  <a:srgbClr val="1C3D5A"/>
                </a:solidFill>
                <a:latin typeface="Arial"/>
                <a:ea typeface="Arial"/>
                <a:cs typeface="Arial"/>
                <a:sym typeface="Arial"/>
              </a:rPr>
              <a:t>VLAN de Administración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4876800" y="3943350"/>
            <a:ext cx="380847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Arial"/>
              <a:buNone/>
            </a:pPr>
            <a:r>
              <a:rPr lang="es-GT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Usada para gestión del switch mediante SSH, Telnet o SNMP. Separada del tráfico de usuarios por seguridad.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"/>
          <p:cNvSpPr/>
          <p:nvPr/>
        </p:nvSpPr>
        <p:spPr>
          <a:xfrm>
            <a:off x="0" y="0"/>
            <a:ext cx="9144000" cy="6477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304800" y="152400"/>
            <a:ext cx="710203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lang="es-GT" sz="2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Configuración Básica de VLANs en Switches Cisco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304800" y="1257300"/>
            <a:ext cx="381000" cy="381000"/>
          </a:xfrm>
          <a:prstGeom prst="roundRect">
            <a:avLst>
              <a:gd fmla="val 240000" name="adj"/>
            </a:avLst>
          </a:prstGeom>
          <a:solidFill>
            <a:srgbClr val="00BC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447526" y="1314450"/>
            <a:ext cx="9730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lang="es-GT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762000" y="1295400"/>
            <a:ext cx="823874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3D5A"/>
              </a:buClr>
              <a:buSzPts val="1350"/>
              <a:buFont typeface="Arial"/>
              <a:buNone/>
            </a:pPr>
            <a:r>
              <a:rPr b="1" lang="es-GT" sz="1350">
                <a:solidFill>
                  <a:srgbClr val="1C3D5A"/>
                </a:solidFill>
                <a:latin typeface="Arial"/>
                <a:ea typeface="Arial"/>
                <a:cs typeface="Arial"/>
                <a:sym typeface="Arial"/>
              </a:rPr>
              <a:t>Crear la VLAN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762000" y="1638300"/>
            <a:ext cx="8077200" cy="838200"/>
          </a:xfrm>
          <a:prstGeom prst="roundRect">
            <a:avLst>
              <a:gd fmla="val 9091" name="adj"/>
            </a:avLst>
          </a:prstGeom>
          <a:solidFill>
            <a:srgbClr val="2632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5" name="Google Shape;205;p11"/>
          <p:cNvCxnSpPr/>
          <p:nvPr/>
        </p:nvCxnSpPr>
        <p:spPr>
          <a:xfrm>
            <a:off x="781050" y="1638300"/>
            <a:ext cx="0" cy="838200"/>
          </a:xfrm>
          <a:prstGeom prst="straightConnector1">
            <a:avLst/>
          </a:prstGeom>
          <a:noFill/>
          <a:ln cap="flat" cmpd="sng" w="381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6" name="Google Shape;206;p11"/>
          <p:cNvSpPr/>
          <p:nvPr/>
        </p:nvSpPr>
        <p:spPr>
          <a:xfrm>
            <a:off x="1028700" y="1866900"/>
            <a:ext cx="773353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1050"/>
              <a:buFont typeface="Arial"/>
              <a:buNone/>
            </a:pPr>
            <a:r>
              <a:rPr lang="es-GT" sz="1050">
                <a:solidFill>
                  <a:srgbClr val="A5D6A7"/>
                </a:solidFill>
                <a:latin typeface="Arial"/>
                <a:ea typeface="Arial"/>
                <a:cs typeface="Arial"/>
                <a:sym typeface="Arial"/>
              </a:rPr>
              <a:t>Switch(config)# </a:t>
            </a:r>
            <a:r>
              <a:rPr lang="es-GT" sz="1050">
                <a:solidFill>
                  <a:srgbClr val="FFD54F"/>
                </a:solidFill>
                <a:latin typeface="Arial"/>
                <a:ea typeface="Arial"/>
                <a:cs typeface="Arial"/>
                <a:sym typeface="Arial"/>
              </a:rPr>
              <a:t>vlan 10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1028700" y="2057400"/>
            <a:ext cx="773353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1050"/>
              <a:buFont typeface="Arial"/>
              <a:buNone/>
            </a:pPr>
            <a:r>
              <a:rPr lang="es-GT" sz="1050">
                <a:solidFill>
                  <a:srgbClr val="A5D6A7"/>
                </a:solidFill>
                <a:latin typeface="Arial"/>
                <a:ea typeface="Arial"/>
                <a:cs typeface="Arial"/>
                <a:sym typeface="Arial"/>
              </a:rPr>
              <a:t>Switch(config-vlan)# </a:t>
            </a:r>
            <a:r>
              <a:rPr lang="es-GT" sz="1050">
                <a:solidFill>
                  <a:srgbClr val="FFD54F"/>
                </a:solidFill>
                <a:latin typeface="Arial"/>
                <a:ea typeface="Arial"/>
                <a:cs typeface="Arial"/>
                <a:sym typeface="Arial"/>
              </a:rPr>
              <a:t>name VENTAS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304800" y="2628900"/>
            <a:ext cx="381000" cy="381000"/>
          </a:xfrm>
          <a:prstGeom prst="roundRect">
            <a:avLst>
              <a:gd fmla="val 240000" name="adj"/>
            </a:avLst>
          </a:prstGeom>
          <a:solidFill>
            <a:srgbClr val="00BC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447526" y="2686050"/>
            <a:ext cx="9730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lang="es-GT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762000" y="2667000"/>
            <a:ext cx="823874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3D5A"/>
              </a:buClr>
              <a:buSzPts val="1350"/>
              <a:buFont typeface="Arial"/>
              <a:buNone/>
            </a:pPr>
            <a:r>
              <a:rPr b="1" lang="es-GT" sz="1350">
                <a:solidFill>
                  <a:srgbClr val="1C3D5A"/>
                </a:solidFill>
                <a:latin typeface="Arial"/>
                <a:ea typeface="Arial"/>
                <a:cs typeface="Arial"/>
                <a:sym typeface="Arial"/>
              </a:rPr>
              <a:t>Asignar puerto a la VLAN (Access Mode)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762000" y="3009900"/>
            <a:ext cx="8077200" cy="1028700"/>
          </a:xfrm>
          <a:prstGeom prst="roundRect">
            <a:avLst>
              <a:gd fmla="val 7407" name="adj"/>
            </a:avLst>
          </a:prstGeom>
          <a:solidFill>
            <a:srgbClr val="2632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2" name="Google Shape;212;p11"/>
          <p:cNvCxnSpPr/>
          <p:nvPr/>
        </p:nvCxnSpPr>
        <p:spPr>
          <a:xfrm>
            <a:off x="781050" y="3009900"/>
            <a:ext cx="0" cy="1028700"/>
          </a:xfrm>
          <a:prstGeom prst="straightConnector1">
            <a:avLst/>
          </a:prstGeom>
          <a:noFill/>
          <a:ln cap="flat" cmpd="sng" w="381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3" name="Google Shape;213;p11"/>
          <p:cNvSpPr/>
          <p:nvPr/>
        </p:nvSpPr>
        <p:spPr>
          <a:xfrm>
            <a:off x="1028700" y="3238500"/>
            <a:ext cx="773353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1050"/>
              <a:buFont typeface="Arial"/>
              <a:buNone/>
            </a:pPr>
            <a:r>
              <a:rPr lang="es-GT" sz="1050">
                <a:solidFill>
                  <a:srgbClr val="A5D6A7"/>
                </a:solidFill>
                <a:latin typeface="Arial"/>
                <a:ea typeface="Arial"/>
                <a:cs typeface="Arial"/>
                <a:sym typeface="Arial"/>
              </a:rPr>
              <a:t>Switch(config)# </a:t>
            </a:r>
            <a:r>
              <a:rPr lang="es-GT" sz="1050">
                <a:solidFill>
                  <a:srgbClr val="FFD54F"/>
                </a:solidFill>
                <a:latin typeface="Arial"/>
                <a:ea typeface="Arial"/>
                <a:cs typeface="Arial"/>
                <a:sym typeface="Arial"/>
              </a:rPr>
              <a:t>interface fa0/1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1028700" y="3429000"/>
            <a:ext cx="773353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1050"/>
              <a:buFont typeface="Arial"/>
              <a:buNone/>
            </a:pPr>
            <a:r>
              <a:rPr lang="es-GT" sz="1050">
                <a:solidFill>
                  <a:srgbClr val="A5D6A7"/>
                </a:solidFill>
                <a:latin typeface="Arial"/>
                <a:ea typeface="Arial"/>
                <a:cs typeface="Arial"/>
                <a:sym typeface="Arial"/>
              </a:rPr>
              <a:t>Switch(config-if)# </a:t>
            </a:r>
            <a:r>
              <a:rPr lang="es-GT" sz="1050">
                <a:solidFill>
                  <a:srgbClr val="FFD54F"/>
                </a:solidFill>
                <a:latin typeface="Arial"/>
                <a:ea typeface="Arial"/>
                <a:cs typeface="Arial"/>
                <a:sym typeface="Arial"/>
              </a:rPr>
              <a:t>switchport mode access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1028700" y="3619500"/>
            <a:ext cx="773353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1050"/>
              <a:buFont typeface="Arial"/>
              <a:buNone/>
            </a:pPr>
            <a:r>
              <a:rPr lang="es-GT" sz="1050">
                <a:solidFill>
                  <a:srgbClr val="A5D6A7"/>
                </a:solidFill>
                <a:latin typeface="Arial"/>
                <a:ea typeface="Arial"/>
                <a:cs typeface="Arial"/>
                <a:sym typeface="Arial"/>
              </a:rPr>
              <a:t>Switch(config-if)# </a:t>
            </a:r>
            <a:r>
              <a:rPr lang="es-GT" sz="1050">
                <a:solidFill>
                  <a:srgbClr val="FFD54F"/>
                </a:solidFill>
                <a:latin typeface="Arial"/>
                <a:ea typeface="Arial"/>
                <a:cs typeface="Arial"/>
                <a:sym typeface="Arial"/>
              </a:rPr>
              <a:t>switchport access vlan 10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304800" y="4191000"/>
            <a:ext cx="8534400" cy="495300"/>
          </a:xfrm>
          <a:prstGeom prst="roundRect">
            <a:avLst>
              <a:gd fmla="val 15385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457200" y="4343400"/>
            <a:ext cx="839419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C3D5A"/>
              </a:buClr>
              <a:buSzPts val="1050"/>
              <a:buFont typeface="Arial"/>
              <a:buNone/>
            </a:pPr>
            <a:r>
              <a:rPr b="1" lang="es-GT" sz="1050">
                <a:solidFill>
                  <a:srgbClr val="1C3D5A"/>
                </a:solidFill>
                <a:latin typeface="Arial"/>
                <a:ea typeface="Arial"/>
                <a:cs typeface="Arial"/>
                <a:sym typeface="Arial"/>
              </a:rPr>
              <a:t>Nota: Los puertos en modo access solo pueden pertenecer a una VLAN a la vez.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"/>
          <p:cNvSpPr/>
          <p:nvPr/>
        </p:nvSpPr>
        <p:spPr>
          <a:xfrm>
            <a:off x="0" y="0"/>
            <a:ext cx="9144000" cy="647700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2"/>
          <p:cNvSpPr/>
          <p:nvPr/>
        </p:nvSpPr>
        <p:spPr>
          <a:xfrm>
            <a:off x="304800" y="152400"/>
            <a:ext cx="491604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lang="es-GT" sz="2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VLAN Trunking - Enlaces Troncales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304800" y="1314450"/>
            <a:ext cx="4095750" cy="1600200"/>
          </a:xfrm>
          <a:prstGeom prst="roundRect">
            <a:avLst>
              <a:gd fmla="val 4762" name="adj"/>
            </a:avLst>
          </a:prstGeom>
          <a:solidFill>
            <a:srgbClr val="FFFFFF"/>
          </a:solidFill>
          <a:ln cap="flat" cmpd="sng" w="19050">
            <a:solidFill>
              <a:srgbClr val="2196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2"/>
          <p:cNvSpPr/>
          <p:nvPr/>
        </p:nvSpPr>
        <p:spPr>
          <a:xfrm>
            <a:off x="552450" y="1600200"/>
            <a:ext cx="367245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3D5A"/>
              </a:buClr>
              <a:buSzPts val="1500"/>
              <a:buFont typeface="Arial"/>
              <a:buNone/>
            </a:pPr>
            <a:r>
              <a:rPr b="1" lang="es-GT" sz="1500">
                <a:solidFill>
                  <a:srgbClr val="1C3D5A"/>
                </a:solidFill>
                <a:latin typeface="Arial"/>
                <a:ea typeface="Arial"/>
                <a:cs typeface="Arial"/>
                <a:sym typeface="Arial"/>
              </a:rPr>
              <a:t>¿Qué es un Trunk?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2"/>
          <p:cNvSpPr/>
          <p:nvPr/>
        </p:nvSpPr>
        <p:spPr>
          <a:xfrm>
            <a:off x="552450" y="1943100"/>
            <a:ext cx="367245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lang="es-GT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Un enlace trunk transporta tráfico de múltiples VLANs entre switches usando el protocolo de etiquetado 802.1Q.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2"/>
          <p:cNvSpPr/>
          <p:nvPr/>
        </p:nvSpPr>
        <p:spPr>
          <a:xfrm>
            <a:off x="304800" y="3105150"/>
            <a:ext cx="417766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96F3"/>
              </a:buClr>
              <a:buSzPts val="1350"/>
              <a:buFont typeface="Arial"/>
              <a:buNone/>
            </a:pPr>
            <a:r>
              <a:rPr b="1" lang="es-GT" sz="1350">
                <a:solidFill>
                  <a:srgbClr val="2196F3"/>
                </a:solidFill>
                <a:latin typeface="Arial"/>
                <a:ea typeface="Arial"/>
                <a:cs typeface="Arial"/>
                <a:sym typeface="Arial"/>
              </a:rPr>
              <a:t>Características del Trunk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304800" y="3448050"/>
            <a:ext cx="409575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noAutofit/>
          </a:bodyPr>
          <a:lstStyle/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s-GT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Transporta múltiples VLANs simultáneamente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s-GT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Usa etiquetado 802.1Q (IEEE)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s-GT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Conecta switches entre sí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s-GT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Permite escalabilidad de la red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4552950" y="1714500"/>
            <a:ext cx="43719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3D5A"/>
              </a:buClr>
              <a:buSzPts val="1350"/>
              <a:buFont typeface="Arial"/>
              <a:buNone/>
            </a:pPr>
            <a:r>
              <a:rPr b="1" lang="es-GT" sz="1350">
                <a:solidFill>
                  <a:srgbClr val="1C3D5A"/>
                </a:solidFill>
                <a:latin typeface="Arial"/>
                <a:ea typeface="Arial"/>
                <a:cs typeface="Arial"/>
                <a:sym typeface="Arial"/>
              </a:rPr>
              <a:t>Configuración Trunk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2"/>
          <p:cNvSpPr/>
          <p:nvPr/>
        </p:nvSpPr>
        <p:spPr>
          <a:xfrm>
            <a:off x="4552950" y="2057400"/>
            <a:ext cx="4286250" cy="1371600"/>
          </a:xfrm>
          <a:prstGeom prst="roundRect">
            <a:avLst>
              <a:gd fmla="val 5556" name="adj"/>
            </a:avLst>
          </a:prstGeom>
          <a:solidFill>
            <a:srgbClr val="2632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2"/>
          <p:cNvSpPr/>
          <p:nvPr/>
        </p:nvSpPr>
        <p:spPr>
          <a:xfrm>
            <a:off x="4705350" y="2209800"/>
            <a:ext cx="406107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1500"/>
              <a:buFont typeface="Arial"/>
              <a:buNone/>
            </a:pPr>
            <a:r>
              <a:rPr lang="es-GT" sz="1500">
                <a:solidFill>
                  <a:srgbClr val="A5D6A7"/>
                </a:solidFill>
                <a:latin typeface="Arial"/>
                <a:ea typeface="Arial"/>
                <a:cs typeface="Arial"/>
                <a:sym typeface="Arial"/>
              </a:rPr>
              <a:t>Switch(config)# </a:t>
            </a:r>
            <a:r>
              <a:rPr lang="es-GT" sz="1500">
                <a:solidFill>
                  <a:srgbClr val="FFD54F"/>
                </a:solidFill>
                <a:latin typeface="Arial"/>
                <a:ea typeface="Arial"/>
                <a:cs typeface="Arial"/>
                <a:sym typeface="Arial"/>
              </a:rPr>
              <a:t>interface gi0/1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2"/>
          <p:cNvSpPr/>
          <p:nvPr/>
        </p:nvSpPr>
        <p:spPr>
          <a:xfrm>
            <a:off x="4705350" y="2476500"/>
            <a:ext cx="406107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1500"/>
              <a:buFont typeface="Arial"/>
              <a:buNone/>
            </a:pPr>
            <a:r>
              <a:rPr lang="es-GT" sz="1500">
                <a:solidFill>
                  <a:srgbClr val="A5D6A7"/>
                </a:solidFill>
                <a:latin typeface="Arial"/>
                <a:ea typeface="Arial"/>
                <a:cs typeface="Arial"/>
                <a:sym typeface="Arial"/>
              </a:rPr>
              <a:t>Switch(config-if)# </a:t>
            </a:r>
            <a:r>
              <a:rPr lang="es-GT" sz="1500">
                <a:solidFill>
                  <a:srgbClr val="FFD54F"/>
                </a:solidFill>
                <a:latin typeface="Arial"/>
                <a:ea typeface="Arial"/>
                <a:cs typeface="Arial"/>
                <a:sym typeface="Arial"/>
              </a:rPr>
              <a:t>switchport mode trunk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2"/>
          <p:cNvSpPr/>
          <p:nvPr/>
        </p:nvSpPr>
        <p:spPr>
          <a:xfrm>
            <a:off x="4705350" y="2743200"/>
            <a:ext cx="4061079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1500"/>
              <a:buFont typeface="Arial"/>
              <a:buNone/>
            </a:pPr>
            <a:r>
              <a:rPr lang="es-GT" sz="1500">
                <a:solidFill>
                  <a:srgbClr val="A5D6A7"/>
                </a:solidFill>
                <a:latin typeface="Arial"/>
                <a:ea typeface="Arial"/>
                <a:cs typeface="Arial"/>
                <a:sym typeface="Arial"/>
              </a:rPr>
              <a:t>Switch(config-if)# </a:t>
            </a:r>
            <a:r>
              <a:rPr lang="es-GT" sz="1500">
                <a:solidFill>
                  <a:srgbClr val="FFD54F"/>
                </a:solidFill>
                <a:latin typeface="Arial"/>
                <a:ea typeface="Arial"/>
                <a:cs typeface="Arial"/>
                <a:sym typeface="Arial"/>
              </a:rPr>
              <a:t>switchport trunk allowed vlan 10,20,30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2"/>
          <p:cNvSpPr/>
          <p:nvPr/>
        </p:nvSpPr>
        <p:spPr>
          <a:xfrm>
            <a:off x="4552950" y="3581400"/>
            <a:ext cx="4286250" cy="685800"/>
          </a:xfrm>
          <a:prstGeom prst="roundRect">
            <a:avLst>
              <a:gd fmla="val 11111" name="adj"/>
            </a:avLst>
          </a:prstGeom>
          <a:solidFill>
            <a:srgbClr val="00BC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2"/>
          <p:cNvSpPr/>
          <p:nvPr/>
        </p:nvSpPr>
        <p:spPr>
          <a:xfrm>
            <a:off x="4705350" y="3733800"/>
            <a:ext cx="406107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s-GT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Importante: Configurar ambos extremos del enlace como trunk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3"/>
          <p:cNvSpPr/>
          <p:nvPr/>
        </p:nvSpPr>
        <p:spPr>
          <a:xfrm>
            <a:off x="0" y="0"/>
            <a:ext cx="9144000" cy="6477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3"/>
          <p:cNvSpPr/>
          <p:nvPr/>
        </p:nvSpPr>
        <p:spPr>
          <a:xfrm>
            <a:off x="304800" y="152400"/>
            <a:ext cx="43622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lang="es-GT" sz="2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PVID - Port VLAN ID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3"/>
          <p:cNvSpPr/>
          <p:nvPr/>
        </p:nvSpPr>
        <p:spPr>
          <a:xfrm>
            <a:off x="228600" y="1764060"/>
            <a:ext cx="8686800" cy="12573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19050">
              <a:srgbClr val="000000">
                <a:alpha val="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3"/>
          <p:cNvSpPr/>
          <p:nvPr/>
        </p:nvSpPr>
        <p:spPr>
          <a:xfrm>
            <a:off x="457200" y="2030760"/>
            <a:ext cx="839419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3D5A"/>
              </a:buClr>
              <a:buSzPts val="1350"/>
              <a:buFont typeface="Arial"/>
              <a:buNone/>
            </a:pPr>
            <a:r>
              <a:rPr b="1" lang="es-GT" sz="1350">
                <a:solidFill>
                  <a:srgbClr val="1C3D5A"/>
                </a:solidFill>
                <a:latin typeface="Arial"/>
                <a:ea typeface="Arial"/>
                <a:cs typeface="Arial"/>
                <a:sym typeface="Arial"/>
              </a:rPr>
              <a:t>Concepto de PVID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3"/>
          <p:cNvSpPr/>
          <p:nvPr/>
        </p:nvSpPr>
        <p:spPr>
          <a:xfrm>
            <a:off x="457200" y="2373660"/>
            <a:ext cx="839419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Arial"/>
              <a:buNone/>
            </a:pPr>
            <a:r>
              <a:rPr lang="es-GT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El PVID es el identificador de VLAN asignado por defecto a un puerto cuando recibe tráfico sin etiqueta. En Cisco, esto se configura mediante el comando switchport access vlan.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3"/>
          <p:cNvSpPr/>
          <p:nvPr/>
        </p:nvSpPr>
        <p:spPr>
          <a:xfrm>
            <a:off x="228600" y="3173760"/>
            <a:ext cx="4267200" cy="1005780"/>
          </a:xfrm>
          <a:prstGeom prst="roundRect">
            <a:avLst>
              <a:gd fmla="val 7576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8" name="Google Shape;248;p13"/>
          <p:cNvCxnSpPr/>
          <p:nvPr/>
        </p:nvCxnSpPr>
        <p:spPr>
          <a:xfrm>
            <a:off x="247650" y="3173760"/>
            <a:ext cx="0" cy="1005780"/>
          </a:xfrm>
          <a:prstGeom prst="straightConnector1">
            <a:avLst/>
          </a:prstGeom>
          <a:noFill/>
          <a:ln cap="flat" cmpd="sng" w="38100">
            <a:solidFill>
              <a:srgbClr val="2196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9" name="Google Shape;249;p13"/>
          <p:cNvSpPr/>
          <p:nvPr/>
        </p:nvSpPr>
        <p:spPr>
          <a:xfrm>
            <a:off x="419100" y="3364260"/>
            <a:ext cx="400278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96F3"/>
              </a:buClr>
              <a:buSzPts val="1200"/>
              <a:buFont typeface="Arial"/>
              <a:buNone/>
            </a:pPr>
            <a:r>
              <a:rPr b="1" lang="es-GT" sz="1200">
                <a:solidFill>
                  <a:srgbClr val="2196F3"/>
                </a:solidFill>
                <a:latin typeface="Arial"/>
                <a:ea typeface="Arial"/>
                <a:cs typeface="Arial"/>
                <a:sym typeface="Arial"/>
              </a:rPr>
              <a:t>Puerto Access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3"/>
          <p:cNvSpPr/>
          <p:nvPr/>
        </p:nvSpPr>
        <p:spPr>
          <a:xfrm>
            <a:off x="419100" y="3638550"/>
            <a:ext cx="400278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lang="es-GT" sz="9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Tiene un PVID único. Todo el tráfico pertenece a esa VLAN.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3"/>
          <p:cNvSpPr/>
          <p:nvPr/>
        </p:nvSpPr>
        <p:spPr>
          <a:xfrm>
            <a:off x="419100" y="3836640"/>
            <a:ext cx="400278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C3D5A"/>
              </a:buClr>
              <a:buSzPts val="900"/>
              <a:buFont typeface="Courier New"/>
              <a:buNone/>
            </a:pPr>
            <a:r>
              <a:rPr lang="es-GT" sz="900">
                <a:solidFill>
                  <a:srgbClr val="1C3D5A"/>
                </a:solidFill>
                <a:latin typeface="Courier New"/>
                <a:ea typeface="Courier New"/>
                <a:cs typeface="Courier New"/>
                <a:sym typeface="Courier New"/>
              </a:rPr>
              <a:t>PVID = 10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3"/>
          <p:cNvSpPr/>
          <p:nvPr/>
        </p:nvSpPr>
        <p:spPr>
          <a:xfrm>
            <a:off x="4648200" y="3173760"/>
            <a:ext cx="4267200" cy="1005780"/>
          </a:xfrm>
          <a:prstGeom prst="roundRect">
            <a:avLst>
              <a:gd fmla="val 7576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3" name="Google Shape;253;p13"/>
          <p:cNvCxnSpPr/>
          <p:nvPr/>
        </p:nvCxnSpPr>
        <p:spPr>
          <a:xfrm>
            <a:off x="4667250" y="3173760"/>
            <a:ext cx="0" cy="1005780"/>
          </a:xfrm>
          <a:prstGeom prst="straightConnector1">
            <a:avLst/>
          </a:prstGeom>
          <a:noFill/>
          <a:ln cap="flat" cmpd="sng" w="38100">
            <a:solidFill>
              <a:srgbClr val="2196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4" name="Google Shape;254;p13"/>
          <p:cNvSpPr/>
          <p:nvPr/>
        </p:nvSpPr>
        <p:spPr>
          <a:xfrm>
            <a:off x="4838700" y="3364260"/>
            <a:ext cx="400278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96F3"/>
              </a:buClr>
              <a:buSzPts val="1200"/>
              <a:buFont typeface="Arial"/>
              <a:buNone/>
            </a:pPr>
            <a:r>
              <a:rPr b="1" lang="es-GT" sz="1200">
                <a:solidFill>
                  <a:srgbClr val="2196F3"/>
                </a:solidFill>
                <a:latin typeface="Arial"/>
                <a:ea typeface="Arial"/>
                <a:cs typeface="Arial"/>
                <a:sym typeface="Arial"/>
              </a:rPr>
              <a:t>Puerto Trunk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3"/>
          <p:cNvSpPr/>
          <p:nvPr/>
        </p:nvSpPr>
        <p:spPr>
          <a:xfrm>
            <a:off x="4838700" y="3638550"/>
            <a:ext cx="400278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lang="es-GT" sz="9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Tiene un PVID nativo. Transporta múltiples VLANs etiquetadas.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3"/>
          <p:cNvSpPr/>
          <p:nvPr/>
        </p:nvSpPr>
        <p:spPr>
          <a:xfrm>
            <a:off x="4838700" y="3836640"/>
            <a:ext cx="400278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C3D5A"/>
              </a:buClr>
              <a:buSzPts val="900"/>
              <a:buFont typeface="Courier New"/>
              <a:buNone/>
            </a:pPr>
            <a:r>
              <a:rPr lang="es-GT" sz="900">
                <a:solidFill>
                  <a:srgbClr val="1C3D5A"/>
                </a:solidFill>
                <a:latin typeface="Courier New"/>
                <a:ea typeface="Courier New"/>
                <a:cs typeface="Courier New"/>
                <a:sym typeface="Courier New"/>
              </a:rPr>
              <a:t>Native VLAN = 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4"/>
          <p:cNvSpPr/>
          <p:nvPr/>
        </p:nvSpPr>
        <p:spPr>
          <a:xfrm>
            <a:off x="0" y="0"/>
            <a:ext cx="9144000" cy="647700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4"/>
          <p:cNvSpPr/>
          <p:nvPr/>
        </p:nvSpPr>
        <p:spPr>
          <a:xfrm>
            <a:off x="304800" y="152400"/>
            <a:ext cx="675227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lang="es-GT" sz="2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VLANs Dinámicas y Administración Centralizada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4"/>
          <p:cNvSpPr/>
          <p:nvPr/>
        </p:nvSpPr>
        <p:spPr>
          <a:xfrm>
            <a:off x="228600" y="1676400"/>
            <a:ext cx="4267200" cy="2590800"/>
          </a:xfrm>
          <a:prstGeom prst="roundRect">
            <a:avLst>
              <a:gd fmla="val 294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5" name="Google Shape;265;p14"/>
          <p:cNvCxnSpPr/>
          <p:nvPr/>
        </p:nvCxnSpPr>
        <p:spPr>
          <a:xfrm>
            <a:off x="228600" y="1695450"/>
            <a:ext cx="4267200" cy="0"/>
          </a:xfrm>
          <a:prstGeom prst="straightConnector1">
            <a:avLst/>
          </a:prstGeom>
          <a:noFill/>
          <a:ln cap="flat" cmpd="sng" w="38100">
            <a:solidFill>
              <a:srgbClr val="2196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6" name="Google Shape;266;p14"/>
          <p:cNvSpPr/>
          <p:nvPr/>
        </p:nvSpPr>
        <p:spPr>
          <a:xfrm>
            <a:off x="457200" y="1981200"/>
            <a:ext cx="3886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3D5A"/>
              </a:buClr>
              <a:buSzPts val="1500"/>
              <a:buFont typeface="Arial"/>
              <a:buNone/>
            </a:pPr>
            <a:r>
              <a:rPr b="1" lang="es-GT" sz="1500">
                <a:solidFill>
                  <a:srgbClr val="1C3D5A"/>
                </a:solidFill>
                <a:latin typeface="Arial"/>
                <a:ea typeface="Arial"/>
                <a:cs typeface="Arial"/>
                <a:sym typeface="Arial"/>
              </a:rPr>
              <a:t>VLANs Estáticas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4"/>
          <p:cNvSpPr/>
          <p:nvPr/>
        </p:nvSpPr>
        <p:spPr>
          <a:xfrm>
            <a:off x="457200" y="2400300"/>
            <a:ext cx="381000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noAutofit/>
          </a:bodyPr>
          <a:lstStyle/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s-GT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Asignación manual puerto por puerto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s-GT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Configuración en cada switch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s-GT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Mayor control administrativo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s-GT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Más trabajo de configuración inicial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4"/>
          <p:cNvSpPr/>
          <p:nvPr/>
        </p:nvSpPr>
        <p:spPr>
          <a:xfrm>
            <a:off x="4648200" y="1676400"/>
            <a:ext cx="4267200" cy="2590800"/>
          </a:xfrm>
          <a:prstGeom prst="roundRect">
            <a:avLst>
              <a:gd fmla="val 294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9" name="Google Shape;269;p14"/>
          <p:cNvCxnSpPr/>
          <p:nvPr/>
        </p:nvCxnSpPr>
        <p:spPr>
          <a:xfrm>
            <a:off x="4648200" y="1695450"/>
            <a:ext cx="4267200" cy="0"/>
          </a:xfrm>
          <a:prstGeom prst="straightConnector1">
            <a:avLst/>
          </a:prstGeom>
          <a:noFill/>
          <a:ln cap="flat" cmpd="sng" w="38100">
            <a:solidFill>
              <a:srgbClr val="2196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0" name="Google Shape;270;p14"/>
          <p:cNvSpPr/>
          <p:nvPr/>
        </p:nvSpPr>
        <p:spPr>
          <a:xfrm>
            <a:off x="4876800" y="1981200"/>
            <a:ext cx="3886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3D5A"/>
              </a:buClr>
              <a:buSzPts val="1500"/>
              <a:buFont typeface="Arial"/>
              <a:buNone/>
            </a:pPr>
            <a:r>
              <a:rPr b="1" lang="es-GT" sz="1500">
                <a:solidFill>
                  <a:srgbClr val="1C3D5A"/>
                </a:solidFill>
                <a:latin typeface="Arial"/>
                <a:ea typeface="Arial"/>
                <a:cs typeface="Arial"/>
                <a:sym typeface="Arial"/>
              </a:rPr>
              <a:t>VLANs Dinámicas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4"/>
          <p:cNvSpPr/>
          <p:nvPr/>
        </p:nvSpPr>
        <p:spPr>
          <a:xfrm>
            <a:off x="4876800" y="2400300"/>
            <a:ext cx="381000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noAutofit/>
          </a:bodyPr>
          <a:lstStyle/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s-GT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Asignación automática por dirección MAC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s-GT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Usa servidor VMPS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s-GT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Mayor flexibilidad para usuarios móviles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s-GT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Requiere base de datos centralizada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asterized-gradient-8d09b752.png" id="277" name="Google Shape;27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5"/>
          <p:cNvSpPr/>
          <p:nvPr/>
        </p:nvSpPr>
        <p:spPr>
          <a:xfrm>
            <a:off x="304800" y="152400"/>
            <a:ext cx="570299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lang="es-GT" sz="2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Problemas Comunes y Mejores Prácticas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5"/>
          <p:cNvSpPr/>
          <p:nvPr/>
        </p:nvSpPr>
        <p:spPr>
          <a:xfrm>
            <a:off x="228600" y="1581150"/>
            <a:ext cx="435254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1350"/>
              <a:buFont typeface="Arial"/>
              <a:buNone/>
            </a:pPr>
            <a:r>
              <a:rPr b="1" lang="es-GT" sz="1350">
                <a:solidFill>
                  <a:srgbClr val="E53935"/>
                </a:solidFill>
                <a:latin typeface="Arial"/>
                <a:ea typeface="Arial"/>
                <a:cs typeface="Arial"/>
                <a:sym typeface="Arial"/>
              </a:rPr>
              <a:t>Problemas Comunes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5"/>
          <p:cNvSpPr/>
          <p:nvPr/>
        </p:nvSpPr>
        <p:spPr>
          <a:xfrm>
            <a:off x="228600" y="1962150"/>
            <a:ext cx="4267200" cy="762000"/>
          </a:xfrm>
          <a:prstGeom prst="roundRect">
            <a:avLst>
              <a:gd fmla="val 10000" name="adj"/>
            </a:avLst>
          </a:prstGeom>
          <a:solidFill>
            <a:srgbClr val="FF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1" name="Google Shape;281;p15"/>
          <p:cNvCxnSpPr/>
          <p:nvPr/>
        </p:nvCxnSpPr>
        <p:spPr>
          <a:xfrm>
            <a:off x="247650" y="1962150"/>
            <a:ext cx="0" cy="762000"/>
          </a:xfrm>
          <a:prstGeom prst="straightConnector1">
            <a:avLst/>
          </a:prstGeom>
          <a:noFill/>
          <a:ln cap="flat" cmpd="sng" w="38100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2" name="Google Shape;282;p15"/>
          <p:cNvSpPr/>
          <p:nvPr/>
        </p:nvSpPr>
        <p:spPr>
          <a:xfrm>
            <a:off x="419100" y="2152650"/>
            <a:ext cx="400278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Arial"/>
              <a:buNone/>
            </a:pPr>
            <a:r>
              <a:rPr b="1" lang="es-GT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Native VLAN Mismatch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5"/>
          <p:cNvSpPr/>
          <p:nvPr/>
        </p:nvSpPr>
        <p:spPr>
          <a:xfrm>
            <a:off x="419100" y="2381250"/>
            <a:ext cx="400278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lang="es-GT" sz="9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VLAN nativa diferente en ambos extremos del trunk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5"/>
          <p:cNvSpPr/>
          <p:nvPr/>
        </p:nvSpPr>
        <p:spPr>
          <a:xfrm>
            <a:off x="228600" y="2800350"/>
            <a:ext cx="4267200" cy="762000"/>
          </a:xfrm>
          <a:prstGeom prst="roundRect">
            <a:avLst>
              <a:gd fmla="val 10000" name="adj"/>
            </a:avLst>
          </a:prstGeom>
          <a:solidFill>
            <a:srgbClr val="FF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5" name="Google Shape;285;p15"/>
          <p:cNvCxnSpPr/>
          <p:nvPr/>
        </p:nvCxnSpPr>
        <p:spPr>
          <a:xfrm>
            <a:off x="247650" y="2800350"/>
            <a:ext cx="0" cy="762000"/>
          </a:xfrm>
          <a:prstGeom prst="straightConnector1">
            <a:avLst/>
          </a:prstGeom>
          <a:noFill/>
          <a:ln cap="flat" cmpd="sng" w="38100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6" name="Google Shape;286;p15"/>
          <p:cNvSpPr/>
          <p:nvPr/>
        </p:nvSpPr>
        <p:spPr>
          <a:xfrm>
            <a:off x="419100" y="2990850"/>
            <a:ext cx="400278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Arial"/>
              <a:buNone/>
            </a:pPr>
            <a:r>
              <a:rPr b="1" lang="es-GT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Puerto en VLAN Inexistente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5"/>
          <p:cNvSpPr/>
          <p:nvPr/>
        </p:nvSpPr>
        <p:spPr>
          <a:xfrm>
            <a:off x="419100" y="3219450"/>
            <a:ext cx="400278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lang="es-GT" sz="9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Asignar puerto a VLAN no creada causa pérdida de conectividad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5"/>
          <p:cNvSpPr/>
          <p:nvPr/>
        </p:nvSpPr>
        <p:spPr>
          <a:xfrm>
            <a:off x="228600" y="3638550"/>
            <a:ext cx="4267200" cy="762000"/>
          </a:xfrm>
          <a:prstGeom prst="roundRect">
            <a:avLst>
              <a:gd fmla="val 10000" name="adj"/>
            </a:avLst>
          </a:prstGeom>
          <a:solidFill>
            <a:srgbClr val="FF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9" name="Google Shape;289;p15"/>
          <p:cNvCxnSpPr/>
          <p:nvPr/>
        </p:nvCxnSpPr>
        <p:spPr>
          <a:xfrm>
            <a:off x="247650" y="3638550"/>
            <a:ext cx="0" cy="762000"/>
          </a:xfrm>
          <a:prstGeom prst="straightConnector1">
            <a:avLst/>
          </a:prstGeom>
          <a:noFill/>
          <a:ln cap="flat" cmpd="sng" w="38100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0" name="Google Shape;290;p15"/>
          <p:cNvSpPr/>
          <p:nvPr/>
        </p:nvSpPr>
        <p:spPr>
          <a:xfrm>
            <a:off x="419100" y="3829050"/>
            <a:ext cx="400278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Arial"/>
              <a:buNone/>
            </a:pPr>
            <a:r>
              <a:rPr b="1" lang="es-GT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Trunk sin VLANs Permitidas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5"/>
          <p:cNvSpPr/>
          <p:nvPr/>
        </p:nvSpPr>
        <p:spPr>
          <a:xfrm>
            <a:off x="419100" y="4057650"/>
            <a:ext cx="400278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lang="es-GT" sz="9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Configurar trunk pero olvidar especificar VLANs permitidas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5"/>
          <p:cNvSpPr/>
          <p:nvPr/>
        </p:nvSpPr>
        <p:spPr>
          <a:xfrm>
            <a:off x="4648200" y="1162050"/>
            <a:ext cx="435254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43A047"/>
              </a:buClr>
              <a:buSzPts val="1350"/>
              <a:buFont typeface="Arial"/>
              <a:buNone/>
            </a:pPr>
            <a:r>
              <a:rPr b="1" lang="es-GT" sz="1350">
                <a:solidFill>
                  <a:srgbClr val="43A047"/>
                </a:solidFill>
                <a:latin typeface="Arial"/>
                <a:ea typeface="Arial"/>
                <a:cs typeface="Arial"/>
                <a:sym typeface="Arial"/>
              </a:rPr>
              <a:t>Mejores Prácticas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5"/>
          <p:cNvSpPr/>
          <p:nvPr/>
        </p:nvSpPr>
        <p:spPr>
          <a:xfrm>
            <a:off x="4648200" y="1543050"/>
            <a:ext cx="4267200" cy="762000"/>
          </a:xfrm>
          <a:prstGeom prst="roundRect">
            <a:avLst>
              <a:gd fmla="val 10000" name="adj"/>
            </a:avLst>
          </a:prstGeom>
          <a:solidFill>
            <a:srgbClr val="E8F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4" name="Google Shape;294;p15"/>
          <p:cNvCxnSpPr/>
          <p:nvPr/>
        </p:nvCxnSpPr>
        <p:spPr>
          <a:xfrm>
            <a:off x="4667250" y="1543050"/>
            <a:ext cx="0" cy="762000"/>
          </a:xfrm>
          <a:prstGeom prst="straightConnector1">
            <a:avLst/>
          </a:prstGeom>
          <a:noFill/>
          <a:ln cap="flat" cmpd="sng" w="38100">
            <a:solidFill>
              <a:srgbClr val="43A04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5" name="Google Shape;295;p15"/>
          <p:cNvSpPr/>
          <p:nvPr/>
        </p:nvSpPr>
        <p:spPr>
          <a:xfrm>
            <a:off x="4838700" y="1733550"/>
            <a:ext cx="400278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Arial"/>
              <a:buNone/>
            </a:pPr>
            <a:r>
              <a:rPr b="1" lang="es-GT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Cambiar VLAN 1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5"/>
          <p:cNvSpPr/>
          <p:nvPr/>
        </p:nvSpPr>
        <p:spPr>
          <a:xfrm>
            <a:off x="4838700" y="1962150"/>
            <a:ext cx="400278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lang="es-GT" sz="9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No usar VLAN 1 para datos por seguridad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5"/>
          <p:cNvSpPr/>
          <p:nvPr/>
        </p:nvSpPr>
        <p:spPr>
          <a:xfrm>
            <a:off x="4648200" y="2381250"/>
            <a:ext cx="4267200" cy="762000"/>
          </a:xfrm>
          <a:prstGeom prst="roundRect">
            <a:avLst>
              <a:gd fmla="val 10000" name="adj"/>
            </a:avLst>
          </a:prstGeom>
          <a:solidFill>
            <a:srgbClr val="E8F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8" name="Google Shape;298;p15"/>
          <p:cNvCxnSpPr/>
          <p:nvPr/>
        </p:nvCxnSpPr>
        <p:spPr>
          <a:xfrm>
            <a:off x="4667250" y="2381250"/>
            <a:ext cx="0" cy="762000"/>
          </a:xfrm>
          <a:prstGeom prst="straightConnector1">
            <a:avLst/>
          </a:prstGeom>
          <a:noFill/>
          <a:ln cap="flat" cmpd="sng" w="38100">
            <a:solidFill>
              <a:srgbClr val="43A04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9" name="Google Shape;299;p15"/>
          <p:cNvSpPr/>
          <p:nvPr/>
        </p:nvSpPr>
        <p:spPr>
          <a:xfrm>
            <a:off x="4838700" y="2571750"/>
            <a:ext cx="400278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Arial"/>
              <a:buNone/>
            </a:pPr>
            <a:r>
              <a:rPr b="1" lang="es-GT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Documentar VLANs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5"/>
          <p:cNvSpPr/>
          <p:nvPr/>
        </p:nvSpPr>
        <p:spPr>
          <a:xfrm>
            <a:off x="4838700" y="2800350"/>
            <a:ext cx="400278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lang="es-GT" sz="9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Mantener registro de VLANs y su propósito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5"/>
          <p:cNvSpPr/>
          <p:nvPr/>
        </p:nvSpPr>
        <p:spPr>
          <a:xfrm>
            <a:off x="4648200" y="3219450"/>
            <a:ext cx="4267200" cy="762000"/>
          </a:xfrm>
          <a:prstGeom prst="roundRect">
            <a:avLst>
              <a:gd fmla="val 10000" name="adj"/>
            </a:avLst>
          </a:prstGeom>
          <a:solidFill>
            <a:srgbClr val="E8F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2" name="Google Shape;302;p15"/>
          <p:cNvCxnSpPr/>
          <p:nvPr/>
        </p:nvCxnSpPr>
        <p:spPr>
          <a:xfrm>
            <a:off x="4667250" y="3219450"/>
            <a:ext cx="0" cy="762000"/>
          </a:xfrm>
          <a:prstGeom prst="straightConnector1">
            <a:avLst/>
          </a:prstGeom>
          <a:noFill/>
          <a:ln cap="flat" cmpd="sng" w="38100">
            <a:solidFill>
              <a:srgbClr val="43A04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3" name="Google Shape;303;p15"/>
          <p:cNvSpPr/>
          <p:nvPr/>
        </p:nvSpPr>
        <p:spPr>
          <a:xfrm>
            <a:off x="4838700" y="3409950"/>
            <a:ext cx="400278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Arial"/>
              <a:buNone/>
            </a:pPr>
            <a:r>
              <a:rPr b="1" lang="es-GT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Verificar Configuración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5"/>
          <p:cNvSpPr/>
          <p:nvPr/>
        </p:nvSpPr>
        <p:spPr>
          <a:xfrm>
            <a:off x="4838700" y="3638550"/>
            <a:ext cx="400278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lang="es-GT" sz="9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Usar show vlan y show interfaces trunk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5"/>
          <p:cNvSpPr/>
          <p:nvPr/>
        </p:nvSpPr>
        <p:spPr>
          <a:xfrm>
            <a:off x="4648200" y="4057650"/>
            <a:ext cx="4267200" cy="762000"/>
          </a:xfrm>
          <a:prstGeom prst="roundRect">
            <a:avLst>
              <a:gd fmla="val 10000" name="adj"/>
            </a:avLst>
          </a:prstGeom>
          <a:solidFill>
            <a:srgbClr val="E8F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6" name="Google Shape;306;p15"/>
          <p:cNvCxnSpPr/>
          <p:nvPr/>
        </p:nvCxnSpPr>
        <p:spPr>
          <a:xfrm>
            <a:off x="4667250" y="4057650"/>
            <a:ext cx="0" cy="762000"/>
          </a:xfrm>
          <a:prstGeom prst="straightConnector1">
            <a:avLst/>
          </a:prstGeom>
          <a:noFill/>
          <a:ln cap="flat" cmpd="sng" w="38100">
            <a:solidFill>
              <a:srgbClr val="43A04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7" name="Google Shape;307;p15"/>
          <p:cNvSpPr/>
          <p:nvPr/>
        </p:nvSpPr>
        <p:spPr>
          <a:xfrm>
            <a:off x="4838700" y="4248150"/>
            <a:ext cx="400278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Arial"/>
              <a:buNone/>
            </a:pPr>
            <a:r>
              <a:rPr b="1" lang="es-GT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Planificar Esquema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5"/>
          <p:cNvSpPr/>
          <p:nvPr/>
        </p:nvSpPr>
        <p:spPr>
          <a:xfrm>
            <a:off x="4838700" y="4476750"/>
            <a:ext cx="400278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lang="es-GT" sz="9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Diseñar numeración antes de implementar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6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6"/>
          <p:cNvSpPr/>
          <p:nvPr/>
        </p:nvSpPr>
        <p:spPr>
          <a:xfrm>
            <a:off x="304800" y="228600"/>
            <a:ext cx="436226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lang="es-GT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Conceptos Clave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6"/>
          <p:cNvSpPr/>
          <p:nvPr/>
        </p:nvSpPr>
        <p:spPr>
          <a:xfrm>
            <a:off x="0" y="990600"/>
            <a:ext cx="9144000" cy="41529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6"/>
          <p:cNvSpPr/>
          <p:nvPr/>
        </p:nvSpPr>
        <p:spPr>
          <a:xfrm>
            <a:off x="228600" y="1325910"/>
            <a:ext cx="4267200" cy="960090"/>
          </a:xfrm>
          <a:prstGeom prst="roundRect">
            <a:avLst>
              <a:gd fmla="val 7937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19050">
              <a:srgbClr val="000000">
                <a:alpha val="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8" name="Google Shape;318;p16"/>
          <p:cNvCxnSpPr/>
          <p:nvPr/>
        </p:nvCxnSpPr>
        <p:spPr>
          <a:xfrm>
            <a:off x="252413" y="1325910"/>
            <a:ext cx="0" cy="960090"/>
          </a:xfrm>
          <a:prstGeom prst="straightConnector1">
            <a:avLst/>
          </a:prstGeom>
          <a:noFill/>
          <a:ln cap="flat" cmpd="sng" w="47625">
            <a:solidFill>
              <a:srgbClr val="2196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9" name="Google Shape;319;p16"/>
          <p:cNvSpPr/>
          <p:nvPr/>
        </p:nvSpPr>
        <p:spPr>
          <a:xfrm>
            <a:off x="504825" y="1592610"/>
            <a:ext cx="383762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3D5A"/>
              </a:buClr>
              <a:buSzPts val="1200"/>
              <a:buFont typeface="Arial"/>
              <a:buNone/>
            </a:pPr>
            <a:r>
              <a:rPr b="1" lang="es-GT" sz="1200">
                <a:solidFill>
                  <a:srgbClr val="1C3D5A"/>
                </a:solidFill>
                <a:latin typeface="Arial"/>
                <a:ea typeface="Arial"/>
                <a:cs typeface="Arial"/>
                <a:sym typeface="Arial"/>
              </a:rPr>
              <a:t>Tipos de Redes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6"/>
          <p:cNvSpPr/>
          <p:nvPr/>
        </p:nvSpPr>
        <p:spPr>
          <a:xfrm>
            <a:off x="504825" y="1866900"/>
            <a:ext cx="383762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lang="es-GT" sz="9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LAN, MAN y WAN se diferencian por alcance y velocidad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6"/>
          <p:cNvSpPr/>
          <p:nvPr/>
        </p:nvSpPr>
        <p:spPr>
          <a:xfrm>
            <a:off x="4648200" y="1325910"/>
            <a:ext cx="4267200" cy="960090"/>
          </a:xfrm>
          <a:prstGeom prst="roundRect">
            <a:avLst>
              <a:gd fmla="val 7937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19050">
              <a:srgbClr val="000000">
                <a:alpha val="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2" name="Google Shape;322;p16"/>
          <p:cNvCxnSpPr/>
          <p:nvPr/>
        </p:nvCxnSpPr>
        <p:spPr>
          <a:xfrm>
            <a:off x="4672013" y="1325910"/>
            <a:ext cx="0" cy="960090"/>
          </a:xfrm>
          <a:prstGeom prst="straightConnector1">
            <a:avLst/>
          </a:prstGeom>
          <a:noFill/>
          <a:ln cap="flat" cmpd="sng" w="47625">
            <a:solidFill>
              <a:srgbClr val="2196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3" name="Google Shape;323;p16"/>
          <p:cNvSpPr/>
          <p:nvPr/>
        </p:nvSpPr>
        <p:spPr>
          <a:xfrm>
            <a:off x="4924425" y="1592610"/>
            <a:ext cx="383762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3D5A"/>
              </a:buClr>
              <a:buSzPts val="1200"/>
              <a:buFont typeface="Arial"/>
              <a:buNone/>
            </a:pPr>
            <a:r>
              <a:rPr b="1" lang="es-GT" sz="1200">
                <a:solidFill>
                  <a:srgbClr val="1C3D5A"/>
                </a:solidFill>
                <a:latin typeface="Arial"/>
                <a:ea typeface="Arial"/>
                <a:cs typeface="Arial"/>
                <a:sym typeface="Arial"/>
              </a:rPr>
              <a:t>Segmentación Virtual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6"/>
          <p:cNvSpPr/>
          <p:nvPr/>
        </p:nvSpPr>
        <p:spPr>
          <a:xfrm>
            <a:off x="4924425" y="1866900"/>
            <a:ext cx="383762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lang="es-GT" sz="9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VLANs segmentan una red física en redes lógicas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6"/>
          <p:cNvSpPr/>
          <p:nvPr/>
        </p:nvSpPr>
        <p:spPr>
          <a:xfrm>
            <a:off x="228600" y="2438400"/>
            <a:ext cx="4267200" cy="960090"/>
          </a:xfrm>
          <a:prstGeom prst="roundRect">
            <a:avLst>
              <a:gd fmla="val 7937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19050">
              <a:srgbClr val="000000">
                <a:alpha val="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6" name="Google Shape;326;p16"/>
          <p:cNvCxnSpPr/>
          <p:nvPr/>
        </p:nvCxnSpPr>
        <p:spPr>
          <a:xfrm>
            <a:off x="252413" y="2438400"/>
            <a:ext cx="0" cy="960090"/>
          </a:xfrm>
          <a:prstGeom prst="straightConnector1">
            <a:avLst/>
          </a:prstGeom>
          <a:noFill/>
          <a:ln cap="flat" cmpd="sng" w="47625">
            <a:solidFill>
              <a:srgbClr val="2196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7" name="Google Shape;327;p16"/>
          <p:cNvSpPr/>
          <p:nvPr/>
        </p:nvSpPr>
        <p:spPr>
          <a:xfrm>
            <a:off x="504825" y="2705100"/>
            <a:ext cx="383762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3D5A"/>
              </a:buClr>
              <a:buSzPts val="1200"/>
              <a:buFont typeface="Arial"/>
              <a:buNone/>
            </a:pPr>
            <a:r>
              <a:rPr b="1" lang="es-GT" sz="1200">
                <a:solidFill>
                  <a:srgbClr val="1C3D5A"/>
                </a:solidFill>
                <a:latin typeface="Arial"/>
                <a:ea typeface="Arial"/>
                <a:cs typeface="Arial"/>
                <a:sym typeface="Arial"/>
              </a:rPr>
              <a:t>Modos de Puerto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6"/>
          <p:cNvSpPr/>
          <p:nvPr/>
        </p:nvSpPr>
        <p:spPr>
          <a:xfrm>
            <a:off x="504825" y="2979390"/>
            <a:ext cx="383762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lang="es-GT" sz="9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Access para dispositivos, Trunk entre switches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6"/>
          <p:cNvSpPr/>
          <p:nvPr/>
        </p:nvSpPr>
        <p:spPr>
          <a:xfrm>
            <a:off x="4648200" y="2438400"/>
            <a:ext cx="4267200" cy="960090"/>
          </a:xfrm>
          <a:prstGeom prst="roundRect">
            <a:avLst>
              <a:gd fmla="val 7937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19050">
              <a:srgbClr val="000000">
                <a:alpha val="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0" name="Google Shape;330;p16"/>
          <p:cNvCxnSpPr/>
          <p:nvPr/>
        </p:nvCxnSpPr>
        <p:spPr>
          <a:xfrm>
            <a:off x="4672013" y="2438400"/>
            <a:ext cx="0" cy="960090"/>
          </a:xfrm>
          <a:prstGeom prst="straightConnector1">
            <a:avLst/>
          </a:prstGeom>
          <a:noFill/>
          <a:ln cap="flat" cmpd="sng" w="47625">
            <a:solidFill>
              <a:srgbClr val="2196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1" name="Google Shape;331;p16"/>
          <p:cNvSpPr/>
          <p:nvPr/>
        </p:nvSpPr>
        <p:spPr>
          <a:xfrm>
            <a:off x="4924425" y="2705100"/>
            <a:ext cx="383762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3D5A"/>
              </a:buClr>
              <a:buSzPts val="1200"/>
              <a:buFont typeface="Arial"/>
              <a:buNone/>
            </a:pPr>
            <a:r>
              <a:rPr b="1" lang="es-GT" sz="1200">
                <a:solidFill>
                  <a:srgbClr val="1C3D5A"/>
                </a:solidFill>
                <a:latin typeface="Arial"/>
                <a:ea typeface="Arial"/>
                <a:cs typeface="Arial"/>
                <a:sym typeface="Arial"/>
              </a:rPr>
              <a:t>Beneficios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6"/>
          <p:cNvSpPr/>
          <p:nvPr/>
        </p:nvSpPr>
        <p:spPr>
          <a:xfrm>
            <a:off x="4924425" y="2979390"/>
            <a:ext cx="383762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lang="es-GT" sz="9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Mayor seguridad, rendimiento y flexibilidad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gradient-cd2d308e.png" id="333" name="Google Shape;33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3550890"/>
            <a:ext cx="8686800" cy="12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16"/>
          <p:cNvSpPr/>
          <p:nvPr/>
        </p:nvSpPr>
        <p:spPr>
          <a:xfrm>
            <a:off x="457200" y="3817590"/>
            <a:ext cx="839419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lang="es-GT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Síntesis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6"/>
          <p:cNvSpPr/>
          <p:nvPr/>
        </p:nvSpPr>
        <p:spPr>
          <a:xfrm>
            <a:off x="457200" y="4160490"/>
            <a:ext cx="839419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s-GT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Las VLANs son fundamentales para diseñar redes escalables y seguras. Su correcta implementación requiere comprender los tipos de redes, dominar comandos Cisco IOS y seguir las mejores prácticas.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7"/>
          <p:cNvSpPr/>
          <p:nvPr/>
        </p:nvSpPr>
        <p:spPr>
          <a:xfrm>
            <a:off x="3308301" y="173439"/>
            <a:ext cx="256534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s-GT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PRECISIÓN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7"/>
          <p:cNvSpPr/>
          <p:nvPr/>
        </p:nvSpPr>
        <p:spPr>
          <a:xfrm>
            <a:off x="1574602" y="777329"/>
            <a:ext cx="5994648" cy="4366171"/>
          </a:xfrm>
          <a:prstGeom prst="roundRect">
            <a:avLst>
              <a:gd fmla="val 1745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000000">
                <a:alpha val="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7"/>
          <p:cNvSpPr/>
          <p:nvPr/>
        </p:nvSpPr>
        <p:spPr>
          <a:xfrm>
            <a:off x="1825551" y="1120229"/>
            <a:ext cx="549274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C3D5A"/>
              </a:buClr>
              <a:buSzPts val="1800"/>
              <a:buFont typeface="Arial"/>
              <a:buNone/>
            </a:pPr>
            <a:r>
              <a:rPr b="1" lang="es-GT" sz="1800">
                <a:solidFill>
                  <a:srgbClr val="1C3D5A"/>
                </a:solidFill>
                <a:latin typeface="Arial"/>
                <a:ea typeface="Arial"/>
                <a:cs typeface="Arial"/>
                <a:sym typeface="Arial"/>
              </a:rPr>
              <a:t>Valor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7"/>
          <p:cNvSpPr/>
          <p:nvPr/>
        </p:nvSpPr>
        <p:spPr>
          <a:xfrm>
            <a:off x="1825551" y="1577429"/>
            <a:ext cx="549274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None/>
            </a:pPr>
            <a:r>
              <a:rPr lang="es-GT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Detectar correctamente la palabra clave en un bloque de configuración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7"/>
          <p:cNvSpPr/>
          <p:nvPr/>
        </p:nvSpPr>
        <p:spPr>
          <a:xfrm>
            <a:off x="1879402" y="2148929"/>
            <a:ext cx="5385048" cy="845790"/>
          </a:xfrm>
          <a:prstGeom prst="roundRect">
            <a:avLst>
              <a:gd fmla="val 9009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6" name="Google Shape;346;p17"/>
          <p:cNvCxnSpPr/>
          <p:nvPr/>
        </p:nvCxnSpPr>
        <p:spPr>
          <a:xfrm>
            <a:off x="1898452" y="2148929"/>
            <a:ext cx="0" cy="845790"/>
          </a:xfrm>
          <a:prstGeom prst="straightConnector1">
            <a:avLst/>
          </a:prstGeom>
          <a:noFill/>
          <a:ln cap="flat" cmpd="sng" w="381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7" name="Google Shape;347;p17"/>
          <p:cNvSpPr/>
          <p:nvPr/>
        </p:nvSpPr>
        <p:spPr>
          <a:xfrm>
            <a:off x="2019480" y="2339429"/>
            <a:ext cx="514299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96F3"/>
              </a:buClr>
              <a:buSzPts val="1200"/>
              <a:buFont typeface="Arial"/>
              <a:buNone/>
            </a:pPr>
            <a:r>
              <a:rPr b="1" lang="es-GT" sz="1200">
                <a:solidFill>
                  <a:srgbClr val="2196F3"/>
                </a:solidFill>
                <a:latin typeface="Arial"/>
                <a:ea typeface="Arial"/>
                <a:cs typeface="Arial"/>
                <a:sym typeface="Arial"/>
              </a:rPr>
              <a:t>En la práctica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7"/>
          <p:cNvSpPr/>
          <p:nvPr/>
        </p:nvSpPr>
        <p:spPr>
          <a:xfrm>
            <a:off x="2019480" y="2613720"/>
            <a:ext cx="5142991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Arial"/>
              <a:buNone/>
            </a:pPr>
            <a:r>
              <a:rPr lang="es-GT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Identificar el comando exacto que crea una VLAN o asigna un puerto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7"/>
          <p:cNvSpPr/>
          <p:nvPr/>
        </p:nvSpPr>
        <p:spPr>
          <a:xfrm>
            <a:off x="1879402" y="3070920"/>
            <a:ext cx="5385048" cy="845790"/>
          </a:xfrm>
          <a:prstGeom prst="roundRect">
            <a:avLst>
              <a:gd fmla="val 9009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0" name="Google Shape;350;p17"/>
          <p:cNvCxnSpPr/>
          <p:nvPr/>
        </p:nvCxnSpPr>
        <p:spPr>
          <a:xfrm>
            <a:off x="1898452" y="3070920"/>
            <a:ext cx="0" cy="845790"/>
          </a:xfrm>
          <a:prstGeom prst="straightConnector1">
            <a:avLst/>
          </a:prstGeom>
          <a:noFill/>
          <a:ln cap="flat" cmpd="sng" w="381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1" name="Google Shape;351;p17"/>
          <p:cNvSpPr/>
          <p:nvPr/>
        </p:nvSpPr>
        <p:spPr>
          <a:xfrm>
            <a:off x="2019480" y="3261420"/>
            <a:ext cx="514299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96F3"/>
              </a:buClr>
              <a:buSzPts val="1200"/>
              <a:buFont typeface="Arial"/>
              <a:buNone/>
            </a:pPr>
            <a:r>
              <a:rPr b="1" lang="es-GT" sz="1200">
                <a:solidFill>
                  <a:srgbClr val="2196F3"/>
                </a:solidFill>
                <a:latin typeface="Arial"/>
                <a:ea typeface="Arial"/>
                <a:cs typeface="Arial"/>
                <a:sym typeface="Arial"/>
              </a:rPr>
              <a:t>En el trabajo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7"/>
          <p:cNvSpPr/>
          <p:nvPr/>
        </p:nvSpPr>
        <p:spPr>
          <a:xfrm>
            <a:off x="2019480" y="3535710"/>
            <a:ext cx="5142991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Arial"/>
              <a:buNone/>
            </a:pPr>
            <a:r>
              <a:rPr lang="es-GT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Localizar errores de configuración revisando archivos de respaldo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7"/>
          <p:cNvSpPr/>
          <p:nvPr/>
        </p:nvSpPr>
        <p:spPr>
          <a:xfrm>
            <a:off x="1879402" y="3992910"/>
            <a:ext cx="5385048" cy="845790"/>
          </a:xfrm>
          <a:prstGeom prst="roundRect">
            <a:avLst>
              <a:gd fmla="val 9009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4" name="Google Shape;354;p17"/>
          <p:cNvCxnSpPr/>
          <p:nvPr/>
        </p:nvCxnSpPr>
        <p:spPr>
          <a:xfrm>
            <a:off x="1898452" y="3992910"/>
            <a:ext cx="0" cy="845790"/>
          </a:xfrm>
          <a:prstGeom prst="straightConnector1">
            <a:avLst/>
          </a:prstGeom>
          <a:noFill/>
          <a:ln cap="flat" cmpd="sng" w="381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5" name="Google Shape;355;p17"/>
          <p:cNvSpPr/>
          <p:nvPr/>
        </p:nvSpPr>
        <p:spPr>
          <a:xfrm>
            <a:off x="2019480" y="4183410"/>
            <a:ext cx="514299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96F3"/>
              </a:buClr>
              <a:buSzPts val="1200"/>
              <a:buFont typeface="Arial"/>
              <a:buNone/>
            </a:pPr>
            <a:r>
              <a:rPr b="1" lang="es-GT" sz="1200">
                <a:solidFill>
                  <a:srgbClr val="2196F3"/>
                </a:solidFill>
                <a:latin typeface="Arial"/>
                <a:ea typeface="Arial"/>
                <a:cs typeface="Arial"/>
                <a:sym typeface="Arial"/>
              </a:rPr>
              <a:t>En el aprendizaje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7"/>
          <p:cNvSpPr/>
          <p:nvPr/>
        </p:nvSpPr>
        <p:spPr>
          <a:xfrm>
            <a:off x="2019480" y="4457700"/>
            <a:ext cx="5142991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Arial"/>
              <a:buNone/>
            </a:pPr>
            <a:r>
              <a:rPr lang="es-GT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Distinguir entre comandos similares y sus contextos de uso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8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8"/>
          <p:cNvSpPr/>
          <p:nvPr/>
        </p:nvSpPr>
        <p:spPr>
          <a:xfrm>
            <a:off x="304800" y="228600"/>
            <a:ext cx="440112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lang="es-GT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Referencias Bibliográficas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8"/>
          <p:cNvSpPr/>
          <p:nvPr/>
        </p:nvSpPr>
        <p:spPr>
          <a:xfrm>
            <a:off x="0" y="990600"/>
            <a:ext cx="9144000" cy="41529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8"/>
          <p:cNvSpPr/>
          <p:nvPr/>
        </p:nvSpPr>
        <p:spPr>
          <a:xfrm>
            <a:off x="228600" y="1360289"/>
            <a:ext cx="8686800" cy="891480"/>
          </a:xfrm>
          <a:prstGeom prst="roundRect">
            <a:avLst>
              <a:gd fmla="val 8548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r="5400000" dist="19050">
              <a:srgbClr val="000000">
                <a:alpha val="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6" name="Google Shape;366;p18"/>
          <p:cNvCxnSpPr/>
          <p:nvPr/>
        </p:nvCxnSpPr>
        <p:spPr>
          <a:xfrm>
            <a:off x="247650" y="1360289"/>
            <a:ext cx="0" cy="891480"/>
          </a:xfrm>
          <a:prstGeom prst="straightConnector1">
            <a:avLst/>
          </a:prstGeom>
          <a:noFill/>
          <a:ln cap="flat" cmpd="sng" w="38100">
            <a:solidFill>
              <a:srgbClr val="2196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7" name="Google Shape;367;p18"/>
          <p:cNvSpPr/>
          <p:nvPr/>
        </p:nvSpPr>
        <p:spPr>
          <a:xfrm>
            <a:off x="388590" y="1520279"/>
            <a:ext cx="857301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C3D5A"/>
              </a:buClr>
              <a:buSzPts val="1050"/>
              <a:buFont typeface="Arial"/>
              <a:buNone/>
            </a:pPr>
            <a:r>
              <a:rPr b="1" lang="es-GT" sz="1050">
                <a:solidFill>
                  <a:srgbClr val="1C3D5A"/>
                </a:solidFill>
                <a:latin typeface="Arial"/>
                <a:ea typeface="Arial"/>
                <a:cs typeface="Arial"/>
                <a:sym typeface="Arial"/>
              </a:rPr>
              <a:t>Cisco Networking Academy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8"/>
          <p:cNvSpPr/>
          <p:nvPr/>
        </p:nvSpPr>
        <p:spPr>
          <a:xfrm>
            <a:off x="388590" y="1748879"/>
            <a:ext cx="857301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lang="es-GT" sz="9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CCNA Routing and Switching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8"/>
          <p:cNvSpPr/>
          <p:nvPr/>
        </p:nvSpPr>
        <p:spPr>
          <a:xfrm>
            <a:off x="388590" y="1939379"/>
            <a:ext cx="857301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2196F3"/>
              </a:buClr>
              <a:buSzPts val="900"/>
              <a:buFont typeface="Arial"/>
              <a:buNone/>
            </a:pPr>
            <a:r>
              <a:rPr b="1" lang="es-GT" sz="900">
                <a:solidFill>
                  <a:srgbClr val="2196F3"/>
                </a:solidFill>
                <a:latin typeface="Arial"/>
                <a:ea typeface="Arial"/>
                <a:cs typeface="Arial"/>
                <a:sym typeface="Arial"/>
              </a:rPr>
              <a:t>https://www.netacad.com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8"/>
          <p:cNvSpPr/>
          <p:nvPr/>
        </p:nvSpPr>
        <p:spPr>
          <a:xfrm>
            <a:off x="228600" y="2327970"/>
            <a:ext cx="8686800" cy="891480"/>
          </a:xfrm>
          <a:prstGeom prst="roundRect">
            <a:avLst>
              <a:gd fmla="val 8548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r="5400000" dist="19050">
              <a:srgbClr val="000000">
                <a:alpha val="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1" name="Google Shape;371;p18"/>
          <p:cNvCxnSpPr/>
          <p:nvPr/>
        </p:nvCxnSpPr>
        <p:spPr>
          <a:xfrm>
            <a:off x="247650" y="2327970"/>
            <a:ext cx="0" cy="891480"/>
          </a:xfrm>
          <a:prstGeom prst="straightConnector1">
            <a:avLst/>
          </a:prstGeom>
          <a:noFill/>
          <a:ln cap="flat" cmpd="sng" w="38100">
            <a:solidFill>
              <a:srgbClr val="2196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2" name="Google Shape;372;p18"/>
          <p:cNvSpPr/>
          <p:nvPr/>
        </p:nvSpPr>
        <p:spPr>
          <a:xfrm>
            <a:off x="388590" y="2487960"/>
            <a:ext cx="857301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C3D5A"/>
              </a:buClr>
              <a:buSzPts val="1050"/>
              <a:buFont typeface="Arial"/>
              <a:buNone/>
            </a:pPr>
            <a:r>
              <a:rPr b="1" lang="es-GT" sz="1050">
                <a:solidFill>
                  <a:srgbClr val="1C3D5A"/>
                </a:solidFill>
                <a:latin typeface="Arial"/>
                <a:ea typeface="Arial"/>
                <a:cs typeface="Arial"/>
                <a:sym typeface="Arial"/>
              </a:rPr>
              <a:t>Cisco Systems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8"/>
          <p:cNvSpPr/>
          <p:nvPr/>
        </p:nvSpPr>
        <p:spPr>
          <a:xfrm>
            <a:off x="388590" y="2716560"/>
            <a:ext cx="857301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lang="es-GT" sz="9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Catalyst Switch Configuration Guide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8"/>
          <p:cNvSpPr/>
          <p:nvPr/>
        </p:nvSpPr>
        <p:spPr>
          <a:xfrm>
            <a:off x="388590" y="2907060"/>
            <a:ext cx="857301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2196F3"/>
              </a:buClr>
              <a:buSzPts val="900"/>
              <a:buFont typeface="Arial"/>
              <a:buNone/>
            </a:pPr>
            <a:r>
              <a:rPr b="1" lang="es-GT" sz="900">
                <a:solidFill>
                  <a:srgbClr val="2196F3"/>
                </a:solidFill>
                <a:latin typeface="Arial"/>
                <a:ea typeface="Arial"/>
                <a:cs typeface="Arial"/>
                <a:sym typeface="Arial"/>
              </a:rPr>
              <a:t>https://www.cisco.com/support/switches/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8"/>
          <p:cNvSpPr/>
          <p:nvPr/>
        </p:nvSpPr>
        <p:spPr>
          <a:xfrm>
            <a:off x="228600" y="3295650"/>
            <a:ext cx="8686800" cy="700980"/>
          </a:xfrm>
          <a:prstGeom prst="roundRect">
            <a:avLst>
              <a:gd fmla="val 10870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r="5400000" dist="19050">
              <a:srgbClr val="000000">
                <a:alpha val="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6" name="Google Shape;376;p18"/>
          <p:cNvCxnSpPr/>
          <p:nvPr/>
        </p:nvCxnSpPr>
        <p:spPr>
          <a:xfrm>
            <a:off x="247650" y="3295650"/>
            <a:ext cx="0" cy="700980"/>
          </a:xfrm>
          <a:prstGeom prst="straightConnector1">
            <a:avLst/>
          </a:prstGeom>
          <a:noFill/>
          <a:ln cap="flat" cmpd="sng" w="38100">
            <a:solidFill>
              <a:srgbClr val="2196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7" name="Google Shape;377;p18"/>
          <p:cNvSpPr/>
          <p:nvPr/>
        </p:nvSpPr>
        <p:spPr>
          <a:xfrm>
            <a:off x="388590" y="3455640"/>
            <a:ext cx="857301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C3D5A"/>
              </a:buClr>
              <a:buSzPts val="1050"/>
              <a:buFont typeface="Arial"/>
              <a:buNone/>
            </a:pPr>
            <a:r>
              <a:rPr b="1" lang="es-GT" sz="1050">
                <a:solidFill>
                  <a:srgbClr val="1C3D5A"/>
                </a:solidFill>
                <a:latin typeface="Arial"/>
                <a:ea typeface="Arial"/>
                <a:cs typeface="Arial"/>
                <a:sym typeface="Arial"/>
              </a:rPr>
              <a:t>Tanenbaum &amp; Wetherall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8"/>
          <p:cNvSpPr/>
          <p:nvPr/>
        </p:nvSpPr>
        <p:spPr>
          <a:xfrm>
            <a:off x="388590" y="3684240"/>
            <a:ext cx="857301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lang="es-GT" sz="9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Computer Networks, 6th Edition. Pearson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8"/>
          <p:cNvSpPr/>
          <p:nvPr/>
        </p:nvSpPr>
        <p:spPr>
          <a:xfrm>
            <a:off x="228600" y="4072830"/>
            <a:ext cx="8686800" cy="700980"/>
          </a:xfrm>
          <a:prstGeom prst="roundRect">
            <a:avLst>
              <a:gd fmla="val 10870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r="5400000" dist="19050">
              <a:srgbClr val="000000">
                <a:alpha val="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0" name="Google Shape;380;p18"/>
          <p:cNvCxnSpPr/>
          <p:nvPr/>
        </p:nvCxnSpPr>
        <p:spPr>
          <a:xfrm>
            <a:off x="247650" y="4072830"/>
            <a:ext cx="0" cy="700980"/>
          </a:xfrm>
          <a:prstGeom prst="straightConnector1">
            <a:avLst/>
          </a:prstGeom>
          <a:noFill/>
          <a:ln cap="flat" cmpd="sng" w="38100">
            <a:solidFill>
              <a:srgbClr val="2196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1" name="Google Shape;381;p18"/>
          <p:cNvSpPr/>
          <p:nvPr/>
        </p:nvSpPr>
        <p:spPr>
          <a:xfrm>
            <a:off x="388590" y="4232821"/>
            <a:ext cx="857301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C3D5A"/>
              </a:buClr>
              <a:buSzPts val="1050"/>
              <a:buFont typeface="Arial"/>
              <a:buNone/>
            </a:pPr>
            <a:r>
              <a:rPr b="1" lang="es-GT" sz="1050">
                <a:solidFill>
                  <a:srgbClr val="1C3D5A"/>
                </a:solidFill>
                <a:latin typeface="Arial"/>
                <a:ea typeface="Arial"/>
                <a:cs typeface="Arial"/>
                <a:sym typeface="Arial"/>
              </a:rPr>
              <a:t>IEEE 802.1Q Standard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8"/>
          <p:cNvSpPr/>
          <p:nvPr/>
        </p:nvSpPr>
        <p:spPr>
          <a:xfrm>
            <a:off x="388590" y="4461421"/>
            <a:ext cx="857301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2196F3"/>
              </a:buClr>
              <a:buSzPts val="900"/>
              <a:buFont typeface="Arial"/>
              <a:buNone/>
            </a:pPr>
            <a:r>
              <a:rPr b="1" lang="es-GT" sz="900">
                <a:solidFill>
                  <a:srgbClr val="2196F3"/>
                </a:solidFill>
                <a:latin typeface="Arial"/>
                <a:ea typeface="Arial"/>
                <a:cs typeface="Arial"/>
                <a:sym typeface="Arial"/>
              </a:rPr>
              <a:t>https://standards.ieee.org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9"/>
          <p:cNvSpPr/>
          <p:nvPr/>
        </p:nvSpPr>
        <p:spPr>
          <a:xfrm>
            <a:off x="1734013" y="2228850"/>
            <a:ext cx="56758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Arial"/>
              <a:buNone/>
            </a:pPr>
            <a:r>
              <a:rPr b="1" lang="es-GT" sz="5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Ejemplo Práctico</a:t>
            </a:r>
            <a:endParaRPr sz="5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0"/>
          <p:cNvSpPr/>
          <p:nvPr/>
        </p:nvSpPr>
        <p:spPr>
          <a:xfrm>
            <a:off x="18087" y="1584279"/>
            <a:ext cx="9107826" cy="1974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Arial"/>
              <a:buNone/>
            </a:pPr>
            <a:r>
              <a:rPr b="1" lang="es-GT" sz="5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Practiquemos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Arial"/>
              <a:buNone/>
            </a:pPr>
            <a:r>
              <a:rPr b="1" lang="es-GT" sz="5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 Aprendido</a:t>
            </a:r>
            <a:endParaRPr sz="5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1"/>
          <p:cNvSpPr/>
          <p:nvPr/>
        </p:nvSpPr>
        <p:spPr>
          <a:xfrm>
            <a:off x="2458399" y="2114550"/>
            <a:ext cx="422720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b="1" lang="es-GT" sz="7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¿Dudas?</a:t>
            </a:r>
            <a:endParaRPr sz="7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2"/>
          <p:cNvSpPr/>
          <p:nvPr/>
        </p:nvSpPr>
        <p:spPr>
          <a:xfrm>
            <a:off x="1423566" y="1657350"/>
            <a:ext cx="629686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b="1" lang="es-GT" sz="7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¡Gracias por su Atención!</a:t>
            </a:r>
            <a:endParaRPr sz="7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2025-10-30T04:52:40Z</dcterms:created>
  <dc:creator>Redes de Computadoras 2</dc:creator>
</cp:coreProperties>
</file>