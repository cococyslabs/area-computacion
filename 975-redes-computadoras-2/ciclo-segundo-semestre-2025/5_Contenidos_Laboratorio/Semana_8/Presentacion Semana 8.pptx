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396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4208639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8452" y="1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/>
        </p:nvGraphicFramePr>
        <p:xfrm>
          <a:off x="5328201" y="970025"/>
          <a:ext cx="3690575" cy="9448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400" b="1" noProof="0" dirty="0">
                          <a:solidFill>
                            <a:schemeClr val="dk1"/>
                          </a:solidFill>
                        </a:rPr>
                        <a:t>Día, Fecha: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900" noProof="0" dirty="0"/>
                        <a:t>11/10/2025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400" b="1" noProof="0">
                          <a:solidFill>
                            <a:schemeClr val="dk1"/>
                          </a:solidFill>
                        </a:rPr>
                        <a:t>Hora de inicio: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1900" noProof="0" dirty="0"/>
                        <a:t>10:30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440175" y="2258301"/>
            <a:ext cx="6792000" cy="56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914378">
              <a:buClr>
                <a:srgbClr val="000000"/>
              </a:buClr>
            </a:pPr>
            <a:r>
              <a:rPr lang="es-GT" sz="25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Redes de computadoras 2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1778700" y="2900751"/>
            <a:ext cx="5586600" cy="490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defTabSz="914378">
              <a:buClr>
                <a:srgbClr val="000000"/>
              </a:buClr>
            </a:pPr>
            <a:r>
              <a:rPr lang="es-GT" sz="1988" kern="0" dirty="0">
                <a:solidFill>
                  <a:srgbClr val="000000"/>
                </a:solidFill>
                <a:latin typeface="Arial"/>
                <a:cs typeface="Arial"/>
              </a:rPr>
              <a:t>NOMBRE DEL TUTOR</a:t>
            </a:r>
            <a:endParaRPr lang="es-GT" sz="198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1106" y="1638300"/>
            <a:ext cx="6681639" cy="18669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630634" y="2095500"/>
            <a:ext cx="58825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de Computadoras 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630634" y="2781300"/>
            <a:ext cx="5882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6: Redes </a:t>
            </a:r>
            <a:r>
              <a:rPr lang="en-US" sz="2250" b="1" dirty="0" err="1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Inalámbricas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277B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la Clase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2382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a Desarrollar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581150"/>
            <a:ext cx="85344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redes inalámbricas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WiFi y seguridad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en Cisco Packet Tracer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609850"/>
            <a:ext cx="8534400" cy="8763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8003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105150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212121"/>
                </a:solidFill>
                <a:latin typeface="Arial" pitchFamily="34" charset="0"/>
                <a:cs typeface="Arial" pitchFamily="34" charset="-120"/>
              </a:rPr>
              <a:t>Recordatorio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4800" y="3638550"/>
            <a:ext cx="8534400" cy="8763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8290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33850"/>
            <a:ext cx="839419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Video: https://netacad.com/wireless-basics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a Desarrollar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485900"/>
            <a:ext cx="8534400" cy="12573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1485900"/>
            <a:ext cx="0" cy="1257300"/>
          </a:xfrm>
          <a:prstGeom prst="line">
            <a:avLst/>
          </a:prstGeom>
          <a:noFill/>
          <a:ln w="47625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81025" y="1752600"/>
            <a:ext cx="81901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de Infraestructura Inalámbrica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1025" y="2095500"/>
            <a:ext cx="8190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estudiante diseña infraestructura de red inalámbrica empleando puntos de acceso y estándares WiFi bajo condiciones de cobertura y seguridad adecuadas.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4800" y="2895600"/>
            <a:ext cx="8534400" cy="12573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613" y="2895600"/>
            <a:ext cx="0" cy="1257300"/>
          </a:xfrm>
          <a:prstGeom prst="line">
            <a:avLst/>
          </a:prstGeom>
          <a:noFill/>
          <a:ln w="47625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581025" y="3162300"/>
            <a:ext cx="81901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Comprensión y Segmentación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1025" y="3505200"/>
            <a:ext cx="81901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estudiante comprende los conceptos de tipos de redes y segmentación mediante análisis de diferencias para aplicar conocimiento en diseño de topologías.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277B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82860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Redes Inalámbricas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6002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943100"/>
            <a:ext cx="8705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que permiten comunicación entre dispositivos sin cables físicos, utilizando ondas de radiofrecuencia o infrarrojos para transmitir datos.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4800" y="26289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Características Principales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971800"/>
            <a:ext cx="85344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Movilidad y flexibilidad para los usuarios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Fácil instalación sin cableado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Escalabilidad rápida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en áreas de difícil cableado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6828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Cableadas vs Inalámbricas</a:t>
            </a:r>
            <a:endParaRPr lang="en-US" sz="2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478310"/>
          <a:ext cx="7680871" cy="2986980"/>
        </p:xfrm>
        <a:graphic>
          <a:graphicData uri="http://schemas.openxmlformats.org/drawingml/2006/table">
            <a:tbl>
              <a:tblPr/>
              <a:tblGrid>
                <a:gridCol w="2560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7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Cableadas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97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Inalámbricas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Movilidad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Limitada al cable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dentro del rango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Velocidad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Hasta 10 Gbps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Hasta 9.6 Gbps (WiFi 6)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Seguridad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Alta (física)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Media (cifrado necesario)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Instalación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Compleja y costosa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Simple y económica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Interferencia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Mínima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Común (paredes, otros WiFi)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Alcance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100m (Ethernet)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30-50m interiores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3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Mantenimiento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Bajo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Medio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277B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780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WiFi: Definición y Funcionamiento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6002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WiFi?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943100"/>
            <a:ext cx="8705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(Wireless Fidelity) es una tecnología basada en estándares IEEE 802.11 que permite conectar dispositivos a redes locales de forma inalámbrica mediante ondas de radio.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4800" y="26289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Funcionamiento Básico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971800"/>
            <a:ext cx="85344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 frecuencias de 2.4 GHz y 5 GHz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punto de acceso transmite señales de radio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dispositivos se autentican y conectan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se transmiten de forma bidireccional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de una Red WiFi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345257"/>
            <a:ext cx="8534400" cy="9065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1345257"/>
            <a:ext cx="0" cy="906512"/>
          </a:xfrm>
          <a:prstGeom prst="line">
            <a:avLst/>
          </a:prstGeom>
          <a:noFill/>
          <a:ln w="47625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35186" y="1566118"/>
            <a:ext cx="8283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Acceso (AP)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5186" y="1840409"/>
            <a:ext cx="82836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 que crea la red inalámbrica y gestiona conexiones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4800" y="2404170"/>
            <a:ext cx="8534400" cy="9065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613" y="2404170"/>
            <a:ext cx="0" cy="906512"/>
          </a:xfrm>
          <a:prstGeom prst="line">
            <a:avLst/>
          </a:prstGeom>
          <a:noFill/>
          <a:ln w="47625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535186" y="2625030"/>
            <a:ext cx="8283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Inalámbricos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5186" y="2899321"/>
            <a:ext cx="82836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con adaptadores WiFi que se conectan al 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4800" y="3463082"/>
            <a:ext cx="8534400" cy="906512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613" y="3463082"/>
            <a:ext cx="0" cy="906512"/>
          </a:xfrm>
          <a:prstGeom prst="line">
            <a:avLst/>
          </a:prstGeom>
          <a:noFill/>
          <a:ln w="47625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535186" y="3683943"/>
            <a:ext cx="8283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SSID y Canales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5186" y="3958233"/>
            <a:ext cx="82836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Identificador de red y frecuencias para transmisión de datos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277B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59944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Estándares de Conexión WiFi (IEEE 802.11)</a:t>
            </a:r>
            <a:endParaRPr lang="en-US" sz="2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4800" y="1478310"/>
          <a:ext cx="7680871" cy="2986980"/>
        </p:xfrm>
        <a:graphic>
          <a:graphicData uri="http://schemas.openxmlformats.org/drawingml/2006/table">
            <a:tbl>
              <a:tblPr/>
              <a:tblGrid>
                <a:gridCol w="192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Estándar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7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Frecuencia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7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Velocidad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7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Año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77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802.11a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GHz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54 Mbps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1999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802.11b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 GHz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11 Mbps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1999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802.11g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 GHz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54 Mbps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2003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802.11n (WiFi 4)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2.4/5 GHz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600 Mbps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2009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802.11ac (WiFi 5)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 GHz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3.5 Gbps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2014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802.11ax (WiFi 6)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2.4/5 GHz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9.6 Gbps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2019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67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en Redes Inalámbricas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6002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Importancia de la Seguridad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943100"/>
            <a:ext cx="8705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redes WiFi son vulnerables a interceptación de datos, accesos no autorizados y ataques si no se implementan medidas de seguridad adecuadas.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4800" y="26289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 Comunes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971800"/>
            <a:ext cx="85344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no autorizado a la red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Interceptación de tráfico (sniffing)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Ataques de intermediario (MITM)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acceso falsos (Rogue AP)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277B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 de Cifrado en WiFi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937320"/>
            <a:ext cx="8534400" cy="84579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937320"/>
            <a:ext cx="0" cy="845790"/>
          </a:xfrm>
          <a:prstGeom prst="line">
            <a:avLst/>
          </a:prstGeom>
          <a:noFill/>
          <a:ln w="47625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04825" y="1127820"/>
            <a:ext cx="8345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WEP (Obsoleto)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4825" y="1402110"/>
            <a:ext cx="8345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débil, fácil de vulnerar. No recomendado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4800" y="1935510"/>
            <a:ext cx="8534400" cy="84579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613" y="1935510"/>
            <a:ext cx="0" cy="845790"/>
          </a:xfrm>
          <a:prstGeom prst="line">
            <a:avLst/>
          </a:prstGeom>
          <a:noFill/>
          <a:ln w="47625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504825" y="2126010"/>
            <a:ext cx="8345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 (Mejorado)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4825" y="2400300"/>
            <a:ext cx="8345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TKIP. Mejor que WEP pero vulnerable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4800" y="2933700"/>
            <a:ext cx="8534400" cy="84579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8613" y="2933700"/>
            <a:ext cx="0" cy="845790"/>
          </a:xfrm>
          <a:prstGeom prst="line">
            <a:avLst/>
          </a:prstGeom>
          <a:noFill/>
          <a:ln w="47625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504825" y="3124200"/>
            <a:ext cx="8345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WPA2 (Estándar actual)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4825" y="3398490"/>
            <a:ext cx="8345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AES. Seguro y ampliamente utilizado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4800" y="3931890"/>
            <a:ext cx="8534400" cy="84579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8613" y="3931890"/>
            <a:ext cx="0" cy="845790"/>
          </a:xfrm>
          <a:prstGeom prst="line">
            <a:avLst/>
          </a:prstGeom>
          <a:noFill/>
          <a:ln w="47625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504825" y="4122390"/>
            <a:ext cx="8345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60"/>
              </a:spcAft>
              <a:buNone/>
            </a:pPr>
            <a:r>
              <a:rPr lang="en-US" sz="12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WPA3 (Más reciente)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825" y="4396680"/>
            <a:ext cx="83456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Cifrado mejorado con SAE. Máxima seguridad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6043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de Seguridad en Router WiFi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9621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Básicos de Seguridad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305050"/>
            <a:ext cx="8534400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Cambiar credenciales predeterminadas del router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Habilitar cifrado WPA2 o WPA3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contraseñas fuertes (12+ caracteres)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Ocultar el SSID si es necesario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 WPS y administración remota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277B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525608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en Cisco Packet Tracer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2152650"/>
            <a:ext cx="8705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Básica del Access Point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4800" y="2457450"/>
            <a:ext cx="8534400" cy="1066800"/>
          </a:xfrm>
          <a:prstGeom prst="rect">
            <a:avLst/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28613" y="2457450"/>
            <a:ext cx="0" cy="1066800"/>
          </a:xfrm>
          <a:prstGeom prst="line">
            <a:avLst/>
          </a:prstGeom>
          <a:noFill/>
          <a:ln w="47625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504825" y="2609850"/>
            <a:ext cx="8345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Seleccionar Access Point en Packet Tracer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4825" y="2762250"/>
            <a:ext cx="8345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Config &gt; Port 1 &gt; SSID: </a:t>
            </a:r>
            <a:r>
              <a:rPr lang="en-US" sz="9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MiRedWiFi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4825" y="2914650"/>
            <a:ext cx="8345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Authentication: </a:t>
            </a:r>
            <a:r>
              <a:rPr lang="en-US" sz="9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WPA2-PSK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4825" y="3067050"/>
            <a:ext cx="8345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Passphrase: </a:t>
            </a:r>
            <a:r>
              <a:rPr lang="en-US" sz="9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Clave_Segura123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4825" y="3219450"/>
            <a:ext cx="8345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Channel: </a:t>
            </a:r>
            <a:r>
              <a:rPr lang="en-US" sz="900" dirty="0">
                <a:solidFill>
                  <a:srgbClr val="FFD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65968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de Redes Cableadas e Inalámbricas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7526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de Integración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095500"/>
            <a:ext cx="8705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Access Point actúa como puente entre la red cableada y los dispositivos inalámbricos, permitiendo que ambos tipos de clientes se comuniquen en la misma red.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4800" y="278130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Pasos en Packet Tracer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3124200"/>
            <a:ext cx="8534400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AP al switch mediante cable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Configurar misma VLAN en ambas redes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conectividad con ping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1976D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 Aprendidos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226695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Inalámbricas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2609850"/>
            <a:ext cx="41910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 usa estándares IEEE 802.11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Frecuencias 2.4 GHz y 5 GHz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 gestiona conexiones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8200" y="2266950"/>
            <a:ext cx="4274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648200" y="2609850"/>
            <a:ext cx="4191000" cy="8763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WPA2/WPA3 son seguros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Contraseñas fuertes esenciales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adecuada crítica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277B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Valor: Organización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2057400"/>
            <a:ext cx="8534400" cy="1600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8613" y="2057400"/>
            <a:ext cx="0" cy="1600200"/>
          </a:xfrm>
          <a:prstGeom prst="line">
            <a:avLst/>
          </a:prstGeom>
          <a:noFill/>
          <a:ln w="47625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578453" y="2400300"/>
            <a:ext cx="80347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Configuraciones Internas y Externas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8453" y="2857500"/>
            <a:ext cx="803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organización en redes inalámbricas implica separar claramente las configuraciones del router y del AP, documentar SSIDs, canales y políticas de seguridad para facilitar el mantenimiento.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7700"/>
          </a:xfrm>
          <a:prstGeom prst="rect">
            <a:avLst/>
          </a:prstGeom>
          <a:solidFill>
            <a:srgbClr val="00897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52400"/>
            <a:ext cx="43622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Bibliográficas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04800" y="14287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Oficial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4800" y="1771650"/>
            <a:ext cx="85344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802.11 Standard - Wireless LAN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CCNA Wireless Official Guide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25336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en Línea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876550"/>
            <a:ext cx="8534400" cy="5715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https://netacad.com - Cisco Networking Academy</a:t>
            </a:r>
            <a:endParaRPr lang="en-US" sz="1350" dirty="0"/>
          </a:p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https://wifi-alliance.org - WiFi Alliance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4800" y="3638550"/>
            <a:ext cx="87050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Bef>
                <a:spcPts val="300"/>
              </a:spcBef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4800" y="3981450"/>
            <a:ext cx="8534400" cy="2667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Gast, M. (2005). 802.11 Wireless Networks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7036" y="2286000"/>
            <a:ext cx="472977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Práctico</a:t>
            </a:r>
            <a:endParaRPr lang="en-US" sz="4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036" y="2286000"/>
            <a:ext cx="758977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Practiquemos lo Aprendido</a:t>
            </a:r>
            <a:endParaRPr lang="en-US" sz="4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2813" y="2286000"/>
            <a:ext cx="2778373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s-GT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Dudas?</a:t>
            </a:r>
            <a:endParaRPr lang="en-US" sz="4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3778" y="2286000"/>
            <a:ext cx="67162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¡Gracias por </a:t>
            </a:r>
            <a:r>
              <a:rPr lang="en-US" sz="4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Atención</a:t>
            </a: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4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794</Words>
  <Application>Microsoft Office PowerPoint</Application>
  <PresentationFormat>Presentación en pantalla (16:9)</PresentationFormat>
  <Paragraphs>182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Inalámbricas y WiFi</dc:title>
  <dc:subject>PptxGenJS Presentation</dc:subject>
  <dc:creator>Redes de Computadoras 2</dc:creator>
  <cp:lastModifiedBy>Jose Rodrigo Rodas Palencia</cp:lastModifiedBy>
  <cp:revision>7</cp:revision>
  <dcterms:created xsi:type="dcterms:W3CDTF">2025-10-30T13:48:03Z</dcterms:created>
  <dcterms:modified xsi:type="dcterms:W3CDTF">2025-10-30T13:51:02Z</dcterms:modified>
</cp:coreProperties>
</file>