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6037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b241b13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b241b13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8" lvl="1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2" lvl="5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GT" smtClean="0"/>
              <a:pPr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44033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8452" y="1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3"/>
          <p:cNvGraphicFramePr/>
          <p:nvPr>
            <p:extLst>
              <p:ext uri="{D42A27DB-BD31-4B8C-83A1-F6EECF244321}">
                <p14:modId xmlns:p14="http://schemas.microsoft.com/office/powerpoint/2010/main" val="2485925697"/>
              </p:ext>
            </p:extLst>
          </p:nvPr>
        </p:nvGraphicFramePr>
        <p:xfrm>
          <a:off x="5328201" y="970025"/>
          <a:ext cx="3690575" cy="9448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1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1400" b="1" noProof="0" dirty="0">
                          <a:solidFill>
                            <a:schemeClr val="dk1"/>
                          </a:solidFill>
                        </a:rPr>
                        <a:t>Día, Fecha: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1900" noProof="0" dirty="0"/>
                        <a:t>11/10/2025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1400" b="1" noProof="0" dirty="0">
                          <a:solidFill>
                            <a:schemeClr val="dk1"/>
                          </a:solidFill>
                        </a:rPr>
                        <a:t>Hora de inicio: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1900" noProof="0" dirty="0"/>
                        <a:t>10:30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3"/>
          <p:cNvSpPr txBox="1"/>
          <p:nvPr/>
        </p:nvSpPr>
        <p:spPr>
          <a:xfrm>
            <a:off x="1440175" y="2258301"/>
            <a:ext cx="679200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defTabSz="914378">
              <a:buClr>
                <a:srgbClr val="000000"/>
              </a:buClr>
            </a:pPr>
            <a:r>
              <a:rPr lang="es-GT" sz="2500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Redes de computadoras 2</a:t>
            </a:r>
          </a:p>
        </p:txBody>
      </p:sp>
      <p:sp>
        <p:nvSpPr>
          <p:cNvPr id="57" name="Google Shape;57;p13"/>
          <p:cNvSpPr txBox="1"/>
          <p:nvPr/>
        </p:nvSpPr>
        <p:spPr>
          <a:xfrm>
            <a:off x="1778700" y="2900751"/>
            <a:ext cx="5586600" cy="49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defTabSz="914378">
              <a:buClr>
                <a:srgbClr val="000000"/>
              </a:buClr>
            </a:pPr>
            <a:r>
              <a:rPr lang="es-GT" sz="1988" kern="0" noProof="0" dirty="0">
                <a:solidFill>
                  <a:srgbClr val="000000"/>
                </a:solidFill>
                <a:latin typeface="Arial"/>
                <a:cs typeface="Arial"/>
              </a:rPr>
              <a:t>NOMBRE DEL TUTOR</a:t>
            </a:r>
            <a:endParaRPr lang="es-GT" sz="1988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783" y="1295400"/>
            <a:ext cx="8428286" cy="25527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3" name="Text 1"/>
          <p:cNvSpPr/>
          <p:nvPr/>
        </p:nvSpPr>
        <p:spPr>
          <a:xfrm>
            <a:off x="895292" y="1752600"/>
            <a:ext cx="73532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spcAft>
                <a:spcPts val="1800"/>
              </a:spcAft>
              <a:buNone/>
            </a:pPr>
            <a:r>
              <a:rPr lang="es-GT" sz="450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de Computadoras 2</a:t>
            </a:r>
            <a:endParaRPr lang="es-GT" sz="4500" noProof="0" dirty="0"/>
          </a:p>
        </p:txBody>
      </p:sp>
      <p:sp>
        <p:nvSpPr>
          <p:cNvPr id="4" name="Text 2"/>
          <p:cNvSpPr/>
          <p:nvPr/>
        </p:nvSpPr>
        <p:spPr>
          <a:xfrm>
            <a:off x="895292" y="2552700"/>
            <a:ext cx="73532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s-GT" sz="2250" b="1" noProof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3: Trafico en Capa 3</a:t>
            </a:r>
            <a:endParaRPr lang="es-GT" sz="22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8422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3" name="Text 1"/>
          <p:cNvSpPr/>
          <p:nvPr/>
        </p:nvSpPr>
        <p:spPr>
          <a:xfrm>
            <a:off x="304800" y="182761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s-GT" sz="22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la Clase</a:t>
            </a:r>
            <a:endParaRPr lang="es-GT" sz="2250" noProof="0" dirty="0"/>
          </a:p>
        </p:txBody>
      </p:sp>
      <p:sp>
        <p:nvSpPr>
          <p:cNvPr id="4" name="Text 2"/>
          <p:cNvSpPr/>
          <p:nvPr/>
        </p:nvSpPr>
        <p:spPr>
          <a:xfrm>
            <a:off x="304800" y="97914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35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Temas a Desarrollar</a:t>
            </a:r>
            <a:endParaRPr lang="es-GT" sz="1350" noProof="0" dirty="0"/>
          </a:p>
        </p:txBody>
      </p:sp>
      <p:sp>
        <p:nvSpPr>
          <p:cNvPr id="5" name="Text 3"/>
          <p:cNvSpPr/>
          <p:nvPr/>
        </p:nvSpPr>
        <p:spPr>
          <a:xfrm>
            <a:off x="304800" y="1322040"/>
            <a:ext cx="853440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de enrutamiento dinámico</a:t>
            </a:r>
            <a:endParaRPr lang="es-GT" sz="1350" noProof="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OSPF: configuración y ventajas</a:t>
            </a:r>
            <a:endParaRPr lang="es-GT" sz="1350" noProof="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EIGRP: características y configuración</a:t>
            </a:r>
            <a:endParaRPr lang="es-GT" sz="1350" noProof="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RIP: ventajas y desventajas</a:t>
            </a:r>
            <a:endParaRPr lang="es-GT" sz="1350" noProof="0" dirty="0"/>
          </a:p>
        </p:txBody>
      </p:sp>
      <p:sp>
        <p:nvSpPr>
          <p:cNvPr id="6" name="Text 4"/>
          <p:cNvSpPr/>
          <p:nvPr/>
        </p:nvSpPr>
        <p:spPr>
          <a:xfrm>
            <a:off x="304800" y="269364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35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Recordatorios</a:t>
            </a:r>
            <a:endParaRPr lang="es-GT" sz="1350" noProof="0" dirty="0"/>
          </a:p>
        </p:txBody>
      </p:sp>
      <p:sp>
        <p:nvSpPr>
          <p:cNvPr id="7" name="Text 5"/>
          <p:cNvSpPr/>
          <p:nvPr/>
        </p:nvSpPr>
        <p:spPr>
          <a:xfrm>
            <a:off x="304800" y="3036540"/>
            <a:ext cx="85344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s-GT" sz="1350" noProof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Recordatorio</a:t>
            </a:r>
            <a:endParaRPr lang="es-GT" sz="1350" noProof="0" dirty="0"/>
          </a:p>
        </p:txBody>
      </p:sp>
      <p:sp>
        <p:nvSpPr>
          <p:cNvPr id="8" name="Text 6"/>
          <p:cNvSpPr/>
          <p:nvPr/>
        </p:nvSpPr>
        <p:spPr>
          <a:xfrm>
            <a:off x="304800" y="4065240"/>
            <a:ext cx="8534400" cy="99819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9" name="Shape 7"/>
          <p:cNvSpPr/>
          <p:nvPr/>
        </p:nvSpPr>
        <p:spPr>
          <a:xfrm>
            <a:off x="323850" y="4065240"/>
            <a:ext cx="0" cy="998190"/>
          </a:xfrm>
          <a:prstGeom prst="line">
            <a:avLst/>
          </a:prstGeom>
          <a:noFill/>
          <a:ln w="381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0" name="Text 8"/>
          <p:cNvSpPr/>
          <p:nvPr/>
        </p:nvSpPr>
        <p:spPr>
          <a:xfrm>
            <a:off x="495300" y="4255740"/>
            <a:ext cx="8355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s-GT" sz="1200" b="1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</a:t>
            </a:r>
            <a:endParaRPr lang="es-GT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495300" y="4530030"/>
            <a:ext cx="8355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de comandos OSPF y EIGRP en Moodle</a:t>
            </a:r>
            <a:endParaRPr lang="es-GT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495300" y="4720530"/>
            <a:ext cx="8355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https://netacad.com/routing-protocols</a:t>
            </a:r>
            <a:endParaRPr lang="es-GT" sz="9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ac457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084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" y="182761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s-GT" sz="22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Competencias a Desarrollar</a:t>
            </a:r>
            <a:endParaRPr lang="es-GT" sz="2250" noProof="0" dirty="0"/>
          </a:p>
        </p:txBody>
      </p:sp>
      <p:sp>
        <p:nvSpPr>
          <p:cNvPr id="4" name="Text 1"/>
          <p:cNvSpPr/>
          <p:nvPr/>
        </p:nvSpPr>
        <p:spPr>
          <a:xfrm>
            <a:off x="0" y="860822"/>
            <a:ext cx="9144000" cy="428267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5" name="Text 2"/>
          <p:cNvSpPr/>
          <p:nvPr/>
        </p:nvSpPr>
        <p:spPr>
          <a:xfrm>
            <a:off x="304800" y="1706761"/>
            <a:ext cx="8534400" cy="1219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6" name="Shape 3"/>
          <p:cNvSpPr/>
          <p:nvPr/>
        </p:nvSpPr>
        <p:spPr>
          <a:xfrm>
            <a:off x="328613" y="1706761"/>
            <a:ext cx="0" cy="1219200"/>
          </a:xfrm>
          <a:prstGeom prst="line">
            <a:avLst/>
          </a:prstGeom>
          <a:noFill/>
          <a:ln w="47625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7" name="Text 4"/>
          <p:cNvSpPr/>
          <p:nvPr/>
        </p:nvSpPr>
        <p:spPr>
          <a:xfrm>
            <a:off x="581025" y="1973461"/>
            <a:ext cx="81901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20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 1</a:t>
            </a:r>
            <a:endParaRPr lang="es-GT" sz="1200" noProof="0" dirty="0"/>
          </a:p>
        </p:txBody>
      </p:sp>
      <p:sp>
        <p:nvSpPr>
          <p:cNvPr id="8" name="Text 5"/>
          <p:cNvSpPr/>
          <p:nvPr/>
        </p:nvSpPr>
        <p:spPr>
          <a:xfrm>
            <a:off x="581025" y="2278261"/>
            <a:ext cx="81901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10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estudiante identifica los principios de funcionamiento de los protocolos de enrutamiento dinámico mediante la comparación de sus características, ventajas y desventajas para utilizarlos en la implementación de redes de forma eficiente y segura.</a:t>
            </a:r>
            <a:endParaRPr lang="es-GT" sz="1050" noProof="0" dirty="0"/>
          </a:p>
        </p:txBody>
      </p:sp>
      <p:sp>
        <p:nvSpPr>
          <p:cNvPr id="9" name="Text 6"/>
          <p:cNvSpPr/>
          <p:nvPr/>
        </p:nvSpPr>
        <p:spPr>
          <a:xfrm>
            <a:off x="304800" y="3078361"/>
            <a:ext cx="8534400" cy="1219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10" name="Shape 7"/>
          <p:cNvSpPr/>
          <p:nvPr/>
        </p:nvSpPr>
        <p:spPr>
          <a:xfrm>
            <a:off x="328613" y="3078361"/>
            <a:ext cx="0" cy="1219200"/>
          </a:xfrm>
          <a:prstGeom prst="line">
            <a:avLst/>
          </a:prstGeom>
          <a:noFill/>
          <a:ln w="47625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1" name="Text 8"/>
          <p:cNvSpPr/>
          <p:nvPr/>
        </p:nvSpPr>
        <p:spPr>
          <a:xfrm>
            <a:off x="581025" y="3345061"/>
            <a:ext cx="81901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20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 2</a:t>
            </a:r>
            <a:endParaRPr lang="es-GT" sz="1200" noProof="0" dirty="0"/>
          </a:p>
        </p:txBody>
      </p:sp>
      <p:sp>
        <p:nvSpPr>
          <p:cNvPr id="12" name="Text 9"/>
          <p:cNvSpPr/>
          <p:nvPr/>
        </p:nvSpPr>
        <p:spPr>
          <a:xfrm>
            <a:off x="581025" y="3649861"/>
            <a:ext cx="81901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10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estudiante diseña e implementa redes de computadoras aplicando principios de enrutamiento, segmentación de redes, redundancia y gestión de servicios de red para garantizar la disponibilidad, eficiencia y seguridad de los servicios de red en entornos empresariales.</a:t>
            </a:r>
            <a:endParaRPr lang="es-GT" sz="105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47897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s-GT" sz="22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 - </a:t>
            </a:r>
            <a:r>
              <a:rPr lang="es-GT" sz="2250" b="1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r>
              <a:rPr lang="es-GT" sz="22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2250" b="1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r>
              <a:rPr lang="es-GT" sz="22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2250" b="1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s-GT" sz="2250" noProof="0" dirty="0"/>
          </a:p>
        </p:txBody>
      </p:sp>
      <p:sp>
        <p:nvSpPr>
          <p:cNvPr id="4" name="Text 2"/>
          <p:cNvSpPr/>
          <p:nvPr/>
        </p:nvSpPr>
        <p:spPr>
          <a:xfrm>
            <a:off x="304800" y="175260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35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endParaRPr lang="es-GT" sz="1350" noProof="0" dirty="0"/>
          </a:p>
        </p:txBody>
      </p:sp>
      <p:sp>
        <p:nvSpPr>
          <p:cNvPr id="5" name="Text 3"/>
          <p:cNvSpPr/>
          <p:nvPr/>
        </p:nvSpPr>
        <p:spPr>
          <a:xfrm>
            <a:off x="304800" y="2095500"/>
            <a:ext cx="485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10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 es un protocolo de enrutamiento dinámico de vector distancia que utiliza el número de saltos como métrica para determinar la mejor ruta.</a:t>
            </a:r>
            <a:endParaRPr lang="es-GT" sz="1050" noProof="0" dirty="0"/>
          </a:p>
        </p:txBody>
      </p:sp>
      <p:sp>
        <p:nvSpPr>
          <p:cNvPr id="6" name="Text 4"/>
          <p:cNvSpPr/>
          <p:nvPr/>
        </p:nvSpPr>
        <p:spPr>
          <a:xfrm>
            <a:off x="304800" y="2705100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35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</a:t>
            </a:r>
            <a:endParaRPr lang="es-GT" sz="1350" noProof="0" dirty="0"/>
          </a:p>
        </p:txBody>
      </p:sp>
      <p:sp>
        <p:nvSpPr>
          <p:cNvPr id="7" name="Text 5"/>
          <p:cNvSpPr/>
          <p:nvPr/>
        </p:nvSpPr>
        <p:spPr>
          <a:xfrm>
            <a:off x="304800" y="3048000"/>
            <a:ext cx="4762500" cy="11811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Métrica: número de saltos (hop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s-GT" sz="1350" noProof="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Máximo: 15 saltos (16 = inalcanzable)</a:t>
            </a:r>
            <a:endParaRPr lang="es-GT" sz="1350" noProof="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cada 30 segundos</a:t>
            </a:r>
            <a:endParaRPr lang="es-GT" sz="1350" noProof="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Versiones: RIPv1 y RIPv2</a:t>
            </a:r>
            <a:endParaRPr lang="es-GT" sz="1350" noProof="0" dirty="0"/>
          </a:p>
        </p:txBody>
      </p:sp>
      <p:sp>
        <p:nvSpPr>
          <p:cNvPr id="8" name="Text 6"/>
          <p:cNvSpPr/>
          <p:nvPr/>
        </p:nvSpPr>
        <p:spPr>
          <a:xfrm>
            <a:off x="5219700" y="1783110"/>
            <a:ext cx="3619500" cy="115059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9" name="Shape 7"/>
          <p:cNvSpPr/>
          <p:nvPr/>
        </p:nvSpPr>
        <p:spPr>
          <a:xfrm>
            <a:off x="5238750" y="1783110"/>
            <a:ext cx="0" cy="1150590"/>
          </a:xfrm>
          <a:prstGeom prst="line">
            <a:avLst/>
          </a:prstGeom>
          <a:noFill/>
          <a:ln w="381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0" name="Text 8"/>
          <p:cNvSpPr/>
          <p:nvPr/>
        </p:nvSpPr>
        <p:spPr>
          <a:xfrm>
            <a:off x="5410200" y="1973610"/>
            <a:ext cx="33421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s-GT" sz="1050" b="1" noProof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</a:t>
            </a:r>
            <a:endParaRPr lang="es-GT" sz="1050" noProof="0" dirty="0"/>
          </a:p>
        </p:txBody>
      </p:sp>
      <p:sp>
        <p:nvSpPr>
          <p:cNvPr id="11" name="Text 9"/>
          <p:cNvSpPr/>
          <p:nvPr/>
        </p:nvSpPr>
        <p:spPr>
          <a:xfrm>
            <a:off x="5410200" y="2209800"/>
            <a:ext cx="33421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 configurar</a:t>
            </a:r>
            <a:endParaRPr lang="es-GT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5410200" y="2400300"/>
            <a:ext cx="33421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 uso de recursos</a:t>
            </a:r>
            <a:endParaRPr lang="es-GT" sz="900" noProof="0" dirty="0"/>
          </a:p>
        </p:txBody>
      </p:sp>
      <p:sp>
        <p:nvSpPr>
          <p:cNvPr id="13" name="Text 11"/>
          <p:cNvSpPr/>
          <p:nvPr/>
        </p:nvSpPr>
        <p:spPr>
          <a:xfrm>
            <a:off x="5410200" y="2590800"/>
            <a:ext cx="33421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para redes pequeñas</a:t>
            </a:r>
            <a:endParaRPr lang="es-GT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5219700" y="3009900"/>
            <a:ext cx="3619500" cy="1150590"/>
          </a:xfrm>
          <a:prstGeom prst="rect">
            <a:avLst/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15" name="Shape 13"/>
          <p:cNvSpPr/>
          <p:nvPr/>
        </p:nvSpPr>
        <p:spPr>
          <a:xfrm>
            <a:off x="5238750" y="3009900"/>
            <a:ext cx="0" cy="115059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6" name="Text 14"/>
          <p:cNvSpPr/>
          <p:nvPr/>
        </p:nvSpPr>
        <p:spPr>
          <a:xfrm>
            <a:off x="5410200" y="3200400"/>
            <a:ext cx="33421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s-GT" sz="1050" b="1" noProof="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Desventajas</a:t>
            </a:r>
            <a:endParaRPr lang="es-GT" sz="1050" noProof="0" dirty="0"/>
          </a:p>
        </p:txBody>
      </p:sp>
      <p:sp>
        <p:nvSpPr>
          <p:cNvPr id="17" name="Text 15"/>
          <p:cNvSpPr/>
          <p:nvPr/>
        </p:nvSpPr>
        <p:spPr>
          <a:xfrm>
            <a:off x="5410200" y="3436590"/>
            <a:ext cx="33421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Convergencia lenta</a:t>
            </a:r>
            <a:endParaRPr lang="es-GT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5410200" y="3627090"/>
            <a:ext cx="33421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 limitada</a:t>
            </a:r>
            <a:endParaRPr lang="es-GT" sz="900" noProof="0" dirty="0"/>
          </a:p>
        </p:txBody>
      </p:sp>
      <p:sp>
        <p:nvSpPr>
          <p:cNvPr id="19" name="Text 17"/>
          <p:cNvSpPr/>
          <p:nvPr/>
        </p:nvSpPr>
        <p:spPr>
          <a:xfrm>
            <a:off x="5410200" y="3817590"/>
            <a:ext cx="33421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considera ancho de banda</a:t>
            </a:r>
            <a:endParaRPr lang="es-GT" sz="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FF6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44885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s-GT" sz="22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 - Open </a:t>
            </a:r>
            <a:r>
              <a:rPr lang="es-GT" sz="2250" b="1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</a:t>
            </a:r>
            <a:r>
              <a:rPr lang="es-GT" sz="22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2250" b="1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</a:t>
            </a:r>
            <a:r>
              <a:rPr lang="es-GT" sz="22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2250" b="1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</a:t>
            </a:r>
            <a:endParaRPr lang="es-GT" sz="2250" noProof="0" dirty="0"/>
          </a:p>
        </p:txBody>
      </p:sp>
      <p:sp>
        <p:nvSpPr>
          <p:cNvPr id="4" name="Text 2"/>
          <p:cNvSpPr/>
          <p:nvPr/>
        </p:nvSpPr>
        <p:spPr>
          <a:xfrm>
            <a:off x="304800" y="139065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35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endParaRPr lang="es-GT" sz="1350" noProof="0" dirty="0"/>
          </a:p>
        </p:txBody>
      </p:sp>
      <p:sp>
        <p:nvSpPr>
          <p:cNvPr id="5" name="Text 3"/>
          <p:cNvSpPr/>
          <p:nvPr/>
        </p:nvSpPr>
        <p:spPr>
          <a:xfrm>
            <a:off x="304800" y="1733550"/>
            <a:ext cx="8705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10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 es un protocolo de enrutamiento de estado de enlace que utiliza el algoritmo SPF de Dijkstra para calcular la ruta más corta.</a:t>
            </a:r>
            <a:endParaRPr lang="es-GT" sz="1050" noProof="0" dirty="0"/>
          </a:p>
        </p:txBody>
      </p:sp>
      <p:sp>
        <p:nvSpPr>
          <p:cNvPr id="6" name="Text 4"/>
          <p:cNvSpPr/>
          <p:nvPr/>
        </p:nvSpPr>
        <p:spPr>
          <a:xfrm>
            <a:off x="304800" y="2152650"/>
            <a:ext cx="4274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200" b="1" noProof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</a:t>
            </a:r>
            <a:endParaRPr lang="es-GT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304800" y="2457450"/>
            <a:ext cx="4191000" cy="14859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de estado de enlace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Métrica: costo basado en ancho de banda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Convergencia rápida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límite de saltos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Soporta VLSM y CIDR</a:t>
            </a:r>
            <a:endParaRPr lang="es-GT" sz="1350" noProof="0" dirty="0"/>
          </a:p>
        </p:txBody>
      </p:sp>
      <p:sp>
        <p:nvSpPr>
          <p:cNvPr id="8" name="Text 6"/>
          <p:cNvSpPr/>
          <p:nvPr/>
        </p:nvSpPr>
        <p:spPr>
          <a:xfrm>
            <a:off x="4648200" y="2152650"/>
            <a:ext cx="4274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200" b="1" noProof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 sobre RIP</a:t>
            </a:r>
            <a:endParaRPr lang="es-GT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4648200" y="2457450"/>
            <a:ext cx="4191000" cy="14859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Convergencia más rápida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Escalable para redes grandes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 más precisa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Actualizaciones solo cuando hay cambios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jerárquica con áreas</a:t>
            </a:r>
            <a:endParaRPr lang="es-GT" sz="1350" noProof="0" dirty="0"/>
          </a:p>
        </p:txBody>
      </p:sp>
      <p:sp>
        <p:nvSpPr>
          <p:cNvPr id="10" name="Text 8"/>
          <p:cNvSpPr/>
          <p:nvPr/>
        </p:nvSpPr>
        <p:spPr>
          <a:xfrm>
            <a:off x="304800" y="4095750"/>
            <a:ext cx="8534400" cy="495300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11" name="Text 9"/>
          <p:cNvSpPr/>
          <p:nvPr/>
        </p:nvSpPr>
        <p:spPr>
          <a:xfrm>
            <a:off x="457200" y="4248150"/>
            <a:ext cx="8394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s-GT" sz="10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 es ideal para redes empresariales medianas y grandes que requieren escalabilidad y convergencia rápida.</a:t>
            </a:r>
            <a:endParaRPr lang="es-GT" sz="105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46342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s-GT" sz="22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OSPF - Área Única</a:t>
            </a:r>
            <a:endParaRPr lang="es-GT" sz="2250" noProof="0" dirty="0"/>
          </a:p>
        </p:txBody>
      </p:sp>
      <p:sp>
        <p:nvSpPr>
          <p:cNvPr id="4" name="Text 2"/>
          <p:cNvSpPr/>
          <p:nvPr/>
        </p:nvSpPr>
        <p:spPr>
          <a:xfrm>
            <a:off x="304800" y="1623120"/>
            <a:ext cx="87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20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Básicos</a:t>
            </a:r>
            <a:endParaRPr lang="es-GT" sz="1200" noProof="0" dirty="0"/>
          </a:p>
        </p:txBody>
      </p:sp>
      <p:sp>
        <p:nvSpPr>
          <p:cNvPr id="5" name="Text 3"/>
          <p:cNvSpPr/>
          <p:nvPr/>
        </p:nvSpPr>
        <p:spPr>
          <a:xfrm>
            <a:off x="304800" y="1927920"/>
            <a:ext cx="8534400" cy="822722"/>
          </a:xfrm>
          <a:prstGeom prst="rect">
            <a:avLst/>
          </a:prstGeom>
          <a:solidFill>
            <a:srgbClr val="263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6" name="Shape 4"/>
          <p:cNvSpPr/>
          <p:nvPr/>
        </p:nvSpPr>
        <p:spPr>
          <a:xfrm>
            <a:off x="323850" y="1927920"/>
            <a:ext cx="0" cy="822722"/>
          </a:xfrm>
          <a:prstGeom prst="line">
            <a:avLst/>
          </a:prstGeom>
          <a:noFill/>
          <a:ln w="381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7" name="Text 5"/>
          <p:cNvSpPr/>
          <p:nvPr/>
        </p:nvSpPr>
        <p:spPr>
          <a:xfrm>
            <a:off x="525661" y="2110680"/>
            <a:ext cx="82933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s-GT" sz="900" noProof="0" dirty="0" err="1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r>
              <a:rPr lang="es-GT" sz="900" noProof="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s-GT" sz="900" noProof="0" dirty="0" err="1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r>
              <a:rPr lang="es-GT" sz="900" noProof="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)# </a:t>
            </a:r>
            <a:r>
              <a:rPr lang="es-GT" sz="900" noProof="0" dirty="0" err="1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r>
              <a:rPr lang="es-GT" sz="900" noProof="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900" noProof="0" dirty="0" err="1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</a:t>
            </a:r>
            <a:r>
              <a:rPr lang="es-GT" sz="900" noProof="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</a:t>
            </a:r>
            <a:endParaRPr lang="es-GT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525661" y="2263080"/>
            <a:ext cx="82933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s-GT" sz="900" noProof="0" dirty="0" err="1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r>
              <a:rPr lang="es-GT" sz="900" noProof="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s-GT" sz="900" noProof="0" dirty="0" err="1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config-router</a:t>
            </a:r>
            <a:r>
              <a:rPr lang="es-GT" sz="900" noProof="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)# </a:t>
            </a:r>
            <a:r>
              <a:rPr lang="es-GT" sz="900" noProof="0" dirty="0" err="1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r>
              <a:rPr lang="es-GT" sz="900" noProof="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192.168.1.0 0.0.0.255 </a:t>
            </a:r>
            <a:r>
              <a:rPr lang="es-GT" sz="900" noProof="0" dirty="0" err="1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r>
              <a:rPr lang="es-GT" sz="900" noProof="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</a:t>
            </a:r>
            <a:endParaRPr lang="es-GT" sz="900" noProof="0" dirty="0"/>
          </a:p>
        </p:txBody>
      </p:sp>
      <p:sp>
        <p:nvSpPr>
          <p:cNvPr id="9" name="Text 7"/>
          <p:cNvSpPr/>
          <p:nvPr/>
        </p:nvSpPr>
        <p:spPr>
          <a:xfrm>
            <a:off x="525661" y="2415480"/>
            <a:ext cx="82933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s-GT" sz="900" noProof="0" dirty="0" err="1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r>
              <a:rPr lang="es-GT" sz="900" noProof="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s-GT" sz="900" noProof="0" dirty="0" err="1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config-router</a:t>
            </a:r>
            <a:r>
              <a:rPr lang="es-GT" sz="900" noProof="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)# </a:t>
            </a:r>
            <a:r>
              <a:rPr lang="es-GT" sz="900" noProof="0" dirty="0" err="1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r>
              <a:rPr lang="es-GT" sz="900" noProof="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10.0.0.0 0.255.255.255 </a:t>
            </a:r>
            <a:r>
              <a:rPr lang="es-GT" sz="900" noProof="0" dirty="0" err="1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r>
              <a:rPr lang="es-GT" sz="900" noProof="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</a:t>
            </a:r>
            <a:endParaRPr lang="es-GT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304800" y="2941141"/>
            <a:ext cx="42748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s-GT" sz="1050" b="1" noProof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Parámetros</a:t>
            </a:r>
            <a:endParaRPr lang="es-GT" sz="1050" noProof="0" dirty="0"/>
          </a:p>
        </p:txBody>
      </p:sp>
      <p:sp>
        <p:nvSpPr>
          <p:cNvPr id="11" name="Text 9"/>
          <p:cNvSpPr/>
          <p:nvPr/>
        </p:nvSpPr>
        <p:spPr>
          <a:xfrm>
            <a:off x="304800" y="3177332"/>
            <a:ext cx="4191000" cy="11811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ID: identificador local del proceso OSPF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Network: red a anunciar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Wildcard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máscara inversa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área OSPF (0 =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s-GT" sz="1350" noProof="0" dirty="0"/>
          </a:p>
        </p:txBody>
      </p:sp>
      <p:sp>
        <p:nvSpPr>
          <p:cNvPr id="12" name="Text 10"/>
          <p:cNvSpPr/>
          <p:nvPr/>
        </p:nvSpPr>
        <p:spPr>
          <a:xfrm>
            <a:off x="4648200" y="2941141"/>
            <a:ext cx="42748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s-GT" sz="1050" b="1" noProof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</a:t>
            </a:r>
            <a:endParaRPr lang="es-GT" sz="1050" noProof="0" dirty="0"/>
          </a:p>
        </p:txBody>
      </p:sp>
      <p:sp>
        <p:nvSpPr>
          <p:cNvPr id="13" name="Text 11"/>
          <p:cNvSpPr/>
          <p:nvPr/>
        </p:nvSpPr>
        <p:spPr>
          <a:xfrm>
            <a:off x="4648200" y="3177332"/>
            <a:ext cx="4191000" cy="11811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ip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ip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interface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ip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ip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</a:t>
            </a:r>
            <a:endParaRPr lang="es-GT" sz="135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s-GT" sz="22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 con Múltiples Áreas</a:t>
            </a:r>
            <a:endParaRPr lang="es-GT" sz="2250" noProof="0" dirty="0"/>
          </a:p>
        </p:txBody>
      </p:sp>
      <p:sp>
        <p:nvSpPr>
          <p:cNvPr id="4" name="Text 2"/>
          <p:cNvSpPr/>
          <p:nvPr/>
        </p:nvSpPr>
        <p:spPr>
          <a:xfrm>
            <a:off x="304800" y="1478310"/>
            <a:ext cx="87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20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 de Áreas</a:t>
            </a:r>
            <a:endParaRPr lang="es-GT" sz="1200" noProof="0" dirty="0"/>
          </a:p>
        </p:txBody>
      </p:sp>
      <p:sp>
        <p:nvSpPr>
          <p:cNvPr id="5" name="Text 3"/>
          <p:cNvSpPr/>
          <p:nvPr/>
        </p:nvSpPr>
        <p:spPr>
          <a:xfrm>
            <a:off x="304800" y="1783110"/>
            <a:ext cx="8705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10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 divide la red en áreas para mejorar escalabilidad y reducir el tráfico de actualización.</a:t>
            </a:r>
            <a:endParaRPr lang="es-GT" sz="1050" noProof="0" dirty="0"/>
          </a:p>
        </p:txBody>
      </p:sp>
      <p:sp>
        <p:nvSpPr>
          <p:cNvPr id="6" name="Text 4"/>
          <p:cNvSpPr/>
          <p:nvPr/>
        </p:nvSpPr>
        <p:spPr>
          <a:xfrm>
            <a:off x="304800" y="2202210"/>
            <a:ext cx="42748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s-GT" sz="1050" b="1" noProof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Áreas</a:t>
            </a:r>
            <a:endParaRPr lang="es-GT" sz="1050" noProof="0" dirty="0"/>
          </a:p>
        </p:txBody>
      </p:sp>
      <p:sp>
        <p:nvSpPr>
          <p:cNvPr id="7" name="Text 5"/>
          <p:cNvSpPr/>
          <p:nvPr/>
        </p:nvSpPr>
        <p:spPr>
          <a:xfrm>
            <a:off x="304800" y="2438400"/>
            <a:ext cx="4191000" cy="8763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0 (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): área principal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Áreas regulares: conectadas al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Áreas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limitan información de rutas</a:t>
            </a:r>
            <a:endParaRPr lang="es-GT" sz="1350" noProof="0" dirty="0"/>
          </a:p>
        </p:txBody>
      </p:sp>
      <p:sp>
        <p:nvSpPr>
          <p:cNvPr id="8" name="Text 6"/>
          <p:cNvSpPr/>
          <p:nvPr/>
        </p:nvSpPr>
        <p:spPr>
          <a:xfrm>
            <a:off x="4648200" y="2202210"/>
            <a:ext cx="42748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s-GT" sz="1050" b="1" noProof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</a:t>
            </a:r>
            <a:r>
              <a:rPr lang="es-GT" sz="1050" b="1" noProof="0" dirty="0" err="1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Routers</a:t>
            </a:r>
            <a:endParaRPr lang="es-GT" sz="1050" noProof="0" dirty="0"/>
          </a:p>
        </p:txBody>
      </p:sp>
      <p:sp>
        <p:nvSpPr>
          <p:cNvPr id="9" name="Text 7"/>
          <p:cNvSpPr/>
          <p:nvPr/>
        </p:nvSpPr>
        <p:spPr>
          <a:xfrm>
            <a:off x="4648200" y="2438400"/>
            <a:ext cx="4191000" cy="8763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dentro de un área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ABR: conecta múltiples áreas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ASBR: conecta a redes externas</a:t>
            </a:r>
            <a:endParaRPr lang="es-GT" sz="1350" noProof="0" dirty="0"/>
          </a:p>
        </p:txBody>
      </p:sp>
      <p:sp>
        <p:nvSpPr>
          <p:cNvPr id="10" name="Text 8"/>
          <p:cNvSpPr/>
          <p:nvPr/>
        </p:nvSpPr>
        <p:spPr>
          <a:xfrm>
            <a:off x="304800" y="3505200"/>
            <a:ext cx="8705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s-GT" sz="105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de Configuración</a:t>
            </a:r>
            <a:endParaRPr lang="es-GT" sz="1050" noProof="0" dirty="0"/>
          </a:p>
        </p:txBody>
      </p:sp>
      <p:sp>
        <p:nvSpPr>
          <p:cNvPr id="11" name="Text 9"/>
          <p:cNvSpPr/>
          <p:nvPr/>
        </p:nvSpPr>
        <p:spPr>
          <a:xfrm>
            <a:off x="304800" y="3741390"/>
            <a:ext cx="8534400" cy="762000"/>
          </a:xfrm>
          <a:prstGeom prst="rect">
            <a:avLst/>
          </a:prstGeom>
          <a:solidFill>
            <a:srgbClr val="263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12" name="Shape 10"/>
          <p:cNvSpPr/>
          <p:nvPr/>
        </p:nvSpPr>
        <p:spPr>
          <a:xfrm>
            <a:off x="323850" y="3741390"/>
            <a:ext cx="0" cy="762000"/>
          </a:xfrm>
          <a:prstGeom prst="line">
            <a:avLst/>
          </a:prstGeom>
          <a:noFill/>
          <a:ln w="381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3" name="Text 11"/>
          <p:cNvSpPr/>
          <p:nvPr/>
        </p:nvSpPr>
        <p:spPr>
          <a:xfrm>
            <a:off x="495300" y="3893790"/>
            <a:ext cx="8355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s-GT" sz="900" noProof="0" dirty="0" err="1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r>
              <a:rPr lang="es-GT" sz="900" noProof="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s-GT" sz="900" noProof="0" dirty="0" err="1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r>
              <a:rPr lang="es-GT" sz="900" noProof="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)# </a:t>
            </a:r>
            <a:r>
              <a:rPr lang="es-GT" sz="900" noProof="0" dirty="0" err="1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r>
              <a:rPr lang="es-GT" sz="900" noProof="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900" noProof="0" dirty="0" err="1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</a:t>
            </a:r>
            <a:r>
              <a:rPr lang="es-GT" sz="900" noProof="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</a:t>
            </a:r>
            <a:endParaRPr lang="es-GT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495300" y="4046190"/>
            <a:ext cx="8355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s-GT" sz="900" noProof="0" dirty="0" err="1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r>
              <a:rPr lang="es-GT" sz="900" noProof="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s-GT" sz="900" noProof="0" dirty="0" err="1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config-router</a:t>
            </a:r>
            <a:r>
              <a:rPr lang="es-GT" sz="900" noProof="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)# </a:t>
            </a:r>
            <a:r>
              <a:rPr lang="es-GT" sz="900" noProof="0" dirty="0" err="1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r>
              <a:rPr lang="es-GT" sz="900" noProof="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10.1.0.0 0.0.255.255 </a:t>
            </a:r>
            <a:r>
              <a:rPr lang="es-GT" sz="900" noProof="0" dirty="0" err="1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r>
              <a:rPr lang="es-GT" sz="900" noProof="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</a:t>
            </a:r>
            <a:endParaRPr lang="es-GT" sz="900" noProof="0" dirty="0"/>
          </a:p>
        </p:txBody>
      </p:sp>
      <p:sp>
        <p:nvSpPr>
          <p:cNvPr id="15" name="Text 13"/>
          <p:cNvSpPr/>
          <p:nvPr/>
        </p:nvSpPr>
        <p:spPr>
          <a:xfrm>
            <a:off x="495300" y="4198590"/>
            <a:ext cx="8355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s-GT" sz="900" noProof="0" dirty="0" err="1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r>
              <a:rPr lang="es-GT" sz="900" noProof="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s-GT" sz="900" noProof="0" dirty="0" err="1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config-router</a:t>
            </a:r>
            <a:r>
              <a:rPr lang="es-GT" sz="900" noProof="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)# </a:t>
            </a:r>
            <a:r>
              <a:rPr lang="es-GT" sz="900" noProof="0" dirty="0" err="1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r>
              <a:rPr lang="es-GT" sz="900" noProof="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10.2.0.0 0.0.255.255 </a:t>
            </a:r>
            <a:r>
              <a:rPr lang="es-GT" sz="900" noProof="0" dirty="0" err="1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r>
              <a:rPr lang="es-GT" sz="900" noProof="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</a:t>
            </a:r>
            <a:endParaRPr lang="es-GT" sz="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FF6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s-GT" sz="22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de Métricas en OSPF</a:t>
            </a:r>
            <a:endParaRPr lang="es-GT" sz="2250" noProof="0" dirty="0"/>
          </a:p>
        </p:txBody>
      </p:sp>
      <p:sp>
        <p:nvSpPr>
          <p:cNvPr id="4" name="Text 2"/>
          <p:cNvSpPr/>
          <p:nvPr/>
        </p:nvSpPr>
        <p:spPr>
          <a:xfrm>
            <a:off x="304800" y="1066800"/>
            <a:ext cx="8534400" cy="16002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5" name="Shape 3"/>
          <p:cNvSpPr/>
          <p:nvPr/>
        </p:nvSpPr>
        <p:spPr>
          <a:xfrm>
            <a:off x="323850" y="1066800"/>
            <a:ext cx="0" cy="1600200"/>
          </a:xfrm>
          <a:prstGeom prst="line">
            <a:avLst/>
          </a:prstGeom>
          <a:noFill/>
          <a:ln w="381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6" name="Text 4"/>
          <p:cNvSpPr/>
          <p:nvPr/>
        </p:nvSpPr>
        <p:spPr>
          <a:xfrm>
            <a:off x="571500" y="1333500"/>
            <a:ext cx="8199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35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Fórmula del Costo OSPF</a:t>
            </a:r>
            <a:endParaRPr lang="es-GT" sz="1350" noProof="0" dirty="0"/>
          </a:p>
        </p:txBody>
      </p:sp>
      <p:sp>
        <p:nvSpPr>
          <p:cNvPr id="7" name="Text 5"/>
          <p:cNvSpPr/>
          <p:nvPr/>
        </p:nvSpPr>
        <p:spPr>
          <a:xfrm>
            <a:off x="491109" y="1752600"/>
            <a:ext cx="81998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GT" sz="1800" noProof="0" dirty="0">
                <a:solidFill>
                  <a:srgbClr val="FF6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 = 10^8 / Ancho de Banda (bps)</a:t>
            </a:r>
            <a:endParaRPr lang="es-GT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491109" y="2209800"/>
            <a:ext cx="8199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10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Referencia: 100 Mbps (</a:t>
            </a:r>
            <a:r>
              <a:rPr lang="es-GT" sz="10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r>
              <a:rPr lang="es-GT" sz="10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Ethernet)</a:t>
            </a:r>
            <a:endParaRPr lang="es-GT" sz="1050" noProof="0" dirty="0"/>
          </a:p>
        </p:txBody>
      </p:sp>
      <p:sp>
        <p:nvSpPr>
          <p:cNvPr id="9" name="Text 7"/>
          <p:cNvSpPr/>
          <p:nvPr/>
        </p:nvSpPr>
        <p:spPr>
          <a:xfrm>
            <a:off x="304800" y="2857500"/>
            <a:ext cx="87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20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de Costos</a:t>
            </a:r>
            <a:endParaRPr lang="es-GT" sz="1200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484501"/>
              </p:ext>
            </p:extLst>
          </p:nvPr>
        </p:nvGraphicFramePr>
        <p:xfrm>
          <a:off x="304800" y="3162300"/>
          <a:ext cx="8534400" cy="1714500"/>
        </p:xfrm>
        <a:graphic>
          <a:graphicData uri="http://schemas.openxmlformats.org/drawingml/2006/table">
            <a:tbl>
              <a:tblPr/>
              <a:tblGrid>
                <a:gridCol w="28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100" b="1" noProof="0" dirty="0">
                          <a:solidFill>
                            <a:srgbClr val="FFFFFF"/>
                          </a:solidFill>
                        </a:rPr>
                        <a:t>Tipo de Enlace</a:t>
                      </a:r>
                      <a:endParaRPr lang="es-GT" sz="11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100" b="1" noProof="0" dirty="0">
                          <a:solidFill>
                            <a:srgbClr val="FFFFFF"/>
                          </a:solidFill>
                        </a:rPr>
                        <a:t>Ancho de Banda</a:t>
                      </a:r>
                      <a:endParaRPr lang="es-GT" sz="11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100" b="1" noProof="0" dirty="0">
                          <a:solidFill>
                            <a:srgbClr val="FFFFFF"/>
                          </a:solidFill>
                        </a:rPr>
                        <a:t>Costo OSPF</a:t>
                      </a:r>
                      <a:endParaRPr lang="es-GT" sz="11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100" noProof="0" dirty="0">
                          <a:solidFill>
                            <a:srgbClr val="000000"/>
                          </a:solidFill>
                        </a:rPr>
                        <a:t>Serial (64 kbps)</a:t>
                      </a:r>
                      <a:endParaRPr lang="es-GT" sz="11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100" noProof="0" dirty="0">
                          <a:solidFill>
                            <a:srgbClr val="000000"/>
                          </a:solidFill>
                        </a:rPr>
                        <a:t>64,000 bps</a:t>
                      </a:r>
                      <a:endParaRPr lang="es-GT" sz="11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100" noProof="0" dirty="0">
                          <a:solidFill>
                            <a:srgbClr val="000000"/>
                          </a:solidFill>
                        </a:rPr>
                        <a:t>1562</a:t>
                      </a:r>
                      <a:endParaRPr lang="es-GT" sz="11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100" noProof="0" dirty="0">
                          <a:solidFill>
                            <a:srgbClr val="000000"/>
                          </a:solidFill>
                        </a:rPr>
                        <a:t>T1 (1.544 Mbps)</a:t>
                      </a:r>
                      <a:endParaRPr lang="es-GT" sz="11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100" noProof="0" dirty="0">
                          <a:solidFill>
                            <a:srgbClr val="000000"/>
                          </a:solidFill>
                        </a:rPr>
                        <a:t>1,544,000 bps</a:t>
                      </a:r>
                      <a:endParaRPr lang="es-GT" sz="11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100" noProof="0" dirty="0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s-GT" sz="11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100" noProof="0" dirty="0">
                          <a:solidFill>
                            <a:srgbClr val="000000"/>
                          </a:solidFill>
                        </a:rPr>
                        <a:t>Ethernet (10 Mbps)</a:t>
                      </a:r>
                      <a:endParaRPr lang="es-GT" sz="11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100" noProof="0" dirty="0">
                          <a:solidFill>
                            <a:srgbClr val="000000"/>
                          </a:solidFill>
                        </a:rPr>
                        <a:t>10,000,000 bps</a:t>
                      </a:r>
                      <a:endParaRPr lang="es-GT" sz="11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100" noProof="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s-GT" sz="11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100" noProof="0" dirty="0" err="1">
                          <a:solidFill>
                            <a:srgbClr val="000000"/>
                          </a:solidFill>
                        </a:rPr>
                        <a:t>Fast</a:t>
                      </a:r>
                      <a:r>
                        <a:rPr lang="es-GT" sz="1100" noProof="0" dirty="0">
                          <a:solidFill>
                            <a:srgbClr val="000000"/>
                          </a:solidFill>
                        </a:rPr>
                        <a:t> Ethernet (100 Mbps)</a:t>
                      </a:r>
                      <a:endParaRPr lang="es-GT" sz="11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100" noProof="0" dirty="0">
                          <a:solidFill>
                            <a:srgbClr val="000000"/>
                          </a:solidFill>
                        </a:rPr>
                        <a:t>100,000,000 bps</a:t>
                      </a:r>
                      <a:endParaRPr lang="es-GT" sz="11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100" noProof="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s-GT" sz="11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100" noProof="0" dirty="0">
                          <a:solidFill>
                            <a:srgbClr val="000000"/>
                          </a:solidFill>
                        </a:rPr>
                        <a:t>Gigabit Ethernet (1 Gbps)</a:t>
                      </a:r>
                      <a:endParaRPr lang="es-GT" sz="11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100" noProof="0" dirty="0">
                          <a:solidFill>
                            <a:srgbClr val="000000"/>
                          </a:solidFill>
                        </a:rPr>
                        <a:t>1,000,000,000 bps</a:t>
                      </a:r>
                      <a:endParaRPr lang="es-GT" sz="11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100" noProof="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s-GT" sz="11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58390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s-GT" sz="22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Comunes y Soluciones - OSPF</a:t>
            </a:r>
            <a:endParaRPr lang="es-GT" sz="2250" noProof="0" dirty="0"/>
          </a:p>
        </p:txBody>
      </p:sp>
      <p:sp>
        <p:nvSpPr>
          <p:cNvPr id="4" name="Text 2"/>
          <p:cNvSpPr/>
          <p:nvPr/>
        </p:nvSpPr>
        <p:spPr>
          <a:xfrm>
            <a:off x="228600" y="1748879"/>
            <a:ext cx="43914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1200" b="1" noProof="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Frecuentes</a:t>
            </a:r>
            <a:endParaRPr lang="es-GT" sz="1200" noProof="0" dirty="0"/>
          </a:p>
        </p:txBody>
      </p:sp>
      <p:sp>
        <p:nvSpPr>
          <p:cNvPr id="5" name="Text 3"/>
          <p:cNvSpPr/>
          <p:nvPr/>
        </p:nvSpPr>
        <p:spPr>
          <a:xfrm>
            <a:off x="228600" y="2091779"/>
            <a:ext cx="4305300" cy="662880"/>
          </a:xfrm>
          <a:prstGeom prst="rect">
            <a:avLst/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6" name="Shape 4"/>
          <p:cNvSpPr/>
          <p:nvPr/>
        </p:nvSpPr>
        <p:spPr>
          <a:xfrm>
            <a:off x="247650" y="2091779"/>
            <a:ext cx="0" cy="66288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7" name="Text 5"/>
          <p:cNvSpPr/>
          <p:nvPr/>
        </p:nvSpPr>
        <p:spPr>
          <a:xfrm>
            <a:off x="388590" y="2251770"/>
            <a:ext cx="4103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s-GT" sz="900" b="1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Vecinos no se forman</a:t>
            </a:r>
            <a:endParaRPr lang="es-GT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388590" y="2442270"/>
            <a:ext cx="4103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máscaras de subred, temporizadores y área OSPF</a:t>
            </a:r>
            <a:endParaRPr lang="es-GT" sz="900" noProof="0" dirty="0"/>
          </a:p>
        </p:txBody>
      </p:sp>
      <p:sp>
        <p:nvSpPr>
          <p:cNvPr id="9" name="Text 7"/>
          <p:cNvSpPr/>
          <p:nvPr/>
        </p:nvSpPr>
        <p:spPr>
          <a:xfrm>
            <a:off x="228600" y="2830860"/>
            <a:ext cx="4305300" cy="662880"/>
          </a:xfrm>
          <a:prstGeom prst="rect">
            <a:avLst/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10" name="Shape 8"/>
          <p:cNvSpPr/>
          <p:nvPr/>
        </p:nvSpPr>
        <p:spPr>
          <a:xfrm>
            <a:off x="247650" y="2830860"/>
            <a:ext cx="0" cy="66288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1" name="Text 9"/>
          <p:cNvSpPr/>
          <p:nvPr/>
        </p:nvSpPr>
        <p:spPr>
          <a:xfrm>
            <a:off x="388590" y="2990850"/>
            <a:ext cx="4103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s-GT" sz="900" b="1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no aparecen</a:t>
            </a:r>
            <a:endParaRPr lang="es-GT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388590" y="3181350"/>
            <a:ext cx="4103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comando </a:t>
            </a:r>
            <a:r>
              <a:rPr lang="es-GT" sz="90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s-GT" sz="90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wildcard</a:t>
            </a: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90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</a:t>
            </a:r>
            <a:endParaRPr lang="es-GT" sz="900" noProof="0" dirty="0"/>
          </a:p>
        </p:txBody>
      </p:sp>
      <p:sp>
        <p:nvSpPr>
          <p:cNvPr id="13" name="Text 11"/>
          <p:cNvSpPr/>
          <p:nvPr/>
        </p:nvSpPr>
        <p:spPr>
          <a:xfrm>
            <a:off x="228600" y="3569940"/>
            <a:ext cx="4305300" cy="662880"/>
          </a:xfrm>
          <a:prstGeom prst="rect">
            <a:avLst/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14" name="Shape 12"/>
          <p:cNvSpPr/>
          <p:nvPr/>
        </p:nvSpPr>
        <p:spPr>
          <a:xfrm>
            <a:off x="247650" y="3569940"/>
            <a:ext cx="0" cy="66288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5" name="Text 13"/>
          <p:cNvSpPr/>
          <p:nvPr/>
        </p:nvSpPr>
        <p:spPr>
          <a:xfrm>
            <a:off x="388590" y="3729930"/>
            <a:ext cx="4103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s-GT" sz="900" b="1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r>
              <a:rPr lang="es-GT" sz="900" b="1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 duplicado</a:t>
            </a:r>
            <a:endParaRPr lang="es-GT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388590" y="3920430"/>
            <a:ext cx="4103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</a:t>
            </a:r>
            <a:r>
              <a:rPr lang="es-GT" sz="90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 manualmente</a:t>
            </a:r>
            <a:endParaRPr lang="es-GT" sz="900" noProof="0" dirty="0"/>
          </a:p>
        </p:txBody>
      </p:sp>
      <p:sp>
        <p:nvSpPr>
          <p:cNvPr id="17" name="Text 15"/>
          <p:cNvSpPr/>
          <p:nvPr/>
        </p:nvSpPr>
        <p:spPr>
          <a:xfrm>
            <a:off x="4610100" y="1748879"/>
            <a:ext cx="43914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1200" b="1" noProof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de Diagnóstico</a:t>
            </a:r>
            <a:endParaRPr lang="es-GT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4610100" y="2091779"/>
            <a:ext cx="4305300" cy="66288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19" name="Shape 17"/>
          <p:cNvSpPr/>
          <p:nvPr/>
        </p:nvSpPr>
        <p:spPr>
          <a:xfrm>
            <a:off x="4629150" y="2091779"/>
            <a:ext cx="0" cy="662880"/>
          </a:xfrm>
          <a:prstGeom prst="line">
            <a:avLst/>
          </a:prstGeom>
          <a:noFill/>
          <a:ln w="381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20" name="Text 18"/>
          <p:cNvSpPr/>
          <p:nvPr/>
        </p:nvSpPr>
        <p:spPr>
          <a:xfrm>
            <a:off x="4770090" y="2251770"/>
            <a:ext cx="4103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s-GT" sz="900" b="1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ip </a:t>
            </a:r>
            <a:r>
              <a:rPr lang="es-GT" sz="900" b="1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</a:t>
            </a:r>
            <a:r>
              <a:rPr lang="es-GT" sz="900" b="1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900" b="1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</a:t>
            </a:r>
            <a:endParaRPr lang="es-GT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4770090" y="2442270"/>
            <a:ext cx="4103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estado de vecinos OSPF</a:t>
            </a:r>
            <a:endParaRPr lang="es-GT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4610100" y="2830860"/>
            <a:ext cx="4305300" cy="66288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23" name="Shape 21"/>
          <p:cNvSpPr/>
          <p:nvPr/>
        </p:nvSpPr>
        <p:spPr>
          <a:xfrm>
            <a:off x="4629150" y="2830860"/>
            <a:ext cx="0" cy="662880"/>
          </a:xfrm>
          <a:prstGeom prst="line">
            <a:avLst/>
          </a:prstGeom>
          <a:noFill/>
          <a:ln w="381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24" name="Text 22"/>
          <p:cNvSpPr/>
          <p:nvPr/>
        </p:nvSpPr>
        <p:spPr>
          <a:xfrm>
            <a:off x="4770090" y="2990850"/>
            <a:ext cx="4103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s-GT" sz="900" b="1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ip </a:t>
            </a:r>
            <a:r>
              <a:rPr lang="es-GT" sz="900" b="1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</a:t>
            </a:r>
            <a:r>
              <a:rPr lang="es-GT" sz="900" b="1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interface</a:t>
            </a:r>
            <a:endParaRPr lang="es-GT" sz="900" noProof="0" dirty="0"/>
          </a:p>
        </p:txBody>
      </p:sp>
      <p:sp>
        <p:nvSpPr>
          <p:cNvPr id="25" name="Text 23"/>
          <p:cNvSpPr/>
          <p:nvPr/>
        </p:nvSpPr>
        <p:spPr>
          <a:xfrm>
            <a:off x="4770090" y="3181350"/>
            <a:ext cx="4103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interfaces OSPF activas</a:t>
            </a:r>
            <a:endParaRPr lang="es-GT" sz="900" noProof="0" dirty="0"/>
          </a:p>
        </p:txBody>
      </p:sp>
      <p:sp>
        <p:nvSpPr>
          <p:cNvPr id="26" name="Text 24"/>
          <p:cNvSpPr/>
          <p:nvPr/>
        </p:nvSpPr>
        <p:spPr>
          <a:xfrm>
            <a:off x="4610100" y="3569940"/>
            <a:ext cx="4305300" cy="66288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27" name="Shape 25"/>
          <p:cNvSpPr/>
          <p:nvPr/>
        </p:nvSpPr>
        <p:spPr>
          <a:xfrm>
            <a:off x="4629150" y="3569940"/>
            <a:ext cx="0" cy="662880"/>
          </a:xfrm>
          <a:prstGeom prst="line">
            <a:avLst/>
          </a:prstGeom>
          <a:noFill/>
          <a:ln w="381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28" name="Text 26"/>
          <p:cNvSpPr/>
          <p:nvPr/>
        </p:nvSpPr>
        <p:spPr>
          <a:xfrm>
            <a:off x="4770090" y="3729930"/>
            <a:ext cx="4103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s-GT" sz="900" b="1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</a:t>
            </a:r>
            <a:r>
              <a:rPr lang="es-GT" sz="900" b="1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ip </a:t>
            </a:r>
            <a:r>
              <a:rPr lang="es-GT" sz="900" b="1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</a:t>
            </a:r>
            <a:r>
              <a:rPr lang="es-GT" sz="900" b="1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900" b="1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s-GT" sz="900" noProof="0" dirty="0"/>
          </a:p>
        </p:txBody>
      </p:sp>
      <p:sp>
        <p:nvSpPr>
          <p:cNvPr id="29" name="Text 27"/>
          <p:cNvSpPr/>
          <p:nvPr/>
        </p:nvSpPr>
        <p:spPr>
          <a:xfrm>
            <a:off x="4770090" y="3920430"/>
            <a:ext cx="4103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Depurar eventos OSPF en tiempo real</a:t>
            </a:r>
            <a:endParaRPr lang="es-GT" sz="9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73643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s-GT" sz="22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EIGRP - </a:t>
            </a:r>
            <a:r>
              <a:rPr lang="es-GT" sz="2250" b="1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</a:t>
            </a:r>
            <a:r>
              <a:rPr lang="es-GT" sz="22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Interior Gateway </a:t>
            </a:r>
            <a:r>
              <a:rPr lang="es-GT" sz="2250" b="1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r>
              <a:rPr lang="es-GT" sz="22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2250" b="1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s-GT" sz="2250" noProof="0" dirty="0"/>
          </a:p>
        </p:txBody>
      </p:sp>
      <p:sp>
        <p:nvSpPr>
          <p:cNvPr id="4" name="Text 2"/>
          <p:cNvSpPr/>
          <p:nvPr/>
        </p:nvSpPr>
        <p:spPr>
          <a:xfrm>
            <a:off x="304800" y="114300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35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endParaRPr lang="es-GT" sz="1350" noProof="0" dirty="0"/>
          </a:p>
        </p:txBody>
      </p:sp>
      <p:sp>
        <p:nvSpPr>
          <p:cNvPr id="5" name="Text 3"/>
          <p:cNvSpPr/>
          <p:nvPr/>
        </p:nvSpPr>
        <p:spPr>
          <a:xfrm>
            <a:off x="304800" y="1485900"/>
            <a:ext cx="87050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10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EIGRP es un protocolo de enrutamiento híbrido avanzado de Cisco que combina características de protocolos de vector distancia y estado de enlace.</a:t>
            </a:r>
            <a:endParaRPr lang="es-GT" sz="1050" noProof="0" dirty="0"/>
          </a:p>
        </p:txBody>
      </p:sp>
      <p:sp>
        <p:nvSpPr>
          <p:cNvPr id="6" name="Text 4"/>
          <p:cNvSpPr/>
          <p:nvPr/>
        </p:nvSpPr>
        <p:spPr>
          <a:xfrm>
            <a:off x="304800" y="2095500"/>
            <a:ext cx="4274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200" b="1" noProof="0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</a:t>
            </a:r>
            <a:endParaRPr lang="es-GT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304800" y="2400300"/>
            <a:ext cx="4191000" cy="1790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híbrido avanzado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 DUAL (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Diffusing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Actualizaciones incrementales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Convergencia rápida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Balanceo de carga automático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Soporta VLSM y CIDR</a:t>
            </a:r>
            <a:endParaRPr lang="es-GT" sz="1350" noProof="0" dirty="0"/>
          </a:p>
        </p:txBody>
      </p:sp>
      <p:sp>
        <p:nvSpPr>
          <p:cNvPr id="8" name="Text 6"/>
          <p:cNvSpPr/>
          <p:nvPr/>
        </p:nvSpPr>
        <p:spPr>
          <a:xfrm>
            <a:off x="4648200" y="2247900"/>
            <a:ext cx="4274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200" b="1" noProof="0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 Compuesta</a:t>
            </a:r>
            <a:endParaRPr lang="es-GT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4648200" y="2552700"/>
            <a:ext cx="4191000" cy="14859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 de banda (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Retardo (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Confiabilidad (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(load)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MTU (opcional)</a:t>
            </a:r>
            <a:endParaRPr lang="es-GT" sz="1350" noProof="0" dirty="0"/>
          </a:p>
        </p:txBody>
      </p:sp>
      <p:sp>
        <p:nvSpPr>
          <p:cNvPr id="10" name="Text 8"/>
          <p:cNvSpPr/>
          <p:nvPr/>
        </p:nvSpPr>
        <p:spPr>
          <a:xfrm>
            <a:off x="304800" y="4343400"/>
            <a:ext cx="8534400" cy="4953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11" name="Text 9"/>
          <p:cNvSpPr/>
          <p:nvPr/>
        </p:nvSpPr>
        <p:spPr>
          <a:xfrm>
            <a:off x="457200" y="4495800"/>
            <a:ext cx="8394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s-GT" sz="10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EIGRP ofrece convergencia rápida y uso eficiente del ancho de banda, ideal para redes Cisco.</a:t>
            </a:r>
            <a:endParaRPr lang="es-GT" sz="105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44302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s-GT" sz="22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Jerárquica de EIGRP</a:t>
            </a:r>
            <a:endParaRPr lang="es-GT" sz="2250" noProof="0" dirty="0"/>
          </a:p>
        </p:txBody>
      </p:sp>
      <p:sp>
        <p:nvSpPr>
          <p:cNvPr id="4" name="Text 2"/>
          <p:cNvSpPr/>
          <p:nvPr/>
        </p:nvSpPr>
        <p:spPr>
          <a:xfrm>
            <a:off x="304800" y="1326059"/>
            <a:ext cx="8534400" cy="93702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5" name="Shape 3"/>
          <p:cNvSpPr/>
          <p:nvPr/>
        </p:nvSpPr>
        <p:spPr>
          <a:xfrm>
            <a:off x="323850" y="1326059"/>
            <a:ext cx="0" cy="937022"/>
          </a:xfrm>
          <a:prstGeom prst="line">
            <a:avLst/>
          </a:prstGeom>
          <a:noFill/>
          <a:ln w="381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6" name="Text 4"/>
          <p:cNvSpPr/>
          <p:nvPr/>
        </p:nvSpPr>
        <p:spPr>
          <a:xfrm>
            <a:off x="525661" y="1546920"/>
            <a:ext cx="82933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20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Jerárquicos</a:t>
            </a:r>
            <a:endParaRPr lang="es-GT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525661" y="1851720"/>
            <a:ext cx="82933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10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EIGRP mantiene tablas de topología y utiliza conceptos de rutas sucesoras y sucesoras factibles para garantizar rutas libres de bucles.</a:t>
            </a:r>
            <a:endParaRPr lang="es-GT" sz="1050" noProof="0" dirty="0"/>
          </a:p>
        </p:txBody>
      </p:sp>
      <p:sp>
        <p:nvSpPr>
          <p:cNvPr id="8" name="Text 6"/>
          <p:cNvSpPr/>
          <p:nvPr/>
        </p:nvSpPr>
        <p:spPr>
          <a:xfrm>
            <a:off x="304800" y="2415480"/>
            <a:ext cx="4191000" cy="8303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9" name="Shape 7"/>
          <p:cNvSpPr/>
          <p:nvPr/>
        </p:nvSpPr>
        <p:spPr>
          <a:xfrm>
            <a:off x="323850" y="2415480"/>
            <a:ext cx="0" cy="830312"/>
          </a:xfrm>
          <a:prstGeom prst="line">
            <a:avLst/>
          </a:prstGeom>
          <a:noFill/>
          <a:ln w="381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0" name="Text 8"/>
          <p:cNvSpPr/>
          <p:nvPr/>
        </p:nvSpPr>
        <p:spPr>
          <a:xfrm>
            <a:off x="525661" y="2636341"/>
            <a:ext cx="38631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s-GT" sz="1050" b="1" noProof="0" dirty="0" err="1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Successor</a:t>
            </a:r>
            <a:endParaRPr lang="es-GT" sz="1050" noProof="0" dirty="0"/>
          </a:p>
        </p:txBody>
      </p:sp>
      <p:sp>
        <p:nvSpPr>
          <p:cNvPr id="11" name="Text 9"/>
          <p:cNvSpPr/>
          <p:nvPr/>
        </p:nvSpPr>
        <p:spPr>
          <a:xfrm>
            <a:off x="525661" y="2872532"/>
            <a:ext cx="38631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primaria con menor métrica hacia el destino</a:t>
            </a:r>
            <a:endParaRPr lang="es-GT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4648200" y="2415480"/>
            <a:ext cx="4191000" cy="8303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13" name="Shape 11"/>
          <p:cNvSpPr/>
          <p:nvPr/>
        </p:nvSpPr>
        <p:spPr>
          <a:xfrm>
            <a:off x="4667250" y="2415480"/>
            <a:ext cx="0" cy="830312"/>
          </a:xfrm>
          <a:prstGeom prst="line">
            <a:avLst/>
          </a:prstGeom>
          <a:noFill/>
          <a:ln w="381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4" name="Text 12"/>
          <p:cNvSpPr/>
          <p:nvPr/>
        </p:nvSpPr>
        <p:spPr>
          <a:xfrm>
            <a:off x="4869061" y="2636341"/>
            <a:ext cx="38631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s-GT" sz="1050" b="1" noProof="0" dirty="0" err="1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</a:t>
            </a:r>
            <a:r>
              <a:rPr lang="es-GT" sz="1050" b="1" noProof="0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1050" b="1" noProof="0" dirty="0" err="1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Successor</a:t>
            </a:r>
            <a:endParaRPr lang="es-GT" sz="1050" noProof="0" dirty="0"/>
          </a:p>
        </p:txBody>
      </p:sp>
      <p:sp>
        <p:nvSpPr>
          <p:cNvPr id="15" name="Text 13"/>
          <p:cNvSpPr/>
          <p:nvPr/>
        </p:nvSpPr>
        <p:spPr>
          <a:xfrm>
            <a:off x="4869061" y="2872532"/>
            <a:ext cx="38631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respaldo sin bucles que puede usarse inmediatamente</a:t>
            </a:r>
            <a:endParaRPr lang="es-GT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304800" y="3436293"/>
            <a:ext cx="87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20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EIGRP</a:t>
            </a:r>
            <a:endParaRPr lang="es-GT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304800" y="3741093"/>
            <a:ext cx="85344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vecinos: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routers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adyacentes</a:t>
            </a:r>
            <a:endParaRPr lang="es-GT" sz="1350" noProof="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topología: todas las rutas aprendidas</a:t>
            </a:r>
            <a:endParaRPr lang="es-GT" sz="1350" noProof="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enrutamiento: mejores rutas activas</a:t>
            </a:r>
            <a:endParaRPr lang="es-GT" sz="135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44108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s-GT" sz="22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Básica de EIGRP</a:t>
            </a:r>
            <a:endParaRPr lang="es-GT" sz="2250" noProof="0" dirty="0"/>
          </a:p>
        </p:txBody>
      </p:sp>
      <p:sp>
        <p:nvSpPr>
          <p:cNvPr id="4" name="Text 2"/>
          <p:cNvSpPr/>
          <p:nvPr/>
        </p:nvSpPr>
        <p:spPr>
          <a:xfrm>
            <a:off x="304800" y="1546920"/>
            <a:ext cx="87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20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de Configuración</a:t>
            </a:r>
            <a:endParaRPr lang="es-GT" sz="1200" noProof="0" dirty="0"/>
          </a:p>
        </p:txBody>
      </p:sp>
      <p:sp>
        <p:nvSpPr>
          <p:cNvPr id="5" name="Text 3"/>
          <p:cNvSpPr/>
          <p:nvPr/>
        </p:nvSpPr>
        <p:spPr>
          <a:xfrm>
            <a:off x="304800" y="1851720"/>
            <a:ext cx="8534400" cy="975122"/>
          </a:xfrm>
          <a:prstGeom prst="rect">
            <a:avLst/>
          </a:prstGeom>
          <a:solidFill>
            <a:srgbClr val="263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6" name="Shape 4"/>
          <p:cNvSpPr/>
          <p:nvPr/>
        </p:nvSpPr>
        <p:spPr>
          <a:xfrm>
            <a:off x="323850" y="1851720"/>
            <a:ext cx="0" cy="975122"/>
          </a:xfrm>
          <a:prstGeom prst="line">
            <a:avLst/>
          </a:prstGeom>
          <a:noFill/>
          <a:ln w="381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7" name="Text 5"/>
          <p:cNvSpPr/>
          <p:nvPr/>
        </p:nvSpPr>
        <p:spPr>
          <a:xfrm>
            <a:off x="525661" y="2034480"/>
            <a:ext cx="82933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s-GT" sz="900" noProof="0" dirty="0" err="1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r>
              <a:rPr lang="es-GT" sz="900" noProof="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s-GT" sz="900" noProof="0" dirty="0" err="1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r>
              <a:rPr lang="es-GT" sz="900" noProof="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)# </a:t>
            </a:r>
            <a:r>
              <a:rPr lang="es-GT" sz="900" noProof="0" dirty="0" err="1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r>
              <a:rPr lang="es-GT" sz="900" noProof="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900" noProof="0" dirty="0" err="1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eigrp</a:t>
            </a:r>
            <a:r>
              <a:rPr lang="es-GT" sz="900" noProof="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</a:t>
            </a:r>
            <a:endParaRPr lang="es-GT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525661" y="2186880"/>
            <a:ext cx="82933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s-GT" sz="900" noProof="0" dirty="0" err="1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r>
              <a:rPr lang="es-GT" sz="900" noProof="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s-GT" sz="900" noProof="0" dirty="0" err="1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config-router</a:t>
            </a:r>
            <a:r>
              <a:rPr lang="es-GT" sz="900" noProof="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)# </a:t>
            </a:r>
            <a:r>
              <a:rPr lang="es-GT" sz="900" noProof="0" dirty="0" err="1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r>
              <a:rPr lang="es-GT" sz="900" noProof="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192.168.1.0</a:t>
            </a:r>
            <a:endParaRPr lang="es-GT" sz="900" noProof="0" dirty="0"/>
          </a:p>
        </p:txBody>
      </p:sp>
      <p:sp>
        <p:nvSpPr>
          <p:cNvPr id="9" name="Text 7"/>
          <p:cNvSpPr/>
          <p:nvPr/>
        </p:nvSpPr>
        <p:spPr>
          <a:xfrm>
            <a:off x="525661" y="2339280"/>
            <a:ext cx="82933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s-GT" sz="900" noProof="0" dirty="0" err="1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r>
              <a:rPr lang="es-GT" sz="900" noProof="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s-GT" sz="900" noProof="0" dirty="0" err="1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config-router</a:t>
            </a:r>
            <a:r>
              <a:rPr lang="es-GT" sz="900" noProof="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)# </a:t>
            </a:r>
            <a:r>
              <a:rPr lang="es-GT" sz="900" noProof="0" dirty="0" err="1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r>
              <a:rPr lang="es-GT" sz="900" noProof="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10.0.0.0</a:t>
            </a:r>
            <a:endParaRPr lang="es-GT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525661" y="2491680"/>
            <a:ext cx="82933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s-GT" sz="900" noProof="0" dirty="0" err="1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r>
              <a:rPr lang="es-GT" sz="900" noProof="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s-GT" sz="900" noProof="0" dirty="0" err="1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config-router</a:t>
            </a:r>
            <a:r>
              <a:rPr lang="es-GT" sz="900" noProof="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)# </a:t>
            </a:r>
            <a:r>
              <a:rPr lang="es-GT" sz="900" noProof="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</a:t>
            </a:r>
            <a:r>
              <a:rPr lang="es-GT" sz="900" noProof="0" dirty="0" err="1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auto-summary</a:t>
            </a:r>
            <a:endParaRPr lang="es-GT" sz="900" noProof="0" dirty="0"/>
          </a:p>
        </p:txBody>
      </p:sp>
      <p:sp>
        <p:nvSpPr>
          <p:cNvPr id="11" name="Text 9"/>
          <p:cNvSpPr/>
          <p:nvPr/>
        </p:nvSpPr>
        <p:spPr>
          <a:xfrm>
            <a:off x="304800" y="3169741"/>
            <a:ext cx="42748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s-GT" sz="1050" b="1" noProof="0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Parámetros</a:t>
            </a:r>
            <a:endParaRPr lang="es-GT" sz="1050" noProof="0" dirty="0"/>
          </a:p>
        </p:txBody>
      </p:sp>
      <p:sp>
        <p:nvSpPr>
          <p:cNvPr id="12" name="Text 10"/>
          <p:cNvSpPr/>
          <p:nvPr/>
        </p:nvSpPr>
        <p:spPr>
          <a:xfrm>
            <a:off x="304800" y="3405932"/>
            <a:ext cx="4191000" cy="8763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sistema autónomo (1-65535)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Network: red a anunciar (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classful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auto-summary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deshabilita resumen automático</a:t>
            </a:r>
            <a:endParaRPr lang="es-GT" sz="1350" noProof="0" dirty="0"/>
          </a:p>
        </p:txBody>
      </p:sp>
      <p:sp>
        <p:nvSpPr>
          <p:cNvPr id="13" name="Text 11"/>
          <p:cNvSpPr/>
          <p:nvPr/>
        </p:nvSpPr>
        <p:spPr>
          <a:xfrm>
            <a:off x="4648200" y="3017341"/>
            <a:ext cx="42748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s-GT" sz="1050" b="1" noProof="0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</a:t>
            </a:r>
            <a:endParaRPr lang="es-GT" sz="1050" noProof="0" dirty="0"/>
          </a:p>
        </p:txBody>
      </p:sp>
      <p:sp>
        <p:nvSpPr>
          <p:cNvPr id="14" name="Text 12"/>
          <p:cNvSpPr/>
          <p:nvPr/>
        </p:nvSpPr>
        <p:spPr>
          <a:xfrm>
            <a:off x="4648200" y="3253532"/>
            <a:ext cx="4191000" cy="11811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ip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eigrp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neighbors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ip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eigrp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ip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eigrp</a:t>
            </a:r>
            <a:endParaRPr lang="es-GT" sz="1350" noProof="0" dirty="0"/>
          </a:p>
          <a:p>
            <a:pPr marL="57150" indent="-57150" algn="l">
              <a:lnSpc>
                <a:spcPts val="2100"/>
              </a:lnSpc>
              <a:buSzPct val="100000"/>
              <a:buChar char="•"/>
            </a:pPr>
            <a:r>
              <a:rPr lang="es-GT" sz="135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ip </a:t>
            </a:r>
            <a:r>
              <a:rPr lang="es-GT" sz="135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</a:t>
            </a:r>
            <a:endParaRPr lang="es-GT" sz="135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288d9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47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" y="152400"/>
            <a:ext cx="49549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s-GT" sz="22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EIGRP vs OSPF: Ventajas de EIGRP</a:t>
            </a:r>
            <a:endParaRPr lang="es-GT" sz="2250" noProof="0" dirty="0"/>
          </a:p>
        </p:txBody>
      </p:sp>
      <p:sp>
        <p:nvSpPr>
          <p:cNvPr id="4" name="Text 1"/>
          <p:cNvSpPr/>
          <p:nvPr/>
        </p:nvSpPr>
        <p:spPr>
          <a:xfrm>
            <a:off x="304800" y="1504950"/>
            <a:ext cx="87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20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de Protocolos</a:t>
            </a:r>
            <a:endParaRPr lang="es-GT" sz="1200" noProof="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048745"/>
              </p:ext>
            </p:extLst>
          </p:nvPr>
        </p:nvGraphicFramePr>
        <p:xfrm>
          <a:off x="304800" y="1809750"/>
          <a:ext cx="8534400" cy="2667000"/>
        </p:xfrm>
        <a:graphic>
          <a:graphicData uri="http://schemas.openxmlformats.org/drawingml/2006/table">
            <a:tbl>
              <a:tblPr/>
              <a:tblGrid>
                <a:gridCol w="28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b="1" noProof="0" dirty="0">
                          <a:solidFill>
                            <a:srgbClr val="FFFFFF"/>
                          </a:solidFill>
                        </a:rPr>
                        <a:t>Característica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b="1" noProof="0" dirty="0">
                          <a:solidFill>
                            <a:srgbClr val="FFFFFF"/>
                          </a:solidFill>
                        </a:rPr>
                        <a:t>EIGRP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b="1" noProof="0" dirty="0">
                          <a:solidFill>
                            <a:srgbClr val="FFFFFF"/>
                          </a:solidFill>
                        </a:rPr>
                        <a:t>OSPF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Tipo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Híbrido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Estado de enlace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Convergencia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Muy rápida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Rápida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Configuración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Simple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Moderada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CPU y Memoria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Bajo consumo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Mayor consumo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Escalabilidad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Buena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Excelente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Estándar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Propietario Cisco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Abierto (RFC)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Actualizaciones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Incrementales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Solo cambios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Balanceo de carga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Automático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Igual costo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Soporte </a:t>
                      </a:r>
                      <a:r>
                        <a:rPr lang="es-GT" sz="1000" noProof="0" dirty="0" err="1">
                          <a:solidFill>
                            <a:srgbClr val="000000"/>
                          </a:solidFill>
                        </a:rPr>
                        <a:t>multi-vendor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Limitado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GT" sz="1000" noProof="0" dirty="0">
                          <a:solidFill>
                            <a:srgbClr val="000000"/>
                          </a:solidFill>
                        </a:rPr>
                        <a:t>Completo</a:t>
                      </a:r>
                      <a:endParaRPr lang="es-GT" sz="1000" noProof="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8422"/>
          </a:xfrm>
          <a:prstGeom prst="rect">
            <a:avLst/>
          </a:prstGeom>
          <a:solidFill>
            <a:srgbClr val="FF6F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3" name="Text 1"/>
          <p:cNvSpPr/>
          <p:nvPr/>
        </p:nvSpPr>
        <p:spPr>
          <a:xfrm>
            <a:off x="304800" y="182761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s-GT" sz="22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Clave</a:t>
            </a:r>
            <a:endParaRPr lang="es-GT" sz="2250" noProof="0" dirty="0"/>
          </a:p>
        </p:txBody>
      </p:sp>
      <p:sp>
        <p:nvSpPr>
          <p:cNvPr id="4" name="Text 2"/>
          <p:cNvSpPr/>
          <p:nvPr/>
        </p:nvSpPr>
        <p:spPr>
          <a:xfrm>
            <a:off x="0" y="860822"/>
            <a:ext cx="9144000" cy="428267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5" name="Text 3"/>
          <p:cNvSpPr/>
          <p:nvPr/>
        </p:nvSpPr>
        <p:spPr>
          <a:xfrm>
            <a:off x="228600" y="1524000"/>
            <a:ext cx="426720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6" name="Shape 4"/>
          <p:cNvSpPr/>
          <p:nvPr/>
        </p:nvSpPr>
        <p:spPr>
          <a:xfrm>
            <a:off x="252413" y="1524000"/>
            <a:ext cx="0" cy="762000"/>
          </a:xfrm>
          <a:prstGeom prst="line">
            <a:avLst/>
          </a:prstGeom>
          <a:noFill/>
          <a:ln w="47625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7" name="Text 5"/>
          <p:cNvSpPr/>
          <p:nvPr/>
        </p:nvSpPr>
        <p:spPr>
          <a:xfrm>
            <a:off x="428625" y="1714500"/>
            <a:ext cx="3993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s-GT" sz="105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</a:t>
            </a:r>
            <a:endParaRPr lang="es-GT" sz="1050" noProof="0" dirty="0"/>
          </a:p>
        </p:txBody>
      </p:sp>
      <p:sp>
        <p:nvSpPr>
          <p:cNvPr id="8" name="Text 6"/>
          <p:cNvSpPr/>
          <p:nvPr/>
        </p:nvSpPr>
        <p:spPr>
          <a:xfrm>
            <a:off x="428625" y="194310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limitado a 15 saltos, ideal para redes pequeñas</a:t>
            </a:r>
            <a:endParaRPr lang="es-GT" sz="900" noProof="0" dirty="0"/>
          </a:p>
        </p:txBody>
      </p:sp>
      <p:sp>
        <p:nvSpPr>
          <p:cNvPr id="9" name="Text 7"/>
          <p:cNvSpPr/>
          <p:nvPr/>
        </p:nvSpPr>
        <p:spPr>
          <a:xfrm>
            <a:off x="4648200" y="1524000"/>
            <a:ext cx="426720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10" name="Shape 8"/>
          <p:cNvSpPr/>
          <p:nvPr/>
        </p:nvSpPr>
        <p:spPr>
          <a:xfrm>
            <a:off x="4672013" y="1524000"/>
            <a:ext cx="0" cy="762000"/>
          </a:xfrm>
          <a:prstGeom prst="line">
            <a:avLst/>
          </a:prstGeom>
          <a:noFill/>
          <a:ln w="47625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1" name="Text 9"/>
          <p:cNvSpPr/>
          <p:nvPr/>
        </p:nvSpPr>
        <p:spPr>
          <a:xfrm>
            <a:off x="4848225" y="1714500"/>
            <a:ext cx="3993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s-GT" sz="105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</a:t>
            </a:r>
            <a:endParaRPr lang="es-GT" sz="1050" noProof="0" dirty="0"/>
          </a:p>
        </p:txBody>
      </p:sp>
      <p:sp>
        <p:nvSpPr>
          <p:cNvPr id="12" name="Text 10"/>
          <p:cNvSpPr/>
          <p:nvPr/>
        </p:nvSpPr>
        <p:spPr>
          <a:xfrm>
            <a:off x="4848225" y="194310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enlace, escalable, convergencia rápida, estándar abierto</a:t>
            </a:r>
            <a:endParaRPr lang="es-GT" sz="900" noProof="0" dirty="0"/>
          </a:p>
        </p:txBody>
      </p:sp>
      <p:sp>
        <p:nvSpPr>
          <p:cNvPr id="13" name="Text 11"/>
          <p:cNvSpPr/>
          <p:nvPr/>
        </p:nvSpPr>
        <p:spPr>
          <a:xfrm>
            <a:off x="228600" y="2438400"/>
            <a:ext cx="426720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14" name="Shape 12"/>
          <p:cNvSpPr/>
          <p:nvPr/>
        </p:nvSpPr>
        <p:spPr>
          <a:xfrm>
            <a:off x="252413" y="2438400"/>
            <a:ext cx="0" cy="762000"/>
          </a:xfrm>
          <a:prstGeom prst="line">
            <a:avLst/>
          </a:prstGeom>
          <a:noFill/>
          <a:ln w="47625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5" name="Text 13"/>
          <p:cNvSpPr/>
          <p:nvPr/>
        </p:nvSpPr>
        <p:spPr>
          <a:xfrm>
            <a:off x="428625" y="2628900"/>
            <a:ext cx="3993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s-GT" sz="105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EIGRP</a:t>
            </a:r>
            <a:endParaRPr lang="es-GT" sz="1050" noProof="0" dirty="0"/>
          </a:p>
        </p:txBody>
      </p:sp>
      <p:sp>
        <p:nvSpPr>
          <p:cNvPr id="16" name="Text 14"/>
          <p:cNvSpPr/>
          <p:nvPr/>
        </p:nvSpPr>
        <p:spPr>
          <a:xfrm>
            <a:off x="428625" y="285750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Híbrido, convergencia muy rápida, métrica compuesta, propietario Cisco</a:t>
            </a:r>
            <a:endParaRPr lang="es-GT" sz="900" noProof="0" dirty="0"/>
          </a:p>
        </p:txBody>
      </p:sp>
      <p:sp>
        <p:nvSpPr>
          <p:cNvPr id="17" name="Text 15"/>
          <p:cNvSpPr/>
          <p:nvPr/>
        </p:nvSpPr>
        <p:spPr>
          <a:xfrm>
            <a:off x="4648200" y="2438400"/>
            <a:ext cx="426720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18" name="Shape 16"/>
          <p:cNvSpPr/>
          <p:nvPr/>
        </p:nvSpPr>
        <p:spPr>
          <a:xfrm>
            <a:off x="4672013" y="2438400"/>
            <a:ext cx="0" cy="762000"/>
          </a:xfrm>
          <a:prstGeom prst="line">
            <a:avLst/>
          </a:prstGeom>
          <a:noFill/>
          <a:ln w="47625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9" name="Text 17"/>
          <p:cNvSpPr/>
          <p:nvPr/>
        </p:nvSpPr>
        <p:spPr>
          <a:xfrm>
            <a:off x="4848225" y="2628900"/>
            <a:ext cx="3993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s-GT" sz="105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</a:t>
            </a:r>
            <a:endParaRPr lang="es-GT" sz="1050" noProof="0" dirty="0"/>
          </a:p>
        </p:txBody>
      </p:sp>
      <p:sp>
        <p:nvSpPr>
          <p:cNvPr id="20" name="Text 18"/>
          <p:cNvSpPr/>
          <p:nvPr/>
        </p:nvSpPr>
        <p:spPr>
          <a:xfrm>
            <a:off x="4848225" y="285750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RIP: saltos, OSPF: costo/</a:t>
            </a:r>
            <a:r>
              <a:rPr lang="es-GT" sz="90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</a:t>
            </a: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EIGRP: compuesta</a:t>
            </a:r>
            <a:endParaRPr lang="es-GT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228600" y="3352800"/>
            <a:ext cx="8686800" cy="1127522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22" name="Text 20"/>
          <p:cNvSpPr/>
          <p:nvPr/>
        </p:nvSpPr>
        <p:spPr>
          <a:xfrm>
            <a:off x="411361" y="3573661"/>
            <a:ext cx="8487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s-GT" sz="1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</a:t>
            </a:r>
            <a:endParaRPr lang="es-GT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411361" y="3878461"/>
            <a:ext cx="84877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10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elección del protocolo de enrutamiento depende del tamaño de la red, requisitos de convergencia, y el ecosistema de equipos. OSPF es preferido en entornos </a:t>
            </a:r>
            <a:r>
              <a:rPr lang="es-GT" sz="1050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multi-vendor</a:t>
            </a:r>
            <a:r>
              <a:rPr lang="es-GT" sz="105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mientras que EIGRP ofrece ventajas en redes Cisco puras.</a:t>
            </a:r>
            <a:endParaRPr lang="es-GT" sz="105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89401" y="784920"/>
            <a:ext cx="25653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s-GT" sz="3600" b="1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PRECISIÓN</a:t>
            </a:r>
            <a:endParaRPr lang="es-GT" sz="3600" noProof="0" dirty="0"/>
          </a:p>
        </p:txBody>
      </p:sp>
      <p:sp>
        <p:nvSpPr>
          <p:cNvPr id="4" name="Text 1"/>
          <p:cNvSpPr/>
          <p:nvPr/>
        </p:nvSpPr>
        <p:spPr>
          <a:xfrm>
            <a:off x="2480816" y="2023170"/>
            <a:ext cx="4182219" cy="29640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5" name="Text 2"/>
          <p:cNvSpPr/>
          <p:nvPr/>
        </p:nvSpPr>
        <p:spPr>
          <a:xfrm>
            <a:off x="2749890" y="2366070"/>
            <a:ext cx="36440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s-GT" sz="180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de la Clase</a:t>
            </a:r>
            <a:endParaRPr lang="es-GT" sz="1800" noProof="0" dirty="0"/>
          </a:p>
        </p:txBody>
      </p:sp>
      <p:sp>
        <p:nvSpPr>
          <p:cNvPr id="6" name="Text 3"/>
          <p:cNvSpPr/>
          <p:nvPr/>
        </p:nvSpPr>
        <p:spPr>
          <a:xfrm>
            <a:off x="2749890" y="2823270"/>
            <a:ext cx="3644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1800"/>
              </a:spcAft>
              <a:buNone/>
            </a:pPr>
            <a:r>
              <a:rPr lang="es-GT" sz="12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palabras clave en configuraciones técnicas</a:t>
            </a:r>
            <a:endParaRPr lang="es-GT" sz="1200" noProof="0" dirty="0"/>
          </a:p>
        </p:txBody>
      </p:sp>
      <p:sp>
        <p:nvSpPr>
          <p:cNvPr id="7" name="Text 4"/>
          <p:cNvSpPr/>
          <p:nvPr/>
        </p:nvSpPr>
        <p:spPr>
          <a:xfrm>
            <a:off x="2785616" y="3280470"/>
            <a:ext cx="3572619" cy="66288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8" name="Shape 5"/>
          <p:cNvSpPr/>
          <p:nvPr/>
        </p:nvSpPr>
        <p:spPr>
          <a:xfrm>
            <a:off x="2804666" y="3280470"/>
            <a:ext cx="0" cy="662880"/>
          </a:xfrm>
          <a:prstGeom prst="line">
            <a:avLst/>
          </a:prstGeom>
          <a:noFill/>
          <a:ln w="381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9" name="Text 6"/>
          <p:cNvSpPr/>
          <p:nvPr/>
        </p:nvSpPr>
        <p:spPr>
          <a:xfrm>
            <a:off x="2912699" y="3440460"/>
            <a:ext cx="33565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s-GT" sz="900" b="1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comandos correctos</a:t>
            </a:r>
            <a:endParaRPr lang="es-GT" sz="900" noProof="0" dirty="0"/>
          </a:p>
        </p:txBody>
      </p:sp>
      <p:sp>
        <p:nvSpPr>
          <p:cNvPr id="10" name="Text 7"/>
          <p:cNvSpPr/>
          <p:nvPr/>
        </p:nvSpPr>
        <p:spPr>
          <a:xfrm>
            <a:off x="2912699" y="3630960"/>
            <a:ext cx="33565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Distinguir entre </a:t>
            </a:r>
            <a:r>
              <a:rPr lang="es-GT" sz="90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90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</a:t>
            </a: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s-GT" sz="90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s-GT" sz="90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configuraciones</a:t>
            </a:r>
            <a:endParaRPr lang="es-GT" sz="900" noProof="0" dirty="0"/>
          </a:p>
        </p:txBody>
      </p:sp>
      <p:sp>
        <p:nvSpPr>
          <p:cNvPr id="11" name="Text 8"/>
          <p:cNvSpPr/>
          <p:nvPr/>
        </p:nvSpPr>
        <p:spPr>
          <a:xfrm>
            <a:off x="2785616" y="4019550"/>
            <a:ext cx="3572619" cy="66288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12" name="Shape 9"/>
          <p:cNvSpPr/>
          <p:nvPr/>
        </p:nvSpPr>
        <p:spPr>
          <a:xfrm>
            <a:off x="2804666" y="4019550"/>
            <a:ext cx="0" cy="662880"/>
          </a:xfrm>
          <a:prstGeom prst="line">
            <a:avLst/>
          </a:prstGeom>
          <a:noFill/>
          <a:ln w="381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3" name="Text 10"/>
          <p:cNvSpPr/>
          <p:nvPr/>
        </p:nvSpPr>
        <p:spPr>
          <a:xfrm>
            <a:off x="2912699" y="4179540"/>
            <a:ext cx="33565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s-GT" sz="900" b="1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errores de sintaxis</a:t>
            </a:r>
            <a:endParaRPr lang="es-GT" sz="900" noProof="0" dirty="0"/>
          </a:p>
        </p:txBody>
      </p:sp>
      <p:sp>
        <p:nvSpPr>
          <p:cNvPr id="14" name="Text 11"/>
          <p:cNvSpPr/>
          <p:nvPr/>
        </p:nvSpPr>
        <p:spPr>
          <a:xfrm>
            <a:off x="2912699" y="4370040"/>
            <a:ext cx="33565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Reconocer máscaras </a:t>
            </a:r>
            <a:r>
              <a:rPr lang="es-GT" sz="90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wildcard</a:t>
            </a: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incorrectas o parámetros faltantes</a:t>
            </a:r>
            <a:endParaRPr lang="es-GT" sz="9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8422"/>
          </a:xfrm>
          <a:prstGeom prst="rect">
            <a:avLst/>
          </a:prstGeom>
          <a:solidFill>
            <a:srgbClr val="0D47A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3" name="Text 1"/>
          <p:cNvSpPr/>
          <p:nvPr/>
        </p:nvSpPr>
        <p:spPr>
          <a:xfrm>
            <a:off x="304800" y="182761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s-GT" sz="22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Bibliográficas</a:t>
            </a:r>
            <a:endParaRPr lang="es-GT" sz="2250" noProof="0" dirty="0"/>
          </a:p>
        </p:txBody>
      </p:sp>
      <p:sp>
        <p:nvSpPr>
          <p:cNvPr id="4" name="Text 2"/>
          <p:cNvSpPr/>
          <p:nvPr/>
        </p:nvSpPr>
        <p:spPr>
          <a:xfrm>
            <a:off x="0" y="860822"/>
            <a:ext cx="9144000" cy="428267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5" name="Text 3"/>
          <p:cNvSpPr/>
          <p:nvPr/>
        </p:nvSpPr>
        <p:spPr>
          <a:xfrm>
            <a:off x="228600" y="1295400"/>
            <a:ext cx="8686800" cy="89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6" name="Shape 4"/>
          <p:cNvSpPr/>
          <p:nvPr/>
        </p:nvSpPr>
        <p:spPr>
          <a:xfrm>
            <a:off x="247650" y="1295400"/>
            <a:ext cx="0" cy="891480"/>
          </a:xfrm>
          <a:prstGeom prst="line">
            <a:avLst/>
          </a:prstGeom>
          <a:noFill/>
          <a:ln w="381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7" name="Text 5"/>
          <p:cNvSpPr/>
          <p:nvPr/>
        </p:nvSpPr>
        <p:spPr>
          <a:xfrm>
            <a:off x="388590" y="1455390"/>
            <a:ext cx="8573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s-GT" sz="105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</a:t>
            </a:r>
            <a:r>
              <a:rPr lang="es-GT" sz="1050" b="1" noProof="0" dirty="0" err="1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r>
              <a:rPr lang="es-GT" sz="105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1050" b="1" noProof="0" dirty="0" err="1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s-GT" sz="1050" noProof="0" dirty="0"/>
          </a:p>
        </p:txBody>
      </p:sp>
      <p:sp>
        <p:nvSpPr>
          <p:cNvPr id="8" name="Text 6"/>
          <p:cNvSpPr/>
          <p:nvPr/>
        </p:nvSpPr>
        <p:spPr>
          <a:xfrm>
            <a:off x="388590" y="1683990"/>
            <a:ext cx="85730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CCNA: </a:t>
            </a:r>
            <a:r>
              <a:rPr lang="es-GT" sz="90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s-GT" sz="90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</a:t>
            </a: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Essentials</a:t>
            </a:r>
            <a:endParaRPr lang="es-GT" sz="900" noProof="0" dirty="0"/>
          </a:p>
        </p:txBody>
      </p:sp>
      <p:sp>
        <p:nvSpPr>
          <p:cNvPr id="9" name="Text 7"/>
          <p:cNvSpPr/>
          <p:nvPr/>
        </p:nvSpPr>
        <p:spPr>
          <a:xfrm>
            <a:off x="388590" y="1874490"/>
            <a:ext cx="85730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https://www.netacad.com</a:t>
            </a:r>
            <a:endParaRPr lang="es-GT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228600" y="2263080"/>
            <a:ext cx="8686800" cy="89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11" name="Shape 9"/>
          <p:cNvSpPr/>
          <p:nvPr/>
        </p:nvSpPr>
        <p:spPr>
          <a:xfrm>
            <a:off x="247650" y="2263080"/>
            <a:ext cx="0" cy="891480"/>
          </a:xfrm>
          <a:prstGeom prst="line">
            <a:avLst/>
          </a:prstGeom>
          <a:noFill/>
          <a:ln w="381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2" name="Text 10"/>
          <p:cNvSpPr/>
          <p:nvPr/>
        </p:nvSpPr>
        <p:spPr>
          <a:xfrm>
            <a:off x="388590" y="2423071"/>
            <a:ext cx="8573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s-GT" sz="105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</a:t>
            </a:r>
            <a:r>
              <a:rPr lang="es-GT" sz="1050" b="1" noProof="0" dirty="0" err="1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s-GT" sz="1050" noProof="0" dirty="0"/>
          </a:p>
        </p:txBody>
      </p:sp>
      <p:sp>
        <p:nvSpPr>
          <p:cNvPr id="13" name="Text 11"/>
          <p:cNvSpPr/>
          <p:nvPr/>
        </p:nvSpPr>
        <p:spPr>
          <a:xfrm>
            <a:off x="388590" y="2651671"/>
            <a:ext cx="85730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 and EIGRP </a:t>
            </a:r>
            <a:r>
              <a:rPr lang="es-GT" sz="90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Guides</a:t>
            </a:r>
            <a:endParaRPr lang="es-GT" sz="900" noProof="0" dirty="0"/>
          </a:p>
        </p:txBody>
      </p:sp>
      <p:sp>
        <p:nvSpPr>
          <p:cNvPr id="14" name="Text 12"/>
          <p:cNvSpPr/>
          <p:nvPr/>
        </p:nvSpPr>
        <p:spPr>
          <a:xfrm>
            <a:off x="388590" y="2842171"/>
            <a:ext cx="85730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https://www.cisco.com/support/</a:t>
            </a:r>
            <a:endParaRPr lang="es-GT" sz="900" noProof="0" dirty="0"/>
          </a:p>
        </p:txBody>
      </p:sp>
      <p:sp>
        <p:nvSpPr>
          <p:cNvPr id="15" name="Text 13"/>
          <p:cNvSpPr/>
          <p:nvPr/>
        </p:nvSpPr>
        <p:spPr>
          <a:xfrm>
            <a:off x="228600" y="3230761"/>
            <a:ext cx="8686800" cy="7009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16" name="Shape 14"/>
          <p:cNvSpPr/>
          <p:nvPr/>
        </p:nvSpPr>
        <p:spPr>
          <a:xfrm>
            <a:off x="247650" y="3230761"/>
            <a:ext cx="0" cy="700980"/>
          </a:xfrm>
          <a:prstGeom prst="line">
            <a:avLst/>
          </a:prstGeom>
          <a:noFill/>
          <a:ln w="381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7" name="Text 15"/>
          <p:cNvSpPr/>
          <p:nvPr/>
        </p:nvSpPr>
        <p:spPr>
          <a:xfrm>
            <a:off x="388590" y="3390751"/>
            <a:ext cx="8573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s-GT" sz="105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Odom, W.</a:t>
            </a:r>
            <a:endParaRPr lang="es-GT" sz="1050" noProof="0" dirty="0"/>
          </a:p>
        </p:txBody>
      </p:sp>
      <p:sp>
        <p:nvSpPr>
          <p:cNvPr id="18" name="Text 16"/>
          <p:cNvSpPr/>
          <p:nvPr/>
        </p:nvSpPr>
        <p:spPr>
          <a:xfrm>
            <a:off x="388590" y="3619351"/>
            <a:ext cx="85730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CCNA </a:t>
            </a:r>
            <a:r>
              <a:rPr lang="es-GT" sz="90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s-GT" sz="90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</a:t>
            </a: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Guide Library</a:t>
            </a:r>
            <a:endParaRPr lang="es-GT" sz="900" noProof="0" dirty="0"/>
          </a:p>
        </p:txBody>
      </p:sp>
      <p:sp>
        <p:nvSpPr>
          <p:cNvPr id="19" name="Text 17"/>
          <p:cNvSpPr/>
          <p:nvPr/>
        </p:nvSpPr>
        <p:spPr>
          <a:xfrm>
            <a:off x="228600" y="4007941"/>
            <a:ext cx="8686800" cy="7009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s-GT" noProof="0" dirty="0"/>
          </a:p>
        </p:txBody>
      </p:sp>
      <p:sp>
        <p:nvSpPr>
          <p:cNvPr id="20" name="Shape 18"/>
          <p:cNvSpPr/>
          <p:nvPr/>
        </p:nvSpPr>
        <p:spPr>
          <a:xfrm>
            <a:off x="247650" y="4007941"/>
            <a:ext cx="0" cy="700980"/>
          </a:xfrm>
          <a:prstGeom prst="line">
            <a:avLst/>
          </a:prstGeom>
          <a:noFill/>
          <a:ln w="381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21" name="Text 19"/>
          <p:cNvSpPr/>
          <p:nvPr/>
        </p:nvSpPr>
        <p:spPr>
          <a:xfrm>
            <a:off x="388590" y="4167932"/>
            <a:ext cx="85730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s-GT" sz="1050" b="1" noProof="0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2328</a:t>
            </a:r>
            <a:endParaRPr lang="es-GT" sz="1050" noProof="0" dirty="0"/>
          </a:p>
        </p:txBody>
      </p:sp>
      <p:sp>
        <p:nvSpPr>
          <p:cNvPr id="22" name="Text 20"/>
          <p:cNvSpPr/>
          <p:nvPr/>
        </p:nvSpPr>
        <p:spPr>
          <a:xfrm>
            <a:off x="388590" y="4396532"/>
            <a:ext cx="85730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 </a:t>
            </a:r>
            <a:r>
              <a:rPr lang="es-GT" sz="900" noProof="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</a:t>
            </a:r>
            <a:r>
              <a:rPr lang="es-GT" sz="900" noProof="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</a:t>
            </a:r>
            <a:endParaRPr lang="es-GT" sz="9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8118" y="2114550"/>
            <a:ext cx="7567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s-GT" sz="7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Práctico</a:t>
            </a:r>
            <a:endParaRPr lang="es-GT" sz="72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2471" y="1657350"/>
            <a:ext cx="61790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s-GT" sz="7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Practiquemos lo Aprendido</a:t>
            </a:r>
            <a:endParaRPr lang="es-GT" sz="720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3453" y="2114550"/>
            <a:ext cx="43970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s-GT" sz="7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¿Dudas?</a:t>
            </a:r>
            <a:endParaRPr lang="es-GT" sz="720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19668" y="1369967"/>
            <a:ext cx="530466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s-GT" sz="7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 por su Atención!</a:t>
            </a:r>
            <a:endParaRPr lang="es-GT" sz="72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1150</Words>
  <Application>Microsoft Office PowerPoint</Application>
  <PresentationFormat>Presentación en pantalla (16:9)</PresentationFormat>
  <Paragraphs>252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Protocolos de Enrutamiento Dinámico</dc:title>
  <dc:subject>OSPF, EIGRP y RIP</dc:subject>
  <dc:creator>Redes de Computadoras 2</dc:creator>
  <cp:lastModifiedBy>Jose Rodrigo Rodas Palencia</cp:lastModifiedBy>
  <cp:revision>12</cp:revision>
  <dcterms:created xsi:type="dcterms:W3CDTF">2025-10-30T05:09:11Z</dcterms:created>
  <dcterms:modified xsi:type="dcterms:W3CDTF">2025-10-30T13:43:10Z</dcterms:modified>
</cp:coreProperties>
</file>