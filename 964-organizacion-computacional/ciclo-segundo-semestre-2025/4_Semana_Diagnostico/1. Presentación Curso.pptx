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obster"/>
      <p:regular r:id="rId16"/>
    </p:embeddedFont>
    <p:embeddedFont>
      <p:font typeface="Pacifico"/>
      <p:regular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Qw2i2q7ti8Prl1aUQsrVQkfTu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acifico-regular.fntdata"/><Relationship Id="rId16" Type="http://schemas.openxmlformats.org/officeDocument/2006/relationships/font" Target="fonts/Lobs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4afea4f6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4afea4f6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4afea4f63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64afea4f6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create.kahoot.it/share/conocimientos-previos/81f3d8d2-b802-4808-84d7-31fb0f672808" TargetMode="External"/><Relationship Id="rId6" Type="http://schemas.openxmlformats.org/officeDocument/2006/relationships/hyperlink" Target="https://create.kahoot.it/share/cuestionario-sobre-el-curso/f6123cc4-ebd0-4f21-990d-104e1f3e9ba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hyperlink" Target="http://spinthewheel.io/e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64afea4f6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64afea4f63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Henry David Quel Santos</a:t>
            </a:r>
            <a:endParaRPr/>
          </a:p>
        </p:txBody>
      </p:sp>
      <p:sp>
        <p:nvSpPr>
          <p:cNvPr id="86" name="Google Shape;86;g364afea4f63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Computacional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64afea4f63_0_0"/>
          <p:cNvSpPr/>
          <p:nvPr/>
        </p:nvSpPr>
        <p:spPr>
          <a:xfrm>
            <a:off x="13640938" y="1924978"/>
            <a:ext cx="4396339" cy="83296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64afea4f63_0_0"/>
          <p:cNvSpPr/>
          <p:nvPr/>
        </p:nvSpPr>
        <p:spPr>
          <a:xfrm>
            <a:off x="13640938" y="2757947"/>
            <a:ext cx="4396339" cy="83296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90249" y="7555025"/>
            <a:ext cx="97433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Computacional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591255" y="2167474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Semana Diagnostico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2"/>
          <p:cNvGrpSpPr/>
          <p:nvPr/>
        </p:nvGrpSpPr>
        <p:grpSpPr>
          <a:xfrm>
            <a:off x="1628532" y="4544825"/>
            <a:ext cx="4613551" cy="845385"/>
            <a:chOff x="0" y="-76200"/>
            <a:chExt cx="1964221" cy="35992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Auxiliar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3" name="Google Shape;113;p2"/>
          <p:cNvGrpSpPr/>
          <p:nvPr/>
        </p:nvGrpSpPr>
        <p:grpSpPr>
          <a:xfrm>
            <a:off x="11066038" y="2843679"/>
            <a:ext cx="6027413" cy="3456149"/>
            <a:chOff x="-177453" y="-576523"/>
            <a:chExt cx="1587467" cy="910261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u="sng">
                  <a:solidFill>
                    <a:schemeClr val="hlink"/>
                  </a:solidFill>
                  <a:hlinkClick r:id="rId5"/>
                </a:rPr>
                <a:t>https://create.kahoot.it/share/conocimientos-previos/81f3d8d2-b802-4808-84d7-31fb0f672808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u="sng">
                  <a:solidFill>
                    <a:schemeClr val="hlink"/>
                  </a:solidFill>
                  <a:hlinkClick r:id="rId6"/>
                </a:rPr>
                <a:t>https://create.kahoot.it/share/cuestionario-sobre-el-curso/f6123cc4-ebd0-4f21-990d-104e1f3e9ba1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-177453" y="-576523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-135900" y="5517306"/>
            <a:ext cx="8025492" cy="845385"/>
            <a:chOff x="0" y="-76200"/>
            <a:chExt cx="2719601" cy="35992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580867" y="-76200"/>
              <a:ext cx="213873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Cuestionario Conocimientos Previos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74777" y="6464977"/>
            <a:ext cx="4613551" cy="845385"/>
            <a:chOff x="0" y="-76200"/>
            <a:chExt cx="1964221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Conociendo al estudiante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76619" y="7373020"/>
            <a:ext cx="6960952" cy="845385"/>
            <a:chOff x="0" y="-66168"/>
            <a:chExt cx="2963628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491909" y="-66168"/>
              <a:ext cx="247171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Cuestionario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8412915"/>
            <a:ext cx="4758213" cy="845385"/>
            <a:chOff x="0" y="-76200"/>
            <a:chExt cx="2025811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17589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6907696" y="4923181"/>
            <a:ext cx="4472609" cy="4114800"/>
          </a:xfrm>
          <a:custGeom>
            <a:rect b="b" l="l" r="r" t="t"/>
            <a:pathLst>
              <a:path extrusionOk="0"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6103279" y="529309"/>
            <a:ext cx="6081441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QUIEN SOY?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5"/>
          <p:cNvGrpSpPr/>
          <p:nvPr/>
        </p:nvGrpSpPr>
        <p:grpSpPr>
          <a:xfrm>
            <a:off x="1917290" y="2062161"/>
            <a:ext cx="13907728" cy="6642000"/>
            <a:chOff x="0" y="41632"/>
            <a:chExt cx="13907728" cy="6642000"/>
          </a:xfrm>
        </p:grpSpPr>
        <p:sp>
          <p:nvSpPr>
            <p:cNvPr id="139" name="Google Shape;139;p5"/>
            <p:cNvSpPr/>
            <p:nvPr/>
          </p:nvSpPr>
          <p:spPr>
            <a:xfrm>
              <a:off x="0" y="484432"/>
              <a:ext cx="13907728" cy="756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695386" y="416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738617" y="848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 nombre es...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0" y="1845232"/>
              <a:ext cx="13907728" cy="756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695386" y="14024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738617" y="14456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Estoy en la carrera de…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0" y="3206032"/>
              <a:ext cx="13907728" cy="756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695386" y="27632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 txBox="1"/>
            <p:nvPr/>
          </p:nvSpPr>
          <p:spPr>
            <a:xfrm>
              <a:off x="738617" y="28064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Actualmente curso el semestre…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0" y="4566832"/>
              <a:ext cx="13907728" cy="756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695386" y="41240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738617" y="41672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Elegi ser auxiliar de este curso por…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0" y="5927632"/>
              <a:ext cx="13907728" cy="756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695386" y="5484832"/>
              <a:ext cx="9735409" cy="8856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738617" y="5528063"/>
              <a:ext cx="9648947" cy="799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367975" spcFirstLastPara="1" rIns="3679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 perspectiva de la educación es…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3281044" y="2507353"/>
            <a:ext cx="8702876" cy="3343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 CONOCIMIENTOS DEL CURSO ANTERIOR</a:t>
            </a:r>
            <a:endParaRPr/>
          </a:p>
        </p:txBody>
      </p:sp>
      <p:pic>
        <p:nvPicPr>
          <p:cNvPr descr="Cronómetro" id="160" name="Google Shape;1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22" y="4041027"/>
            <a:ext cx="1797798" cy="17977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 txBox="1"/>
          <p:nvPr/>
        </p:nvSpPr>
        <p:spPr>
          <a:xfrm>
            <a:off x="3281046" y="6108066"/>
            <a:ext cx="8702875" cy="3085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el examen cargado en UEDI</a:t>
            </a:r>
            <a:endParaRPr/>
          </a:p>
          <a:p>
            <a:pPr indent="-24923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15 minutos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62" name="Google Shape;162;p4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9962146" y="1224505"/>
            <a:ext cx="7837991" cy="783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/>
          <p:nvPr/>
        </p:nvSpPr>
        <p:spPr>
          <a:xfrm>
            <a:off x="5969307" y="654364"/>
            <a:ext cx="6349385" cy="1060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CUÉNTAME SOBRE TI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5740975" y="1714781"/>
            <a:ext cx="10600237" cy="806339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6538042" y="5324640"/>
            <a:ext cx="87963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Formulario de aspectos básicos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Carnet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Trabaja (si/no)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Horario de Trabajo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Qué espera del curso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lo que se te evaluó anteriormente qué tema(s) no recuerdas haber recibido en los</a:t>
            </a:r>
            <a:r>
              <a:rPr lang="en-US" sz="2800"/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cursos previos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5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3" title="Gemini_Generated_Image_sfb0qdsfb0qdsfb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17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 txBox="1"/>
          <p:nvPr/>
        </p:nvSpPr>
        <p:spPr>
          <a:xfrm>
            <a:off x="6695200" y="3497275"/>
            <a:ext cx="6663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sng">
                <a:solidFill>
                  <a:schemeClr val="hlink"/>
                </a:solidFill>
                <a:hlinkClick r:id="rId5"/>
              </a:rPr>
              <a:t>http://spinthewheel.io/es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9372600" y="547687"/>
            <a:ext cx="7658097" cy="2929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 DE CONOCIMIENTOS DEL CURSO</a:t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4" y="0"/>
            <a:ext cx="9174854" cy="10287000"/>
          </a:xfrm>
          <a:custGeom>
            <a:rect b="b" l="l" r="r" t="t"/>
            <a:pathLst>
              <a:path extrusionOk="0" h="6879321" w="6116569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701" y="2877161"/>
            <a:ext cx="4792806" cy="479280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9372600" y="4647116"/>
            <a:ext cx="7658097" cy="2234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9237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Realizar el examen cargado en UEDI</a:t>
            </a:r>
            <a:endParaRPr/>
          </a:p>
          <a:p>
            <a:pPr indent="-249237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925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Tiempo: 15 minutos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960120" y="493776"/>
            <a:ext cx="1034186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Horarios de calificación Practicas/Proyecto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1138428" y="3593592"/>
            <a:ext cx="6365383" cy="27432"/>
          </a:xfrm>
          <a:custGeom>
            <a:rect b="b" l="l" r="r" t="t"/>
            <a:pathLst>
              <a:path extrusionOk="0" fill="none" h="27432" w="6365383">
                <a:moveTo>
                  <a:pt x="0" y="0"/>
                </a:moveTo>
                <a:cubicBezTo>
                  <a:pt x="164014" y="-28800"/>
                  <a:pt x="392589" y="16597"/>
                  <a:pt x="636538" y="0"/>
                </a:cubicBezTo>
                <a:cubicBezTo>
                  <a:pt x="880487" y="-16597"/>
                  <a:pt x="1095224" y="-7871"/>
                  <a:pt x="1336730" y="0"/>
                </a:cubicBezTo>
                <a:cubicBezTo>
                  <a:pt x="1578236" y="7871"/>
                  <a:pt x="1649337" y="-22384"/>
                  <a:pt x="1909615" y="0"/>
                </a:cubicBezTo>
                <a:cubicBezTo>
                  <a:pt x="2169893" y="22384"/>
                  <a:pt x="2279697" y="7436"/>
                  <a:pt x="2418846" y="0"/>
                </a:cubicBezTo>
                <a:cubicBezTo>
                  <a:pt x="2557995" y="-7436"/>
                  <a:pt x="2719158" y="24395"/>
                  <a:pt x="2928076" y="0"/>
                </a:cubicBezTo>
                <a:cubicBezTo>
                  <a:pt x="3136994" y="-24395"/>
                  <a:pt x="3236398" y="-16046"/>
                  <a:pt x="3373653" y="0"/>
                </a:cubicBezTo>
                <a:cubicBezTo>
                  <a:pt x="3510908" y="16046"/>
                  <a:pt x="3933654" y="-18835"/>
                  <a:pt x="4137499" y="0"/>
                </a:cubicBezTo>
                <a:cubicBezTo>
                  <a:pt x="4341344" y="18835"/>
                  <a:pt x="4634949" y="16518"/>
                  <a:pt x="4901345" y="0"/>
                </a:cubicBezTo>
                <a:cubicBezTo>
                  <a:pt x="5167741" y="-16518"/>
                  <a:pt x="5482502" y="-23233"/>
                  <a:pt x="5665191" y="0"/>
                </a:cubicBezTo>
                <a:cubicBezTo>
                  <a:pt x="5847880" y="23233"/>
                  <a:pt x="6038909" y="-19558"/>
                  <a:pt x="6365383" y="0"/>
                </a:cubicBezTo>
                <a:cubicBezTo>
                  <a:pt x="6366317" y="12270"/>
                  <a:pt x="6364320" y="20068"/>
                  <a:pt x="6365383" y="27432"/>
                </a:cubicBezTo>
                <a:cubicBezTo>
                  <a:pt x="6160909" y="45028"/>
                  <a:pt x="5918554" y="42323"/>
                  <a:pt x="5728845" y="27432"/>
                </a:cubicBezTo>
                <a:cubicBezTo>
                  <a:pt x="5539136" y="12541"/>
                  <a:pt x="5172149" y="23835"/>
                  <a:pt x="5028653" y="27432"/>
                </a:cubicBezTo>
                <a:cubicBezTo>
                  <a:pt x="4885157" y="31029"/>
                  <a:pt x="4768966" y="33290"/>
                  <a:pt x="4583076" y="27432"/>
                </a:cubicBezTo>
                <a:cubicBezTo>
                  <a:pt x="4397186" y="21574"/>
                  <a:pt x="4295537" y="38724"/>
                  <a:pt x="4137499" y="27432"/>
                </a:cubicBezTo>
                <a:cubicBezTo>
                  <a:pt x="3979461" y="16140"/>
                  <a:pt x="3895902" y="23317"/>
                  <a:pt x="3691922" y="27432"/>
                </a:cubicBezTo>
                <a:cubicBezTo>
                  <a:pt x="3487942" y="31547"/>
                  <a:pt x="3348597" y="42606"/>
                  <a:pt x="3182692" y="27432"/>
                </a:cubicBezTo>
                <a:cubicBezTo>
                  <a:pt x="3016787" y="12259"/>
                  <a:pt x="2922425" y="45987"/>
                  <a:pt x="2673461" y="27432"/>
                </a:cubicBezTo>
                <a:cubicBezTo>
                  <a:pt x="2424497" y="8877"/>
                  <a:pt x="2406338" y="46461"/>
                  <a:pt x="2164230" y="27432"/>
                </a:cubicBezTo>
                <a:cubicBezTo>
                  <a:pt x="1922122" y="8403"/>
                  <a:pt x="1843534" y="2368"/>
                  <a:pt x="1655000" y="27432"/>
                </a:cubicBezTo>
                <a:cubicBezTo>
                  <a:pt x="1466466" y="52497"/>
                  <a:pt x="1384300" y="39658"/>
                  <a:pt x="1145769" y="27432"/>
                </a:cubicBezTo>
                <a:cubicBezTo>
                  <a:pt x="907238" y="15206"/>
                  <a:pt x="344177" y="36391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extrusionOk="0" h="27432" w="6365383">
                <a:moveTo>
                  <a:pt x="0" y="0"/>
                </a:moveTo>
                <a:cubicBezTo>
                  <a:pt x="152654" y="12967"/>
                  <a:pt x="297359" y="-4977"/>
                  <a:pt x="509231" y="0"/>
                </a:cubicBezTo>
                <a:cubicBezTo>
                  <a:pt x="721103" y="4977"/>
                  <a:pt x="792740" y="-12744"/>
                  <a:pt x="954807" y="0"/>
                </a:cubicBezTo>
                <a:cubicBezTo>
                  <a:pt x="1116874" y="12744"/>
                  <a:pt x="1322429" y="24743"/>
                  <a:pt x="1464038" y="0"/>
                </a:cubicBezTo>
                <a:cubicBezTo>
                  <a:pt x="1605647" y="-24743"/>
                  <a:pt x="1947393" y="-20672"/>
                  <a:pt x="2100576" y="0"/>
                </a:cubicBezTo>
                <a:cubicBezTo>
                  <a:pt x="2253759" y="20672"/>
                  <a:pt x="2622231" y="-30966"/>
                  <a:pt x="2800769" y="0"/>
                </a:cubicBezTo>
                <a:cubicBezTo>
                  <a:pt x="2979307" y="30966"/>
                  <a:pt x="3356872" y="-13631"/>
                  <a:pt x="3564614" y="0"/>
                </a:cubicBezTo>
                <a:cubicBezTo>
                  <a:pt x="3772356" y="13631"/>
                  <a:pt x="4163183" y="-4973"/>
                  <a:pt x="4328460" y="0"/>
                </a:cubicBezTo>
                <a:cubicBezTo>
                  <a:pt x="4493737" y="4973"/>
                  <a:pt x="4672761" y="-9287"/>
                  <a:pt x="4901345" y="0"/>
                </a:cubicBezTo>
                <a:cubicBezTo>
                  <a:pt x="5129930" y="9287"/>
                  <a:pt x="5395146" y="9436"/>
                  <a:pt x="5601537" y="0"/>
                </a:cubicBezTo>
                <a:cubicBezTo>
                  <a:pt x="5807928" y="-9436"/>
                  <a:pt x="5983747" y="-13862"/>
                  <a:pt x="6365383" y="0"/>
                </a:cubicBezTo>
                <a:cubicBezTo>
                  <a:pt x="6365699" y="13405"/>
                  <a:pt x="6365869" y="14360"/>
                  <a:pt x="6365383" y="27432"/>
                </a:cubicBezTo>
                <a:cubicBezTo>
                  <a:pt x="6195306" y="29393"/>
                  <a:pt x="5872535" y="56613"/>
                  <a:pt x="5728845" y="27432"/>
                </a:cubicBezTo>
                <a:cubicBezTo>
                  <a:pt x="5585155" y="-1749"/>
                  <a:pt x="5272464" y="11679"/>
                  <a:pt x="5028653" y="27432"/>
                </a:cubicBezTo>
                <a:cubicBezTo>
                  <a:pt x="4784842" y="43185"/>
                  <a:pt x="4688244" y="28658"/>
                  <a:pt x="4455768" y="27432"/>
                </a:cubicBezTo>
                <a:cubicBezTo>
                  <a:pt x="4223293" y="26206"/>
                  <a:pt x="4032880" y="15477"/>
                  <a:pt x="3882884" y="27432"/>
                </a:cubicBezTo>
                <a:cubicBezTo>
                  <a:pt x="3732888" y="39387"/>
                  <a:pt x="3278726" y="-7170"/>
                  <a:pt x="3119038" y="27432"/>
                </a:cubicBezTo>
                <a:cubicBezTo>
                  <a:pt x="2959350" y="62034"/>
                  <a:pt x="2786856" y="40315"/>
                  <a:pt x="2609807" y="27432"/>
                </a:cubicBezTo>
                <a:cubicBezTo>
                  <a:pt x="2432758" y="14549"/>
                  <a:pt x="2064373" y="16547"/>
                  <a:pt x="1909615" y="27432"/>
                </a:cubicBezTo>
                <a:cubicBezTo>
                  <a:pt x="1754857" y="38317"/>
                  <a:pt x="1663685" y="27374"/>
                  <a:pt x="1464038" y="27432"/>
                </a:cubicBezTo>
                <a:cubicBezTo>
                  <a:pt x="1264391" y="27490"/>
                  <a:pt x="1071013" y="1487"/>
                  <a:pt x="827500" y="27432"/>
                </a:cubicBezTo>
                <a:cubicBezTo>
                  <a:pt x="583987" y="53377"/>
                  <a:pt x="349818" y="391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902208" y="5595366"/>
            <a:ext cx="10341864" cy="2264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Listado de horarios, propuestos por los estudiantes:</a:t>
            </a:r>
            <a:endParaRPr/>
          </a:p>
          <a:p>
            <a:pPr indent="200088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Listado de Horarios propuestos por el auxiliar: </a:t>
            </a:r>
            <a:endParaRPr/>
          </a:p>
        </p:txBody>
      </p:sp>
      <p:pic>
        <p:nvPicPr>
          <p:cNvPr id="189" name="Google Shape;189;p6" title="Gemini_Generated_Image_u2i06ou2i06ou2i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28514" y="493774"/>
            <a:ext cx="3755815" cy="5144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página en un planificador" id="190" name="Google Shape;190;p6"/>
          <p:cNvPicPr preferRelativeResize="0"/>
          <p:nvPr/>
        </p:nvPicPr>
        <p:blipFill rotWithShape="1">
          <a:blip r:embed="rId4">
            <a:alphaModFix/>
          </a:blip>
          <a:srcRect b="0" l="13945" r="26789" t="0"/>
          <a:stretch/>
        </p:blipFill>
        <p:spPr>
          <a:xfrm>
            <a:off x="12146280" y="4770331"/>
            <a:ext cx="4095603" cy="4612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7765363" y="5966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