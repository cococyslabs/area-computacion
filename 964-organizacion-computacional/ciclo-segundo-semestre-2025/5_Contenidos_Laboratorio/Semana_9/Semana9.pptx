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Lobster"/>
      <p:regular r:id="rId22"/>
    </p:embeddedFont>
    <p:embeddedFont>
      <p:font typeface="Pacifico"/>
      <p:regular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9F/JiBJviUrcJ212cZdfEIO23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obster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regular.fntdata"/><Relationship Id="rId23" Type="http://schemas.openxmlformats.org/officeDocument/2006/relationships/font" Target="fonts/Pacific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cbfe5a2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0cbfe5a2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f0b17252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5f0b17252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0b1725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5f0b17252b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f0b17252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5f0b17252b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f0b17252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5f0b17252b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f0b17252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5f0b17252b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f0b17252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5f0b17252b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f0b17252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5f0b17252b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0b17252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5f0b17252b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youtu.be/_4A5nL4DA_4" TargetMode="External"/><Relationship Id="rId6" Type="http://schemas.openxmlformats.org/officeDocument/2006/relationships/hyperlink" Target="https://youtu.be/Iy9E14aKfu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electrouni.wordpress.com/wp-content/uploads/2010/08/registros.pdf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a0cbfe5a2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a0cbfe5a21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TUTOR:</a:t>
            </a:r>
            <a:endParaRPr/>
          </a:p>
        </p:txBody>
      </p:sp>
      <p:sp>
        <p:nvSpPr>
          <p:cNvPr id="86" name="Google Shape;86;g3a0cbfe5a21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ORGANIZACIÓN COMPUTACIONAL</a:t>
            </a:r>
            <a:endParaRPr/>
          </a:p>
        </p:txBody>
      </p:sp>
      <p:sp>
        <p:nvSpPr>
          <p:cNvPr id="87" name="Google Shape;87;g3a0cbfe5a21_0_0"/>
          <p:cNvSpPr/>
          <p:nvPr/>
        </p:nvSpPr>
        <p:spPr>
          <a:xfrm>
            <a:off x="13701252" y="1873045"/>
            <a:ext cx="4365600" cy="87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0cbfe5a21_0_0"/>
          <p:cNvSpPr/>
          <p:nvPr/>
        </p:nvSpPr>
        <p:spPr>
          <a:xfrm>
            <a:off x="13701252" y="2752875"/>
            <a:ext cx="4365600" cy="87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 txBox="1"/>
          <p:nvPr/>
        </p:nvSpPr>
        <p:spPr>
          <a:xfrm>
            <a:off x="1281503" y="667198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Computacional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Registros digitales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481403" y="926600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481400" y="88613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481400" y="9588254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"/>
          <p:cNvGrpSpPr/>
          <p:nvPr/>
        </p:nvGrpSpPr>
        <p:grpSpPr>
          <a:xfrm>
            <a:off x="176619" y="4520475"/>
            <a:ext cx="7485383" cy="845566"/>
            <a:chOff x="0" y="-76204"/>
            <a:chExt cx="3186904" cy="360000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4" y="-76204"/>
              <a:ext cx="3186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REGISTROS EN PARALELO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" name="Google Shape;10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4" name="Google Shape;11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sng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5"/>
                </a:rPr>
                <a:t>https://youtu.be/_4A5nL4DA_4</a:t>
              </a: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sng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6"/>
                </a:rPr>
                <a:t>https://youtu.be/Iy9E14aKfuw</a:t>
              </a: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76619" y="5444300"/>
            <a:ext cx="6681389" cy="845566"/>
            <a:chOff x="0" y="-76201"/>
            <a:chExt cx="2844604" cy="360000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4" y="-76201"/>
              <a:ext cx="28446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REGISTROS EN SERIE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76619" y="6425875"/>
            <a:ext cx="8958776" cy="845566"/>
            <a:chOff x="0" y="-76200"/>
            <a:chExt cx="3814202" cy="36000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5" name="Google Shape;125;p2"/>
            <p:cNvSpPr txBox="1"/>
            <p:nvPr/>
          </p:nvSpPr>
          <p:spPr>
            <a:xfrm>
              <a:off x="2" y="-76200"/>
              <a:ext cx="3814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REGISTROS EN ALMACENAMIENTO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76619" y="7349450"/>
            <a:ext cx="7860246" cy="845566"/>
            <a:chOff x="0" y="-76203"/>
            <a:chExt cx="3346503" cy="360000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3" y="-76203"/>
              <a:ext cx="33465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TRANSFERENCIA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76619" y="8412925"/>
            <a:ext cx="5609631" cy="845566"/>
            <a:chOff x="0" y="-76196"/>
            <a:chExt cx="2388303" cy="360000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1" name="Google Shape;131;p2"/>
            <p:cNvSpPr txBox="1"/>
            <p:nvPr/>
          </p:nvSpPr>
          <p:spPr>
            <a:xfrm>
              <a:off x="3" y="-76196"/>
              <a:ext cx="23883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MEMORIA 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88962" y="2223500"/>
            <a:ext cx="16910100" cy="6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implementa soluciones de almacenamiento y conteo digital utilizando registros y contadores apoyándose en simuladores de circuitos digitales como Proteus para optimizar el manejo de datos y eventos secuenciales en sistemas electrónicos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 txBox="1"/>
          <p:nvPr/>
        </p:nvSpPr>
        <p:spPr>
          <a:xfrm>
            <a:off x="1374889" y="3027816"/>
            <a:ext cx="12625500" cy="5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Los registros digitales son circuitos que almacenan datos temporalmente para su posterior procesamiento o transmisión.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Encontramos registros digitales en computadoras, sistemas de control, procesadores de señales y una amplia gama de dispositivos electrónicos.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¿Qué son los Registros?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0b17252b_0_4"/>
          <p:cNvSpPr txBox="1"/>
          <p:nvPr/>
        </p:nvSpPr>
        <p:spPr>
          <a:xfrm>
            <a:off x="1374900" y="2009850"/>
            <a:ext cx="15877200" cy="6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 un registro en paralelo, los bits de datos se transfieren tanto para lectura como para escritura simultáneamente a través de sus múltiples líneas.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 de las ventajas es la mayor velocidad de transferencia, ya que todos los bits se mueven al mismo tiempo.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 desventaja es que requiere más líneas de transmisión, lo que aumenta la complejidad y el costo del sistema.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5f0b17252b_0_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Registro en Paralelo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0b17252b_0_11"/>
          <p:cNvSpPr txBox="1"/>
          <p:nvPr/>
        </p:nvSpPr>
        <p:spPr>
          <a:xfrm>
            <a:off x="1374900" y="2009850"/>
            <a:ext cx="15877200" cy="5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 un registro en serie, los bits de datos se transfieren uno a uno a través de una sola línea.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 ventaja es la menor complejidad y costo del sistema, ya que se requieren menos líneas de transmisión.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Y una desventaja es la menor velocidad de transferencia en comparación con el registro en paralelo.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5f0b17252b_0_11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Registro en Serie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0b17252b_0_16"/>
          <p:cNvSpPr txBox="1"/>
          <p:nvPr/>
        </p:nvSpPr>
        <p:spPr>
          <a:xfrm>
            <a:off x="1374902" y="654375"/>
            <a:ext cx="16547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Diferencias entre Registro en Paralelo y en Serie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5" name="Google Shape;165;g35f0b17252b_0_16"/>
          <p:cNvSpPr/>
          <p:nvPr/>
        </p:nvSpPr>
        <p:spPr>
          <a:xfrm>
            <a:off x="2061544" y="2708074"/>
            <a:ext cx="61800" cy="517530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5f0b17252b_0_16"/>
          <p:cNvSpPr/>
          <p:nvPr/>
        </p:nvSpPr>
        <p:spPr>
          <a:xfrm>
            <a:off x="2540627" y="3197659"/>
            <a:ext cx="1586700" cy="3060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5f0b17252b_0_16"/>
          <p:cNvSpPr/>
          <p:nvPr/>
        </p:nvSpPr>
        <p:spPr>
          <a:xfrm>
            <a:off x="1582462" y="2960486"/>
            <a:ext cx="1019700" cy="504900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5f0b17252b_0_16"/>
          <p:cNvSpPr/>
          <p:nvPr/>
        </p:nvSpPr>
        <p:spPr>
          <a:xfrm>
            <a:off x="1974144" y="3059903"/>
            <a:ext cx="236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5f0b17252b_0_16"/>
          <p:cNvSpPr/>
          <p:nvPr/>
        </p:nvSpPr>
        <p:spPr>
          <a:xfrm>
            <a:off x="4585232" y="2932507"/>
            <a:ext cx="6086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Transferencia de Datos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5f0b17252b_0_16"/>
          <p:cNvSpPr/>
          <p:nvPr/>
        </p:nvSpPr>
        <p:spPr>
          <a:xfrm>
            <a:off x="4585232" y="3655222"/>
            <a:ext cx="121203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2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Paralelo: Todos los bits se transfieren simultáneamente. Serie: Un bit a la vez.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5f0b17252b_0_16"/>
          <p:cNvSpPr/>
          <p:nvPr/>
        </p:nvSpPr>
        <p:spPr>
          <a:xfrm>
            <a:off x="2540627" y="4997528"/>
            <a:ext cx="1586700" cy="3060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5f0b17252b_0_16"/>
          <p:cNvSpPr/>
          <p:nvPr/>
        </p:nvSpPr>
        <p:spPr>
          <a:xfrm>
            <a:off x="1582462" y="4760355"/>
            <a:ext cx="1019700" cy="504900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5f0b17252b_0_16"/>
          <p:cNvSpPr/>
          <p:nvPr/>
        </p:nvSpPr>
        <p:spPr>
          <a:xfrm>
            <a:off x="1913071" y="4859772"/>
            <a:ext cx="358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5f0b17252b_0_16"/>
          <p:cNvSpPr/>
          <p:nvPr/>
        </p:nvSpPr>
        <p:spPr>
          <a:xfrm>
            <a:off x="4585232" y="4732375"/>
            <a:ext cx="5151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Velocidad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5f0b17252b_0_16"/>
          <p:cNvSpPr/>
          <p:nvPr/>
        </p:nvSpPr>
        <p:spPr>
          <a:xfrm>
            <a:off x="4585232" y="5185765"/>
            <a:ext cx="121203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2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Paralelo: Mayor velocidad de transferencia. 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2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Serie: Menor velocidad de transferencia.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5f0b17252b_0_16"/>
          <p:cNvSpPr/>
          <p:nvPr/>
        </p:nvSpPr>
        <p:spPr>
          <a:xfrm>
            <a:off x="2540627" y="6797395"/>
            <a:ext cx="1586700" cy="3060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5f0b17252b_0_16"/>
          <p:cNvSpPr/>
          <p:nvPr/>
        </p:nvSpPr>
        <p:spPr>
          <a:xfrm>
            <a:off x="1582462" y="6560223"/>
            <a:ext cx="1019700" cy="504900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5f0b17252b_0_16"/>
          <p:cNvSpPr/>
          <p:nvPr/>
        </p:nvSpPr>
        <p:spPr>
          <a:xfrm>
            <a:off x="1912350" y="6659640"/>
            <a:ext cx="36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i="0" lang="en-US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5f0b17252b_0_16"/>
          <p:cNvSpPr/>
          <p:nvPr/>
        </p:nvSpPr>
        <p:spPr>
          <a:xfrm>
            <a:off x="4585232" y="6532243"/>
            <a:ext cx="5151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5f0b17252b_0_16"/>
          <p:cNvSpPr/>
          <p:nvPr/>
        </p:nvSpPr>
        <p:spPr>
          <a:xfrm>
            <a:off x="4585232" y="6985633"/>
            <a:ext cx="121203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2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Paralelo: Mayor complejidad y costo. 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b="0" i="0" lang="en-US" sz="2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Serie: Menor complejidad y costo.</a:t>
            </a:r>
            <a:endParaRPr b="0" i="0" sz="2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f0b17252b_0_38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Registros de Almacenamiento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6" name="Google Shape;186;g35f0b17252b_0_38"/>
          <p:cNvSpPr/>
          <p:nvPr/>
        </p:nvSpPr>
        <p:spPr>
          <a:xfrm>
            <a:off x="1374902" y="2268376"/>
            <a:ext cx="7674600" cy="4190400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5f0b17252b_0_38"/>
          <p:cNvSpPr/>
          <p:nvPr/>
        </p:nvSpPr>
        <p:spPr>
          <a:xfrm>
            <a:off x="1903276" y="2632161"/>
            <a:ext cx="6004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36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Tipos de Registros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5f0b17252b_0_38"/>
          <p:cNvSpPr/>
          <p:nvPr/>
        </p:nvSpPr>
        <p:spPr>
          <a:xfrm>
            <a:off x="1903276" y="3367102"/>
            <a:ext cx="66174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33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Registros de propósito general, registros de control, registros de desplazamiento y registros de contador.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g35f0b17252b_0_38"/>
          <p:cNvSpPr/>
          <p:nvPr/>
        </p:nvSpPr>
        <p:spPr>
          <a:xfrm>
            <a:off x="9577557" y="2268376"/>
            <a:ext cx="7674600" cy="4190400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5f0b17252b_0_38"/>
          <p:cNvSpPr/>
          <p:nvPr/>
        </p:nvSpPr>
        <p:spPr>
          <a:xfrm>
            <a:off x="10105929" y="2632161"/>
            <a:ext cx="6004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36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Aplicaciones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5f0b17252b_0_38"/>
          <p:cNvSpPr/>
          <p:nvPr/>
        </p:nvSpPr>
        <p:spPr>
          <a:xfrm>
            <a:off x="10105929" y="3367102"/>
            <a:ext cx="6617400" cy="27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33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Almacenamiento temporal de datos, control de flujo de instrucciones y desplazamiento de datos en sistemas digitales.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5f0b17252b_0_38"/>
          <p:cNvSpPr/>
          <p:nvPr/>
        </p:nvSpPr>
        <p:spPr>
          <a:xfrm>
            <a:off x="1374902" y="6822626"/>
            <a:ext cx="15876600" cy="2553600"/>
          </a:xfrm>
          <a:prstGeom prst="roundRect">
            <a:avLst>
              <a:gd fmla="val 213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5f0b17252b_0_38"/>
          <p:cNvSpPr/>
          <p:nvPr/>
        </p:nvSpPr>
        <p:spPr>
          <a:xfrm>
            <a:off x="1903276" y="7186411"/>
            <a:ext cx="6004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36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5f0b17252b_0_38"/>
          <p:cNvSpPr/>
          <p:nvPr/>
        </p:nvSpPr>
        <p:spPr>
          <a:xfrm>
            <a:off x="1903276" y="7921353"/>
            <a:ext cx="148200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33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Diseño de registros basado en flip-flops, latch y otros circuitos de almacenamiento.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f0b17252b_0_52"/>
          <p:cNvSpPr/>
          <p:nvPr/>
        </p:nvSpPr>
        <p:spPr>
          <a:xfrm>
            <a:off x="856650" y="1593075"/>
            <a:ext cx="16574700" cy="8184900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5f0b17252b_0_52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Transferencia de Datos en Registros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preencoded.png" id="201" name="Google Shape;201;g35f0b17252b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4902" y="2041107"/>
            <a:ext cx="1338854" cy="97388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5f0b17252b_0_52"/>
          <p:cNvSpPr/>
          <p:nvPr/>
        </p:nvSpPr>
        <p:spPr>
          <a:xfrm>
            <a:off x="1374902" y="3404590"/>
            <a:ext cx="6087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32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Carga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5f0b17252b_0_52"/>
          <p:cNvSpPr/>
          <p:nvPr/>
        </p:nvSpPr>
        <p:spPr>
          <a:xfrm>
            <a:off x="1374902" y="4191670"/>
            <a:ext cx="764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2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Escribir datos en un registro.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4" name="Google Shape;204;g35f0b17252b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3218" y="2041107"/>
            <a:ext cx="1338854" cy="97388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5f0b17252b_0_52"/>
          <p:cNvSpPr/>
          <p:nvPr/>
        </p:nvSpPr>
        <p:spPr>
          <a:xfrm>
            <a:off x="9823218" y="3404590"/>
            <a:ext cx="6087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32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Desplazamiento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5f0b17252b_0_52"/>
          <p:cNvSpPr/>
          <p:nvPr/>
        </p:nvSpPr>
        <p:spPr>
          <a:xfrm>
            <a:off x="9823218" y="4191670"/>
            <a:ext cx="764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29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Mover datos dentro del registro.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7" name="Google Shape;207;g35f0b17252b_0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4902" y="5944745"/>
            <a:ext cx="1338854" cy="97388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5f0b17252b_0_52"/>
          <p:cNvSpPr/>
          <p:nvPr/>
        </p:nvSpPr>
        <p:spPr>
          <a:xfrm>
            <a:off x="1374902" y="7308226"/>
            <a:ext cx="6087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31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Lectura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5f0b17252b_0_52"/>
          <p:cNvSpPr/>
          <p:nvPr/>
        </p:nvSpPr>
        <p:spPr>
          <a:xfrm>
            <a:off x="1374902" y="8095306"/>
            <a:ext cx="764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28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Transferir datos desde un registro.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g35f0b17252b_0_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3218" y="5944745"/>
            <a:ext cx="1338854" cy="97388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5f0b17252b_0_52"/>
          <p:cNvSpPr/>
          <p:nvPr/>
        </p:nvSpPr>
        <p:spPr>
          <a:xfrm>
            <a:off x="9823218" y="7308226"/>
            <a:ext cx="6087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i="0" lang="en-US" sz="31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Habilitación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5f0b17252b_0_52"/>
          <p:cNvSpPr/>
          <p:nvPr/>
        </p:nvSpPr>
        <p:spPr>
          <a:xfrm>
            <a:off x="9823218" y="8095306"/>
            <a:ext cx="764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b="0" i="0" lang="en-US" sz="2800" u="none" cap="none" strike="noStrike">
                <a:solidFill>
                  <a:srgbClr val="E2E6E9"/>
                </a:solidFill>
                <a:latin typeface="Arial"/>
                <a:ea typeface="Arial"/>
                <a:cs typeface="Arial"/>
                <a:sym typeface="Arial"/>
              </a:rPr>
              <a:t>Controlar el acceso que se hace sobre el  registro.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f0b17252b_0_70"/>
          <p:cNvSpPr txBox="1"/>
          <p:nvPr/>
        </p:nvSpPr>
        <p:spPr>
          <a:xfrm>
            <a:off x="1374900" y="2009850"/>
            <a:ext cx="15877200" cy="8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Hay dos tipos de memorias que se usan en los sistemas digitales: memoria de acceso aleatorio(RAM, random-access memory) y memoria de sólo lectura (ROM, read-only memory).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memoria RAM acepta nueva información que se guardará para poder usarla posteriormente(permite las operaciones de lectura y escritura).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memoria de sólo lectura únicamente puede efectuar la operación de lectura. Esto implica que ya está almacenada en ella una información binaria apropiada, que es posible recuperar o leerse en cualquier momento. Sin embargo, la información existente no puede alterarse mediante escritura porque únicamente se puede leer de la memoria de sólo lectura; no es posible escribir en ella.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5f0b17252b_0_70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Tipos de memoria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0b17252b_0_76"/>
          <p:cNvSpPr txBox="1"/>
          <p:nvPr/>
        </p:nvSpPr>
        <p:spPr>
          <a:xfrm>
            <a:off x="1205400" y="2813500"/>
            <a:ext cx="15877200" cy="54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memoria RAM (acrónimo de Random Acces Memory), Su nombre proviene del hecho de que puede grabarse o recuperarse información de ella sin necesidad de un orden secuencial, sino que puede accederse a los datos de la manera más rápida posible, con un tiempo de espera igual para cualquier posición de memoria.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 memoria RAM además es una forma de memoria temporal, que al apagar o reiniciar el sistema (para ser mas general, al interrumpirse el flujo eléctrico) vuelve a estar en blanco(Memoria volátil).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5f0b17252b_0_76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Memoria de acceso aleatorio - RAM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0b17252b_0_82"/>
          <p:cNvSpPr txBox="1"/>
          <p:nvPr/>
        </p:nvSpPr>
        <p:spPr>
          <a:xfrm>
            <a:off x="1205400" y="2143775"/>
            <a:ext cx="15877200" cy="7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Palabra: Entidad de bits que siempre se guardan o sacan juntos como una unidad. Puede representar un número, una instrucción, o cualquier otra información codificada en binario.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Líneas de salida: Proporcionan la información que proviene de la memoria. Sobre estas líneas se realiza la lectura.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Las entradas de control: Las dos entradas de control (Lectura / Escritura) especifican la dirección de la transferencia deseada.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Líneas de entrada: Proporcionan la información que se guardara/escribirá en memoria.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●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Líneas de dirección: Especifican la dirección (posicion)escogida, de entre muchas disponibles.</a:t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5f0b17252b_0_82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Partes de la memoria RAM</a:t>
            </a:r>
            <a:endParaRPr b="0" i="0" sz="6098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410700" y="2580875"/>
            <a:ext cx="17466600" cy="7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AutoNum type="arabicPeriod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Registro en paralelo: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Permite la carga o transferencia de varios bits simultáneamente. Es rápido y se usa cuando se requiere alta velocidad en el manejo de datos.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AutoNum type="arabicPeriod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Registro en serie: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Transfiere o almacena los datos bit por bit usando una sola línea. Es más lento pero más económico en recursos físicos.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AutoNum type="arabicPeriod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Registro de almacenamiento: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Registro utilizado para guardar temporalmente datos dentro del sistema digital. Actúa como una memoria intermedia o auxiliar.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AutoNum type="arabicPeriod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Control de transferencia: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Uso de señales específicas que determinan cuándo y cómo se realiza una transferencia de datos. Incluye señales de habilitación, selección o reloj.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AutoNum type="arabicPeriod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Memoria vs. registros: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Los registros almacenan pequeñas cantidades de datos por corto tiempo y están cerca del procesador, mientras que la RAM maneja mayor cantidad de información y sirve como espacio de trabajo principal del sistema.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2221944" y="2673250"/>
            <a:ext cx="140742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https://electrouni.wordpress.com/wp-content/uploads/2010/08/registros.pdf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