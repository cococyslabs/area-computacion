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Lst>
  <p:sldSz cy="10287000" cx="18288000"/>
  <p:notesSz cx="6858000" cy="9144000"/>
  <p:embeddedFontLst>
    <p:embeddedFont>
      <p:font typeface="Montserrat"/>
      <p:regular r:id="rId20"/>
      <p:bold r:id="rId21"/>
      <p:italic r:id="rId22"/>
      <p:boldItalic r:id="rId23"/>
    </p:embeddedFont>
    <p:embeddedFont>
      <p:font typeface="Lato Black"/>
      <p:bold r:id="rId24"/>
      <p:boldItalic r:id="rId25"/>
    </p:embeddedFont>
    <p:embeddedFont>
      <p:font typeface="Oswald"/>
      <p:bold r:id="rId2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27" roundtripDataSignature="AMtx7mhGhc7rij5KUtBLGlXyQOo1It38l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Montserrat-regular.fntdata"/><Relationship Id="rId22" Type="http://schemas.openxmlformats.org/officeDocument/2006/relationships/font" Target="fonts/Montserrat-italic.fntdata"/><Relationship Id="rId21" Type="http://schemas.openxmlformats.org/officeDocument/2006/relationships/font" Target="fonts/Montserrat-bold.fntdata"/><Relationship Id="rId24" Type="http://schemas.openxmlformats.org/officeDocument/2006/relationships/font" Target="fonts/LatoBlack-bold.fntdata"/><Relationship Id="rId23" Type="http://schemas.openxmlformats.org/officeDocument/2006/relationships/font" Target="fonts/Montserrat-bold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Oswald-bold.fntdata"/><Relationship Id="rId25" Type="http://schemas.openxmlformats.org/officeDocument/2006/relationships/font" Target="fonts/LatoBlack-boldItalic.fntdata"/><Relationship Id="rId27" Type="http://customschemas.google.com/relationships/presentationmetadata" Target="meta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txBox="1"/>
          <p:nvPr>
            <p:ph idx="1" type="body"/>
          </p:nvPr>
        </p:nvSpPr>
        <p:spPr>
          <a:xfrm>
            <a:off x="914400" y="3251200"/>
            <a:ext cx="7315200" cy="3081338"/>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6" name="Google Shape;86;p1:notes"/>
          <p:cNvSpPr/>
          <p:nvPr>
            <p:ph idx="2"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p2:notes"/>
          <p:cNvSpPr txBox="1"/>
          <p:nvPr>
            <p:ph idx="1" type="body"/>
          </p:nvPr>
        </p:nvSpPr>
        <p:spPr>
          <a:xfrm>
            <a:off x="914400" y="3251200"/>
            <a:ext cx="7315200" cy="3081338"/>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9" name="Google Shape;109;p2:notes"/>
          <p:cNvSpPr/>
          <p:nvPr>
            <p:ph idx="2"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p3: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140" name="Google Shape;140;p3: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141" name="Google Shape;141;p3: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2" name="Google Shape;142;p3: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La optoelectrónica es un campo interdisciplinario que combina la óptica y la electrónica para estudiar y desarrollar dispositivos que interactúan con la luz y las señales eléctricas.</a:t>
            </a:r>
            <a:endParaRPr/>
          </a:p>
        </p:txBody>
      </p:sp>
      <p:sp>
        <p:nvSpPr>
          <p:cNvPr id="143" name="Google Shape;143;p3: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144" name="Google Shape;144;p3: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p4: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153" name="Google Shape;153;p4: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154" name="Google Shape;154;p4: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5" name="Google Shape;155;p4: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La optoelectrónica es un campo interdisciplinario que combina la óptica y la electrónica para estudiar y desarrollar dispositivos que interactúan con la luz y las señales eléctricas.</a:t>
            </a:r>
            <a:endParaRPr/>
          </a:p>
        </p:txBody>
      </p:sp>
      <p:sp>
        <p:nvSpPr>
          <p:cNvPr id="156" name="Google Shape;156;p4: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157" name="Google Shape;157;p4: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g3cdd0bb6b6b_0_0:notes"/>
          <p:cNvSpPr/>
          <p:nvPr>
            <p:ph idx="2" type="sldImg"/>
          </p:nvPr>
        </p:nvSpPr>
        <p:spPr>
          <a:xfrm>
            <a:off x="2857500" y="512763"/>
            <a:ext cx="3429000" cy="2567100"/>
          </a:xfrm>
          <a:custGeom>
            <a:rect b="b" l="l" r="r" t="t"/>
            <a:pathLst>
              <a:path extrusionOk="0" h="120000" w="120000">
                <a:moveTo>
                  <a:pt x="0" y="0"/>
                </a:moveTo>
                <a:lnTo>
                  <a:pt x="120000" y="0"/>
                </a:lnTo>
                <a:lnTo>
                  <a:pt x="120000" y="120000"/>
                </a:lnTo>
                <a:lnTo>
                  <a:pt x="0" y="120000"/>
                </a:lnTo>
                <a:close/>
              </a:path>
            </a:pathLst>
          </a:custGeom>
        </p:spPr>
      </p:sp>
      <p:sp>
        <p:nvSpPr>
          <p:cNvPr id="166" name="Google Shape;166;g3cdd0bb6b6b_0_0:notes"/>
          <p:cNvSpPr txBox="1"/>
          <p:nvPr>
            <p:ph idx="1" type="body"/>
          </p:nvPr>
        </p:nvSpPr>
        <p:spPr>
          <a:xfrm>
            <a:off x="914400" y="3251200"/>
            <a:ext cx="7315200" cy="30813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7" name="Google Shape;167;g3cdd0bb6b6b_0_0:notes"/>
          <p:cNvSpPr txBox="1"/>
          <p:nvPr>
            <p:ph idx="12" type="sldNum"/>
          </p:nvPr>
        </p:nvSpPr>
        <p:spPr>
          <a:xfrm>
            <a:off x="5180013" y="6502400"/>
            <a:ext cx="3962400" cy="3414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p5: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171" name="Google Shape;171;p5: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172" name="Google Shape;172;p5: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3" name="Google Shape;173;p5: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La optoelectrónica es un campo interdisciplinario que combina la óptica y la electrónica para estudiar y desarrollar dispositivos que interactúan con la luz y las señales eléctricas.</a:t>
            </a:r>
            <a:endParaRPr/>
          </a:p>
        </p:txBody>
      </p:sp>
      <p:sp>
        <p:nvSpPr>
          <p:cNvPr id="174" name="Google Shape;174;p5: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175" name="Google Shape;175;p5: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p6: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184" name="Google Shape;184;p6: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185" name="Google Shape;185;p6: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6" name="Google Shape;186;p6: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La optoelectrónica es un campo interdisciplinario que combina la óptica y la electrónica para estudiar y desarrollar dispositivos que interactúan con la luz y las señales eléctricas.</a:t>
            </a:r>
            <a:endParaRPr/>
          </a:p>
        </p:txBody>
      </p:sp>
      <p:sp>
        <p:nvSpPr>
          <p:cNvPr id="187" name="Google Shape;187;p6: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188" name="Google Shape;188;p6: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p7: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199" name="Google Shape;199;p7: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200" name="Google Shape;200;p7: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1" name="Google Shape;201;p7: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La optoelectrónica es un campo interdisciplinario que combina la óptica y la electrónica para estudiar y desarrollar dispositivos que interactúan con la luz y las señales eléctricas.</a:t>
            </a:r>
            <a:endParaRPr/>
          </a:p>
        </p:txBody>
      </p:sp>
      <p:sp>
        <p:nvSpPr>
          <p:cNvPr id="202" name="Google Shape;202;p7: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203" name="Google Shape;203;p7: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p8: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214" name="Google Shape;214;p8: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215" name="Google Shape;215;p8: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6" name="Google Shape;216;p8: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La optoelectrónica es un campo interdisciplinario que combina la óptica y la electrónica para estudiar y desarrollar dispositivos que interactúan con la luz y las señales eléctricas.</a:t>
            </a:r>
            <a:endParaRPr/>
          </a:p>
        </p:txBody>
      </p:sp>
      <p:sp>
        <p:nvSpPr>
          <p:cNvPr id="217" name="Google Shape;217;p8: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218" name="Google Shape;218;p8: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p9: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229" name="Google Shape;229;p9: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230" name="Google Shape;230;p9: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1" name="Google Shape;231;p9: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La optoelectrónica es un campo interdisciplinario que combina la óptica y la electrónica para estudiar y desarrollar dispositivos que interactúan con la luz y las señales eléctricas.</a:t>
            </a:r>
            <a:endParaRPr/>
          </a:p>
        </p:txBody>
      </p:sp>
      <p:sp>
        <p:nvSpPr>
          <p:cNvPr id="232" name="Google Shape;232;p9: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233" name="Google Shape;233;p9: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p10: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244" name="Google Shape;244;p10: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245" name="Google Shape;245;p10: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6" name="Google Shape;246;p10: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La optoelectrónica es un campo interdisciplinario que combina la óptica y la electrónica para estudiar y desarrollar dispositivos que interactúan con la luz y las señales eléctricas.</a:t>
            </a:r>
            <a:endParaRPr/>
          </a:p>
        </p:txBody>
      </p:sp>
      <p:sp>
        <p:nvSpPr>
          <p:cNvPr id="247" name="Google Shape;247;p10: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248" name="Google Shape;248;p10: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p11:notes"/>
          <p:cNvSpPr txBox="1"/>
          <p:nvPr>
            <p:ph idx="1" type="body"/>
          </p:nvPr>
        </p:nvSpPr>
        <p:spPr>
          <a:xfrm>
            <a:off x="914400" y="3251200"/>
            <a:ext cx="7315200" cy="3081338"/>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9" name="Google Shape;259;p11:notes"/>
          <p:cNvSpPr/>
          <p:nvPr>
            <p:ph idx="2"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p12:notes"/>
          <p:cNvSpPr txBox="1"/>
          <p:nvPr>
            <p:ph idx="1" type="body"/>
          </p:nvPr>
        </p:nvSpPr>
        <p:spPr>
          <a:xfrm>
            <a:off x="914400" y="3251200"/>
            <a:ext cx="7315200" cy="3081338"/>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4" name="Google Shape;264;p12:notes"/>
          <p:cNvSpPr/>
          <p:nvPr>
            <p:ph idx="2"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p13:notes"/>
          <p:cNvSpPr txBox="1"/>
          <p:nvPr>
            <p:ph idx="1" type="body"/>
          </p:nvPr>
        </p:nvSpPr>
        <p:spPr>
          <a:xfrm>
            <a:off x="914400" y="3251200"/>
            <a:ext cx="7315200" cy="3081338"/>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0" name="Google Shape;270;p13:notes"/>
          <p:cNvSpPr/>
          <p:nvPr>
            <p:ph idx="2"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5" name="Shape 15"/>
        <p:cNvGrpSpPr/>
        <p:nvPr/>
      </p:nvGrpSpPr>
      <p:grpSpPr>
        <a:xfrm>
          <a:off x="0" y="0"/>
          <a:ext cx="0" cy="0"/>
          <a:chOff x="0" y="0"/>
          <a:chExt cx="0" cy="0"/>
        </a:xfrm>
      </p:grpSpPr>
      <p:sp>
        <p:nvSpPr>
          <p:cNvPr id="16" name="Google Shape;16;p1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 name="Google Shape;17;p1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 name="Google Shape;18;p1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9" name="Shape 19"/>
        <p:cNvGrpSpPr/>
        <p:nvPr/>
      </p:nvGrpSpPr>
      <p:grpSpPr>
        <a:xfrm>
          <a:off x="0" y="0"/>
          <a:ext cx="0" cy="0"/>
          <a:chOff x="0" y="0"/>
          <a:chExt cx="0" cy="0"/>
        </a:xfrm>
      </p:grpSpPr>
      <p:sp>
        <p:nvSpPr>
          <p:cNvPr id="20" name="Google Shape;20;p16"/>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 name="Google Shape;21;p16"/>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22" name="Google Shape;22;p1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 name="Google Shape;23;p1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 name="Google Shape;24;p1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5" name="Shape 25"/>
        <p:cNvGrpSpPr/>
        <p:nvPr/>
      </p:nvGrpSpPr>
      <p:grpSpPr>
        <a:xfrm>
          <a:off x="0" y="0"/>
          <a:ext cx="0" cy="0"/>
          <a:chOff x="0" y="0"/>
          <a:chExt cx="0" cy="0"/>
        </a:xfrm>
      </p:grpSpPr>
      <p:sp>
        <p:nvSpPr>
          <p:cNvPr id="26" name="Google Shape;26;p1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 name="Google Shape;27;p17"/>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8" name="Google Shape;28;p1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 name="Google Shape;29;p1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 name="Google Shape;30;p1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1" name="Shape 31"/>
        <p:cNvGrpSpPr/>
        <p:nvPr/>
      </p:nvGrpSpPr>
      <p:grpSpPr>
        <a:xfrm>
          <a:off x="0" y="0"/>
          <a:ext cx="0" cy="0"/>
          <a:chOff x="0" y="0"/>
          <a:chExt cx="0" cy="0"/>
        </a:xfrm>
      </p:grpSpPr>
      <p:sp>
        <p:nvSpPr>
          <p:cNvPr id="32" name="Google Shape;32;p18"/>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3" name="Google Shape;33;p18"/>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4" name="Google Shape;34;p1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1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 name="Google Shape;36;p1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7" name="Shape 37"/>
        <p:cNvGrpSpPr/>
        <p:nvPr/>
      </p:nvGrpSpPr>
      <p:grpSpPr>
        <a:xfrm>
          <a:off x="0" y="0"/>
          <a:ext cx="0" cy="0"/>
          <a:chOff x="0" y="0"/>
          <a:chExt cx="0" cy="0"/>
        </a:xfrm>
      </p:grpSpPr>
      <p:sp>
        <p:nvSpPr>
          <p:cNvPr id="38" name="Google Shape;38;p1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9" name="Google Shape;39;p19"/>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40" name="Google Shape;40;p19"/>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41" name="Google Shape;41;p1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 name="Google Shape;42;p1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1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4" name="Shape 44"/>
        <p:cNvGrpSpPr/>
        <p:nvPr/>
      </p:nvGrpSpPr>
      <p:grpSpPr>
        <a:xfrm>
          <a:off x="0" y="0"/>
          <a:ext cx="0" cy="0"/>
          <a:chOff x="0" y="0"/>
          <a:chExt cx="0" cy="0"/>
        </a:xfrm>
      </p:grpSpPr>
      <p:sp>
        <p:nvSpPr>
          <p:cNvPr id="45" name="Google Shape;45;p2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6" name="Google Shape;46;p20"/>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7" name="Google Shape;47;p20"/>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8" name="Google Shape;48;p20"/>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9" name="Google Shape;49;p20"/>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50" name="Google Shape;50;p2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1" name="Google Shape;51;p2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2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3" name="Shape 53"/>
        <p:cNvGrpSpPr/>
        <p:nvPr/>
      </p:nvGrpSpPr>
      <p:grpSpPr>
        <a:xfrm>
          <a:off x="0" y="0"/>
          <a:ext cx="0" cy="0"/>
          <a:chOff x="0" y="0"/>
          <a:chExt cx="0" cy="0"/>
        </a:xfrm>
      </p:grpSpPr>
      <p:sp>
        <p:nvSpPr>
          <p:cNvPr id="54" name="Google Shape;54;p2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5" name="Google Shape;55;p2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2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2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22"/>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 name="Google Shape;60;p22"/>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61" name="Google Shape;61;p22"/>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2" name="Google Shape;62;p2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2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2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23"/>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23"/>
          <p:cNvSpPr/>
          <p:nvPr>
            <p:ph idx="2" type="pic"/>
          </p:nvPr>
        </p:nvSpPr>
        <p:spPr>
          <a:xfrm>
            <a:off x="1792288" y="612775"/>
            <a:ext cx="5486400" cy="4114800"/>
          </a:xfrm>
          <a:prstGeom prst="rect">
            <a:avLst/>
          </a:prstGeom>
          <a:noFill/>
          <a:ln>
            <a:noFill/>
          </a:ln>
        </p:spPr>
      </p:sp>
      <p:sp>
        <p:nvSpPr>
          <p:cNvPr id="68" name="Google Shape;68;p23"/>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9" name="Google Shape;69;p2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2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2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2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24"/>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5" name="Google Shape;75;p2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2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2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25"/>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25"/>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81" name="Google Shape;81;p2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2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2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2" name="Google Shape;12;p1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1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1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9.png"/><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4.png"/><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2.png"/><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8.png"/><Relationship Id="rId4"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0.png"/><Relationship Id="rId4" Type="http://schemas.openxmlformats.org/officeDocument/2006/relationships/image" Target="../media/image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3.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32232"/>
        </a:solidFill>
      </p:bgPr>
    </p:bg>
    <p:spTree>
      <p:nvGrpSpPr>
        <p:cNvPr id="87" name="Shape 87"/>
        <p:cNvGrpSpPr/>
        <p:nvPr/>
      </p:nvGrpSpPr>
      <p:grpSpPr>
        <a:xfrm>
          <a:off x="0" y="0"/>
          <a:ext cx="0" cy="0"/>
          <a:chOff x="0" y="0"/>
          <a:chExt cx="0" cy="0"/>
        </a:xfrm>
      </p:grpSpPr>
      <p:grpSp>
        <p:nvGrpSpPr>
          <p:cNvPr id="88" name="Google Shape;88;p1"/>
          <p:cNvGrpSpPr/>
          <p:nvPr/>
        </p:nvGrpSpPr>
        <p:grpSpPr>
          <a:xfrm rot="5400000">
            <a:off x="2659078" y="-6224990"/>
            <a:ext cx="6274827" cy="12450233"/>
            <a:chOff x="0" y="0"/>
            <a:chExt cx="3166110" cy="6282055"/>
          </a:xfrm>
        </p:grpSpPr>
        <p:sp>
          <p:nvSpPr>
            <p:cNvPr id="89" name="Google Shape;89;p1"/>
            <p:cNvSpPr/>
            <p:nvPr/>
          </p:nvSpPr>
          <p:spPr>
            <a:xfrm>
              <a:off x="4318" y="4318"/>
              <a:ext cx="3157347" cy="6273419"/>
            </a:xfrm>
            <a:custGeom>
              <a:rect b="b" l="l" r="r" t="t"/>
              <a:pathLst>
                <a:path extrusionOk="0" h="6273419" w="3157347">
                  <a:moveTo>
                    <a:pt x="3049651" y="6273419"/>
                  </a:moveTo>
                  <a:lnTo>
                    <a:pt x="107696" y="6273419"/>
                  </a:lnTo>
                  <a:cubicBezTo>
                    <a:pt x="48260" y="6273419"/>
                    <a:pt x="0" y="6225286"/>
                    <a:pt x="0" y="6165723"/>
                  </a:cubicBezTo>
                  <a:lnTo>
                    <a:pt x="0" y="1578737"/>
                  </a:lnTo>
                  <a:cubicBezTo>
                    <a:pt x="0" y="706882"/>
                    <a:pt x="706882" y="0"/>
                    <a:pt x="1578737" y="0"/>
                  </a:cubicBezTo>
                  <a:lnTo>
                    <a:pt x="1578737" y="0"/>
                  </a:lnTo>
                  <a:cubicBezTo>
                    <a:pt x="2450592" y="0"/>
                    <a:pt x="3157347" y="706755"/>
                    <a:pt x="3157347" y="1578610"/>
                  </a:cubicBezTo>
                  <a:lnTo>
                    <a:pt x="3157347" y="6165723"/>
                  </a:lnTo>
                  <a:cubicBezTo>
                    <a:pt x="3157347" y="6225286"/>
                    <a:pt x="3109087" y="6273419"/>
                    <a:pt x="3049651" y="6273419"/>
                  </a:cubicBezTo>
                  <a:close/>
                </a:path>
              </a:pathLst>
            </a:custGeom>
            <a:solidFill>
              <a:srgbClr val="ADC7EA"/>
            </a:solidFill>
            <a:ln cap="flat" cmpd="sng" w="127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1"/>
            <p:cNvSpPr/>
            <p:nvPr/>
          </p:nvSpPr>
          <p:spPr>
            <a:xfrm>
              <a:off x="0" y="0"/>
              <a:ext cx="3166110" cy="6282055"/>
            </a:xfrm>
            <a:custGeom>
              <a:rect b="b" l="l" r="r" t="t"/>
              <a:pathLst>
                <a:path extrusionOk="0" h="6282055" w="3166110">
                  <a:moveTo>
                    <a:pt x="3053969" y="6282055"/>
                  </a:moveTo>
                  <a:lnTo>
                    <a:pt x="112014" y="6282055"/>
                  </a:lnTo>
                  <a:cubicBezTo>
                    <a:pt x="50292" y="6282055"/>
                    <a:pt x="0" y="6231763"/>
                    <a:pt x="0" y="6170041"/>
                  </a:cubicBezTo>
                  <a:lnTo>
                    <a:pt x="0" y="1583055"/>
                  </a:lnTo>
                  <a:cubicBezTo>
                    <a:pt x="0" y="1369314"/>
                    <a:pt x="41910" y="1162050"/>
                    <a:pt x="124460" y="966851"/>
                  </a:cubicBezTo>
                  <a:cubicBezTo>
                    <a:pt x="204216" y="778383"/>
                    <a:pt x="318389" y="609092"/>
                    <a:pt x="463677" y="463677"/>
                  </a:cubicBezTo>
                  <a:cubicBezTo>
                    <a:pt x="608965" y="318262"/>
                    <a:pt x="778256" y="204089"/>
                    <a:pt x="966851" y="124460"/>
                  </a:cubicBezTo>
                  <a:cubicBezTo>
                    <a:pt x="1161923" y="41910"/>
                    <a:pt x="1369314" y="0"/>
                    <a:pt x="1583055" y="0"/>
                  </a:cubicBezTo>
                  <a:cubicBezTo>
                    <a:pt x="1796796" y="0"/>
                    <a:pt x="2004060" y="41910"/>
                    <a:pt x="2199259" y="124460"/>
                  </a:cubicBezTo>
                  <a:cubicBezTo>
                    <a:pt x="2387727" y="204216"/>
                    <a:pt x="2557018" y="318389"/>
                    <a:pt x="2702433" y="463677"/>
                  </a:cubicBezTo>
                  <a:cubicBezTo>
                    <a:pt x="2847848" y="609092"/>
                    <a:pt x="2961894" y="778383"/>
                    <a:pt x="3041650" y="966851"/>
                  </a:cubicBezTo>
                  <a:cubicBezTo>
                    <a:pt x="3124200" y="1162050"/>
                    <a:pt x="3166110" y="1369314"/>
                    <a:pt x="3166110" y="1583055"/>
                  </a:cubicBezTo>
                  <a:lnTo>
                    <a:pt x="3166110" y="6170168"/>
                  </a:lnTo>
                  <a:cubicBezTo>
                    <a:pt x="3165983" y="6231890"/>
                    <a:pt x="3115818" y="6282055"/>
                    <a:pt x="3053969" y="6282055"/>
                  </a:cubicBezTo>
                  <a:close/>
                  <a:moveTo>
                    <a:pt x="1583055" y="8763"/>
                  </a:moveTo>
                  <a:cubicBezTo>
                    <a:pt x="1370584" y="8763"/>
                    <a:pt x="1164336" y="50419"/>
                    <a:pt x="970280" y="132461"/>
                  </a:cubicBezTo>
                  <a:cubicBezTo>
                    <a:pt x="782828" y="211709"/>
                    <a:pt x="614426" y="325247"/>
                    <a:pt x="469900" y="469900"/>
                  </a:cubicBezTo>
                  <a:cubicBezTo>
                    <a:pt x="325374" y="614553"/>
                    <a:pt x="211709" y="782701"/>
                    <a:pt x="132461" y="970280"/>
                  </a:cubicBezTo>
                  <a:cubicBezTo>
                    <a:pt x="50419" y="1164336"/>
                    <a:pt x="8763" y="1370584"/>
                    <a:pt x="8763" y="1583055"/>
                  </a:cubicBezTo>
                  <a:lnTo>
                    <a:pt x="8763" y="6170168"/>
                  </a:lnTo>
                  <a:cubicBezTo>
                    <a:pt x="8763" y="6227064"/>
                    <a:pt x="55118" y="6273419"/>
                    <a:pt x="112014" y="6273419"/>
                  </a:cubicBezTo>
                  <a:lnTo>
                    <a:pt x="3053969" y="6273419"/>
                  </a:lnTo>
                  <a:cubicBezTo>
                    <a:pt x="3110865" y="6273419"/>
                    <a:pt x="3157220" y="6227064"/>
                    <a:pt x="3157220" y="6170168"/>
                  </a:cubicBezTo>
                  <a:lnTo>
                    <a:pt x="3157220" y="1583055"/>
                  </a:lnTo>
                  <a:cubicBezTo>
                    <a:pt x="3157220" y="1370584"/>
                    <a:pt x="3115564" y="1164336"/>
                    <a:pt x="3033522" y="970280"/>
                  </a:cubicBezTo>
                  <a:cubicBezTo>
                    <a:pt x="2954274" y="782828"/>
                    <a:pt x="2840736" y="614426"/>
                    <a:pt x="2696083" y="469900"/>
                  </a:cubicBezTo>
                  <a:cubicBezTo>
                    <a:pt x="2551557" y="325374"/>
                    <a:pt x="2383155" y="211836"/>
                    <a:pt x="2195703" y="132461"/>
                  </a:cubicBezTo>
                  <a:cubicBezTo>
                    <a:pt x="2001647" y="50292"/>
                    <a:pt x="1795526" y="8763"/>
                    <a:pt x="1583055" y="8763"/>
                  </a:cubicBezTo>
                  <a:close/>
                </a:path>
              </a:pathLst>
            </a:custGeom>
            <a:solidFill>
              <a:srgbClr val="1322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1" name="Google Shape;91;p1"/>
          <p:cNvGrpSpPr/>
          <p:nvPr/>
        </p:nvGrpSpPr>
        <p:grpSpPr>
          <a:xfrm rot="-5400000">
            <a:off x="9151318" y="4851619"/>
            <a:ext cx="6274827" cy="12450233"/>
            <a:chOff x="0" y="0"/>
            <a:chExt cx="3166110" cy="6282055"/>
          </a:xfrm>
        </p:grpSpPr>
        <p:sp>
          <p:nvSpPr>
            <p:cNvPr id="92" name="Google Shape;92;p1"/>
            <p:cNvSpPr/>
            <p:nvPr/>
          </p:nvSpPr>
          <p:spPr>
            <a:xfrm>
              <a:off x="4318" y="4318"/>
              <a:ext cx="3157347" cy="6273419"/>
            </a:xfrm>
            <a:custGeom>
              <a:rect b="b" l="l" r="r" t="t"/>
              <a:pathLst>
                <a:path extrusionOk="0" h="6273419" w="3157347">
                  <a:moveTo>
                    <a:pt x="3049651" y="6273419"/>
                  </a:moveTo>
                  <a:lnTo>
                    <a:pt x="107696" y="6273419"/>
                  </a:lnTo>
                  <a:cubicBezTo>
                    <a:pt x="48260" y="6273419"/>
                    <a:pt x="0" y="6225286"/>
                    <a:pt x="0" y="6165723"/>
                  </a:cubicBezTo>
                  <a:lnTo>
                    <a:pt x="0" y="1578737"/>
                  </a:lnTo>
                  <a:cubicBezTo>
                    <a:pt x="0" y="706882"/>
                    <a:pt x="706882" y="0"/>
                    <a:pt x="1578737" y="0"/>
                  </a:cubicBezTo>
                  <a:lnTo>
                    <a:pt x="1578737" y="0"/>
                  </a:lnTo>
                  <a:cubicBezTo>
                    <a:pt x="2450592" y="0"/>
                    <a:pt x="3157347" y="706755"/>
                    <a:pt x="3157347" y="1578610"/>
                  </a:cubicBezTo>
                  <a:lnTo>
                    <a:pt x="3157347" y="6165723"/>
                  </a:lnTo>
                  <a:cubicBezTo>
                    <a:pt x="3157347" y="6225286"/>
                    <a:pt x="3109087" y="6273419"/>
                    <a:pt x="3049651" y="6273419"/>
                  </a:cubicBezTo>
                  <a:close/>
                </a:path>
              </a:pathLst>
            </a:custGeom>
            <a:solidFill>
              <a:srgbClr val="E0E6E9"/>
            </a:solidFill>
            <a:ln cap="flat" cmpd="sng" w="127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1"/>
            <p:cNvSpPr/>
            <p:nvPr/>
          </p:nvSpPr>
          <p:spPr>
            <a:xfrm>
              <a:off x="0" y="0"/>
              <a:ext cx="3166110" cy="6282055"/>
            </a:xfrm>
            <a:custGeom>
              <a:rect b="b" l="l" r="r" t="t"/>
              <a:pathLst>
                <a:path extrusionOk="0" h="6282055" w="3166110">
                  <a:moveTo>
                    <a:pt x="3053969" y="6282055"/>
                  </a:moveTo>
                  <a:lnTo>
                    <a:pt x="112014" y="6282055"/>
                  </a:lnTo>
                  <a:cubicBezTo>
                    <a:pt x="50292" y="6282055"/>
                    <a:pt x="0" y="6231763"/>
                    <a:pt x="0" y="6170041"/>
                  </a:cubicBezTo>
                  <a:lnTo>
                    <a:pt x="0" y="1583055"/>
                  </a:lnTo>
                  <a:cubicBezTo>
                    <a:pt x="0" y="1369314"/>
                    <a:pt x="41910" y="1162050"/>
                    <a:pt x="124460" y="966851"/>
                  </a:cubicBezTo>
                  <a:cubicBezTo>
                    <a:pt x="204216" y="778383"/>
                    <a:pt x="318389" y="609092"/>
                    <a:pt x="463677" y="463677"/>
                  </a:cubicBezTo>
                  <a:cubicBezTo>
                    <a:pt x="608965" y="318262"/>
                    <a:pt x="778256" y="204089"/>
                    <a:pt x="966851" y="124460"/>
                  </a:cubicBezTo>
                  <a:cubicBezTo>
                    <a:pt x="1161923" y="41910"/>
                    <a:pt x="1369314" y="0"/>
                    <a:pt x="1583055" y="0"/>
                  </a:cubicBezTo>
                  <a:cubicBezTo>
                    <a:pt x="1796796" y="0"/>
                    <a:pt x="2004060" y="41910"/>
                    <a:pt x="2199259" y="124460"/>
                  </a:cubicBezTo>
                  <a:cubicBezTo>
                    <a:pt x="2387727" y="204216"/>
                    <a:pt x="2557018" y="318389"/>
                    <a:pt x="2702433" y="463677"/>
                  </a:cubicBezTo>
                  <a:cubicBezTo>
                    <a:pt x="2847848" y="609092"/>
                    <a:pt x="2961894" y="778383"/>
                    <a:pt x="3041650" y="966851"/>
                  </a:cubicBezTo>
                  <a:cubicBezTo>
                    <a:pt x="3124200" y="1162050"/>
                    <a:pt x="3166110" y="1369314"/>
                    <a:pt x="3166110" y="1583055"/>
                  </a:cubicBezTo>
                  <a:lnTo>
                    <a:pt x="3166110" y="6170168"/>
                  </a:lnTo>
                  <a:cubicBezTo>
                    <a:pt x="3165983" y="6231890"/>
                    <a:pt x="3115818" y="6282055"/>
                    <a:pt x="3053969" y="6282055"/>
                  </a:cubicBezTo>
                  <a:close/>
                  <a:moveTo>
                    <a:pt x="1583055" y="8763"/>
                  </a:moveTo>
                  <a:cubicBezTo>
                    <a:pt x="1370584" y="8763"/>
                    <a:pt x="1164336" y="50419"/>
                    <a:pt x="970280" y="132461"/>
                  </a:cubicBezTo>
                  <a:cubicBezTo>
                    <a:pt x="782828" y="211709"/>
                    <a:pt x="614426" y="325247"/>
                    <a:pt x="469900" y="469900"/>
                  </a:cubicBezTo>
                  <a:cubicBezTo>
                    <a:pt x="325374" y="614553"/>
                    <a:pt x="211709" y="782701"/>
                    <a:pt x="132461" y="970280"/>
                  </a:cubicBezTo>
                  <a:cubicBezTo>
                    <a:pt x="50419" y="1164336"/>
                    <a:pt x="8763" y="1370584"/>
                    <a:pt x="8763" y="1583055"/>
                  </a:cubicBezTo>
                  <a:lnTo>
                    <a:pt x="8763" y="6170168"/>
                  </a:lnTo>
                  <a:cubicBezTo>
                    <a:pt x="8763" y="6227064"/>
                    <a:pt x="55118" y="6273419"/>
                    <a:pt x="112014" y="6273419"/>
                  </a:cubicBezTo>
                  <a:lnTo>
                    <a:pt x="3053969" y="6273419"/>
                  </a:lnTo>
                  <a:cubicBezTo>
                    <a:pt x="3110865" y="6273419"/>
                    <a:pt x="3157220" y="6227064"/>
                    <a:pt x="3157220" y="6170168"/>
                  </a:cubicBezTo>
                  <a:lnTo>
                    <a:pt x="3157220" y="1583055"/>
                  </a:lnTo>
                  <a:cubicBezTo>
                    <a:pt x="3157220" y="1370584"/>
                    <a:pt x="3115564" y="1164336"/>
                    <a:pt x="3033522" y="970280"/>
                  </a:cubicBezTo>
                  <a:cubicBezTo>
                    <a:pt x="2954274" y="782828"/>
                    <a:pt x="2840736" y="614426"/>
                    <a:pt x="2696083" y="469900"/>
                  </a:cubicBezTo>
                  <a:cubicBezTo>
                    <a:pt x="2551557" y="325374"/>
                    <a:pt x="2383155" y="211836"/>
                    <a:pt x="2195703" y="132461"/>
                  </a:cubicBezTo>
                  <a:cubicBezTo>
                    <a:pt x="2001647" y="50292"/>
                    <a:pt x="1795526" y="8763"/>
                    <a:pt x="1583055" y="8763"/>
                  </a:cubicBezTo>
                  <a:close/>
                </a:path>
              </a:pathLst>
            </a:custGeom>
            <a:solidFill>
              <a:srgbClr val="E0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4" name="Google Shape;94;p1"/>
          <p:cNvGrpSpPr/>
          <p:nvPr/>
        </p:nvGrpSpPr>
        <p:grpSpPr>
          <a:xfrm>
            <a:off x="12814229" y="6175561"/>
            <a:ext cx="12630150" cy="1367582"/>
            <a:chOff x="0" y="-66675"/>
            <a:chExt cx="3326459" cy="360186"/>
          </a:xfrm>
        </p:grpSpPr>
        <p:sp>
          <p:nvSpPr>
            <p:cNvPr id="95" name="Google Shape;95;p1"/>
            <p:cNvSpPr/>
            <p:nvPr/>
          </p:nvSpPr>
          <p:spPr>
            <a:xfrm>
              <a:off x="0" y="0"/>
              <a:ext cx="3326459" cy="293511"/>
            </a:xfrm>
            <a:custGeom>
              <a:rect b="b" l="l" r="r" t="t"/>
              <a:pathLst>
                <a:path extrusionOk="0" h="293511" w="3326459">
                  <a:moveTo>
                    <a:pt x="3123259" y="0"/>
                  </a:moveTo>
                  <a:cubicBezTo>
                    <a:pt x="3235484" y="0"/>
                    <a:pt x="3326459" y="65705"/>
                    <a:pt x="3326459" y="146756"/>
                  </a:cubicBezTo>
                  <a:cubicBezTo>
                    <a:pt x="3326459" y="227806"/>
                    <a:pt x="3235484" y="293511"/>
                    <a:pt x="3123259" y="293511"/>
                  </a:cubicBezTo>
                  <a:lnTo>
                    <a:pt x="203200" y="293511"/>
                  </a:lnTo>
                  <a:cubicBezTo>
                    <a:pt x="90976" y="293511"/>
                    <a:pt x="0" y="227806"/>
                    <a:pt x="0" y="146756"/>
                  </a:cubicBezTo>
                  <a:cubicBezTo>
                    <a:pt x="0" y="65705"/>
                    <a:pt x="90976" y="0"/>
                    <a:pt x="20320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1"/>
            <p:cNvSpPr txBox="1"/>
            <p:nvPr/>
          </p:nvSpPr>
          <p:spPr>
            <a:xfrm>
              <a:off x="0" y="-66675"/>
              <a:ext cx="3326459" cy="360186"/>
            </a:xfrm>
            <a:prstGeom prst="rect">
              <a:avLst/>
            </a:prstGeom>
            <a:noFill/>
            <a:ln>
              <a:noFill/>
            </a:ln>
          </p:spPr>
          <p:txBody>
            <a:bodyPr anchorCtr="0" anchor="ctr" bIns="50800" lIns="50800" spcFirstLastPara="1" rIns="50800" wrap="square" tIns="50800">
              <a:noAutofit/>
            </a:bodyPr>
            <a:lstStyle/>
            <a:p>
              <a:pPr indent="0" lvl="0" marL="0" marR="0" rtl="0" algn="ctr">
                <a:lnSpc>
                  <a:spcPct val="201333"/>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97" name="Google Shape;97;p1"/>
          <p:cNvSpPr txBox="1"/>
          <p:nvPr/>
        </p:nvSpPr>
        <p:spPr>
          <a:xfrm>
            <a:off x="344927" y="3722182"/>
            <a:ext cx="13235916" cy="3451523"/>
          </a:xfrm>
          <a:prstGeom prst="rect">
            <a:avLst/>
          </a:prstGeom>
          <a:noFill/>
          <a:ln>
            <a:noFill/>
          </a:ln>
        </p:spPr>
        <p:txBody>
          <a:bodyPr anchorCtr="0" anchor="t" bIns="0" lIns="0" spcFirstLastPara="1" rIns="0" wrap="square" tIns="0">
            <a:spAutoFit/>
          </a:bodyPr>
          <a:lstStyle/>
          <a:p>
            <a:pPr indent="0" lvl="0" marL="0" marR="0" rtl="0" algn="ctr">
              <a:lnSpc>
                <a:spcPct val="114003"/>
              </a:lnSpc>
              <a:spcBef>
                <a:spcPts val="0"/>
              </a:spcBef>
              <a:spcAft>
                <a:spcPts val="0"/>
              </a:spcAft>
              <a:buNone/>
            </a:pPr>
            <a:r>
              <a:rPr b="1" i="0" lang="en-US" sz="7955" u="none" cap="none" strike="noStrike">
                <a:solidFill>
                  <a:srgbClr val="FFFFFF"/>
                </a:solidFill>
                <a:latin typeface="Oswald"/>
                <a:ea typeface="Oswald"/>
                <a:cs typeface="Oswald"/>
                <a:sym typeface="Oswald"/>
              </a:rPr>
              <a:t>LOGICA COMBINACIONAL:</a:t>
            </a:r>
            <a:endParaRPr/>
          </a:p>
          <a:p>
            <a:pPr indent="0" lvl="0" marL="0" marR="0" rtl="0" algn="ctr">
              <a:lnSpc>
                <a:spcPct val="114003"/>
              </a:lnSpc>
              <a:spcBef>
                <a:spcPts val="0"/>
              </a:spcBef>
              <a:spcAft>
                <a:spcPts val="0"/>
              </a:spcAft>
              <a:buNone/>
            </a:pPr>
            <a:r>
              <a:rPr b="1" i="0" lang="en-US" sz="7955" u="none" cap="none" strike="noStrike">
                <a:solidFill>
                  <a:srgbClr val="FFFFFF"/>
                </a:solidFill>
                <a:latin typeface="Oswald"/>
                <a:ea typeface="Oswald"/>
                <a:cs typeface="Oswald"/>
                <a:sym typeface="Oswald"/>
              </a:rPr>
              <a:t>COMPARADORES, CODERS, DECODERS, MUX Y DEMUX</a:t>
            </a:r>
            <a:endParaRPr/>
          </a:p>
        </p:txBody>
      </p:sp>
      <p:sp>
        <p:nvSpPr>
          <p:cNvPr id="98" name="Google Shape;98;p1"/>
          <p:cNvSpPr txBox="1"/>
          <p:nvPr/>
        </p:nvSpPr>
        <p:spPr>
          <a:xfrm>
            <a:off x="1028700" y="8063399"/>
            <a:ext cx="13293265" cy="691388"/>
          </a:xfrm>
          <a:prstGeom prst="rect">
            <a:avLst/>
          </a:prstGeom>
          <a:noFill/>
          <a:ln>
            <a:noFill/>
          </a:ln>
        </p:spPr>
        <p:txBody>
          <a:bodyPr anchorCtr="0" anchor="t" bIns="0" lIns="0" spcFirstLastPara="1" rIns="0" wrap="square" tIns="0">
            <a:spAutoFit/>
          </a:bodyPr>
          <a:lstStyle/>
          <a:p>
            <a:pPr indent="0" lvl="0" marL="0" marR="0" rtl="0" algn="l">
              <a:lnSpc>
                <a:spcPct val="118008"/>
              </a:lnSpc>
              <a:spcBef>
                <a:spcPts val="0"/>
              </a:spcBef>
              <a:spcAft>
                <a:spcPts val="0"/>
              </a:spcAft>
              <a:buNone/>
            </a:pPr>
            <a:r>
              <a:rPr b="0" i="0" lang="en-US" sz="2199" u="none" cap="none" strike="noStrike">
                <a:solidFill>
                  <a:srgbClr val="FFFFFF"/>
                </a:solidFill>
                <a:latin typeface="Lato Black"/>
                <a:ea typeface="Lato Black"/>
                <a:cs typeface="Lato Black"/>
                <a:sym typeface="Lato Black"/>
              </a:rPr>
              <a:t>ORGANIZACIÓN COMPUTACIONAL</a:t>
            </a:r>
            <a:endParaRPr/>
          </a:p>
          <a:p>
            <a:pPr indent="0" lvl="0" marL="0" marR="0" rtl="0" algn="l">
              <a:lnSpc>
                <a:spcPct val="118008"/>
              </a:lnSpc>
              <a:spcBef>
                <a:spcPts val="0"/>
              </a:spcBef>
              <a:spcAft>
                <a:spcPts val="0"/>
              </a:spcAft>
              <a:buNone/>
            </a:pPr>
            <a:r>
              <a:rPr b="0" i="0" lang="en-US" sz="2199" u="none" cap="none" strike="noStrike">
                <a:solidFill>
                  <a:srgbClr val="FFFFFF"/>
                </a:solidFill>
                <a:latin typeface="Lato Black"/>
                <a:ea typeface="Lato Black"/>
                <a:cs typeface="Lato Black"/>
                <a:sym typeface="Lato Black"/>
              </a:rPr>
              <a:t>SECCIÓN A</a:t>
            </a:r>
            <a:endParaRPr/>
          </a:p>
        </p:txBody>
      </p:sp>
      <p:cxnSp>
        <p:nvCxnSpPr>
          <p:cNvPr id="99" name="Google Shape;99;p1"/>
          <p:cNvCxnSpPr/>
          <p:nvPr/>
        </p:nvCxnSpPr>
        <p:spPr>
          <a:xfrm>
            <a:off x="-428625" y="3501989"/>
            <a:ext cx="6492240" cy="0"/>
          </a:xfrm>
          <a:prstGeom prst="straightConnector1">
            <a:avLst/>
          </a:prstGeom>
          <a:noFill/>
          <a:ln cap="flat" cmpd="sng" w="38100">
            <a:solidFill>
              <a:srgbClr val="FFFFFF"/>
            </a:solidFill>
            <a:prstDash val="solid"/>
            <a:round/>
            <a:headEnd len="sm" w="sm" type="none"/>
            <a:tailEnd len="lg" w="lg" type="oval"/>
          </a:ln>
        </p:spPr>
      </p:cxnSp>
      <p:cxnSp>
        <p:nvCxnSpPr>
          <p:cNvPr id="100" name="Google Shape;100;p1"/>
          <p:cNvCxnSpPr/>
          <p:nvPr/>
        </p:nvCxnSpPr>
        <p:spPr>
          <a:xfrm>
            <a:off x="12471329" y="7739549"/>
            <a:ext cx="6492240" cy="0"/>
          </a:xfrm>
          <a:prstGeom prst="straightConnector1">
            <a:avLst/>
          </a:prstGeom>
          <a:noFill/>
          <a:ln cap="flat" cmpd="sng" w="38100">
            <a:solidFill>
              <a:srgbClr val="FFFFFF"/>
            </a:solidFill>
            <a:prstDash val="solid"/>
            <a:round/>
            <a:headEnd len="lg" w="lg" type="oval"/>
            <a:tailEnd len="sm" w="sm" type="none"/>
          </a:ln>
        </p:spPr>
      </p:cxnSp>
      <p:grpSp>
        <p:nvGrpSpPr>
          <p:cNvPr id="101" name="Google Shape;101;p1"/>
          <p:cNvGrpSpPr/>
          <p:nvPr/>
        </p:nvGrpSpPr>
        <p:grpSpPr>
          <a:xfrm rot="-5400000">
            <a:off x="9766774" y="5394544"/>
            <a:ext cx="6274827" cy="12450233"/>
            <a:chOff x="0" y="0"/>
            <a:chExt cx="3166110" cy="6282055"/>
          </a:xfrm>
        </p:grpSpPr>
        <p:sp>
          <p:nvSpPr>
            <p:cNvPr id="102" name="Google Shape;102;p1"/>
            <p:cNvSpPr/>
            <p:nvPr/>
          </p:nvSpPr>
          <p:spPr>
            <a:xfrm>
              <a:off x="4318" y="4318"/>
              <a:ext cx="3157347" cy="6273419"/>
            </a:xfrm>
            <a:custGeom>
              <a:rect b="b" l="l" r="r" t="t"/>
              <a:pathLst>
                <a:path extrusionOk="0" h="6273419" w="3157347">
                  <a:moveTo>
                    <a:pt x="3049651" y="6273419"/>
                  </a:moveTo>
                  <a:lnTo>
                    <a:pt x="107696" y="6273419"/>
                  </a:lnTo>
                  <a:cubicBezTo>
                    <a:pt x="48260" y="6273419"/>
                    <a:pt x="0" y="6225286"/>
                    <a:pt x="0" y="6165723"/>
                  </a:cubicBezTo>
                  <a:lnTo>
                    <a:pt x="0" y="1578737"/>
                  </a:lnTo>
                  <a:cubicBezTo>
                    <a:pt x="0" y="706882"/>
                    <a:pt x="706882" y="0"/>
                    <a:pt x="1578737" y="0"/>
                  </a:cubicBezTo>
                  <a:lnTo>
                    <a:pt x="1578737" y="0"/>
                  </a:lnTo>
                  <a:cubicBezTo>
                    <a:pt x="2450592" y="0"/>
                    <a:pt x="3157347" y="706755"/>
                    <a:pt x="3157347" y="1578610"/>
                  </a:cubicBezTo>
                  <a:lnTo>
                    <a:pt x="3157347" y="6165723"/>
                  </a:lnTo>
                  <a:cubicBezTo>
                    <a:pt x="3157347" y="6225286"/>
                    <a:pt x="3109087" y="6273419"/>
                    <a:pt x="3049651" y="6273419"/>
                  </a:cubicBezTo>
                  <a:close/>
                </a:path>
              </a:pathLst>
            </a:custGeom>
            <a:solidFill>
              <a:srgbClr val="9DB3C1"/>
            </a:solidFill>
            <a:ln cap="flat" cmpd="sng" w="127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1"/>
            <p:cNvSpPr/>
            <p:nvPr/>
          </p:nvSpPr>
          <p:spPr>
            <a:xfrm>
              <a:off x="0" y="0"/>
              <a:ext cx="3166110" cy="6282055"/>
            </a:xfrm>
            <a:custGeom>
              <a:rect b="b" l="l" r="r" t="t"/>
              <a:pathLst>
                <a:path extrusionOk="0" h="6282055" w="3166110">
                  <a:moveTo>
                    <a:pt x="3053969" y="6282055"/>
                  </a:moveTo>
                  <a:lnTo>
                    <a:pt x="112014" y="6282055"/>
                  </a:lnTo>
                  <a:cubicBezTo>
                    <a:pt x="50292" y="6282055"/>
                    <a:pt x="0" y="6231763"/>
                    <a:pt x="0" y="6170041"/>
                  </a:cubicBezTo>
                  <a:lnTo>
                    <a:pt x="0" y="1583055"/>
                  </a:lnTo>
                  <a:cubicBezTo>
                    <a:pt x="0" y="1369314"/>
                    <a:pt x="41910" y="1162050"/>
                    <a:pt x="124460" y="966851"/>
                  </a:cubicBezTo>
                  <a:cubicBezTo>
                    <a:pt x="204216" y="778383"/>
                    <a:pt x="318389" y="609092"/>
                    <a:pt x="463677" y="463677"/>
                  </a:cubicBezTo>
                  <a:cubicBezTo>
                    <a:pt x="608965" y="318262"/>
                    <a:pt x="778256" y="204089"/>
                    <a:pt x="966851" y="124460"/>
                  </a:cubicBezTo>
                  <a:cubicBezTo>
                    <a:pt x="1161923" y="41910"/>
                    <a:pt x="1369314" y="0"/>
                    <a:pt x="1583055" y="0"/>
                  </a:cubicBezTo>
                  <a:cubicBezTo>
                    <a:pt x="1796796" y="0"/>
                    <a:pt x="2004060" y="41910"/>
                    <a:pt x="2199259" y="124460"/>
                  </a:cubicBezTo>
                  <a:cubicBezTo>
                    <a:pt x="2387727" y="204216"/>
                    <a:pt x="2557018" y="318389"/>
                    <a:pt x="2702433" y="463677"/>
                  </a:cubicBezTo>
                  <a:cubicBezTo>
                    <a:pt x="2847848" y="609092"/>
                    <a:pt x="2961894" y="778383"/>
                    <a:pt x="3041650" y="966851"/>
                  </a:cubicBezTo>
                  <a:cubicBezTo>
                    <a:pt x="3124200" y="1162050"/>
                    <a:pt x="3166110" y="1369314"/>
                    <a:pt x="3166110" y="1583055"/>
                  </a:cubicBezTo>
                  <a:lnTo>
                    <a:pt x="3166110" y="6170168"/>
                  </a:lnTo>
                  <a:cubicBezTo>
                    <a:pt x="3165983" y="6231890"/>
                    <a:pt x="3115818" y="6282055"/>
                    <a:pt x="3053969" y="6282055"/>
                  </a:cubicBezTo>
                  <a:close/>
                  <a:moveTo>
                    <a:pt x="1583055" y="8763"/>
                  </a:moveTo>
                  <a:cubicBezTo>
                    <a:pt x="1370584" y="8763"/>
                    <a:pt x="1164336" y="50419"/>
                    <a:pt x="970280" y="132461"/>
                  </a:cubicBezTo>
                  <a:cubicBezTo>
                    <a:pt x="782828" y="211709"/>
                    <a:pt x="614426" y="325247"/>
                    <a:pt x="469900" y="469900"/>
                  </a:cubicBezTo>
                  <a:cubicBezTo>
                    <a:pt x="325374" y="614553"/>
                    <a:pt x="211709" y="782701"/>
                    <a:pt x="132461" y="970280"/>
                  </a:cubicBezTo>
                  <a:cubicBezTo>
                    <a:pt x="50419" y="1164336"/>
                    <a:pt x="8763" y="1370584"/>
                    <a:pt x="8763" y="1583055"/>
                  </a:cubicBezTo>
                  <a:lnTo>
                    <a:pt x="8763" y="6170168"/>
                  </a:lnTo>
                  <a:cubicBezTo>
                    <a:pt x="8763" y="6227064"/>
                    <a:pt x="55118" y="6273419"/>
                    <a:pt x="112014" y="6273419"/>
                  </a:cubicBezTo>
                  <a:lnTo>
                    <a:pt x="3053969" y="6273419"/>
                  </a:lnTo>
                  <a:cubicBezTo>
                    <a:pt x="3110865" y="6273419"/>
                    <a:pt x="3157220" y="6227064"/>
                    <a:pt x="3157220" y="6170168"/>
                  </a:cubicBezTo>
                  <a:lnTo>
                    <a:pt x="3157220" y="1583055"/>
                  </a:lnTo>
                  <a:cubicBezTo>
                    <a:pt x="3157220" y="1370584"/>
                    <a:pt x="3115564" y="1164336"/>
                    <a:pt x="3033522" y="970280"/>
                  </a:cubicBezTo>
                  <a:cubicBezTo>
                    <a:pt x="2954274" y="782828"/>
                    <a:pt x="2840736" y="614426"/>
                    <a:pt x="2696083" y="469900"/>
                  </a:cubicBezTo>
                  <a:cubicBezTo>
                    <a:pt x="2551557" y="325374"/>
                    <a:pt x="2383155" y="211836"/>
                    <a:pt x="2195703" y="132461"/>
                  </a:cubicBezTo>
                  <a:cubicBezTo>
                    <a:pt x="2001647" y="50292"/>
                    <a:pt x="1795526" y="8763"/>
                    <a:pt x="1583055" y="8763"/>
                  </a:cubicBezTo>
                  <a:close/>
                </a:path>
              </a:pathLst>
            </a:custGeom>
            <a:solidFill>
              <a:srgbClr val="9DB3C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4" name="Google Shape;104;p1"/>
          <p:cNvGrpSpPr/>
          <p:nvPr/>
        </p:nvGrpSpPr>
        <p:grpSpPr>
          <a:xfrm rot="5400000">
            <a:off x="2154253" y="-6869939"/>
            <a:ext cx="6274827" cy="12450233"/>
            <a:chOff x="0" y="0"/>
            <a:chExt cx="3166110" cy="6282055"/>
          </a:xfrm>
        </p:grpSpPr>
        <p:sp>
          <p:nvSpPr>
            <p:cNvPr id="105" name="Google Shape;105;p1"/>
            <p:cNvSpPr/>
            <p:nvPr/>
          </p:nvSpPr>
          <p:spPr>
            <a:xfrm>
              <a:off x="4318" y="4318"/>
              <a:ext cx="3157347" cy="6273419"/>
            </a:xfrm>
            <a:custGeom>
              <a:rect b="b" l="l" r="r" t="t"/>
              <a:pathLst>
                <a:path extrusionOk="0" h="6273419" w="3157347">
                  <a:moveTo>
                    <a:pt x="3049651" y="6273419"/>
                  </a:moveTo>
                  <a:lnTo>
                    <a:pt x="107696" y="6273419"/>
                  </a:lnTo>
                  <a:cubicBezTo>
                    <a:pt x="48260" y="6273419"/>
                    <a:pt x="0" y="6225286"/>
                    <a:pt x="0" y="6165723"/>
                  </a:cubicBezTo>
                  <a:lnTo>
                    <a:pt x="0" y="1578737"/>
                  </a:lnTo>
                  <a:cubicBezTo>
                    <a:pt x="0" y="706882"/>
                    <a:pt x="706882" y="0"/>
                    <a:pt x="1578737" y="0"/>
                  </a:cubicBezTo>
                  <a:lnTo>
                    <a:pt x="1578737" y="0"/>
                  </a:lnTo>
                  <a:cubicBezTo>
                    <a:pt x="2450592" y="0"/>
                    <a:pt x="3157347" y="706755"/>
                    <a:pt x="3157347" y="1578610"/>
                  </a:cubicBezTo>
                  <a:lnTo>
                    <a:pt x="3157347" y="6165723"/>
                  </a:lnTo>
                  <a:cubicBezTo>
                    <a:pt x="3157347" y="6225286"/>
                    <a:pt x="3109087" y="6273419"/>
                    <a:pt x="3049651" y="6273419"/>
                  </a:cubicBezTo>
                  <a:close/>
                </a:path>
              </a:pathLst>
            </a:custGeom>
            <a:solidFill>
              <a:srgbClr val="5B696F"/>
            </a:solidFill>
            <a:ln cap="flat" cmpd="sng" w="127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1"/>
            <p:cNvSpPr/>
            <p:nvPr/>
          </p:nvSpPr>
          <p:spPr>
            <a:xfrm>
              <a:off x="0" y="0"/>
              <a:ext cx="3166110" cy="6282055"/>
            </a:xfrm>
            <a:custGeom>
              <a:rect b="b" l="l" r="r" t="t"/>
              <a:pathLst>
                <a:path extrusionOk="0" h="6282055" w="3166110">
                  <a:moveTo>
                    <a:pt x="3053969" y="6282055"/>
                  </a:moveTo>
                  <a:lnTo>
                    <a:pt x="112014" y="6282055"/>
                  </a:lnTo>
                  <a:cubicBezTo>
                    <a:pt x="50292" y="6282055"/>
                    <a:pt x="0" y="6231763"/>
                    <a:pt x="0" y="6170041"/>
                  </a:cubicBezTo>
                  <a:lnTo>
                    <a:pt x="0" y="1583055"/>
                  </a:lnTo>
                  <a:cubicBezTo>
                    <a:pt x="0" y="1369314"/>
                    <a:pt x="41910" y="1162050"/>
                    <a:pt x="124460" y="966851"/>
                  </a:cubicBezTo>
                  <a:cubicBezTo>
                    <a:pt x="204216" y="778383"/>
                    <a:pt x="318389" y="609092"/>
                    <a:pt x="463677" y="463677"/>
                  </a:cubicBezTo>
                  <a:cubicBezTo>
                    <a:pt x="608965" y="318262"/>
                    <a:pt x="778256" y="204089"/>
                    <a:pt x="966851" y="124460"/>
                  </a:cubicBezTo>
                  <a:cubicBezTo>
                    <a:pt x="1161923" y="41910"/>
                    <a:pt x="1369314" y="0"/>
                    <a:pt x="1583055" y="0"/>
                  </a:cubicBezTo>
                  <a:cubicBezTo>
                    <a:pt x="1796796" y="0"/>
                    <a:pt x="2004060" y="41910"/>
                    <a:pt x="2199259" y="124460"/>
                  </a:cubicBezTo>
                  <a:cubicBezTo>
                    <a:pt x="2387727" y="204216"/>
                    <a:pt x="2557018" y="318389"/>
                    <a:pt x="2702433" y="463677"/>
                  </a:cubicBezTo>
                  <a:cubicBezTo>
                    <a:pt x="2847848" y="609092"/>
                    <a:pt x="2961894" y="778383"/>
                    <a:pt x="3041650" y="966851"/>
                  </a:cubicBezTo>
                  <a:cubicBezTo>
                    <a:pt x="3124200" y="1162050"/>
                    <a:pt x="3166110" y="1369314"/>
                    <a:pt x="3166110" y="1583055"/>
                  </a:cubicBezTo>
                  <a:lnTo>
                    <a:pt x="3166110" y="6170168"/>
                  </a:lnTo>
                  <a:cubicBezTo>
                    <a:pt x="3165983" y="6231890"/>
                    <a:pt x="3115818" y="6282055"/>
                    <a:pt x="3053969" y="6282055"/>
                  </a:cubicBezTo>
                  <a:close/>
                  <a:moveTo>
                    <a:pt x="1583055" y="8763"/>
                  </a:moveTo>
                  <a:cubicBezTo>
                    <a:pt x="1370584" y="8763"/>
                    <a:pt x="1164336" y="50419"/>
                    <a:pt x="970280" y="132461"/>
                  </a:cubicBezTo>
                  <a:cubicBezTo>
                    <a:pt x="782828" y="211709"/>
                    <a:pt x="614426" y="325247"/>
                    <a:pt x="469900" y="469900"/>
                  </a:cubicBezTo>
                  <a:cubicBezTo>
                    <a:pt x="325374" y="614553"/>
                    <a:pt x="211709" y="782701"/>
                    <a:pt x="132461" y="970280"/>
                  </a:cubicBezTo>
                  <a:cubicBezTo>
                    <a:pt x="50419" y="1164336"/>
                    <a:pt x="8763" y="1370584"/>
                    <a:pt x="8763" y="1583055"/>
                  </a:cubicBezTo>
                  <a:lnTo>
                    <a:pt x="8763" y="6170168"/>
                  </a:lnTo>
                  <a:cubicBezTo>
                    <a:pt x="8763" y="6227064"/>
                    <a:pt x="55118" y="6273419"/>
                    <a:pt x="112014" y="6273419"/>
                  </a:cubicBezTo>
                  <a:lnTo>
                    <a:pt x="3053969" y="6273419"/>
                  </a:lnTo>
                  <a:cubicBezTo>
                    <a:pt x="3110865" y="6273419"/>
                    <a:pt x="3157220" y="6227064"/>
                    <a:pt x="3157220" y="6170168"/>
                  </a:cubicBezTo>
                  <a:lnTo>
                    <a:pt x="3157220" y="1583055"/>
                  </a:lnTo>
                  <a:cubicBezTo>
                    <a:pt x="3157220" y="1370584"/>
                    <a:pt x="3115564" y="1164336"/>
                    <a:pt x="3033522" y="970280"/>
                  </a:cubicBezTo>
                  <a:cubicBezTo>
                    <a:pt x="2954274" y="782828"/>
                    <a:pt x="2840736" y="614426"/>
                    <a:pt x="2696083" y="469900"/>
                  </a:cubicBezTo>
                  <a:cubicBezTo>
                    <a:pt x="2551557" y="325374"/>
                    <a:pt x="2383155" y="211836"/>
                    <a:pt x="2195703" y="132461"/>
                  </a:cubicBezTo>
                  <a:cubicBezTo>
                    <a:pt x="2001647" y="50292"/>
                    <a:pt x="1795526" y="8763"/>
                    <a:pt x="1583055" y="8763"/>
                  </a:cubicBezTo>
                  <a:close/>
                </a:path>
              </a:pathLst>
            </a:custGeom>
            <a:solidFill>
              <a:srgbClr val="5B696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32232"/>
        </a:solidFill>
      </p:bgPr>
    </p:bg>
    <p:spTree>
      <p:nvGrpSpPr>
        <p:cNvPr id="110" name="Shape 110"/>
        <p:cNvGrpSpPr/>
        <p:nvPr/>
      </p:nvGrpSpPr>
      <p:grpSpPr>
        <a:xfrm>
          <a:off x="0" y="0"/>
          <a:ext cx="0" cy="0"/>
          <a:chOff x="0" y="0"/>
          <a:chExt cx="0" cy="0"/>
        </a:xfrm>
      </p:grpSpPr>
      <p:cxnSp>
        <p:nvCxnSpPr>
          <p:cNvPr id="111" name="Google Shape;111;p2"/>
          <p:cNvCxnSpPr/>
          <p:nvPr/>
        </p:nvCxnSpPr>
        <p:spPr>
          <a:xfrm rot="10800000">
            <a:off x="6471625" y="0"/>
            <a:ext cx="0" cy="10287000"/>
          </a:xfrm>
          <a:prstGeom prst="straightConnector1">
            <a:avLst/>
          </a:prstGeom>
          <a:noFill/>
          <a:ln cap="flat" cmpd="sng" w="9525">
            <a:solidFill>
              <a:srgbClr val="FFFFFF"/>
            </a:solidFill>
            <a:prstDash val="solid"/>
            <a:round/>
            <a:headEnd len="sm" w="sm" type="none"/>
            <a:tailEnd len="sm" w="sm" type="none"/>
          </a:ln>
        </p:spPr>
      </p:cxnSp>
      <p:grpSp>
        <p:nvGrpSpPr>
          <p:cNvPr id="112" name="Google Shape;112;p2"/>
          <p:cNvGrpSpPr/>
          <p:nvPr/>
        </p:nvGrpSpPr>
        <p:grpSpPr>
          <a:xfrm>
            <a:off x="6344348" y="1028700"/>
            <a:ext cx="264078" cy="264078"/>
            <a:chOff x="0" y="0"/>
            <a:chExt cx="812800" cy="812800"/>
          </a:xfrm>
        </p:grpSpPr>
        <p:sp>
          <p:nvSpPr>
            <p:cNvPr id="113" name="Google Shape;113;p2"/>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2"/>
            <p:cNvSpPr txBox="1"/>
            <p:nvPr/>
          </p:nvSpPr>
          <p:spPr>
            <a:xfrm>
              <a:off x="76200" y="9525"/>
              <a:ext cx="660400" cy="727075"/>
            </a:xfrm>
            <a:prstGeom prst="rect">
              <a:avLst/>
            </a:prstGeom>
            <a:noFill/>
            <a:ln>
              <a:noFill/>
            </a:ln>
          </p:spPr>
          <p:txBody>
            <a:bodyPr anchorCtr="0" anchor="ctr" bIns="50800" lIns="50800" spcFirstLastPara="1" rIns="50800" wrap="square" tIns="50800">
              <a:noAutofit/>
            </a:bodyPr>
            <a:lstStyle/>
            <a:p>
              <a:pPr indent="0" lvl="0" marL="0" marR="0" rtl="0" algn="ctr">
                <a:lnSpc>
                  <a:spcPct val="201333"/>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15" name="Google Shape;115;p2"/>
          <p:cNvSpPr txBox="1"/>
          <p:nvPr/>
        </p:nvSpPr>
        <p:spPr>
          <a:xfrm>
            <a:off x="1028700" y="2783560"/>
            <a:ext cx="5199431" cy="117475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0" i="0" lang="en-US" sz="8000" u="none" cap="none" strike="noStrike">
                <a:solidFill>
                  <a:srgbClr val="FFFFFF"/>
                </a:solidFill>
                <a:latin typeface="Oswald"/>
                <a:ea typeface="Oswald"/>
                <a:cs typeface="Oswald"/>
                <a:sym typeface="Oswald"/>
              </a:rPr>
              <a:t>AGENDA</a:t>
            </a:r>
            <a:endParaRPr/>
          </a:p>
        </p:txBody>
      </p:sp>
      <p:sp>
        <p:nvSpPr>
          <p:cNvPr id="116" name="Google Shape;116;p2"/>
          <p:cNvSpPr txBox="1"/>
          <p:nvPr/>
        </p:nvSpPr>
        <p:spPr>
          <a:xfrm>
            <a:off x="6824213" y="905151"/>
            <a:ext cx="7929515" cy="444500"/>
          </a:xfrm>
          <a:prstGeom prst="rect">
            <a:avLst/>
          </a:prstGeom>
          <a:noFill/>
          <a:ln>
            <a:noFill/>
          </a:ln>
        </p:spPr>
        <p:txBody>
          <a:bodyPr anchorCtr="0" anchor="t" bIns="0" lIns="0" spcFirstLastPara="1" rIns="0" wrap="square" tIns="0">
            <a:spAutoFit/>
          </a:bodyPr>
          <a:lstStyle/>
          <a:p>
            <a:pPr indent="0" lvl="0" marL="0" marR="0" rtl="0" algn="l">
              <a:lnSpc>
                <a:spcPct val="145018"/>
              </a:lnSpc>
              <a:spcBef>
                <a:spcPts val="0"/>
              </a:spcBef>
              <a:spcAft>
                <a:spcPts val="0"/>
              </a:spcAft>
              <a:buNone/>
            </a:pPr>
            <a:r>
              <a:rPr b="0" i="0" lang="en-US" sz="2499" u="none" cap="none" strike="noStrike">
                <a:solidFill>
                  <a:srgbClr val="FFFFFF"/>
                </a:solidFill>
                <a:latin typeface="Arial"/>
                <a:ea typeface="Arial"/>
                <a:cs typeface="Arial"/>
                <a:sym typeface="Arial"/>
              </a:rPr>
              <a:t>INRODUCCION AL TEMA</a:t>
            </a:r>
            <a:endParaRPr/>
          </a:p>
        </p:txBody>
      </p:sp>
      <p:sp>
        <p:nvSpPr>
          <p:cNvPr id="117" name="Google Shape;117;p2"/>
          <p:cNvSpPr txBox="1"/>
          <p:nvPr/>
        </p:nvSpPr>
        <p:spPr>
          <a:xfrm>
            <a:off x="6824213" y="2621911"/>
            <a:ext cx="7929515" cy="444500"/>
          </a:xfrm>
          <a:prstGeom prst="rect">
            <a:avLst/>
          </a:prstGeom>
          <a:noFill/>
          <a:ln>
            <a:noFill/>
          </a:ln>
        </p:spPr>
        <p:txBody>
          <a:bodyPr anchorCtr="0" anchor="t" bIns="0" lIns="0" spcFirstLastPara="1" rIns="0" wrap="square" tIns="0">
            <a:spAutoFit/>
          </a:bodyPr>
          <a:lstStyle/>
          <a:p>
            <a:pPr indent="0" lvl="0" marL="0" marR="0" rtl="0" algn="l">
              <a:lnSpc>
                <a:spcPct val="145018"/>
              </a:lnSpc>
              <a:spcBef>
                <a:spcPts val="0"/>
              </a:spcBef>
              <a:spcAft>
                <a:spcPts val="0"/>
              </a:spcAft>
              <a:buNone/>
            </a:pPr>
            <a:r>
              <a:rPr b="0" i="0" lang="en-US" sz="2499" u="none" cap="none" strike="noStrike">
                <a:solidFill>
                  <a:srgbClr val="FFFFFF"/>
                </a:solidFill>
                <a:latin typeface="Arial"/>
                <a:ea typeface="Arial"/>
                <a:cs typeface="Arial"/>
                <a:sym typeface="Arial"/>
              </a:rPr>
              <a:t>LOGICA COMBINACIONAL</a:t>
            </a:r>
            <a:endParaRPr/>
          </a:p>
        </p:txBody>
      </p:sp>
      <p:sp>
        <p:nvSpPr>
          <p:cNvPr id="118" name="Google Shape;118;p2"/>
          <p:cNvSpPr txBox="1"/>
          <p:nvPr/>
        </p:nvSpPr>
        <p:spPr>
          <a:xfrm>
            <a:off x="7339370" y="1497326"/>
            <a:ext cx="5199431" cy="314960"/>
          </a:xfrm>
          <a:prstGeom prst="rect">
            <a:avLst/>
          </a:prstGeom>
          <a:noFill/>
          <a:ln>
            <a:noFill/>
          </a:ln>
        </p:spPr>
        <p:txBody>
          <a:bodyPr anchorCtr="0" anchor="t" bIns="0" lIns="0" spcFirstLastPara="1" rIns="0" wrap="square" tIns="0">
            <a:spAutoFit/>
          </a:bodyPr>
          <a:lstStyle/>
          <a:p>
            <a:pPr indent="0" lvl="0" marL="0" marR="0" rtl="0" algn="l">
              <a:lnSpc>
                <a:spcPct val="131000"/>
              </a:lnSpc>
              <a:spcBef>
                <a:spcPts val="0"/>
              </a:spcBef>
              <a:spcAft>
                <a:spcPts val="0"/>
              </a:spcAft>
              <a:buNone/>
            </a:pPr>
            <a:r>
              <a:rPr b="0" i="0" lang="en-US" sz="2000" u="none" cap="none" strike="noStrike">
                <a:solidFill>
                  <a:srgbClr val="FFFFFF"/>
                </a:solidFill>
                <a:latin typeface="Montserrat"/>
                <a:ea typeface="Montserrat"/>
                <a:cs typeface="Montserrat"/>
                <a:sym typeface="Montserrat"/>
              </a:rPr>
              <a:t>¿Que es la logica combinacional?</a:t>
            </a:r>
            <a:endParaRPr/>
          </a:p>
        </p:txBody>
      </p:sp>
      <p:sp>
        <p:nvSpPr>
          <p:cNvPr id="119" name="Google Shape;119;p2"/>
          <p:cNvSpPr txBox="1"/>
          <p:nvPr/>
        </p:nvSpPr>
        <p:spPr>
          <a:xfrm>
            <a:off x="6824213" y="4417928"/>
            <a:ext cx="7929515" cy="444500"/>
          </a:xfrm>
          <a:prstGeom prst="rect">
            <a:avLst/>
          </a:prstGeom>
          <a:noFill/>
          <a:ln>
            <a:noFill/>
          </a:ln>
        </p:spPr>
        <p:txBody>
          <a:bodyPr anchorCtr="0" anchor="t" bIns="0" lIns="0" spcFirstLastPara="1" rIns="0" wrap="square" tIns="0">
            <a:spAutoFit/>
          </a:bodyPr>
          <a:lstStyle/>
          <a:p>
            <a:pPr indent="0" lvl="0" marL="0" marR="0" rtl="0" algn="l">
              <a:lnSpc>
                <a:spcPct val="145018"/>
              </a:lnSpc>
              <a:spcBef>
                <a:spcPts val="0"/>
              </a:spcBef>
              <a:spcAft>
                <a:spcPts val="0"/>
              </a:spcAft>
              <a:buNone/>
            </a:pPr>
            <a:r>
              <a:rPr b="0" i="0" lang="en-US" sz="2499" u="none" cap="none" strike="noStrike">
                <a:solidFill>
                  <a:srgbClr val="FFFFFF"/>
                </a:solidFill>
                <a:latin typeface="Arial"/>
                <a:ea typeface="Arial"/>
                <a:cs typeface="Arial"/>
                <a:sym typeface="Arial"/>
              </a:rPr>
              <a:t>COMPARADORES</a:t>
            </a:r>
            <a:endParaRPr/>
          </a:p>
        </p:txBody>
      </p:sp>
      <p:sp>
        <p:nvSpPr>
          <p:cNvPr id="120" name="Google Shape;120;p2"/>
          <p:cNvSpPr txBox="1"/>
          <p:nvPr/>
        </p:nvSpPr>
        <p:spPr>
          <a:xfrm>
            <a:off x="7339370" y="4976495"/>
            <a:ext cx="5199431" cy="314960"/>
          </a:xfrm>
          <a:prstGeom prst="rect">
            <a:avLst/>
          </a:prstGeom>
          <a:noFill/>
          <a:ln>
            <a:noFill/>
          </a:ln>
        </p:spPr>
        <p:txBody>
          <a:bodyPr anchorCtr="0" anchor="t" bIns="0" lIns="0" spcFirstLastPara="1" rIns="0" wrap="square" tIns="0">
            <a:spAutoFit/>
          </a:bodyPr>
          <a:lstStyle/>
          <a:p>
            <a:pPr indent="0" lvl="0" marL="0" marR="0" rtl="0" algn="l">
              <a:lnSpc>
                <a:spcPct val="131000"/>
              </a:lnSpc>
              <a:spcBef>
                <a:spcPts val="0"/>
              </a:spcBef>
              <a:spcAft>
                <a:spcPts val="0"/>
              </a:spcAft>
              <a:buNone/>
            </a:pPr>
            <a:r>
              <a:rPr b="0" i="0" lang="en-US" sz="2000" u="none" cap="none" strike="noStrike">
                <a:solidFill>
                  <a:srgbClr val="FFFFFF"/>
                </a:solidFill>
                <a:latin typeface="Montserrat"/>
                <a:ea typeface="Montserrat"/>
                <a:cs typeface="Montserrat"/>
                <a:sym typeface="Montserrat"/>
              </a:rPr>
              <a:t>Ejemplos</a:t>
            </a:r>
            <a:endParaRPr/>
          </a:p>
        </p:txBody>
      </p:sp>
      <p:sp>
        <p:nvSpPr>
          <p:cNvPr id="121" name="Google Shape;121;p2"/>
          <p:cNvSpPr txBox="1"/>
          <p:nvPr/>
        </p:nvSpPr>
        <p:spPr>
          <a:xfrm>
            <a:off x="6824213" y="6105244"/>
            <a:ext cx="7929515" cy="444500"/>
          </a:xfrm>
          <a:prstGeom prst="rect">
            <a:avLst/>
          </a:prstGeom>
          <a:noFill/>
          <a:ln>
            <a:noFill/>
          </a:ln>
        </p:spPr>
        <p:txBody>
          <a:bodyPr anchorCtr="0" anchor="t" bIns="0" lIns="0" spcFirstLastPara="1" rIns="0" wrap="square" tIns="0">
            <a:spAutoFit/>
          </a:bodyPr>
          <a:lstStyle/>
          <a:p>
            <a:pPr indent="0" lvl="0" marL="0" marR="0" rtl="0" algn="l">
              <a:lnSpc>
                <a:spcPct val="145018"/>
              </a:lnSpc>
              <a:spcBef>
                <a:spcPts val="0"/>
              </a:spcBef>
              <a:spcAft>
                <a:spcPts val="0"/>
              </a:spcAft>
              <a:buNone/>
            </a:pPr>
            <a:r>
              <a:rPr b="0" i="0" lang="en-US" sz="2499" u="none" cap="none" strike="noStrike">
                <a:solidFill>
                  <a:srgbClr val="FFFFFF"/>
                </a:solidFill>
                <a:latin typeface="Arial"/>
                <a:ea typeface="Arial"/>
                <a:cs typeface="Arial"/>
                <a:sym typeface="Arial"/>
              </a:rPr>
              <a:t>CODIFICADORES Y DECODIFICADORES</a:t>
            </a:r>
            <a:endParaRPr/>
          </a:p>
        </p:txBody>
      </p:sp>
      <p:sp>
        <p:nvSpPr>
          <p:cNvPr id="122" name="Google Shape;122;p2"/>
          <p:cNvSpPr txBox="1"/>
          <p:nvPr/>
        </p:nvSpPr>
        <p:spPr>
          <a:xfrm>
            <a:off x="6824213" y="7702904"/>
            <a:ext cx="7929515" cy="444500"/>
          </a:xfrm>
          <a:prstGeom prst="rect">
            <a:avLst/>
          </a:prstGeom>
          <a:noFill/>
          <a:ln>
            <a:noFill/>
          </a:ln>
        </p:spPr>
        <p:txBody>
          <a:bodyPr anchorCtr="0" anchor="t" bIns="0" lIns="0" spcFirstLastPara="1" rIns="0" wrap="square" tIns="0">
            <a:spAutoFit/>
          </a:bodyPr>
          <a:lstStyle/>
          <a:p>
            <a:pPr indent="0" lvl="0" marL="0" marR="0" rtl="0" algn="l">
              <a:lnSpc>
                <a:spcPct val="145018"/>
              </a:lnSpc>
              <a:spcBef>
                <a:spcPts val="0"/>
              </a:spcBef>
              <a:spcAft>
                <a:spcPts val="0"/>
              </a:spcAft>
              <a:buNone/>
            </a:pPr>
            <a:r>
              <a:rPr b="0" i="0" lang="en-US" sz="2499" u="none" cap="none" strike="noStrike">
                <a:solidFill>
                  <a:srgbClr val="FFFFFF"/>
                </a:solidFill>
                <a:latin typeface="Arial"/>
                <a:ea typeface="Arial"/>
                <a:cs typeface="Arial"/>
                <a:sym typeface="Arial"/>
              </a:rPr>
              <a:t>MULTIPLEXORES Y DEMULTIPLEXORES</a:t>
            </a:r>
            <a:endParaRPr/>
          </a:p>
        </p:txBody>
      </p:sp>
      <p:sp>
        <p:nvSpPr>
          <p:cNvPr id="123" name="Google Shape;123;p2"/>
          <p:cNvSpPr txBox="1"/>
          <p:nvPr/>
        </p:nvSpPr>
        <p:spPr>
          <a:xfrm>
            <a:off x="7348895" y="8233129"/>
            <a:ext cx="5199431" cy="314960"/>
          </a:xfrm>
          <a:prstGeom prst="rect">
            <a:avLst/>
          </a:prstGeom>
          <a:noFill/>
          <a:ln>
            <a:noFill/>
          </a:ln>
        </p:spPr>
        <p:txBody>
          <a:bodyPr anchorCtr="0" anchor="t" bIns="0" lIns="0" spcFirstLastPara="1" rIns="0" wrap="square" tIns="0">
            <a:spAutoFit/>
          </a:bodyPr>
          <a:lstStyle/>
          <a:p>
            <a:pPr indent="0" lvl="0" marL="0" marR="0" rtl="0" algn="l">
              <a:lnSpc>
                <a:spcPct val="131000"/>
              </a:lnSpc>
              <a:spcBef>
                <a:spcPts val="0"/>
              </a:spcBef>
              <a:spcAft>
                <a:spcPts val="0"/>
              </a:spcAft>
              <a:buNone/>
            </a:pPr>
            <a:r>
              <a:rPr b="0" i="0" lang="en-US" sz="2000" u="none" cap="none" strike="noStrike">
                <a:solidFill>
                  <a:srgbClr val="FFFFFF"/>
                </a:solidFill>
                <a:latin typeface="Montserrat"/>
                <a:ea typeface="Montserrat"/>
                <a:cs typeface="Montserrat"/>
                <a:sym typeface="Montserrat"/>
              </a:rPr>
              <a:t>Ejemplos</a:t>
            </a:r>
            <a:endParaRPr/>
          </a:p>
        </p:txBody>
      </p:sp>
      <p:grpSp>
        <p:nvGrpSpPr>
          <p:cNvPr id="124" name="Google Shape;124;p2"/>
          <p:cNvGrpSpPr/>
          <p:nvPr/>
        </p:nvGrpSpPr>
        <p:grpSpPr>
          <a:xfrm>
            <a:off x="6334823" y="2745460"/>
            <a:ext cx="264078" cy="264078"/>
            <a:chOff x="0" y="0"/>
            <a:chExt cx="812800" cy="812800"/>
          </a:xfrm>
        </p:grpSpPr>
        <p:sp>
          <p:nvSpPr>
            <p:cNvPr id="125" name="Google Shape;125;p2"/>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 name="Google Shape;126;p2"/>
            <p:cNvSpPr txBox="1"/>
            <p:nvPr/>
          </p:nvSpPr>
          <p:spPr>
            <a:xfrm>
              <a:off x="76200" y="9525"/>
              <a:ext cx="660400" cy="727075"/>
            </a:xfrm>
            <a:prstGeom prst="rect">
              <a:avLst/>
            </a:prstGeom>
            <a:noFill/>
            <a:ln>
              <a:noFill/>
            </a:ln>
          </p:spPr>
          <p:txBody>
            <a:bodyPr anchorCtr="0" anchor="ctr" bIns="50800" lIns="50800" spcFirstLastPara="1" rIns="50800" wrap="square" tIns="50800">
              <a:noAutofit/>
            </a:bodyPr>
            <a:lstStyle/>
            <a:p>
              <a:pPr indent="0" lvl="0" marL="0" marR="0" rtl="0" algn="ctr">
                <a:lnSpc>
                  <a:spcPct val="201333"/>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27" name="Google Shape;127;p2"/>
          <p:cNvGrpSpPr/>
          <p:nvPr/>
        </p:nvGrpSpPr>
        <p:grpSpPr>
          <a:xfrm>
            <a:off x="6344348" y="4541477"/>
            <a:ext cx="264078" cy="264078"/>
            <a:chOff x="0" y="0"/>
            <a:chExt cx="812800" cy="812800"/>
          </a:xfrm>
        </p:grpSpPr>
        <p:sp>
          <p:nvSpPr>
            <p:cNvPr id="128" name="Google Shape;128;p2"/>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2"/>
            <p:cNvSpPr txBox="1"/>
            <p:nvPr/>
          </p:nvSpPr>
          <p:spPr>
            <a:xfrm>
              <a:off x="76200" y="9525"/>
              <a:ext cx="660400" cy="727075"/>
            </a:xfrm>
            <a:prstGeom prst="rect">
              <a:avLst/>
            </a:prstGeom>
            <a:noFill/>
            <a:ln>
              <a:noFill/>
            </a:ln>
          </p:spPr>
          <p:txBody>
            <a:bodyPr anchorCtr="0" anchor="ctr" bIns="50800" lIns="50800" spcFirstLastPara="1" rIns="50800" wrap="square" tIns="50800">
              <a:noAutofit/>
            </a:bodyPr>
            <a:lstStyle/>
            <a:p>
              <a:pPr indent="0" lvl="0" marL="0" marR="0" rtl="0" algn="ctr">
                <a:lnSpc>
                  <a:spcPct val="201333"/>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30" name="Google Shape;130;p2"/>
          <p:cNvGrpSpPr/>
          <p:nvPr/>
        </p:nvGrpSpPr>
        <p:grpSpPr>
          <a:xfrm>
            <a:off x="6344348" y="6202242"/>
            <a:ext cx="264078" cy="264078"/>
            <a:chOff x="0" y="0"/>
            <a:chExt cx="812800" cy="812800"/>
          </a:xfrm>
        </p:grpSpPr>
        <p:sp>
          <p:nvSpPr>
            <p:cNvPr id="131" name="Google Shape;131;p2"/>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2"/>
            <p:cNvSpPr txBox="1"/>
            <p:nvPr/>
          </p:nvSpPr>
          <p:spPr>
            <a:xfrm>
              <a:off x="76200" y="9525"/>
              <a:ext cx="660400" cy="727075"/>
            </a:xfrm>
            <a:prstGeom prst="rect">
              <a:avLst/>
            </a:prstGeom>
            <a:noFill/>
            <a:ln>
              <a:noFill/>
            </a:ln>
          </p:spPr>
          <p:txBody>
            <a:bodyPr anchorCtr="0" anchor="ctr" bIns="50800" lIns="50800" spcFirstLastPara="1" rIns="50800" wrap="square" tIns="50800">
              <a:noAutofit/>
            </a:bodyPr>
            <a:lstStyle/>
            <a:p>
              <a:pPr indent="0" lvl="0" marL="0" marR="0" rtl="0" algn="ctr">
                <a:lnSpc>
                  <a:spcPct val="201333"/>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33" name="Google Shape;133;p2"/>
          <p:cNvGrpSpPr/>
          <p:nvPr/>
        </p:nvGrpSpPr>
        <p:grpSpPr>
          <a:xfrm>
            <a:off x="6344348" y="7825261"/>
            <a:ext cx="264078" cy="264078"/>
            <a:chOff x="0" y="0"/>
            <a:chExt cx="812800" cy="812800"/>
          </a:xfrm>
        </p:grpSpPr>
        <p:sp>
          <p:nvSpPr>
            <p:cNvPr id="134" name="Google Shape;134;p2"/>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2"/>
            <p:cNvSpPr txBox="1"/>
            <p:nvPr/>
          </p:nvSpPr>
          <p:spPr>
            <a:xfrm>
              <a:off x="76200" y="9525"/>
              <a:ext cx="660400" cy="727075"/>
            </a:xfrm>
            <a:prstGeom prst="rect">
              <a:avLst/>
            </a:prstGeom>
            <a:noFill/>
            <a:ln>
              <a:noFill/>
            </a:ln>
          </p:spPr>
          <p:txBody>
            <a:bodyPr anchorCtr="0" anchor="ctr" bIns="50800" lIns="50800" spcFirstLastPara="1" rIns="50800" wrap="square" tIns="50800">
              <a:noAutofit/>
            </a:bodyPr>
            <a:lstStyle/>
            <a:p>
              <a:pPr indent="0" lvl="0" marL="0" marR="0" rtl="0" algn="ctr">
                <a:lnSpc>
                  <a:spcPct val="201333"/>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36" name="Google Shape;136;p2"/>
          <p:cNvSpPr txBox="1"/>
          <p:nvPr/>
        </p:nvSpPr>
        <p:spPr>
          <a:xfrm>
            <a:off x="7339370" y="8690964"/>
            <a:ext cx="5199431" cy="314960"/>
          </a:xfrm>
          <a:prstGeom prst="rect">
            <a:avLst/>
          </a:prstGeom>
          <a:noFill/>
          <a:ln>
            <a:noFill/>
          </a:ln>
        </p:spPr>
        <p:txBody>
          <a:bodyPr anchorCtr="0" anchor="t" bIns="0" lIns="0" spcFirstLastPara="1" rIns="0" wrap="square" tIns="0">
            <a:spAutoFit/>
          </a:bodyPr>
          <a:lstStyle/>
          <a:p>
            <a:pPr indent="0" lvl="0" marL="0" marR="0" rtl="0" algn="l">
              <a:lnSpc>
                <a:spcPct val="131000"/>
              </a:lnSpc>
              <a:spcBef>
                <a:spcPts val="0"/>
              </a:spcBef>
              <a:spcAft>
                <a:spcPts val="0"/>
              </a:spcAft>
              <a:buNone/>
            </a:pPr>
            <a:r>
              <a:rPr b="0" i="0" lang="en-US" sz="2000" u="none" cap="none" strike="noStrike">
                <a:solidFill>
                  <a:srgbClr val="FFFFFF"/>
                </a:solidFill>
                <a:latin typeface="Montserrat"/>
                <a:ea typeface="Montserrat"/>
                <a:cs typeface="Montserrat"/>
                <a:sym typeface="Montserrat"/>
              </a:rPr>
              <a:t>Video</a:t>
            </a:r>
            <a:endParaRPr/>
          </a:p>
        </p:txBody>
      </p:sp>
      <p:sp>
        <p:nvSpPr>
          <p:cNvPr id="137" name="Google Shape;137;p2"/>
          <p:cNvSpPr txBox="1"/>
          <p:nvPr/>
        </p:nvSpPr>
        <p:spPr>
          <a:xfrm>
            <a:off x="7339370" y="6849210"/>
            <a:ext cx="8628469" cy="377444"/>
          </a:xfrm>
          <a:prstGeom prst="rect">
            <a:avLst/>
          </a:prstGeom>
          <a:noFill/>
          <a:ln>
            <a:noFill/>
          </a:ln>
        </p:spPr>
        <p:txBody>
          <a:bodyPr anchorCtr="0" anchor="t" bIns="0" lIns="0" spcFirstLastPara="1" rIns="0" wrap="square" tIns="0">
            <a:spAutoFit/>
          </a:bodyPr>
          <a:lstStyle/>
          <a:p>
            <a:pPr indent="0" lvl="0" marL="0" marR="0" rtl="0" algn="l">
              <a:lnSpc>
                <a:spcPct val="131013"/>
              </a:lnSpc>
              <a:spcBef>
                <a:spcPts val="0"/>
              </a:spcBef>
              <a:spcAft>
                <a:spcPts val="0"/>
              </a:spcAft>
              <a:buNone/>
            </a:pPr>
            <a:r>
              <a:rPr b="0" i="0" lang="en-US" sz="2299" u="none" cap="none" strike="noStrike">
                <a:solidFill>
                  <a:srgbClr val="FFFFFF"/>
                </a:solidFill>
                <a:latin typeface="Montserrat"/>
                <a:ea typeface="Montserrat"/>
                <a:cs typeface="Montserrat"/>
                <a:sym typeface="Montserrat"/>
              </a:rPr>
              <a:t>Ejemplos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grpSp>
        <p:nvGrpSpPr>
          <p:cNvPr id="146" name="Google Shape;146;p3"/>
          <p:cNvGrpSpPr/>
          <p:nvPr/>
        </p:nvGrpSpPr>
        <p:grpSpPr>
          <a:xfrm>
            <a:off x="0" y="-253157"/>
            <a:ext cx="18288000" cy="2841699"/>
            <a:chOff x="0" y="-66675"/>
            <a:chExt cx="4816593" cy="748431"/>
          </a:xfrm>
        </p:grpSpPr>
        <p:sp>
          <p:nvSpPr>
            <p:cNvPr id="147" name="Google Shape;147;p3"/>
            <p:cNvSpPr/>
            <p:nvPr/>
          </p:nvSpPr>
          <p:spPr>
            <a:xfrm>
              <a:off x="0" y="0"/>
              <a:ext cx="4816592" cy="681756"/>
            </a:xfrm>
            <a:custGeom>
              <a:rect b="b" l="l" r="r" t="t"/>
              <a:pathLst>
                <a:path extrusionOk="0" h="681756" w="4816592">
                  <a:moveTo>
                    <a:pt x="0" y="0"/>
                  </a:moveTo>
                  <a:lnTo>
                    <a:pt x="4816592" y="0"/>
                  </a:lnTo>
                  <a:lnTo>
                    <a:pt x="4816592" y="681756"/>
                  </a:lnTo>
                  <a:lnTo>
                    <a:pt x="0" y="681756"/>
                  </a:lnTo>
                  <a:close/>
                </a:path>
              </a:pathLst>
            </a:custGeom>
            <a:solidFill>
              <a:srgbClr val="132232"/>
            </a:solidFill>
            <a:ln>
              <a:noFill/>
            </a:ln>
          </p:spPr>
        </p:sp>
        <p:sp>
          <p:nvSpPr>
            <p:cNvPr id="148" name="Google Shape;148;p3"/>
            <p:cNvSpPr txBox="1"/>
            <p:nvPr/>
          </p:nvSpPr>
          <p:spPr>
            <a:xfrm>
              <a:off x="0" y="-66675"/>
              <a:ext cx="4816593" cy="748431"/>
            </a:xfrm>
            <a:prstGeom prst="rect">
              <a:avLst/>
            </a:prstGeom>
            <a:noFill/>
            <a:ln>
              <a:noFill/>
            </a:ln>
          </p:spPr>
          <p:txBody>
            <a:bodyPr anchorCtr="0" anchor="ctr" bIns="50800" lIns="50800" spcFirstLastPara="1" rIns="50800" wrap="square" tIns="50800">
              <a:noAutofit/>
            </a:bodyPr>
            <a:lstStyle/>
            <a:p>
              <a:pPr indent="0" lvl="0" marL="0" marR="0" rtl="0" algn="ctr">
                <a:lnSpc>
                  <a:spcPct val="201333"/>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49" name="Google Shape;149;p3"/>
          <p:cNvSpPr txBox="1"/>
          <p:nvPr/>
        </p:nvSpPr>
        <p:spPr>
          <a:xfrm>
            <a:off x="1028700" y="2904907"/>
            <a:ext cx="16028025" cy="5135753"/>
          </a:xfrm>
          <a:prstGeom prst="rect">
            <a:avLst/>
          </a:prstGeom>
          <a:noFill/>
          <a:ln>
            <a:noFill/>
          </a:ln>
        </p:spPr>
        <p:txBody>
          <a:bodyPr anchorCtr="0" anchor="t" bIns="0" lIns="0" spcFirstLastPara="1" rIns="0" wrap="square" tIns="0">
            <a:spAutoFit/>
          </a:bodyPr>
          <a:lstStyle/>
          <a:p>
            <a:pPr indent="0" lvl="0" marL="0" marR="0" rtl="0" algn="l">
              <a:lnSpc>
                <a:spcPct val="131011"/>
              </a:lnSpc>
              <a:spcBef>
                <a:spcPts val="0"/>
              </a:spcBef>
              <a:spcAft>
                <a:spcPts val="0"/>
              </a:spcAft>
              <a:buNone/>
            </a:pPr>
            <a:r>
              <a:rPr b="0" i="0" lang="en-US" sz="2599" u="none" cap="none" strike="noStrike">
                <a:solidFill>
                  <a:srgbClr val="000000"/>
                </a:solidFill>
                <a:latin typeface="Montserrat"/>
                <a:ea typeface="Montserrat"/>
                <a:cs typeface="Montserrat"/>
                <a:sym typeface="Montserrat"/>
              </a:rPr>
              <a:t>La lógica combinacional es un tipo de diseño en circuitos digitales donde las salidas dependen exclusivamente de las entradas actuales, sin considerar el historial previo de valores. Esto significa que el circuito no tiene memoria.</a:t>
            </a:r>
            <a:endParaRPr/>
          </a:p>
          <a:p>
            <a:pPr indent="0" lvl="0" marL="0" marR="0" rtl="0" algn="l">
              <a:lnSpc>
                <a:spcPct val="131011"/>
              </a:lnSpc>
              <a:spcBef>
                <a:spcPts val="0"/>
              </a:spcBef>
              <a:spcAft>
                <a:spcPts val="0"/>
              </a:spcAft>
              <a:buNone/>
            </a:pPr>
            <a:r>
              <a:t/>
            </a:r>
            <a:endParaRPr b="0" i="0" sz="2599" u="none" cap="none" strike="noStrike">
              <a:solidFill>
                <a:srgbClr val="000000"/>
              </a:solidFill>
              <a:latin typeface="Montserrat"/>
              <a:ea typeface="Montserrat"/>
              <a:cs typeface="Montserrat"/>
              <a:sym typeface="Montserrat"/>
            </a:endParaRPr>
          </a:p>
          <a:p>
            <a:pPr indent="0" lvl="0" marL="0" marR="0" rtl="0" algn="l">
              <a:lnSpc>
                <a:spcPct val="131011"/>
              </a:lnSpc>
              <a:spcBef>
                <a:spcPts val="0"/>
              </a:spcBef>
              <a:spcAft>
                <a:spcPts val="0"/>
              </a:spcAft>
              <a:buNone/>
            </a:pPr>
            <a:r>
              <a:rPr b="0" i="0" lang="en-US" sz="2599" u="none" cap="none" strike="noStrike">
                <a:solidFill>
                  <a:srgbClr val="000000"/>
                </a:solidFill>
                <a:latin typeface="Montserrat"/>
                <a:ea typeface="Montserrat"/>
                <a:cs typeface="Montserrat"/>
                <a:sym typeface="Montserrat"/>
              </a:rPr>
              <a:t>Sus caracteristicas son:</a:t>
            </a:r>
            <a:endParaRPr/>
          </a:p>
          <a:p>
            <a:pPr indent="-280669" lvl="1" marL="561337" marR="0" rtl="0" algn="l">
              <a:lnSpc>
                <a:spcPct val="131011"/>
              </a:lnSpc>
              <a:spcBef>
                <a:spcPts val="0"/>
              </a:spcBef>
              <a:spcAft>
                <a:spcPts val="0"/>
              </a:spcAft>
              <a:buClr>
                <a:srgbClr val="000000"/>
              </a:buClr>
              <a:buSzPts val="2599"/>
              <a:buFont typeface="Arial"/>
              <a:buChar char="•"/>
            </a:pPr>
            <a:r>
              <a:rPr b="0" i="0" lang="en-US" sz="2599" u="none" cap="none" strike="noStrike">
                <a:solidFill>
                  <a:srgbClr val="000000"/>
                </a:solidFill>
                <a:latin typeface="Montserrat"/>
                <a:ea typeface="Montserrat"/>
                <a:cs typeface="Montserrat"/>
                <a:sym typeface="Montserrat"/>
              </a:rPr>
              <a:t>Sin Estado: Las salidas no dependen de estados previos, sino únicamente de las entradas actuales.</a:t>
            </a:r>
            <a:endParaRPr/>
          </a:p>
          <a:p>
            <a:pPr indent="-280669" lvl="1" marL="561337" marR="0" rtl="0" algn="l">
              <a:lnSpc>
                <a:spcPct val="131011"/>
              </a:lnSpc>
              <a:spcBef>
                <a:spcPts val="0"/>
              </a:spcBef>
              <a:spcAft>
                <a:spcPts val="0"/>
              </a:spcAft>
              <a:buClr>
                <a:srgbClr val="000000"/>
              </a:buClr>
              <a:buSzPts val="2599"/>
              <a:buFont typeface="Arial"/>
              <a:buChar char="•"/>
            </a:pPr>
            <a:r>
              <a:rPr b="0" i="0" lang="en-US" sz="2599" u="none" cap="none" strike="noStrike">
                <a:solidFill>
                  <a:srgbClr val="000000"/>
                </a:solidFill>
                <a:latin typeface="Montserrat"/>
                <a:ea typeface="Montserrat"/>
                <a:cs typeface="Montserrat"/>
                <a:sym typeface="Montserrat"/>
              </a:rPr>
              <a:t>Uso de Puertas Lógicas: Utiliza puertas lógicas (AND, OR, NOT, etc.) para realizar operaciones lógicas.</a:t>
            </a:r>
            <a:endParaRPr/>
          </a:p>
          <a:p>
            <a:pPr indent="-280669" lvl="1" marL="561337" marR="0" rtl="0" algn="l">
              <a:lnSpc>
                <a:spcPct val="131011"/>
              </a:lnSpc>
              <a:spcBef>
                <a:spcPts val="0"/>
              </a:spcBef>
              <a:spcAft>
                <a:spcPts val="0"/>
              </a:spcAft>
              <a:buClr>
                <a:srgbClr val="000000"/>
              </a:buClr>
              <a:buSzPts val="2599"/>
              <a:buFont typeface="Arial"/>
              <a:buChar char="•"/>
            </a:pPr>
            <a:r>
              <a:rPr b="0" i="0" lang="en-US" sz="2599" u="none" cap="none" strike="noStrike">
                <a:solidFill>
                  <a:srgbClr val="000000"/>
                </a:solidFill>
                <a:latin typeface="Montserrat"/>
                <a:ea typeface="Montserrat"/>
                <a:cs typeface="Montserrat"/>
                <a:sym typeface="Montserrat"/>
              </a:rPr>
              <a:t>Tiempo de Propagación: La respuesta del circuito ocurre casi de inmediato tras la entrada de datos, aunque con un breve retardo debido a la propagación de señales.</a:t>
            </a:r>
            <a:endParaRPr/>
          </a:p>
          <a:p>
            <a:pPr indent="0" lvl="0" marL="0" marR="0" rtl="0" algn="l">
              <a:lnSpc>
                <a:spcPct val="131011"/>
              </a:lnSpc>
              <a:spcBef>
                <a:spcPts val="0"/>
              </a:spcBef>
              <a:spcAft>
                <a:spcPts val="0"/>
              </a:spcAft>
              <a:buNone/>
            </a:pPr>
            <a:r>
              <a:t/>
            </a:r>
            <a:endParaRPr b="0" i="0" sz="2599" u="none" cap="none" strike="noStrike">
              <a:solidFill>
                <a:srgbClr val="000000"/>
              </a:solidFill>
              <a:latin typeface="Montserrat"/>
              <a:ea typeface="Montserrat"/>
              <a:cs typeface="Montserrat"/>
              <a:sym typeface="Montserrat"/>
            </a:endParaRPr>
          </a:p>
        </p:txBody>
      </p:sp>
      <p:sp>
        <p:nvSpPr>
          <p:cNvPr id="150" name="Google Shape;150;p3"/>
          <p:cNvSpPr txBox="1"/>
          <p:nvPr/>
        </p:nvSpPr>
        <p:spPr>
          <a:xfrm>
            <a:off x="1028700" y="1066763"/>
            <a:ext cx="16028025" cy="117475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0" i="0" lang="en-US" sz="8000" u="none" cap="none" strike="noStrike">
                <a:solidFill>
                  <a:srgbClr val="FFFFFF"/>
                </a:solidFill>
                <a:latin typeface="Oswald"/>
                <a:ea typeface="Oswald"/>
                <a:cs typeface="Oswald"/>
                <a:sym typeface="Oswald"/>
              </a:rPr>
              <a:t>¿QUE ES LA LOGICA COMBINACIONAL?</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grpSp>
        <p:nvGrpSpPr>
          <p:cNvPr id="159" name="Google Shape;159;p4"/>
          <p:cNvGrpSpPr/>
          <p:nvPr/>
        </p:nvGrpSpPr>
        <p:grpSpPr>
          <a:xfrm>
            <a:off x="0" y="-253157"/>
            <a:ext cx="18288000" cy="2841699"/>
            <a:chOff x="0" y="-66675"/>
            <a:chExt cx="4816593" cy="748431"/>
          </a:xfrm>
        </p:grpSpPr>
        <p:sp>
          <p:nvSpPr>
            <p:cNvPr id="160" name="Google Shape;160;p4"/>
            <p:cNvSpPr/>
            <p:nvPr/>
          </p:nvSpPr>
          <p:spPr>
            <a:xfrm>
              <a:off x="0" y="0"/>
              <a:ext cx="4816592" cy="681756"/>
            </a:xfrm>
            <a:custGeom>
              <a:rect b="b" l="l" r="r" t="t"/>
              <a:pathLst>
                <a:path extrusionOk="0" h="681756" w="4816592">
                  <a:moveTo>
                    <a:pt x="0" y="0"/>
                  </a:moveTo>
                  <a:lnTo>
                    <a:pt x="4816592" y="0"/>
                  </a:lnTo>
                  <a:lnTo>
                    <a:pt x="4816592" y="681756"/>
                  </a:lnTo>
                  <a:lnTo>
                    <a:pt x="0" y="681756"/>
                  </a:lnTo>
                  <a:close/>
                </a:path>
              </a:pathLst>
            </a:custGeom>
            <a:solidFill>
              <a:srgbClr val="132232"/>
            </a:solidFill>
            <a:ln>
              <a:noFill/>
            </a:ln>
          </p:spPr>
        </p:sp>
        <p:sp>
          <p:nvSpPr>
            <p:cNvPr id="161" name="Google Shape;161;p4"/>
            <p:cNvSpPr txBox="1"/>
            <p:nvPr/>
          </p:nvSpPr>
          <p:spPr>
            <a:xfrm>
              <a:off x="0" y="-66675"/>
              <a:ext cx="4816593" cy="748431"/>
            </a:xfrm>
            <a:prstGeom prst="rect">
              <a:avLst/>
            </a:prstGeom>
            <a:noFill/>
            <a:ln>
              <a:noFill/>
            </a:ln>
          </p:spPr>
          <p:txBody>
            <a:bodyPr anchorCtr="0" anchor="ctr" bIns="50800" lIns="50800" spcFirstLastPara="1" rIns="50800" wrap="square" tIns="50800">
              <a:noAutofit/>
            </a:bodyPr>
            <a:lstStyle/>
            <a:p>
              <a:pPr indent="0" lvl="0" marL="0" marR="0" rtl="0" algn="ctr">
                <a:lnSpc>
                  <a:spcPct val="201333"/>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62" name="Google Shape;162;p4"/>
          <p:cNvSpPr txBox="1"/>
          <p:nvPr/>
        </p:nvSpPr>
        <p:spPr>
          <a:xfrm>
            <a:off x="1028700" y="2904907"/>
            <a:ext cx="16028025" cy="5993003"/>
          </a:xfrm>
          <a:prstGeom prst="rect">
            <a:avLst/>
          </a:prstGeom>
          <a:noFill/>
          <a:ln>
            <a:noFill/>
          </a:ln>
        </p:spPr>
        <p:txBody>
          <a:bodyPr anchorCtr="0" anchor="t" bIns="0" lIns="0" spcFirstLastPara="1" rIns="0" wrap="square" tIns="0">
            <a:spAutoFit/>
          </a:bodyPr>
          <a:lstStyle/>
          <a:p>
            <a:pPr indent="0" lvl="0" marL="0" marR="0" rtl="0" algn="l">
              <a:lnSpc>
                <a:spcPct val="131011"/>
              </a:lnSpc>
              <a:spcBef>
                <a:spcPts val="0"/>
              </a:spcBef>
              <a:spcAft>
                <a:spcPts val="0"/>
              </a:spcAft>
              <a:buNone/>
            </a:pPr>
            <a:r>
              <a:rPr b="0" i="0" lang="en-US" sz="2599" u="none" cap="none" strike="noStrike">
                <a:solidFill>
                  <a:srgbClr val="000000"/>
                </a:solidFill>
                <a:latin typeface="Montserrat"/>
                <a:ea typeface="Montserrat"/>
                <a:cs typeface="Montserrat"/>
                <a:sym typeface="Montserrat"/>
              </a:rPr>
              <a:t>Principios de Funcionamiento:</a:t>
            </a:r>
            <a:endParaRPr/>
          </a:p>
          <a:p>
            <a:pPr indent="0" lvl="0" marL="0" marR="0" rtl="0" algn="l">
              <a:lnSpc>
                <a:spcPct val="131011"/>
              </a:lnSpc>
              <a:spcBef>
                <a:spcPts val="0"/>
              </a:spcBef>
              <a:spcAft>
                <a:spcPts val="0"/>
              </a:spcAft>
              <a:buNone/>
            </a:pPr>
            <a:r>
              <a:t/>
            </a:r>
            <a:endParaRPr b="0" i="0" sz="2599" u="none" cap="none" strike="noStrike">
              <a:solidFill>
                <a:srgbClr val="000000"/>
              </a:solidFill>
              <a:latin typeface="Montserrat"/>
              <a:ea typeface="Montserrat"/>
              <a:cs typeface="Montserrat"/>
              <a:sym typeface="Montserrat"/>
            </a:endParaRPr>
          </a:p>
          <a:p>
            <a:pPr indent="-280669" lvl="1" marL="561337" marR="0" rtl="0" algn="l">
              <a:lnSpc>
                <a:spcPct val="131011"/>
              </a:lnSpc>
              <a:spcBef>
                <a:spcPts val="0"/>
              </a:spcBef>
              <a:spcAft>
                <a:spcPts val="0"/>
              </a:spcAft>
              <a:buClr>
                <a:srgbClr val="000000"/>
              </a:buClr>
              <a:buSzPts val="2599"/>
              <a:buFont typeface="Arial"/>
              <a:buChar char="•"/>
            </a:pPr>
            <a:r>
              <a:rPr b="0" i="0" lang="en-US" sz="2599" u="none" cap="none" strike="noStrike">
                <a:solidFill>
                  <a:srgbClr val="000000"/>
                </a:solidFill>
                <a:latin typeface="Montserrat"/>
                <a:ea typeface="Montserrat"/>
                <a:cs typeface="Montserrat"/>
                <a:sym typeface="Montserrat"/>
              </a:rPr>
              <a:t>Los circuitos combinacionales siguen un diseño matemático basado en álgebra booleana, lo que permite simplificar expresiones lógicas.</a:t>
            </a:r>
            <a:endParaRPr/>
          </a:p>
          <a:p>
            <a:pPr indent="-280669" lvl="1" marL="561337" marR="0" rtl="0" algn="l">
              <a:lnSpc>
                <a:spcPct val="131011"/>
              </a:lnSpc>
              <a:spcBef>
                <a:spcPts val="0"/>
              </a:spcBef>
              <a:spcAft>
                <a:spcPts val="0"/>
              </a:spcAft>
              <a:buClr>
                <a:srgbClr val="000000"/>
              </a:buClr>
              <a:buSzPts val="2599"/>
              <a:buFont typeface="Arial"/>
              <a:buChar char="•"/>
            </a:pPr>
            <a:r>
              <a:rPr b="0" i="0" lang="en-US" sz="2599" u="none" cap="none" strike="noStrike">
                <a:solidFill>
                  <a:srgbClr val="000000"/>
                </a:solidFill>
                <a:latin typeface="Montserrat"/>
                <a:ea typeface="Montserrat"/>
                <a:cs typeface="Montserrat"/>
                <a:sym typeface="Montserrat"/>
              </a:rPr>
              <a:t>La salida se calcula en función de una tabla de verdad que relaciona todas las posibles combinaciones de las entradas con sus salidas correspondientes.</a:t>
            </a:r>
            <a:endParaRPr/>
          </a:p>
          <a:p>
            <a:pPr indent="0" lvl="0" marL="0" marR="0" rtl="0" algn="l">
              <a:lnSpc>
                <a:spcPct val="131011"/>
              </a:lnSpc>
              <a:spcBef>
                <a:spcPts val="0"/>
              </a:spcBef>
              <a:spcAft>
                <a:spcPts val="0"/>
              </a:spcAft>
              <a:buNone/>
            </a:pPr>
            <a:r>
              <a:t/>
            </a:r>
            <a:endParaRPr b="0" i="0" sz="2599" u="none" cap="none" strike="noStrike">
              <a:solidFill>
                <a:srgbClr val="000000"/>
              </a:solidFill>
              <a:latin typeface="Montserrat"/>
              <a:ea typeface="Montserrat"/>
              <a:cs typeface="Montserrat"/>
              <a:sym typeface="Montserrat"/>
            </a:endParaRPr>
          </a:p>
          <a:p>
            <a:pPr indent="0" lvl="0" marL="0" marR="0" rtl="0" algn="l">
              <a:lnSpc>
                <a:spcPct val="131011"/>
              </a:lnSpc>
              <a:spcBef>
                <a:spcPts val="0"/>
              </a:spcBef>
              <a:spcAft>
                <a:spcPts val="0"/>
              </a:spcAft>
              <a:buNone/>
            </a:pPr>
            <a:r>
              <a:rPr b="0" i="0" lang="en-US" sz="2599" u="none" cap="none" strike="noStrike">
                <a:solidFill>
                  <a:srgbClr val="000000"/>
                </a:solidFill>
                <a:latin typeface="Montserrat"/>
                <a:ea typeface="Montserrat"/>
                <a:cs typeface="Montserrat"/>
                <a:sym typeface="Montserrat"/>
              </a:rPr>
              <a:t>Aplicaciones en la Vida Real:</a:t>
            </a:r>
            <a:endParaRPr/>
          </a:p>
          <a:p>
            <a:pPr indent="0" lvl="0" marL="0" marR="0" rtl="0" algn="l">
              <a:lnSpc>
                <a:spcPct val="131011"/>
              </a:lnSpc>
              <a:spcBef>
                <a:spcPts val="0"/>
              </a:spcBef>
              <a:spcAft>
                <a:spcPts val="0"/>
              </a:spcAft>
              <a:buNone/>
            </a:pPr>
            <a:r>
              <a:t/>
            </a:r>
            <a:endParaRPr b="0" i="0" sz="2599" u="none" cap="none" strike="noStrike">
              <a:solidFill>
                <a:srgbClr val="000000"/>
              </a:solidFill>
              <a:latin typeface="Montserrat"/>
              <a:ea typeface="Montserrat"/>
              <a:cs typeface="Montserrat"/>
              <a:sym typeface="Montserrat"/>
            </a:endParaRPr>
          </a:p>
          <a:p>
            <a:pPr indent="-280669" lvl="1" marL="561337" marR="0" rtl="0" algn="l">
              <a:lnSpc>
                <a:spcPct val="131011"/>
              </a:lnSpc>
              <a:spcBef>
                <a:spcPts val="0"/>
              </a:spcBef>
              <a:spcAft>
                <a:spcPts val="0"/>
              </a:spcAft>
              <a:buClr>
                <a:srgbClr val="000000"/>
              </a:buClr>
              <a:buSzPts val="2599"/>
              <a:buFont typeface="Arial"/>
              <a:buChar char="•"/>
            </a:pPr>
            <a:r>
              <a:rPr b="0" i="0" lang="en-US" sz="2599" u="none" cap="none" strike="noStrike">
                <a:solidFill>
                  <a:srgbClr val="000000"/>
                </a:solidFill>
                <a:latin typeface="Montserrat"/>
                <a:ea typeface="Montserrat"/>
                <a:cs typeface="Montserrat"/>
                <a:sym typeface="Montserrat"/>
              </a:rPr>
              <a:t>Sumadores en Computadoras: Los circuitos sumadores realizan operaciones aritméticas fundamentales en procesadores.</a:t>
            </a:r>
            <a:endParaRPr/>
          </a:p>
          <a:p>
            <a:pPr indent="-280669" lvl="1" marL="561337" marR="0" rtl="0" algn="l">
              <a:lnSpc>
                <a:spcPct val="131011"/>
              </a:lnSpc>
              <a:spcBef>
                <a:spcPts val="0"/>
              </a:spcBef>
              <a:spcAft>
                <a:spcPts val="0"/>
              </a:spcAft>
              <a:buClr>
                <a:srgbClr val="000000"/>
              </a:buClr>
              <a:buSzPts val="2599"/>
              <a:buFont typeface="Arial"/>
              <a:buChar char="•"/>
            </a:pPr>
            <a:r>
              <a:rPr b="0" i="0" lang="en-US" sz="2599" u="none" cap="none" strike="noStrike">
                <a:solidFill>
                  <a:srgbClr val="000000"/>
                </a:solidFill>
                <a:latin typeface="Montserrat"/>
                <a:ea typeface="Montserrat"/>
                <a:cs typeface="Montserrat"/>
                <a:sym typeface="Montserrat"/>
              </a:rPr>
              <a:t>Codificadores/Decodificadores: Transforman datos entre diferentes formatos en sistemas de comunicación y computación.</a:t>
            </a:r>
            <a:endParaRPr/>
          </a:p>
          <a:p>
            <a:pPr indent="0" lvl="0" marL="0" marR="0" rtl="0" algn="l">
              <a:lnSpc>
                <a:spcPct val="131011"/>
              </a:lnSpc>
              <a:spcBef>
                <a:spcPts val="0"/>
              </a:spcBef>
              <a:spcAft>
                <a:spcPts val="0"/>
              </a:spcAft>
              <a:buNone/>
            </a:pPr>
            <a:r>
              <a:t/>
            </a:r>
            <a:endParaRPr b="0" i="0" sz="2599" u="none" cap="none" strike="noStrike">
              <a:solidFill>
                <a:srgbClr val="000000"/>
              </a:solidFill>
              <a:latin typeface="Montserrat"/>
              <a:ea typeface="Montserrat"/>
              <a:cs typeface="Montserrat"/>
              <a:sym typeface="Montserrat"/>
            </a:endParaRPr>
          </a:p>
        </p:txBody>
      </p:sp>
      <p:sp>
        <p:nvSpPr>
          <p:cNvPr id="163" name="Google Shape;163;p4"/>
          <p:cNvSpPr txBox="1"/>
          <p:nvPr/>
        </p:nvSpPr>
        <p:spPr>
          <a:xfrm>
            <a:off x="1028700" y="1066763"/>
            <a:ext cx="16028025" cy="117475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0" i="0" lang="en-US" sz="8000" u="none" cap="none" strike="noStrike">
                <a:solidFill>
                  <a:srgbClr val="FFFFFF"/>
                </a:solidFill>
                <a:latin typeface="Oswald"/>
                <a:ea typeface="Oswald"/>
                <a:cs typeface="Oswald"/>
                <a:sym typeface="Oswald"/>
              </a:rPr>
              <a:t>LÓGICA COMBINACIONAL</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grpSp>
        <p:nvGrpSpPr>
          <p:cNvPr id="177" name="Google Shape;177;p5"/>
          <p:cNvGrpSpPr/>
          <p:nvPr/>
        </p:nvGrpSpPr>
        <p:grpSpPr>
          <a:xfrm>
            <a:off x="0" y="-253157"/>
            <a:ext cx="18288000" cy="2841699"/>
            <a:chOff x="0" y="-66675"/>
            <a:chExt cx="4816593" cy="748431"/>
          </a:xfrm>
        </p:grpSpPr>
        <p:sp>
          <p:nvSpPr>
            <p:cNvPr id="178" name="Google Shape;178;p5"/>
            <p:cNvSpPr/>
            <p:nvPr/>
          </p:nvSpPr>
          <p:spPr>
            <a:xfrm>
              <a:off x="0" y="0"/>
              <a:ext cx="4816592" cy="681756"/>
            </a:xfrm>
            <a:custGeom>
              <a:rect b="b" l="l" r="r" t="t"/>
              <a:pathLst>
                <a:path extrusionOk="0" h="681756" w="4816592">
                  <a:moveTo>
                    <a:pt x="0" y="0"/>
                  </a:moveTo>
                  <a:lnTo>
                    <a:pt x="4816592" y="0"/>
                  </a:lnTo>
                  <a:lnTo>
                    <a:pt x="4816592" y="681756"/>
                  </a:lnTo>
                  <a:lnTo>
                    <a:pt x="0" y="681756"/>
                  </a:lnTo>
                  <a:close/>
                </a:path>
              </a:pathLst>
            </a:custGeom>
            <a:solidFill>
              <a:srgbClr val="132232"/>
            </a:solidFill>
            <a:ln>
              <a:noFill/>
            </a:ln>
          </p:spPr>
        </p:sp>
        <p:sp>
          <p:nvSpPr>
            <p:cNvPr id="179" name="Google Shape;179;p5"/>
            <p:cNvSpPr txBox="1"/>
            <p:nvPr/>
          </p:nvSpPr>
          <p:spPr>
            <a:xfrm>
              <a:off x="0" y="-66675"/>
              <a:ext cx="4816593" cy="748431"/>
            </a:xfrm>
            <a:prstGeom prst="rect">
              <a:avLst/>
            </a:prstGeom>
            <a:noFill/>
            <a:ln>
              <a:noFill/>
            </a:ln>
          </p:spPr>
          <p:txBody>
            <a:bodyPr anchorCtr="0" anchor="ctr" bIns="50800" lIns="50800" spcFirstLastPara="1" rIns="50800" wrap="square" tIns="50800">
              <a:noAutofit/>
            </a:bodyPr>
            <a:lstStyle/>
            <a:p>
              <a:pPr indent="0" lvl="0" marL="0" marR="0" rtl="0" algn="ctr">
                <a:lnSpc>
                  <a:spcPct val="201333"/>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80" name="Google Shape;180;p5"/>
          <p:cNvSpPr txBox="1"/>
          <p:nvPr/>
        </p:nvSpPr>
        <p:spPr>
          <a:xfrm>
            <a:off x="1028700" y="2904907"/>
            <a:ext cx="16028025" cy="6850253"/>
          </a:xfrm>
          <a:prstGeom prst="rect">
            <a:avLst/>
          </a:prstGeom>
          <a:noFill/>
          <a:ln>
            <a:noFill/>
          </a:ln>
        </p:spPr>
        <p:txBody>
          <a:bodyPr anchorCtr="0" anchor="t" bIns="0" lIns="0" spcFirstLastPara="1" rIns="0" wrap="square" tIns="0">
            <a:spAutoFit/>
          </a:bodyPr>
          <a:lstStyle/>
          <a:p>
            <a:pPr indent="0" lvl="0" marL="0" marR="0" rtl="0" algn="l">
              <a:lnSpc>
                <a:spcPct val="131011"/>
              </a:lnSpc>
              <a:spcBef>
                <a:spcPts val="0"/>
              </a:spcBef>
              <a:spcAft>
                <a:spcPts val="0"/>
              </a:spcAft>
              <a:buNone/>
            </a:pPr>
            <a:r>
              <a:rPr b="0" i="0" lang="en-US" sz="2599" u="none" cap="none" strike="noStrike">
                <a:solidFill>
                  <a:srgbClr val="000000"/>
                </a:solidFill>
                <a:latin typeface="Montserrat"/>
                <a:ea typeface="Montserrat"/>
                <a:cs typeface="Montserrat"/>
                <a:sym typeface="Montserrat"/>
              </a:rPr>
              <a:t>Convertir 1101(gray)</a:t>
            </a:r>
            <a:endParaRPr/>
          </a:p>
          <a:p>
            <a:pPr indent="0" lvl="0" marL="0" marR="0" rtl="0" algn="l">
              <a:lnSpc>
                <a:spcPct val="131011"/>
              </a:lnSpc>
              <a:spcBef>
                <a:spcPts val="0"/>
              </a:spcBef>
              <a:spcAft>
                <a:spcPts val="0"/>
              </a:spcAft>
              <a:buNone/>
            </a:pPr>
            <a:r>
              <a:t/>
            </a:r>
            <a:endParaRPr b="0" i="0" sz="2599" u="none" cap="none" strike="noStrike">
              <a:solidFill>
                <a:srgbClr val="000000"/>
              </a:solidFill>
              <a:latin typeface="Montserrat"/>
              <a:ea typeface="Montserrat"/>
              <a:cs typeface="Montserrat"/>
              <a:sym typeface="Montserrat"/>
            </a:endParaRPr>
          </a:p>
          <a:p>
            <a:pPr indent="0" lvl="0" marL="0" marR="0" rtl="0" algn="l">
              <a:lnSpc>
                <a:spcPct val="131011"/>
              </a:lnSpc>
              <a:spcBef>
                <a:spcPts val="0"/>
              </a:spcBef>
              <a:spcAft>
                <a:spcPts val="0"/>
              </a:spcAft>
              <a:buNone/>
            </a:pPr>
            <a:r>
              <a:rPr b="0" i="0" lang="en-US" sz="2599" u="none" cap="none" strike="noStrike">
                <a:solidFill>
                  <a:srgbClr val="000000"/>
                </a:solidFill>
                <a:latin typeface="Montserrat"/>
                <a:ea typeface="Montserrat"/>
                <a:cs typeface="Montserrat"/>
                <a:sym typeface="Montserrat"/>
              </a:rPr>
              <a:t>Se agarra el número más ponderado y se copia como el más ponderado de la conversión:</a:t>
            </a:r>
            <a:endParaRPr/>
          </a:p>
          <a:p>
            <a:pPr indent="0" lvl="0" marL="0" marR="0" rtl="0" algn="l">
              <a:lnSpc>
                <a:spcPct val="131011"/>
              </a:lnSpc>
              <a:spcBef>
                <a:spcPts val="0"/>
              </a:spcBef>
              <a:spcAft>
                <a:spcPts val="0"/>
              </a:spcAft>
              <a:buNone/>
            </a:pPr>
            <a:r>
              <a:t/>
            </a:r>
            <a:endParaRPr b="0" i="0" sz="2599" u="none" cap="none" strike="noStrike">
              <a:solidFill>
                <a:srgbClr val="000000"/>
              </a:solidFill>
              <a:latin typeface="Montserrat"/>
              <a:ea typeface="Montserrat"/>
              <a:cs typeface="Montserrat"/>
              <a:sym typeface="Montserrat"/>
            </a:endParaRPr>
          </a:p>
          <a:p>
            <a:pPr indent="0" lvl="0" marL="0" marR="0" rtl="0" algn="l">
              <a:lnSpc>
                <a:spcPct val="131011"/>
              </a:lnSpc>
              <a:spcBef>
                <a:spcPts val="0"/>
              </a:spcBef>
              <a:spcAft>
                <a:spcPts val="0"/>
              </a:spcAft>
              <a:buNone/>
            </a:pPr>
            <a:r>
              <a:rPr b="0" i="0" lang="en-US" sz="2599" u="none" cap="none" strike="noStrike">
                <a:solidFill>
                  <a:srgbClr val="000000"/>
                </a:solidFill>
                <a:latin typeface="Montserrat"/>
                <a:ea typeface="Montserrat"/>
                <a:cs typeface="Montserrat"/>
                <a:sym typeface="Montserrat"/>
              </a:rPr>
              <a:t>(1)101 -&gt; [1]____</a:t>
            </a:r>
            <a:endParaRPr/>
          </a:p>
          <a:p>
            <a:pPr indent="0" lvl="0" marL="0" marR="0" rtl="0" algn="l">
              <a:lnSpc>
                <a:spcPct val="131011"/>
              </a:lnSpc>
              <a:spcBef>
                <a:spcPts val="0"/>
              </a:spcBef>
              <a:spcAft>
                <a:spcPts val="0"/>
              </a:spcAft>
              <a:buNone/>
            </a:pPr>
            <a:r>
              <a:t/>
            </a:r>
            <a:endParaRPr b="0" i="0" sz="2599" u="none" cap="none" strike="noStrike">
              <a:solidFill>
                <a:srgbClr val="000000"/>
              </a:solidFill>
              <a:latin typeface="Montserrat"/>
              <a:ea typeface="Montserrat"/>
              <a:cs typeface="Montserrat"/>
              <a:sym typeface="Montserrat"/>
            </a:endParaRPr>
          </a:p>
          <a:p>
            <a:pPr indent="0" lvl="0" marL="0" marR="0" rtl="0" algn="l">
              <a:lnSpc>
                <a:spcPct val="131011"/>
              </a:lnSpc>
              <a:spcBef>
                <a:spcPts val="0"/>
              </a:spcBef>
              <a:spcAft>
                <a:spcPts val="0"/>
              </a:spcAft>
              <a:buNone/>
            </a:pPr>
            <a:r>
              <a:rPr b="0" i="0" lang="en-US" sz="2599" u="none" cap="none" strike="noStrike">
                <a:solidFill>
                  <a:srgbClr val="000000"/>
                </a:solidFill>
                <a:latin typeface="Montserrat"/>
                <a:ea typeface="Montserrat"/>
                <a:cs typeface="Montserrat"/>
                <a:sym typeface="Montserrat"/>
              </a:rPr>
              <a:t>Luego hacer la xor del número que le sigue con el número menos ponderado del nuevo número.</a:t>
            </a:r>
            <a:endParaRPr/>
          </a:p>
          <a:p>
            <a:pPr indent="0" lvl="0" marL="0" marR="0" rtl="0" algn="l">
              <a:lnSpc>
                <a:spcPct val="131011"/>
              </a:lnSpc>
              <a:spcBef>
                <a:spcPts val="0"/>
              </a:spcBef>
              <a:spcAft>
                <a:spcPts val="0"/>
              </a:spcAft>
              <a:buNone/>
            </a:pPr>
            <a:r>
              <a:t/>
            </a:r>
            <a:endParaRPr b="0" i="0" sz="2599" u="none" cap="none" strike="noStrike">
              <a:solidFill>
                <a:srgbClr val="000000"/>
              </a:solidFill>
              <a:latin typeface="Montserrat"/>
              <a:ea typeface="Montserrat"/>
              <a:cs typeface="Montserrat"/>
              <a:sym typeface="Montserrat"/>
            </a:endParaRPr>
          </a:p>
          <a:p>
            <a:pPr indent="0" lvl="0" marL="0" marR="0" rtl="0" algn="l">
              <a:lnSpc>
                <a:spcPct val="131011"/>
              </a:lnSpc>
              <a:spcBef>
                <a:spcPts val="0"/>
              </a:spcBef>
              <a:spcAft>
                <a:spcPts val="0"/>
              </a:spcAft>
              <a:buNone/>
            </a:pPr>
            <a:r>
              <a:rPr b="0" i="0" lang="en-US" sz="2599" u="none" cap="none" strike="noStrike">
                <a:solidFill>
                  <a:srgbClr val="000000"/>
                </a:solidFill>
                <a:latin typeface="Montserrat"/>
                <a:ea typeface="Montserrat"/>
                <a:cs typeface="Montserrat"/>
                <a:sym typeface="Montserrat"/>
              </a:rPr>
              <a:t>1(1)01 -&gt; (1)[0]</a:t>
            </a:r>
            <a:endParaRPr/>
          </a:p>
          <a:p>
            <a:pPr indent="0" lvl="0" marL="0" marR="0" rtl="0" algn="l">
              <a:lnSpc>
                <a:spcPct val="131011"/>
              </a:lnSpc>
              <a:spcBef>
                <a:spcPts val="0"/>
              </a:spcBef>
              <a:spcAft>
                <a:spcPts val="0"/>
              </a:spcAft>
              <a:buNone/>
            </a:pPr>
            <a:r>
              <a:t/>
            </a:r>
            <a:endParaRPr b="0" i="0" sz="2599" u="none" cap="none" strike="noStrike">
              <a:solidFill>
                <a:srgbClr val="000000"/>
              </a:solidFill>
              <a:latin typeface="Montserrat"/>
              <a:ea typeface="Montserrat"/>
              <a:cs typeface="Montserrat"/>
              <a:sym typeface="Montserrat"/>
            </a:endParaRPr>
          </a:p>
          <a:p>
            <a:pPr indent="0" lvl="0" marL="0" marR="0" rtl="0" algn="l">
              <a:lnSpc>
                <a:spcPct val="131011"/>
              </a:lnSpc>
              <a:spcBef>
                <a:spcPts val="0"/>
              </a:spcBef>
              <a:spcAft>
                <a:spcPts val="0"/>
              </a:spcAft>
              <a:buNone/>
            </a:pPr>
            <a:r>
              <a:rPr b="0" i="0" lang="en-US" sz="2599" u="none" cap="none" strike="noStrike">
                <a:solidFill>
                  <a:srgbClr val="000000"/>
                </a:solidFill>
                <a:latin typeface="Montserrat"/>
                <a:ea typeface="Montserrat"/>
                <a:cs typeface="Montserrat"/>
                <a:sym typeface="Montserrat"/>
              </a:rPr>
              <a:t>11(0)1-&gt; 1(0)[0]</a:t>
            </a:r>
            <a:endParaRPr/>
          </a:p>
          <a:p>
            <a:pPr indent="0" lvl="0" marL="0" marR="0" rtl="0" algn="l">
              <a:lnSpc>
                <a:spcPct val="131011"/>
              </a:lnSpc>
              <a:spcBef>
                <a:spcPts val="0"/>
              </a:spcBef>
              <a:spcAft>
                <a:spcPts val="0"/>
              </a:spcAft>
              <a:buNone/>
            </a:pPr>
            <a:r>
              <a:t/>
            </a:r>
            <a:endParaRPr b="0" i="0" sz="2599" u="none" cap="none" strike="noStrike">
              <a:solidFill>
                <a:srgbClr val="000000"/>
              </a:solidFill>
              <a:latin typeface="Montserrat"/>
              <a:ea typeface="Montserrat"/>
              <a:cs typeface="Montserrat"/>
              <a:sym typeface="Montserrat"/>
            </a:endParaRPr>
          </a:p>
          <a:p>
            <a:pPr indent="0" lvl="0" marL="0" marR="0" rtl="0" algn="l">
              <a:lnSpc>
                <a:spcPct val="131011"/>
              </a:lnSpc>
              <a:spcBef>
                <a:spcPts val="0"/>
              </a:spcBef>
              <a:spcAft>
                <a:spcPts val="0"/>
              </a:spcAft>
              <a:buNone/>
            </a:pPr>
            <a:r>
              <a:rPr b="0" i="0" lang="en-US" sz="2599" u="none" cap="none" strike="noStrike">
                <a:solidFill>
                  <a:srgbClr val="000000"/>
                </a:solidFill>
                <a:latin typeface="Montserrat"/>
                <a:ea typeface="Montserrat"/>
                <a:cs typeface="Montserrat"/>
                <a:sym typeface="Montserrat"/>
              </a:rPr>
              <a:t>110(1) -&gt; 10(0)[1]</a:t>
            </a:r>
            <a:endParaRPr/>
          </a:p>
          <a:p>
            <a:pPr indent="0" lvl="0" marL="0" marR="0" rtl="0" algn="l">
              <a:lnSpc>
                <a:spcPct val="131011"/>
              </a:lnSpc>
              <a:spcBef>
                <a:spcPts val="0"/>
              </a:spcBef>
              <a:spcAft>
                <a:spcPts val="0"/>
              </a:spcAft>
              <a:buNone/>
            </a:pPr>
            <a:r>
              <a:t/>
            </a:r>
            <a:endParaRPr b="0" i="0" sz="2599" u="none" cap="none" strike="noStrike">
              <a:solidFill>
                <a:srgbClr val="000000"/>
              </a:solidFill>
              <a:latin typeface="Montserrat"/>
              <a:ea typeface="Montserrat"/>
              <a:cs typeface="Montserrat"/>
              <a:sym typeface="Montserrat"/>
            </a:endParaRPr>
          </a:p>
          <a:p>
            <a:pPr indent="0" lvl="0" marL="0" marR="0" rtl="0" algn="l">
              <a:lnSpc>
                <a:spcPct val="131011"/>
              </a:lnSpc>
              <a:spcBef>
                <a:spcPts val="0"/>
              </a:spcBef>
              <a:spcAft>
                <a:spcPts val="0"/>
              </a:spcAft>
              <a:buNone/>
            </a:pPr>
            <a:r>
              <a:rPr b="0" i="0" lang="en-US" sz="2599" u="none" cap="none" strike="noStrike">
                <a:solidFill>
                  <a:srgbClr val="000000"/>
                </a:solidFill>
                <a:latin typeface="Montserrat"/>
                <a:ea typeface="Montserrat"/>
                <a:cs typeface="Montserrat"/>
                <a:sym typeface="Montserrat"/>
              </a:rPr>
              <a:t>Resultado: 1001</a:t>
            </a:r>
            <a:endParaRPr/>
          </a:p>
        </p:txBody>
      </p:sp>
      <p:sp>
        <p:nvSpPr>
          <p:cNvPr id="181" name="Google Shape;181;p5"/>
          <p:cNvSpPr txBox="1"/>
          <p:nvPr/>
        </p:nvSpPr>
        <p:spPr>
          <a:xfrm>
            <a:off x="1028700" y="1066763"/>
            <a:ext cx="13103867" cy="117475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0" i="0" lang="en-US" sz="8000" u="none" cap="none" strike="noStrike">
                <a:solidFill>
                  <a:srgbClr val="FFFFFF"/>
                </a:solidFill>
                <a:latin typeface="Oswald"/>
                <a:ea typeface="Oswald"/>
                <a:cs typeface="Oswald"/>
                <a:sym typeface="Oswald"/>
              </a:rPr>
              <a:t>GRAY A BINARIO</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grpSp>
        <p:nvGrpSpPr>
          <p:cNvPr id="190" name="Google Shape;190;p6"/>
          <p:cNvGrpSpPr/>
          <p:nvPr/>
        </p:nvGrpSpPr>
        <p:grpSpPr>
          <a:xfrm>
            <a:off x="0" y="-253157"/>
            <a:ext cx="18288000" cy="2841699"/>
            <a:chOff x="0" y="-66675"/>
            <a:chExt cx="4816593" cy="748431"/>
          </a:xfrm>
        </p:grpSpPr>
        <p:sp>
          <p:nvSpPr>
            <p:cNvPr id="191" name="Google Shape;191;p6"/>
            <p:cNvSpPr/>
            <p:nvPr/>
          </p:nvSpPr>
          <p:spPr>
            <a:xfrm>
              <a:off x="0" y="0"/>
              <a:ext cx="4816592" cy="681756"/>
            </a:xfrm>
            <a:custGeom>
              <a:rect b="b" l="l" r="r" t="t"/>
              <a:pathLst>
                <a:path extrusionOk="0" h="681756" w="4816592">
                  <a:moveTo>
                    <a:pt x="0" y="0"/>
                  </a:moveTo>
                  <a:lnTo>
                    <a:pt x="4816592" y="0"/>
                  </a:lnTo>
                  <a:lnTo>
                    <a:pt x="4816592" y="681756"/>
                  </a:lnTo>
                  <a:lnTo>
                    <a:pt x="0" y="681756"/>
                  </a:lnTo>
                  <a:close/>
                </a:path>
              </a:pathLst>
            </a:custGeom>
            <a:solidFill>
              <a:srgbClr val="132232"/>
            </a:solidFill>
            <a:ln>
              <a:noFill/>
            </a:ln>
          </p:spPr>
        </p:sp>
        <p:sp>
          <p:nvSpPr>
            <p:cNvPr id="192" name="Google Shape;192;p6"/>
            <p:cNvSpPr txBox="1"/>
            <p:nvPr/>
          </p:nvSpPr>
          <p:spPr>
            <a:xfrm>
              <a:off x="0" y="-66675"/>
              <a:ext cx="4816593" cy="748431"/>
            </a:xfrm>
            <a:prstGeom prst="rect">
              <a:avLst/>
            </a:prstGeom>
            <a:noFill/>
            <a:ln>
              <a:noFill/>
            </a:ln>
          </p:spPr>
          <p:txBody>
            <a:bodyPr anchorCtr="0" anchor="ctr" bIns="50800" lIns="50800" spcFirstLastPara="1" rIns="50800" wrap="square" tIns="50800">
              <a:noAutofit/>
            </a:bodyPr>
            <a:lstStyle/>
            <a:p>
              <a:pPr indent="0" lvl="0" marL="0" marR="0" rtl="0" algn="ctr">
                <a:lnSpc>
                  <a:spcPct val="201333"/>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93" name="Google Shape;193;p6"/>
          <p:cNvSpPr/>
          <p:nvPr/>
        </p:nvSpPr>
        <p:spPr>
          <a:xfrm>
            <a:off x="1350010" y="4097311"/>
            <a:ext cx="5952594" cy="4935056"/>
          </a:xfrm>
          <a:custGeom>
            <a:rect b="b" l="l" r="r" t="t"/>
            <a:pathLst>
              <a:path extrusionOk="0" h="4935056" w="5952594">
                <a:moveTo>
                  <a:pt x="0" y="0"/>
                </a:moveTo>
                <a:lnTo>
                  <a:pt x="5952594" y="0"/>
                </a:lnTo>
                <a:lnTo>
                  <a:pt x="5952594" y="4935056"/>
                </a:lnTo>
                <a:lnTo>
                  <a:pt x="0" y="4935056"/>
                </a:lnTo>
                <a:lnTo>
                  <a:pt x="0" y="0"/>
                </a:lnTo>
                <a:close/>
              </a:path>
            </a:pathLst>
          </a:custGeom>
          <a:blipFill rotWithShape="1">
            <a:blip r:embed="rId3">
              <a:alphaModFix/>
            </a:blip>
            <a:stretch>
              <a:fillRect b="0" l="0" r="0" t="0"/>
            </a:stretch>
          </a:blipFill>
          <a:ln>
            <a:noFill/>
          </a:ln>
        </p:spPr>
      </p:sp>
      <p:sp>
        <p:nvSpPr>
          <p:cNvPr id="194" name="Google Shape;194;p6"/>
          <p:cNvSpPr/>
          <p:nvPr/>
        </p:nvSpPr>
        <p:spPr>
          <a:xfrm>
            <a:off x="9846049" y="3754411"/>
            <a:ext cx="5015849" cy="5183666"/>
          </a:xfrm>
          <a:custGeom>
            <a:rect b="b" l="l" r="r" t="t"/>
            <a:pathLst>
              <a:path extrusionOk="0" h="5183666" w="5015849">
                <a:moveTo>
                  <a:pt x="0" y="0"/>
                </a:moveTo>
                <a:lnTo>
                  <a:pt x="5015849" y="0"/>
                </a:lnTo>
                <a:lnTo>
                  <a:pt x="5015849" y="5183665"/>
                </a:lnTo>
                <a:lnTo>
                  <a:pt x="0" y="5183665"/>
                </a:lnTo>
                <a:lnTo>
                  <a:pt x="0" y="0"/>
                </a:lnTo>
                <a:close/>
              </a:path>
            </a:pathLst>
          </a:custGeom>
          <a:blipFill rotWithShape="1">
            <a:blip r:embed="rId4">
              <a:alphaModFix/>
            </a:blip>
            <a:stretch>
              <a:fillRect b="0" l="0" r="0" t="0"/>
            </a:stretch>
          </a:blipFill>
          <a:ln>
            <a:noFill/>
          </a:ln>
        </p:spPr>
      </p:sp>
      <p:sp>
        <p:nvSpPr>
          <p:cNvPr id="195" name="Google Shape;195;p6"/>
          <p:cNvSpPr txBox="1"/>
          <p:nvPr/>
        </p:nvSpPr>
        <p:spPr>
          <a:xfrm>
            <a:off x="1028700" y="2904907"/>
            <a:ext cx="16028025" cy="849503"/>
          </a:xfrm>
          <a:prstGeom prst="rect">
            <a:avLst/>
          </a:prstGeom>
          <a:noFill/>
          <a:ln>
            <a:noFill/>
          </a:ln>
        </p:spPr>
        <p:txBody>
          <a:bodyPr anchorCtr="0" anchor="t" bIns="0" lIns="0" spcFirstLastPara="1" rIns="0" wrap="square" tIns="0">
            <a:spAutoFit/>
          </a:bodyPr>
          <a:lstStyle/>
          <a:p>
            <a:pPr indent="0" lvl="0" marL="0" marR="0" rtl="0" algn="l">
              <a:lnSpc>
                <a:spcPct val="131011"/>
              </a:lnSpc>
              <a:spcBef>
                <a:spcPts val="0"/>
              </a:spcBef>
              <a:spcAft>
                <a:spcPts val="0"/>
              </a:spcAft>
              <a:buNone/>
            </a:pPr>
            <a:r>
              <a:rPr b="0" i="0" lang="en-US" sz="2599" u="none" cap="none" strike="noStrike">
                <a:solidFill>
                  <a:srgbClr val="000000"/>
                </a:solidFill>
                <a:latin typeface="Montserrat"/>
                <a:ea typeface="Montserrat"/>
                <a:cs typeface="Montserrat"/>
                <a:sym typeface="Montserrat"/>
              </a:rPr>
              <a:t>Es un dispositivo capaz de comparar dos señales de entrada y variar la salida de cual es el mayor</a:t>
            </a:r>
            <a:endParaRPr/>
          </a:p>
        </p:txBody>
      </p:sp>
      <p:sp>
        <p:nvSpPr>
          <p:cNvPr id="196" name="Google Shape;196;p6"/>
          <p:cNvSpPr txBox="1"/>
          <p:nvPr/>
        </p:nvSpPr>
        <p:spPr>
          <a:xfrm>
            <a:off x="1028700" y="1066763"/>
            <a:ext cx="13103867" cy="117475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0" i="0" lang="en-US" sz="8000" u="none" cap="none" strike="noStrike">
                <a:solidFill>
                  <a:srgbClr val="FFFFFF"/>
                </a:solidFill>
                <a:latin typeface="Oswald"/>
                <a:ea typeface="Oswald"/>
                <a:cs typeface="Oswald"/>
                <a:sym typeface="Oswald"/>
              </a:rPr>
              <a:t>COMPARADORES</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grpSp>
        <p:nvGrpSpPr>
          <p:cNvPr id="205" name="Google Shape;205;p7"/>
          <p:cNvGrpSpPr/>
          <p:nvPr/>
        </p:nvGrpSpPr>
        <p:grpSpPr>
          <a:xfrm>
            <a:off x="0" y="-253157"/>
            <a:ext cx="18288000" cy="2841699"/>
            <a:chOff x="0" y="-66675"/>
            <a:chExt cx="4816593" cy="748431"/>
          </a:xfrm>
        </p:grpSpPr>
        <p:sp>
          <p:nvSpPr>
            <p:cNvPr id="206" name="Google Shape;206;p7"/>
            <p:cNvSpPr/>
            <p:nvPr/>
          </p:nvSpPr>
          <p:spPr>
            <a:xfrm>
              <a:off x="0" y="0"/>
              <a:ext cx="4816592" cy="681756"/>
            </a:xfrm>
            <a:custGeom>
              <a:rect b="b" l="l" r="r" t="t"/>
              <a:pathLst>
                <a:path extrusionOk="0" h="681756" w="4816592">
                  <a:moveTo>
                    <a:pt x="0" y="0"/>
                  </a:moveTo>
                  <a:lnTo>
                    <a:pt x="4816592" y="0"/>
                  </a:lnTo>
                  <a:lnTo>
                    <a:pt x="4816592" y="681756"/>
                  </a:lnTo>
                  <a:lnTo>
                    <a:pt x="0" y="681756"/>
                  </a:lnTo>
                  <a:close/>
                </a:path>
              </a:pathLst>
            </a:custGeom>
            <a:solidFill>
              <a:srgbClr val="132232"/>
            </a:solidFill>
            <a:ln>
              <a:noFill/>
            </a:ln>
          </p:spPr>
        </p:sp>
        <p:sp>
          <p:nvSpPr>
            <p:cNvPr id="207" name="Google Shape;207;p7"/>
            <p:cNvSpPr txBox="1"/>
            <p:nvPr/>
          </p:nvSpPr>
          <p:spPr>
            <a:xfrm>
              <a:off x="0" y="-66675"/>
              <a:ext cx="4816593" cy="748431"/>
            </a:xfrm>
            <a:prstGeom prst="rect">
              <a:avLst/>
            </a:prstGeom>
            <a:noFill/>
            <a:ln>
              <a:noFill/>
            </a:ln>
          </p:spPr>
          <p:txBody>
            <a:bodyPr anchorCtr="0" anchor="ctr" bIns="50800" lIns="50800" spcFirstLastPara="1" rIns="50800" wrap="square" tIns="50800">
              <a:noAutofit/>
            </a:bodyPr>
            <a:lstStyle/>
            <a:p>
              <a:pPr indent="0" lvl="0" marL="0" marR="0" rtl="0" algn="ctr">
                <a:lnSpc>
                  <a:spcPct val="201333"/>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208" name="Google Shape;208;p7"/>
          <p:cNvSpPr/>
          <p:nvPr/>
        </p:nvSpPr>
        <p:spPr>
          <a:xfrm>
            <a:off x="1683160" y="4449736"/>
            <a:ext cx="6267235" cy="4042060"/>
          </a:xfrm>
          <a:custGeom>
            <a:rect b="b" l="l" r="r" t="t"/>
            <a:pathLst>
              <a:path extrusionOk="0" h="4042060" w="6267235">
                <a:moveTo>
                  <a:pt x="0" y="0"/>
                </a:moveTo>
                <a:lnTo>
                  <a:pt x="6267235" y="0"/>
                </a:lnTo>
                <a:lnTo>
                  <a:pt x="6267235" y="4042060"/>
                </a:lnTo>
                <a:lnTo>
                  <a:pt x="0" y="4042060"/>
                </a:lnTo>
                <a:lnTo>
                  <a:pt x="0" y="0"/>
                </a:lnTo>
                <a:close/>
              </a:path>
            </a:pathLst>
          </a:custGeom>
          <a:blipFill rotWithShape="1">
            <a:blip r:embed="rId3">
              <a:alphaModFix/>
            </a:blip>
            <a:stretch>
              <a:fillRect b="0" l="0" r="0" t="0"/>
            </a:stretch>
          </a:blipFill>
          <a:ln>
            <a:noFill/>
          </a:ln>
        </p:spPr>
      </p:sp>
      <p:sp>
        <p:nvSpPr>
          <p:cNvPr id="209" name="Google Shape;209;p7"/>
          <p:cNvSpPr/>
          <p:nvPr/>
        </p:nvSpPr>
        <p:spPr>
          <a:xfrm>
            <a:off x="9400209" y="3849473"/>
            <a:ext cx="7171297" cy="5242586"/>
          </a:xfrm>
          <a:custGeom>
            <a:rect b="b" l="l" r="r" t="t"/>
            <a:pathLst>
              <a:path extrusionOk="0" h="5242586" w="7171297">
                <a:moveTo>
                  <a:pt x="0" y="0"/>
                </a:moveTo>
                <a:lnTo>
                  <a:pt x="7171297" y="0"/>
                </a:lnTo>
                <a:lnTo>
                  <a:pt x="7171297" y="5242586"/>
                </a:lnTo>
                <a:lnTo>
                  <a:pt x="0" y="5242586"/>
                </a:lnTo>
                <a:lnTo>
                  <a:pt x="0" y="0"/>
                </a:lnTo>
                <a:close/>
              </a:path>
            </a:pathLst>
          </a:custGeom>
          <a:blipFill rotWithShape="1">
            <a:blip r:embed="rId4">
              <a:alphaModFix/>
            </a:blip>
            <a:stretch>
              <a:fillRect b="0" l="0" r="0" t="0"/>
            </a:stretch>
          </a:blipFill>
          <a:ln>
            <a:noFill/>
          </a:ln>
        </p:spPr>
      </p:sp>
      <p:sp>
        <p:nvSpPr>
          <p:cNvPr id="210" name="Google Shape;210;p7"/>
          <p:cNvSpPr txBox="1"/>
          <p:nvPr/>
        </p:nvSpPr>
        <p:spPr>
          <a:xfrm>
            <a:off x="1028700" y="2904907"/>
            <a:ext cx="16028025" cy="849503"/>
          </a:xfrm>
          <a:prstGeom prst="rect">
            <a:avLst/>
          </a:prstGeom>
          <a:noFill/>
          <a:ln>
            <a:noFill/>
          </a:ln>
        </p:spPr>
        <p:txBody>
          <a:bodyPr anchorCtr="0" anchor="t" bIns="0" lIns="0" spcFirstLastPara="1" rIns="0" wrap="square" tIns="0">
            <a:spAutoFit/>
          </a:bodyPr>
          <a:lstStyle/>
          <a:p>
            <a:pPr indent="0" lvl="0" marL="0" marR="0" rtl="0" algn="l">
              <a:lnSpc>
                <a:spcPct val="131011"/>
              </a:lnSpc>
              <a:spcBef>
                <a:spcPts val="0"/>
              </a:spcBef>
              <a:spcAft>
                <a:spcPts val="0"/>
              </a:spcAft>
              <a:buNone/>
            </a:pPr>
            <a:r>
              <a:rPr b="0" i="0" lang="en-US" sz="2599" u="none" cap="none" strike="noStrike">
                <a:solidFill>
                  <a:srgbClr val="000000"/>
                </a:solidFill>
                <a:latin typeface="Montserrat"/>
                <a:ea typeface="Montserrat"/>
                <a:cs typeface="Montserrat"/>
                <a:sym typeface="Montserrat"/>
              </a:rPr>
              <a:t>Es un circuito combinacional con 2N entradas y N salidas, cuya misión es presentar en la salida el código binario correspondiente a la entrada activada.</a:t>
            </a:r>
            <a:endParaRPr/>
          </a:p>
        </p:txBody>
      </p:sp>
      <p:sp>
        <p:nvSpPr>
          <p:cNvPr id="211" name="Google Shape;211;p7"/>
          <p:cNvSpPr txBox="1"/>
          <p:nvPr/>
        </p:nvSpPr>
        <p:spPr>
          <a:xfrm>
            <a:off x="1028700" y="1066763"/>
            <a:ext cx="13103867" cy="117475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0" i="0" lang="en-US" sz="8000" u="none" cap="none" strike="noStrike">
                <a:solidFill>
                  <a:srgbClr val="FFFFFF"/>
                </a:solidFill>
                <a:latin typeface="Oswald"/>
                <a:ea typeface="Oswald"/>
                <a:cs typeface="Oswald"/>
                <a:sym typeface="Oswald"/>
              </a:rPr>
              <a:t>CODIFICADOR</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grpSp>
        <p:nvGrpSpPr>
          <p:cNvPr id="220" name="Google Shape;220;p8"/>
          <p:cNvGrpSpPr/>
          <p:nvPr/>
        </p:nvGrpSpPr>
        <p:grpSpPr>
          <a:xfrm>
            <a:off x="0" y="-253157"/>
            <a:ext cx="18288000" cy="2841699"/>
            <a:chOff x="0" y="-66675"/>
            <a:chExt cx="4816593" cy="748431"/>
          </a:xfrm>
        </p:grpSpPr>
        <p:sp>
          <p:nvSpPr>
            <p:cNvPr id="221" name="Google Shape;221;p8"/>
            <p:cNvSpPr/>
            <p:nvPr/>
          </p:nvSpPr>
          <p:spPr>
            <a:xfrm>
              <a:off x="0" y="0"/>
              <a:ext cx="4816592" cy="681756"/>
            </a:xfrm>
            <a:custGeom>
              <a:rect b="b" l="l" r="r" t="t"/>
              <a:pathLst>
                <a:path extrusionOk="0" h="681756" w="4816592">
                  <a:moveTo>
                    <a:pt x="0" y="0"/>
                  </a:moveTo>
                  <a:lnTo>
                    <a:pt x="4816592" y="0"/>
                  </a:lnTo>
                  <a:lnTo>
                    <a:pt x="4816592" y="681756"/>
                  </a:lnTo>
                  <a:lnTo>
                    <a:pt x="0" y="681756"/>
                  </a:lnTo>
                  <a:close/>
                </a:path>
              </a:pathLst>
            </a:custGeom>
            <a:solidFill>
              <a:srgbClr val="132232"/>
            </a:solidFill>
            <a:ln>
              <a:noFill/>
            </a:ln>
          </p:spPr>
        </p:sp>
        <p:sp>
          <p:nvSpPr>
            <p:cNvPr id="222" name="Google Shape;222;p8"/>
            <p:cNvSpPr txBox="1"/>
            <p:nvPr/>
          </p:nvSpPr>
          <p:spPr>
            <a:xfrm>
              <a:off x="0" y="-66675"/>
              <a:ext cx="4816593" cy="748431"/>
            </a:xfrm>
            <a:prstGeom prst="rect">
              <a:avLst/>
            </a:prstGeom>
            <a:noFill/>
            <a:ln>
              <a:noFill/>
            </a:ln>
          </p:spPr>
          <p:txBody>
            <a:bodyPr anchorCtr="0" anchor="ctr" bIns="50800" lIns="50800" spcFirstLastPara="1" rIns="50800" wrap="square" tIns="50800">
              <a:noAutofit/>
            </a:bodyPr>
            <a:lstStyle/>
            <a:p>
              <a:pPr indent="0" lvl="0" marL="0" marR="0" rtl="0" algn="ctr">
                <a:lnSpc>
                  <a:spcPct val="201333"/>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223" name="Google Shape;223;p8"/>
          <p:cNvSpPr/>
          <p:nvPr/>
        </p:nvSpPr>
        <p:spPr>
          <a:xfrm>
            <a:off x="1626666" y="5811811"/>
            <a:ext cx="7416047" cy="4051234"/>
          </a:xfrm>
          <a:custGeom>
            <a:rect b="b" l="l" r="r" t="t"/>
            <a:pathLst>
              <a:path extrusionOk="0" h="4051234" w="7416047">
                <a:moveTo>
                  <a:pt x="0" y="0"/>
                </a:moveTo>
                <a:lnTo>
                  <a:pt x="7416047" y="0"/>
                </a:lnTo>
                <a:lnTo>
                  <a:pt x="7416047" y="4051234"/>
                </a:lnTo>
                <a:lnTo>
                  <a:pt x="0" y="4051234"/>
                </a:lnTo>
                <a:lnTo>
                  <a:pt x="0" y="0"/>
                </a:lnTo>
                <a:close/>
              </a:path>
            </a:pathLst>
          </a:custGeom>
          <a:blipFill rotWithShape="1">
            <a:blip r:embed="rId3">
              <a:alphaModFix/>
            </a:blip>
            <a:stretch>
              <a:fillRect b="0" l="0" r="0" t="0"/>
            </a:stretch>
          </a:blipFill>
          <a:ln>
            <a:noFill/>
          </a:ln>
        </p:spPr>
      </p:sp>
      <p:sp>
        <p:nvSpPr>
          <p:cNvPr id="224" name="Google Shape;224;p8"/>
          <p:cNvSpPr/>
          <p:nvPr/>
        </p:nvSpPr>
        <p:spPr>
          <a:xfrm>
            <a:off x="11491297" y="5267796"/>
            <a:ext cx="5282540" cy="4719328"/>
          </a:xfrm>
          <a:custGeom>
            <a:rect b="b" l="l" r="r" t="t"/>
            <a:pathLst>
              <a:path extrusionOk="0" h="4719328" w="5282540">
                <a:moveTo>
                  <a:pt x="0" y="0"/>
                </a:moveTo>
                <a:lnTo>
                  <a:pt x="5282539" y="0"/>
                </a:lnTo>
                <a:lnTo>
                  <a:pt x="5282539" y="4719328"/>
                </a:lnTo>
                <a:lnTo>
                  <a:pt x="0" y="4719328"/>
                </a:lnTo>
                <a:lnTo>
                  <a:pt x="0" y="0"/>
                </a:lnTo>
                <a:close/>
              </a:path>
            </a:pathLst>
          </a:custGeom>
          <a:blipFill rotWithShape="1">
            <a:blip r:embed="rId4">
              <a:alphaModFix/>
            </a:blip>
            <a:stretch>
              <a:fillRect b="0" l="0" r="0" t="0"/>
            </a:stretch>
          </a:blipFill>
          <a:ln>
            <a:noFill/>
          </a:ln>
        </p:spPr>
      </p:sp>
      <p:sp>
        <p:nvSpPr>
          <p:cNvPr id="225" name="Google Shape;225;p8"/>
          <p:cNvSpPr txBox="1"/>
          <p:nvPr/>
        </p:nvSpPr>
        <p:spPr>
          <a:xfrm>
            <a:off x="954800" y="2873732"/>
            <a:ext cx="16028100" cy="3020700"/>
          </a:xfrm>
          <a:prstGeom prst="rect">
            <a:avLst/>
          </a:prstGeom>
          <a:noFill/>
          <a:ln>
            <a:noFill/>
          </a:ln>
        </p:spPr>
        <p:txBody>
          <a:bodyPr anchorCtr="0" anchor="t" bIns="0" lIns="0" spcFirstLastPara="1" rIns="0" wrap="square" tIns="0">
            <a:spAutoFit/>
          </a:bodyPr>
          <a:lstStyle/>
          <a:p>
            <a:pPr indent="0" lvl="0" marL="0" marR="0" rtl="0" algn="l">
              <a:lnSpc>
                <a:spcPct val="131011"/>
              </a:lnSpc>
              <a:spcBef>
                <a:spcPts val="0"/>
              </a:spcBef>
              <a:spcAft>
                <a:spcPts val="0"/>
              </a:spcAft>
              <a:buNone/>
            </a:pPr>
            <a:r>
              <a:rPr b="0" i="0" lang="en-US" sz="2599" u="none" cap="none" strike="noStrike">
                <a:solidFill>
                  <a:srgbClr val="000000"/>
                </a:solidFill>
                <a:latin typeface="Montserrat"/>
                <a:ea typeface="Montserrat"/>
                <a:cs typeface="Montserrat"/>
                <a:sym typeface="Montserrat"/>
              </a:rPr>
              <a:t>Es un circuito combinacional, cuya función es inversa a la del codificador, es decir, convierte un código binario (natural, BCD, etc.) de N bits de entrada y M líneas de salida (N puede se cualquier entero y M es un entero menor o igual a 2N), tales que cada línea de salida será activada para una sola de las combinaciones posibles de entrada. Normalmente, estos circuitos suelen encontrarse como decodificador / demultiplexor. Esto es debido a que un demultiplexor puede comportarse como un decodificador.</a:t>
            </a:r>
            <a:endParaRPr/>
          </a:p>
        </p:txBody>
      </p:sp>
      <p:sp>
        <p:nvSpPr>
          <p:cNvPr id="226" name="Google Shape;226;p8"/>
          <p:cNvSpPr txBox="1"/>
          <p:nvPr/>
        </p:nvSpPr>
        <p:spPr>
          <a:xfrm>
            <a:off x="1028700" y="1066763"/>
            <a:ext cx="13103867" cy="117475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0" i="0" lang="en-US" sz="8000" u="none" cap="none" strike="noStrike">
                <a:solidFill>
                  <a:srgbClr val="FFFFFF"/>
                </a:solidFill>
                <a:latin typeface="Oswald"/>
                <a:ea typeface="Oswald"/>
                <a:cs typeface="Oswald"/>
                <a:sym typeface="Oswald"/>
              </a:rPr>
              <a:t>DECODIFICADOR</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grpSp>
        <p:nvGrpSpPr>
          <p:cNvPr id="235" name="Google Shape;235;p9"/>
          <p:cNvGrpSpPr/>
          <p:nvPr/>
        </p:nvGrpSpPr>
        <p:grpSpPr>
          <a:xfrm>
            <a:off x="0" y="-253157"/>
            <a:ext cx="18288000" cy="2841699"/>
            <a:chOff x="0" y="-66675"/>
            <a:chExt cx="4816593" cy="748431"/>
          </a:xfrm>
        </p:grpSpPr>
        <p:sp>
          <p:nvSpPr>
            <p:cNvPr id="236" name="Google Shape;236;p9"/>
            <p:cNvSpPr/>
            <p:nvPr/>
          </p:nvSpPr>
          <p:spPr>
            <a:xfrm>
              <a:off x="0" y="0"/>
              <a:ext cx="4816592" cy="681756"/>
            </a:xfrm>
            <a:custGeom>
              <a:rect b="b" l="l" r="r" t="t"/>
              <a:pathLst>
                <a:path extrusionOk="0" h="681756" w="4816592">
                  <a:moveTo>
                    <a:pt x="0" y="0"/>
                  </a:moveTo>
                  <a:lnTo>
                    <a:pt x="4816592" y="0"/>
                  </a:lnTo>
                  <a:lnTo>
                    <a:pt x="4816592" y="681756"/>
                  </a:lnTo>
                  <a:lnTo>
                    <a:pt x="0" y="681756"/>
                  </a:lnTo>
                  <a:close/>
                </a:path>
              </a:pathLst>
            </a:custGeom>
            <a:solidFill>
              <a:srgbClr val="132232"/>
            </a:solidFill>
            <a:ln>
              <a:noFill/>
            </a:ln>
          </p:spPr>
        </p:sp>
        <p:sp>
          <p:nvSpPr>
            <p:cNvPr id="237" name="Google Shape;237;p9"/>
            <p:cNvSpPr txBox="1"/>
            <p:nvPr/>
          </p:nvSpPr>
          <p:spPr>
            <a:xfrm>
              <a:off x="0" y="-66675"/>
              <a:ext cx="4816593" cy="748431"/>
            </a:xfrm>
            <a:prstGeom prst="rect">
              <a:avLst/>
            </a:prstGeom>
            <a:noFill/>
            <a:ln>
              <a:noFill/>
            </a:ln>
          </p:spPr>
          <p:txBody>
            <a:bodyPr anchorCtr="0" anchor="ctr" bIns="50800" lIns="50800" spcFirstLastPara="1" rIns="50800" wrap="square" tIns="50800">
              <a:noAutofit/>
            </a:bodyPr>
            <a:lstStyle/>
            <a:p>
              <a:pPr indent="0" lvl="0" marL="0" marR="0" rtl="0" algn="ctr">
                <a:lnSpc>
                  <a:spcPct val="201333"/>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238" name="Google Shape;238;p9"/>
          <p:cNvSpPr/>
          <p:nvPr/>
        </p:nvSpPr>
        <p:spPr>
          <a:xfrm>
            <a:off x="2093597" y="4525936"/>
            <a:ext cx="5968482" cy="5161930"/>
          </a:xfrm>
          <a:custGeom>
            <a:rect b="b" l="l" r="r" t="t"/>
            <a:pathLst>
              <a:path extrusionOk="0" h="5161930" w="5968482">
                <a:moveTo>
                  <a:pt x="0" y="0"/>
                </a:moveTo>
                <a:lnTo>
                  <a:pt x="5968482" y="0"/>
                </a:lnTo>
                <a:lnTo>
                  <a:pt x="5968482" y="5161930"/>
                </a:lnTo>
                <a:lnTo>
                  <a:pt x="0" y="5161930"/>
                </a:lnTo>
                <a:lnTo>
                  <a:pt x="0" y="0"/>
                </a:lnTo>
                <a:close/>
              </a:path>
            </a:pathLst>
          </a:custGeom>
          <a:blipFill rotWithShape="1">
            <a:blip r:embed="rId3">
              <a:alphaModFix/>
            </a:blip>
            <a:stretch>
              <a:fillRect b="0" l="0" r="0" t="0"/>
            </a:stretch>
          </a:blipFill>
          <a:ln>
            <a:noFill/>
          </a:ln>
        </p:spPr>
      </p:sp>
      <p:sp>
        <p:nvSpPr>
          <p:cNvPr id="239" name="Google Shape;239;p9"/>
          <p:cNvSpPr/>
          <p:nvPr/>
        </p:nvSpPr>
        <p:spPr>
          <a:xfrm>
            <a:off x="8518517" y="4878361"/>
            <a:ext cx="8740783" cy="3903802"/>
          </a:xfrm>
          <a:custGeom>
            <a:rect b="b" l="l" r="r" t="t"/>
            <a:pathLst>
              <a:path extrusionOk="0" h="3903802" w="8740783">
                <a:moveTo>
                  <a:pt x="0" y="0"/>
                </a:moveTo>
                <a:lnTo>
                  <a:pt x="8740783" y="0"/>
                </a:lnTo>
                <a:lnTo>
                  <a:pt x="8740783" y="3903801"/>
                </a:lnTo>
                <a:lnTo>
                  <a:pt x="0" y="3903801"/>
                </a:lnTo>
                <a:lnTo>
                  <a:pt x="0" y="0"/>
                </a:lnTo>
                <a:close/>
              </a:path>
            </a:pathLst>
          </a:custGeom>
          <a:blipFill rotWithShape="1">
            <a:blip r:embed="rId4">
              <a:alphaModFix/>
            </a:blip>
            <a:stretch>
              <a:fillRect b="0" l="0" r="0" t="0"/>
            </a:stretch>
          </a:blipFill>
          <a:ln>
            <a:noFill/>
          </a:ln>
        </p:spPr>
      </p:sp>
      <p:sp>
        <p:nvSpPr>
          <p:cNvPr id="240" name="Google Shape;240;p9"/>
          <p:cNvSpPr txBox="1"/>
          <p:nvPr/>
        </p:nvSpPr>
        <p:spPr>
          <a:xfrm>
            <a:off x="1028700" y="2904907"/>
            <a:ext cx="16028025" cy="1278128"/>
          </a:xfrm>
          <a:prstGeom prst="rect">
            <a:avLst/>
          </a:prstGeom>
          <a:noFill/>
          <a:ln>
            <a:noFill/>
          </a:ln>
        </p:spPr>
        <p:txBody>
          <a:bodyPr anchorCtr="0" anchor="t" bIns="0" lIns="0" spcFirstLastPara="1" rIns="0" wrap="square" tIns="0">
            <a:spAutoFit/>
          </a:bodyPr>
          <a:lstStyle/>
          <a:p>
            <a:pPr indent="0" lvl="0" marL="0" marR="0" rtl="0" algn="l">
              <a:lnSpc>
                <a:spcPct val="131011"/>
              </a:lnSpc>
              <a:spcBef>
                <a:spcPts val="0"/>
              </a:spcBef>
              <a:spcAft>
                <a:spcPts val="0"/>
              </a:spcAft>
              <a:buNone/>
            </a:pPr>
            <a:r>
              <a:rPr b="0" i="0" lang="en-US" sz="2599" u="none" cap="none" strike="noStrike">
                <a:solidFill>
                  <a:srgbClr val="000000"/>
                </a:solidFill>
                <a:latin typeface="Montserrat"/>
                <a:ea typeface="Montserrat"/>
                <a:cs typeface="Montserrat"/>
                <a:sym typeface="Montserrat"/>
              </a:rPr>
              <a:t>Son circuitos combinacionales con varias entradas y una única salida de datos. Están dotados de entradas de control capaces de seleccionar una, y solo una, de las entradas de datos para permitir su transmisión desde la entrada seleccionada hacia dicha salida.</a:t>
            </a:r>
            <a:endParaRPr/>
          </a:p>
        </p:txBody>
      </p:sp>
      <p:sp>
        <p:nvSpPr>
          <p:cNvPr id="241" name="Google Shape;241;p9"/>
          <p:cNvSpPr txBox="1"/>
          <p:nvPr/>
        </p:nvSpPr>
        <p:spPr>
          <a:xfrm>
            <a:off x="1028700" y="1066763"/>
            <a:ext cx="13103867" cy="117475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0" i="0" lang="en-US" sz="8000" u="none" cap="none" strike="noStrike">
                <a:solidFill>
                  <a:srgbClr val="FFFFFF"/>
                </a:solidFill>
                <a:latin typeface="Oswald"/>
                <a:ea typeface="Oswald"/>
                <a:cs typeface="Oswald"/>
                <a:sym typeface="Oswald"/>
              </a:rPr>
              <a:t>MULTIPLEXOR</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 name="Shape 249"/>
        <p:cNvGrpSpPr/>
        <p:nvPr/>
      </p:nvGrpSpPr>
      <p:grpSpPr>
        <a:xfrm>
          <a:off x="0" y="0"/>
          <a:ext cx="0" cy="0"/>
          <a:chOff x="0" y="0"/>
          <a:chExt cx="0" cy="0"/>
        </a:xfrm>
      </p:grpSpPr>
      <p:grpSp>
        <p:nvGrpSpPr>
          <p:cNvPr id="250" name="Google Shape;250;p10"/>
          <p:cNvGrpSpPr/>
          <p:nvPr/>
        </p:nvGrpSpPr>
        <p:grpSpPr>
          <a:xfrm>
            <a:off x="0" y="-253157"/>
            <a:ext cx="18288000" cy="2841699"/>
            <a:chOff x="0" y="-66675"/>
            <a:chExt cx="4816593" cy="748431"/>
          </a:xfrm>
        </p:grpSpPr>
        <p:sp>
          <p:nvSpPr>
            <p:cNvPr id="251" name="Google Shape;251;p10"/>
            <p:cNvSpPr/>
            <p:nvPr/>
          </p:nvSpPr>
          <p:spPr>
            <a:xfrm>
              <a:off x="0" y="0"/>
              <a:ext cx="4816592" cy="681756"/>
            </a:xfrm>
            <a:custGeom>
              <a:rect b="b" l="l" r="r" t="t"/>
              <a:pathLst>
                <a:path extrusionOk="0" h="681756" w="4816592">
                  <a:moveTo>
                    <a:pt x="0" y="0"/>
                  </a:moveTo>
                  <a:lnTo>
                    <a:pt x="4816592" y="0"/>
                  </a:lnTo>
                  <a:lnTo>
                    <a:pt x="4816592" y="681756"/>
                  </a:lnTo>
                  <a:lnTo>
                    <a:pt x="0" y="681756"/>
                  </a:lnTo>
                  <a:close/>
                </a:path>
              </a:pathLst>
            </a:custGeom>
            <a:solidFill>
              <a:srgbClr val="132232"/>
            </a:solidFill>
            <a:ln>
              <a:noFill/>
            </a:ln>
          </p:spPr>
        </p:sp>
        <p:sp>
          <p:nvSpPr>
            <p:cNvPr id="252" name="Google Shape;252;p10"/>
            <p:cNvSpPr txBox="1"/>
            <p:nvPr/>
          </p:nvSpPr>
          <p:spPr>
            <a:xfrm>
              <a:off x="0" y="-66675"/>
              <a:ext cx="4816593" cy="748431"/>
            </a:xfrm>
            <a:prstGeom prst="rect">
              <a:avLst/>
            </a:prstGeom>
            <a:noFill/>
            <a:ln>
              <a:noFill/>
            </a:ln>
          </p:spPr>
          <p:txBody>
            <a:bodyPr anchorCtr="0" anchor="ctr" bIns="50800" lIns="50800" spcFirstLastPara="1" rIns="50800" wrap="square" tIns="50800">
              <a:noAutofit/>
            </a:bodyPr>
            <a:lstStyle/>
            <a:p>
              <a:pPr indent="0" lvl="0" marL="0" marR="0" rtl="0" algn="ctr">
                <a:lnSpc>
                  <a:spcPct val="201333"/>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253" name="Google Shape;253;p10"/>
          <p:cNvSpPr/>
          <p:nvPr/>
        </p:nvSpPr>
        <p:spPr>
          <a:xfrm>
            <a:off x="1786940" y="4783111"/>
            <a:ext cx="6157723" cy="5408639"/>
          </a:xfrm>
          <a:custGeom>
            <a:rect b="b" l="l" r="r" t="t"/>
            <a:pathLst>
              <a:path extrusionOk="0" h="5408639" w="6157723">
                <a:moveTo>
                  <a:pt x="0" y="0"/>
                </a:moveTo>
                <a:lnTo>
                  <a:pt x="6157723" y="0"/>
                </a:lnTo>
                <a:lnTo>
                  <a:pt x="6157723" y="5408639"/>
                </a:lnTo>
                <a:lnTo>
                  <a:pt x="0" y="5408639"/>
                </a:lnTo>
                <a:lnTo>
                  <a:pt x="0" y="0"/>
                </a:lnTo>
                <a:close/>
              </a:path>
            </a:pathLst>
          </a:custGeom>
          <a:blipFill rotWithShape="1">
            <a:blip r:embed="rId3">
              <a:alphaModFix/>
            </a:blip>
            <a:stretch>
              <a:fillRect b="0" l="0" r="0" t="0"/>
            </a:stretch>
          </a:blipFill>
          <a:ln>
            <a:noFill/>
          </a:ln>
        </p:spPr>
      </p:sp>
      <p:sp>
        <p:nvSpPr>
          <p:cNvPr id="254" name="Google Shape;254;p10"/>
          <p:cNvSpPr/>
          <p:nvPr/>
        </p:nvSpPr>
        <p:spPr>
          <a:xfrm>
            <a:off x="9168215" y="4937303"/>
            <a:ext cx="8288493" cy="4540091"/>
          </a:xfrm>
          <a:custGeom>
            <a:rect b="b" l="l" r="r" t="t"/>
            <a:pathLst>
              <a:path extrusionOk="0" h="4540091" w="8288493">
                <a:moveTo>
                  <a:pt x="0" y="0"/>
                </a:moveTo>
                <a:lnTo>
                  <a:pt x="8288493" y="0"/>
                </a:lnTo>
                <a:lnTo>
                  <a:pt x="8288493" y="4540091"/>
                </a:lnTo>
                <a:lnTo>
                  <a:pt x="0" y="4540091"/>
                </a:lnTo>
                <a:lnTo>
                  <a:pt x="0" y="0"/>
                </a:lnTo>
                <a:close/>
              </a:path>
            </a:pathLst>
          </a:custGeom>
          <a:blipFill rotWithShape="1">
            <a:blip r:embed="rId4">
              <a:alphaModFix/>
            </a:blip>
            <a:stretch>
              <a:fillRect b="0" l="0" r="0" t="0"/>
            </a:stretch>
          </a:blipFill>
          <a:ln>
            <a:noFill/>
          </a:ln>
        </p:spPr>
      </p:sp>
      <p:sp>
        <p:nvSpPr>
          <p:cNvPr id="255" name="Google Shape;255;p10"/>
          <p:cNvSpPr txBox="1"/>
          <p:nvPr/>
        </p:nvSpPr>
        <p:spPr>
          <a:xfrm>
            <a:off x="1028700" y="2819182"/>
            <a:ext cx="16028025" cy="1706753"/>
          </a:xfrm>
          <a:prstGeom prst="rect">
            <a:avLst/>
          </a:prstGeom>
          <a:noFill/>
          <a:ln>
            <a:noFill/>
          </a:ln>
        </p:spPr>
        <p:txBody>
          <a:bodyPr anchorCtr="0" anchor="t" bIns="0" lIns="0" spcFirstLastPara="1" rIns="0" wrap="square" tIns="0">
            <a:spAutoFit/>
          </a:bodyPr>
          <a:lstStyle/>
          <a:p>
            <a:pPr indent="0" lvl="0" marL="0" marR="0" rtl="0" algn="l">
              <a:lnSpc>
                <a:spcPct val="131011"/>
              </a:lnSpc>
              <a:spcBef>
                <a:spcPts val="0"/>
              </a:spcBef>
              <a:spcAft>
                <a:spcPts val="0"/>
              </a:spcAft>
              <a:buNone/>
            </a:pPr>
            <a:r>
              <a:rPr b="0" i="0" lang="en-US" sz="2599" u="none" cap="none" strike="noStrike">
                <a:solidFill>
                  <a:srgbClr val="000000"/>
                </a:solidFill>
                <a:latin typeface="Montserrat"/>
                <a:ea typeface="Montserrat"/>
                <a:cs typeface="Montserrat"/>
                <a:sym typeface="Montserrat"/>
              </a:rPr>
              <a:t>Es un circuito combinacional que tiene una entrada de información de datos d y n entradas de control que sirven para seleccionar una de las 2n salidas, por la que ha de salir el dato que presente en la entrada. Esto se consigue aplicando a las entradas de control la combinación binaria correspondiente a la salida que se desea seleccionar.</a:t>
            </a:r>
            <a:endParaRPr/>
          </a:p>
        </p:txBody>
      </p:sp>
      <p:sp>
        <p:nvSpPr>
          <p:cNvPr id="256" name="Google Shape;256;p10"/>
          <p:cNvSpPr txBox="1"/>
          <p:nvPr/>
        </p:nvSpPr>
        <p:spPr>
          <a:xfrm>
            <a:off x="1028700" y="1066763"/>
            <a:ext cx="13103867" cy="117475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0" i="0" lang="en-US" sz="8000" u="none" cap="none" strike="noStrike">
                <a:solidFill>
                  <a:srgbClr val="FFFFFF"/>
                </a:solidFill>
                <a:latin typeface="Oswald"/>
                <a:ea typeface="Oswald"/>
                <a:cs typeface="Oswald"/>
                <a:sym typeface="Oswald"/>
              </a:rPr>
              <a:t>DEMULTIPLEXOR</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32232"/>
        </a:solidFill>
      </p:bgPr>
    </p:bg>
    <p:spTree>
      <p:nvGrpSpPr>
        <p:cNvPr id="260" name="Shape 260"/>
        <p:cNvGrpSpPr/>
        <p:nvPr/>
      </p:nvGrpSpPr>
      <p:grpSpPr>
        <a:xfrm>
          <a:off x="0" y="0"/>
          <a:ext cx="0" cy="0"/>
          <a:chOff x="0" y="0"/>
          <a:chExt cx="0" cy="0"/>
        </a:xfrm>
      </p:grpSpPr>
      <p:sp>
        <p:nvSpPr>
          <p:cNvPr id="261" name="Google Shape;261;p11"/>
          <p:cNvSpPr/>
          <p:nvPr/>
        </p:nvSpPr>
        <p:spPr>
          <a:xfrm>
            <a:off x="2750505" y="3383082"/>
            <a:ext cx="12285769" cy="3520836"/>
          </a:xfrm>
          <a:custGeom>
            <a:rect b="b" l="l" r="r" t="t"/>
            <a:pathLst>
              <a:path extrusionOk="0" h="3520836" w="12285769">
                <a:moveTo>
                  <a:pt x="0" y="0"/>
                </a:moveTo>
                <a:lnTo>
                  <a:pt x="12285769" y="0"/>
                </a:lnTo>
                <a:lnTo>
                  <a:pt x="12285769" y="3520836"/>
                </a:lnTo>
                <a:lnTo>
                  <a:pt x="0" y="3520836"/>
                </a:lnTo>
                <a:lnTo>
                  <a:pt x="0" y="0"/>
                </a:lnTo>
                <a:close/>
              </a:path>
            </a:pathLst>
          </a:custGeom>
          <a:blipFill rotWithShape="1">
            <a:blip r:embed="rId3">
              <a:alphaModFix/>
            </a:blip>
            <a:stretch>
              <a:fillRect b="-32103" l="-1294" r="0" t="-4774"/>
            </a:stretch>
          </a:blipFill>
          <a:ln>
            <a:noFill/>
          </a:ln>
        </p:spPr>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32232"/>
        </a:solidFill>
      </p:bgPr>
    </p:bg>
    <p:spTree>
      <p:nvGrpSpPr>
        <p:cNvPr id="265" name="Shape 265"/>
        <p:cNvGrpSpPr/>
        <p:nvPr/>
      </p:nvGrpSpPr>
      <p:grpSpPr>
        <a:xfrm>
          <a:off x="0" y="0"/>
          <a:ext cx="0" cy="0"/>
          <a:chOff x="0" y="0"/>
          <a:chExt cx="0" cy="0"/>
        </a:xfrm>
      </p:grpSpPr>
      <p:sp>
        <p:nvSpPr>
          <p:cNvPr id="266" name="Google Shape;266;p12"/>
          <p:cNvSpPr txBox="1"/>
          <p:nvPr/>
        </p:nvSpPr>
        <p:spPr>
          <a:xfrm>
            <a:off x="8617327" y="584200"/>
            <a:ext cx="1053346" cy="444500"/>
          </a:xfrm>
          <a:prstGeom prst="rect">
            <a:avLst/>
          </a:prstGeom>
          <a:noFill/>
          <a:ln>
            <a:noFill/>
          </a:ln>
        </p:spPr>
        <p:txBody>
          <a:bodyPr anchorCtr="0" anchor="t" bIns="0" lIns="0" spcFirstLastPara="1" rIns="0" wrap="square" tIns="0">
            <a:spAutoFit/>
          </a:bodyPr>
          <a:lstStyle/>
          <a:p>
            <a:pPr indent="0" lvl="0" marL="0" marR="0" rtl="0" algn="ctr">
              <a:lnSpc>
                <a:spcPct val="145018"/>
              </a:lnSpc>
              <a:spcBef>
                <a:spcPts val="0"/>
              </a:spcBef>
              <a:spcAft>
                <a:spcPts val="0"/>
              </a:spcAft>
              <a:buNone/>
            </a:pPr>
            <a:r>
              <a:rPr b="0" i="0" lang="en-US" sz="2499" u="none" cap="none" strike="noStrike">
                <a:solidFill>
                  <a:srgbClr val="FFFFFF"/>
                </a:solidFill>
                <a:latin typeface="Arial"/>
                <a:ea typeface="Arial"/>
                <a:cs typeface="Arial"/>
                <a:sym typeface="Arial"/>
              </a:rPr>
              <a:t>VIDEO</a:t>
            </a:r>
            <a:endParaRPr/>
          </a:p>
        </p:txBody>
      </p:sp>
      <p:pic>
        <p:nvPicPr>
          <p:cNvPr id="267" name="Google Shape;267;p12"/>
          <p:cNvPicPr preferRelativeResize="0"/>
          <p:nvPr/>
        </p:nvPicPr>
        <p:blipFill rotWithShape="1">
          <a:blip r:embed="rId3">
            <a:alphaModFix/>
          </a:blip>
          <a:srcRect b="0" l="0" r="0" t="0"/>
          <a:stretch/>
        </p:blipFill>
        <p:spPr>
          <a:xfrm>
            <a:off x="3653314" y="2057400"/>
            <a:ext cx="10981372" cy="61722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32232"/>
        </a:solidFill>
      </p:bgPr>
    </p:bg>
    <p:spTree>
      <p:nvGrpSpPr>
        <p:cNvPr id="271" name="Shape 271"/>
        <p:cNvGrpSpPr/>
        <p:nvPr/>
      </p:nvGrpSpPr>
      <p:grpSpPr>
        <a:xfrm>
          <a:off x="0" y="0"/>
          <a:ext cx="0" cy="0"/>
          <a:chOff x="0" y="0"/>
          <a:chExt cx="0" cy="0"/>
        </a:xfrm>
      </p:grpSpPr>
      <p:sp>
        <p:nvSpPr>
          <p:cNvPr id="272" name="Google Shape;272;p13"/>
          <p:cNvSpPr txBox="1"/>
          <p:nvPr/>
        </p:nvSpPr>
        <p:spPr>
          <a:xfrm>
            <a:off x="3337739" y="4253677"/>
            <a:ext cx="11612523" cy="1114428"/>
          </a:xfrm>
          <a:prstGeom prst="rect">
            <a:avLst/>
          </a:prstGeom>
          <a:noFill/>
          <a:ln>
            <a:noFill/>
          </a:ln>
        </p:spPr>
        <p:txBody>
          <a:bodyPr anchorCtr="0" anchor="t" bIns="0" lIns="0" spcFirstLastPara="1" rIns="0" wrap="square" tIns="0">
            <a:spAutoFit/>
          </a:bodyPr>
          <a:lstStyle/>
          <a:p>
            <a:pPr indent="0" lvl="0" marL="0" marR="0" rtl="0" algn="ctr">
              <a:lnSpc>
                <a:spcPct val="145007"/>
              </a:lnSpc>
              <a:spcBef>
                <a:spcPts val="0"/>
              </a:spcBef>
              <a:spcAft>
                <a:spcPts val="0"/>
              </a:spcAft>
              <a:buNone/>
            </a:pPr>
            <a:r>
              <a:rPr b="0" i="0" lang="en-US" sz="6299" u="none" cap="none" strike="noStrike">
                <a:solidFill>
                  <a:srgbClr val="FFFFFF"/>
                </a:solidFill>
                <a:latin typeface="Arial"/>
                <a:ea typeface="Arial"/>
                <a:cs typeface="Arial"/>
                <a:sym typeface="Arial"/>
              </a:rPr>
              <a:t>GRACIAS POR SU ATENCIÓN</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cp:coreProperties>
</file>