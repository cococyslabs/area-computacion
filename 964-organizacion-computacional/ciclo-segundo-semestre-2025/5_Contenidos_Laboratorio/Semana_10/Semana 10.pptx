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18288000" cy="10287000"/>
  <p:embeddedFontLst>
    <p:embeddedFont>
      <p:font typeface="Tahoma"/>
      <p:regular r:id="rId26"/>
      <p:bold r:id="rId27"/>
    </p:embeddedFon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EDE1wrTuth0FEHiueN/ren4hU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homa-regular.fntdata"/><Relationship Id="rId25" Type="http://schemas.openxmlformats.org/officeDocument/2006/relationships/slide" Target="slides/slide20.xml"/><Relationship Id="rId28" Type="http://schemas.openxmlformats.org/officeDocument/2006/relationships/font" Target="fonts/ArialBlack-regular.fntdata"/><Relationship Id="rId27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1023bc74a_0_0:notes"/>
          <p:cNvSpPr txBox="1"/>
          <p:nvPr>
            <p:ph idx="1" type="body"/>
          </p:nvPr>
        </p:nvSpPr>
        <p:spPr>
          <a:xfrm>
            <a:off x="1828800" y="4950619"/>
            <a:ext cx="146304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8" name="Google Shape;48;g3a1023bc74a_0_0:notes"/>
          <p:cNvSpPr/>
          <p:nvPr>
            <p:ph idx="2" type="sldImg"/>
          </p:nvPr>
        </p:nvSpPr>
        <p:spPr>
          <a:xfrm>
            <a:off x="1828800" y="1285875"/>
            <a:ext cx="14630400" cy="34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" type="body"/>
          </p:nvPr>
        </p:nvSpPr>
        <p:spPr>
          <a:xfrm>
            <a:off x="1155005" y="2185441"/>
            <a:ext cx="7587615" cy="2875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1501944" y="3213143"/>
            <a:ext cx="759333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9820022" y="3163957"/>
            <a:ext cx="7552055" cy="5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1023bc74a_0_8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a1023bc74a_0_8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a1023bc74a_0_8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0" y="0"/>
            <a:ext cx="717550" cy="10287000"/>
          </a:xfrm>
          <a:custGeom>
            <a:rect b="b" l="l" r="r" t="t"/>
            <a:pathLst>
              <a:path extrusionOk="0" h="10287000" w="717550">
                <a:moveTo>
                  <a:pt x="0" y="10286999"/>
                </a:moveTo>
                <a:lnTo>
                  <a:pt x="717142" y="10286999"/>
                </a:lnTo>
                <a:lnTo>
                  <a:pt x="717142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EEED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0"/>
          <p:cNvSpPr/>
          <p:nvPr/>
        </p:nvSpPr>
        <p:spPr>
          <a:xfrm>
            <a:off x="1060042" y="0"/>
            <a:ext cx="17228185" cy="10287000"/>
          </a:xfrm>
          <a:custGeom>
            <a:rect b="b" l="l" r="r" t="t"/>
            <a:pathLst>
              <a:path extrusionOk="0" h="10287000" w="17228185">
                <a:moveTo>
                  <a:pt x="0" y="10286999"/>
                </a:moveTo>
                <a:lnTo>
                  <a:pt x="17227956" y="10286999"/>
                </a:lnTo>
                <a:lnTo>
                  <a:pt x="17227956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EEED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0"/>
          <p:cNvSpPr/>
          <p:nvPr/>
        </p:nvSpPr>
        <p:spPr>
          <a:xfrm>
            <a:off x="717142" y="564"/>
            <a:ext cx="342900" cy="10287000"/>
          </a:xfrm>
          <a:custGeom>
            <a:rect b="b" l="l" r="r" t="t"/>
            <a:pathLst>
              <a:path extrusionOk="0" h="10287000" w="342900">
                <a:moveTo>
                  <a:pt x="3428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342899" y="0"/>
                </a:lnTo>
                <a:lnTo>
                  <a:pt x="342899" y="10286999"/>
                </a:lnTo>
                <a:close/>
              </a:path>
            </a:pathLst>
          </a:custGeom>
          <a:solidFill>
            <a:srgbClr val="191B0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20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0"/>
          <p:cNvSpPr txBox="1"/>
          <p:nvPr>
            <p:ph idx="1" type="body"/>
          </p:nvPr>
        </p:nvSpPr>
        <p:spPr>
          <a:xfrm>
            <a:off x="1155005" y="2185441"/>
            <a:ext cx="7587615" cy="2875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hyperlink" Target="https://youtu.be/GGvSezVkL9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arduino.cc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g3a1023bc74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g3a1023bc74a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TUTOR: </a:t>
            </a:r>
            <a:endParaRPr/>
          </a:p>
        </p:txBody>
      </p:sp>
      <p:sp>
        <p:nvSpPr>
          <p:cNvPr id="52" name="Google Shape;52;g3a1023bc74a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Computacional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a1023bc74a_0_0"/>
          <p:cNvSpPr/>
          <p:nvPr/>
        </p:nvSpPr>
        <p:spPr>
          <a:xfrm>
            <a:off x="13640938" y="1924978"/>
            <a:ext cx="4396200" cy="8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a1023bc74a_0_0"/>
          <p:cNvSpPr/>
          <p:nvPr/>
        </p:nvSpPr>
        <p:spPr>
          <a:xfrm>
            <a:off x="13640938" y="2757947"/>
            <a:ext cx="4396200" cy="8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41309" y="0"/>
            <a:ext cx="5746690" cy="171177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1471249" y="5149125"/>
            <a:ext cx="57468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318135" lvl="0" marL="12700" marR="508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 Black"/>
                <a:ea typeface="Arial Black"/>
                <a:cs typeface="Arial Black"/>
                <a:sym typeface="Arial Black"/>
              </a:rPr>
              <a:t>Organización Computacional</a:t>
            </a:r>
            <a:endParaRPr sz="5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1" name="Google Shape;61;p1"/>
          <p:cNvSpPr txBox="1"/>
          <p:nvPr>
            <p:ph type="title"/>
          </p:nvPr>
        </p:nvSpPr>
        <p:spPr>
          <a:xfrm>
            <a:off x="2776725" y="972825"/>
            <a:ext cx="11074800" cy="3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94839" lvl="0" marL="1906904" marR="508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latin typeface="Arial Black"/>
                <a:ea typeface="Arial Black"/>
                <a:cs typeface="Arial Black"/>
                <a:sym typeface="Arial Black"/>
              </a:rPr>
              <a:t>Introducci</a:t>
            </a:r>
            <a:r>
              <a:rPr lang="en-US" sz="9200">
                <a:latin typeface="Arial Black"/>
                <a:ea typeface="Arial Black"/>
                <a:cs typeface="Arial Black"/>
                <a:sym typeface="Arial Black"/>
              </a:rPr>
              <a:t>ón </a:t>
            </a:r>
            <a:r>
              <a:rPr lang="en-US" sz="9200">
                <a:latin typeface="Arial Black"/>
                <a:ea typeface="Arial Black"/>
                <a:cs typeface="Arial Black"/>
                <a:sym typeface="Arial Black"/>
              </a:rPr>
              <a:t>a Arduino</a:t>
            </a:r>
            <a:endParaRPr sz="92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245123" y="7661013"/>
            <a:ext cx="70041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270" lvl="0" marL="12700" marR="5080" rtl="0" algn="l">
              <a:lnSpc>
                <a:spcPct val="12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31416"/>
                </a:solidFill>
                <a:latin typeface="Arial Black"/>
                <a:ea typeface="Arial Black"/>
                <a:cs typeface="Arial Black"/>
                <a:sym typeface="Arial Black"/>
              </a:rPr>
              <a:t>Escuela de Ingeniería de Ciencias Y Sistemas Facultad de Ingeniería</a:t>
            </a:r>
            <a:endParaRPr sz="25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64769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31416"/>
                </a:solidFill>
                <a:latin typeface="Arial Black"/>
                <a:ea typeface="Arial Black"/>
                <a:cs typeface="Arial Black"/>
                <a:sym typeface="Arial Black"/>
              </a:rPr>
              <a:t>Universidad de San Carlos de Guatemala</a:t>
            </a:r>
            <a:endParaRPr sz="25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1651370" y="4837155"/>
            <a:ext cx="9605010" cy="666750"/>
          </a:xfrm>
          <a:custGeom>
            <a:rect b="b" l="l" r="r" t="t"/>
            <a:pathLst>
              <a:path extrusionOk="0" h="666750" w="9605010">
                <a:moveTo>
                  <a:pt x="8610930" y="666406"/>
                </a:moveTo>
                <a:lnTo>
                  <a:pt x="0" y="666406"/>
                </a:lnTo>
                <a:lnTo>
                  <a:pt x="0" y="0"/>
                </a:lnTo>
                <a:lnTo>
                  <a:pt x="8610930" y="0"/>
                </a:lnTo>
                <a:lnTo>
                  <a:pt x="9604524" y="333204"/>
                </a:lnTo>
                <a:lnTo>
                  <a:pt x="8610930" y="66640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3148375" y="4903299"/>
            <a:ext cx="7325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Funcionamiento y partes de un Arduino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2"/>
          <p:cNvGrpSpPr/>
          <p:nvPr/>
        </p:nvGrpSpPr>
        <p:grpSpPr>
          <a:xfrm>
            <a:off x="2353406" y="3318554"/>
            <a:ext cx="4956940" cy="2109674"/>
            <a:chOff x="2353406" y="3318554"/>
            <a:chExt cx="4956940" cy="2109674"/>
          </a:xfrm>
        </p:grpSpPr>
        <p:pic>
          <p:nvPicPr>
            <p:cNvPr id="70" name="Google Shape;7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3406" y="4878135"/>
              <a:ext cx="453358" cy="5500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2"/>
            <p:cNvSpPr/>
            <p:nvPr/>
          </p:nvSpPr>
          <p:spPr>
            <a:xfrm>
              <a:off x="3194911" y="3318554"/>
              <a:ext cx="4115435" cy="1122045"/>
            </a:xfrm>
            <a:custGeom>
              <a:rect b="b" l="l" r="r" t="t"/>
              <a:pathLst>
                <a:path extrusionOk="0" h="1122045" w="4115434">
                  <a:moveTo>
                    <a:pt x="3343664" y="1121550"/>
                  </a:moveTo>
                  <a:lnTo>
                    <a:pt x="0" y="1121550"/>
                  </a:lnTo>
                  <a:lnTo>
                    <a:pt x="0" y="0"/>
                  </a:lnTo>
                  <a:lnTo>
                    <a:pt x="3343664" y="0"/>
                  </a:lnTo>
                  <a:lnTo>
                    <a:pt x="4115189" y="560775"/>
                  </a:lnTo>
                  <a:lnTo>
                    <a:pt x="3343664" y="11215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 txBox="1"/>
          <p:nvPr/>
        </p:nvSpPr>
        <p:spPr>
          <a:xfrm>
            <a:off x="3469411" y="3599293"/>
            <a:ext cx="31286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RECORDATORIOS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2"/>
          <p:cNvGrpSpPr/>
          <p:nvPr/>
        </p:nvGrpSpPr>
        <p:grpSpPr>
          <a:xfrm>
            <a:off x="2126506" y="3232617"/>
            <a:ext cx="14966984" cy="2077085"/>
            <a:chOff x="2126506" y="3232617"/>
            <a:chExt cx="14966984" cy="2077085"/>
          </a:xfrm>
        </p:grpSpPr>
        <p:pic>
          <p:nvPicPr>
            <p:cNvPr id="74" name="Google Shape;74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26506" y="3567429"/>
              <a:ext cx="753891" cy="872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2"/>
            <p:cNvSpPr/>
            <p:nvPr/>
          </p:nvSpPr>
          <p:spPr>
            <a:xfrm>
              <a:off x="11739805" y="3232617"/>
              <a:ext cx="5353685" cy="2077085"/>
            </a:xfrm>
            <a:custGeom>
              <a:rect b="b" l="l" r="r" t="t"/>
              <a:pathLst>
                <a:path extrusionOk="0" h="2077085" w="5353684">
                  <a:moveTo>
                    <a:pt x="4582120" y="2076800"/>
                  </a:moveTo>
                  <a:lnTo>
                    <a:pt x="0" y="2076800"/>
                  </a:lnTo>
                  <a:lnTo>
                    <a:pt x="0" y="0"/>
                  </a:lnTo>
                  <a:lnTo>
                    <a:pt x="4582120" y="0"/>
                  </a:lnTo>
                  <a:lnTo>
                    <a:pt x="5353645" y="1038400"/>
                  </a:lnTo>
                  <a:lnTo>
                    <a:pt x="4582120" y="20768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2"/>
          <p:cNvSpPr txBox="1"/>
          <p:nvPr/>
        </p:nvSpPr>
        <p:spPr>
          <a:xfrm>
            <a:off x="639050" y="402000"/>
            <a:ext cx="68784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>
            <p:ph type="title"/>
          </p:nvPr>
        </p:nvSpPr>
        <p:spPr>
          <a:xfrm>
            <a:off x="10093303" y="301875"/>
            <a:ext cx="82893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latin typeface="Tahoma"/>
                <a:ea typeface="Tahoma"/>
                <a:cs typeface="Tahoma"/>
                <a:sym typeface="Tahoma"/>
              </a:rPr>
              <a:t>Recursos</a:t>
            </a:r>
            <a:endParaRPr sz="1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2374581" y="3064729"/>
            <a:ext cx="3602990" cy="2055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65430" lvl="0" marL="277495" marR="508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Link del Video </a:t>
            </a:r>
            <a:r>
              <a:rPr lang="en-US" sz="4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Actuadores</a:t>
            </a:r>
            <a:r>
              <a:rPr lang="en-US" sz="4500">
                <a:latin typeface="Arial"/>
                <a:ea typeface="Arial"/>
                <a:cs typeface="Arial"/>
                <a:sym typeface="Arial"/>
              </a:rPr>
              <a:t>: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651368" y="5732309"/>
            <a:ext cx="9616440" cy="2600325"/>
          </a:xfrm>
          <a:custGeom>
            <a:rect b="b" l="l" r="r" t="t"/>
            <a:pathLst>
              <a:path extrusionOk="0" h="2600325" w="9616440">
                <a:moveTo>
                  <a:pt x="4613541" y="2267026"/>
                </a:moveTo>
                <a:lnTo>
                  <a:pt x="4136275" y="1933829"/>
                </a:lnTo>
                <a:lnTo>
                  <a:pt x="0" y="1933829"/>
                </a:lnTo>
                <a:lnTo>
                  <a:pt x="0" y="2600236"/>
                </a:lnTo>
                <a:lnTo>
                  <a:pt x="4136275" y="2600236"/>
                </a:lnTo>
                <a:lnTo>
                  <a:pt x="4613541" y="2267026"/>
                </a:lnTo>
                <a:close/>
              </a:path>
              <a:path extrusionOk="0" h="2600325" w="9616440">
                <a:moveTo>
                  <a:pt x="9616389" y="1343444"/>
                </a:moveTo>
                <a:lnTo>
                  <a:pt x="8621573" y="1010246"/>
                </a:lnTo>
                <a:lnTo>
                  <a:pt x="0" y="1010246"/>
                </a:lnTo>
                <a:lnTo>
                  <a:pt x="0" y="1676654"/>
                </a:lnTo>
                <a:lnTo>
                  <a:pt x="8621573" y="1676654"/>
                </a:lnTo>
                <a:lnTo>
                  <a:pt x="9616389" y="1343444"/>
                </a:lnTo>
                <a:close/>
              </a:path>
              <a:path extrusionOk="0" h="2600325" w="9616440">
                <a:moveTo>
                  <a:pt x="9616389" y="333209"/>
                </a:moveTo>
                <a:lnTo>
                  <a:pt x="8622805" y="0"/>
                </a:lnTo>
                <a:lnTo>
                  <a:pt x="11874" y="0"/>
                </a:lnTo>
                <a:lnTo>
                  <a:pt x="11874" y="666407"/>
                </a:lnTo>
                <a:lnTo>
                  <a:pt x="8622805" y="666407"/>
                </a:lnTo>
                <a:lnTo>
                  <a:pt x="9616389" y="3332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3120850" y="5758375"/>
            <a:ext cx="69726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Código de Arduino y su implementación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4765" lvl="0" marL="80010" marR="5080" rtl="0" algn="l">
              <a:lnSpc>
                <a:spcPct val="2091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Protocolos de Comunicación (Serial, I2C, SPI) Actuadores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2"/>
          <p:cNvGrpSpPr/>
          <p:nvPr/>
        </p:nvGrpSpPr>
        <p:grpSpPr>
          <a:xfrm>
            <a:off x="2353406" y="5760974"/>
            <a:ext cx="453358" cy="2531448"/>
            <a:chOff x="2353406" y="5760974"/>
            <a:chExt cx="453358" cy="2531448"/>
          </a:xfrm>
        </p:grpSpPr>
        <p:pic>
          <p:nvPicPr>
            <p:cNvPr id="82" name="Google Shape;8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3406" y="5760974"/>
              <a:ext cx="453358" cy="550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3406" y="6742547"/>
              <a:ext cx="453358" cy="550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3406" y="7742329"/>
              <a:ext cx="453358" cy="5500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1362189" y="610686"/>
            <a:ext cx="12513945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COMPETENCIA(S) QUE DESARROLLAREMOS</a:t>
            </a:r>
            <a:endParaRPr sz="6100"/>
          </a:p>
        </p:txBody>
      </p:sp>
      <p:sp>
        <p:nvSpPr>
          <p:cNvPr id="90" name="Google Shape;90;p3"/>
          <p:cNvSpPr txBox="1"/>
          <p:nvPr/>
        </p:nvSpPr>
        <p:spPr>
          <a:xfrm>
            <a:off x="3021235" y="2678654"/>
            <a:ext cx="479044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87044" lvl="0" marL="4997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131416"/>
                </a:solidFill>
                <a:latin typeface="Lucida Sans"/>
                <a:ea typeface="Lucida Sans"/>
                <a:cs typeface="Lucida Sans"/>
                <a:sym typeface="Lucida Sans"/>
              </a:rPr>
              <a:t>El	estudiante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3508935" y="3349213"/>
            <a:ext cx="4959350" cy="190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31416"/>
                </a:solidFill>
                <a:latin typeface="Lucida Sans"/>
                <a:ea typeface="Lucida Sans"/>
                <a:cs typeface="Lucida Sans"/>
                <a:sym typeface="Lucida Sans"/>
              </a:rPr>
              <a:t>interactivos		con sensores	y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8468275" y="2539950"/>
            <a:ext cx="4181100" cy="23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65150" lvl="0" marL="7645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31416"/>
                </a:solidFill>
                <a:latin typeface="Lucida Sans"/>
                <a:ea typeface="Lucida Sans"/>
                <a:cs typeface="Lucida Sans"/>
                <a:sym typeface="Lucida Sans"/>
              </a:rPr>
              <a:t>implementa Arduino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1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31416"/>
                </a:solidFill>
                <a:latin typeface="Lucida Sans"/>
                <a:ea typeface="Lucida Sans"/>
                <a:cs typeface="Lucida Sans"/>
                <a:sym typeface="Lucida Sans"/>
              </a:rPr>
              <a:t>actuadores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12458824" y="2410375"/>
            <a:ext cx="3149700" cy="25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577215" lvl="0" marL="12700" marR="508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31416"/>
                </a:solidFill>
                <a:latin typeface="Lucida Sans"/>
                <a:ea typeface="Lucida Sans"/>
                <a:cs typeface="Lucida Sans"/>
                <a:sym typeface="Lucida Sans"/>
              </a:rPr>
              <a:t>sistemas integrando mediante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601410" y="5111300"/>
            <a:ext cx="118326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31416"/>
                </a:solidFill>
                <a:latin typeface="Lucida Sans"/>
                <a:ea typeface="Lucida Sans"/>
                <a:cs typeface="Lucida Sans"/>
                <a:sym typeface="Lucida Sans"/>
              </a:rPr>
              <a:t>programación  en  Arduino  IDE  y  montaje físico  de  circuitos   para  monitorear  y controlar variables del entorno en tiempo real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1060042" y="0"/>
            <a:ext cx="17228185" cy="10287000"/>
          </a:xfrm>
          <a:custGeom>
            <a:rect b="b" l="l" r="r" t="t"/>
            <a:pathLst>
              <a:path extrusionOk="0" h="10287000" w="17228185">
                <a:moveTo>
                  <a:pt x="0" y="10286999"/>
                </a:moveTo>
                <a:lnTo>
                  <a:pt x="17227956" y="10286999"/>
                </a:lnTo>
                <a:lnTo>
                  <a:pt x="17227956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EEED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0" y="0"/>
            <a:ext cx="717550" cy="10287000"/>
          </a:xfrm>
          <a:custGeom>
            <a:rect b="b" l="l" r="r" t="t"/>
            <a:pathLst>
              <a:path extrusionOk="0" h="10287000" w="717550">
                <a:moveTo>
                  <a:pt x="0" y="10286999"/>
                </a:moveTo>
                <a:lnTo>
                  <a:pt x="717142" y="10286999"/>
                </a:lnTo>
                <a:lnTo>
                  <a:pt x="717142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EEED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0150">
            <a:spAutoFit/>
          </a:bodyPr>
          <a:lstStyle/>
          <a:p>
            <a:pPr indent="0" lvl="0" marL="45745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91B0D"/>
                </a:solidFill>
                <a:latin typeface="Tahoma"/>
                <a:ea typeface="Tahoma"/>
                <a:cs typeface="Tahoma"/>
                <a:sym typeface="Tahoma"/>
              </a:rPr>
              <a:t>Introducción a Arduino</a:t>
            </a:r>
            <a:endParaRPr sz="4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9"/>
            <a:ext cx="6560318" cy="1028755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 txBox="1"/>
          <p:nvPr/>
        </p:nvSpPr>
        <p:spPr>
          <a:xfrm>
            <a:off x="7684635" y="3417214"/>
            <a:ext cx="9013190" cy="349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-424179" lvl="0" marL="436244" marR="5080" rtl="0" algn="l">
              <a:lnSpc>
                <a:spcPct val="112633"/>
              </a:lnSpc>
              <a:spcBef>
                <a:spcPts val="0"/>
              </a:spcBef>
              <a:spcAft>
                <a:spcPts val="0"/>
              </a:spcAft>
              <a:buClr>
                <a:srgbClr val="191B0D"/>
              </a:buClr>
              <a:buSzPts val="3000"/>
              <a:buFont typeface="Arial"/>
              <a:buChar char="■"/>
            </a:pPr>
            <a:r>
              <a:rPr lang="en-US" sz="3000">
                <a:solidFill>
                  <a:srgbClr val="191B0D"/>
                </a:solidFill>
                <a:latin typeface="Tahoma"/>
                <a:ea typeface="Tahoma"/>
                <a:cs typeface="Tahoma"/>
                <a:sym typeface="Tahoma"/>
              </a:rPr>
              <a:t>Arduino es una plataforma de hardware y software de código abierto, diseñada para facilitar el desarrollo de proyectos electrónicos. Es una herramienta versátil y económica que permite a usuarios de todos los niveles crear una amplia variedad de dispositivos, desde simples controladores hasta complejos sistemas robóticos.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2130425" y="932057"/>
            <a:ext cx="10770870" cy="10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191B0D"/>
                </a:solidFill>
                <a:latin typeface="Tahoma"/>
                <a:ea typeface="Tahoma"/>
                <a:cs typeface="Tahoma"/>
                <a:sym typeface="Tahoma"/>
              </a:rPr>
              <a:t>Funcionamiento de Arduino</a:t>
            </a:r>
            <a:endParaRPr sz="66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9" name="Google Shape;109;p5"/>
          <p:cNvGrpSpPr/>
          <p:nvPr/>
        </p:nvGrpSpPr>
        <p:grpSpPr>
          <a:xfrm>
            <a:off x="1190356" y="2820024"/>
            <a:ext cx="638175" cy="638175"/>
            <a:chOff x="1190356" y="2820024"/>
            <a:chExt cx="638175" cy="638175"/>
          </a:xfrm>
        </p:grpSpPr>
        <p:sp>
          <p:nvSpPr>
            <p:cNvPr id="110" name="Google Shape;110;p5"/>
            <p:cNvSpPr/>
            <p:nvPr/>
          </p:nvSpPr>
          <p:spPr>
            <a:xfrm>
              <a:off x="1190356" y="2820024"/>
              <a:ext cx="638175" cy="638175"/>
            </a:xfrm>
            <a:custGeom>
              <a:rect b="b" l="l" r="r" t="t"/>
              <a:pathLst>
                <a:path extrusionOk="0" h="638175" w="638175">
                  <a:moveTo>
                    <a:pt x="518792" y="637877"/>
                  </a:moveTo>
                  <a:lnTo>
                    <a:pt x="119085" y="637877"/>
                  </a:lnTo>
                  <a:lnTo>
                    <a:pt x="72732" y="628519"/>
                  </a:lnTo>
                  <a:lnTo>
                    <a:pt x="34879" y="602998"/>
                  </a:lnTo>
                  <a:lnTo>
                    <a:pt x="9358" y="565146"/>
                  </a:lnTo>
                  <a:lnTo>
                    <a:pt x="0" y="518792"/>
                  </a:lnTo>
                  <a:lnTo>
                    <a:pt x="0" y="119085"/>
                  </a:lnTo>
                  <a:lnTo>
                    <a:pt x="9358" y="72732"/>
                  </a:lnTo>
                  <a:lnTo>
                    <a:pt x="34879" y="34879"/>
                  </a:lnTo>
                  <a:lnTo>
                    <a:pt x="72732" y="9358"/>
                  </a:lnTo>
                  <a:lnTo>
                    <a:pt x="119085" y="0"/>
                  </a:lnTo>
                  <a:lnTo>
                    <a:pt x="518792" y="0"/>
                  </a:lnTo>
                  <a:lnTo>
                    <a:pt x="564364" y="9064"/>
                  </a:lnTo>
                  <a:lnTo>
                    <a:pt x="602998" y="34879"/>
                  </a:lnTo>
                  <a:lnTo>
                    <a:pt x="628813" y="73513"/>
                  </a:lnTo>
                  <a:lnTo>
                    <a:pt x="637877" y="119085"/>
                  </a:lnTo>
                  <a:lnTo>
                    <a:pt x="637877" y="518792"/>
                  </a:lnTo>
                  <a:lnTo>
                    <a:pt x="628519" y="565146"/>
                  </a:lnTo>
                  <a:lnTo>
                    <a:pt x="602998" y="602998"/>
                  </a:lnTo>
                  <a:lnTo>
                    <a:pt x="565145" y="628519"/>
                  </a:lnTo>
                  <a:lnTo>
                    <a:pt x="518792" y="6378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190356" y="2820024"/>
              <a:ext cx="638175" cy="638175"/>
            </a:xfrm>
            <a:custGeom>
              <a:rect b="b" l="l" r="r" t="t"/>
              <a:pathLst>
                <a:path extrusionOk="0" h="638175" w="638175">
                  <a:moveTo>
                    <a:pt x="0" y="119085"/>
                  </a:moveTo>
                  <a:lnTo>
                    <a:pt x="9358" y="72732"/>
                  </a:lnTo>
                  <a:lnTo>
                    <a:pt x="34879" y="34879"/>
                  </a:lnTo>
                  <a:lnTo>
                    <a:pt x="72732" y="9358"/>
                  </a:lnTo>
                  <a:lnTo>
                    <a:pt x="119085" y="0"/>
                  </a:lnTo>
                  <a:lnTo>
                    <a:pt x="518792" y="0"/>
                  </a:lnTo>
                  <a:lnTo>
                    <a:pt x="564364" y="9064"/>
                  </a:lnTo>
                  <a:lnTo>
                    <a:pt x="602998" y="34879"/>
                  </a:lnTo>
                  <a:lnTo>
                    <a:pt x="628813" y="73513"/>
                  </a:lnTo>
                  <a:lnTo>
                    <a:pt x="637877" y="119085"/>
                  </a:lnTo>
                  <a:lnTo>
                    <a:pt x="637877" y="518792"/>
                  </a:lnTo>
                  <a:lnTo>
                    <a:pt x="628519" y="565146"/>
                  </a:lnTo>
                  <a:lnTo>
                    <a:pt x="602998" y="602998"/>
                  </a:lnTo>
                  <a:lnTo>
                    <a:pt x="565145" y="628519"/>
                  </a:lnTo>
                  <a:lnTo>
                    <a:pt x="518792" y="637877"/>
                  </a:lnTo>
                  <a:lnTo>
                    <a:pt x="119085" y="637877"/>
                  </a:lnTo>
                  <a:lnTo>
                    <a:pt x="72732" y="628519"/>
                  </a:lnTo>
                  <a:lnTo>
                    <a:pt x="34879" y="602998"/>
                  </a:lnTo>
                  <a:lnTo>
                    <a:pt x="9358" y="565146"/>
                  </a:lnTo>
                  <a:lnTo>
                    <a:pt x="0" y="518792"/>
                  </a:lnTo>
                  <a:lnTo>
                    <a:pt x="0" y="119085"/>
                  </a:lnTo>
                  <a:close/>
                </a:path>
              </a:pathLst>
            </a:custGeom>
            <a:noFill/>
            <a:ln cap="flat" cmpd="sng" w="34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5"/>
          <p:cNvSpPr txBox="1"/>
          <p:nvPr/>
        </p:nvSpPr>
        <p:spPr>
          <a:xfrm>
            <a:off x="1415604" y="2896760"/>
            <a:ext cx="187960" cy="5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Tahoma"/>
                <a:ea typeface="Tahoma"/>
                <a:cs typeface="Tahoma"/>
                <a:sym typeface="Tahoma"/>
              </a:rPr>
              <a:t>1</a:t>
            </a:r>
            <a:endParaRPr sz="33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2099052" y="2793355"/>
            <a:ext cx="4341600" cy="6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Microcontroladores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99069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El corazón de un panel Arduino es un microcontrolador, un chip que contiene una unidad de procesamiento, memoria y periféricos integrados. Este microcontrolador ejecuta las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instrucciones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del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 programa cargado en la placa para controlar y monitorear los componentes conectados..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4" name="Google Shape;114;p5"/>
          <p:cNvGrpSpPr/>
          <p:nvPr/>
        </p:nvGrpSpPr>
        <p:grpSpPr>
          <a:xfrm>
            <a:off x="6719321" y="2820024"/>
            <a:ext cx="638175" cy="638175"/>
            <a:chOff x="6719321" y="2820024"/>
            <a:chExt cx="638175" cy="638175"/>
          </a:xfrm>
        </p:grpSpPr>
        <p:sp>
          <p:nvSpPr>
            <p:cNvPr id="115" name="Google Shape;115;p5"/>
            <p:cNvSpPr/>
            <p:nvPr/>
          </p:nvSpPr>
          <p:spPr>
            <a:xfrm>
              <a:off x="6719321" y="2820024"/>
              <a:ext cx="638175" cy="638175"/>
            </a:xfrm>
            <a:custGeom>
              <a:rect b="b" l="l" r="r" t="t"/>
              <a:pathLst>
                <a:path extrusionOk="0" h="638175" w="638175">
                  <a:moveTo>
                    <a:pt x="518792" y="637877"/>
                  </a:moveTo>
                  <a:lnTo>
                    <a:pt x="119085" y="637877"/>
                  </a:lnTo>
                  <a:lnTo>
                    <a:pt x="72731" y="628519"/>
                  </a:lnTo>
                  <a:lnTo>
                    <a:pt x="34879" y="602998"/>
                  </a:lnTo>
                  <a:lnTo>
                    <a:pt x="9358" y="565146"/>
                  </a:lnTo>
                  <a:lnTo>
                    <a:pt x="0" y="518792"/>
                  </a:lnTo>
                  <a:lnTo>
                    <a:pt x="0" y="119085"/>
                  </a:lnTo>
                  <a:lnTo>
                    <a:pt x="9358" y="72732"/>
                  </a:lnTo>
                  <a:lnTo>
                    <a:pt x="34879" y="34879"/>
                  </a:lnTo>
                  <a:lnTo>
                    <a:pt x="72731" y="9358"/>
                  </a:lnTo>
                  <a:lnTo>
                    <a:pt x="119085" y="0"/>
                  </a:lnTo>
                  <a:lnTo>
                    <a:pt x="518792" y="0"/>
                  </a:lnTo>
                  <a:lnTo>
                    <a:pt x="564364" y="9064"/>
                  </a:lnTo>
                  <a:lnTo>
                    <a:pt x="602997" y="34879"/>
                  </a:lnTo>
                  <a:lnTo>
                    <a:pt x="628813" y="73513"/>
                  </a:lnTo>
                  <a:lnTo>
                    <a:pt x="637877" y="119085"/>
                  </a:lnTo>
                  <a:lnTo>
                    <a:pt x="637877" y="518792"/>
                  </a:lnTo>
                  <a:lnTo>
                    <a:pt x="628519" y="565146"/>
                  </a:lnTo>
                  <a:lnTo>
                    <a:pt x="602998" y="602998"/>
                  </a:lnTo>
                  <a:lnTo>
                    <a:pt x="565146" y="628519"/>
                  </a:lnTo>
                  <a:lnTo>
                    <a:pt x="518792" y="6378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6719321" y="2820024"/>
              <a:ext cx="638175" cy="638175"/>
            </a:xfrm>
            <a:custGeom>
              <a:rect b="b" l="l" r="r" t="t"/>
              <a:pathLst>
                <a:path extrusionOk="0" h="638175" w="638175">
                  <a:moveTo>
                    <a:pt x="0" y="119085"/>
                  </a:moveTo>
                  <a:lnTo>
                    <a:pt x="9358" y="72732"/>
                  </a:lnTo>
                  <a:lnTo>
                    <a:pt x="34879" y="34879"/>
                  </a:lnTo>
                  <a:lnTo>
                    <a:pt x="72731" y="9358"/>
                  </a:lnTo>
                  <a:lnTo>
                    <a:pt x="119085" y="0"/>
                  </a:lnTo>
                  <a:lnTo>
                    <a:pt x="518792" y="0"/>
                  </a:lnTo>
                  <a:lnTo>
                    <a:pt x="564364" y="9064"/>
                  </a:lnTo>
                  <a:lnTo>
                    <a:pt x="602997" y="34879"/>
                  </a:lnTo>
                  <a:lnTo>
                    <a:pt x="628813" y="73513"/>
                  </a:lnTo>
                  <a:lnTo>
                    <a:pt x="637877" y="119085"/>
                  </a:lnTo>
                  <a:lnTo>
                    <a:pt x="637877" y="518792"/>
                  </a:lnTo>
                  <a:lnTo>
                    <a:pt x="628519" y="565146"/>
                  </a:lnTo>
                  <a:lnTo>
                    <a:pt x="602998" y="602998"/>
                  </a:lnTo>
                  <a:lnTo>
                    <a:pt x="565146" y="628519"/>
                  </a:lnTo>
                  <a:lnTo>
                    <a:pt x="518792" y="637877"/>
                  </a:lnTo>
                  <a:lnTo>
                    <a:pt x="119085" y="637877"/>
                  </a:lnTo>
                  <a:lnTo>
                    <a:pt x="72731" y="628519"/>
                  </a:lnTo>
                  <a:lnTo>
                    <a:pt x="34879" y="602998"/>
                  </a:lnTo>
                  <a:lnTo>
                    <a:pt x="9358" y="565146"/>
                  </a:lnTo>
                  <a:lnTo>
                    <a:pt x="0" y="518792"/>
                  </a:lnTo>
                  <a:lnTo>
                    <a:pt x="0" y="119085"/>
                  </a:lnTo>
                  <a:close/>
                </a:path>
              </a:pathLst>
            </a:custGeom>
            <a:noFill/>
            <a:ln cap="flat" cmpd="sng" w="34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5"/>
          <p:cNvSpPr txBox="1"/>
          <p:nvPr/>
        </p:nvSpPr>
        <p:spPr>
          <a:xfrm>
            <a:off x="6907124" y="2896760"/>
            <a:ext cx="262890" cy="5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Tahoma"/>
                <a:ea typeface="Tahoma"/>
                <a:cs typeface="Tahoma"/>
                <a:sym typeface="Tahoma"/>
              </a:rPr>
              <a:t>2</a:t>
            </a:r>
            <a:endParaRPr sz="33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7628017" y="2793355"/>
            <a:ext cx="4330800" cy="5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Entradas y</a:t>
            </a: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 Salidas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71755" rtl="0" algn="l">
              <a:lnSpc>
                <a:spcPct val="199069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Arduino cuenta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con múltiples pines de entrada y salida (E/S) que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permiten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 conectar sensores, actuadores, y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otros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 dispositivos.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Estos pines pueden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recibir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6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Señales eléctricas, enviar órdenes y  transmitir datos, posibilitando la interacción entre el microcontrolador y el mundo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físico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9" name="Google Shape;119;p5"/>
          <p:cNvGrpSpPr/>
          <p:nvPr/>
        </p:nvGrpSpPr>
        <p:grpSpPr>
          <a:xfrm>
            <a:off x="12248285" y="2820024"/>
            <a:ext cx="638175" cy="638175"/>
            <a:chOff x="12248285" y="2820024"/>
            <a:chExt cx="638175" cy="638175"/>
          </a:xfrm>
        </p:grpSpPr>
        <p:sp>
          <p:nvSpPr>
            <p:cNvPr id="120" name="Google Shape;120;p5"/>
            <p:cNvSpPr/>
            <p:nvPr/>
          </p:nvSpPr>
          <p:spPr>
            <a:xfrm>
              <a:off x="12248285" y="2820024"/>
              <a:ext cx="638175" cy="638175"/>
            </a:xfrm>
            <a:custGeom>
              <a:rect b="b" l="l" r="r" t="t"/>
              <a:pathLst>
                <a:path extrusionOk="0" h="638175" w="638175">
                  <a:moveTo>
                    <a:pt x="518792" y="637877"/>
                  </a:moveTo>
                  <a:lnTo>
                    <a:pt x="119084" y="637877"/>
                  </a:lnTo>
                  <a:lnTo>
                    <a:pt x="72731" y="628519"/>
                  </a:lnTo>
                  <a:lnTo>
                    <a:pt x="34879" y="602998"/>
                  </a:lnTo>
                  <a:lnTo>
                    <a:pt x="9358" y="565146"/>
                  </a:lnTo>
                  <a:lnTo>
                    <a:pt x="0" y="518792"/>
                  </a:lnTo>
                  <a:lnTo>
                    <a:pt x="0" y="119085"/>
                  </a:lnTo>
                  <a:lnTo>
                    <a:pt x="9358" y="72732"/>
                  </a:lnTo>
                  <a:lnTo>
                    <a:pt x="34879" y="34879"/>
                  </a:lnTo>
                  <a:lnTo>
                    <a:pt x="72731" y="9358"/>
                  </a:lnTo>
                  <a:lnTo>
                    <a:pt x="119084" y="0"/>
                  </a:lnTo>
                  <a:lnTo>
                    <a:pt x="518792" y="0"/>
                  </a:lnTo>
                  <a:lnTo>
                    <a:pt x="564364" y="9064"/>
                  </a:lnTo>
                  <a:lnTo>
                    <a:pt x="602998" y="34879"/>
                  </a:lnTo>
                  <a:lnTo>
                    <a:pt x="628813" y="73513"/>
                  </a:lnTo>
                  <a:lnTo>
                    <a:pt x="637877" y="119085"/>
                  </a:lnTo>
                  <a:lnTo>
                    <a:pt x="637877" y="518792"/>
                  </a:lnTo>
                  <a:lnTo>
                    <a:pt x="628519" y="565146"/>
                  </a:lnTo>
                  <a:lnTo>
                    <a:pt x="602998" y="602998"/>
                  </a:lnTo>
                  <a:lnTo>
                    <a:pt x="565146" y="628519"/>
                  </a:lnTo>
                  <a:lnTo>
                    <a:pt x="518792" y="6378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12248285" y="2820024"/>
              <a:ext cx="638175" cy="638175"/>
            </a:xfrm>
            <a:custGeom>
              <a:rect b="b" l="l" r="r" t="t"/>
              <a:pathLst>
                <a:path extrusionOk="0" h="638175" w="638175">
                  <a:moveTo>
                    <a:pt x="0" y="119085"/>
                  </a:moveTo>
                  <a:lnTo>
                    <a:pt x="9358" y="72732"/>
                  </a:lnTo>
                  <a:lnTo>
                    <a:pt x="34879" y="34879"/>
                  </a:lnTo>
                  <a:lnTo>
                    <a:pt x="72731" y="9358"/>
                  </a:lnTo>
                  <a:lnTo>
                    <a:pt x="119084" y="0"/>
                  </a:lnTo>
                  <a:lnTo>
                    <a:pt x="518792" y="0"/>
                  </a:lnTo>
                  <a:lnTo>
                    <a:pt x="564364" y="9064"/>
                  </a:lnTo>
                  <a:lnTo>
                    <a:pt x="602998" y="34879"/>
                  </a:lnTo>
                  <a:lnTo>
                    <a:pt x="628813" y="73513"/>
                  </a:lnTo>
                  <a:lnTo>
                    <a:pt x="637877" y="119085"/>
                  </a:lnTo>
                  <a:lnTo>
                    <a:pt x="637877" y="518792"/>
                  </a:lnTo>
                  <a:lnTo>
                    <a:pt x="628519" y="565146"/>
                  </a:lnTo>
                  <a:lnTo>
                    <a:pt x="602998" y="602998"/>
                  </a:lnTo>
                  <a:lnTo>
                    <a:pt x="565146" y="628519"/>
                  </a:lnTo>
                  <a:lnTo>
                    <a:pt x="518792" y="637877"/>
                  </a:lnTo>
                  <a:lnTo>
                    <a:pt x="119084" y="637877"/>
                  </a:lnTo>
                  <a:lnTo>
                    <a:pt x="72731" y="628519"/>
                  </a:lnTo>
                  <a:lnTo>
                    <a:pt x="34879" y="602998"/>
                  </a:lnTo>
                  <a:lnTo>
                    <a:pt x="9358" y="565146"/>
                  </a:lnTo>
                  <a:lnTo>
                    <a:pt x="0" y="518792"/>
                  </a:lnTo>
                  <a:lnTo>
                    <a:pt x="0" y="119085"/>
                  </a:lnTo>
                  <a:close/>
                </a:path>
              </a:pathLst>
            </a:custGeom>
            <a:noFill/>
            <a:ln cap="flat" cmpd="sng" w="34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5"/>
          <p:cNvSpPr txBox="1"/>
          <p:nvPr/>
        </p:nvSpPr>
        <p:spPr>
          <a:xfrm>
            <a:off x="12432017" y="2896760"/>
            <a:ext cx="270510" cy="5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Tahoma"/>
                <a:ea typeface="Tahoma"/>
                <a:cs typeface="Tahoma"/>
                <a:sym typeface="Tahoma"/>
              </a:rPr>
              <a:t>3</a:t>
            </a:r>
            <a:endParaRPr sz="33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3156981" y="2793355"/>
            <a:ext cx="4261500" cy="4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Comunicación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99069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Arduino puede comunicarse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con otros dispositivos y computdoras a través de diversos 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protocolos</a:t>
            </a: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, como Serial, I2C y SPI. Esto permite el interacmbio de información y el control remoto de los proyectos..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2621383" y="959241"/>
            <a:ext cx="13047900" cy="19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156200" lvl="0" marL="5168265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Componentes principales de una placa Arduino</a:t>
            </a:r>
            <a:endParaRPr sz="55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439949" y="3835717"/>
            <a:ext cx="48825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Microcontrolador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657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El cerebro de la placa Arduino es un microcontrolador, como el ATmega328P, que ejecuta las instrucciones del programa cargado. Este chip proporciona la capacidad de procesamiento y control.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6653459" y="3835717"/>
            <a:ext cx="4921200" cy="4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Pines de Entrada/Salida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864235" rtl="0" algn="l">
              <a:lnSpc>
                <a:spcPct val="165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La placa Arduino cuenta con múltiples pines digitales y analógicos que permiten conectar sensores, actuadores y otros componentes.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864235" rtl="0" algn="l">
              <a:lnSpc>
                <a:spcPct val="16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Estos pines son esenciales para interactuar con el mundo físico.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2327384" y="3835717"/>
            <a:ext cx="4676700" cy="5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Interfaz USB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077595" rtl="0" algn="l">
              <a:lnSpc>
                <a:spcPct val="165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La conexión USB de la placa Arduino permite programar y cargar el código, así como también comunicar la placa con una computadora u otros dispositivos.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077595" rtl="0" algn="l">
              <a:lnSpc>
                <a:spcPct val="16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Es el enlace principal para la interacción con el microcontrolador.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343" y="723900"/>
            <a:ext cx="13750151" cy="7700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2382614" y="371808"/>
            <a:ext cx="130557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Introducción a la programación de Arduino</a:t>
            </a:r>
            <a:endParaRPr sz="50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2" name="Google Shape;142;p8"/>
          <p:cNvGrpSpPr/>
          <p:nvPr/>
        </p:nvGrpSpPr>
        <p:grpSpPr>
          <a:xfrm>
            <a:off x="1318463" y="5107863"/>
            <a:ext cx="16061690" cy="1229063"/>
            <a:chOff x="1318463" y="5107863"/>
            <a:chExt cx="16061690" cy="1229063"/>
          </a:xfrm>
        </p:grpSpPr>
        <p:sp>
          <p:nvSpPr>
            <p:cNvPr id="143" name="Google Shape;143;p8"/>
            <p:cNvSpPr/>
            <p:nvPr/>
          </p:nvSpPr>
          <p:spPr>
            <a:xfrm>
              <a:off x="1318463" y="5107863"/>
              <a:ext cx="16061690" cy="937260"/>
            </a:xfrm>
            <a:custGeom>
              <a:rect b="b" l="l" r="r" t="t"/>
              <a:pathLst>
                <a:path extrusionOk="0" h="937260" w="16061690">
                  <a:moveTo>
                    <a:pt x="16061233" y="907872"/>
                  </a:moveTo>
                  <a:lnTo>
                    <a:pt x="16058820" y="902055"/>
                  </a:lnTo>
                  <a:lnTo>
                    <a:pt x="16050248" y="893483"/>
                  </a:lnTo>
                  <a:lnTo>
                    <a:pt x="16044431" y="891082"/>
                  </a:lnTo>
                  <a:lnTo>
                    <a:pt x="3656850" y="891082"/>
                  </a:lnTo>
                  <a:lnTo>
                    <a:pt x="3656850" y="10502"/>
                  </a:lnTo>
                  <a:lnTo>
                    <a:pt x="3655352" y="6858"/>
                  </a:lnTo>
                  <a:lnTo>
                    <a:pt x="3652672" y="4178"/>
                  </a:lnTo>
                  <a:lnTo>
                    <a:pt x="3649992" y="1498"/>
                  </a:lnTo>
                  <a:lnTo>
                    <a:pt x="3646360" y="0"/>
                  </a:lnTo>
                  <a:lnTo>
                    <a:pt x="3634676" y="0"/>
                  </a:lnTo>
                  <a:lnTo>
                    <a:pt x="3628275" y="6400"/>
                  </a:lnTo>
                  <a:lnTo>
                    <a:pt x="3628275" y="14287"/>
                  </a:lnTo>
                  <a:lnTo>
                    <a:pt x="3628275" y="891082"/>
                  </a:lnTo>
                  <a:lnTo>
                    <a:pt x="22860" y="891082"/>
                  </a:lnTo>
                  <a:lnTo>
                    <a:pt x="13957" y="892873"/>
                  </a:lnTo>
                  <a:lnTo>
                    <a:pt x="6692" y="897775"/>
                  </a:lnTo>
                  <a:lnTo>
                    <a:pt x="1790" y="905040"/>
                  </a:lnTo>
                  <a:lnTo>
                    <a:pt x="0" y="913942"/>
                  </a:lnTo>
                  <a:lnTo>
                    <a:pt x="1790" y="922832"/>
                  </a:lnTo>
                  <a:lnTo>
                    <a:pt x="6692" y="930097"/>
                  </a:lnTo>
                  <a:lnTo>
                    <a:pt x="13957" y="934999"/>
                  </a:lnTo>
                  <a:lnTo>
                    <a:pt x="22860" y="936802"/>
                  </a:lnTo>
                  <a:lnTo>
                    <a:pt x="16038373" y="936802"/>
                  </a:lnTo>
                  <a:lnTo>
                    <a:pt x="16047276" y="934999"/>
                  </a:lnTo>
                  <a:lnTo>
                    <a:pt x="16054540" y="930097"/>
                  </a:lnTo>
                  <a:lnTo>
                    <a:pt x="16059430" y="922832"/>
                  </a:lnTo>
                  <a:lnTo>
                    <a:pt x="16061233" y="913942"/>
                  </a:lnTo>
                  <a:lnTo>
                    <a:pt x="16061233" y="907872"/>
                  </a:lnTo>
                  <a:close/>
                </a:path>
              </a:pathLst>
            </a:custGeom>
            <a:solidFill>
              <a:srgbClr val="5555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4683247" y="5752726"/>
              <a:ext cx="584200" cy="584200"/>
            </a:xfrm>
            <a:custGeom>
              <a:rect b="b" l="l" r="r" t="t"/>
              <a:pathLst>
                <a:path extrusionOk="0" h="584200" w="584200">
                  <a:moveTo>
                    <a:pt x="474841" y="583852"/>
                  </a:moveTo>
                  <a:lnTo>
                    <a:pt x="109011" y="583852"/>
                  </a:lnTo>
                  <a:lnTo>
                    <a:pt x="66579" y="575286"/>
                  </a:lnTo>
                  <a:lnTo>
                    <a:pt x="31928" y="551924"/>
                  </a:lnTo>
                  <a:lnTo>
                    <a:pt x="8566" y="517273"/>
                  </a:lnTo>
                  <a:lnTo>
                    <a:pt x="0" y="474841"/>
                  </a:lnTo>
                  <a:lnTo>
                    <a:pt x="0" y="109011"/>
                  </a:lnTo>
                  <a:lnTo>
                    <a:pt x="8566" y="66579"/>
                  </a:lnTo>
                  <a:lnTo>
                    <a:pt x="31928" y="31928"/>
                  </a:lnTo>
                  <a:lnTo>
                    <a:pt x="66579" y="8566"/>
                  </a:lnTo>
                  <a:lnTo>
                    <a:pt x="109011" y="0"/>
                  </a:lnTo>
                  <a:lnTo>
                    <a:pt x="474841" y="0"/>
                  </a:lnTo>
                  <a:lnTo>
                    <a:pt x="516558" y="8297"/>
                  </a:lnTo>
                  <a:lnTo>
                    <a:pt x="551924" y="31928"/>
                  </a:lnTo>
                  <a:lnTo>
                    <a:pt x="575555" y="67294"/>
                  </a:lnTo>
                  <a:lnTo>
                    <a:pt x="583853" y="109011"/>
                  </a:lnTo>
                  <a:lnTo>
                    <a:pt x="583853" y="474841"/>
                  </a:lnTo>
                  <a:lnTo>
                    <a:pt x="575286" y="517273"/>
                  </a:lnTo>
                  <a:lnTo>
                    <a:pt x="551924" y="551924"/>
                  </a:lnTo>
                  <a:lnTo>
                    <a:pt x="517273" y="575286"/>
                  </a:lnTo>
                  <a:lnTo>
                    <a:pt x="474841" y="5838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4683247" y="5752726"/>
              <a:ext cx="584200" cy="584200"/>
            </a:xfrm>
            <a:custGeom>
              <a:rect b="b" l="l" r="r" t="t"/>
              <a:pathLst>
                <a:path extrusionOk="0" h="584200" w="584200">
                  <a:moveTo>
                    <a:pt x="0" y="109011"/>
                  </a:moveTo>
                  <a:lnTo>
                    <a:pt x="8566" y="66579"/>
                  </a:lnTo>
                  <a:lnTo>
                    <a:pt x="31928" y="31928"/>
                  </a:lnTo>
                  <a:lnTo>
                    <a:pt x="66579" y="8566"/>
                  </a:lnTo>
                  <a:lnTo>
                    <a:pt x="109011" y="0"/>
                  </a:lnTo>
                  <a:lnTo>
                    <a:pt x="474841" y="0"/>
                  </a:lnTo>
                  <a:lnTo>
                    <a:pt x="516558" y="8297"/>
                  </a:lnTo>
                  <a:lnTo>
                    <a:pt x="551924" y="31928"/>
                  </a:lnTo>
                  <a:lnTo>
                    <a:pt x="575555" y="67294"/>
                  </a:lnTo>
                  <a:lnTo>
                    <a:pt x="583853" y="109011"/>
                  </a:lnTo>
                  <a:lnTo>
                    <a:pt x="583853" y="474841"/>
                  </a:lnTo>
                  <a:lnTo>
                    <a:pt x="575286" y="517273"/>
                  </a:lnTo>
                  <a:lnTo>
                    <a:pt x="551924" y="551924"/>
                  </a:lnTo>
                  <a:lnTo>
                    <a:pt x="517273" y="575286"/>
                  </a:lnTo>
                  <a:lnTo>
                    <a:pt x="474841" y="583852"/>
                  </a:lnTo>
                  <a:lnTo>
                    <a:pt x="109011" y="583852"/>
                  </a:lnTo>
                  <a:lnTo>
                    <a:pt x="66579" y="575286"/>
                  </a:lnTo>
                  <a:lnTo>
                    <a:pt x="31928" y="551924"/>
                  </a:lnTo>
                  <a:lnTo>
                    <a:pt x="8566" y="517273"/>
                  </a:lnTo>
                  <a:lnTo>
                    <a:pt x="0" y="474841"/>
                  </a:lnTo>
                  <a:lnTo>
                    <a:pt x="0" y="109011"/>
                  </a:lnTo>
                  <a:close/>
                </a:path>
              </a:pathLst>
            </a:custGeom>
            <a:noFill/>
            <a:ln cap="flat" cmpd="sng" w="34900">
              <a:solidFill>
                <a:srgbClr val="8C8D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8"/>
          <p:cNvSpPr txBox="1"/>
          <p:nvPr/>
        </p:nvSpPr>
        <p:spPr>
          <a:xfrm>
            <a:off x="4873550" y="5793078"/>
            <a:ext cx="175260" cy="492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50">
                <a:latin typeface="Tahoma"/>
                <a:ea typeface="Tahoma"/>
                <a:cs typeface="Tahoma"/>
                <a:sym typeface="Tahoma"/>
              </a:rPr>
              <a:t>1</a:t>
            </a:r>
            <a:endParaRPr sz="30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1167380" y="2790529"/>
            <a:ext cx="7587600" cy="21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35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Entorno de Desarrollo</a:t>
            </a:r>
            <a:endParaRPr/>
          </a:p>
          <a:p>
            <a:pPr indent="0" lvl="0" marL="12700" marR="5080" rtl="0" algn="just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000"/>
              <a:t>El entorno de desarrollo de Arduino, conocido como IDE (Integrated Development Environment), proporciona un espacio intuitivo para escribir, compilar y cargar el código en la placa.</a:t>
            </a:r>
            <a:endParaRPr b="0" sz="2000"/>
          </a:p>
          <a:p>
            <a:pPr indent="0" lvl="0" marL="12700" marR="5080" rtl="0" algn="just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b="0" lang="en-US" sz="2000"/>
              <a:t>Es la herramienta principal para programar y controlar los proyectos.</a:t>
            </a:r>
            <a:endParaRPr b="0" sz="2000"/>
          </a:p>
        </p:txBody>
      </p:sp>
      <p:grpSp>
        <p:nvGrpSpPr>
          <p:cNvPr id="148" name="Google Shape;148;p8"/>
          <p:cNvGrpSpPr/>
          <p:nvPr/>
        </p:nvGrpSpPr>
        <p:grpSpPr>
          <a:xfrm>
            <a:off x="8851849" y="5724152"/>
            <a:ext cx="584200" cy="1200538"/>
            <a:chOff x="8851849" y="5724152"/>
            <a:chExt cx="584200" cy="1200538"/>
          </a:xfrm>
        </p:grpSpPr>
        <p:sp>
          <p:nvSpPr>
            <p:cNvPr id="149" name="Google Shape;149;p8"/>
            <p:cNvSpPr/>
            <p:nvPr/>
          </p:nvSpPr>
          <p:spPr>
            <a:xfrm>
              <a:off x="9129414" y="6016005"/>
              <a:ext cx="28575" cy="908685"/>
            </a:xfrm>
            <a:custGeom>
              <a:rect b="b" l="l" r="r" t="t"/>
              <a:pathLst>
                <a:path extrusionOk="0" h="908684" w="28575">
                  <a:moveTo>
                    <a:pt x="22177" y="908297"/>
                  </a:moveTo>
                  <a:lnTo>
                    <a:pt x="6396" y="908297"/>
                  </a:lnTo>
                  <a:lnTo>
                    <a:pt x="0" y="901901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4"/>
                  </a:lnTo>
                  <a:lnTo>
                    <a:pt x="27069" y="6864"/>
                  </a:lnTo>
                  <a:lnTo>
                    <a:pt x="28574" y="10497"/>
                  </a:lnTo>
                  <a:lnTo>
                    <a:pt x="28574" y="901901"/>
                  </a:lnTo>
                  <a:lnTo>
                    <a:pt x="22177" y="908297"/>
                  </a:lnTo>
                  <a:close/>
                </a:path>
              </a:pathLst>
            </a:custGeom>
            <a:solidFill>
              <a:srgbClr val="5555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8851849" y="5724152"/>
              <a:ext cx="584200" cy="584200"/>
            </a:xfrm>
            <a:custGeom>
              <a:rect b="b" l="l" r="r" t="t"/>
              <a:pathLst>
                <a:path extrusionOk="0" h="584200" w="584200">
                  <a:moveTo>
                    <a:pt x="474842" y="583852"/>
                  </a:moveTo>
                  <a:lnTo>
                    <a:pt x="109010" y="583852"/>
                  </a:lnTo>
                  <a:lnTo>
                    <a:pt x="66579" y="575286"/>
                  </a:lnTo>
                  <a:lnTo>
                    <a:pt x="31928" y="551924"/>
                  </a:lnTo>
                  <a:lnTo>
                    <a:pt x="8566" y="517273"/>
                  </a:lnTo>
                  <a:lnTo>
                    <a:pt x="0" y="474841"/>
                  </a:lnTo>
                  <a:lnTo>
                    <a:pt x="0" y="109011"/>
                  </a:lnTo>
                  <a:lnTo>
                    <a:pt x="8566" y="66579"/>
                  </a:lnTo>
                  <a:lnTo>
                    <a:pt x="31928" y="31928"/>
                  </a:lnTo>
                  <a:lnTo>
                    <a:pt x="66579" y="8566"/>
                  </a:lnTo>
                  <a:lnTo>
                    <a:pt x="109010" y="0"/>
                  </a:lnTo>
                  <a:lnTo>
                    <a:pt x="474842" y="0"/>
                  </a:lnTo>
                  <a:lnTo>
                    <a:pt x="516558" y="8297"/>
                  </a:lnTo>
                  <a:lnTo>
                    <a:pt x="551924" y="31928"/>
                  </a:lnTo>
                  <a:lnTo>
                    <a:pt x="575555" y="67294"/>
                  </a:lnTo>
                  <a:lnTo>
                    <a:pt x="583852" y="109011"/>
                  </a:lnTo>
                  <a:lnTo>
                    <a:pt x="583852" y="474841"/>
                  </a:lnTo>
                  <a:lnTo>
                    <a:pt x="575286" y="517273"/>
                  </a:lnTo>
                  <a:lnTo>
                    <a:pt x="551924" y="551924"/>
                  </a:lnTo>
                  <a:lnTo>
                    <a:pt x="517274" y="575286"/>
                  </a:lnTo>
                  <a:lnTo>
                    <a:pt x="474842" y="5838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8851849" y="5724152"/>
              <a:ext cx="584200" cy="584200"/>
            </a:xfrm>
            <a:custGeom>
              <a:rect b="b" l="l" r="r" t="t"/>
              <a:pathLst>
                <a:path extrusionOk="0" h="584200" w="584200">
                  <a:moveTo>
                    <a:pt x="0" y="109011"/>
                  </a:moveTo>
                  <a:lnTo>
                    <a:pt x="8566" y="66579"/>
                  </a:lnTo>
                  <a:lnTo>
                    <a:pt x="31928" y="31928"/>
                  </a:lnTo>
                  <a:lnTo>
                    <a:pt x="66579" y="8566"/>
                  </a:lnTo>
                  <a:lnTo>
                    <a:pt x="109010" y="0"/>
                  </a:lnTo>
                  <a:lnTo>
                    <a:pt x="474842" y="0"/>
                  </a:lnTo>
                  <a:lnTo>
                    <a:pt x="516558" y="8297"/>
                  </a:lnTo>
                  <a:lnTo>
                    <a:pt x="551924" y="31928"/>
                  </a:lnTo>
                  <a:lnTo>
                    <a:pt x="575555" y="67294"/>
                  </a:lnTo>
                  <a:lnTo>
                    <a:pt x="583852" y="109011"/>
                  </a:lnTo>
                  <a:lnTo>
                    <a:pt x="583852" y="474841"/>
                  </a:lnTo>
                  <a:lnTo>
                    <a:pt x="575286" y="517273"/>
                  </a:lnTo>
                  <a:lnTo>
                    <a:pt x="551924" y="551924"/>
                  </a:lnTo>
                  <a:lnTo>
                    <a:pt x="517274" y="575286"/>
                  </a:lnTo>
                  <a:lnTo>
                    <a:pt x="474842" y="583852"/>
                  </a:lnTo>
                  <a:lnTo>
                    <a:pt x="109010" y="583852"/>
                  </a:lnTo>
                  <a:lnTo>
                    <a:pt x="66579" y="575286"/>
                  </a:lnTo>
                  <a:lnTo>
                    <a:pt x="31928" y="551924"/>
                  </a:lnTo>
                  <a:lnTo>
                    <a:pt x="8566" y="517273"/>
                  </a:lnTo>
                  <a:lnTo>
                    <a:pt x="0" y="474841"/>
                  </a:lnTo>
                  <a:lnTo>
                    <a:pt x="0" y="109011"/>
                  </a:lnTo>
                  <a:close/>
                </a:path>
              </a:pathLst>
            </a:custGeom>
            <a:noFill/>
            <a:ln cap="flat" cmpd="sng" w="34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8"/>
          <p:cNvSpPr txBox="1"/>
          <p:nvPr/>
        </p:nvSpPr>
        <p:spPr>
          <a:xfrm>
            <a:off x="9022655" y="5793078"/>
            <a:ext cx="244475" cy="492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50">
                <a:latin typeface="Tahoma"/>
                <a:ea typeface="Tahoma"/>
                <a:cs typeface="Tahoma"/>
                <a:sym typeface="Tahoma"/>
              </a:rPr>
              <a:t>2</a:t>
            </a:r>
            <a:endParaRPr sz="30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337672" y="7158535"/>
            <a:ext cx="7588200" cy="21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699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Tahoma"/>
                <a:ea typeface="Tahoma"/>
                <a:cs typeface="Tahoma"/>
                <a:sym typeface="Tahoma"/>
              </a:rPr>
              <a:t>Lenguaje de Programación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Arduino utiliza un lenguaje de programación basado en C/C++, con una sintaxis simplificada y funciones específicas para el manejo de hardware.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Esto facilita el aprendizaje y la implementación de proyectos, incluso para principiantes.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4" name="Google Shape;154;p8"/>
          <p:cNvGrpSpPr/>
          <p:nvPr/>
        </p:nvGrpSpPr>
        <p:grpSpPr>
          <a:xfrm>
            <a:off x="13034664" y="5107855"/>
            <a:ext cx="584200" cy="1200496"/>
            <a:chOff x="13034664" y="5107855"/>
            <a:chExt cx="584200" cy="1200496"/>
          </a:xfrm>
        </p:grpSpPr>
        <p:sp>
          <p:nvSpPr>
            <p:cNvPr id="155" name="Google Shape;155;p8"/>
            <p:cNvSpPr/>
            <p:nvPr/>
          </p:nvSpPr>
          <p:spPr>
            <a:xfrm>
              <a:off x="13312229" y="5107855"/>
              <a:ext cx="28575" cy="908685"/>
            </a:xfrm>
            <a:custGeom>
              <a:rect b="b" l="l" r="r" t="t"/>
              <a:pathLst>
                <a:path extrusionOk="0" h="908685" w="28575">
                  <a:moveTo>
                    <a:pt x="22177" y="908298"/>
                  </a:moveTo>
                  <a:lnTo>
                    <a:pt x="6394" y="908298"/>
                  </a:lnTo>
                  <a:lnTo>
                    <a:pt x="0" y="901901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4" y="0"/>
                  </a:lnTo>
                  <a:lnTo>
                    <a:pt x="18076" y="0"/>
                  </a:lnTo>
                  <a:lnTo>
                    <a:pt x="21709" y="1505"/>
                  </a:lnTo>
                  <a:lnTo>
                    <a:pt x="27068" y="6864"/>
                  </a:lnTo>
                  <a:lnTo>
                    <a:pt x="28574" y="10498"/>
                  </a:lnTo>
                  <a:lnTo>
                    <a:pt x="28574" y="901901"/>
                  </a:lnTo>
                  <a:lnTo>
                    <a:pt x="22177" y="908298"/>
                  </a:lnTo>
                  <a:close/>
                </a:path>
              </a:pathLst>
            </a:custGeom>
            <a:solidFill>
              <a:srgbClr val="5555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13034664" y="5724151"/>
              <a:ext cx="584200" cy="584200"/>
            </a:xfrm>
            <a:custGeom>
              <a:rect b="b" l="l" r="r" t="t"/>
              <a:pathLst>
                <a:path extrusionOk="0" h="584200" w="584200">
                  <a:moveTo>
                    <a:pt x="474841" y="583852"/>
                  </a:moveTo>
                  <a:lnTo>
                    <a:pt x="109011" y="583852"/>
                  </a:lnTo>
                  <a:lnTo>
                    <a:pt x="66579" y="575286"/>
                  </a:lnTo>
                  <a:lnTo>
                    <a:pt x="31928" y="551924"/>
                  </a:lnTo>
                  <a:lnTo>
                    <a:pt x="8566" y="517273"/>
                  </a:lnTo>
                  <a:lnTo>
                    <a:pt x="0" y="474841"/>
                  </a:lnTo>
                  <a:lnTo>
                    <a:pt x="0" y="109011"/>
                  </a:lnTo>
                  <a:lnTo>
                    <a:pt x="8566" y="66579"/>
                  </a:lnTo>
                  <a:lnTo>
                    <a:pt x="31928" y="31928"/>
                  </a:lnTo>
                  <a:lnTo>
                    <a:pt x="66579" y="8566"/>
                  </a:lnTo>
                  <a:lnTo>
                    <a:pt x="109011" y="0"/>
                  </a:lnTo>
                  <a:lnTo>
                    <a:pt x="474841" y="0"/>
                  </a:lnTo>
                  <a:lnTo>
                    <a:pt x="516558" y="8297"/>
                  </a:lnTo>
                  <a:lnTo>
                    <a:pt x="551923" y="31928"/>
                  </a:lnTo>
                  <a:lnTo>
                    <a:pt x="575555" y="67294"/>
                  </a:lnTo>
                  <a:lnTo>
                    <a:pt x="583853" y="109011"/>
                  </a:lnTo>
                  <a:lnTo>
                    <a:pt x="583853" y="474841"/>
                  </a:lnTo>
                  <a:lnTo>
                    <a:pt x="575287" y="517273"/>
                  </a:lnTo>
                  <a:lnTo>
                    <a:pt x="551924" y="551924"/>
                  </a:lnTo>
                  <a:lnTo>
                    <a:pt x="517273" y="575286"/>
                  </a:lnTo>
                  <a:lnTo>
                    <a:pt x="474841" y="5838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13034664" y="5724151"/>
              <a:ext cx="584200" cy="584200"/>
            </a:xfrm>
            <a:custGeom>
              <a:rect b="b" l="l" r="r" t="t"/>
              <a:pathLst>
                <a:path extrusionOk="0" h="584200" w="584200">
                  <a:moveTo>
                    <a:pt x="0" y="109011"/>
                  </a:moveTo>
                  <a:lnTo>
                    <a:pt x="8566" y="66579"/>
                  </a:lnTo>
                  <a:lnTo>
                    <a:pt x="31928" y="31928"/>
                  </a:lnTo>
                  <a:lnTo>
                    <a:pt x="66579" y="8566"/>
                  </a:lnTo>
                  <a:lnTo>
                    <a:pt x="109011" y="0"/>
                  </a:lnTo>
                  <a:lnTo>
                    <a:pt x="474841" y="0"/>
                  </a:lnTo>
                  <a:lnTo>
                    <a:pt x="516558" y="8297"/>
                  </a:lnTo>
                  <a:lnTo>
                    <a:pt x="551923" y="31928"/>
                  </a:lnTo>
                  <a:lnTo>
                    <a:pt x="575555" y="67294"/>
                  </a:lnTo>
                  <a:lnTo>
                    <a:pt x="583853" y="109011"/>
                  </a:lnTo>
                  <a:lnTo>
                    <a:pt x="583853" y="474841"/>
                  </a:lnTo>
                  <a:lnTo>
                    <a:pt x="575287" y="517273"/>
                  </a:lnTo>
                  <a:lnTo>
                    <a:pt x="551924" y="551924"/>
                  </a:lnTo>
                  <a:lnTo>
                    <a:pt x="517273" y="575286"/>
                  </a:lnTo>
                  <a:lnTo>
                    <a:pt x="474841" y="583852"/>
                  </a:lnTo>
                  <a:lnTo>
                    <a:pt x="109011" y="583852"/>
                  </a:lnTo>
                  <a:lnTo>
                    <a:pt x="66579" y="575286"/>
                  </a:lnTo>
                  <a:lnTo>
                    <a:pt x="31928" y="551924"/>
                  </a:lnTo>
                  <a:lnTo>
                    <a:pt x="8566" y="517273"/>
                  </a:lnTo>
                  <a:lnTo>
                    <a:pt x="0" y="474841"/>
                  </a:lnTo>
                  <a:lnTo>
                    <a:pt x="0" y="109011"/>
                  </a:lnTo>
                  <a:close/>
                </a:path>
              </a:pathLst>
            </a:custGeom>
            <a:noFill/>
            <a:ln cap="flat" cmpd="sng" w="34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8"/>
          <p:cNvSpPr txBox="1"/>
          <p:nvPr/>
        </p:nvSpPr>
        <p:spPr>
          <a:xfrm>
            <a:off x="13201153" y="5793078"/>
            <a:ext cx="252095" cy="492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50">
                <a:latin typeface="Tahoma"/>
                <a:ea typeface="Tahoma"/>
                <a:cs typeface="Tahoma"/>
                <a:sym typeface="Tahoma"/>
              </a:rPr>
              <a:t>3</a:t>
            </a:r>
            <a:endParaRPr sz="30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9532675" y="2605899"/>
            <a:ext cx="7588200" cy="25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666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Tahoma"/>
                <a:ea typeface="Tahoma"/>
                <a:cs typeface="Tahoma"/>
                <a:sym typeface="Tahoma"/>
              </a:rPr>
              <a:t>Estructura del Código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just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Todo programa Arduino sigue una estructura básica con dos funciones principales: setup() y loop().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just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La primera se encarga de la configuración inicial, mientras que la segunda ejecuta el código de manera repetida, permitiendo el control y monitoreo constante del proyecto.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just">
              <a:lnSpc>
                <a:spcPct val="195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9330" y="7393979"/>
            <a:ext cx="4579946" cy="2654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3162057" y="85278"/>
            <a:ext cx="122301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464685" lvl="0" marL="4476750" marR="5080" rtl="0" algn="l">
              <a:lnSpc>
                <a:spcPct val="12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Lenguaje de programación Arduino y su estructura</a:t>
            </a:r>
            <a:endParaRPr sz="5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6" name="Google Shape;166;p9"/>
          <p:cNvGrpSpPr/>
          <p:nvPr/>
        </p:nvGrpSpPr>
        <p:grpSpPr>
          <a:xfrm>
            <a:off x="1242734" y="3189673"/>
            <a:ext cx="16451977" cy="5842505"/>
            <a:chOff x="1242734" y="3189673"/>
            <a:chExt cx="16451977" cy="5842505"/>
          </a:xfrm>
        </p:grpSpPr>
        <p:sp>
          <p:nvSpPr>
            <p:cNvPr id="167" name="Google Shape;167;p9"/>
            <p:cNvSpPr/>
            <p:nvPr/>
          </p:nvSpPr>
          <p:spPr>
            <a:xfrm>
              <a:off x="1242734" y="3189673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7984409" y="2789932"/>
                  </a:move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09" y="0"/>
                  </a:lnTo>
                  <a:lnTo>
                    <a:pt x="8026583" y="8388"/>
                  </a:lnTo>
                  <a:lnTo>
                    <a:pt x="8062334" y="32277"/>
                  </a:lnTo>
                  <a:lnTo>
                    <a:pt x="8086224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5" y="2781272"/>
                  </a:lnTo>
                  <a:lnTo>
                    <a:pt x="7984409" y="2789932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1242734" y="3189673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0" y="110202"/>
                  </a:move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09" y="0"/>
                  </a:lnTo>
                  <a:lnTo>
                    <a:pt x="8026583" y="8388"/>
                  </a:lnTo>
                  <a:lnTo>
                    <a:pt x="8062334" y="32277"/>
                  </a:lnTo>
                  <a:lnTo>
                    <a:pt x="8086224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5" y="2781272"/>
                  </a:lnTo>
                  <a:lnTo>
                    <a:pt x="7984409" y="2789932"/>
                  </a:ln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close/>
                </a:path>
              </a:pathLst>
            </a:custGeom>
            <a:noFill/>
            <a:ln cap="flat" cmpd="sng" w="9525">
              <a:solidFill>
                <a:srgbClr val="555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9599731" y="3189673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7984411" y="2789932"/>
                  </a:move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11" y="0"/>
                  </a:lnTo>
                  <a:lnTo>
                    <a:pt x="8026583" y="8388"/>
                  </a:lnTo>
                  <a:lnTo>
                    <a:pt x="8062336" y="32277"/>
                  </a:lnTo>
                  <a:lnTo>
                    <a:pt x="8086223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6" y="2781272"/>
                  </a:lnTo>
                  <a:lnTo>
                    <a:pt x="7984411" y="2789932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9599731" y="3189673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0" y="110202"/>
                  </a:move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11" y="0"/>
                  </a:lnTo>
                  <a:lnTo>
                    <a:pt x="8026583" y="8388"/>
                  </a:lnTo>
                  <a:lnTo>
                    <a:pt x="8062336" y="32277"/>
                  </a:lnTo>
                  <a:lnTo>
                    <a:pt x="8086223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6" y="2781272"/>
                  </a:lnTo>
                  <a:lnTo>
                    <a:pt x="7984411" y="2789932"/>
                  </a:ln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close/>
                </a:path>
              </a:pathLst>
            </a:custGeom>
            <a:noFill/>
            <a:ln cap="flat" cmpd="sng" w="9525">
              <a:solidFill>
                <a:srgbClr val="555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1242734" y="6241988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7984409" y="2789932"/>
                  </a:move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09" y="0"/>
                  </a:lnTo>
                  <a:lnTo>
                    <a:pt x="8026583" y="8388"/>
                  </a:lnTo>
                  <a:lnTo>
                    <a:pt x="8062334" y="32277"/>
                  </a:lnTo>
                  <a:lnTo>
                    <a:pt x="8086224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5" y="2781272"/>
                  </a:lnTo>
                  <a:lnTo>
                    <a:pt x="7984409" y="2789932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1242734" y="6241988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0" y="110202"/>
                  </a:move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09" y="0"/>
                  </a:lnTo>
                  <a:lnTo>
                    <a:pt x="8026583" y="8388"/>
                  </a:lnTo>
                  <a:lnTo>
                    <a:pt x="8062334" y="32277"/>
                  </a:lnTo>
                  <a:lnTo>
                    <a:pt x="8086224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5" y="2781272"/>
                  </a:lnTo>
                  <a:lnTo>
                    <a:pt x="7984409" y="2789932"/>
                  </a:ln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close/>
                </a:path>
              </a:pathLst>
            </a:custGeom>
            <a:noFill/>
            <a:ln cap="flat" cmpd="sng" w="9525">
              <a:solidFill>
                <a:srgbClr val="555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9"/>
          <p:cNvSpPr txBox="1"/>
          <p:nvPr>
            <p:ph idx="1" type="body"/>
          </p:nvPr>
        </p:nvSpPr>
        <p:spPr>
          <a:xfrm>
            <a:off x="1501950" y="3213150"/>
            <a:ext cx="7593300" cy="6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Sintaxis básica</a:t>
            </a:r>
            <a:endParaRPr/>
          </a:p>
          <a:p>
            <a:pPr indent="0" lvl="0" marL="12700" marR="394970" rtl="0" algn="l">
              <a:lnSpc>
                <a:spcPct val="190243"/>
              </a:lnSpc>
              <a:spcBef>
                <a:spcPts val="35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050"/>
              <a:t>El lenguaje de programación Arduino utiliza una sintaxis similar a C/C++, con declaración de variables, estructuras de control (if, for, while) y funciones. Esto facilita el aprendizaje para aquellos familiarizados con estos lenguajes.</a:t>
            </a:r>
            <a:endParaRPr b="0" sz="2050"/>
          </a:p>
          <a:p>
            <a:pPr indent="0" lvl="0" marL="0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t/>
            </a:r>
            <a:endParaRPr sz="20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Estructura del código</a:t>
            </a:r>
            <a:endParaRPr/>
          </a:p>
          <a:p>
            <a:pPr indent="0" lvl="0" marL="51435" marR="54610" rtl="0" algn="just">
              <a:lnSpc>
                <a:spcPct val="158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050"/>
              <a:t>Todo programa Arduino sigue la estructura básica de setup() y loop(). La función setup() se ejecuta una vez al inicio, mientras que la función loop() se repite continuamente, permitiendo el control y monitoreo del proyecto.</a:t>
            </a:r>
            <a:endParaRPr b="0" sz="2050"/>
          </a:p>
          <a:p>
            <a:pPr indent="0" lvl="0" marL="51435" marR="54610" rtl="0" algn="just">
              <a:lnSpc>
                <a:spcPct val="158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50"/>
          </a:p>
        </p:txBody>
      </p:sp>
      <p:grpSp>
        <p:nvGrpSpPr>
          <p:cNvPr id="174" name="Google Shape;174;p9"/>
          <p:cNvGrpSpPr/>
          <p:nvPr/>
        </p:nvGrpSpPr>
        <p:grpSpPr>
          <a:xfrm>
            <a:off x="9599731" y="6241989"/>
            <a:ext cx="8094980" cy="2790190"/>
            <a:chOff x="9599731" y="6241989"/>
            <a:chExt cx="8094980" cy="2790190"/>
          </a:xfrm>
        </p:grpSpPr>
        <p:sp>
          <p:nvSpPr>
            <p:cNvPr id="175" name="Google Shape;175;p9"/>
            <p:cNvSpPr/>
            <p:nvPr/>
          </p:nvSpPr>
          <p:spPr>
            <a:xfrm>
              <a:off x="9599731" y="6241989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7984411" y="2789932"/>
                  </a:move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11" y="0"/>
                  </a:lnTo>
                  <a:lnTo>
                    <a:pt x="8026583" y="8388"/>
                  </a:lnTo>
                  <a:lnTo>
                    <a:pt x="8062336" y="32277"/>
                  </a:lnTo>
                  <a:lnTo>
                    <a:pt x="8086223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6" y="2781272"/>
                  </a:lnTo>
                  <a:lnTo>
                    <a:pt x="7984411" y="2789932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9599731" y="6241989"/>
              <a:ext cx="8094980" cy="2790190"/>
            </a:xfrm>
            <a:custGeom>
              <a:rect b="b" l="l" r="r" t="t"/>
              <a:pathLst>
                <a:path extrusionOk="0" h="2790190" w="8094980">
                  <a:moveTo>
                    <a:pt x="0" y="110202"/>
                  </a:moveTo>
                  <a:lnTo>
                    <a:pt x="8660" y="67306"/>
                  </a:lnTo>
                  <a:lnTo>
                    <a:pt x="32277" y="32277"/>
                  </a:lnTo>
                  <a:lnTo>
                    <a:pt x="67306" y="8660"/>
                  </a:lnTo>
                  <a:lnTo>
                    <a:pt x="110202" y="0"/>
                  </a:lnTo>
                  <a:lnTo>
                    <a:pt x="7984411" y="0"/>
                  </a:lnTo>
                  <a:lnTo>
                    <a:pt x="8026583" y="8388"/>
                  </a:lnTo>
                  <a:lnTo>
                    <a:pt x="8062336" y="32277"/>
                  </a:lnTo>
                  <a:lnTo>
                    <a:pt x="8086223" y="68029"/>
                  </a:lnTo>
                  <a:lnTo>
                    <a:pt x="8094612" y="110202"/>
                  </a:lnTo>
                  <a:lnTo>
                    <a:pt x="8094612" y="2679730"/>
                  </a:lnTo>
                  <a:lnTo>
                    <a:pt x="8085952" y="2722626"/>
                  </a:lnTo>
                  <a:lnTo>
                    <a:pt x="8062335" y="2757655"/>
                  </a:lnTo>
                  <a:lnTo>
                    <a:pt x="8027306" y="2781272"/>
                  </a:lnTo>
                  <a:lnTo>
                    <a:pt x="7984411" y="2789932"/>
                  </a:lnTo>
                  <a:lnTo>
                    <a:pt x="110202" y="2789932"/>
                  </a:lnTo>
                  <a:lnTo>
                    <a:pt x="67306" y="2781272"/>
                  </a:lnTo>
                  <a:lnTo>
                    <a:pt x="32277" y="2757655"/>
                  </a:lnTo>
                  <a:lnTo>
                    <a:pt x="8660" y="2722626"/>
                  </a:lnTo>
                  <a:lnTo>
                    <a:pt x="0" y="2679730"/>
                  </a:lnTo>
                  <a:lnTo>
                    <a:pt x="0" y="110202"/>
                  </a:lnTo>
                  <a:close/>
                </a:path>
              </a:pathLst>
            </a:custGeom>
            <a:noFill/>
            <a:ln cap="flat" cmpd="sng" w="9525">
              <a:solidFill>
                <a:srgbClr val="555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9"/>
          <p:cNvSpPr txBox="1"/>
          <p:nvPr>
            <p:ph idx="2" type="body"/>
          </p:nvPr>
        </p:nvSpPr>
        <p:spPr>
          <a:xfrm>
            <a:off x="9820022" y="3163957"/>
            <a:ext cx="7552200" cy="58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514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predefinidas</a:t>
            </a:r>
            <a:endParaRPr/>
          </a:p>
          <a:p>
            <a:pPr indent="0" lvl="0" marL="51435" marR="73025" rtl="0" algn="l">
              <a:lnSpc>
                <a:spcPct val="1586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rPr b="0" lang="en-US" sz="2050"/>
              <a:t>Arduino proporciona una amplia gama de funciones predefinidas, como digitalWrite(), analogRead() y Serial.print(), que simplifican tareas comunes como el control de pines, la lectura de sensores y la comunicación serial.</a:t>
            </a:r>
            <a:endParaRPr sz="205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50">
              <a:latin typeface="Tahoma"/>
              <a:ea typeface="Tahoma"/>
              <a:cs typeface="Tahoma"/>
              <a:sym typeface="Tahoma"/>
            </a:endParaRPr>
          </a:p>
          <a:p>
            <a:pPr indent="0" lvl="0" marL="514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Librerías</a:t>
            </a:r>
            <a:endParaRPr/>
          </a:p>
          <a:p>
            <a:pPr indent="0" lvl="0" marL="12700" marR="5080" rtl="0" algn="just">
              <a:lnSpc>
                <a:spcPct val="158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050"/>
              <a:t>Arduino cuenta con una extensa biblioteca de librerías que ofrecen funcionalidades avanzadas, como control de motores, sensores y comunicación con otros dispositivos.</a:t>
            </a:r>
            <a:endParaRPr b="0" sz="2050"/>
          </a:p>
          <a:p>
            <a:pPr indent="0" lvl="0" marL="12700" marR="5080" rtl="0" algn="just">
              <a:lnSpc>
                <a:spcPct val="158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050"/>
              <a:t>Esto facilita la implementación de proyectos complejos.</a:t>
            </a:r>
            <a:endParaRPr b="0" sz="2050"/>
          </a:p>
          <a:p>
            <a:pPr indent="0" lvl="0" marL="12700" marR="5080" rtl="0" algn="just">
              <a:lnSpc>
                <a:spcPct val="158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>
            <p:ph type="title"/>
          </p:nvPr>
        </p:nvSpPr>
        <p:spPr>
          <a:xfrm>
            <a:off x="3162057" y="85278"/>
            <a:ext cx="12230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300">
            <a:spAutoFit/>
          </a:bodyPr>
          <a:lstStyle/>
          <a:p>
            <a:pPr indent="-763270" lvl="0" marL="3806190" marR="5080" rtl="0" algn="l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Implementación del código Arduino en proyectos</a:t>
            </a:r>
            <a:endParaRPr sz="4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0851" y="2779663"/>
            <a:ext cx="1235422" cy="664234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 txBox="1"/>
          <p:nvPr/>
        </p:nvSpPr>
        <p:spPr>
          <a:xfrm>
            <a:off x="5885456" y="2779678"/>
            <a:ext cx="7923600" cy="6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latin typeface="Tahoma"/>
                <a:ea typeface="Tahoma"/>
                <a:cs typeface="Tahoma"/>
                <a:sym typeface="Tahoma"/>
              </a:rPr>
              <a:t>Diseño del proyecto</a:t>
            </a:r>
            <a:endParaRPr sz="23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611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ahoma"/>
                <a:ea typeface="Tahoma"/>
                <a:cs typeface="Tahoma"/>
                <a:sym typeface="Tahoma"/>
              </a:rPr>
              <a:t>El primer paso es planificar y diseñar el proyecto, identificando los requisitos, los componentes necesarios y la lógica de funcionamiento.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611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900">
                <a:latin typeface="Tahoma"/>
                <a:ea typeface="Tahoma"/>
                <a:cs typeface="Tahoma"/>
                <a:sym typeface="Tahoma"/>
              </a:rPr>
              <a:t>Esto ayuda a estructurar el código de manera eficiente.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2350">
                <a:latin typeface="Tahoma"/>
                <a:ea typeface="Tahoma"/>
                <a:cs typeface="Tahoma"/>
                <a:sym typeface="Tahoma"/>
              </a:rPr>
              <a:t>Programación</a:t>
            </a:r>
            <a:endParaRPr sz="23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2860" rtl="0" algn="l">
              <a:lnSpc>
                <a:spcPct val="1611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ahoma"/>
                <a:ea typeface="Tahoma"/>
                <a:cs typeface="Tahoma"/>
                <a:sym typeface="Tahoma"/>
              </a:rPr>
              <a:t>Usando el IDE de Arduino, se escribe el código siguiendo la estructura básica de setup() y loop().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2860" rtl="0" algn="l">
              <a:lnSpc>
                <a:spcPct val="161100"/>
              </a:lnSpc>
              <a:spcBef>
                <a:spcPts val="2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latin typeface="Tahoma"/>
                <a:ea typeface="Tahoma"/>
                <a:cs typeface="Tahoma"/>
                <a:sym typeface="Tahoma"/>
              </a:rPr>
              <a:t>Se definen variables, se leen sensores, se controlan actuadores y se implementa la lógica del proyecto.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2860" rtl="0" algn="l">
              <a:lnSpc>
                <a:spcPct val="161100"/>
              </a:lnSpc>
              <a:spcBef>
                <a:spcPts val="2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latin typeface="Tahoma"/>
                <a:ea typeface="Tahoma"/>
                <a:cs typeface="Tahoma"/>
                <a:sym typeface="Tahoma"/>
              </a:rPr>
              <a:t>Pruebas y depuración</a:t>
            </a:r>
            <a:endParaRPr sz="23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6669" rtl="0" algn="l">
              <a:lnSpc>
                <a:spcPct val="161100"/>
              </a:lnSpc>
              <a:spcBef>
                <a:spcPts val="25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latin typeface="Tahoma"/>
                <a:ea typeface="Tahoma"/>
                <a:cs typeface="Tahoma"/>
                <a:sym typeface="Tahoma"/>
              </a:rPr>
              <a:t>Es crucial probar el código en la placa Arduino, identificar y solucionar errores (depuración) para asegurar el correcto funcionamiento del proyecto. Esto garantiza la calidad y fiabilidad del dispositivo.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/>
        </p:nvSpPr>
        <p:spPr>
          <a:xfrm>
            <a:off x="1098550" y="3362675"/>
            <a:ext cx="6557700" cy="30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25">
            <a:spAutoFit/>
          </a:bodyPr>
          <a:lstStyle/>
          <a:p>
            <a:pPr indent="162560" lvl="0" marL="12700" marR="5080" rtl="0" algn="l">
              <a:lnSpc>
                <a:spcPct val="106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>
                <a:solidFill>
                  <a:srgbClr val="191B0D"/>
                </a:solidFill>
                <a:latin typeface="Tahoma"/>
                <a:ea typeface="Tahoma"/>
                <a:cs typeface="Tahoma"/>
                <a:sym typeface="Tahoma"/>
              </a:rPr>
              <a:t>Protocolos de comunicación: Serial, I2C, SPI</a:t>
            </a:r>
            <a:endParaRPr sz="6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0" name="Google Shape;190;p11"/>
          <p:cNvGrpSpPr/>
          <p:nvPr/>
        </p:nvGrpSpPr>
        <p:grpSpPr>
          <a:xfrm>
            <a:off x="7352207" y="960577"/>
            <a:ext cx="9759950" cy="2390140"/>
            <a:chOff x="7352207" y="960577"/>
            <a:chExt cx="9759950" cy="2390140"/>
          </a:xfrm>
        </p:grpSpPr>
        <p:sp>
          <p:nvSpPr>
            <p:cNvPr id="191" name="Google Shape;191;p11"/>
            <p:cNvSpPr/>
            <p:nvPr/>
          </p:nvSpPr>
          <p:spPr>
            <a:xfrm>
              <a:off x="7352207" y="960577"/>
              <a:ext cx="9759950" cy="2390140"/>
            </a:xfrm>
            <a:custGeom>
              <a:rect b="b" l="l" r="r" t="t"/>
              <a:pathLst>
                <a:path extrusionOk="0" h="2390140" w="9759950">
                  <a:moveTo>
                    <a:pt x="9520464" y="2389918"/>
                  </a:moveTo>
                  <a:lnTo>
                    <a:pt x="238992" y="2389918"/>
                  </a:lnTo>
                  <a:lnTo>
                    <a:pt x="190827" y="2385063"/>
                  </a:lnTo>
                  <a:lnTo>
                    <a:pt x="145966" y="2371137"/>
                  </a:lnTo>
                  <a:lnTo>
                    <a:pt x="105369" y="2349102"/>
                  </a:lnTo>
                  <a:lnTo>
                    <a:pt x="69999" y="2319919"/>
                  </a:lnTo>
                  <a:lnTo>
                    <a:pt x="40816" y="2284549"/>
                  </a:lnTo>
                  <a:lnTo>
                    <a:pt x="18781" y="2243953"/>
                  </a:lnTo>
                  <a:lnTo>
                    <a:pt x="4855" y="2199092"/>
                  </a:lnTo>
                  <a:lnTo>
                    <a:pt x="0" y="2150926"/>
                  </a:lnTo>
                  <a:lnTo>
                    <a:pt x="0" y="238991"/>
                  </a:lnTo>
                  <a:lnTo>
                    <a:pt x="4855" y="190826"/>
                  </a:lnTo>
                  <a:lnTo>
                    <a:pt x="18781" y="145965"/>
                  </a:lnTo>
                  <a:lnTo>
                    <a:pt x="40816" y="105369"/>
                  </a:lnTo>
                  <a:lnTo>
                    <a:pt x="69999" y="69999"/>
                  </a:lnTo>
                  <a:lnTo>
                    <a:pt x="105369" y="40816"/>
                  </a:lnTo>
                  <a:lnTo>
                    <a:pt x="145966" y="18781"/>
                  </a:lnTo>
                  <a:lnTo>
                    <a:pt x="190827" y="4855"/>
                  </a:lnTo>
                  <a:lnTo>
                    <a:pt x="238992" y="0"/>
                  </a:lnTo>
                  <a:lnTo>
                    <a:pt x="9520464" y="0"/>
                  </a:lnTo>
                  <a:lnTo>
                    <a:pt x="9567307" y="4634"/>
                  </a:lnTo>
                  <a:lnTo>
                    <a:pt x="9611922" y="18192"/>
                  </a:lnTo>
                  <a:lnTo>
                    <a:pt x="9653057" y="40153"/>
                  </a:lnTo>
                  <a:lnTo>
                    <a:pt x="9689457" y="69999"/>
                  </a:lnTo>
                  <a:lnTo>
                    <a:pt x="9719303" y="106399"/>
                  </a:lnTo>
                  <a:lnTo>
                    <a:pt x="9741264" y="147533"/>
                  </a:lnTo>
                  <a:lnTo>
                    <a:pt x="9754821" y="192149"/>
                  </a:lnTo>
                  <a:lnTo>
                    <a:pt x="9759456" y="238991"/>
                  </a:lnTo>
                  <a:lnTo>
                    <a:pt x="9759456" y="2150926"/>
                  </a:lnTo>
                  <a:lnTo>
                    <a:pt x="9754601" y="2199092"/>
                  </a:lnTo>
                  <a:lnTo>
                    <a:pt x="9740675" y="2243953"/>
                  </a:lnTo>
                  <a:lnTo>
                    <a:pt x="9718640" y="2284549"/>
                  </a:lnTo>
                  <a:lnTo>
                    <a:pt x="9689457" y="2319919"/>
                  </a:lnTo>
                  <a:lnTo>
                    <a:pt x="9654087" y="2349102"/>
                  </a:lnTo>
                  <a:lnTo>
                    <a:pt x="9613491" y="2371137"/>
                  </a:lnTo>
                  <a:lnTo>
                    <a:pt x="9568630" y="2385063"/>
                  </a:lnTo>
                  <a:lnTo>
                    <a:pt x="9520464" y="2389918"/>
                  </a:lnTo>
                  <a:close/>
                </a:path>
              </a:pathLst>
            </a:custGeom>
            <a:solidFill>
              <a:srgbClr val="E6C06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2" name="Google Shape;19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75158" y="1498310"/>
              <a:ext cx="1314455" cy="13144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11"/>
          <p:cNvSpPr txBox="1"/>
          <p:nvPr>
            <p:ph type="title"/>
          </p:nvPr>
        </p:nvSpPr>
        <p:spPr>
          <a:xfrm>
            <a:off x="10347514" y="1242407"/>
            <a:ext cx="6407785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Serial: La comunicación serial es la más básica y ampliamente utilizada. Permite el intercambio de datos entre la placa Arduino y otros dispositivos o computadoras a través de los pines TX y RX.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4" name="Google Shape;194;p11"/>
          <p:cNvGrpSpPr/>
          <p:nvPr/>
        </p:nvGrpSpPr>
        <p:grpSpPr>
          <a:xfrm>
            <a:off x="7352207" y="3947976"/>
            <a:ext cx="9759950" cy="2390140"/>
            <a:chOff x="7352207" y="3947976"/>
            <a:chExt cx="9759950" cy="2390140"/>
          </a:xfrm>
        </p:grpSpPr>
        <p:sp>
          <p:nvSpPr>
            <p:cNvPr id="195" name="Google Shape;195;p11"/>
            <p:cNvSpPr/>
            <p:nvPr/>
          </p:nvSpPr>
          <p:spPr>
            <a:xfrm>
              <a:off x="7352207" y="3947976"/>
              <a:ext cx="9759950" cy="2390140"/>
            </a:xfrm>
            <a:custGeom>
              <a:rect b="b" l="l" r="r" t="t"/>
              <a:pathLst>
                <a:path extrusionOk="0" h="2390140" w="9759950">
                  <a:moveTo>
                    <a:pt x="9520464" y="2389918"/>
                  </a:moveTo>
                  <a:lnTo>
                    <a:pt x="238992" y="2389918"/>
                  </a:lnTo>
                  <a:lnTo>
                    <a:pt x="190827" y="2385063"/>
                  </a:lnTo>
                  <a:lnTo>
                    <a:pt x="145966" y="2371137"/>
                  </a:lnTo>
                  <a:lnTo>
                    <a:pt x="105369" y="2349102"/>
                  </a:lnTo>
                  <a:lnTo>
                    <a:pt x="69999" y="2319919"/>
                  </a:lnTo>
                  <a:lnTo>
                    <a:pt x="40816" y="2284549"/>
                  </a:lnTo>
                  <a:lnTo>
                    <a:pt x="18781" y="2243953"/>
                  </a:lnTo>
                  <a:lnTo>
                    <a:pt x="4855" y="2199092"/>
                  </a:lnTo>
                  <a:lnTo>
                    <a:pt x="0" y="2150926"/>
                  </a:lnTo>
                  <a:lnTo>
                    <a:pt x="0" y="238991"/>
                  </a:lnTo>
                  <a:lnTo>
                    <a:pt x="4855" y="190826"/>
                  </a:lnTo>
                  <a:lnTo>
                    <a:pt x="18781" y="145965"/>
                  </a:lnTo>
                  <a:lnTo>
                    <a:pt x="40816" y="105369"/>
                  </a:lnTo>
                  <a:lnTo>
                    <a:pt x="69999" y="69999"/>
                  </a:lnTo>
                  <a:lnTo>
                    <a:pt x="105369" y="40816"/>
                  </a:lnTo>
                  <a:lnTo>
                    <a:pt x="145966" y="18781"/>
                  </a:lnTo>
                  <a:lnTo>
                    <a:pt x="190827" y="4855"/>
                  </a:lnTo>
                  <a:lnTo>
                    <a:pt x="238992" y="0"/>
                  </a:lnTo>
                  <a:lnTo>
                    <a:pt x="9520464" y="0"/>
                  </a:lnTo>
                  <a:lnTo>
                    <a:pt x="9567307" y="4634"/>
                  </a:lnTo>
                  <a:lnTo>
                    <a:pt x="9611922" y="18192"/>
                  </a:lnTo>
                  <a:lnTo>
                    <a:pt x="9653057" y="40153"/>
                  </a:lnTo>
                  <a:lnTo>
                    <a:pt x="9689457" y="69999"/>
                  </a:lnTo>
                  <a:lnTo>
                    <a:pt x="9719303" y="106399"/>
                  </a:lnTo>
                  <a:lnTo>
                    <a:pt x="9741264" y="147533"/>
                  </a:lnTo>
                  <a:lnTo>
                    <a:pt x="9754821" y="192149"/>
                  </a:lnTo>
                  <a:lnTo>
                    <a:pt x="9759456" y="238991"/>
                  </a:lnTo>
                  <a:lnTo>
                    <a:pt x="9759456" y="2150926"/>
                  </a:lnTo>
                  <a:lnTo>
                    <a:pt x="9754601" y="2199092"/>
                  </a:lnTo>
                  <a:lnTo>
                    <a:pt x="9740675" y="2243953"/>
                  </a:lnTo>
                  <a:lnTo>
                    <a:pt x="9718640" y="2284549"/>
                  </a:lnTo>
                  <a:lnTo>
                    <a:pt x="9689457" y="2319919"/>
                  </a:lnTo>
                  <a:lnTo>
                    <a:pt x="9654087" y="2349102"/>
                  </a:lnTo>
                  <a:lnTo>
                    <a:pt x="9613491" y="2371137"/>
                  </a:lnTo>
                  <a:lnTo>
                    <a:pt x="9568630" y="2385063"/>
                  </a:lnTo>
                  <a:lnTo>
                    <a:pt x="9520464" y="2389918"/>
                  </a:lnTo>
                  <a:close/>
                </a:path>
              </a:pathLst>
            </a:custGeom>
            <a:solidFill>
              <a:srgbClr val="887A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6" name="Google Shape;19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75158" y="4485708"/>
              <a:ext cx="1314455" cy="13144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11"/>
          <p:cNvSpPr txBox="1"/>
          <p:nvPr/>
        </p:nvSpPr>
        <p:spPr>
          <a:xfrm>
            <a:off x="10347526" y="4058350"/>
            <a:ext cx="67647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ahoma"/>
                <a:ea typeface="Tahoma"/>
                <a:cs typeface="Tahoma"/>
                <a:sym typeface="Tahoma"/>
              </a:rPr>
              <a:t>I2C: El protocolo I2C (Inter-Integrated Circuit) permite la comunicación entre múltiples dispositivos utilizando solo dos hilos: SDA (datos) y SCL (reloj). Es ideal para conectar sensores, actuadores y otros periféricos.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8" name="Google Shape;198;p11"/>
          <p:cNvGrpSpPr/>
          <p:nvPr/>
        </p:nvGrpSpPr>
        <p:grpSpPr>
          <a:xfrm>
            <a:off x="7352207" y="6935375"/>
            <a:ext cx="9759950" cy="2390140"/>
            <a:chOff x="7352207" y="6935375"/>
            <a:chExt cx="9759950" cy="2390140"/>
          </a:xfrm>
        </p:grpSpPr>
        <p:sp>
          <p:nvSpPr>
            <p:cNvPr id="199" name="Google Shape;199;p11"/>
            <p:cNvSpPr/>
            <p:nvPr/>
          </p:nvSpPr>
          <p:spPr>
            <a:xfrm>
              <a:off x="7352207" y="6935375"/>
              <a:ext cx="9759950" cy="2390140"/>
            </a:xfrm>
            <a:custGeom>
              <a:rect b="b" l="l" r="r" t="t"/>
              <a:pathLst>
                <a:path extrusionOk="0" h="2390140" w="9759950">
                  <a:moveTo>
                    <a:pt x="9520464" y="2389919"/>
                  </a:moveTo>
                  <a:lnTo>
                    <a:pt x="238992" y="2389919"/>
                  </a:lnTo>
                  <a:lnTo>
                    <a:pt x="190827" y="2385063"/>
                  </a:lnTo>
                  <a:lnTo>
                    <a:pt x="145966" y="2371138"/>
                  </a:lnTo>
                  <a:lnTo>
                    <a:pt x="105369" y="2349103"/>
                  </a:lnTo>
                  <a:lnTo>
                    <a:pt x="69999" y="2319920"/>
                  </a:lnTo>
                  <a:lnTo>
                    <a:pt x="40816" y="2284549"/>
                  </a:lnTo>
                  <a:lnTo>
                    <a:pt x="18781" y="2243953"/>
                  </a:lnTo>
                  <a:lnTo>
                    <a:pt x="4855" y="2199092"/>
                  </a:lnTo>
                  <a:lnTo>
                    <a:pt x="0" y="2150927"/>
                  </a:lnTo>
                  <a:lnTo>
                    <a:pt x="0" y="238992"/>
                  </a:lnTo>
                  <a:lnTo>
                    <a:pt x="4855" y="190827"/>
                  </a:lnTo>
                  <a:lnTo>
                    <a:pt x="18781" y="145965"/>
                  </a:lnTo>
                  <a:lnTo>
                    <a:pt x="40816" y="105369"/>
                  </a:lnTo>
                  <a:lnTo>
                    <a:pt x="69999" y="69999"/>
                  </a:lnTo>
                  <a:lnTo>
                    <a:pt x="105369" y="40816"/>
                  </a:lnTo>
                  <a:lnTo>
                    <a:pt x="145966" y="18781"/>
                  </a:lnTo>
                  <a:lnTo>
                    <a:pt x="190827" y="4855"/>
                  </a:lnTo>
                  <a:lnTo>
                    <a:pt x="238992" y="0"/>
                  </a:lnTo>
                  <a:lnTo>
                    <a:pt x="9520464" y="0"/>
                  </a:lnTo>
                  <a:lnTo>
                    <a:pt x="9567307" y="4634"/>
                  </a:lnTo>
                  <a:lnTo>
                    <a:pt x="9611922" y="18192"/>
                  </a:lnTo>
                  <a:lnTo>
                    <a:pt x="9653057" y="40153"/>
                  </a:lnTo>
                  <a:lnTo>
                    <a:pt x="9689457" y="69999"/>
                  </a:lnTo>
                  <a:lnTo>
                    <a:pt x="9719303" y="106399"/>
                  </a:lnTo>
                  <a:lnTo>
                    <a:pt x="9741264" y="147533"/>
                  </a:lnTo>
                  <a:lnTo>
                    <a:pt x="9754821" y="192149"/>
                  </a:lnTo>
                  <a:lnTo>
                    <a:pt x="9759456" y="238992"/>
                  </a:lnTo>
                  <a:lnTo>
                    <a:pt x="9759456" y="2150927"/>
                  </a:lnTo>
                  <a:lnTo>
                    <a:pt x="9754601" y="2199092"/>
                  </a:lnTo>
                  <a:lnTo>
                    <a:pt x="9740675" y="2243953"/>
                  </a:lnTo>
                  <a:lnTo>
                    <a:pt x="9718640" y="2284549"/>
                  </a:lnTo>
                  <a:lnTo>
                    <a:pt x="9689457" y="2319920"/>
                  </a:lnTo>
                  <a:lnTo>
                    <a:pt x="9654087" y="2349103"/>
                  </a:lnTo>
                  <a:lnTo>
                    <a:pt x="9613491" y="2371138"/>
                  </a:lnTo>
                  <a:lnTo>
                    <a:pt x="9568630" y="2385063"/>
                  </a:lnTo>
                  <a:lnTo>
                    <a:pt x="9520464" y="2389919"/>
                  </a:lnTo>
                  <a:close/>
                </a:path>
              </a:pathLst>
            </a:custGeom>
            <a:solidFill>
              <a:srgbClr val="8DAB8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0" name="Google Shape;20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75158" y="7473108"/>
              <a:ext cx="1314455" cy="13144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11"/>
          <p:cNvSpPr txBox="1"/>
          <p:nvPr/>
        </p:nvSpPr>
        <p:spPr>
          <a:xfrm>
            <a:off x="10347514" y="7217205"/>
            <a:ext cx="6433185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ahoma"/>
                <a:ea typeface="Tahoma"/>
                <a:cs typeface="Tahoma"/>
                <a:sym typeface="Tahoma"/>
              </a:rPr>
              <a:t>SPI: El bus SPI (Serial Peripheral Interface) usa cuatro hilos para la transmisión de datos: MOSI, MISO, SCK y CS. Es una opción rápida y eficiente para la comunicación entre Arduino y dispositivos periféricos.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2598800" y="406150"/>
            <a:ext cx="13957500" cy="2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550">
            <a:spAutoFit/>
          </a:bodyPr>
          <a:lstStyle/>
          <a:p>
            <a:pPr indent="-4303394" lvl="0" marL="4315460" marR="5080" rtl="0" algn="l">
              <a:lnSpc>
                <a:spcPct val="1065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Comunicación entre Arduino y otros dispositivos</a:t>
            </a:r>
            <a:endParaRPr sz="59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7" name="Google Shape;207;p12"/>
          <p:cNvGrpSpPr/>
          <p:nvPr/>
        </p:nvGrpSpPr>
        <p:grpSpPr>
          <a:xfrm>
            <a:off x="1683105" y="2723464"/>
            <a:ext cx="15878218" cy="5120486"/>
            <a:chOff x="1683105" y="2723464"/>
            <a:chExt cx="15878218" cy="5120486"/>
          </a:xfrm>
        </p:grpSpPr>
        <p:pic>
          <p:nvPicPr>
            <p:cNvPr id="208" name="Google Shape;20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81209" y="3196902"/>
              <a:ext cx="5580114" cy="4647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043168" y="3258861"/>
              <a:ext cx="5402312" cy="44692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2"/>
            <p:cNvSpPr/>
            <p:nvPr/>
          </p:nvSpPr>
          <p:spPr>
            <a:xfrm>
              <a:off x="12024118" y="3239810"/>
              <a:ext cx="5440680" cy="4507865"/>
            </a:xfrm>
            <a:custGeom>
              <a:rect b="b" l="l" r="r" t="t"/>
              <a:pathLst>
                <a:path extrusionOk="0" h="4507865" w="5440680">
                  <a:moveTo>
                    <a:pt x="0" y="0"/>
                  </a:moveTo>
                  <a:lnTo>
                    <a:pt x="5440413" y="0"/>
                  </a:lnTo>
                  <a:lnTo>
                    <a:pt x="5440413" y="4507348"/>
                  </a:lnTo>
                  <a:lnTo>
                    <a:pt x="0" y="450734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1683105" y="2723464"/>
              <a:ext cx="9915525" cy="2233295"/>
            </a:xfrm>
            <a:custGeom>
              <a:rect b="b" l="l" r="r" t="t"/>
              <a:pathLst>
                <a:path extrusionOk="0" h="2233295" w="9915525">
                  <a:moveTo>
                    <a:pt x="9915518" y="2232868"/>
                  </a:moveTo>
                  <a:lnTo>
                    <a:pt x="0" y="2232868"/>
                  </a:lnTo>
                  <a:lnTo>
                    <a:pt x="0" y="0"/>
                  </a:lnTo>
                  <a:lnTo>
                    <a:pt x="9915518" y="0"/>
                  </a:lnTo>
                  <a:lnTo>
                    <a:pt x="9915518" y="2232868"/>
                  </a:lnTo>
                  <a:close/>
                </a:path>
              </a:pathLst>
            </a:custGeom>
            <a:solidFill>
              <a:srgbClr val="A5A5A5">
                <a:alpha val="274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1683105" y="2723464"/>
              <a:ext cx="9915525" cy="2233295"/>
            </a:xfrm>
            <a:custGeom>
              <a:rect b="b" l="l" r="r" t="t"/>
              <a:pathLst>
                <a:path extrusionOk="0" h="2233295" w="9915525">
                  <a:moveTo>
                    <a:pt x="0" y="0"/>
                  </a:moveTo>
                  <a:lnTo>
                    <a:pt x="9915518" y="0"/>
                  </a:lnTo>
                  <a:lnTo>
                    <a:pt x="9915518" y="2232868"/>
                  </a:lnTo>
                  <a:lnTo>
                    <a:pt x="0" y="223286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12"/>
          <p:cNvSpPr txBox="1"/>
          <p:nvPr/>
        </p:nvSpPr>
        <p:spPr>
          <a:xfrm>
            <a:off x="1872708" y="2855128"/>
            <a:ext cx="22911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Comunicación Serial</a:t>
            </a:r>
            <a:endParaRPr sz="18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740429" y="2877354"/>
            <a:ext cx="4812030" cy="1925320"/>
          </a:xfrm>
          <a:custGeom>
            <a:rect b="b" l="l" r="r" t="t"/>
            <a:pathLst>
              <a:path extrusionOk="0" h="1925320" w="4812030">
                <a:moveTo>
                  <a:pt x="4811904" y="1925090"/>
                </a:moveTo>
                <a:lnTo>
                  <a:pt x="0" y="1925090"/>
                </a:lnTo>
                <a:lnTo>
                  <a:pt x="0" y="0"/>
                </a:lnTo>
                <a:lnTo>
                  <a:pt x="4811904" y="0"/>
                </a:lnTo>
                <a:lnTo>
                  <a:pt x="4811904" y="192509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6740430" y="2855128"/>
            <a:ext cx="4743600" cy="1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5080" rtl="0" algn="l">
              <a:lnSpc>
                <a:spcPct val="16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Permite el intercambio de datos entre Arduino y computadoras, smartphones, módems y otros dispositivos a través de los pines TX y RX.</a:t>
            </a:r>
            <a:endParaRPr sz="18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6" name="Google Shape;216;p12"/>
          <p:cNvGrpSpPr/>
          <p:nvPr/>
        </p:nvGrpSpPr>
        <p:grpSpPr>
          <a:xfrm>
            <a:off x="1683106" y="4956333"/>
            <a:ext cx="9915525" cy="2233295"/>
            <a:chOff x="1683106" y="4956333"/>
            <a:chExt cx="9915525" cy="2233295"/>
          </a:xfrm>
        </p:grpSpPr>
        <p:sp>
          <p:nvSpPr>
            <p:cNvPr id="217" name="Google Shape;217;p12"/>
            <p:cNvSpPr/>
            <p:nvPr/>
          </p:nvSpPr>
          <p:spPr>
            <a:xfrm>
              <a:off x="1683106" y="4956333"/>
              <a:ext cx="9915525" cy="2233295"/>
            </a:xfrm>
            <a:custGeom>
              <a:rect b="b" l="l" r="r" t="t"/>
              <a:pathLst>
                <a:path extrusionOk="0" h="2233295" w="9915525">
                  <a:moveTo>
                    <a:pt x="9915517" y="2232868"/>
                  </a:moveTo>
                  <a:lnTo>
                    <a:pt x="0" y="2232868"/>
                  </a:lnTo>
                  <a:lnTo>
                    <a:pt x="0" y="0"/>
                  </a:lnTo>
                  <a:lnTo>
                    <a:pt x="9915517" y="0"/>
                  </a:lnTo>
                  <a:lnTo>
                    <a:pt x="9915517" y="2232868"/>
                  </a:lnTo>
                  <a:close/>
                </a:path>
              </a:pathLst>
            </a:custGeom>
            <a:solidFill>
              <a:srgbClr val="000000">
                <a:alpha val="274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2"/>
            <p:cNvSpPr/>
            <p:nvPr/>
          </p:nvSpPr>
          <p:spPr>
            <a:xfrm>
              <a:off x="1683106" y="4956333"/>
              <a:ext cx="9915525" cy="2233295"/>
            </a:xfrm>
            <a:custGeom>
              <a:rect b="b" l="l" r="r" t="t"/>
              <a:pathLst>
                <a:path extrusionOk="0" h="2233295" w="9915525">
                  <a:moveTo>
                    <a:pt x="0" y="0"/>
                  </a:moveTo>
                  <a:lnTo>
                    <a:pt x="9915517" y="0"/>
                  </a:lnTo>
                  <a:lnTo>
                    <a:pt x="9915517" y="2232868"/>
                  </a:lnTo>
                  <a:lnTo>
                    <a:pt x="0" y="223286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12"/>
          <p:cNvSpPr txBox="1"/>
          <p:nvPr/>
        </p:nvSpPr>
        <p:spPr>
          <a:xfrm>
            <a:off x="1860008" y="5087997"/>
            <a:ext cx="2230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Protocolos I2C y SPI</a:t>
            </a:r>
            <a:endParaRPr sz="18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6740428" y="5110222"/>
            <a:ext cx="4812000" cy="21324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25120" rtl="0" algn="l">
              <a:lnSpc>
                <a:spcPct val="16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Facilitan la conexión de Arduino con sensores, actuadores, displays y chips de memoria, entre otros componentes, a través de buses de comunicación más eficientes</a:t>
            </a:r>
            <a:endParaRPr sz="18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6727729" y="6916797"/>
            <a:ext cx="11634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eficientes</a:t>
            </a: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.</a:t>
            </a:r>
            <a:endParaRPr sz="18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1790508" y="7543040"/>
            <a:ext cx="24555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Módulos inalámbricos</a:t>
            </a:r>
            <a:endParaRPr sz="18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6682904" y="7543039"/>
            <a:ext cx="4858500" cy="2132400"/>
          </a:xfrm>
          <a:prstGeom prst="rect">
            <a:avLst/>
          </a:pr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74930" rtl="0" algn="l">
              <a:lnSpc>
                <a:spcPct val="16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ahoma"/>
                <a:ea typeface="Tahoma"/>
                <a:cs typeface="Tahoma"/>
                <a:sym typeface="Tahoma"/>
              </a:rPr>
              <a:t>Arduino puede integrarse con módulos WiFi, Bluetooth y ZigBee para permitir la comunicación inalámbrica con otros dispositivos, ampliando las posibilidades de los proyectos.</a:t>
            </a:r>
            <a:endParaRPr sz="18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657380" y="7343274"/>
            <a:ext cx="9966960" cy="2653665"/>
          </a:xfrm>
          <a:custGeom>
            <a:rect b="b" l="l" r="r" t="t"/>
            <a:pathLst>
              <a:path extrusionOk="0" h="2653665" w="9966960">
                <a:moveTo>
                  <a:pt x="9966572" y="2653054"/>
                </a:moveTo>
                <a:lnTo>
                  <a:pt x="0" y="2653054"/>
                </a:lnTo>
                <a:lnTo>
                  <a:pt x="0" y="0"/>
                </a:lnTo>
                <a:lnTo>
                  <a:pt x="9966572" y="0"/>
                </a:lnTo>
                <a:lnTo>
                  <a:pt x="9966572" y="2653054"/>
                </a:lnTo>
                <a:close/>
              </a:path>
            </a:pathLst>
          </a:cu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/>
        </p:nvSpPr>
        <p:spPr>
          <a:xfrm>
            <a:off x="12416042" y="2110465"/>
            <a:ext cx="4665980" cy="354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900">
            <a:spAutoFit/>
          </a:bodyPr>
          <a:lstStyle/>
          <a:p>
            <a:pPr indent="-1269" lvl="0" marL="12065" marR="5080" rtl="0" algn="ctr">
              <a:lnSpc>
                <a:spcPct val="106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0">
                <a:solidFill>
                  <a:srgbClr val="191B0D"/>
                </a:solidFill>
                <a:latin typeface="Tahoma"/>
                <a:ea typeface="Tahoma"/>
                <a:cs typeface="Tahoma"/>
                <a:sym typeface="Tahoma"/>
              </a:rPr>
              <a:t>USO DE ACTUADOR ES CON ARDUINO</a:t>
            </a:r>
            <a:endParaRPr sz="63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0" name="Google Shape;2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34" y="2640133"/>
            <a:ext cx="8488832" cy="530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type="title"/>
          </p:nvPr>
        </p:nvSpPr>
        <p:spPr>
          <a:xfrm>
            <a:off x="1363002" y="3245775"/>
            <a:ext cx="19704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Motores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1362995" y="3975067"/>
            <a:ext cx="49518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5080" rtl="0" algn="l">
              <a:lnSpc>
                <a:spcPct val="16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Arduino puede controlar motores DC, pasos o servos, permitiendo el movimiento y el control de posición en proyectos robóticos, de automatización y de mecánica.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7036918" y="3245780"/>
            <a:ext cx="48786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Luces y Displays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657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La placa Arduino puede activar y controlar LEDs, pantallas LCD, matrices de LED y otros dispositivos de visualización, lo que la convierte en una herramienta poderosa para proyectos de iluminación y visualización.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12710841" y="3245780"/>
            <a:ext cx="47211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latin typeface="Tahoma"/>
                <a:ea typeface="Tahoma"/>
                <a:cs typeface="Tahoma"/>
                <a:sym typeface="Tahoma"/>
              </a:rPr>
              <a:t>Otros Actuadores</a:t>
            </a:r>
            <a:endParaRPr sz="27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657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2150">
                <a:latin typeface="Tahoma"/>
                <a:ea typeface="Tahoma"/>
                <a:cs typeface="Tahoma"/>
                <a:sym typeface="Tahoma"/>
              </a:rPr>
              <a:t>Además de motores y luces, Arduino puede controlar una amplia variedad de actuadores, como zumbadores, relés, válvulas y solenoides, expandiendo las posibilidades de interacción y control de los proyectos.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9775">
            <a:spAutoFit/>
          </a:bodyPr>
          <a:lstStyle/>
          <a:p>
            <a:pPr indent="0" lvl="0" marL="691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CLAVE APRENDIDOS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2020798" y="2489520"/>
            <a:ext cx="13936980" cy="6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1448" lvl="0" marL="313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¿Qué es Arduino?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36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Plataforma de hardware y software de código abierto para crear proyectos electrónicos.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71448" lvl="0" marL="313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Componentes principales de una placa Arduino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575945" lvl="0" marL="650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ahoma"/>
              <a:buAutoNum type="arabi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Microcontrolador (ej. ATmega328P)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623570" lvl="0" marL="650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ahoma"/>
              <a:buAutoNum type="arabi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Pines de entrada/salida digitales y analógicos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638175" lvl="0" marL="650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ahoma"/>
              <a:buAutoNum type="arabi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Interfaz USB para programación y comunicación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71448" lvl="1" marL="313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Funcionamiento básico del sistema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36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Cómo el microcontrolador ejecuta instrucciones para controlar sensores y actuadores.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71448" lvl="1" marL="313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Estructura del código Arduino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575945" lvl="0" marL="650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ahoma"/>
              <a:buAutoNum type="arabi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setup() → 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Configuración inicial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623570" lvl="0" marL="650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ahoma"/>
              <a:buAutoNum type="arabi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loop() → 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Ejecución continua del programa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171448" lvl="1" marL="313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Lenguaje de programación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36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Basado en C/C++, con funciones como digitalWrite()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analogRead()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Serial.print()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, etc.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171448" lvl="1" marL="313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Uso del IDE de Arduino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36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Entorno donde se escribe, compila y carga el código al dispositivo.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/>
          <p:nvPr/>
        </p:nvSpPr>
        <p:spPr>
          <a:xfrm>
            <a:off x="1931144" y="1944623"/>
            <a:ext cx="14589125" cy="636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822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Protocolos de comunicación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619760" lvl="0" marL="696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ahoma"/>
              <a:buAutoNum type="arabicPeriod"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Serial (TX/RX)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: comunicación básica con PC y otros dispositivos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675005" lvl="0" marL="696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ahoma"/>
              <a:buAutoNum type="arabicPeriod"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I2C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: conexión con múltiples dispositivos usando dos hilos (SDA, SCL)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683895" lvl="0" marL="696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ahoma"/>
              <a:buAutoNum type="arabicPeriod"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SPI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: comunicación rápida con sensores y memorias (MOSI, MISO, SCK, CS)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196850" lvl="1" marL="384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Uso de sensores y actuadores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1822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Cómo conectar y programar luces, motores, displays, zumbadores, etc.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196850" lvl="1" marL="384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Diseño e implementación de proyectos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584835" lvl="0" marL="696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ahoma"/>
              <a:buAutoNum type="arabicPeriod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Planificación del circuito y lógica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639445" lvl="0" marL="696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ahoma"/>
              <a:buAutoNum type="arabicPeriod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Programación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656589" lvl="0" marL="696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ahoma"/>
              <a:buAutoNum type="arabicPeriod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Pruebas y depuración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196850" lvl="1" marL="384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Aplicaciones prácticas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182245" marR="946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Creación de sistemas reales como alarmas, robots, sistemas de monitoreo ambiental, etc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9775">
            <a:spAutoFit/>
          </a:bodyPr>
          <a:lstStyle/>
          <a:p>
            <a:pPr indent="0" lvl="0" marL="18421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A DESARROLLAR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375802" y="2743740"/>
            <a:ext cx="15726410" cy="685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6850" lvl="0" marL="2146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3200">
                <a:latin typeface="Tahoma"/>
                <a:ea typeface="Tahoma"/>
                <a:cs typeface="Tahoma"/>
                <a:sym typeface="Tahoma"/>
              </a:rPr>
              <a:t>Organización: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8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El desarrollo de proyectos con Arduino requiere una planificación clara del circuito, la estructura del código y la distribución de tareas. Organizar adecuadamente los componentes, los esquemas eléctricos y los bloques de programación es clave para el éxito del sistema.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196850" lvl="0" marL="2146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3200">
                <a:latin typeface="Tahoma"/>
                <a:ea typeface="Tahoma"/>
                <a:cs typeface="Tahoma"/>
                <a:sym typeface="Tahoma"/>
              </a:rPr>
              <a:t>Constancia: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27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Aprender a programar y depurar en Arduino implica ensayo y error. La constancia permite mejorar poco a poco la lógica del programa, perfeccionar el montaje de hardware y resolver errores en el funcionamiento del prototipo.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196850" lvl="0" marL="2146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3200">
                <a:latin typeface="Tahoma"/>
                <a:ea typeface="Tahoma"/>
                <a:cs typeface="Tahoma"/>
                <a:sym typeface="Tahoma"/>
              </a:rPr>
              <a:t>Trabajo colaborativo: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En muchos proyectos Arduino se trabaja en equipo: unos se encargan del diseño del hardware, otros del software, y otros de la documentación o presentación. La colaboración mejora los resultados y permite una mejor división de responsabilidades.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>
            <p:ph type="title"/>
          </p:nvPr>
        </p:nvSpPr>
        <p:spPr>
          <a:xfrm>
            <a:off x="3162057" y="85278"/>
            <a:ext cx="12230100" cy="198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9775">
            <a:spAutoFit/>
          </a:bodyPr>
          <a:lstStyle/>
          <a:p>
            <a:pPr indent="0" lvl="0" marL="39122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436807" y="4392496"/>
            <a:ext cx="12616815" cy="1284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6848" lvl="0" marL="15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2900">
                <a:latin typeface="Arial"/>
                <a:ea typeface="Arial"/>
                <a:cs typeface="Arial"/>
                <a:sym typeface="Arial"/>
              </a:rPr>
              <a:t>Mano, M. Morris. </a:t>
            </a:r>
            <a:r>
              <a:rPr b="1" i="1" lang="en-US" sz="2900">
                <a:latin typeface="Arial"/>
                <a:ea typeface="Arial"/>
                <a:cs typeface="Arial"/>
                <a:sym typeface="Arial"/>
              </a:rPr>
              <a:t>Diseño Digital</a:t>
            </a:r>
            <a:r>
              <a:rPr b="1" lang="en-US" sz="2900">
                <a:latin typeface="Arial"/>
                <a:ea typeface="Arial"/>
                <a:cs typeface="Arial"/>
                <a:sym typeface="Arial"/>
              </a:rPr>
              <a:t>. 3.ª Edición. Pearson Educación, 2003.</a:t>
            </a:r>
            <a:r>
              <a:rPr b="1" lang="en-US" sz="5000">
                <a:latin typeface="Tahoma"/>
                <a:ea typeface="Tahoma"/>
                <a:cs typeface="Tahoma"/>
                <a:sym typeface="Tahoma"/>
              </a:rPr>
              <a:t>.</a:t>
            </a:r>
            <a:endParaRPr sz="5000">
              <a:latin typeface="Tahoma"/>
              <a:ea typeface="Tahoma"/>
              <a:cs typeface="Tahoma"/>
              <a:sym typeface="Tahoma"/>
            </a:endParaRPr>
          </a:p>
          <a:p>
            <a:pPr indent="-196850" lvl="0" marL="15430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b="1" lang="en-US" sz="3200">
                <a:latin typeface="Tahoma"/>
                <a:ea typeface="Tahoma"/>
                <a:cs typeface="Tahoma"/>
                <a:sym typeface="Tahoma"/>
              </a:rPr>
              <a:t>Arduino Documentation. </a:t>
            </a:r>
            <a:r>
              <a:rPr b="1" lang="en-US" sz="3200" u="sng">
                <a:solidFill>
                  <a:srgbClr val="77A2BB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https://docs.arduino.cc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 txBox="1"/>
          <p:nvPr/>
        </p:nvSpPr>
        <p:spPr>
          <a:xfrm>
            <a:off x="9172961" y="3345421"/>
            <a:ext cx="1253490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POR</a:t>
            </a:r>
            <a:endParaRPr sz="61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12256685" y="3345421"/>
            <a:ext cx="848360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SU</a:t>
            </a:r>
            <a:endParaRPr sz="61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8" name="Google Shape;268;p19"/>
          <p:cNvSpPr txBox="1"/>
          <p:nvPr>
            <p:ph type="title"/>
          </p:nvPr>
        </p:nvSpPr>
        <p:spPr>
          <a:xfrm>
            <a:off x="4425095" y="3345421"/>
            <a:ext cx="3177540" cy="192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247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¡GRACIAS ATENCIÓN!</a:t>
            </a:r>
            <a:endParaRPr sz="6100"/>
          </a:p>
        </p:txBody>
      </p:sp>
      <p:sp>
        <p:nvSpPr>
          <p:cNvPr id="269" name="Google Shape;269;p19"/>
          <p:cNvSpPr txBox="1"/>
          <p:nvPr/>
        </p:nvSpPr>
        <p:spPr>
          <a:xfrm>
            <a:off x="7643278" y="5920003"/>
            <a:ext cx="224536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2463070" y="7730571"/>
            <a:ext cx="13418185" cy="927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095240" lvl="0" marL="5107305" marR="508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2025-11-06T18:14:14Z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2025-11-06T00:00:00Z</vt:filetime>
  </property>
</Properties>
</file>