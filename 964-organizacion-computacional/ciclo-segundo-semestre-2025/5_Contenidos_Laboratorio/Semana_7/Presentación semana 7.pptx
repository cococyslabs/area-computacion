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Lobster"/>
      <p:regular r:id="rId26"/>
    </p:embeddedFont>
    <p:embeddedFont>
      <p:font typeface="Pacifico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KURpDyFgTtuBofAJ7ZQexLLit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bster-regular.fntdata"/><Relationship Id="rId25" Type="http://schemas.openxmlformats.org/officeDocument/2006/relationships/slide" Target="slides/slide20.xml"/><Relationship Id="rId28" Type="http://schemas.openxmlformats.org/officeDocument/2006/relationships/font" Target="fonts/OpenSans-regular.fntdata"/><Relationship Id="rId27" Type="http://schemas.openxmlformats.org/officeDocument/2006/relationships/font" Target="fonts/Pacific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f262177b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64f2621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fea4f63_0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64afea4f6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4afea4f6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hyperlink" Target="https://youtu.be/Ac99ll_ery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ielectel.com/flip-flops-que-son-como-funcionan-y-sus-tipos/" TargetMode="External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TUTOR:</a:t>
            </a:r>
            <a:endParaRPr/>
          </a:p>
        </p:txBody>
      </p:sp>
      <p:sp>
        <p:nvSpPr>
          <p:cNvPr id="86" name="Google Shape;86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COMPUTACIONAL</a:t>
            </a:r>
            <a:endParaRPr/>
          </a:p>
        </p:txBody>
      </p:sp>
      <p:sp>
        <p:nvSpPr>
          <p:cNvPr id="87" name="Google Shape;87;g364afea4f63_0_0"/>
          <p:cNvSpPr/>
          <p:nvPr/>
        </p:nvSpPr>
        <p:spPr>
          <a:xfrm>
            <a:off x="13701252" y="1873045"/>
            <a:ext cx="4365522" cy="87983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64afea4f63_0_0"/>
          <p:cNvSpPr/>
          <p:nvPr/>
        </p:nvSpPr>
        <p:spPr>
          <a:xfrm>
            <a:off x="13701252" y="2752875"/>
            <a:ext cx="4365522" cy="87983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0249" y="7555025"/>
            <a:ext cx="8526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coputacional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591255" y="2167474"/>
            <a:ext cx="12375000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8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7: Introducción a la lógica secuencial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176619" y="4568608"/>
            <a:ext cx="5238589" cy="845385"/>
            <a:chOff x="0" y="-55711"/>
            <a:chExt cx="2230331" cy="35992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380410" y="-55711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Tipos de Flip Flops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</a:t>
              </a: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76619" y="5400488"/>
            <a:ext cx="4926070" cy="889199"/>
            <a:chOff x="0" y="-94854"/>
            <a:chExt cx="2097276" cy="378577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247355" y="-9485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Conversiones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6619" y="6401405"/>
            <a:ext cx="6433753" cy="869855"/>
            <a:chOff x="0" y="-86618"/>
            <a:chExt cx="2739173" cy="370341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452222" y="-86618"/>
              <a:ext cx="228695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Aplicaciones en Electrónica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176619" y="8591893"/>
            <a:ext cx="4613551" cy="666407"/>
          </a:xfrm>
          <a:custGeom>
            <a:rect b="b" l="l" r="r" t="t"/>
            <a:pathLst>
              <a:path extrusionOk="0" h="283723" w="1964221">
                <a:moveTo>
                  <a:pt x="1761021" y="0"/>
                </a:moveTo>
                <a:lnTo>
                  <a:pt x="0" y="0"/>
                </a:lnTo>
                <a:lnTo>
                  <a:pt x="0" y="283723"/>
                </a:lnTo>
                <a:lnTo>
                  <a:pt x="1761021" y="283723"/>
                </a:lnTo>
                <a:lnTo>
                  <a:pt x="1964221" y="141862"/>
                </a:lnTo>
                <a:lnTo>
                  <a:pt x="17610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0" name="Google Shape;130;p3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3"/>
          <p:cNvGrpSpPr/>
          <p:nvPr/>
        </p:nvGrpSpPr>
        <p:grpSpPr>
          <a:xfrm>
            <a:off x="5340239" y="4407225"/>
            <a:ext cx="11131068" cy="1835230"/>
            <a:chOff x="2640" y="1150643"/>
            <a:chExt cx="11131068" cy="1835230"/>
          </a:xfrm>
        </p:grpSpPr>
        <p:sp>
          <p:nvSpPr>
            <p:cNvPr id="132" name="Google Shape;132;p3"/>
            <p:cNvSpPr/>
            <p:nvPr/>
          </p:nvSpPr>
          <p:spPr>
            <a:xfrm>
              <a:off x="1174118" y="1150643"/>
              <a:ext cx="714287" cy="7142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2640" y="2140267"/>
              <a:ext cx="3057244" cy="845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2640" y="2140267"/>
              <a:ext cx="3057244" cy="845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Comprende y explica el funcionamiento de circuitos digitales secuenciales mediante el análisis de flip-flops SR, D, JK y T.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423894" y="1150643"/>
              <a:ext cx="714287" cy="7142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337662" y="2140267"/>
              <a:ext cx="2886751" cy="845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3337662" y="2140267"/>
              <a:ext cx="2886751" cy="845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Diseña e implementa circuitos secuenciales básicos aplicando técnicas de diseño lógico para aplicaciones de almacenamiento, conteo y control de estados.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8460807" y="1150643"/>
              <a:ext cx="714287" cy="71428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502192" y="2140267"/>
              <a:ext cx="4631516" cy="845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6502192" y="2140267"/>
              <a:ext cx="4631516" cy="845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"Implementa Circuitos digitales secuenciales utilizando flip-flops SR, D, JK y T	 mediante simulación en Proteus y montaje en protoboard aplicando técnicas de diseño lógico para crear y comprobar aplicaciones de almacenamiento, conteo y control de estados en sistemas electrónicos digitales "						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960120" y="488053"/>
            <a:ext cx="6552903" cy="2935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 los Flip Flops</a:t>
            </a:r>
            <a:endParaRPr b="0" i="0" sz="7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60120" y="3880491"/>
            <a:ext cx="5212080" cy="27432"/>
          </a:xfrm>
          <a:custGeom>
            <a:rect b="b" l="l" r="r" t="t"/>
            <a:pathLst>
              <a:path extrusionOk="0" fill="none" h="27432" w="5212080">
                <a:moveTo>
                  <a:pt x="0" y="0"/>
                </a:moveTo>
                <a:cubicBezTo>
                  <a:pt x="128838" y="-11329"/>
                  <a:pt x="306779" y="5198"/>
                  <a:pt x="599389" y="0"/>
                </a:cubicBezTo>
                <a:cubicBezTo>
                  <a:pt x="891999" y="-5198"/>
                  <a:pt x="916635" y="-24425"/>
                  <a:pt x="1198778" y="0"/>
                </a:cubicBezTo>
                <a:cubicBezTo>
                  <a:pt x="1480921" y="24425"/>
                  <a:pt x="1761605" y="-17440"/>
                  <a:pt x="1954530" y="0"/>
                </a:cubicBezTo>
                <a:cubicBezTo>
                  <a:pt x="2147455" y="17440"/>
                  <a:pt x="2239112" y="-16223"/>
                  <a:pt x="2501798" y="0"/>
                </a:cubicBezTo>
                <a:cubicBezTo>
                  <a:pt x="2764484" y="16223"/>
                  <a:pt x="2838074" y="12987"/>
                  <a:pt x="3049067" y="0"/>
                </a:cubicBezTo>
                <a:cubicBezTo>
                  <a:pt x="3260060" y="-12987"/>
                  <a:pt x="3470388" y="-15138"/>
                  <a:pt x="3700577" y="0"/>
                </a:cubicBezTo>
                <a:cubicBezTo>
                  <a:pt x="3930766" y="15138"/>
                  <a:pt x="4052672" y="-14938"/>
                  <a:pt x="4247845" y="0"/>
                </a:cubicBezTo>
                <a:cubicBezTo>
                  <a:pt x="4443018" y="14938"/>
                  <a:pt x="4730158" y="-1623"/>
                  <a:pt x="5212080" y="0"/>
                </a:cubicBezTo>
                <a:cubicBezTo>
                  <a:pt x="5212790" y="9050"/>
                  <a:pt x="5211442" y="21151"/>
                  <a:pt x="5212080" y="27432"/>
                </a:cubicBezTo>
                <a:cubicBezTo>
                  <a:pt x="4991075" y="27722"/>
                  <a:pt x="4932008" y="37429"/>
                  <a:pt x="4664812" y="27432"/>
                </a:cubicBezTo>
                <a:cubicBezTo>
                  <a:pt x="4397616" y="17435"/>
                  <a:pt x="4374940" y="47585"/>
                  <a:pt x="4117543" y="27432"/>
                </a:cubicBezTo>
                <a:cubicBezTo>
                  <a:pt x="3860146" y="7279"/>
                  <a:pt x="3773367" y="36569"/>
                  <a:pt x="3466033" y="27432"/>
                </a:cubicBezTo>
                <a:cubicBezTo>
                  <a:pt x="3158699" y="18296"/>
                  <a:pt x="3137854" y="54523"/>
                  <a:pt x="2918765" y="27432"/>
                </a:cubicBezTo>
                <a:cubicBezTo>
                  <a:pt x="2699676" y="341"/>
                  <a:pt x="2536311" y="13149"/>
                  <a:pt x="2423617" y="27432"/>
                </a:cubicBezTo>
                <a:cubicBezTo>
                  <a:pt x="2310923" y="41715"/>
                  <a:pt x="2021228" y="23141"/>
                  <a:pt x="1772107" y="27432"/>
                </a:cubicBezTo>
                <a:cubicBezTo>
                  <a:pt x="1522986" y="31724"/>
                  <a:pt x="1317107" y="20364"/>
                  <a:pt x="1120597" y="27432"/>
                </a:cubicBezTo>
                <a:cubicBezTo>
                  <a:pt x="924087" y="34501"/>
                  <a:pt x="454536" y="8495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extrusionOk="0" h="27432" w="5212080">
                <a:moveTo>
                  <a:pt x="0" y="0"/>
                </a:moveTo>
                <a:cubicBezTo>
                  <a:pt x="233695" y="-764"/>
                  <a:pt x="364103" y="24957"/>
                  <a:pt x="547268" y="0"/>
                </a:cubicBezTo>
                <a:cubicBezTo>
                  <a:pt x="730433" y="-24957"/>
                  <a:pt x="937737" y="-21107"/>
                  <a:pt x="1303020" y="0"/>
                </a:cubicBezTo>
                <a:cubicBezTo>
                  <a:pt x="1668303" y="21107"/>
                  <a:pt x="1620404" y="13071"/>
                  <a:pt x="1798168" y="0"/>
                </a:cubicBezTo>
                <a:cubicBezTo>
                  <a:pt x="1975932" y="-13071"/>
                  <a:pt x="2090998" y="4232"/>
                  <a:pt x="2293315" y="0"/>
                </a:cubicBezTo>
                <a:cubicBezTo>
                  <a:pt x="2495632" y="-4232"/>
                  <a:pt x="2738710" y="-17332"/>
                  <a:pt x="2944825" y="0"/>
                </a:cubicBezTo>
                <a:cubicBezTo>
                  <a:pt x="3150940" y="17332"/>
                  <a:pt x="3308101" y="26665"/>
                  <a:pt x="3544214" y="0"/>
                </a:cubicBezTo>
                <a:cubicBezTo>
                  <a:pt x="3780327" y="-26665"/>
                  <a:pt x="4028425" y="-24303"/>
                  <a:pt x="4247845" y="0"/>
                </a:cubicBezTo>
                <a:cubicBezTo>
                  <a:pt x="4467265" y="24303"/>
                  <a:pt x="4779418" y="33057"/>
                  <a:pt x="5212080" y="0"/>
                </a:cubicBezTo>
                <a:cubicBezTo>
                  <a:pt x="5212137" y="6776"/>
                  <a:pt x="5210915" y="20935"/>
                  <a:pt x="5212080" y="27432"/>
                </a:cubicBezTo>
                <a:cubicBezTo>
                  <a:pt x="4921467" y="60248"/>
                  <a:pt x="4631077" y="62273"/>
                  <a:pt x="4456328" y="27432"/>
                </a:cubicBezTo>
                <a:cubicBezTo>
                  <a:pt x="4281579" y="-7409"/>
                  <a:pt x="4048724" y="47667"/>
                  <a:pt x="3856939" y="27432"/>
                </a:cubicBezTo>
                <a:cubicBezTo>
                  <a:pt x="3665154" y="7197"/>
                  <a:pt x="3498754" y="15866"/>
                  <a:pt x="3257550" y="27432"/>
                </a:cubicBezTo>
                <a:cubicBezTo>
                  <a:pt x="3016346" y="38998"/>
                  <a:pt x="2854089" y="39360"/>
                  <a:pt x="2710282" y="27432"/>
                </a:cubicBezTo>
                <a:cubicBezTo>
                  <a:pt x="2566475" y="15504"/>
                  <a:pt x="2336282" y="56792"/>
                  <a:pt x="2110892" y="27432"/>
                </a:cubicBezTo>
                <a:cubicBezTo>
                  <a:pt x="1885502" y="-1928"/>
                  <a:pt x="1825148" y="42061"/>
                  <a:pt x="1615745" y="27432"/>
                </a:cubicBezTo>
                <a:cubicBezTo>
                  <a:pt x="1406342" y="12803"/>
                  <a:pt x="1193655" y="44031"/>
                  <a:pt x="1016356" y="27432"/>
                </a:cubicBezTo>
                <a:cubicBezTo>
                  <a:pt x="839057" y="10833"/>
                  <a:pt x="292902" y="7819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960120" y="4309348"/>
            <a:ext cx="6365383" cy="49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fiip fiops son elementos fundamentales en la electrónica digital. Se utilizan para almacenar información y son la base de la memoria en circuitos digitales. En esta presentación, exploraremos los diferentes tipos de ﬂip ﬂops, sus conversiones y aplicaciones en el campo de la electrónica.</a:t>
            </a:r>
            <a:endParaRPr/>
          </a:p>
        </p:txBody>
      </p:sp>
      <p:pic>
        <p:nvPicPr>
          <p:cNvPr descr="Flip-Flops: Qué Son, Cómo Funcionan, y sus Tipos." id="149" name="Google Shape;149;p4"/>
          <p:cNvPicPr preferRelativeResize="0"/>
          <p:nvPr/>
        </p:nvPicPr>
        <p:blipFill rotWithShape="1">
          <a:blip r:embed="rId3">
            <a:alphaModFix/>
          </a:blip>
          <a:srcRect b="301" l="0" r="-2" t="0"/>
          <a:stretch/>
        </p:blipFill>
        <p:spPr>
          <a:xfrm>
            <a:off x="7967553" y="10"/>
            <a:ext cx="10318162" cy="10286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261872" y="822960"/>
            <a:ext cx="5401290" cy="8147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8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de Flip Flops</a:t>
            </a:r>
            <a:endParaRPr b="0" i="0" sz="8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 rot="5400000">
            <a:off x="3815975" y="4888073"/>
            <a:ext cx="6720840" cy="27432"/>
          </a:xfrm>
          <a:custGeom>
            <a:rect b="b" l="l" r="r" t="t"/>
            <a:pathLst>
              <a:path extrusionOk="0" fill="none" h="27432" w="6720840">
                <a:moveTo>
                  <a:pt x="0" y="0"/>
                </a:moveTo>
                <a:cubicBezTo>
                  <a:pt x="230225" y="22712"/>
                  <a:pt x="497837" y="-22454"/>
                  <a:pt x="672084" y="0"/>
                </a:cubicBezTo>
                <a:cubicBezTo>
                  <a:pt x="846331" y="22454"/>
                  <a:pt x="1065787" y="7145"/>
                  <a:pt x="1344168" y="0"/>
                </a:cubicBezTo>
                <a:cubicBezTo>
                  <a:pt x="1622549" y="-7145"/>
                  <a:pt x="1727735" y="19685"/>
                  <a:pt x="2016252" y="0"/>
                </a:cubicBezTo>
                <a:cubicBezTo>
                  <a:pt x="2304769" y="-19685"/>
                  <a:pt x="2474481" y="18666"/>
                  <a:pt x="2822753" y="0"/>
                </a:cubicBezTo>
                <a:cubicBezTo>
                  <a:pt x="3171025" y="-18666"/>
                  <a:pt x="3328492" y="-4011"/>
                  <a:pt x="3562045" y="0"/>
                </a:cubicBezTo>
                <a:cubicBezTo>
                  <a:pt x="3795598" y="4011"/>
                  <a:pt x="3934344" y="18190"/>
                  <a:pt x="4032504" y="0"/>
                </a:cubicBezTo>
                <a:cubicBezTo>
                  <a:pt x="4130664" y="-18190"/>
                  <a:pt x="4364758" y="-5129"/>
                  <a:pt x="4637380" y="0"/>
                </a:cubicBezTo>
                <a:cubicBezTo>
                  <a:pt x="4910002" y="5129"/>
                  <a:pt x="5217194" y="-8463"/>
                  <a:pt x="5443880" y="0"/>
                </a:cubicBezTo>
                <a:cubicBezTo>
                  <a:pt x="5670566" y="8463"/>
                  <a:pt x="5966429" y="-893"/>
                  <a:pt x="6115964" y="0"/>
                </a:cubicBezTo>
                <a:cubicBezTo>
                  <a:pt x="6265499" y="893"/>
                  <a:pt x="6595925" y="-18622"/>
                  <a:pt x="6720840" y="0"/>
                </a:cubicBezTo>
                <a:cubicBezTo>
                  <a:pt x="6720582" y="7487"/>
                  <a:pt x="6719919" y="19984"/>
                  <a:pt x="6720840" y="27432"/>
                </a:cubicBezTo>
                <a:cubicBezTo>
                  <a:pt x="6498484" y="41642"/>
                  <a:pt x="6403740" y="11820"/>
                  <a:pt x="6183173" y="27432"/>
                </a:cubicBezTo>
                <a:cubicBezTo>
                  <a:pt x="5962606" y="43044"/>
                  <a:pt x="5588173" y="23028"/>
                  <a:pt x="5376672" y="27432"/>
                </a:cubicBezTo>
                <a:cubicBezTo>
                  <a:pt x="5165171" y="31836"/>
                  <a:pt x="4976332" y="28258"/>
                  <a:pt x="4839005" y="27432"/>
                </a:cubicBezTo>
                <a:cubicBezTo>
                  <a:pt x="4701678" y="26606"/>
                  <a:pt x="4496355" y="47443"/>
                  <a:pt x="4368546" y="27432"/>
                </a:cubicBezTo>
                <a:cubicBezTo>
                  <a:pt x="4240737" y="7421"/>
                  <a:pt x="4061284" y="13951"/>
                  <a:pt x="3898087" y="27432"/>
                </a:cubicBezTo>
                <a:cubicBezTo>
                  <a:pt x="3734890" y="40913"/>
                  <a:pt x="3502915" y="13124"/>
                  <a:pt x="3158795" y="27432"/>
                </a:cubicBezTo>
                <a:cubicBezTo>
                  <a:pt x="2814675" y="41740"/>
                  <a:pt x="2835392" y="27235"/>
                  <a:pt x="2688336" y="27432"/>
                </a:cubicBezTo>
                <a:cubicBezTo>
                  <a:pt x="2541280" y="27629"/>
                  <a:pt x="2307706" y="60476"/>
                  <a:pt x="2016252" y="27432"/>
                </a:cubicBezTo>
                <a:cubicBezTo>
                  <a:pt x="1724798" y="-5612"/>
                  <a:pt x="1733667" y="27732"/>
                  <a:pt x="1478585" y="27432"/>
                </a:cubicBezTo>
                <a:cubicBezTo>
                  <a:pt x="1223503" y="27132"/>
                  <a:pt x="1078527" y="31851"/>
                  <a:pt x="806501" y="27432"/>
                </a:cubicBezTo>
                <a:cubicBezTo>
                  <a:pt x="534475" y="23013"/>
                  <a:pt x="221411" y="-1678"/>
                  <a:pt x="0" y="27432"/>
                </a:cubicBezTo>
                <a:cubicBezTo>
                  <a:pt x="-14" y="18173"/>
                  <a:pt x="-517" y="8990"/>
                  <a:pt x="0" y="0"/>
                </a:cubicBezTo>
                <a:close/>
              </a:path>
              <a:path extrusionOk="0" h="27432" w="6720840">
                <a:moveTo>
                  <a:pt x="0" y="0"/>
                </a:moveTo>
                <a:cubicBezTo>
                  <a:pt x="124531" y="-22389"/>
                  <a:pt x="354282" y="5467"/>
                  <a:pt x="604876" y="0"/>
                </a:cubicBezTo>
                <a:cubicBezTo>
                  <a:pt x="855470" y="-5467"/>
                  <a:pt x="967013" y="22460"/>
                  <a:pt x="1075334" y="0"/>
                </a:cubicBezTo>
                <a:cubicBezTo>
                  <a:pt x="1183655" y="-22460"/>
                  <a:pt x="1610061" y="34787"/>
                  <a:pt x="1881835" y="0"/>
                </a:cubicBezTo>
                <a:cubicBezTo>
                  <a:pt x="2153609" y="-34787"/>
                  <a:pt x="2307152" y="13752"/>
                  <a:pt x="2486711" y="0"/>
                </a:cubicBezTo>
                <a:cubicBezTo>
                  <a:pt x="2666270" y="-13752"/>
                  <a:pt x="2890091" y="-12576"/>
                  <a:pt x="3091586" y="0"/>
                </a:cubicBezTo>
                <a:cubicBezTo>
                  <a:pt x="3293082" y="12576"/>
                  <a:pt x="3715287" y="-3114"/>
                  <a:pt x="3898087" y="0"/>
                </a:cubicBezTo>
                <a:cubicBezTo>
                  <a:pt x="4080887" y="3114"/>
                  <a:pt x="4270844" y="15240"/>
                  <a:pt x="4435754" y="0"/>
                </a:cubicBezTo>
                <a:cubicBezTo>
                  <a:pt x="4600664" y="-15240"/>
                  <a:pt x="4997045" y="-22440"/>
                  <a:pt x="5242255" y="0"/>
                </a:cubicBezTo>
                <a:cubicBezTo>
                  <a:pt x="5487465" y="22440"/>
                  <a:pt x="5701832" y="1667"/>
                  <a:pt x="6048756" y="0"/>
                </a:cubicBezTo>
                <a:cubicBezTo>
                  <a:pt x="6395680" y="-1667"/>
                  <a:pt x="6436180" y="8118"/>
                  <a:pt x="6720840" y="0"/>
                </a:cubicBezTo>
                <a:cubicBezTo>
                  <a:pt x="6720009" y="6329"/>
                  <a:pt x="6721244" y="16858"/>
                  <a:pt x="6720840" y="27432"/>
                </a:cubicBezTo>
                <a:cubicBezTo>
                  <a:pt x="6355819" y="6368"/>
                  <a:pt x="6238603" y="9637"/>
                  <a:pt x="5981548" y="27432"/>
                </a:cubicBezTo>
                <a:cubicBezTo>
                  <a:pt x="5724493" y="45227"/>
                  <a:pt x="5501077" y="1054"/>
                  <a:pt x="5175047" y="27432"/>
                </a:cubicBezTo>
                <a:cubicBezTo>
                  <a:pt x="4849017" y="53810"/>
                  <a:pt x="4559292" y="-3445"/>
                  <a:pt x="4368546" y="27432"/>
                </a:cubicBezTo>
                <a:cubicBezTo>
                  <a:pt x="4177800" y="58309"/>
                  <a:pt x="4094337" y="39926"/>
                  <a:pt x="3830879" y="27432"/>
                </a:cubicBezTo>
                <a:cubicBezTo>
                  <a:pt x="3567421" y="14938"/>
                  <a:pt x="3376102" y="1847"/>
                  <a:pt x="3158795" y="27432"/>
                </a:cubicBezTo>
                <a:cubicBezTo>
                  <a:pt x="2941488" y="53017"/>
                  <a:pt x="2565542" y="53678"/>
                  <a:pt x="2352294" y="27432"/>
                </a:cubicBezTo>
                <a:cubicBezTo>
                  <a:pt x="2139046" y="1186"/>
                  <a:pt x="1869687" y="11507"/>
                  <a:pt x="1680210" y="27432"/>
                </a:cubicBezTo>
                <a:cubicBezTo>
                  <a:pt x="1490733" y="43357"/>
                  <a:pt x="1411517" y="33447"/>
                  <a:pt x="1209751" y="27432"/>
                </a:cubicBezTo>
                <a:cubicBezTo>
                  <a:pt x="1007985" y="21417"/>
                  <a:pt x="885144" y="31673"/>
                  <a:pt x="672084" y="27432"/>
                </a:cubicBezTo>
                <a:cubicBezTo>
                  <a:pt x="459024" y="23191"/>
                  <a:pt x="153553" y="25175"/>
                  <a:pt x="0" y="27432"/>
                </a:cubicBezTo>
                <a:cubicBezTo>
                  <a:pt x="-177" y="19307"/>
                  <a:pt x="-1145" y="91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7689627" y="828136"/>
            <a:ext cx="9336502" cy="8147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fiip fiop es un circuito secuencial que puede estar en uno de dos estados. Su función principal es almacenar un bit de información y se activa mediante señales de control. Estos dispositivos son esenciales para el diseño de sistemas digitales complejos donde la variable tiempo esta involucrada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0" y="0"/>
            <a:ext cx="18288003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-1" y="0"/>
            <a:ext cx="7228333" cy="10287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1" y="0"/>
            <a:ext cx="7217216" cy="10287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932688" y="1741932"/>
            <a:ext cx="5404104" cy="678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Flip Flops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0" y="4653073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8151223" y="1399032"/>
            <a:ext cx="8874905" cy="7488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varios tipos de ﬂip ﬂops, entre ellos el SR, JK, D y T. Cada uno tiene sus propias características y se utiliza en diferentes aplicaciones. Conocer sus diferencias es crucial para seleccionar el adecuado para un diseño especíﬁco.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-1" y="0"/>
            <a:ext cx="6683509" cy="10287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0" y="0"/>
            <a:ext cx="6669793" cy="10287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556641" y="1741932"/>
            <a:ext cx="5157216" cy="1858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Flip Flop SR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0" y="2139819"/>
            <a:ext cx="192024" cy="980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3839" y="3665220"/>
            <a:ext cx="507492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556641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fiip fiop SR (Set-Reset) es uno de los más simples. Tiene dos entradas, S (Set) y R (Reset), que controlan su estado. Cuando S está activo, el ﬂip ﬂop se establece en 1, y cuando R está activo, se restablece a 0. Es útil en aplicaciones básicas de almacenamiento.</a:t>
            </a:r>
            <a:endParaRPr/>
          </a:p>
        </p:txBody>
      </p:sp>
      <p:pic>
        <p:nvPicPr>
          <p:cNvPr descr="Sr Flip Flop Circuit Diagram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298716"/>
            <a:ext cx="10383012" cy="5840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-1" y="0"/>
            <a:ext cx="6683509" cy="10287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0" y="0"/>
            <a:ext cx="6669793" cy="10287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556641" y="1741932"/>
            <a:ext cx="5157216" cy="1858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Flip Flop J-K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0" y="2139819"/>
            <a:ext cx="192024" cy="980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593839" y="3665220"/>
            <a:ext cx="507492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556641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fiip fiop J-K es una mejora del SR, eliminando la condición de incertidumbre. Tiene entradas J y K que permiten alternar el estado del ﬂip ﬂop. Este tipo es ampliamente utilizado en contadores  debido a su versatilidad.</a:t>
            </a:r>
            <a:endParaRPr/>
          </a:p>
        </p:txBody>
      </p:sp>
      <p:pic>
        <p:nvPicPr>
          <p:cNvPr descr="Jk Flip Flop Truth Table And Diagram at Dennis Penn blog"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125" y="1149016"/>
            <a:ext cx="975360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-1" y="0"/>
            <a:ext cx="6683509" cy="10287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0" y="0"/>
            <a:ext cx="6669793" cy="10287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556641" y="1741932"/>
            <a:ext cx="5157216" cy="1858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Flip Flop D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0" y="2139819"/>
            <a:ext cx="192024" cy="980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593839" y="3665220"/>
            <a:ext cx="507492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556641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fiip fiop D (Data) se utiliza para almacenar un bit de información. Su única entrada, D, permite capturar el valor en el momento de la señal de reloj (D=Q+). Es ideal para aplicaciones de registro y sincronización, ya que proporciona un funcionamiento predecible.</a:t>
            </a:r>
            <a:endParaRPr/>
          </a:p>
        </p:txBody>
      </p:sp>
      <p:pic>
        <p:nvPicPr>
          <p:cNvPr descr="D Flip Flop or Delay Flip flop operation, truth table and application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0304" y="2559195"/>
            <a:ext cx="11010900" cy="52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-1" y="0"/>
            <a:ext cx="6683509" cy="10287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0" y="0"/>
            <a:ext cx="6669793" cy="10287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556641" y="1741932"/>
            <a:ext cx="5157216" cy="1858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Flip Flop T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0" y="2139819"/>
            <a:ext cx="192024" cy="980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593839" y="3665220"/>
            <a:ext cx="507492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556641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fiip fiop T (Toggle) cambia su estado en cada pulso de reloj si su  entrada  T  está  activa.  Es  comúnmente  utilizado  en contadores y circuitos de división de frecuencia. Su simplicidad lo hace popular en aplicaciones de temporización.</a:t>
            </a:r>
            <a:endParaRPr/>
          </a:p>
        </p:txBody>
      </p:sp>
      <p:pic>
        <p:nvPicPr>
          <p:cNvPr descr="D Flip Flop Circuit Diagram And Truth Table"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7183" y="2487168"/>
            <a:ext cx="10317141" cy="5803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946404" y="754380"/>
            <a:ext cx="512978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Conversiones entre Flip Flops</a:t>
            </a:r>
            <a:endParaRPr b="0" i="0" sz="5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 rot="5400000">
            <a:off x="5349239" y="1837944"/>
            <a:ext cx="2331720" cy="27432"/>
          </a:xfrm>
          <a:custGeom>
            <a:rect b="b" l="l" r="r" t="t"/>
            <a:pathLst>
              <a:path extrusionOk="0" fill="none" h="27432" w="2331720">
                <a:moveTo>
                  <a:pt x="0" y="0"/>
                </a:moveTo>
                <a:cubicBezTo>
                  <a:pt x="193316" y="-14286"/>
                  <a:pt x="386509" y="-1125"/>
                  <a:pt x="559613" y="0"/>
                </a:cubicBezTo>
                <a:cubicBezTo>
                  <a:pt x="732717" y="1125"/>
                  <a:pt x="909882" y="-9285"/>
                  <a:pt x="1142543" y="0"/>
                </a:cubicBezTo>
                <a:cubicBezTo>
                  <a:pt x="1375204" y="9285"/>
                  <a:pt x="1490929" y="16422"/>
                  <a:pt x="1725473" y="0"/>
                </a:cubicBezTo>
                <a:cubicBezTo>
                  <a:pt x="1960017" y="-16422"/>
                  <a:pt x="2090698" y="-22558"/>
                  <a:pt x="2331720" y="0"/>
                </a:cubicBezTo>
                <a:cubicBezTo>
                  <a:pt x="2332023" y="11145"/>
                  <a:pt x="2331293" y="14758"/>
                  <a:pt x="2331720" y="27432"/>
                </a:cubicBezTo>
                <a:cubicBezTo>
                  <a:pt x="2105542" y="52313"/>
                  <a:pt x="2039251" y="32774"/>
                  <a:pt x="1748790" y="27432"/>
                </a:cubicBezTo>
                <a:cubicBezTo>
                  <a:pt x="1458329" y="22091"/>
                  <a:pt x="1436072" y="17457"/>
                  <a:pt x="1212494" y="27432"/>
                </a:cubicBezTo>
                <a:cubicBezTo>
                  <a:pt x="988916" y="37407"/>
                  <a:pt x="936768" y="34014"/>
                  <a:pt x="676199" y="27432"/>
                </a:cubicBezTo>
                <a:cubicBezTo>
                  <a:pt x="415630" y="20850"/>
                  <a:pt x="187181" y="2482"/>
                  <a:pt x="0" y="27432"/>
                </a:cubicBezTo>
                <a:cubicBezTo>
                  <a:pt x="-1145" y="17399"/>
                  <a:pt x="-496" y="9484"/>
                  <a:pt x="0" y="0"/>
                </a:cubicBezTo>
                <a:close/>
              </a:path>
              <a:path extrusionOk="0" h="27432" w="2331720">
                <a:moveTo>
                  <a:pt x="0" y="0"/>
                </a:moveTo>
                <a:cubicBezTo>
                  <a:pt x="139991" y="7893"/>
                  <a:pt x="383267" y="9775"/>
                  <a:pt x="559613" y="0"/>
                </a:cubicBezTo>
                <a:cubicBezTo>
                  <a:pt x="735959" y="-9775"/>
                  <a:pt x="830019" y="19030"/>
                  <a:pt x="1072591" y="0"/>
                </a:cubicBezTo>
                <a:cubicBezTo>
                  <a:pt x="1315163" y="-19030"/>
                  <a:pt x="1496242" y="-320"/>
                  <a:pt x="1702156" y="0"/>
                </a:cubicBezTo>
                <a:cubicBezTo>
                  <a:pt x="1908071" y="320"/>
                  <a:pt x="2097549" y="18703"/>
                  <a:pt x="2331720" y="0"/>
                </a:cubicBezTo>
                <a:cubicBezTo>
                  <a:pt x="2332591" y="6699"/>
                  <a:pt x="2332407" y="13731"/>
                  <a:pt x="2331720" y="27432"/>
                </a:cubicBezTo>
                <a:cubicBezTo>
                  <a:pt x="2093003" y="17823"/>
                  <a:pt x="1999036" y="42677"/>
                  <a:pt x="1795424" y="27432"/>
                </a:cubicBezTo>
                <a:cubicBezTo>
                  <a:pt x="1591812" y="12187"/>
                  <a:pt x="1414520" y="21492"/>
                  <a:pt x="1259129" y="27432"/>
                </a:cubicBezTo>
                <a:cubicBezTo>
                  <a:pt x="1103738" y="33372"/>
                  <a:pt x="912643" y="24838"/>
                  <a:pt x="629564" y="27432"/>
                </a:cubicBezTo>
                <a:cubicBezTo>
                  <a:pt x="346485" y="30026"/>
                  <a:pt x="198767" y="35305"/>
                  <a:pt x="0" y="27432"/>
                </a:cubicBezTo>
                <a:cubicBezTo>
                  <a:pt x="-806" y="19304"/>
                  <a:pt x="1360" y="903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6981442" y="754380"/>
            <a:ext cx="1034186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posible convertir entre diferentes tipos de ﬂip ﬂops. Por ejemplo, un flip flop JK puede ser convertido a un flip flop D mediante una lógica de entrada adecuada. Estas conversiones permiten optimizar circuitos y adaptarlos a diferentes requerimientos de diseño.</a:t>
            </a:r>
            <a:endParaRPr/>
          </a:p>
        </p:txBody>
      </p:sp>
      <p:pic>
        <p:nvPicPr>
          <p:cNvPr descr="Conversiones de Flip Flop - Medievals Trucos" id="224" name="Google Shape;2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006" y="3436404"/>
            <a:ext cx="15943699" cy="5939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946404" y="959280"/>
            <a:ext cx="5143500" cy="2578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Aplicaciones en Electrónica</a:t>
            </a:r>
            <a:endParaRPr b="0" i="0" sz="5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964917" y="3860634"/>
            <a:ext cx="4882642" cy="27432"/>
          </a:xfrm>
          <a:custGeom>
            <a:rect b="b" l="l" r="r" t="t"/>
            <a:pathLst>
              <a:path extrusionOk="0" fill="none" h="27432" w="4882642">
                <a:moveTo>
                  <a:pt x="0" y="0"/>
                </a:moveTo>
                <a:cubicBezTo>
                  <a:pt x="283896" y="15806"/>
                  <a:pt x="476914" y="-5705"/>
                  <a:pt x="648694" y="0"/>
                </a:cubicBezTo>
                <a:cubicBezTo>
                  <a:pt x="820474" y="5705"/>
                  <a:pt x="992491" y="-2560"/>
                  <a:pt x="1199735" y="0"/>
                </a:cubicBezTo>
                <a:cubicBezTo>
                  <a:pt x="1406979" y="2560"/>
                  <a:pt x="1535106" y="-12373"/>
                  <a:pt x="1799602" y="0"/>
                </a:cubicBezTo>
                <a:cubicBezTo>
                  <a:pt x="2064098" y="12373"/>
                  <a:pt x="2220857" y="34016"/>
                  <a:pt x="2545949" y="0"/>
                </a:cubicBezTo>
                <a:cubicBezTo>
                  <a:pt x="2871041" y="-34016"/>
                  <a:pt x="2930967" y="-6551"/>
                  <a:pt x="3194643" y="0"/>
                </a:cubicBezTo>
                <a:cubicBezTo>
                  <a:pt x="3458319" y="6551"/>
                  <a:pt x="3590719" y="-27970"/>
                  <a:pt x="3794510" y="0"/>
                </a:cubicBezTo>
                <a:cubicBezTo>
                  <a:pt x="3998301" y="27970"/>
                  <a:pt x="4343090" y="-39667"/>
                  <a:pt x="4882642" y="0"/>
                </a:cubicBezTo>
                <a:cubicBezTo>
                  <a:pt x="4881669" y="8304"/>
                  <a:pt x="4882164" y="21512"/>
                  <a:pt x="4882642" y="27432"/>
                </a:cubicBezTo>
                <a:cubicBezTo>
                  <a:pt x="4608564" y="7308"/>
                  <a:pt x="4394312" y="56256"/>
                  <a:pt x="4185122" y="27432"/>
                </a:cubicBezTo>
                <a:cubicBezTo>
                  <a:pt x="3975932" y="-1392"/>
                  <a:pt x="3827783" y="51583"/>
                  <a:pt x="3585254" y="27432"/>
                </a:cubicBezTo>
                <a:cubicBezTo>
                  <a:pt x="3342725" y="3281"/>
                  <a:pt x="3165015" y="17373"/>
                  <a:pt x="2790081" y="27432"/>
                </a:cubicBezTo>
                <a:cubicBezTo>
                  <a:pt x="2415147" y="37491"/>
                  <a:pt x="2453830" y="6816"/>
                  <a:pt x="2141387" y="27432"/>
                </a:cubicBezTo>
                <a:cubicBezTo>
                  <a:pt x="1828944" y="48048"/>
                  <a:pt x="1774219" y="17790"/>
                  <a:pt x="1590346" y="27432"/>
                </a:cubicBezTo>
                <a:cubicBezTo>
                  <a:pt x="1406473" y="37074"/>
                  <a:pt x="1200327" y="18527"/>
                  <a:pt x="844000" y="27432"/>
                </a:cubicBezTo>
                <a:cubicBezTo>
                  <a:pt x="487673" y="36337"/>
                  <a:pt x="322314" y="2648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882642">
                <a:moveTo>
                  <a:pt x="0" y="0"/>
                </a:moveTo>
                <a:cubicBezTo>
                  <a:pt x="238803" y="9040"/>
                  <a:pt x="494861" y="-4831"/>
                  <a:pt x="648694" y="0"/>
                </a:cubicBezTo>
                <a:cubicBezTo>
                  <a:pt x="802527" y="4831"/>
                  <a:pt x="991643" y="12575"/>
                  <a:pt x="1199735" y="0"/>
                </a:cubicBezTo>
                <a:cubicBezTo>
                  <a:pt x="1407827" y="-12575"/>
                  <a:pt x="1757315" y="9056"/>
                  <a:pt x="1994908" y="0"/>
                </a:cubicBezTo>
                <a:cubicBezTo>
                  <a:pt x="2232501" y="-9056"/>
                  <a:pt x="2370188" y="18797"/>
                  <a:pt x="2643602" y="0"/>
                </a:cubicBezTo>
                <a:cubicBezTo>
                  <a:pt x="2917016" y="-18797"/>
                  <a:pt x="3036387" y="10091"/>
                  <a:pt x="3292296" y="0"/>
                </a:cubicBezTo>
                <a:cubicBezTo>
                  <a:pt x="3548205" y="-10091"/>
                  <a:pt x="3892824" y="6516"/>
                  <a:pt x="4087469" y="0"/>
                </a:cubicBezTo>
                <a:cubicBezTo>
                  <a:pt x="4282114" y="-6516"/>
                  <a:pt x="4487997" y="-16222"/>
                  <a:pt x="4882642" y="0"/>
                </a:cubicBezTo>
                <a:cubicBezTo>
                  <a:pt x="4883127" y="9333"/>
                  <a:pt x="4883920" y="19699"/>
                  <a:pt x="4882642" y="27432"/>
                </a:cubicBezTo>
                <a:cubicBezTo>
                  <a:pt x="4665479" y="53358"/>
                  <a:pt x="4455363" y="34051"/>
                  <a:pt x="4282775" y="27432"/>
                </a:cubicBezTo>
                <a:cubicBezTo>
                  <a:pt x="4110187" y="20813"/>
                  <a:pt x="3781952" y="37808"/>
                  <a:pt x="3585254" y="27432"/>
                </a:cubicBezTo>
                <a:cubicBezTo>
                  <a:pt x="3388556" y="17056"/>
                  <a:pt x="3084641" y="41802"/>
                  <a:pt x="2887734" y="27432"/>
                </a:cubicBezTo>
                <a:cubicBezTo>
                  <a:pt x="2690827" y="13062"/>
                  <a:pt x="2491613" y="5294"/>
                  <a:pt x="2239040" y="27432"/>
                </a:cubicBezTo>
                <a:cubicBezTo>
                  <a:pt x="1986467" y="49570"/>
                  <a:pt x="1795483" y="63015"/>
                  <a:pt x="1443867" y="27432"/>
                </a:cubicBezTo>
                <a:cubicBezTo>
                  <a:pt x="1092251" y="-8151"/>
                  <a:pt x="850619" y="43704"/>
                  <a:pt x="648694" y="27432"/>
                </a:cubicBezTo>
                <a:cubicBezTo>
                  <a:pt x="446769" y="11160"/>
                  <a:pt x="306471" y="26408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946404" y="4210812"/>
            <a:ext cx="5143500" cy="5116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ﬂip ﬂops tienen múltiples aplicaciones en electrónica digital, incluyendo memoria, contadores, registros de desplazamiento y sistemas de control. Su capacidad de almacenar y manipular datos los convierte en componentes esenciales en dispositivos modernos.</a:t>
            </a:r>
            <a:endParaRPr/>
          </a:p>
        </p:txBody>
      </p:sp>
      <p:pic>
        <p:nvPicPr>
          <p:cNvPr descr="Contador asincrónico con Flip-Flop T. Detención en cuenta deseada ..."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1444" y="3274993"/>
            <a:ext cx="10355580" cy="373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1415845" y="2498478"/>
            <a:ext cx="15677536" cy="6788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Los flip-flops son elementos básicos de la electrónica digital que permiten almacenar un bit de información, siendo la base de registros, contadores y memorias en sistemas secuenciales.</a:t>
            </a:r>
            <a:endParaRPr/>
          </a:p>
          <a:p>
            <a:pPr indent="-457200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Existen varios tipos de flip-flops: SR, D, JK y T, cada uno con funciones específicas para aplicaciones de almacenamiento, control y conteo en sistemas digitales.</a:t>
            </a:r>
            <a:endParaRPr/>
          </a:p>
          <a:p>
            <a:pPr indent="-457200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conversión entre flip-flops permite implementar un tipo a partir de otro mediante lógica adicional, optimizando recursos y reforzando la comprensión de su funcionamiento.</a:t>
            </a:r>
            <a:endParaRPr/>
          </a:p>
          <a:p>
            <a:pPr indent="-457200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Las aplicaciones abarcan registros, contadores y máquinas de estados, siendo indispensables en procesadores, memorias y sistemas de control electrónico.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3281046" y="1093367"/>
            <a:ext cx="8702876" cy="3343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VALOR: RESPONSABILIDAD </a:t>
            </a:r>
            <a:endParaRPr/>
          </a:p>
        </p:txBody>
      </p:sp>
      <p:pic>
        <p:nvPicPr>
          <p:cNvPr descr="portátil seguro" id="246" name="Google Shape;2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22" y="4041027"/>
            <a:ext cx="1797798" cy="179779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3281047" y="4736466"/>
            <a:ext cx="8702875" cy="308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trabajo con flip-flops y circuitos secuenciales requiere atención, precisión y compromiso, ya que un error en el diseño o montaje puede afectar el funcionamiento de todo el sistema. Aplicar la responsabilidad implica ser cuidadoso en el manejo de herramientas, respetar las normas de seguridad en el laboratorio y asumir con seriedad el proceso de aprendizaje para garantizar resultados confiables en la práctica y en la vida profesional.</a:t>
            </a:r>
            <a:endParaRPr/>
          </a:p>
        </p:txBody>
      </p:sp>
      <p:pic>
        <p:nvPicPr>
          <p:cNvPr descr="portátil seguro" id="248" name="Google Shape;248;p7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62146" y="1224505"/>
            <a:ext cx="7837991" cy="783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3746363" y="5099620"/>
            <a:ext cx="10544823" cy="3415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Flip-Flops: Qué Son, Cómo Funcionan, y sus Tipos. </a:t>
            </a: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https://ielectel.com/flip-flops-que-son-como-funcionan-y-sus-tipos/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Mano, M. Morris. Diseño Digital. 3.ª ed., Pearson Educación, 2003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55" name="Google Shape;255;p8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4f262177b_0_2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61" name="Google Shape;261;g364f262177b_0_2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4afea4f63_0_148"/>
          <p:cNvSpPr txBox="1"/>
          <p:nvPr/>
        </p:nvSpPr>
        <p:spPr>
          <a:xfrm>
            <a:off x="2289634" y="1181213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67" name="Google Shape;267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64afea4f63_0_148"/>
          <p:cNvSpPr txBox="1"/>
          <p:nvPr/>
        </p:nvSpPr>
        <p:spPr>
          <a:xfrm>
            <a:off x="4339360" y="3108178"/>
            <a:ext cx="12208329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Ejercicio: Diseño y comprobación de un contador binario con flip-flops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Diseñar, simular y montar un circuito digital secuencial utilizando flip-flops (JK o T) para implementar un contador binario de 4 bits, verificando su funcionamiento en Proteus y en protoboard.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Instrucciones: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en Proteus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Construye un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contador binario ascendente de 4 bits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utilizando flip-flops JK configurados como T (con J = K = 1).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Conecta la salida de cada flip-flop a un LED para observar la secuencia de conteo (0000 → 1111).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un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generador de pulsos (clock)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Proteus para simular las entradas de reloj del contador.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 el correcto funcionamiento del circuito observando la secuencia de encendido de los LEDs.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Montaje en Protoboard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 el mismo circuito en protoboard utilizando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flip-flops integrados (ejemplo: 7476 para JK)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Conecta un pulsador o un oscilador simple como señal de reloj.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 resistencias limitadoras y LEDs en las salidas Q de los flip-flops.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Comprueba que el conteo binario se realice correctamente y que coincida con la simulación en Proteus.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Comparación de resultados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 las secuencias obtenidas en la simulación y en el protoboard.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 ambos resultados y explica si existen diferencias (por ejemplo, por rebotes en el pulsador en el montaje real).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esperado: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estudiante observará cómo los flip-flops almacenan y cambian de estado en cada pulso de reloj, comprendiendo su aplicación en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almacenamiento, conteo y control de estados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sistemas digitales.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