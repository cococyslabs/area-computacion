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Anton"/>
      <p:regular r:id="rId22"/>
    </p:embeddedFont>
    <p:embeddedFont>
      <p:font typeface="Raleway"/>
      <p:bold r:id="rId23"/>
      <p:boldItalic r:id="rId24"/>
    </p:embeddedFont>
    <p:embeddedFont>
      <p:font typeface="Arimo"/>
      <p:regular r:id="rId25"/>
      <p:bold r:id="rId26"/>
      <p:italic r:id="rId27"/>
      <p:boldItalic r:id="rId28"/>
    </p:embeddedFont>
    <p:embeddedFont>
      <p:font typeface="Montserrat"/>
      <p:regular r:id="rId29"/>
      <p:bold r:id="rId30"/>
      <p:italic r:id="rId31"/>
      <p:boldItalic r:id="rId32"/>
    </p:embeddedFont>
    <p:embeddedFont>
      <p:font typeface="Raleway Medium"/>
      <p:regular r:id="rId33"/>
      <p:bold r:id="rId34"/>
      <p:italic r:id="rId35"/>
      <p:boldItalic r:id="rId36"/>
    </p:embeddedFont>
    <p:embeddedFont>
      <p:font typeface="NTR"/>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hXamEouGeYAf8/5/j7+43rmSl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nton-regular.fntdata"/><Relationship Id="rId21" Type="http://schemas.openxmlformats.org/officeDocument/2006/relationships/slide" Target="slides/slide16.xml"/><Relationship Id="rId24" Type="http://schemas.openxmlformats.org/officeDocument/2006/relationships/font" Target="fonts/Raleway-bold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mo-bold.fntdata"/><Relationship Id="rId25" Type="http://schemas.openxmlformats.org/officeDocument/2006/relationships/font" Target="fonts/Arimo-regular.fntdata"/><Relationship Id="rId28" Type="http://schemas.openxmlformats.org/officeDocument/2006/relationships/font" Target="fonts/Arimo-boldItalic.fntdata"/><Relationship Id="rId27" Type="http://schemas.openxmlformats.org/officeDocument/2006/relationships/font" Target="fonts/Arim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RalewayMedium-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RalewayMedium-italic.fntdata"/><Relationship Id="rId12" Type="http://schemas.openxmlformats.org/officeDocument/2006/relationships/slide" Target="slides/slide7.xml"/><Relationship Id="rId34" Type="http://schemas.openxmlformats.org/officeDocument/2006/relationships/font" Target="fonts/RalewayMedium-bold.fntdata"/><Relationship Id="rId15" Type="http://schemas.openxmlformats.org/officeDocument/2006/relationships/slide" Target="slides/slide10.xml"/><Relationship Id="rId37" Type="http://schemas.openxmlformats.org/officeDocument/2006/relationships/font" Target="fonts/NTR-regular.fntdata"/><Relationship Id="rId14" Type="http://schemas.openxmlformats.org/officeDocument/2006/relationships/slide" Target="slides/slide9.xml"/><Relationship Id="rId36" Type="http://schemas.openxmlformats.org/officeDocument/2006/relationships/font" Target="fonts/RalewayMedium-bold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0cb0b3672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a0cb0b367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15.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8.jpg"/><Relationship Id="rId6" Type="http://schemas.openxmlformats.org/officeDocument/2006/relationships/image" Target="../media/image4.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4.png"/><Relationship Id="rId10" Type="http://schemas.openxmlformats.org/officeDocument/2006/relationships/image" Target="../media/image28.png"/><Relationship Id="rId9"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5.png"/><Relationship Id="rId7" Type="http://schemas.openxmlformats.org/officeDocument/2006/relationships/image" Target="../media/image18.png"/><Relationship Id="rId8"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5.png"/><Relationship Id="rId7" Type="http://schemas.openxmlformats.org/officeDocument/2006/relationships/image" Target="../media/image18.png"/><Relationship Id="rId8"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4.png"/><Relationship Id="rId9" Type="http://schemas.openxmlformats.org/officeDocument/2006/relationships/hyperlink" Target="https://www.charlie-coleman.com/experiments/kmap/" TargetMode="External"/><Relationship Id="rId5" Type="http://schemas.openxmlformats.org/officeDocument/2006/relationships/image" Target="../media/image5.png"/><Relationship Id="rId6" Type="http://schemas.openxmlformats.org/officeDocument/2006/relationships/image" Target="../media/image47.jpg"/><Relationship Id="rId7" Type="http://schemas.openxmlformats.org/officeDocument/2006/relationships/image" Target="../media/image27.png"/><Relationship Id="rId8"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jpg"/><Relationship Id="rId4" Type="http://schemas.openxmlformats.org/officeDocument/2006/relationships/image" Target="../media/image36.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32.png"/><Relationship Id="rId8"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29.png"/><Relationship Id="rId5" Type="http://schemas.openxmlformats.org/officeDocument/2006/relationships/image" Target="../media/image22.png"/><Relationship Id="rId6"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hyperlink" Target="https://www.ingmecafenix.com/electronica/diodo-semiconducto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29.png"/><Relationship Id="rId5" Type="http://schemas.openxmlformats.org/officeDocument/2006/relationships/image" Target="../media/image46.png"/><Relationship Id="rId6" Type="http://schemas.openxmlformats.org/officeDocument/2006/relationships/hyperlink" Target="https://www.ingmecafenix.com/electronica/diodo-semiconducto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35.png"/><Relationship Id="rId5" Type="http://schemas.openxmlformats.org/officeDocument/2006/relationships/image" Target="../media/image4.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43.png"/><Relationship Id="rId6"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 Id="rId4" Type="http://schemas.openxmlformats.org/officeDocument/2006/relationships/image" Target="../media/image14.png"/><Relationship Id="rId5" Type="http://schemas.openxmlformats.org/officeDocument/2006/relationships/image" Target="../media/image40.png"/><Relationship Id="rId6" Type="http://schemas.openxmlformats.org/officeDocument/2006/relationships/image" Target="../media/image44.png"/><Relationship Id="rId7" Type="http://schemas.openxmlformats.org/officeDocument/2006/relationships/hyperlink" Target="http://hyperphysics.phy-astr.gsu.edu/hbasees/Electronic/trangate.html" TargetMode="External"/><Relationship Id="rId8" Type="http://schemas.openxmlformats.org/officeDocument/2006/relationships/hyperlink" Target="https://sincronizacionymultiplexajeblog.wordpress.com/2016/03/13/compuertas-logicas-con-transistor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g3a0cb0b3672_0_0"/>
          <p:cNvPicPr preferRelativeResize="0"/>
          <p:nvPr/>
        </p:nvPicPr>
        <p:blipFill rotWithShape="1">
          <a:blip r:embed="rId3">
            <a:alphaModFix/>
          </a:blip>
          <a:srcRect b="0" l="0" r="0" t="0"/>
          <a:stretch/>
        </p:blipFill>
        <p:spPr>
          <a:xfrm>
            <a:off x="0" y="0"/>
            <a:ext cx="18288000" cy="10287003"/>
          </a:xfrm>
          <a:prstGeom prst="rect">
            <a:avLst/>
          </a:prstGeom>
          <a:noFill/>
          <a:ln>
            <a:noFill/>
          </a:ln>
        </p:spPr>
      </p:pic>
      <p:sp>
        <p:nvSpPr>
          <p:cNvPr id="85" name="Google Shape;85;g3a0cb0b3672_0_0"/>
          <p:cNvSpPr/>
          <p:nvPr/>
        </p:nvSpPr>
        <p:spPr>
          <a:xfrm>
            <a:off x="3598050" y="5988675"/>
            <a:ext cx="73650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US" sz="3600" u="none" cap="none" strike="noStrike">
                <a:solidFill>
                  <a:srgbClr val="000000"/>
                </a:solidFill>
                <a:latin typeface="Calibri"/>
                <a:ea typeface="Calibri"/>
                <a:cs typeface="Calibri"/>
                <a:sym typeface="Calibri"/>
              </a:rPr>
              <a:t>TUTOR: DILAN SUY</a:t>
            </a:r>
            <a:endParaRPr/>
          </a:p>
        </p:txBody>
      </p:sp>
      <p:sp>
        <p:nvSpPr>
          <p:cNvPr id="86" name="Google Shape;86;g3a0cb0b3672_0_0"/>
          <p:cNvSpPr/>
          <p:nvPr/>
        </p:nvSpPr>
        <p:spPr>
          <a:xfrm>
            <a:off x="3090925" y="4781250"/>
            <a:ext cx="101421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lang="en-US" sz="4000">
                <a:latin typeface="Calibri"/>
                <a:ea typeface="Calibri"/>
                <a:cs typeface="Calibri"/>
                <a:sym typeface="Calibri"/>
              </a:rPr>
              <a:t>ORGANIZACION COMPUTACIONAL SECCION A</a:t>
            </a:r>
            <a:endParaRPr b="0" i="0" sz="4000" u="none" cap="none" strike="noStrike">
              <a:solidFill>
                <a:srgbClr val="000000"/>
              </a:solidFill>
              <a:latin typeface="Calibri"/>
              <a:ea typeface="Calibri"/>
              <a:cs typeface="Calibri"/>
              <a:sym typeface="Calibri"/>
            </a:endParaRPr>
          </a:p>
        </p:txBody>
      </p:sp>
      <p:sp>
        <p:nvSpPr>
          <p:cNvPr id="87" name="Google Shape;87;g3a0cb0b3672_0_0"/>
          <p:cNvSpPr/>
          <p:nvPr/>
        </p:nvSpPr>
        <p:spPr>
          <a:xfrm>
            <a:off x="13640938" y="1924978"/>
            <a:ext cx="4396200" cy="83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lang="en-US" sz="3100">
                <a:latin typeface="Calibri"/>
                <a:ea typeface="Calibri"/>
                <a:cs typeface="Calibri"/>
                <a:sym typeface="Calibri"/>
              </a:rPr>
              <a:t>21 DE MARZO DE 2026</a:t>
            </a:r>
            <a:endParaRPr b="0" i="0" sz="3100" u="none" cap="none" strike="noStrike">
              <a:solidFill>
                <a:srgbClr val="000000"/>
              </a:solidFill>
              <a:latin typeface="Calibri"/>
              <a:ea typeface="Calibri"/>
              <a:cs typeface="Calibri"/>
              <a:sym typeface="Calibri"/>
            </a:endParaRPr>
          </a:p>
        </p:txBody>
      </p:sp>
      <p:sp>
        <p:nvSpPr>
          <p:cNvPr id="88" name="Google Shape;88;g3a0cb0b3672_0_0"/>
          <p:cNvSpPr/>
          <p:nvPr/>
        </p:nvSpPr>
        <p:spPr>
          <a:xfrm>
            <a:off x="13640938" y="2757947"/>
            <a:ext cx="4396200" cy="83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lang="en-US" sz="3100">
                <a:latin typeface="Calibri"/>
                <a:ea typeface="Calibri"/>
                <a:cs typeface="Calibri"/>
                <a:sym typeface="Calibri"/>
              </a:rPr>
              <a:t>07:10</a:t>
            </a:r>
            <a:endParaRPr b="0" i="0" sz="31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grpSp>
        <p:nvGrpSpPr>
          <p:cNvPr id="94" name="Google Shape;94;p1"/>
          <p:cNvGrpSpPr/>
          <p:nvPr/>
        </p:nvGrpSpPr>
        <p:grpSpPr>
          <a:xfrm>
            <a:off x="8505207" y="682599"/>
            <a:ext cx="9404563" cy="9404563"/>
            <a:chOff x="0" y="0"/>
            <a:chExt cx="812800" cy="812800"/>
          </a:xfrm>
        </p:grpSpPr>
        <p:sp>
          <p:nvSpPr>
            <p:cNvPr id="95" name="Google Shape;9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5960D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7" name="Google Shape;97;p1"/>
          <p:cNvGrpSpPr/>
          <p:nvPr/>
        </p:nvGrpSpPr>
        <p:grpSpPr>
          <a:xfrm>
            <a:off x="9273139" y="1450531"/>
            <a:ext cx="7868699" cy="7868699"/>
            <a:chOff x="0" y="0"/>
            <a:chExt cx="812800" cy="812800"/>
          </a:xfrm>
        </p:grpSpPr>
        <p:sp>
          <p:nvSpPr>
            <p:cNvPr id="98" name="Google Shape;98;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5960D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1"/>
          <p:cNvSpPr/>
          <p:nvPr/>
        </p:nvSpPr>
        <p:spPr>
          <a:xfrm>
            <a:off x="10385050" y="1185951"/>
            <a:ext cx="5644877" cy="7564324"/>
          </a:xfrm>
          <a:custGeom>
            <a:rect b="b" l="l" r="r" t="t"/>
            <a:pathLst>
              <a:path extrusionOk="0" h="7564324" w="5644877">
                <a:moveTo>
                  <a:pt x="0" y="0"/>
                </a:moveTo>
                <a:lnTo>
                  <a:pt x="5644877" y="0"/>
                </a:lnTo>
                <a:lnTo>
                  <a:pt x="5644877" y="7564324"/>
                </a:lnTo>
                <a:lnTo>
                  <a:pt x="0" y="7564324"/>
                </a:lnTo>
                <a:lnTo>
                  <a:pt x="0" y="0"/>
                </a:lnTo>
                <a:close/>
              </a:path>
            </a:pathLst>
          </a:custGeom>
          <a:blipFill rotWithShape="1">
            <a:blip r:embed="rId4">
              <a:alphaModFix/>
            </a:blip>
            <a:stretch>
              <a:fillRect b="0" l="0" r="0" t="0"/>
            </a:stretch>
          </a:blipFill>
          <a:ln>
            <a:noFill/>
          </a:ln>
        </p:spPr>
      </p:sp>
      <p:grpSp>
        <p:nvGrpSpPr>
          <p:cNvPr id="101" name="Google Shape;101;p1"/>
          <p:cNvGrpSpPr/>
          <p:nvPr/>
        </p:nvGrpSpPr>
        <p:grpSpPr>
          <a:xfrm>
            <a:off x="8242509" y="3503495"/>
            <a:ext cx="1030630" cy="1030630"/>
            <a:chOff x="0" y="0"/>
            <a:chExt cx="812800" cy="812800"/>
          </a:xfrm>
        </p:grpSpPr>
        <p:sp>
          <p:nvSpPr>
            <p:cNvPr id="102" name="Google Shape;102;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5960DC"/>
                </a:gs>
                <a:gs pos="100000">
                  <a:srgbClr val="FF9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1"/>
          <p:cNvSpPr/>
          <p:nvPr/>
        </p:nvSpPr>
        <p:spPr>
          <a:xfrm>
            <a:off x="-4483810" y="4968113"/>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5">
              <a:alphaModFix amt="46000"/>
            </a:blip>
            <a:stretch>
              <a:fillRect b="0" l="0" r="0" t="0"/>
            </a:stretch>
          </a:blipFill>
          <a:ln>
            <a:noFill/>
          </a:ln>
        </p:spPr>
      </p:sp>
      <p:sp>
        <p:nvSpPr>
          <p:cNvPr id="105" name="Google Shape;105;p1"/>
          <p:cNvSpPr/>
          <p:nvPr/>
        </p:nvSpPr>
        <p:spPr>
          <a:xfrm>
            <a:off x="84157" y="2001425"/>
            <a:ext cx="503422" cy="572070"/>
          </a:xfrm>
          <a:custGeom>
            <a:rect b="b" l="l" r="r" t="t"/>
            <a:pathLst>
              <a:path extrusionOk="0" h="572070" w="503422">
                <a:moveTo>
                  <a:pt x="0" y="0"/>
                </a:moveTo>
                <a:lnTo>
                  <a:pt x="503422" y="0"/>
                </a:lnTo>
                <a:lnTo>
                  <a:pt x="503422" y="572070"/>
                </a:lnTo>
                <a:lnTo>
                  <a:pt x="0" y="572070"/>
                </a:lnTo>
                <a:lnTo>
                  <a:pt x="0" y="0"/>
                </a:lnTo>
                <a:close/>
              </a:path>
            </a:pathLst>
          </a:custGeom>
          <a:blipFill rotWithShape="1">
            <a:blip r:embed="rId6">
              <a:alphaModFix/>
            </a:blip>
            <a:stretch>
              <a:fillRect b="0" l="0" r="0" t="0"/>
            </a:stretch>
          </a:blipFill>
          <a:ln>
            <a:noFill/>
          </a:ln>
        </p:spPr>
      </p:sp>
      <p:sp>
        <p:nvSpPr>
          <p:cNvPr id="106" name="Google Shape;106;p1"/>
          <p:cNvSpPr/>
          <p:nvPr/>
        </p:nvSpPr>
        <p:spPr>
          <a:xfrm>
            <a:off x="1273997" y="8295915"/>
            <a:ext cx="5108382" cy="622294"/>
          </a:xfrm>
          <a:custGeom>
            <a:rect b="b" l="l" r="r" t="t"/>
            <a:pathLst>
              <a:path extrusionOk="0" h="622294" w="5108382">
                <a:moveTo>
                  <a:pt x="0" y="0"/>
                </a:moveTo>
                <a:lnTo>
                  <a:pt x="5108382" y="0"/>
                </a:lnTo>
                <a:lnTo>
                  <a:pt x="5108382" y="622294"/>
                </a:lnTo>
                <a:lnTo>
                  <a:pt x="0" y="622294"/>
                </a:lnTo>
                <a:lnTo>
                  <a:pt x="0" y="0"/>
                </a:lnTo>
                <a:close/>
              </a:path>
            </a:pathLst>
          </a:custGeom>
          <a:blipFill rotWithShape="1">
            <a:blip r:embed="rId7">
              <a:alphaModFix/>
            </a:blip>
            <a:stretch>
              <a:fillRect b="0" l="0" r="0" t="0"/>
            </a:stretch>
          </a:blipFill>
          <a:ln>
            <a:noFill/>
          </a:ln>
        </p:spPr>
      </p:sp>
      <p:sp>
        <p:nvSpPr>
          <p:cNvPr id="107" name="Google Shape;107;p1"/>
          <p:cNvSpPr/>
          <p:nvPr/>
        </p:nvSpPr>
        <p:spPr>
          <a:xfrm>
            <a:off x="14450958" y="6480769"/>
            <a:ext cx="478436" cy="837524"/>
          </a:xfrm>
          <a:custGeom>
            <a:rect b="b" l="l" r="r" t="t"/>
            <a:pathLst>
              <a:path extrusionOk="0" h="837524" w="478436">
                <a:moveTo>
                  <a:pt x="0" y="0"/>
                </a:moveTo>
                <a:lnTo>
                  <a:pt x="478436" y="0"/>
                </a:lnTo>
                <a:lnTo>
                  <a:pt x="478436" y="837525"/>
                </a:lnTo>
                <a:lnTo>
                  <a:pt x="0" y="837525"/>
                </a:lnTo>
                <a:lnTo>
                  <a:pt x="0" y="0"/>
                </a:lnTo>
                <a:close/>
              </a:path>
            </a:pathLst>
          </a:custGeom>
          <a:blipFill rotWithShape="1">
            <a:blip r:embed="rId8">
              <a:alphaModFix/>
            </a:blip>
            <a:stretch>
              <a:fillRect b="0" l="0" r="0" t="0"/>
            </a:stretch>
          </a:blipFill>
          <a:ln>
            <a:noFill/>
          </a:ln>
        </p:spPr>
      </p:sp>
      <p:sp>
        <p:nvSpPr>
          <p:cNvPr id="108" name="Google Shape;108;p1"/>
          <p:cNvSpPr txBox="1"/>
          <p:nvPr/>
        </p:nvSpPr>
        <p:spPr>
          <a:xfrm>
            <a:off x="709033" y="1052799"/>
            <a:ext cx="10247613" cy="2602671"/>
          </a:xfrm>
          <a:prstGeom prst="rect">
            <a:avLst/>
          </a:prstGeom>
          <a:noFill/>
          <a:ln>
            <a:noFill/>
          </a:ln>
        </p:spPr>
        <p:txBody>
          <a:bodyPr anchorCtr="0" anchor="t" bIns="0" lIns="0" spcFirstLastPara="1" rIns="0" wrap="square" tIns="0">
            <a:spAutoFit/>
          </a:bodyPr>
          <a:lstStyle/>
          <a:p>
            <a:pPr indent="0" lvl="0" marL="0" marR="0" rtl="0" algn="l">
              <a:lnSpc>
                <a:spcPct val="104998"/>
              </a:lnSpc>
              <a:spcBef>
                <a:spcPts val="0"/>
              </a:spcBef>
              <a:spcAft>
                <a:spcPts val="0"/>
              </a:spcAft>
              <a:buNone/>
            </a:pPr>
            <a:r>
              <a:rPr b="0" i="0" lang="en-US" sz="9623" u="none" cap="none" strike="noStrike">
                <a:solidFill>
                  <a:srgbClr val="1F2374"/>
                </a:solidFill>
                <a:latin typeface="Anton"/>
                <a:ea typeface="Anton"/>
                <a:cs typeface="Anton"/>
                <a:sym typeface="Anton"/>
              </a:rPr>
              <a:t>ORGANIZACIÓN COMPUTACIONAL </a:t>
            </a:r>
            <a:endParaRPr/>
          </a:p>
        </p:txBody>
      </p:sp>
      <p:sp>
        <p:nvSpPr>
          <p:cNvPr id="109" name="Google Shape;109;p1"/>
          <p:cNvSpPr txBox="1"/>
          <p:nvPr/>
        </p:nvSpPr>
        <p:spPr>
          <a:xfrm>
            <a:off x="1880115" y="8426404"/>
            <a:ext cx="3549873" cy="32321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0" i="0" lang="en-US" sz="1899" u="none" cap="none" strike="noStrike">
                <a:solidFill>
                  <a:srgbClr val="FFFFFF"/>
                </a:solidFill>
                <a:latin typeface="Montserrat"/>
                <a:ea typeface="Montserrat"/>
                <a:cs typeface="Montserrat"/>
                <a:sym typeface="Montserrat"/>
              </a:rPr>
              <a:t>Semana 2</a:t>
            </a:r>
            <a:endParaRPr/>
          </a:p>
        </p:txBody>
      </p:sp>
      <p:sp>
        <p:nvSpPr>
          <p:cNvPr id="110" name="Google Shape;110;p1"/>
          <p:cNvSpPr txBox="1"/>
          <p:nvPr/>
        </p:nvSpPr>
        <p:spPr>
          <a:xfrm>
            <a:off x="709033" y="4073744"/>
            <a:ext cx="7796174" cy="1681108"/>
          </a:xfrm>
          <a:prstGeom prst="rect">
            <a:avLst/>
          </a:prstGeom>
          <a:noFill/>
          <a:ln>
            <a:noFill/>
          </a:ln>
        </p:spPr>
        <p:txBody>
          <a:bodyPr anchorCtr="0" anchor="t" bIns="0" lIns="0" spcFirstLastPara="1" rIns="0" wrap="square" tIns="0">
            <a:spAutoFit/>
          </a:bodyPr>
          <a:lstStyle/>
          <a:p>
            <a:pPr indent="0" lvl="0" marL="0" marR="0" rtl="0" algn="l">
              <a:lnSpc>
                <a:spcPct val="104997"/>
              </a:lnSpc>
              <a:spcBef>
                <a:spcPts val="0"/>
              </a:spcBef>
              <a:spcAft>
                <a:spcPts val="0"/>
              </a:spcAft>
              <a:buNone/>
            </a:pPr>
            <a:r>
              <a:rPr b="0" i="0" lang="en-US" sz="12247" u="none" cap="none" strike="noStrike">
                <a:solidFill>
                  <a:srgbClr val="C4459F"/>
                </a:solidFill>
                <a:latin typeface="Anton"/>
                <a:ea typeface="Anton"/>
                <a:cs typeface="Anton"/>
                <a:sym typeface="Anton"/>
              </a:rPr>
              <a:t>BIENVENIDOS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116" name="Google Shape;116;p2"/>
          <p:cNvSpPr/>
          <p:nvPr/>
        </p:nvSpPr>
        <p:spPr>
          <a:xfrm>
            <a:off x="12947727" y="-1077507"/>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4">
              <a:alphaModFix amt="46000"/>
            </a:blip>
            <a:stretch>
              <a:fillRect b="0" l="0" r="0" t="0"/>
            </a:stretch>
          </a:blipFill>
          <a:ln>
            <a:noFill/>
          </a:ln>
        </p:spPr>
      </p:sp>
      <p:grpSp>
        <p:nvGrpSpPr>
          <p:cNvPr id="117" name="Google Shape;117;p2"/>
          <p:cNvGrpSpPr/>
          <p:nvPr/>
        </p:nvGrpSpPr>
        <p:grpSpPr>
          <a:xfrm>
            <a:off x="11841736" y="0"/>
            <a:ext cx="7771954" cy="7771954"/>
            <a:chOff x="0" y="0"/>
            <a:chExt cx="812800" cy="812800"/>
          </a:xfrm>
        </p:grpSpPr>
        <p:sp>
          <p:nvSpPr>
            <p:cNvPr id="118" name="Google Shape;11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9525">
              <a:solidFill>
                <a:srgbClr val="5960D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0" name="Google Shape;120;p2"/>
          <p:cNvGrpSpPr/>
          <p:nvPr/>
        </p:nvGrpSpPr>
        <p:grpSpPr>
          <a:xfrm>
            <a:off x="12476357" y="634621"/>
            <a:ext cx="6502712" cy="6502712"/>
            <a:chOff x="0" y="0"/>
            <a:chExt cx="812800" cy="812800"/>
          </a:xfrm>
        </p:grpSpPr>
        <p:sp>
          <p:nvSpPr>
            <p:cNvPr id="121" name="Google Shape;121;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5960D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2"/>
          <p:cNvGrpSpPr/>
          <p:nvPr/>
        </p:nvGrpSpPr>
        <p:grpSpPr>
          <a:xfrm>
            <a:off x="11624641" y="2331196"/>
            <a:ext cx="851716" cy="851716"/>
            <a:chOff x="0" y="0"/>
            <a:chExt cx="812800" cy="812800"/>
          </a:xfrm>
        </p:grpSpPr>
        <p:sp>
          <p:nvSpPr>
            <p:cNvPr id="124" name="Google Shape;12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5960DC"/>
                </a:gs>
                <a:gs pos="100000">
                  <a:srgbClr val="FF99F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 name="Google Shape;126;p2"/>
          <p:cNvSpPr/>
          <p:nvPr/>
        </p:nvSpPr>
        <p:spPr>
          <a:xfrm>
            <a:off x="12949693" y="993040"/>
            <a:ext cx="5785874" cy="5785874"/>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5">
              <a:alphaModFix/>
            </a:blip>
            <a:stretch>
              <a:fillRect b="-24904" l="0" r="0" t="-24904"/>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17435868" y="9572964"/>
            <a:ext cx="663074" cy="379761"/>
          </a:xfrm>
          <a:custGeom>
            <a:rect b="b" l="l" r="r" t="t"/>
            <a:pathLst>
              <a:path extrusionOk="0" h="379761" w="663074">
                <a:moveTo>
                  <a:pt x="0" y="0"/>
                </a:moveTo>
                <a:lnTo>
                  <a:pt x="663074" y="0"/>
                </a:lnTo>
                <a:lnTo>
                  <a:pt x="663074" y="379761"/>
                </a:lnTo>
                <a:lnTo>
                  <a:pt x="0" y="379761"/>
                </a:lnTo>
                <a:lnTo>
                  <a:pt x="0" y="0"/>
                </a:lnTo>
                <a:close/>
              </a:path>
            </a:pathLst>
          </a:custGeom>
          <a:blipFill rotWithShape="1">
            <a:blip r:embed="rId6">
              <a:alphaModFix/>
            </a:blip>
            <a:stretch>
              <a:fillRect b="0" l="0" r="0" t="0"/>
            </a:stretch>
          </a:blipFill>
          <a:ln>
            <a:noFill/>
          </a:ln>
        </p:spPr>
      </p:sp>
      <p:sp>
        <p:nvSpPr>
          <p:cNvPr id="128" name="Google Shape;128;p2"/>
          <p:cNvSpPr/>
          <p:nvPr/>
        </p:nvSpPr>
        <p:spPr>
          <a:xfrm>
            <a:off x="1399175" y="6345625"/>
            <a:ext cx="10234436" cy="3777078"/>
          </a:xfrm>
          <a:custGeom>
            <a:rect b="b" l="l" r="r" t="t"/>
            <a:pathLst>
              <a:path extrusionOk="0" h="4620279" w="10688706">
                <a:moveTo>
                  <a:pt x="0" y="0"/>
                </a:moveTo>
                <a:lnTo>
                  <a:pt x="10688706" y="0"/>
                </a:lnTo>
                <a:lnTo>
                  <a:pt x="10688706" y="4620279"/>
                </a:lnTo>
                <a:lnTo>
                  <a:pt x="0" y="4620279"/>
                </a:lnTo>
                <a:lnTo>
                  <a:pt x="0" y="0"/>
                </a:lnTo>
                <a:close/>
              </a:path>
            </a:pathLst>
          </a:custGeom>
          <a:blipFill rotWithShape="1">
            <a:blip r:embed="rId7">
              <a:alphaModFix/>
            </a:blip>
            <a:stretch>
              <a:fillRect b="0" l="0" r="0" t="0"/>
            </a:stretch>
          </a:blipFill>
          <a:ln>
            <a:noFill/>
          </a:ln>
        </p:spPr>
      </p:sp>
      <p:sp>
        <p:nvSpPr>
          <p:cNvPr id="129" name="Google Shape;129;p2"/>
          <p:cNvSpPr txBox="1"/>
          <p:nvPr/>
        </p:nvSpPr>
        <p:spPr>
          <a:xfrm>
            <a:off x="165538" y="318936"/>
            <a:ext cx="11567964" cy="1343384"/>
          </a:xfrm>
          <a:prstGeom prst="rect">
            <a:avLst/>
          </a:prstGeom>
          <a:noFill/>
          <a:ln>
            <a:noFill/>
          </a:ln>
        </p:spPr>
        <p:txBody>
          <a:bodyPr anchorCtr="0" anchor="t" bIns="0" lIns="0" spcFirstLastPara="1" rIns="0" wrap="square" tIns="0">
            <a:spAutoFit/>
          </a:bodyPr>
          <a:lstStyle/>
          <a:p>
            <a:pPr indent="0" lvl="0" marL="0" marR="0" rtl="0" algn="l">
              <a:lnSpc>
                <a:spcPct val="104990"/>
              </a:lnSpc>
              <a:spcBef>
                <a:spcPts val="0"/>
              </a:spcBef>
              <a:spcAft>
                <a:spcPts val="0"/>
              </a:spcAft>
              <a:buNone/>
            </a:pPr>
            <a:r>
              <a:rPr b="0" i="0" lang="en-US" sz="9799" u="none" cap="none" strike="noStrike">
                <a:solidFill>
                  <a:srgbClr val="1F2374"/>
                </a:solidFill>
                <a:latin typeface="Anton"/>
                <a:ea typeface="Anton"/>
                <a:cs typeface="Anton"/>
                <a:sym typeface="Anton"/>
              </a:rPr>
              <a:t>MAPAS DE KARNAUGH</a:t>
            </a:r>
            <a:endParaRPr/>
          </a:p>
        </p:txBody>
      </p:sp>
      <p:sp>
        <p:nvSpPr>
          <p:cNvPr id="130" name="Google Shape;130;p2"/>
          <p:cNvSpPr txBox="1"/>
          <p:nvPr/>
        </p:nvSpPr>
        <p:spPr>
          <a:xfrm>
            <a:off x="165538" y="1595644"/>
            <a:ext cx="11567964" cy="3909350"/>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1" i="0" lang="en-US" sz="2791" u="none" cap="none" strike="noStrike">
                <a:solidFill>
                  <a:srgbClr val="000000"/>
                </a:solidFill>
                <a:latin typeface="Raleway Medium"/>
                <a:ea typeface="Raleway Medium"/>
                <a:cs typeface="Raleway Medium"/>
                <a:sym typeface="Raleway Medium"/>
              </a:rPr>
              <a:t>El Mapa de Karnaugh tiene la característica de que puede ser visto como una representación bidimensional de una tabla de verdad. En la tabla de verdad, se colocan las variables por columnas y las combinaciones de tales variables determinan un valor de salida, 0 o 1, sin embargo, en el mapa las variables se colocan como si de un plano cartesiano se tratara, respetando cada una de las combinaciones que de ellas se generan, y colocando en la intersección de las combinaciones de las variables, el valor de salida.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136" name="Google Shape;136;p3"/>
          <p:cNvSpPr/>
          <p:nvPr/>
        </p:nvSpPr>
        <p:spPr>
          <a:xfrm>
            <a:off x="-4005199" y="5842629"/>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4">
              <a:alphaModFix amt="46000"/>
            </a:blip>
            <a:stretch>
              <a:fillRect b="0" l="0" r="0" t="0"/>
            </a:stretch>
          </a:blipFill>
          <a:ln>
            <a:noFill/>
          </a:ln>
        </p:spPr>
      </p:sp>
      <p:sp>
        <p:nvSpPr>
          <p:cNvPr id="137" name="Google Shape;137;p3"/>
          <p:cNvSpPr/>
          <p:nvPr/>
        </p:nvSpPr>
        <p:spPr>
          <a:xfrm>
            <a:off x="-1345005" y="-817212"/>
            <a:ext cx="4318969" cy="4114800"/>
          </a:xfrm>
          <a:custGeom>
            <a:rect b="b" l="l" r="r" t="t"/>
            <a:pathLst>
              <a:path extrusionOk="0" h="4114800" w="4318969">
                <a:moveTo>
                  <a:pt x="0" y="0"/>
                </a:moveTo>
                <a:lnTo>
                  <a:pt x="4318969" y="0"/>
                </a:lnTo>
                <a:lnTo>
                  <a:pt x="4318969" y="4114800"/>
                </a:lnTo>
                <a:lnTo>
                  <a:pt x="0" y="4114800"/>
                </a:lnTo>
                <a:lnTo>
                  <a:pt x="0" y="0"/>
                </a:lnTo>
                <a:close/>
              </a:path>
            </a:pathLst>
          </a:custGeom>
          <a:blipFill rotWithShape="1">
            <a:blip r:embed="rId5">
              <a:alphaModFix/>
            </a:blip>
            <a:stretch>
              <a:fillRect b="0" l="0" r="0" t="0"/>
            </a:stretch>
          </a:blipFill>
          <a:ln>
            <a:noFill/>
          </a:ln>
        </p:spPr>
      </p:sp>
      <p:sp>
        <p:nvSpPr>
          <p:cNvPr id="138" name="Google Shape;138;p3"/>
          <p:cNvSpPr/>
          <p:nvPr/>
        </p:nvSpPr>
        <p:spPr>
          <a:xfrm flipH="1">
            <a:off x="16128515" y="6992974"/>
            <a:ext cx="4318969" cy="4114800"/>
          </a:xfrm>
          <a:custGeom>
            <a:rect b="b" l="l" r="r" t="t"/>
            <a:pathLst>
              <a:path extrusionOk="0" h="4114800" w="4318969">
                <a:moveTo>
                  <a:pt x="4318970" y="0"/>
                </a:moveTo>
                <a:lnTo>
                  <a:pt x="0" y="0"/>
                </a:lnTo>
                <a:lnTo>
                  <a:pt x="0" y="4114800"/>
                </a:lnTo>
                <a:lnTo>
                  <a:pt x="4318970" y="4114800"/>
                </a:lnTo>
                <a:lnTo>
                  <a:pt x="4318970" y="0"/>
                </a:lnTo>
                <a:close/>
              </a:path>
            </a:pathLst>
          </a:custGeom>
          <a:blipFill rotWithShape="1">
            <a:blip r:embed="rId5">
              <a:alphaModFix/>
            </a:blip>
            <a:stretch>
              <a:fillRect b="0" l="0" r="0" t="0"/>
            </a:stretch>
          </a:blipFill>
          <a:ln>
            <a:noFill/>
          </a:ln>
        </p:spPr>
      </p:sp>
      <p:sp>
        <p:nvSpPr>
          <p:cNvPr id="139" name="Google Shape;139;p3"/>
          <p:cNvSpPr/>
          <p:nvPr/>
        </p:nvSpPr>
        <p:spPr>
          <a:xfrm>
            <a:off x="12755863" y="-3661170"/>
            <a:ext cx="9639356" cy="8229600"/>
          </a:xfrm>
          <a:custGeom>
            <a:rect b="b" l="l" r="r" t="t"/>
            <a:pathLst>
              <a:path extrusionOk="0" h="8229600" w="9639356">
                <a:moveTo>
                  <a:pt x="0" y="0"/>
                </a:moveTo>
                <a:lnTo>
                  <a:pt x="9639355" y="0"/>
                </a:lnTo>
                <a:lnTo>
                  <a:pt x="9639355" y="8229600"/>
                </a:lnTo>
                <a:lnTo>
                  <a:pt x="0" y="8229600"/>
                </a:lnTo>
                <a:lnTo>
                  <a:pt x="0" y="0"/>
                </a:lnTo>
                <a:close/>
              </a:path>
            </a:pathLst>
          </a:custGeom>
          <a:blipFill rotWithShape="1">
            <a:blip r:embed="rId4">
              <a:alphaModFix amt="46000"/>
            </a:blip>
            <a:stretch>
              <a:fillRect b="0" l="0" r="0" t="0"/>
            </a:stretch>
          </a:blipFill>
          <a:ln>
            <a:noFill/>
          </a:ln>
        </p:spPr>
      </p:sp>
      <p:sp>
        <p:nvSpPr>
          <p:cNvPr id="140" name="Google Shape;140;p3"/>
          <p:cNvSpPr/>
          <p:nvPr/>
        </p:nvSpPr>
        <p:spPr>
          <a:xfrm>
            <a:off x="840566" y="2444030"/>
            <a:ext cx="7278652" cy="7376571"/>
          </a:xfrm>
          <a:custGeom>
            <a:rect b="b" l="l" r="r" t="t"/>
            <a:pathLst>
              <a:path extrusionOk="0" h="7376571" w="7278652">
                <a:moveTo>
                  <a:pt x="0" y="0"/>
                </a:moveTo>
                <a:lnTo>
                  <a:pt x="7278652" y="0"/>
                </a:lnTo>
                <a:lnTo>
                  <a:pt x="7278652" y="7376572"/>
                </a:lnTo>
                <a:lnTo>
                  <a:pt x="0" y="7376572"/>
                </a:lnTo>
                <a:lnTo>
                  <a:pt x="0" y="0"/>
                </a:lnTo>
                <a:close/>
              </a:path>
            </a:pathLst>
          </a:custGeom>
          <a:blipFill rotWithShape="1">
            <a:blip r:embed="rId6">
              <a:alphaModFix/>
            </a:blip>
            <a:stretch>
              <a:fillRect b="0" l="0" r="0" t="0"/>
            </a:stretch>
          </a:blipFill>
          <a:ln>
            <a:noFill/>
          </a:ln>
        </p:spPr>
      </p:sp>
      <p:sp>
        <p:nvSpPr>
          <p:cNvPr id="141" name="Google Shape;141;p3"/>
          <p:cNvSpPr txBox="1"/>
          <p:nvPr/>
        </p:nvSpPr>
        <p:spPr>
          <a:xfrm>
            <a:off x="8631903" y="396480"/>
            <a:ext cx="9362226" cy="6669257"/>
          </a:xfrm>
          <a:prstGeom prst="rect">
            <a:avLst/>
          </a:prstGeom>
          <a:noFill/>
          <a:ln>
            <a:noFill/>
          </a:ln>
        </p:spPr>
        <p:txBody>
          <a:bodyPr anchorCtr="0" anchor="t" bIns="0" lIns="0" spcFirstLastPara="1" rIns="0" wrap="square" tIns="0">
            <a:spAutoFit/>
          </a:bodyPr>
          <a:lstStyle/>
          <a:p>
            <a:pPr indent="0" lvl="0" marL="0" marR="0" rtl="0" algn="just">
              <a:lnSpc>
                <a:spcPct val="140034"/>
              </a:lnSpc>
              <a:spcBef>
                <a:spcPts val="0"/>
              </a:spcBef>
              <a:spcAft>
                <a:spcPts val="0"/>
              </a:spcAft>
              <a:buNone/>
            </a:pPr>
            <a:r>
              <a:rPr b="0" i="0" lang="en-US" sz="2930" u="none" cap="none" strike="noStrike">
                <a:solidFill>
                  <a:srgbClr val="000000"/>
                </a:solidFill>
                <a:latin typeface="Arial"/>
                <a:ea typeface="Arial"/>
                <a:cs typeface="Arial"/>
                <a:sym typeface="Arial"/>
              </a:rPr>
              <a:t>En la figura se visualiza la forma de pasar una tabla de verdad a un mapa de Karnaugh,  esta tabla tiene 4 variables  colocadas de la A a la D, ordenadas en columnas. Estas 4 variables forman diferentes combinaciones (2^4 = 16) y cada combinación tendrá una salida lógica (0 o 1).</a:t>
            </a:r>
            <a:endParaRPr/>
          </a:p>
          <a:p>
            <a:pPr indent="0" lvl="0" marL="0" marR="0" rtl="0" algn="just">
              <a:lnSpc>
                <a:spcPct val="140034"/>
              </a:lnSpc>
              <a:spcBef>
                <a:spcPts val="0"/>
              </a:spcBef>
              <a:spcAft>
                <a:spcPts val="0"/>
              </a:spcAft>
              <a:buNone/>
            </a:pPr>
            <a:r>
              <a:t/>
            </a:r>
            <a:endParaRPr b="0" i="0" sz="2930" u="none" cap="none" strike="noStrike">
              <a:solidFill>
                <a:srgbClr val="000000"/>
              </a:solidFill>
              <a:latin typeface="Arial"/>
              <a:ea typeface="Arial"/>
              <a:cs typeface="Arial"/>
              <a:sym typeface="Arial"/>
            </a:endParaRPr>
          </a:p>
          <a:p>
            <a:pPr indent="0" lvl="0" marL="0" marR="0" rtl="0" algn="just">
              <a:lnSpc>
                <a:spcPct val="140034"/>
              </a:lnSpc>
              <a:spcBef>
                <a:spcPts val="0"/>
              </a:spcBef>
              <a:spcAft>
                <a:spcPts val="0"/>
              </a:spcAft>
              <a:buNone/>
            </a:pPr>
            <a:r>
              <a:rPr b="0" i="0" lang="en-US" sz="2930" u="none" cap="none" strike="noStrike">
                <a:solidFill>
                  <a:srgbClr val="000000"/>
                </a:solidFill>
                <a:latin typeface="Arial"/>
                <a:ea typeface="Arial"/>
                <a:cs typeface="Arial"/>
                <a:sym typeface="Arial"/>
              </a:rPr>
              <a:t>Una vez definida la manera en la cual se llena un mapa, vamos a dar las reglas con las cuales se obtienen las funciones booleanas simplificadas. Estas funciones dependerán de la cantidad de 1’s o 0’s agrupados, y las posiciones del mapa en las que se encuentran.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grpSp>
        <p:nvGrpSpPr>
          <p:cNvPr id="147" name="Google Shape;147;p4"/>
          <p:cNvGrpSpPr/>
          <p:nvPr/>
        </p:nvGrpSpPr>
        <p:grpSpPr>
          <a:xfrm>
            <a:off x="-2766985" y="-949223"/>
            <a:ext cx="6700867" cy="7470139"/>
            <a:chOff x="0" y="0"/>
            <a:chExt cx="960026" cy="1070239"/>
          </a:xfrm>
        </p:grpSpPr>
        <p:sp>
          <p:nvSpPr>
            <p:cNvPr id="148" name="Google Shape;148;p4"/>
            <p:cNvSpPr/>
            <p:nvPr/>
          </p:nvSpPr>
          <p:spPr>
            <a:xfrm>
              <a:off x="0" y="0"/>
              <a:ext cx="960026" cy="1070239"/>
            </a:xfrm>
            <a:custGeom>
              <a:rect b="b" l="l" r="r" t="t"/>
              <a:pathLst>
                <a:path extrusionOk="0" h="1070239" w="960026">
                  <a:moveTo>
                    <a:pt x="480013" y="0"/>
                  </a:moveTo>
                  <a:cubicBezTo>
                    <a:pt x="214909" y="0"/>
                    <a:pt x="0" y="239581"/>
                    <a:pt x="0" y="535119"/>
                  </a:cubicBezTo>
                  <a:cubicBezTo>
                    <a:pt x="0" y="830658"/>
                    <a:pt x="214909" y="1070239"/>
                    <a:pt x="480013" y="1070239"/>
                  </a:cubicBezTo>
                  <a:cubicBezTo>
                    <a:pt x="745117" y="1070239"/>
                    <a:pt x="960026" y="830658"/>
                    <a:pt x="960026" y="535119"/>
                  </a:cubicBezTo>
                  <a:cubicBezTo>
                    <a:pt x="960026" y="239581"/>
                    <a:pt x="745117" y="0"/>
                    <a:pt x="480013" y="0"/>
                  </a:cubicBezTo>
                  <a:close/>
                </a:path>
              </a:pathLst>
            </a:custGeom>
            <a:solidFill>
              <a:srgbClr val="000000">
                <a:alpha val="0"/>
              </a:srgbClr>
            </a:solidFill>
            <a:ln cap="sq" cmpd="sng" w="9525">
              <a:solidFill>
                <a:srgbClr val="5960D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txBox="1"/>
            <p:nvPr/>
          </p:nvSpPr>
          <p:spPr>
            <a:xfrm>
              <a:off x="90002" y="62235"/>
              <a:ext cx="780021" cy="90766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4"/>
          <p:cNvSpPr/>
          <p:nvPr/>
        </p:nvSpPr>
        <p:spPr>
          <a:xfrm>
            <a:off x="-710360" y="-5074466"/>
            <a:ext cx="18778525" cy="9696548"/>
          </a:xfrm>
          <a:custGeom>
            <a:rect b="b" l="l" r="r" t="t"/>
            <a:pathLst>
              <a:path extrusionOk="0" h="9696548" w="18778525">
                <a:moveTo>
                  <a:pt x="0" y="0"/>
                </a:moveTo>
                <a:lnTo>
                  <a:pt x="18778525" y="0"/>
                </a:lnTo>
                <a:lnTo>
                  <a:pt x="18778525" y="9696548"/>
                </a:lnTo>
                <a:lnTo>
                  <a:pt x="0" y="9696548"/>
                </a:lnTo>
                <a:lnTo>
                  <a:pt x="0" y="0"/>
                </a:lnTo>
                <a:close/>
              </a:path>
            </a:pathLst>
          </a:custGeom>
          <a:blipFill rotWithShape="1">
            <a:blip r:embed="rId4">
              <a:alphaModFix/>
            </a:blip>
            <a:stretch>
              <a:fillRect b="0" l="0" r="0" t="0"/>
            </a:stretch>
          </a:blipFill>
          <a:ln>
            <a:noFill/>
          </a:ln>
        </p:spPr>
      </p:sp>
      <p:sp>
        <p:nvSpPr>
          <p:cNvPr id="151" name="Google Shape;151;p4"/>
          <p:cNvSpPr/>
          <p:nvPr/>
        </p:nvSpPr>
        <p:spPr>
          <a:xfrm>
            <a:off x="-2766985" y="7261682"/>
            <a:ext cx="5814884" cy="4964457"/>
          </a:xfrm>
          <a:custGeom>
            <a:rect b="b" l="l" r="r" t="t"/>
            <a:pathLst>
              <a:path extrusionOk="0" h="4964457" w="5814884">
                <a:moveTo>
                  <a:pt x="0" y="0"/>
                </a:moveTo>
                <a:lnTo>
                  <a:pt x="5814883" y="0"/>
                </a:lnTo>
                <a:lnTo>
                  <a:pt x="5814883" y="4964457"/>
                </a:lnTo>
                <a:lnTo>
                  <a:pt x="0" y="4964457"/>
                </a:lnTo>
                <a:lnTo>
                  <a:pt x="0" y="0"/>
                </a:lnTo>
                <a:close/>
              </a:path>
            </a:pathLst>
          </a:custGeom>
          <a:blipFill rotWithShape="1">
            <a:blip r:embed="rId5">
              <a:alphaModFix amt="46000"/>
            </a:blip>
            <a:stretch>
              <a:fillRect b="0" l="0" r="0" t="0"/>
            </a:stretch>
          </a:blipFill>
          <a:ln>
            <a:noFill/>
          </a:ln>
        </p:spPr>
      </p:sp>
      <p:grpSp>
        <p:nvGrpSpPr>
          <p:cNvPr id="152" name="Google Shape;152;p4"/>
          <p:cNvGrpSpPr/>
          <p:nvPr/>
        </p:nvGrpSpPr>
        <p:grpSpPr>
          <a:xfrm>
            <a:off x="-1789924" y="294920"/>
            <a:ext cx="4746745" cy="4746745"/>
            <a:chOff x="0" y="0"/>
            <a:chExt cx="812800" cy="812800"/>
          </a:xfrm>
        </p:grpSpPr>
        <p:sp>
          <p:nvSpPr>
            <p:cNvPr id="153" name="Google Shape;15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5960DC"/>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5" name="Google Shape;155;p4"/>
          <p:cNvSpPr/>
          <p:nvPr/>
        </p:nvSpPr>
        <p:spPr>
          <a:xfrm>
            <a:off x="-1444406" y="556553"/>
            <a:ext cx="4223480" cy="422348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0" l="-16665" r="-1666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txBox="1"/>
          <p:nvPr/>
        </p:nvSpPr>
        <p:spPr>
          <a:xfrm>
            <a:off x="3047898" y="142875"/>
            <a:ext cx="11539200" cy="2618700"/>
          </a:xfrm>
          <a:prstGeom prst="rect">
            <a:avLst/>
          </a:prstGeom>
          <a:noFill/>
          <a:ln>
            <a:noFill/>
          </a:ln>
        </p:spPr>
        <p:txBody>
          <a:bodyPr anchorCtr="0" anchor="t" bIns="0" lIns="0" spcFirstLastPara="1" rIns="0" wrap="square" tIns="0">
            <a:spAutoFit/>
          </a:bodyPr>
          <a:lstStyle/>
          <a:p>
            <a:pPr indent="0" lvl="0" marL="0" marR="0" rtl="0" algn="l">
              <a:lnSpc>
                <a:spcPct val="104990"/>
              </a:lnSpc>
              <a:spcBef>
                <a:spcPts val="0"/>
              </a:spcBef>
              <a:spcAft>
                <a:spcPts val="0"/>
              </a:spcAft>
              <a:buNone/>
            </a:pPr>
            <a:r>
              <a:rPr b="0" i="0" lang="en-US" sz="8299" u="none" cap="none" strike="noStrike">
                <a:solidFill>
                  <a:srgbClr val="1F2374"/>
                </a:solidFill>
                <a:latin typeface="Anton"/>
                <a:ea typeface="Anton"/>
                <a:cs typeface="Anton"/>
                <a:sym typeface="Anton"/>
              </a:rPr>
              <a:t>REGLAS PARA EL MAPA DE KARNAUGH</a:t>
            </a:r>
            <a:endParaRPr sz="100"/>
          </a:p>
        </p:txBody>
      </p:sp>
      <p:sp>
        <p:nvSpPr>
          <p:cNvPr id="157" name="Google Shape;157;p4"/>
          <p:cNvSpPr txBox="1"/>
          <p:nvPr/>
        </p:nvSpPr>
        <p:spPr>
          <a:xfrm>
            <a:off x="2956821" y="2620667"/>
            <a:ext cx="15020400" cy="8469300"/>
          </a:xfrm>
          <a:prstGeom prst="rect">
            <a:avLst/>
          </a:prstGeom>
          <a:noFill/>
          <a:ln>
            <a:noFill/>
          </a:ln>
        </p:spPr>
        <p:txBody>
          <a:bodyPr anchorCtr="0" anchor="t" bIns="0" lIns="0" spcFirstLastPara="1" rIns="0" wrap="square" tIns="0">
            <a:spAutoFit/>
          </a:bodyPr>
          <a:lstStyle/>
          <a:p>
            <a:pPr indent="0" lvl="0" marL="0" marR="0" rtl="0" algn="just">
              <a:lnSpc>
                <a:spcPct val="139969"/>
              </a:lnSpc>
              <a:spcBef>
                <a:spcPts val="0"/>
              </a:spcBef>
              <a:spcAft>
                <a:spcPts val="0"/>
              </a:spcAft>
              <a:buNone/>
            </a:pPr>
            <a:r>
              <a:rPr b="1" i="0" lang="en-US" sz="1994" u="none" cap="none" strike="noStrike">
                <a:solidFill>
                  <a:srgbClr val="000000"/>
                </a:solidFill>
                <a:latin typeface="Raleway Medium"/>
                <a:ea typeface="Raleway Medium"/>
                <a:cs typeface="Raleway Medium"/>
                <a:sym typeface="Raleway Medium"/>
              </a:rPr>
              <a:t>A continuación, se enlistan puntos importantes que deben tomarse en cuenta para la formación de grupos dentro del mapa de Karnaugh:</a:t>
            </a:r>
            <a:endParaRPr b="1" i="0" sz="1994" u="none" cap="none" strike="noStrike">
              <a:solidFill>
                <a:srgbClr val="000000"/>
              </a:solidFill>
              <a:latin typeface="Raleway Medium"/>
              <a:ea typeface="Raleway Medium"/>
              <a:cs typeface="Raleway Medium"/>
              <a:sym typeface="Raleway Medium"/>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Los grupos deben contener una cantidad de elementos igual a potencias de 2. Es decir, los grupos solo podrán realizarse con cantidades de celdas iguales a: 1, 2, 4, 8, 16, 32, etc.</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Se deben generar grupos con combinaciones de variables adyacentes, es decir, sólo debe de haber un cambio entre cada una de las combinaciones, por ejemplo la combinación ABC’ es adyacente con AB’C’, ya que sólo cambia la variable B.</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Grupos en los extremos y esquinas del mapa. Las posiciones de los extremos y las esquinas son adyacentes, por lo que se pueden agrupar. </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Grupos de unos darán lugar a una suma de productos o mini términos.</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Grupos de ceros darán lugar a un producto de sumas o maxi términos.</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Los grupos deben ser lo más grande posible. Se buscará realizar grupos con la mayor cantidad de elementos posibles, entre más grande el grupo, se obtiene una función más simplificada.</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No se pueden generar grupos en diagonal. Solo se permitirán grupos en vertical y horizontal dentro del mapa.</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Puede existir solapamiento de grupos, siempre y cuando exista al menos un elemento que no haya sido agrupado anteriormente.</a:t>
            </a:r>
            <a:endParaRPr/>
          </a:p>
          <a:p>
            <a:pPr indent="-215274" lvl="1" marL="430549" marR="0" rtl="0" algn="just">
              <a:lnSpc>
                <a:spcPct val="139969"/>
              </a:lnSpc>
              <a:spcBef>
                <a:spcPts val="0"/>
              </a:spcBef>
              <a:spcAft>
                <a:spcPts val="0"/>
              </a:spcAft>
              <a:buClr>
                <a:srgbClr val="000000"/>
              </a:buClr>
              <a:buSzPts val="1994"/>
              <a:buFont typeface="Arial"/>
              <a:buChar char="•"/>
            </a:pPr>
            <a:r>
              <a:rPr b="1" i="0" lang="en-US" sz="1994" u="none" cap="none" strike="noStrike">
                <a:solidFill>
                  <a:srgbClr val="000000"/>
                </a:solidFill>
                <a:latin typeface="Raleway"/>
                <a:ea typeface="Raleway"/>
                <a:cs typeface="Raleway"/>
                <a:sym typeface="Raleway"/>
              </a:rPr>
              <a:t>No deben existir grupos redundantes, es decir, no se puede realizar un grupo dentro de otro grupo, y no se puede realizar un grupo con elementos que ya hayan sido completamente agrupados en otros conjuntos.</a:t>
            </a:r>
            <a:endParaRPr/>
          </a:p>
          <a:p>
            <a:pPr indent="0" lvl="0" marL="0" marR="0" rtl="0" algn="just">
              <a:lnSpc>
                <a:spcPct val="139969"/>
              </a:lnSpc>
              <a:spcBef>
                <a:spcPts val="0"/>
              </a:spcBef>
              <a:spcAft>
                <a:spcPts val="0"/>
              </a:spcAft>
              <a:buNone/>
            </a:pPr>
            <a:r>
              <a:t/>
            </a:r>
            <a:endParaRPr b="1" i="0" sz="1994" u="none" cap="none" strike="noStrike">
              <a:solidFill>
                <a:srgbClr val="000000"/>
              </a:solidFill>
              <a:latin typeface="Raleway"/>
              <a:ea typeface="Raleway"/>
              <a:cs typeface="Raleway"/>
              <a:sym typeface="Raleway"/>
            </a:endParaRPr>
          </a:p>
          <a:p>
            <a:pPr indent="0" lvl="0" marL="0" marR="0" rtl="0" algn="just">
              <a:lnSpc>
                <a:spcPct val="139969"/>
              </a:lnSpc>
              <a:spcBef>
                <a:spcPts val="0"/>
              </a:spcBef>
              <a:spcAft>
                <a:spcPts val="0"/>
              </a:spcAft>
              <a:buNone/>
            </a:pPr>
            <a:r>
              <a:t/>
            </a:r>
            <a:endParaRPr b="1" i="0" sz="1994" u="none" cap="none" strike="noStrike">
              <a:solidFill>
                <a:srgbClr val="000000"/>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163" name="Google Shape;163;p5"/>
          <p:cNvSpPr/>
          <p:nvPr/>
        </p:nvSpPr>
        <p:spPr>
          <a:xfrm>
            <a:off x="12434221" y="-446483"/>
            <a:ext cx="9993248" cy="8531735"/>
          </a:xfrm>
          <a:custGeom>
            <a:rect b="b" l="l" r="r" t="t"/>
            <a:pathLst>
              <a:path extrusionOk="0" h="8531735" w="9993248">
                <a:moveTo>
                  <a:pt x="0" y="0"/>
                </a:moveTo>
                <a:lnTo>
                  <a:pt x="9993248" y="0"/>
                </a:lnTo>
                <a:lnTo>
                  <a:pt x="9993248" y="8531735"/>
                </a:lnTo>
                <a:lnTo>
                  <a:pt x="0" y="8531735"/>
                </a:lnTo>
                <a:lnTo>
                  <a:pt x="0" y="0"/>
                </a:lnTo>
                <a:close/>
              </a:path>
            </a:pathLst>
          </a:custGeom>
          <a:blipFill rotWithShape="1">
            <a:blip r:embed="rId4">
              <a:alphaModFix amt="46000"/>
            </a:blip>
            <a:stretch>
              <a:fillRect b="0" l="0" r="0" t="0"/>
            </a:stretch>
          </a:blipFill>
          <a:ln>
            <a:noFill/>
          </a:ln>
        </p:spPr>
      </p:sp>
      <p:sp>
        <p:nvSpPr>
          <p:cNvPr id="164" name="Google Shape;164;p5"/>
          <p:cNvSpPr/>
          <p:nvPr/>
        </p:nvSpPr>
        <p:spPr>
          <a:xfrm>
            <a:off x="394819" y="150017"/>
            <a:ext cx="4688930" cy="4031318"/>
          </a:xfrm>
          <a:custGeom>
            <a:rect b="b" l="l" r="r" t="t"/>
            <a:pathLst>
              <a:path extrusionOk="0" h="4031318" w="4688930">
                <a:moveTo>
                  <a:pt x="0" y="0"/>
                </a:moveTo>
                <a:lnTo>
                  <a:pt x="4688930" y="0"/>
                </a:lnTo>
                <a:lnTo>
                  <a:pt x="4688930" y="4031319"/>
                </a:lnTo>
                <a:lnTo>
                  <a:pt x="0" y="4031319"/>
                </a:lnTo>
                <a:lnTo>
                  <a:pt x="0" y="0"/>
                </a:lnTo>
                <a:close/>
              </a:path>
            </a:pathLst>
          </a:custGeom>
          <a:blipFill rotWithShape="1">
            <a:blip r:embed="rId5">
              <a:alphaModFix/>
            </a:blip>
            <a:stretch>
              <a:fillRect b="0" l="-3818" r="-3818" t="0"/>
            </a:stretch>
          </a:blipFill>
          <a:ln>
            <a:noFill/>
          </a:ln>
        </p:spPr>
      </p:sp>
      <p:sp>
        <p:nvSpPr>
          <p:cNvPr id="165" name="Google Shape;165;p5"/>
          <p:cNvSpPr/>
          <p:nvPr/>
        </p:nvSpPr>
        <p:spPr>
          <a:xfrm>
            <a:off x="6708384" y="416728"/>
            <a:ext cx="503422" cy="572070"/>
          </a:xfrm>
          <a:custGeom>
            <a:rect b="b" l="l" r="r" t="t"/>
            <a:pathLst>
              <a:path extrusionOk="0" h="572070" w="503422">
                <a:moveTo>
                  <a:pt x="0" y="0"/>
                </a:moveTo>
                <a:lnTo>
                  <a:pt x="503422" y="0"/>
                </a:lnTo>
                <a:lnTo>
                  <a:pt x="503422" y="572071"/>
                </a:lnTo>
                <a:lnTo>
                  <a:pt x="0" y="572071"/>
                </a:lnTo>
                <a:lnTo>
                  <a:pt x="0" y="0"/>
                </a:lnTo>
                <a:close/>
              </a:path>
            </a:pathLst>
          </a:custGeom>
          <a:blipFill rotWithShape="1">
            <a:blip r:embed="rId6">
              <a:alphaModFix/>
            </a:blip>
            <a:stretch>
              <a:fillRect b="0" l="0" r="0" t="0"/>
            </a:stretch>
          </a:blipFill>
          <a:ln>
            <a:noFill/>
          </a:ln>
        </p:spPr>
      </p:sp>
      <p:sp>
        <p:nvSpPr>
          <p:cNvPr id="166" name="Google Shape;166;p5"/>
          <p:cNvSpPr/>
          <p:nvPr/>
        </p:nvSpPr>
        <p:spPr>
          <a:xfrm>
            <a:off x="1082519" y="966781"/>
            <a:ext cx="3313530" cy="1198895"/>
          </a:xfrm>
          <a:custGeom>
            <a:rect b="b" l="l" r="r" t="t"/>
            <a:pathLst>
              <a:path extrusionOk="0" h="1198895" w="3313530">
                <a:moveTo>
                  <a:pt x="0" y="0"/>
                </a:moveTo>
                <a:lnTo>
                  <a:pt x="3313530" y="0"/>
                </a:lnTo>
                <a:lnTo>
                  <a:pt x="3313530" y="1198896"/>
                </a:lnTo>
                <a:lnTo>
                  <a:pt x="0" y="1198896"/>
                </a:lnTo>
                <a:lnTo>
                  <a:pt x="0" y="0"/>
                </a:lnTo>
                <a:close/>
              </a:path>
            </a:pathLst>
          </a:custGeom>
          <a:blipFill rotWithShape="1">
            <a:blip r:embed="rId7">
              <a:alphaModFix/>
            </a:blip>
            <a:stretch>
              <a:fillRect b="0" l="0" r="0" t="0"/>
            </a:stretch>
          </a:blipFill>
          <a:ln>
            <a:noFill/>
          </a:ln>
        </p:spPr>
      </p:sp>
      <p:sp>
        <p:nvSpPr>
          <p:cNvPr id="167" name="Google Shape;167;p5"/>
          <p:cNvSpPr/>
          <p:nvPr/>
        </p:nvSpPr>
        <p:spPr>
          <a:xfrm>
            <a:off x="10437623" y="1645948"/>
            <a:ext cx="3543225" cy="3292247"/>
          </a:xfrm>
          <a:custGeom>
            <a:rect b="b" l="l" r="r" t="t"/>
            <a:pathLst>
              <a:path extrusionOk="0" h="3292247" w="3543225">
                <a:moveTo>
                  <a:pt x="0" y="0"/>
                </a:moveTo>
                <a:lnTo>
                  <a:pt x="3543225" y="0"/>
                </a:lnTo>
                <a:lnTo>
                  <a:pt x="3543225" y="3292246"/>
                </a:lnTo>
                <a:lnTo>
                  <a:pt x="0" y="3292246"/>
                </a:lnTo>
                <a:lnTo>
                  <a:pt x="0" y="0"/>
                </a:lnTo>
                <a:close/>
              </a:path>
            </a:pathLst>
          </a:custGeom>
          <a:blipFill rotWithShape="1">
            <a:blip r:embed="rId8">
              <a:alphaModFix/>
            </a:blip>
            <a:stretch>
              <a:fillRect b="0" l="0" r="0" t="0"/>
            </a:stretch>
          </a:blipFill>
          <a:ln>
            <a:noFill/>
          </a:ln>
        </p:spPr>
      </p:sp>
      <p:sp>
        <p:nvSpPr>
          <p:cNvPr id="168" name="Google Shape;168;p5"/>
          <p:cNvSpPr/>
          <p:nvPr/>
        </p:nvSpPr>
        <p:spPr>
          <a:xfrm>
            <a:off x="940934" y="6560797"/>
            <a:ext cx="3596700" cy="3528191"/>
          </a:xfrm>
          <a:custGeom>
            <a:rect b="b" l="l" r="r" t="t"/>
            <a:pathLst>
              <a:path extrusionOk="0" h="3528191" w="3596700">
                <a:moveTo>
                  <a:pt x="0" y="0"/>
                </a:moveTo>
                <a:lnTo>
                  <a:pt x="3596700" y="0"/>
                </a:lnTo>
                <a:lnTo>
                  <a:pt x="3596700" y="3528192"/>
                </a:lnTo>
                <a:lnTo>
                  <a:pt x="0" y="3528192"/>
                </a:lnTo>
                <a:lnTo>
                  <a:pt x="0" y="0"/>
                </a:lnTo>
                <a:close/>
              </a:path>
            </a:pathLst>
          </a:custGeom>
          <a:blipFill rotWithShape="1">
            <a:blip r:embed="rId9">
              <a:alphaModFix/>
            </a:blip>
            <a:stretch>
              <a:fillRect b="0" l="0" r="0" t="0"/>
            </a:stretch>
          </a:blipFill>
          <a:ln>
            <a:noFill/>
          </a:ln>
        </p:spPr>
      </p:sp>
      <p:sp>
        <p:nvSpPr>
          <p:cNvPr id="169" name="Google Shape;169;p5"/>
          <p:cNvSpPr/>
          <p:nvPr/>
        </p:nvSpPr>
        <p:spPr>
          <a:xfrm>
            <a:off x="7455584" y="6492316"/>
            <a:ext cx="10614526" cy="3290503"/>
          </a:xfrm>
          <a:custGeom>
            <a:rect b="b" l="l" r="r" t="t"/>
            <a:pathLst>
              <a:path extrusionOk="0" h="3290503" w="10614526">
                <a:moveTo>
                  <a:pt x="0" y="0"/>
                </a:moveTo>
                <a:lnTo>
                  <a:pt x="10614525" y="0"/>
                </a:lnTo>
                <a:lnTo>
                  <a:pt x="10614525" y="3290503"/>
                </a:lnTo>
                <a:lnTo>
                  <a:pt x="0" y="3290503"/>
                </a:lnTo>
                <a:lnTo>
                  <a:pt x="0" y="0"/>
                </a:lnTo>
                <a:close/>
              </a:path>
            </a:pathLst>
          </a:custGeom>
          <a:blipFill rotWithShape="1">
            <a:blip r:embed="rId10">
              <a:alphaModFix/>
            </a:blip>
            <a:stretch>
              <a:fillRect b="0" l="0" r="0" t="0"/>
            </a:stretch>
          </a:blipFill>
          <a:ln>
            <a:noFill/>
          </a:ln>
        </p:spPr>
      </p:sp>
      <p:sp>
        <p:nvSpPr>
          <p:cNvPr id="170" name="Google Shape;170;p5"/>
          <p:cNvSpPr txBox="1"/>
          <p:nvPr/>
        </p:nvSpPr>
        <p:spPr>
          <a:xfrm>
            <a:off x="7550340" y="497341"/>
            <a:ext cx="2772175" cy="372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2199" u="none" cap="none" strike="noStrike">
                <a:solidFill>
                  <a:srgbClr val="000000"/>
                </a:solidFill>
                <a:latin typeface="Montserrat"/>
                <a:ea typeface="Montserrat"/>
                <a:cs typeface="Montserrat"/>
                <a:sym typeface="Montserrat"/>
              </a:rPr>
              <a:t>Ejemplo 1.</a:t>
            </a:r>
            <a:endParaRPr/>
          </a:p>
        </p:txBody>
      </p:sp>
      <p:sp>
        <p:nvSpPr>
          <p:cNvPr id="171" name="Google Shape;171;p5"/>
          <p:cNvSpPr txBox="1"/>
          <p:nvPr/>
        </p:nvSpPr>
        <p:spPr>
          <a:xfrm>
            <a:off x="7550340" y="1087727"/>
            <a:ext cx="9708960"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Encontrar la función que representa el mapa de Karnaugh.</a:t>
            </a:r>
            <a:endParaRPr/>
          </a:p>
        </p:txBody>
      </p:sp>
      <p:sp>
        <p:nvSpPr>
          <p:cNvPr id="172" name="Google Shape;172;p5"/>
          <p:cNvSpPr txBox="1"/>
          <p:nvPr/>
        </p:nvSpPr>
        <p:spPr>
          <a:xfrm>
            <a:off x="185393" y="4043022"/>
            <a:ext cx="2772300" cy="3384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2199" u="none" cap="none" strike="noStrike">
                <a:solidFill>
                  <a:srgbClr val="000000"/>
                </a:solidFill>
                <a:latin typeface="Montserrat"/>
                <a:ea typeface="Montserrat"/>
                <a:cs typeface="Montserrat"/>
                <a:sym typeface="Montserrat"/>
              </a:rPr>
              <a:t>Solución.</a:t>
            </a:r>
            <a:endParaRPr/>
          </a:p>
        </p:txBody>
      </p:sp>
      <p:sp>
        <p:nvSpPr>
          <p:cNvPr id="173" name="Google Shape;173;p5"/>
          <p:cNvSpPr txBox="1"/>
          <p:nvPr/>
        </p:nvSpPr>
        <p:spPr>
          <a:xfrm>
            <a:off x="185393" y="4781530"/>
            <a:ext cx="6522900" cy="1923000"/>
          </a:xfrm>
          <a:prstGeom prst="rect">
            <a:avLst/>
          </a:prstGeom>
          <a:noFill/>
          <a:ln>
            <a:noFill/>
          </a:ln>
        </p:spPr>
        <p:txBody>
          <a:bodyPr anchorCtr="0" anchor="t" bIns="0" lIns="0" spcFirstLastPara="1" rIns="0" wrap="square" tIns="0">
            <a:spAutoFit/>
          </a:bodyPr>
          <a:lstStyle/>
          <a:p>
            <a:pPr indent="0" lvl="0" marL="0" marR="0" rtl="0" algn="just">
              <a:lnSpc>
                <a:spcPct val="139988"/>
              </a:lnSpc>
              <a:spcBef>
                <a:spcPts val="0"/>
              </a:spcBef>
              <a:spcAft>
                <a:spcPts val="0"/>
              </a:spcAft>
              <a:buNone/>
            </a:pPr>
            <a:r>
              <a:rPr b="0" i="0" lang="en-US" sz="1893" u="none" cap="none" strike="noStrike">
                <a:solidFill>
                  <a:srgbClr val="000000"/>
                </a:solidFill>
                <a:latin typeface="Arial"/>
                <a:ea typeface="Arial"/>
                <a:cs typeface="Arial"/>
                <a:sym typeface="Arial"/>
              </a:rPr>
              <a:t>La particularidad de este ejemplo es que con él se puede mostrar la unión de las celdas de las esquinas. En este caso, es posible realizar un solo grupo, un grupo en el que se junten las 4 esquinas, tal como lo podemos observar en la figura </a:t>
            </a:r>
            <a:endParaRPr sz="1600"/>
          </a:p>
        </p:txBody>
      </p:sp>
      <p:sp>
        <p:nvSpPr>
          <p:cNvPr id="174" name="Google Shape;174;p5"/>
          <p:cNvSpPr txBox="1"/>
          <p:nvPr/>
        </p:nvSpPr>
        <p:spPr>
          <a:xfrm>
            <a:off x="4731606" y="8080418"/>
            <a:ext cx="1580986"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S = B’D’</a:t>
            </a:r>
            <a:endParaRPr/>
          </a:p>
        </p:txBody>
      </p:sp>
      <p:sp>
        <p:nvSpPr>
          <p:cNvPr id="175" name="Google Shape;175;p5"/>
          <p:cNvSpPr txBox="1"/>
          <p:nvPr/>
        </p:nvSpPr>
        <p:spPr>
          <a:xfrm>
            <a:off x="8261300" y="5957785"/>
            <a:ext cx="8998000" cy="32321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0" i="0" lang="en-US" sz="1899" u="none" cap="none" strike="noStrike">
                <a:solidFill>
                  <a:srgbClr val="000000"/>
                </a:solidFill>
                <a:latin typeface="Arial"/>
                <a:ea typeface="Arial"/>
                <a:cs typeface="Arial"/>
                <a:sym typeface="Arial"/>
              </a:rPr>
              <a:t> Comparación de las combinaciones de variables que forman el grupo S = B’D’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181" name="Google Shape;181;p6"/>
          <p:cNvSpPr/>
          <p:nvPr/>
        </p:nvSpPr>
        <p:spPr>
          <a:xfrm>
            <a:off x="12434221" y="-446483"/>
            <a:ext cx="9993248" cy="8531735"/>
          </a:xfrm>
          <a:custGeom>
            <a:rect b="b" l="l" r="r" t="t"/>
            <a:pathLst>
              <a:path extrusionOk="0" h="8531735" w="9993248">
                <a:moveTo>
                  <a:pt x="0" y="0"/>
                </a:moveTo>
                <a:lnTo>
                  <a:pt x="9993248" y="0"/>
                </a:lnTo>
                <a:lnTo>
                  <a:pt x="9993248" y="8531735"/>
                </a:lnTo>
                <a:lnTo>
                  <a:pt x="0" y="8531735"/>
                </a:lnTo>
                <a:lnTo>
                  <a:pt x="0" y="0"/>
                </a:lnTo>
                <a:close/>
              </a:path>
            </a:pathLst>
          </a:custGeom>
          <a:blipFill rotWithShape="1">
            <a:blip r:embed="rId4">
              <a:alphaModFix amt="46000"/>
            </a:blip>
            <a:stretch>
              <a:fillRect b="0" l="0" r="0" t="0"/>
            </a:stretch>
          </a:blipFill>
          <a:ln>
            <a:noFill/>
          </a:ln>
        </p:spPr>
      </p:sp>
      <p:sp>
        <p:nvSpPr>
          <p:cNvPr id="182" name="Google Shape;182;p6"/>
          <p:cNvSpPr/>
          <p:nvPr/>
        </p:nvSpPr>
        <p:spPr>
          <a:xfrm>
            <a:off x="394819" y="150017"/>
            <a:ext cx="4688930" cy="4031318"/>
          </a:xfrm>
          <a:custGeom>
            <a:rect b="b" l="l" r="r" t="t"/>
            <a:pathLst>
              <a:path extrusionOk="0" h="4031318" w="4688930">
                <a:moveTo>
                  <a:pt x="0" y="0"/>
                </a:moveTo>
                <a:lnTo>
                  <a:pt x="4688930" y="0"/>
                </a:lnTo>
                <a:lnTo>
                  <a:pt x="4688930" y="4031319"/>
                </a:lnTo>
                <a:lnTo>
                  <a:pt x="0" y="4031319"/>
                </a:lnTo>
                <a:lnTo>
                  <a:pt x="0" y="0"/>
                </a:lnTo>
                <a:close/>
              </a:path>
            </a:pathLst>
          </a:custGeom>
          <a:blipFill rotWithShape="1">
            <a:blip r:embed="rId5">
              <a:alphaModFix/>
            </a:blip>
            <a:stretch>
              <a:fillRect b="0" l="-3818" r="-3818" t="0"/>
            </a:stretch>
          </a:blipFill>
          <a:ln>
            <a:noFill/>
          </a:ln>
        </p:spPr>
      </p:sp>
      <p:sp>
        <p:nvSpPr>
          <p:cNvPr id="183" name="Google Shape;183;p6"/>
          <p:cNvSpPr/>
          <p:nvPr/>
        </p:nvSpPr>
        <p:spPr>
          <a:xfrm>
            <a:off x="6708384" y="416728"/>
            <a:ext cx="503422" cy="572070"/>
          </a:xfrm>
          <a:custGeom>
            <a:rect b="b" l="l" r="r" t="t"/>
            <a:pathLst>
              <a:path extrusionOk="0" h="572070" w="503422">
                <a:moveTo>
                  <a:pt x="0" y="0"/>
                </a:moveTo>
                <a:lnTo>
                  <a:pt x="503422" y="0"/>
                </a:lnTo>
                <a:lnTo>
                  <a:pt x="503422" y="572071"/>
                </a:lnTo>
                <a:lnTo>
                  <a:pt x="0" y="572071"/>
                </a:lnTo>
                <a:lnTo>
                  <a:pt x="0" y="0"/>
                </a:lnTo>
                <a:close/>
              </a:path>
            </a:pathLst>
          </a:custGeom>
          <a:blipFill rotWithShape="1">
            <a:blip r:embed="rId6">
              <a:alphaModFix/>
            </a:blip>
            <a:stretch>
              <a:fillRect b="0" l="0" r="0" t="0"/>
            </a:stretch>
          </a:blipFill>
          <a:ln>
            <a:noFill/>
          </a:ln>
        </p:spPr>
      </p:sp>
      <p:sp>
        <p:nvSpPr>
          <p:cNvPr id="184" name="Google Shape;184;p6"/>
          <p:cNvSpPr/>
          <p:nvPr/>
        </p:nvSpPr>
        <p:spPr>
          <a:xfrm>
            <a:off x="1082519" y="966781"/>
            <a:ext cx="3313530" cy="1198895"/>
          </a:xfrm>
          <a:custGeom>
            <a:rect b="b" l="l" r="r" t="t"/>
            <a:pathLst>
              <a:path extrusionOk="0" h="1198895" w="3313530">
                <a:moveTo>
                  <a:pt x="0" y="0"/>
                </a:moveTo>
                <a:lnTo>
                  <a:pt x="3313530" y="0"/>
                </a:lnTo>
                <a:lnTo>
                  <a:pt x="3313530" y="1198896"/>
                </a:lnTo>
                <a:lnTo>
                  <a:pt x="0" y="1198896"/>
                </a:lnTo>
                <a:lnTo>
                  <a:pt x="0" y="0"/>
                </a:lnTo>
                <a:close/>
              </a:path>
            </a:pathLst>
          </a:custGeom>
          <a:blipFill rotWithShape="1">
            <a:blip r:embed="rId7">
              <a:alphaModFix/>
            </a:blip>
            <a:stretch>
              <a:fillRect b="0" l="0" r="0" t="0"/>
            </a:stretch>
          </a:blipFill>
          <a:ln>
            <a:noFill/>
          </a:ln>
        </p:spPr>
      </p:sp>
      <p:sp>
        <p:nvSpPr>
          <p:cNvPr id="185" name="Google Shape;185;p6"/>
          <p:cNvSpPr/>
          <p:nvPr/>
        </p:nvSpPr>
        <p:spPr>
          <a:xfrm>
            <a:off x="7550340" y="1795752"/>
            <a:ext cx="7457207" cy="7660322"/>
          </a:xfrm>
          <a:custGeom>
            <a:rect b="b" l="l" r="r" t="t"/>
            <a:pathLst>
              <a:path extrusionOk="0" h="7660322" w="7457207">
                <a:moveTo>
                  <a:pt x="0" y="0"/>
                </a:moveTo>
                <a:lnTo>
                  <a:pt x="7457207" y="0"/>
                </a:lnTo>
                <a:lnTo>
                  <a:pt x="7457207" y="7660322"/>
                </a:lnTo>
                <a:lnTo>
                  <a:pt x="0" y="7660322"/>
                </a:lnTo>
                <a:lnTo>
                  <a:pt x="0" y="0"/>
                </a:lnTo>
                <a:close/>
              </a:path>
            </a:pathLst>
          </a:custGeom>
          <a:blipFill rotWithShape="1">
            <a:blip r:embed="rId8">
              <a:alphaModFix/>
            </a:blip>
            <a:stretch>
              <a:fillRect b="0" l="0" r="0" t="0"/>
            </a:stretch>
          </a:blipFill>
          <a:ln>
            <a:noFill/>
          </a:ln>
        </p:spPr>
      </p:sp>
      <p:sp>
        <p:nvSpPr>
          <p:cNvPr id="186" name="Google Shape;186;p6"/>
          <p:cNvSpPr txBox="1"/>
          <p:nvPr/>
        </p:nvSpPr>
        <p:spPr>
          <a:xfrm>
            <a:off x="7550340" y="497341"/>
            <a:ext cx="2772175" cy="372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2199" u="none" cap="none" strike="noStrike">
                <a:solidFill>
                  <a:srgbClr val="000000"/>
                </a:solidFill>
                <a:latin typeface="Montserrat"/>
                <a:ea typeface="Montserrat"/>
                <a:cs typeface="Montserrat"/>
                <a:sym typeface="Montserrat"/>
              </a:rPr>
              <a:t>Ejemplo 2.</a:t>
            </a:r>
            <a:endParaRPr/>
          </a:p>
        </p:txBody>
      </p:sp>
      <p:sp>
        <p:nvSpPr>
          <p:cNvPr id="187" name="Google Shape;187;p6"/>
          <p:cNvSpPr txBox="1"/>
          <p:nvPr/>
        </p:nvSpPr>
        <p:spPr>
          <a:xfrm>
            <a:off x="7550340" y="1087727"/>
            <a:ext cx="9708960" cy="4318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Encontrar la función que representa el mapa de Karnaugh.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193" name="Google Shape;193;p7"/>
          <p:cNvSpPr/>
          <p:nvPr/>
        </p:nvSpPr>
        <p:spPr>
          <a:xfrm>
            <a:off x="-3790978" y="-4114800"/>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4">
              <a:alphaModFix amt="46000"/>
            </a:blip>
            <a:stretch>
              <a:fillRect b="0" l="0" r="0" t="0"/>
            </a:stretch>
          </a:blipFill>
          <a:ln>
            <a:noFill/>
          </a:ln>
        </p:spPr>
      </p:sp>
      <p:sp>
        <p:nvSpPr>
          <p:cNvPr id="194" name="Google Shape;194;p7"/>
          <p:cNvSpPr/>
          <p:nvPr/>
        </p:nvSpPr>
        <p:spPr>
          <a:xfrm>
            <a:off x="449772" y="204575"/>
            <a:ext cx="503422" cy="572070"/>
          </a:xfrm>
          <a:custGeom>
            <a:rect b="b" l="l" r="r" t="t"/>
            <a:pathLst>
              <a:path extrusionOk="0" h="572070" w="503422">
                <a:moveTo>
                  <a:pt x="0" y="0"/>
                </a:moveTo>
                <a:lnTo>
                  <a:pt x="503422" y="0"/>
                </a:lnTo>
                <a:lnTo>
                  <a:pt x="503422" y="572071"/>
                </a:lnTo>
                <a:lnTo>
                  <a:pt x="0" y="572071"/>
                </a:lnTo>
                <a:lnTo>
                  <a:pt x="0" y="0"/>
                </a:lnTo>
                <a:close/>
              </a:path>
            </a:pathLst>
          </a:custGeom>
          <a:blipFill rotWithShape="1">
            <a:blip r:embed="rId5">
              <a:alphaModFix/>
            </a:blip>
            <a:stretch>
              <a:fillRect b="0" l="0" r="0" t="0"/>
            </a:stretch>
          </a:blipFill>
          <a:ln>
            <a:noFill/>
          </a:ln>
        </p:spPr>
      </p:sp>
      <p:sp>
        <p:nvSpPr>
          <p:cNvPr id="195" name="Google Shape;195;p7"/>
          <p:cNvSpPr/>
          <p:nvPr/>
        </p:nvSpPr>
        <p:spPr>
          <a:xfrm>
            <a:off x="12185167" y="0"/>
            <a:ext cx="6102833" cy="10287000"/>
          </a:xfrm>
          <a:custGeom>
            <a:rect b="b" l="l" r="r" t="t"/>
            <a:pathLst>
              <a:path extrusionOk="0" h="1593725" w="945489">
                <a:moveTo>
                  <a:pt x="0" y="0"/>
                </a:moveTo>
                <a:lnTo>
                  <a:pt x="945489" y="0"/>
                </a:lnTo>
                <a:lnTo>
                  <a:pt x="945489" y="1593725"/>
                </a:lnTo>
                <a:lnTo>
                  <a:pt x="0" y="1593725"/>
                </a:lnTo>
                <a:close/>
              </a:path>
            </a:pathLst>
          </a:custGeom>
          <a:blipFill rotWithShape="1">
            <a:blip r:embed="rId6">
              <a:alphaModFix/>
            </a:blip>
            <a:stretch>
              <a:fillRect b="0" l="-6151" r="-6151" t="0"/>
            </a:stretch>
          </a:blipFill>
          <a:ln>
            <a:noFill/>
          </a:ln>
        </p:spPr>
      </p:sp>
      <p:sp>
        <p:nvSpPr>
          <p:cNvPr id="196" name="Google Shape;196;p7"/>
          <p:cNvSpPr/>
          <p:nvPr/>
        </p:nvSpPr>
        <p:spPr>
          <a:xfrm>
            <a:off x="583233" y="3589773"/>
            <a:ext cx="5155173" cy="5155173"/>
          </a:xfrm>
          <a:custGeom>
            <a:rect b="b" l="l" r="r" t="t"/>
            <a:pathLst>
              <a:path extrusionOk="0" h="5155173" w="5155173">
                <a:moveTo>
                  <a:pt x="0" y="0"/>
                </a:moveTo>
                <a:lnTo>
                  <a:pt x="5155173" y="0"/>
                </a:lnTo>
                <a:lnTo>
                  <a:pt x="5155173" y="5155173"/>
                </a:lnTo>
                <a:lnTo>
                  <a:pt x="0" y="5155173"/>
                </a:lnTo>
                <a:lnTo>
                  <a:pt x="0" y="0"/>
                </a:lnTo>
                <a:close/>
              </a:path>
            </a:pathLst>
          </a:custGeom>
          <a:blipFill rotWithShape="1">
            <a:blip r:embed="rId7">
              <a:alphaModFix/>
            </a:blip>
            <a:stretch>
              <a:fillRect b="0" l="0" r="0" t="0"/>
            </a:stretch>
          </a:blipFill>
          <a:ln>
            <a:noFill/>
          </a:ln>
        </p:spPr>
      </p:sp>
      <p:sp>
        <p:nvSpPr>
          <p:cNvPr id="197" name="Google Shape;197;p7"/>
          <p:cNvSpPr/>
          <p:nvPr/>
        </p:nvSpPr>
        <p:spPr>
          <a:xfrm>
            <a:off x="7548396" y="5441611"/>
            <a:ext cx="2945031" cy="1451480"/>
          </a:xfrm>
          <a:custGeom>
            <a:rect b="b" l="l" r="r" t="t"/>
            <a:pathLst>
              <a:path extrusionOk="0" h="1451480" w="2945031">
                <a:moveTo>
                  <a:pt x="0" y="0"/>
                </a:moveTo>
                <a:lnTo>
                  <a:pt x="2945031" y="0"/>
                </a:lnTo>
                <a:lnTo>
                  <a:pt x="2945031" y="1451480"/>
                </a:lnTo>
                <a:lnTo>
                  <a:pt x="0" y="1451480"/>
                </a:lnTo>
                <a:lnTo>
                  <a:pt x="0" y="0"/>
                </a:lnTo>
                <a:close/>
              </a:path>
            </a:pathLst>
          </a:custGeom>
          <a:blipFill rotWithShape="1">
            <a:blip r:embed="rId8">
              <a:alphaModFix/>
            </a:blip>
            <a:stretch>
              <a:fillRect b="0" l="0" r="0" t="0"/>
            </a:stretch>
          </a:blipFill>
          <a:ln>
            <a:noFill/>
          </a:ln>
        </p:spPr>
      </p:sp>
      <p:sp>
        <p:nvSpPr>
          <p:cNvPr id="198" name="Google Shape;198;p7"/>
          <p:cNvSpPr txBox="1"/>
          <p:nvPr/>
        </p:nvSpPr>
        <p:spPr>
          <a:xfrm>
            <a:off x="1028700" y="285188"/>
            <a:ext cx="2772175" cy="372745"/>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2199" u="none" cap="none" strike="noStrike">
                <a:solidFill>
                  <a:srgbClr val="000000"/>
                </a:solidFill>
                <a:latin typeface="Montserrat"/>
                <a:ea typeface="Montserrat"/>
                <a:cs typeface="Montserrat"/>
                <a:sym typeface="Montserrat"/>
              </a:rPr>
              <a:t>Solución</a:t>
            </a:r>
            <a:endParaRPr/>
          </a:p>
        </p:txBody>
      </p:sp>
      <p:sp>
        <p:nvSpPr>
          <p:cNvPr id="199" name="Google Shape;199;p7"/>
          <p:cNvSpPr txBox="1"/>
          <p:nvPr/>
        </p:nvSpPr>
        <p:spPr>
          <a:xfrm>
            <a:off x="701483" y="971550"/>
            <a:ext cx="8714041" cy="21844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Para resolver este ejemplo es indispensable recordar dos de la reglas anteriores:</a:t>
            </a:r>
            <a:endParaRPr/>
          </a:p>
          <a:p>
            <a:pPr indent="0" lvl="0" marL="0" marR="0" rtl="0" algn="just">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1.- Los grupos deben ser lo más grandes posibles.</a:t>
            </a:r>
            <a:endParaRPr/>
          </a:p>
          <a:p>
            <a:pPr indent="0" lvl="0" marL="0" marR="0" rtl="0" algn="just">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2.- Los grupos deben ser formados por una cantidad de 1's que representen un conjunto de 2^n.</a:t>
            </a:r>
            <a:endParaRPr/>
          </a:p>
        </p:txBody>
      </p:sp>
      <p:sp>
        <p:nvSpPr>
          <p:cNvPr id="200" name="Google Shape;200;p7"/>
          <p:cNvSpPr txBox="1"/>
          <p:nvPr/>
        </p:nvSpPr>
        <p:spPr>
          <a:xfrm>
            <a:off x="6787144" y="3607429"/>
            <a:ext cx="4467534" cy="1553562"/>
          </a:xfrm>
          <a:prstGeom prst="rect">
            <a:avLst/>
          </a:prstGeom>
          <a:noFill/>
          <a:ln>
            <a:noFill/>
          </a:ln>
        </p:spPr>
        <p:txBody>
          <a:bodyPr anchorCtr="0" anchor="t" bIns="0" lIns="0" spcFirstLastPara="1" rIns="0" wrap="square" tIns="0">
            <a:spAutoFit/>
          </a:bodyPr>
          <a:lstStyle/>
          <a:p>
            <a:pPr indent="0" lvl="0" marL="0" marR="0" rtl="0" algn="just">
              <a:lnSpc>
                <a:spcPct val="139981"/>
              </a:lnSpc>
              <a:spcBef>
                <a:spcPts val="0"/>
              </a:spcBef>
              <a:spcAft>
                <a:spcPts val="0"/>
              </a:spcAft>
              <a:buNone/>
            </a:pPr>
            <a:r>
              <a:rPr b="1" i="0" lang="en-US" sz="2211" u="none" cap="none" strike="noStrike">
                <a:solidFill>
                  <a:srgbClr val="000000"/>
                </a:solidFill>
                <a:latin typeface="Raleway Medium"/>
                <a:ea typeface="Raleway Medium"/>
                <a:cs typeface="Raleway Medium"/>
                <a:sym typeface="Raleway Medium"/>
              </a:rPr>
              <a:t>Esto da como resultado la siguiente función, indicando en cada elemento de la función el color del grupo al que pertenece.</a:t>
            </a:r>
            <a:endParaRPr/>
          </a:p>
        </p:txBody>
      </p:sp>
      <p:sp>
        <p:nvSpPr>
          <p:cNvPr id="201" name="Google Shape;201;p7"/>
          <p:cNvSpPr txBox="1"/>
          <p:nvPr/>
        </p:nvSpPr>
        <p:spPr>
          <a:xfrm>
            <a:off x="701483" y="8973263"/>
            <a:ext cx="8616022" cy="50339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899" u="sng" cap="none" strike="noStrike">
                <a:solidFill>
                  <a:srgbClr val="000000"/>
                </a:solidFill>
                <a:latin typeface="Arimo"/>
                <a:ea typeface="Arimo"/>
                <a:cs typeface="Arimo"/>
                <a:sym typeface="Arimo"/>
                <a:hlinkClick r:id="rId9">
                  <a:extLst>
                    <a:ext uri="{A12FA001-AC4F-418D-AE19-62706E023703}">
                      <ahyp:hlinkClr val="tx"/>
                    </a:ext>
                  </a:extLst>
                </a:hlinkClick>
              </a:rPr>
              <a:t>https://www.charlie-coleman.com/experiments/kmap/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07" name="Google Shape;207;p8"/>
          <p:cNvSpPr/>
          <p:nvPr/>
        </p:nvSpPr>
        <p:spPr>
          <a:xfrm>
            <a:off x="-2590013" y="-3909494"/>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4">
              <a:alphaModFix amt="46000"/>
            </a:blip>
            <a:stretch>
              <a:fillRect b="0" l="0" r="0" t="0"/>
            </a:stretch>
          </a:blipFill>
          <a:ln>
            <a:noFill/>
          </a:ln>
        </p:spPr>
      </p:sp>
      <p:sp>
        <p:nvSpPr>
          <p:cNvPr id="208" name="Google Shape;208;p8"/>
          <p:cNvSpPr/>
          <p:nvPr/>
        </p:nvSpPr>
        <p:spPr>
          <a:xfrm>
            <a:off x="13166116" y="0"/>
            <a:ext cx="7315200" cy="2646772"/>
          </a:xfrm>
          <a:custGeom>
            <a:rect b="b" l="l" r="r" t="t"/>
            <a:pathLst>
              <a:path extrusionOk="0" h="2646772" w="7315200">
                <a:moveTo>
                  <a:pt x="0" y="0"/>
                </a:moveTo>
                <a:lnTo>
                  <a:pt x="7315200" y="0"/>
                </a:lnTo>
                <a:lnTo>
                  <a:pt x="7315200" y="2646772"/>
                </a:lnTo>
                <a:lnTo>
                  <a:pt x="0" y="2646772"/>
                </a:lnTo>
                <a:lnTo>
                  <a:pt x="0" y="0"/>
                </a:lnTo>
                <a:close/>
              </a:path>
            </a:pathLst>
          </a:custGeom>
          <a:blipFill rotWithShape="1">
            <a:blip r:embed="rId5">
              <a:alphaModFix/>
            </a:blip>
            <a:stretch>
              <a:fillRect b="0" l="0" r="0" t="0"/>
            </a:stretch>
          </a:blipFill>
          <a:ln>
            <a:noFill/>
          </a:ln>
        </p:spPr>
      </p:sp>
      <p:sp>
        <p:nvSpPr>
          <p:cNvPr id="209" name="Google Shape;209;p8"/>
          <p:cNvSpPr/>
          <p:nvPr/>
        </p:nvSpPr>
        <p:spPr>
          <a:xfrm>
            <a:off x="3393723" y="3236385"/>
            <a:ext cx="6526232" cy="4310984"/>
          </a:xfrm>
          <a:custGeom>
            <a:rect b="b" l="l" r="r" t="t"/>
            <a:pathLst>
              <a:path extrusionOk="0" h="4310984" w="6526232">
                <a:moveTo>
                  <a:pt x="0" y="0"/>
                </a:moveTo>
                <a:lnTo>
                  <a:pt x="6526233" y="0"/>
                </a:lnTo>
                <a:lnTo>
                  <a:pt x="6526233" y="4310983"/>
                </a:lnTo>
                <a:lnTo>
                  <a:pt x="0" y="4310983"/>
                </a:lnTo>
                <a:lnTo>
                  <a:pt x="0" y="0"/>
                </a:lnTo>
                <a:close/>
              </a:path>
            </a:pathLst>
          </a:custGeom>
          <a:blipFill rotWithShape="1">
            <a:blip r:embed="rId6">
              <a:alphaModFix/>
            </a:blip>
            <a:stretch>
              <a:fillRect b="0" l="0" r="-7233" t="0"/>
            </a:stretch>
          </a:blipFill>
          <a:ln>
            <a:noFill/>
          </a:ln>
        </p:spPr>
      </p:sp>
      <p:sp>
        <p:nvSpPr>
          <p:cNvPr id="210" name="Google Shape;210;p8"/>
          <p:cNvSpPr txBox="1"/>
          <p:nvPr/>
        </p:nvSpPr>
        <p:spPr>
          <a:xfrm>
            <a:off x="1028700" y="467355"/>
            <a:ext cx="15046538" cy="1348722"/>
          </a:xfrm>
          <a:prstGeom prst="rect">
            <a:avLst/>
          </a:prstGeom>
          <a:noFill/>
          <a:ln>
            <a:noFill/>
          </a:ln>
        </p:spPr>
        <p:txBody>
          <a:bodyPr anchorCtr="0" anchor="t" bIns="0" lIns="0" spcFirstLastPara="1" rIns="0" wrap="square" tIns="0">
            <a:spAutoFit/>
          </a:bodyPr>
          <a:lstStyle/>
          <a:p>
            <a:pPr indent="0" lvl="0" marL="0" marR="0" rtl="0" algn="just">
              <a:lnSpc>
                <a:spcPct val="105000"/>
              </a:lnSpc>
              <a:spcBef>
                <a:spcPts val="0"/>
              </a:spcBef>
              <a:spcAft>
                <a:spcPts val="0"/>
              </a:spcAft>
              <a:buNone/>
            </a:pPr>
            <a:r>
              <a:rPr b="0" i="0" lang="en-US" sz="9799" u="none" cap="none" strike="noStrike">
                <a:solidFill>
                  <a:srgbClr val="1F2374"/>
                </a:solidFill>
                <a:latin typeface="Anton"/>
                <a:ea typeface="Anton"/>
                <a:cs typeface="Anton"/>
                <a:sym typeface="Anton"/>
              </a:rPr>
              <a:t>MINTERMINOS Y MAXTERMINOS</a:t>
            </a:r>
            <a:endParaRPr/>
          </a:p>
        </p:txBody>
      </p:sp>
      <p:sp>
        <p:nvSpPr>
          <p:cNvPr id="211" name="Google Shape;211;p8"/>
          <p:cNvSpPr txBox="1"/>
          <p:nvPr/>
        </p:nvSpPr>
        <p:spPr>
          <a:xfrm>
            <a:off x="2744236" y="1743711"/>
            <a:ext cx="12721378" cy="13081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Los minterminos y maxterminos sirven para representar funciones lógicas. Una función se puede representar como la suma de sus minterminos o como la multiplicación de sus maxterminos.</a:t>
            </a:r>
            <a:endParaRPr/>
          </a:p>
        </p:txBody>
      </p:sp>
      <p:sp>
        <p:nvSpPr>
          <p:cNvPr id="212" name="Google Shape;212;p8"/>
          <p:cNvSpPr txBox="1"/>
          <p:nvPr/>
        </p:nvSpPr>
        <p:spPr>
          <a:xfrm>
            <a:off x="2622898" y="7671193"/>
            <a:ext cx="12397531" cy="1310941"/>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0" i="0" lang="en-US" sz="2502" u="none" cap="none" strike="noStrike">
                <a:solidFill>
                  <a:srgbClr val="000000"/>
                </a:solidFill>
                <a:latin typeface="Arial"/>
                <a:ea typeface="Arial"/>
                <a:cs typeface="Arial"/>
                <a:sym typeface="Arial"/>
              </a:rPr>
              <a:t>Los minterminos de una función son todas las combinaciones para las que la función toma el valor de 1, los maxterminos de una función son todas las combinaciones para las que la función toma el valor de 0.</a:t>
            </a:r>
            <a:endParaRPr/>
          </a:p>
        </p:txBody>
      </p:sp>
      <p:sp>
        <p:nvSpPr>
          <p:cNvPr id="213" name="Google Shape;213;p8"/>
          <p:cNvSpPr txBox="1"/>
          <p:nvPr/>
        </p:nvSpPr>
        <p:spPr>
          <a:xfrm>
            <a:off x="10389146" y="3188760"/>
            <a:ext cx="6998358" cy="3674813"/>
          </a:xfrm>
          <a:prstGeom prst="rect">
            <a:avLst/>
          </a:prstGeom>
          <a:noFill/>
          <a:ln>
            <a:noFill/>
          </a:ln>
        </p:spPr>
        <p:txBody>
          <a:bodyPr anchorCtr="0" anchor="t" bIns="0" lIns="0" spcFirstLastPara="1" rIns="0" wrap="square" tIns="0">
            <a:spAutoFit/>
          </a:bodyPr>
          <a:lstStyle/>
          <a:p>
            <a:pPr indent="0" lvl="0" marL="0" marR="0" rtl="0" algn="just">
              <a:lnSpc>
                <a:spcPct val="180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lnSpc>
                <a:spcPct val="140008"/>
              </a:lnSpc>
              <a:spcBef>
                <a:spcPts val="0"/>
              </a:spcBef>
              <a:spcAft>
                <a:spcPts val="0"/>
              </a:spcAft>
              <a:buNone/>
            </a:pPr>
            <a:r>
              <a:rPr b="0" i="0" lang="en-US" sz="2322" u="none" cap="none" strike="noStrike">
                <a:solidFill>
                  <a:srgbClr val="000000"/>
                </a:solidFill>
                <a:latin typeface="NTR"/>
                <a:ea typeface="NTR"/>
                <a:cs typeface="NTR"/>
                <a:sym typeface="NTR"/>
              </a:rPr>
              <a:t>Minterminos: Suma de multiplicaciones (SOP - Sum of Products) se hacen en los conjuntos de 1's.</a:t>
            </a:r>
            <a:endParaRPr/>
          </a:p>
          <a:p>
            <a:pPr indent="0" lvl="0" marL="0" marR="0" rtl="0" algn="just">
              <a:lnSpc>
                <a:spcPct val="140008"/>
              </a:lnSpc>
              <a:spcBef>
                <a:spcPts val="0"/>
              </a:spcBef>
              <a:spcAft>
                <a:spcPts val="0"/>
              </a:spcAft>
              <a:buNone/>
            </a:pPr>
            <a:r>
              <a:t/>
            </a:r>
            <a:endParaRPr b="0" i="0" sz="2322" u="none" cap="none" strike="noStrike">
              <a:solidFill>
                <a:srgbClr val="000000"/>
              </a:solidFill>
              <a:latin typeface="NTR"/>
              <a:ea typeface="NTR"/>
              <a:cs typeface="NTR"/>
              <a:sym typeface="NTR"/>
            </a:endParaRPr>
          </a:p>
          <a:p>
            <a:pPr indent="0" lvl="0" marL="0" marR="0" rtl="0" algn="just">
              <a:lnSpc>
                <a:spcPct val="140008"/>
              </a:lnSpc>
              <a:spcBef>
                <a:spcPts val="0"/>
              </a:spcBef>
              <a:spcAft>
                <a:spcPts val="0"/>
              </a:spcAft>
              <a:buNone/>
            </a:pPr>
            <a:r>
              <a:rPr b="0" i="0" lang="en-US" sz="2322" u="none" cap="none" strike="noStrike">
                <a:solidFill>
                  <a:srgbClr val="000000"/>
                </a:solidFill>
                <a:latin typeface="NTR"/>
                <a:ea typeface="NTR"/>
                <a:cs typeface="NTR"/>
                <a:sym typeface="NTR"/>
              </a:rPr>
              <a:t>Maxterminos: Multiplicaciones de sumas (POS -Product of Sums) se hace para conjuntos de 0's.</a:t>
            </a:r>
            <a:endParaRPr/>
          </a:p>
          <a:p>
            <a:pPr indent="0" lvl="0" marL="0" marR="0" rtl="0" algn="just">
              <a:lnSpc>
                <a:spcPct val="140008"/>
              </a:lnSpc>
              <a:spcBef>
                <a:spcPts val="0"/>
              </a:spcBef>
              <a:spcAft>
                <a:spcPts val="0"/>
              </a:spcAft>
              <a:buNone/>
            </a:pPr>
            <a:r>
              <a:t/>
            </a:r>
            <a:endParaRPr b="0" i="0" sz="2322" u="none" cap="none" strike="noStrike">
              <a:solidFill>
                <a:srgbClr val="000000"/>
              </a:solidFill>
              <a:latin typeface="NTR"/>
              <a:ea typeface="NTR"/>
              <a:cs typeface="NTR"/>
              <a:sym typeface="NT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19" name="Google Shape;219;p9"/>
          <p:cNvSpPr/>
          <p:nvPr/>
        </p:nvSpPr>
        <p:spPr>
          <a:xfrm>
            <a:off x="1590229" y="102509"/>
            <a:ext cx="15360359" cy="10081981"/>
          </a:xfrm>
          <a:custGeom>
            <a:rect b="b" l="l" r="r" t="t"/>
            <a:pathLst>
              <a:path extrusionOk="0" h="10081981" w="15360359">
                <a:moveTo>
                  <a:pt x="0" y="0"/>
                </a:moveTo>
                <a:lnTo>
                  <a:pt x="15360359" y="0"/>
                </a:lnTo>
                <a:lnTo>
                  <a:pt x="15360359" y="10081982"/>
                </a:lnTo>
                <a:lnTo>
                  <a:pt x="0" y="10081982"/>
                </a:lnTo>
                <a:lnTo>
                  <a:pt x="0" y="0"/>
                </a:lnTo>
                <a:close/>
              </a:path>
            </a:pathLst>
          </a:custGeom>
          <a:blipFill rotWithShape="1">
            <a:blip r:embed="rId4">
              <a:alphaModFix/>
            </a:blip>
            <a:stretch>
              <a:fillRect b="0" l="0" r="0" t="0"/>
            </a:stretch>
          </a:blipFill>
          <a:ln>
            <a:noFill/>
          </a:ln>
        </p:spPr>
      </p:sp>
      <p:sp>
        <p:nvSpPr>
          <p:cNvPr id="220" name="Google Shape;220;p9"/>
          <p:cNvSpPr/>
          <p:nvPr/>
        </p:nvSpPr>
        <p:spPr>
          <a:xfrm>
            <a:off x="2047181" y="1673864"/>
            <a:ext cx="503422" cy="572070"/>
          </a:xfrm>
          <a:custGeom>
            <a:rect b="b" l="l" r="r" t="t"/>
            <a:pathLst>
              <a:path extrusionOk="0" h="572070" w="503422">
                <a:moveTo>
                  <a:pt x="0" y="0"/>
                </a:moveTo>
                <a:lnTo>
                  <a:pt x="503422" y="0"/>
                </a:lnTo>
                <a:lnTo>
                  <a:pt x="503422" y="572070"/>
                </a:lnTo>
                <a:lnTo>
                  <a:pt x="0" y="572070"/>
                </a:lnTo>
                <a:lnTo>
                  <a:pt x="0" y="0"/>
                </a:lnTo>
                <a:close/>
              </a:path>
            </a:pathLst>
          </a:custGeom>
          <a:blipFill rotWithShape="1">
            <a:blip r:embed="rId5">
              <a:alphaModFix/>
            </a:blip>
            <a:stretch>
              <a:fillRect b="0" l="0" r="0" t="0"/>
            </a:stretch>
          </a:blipFill>
          <a:ln>
            <a:noFill/>
          </a:ln>
        </p:spPr>
      </p:sp>
      <p:sp>
        <p:nvSpPr>
          <p:cNvPr id="221" name="Google Shape;221;p9"/>
          <p:cNvSpPr/>
          <p:nvPr/>
        </p:nvSpPr>
        <p:spPr>
          <a:xfrm>
            <a:off x="697163" y="5845315"/>
            <a:ext cx="663074" cy="379761"/>
          </a:xfrm>
          <a:custGeom>
            <a:rect b="b" l="l" r="r" t="t"/>
            <a:pathLst>
              <a:path extrusionOk="0" h="379761" w="663074">
                <a:moveTo>
                  <a:pt x="0" y="0"/>
                </a:moveTo>
                <a:lnTo>
                  <a:pt x="663074" y="0"/>
                </a:lnTo>
                <a:lnTo>
                  <a:pt x="663074" y="379761"/>
                </a:lnTo>
                <a:lnTo>
                  <a:pt x="0" y="379761"/>
                </a:lnTo>
                <a:lnTo>
                  <a:pt x="0" y="0"/>
                </a:lnTo>
                <a:close/>
              </a:path>
            </a:pathLst>
          </a:custGeom>
          <a:blipFill rotWithShape="1">
            <a:blip r:embed="rId6">
              <a:alphaModFix/>
            </a:blip>
            <a:stretch>
              <a:fillRect b="0" l="0" r="0" t="0"/>
            </a:stretch>
          </a:blipFill>
          <a:ln>
            <a:noFill/>
          </a:ln>
        </p:spPr>
      </p:sp>
      <p:sp>
        <p:nvSpPr>
          <p:cNvPr id="222" name="Google Shape;222;p9"/>
          <p:cNvSpPr/>
          <p:nvPr/>
        </p:nvSpPr>
        <p:spPr>
          <a:xfrm>
            <a:off x="2406948" y="3107983"/>
            <a:ext cx="6051513" cy="5050184"/>
          </a:xfrm>
          <a:custGeom>
            <a:rect b="b" l="l" r="r" t="t"/>
            <a:pathLst>
              <a:path extrusionOk="0" h="5050184" w="6051513">
                <a:moveTo>
                  <a:pt x="0" y="0"/>
                </a:moveTo>
                <a:lnTo>
                  <a:pt x="6051513" y="0"/>
                </a:lnTo>
                <a:lnTo>
                  <a:pt x="6051513" y="5050184"/>
                </a:lnTo>
                <a:lnTo>
                  <a:pt x="0" y="5050184"/>
                </a:lnTo>
                <a:lnTo>
                  <a:pt x="0" y="0"/>
                </a:lnTo>
                <a:close/>
              </a:path>
            </a:pathLst>
          </a:custGeom>
          <a:blipFill rotWithShape="1">
            <a:blip r:embed="rId7">
              <a:alphaModFix/>
            </a:blip>
            <a:stretch>
              <a:fillRect b="0" l="0" r="0" t="0"/>
            </a:stretch>
          </a:blipFill>
          <a:ln>
            <a:noFill/>
          </a:ln>
        </p:spPr>
      </p:sp>
      <p:sp>
        <p:nvSpPr>
          <p:cNvPr id="223" name="Google Shape;223;p9"/>
          <p:cNvSpPr/>
          <p:nvPr/>
        </p:nvSpPr>
        <p:spPr>
          <a:xfrm>
            <a:off x="9506211" y="4642975"/>
            <a:ext cx="6039970" cy="2210157"/>
          </a:xfrm>
          <a:custGeom>
            <a:rect b="b" l="l" r="r" t="t"/>
            <a:pathLst>
              <a:path extrusionOk="0" h="2210157" w="6039970">
                <a:moveTo>
                  <a:pt x="0" y="0"/>
                </a:moveTo>
                <a:lnTo>
                  <a:pt x="6039970" y="0"/>
                </a:lnTo>
                <a:lnTo>
                  <a:pt x="6039970" y="2210157"/>
                </a:lnTo>
                <a:lnTo>
                  <a:pt x="0" y="2210157"/>
                </a:lnTo>
                <a:lnTo>
                  <a:pt x="0" y="0"/>
                </a:lnTo>
                <a:close/>
              </a:path>
            </a:pathLst>
          </a:custGeom>
          <a:blipFill rotWithShape="1">
            <a:blip r:embed="rId8">
              <a:alphaModFix/>
            </a:blip>
            <a:stretch>
              <a:fillRect b="0" l="0" r="0" t="0"/>
            </a:stretch>
          </a:blipFill>
          <a:ln>
            <a:noFill/>
          </a:ln>
        </p:spPr>
      </p:sp>
      <p:sp>
        <p:nvSpPr>
          <p:cNvPr id="224" name="Google Shape;224;p9"/>
          <p:cNvSpPr txBox="1"/>
          <p:nvPr/>
        </p:nvSpPr>
        <p:spPr>
          <a:xfrm>
            <a:off x="2726270" y="1622096"/>
            <a:ext cx="7355471" cy="76389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5599" u="none" cap="none" strike="noStrike">
                <a:solidFill>
                  <a:srgbClr val="1F2374"/>
                </a:solidFill>
                <a:latin typeface="Anton"/>
                <a:ea typeface="Anton"/>
                <a:cs typeface="Anton"/>
                <a:sym typeface="Anton"/>
              </a:rPr>
              <a:t>EJEMPLO.</a:t>
            </a:r>
            <a:endParaRPr/>
          </a:p>
        </p:txBody>
      </p:sp>
      <p:sp>
        <p:nvSpPr>
          <p:cNvPr id="225" name="Google Shape;225;p9"/>
          <p:cNvSpPr txBox="1"/>
          <p:nvPr/>
        </p:nvSpPr>
        <p:spPr>
          <a:xfrm>
            <a:off x="2146601" y="2328844"/>
            <a:ext cx="12397531" cy="432702"/>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0" i="0" lang="en-US" sz="2502" u="none" cap="none" strike="noStrike">
                <a:solidFill>
                  <a:srgbClr val="000000"/>
                </a:solidFill>
                <a:latin typeface="Arial"/>
                <a:ea typeface="Arial"/>
                <a:cs typeface="Arial"/>
                <a:sym typeface="Arial"/>
              </a:rPr>
              <a:t>Hay los minterminos y maxterminos de la siguiente función.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31" name="Google Shape;231;p10"/>
          <p:cNvSpPr/>
          <p:nvPr/>
        </p:nvSpPr>
        <p:spPr>
          <a:xfrm>
            <a:off x="0" y="-1559738"/>
            <a:ext cx="2921863" cy="5522421"/>
          </a:xfrm>
          <a:custGeom>
            <a:rect b="b" l="l" r="r" t="t"/>
            <a:pathLst>
              <a:path extrusionOk="0" h="5522421" w="2921863">
                <a:moveTo>
                  <a:pt x="0" y="0"/>
                </a:moveTo>
                <a:lnTo>
                  <a:pt x="2921863" y="0"/>
                </a:lnTo>
                <a:lnTo>
                  <a:pt x="2921863" y="5522421"/>
                </a:lnTo>
                <a:lnTo>
                  <a:pt x="0" y="5522421"/>
                </a:lnTo>
                <a:lnTo>
                  <a:pt x="0" y="0"/>
                </a:lnTo>
                <a:close/>
              </a:path>
            </a:pathLst>
          </a:custGeom>
          <a:blipFill rotWithShape="1">
            <a:blip r:embed="rId4">
              <a:alphaModFix/>
            </a:blip>
            <a:stretch>
              <a:fillRect b="0" l="0" r="0" t="0"/>
            </a:stretch>
          </a:blipFill>
          <a:ln>
            <a:noFill/>
          </a:ln>
        </p:spPr>
      </p:sp>
      <p:sp>
        <p:nvSpPr>
          <p:cNvPr id="232" name="Google Shape;232;p10"/>
          <p:cNvSpPr/>
          <p:nvPr/>
        </p:nvSpPr>
        <p:spPr>
          <a:xfrm>
            <a:off x="16693888" y="3244430"/>
            <a:ext cx="2921863" cy="5522421"/>
          </a:xfrm>
          <a:custGeom>
            <a:rect b="b" l="l" r="r" t="t"/>
            <a:pathLst>
              <a:path extrusionOk="0" h="5522421" w="2921863">
                <a:moveTo>
                  <a:pt x="0" y="0"/>
                </a:moveTo>
                <a:lnTo>
                  <a:pt x="2921862" y="0"/>
                </a:lnTo>
                <a:lnTo>
                  <a:pt x="2921862" y="5522421"/>
                </a:lnTo>
                <a:lnTo>
                  <a:pt x="0" y="5522421"/>
                </a:lnTo>
                <a:lnTo>
                  <a:pt x="0" y="0"/>
                </a:lnTo>
                <a:close/>
              </a:path>
            </a:pathLst>
          </a:custGeom>
          <a:blipFill rotWithShape="1">
            <a:blip r:embed="rId4">
              <a:alphaModFix/>
            </a:blip>
            <a:stretch>
              <a:fillRect b="0" l="0" r="0" t="0"/>
            </a:stretch>
          </a:blipFill>
          <a:ln>
            <a:noFill/>
          </a:ln>
        </p:spPr>
      </p:sp>
      <p:sp>
        <p:nvSpPr>
          <p:cNvPr id="233" name="Google Shape;233;p10"/>
          <p:cNvSpPr/>
          <p:nvPr/>
        </p:nvSpPr>
        <p:spPr>
          <a:xfrm>
            <a:off x="1997456" y="3788577"/>
            <a:ext cx="8549356" cy="4978274"/>
          </a:xfrm>
          <a:custGeom>
            <a:rect b="b" l="l" r="r" t="t"/>
            <a:pathLst>
              <a:path extrusionOk="0" h="4978274" w="8549356">
                <a:moveTo>
                  <a:pt x="0" y="0"/>
                </a:moveTo>
                <a:lnTo>
                  <a:pt x="8549356" y="0"/>
                </a:lnTo>
                <a:lnTo>
                  <a:pt x="8549356" y="4978274"/>
                </a:lnTo>
                <a:lnTo>
                  <a:pt x="0" y="4978274"/>
                </a:lnTo>
                <a:lnTo>
                  <a:pt x="0" y="0"/>
                </a:lnTo>
                <a:close/>
              </a:path>
            </a:pathLst>
          </a:custGeom>
          <a:blipFill rotWithShape="1">
            <a:blip r:embed="rId5">
              <a:alphaModFix/>
            </a:blip>
            <a:stretch>
              <a:fillRect b="0" l="0" r="0" t="0"/>
            </a:stretch>
          </a:blipFill>
          <a:ln>
            <a:noFill/>
          </a:ln>
        </p:spPr>
      </p:sp>
      <p:sp>
        <p:nvSpPr>
          <p:cNvPr id="234" name="Google Shape;234;p10"/>
          <p:cNvSpPr/>
          <p:nvPr/>
        </p:nvSpPr>
        <p:spPr>
          <a:xfrm>
            <a:off x="12468003" y="3745474"/>
            <a:ext cx="4012054" cy="4978274"/>
          </a:xfrm>
          <a:custGeom>
            <a:rect b="b" l="l" r="r" t="t"/>
            <a:pathLst>
              <a:path extrusionOk="0" h="4978274" w="4012054">
                <a:moveTo>
                  <a:pt x="0" y="0"/>
                </a:moveTo>
                <a:lnTo>
                  <a:pt x="4012054" y="0"/>
                </a:lnTo>
                <a:lnTo>
                  <a:pt x="4012054" y="4978274"/>
                </a:lnTo>
                <a:lnTo>
                  <a:pt x="0" y="4978274"/>
                </a:lnTo>
                <a:lnTo>
                  <a:pt x="0" y="0"/>
                </a:lnTo>
                <a:close/>
              </a:path>
            </a:pathLst>
          </a:custGeom>
          <a:blipFill rotWithShape="1">
            <a:blip r:embed="rId6">
              <a:alphaModFix/>
            </a:blip>
            <a:stretch>
              <a:fillRect b="0" l="0" r="0" t="0"/>
            </a:stretch>
          </a:blipFill>
          <a:ln>
            <a:noFill/>
          </a:ln>
        </p:spPr>
      </p:sp>
      <p:sp>
        <p:nvSpPr>
          <p:cNvPr id="235" name="Google Shape;235;p10"/>
          <p:cNvSpPr txBox="1"/>
          <p:nvPr/>
        </p:nvSpPr>
        <p:spPr>
          <a:xfrm>
            <a:off x="5268732" y="258205"/>
            <a:ext cx="9424567" cy="134872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US" sz="9799" u="none" cap="none" strike="noStrike">
                <a:solidFill>
                  <a:srgbClr val="1F2374"/>
                </a:solidFill>
                <a:latin typeface="Anton"/>
                <a:ea typeface="Anton"/>
                <a:cs typeface="Anton"/>
                <a:sym typeface="Anton"/>
              </a:rPr>
              <a:t>DISPLAY </a:t>
            </a:r>
            <a:endParaRPr/>
          </a:p>
        </p:txBody>
      </p:sp>
      <p:sp>
        <p:nvSpPr>
          <p:cNvPr id="236" name="Google Shape;236;p10"/>
          <p:cNvSpPr txBox="1"/>
          <p:nvPr/>
        </p:nvSpPr>
        <p:spPr>
          <a:xfrm>
            <a:off x="1997456" y="1539217"/>
            <a:ext cx="14482601" cy="13081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Se le conoce como 7 segmentos por que cuenta con siete diodos led principales y uno extra para representar un punto. Para poder representar los números o caracteres con este dispositivo solo basta con saber la configuración de cada una de sus leds y combinarlos.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42" name="Google Shape;242;p11"/>
          <p:cNvSpPr/>
          <p:nvPr/>
        </p:nvSpPr>
        <p:spPr>
          <a:xfrm>
            <a:off x="0" y="-1559738"/>
            <a:ext cx="2921863" cy="5522421"/>
          </a:xfrm>
          <a:custGeom>
            <a:rect b="b" l="l" r="r" t="t"/>
            <a:pathLst>
              <a:path extrusionOk="0" h="5522421" w="2921863">
                <a:moveTo>
                  <a:pt x="0" y="0"/>
                </a:moveTo>
                <a:lnTo>
                  <a:pt x="2921863" y="0"/>
                </a:lnTo>
                <a:lnTo>
                  <a:pt x="2921863" y="5522421"/>
                </a:lnTo>
                <a:lnTo>
                  <a:pt x="0" y="5522421"/>
                </a:lnTo>
                <a:lnTo>
                  <a:pt x="0" y="0"/>
                </a:lnTo>
                <a:close/>
              </a:path>
            </a:pathLst>
          </a:custGeom>
          <a:blipFill rotWithShape="1">
            <a:blip r:embed="rId4">
              <a:alphaModFix/>
            </a:blip>
            <a:stretch>
              <a:fillRect b="0" l="0" r="0" t="0"/>
            </a:stretch>
          </a:blipFill>
          <a:ln>
            <a:noFill/>
          </a:ln>
        </p:spPr>
      </p:sp>
      <p:sp>
        <p:nvSpPr>
          <p:cNvPr id="243" name="Google Shape;243;p11"/>
          <p:cNvSpPr/>
          <p:nvPr/>
        </p:nvSpPr>
        <p:spPr>
          <a:xfrm>
            <a:off x="16693888" y="3244430"/>
            <a:ext cx="2921863" cy="5522421"/>
          </a:xfrm>
          <a:custGeom>
            <a:rect b="b" l="l" r="r" t="t"/>
            <a:pathLst>
              <a:path extrusionOk="0" h="5522421" w="2921863">
                <a:moveTo>
                  <a:pt x="0" y="0"/>
                </a:moveTo>
                <a:lnTo>
                  <a:pt x="2921862" y="0"/>
                </a:lnTo>
                <a:lnTo>
                  <a:pt x="2921862" y="5522421"/>
                </a:lnTo>
                <a:lnTo>
                  <a:pt x="0" y="5522421"/>
                </a:lnTo>
                <a:lnTo>
                  <a:pt x="0" y="0"/>
                </a:lnTo>
                <a:close/>
              </a:path>
            </a:pathLst>
          </a:custGeom>
          <a:blipFill rotWithShape="1">
            <a:blip r:embed="rId4">
              <a:alphaModFix/>
            </a:blip>
            <a:stretch>
              <a:fillRect b="0" l="0" r="0" t="0"/>
            </a:stretch>
          </a:blipFill>
          <a:ln>
            <a:noFill/>
          </a:ln>
        </p:spPr>
      </p:sp>
      <p:sp>
        <p:nvSpPr>
          <p:cNvPr id="244" name="Google Shape;244;p11"/>
          <p:cNvSpPr/>
          <p:nvPr/>
        </p:nvSpPr>
        <p:spPr>
          <a:xfrm>
            <a:off x="4330386" y="2691487"/>
            <a:ext cx="11301259" cy="6356958"/>
          </a:xfrm>
          <a:custGeom>
            <a:rect b="b" l="l" r="r" t="t"/>
            <a:pathLst>
              <a:path extrusionOk="0" h="6356958" w="11301259">
                <a:moveTo>
                  <a:pt x="0" y="0"/>
                </a:moveTo>
                <a:lnTo>
                  <a:pt x="11301259" y="0"/>
                </a:lnTo>
                <a:lnTo>
                  <a:pt x="11301259" y="6356958"/>
                </a:lnTo>
                <a:lnTo>
                  <a:pt x="0" y="6356958"/>
                </a:lnTo>
                <a:lnTo>
                  <a:pt x="0" y="0"/>
                </a:lnTo>
                <a:close/>
              </a:path>
            </a:pathLst>
          </a:custGeom>
          <a:blipFill rotWithShape="1">
            <a:blip r:embed="rId5">
              <a:alphaModFix/>
            </a:blip>
            <a:stretch>
              <a:fillRect b="0" l="0" r="0" t="0"/>
            </a:stretch>
          </a:blipFill>
          <a:ln>
            <a:noFill/>
          </a:ln>
        </p:spPr>
      </p:sp>
      <p:sp>
        <p:nvSpPr>
          <p:cNvPr id="245" name="Google Shape;245;p11"/>
          <p:cNvSpPr txBox="1"/>
          <p:nvPr/>
        </p:nvSpPr>
        <p:spPr>
          <a:xfrm>
            <a:off x="5268732" y="258205"/>
            <a:ext cx="9424567" cy="134872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US" sz="9799" u="none" cap="none" strike="noStrike">
                <a:solidFill>
                  <a:srgbClr val="1F2374"/>
                </a:solidFill>
                <a:latin typeface="Anton"/>
                <a:ea typeface="Anton"/>
                <a:cs typeface="Anton"/>
                <a:sym typeface="Anton"/>
              </a:rPr>
              <a:t>ÁNODO COMÚN</a:t>
            </a:r>
            <a:endParaRPr/>
          </a:p>
        </p:txBody>
      </p:sp>
      <p:sp>
        <p:nvSpPr>
          <p:cNvPr id="246" name="Google Shape;246;p11"/>
          <p:cNvSpPr txBox="1"/>
          <p:nvPr/>
        </p:nvSpPr>
        <p:spPr>
          <a:xfrm>
            <a:off x="2739715" y="1549777"/>
            <a:ext cx="14482601" cy="86995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Se llama así por que todos los leds están unidos en su terminal positiva (</a:t>
            </a:r>
            <a:r>
              <a:rPr b="1" i="0" lang="en-US" sz="2499" u="sng" cap="none" strike="noStrike">
                <a:solidFill>
                  <a:srgbClr val="000000"/>
                </a:solidFill>
                <a:latin typeface="Raleway Medium"/>
                <a:ea typeface="Raleway Medium"/>
                <a:cs typeface="Raleway Medium"/>
                <a:sym typeface="Raleway Medium"/>
                <a:hlinkClick r:id="rId6">
                  <a:extLst>
                    <a:ext uri="{A12FA001-AC4F-418D-AE19-62706E023703}">
                      <ahyp:hlinkClr val="tx"/>
                    </a:ext>
                  </a:extLst>
                </a:hlinkClick>
              </a:rPr>
              <a:t>ánodo</a:t>
            </a:r>
            <a:r>
              <a:rPr b="1" i="0" lang="en-US" sz="2499" u="none" cap="none" strike="noStrike">
                <a:solidFill>
                  <a:srgbClr val="000000"/>
                </a:solidFill>
                <a:latin typeface="Raleway Medium"/>
                <a:ea typeface="Raleway Medium"/>
                <a:cs typeface="Raleway Medium"/>
                <a:sym typeface="Raleway Medium"/>
              </a:rPr>
              <a:t>), para encenderlos tenemos que poner tierra en la terminal de la letra que se desee.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52" name="Google Shape;252;p12"/>
          <p:cNvSpPr/>
          <p:nvPr/>
        </p:nvSpPr>
        <p:spPr>
          <a:xfrm>
            <a:off x="0" y="-1559738"/>
            <a:ext cx="2921863" cy="5522421"/>
          </a:xfrm>
          <a:custGeom>
            <a:rect b="b" l="l" r="r" t="t"/>
            <a:pathLst>
              <a:path extrusionOk="0" h="5522421" w="2921863">
                <a:moveTo>
                  <a:pt x="0" y="0"/>
                </a:moveTo>
                <a:lnTo>
                  <a:pt x="2921863" y="0"/>
                </a:lnTo>
                <a:lnTo>
                  <a:pt x="2921863" y="5522421"/>
                </a:lnTo>
                <a:lnTo>
                  <a:pt x="0" y="5522421"/>
                </a:lnTo>
                <a:lnTo>
                  <a:pt x="0" y="0"/>
                </a:lnTo>
                <a:close/>
              </a:path>
            </a:pathLst>
          </a:custGeom>
          <a:blipFill rotWithShape="1">
            <a:blip r:embed="rId4">
              <a:alphaModFix/>
            </a:blip>
            <a:stretch>
              <a:fillRect b="0" l="0" r="0" t="0"/>
            </a:stretch>
          </a:blipFill>
          <a:ln>
            <a:noFill/>
          </a:ln>
        </p:spPr>
      </p:sp>
      <p:sp>
        <p:nvSpPr>
          <p:cNvPr id="253" name="Google Shape;253;p12"/>
          <p:cNvSpPr/>
          <p:nvPr/>
        </p:nvSpPr>
        <p:spPr>
          <a:xfrm>
            <a:off x="16693888" y="3244430"/>
            <a:ext cx="2921863" cy="5522421"/>
          </a:xfrm>
          <a:custGeom>
            <a:rect b="b" l="l" r="r" t="t"/>
            <a:pathLst>
              <a:path extrusionOk="0" h="5522421" w="2921863">
                <a:moveTo>
                  <a:pt x="0" y="0"/>
                </a:moveTo>
                <a:lnTo>
                  <a:pt x="2921862" y="0"/>
                </a:lnTo>
                <a:lnTo>
                  <a:pt x="2921862" y="5522421"/>
                </a:lnTo>
                <a:lnTo>
                  <a:pt x="0" y="5522421"/>
                </a:lnTo>
                <a:lnTo>
                  <a:pt x="0" y="0"/>
                </a:lnTo>
                <a:close/>
              </a:path>
            </a:pathLst>
          </a:custGeom>
          <a:blipFill rotWithShape="1">
            <a:blip r:embed="rId4">
              <a:alphaModFix/>
            </a:blip>
            <a:stretch>
              <a:fillRect b="0" l="0" r="0" t="0"/>
            </a:stretch>
          </a:blipFill>
          <a:ln>
            <a:noFill/>
          </a:ln>
        </p:spPr>
      </p:sp>
      <p:sp>
        <p:nvSpPr>
          <p:cNvPr id="254" name="Google Shape;254;p12"/>
          <p:cNvSpPr/>
          <p:nvPr/>
        </p:nvSpPr>
        <p:spPr>
          <a:xfrm>
            <a:off x="4330386" y="3070513"/>
            <a:ext cx="11301259" cy="6356958"/>
          </a:xfrm>
          <a:custGeom>
            <a:rect b="b" l="l" r="r" t="t"/>
            <a:pathLst>
              <a:path extrusionOk="0" h="6356958" w="11301259">
                <a:moveTo>
                  <a:pt x="0" y="0"/>
                </a:moveTo>
                <a:lnTo>
                  <a:pt x="11301259" y="0"/>
                </a:lnTo>
                <a:lnTo>
                  <a:pt x="11301259" y="6356958"/>
                </a:lnTo>
                <a:lnTo>
                  <a:pt x="0" y="6356958"/>
                </a:lnTo>
                <a:lnTo>
                  <a:pt x="0" y="0"/>
                </a:lnTo>
                <a:close/>
              </a:path>
            </a:pathLst>
          </a:custGeom>
          <a:blipFill rotWithShape="1">
            <a:blip r:embed="rId5">
              <a:alphaModFix/>
            </a:blip>
            <a:stretch>
              <a:fillRect b="0" l="0" r="0" t="0"/>
            </a:stretch>
          </a:blipFill>
          <a:ln>
            <a:noFill/>
          </a:ln>
        </p:spPr>
      </p:sp>
      <p:sp>
        <p:nvSpPr>
          <p:cNvPr id="255" name="Google Shape;255;p12"/>
          <p:cNvSpPr txBox="1"/>
          <p:nvPr/>
        </p:nvSpPr>
        <p:spPr>
          <a:xfrm>
            <a:off x="5268732" y="258205"/>
            <a:ext cx="9424567" cy="134872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US" sz="9799" u="none" cap="none" strike="noStrike">
                <a:solidFill>
                  <a:srgbClr val="1F2374"/>
                </a:solidFill>
                <a:latin typeface="Anton"/>
                <a:ea typeface="Anton"/>
                <a:cs typeface="Anton"/>
                <a:sym typeface="Anton"/>
              </a:rPr>
              <a:t>CÁTODO COMÚN</a:t>
            </a:r>
            <a:endParaRPr/>
          </a:p>
        </p:txBody>
      </p:sp>
      <p:sp>
        <p:nvSpPr>
          <p:cNvPr id="256" name="Google Shape;256;p12"/>
          <p:cNvSpPr txBox="1"/>
          <p:nvPr/>
        </p:nvSpPr>
        <p:spPr>
          <a:xfrm>
            <a:off x="2739715" y="1549777"/>
            <a:ext cx="14482601" cy="86995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Este display es el opuesto del ánodo común ya que los leds están unidos en la terminal negativa (</a:t>
            </a:r>
            <a:r>
              <a:rPr b="1" i="0" lang="en-US" sz="2499" u="sng" cap="none" strike="noStrike">
                <a:solidFill>
                  <a:srgbClr val="000000"/>
                </a:solidFill>
                <a:latin typeface="Raleway Medium"/>
                <a:ea typeface="Raleway Medium"/>
                <a:cs typeface="Raleway Medium"/>
                <a:sym typeface="Raleway Medium"/>
                <a:hlinkClick r:id="rId6">
                  <a:extLst>
                    <a:ext uri="{A12FA001-AC4F-418D-AE19-62706E023703}">
                      <ahyp:hlinkClr val="tx"/>
                    </a:ext>
                  </a:extLst>
                </a:hlinkClick>
              </a:rPr>
              <a:t>cátodo</a:t>
            </a:r>
            <a:r>
              <a:rPr b="1" i="0" lang="en-US" sz="2499" u="none" cap="none" strike="noStrike">
                <a:solidFill>
                  <a:srgbClr val="000000"/>
                </a:solidFill>
                <a:latin typeface="Raleway Medium"/>
                <a:ea typeface="Raleway Medium"/>
                <a:cs typeface="Raleway Medium"/>
                <a:sym typeface="Raleway Medium"/>
              </a:rPr>
              <a:t>). Para encender los leds tenemos que poner voltaje en las terminales de las letras.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62" name="Google Shape;262;p13"/>
          <p:cNvSpPr/>
          <p:nvPr/>
        </p:nvSpPr>
        <p:spPr>
          <a:xfrm>
            <a:off x="-4667647" y="7730909"/>
            <a:ext cx="17891702" cy="7918735"/>
          </a:xfrm>
          <a:custGeom>
            <a:rect b="b" l="l" r="r" t="t"/>
            <a:pathLst>
              <a:path extrusionOk="0" h="7918735" w="17891702">
                <a:moveTo>
                  <a:pt x="0" y="0"/>
                </a:moveTo>
                <a:lnTo>
                  <a:pt x="17891702" y="0"/>
                </a:lnTo>
                <a:lnTo>
                  <a:pt x="17891702" y="7918734"/>
                </a:lnTo>
                <a:lnTo>
                  <a:pt x="0" y="7918734"/>
                </a:lnTo>
                <a:lnTo>
                  <a:pt x="0" y="0"/>
                </a:lnTo>
                <a:close/>
              </a:path>
            </a:pathLst>
          </a:custGeom>
          <a:blipFill rotWithShape="1">
            <a:blip r:embed="rId4">
              <a:alphaModFix amt="27000"/>
            </a:blip>
            <a:stretch>
              <a:fillRect b="0" l="0" r="0" t="0"/>
            </a:stretch>
          </a:blipFill>
          <a:ln>
            <a:noFill/>
          </a:ln>
        </p:spPr>
      </p:sp>
      <p:sp>
        <p:nvSpPr>
          <p:cNvPr id="263" name="Google Shape;263;p13"/>
          <p:cNvSpPr/>
          <p:nvPr/>
        </p:nvSpPr>
        <p:spPr>
          <a:xfrm>
            <a:off x="8737128" y="7345550"/>
            <a:ext cx="663074" cy="379761"/>
          </a:xfrm>
          <a:custGeom>
            <a:rect b="b" l="l" r="r" t="t"/>
            <a:pathLst>
              <a:path extrusionOk="0" h="379761" w="663074">
                <a:moveTo>
                  <a:pt x="0" y="0"/>
                </a:moveTo>
                <a:lnTo>
                  <a:pt x="663074" y="0"/>
                </a:lnTo>
                <a:lnTo>
                  <a:pt x="663074" y="379761"/>
                </a:lnTo>
                <a:lnTo>
                  <a:pt x="0" y="379761"/>
                </a:lnTo>
                <a:lnTo>
                  <a:pt x="0" y="0"/>
                </a:lnTo>
                <a:close/>
              </a:path>
            </a:pathLst>
          </a:custGeom>
          <a:blipFill rotWithShape="1">
            <a:blip r:embed="rId5">
              <a:alphaModFix/>
            </a:blip>
            <a:stretch>
              <a:fillRect b="0" l="0" r="0" t="0"/>
            </a:stretch>
          </a:blipFill>
          <a:ln>
            <a:noFill/>
          </a:ln>
        </p:spPr>
      </p:sp>
      <p:sp>
        <p:nvSpPr>
          <p:cNvPr id="264" name="Google Shape;264;p13"/>
          <p:cNvSpPr/>
          <p:nvPr/>
        </p:nvSpPr>
        <p:spPr>
          <a:xfrm>
            <a:off x="17143553" y="6630612"/>
            <a:ext cx="4335517" cy="4114800"/>
          </a:xfrm>
          <a:custGeom>
            <a:rect b="b" l="l" r="r" t="t"/>
            <a:pathLst>
              <a:path extrusionOk="0" h="4114800" w="4335517">
                <a:moveTo>
                  <a:pt x="0" y="0"/>
                </a:moveTo>
                <a:lnTo>
                  <a:pt x="4335518" y="0"/>
                </a:lnTo>
                <a:lnTo>
                  <a:pt x="4335518" y="4114800"/>
                </a:lnTo>
                <a:lnTo>
                  <a:pt x="0" y="4114800"/>
                </a:lnTo>
                <a:lnTo>
                  <a:pt x="0" y="0"/>
                </a:lnTo>
                <a:close/>
              </a:path>
            </a:pathLst>
          </a:custGeom>
          <a:blipFill rotWithShape="1">
            <a:blip r:embed="rId6">
              <a:alphaModFix/>
            </a:blip>
            <a:stretch>
              <a:fillRect b="0" l="0" r="0" t="0"/>
            </a:stretch>
          </a:blipFill>
          <a:ln>
            <a:noFill/>
          </a:ln>
        </p:spPr>
      </p:sp>
      <p:sp>
        <p:nvSpPr>
          <p:cNvPr id="265" name="Google Shape;265;p13"/>
          <p:cNvSpPr/>
          <p:nvPr/>
        </p:nvSpPr>
        <p:spPr>
          <a:xfrm rot="-5400000">
            <a:off x="-1515084" y="-1082262"/>
            <a:ext cx="4335517" cy="4114800"/>
          </a:xfrm>
          <a:custGeom>
            <a:rect b="b" l="l" r="r" t="t"/>
            <a:pathLst>
              <a:path extrusionOk="0" h="4114800" w="4335517">
                <a:moveTo>
                  <a:pt x="4335518" y="4114800"/>
                </a:moveTo>
                <a:lnTo>
                  <a:pt x="0" y="4114800"/>
                </a:lnTo>
                <a:lnTo>
                  <a:pt x="0" y="0"/>
                </a:lnTo>
                <a:lnTo>
                  <a:pt x="4335518" y="0"/>
                </a:lnTo>
                <a:lnTo>
                  <a:pt x="4335518" y="4114800"/>
                </a:lnTo>
                <a:close/>
              </a:path>
            </a:pathLst>
          </a:custGeom>
          <a:blipFill rotWithShape="1">
            <a:blip r:embed="rId6">
              <a:alphaModFix/>
            </a:blip>
            <a:stretch>
              <a:fillRect b="0" l="0" r="0" t="0"/>
            </a:stretch>
          </a:blipFill>
          <a:ln>
            <a:noFill/>
          </a:ln>
        </p:spPr>
      </p:sp>
      <p:sp>
        <p:nvSpPr>
          <p:cNvPr id="266" name="Google Shape;266;p13"/>
          <p:cNvSpPr/>
          <p:nvPr/>
        </p:nvSpPr>
        <p:spPr>
          <a:xfrm>
            <a:off x="2284502" y="5230231"/>
            <a:ext cx="6175442" cy="4230638"/>
          </a:xfrm>
          <a:custGeom>
            <a:rect b="b" l="l" r="r" t="t"/>
            <a:pathLst>
              <a:path extrusionOk="0" h="4230638" w="6175442">
                <a:moveTo>
                  <a:pt x="0" y="0"/>
                </a:moveTo>
                <a:lnTo>
                  <a:pt x="6175441" y="0"/>
                </a:lnTo>
                <a:lnTo>
                  <a:pt x="6175441" y="4230638"/>
                </a:lnTo>
                <a:lnTo>
                  <a:pt x="0" y="4230638"/>
                </a:lnTo>
                <a:lnTo>
                  <a:pt x="0" y="0"/>
                </a:lnTo>
                <a:close/>
              </a:path>
            </a:pathLst>
          </a:custGeom>
          <a:blipFill rotWithShape="1">
            <a:blip r:embed="rId7">
              <a:alphaModFix/>
            </a:blip>
            <a:stretch>
              <a:fillRect b="0" l="0" r="0" t="0"/>
            </a:stretch>
          </a:blipFill>
          <a:ln>
            <a:noFill/>
          </a:ln>
        </p:spPr>
      </p:sp>
      <p:sp>
        <p:nvSpPr>
          <p:cNvPr id="267" name="Google Shape;267;p13"/>
          <p:cNvSpPr/>
          <p:nvPr/>
        </p:nvSpPr>
        <p:spPr>
          <a:xfrm>
            <a:off x="9676427" y="5230231"/>
            <a:ext cx="6327071" cy="4230638"/>
          </a:xfrm>
          <a:custGeom>
            <a:rect b="b" l="l" r="r" t="t"/>
            <a:pathLst>
              <a:path extrusionOk="0" h="4230638" w="6327071">
                <a:moveTo>
                  <a:pt x="0" y="0"/>
                </a:moveTo>
                <a:lnTo>
                  <a:pt x="6327071" y="0"/>
                </a:lnTo>
                <a:lnTo>
                  <a:pt x="6327071" y="4230638"/>
                </a:lnTo>
                <a:lnTo>
                  <a:pt x="0" y="4230638"/>
                </a:lnTo>
                <a:lnTo>
                  <a:pt x="0" y="0"/>
                </a:lnTo>
                <a:close/>
              </a:path>
            </a:pathLst>
          </a:custGeom>
          <a:blipFill rotWithShape="1">
            <a:blip r:embed="rId8">
              <a:alphaModFix/>
            </a:blip>
            <a:stretch>
              <a:fillRect b="0" l="0" r="0" t="0"/>
            </a:stretch>
          </a:blipFill>
          <a:ln>
            <a:noFill/>
          </a:ln>
        </p:spPr>
      </p:sp>
      <p:sp>
        <p:nvSpPr>
          <p:cNvPr id="268" name="Google Shape;268;p13"/>
          <p:cNvSpPr txBox="1"/>
          <p:nvPr/>
        </p:nvSpPr>
        <p:spPr>
          <a:xfrm>
            <a:off x="289799" y="308350"/>
            <a:ext cx="15160500" cy="13389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US" sz="8699" u="none" cap="none" strike="noStrike">
                <a:solidFill>
                  <a:srgbClr val="1F2374"/>
                </a:solidFill>
                <a:latin typeface="Anton"/>
                <a:ea typeface="Anton"/>
                <a:cs typeface="Anton"/>
                <a:sym typeface="Anton"/>
              </a:rPr>
              <a:t>COMPUERTAS TRANSISTORISADAS</a:t>
            </a:r>
            <a:endParaRPr/>
          </a:p>
        </p:txBody>
      </p:sp>
      <p:sp>
        <p:nvSpPr>
          <p:cNvPr id="269" name="Google Shape;269;p13"/>
          <p:cNvSpPr txBox="1"/>
          <p:nvPr/>
        </p:nvSpPr>
        <p:spPr>
          <a:xfrm>
            <a:off x="300462" y="2127468"/>
            <a:ext cx="17536500" cy="30777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000000"/>
                </a:solidFill>
                <a:latin typeface="Raleway Medium"/>
                <a:ea typeface="Raleway Medium"/>
                <a:cs typeface="Raleway Medium"/>
                <a:sym typeface="Raleway Medium"/>
              </a:rPr>
              <a:t>Las compuertas son dispositivos que operan con estados lógicos (alto) «1» y (bajo) «0», Los circuitos lógicos digitales son redes complejas de interruptores hechos con transistores. Éstos circuitos lógicos simples se llaman compuertas. El sistema numérico binario utiliza solo dos dígitos: 1 y 0, por lo que es perfecto para representar relaciones lógicas en las entradas colocamos los niveles mencionados, de esta forma la compuerta realiza la operación lógica y finalmente a la salida obtendremos un nivel lógico correspondiente a la operación. Los circuitos lógicos digitales utilizan intervalos de voltaje predefinidos para representar estos estados binarios.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75" name="Google Shape;275;p14"/>
          <p:cNvSpPr/>
          <p:nvPr/>
        </p:nvSpPr>
        <p:spPr>
          <a:xfrm>
            <a:off x="-5000102" y="5685051"/>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4">
              <a:alphaModFix amt="46000"/>
            </a:blip>
            <a:stretch>
              <a:fillRect b="0" l="0" r="0" t="0"/>
            </a:stretch>
          </a:blipFill>
          <a:ln>
            <a:noFill/>
          </a:ln>
        </p:spPr>
      </p:sp>
      <p:sp>
        <p:nvSpPr>
          <p:cNvPr id="276" name="Google Shape;276;p14"/>
          <p:cNvSpPr/>
          <p:nvPr/>
        </p:nvSpPr>
        <p:spPr>
          <a:xfrm>
            <a:off x="9501009" y="4082519"/>
            <a:ext cx="7917754" cy="2701351"/>
          </a:xfrm>
          <a:custGeom>
            <a:rect b="b" l="l" r="r" t="t"/>
            <a:pathLst>
              <a:path extrusionOk="0" h="2701351" w="7917754">
                <a:moveTo>
                  <a:pt x="0" y="0"/>
                </a:moveTo>
                <a:lnTo>
                  <a:pt x="7917754" y="0"/>
                </a:lnTo>
                <a:lnTo>
                  <a:pt x="7917754" y="2701352"/>
                </a:lnTo>
                <a:lnTo>
                  <a:pt x="0" y="2701352"/>
                </a:lnTo>
                <a:lnTo>
                  <a:pt x="0" y="0"/>
                </a:lnTo>
                <a:close/>
              </a:path>
            </a:pathLst>
          </a:custGeom>
          <a:blipFill rotWithShape="1">
            <a:blip r:embed="rId5">
              <a:alphaModFix/>
            </a:blip>
            <a:stretch>
              <a:fillRect b="0" l="0" r="0" t="0"/>
            </a:stretch>
          </a:blipFill>
          <a:ln>
            <a:noFill/>
          </a:ln>
        </p:spPr>
      </p:sp>
      <p:sp>
        <p:nvSpPr>
          <p:cNvPr id="277" name="Google Shape;277;p14"/>
          <p:cNvSpPr/>
          <p:nvPr/>
        </p:nvSpPr>
        <p:spPr>
          <a:xfrm>
            <a:off x="835704" y="2912624"/>
            <a:ext cx="6964549" cy="5544853"/>
          </a:xfrm>
          <a:custGeom>
            <a:rect b="b" l="l" r="r" t="t"/>
            <a:pathLst>
              <a:path extrusionOk="0" h="5544853" w="6964549">
                <a:moveTo>
                  <a:pt x="0" y="0"/>
                </a:moveTo>
                <a:lnTo>
                  <a:pt x="6964549" y="0"/>
                </a:lnTo>
                <a:lnTo>
                  <a:pt x="6964549" y="5544853"/>
                </a:lnTo>
                <a:lnTo>
                  <a:pt x="0" y="5544853"/>
                </a:lnTo>
                <a:lnTo>
                  <a:pt x="0" y="0"/>
                </a:lnTo>
                <a:close/>
              </a:path>
            </a:pathLst>
          </a:custGeom>
          <a:blipFill rotWithShape="1">
            <a:blip r:embed="rId6">
              <a:alphaModFix/>
            </a:blip>
            <a:stretch>
              <a:fillRect b="0" l="0" r="0" t="0"/>
            </a:stretch>
          </a:blipFill>
          <a:ln>
            <a:noFill/>
          </a:ln>
        </p:spPr>
      </p:sp>
      <p:sp>
        <p:nvSpPr>
          <p:cNvPr id="278" name="Google Shape;278;p14"/>
          <p:cNvSpPr txBox="1"/>
          <p:nvPr/>
        </p:nvSpPr>
        <p:spPr>
          <a:xfrm>
            <a:off x="216318" y="133350"/>
            <a:ext cx="8203320" cy="2584229"/>
          </a:xfrm>
          <a:prstGeom prst="rect">
            <a:avLst/>
          </a:prstGeom>
          <a:noFill/>
          <a:ln>
            <a:noFill/>
          </a:ln>
        </p:spPr>
        <p:txBody>
          <a:bodyPr anchorCtr="0" anchor="t" bIns="0" lIns="0" spcFirstLastPara="1" rIns="0" wrap="square" tIns="0">
            <a:spAutoFit/>
          </a:bodyPr>
          <a:lstStyle/>
          <a:p>
            <a:pPr indent="0" lvl="0" marL="0" marR="0" rtl="0" algn="l">
              <a:lnSpc>
                <a:spcPct val="104997"/>
              </a:lnSpc>
              <a:spcBef>
                <a:spcPts val="0"/>
              </a:spcBef>
              <a:spcAft>
                <a:spcPts val="0"/>
              </a:spcAft>
              <a:buNone/>
            </a:pPr>
            <a:r>
              <a:rPr b="0" i="0" lang="en-US" sz="9565" u="none" cap="none" strike="noStrike">
                <a:solidFill>
                  <a:srgbClr val="1F2374"/>
                </a:solidFill>
                <a:latin typeface="Anton"/>
                <a:ea typeface="Anton"/>
                <a:cs typeface="Anton"/>
                <a:sym typeface="Anton"/>
              </a:rPr>
              <a:t>OR TRANSISTORISADA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6" l="0" r="0" t="-38886"/>
            </a:stretch>
          </a:blipFill>
          <a:ln>
            <a:noFill/>
          </a:ln>
        </p:spPr>
      </p:sp>
      <p:sp>
        <p:nvSpPr>
          <p:cNvPr id="284" name="Google Shape;284;p15"/>
          <p:cNvSpPr/>
          <p:nvPr/>
        </p:nvSpPr>
        <p:spPr>
          <a:xfrm>
            <a:off x="-5000102" y="5685051"/>
            <a:ext cx="9639356" cy="8229600"/>
          </a:xfrm>
          <a:custGeom>
            <a:rect b="b" l="l" r="r" t="t"/>
            <a:pathLst>
              <a:path extrusionOk="0" h="8229600" w="9639356">
                <a:moveTo>
                  <a:pt x="0" y="0"/>
                </a:moveTo>
                <a:lnTo>
                  <a:pt x="9639356" y="0"/>
                </a:lnTo>
                <a:lnTo>
                  <a:pt x="9639356" y="8229600"/>
                </a:lnTo>
                <a:lnTo>
                  <a:pt x="0" y="8229600"/>
                </a:lnTo>
                <a:lnTo>
                  <a:pt x="0" y="0"/>
                </a:lnTo>
                <a:close/>
              </a:path>
            </a:pathLst>
          </a:custGeom>
          <a:blipFill rotWithShape="1">
            <a:blip r:embed="rId4">
              <a:alphaModFix amt="46000"/>
            </a:blip>
            <a:stretch>
              <a:fillRect b="0" l="0" r="0" t="0"/>
            </a:stretch>
          </a:blipFill>
          <a:ln>
            <a:noFill/>
          </a:ln>
        </p:spPr>
      </p:sp>
      <p:sp>
        <p:nvSpPr>
          <p:cNvPr id="285" name="Google Shape;285;p15"/>
          <p:cNvSpPr/>
          <p:nvPr/>
        </p:nvSpPr>
        <p:spPr>
          <a:xfrm>
            <a:off x="7580205" y="4059957"/>
            <a:ext cx="9679095" cy="2768221"/>
          </a:xfrm>
          <a:custGeom>
            <a:rect b="b" l="l" r="r" t="t"/>
            <a:pathLst>
              <a:path extrusionOk="0" h="2768221" w="9679095">
                <a:moveTo>
                  <a:pt x="0" y="0"/>
                </a:moveTo>
                <a:lnTo>
                  <a:pt x="9679095" y="0"/>
                </a:lnTo>
                <a:lnTo>
                  <a:pt x="9679095" y="2768221"/>
                </a:lnTo>
                <a:lnTo>
                  <a:pt x="0" y="2768221"/>
                </a:lnTo>
                <a:lnTo>
                  <a:pt x="0" y="0"/>
                </a:lnTo>
                <a:close/>
              </a:path>
            </a:pathLst>
          </a:custGeom>
          <a:blipFill rotWithShape="1">
            <a:blip r:embed="rId5">
              <a:alphaModFix/>
            </a:blip>
            <a:stretch>
              <a:fillRect b="0" l="0" r="0" t="0"/>
            </a:stretch>
          </a:blipFill>
          <a:ln>
            <a:noFill/>
          </a:ln>
        </p:spPr>
      </p:sp>
      <p:sp>
        <p:nvSpPr>
          <p:cNvPr id="286" name="Google Shape;286;p15"/>
          <p:cNvSpPr/>
          <p:nvPr/>
        </p:nvSpPr>
        <p:spPr>
          <a:xfrm>
            <a:off x="587800" y="3099937"/>
            <a:ext cx="6350117" cy="5997876"/>
          </a:xfrm>
          <a:custGeom>
            <a:rect b="b" l="l" r="r" t="t"/>
            <a:pathLst>
              <a:path extrusionOk="0" h="5997876" w="6350117">
                <a:moveTo>
                  <a:pt x="0" y="0"/>
                </a:moveTo>
                <a:lnTo>
                  <a:pt x="6350117" y="0"/>
                </a:lnTo>
                <a:lnTo>
                  <a:pt x="6350117" y="5997877"/>
                </a:lnTo>
                <a:lnTo>
                  <a:pt x="0" y="5997877"/>
                </a:lnTo>
                <a:lnTo>
                  <a:pt x="0" y="0"/>
                </a:lnTo>
                <a:close/>
              </a:path>
            </a:pathLst>
          </a:custGeom>
          <a:blipFill rotWithShape="1">
            <a:blip r:embed="rId6">
              <a:alphaModFix/>
            </a:blip>
            <a:stretch>
              <a:fillRect b="0" l="0" r="0" t="0"/>
            </a:stretch>
          </a:blipFill>
          <a:ln>
            <a:noFill/>
          </a:ln>
        </p:spPr>
      </p:sp>
      <p:sp>
        <p:nvSpPr>
          <p:cNvPr id="287" name="Google Shape;287;p15"/>
          <p:cNvSpPr txBox="1"/>
          <p:nvPr/>
        </p:nvSpPr>
        <p:spPr>
          <a:xfrm>
            <a:off x="279489" y="133350"/>
            <a:ext cx="8203320" cy="2584229"/>
          </a:xfrm>
          <a:prstGeom prst="rect">
            <a:avLst/>
          </a:prstGeom>
          <a:noFill/>
          <a:ln>
            <a:noFill/>
          </a:ln>
        </p:spPr>
        <p:txBody>
          <a:bodyPr anchorCtr="0" anchor="t" bIns="0" lIns="0" spcFirstLastPara="1" rIns="0" wrap="square" tIns="0">
            <a:spAutoFit/>
          </a:bodyPr>
          <a:lstStyle/>
          <a:p>
            <a:pPr indent="0" lvl="0" marL="0" marR="0" rtl="0" algn="l">
              <a:lnSpc>
                <a:spcPct val="104997"/>
              </a:lnSpc>
              <a:spcBef>
                <a:spcPts val="0"/>
              </a:spcBef>
              <a:spcAft>
                <a:spcPts val="0"/>
              </a:spcAft>
              <a:buNone/>
            </a:pPr>
            <a:r>
              <a:rPr b="0" i="0" lang="en-US" sz="9565" u="none" cap="none" strike="noStrike">
                <a:solidFill>
                  <a:srgbClr val="1F2374"/>
                </a:solidFill>
                <a:latin typeface="Anton"/>
                <a:ea typeface="Anton"/>
                <a:cs typeface="Anton"/>
                <a:sym typeface="Anton"/>
              </a:rPr>
              <a:t>AND TRANSISTORISADA</a:t>
            </a:r>
            <a:endParaRPr/>
          </a:p>
        </p:txBody>
      </p:sp>
      <p:sp>
        <p:nvSpPr>
          <p:cNvPr id="288" name="Google Shape;288;p15"/>
          <p:cNvSpPr txBox="1"/>
          <p:nvPr/>
        </p:nvSpPr>
        <p:spPr>
          <a:xfrm>
            <a:off x="7746179" y="7440989"/>
            <a:ext cx="9347147" cy="93256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60" u="sng" cap="none" strike="noStrike">
                <a:solidFill>
                  <a:srgbClr val="000000"/>
                </a:solidFill>
                <a:latin typeface="Arimo"/>
                <a:ea typeface="Arimo"/>
                <a:cs typeface="Arimo"/>
                <a:sym typeface="Arimo"/>
                <a:hlinkClick r:id="rId7">
                  <a:extLst>
                    <a:ext uri="{A12FA001-AC4F-418D-AE19-62706E023703}">
                      <ahyp:hlinkClr val="tx"/>
                    </a:ext>
                  </a:extLst>
                </a:hlinkClick>
              </a:rPr>
              <a:t>http://hyperphysics.phy-astr.gsu.edu/hbasees/Electronic/trangate.html</a:t>
            </a:r>
            <a:endParaRPr/>
          </a:p>
        </p:txBody>
      </p:sp>
      <p:sp>
        <p:nvSpPr>
          <p:cNvPr id="289" name="Google Shape;289;p15"/>
          <p:cNvSpPr txBox="1"/>
          <p:nvPr/>
        </p:nvSpPr>
        <p:spPr>
          <a:xfrm>
            <a:off x="7746179" y="8617314"/>
            <a:ext cx="9980783" cy="9354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660" u="sng" cap="none" strike="noStrike">
                <a:solidFill>
                  <a:srgbClr val="000000"/>
                </a:solidFill>
                <a:latin typeface="Arimo"/>
                <a:ea typeface="Arimo"/>
                <a:cs typeface="Arimo"/>
                <a:sym typeface="Arimo"/>
                <a:hlinkClick r:id="rId8">
                  <a:extLst>
                    <a:ext uri="{A12FA001-AC4F-418D-AE19-62706E023703}">
                      <ahyp:hlinkClr val="tx"/>
                    </a:ext>
                  </a:extLst>
                </a:hlinkClick>
              </a:rPr>
              <a:t>https://sincronizacionymultiplexajeblog.wordpress.com/2016/03/13/compuertas-logicas-con-transistores/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