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IBM Plex Sans"/>
      <p:regular r:id="rId23"/>
      <p:bold r:id="rId24"/>
      <p:italic r:id="rId25"/>
      <p:boldItalic r:id="rId26"/>
    </p:embeddedFont>
    <p:embeddedFont>
      <p:font typeface="Proxima Nova"/>
      <p:regular r:id="rId27"/>
      <p:bold r:id="rId28"/>
      <p:italic r:id="rId29"/>
      <p:boldItalic r:id="rId30"/>
    </p:embeddedFont>
    <p:embeddedFont>
      <p:font typeface="IBM Plex Sans Medium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gE5T1L+38vPzv40Zq5ZnzccgeY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IBMPlexSans-bold.fntdata"/><Relationship Id="rId23" Type="http://schemas.openxmlformats.org/officeDocument/2006/relationships/font" Target="fonts/IBMPlex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Sans-boldItalic.fntdata"/><Relationship Id="rId25" Type="http://schemas.openxmlformats.org/officeDocument/2006/relationships/font" Target="fonts/IBMPlexSans-italic.fntdata"/><Relationship Id="rId28" Type="http://schemas.openxmlformats.org/officeDocument/2006/relationships/font" Target="fonts/ProximaNova-bold.fntdata"/><Relationship Id="rId27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Medium-regular.fntdata"/><Relationship Id="rId30" Type="http://schemas.openxmlformats.org/officeDocument/2006/relationships/font" Target="fonts/ProximaNova-boldItalic.fntdata"/><Relationship Id="rId11" Type="http://schemas.openxmlformats.org/officeDocument/2006/relationships/slide" Target="slides/slide6.xml"/><Relationship Id="rId33" Type="http://schemas.openxmlformats.org/officeDocument/2006/relationships/font" Target="fonts/IBMPlexSansMedium-italic.fntdata"/><Relationship Id="rId10" Type="http://schemas.openxmlformats.org/officeDocument/2006/relationships/slide" Target="slides/slide5.xml"/><Relationship Id="rId32" Type="http://schemas.openxmlformats.org/officeDocument/2006/relationships/font" Target="fonts/IBMPlexSansMedium-bold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IBMPlexSans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0cc3010b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a0cc3010b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4" name="Google Shape;51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20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hyperlink" Target="https://electronicasigma.com.gt/wp-content/uploads/2020/09/74LS85-1.gi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hyperlink" Target="https://youtu.be/o92kXQzd9Yc" TargetMode="External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hyperlink" Target="https://wilaebaelectronica.blogspot.com/2017/01/decodificador-binario-a-bcd-de-4-bits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23.jpg"/><Relationship Id="rId6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16.jpg"/><Relationship Id="rId8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11" Type="http://schemas.openxmlformats.org/officeDocument/2006/relationships/image" Target="../media/image21.png"/><Relationship Id="rId10" Type="http://schemas.openxmlformats.org/officeDocument/2006/relationships/hyperlink" Target="https://youtu.be/vaEwaAVZNxU" TargetMode="External"/><Relationship Id="rId9" Type="http://schemas.openxmlformats.org/officeDocument/2006/relationships/image" Target="../media/image19.png"/><Relationship Id="rId5" Type="http://schemas.openxmlformats.org/officeDocument/2006/relationships/hyperlink" Target="https://youtu.be/o92kXQzd9Yc" TargetMode="External"/><Relationship Id="rId6" Type="http://schemas.openxmlformats.org/officeDocument/2006/relationships/image" Target="../media/image25.png"/><Relationship Id="rId7" Type="http://schemas.openxmlformats.org/officeDocument/2006/relationships/image" Target="../media/image6.png"/><Relationship Id="rId8" Type="http://schemas.openxmlformats.org/officeDocument/2006/relationships/hyperlink" Target="https://wilaebaelectronica.blogspot.com/2017/01/decodificador-binario-a-bcd-de-4-bits.htm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a0cc3010b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a0cc3010b5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TUTOR: </a:t>
            </a:r>
            <a:endParaRPr/>
          </a:p>
        </p:txBody>
      </p:sp>
      <p:sp>
        <p:nvSpPr>
          <p:cNvPr id="86" name="Google Shape;86;g3a0cc3010b5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Organización Computacional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a0cc3010b5_0_0"/>
          <p:cNvSpPr/>
          <p:nvPr/>
        </p:nvSpPr>
        <p:spPr>
          <a:xfrm>
            <a:off x="13640938" y="1924978"/>
            <a:ext cx="4396200" cy="83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a0cc3010b5_0_0"/>
          <p:cNvSpPr/>
          <p:nvPr/>
        </p:nvSpPr>
        <p:spPr>
          <a:xfrm>
            <a:off x="13640938" y="2757947"/>
            <a:ext cx="4396200" cy="83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10077268" y="1605137"/>
            <a:ext cx="7076727" cy="7076727"/>
          </a:xfrm>
          <a:custGeom>
            <a:rect b="b" l="l" r="r" t="t"/>
            <a:pathLst>
              <a:path extrusionOk="0" h="812800" w="812800">
                <a:moveTo>
                  <a:pt x="583958" y="9283"/>
                </a:moveTo>
                <a:lnTo>
                  <a:pt x="803517" y="228842"/>
                </a:lnTo>
                <a:cubicBezTo>
                  <a:pt x="809461" y="234786"/>
                  <a:pt x="812800" y="242847"/>
                  <a:pt x="812800" y="251253"/>
                </a:cubicBezTo>
                <a:lnTo>
                  <a:pt x="812800" y="561547"/>
                </a:lnTo>
                <a:cubicBezTo>
                  <a:pt x="812800" y="569953"/>
                  <a:pt x="809461" y="578014"/>
                  <a:pt x="803517" y="583958"/>
                </a:cubicBezTo>
                <a:lnTo>
                  <a:pt x="583958" y="803517"/>
                </a:lnTo>
                <a:cubicBezTo>
                  <a:pt x="578014" y="809461"/>
                  <a:pt x="569953" y="812800"/>
                  <a:pt x="561547" y="812800"/>
                </a:cubicBezTo>
                <a:lnTo>
                  <a:pt x="251253" y="812800"/>
                </a:lnTo>
                <a:cubicBezTo>
                  <a:pt x="242847" y="812800"/>
                  <a:pt x="234786" y="809461"/>
                  <a:pt x="228842" y="803517"/>
                </a:cubicBezTo>
                <a:lnTo>
                  <a:pt x="9283" y="583958"/>
                </a:lnTo>
                <a:cubicBezTo>
                  <a:pt x="3339" y="578014"/>
                  <a:pt x="0" y="569953"/>
                  <a:pt x="0" y="561547"/>
                </a:cubicBezTo>
                <a:lnTo>
                  <a:pt x="0" y="251253"/>
                </a:lnTo>
                <a:cubicBezTo>
                  <a:pt x="0" y="242847"/>
                  <a:pt x="3339" y="234786"/>
                  <a:pt x="9283" y="228842"/>
                </a:cubicBezTo>
                <a:lnTo>
                  <a:pt x="228842" y="9283"/>
                </a:lnTo>
                <a:cubicBezTo>
                  <a:pt x="234786" y="3339"/>
                  <a:pt x="242847" y="0"/>
                  <a:pt x="251253" y="0"/>
                </a:cubicBezTo>
                <a:lnTo>
                  <a:pt x="561547" y="0"/>
                </a:lnTo>
                <a:cubicBezTo>
                  <a:pt x="569953" y="0"/>
                  <a:pt x="578014" y="3339"/>
                  <a:pt x="583958" y="9283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5043" r="-25041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 rot="10800000">
            <a:off x="1133760" y="4709367"/>
            <a:ext cx="6929599" cy="1049091"/>
            <a:chOff x="0" y="-47625"/>
            <a:chExt cx="1825080" cy="276304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1825079" cy="228679"/>
            </a:xfrm>
            <a:custGeom>
              <a:rect b="b" l="l" r="r" t="t"/>
              <a:pathLst>
                <a:path extrusionOk="0" h="228679" w="1825079">
                  <a:moveTo>
                    <a:pt x="13407" y="0"/>
                  </a:moveTo>
                  <a:lnTo>
                    <a:pt x="1811673" y="0"/>
                  </a:lnTo>
                  <a:cubicBezTo>
                    <a:pt x="1815229" y="0"/>
                    <a:pt x="1818639" y="1412"/>
                    <a:pt x="1821153" y="3927"/>
                  </a:cubicBezTo>
                  <a:cubicBezTo>
                    <a:pt x="1823667" y="6441"/>
                    <a:pt x="1825079" y="9851"/>
                    <a:pt x="1825079" y="13407"/>
                  </a:cubicBezTo>
                  <a:lnTo>
                    <a:pt x="1825079" y="215272"/>
                  </a:lnTo>
                  <a:cubicBezTo>
                    <a:pt x="1825079" y="218828"/>
                    <a:pt x="1823667" y="222238"/>
                    <a:pt x="1821153" y="224752"/>
                  </a:cubicBezTo>
                  <a:cubicBezTo>
                    <a:pt x="1818639" y="227266"/>
                    <a:pt x="1815229" y="228679"/>
                    <a:pt x="1811673" y="228679"/>
                  </a:cubicBezTo>
                  <a:lnTo>
                    <a:pt x="13407" y="228679"/>
                  </a:lnTo>
                  <a:cubicBezTo>
                    <a:pt x="9851" y="228679"/>
                    <a:pt x="6441" y="227266"/>
                    <a:pt x="3927" y="224752"/>
                  </a:cubicBezTo>
                  <a:cubicBezTo>
                    <a:pt x="1412" y="222238"/>
                    <a:pt x="0" y="218828"/>
                    <a:pt x="0" y="215272"/>
                  </a:cubicBezTo>
                  <a:lnTo>
                    <a:pt x="0" y="13407"/>
                  </a:lnTo>
                  <a:cubicBezTo>
                    <a:pt x="0" y="9851"/>
                    <a:pt x="1412" y="6441"/>
                    <a:pt x="3927" y="3927"/>
                  </a:cubicBezTo>
                  <a:cubicBezTo>
                    <a:pt x="6441" y="1412"/>
                    <a:pt x="9851" y="0"/>
                    <a:pt x="13407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0" y="-47625"/>
              <a:ext cx="1825080" cy="27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1876401" y="373368"/>
            <a:ext cx="1154875" cy="602137"/>
          </a:xfrm>
          <a:custGeom>
            <a:rect b="b" l="l" r="r" t="t"/>
            <a:pathLst>
              <a:path extrusionOk="0" h="602137" w="1154875">
                <a:moveTo>
                  <a:pt x="0" y="0"/>
                </a:moveTo>
                <a:lnTo>
                  <a:pt x="1154875" y="0"/>
                </a:lnTo>
                <a:lnTo>
                  <a:pt x="1154875" y="602138"/>
                </a:lnTo>
                <a:lnTo>
                  <a:pt x="0" y="602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>
            <a:off x="16741925" y="7190910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1" name="Google Shape;101;p1"/>
          <p:cNvCxnSpPr/>
          <p:nvPr/>
        </p:nvCxnSpPr>
        <p:spPr>
          <a:xfrm>
            <a:off x="-499881" y="8620176"/>
            <a:ext cx="10500515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"/>
          <p:cNvSpPr/>
          <p:nvPr/>
        </p:nvSpPr>
        <p:spPr>
          <a:xfrm flipH="1">
            <a:off x="1493974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"/>
          <p:cNvSpPr txBox="1"/>
          <p:nvPr/>
        </p:nvSpPr>
        <p:spPr>
          <a:xfrm>
            <a:off x="1133760" y="2046483"/>
            <a:ext cx="7650026" cy="249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48"/>
              <a:buFont typeface="Arial"/>
              <a:buNone/>
            </a:pPr>
            <a:r>
              <a:rPr b="1" i="0" lang="en-US" sz="7148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Diseño de Lógica Combinacional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3031276" y="431277"/>
            <a:ext cx="6312270" cy="438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3"/>
              <a:buFont typeface="Arial"/>
              <a:buNone/>
            </a:pPr>
            <a:r>
              <a:rPr b="1" i="0" lang="en-US" sz="2603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ORGANIZACIÓN COMPUTACIONAL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487613" y="4804939"/>
            <a:ext cx="6085853" cy="639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1"/>
              <a:buFont typeface="Arial"/>
              <a:buNone/>
            </a:pPr>
            <a:r>
              <a:rPr b="0" i="0" lang="en-US" sz="184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COMPARADORES - MULTIPLEXORES - DEMULTIPLEXORES - CONVERSIÓN BINARIA A BCD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6873491" y="8911560"/>
            <a:ext cx="2572058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Auxiliar: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2512535" y="8902065"/>
            <a:ext cx="3621185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Sección: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12607325" y="8930674"/>
            <a:ext cx="54969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Facultad de 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>
            <a:off x="-1219741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 rot="10800000">
            <a:off x="16580047" y="8051306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6" name="Google Shape;116;p2"/>
          <p:cNvGrpSpPr/>
          <p:nvPr/>
        </p:nvGrpSpPr>
        <p:grpSpPr>
          <a:xfrm>
            <a:off x="1432681" y="865325"/>
            <a:ext cx="15643737" cy="8343127"/>
            <a:chOff x="0" y="-38100"/>
            <a:chExt cx="4120161" cy="2197367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4120161" cy="2159267"/>
            </a:xfrm>
            <a:custGeom>
              <a:rect b="b" l="l" r="r" t="t"/>
              <a:pathLst>
                <a:path extrusionOk="0" h="2159267" w="4120161">
                  <a:moveTo>
                    <a:pt x="14847" y="0"/>
                  </a:moveTo>
                  <a:lnTo>
                    <a:pt x="4105315" y="0"/>
                  </a:lnTo>
                  <a:cubicBezTo>
                    <a:pt x="4109252" y="0"/>
                    <a:pt x="4113028" y="1564"/>
                    <a:pt x="4115813" y="4348"/>
                  </a:cubicBezTo>
                  <a:cubicBezTo>
                    <a:pt x="4118597" y="7133"/>
                    <a:pt x="4120161" y="10909"/>
                    <a:pt x="4120161" y="14847"/>
                  </a:cubicBezTo>
                  <a:lnTo>
                    <a:pt x="4120161" y="2144420"/>
                  </a:lnTo>
                  <a:cubicBezTo>
                    <a:pt x="4120161" y="2152620"/>
                    <a:pt x="4113514" y="2159267"/>
                    <a:pt x="4105315" y="2159267"/>
                  </a:cubicBezTo>
                  <a:lnTo>
                    <a:pt x="14847" y="2159267"/>
                  </a:lnTo>
                  <a:cubicBezTo>
                    <a:pt x="10909" y="2159267"/>
                    <a:pt x="7133" y="2157703"/>
                    <a:pt x="4348" y="2154918"/>
                  </a:cubicBezTo>
                  <a:cubicBezTo>
                    <a:pt x="1564" y="2152134"/>
                    <a:pt x="0" y="2148358"/>
                    <a:pt x="0" y="2144420"/>
                  </a:cubicBezTo>
                  <a:lnTo>
                    <a:pt x="0" y="14847"/>
                  </a:lnTo>
                  <a:cubicBezTo>
                    <a:pt x="0" y="10909"/>
                    <a:pt x="1564" y="7133"/>
                    <a:pt x="4348" y="4348"/>
                  </a:cubicBezTo>
                  <a:cubicBezTo>
                    <a:pt x="7133" y="1564"/>
                    <a:pt x="10909" y="0"/>
                    <a:pt x="148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38100"/>
              <a:ext cx="4120161" cy="2197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467877" y="9704189"/>
            <a:ext cx="17352246" cy="921017"/>
            <a:chOff x="0" y="-38100"/>
            <a:chExt cx="4570139" cy="242572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4570139" cy="204472"/>
            </a:xfrm>
            <a:custGeom>
              <a:rect b="b" l="l" r="r" t="t"/>
              <a:pathLst>
                <a:path extrusionOk="0" h="204472" w="4570139">
                  <a:moveTo>
                    <a:pt x="13385" y="0"/>
                  </a:moveTo>
                  <a:lnTo>
                    <a:pt x="4556754" y="0"/>
                  </a:lnTo>
                  <a:cubicBezTo>
                    <a:pt x="4560304" y="0"/>
                    <a:pt x="4563708" y="1410"/>
                    <a:pt x="4566219" y="3920"/>
                  </a:cubicBezTo>
                  <a:cubicBezTo>
                    <a:pt x="4568729" y="6430"/>
                    <a:pt x="4570139" y="9835"/>
                    <a:pt x="4570139" y="13385"/>
                  </a:cubicBezTo>
                  <a:lnTo>
                    <a:pt x="4570139" y="191088"/>
                  </a:lnTo>
                  <a:cubicBezTo>
                    <a:pt x="4570139" y="198480"/>
                    <a:pt x="4564146" y="204472"/>
                    <a:pt x="4556754" y="204472"/>
                  </a:cubicBezTo>
                  <a:lnTo>
                    <a:pt x="13385" y="204472"/>
                  </a:lnTo>
                  <a:cubicBezTo>
                    <a:pt x="9835" y="204472"/>
                    <a:pt x="6430" y="203062"/>
                    <a:pt x="3920" y="200552"/>
                  </a:cubicBezTo>
                  <a:cubicBezTo>
                    <a:pt x="1410" y="198042"/>
                    <a:pt x="0" y="194637"/>
                    <a:pt x="0" y="191088"/>
                  </a:cubicBezTo>
                  <a:lnTo>
                    <a:pt x="0" y="13385"/>
                  </a:lnTo>
                  <a:cubicBezTo>
                    <a:pt x="0" y="9835"/>
                    <a:pt x="1410" y="6430"/>
                    <a:pt x="3920" y="3920"/>
                  </a:cubicBezTo>
                  <a:cubicBezTo>
                    <a:pt x="6430" y="1410"/>
                    <a:pt x="9835" y="0"/>
                    <a:pt x="13385" y="0"/>
                  </a:cubicBezTo>
                  <a:close/>
                </a:path>
              </a:pathLst>
            </a:custGeom>
            <a:gradFill>
              <a:gsLst>
                <a:gs pos="0">
                  <a:srgbClr val="064E99"/>
                </a:gs>
                <a:gs pos="50000">
                  <a:srgbClr val="7194CD"/>
                </a:gs>
                <a:gs pos="100000">
                  <a:srgbClr val="CBDF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0" y="-38100"/>
              <a:ext cx="4570139" cy="242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2"/>
          <p:cNvSpPr/>
          <p:nvPr/>
        </p:nvSpPr>
        <p:spPr>
          <a:xfrm>
            <a:off x="4642596" y="2506805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10336941" y="2506805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4642596" y="3699668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10336941" y="3699668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4642596" y="4892531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10336941" y="4892531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4642596" y="6085394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10336941" y="6085394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4642596" y="7283519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0336941" y="7283519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2"/>
          <p:cNvGrpSpPr/>
          <p:nvPr/>
        </p:nvGrpSpPr>
        <p:grpSpPr>
          <a:xfrm>
            <a:off x="12604079" y="485509"/>
            <a:ext cx="6180159" cy="1173994"/>
            <a:chOff x="0" y="-47625"/>
            <a:chExt cx="1627696" cy="309200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627696" cy="261575"/>
            </a:xfrm>
            <a:custGeom>
              <a:rect b="b" l="l" r="r" t="t"/>
              <a:pathLst>
                <a:path extrusionOk="0" h="261575" w="1627696">
                  <a:moveTo>
                    <a:pt x="25054" y="0"/>
                  </a:moveTo>
                  <a:lnTo>
                    <a:pt x="1602642" y="0"/>
                  </a:lnTo>
                  <a:cubicBezTo>
                    <a:pt x="1616479" y="0"/>
                    <a:pt x="1627696" y="11217"/>
                    <a:pt x="1627696" y="25054"/>
                  </a:cubicBezTo>
                  <a:lnTo>
                    <a:pt x="1627696" y="236521"/>
                  </a:lnTo>
                  <a:cubicBezTo>
                    <a:pt x="1627696" y="250358"/>
                    <a:pt x="1616479" y="261575"/>
                    <a:pt x="1602642" y="261575"/>
                  </a:cubicBezTo>
                  <a:lnTo>
                    <a:pt x="25054" y="261575"/>
                  </a:lnTo>
                  <a:cubicBezTo>
                    <a:pt x="11217" y="261575"/>
                    <a:pt x="0" y="250358"/>
                    <a:pt x="0" y="236521"/>
                  </a:cubicBezTo>
                  <a:lnTo>
                    <a:pt x="0" y="25054"/>
                  </a:lnTo>
                  <a:cubicBezTo>
                    <a:pt x="0" y="11217"/>
                    <a:pt x="11217" y="0"/>
                    <a:pt x="25054" y="0"/>
                  </a:cubicBezTo>
                  <a:close/>
                </a:path>
              </a:pathLst>
            </a:custGeom>
            <a:solidFill>
              <a:srgbClr val="3165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47625"/>
              <a:ext cx="1627696" cy="3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5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16165519" y="954273"/>
            <a:ext cx="800350" cy="417292"/>
          </a:xfrm>
          <a:custGeom>
            <a:rect b="b" l="l" r="r" t="t"/>
            <a:pathLst>
              <a:path extrusionOk="0" h="417292" w="800350">
                <a:moveTo>
                  <a:pt x="0" y="0"/>
                </a:moveTo>
                <a:lnTo>
                  <a:pt x="800349" y="0"/>
                </a:lnTo>
                <a:lnTo>
                  <a:pt x="800349" y="417292"/>
                </a:lnTo>
                <a:lnTo>
                  <a:pt x="0" y="417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2"/>
          <p:cNvSpPr/>
          <p:nvPr/>
        </p:nvSpPr>
        <p:spPr>
          <a:xfrm>
            <a:off x="9950921" y="13205125"/>
            <a:ext cx="800350" cy="417292"/>
          </a:xfrm>
          <a:custGeom>
            <a:rect b="b" l="l" r="r" t="t"/>
            <a:pathLst>
              <a:path extrusionOk="0" h="417292" w="800350">
                <a:moveTo>
                  <a:pt x="0" y="0"/>
                </a:moveTo>
                <a:lnTo>
                  <a:pt x="800350" y="0"/>
                </a:lnTo>
                <a:lnTo>
                  <a:pt x="800350" y="417292"/>
                </a:lnTo>
                <a:lnTo>
                  <a:pt x="0" y="417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2"/>
          <p:cNvSpPr txBox="1"/>
          <p:nvPr/>
        </p:nvSpPr>
        <p:spPr>
          <a:xfrm>
            <a:off x="4848734" y="2672819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2"/>
              <a:buFont typeface="Arial"/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10543079" y="2672819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2"/>
              <a:buFont typeface="Arial"/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4848734" y="3865682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2"/>
              <a:buFont typeface="Arial"/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10543079" y="3865682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2"/>
              <a:buFont typeface="Arial"/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4848734" y="5058546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2"/>
              <a:buFont typeface="Arial"/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10543079" y="5058546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2"/>
              <a:buFont typeface="Arial"/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4848734" y="6251409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2"/>
              <a:buFont typeface="Arial"/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10543079" y="6251409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2"/>
              <a:buFont typeface="Arial"/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4848734" y="7449534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2"/>
              <a:buFont typeface="Arial"/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0543079" y="7449534"/>
            <a:ext cx="579411" cy="519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2"/>
              <a:buFont typeface="Arial"/>
              <a:buNone/>
            </a:pPr>
            <a:r>
              <a:rPr b="1" i="0" lang="en-US" sz="3052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5831968" y="2789312"/>
            <a:ext cx="3098900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0"/>
              <a:buFont typeface="Arial"/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Introducción al 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11521713" y="2616128"/>
            <a:ext cx="30990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0"/>
              <a:buFont typeface="Arial"/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Posible lectura de la práctica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5831968" y="3928691"/>
            <a:ext cx="3848430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0"/>
              <a:buFont typeface="Arial"/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Comparadores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1526313" y="3928691"/>
            <a:ext cx="3794303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0"/>
              <a:buFont typeface="Arial"/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Videos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5831968" y="5121555"/>
            <a:ext cx="3098900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0"/>
              <a:buFont typeface="Arial"/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Multiplexores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1526313" y="5121555"/>
            <a:ext cx="3442564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0"/>
              <a:buFont typeface="Arial"/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Lectura explicativa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5831968" y="6314418"/>
            <a:ext cx="3098900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0"/>
              <a:buFont typeface="Arial"/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Demultiplexores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1521734" y="6367902"/>
            <a:ext cx="3098900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0"/>
              <a:buFont typeface="Arial"/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Prueba corta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831968" y="7512543"/>
            <a:ext cx="3098900" cy="818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0"/>
              <a:buFont typeface="Arial"/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Conversión Binario a BCD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11526313" y="7512543"/>
            <a:ext cx="3442564" cy="40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0"/>
              <a:buFont typeface="Arial"/>
              <a:buNone/>
            </a:pPr>
            <a:r>
              <a:rPr b="1" i="0" lang="en-US" sz="2370" u="none" cap="none" strike="noStrike">
                <a:solidFill>
                  <a:srgbClr val="0B1B4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12714628" y="981411"/>
            <a:ext cx="3519131" cy="272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9"/>
              <a:buFont typeface="Arial"/>
              <a:buNone/>
            </a:pPr>
            <a:r>
              <a:rPr b="1" i="0" lang="en-US" sz="1659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ORGANIZACIÓN COMPUTACIONAL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 rot="-5400000">
            <a:off x="-368621" y="4517707"/>
            <a:ext cx="6548803" cy="1251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50"/>
              <a:buFont typeface="Arial"/>
              <a:buNone/>
            </a:pPr>
            <a:r>
              <a:rPr b="1" i="0" lang="en-US" sz="7350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" name="Google Shape;159;p2"/>
          <p:cNvGrpSpPr/>
          <p:nvPr/>
        </p:nvGrpSpPr>
        <p:grpSpPr>
          <a:xfrm>
            <a:off x="10896259" y="8011261"/>
            <a:ext cx="6180159" cy="1173994"/>
            <a:chOff x="0" y="-47625"/>
            <a:chExt cx="1627696" cy="309200"/>
          </a:xfrm>
        </p:grpSpPr>
        <p:sp>
          <p:nvSpPr>
            <p:cNvPr id="160" name="Google Shape;160;p2"/>
            <p:cNvSpPr/>
            <p:nvPr/>
          </p:nvSpPr>
          <p:spPr>
            <a:xfrm>
              <a:off x="0" y="0"/>
              <a:ext cx="1627696" cy="261575"/>
            </a:xfrm>
            <a:custGeom>
              <a:rect b="b" l="l" r="r" t="t"/>
              <a:pathLst>
                <a:path extrusionOk="0" h="261575" w="1627696">
                  <a:moveTo>
                    <a:pt x="25054" y="0"/>
                  </a:moveTo>
                  <a:lnTo>
                    <a:pt x="1602642" y="0"/>
                  </a:lnTo>
                  <a:cubicBezTo>
                    <a:pt x="1616479" y="0"/>
                    <a:pt x="1627696" y="11217"/>
                    <a:pt x="1627696" y="25054"/>
                  </a:cubicBezTo>
                  <a:lnTo>
                    <a:pt x="1627696" y="236521"/>
                  </a:lnTo>
                  <a:cubicBezTo>
                    <a:pt x="1627696" y="250358"/>
                    <a:pt x="1616479" y="261575"/>
                    <a:pt x="1602642" y="261575"/>
                  </a:cubicBezTo>
                  <a:lnTo>
                    <a:pt x="25054" y="261575"/>
                  </a:lnTo>
                  <a:cubicBezTo>
                    <a:pt x="11217" y="261575"/>
                    <a:pt x="0" y="250358"/>
                    <a:pt x="0" y="236521"/>
                  </a:cubicBezTo>
                  <a:lnTo>
                    <a:pt x="0" y="25054"/>
                  </a:lnTo>
                  <a:cubicBezTo>
                    <a:pt x="0" y="11217"/>
                    <a:pt x="11217" y="0"/>
                    <a:pt x="25054" y="0"/>
                  </a:cubicBezTo>
                  <a:close/>
                </a:path>
              </a:pathLst>
            </a:custGeom>
            <a:solidFill>
              <a:srgbClr val="3165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 txBox="1"/>
            <p:nvPr/>
          </p:nvSpPr>
          <p:spPr>
            <a:xfrm>
              <a:off x="0" y="-47625"/>
              <a:ext cx="1627696" cy="3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0"/>
                <a:buFont typeface="Arial"/>
                <a:buNone/>
              </a:pPr>
              <a:r>
                <a:rPr b="1" i="0" lang="en-US" sz="2390" u="none" cap="none" strike="noStrike">
                  <a:solidFill>
                    <a:srgbClr val="FFFFFF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Agregar el Link de lo que se requiera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grpSp>
        <p:nvGrpSpPr>
          <p:cNvPr id="167" name="Google Shape;167;p3"/>
          <p:cNvGrpSpPr/>
          <p:nvPr/>
        </p:nvGrpSpPr>
        <p:grpSpPr>
          <a:xfrm>
            <a:off x="1627167" y="2335498"/>
            <a:ext cx="6918365" cy="5386289"/>
            <a:chOff x="0" y="-192881"/>
            <a:chExt cx="9224487" cy="7181718"/>
          </a:xfrm>
        </p:grpSpPr>
        <p:grpSp>
          <p:nvGrpSpPr>
            <p:cNvPr id="168" name="Google Shape;168;p3"/>
            <p:cNvGrpSpPr/>
            <p:nvPr/>
          </p:nvGrpSpPr>
          <p:grpSpPr>
            <a:xfrm rot="10800000">
              <a:off x="0" y="4514158"/>
              <a:ext cx="9224487" cy="2474679"/>
              <a:chOff x="0" y="-38100"/>
              <a:chExt cx="1822121" cy="488826"/>
            </a:xfrm>
          </p:grpSpPr>
          <p:sp>
            <p:nvSpPr>
              <p:cNvPr id="169" name="Google Shape;169;p3"/>
              <p:cNvSpPr/>
              <p:nvPr/>
            </p:nvSpPr>
            <p:spPr>
              <a:xfrm>
                <a:off x="0" y="0"/>
                <a:ext cx="1822121" cy="450726"/>
              </a:xfrm>
              <a:custGeom>
                <a:rect b="b" l="l" r="r" t="t"/>
                <a:pathLst>
                  <a:path extrusionOk="0"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3"/>
              <p:cNvSpPr txBox="1"/>
              <p:nvPr/>
            </p:nvSpPr>
            <p:spPr>
              <a:xfrm>
                <a:off x="0" y="-38100"/>
                <a:ext cx="1822121" cy="488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" name="Google Shape;171;p3"/>
            <p:cNvGrpSpPr/>
            <p:nvPr/>
          </p:nvGrpSpPr>
          <p:grpSpPr>
            <a:xfrm>
              <a:off x="0" y="-192881"/>
              <a:ext cx="9224487" cy="6516913"/>
              <a:chOff x="0" y="-38100"/>
              <a:chExt cx="1822121" cy="1287291"/>
            </a:xfrm>
          </p:grpSpPr>
          <p:sp>
            <p:nvSpPr>
              <p:cNvPr id="172" name="Google Shape;172;p3"/>
              <p:cNvSpPr/>
              <p:nvPr/>
            </p:nvSpPr>
            <p:spPr>
              <a:xfrm>
                <a:off x="0" y="0"/>
                <a:ext cx="1822121" cy="1249191"/>
              </a:xfrm>
              <a:custGeom>
                <a:rect b="b" l="l" r="r" t="t"/>
                <a:pathLst>
                  <a:path extrusionOk="0"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3"/>
              <p:cNvSpPr txBox="1"/>
              <p:nvPr/>
            </p:nvSpPr>
            <p:spPr>
              <a:xfrm>
                <a:off x="0" y="-38100"/>
                <a:ext cx="1822121" cy="1287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4" name="Google Shape;174;p3"/>
          <p:cNvGrpSpPr/>
          <p:nvPr/>
        </p:nvGrpSpPr>
        <p:grpSpPr>
          <a:xfrm>
            <a:off x="9742467" y="2335498"/>
            <a:ext cx="6918365" cy="5386289"/>
            <a:chOff x="0" y="-192881"/>
            <a:chExt cx="9224487" cy="7181718"/>
          </a:xfrm>
        </p:grpSpPr>
        <p:grpSp>
          <p:nvGrpSpPr>
            <p:cNvPr id="175" name="Google Shape;175;p3"/>
            <p:cNvGrpSpPr/>
            <p:nvPr/>
          </p:nvGrpSpPr>
          <p:grpSpPr>
            <a:xfrm rot="10800000">
              <a:off x="0" y="4514158"/>
              <a:ext cx="9224487" cy="2474679"/>
              <a:chOff x="0" y="-38100"/>
              <a:chExt cx="1822121" cy="488826"/>
            </a:xfrm>
          </p:grpSpPr>
          <p:sp>
            <p:nvSpPr>
              <p:cNvPr id="176" name="Google Shape;176;p3"/>
              <p:cNvSpPr/>
              <p:nvPr/>
            </p:nvSpPr>
            <p:spPr>
              <a:xfrm>
                <a:off x="0" y="0"/>
                <a:ext cx="1822121" cy="450726"/>
              </a:xfrm>
              <a:custGeom>
                <a:rect b="b" l="l" r="r" t="t"/>
                <a:pathLst>
                  <a:path extrusionOk="0"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3"/>
              <p:cNvSpPr txBox="1"/>
              <p:nvPr/>
            </p:nvSpPr>
            <p:spPr>
              <a:xfrm>
                <a:off x="0" y="-38100"/>
                <a:ext cx="1822121" cy="488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" name="Google Shape;178;p3"/>
            <p:cNvGrpSpPr/>
            <p:nvPr/>
          </p:nvGrpSpPr>
          <p:grpSpPr>
            <a:xfrm>
              <a:off x="0" y="-192881"/>
              <a:ext cx="9224487" cy="6516913"/>
              <a:chOff x="0" y="-38100"/>
              <a:chExt cx="1822121" cy="1287291"/>
            </a:xfrm>
          </p:grpSpPr>
          <p:sp>
            <p:nvSpPr>
              <p:cNvPr id="179" name="Google Shape;179;p3"/>
              <p:cNvSpPr/>
              <p:nvPr/>
            </p:nvSpPr>
            <p:spPr>
              <a:xfrm>
                <a:off x="0" y="0"/>
                <a:ext cx="1822121" cy="1249191"/>
              </a:xfrm>
              <a:custGeom>
                <a:rect b="b" l="l" r="r" t="t"/>
                <a:pathLst>
                  <a:path extrusionOk="0"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3"/>
              <p:cNvSpPr txBox="1"/>
              <p:nvPr/>
            </p:nvSpPr>
            <p:spPr>
              <a:xfrm>
                <a:off x="0" y="-38100"/>
                <a:ext cx="1822121" cy="1287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1" name="Google Shape;181;p3"/>
          <p:cNvGrpSpPr/>
          <p:nvPr/>
        </p:nvGrpSpPr>
        <p:grpSpPr>
          <a:xfrm>
            <a:off x="3163753" y="1714145"/>
            <a:ext cx="3845195" cy="1421585"/>
            <a:chOff x="0" y="-47625"/>
            <a:chExt cx="1626539" cy="601338"/>
          </a:xfrm>
        </p:grpSpPr>
        <p:sp>
          <p:nvSpPr>
            <p:cNvPr id="182" name="Google Shape;182;p3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"/>
            <p:cNvSpPr txBox="1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11279053" y="1714145"/>
            <a:ext cx="3845195" cy="1421585"/>
            <a:chOff x="0" y="-47625"/>
            <a:chExt cx="1626539" cy="601338"/>
          </a:xfrm>
        </p:grpSpPr>
        <p:sp>
          <p:nvSpPr>
            <p:cNvPr id="185" name="Google Shape;185;p3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"/>
            <p:cNvSpPr txBox="1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3"/>
          <p:cNvSpPr txBox="1"/>
          <p:nvPr/>
        </p:nvSpPr>
        <p:spPr>
          <a:xfrm>
            <a:off x="3556665" y="1946195"/>
            <a:ext cx="3059371" cy="1020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5"/>
              <a:buFont typeface="Arial"/>
              <a:buNone/>
            </a:pPr>
            <a:r>
              <a:rPr b="1" i="0" lang="en-US" sz="295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PENSAMIENTO 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11671965" y="2035095"/>
            <a:ext cx="3059371" cy="842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5"/>
              <a:buFont typeface="Arial"/>
              <a:buNone/>
            </a:pPr>
            <a:r>
              <a:rPr b="1" i="0" lang="en-US" sz="245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PENSAMIENTO ANALÍTICO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2005286" y="3271481"/>
            <a:ext cx="6162127" cy="261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Esta competencia se centra en la capacidad de comprender los circuitos lógicos a través del razonamiento lógico para que el estudiante aborde problemas de diseño computacional de forma metódica y estructurada.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9976654" y="3210942"/>
            <a:ext cx="6102552" cy="3489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Esta competencia se centra en la capacidad de diseñar circuitos lógicos a través del análisis de componentes tales como comparadores, multiplexadores, demultiplexadores y la conversión de binario a BCD. Se busca fortalecer el razonamiento analítico para la resolución de situaciones complejas.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3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3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3" name="Google Shape;193;p3"/>
          <p:cNvGrpSpPr/>
          <p:nvPr/>
        </p:nvGrpSpPr>
        <p:grpSpPr>
          <a:xfrm>
            <a:off x="7221403" y="96550"/>
            <a:ext cx="3845195" cy="1421585"/>
            <a:chOff x="0" y="-47625"/>
            <a:chExt cx="1626539" cy="601338"/>
          </a:xfrm>
        </p:grpSpPr>
        <p:sp>
          <p:nvSpPr>
            <p:cNvPr id="194" name="Google Shape;194;p3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"/>
            <p:cNvSpPr txBox="1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3"/>
          <p:cNvSpPr txBox="1"/>
          <p:nvPr/>
        </p:nvSpPr>
        <p:spPr>
          <a:xfrm>
            <a:off x="7614315" y="329671"/>
            <a:ext cx="3059371" cy="1020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5"/>
              <a:buFont typeface="Arial"/>
              <a:buNone/>
            </a:pPr>
            <a:r>
              <a:rPr b="1" i="0" lang="en-US" sz="295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COMPETENCIAS A DESARROLLAR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sp>
        <p:nvSpPr>
          <p:cNvPr id="202" name="Google Shape;202;p4"/>
          <p:cNvSpPr/>
          <p:nvPr/>
        </p:nvSpPr>
        <p:spPr>
          <a:xfrm>
            <a:off x="9950921" y="13205125"/>
            <a:ext cx="800350" cy="417292"/>
          </a:xfrm>
          <a:custGeom>
            <a:rect b="b" l="l" r="r" t="t"/>
            <a:pathLst>
              <a:path extrusionOk="0" h="417292" w="800350">
                <a:moveTo>
                  <a:pt x="0" y="0"/>
                </a:moveTo>
                <a:lnTo>
                  <a:pt x="800350" y="0"/>
                </a:lnTo>
                <a:lnTo>
                  <a:pt x="800350" y="417292"/>
                </a:lnTo>
                <a:lnTo>
                  <a:pt x="0" y="417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4"/>
          <p:cNvGrpSpPr/>
          <p:nvPr/>
        </p:nvGrpSpPr>
        <p:grpSpPr>
          <a:xfrm>
            <a:off x="1890809" y="1833808"/>
            <a:ext cx="14506381" cy="6071234"/>
            <a:chOff x="0" y="-192881"/>
            <a:chExt cx="19341841" cy="8094978"/>
          </a:xfrm>
        </p:grpSpPr>
        <p:grpSp>
          <p:nvGrpSpPr>
            <p:cNvPr id="204" name="Google Shape;204;p4"/>
            <p:cNvGrpSpPr/>
            <p:nvPr/>
          </p:nvGrpSpPr>
          <p:grpSpPr>
            <a:xfrm>
              <a:off x="0" y="330683"/>
              <a:ext cx="1331591" cy="7047850"/>
              <a:chOff x="0" y="-38100"/>
              <a:chExt cx="263030" cy="1392168"/>
            </a:xfrm>
          </p:grpSpPr>
          <p:sp>
            <p:nvSpPr>
              <p:cNvPr id="205" name="Google Shape;205;p4"/>
              <p:cNvSpPr/>
              <p:nvPr/>
            </p:nvSpPr>
            <p:spPr>
              <a:xfrm>
                <a:off x="0" y="0"/>
                <a:ext cx="263030" cy="1354068"/>
              </a:xfrm>
              <a:custGeom>
                <a:rect b="b" l="l" r="r" t="t"/>
                <a:pathLst>
                  <a:path extrusionOk="0" h="1354068" w="263030">
                    <a:moveTo>
                      <a:pt x="131515" y="0"/>
                    </a:moveTo>
                    <a:lnTo>
                      <a:pt x="131515" y="0"/>
                    </a:lnTo>
                    <a:cubicBezTo>
                      <a:pt x="166395" y="0"/>
                      <a:pt x="199847" y="13856"/>
                      <a:pt x="224510" y="38520"/>
                    </a:cubicBezTo>
                    <a:cubicBezTo>
                      <a:pt x="249174" y="63184"/>
                      <a:pt x="263030" y="96635"/>
                      <a:pt x="263030" y="131515"/>
                    </a:cubicBezTo>
                    <a:lnTo>
                      <a:pt x="263030" y="1222553"/>
                    </a:lnTo>
                    <a:cubicBezTo>
                      <a:pt x="263030" y="1257433"/>
                      <a:pt x="249174" y="1290884"/>
                      <a:pt x="224510" y="1315548"/>
                    </a:cubicBezTo>
                    <a:cubicBezTo>
                      <a:pt x="199847" y="1340212"/>
                      <a:pt x="166395" y="1354068"/>
                      <a:pt x="131515" y="1354068"/>
                    </a:cubicBezTo>
                    <a:lnTo>
                      <a:pt x="131515" y="1354068"/>
                    </a:lnTo>
                    <a:cubicBezTo>
                      <a:pt x="96635" y="1354068"/>
                      <a:pt x="63184" y="1340212"/>
                      <a:pt x="38520" y="1315548"/>
                    </a:cubicBezTo>
                    <a:cubicBezTo>
                      <a:pt x="13856" y="1290884"/>
                      <a:pt x="0" y="1257433"/>
                      <a:pt x="0" y="1222553"/>
                    </a:cubicBezTo>
                    <a:lnTo>
                      <a:pt x="0" y="131515"/>
                    </a:lnTo>
                    <a:cubicBezTo>
                      <a:pt x="0" y="96635"/>
                      <a:pt x="13856" y="63184"/>
                      <a:pt x="38520" y="38520"/>
                    </a:cubicBezTo>
                    <a:cubicBezTo>
                      <a:pt x="63184" y="13856"/>
                      <a:pt x="96635" y="0"/>
                      <a:pt x="13151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4"/>
              <p:cNvSpPr txBox="1"/>
              <p:nvPr/>
            </p:nvSpPr>
            <p:spPr>
              <a:xfrm>
                <a:off x="0" y="-38100"/>
                <a:ext cx="263030" cy="1392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4"/>
            <p:cNvGrpSpPr/>
            <p:nvPr/>
          </p:nvGrpSpPr>
          <p:grpSpPr>
            <a:xfrm rot="10800000">
              <a:off x="18010250" y="523564"/>
              <a:ext cx="1331591" cy="7047850"/>
              <a:chOff x="0" y="-38100"/>
              <a:chExt cx="263030" cy="1392168"/>
            </a:xfrm>
          </p:grpSpPr>
          <p:sp>
            <p:nvSpPr>
              <p:cNvPr id="208" name="Google Shape;208;p4"/>
              <p:cNvSpPr/>
              <p:nvPr/>
            </p:nvSpPr>
            <p:spPr>
              <a:xfrm>
                <a:off x="0" y="0"/>
                <a:ext cx="263030" cy="1354068"/>
              </a:xfrm>
              <a:custGeom>
                <a:rect b="b" l="l" r="r" t="t"/>
                <a:pathLst>
                  <a:path extrusionOk="0" h="1354068" w="263030">
                    <a:moveTo>
                      <a:pt x="131515" y="0"/>
                    </a:moveTo>
                    <a:lnTo>
                      <a:pt x="131515" y="0"/>
                    </a:lnTo>
                    <a:cubicBezTo>
                      <a:pt x="166395" y="0"/>
                      <a:pt x="199847" y="13856"/>
                      <a:pt x="224510" y="38520"/>
                    </a:cubicBezTo>
                    <a:cubicBezTo>
                      <a:pt x="249174" y="63184"/>
                      <a:pt x="263030" y="96635"/>
                      <a:pt x="263030" y="131515"/>
                    </a:cubicBezTo>
                    <a:lnTo>
                      <a:pt x="263030" y="1222553"/>
                    </a:lnTo>
                    <a:cubicBezTo>
                      <a:pt x="263030" y="1257433"/>
                      <a:pt x="249174" y="1290884"/>
                      <a:pt x="224510" y="1315548"/>
                    </a:cubicBezTo>
                    <a:cubicBezTo>
                      <a:pt x="199847" y="1340212"/>
                      <a:pt x="166395" y="1354068"/>
                      <a:pt x="131515" y="1354068"/>
                    </a:cubicBezTo>
                    <a:lnTo>
                      <a:pt x="131515" y="1354068"/>
                    </a:lnTo>
                    <a:cubicBezTo>
                      <a:pt x="96635" y="1354068"/>
                      <a:pt x="63184" y="1340212"/>
                      <a:pt x="38520" y="1315548"/>
                    </a:cubicBezTo>
                    <a:cubicBezTo>
                      <a:pt x="13856" y="1290884"/>
                      <a:pt x="0" y="1257433"/>
                      <a:pt x="0" y="1222553"/>
                    </a:cubicBezTo>
                    <a:lnTo>
                      <a:pt x="0" y="131515"/>
                    </a:lnTo>
                    <a:cubicBezTo>
                      <a:pt x="0" y="96635"/>
                      <a:pt x="13856" y="63184"/>
                      <a:pt x="38520" y="38520"/>
                    </a:cubicBezTo>
                    <a:cubicBezTo>
                      <a:pt x="63184" y="13856"/>
                      <a:pt x="96635" y="0"/>
                      <a:pt x="13151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4"/>
              <p:cNvSpPr txBox="1"/>
              <p:nvPr/>
            </p:nvSpPr>
            <p:spPr>
              <a:xfrm>
                <a:off x="0" y="-38100"/>
                <a:ext cx="263030" cy="1392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4"/>
            <p:cNvGrpSpPr/>
            <p:nvPr/>
          </p:nvGrpSpPr>
          <p:grpSpPr>
            <a:xfrm>
              <a:off x="439765" y="-192881"/>
              <a:ext cx="18464880" cy="8094978"/>
              <a:chOff x="0" y="-38100"/>
              <a:chExt cx="3647384" cy="1599008"/>
            </a:xfrm>
          </p:grpSpPr>
          <p:sp>
            <p:nvSpPr>
              <p:cNvPr id="211" name="Google Shape;211;p4"/>
              <p:cNvSpPr/>
              <p:nvPr/>
            </p:nvSpPr>
            <p:spPr>
              <a:xfrm>
                <a:off x="0" y="0"/>
                <a:ext cx="3647384" cy="1560908"/>
              </a:xfrm>
              <a:custGeom>
                <a:rect b="b" l="l" r="r" t="t"/>
                <a:pathLst>
                  <a:path extrusionOk="0" h="1560908" w="3647384">
                    <a:moveTo>
                      <a:pt x="16771" y="0"/>
                    </a:moveTo>
                    <a:lnTo>
                      <a:pt x="3630613" y="0"/>
                    </a:lnTo>
                    <a:cubicBezTo>
                      <a:pt x="3639875" y="0"/>
                      <a:pt x="3647384" y="7509"/>
                      <a:pt x="3647384" y="16771"/>
                    </a:cubicBezTo>
                    <a:lnTo>
                      <a:pt x="3647384" y="1544137"/>
                    </a:lnTo>
                    <a:cubicBezTo>
                      <a:pt x="3647384" y="1553399"/>
                      <a:pt x="3639875" y="1560908"/>
                      <a:pt x="3630613" y="1560908"/>
                    </a:cubicBezTo>
                    <a:lnTo>
                      <a:pt x="16771" y="1560908"/>
                    </a:lnTo>
                    <a:cubicBezTo>
                      <a:pt x="7509" y="1560908"/>
                      <a:pt x="0" y="1553399"/>
                      <a:pt x="0" y="1544137"/>
                    </a:cubicBezTo>
                    <a:lnTo>
                      <a:pt x="0" y="16771"/>
                    </a:lnTo>
                    <a:cubicBezTo>
                      <a:pt x="0" y="7509"/>
                      <a:pt x="7509" y="0"/>
                      <a:pt x="167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4"/>
              <p:cNvSpPr txBox="1"/>
              <p:nvPr/>
            </p:nvSpPr>
            <p:spPr>
              <a:xfrm>
                <a:off x="0" y="-38100"/>
                <a:ext cx="3647384" cy="159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3" name="Google Shape;213;p4"/>
          <p:cNvGrpSpPr/>
          <p:nvPr/>
        </p:nvGrpSpPr>
        <p:grpSpPr>
          <a:xfrm>
            <a:off x="3630393" y="893043"/>
            <a:ext cx="11027215" cy="1712875"/>
            <a:chOff x="0" y="-47625"/>
            <a:chExt cx="3871319" cy="601338"/>
          </a:xfrm>
        </p:grpSpPr>
        <p:sp>
          <p:nvSpPr>
            <p:cNvPr id="214" name="Google Shape;214;p4"/>
            <p:cNvSpPr/>
            <p:nvPr/>
          </p:nvSpPr>
          <p:spPr>
            <a:xfrm>
              <a:off x="0" y="0"/>
              <a:ext cx="3871319" cy="553713"/>
            </a:xfrm>
            <a:custGeom>
              <a:rect b="b" l="l" r="r" t="t"/>
              <a:pathLst>
                <a:path extrusionOk="0" h="553713" w="3871319">
                  <a:moveTo>
                    <a:pt x="14041" y="0"/>
                  </a:moveTo>
                  <a:lnTo>
                    <a:pt x="3857278" y="0"/>
                  </a:lnTo>
                  <a:cubicBezTo>
                    <a:pt x="3861002" y="0"/>
                    <a:pt x="3864573" y="1479"/>
                    <a:pt x="3867207" y="4113"/>
                  </a:cubicBezTo>
                  <a:cubicBezTo>
                    <a:pt x="3869840" y="6746"/>
                    <a:pt x="3871319" y="10317"/>
                    <a:pt x="3871319" y="14041"/>
                  </a:cubicBezTo>
                  <a:lnTo>
                    <a:pt x="3871319" y="539672"/>
                  </a:lnTo>
                  <a:cubicBezTo>
                    <a:pt x="3871319" y="543396"/>
                    <a:pt x="3869840" y="546967"/>
                    <a:pt x="3867207" y="549601"/>
                  </a:cubicBezTo>
                  <a:cubicBezTo>
                    <a:pt x="3864573" y="552234"/>
                    <a:pt x="3861002" y="553713"/>
                    <a:pt x="3857278" y="553713"/>
                  </a:cubicBezTo>
                  <a:lnTo>
                    <a:pt x="14041" y="553713"/>
                  </a:lnTo>
                  <a:cubicBezTo>
                    <a:pt x="6287" y="553713"/>
                    <a:pt x="0" y="547427"/>
                    <a:pt x="0" y="539672"/>
                  </a:cubicBezTo>
                  <a:lnTo>
                    <a:pt x="0" y="14041"/>
                  </a:lnTo>
                  <a:cubicBezTo>
                    <a:pt x="0" y="6287"/>
                    <a:pt x="6287" y="0"/>
                    <a:pt x="14041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"/>
            <p:cNvSpPr txBox="1"/>
            <p:nvPr/>
          </p:nvSpPr>
          <p:spPr>
            <a:xfrm>
              <a:off x="0" y="-47625"/>
              <a:ext cx="3871319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6" name="Google Shape;216;p4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4"/>
          <p:cNvSpPr/>
          <p:nvPr/>
        </p:nvSpPr>
        <p:spPr>
          <a:xfrm flipH="1">
            <a:off x="6481894" y="8899376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5" y="0"/>
                </a:moveTo>
                <a:lnTo>
                  <a:pt x="0" y="0"/>
                </a:lnTo>
                <a:lnTo>
                  <a:pt x="0" y="337125"/>
                </a:lnTo>
                <a:lnTo>
                  <a:pt x="707705" y="337125"/>
                </a:lnTo>
                <a:lnTo>
                  <a:pt x="707705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4"/>
          <p:cNvSpPr/>
          <p:nvPr/>
        </p:nvSpPr>
        <p:spPr>
          <a:xfrm>
            <a:off x="10169412" y="2697115"/>
            <a:ext cx="5461296" cy="4892770"/>
          </a:xfrm>
          <a:custGeom>
            <a:rect b="b" l="l" r="r" t="t"/>
            <a:pathLst>
              <a:path extrusionOk="0" h="4892770" w="5461296">
                <a:moveTo>
                  <a:pt x="0" y="0"/>
                </a:moveTo>
                <a:lnTo>
                  <a:pt x="5461296" y="0"/>
                </a:lnTo>
                <a:lnTo>
                  <a:pt x="5461296" y="4892770"/>
                </a:lnTo>
                <a:lnTo>
                  <a:pt x="0" y="4892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4"/>
          <p:cNvSpPr txBox="1"/>
          <p:nvPr/>
        </p:nvSpPr>
        <p:spPr>
          <a:xfrm>
            <a:off x="2761654" y="2712463"/>
            <a:ext cx="6540300" cy="48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5"/>
              <a:buFont typeface="Arial"/>
              <a:buNone/>
            </a:pPr>
            <a:r>
              <a:rPr b="0" i="0" lang="en-US" sz="2735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Un comparador de magnitudes es un circuito combinacional que compara dos números, A y B, y determina sus magnitudes relativas. El resultado de la comparación se especifica con tres variables binarias que indican si A&gt;B, A=B o A &lt;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5"/>
              <a:buFont typeface="Arial"/>
              <a:buNone/>
            </a:pPr>
            <a:r>
              <a:t/>
            </a:r>
            <a:endParaRPr b="0" i="0" sz="2735" u="none" cap="none" strike="noStrike">
              <a:solidFill>
                <a:srgbClr val="0B1B45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5"/>
              <a:buFont typeface="Arial"/>
              <a:buNone/>
            </a:pPr>
            <a:r>
              <a:rPr b="0" i="0" lang="en-US" sz="2735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Normalmente se utiliza el integrado 74LS85, pero hay otras variantes.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 txBox="1"/>
          <p:nvPr/>
        </p:nvSpPr>
        <p:spPr>
          <a:xfrm>
            <a:off x="4122190" y="1416458"/>
            <a:ext cx="10043621" cy="71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63"/>
              <a:buFont typeface="Arial"/>
              <a:buNone/>
            </a:pPr>
            <a:r>
              <a:rPr b="1" i="0" lang="en-US" sz="4163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¿Qué es un Comparador?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 txBox="1"/>
          <p:nvPr/>
        </p:nvSpPr>
        <p:spPr>
          <a:xfrm>
            <a:off x="1690707" y="8870771"/>
            <a:ext cx="4724319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sng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DATASHEET DEL COMPARADOR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sp>
        <p:nvSpPr>
          <p:cNvPr id="227" name="Google Shape;227;p5"/>
          <p:cNvSpPr/>
          <p:nvPr/>
        </p:nvSpPr>
        <p:spPr>
          <a:xfrm>
            <a:off x="5963354" y="662936"/>
            <a:ext cx="6778132" cy="3534032"/>
          </a:xfrm>
          <a:custGeom>
            <a:rect b="b" l="l" r="r" t="t"/>
            <a:pathLst>
              <a:path extrusionOk="0" h="3534032" w="6778132">
                <a:moveTo>
                  <a:pt x="0" y="0"/>
                </a:moveTo>
                <a:lnTo>
                  <a:pt x="6778132" y="0"/>
                </a:lnTo>
                <a:lnTo>
                  <a:pt x="6778132" y="3534032"/>
                </a:lnTo>
                <a:lnTo>
                  <a:pt x="0" y="3534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5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/>
          <p:nvPr/>
        </p:nvSpPr>
        <p:spPr>
          <a:xfrm flipH="1">
            <a:off x="1028700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5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5"/>
          <p:cNvSpPr/>
          <p:nvPr/>
        </p:nvSpPr>
        <p:spPr>
          <a:xfrm>
            <a:off x="439382" y="3009875"/>
            <a:ext cx="8704618" cy="5832094"/>
          </a:xfrm>
          <a:custGeom>
            <a:rect b="b" l="l" r="r" t="t"/>
            <a:pathLst>
              <a:path extrusionOk="0" h="5832094" w="8704618">
                <a:moveTo>
                  <a:pt x="0" y="0"/>
                </a:moveTo>
                <a:lnTo>
                  <a:pt x="8704618" y="0"/>
                </a:lnTo>
                <a:lnTo>
                  <a:pt x="8704618" y="5832094"/>
                </a:lnTo>
                <a:lnTo>
                  <a:pt x="0" y="5832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5"/>
          <p:cNvSpPr/>
          <p:nvPr/>
        </p:nvSpPr>
        <p:spPr>
          <a:xfrm>
            <a:off x="9731078" y="3009875"/>
            <a:ext cx="8143564" cy="5934622"/>
          </a:xfrm>
          <a:custGeom>
            <a:rect b="b" l="l" r="r" t="t"/>
            <a:pathLst>
              <a:path extrusionOk="0" h="5934622" w="8143564">
                <a:moveTo>
                  <a:pt x="0" y="0"/>
                </a:moveTo>
                <a:lnTo>
                  <a:pt x="8143564" y="0"/>
                </a:lnTo>
                <a:lnTo>
                  <a:pt x="8143564" y="5934622"/>
                </a:lnTo>
                <a:lnTo>
                  <a:pt x="0" y="59346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5"/>
          <p:cNvSpPr txBox="1"/>
          <p:nvPr/>
        </p:nvSpPr>
        <p:spPr>
          <a:xfrm>
            <a:off x="1877261" y="306693"/>
            <a:ext cx="12148637" cy="58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Aplicaciones de los comparadores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3018586" y="1109753"/>
            <a:ext cx="11501271" cy="1461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Clasificación de información.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Jerarquización de resultados.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Implementación en sistemas de control o alertas.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grpSp>
        <p:nvGrpSpPr>
          <p:cNvPr id="240" name="Google Shape;240;p6"/>
          <p:cNvGrpSpPr/>
          <p:nvPr/>
        </p:nvGrpSpPr>
        <p:grpSpPr>
          <a:xfrm>
            <a:off x="1627167" y="2335498"/>
            <a:ext cx="6918365" cy="5386289"/>
            <a:chOff x="0" y="-192881"/>
            <a:chExt cx="9224487" cy="7181718"/>
          </a:xfrm>
        </p:grpSpPr>
        <p:grpSp>
          <p:nvGrpSpPr>
            <p:cNvPr id="241" name="Google Shape;241;p6"/>
            <p:cNvGrpSpPr/>
            <p:nvPr/>
          </p:nvGrpSpPr>
          <p:grpSpPr>
            <a:xfrm rot="10800000">
              <a:off x="0" y="4514158"/>
              <a:ext cx="9224487" cy="2474679"/>
              <a:chOff x="0" y="-38100"/>
              <a:chExt cx="1822121" cy="488826"/>
            </a:xfrm>
          </p:grpSpPr>
          <p:sp>
            <p:nvSpPr>
              <p:cNvPr id="242" name="Google Shape;242;p6"/>
              <p:cNvSpPr/>
              <p:nvPr/>
            </p:nvSpPr>
            <p:spPr>
              <a:xfrm>
                <a:off x="0" y="0"/>
                <a:ext cx="1822121" cy="450726"/>
              </a:xfrm>
              <a:custGeom>
                <a:rect b="b" l="l" r="r" t="t"/>
                <a:pathLst>
                  <a:path extrusionOk="0"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6"/>
              <p:cNvSpPr txBox="1"/>
              <p:nvPr/>
            </p:nvSpPr>
            <p:spPr>
              <a:xfrm>
                <a:off x="0" y="-38100"/>
                <a:ext cx="1822121" cy="488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" name="Google Shape;244;p6"/>
            <p:cNvGrpSpPr/>
            <p:nvPr/>
          </p:nvGrpSpPr>
          <p:grpSpPr>
            <a:xfrm>
              <a:off x="0" y="-192881"/>
              <a:ext cx="9224487" cy="6516913"/>
              <a:chOff x="0" y="-38100"/>
              <a:chExt cx="1822121" cy="1287291"/>
            </a:xfrm>
          </p:grpSpPr>
          <p:sp>
            <p:nvSpPr>
              <p:cNvPr id="245" name="Google Shape;245;p6"/>
              <p:cNvSpPr/>
              <p:nvPr/>
            </p:nvSpPr>
            <p:spPr>
              <a:xfrm>
                <a:off x="0" y="0"/>
                <a:ext cx="1822121" cy="1249191"/>
              </a:xfrm>
              <a:custGeom>
                <a:rect b="b" l="l" r="r" t="t"/>
                <a:pathLst>
                  <a:path extrusionOk="0"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6"/>
              <p:cNvSpPr txBox="1"/>
              <p:nvPr/>
            </p:nvSpPr>
            <p:spPr>
              <a:xfrm>
                <a:off x="0" y="-38100"/>
                <a:ext cx="1822121" cy="1287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7" name="Google Shape;247;p6"/>
          <p:cNvGrpSpPr/>
          <p:nvPr/>
        </p:nvGrpSpPr>
        <p:grpSpPr>
          <a:xfrm>
            <a:off x="9742467" y="2335498"/>
            <a:ext cx="6918365" cy="5386289"/>
            <a:chOff x="0" y="-192881"/>
            <a:chExt cx="9224487" cy="7181718"/>
          </a:xfrm>
        </p:grpSpPr>
        <p:grpSp>
          <p:nvGrpSpPr>
            <p:cNvPr id="248" name="Google Shape;248;p6"/>
            <p:cNvGrpSpPr/>
            <p:nvPr/>
          </p:nvGrpSpPr>
          <p:grpSpPr>
            <a:xfrm rot="10800000">
              <a:off x="0" y="4514158"/>
              <a:ext cx="9224487" cy="2474679"/>
              <a:chOff x="0" y="-38100"/>
              <a:chExt cx="1822121" cy="488826"/>
            </a:xfrm>
          </p:grpSpPr>
          <p:sp>
            <p:nvSpPr>
              <p:cNvPr id="249" name="Google Shape;249;p6"/>
              <p:cNvSpPr/>
              <p:nvPr/>
            </p:nvSpPr>
            <p:spPr>
              <a:xfrm>
                <a:off x="0" y="0"/>
                <a:ext cx="1822121" cy="450726"/>
              </a:xfrm>
              <a:custGeom>
                <a:rect b="b" l="l" r="r" t="t"/>
                <a:pathLst>
                  <a:path extrusionOk="0"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6"/>
              <p:cNvSpPr txBox="1"/>
              <p:nvPr/>
            </p:nvSpPr>
            <p:spPr>
              <a:xfrm>
                <a:off x="0" y="-38100"/>
                <a:ext cx="1822121" cy="4888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1" name="Google Shape;251;p6"/>
            <p:cNvGrpSpPr/>
            <p:nvPr/>
          </p:nvGrpSpPr>
          <p:grpSpPr>
            <a:xfrm>
              <a:off x="0" y="-192881"/>
              <a:ext cx="9224487" cy="6516913"/>
              <a:chOff x="0" y="-38100"/>
              <a:chExt cx="1822121" cy="1287291"/>
            </a:xfrm>
          </p:grpSpPr>
          <p:sp>
            <p:nvSpPr>
              <p:cNvPr id="252" name="Google Shape;252;p6"/>
              <p:cNvSpPr/>
              <p:nvPr/>
            </p:nvSpPr>
            <p:spPr>
              <a:xfrm>
                <a:off x="0" y="0"/>
                <a:ext cx="1822121" cy="1249191"/>
              </a:xfrm>
              <a:custGeom>
                <a:rect b="b" l="l" r="r" t="t"/>
                <a:pathLst>
                  <a:path extrusionOk="0"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6"/>
              <p:cNvSpPr txBox="1"/>
              <p:nvPr/>
            </p:nvSpPr>
            <p:spPr>
              <a:xfrm>
                <a:off x="0" y="-38100"/>
                <a:ext cx="1822121" cy="1287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4" name="Google Shape;254;p6"/>
          <p:cNvGrpSpPr/>
          <p:nvPr/>
        </p:nvGrpSpPr>
        <p:grpSpPr>
          <a:xfrm>
            <a:off x="3163753" y="1714145"/>
            <a:ext cx="3845195" cy="1421585"/>
            <a:chOff x="0" y="-47625"/>
            <a:chExt cx="1626539" cy="601338"/>
          </a:xfrm>
        </p:grpSpPr>
        <p:sp>
          <p:nvSpPr>
            <p:cNvPr id="255" name="Google Shape;255;p6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6"/>
            <p:cNvSpPr txBox="1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6"/>
          <p:cNvGrpSpPr/>
          <p:nvPr/>
        </p:nvGrpSpPr>
        <p:grpSpPr>
          <a:xfrm>
            <a:off x="11279053" y="1714145"/>
            <a:ext cx="3845195" cy="1421585"/>
            <a:chOff x="0" y="-47625"/>
            <a:chExt cx="1626539" cy="601338"/>
          </a:xfrm>
        </p:grpSpPr>
        <p:sp>
          <p:nvSpPr>
            <p:cNvPr id="258" name="Google Shape;258;p6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6"/>
            <p:cNvSpPr txBox="1"/>
            <p:nvPr/>
          </p:nvSpPr>
          <p:spPr>
            <a:xfrm>
              <a:off x="0" y="-47625"/>
              <a:ext cx="1626538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6"/>
          <p:cNvSpPr txBox="1"/>
          <p:nvPr/>
        </p:nvSpPr>
        <p:spPr>
          <a:xfrm>
            <a:off x="3556665" y="2172070"/>
            <a:ext cx="3059371" cy="496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5"/>
              <a:buFont typeface="Arial"/>
              <a:buNone/>
            </a:pPr>
            <a:r>
              <a:rPr b="1" i="0" lang="en-US" sz="295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MULTIPLEXORES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11671965" y="2172070"/>
            <a:ext cx="3059371" cy="413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5"/>
              <a:buFont typeface="Arial"/>
              <a:buNone/>
            </a:pPr>
            <a:r>
              <a:rPr b="1" i="0" lang="en-US" sz="245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DEMULTIPLEXROES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2005286" y="3135706"/>
            <a:ext cx="6162000" cy="3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7"/>
              <a:buFont typeface="Arial"/>
              <a:buNone/>
            </a:pPr>
            <a:r>
              <a:rPr b="0" i="0" lang="en-US" sz="22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Son bloques digitales combinacionales con varios canales de entrada y un único canal de salida. Están dotados de entradas de control capaces de seleccionar uno, y sólo uno, de los canales de entrada para permitir que la información digital en este vaya hacia su única salida, tambien se conoce como Mux.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7"/>
              <a:buFont typeface="Arial"/>
              <a:buNone/>
            </a:pPr>
            <a:r>
              <a:rPr b="0" i="0" lang="en-US" sz="22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Normalmente se utiliza el integrado 74157.</a:t>
            </a:r>
            <a:endParaRPr b="0" i="0" sz="2277" u="none" cap="none" strike="noStrike">
              <a:solidFill>
                <a:srgbClr val="0B1B4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9976650" y="3210951"/>
            <a:ext cx="61026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Es un bloque digital combinacional que tiene un único canal de entrada con información digital y “n” entradas de control que sirven para seleccionar uno y solo uno de los 2^n canales de salida.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Es el proceso inverso al multiplexor.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Nombre alternativo: Demux.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Normalmente se utiliza el integrado 74138.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6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6"/>
          <p:cNvSpPr/>
          <p:nvPr/>
        </p:nvSpPr>
        <p:spPr>
          <a:xfrm flipH="1">
            <a:off x="6759432" y="8839598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4"/>
                </a:lnTo>
                <a:lnTo>
                  <a:pt x="707704" y="337124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6"/>
          <p:cNvSpPr txBox="1"/>
          <p:nvPr/>
        </p:nvSpPr>
        <p:spPr>
          <a:xfrm>
            <a:off x="1420968" y="8820487"/>
            <a:ext cx="5195067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sng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MULTIPLEXORES Y DEMULTIPLEXORES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sp>
        <p:nvSpPr>
          <p:cNvPr id="273" name="Google Shape;273;p7"/>
          <p:cNvSpPr/>
          <p:nvPr/>
        </p:nvSpPr>
        <p:spPr>
          <a:xfrm>
            <a:off x="5963354" y="662936"/>
            <a:ext cx="6778132" cy="3534032"/>
          </a:xfrm>
          <a:custGeom>
            <a:rect b="b" l="l" r="r" t="t"/>
            <a:pathLst>
              <a:path extrusionOk="0" h="3534032" w="6778132">
                <a:moveTo>
                  <a:pt x="0" y="0"/>
                </a:moveTo>
                <a:lnTo>
                  <a:pt x="6778132" y="0"/>
                </a:lnTo>
                <a:lnTo>
                  <a:pt x="6778132" y="3534032"/>
                </a:lnTo>
                <a:lnTo>
                  <a:pt x="0" y="3534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7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/>
          <p:nvPr/>
        </p:nvSpPr>
        <p:spPr>
          <a:xfrm flipH="1">
            <a:off x="1981506" y="8599023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4"/>
                </a:lnTo>
                <a:lnTo>
                  <a:pt x="707704" y="337124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7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7"/>
          <p:cNvSpPr txBox="1"/>
          <p:nvPr/>
        </p:nvSpPr>
        <p:spPr>
          <a:xfrm>
            <a:off x="1736404" y="45709"/>
            <a:ext cx="2704575" cy="58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2200943" y="981075"/>
            <a:ext cx="7963696" cy="1956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Selección de operaciones en ALU’s.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Reducción de líneas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Sistemas de comunicación.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t/>
            </a:r>
            <a:endParaRPr b="0" i="0" sz="2835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3493371" y="2833111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8" y="0"/>
                </a:lnTo>
                <a:lnTo>
                  <a:pt x="113012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7"/>
          <p:cNvSpPr txBox="1"/>
          <p:nvPr/>
        </p:nvSpPr>
        <p:spPr>
          <a:xfrm>
            <a:off x="9945202" y="981075"/>
            <a:ext cx="7963696" cy="1956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Activación de líneas de salida.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Encendido de dispositivos.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Distribución de señales.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t/>
            </a:r>
            <a:endParaRPr b="0" i="0" sz="2835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1981506" y="615311"/>
            <a:ext cx="7963696" cy="470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Multiplexores: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9777595" y="647933"/>
            <a:ext cx="7963696" cy="470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5"/>
              <a:buFont typeface="Arial"/>
              <a:buNone/>
            </a:pPr>
            <a:r>
              <a:rPr b="0" i="0" lang="en-US" sz="2835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Demultiplexores: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grpSp>
        <p:nvGrpSpPr>
          <p:cNvPr id="288" name="Google Shape;288;p8"/>
          <p:cNvGrpSpPr/>
          <p:nvPr/>
        </p:nvGrpSpPr>
        <p:grpSpPr>
          <a:xfrm>
            <a:off x="3108259" y="3266782"/>
            <a:ext cx="3753247" cy="5041564"/>
            <a:chOff x="0" y="-38100"/>
            <a:chExt cx="1040052" cy="1397054"/>
          </a:xfrm>
        </p:grpSpPr>
        <p:sp>
          <p:nvSpPr>
            <p:cNvPr id="289" name="Google Shape;289;p8"/>
            <p:cNvSpPr/>
            <p:nvPr/>
          </p:nvSpPr>
          <p:spPr>
            <a:xfrm>
              <a:off x="0" y="0"/>
              <a:ext cx="1040052" cy="1358954"/>
            </a:xfrm>
            <a:custGeom>
              <a:rect b="b" l="l" r="r" t="t"/>
              <a:pathLst>
                <a:path extrusionOk="0" h="1358954" w="1040052">
                  <a:moveTo>
                    <a:pt x="61882" y="0"/>
                  </a:moveTo>
                  <a:lnTo>
                    <a:pt x="978171" y="0"/>
                  </a:lnTo>
                  <a:cubicBezTo>
                    <a:pt x="1012347" y="0"/>
                    <a:pt x="1040052" y="27705"/>
                    <a:pt x="1040052" y="61882"/>
                  </a:cubicBezTo>
                  <a:lnTo>
                    <a:pt x="1040052" y="1297073"/>
                  </a:lnTo>
                  <a:cubicBezTo>
                    <a:pt x="1040052" y="1331249"/>
                    <a:pt x="1012347" y="1358954"/>
                    <a:pt x="978171" y="1358954"/>
                  </a:cubicBezTo>
                  <a:lnTo>
                    <a:pt x="61882" y="1358954"/>
                  </a:lnTo>
                  <a:cubicBezTo>
                    <a:pt x="27705" y="1358954"/>
                    <a:pt x="0" y="1331249"/>
                    <a:pt x="0" y="1297073"/>
                  </a:cubicBezTo>
                  <a:lnTo>
                    <a:pt x="0" y="61882"/>
                  </a:lnTo>
                  <a:cubicBezTo>
                    <a:pt x="0" y="27705"/>
                    <a:pt x="27705" y="0"/>
                    <a:pt x="618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8"/>
            <p:cNvSpPr txBox="1"/>
            <p:nvPr/>
          </p:nvSpPr>
          <p:spPr>
            <a:xfrm>
              <a:off x="0" y="-38100"/>
              <a:ext cx="1040052" cy="139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8"/>
          <p:cNvGrpSpPr/>
          <p:nvPr/>
        </p:nvGrpSpPr>
        <p:grpSpPr>
          <a:xfrm>
            <a:off x="7267377" y="3266782"/>
            <a:ext cx="3753247" cy="5041564"/>
            <a:chOff x="0" y="-38100"/>
            <a:chExt cx="1040052" cy="1397054"/>
          </a:xfrm>
        </p:grpSpPr>
        <p:sp>
          <p:nvSpPr>
            <p:cNvPr id="292" name="Google Shape;292;p8"/>
            <p:cNvSpPr/>
            <p:nvPr/>
          </p:nvSpPr>
          <p:spPr>
            <a:xfrm>
              <a:off x="0" y="0"/>
              <a:ext cx="1040052" cy="1358954"/>
            </a:xfrm>
            <a:custGeom>
              <a:rect b="b" l="l" r="r" t="t"/>
              <a:pathLst>
                <a:path extrusionOk="0" h="1358954" w="1040052">
                  <a:moveTo>
                    <a:pt x="61882" y="0"/>
                  </a:moveTo>
                  <a:lnTo>
                    <a:pt x="978171" y="0"/>
                  </a:lnTo>
                  <a:cubicBezTo>
                    <a:pt x="1012347" y="0"/>
                    <a:pt x="1040052" y="27705"/>
                    <a:pt x="1040052" y="61882"/>
                  </a:cubicBezTo>
                  <a:lnTo>
                    <a:pt x="1040052" y="1297073"/>
                  </a:lnTo>
                  <a:cubicBezTo>
                    <a:pt x="1040052" y="1331249"/>
                    <a:pt x="1012347" y="1358954"/>
                    <a:pt x="978171" y="1358954"/>
                  </a:cubicBezTo>
                  <a:lnTo>
                    <a:pt x="61882" y="1358954"/>
                  </a:lnTo>
                  <a:cubicBezTo>
                    <a:pt x="27705" y="1358954"/>
                    <a:pt x="0" y="1331249"/>
                    <a:pt x="0" y="1297073"/>
                  </a:cubicBezTo>
                  <a:lnTo>
                    <a:pt x="0" y="61882"/>
                  </a:lnTo>
                  <a:cubicBezTo>
                    <a:pt x="0" y="27705"/>
                    <a:pt x="27705" y="0"/>
                    <a:pt x="618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8"/>
            <p:cNvSpPr txBox="1"/>
            <p:nvPr/>
          </p:nvSpPr>
          <p:spPr>
            <a:xfrm>
              <a:off x="0" y="-38100"/>
              <a:ext cx="1040052" cy="139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8"/>
          <p:cNvSpPr/>
          <p:nvPr/>
        </p:nvSpPr>
        <p:spPr>
          <a:xfrm>
            <a:off x="4216081" y="2635864"/>
            <a:ext cx="1536821" cy="1536821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8374614" y="2635864"/>
            <a:ext cx="1536821" cy="1536821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6" name="Google Shape;296;p8"/>
          <p:cNvGrpSpPr/>
          <p:nvPr/>
        </p:nvGrpSpPr>
        <p:grpSpPr>
          <a:xfrm>
            <a:off x="11426494" y="3266782"/>
            <a:ext cx="3753247" cy="5041564"/>
            <a:chOff x="0" y="-38100"/>
            <a:chExt cx="1040052" cy="1397054"/>
          </a:xfrm>
        </p:grpSpPr>
        <p:sp>
          <p:nvSpPr>
            <p:cNvPr id="297" name="Google Shape;297;p8"/>
            <p:cNvSpPr/>
            <p:nvPr/>
          </p:nvSpPr>
          <p:spPr>
            <a:xfrm>
              <a:off x="0" y="0"/>
              <a:ext cx="1040052" cy="1358954"/>
            </a:xfrm>
            <a:custGeom>
              <a:rect b="b" l="l" r="r" t="t"/>
              <a:pathLst>
                <a:path extrusionOk="0" h="1358954" w="1040052">
                  <a:moveTo>
                    <a:pt x="61882" y="0"/>
                  </a:moveTo>
                  <a:lnTo>
                    <a:pt x="978171" y="0"/>
                  </a:lnTo>
                  <a:cubicBezTo>
                    <a:pt x="1012347" y="0"/>
                    <a:pt x="1040052" y="27705"/>
                    <a:pt x="1040052" y="61882"/>
                  </a:cubicBezTo>
                  <a:lnTo>
                    <a:pt x="1040052" y="1297073"/>
                  </a:lnTo>
                  <a:cubicBezTo>
                    <a:pt x="1040052" y="1331249"/>
                    <a:pt x="1012347" y="1358954"/>
                    <a:pt x="978171" y="1358954"/>
                  </a:cubicBezTo>
                  <a:lnTo>
                    <a:pt x="61882" y="1358954"/>
                  </a:lnTo>
                  <a:cubicBezTo>
                    <a:pt x="27705" y="1358954"/>
                    <a:pt x="0" y="1331249"/>
                    <a:pt x="0" y="1297073"/>
                  </a:cubicBezTo>
                  <a:lnTo>
                    <a:pt x="0" y="61882"/>
                  </a:lnTo>
                  <a:cubicBezTo>
                    <a:pt x="0" y="27705"/>
                    <a:pt x="27705" y="0"/>
                    <a:pt x="618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8"/>
            <p:cNvSpPr txBox="1"/>
            <p:nvPr/>
          </p:nvSpPr>
          <p:spPr>
            <a:xfrm>
              <a:off x="0" y="-38100"/>
              <a:ext cx="1040052" cy="139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8"/>
          <p:cNvSpPr/>
          <p:nvPr/>
        </p:nvSpPr>
        <p:spPr>
          <a:xfrm>
            <a:off x="12534392" y="2635864"/>
            <a:ext cx="1536821" cy="1536821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 flipH="1">
            <a:off x="1028700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8"/>
          <p:cNvSpPr/>
          <p:nvPr/>
        </p:nvSpPr>
        <p:spPr>
          <a:xfrm>
            <a:off x="16590199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8"/>
          <p:cNvSpPr txBox="1"/>
          <p:nvPr/>
        </p:nvSpPr>
        <p:spPr>
          <a:xfrm>
            <a:off x="4205041" y="2993430"/>
            <a:ext cx="1541111" cy="725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17"/>
              <a:buFont typeface="Arial"/>
              <a:buNone/>
            </a:pPr>
            <a:r>
              <a:rPr b="1" i="0" lang="en-US" sz="4217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 txBox="1"/>
          <p:nvPr/>
        </p:nvSpPr>
        <p:spPr>
          <a:xfrm>
            <a:off x="8347101" y="2993430"/>
            <a:ext cx="1541111" cy="725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17"/>
              <a:buFont typeface="Arial"/>
              <a:buNone/>
            </a:pPr>
            <a:r>
              <a:rPr b="1" i="0" lang="en-US" sz="4217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 txBox="1"/>
          <p:nvPr/>
        </p:nvSpPr>
        <p:spPr>
          <a:xfrm>
            <a:off x="3760260" y="5356774"/>
            <a:ext cx="2815480" cy="18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60"/>
              <a:buFont typeface="Arial"/>
              <a:buNone/>
            </a:pPr>
            <a:r>
              <a:rPr b="0" i="0" lang="en-US" sz="286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Codifica números decimales del 0 al 9 en binario.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60"/>
              <a:buFont typeface="Arial"/>
              <a:buNone/>
            </a:pPr>
            <a:r>
              <a:t/>
            </a:r>
            <a:endParaRPr b="0" i="0" sz="2860" u="none" cap="none" strike="noStrike">
              <a:solidFill>
                <a:srgbClr val="0B1B4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7595229" y="4813026"/>
            <a:ext cx="3097542" cy="149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60"/>
              <a:buFont typeface="Arial"/>
              <a:buNone/>
            </a:pPr>
            <a:r>
              <a:rPr b="0" i="0" lang="en-US" sz="286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Ideal para mostrar resultados en displays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1028700" y="769220"/>
            <a:ext cx="6934960" cy="945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50"/>
              <a:buFont typeface="Arial"/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¿Qué es el BCD?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12078495" y="5375824"/>
            <a:ext cx="2449200" cy="1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0"/>
              <a:buFont typeface="Arial"/>
              <a:buNone/>
            </a:pPr>
            <a:r>
              <a:rPr b="0" i="0" lang="en-US" sz="196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el integrado 7447, decodificador de binario a decimal para display de 7 segmentos.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8"/>
          <p:cNvSpPr txBox="1"/>
          <p:nvPr/>
        </p:nvSpPr>
        <p:spPr>
          <a:xfrm>
            <a:off x="3776053" y="4428890"/>
            <a:ext cx="2604747" cy="754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0"/>
              <a:buFont typeface="Arial"/>
              <a:buNone/>
            </a:pPr>
            <a:r>
              <a:rPr b="1" i="0" lang="en-US" sz="2170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Binary-Coded Decimal.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12078495" y="4428890"/>
            <a:ext cx="2449245" cy="37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0"/>
              <a:buFont typeface="Arial"/>
              <a:buNone/>
            </a:pPr>
            <a:r>
              <a:rPr b="1" i="0" lang="en-US" sz="2170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 txBox="1"/>
          <p:nvPr/>
        </p:nvSpPr>
        <p:spPr>
          <a:xfrm>
            <a:off x="12525497" y="2993430"/>
            <a:ext cx="1541111" cy="725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17"/>
              <a:buFont typeface="Arial"/>
              <a:buNone/>
            </a:pPr>
            <a:r>
              <a:rPr b="1" i="0" lang="en-US" sz="4217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F2A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9"/>
          <p:cNvGrpSpPr/>
          <p:nvPr/>
        </p:nvGrpSpPr>
        <p:grpSpPr>
          <a:xfrm>
            <a:off x="3535323" y="1455687"/>
            <a:ext cx="12346571" cy="7182322"/>
            <a:chOff x="0" y="-254051"/>
            <a:chExt cx="16462095" cy="9576429"/>
          </a:xfrm>
        </p:grpSpPr>
        <p:grpSp>
          <p:nvGrpSpPr>
            <p:cNvPr id="317" name="Google Shape;317;p9"/>
            <p:cNvGrpSpPr/>
            <p:nvPr/>
          </p:nvGrpSpPr>
          <p:grpSpPr>
            <a:xfrm rot="10800000">
              <a:off x="0" y="5840030"/>
              <a:ext cx="16462095" cy="3482348"/>
              <a:chOff x="0" y="-38100"/>
              <a:chExt cx="2468816" cy="522247"/>
            </a:xfrm>
          </p:grpSpPr>
          <p:sp>
            <p:nvSpPr>
              <p:cNvPr id="318" name="Google Shape;318;p9"/>
              <p:cNvSpPr/>
              <p:nvPr/>
            </p:nvSpPr>
            <p:spPr>
              <a:xfrm>
                <a:off x="0" y="0"/>
                <a:ext cx="2468816" cy="484147"/>
              </a:xfrm>
              <a:custGeom>
                <a:rect b="b" l="l" r="r" t="t"/>
                <a:pathLst>
                  <a:path extrusionOk="0" h="484147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446542"/>
                    </a:lnTo>
                    <a:cubicBezTo>
                      <a:pt x="2468816" y="467311"/>
                      <a:pt x="2451980" y="484147"/>
                      <a:pt x="2431211" y="484147"/>
                    </a:cubicBezTo>
                    <a:lnTo>
                      <a:pt x="37604" y="484147"/>
                    </a:lnTo>
                    <a:cubicBezTo>
                      <a:pt x="27631" y="484147"/>
                      <a:pt x="18066" y="480185"/>
                      <a:pt x="11014" y="473133"/>
                    </a:cubicBezTo>
                    <a:cubicBezTo>
                      <a:pt x="3962" y="466081"/>
                      <a:pt x="0" y="456516"/>
                      <a:pt x="0" y="446542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9"/>
              <p:cNvSpPr txBox="1"/>
              <p:nvPr/>
            </p:nvSpPr>
            <p:spPr>
              <a:xfrm>
                <a:off x="0" y="-38100"/>
                <a:ext cx="2468816" cy="522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0" name="Google Shape;320;p9"/>
            <p:cNvGrpSpPr/>
            <p:nvPr/>
          </p:nvGrpSpPr>
          <p:grpSpPr>
            <a:xfrm>
              <a:off x="0" y="-254051"/>
              <a:ext cx="16462095" cy="8618723"/>
              <a:chOff x="0" y="-38100"/>
              <a:chExt cx="2468816" cy="1292548"/>
            </a:xfrm>
          </p:grpSpPr>
          <p:sp>
            <p:nvSpPr>
              <p:cNvPr id="321" name="Google Shape;321;p9"/>
              <p:cNvSpPr/>
              <p:nvPr/>
            </p:nvSpPr>
            <p:spPr>
              <a:xfrm>
                <a:off x="0" y="0"/>
                <a:ext cx="2468816" cy="1254448"/>
              </a:xfrm>
              <a:custGeom>
                <a:rect b="b" l="l" r="r" t="t"/>
                <a:pathLst>
                  <a:path extrusionOk="0" h="1254448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1216843"/>
                    </a:lnTo>
                    <a:cubicBezTo>
                      <a:pt x="2468816" y="1237611"/>
                      <a:pt x="2451980" y="1254448"/>
                      <a:pt x="2431211" y="1254448"/>
                    </a:cubicBezTo>
                    <a:lnTo>
                      <a:pt x="37604" y="1254448"/>
                    </a:lnTo>
                    <a:cubicBezTo>
                      <a:pt x="27631" y="1254448"/>
                      <a:pt x="18066" y="1250486"/>
                      <a:pt x="11014" y="1243434"/>
                    </a:cubicBezTo>
                    <a:cubicBezTo>
                      <a:pt x="3962" y="1236381"/>
                      <a:pt x="0" y="1226816"/>
                      <a:pt x="0" y="1216843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9"/>
              <p:cNvSpPr txBox="1"/>
              <p:nvPr/>
            </p:nvSpPr>
            <p:spPr>
              <a:xfrm>
                <a:off x="0" y="-38100"/>
                <a:ext cx="2468816" cy="12925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3" name="Google Shape;323;p9"/>
          <p:cNvGrpSpPr/>
          <p:nvPr/>
        </p:nvGrpSpPr>
        <p:grpSpPr>
          <a:xfrm>
            <a:off x="8037512" y="1140796"/>
            <a:ext cx="3342194" cy="936674"/>
            <a:chOff x="0" y="-47625"/>
            <a:chExt cx="2145665" cy="601338"/>
          </a:xfrm>
        </p:grpSpPr>
        <p:sp>
          <p:nvSpPr>
            <p:cNvPr id="324" name="Google Shape;324;p9"/>
            <p:cNvSpPr/>
            <p:nvPr/>
          </p:nvSpPr>
          <p:spPr>
            <a:xfrm>
              <a:off x="0" y="0"/>
              <a:ext cx="2145665" cy="553713"/>
            </a:xfrm>
            <a:custGeom>
              <a:rect b="b" l="l" r="r" t="t"/>
              <a:pathLst>
                <a:path extrusionOk="0" h="553713" w="2145665">
                  <a:moveTo>
                    <a:pt x="46328" y="0"/>
                  </a:moveTo>
                  <a:lnTo>
                    <a:pt x="2099337" y="0"/>
                  </a:lnTo>
                  <a:cubicBezTo>
                    <a:pt x="2111624" y="0"/>
                    <a:pt x="2123408" y="4881"/>
                    <a:pt x="2132096" y="13569"/>
                  </a:cubicBezTo>
                  <a:cubicBezTo>
                    <a:pt x="2140784" y="22258"/>
                    <a:pt x="2145665" y="34041"/>
                    <a:pt x="2145665" y="46328"/>
                  </a:cubicBezTo>
                  <a:lnTo>
                    <a:pt x="2145665" y="507385"/>
                  </a:lnTo>
                  <a:cubicBezTo>
                    <a:pt x="2145665" y="519672"/>
                    <a:pt x="2140784" y="531456"/>
                    <a:pt x="2132096" y="540144"/>
                  </a:cubicBezTo>
                  <a:cubicBezTo>
                    <a:pt x="2123408" y="548832"/>
                    <a:pt x="2111624" y="553713"/>
                    <a:pt x="2099337" y="553713"/>
                  </a:cubicBezTo>
                  <a:lnTo>
                    <a:pt x="46328" y="553713"/>
                  </a:lnTo>
                  <a:cubicBezTo>
                    <a:pt x="34041" y="553713"/>
                    <a:pt x="22258" y="548832"/>
                    <a:pt x="13569" y="540144"/>
                  </a:cubicBezTo>
                  <a:cubicBezTo>
                    <a:pt x="4881" y="531456"/>
                    <a:pt x="0" y="519672"/>
                    <a:pt x="0" y="507385"/>
                  </a:cubicBezTo>
                  <a:lnTo>
                    <a:pt x="0" y="46328"/>
                  </a:lnTo>
                  <a:cubicBezTo>
                    <a:pt x="0" y="34041"/>
                    <a:pt x="4881" y="22258"/>
                    <a:pt x="13569" y="13569"/>
                  </a:cubicBezTo>
                  <a:cubicBezTo>
                    <a:pt x="22258" y="4881"/>
                    <a:pt x="34041" y="0"/>
                    <a:pt x="46328" y="0"/>
                  </a:cubicBezTo>
                  <a:close/>
                </a:path>
              </a:pathLst>
            </a:custGeom>
            <a:gradFill>
              <a:gsLst>
                <a:gs pos="0">
                  <a:srgbClr val="2D5297"/>
                </a:gs>
                <a:gs pos="100000">
                  <a:srgbClr val="08122E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"/>
            <p:cNvSpPr txBox="1"/>
            <p:nvPr/>
          </p:nvSpPr>
          <p:spPr>
            <a:xfrm>
              <a:off x="0" y="-47625"/>
              <a:ext cx="2145665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6" name="Google Shape;326;p9"/>
          <p:cNvSpPr/>
          <p:nvPr/>
        </p:nvSpPr>
        <p:spPr>
          <a:xfrm>
            <a:off x="-1219741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27" name="Google Shape;327;p9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9"/>
          <p:cNvSpPr/>
          <p:nvPr/>
        </p:nvSpPr>
        <p:spPr>
          <a:xfrm flipH="1">
            <a:off x="4415845" y="8899376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9"/>
          <p:cNvSpPr/>
          <p:nvPr/>
        </p:nvSpPr>
        <p:spPr>
          <a:xfrm>
            <a:off x="5667570" y="2077470"/>
            <a:ext cx="8871715" cy="5549825"/>
          </a:xfrm>
          <a:custGeom>
            <a:rect b="b" l="l" r="r" t="t"/>
            <a:pathLst>
              <a:path extrusionOk="0" h="5549825" w="8871715">
                <a:moveTo>
                  <a:pt x="0" y="0"/>
                </a:moveTo>
                <a:lnTo>
                  <a:pt x="8871714" y="0"/>
                </a:lnTo>
                <a:lnTo>
                  <a:pt x="8871714" y="5549825"/>
                </a:lnTo>
                <a:lnTo>
                  <a:pt x="0" y="5549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0" name="Google Shape;330;p9"/>
          <p:cNvSpPr txBox="1"/>
          <p:nvPr/>
        </p:nvSpPr>
        <p:spPr>
          <a:xfrm rot="-5400000">
            <a:off x="-1310836" y="3965312"/>
            <a:ext cx="7374372" cy="99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0"/>
              <a:buFont typeface="Arial"/>
              <a:buNone/>
            </a:pPr>
            <a:r>
              <a:rPr b="1" i="0" lang="en-US" sz="58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Aplicaciones de BCD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 txBox="1"/>
          <p:nvPr/>
        </p:nvSpPr>
        <p:spPr>
          <a:xfrm>
            <a:off x="1690707" y="8870771"/>
            <a:ext cx="2686471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sng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BINARIO A DECIMAL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grpSp>
        <p:nvGrpSpPr>
          <p:cNvPr id="337" name="Google Shape;337;p10"/>
          <p:cNvGrpSpPr/>
          <p:nvPr/>
        </p:nvGrpSpPr>
        <p:grpSpPr>
          <a:xfrm>
            <a:off x="3706479" y="1405988"/>
            <a:ext cx="6176333" cy="3008313"/>
            <a:chOff x="0" y="-127088"/>
            <a:chExt cx="8235111" cy="4011085"/>
          </a:xfrm>
        </p:grpSpPr>
        <p:grpSp>
          <p:nvGrpSpPr>
            <p:cNvPr id="338" name="Google Shape;338;p10"/>
            <p:cNvGrpSpPr/>
            <p:nvPr/>
          </p:nvGrpSpPr>
          <p:grpSpPr>
            <a:xfrm rot="10800000">
              <a:off x="0" y="2419461"/>
              <a:ext cx="8235111" cy="1464536"/>
              <a:chOff x="0" y="-38100"/>
              <a:chExt cx="2468816" cy="439055"/>
            </a:xfrm>
          </p:grpSpPr>
          <p:sp>
            <p:nvSpPr>
              <p:cNvPr id="339" name="Google Shape;339;p10"/>
              <p:cNvSpPr/>
              <p:nvPr/>
            </p:nvSpPr>
            <p:spPr>
              <a:xfrm>
                <a:off x="0" y="0"/>
                <a:ext cx="2468816" cy="400955"/>
              </a:xfrm>
              <a:custGeom>
                <a:rect b="b" l="l" r="r" t="t"/>
                <a:pathLst>
                  <a:path extrusionOk="0" h="40095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363351"/>
                    </a:lnTo>
                    <a:cubicBezTo>
                      <a:pt x="2468816" y="384119"/>
                      <a:pt x="2451980" y="400955"/>
                      <a:pt x="2431211" y="400955"/>
                    </a:cubicBezTo>
                    <a:lnTo>
                      <a:pt x="37604" y="400955"/>
                    </a:lnTo>
                    <a:cubicBezTo>
                      <a:pt x="16836" y="400955"/>
                      <a:pt x="0" y="384119"/>
                      <a:pt x="0" y="363351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10"/>
              <p:cNvSpPr txBox="1"/>
              <p:nvPr/>
            </p:nvSpPr>
            <p:spPr>
              <a:xfrm>
                <a:off x="0" y="-38100"/>
                <a:ext cx="2468816" cy="439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1" name="Google Shape;341;p10"/>
            <p:cNvGrpSpPr/>
            <p:nvPr/>
          </p:nvGrpSpPr>
          <p:grpSpPr>
            <a:xfrm>
              <a:off x="0" y="-127088"/>
              <a:ext cx="8235111" cy="3592480"/>
              <a:chOff x="0" y="-38100"/>
              <a:chExt cx="2468816" cy="1076995"/>
            </a:xfrm>
          </p:grpSpPr>
          <p:sp>
            <p:nvSpPr>
              <p:cNvPr id="342" name="Google Shape;342;p10"/>
              <p:cNvSpPr/>
              <p:nvPr/>
            </p:nvSpPr>
            <p:spPr>
              <a:xfrm>
                <a:off x="0" y="0"/>
                <a:ext cx="2468816" cy="1038895"/>
              </a:xfrm>
              <a:custGeom>
                <a:rect b="b" l="l" r="r" t="t"/>
                <a:pathLst>
                  <a:path extrusionOk="0" h="103889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1001290"/>
                    </a:lnTo>
                    <a:cubicBezTo>
                      <a:pt x="2468816" y="1022059"/>
                      <a:pt x="2451980" y="1038895"/>
                      <a:pt x="2431211" y="1038895"/>
                    </a:cubicBezTo>
                    <a:lnTo>
                      <a:pt x="37604" y="1038895"/>
                    </a:lnTo>
                    <a:cubicBezTo>
                      <a:pt x="27631" y="1038895"/>
                      <a:pt x="18066" y="1034933"/>
                      <a:pt x="11014" y="1027881"/>
                    </a:cubicBezTo>
                    <a:cubicBezTo>
                      <a:pt x="3962" y="1020829"/>
                      <a:pt x="0" y="1011264"/>
                      <a:pt x="0" y="1001290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10"/>
              <p:cNvSpPr txBox="1"/>
              <p:nvPr/>
            </p:nvSpPr>
            <p:spPr>
              <a:xfrm>
                <a:off x="0" y="-38100"/>
                <a:ext cx="2468816" cy="1076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4" name="Google Shape;344;p10"/>
          <p:cNvGrpSpPr/>
          <p:nvPr/>
        </p:nvGrpSpPr>
        <p:grpSpPr>
          <a:xfrm>
            <a:off x="3706479" y="5083513"/>
            <a:ext cx="6176333" cy="3008313"/>
            <a:chOff x="0" y="-127088"/>
            <a:chExt cx="8235111" cy="4011085"/>
          </a:xfrm>
        </p:grpSpPr>
        <p:grpSp>
          <p:nvGrpSpPr>
            <p:cNvPr id="345" name="Google Shape;345;p10"/>
            <p:cNvGrpSpPr/>
            <p:nvPr/>
          </p:nvGrpSpPr>
          <p:grpSpPr>
            <a:xfrm rot="10800000">
              <a:off x="0" y="2419461"/>
              <a:ext cx="8235111" cy="1464536"/>
              <a:chOff x="0" y="-38100"/>
              <a:chExt cx="2468816" cy="439055"/>
            </a:xfrm>
          </p:grpSpPr>
          <p:sp>
            <p:nvSpPr>
              <p:cNvPr id="346" name="Google Shape;346;p10"/>
              <p:cNvSpPr/>
              <p:nvPr/>
            </p:nvSpPr>
            <p:spPr>
              <a:xfrm>
                <a:off x="0" y="0"/>
                <a:ext cx="2468816" cy="400955"/>
              </a:xfrm>
              <a:custGeom>
                <a:rect b="b" l="l" r="r" t="t"/>
                <a:pathLst>
                  <a:path extrusionOk="0" h="40095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363351"/>
                    </a:lnTo>
                    <a:cubicBezTo>
                      <a:pt x="2468816" y="384119"/>
                      <a:pt x="2451980" y="400955"/>
                      <a:pt x="2431211" y="400955"/>
                    </a:cubicBezTo>
                    <a:lnTo>
                      <a:pt x="37604" y="400955"/>
                    </a:lnTo>
                    <a:cubicBezTo>
                      <a:pt x="16836" y="400955"/>
                      <a:pt x="0" y="384119"/>
                      <a:pt x="0" y="363351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0"/>
              <p:cNvSpPr txBox="1"/>
              <p:nvPr/>
            </p:nvSpPr>
            <p:spPr>
              <a:xfrm>
                <a:off x="0" y="-38100"/>
                <a:ext cx="2468816" cy="439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" name="Google Shape;348;p10"/>
            <p:cNvGrpSpPr/>
            <p:nvPr/>
          </p:nvGrpSpPr>
          <p:grpSpPr>
            <a:xfrm>
              <a:off x="0" y="-127088"/>
              <a:ext cx="8235111" cy="3592480"/>
              <a:chOff x="0" y="-38100"/>
              <a:chExt cx="2468816" cy="1076995"/>
            </a:xfrm>
          </p:grpSpPr>
          <p:sp>
            <p:nvSpPr>
              <p:cNvPr id="349" name="Google Shape;349;p10"/>
              <p:cNvSpPr/>
              <p:nvPr/>
            </p:nvSpPr>
            <p:spPr>
              <a:xfrm>
                <a:off x="0" y="0"/>
                <a:ext cx="2468816" cy="1038895"/>
              </a:xfrm>
              <a:custGeom>
                <a:rect b="b" l="l" r="r" t="t"/>
                <a:pathLst>
                  <a:path extrusionOk="0" h="103889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1001290"/>
                    </a:lnTo>
                    <a:cubicBezTo>
                      <a:pt x="2468816" y="1022059"/>
                      <a:pt x="2451980" y="1038895"/>
                      <a:pt x="2431211" y="1038895"/>
                    </a:cubicBezTo>
                    <a:lnTo>
                      <a:pt x="37604" y="1038895"/>
                    </a:lnTo>
                    <a:cubicBezTo>
                      <a:pt x="27631" y="1038895"/>
                      <a:pt x="18066" y="1034933"/>
                      <a:pt x="11014" y="1027881"/>
                    </a:cubicBezTo>
                    <a:cubicBezTo>
                      <a:pt x="3962" y="1020829"/>
                      <a:pt x="0" y="1011264"/>
                      <a:pt x="0" y="1001290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10"/>
              <p:cNvSpPr txBox="1"/>
              <p:nvPr/>
            </p:nvSpPr>
            <p:spPr>
              <a:xfrm>
                <a:off x="0" y="-38100"/>
                <a:ext cx="2468816" cy="1076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1" name="Google Shape;351;p10"/>
          <p:cNvGrpSpPr/>
          <p:nvPr/>
        </p:nvGrpSpPr>
        <p:grpSpPr>
          <a:xfrm>
            <a:off x="10420960" y="1405988"/>
            <a:ext cx="6176333" cy="3008313"/>
            <a:chOff x="0" y="-127088"/>
            <a:chExt cx="8235111" cy="4011085"/>
          </a:xfrm>
        </p:grpSpPr>
        <p:grpSp>
          <p:nvGrpSpPr>
            <p:cNvPr id="352" name="Google Shape;352;p10"/>
            <p:cNvGrpSpPr/>
            <p:nvPr/>
          </p:nvGrpSpPr>
          <p:grpSpPr>
            <a:xfrm rot="10800000">
              <a:off x="0" y="2419461"/>
              <a:ext cx="8235111" cy="1464536"/>
              <a:chOff x="0" y="-38100"/>
              <a:chExt cx="2468816" cy="439055"/>
            </a:xfrm>
          </p:grpSpPr>
          <p:sp>
            <p:nvSpPr>
              <p:cNvPr id="353" name="Google Shape;353;p10"/>
              <p:cNvSpPr/>
              <p:nvPr/>
            </p:nvSpPr>
            <p:spPr>
              <a:xfrm>
                <a:off x="0" y="0"/>
                <a:ext cx="2468816" cy="400955"/>
              </a:xfrm>
              <a:custGeom>
                <a:rect b="b" l="l" r="r" t="t"/>
                <a:pathLst>
                  <a:path extrusionOk="0" h="40095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363351"/>
                    </a:lnTo>
                    <a:cubicBezTo>
                      <a:pt x="2468816" y="384119"/>
                      <a:pt x="2451980" y="400955"/>
                      <a:pt x="2431211" y="400955"/>
                    </a:cubicBezTo>
                    <a:lnTo>
                      <a:pt x="37604" y="400955"/>
                    </a:lnTo>
                    <a:cubicBezTo>
                      <a:pt x="16836" y="400955"/>
                      <a:pt x="0" y="384119"/>
                      <a:pt x="0" y="363351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10"/>
              <p:cNvSpPr txBox="1"/>
              <p:nvPr/>
            </p:nvSpPr>
            <p:spPr>
              <a:xfrm>
                <a:off x="0" y="-38100"/>
                <a:ext cx="2468816" cy="439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" name="Google Shape;355;p10"/>
            <p:cNvGrpSpPr/>
            <p:nvPr/>
          </p:nvGrpSpPr>
          <p:grpSpPr>
            <a:xfrm>
              <a:off x="0" y="-127088"/>
              <a:ext cx="8235111" cy="3592480"/>
              <a:chOff x="0" y="-38100"/>
              <a:chExt cx="2468816" cy="1076995"/>
            </a:xfrm>
          </p:grpSpPr>
          <p:sp>
            <p:nvSpPr>
              <p:cNvPr id="356" name="Google Shape;356;p10"/>
              <p:cNvSpPr/>
              <p:nvPr/>
            </p:nvSpPr>
            <p:spPr>
              <a:xfrm>
                <a:off x="0" y="0"/>
                <a:ext cx="2468816" cy="1038895"/>
              </a:xfrm>
              <a:custGeom>
                <a:rect b="b" l="l" r="r" t="t"/>
                <a:pathLst>
                  <a:path extrusionOk="0" h="103889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1001290"/>
                    </a:lnTo>
                    <a:cubicBezTo>
                      <a:pt x="2468816" y="1022059"/>
                      <a:pt x="2451980" y="1038895"/>
                      <a:pt x="2431211" y="1038895"/>
                    </a:cubicBezTo>
                    <a:lnTo>
                      <a:pt x="37604" y="1038895"/>
                    </a:lnTo>
                    <a:cubicBezTo>
                      <a:pt x="27631" y="1038895"/>
                      <a:pt x="18066" y="1034933"/>
                      <a:pt x="11014" y="1027881"/>
                    </a:cubicBezTo>
                    <a:cubicBezTo>
                      <a:pt x="3962" y="1020829"/>
                      <a:pt x="0" y="1011264"/>
                      <a:pt x="0" y="1001290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0"/>
              <p:cNvSpPr txBox="1"/>
              <p:nvPr/>
            </p:nvSpPr>
            <p:spPr>
              <a:xfrm>
                <a:off x="0" y="-38100"/>
                <a:ext cx="2468816" cy="1076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8" name="Google Shape;358;p10"/>
          <p:cNvGrpSpPr/>
          <p:nvPr/>
        </p:nvGrpSpPr>
        <p:grpSpPr>
          <a:xfrm>
            <a:off x="10420960" y="5083513"/>
            <a:ext cx="6176333" cy="3008313"/>
            <a:chOff x="0" y="-127088"/>
            <a:chExt cx="8235111" cy="4011085"/>
          </a:xfrm>
        </p:grpSpPr>
        <p:grpSp>
          <p:nvGrpSpPr>
            <p:cNvPr id="359" name="Google Shape;359;p10"/>
            <p:cNvGrpSpPr/>
            <p:nvPr/>
          </p:nvGrpSpPr>
          <p:grpSpPr>
            <a:xfrm rot="10800000">
              <a:off x="0" y="2419461"/>
              <a:ext cx="8235111" cy="1464536"/>
              <a:chOff x="0" y="-38100"/>
              <a:chExt cx="2468816" cy="439055"/>
            </a:xfrm>
          </p:grpSpPr>
          <p:sp>
            <p:nvSpPr>
              <p:cNvPr id="360" name="Google Shape;360;p10"/>
              <p:cNvSpPr/>
              <p:nvPr/>
            </p:nvSpPr>
            <p:spPr>
              <a:xfrm>
                <a:off x="0" y="0"/>
                <a:ext cx="2468816" cy="400955"/>
              </a:xfrm>
              <a:custGeom>
                <a:rect b="b" l="l" r="r" t="t"/>
                <a:pathLst>
                  <a:path extrusionOk="0" h="40095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363351"/>
                    </a:lnTo>
                    <a:cubicBezTo>
                      <a:pt x="2468816" y="384119"/>
                      <a:pt x="2451980" y="400955"/>
                      <a:pt x="2431211" y="400955"/>
                    </a:cubicBezTo>
                    <a:lnTo>
                      <a:pt x="37604" y="400955"/>
                    </a:lnTo>
                    <a:cubicBezTo>
                      <a:pt x="16836" y="400955"/>
                      <a:pt x="0" y="384119"/>
                      <a:pt x="0" y="363351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10"/>
              <p:cNvSpPr txBox="1"/>
              <p:nvPr/>
            </p:nvSpPr>
            <p:spPr>
              <a:xfrm>
                <a:off x="0" y="-38100"/>
                <a:ext cx="2468816" cy="439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2" name="Google Shape;362;p10"/>
            <p:cNvGrpSpPr/>
            <p:nvPr/>
          </p:nvGrpSpPr>
          <p:grpSpPr>
            <a:xfrm>
              <a:off x="0" y="-127088"/>
              <a:ext cx="8235111" cy="3592480"/>
              <a:chOff x="0" y="-38100"/>
              <a:chExt cx="2468816" cy="1076995"/>
            </a:xfrm>
          </p:grpSpPr>
          <p:sp>
            <p:nvSpPr>
              <p:cNvPr id="363" name="Google Shape;363;p10"/>
              <p:cNvSpPr/>
              <p:nvPr/>
            </p:nvSpPr>
            <p:spPr>
              <a:xfrm>
                <a:off x="0" y="0"/>
                <a:ext cx="2468816" cy="1038895"/>
              </a:xfrm>
              <a:custGeom>
                <a:rect b="b" l="l" r="r" t="t"/>
                <a:pathLst>
                  <a:path extrusionOk="0" h="1038895" w="2468816">
                    <a:moveTo>
                      <a:pt x="37604" y="0"/>
                    </a:moveTo>
                    <a:lnTo>
                      <a:pt x="2431211" y="0"/>
                    </a:lnTo>
                    <a:cubicBezTo>
                      <a:pt x="2441185" y="0"/>
                      <a:pt x="2450749" y="3962"/>
                      <a:pt x="2457802" y="11014"/>
                    </a:cubicBezTo>
                    <a:cubicBezTo>
                      <a:pt x="2464854" y="18066"/>
                      <a:pt x="2468816" y="27631"/>
                      <a:pt x="2468816" y="37604"/>
                    </a:cubicBezTo>
                    <a:lnTo>
                      <a:pt x="2468816" y="1001290"/>
                    </a:lnTo>
                    <a:cubicBezTo>
                      <a:pt x="2468816" y="1022059"/>
                      <a:pt x="2451980" y="1038895"/>
                      <a:pt x="2431211" y="1038895"/>
                    </a:cubicBezTo>
                    <a:lnTo>
                      <a:pt x="37604" y="1038895"/>
                    </a:lnTo>
                    <a:cubicBezTo>
                      <a:pt x="27631" y="1038895"/>
                      <a:pt x="18066" y="1034933"/>
                      <a:pt x="11014" y="1027881"/>
                    </a:cubicBezTo>
                    <a:cubicBezTo>
                      <a:pt x="3962" y="1020829"/>
                      <a:pt x="0" y="1011264"/>
                      <a:pt x="0" y="1001290"/>
                    </a:cubicBezTo>
                    <a:lnTo>
                      <a:pt x="0" y="37604"/>
                    </a:lnTo>
                    <a:cubicBezTo>
                      <a:pt x="0" y="27631"/>
                      <a:pt x="3962" y="18066"/>
                      <a:pt x="11014" y="11014"/>
                    </a:cubicBezTo>
                    <a:cubicBezTo>
                      <a:pt x="18066" y="3962"/>
                      <a:pt x="27631" y="0"/>
                      <a:pt x="376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0"/>
              <p:cNvSpPr txBox="1"/>
              <p:nvPr/>
            </p:nvSpPr>
            <p:spPr>
              <a:xfrm>
                <a:off x="0" y="-38100"/>
                <a:ext cx="2468816" cy="1076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0"/>
          <p:cNvGrpSpPr/>
          <p:nvPr/>
        </p:nvGrpSpPr>
        <p:grpSpPr>
          <a:xfrm>
            <a:off x="5123549" y="995875"/>
            <a:ext cx="3342194" cy="936674"/>
            <a:chOff x="0" y="-47625"/>
            <a:chExt cx="2145665" cy="601338"/>
          </a:xfrm>
        </p:grpSpPr>
        <p:sp>
          <p:nvSpPr>
            <p:cNvPr id="366" name="Google Shape;366;p10"/>
            <p:cNvSpPr/>
            <p:nvPr/>
          </p:nvSpPr>
          <p:spPr>
            <a:xfrm>
              <a:off x="0" y="0"/>
              <a:ext cx="2145665" cy="553713"/>
            </a:xfrm>
            <a:custGeom>
              <a:rect b="b" l="l" r="r" t="t"/>
              <a:pathLst>
                <a:path extrusionOk="0" h="553713" w="2145665">
                  <a:moveTo>
                    <a:pt x="46328" y="0"/>
                  </a:moveTo>
                  <a:lnTo>
                    <a:pt x="2099337" y="0"/>
                  </a:lnTo>
                  <a:cubicBezTo>
                    <a:pt x="2111624" y="0"/>
                    <a:pt x="2123408" y="4881"/>
                    <a:pt x="2132096" y="13569"/>
                  </a:cubicBezTo>
                  <a:cubicBezTo>
                    <a:pt x="2140784" y="22258"/>
                    <a:pt x="2145665" y="34041"/>
                    <a:pt x="2145665" y="46328"/>
                  </a:cubicBezTo>
                  <a:lnTo>
                    <a:pt x="2145665" y="507385"/>
                  </a:lnTo>
                  <a:cubicBezTo>
                    <a:pt x="2145665" y="519672"/>
                    <a:pt x="2140784" y="531456"/>
                    <a:pt x="2132096" y="540144"/>
                  </a:cubicBezTo>
                  <a:cubicBezTo>
                    <a:pt x="2123408" y="548832"/>
                    <a:pt x="2111624" y="553713"/>
                    <a:pt x="2099337" y="553713"/>
                  </a:cubicBezTo>
                  <a:lnTo>
                    <a:pt x="46328" y="553713"/>
                  </a:lnTo>
                  <a:cubicBezTo>
                    <a:pt x="34041" y="553713"/>
                    <a:pt x="22258" y="548832"/>
                    <a:pt x="13569" y="540144"/>
                  </a:cubicBezTo>
                  <a:cubicBezTo>
                    <a:pt x="4881" y="531456"/>
                    <a:pt x="0" y="519672"/>
                    <a:pt x="0" y="507385"/>
                  </a:cubicBezTo>
                  <a:lnTo>
                    <a:pt x="0" y="46328"/>
                  </a:lnTo>
                  <a:cubicBezTo>
                    <a:pt x="0" y="34041"/>
                    <a:pt x="4881" y="22258"/>
                    <a:pt x="13569" y="13569"/>
                  </a:cubicBezTo>
                  <a:cubicBezTo>
                    <a:pt x="22258" y="4881"/>
                    <a:pt x="34041" y="0"/>
                    <a:pt x="4632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0"/>
            <p:cNvSpPr txBox="1"/>
            <p:nvPr/>
          </p:nvSpPr>
          <p:spPr>
            <a:xfrm>
              <a:off x="0" y="-47625"/>
              <a:ext cx="2145665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0"/>
          <p:cNvGrpSpPr/>
          <p:nvPr/>
        </p:nvGrpSpPr>
        <p:grpSpPr>
          <a:xfrm>
            <a:off x="5123549" y="4638072"/>
            <a:ext cx="3342194" cy="936674"/>
            <a:chOff x="0" y="-47625"/>
            <a:chExt cx="2145665" cy="601338"/>
          </a:xfrm>
        </p:grpSpPr>
        <p:sp>
          <p:nvSpPr>
            <p:cNvPr id="369" name="Google Shape;369;p10"/>
            <p:cNvSpPr/>
            <p:nvPr/>
          </p:nvSpPr>
          <p:spPr>
            <a:xfrm>
              <a:off x="0" y="0"/>
              <a:ext cx="2145665" cy="553713"/>
            </a:xfrm>
            <a:custGeom>
              <a:rect b="b" l="l" r="r" t="t"/>
              <a:pathLst>
                <a:path extrusionOk="0" h="553713" w="2145665">
                  <a:moveTo>
                    <a:pt x="46328" y="0"/>
                  </a:moveTo>
                  <a:lnTo>
                    <a:pt x="2099337" y="0"/>
                  </a:lnTo>
                  <a:cubicBezTo>
                    <a:pt x="2111624" y="0"/>
                    <a:pt x="2123408" y="4881"/>
                    <a:pt x="2132096" y="13569"/>
                  </a:cubicBezTo>
                  <a:cubicBezTo>
                    <a:pt x="2140784" y="22258"/>
                    <a:pt x="2145665" y="34041"/>
                    <a:pt x="2145665" y="46328"/>
                  </a:cubicBezTo>
                  <a:lnTo>
                    <a:pt x="2145665" y="507385"/>
                  </a:lnTo>
                  <a:cubicBezTo>
                    <a:pt x="2145665" y="519672"/>
                    <a:pt x="2140784" y="531456"/>
                    <a:pt x="2132096" y="540144"/>
                  </a:cubicBezTo>
                  <a:cubicBezTo>
                    <a:pt x="2123408" y="548832"/>
                    <a:pt x="2111624" y="553713"/>
                    <a:pt x="2099337" y="553713"/>
                  </a:cubicBezTo>
                  <a:lnTo>
                    <a:pt x="46328" y="553713"/>
                  </a:lnTo>
                  <a:cubicBezTo>
                    <a:pt x="34041" y="553713"/>
                    <a:pt x="22258" y="548832"/>
                    <a:pt x="13569" y="540144"/>
                  </a:cubicBezTo>
                  <a:cubicBezTo>
                    <a:pt x="4881" y="531456"/>
                    <a:pt x="0" y="519672"/>
                    <a:pt x="0" y="507385"/>
                  </a:cubicBezTo>
                  <a:lnTo>
                    <a:pt x="0" y="46328"/>
                  </a:lnTo>
                  <a:cubicBezTo>
                    <a:pt x="0" y="34041"/>
                    <a:pt x="4881" y="22258"/>
                    <a:pt x="13569" y="13569"/>
                  </a:cubicBezTo>
                  <a:cubicBezTo>
                    <a:pt x="22258" y="4881"/>
                    <a:pt x="34041" y="0"/>
                    <a:pt x="46328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0"/>
            <p:cNvSpPr txBox="1"/>
            <p:nvPr/>
          </p:nvSpPr>
          <p:spPr>
            <a:xfrm>
              <a:off x="0" y="-47625"/>
              <a:ext cx="2145665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10"/>
          <p:cNvGrpSpPr/>
          <p:nvPr/>
        </p:nvGrpSpPr>
        <p:grpSpPr>
          <a:xfrm>
            <a:off x="11838030" y="995875"/>
            <a:ext cx="3342194" cy="936674"/>
            <a:chOff x="0" y="-47625"/>
            <a:chExt cx="2145665" cy="601338"/>
          </a:xfrm>
        </p:grpSpPr>
        <p:sp>
          <p:nvSpPr>
            <p:cNvPr id="372" name="Google Shape;372;p10"/>
            <p:cNvSpPr/>
            <p:nvPr/>
          </p:nvSpPr>
          <p:spPr>
            <a:xfrm>
              <a:off x="0" y="0"/>
              <a:ext cx="2145665" cy="553713"/>
            </a:xfrm>
            <a:custGeom>
              <a:rect b="b" l="l" r="r" t="t"/>
              <a:pathLst>
                <a:path extrusionOk="0" h="553713" w="2145665">
                  <a:moveTo>
                    <a:pt x="46328" y="0"/>
                  </a:moveTo>
                  <a:lnTo>
                    <a:pt x="2099337" y="0"/>
                  </a:lnTo>
                  <a:cubicBezTo>
                    <a:pt x="2111624" y="0"/>
                    <a:pt x="2123408" y="4881"/>
                    <a:pt x="2132096" y="13569"/>
                  </a:cubicBezTo>
                  <a:cubicBezTo>
                    <a:pt x="2140784" y="22258"/>
                    <a:pt x="2145665" y="34041"/>
                    <a:pt x="2145665" y="46328"/>
                  </a:cubicBezTo>
                  <a:lnTo>
                    <a:pt x="2145665" y="507385"/>
                  </a:lnTo>
                  <a:cubicBezTo>
                    <a:pt x="2145665" y="519672"/>
                    <a:pt x="2140784" y="531456"/>
                    <a:pt x="2132096" y="540144"/>
                  </a:cubicBezTo>
                  <a:cubicBezTo>
                    <a:pt x="2123408" y="548832"/>
                    <a:pt x="2111624" y="553713"/>
                    <a:pt x="2099337" y="553713"/>
                  </a:cubicBezTo>
                  <a:lnTo>
                    <a:pt x="46328" y="553713"/>
                  </a:lnTo>
                  <a:cubicBezTo>
                    <a:pt x="34041" y="553713"/>
                    <a:pt x="22258" y="548832"/>
                    <a:pt x="13569" y="540144"/>
                  </a:cubicBezTo>
                  <a:cubicBezTo>
                    <a:pt x="4881" y="531456"/>
                    <a:pt x="0" y="519672"/>
                    <a:pt x="0" y="507385"/>
                  </a:cubicBezTo>
                  <a:lnTo>
                    <a:pt x="0" y="46328"/>
                  </a:lnTo>
                  <a:cubicBezTo>
                    <a:pt x="0" y="34041"/>
                    <a:pt x="4881" y="22258"/>
                    <a:pt x="13569" y="13569"/>
                  </a:cubicBezTo>
                  <a:cubicBezTo>
                    <a:pt x="22258" y="4881"/>
                    <a:pt x="34041" y="0"/>
                    <a:pt x="46328" y="0"/>
                  </a:cubicBezTo>
                  <a:close/>
                </a:path>
              </a:pathLst>
            </a:custGeom>
            <a:gradFill>
              <a:gsLst>
                <a:gs pos="0">
                  <a:srgbClr val="2D5297"/>
                </a:gs>
                <a:gs pos="100000">
                  <a:srgbClr val="08122E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0"/>
            <p:cNvSpPr txBox="1"/>
            <p:nvPr/>
          </p:nvSpPr>
          <p:spPr>
            <a:xfrm>
              <a:off x="0" y="-47625"/>
              <a:ext cx="2145665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10"/>
          <p:cNvGrpSpPr/>
          <p:nvPr/>
        </p:nvGrpSpPr>
        <p:grpSpPr>
          <a:xfrm>
            <a:off x="11838030" y="4638072"/>
            <a:ext cx="3342194" cy="936674"/>
            <a:chOff x="0" y="-47625"/>
            <a:chExt cx="2145665" cy="601338"/>
          </a:xfrm>
        </p:grpSpPr>
        <p:sp>
          <p:nvSpPr>
            <p:cNvPr id="375" name="Google Shape;375;p10"/>
            <p:cNvSpPr/>
            <p:nvPr/>
          </p:nvSpPr>
          <p:spPr>
            <a:xfrm>
              <a:off x="0" y="0"/>
              <a:ext cx="2145665" cy="553713"/>
            </a:xfrm>
            <a:custGeom>
              <a:rect b="b" l="l" r="r" t="t"/>
              <a:pathLst>
                <a:path extrusionOk="0" h="553713" w="2145665">
                  <a:moveTo>
                    <a:pt x="46328" y="0"/>
                  </a:moveTo>
                  <a:lnTo>
                    <a:pt x="2099337" y="0"/>
                  </a:lnTo>
                  <a:cubicBezTo>
                    <a:pt x="2111624" y="0"/>
                    <a:pt x="2123408" y="4881"/>
                    <a:pt x="2132096" y="13569"/>
                  </a:cubicBezTo>
                  <a:cubicBezTo>
                    <a:pt x="2140784" y="22258"/>
                    <a:pt x="2145665" y="34041"/>
                    <a:pt x="2145665" y="46328"/>
                  </a:cubicBezTo>
                  <a:lnTo>
                    <a:pt x="2145665" y="507385"/>
                  </a:lnTo>
                  <a:cubicBezTo>
                    <a:pt x="2145665" y="519672"/>
                    <a:pt x="2140784" y="531456"/>
                    <a:pt x="2132096" y="540144"/>
                  </a:cubicBezTo>
                  <a:cubicBezTo>
                    <a:pt x="2123408" y="548832"/>
                    <a:pt x="2111624" y="553713"/>
                    <a:pt x="2099337" y="553713"/>
                  </a:cubicBezTo>
                  <a:lnTo>
                    <a:pt x="46328" y="553713"/>
                  </a:lnTo>
                  <a:cubicBezTo>
                    <a:pt x="34041" y="553713"/>
                    <a:pt x="22258" y="548832"/>
                    <a:pt x="13569" y="540144"/>
                  </a:cubicBezTo>
                  <a:cubicBezTo>
                    <a:pt x="4881" y="531456"/>
                    <a:pt x="0" y="519672"/>
                    <a:pt x="0" y="507385"/>
                  </a:cubicBezTo>
                  <a:lnTo>
                    <a:pt x="0" y="46328"/>
                  </a:lnTo>
                  <a:cubicBezTo>
                    <a:pt x="0" y="34041"/>
                    <a:pt x="4881" y="22258"/>
                    <a:pt x="13569" y="13569"/>
                  </a:cubicBezTo>
                  <a:cubicBezTo>
                    <a:pt x="22258" y="4881"/>
                    <a:pt x="34041" y="0"/>
                    <a:pt x="46328" y="0"/>
                  </a:cubicBezTo>
                  <a:close/>
                </a:path>
              </a:pathLst>
            </a:custGeom>
            <a:gradFill>
              <a:gsLst>
                <a:gs pos="0">
                  <a:srgbClr val="2D5297"/>
                </a:gs>
                <a:gs pos="100000">
                  <a:srgbClr val="08122E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0"/>
            <p:cNvSpPr txBox="1"/>
            <p:nvPr/>
          </p:nvSpPr>
          <p:spPr>
            <a:xfrm>
              <a:off x="0" y="-47625"/>
              <a:ext cx="2145665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10"/>
          <p:cNvSpPr/>
          <p:nvPr/>
        </p:nvSpPr>
        <p:spPr>
          <a:xfrm>
            <a:off x="-1219741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78" name="Google Shape;378;p10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10"/>
          <p:cNvSpPr txBox="1"/>
          <p:nvPr/>
        </p:nvSpPr>
        <p:spPr>
          <a:xfrm>
            <a:off x="4138821" y="2240880"/>
            <a:ext cx="5311800" cy="1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rPr b="0" i="0" lang="en-US" sz="3199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Cálculo y visualización de operaciones aritméticas.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"/>
          <p:cNvSpPr txBox="1"/>
          <p:nvPr/>
        </p:nvSpPr>
        <p:spPr>
          <a:xfrm rot="-5400000">
            <a:off x="-1310836" y="3965312"/>
            <a:ext cx="7374372" cy="99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0"/>
              <a:buFont typeface="Arial"/>
              <a:buNone/>
            </a:pPr>
            <a:r>
              <a:rPr b="1" i="0" lang="en-US" sz="58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Aplicaciones de BCD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0"/>
          <p:cNvSpPr txBox="1"/>
          <p:nvPr/>
        </p:nvSpPr>
        <p:spPr>
          <a:xfrm>
            <a:off x="11034723" y="2240880"/>
            <a:ext cx="5311650" cy="537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rPr b="0" i="0" lang="en-US" sz="3199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Display’s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 txBox="1"/>
          <p:nvPr/>
        </p:nvSpPr>
        <p:spPr>
          <a:xfrm>
            <a:off x="4243843" y="6009185"/>
            <a:ext cx="5311650" cy="537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rPr b="0" i="0" lang="en-US" sz="3199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Relojes digitales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 txBox="1"/>
          <p:nvPr/>
        </p:nvSpPr>
        <p:spPr>
          <a:xfrm>
            <a:off x="10853302" y="5908120"/>
            <a:ext cx="5311650" cy="537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rPr b="0" i="0" lang="en-US" sz="3199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Calculadoras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sp>
        <p:nvSpPr>
          <p:cNvPr id="389" name="Google Shape;389;p11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11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028700" y="2339281"/>
            <a:ext cx="5608439" cy="5608439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lnTo>
                  <a:pt x="6858000" y="0"/>
                </a:ln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1242747" y="2553328"/>
            <a:ext cx="5180345" cy="5180345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4994" l="0" r="0" t="-24995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3" name="Google Shape;393;p11"/>
          <p:cNvGrpSpPr/>
          <p:nvPr/>
        </p:nvGrpSpPr>
        <p:grpSpPr>
          <a:xfrm>
            <a:off x="7045461" y="2029476"/>
            <a:ext cx="10048400" cy="6228050"/>
            <a:chOff x="0" y="-183902"/>
            <a:chExt cx="13397866" cy="8304066"/>
          </a:xfrm>
        </p:grpSpPr>
        <p:grpSp>
          <p:nvGrpSpPr>
            <p:cNvPr id="394" name="Google Shape;394;p11"/>
            <p:cNvGrpSpPr/>
            <p:nvPr/>
          </p:nvGrpSpPr>
          <p:grpSpPr>
            <a:xfrm rot="10800000">
              <a:off x="0" y="5314801"/>
              <a:ext cx="13397866" cy="2805363"/>
              <a:chOff x="0" y="-38100"/>
              <a:chExt cx="2775717" cy="581204"/>
            </a:xfrm>
          </p:grpSpPr>
          <p:sp>
            <p:nvSpPr>
              <p:cNvPr id="395" name="Google Shape;395;p11"/>
              <p:cNvSpPr/>
              <p:nvPr/>
            </p:nvSpPr>
            <p:spPr>
              <a:xfrm>
                <a:off x="0" y="0"/>
                <a:ext cx="2775717" cy="543104"/>
              </a:xfrm>
              <a:custGeom>
                <a:rect b="b" l="l" r="r" t="t"/>
                <a:pathLst>
                  <a:path extrusionOk="0" h="543104" w="2775717">
                    <a:moveTo>
                      <a:pt x="24412" y="0"/>
                    </a:moveTo>
                    <a:lnTo>
                      <a:pt x="2751305" y="0"/>
                    </a:lnTo>
                    <a:cubicBezTo>
                      <a:pt x="2757780" y="0"/>
                      <a:pt x="2763989" y="2572"/>
                      <a:pt x="2768567" y="7150"/>
                    </a:cubicBezTo>
                    <a:cubicBezTo>
                      <a:pt x="2773145" y="11728"/>
                      <a:pt x="2775717" y="17937"/>
                      <a:pt x="2775717" y="24412"/>
                    </a:cubicBezTo>
                    <a:lnTo>
                      <a:pt x="2775717" y="518692"/>
                    </a:lnTo>
                    <a:cubicBezTo>
                      <a:pt x="2775717" y="532174"/>
                      <a:pt x="2764788" y="543104"/>
                      <a:pt x="2751305" y="543104"/>
                    </a:cubicBezTo>
                    <a:lnTo>
                      <a:pt x="24412" y="543104"/>
                    </a:lnTo>
                    <a:cubicBezTo>
                      <a:pt x="10930" y="543104"/>
                      <a:pt x="0" y="532174"/>
                      <a:pt x="0" y="518692"/>
                    </a:cubicBezTo>
                    <a:lnTo>
                      <a:pt x="0" y="24412"/>
                    </a:lnTo>
                    <a:cubicBezTo>
                      <a:pt x="0" y="10930"/>
                      <a:pt x="10930" y="0"/>
                      <a:pt x="2441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1"/>
              <p:cNvSpPr txBox="1"/>
              <p:nvPr/>
            </p:nvSpPr>
            <p:spPr>
              <a:xfrm>
                <a:off x="0" y="-38100"/>
                <a:ext cx="2775717" cy="5812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2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7" name="Google Shape;397;p11"/>
            <p:cNvGrpSpPr/>
            <p:nvPr/>
          </p:nvGrpSpPr>
          <p:grpSpPr>
            <a:xfrm>
              <a:off x="0" y="-183902"/>
              <a:ext cx="13397866" cy="7449309"/>
              <a:chOff x="0" y="-38100"/>
              <a:chExt cx="2775717" cy="1543318"/>
            </a:xfrm>
          </p:grpSpPr>
          <p:sp>
            <p:nvSpPr>
              <p:cNvPr id="398" name="Google Shape;398;p11"/>
              <p:cNvSpPr/>
              <p:nvPr/>
            </p:nvSpPr>
            <p:spPr>
              <a:xfrm>
                <a:off x="0" y="0"/>
                <a:ext cx="2775717" cy="1505218"/>
              </a:xfrm>
              <a:custGeom>
                <a:rect b="b" l="l" r="r" t="t"/>
                <a:pathLst>
                  <a:path extrusionOk="0" h="1505218" w="2775717">
                    <a:moveTo>
                      <a:pt x="24412" y="0"/>
                    </a:moveTo>
                    <a:lnTo>
                      <a:pt x="2751305" y="0"/>
                    </a:lnTo>
                    <a:cubicBezTo>
                      <a:pt x="2757780" y="0"/>
                      <a:pt x="2763989" y="2572"/>
                      <a:pt x="2768567" y="7150"/>
                    </a:cubicBezTo>
                    <a:cubicBezTo>
                      <a:pt x="2773145" y="11728"/>
                      <a:pt x="2775717" y="17937"/>
                      <a:pt x="2775717" y="24412"/>
                    </a:cubicBezTo>
                    <a:lnTo>
                      <a:pt x="2775717" y="1480807"/>
                    </a:lnTo>
                    <a:cubicBezTo>
                      <a:pt x="2775717" y="1494289"/>
                      <a:pt x="2764788" y="1505218"/>
                      <a:pt x="2751305" y="1505218"/>
                    </a:cubicBezTo>
                    <a:lnTo>
                      <a:pt x="24412" y="1505218"/>
                    </a:lnTo>
                    <a:cubicBezTo>
                      <a:pt x="17937" y="1505218"/>
                      <a:pt x="11728" y="1502646"/>
                      <a:pt x="7150" y="1498068"/>
                    </a:cubicBezTo>
                    <a:cubicBezTo>
                      <a:pt x="2572" y="1493490"/>
                      <a:pt x="0" y="1487281"/>
                      <a:pt x="0" y="1480807"/>
                    </a:cubicBezTo>
                    <a:lnTo>
                      <a:pt x="0" y="24412"/>
                    </a:lnTo>
                    <a:cubicBezTo>
                      <a:pt x="0" y="10930"/>
                      <a:pt x="10930" y="0"/>
                      <a:pt x="244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1"/>
              <p:cNvSpPr txBox="1"/>
              <p:nvPr/>
            </p:nvSpPr>
            <p:spPr>
              <a:xfrm>
                <a:off x="0" y="-38100"/>
                <a:ext cx="2775717" cy="1543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2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11"/>
          <p:cNvGrpSpPr/>
          <p:nvPr/>
        </p:nvGrpSpPr>
        <p:grpSpPr>
          <a:xfrm>
            <a:off x="7045461" y="101975"/>
            <a:ext cx="10048400" cy="1504624"/>
            <a:chOff x="0" y="-47625"/>
            <a:chExt cx="4015946" cy="601338"/>
          </a:xfrm>
        </p:grpSpPr>
        <p:sp>
          <p:nvSpPr>
            <p:cNvPr id="401" name="Google Shape;401;p11"/>
            <p:cNvSpPr/>
            <p:nvPr/>
          </p:nvSpPr>
          <p:spPr>
            <a:xfrm>
              <a:off x="0" y="0"/>
              <a:ext cx="4015946" cy="553713"/>
            </a:xfrm>
            <a:custGeom>
              <a:rect b="b" l="l" r="r" t="t"/>
              <a:pathLst>
                <a:path extrusionOk="0" h="553713" w="4015946">
                  <a:moveTo>
                    <a:pt x="15409" y="0"/>
                  </a:moveTo>
                  <a:lnTo>
                    <a:pt x="4000537" y="0"/>
                  </a:lnTo>
                  <a:cubicBezTo>
                    <a:pt x="4009047" y="0"/>
                    <a:pt x="4015946" y="6899"/>
                    <a:pt x="4015946" y="15409"/>
                  </a:cubicBezTo>
                  <a:lnTo>
                    <a:pt x="4015946" y="538304"/>
                  </a:lnTo>
                  <a:cubicBezTo>
                    <a:pt x="4015946" y="542391"/>
                    <a:pt x="4014322" y="546310"/>
                    <a:pt x="4011433" y="549200"/>
                  </a:cubicBezTo>
                  <a:cubicBezTo>
                    <a:pt x="4008543" y="552090"/>
                    <a:pt x="4004623" y="553713"/>
                    <a:pt x="4000537" y="553713"/>
                  </a:cubicBezTo>
                  <a:lnTo>
                    <a:pt x="15409" y="553713"/>
                  </a:lnTo>
                  <a:cubicBezTo>
                    <a:pt x="6899" y="553713"/>
                    <a:pt x="0" y="546814"/>
                    <a:pt x="0" y="538304"/>
                  </a:cubicBezTo>
                  <a:lnTo>
                    <a:pt x="0" y="15409"/>
                  </a:lnTo>
                  <a:cubicBezTo>
                    <a:pt x="0" y="11322"/>
                    <a:pt x="1623" y="7403"/>
                    <a:pt x="4513" y="4513"/>
                  </a:cubicBezTo>
                  <a:cubicBezTo>
                    <a:pt x="7403" y="1623"/>
                    <a:pt x="11322" y="0"/>
                    <a:pt x="15409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1"/>
            <p:cNvSpPr txBox="1"/>
            <p:nvPr/>
          </p:nvSpPr>
          <p:spPr>
            <a:xfrm>
              <a:off x="0" y="-47625"/>
              <a:ext cx="4015946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3" name="Google Shape;403;p11"/>
          <p:cNvSpPr txBox="1"/>
          <p:nvPr/>
        </p:nvSpPr>
        <p:spPr>
          <a:xfrm>
            <a:off x="6909269" y="489466"/>
            <a:ext cx="10320784" cy="76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7"/>
              <a:buFont typeface="Arial"/>
              <a:buNone/>
            </a:pPr>
            <a:r>
              <a:rPr b="1" i="0" lang="en-US" sz="4457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CONCEPTOS CLAVES APRENDIDOS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 flipH="1">
            <a:off x="1028700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11"/>
          <p:cNvSpPr txBox="1"/>
          <p:nvPr/>
        </p:nvSpPr>
        <p:spPr>
          <a:xfrm>
            <a:off x="7241625" y="2291649"/>
            <a:ext cx="9495900" cy="6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0981" lvl="1" marL="501963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Char char="•"/>
            </a:pPr>
            <a:r>
              <a:rPr b="0" i="0" lang="en-US" sz="2324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COMPARADORES: CIRCUITOS QUE COMPARAN DOS NÚMEROS Y DETERMINAN SU RELACIÓN (MAYOR, MENOR O IGUAL).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None/>
            </a:pPr>
            <a:r>
              <a:t/>
            </a:r>
            <a:endParaRPr b="0" i="0" sz="2324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0981" lvl="1" marL="501963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Char char="•"/>
            </a:pPr>
            <a:r>
              <a:rPr b="0" i="0" lang="en-US" sz="2324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MULTIPLEXADORES (MUX): SELECCIONAN UNA ENTRE VARIAS ENTRADAS PARA DIRIGIRLA A UNA ÚNICA SALIDA.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None/>
            </a:pPr>
            <a:r>
              <a:t/>
            </a:r>
            <a:endParaRPr b="0" i="0" sz="2324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0981" lvl="1" marL="501963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Char char="•"/>
            </a:pPr>
            <a:r>
              <a:rPr b="0" i="0" lang="en-US" sz="2324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DEMULTIPLEXADORES (DEMUX): DISTRIBUYEN UNA ENTRADA HACIA MÚLTIPLES SALIDAS, SEGÚN SEÑALES DE CONTROL.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None/>
            </a:pPr>
            <a:r>
              <a:t/>
            </a:r>
            <a:endParaRPr b="0" i="0" sz="2324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0981" lvl="1" marL="501963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Char char="•"/>
            </a:pPr>
            <a:r>
              <a:rPr b="0" i="0" lang="en-US" sz="2324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CONVERSIÓN BINARIA A BCD: PERMITE REPRESENTAR NÚMEROS DECIMALES EN BINARIO, ESENCIAL PARA DISPLAYS Y CALCULADORAS.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3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None/>
            </a:pPr>
            <a:r>
              <a:t/>
            </a:r>
            <a:endParaRPr b="0" i="0" sz="2324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cxnSp>
        <p:nvCxnSpPr>
          <p:cNvPr id="411" name="Google Shape;411;p12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12"/>
          <p:cNvSpPr/>
          <p:nvPr/>
        </p:nvSpPr>
        <p:spPr>
          <a:xfrm flipH="1">
            <a:off x="6584740" y="8899376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3" name="Google Shape;413;p12"/>
          <p:cNvGrpSpPr/>
          <p:nvPr/>
        </p:nvGrpSpPr>
        <p:grpSpPr>
          <a:xfrm>
            <a:off x="1074158" y="2802281"/>
            <a:ext cx="15567305" cy="5233999"/>
            <a:chOff x="0" y="-38100"/>
            <a:chExt cx="6222593" cy="2092144"/>
          </a:xfrm>
        </p:grpSpPr>
        <p:sp>
          <p:nvSpPr>
            <p:cNvPr id="414" name="Google Shape;414;p12"/>
            <p:cNvSpPr/>
            <p:nvPr/>
          </p:nvSpPr>
          <p:spPr>
            <a:xfrm>
              <a:off x="0" y="0"/>
              <a:ext cx="6222593" cy="2054044"/>
            </a:xfrm>
            <a:custGeom>
              <a:rect b="b" l="l" r="r" t="t"/>
              <a:pathLst>
                <a:path extrusionOk="0" h="2054044" w="6222593">
                  <a:moveTo>
                    <a:pt x="14920" y="0"/>
                  </a:moveTo>
                  <a:lnTo>
                    <a:pt x="6207673" y="0"/>
                  </a:lnTo>
                  <a:cubicBezTo>
                    <a:pt x="6211630" y="0"/>
                    <a:pt x="6215425" y="1572"/>
                    <a:pt x="6218223" y="4370"/>
                  </a:cubicBezTo>
                  <a:cubicBezTo>
                    <a:pt x="6221021" y="7168"/>
                    <a:pt x="6222593" y="10963"/>
                    <a:pt x="6222593" y="14920"/>
                  </a:cubicBezTo>
                  <a:lnTo>
                    <a:pt x="6222593" y="2039125"/>
                  </a:lnTo>
                  <a:cubicBezTo>
                    <a:pt x="6222593" y="2047365"/>
                    <a:pt x="6215913" y="2054044"/>
                    <a:pt x="6207673" y="2054044"/>
                  </a:cubicBezTo>
                  <a:lnTo>
                    <a:pt x="14920" y="2054044"/>
                  </a:lnTo>
                  <a:cubicBezTo>
                    <a:pt x="6680" y="2054044"/>
                    <a:pt x="0" y="2047365"/>
                    <a:pt x="0" y="2039125"/>
                  </a:cubicBezTo>
                  <a:lnTo>
                    <a:pt x="0" y="14920"/>
                  </a:lnTo>
                  <a:cubicBezTo>
                    <a:pt x="0" y="6680"/>
                    <a:pt x="6680" y="0"/>
                    <a:pt x="149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2"/>
            <p:cNvSpPr txBox="1"/>
            <p:nvPr/>
          </p:nvSpPr>
          <p:spPr>
            <a:xfrm>
              <a:off x="0" y="-38100"/>
              <a:ext cx="6222593" cy="2092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12"/>
          <p:cNvSpPr txBox="1"/>
          <p:nvPr/>
        </p:nvSpPr>
        <p:spPr>
          <a:xfrm>
            <a:off x="1690707" y="8870771"/>
            <a:ext cx="4581908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ENUNCIADO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7" name="Google Shape;417;p12"/>
          <p:cNvGrpSpPr/>
          <p:nvPr/>
        </p:nvGrpSpPr>
        <p:grpSpPr>
          <a:xfrm>
            <a:off x="1711771" y="3101221"/>
            <a:ext cx="1238730" cy="695509"/>
            <a:chOff x="13470" y="-38100"/>
            <a:chExt cx="791622" cy="444500"/>
          </a:xfrm>
        </p:grpSpPr>
        <p:sp>
          <p:nvSpPr>
            <p:cNvPr id="418" name="Google Shape;418;p12"/>
            <p:cNvSpPr/>
            <p:nvPr/>
          </p:nvSpPr>
          <p:spPr>
            <a:xfrm>
              <a:off x="13470" y="0"/>
              <a:ext cx="791622" cy="406400"/>
            </a:xfrm>
            <a:custGeom>
              <a:rect b="b" l="l" r="r" t="t"/>
              <a:pathLst>
                <a:path extrusionOk="0" h="406400" w="791622">
                  <a:moveTo>
                    <a:pt x="10879" y="0"/>
                  </a:moveTo>
                  <a:lnTo>
                    <a:pt x="571781" y="0"/>
                  </a:lnTo>
                  <a:cubicBezTo>
                    <a:pt x="587371" y="0"/>
                    <a:pt x="602323" y="6193"/>
                    <a:pt x="613347" y="17217"/>
                  </a:cubicBezTo>
                  <a:lnTo>
                    <a:pt x="782113" y="185983"/>
                  </a:lnTo>
                  <a:cubicBezTo>
                    <a:pt x="791622" y="195492"/>
                    <a:pt x="791622" y="210908"/>
                    <a:pt x="782113" y="220417"/>
                  </a:cubicBezTo>
                  <a:lnTo>
                    <a:pt x="613347" y="389183"/>
                  </a:lnTo>
                  <a:cubicBezTo>
                    <a:pt x="602323" y="400207"/>
                    <a:pt x="587371" y="406400"/>
                    <a:pt x="571781" y="406400"/>
                  </a:cubicBezTo>
                  <a:lnTo>
                    <a:pt x="10879" y="406400"/>
                  </a:lnTo>
                  <a:cubicBezTo>
                    <a:pt x="6800" y="406400"/>
                    <a:pt x="3122" y="403943"/>
                    <a:pt x="1561" y="400174"/>
                  </a:cubicBezTo>
                  <a:cubicBezTo>
                    <a:pt x="0" y="396405"/>
                    <a:pt x="863" y="392067"/>
                    <a:pt x="3747" y="389183"/>
                  </a:cubicBezTo>
                  <a:lnTo>
                    <a:pt x="172513" y="220417"/>
                  </a:lnTo>
                  <a:cubicBezTo>
                    <a:pt x="182022" y="210908"/>
                    <a:pt x="182022" y="195492"/>
                    <a:pt x="172513" y="185983"/>
                  </a:cubicBezTo>
                  <a:lnTo>
                    <a:pt x="3747" y="17217"/>
                  </a:lnTo>
                  <a:cubicBezTo>
                    <a:pt x="863" y="14333"/>
                    <a:pt x="0" y="9995"/>
                    <a:pt x="1561" y="6226"/>
                  </a:cubicBezTo>
                  <a:cubicBezTo>
                    <a:pt x="3122" y="2457"/>
                    <a:pt x="6800" y="0"/>
                    <a:pt x="10879" y="0"/>
                  </a:cubicBezTo>
                  <a:close/>
                </a:path>
              </a:pathLst>
            </a:custGeom>
            <a:gradFill>
              <a:gsLst>
                <a:gs pos="0">
                  <a:srgbClr val="064E99"/>
                </a:gs>
                <a:gs pos="50000">
                  <a:srgbClr val="7194CD"/>
                </a:gs>
                <a:gs pos="100000">
                  <a:srgbClr val="CBDF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0" name="Google Shape;420;p12"/>
          <p:cNvGrpSpPr/>
          <p:nvPr/>
        </p:nvGrpSpPr>
        <p:grpSpPr>
          <a:xfrm>
            <a:off x="4993816" y="3097058"/>
            <a:ext cx="1238730" cy="695509"/>
            <a:chOff x="13470" y="-38100"/>
            <a:chExt cx="791622" cy="444500"/>
          </a:xfrm>
        </p:grpSpPr>
        <p:sp>
          <p:nvSpPr>
            <p:cNvPr id="421" name="Google Shape;421;p12"/>
            <p:cNvSpPr/>
            <p:nvPr/>
          </p:nvSpPr>
          <p:spPr>
            <a:xfrm>
              <a:off x="13470" y="0"/>
              <a:ext cx="791622" cy="406400"/>
            </a:xfrm>
            <a:custGeom>
              <a:rect b="b" l="l" r="r" t="t"/>
              <a:pathLst>
                <a:path extrusionOk="0" h="406400" w="791622">
                  <a:moveTo>
                    <a:pt x="10879" y="0"/>
                  </a:moveTo>
                  <a:lnTo>
                    <a:pt x="571781" y="0"/>
                  </a:lnTo>
                  <a:cubicBezTo>
                    <a:pt x="587371" y="0"/>
                    <a:pt x="602323" y="6193"/>
                    <a:pt x="613347" y="17217"/>
                  </a:cubicBezTo>
                  <a:lnTo>
                    <a:pt x="782113" y="185983"/>
                  </a:lnTo>
                  <a:cubicBezTo>
                    <a:pt x="791622" y="195492"/>
                    <a:pt x="791622" y="210908"/>
                    <a:pt x="782113" y="220417"/>
                  </a:cubicBezTo>
                  <a:lnTo>
                    <a:pt x="613347" y="389183"/>
                  </a:lnTo>
                  <a:cubicBezTo>
                    <a:pt x="602323" y="400207"/>
                    <a:pt x="587371" y="406400"/>
                    <a:pt x="571781" y="406400"/>
                  </a:cubicBezTo>
                  <a:lnTo>
                    <a:pt x="10879" y="406400"/>
                  </a:lnTo>
                  <a:cubicBezTo>
                    <a:pt x="6800" y="406400"/>
                    <a:pt x="3122" y="403943"/>
                    <a:pt x="1561" y="400174"/>
                  </a:cubicBezTo>
                  <a:cubicBezTo>
                    <a:pt x="0" y="396405"/>
                    <a:pt x="863" y="392067"/>
                    <a:pt x="3747" y="389183"/>
                  </a:cubicBezTo>
                  <a:lnTo>
                    <a:pt x="172513" y="220417"/>
                  </a:lnTo>
                  <a:cubicBezTo>
                    <a:pt x="182022" y="210908"/>
                    <a:pt x="182022" y="195492"/>
                    <a:pt x="172513" y="185983"/>
                  </a:cubicBezTo>
                  <a:lnTo>
                    <a:pt x="3747" y="17217"/>
                  </a:lnTo>
                  <a:cubicBezTo>
                    <a:pt x="863" y="14333"/>
                    <a:pt x="0" y="9995"/>
                    <a:pt x="1561" y="6226"/>
                  </a:cubicBezTo>
                  <a:cubicBezTo>
                    <a:pt x="3122" y="2457"/>
                    <a:pt x="6800" y="0"/>
                    <a:pt x="10879" y="0"/>
                  </a:cubicBezTo>
                  <a:close/>
                </a:path>
              </a:pathLst>
            </a:custGeom>
            <a:gradFill>
              <a:gsLst>
                <a:gs pos="0">
                  <a:srgbClr val="064E99"/>
                </a:gs>
                <a:gs pos="50000">
                  <a:srgbClr val="7194CD"/>
                </a:gs>
                <a:gs pos="100000">
                  <a:srgbClr val="CBDF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3" name="Google Shape;423;p12"/>
          <p:cNvSpPr txBox="1"/>
          <p:nvPr/>
        </p:nvSpPr>
        <p:spPr>
          <a:xfrm>
            <a:off x="1690700" y="4629311"/>
            <a:ext cx="26760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El proyecto LogicCalc nace como una propuesta para implementar una Unidad Aritmética Lógica (ALU) funcional, capaz de ejecutar operaciones aritméticas, lógicas y comparativas entre números binarios.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2"/>
          <p:cNvSpPr txBox="1"/>
          <p:nvPr/>
        </p:nvSpPr>
        <p:spPr>
          <a:xfrm>
            <a:off x="4957315" y="4578235"/>
            <a:ext cx="23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Durante esta fase se organizan las tareas por componente: unidad aritmética, unidad lógica y unidad comparativa.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2"/>
          <p:cNvSpPr txBox="1"/>
          <p:nvPr/>
        </p:nvSpPr>
        <p:spPr>
          <a:xfrm>
            <a:off x="1690693" y="4025352"/>
            <a:ext cx="23763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9"/>
              <a:buFont typeface="Arial"/>
              <a:buNone/>
            </a:pPr>
            <a:r>
              <a:rPr b="1" i="0" lang="en-US" sz="2119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2"/>
          <p:cNvSpPr txBox="1"/>
          <p:nvPr/>
        </p:nvSpPr>
        <p:spPr>
          <a:xfrm>
            <a:off x="4957315" y="4025352"/>
            <a:ext cx="23763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9"/>
              <a:buFont typeface="Arial"/>
              <a:buNone/>
            </a:pPr>
            <a:r>
              <a:rPr b="1" i="0" lang="en-US" sz="2119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7950718" y="4025352"/>
            <a:ext cx="23763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9"/>
              <a:buFont typeface="Arial"/>
              <a:buNone/>
            </a:pPr>
            <a:r>
              <a:rPr b="1" i="0" lang="en-US" sz="2119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2"/>
          <p:cNvSpPr txBox="1"/>
          <p:nvPr/>
        </p:nvSpPr>
        <p:spPr>
          <a:xfrm>
            <a:off x="10994672" y="4524339"/>
            <a:ext cx="2376380" cy="365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9"/>
              <a:buFont typeface="Arial"/>
              <a:buNone/>
            </a:pPr>
            <a:r>
              <a:rPr b="1" i="0" lang="en-US" sz="2119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13914390" y="4025352"/>
            <a:ext cx="23763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9"/>
              <a:buFont typeface="Arial"/>
              <a:buNone/>
            </a:pPr>
            <a:r>
              <a:rPr b="1" i="0" lang="en-US" sz="2119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CIERRE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12"/>
          <p:cNvGrpSpPr/>
          <p:nvPr/>
        </p:nvGrpSpPr>
        <p:grpSpPr>
          <a:xfrm>
            <a:off x="7979508" y="3097058"/>
            <a:ext cx="1238730" cy="695509"/>
            <a:chOff x="13470" y="-38100"/>
            <a:chExt cx="791622" cy="444500"/>
          </a:xfrm>
        </p:grpSpPr>
        <p:sp>
          <p:nvSpPr>
            <p:cNvPr id="431" name="Google Shape;431;p12"/>
            <p:cNvSpPr/>
            <p:nvPr/>
          </p:nvSpPr>
          <p:spPr>
            <a:xfrm>
              <a:off x="13470" y="0"/>
              <a:ext cx="791622" cy="406400"/>
            </a:xfrm>
            <a:custGeom>
              <a:rect b="b" l="l" r="r" t="t"/>
              <a:pathLst>
                <a:path extrusionOk="0" h="406400" w="791622">
                  <a:moveTo>
                    <a:pt x="10879" y="0"/>
                  </a:moveTo>
                  <a:lnTo>
                    <a:pt x="571781" y="0"/>
                  </a:lnTo>
                  <a:cubicBezTo>
                    <a:pt x="587371" y="0"/>
                    <a:pt x="602323" y="6193"/>
                    <a:pt x="613347" y="17217"/>
                  </a:cubicBezTo>
                  <a:lnTo>
                    <a:pt x="782113" y="185983"/>
                  </a:lnTo>
                  <a:cubicBezTo>
                    <a:pt x="791622" y="195492"/>
                    <a:pt x="791622" y="210908"/>
                    <a:pt x="782113" y="220417"/>
                  </a:cubicBezTo>
                  <a:lnTo>
                    <a:pt x="613347" y="389183"/>
                  </a:lnTo>
                  <a:cubicBezTo>
                    <a:pt x="602323" y="400207"/>
                    <a:pt x="587371" y="406400"/>
                    <a:pt x="571781" y="406400"/>
                  </a:cubicBezTo>
                  <a:lnTo>
                    <a:pt x="10879" y="406400"/>
                  </a:lnTo>
                  <a:cubicBezTo>
                    <a:pt x="6800" y="406400"/>
                    <a:pt x="3122" y="403943"/>
                    <a:pt x="1561" y="400174"/>
                  </a:cubicBezTo>
                  <a:cubicBezTo>
                    <a:pt x="0" y="396405"/>
                    <a:pt x="863" y="392067"/>
                    <a:pt x="3747" y="389183"/>
                  </a:cubicBezTo>
                  <a:lnTo>
                    <a:pt x="172513" y="220417"/>
                  </a:lnTo>
                  <a:cubicBezTo>
                    <a:pt x="182022" y="210908"/>
                    <a:pt x="182022" y="195492"/>
                    <a:pt x="172513" y="185983"/>
                  </a:cubicBezTo>
                  <a:lnTo>
                    <a:pt x="3747" y="17217"/>
                  </a:lnTo>
                  <a:cubicBezTo>
                    <a:pt x="863" y="14333"/>
                    <a:pt x="0" y="9995"/>
                    <a:pt x="1561" y="6226"/>
                  </a:cubicBezTo>
                  <a:cubicBezTo>
                    <a:pt x="3122" y="2457"/>
                    <a:pt x="6800" y="0"/>
                    <a:pt x="10879" y="0"/>
                  </a:cubicBezTo>
                  <a:close/>
                </a:path>
              </a:pathLst>
            </a:custGeom>
            <a:gradFill>
              <a:gsLst>
                <a:gs pos="0">
                  <a:srgbClr val="064E99"/>
                </a:gs>
                <a:gs pos="50000">
                  <a:srgbClr val="7194CD"/>
                </a:gs>
                <a:gs pos="100000">
                  <a:srgbClr val="CBDF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3" name="Google Shape;433;p12"/>
          <p:cNvSpPr txBox="1"/>
          <p:nvPr/>
        </p:nvSpPr>
        <p:spPr>
          <a:xfrm>
            <a:off x="7943007" y="4578235"/>
            <a:ext cx="23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Se implementan los circuitos requeridos para las distintas operaciones usando compuertas lógicas e integrados permitidos.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4" name="Google Shape;434;p12"/>
          <p:cNvGrpSpPr/>
          <p:nvPr/>
        </p:nvGrpSpPr>
        <p:grpSpPr>
          <a:xfrm>
            <a:off x="10965200" y="3097058"/>
            <a:ext cx="1238730" cy="695509"/>
            <a:chOff x="13470" y="-38100"/>
            <a:chExt cx="791622" cy="444500"/>
          </a:xfrm>
        </p:grpSpPr>
        <p:sp>
          <p:nvSpPr>
            <p:cNvPr id="435" name="Google Shape;435;p12"/>
            <p:cNvSpPr/>
            <p:nvPr/>
          </p:nvSpPr>
          <p:spPr>
            <a:xfrm>
              <a:off x="13470" y="0"/>
              <a:ext cx="791622" cy="406400"/>
            </a:xfrm>
            <a:custGeom>
              <a:rect b="b" l="l" r="r" t="t"/>
              <a:pathLst>
                <a:path extrusionOk="0" h="406400" w="791622">
                  <a:moveTo>
                    <a:pt x="10879" y="0"/>
                  </a:moveTo>
                  <a:lnTo>
                    <a:pt x="571781" y="0"/>
                  </a:lnTo>
                  <a:cubicBezTo>
                    <a:pt x="587371" y="0"/>
                    <a:pt x="602323" y="6193"/>
                    <a:pt x="613347" y="17217"/>
                  </a:cubicBezTo>
                  <a:lnTo>
                    <a:pt x="782113" y="185983"/>
                  </a:lnTo>
                  <a:cubicBezTo>
                    <a:pt x="791622" y="195492"/>
                    <a:pt x="791622" y="210908"/>
                    <a:pt x="782113" y="220417"/>
                  </a:cubicBezTo>
                  <a:lnTo>
                    <a:pt x="613347" y="389183"/>
                  </a:lnTo>
                  <a:cubicBezTo>
                    <a:pt x="602323" y="400207"/>
                    <a:pt x="587371" y="406400"/>
                    <a:pt x="571781" y="406400"/>
                  </a:cubicBezTo>
                  <a:lnTo>
                    <a:pt x="10879" y="406400"/>
                  </a:lnTo>
                  <a:cubicBezTo>
                    <a:pt x="6800" y="406400"/>
                    <a:pt x="3122" y="403943"/>
                    <a:pt x="1561" y="400174"/>
                  </a:cubicBezTo>
                  <a:cubicBezTo>
                    <a:pt x="0" y="396405"/>
                    <a:pt x="863" y="392067"/>
                    <a:pt x="3747" y="389183"/>
                  </a:cubicBezTo>
                  <a:lnTo>
                    <a:pt x="172513" y="220417"/>
                  </a:lnTo>
                  <a:cubicBezTo>
                    <a:pt x="182022" y="210908"/>
                    <a:pt x="182022" y="195492"/>
                    <a:pt x="172513" y="185983"/>
                  </a:cubicBezTo>
                  <a:lnTo>
                    <a:pt x="3747" y="17217"/>
                  </a:lnTo>
                  <a:cubicBezTo>
                    <a:pt x="863" y="14333"/>
                    <a:pt x="0" y="9995"/>
                    <a:pt x="1561" y="6226"/>
                  </a:cubicBezTo>
                  <a:cubicBezTo>
                    <a:pt x="3122" y="2457"/>
                    <a:pt x="6800" y="0"/>
                    <a:pt x="10879" y="0"/>
                  </a:cubicBezTo>
                  <a:close/>
                </a:path>
              </a:pathLst>
            </a:custGeom>
            <a:gradFill>
              <a:gsLst>
                <a:gs pos="0">
                  <a:srgbClr val="064E99"/>
                </a:gs>
                <a:gs pos="50000">
                  <a:srgbClr val="7194CD"/>
                </a:gs>
                <a:gs pos="100000">
                  <a:srgbClr val="CBDF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" name="Google Shape;437;p12"/>
          <p:cNvSpPr txBox="1"/>
          <p:nvPr/>
        </p:nvSpPr>
        <p:spPr>
          <a:xfrm>
            <a:off x="10928699" y="4578235"/>
            <a:ext cx="23919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Se realiza un control de versiones en GitHub, subiendo avances por etapas. Se verifica la correcta implementación física y simulada del circuito.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8" name="Google Shape;438;p12"/>
          <p:cNvGrpSpPr/>
          <p:nvPr/>
        </p:nvGrpSpPr>
        <p:grpSpPr>
          <a:xfrm>
            <a:off x="13950891" y="3097058"/>
            <a:ext cx="1238730" cy="695509"/>
            <a:chOff x="13470" y="-38100"/>
            <a:chExt cx="791622" cy="444500"/>
          </a:xfrm>
        </p:grpSpPr>
        <p:sp>
          <p:nvSpPr>
            <p:cNvPr id="439" name="Google Shape;439;p12"/>
            <p:cNvSpPr/>
            <p:nvPr/>
          </p:nvSpPr>
          <p:spPr>
            <a:xfrm>
              <a:off x="13470" y="0"/>
              <a:ext cx="791622" cy="406400"/>
            </a:xfrm>
            <a:custGeom>
              <a:rect b="b" l="l" r="r" t="t"/>
              <a:pathLst>
                <a:path extrusionOk="0" h="406400" w="791622">
                  <a:moveTo>
                    <a:pt x="10879" y="0"/>
                  </a:moveTo>
                  <a:lnTo>
                    <a:pt x="571781" y="0"/>
                  </a:lnTo>
                  <a:cubicBezTo>
                    <a:pt x="587371" y="0"/>
                    <a:pt x="602323" y="6193"/>
                    <a:pt x="613347" y="17217"/>
                  </a:cubicBezTo>
                  <a:lnTo>
                    <a:pt x="782113" y="185983"/>
                  </a:lnTo>
                  <a:cubicBezTo>
                    <a:pt x="791622" y="195492"/>
                    <a:pt x="791622" y="210908"/>
                    <a:pt x="782113" y="220417"/>
                  </a:cubicBezTo>
                  <a:lnTo>
                    <a:pt x="613347" y="389183"/>
                  </a:lnTo>
                  <a:cubicBezTo>
                    <a:pt x="602323" y="400207"/>
                    <a:pt x="587371" y="406400"/>
                    <a:pt x="571781" y="406400"/>
                  </a:cubicBezTo>
                  <a:lnTo>
                    <a:pt x="10879" y="406400"/>
                  </a:lnTo>
                  <a:cubicBezTo>
                    <a:pt x="6800" y="406400"/>
                    <a:pt x="3122" y="403943"/>
                    <a:pt x="1561" y="400174"/>
                  </a:cubicBezTo>
                  <a:cubicBezTo>
                    <a:pt x="0" y="396405"/>
                    <a:pt x="863" y="392067"/>
                    <a:pt x="3747" y="389183"/>
                  </a:cubicBezTo>
                  <a:lnTo>
                    <a:pt x="172513" y="220417"/>
                  </a:lnTo>
                  <a:cubicBezTo>
                    <a:pt x="182022" y="210908"/>
                    <a:pt x="182022" y="195492"/>
                    <a:pt x="172513" y="185983"/>
                  </a:cubicBezTo>
                  <a:lnTo>
                    <a:pt x="3747" y="17217"/>
                  </a:lnTo>
                  <a:cubicBezTo>
                    <a:pt x="863" y="14333"/>
                    <a:pt x="0" y="9995"/>
                    <a:pt x="1561" y="6226"/>
                  </a:cubicBezTo>
                  <a:cubicBezTo>
                    <a:pt x="3122" y="2457"/>
                    <a:pt x="6800" y="0"/>
                    <a:pt x="10879" y="0"/>
                  </a:cubicBezTo>
                  <a:close/>
                </a:path>
              </a:pathLst>
            </a:custGeom>
            <a:gradFill>
              <a:gsLst>
                <a:gs pos="0">
                  <a:srgbClr val="064E99"/>
                </a:gs>
                <a:gs pos="50000">
                  <a:srgbClr val="7194CD"/>
                </a:gs>
                <a:gs pos="100000">
                  <a:srgbClr val="CBDFFF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12"/>
          <p:cNvSpPr txBox="1"/>
          <p:nvPr/>
        </p:nvSpPr>
        <p:spPr>
          <a:xfrm>
            <a:off x="13914390" y="4578235"/>
            <a:ext cx="23919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Se encapsula el proyecto final, dejando visibles únicamente controles, entradas y salidas, cumpliendo con los lineamientos establecidos.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2"/>
          <p:cNvSpPr txBox="1"/>
          <p:nvPr/>
        </p:nvSpPr>
        <p:spPr>
          <a:xfrm>
            <a:off x="5762106" y="1654191"/>
            <a:ext cx="6763788" cy="744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89"/>
              <a:buFont typeface="Arial"/>
              <a:buNone/>
            </a:pPr>
            <a:r>
              <a:rPr b="1" i="0" lang="en-US" sz="4289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Proyecto: LogicCalc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-1219741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4" name="Google Shape;444;p12"/>
          <p:cNvGrpSpPr/>
          <p:nvPr/>
        </p:nvGrpSpPr>
        <p:grpSpPr>
          <a:xfrm>
            <a:off x="14920109" y="-726895"/>
            <a:ext cx="2339191" cy="2801172"/>
            <a:chOff x="0" y="-47625"/>
            <a:chExt cx="664400" cy="795617"/>
          </a:xfrm>
        </p:grpSpPr>
        <p:sp>
          <p:nvSpPr>
            <p:cNvPr id="445" name="Google Shape;445;p12"/>
            <p:cNvSpPr/>
            <p:nvPr/>
          </p:nvSpPr>
          <p:spPr>
            <a:xfrm>
              <a:off x="0" y="0"/>
              <a:ext cx="664400" cy="747992"/>
            </a:xfrm>
            <a:custGeom>
              <a:rect b="b" l="l" r="r" t="t"/>
              <a:pathLst>
                <a:path extrusionOk="0" h="747992" w="664400">
                  <a:moveTo>
                    <a:pt x="66193" y="0"/>
                  </a:moveTo>
                  <a:lnTo>
                    <a:pt x="598207" y="0"/>
                  </a:lnTo>
                  <a:cubicBezTo>
                    <a:pt x="615763" y="0"/>
                    <a:pt x="632599" y="6974"/>
                    <a:pt x="645013" y="19388"/>
                  </a:cubicBezTo>
                  <a:cubicBezTo>
                    <a:pt x="657427" y="31801"/>
                    <a:pt x="664400" y="48638"/>
                    <a:pt x="664400" y="66193"/>
                  </a:cubicBezTo>
                  <a:lnTo>
                    <a:pt x="664400" y="681799"/>
                  </a:lnTo>
                  <a:cubicBezTo>
                    <a:pt x="664400" y="699354"/>
                    <a:pt x="657427" y="716191"/>
                    <a:pt x="645013" y="728605"/>
                  </a:cubicBezTo>
                  <a:cubicBezTo>
                    <a:pt x="632599" y="741018"/>
                    <a:pt x="615763" y="747992"/>
                    <a:pt x="598207" y="747992"/>
                  </a:cubicBezTo>
                  <a:lnTo>
                    <a:pt x="66193" y="747992"/>
                  </a:lnTo>
                  <a:cubicBezTo>
                    <a:pt x="48638" y="747992"/>
                    <a:pt x="31801" y="741018"/>
                    <a:pt x="19388" y="728605"/>
                  </a:cubicBezTo>
                  <a:cubicBezTo>
                    <a:pt x="6974" y="716191"/>
                    <a:pt x="0" y="699354"/>
                    <a:pt x="0" y="681799"/>
                  </a:cubicBezTo>
                  <a:lnTo>
                    <a:pt x="0" y="66193"/>
                  </a:lnTo>
                  <a:cubicBezTo>
                    <a:pt x="0" y="48638"/>
                    <a:pt x="6974" y="31801"/>
                    <a:pt x="19388" y="19388"/>
                  </a:cubicBezTo>
                  <a:cubicBezTo>
                    <a:pt x="31801" y="6974"/>
                    <a:pt x="48638" y="0"/>
                    <a:pt x="66193" y="0"/>
                  </a:cubicBezTo>
                  <a:close/>
                </a:path>
              </a:pathLst>
            </a:custGeom>
            <a:solidFill>
              <a:srgbClr val="3165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2"/>
            <p:cNvSpPr txBox="1"/>
            <p:nvPr/>
          </p:nvSpPr>
          <p:spPr>
            <a:xfrm>
              <a:off x="0" y="-47625"/>
              <a:ext cx="664400" cy="795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5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7" name="Google Shape;447;p12"/>
          <p:cNvSpPr/>
          <p:nvPr/>
        </p:nvSpPr>
        <p:spPr>
          <a:xfrm>
            <a:off x="15752772" y="379850"/>
            <a:ext cx="742146" cy="386945"/>
          </a:xfrm>
          <a:custGeom>
            <a:rect b="b" l="l" r="r" t="t"/>
            <a:pathLst>
              <a:path extrusionOk="0" h="386945" w="742146">
                <a:moveTo>
                  <a:pt x="0" y="0"/>
                </a:moveTo>
                <a:lnTo>
                  <a:pt x="742146" y="0"/>
                </a:lnTo>
                <a:lnTo>
                  <a:pt x="742146" y="386946"/>
                </a:lnTo>
                <a:lnTo>
                  <a:pt x="0" y="386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8" name="Google Shape;448;p12"/>
          <p:cNvSpPr txBox="1"/>
          <p:nvPr/>
        </p:nvSpPr>
        <p:spPr>
          <a:xfrm>
            <a:off x="14920109" y="990600"/>
            <a:ext cx="2283582" cy="627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6"/>
              <a:buFont typeface="Arial"/>
              <a:buNone/>
            </a:pPr>
            <a:r>
              <a:rPr b="1" i="0" lang="en-US" sz="1816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ORGANIZACIÓN COMPUTACIONAL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sp>
        <p:nvSpPr>
          <p:cNvPr id="454" name="Google Shape;454;p14"/>
          <p:cNvSpPr/>
          <p:nvPr/>
        </p:nvSpPr>
        <p:spPr>
          <a:xfrm>
            <a:off x="16590199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5" name="Google Shape;455;p14"/>
          <p:cNvGrpSpPr/>
          <p:nvPr/>
        </p:nvGrpSpPr>
        <p:grpSpPr>
          <a:xfrm>
            <a:off x="9144000" y="2610537"/>
            <a:ext cx="9458691" cy="6333415"/>
            <a:chOff x="0" y="-127088"/>
            <a:chExt cx="12611587" cy="8444554"/>
          </a:xfrm>
        </p:grpSpPr>
        <p:grpSp>
          <p:nvGrpSpPr>
            <p:cNvPr id="456" name="Google Shape;456;p14"/>
            <p:cNvGrpSpPr/>
            <p:nvPr/>
          </p:nvGrpSpPr>
          <p:grpSpPr>
            <a:xfrm rot="10800000">
              <a:off x="0" y="6852930"/>
              <a:ext cx="12611587" cy="1464536"/>
              <a:chOff x="0" y="-38100"/>
              <a:chExt cx="3780846" cy="439055"/>
            </a:xfrm>
          </p:grpSpPr>
          <p:sp>
            <p:nvSpPr>
              <p:cNvPr id="457" name="Google Shape;457;p14"/>
              <p:cNvSpPr/>
              <p:nvPr/>
            </p:nvSpPr>
            <p:spPr>
              <a:xfrm>
                <a:off x="0" y="0"/>
                <a:ext cx="3780846" cy="400955"/>
              </a:xfrm>
              <a:custGeom>
                <a:rect b="b" l="l" r="r" t="t"/>
                <a:pathLst>
                  <a:path extrusionOk="0" h="400955" w="3780846">
                    <a:moveTo>
                      <a:pt x="24555" y="0"/>
                    </a:moveTo>
                    <a:lnTo>
                      <a:pt x="3756291" y="0"/>
                    </a:lnTo>
                    <a:cubicBezTo>
                      <a:pt x="3762803" y="0"/>
                      <a:pt x="3769049" y="2587"/>
                      <a:pt x="3773654" y="7192"/>
                    </a:cubicBezTo>
                    <a:cubicBezTo>
                      <a:pt x="3778259" y="11797"/>
                      <a:pt x="3780846" y="18043"/>
                      <a:pt x="3780846" y="24555"/>
                    </a:cubicBezTo>
                    <a:lnTo>
                      <a:pt x="3780846" y="376401"/>
                    </a:lnTo>
                    <a:cubicBezTo>
                      <a:pt x="3780846" y="382913"/>
                      <a:pt x="3778259" y="389159"/>
                      <a:pt x="3773654" y="393764"/>
                    </a:cubicBezTo>
                    <a:cubicBezTo>
                      <a:pt x="3769049" y="398368"/>
                      <a:pt x="3762803" y="400955"/>
                      <a:pt x="3756291" y="400955"/>
                    </a:cubicBezTo>
                    <a:lnTo>
                      <a:pt x="24555" y="400955"/>
                    </a:lnTo>
                    <a:cubicBezTo>
                      <a:pt x="18043" y="400955"/>
                      <a:pt x="11797" y="398368"/>
                      <a:pt x="7192" y="393764"/>
                    </a:cubicBezTo>
                    <a:cubicBezTo>
                      <a:pt x="2587" y="389159"/>
                      <a:pt x="0" y="382913"/>
                      <a:pt x="0" y="376401"/>
                    </a:cubicBezTo>
                    <a:lnTo>
                      <a:pt x="0" y="24555"/>
                    </a:lnTo>
                    <a:cubicBezTo>
                      <a:pt x="0" y="18043"/>
                      <a:pt x="2587" y="11797"/>
                      <a:pt x="7192" y="7192"/>
                    </a:cubicBezTo>
                    <a:cubicBezTo>
                      <a:pt x="11797" y="2587"/>
                      <a:pt x="18043" y="0"/>
                      <a:pt x="2455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64E99"/>
                  </a:gs>
                  <a:gs pos="50000">
                    <a:srgbClr val="7194CD"/>
                  </a:gs>
                  <a:gs pos="100000">
                    <a:srgbClr val="CBDFFF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14"/>
              <p:cNvSpPr txBox="1"/>
              <p:nvPr/>
            </p:nvSpPr>
            <p:spPr>
              <a:xfrm>
                <a:off x="0" y="-38100"/>
                <a:ext cx="3780846" cy="439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9" name="Google Shape;459;p14"/>
            <p:cNvGrpSpPr/>
            <p:nvPr/>
          </p:nvGrpSpPr>
          <p:grpSpPr>
            <a:xfrm>
              <a:off x="0" y="-127088"/>
              <a:ext cx="12611587" cy="8023233"/>
              <a:chOff x="0" y="-38100"/>
              <a:chExt cx="3780846" cy="2405297"/>
            </a:xfrm>
          </p:grpSpPr>
          <p:sp>
            <p:nvSpPr>
              <p:cNvPr id="460" name="Google Shape;460;p14"/>
              <p:cNvSpPr/>
              <p:nvPr/>
            </p:nvSpPr>
            <p:spPr>
              <a:xfrm>
                <a:off x="0" y="0"/>
                <a:ext cx="3780846" cy="2367197"/>
              </a:xfrm>
              <a:custGeom>
                <a:rect b="b" l="l" r="r" t="t"/>
                <a:pathLst>
                  <a:path extrusionOk="0" h="2367197" w="3780846">
                    <a:moveTo>
                      <a:pt x="24555" y="0"/>
                    </a:moveTo>
                    <a:lnTo>
                      <a:pt x="3756291" y="0"/>
                    </a:lnTo>
                    <a:cubicBezTo>
                      <a:pt x="3762803" y="0"/>
                      <a:pt x="3769049" y="2587"/>
                      <a:pt x="3773654" y="7192"/>
                    </a:cubicBezTo>
                    <a:cubicBezTo>
                      <a:pt x="3778259" y="11797"/>
                      <a:pt x="3780846" y="18043"/>
                      <a:pt x="3780846" y="24555"/>
                    </a:cubicBezTo>
                    <a:lnTo>
                      <a:pt x="3780846" y="2342642"/>
                    </a:lnTo>
                    <a:cubicBezTo>
                      <a:pt x="3780846" y="2349154"/>
                      <a:pt x="3778259" y="2355400"/>
                      <a:pt x="3773654" y="2360005"/>
                    </a:cubicBezTo>
                    <a:cubicBezTo>
                      <a:pt x="3769049" y="2364610"/>
                      <a:pt x="3762803" y="2367197"/>
                      <a:pt x="3756291" y="2367197"/>
                    </a:cubicBezTo>
                    <a:lnTo>
                      <a:pt x="24555" y="2367197"/>
                    </a:lnTo>
                    <a:cubicBezTo>
                      <a:pt x="10994" y="2367197"/>
                      <a:pt x="0" y="2356203"/>
                      <a:pt x="0" y="2342642"/>
                    </a:cubicBezTo>
                    <a:lnTo>
                      <a:pt x="0" y="24555"/>
                    </a:lnTo>
                    <a:cubicBezTo>
                      <a:pt x="0" y="18043"/>
                      <a:pt x="2587" y="11797"/>
                      <a:pt x="7192" y="7192"/>
                    </a:cubicBezTo>
                    <a:cubicBezTo>
                      <a:pt x="11797" y="2587"/>
                      <a:pt x="18043" y="0"/>
                      <a:pt x="245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14"/>
              <p:cNvSpPr txBox="1"/>
              <p:nvPr/>
            </p:nvSpPr>
            <p:spPr>
              <a:xfrm>
                <a:off x="0" y="-38100"/>
                <a:ext cx="3780846" cy="2405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2" name="Google Shape;462;p14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853" y="-344027"/>
            <a:ext cx="8715481" cy="1179723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4"/>
          <p:cNvSpPr txBox="1"/>
          <p:nvPr/>
        </p:nvSpPr>
        <p:spPr>
          <a:xfrm>
            <a:off x="9317705" y="3480021"/>
            <a:ext cx="7104579" cy="945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50"/>
              <a:buFont typeface="Arial"/>
              <a:buNone/>
            </a:pPr>
            <a:r>
              <a:rPr b="1" i="0" lang="en-US" sz="5550" u="none" cap="none" strike="noStrike">
                <a:solidFill>
                  <a:srgbClr val="0B1B45"/>
                </a:solidFill>
                <a:latin typeface="IBM Plex Sans"/>
                <a:ea typeface="IBM Plex Sans"/>
                <a:cs typeface="IBM Plex Sans"/>
                <a:sym typeface="IBM Plex Sans"/>
              </a:rPr>
              <a:t>Lectura explicativa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4"/>
          <p:cNvSpPr txBox="1"/>
          <p:nvPr/>
        </p:nvSpPr>
        <p:spPr>
          <a:xfrm>
            <a:off x="9485619" y="5095875"/>
            <a:ext cx="8466746" cy="305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rPr b="0" i="0" lang="en-US" sz="2477" u="none" cap="none" strike="noStrike">
                <a:solidFill>
                  <a:srgbClr val="0B1B45"/>
                </a:solidFill>
                <a:latin typeface="Proxima Nova"/>
                <a:ea typeface="Proxima Nova"/>
                <a:cs typeface="Proxima Nova"/>
                <a:sym typeface="Proxima Nova"/>
              </a:rPr>
              <a:t>En esta unidad se abordan componentes fundamentales del diseño lógico como los comparadores, multiplexadores, demultiplexadores y la conversión de binario a BCD. Estos elementos permiten desarrollar sistemas digitales capaces de seleccionar, comparar y transformar información, esenciales para la creación de unidades funcionales como calculadoras o ALUs.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4"/>
          <p:cNvSpPr txBox="1"/>
          <p:nvPr/>
        </p:nvSpPr>
        <p:spPr>
          <a:xfrm>
            <a:off x="9501691" y="4538612"/>
            <a:ext cx="9354848" cy="414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1"/>
              <a:buFont typeface="Arial"/>
              <a:buNone/>
            </a:pPr>
            <a:r>
              <a:rPr b="0" i="0" lang="en-US" sz="244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ELECTRÓNICA DIGITAL – LÓGICA COMBINACIONAL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4"/>
          <p:cNvSpPr/>
          <p:nvPr/>
        </p:nvSpPr>
        <p:spPr>
          <a:xfrm flipH="1">
            <a:off x="9317705" y="3123378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cxnSp>
        <p:nvCxnSpPr>
          <p:cNvPr id="473" name="Google Shape;473;p15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15"/>
          <p:cNvSpPr/>
          <p:nvPr/>
        </p:nvSpPr>
        <p:spPr>
          <a:xfrm flipH="1">
            <a:off x="5142127" y="8752613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5" y="0"/>
                </a:moveTo>
                <a:lnTo>
                  <a:pt x="0" y="0"/>
                </a:lnTo>
                <a:lnTo>
                  <a:pt x="0" y="337125"/>
                </a:lnTo>
                <a:lnTo>
                  <a:pt x="707705" y="337125"/>
                </a:lnTo>
                <a:lnTo>
                  <a:pt x="70770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5" name="Google Shape;475;p15"/>
          <p:cNvSpPr/>
          <p:nvPr/>
        </p:nvSpPr>
        <p:spPr>
          <a:xfrm>
            <a:off x="1690707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4" y="0"/>
                </a:lnTo>
                <a:lnTo>
                  <a:pt x="444414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6" name="Google Shape;476;p15"/>
          <p:cNvSpPr/>
          <p:nvPr/>
        </p:nvSpPr>
        <p:spPr>
          <a:xfrm>
            <a:off x="2287884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7" name="Google Shape;477;p15"/>
          <p:cNvSpPr/>
          <p:nvPr/>
        </p:nvSpPr>
        <p:spPr>
          <a:xfrm>
            <a:off x="2885062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4" y="0"/>
                </a:lnTo>
                <a:lnTo>
                  <a:pt x="444414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8" name="Google Shape;478;p15"/>
          <p:cNvSpPr/>
          <p:nvPr/>
        </p:nvSpPr>
        <p:spPr>
          <a:xfrm>
            <a:off x="3482239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9" name="Google Shape;479;p15"/>
          <p:cNvSpPr/>
          <p:nvPr/>
        </p:nvSpPr>
        <p:spPr>
          <a:xfrm>
            <a:off x="4079417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0" name="Google Shape;480;p15"/>
          <p:cNvSpPr/>
          <p:nvPr/>
        </p:nvSpPr>
        <p:spPr>
          <a:xfrm>
            <a:off x="4676595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4" y="0"/>
                </a:lnTo>
                <a:lnTo>
                  <a:pt x="444414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1" name="Google Shape;481;p15"/>
          <p:cNvSpPr/>
          <p:nvPr/>
        </p:nvSpPr>
        <p:spPr>
          <a:xfrm>
            <a:off x="5273772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2" name="Google Shape;482;p15"/>
          <p:cNvSpPr/>
          <p:nvPr/>
        </p:nvSpPr>
        <p:spPr>
          <a:xfrm>
            <a:off x="5870950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4" y="0"/>
                </a:lnTo>
                <a:lnTo>
                  <a:pt x="444414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3" name="Google Shape;483;p15"/>
          <p:cNvSpPr/>
          <p:nvPr/>
        </p:nvSpPr>
        <p:spPr>
          <a:xfrm>
            <a:off x="6468127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4" name="Google Shape;484;p15"/>
          <p:cNvSpPr/>
          <p:nvPr/>
        </p:nvSpPr>
        <p:spPr>
          <a:xfrm>
            <a:off x="7065305" y="7107141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5" name="Google Shape;485;p15"/>
          <p:cNvSpPr/>
          <p:nvPr/>
        </p:nvSpPr>
        <p:spPr>
          <a:xfrm>
            <a:off x="10199434" y="924126"/>
            <a:ext cx="7058470" cy="7106291"/>
          </a:xfrm>
          <a:custGeom>
            <a:rect b="b" l="l" r="r" t="t"/>
            <a:pathLst>
              <a:path extrusionOk="0" h="6285356" w="6243059">
                <a:moveTo>
                  <a:pt x="1183914" y="428025"/>
                </a:moveTo>
                <a:lnTo>
                  <a:pt x="174802" y="2330510"/>
                </a:lnTo>
                <a:cubicBezTo>
                  <a:pt x="0" y="2655918"/>
                  <a:pt x="43180" y="3066390"/>
                  <a:pt x="277319" y="3343188"/>
                </a:cubicBezTo>
                <a:lnTo>
                  <a:pt x="2525279" y="6008557"/>
                </a:lnTo>
                <a:cubicBezTo>
                  <a:pt x="2673496" y="6185438"/>
                  <a:pt x="2883471" y="6285356"/>
                  <a:pt x="3102091" y="6285356"/>
                </a:cubicBezTo>
                <a:lnTo>
                  <a:pt x="5457508" y="6285356"/>
                </a:lnTo>
                <a:cubicBezTo>
                  <a:pt x="5891044" y="6285356"/>
                  <a:pt x="6243059" y="5900538"/>
                  <a:pt x="6243059" y="5426605"/>
                </a:cubicBezTo>
                <a:lnTo>
                  <a:pt x="6243059" y="2010504"/>
                </a:lnTo>
                <a:cubicBezTo>
                  <a:pt x="6243059" y="1833623"/>
                  <a:pt x="6193653" y="1660792"/>
                  <a:pt x="6099782" y="1516317"/>
                </a:cubicBezTo>
                <a:lnTo>
                  <a:pt x="5358697" y="364564"/>
                </a:lnTo>
                <a:cubicBezTo>
                  <a:pt x="5211715" y="136374"/>
                  <a:pt x="4972097" y="0"/>
                  <a:pt x="4716423" y="0"/>
                </a:cubicBezTo>
                <a:lnTo>
                  <a:pt x="1863243" y="0"/>
                </a:lnTo>
                <a:cubicBezTo>
                  <a:pt x="1582865" y="0"/>
                  <a:pt x="1323485" y="163379"/>
                  <a:pt x="1183914" y="428025"/>
                </a:cubicBezTo>
                <a:close/>
              </a:path>
            </a:pathLst>
          </a:custGeom>
          <a:gradFill>
            <a:gsLst>
              <a:gs pos="0">
                <a:srgbClr val="256AB3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9753868" y="1206908"/>
            <a:ext cx="7099956" cy="6540727"/>
          </a:xfrm>
          <a:custGeom>
            <a:rect b="b" l="l" r="r" t="t"/>
            <a:pathLst>
              <a:path extrusionOk="0" h="5911850" w="6417310">
                <a:moveTo>
                  <a:pt x="1215390" y="402590"/>
                </a:moveTo>
                <a:lnTo>
                  <a:pt x="177800" y="2192020"/>
                </a:lnTo>
                <a:cubicBezTo>
                  <a:pt x="0" y="2498090"/>
                  <a:pt x="43180" y="2884170"/>
                  <a:pt x="283210" y="3144520"/>
                </a:cubicBezTo>
                <a:lnTo>
                  <a:pt x="2594610" y="5651500"/>
                </a:lnTo>
                <a:cubicBezTo>
                  <a:pt x="2747010" y="5817870"/>
                  <a:pt x="2962910" y="5911850"/>
                  <a:pt x="3187700" y="5911850"/>
                </a:cubicBezTo>
                <a:lnTo>
                  <a:pt x="5609590" y="5911850"/>
                </a:lnTo>
                <a:cubicBezTo>
                  <a:pt x="6055360" y="5911850"/>
                  <a:pt x="6417310" y="5549900"/>
                  <a:pt x="6417310" y="5104130"/>
                </a:cubicBezTo>
                <a:lnTo>
                  <a:pt x="6417310" y="1891030"/>
                </a:lnTo>
                <a:cubicBezTo>
                  <a:pt x="6417310" y="1724660"/>
                  <a:pt x="6366510" y="1562100"/>
                  <a:pt x="6269990" y="1426210"/>
                </a:cubicBezTo>
                <a:lnTo>
                  <a:pt x="5507990" y="342900"/>
                </a:lnTo>
                <a:cubicBezTo>
                  <a:pt x="5356860" y="128270"/>
                  <a:pt x="5110480" y="0"/>
                  <a:pt x="4847590" y="0"/>
                </a:cubicBezTo>
                <a:lnTo>
                  <a:pt x="1913890" y="0"/>
                </a:lnTo>
                <a:cubicBezTo>
                  <a:pt x="1625600" y="0"/>
                  <a:pt x="1358900" y="153670"/>
                  <a:pt x="1215390" y="40259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9838" r="-1983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8" name="Google Shape;488;p15"/>
          <p:cNvSpPr txBox="1"/>
          <p:nvPr/>
        </p:nvSpPr>
        <p:spPr>
          <a:xfrm>
            <a:off x="1289043" y="902125"/>
            <a:ext cx="62574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50"/>
              <a:buFont typeface="Arial"/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Valor y Actitud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5"/>
          <p:cNvSpPr txBox="1"/>
          <p:nvPr/>
        </p:nvSpPr>
        <p:spPr>
          <a:xfrm>
            <a:off x="1690693" y="1891416"/>
            <a:ext cx="85554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Trabajo Colaborativo</a:t>
            </a:r>
            <a:endParaRPr b="1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 trabajo colaborativo implica participar activamente en equipos multidisciplinarios, coordinando esfuerzos para alcanzar objetivos comunes de manera eficiente y armoniosa. En el contexto del diseño y desarrollo de circuitos digitales, este valor se manifiesta en la capacidad de planificar tareas en equipo, gestionar cambios mediante control de versiones y mantener una comunicación clara y constante para garantizar la coherencia y calidad del proyecto conjunto.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¿Cómo aplicarlo?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Utilizar herramientas de control de versiones (como Git) para facilitar la integración de aportes individuales en un diseño común.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Coordinar reuniones de seguimiento para revisar avances, asignar responsabilidades y resolver dudas en conjunto.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Fomentar una actitud abierta, respetuosa y proactiva al momento de compartir ideas, retroalimentación y soluciones técnicas.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5"/>
          <p:cNvSpPr txBox="1"/>
          <p:nvPr/>
        </p:nvSpPr>
        <p:spPr>
          <a:xfrm>
            <a:off x="2204438" y="8651788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 DEL VIDEO</a:t>
            </a:r>
            <a:endParaRPr b="0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sp>
        <p:nvSpPr>
          <p:cNvPr id="496" name="Google Shape;496;p16"/>
          <p:cNvSpPr/>
          <p:nvPr/>
        </p:nvSpPr>
        <p:spPr>
          <a:xfrm>
            <a:off x="-987928" y="214047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7" name="Google Shape;497;p16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1128721" y="2512526"/>
            <a:ext cx="3186072" cy="3186072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lnTo>
                  <a:pt x="6858000" y="0"/>
                </a:ln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6">
            <a:hlinkClick r:id="rId5"/>
          </p:cNvPr>
          <p:cNvSpPr/>
          <p:nvPr/>
        </p:nvSpPr>
        <p:spPr>
          <a:xfrm>
            <a:off x="1250318" y="2634123"/>
            <a:ext cx="2937088" cy="2937088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0" name="Google Shape;500;p16"/>
          <p:cNvGrpSpPr/>
          <p:nvPr/>
        </p:nvGrpSpPr>
        <p:grpSpPr>
          <a:xfrm>
            <a:off x="6486369" y="432043"/>
            <a:ext cx="5315262" cy="1504624"/>
            <a:chOff x="0" y="-47625"/>
            <a:chExt cx="2124299" cy="601338"/>
          </a:xfrm>
        </p:grpSpPr>
        <p:sp>
          <p:nvSpPr>
            <p:cNvPr id="501" name="Google Shape;501;p16"/>
            <p:cNvSpPr/>
            <p:nvPr/>
          </p:nvSpPr>
          <p:spPr>
            <a:xfrm>
              <a:off x="0" y="0"/>
              <a:ext cx="2124299" cy="553713"/>
            </a:xfrm>
            <a:custGeom>
              <a:rect b="b" l="l" r="r" t="t"/>
              <a:pathLst>
                <a:path extrusionOk="0" h="553713" w="2124299">
                  <a:moveTo>
                    <a:pt x="29131" y="0"/>
                  </a:moveTo>
                  <a:lnTo>
                    <a:pt x="2095168" y="0"/>
                  </a:lnTo>
                  <a:cubicBezTo>
                    <a:pt x="2111256" y="0"/>
                    <a:pt x="2124299" y="13042"/>
                    <a:pt x="2124299" y="29131"/>
                  </a:cubicBezTo>
                  <a:lnTo>
                    <a:pt x="2124299" y="524582"/>
                  </a:lnTo>
                  <a:cubicBezTo>
                    <a:pt x="2124299" y="540671"/>
                    <a:pt x="2111256" y="553713"/>
                    <a:pt x="2095168" y="553713"/>
                  </a:cubicBezTo>
                  <a:lnTo>
                    <a:pt x="29131" y="553713"/>
                  </a:lnTo>
                  <a:cubicBezTo>
                    <a:pt x="13042" y="553713"/>
                    <a:pt x="0" y="540671"/>
                    <a:pt x="0" y="524582"/>
                  </a:cubicBezTo>
                  <a:lnTo>
                    <a:pt x="0" y="29131"/>
                  </a:lnTo>
                  <a:cubicBezTo>
                    <a:pt x="0" y="13042"/>
                    <a:pt x="13042" y="0"/>
                    <a:pt x="29131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6"/>
            <p:cNvSpPr txBox="1"/>
            <p:nvPr/>
          </p:nvSpPr>
          <p:spPr>
            <a:xfrm>
              <a:off x="0" y="-47625"/>
              <a:ext cx="2124299" cy="60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3" name="Google Shape;503;p16"/>
          <p:cNvSpPr/>
          <p:nvPr/>
        </p:nvSpPr>
        <p:spPr>
          <a:xfrm flipH="1">
            <a:off x="1028700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4" name="Google Shape;504;p16"/>
          <p:cNvSpPr/>
          <p:nvPr/>
        </p:nvSpPr>
        <p:spPr>
          <a:xfrm>
            <a:off x="7272673" y="4586605"/>
            <a:ext cx="3337776" cy="3337776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lnTo>
                  <a:pt x="6858000" y="0"/>
                </a:ln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6">
            <a:hlinkClick r:id="rId8"/>
          </p:cNvPr>
          <p:cNvSpPr/>
          <p:nvPr/>
        </p:nvSpPr>
        <p:spPr>
          <a:xfrm>
            <a:off x="7400060" y="4713992"/>
            <a:ext cx="3083003" cy="3083003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81385" r="-81385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13678632" y="2360822"/>
            <a:ext cx="3337776" cy="3337776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lnTo>
                  <a:pt x="6858000" y="0"/>
                </a:lnTo>
                <a:close/>
              </a:path>
            </a:pathLst>
          </a:custGeom>
          <a:gradFill>
            <a:gsLst>
              <a:gs pos="0">
                <a:srgbClr val="064E99"/>
              </a:gs>
              <a:gs pos="50000">
                <a:srgbClr val="7194CD"/>
              </a:gs>
              <a:gs pos="100000">
                <a:srgbClr val="CBDFFF"/>
              </a:gs>
            </a:gsLst>
            <a:path path="circle">
              <a:fillToRect b="100%" l="0%" r="100%" t="0%"/>
            </a:path>
            <a:tileRect b="0%" l="-100%" r="0%" t="-100%"/>
          </a:gra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6">
            <a:hlinkClick r:id="rId10"/>
          </p:cNvPr>
          <p:cNvSpPr/>
          <p:nvPr/>
        </p:nvSpPr>
        <p:spPr>
          <a:xfrm>
            <a:off x="13806019" y="2488209"/>
            <a:ext cx="3083003" cy="3083003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6"/>
          <p:cNvSpPr txBox="1"/>
          <p:nvPr/>
        </p:nvSpPr>
        <p:spPr>
          <a:xfrm>
            <a:off x="6805718" y="882534"/>
            <a:ext cx="4676565" cy="76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7"/>
              <a:buFont typeface="Arial"/>
              <a:buNone/>
            </a:pPr>
            <a:r>
              <a:rPr b="1" i="0" lang="en-US" sz="4457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6"/>
          <p:cNvSpPr txBox="1"/>
          <p:nvPr/>
        </p:nvSpPr>
        <p:spPr>
          <a:xfrm>
            <a:off x="13435740" y="5631923"/>
            <a:ext cx="3823560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TheRopoga: Comparador 7485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6"/>
          <p:cNvSpPr txBox="1"/>
          <p:nvPr/>
        </p:nvSpPr>
        <p:spPr>
          <a:xfrm>
            <a:off x="1028700" y="5631923"/>
            <a:ext cx="3380324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Usuario123: Mux y Demux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6"/>
          <p:cNvSpPr txBox="1"/>
          <p:nvPr/>
        </p:nvSpPr>
        <p:spPr>
          <a:xfrm>
            <a:off x="6081492" y="8077835"/>
            <a:ext cx="5720139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Wilaeba Electronica: Decodificador Binario a bcd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9" l="0" r="0" t="-812"/>
            </a:stretch>
          </a:blipFill>
          <a:ln>
            <a:noFill/>
          </a:ln>
        </p:spPr>
      </p:sp>
      <p:sp>
        <p:nvSpPr>
          <p:cNvPr id="517" name="Google Shape;517;p17"/>
          <p:cNvSpPr/>
          <p:nvPr/>
        </p:nvSpPr>
        <p:spPr>
          <a:xfrm>
            <a:off x="16590199" y="8123047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2"/>
                </a:lnTo>
                <a:lnTo>
                  <a:pt x="0" y="1490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8" name="Google Shape;518;p17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p17"/>
          <p:cNvSpPr txBox="1"/>
          <p:nvPr/>
        </p:nvSpPr>
        <p:spPr>
          <a:xfrm>
            <a:off x="1028700" y="3602637"/>
            <a:ext cx="16230600" cy="1607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77"/>
              <a:buFont typeface="Arial"/>
              <a:buNone/>
            </a:pPr>
            <a:r>
              <a:rPr b="1" i="0" lang="en-US" sz="9477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1" name="Google Shape;521;p17"/>
          <p:cNvSpPr/>
          <p:nvPr/>
        </p:nvSpPr>
        <p:spPr>
          <a:xfrm rot="10800000">
            <a:off x="-1219741" y="8051306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2" name="Google Shape;522;p17"/>
          <p:cNvSpPr/>
          <p:nvPr/>
        </p:nvSpPr>
        <p:spPr>
          <a:xfrm>
            <a:off x="8566562" y="1564509"/>
            <a:ext cx="1154875" cy="602137"/>
          </a:xfrm>
          <a:custGeom>
            <a:rect b="b" l="l" r="r" t="t"/>
            <a:pathLst>
              <a:path extrusionOk="0" h="602137" w="1154875">
                <a:moveTo>
                  <a:pt x="0" y="0"/>
                </a:moveTo>
                <a:lnTo>
                  <a:pt x="1154876" y="0"/>
                </a:lnTo>
                <a:lnTo>
                  <a:pt x="1154876" y="602137"/>
                </a:lnTo>
                <a:lnTo>
                  <a:pt x="0" y="6021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3" name="Google Shape;523;p17"/>
          <p:cNvSpPr txBox="1"/>
          <p:nvPr/>
        </p:nvSpPr>
        <p:spPr>
          <a:xfrm>
            <a:off x="7648585" y="2367895"/>
            <a:ext cx="2990829" cy="89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3"/>
              <a:buFont typeface="Arial"/>
              <a:buNone/>
            </a:pPr>
            <a:r>
              <a:rPr b="1" i="0" lang="en-US" sz="2603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ORGANIZACIÓN COMPUTACIONAL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4" name="Google Shape;524;p17"/>
          <p:cNvGrpSpPr/>
          <p:nvPr/>
        </p:nvGrpSpPr>
        <p:grpSpPr>
          <a:xfrm rot="10800000">
            <a:off x="3422689" y="5542806"/>
            <a:ext cx="11442623" cy="1256928"/>
            <a:chOff x="0" y="-47625"/>
            <a:chExt cx="3013695" cy="331043"/>
          </a:xfrm>
        </p:grpSpPr>
        <p:sp>
          <p:nvSpPr>
            <p:cNvPr id="525" name="Google Shape;525;p17"/>
            <p:cNvSpPr/>
            <p:nvPr/>
          </p:nvSpPr>
          <p:spPr>
            <a:xfrm>
              <a:off x="0" y="0"/>
              <a:ext cx="3013695" cy="283418"/>
            </a:xfrm>
            <a:custGeom>
              <a:rect b="b" l="l" r="r" t="t"/>
              <a:pathLst>
                <a:path extrusionOk="0" h="283418" w="3013695">
                  <a:moveTo>
                    <a:pt x="8119" y="0"/>
                  </a:moveTo>
                  <a:lnTo>
                    <a:pt x="3005576" y="0"/>
                  </a:lnTo>
                  <a:cubicBezTo>
                    <a:pt x="3007729" y="0"/>
                    <a:pt x="3009794" y="855"/>
                    <a:pt x="3011317" y="2378"/>
                  </a:cubicBezTo>
                  <a:cubicBezTo>
                    <a:pt x="3012840" y="3901"/>
                    <a:pt x="3013695" y="5966"/>
                    <a:pt x="3013695" y="8119"/>
                  </a:cubicBezTo>
                  <a:lnTo>
                    <a:pt x="3013695" y="275299"/>
                  </a:lnTo>
                  <a:cubicBezTo>
                    <a:pt x="3013695" y="279783"/>
                    <a:pt x="3010060" y="283418"/>
                    <a:pt x="3005576" y="283418"/>
                  </a:cubicBezTo>
                  <a:lnTo>
                    <a:pt x="8119" y="283418"/>
                  </a:lnTo>
                  <a:cubicBezTo>
                    <a:pt x="3635" y="283418"/>
                    <a:pt x="0" y="279783"/>
                    <a:pt x="0" y="275299"/>
                  </a:cubicBezTo>
                  <a:lnTo>
                    <a:pt x="0" y="8119"/>
                  </a:lnTo>
                  <a:cubicBezTo>
                    <a:pt x="0" y="3635"/>
                    <a:pt x="3635" y="0"/>
                    <a:pt x="8119" y="0"/>
                  </a:cubicBezTo>
                  <a:close/>
                </a:path>
              </a:pathLst>
            </a:custGeom>
            <a:gradFill>
              <a:gsLst>
                <a:gs pos="0">
                  <a:srgbClr val="08122E"/>
                </a:gs>
                <a:gs pos="100000">
                  <a:srgbClr val="2D5297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7"/>
            <p:cNvSpPr txBox="1"/>
            <p:nvPr/>
          </p:nvSpPr>
          <p:spPr>
            <a:xfrm>
              <a:off x="0" y="-47625"/>
              <a:ext cx="3013695" cy="331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