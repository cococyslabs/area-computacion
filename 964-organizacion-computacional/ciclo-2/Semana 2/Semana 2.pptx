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0287000" cx="18288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Lato"/>
      <p:bold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Lato Black"/>
      <p:bold r:id="rId42"/>
      <p:boldItalic r:id="rId43"/>
    </p:embeddedFont>
    <p:embeddedFont>
      <p:font typeface="Oswald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4alUP5es47RwvdssDPXj0fAj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42" Type="http://schemas.openxmlformats.org/officeDocument/2006/relationships/font" Target="fonts/LatoBlack-bold.fntdata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44" Type="http://schemas.openxmlformats.org/officeDocument/2006/relationships/font" Target="fonts/Oswald-bold.fntdata"/><Relationship Id="rId21" Type="http://schemas.openxmlformats.org/officeDocument/2006/relationships/slide" Target="slides/slide16.xml"/><Relationship Id="rId43" Type="http://schemas.openxmlformats.org/officeDocument/2006/relationships/font" Target="fonts/LatoBlack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0" name="Google Shape;12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22" name="Google Shape;12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5" name="Google Shape;16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67" name="Google Shape;16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6" name="Google Shape;186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88" name="Google Shape;188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0" name="Google Shape;21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212" name="Google Shape;21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8" name="Google Shape;238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9" name="Google Shape;239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241" name="Google Shape;241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3" name="Google Shape;253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es una magnitud física que describe la capacidad de un campo eléctrico para realizar trabajo sobre una carga eléctrica.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en un punto se refiere a la cantidad de trabajo que sería necesario para mover una carga positiva desde un punto de referencia (comúnmente el infinito) hasta ese punto, dentro de un campo eléctrico</a:t>
            </a:r>
            <a:endParaRPr/>
          </a:p>
        </p:txBody>
      </p:sp>
      <p:sp>
        <p:nvSpPr>
          <p:cNvPr id="255" name="Google Shape;255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7" name="Google Shape;267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8" name="Google Shape;268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es una magnitud física que describe la capacidad de un campo eléctrico para realizar trabajo sobre una carga eléctrica.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en un punto se refiere a la cantidad de trabajo que sería necesario para mover una carga positiva desde un punto de referencia (comúnmente el infinito) hasta ese punto, dentro de un campo eléctrico</a:t>
            </a:r>
            <a:endParaRPr/>
          </a:p>
        </p:txBody>
      </p:sp>
      <p:sp>
        <p:nvSpPr>
          <p:cNvPr id="270" name="Google Shape;270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1" name="Google Shape;271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es una magnitud física que describe la capacidad de un campo eléctrico para realizar trabajo sobre una carga eléctrica.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potencial eléctrico en un punto se refiere a la cantidad de trabajo que sería necesario para mover una carga positiva desde un punto de referencia (comúnmente el infinito) hasta ese punto, dentro de un campo eléctrico</a:t>
            </a:r>
            <a:endParaRPr/>
          </a:p>
        </p:txBody>
      </p:sp>
      <p:sp>
        <p:nvSpPr>
          <p:cNvPr id="285" name="Google Shape;285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5" name="Google Shape;305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8" name="Google Shape;308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8" name="Google Shape;318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9" name="Google Shape;319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2" name="Google Shape;322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3" name="Google Shape;333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4" name="Google Shape;334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7" name="Google Shape;337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9" name="Google Shape;349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2" name="Google Shape;352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3" name="Google Shape;363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4" name="Google Shape;364;p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7" name="Google Shape;367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3" name="Google Shape;383;p2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p2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7" name="Google Shape;387;p2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7" name="Google Shape;397;p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8" name="Google Shape;398;p2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1" name="Google Shape;401;p2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1" name="Google Shape;411;p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2" name="Google Shape;412;p2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5" name="Google Shape;415;p2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664188acdd_0_605"/>
          <p:cNvSpPr/>
          <p:nvPr/>
        </p:nvSpPr>
        <p:spPr>
          <a:xfrm flipH="1">
            <a:off x="16492800" y="8491850"/>
            <a:ext cx="1795200" cy="1795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664188acdd_0_605"/>
          <p:cNvSpPr/>
          <p:nvPr/>
        </p:nvSpPr>
        <p:spPr>
          <a:xfrm flipH="1">
            <a:off x="16492800" y="8491750"/>
            <a:ext cx="1795200" cy="17952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664188acdd_0_605"/>
          <p:cNvSpPr txBox="1"/>
          <p:nvPr>
            <p:ph type="ctrTitle"/>
          </p:nvPr>
        </p:nvSpPr>
        <p:spPr>
          <a:xfrm>
            <a:off x="781050" y="3638550"/>
            <a:ext cx="16444200" cy="1867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7" name="Google Shape;17;g3664188acdd_0_605"/>
          <p:cNvSpPr txBox="1"/>
          <p:nvPr>
            <p:ph idx="1" type="subTitle"/>
          </p:nvPr>
        </p:nvSpPr>
        <p:spPr>
          <a:xfrm>
            <a:off x="781050" y="5578261"/>
            <a:ext cx="16444200" cy="865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664188acdd_0_605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664188acdd_0_611"/>
          <p:cNvSpPr txBox="1"/>
          <p:nvPr>
            <p:ph type="title"/>
          </p:nvPr>
        </p:nvSpPr>
        <p:spPr>
          <a:xfrm>
            <a:off x="921900" y="4130700"/>
            <a:ext cx="16444200" cy="2025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21" name="Google Shape;21;g3664188acdd_0_611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664188acdd_0_614"/>
          <p:cNvSpPr/>
          <p:nvPr/>
        </p:nvSpPr>
        <p:spPr>
          <a:xfrm flipH="1" rot="10800000">
            <a:off x="0" y="3372000"/>
            <a:ext cx="18288000" cy="691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664188acdd_0_614"/>
          <p:cNvSpPr/>
          <p:nvPr/>
        </p:nvSpPr>
        <p:spPr>
          <a:xfrm>
            <a:off x="0" y="3372000"/>
            <a:ext cx="182880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664188acdd_0_614"/>
          <p:cNvSpPr txBox="1"/>
          <p:nvPr>
            <p:ph type="title"/>
          </p:nvPr>
        </p:nvSpPr>
        <p:spPr>
          <a:xfrm>
            <a:off x="943800" y="1477450"/>
            <a:ext cx="16444200" cy="1535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6" name="Google Shape;26;g3664188acdd_0_614"/>
          <p:cNvSpPr txBox="1"/>
          <p:nvPr>
            <p:ph idx="1" type="body"/>
          </p:nvPr>
        </p:nvSpPr>
        <p:spPr>
          <a:xfrm>
            <a:off x="943800" y="3838150"/>
            <a:ext cx="16444200" cy="542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7" name="Google Shape;27;g3664188acdd_0_614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664188acdd_0_620"/>
          <p:cNvSpPr/>
          <p:nvPr/>
        </p:nvSpPr>
        <p:spPr>
          <a:xfrm flipH="1" rot="10800000">
            <a:off x="0" y="3372000"/>
            <a:ext cx="18288000" cy="691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664188acdd_0_620"/>
          <p:cNvSpPr/>
          <p:nvPr/>
        </p:nvSpPr>
        <p:spPr>
          <a:xfrm>
            <a:off x="0" y="3372000"/>
            <a:ext cx="182880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664188acdd_0_620"/>
          <p:cNvSpPr txBox="1"/>
          <p:nvPr>
            <p:ph type="title"/>
          </p:nvPr>
        </p:nvSpPr>
        <p:spPr>
          <a:xfrm>
            <a:off x="943800" y="1477450"/>
            <a:ext cx="16444200" cy="1535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2" name="Google Shape;32;g3664188acdd_0_620"/>
          <p:cNvSpPr txBox="1"/>
          <p:nvPr>
            <p:ph idx="1" type="body"/>
          </p:nvPr>
        </p:nvSpPr>
        <p:spPr>
          <a:xfrm>
            <a:off x="943800" y="3838151"/>
            <a:ext cx="7999800" cy="542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664188acdd_0_620"/>
          <p:cNvSpPr txBox="1"/>
          <p:nvPr>
            <p:ph idx="2" type="body"/>
          </p:nvPr>
        </p:nvSpPr>
        <p:spPr>
          <a:xfrm>
            <a:off x="9388500" y="3838151"/>
            <a:ext cx="7999800" cy="542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4" name="Google Shape;34;g3664188acdd_0_620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64188acdd_0_627"/>
          <p:cNvSpPr/>
          <p:nvPr/>
        </p:nvSpPr>
        <p:spPr>
          <a:xfrm flipH="1" rot="10800000">
            <a:off x="0" y="1312800"/>
            <a:ext cx="18288000" cy="897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664188acdd_0_627"/>
          <p:cNvSpPr/>
          <p:nvPr/>
        </p:nvSpPr>
        <p:spPr>
          <a:xfrm>
            <a:off x="0" y="1312700"/>
            <a:ext cx="182880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664188acdd_0_627"/>
          <p:cNvSpPr txBox="1"/>
          <p:nvPr>
            <p:ph type="title"/>
          </p:nvPr>
        </p:nvSpPr>
        <p:spPr>
          <a:xfrm>
            <a:off x="196500" y="32700"/>
            <a:ext cx="17653200" cy="1205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g3664188acdd_0_627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664188acdd_0_632"/>
          <p:cNvSpPr txBox="1"/>
          <p:nvPr/>
        </p:nvSpPr>
        <p:spPr>
          <a:xfrm flipH="1" rot="10800000">
            <a:off x="6553200" y="50"/>
            <a:ext cx="11734800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664188acdd_0_632"/>
          <p:cNvSpPr/>
          <p:nvPr/>
        </p:nvSpPr>
        <p:spPr>
          <a:xfrm rot="-5400000">
            <a:off x="1518300" y="5034900"/>
            <a:ext cx="102870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664188acdd_0_632"/>
          <p:cNvSpPr txBox="1"/>
          <p:nvPr>
            <p:ph type="title"/>
          </p:nvPr>
        </p:nvSpPr>
        <p:spPr>
          <a:xfrm>
            <a:off x="452155" y="715600"/>
            <a:ext cx="5616000" cy="1906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664188acdd_0_632"/>
          <p:cNvSpPr txBox="1"/>
          <p:nvPr>
            <p:ph idx="1" type="body"/>
          </p:nvPr>
        </p:nvSpPr>
        <p:spPr>
          <a:xfrm>
            <a:off x="452150" y="2931600"/>
            <a:ext cx="5616000" cy="6327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664188acdd_0_632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64188acdd_0_638"/>
          <p:cNvSpPr txBox="1"/>
          <p:nvPr>
            <p:ph type="title"/>
          </p:nvPr>
        </p:nvSpPr>
        <p:spPr>
          <a:xfrm>
            <a:off x="980500" y="976500"/>
            <a:ext cx="124542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8" name="Google Shape;48;g3664188acdd_0_638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64188acdd_0_641"/>
          <p:cNvSpPr/>
          <p:nvPr/>
        </p:nvSpPr>
        <p:spPr>
          <a:xfrm flipH="1">
            <a:off x="0" y="0"/>
            <a:ext cx="9144000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664188acdd_0_641"/>
          <p:cNvSpPr/>
          <p:nvPr/>
        </p:nvSpPr>
        <p:spPr>
          <a:xfrm rot="5400000">
            <a:off x="3892850" y="5035500"/>
            <a:ext cx="102858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664188acdd_0_641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00"/>
              <a:buNone/>
              <a:defRPr sz="8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g3664188acdd_0_641"/>
          <p:cNvSpPr txBox="1"/>
          <p:nvPr>
            <p:ph idx="1" type="subTitle"/>
          </p:nvPr>
        </p:nvSpPr>
        <p:spPr>
          <a:xfrm>
            <a:off x="531000" y="5558934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g3664188acdd_0_641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664188acdd_0_641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4188acdd_0_648"/>
          <p:cNvSpPr txBox="1"/>
          <p:nvPr/>
        </p:nvSpPr>
        <p:spPr>
          <a:xfrm flipH="1" rot="10800000">
            <a:off x="0" y="0"/>
            <a:ext cx="18288000" cy="939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664188acdd_0_648"/>
          <p:cNvSpPr/>
          <p:nvPr/>
        </p:nvSpPr>
        <p:spPr>
          <a:xfrm flipH="1" rot="10800000">
            <a:off x="0" y="9245450"/>
            <a:ext cx="18288000" cy="148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664188acdd_0_648"/>
          <p:cNvSpPr txBox="1"/>
          <p:nvPr>
            <p:ph idx="1" type="body"/>
          </p:nvPr>
        </p:nvSpPr>
        <p:spPr>
          <a:xfrm>
            <a:off x="114300" y="9393650"/>
            <a:ext cx="16764000" cy="893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0" name="Google Shape;60;g3664188acdd_0_648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64188acdd_0_653"/>
          <p:cNvSpPr txBox="1"/>
          <p:nvPr>
            <p:ph hasCustomPrompt="1" type="title"/>
          </p:nvPr>
        </p:nvSpPr>
        <p:spPr>
          <a:xfrm>
            <a:off x="951000" y="2517050"/>
            <a:ext cx="16444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0"/>
              <a:buNone/>
              <a:defRPr sz="2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g3664188acdd_0_653"/>
          <p:cNvSpPr txBox="1"/>
          <p:nvPr>
            <p:ph idx="1" type="body"/>
          </p:nvPr>
        </p:nvSpPr>
        <p:spPr>
          <a:xfrm>
            <a:off x="951000" y="6609250"/>
            <a:ext cx="16444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4" name="Google Shape;64;g3664188acdd_0_653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64188acdd_0_657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64188acdd_0_601"/>
          <p:cNvSpPr txBox="1"/>
          <p:nvPr>
            <p:ph type="title"/>
          </p:nvPr>
        </p:nvSpPr>
        <p:spPr>
          <a:xfrm>
            <a:off x="943800" y="1477450"/>
            <a:ext cx="16444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Roboto"/>
              <a:buNone/>
              <a:defRPr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g3664188acdd_0_601"/>
          <p:cNvSpPr txBox="1"/>
          <p:nvPr>
            <p:ph idx="1" type="body"/>
          </p:nvPr>
        </p:nvSpPr>
        <p:spPr>
          <a:xfrm>
            <a:off x="943800" y="3838150"/>
            <a:ext cx="16444200" cy="5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Roboto"/>
              <a:buChar char="●"/>
              <a:defRPr sz="3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○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■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●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○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■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●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○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oboto"/>
              <a:buChar char="■"/>
              <a:defRPr sz="2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3664188acdd_0_601"/>
          <p:cNvSpPr txBox="1"/>
          <p:nvPr>
            <p:ph idx="12" type="sldNum"/>
          </p:nvPr>
        </p:nvSpPr>
        <p:spPr>
          <a:xfrm>
            <a:off x="17047083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"/>
          <p:cNvGrpSpPr/>
          <p:nvPr/>
        </p:nvGrpSpPr>
        <p:grpSpPr>
          <a:xfrm rot="5400000">
            <a:off x="2659078" y="-6224990"/>
            <a:ext cx="6274827" cy="12450233"/>
            <a:chOff x="0" y="0"/>
            <a:chExt cx="3166110" cy="6282055"/>
          </a:xfrm>
        </p:grpSpPr>
        <p:sp>
          <p:nvSpPr>
            <p:cNvPr id="72" name="Google Shape;72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ADC7EA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" name="Google Shape;74;p1"/>
          <p:cNvGrpSpPr/>
          <p:nvPr/>
        </p:nvGrpSpPr>
        <p:grpSpPr>
          <a:xfrm rot="-5400000">
            <a:off x="9151318" y="4851619"/>
            <a:ext cx="6274827" cy="12450233"/>
            <a:chOff x="0" y="0"/>
            <a:chExt cx="3166110" cy="6282055"/>
          </a:xfrm>
        </p:grpSpPr>
        <p:sp>
          <p:nvSpPr>
            <p:cNvPr id="75" name="Google Shape;75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E0E6E9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E0E6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1"/>
          <p:cNvGrpSpPr/>
          <p:nvPr/>
        </p:nvGrpSpPr>
        <p:grpSpPr>
          <a:xfrm>
            <a:off x="12814229" y="6175561"/>
            <a:ext cx="12630150" cy="1367582"/>
            <a:chOff x="0" y="-66675"/>
            <a:chExt cx="3326459" cy="360186"/>
          </a:xfrm>
        </p:grpSpPr>
        <p:sp>
          <p:nvSpPr>
            <p:cNvPr id="78" name="Google Shape;78;p1"/>
            <p:cNvSpPr/>
            <p:nvPr/>
          </p:nvSpPr>
          <p:spPr>
            <a:xfrm>
              <a:off x="0" y="0"/>
              <a:ext cx="3326459" cy="293511"/>
            </a:xfrm>
            <a:custGeom>
              <a:rect b="b" l="l" r="r" t="t"/>
              <a:pathLst>
                <a:path extrusionOk="0" h="293511" w="3326459">
                  <a:moveTo>
                    <a:pt x="3123259" y="0"/>
                  </a:moveTo>
                  <a:cubicBezTo>
                    <a:pt x="3235484" y="0"/>
                    <a:pt x="3326459" y="65705"/>
                    <a:pt x="3326459" y="146756"/>
                  </a:cubicBezTo>
                  <a:cubicBezTo>
                    <a:pt x="3326459" y="227806"/>
                    <a:pt x="3235484" y="293511"/>
                    <a:pt x="3123259" y="293511"/>
                  </a:cubicBezTo>
                  <a:lnTo>
                    <a:pt x="203200" y="293511"/>
                  </a:lnTo>
                  <a:cubicBezTo>
                    <a:pt x="90976" y="293511"/>
                    <a:pt x="0" y="227806"/>
                    <a:pt x="0" y="146756"/>
                  </a:cubicBezTo>
                  <a:cubicBezTo>
                    <a:pt x="0" y="6570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"/>
            <p:cNvSpPr txBox="1"/>
            <p:nvPr/>
          </p:nvSpPr>
          <p:spPr>
            <a:xfrm>
              <a:off x="0" y="-66675"/>
              <a:ext cx="3326459" cy="360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1"/>
          <p:cNvSpPr txBox="1"/>
          <p:nvPr/>
        </p:nvSpPr>
        <p:spPr>
          <a:xfrm>
            <a:off x="370203" y="4625020"/>
            <a:ext cx="13235916" cy="1165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55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ALGEBRA BOOLEANA</a:t>
            </a:r>
            <a:endParaRPr/>
          </a:p>
        </p:txBody>
      </p:sp>
      <p:sp>
        <p:nvSpPr>
          <p:cNvPr id="81" name="Google Shape;81;p1"/>
          <p:cNvSpPr txBox="1"/>
          <p:nvPr/>
        </p:nvSpPr>
        <p:spPr>
          <a:xfrm>
            <a:off x="1028700" y="8225324"/>
            <a:ext cx="13293265" cy="36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ORGANIZACIÓN COMPUTACIONAL</a:t>
            </a:r>
            <a:endParaRPr/>
          </a:p>
        </p:txBody>
      </p:sp>
      <p:cxnSp>
        <p:nvCxnSpPr>
          <p:cNvPr id="82" name="Google Shape;82;p1"/>
          <p:cNvCxnSpPr/>
          <p:nvPr/>
        </p:nvCxnSpPr>
        <p:spPr>
          <a:xfrm>
            <a:off x="-428625" y="3501989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83" name="Google Shape;83;p1"/>
          <p:cNvCxnSpPr/>
          <p:nvPr/>
        </p:nvCxnSpPr>
        <p:spPr>
          <a:xfrm>
            <a:off x="12471329" y="7739549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grpSp>
        <p:nvGrpSpPr>
          <p:cNvPr id="84" name="Google Shape;84;p1"/>
          <p:cNvGrpSpPr/>
          <p:nvPr/>
        </p:nvGrpSpPr>
        <p:grpSpPr>
          <a:xfrm rot="-5400000">
            <a:off x="9244367" y="5304340"/>
            <a:ext cx="6274913" cy="12450405"/>
            <a:chOff x="0" y="0"/>
            <a:chExt cx="3166110" cy="6282055"/>
          </a:xfrm>
        </p:grpSpPr>
        <p:sp>
          <p:nvSpPr>
            <p:cNvPr id="85" name="Google Shape;85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9DB3C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9DB3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5400000">
            <a:off x="2154253" y="-6869939"/>
            <a:ext cx="6274827" cy="12450233"/>
            <a:chOff x="0" y="0"/>
            <a:chExt cx="3166110" cy="6282055"/>
          </a:xfrm>
        </p:grpSpPr>
        <p:sp>
          <p:nvSpPr>
            <p:cNvPr id="88" name="Google Shape;88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5B696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5B69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12288731" y="292465"/>
            <a:ext cx="5910775" cy="263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ESCUELA DE INGENIERIA DE CIENCIAS Y SISTEMAS</a:t>
            </a:r>
            <a:endParaRPr/>
          </a:p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FACULTAD DE INGENIERIA</a:t>
            </a:r>
            <a:endParaRPr/>
          </a:p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99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UNIVERSIDAD DE SAN CARLOS DE GUATEMALA</a:t>
            </a:r>
            <a:endParaRPr/>
          </a:p>
          <a:p>
            <a:pPr indent="0" lvl="0" marL="0" marR="0" rtl="0" algn="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99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/>
          <p:cNvCxnSpPr/>
          <p:nvPr/>
        </p:nvCxnSpPr>
        <p:spPr>
          <a:xfrm rot="10800000">
            <a:off x="6471625" y="0"/>
            <a:ext cx="0" cy="102870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2"/>
          <p:cNvGrpSpPr/>
          <p:nvPr/>
        </p:nvGrpSpPr>
        <p:grpSpPr>
          <a:xfrm>
            <a:off x="6344348" y="1028700"/>
            <a:ext cx="264078" cy="264078"/>
            <a:chOff x="0" y="0"/>
            <a:chExt cx="812800" cy="81280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792492" y="4237229"/>
            <a:ext cx="5199431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CONTENIDO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824213" y="905151"/>
            <a:ext cx="792951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TABLAS DE VERDAD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824213" y="2621911"/>
            <a:ext cx="792951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BÁSICAS DE LA LÓGICA 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824213" y="4417928"/>
            <a:ext cx="792951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COMPUERTAS BÁSICAS 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6824213" y="5876644"/>
            <a:ext cx="792951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FUNCIONES BOOLEANAS POR TERMINOS MAXIMOS Y MINIMOS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824213" y="7702904"/>
            <a:ext cx="792951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POSTULADOS DEL ÁLGEBRA BOOLEANA</a:t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6334823" y="2745460"/>
            <a:ext cx="264078" cy="264078"/>
            <a:chOff x="0" y="0"/>
            <a:chExt cx="812800" cy="8128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6344348" y="4541477"/>
            <a:ext cx="264078" cy="264078"/>
            <a:chOff x="0" y="0"/>
            <a:chExt cx="812800" cy="8128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6344348" y="6202242"/>
            <a:ext cx="264078" cy="264078"/>
            <a:chOff x="0" y="0"/>
            <a:chExt cx="812800" cy="8128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6344348" y="7825261"/>
            <a:ext cx="264078" cy="264078"/>
            <a:chOff x="0" y="0"/>
            <a:chExt cx="812800" cy="8128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3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27" name="Google Shape;127;p3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3"/>
          <p:cNvSpPr txBox="1"/>
          <p:nvPr/>
        </p:nvSpPr>
        <p:spPr>
          <a:xfrm>
            <a:off x="1028700" y="3865652"/>
            <a:ext cx="16230600" cy="213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estudiante aplica Sistemas numericos posicionales (binario, octal y decimal), componentes básicos de electrónica digital (puertas lógicas, transistores, LEDs) Mediante simuladores de circuitos digitales (Proteus) Para representar informacion con presicion en dispositivos digitales, para implementar diseños funcionales en protoboard y comprobar su fidelidad frente al modelo simulado. 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28700" y="1066763"/>
            <a:ext cx="16230600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COMPETENCIAS QUE DESARROLLAREMOS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0" y="-253157"/>
            <a:ext cx="6906257" cy="10540157"/>
            <a:chOff x="0" y="-66675"/>
            <a:chExt cx="1818932" cy="2776008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1818932" cy="2709333"/>
            </a:xfrm>
            <a:custGeom>
              <a:rect b="b" l="l" r="r" t="t"/>
              <a:pathLst>
                <a:path extrusionOk="0" h="2709333" w="1818932">
                  <a:moveTo>
                    <a:pt x="0" y="0"/>
                  </a:moveTo>
                  <a:lnTo>
                    <a:pt x="1818932" y="0"/>
                  </a:lnTo>
                  <a:lnTo>
                    <a:pt x="18189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36" name="Google Shape;136;p4"/>
            <p:cNvSpPr txBox="1"/>
            <p:nvPr/>
          </p:nvSpPr>
          <p:spPr>
            <a:xfrm>
              <a:off x="0" y="-66675"/>
              <a:ext cx="1818932" cy="277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524238" y="4092060"/>
            <a:ext cx="5857780" cy="214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4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VALORES A DESARROLLAR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 rot="-5398408">
            <a:off x="2758522" y="5138735"/>
            <a:ext cx="1028700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p4"/>
          <p:cNvGrpSpPr/>
          <p:nvPr/>
        </p:nvGrpSpPr>
        <p:grpSpPr>
          <a:xfrm>
            <a:off x="7547722" y="1653944"/>
            <a:ext cx="722889" cy="722889"/>
            <a:chOff x="0" y="0"/>
            <a:chExt cx="812800" cy="81280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8573802" y="1731090"/>
            <a:ext cx="9021238" cy="492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547722" y="3739350"/>
            <a:ext cx="722889" cy="722889"/>
            <a:chOff x="0" y="0"/>
            <a:chExt cx="812800" cy="812800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46" name="Google Shape;146;p4"/>
          <p:cNvSpPr txBox="1"/>
          <p:nvPr/>
        </p:nvSpPr>
        <p:spPr>
          <a:xfrm>
            <a:off x="8573802" y="3816496"/>
            <a:ext cx="9021238" cy="492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Y PENSAMIENTO CRITICO</a:t>
            </a:r>
            <a:endParaRPr/>
          </a:p>
        </p:txBody>
      </p:sp>
      <p:grpSp>
        <p:nvGrpSpPr>
          <p:cNvPr id="147" name="Google Shape;147;p4"/>
          <p:cNvGrpSpPr/>
          <p:nvPr/>
        </p:nvGrpSpPr>
        <p:grpSpPr>
          <a:xfrm>
            <a:off x="7547722" y="5824756"/>
            <a:ext cx="722889" cy="722889"/>
            <a:chOff x="0" y="0"/>
            <a:chExt cx="812800" cy="812800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50" name="Google Shape;150;p4"/>
          <p:cNvSpPr txBox="1"/>
          <p:nvPr/>
        </p:nvSpPr>
        <p:spPr>
          <a:xfrm>
            <a:off x="8573802" y="5901902"/>
            <a:ext cx="9021238" cy="492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RESPETO</a:t>
            </a:r>
            <a:endParaRPr/>
          </a:p>
        </p:txBody>
      </p:sp>
      <p:grpSp>
        <p:nvGrpSpPr>
          <p:cNvPr id="151" name="Google Shape;151;p4"/>
          <p:cNvGrpSpPr/>
          <p:nvPr/>
        </p:nvGrpSpPr>
        <p:grpSpPr>
          <a:xfrm>
            <a:off x="7547722" y="7910162"/>
            <a:ext cx="722889" cy="722889"/>
            <a:chOff x="0" y="0"/>
            <a:chExt cx="812800" cy="812800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54" name="Google Shape;154;p4"/>
          <p:cNvSpPr txBox="1"/>
          <p:nvPr/>
        </p:nvSpPr>
        <p:spPr>
          <a:xfrm>
            <a:off x="8573802" y="7987308"/>
            <a:ext cx="9021238" cy="492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5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160" name="Google Shape;160;p5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1" name="Google Shape;161;p5"/>
          <p:cNvSpPr txBox="1"/>
          <p:nvPr/>
        </p:nvSpPr>
        <p:spPr>
          <a:xfrm>
            <a:off x="2574170" y="4223785"/>
            <a:ext cx="12318716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TABLAS DE VERDAD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6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6"/>
          <p:cNvSpPr txBox="1"/>
          <p:nvPr/>
        </p:nvSpPr>
        <p:spPr>
          <a:xfrm>
            <a:off x="1028700" y="2824842"/>
            <a:ext cx="16230600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 tablas de verdad son herramientas fundamentales en el álgebra booleana para representar el comportamiento de funciones lógicas. Estas tablas muestran todas las posibles combinaciones de valores de entrada y sus correspondientes salidas para una operación lógica dada. Para construir una tabla de verdad, se siguen estos pasos: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028700" y="5114925"/>
            <a:ext cx="16230600" cy="3849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Paso 1: Identificar variables Determinar las variables de entrada de la función lógica.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Paso 2: Listar combinaciones Enumerar todas las posibles combinaciones de valores de entrada (0 y 1).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Paso 3: Evaluar función Calcular el resultado de la función para cada combinación de entrada.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Paso 4: Registrar resultados Anotar los resultados en la columna de salida de la tabla. 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TABLAS DE VERDAD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7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181" name="Google Shape;181;p7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82" name="Google Shape;182;p7"/>
          <p:cNvSpPr txBox="1"/>
          <p:nvPr/>
        </p:nvSpPr>
        <p:spPr>
          <a:xfrm>
            <a:off x="2574170" y="3642760"/>
            <a:ext cx="12318716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OPERACIONES BÁSICAS DE LA LÓGICA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8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92" name="Google Shape;192;p8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93" name="Google Shape;193;p8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8"/>
          <p:cNvSpPr txBox="1"/>
          <p:nvPr/>
        </p:nvSpPr>
        <p:spPr>
          <a:xfrm>
            <a:off x="1028700" y="2868808"/>
            <a:ext cx="16028025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 operaciones fundamentales del álgebra booleana son AND (∧), OR (∨) y NOT (¬). Estas operaciones trabajan con valores booleanos, típicamente representados como 0 (falso) y 1 (verdadero).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1028700" y="4423161"/>
            <a:ext cx="3587052" cy="3421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(∧)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operación AND resulta en 1 solo si todas las entradas son 1. Se relaciona con la puerta lógica AND en electrónica digital. 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COMPUERTAS LOGICAS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7053563" y="4326720"/>
            <a:ext cx="3587052" cy="3421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 (∨)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operación OR resulta en 1 si al menos una de las entradas es 1. Se implementa mediante la puerta lógica OR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13078427" y="4208849"/>
            <a:ext cx="3587052" cy="3849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NOT(¬)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operación NOT invierte el valor de entrada. Un 0 se convierte en 1 y viceversa. Se implementa con la puerta lógica NOT o inversor. 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1129987" y="8495688"/>
            <a:ext cx="16028025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Estas operaciones poseen propiedades importantes como la conmutatividad (A∧B = B∧A), asociatividad ((A∧B)∧C = A∧ (B∧C)) y distributividad (A∧(B∨C) = (A∧B)∨(A∧C)), que son cruciales para la manipulación y simplificación de expresiones booleanas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9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205" name="Google Shape;205;p9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06" name="Google Shape;206;p9"/>
          <p:cNvSpPr txBox="1"/>
          <p:nvPr/>
        </p:nvSpPr>
        <p:spPr>
          <a:xfrm>
            <a:off x="2574170" y="3642760"/>
            <a:ext cx="12318716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POSTULADOS DEL ÁLGEBRA BOOLEANA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0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216" name="Google Shape;216;p10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217" name="Google Shape;217;p10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0"/>
          <p:cNvSpPr txBox="1"/>
          <p:nvPr/>
        </p:nvSpPr>
        <p:spPr>
          <a:xfrm>
            <a:off x="867964" y="2726822"/>
            <a:ext cx="3587052" cy="213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1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elemento identidad de la suma es el "0".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 + 0 = A)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COMPUERTAS LOGICAS</a:t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5135208" y="2726822"/>
            <a:ext cx="3587052" cy="213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2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elemento de identidad del producto es el "1".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 · 1 = A)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9257789" y="2726822"/>
            <a:ext cx="3587052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3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suma es conmutativa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+ B = B + A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13672248" y="2726822"/>
            <a:ext cx="3587052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4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producto es conmutativo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· B = B · A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863799" y="5237549"/>
            <a:ext cx="3892450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5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suma es asociativa: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 + B) + C = A + (B + C)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6868266" y="5409589"/>
            <a:ext cx="4551468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6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producto es asociativo: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 · B) · C = A · (B · C)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12547479" y="5114925"/>
            <a:ext cx="5329094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7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producto es distributivo respecto de la suma: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· (B + C) = (A · B) + (A · C)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442839" y="7235105"/>
            <a:ext cx="4734371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8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suma es distributiva respecto del producto: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+ (B · C) = (A + B) · ( A + C)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6270496" y="7235105"/>
            <a:ext cx="5747008" cy="256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9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Para cada valor A existe un valor Ā tal que A · Ā = 0 y 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+ Ā = 1. Éste valor es el complemento lógico o negado de A.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12844841" y="7551547"/>
            <a:ext cx="5031732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POSTULADO 10</a:t>
            </a:r>
            <a:endParaRPr/>
          </a:p>
          <a:p>
            <a:pPr indent="0" lvl="0" marL="0" marR="0" rtl="0" algn="ctr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álgebra de Boole es cerrada bajo las operaciones suma, producto y negación.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11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35" name="Google Shape;235;p11"/>
          <p:cNvSpPr txBox="1"/>
          <p:nvPr/>
        </p:nvSpPr>
        <p:spPr>
          <a:xfrm>
            <a:off x="2574170" y="4223785"/>
            <a:ext cx="12318716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COMPUERTAS BÁSICAS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2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245" name="Google Shape;245;p12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246" name="Google Shape;246;p12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2"/>
          <p:cNvSpPr txBox="1"/>
          <p:nvPr/>
        </p:nvSpPr>
        <p:spPr>
          <a:xfrm>
            <a:off x="1028700" y="3865372"/>
            <a:ext cx="16028025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Son circuitos electrónicos conformados internamente por transistores que se encuentran con arreglos especiales con los que otorgan señales de voltaje como resultado o una salida de forma booleana.</a:t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1028700" y="5785782"/>
            <a:ext cx="16028025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Existen diferentes tipos de compuertas y algunas de estas son más complejas, con la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posibilidad de ser simuladas por compuertas más sencillas. Todas estas tienen tablas de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verdad que explican los comportamientos en los resultados que otorga, dependiendo del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booleano que tenga en cada una de sus entradas.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COMPUERTAS LOGICAS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3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259" name="Google Shape;259;p13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260" name="Google Shape;260;p13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3"/>
          <p:cNvSpPr/>
          <p:nvPr/>
        </p:nvSpPr>
        <p:spPr>
          <a:xfrm>
            <a:off x="8477928" y="3206633"/>
            <a:ext cx="9631094" cy="3122168"/>
          </a:xfrm>
          <a:custGeom>
            <a:rect b="b" l="l" r="r" t="t"/>
            <a:pathLst>
              <a:path extrusionOk="0" h="3122168" w="9631094">
                <a:moveTo>
                  <a:pt x="0" y="0"/>
                </a:moveTo>
                <a:lnTo>
                  <a:pt x="9631093" y="0"/>
                </a:lnTo>
                <a:lnTo>
                  <a:pt x="9631093" y="3122168"/>
                </a:lnTo>
                <a:lnTo>
                  <a:pt x="0" y="3122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3"/>
          <p:cNvSpPr/>
          <p:nvPr/>
        </p:nvSpPr>
        <p:spPr>
          <a:xfrm>
            <a:off x="3124325" y="5909422"/>
            <a:ext cx="5353603" cy="3700813"/>
          </a:xfrm>
          <a:custGeom>
            <a:rect b="b" l="l" r="r" t="t"/>
            <a:pathLst>
              <a:path extrusionOk="0" h="3700813" w="5353603">
                <a:moveTo>
                  <a:pt x="0" y="0"/>
                </a:moveTo>
                <a:lnTo>
                  <a:pt x="5353603" y="0"/>
                </a:lnTo>
                <a:lnTo>
                  <a:pt x="5353603" y="3700813"/>
                </a:lnTo>
                <a:lnTo>
                  <a:pt x="0" y="3700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3"/>
          <p:cNvSpPr txBox="1"/>
          <p:nvPr/>
        </p:nvSpPr>
        <p:spPr>
          <a:xfrm>
            <a:off x="1645434" y="3670115"/>
            <a:ext cx="5716240" cy="127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compuerta NOT recibe una sola entrada y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luego invierte el valor.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NOT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14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274" name="Google Shape;274;p14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275" name="Google Shape;275;p14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4"/>
          <p:cNvSpPr/>
          <p:nvPr/>
        </p:nvSpPr>
        <p:spPr>
          <a:xfrm>
            <a:off x="9144000" y="2990307"/>
            <a:ext cx="8390041" cy="2691887"/>
          </a:xfrm>
          <a:custGeom>
            <a:rect b="b" l="l" r="r" t="t"/>
            <a:pathLst>
              <a:path extrusionOk="0" h="2691887" w="8390041">
                <a:moveTo>
                  <a:pt x="0" y="0"/>
                </a:moveTo>
                <a:lnTo>
                  <a:pt x="8390041" y="0"/>
                </a:lnTo>
                <a:lnTo>
                  <a:pt x="8390041" y="2691887"/>
                </a:lnTo>
                <a:lnTo>
                  <a:pt x="0" y="26918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4"/>
          <p:cNvSpPr/>
          <p:nvPr/>
        </p:nvSpPr>
        <p:spPr>
          <a:xfrm>
            <a:off x="5347390" y="5742061"/>
            <a:ext cx="3973099" cy="4149983"/>
          </a:xfrm>
          <a:custGeom>
            <a:rect b="b" l="l" r="r" t="t"/>
            <a:pathLst>
              <a:path extrusionOk="0" h="4149983" w="3973099">
                <a:moveTo>
                  <a:pt x="0" y="0"/>
                </a:moveTo>
                <a:lnTo>
                  <a:pt x="3973099" y="0"/>
                </a:lnTo>
                <a:lnTo>
                  <a:pt x="3973099" y="4149983"/>
                </a:lnTo>
                <a:lnTo>
                  <a:pt x="0" y="414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4"/>
          <p:cNvSpPr txBox="1"/>
          <p:nvPr/>
        </p:nvSpPr>
        <p:spPr>
          <a:xfrm>
            <a:off x="1420345" y="3178058"/>
            <a:ext cx="5716240" cy="256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 compuerta posee 2 entradas. Si cualquiera de las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entradas, tiene un 1 lógico, crea una salida de 1 lógico.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Representa básicamente una suma.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5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289" name="Google Shape;289;p15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290" name="Google Shape;290;p15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5"/>
          <p:cNvSpPr/>
          <p:nvPr/>
        </p:nvSpPr>
        <p:spPr>
          <a:xfrm>
            <a:off x="8887127" y="2849114"/>
            <a:ext cx="8569528" cy="2632376"/>
          </a:xfrm>
          <a:custGeom>
            <a:rect b="b" l="l" r="r" t="t"/>
            <a:pathLst>
              <a:path extrusionOk="0" h="2632376" w="8569528">
                <a:moveTo>
                  <a:pt x="0" y="0"/>
                </a:moveTo>
                <a:lnTo>
                  <a:pt x="8569528" y="0"/>
                </a:lnTo>
                <a:lnTo>
                  <a:pt x="8569528" y="2632376"/>
                </a:lnTo>
                <a:lnTo>
                  <a:pt x="0" y="2632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5"/>
          <p:cNvSpPr/>
          <p:nvPr/>
        </p:nvSpPr>
        <p:spPr>
          <a:xfrm>
            <a:off x="5606025" y="5738665"/>
            <a:ext cx="3949216" cy="4183960"/>
          </a:xfrm>
          <a:custGeom>
            <a:rect b="b" l="l" r="r" t="t"/>
            <a:pathLst>
              <a:path extrusionOk="0" h="4183960" w="3949216">
                <a:moveTo>
                  <a:pt x="0" y="0"/>
                </a:moveTo>
                <a:lnTo>
                  <a:pt x="3949216" y="0"/>
                </a:lnTo>
                <a:lnTo>
                  <a:pt x="3949216" y="4183959"/>
                </a:lnTo>
                <a:lnTo>
                  <a:pt x="0" y="4183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5"/>
          <p:cNvSpPr txBox="1"/>
          <p:nvPr/>
        </p:nvSpPr>
        <p:spPr>
          <a:xfrm>
            <a:off x="1420345" y="3178058"/>
            <a:ext cx="5716240" cy="213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 compuerta posee 2 entradas. Si las dos entradas tienen un 1 lógico, crea una salida de 1 lógico. Representa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básicamente una multiplicación.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AND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9" name="Google Shape;299;p16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300" name="Google Shape;300;p16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301" name="Google Shape;301;p16"/>
          <p:cNvSpPr txBox="1"/>
          <p:nvPr/>
        </p:nvSpPr>
        <p:spPr>
          <a:xfrm>
            <a:off x="2574170" y="3642760"/>
            <a:ext cx="14970862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FUNCIONES BOOLEANAS POR TERMINOS MAXIMOS Y MINIMOS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7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11" name="Google Shape;311;p17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12" name="Google Shape;312;p17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7"/>
          <p:cNvSpPr txBox="1"/>
          <p:nvPr/>
        </p:nvSpPr>
        <p:spPr>
          <a:xfrm>
            <a:off x="890447" y="4009556"/>
            <a:ext cx="16028025" cy="84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Estos son sistemas de representación de funciones booleanas los cuales son opuestos entre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ellos.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1028700" y="725946"/>
            <a:ext cx="13919031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MINTERMINOS Y MAXITERMINOS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1028700" y="5595234"/>
            <a:ext cx="15751519" cy="885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Estos se encargan de producir una suma de productos (miniterminos) y el producto de las sumas (maxiterminos) de la función dada con sus 1s o 0s respectivamente.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8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25" name="Google Shape;325;p18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26" name="Google Shape;326;p18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8"/>
          <p:cNvSpPr/>
          <p:nvPr/>
        </p:nvSpPr>
        <p:spPr>
          <a:xfrm>
            <a:off x="11823264" y="857068"/>
            <a:ext cx="3750231" cy="874406"/>
          </a:xfrm>
          <a:custGeom>
            <a:rect b="b" l="l" r="r" t="t"/>
            <a:pathLst>
              <a:path extrusionOk="0" h="874406" w="3750231">
                <a:moveTo>
                  <a:pt x="0" y="0"/>
                </a:moveTo>
                <a:lnTo>
                  <a:pt x="3750230" y="0"/>
                </a:lnTo>
                <a:lnTo>
                  <a:pt x="3750230" y="874406"/>
                </a:lnTo>
                <a:lnTo>
                  <a:pt x="0" y="874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8"/>
          <p:cNvSpPr txBox="1"/>
          <p:nvPr/>
        </p:nvSpPr>
        <p:spPr>
          <a:xfrm>
            <a:off x="1028700" y="2795369"/>
            <a:ext cx="16028025" cy="3849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la obtención de estos, se toma la tabla de verdad y se escogen todas las combinaciones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 producen un 1 lógico.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Luego, cada combinación, se escribe como un producto, donde cada variable se escribe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negada en caso de que valga 0 o se pone normal, en caso valga 1. Luego se suman estos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productos.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este caso, se tomaría la combinación de 00 (m0) y 11 (m3), lo que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 daría X1’X2’ + X1X2, como la función resultante.</a:t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12640529" y="6645247"/>
            <a:ext cx="3867244" cy="3110609"/>
          </a:xfrm>
          <a:custGeom>
            <a:rect b="b" l="l" r="r" t="t"/>
            <a:pathLst>
              <a:path extrusionOk="0" h="3110609" w="3867244">
                <a:moveTo>
                  <a:pt x="0" y="0"/>
                </a:moveTo>
                <a:lnTo>
                  <a:pt x="3867243" y="0"/>
                </a:lnTo>
                <a:lnTo>
                  <a:pt x="3867243" y="3110609"/>
                </a:lnTo>
                <a:lnTo>
                  <a:pt x="0" y="311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18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MINITERMINOS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9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9"/>
          <p:cNvSpPr txBox="1"/>
          <p:nvPr/>
        </p:nvSpPr>
        <p:spPr>
          <a:xfrm>
            <a:off x="1028700" y="2795369"/>
            <a:ext cx="16028025" cy="3421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la obtención de estos, se toma la tabla de verdad y se escogen todas las combinaciones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 producen un 0 lógico.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Luego, cada combinación, se escribe como una suma, donde cada variable se escribe negada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caso de que valga 1 o se pone normal, en caso valga 0. Luego se multiplican estas sumas.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este caso, se tomaría la combinación de 01 (M1) y 10 (M2), lo que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 daría (X1+X2’)*(X1’+X2), como la función resultante.</a:t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12640529" y="6645247"/>
            <a:ext cx="3867244" cy="3110609"/>
          </a:xfrm>
          <a:custGeom>
            <a:rect b="b" l="l" r="r" t="t"/>
            <a:pathLst>
              <a:path extrusionOk="0" h="3110609" w="3867244">
                <a:moveTo>
                  <a:pt x="0" y="0"/>
                </a:moveTo>
                <a:lnTo>
                  <a:pt x="3867243" y="0"/>
                </a:lnTo>
                <a:lnTo>
                  <a:pt x="3867243" y="3110609"/>
                </a:lnTo>
                <a:lnTo>
                  <a:pt x="0" y="311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9"/>
          <p:cNvSpPr/>
          <p:nvPr/>
        </p:nvSpPr>
        <p:spPr>
          <a:xfrm>
            <a:off x="11272246" y="687846"/>
            <a:ext cx="4914824" cy="1097993"/>
          </a:xfrm>
          <a:custGeom>
            <a:rect b="b" l="l" r="r" t="t"/>
            <a:pathLst>
              <a:path extrusionOk="0" h="1097993" w="4914824">
                <a:moveTo>
                  <a:pt x="0" y="0"/>
                </a:moveTo>
                <a:lnTo>
                  <a:pt x="4914825" y="0"/>
                </a:lnTo>
                <a:lnTo>
                  <a:pt x="4914825" y="1097993"/>
                </a:lnTo>
                <a:lnTo>
                  <a:pt x="0" y="1097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9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MAXTERMINOS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20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55" name="Google Shape;355;p20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56" name="Google Shape;356;p20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20"/>
          <p:cNvSpPr txBox="1"/>
          <p:nvPr/>
        </p:nvSpPr>
        <p:spPr>
          <a:xfrm>
            <a:off x="1028700" y="2795369"/>
            <a:ext cx="16028025" cy="420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Dada la siguiente tabla de verdad para una función booleana F(A,B,C):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EJERCICIO</a:t>
            </a:r>
            <a:endParaRPr/>
          </a:p>
        </p:txBody>
      </p:sp>
      <p:graphicFrame>
        <p:nvGraphicFramePr>
          <p:cNvPr id="359" name="Google Shape;359;p20"/>
          <p:cNvGraphicFramePr/>
          <p:nvPr/>
        </p:nvGraphicFramePr>
        <p:xfrm>
          <a:off x="6300855" y="3487973"/>
          <a:ext cx="5029200" cy="3771900"/>
        </p:xfrm>
        <a:graphic>
          <a:graphicData uri="http://schemas.openxmlformats.org/presentationml/2006/ole">
            <mc:AlternateContent>
              <mc:Choice Requires="v">
                <p:oleObj r:id="rId4" imgH="3771900" imgW="5029200" progId="Excel.Sheet.12" spid="_x0000_s1">
                  <p:embed/>
                </p:oleObj>
              </mc:Choice>
              <mc:Fallback>
                <p:oleObj r:id="rId5" imgH="3771900" imgW="5029200" progId="Excel.Sheet.12">
                  <p:embed/>
                  <p:pic>
                    <p:nvPicPr>
                      <p:cNvPr id="359" name="Google Shape;359;p2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300855" y="3487973"/>
                        <a:ext cx="5029200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" name="Google Shape;360;p20"/>
          <p:cNvSpPr txBox="1"/>
          <p:nvPr/>
        </p:nvSpPr>
        <p:spPr>
          <a:xfrm>
            <a:off x="1231275" y="7749220"/>
            <a:ext cx="16028025" cy="84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Expresar la funcion F utlizando minterminos (Suma de productos)</a:t>
            </a:r>
            <a:endParaRPr/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Expresar la funcion F utlizando maxterminos (Productos de sumas)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1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70" name="Google Shape;370;p21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71" name="Google Shape;371;p21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1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EJERCICIO</a:t>
            </a:r>
            <a:endParaRPr/>
          </a:p>
        </p:txBody>
      </p:sp>
      <p:sp>
        <p:nvSpPr>
          <p:cNvPr id="373" name="Google Shape;373;p21"/>
          <p:cNvSpPr txBox="1"/>
          <p:nvPr/>
        </p:nvSpPr>
        <p:spPr>
          <a:xfrm>
            <a:off x="803669" y="2428856"/>
            <a:ext cx="16028025" cy="727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Expresar la funcion F utlizando minterminos (Suma de productos)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0: A=0, B=0, C=0 ⇒ Mintermino m0​=AˉBˉCˉ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2: A=0, B=1, C=0 ⇒ Mintermino m2​=AˉBCˉ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3: A=0, B=1, C=1 ⇒ Mintermino m3​=AˉBC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6: A=1, B=1, C=0 ⇒ Mintermino m6​=ABCˉ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F(A,B,C)=m0​+m2​+m3​+m6​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Sustituimos:</a:t>
            </a:r>
            <a:endParaRPr/>
          </a:p>
          <a:p>
            <a:pPr indent="-421003" lvl="3" marL="1684012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￭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F(A,B,C)=AˉBˉCˉ+AˉBCˉ+AˉBC+ABCˉ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Expresar la funcion F utlizando maxterminos (Productos de sumas)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1: A=0, B=0, C=1 ⇒ Maxitérmino M1​=A+B+Cˉ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4: A=1, B=0, C=0 ⇒ Maxitérmino M4​=Aˉ+B+C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5: A=1, B=0, C=1 ⇒ Maxitérmino M5​=Aˉ+B+Cˉ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Fila 7: A=1, B=1, C=1 ⇒ Maxitérmino M7​=Aˉ+Bˉ+Cˉ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F(A,B,C)=M1​⋅M4​⋅M5​⋅M7​</a:t>
            </a:r>
            <a:endParaRPr/>
          </a:p>
          <a:p>
            <a:pPr indent="-374224" lvl="2" marL="1122675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Sustituimos:</a:t>
            </a:r>
            <a:endParaRPr/>
          </a:p>
          <a:p>
            <a:pPr indent="-421003" lvl="3" marL="1684012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￭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F(A,B,C)=(A+B+Cˉ)⋅(Aˉ+B+C)⋅(Aˉ+B+Cˉ)⋅(Aˉ+Bˉ+Cˉ)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Google Shape;378;p23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379" name="Google Shape;379;p23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380" name="Google Shape;380;p23"/>
          <p:cNvSpPr txBox="1"/>
          <p:nvPr/>
        </p:nvSpPr>
        <p:spPr>
          <a:xfrm>
            <a:off x="2574170" y="4223785"/>
            <a:ext cx="12318716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MAPAS DE KARNAUGH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4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390" name="Google Shape;390;p24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391" name="Google Shape;391;p24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" name="Google Shape;392;p24"/>
          <p:cNvSpPr/>
          <p:nvPr/>
        </p:nvSpPr>
        <p:spPr>
          <a:xfrm>
            <a:off x="11823264" y="269129"/>
            <a:ext cx="4797294" cy="3263134"/>
          </a:xfrm>
          <a:custGeom>
            <a:rect b="b" l="l" r="r" t="t"/>
            <a:pathLst>
              <a:path extrusionOk="0" h="3263134" w="4797294">
                <a:moveTo>
                  <a:pt x="0" y="0"/>
                </a:moveTo>
                <a:lnTo>
                  <a:pt x="4797293" y="0"/>
                </a:lnTo>
                <a:lnTo>
                  <a:pt x="4797293" y="3263134"/>
                </a:lnTo>
                <a:lnTo>
                  <a:pt x="0" y="3263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24"/>
          <p:cNvSpPr txBox="1"/>
          <p:nvPr/>
        </p:nvSpPr>
        <p:spPr>
          <a:xfrm>
            <a:off x="1028700" y="4314394"/>
            <a:ext cx="16028025" cy="3849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 diagrama utilizado para la simplificación de funciones algebraicas Booleanas.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mapa de Karnaugh consiste en una representación bidimensional de la tabla de verdad de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función a simplificar. Puesto que la tabla de verdad de una función de N variables posee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2^N filas, el mapa K correspondiente debe poseer también 2^N cuadrados. Las variables de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expresión son ordenadas en función de su peso y siguiendo el código Gray, de manera que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sólo una de las variables varía entre celdas adyacentes. La transferencia de los términos de la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tabla de verdad al mapa de Karnaugh se realiza de forma directa, albergando un 0 ó un 1,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dependiendo del valor que toma la función en cada fila.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MAPAS DE KARNAUGH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25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404" name="Google Shape;404;p25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405" name="Google Shape;405;p25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25"/>
          <p:cNvSpPr/>
          <p:nvPr/>
        </p:nvSpPr>
        <p:spPr>
          <a:xfrm>
            <a:off x="4169244" y="6262010"/>
            <a:ext cx="9949511" cy="2996290"/>
          </a:xfrm>
          <a:custGeom>
            <a:rect b="b" l="l" r="r" t="t"/>
            <a:pathLst>
              <a:path extrusionOk="0" h="2996290" w="9949511">
                <a:moveTo>
                  <a:pt x="0" y="0"/>
                </a:moveTo>
                <a:lnTo>
                  <a:pt x="9949512" y="0"/>
                </a:lnTo>
                <a:lnTo>
                  <a:pt x="9949512" y="2996290"/>
                </a:lnTo>
                <a:lnTo>
                  <a:pt x="0" y="2996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5"/>
          <p:cNvSpPr txBox="1"/>
          <p:nvPr/>
        </p:nvSpPr>
        <p:spPr>
          <a:xfrm>
            <a:off x="1028700" y="2809564"/>
            <a:ext cx="16028025" cy="299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Agrupar Celdas Adyacentes. Se agrupan 1s si se trabaja con minterminos o con 0s con maxterminos.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grupos son potencias de 2, donde buscamos unir 1,2,4,8,16 0s o 1s que esten juntos.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encontrar la ecuación lógica resultante de los mapas de Karnaugh se observan las variables que no cambian dentro del grupo.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1028700" y="725946"/>
            <a:ext cx="10794564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REGLAS DE SIMPLIFICACION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6"/>
          <p:cNvGrpSpPr/>
          <p:nvPr/>
        </p:nvGrpSpPr>
        <p:grpSpPr>
          <a:xfrm>
            <a:off x="0" y="-253157"/>
            <a:ext cx="18288000" cy="2595006"/>
            <a:chOff x="0" y="-66675"/>
            <a:chExt cx="4816593" cy="683458"/>
          </a:xfrm>
        </p:grpSpPr>
        <p:sp>
          <p:nvSpPr>
            <p:cNvPr id="418" name="Google Shape;418;p26"/>
            <p:cNvSpPr/>
            <p:nvPr/>
          </p:nvSpPr>
          <p:spPr>
            <a:xfrm>
              <a:off x="0" y="0"/>
              <a:ext cx="4816592" cy="616783"/>
            </a:xfrm>
            <a:custGeom>
              <a:rect b="b" l="l" r="r" t="t"/>
              <a:pathLst>
                <a:path extrusionOk="0" h="6167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783"/>
                  </a:lnTo>
                  <a:lnTo>
                    <a:pt x="0" y="616783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419" name="Google Shape;419;p26"/>
            <p:cNvSpPr txBox="1"/>
            <p:nvPr/>
          </p:nvSpPr>
          <p:spPr>
            <a:xfrm>
              <a:off x="0" y="-66675"/>
              <a:ext cx="4816593" cy="68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26"/>
          <p:cNvSpPr txBox="1"/>
          <p:nvPr/>
        </p:nvSpPr>
        <p:spPr>
          <a:xfrm>
            <a:off x="1028700" y="4275836"/>
            <a:ext cx="16669428" cy="17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Minterms y Maxterms: https://www.youtube.com/watch?v=e5OJUFWwlhc</a:t>
            </a:r>
            <a:endParaRPr/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Karnaugh 4 variables: https://www.youtube.com/watch?v=OYP2OzKrkc8&amp;t=1s</a:t>
            </a:r>
            <a:endParaRPr/>
          </a:p>
          <a:p>
            <a:pPr indent="-280669" lvl="1" marL="561337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Compuertas con transistores: http://hyperphysics.phy-astr.gsu.edu/hbasees/Electronic/trangate.html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1028700" y="725946"/>
            <a:ext cx="10794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6" name="Google Shape;426;p22"/>
          <p:cNvCxnSpPr/>
          <p:nvPr/>
        </p:nvCxnSpPr>
        <p:spPr>
          <a:xfrm>
            <a:off x="4940584" y="646540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427" name="Google Shape;427;p22"/>
          <p:cNvCxnSpPr/>
          <p:nvPr/>
        </p:nvCxnSpPr>
        <p:spPr>
          <a:xfrm>
            <a:off x="0" y="3285380"/>
            <a:ext cx="13347416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428" name="Google Shape;428;p22"/>
          <p:cNvSpPr txBox="1"/>
          <p:nvPr/>
        </p:nvSpPr>
        <p:spPr>
          <a:xfrm>
            <a:off x="2574170" y="4223785"/>
            <a:ext cx="14970862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