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10287000" cx="18288000"/>
  <p:notesSz cx="6858000" cy="9144000"/>
  <p:embeddedFontLst>
    <p:embeddedFont>
      <p:font typeface="Roboto"/>
      <p:bold r:id="rId32"/>
      <p:boldItalic r:id="rId33"/>
    </p:embeddedFont>
    <p:embeddedFont>
      <p:font typeface="Poppins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0Cmovs+uWKXosRQLKp3pJtgc6w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253FFD-E37D-42F7-9B41-94DE995CDDE9}">
  <a:tblStyle styleId="{33253FFD-E37D-42F7-9B41-94DE995CDD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-bold.fntdata"/><Relationship Id="rId13" Type="http://schemas.openxmlformats.org/officeDocument/2006/relationships/slide" Target="slides/slide6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5.xml"/><Relationship Id="rId34" Type="http://schemas.openxmlformats.org/officeDocument/2006/relationships/font" Target="fonts/Poppins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2T12:56:03.929">
    <p:pos x="2459" y="276"/>
    <p:text>Hola, favor verificar la plantilla un elemento son las competencias y otro los valores.   gracias.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q5NIw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bd9433b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5bd9433b4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97" l="0" r="0" t="-9499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0" y="6280461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-62" y="-298836"/>
            <a:ext cx="18288122" cy="7832515"/>
            <a:chOff x="0" y="-38100"/>
            <a:chExt cx="4816593" cy="2062871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436474" y="7306614"/>
            <a:ext cx="1241852" cy="1610181"/>
          </a:xfrm>
          <a:custGeom>
            <a:rect b="b" l="l" r="r" t="t"/>
            <a:pathLst>
              <a:path extrusionOk="0" h="1610181" w="1241852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5400000">
            <a:off x="3083795" y="2314575"/>
            <a:ext cx="1704656" cy="2299357"/>
          </a:xfrm>
          <a:custGeom>
            <a:rect b="b" l="l" r="r" t="t"/>
            <a:pathLst>
              <a:path extrusionOk="0" h="2299357" w="1704656">
                <a:moveTo>
                  <a:pt x="0" y="0"/>
                </a:moveTo>
                <a:lnTo>
                  <a:pt x="1704655" y="0"/>
                </a:lnTo>
                <a:lnTo>
                  <a:pt x="1704655" y="2299357"/>
                </a:lnTo>
                <a:lnTo>
                  <a:pt x="0" y="2299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029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115635" y="4868708"/>
            <a:ext cx="2287329" cy="2830320"/>
          </a:xfrm>
          <a:custGeom>
            <a:rect b="b" l="l" r="r" t="t"/>
            <a:pathLst>
              <a:path extrusionOk="0" h="2830320" w="2287329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782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3137076" y="2583225"/>
            <a:ext cx="12013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REPRESENTACIÓN DE DATOS EN UNA COMPUTADORA DIGITAL</a:t>
            </a:r>
            <a:endParaRPr sz="200"/>
          </a:p>
        </p:txBody>
      </p:sp>
      <p:sp>
        <p:nvSpPr>
          <p:cNvPr id="93" name="Google Shape;93;p1"/>
          <p:cNvSpPr/>
          <p:nvPr/>
        </p:nvSpPr>
        <p:spPr>
          <a:xfrm>
            <a:off x="16823305" y="10055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5350850" y="8857500"/>
            <a:ext cx="7515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Auxiliar: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382847" y="1163300"/>
            <a:ext cx="320407" cy="213471"/>
          </a:xfrm>
          <a:custGeom>
            <a:rect b="b" l="l" r="r" t="t"/>
            <a:pathLst>
              <a:path extrusionOk="0" h="213471" w="320407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rot="10800000">
            <a:off x="14881808" y="-298830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0615285" y="706267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flipH="1">
            <a:off x="3882995" y="706267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3354130" y="0"/>
                </a:moveTo>
                <a:lnTo>
                  <a:pt x="0" y="0"/>
                </a:lnTo>
                <a:lnTo>
                  <a:pt x="0" y="487873"/>
                </a:lnTo>
                <a:lnTo>
                  <a:pt x="3354130" y="487873"/>
                </a:lnTo>
                <a:lnTo>
                  <a:pt x="335413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5334460" y="8369150"/>
            <a:ext cx="7619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Seccion: 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54924" y="59296"/>
            <a:ext cx="7515900" cy="2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niversidad de San Carlos de Guatemala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Escuela de Ingeniería de Ciencias y Sistemas</a:t>
            </a:r>
            <a:endParaRPr b="1" i="0" sz="2499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Organizacion </a:t>
            </a:r>
            <a:r>
              <a:rPr b="1"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Computacional</a:t>
            </a:r>
            <a:endParaRPr b="1" sz="24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96470" y="9694098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314467" y="181968"/>
            <a:ext cx="714233" cy="702545"/>
          </a:xfrm>
          <a:custGeom>
            <a:rect b="b" l="l" r="r" t="t"/>
            <a:pathLst>
              <a:path extrusionOk="0" h="702545" w="714233">
                <a:moveTo>
                  <a:pt x="0" y="0"/>
                </a:moveTo>
                <a:lnTo>
                  <a:pt x="714233" y="0"/>
                </a:lnTo>
                <a:lnTo>
                  <a:pt x="714233" y="702545"/>
                </a:lnTo>
                <a:lnTo>
                  <a:pt x="0" y="702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882670" y="2538689"/>
            <a:ext cx="16023000" cy="87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74" lvl="1" marL="949948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99"/>
              <a:buFont typeface="Arial"/>
              <a:buChar char="•"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Sistemas numéricos posicionales.</a:t>
            </a:r>
            <a:endParaRPr/>
          </a:p>
          <a:p>
            <a:pPr indent="-474974" lvl="1" marL="949948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99"/>
              <a:buFont typeface="Arial"/>
              <a:buChar char="•"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Sistemas numéricos bases 2, 8 y 16.</a:t>
            </a:r>
            <a:endParaRPr/>
          </a:p>
          <a:p>
            <a:pPr indent="-474974" lvl="1" marL="949948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99"/>
              <a:buFont typeface="Arial"/>
              <a:buChar char="•"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Representación de enteros con signo en una computadora digital.</a:t>
            </a:r>
            <a:endParaRPr/>
          </a:p>
          <a:p>
            <a:pPr indent="-474974" lvl="1" marL="949948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99"/>
              <a:buFont typeface="Arial"/>
              <a:buChar char="•"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Componentes </a:t>
            </a:r>
            <a:r>
              <a:rPr b="1" lang="en-US" sz="4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Básicos</a:t>
            </a: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b="1" lang="en-US" sz="4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electrónica</a:t>
            </a: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79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4908406" y="9416692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4908406" y="0"/>
            <a:ext cx="3433988" cy="4114800"/>
          </a:xfrm>
          <a:custGeom>
            <a:rect b="b" l="l" r="r" t="t"/>
            <a:pathLst>
              <a:path extrusionOk="0" h="4114800" w="3433988">
                <a:moveTo>
                  <a:pt x="0" y="0"/>
                </a:moveTo>
                <a:lnTo>
                  <a:pt x="3433987" y="0"/>
                </a:lnTo>
                <a:lnTo>
                  <a:pt x="3433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Agenda " id="113" name="Google Shape;113;p2"/>
          <p:cNvSpPr txBox="1"/>
          <p:nvPr/>
        </p:nvSpPr>
        <p:spPr>
          <a:xfrm>
            <a:off x="2342650" y="1123950"/>
            <a:ext cx="136027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3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3"/>
          <p:cNvSpPr/>
          <p:nvPr/>
        </p:nvSpPr>
        <p:spPr>
          <a:xfrm>
            <a:off x="17852005" y="3626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0" y="36267"/>
            <a:ext cx="531199" cy="676296"/>
          </a:xfrm>
          <a:custGeom>
            <a:rect b="b" l="l" r="r" t="t"/>
            <a:pathLst>
              <a:path extrusionOk="0" h="676296" w="531199">
                <a:moveTo>
                  <a:pt x="0" y="0"/>
                </a:moveTo>
                <a:lnTo>
                  <a:pt x="531199" y="0"/>
                </a:lnTo>
                <a:lnTo>
                  <a:pt x="531199" y="676296"/>
                </a:lnTo>
                <a:lnTo>
                  <a:pt x="0" y="676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-997" y="958875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3904143" y="438150"/>
            <a:ext cx="1047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COMPETENCIAS </a:t>
            </a:r>
            <a:r>
              <a:rPr lang="en-US" sz="6000">
                <a:solidFill>
                  <a:srgbClr val="00EDFF"/>
                </a:solidFill>
              </a:rPr>
              <a:t>A 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DESARROLLAR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2943902" y="3039397"/>
            <a:ext cx="12400200" cy="54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estudiante aplica Sistemas 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numéricos</a:t>
            </a: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posicionales (binario, octal y decimal), componentes básicos de electrónica digital (puertas lógicas, transistores, LEDs) Mediante simuladores de circuitos digitales (Proteus) Para representar 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precisión</a:t>
            </a: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dispositivos digitales, para implementar diseños funcionales en protoboard y comprobar su fidelidad frente al modelo simulado.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g35bd9433b4c_0_0"/>
          <p:cNvGrpSpPr/>
          <p:nvPr/>
        </p:nvGrpSpPr>
        <p:grpSpPr>
          <a:xfrm>
            <a:off x="0" y="-133436"/>
            <a:ext cx="18288118" cy="7832515"/>
            <a:chOff x="0" y="-38100"/>
            <a:chExt cx="4816592" cy="2062871"/>
          </a:xfrm>
        </p:grpSpPr>
        <p:sp>
          <p:nvSpPr>
            <p:cNvPr id="131" name="Google Shape;131;g35bd9433b4c_0_0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29">
                  <a:srgbClr val="110823">
                    <a:alpha val="85882"/>
                  </a:srgbClr>
                </a:gs>
                <a:gs pos="66670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32" name="Google Shape;132;g35bd9433b4c_0_0"/>
            <p:cNvSpPr txBox="1"/>
            <p:nvPr/>
          </p:nvSpPr>
          <p:spPr>
            <a:xfrm>
              <a:off x="0" y="-38100"/>
              <a:ext cx="4816500" cy="20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35bd9433b4c_0_0"/>
          <p:cNvSpPr/>
          <p:nvPr/>
        </p:nvSpPr>
        <p:spPr>
          <a:xfrm>
            <a:off x="17852005" y="3626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5bd9433b4c_0_0"/>
          <p:cNvSpPr/>
          <p:nvPr/>
        </p:nvSpPr>
        <p:spPr>
          <a:xfrm>
            <a:off x="0" y="36267"/>
            <a:ext cx="531199" cy="676296"/>
          </a:xfrm>
          <a:custGeom>
            <a:rect b="b" l="l" r="r" t="t"/>
            <a:pathLst>
              <a:path extrusionOk="0" h="676296" w="531199">
                <a:moveTo>
                  <a:pt x="0" y="0"/>
                </a:moveTo>
                <a:lnTo>
                  <a:pt x="531199" y="0"/>
                </a:lnTo>
                <a:lnTo>
                  <a:pt x="531199" y="676296"/>
                </a:lnTo>
                <a:lnTo>
                  <a:pt x="0" y="676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g35bd9433b4c_0_0"/>
          <p:cNvSpPr/>
          <p:nvPr/>
        </p:nvSpPr>
        <p:spPr>
          <a:xfrm>
            <a:off x="-997" y="958875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g35bd9433b4c_0_0"/>
          <p:cNvSpPr txBox="1"/>
          <p:nvPr/>
        </p:nvSpPr>
        <p:spPr>
          <a:xfrm>
            <a:off x="3904255" y="1831475"/>
            <a:ext cx="104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VALORES A DESARROLLAR</a:t>
            </a:r>
            <a:endParaRPr/>
          </a:p>
        </p:txBody>
      </p:sp>
      <p:sp>
        <p:nvSpPr>
          <p:cNvPr id="137" name="Google Shape;137;g35bd9433b4c_0_0"/>
          <p:cNvSpPr txBox="1"/>
          <p:nvPr/>
        </p:nvSpPr>
        <p:spPr>
          <a:xfrm>
            <a:off x="5626801" y="3467700"/>
            <a:ext cx="5786700" cy="3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086" lvl="0" marL="45720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Poppins"/>
              <a:buChar char="●"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Atención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detalle </a:t>
            </a:r>
            <a:endParaRPr b="1" sz="3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38086" lvl="0" marL="45720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Poppins"/>
              <a:buChar char="●"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colaboracion</a:t>
            </a:r>
            <a:endParaRPr b="1" sz="3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38086" lvl="0" marL="45720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Poppins"/>
              <a:buChar char="●"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participacion</a:t>
            </a:r>
            <a:endParaRPr b="1" sz="3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38086" lvl="0" marL="45720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Poppins"/>
              <a:buChar char="●"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pensamiento 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lógico</a:t>
            </a:r>
            <a:endParaRPr b="1" sz="3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38086" lvl="0" marL="45720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Poppins"/>
              <a:buChar char="●"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rigor.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4" name="Google Shape;144;p4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4"/>
          <p:cNvSpPr/>
          <p:nvPr/>
        </p:nvSpPr>
        <p:spPr>
          <a:xfrm>
            <a:off x="17666932" y="127426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/>
          <p:nvPr/>
        </p:nvSpPr>
        <p:spPr>
          <a:xfrm>
            <a:off x="114243" y="151430"/>
            <a:ext cx="525235" cy="525235"/>
          </a:xfrm>
          <a:custGeom>
            <a:rect b="b" l="l" r="r" t="t"/>
            <a:pathLst>
              <a:path extrusionOk="0" h="525235" w="525235">
                <a:moveTo>
                  <a:pt x="0" y="0"/>
                </a:moveTo>
                <a:lnTo>
                  <a:pt x="525235" y="0"/>
                </a:lnTo>
                <a:lnTo>
                  <a:pt x="525235" y="525235"/>
                </a:lnTo>
                <a:lnTo>
                  <a:pt x="0" y="52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/>
          <p:nvPr/>
        </p:nvSpPr>
        <p:spPr>
          <a:xfrm>
            <a:off x="17656975" y="9534346"/>
            <a:ext cx="455908" cy="525235"/>
          </a:xfrm>
          <a:custGeom>
            <a:rect b="b" l="l" r="r" t="t"/>
            <a:pathLst>
              <a:path extrusionOk="0" h="525235" w="455908">
                <a:moveTo>
                  <a:pt x="0" y="0"/>
                </a:moveTo>
                <a:lnTo>
                  <a:pt x="455908" y="0"/>
                </a:lnTo>
                <a:lnTo>
                  <a:pt x="455908" y="525235"/>
                </a:lnTo>
                <a:lnTo>
                  <a:pt x="0" y="52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>
            <a:off x="0" y="9534346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 txBox="1"/>
          <p:nvPr/>
        </p:nvSpPr>
        <p:spPr>
          <a:xfrm>
            <a:off x="894869" y="318842"/>
            <a:ext cx="18510233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SISTEMAS NUMÉRICOS POSICIONALES.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223214" y="2145056"/>
            <a:ext cx="17550603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sistema numérico posicional es aquel en el que el valor de cada dígito depende de su posición dentro del número y de la base del sistema.</a:t>
            </a:r>
            <a:endParaRPr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cifra tiene un peso que se calcula como la base elevada a la potencia correspondiente a su posición (de derecha a izquierda, empezando desde 0).</a:t>
            </a:r>
            <a:endParaRPr/>
          </a:p>
          <a:p>
            <a:pPr indent="0" lvl="0" marL="0" marR="0" rtl="0" algn="l">
              <a:lnSpc>
                <a:spcPct val="116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37397" y="5067300"/>
            <a:ext cx="17550603" cy="306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Ejemplos: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Decimal (base 10): usa los dígitos del 0 al 9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Binario (base 2): usa los dígitos 0 y 1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Octal (base 8): usa los dígitos del 0 al 7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Hexadecimal (base 16): usa los dígitos del 0 al 9 y letras A–F</a:t>
            </a:r>
            <a:endParaRPr/>
          </a:p>
          <a:p>
            <a:pPr indent="0" lvl="0" marL="0" marR="0" rtl="0" algn="l">
              <a:lnSpc>
                <a:spcPct val="116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5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8" name="Google Shape;158;p5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5"/>
          <p:cNvSpPr/>
          <p:nvPr/>
        </p:nvSpPr>
        <p:spPr>
          <a:xfrm>
            <a:off x="17634584" y="337892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5"/>
          <p:cNvSpPr/>
          <p:nvPr/>
        </p:nvSpPr>
        <p:spPr>
          <a:xfrm>
            <a:off x="171986" y="9414065"/>
            <a:ext cx="627537" cy="627537"/>
          </a:xfrm>
          <a:custGeom>
            <a:rect b="b" l="l" r="r" t="t"/>
            <a:pathLst>
              <a:path extrusionOk="0" h="627537" w="627537">
                <a:moveTo>
                  <a:pt x="0" y="0"/>
                </a:moveTo>
                <a:lnTo>
                  <a:pt x="627537" y="0"/>
                </a:lnTo>
                <a:lnTo>
                  <a:pt x="627537" y="627537"/>
                </a:lnTo>
                <a:lnTo>
                  <a:pt x="0" y="627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5"/>
          <p:cNvSpPr/>
          <p:nvPr/>
        </p:nvSpPr>
        <p:spPr>
          <a:xfrm>
            <a:off x="1517827" y="3527279"/>
            <a:ext cx="13801685" cy="4558020"/>
          </a:xfrm>
          <a:custGeom>
            <a:rect b="b" l="l" r="r" t="t"/>
            <a:pathLst>
              <a:path extrusionOk="0" h="4558020" w="13801685">
                <a:moveTo>
                  <a:pt x="0" y="0"/>
                </a:moveTo>
                <a:lnTo>
                  <a:pt x="13801685" y="0"/>
                </a:lnTo>
                <a:lnTo>
                  <a:pt x="13801685" y="4558021"/>
                </a:lnTo>
                <a:lnTo>
                  <a:pt x="0" y="4558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5"/>
          <p:cNvSpPr txBox="1"/>
          <p:nvPr/>
        </p:nvSpPr>
        <p:spPr>
          <a:xfrm>
            <a:off x="301979" y="472159"/>
            <a:ext cx="17550603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¿Por qué es importante?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operaciones matemáticas (como suma, resta, etc.)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la base del funcionamiento digital (computadoras usan binario)</a:t>
            </a:r>
            <a:endParaRPr/>
          </a:p>
          <a:p>
            <a:pPr indent="-323848" lvl="1" marL="6476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al"/>
              <a:buChar char="•"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la conversión entre diferentes sistemas (útil en informática y electrónica)</a:t>
            </a:r>
            <a:endParaRPr/>
          </a:p>
          <a:p>
            <a:pPr indent="0" lvl="0" marL="0" marR="0" rtl="0" algn="l">
              <a:lnSpc>
                <a:spcPct val="116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6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9" name="Google Shape;169;p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6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 txBox="1"/>
          <p:nvPr/>
        </p:nvSpPr>
        <p:spPr>
          <a:xfrm>
            <a:off x="1467864" y="180975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SISTEMAS NUMÉRICOS DE BASE 2, 8 Y 16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388649" y="1457325"/>
            <a:ext cx="17510703" cy="7155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77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Binario (Base 2)</a:t>
            </a:r>
            <a:endParaRPr/>
          </a:p>
          <a:p>
            <a:pPr indent="-410205" lvl="1" marL="820411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0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solo dos dígitos: 0 y 1</a:t>
            </a:r>
            <a:endParaRPr/>
          </a:p>
          <a:p>
            <a:pPr indent="-410205" lvl="1" marL="820411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0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lenguaje básico de las computadoras y sistemas digitales</a:t>
            </a:r>
            <a:endParaRPr/>
          </a:p>
          <a:p>
            <a:pPr indent="-410205" lvl="1" marL="820411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0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posición representa una potencia de 2</a:t>
            </a:r>
            <a:endParaRPr/>
          </a:p>
          <a:p>
            <a:pPr indent="-410205" lvl="1" marL="820411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0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1011₂ = 1×2³ + 0×2² + 1×2¹ + 1×2⁰ = 11</a:t>
            </a:r>
            <a:endParaRPr/>
          </a:p>
          <a:p>
            <a:pPr indent="0" lvl="0" marL="0" marR="0" rtl="0" algn="l">
              <a:lnSpc>
                <a:spcPct val="106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7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79" name="Google Shape;179;p7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0" name="Google Shape;180;p7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7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7"/>
          <p:cNvSpPr txBox="1"/>
          <p:nvPr/>
        </p:nvSpPr>
        <p:spPr>
          <a:xfrm>
            <a:off x="1467864" y="358775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SISTEMAS NUMÉRICOS DE BASE 2, 8 Y 16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312999" y="2493190"/>
            <a:ext cx="17166394" cy="6211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Octal (Base 8)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ocho dígitos: del 0 al 7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usa como forma abreviada del binario (3 bits por dígito)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posición representa una potencia de 8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572₈ = 5×8² + 7×8¹ + 2×8⁰ = 378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8"/>
          <p:cNvGrpSpPr/>
          <p:nvPr/>
        </p:nvGrpSpPr>
        <p:grpSpPr>
          <a:xfrm>
            <a:off x="0" y="-144661"/>
            <a:ext cx="18288000" cy="7832463"/>
            <a:chOff x="0" y="-38100"/>
            <a:chExt cx="4816593" cy="2062871"/>
          </a:xfrm>
        </p:grpSpPr>
        <p:sp>
          <p:nvSpPr>
            <p:cNvPr id="190" name="Google Shape;190;p8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91" name="Google Shape;191;p8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8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8"/>
          <p:cNvSpPr txBox="1"/>
          <p:nvPr/>
        </p:nvSpPr>
        <p:spPr>
          <a:xfrm>
            <a:off x="1360991" y="358775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SISTEMAS NUMÉRICOS DE BASE 2, 8 Y 16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342315" y="2145760"/>
            <a:ext cx="17389622" cy="75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Hexadecimal (Base 16)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dieciséis símbolos: del 0 al 9 y las letras A–F (A=10, B=11... F=15)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Ampliamente utilizado en programación y direccionamiento de memoria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posición representa una potencia de 16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2F₁₆ = 2×16¹ + 15×16⁰ = 47</a:t>
            </a:r>
            <a:endParaRPr/>
          </a:p>
          <a:p>
            <a:pPr indent="0" lvl="0" marL="0" marR="0" rtl="0" algn="l">
              <a:lnSpc>
                <a:spcPct val="231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9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01" name="Google Shape;201;p9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2" name="Google Shape;202;p9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9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9"/>
          <p:cNvSpPr txBox="1"/>
          <p:nvPr/>
        </p:nvSpPr>
        <p:spPr>
          <a:xfrm>
            <a:off x="1467864" y="157834"/>
            <a:ext cx="15352272" cy="156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REPRESENTACIÓN DE ENTEROS CON SIGNO EN COMPUTADORAS DIGITALES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1011692" y="1922289"/>
            <a:ext cx="16938243" cy="642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77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computadoras representan números enteros con signo usando bits, donde el bit más significativo (MSB) indica el signo: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 → número positivo</a:t>
            </a:r>
            <a:endParaRPr/>
          </a:p>
          <a:p>
            <a:pPr indent="-410210" lvl="1" marL="820421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 → número negativo</a:t>
            </a:r>
            <a:endParaRPr/>
          </a:p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12" name="Google Shape;212;p10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3" name="Google Shape;213;p10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0"/>
          <p:cNvSpPr/>
          <p:nvPr/>
        </p:nvSpPr>
        <p:spPr>
          <a:xfrm>
            <a:off x="17828218" y="9047834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2"/>
                </a:lnTo>
                <a:lnTo>
                  <a:pt x="0" y="420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0"/>
          <p:cNvSpPr txBox="1"/>
          <p:nvPr/>
        </p:nvSpPr>
        <p:spPr>
          <a:xfrm>
            <a:off x="23788" y="95250"/>
            <a:ext cx="18240424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MÉTODOS COMUNES DE REPRESENTACIÓN</a:t>
            </a:r>
            <a:endParaRPr/>
          </a:p>
        </p:txBody>
      </p:sp>
      <p:sp>
        <p:nvSpPr>
          <p:cNvPr descr="Tambien " id="216" name="Google Shape;216;p10"/>
          <p:cNvSpPr txBox="1"/>
          <p:nvPr/>
        </p:nvSpPr>
        <p:spPr>
          <a:xfrm>
            <a:off x="290193" y="806080"/>
            <a:ext cx="17244942" cy="99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Signo y Magnitud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MSB representa el signo, los demás bits la magnitud.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Tiene dos representaciones para el 0 (+0 y -0).</a:t>
            </a:r>
            <a:endParaRPr/>
          </a:p>
          <a:p>
            <a:pPr indent="0" lvl="0" marL="0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Complemento a Uno (1's complement)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Números negativos se obtienen invirtiendo todos los bits del número positivo.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También tiene dos ceros (+0 y -0).</a:t>
            </a:r>
            <a:endParaRPr/>
          </a:p>
          <a:p>
            <a:pPr indent="0" lvl="0" marL="0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Complemento a Dos (2's complement) 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Números negativos se obtienen invirtiendo todos los bits y sumando 1.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hay un cero.</a:t>
            </a:r>
            <a:endParaRPr/>
          </a:p>
          <a:p>
            <a:pPr indent="-345439" lvl="1" marL="690877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operaciones aritméticas simples con el mismo hardware.</a:t>
            </a:r>
            <a:endParaRPr/>
          </a:p>
          <a:p>
            <a:pPr indent="0" lvl="0" marL="0" marR="0" rtl="0" algn="l">
              <a:lnSpc>
                <a:spcPct val="226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1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23" name="Google Shape;223;p11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4" name="Google Shape;224;p11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1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1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27" name="Google Shape;227;p11"/>
          <p:cNvGraphicFramePr/>
          <p:nvPr/>
        </p:nvGraphicFramePr>
        <p:xfrm>
          <a:off x="1574658" y="1755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{33253FFD-E37D-42F7-9B41-94DE995CDDE9}</a:tableStyleId>
              </a:tblPr>
              <a:tblGrid>
                <a:gridCol w="6894050"/>
                <a:gridCol w="3753500"/>
                <a:gridCol w="4158750"/>
              </a:tblGrid>
              <a:tr h="16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Método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+5 (Binario)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 (Binario)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Signo y Magnitud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00000101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10000101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Complemento a Uno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00000101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11111010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Complemento a Dos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00000101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11111011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11"/>
          <p:cNvSpPr txBox="1"/>
          <p:nvPr/>
        </p:nvSpPr>
        <p:spPr>
          <a:xfrm>
            <a:off x="1467864" y="148309"/>
            <a:ext cx="15352272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EJEMPLO (8 BITS)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2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34" name="Google Shape;234;p12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5" name="Google Shape;235;p12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2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Llevan " id="237" name="Google Shape;237;p12"/>
          <p:cNvSpPr txBox="1"/>
          <p:nvPr/>
        </p:nvSpPr>
        <p:spPr>
          <a:xfrm>
            <a:off x="898895" y="1893629"/>
            <a:ext cx="14783400" cy="6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Resistencia</a:t>
            </a:r>
            <a:endParaRPr/>
          </a:p>
          <a:p>
            <a:pPr indent="0" lvl="0" marL="0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Llevan la corriente eléctrica para que circule en un circuito.</a:t>
            </a:r>
            <a:endParaRPr/>
          </a:p>
          <a:p>
            <a:pPr indent="0" lvl="0" marL="0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-410210" lvl="1" marL="820421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Reducir el flujo de corriente.</a:t>
            </a:r>
            <a:endParaRPr/>
          </a:p>
          <a:p>
            <a:pPr indent="-410210" lvl="1" marL="820421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Dividir voltajes.</a:t>
            </a:r>
            <a:endParaRPr/>
          </a:p>
          <a:p>
            <a:pPr indent="-410210" lvl="1" marL="820421" marR="0" rtl="0" algn="just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Ajustar niveles de señal.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2"/>
          <p:cNvSpPr/>
          <p:nvPr/>
        </p:nvSpPr>
        <p:spPr>
          <a:xfrm>
            <a:off x="11867251" y="5421031"/>
            <a:ext cx="4091855" cy="2158454"/>
          </a:xfrm>
          <a:custGeom>
            <a:rect b="b" l="l" r="r" t="t"/>
            <a:pathLst>
              <a:path extrusionOk="0" h="2158454" w="4091855">
                <a:moveTo>
                  <a:pt x="0" y="0"/>
                </a:moveTo>
                <a:lnTo>
                  <a:pt x="4091856" y="0"/>
                </a:lnTo>
                <a:lnTo>
                  <a:pt x="4091856" y="2158454"/>
                </a:lnTo>
                <a:lnTo>
                  <a:pt x="0" y="2158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2"/>
          <p:cNvSpPr txBox="1"/>
          <p:nvPr/>
        </p:nvSpPr>
        <p:spPr>
          <a:xfrm>
            <a:off x="1467864" y="148309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COMPONENTES </a:t>
            </a:r>
            <a:r>
              <a:rPr lang="en-US" sz="6000">
                <a:solidFill>
                  <a:srgbClr val="00EDFF"/>
                </a:solidFill>
              </a:rPr>
              <a:t>BÁSICOS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LA ELECTRONICA.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3"/>
          <p:cNvGrpSpPr/>
          <p:nvPr/>
        </p:nvGrpSpPr>
        <p:grpSpPr>
          <a:xfrm>
            <a:off x="0" y="-133436"/>
            <a:ext cx="18288122" cy="7832515"/>
            <a:chOff x="0" y="-38100"/>
            <a:chExt cx="4816593" cy="2062871"/>
          </a:xfrm>
        </p:grpSpPr>
        <p:sp>
          <p:nvSpPr>
            <p:cNvPr id="246" name="Google Shape;246;p13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47" name="Google Shape;247;p13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3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Capacitor" id="249" name="Google Shape;249;p13"/>
          <p:cNvSpPr txBox="1"/>
          <p:nvPr/>
        </p:nvSpPr>
        <p:spPr>
          <a:xfrm>
            <a:off x="478104" y="140617"/>
            <a:ext cx="14533200" cy="8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Capacitor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 energía en forma de campo eléctrico y se llama capacitancia a la cantidad de cargas eléctricas que almacena.</a:t>
            </a:r>
            <a:endParaRPr b="0" i="0" sz="406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6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-Filtrado de ruido.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-Estabilización de fuentes de alimentación.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6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-Acoplamiento o desacoplamiento de señales.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3"/>
          <p:cNvSpPr/>
          <p:nvPr/>
        </p:nvSpPr>
        <p:spPr>
          <a:xfrm rot="1310348">
            <a:off x="14460064" y="4009439"/>
            <a:ext cx="1623476" cy="4114800"/>
          </a:xfrm>
          <a:custGeom>
            <a:rect b="b" l="l" r="r" t="t"/>
            <a:pathLst>
              <a:path extrusionOk="0" h="4114800" w="1623476">
                <a:moveTo>
                  <a:pt x="0" y="0"/>
                </a:moveTo>
                <a:lnTo>
                  <a:pt x="1623476" y="0"/>
                </a:lnTo>
                <a:lnTo>
                  <a:pt x="16234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4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57" name="Google Shape;257;p14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58" name="Google Shape;258;p14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4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4"/>
          <p:cNvSpPr txBox="1"/>
          <p:nvPr/>
        </p:nvSpPr>
        <p:spPr>
          <a:xfrm>
            <a:off x="752436" y="561975"/>
            <a:ext cx="15414000" cy="8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Diodos</a:t>
            </a:r>
            <a:endParaRPr b="1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1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Componentes que permiten el flujo de la corriente en una sola dirección.</a:t>
            </a:r>
            <a:endParaRPr b="0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1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-Rectificación en fuentes de alimentación.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-Protección de emisión de luz LED.</a:t>
            </a:r>
            <a:endParaRPr/>
          </a:p>
          <a:p>
            <a:pPr indent="0" lvl="0" marL="0" marR="0" rtl="0" algn="l">
              <a:lnSpc>
                <a:spcPct val="226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4"/>
          <p:cNvSpPr/>
          <p:nvPr/>
        </p:nvSpPr>
        <p:spPr>
          <a:xfrm rot="1217846">
            <a:off x="14203635" y="3900912"/>
            <a:ext cx="1000543" cy="4114800"/>
          </a:xfrm>
          <a:custGeom>
            <a:rect b="b" l="l" r="r" t="t"/>
            <a:pathLst>
              <a:path extrusionOk="0" h="4114800" w="1000543">
                <a:moveTo>
                  <a:pt x="0" y="0"/>
                </a:moveTo>
                <a:lnTo>
                  <a:pt x="1000543" y="0"/>
                </a:lnTo>
                <a:lnTo>
                  <a:pt x="1000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5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68" name="Google Shape;268;p15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69" name="Google Shape;269;p15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5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5"/>
          <p:cNvSpPr txBox="1"/>
          <p:nvPr/>
        </p:nvSpPr>
        <p:spPr>
          <a:xfrm>
            <a:off x="752436" y="561975"/>
            <a:ext cx="15414000" cy="7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Diodo LED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Tipo de diodo que emite luz al ser polarizado.</a:t>
            </a:r>
            <a:endParaRPr b="1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-Indicadores visuales.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-Iluminación.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-Señalización.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5"/>
          <p:cNvSpPr/>
          <p:nvPr/>
        </p:nvSpPr>
        <p:spPr>
          <a:xfrm>
            <a:off x="12354433" y="3855127"/>
            <a:ext cx="2197337" cy="4277056"/>
          </a:xfrm>
          <a:custGeom>
            <a:rect b="b" l="l" r="r" t="t"/>
            <a:pathLst>
              <a:path extrusionOk="0" h="4277056" w="2197337">
                <a:moveTo>
                  <a:pt x="0" y="0"/>
                </a:moveTo>
                <a:lnTo>
                  <a:pt x="2197338" y="0"/>
                </a:lnTo>
                <a:lnTo>
                  <a:pt x="2197338" y="4277056"/>
                </a:lnTo>
                <a:lnTo>
                  <a:pt x="0" y="42770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6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79" name="Google Shape;279;p16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80" name="Google Shape;280;p1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16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6"/>
          <p:cNvSpPr txBox="1"/>
          <p:nvPr/>
        </p:nvSpPr>
        <p:spPr>
          <a:xfrm>
            <a:off x="967012" y="561975"/>
            <a:ext cx="15414000" cy="8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Transistores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amplificador de corriente y controla el flujo de señales eléctricas.</a:t>
            </a:r>
            <a:endParaRPr b="0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1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-Conmutación de señales digitales.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-Amplificación de señales.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-Interruptores.</a:t>
            </a: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6"/>
          <p:cNvSpPr/>
          <p:nvPr/>
        </p:nvSpPr>
        <p:spPr>
          <a:xfrm>
            <a:off x="11579127" y="3991230"/>
            <a:ext cx="5680173" cy="5267070"/>
          </a:xfrm>
          <a:custGeom>
            <a:rect b="b" l="l" r="r" t="t"/>
            <a:pathLst>
              <a:path extrusionOk="0" h="5267070" w="5680173">
                <a:moveTo>
                  <a:pt x="0" y="0"/>
                </a:moveTo>
                <a:lnTo>
                  <a:pt x="5680173" y="0"/>
                </a:lnTo>
                <a:lnTo>
                  <a:pt x="5680173" y="5267070"/>
                </a:lnTo>
                <a:lnTo>
                  <a:pt x="0" y="5267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7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90" name="Google Shape;290;p17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91" name="Google Shape;291;p17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7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7"/>
          <p:cNvSpPr txBox="1"/>
          <p:nvPr/>
        </p:nvSpPr>
        <p:spPr>
          <a:xfrm>
            <a:off x="447793" y="-88900"/>
            <a:ext cx="15414000" cy="9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Bobina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 energía en forma de campo magnético, por todo el cable circula una corriente siendo el sentido de flujo del campo.</a:t>
            </a:r>
            <a:endParaRPr b="0" i="0" sz="43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1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-Se usa en los autos en el sistema de ignición.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-Sistemas de iluminación con tubos fluorescentes.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-Fuentes de alimentación para filtrar componentes.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7"/>
          <p:cNvSpPr/>
          <p:nvPr/>
        </p:nvSpPr>
        <p:spPr>
          <a:xfrm>
            <a:off x="14171882" y="3346390"/>
            <a:ext cx="3778053" cy="3759713"/>
          </a:xfrm>
          <a:custGeom>
            <a:rect b="b" l="l" r="r" t="t"/>
            <a:pathLst>
              <a:path extrusionOk="0" h="3759713" w="3778053">
                <a:moveTo>
                  <a:pt x="0" y="0"/>
                </a:moveTo>
                <a:lnTo>
                  <a:pt x="3778053" y="0"/>
                </a:lnTo>
                <a:lnTo>
                  <a:pt x="3778053" y="3759713"/>
                </a:lnTo>
                <a:lnTo>
                  <a:pt x="0" y="3759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8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301" name="Google Shape;301;p18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02" name="Google Shape;302;p18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8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Display" id="304" name="Google Shape;304;p18"/>
          <p:cNvSpPr txBox="1"/>
          <p:nvPr/>
        </p:nvSpPr>
        <p:spPr>
          <a:xfrm>
            <a:off x="153625" y="455500"/>
            <a:ext cx="10978200" cy="9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dispositivo luminoso presenta números de 0 al 9 en conteo decimal.</a:t>
            </a:r>
            <a:endParaRPr b="0" i="0" sz="4011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1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Usos comunes: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-Se usa para </a:t>
            </a:r>
            <a:r>
              <a:rPr lang="en-US" sz="40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máquinas</a:t>
            </a: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 aparatos que requieren una salida digital.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-Etéreos.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-Cronómetros.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1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-Relojes.</a:t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1280063" y="3429008"/>
            <a:ext cx="6579895" cy="4244032"/>
          </a:xfrm>
          <a:custGeom>
            <a:rect b="b" l="l" r="r" t="t"/>
            <a:pathLst>
              <a:path extrusionOk="0" h="4244032" w="6579895">
                <a:moveTo>
                  <a:pt x="0" y="0"/>
                </a:moveTo>
                <a:lnTo>
                  <a:pt x="6579895" y="0"/>
                </a:lnTo>
                <a:lnTo>
                  <a:pt x="6579895" y="4244033"/>
                </a:lnTo>
                <a:lnTo>
                  <a:pt x="0" y="424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9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312" name="Google Shape;312;p19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13" name="Google Shape;313;p19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9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Display" id="315" name="Google Shape;315;p19"/>
          <p:cNvSpPr txBox="1"/>
          <p:nvPr/>
        </p:nvSpPr>
        <p:spPr>
          <a:xfrm>
            <a:off x="265900" y="244574"/>
            <a:ext cx="17578200" cy="8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Osciladores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sistema capaz de crear perturbaciones ya sea en sonido o un campo electromagnético. </a:t>
            </a:r>
            <a:endParaRPr b="0" i="0" sz="420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-Relojes digitales.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-Sincronización de circuitos.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-Frecuencias para comunicaciones.</a:t>
            </a:r>
            <a:endParaRPr/>
          </a:p>
          <a:p>
            <a:pPr indent="0" lvl="0" marL="0" marR="0" rtl="0" algn="l">
              <a:lnSpc>
                <a:spcPct val="22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9"/>
          <p:cNvSpPr/>
          <p:nvPr/>
        </p:nvSpPr>
        <p:spPr>
          <a:xfrm>
            <a:off x="10373903" y="3016509"/>
            <a:ext cx="6172200" cy="6172200"/>
          </a:xfrm>
          <a:custGeom>
            <a:rect b="b" l="l" r="r" t="t"/>
            <a:pathLst>
              <a:path extrusionOk="0"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0"/>
          <p:cNvGrpSpPr/>
          <p:nvPr/>
        </p:nvGrpSpPr>
        <p:grpSpPr>
          <a:xfrm>
            <a:off x="0" y="-133436"/>
            <a:ext cx="18288122" cy="7832515"/>
            <a:chOff x="0" y="-38100"/>
            <a:chExt cx="4816593" cy="2062871"/>
          </a:xfrm>
        </p:grpSpPr>
        <p:sp>
          <p:nvSpPr>
            <p:cNvPr id="323" name="Google Shape;323;p20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24" name="Google Shape;324;p20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20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Display" id="326" name="Google Shape;326;p20"/>
          <p:cNvSpPr txBox="1"/>
          <p:nvPr/>
        </p:nvSpPr>
        <p:spPr>
          <a:xfrm>
            <a:off x="280750" y="489175"/>
            <a:ext cx="17578200" cy="8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Interruptor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conforma de dos contactos. Su función es cesar o bloquear es decir abrir o cerrar la corriente de un circuito. </a:t>
            </a:r>
            <a:endParaRPr b="0" i="0" sz="420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-Encender y apagar dispositivos eléctricos.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-Control de maquinaria industrial.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-Seguridad y protección.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20"/>
          <p:cNvSpPr/>
          <p:nvPr/>
        </p:nvSpPr>
        <p:spPr>
          <a:xfrm>
            <a:off x="11374988" y="2960642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1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334" name="Google Shape;334;p21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35" name="Google Shape;335;p21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21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otoboard " id="337" name="Google Shape;337;p21"/>
          <p:cNvSpPr txBox="1"/>
          <p:nvPr/>
        </p:nvSpPr>
        <p:spPr>
          <a:xfrm>
            <a:off x="589713" y="385425"/>
            <a:ext cx="17578200" cy="8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tablero reutilizable que permite conectar componentes electrónicos sin soldar.</a:t>
            </a:r>
            <a:endParaRPr b="0" i="0" sz="4206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Usos comunes: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-Diseñar circuitos electrónicos.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-Se usa para pruebas y experimentar.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-Es útil para la conexión rápida de componentes </a:t>
            </a:r>
            <a:endParaRPr/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resistencias, transistores, LEDs, etc.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21"/>
          <p:cNvSpPr/>
          <p:nvPr/>
        </p:nvSpPr>
        <p:spPr>
          <a:xfrm>
            <a:off x="12465950" y="3097950"/>
            <a:ext cx="5144097" cy="4530796"/>
          </a:xfrm>
          <a:custGeom>
            <a:rect b="b" l="l" r="r" t="t"/>
            <a:pathLst>
              <a:path extrusionOk="0" h="5942027" w="6790887">
                <a:moveTo>
                  <a:pt x="0" y="0"/>
                </a:moveTo>
                <a:lnTo>
                  <a:pt x="6790887" y="0"/>
                </a:lnTo>
                <a:lnTo>
                  <a:pt x="6790887" y="5942026"/>
                </a:lnTo>
                <a:lnTo>
                  <a:pt x="0" y="5942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2"/>
          <p:cNvGrpSpPr/>
          <p:nvPr/>
        </p:nvGrpSpPr>
        <p:grpSpPr>
          <a:xfrm>
            <a:off x="47538" y="-11"/>
            <a:ext cx="18288122" cy="7832515"/>
            <a:chOff x="0" y="-38100"/>
            <a:chExt cx="4816593" cy="2062871"/>
          </a:xfrm>
        </p:grpSpPr>
        <p:sp>
          <p:nvSpPr>
            <p:cNvPr id="345" name="Google Shape;345;p22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46" name="Google Shape;346;p22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22"/>
          <p:cNvSpPr/>
          <p:nvPr/>
        </p:nvSpPr>
        <p:spPr>
          <a:xfrm>
            <a:off x="17852005" y="3626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22"/>
          <p:cNvSpPr/>
          <p:nvPr/>
        </p:nvSpPr>
        <p:spPr>
          <a:xfrm>
            <a:off x="0" y="36267"/>
            <a:ext cx="531199" cy="676296"/>
          </a:xfrm>
          <a:custGeom>
            <a:rect b="b" l="l" r="r" t="t"/>
            <a:pathLst>
              <a:path extrusionOk="0" h="676296" w="531199">
                <a:moveTo>
                  <a:pt x="0" y="0"/>
                </a:moveTo>
                <a:lnTo>
                  <a:pt x="531199" y="0"/>
                </a:lnTo>
                <a:lnTo>
                  <a:pt x="531199" y="676296"/>
                </a:lnTo>
                <a:lnTo>
                  <a:pt x="0" y="676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22"/>
          <p:cNvSpPr/>
          <p:nvPr/>
        </p:nvSpPr>
        <p:spPr>
          <a:xfrm>
            <a:off x="-997" y="958875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22"/>
          <p:cNvSpPr txBox="1"/>
          <p:nvPr/>
        </p:nvSpPr>
        <p:spPr>
          <a:xfrm>
            <a:off x="3951746" y="95250"/>
            <a:ext cx="10479713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EJERCICIO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947450" y="1225075"/>
            <a:ext cx="16039500" cy="73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Instrucciones: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Resuelve cada sección mostrando tu razonamiento. Usa operaciones básicas de conversión y lógica binaria.</a:t>
            </a:r>
            <a:endParaRPr b="0" i="0" sz="32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Conversión rápida, Convierte el número 28₁₀ (decimal) a:</a:t>
            </a:r>
            <a:endParaRPr/>
          </a:p>
          <a:p>
            <a:pPr indent="-356231" lvl="1" marL="7124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a) </a:t>
            </a: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Binario (base 2)</a:t>
            </a:r>
            <a:endParaRPr/>
          </a:p>
          <a:p>
            <a:pPr indent="-356231" lvl="1" marL="7124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b) </a:t>
            </a: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Octal (base 8)</a:t>
            </a:r>
            <a:endParaRPr/>
          </a:p>
          <a:p>
            <a:pPr indent="-356231" lvl="1" marL="7124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9"/>
              <a:buFont typeface="Arial"/>
              <a:buChar char="•"/>
            </a:pP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c) </a:t>
            </a:r>
            <a:r>
              <a:rPr b="0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Hexadecimal (base 16)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Representación con signo (8 bits)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Representa el número -9 en complemento a dos.</a:t>
            </a:r>
            <a:endParaRPr b="0" i="0" sz="32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63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97" l="0" r="0" t="-9499"/>
            </a:stretch>
          </a:blipFill>
          <a:ln>
            <a:noFill/>
          </a:ln>
        </p:spPr>
      </p:sp>
      <p:sp>
        <p:nvSpPr>
          <p:cNvPr id="357" name="Google Shape;357;p23"/>
          <p:cNvSpPr/>
          <p:nvPr/>
        </p:nvSpPr>
        <p:spPr>
          <a:xfrm>
            <a:off x="0" y="6280461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8" name="Google Shape;358;p23"/>
          <p:cNvGrpSpPr/>
          <p:nvPr/>
        </p:nvGrpSpPr>
        <p:grpSpPr>
          <a:xfrm>
            <a:off x="0" y="-144661"/>
            <a:ext cx="18288000" cy="7832463"/>
            <a:chOff x="0" y="-38100"/>
            <a:chExt cx="4816593" cy="2062871"/>
          </a:xfrm>
        </p:grpSpPr>
        <p:sp>
          <p:nvSpPr>
            <p:cNvPr id="359" name="Google Shape;359;p23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60" name="Google Shape;360;p23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23"/>
          <p:cNvSpPr/>
          <p:nvPr/>
        </p:nvSpPr>
        <p:spPr>
          <a:xfrm rot="10800000">
            <a:off x="14881808" y="-298830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3"/>
          <p:cNvSpPr/>
          <p:nvPr/>
        </p:nvSpPr>
        <p:spPr>
          <a:xfrm>
            <a:off x="13639956" y="6138435"/>
            <a:ext cx="1241852" cy="1610181"/>
          </a:xfrm>
          <a:custGeom>
            <a:rect b="b" l="l" r="r" t="t"/>
            <a:pathLst>
              <a:path extrusionOk="0" h="1610181" w="1241852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3"/>
          <p:cNvSpPr/>
          <p:nvPr/>
        </p:nvSpPr>
        <p:spPr>
          <a:xfrm>
            <a:off x="16077246" y="7554056"/>
            <a:ext cx="2287329" cy="2830320"/>
          </a:xfrm>
          <a:custGeom>
            <a:rect b="b" l="l" r="r" t="t"/>
            <a:pathLst>
              <a:path extrusionOk="0" h="2830320" w="2287329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782" l="0" r="0" t="0"/>
            </a:stretch>
          </a:blipFill>
          <a:ln>
            <a:noFill/>
          </a:ln>
        </p:spPr>
      </p:sp>
      <p:sp>
        <p:nvSpPr>
          <p:cNvPr id="364" name="Google Shape;364;p23"/>
          <p:cNvSpPr/>
          <p:nvPr/>
        </p:nvSpPr>
        <p:spPr>
          <a:xfrm rot="5400000">
            <a:off x="1580155" y="5659676"/>
            <a:ext cx="1704656" cy="2299357"/>
          </a:xfrm>
          <a:custGeom>
            <a:rect b="b" l="l" r="r" t="t"/>
            <a:pathLst>
              <a:path extrusionOk="0" h="2299357" w="1704656">
                <a:moveTo>
                  <a:pt x="0" y="0"/>
                </a:moveTo>
                <a:lnTo>
                  <a:pt x="1704656" y="0"/>
                </a:lnTo>
                <a:lnTo>
                  <a:pt x="1704656" y="2299356"/>
                </a:lnTo>
                <a:lnTo>
                  <a:pt x="0" y="2299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029" t="0"/>
            </a:stretch>
          </a:blipFill>
          <a:ln>
            <a:noFill/>
          </a:ln>
        </p:spPr>
      </p:sp>
      <p:grpSp>
        <p:nvGrpSpPr>
          <p:cNvPr id="365" name="Google Shape;365;p23"/>
          <p:cNvGrpSpPr/>
          <p:nvPr/>
        </p:nvGrpSpPr>
        <p:grpSpPr>
          <a:xfrm>
            <a:off x="7641073" y="8807796"/>
            <a:ext cx="3325122" cy="752862"/>
            <a:chOff x="0" y="-47625"/>
            <a:chExt cx="875752" cy="198284"/>
          </a:xfrm>
        </p:grpSpPr>
        <p:sp>
          <p:nvSpPr>
            <p:cNvPr id="366" name="Google Shape;366;p23"/>
            <p:cNvSpPr/>
            <p:nvPr/>
          </p:nvSpPr>
          <p:spPr>
            <a:xfrm>
              <a:off x="0" y="0"/>
              <a:ext cx="875752" cy="150659"/>
            </a:xfrm>
            <a:custGeom>
              <a:rect b="b" l="l" r="r" t="t"/>
              <a:pathLst>
                <a:path extrusionOk="0" h="150659" w="875752">
                  <a:moveTo>
                    <a:pt x="75330" y="0"/>
                  </a:moveTo>
                  <a:lnTo>
                    <a:pt x="800423" y="0"/>
                  </a:lnTo>
                  <a:cubicBezTo>
                    <a:pt x="842026" y="0"/>
                    <a:pt x="875752" y="33726"/>
                    <a:pt x="875752" y="75330"/>
                  </a:cubicBezTo>
                  <a:lnTo>
                    <a:pt x="875752" y="75330"/>
                  </a:lnTo>
                  <a:cubicBezTo>
                    <a:pt x="875752" y="95308"/>
                    <a:pt x="867816" y="114469"/>
                    <a:pt x="853689" y="128596"/>
                  </a:cubicBezTo>
                  <a:cubicBezTo>
                    <a:pt x="839562" y="142723"/>
                    <a:pt x="820401" y="150659"/>
                    <a:pt x="800423" y="150659"/>
                  </a:cubicBezTo>
                  <a:lnTo>
                    <a:pt x="75330" y="150659"/>
                  </a:lnTo>
                  <a:cubicBezTo>
                    <a:pt x="33726" y="150659"/>
                    <a:pt x="0" y="116933"/>
                    <a:pt x="0" y="75330"/>
                  </a:cubicBezTo>
                  <a:lnTo>
                    <a:pt x="0" y="75330"/>
                  </a:lnTo>
                  <a:cubicBezTo>
                    <a:pt x="0" y="33726"/>
                    <a:pt x="33726" y="0"/>
                    <a:pt x="75330" y="0"/>
                  </a:cubicBezTo>
                  <a:close/>
                </a:path>
              </a:pathLst>
            </a:custGeom>
            <a:solidFill>
              <a:srgbClr val="00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3"/>
            <p:cNvSpPr txBox="1"/>
            <p:nvPr/>
          </p:nvSpPr>
          <p:spPr>
            <a:xfrm>
              <a:off x="0" y="-47625"/>
              <a:ext cx="875752" cy="198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3"/>
          <p:cNvSpPr/>
          <p:nvPr/>
        </p:nvSpPr>
        <p:spPr>
          <a:xfrm>
            <a:off x="16823305" y="10055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23"/>
          <p:cNvSpPr/>
          <p:nvPr/>
        </p:nvSpPr>
        <p:spPr>
          <a:xfrm>
            <a:off x="1382847" y="1163300"/>
            <a:ext cx="320407" cy="213471"/>
          </a:xfrm>
          <a:custGeom>
            <a:rect b="b" l="l" r="r" t="t"/>
            <a:pathLst>
              <a:path extrusionOk="0" h="213471" w="320407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p23"/>
          <p:cNvSpPr txBox="1"/>
          <p:nvPr/>
        </p:nvSpPr>
        <p:spPr>
          <a:xfrm>
            <a:off x="2783810" y="1275557"/>
            <a:ext cx="12513000" cy="7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60" u="none" cap="none" strike="noStrike">
                <a:solidFill>
                  <a:srgbClr val="D8FCFF"/>
                </a:solidFill>
                <a:latin typeface="Arial"/>
                <a:ea typeface="Arial"/>
                <a:cs typeface="Arial"/>
                <a:sym typeface="Arial"/>
              </a:rPr>
              <a:t> GRACIAS POR SU ATENCION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0" y="91079"/>
            <a:ext cx="6825078" cy="33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COMPUTACIONAL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7481439" y="9039691"/>
            <a:ext cx="364439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End Presentation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228031" y="42987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p23"/>
          <p:cNvSpPr/>
          <p:nvPr/>
        </p:nvSpPr>
        <p:spPr>
          <a:xfrm>
            <a:off x="10241743" y="3515542"/>
            <a:ext cx="1129636" cy="1334999"/>
          </a:xfrm>
          <a:custGeom>
            <a:rect b="b" l="l" r="r" t="t"/>
            <a:pathLst>
              <a:path extrusionOk="0" h="1334999" w="1129636">
                <a:moveTo>
                  <a:pt x="0" y="0"/>
                </a:moveTo>
                <a:lnTo>
                  <a:pt x="1129636" y="0"/>
                </a:lnTo>
                <a:lnTo>
                  <a:pt x="1129636" y="1335000"/>
                </a:lnTo>
                <a:lnTo>
                  <a:pt x="0" y="133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855" l="0" r="0" t="-485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