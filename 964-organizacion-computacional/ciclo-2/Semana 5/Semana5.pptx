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Space Mono"/>
      <p:regular r:id="rId21"/>
      <p:bold r:id="rId22"/>
      <p:italic r:id="rId23"/>
      <p:boldItalic r:id="rId24"/>
    </p:embeddedFont>
    <p:embeddedFont>
      <p:font typeface="Archivo Black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g52H3OuViGtUoNe5r688XjaOFME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paceMono-bold.fntdata"/><Relationship Id="rId21" Type="http://schemas.openxmlformats.org/officeDocument/2006/relationships/font" Target="fonts/SpaceMono-regular.fntdata"/><Relationship Id="rId24" Type="http://schemas.openxmlformats.org/officeDocument/2006/relationships/font" Target="fonts/SpaceMono-boldItalic.fntdata"/><Relationship Id="rId23" Type="http://schemas.openxmlformats.org/officeDocument/2006/relationships/font" Target="fonts/Space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ArchivoBlack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10T02:31:47.766">
    <p:pos x="6000" y="0"/>
    <p:text>Hola. En seguimiento a la plantilla Favor desarrollar un unico valor. En el titulo colocar el nombre del valor y en el contenido la descripcion y como aplicarlo. Gracias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PR8t5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Relationship Id="rId4" Type="http://schemas.openxmlformats.org/officeDocument/2006/relationships/image" Target="../media/image9.jp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Relationship Id="rId4" Type="http://schemas.openxmlformats.org/officeDocument/2006/relationships/image" Target="../media/image29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jpg"/><Relationship Id="rId4" Type="http://schemas.openxmlformats.org/officeDocument/2006/relationships/image" Target="../media/image8.png"/><Relationship Id="rId5" Type="http://schemas.openxmlformats.org/officeDocument/2006/relationships/image" Target="../media/image29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jp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hyperlink" Target="https://wilaebaelectronica.blogspot.com/2017/07/multiplicador-de-dos-numeros-de-3-bits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Relationship Id="rId4" Type="http://schemas.openxmlformats.org/officeDocument/2006/relationships/image" Target="../media/image13.png"/><Relationship Id="rId5" Type="http://schemas.openxmlformats.org/officeDocument/2006/relationships/image" Target="../media/image16.jp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jp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23.png"/><Relationship Id="rId7" Type="http://schemas.openxmlformats.org/officeDocument/2006/relationships/hyperlink" Target="http://www.youtube.com/watch?v=vdrRqimopt8" TargetMode="External"/><Relationship Id="rId8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1.xml"/><Relationship Id="rId4" Type="http://schemas.openxmlformats.org/officeDocument/2006/relationships/image" Target="../media/image27.jpg"/><Relationship Id="rId5" Type="http://schemas.openxmlformats.org/officeDocument/2006/relationships/image" Target="../media/image5.png"/><Relationship Id="rId6" Type="http://schemas.openxmlformats.org/officeDocument/2006/relationships/image" Target="../media/image28.png"/><Relationship Id="rId7" Type="http://schemas.openxmlformats.org/officeDocument/2006/relationships/image" Target="../media/image32.jp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Relationship Id="rId4" Type="http://schemas.openxmlformats.org/officeDocument/2006/relationships/image" Target="../media/image34.png"/><Relationship Id="rId11" Type="http://schemas.openxmlformats.org/officeDocument/2006/relationships/image" Target="../media/image37.png"/><Relationship Id="rId10" Type="http://schemas.openxmlformats.org/officeDocument/2006/relationships/hyperlink" Target="https://youtu.be/cI0C4uuq5mQ" TargetMode="External"/><Relationship Id="rId9" Type="http://schemas.openxmlformats.org/officeDocument/2006/relationships/image" Target="../media/image40.png"/><Relationship Id="rId5" Type="http://schemas.openxmlformats.org/officeDocument/2006/relationships/hyperlink" Target="https://youtu.be/pIrZNbjAc74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5.png"/><Relationship Id="rId8" Type="http://schemas.openxmlformats.org/officeDocument/2006/relationships/hyperlink" Target="https://wilaebaelectronica.blogspot.com/2017/01/decodificador-binario-a-bcd-de-4-bits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jpg"/><Relationship Id="rId4" Type="http://schemas.openxmlformats.org/officeDocument/2006/relationships/image" Target="../media/image33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0077268" y="1605137"/>
            <a:ext cx="7076727" cy="7076727"/>
          </a:xfrm>
          <a:custGeom>
            <a:rect b="b" l="l" r="r" t="t"/>
            <a:pathLst>
              <a:path extrusionOk="0" h="812800" w="812800">
                <a:moveTo>
                  <a:pt x="583958" y="9283"/>
                </a:moveTo>
                <a:lnTo>
                  <a:pt x="803517" y="228842"/>
                </a:lnTo>
                <a:cubicBezTo>
                  <a:pt x="809461" y="234786"/>
                  <a:pt x="812800" y="242847"/>
                  <a:pt x="812800" y="251253"/>
                </a:cubicBezTo>
                <a:lnTo>
                  <a:pt x="812800" y="561547"/>
                </a:lnTo>
                <a:cubicBezTo>
                  <a:pt x="812800" y="569953"/>
                  <a:pt x="809461" y="578014"/>
                  <a:pt x="803517" y="583958"/>
                </a:cubicBezTo>
                <a:lnTo>
                  <a:pt x="583958" y="803517"/>
                </a:lnTo>
                <a:cubicBezTo>
                  <a:pt x="578014" y="809461"/>
                  <a:pt x="569953" y="812800"/>
                  <a:pt x="561547" y="812800"/>
                </a:cubicBezTo>
                <a:lnTo>
                  <a:pt x="251253" y="812800"/>
                </a:lnTo>
                <a:cubicBezTo>
                  <a:pt x="242847" y="812800"/>
                  <a:pt x="234786" y="809461"/>
                  <a:pt x="228842" y="803517"/>
                </a:cubicBezTo>
                <a:lnTo>
                  <a:pt x="9283" y="583958"/>
                </a:lnTo>
                <a:cubicBezTo>
                  <a:pt x="3339" y="578014"/>
                  <a:pt x="0" y="569953"/>
                  <a:pt x="0" y="561547"/>
                </a:cubicBezTo>
                <a:lnTo>
                  <a:pt x="0" y="251253"/>
                </a:lnTo>
                <a:cubicBezTo>
                  <a:pt x="0" y="242847"/>
                  <a:pt x="3339" y="234786"/>
                  <a:pt x="9283" y="228842"/>
                </a:cubicBezTo>
                <a:lnTo>
                  <a:pt x="228842" y="9283"/>
                </a:lnTo>
                <a:cubicBezTo>
                  <a:pt x="234786" y="3339"/>
                  <a:pt x="242847" y="0"/>
                  <a:pt x="251253" y="0"/>
                </a:cubicBezTo>
                <a:lnTo>
                  <a:pt x="561547" y="0"/>
                </a:lnTo>
                <a:cubicBezTo>
                  <a:pt x="569953" y="0"/>
                  <a:pt x="578014" y="3339"/>
                  <a:pt x="583958" y="9283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6664" r="-1666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133760" y="4709367"/>
            <a:ext cx="6929599" cy="1229917"/>
            <a:chOff x="0" y="-95250"/>
            <a:chExt cx="1825080" cy="323929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1825079" cy="228679"/>
            </a:xfrm>
            <a:custGeom>
              <a:rect b="b" l="l" r="r" t="t"/>
              <a:pathLst>
                <a:path extrusionOk="0" h="228679" w="1825079">
                  <a:moveTo>
                    <a:pt x="13407" y="0"/>
                  </a:moveTo>
                  <a:lnTo>
                    <a:pt x="1811673" y="0"/>
                  </a:lnTo>
                  <a:cubicBezTo>
                    <a:pt x="1815229" y="0"/>
                    <a:pt x="1818639" y="1412"/>
                    <a:pt x="1821153" y="3927"/>
                  </a:cubicBezTo>
                  <a:cubicBezTo>
                    <a:pt x="1823667" y="6441"/>
                    <a:pt x="1825079" y="9851"/>
                    <a:pt x="1825079" y="13407"/>
                  </a:cubicBezTo>
                  <a:lnTo>
                    <a:pt x="1825079" y="215272"/>
                  </a:lnTo>
                  <a:cubicBezTo>
                    <a:pt x="1825079" y="218828"/>
                    <a:pt x="1823667" y="222238"/>
                    <a:pt x="1821153" y="224752"/>
                  </a:cubicBezTo>
                  <a:cubicBezTo>
                    <a:pt x="1818639" y="227266"/>
                    <a:pt x="1815229" y="228679"/>
                    <a:pt x="1811673" y="228679"/>
                  </a:cubicBezTo>
                  <a:lnTo>
                    <a:pt x="13407" y="228679"/>
                  </a:lnTo>
                  <a:cubicBezTo>
                    <a:pt x="9851" y="228679"/>
                    <a:pt x="6441" y="227266"/>
                    <a:pt x="3927" y="224752"/>
                  </a:cubicBezTo>
                  <a:cubicBezTo>
                    <a:pt x="1412" y="222238"/>
                    <a:pt x="0" y="218828"/>
                    <a:pt x="0" y="215272"/>
                  </a:cubicBezTo>
                  <a:lnTo>
                    <a:pt x="0" y="13407"/>
                  </a:lnTo>
                  <a:cubicBezTo>
                    <a:pt x="0" y="9851"/>
                    <a:pt x="1412" y="6441"/>
                    <a:pt x="3927" y="3927"/>
                  </a:cubicBezTo>
                  <a:cubicBezTo>
                    <a:pt x="6441" y="1412"/>
                    <a:pt x="9851" y="0"/>
                    <a:pt x="13407" y="0"/>
                  </a:cubicBezTo>
                  <a:close/>
                </a:path>
              </a:pathLst>
            </a:custGeom>
            <a:solidFill>
              <a:srgbClr val="E4E5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0" y="-95250"/>
              <a:ext cx="1825080" cy="323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876401" y="373368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5" y="0"/>
                </a:lnTo>
                <a:lnTo>
                  <a:pt x="1154875" y="602138"/>
                </a:lnTo>
                <a:lnTo>
                  <a:pt x="0" y="602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16741925" y="7190910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2" name="Google Shape;92;p1"/>
          <p:cNvCxnSpPr/>
          <p:nvPr/>
        </p:nvCxnSpPr>
        <p:spPr>
          <a:xfrm>
            <a:off x="-499881" y="8620176"/>
            <a:ext cx="10500515" cy="0"/>
          </a:xfrm>
          <a:prstGeom prst="straightConnector1">
            <a:avLst/>
          </a:prstGeom>
          <a:noFill/>
          <a:ln cap="flat" cmpd="sng" w="19050">
            <a:solidFill>
              <a:srgbClr val="1519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"/>
          <p:cNvSpPr/>
          <p:nvPr/>
        </p:nvSpPr>
        <p:spPr>
          <a:xfrm flipH="1">
            <a:off x="1493974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133748" y="2596700"/>
            <a:ext cx="9197700" cy="18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48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Diseño de Lógica y Bloques Combinacionales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3031276" y="383652"/>
            <a:ext cx="6312270" cy="486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Organización computacional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487613" y="4776364"/>
            <a:ext cx="6085853" cy="667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41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Circuitos de control - Sumador - Restador - Multiplicador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498991" y="8735335"/>
            <a:ext cx="257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Auxiliar: </a:t>
            </a:r>
            <a:r>
              <a:rPr lang="en-US" sz="2100">
                <a:solidFill>
                  <a:srgbClr val="15193E"/>
                </a:solidFill>
              </a:rPr>
              <a:t>Dilan Suy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2499010" y="9244815"/>
            <a:ext cx="362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Sección:  </a:t>
            </a:r>
            <a:r>
              <a:rPr lang="en-US" sz="2100">
                <a:solidFill>
                  <a:srgbClr val="15193E"/>
                </a:solidFill>
              </a:rPr>
              <a:t>“A”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12592489" y="9019020"/>
            <a:ext cx="5496900" cy="1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 rot="10800000">
            <a:off x="16580047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" name="Google Shape;107;p2"/>
          <p:cNvGrpSpPr/>
          <p:nvPr/>
        </p:nvGrpSpPr>
        <p:grpSpPr>
          <a:xfrm>
            <a:off x="1432681" y="720664"/>
            <a:ext cx="15643737" cy="8487788"/>
            <a:chOff x="0" y="-76200"/>
            <a:chExt cx="4120161" cy="2235467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4120161" cy="2159267"/>
            </a:xfrm>
            <a:custGeom>
              <a:rect b="b" l="l" r="r" t="t"/>
              <a:pathLst>
                <a:path extrusionOk="0" h="2159267" w="4120161">
                  <a:moveTo>
                    <a:pt x="14847" y="0"/>
                  </a:moveTo>
                  <a:lnTo>
                    <a:pt x="4105315" y="0"/>
                  </a:lnTo>
                  <a:cubicBezTo>
                    <a:pt x="4109252" y="0"/>
                    <a:pt x="4113028" y="1564"/>
                    <a:pt x="4115813" y="4348"/>
                  </a:cubicBezTo>
                  <a:cubicBezTo>
                    <a:pt x="4118597" y="7133"/>
                    <a:pt x="4120161" y="10909"/>
                    <a:pt x="4120161" y="14847"/>
                  </a:cubicBezTo>
                  <a:lnTo>
                    <a:pt x="4120161" y="2144420"/>
                  </a:lnTo>
                  <a:cubicBezTo>
                    <a:pt x="4120161" y="2152620"/>
                    <a:pt x="4113514" y="2159267"/>
                    <a:pt x="4105315" y="2159267"/>
                  </a:cubicBezTo>
                  <a:lnTo>
                    <a:pt x="14847" y="2159267"/>
                  </a:lnTo>
                  <a:cubicBezTo>
                    <a:pt x="10909" y="2159267"/>
                    <a:pt x="7133" y="2157703"/>
                    <a:pt x="4348" y="2154918"/>
                  </a:cubicBezTo>
                  <a:cubicBezTo>
                    <a:pt x="1564" y="2152134"/>
                    <a:pt x="0" y="2148358"/>
                    <a:pt x="0" y="2144420"/>
                  </a:cubicBezTo>
                  <a:lnTo>
                    <a:pt x="0" y="14847"/>
                  </a:lnTo>
                  <a:cubicBezTo>
                    <a:pt x="0" y="10909"/>
                    <a:pt x="1564" y="7133"/>
                    <a:pt x="4348" y="4348"/>
                  </a:cubicBezTo>
                  <a:cubicBezTo>
                    <a:pt x="7133" y="1564"/>
                    <a:pt x="10909" y="0"/>
                    <a:pt x="14847" y="0"/>
                  </a:cubicBezTo>
                  <a:close/>
                </a:path>
              </a:pathLst>
            </a:custGeom>
            <a:solidFill>
              <a:srgbClr val="566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4120161" cy="2235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467877" y="9559528"/>
            <a:ext cx="17352246" cy="1065678"/>
            <a:chOff x="0" y="-76200"/>
            <a:chExt cx="4570139" cy="280672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4570139" cy="204472"/>
            </a:xfrm>
            <a:custGeom>
              <a:rect b="b" l="l" r="r" t="t"/>
              <a:pathLst>
                <a:path extrusionOk="0" h="204472" w="4570139">
                  <a:moveTo>
                    <a:pt x="13385" y="0"/>
                  </a:moveTo>
                  <a:lnTo>
                    <a:pt x="4556754" y="0"/>
                  </a:lnTo>
                  <a:cubicBezTo>
                    <a:pt x="4560304" y="0"/>
                    <a:pt x="4563708" y="1410"/>
                    <a:pt x="4566219" y="3920"/>
                  </a:cubicBezTo>
                  <a:cubicBezTo>
                    <a:pt x="4568729" y="6430"/>
                    <a:pt x="4570139" y="9835"/>
                    <a:pt x="4570139" y="13385"/>
                  </a:cubicBezTo>
                  <a:lnTo>
                    <a:pt x="4570139" y="191088"/>
                  </a:lnTo>
                  <a:cubicBezTo>
                    <a:pt x="4570139" y="198480"/>
                    <a:pt x="4564146" y="204472"/>
                    <a:pt x="4556754" y="204472"/>
                  </a:cubicBezTo>
                  <a:lnTo>
                    <a:pt x="13385" y="204472"/>
                  </a:lnTo>
                  <a:cubicBezTo>
                    <a:pt x="9835" y="204472"/>
                    <a:pt x="6430" y="203062"/>
                    <a:pt x="3920" y="200552"/>
                  </a:cubicBezTo>
                  <a:cubicBezTo>
                    <a:pt x="1410" y="198042"/>
                    <a:pt x="0" y="194637"/>
                    <a:pt x="0" y="191088"/>
                  </a:cubicBezTo>
                  <a:lnTo>
                    <a:pt x="0" y="13385"/>
                  </a:lnTo>
                  <a:cubicBezTo>
                    <a:pt x="0" y="9835"/>
                    <a:pt x="1410" y="6430"/>
                    <a:pt x="3920" y="3920"/>
                  </a:cubicBezTo>
                  <a:cubicBezTo>
                    <a:pt x="6430" y="1410"/>
                    <a:pt x="9835" y="0"/>
                    <a:pt x="13385" y="0"/>
                  </a:cubicBezTo>
                  <a:close/>
                </a:path>
              </a:pathLst>
            </a:custGeom>
            <a:solidFill>
              <a:srgbClr val="474D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4570139" cy="280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4642596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0336941" y="2506805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642596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10336941" y="3699668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642596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10336941" y="4892531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642596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10336941" y="6085394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642596" y="7283519"/>
            <a:ext cx="908568" cy="908568"/>
          </a:xfrm>
          <a:custGeom>
            <a:rect b="b" l="l" r="r" t="t"/>
            <a:pathLst>
              <a:path extrusionOk="0" h="812800" w="812800">
                <a:moveTo>
                  <a:pt x="610827" y="36152"/>
                </a:moveTo>
                <a:lnTo>
                  <a:pt x="776648" y="201973"/>
                </a:lnTo>
                <a:cubicBezTo>
                  <a:pt x="799796" y="225121"/>
                  <a:pt x="812800" y="256516"/>
                  <a:pt x="812800" y="289251"/>
                </a:cubicBezTo>
                <a:lnTo>
                  <a:pt x="812800" y="523549"/>
                </a:lnTo>
                <a:cubicBezTo>
                  <a:pt x="812800" y="556284"/>
                  <a:pt x="799796" y="587679"/>
                  <a:pt x="776648" y="610827"/>
                </a:cubicBezTo>
                <a:lnTo>
                  <a:pt x="610827" y="776648"/>
                </a:lnTo>
                <a:cubicBezTo>
                  <a:pt x="587679" y="799796"/>
                  <a:pt x="556284" y="812800"/>
                  <a:pt x="523549" y="812800"/>
                </a:cubicBezTo>
                <a:lnTo>
                  <a:pt x="289251" y="812800"/>
                </a:lnTo>
                <a:cubicBezTo>
                  <a:pt x="256516" y="812800"/>
                  <a:pt x="225121" y="799796"/>
                  <a:pt x="201973" y="776648"/>
                </a:cubicBezTo>
                <a:lnTo>
                  <a:pt x="36152" y="610827"/>
                </a:lnTo>
                <a:cubicBezTo>
                  <a:pt x="13004" y="587679"/>
                  <a:pt x="0" y="556284"/>
                  <a:pt x="0" y="523549"/>
                </a:cubicBezTo>
                <a:lnTo>
                  <a:pt x="0" y="289251"/>
                </a:lnTo>
                <a:cubicBezTo>
                  <a:pt x="0" y="256516"/>
                  <a:pt x="13004" y="225121"/>
                  <a:pt x="36152" y="201973"/>
                </a:cubicBezTo>
                <a:lnTo>
                  <a:pt x="201973" y="36152"/>
                </a:lnTo>
                <a:cubicBezTo>
                  <a:pt x="225121" y="13004"/>
                  <a:pt x="256516" y="0"/>
                  <a:pt x="289251" y="0"/>
                </a:cubicBezTo>
                <a:lnTo>
                  <a:pt x="523549" y="0"/>
                </a:lnTo>
                <a:cubicBezTo>
                  <a:pt x="556284" y="0"/>
                  <a:pt x="587679" y="13004"/>
                  <a:pt x="610827" y="36152"/>
                </a:cubicBez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2"/>
          <p:cNvGrpSpPr/>
          <p:nvPr/>
        </p:nvGrpSpPr>
        <p:grpSpPr>
          <a:xfrm>
            <a:off x="12604079" y="340848"/>
            <a:ext cx="6180159" cy="1318655"/>
            <a:chOff x="0" y="-85725"/>
            <a:chExt cx="1627696" cy="347300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0" y="-85725"/>
              <a:ext cx="1627696" cy="3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16165519" y="954273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49" y="0"/>
                </a:lnTo>
                <a:lnTo>
                  <a:pt x="800349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4848734" y="2615669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10543079" y="2615669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4848734" y="3808532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10543079" y="3808532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4848734" y="5001396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10543079" y="5001396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4848734" y="6194259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10543079" y="6194259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4848734" y="7392384"/>
            <a:ext cx="579411" cy="57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5831968" y="2760737"/>
            <a:ext cx="309890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al tema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5831968" y="3900116"/>
            <a:ext cx="384843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Circuitos de control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1521734" y="2760737"/>
            <a:ext cx="3794303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Videos 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5831968" y="5092980"/>
            <a:ext cx="309890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Sumador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1526313" y="3899512"/>
            <a:ext cx="3442564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Lectura explicativa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831968" y="6285843"/>
            <a:ext cx="309890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Restador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11521734" y="5067300"/>
            <a:ext cx="309890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 corta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5831968" y="7483968"/>
            <a:ext cx="3098900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11521734" y="6207987"/>
            <a:ext cx="3442564" cy="4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4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12714628" y="943311"/>
            <a:ext cx="3519131" cy="310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computacional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 rot="-5400000">
            <a:off x="-425771" y="4460557"/>
            <a:ext cx="6548803" cy="136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grpSp>
        <p:nvGrpSpPr>
          <p:cNvPr id="147" name="Google Shape;147;p2"/>
          <p:cNvGrpSpPr/>
          <p:nvPr/>
        </p:nvGrpSpPr>
        <p:grpSpPr>
          <a:xfrm>
            <a:off x="10896259" y="7866600"/>
            <a:ext cx="6180159" cy="1318655"/>
            <a:chOff x="0" y="-85725"/>
            <a:chExt cx="1627696" cy="347300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627696" cy="261575"/>
            </a:xfrm>
            <a:custGeom>
              <a:rect b="b" l="l" r="r" t="t"/>
              <a:pathLst>
                <a:path extrusionOk="0" h="261575" w="1627696">
                  <a:moveTo>
                    <a:pt x="25054" y="0"/>
                  </a:moveTo>
                  <a:lnTo>
                    <a:pt x="1602642" y="0"/>
                  </a:lnTo>
                  <a:cubicBezTo>
                    <a:pt x="1616479" y="0"/>
                    <a:pt x="1627696" y="11217"/>
                    <a:pt x="1627696" y="25054"/>
                  </a:cubicBezTo>
                  <a:lnTo>
                    <a:pt x="1627696" y="236521"/>
                  </a:lnTo>
                  <a:cubicBezTo>
                    <a:pt x="1627696" y="250358"/>
                    <a:pt x="1616479" y="261575"/>
                    <a:pt x="1602642" y="261575"/>
                  </a:cubicBezTo>
                  <a:lnTo>
                    <a:pt x="25054" y="261575"/>
                  </a:lnTo>
                  <a:cubicBezTo>
                    <a:pt x="11217" y="261575"/>
                    <a:pt x="0" y="250358"/>
                    <a:pt x="0" y="236521"/>
                  </a:cubicBezTo>
                  <a:lnTo>
                    <a:pt x="0" y="25054"/>
                  </a:lnTo>
                  <a:cubicBezTo>
                    <a:pt x="0" y="11217"/>
                    <a:pt x="11217" y="0"/>
                    <a:pt x="25054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0" y="-85725"/>
              <a:ext cx="1627696" cy="3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9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Agregar el Link de lo que se requiera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155" name="Google Shape;155;p3"/>
          <p:cNvGrpSpPr/>
          <p:nvPr/>
        </p:nvGrpSpPr>
        <p:grpSpPr>
          <a:xfrm>
            <a:off x="1627167" y="2190837"/>
            <a:ext cx="6918365" cy="5675611"/>
            <a:chOff x="0" y="-385763"/>
            <a:chExt cx="9224487" cy="7567481"/>
          </a:xfrm>
        </p:grpSpPr>
        <p:grpSp>
          <p:nvGrpSpPr>
            <p:cNvPr id="156" name="Google Shape;156;p3"/>
            <p:cNvGrpSpPr/>
            <p:nvPr/>
          </p:nvGrpSpPr>
          <p:grpSpPr>
            <a:xfrm rot="10800000">
              <a:off x="0" y="4514158"/>
              <a:ext cx="9224487" cy="2667560"/>
              <a:chOff x="0" y="-76200"/>
              <a:chExt cx="1822121" cy="526926"/>
            </a:xfrm>
          </p:grpSpPr>
          <p:sp>
            <p:nvSpPr>
              <p:cNvPr id="157" name="Google Shape;157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474D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3"/>
              <p:cNvSpPr txBox="1"/>
              <p:nvPr/>
            </p:nvSpPr>
            <p:spPr>
              <a:xfrm>
                <a:off x="0" y="-76200"/>
                <a:ext cx="1822121" cy="526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3"/>
            <p:cNvGrpSpPr/>
            <p:nvPr/>
          </p:nvGrpSpPr>
          <p:grpSpPr>
            <a:xfrm>
              <a:off x="0" y="-385763"/>
              <a:ext cx="9224487" cy="6709795"/>
              <a:chOff x="0" y="-76200"/>
              <a:chExt cx="1822121" cy="1325391"/>
            </a:xfrm>
          </p:grpSpPr>
          <p:sp>
            <p:nvSpPr>
              <p:cNvPr id="160" name="Google Shape;160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3"/>
              <p:cNvSpPr txBox="1"/>
              <p:nvPr/>
            </p:nvSpPr>
            <p:spPr>
              <a:xfrm>
                <a:off x="0" y="-76200"/>
                <a:ext cx="1822121" cy="1325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3"/>
          <p:cNvGrpSpPr/>
          <p:nvPr/>
        </p:nvGrpSpPr>
        <p:grpSpPr>
          <a:xfrm>
            <a:off x="9742467" y="2190837"/>
            <a:ext cx="6918365" cy="5675611"/>
            <a:chOff x="0" y="-385763"/>
            <a:chExt cx="9224487" cy="7567481"/>
          </a:xfrm>
        </p:grpSpPr>
        <p:grpSp>
          <p:nvGrpSpPr>
            <p:cNvPr id="163" name="Google Shape;163;p3"/>
            <p:cNvGrpSpPr/>
            <p:nvPr/>
          </p:nvGrpSpPr>
          <p:grpSpPr>
            <a:xfrm rot="10800000">
              <a:off x="0" y="4514158"/>
              <a:ext cx="9224487" cy="2667560"/>
              <a:chOff x="0" y="-76200"/>
              <a:chExt cx="1822121" cy="526926"/>
            </a:xfrm>
          </p:grpSpPr>
          <p:sp>
            <p:nvSpPr>
              <p:cNvPr id="164" name="Google Shape;164;p3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474D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3"/>
              <p:cNvSpPr txBox="1"/>
              <p:nvPr/>
            </p:nvSpPr>
            <p:spPr>
              <a:xfrm>
                <a:off x="0" y="-76200"/>
                <a:ext cx="1822121" cy="526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3"/>
            <p:cNvGrpSpPr/>
            <p:nvPr/>
          </p:nvGrpSpPr>
          <p:grpSpPr>
            <a:xfrm>
              <a:off x="0" y="-385763"/>
              <a:ext cx="9224487" cy="6709795"/>
              <a:chOff x="0" y="-76200"/>
              <a:chExt cx="1822121" cy="1325391"/>
            </a:xfrm>
          </p:grpSpPr>
          <p:sp>
            <p:nvSpPr>
              <p:cNvPr id="167" name="Google Shape;167;p3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3"/>
              <p:cNvSpPr txBox="1"/>
              <p:nvPr/>
            </p:nvSpPr>
            <p:spPr>
              <a:xfrm>
                <a:off x="0" y="-76200"/>
                <a:ext cx="1822121" cy="1325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9" name="Google Shape;169;p3"/>
          <p:cNvGrpSpPr/>
          <p:nvPr/>
        </p:nvGrpSpPr>
        <p:grpSpPr>
          <a:xfrm>
            <a:off x="3163753" y="1601557"/>
            <a:ext cx="3845195" cy="1534173"/>
            <a:chOff x="0" y="-95250"/>
            <a:chExt cx="1626539" cy="648963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0" y="-95250"/>
              <a:ext cx="1626538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11279053" y="1601557"/>
            <a:ext cx="3845195" cy="1534173"/>
            <a:chOff x="0" y="-95250"/>
            <a:chExt cx="1626539" cy="648963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0" y="-95250"/>
              <a:ext cx="1626538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3"/>
          <p:cNvSpPr txBox="1"/>
          <p:nvPr/>
        </p:nvSpPr>
        <p:spPr>
          <a:xfrm>
            <a:off x="3396042" y="1800145"/>
            <a:ext cx="3059371" cy="10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Pensamiento lógico y analítico</a:t>
            </a:r>
            <a:endParaRPr/>
          </a:p>
        </p:txBody>
      </p:sp>
      <p:sp>
        <p:nvSpPr>
          <p:cNvPr id="176" name="Google Shape;176;p3"/>
          <p:cNvSpPr txBox="1"/>
          <p:nvPr/>
        </p:nvSpPr>
        <p:spPr>
          <a:xfrm>
            <a:off x="11279053" y="1987470"/>
            <a:ext cx="3839536" cy="89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Capacidad de resolución de problemas técnicos</a:t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>
            <a:off x="2005286" y="3233381"/>
            <a:ext cx="6162127" cy="352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Capacidad para aplicar razonamiento lógico en la construcción y análisis de circuitos combinacionales como sumadores, restadores, multiplicadores y circuitos de control.</a:t>
            </a:r>
            <a:endParaRPr/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➤ Ejemplo: diseñar una unidad aritmética funcional con base en sumadores y restadores.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9976654" y="3172842"/>
            <a:ext cx="6102552" cy="352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Habilidad para identificar y resolver problemas prácticos en sistemas digitales mediante el diseño e implementación de circuitos con compuertas lógicas.</a:t>
            </a:r>
            <a:endParaRPr/>
          </a:p>
          <a:p>
            <a:pPr indent="0" lvl="0" marL="0" marR="0" rtl="0" algn="just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➤ Ejemplo: implementar un multiplicador binario usando bloques básicos.</a:t>
            </a:r>
            <a:endParaRPr/>
          </a:p>
        </p:txBody>
      </p:sp>
      <p:cxnSp>
        <p:nvCxnSpPr>
          <p:cNvPr id="179" name="Google Shape;179;p3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5666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3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1" name="Google Shape;181;p3"/>
          <p:cNvGrpSpPr/>
          <p:nvPr/>
        </p:nvGrpSpPr>
        <p:grpSpPr>
          <a:xfrm>
            <a:off x="7221403" y="-16038"/>
            <a:ext cx="3845195" cy="1534173"/>
            <a:chOff x="0" y="-95250"/>
            <a:chExt cx="1626539" cy="648963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40268" y="0"/>
                  </a:moveTo>
                  <a:lnTo>
                    <a:pt x="1586271" y="0"/>
                  </a:lnTo>
                  <a:cubicBezTo>
                    <a:pt x="1596950" y="0"/>
                    <a:pt x="1607193" y="4243"/>
                    <a:pt x="1614744" y="11794"/>
                  </a:cubicBezTo>
                  <a:cubicBezTo>
                    <a:pt x="1622296" y="19346"/>
                    <a:pt x="1626539" y="29588"/>
                    <a:pt x="1626539" y="40268"/>
                  </a:cubicBezTo>
                  <a:lnTo>
                    <a:pt x="1626539" y="513445"/>
                  </a:lnTo>
                  <a:cubicBezTo>
                    <a:pt x="1626539" y="524125"/>
                    <a:pt x="1622296" y="534367"/>
                    <a:pt x="1614744" y="541919"/>
                  </a:cubicBezTo>
                  <a:cubicBezTo>
                    <a:pt x="1607193" y="549471"/>
                    <a:pt x="1596950" y="553713"/>
                    <a:pt x="1586271" y="553713"/>
                  </a:cubicBezTo>
                  <a:lnTo>
                    <a:pt x="40268" y="553713"/>
                  </a:lnTo>
                  <a:cubicBezTo>
                    <a:pt x="29588" y="553713"/>
                    <a:pt x="19346" y="549471"/>
                    <a:pt x="11794" y="541919"/>
                  </a:cubicBezTo>
                  <a:cubicBezTo>
                    <a:pt x="4243" y="534367"/>
                    <a:pt x="0" y="524125"/>
                    <a:pt x="0" y="513445"/>
                  </a:cubicBezTo>
                  <a:lnTo>
                    <a:pt x="0" y="40268"/>
                  </a:lnTo>
                  <a:cubicBezTo>
                    <a:pt x="0" y="29588"/>
                    <a:pt x="4243" y="19346"/>
                    <a:pt x="11794" y="11794"/>
                  </a:cubicBezTo>
                  <a:cubicBezTo>
                    <a:pt x="19346" y="4243"/>
                    <a:pt x="29588" y="0"/>
                    <a:pt x="40268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0" y="-95250"/>
              <a:ext cx="1626538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3"/>
          <p:cNvSpPr txBox="1"/>
          <p:nvPr/>
        </p:nvSpPr>
        <p:spPr>
          <a:xfrm>
            <a:off x="7614315" y="272521"/>
            <a:ext cx="3059371" cy="1077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5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Competencias a desarrollar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190" name="Google Shape;190;p4"/>
          <p:cNvSpPr/>
          <p:nvPr/>
        </p:nvSpPr>
        <p:spPr>
          <a:xfrm>
            <a:off x="9950921" y="13205125"/>
            <a:ext cx="800350" cy="417292"/>
          </a:xfrm>
          <a:custGeom>
            <a:rect b="b" l="l" r="r" t="t"/>
            <a:pathLst>
              <a:path extrusionOk="0" h="417292" w="800350">
                <a:moveTo>
                  <a:pt x="0" y="0"/>
                </a:moveTo>
                <a:lnTo>
                  <a:pt x="800350" y="0"/>
                </a:lnTo>
                <a:lnTo>
                  <a:pt x="800350" y="417292"/>
                </a:lnTo>
                <a:lnTo>
                  <a:pt x="0" y="417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4"/>
          <p:cNvGrpSpPr/>
          <p:nvPr/>
        </p:nvGrpSpPr>
        <p:grpSpPr>
          <a:xfrm>
            <a:off x="1890809" y="1689147"/>
            <a:ext cx="14506381" cy="6215895"/>
            <a:chOff x="0" y="-385763"/>
            <a:chExt cx="19341841" cy="8287860"/>
          </a:xfrm>
        </p:grpSpPr>
        <p:grpSp>
          <p:nvGrpSpPr>
            <p:cNvPr id="192" name="Google Shape;192;p4"/>
            <p:cNvGrpSpPr/>
            <p:nvPr/>
          </p:nvGrpSpPr>
          <p:grpSpPr>
            <a:xfrm>
              <a:off x="0" y="137802"/>
              <a:ext cx="1331591" cy="7240731"/>
              <a:chOff x="0" y="-76200"/>
              <a:chExt cx="263030" cy="1430268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solidFill>
                <a:srgbClr val="474D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4"/>
              <p:cNvSpPr txBox="1"/>
              <p:nvPr/>
            </p:nvSpPr>
            <p:spPr>
              <a:xfrm>
                <a:off x="0" y="-76200"/>
                <a:ext cx="263030" cy="1430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5" name="Google Shape;195;p4"/>
            <p:cNvGrpSpPr/>
            <p:nvPr/>
          </p:nvGrpSpPr>
          <p:grpSpPr>
            <a:xfrm rot="10800000">
              <a:off x="18010250" y="523564"/>
              <a:ext cx="1331591" cy="7240731"/>
              <a:chOff x="0" y="-76200"/>
              <a:chExt cx="263030" cy="1430268"/>
            </a:xfrm>
          </p:grpSpPr>
          <p:sp>
            <p:nvSpPr>
              <p:cNvPr id="196" name="Google Shape;196;p4"/>
              <p:cNvSpPr/>
              <p:nvPr/>
            </p:nvSpPr>
            <p:spPr>
              <a:xfrm>
                <a:off x="0" y="0"/>
                <a:ext cx="263030" cy="1354068"/>
              </a:xfrm>
              <a:custGeom>
                <a:rect b="b" l="l" r="r" t="t"/>
                <a:pathLst>
                  <a:path extrusionOk="0" h="1354068" w="263030">
                    <a:moveTo>
                      <a:pt x="131515" y="0"/>
                    </a:moveTo>
                    <a:lnTo>
                      <a:pt x="131515" y="0"/>
                    </a:lnTo>
                    <a:cubicBezTo>
                      <a:pt x="166395" y="0"/>
                      <a:pt x="199847" y="13856"/>
                      <a:pt x="224510" y="38520"/>
                    </a:cubicBezTo>
                    <a:cubicBezTo>
                      <a:pt x="249174" y="63184"/>
                      <a:pt x="263030" y="96635"/>
                      <a:pt x="263030" y="131515"/>
                    </a:cubicBezTo>
                    <a:lnTo>
                      <a:pt x="263030" y="1222553"/>
                    </a:lnTo>
                    <a:cubicBezTo>
                      <a:pt x="263030" y="1257433"/>
                      <a:pt x="249174" y="1290884"/>
                      <a:pt x="224510" y="1315548"/>
                    </a:cubicBezTo>
                    <a:cubicBezTo>
                      <a:pt x="199847" y="1340212"/>
                      <a:pt x="166395" y="1354068"/>
                      <a:pt x="131515" y="1354068"/>
                    </a:cubicBezTo>
                    <a:lnTo>
                      <a:pt x="131515" y="1354068"/>
                    </a:lnTo>
                    <a:cubicBezTo>
                      <a:pt x="96635" y="1354068"/>
                      <a:pt x="63184" y="1340212"/>
                      <a:pt x="38520" y="1315548"/>
                    </a:cubicBezTo>
                    <a:cubicBezTo>
                      <a:pt x="13856" y="1290884"/>
                      <a:pt x="0" y="1257433"/>
                      <a:pt x="0" y="1222553"/>
                    </a:cubicBezTo>
                    <a:lnTo>
                      <a:pt x="0" y="131515"/>
                    </a:lnTo>
                    <a:cubicBezTo>
                      <a:pt x="0" y="96635"/>
                      <a:pt x="13856" y="63184"/>
                      <a:pt x="38520" y="38520"/>
                    </a:cubicBezTo>
                    <a:cubicBezTo>
                      <a:pt x="63184" y="13856"/>
                      <a:pt x="96635" y="0"/>
                      <a:pt x="131515" y="0"/>
                    </a:cubicBezTo>
                    <a:close/>
                  </a:path>
                </a:pathLst>
              </a:custGeom>
              <a:solidFill>
                <a:srgbClr val="474DB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0" y="-76200"/>
                <a:ext cx="263030" cy="1430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4"/>
            <p:cNvGrpSpPr/>
            <p:nvPr/>
          </p:nvGrpSpPr>
          <p:grpSpPr>
            <a:xfrm>
              <a:off x="439765" y="-385763"/>
              <a:ext cx="18464880" cy="8287860"/>
              <a:chOff x="0" y="-76200"/>
              <a:chExt cx="3647384" cy="1637108"/>
            </a:xfrm>
          </p:grpSpPr>
          <p:sp>
            <p:nvSpPr>
              <p:cNvPr id="199" name="Google Shape;199;p4"/>
              <p:cNvSpPr/>
              <p:nvPr/>
            </p:nvSpPr>
            <p:spPr>
              <a:xfrm>
                <a:off x="0" y="0"/>
                <a:ext cx="3647384" cy="1560908"/>
              </a:xfrm>
              <a:custGeom>
                <a:rect b="b" l="l" r="r" t="t"/>
                <a:pathLst>
                  <a:path extrusionOk="0" h="1560908" w="3647384">
                    <a:moveTo>
                      <a:pt x="16771" y="0"/>
                    </a:moveTo>
                    <a:lnTo>
                      <a:pt x="3630613" y="0"/>
                    </a:lnTo>
                    <a:cubicBezTo>
                      <a:pt x="3639875" y="0"/>
                      <a:pt x="3647384" y="7509"/>
                      <a:pt x="3647384" y="16771"/>
                    </a:cubicBezTo>
                    <a:lnTo>
                      <a:pt x="3647384" y="1544137"/>
                    </a:lnTo>
                    <a:cubicBezTo>
                      <a:pt x="3647384" y="1553399"/>
                      <a:pt x="3639875" y="1560908"/>
                      <a:pt x="3630613" y="1560908"/>
                    </a:cubicBezTo>
                    <a:lnTo>
                      <a:pt x="16771" y="1560908"/>
                    </a:lnTo>
                    <a:cubicBezTo>
                      <a:pt x="7509" y="1560908"/>
                      <a:pt x="0" y="1553399"/>
                      <a:pt x="0" y="1544137"/>
                    </a:cubicBezTo>
                    <a:lnTo>
                      <a:pt x="0" y="16771"/>
                    </a:lnTo>
                    <a:cubicBezTo>
                      <a:pt x="0" y="7509"/>
                      <a:pt x="7509" y="0"/>
                      <a:pt x="16771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4"/>
              <p:cNvSpPr txBox="1"/>
              <p:nvPr/>
            </p:nvSpPr>
            <p:spPr>
              <a:xfrm>
                <a:off x="0" y="-76200"/>
                <a:ext cx="3647384" cy="163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1" name="Google Shape;201;p4"/>
          <p:cNvGrpSpPr/>
          <p:nvPr/>
        </p:nvGrpSpPr>
        <p:grpSpPr>
          <a:xfrm>
            <a:off x="3630393" y="757386"/>
            <a:ext cx="11027215" cy="1848532"/>
            <a:chOff x="0" y="-95250"/>
            <a:chExt cx="3871319" cy="648963"/>
          </a:xfrm>
        </p:grpSpPr>
        <p:sp>
          <p:nvSpPr>
            <p:cNvPr id="202" name="Google Shape;202;p4"/>
            <p:cNvSpPr/>
            <p:nvPr/>
          </p:nvSpPr>
          <p:spPr>
            <a:xfrm>
              <a:off x="0" y="0"/>
              <a:ext cx="3871319" cy="553713"/>
            </a:xfrm>
            <a:custGeom>
              <a:rect b="b" l="l" r="r" t="t"/>
              <a:pathLst>
                <a:path extrusionOk="0" h="553713" w="3871319">
                  <a:moveTo>
                    <a:pt x="14041" y="0"/>
                  </a:moveTo>
                  <a:lnTo>
                    <a:pt x="3857278" y="0"/>
                  </a:lnTo>
                  <a:cubicBezTo>
                    <a:pt x="3861002" y="0"/>
                    <a:pt x="3864573" y="1479"/>
                    <a:pt x="3867207" y="4113"/>
                  </a:cubicBezTo>
                  <a:cubicBezTo>
                    <a:pt x="3869840" y="6746"/>
                    <a:pt x="3871319" y="10317"/>
                    <a:pt x="3871319" y="14041"/>
                  </a:cubicBezTo>
                  <a:lnTo>
                    <a:pt x="3871319" y="539672"/>
                  </a:lnTo>
                  <a:cubicBezTo>
                    <a:pt x="3871319" y="543396"/>
                    <a:pt x="3869840" y="546967"/>
                    <a:pt x="3867207" y="549601"/>
                  </a:cubicBezTo>
                  <a:cubicBezTo>
                    <a:pt x="3864573" y="552234"/>
                    <a:pt x="3861002" y="553713"/>
                    <a:pt x="3857278" y="553713"/>
                  </a:cubicBezTo>
                  <a:lnTo>
                    <a:pt x="14041" y="553713"/>
                  </a:lnTo>
                  <a:cubicBezTo>
                    <a:pt x="6287" y="553713"/>
                    <a:pt x="0" y="547427"/>
                    <a:pt x="0" y="539672"/>
                  </a:cubicBezTo>
                  <a:lnTo>
                    <a:pt x="0" y="14041"/>
                  </a:lnTo>
                  <a:cubicBezTo>
                    <a:pt x="0" y="6287"/>
                    <a:pt x="6287" y="0"/>
                    <a:pt x="14041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4"/>
            <p:cNvSpPr txBox="1"/>
            <p:nvPr/>
          </p:nvSpPr>
          <p:spPr>
            <a:xfrm>
              <a:off x="0" y="-95250"/>
              <a:ext cx="3871319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4" name="Google Shape;204;p4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5666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4"/>
          <p:cNvSpPr/>
          <p:nvPr/>
        </p:nvSpPr>
        <p:spPr>
          <a:xfrm flipH="1">
            <a:off x="4462642" y="8889881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4"/>
          <p:cNvSpPr/>
          <p:nvPr/>
        </p:nvSpPr>
        <p:spPr>
          <a:xfrm>
            <a:off x="9950921" y="3395670"/>
            <a:ext cx="5807564" cy="3092171"/>
          </a:xfrm>
          <a:custGeom>
            <a:rect b="b" l="l" r="r" t="t"/>
            <a:pathLst>
              <a:path extrusionOk="0" h="3092171" w="5807564">
                <a:moveTo>
                  <a:pt x="0" y="0"/>
                </a:moveTo>
                <a:lnTo>
                  <a:pt x="5807565" y="0"/>
                </a:lnTo>
                <a:lnTo>
                  <a:pt x="5807565" y="3092171"/>
                </a:lnTo>
                <a:lnTo>
                  <a:pt x="0" y="3092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4"/>
          <p:cNvSpPr txBox="1"/>
          <p:nvPr/>
        </p:nvSpPr>
        <p:spPr>
          <a:xfrm>
            <a:off x="2761654" y="2645788"/>
            <a:ext cx="6540273" cy="3966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circuitos de control en lógica combinacional son responsables de gestionar el flujo de datos y operaciones dentro de un sistema digital, determinando qué operaciones se realizan y cuándo.</a:t>
            </a:r>
            <a:endParaRPr/>
          </a:p>
        </p:txBody>
      </p:sp>
      <p:sp>
        <p:nvSpPr>
          <p:cNvPr id="208" name="Google Shape;208;p4"/>
          <p:cNvSpPr txBox="1"/>
          <p:nvPr/>
        </p:nvSpPr>
        <p:spPr>
          <a:xfrm>
            <a:off x="4122190" y="1359308"/>
            <a:ext cx="10043621" cy="762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Circuitos de Control</a:t>
            </a:r>
            <a:endParaRPr/>
          </a:p>
        </p:txBody>
      </p:sp>
      <p:sp>
        <p:nvSpPr>
          <p:cNvPr id="209" name="Google Shape;209;p4"/>
          <p:cNvSpPr txBox="1"/>
          <p:nvPr/>
        </p:nvSpPr>
        <p:spPr>
          <a:xfrm>
            <a:off x="1690707" y="8832671"/>
            <a:ext cx="4724319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Circuitos de control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215" name="Google Shape;215;p5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5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solidFill>
            <a:srgbClr val="15193E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5"/>
          <p:cNvSpPr/>
          <p:nvPr/>
        </p:nvSpPr>
        <p:spPr>
          <a:xfrm>
            <a:off x="-1140752" y="897890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3" y="0"/>
                </a:lnTo>
                <a:lnTo>
                  <a:pt x="2724333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9" name="Google Shape;21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8118" y="2894668"/>
            <a:ext cx="11091193" cy="690489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5"/>
          <p:cNvSpPr txBox="1"/>
          <p:nvPr/>
        </p:nvSpPr>
        <p:spPr>
          <a:xfrm>
            <a:off x="3231253" y="150525"/>
            <a:ext cx="3635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Características: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1795000" y="899925"/>
            <a:ext cx="79119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No poseen memoria; las salidas dependen únicamente de las entradas actuales.</a:t>
            </a:r>
            <a:endParaRPr sz="22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Utilizan puertas lógicas para implementar funciones booleanas.</a:t>
            </a:r>
            <a:endParaRPr sz="2200"/>
          </a:p>
        </p:txBody>
      </p:sp>
      <p:sp>
        <p:nvSpPr>
          <p:cNvPr id="222" name="Google Shape;222;p5"/>
          <p:cNvSpPr txBox="1"/>
          <p:nvPr/>
        </p:nvSpPr>
        <p:spPr>
          <a:xfrm>
            <a:off x="10017641" y="150525"/>
            <a:ext cx="3635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Aplicaciones: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9776271" y="899919"/>
            <a:ext cx="81711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Selección de operaciones en unidades aritmético-lógicas (ALU).</a:t>
            </a:r>
            <a:endParaRPr sz="22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Control de rutas de datos en procesadores.</a:t>
            </a:r>
            <a:endParaRPr sz="2200"/>
          </a:p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Gestión de señales en sistemas de comunicación.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grpSp>
        <p:nvGrpSpPr>
          <p:cNvPr id="229" name="Google Shape;229;p6"/>
          <p:cNvGrpSpPr/>
          <p:nvPr/>
        </p:nvGrpSpPr>
        <p:grpSpPr>
          <a:xfrm>
            <a:off x="268813" y="1316576"/>
            <a:ext cx="8466939" cy="6946012"/>
            <a:chOff x="0" y="-472110"/>
            <a:chExt cx="11289252" cy="9261350"/>
          </a:xfrm>
        </p:grpSpPr>
        <p:grpSp>
          <p:nvGrpSpPr>
            <p:cNvPr id="230" name="Google Shape;230;p6"/>
            <p:cNvGrpSpPr/>
            <p:nvPr/>
          </p:nvGrpSpPr>
          <p:grpSpPr>
            <a:xfrm rot="10800000">
              <a:off x="0" y="5524586"/>
              <a:ext cx="11289252" cy="3264654"/>
              <a:chOff x="0" y="-76200"/>
              <a:chExt cx="1822121" cy="526926"/>
            </a:xfrm>
          </p:grpSpPr>
          <p:sp>
            <p:nvSpPr>
              <p:cNvPr id="231" name="Google Shape;231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 txBox="1"/>
              <p:nvPr/>
            </p:nvSpPr>
            <p:spPr>
              <a:xfrm>
                <a:off x="0" y="-76200"/>
                <a:ext cx="1822121" cy="526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6"/>
            <p:cNvGrpSpPr/>
            <p:nvPr/>
          </p:nvGrpSpPr>
          <p:grpSpPr>
            <a:xfrm>
              <a:off x="0" y="-472110"/>
              <a:ext cx="11289252" cy="8211683"/>
              <a:chOff x="0" y="-76200"/>
              <a:chExt cx="1822121" cy="1325391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E4E5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 txBox="1"/>
              <p:nvPr/>
            </p:nvSpPr>
            <p:spPr>
              <a:xfrm>
                <a:off x="0" y="-76200"/>
                <a:ext cx="1822121" cy="1325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" name="Google Shape;236;p6"/>
          <p:cNvGrpSpPr/>
          <p:nvPr/>
        </p:nvGrpSpPr>
        <p:grpSpPr>
          <a:xfrm>
            <a:off x="2149341" y="595396"/>
            <a:ext cx="4705886" cy="1877573"/>
            <a:chOff x="0" y="-95250"/>
            <a:chExt cx="1626539" cy="648963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32903" y="0"/>
                  </a:moveTo>
                  <a:lnTo>
                    <a:pt x="1593635" y="0"/>
                  </a:lnTo>
                  <a:cubicBezTo>
                    <a:pt x="1602362" y="0"/>
                    <a:pt x="1610731" y="3467"/>
                    <a:pt x="1616901" y="9637"/>
                  </a:cubicBezTo>
                  <a:cubicBezTo>
                    <a:pt x="1623072" y="15808"/>
                    <a:pt x="1626539" y="24177"/>
                    <a:pt x="1626539" y="32903"/>
                  </a:cubicBezTo>
                  <a:lnTo>
                    <a:pt x="1626539" y="520810"/>
                  </a:lnTo>
                  <a:cubicBezTo>
                    <a:pt x="1626539" y="538982"/>
                    <a:pt x="1611807" y="553713"/>
                    <a:pt x="1593635" y="553713"/>
                  </a:cubicBezTo>
                  <a:lnTo>
                    <a:pt x="32903" y="553713"/>
                  </a:lnTo>
                  <a:cubicBezTo>
                    <a:pt x="14731" y="553713"/>
                    <a:pt x="0" y="538982"/>
                    <a:pt x="0" y="520810"/>
                  </a:cubicBezTo>
                  <a:lnTo>
                    <a:pt x="0" y="32903"/>
                  </a:lnTo>
                  <a:cubicBezTo>
                    <a:pt x="0" y="14731"/>
                    <a:pt x="14731" y="0"/>
                    <a:pt x="32903" y="0"/>
                  </a:cubicBezTo>
                  <a:close/>
                </a:path>
              </a:pathLst>
            </a:custGeom>
            <a:solidFill>
              <a:srgbClr val="566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 txBox="1"/>
            <p:nvPr/>
          </p:nvSpPr>
          <p:spPr>
            <a:xfrm>
              <a:off x="0" y="-95250"/>
              <a:ext cx="1626538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39" name="Google Shape;239;p6"/>
          <p:cNvCxnSpPr/>
          <p:nvPr/>
        </p:nvCxnSpPr>
        <p:spPr>
          <a:xfrm>
            <a:off x="-5493053" y="86144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E4E5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6"/>
          <p:cNvSpPr/>
          <p:nvPr/>
        </p:nvSpPr>
        <p:spPr>
          <a:xfrm flipH="1">
            <a:off x="6759432" y="8839598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6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6"/>
          <p:cNvSpPr txBox="1"/>
          <p:nvPr/>
        </p:nvSpPr>
        <p:spPr>
          <a:xfrm>
            <a:off x="2630199" y="1228069"/>
            <a:ext cx="3744166" cy="67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1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Sumador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731568" y="2611666"/>
            <a:ext cx="75414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Un sumador es un circuito combinacional que realiza la adición de números binarios.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Semisumador: 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Suma dos bits y produce una suma y un acarreo.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Sumador completo: 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Suma tres bits (incluyendo un acarreo de entrada) y produce una suma y un acarreo de salida.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Sumador en serie: 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Conecta múltiples sumadores completos para sumar números de varios bits.​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1420968" y="8782387"/>
            <a:ext cx="5195067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sumador y restador de 2  números</a:t>
            </a:r>
            <a:endParaRPr/>
          </a:p>
        </p:txBody>
      </p:sp>
      <p:grpSp>
        <p:nvGrpSpPr>
          <p:cNvPr id="245" name="Google Shape;245;p6"/>
          <p:cNvGrpSpPr/>
          <p:nvPr/>
        </p:nvGrpSpPr>
        <p:grpSpPr>
          <a:xfrm>
            <a:off x="9416063" y="1316576"/>
            <a:ext cx="8466939" cy="6946012"/>
            <a:chOff x="0" y="-472110"/>
            <a:chExt cx="11289252" cy="9261350"/>
          </a:xfrm>
        </p:grpSpPr>
        <p:grpSp>
          <p:nvGrpSpPr>
            <p:cNvPr id="246" name="Google Shape;246;p6"/>
            <p:cNvGrpSpPr/>
            <p:nvPr/>
          </p:nvGrpSpPr>
          <p:grpSpPr>
            <a:xfrm rot="10800000">
              <a:off x="0" y="5524586"/>
              <a:ext cx="11289252" cy="3264654"/>
              <a:chOff x="0" y="-76200"/>
              <a:chExt cx="1822121" cy="526926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0" y="0"/>
                <a:ext cx="1822121" cy="450726"/>
              </a:xfrm>
              <a:custGeom>
                <a:rect b="b" l="l" r="r" t="t"/>
                <a:pathLst>
                  <a:path extrusionOk="0" h="450726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417154"/>
                    </a:lnTo>
                    <a:cubicBezTo>
                      <a:pt x="1822121" y="435695"/>
                      <a:pt x="1807091" y="450726"/>
                      <a:pt x="1788550" y="450726"/>
                    </a:cubicBezTo>
                    <a:lnTo>
                      <a:pt x="33571" y="450726"/>
                    </a:lnTo>
                    <a:cubicBezTo>
                      <a:pt x="15030" y="450726"/>
                      <a:pt x="0" y="435695"/>
                      <a:pt x="0" y="417154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 txBox="1"/>
              <p:nvPr/>
            </p:nvSpPr>
            <p:spPr>
              <a:xfrm>
                <a:off x="0" y="-76200"/>
                <a:ext cx="1822121" cy="5269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6"/>
            <p:cNvGrpSpPr/>
            <p:nvPr/>
          </p:nvGrpSpPr>
          <p:grpSpPr>
            <a:xfrm>
              <a:off x="0" y="-472110"/>
              <a:ext cx="11289252" cy="8211683"/>
              <a:chOff x="0" y="-76200"/>
              <a:chExt cx="1822121" cy="1325391"/>
            </a:xfrm>
          </p:grpSpPr>
          <p:sp>
            <p:nvSpPr>
              <p:cNvPr id="250" name="Google Shape;250;p6"/>
              <p:cNvSpPr/>
              <p:nvPr/>
            </p:nvSpPr>
            <p:spPr>
              <a:xfrm>
                <a:off x="0" y="0"/>
                <a:ext cx="1822121" cy="1249191"/>
              </a:xfrm>
              <a:custGeom>
                <a:rect b="b" l="l" r="r" t="t"/>
                <a:pathLst>
                  <a:path extrusionOk="0" h="1249191" w="1822121">
                    <a:moveTo>
                      <a:pt x="33571" y="0"/>
                    </a:moveTo>
                    <a:lnTo>
                      <a:pt x="1788550" y="0"/>
                    </a:lnTo>
                    <a:cubicBezTo>
                      <a:pt x="1797453" y="0"/>
                      <a:pt x="1805992" y="3537"/>
                      <a:pt x="1812288" y="9833"/>
                    </a:cubicBezTo>
                    <a:cubicBezTo>
                      <a:pt x="1818584" y="16129"/>
                      <a:pt x="1822121" y="24668"/>
                      <a:pt x="1822121" y="33571"/>
                    </a:cubicBezTo>
                    <a:lnTo>
                      <a:pt x="1822121" y="1215619"/>
                    </a:lnTo>
                    <a:cubicBezTo>
                      <a:pt x="1822121" y="1234160"/>
                      <a:pt x="1807091" y="1249191"/>
                      <a:pt x="1788550" y="1249191"/>
                    </a:cubicBezTo>
                    <a:lnTo>
                      <a:pt x="33571" y="1249191"/>
                    </a:lnTo>
                    <a:cubicBezTo>
                      <a:pt x="15030" y="1249191"/>
                      <a:pt x="0" y="1234160"/>
                      <a:pt x="0" y="1215619"/>
                    </a:cubicBezTo>
                    <a:lnTo>
                      <a:pt x="0" y="33571"/>
                    </a:lnTo>
                    <a:cubicBezTo>
                      <a:pt x="0" y="15030"/>
                      <a:pt x="15030" y="0"/>
                      <a:pt x="33571" y="0"/>
                    </a:cubicBezTo>
                    <a:close/>
                  </a:path>
                </a:pathLst>
              </a:custGeom>
              <a:solidFill>
                <a:srgbClr val="E4E5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 txBox="1"/>
              <p:nvPr/>
            </p:nvSpPr>
            <p:spPr>
              <a:xfrm>
                <a:off x="0" y="-76200"/>
                <a:ext cx="1822121" cy="1325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" name="Google Shape;252;p6"/>
          <p:cNvGrpSpPr/>
          <p:nvPr/>
        </p:nvGrpSpPr>
        <p:grpSpPr>
          <a:xfrm>
            <a:off x="11296591" y="595396"/>
            <a:ext cx="4705886" cy="1877573"/>
            <a:chOff x="0" y="-95250"/>
            <a:chExt cx="1626539" cy="648963"/>
          </a:xfrm>
        </p:grpSpPr>
        <p:sp>
          <p:nvSpPr>
            <p:cNvPr id="253" name="Google Shape;253;p6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32903" y="0"/>
                  </a:moveTo>
                  <a:lnTo>
                    <a:pt x="1593635" y="0"/>
                  </a:lnTo>
                  <a:cubicBezTo>
                    <a:pt x="1602362" y="0"/>
                    <a:pt x="1610731" y="3467"/>
                    <a:pt x="1616901" y="9637"/>
                  </a:cubicBezTo>
                  <a:cubicBezTo>
                    <a:pt x="1623072" y="15808"/>
                    <a:pt x="1626539" y="24177"/>
                    <a:pt x="1626539" y="32903"/>
                  </a:cubicBezTo>
                  <a:lnTo>
                    <a:pt x="1626539" y="520810"/>
                  </a:lnTo>
                  <a:cubicBezTo>
                    <a:pt x="1626539" y="538982"/>
                    <a:pt x="1611807" y="553713"/>
                    <a:pt x="1593635" y="553713"/>
                  </a:cubicBezTo>
                  <a:lnTo>
                    <a:pt x="32903" y="553713"/>
                  </a:lnTo>
                  <a:cubicBezTo>
                    <a:pt x="14731" y="553713"/>
                    <a:pt x="0" y="538982"/>
                    <a:pt x="0" y="520810"/>
                  </a:cubicBezTo>
                  <a:lnTo>
                    <a:pt x="0" y="32903"/>
                  </a:lnTo>
                  <a:cubicBezTo>
                    <a:pt x="0" y="14731"/>
                    <a:pt x="14731" y="0"/>
                    <a:pt x="32903" y="0"/>
                  </a:cubicBezTo>
                  <a:close/>
                </a:path>
              </a:pathLst>
            </a:custGeom>
            <a:solidFill>
              <a:srgbClr val="566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 txBox="1"/>
            <p:nvPr/>
          </p:nvSpPr>
          <p:spPr>
            <a:xfrm>
              <a:off x="0" y="-95250"/>
              <a:ext cx="1626538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6"/>
          <p:cNvSpPr txBox="1"/>
          <p:nvPr/>
        </p:nvSpPr>
        <p:spPr>
          <a:xfrm>
            <a:off x="11777450" y="1228069"/>
            <a:ext cx="3744166" cy="67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1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Restador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9955019" y="2611666"/>
            <a:ext cx="7541400" cy="4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Un restador es un circuito combinacional que realiza la sustracción de números binarios.​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Semirestador: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 Resta dos bits y produce una diferencia y un préstamo.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Restador completo: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 Resta tres bits (incluyendo un préstamo de entrada) y produce una diferencia y un préstamo de salida.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Restador en serie:</a:t>
            </a:r>
            <a:r>
              <a:rPr b="0" i="0" lang="en-US" sz="2243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 Conecta múltiples restadores completos para restar números de varios bits.​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43" u="none" cap="none" strike="noStrike">
              <a:solidFill>
                <a:srgbClr val="1519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262" name="Google Shape;262;p7"/>
          <p:cNvSpPr/>
          <p:nvPr/>
        </p:nvSpPr>
        <p:spPr>
          <a:xfrm>
            <a:off x="5963354" y="662936"/>
            <a:ext cx="6778132" cy="3534032"/>
          </a:xfrm>
          <a:custGeom>
            <a:rect b="b" l="l" r="r" t="t"/>
            <a:pathLst>
              <a:path extrusionOk="0" h="3534032" w="6778132">
                <a:moveTo>
                  <a:pt x="0" y="0"/>
                </a:moveTo>
                <a:lnTo>
                  <a:pt x="6778132" y="0"/>
                </a:lnTo>
                <a:lnTo>
                  <a:pt x="6778132" y="3534032"/>
                </a:lnTo>
                <a:lnTo>
                  <a:pt x="0" y="3534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7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solidFill>
            <a:srgbClr val="5666F8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 flipH="1">
            <a:off x="1981506" y="859902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4"/>
                </a:lnTo>
                <a:lnTo>
                  <a:pt x="707704" y="337124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7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7"/>
          <p:cNvSpPr/>
          <p:nvPr/>
        </p:nvSpPr>
        <p:spPr>
          <a:xfrm>
            <a:off x="3690038" y="2684925"/>
            <a:ext cx="11324757" cy="7205414"/>
          </a:xfrm>
          <a:custGeom>
            <a:rect b="b" l="l" r="r" t="t"/>
            <a:pathLst>
              <a:path extrusionOk="0" h="7544936" w="11765981">
                <a:moveTo>
                  <a:pt x="0" y="0"/>
                </a:moveTo>
                <a:lnTo>
                  <a:pt x="11765982" y="0"/>
                </a:lnTo>
                <a:lnTo>
                  <a:pt x="11765982" y="7544936"/>
                </a:lnTo>
                <a:lnTo>
                  <a:pt x="0" y="7544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7"/>
          <p:cNvSpPr txBox="1"/>
          <p:nvPr/>
        </p:nvSpPr>
        <p:spPr>
          <a:xfrm>
            <a:off x="1560679" y="9"/>
            <a:ext cx="2704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 sz="1100"/>
          </a:p>
        </p:txBody>
      </p:sp>
      <p:sp>
        <p:nvSpPr>
          <p:cNvPr id="268" name="Google Shape;268;p7"/>
          <p:cNvSpPr txBox="1"/>
          <p:nvPr/>
        </p:nvSpPr>
        <p:spPr>
          <a:xfrm>
            <a:off x="2417243" y="1113175"/>
            <a:ext cx="79638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aritméticas en procesadores.</a:t>
            </a:r>
            <a:endParaRPr sz="2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Cálculo de direcciones en memoria.</a:t>
            </a:r>
            <a:endParaRPr sz="2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Implementación de contadores.​</a:t>
            </a:r>
            <a:endParaRPr sz="2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9945202" y="923925"/>
            <a:ext cx="79638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aritméticas en procesadores.</a:t>
            </a:r>
            <a:endParaRPr sz="2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Cálculo de diferencias en sistemas de control.</a:t>
            </a:r>
            <a:endParaRPr sz="2200"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Implementación de contadores decrecientes.​</a:t>
            </a:r>
            <a:endParaRPr sz="2200"/>
          </a:p>
        </p:txBody>
      </p:sp>
      <p:sp>
        <p:nvSpPr>
          <p:cNvPr id="270" name="Google Shape;270;p7"/>
          <p:cNvSpPr txBox="1"/>
          <p:nvPr/>
        </p:nvSpPr>
        <p:spPr>
          <a:xfrm>
            <a:off x="2035581" y="662936"/>
            <a:ext cx="796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Sumador:</a:t>
            </a:r>
            <a:endParaRPr sz="2200"/>
          </a:p>
        </p:txBody>
      </p:sp>
      <p:sp>
        <p:nvSpPr>
          <p:cNvPr id="271" name="Google Shape;271;p7"/>
          <p:cNvSpPr txBox="1"/>
          <p:nvPr/>
        </p:nvSpPr>
        <p:spPr>
          <a:xfrm>
            <a:off x="9777595" y="590783"/>
            <a:ext cx="796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Restador: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277" name="Google Shape;277;p8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solidFill>
            <a:srgbClr val="F4F6FC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8"/>
          <p:cNvSpPr/>
          <p:nvPr/>
        </p:nvSpPr>
        <p:spPr>
          <a:xfrm>
            <a:off x="16590199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0" name="Google Shape;280;p8"/>
          <p:cNvGrpSpPr/>
          <p:nvPr/>
        </p:nvGrpSpPr>
        <p:grpSpPr>
          <a:xfrm>
            <a:off x="268813" y="1451229"/>
            <a:ext cx="8442661" cy="6623914"/>
            <a:chOff x="0" y="-292572"/>
            <a:chExt cx="11256881" cy="8831885"/>
          </a:xfrm>
        </p:grpSpPr>
        <p:grpSp>
          <p:nvGrpSpPr>
            <p:cNvPr id="281" name="Google Shape;281;p8"/>
            <p:cNvGrpSpPr/>
            <p:nvPr/>
          </p:nvGrpSpPr>
          <p:grpSpPr>
            <a:xfrm rot="10800000">
              <a:off x="0" y="5477831"/>
              <a:ext cx="11256881" cy="3061482"/>
              <a:chOff x="0" y="-47625"/>
              <a:chExt cx="1832404" cy="498351"/>
            </a:xfrm>
          </p:grpSpPr>
          <p:sp>
            <p:nvSpPr>
              <p:cNvPr id="282" name="Google Shape;282;p8"/>
              <p:cNvSpPr/>
              <p:nvPr/>
            </p:nvSpPr>
            <p:spPr>
              <a:xfrm>
                <a:off x="0" y="0"/>
                <a:ext cx="1832404" cy="450726"/>
              </a:xfrm>
              <a:custGeom>
                <a:rect b="b" l="l" r="r" t="t"/>
                <a:pathLst>
                  <a:path extrusionOk="0" h="450726" w="1832404">
                    <a:moveTo>
                      <a:pt x="33383" y="0"/>
                    </a:moveTo>
                    <a:lnTo>
                      <a:pt x="1799021" y="0"/>
                    </a:lnTo>
                    <a:cubicBezTo>
                      <a:pt x="1817458" y="0"/>
                      <a:pt x="1832404" y="14946"/>
                      <a:pt x="1832404" y="33383"/>
                    </a:cubicBezTo>
                    <a:lnTo>
                      <a:pt x="1832404" y="417343"/>
                    </a:lnTo>
                    <a:cubicBezTo>
                      <a:pt x="1832404" y="435780"/>
                      <a:pt x="1817458" y="450726"/>
                      <a:pt x="1799021" y="450726"/>
                    </a:cubicBezTo>
                    <a:lnTo>
                      <a:pt x="33383" y="450726"/>
                    </a:lnTo>
                    <a:cubicBezTo>
                      <a:pt x="24529" y="450726"/>
                      <a:pt x="16038" y="447208"/>
                      <a:pt x="9778" y="440948"/>
                    </a:cubicBezTo>
                    <a:cubicBezTo>
                      <a:pt x="3517" y="434687"/>
                      <a:pt x="0" y="426196"/>
                      <a:pt x="0" y="417343"/>
                    </a:cubicBezTo>
                    <a:lnTo>
                      <a:pt x="0" y="33383"/>
                    </a:lnTo>
                    <a:cubicBezTo>
                      <a:pt x="0" y="14946"/>
                      <a:pt x="14946" y="0"/>
                      <a:pt x="33383" y="0"/>
                    </a:cubicBezTo>
                    <a:close/>
                  </a:path>
                </a:pathLst>
              </a:custGeom>
              <a:solidFill>
                <a:srgbClr val="CAE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8"/>
              <p:cNvSpPr txBox="1"/>
              <p:nvPr/>
            </p:nvSpPr>
            <p:spPr>
              <a:xfrm>
                <a:off x="0" y="-47625"/>
                <a:ext cx="1832404" cy="4983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p8"/>
            <p:cNvGrpSpPr/>
            <p:nvPr/>
          </p:nvGrpSpPr>
          <p:grpSpPr>
            <a:xfrm>
              <a:off x="0" y="-292572"/>
              <a:ext cx="11256881" cy="7966644"/>
              <a:chOff x="0" y="-47625"/>
              <a:chExt cx="1832404" cy="1296816"/>
            </a:xfrm>
          </p:grpSpPr>
          <p:sp>
            <p:nvSpPr>
              <p:cNvPr id="285" name="Google Shape;285;p8"/>
              <p:cNvSpPr/>
              <p:nvPr/>
            </p:nvSpPr>
            <p:spPr>
              <a:xfrm>
                <a:off x="0" y="0"/>
                <a:ext cx="1832404" cy="1249191"/>
              </a:xfrm>
              <a:custGeom>
                <a:rect b="b" l="l" r="r" t="t"/>
                <a:pathLst>
                  <a:path extrusionOk="0" h="1249191" w="1832404">
                    <a:moveTo>
                      <a:pt x="33383" y="0"/>
                    </a:moveTo>
                    <a:lnTo>
                      <a:pt x="1799021" y="0"/>
                    </a:lnTo>
                    <a:cubicBezTo>
                      <a:pt x="1817458" y="0"/>
                      <a:pt x="1832404" y="14946"/>
                      <a:pt x="1832404" y="33383"/>
                    </a:cubicBezTo>
                    <a:lnTo>
                      <a:pt x="1832404" y="1215808"/>
                    </a:lnTo>
                    <a:cubicBezTo>
                      <a:pt x="1832404" y="1234245"/>
                      <a:pt x="1817458" y="1249191"/>
                      <a:pt x="1799021" y="1249191"/>
                    </a:cubicBezTo>
                    <a:lnTo>
                      <a:pt x="33383" y="1249191"/>
                    </a:lnTo>
                    <a:cubicBezTo>
                      <a:pt x="14946" y="1249191"/>
                      <a:pt x="0" y="1234245"/>
                      <a:pt x="0" y="1215808"/>
                    </a:cubicBezTo>
                    <a:lnTo>
                      <a:pt x="0" y="33383"/>
                    </a:lnTo>
                    <a:cubicBezTo>
                      <a:pt x="0" y="14946"/>
                      <a:pt x="14946" y="0"/>
                      <a:pt x="33383" y="0"/>
                    </a:cubicBezTo>
                    <a:close/>
                  </a:path>
                </a:pathLst>
              </a:custGeom>
              <a:solidFill>
                <a:srgbClr val="050A3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8"/>
              <p:cNvSpPr txBox="1"/>
              <p:nvPr/>
            </p:nvSpPr>
            <p:spPr>
              <a:xfrm>
                <a:off x="0" y="-47625"/>
                <a:ext cx="1832404" cy="1296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7" name="Google Shape;287;p8"/>
          <p:cNvGrpSpPr/>
          <p:nvPr/>
        </p:nvGrpSpPr>
        <p:grpSpPr>
          <a:xfrm>
            <a:off x="2149341" y="705626"/>
            <a:ext cx="4705886" cy="1767343"/>
            <a:chOff x="0" y="-57150"/>
            <a:chExt cx="1626539" cy="610863"/>
          </a:xfrm>
        </p:grpSpPr>
        <p:sp>
          <p:nvSpPr>
            <p:cNvPr id="288" name="Google Shape;288;p8"/>
            <p:cNvSpPr/>
            <p:nvPr/>
          </p:nvSpPr>
          <p:spPr>
            <a:xfrm>
              <a:off x="0" y="0"/>
              <a:ext cx="1626539" cy="553713"/>
            </a:xfrm>
            <a:custGeom>
              <a:rect b="b" l="l" r="r" t="t"/>
              <a:pathLst>
                <a:path extrusionOk="0" h="553713" w="1626539">
                  <a:moveTo>
                    <a:pt x="32903" y="0"/>
                  </a:moveTo>
                  <a:lnTo>
                    <a:pt x="1593635" y="0"/>
                  </a:lnTo>
                  <a:cubicBezTo>
                    <a:pt x="1602362" y="0"/>
                    <a:pt x="1610731" y="3467"/>
                    <a:pt x="1616901" y="9637"/>
                  </a:cubicBezTo>
                  <a:cubicBezTo>
                    <a:pt x="1623072" y="15808"/>
                    <a:pt x="1626539" y="24177"/>
                    <a:pt x="1626539" y="32903"/>
                  </a:cubicBezTo>
                  <a:lnTo>
                    <a:pt x="1626539" y="520810"/>
                  </a:lnTo>
                  <a:cubicBezTo>
                    <a:pt x="1626539" y="538982"/>
                    <a:pt x="1611807" y="553713"/>
                    <a:pt x="1593635" y="553713"/>
                  </a:cubicBezTo>
                  <a:lnTo>
                    <a:pt x="32903" y="553713"/>
                  </a:lnTo>
                  <a:cubicBezTo>
                    <a:pt x="14731" y="553713"/>
                    <a:pt x="0" y="538982"/>
                    <a:pt x="0" y="520810"/>
                  </a:cubicBezTo>
                  <a:lnTo>
                    <a:pt x="0" y="32903"/>
                  </a:lnTo>
                  <a:cubicBezTo>
                    <a:pt x="0" y="14731"/>
                    <a:pt x="14731" y="0"/>
                    <a:pt x="32903" y="0"/>
                  </a:cubicBezTo>
                  <a:close/>
                </a:path>
              </a:pathLst>
            </a:custGeom>
            <a:solidFill>
              <a:srgbClr val="CAE8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 txBox="1"/>
            <p:nvPr/>
          </p:nvSpPr>
          <p:spPr>
            <a:xfrm>
              <a:off x="0" y="-57150"/>
              <a:ext cx="1626538" cy="610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0" name="Google Shape;290;p8"/>
          <p:cNvCxnSpPr/>
          <p:nvPr/>
        </p:nvCxnSpPr>
        <p:spPr>
          <a:xfrm>
            <a:off x="-5493053" y="86144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050A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8"/>
          <p:cNvSpPr/>
          <p:nvPr/>
        </p:nvSpPr>
        <p:spPr>
          <a:xfrm>
            <a:off x="8942502" y="861447"/>
            <a:ext cx="9009863" cy="8345386"/>
          </a:xfrm>
          <a:custGeom>
            <a:rect b="b" l="l" r="r" t="t"/>
            <a:pathLst>
              <a:path extrusionOk="0" h="8345386" w="9009863">
                <a:moveTo>
                  <a:pt x="0" y="0"/>
                </a:moveTo>
                <a:lnTo>
                  <a:pt x="9009863" y="0"/>
                </a:lnTo>
                <a:lnTo>
                  <a:pt x="9009863" y="8345385"/>
                </a:lnTo>
                <a:lnTo>
                  <a:pt x="0" y="8345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8"/>
          <p:cNvSpPr txBox="1"/>
          <p:nvPr/>
        </p:nvSpPr>
        <p:spPr>
          <a:xfrm>
            <a:off x="2630199" y="1275694"/>
            <a:ext cx="3744166" cy="62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16" u="none" cap="none" strike="noStrike">
                <a:solidFill>
                  <a:srgbClr val="12229D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807768" y="2649766"/>
            <a:ext cx="7541400" cy="46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Un multiplicador es un circuito combinacional que realiza la multiplicación de números binarios.​</a:t>
            </a:r>
            <a:endParaRPr/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43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Funcionamiento:</a:t>
            </a:r>
            <a:endParaRPr/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43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2142" lvl="1" marL="484284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243"/>
              <a:buFont typeface="Arial"/>
              <a:buChar char="•"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Genera productos parciales desplazados y los suma para obtener el resultado final.</a:t>
            </a:r>
            <a:endParaRPr/>
          </a:p>
          <a:p>
            <a:pPr indent="-242142" lvl="1" marL="484284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Clr>
                <a:srgbClr val="F4F6FC"/>
              </a:buClr>
              <a:buSzPts val="2243"/>
              <a:buFont typeface="Arial"/>
              <a:buChar char="•"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Puede implementarse mediante sumadores y desplazadores.​</a:t>
            </a:r>
            <a:endParaRPr/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43" u="none" cap="none" strike="noStrike">
              <a:solidFill>
                <a:srgbClr val="F4F6F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E5EC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9"/>
          <p:cNvGrpSpPr/>
          <p:nvPr/>
        </p:nvGrpSpPr>
        <p:grpSpPr>
          <a:xfrm>
            <a:off x="1253085" y="1523231"/>
            <a:ext cx="16381578" cy="7563399"/>
            <a:chOff x="0" y="-508102"/>
            <a:chExt cx="21842104" cy="10084532"/>
          </a:xfrm>
        </p:grpSpPr>
        <p:grpSp>
          <p:nvGrpSpPr>
            <p:cNvPr id="299" name="Google Shape;299;p9"/>
            <p:cNvGrpSpPr/>
            <p:nvPr/>
          </p:nvGrpSpPr>
          <p:grpSpPr>
            <a:xfrm rot="10800000">
              <a:off x="0" y="5840030"/>
              <a:ext cx="21842104" cy="3736399"/>
              <a:chOff x="0" y="-76200"/>
              <a:chExt cx="3275654" cy="560347"/>
            </a:xfrm>
          </p:grpSpPr>
          <p:sp>
            <p:nvSpPr>
              <p:cNvPr id="300" name="Google Shape;300;p9"/>
              <p:cNvSpPr/>
              <p:nvPr/>
            </p:nvSpPr>
            <p:spPr>
              <a:xfrm>
                <a:off x="0" y="0"/>
                <a:ext cx="3275654" cy="484147"/>
              </a:xfrm>
              <a:custGeom>
                <a:rect b="b" l="l" r="r" t="t"/>
                <a:pathLst>
                  <a:path extrusionOk="0" h="484147" w="3275654">
                    <a:moveTo>
                      <a:pt x="28342" y="0"/>
                    </a:moveTo>
                    <a:lnTo>
                      <a:pt x="3247312" y="0"/>
                    </a:lnTo>
                    <a:cubicBezTo>
                      <a:pt x="3254829" y="0"/>
                      <a:pt x="3262038" y="2986"/>
                      <a:pt x="3267353" y="8301"/>
                    </a:cubicBezTo>
                    <a:cubicBezTo>
                      <a:pt x="3272668" y="13616"/>
                      <a:pt x="3275654" y="20825"/>
                      <a:pt x="3275654" y="28342"/>
                    </a:cubicBezTo>
                    <a:lnTo>
                      <a:pt x="3275654" y="455805"/>
                    </a:lnTo>
                    <a:cubicBezTo>
                      <a:pt x="3275654" y="471458"/>
                      <a:pt x="3262965" y="484147"/>
                      <a:pt x="3247312" y="484147"/>
                    </a:cubicBezTo>
                    <a:lnTo>
                      <a:pt x="28342" y="484147"/>
                    </a:lnTo>
                    <a:cubicBezTo>
                      <a:pt x="20825" y="484147"/>
                      <a:pt x="13616" y="481161"/>
                      <a:pt x="8301" y="475846"/>
                    </a:cubicBezTo>
                    <a:cubicBezTo>
                      <a:pt x="2986" y="470530"/>
                      <a:pt x="0" y="463322"/>
                      <a:pt x="0" y="455805"/>
                    </a:cubicBezTo>
                    <a:lnTo>
                      <a:pt x="0" y="28342"/>
                    </a:lnTo>
                    <a:cubicBezTo>
                      <a:pt x="0" y="20825"/>
                      <a:pt x="2986" y="13616"/>
                      <a:pt x="8301" y="8301"/>
                    </a:cubicBezTo>
                    <a:cubicBezTo>
                      <a:pt x="13616" y="2986"/>
                      <a:pt x="20825" y="0"/>
                      <a:pt x="28342" y="0"/>
                    </a:cubicBezTo>
                    <a:close/>
                  </a:path>
                </a:pathLst>
              </a:custGeom>
              <a:solidFill>
                <a:srgbClr val="15193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9"/>
              <p:cNvSpPr txBox="1"/>
              <p:nvPr/>
            </p:nvSpPr>
            <p:spPr>
              <a:xfrm>
                <a:off x="0" y="-76200"/>
                <a:ext cx="3275654" cy="5603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2" name="Google Shape;302;p9"/>
            <p:cNvGrpSpPr/>
            <p:nvPr/>
          </p:nvGrpSpPr>
          <p:grpSpPr>
            <a:xfrm>
              <a:off x="0" y="-508102"/>
              <a:ext cx="21842104" cy="8872774"/>
              <a:chOff x="0" y="-76200"/>
              <a:chExt cx="3275654" cy="1330648"/>
            </a:xfrm>
          </p:grpSpPr>
          <p:sp>
            <p:nvSpPr>
              <p:cNvPr id="303" name="Google Shape;303;p9"/>
              <p:cNvSpPr/>
              <p:nvPr/>
            </p:nvSpPr>
            <p:spPr>
              <a:xfrm>
                <a:off x="0" y="0"/>
                <a:ext cx="3275654" cy="1254448"/>
              </a:xfrm>
              <a:custGeom>
                <a:rect b="b" l="l" r="r" t="t"/>
                <a:pathLst>
                  <a:path extrusionOk="0" h="1254448" w="3275654">
                    <a:moveTo>
                      <a:pt x="28342" y="0"/>
                    </a:moveTo>
                    <a:lnTo>
                      <a:pt x="3247312" y="0"/>
                    </a:lnTo>
                    <a:cubicBezTo>
                      <a:pt x="3254829" y="0"/>
                      <a:pt x="3262038" y="2986"/>
                      <a:pt x="3267353" y="8301"/>
                    </a:cubicBezTo>
                    <a:cubicBezTo>
                      <a:pt x="3272668" y="13616"/>
                      <a:pt x="3275654" y="20825"/>
                      <a:pt x="3275654" y="28342"/>
                    </a:cubicBezTo>
                    <a:lnTo>
                      <a:pt x="3275654" y="1226106"/>
                    </a:lnTo>
                    <a:cubicBezTo>
                      <a:pt x="3275654" y="1241758"/>
                      <a:pt x="3262965" y="1254448"/>
                      <a:pt x="3247312" y="1254448"/>
                    </a:cubicBezTo>
                    <a:lnTo>
                      <a:pt x="28342" y="1254448"/>
                    </a:lnTo>
                    <a:cubicBezTo>
                      <a:pt x="20825" y="1254448"/>
                      <a:pt x="13616" y="1251461"/>
                      <a:pt x="8301" y="1246146"/>
                    </a:cubicBezTo>
                    <a:cubicBezTo>
                      <a:pt x="2986" y="1240831"/>
                      <a:pt x="0" y="1233622"/>
                      <a:pt x="0" y="1226106"/>
                    </a:cubicBezTo>
                    <a:lnTo>
                      <a:pt x="0" y="28342"/>
                    </a:lnTo>
                    <a:cubicBezTo>
                      <a:pt x="0" y="20825"/>
                      <a:pt x="2986" y="13616"/>
                      <a:pt x="8301" y="8301"/>
                    </a:cubicBezTo>
                    <a:cubicBezTo>
                      <a:pt x="13616" y="2986"/>
                      <a:pt x="20825" y="0"/>
                      <a:pt x="28342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9"/>
              <p:cNvSpPr txBox="1"/>
              <p:nvPr/>
            </p:nvSpPr>
            <p:spPr>
              <a:xfrm>
                <a:off x="0" y="-76200"/>
                <a:ext cx="3275654" cy="13306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9"/>
          <p:cNvSpPr/>
          <p:nvPr/>
        </p:nvSpPr>
        <p:spPr>
          <a:xfrm>
            <a:off x="-1219741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06" name="Google Shape;306;p9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5666F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9"/>
          <p:cNvSpPr/>
          <p:nvPr/>
        </p:nvSpPr>
        <p:spPr>
          <a:xfrm flipH="1">
            <a:off x="4582484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9"/>
          <p:cNvSpPr/>
          <p:nvPr/>
        </p:nvSpPr>
        <p:spPr>
          <a:xfrm>
            <a:off x="7386566" y="2235694"/>
            <a:ext cx="9872734" cy="5652140"/>
          </a:xfrm>
          <a:custGeom>
            <a:rect b="b" l="l" r="r" t="t"/>
            <a:pathLst>
              <a:path extrusionOk="0" h="5652140" w="9872734">
                <a:moveTo>
                  <a:pt x="0" y="0"/>
                </a:moveTo>
                <a:lnTo>
                  <a:pt x="9872734" y="0"/>
                </a:lnTo>
                <a:lnTo>
                  <a:pt x="9872734" y="5652140"/>
                </a:lnTo>
                <a:lnTo>
                  <a:pt x="0" y="5652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9"/>
          <p:cNvSpPr txBox="1"/>
          <p:nvPr/>
        </p:nvSpPr>
        <p:spPr>
          <a:xfrm>
            <a:off x="12194" y="-125730"/>
            <a:ext cx="7374372" cy="211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5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Aplicaciones del multiplicador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1690707" y="8832671"/>
            <a:ext cx="2891777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sng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Multiplicador de 3 bits</a:t>
            </a:r>
            <a:endParaRPr/>
          </a:p>
        </p:txBody>
      </p:sp>
      <p:sp>
        <p:nvSpPr>
          <p:cNvPr id="311" name="Google Shape;311;p9"/>
          <p:cNvSpPr txBox="1"/>
          <p:nvPr/>
        </p:nvSpPr>
        <p:spPr>
          <a:xfrm>
            <a:off x="1707953" y="3846307"/>
            <a:ext cx="5125138" cy="1943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Operaciones aritméticas en procesadores.</a:t>
            </a:r>
            <a:endParaRPr/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Procesamiento de señales digitales.</a:t>
            </a:r>
            <a:endParaRPr/>
          </a:p>
          <a:p>
            <a:pPr indent="0" lvl="0" marL="0" marR="0" rtl="0" algn="just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F4F6FC"/>
                </a:solidFill>
                <a:latin typeface="Arial"/>
                <a:ea typeface="Arial"/>
                <a:cs typeface="Arial"/>
                <a:sym typeface="Arial"/>
              </a:rPr>
              <a:t>Cálculos en sistemas de control y automatización.​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317" name="Google Shape;317;p10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10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solidFill>
            <a:srgbClr val="15193E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1028700" y="2339281"/>
            <a:ext cx="5608439" cy="5608439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solidFill>
            <a:srgbClr val="15193E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1242747" y="2553328"/>
            <a:ext cx="5180345" cy="5180345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0238" r="-3023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" name="Google Shape;321;p10"/>
          <p:cNvGrpSpPr/>
          <p:nvPr/>
        </p:nvGrpSpPr>
        <p:grpSpPr>
          <a:xfrm>
            <a:off x="7045461" y="1891550"/>
            <a:ext cx="10048400" cy="6503901"/>
            <a:chOff x="0" y="-367803"/>
            <a:chExt cx="13397866" cy="8671868"/>
          </a:xfrm>
        </p:grpSpPr>
        <p:grpSp>
          <p:nvGrpSpPr>
            <p:cNvPr id="322" name="Google Shape;322;p10"/>
            <p:cNvGrpSpPr/>
            <p:nvPr/>
          </p:nvGrpSpPr>
          <p:grpSpPr>
            <a:xfrm rot="10800000">
              <a:off x="0" y="5314801"/>
              <a:ext cx="13397866" cy="2989264"/>
              <a:chOff x="0" y="-76200"/>
              <a:chExt cx="2775717" cy="619304"/>
            </a:xfrm>
          </p:grpSpPr>
          <p:sp>
            <p:nvSpPr>
              <p:cNvPr id="323" name="Google Shape;323;p10"/>
              <p:cNvSpPr/>
              <p:nvPr/>
            </p:nvSpPr>
            <p:spPr>
              <a:xfrm>
                <a:off x="0" y="0"/>
                <a:ext cx="2775717" cy="543104"/>
              </a:xfrm>
              <a:custGeom>
                <a:rect b="b" l="l" r="r" t="t"/>
                <a:pathLst>
                  <a:path extrusionOk="0" h="543104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518692"/>
                    </a:lnTo>
                    <a:cubicBezTo>
                      <a:pt x="2775717" y="532174"/>
                      <a:pt x="2764788" y="543104"/>
                      <a:pt x="2751305" y="543104"/>
                    </a:cubicBezTo>
                    <a:lnTo>
                      <a:pt x="24412" y="543104"/>
                    </a:lnTo>
                    <a:cubicBezTo>
                      <a:pt x="10930" y="543104"/>
                      <a:pt x="0" y="532174"/>
                      <a:pt x="0" y="518692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solidFill>
                <a:srgbClr val="15193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0"/>
              <p:cNvSpPr txBox="1"/>
              <p:nvPr/>
            </p:nvSpPr>
            <p:spPr>
              <a:xfrm>
                <a:off x="0" y="-76200"/>
                <a:ext cx="2775717" cy="619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0"/>
            <p:cNvGrpSpPr/>
            <p:nvPr/>
          </p:nvGrpSpPr>
          <p:grpSpPr>
            <a:xfrm>
              <a:off x="0" y="-367803"/>
              <a:ext cx="13397866" cy="7633210"/>
              <a:chOff x="0" y="-76200"/>
              <a:chExt cx="2775717" cy="1581418"/>
            </a:xfrm>
          </p:grpSpPr>
          <p:sp>
            <p:nvSpPr>
              <p:cNvPr id="326" name="Google Shape;326;p10"/>
              <p:cNvSpPr/>
              <p:nvPr/>
            </p:nvSpPr>
            <p:spPr>
              <a:xfrm>
                <a:off x="0" y="0"/>
                <a:ext cx="2775717" cy="1505218"/>
              </a:xfrm>
              <a:custGeom>
                <a:rect b="b" l="l" r="r" t="t"/>
                <a:pathLst>
                  <a:path extrusionOk="0" h="1505218" w="2775717">
                    <a:moveTo>
                      <a:pt x="24412" y="0"/>
                    </a:moveTo>
                    <a:lnTo>
                      <a:pt x="2751305" y="0"/>
                    </a:lnTo>
                    <a:cubicBezTo>
                      <a:pt x="2757780" y="0"/>
                      <a:pt x="2763989" y="2572"/>
                      <a:pt x="2768567" y="7150"/>
                    </a:cubicBezTo>
                    <a:cubicBezTo>
                      <a:pt x="2773145" y="11728"/>
                      <a:pt x="2775717" y="17937"/>
                      <a:pt x="2775717" y="24412"/>
                    </a:cubicBezTo>
                    <a:lnTo>
                      <a:pt x="2775717" y="1480807"/>
                    </a:lnTo>
                    <a:cubicBezTo>
                      <a:pt x="2775717" y="1494289"/>
                      <a:pt x="2764788" y="1505218"/>
                      <a:pt x="2751305" y="1505218"/>
                    </a:cubicBezTo>
                    <a:lnTo>
                      <a:pt x="24412" y="1505218"/>
                    </a:lnTo>
                    <a:cubicBezTo>
                      <a:pt x="17937" y="1505218"/>
                      <a:pt x="11728" y="1502646"/>
                      <a:pt x="7150" y="1498068"/>
                    </a:cubicBezTo>
                    <a:cubicBezTo>
                      <a:pt x="2572" y="1493490"/>
                      <a:pt x="0" y="1487281"/>
                      <a:pt x="0" y="1480807"/>
                    </a:cubicBezTo>
                    <a:lnTo>
                      <a:pt x="0" y="24412"/>
                    </a:lnTo>
                    <a:cubicBezTo>
                      <a:pt x="0" y="10930"/>
                      <a:pt x="10930" y="0"/>
                      <a:pt x="24412" y="0"/>
                    </a:cubicBezTo>
                    <a:close/>
                  </a:path>
                </a:pathLst>
              </a:custGeom>
              <a:solidFill>
                <a:srgbClr val="5666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0"/>
              <p:cNvSpPr txBox="1"/>
              <p:nvPr/>
            </p:nvSpPr>
            <p:spPr>
              <a:xfrm>
                <a:off x="0" y="-76200"/>
                <a:ext cx="2775717" cy="1581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6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8" name="Google Shape;328;p10"/>
          <p:cNvGrpSpPr/>
          <p:nvPr/>
        </p:nvGrpSpPr>
        <p:grpSpPr>
          <a:xfrm>
            <a:off x="7045461" y="-17189"/>
            <a:ext cx="10048400" cy="1623788"/>
            <a:chOff x="0" y="-95250"/>
            <a:chExt cx="4015946" cy="648963"/>
          </a:xfrm>
        </p:grpSpPr>
        <p:sp>
          <p:nvSpPr>
            <p:cNvPr id="329" name="Google Shape;329;p10"/>
            <p:cNvSpPr/>
            <p:nvPr/>
          </p:nvSpPr>
          <p:spPr>
            <a:xfrm>
              <a:off x="0" y="0"/>
              <a:ext cx="4015946" cy="553713"/>
            </a:xfrm>
            <a:custGeom>
              <a:rect b="b" l="l" r="r" t="t"/>
              <a:pathLst>
                <a:path extrusionOk="0" h="553713" w="4015946">
                  <a:moveTo>
                    <a:pt x="15409" y="0"/>
                  </a:moveTo>
                  <a:lnTo>
                    <a:pt x="4000537" y="0"/>
                  </a:lnTo>
                  <a:cubicBezTo>
                    <a:pt x="4009047" y="0"/>
                    <a:pt x="4015946" y="6899"/>
                    <a:pt x="4015946" y="15409"/>
                  </a:cubicBezTo>
                  <a:lnTo>
                    <a:pt x="4015946" y="538304"/>
                  </a:lnTo>
                  <a:cubicBezTo>
                    <a:pt x="4015946" y="542391"/>
                    <a:pt x="4014322" y="546310"/>
                    <a:pt x="4011433" y="549200"/>
                  </a:cubicBezTo>
                  <a:cubicBezTo>
                    <a:pt x="4008543" y="552090"/>
                    <a:pt x="4004623" y="553713"/>
                    <a:pt x="4000537" y="553713"/>
                  </a:cubicBezTo>
                  <a:lnTo>
                    <a:pt x="15409" y="553713"/>
                  </a:lnTo>
                  <a:cubicBezTo>
                    <a:pt x="6899" y="553713"/>
                    <a:pt x="0" y="546814"/>
                    <a:pt x="0" y="538304"/>
                  </a:cubicBezTo>
                  <a:lnTo>
                    <a:pt x="0" y="15409"/>
                  </a:lnTo>
                  <a:cubicBezTo>
                    <a:pt x="0" y="11322"/>
                    <a:pt x="1623" y="7403"/>
                    <a:pt x="4513" y="4513"/>
                  </a:cubicBezTo>
                  <a:cubicBezTo>
                    <a:pt x="7403" y="1623"/>
                    <a:pt x="11322" y="0"/>
                    <a:pt x="15409" y="0"/>
                  </a:cubicBezTo>
                  <a:close/>
                </a:path>
              </a:pathLst>
            </a:custGeom>
            <a:solidFill>
              <a:srgbClr val="474D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0"/>
            <p:cNvSpPr txBox="1"/>
            <p:nvPr/>
          </p:nvSpPr>
          <p:spPr>
            <a:xfrm>
              <a:off x="0" y="-95250"/>
              <a:ext cx="4015946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0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0"/>
          <p:cNvSpPr txBox="1"/>
          <p:nvPr/>
        </p:nvSpPr>
        <p:spPr>
          <a:xfrm>
            <a:off x="6909269" y="413266"/>
            <a:ext cx="10320784" cy="8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Conceptos claves aprendidos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7708498" y="2355005"/>
            <a:ext cx="8722200" cy="55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Circuitos de Control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Determinan el flujo de datos y las operaciones a ejecutar en un sistema digital.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basan en lógica combinacional sin memoria.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Incluyen elementos como multiplexores, decodificadores y señales de control.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Sumador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 la operación de suma entre números binarios.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Restador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 la sustracción binaria entre dos valores.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 mediante préstamo en lugar de acarreo.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 implementarse mediante la suma del complemento a dos.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Multiplicador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Realiza la multiplicación de números binarios mediante sumas sucesivas y desplazamientos.</a:t>
            </a:r>
            <a:endParaRPr sz="1600"/>
          </a:p>
          <a:p>
            <a:pPr indent="-209708" lvl="1" marL="39401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4"/>
              <a:buFont typeface="Arial"/>
              <a:buChar char="•"/>
            </a:pPr>
            <a:r>
              <a:rPr b="0" i="0" lang="en-US" sz="20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Fundamental en procesamiento digital de señales y sistemas embebidos.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2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cxnSp>
        <p:nvCxnSpPr>
          <p:cNvPr id="339" name="Google Shape;339;p11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1519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1"/>
          <p:cNvSpPr/>
          <p:nvPr/>
        </p:nvSpPr>
        <p:spPr>
          <a:xfrm flipH="1">
            <a:off x="2885062" y="8899376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1"/>
          <p:cNvSpPr/>
          <p:nvPr/>
        </p:nvSpPr>
        <p:spPr>
          <a:xfrm>
            <a:off x="10199434" y="924126"/>
            <a:ext cx="7058470" cy="7106291"/>
          </a:xfrm>
          <a:custGeom>
            <a:rect b="b" l="l" r="r" t="t"/>
            <a:pathLst>
              <a:path extrusionOk="0" h="6285356" w="6243059">
                <a:moveTo>
                  <a:pt x="1183914" y="428025"/>
                </a:moveTo>
                <a:lnTo>
                  <a:pt x="174802" y="2330510"/>
                </a:lnTo>
                <a:cubicBezTo>
                  <a:pt x="0" y="2655918"/>
                  <a:pt x="43180" y="3066390"/>
                  <a:pt x="277319" y="3343188"/>
                </a:cubicBezTo>
                <a:lnTo>
                  <a:pt x="2525279" y="6008557"/>
                </a:lnTo>
                <a:cubicBezTo>
                  <a:pt x="2673496" y="6185438"/>
                  <a:pt x="2883471" y="6285356"/>
                  <a:pt x="3102091" y="6285356"/>
                </a:cubicBezTo>
                <a:lnTo>
                  <a:pt x="5457508" y="6285356"/>
                </a:lnTo>
                <a:cubicBezTo>
                  <a:pt x="5891044" y="6285356"/>
                  <a:pt x="6243059" y="5900538"/>
                  <a:pt x="6243059" y="5426605"/>
                </a:cubicBezTo>
                <a:lnTo>
                  <a:pt x="6243059" y="2010504"/>
                </a:lnTo>
                <a:cubicBezTo>
                  <a:pt x="6243059" y="1833623"/>
                  <a:pt x="6193653" y="1660792"/>
                  <a:pt x="6099782" y="1516317"/>
                </a:cubicBezTo>
                <a:lnTo>
                  <a:pt x="5358697" y="364564"/>
                </a:lnTo>
                <a:cubicBezTo>
                  <a:pt x="5211715" y="136374"/>
                  <a:pt x="4972097" y="0"/>
                  <a:pt x="4716423" y="0"/>
                </a:cubicBezTo>
                <a:lnTo>
                  <a:pt x="1863243" y="0"/>
                </a:lnTo>
                <a:cubicBezTo>
                  <a:pt x="1582865" y="0"/>
                  <a:pt x="1323485" y="163379"/>
                  <a:pt x="1183914" y="428025"/>
                </a:cubicBezTo>
                <a:close/>
              </a:path>
            </a:pathLst>
          </a:custGeom>
          <a:solidFill>
            <a:srgbClr val="5666F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9495933" y="1206908"/>
            <a:ext cx="7099956" cy="6540727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2080" r="-1207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1"/>
          <p:cNvSpPr txBox="1"/>
          <p:nvPr/>
        </p:nvSpPr>
        <p:spPr>
          <a:xfrm>
            <a:off x="1690707" y="1016408"/>
            <a:ext cx="6257348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5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Videos </a:t>
            </a:r>
            <a:endParaRPr/>
          </a:p>
        </p:txBody>
      </p:sp>
      <p:pic>
        <p:nvPicPr>
          <p:cNvPr descr="https://alfazulu.es/&#10;&#10;Si quieres patrocinar este canal: &#10;https://www.patreon.com/fdomanso&#10;                        o&#10;https://www.paypal.me/fdomanso" id="345" name="Google Shape;345;p11" title="SUMADORES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23425" y="1902300"/>
            <a:ext cx="11176677" cy="62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cxnSp>
        <p:nvCxnSpPr>
          <p:cNvPr id="351" name="Google Shape;351;p12"/>
          <p:cNvCxnSpPr/>
          <p:nvPr/>
        </p:nvCxnSpPr>
        <p:spPr>
          <a:xfrm>
            <a:off x="1253085" y="8544287"/>
            <a:ext cx="15781831" cy="0"/>
          </a:xfrm>
          <a:prstGeom prst="straightConnector1">
            <a:avLst/>
          </a:prstGeom>
          <a:noFill/>
          <a:ln cap="flat" cmpd="sng" w="19050">
            <a:solidFill>
              <a:srgbClr val="1519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2"/>
          <p:cNvSpPr/>
          <p:nvPr/>
        </p:nvSpPr>
        <p:spPr>
          <a:xfrm flipH="1">
            <a:off x="5142127" y="8752613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5" y="0"/>
                </a:moveTo>
                <a:lnTo>
                  <a:pt x="0" y="0"/>
                </a:lnTo>
                <a:lnTo>
                  <a:pt x="0" y="337125"/>
                </a:lnTo>
                <a:lnTo>
                  <a:pt x="707705" y="337125"/>
                </a:lnTo>
                <a:lnTo>
                  <a:pt x="70770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3" name="Google Shape;353;p12"/>
          <p:cNvSpPr/>
          <p:nvPr/>
        </p:nvSpPr>
        <p:spPr>
          <a:xfrm>
            <a:off x="1289057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4" name="Google Shape;354;p12"/>
          <p:cNvSpPr/>
          <p:nvPr/>
        </p:nvSpPr>
        <p:spPr>
          <a:xfrm>
            <a:off x="1886234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2"/>
          <p:cNvSpPr/>
          <p:nvPr/>
        </p:nvSpPr>
        <p:spPr>
          <a:xfrm>
            <a:off x="2483412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2"/>
          <p:cNvSpPr/>
          <p:nvPr/>
        </p:nvSpPr>
        <p:spPr>
          <a:xfrm>
            <a:off x="3080589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12"/>
          <p:cNvSpPr/>
          <p:nvPr/>
        </p:nvSpPr>
        <p:spPr>
          <a:xfrm>
            <a:off x="3677767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8" name="Google Shape;358;p12"/>
          <p:cNvSpPr/>
          <p:nvPr/>
        </p:nvSpPr>
        <p:spPr>
          <a:xfrm>
            <a:off x="4274945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2"/>
          <p:cNvSpPr/>
          <p:nvPr/>
        </p:nvSpPr>
        <p:spPr>
          <a:xfrm>
            <a:off x="4872122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2"/>
          <p:cNvSpPr/>
          <p:nvPr/>
        </p:nvSpPr>
        <p:spPr>
          <a:xfrm>
            <a:off x="5469300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4" y="0"/>
                </a:lnTo>
                <a:lnTo>
                  <a:pt x="444414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2"/>
          <p:cNvSpPr/>
          <p:nvPr/>
        </p:nvSpPr>
        <p:spPr>
          <a:xfrm>
            <a:off x="6066477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2"/>
          <p:cNvSpPr/>
          <p:nvPr/>
        </p:nvSpPr>
        <p:spPr>
          <a:xfrm>
            <a:off x="6663655" y="7469066"/>
            <a:ext cx="444415" cy="1075197"/>
          </a:xfrm>
          <a:custGeom>
            <a:rect b="b" l="l" r="r" t="t"/>
            <a:pathLst>
              <a:path extrusionOk="0" h="1075197" w="444415">
                <a:moveTo>
                  <a:pt x="0" y="0"/>
                </a:moveTo>
                <a:lnTo>
                  <a:pt x="444415" y="0"/>
                </a:lnTo>
                <a:lnTo>
                  <a:pt x="444415" y="1075196"/>
                </a:lnTo>
                <a:lnTo>
                  <a:pt x="0" y="1075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12"/>
          <p:cNvSpPr/>
          <p:nvPr/>
        </p:nvSpPr>
        <p:spPr>
          <a:xfrm>
            <a:off x="10199434" y="924126"/>
            <a:ext cx="7058470" cy="7106291"/>
          </a:xfrm>
          <a:custGeom>
            <a:rect b="b" l="l" r="r" t="t"/>
            <a:pathLst>
              <a:path extrusionOk="0" h="6285356" w="6243059">
                <a:moveTo>
                  <a:pt x="1183914" y="428025"/>
                </a:moveTo>
                <a:lnTo>
                  <a:pt x="174802" y="2330510"/>
                </a:lnTo>
                <a:cubicBezTo>
                  <a:pt x="0" y="2655918"/>
                  <a:pt x="43180" y="3066390"/>
                  <a:pt x="277319" y="3343188"/>
                </a:cubicBezTo>
                <a:lnTo>
                  <a:pt x="2525279" y="6008557"/>
                </a:lnTo>
                <a:cubicBezTo>
                  <a:pt x="2673496" y="6185438"/>
                  <a:pt x="2883471" y="6285356"/>
                  <a:pt x="3102091" y="6285356"/>
                </a:cubicBezTo>
                <a:lnTo>
                  <a:pt x="5457508" y="6285356"/>
                </a:lnTo>
                <a:cubicBezTo>
                  <a:pt x="5891044" y="6285356"/>
                  <a:pt x="6243059" y="5900538"/>
                  <a:pt x="6243059" y="5426605"/>
                </a:cubicBezTo>
                <a:lnTo>
                  <a:pt x="6243059" y="2010504"/>
                </a:lnTo>
                <a:cubicBezTo>
                  <a:pt x="6243059" y="1833623"/>
                  <a:pt x="6193653" y="1660792"/>
                  <a:pt x="6099782" y="1516317"/>
                </a:cubicBezTo>
                <a:lnTo>
                  <a:pt x="5358697" y="364564"/>
                </a:lnTo>
                <a:cubicBezTo>
                  <a:pt x="5211715" y="136374"/>
                  <a:pt x="4972097" y="0"/>
                  <a:pt x="4716423" y="0"/>
                </a:cubicBezTo>
                <a:lnTo>
                  <a:pt x="1863243" y="0"/>
                </a:lnTo>
                <a:cubicBezTo>
                  <a:pt x="1582865" y="0"/>
                  <a:pt x="1323485" y="163379"/>
                  <a:pt x="1183914" y="428025"/>
                </a:cubicBezTo>
                <a:close/>
              </a:path>
            </a:pathLst>
          </a:custGeom>
          <a:solidFill>
            <a:srgbClr val="5666F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9753868" y="1206908"/>
            <a:ext cx="7099956" cy="6540727"/>
          </a:xfrm>
          <a:custGeom>
            <a:rect b="b" l="l" r="r" t="t"/>
            <a:pathLst>
              <a:path extrusionOk="0" h="5911850" w="6417310">
                <a:moveTo>
                  <a:pt x="1215390" y="402590"/>
                </a:moveTo>
                <a:lnTo>
                  <a:pt x="177800" y="2192020"/>
                </a:lnTo>
                <a:cubicBezTo>
                  <a:pt x="0" y="2498090"/>
                  <a:pt x="43180" y="2884170"/>
                  <a:pt x="283210" y="3144520"/>
                </a:cubicBezTo>
                <a:lnTo>
                  <a:pt x="2594610" y="5651500"/>
                </a:lnTo>
                <a:cubicBezTo>
                  <a:pt x="2747010" y="5817870"/>
                  <a:pt x="2962910" y="5911850"/>
                  <a:pt x="3187700" y="5911850"/>
                </a:cubicBezTo>
                <a:lnTo>
                  <a:pt x="5609590" y="5911850"/>
                </a:lnTo>
                <a:cubicBezTo>
                  <a:pt x="6055360" y="5911850"/>
                  <a:pt x="6417310" y="5549900"/>
                  <a:pt x="6417310" y="5104130"/>
                </a:cubicBezTo>
                <a:lnTo>
                  <a:pt x="6417310" y="1891030"/>
                </a:lnTo>
                <a:cubicBezTo>
                  <a:pt x="6417310" y="1724660"/>
                  <a:pt x="6366510" y="1562100"/>
                  <a:pt x="6269990" y="1426210"/>
                </a:cubicBezTo>
                <a:lnTo>
                  <a:pt x="5507990" y="342900"/>
                </a:lnTo>
                <a:cubicBezTo>
                  <a:pt x="5356860" y="128270"/>
                  <a:pt x="5110480" y="0"/>
                  <a:pt x="4847590" y="0"/>
                </a:cubicBezTo>
                <a:lnTo>
                  <a:pt x="1913890" y="0"/>
                </a:lnTo>
                <a:cubicBezTo>
                  <a:pt x="1625600" y="0"/>
                  <a:pt x="1358900" y="153670"/>
                  <a:pt x="1215390" y="40259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9840" r="-1984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12"/>
          <p:cNvSpPr txBox="1"/>
          <p:nvPr/>
        </p:nvSpPr>
        <p:spPr>
          <a:xfrm>
            <a:off x="1289041" y="8695403"/>
            <a:ext cx="3831968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link Video motivacional</a:t>
            </a:r>
            <a:endParaRPr/>
          </a:p>
        </p:txBody>
      </p:sp>
      <p:sp>
        <p:nvSpPr>
          <p:cNvPr id="367" name="Google Shape;367;p12"/>
          <p:cNvSpPr txBox="1"/>
          <p:nvPr/>
        </p:nvSpPr>
        <p:spPr>
          <a:xfrm>
            <a:off x="353566" y="1016408"/>
            <a:ext cx="7252291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50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Valores y Actitudes</a:t>
            </a:r>
            <a:endParaRPr/>
          </a:p>
        </p:txBody>
      </p:sp>
      <p:sp>
        <p:nvSpPr>
          <p:cNvPr id="368" name="Google Shape;368;p12"/>
          <p:cNvSpPr txBox="1"/>
          <p:nvPr/>
        </p:nvSpPr>
        <p:spPr>
          <a:xfrm>
            <a:off x="525571" y="1744629"/>
            <a:ext cx="9487200" cy="60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/>
              <a:t>Responsabilidad</a:t>
            </a:r>
            <a:endParaRPr b="1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La responsabilidad implica cumplir con las tareas asignadas de manera oportuna, precisa y con alto sentido de la calidad. En el contexto del diseño de circuitos, esto se refleja en la entrega puntual de simulaciones, diagramas y prototipos funcionales, verificando siempre que cumplan con los estándares técnicos y requisitos establecidos.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¿Cómo aplicarlo?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Planificar adecuadamente cada etapa del diseño para evitar retrasos.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Revisar minuciosamente los circuitos antes de su implementación o presentación.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Asumir con seriedad la corrección de errores y la mejora continua en cada proyecto técnico.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374" name="Google Shape;374;p13"/>
          <p:cNvSpPr/>
          <p:nvPr/>
        </p:nvSpPr>
        <p:spPr>
          <a:xfrm>
            <a:off x="-987928" y="214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5" name="Google Shape;375;p13"/>
          <p:cNvSpPr/>
          <p:nvPr/>
        </p:nvSpPr>
        <p:spPr>
          <a:xfrm>
            <a:off x="-314691" y="9987522"/>
            <a:ext cx="18917381" cy="617085"/>
          </a:xfrm>
          <a:custGeom>
            <a:rect b="b" l="l" r="r" t="t"/>
            <a:pathLst>
              <a:path extrusionOk="0" h="90953" w="2788263">
                <a:moveTo>
                  <a:pt x="15551" y="0"/>
                </a:moveTo>
                <a:lnTo>
                  <a:pt x="2772711" y="0"/>
                </a:lnTo>
                <a:cubicBezTo>
                  <a:pt x="2776836" y="0"/>
                  <a:pt x="2780791" y="1638"/>
                  <a:pt x="2783708" y="4555"/>
                </a:cubicBezTo>
                <a:cubicBezTo>
                  <a:pt x="2786624" y="7471"/>
                  <a:pt x="2788263" y="11427"/>
                  <a:pt x="2788263" y="15551"/>
                </a:cubicBezTo>
                <a:lnTo>
                  <a:pt x="2788263" y="75402"/>
                </a:lnTo>
                <a:cubicBezTo>
                  <a:pt x="2788263" y="79526"/>
                  <a:pt x="2786624" y="83482"/>
                  <a:pt x="2783708" y="86398"/>
                </a:cubicBezTo>
                <a:cubicBezTo>
                  <a:pt x="2780791" y="89315"/>
                  <a:pt x="2776836" y="90953"/>
                  <a:pt x="2772711" y="90953"/>
                </a:cubicBezTo>
                <a:lnTo>
                  <a:pt x="15551" y="90953"/>
                </a:lnTo>
                <a:cubicBezTo>
                  <a:pt x="11427" y="90953"/>
                  <a:pt x="7471" y="89315"/>
                  <a:pt x="4555" y="86398"/>
                </a:cubicBezTo>
                <a:cubicBezTo>
                  <a:pt x="1638" y="83482"/>
                  <a:pt x="0" y="79526"/>
                  <a:pt x="0" y="75402"/>
                </a:cubicBezTo>
                <a:lnTo>
                  <a:pt x="0" y="15551"/>
                </a:lnTo>
                <a:cubicBezTo>
                  <a:pt x="0" y="11427"/>
                  <a:pt x="1638" y="7471"/>
                  <a:pt x="4555" y="4555"/>
                </a:cubicBezTo>
                <a:cubicBezTo>
                  <a:pt x="7471" y="1638"/>
                  <a:pt x="11427" y="0"/>
                  <a:pt x="15551" y="0"/>
                </a:cubicBezTo>
                <a:close/>
              </a:path>
            </a:pathLst>
          </a:custGeom>
          <a:solidFill>
            <a:srgbClr val="5666F8"/>
          </a:solidFill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1128721" y="2512526"/>
            <a:ext cx="3186072" cy="3186072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solidFill>
            <a:srgbClr val="5666F8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>
            <a:hlinkClick r:id="rId5"/>
          </p:cNvPr>
          <p:cNvSpPr/>
          <p:nvPr/>
        </p:nvSpPr>
        <p:spPr>
          <a:xfrm>
            <a:off x="1250318" y="2634123"/>
            <a:ext cx="2937088" cy="2937088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13"/>
          <p:cNvGrpSpPr/>
          <p:nvPr/>
        </p:nvGrpSpPr>
        <p:grpSpPr>
          <a:xfrm>
            <a:off x="6486369" y="312879"/>
            <a:ext cx="5315262" cy="1623788"/>
            <a:chOff x="0" y="-95250"/>
            <a:chExt cx="2124299" cy="648963"/>
          </a:xfrm>
        </p:grpSpPr>
        <p:sp>
          <p:nvSpPr>
            <p:cNvPr id="379" name="Google Shape;379;p13"/>
            <p:cNvSpPr/>
            <p:nvPr/>
          </p:nvSpPr>
          <p:spPr>
            <a:xfrm>
              <a:off x="0" y="0"/>
              <a:ext cx="2124299" cy="553713"/>
            </a:xfrm>
            <a:custGeom>
              <a:rect b="b" l="l" r="r" t="t"/>
              <a:pathLst>
                <a:path extrusionOk="0" h="553713" w="2124299">
                  <a:moveTo>
                    <a:pt x="29131" y="0"/>
                  </a:moveTo>
                  <a:lnTo>
                    <a:pt x="2095168" y="0"/>
                  </a:lnTo>
                  <a:cubicBezTo>
                    <a:pt x="2111256" y="0"/>
                    <a:pt x="2124299" y="13042"/>
                    <a:pt x="2124299" y="29131"/>
                  </a:cubicBezTo>
                  <a:lnTo>
                    <a:pt x="2124299" y="524582"/>
                  </a:lnTo>
                  <a:cubicBezTo>
                    <a:pt x="2124299" y="540671"/>
                    <a:pt x="2111256" y="553713"/>
                    <a:pt x="2095168" y="553713"/>
                  </a:cubicBezTo>
                  <a:lnTo>
                    <a:pt x="29131" y="553713"/>
                  </a:lnTo>
                  <a:cubicBezTo>
                    <a:pt x="13042" y="553713"/>
                    <a:pt x="0" y="540671"/>
                    <a:pt x="0" y="524582"/>
                  </a:cubicBezTo>
                  <a:lnTo>
                    <a:pt x="0" y="29131"/>
                  </a:lnTo>
                  <a:cubicBezTo>
                    <a:pt x="0" y="13042"/>
                    <a:pt x="13042" y="0"/>
                    <a:pt x="29131" y="0"/>
                  </a:cubicBezTo>
                  <a:close/>
                </a:path>
              </a:pathLst>
            </a:custGeom>
            <a:solidFill>
              <a:srgbClr val="1519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3"/>
            <p:cNvSpPr txBox="1"/>
            <p:nvPr/>
          </p:nvSpPr>
          <p:spPr>
            <a:xfrm>
              <a:off x="0" y="-95250"/>
              <a:ext cx="2124299" cy="648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47525" spcFirstLastPara="1" rIns="47525" wrap="square" tIns="47525">
              <a:noAutofit/>
            </a:bodyPr>
            <a:lstStyle/>
            <a:p>
              <a:pPr indent="0" lvl="0" marL="0" marR="0" rtl="0" algn="ctr">
                <a:lnSpc>
                  <a:spcPct val="189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3"/>
          <p:cNvSpPr/>
          <p:nvPr/>
        </p:nvSpPr>
        <p:spPr>
          <a:xfrm flipH="1">
            <a:off x="1028700" y="8930670"/>
            <a:ext cx="707704" cy="337125"/>
          </a:xfrm>
          <a:custGeom>
            <a:rect b="b" l="l" r="r" t="t"/>
            <a:pathLst>
              <a:path extrusionOk="0" h="337125" w="707704">
                <a:moveTo>
                  <a:pt x="707704" y="0"/>
                </a:moveTo>
                <a:lnTo>
                  <a:pt x="0" y="0"/>
                </a:lnTo>
                <a:lnTo>
                  <a:pt x="0" y="337125"/>
                </a:lnTo>
                <a:lnTo>
                  <a:pt x="707704" y="337125"/>
                </a:lnTo>
                <a:lnTo>
                  <a:pt x="707704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13"/>
          <p:cNvSpPr/>
          <p:nvPr/>
        </p:nvSpPr>
        <p:spPr>
          <a:xfrm>
            <a:off x="7272673" y="4586605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solidFill>
            <a:srgbClr val="5666F8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>
            <a:hlinkClick r:id="rId8"/>
          </p:cNvPr>
          <p:cNvSpPr/>
          <p:nvPr/>
        </p:nvSpPr>
        <p:spPr>
          <a:xfrm>
            <a:off x="7400060" y="4713992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81392" r="-8139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13678632" y="2360822"/>
            <a:ext cx="3337776" cy="3337776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lnTo>
                  <a:pt x="6858000" y="0"/>
                </a:lnTo>
                <a:close/>
              </a:path>
            </a:pathLst>
          </a:custGeom>
          <a:solidFill>
            <a:srgbClr val="5666F8"/>
          </a:solidFill>
          <a:ln cap="sq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3">
            <a:hlinkClick r:id="rId10"/>
          </p:cNvPr>
          <p:cNvSpPr/>
          <p:nvPr/>
        </p:nvSpPr>
        <p:spPr>
          <a:xfrm>
            <a:off x="13806019" y="2488209"/>
            <a:ext cx="3083003" cy="3083003"/>
          </a:xfrm>
          <a:custGeom>
            <a:rect b="b" l="l" r="r" t="t"/>
            <a:pathLst>
              <a:path extrusionOk="0" h="13716000" w="13716000">
                <a:moveTo>
                  <a:pt x="6858000" y="0"/>
                </a:moveTo>
                <a:cubicBezTo>
                  <a:pt x="3070431" y="0"/>
                  <a:pt x="0" y="3070431"/>
                  <a:pt x="0" y="6858000"/>
                </a:cubicBezTo>
                <a:cubicBezTo>
                  <a:pt x="0" y="10645569"/>
                  <a:pt x="3070431" y="13716000"/>
                  <a:pt x="6858000" y="13716000"/>
                </a:cubicBezTo>
                <a:cubicBezTo>
                  <a:pt x="10645569" y="13716000"/>
                  <a:pt x="13716000" y="10645569"/>
                  <a:pt x="13716000" y="6858000"/>
                </a:cubicBezTo>
                <a:cubicBezTo>
                  <a:pt x="13716000" y="3070431"/>
                  <a:pt x="10645569" y="0"/>
                  <a:pt x="685800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 txBox="1"/>
          <p:nvPr/>
        </p:nvSpPr>
        <p:spPr>
          <a:xfrm>
            <a:off x="6805718" y="806334"/>
            <a:ext cx="4676565" cy="8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5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87" name="Google Shape;387;p13"/>
          <p:cNvSpPr txBox="1"/>
          <p:nvPr/>
        </p:nvSpPr>
        <p:spPr>
          <a:xfrm>
            <a:off x="13435740" y="5574773"/>
            <a:ext cx="3823560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Oscar I. Botero H.</a:t>
            </a:r>
            <a:endParaRPr/>
          </a:p>
        </p:txBody>
      </p:sp>
      <p:sp>
        <p:nvSpPr>
          <p:cNvPr id="388" name="Google Shape;388;p13"/>
          <p:cNvSpPr txBox="1"/>
          <p:nvPr/>
        </p:nvSpPr>
        <p:spPr>
          <a:xfrm>
            <a:off x="620984" y="5685322"/>
            <a:ext cx="4201547" cy="1237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Engineer Thileban Explains</a:t>
            </a:r>
            <a:endParaRPr/>
          </a:p>
        </p:txBody>
      </p:sp>
      <p:sp>
        <p:nvSpPr>
          <p:cNvPr id="389" name="Google Shape;389;p13"/>
          <p:cNvSpPr txBox="1"/>
          <p:nvPr/>
        </p:nvSpPr>
        <p:spPr>
          <a:xfrm>
            <a:off x="6081492" y="8020685"/>
            <a:ext cx="5720139" cy="62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57" u="none" cap="none" strike="noStrike">
                <a:solidFill>
                  <a:srgbClr val="15193E"/>
                </a:solidFill>
                <a:latin typeface="Arial"/>
                <a:ea typeface="Arial"/>
                <a:cs typeface="Arial"/>
                <a:sym typeface="Arial"/>
              </a:rPr>
              <a:t>Wilaeba Electronica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1" l="0" r="0" t="-813"/>
            </a:stretch>
          </a:blipFill>
          <a:ln>
            <a:noFill/>
          </a:ln>
        </p:spPr>
      </p:sp>
      <p:sp>
        <p:nvSpPr>
          <p:cNvPr id="395" name="Google Shape;395;p14"/>
          <p:cNvSpPr/>
          <p:nvPr/>
        </p:nvSpPr>
        <p:spPr>
          <a:xfrm>
            <a:off x="16590199" y="8123047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2"/>
                </a:lnTo>
                <a:lnTo>
                  <a:pt x="0" y="1490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4"/>
          <p:cNvSpPr/>
          <p:nvPr/>
        </p:nvSpPr>
        <p:spPr>
          <a:xfrm>
            <a:off x="-1026531" y="373368"/>
            <a:ext cx="2724332" cy="1490953"/>
          </a:xfrm>
          <a:custGeom>
            <a:rect b="b" l="l" r="r" t="t"/>
            <a:pathLst>
              <a:path extrusionOk="0" h="1490953" w="2724332">
                <a:moveTo>
                  <a:pt x="0" y="0"/>
                </a:moveTo>
                <a:lnTo>
                  <a:pt x="2724332" y="0"/>
                </a:lnTo>
                <a:lnTo>
                  <a:pt x="2724332" y="1490953"/>
                </a:lnTo>
                <a:lnTo>
                  <a:pt x="0" y="1490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14"/>
          <p:cNvSpPr txBox="1"/>
          <p:nvPr/>
        </p:nvSpPr>
        <p:spPr>
          <a:xfrm>
            <a:off x="1028700" y="3583587"/>
            <a:ext cx="16230600" cy="1626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77" u="none" cap="none" strike="noStrike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¡Gracias por su atención!</a:t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6580809" y="0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5" y="0"/>
                </a:lnTo>
                <a:lnTo>
                  <a:pt x="2927695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4"/>
          <p:cNvSpPr/>
          <p:nvPr/>
        </p:nvSpPr>
        <p:spPr>
          <a:xfrm rot="10800000">
            <a:off x="-1219741" y="8051306"/>
            <a:ext cx="2927694" cy="2235694"/>
          </a:xfrm>
          <a:custGeom>
            <a:rect b="b" l="l" r="r" t="t"/>
            <a:pathLst>
              <a:path extrusionOk="0" h="2235694" w="2927694">
                <a:moveTo>
                  <a:pt x="0" y="0"/>
                </a:moveTo>
                <a:lnTo>
                  <a:pt x="2927694" y="0"/>
                </a:lnTo>
                <a:lnTo>
                  <a:pt x="2927694" y="2235694"/>
                </a:lnTo>
                <a:lnTo>
                  <a:pt x="0" y="22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14"/>
          <p:cNvSpPr/>
          <p:nvPr/>
        </p:nvSpPr>
        <p:spPr>
          <a:xfrm>
            <a:off x="8566562" y="1564509"/>
            <a:ext cx="1154875" cy="602137"/>
          </a:xfrm>
          <a:custGeom>
            <a:rect b="b" l="l" r="r" t="t"/>
            <a:pathLst>
              <a:path extrusionOk="0" h="602137" w="1154875">
                <a:moveTo>
                  <a:pt x="0" y="0"/>
                </a:moveTo>
                <a:lnTo>
                  <a:pt x="1154876" y="0"/>
                </a:lnTo>
                <a:lnTo>
                  <a:pt x="1154876" y="602137"/>
                </a:lnTo>
                <a:lnTo>
                  <a:pt x="0" y="6021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14"/>
          <p:cNvSpPr txBox="1"/>
          <p:nvPr/>
        </p:nvSpPr>
        <p:spPr>
          <a:xfrm>
            <a:off x="7648585" y="2367895"/>
            <a:ext cx="2990829" cy="895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3" u="none" cap="none" strike="noStrike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Organización Computacional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