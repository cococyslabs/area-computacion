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Lato"/>
      <p:bold r:id="rId26"/>
      <p:boldItalic r:id="rId27"/>
    </p:embeddedFont>
    <p:embeddedFont>
      <p:font typeface="Montserrat"/>
      <p:regular r:id="rId28"/>
      <p:bold r:id="rId29"/>
      <p:italic r:id="rId30"/>
      <p:boldItalic r:id="rId31"/>
    </p:embeddedFont>
    <p:embeddedFont>
      <p:font typeface="Lato Black"/>
      <p:bold r:id="rId32"/>
      <p:boldItalic r:id="rId33"/>
    </p:embeddedFont>
    <p:embeddedFont>
      <p:font typeface="Oswald"/>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5" roundtripDataSignature="AMtx7mihPIm3HtoFPvHwPJ/d4jGNmKVR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slide" Target="slides/slide20.xml"/><Relationship Id="rId28" Type="http://schemas.openxmlformats.org/officeDocument/2006/relationships/font" Target="fonts/Montserrat-regular.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LatoBlack-boldItalic.fntdata"/><Relationship Id="rId10" Type="http://schemas.openxmlformats.org/officeDocument/2006/relationships/slide" Target="slides/slide5.xml"/><Relationship Id="rId32" Type="http://schemas.openxmlformats.org/officeDocument/2006/relationships/font" Target="fonts/LatoBlack-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Oswald-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2" name="Google Shape;132;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3" name="Google Shape;133;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35" name="Google Shape;135;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6" name="Google Shape;136;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7" name="Google Shape;177;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8" name="Google Shape;178;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80" name="Google Shape;180;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1" name="Google Shape;181;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1" name="Google Shape;201;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2" name="Google Shape;202;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5" name="Google Shape;205;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5" name="Google Shape;215;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6" name="Google Shape;216;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9" name="Google Shape;219;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6" name="Google Shape;236;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7" name="Google Shape;237;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39" name="Google Shape;239;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0" name="Google Shape;240;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0" name="Google Shape;250;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1" name="Google Shape;251;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53" name="Google Shape;253;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4" name="Google Shape;254;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1" name="Google Shape;271;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2" name="Google Shape;272;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potencial eléctrico es una magnitud física que describe la capacidad de un campo eléctrico para realizar trabajo sobre una carga eléctrica.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potencial eléctrico en un punto se refiere a la cantidad de trabajo que sería necesario para mover una carga positiva desde un punto de referencia (comúnmente el infinito) hasta ese punto, dentro de un campo eléctrico</a:t>
            </a:r>
            <a:endParaRPr/>
          </a:p>
        </p:txBody>
      </p:sp>
      <p:sp>
        <p:nvSpPr>
          <p:cNvPr id="274" name="Google Shape;274;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5" name="Google Shape;275;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6" name="Google Shape;286;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7" name="Google Shape;287;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potencial eléctrico es una magnitud física que describe la capacidad de un campo eléctrico para realizar trabajo sobre una carga eléctrica.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potencial eléctrico en un punto se refiere a la cantidad de trabajo que sería necesario para mover una carga positiva desde un punto de referencia (comúnmente el infinito) hasta ese punto, dentro de un campo eléctrico</a:t>
            </a:r>
            <a:endParaRPr/>
          </a:p>
        </p:txBody>
      </p:sp>
      <p:sp>
        <p:nvSpPr>
          <p:cNvPr id="289" name="Google Shape;289;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0" name="Google Shape;290;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1" name="Google Shape;301;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2" name="Google Shape;302;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potencial eléctrico es una magnitud física que describe la capacidad de un campo eléctrico para realizar trabajo sobre una carga eléctrica.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potencial eléctrico en un punto se refiere a la cantidad de trabajo que sería necesario para mover una carga positiva desde un punto de referencia (comúnmente el infinito) hasta ese punto, dentro de un campo eléctrico</a:t>
            </a:r>
            <a:endParaRPr/>
          </a:p>
        </p:txBody>
      </p:sp>
      <p:sp>
        <p:nvSpPr>
          <p:cNvPr id="304" name="Google Shape;304;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5" name="Google Shape;305;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6" name="Google Shape;316;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7" name="Google Shape;317;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potencial eléctrico es una magnitud física que describe la capacidad de un campo eléctrico para realizar trabajo sobre una carga eléctrica.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potencial eléctrico en un punto se refiere a la cantidad de trabajo que sería necesario para mover una carga positiva desde un punto de referencia (comúnmente el infinito) hasta ese punto, dentro de un campo eléctrico</a:t>
            </a:r>
            <a:endParaRPr/>
          </a:p>
        </p:txBody>
      </p:sp>
      <p:sp>
        <p:nvSpPr>
          <p:cNvPr id="319" name="Google Shape;319;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0" name="Google Shape;320;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1" name="Google Shape;331;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32" name="Google Shape;332;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5" name="Google Shape;335;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4" name="Google Shape;344;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5" name="Google Shape;345;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8" name="Google Shape;348;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1792288" y="612775"/>
            <a:ext cx="5486400" cy="4114800"/>
          </a:xfrm>
          <a:prstGeom prst="rect">
            <a:avLst/>
          </a:prstGeom>
          <a:noFill/>
          <a:ln>
            <a:noFill/>
          </a:ln>
        </p:spPr>
      </p:sp>
      <p:sp>
        <p:nvSpPr>
          <p:cNvPr id="68" name="Google Shape;68;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87" name="Shape 87"/>
        <p:cNvGrpSpPr/>
        <p:nvPr/>
      </p:nvGrpSpPr>
      <p:grpSpPr>
        <a:xfrm>
          <a:off x="0" y="0"/>
          <a:ext cx="0" cy="0"/>
          <a:chOff x="0" y="0"/>
          <a:chExt cx="0" cy="0"/>
        </a:xfrm>
      </p:grpSpPr>
      <p:grpSp>
        <p:nvGrpSpPr>
          <p:cNvPr id="88" name="Google Shape;88;p1"/>
          <p:cNvGrpSpPr/>
          <p:nvPr/>
        </p:nvGrpSpPr>
        <p:grpSpPr>
          <a:xfrm rot="5400000">
            <a:off x="2659078" y="-6224990"/>
            <a:ext cx="6274827" cy="12450233"/>
            <a:chOff x="0" y="0"/>
            <a:chExt cx="3166110" cy="6282055"/>
          </a:xfrm>
        </p:grpSpPr>
        <p:sp>
          <p:nvSpPr>
            <p:cNvPr id="89" name="Google Shape;89;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ADC7EA"/>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13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1"/>
          <p:cNvGrpSpPr/>
          <p:nvPr/>
        </p:nvGrpSpPr>
        <p:grpSpPr>
          <a:xfrm rot="-5400000">
            <a:off x="9151318" y="4851619"/>
            <a:ext cx="6274827" cy="12450233"/>
            <a:chOff x="0" y="0"/>
            <a:chExt cx="3166110" cy="6282055"/>
          </a:xfrm>
        </p:grpSpPr>
        <p:sp>
          <p:nvSpPr>
            <p:cNvPr id="92" name="Google Shape;9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0E6E9"/>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E0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
          <p:cNvGrpSpPr/>
          <p:nvPr/>
        </p:nvGrpSpPr>
        <p:grpSpPr>
          <a:xfrm>
            <a:off x="12814229" y="6175561"/>
            <a:ext cx="12630150" cy="1367582"/>
            <a:chOff x="0" y="-66675"/>
            <a:chExt cx="3326459" cy="360186"/>
          </a:xfrm>
        </p:grpSpPr>
        <p:sp>
          <p:nvSpPr>
            <p:cNvPr id="95" name="Google Shape;95;p1"/>
            <p:cNvSpPr/>
            <p:nvPr/>
          </p:nvSpPr>
          <p:spPr>
            <a:xfrm>
              <a:off x="0" y="0"/>
              <a:ext cx="3326459" cy="293511"/>
            </a:xfrm>
            <a:custGeom>
              <a:rect b="b" l="l" r="r" t="t"/>
              <a:pathLst>
                <a:path extrusionOk="0" h="293511" w="3326459">
                  <a:moveTo>
                    <a:pt x="3123259" y="0"/>
                  </a:moveTo>
                  <a:cubicBezTo>
                    <a:pt x="3235484" y="0"/>
                    <a:pt x="3326459" y="65705"/>
                    <a:pt x="3326459" y="146756"/>
                  </a:cubicBezTo>
                  <a:cubicBezTo>
                    <a:pt x="3326459" y="227806"/>
                    <a:pt x="3235484" y="293511"/>
                    <a:pt x="3123259" y="293511"/>
                  </a:cubicBezTo>
                  <a:lnTo>
                    <a:pt x="203200" y="293511"/>
                  </a:lnTo>
                  <a:cubicBezTo>
                    <a:pt x="90976" y="293511"/>
                    <a:pt x="0" y="227806"/>
                    <a:pt x="0" y="146756"/>
                  </a:cubicBezTo>
                  <a:cubicBezTo>
                    <a:pt x="0" y="65705"/>
                    <a:pt x="90976" y="0"/>
                    <a:pt x="203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txBox="1"/>
            <p:nvPr/>
          </p:nvSpPr>
          <p:spPr>
            <a:xfrm>
              <a:off x="0" y="-66675"/>
              <a:ext cx="3326459" cy="360186"/>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7" name="Google Shape;97;p1"/>
          <p:cNvSpPr txBox="1"/>
          <p:nvPr/>
        </p:nvSpPr>
        <p:spPr>
          <a:xfrm>
            <a:off x="370203" y="4625020"/>
            <a:ext cx="13235916" cy="1165523"/>
          </a:xfrm>
          <a:prstGeom prst="rect">
            <a:avLst/>
          </a:prstGeom>
          <a:noFill/>
          <a:ln>
            <a:noFill/>
          </a:ln>
        </p:spPr>
        <p:txBody>
          <a:bodyPr anchorCtr="0" anchor="t" bIns="0" lIns="0" spcFirstLastPara="1" rIns="0" wrap="square" tIns="0">
            <a:spAutoFit/>
          </a:bodyPr>
          <a:lstStyle/>
          <a:p>
            <a:pPr indent="0" lvl="0" marL="0" marR="0" rtl="0" algn="ctr">
              <a:lnSpc>
                <a:spcPct val="114003"/>
              </a:lnSpc>
              <a:spcBef>
                <a:spcPts val="0"/>
              </a:spcBef>
              <a:spcAft>
                <a:spcPts val="0"/>
              </a:spcAft>
              <a:buNone/>
            </a:pPr>
            <a:r>
              <a:rPr b="1" i="0" lang="en-US" sz="7955" u="none" cap="none" strike="noStrike">
                <a:solidFill>
                  <a:srgbClr val="FFFFFF"/>
                </a:solidFill>
                <a:latin typeface="Oswald"/>
                <a:ea typeface="Oswald"/>
                <a:cs typeface="Oswald"/>
                <a:sym typeface="Oswald"/>
              </a:rPr>
              <a:t>ALGEBRA BOOLEANA</a:t>
            </a:r>
            <a:endParaRPr/>
          </a:p>
        </p:txBody>
      </p:sp>
      <p:sp>
        <p:nvSpPr>
          <p:cNvPr id="98" name="Google Shape;98;p1"/>
          <p:cNvSpPr txBox="1"/>
          <p:nvPr/>
        </p:nvSpPr>
        <p:spPr>
          <a:xfrm>
            <a:off x="1028700" y="8225324"/>
            <a:ext cx="13293265" cy="367538"/>
          </a:xfrm>
          <a:prstGeom prst="rect">
            <a:avLst/>
          </a:prstGeom>
          <a:noFill/>
          <a:ln>
            <a:noFill/>
          </a:ln>
        </p:spPr>
        <p:txBody>
          <a:bodyPr anchorCtr="0" anchor="t" bIns="0" lIns="0" spcFirstLastPara="1" rIns="0" wrap="square" tIns="0">
            <a:spAutoFit/>
          </a:bodyPr>
          <a:lstStyle/>
          <a:p>
            <a:pPr indent="0" lvl="0" marL="0" marR="0" rtl="0" algn="l">
              <a:lnSpc>
                <a:spcPct val="118008"/>
              </a:lnSpc>
              <a:spcBef>
                <a:spcPts val="0"/>
              </a:spcBef>
              <a:spcAft>
                <a:spcPts val="0"/>
              </a:spcAft>
              <a:buNone/>
            </a:pPr>
            <a:r>
              <a:rPr b="0" i="0" lang="en-US" sz="2199" u="none" cap="none" strike="noStrike">
                <a:solidFill>
                  <a:srgbClr val="FFFFFF"/>
                </a:solidFill>
                <a:latin typeface="Lato Black"/>
                <a:ea typeface="Lato Black"/>
                <a:cs typeface="Lato Black"/>
                <a:sym typeface="Lato Black"/>
              </a:rPr>
              <a:t>ORGANIZACIÓN COMPUTACIONAL</a:t>
            </a:r>
            <a:endParaRPr/>
          </a:p>
        </p:txBody>
      </p:sp>
      <p:cxnSp>
        <p:nvCxnSpPr>
          <p:cNvPr id="99" name="Google Shape;99;p1"/>
          <p:cNvCxnSpPr/>
          <p:nvPr/>
        </p:nvCxnSpPr>
        <p:spPr>
          <a:xfrm>
            <a:off x="-428625" y="3501989"/>
            <a:ext cx="6492240" cy="0"/>
          </a:xfrm>
          <a:prstGeom prst="straightConnector1">
            <a:avLst/>
          </a:prstGeom>
          <a:noFill/>
          <a:ln cap="flat" cmpd="sng" w="38100">
            <a:solidFill>
              <a:srgbClr val="FFFFFF"/>
            </a:solidFill>
            <a:prstDash val="solid"/>
            <a:round/>
            <a:headEnd len="sm" w="sm" type="none"/>
            <a:tailEnd len="lg" w="lg" type="oval"/>
          </a:ln>
        </p:spPr>
      </p:cxnSp>
      <p:cxnSp>
        <p:nvCxnSpPr>
          <p:cNvPr id="100" name="Google Shape;100;p1"/>
          <p:cNvCxnSpPr/>
          <p:nvPr/>
        </p:nvCxnSpPr>
        <p:spPr>
          <a:xfrm>
            <a:off x="12471329" y="7739549"/>
            <a:ext cx="6492240" cy="0"/>
          </a:xfrm>
          <a:prstGeom prst="straightConnector1">
            <a:avLst/>
          </a:prstGeom>
          <a:noFill/>
          <a:ln cap="flat" cmpd="sng" w="38100">
            <a:solidFill>
              <a:srgbClr val="FFFFFF"/>
            </a:solidFill>
            <a:prstDash val="solid"/>
            <a:round/>
            <a:headEnd len="lg" w="lg" type="oval"/>
            <a:tailEnd len="sm" w="sm" type="none"/>
          </a:ln>
        </p:spPr>
      </p:cxnSp>
      <p:grpSp>
        <p:nvGrpSpPr>
          <p:cNvPr id="101" name="Google Shape;101;p1"/>
          <p:cNvGrpSpPr/>
          <p:nvPr/>
        </p:nvGrpSpPr>
        <p:grpSpPr>
          <a:xfrm rot="-5400000">
            <a:off x="9766774" y="5394544"/>
            <a:ext cx="6274827" cy="12450233"/>
            <a:chOff x="0" y="0"/>
            <a:chExt cx="3166110" cy="6282055"/>
          </a:xfrm>
        </p:grpSpPr>
        <p:sp>
          <p:nvSpPr>
            <p:cNvPr id="102" name="Google Shape;10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9DB3C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9DB3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1"/>
          <p:cNvGrpSpPr/>
          <p:nvPr/>
        </p:nvGrpSpPr>
        <p:grpSpPr>
          <a:xfrm rot="5400000">
            <a:off x="2154253" y="-6869939"/>
            <a:ext cx="6274827" cy="12450233"/>
            <a:chOff x="0" y="0"/>
            <a:chExt cx="3166110" cy="6282055"/>
          </a:xfrm>
        </p:grpSpPr>
        <p:sp>
          <p:nvSpPr>
            <p:cNvPr id="105" name="Google Shape;105;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5B696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5B69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
          <p:cNvSpPr txBox="1"/>
          <p:nvPr/>
        </p:nvSpPr>
        <p:spPr>
          <a:xfrm>
            <a:off x="12288731" y="292465"/>
            <a:ext cx="5910775" cy="2634488"/>
          </a:xfrm>
          <a:prstGeom prst="rect">
            <a:avLst/>
          </a:prstGeom>
          <a:noFill/>
          <a:ln>
            <a:noFill/>
          </a:ln>
        </p:spPr>
        <p:txBody>
          <a:bodyPr anchorCtr="0" anchor="t" bIns="0" lIns="0" spcFirstLastPara="1" rIns="0" wrap="square" tIns="0">
            <a:spAutoFit/>
          </a:bodyPr>
          <a:lstStyle/>
          <a:p>
            <a:pPr indent="0" lvl="0" marL="0" marR="0" rtl="0" algn="r">
              <a:lnSpc>
                <a:spcPct val="118008"/>
              </a:lnSpc>
              <a:spcBef>
                <a:spcPts val="0"/>
              </a:spcBef>
              <a:spcAft>
                <a:spcPts val="0"/>
              </a:spcAft>
              <a:buNone/>
            </a:pPr>
            <a:r>
              <a:rPr b="0" i="0" lang="en-US" sz="2199" u="none" cap="none" strike="noStrike">
                <a:solidFill>
                  <a:srgbClr val="FFFFFF"/>
                </a:solidFill>
                <a:latin typeface="Lato Black"/>
                <a:ea typeface="Lato Black"/>
                <a:cs typeface="Lato Black"/>
                <a:sym typeface="Lato Black"/>
              </a:rPr>
              <a:t>ESCUELA DE INGENIERIA DE CIENCIAS Y SISTEMAS</a:t>
            </a:r>
            <a:endParaRPr/>
          </a:p>
          <a:p>
            <a:pPr indent="0" lvl="0" marL="0" marR="0" rtl="0" algn="r">
              <a:lnSpc>
                <a:spcPct val="118008"/>
              </a:lnSpc>
              <a:spcBef>
                <a:spcPts val="0"/>
              </a:spcBef>
              <a:spcAft>
                <a:spcPts val="0"/>
              </a:spcAft>
              <a:buNone/>
            </a:pPr>
            <a:r>
              <a:t/>
            </a:r>
            <a:endParaRPr b="0" i="0" sz="2199" u="none" cap="none" strike="noStrike">
              <a:solidFill>
                <a:srgbClr val="FFFFFF"/>
              </a:solidFill>
              <a:latin typeface="Lato Black"/>
              <a:ea typeface="Lato Black"/>
              <a:cs typeface="Lato Black"/>
              <a:sym typeface="Lato Black"/>
            </a:endParaRPr>
          </a:p>
          <a:p>
            <a:pPr indent="0" lvl="0" marL="0" marR="0" rtl="0" algn="r">
              <a:lnSpc>
                <a:spcPct val="118008"/>
              </a:lnSpc>
              <a:spcBef>
                <a:spcPts val="0"/>
              </a:spcBef>
              <a:spcAft>
                <a:spcPts val="0"/>
              </a:spcAft>
              <a:buNone/>
            </a:pPr>
            <a:r>
              <a:rPr b="1" i="0" lang="en-US" sz="2199" u="none" cap="none" strike="noStrike">
                <a:solidFill>
                  <a:srgbClr val="FFFFFF"/>
                </a:solidFill>
                <a:latin typeface="Lato"/>
                <a:ea typeface="Lato"/>
                <a:cs typeface="Lato"/>
                <a:sym typeface="Lato"/>
              </a:rPr>
              <a:t>FACULTAD DE INGENIERIA</a:t>
            </a:r>
            <a:endParaRPr/>
          </a:p>
          <a:p>
            <a:pPr indent="0" lvl="0" marL="0" marR="0" rtl="0" algn="r">
              <a:lnSpc>
                <a:spcPct val="118008"/>
              </a:lnSpc>
              <a:spcBef>
                <a:spcPts val="0"/>
              </a:spcBef>
              <a:spcAft>
                <a:spcPts val="0"/>
              </a:spcAft>
              <a:buNone/>
            </a:pPr>
            <a:r>
              <a:t/>
            </a:r>
            <a:endParaRPr b="1" i="0" sz="2199" u="none" cap="none" strike="noStrike">
              <a:solidFill>
                <a:srgbClr val="FFFFFF"/>
              </a:solidFill>
              <a:latin typeface="Lato"/>
              <a:ea typeface="Lato"/>
              <a:cs typeface="Lato"/>
              <a:sym typeface="Lato"/>
            </a:endParaRPr>
          </a:p>
          <a:p>
            <a:pPr indent="0" lvl="0" marL="0" marR="0" rtl="0" algn="r">
              <a:lnSpc>
                <a:spcPct val="118008"/>
              </a:lnSpc>
              <a:spcBef>
                <a:spcPts val="0"/>
              </a:spcBef>
              <a:spcAft>
                <a:spcPts val="0"/>
              </a:spcAft>
              <a:buNone/>
            </a:pPr>
            <a:r>
              <a:rPr b="1" i="0" lang="en-US" sz="2199" u="none" cap="none" strike="noStrike">
                <a:solidFill>
                  <a:srgbClr val="FFFFFF"/>
                </a:solidFill>
                <a:latin typeface="Lato"/>
                <a:ea typeface="Lato"/>
                <a:cs typeface="Lato"/>
                <a:sym typeface="Lato"/>
              </a:rPr>
              <a:t>UNIVERSIDAD DE SAN CARLOS DE GUATEMALA</a:t>
            </a:r>
            <a:endParaRPr/>
          </a:p>
          <a:p>
            <a:pPr indent="0" lvl="0" marL="0" marR="0" rtl="0" algn="r">
              <a:lnSpc>
                <a:spcPct val="118008"/>
              </a:lnSpc>
              <a:spcBef>
                <a:spcPts val="0"/>
              </a:spcBef>
              <a:spcAft>
                <a:spcPts val="0"/>
              </a:spcAft>
              <a:buNone/>
            </a:pPr>
            <a:r>
              <a:t/>
            </a:r>
            <a:endParaRPr b="1" i="0" sz="2199" u="none" cap="none" strike="noStrike">
              <a:solidFill>
                <a:srgbClr val="FFFFFF"/>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111" name="Shape 111"/>
        <p:cNvGrpSpPr/>
        <p:nvPr/>
      </p:nvGrpSpPr>
      <p:grpSpPr>
        <a:xfrm>
          <a:off x="0" y="0"/>
          <a:ext cx="0" cy="0"/>
          <a:chOff x="0" y="0"/>
          <a:chExt cx="0" cy="0"/>
        </a:xfrm>
      </p:grpSpPr>
      <p:cxnSp>
        <p:nvCxnSpPr>
          <p:cNvPr id="112" name="Google Shape;112;p2"/>
          <p:cNvCxnSpPr/>
          <p:nvPr/>
        </p:nvCxnSpPr>
        <p:spPr>
          <a:xfrm rot="10800000">
            <a:off x="6471625" y="0"/>
            <a:ext cx="0" cy="10287000"/>
          </a:xfrm>
          <a:prstGeom prst="straightConnector1">
            <a:avLst/>
          </a:prstGeom>
          <a:noFill/>
          <a:ln cap="flat" cmpd="sng" w="9525">
            <a:solidFill>
              <a:srgbClr val="FFFFFF"/>
            </a:solidFill>
            <a:prstDash val="solid"/>
            <a:round/>
            <a:headEnd len="sm" w="sm" type="none"/>
            <a:tailEnd len="sm" w="sm" type="none"/>
          </a:ln>
        </p:spPr>
      </p:cxnSp>
      <p:grpSp>
        <p:nvGrpSpPr>
          <p:cNvPr id="113" name="Google Shape;113;p2"/>
          <p:cNvGrpSpPr/>
          <p:nvPr/>
        </p:nvGrpSpPr>
        <p:grpSpPr>
          <a:xfrm>
            <a:off x="6344348" y="1954706"/>
            <a:ext cx="264078" cy="264078"/>
            <a:chOff x="0" y="0"/>
            <a:chExt cx="812800" cy="812800"/>
          </a:xfrm>
        </p:grpSpPr>
        <p:sp>
          <p:nvSpPr>
            <p:cNvPr id="114" name="Google Shape;11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6" name="Google Shape;116;p2"/>
          <p:cNvSpPr txBox="1"/>
          <p:nvPr/>
        </p:nvSpPr>
        <p:spPr>
          <a:xfrm>
            <a:off x="792492" y="4237229"/>
            <a:ext cx="5199431"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CONTENIDO</a:t>
            </a:r>
            <a:endParaRPr/>
          </a:p>
        </p:txBody>
      </p:sp>
      <p:sp>
        <p:nvSpPr>
          <p:cNvPr id="117" name="Google Shape;117;p2"/>
          <p:cNvSpPr txBox="1"/>
          <p:nvPr/>
        </p:nvSpPr>
        <p:spPr>
          <a:xfrm>
            <a:off x="6824213" y="1602557"/>
            <a:ext cx="7929515" cy="9017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FORMAS DE MINIMAZACION DE FUNCIONES BOOLEANAS</a:t>
            </a:r>
            <a:endParaRPr/>
          </a:p>
        </p:txBody>
      </p:sp>
      <p:sp>
        <p:nvSpPr>
          <p:cNvPr id="118" name="Google Shape;118;p2"/>
          <p:cNvSpPr txBox="1"/>
          <p:nvPr/>
        </p:nvSpPr>
        <p:spPr>
          <a:xfrm>
            <a:off x="6824213" y="3547917"/>
            <a:ext cx="7929515" cy="4445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MAPAS DE KARNAUGH</a:t>
            </a:r>
            <a:endParaRPr/>
          </a:p>
        </p:txBody>
      </p:sp>
      <p:sp>
        <p:nvSpPr>
          <p:cNvPr id="119" name="Google Shape;119;p2"/>
          <p:cNvSpPr txBox="1"/>
          <p:nvPr/>
        </p:nvSpPr>
        <p:spPr>
          <a:xfrm>
            <a:off x="6824213" y="5400807"/>
            <a:ext cx="7929515" cy="4445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CIRCUITOS LOGICOS BINARIOS</a:t>
            </a:r>
            <a:endParaRPr/>
          </a:p>
        </p:txBody>
      </p:sp>
      <p:sp>
        <p:nvSpPr>
          <p:cNvPr id="120" name="Google Shape;120;p2"/>
          <p:cNvSpPr txBox="1"/>
          <p:nvPr/>
        </p:nvSpPr>
        <p:spPr>
          <a:xfrm>
            <a:off x="6824213" y="6776099"/>
            <a:ext cx="7929515" cy="901700"/>
          </a:xfrm>
          <a:prstGeom prst="rect">
            <a:avLst/>
          </a:prstGeom>
          <a:noFill/>
          <a:ln>
            <a:noFill/>
          </a:ln>
        </p:spPr>
        <p:txBody>
          <a:bodyPr anchorCtr="0" anchor="t" bIns="0" lIns="0" spcFirstLastPara="1" rIns="0" wrap="square" tIns="0">
            <a:spAutoFit/>
          </a:bodyPr>
          <a:lstStyle/>
          <a:p>
            <a:pPr indent="0" lvl="0" marL="0" marR="0" rtl="0" algn="l">
              <a:lnSpc>
                <a:spcPct val="145018"/>
              </a:lnSpc>
              <a:spcBef>
                <a:spcPts val="0"/>
              </a:spcBef>
              <a:spcAft>
                <a:spcPts val="0"/>
              </a:spcAft>
              <a:buNone/>
            </a:pPr>
            <a:r>
              <a:rPr b="0" i="0" lang="en-US" sz="2499" u="none" cap="none" strike="noStrike">
                <a:solidFill>
                  <a:srgbClr val="FFFFFF"/>
                </a:solidFill>
                <a:latin typeface="Arial"/>
                <a:ea typeface="Arial"/>
                <a:cs typeface="Arial"/>
                <a:sym typeface="Arial"/>
              </a:rPr>
              <a:t>OPERACIONES COMBINADAS (XOR, XNOR, NAND Y NOR)</a:t>
            </a:r>
            <a:endParaRPr/>
          </a:p>
        </p:txBody>
      </p:sp>
      <p:grpSp>
        <p:nvGrpSpPr>
          <p:cNvPr id="121" name="Google Shape;121;p2"/>
          <p:cNvGrpSpPr/>
          <p:nvPr/>
        </p:nvGrpSpPr>
        <p:grpSpPr>
          <a:xfrm>
            <a:off x="6334823" y="3671465"/>
            <a:ext cx="264078" cy="264078"/>
            <a:chOff x="0" y="0"/>
            <a:chExt cx="812800" cy="812800"/>
          </a:xfrm>
        </p:grpSpPr>
        <p:sp>
          <p:nvSpPr>
            <p:cNvPr id="122" name="Google Shape;12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4" name="Google Shape;124;p2"/>
          <p:cNvGrpSpPr/>
          <p:nvPr/>
        </p:nvGrpSpPr>
        <p:grpSpPr>
          <a:xfrm>
            <a:off x="6344348" y="5467482"/>
            <a:ext cx="264078" cy="264078"/>
            <a:chOff x="0" y="0"/>
            <a:chExt cx="812800" cy="812800"/>
          </a:xfrm>
        </p:grpSpPr>
        <p:sp>
          <p:nvSpPr>
            <p:cNvPr id="125" name="Google Shape;12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7" name="Google Shape;127;p2"/>
          <p:cNvGrpSpPr/>
          <p:nvPr/>
        </p:nvGrpSpPr>
        <p:grpSpPr>
          <a:xfrm>
            <a:off x="6344348" y="7128247"/>
            <a:ext cx="264078" cy="264078"/>
            <a:chOff x="0" y="0"/>
            <a:chExt cx="812800" cy="812800"/>
          </a:xfrm>
        </p:grpSpPr>
        <p:sp>
          <p:nvSpPr>
            <p:cNvPr id="128" name="Google Shape;12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3"/>
          <p:cNvGrpSpPr/>
          <p:nvPr/>
        </p:nvGrpSpPr>
        <p:grpSpPr>
          <a:xfrm>
            <a:off x="0" y="-253157"/>
            <a:ext cx="18288000" cy="2841699"/>
            <a:chOff x="0" y="-66675"/>
            <a:chExt cx="4816593" cy="748431"/>
          </a:xfrm>
        </p:grpSpPr>
        <p:sp>
          <p:nvSpPr>
            <p:cNvPr id="139" name="Google Shape;139;p3"/>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40" name="Google Shape;140;p3"/>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3"/>
          <p:cNvSpPr txBox="1"/>
          <p:nvPr/>
        </p:nvSpPr>
        <p:spPr>
          <a:xfrm>
            <a:off x="1028700" y="3865652"/>
            <a:ext cx="16230600" cy="24966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El estudiante aplica Sistemas </a:t>
            </a:r>
            <a:r>
              <a:rPr lang="en-US" sz="2599">
                <a:latin typeface="Montserrat"/>
                <a:ea typeface="Montserrat"/>
                <a:cs typeface="Montserrat"/>
                <a:sym typeface="Montserrat"/>
              </a:rPr>
              <a:t>numéricos</a:t>
            </a:r>
            <a:r>
              <a:rPr b="0" i="0" lang="en-US" sz="2599" u="none" cap="none" strike="noStrike">
                <a:solidFill>
                  <a:srgbClr val="000000"/>
                </a:solidFill>
                <a:latin typeface="Montserrat"/>
                <a:ea typeface="Montserrat"/>
                <a:cs typeface="Montserrat"/>
                <a:sym typeface="Montserrat"/>
              </a:rPr>
              <a:t> posicionales (binario, octal y decimal), componentes básicos de electrónica digital (puertas lógicas, transistores, LEDs) Mediante simuladores de circuitos digitales (Proteus) Para representar informacion con presicion en dispositivos digitales, para implementar diseños funcionales en protoboard y comprobar su fidelidad frente al modelo simulado. </a:t>
            </a:r>
            <a:endParaRPr/>
          </a:p>
        </p:txBody>
      </p:sp>
      <p:sp>
        <p:nvSpPr>
          <p:cNvPr id="142" name="Google Shape;142;p3"/>
          <p:cNvSpPr txBox="1"/>
          <p:nvPr/>
        </p:nvSpPr>
        <p:spPr>
          <a:xfrm>
            <a:off x="1028700" y="1066763"/>
            <a:ext cx="16230600"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COMPETENCIAS QUE DESARROLLAREMOS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pSp>
        <p:nvGrpSpPr>
          <p:cNvPr id="147" name="Google Shape;147;p4"/>
          <p:cNvGrpSpPr/>
          <p:nvPr/>
        </p:nvGrpSpPr>
        <p:grpSpPr>
          <a:xfrm>
            <a:off x="0" y="-253157"/>
            <a:ext cx="6906257" cy="10540157"/>
            <a:chOff x="0" y="-66675"/>
            <a:chExt cx="1818932" cy="2776008"/>
          </a:xfrm>
        </p:grpSpPr>
        <p:sp>
          <p:nvSpPr>
            <p:cNvPr id="148" name="Google Shape;148;p4"/>
            <p:cNvSpPr/>
            <p:nvPr/>
          </p:nvSpPr>
          <p:spPr>
            <a:xfrm>
              <a:off x="0" y="0"/>
              <a:ext cx="1818932" cy="2709333"/>
            </a:xfrm>
            <a:custGeom>
              <a:rect b="b" l="l" r="r" t="t"/>
              <a:pathLst>
                <a:path extrusionOk="0" h="2709333" w="1818932">
                  <a:moveTo>
                    <a:pt x="0" y="0"/>
                  </a:moveTo>
                  <a:lnTo>
                    <a:pt x="1818932" y="0"/>
                  </a:lnTo>
                  <a:lnTo>
                    <a:pt x="1818932" y="2709333"/>
                  </a:lnTo>
                  <a:lnTo>
                    <a:pt x="0" y="2709333"/>
                  </a:lnTo>
                  <a:close/>
                </a:path>
              </a:pathLst>
            </a:custGeom>
            <a:solidFill>
              <a:srgbClr val="132232"/>
            </a:solidFill>
            <a:ln>
              <a:noFill/>
            </a:ln>
          </p:spPr>
        </p:sp>
        <p:sp>
          <p:nvSpPr>
            <p:cNvPr id="149" name="Google Shape;149;p4"/>
            <p:cNvSpPr txBox="1"/>
            <p:nvPr/>
          </p:nvSpPr>
          <p:spPr>
            <a:xfrm>
              <a:off x="0" y="-66675"/>
              <a:ext cx="1818932" cy="2776008"/>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4"/>
          <p:cNvSpPr txBox="1"/>
          <p:nvPr/>
        </p:nvSpPr>
        <p:spPr>
          <a:xfrm>
            <a:off x="524238" y="4092060"/>
            <a:ext cx="5857780" cy="21409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7340" u="none" cap="none" strike="noStrike">
                <a:solidFill>
                  <a:srgbClr val="FFFFFF"/>
                </a:solidFill>
                <a:latin typeface="Oswald"/>
                <a:ea typeface="Oswald"/>
                <a:cs typeface="Oswald"/>
                <a:sym typeface="Oswald"/>
              </a:rPr>
              <a:t>VALORES A DESARROLLAR</a:t>
            </a:r>
            <a:endParaRPr/>
          </a:p>
        </p:txBody>
      </p:sp>
      <p:cxnSp>
        <p:nvCxnSpPr>
          <p:cNvPr id="151" name="Google Shape;151;p4"/>
          <p:cNvCxnSpPr/>
          <p:nvPr/>
        </p:nvCxnSpPr>
        <p:spPr>
          <a:xfrm rot="-5398408">
            <a:off x="2758522" y="5138735"/>
            <a:ext cx="10287001" cy="0"/>
          </a:xfrm>
          <a:prstGeom prst="straightConnector1">
            <a:avLst/>
          </a:prstGeom>
          <a:noFill/>
          <a:ln cap="flat" cmpd="sng" w="9525">
            <a:solidFill>
              <a:srgbClr val="000000"/>
            </a:solidFill>
            <a:prstDash val="solid"/>
            <a:round/>
            <a:headEnd len="sm" w="sm" type="none"/>
            <a:tailEnd len="sm" w="sm" type="none"/>
          </a:ln>
        </p:spPr>
      </p:cxnSp>
      <p:grpSp>
        <p:nvGrpSpPr>
          <p:cNvPr id="152" name="Google Shape;152;p4"/>
          <p:cNvGrpSpPr/>
          <p:nvPr/>
        </p:nvGrpSpPr>
        <p:grpSpPr>
          <a:xfrm>
            <a:off x="7547722" y="1653944"/>
            <a:ext cx="722889" cy="722889"/>
            <a:chOff x="0" y="0"/>
            <a:chExt cx="812800" cy="812800"/>
          </a:xfrm>
        </p:grpSpPr>
        <p:sp>
          <p:nvSpPr>
            <p:cNvPr id="153" name="Google Shape;153;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145018"/>
                </a:lnSpc>
                <a:spcBef>
                  <a:spcPts val="0"/>
                </a:spcBef>
                <a:spcAft>
                  <a:spcPts val="0"/>
                </a:spcAft>
                <a:buNone/>
              </a:pPr>
              <a:r>
                <a:rPr b="1" i="0" lang="en-US" sz="2499" u="none" cap="none" strike="noStrike">
                  <a:solidFill>
                    <a:srgbClr val="FFFFFF"/>
                  </a:solidFill>
                  <a:latin typeface="Arial"/>
                  <a:ea typeface="Arial"/>
                  <a:cs typeface="Arial"/>
                  <a:sym typeface="Arial"/>
                </a:rPr>
                <a:t>1</a:t>
              </a:r>
              <a:endParaRPr/>
            </a:p>
          </p:txBody>
        </p:sp>
      </p:grpSp>
      <p:sp>
        <p:nvSpPr>
          <p:cNvPr id="155" name="Google Shape;155;p4"/>
          <p:cNvSpPr txBox="1"/>
          <p:nvPr/>
        </p:nvSpPr>
        <p:spPr>
          <a:xfrm>
            <a:off x="8573802" y="1731090"/>
            <a:ext cx="9021238" cy="492397"/>
          </a:xfrm>
          <a:prstGeom prst="rect">
            <a:avLst/>
          </a:prstGeom>
          <a:noFill/>
          <a:ln>
            <a:noFill/>
          </a:ln>
        </p:spPr>
        <p:txBody>
          <a:bodyPr anchorCtr="0" anchor="t" bIns="0" lIns="0" spcFirstLastPara="1" rIns="0" wrap="square" tIns="0">
            <a:spAutoFit/>
          </a:bodyPr>
          <a:lstStyle/>
          <a:p>
            <a:pPr indent="0" lvl="0" marL="0" marR="0" rtl="0" algn="l">
              <a:lnSpc>
                <a:spcPct val="145001"/>
              </a:lnSpc>
              <a:spcBef>
                <a:spcPts val="0"/>
              </a:spcBef>
              <a:spcAft>
                <a:spcPts val="0"/>
              </a:spcAft>
              <a:buNone/>
            </a:pPr>
            <a:r>
              <a:rPr b="0" i="0" lang="en-US" sz="2791" u="none" cap="none" strike="noStrike">
                <a:solidFill>
                  <a:srgbClr val="000000"/>
                </a:solidFill>
                <a:latin typeface="Arial"/>
                <a:ea typeface="Arial"/>
                <a:cs typeface="Arial"/>
                <a:sym typeface="Arial"/>
              </a:rPr>
              <a:t>TRABAJO EN EQUIPO</a:t>
            </a:r>
            <a:endParaRPr/>
          </a:p>
        </p:txBody>
      </p:sp>
      <p:grpSp>
        <p:nvGrpSpPr>
          <p:cNvPr id="156" name="Google Shape;156;p4"/>
          <p:cNvGrpSpPr/>
          <p:nvPr/>
        </p:nvGrpSpPr>
        <p:grpSpPr>
          <a:xfrm>
            <a:off x="7547722" y="3739350"/>
            <a:ext cx="722889" cy="722889"/>
            <a:chOff x="0" y="0"/>
            <a:chExt cx="812800" cy="812800"/>
          </a:xfrm>
        </p:grpSpPr>
        <p:sp>
          <p:nvSpPr>
            <p:cNvPr id="157" name="Google Shape;157;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145018"/>
                </a:lnSpc>
                <a:spcBef>
                  <a:spcPts val="0"/>
                </a:spcBef>
                <a:spcAft>
                  <a:spcPts val="0"/>
                </a:spcAft>
                <a:buNone/>
              </a:pPr>
              <a:r>
                <a:rPr b="1" i="0" lang="en-US" sz="2499" u="none" cap="none" strike="noStrike">
                  <a:solidFill>
                    <a:srgbClr val="FFFFFF"/>
                  </a:solidFill>
                  <a:latin typeface="Arial"/>
                  <a:ea typeface="Arial"/>
                  <a:cs typeface="Arial"/>
                  <a:sym typeface="Arial"/>
                </a:rPr>
                <a:t>2</a:t>
              </a:r>
              <a:endParaRPr/>
            </a:p>
          </p:txBody>
        </p:sp>
      </p:grpSp>
      <p:sp>
        <p:nvSpPr>
          <p:cNvPr id="159" name="Google Shape;159;p4"/>
          <p:cNvSpPr txBox="1"/>
          <p:nvPr/>
        </p:nvSpPr>
        <p:spPr>
          <a:xfrm>
            <a:off x="8573802" y="3816496"/>
            <a:ext cx="9021238" cy="492397"/>
          </a:xfrm>
          <a:prstGeom prst="rect">
            <a:avLst/>
          </a:prstGeom>
          <a:noFill/>
          <a:ln>
            <a:noFill/>
          </a:ln>
        </p:spPr>
        <p:txBody>
          <a:bodyPr anchorCtr="0" anchor="t" bIns="0" lIns="0" spcFirstLastPara="1" rIns="0" wrap="square" tIns="0">
            <a:spAutoFit/>
          </a:bodyPr>
          <a:lstStyle/>
          <a:p>
            <a:pPr indent="0" lvl="0" marL="0" marR="0" rtl="0" algn="l">
              <a:lnSpc>
                <a:spcPct val="145001"/>
              </a:lnSpc>
              <a:spcBef>
                <a:spcPts val="0"/>
              </a:spcBef>
              <a:spcAft>
                <a:spcPts val="0"/>
              </a:spcAft>
              <a:buNone/>
            </a:pPr>
            <a:r>
              <a:rPr b="0" i="0" lang="en-US" sz="2791" u="none" cap="none" strike="noStrike">
                <a:solidFill>
                  <a:srgbClr val="000000"/>
                </a:solidFill>
                <a:latin typeface="Arial"/>
                <a:ea typeface="Arial"/>
                <a:cs typeface="Arial"/>
                <a:sym typeface="Arial"/>
              </a:rPr>
              <a:t>ANALISIS Y PENSAMIENTO CRITICO</a:t>
            </a:r>
            <a:endParaRPr/>
          </a:p>
        </p:txBody>
      </p:sp>
      <p:grpSp>
        <p:nvGrpSpPr>
          <p:cNvPr id="160" name="Google Shape;160;p4"/>
          <p:cNvGrpSpPr/>
          <p:nvPr/>
        </p:nvGrpSpPr>
        <p:grpSpPr>
          <a:xfrm>
            <a:off x="7547722" y="5824756"/>
            <a:ext cx="722889" cy="722889"/>
            <a:chOff x="0" y="0"/>
            <a:chExt cx="812800" cy="812800"/>
          </a:xfrm>
        </p:grpSpPr>
        <p:sp>
          <p:nvSpPr>
            <p:cNvPr id="161" name="Google Shape;16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145018"/>
                </a:lnSpc>
                <a:spcBef>
                  <a:spcPts val="0"/>
                </a:spcBef>
                <a:spcAft>
                  <a:spcPts val="0"/>
                </a:spcAft>
                <a:buNone/>
              </a:pPr>
              <a:r>
                <a:rPr b="1" i="0" lang="en-US" sz="2499" u="none" cap="none" strike="noStrike">
                  <a:solidFill>
                    <a:srgbClr val="FFFFFF"/>
                  </a:solidFill>
                  <a:latin typeface="Arial"/>
                  <a:ea typeface="Arial"/>
                  <a:cs typeface="Arial"/>
                  <a:sym typeface="Arial"/>
                </a:rPr>
                <a:t>3</a:t>
              </a:r>
              <a:endParaRPr/>
            </a:p>
          </p:txBody>
        </p:sp>
      </p:grpSp>
      <p:sp>
        <p:nvSpPr>
          <p:cNvPr id="163" name="Google Shape;163;p4"/>
          <p:cNvSpPr txBox="1"/>
          <p:nvPr/>
        </p:nvSpPr>
        <p:spPr>
          <a:xfrm>
            <a:off x="8573802" y="5901902"/>
            <a:ext cx="9021238" cy="492397"/>
          </a:xfrm>
          <a:prstGeom prst="rect">
            <a:avLst/>
          </a:prstGeom>
          <a:noFill/>
          <a:ln>
            <a:noFill/>
          </a:ln>
        </p:spPr>
        <p:txBody>
          <a:bodyPr anchorCtr="0" anchor="t" bIns="0" lIns="0" spcFirstLastPara="1" rIns="0" wrap="square" tIns="0">
            <a:spAutoFit/>
          </a:bodyPr>
          <a:lstStyle/>
          <a:p>
            <a:pPr indent="0" lvl="0" marL="0" marR="0" rtl="0" algn="l">
              <a:lnSpc>
                <a:spcPct val="145001"/>
              </a:lnSpc>
              <a:spcBef>
                <a:spcPts val="0"/>
              </a:spcBef>
              <a:spcAft>
                <a:spcPts val="0"/>
              </a:spcAft>
              <a:buNone/>
            </a:pPr>
            <a:r>
              <a:rPr b="0" i="0" lang="en-US" sz="2791" u="none" cap="none" strike="noStrike">
                <a:solidFill>
                  <a:srgbClr val="000000"/>
                </a:solidFill>
                <a:latin typeface="Arial"/>
                <a:ea typeface="Arial"/>
                <a:cs typeface="Arial"/>
                <a:sym typeface="Arial"/>
              </a:rPr>
              <a:t>RESPETO</a:t>
            </a:r>
            <a:endParaRPr/>
          </a:p>
        </p:txBody>
      </p:sp>
      <p:grpSp>
        <p:nvGrpSpPr>
          <p:cNvPr id="164" name="Google Shape;164;p4"/>
          <p:cNvGrpSpPr/>
          <p:nvPr/>
        </p:nvGrpSpPr>
        <p:grpSpPr>
          <a:xfrm>
            <a:off x="7547722" y="7910162"/>
            <a:ext cx="722889" cy="722889"/>
            <a:chOff x="0" y="0"/>
            <a:chExt cx="812800" cy="812800"/>
          </a:xfrm>
        </p:grpSpPr>
        <p:sp>
          <p:nvSpPr>
            <p:cNvPr id="165" name="Google Shape;16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145018"/>
                </a:lnSpc>
                <a:spcBef>
                  <a:spcPts val="0"/>
                </a:spcBef>
                <a:spcAft>
                  <a:spcPts val="0"/>
                </a:spcAft>
                <a:buNone/>
              </a:pPr>
              <a:r>
                <a:rPr b="1" i="0" lang="en-US" sz="2499" u="none" cap="none" strike="noStrike">
                  <a:solidFill>
                    <a:srgbClr val="FFFFFF"/>
                  </a:solidFill>
                  <a:latin typeface="Arial"/>
                  <a:ea typeface="Arial"/>
                  <a:cs typeface="Arial"/>
                  <a:sym typeface="Arial"/>
                </a:rPr>
                <a:t>4</a:t>
              </a:r>
              <a:endParaRPr/>
            </a:p>
          </p:txBody>
        </p:sp>
      </p:grpSp>
      <p:sp>
        <p:nvSpPr>
          <p:cNvPr id="167" name="Google Shape;167;p4"/>
          <p:cNvSpPr txBox="1"/>
          <p:nvPr/>
        </p:nvSpPr>
        <p:spPr>
          <a:xfrm>
            <a:off x="8573802" y="7987308"/>
            <a:ext cx="9021238" cy="492397"/>
          </a:xfrm>
          <a:prstGeom prst="rect">
            <a:avLst/>
          </a:prstGeom>
          <a:noFill/>
          <a:ln>
            <a:noFill/>
          </a:ln>
        </p:spPr>
        <p:txBody>
          <a:bodyPr anchorCtr="0" anchor="t" bIns="0" lIns="0" spcFirstLastPara="1" rIns="0" wrap="square" tIns="0">
            <a:spAutoFit/>
          </a:bodyPr>
          <a:lstStyle/>
          <a:p>
            <a:pPr indent="0" lvl="0" marL="0" marR="0" rtl="0" algn="l">
              <a:lnSpc>
                <a:spcPct val="145001"/>
              </a:lnSpc>
              <a:spcBef>
                <a:spcPts val="0"/>
              </a:spcBef>
              <a:spcAft>
                <a:spcPts val="0"/>
              </a:spcAft>
              <a:buNone/>
            </a:pPr>
            <a:r>
              <a:rPr b="0" i="0" lang="en-US" sz="2791" u="none" cap="none" strike="noStrike">
                <a:solidFill>
                  <a:srgbClr val="000000"/>
                </a:solidFill>
                <a:latin typeface="Arial"/>
                <a:ea typeface="Arial"/>
                <a:cs typeface="Arial"/>
                <a:sym typeface="Arial"/>
              </a:rPr>
              <a:t>AUTONOMÍA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171" name="Shape 171"/>
        <p:cNvGrpSpPr/>
        <p:nvPr/>
      </p:nvGrpSpPr>
      <p:grpSpPr>
        <a:xfrm>
          <a:off x="0" y="0"/>
          <a:ext cx="0" cy="0"/>
          <a:chOff x="0" y="0"/>
          <a:chExt cx="0" cy="0"/>
        </a:xfrm>
      </p:grpSpPr>
      <p:cxnSp>
        <p:nvCxnSpPr>
          <p:cNvPr id="172" name="Google Shape;172;p5"/>
          <p:cNvCxnSpPr/>
          <p:nvPr/>
        </p:nvCxnSpPr>
        <p:spPr>
          <a:xfrm>
            <a:off x="4940584" y="6465400"/>
            <a:ext cx="13347416" cy="0"/>
          </a:xfrm>
          <a:prstGeom prst="straightConnector1">
            <a:avLst/>
          </a:prstGeom>
          <a:noFill/>
          <a:ln cap="flat" cmpd="sng" w="28575">
            <a:solidFill>
              <a:srgbClr val="FFFFFF"/>
            </a:solidFill>
            <a:prstDash val="solid"/>
            <a:round/>
            <a:headEnd len="lg" w="lg" type="oval"/>
            <a:tailEnd len="sm" w="sm" type="none"/>
          </a:ln>
        </p:spPr>
      </p:cxnSp>
      <p:cxnSp>
        <p:nvCxnSpPr>
          <p:cNvPr id="173" name="Google Shape;173;p5"/>
          <p:cNvCxnSpPr/>
          <p:nvPr/>
        </p:nvCxnSpPr>
        <p:spPr>
          <a:xfrm>
            <a:off x="0" y="3285380"/>
            <a:ext cx="13347416" cy="0"/>
          </a:xfrm>
          <a:prstGeom prst="straightConnector1">
            <a:avLst/>
          </a:prstGeom>
          <a:noFill/>
          <a:ln cap="flat" cmpd="sng" w="28575">
            <a:solidFill>
              <a:srgbClr val="FFFFFF"/>
            </a:solidFill>
            <a:prstDash val="solid"/>
            <a:round/>
            <a:headEnd len="sm" w="sm" type="none"/>
            <a:tailEnd len="lg" w="lg" type="oval"/>
          </a:ln>
        </p:spPr>
      </p:cxnSp>
      <p:sp>
        <p:nvSpPr>
          <p:cNvPr id="174" name="Google Shape;174;p5"/>
          <p:cNvSpPr txBox="1"/>
          <p:nvPr/>
        </p:nvSpPr>
        <p:spPr>
          <a:xfrm>
            <a:off x="2574170" y="3642760"/>
            <a:ext cx="12318600" cy="2647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FORMAS DE </a:t>
            </a:r>
            <a:r>
              <a:rPr lang="en-US" sz="8000">
                <a:solidFill>
                  <a:srgbClr val="FFFFFF"/>
                </a:solidFill>
                <a:latin typeface="Oswald"/>
                <a:ea typeface="Oswald"/>
                <a:cs typeface="Oswald"/>
                <a:sym typeface="Oswald"/>
              </a:rPr>
              <a:t>MINIMIZACIÓN</a:t>
            </a:r>
            <a:r>
              <a:rPr b="0" i="0" lang="en-US" sz="8000" u="none" cap="none" strike="noStrike">
                <a:solidFill>
                  <a:srgbClr val="FFFFFF"/>
                </a:solidFill>
                <a:latin typeface="Oswald"/>
                <a:ea typeface="Oswald"/>
                <a:cs typeface="Oswald"/>
                <a:sym typeface="Oswald"/>
              </a:rPr>
              <a:t> DE FUNCIONES BOOLEANAS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grpSp>
        <p:nvGrpSpPr>
          <p:cNvPr id="183" name="Google Shape;183;p6"/>
          <p:cNvGrpSpPr/>
          <p:nvPr/>
        </p:nvGrpSpPr>
        <p:grpSpPr>
          <a:xfrm>
            <a:off x="0" y="-253157"/>
            <a:ext cx="18288000" cy="2841699"/>
            <a:chOff x="0" y="-66675"/>
            <a:chExt cx="4816593" cy="748431"/>
          </a:xfrm>
        </p:grpSpPr>
        <p:sp>
          <p:nvSpPr>
            <p:cNvPr id="184" name="Google Shape;184;p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85" name="Google Shape;185;p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6" name="Google Shape;186;p6"/>
          <p:cNvSpPr txBox="1"/>
          <p:nvPr/>
        </p:nvSpPr>
        <p:spPr>
          <a:xfrm>
            <a:off x="390601" y="2823265"/>
            <a:ext cx="17506797" cy="8495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Además de los postulados básicos, existen métodos avanzados para simplificar funciones booleanas complejas. Estos métodos son esenciales cuando se trabaja con funciones de múltiples variables.</a:t>
            </a:r>
            <a:endParaRPr/>
          </a:p>
        </p:txBody>
      </p:sp>
      <p:sp>
        <p:nvSpPr>
          <p:cNvPr id="187" name="Google Shape;187;p6"/>
          <p:cNvSpPr txBox="1"/>
          <p:nvPr/>
        </p:nvSpPr>
        <p:spPr>
          <a:xfrm>
            <a:off x="390601" y="4055864"/>
            <a:ext cx="5242633" cy="4278503"/>
          </a:xfrm>
          <a:prstGeom prst="rect">
            <a:avLst/>
          </a:prstGeom>
          <a:noFill/>
          <a:ln>
            <a:noFill/>
          </a:ln>
        </p:spPr>
        <p:txBody>
          <a:bodyPr anchorCtr="0" anchor="t" bIns="0" lIns="0" spcFirstLastPara="1" rIns="0" wrap="square" tIns="0">
            <a:spAutoFit/>
          </a:bodyPr>
          <a:lstStyle/>
          <a:p>
            <a:pPr indent="0" lvl="0" marL="0" marR="0" rtl="0" algn="ctr">
              <a:lnSpc>
                <a:spcPct val="131011"/>
              </a:lnSpc>
              <a:spcBef>
                <a:spcPts val="0"/>
              </a:spcBef>
              <a:spcAft>
                <a:spcPts val="0"/>
              </a:spcAft>
              <a:buNone/>
            </a:pPr>
            <a:r>
              <a:rPr b="1" i="0" lang="en-US" sz="2599" u="none" cap="none" strike="noStrike">
                <a:solidFill>
                  <a:srgbClr val="000000"/>
                </a:solidFill>
                <a:latin typeface="Montserrat"/>
                <a:ea typeface="Montserrat"/>
                <a:cs typeface="Montserrat"/>
                <a:sym typeface="Montserrat"/>
              </a:rPr>
              <a:t>MAPAS DE KARNAUGH</a:t>
            </a:r>
            <a:endParaRPr/>
          </a:p>
          <a:p>
            <a:pPr indent="0" lvl="0" marL="0" marR="0" rtl="0" algn="ctr">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Los mapas de Karnaugh son una técnica gráfica que permite visualizar y simplificar funciones booleanas de hasta 4 variables. Facilitan la identificación de términos adyacentes que pueden combinarse para simplificar la expresión. </a:t>
            </a:r>
            <a:endParaRPr/>
          </a:p>
        </p:txBody>
      </p:sp>
      <p:sp>
        <p:nvSpPr>
          <p:cNvPr id="188" name="Google Shape;188;p6"/>
          <p:cNvSpPr txBox="1"/>
          <p:nvPr/>
        </p:nvSpPr>
        <p:spPr>
          <a:xfrm>
            <a:off x="1028700" y="255783"/>
            <a:ext cx="13103867" cy="2336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FORMAS DE MINIMAZACION DE FUNCIONES BOOLEANAS</a:t>
            </a:r>
            <a:endParaRPr/>
          </a:p>
        </p:txBody>
      </p:sp>
      <p:sp>
        <p:nvSpPr>
          <p:cNvPr id="189" name="Google Shape;189;p6"/>
          <p:cNvSpPr txBox="1"/>
          <p:nvPr/>
        </p:nvSpPr>
        <p:spPr>
          <a:xfrm>
            <a:off x="12183785" y="4055864"/>
            <a:ext cx="5740915" cy="4278503"/>
          </a:xfrm>
          <a:prstGeom prst="rect">
            <a:avLst/>
          </a:prstGeom>
          <a:noFill/>
          <a:ln>
            <a:noFill/>
          </a:ln>
        </p:spPr>
        <p:txBody>
          <a:bodyPr anchorCtr="0" anchor="t" bIns="0" lIns="0" spcFirstLastPara="1" rIns="0" wrap="square" tIns="0">
            <a:spAutoFit/>
          </a:bodyPr>
          <a:lstStyle/>
          <a:p>
            <a:pPr indent="0" lvl="0" marL="0" marR="0" rtl="0" algn="ctr">
              <a:lnSpc>
                <a:spcPct val="131011"/>
              </a:lnSpc>
              <a:spcBef>
                <a:spcPts val="0"/>
              </a:spcBef>
              <a:spcAft>
                <a:spcPts val="0"/>
              </a:spcAft>
              <a:buNone/>
            </a:pPr>
            <a:r>
              <a:rPr b="1" i="0" lang="en-US" sz="2599" u="none" cap="none" strike="noStrike">
                <a:solidFill>
                  <a:srgbClr val="000000"/>
                </a:solidFill>
                <a:latin typeface="Montserrat"/>
                <a:ea typeface="Montserrat"/>
                <a:cs typeface="Montserrat"/>
                <a:sym typeface="Montserrat"/>
              </a:rPr>
              <a:t>Algoritmo de Espresso</a:t>
            </a:r>
            <a:endParaRPr/>
          </a:p>
          <a:p>
            <a:pPr indent="0" lvl="0" marL="0" marR="0" rtl="0" algn="ctr">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método computacional avanzado para la minimización de funciones booleanas. Puede manejar funciones con un gran número de variables y es ampliamente utilizado en herramientas de diseño asistido por computadora (CAD) para la síntesis lógica.  </a:t>
            </a:r>
            <a:endParaRPr/>
          </a:p>
        </p:txBody>
      </p:sp>
      <p:sp>
        <p:nvSpPr>
          <p:cNvPr id="190" name="Google Shape;190;p6"/>
          <p:cNvSpPr txBox="1"/>
          <p:nvPr/>
        </p:nvSpPr>
        <p:spPr>
          <a:xfrm>
            <a:off x="417903" y="8717464"/>
            <a:ext cx="17506797" cy="1278128"/>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Estos métodos avanzados son fundamentales en el diseño de circuitos integrados complejos, donde la optimización puede significar ahorros significativos en área de chip, consumo de energía y velocidad de operación.</a:t>
            </a:r>
            <a:endParaRPr/>
          </a:p>
        </p:txBody>
      </p:sp>
      <p:sp>
        <p:nvSpPr>
          <p:cNvPr id="191" name="Google Shape;191;p6"/>
          <p:cNvSpPr txBox="1"/>
          <p:nvPr/>
        </p:nvSpPr>
        <p:spPr>
          <a:xfrm>
            <a:off x="5931151" y="4055864"/>
            <a:ext cx="5724842" cy="4278503"/>
          </a:xfrm>
          <a:prstGeom prst="rect">
            <a:avLst/>
          </a:prstGeom>
          <a:noFill/>
          <a:ln>
            <a:noFill/>
          </a:ln>
        </p:spPr>
        <p:txBody>
          <a:bodyPr anchorCtr="0" anchor="t" bIns="0" lIns="0" spcFirstLastPara="1" rIns="0" wrap="square" tIns="0">
            <a:spAutoFit/>
          </a:bodyPr>
          <a:lstStyle/>
          <a:p>
            <a:pPr indent="0" lvl="0" marL="0" marR="0" rtl="0" algn="ctr">
              <a:lnSpc>
                <a:spcPct val="131011"/>
              </a:lnSpc>
              <a:spcBef>
                <a:spcPts val="0"/>
              </a:spcBef>
              <a:spcAft>
                <a:spcPts val="0"/>
              </a:spcAft>
              <a:buNone/>
            </a:pPr>
            <a:r>
              <a:rPr b="1" i="0" lang="en-US" sz="2599" u="none" cap="none" strike="noStrike">
                <a:solidFill>
                  <a:srgbClr val="000000"/>
                </a:solidFill>
                <a:latin typeface="Montserrat"/>
                <a:ea typeface="Montserrat"/>
                <a:cs typeface="Montserrat"/>
                <a:sym typeface="Montserrat"/>
              </a:rPr>
              <a:t>Método de Quine-McCluskey</a:t>
            </a:r>
            <a:endParaRPr/>
          </a:p>
          <a:p>
            <a:pPr indent="0" lvl="0" marL="0" marR="0" rtl="0" algn="ctr">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También conocido como el método de los implicantes primos, es un procedimiento tabular para minimizar funciones booleanas. Es especialmente útil para funciones con más de 4 variables, donde los mapas de Karnaugh se vuelven difíciles de manejar.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195" name="Shape 195"/>
        <p:cNvGrpSpPr/>
        <p:nvPr/>
      </p:nvGrpSpPr>
      <p:grpSpPr>
        <a:xfrm>
          <a:off x="0" y="0"/>
          <a:ext cx="0" cy="0"/>
          <a:chOff x="0" y="0"/>
          <a:chExt cx="0" cy="0"/>
        </a:xfrm>
      </p:grpSpPr>
      <p:cxnSp>
        <p:nvCxnSpPr>
          <p:cNvPr id="196" name="Google Shape;196;p7"/>
          <p:cNvCxnSpPr/>
          <p:nvPr/>
        </p:nvCxnSpPr>
        <p:spPr>
          <a:xfrm>
            <a:off x="4940584" y="6465400"/>
            <a:ext cx="13347416" cy="0"/>
          </a:xfrm>
          <a:prstGeom prst="straightConnector1">
            <a:avLst/>
          </a:prstGeom>
          <a:noFill/>
          <a:ln cap="flat" cmpd="sng" w="28575">
            <a:solidFill>
              <a:srgbClr val="FFFFFF"/>
            </a:solidFill>
            <a:prstDash val="solid"/>
            <a:round/>
            <a:headEnd len="lg" w="lg" type="oval"/>
            <a:tailEnd len="sm" w="sm" type="none"/>
          </a:ln>
        </p:spPr>
      </p:cxnSp>
      <p:cxnSp>
        <p:nvCxnSpPr>
          <p:cNvPr id="197" name="Google Shape;197;p7"/>
          <p:cNvCxnSpPr/>
          <p:nvPr/>
        </p:nvCxnSpPr>
        <p:spPr>
          <a:xfrm>
            <a:off x="0" y="3285380"/>
            <a:ext cx="13347416" cy="0"/>
          </a:xfrm>
          <a:prstGeom prst="straightConnector1">
            <a:avLst/>
          </a:prstGeom>
          <a:noFill/>
          <a:ln cap="flat" cmpd="sng" w="28575">
            <a:solidFill>
              <a:srgbClr val="FFFFFF"/>
            </a:solidFill>
            <a:prstDash val="solid"/>
            <a:round/>
            <a:headEnd len="sm" w="sm" type="none"/>
            <a:tailEnd len="lg" w="lg" type="oval"/>
          </a:ln>
        </p:spPr>
      </p:cxnSp>
      <p:sp>
        <p:nvSpPr>
          <p:cNvPr id="198" name="Google Shape;198;p7"/>
          <p:cNvSpPr txBox="1"/>
          <p:nvPr/>
        </p:nvSpPr>
        <p:spPr>
          <a:xfrm>
            <a:off x="2574170" y="4223785"/>
            <a:ext cx="12318716"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MAPAS DE KARNAUGH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p8"/>
          <p:cNvGrpSpPr/>
          <p:nvPr/>
        </p:nvGrpSpPr>
        <p:grpSpPr>
          <a:xfrm>
            <a:off x="0" y="-253157"/>
            <a:ext cx="18288000" cy="2595006"/>
            <a:chOff x="0" y="-66675"/>
            <a:chExt cx="4816593" cy="683458"/>
          </a:xfrm>
        </p:grpSpPr>
        <p:sp>
          <p:nvSpPr>
            <p:cNvPr id="208" name="Google Shape;208;p8"/>
            <p:cNvSpPr/>
            <p:nvPr/>
          </p:nvSpPr>
          <p:spPr>
            <a:xfrm>
              <a:off x="0" y="0"/>
              <a:ext cx="4816592" cy="616783"/>
            </a:xfrm>
            <a:custGeom>
              <a:rect b="b" l="l" r="r" t="t"/>
              <a:pathLst>
                <a:path extrusionOk="0" h="616783" w="4816592">
                  <a:moveTo>
                    <a:pt x="0" y="0"/>
                  </a:moveTo>
                  <a:lnTo>
                    <a:pt x="4816592" y="0"/>
                  </a:lnTo>
                  <a:lnTo>
                    <a:pt x="4816592" y="616783"/>
                  </a:lnTo>
                  <a:lnTo>
                    <a:pt x="0" y="616783"/>
                  </a:lnTo>
                  <a:close/>
                </a:path>
              </a:pathLst>
            </a:custGeom>
            <a:solidFill>
              <a:srgbClr val="132232"/>
            </a:solidFill>
            <a:ln>
              <a:noFill/>
            </a:ln>
          </p:spPr>
        </p:sp>
        <p:sp>
          <p:nvSpPr>
            <p:cNvPr id="209" name="Google Shape;209;p8"/>
            <p:cNvSpPr txBox="1"/>
            <p:nvPr/>
          </p:nvSpPr>
          <p:spPr>
            <a:xfrm>
              <a:off x="0" y="-66675"/>
              <a:ext cx="4816593" cy="683458"/>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0" name="Google Shape;210;p8"/>
          <p:cNvSpPr/>
          <p:nvPr/>
        </p:nvSpPr>
        <p:spPr>
          <a:xfrm>
            <a:off x="11823264" y="269129"/>
            <a:ext cx="4797294" cy="3263134"/>
          </a:xfrm>
          <a:custGeom>
            <a:rect b="b" l="l" r="r" t="t"/>
            <a:pathLst>
              <a:path extrusionOk="0" h="3263134" w="4797294">
                <a:moveTo>
                  <a:pt x="0" y="0"/>
                </a:moveTo>
                <a:lnTo>
                  <a:pt x="4797293" y="0"/>
                </a:lnTo>
                <a:lnTo>
                  <a:pt x="4797293" y="3263134"/>
                </a:lnTo>
                <a:lnTo>
                  <a:pt x="0" y="3263134"/>
                </a:lnTo>
                <a:lnTo>
                  <a:pt x="0" y="0"/>
                </a:lnTo>
                <a:close/>
              </a:path>
            </a:pathLst>
          </a:custGeom>
          <a:blipFill rotWithShape="1">
            <a:blip r:embed="rId3">
              <a:alphaModFix/>
            </a:blip>
            <a:stretch>
              <a:fillRect b="0" l="0" r="0" t="0"/>
            </a:stretch>
          </a:blipFill>
          <a:ln>
            <a:noFill/>
          </a:ln>
        </p:spPr>
      </p:sp>
      <p:sp>
        <p:nvSpPr>
          <p:cNvPr id="211" name="Google Shape;211;p8"/>
          <p:cNvSpPr txBox="1"/>
          <p:nvPr/>
        </p:nvSpPr>
        <p:spPr>
          <a:xfrm>
            <a:off x="1028700" y="4314394"/>
            <a:ext cx="16028025" cy="3849878"/>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 un diagrama utilizado para la simplificación de funciones algebraicas Booleanas.</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El mapa de Karnaugh consiste en una representación bidimensional de la tabla de verdad de</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la función a simplificar. Puesto que la tabla de verdad de una función de N variables posee</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2^N filas, el mapa K correspondiente debe poseer también 2^N cuadrados. Las variables de</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la expresión son ordenadas en función de su peso y siguiendo el código Gray, de manera que</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sólo una de las variables varía entre celdas adyacentes. La transferencia de los términos de la</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tabla de verdad al mapa de Karnaugh se realiza de forma directa, albergando un 0 ó un 1,</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dependiendo del valor que toma la función en cada fila.</a:t>
            </a:r>
            <a:endParaRPr/>
          </a:p>
        </p:txBody>
      </p:sp>
      <p:sp>
        <p:nvSpPr>
          <p:cNvPr id="212" name="Google Shape;212;p8"/>
          <p:cNvSpPr txBox="1"/>
          <p:nvPr/>
        </p:nvSpPr>
        <p:spPr>
          <a:xfrm>
            <a:off x="1028700" y="725946"/>
            <a:ext cx="10794564"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MAPAS DE KARNAUGH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grpSp>
        <p:nvGrpSpPr>
          <p:cNvPr id="221" name="Google Shape;221;p9"/>
          <p:cNvGrpSpPr/>
          <p:nvPr/>
        </p:nvGrpSpPr>
        <p:grpSpPr>
          <a:xfrm>
            <a:off x="0" y="-253157"/>
            <a:ext cx="18288000" cy="2595006"/>
            <a:chOff x="0" y="-66675"/>
            <a:chExt cx="4816593" cy="683458"/>
          </a:xfrm>
        </p:grpSpPr>
        <p:sp>
          <p:nvSpPr>
            <p:cNvPr id="222" name="Google Shape;222;p9"/>
            <p:cNvSpPr/>
            <p:nvPr/>
          </p:nvSpPr>
          <p:spPr>
            <a:xfrm>
              <a:off x="0" y="0"/>
              <a:ext cx="4816592" cy="616783"/>
            </a:xfrm>
            <a:custGeom>
              <a:rect b="b" l="l" r="r" t="t"/>
              <a:pathLst>
                <a:path extrusionOk="0" h="616783" w="4816592">
                  <a:moveTo>
                    <a:pt x="0" y="0"/>
                  </a:moveTo>
                  <a:lnTo>
                    <a:pt x="4816592" y="0"/>
                  </a:lnTo>
                  <a:lnTo>
                    <a:pt x="4816592" y="616783"/>
                  </a:lnTo>
                  <a:lnTo>
                    <a:pt x="0" y="616783"/>
                  </a:lnTo>
                  <a:close/>
                </a:path>
              </a:pathLst>
            </a:custGeom>
            <a:solidFill>
              <a:srgbClr val="132232"/>
            </a:solidFill>
            <a:ln>
              <a:noFill/>
            </a:ln>
          </p:spPr>
        </p:sp>
        <p:sp>
          <p:nvSpPr>
            <p:cNvPr id="223" name="Google Shape;223;p9"/>
            <p:cNvSpPr txBox="1"/>
            <p:nvPr/>
          </p:nvSpPr>
          <p:spPr>
            <a:xfrm>
              <a:off x="0" y="-66675"/>
              <a:ext cx="4816593" cy="683458"/>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9"/>
          <p:cNvSpPr/>
          <p:nvPr/>
        </p:nvSpPr>
        <p:spPr>
          <a:xfrm>
            <a:off x="4169244" y="6262010"/>
            <a:ext cx="9949511" cy="2996290"/>
          </a:xfrm>
          <a:custGeom>
            <a:rect b="b" l="l" r="r" t="t"/>
            <a:pathLst>
              <a:path extrusionOk="0" h="2996290" w="9949511">
                <a:moveTo>
                  <a:pt x="0" y="0"/>
                </a:moveTo>
                <a:lnTo>
                  <a:pt x="9949512" y="0"/>
                </a:lnTo>
                <a:lnTo>
                  <a:pt x="9949512" y="2996290"/>
                </a:lnTo>
                <a:lnTo>
                  <a:pt x="0" y="2996290"/>
                </a:lnTo>
                <a:lnTo>
                  <a:pt x="0" y="0"/>
                </a:lnTo>
                <a:close/>
              </a:path>
            </a:pathLst>
          </a:custGeom>
          <a:blipFill rotWithShape="1">
            <a:blip r:embed="rId3">
              <a:alphaModFix/>
            </a:blip>
            <a:stretch>
              <a:fillRect b="0" l="0" r="0" t="0"/>
            </a:stretch>
          </a:blipFill>
          <a:ln>
            <a:noFill/>
          </a:ln>
        </p:spPr>
      </p:sp>
      <p:sp>
        <p:nvSpPr>
          <p:cNvPr id="225" name="Google Shape;225;p9"/>
          <p:cNvSpPr txBox="1"/>
          <p:nvPr/>
        </p:nvSpPr>
        <p:spPr>
          <a:xfrm>
            <a:off x="1028700" y="2809564"/>
            <a:ext cx="16028025" cy="2992628"/>
          </a:xfrm>
          <a:prstGeom prst="rect">
            <a:avLst/>
          </a:prstGeom>
          <a:noFill/>
          <a:ln>
            <a:noFill/>
          </a:ln>
        </p:spPr>
        <p:txBody>
          <a:bodyPr anchorCtr="0" anchor="t" bIns="0" lIns="0" spcFirstLastPara="1" rIns="0" wrap="square" tIns="0">
            <a:spAutoFit/>
          </a:bodyPr>
          <a:lstStyle/>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Agrupar Celdas Adyacentes. Se agrupan 1s si se trabaja con minterminos o con 0s con maxterminos.</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Los grupos son potencias de 2, donde buscamos unir 1,2,4,8,16 0s o 1s que esten juntos.</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Para encontrar la ecuación lógica resultante de los mapas de Karnaugh se observan las variables que no cambian dentro del grupo.</a:t>
            </a:r>
            <a:endParaRPr/>
          </a:p>
        </p:txBody>
      </p:sp>
      <p:sp>
        <p:nvSpPr>
          <p:cNvPr id="226" name="Google Shape;226;p9"/>
          <p:cNvSpPr txBox="1"/>
          <p:nvPr/>
        </p:nvSpPr>
        <p:spPr>
          <a:xfrm>
            <a:off x="1028700" y="725946"/>
            <a:ext cx="10794564"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REGLAS DE SIMPLIFICACION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30" name="Shape 230"/>
        <p:cNvGrpSpPr/>
        <p:nvPr/>
      </p:nvGrpSpPr>
      <p:grpSpPr>
        <a:xfrm>
          <a:off x="0" y="0"/>
          <a:ext cx="0" cy="0"/>
          <a:chOff x="0" y="0"/>
          <a:chExt cx="0" cy="0"/>
        </a:xfrm>
      </p:grpSpPr>
      <p:cxnSp>
        <p:nvCxnSpPr>
          <p:cNvPr id="231" name="Google Shape;231;p10"/>
          <p:cNvCxnSpPr/>
          <p:nvPr/>
        </p:nvCxnSpPr>
        <p:spPr>
          <a:xfrm>
            <a:off x="4940584" y="6465400"/>
            <a:ext cx="13347416" cy="0"/>
          </a:xfrm>
          <a:prstGeom prst="straightConnector1">
            <a:avLst/>
          </a:prstGeom>
          <a:noFill/>
          <a:ln cap="flat" cmpd="sng" w="28575">
            <a:solidFill>
              <a:srgbClr val="FFFFFF"/>
            </a:solidFill>
            <a:prstDash val="solid"/>
            <a:round/>
            <a:headEnd len="lg" w="lg" type="oval"/>
            <a:tailEnd len="sm" w="sm" type="none"/>
          </a:ln>
        </p:spPr>
      </p:cxnSp>
      <p:cxnSp>
        <p:nvCxnSpPr>
          <p:cNvPr id="232" name="Google Shape;232;p10"/>
          <p:cNvCxnSpPr/>
          <p:nvPr/>
        </p:nvCxnSpPr>
        <p:spPr>
          <a:xfrm>
            <a:off x="0" y="3285380"/>
            <a:ext cx="13347416" cy="0"/>
          </a:xfrm>
          <a:prstGeom prst="straightConnector1">
            <a:avLst/>
          </a:prstGeom>
          <a:noFill/>
          <a:ln cap="flat" cmpd="sng" w="28575">
            <a:solidFill>
              <a:srgbClr val="FFFFFF"/>
            </a:solidFill>
            <a:prstDash val="solid"/>
            <a:round/>
            <a:headEnd len="sm" w="sm" type="none"/>
            <a:tailEnd len="lg" w="lg" type="oval"/>
          </a:ln>
        </p:spPr>
      </p:cxnSp>
      <p:sp>
        <p:nvSpPr>
          <p:cNvPr id="233" name="Google Shape;233;p10"/>
          <p:cNvSpPr txBox="1"/>
          <p:nvPr/>
        </p:nvSpPr>
        <p:spPr>
          <a:xfrm>
            <a:off x="2574170" y="3642760"/>
            <a:ext cx="12318716" cy="2336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CIRCUITOS LÓGICOS BINARIOS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pSp>
        <p:nvGrpSpPr>
          <p:cNvPr id="242" name="Google Shape;242;p11"/>
          <p:cNvGrpSpPr/>
          <p:nvPr/>
        </p:nvGrpSpPr>
        <p:grpSpPr>
          <a:xfrm>
            <a:off x="0" y="-253157"/>
            <a:ext cx="18288000" cy="2841699"/>
            <a:chOff x="0" y="-66675"/>
            <a:chExt cx="4816593" cy="748431"/>
          </a:xfrm>
        </p:grpSpPr>
        <p:sp>
          <p:nvSpPr>
            <p:cNvPr id="243" name="Google Shape;243;p11"/>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44" name="Google Shape;244;p11"/>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5" name="Google Shape;245;p11"/>
          <p:cNvSpPr/>
          <p:nvPr/>
        </p:nvSpPr>
        <p:spPr>
          <a:xfrm>
            <a:off x="6733715" y="6088023"/>
            <a:ext cx="4274068" cy="3565037"/>
          </a:xfrm>
          <a:custGeom>
            <a:rect b="b" l="l" r="r" t="t"/>
            <a:pathLst>
              <a:path extrusionOk="0" h="3565037" w="4274068">
                <a:moveTo>
                  <a:pt x="0" y="0"/>
                </a:moveTo>
                <a:lnTo>
                  <a:pt x="4274068" y="0"/>
                </a:lnTo>
                <a:lnTo>
                  <a:pt x="4274068" y="3565037"/>
                </a:lnTo>
                <a:lnTo>
                  <a:pt x="0" y="3565037"/>
                </a:lnTo>
                <a:lnTo>
                  <a:pt x="0" y="0"/>
                </a:lnTo>
                <a:close/>
              </a:path>
            </a:pathLst>
          </a:custGeom>
          <a:blipFill rotWithShape="1">
            <a:blip r:embed="rId3">
              <a:alphaModFix/>
            </a:blip>
            <a:stretch>
              <a:fillRect b="0" l="0" r="0" t="0"/>
            </a:stretch>
          </a:blipFill>
          <a:ln>
            <a:noFill/>
          </a:ln>
        </p:spPr>
      </p:sp>
      <p:sp>
        <p:nvSpPr>
          <p:cNvPr id="246" name="Google Shape;246;p11"/>
          <p:cNvSpPr txBox="1"/>
          <p:nvPr/>
        </p:nvSpPr>
        <p:spPr>
          <a:xfrm>
            <a:off x="1028700" y="2997397"/>
            <a:ext cx="16028025" cy="342125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Son la columna vertebral de toda la electrónica digital moderna. A diferencia de los circuitos analógicos que manejan un rango continuo de valores, los circuitos lógicos binarios operan exclusivamente con dos estados discretos.</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Estos circuitos están diseñados para procesar información que se representa mediante el sistema binario. Esto significa que solo reconocen y manipulan dos posibles valores: 0 y 1</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p:txBody>
      </p:sp>
      <p:sp>
        <p:nvSpPr>
          <p:cNvPr id="247" name="Google Shape;247;p11"/>
          <p:cNvSpPr txBox="1"/>
          <p:nvPr/>
        </p:nvSpPr>
        <p:spPr>
          <a:xfrm>
            <a:off x="1028700" y="251742"/>
            <a:ext cx="13103867" cy="2336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¿QUE SON LOS CIRCUITOS LOGICOS BINARIOS?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p12"/>
          <p:cNvGrpSpPr/>
          <p:nvPr/>
        </p:nvGrpSpPr>
        <p:grpSpPr>
          <a:xfrm>
            <a:off x="0" y="-253157"/>
            <a:ext cx="18288000" cy="2841699"/>
            <a:chOff x="0" y="-66675"/>
            <a:chExt cx="4816593" cy="748431"/>
          </a:xfrm>
        </p:grpSpPr>
        <p:sp>
          <p:nvSpPr>
            <p:cNvPr id="257" name="Google Shape;257;p12"/>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58" name="Google Shape;258;p12"/>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12"/>
          <p:cNvSpPr/>
          <p:nvPr/>
        </p:nvSpPr>
        <p:spPr>
          <a:xfrm>
            <a:off x="9385860" y="6674190"/>
            <a:ext cx="3937459" cy="3284268"/>
          </a:xfrm>
          <a:custGeom>
            <a:rect b="b" l="l" r="r" t="t"/>
            <a:pathLst>
              <a:path extrusionOk="0" h="3284268" w="3937459">
                <a:moveTo>
                  <a:pt x="0" y="0"/>
                </a:moveTo>
                <a:lnTo>
                  <a:pt x="3937459" y="0"/>
                </a:lnTo>
                <a:lnTo>
                  <a:pt x="3937459" y="3284268"/>
                </a:lnTo>
                <a:lnTo>
                  <a:pt x="0" y="3284268"/>
                </a:lnTo>
                <a:lnTo>
                  <a:pt x="0" y="0"/>
                </a:lnTo>
                <a:close/>
              </a:path>
            </a:pathLst>
          </a:custGeom>
          <a:blipFill rotWithShape="1">
            <a:blip r:embed="rId3">
              <a:alphaModFix/>
            </a:blip>
            <a:stretch>
              <a:fillRect b="0" l="0" r="0" t="0"/>
            </a:stretch>
          </a:blipFill>
          <a:ln>
            <a:noFill/>
          </a:ln>
        </p:spPr>
      </p:sp>
      <p:sp>
        <p:nvSpPr>
          <p:cNvPr id="260" name="Google Shape;260;p12"/>
          <p:cNvSpPr txBox="1"/>
          <p:nvPr/>
        </p:nvSpPr>
        <p:spPr>
          <a:xfrm>
            <a:off x="1028700" y="2997397"/>
            <a:ext cx="16028025" cy="4707128"/>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En estos circuitos entran en juego las compuertas logicas, que son los bloques de construcción más fundamentales de los circuitos digitales. Son dispositivos electrónicos que implementan funciones booleanas básicas, es decir, realizan operaciones lógicas sobre una o más entradas binarias para producir una única salida binaria.</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Piensa en ellas como pequeñas "puertas" o "filtros" que controlan el flujo de información. Solo se abren o se cierran (producen un 1 o un 0 en la salida) si se cumplen ciertas condiciones en sus entradas. Por ejemplo, una compuerta AND es como una puerta que solo se abre si ambos requisitos se cumplen.</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p:txBody>
      </p:sp>
      <p:sp>
        <p:nvSpPr>
          <p:cNvPr id="261" name="Google Shape;261;p12"/>
          <p:cNvSpPr txBox="1"/>
          <p:nvPr/>
        </p:nvSpPr>
        <p:spPr>
          <a:xfrm>
            <a:off x="1028700" y="251742"/>
            <a:ext cx="13103867" cy="2336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¿QUE SON LOS CIRCUITOS LOGICOS BINARIOS?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65" name="Shape 265"/>
        <p:cNvGrpSpPr/>
        <p:nvPr/>
      </p:nvGrpSpPr>
      <p:grpSpPr>
        <a:xfrm>
          <a:off x="0" y="0"/>
          <a:ext cx="0" cy="0"/>
          <a:chOff x="0" y="0"/>
          <a:chExt cx="0" cy="0"/>
        </a:xfrm>
      </p:grpSpPr>
      <p:cxnSp>
        <p:nvCxnSpPr>
          <p:cNvPr id="266" name="Google Shape;266;p13"/>
          <p:cNvCxnSpPr/>
          <p:nvPr/>
        </p:nvCxnSpPr>
        <p:spPr>
          <a:xfrm>
            <a:off x="4940584" y="6465400"/>
            <a:ext cx="13347416" cy="0"/>
          </a:xfrm>
          <a:prstGeom prst="straightConnector1">
            <a:avLst/>
          </a:prstGeom>
          <a:noFill/>
          <a:ln cap="flat" cmpd="sng" w="28575">
            <a:solidFill>
              <a:srgbClr val="FFFFFF"/>
            </a:solidFill>
            <a:prstDash val="solid"/>
            <a:round/>
            <a:headEnd len="lg" w="lg" type="oval"/>
            <a:tailEnd len="sm" w="sm" type="none"/>
          </a:ln>
        </p:spPr>
      </p:cxnSp>
      <p:cxnSp>
        <p:nvCxnSpPr>
          <p:cNvPr id="267" name="Google Shape;267;p13"/>
          <p:cNvCxnSpPr/>
          <p:nvPr/>
        </p:nvCxnSpPr>
        <p:spPr>
          <a:xfrm>
            <a:off x="0" y="3285380"/>
            <a:ext cx="13347416" cy="0"/>
          </a:xfrm>
          <a:prstGeom prst="straightConnector1">
            <a:avLst/>
          </a:prstGeom>
          <a:noFill/>
          <a:ln cap="flat" cmpd="sng" w="28575">
            <a:solidFill>
              <a:srgbClr val="FFFFFF"/>
            </a:solidFill>
            <a:prstDash val="solid"/>
            <a:round/>
            <a:headEnd len="sm" w="sm" type="none"/>
            <a:tailEnd len="lg" w="lg" type="oval"/>
          </a:ln>
        </p:spPr>
      </p:cxnSp>
      <p:sp>
        <p:nvSpPr>
          <p:cNvPr id="268" name="Google Shape;268;p13"/>
          <p:cNvSpPr txBox="1"/>
          <p:nvPr/>
        </p:nvSpPr>
        <p:spPr>
          <a:xfrm>
            <a:off x="2574170" y="4223785"/>
            <a:ext cx="12318716"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OPERACIONES COMBINADAS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grpSp>
        <p:nvGrpSpPr>
          <p:cNvPr id="277" name="Google Shape;277;p14"/>
          <p:cNvGrpSpPr/>
          <p:nvPr/>
        </p:nvGrpSpPr>
        <p:grpSpPr>
          <a:xfrm>
            <a:off x="0" y="-253157"/>
            <a:ext cx="18288000" cy="2841699"/>
            <a:chOff x="0" y="-66675"/>
            <a:chExt cx="4816593" cy="748431"/>
          </a:xfrm>
        </p:grpSpPr>
        <p:sp>
          <p:nvSpPr>
            <p:cNvPr id="278" name="Google Shape;278;p14"/>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79" name="Google Shape;279;p14"/>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0" name="Google Shape;280;p14"/>
          <p:cNvSpPr/>
          <p:nvPr/>
        </p:nvSpPr>
        <p:spPr>
          <a:xfrm>
            <a:off x="8638689" y="2842131"/>
            <a:ext cx="8620611" cy="2642944"/>
          </a:xfrm>
          <a:custGeom>
            <a:rect b="b" l="l" r="r" t="t"/>
            <a:pathLst>
              <a:path extrusionOk="0" h="2642944" w="8620611">
                <a:moveTo>
                  <a:pt x="0" y="0"/>
                </a:moveTo>
                <a:lnTo>
                  <a:pt x="8620611" y="0"/>
                </a:lnTo>
                <a:lnTo>
                  <a:pt x="8620611" y="2642945"/>
                </a:lnTo>
                <a:lnTo>
                  <a:pt x="0" y="2642945"/>
                </a:lnTo>
                <a:lnTo>
                  <a:pt x="0" y="0"/>
                </a:lnTo>
                <a:close/>
              </a:path>
            </a:pathLst>
          </a:custGeom>
          <a:blipFill rotWithShape="1">
            <a:blip r:embed="rId3">
              <a:alphaModFix/>
            </a:blip>
            <a:stretch>
              <a:fillRect b="0" l="0" r="0" t="0"/>
            </a:stretch>
          </a:blipFill>
          <a:ln>
            <a:noFill/>
          </a:ln>
        </p:spPr>
      </p:sp>
      <p:sp>
        <p:nvSpPr>
          <p:cNvPr id="281" name="Google Shape;281;p14"/>
          <p:cNvSpPr/>
          <p:nvPr/>
        </p:nvSpPr>
        <p:spPr>
          <a:xfrm>
            <a:off x="12442254" y="5485076"/>
            <a:ext cx="3922044" cy="4398842"/>
          </a:xfrm>
          <a:custGeom>
            <a:rect b="b" l="l" r="r" t="t"/>
            <a:pathLst>
              <a:path extrusionOk="0" h="4398842" w="3922044">
                <a:moveTo>
                  <a:pt x="0" y="0"/>
                </a:moveTo>
                <a:lnTo>
                  <a:pt x="3922044" y="0"/>
                </a:lnTo>
                <a:lnTo>
                  <a:pt x="3922044" y="4398842"/>
                </a:lnTo>
                <a:lnTo>
                  <a:pt x="0" y="4398842"/>
                </a:lnTo>
                <a:lnTo>
                  <a:pt x="0" y="0"/>
                </a:lnTo>
                <a:close/>
              </a:path>
            </a:pathLst>
          </a:custGeom>
          <a:blipFill rotWithShape="1">
            <a:blip r:embed="rId4">
              <a:alphaModFix/>
            </a:blip>
            <a:stretch>
              <a:fillRect b="0" l="0" r="0" t="0"/>
            </a:stretch>
          </a:blipFill>
          <a:ln>
            <a:noFill/>
          </a:ln>
        </p:spPr>
      </p:sp>
      <p:sp>
        <p:nvSpPr>
          <p:cNvPr id="282" name="Google Shape;282;p14"/>
          <p:cNvSpPr txBox="1"/>
          <p:nvPr/>
        </p:nvSpPr>
        <p:spPr>
          <a:xfrm>
            <a:off x="1420345" y="3178058"/>
            <a:ext cx="5716240" cy="342125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Esta actúa como una suma binaria de un dígito cada uno y el resultado de la suma sería la salida. Otra manera de verlo es que con valores de entrada igual el estado de salida es 0 y con valores de entrada diferente, la salida será 1..</a:t>
            </a:r>
            <a:endParaRPr/>
          </a:p>
        </p:txBody>
      </p:sp>
      <p:sp>
        <p:nvSpPr>
          <p:cNvPr id="283" name="Google Shape;283;p14"/>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XOR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grpSp>
        <p:nvGrpSpPr>
          <p:cNvPr id="292" name="Google Shape;292;p15"/>
          <p:cNvGrpSpPr/>
          <p:nvPr/>
        </p:nvGrpSpPr>
        <p:grpSpPr>
          <a:xfrm>
            <a:off x="0" y="-253157"/>
            <a:ext cx="18288000" cy="2841699"/>
            <a:chOff x="0" y="-66675"/>
            <a:chExt cx="4816593" cy="748431"/>
          </a:xfrm>
        </p:grpSpPr>
        <p:sp>
          <p:nvSpPr>
            <p:cNvPr id="293" name="Google Shape;293;p1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94" name="Google Shape;294;p1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15"/>
          <p:cNvSpPr/>
          <p:nvPr/>
        </p:nvSpPr>
        <p:spPr>
          <a:xfrm>
            <a:off x="8908650" y="2799329"/>
            <a:ext cx="8052585" cy="2474959"/>
          </a:xfrm>
          <a:custGeom>
            <a:rect b="b" l="l" r="r" t="t"/>
            <a:pathLst>
              <a:path extrusionOk="0" h="2474959" w="8052585">
                <a:moveTo>
                  <a:pt x="0" y="0"/>
                </a:moveTo>
                <a:lnTo>
                  <a:pt x="8052585" y="0"/>
                </a:lnTo>
                <a:lnTo>
                  <a:pt x="8052585" y="2474960"/>
                </a:lnTo>
                <a:lnTo>
                  <a:pt x="0" y="2474960"/>
                </a:lnTo>
                <a:lnTo>
                  <a:pt x="0" y="0"/>
                </a:lnTo>
                <a:close/>
              </a:path>
            </a:pathLst>
          </a:custGeom>
          <a:blipFill rotWithShape="1">
            <a:blip r:embed="rId3">
              <a:alphaModFix/>
            </a:blip>
            <a:stretch>
              <a:fillRect b="0" l="0" r="0" t="0"/>
            </a:stretch>
          </a:blipFill>
          <a:ln>
            <a:noFill/>
          </a:ln>
        </p:spPr>
      </p:sp>
      <p:sp>
        <p:nvSpPr>
          <p:cNvPr id="296" name="Google Shape;296;p15"/>
          <p:cNvSpPr/>
          <p:nvPr/>
        </p:nvSpPr>
        <p:spPr>
          <a:xfrm>
            <a:off x="7408538" y="5483839"/>
            <a:ext cx="3470923" cy="4544939"/>
          </a:xfrm>
          <a:custGeom>
            <a:rect b="b" l="l" r="r" t="t"/>
            <a:pathLst>
              <a:path extrusionOk="0" h="4544939" w="3470923">
                <a:moveTo>
                  <a:pt x="0" y="0"/>
                </a:moveTo>
                <a:lnTo>
                  <a:pt x="3470924" y="0"/>
                </a:lnTo>
                <a:lnTo>
                  <a:pt x="3470924" y="4544938"/>
                </a:lnTo>
                <a:lnTo>
                  <a:pt x="0" y="4544938"/>
                </a:lnTo>
                <a:lnTo>
                  <a:pt x="0" y="0"/>
                </a:lnTo>
                <a:close/>
              </a:path>
            </a:pathLst>
          </a:custGeom>
          <a:blipFill rotWithShape="1">
            <a:blip r:embed="rId4">
              <a:alphaModFix/>
            </a:blip>
            <a:stretch>
              <a:fillRect b="0" l="0" r="-1419" t="0"/>
            </a:stretch>
          </a:blipFill>
          <a:ln>
            <a:noFill/>
          </a:ln>
        </p:spPr>
      </p:sp>
      <p:sp>
        <p:nvSpPr>
          <p:cNvPr id="297" name="Google Shape;297;p15"/>
          <p:cNvSpPr txBox="1"/>
          <p:nvPr/>
        </p:nvSpPr>
        <p:spPr>
          <a:xfrm>
            <a:off x="1420345" y="3178058"/>
            <a:ext cx="5716240" cy="25640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Esta compuerta posee 2 entradas. Si cualquiera de las</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entradas, tiene un 1 lógico, crea una salida de 0 lógico.</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Representa básicamente una suma negada.</a:t>
            </a:r>
            <a:endParaRPr/>
          </a:p>
        </p:txBody>
      </p:sp>
      <p:sp>
        <p:nvSpPr>
          <p:cNvPr id="298" name="Google Shape;298;p15"/>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NOR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grpSp>
        <p:nvGrpSpPr>
          <p:cNvPr id="307" name="Google Shape;307;p16"/>
          <p:cNvGrpSpPr/>
          <p:nvPr/>
        </p:nvGrpSpPr>
        <p:grpSpPr>
          <a:xfrm>
            <a:off x="0" y="-253157"/>
            <a:ext cx="18288000" cy="2841699"/>
            <a:chOff x="0" y="-66675"/>
            <a:chExt cx="4816593" cy="748431"/>
          </a:xfrm>
        </p:grpSpPr>
        <p:sp>
          <p:nvSpPr>
            <p:cNvPr id="308" name="Google Shape;308;p1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09" name="Google Shape;309;p1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16"/>
          <p:cNvSpPr/>
          <p:nvPr/>
        </p:nvSpPr>
        <p:spPr>
          <a:xfrm>
            <a:off x="10101258" y="2779253"/>
            <a:ext cx="6675834" cy="3390188"/>
          </a:xfrm>
          <a:custGeom>
            <a:rect b="b" l="l" r="r" t="t"/>
            <a:pathLst>
              <a:path extrusionOk="0" h="3390188" w="6675834">
                <a:moveTo>
                  <a:pt x="0" y="0"/>
                </a:moveTo>
                <a:lnTo>
                  <a:pt x="6675834" y="0"/>
                </a:lnTo>
                <a:lnTo>
                  <a:pt x="6675834" y="3390188"/>
                </a:lnTo>
                <a:lnTo>
                  <a:pt x="0" y="3390188"/>
                </a:lnTo>
                <a:lnTo>
                  <a:pt x="0" y="0"/>
                </a:lnTo>
                <a:close/>
              </a:path>
            </a:pathLst>
          </a:custGeom>
          <a:blipFill rotWithShape="1">
            <a:blip r:embed="rId3">
              <a:alphaModFix/>
            </a:blip>
            <a:stretch>
              <a:fillRect b="0" l="0" r="0" t="0"/>
            </a:stretch>
          </a:blipFill>
          <a:ln>
            <a:noFill/>
          </a:ln>
        </p:spPr>
      </p:sp>
      <p:sp>
        <p:nvSpPr>
          <p:cNvPr id="311" name="Google Shape;311;p16"/>
          <p:cNvSpPr/>
          <p:nvPr/>
        </p:nvSpPr>
        <p:spPr>
          <a:xfrm>
            <a:off x="5563649" y="5468810"/>
            <a:ext cx="4033969" cy="4465784"/>
          </a:xfrm>
          <a:custGeom>
            <a:rect b="b" l="l" r="r" t="t"/>
            <a:pathLst>
              <a:path extrusionOk="0" h="4465784" w="4033969">
                <a:moveTo>
                  <a:pt x="0" y="0"/>
                </a:moveTo>
                <a:lnTo>
                  <a:pt x="4033969" y="0"/>
                </a:lnTo>
                <a:lnTo>
                  <a:pt x="4033969" y="4465784"/>
                </a:lnTo>
                <a:lnTo>
                  <a:pt x="0" y="4465784"/>
                </a:lnTo>
                <a:lnTo>
                  <a:pt x="0" y="0"/>
                </a:lnTo>
                <a:close/>
              </a:path>
            </a:pathLst>
          </a:custGeom>
          <a:blipFill rotWithShape="1">
            <a:blip r:embed="rId4">
              <a:alphaModFix/>
            </a:blip>
            <a:stretch>
              <a:fillRect b="0" l="-52823" r="0" t="-16476"/>
            </a:stretch>
          </a:blipFill>
          <a:ln>
            <a:noFill/>
          </a:ln>
        </p:spPr>
      </p:sp>
      <p:sp>
        <p:nvSpPr>
          <p:cNvPr id="312" name="Google Shape;312;p16"/>
          <p:cNvSpPr txBox="1"/>
          <p:nvPr/>
        </p:nvSpPr>
        <p:spPr>
          <a:xfrm>
            <a:off x="1420345" y="3178058"/>
            <a:ext cx="5716240" cy="25640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Esta compuerta posee 2 entradas. Si cualquiera de las</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entradas, son iguales, crea una salida de 1 lógico.</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Representa básicamente una NOR exclusiva</a:t>
            </a:r>
            <a:endParaRPr/>
          </a:p>
        </p:txBody>
      </p:sp>
      <p:sp>
        <p:nvSpPr>
          <p:cNvPr id="313" name="Google Shape;313;p16"/>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XNOR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grpSp>
        <p:nvGrpSpPr>
          <p:cNvPr id="322" name="Google Shape;322;p17"/>
          <p:cNvGrpSpPr/>
          <p:nvPr/>
        </p:nvGrpSpPr>
        <p:grpSpPr>
          <a:xfrm>
            <a:off x="0" y="-253157"/>
            <a:ext cx="18288000" cy="2841699"/>
            <a:chOff x="0" y="-66675"/>
            <a:chExt cx="4816593" cy="748431"/>
          </a:xfrm>
        </p:grpSpPr>
        <p:sp>
          <p:nvSpPr>
            <p:cNvPr id="323" name="Google Shape;323;p17"/>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24" name="Google Shape;324;p17"/>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5" name="Google Shape;325;p17"/>
          <p:cNvSpPr/>
          <p:nvPr/>
        </p:nvSpPr>
        <p:spPr>
          <a:xfrm>
            <a:off x="8071989" y="2772533"/>
            <a:ext cx="9778230" cy="2969528"/>
          </a:xfrm>
          <a:custGeom>
            <a:rect b="b" l="l" r="r" t="t"/>
            <a:pathLst>
              <a:path extrusionOk="0" h="2969528" w="9778230">
                <a:moveTo>
                  <a:pt x="0" y="0"/>
                </a:moveTo>
                <a:lnTo>
                  <a:pt x="9778231" y="0"/>
                </a:lnTo>
                <a:lnTo>
                  <a:pt x="9778231" y="2969528"/>
                </a:lnTo>
                <a:lnTo>
                  <a:pt x="0" y="2969528"/>
                </a:lnTo>
                <a:lnTo>
                  <a:pt x="0" y="0"/>
                </a:lnTo>
                <a:close/>
              </a:path>
            </a:pathLst>
          </a:custGeom>
          <a:blipFill rotWithShape="1">
            <a:blip r:embed="rId3">
              <a:alphaModFix/>
            </a:blip>
            <a:stretch>
              <a:fillRect b="0" l="0" r="0" t="0"/>
            </a:stretch>
          </a:blipFill>
          <a:ln>
            <a:noFill/>
          </a:ln>
        </p:spPr>
      </p:sp>
      <p:sp>
        <p:nvSpPr>
          <p:cNvPr id="326" name="Google Shape;326;p17"/>
          <p:cNvSpPr/>
          <p:nvPr/>
        </p:nvSpPr>
        <p:spPr>
          <a:xfrm>
            <a:off x="12961104" y="5375036"/>
            <a:ext cx="3675391" cy="4656684"/>
          </a:xfrm>
          <a:custGeom>
            <a:rect b="b" l="l" r="r" t="t"/>
            <a:pathLst>
              <a:path extrusionOk="0" h="4656684" w="3675391">
                <a:moveTo>
                  <a:pt x="0" y="0"/>
                </a:moveTo>
                <a:lnTo>
                  <a:pt x="3675391" y="0"/>
                </a:lnTo>
                <a:lnTo>
                  <a:pt x="3675391" y="4656684"/>
                </a:lnTo>
                <a:lnTo>
                  <a:pt x="0" y="4656684"/>
                </a:lnTo>
                <a:lnTo>
                  <a:pt x="0" y="0"/>
                </a:lnTo>
                <a:close/>
              </a:path>
            </a:pathLst>
          </a:custGeom>
          <a:blipFill rotWithShape="1">
            <a:blip r:embed="rId4">
              <a:alphaModFix/>
            </a:blip>
            <a:stretch>
              <a:fillRect b="0" l="0" r="0" t="0"/>
            </a:stretch>
          </a:blipFill>
          <a:ln>
            <a:noFill/>
          </a:ln>
        </p:spPr>
      </p:sp>
      <p:sp>
        <p:nvSpPr>
          <p:cNvPr id="327" name="Google Shape;327;p17"/>
          <p:cNvSpPr txBox="1"/>
          <p:nvPr/>
        </p:nvSpPr>
        <p:spPr>
          <a:xfrm>
            <a:off x="1519022" y="4445772"/>
            <a:ext cx="5716240" cy="25640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Esta compuerta posee 2 entradas. Si las dos entradas tienen un 1 lógico, crea una salida de 0 lógico. Representa</a:t>
            </a:r>
            <a:endParaRPr/>
          </a:p>
          <a:p>
            <a:pPr indent="0" lvl="0" marL="0" marR="0" rtl="0" algn="l">
              <a:lnSpc>
                <a:spcPct val="131011"/>
              </a:lnSpc>
              <a:spcBef>
                <a:spcPts val="0"/>
              </a:spcBef>
              <a:spcAft>
                <a:spcPts val="0"/>
              </a:spcAft>
              <a:buNone/>
            </a:pPr>
            <a:r>
              <a:rPr b="0" i="0" lang="en-US" sz="2599" u="none" cap="none" strike="noStrike">
                <a:solidFill>
                  <a:srgbClr val="000000"/>
                </a:solidFill>
                <a:latin typeface="Montserrat"/>
                <a:ea typeface="Montserrat"/>
                <a:cs typeface="Montserrat"/>
                <a:sym typeface="Montserrat"/>
              </a:rPr>
              <a:t>básicamente una multiplicación negada.</a:t>
            </a:r>
            <a:endParaRPr/>
          </a:p>
        </p:txBody>
      </p:sp>
      <p:sp>
        <p:nvSpPr>
          <p:cNvPr id="328" name="Google Shape;328;p17"/>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NAND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grpSp>
        <p:nvGrpSpPr>
          <p:cNvPr id="337" name="Google Shape;337;p18"/>
          <p:cNvGrpSpPr/>
          <p:nvPr/>
        </p:nvGrpSpPr>
        <p:grpSpPr>
          <a:xfrm>
            <a:off x="0" y="-253157"/>
            <a:ext cx="18288000" cy="2595006"/>
            <a:chOff x="0" y="-66675"/>
            <a:chExt cx="4816593" cy="683458"/>
          </a:xfrm>
        </p:grpSpPr>
        <p:sp>
          <p:nvSpPr>
            <p:cNvPr id="338" name="Google Shape;338;p18"/>
            <p:cNvSpPr/>
            <p:nvPr/>
          </p:nvSpPr>
          <p:spPr>
            <a:xfrm>
              <a:off x="0" y="0"/>
              <a:ext cx="4816592" cy="616783"/>
            </a:xfrm>
            <a:custGeom>
              <a:rect b="b" l="l" r="r" t="t"/>
              <a:pathLst>
                <a:path extrusionOk="0" h="616783" w="4816592">
                  <a:moveTo>
                    <a:pt x="0" y="0"/>
                  </a:moveTo>
                  <a:lnTo>
                    <a:pt x="4816592" y="0"/>
                  </a:lnTo>
                  <a:lnTo>
                    <a:pt x="4816592" y="616783"/>
                  </a:lnTo>
                  <a:lnTo>
                    <a:pt x="0" y="616783"/>
                  </a:lnTo>
                  <a:close/>
                </a:path>
              </a:pathLst>
            </a:custGeom>
            <a:solidFill>
              <a:srgbClr val="132232"/>
            </a:solidFill>
            <a:ln>
              <a:noFill/>
            </a:ln>
          </p:spPr>
        </p:sp>
        <p:sp>
          <p:nvSpPr>
            <p:cNvPr id="339" name="Google Shape;339;p18"/>
            <p:cNvSpPr txBox="1"/>
            <p:nvPr/>
          </p:nvSpPr>
          <p:spPr>
            <a:xfrm>
              <a:off x="0" y="-66675"/>
              <a:ext cx="4816593" cy="683458"/>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0" name="Google Shape;340;p18"/>
          <p:cNvSpPr txBox="1"/>
          <p:nvPr/>
        </p:nvSpPr>
        <p:spPr>
          <a:xfrm>
            <a:off x="1028700" y="725946"/>
            <a:ext cx="10794564"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EJERCICIO</a:t>
            </a:r>
            <a:endParaRPr/>
          </a:p>
        </p:txBody>
      </p:sp>
      <p:sp>
        <p:nvSpPr>
          <p:cNvPr id="341" name="Google Shape;341;p18"/>
          <p:cNvSpPr txBox="1"/>
          <p:nvPr/>
        </p:nvSpPr>
        <p:spPr>
          <a:xfrm>
            <a:off x="803669" y="2428856"/>
            <a:ext cx="16028100" cy="7278900"/>
          </a:xfrm>
          <a:prstGeom prst="rect">
            <a:avLst/>
          </a:prstGeom>
          <a:noFill/>
          <a:ln>
            <a:noFill/>
          </a:ln>
        </p:spPr>
        <p:txBody>
          <a:bodyPr anchorCtr="0" anchor="t" bIns="0" lIns="0" spcFirstLastPara="1" rIns="0" wrap="square" tIns="0">
            <a:spAutoFit/>
          </a:bodyPr>
          <a:lstStyle/>
          <a:p>
            <a:pPr indent="-280669" lvl="1" marL="561337" marR="0" rtl="0" algn="l">
              <a:lnSpc>
                <a:spcPct val="131011"/>
              </a:lnSpc>
              <a:spcBef>
                <a:spcPts val="0"/>
              </a:spcBef>
              <a:spcAft>
                <a:spcPts val="0"/>
              </a:spcAft>
              <a:buClr>
                <a:srgbClr val="000000"/>
              </a:buClr>
              <a:buSzPts val="2599"/>
              <a:buFont typeface="Arial"/>
              <a:buChar char="•"/>
            </a:pPr>
            <a:r>
              <a:rPr b="1" i="0" lang="en-US" sz="2599" u="none" cap="none" strike="noStrike">
                <a:solidFill>
                  <a:srgbClr val="000000"/>
                </a:solidFill>
                <a:latin typeface="Montserrat"/>
                <a:ea typeface="Montserrat"/>
                <a:cs typeface="Montserrat"/>
                <a:sym typeface="Montserrat"/>
              </a:rPr>
              <a:t>Expresar la funcion F utlizando minterminos (Suma de productos)</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Fila 0: A=0, B=0, C=0 ⇒ Mintermino m0​=AˉBˉCˉ</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Fila 2: A=0, B=1, C=0 ⇒ Mintermino m2​=AˉBCˉ</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Fila 3: A=0, B=1, C=1 ⇒ Mintermino m3​=AˉBC</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Fila 6: A=1, B=1, C=0 ⇒ Mintermino m6​=ABCˉ</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F(A,B,C)=m0​+m2​+m3​+m6​</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Sustituimos:</a:t>
            </a:r>
            <a:endParaRPr/>
          </a:p>
          <a:p>
            <a:pPr indent="-421003" lvl="3" marL="1684012"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F(A,B,C)=AˉBˉCˉ+AˉBCˉ+AˉBC+ABCˉ</a:t>
            </a:r>
            <a:endParaRPr/>
          </a:p>
          <a:p>
            <a:pPr indent="0" lvl="0" marL="0" marR="0" rtl="0" algn="l">
              <a:lnSpc>
                <a:spcPct val="131011"/>
              </a:lnSpc>
              <a:spcBef>
                <a:spcPts val="0"/>
              </a:spcBef>
              <a:spcAft>
                <a:spcPts val="0"/>
              </a:spcAft>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1" i="0" lang="en-US" sz="2599" u="none" cap="none" strike="noStrike">
                <a:solidFill>
                  <a:srgbClr val="000000"/>
                </a:solidFill>
                <a:latin typeface="Montserrat"/>
                <a:ea typeface="Montserrat"/>
                <a:cs typeface="Montserrat"/>
                <a:sym typeface="Montserrat"/>
              </a:rPr>
              <a:t>Expresar la funcion F utlizando maxterminos (Productos de sumas)</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Fila 1: A=0, B=0, C=1 ⇒ Maxitérmino M1​=A+B+Cˉ</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Fila 4: A=1, B=0, C=0 ⇒ Maxitérmino M4​=Aˉ+B+C</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Fila 5: A=1, B=0, C=1 ⇒ Maxitérmino M5​=Aˉ+B+Cˉ</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Fila 7: A=1, B=1, C=1 ⇒ Maxitérmino M7​=Aˉ+Bˉ+Cˉ</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F(A,B,C)=M1​⋅M4​⋅M5​⋅M7​</a:t>
            </a:r>
            <a:endParaRPr/>
          </a:p>
          <a:p>
            <a:pPr indent="-374224" lvl="2" marL="1122674"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Sustituimos:</a:t>
            </a:r>
            <a:endParaRPr/>
          </a:p>
          <a:p>
            <a:pPr indent="-421003" lvl="3" marL="1684012"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F(A,B,C)=(A+B+Cˉ)⋅(Aˉ+B+C)⋅(Aˉ+B+Cˉ)⋅(Aˉ+Bˉ+Cˉ)</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grpSp>
        <p:nvGrpSpPr>
          <p:cNvPr id="350" name="Google Shape;350;p19"/>
          <p:cNvGrpSpPr/>
          <p:nvPr/>
        </p:nvGrpSpPr>
        <p:grpSpPr>
          <a:xfrm>
            <a:off x="0" y="-253157"/>
            <a:ext cx="18288000" cy="2595006"/>
            <a:chOff x="0" y="-66675"/>
            <a:chExt cx="4816593" cy="683458"/>
          </a:xfrm>
        </p:grpSpPr>
        <p:sp>
          <p:nvSpPr>
            <p:cNvPr id="351" name="Google Shape;351;p19"/>
            <p:cNvSpPr/>
            <p:nvPr/>
          </p:nvSpPr>
          <p:spPr>
            <a:xfrm>
              <a:off x="0" y="0"/>
              <a:ext cx="4816592" cy="616783"/>
            </a:xfrm>
            <a:custGeom>
              <a:rect b="b" l="l" r="r" t="t"/>
              <a:pathLst>
                <a:path extrusionOk="0" h="616783" w="4816592">
                  <a:moveTo>
                    <a:pt x="0" y="0"/>
                  </a:moveTo>
                  <a:lnTo>
                    <a:pt x="4816592" y="0"/>
                  </a:lnTo>
                  <a:lnTo>
                    <a:pt x="4816592" y="616783"/>
                  </a:lnTo>
                  <a:lnTo>
                    <a:pt x="0" y="616783"/>
                  </a:lnTo>
                  <a:close/>
                </a:path>
              </a:pathLst>
            </a:custGeom>
            <a:solidFill>
              <a:srgbClr val="132232"/>
            </a:solidFill>
            <a:ln>
              <a:noFill/>
            </a:ln>
          </p:spPr>
        </p:sp>
        <p:sp>
          <p:nvSpPr>
            <p:cNvPr id="352" name="Google Shape;352;p19"/>
            <p:cNvSpPr txBox="1"/>
            <p:nvPr/>
          </p:nvSpPr>
          <p:spPr>
            <a:xfrm>
              <a:off x="0" y="-66675"/>
              <a:ext cx="4816593" cy="683458"/>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3" name="Google Shape;353;p19"/>
          <p:cNvSpPr txBox="1"/>
          <p:nvPr/>
        </p:nvSpPr>
        <p:spPr>
          <a:xfrm>
            <a:off x="1028700" y="4275836"/>
            <a:ext cx="16669428" cy="1706753"/>
          </a:xfrm>
          <a:prstGeom prst="rect">
            <a:avLst/>
          </a:prstGeom>
          <a:noFill/>
          <a:ln>
            <a:noFill/>
          </a:ln>
        </p:spPr>
        <p:txBody>
          <a:bodyPr anchorCtr="0" anchor="t" bIns="0" lIns="0" spcFirstLastPara="1" rIns="0" wrap="square" tIns="0">
            <a:spAutoFit/>
          </a:bodyPr>
          <a:lstStyle/>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Minterms y Maxterms: https://www.youtube.com/watch?v=e5OJUFWwlhc</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Karnaugh 4 variables: https://www.youtube.com/watch?v=OYP2OzKrkc8&amp;t=1s</a:t>
            </a:r>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Compuertas con transistores: http://hyperphysics.phy-astr.gsu.edu/hbasees/Electronic/trangate.html</a:t>
            </a:r>
            <a:endParaRPr/>
          </a:p>
        </p:txBody>
      </p:sp>
      <p:sp>
        <p:nvSpPr>
          <p:cNvPr id="354" name="Google Shape;354;p19"/>
          <p:cNvSpPr txBox="1"/>
          <p:nvPr/>
        </p:nvSpPr>
        <p:spPr>
          <a:xfrm>
            <a:off x="1028700" y="725946"/>
            <a:ext cx="10794564"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LINKS DE UTILIDAD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358" name="Shape 358"/>
        <p:cNvGrpSpPr/>
        <p:nvPr/>
      </p:nvGrpSpPr>
      <p:grpSpPr>
        <a:xfrm>
          <a:off x="0" y="0"/>
          <a:ext cx="0" cy="0"/>
          <a:chOff x="0" y="0"/>
          <a:chExt cx="0" cy="0"/>
        </a:xfrm>
      </p:grpSpPr>
      <p:cxnSp>
        <p:nvCxnSpPr>
          <p:cNvPr id="359" name="Google Shape;359;p20"/>
          <p:cNvCxnSpPr/>
          <p:nvPr/>
        </p:nvCxnSpPr>
        <p:spPr>
          <a:xfrm>
            <a:off x="4940584" y="6465400"/>
            <a:ext cx="13347416" cy="0"/>
          </a:xfrm>
          <a:prstGeom prst="straightConnector1">
            <a:avLst/>
          </a:prstGeom>
          <a:noFill/>
          <a:ln cap="flat" cmpd="sng" w="28575">
            <a:solidFill>
              <a:srgbClr val="FFFFFF"/>
            </a:solidFill>
            <a:prstDash val="solid"/>
            <a:round/>
            <a:headEnd len="lg" w="lg" type="oval"/>
            <a:tailEnd len="sm" w="sm" type="none"/>
          </a:ln>
        </p:spPr>
      </p:cxnSp>
      <p:cxnSp>
        <p:nvCxnSpPr>
          <p:cNvPr id="360" name="Google Shape;360;p20"/>
          <p:cNvCxnSpPr/>
          <p:nvPr/>
        </p:nvCxnSpPr>
        <p:spPr>
          <a:xfrm>
            <a:off x="0" y="3285380"/>
            <a:ext cx="13347416" cy="0"/>
          </a:xfrm>
          <a:prstGeom prst="straightConnector1">
            <a:avLst/>
          </a:prstGeom>
          <a:noFill/>
          <a:ln cap="flat" cmpd="sng" w="28575">
            <a:solidFill>
              <a:srgbClr val="FFFFFF"/>
            </a:solidFill>
            <a:prstDash val="solid"/>
            <a:round/>
            <a:headEnd len="sm" w="sm" type="none"/>
            <a:tailEnd len="lg" w="lg" type="oval"/>
          </a:ln>
        </p:spPr>
      </p:cxnSp>
      <p:sp>
        <p:nvSpPr>
          <p:cNvPr id="361" name="Google Shape;361;p20"/>
          <p:cNvSpPr txBox="1"/>
          <p:nvPr/>
        </p:nvSpPr>
        <p:spPr>
          <a:xfrm>
            <a:off x="2574170" y="4223785"/>
            <a:ext cx="14970862"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GRACIAS POR SU ATENCIÓN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