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10287000" cx="18288000"/>
  <p:notesSz cx="6858000" cy="9144000"/>
  <p:embeddedFontLst>
    <p:embeddedFont>
      <p:font typeface="Lobster"/>
      <p:regular r:id="rId19"/>
    </p:embeddedFont>
    <p:embeddedFont>
      <p:font typeface="Pacifico"/>
      <p:regular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jA7zV9WHHYXNPJIoRjj85hdgFm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acifico-regular.fntdata"/><Relationship Id="rId22" Type="http://schemas.openxmlformats.org/officeDocument/2006/relationships/font" Target="fonts/OpenSans-bold.fntdata"/><Relationship Id="rId21" Type="http://schemas.openxmlformats.org/officeDocument/2006/relationships/font" Target="fonts/OpenSans-regular.fntdata"/><Relationship Id="rId24" Type="http://schemas.openxmlformats.org/officeDocument/2006/relationships/font" Target="fonts/OpenSans-boldItalic.fntdata"/><Relationship Id="rId23"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Lobster-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eccdbb309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eccdbb309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5eccdbb309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35eccdbb309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5eccdbb309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g35eccdbb309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5eccdbb309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g35eccdbb309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5eccdbb309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35eccdbb309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5f0aee6e7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5f0aee6e7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www.youtube.com/watch?v=3eZ2ByNvDxc"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www.geeksforgeeks.org/differences-between-synchronous-and-asynchronous-count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12541309" y="6021878"/>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1028703" y="6536389"/>
            <a:ext cx="57174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lang="en-US" sz="5000">
                <a:solidFill>
                  <a:srgbClr val="131416"/>
                </a:solidFill>
                <a:latin typeface="Open Sans"/>
                <a:ea typeface="Open Sans"/>
                <a:cs typeface="Open Sans"/>
                <a:sym typeface="Open Sans"/>
              </a:rPr>
              <a:t>Organización Computacional</a:t>
            </a:r>
            <a:endParaRPr b="1" i="0" sz="5000" u="none" cap="none" strike="noStrike">
              <a:solidFill>
                <a:srgbClr val="131416"/>
              </a:solidFill>
              <a:latin typeface="Open Sans"/>
              <a:ea typeface="Open Sans"/>
              <a:cs typeface="Open Sans"/>
              <a:sym typeface="Open Sans"/>
            </a:endParaRPr>
          </a:p>
        </p:txBody>
      </p:sp>
      <p:sp>
        <p:nvSpPr>
          <p:cNvPr id="87" name="Google Shape;87;p1"/>
          <p:cNvSpPr txBox="1"/>
          <p:nvPr/>
        </p:nvSpPr>
        <p:spPr>
          <a:xfrm>
            <a:off x="2687405" y="3915649"/>
            <a:ext cx="123750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lang="en-US" sz="9200">
                <a:solidFill>
                  <a:srgbClr val="131416"/>
                </a:solidFill>
                <a:latin typeface="Open Sans"/>
                <a:ea typeface="Open Sans"/>
                <a:cs typeface="Open Sans"/>
                <a:sym typeface="Open Sans"/>
              </a:rPr>
              <a:t>Contadores</a:t>
            </a:r>
            <a:endParaRPr b="0" i="0" sz="1400" u="none" cap="none" strike="noStrike">
              <a:solidFill>
                <a:srgbClr val="000000"/>
              </a:solidFill>
              <a:latin typeface="Arial"/>
              <a:ea typeface="Arial"/>
              <a:cs typeface="Arial"/>
              <a:sym typeface="Arial"/>
            </a:endParaRPr>
          </a:p>
        </p:txBody>
      </p:sp>
      <p:sp>
        <p:nvSpPr>
          <p:cNvPr id="88" name="Google Shape;88;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1028700" y="9210675"/>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90" name="Google Shape;90;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grpSp>
        <p:nvGrpSpPr>
          <p:cNvPr id="95" name="Google Shape;95;p2"/>
          <p:cNvGrpSpPr/>
          <p:nvPr/>
        </p:nvGrpSpPr>
        <p:grpSpPr>
          <a:xfrm>
            <a:off x="176625" y="4520475"/>
            <a:ext cx="8185637" cy="845568"/>
            <a:chOff x="0" y="-76201"/>
            <a:chExt cx="2085300" cy="360000"/>
          </a:xfrm>
        </p:grpSpPr>
        <p:sp>
          <p:nvSpPr>
            <p:cNvPr id="96" name="Google Shape;96;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97" name="Google Shape;97;p2"/>
            <p:cNvSpPr txBox="1"/>
            <p:nvPr/>
          </p:nvSpPr>
          <p:spPr>
            <a:xfrm>
              <a:off x="0" y="-76201"/>
              <a:ext cx="20853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CONTADORES ASINCRONOS</a:t>
              </a:r>
              <a:endParaRPr b="0" i="0" sz="1400" u="none" cap="none" strike="noStrike">
                <a:solidFill>
                  <a:srgbClr val="000000"/>
                </a:solidFill>
                <a:latin typeface="Arial"/>
                <a:ea typeface="Arial"/>
                <a:cs typeface="Arial"/>
                <a:sym typeface="Arial"/>
              </a:endParaRPr>
            </a:p>
          </p:txBody>
        </p:sp>
      </p:grpSp>
      <p:sp>
        <p:nvSpPr>
          <p:cNvPr id="98" name="Google Shape;98;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99" name="Google Shape;99;p2"/>
          <p:cNvGrpSpPr/>
          <p:nvPr/>
        </p:nvGrpSpPr>
        <p:grpSpPr>
          <a:xfrm>
            <a:off x="1866989" y="3013983"/>
            <a:ext cx="4115190" cy="1556484"/>
            <a:chOff x="0" y="-76200"/>
            <a:chExt cx="1083836" cy="409938"/>
          </a:xfrm>
        </p:grpSpPr>
        <p:sp>
          <p:nvSpPr>
            <p:cNvPr id="100" name="Google Shape;100;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1" name="Google Shape;101;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02" name="Google Shape;102;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103" name="Google Shape;103;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04" name="Google Shape;104;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05" name="Google Shape;105;p2"/>
          <p:cNvGrpSpPr/>
          <p:nvPr/>
        </p:nvGrpSpPr>
        <p:grpSpPr>
          <a:xfrm>
            <a:off x="9837780" y="3015899"/>
            <a:ext cx="7976927" cy="1700632"/>
            <a:chOff x="-487267" y="-57081"/>
            <a:chExt cx="1897281" cy="447900"/>
          </a:xfrm>
        </p:grpSpPr>
        <p:sp>
          <p:nvSpPr>
            <p:cNvPr id="106" name="Google Shape;106;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07" name="Google Shape;107;p2"/>
            <p:cNvSpPr txBox="1"/>
            <p:nvPr/>
          </p:nvSpPr>
          <p:spPr>
            <a:xfrm>
              <a:off x="-487267" y="-57081"/>
              <a:ext cx="1724700" cy="447900"/>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lang="en-US" sz="4499" u="sng">
                  <a:solidFill>
                    <a:schemeClr val="hlink"/>
                  </a:solidFill>
                  <a:hlinkClick r:id="rId5"/>
                </a:rPr>
                <a:t>https://www.youtube.com/watch?v=3eZ2ByNvDxc</a:t>
              </a:r>
              <a:r>
                <a:rPr lang="en-US" sz="4499"/>
                <a:t> </a:t>
              </a:r>
              <a:endParaRPr b="0" i="0" sz="1400" u="none" cap="none" strike="noStrike">
                <a:solidFill>
                  <a:srgbClr val="000000"/>
                </a:solidFill>
                <a:latin typeface="Arial"/>
                <a:ea typeface="Arial"/>
                <a:cs typeface="Arial"/>
                <a:sym typeface="Arial"/>
              </a:endParaRPr>
            </a:p>
          </p:txBody>
        </p:sp>
      </p:grpSp>
      <p:grpSp>
        <p:nvGrpSpPr>
          <p:cNvPr id="108" name="Google Shape;108;p2"/>
          <p:cNvGrpSpPr/>
          <p:nvPr/>
        </p:nvGrpSpPr>
        <p:grpSpPr>
          <a:xfrm>
            <a:off x="176619" y="5444300"/>
            <a:ext cx="7967351" cy="845566"/>
            <a:chOff x="0" y="-76201"/>
            <a:chExt cx="3392103" cy="360000"/>
          </a:xfrm>
        </p:grpSpPr>
        <p:sp>
          <p:nvSpPr>
            <p:cNvPr id="109" name="Google Shape;10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0" name="Google Shape;110;p2"/>
            <p:cNvSpPr txBox="1"/>
            <p:nvPr/>
          </p:nvSpPr>
          <p:spPr>
            <a:xfrm>
              <a:off x="3" y="-76201"/>
              <a:ext cx="33921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CONTADORES SINCRONOS</a:t>
              </a:r>
              <a:endParaRPr b="0" i="0" sz="1400" u="none" cap="none" strike="noStrike">
                <a:solidFill>
                  <a:srgbClr val="000000"/>
                </a:solidFill>
                <a:latin typeface="Arial"/>
                <a:ea typeface="Arial"/>
                <a:cs typeface="Arial"/>
                <a:sym typeface="Arial"/>
              </a:endParaRPr>
            </a:p>
          </p:txBody>
        </p:sp>
      </p:grpSp>
      <p:grpSp>
        <p:nvGrpSpPr>
          <p:cNvPr id="111" name="Google Shape;111;p2"/>
          <p:cNvGrpSpPr/>
          <p:nvPr/>
        </p:nvGrpSpPr>
        <p:grpSpPr>
          <a:xfrm>
            <a:off x="176619" y="6425875"/>
            <a:ext cx="8416910" cy="845566"/>
            <a:chOff x="0" y="-76200"/>
            <a:chExt cx="3583502" cy="360000"/>
          </a:xfrm>
        </p:grpSpPr>
        <p:sp>
          <p:nvSpPr>
            <p:cNvPr id="112" name="Google Shape;112;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3" name="Google Shape;113;p2"/>
            <p:cNvSpPr txBox="1"/>
            <p:nvPr/>
          </p:nvSpPr>
          <p:spPr>
            <a:xfrm>
              <a:off x="2" y="-76200"/>
              <a:ext cx="35835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CONTADORES ASCENDENTES</a:t>
              </a:r>
              <a:endParaRPr b="0" i="0" sz="1400" u="none" cap="none" strike="noStrike">
                <a:solidFill>
                  <a:srgbClr val="000000"/>
                </a:solidFill>
                <a:latin typeface="Arial"/>
                <a:ea typeface="Arial"/>
                <a:cs typeface="Arial"/>
                <a:sym typeface="Arial"/>
              </a:endParaRPr>
            </a:p>
          </p:txBody>
        </p:sp>
      </p:grpSp>
      <p:grpSp>
        <p:nvGrpSpPr>
          <p:cNvPr id="114" name="Google Shape;114;p2"/>
          <p:cNvGrpSpPr/>
          <p:nvPr/>
        </p:nvGrpSpPr>
        <p:grpSpPr>
          <a:xfrm>
            <a:off x="176619" y="7349450"/>
            <a:ext cx="8743868" cy="845566"/>
            <a:chOff x="0" y="-76203"/>
            <a:chExt cx="3722705" cy="360000"/>
          </a:xfrm>
        </p:grpSpPr>
        <p:sp>
          <p:nvSpPr>
            <p:cNvPr id="115" name="Google Shape;11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6" name="Google Shape;116;p2"/>
            <p:cNvSpPr txBox="1"/>
            <p:nvPr/>
          </p:nvSpPr>
          <p:spPr>
            <a:xfrm>
              <a:off x="5" y="-76203"/>
              <a:ext cx="37227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CONTADORES DESCENDENTES</a:t>
              </a:r>
              <a:endParaRPr b="0" i="0" sz="1400" u="none" cap="none" strike="noStrike">
                <a:solidFill>
                  <a:srgbClr val="000000"/>
                </a:solidFill>
                <a:latin typeface="Arial"/>
                <a:ea typeface="Arial"/>
                <a:cs typeface="Arial"/>
                <a:sym typeface="Arial"/>
              </a:endParaRPr>
            </a:p>
          </p:txBody>
        </p:sp>
      </p:grpSp>
      <p:sp>
        <p:nvSpPr>
          <p:cNvPr id="117" name="Google Shape;117;p2"/>
          <p:cNvSpPr/>
          <p:nvPr/>
        </p:nvSpPr>
        <p:spPr>
          <a:xfrm>
            <a:off x="176619" y="8591893"/>
            <a:ext cx="4613551" cy="666407"/>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8" name="Google Shape;118;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9" name="Google Shape;119;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0" name="Google Shape;120;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126" name="Google Shape;126;p3"/>
          <p:cNvSpPr txBox="1"/>
          <p:nvPr/>
        </p:nvSpPr>
        <p:spPr>
          <a:xfrm>
            <a:off x="642953" y="2187750"/>
            <a:ext cx="16555500" cy="6402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lang="en-US" sz="5199">
                <a:solidFill>
                  <a:srgbClr val="131416"/>
                </a:solidFill>
                <a:latin typeface="Open Sans"/>
                <a:ea typeface="Open Sans"/>
                <a:cs typeface="Open Sans"/>
                <a:sym typeface="Open Sans"/>
              </a:rPr>
              <a:t>El estudiante implementa soluciones de almacenamiento y conteo digital utilizando registros y contadores apoyándose en simuladores de circuitos digitales como Proteus para optimizar el manejo de datos y eventos secuenciales en sistemas electrónicos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5eccdbb309_0_8"/>
          <p:cNvSpPr txBox="1"/>
          <p:nvPr/>
        </p:nvSpPr>
        <p:spPr>
          <a:xfrm>
            <a:off x="1374889" y="3027816"/>
            <a:ext cx="12625500" cy="47865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lang="en-US" sz="3925">
                <a:solidFill>
                  <a:srgbClr val="131416"/>
                </a:solidFill>
              </a:rPr>
              <a:t>Los contadores son componentes esenciales de la electrónica digital que se utilizan para contar eventos o tiempo. Se clasifican en contadores síncronos y asíncronos, que se diferencian en cómo procesan la señal de reloj para cambiar de estado.</a:t>
            </a:r>
            <a:endParaRPr b="0" i="0" sz="1400" u="none" cap="none" strike="noStrike">
              <a:solidFill>
                <a:srgbClr val="000000"/>
              </a:solidFill>
              <a:latin typeface="Arial"/>
              <a:ea typeface="Arial"/>
              <a:cs typeface="Arial"/>
              <a:sym typeface="Arial"/>
            </a:endParaRPr>
          </a:p>
        </p:txBody>
      </p:sp>
      <p:sp>
        <p:nvSpPr>
          <p:cNvPr id="132" name="Google Shape;132;g35eccdbb309_0_8"/>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Contadores</a:t>
            </a:r>
            <a:endParaRPr b="0" i="0" sz="1400" u="none" cap="none" strike="noStrike">
              <a:solidFill>
                <a:srgbClr val="000000"/>
              </a:solidFill>
              <a:latin typeface="Impact"/>
              <a:ea typeface="Impact"/>
              <a:cs typeface="Impact"/>
              <a:sym typeface="Impac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4"/>
          <p:cNvSpPr txBox="1"/>
          <p:nvPr/>
        </p:nvSpPr>
        <p:spPr>
          <a:xfrm>
            <a:off x="1508850" y="2330650"/>
            <a:ext cx="8269200" cy="75978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lang="en-US" sz="3325">
                <a:solidFill>
                  <a:srgbClr val="131416"/>
                </a:solidFill>
              </a:rPr>
              <a:t>Un contador síncrono es un tipo de contador donde todos los biestables están controlados por una única señal de reloj común. Esto garantiza que todos los biestables del contador cambien de estado simultáneamente, lo que resulta en un conteo sincronizado. En estos contadores se utiliza un reloj universal común a todos los biestables.</a:t>
            </a:r>
            <a:endParaRPr b="0" i="0" sz="800" u="none" cap="none" strike="noStrike">
              <a:solidFill>
                <a:srgbClr val="000000"/>
              </a:solidFill>
              <a:latin typeface="Arial"/>
              <a:ea typeface="Arial"/>
              <a:cs typeface="Arial"/>
              <a:sym typeface="Arial"/>
            </a:endParaRPr>
          </a:p>
        </p:txBody>
      </p:sp>
      <p:sp>
        <p:nvSpPr>
          <p:cNvPr id="138" name="Google Shape;138;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Contadores Síncronos</a:t>
            </a:r>
            <a:endParaRPr b="0" i="0" sz="1400" u="none" cap="none" strike="noStrike">
              <a:solidFill>
                <a:srgbClr val="000000"/>
              </a:solidFill>
              <a:latin typeface="Impact"/>
              <a:ea typeface="Impact"/>
              <a:cs typeface="Impact"/>
              <a:sym typeface="Impact"/>
            </a:endParaRPr>
          </a:p>
        </p:txBody>
      </p:sp>
      <p:pic>
        <p:nvPicPr>
          <p:cNvPr id="139" name="Google Shape;139;p4"/>
          <p:cNvPicPr preferRelativeResize="0"/>
          <p:nvPr/>
        </p:nvPicPr>
        <p:blipFill>
          <a:blip r:embed="rId3">
            <a:alphaModFix/>
          </a:blip>
          <a:stretch>
            <a:fillRect/>
          </a:stretch>
        </p:blipFill>
        <p:spPr>
          <a:xfrm>
            <a:off x="9957250" y="3524239"/>
            <a:ext cx="7620000" cy="3238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5eccdbb309_0_15"/>
          <p:cNvSpPr txBox="1"/>
          <p:nvPr/>
        </p:nvSpPr>
        <p:spPr>
          <a:xfrm>
            <a:off x="1374900" y="2902525"/>
            <a:ext cx="7143900" cy="6123600"/>
          </a:xfrm>
          <a:prstGeom prst="rect">
            <a:avLst/>
          </a:prstGeom>
          <a:noFill/>
          <a:ln>
            <a:noFill/>
          </a:ln>
        </p:spPr>
        <p:txBody>
          <a:bodyPr anchorCtr="0" anchor="t" bIns="0" lIns="0" spcFirstLastPara="1" rIns="0" wrap="square" tIns="0">
            <a:spAutoFit/>
          </a:bodyPr>
          <a:lstStyle/>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Operación más rápida </a:t>
            </a:r>
            <a:r>
              <a:rPr lang="en-US" sz="2400">
                <a:solidFill>
                  <a:srgbClr val="131416"/>
                </a:solidFill>
              </a:rPr>
              <a:t>: todos los flip-flops del contador cambian al mismo tiempo, lo que hace que el contador funcione más rápido.</a:t>
            </a:r>
            <a:endParaRPr sz="2400">
              <a:solidFill>
                <a:srgbClr val="131416"/>
              </a:solidFill>
            </a:endParaRPr>
          </a:p>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Sincronización precisa :</a:t>
            </a:r>
            <a:r>
              <a:rPr lang="en-US" sz="2400">
                <a:solidFill>
                  <a:srgbClr val="131416"/>
                </a:solidFill>
              </a:rPr>
              <a:t> como todo está sincronizado, hay menos errores de sincronización, lo que hace que el contador sea más confiable y preciso.</a:t>
            </a:r>
            <a:endParaRPr sz="2400">
              <a:solidFill>
                <a:srgbClr val="131416"/>
              </a:solidFill>
            </a:endParaRPr>
          </a:p>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Más confiable : </a:t>
            </a:r>
            <a:r>
              <a:rPr lang="en-US" sz="2400">
                <a:solidFill>
                  <a:srgbClr val="131416"/>
                </a:solidFill>
              </a:rPr>
              <a:t>los contadores sincrónicos son más estables porque todo sucede al mismo tiempo, lo que reduce la posibilidad de errores.</a:t>
            </a:r>
            <a:endParaRPr sz="2400">
              <a:solidFill>
                <a:srgbClr val="131416"/>
              </a:solidFill>
            </a:endParaRPr>
          </a:p>
        </p:txBody>
      </p:sp>
      <p:sp>
        <p:nvSpPr>
          <p:cNvPr id="145" name="Google Shape;145;g35eccdbb309_0_15"/>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Contadores Síncronos</a:t>
            </a:r>
            <a:endParaRPr b="0" i="0" sz="1400" u="none" cap="none" strike="noStrike">
              <a:solidFill>
                <a:srgbClr val="000000"/>
              </a:solidFill>
              <a:latin typeface="Impact"/>
              <a:ea typeface="Impact"/>
              <a:cs typeface="Impact"/>
              <a:sym typeface="Impact"/>
            </a:endParaRPr>
          </a:p>
        </p:txBody>
      </p:sp>
      <p:sp>
        <p:nvSpPr>
          <p:cNvPr id="146" name="Google Shape;146;g35eccdbb309_0_15"/>
          <p:cNvSpPr txBox="1"/>
          <p:nvPr/>
        </p:nvSpPr>
        <p:spPr>
          <a:xfrm>
            <a:off x="1374891" y="1878350"/>
            <a:ext cx="3197100" cy="7389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4800">
                <a:solidFill>
                  <a:srgbClr val="131416"/>
                </a:solidFill>
                <a:latin typeface="Impact"/>
                <a:ea typeface="Impact"/>
                <a:cs typeface="Impact"/>
                <a:sym typeface="Impact"/>
              </a:rPr>
              <a:t>Ventajas</a:t>
            </a:r>
            <a:endParaRPr b="0" i="0" sz="4800" u="none" cap="none" strike="noStrike">
              <a:solidFill>
                <a:srgbClr val="000000"/>
              </a:solidFill>
              <a:latin typeface="Impact"/>
              <a:ea typeface="Impact"/>
              <a:cs typeface="Impact"/>
              <a:sym typeface="Impact"/>
            </a:endParaRPr>
          </a:p>
        </p:txBody>
      </p:sp>
      <p:sp>
        <p:nvSpPr>
          <p:cNvPr id="147" name="Google Shape;147;g35eccdbb309_0_15"/>
          <p:cNvSpPr txBox="1"/>
          <p:nvPr/>
        </p:nvSpPr>
        <p:spPr>
          <a:xfrm>
            <a:off x="9965850" y="2902525"/>
            <a:ext cx="7143900" cy="6762900"/>
          </a:xfrm>
          <a:prstGeom prst="rect">
            <a:avLst/>
          </a:prstGeom>
          <a:noFill/>
          <a:ln>
            <a:noFill/>
          </a:ln>
        </p:spPr>
        <p:txBody>
          <a:bodyPr anchorCtr="0" anchor="t" bIns="0" lIns="0" spcFirstLastPara="1" rIns="0" wrap="square" tIns="0">
            <a:spAutoFit/>
          </a:bodyPr>
          <a:lstStyle/>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Diseño complejo : </a:t>
            </a:r>
            <a:r>
              <a:rPr lang="en-US" sz="2400">
                <a:solidFill>
                  <a:srgbClr val="131416"/>
                </a:solidFill>
              </a:rPr>
              <a:t>Los contadores sincrónicos son más difíciles de diseñar porque necesitan componentes adicionales como un reloj común.</a:t>
            </a:r>
            <a:endParaRPr sz="2400">
              <a:solidFill>
                <a:srgbClr val="131416"/>
              </a:solidFill>
            </a:endParaRPr>
          </a:p>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Mayor consumo de energía : </a:t>
            </a:r>
            <a:r>
              <a:rPr lang="en-US" sz="2400">
                <a:solidFill>
                  <a:srgbClr val="131416"/>
                </a:solidFill>
              </a:rPr>
              <a:t>debido a que todos los flip-flops cambian al mismo tiempo, se utiliza más energía que los contadores donde los flip-flops cambian uno a la vez.</a:t>
            </a:r>
            <a:endParaRPr sz="2400">
              <a:solidFill>
                <a:srgbClr val="131416"/>
              </a:solidFill>
            </a:endParaRPr>
          </a:p>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Requiere más componentes : </a:t>
            </a:r>
            <a:r>
              <a:rPr lang="en-US" sz="2400">
                <a:solidFill>
                  <a:srgbClr val="131416"/>
                </a:solidFill>
              </a:rPr>
              <a:t>necesita más piezas para asegurarse de que todo permanezca sincronizado, lo que hace que el diseño sea más complicado y costoso.</a:t>
            </a:r>
            <a:endParaRPr sz="2400">
              <a:solidFill>
                <a:srgbClr val="131416"/>
              </a:solidFill>
            </a:endParaRPr>
          </a:p>
        </p:txBody>
      </p:sp>
      <p:sp>
        <p:nvSpPr>
          <p:cNvPr id="148" name="Google Shape;148;g35eccdbb309_0_15"/>
          <p:cNvSpPr txBox="1"/>
          <p:nvPr/>
        </p:nvSpPr>
        <p:spPr>
          <a:xfrm>
            <a:off x="9965841" y="1878350"/>
            <a:ext cx="3197100" cy="7389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4800">
                <a:solidFill>
                  <a:srgbClr val="131416"/>
                </a:solidFill>
                <a:latin typeface="Impact"/>
                <a:ea typeface="Impact"/>
                <a:cs typeface="Impact"/>
                <a:sym typeface="Impact"/>
              </a:rPr>
              <a:t>Desventajas</a:t>
            </a:r>
            <a:endParaRPr b="0" i="0" sz="4800" u="none" cap="none" strike="noStrike">
              <a:solidFill>
                <a:srgbClr val="000000"/>
              </a:solidFill>
              <a:latin typeface="Impact"/>
              <a:ea typeface="Impact"/>
              <a:cs typeface="Impact"/>
              <a:sym typeface="Impac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5eccdbb309_0_24"/>
          <p:cNvSpPr txBox="1"/>
          <p:nvPr/>
        </p:nvSpPr>
        <p:spPr>
          <a:xfrm>
            <a:off x="1508850" y="2330650"/>
            <a:ext cx="8269200" cy="60561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lang="en-US" sz="3000">
                <a:solidFill>
                  <a:srgbClr val="131416"/>
                </a:solidFill>
              </a:rPr>
              <a:t>Un contador asíncrono, también conocido como contador de ondulación, es un tipo de contador donde cada biestable se activa por la salida del anterior. En estos contadores no se utiliza reloj universal; el reloj principal solo se aplica al primer biestable y, para el resto de los biestables, la salida del biestable anterior se toma como reloj.</a:t>
            </a:r>
            <a:endParaRPr b="0" i="0" sz="3000" u="none" cap="none" strike="noStrike">
              <a:solidFill>
                <a:srgbClr val="000000"/>
              </a:solidFill>
              <a:latin typeface="Arial"/>
              <a:ea typeface="Arial"/>
              <a:cs typeface="Arial"/>
              <a:sym typeface="Arial"/>
            </a:endParaRPr>
          </a:p>
        </p:txBody>
      </p:sp>
      <p:sp>
        <p:nvSpPr>
          <p:cNvPr id="154" name="Google Shape;154;g35eccdbb309_0_2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Contadores Asíncronos</a:t>
            </a:r>
            <a:endParaRPr b="0" i="0" sz="1400" u="none" cap="none" strike="noStrike">
              <a:solidFill>
                <a:srgbClr val="000000"/>
              </a:solidFill>
              <a:latin typeface="Impact"/>
              <a:ea typeface="Impact"/>
              <a:cs typeface="Impact"/>
              <a:sym typeface="Impact"/>
            </a:endParaRPr>
          </a:p>
        </p:txBody>
      </p:sp>
      <p:pic>
        <p:nvPicPr>
          <p:cNvPr id="155" name="Google Shape;155;g35eccdbb309_0_24"/>
          <p:cNvPicPr preferRelativeResize="0"/>
          <p:nvPr/>
        </p:nvPicPr>
        <p:blipFill>
          <a:blip r:embed="rId3">
            <a:alphaModFix/>
          </a:blip>
          <a:stretch>
            <a:fillRect/>
          </a:stretch>
        </p:blipFill>
        <p:spPr>
          <a:xfrm>
            <a:off x="10037600" y="3695689"/>
            <a:ext cx="7620000" cy="2895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5eccdbb309_0_30"/>
          <p:cNvSpPr txBox="1"/>
          <p:nvPr/>
        </p:nvSpPr>
        <p:spPr>
          <a:xfrm>
            <a:off x="1374900" y="2902525"/>
            <a:ext cx="7143900" cy="7402200"/>
          </a:xfrm>
          <a:prstGeom prst="rect">
            <a:avLst/>
          </a:prstGeom>
          <a:noFill/>
          <a:ln>
            <a:noFill/>
          </a:ln>
        </p:spPr>
        <p:txBody>
          <a:bodyPr anchorCtr="0" anchor="t" bIns="0" lIns="0" spcFirstLastPara="1" rIns="0" wrap="square" tIns="0">
            <a:spAutoFit/>
          </a:bodyPr>
          <a:lstStyle/>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Diseño más simple : </a:t>
            </a:r>
            <a:r>
              <a:rPr lang="en-US" sz="2400">
                <a:solidFill>
                  <a:srgbClr val="131416"/>
                </a:solidFill>
              </a:rPr>
              <a:t>Los contadores asíncronos son fáciles de diseñar porque no necesitan una única señal de reloj para todos los biestables. Cada biestable se activa con el anterior.</a:t>
            </a:r>
            <a:endParaRPr sz="2400">
              <a:solidFill>
                <a:srgbClr val="131416"/>
              </a:solidFill>
            </a:endParaRPr>
          </a:p>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Menor consumo de energía : </a:t>
            </a:r>
            <a:r>
              <a:rPr lang="en-US" sz="2400">
                <a:solidFill>
                  <a:srgbClr val="131416"/>
                </a:solidFill>
              </a:rPr>
              <a:t>dado que los flip-flops cambian uno a la vez, utiliza menos energía que los contadores sincrónicos.</a:t>
            </a:r>
            <a:endParaRPr sz="2400">
              <a:solidFill>
                <a:srgbClr val="131416"/>
              </a:solidFill>
            </a:endParaRPr>
          </a:p>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Menos costoso : </a:t>
            </a:r>
            <a:r>
              <a:rPr lang="en-US" sz="2400">
                <a:solidFill>
                  <a:srgbClr val="131416"/>
                </a:solidFill>
              </a:rPr>
              <a:t>el diseño es más simple y utiliza menos componentes, lo que hace que sea menos costoso construir contadores asincrónicos.</a:t>
            </a:r>
            <a:endParaRPr sz="2400">
              <a:solidFill>
                <a:srgbClr val="131416"/>
              </a:solidFill>
            </a:endParaRPr>
          </a:p>
        </p:txBody>
      </p:sp>
      <p:sp>
        <p:nvSpPr>
          <p:cNvPr id="161" name="Google Shape;161;g35eccdbb309_0_30"/>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Contadores 	Asíncronos</a:t>
            </a:r>
            <a:endParaRPr b="0" i="0" sz="1400" u="none" cap="none" strike="noStrike">
              <a:solidFill>
                <a:srgbClr val="000000"/>
              </a:solidFill>
              <a:latin typeface="Impact"/>
              <a:ea typeface="Impact"/>
              <a:cs typeface="Impact"/>
              <a:sym typeface="Impact"/>
            </a:endParaRPr>
          </a:p>
        </p:txBody>
      </p:sp>
      <p:sp>
        <p:nvSpPr>
          <p:cNvPr id="162" name="Google Shape;162;g35eccdbb309_0_30"/>
          <p:cNvSpPr txBox="1"/>
          <p:nvPr/>
        </p:nvSpPr>
        <p:spPr>
          <a:xfrm>
            <a:off x="1374891" y="1878350"/>
            <a:ext cx="3197100" cy="7389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4800">
                <a:solidFill>
                  <a:srgbClr val="131416"/>
                </a:solidFill>
                <a:latin typeface="Impact"/>
                <a:ea typeface="Impact"/>
                <a:cs typeface="Impact"/>
                <a:sym typeface="Impact"/>
              </a:rPr>
              <a:t>Ventajas</a:t>
            </a:r>
            <a:endParaRPr b="0" i="0" sz="4800" u="none" cap="none" strike="noStrike">
              <a:solidFill>
                <a:srgbClr val="000000"/>
              </a:solidFill>
              <a:latin typeface="Impact"/>
              <a:ea typeface="Impact"/>
              <a:cs typeface="Impact"/>
              <a:sym typeface="Impact"/>
            </a:endParaRPr>
          </a:p>
        </p:txBody>
      </p:sp>
      <p:sp>
        <p:nvSpPr>
          <p:cNvPr id="163" name="Google Shape;163;g35eccdbb309_0_30"/>
          <p:cNvSpPr txBox="1"/>
          <p:nvPr/>
        </p:nvSpPr>
        <p:spPr>
          <a:xfrm>
            <a:off x="9965850" y="2902525"/>
            <a:ext cx="7143900" cy="6762900"/>
          </a:xfrm>
          <a:prstGeom prst="rect">
            <a:avLst/>
          </a:prstGeom>
          <a:noFill/>
          <a:ln>
            <a:noFill/>
          </a:ln>
        </p:spPr>
        <p:txBody>
          <a:bodyPr anchorCtr="0" anchor="t" bIns="0" lIns="0" spcFirstLastPara="1" rIns="0" wrap="square" tIns="0">
            <a:spAutoFit/>
          </a:bodyPr>
          <a:lstStyle/>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Menos preciso : </a:t>
            </a:r>
            <a:r>
              <a:rPr lang="en-US" sz="2400">
                <a:solidFill>
                  <a:srgbClr val="131416"/>
                </a:solidFill>
              </a:rPr>
              <a:t>el efecto dominó (el retraso entre flip-flops) puede causar errores, haciendo que los contadores asincrónicos sean menos precisos.</a:t>
            </a:r>
            <a:endParaRPr sz="2400">
              <a:solidFill>
                <a:srgbClr val="131416"/>
              </a:solidFill>
            </a:endParaRPr>
          </a:p>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Velocidad limitada : </a:t>
            </a:r>
            <a:r>
              <a:rPr lang="en-US" sz="2400">
                <a:solidFill>
                  <a:srgbClr val="131416"/>
                </a:solidFill>
              </a:rPr>
              <a:t>estos contadores no son adecuados para sistemas rápidos debido a los retrasos entre flip-flops.</a:t>
            </a:r>
            <a:endParaRPr sz="2400">
              <a:solidFill>
                <a:srgbClr val="131416"/>
              </a:solidFill>
            </a:endParaRPr>
          </a:p>
          <a:p>
            <a:pPr indent="-381000" lvl="0" marL="457200" marR="0" rtl="0" algn="l">
              <a:lnSpc>
                <a:spcPct val="173070"/>
              </a:lnSpc>
              <a:spcBef>
                <a:spcPts val="0"/>
              </a:spcBef>
              <a:spcAft>
                <a:spcPts val="0"/>
              </a:spcAft>
              <a:buClr>
                <a:srgbClr val="131416"/>
              </a:buClr>
              <a:buSzPts val="2400"/>
              <a:buChar char="●"/>
            </a:pPr>
            <a:r>
              <a:rPr b="1" lang="en-US" sz="2400">
                <a:solidFill>
                  <a:srgbClr val="131416"/>
                </a:solidFill>
              </a:rPr>
              <a:t>Mayor retardo de propagación : </a:t>
            </a:r>
            <a:r>
              <a:rPr lang="en-US" sz="2400">
                <a:solidFill>
                  <a:srgbClr val="131416"/>
                </a:solidFill>
              </a:rPr>
              <a:t>a medida que se agregan más flip-flops, el retraso aumenta, lo que hace que el contador sea más lento y menos confiable.</a:t>
            </a:r>
            <a:endParaRPr sz="2400">
              <a:solidFill>
                <a:srgbClr val="131416"/>
              </a:solidFill>
            </a:endParaRPr>
          </a:p>
        </p:txBody>
      </p:sp>
      <p:sp>
        <p:nvSpPr>
          <p:cNvPr id="164" name="Google Shape;164;g35eccdbb309_0_30"/>
          <p:cNvSpPr txBox="1"/>
          <p:nvPr/>
        </p:nvSpPr>
        <p:spPr>
          <a:xfrm>
            <a:off x="9965841" y="1878350"/>
            <a:ext cx="3197100" cy="7389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4800">
                <a:solidFill>
                  <a:srgbClr val="131416"/>
                </a:solidFill>
                <a:latin typeface="Impact"/>
                <a:ea typeface="Impact"/>
                <a:cs typeface="Impact"/>
                <a:sym typeface="Impact"/>
              </a:rPr>
              <a:t>Desventajas</a:t>
            </a:r>
            <a:endParaRPr b="0" i="0" sz="4800" u="none" cap="none" strike="noStrike">
              <a:solidFill>
                <a:srgbClr val="000000"/>
              </a:solidFill>
              <a:latin typeface="Impact"/>
              <a:ea typeface="Impact"/>
              <a:cs typeface="Impact"/>
              <a:sym typeface="Impac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5eccdbb309_0_39"/>
          <p:cNvSpPr txBox="1"/>
          <p:nvPr/>
        </p:nvSpPr>
        <p:spPr>
          <a:xfrm>
            <a:off x="1508850" y="2330650"/>
            <a:ext cx="8269200" cy="44577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lang="en-US" sz="3000">
                <a:solidFill>
                  <a:srgbClr val="131416"/>
                </a:solidFill>
              </a:rPr>
              <a:t>Un contador ascendente es un circuito secuencial digital que aumenta su valor de salida en uno cada vez que recibe una señal de reloj (clock). Se utiliza comúnmente para contar eventos, medir tiempo o generar secuencias de control.</a:t>
            </a:r>
            <a:endParaRPr b="0" i="0" sz="3000" u="none" cap="none" strike="noStrike">
              <a:solidFill>
                <a:srgbClr val="000000"/>
              </a:solidFill>
              <a:latin typeface="Arial"/>
              <a:ea typeface="Arial"/>
              <a:cs typeface="Arial"/>
              <a:sym typeface="Arial"/>
            </a:endParaRPr>
          </a:p>
        </p:txBody>
      </p:sp>
      <p:sp>
        <p:nvSpPr>
          <p:cNvPr id="170" name="Google Shape;170;g35eccdbb309_0_39"/>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Contadores </a:t>
            </a:r>
            <a:r>
              <a:rPr lang="en-US" sz="6098">
                <a:solidFill>
                  <a:srgbClr val="131416"/>
                </a:solidFill>
                <a:latin typeface="Impact"/>
                <a:ea typeface="Impact"/>
                <a:cs typeface="Impact"/>
                <a:sym typeface="Impact"/>
              </a:rPr>
              <a:t>Ascendentes</a:t>
            </a:r>
            <a:endParaRPr b="0" i="0" sz="1400" u="none" cap="none" strike="noStrike">
              <a:solidFill>
                <a:srgbClr val="000000"/>
              </a:solidFill>
              <a:latin typeface="Impact"/>
              <a:ea typeface="Impact"/>
              <a:cs typeface="Impact"/>
              <a:sym typeface="Impact"/>
            </a:endParaRPr>
          </a:p>
        </p:txBody>
      </p:sp>
      <p:pic>
        <p:nvPicPr>
          <p:cNvPr id="171" name="Google Shape;171;g35eccdbb309_0_39"/>
          <p:cNvPicPr preferRelativeResize="0"/>
          <p:nvPr/>
        </p:nvPicPr>
        <p:blipFill>
          <a:blip r:embed="rId3">
            <a:alphaModFix/>
          </a:blip>
          <a:stretch>
            <a:fillRect/>
          </a:stretch>
        </p:blipFill>
        <p:spPr>
          <a:xfrm>
            <a:off x="9930450" y="3429005"/>
            <a:ext cx="7595750" cy="2839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5f0aee6e7f_0_0"/>
          <p:cNvSpPr txBox="1"/>
          <p:nvPr/>
        </p:nvSpPr>
        <p:spPr>
          <a:xfrm>
            <a:off x="1508850" y="2330650"/>
            <a:ext cx="8269200" cy="52569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lang="en-US" sz="3000">
                <a:solidFill>
                  <a:srgbClr val="131416"/>
                </a:solidFill>
              </a:rPr>
              <a:t>Un contador descendente es un circuito secuencial digital que disminuye su valor de salida en uno cada vez que recibe un pulso de reloj. Es lo opuesto al contador ascendente y se utiliza para contar hacia atrás, por ejemplo, en temporizadores o para controlar el número de ciclos restantes en un proceso.</a:t>
            </a:r>
            <a:endParaRPr b="0" i="0" sz="3000" u="none" cap="none" strike="noStrike">
              <a:solidFill>
                <a:srgbClr val="000000"/>
              </a:solidFill>
              <a:latin typeface="Arial"/>
              <a:ea typeface="Arial"/>
              <a:cs typeface="Arial"/>
              <a:sym typeface="Arial"/>
            </a:endParaRPr>
          </a:p>
        </p:txBody>
      </p:sp>
      <p:sp>
        <p:nvSpPr>
          <p:cNvPr id="177" name="Google Shape;177;g35f0aee6e7f_0_0"/>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Contadores Descendentes</a:t>
            </a:r>
            <a:endParaRPr b="0" i="0" sz="1400" u="none" cap="none" strike="noStrike">
              <a:solidFill>
                <a:srgbClr val="000000"/>
              </a:solidFill>
              <a:latin typeface="Impact"/>
              <a:ea typeface="Impact"/>
              <a:cs typeface="Impact"/>
              <a:sym typeface="Impact"/>
            </a:endParaRPr>
          </a:p>
        </p:txBody>
      </p:sp>
      <p:pic>
        <p:nvPicPr>
          <p:cNvPr id="178" name="Google Shape;178;g35f0aee6e7f_0_0"/>
          <p:cNvPicPr preferRelativeResize="0"/>
          <p:nvPr/>
        </p:nvPicPr>
        <p:blipFill>
          <a:blip r:embed="rId3">
            <a:alphaModFix/>
          </a:blip>
          <a:stretch>
            <a:fillRect/>
          </a:stretch>
        </p:blipFill>
        <p:spPr>
          <a:xfrm>
            <a:off x="10037625" y="3878218"/>
            <a:ext cx="7902125" cy="21617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184" name="Google Shape;184;p6"/>
          <p:cNvSpPr txBox="1"/>
          <p:nvPr/>
        </p:nvSpPr>
        <p:spPr>
          <a:xfrm>
            <a:off x="1100409" y="2387425"/>
            <a:ext cx="16317300" cy="6597000"/>
          </a:xfrm>
          <a:prstGeom prst="rect">
            <a:avLst/>
          </a:prstGeom>
          <a:noFill/>
          <a:ln>
            <a:noFill/>
          </a:ln>
        </p:spPr>
        <p:txBody>
          <a:bodyPr anchorCtr="0" anchor="t" bIns="0" lIns="0" spcFirstLastPara="1" rIns="0" wrap="square" tIns="0">
            <a:spAutoFit/>
          </a:bodyPr>
          <a:lstStyle/>
          <a:p>
            <a:pPr indent="-428688" lvl="0" marL="457200" marR="0" rtl="0" algn="just">
              <a:lnSpc>
                <a:spcPct val="140019"/>
              </a:lnSpc>
              <a:spcBef>
                <a:spcPts val="0"/>
              </a:spcBef>
              <a:spcAft>
                <a:spcPts val="0"/>
              </a:spcAft>
              <a:buClr>
                <a:srgbClr val="131416"/>
              </a:buClr>
              <a:buSzPts val="3151"/>
              <a:buAutoNum type="arabicPeriod"/>
            </a:pPr>
            <a:r>
              <a:rPr b="1" lang="en-US" sz="3151">
                <a:solidFill>
                  <a:srgbClr val="131416"/>
                </a:solidFill>
              </a:rPr>
              <a:t>Contador: </a:t>
            </a:r>
            <a:r>
              <a:rPr lang="en-US" sz="3151">
                <a:solidFill>
                  <a:srgbClr val="131416"/>
                </a:solidFill>
              </a:rPr>
              <a:t>Circuito secuencial que almacena y modifica un valor binario en respuesta a una señal de reloj. Puede ser ascendente, descendente o bidireccional.</a:t>
            </a:r>
            <a:endParaRPr sz="3151">
              <a:solidFill>
                <a:srgbClr val="131416"/>
              </a:solidFill>
            </a:endParaRPr>
          </a:p>
          <a:p>
            <a:pPr indent="-428688" lvl="0" marL="457200" marR="0" rtl="0" algn="just">
              <a:lnSpc>
                <a:spcPct val="140019"/>
              </a:lnSpc>
              <a:spcBef>
                <a:spcPts val="0"/>
              </a:spcBef>
              <a:spcAft>
                <a:spcPts val="0"/>
              </a:spcAft>
              <a:buClr>
                <a:srgbClr val="131416"/>
              </a:buClr>
              <a:buSzPts val="3151"/>
              <a:buAutoNum type="arabicPeriod"/>
            </a:pPr>
            <a:r>
              <a:rPr b="1" lang="en-US" sz="3151">
                <a:solidFill>
                  <a:srgbClr val="131416"/>
                </a:solidFill>
              </a:rPr>
              <a:t>Contador ascendente: </a:t>
            </a:r>
            <a:r>
              <a:rPr lang="en-US" sz="3151">
                <a:solidFill>
                  <a:srgbClr val="131416"/>
                </a:solidFill>
              </a:rPr>
              <a:t>Tipo de contador que incrementa su valor en uno con cada pulso de reloj. Cuenta en orden creciente (ejemplo: 000, 001, 010, ...).</a:t>
            </a:r>
            <a:endParaRPr sz="3151">
              <a:solidFill>
                <a:srgbClr val="131416"/>
              </a:solidFill>
            </a:endParaRPr>
          </a:p>
          <a:p>
            <a:pPr indent="-428688" lvl="0" marL="457200" marR="0" rtl="0" algn="just">
              <a:lnSpc>
                <a:spcPct val="140019"/>
              </a:lnSpc>
              <a:spcBef>
                <a:spcPts val="0"/>
              </a:spcBef>
              <a:spcAft>
                <a:spcPts val="0"/>
              </a:spcAft>
              <a:buClr>
                <a:srgbClr val="131416"/>
              </a:buClr>
              <a:buSzPts val="3151"/>
              <a:buAutoNum type="arabicPeriod"/>
            </a:pPr>
            <a:r>
              <a:rPr b="1" lang="en-US" sz="3151">
                <a:solidFill>
                  <a:srgbClr val="131416"/>
                </a:solidFill>
              </a:rPr>
              <a:t>Contador descendente: </a:t>
            </a:r>
            <a:r>
              <a:rPr lang="en-US" sz="3151">
                <a:solidFill>
                  <a:srgbClr val="131416"/>
                </a:solidFill>
              </a:rPr>
              <a:t>Tipo de contador que disminuye su valor en uno con cada pulso de reloj. Cuenta en orden decreciente (ejemplo: 111, 110, 101, ...).</a:t>
            </a:r>
            <a:endParaRPr sz="3151">
              <a:solidFill>
                <a:srgbClr val="131416"/>
              </a:solidFill>
            </a:endParaRPr>
          </a:p>
          <a:p>
            <a:pPr indent="-428688" lvl="0" marL="457200" marR="0" rtl="0" algn="just">
              <a:lnSpc>
                <a:spcPct val="140019"/>
              </a:lnSpc>
              <a:spcBef>
                <a:spcPts val="0"/>
              </a:spcBef>
              <a:spcAft>
                <a:spcPts val="0"/>
              </a:spcAft>
              <a:buClr>
                <a:srgbClr val="131416"/>
              </a:buClr>
              <a:buSzPts val="3151"/>
              <a:buAutoNum type="arabicPeriod"/>
            </a:pPr>
            <a:r>
              <a:rPr b="1" lang="en-US" sz="3151">
                <a:solidFill>
                  <a:srgbClr val="131416"/>
                </a:solidFill>
              </a:rPr>
              <a:t>Contador síncrono: </a:t>
            </a:r>
            <a:r>
              <a:rPr lang="en-US" sz="3151">
                <a:solidFill>
                  <a:srgbClr val="131416"/>
                </a:solidFill>
              </a:rPr>
              <a:t>Todos los flip-flops se activan al mismo tiempo con la misma señal de reloj. Tiene menor retardo y mayor precisión que el asíncrono.</a:t>
            </a:r>
            <a:endParaRPr sz="3151">
              <a:solidFill>
                <a:srgbClr val="131416"/>
              </a:solidFill>
            </a:endParaRPr>
          </a:p>
          <a:p>
            <a:pPr indent="-428688" lvl="0" marL="457200" marR="0" rtl="0" algn="just">
              <a:lnSpc>
                <a:spcPct val="140019"/>
              </a:lnSpc>
              <a:spcBef>
                <a:spcPts val="0"/>
              </a:spcBef>
              <a:spcAft>
                <a:spcPts val="0"/>
              </a:spcAft>
              <a:buClr>
                <a:srgbClr val="131416"/>
              </a:buClr>
              <a:buSzPts val="3151"/>
              <a:buAutoNum type="arabicPeriod"/>
            </a:pPr>
            <a:r>
              <a:rPr b="1" lang="en-US" sz="3151">
                <a:solidFill>
                  <a:srgbClr val="131416"/>
                </a:solidFill>
              </a:rPr>
              <a:t>Contador asíncrono: </a:t>
            </a:r>
            <a:r>
              <a:rPr lang="en-US" sz="3151">
                <a:solidFill>
                  <a:srgbClr val="131416"/>
                </a:solidFill>
              </a:rPr>
              <a:t>Solo el primer flip-flop recibe la señal de reloj, y los demás se activan en cascada. Es más simple pero más lento por el retardo acumulado.</a:t>
            </a:r>
            <a:endParaRPr sz="3151">
              <a:solidFill>
                <a:srgbClr val="13141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sp>
        <p:nvSpPr>
          <p:cNvPr id="190" name="Google Shape;190;p8"/>
          <p:cNvSpPr txBox="1"/>
          <p:nvPr/>
        </p:nvSpPr>
        <p:spPr>
          <a:xfrm>
            <a:off x="1382676" y="2847000"/>
            <a:ext cx="16298100" cy="11640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3151"/>
              <a:buFont typeface="Arial"/>
              <a:buNone/>
            </a:pPr>
            <a:r>
              <a:rPr lang="en-US" sz="3151" u="sng">
                <a:solidFill>
                  <a:schemeClr val="hlink"/>
                </a:solidFill>
                <a:hlinkClick r:id="rId3"/>
              </a:rPr>
              <a:t>https://www.geeksforgeeks.org/differences-between-synchronous-and-asynchronous-counter/</a:t>
            </a:r>
            <a:r>
              <a:rPr lang="en-US" sz="3151">
                <a:solidFill>
                  <a:srgbClr val="131416"/>
                </a:solidFil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196" name="Google Shape;196;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197" name="Google Shape;197;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198" name="Google Shape;198;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