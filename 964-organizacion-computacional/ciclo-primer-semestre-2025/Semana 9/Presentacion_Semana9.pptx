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Lobster"/>
      <p:regular r:id="rId21"/>
    </p:embeddedFont>
    <p:embeddedFont>
      <p:font typeface="Pacifico"/>
      <p:regular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x3uRnpoTPy/FPZQROuyXfb7tp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acifico-regular.fntdata"/><Relationship Id="rId21" Type="http://schemas.openxmlformats.org/officeDocument/2006/relationships/font" Target="fonts/Lobster-regular.fntdata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f0b17252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5f0b17252b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f0b17252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5f0b17252b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5f0b17252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5f0b17252b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f0b17252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5f0b17252b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f0b17252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g35f0b17252b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f0b17252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5f0b17252b_0_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f0b17252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5f0b17252b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f0b17252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5f0b17252b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hyperlink" Target="https://youtu.be/_4A5nL4DA_4" TargetMode="External"/><Relationship Id="rId6" Type="http://schemas.openxmlformats.org/officeDocument/2006/relationships/hyperlink" Target="https://youtu.be/Iy9E14aKfuw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electrouni.wordpress.com/wp-content/uploads/2010/08/registros.pdf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2541309" y="6021878"/>
            <a:ext cx="4160184" cy="4114800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1063303" y="699423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Computacional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687405" y="39156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Registros digitales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176619" y="4520475"/>
            <a:ext cx="7485383" cy="845566"/>
            <a:chOff x="0" y="-76204"/>
            <a:chExt cx="3186904" cy="36000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7" name="Google Shape;97;p2"/>
            <p:cNvSpPr txBox="1"/>
            <p:nvPr/>
          </p:nvSpPr>
          <p:spPr>
            <a:xfrm>
              <a:off x="4" y="-76204"/>
              <a:ext cx="31869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REGISTROS EN PARALELO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 u="sng">
                  <a:solidFill>
                    <a:schemeClr val="hlink"/>
                  </a:solidFill>
                  <a:hlinkClick r:id="rId5"/>
                </a:rPr>
                <a:t>https://youtu.be/_4A5nL4DA_4</a:t>
              </a:r>
              <a:r>
                <a:rPr lang="en-US" sz="4499"/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 u="sng">
                  <a:solidFill>
                    <a:schemeClr val="hlink"/>
                  </a:solidFill>
                  <a:hlinkClick r:id="rId6"/>
                </a:rPr>
                <a:t>https://youtu.be/Iy9E14aKfuw</a:t>
              </a:r>
              <a:r>
                <a:rPr lang="en-US" sz="4499"/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176619" y="5444300"/>
            <a:ext cx="6681389" cy="845566"/>
            <a:chOff x="0" y="-76201"/>
            <a:chExt cx="2844604" cy="360000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4" y="-76201"/>
              <a:ext cx="28446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REGISTROS EN SERIE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76619" y="6425875"/>
            <a:ext cx="8958776" cy="845566"/>
            <a:chOff x="0" y="-76200"/>
            <a:chExt cx="3814202" cy="3600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2" y="-76200"/>
              <a:ext cx="38142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REGISTROS EN ALMACENAMIENTO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6619" y="7349450"/>
            <a:ext cx="7860246" cy="845566"/>
            <a:chOff x="0" y="-76203"/>
            <a:chExt cx="3346503" cy="360000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3" y="-76203"/>
              <a:ext cx="33465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TRANSFERENCIA DE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176619" y="8412925"/>
            <a:ext cx="5609631" cy="845566"/>
            <a:chOff x="0" y="-76196"/>
            <a:chExt cx="2388303" cy="360000"/>
          </a:xfrm>
        </p:grpSpPr>
        <p:sp>
          <p:nvSpPr>
            <p:cNvPr id="121" name="Google Shape;12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2" name="Google Shape;122;p2"/>
            <p:cNvSpPr txBox="1"/>
            <p:nvPr/>
          </p:nvSpPr>
          <p:spPr>
            <a:xfrm>
              <a:off x="3" y="-76196"/>
              <a:ext cx="23883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MEMORIA 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688962" y="2223500"/>
            <a:ext cx="16910100" cy="6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 estudiante implementa soluciones de almacenamiento y conteo digital utilizando registros y contadores apoyándose en simuladores de circuitos digitales como Proteus para optimizar el manejo de datos y eventos secuenciales en sistemas electrónicos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1374889" y="3027816"/>
            <a:ext cx="12625500" cy="5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Los registros digitales son circuitos que almacenan datos temporalmente para su posterior procesamiento o transmisión.</a:t>
            </a:r>
            <a:endParaRPr sz="3925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Encontramos registros digitales en computadoras, sistemas de control, procesadores de señales y una amplia gama de dispositivos electrónicos.</a:t>
            </a:r>
            <a:endParaRPr sz="3925">
              <a:solidFill>
                <a:srgbClr val="131416"/>
              </a:solidFill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¿Qué son los Registros?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f0b17252b_0_4"/>
          <p:cNvSpPr txBox="1"/>
          <p:nvPr/>
        </p:nvSpPr>
        <p:spPr>
          <a:xfrm>
            <a:off x="1374900" y="2009850"/>
            <a:ext cx="15877200" cy="6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En un registro en paralelo, los bits de datos se transfieren tanto para lectura como para escritura simultáneamente a través de sus múltiples líneas.</a:t>
            </a:r>
            <a:endParaRPr sz="3925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Una de las ventajas es la mayor velocidad de transferencia, ya que todos los bits se mueven al mismo tiempo.</a:t>
            </a:r>
            <a:endParaRPr sz="3925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Una desventaja es que requiere más líneas de transmisión, lo que aumenta la complejidad y el costo del sistema.</a:t>
            </a:r>
            <a:endParaRPr sz="3925">
              <a:solidFill>
                <a:srgbClr val="131416"/>
              </a:solidFill>
            </a:endParaRPr>
          </a:p>
        </p:txBody>
      </p:sp>
      <p:sp>
        <p:nvSpPr>
          <p:cNvPr id="144" name="Google Shape;144;g35f0b17252b_0_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Registro en Paralelo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f0b17252b_0_11"/>
          <p:cNvSpPr txBox="1"/>
          <p:nvPr/>
        </p:nvSpPr>
        <p:spPr>
          <a:xfrm>
            <a:off x="1374900" y="2009850"/>
            <a:ext cx="15877200" cy="5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En un registro en serie, los bits de datos se transfieren uno a uno a través de una sola línea.</a:t>
            </a:r>
            <a:endParaRPr sz="3925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Una ventaja es la menor complejidad y costo del sistema, ya que se requieren menos líneas de transmisión.</a:t>
            </a:r>
            <a:endParaRPr sz="3925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Y una desventaja es la menor velocidad de transferencia en comparación con el registro en paralelo.</a:t>
            </a:r>
            <a:endParaRPr sz="3925">
              <a:solidFill>
                <a:srgbClr val="131416"/>
              </a:solidFill>
            </a:endParaRPr>
          </a:p>
        </p:txBody>
      </p:sp>
      <p:sp>
        <p:nvSpPr>
          <p:cNvPr id="150" name="Google Shape;150;g35f0b17252b_0_11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Registro en Serie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f0b17252b_0_16"/>
          <p:cNvSpPr txBox="1"/>
          <p:nvPr/>
        </p:nvSpPr>
        <p:spPr>
          <a:xfrm>
            <a:off x="1374902" y="654375"/>
            <a:ext cx="16547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Diferencias entre Registro en Paralelo y en Serie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6" name="Google Shape;156;g35f0b17252b_0_16"/>
          <p:cNvSpPr/>
          <p:nvPr/>
        </p:nvSpPr>
        <p:spPr>
          <a:xfrm>
            <a:off x="2061544" y="2708074"/>
            <a:ext cx="61800" cy="517530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57" name="Google Shape;157;g35f0b17252b_0_16"/>
          <p:cNvSpPr/>
          <p:nvPr/>
        </p:nvSpPr>
        <p:spPr>
          <a:xfrm>
            <a:off x="2540627" y="3197659"/>
            <a:ext cx="1586700" cy="3060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58" name="Google Shape;158;g35f0b17252b_0_16"/>
          <p:cNvSpPr/>
          <p:nvPr/>
        </p:nvSpPr>
        <p:spPr>
          <a:xfrm>
            <a:off x="1582462" y="2960486"/>
            <a:ext cx="1019700" cy="504900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59" name="Google Shape;159;g35f0b17252b_0_16"/>
          <p:cNvSpPr/>
          <p:nvPr/>
        </p:nvSpPr>
        <p:spPr>
          <a:xfrm>
            <a:off x="1974144" y="3059903"/>
            <a:ext cx="2364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lang="en-US" sz="3100">
                <a:solidFill>
                  <a:schemeClr val="lt1"/>
                </a:solidFill>
              </a:rPr>
              <a:t>1</a:t>
            </a:r>
            <a:endParaRPr sz="3100">
              <a:solidFill>
                <a:schemeClr val="lt1"/>
              </a:solidFill>
            </a:endParaRPr>
          </a:p>
        </p:txBody>
      </p:sp>
      <p:sp>
        <p:nvSpPr>
          <p:cNvPr id="160" name="Google Shape;160;g35f0b17252b_0_16"/>
          <p:cNvSpPr/>
          <p:nvPr/>
        </p:nvSpPr>
        <p:spPr>
          <a:xfrm>
            <a:off x="4585232" y="2932507"/>
            <a:ext cx="60864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lang="en-US" sz="2700">
                <a:solidFill>
                  <a:schemeClr val="dk1"/>
                </a:solidFill>
              </a:rPr>
              <a:t>Transferencia de Datos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61" name="Google Shape;161;g35f0b17252b_0_16"/>
          <p:cNvSpPr/>
          <p:nvPr/>
        </p:nvSpPr>
        <p:spPr>
          <a:xfrm>
            <a:off x="4585232" y="3655222"/>
            <a:ext cx="121203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lang="en-US" sz="2450">
                <a:solidFill>
                  <a:schemeClr val="dk1"/>
                </a:solidFill>
              </a:rPr>
              <a:t>Paralelo: Todos los bits se transfieren simultáneamente. Serie: Un bit a la vez.</a:t>
            </a:r>
            <a:endParaRPr sz="2450">
              <a:solidFill>
                <a:schemeClr val="dk1"/>
              </a:solidFill>
            </a:endParaRPr>
          </a:p>
        </p:txBody>
      </p:sp>
      <p:sp>
        <p:nvSpPr>
          <p:cNvPr id="162" name="Google Shape;162;g35f0b17252b_0_16"/>
          <p:cNvSpPr/>
          <p:nvPr/>
        </p:nvSpPr>
        <p:spPr>
          <a:xfrm>
            <a:off x="2540627" y="4997528"/>
            <a:ext cx="1586700" cy="3060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3" name="Google Shape;163;g35f0b17252b_0_16"/>
          <p:cNvSpPr/>
          <p:nvPr/>
        </p:nvSpPr>
        <p:spPr>
          <a:xfrm>
            <a:off x="1582462" y="4760355"/>
            <a:ext cx="1019700" cy="504900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4" name="Google Shape;164;g35f0b17252b_0_16"/>
          <p:cNvSpPr/>
          <p:nvPr/>
        </p:nvSpPr>
        <p:spPr>
          <a:xfrm>
            <a:off x="1913071" y="4859772"/>
            <a:ext cx="3588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lang="en-US" sz="3100">
                <a:solidFill>
                  <a:schemeClr val="lt1"/>
                </a:solidFill>
              </a:rPr>
              <a:t>2</a:t>
            </a:r>
            <a:endParaRPr sz="3100">
              <a:solidFill>
                <a:schemeClr val="lt1"/>
              </a:solidFill>
            </a:endParaRPr>
          </a:p>
        </p:txBody>
      </p:sp>
      <p:sp>
        <p:nvSpPr>
          <p:cNvPr id="165" name="Google Shape;165;g35f0b17252b_0_16"/>
          <p:cNvSpPr/>
          <p:nvPr/>
        </p:nvSpPr>
        <p:spPr>
          <a:xfrm>
            <a:off x="4585232" y="4732375"/>
            <a:ext cx="5151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lang="en-US" sz="2700">
                <a:solidFill>
                  <a:schemeClr val="dk1"/>
                </a:solidFill>
              </a:rPr>
              <a:t>Velocidad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66" name="Google Shape;166;g35f0b17252b_0_16"/>
          <p:cNvSpPr/>
          <p:nvPr/>
        </p:nvSpPr>
        <p:spPr>
          <a:xfrm>
            <a:off x="4585232" y="5185765"/>
            <a:ext cx="121203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lang="en-US" sz="2450">
                <a:solidFill>
                  <a:schemeClr val="dk1"/>
                </a:solidFill>
              </a:rPr>
              <a:t>Paralelo: Mayor velocidad de transferencia. </a:t>
            </a:r>
            <a:endParaRPr sz="2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lang="en-US" sz="2450">
                <a:solidFill>
                  <a:schemeClr val="dk1"/>
                </a:solidFill>
              </a:rPr>
              <a:t>Serie: Menor velocidad de transferencia.</a:t>
            </a:r>
            <a:endParaRPr sz="2450">
              <a:solidFill>
                <a:schemeClr val="dk1"/>
              </a:solidFill>
            </a:endParaRPr>
          </a:p>
        </p:txBody>
      </p:sp>
      <p:sp>
        <p:nvSpPr>
          <p:cNvPr id="167" name="Google Shape;167;g35f0b17252b_0_16"/>
          <p:cNvSpPr/>
          <p:nvPr/>
        </p:nvSpPr>
        <p:spPr>
          <a:xfrm>
            <a:off x="2540627" y="6797395"/>
            <a:ext cx="1586700" cy="30600"/>
          </a:xfrm>
          <a:prstGeom prst="roundRect">
            <a:avLst>
              <a:gd fmla="val 110459" name="adj"/>
            </a:avLst>
          </a:prstGeom>
          <a:solidFill>
            <a:srgbClr val="494A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8" name="Google Shape;168;g35f0b17252b_0_16"/>
          <p:cNvSpPr/>
          <p:nvPr/>
        </p:nvSpPr>
        <p:spPr>
          <a:xfrm>
            <a:off x="1582462" y="6560223"/>
            <a:ext cx="1019700" cy="504900"/>
          </a:xfrm>
          <a:prstGeom prst="roundRect">
            <a:avLst>
              <a:gd fmla="val 6668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9" name="Google Shape;169;g35f0b17252b_0_16"/>
          <p:cNvSpPr/>
          <p:nvPr/>
        </p:nvSpPr>
        <p:spPr>
          <a:xfrm>
            <a:off x="1912350" y="6659640"/>
            <a:ext cx="3600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400"/>
              <a:buFont typeface="Montserrat"/>
              <a:buNone/>
            </a:pPr>
            <a:r>
              <a:rPr b="1" lang="en-US" sz="3100">
                <a:solidFill>
                  <a:schemeClr val="lt1"/>
                </a:solidFill>
              </a:rPr>
              <a:t>3</a:t>
            </a:r>
            <a:endParaRPr sz="3100">
              <a:solidFill>
                <a:schemeClr val="lt1"/>
              </a:solidFill>
            </a:endParaRPr>
          </a:p>
        </p:txBody>
      </p:sp>
      <p:sp>
        <p:nvSpPr>
          <p:cNvPr id="170" name="Google Shape;170;g35f0b17252b_0_16"/>
          <p:cNvSpPr/>
          <p:nvPr/>
        </p:nvSpPr>
        <p:spPr>
          <a:xfrm>
            <a:off x="4585232" y="6532243"/>
            <a:ext cx="51510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000"/>
              <a:buFont typeface="Montserrat"/>
              <a:buNone/>
            </a:pPr>
            <a:r>
              <a:rPr b="1" lang="en-US" sz="2700">
                <a:solidFill>
                  <a:schemeClr val="dk1"/>
                </a:solidFill>
              </a:rPr>
              <a:t>Complejidad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71" name="Google Shape;171;g35f0b17252b_0_16"/>
          <p:cNvSpPr/>
          <p:nvPr/>
        </p:nvSpPr>
        <p:spPr>
          <a:xfrm>
            <a:off x="4585232" y="6985633"/>
            <a:ext cx="121203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lang="en-US" sz="2450">
                <a:solidFill>
                  <a:schemeClr val="dk1"/>
                </a:solidFill>
              </a:rPr>
              <a:t>Paralelo: Mayor complejidad y costo. </a:t>
            </a:r>
            <a:endParaRPr sz="2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750"/>
              <a:buFont typeface="Arial"/>
              <a:buNone/>
            </a:pPr>
            <a:r>
              <a:rPr lang="en-US" sz="2450">
                <a:solidFill>
                  <a:schemeClr val="dk1"/>
                </a:solidFill>
              </a:rPr>
              <a:t>Serie: Menor complejidad y costo.</a:t>
            </a:r>
            <a:endParaRPr sz="24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f0b17252b_0_38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Registros de Almacenamiento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7" name="Google Shape;177;g35f0b17252b_0_38"/>
          <p:cNvSpPr/>
          <p:nvPr/>
        </p:nvSpPr>
        <p:spPr>
          <a:xfrm>
            <a:off x="1374902" y="2268376"/>
            <a:ext cx="7674600" cy="4190400"/>
          </a:xfrm>
          <a:prstGeom prst="roundRect">
            <a:avLst>
              <a:gd fmla="val 130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78" name="Google Shape;178;g35f0b17252b_0_38"/>
          <p:cNvSpPr/>
          <p:nvPr/>
        </p:nvSpPr>
        <p:spPr>
          <a:xfrm>
            <a:off x="1903276" y="2632161"/>
            <a:ext cx="60048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3600">
                <a:solidFill>
                  <a:srgbClr val="E2E6E9"/>
                </a:solidFill>
              </a:rPr>
              <a:t>Tipos de Registros</a:t>
            </a:r>
            <a:endParaRPr sz="3600">
              <a:solidFill>
                <a:srgbClr val="000000"/>
              </a:solidFill>
            </a:endParaRPr>
          </a:p>
        </p:txBody>
      </p:sp>
      <p:sp>
        <p:nvSpPr>
          <p:cNvPr id="179" name="Google Shape;179;g35f0b17252b_0_38"/>
          <p:cNvSpPr/>
          <p:nvPr/>
        </p:nvSpPr>
        <p:spPr>
          <a:xfrm>
            <a:off x="1903276" y="3367102"/>
            <a:ext cx="6617400" cy="21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3300">
                <a:solidFill>
                  <a:srgbClr val="E2E6E9"/>
                </a:solidFill>
              </a:rPr>
              <a:t>Registros de propósito general, registros de control, registros de desplazamiento y registros de contador.</a:t>
            </a:r>
            <a:endParaRPr sz="3300">
              <a:solidFill>
                <a:srgbClr val="000000"/>
              </a:solidFill>
            </a:endParaRPr>
          </a:p>
        </p:txBody>
      </p:sp>
      <p:sp>
        <p:nvSpPr>
          <p:cNvPr id="180" name="Google Shape;180;g35f0b17252b_0_38"/>
          <p:cNvSpPr/>
          <p:nvPr/>
        </p:nvSpPr>
        <p:spPr>
          <a:xfrm>
            <a:off x="9577557" y="2268376"/>
            <a:ext cx="7674600" cy="4190400"/>
          </a:xfrm>
          <a:prstGeom prst="roundRect">
            <a:avLst>
              <a:gd fmla="val 130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81" name="Google Shape;181;g35f0b17252b_0_38"/>
          <p:cNvSpPr/>
          <p:nvPr/>
        </p:nvSpPr>
        <p:spPr>
          <a:xfrm>
            <a:off x="10105929" y="2632161"/>
            <a:ext cx="60048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3600">
                <a:solidFill>
                  <a:srgbClr val="E2E6E9"/>
                </a:solidFill>
              </a:rPr>
              <a:t>Aplicaciones</a:t>
            </a:r>
            <a:endParaRPr sz="3600">
              <a:solidFill>
                <a:srgbClr val="000000"/>
              </a:solidFill>
            </a:endParaRPr>
          </a:p>
        </p:txBody>
      </p:sp>
      <p:sp>
        <p:nvSpPr>
          <p:cNvPr id="182" name="Google Shape;182;g35f0b17252b_0_38"/>
          <p:cNvSpPr/>
          <p:nvPr/>
        </p:nvSpPr>
        <p:spPr>
          <a:xfrm>
            <a:off x="10105929" y="3367102"/>
            <a:ext cx="6617400" cy="27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3300">
                <a:solidFill>
                  <a:srgbClr val="E2E6E9"/>
                </a:solidFill>
              </a:rPr>
              <a:t>Almacenamiento temporal de datos, control de flujo de instrucciones y desplazamiento de datos en sistemas digitales.</a:t>
            </a:r>
            <a:endParaRPr sz="3300">
              <a:solidFill>
                <a:srgbClr val="000000"/>
              </a:solidFill>
            </a:endParaRPr>
          </a:p>
        </p:txBody>
      </p:sp>
      <p:sp>
        <p:nvSpPr>
          <p:cNvPr id="183" name="Google Shape;183;g35f0b17252b_0_38"/>
          <p:cNvSpPr/>
          <p:nvPr/>
        </p:nvSpPr>
        <p:spPr>
          <a:xfrm>
            <a:off x="1374902" y="6822626"/>
            <a:ext cx="15876600" cy="2553600"/>
          </a:xfrm>
          <a:prstGeom prst="roundRect">
            <a:avLst>
              <a:gd fmla="val 2137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84" name="Google Shape;184;g35f0b17252b_0_38"/>
          <p:cNvSpPr/>
          <p:nvPr/>
        </p:nvSpPr>
        <p:spPr>
          <a:xfrm>
            <a:off x="1903276" y="7186411"/>
            <a:ext cx="60048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3600">
                <a:solidFill>
                  <a:srgbClr val="E2E6E9"/>
                </a:solidFill>
              </a:rPr>
              <a:t>Arquitectura</a:t>
            </a:r>
            <a:endParaRPr sz="3600">
              <a:solidFill>
                <a:srgbClr val="000000"/>
              </a:solidFill>
            </a:endParaRPr>
          </a:p>
        </p:txBody>
      </p:sp>
      <p:sp>
        <p:nvSpPr>
          <p:cNvPr id="185" name="Google Shape;185;g35f0b17252b_0_38"/>
          <p:cNvSpPr/>
          <p:nvPr/>
        </p:nvSpPr>
        <p:spPr>
          <a:xfrm>
            <a:off x="1903276" y="7921353"/>
            <a:ext cx="14820000" cy="1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3300">
                <a:solidFill>
                  <a:srgbClr val="E2E6E9"/>
                </a:solidFill>
              </a:rPr>
              <a:t>Diseño de registros basado en flip-flops, latch y otros circuitos de almacenamiento.</a:t>
            </a:r>
            <a:endParaRPr sz="33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5f0b17252b_0_52"/>
          <p:cNvSpPr/>
          <p:nvPr/>
        </p:nvSpPr>
        <p:spPr>
          <a:xfrm>
            <a:off x="856650" y="1593075"/>
            <a:ext cx="16574700" cy="8184900"/>
          </a:xfrm>
          <a:prstGeom prst="roundRect">
            <a:avLst>
              <a:gd fmla="val 1302" name="adj"/>
            </a:avLst>
          </a:prstGeom>
          <a:solidFill>
            <a:srgbClr val="3031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91" name="Google Shape;191;g35f0b17252b_0_52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Transferencia de Datos en Registros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preencoded.png" id="192" name="Google Shape;192;g35f0b17252b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4902" y="2041107"/>
            <a:ext cx="1338854" cy="97388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5f0b17252b_0_52"/>
          <p:cNvSpPr/>
          <p:nvPr/>
        </p:nvSpPr>
        <p:spPr>
          <a:xfrm>
            <a:off x="1374902" y="3404590"/>
            <a:ext cx="6087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3200">
                <a:solidFill>
                  <a:srgbClr val="E2E6E9"/>
                </a:solidFill>
              </a:rPr>
              <a:t>Carga</a:t>
            </a:r>
            <a:endParaRPr sz="3200">
              <a:solidFill>
                <a:srgbClr val="000000"/>
              </a:solidFill>
            </a:endParaRPr>
          </a:p>
        </p:txBody>
      </p:sp>
      <p:sp>
        <p:nvSpPr>
          <p:cNvPr id="194" name="Google Shape;194;g35f0b17252b_0_52"/>
          <p:cNvSpPr/>
          <p:nvPr/>
        </p:nvSpPr>
        <p:spPr>
          <a:xfrm>
            <a:off x="1374902" y="4191670"/>
            <a:ext cx="764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2900">
                <a:solidFill>
                  <a:srgbClr val="E2E6E9"/>
                </a:solidFill>
              </a:rPr>
              <a:t>Escribir datos en un registro.</a:t>
            </a:r>
            <a:endParaRPr sz="2900">
              <a:solidFill>
                <a:srgbClr val="000000"/>
              </a:solidFill>
            </a:endParaRPr>
          </a:p>
        </p:txBody>
      </p:sp>
      <p:pic>
        <p:nvPicPr>
          <p:cNvPr descr="preencoded.png" id="195" name="Google Shape;195;g35f0b17252b_0_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3218" y="2041107"/>
            <a:ext cx="1338854" cy="973889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35f0b17252b_0_52"/>
          <p:cNvSpPr/>
          <p:nvPr/>
        </p:nvSpPr>
        <p:spPr>
          <a:xfrm>
            <a:off x="9823218" y="3404590"/>
            <a:ext cx="6087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3200">
                <a:solidFill>
                  <a:srgbClr val="E2E6E9"/>
                </a:solidFill>
              </a:rPr>
              <a:t>Desplazamiento</a:t>
            </a:r>
            <a:endParaRPr sz="3200">
              <a:solidFill>
                <a:srgbClr val="000000"/>
              </a:solidFill>
            </a:endParaRPr>
          </a:p>
        </p:txBody>
      </p:sp>
      <p:sp>
        <p:nvSpPr>
          <p:cNvPr id="197" name="Google Shape;197;g35f0b17252b_0_52"/>
          <p:cNvSpPr/>
          <p:nvPr/>
        </p:nvSpPr>
        <p:spPr>
          <a:xfrm>
            <a:off x="9823218" y="4191670"/>
            <a:ext cx="764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2900">
                <a:solidFill>
                  <a:srgbClr val="E2E6E9"/>
                </a:solidFill>
              </a:rPr>
              <a:t>Mover datos dentro del registro.</a:t>
            </a:r>
            <a:endParaRPr sz="2900">
              <a:solidFill>
                <a:srgbClr val="000000"/>
              </a:solidFill>
            </a:endParaRPr>
          </a:p>
        </p:txBody>
      </p:sp>
      <p:pic>
        <p:nvPicPr>
          <p:cNvPr descr="preencoded.png" id="198" name="Google Shape;198;g35f0b17252b_0_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74902" y="5944745"/>
            <a:ext cx="1338854" cy="97388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5f0b17252b_0_52"/>
          <p:cNvSpPr/>
          <p:nvPr/>
        </p:nvSpPr>
        <p:spPr>
          <a:xfrm>
            <a:off x="1374902" y="7308226"/>
            <a:ext cx="6087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3100">
                <a:solidFill>
                  <a:srgbClr val="E2E6E9"/>
                </a:solidFill>
              </a:rPr>
              <a:t>Lectura</a:t>
            </a:r>
            <a:endParaRPr sz="3100">
              <a:solidFill>
                <a:srgbClr val="000000"/>
              </a:solidFill>
            </a:endParaRPr>
          </a:p>
        </p:txBody>
      </p:sp>
      <p:sp>
        <p:nvSpPr>
          <p:cNvPr id="200" name="Google Shape;200;g35f0b17252b_0_52"/>
          <p:cNvSpPr/>
          <p:nvPr/>
        </p:nvSpPr>
        <p:spPr>
          <a:xfrm>
            <a:off x="1374902" y="8095306"/>
            <a:ext cx="764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2800">
                <a:solidFill>
                  <a:srgbClr val="E2E6E9"/>
                </a:solidFill>
              </a:rPr>
              <a:t>Transferir datos desde un registro.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descr="preencoded.png" id="201" name="Google Shape;201;g35f0b17252b_0_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23218" y="5944745"/>
            <a:ext cx="1338854" cy="97388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5f0b17252b_0_52"/>
          <p:cNvSpPr/>
          <p:nvPr/>
        </p:nvSpPr>
        <p:spPr>
          <a:xfrm>
            <a:off x="9823218" y="7308226"/>
            <a:ext cx="60870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2200"/>
              <a:buFont typeface="Montserrat"/>
              <a:buNone/>
            </a:pPr>
            <a:r>
              <a:rPr b="1" lang="en-US" sz="3100">
                <a:solidFill>
                  <a:srgbClr val="E2E6E9"/>
                </a:solidFill>
              </a:rPr>
              <a:t>Habilitación</a:t>
            </a:r>
            <a:endParaRPr sz="3100">
              <a:solidFill>
                <a:srgbClr val="000000"/>
              </a:solidFill>
            </a:endParaRPr>
          </a:p>
        </p:txBody>
      </p:sp>
      <p:sp>
        <p:nvSpPr>
          <p:cNvPr id="203" name="Google Shape;203;g35f0b17252b_0_52"/>
          <p:cNvSpPr/>
          <p:nvPr/>
        </p:nvSpPr>
        <p:spPr>
          <a:xfrm>
            <a:off x="9823218" y="8095306"/>
            <a:ext cx="7645500" cy="5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2631"/>
              </a:lnSpc>
              <a:spcBef>
                <a:spcPts val="0"/>
              </a:spcBef>
              <a:spcAft>
                <a:spcPts val="0"/>
              </a:spcAft>
              <a:buClr>
                <a:srgbClr val="E2E6E9"/>
              </a:buClr>
              <a:buSzPts val="1900"/>
              <a:buFont typeface="Arial"/>
              <a:buNone/>
            </a:pPr>
            <a:r>
              <a:rPr lang="en-US" sz="2800">
                <a:solidFill>
                  <a:srgbClr val="E2E6E9"/>
                </a:solidFill>
              </a:rPr>
              <a:t>Controlar el acceso que se hace sobre el  registro.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f0b17252b_0_70"/>
          <p:cNvSpPr txBox="1"/>
          <p:nvPr/>
        </p:nvSpPr>
        <p:spPr>
          <a:xfrm>
            <a:off x="1374900" y="2009850"/>
            <a:ext cx="15877200" cy="82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3925">
                <a:solidFill>
                  <a:srgbClr val="131416"/>
                </a:solidFill>
              </a:rPr>
              <a:t>Hay dos tipos de memorias que se usan en los sistemas digitales: memoria de acceso aleatorio(RAM, random-access memory) y memoria de sólo lectura (ROM, read-only memory).</a:t>
            </a:r>
            <a:endParaRPr sz="3925">
              <a:solidFill>
                <a:srgbClr val="131416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3925">
                <a:solidFill>
                  <a:srgbClr val="131416"/>
                </a:solidFill>
              </a:rPr>
              <a:t>La memoria RAM acepta nueva información que se guardará para poder usarla posteriormente(permite las operaciones de lectura y escritura).</a:t>
            </a:r>
            <a:endParaRPr sz="3925">
              <a:solidFill>
                <a:srgbClr val="131416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3925">
                <a:solidFill>
                  <a:srgbClr val="131416"/>
                </a:solidFill>
              </a:rPr>
              <a:t>La memoria de sólo lectura únicamente puede efectuar la operación de lectura. Esto implica que ya está almacenada en ella una información binaria apropiada, que es posible recuperar o leerse en cualquier momento. Sin embargo, la información existente no puede alterarse mediante escritura porque únicamente se puede leer de la memoria de sólo lectura; no es posible escribir en ella.</a:t>
            </a:r>
            <a:endParaRPr sz="3925">
              <a:solidFill>
                <a:srgbClr val="131416"/>
              </a:solidFill>
            </a:endParaRPr>
          </a:p>
        </p:txBody>
      </p:sp>
      <p:sp>
        <p:nvSpPr>
          <p:cNvPr id="209" name="Google Shape;209;g35f0b17252b_0_70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Tipos de memoria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5f0b17252b_0_76"/>
          <p:cNvSpPr txBox="1"/>
          <p:nvPr/>
        </p:nvSpPr>
        <p:spPr>
          <a:xfrm>
            <a:off x="1205400" y="2813500"/>
            <a:ext cx="15877200" cy="54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3925">
                <a:solidFill>
                  <a:srgbClr val="131416"/>
                </a:solidFill>
              </a:rPr>
              <a:t>La memoria RAM (acrónimo de Random Acces Memory), Su nombre proviene del hecho de que puede grabarse o recuperarse información de ella sin necesidad de un orden secuencial, sino que puede accederse a los datos de la manera más rápida posible, con un tiempo de espera igual para cualquier posición de memoria.</a:t>
            </a:r>
            <a:endParaRPr sz="3925">
              <a:solidFill>
                <a:srgbClr val="131416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3925">
                <a:solidFill>
                  <a:srgbClr val="131416"/>
                </a:solidFill>
              </a:rPr>
              <a:t>La memoria RAM además es una forma de memoria temporal, que al apagar o reiniciar el sistema (para ser mas general, al interrumpirse el flujo eléctrico) vuelve a estar en blanco(Memoria volátil).</a:t>
            </a:r>
            <a:endParaRPr sz="3925">
              <a:solidFill>
                <a:srgbClr val="131416"/>
              </a:solidFill>
            </a:endParaRPr>
          </a:p>
        </p:txBody>
      </p:sp>
      <p:sp>
        <p:nvSpPr>
          <p:cNvPr id="215" name="Google Shape;215;g35f0b17252b_0_76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Memoria de acceso aleatorio - RAM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5f0b17252b_0_82"/>
          <p:cNvSpPr txBox="1"/>
          <p:nvPr/>
        </p:nvSpPr>
        <p:spPr>
          <a:xfrm>
            <a:off x="1205400" y="2143775"/>
            <a:ext cx="15877200" cy="75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7783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Palabra: Entidad de bits que siempre se guardan o sacan juntos como una unidad. Puede representar un </a:t>
            </a:r>
            <a:r>
              <a:rPr lang="en-US" sz="3925">
                <a:solidFill>
                  <a:srgbClr val="131416"/>
                </a:solidFill>
              </a:rPr>
              <a:t>número</a:t>
            </a:r>
            <a:r>
              <a:rPr lang="en-US" sz="3925">
                <a:solidFill>
                  <a:srgbClr val="131416"/>
                </a:solidFill>
              </a:rPr>
              <a:t>, una instrucción, o cualquier otra información codificada en binario.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Líneas de salida: Proporcionan la información que proviene de la memoria. Sobre estas líneas se realiza la lectura.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Las entradas de control: Las dos entradas de control (Lectura / Escritura) especifican la dirección de la transferencia deseada.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Líneas de entrada: Proporcionan la información que se guardara/escribirá en memoria.</a:t>
            </a:r>
            <a:endParaRPr sz="3925">
              <a:solidFill>
                <a:srgbClr val="131416"/>
              </a:solidFill>
            </a:endParaRPr>
          </a:p>
          <a:p>
            <a:pPr indent="-4778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925"/>
              <a:buChar char="●"/>
            </a:pPr>
            <a:r>
              <a:rPr lang="en-US" sz="3925">
                <a:solidFill>
                  <a:srgbClr val="131416"/>
                </a:solidFill>
              </a:rPr>
              <a:t>Líneas de dirección: Especifican la dirección (posicion)escogida, de entre muchas disponibles.</a:t>
            </a:r>
            <a:endParaRPr sz="3925">
              <a:solidFill>
                <a:srgbClr val="131416"/>
              </a:solidFill>
            </a:endParaRPr>
          </a:p>
        </p:txBody>
      </p:sp>
      <p:sp>
        <p:nvSpPr>
          <p:cNvPr id="221" name="Google Shape;221;g35f0b17252b_0_82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Partes de la memoria RAM</a:t>
            </a:r>
            <a:endParaRPr sz="6098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410700" y="2580875"/>
            <a:ext cx="17466600" cy="72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AutoNum type="arabicPeriod"/>
            </a:pPr>
            <a:r>
              <a:rPr b="1" lang="en-US" sz="3151">
                <a:solidFill>
                  <a:srgbClr val="131416"/>
                </a:solidFill>
              </a:rPr>
              <a:t>Registro en paralelo:</a:t>
            </a:r>
            <a:r>
              <a:rPr lang="en-US" sz="3151">
                <a:solidFill>
                  <a:srgbClr val="131416"/>
                </a:solidFill>
              </a:rPr>
              <a:t> Permite la carga o transferencia de varios bits simultáneamente. Es rápido y se usa cuando se requiere alta velocidad en el manejo de datos.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AutoNum type="arabicPeriod"/>
            </a:pPr>
            <a:r>
              <a:rPr b="1" lang="en-US" sz="3151">
                <a:solidFill>
                  <a:srgbClr val="131416"/>
                </a:solidFill>
              </a:rPr>
              <a:t>Registro en serie:</a:t>
            </a:r>
            <a:r>
              <a:rPr lang="en-US" sz="3151">
                <a:solidFill>
                  <a:srgbClr val="131416"/>
                </a:solidFill>
              </a:rPr>
              <a:t> Transfiere o almacena los datos bit por bit usando una sola línea. Es más lento pero más económico en recursos físicos.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AutoNum type="arabicPeriod"/>
            </a:pPr>
            <a:r>
              <a:rPr b="1" lang="en-US" sz="3151">
                <a:solidFill>
                  <a:srgbClr val="131416"/>
                </a:solidFill>
              </a:rPr>
              <a:t>Registro de almacenamiento:</a:t>
            </a:r>
            <a:r>
              <a:rPr lang="en-US" sz="3151">
                <a:solidFill>
                  <a:srgbClr val="131416"/>
                </a:solidFill>
              </a:rPr>
              <a:t> Registro utilizado para guardar temporalmente datos dentro del sistema digital. Actúa como una memoria intermedia o auxiliar.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AutoNum type="arabicPeriod"/>
            </a:pPr>
            <a:r>
              <a:rPr b="1" lang="en-US" sz="3151">
                <a:solidFill>
                  <a:srgbClr val="131416"/>
                </a:solidFill>
              </a:rPr>
              <a:t>Control de transferencia: </a:t>
            </a:r>
            <a:r>
              <a:rPr lang="en-US" sz="3151">
                <a:solidFill>
                  <a:srgbClr val="131416"/>
                </a:solidFill>
              </a:rPr>
              <a:t>Uso de señales específicas que determinan cuándo y cómo se realiza una transferencia de datos. Incluye señales de habilitación, selección o reloj.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AutoNum type="arabicPeriod"/>
            </a:pPr>
            <a:r>
              <a:rPr b="1" lang="en-US" sz="3151">
                <a:solidFill>
                  <a:srgbClr val="131416"/>
                </a:solidFill>
              </a:rPr>
              <a:t>Memoria vs. registros:</a:t>
            </a:r>
            <a:r>
              <a:rPr lang="en-US" sz="3151">
                <a:solidFill>
                  <a:srgbClr val="131416"/>
                </a:solidFill>
              </a:rPr>
              <a:t> Los registros almacenan pequeñas cantidades de datos por corto tiempo y están cerca del procesador, mientras que la RAM maneja mayor cantidad de información y sirve como espacio de trabajo principal del sistema.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2221944" y="2673250"/>
            <a:ext cx="140742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 u="sng">
                <a:solidFill>
                  <a:schemeClr val="hlink"/>
                </a:solidFill>
                <a:hlinkClick r:id="rId3"/>
              </a:rPr>
              <a:t>https://electrouni.wordpress.com/wp-content/uploads/2010/08/registros.pdf</a:t>
            </a:r>
            <a:r>
              <a:rPr lang="en-US" sz="3151">
                <a:solidFill>
                  <a:srgbClr val="131416"/>
                </a:solidFill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9" name="Google Shape;239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