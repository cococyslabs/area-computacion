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10287000" cx="18288000"/>
  <p:notesSz cx="6858000" cy="9144000"/>
  <p:embeddedFontLst>
    <p:embeddedFont>
      <p:font typeface="Lobster"/>
      <p:regular r:id="rId42"/>
    </p:embeddedFont>
    <p:embeddedFont>
      <p:font typeface="Pacifico"/>
      <p:regular r:id="rId43"/>
    </p:embeddedFont>
    <p:embeddedFont>
      <p:font typeface="Open Sans"/>
      <p:bold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hf6zl1ZzIYF2iV7IYoyi9n33In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Lobster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OpenSans-bold.fntdata"/><Relationship Id="rId21" Type="http://schemas.openxmlformats.org/officeDocument/2006/relationships/slide" Target="slides/slide16.xml"/><Relationship Id="rId43" Type="http://schemas.openxmlformats.org/officeDocument/2006/relationships/font" Target="fonts/Pacifico-regular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hyperlink" Target="https://youtu.be/eHBKVuB1gFA" TargetMode="External"/><Relationship Id="rId5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://docs.oracle.com/javase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028700" y="6899275"/>
            <a:ext cx="12637001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Lenguajes Formales y de Programación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912497" y="4274503"/>
            <a:ext cx="2463006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Java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28700" y="8086725"/>
            <a:ext cx="96504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8461375"/>
            <a:ext cx="48732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8836025"/>
            <a:ext cx="88572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866989" y="3342832"/>
            <a:ext cx="4115190" cy="1556484"/>
            <a:chOff x="0" y="-76200"/>
            <a:chExt cx="1083836" cy="409938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651754" y="3758584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11739805" y="2798631"/>
            <a:ext cx="4919643" cy="1700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8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99" cap="none" strike="noStrike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del Video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99" name="Google Shape;99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1" name="Google Shape;101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/>
            </a:p>
          </p:txBody>
        </p:sp>
      </p:grpSp>
      <p:sp>
        <p:nvSpPr>
          <p:cNvPr id="102" name="Google Shape;102;p2"/>
          <p:cNvSpPr txBox="1"/>
          <p:nvPr/>
        </p:nvSpPr>
        <p:spPr>
          <a:xfrm>
            <a:off x="1389450" y="4991182"/>
            <a:ext cx="8390471" cy="58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Arreglos en Java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651754" y="503266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>
            <a:off x="651754" y="571661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>
            <a:off x="651754" y="640006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/>
          <p:nvPr/>
        </p:nvSpPr>
        <p:spPr>
          <a:xfrm>
            <a:off x="651754" y="708350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2"/>
          <p:cNvSpPr/>
          <p:nvPr/>
        </p:nvSpPr>
        <p:spPr>
          <a:xfrm>
            <a:off x="651754" y="776695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2"/>
          <p:cNvSpPr txBox="1"/>
          <p:nvPr/>
        </p:nvSpPr>
        <p:spPr>
          <a:xfrm>
            <a:off x="1389450" y="5675134"/>
            <a:ext cx="8390471" cy="58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Estructuras de Datos en Java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389450" y="6359424"/>
            <a:ext cx="8390471" cy="58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Iteración en Java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389450" y="7043714"/>
            <a:ext cx="8390471" cy="58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Lectura de Archivos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1389450" y="7728005"/>
            <a:ext cx="8390471" cy="58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Escritura de Archivos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651749" y="49090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/>
        </p:nvSpPr>
        <p:spPr>
          <a:xfrm>
            <a:off x="1028700" y="1009650"/>
            <a:ext cx="16230600" cy="1806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 QUE DESARROLLAREMOS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1028700" y="3330575"/>
            <a:ext cx="16230600" cy="352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estudiante comprende el funcionamiento del lenguaje de programación Java a través de su aplicación para la resolución de problemas relacionados con las fases del compilador.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/>
        </p:nvSpPr>
        <p:spPr>
          <a:xfrm>
            <a:off x="1904222" y="1557983"/>
            <a:ext cx="12449074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ARREGLOS EN JAVA</a:t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2498389" y="2150715"/>
            <a:ext cx="5632954" cy="5632954"/>
          </a:xfrm>
          <a:custGeom>
            <a:rect b="b" l="l" r="r" t="t"/>
            <a:pathLst>
              <a:path extrusionOk="0" h="5632954" w="5632954">
                <a:moveTo>
                  <a:pt x="0" y="0"/>
                </a:moveTo>
                <a:lnTo>
                  <a:pt x="5632955" y="0"/>
                </a:lnTo>
                <a:lnTo>
                  <a:pt x="5632955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4"/>
          <p:cNvSpPr/>
          <p:nvPr/>
        </p:nvSpPr>
        <p:spPr>
          <a:xfrm>
            <a:off x="1904222" y="6779903"/>
            <a:ext cx="9543302" cy="2366108"/>
          </a:xfrm>
          <a:custGeom>
            <a:rect b="b" l="l" r="r" t="t"/>
            <a:pathLst>
              <a:path extrusionOk="0" h="2366108" w="9543302">
                <a:moveTo>
                  <a:pt x="0" y="0"/>
                </a:moveTo>
                <a:lnTo>
                  <a:pt x="9543302" y="0"/>
                </a:lnTo>
                <a:lnTo>
                  <a:pt x="9543302" y="2366108"/>
                </a:lnTo>
                <a:lnTo>
                  <a:pt x="0" y="2366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4"/>
          <p:cNvSpPr txBox="1"/>
          <p:nvPr/>
        </p:nvSpPr>
        <p:spPr>
          <a:xfrm>
            <a:off x="1904222" y="3872808"/>
            <a:ext cx="11161513" cy="206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Una estructura de datos que almacena múltiples elementos del mismo tipo en una variable.</a:t>
            </a:r>
            <a:endParaRPr/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4" u="none" cap="none" strike="noStrike">
              <a:solidFill>
                <a:srgbClr val="1525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Tamaño fijo al ser declarado.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1904222" y="2454395"/>
            <a:ext cx="12860533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¿QUÉ ES UN ARREGLO?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/>
        </p:nvSpPr>
        <p:spPr>
          <a:xfrm>
            <a:off x="1904222" y="1557983"/>
            <a:ext cx="1551982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ARREGLOS EN JAVA</a:t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12498389" y="2150715"/>
            <a:ext cx="5632954" cy="5632954"/>
          </a:xfrm>
          <a:custGeom>
            <a:rect b="b" l="l" r="r" t="t"/>
            <a:pathLst>
              <a:path extrusionOk="0" h="5632954" w="5632954">
                <a:moveTo>
                  <a:pt x="0" y="0"/>
                </a:moveTo>
                <a:lnTo>
                  <a:pt x="5632955" y="0"/>
                </a:lnTo>
                <a:lnTo>
                  <a:pt x="5632955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5"/>
          <p:cNvSpPr/>
          <p:nvPr/>
        </p:nvSpPr>
        <p:spPr>
          <a:xfrm>
            <a:off x="1904222" y="5698403"/>
            <a:ext cx="11301259" cy="3559897"/>
          </a:xfrm>
          <a:custGeom>
            <a:rect b="b" l="l" r="r" t="t"/>
            <a:pathLst>
              <a:path extrusionOk="0" h="3559897" w="11301259">
                <a:moveTo>
                  <a:pt x="0" y="0"/>
                </a:moveTo>
                <a:lnTo>
                  <a:pt x="11301259" y="0"/>
                </a:lnTo>
                <a:lnTo>
                  <a:pt x="11301259" y="3559897"/>
                </a:lnTo>
                <a:lnTo>
                  <a:pt x="0" y="3559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5"/>
          <p:cNvSpPr txBox="1"/>
          <p:nvPr/>
        </p:nvSpPr>
        <p:spPr>
          <a:xfrm>
            <a:off x="1904222" y="3872808"/>
            <a:ext cx="11301259" cy="1884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0871" lvl="1" marL="581743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694"/>
              <a:buFont typeface="Arial"/>
              <a:buChar char="•"/>
            </a:pPr>
            <a:r>
              <a:rPr b="0" i="0" lang="en-US" sz="26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Unidimensionales: Contienen una sola fila de elementos.</a:t>
            </a:r>
            <a:endParaRPr/>
          </a:p>
          <a:p>
            <a:pPr indent="-290871" lvl="1" marL="581743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694"/>
              <a:buFont typeface="Arial"/>
              <a:buChar char="•"/>
            </a:pPr>
            <a:r>
              <a:rPr b="0" i="0" lang="en-US" sz="26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Bidimensionales: Matrices con filas y columnas.</a:t>
            </a:r>
            <a:endParaRPr/>
          </a:p>
          <a:p>
            <a:pPr indent="-290871" lvl="1" marL="581743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2694"/>
              <a:buFont typeface="Arial"/>
              <a:buChar char="•"/>
            </a:pPr>
            <a:r>
              <a:rPr b="0" i="0" lang="en-US" sz="26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Multidimensionales: Arreglos de más de dos dimensiones.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4" u="none" cap="none" strike="noStrike">
              <a:solidFill>
                <a:srgbClr val="1525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1904222" y="2454395"/>
            <a:ext cx="15355078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TIPOS DE ARREGLOS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/>
        </p:nvSpPr>
        <p:spPr>
          <a:xfrm>
            <a:off x="1904222" y="1557983"/>
            <a:ext cx="11630208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ARREGLOS EN JAVA</a:t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12498389" y="2150715"/>
            <a:ext cx="5632954" cy="5632954"/>
          </a:xfrm>
          <a:custGeom>
            <a:rect b="b" l="l" r="r" t="t"/>
            <a:pathLst>
              <a:path extrusionOk="0" h="5632954" w="5632954">
                <a:moveTo>
                  <a:pt x="0" y="0"/>
                </a:moveTo>
                <a:lnTo>
                  <a:pt x="5632955" y="0"/>
                </a:lnTo>
                <a:lnTo>
                  <a:pt x="5632955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6"/>
          <p:cNvSpPr/>
          <p:nvPr/>
        </p:nvSpPr>
        <p:spPr>
          <a:xfrm>
            <a:off x="1904222" y="6547235"/>
            <a:ext cx="6529148" cy="2711065"/>
          </a:xfrm>
          <a:custGeom>
            <a:rect b="b" l="l" r="r" t="t"/>
            <a:pathLst>
              <a:path extrusionOk="0" h="2711065" w="6529148">
                <a:moveTo>
                  <a:pt x="0" y="0"/>
                </a:moveTo>
                <a:lnTo>
                  <a:pt x="6529148" y="0"/>
                </a:lnTo>
                <a:lnTo>
                  <a:pt x="6529148" y="2711065"/>
                </a:lnTo>
                <a:lnTo>
                  <a:pt x="0" y="27110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6"/>
          <p:cNvSpPr txBox="1"/>
          <p:nvPr/>
        </p:nvSpPr>
        <p:spPr>
          <a:xfrm>
            <a:off x="1904222" y="3853758"/>
            <a:ext cx="11461140" cy="2306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Acceso: Se usan índices para obtener el valor de una posición del arreglo.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Índices: Comienzan desde 0. Para un arreglo de longitud N, sus índices van desde 0 hasta N - 1.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1904222" y="2454395"/>
            <a:ext cx="12596643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ACCESO Y MODIFICACIÓN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/>
        </p:nvSpPr>
        <p:spPr>
          <a:xfrm>
            <a:off x="1904222" y="1557983"/>
            <a:ext cx="11630208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ARREGLOS EN JAVA</a:t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2498389" y="2150715"/>
            <a:ext cx="5632954" cy="5632954"/>
          </a:xfrm>
          <a:custGeom>
            <a:rect b="b" l="l" r="r" t="t"/>
            <a:pathLst>
              <a:path extrusionOk="0" h="5632954" w="5632954">
                <a:moveTo>
                  <a:pt x="0" y="0"/>
                </a:moveTo>
                <a:lnTo>
                  <a:pt x="5632955" y="0"/>
                </a:lnTo>
                <a:lnTo>
                  <a:pt x="5632955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7"/>
          <p:cNvSpPr/>
          <p:nvPr/>
        </p:nvSpPr>
        <p:spPr>
          <a:xfrm>
            <a:off x="1904222" y="6547235"/>
            <a:ext cx="6529148" cy="2711065"/>
          </a:xfrm>
          <a:custGeom>
            <a:rect b="b" l="l" r="r" t="t"/>
            <a:pathLst>
              <a:path extrusionOk="0" h="2711065" w="6529148">
                <a:moveTo>
                  <a:pt x="0" y="0"/>
                </a:moveTo>
                <a:lnTo>
                  <a:pt x="6529148" y="0"/>
                </a:lnTo>
                <a:lnTo>
                  <a:pt x="6529148" y="2711065"/>
                </a:lnTo>
                <a:lnTo>
                  <a:pt x="0" y="27110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7"/>
          <p:cNvSpPr txBox="1"/>
          <p:nvPr/>
        </p:nvSpPr>
        <p:spPr>
          <a:xfrm>
            <a:off x="1904222" y="3853758"/>
            <a:ext cx="11461140" cy="1091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Modificación: Al igual que para el acceso se usan índices para reasignar el valor de una posición.</a:t>
            </a:r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1904222" y="2454395"/>
            <a:ext cx="12443106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ACCESO Y MODIFICACIÓN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/>
        </p:nvSpPr>
        <p:spPr>
          <a:xfrm>
            <a:off x="1904222" y="1557983"/>
            <a:ext cx="11630208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ARREGLOS EN JAVA</a:t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12498389" y="2150715"/>
            <a:ext cx="5632954" cy="5632954"/>
          </a:xfrm>
          <a:custGeom>
            <a:rect b="b" l="l" r="r" t="t"/>
            <a:pathLst>
              <a:path extrusionOk="0" h="5632954" w="5632954">
                <a:moveTo>
                  <a:pt x="0" y="0"/>
                </a:moveTo>
                <a:lnTo>
                  <a:pt x="5632955" y="0"/>
                </a:lnTo>
                <a:lnTo>
                  <a:pt x="5632955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8"/>
          <p:cNvSpPr/>
          <p:nvPr/>
        </p:nvSpPr>
        <p:spPr>
          <a:xfrm>
            <a:off x="1904222" y="5611586"/>
            <a:ext cx="10765210" cy="2032122"/>
          </a:xfrm>
          <a:custGeom>
            <a:rect b="b" l="l" r="r" t="t"/>
            <a:pathLst>
              <a:path extrusionOk="0" h="2032122" w="10765210">
                <a:moveTo>
                  <a:pt x="0" y="0"/>
                </a:moveTo>
                <a:lnTo>
                  <a:pt x="10765210" y="0"/>
                </a:lnTo>
                <a:lnTo>
                  <a:pt x="10765210" y="2032122"/>
                </a:lnTo>
                <a:lnTo>
                  <a:pt x="0" y="20321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8"/>
          <p:cNvSpPr txBox="1"/>
          <p:nvPr/>
        </p:nvSpPr>
        <p:spPr>
          <a:xfrm>
            <a:off x="1904222" y="3872808"/>
            <a:ext cx="11461140" cy="1019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Modificación: También es posible modificar un arreglo completo.</a:t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1904222" y="2454395"/>
            <a:ext cx="13645942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MODIFICACIÓN DE ARREGLO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 txBox="1"/>
          <p:nvPr/>
        </p:nvSpPr>
        <p:spPr>
          <a:xfrm>
            <a:off x="1904222" y="1557983"/>
            <a:ext cx="11630208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ARREGLOS EN JAVA</a:t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12498389" y="2150715"/>
            <a:ext cx="5632954" cy="5632954"/>
          </a:xfrm>
          <a:custGeom>
            <a:rect b="b" l="l" r="r" t="t"/>
            <a:pathLst>
              <a:path extrusionOk="0" h="5632954" w="5632954">
                <a:moveTo>
                  <a:pt x="0" y="0"/>
                </a:moveTo>
                <a:lnTo>
                  <a:pt x="5632955" y="0"/>
                </a:lnTo>
                <a:lnTo>
                  <a:pt x="5632955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9"/>
          <p:cNvSpPr/>
          <p:nvPr/>
        </p:nvSpPr>
        <p:spPr>
          <a:xfrm>
            <a:off x="1904222" y="5257369"/>
            <a:ext cx="11301259" cy="2740555"/>
          </a:xfrm>
          <a:custGeom>
            <a:rect b="b" l="l" r="r" t="t"/>
            <a:pathLst>
              <a:path extrusionOk="0" h="2740555" w="11301259">
                <a:moveTo>
                  <a:pt x="0" y="0"/>
                </a:moveTo>
                <a:lnTo>
                  <a:pt x="11301259" y="0"/>
                </a:lnTo>
                <a:lnTo>
                  <a:pt x="11301259" y="2740556"/>
                </a:lnTo>
                <a:lnTo>
                  <a:pt x="0" y="27405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9"/>
          <p:cNvSpPr txBox="1"/>
          <p:nvPr/>
        </p:nvSpPr>
        <p:spPr>
          <a:xfrm>
            <a:off x="1904222" y="3872808"/>
            <a:ext cx="11461140" cy="49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Arreglo Unidimensional</a:t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1904222" y="2454395"/>
            <a:ext cx="13410644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REPRESENTACIÓN GRÁFICA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 txBox="1"/>
          <p:nvPr/>
        </p:nvSpPr>
        <p:spPr>
          <a:xfrm>
            <a:off x="1904222" y="1557983"/>
            <a:ext cx="11630208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ARREGLOS EN JAVA</a:t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12498389" y="2150715"/>
            <a:ext cx="5632954" cy="5632954"/>
          </a:xfrm>
          <a:custGeom>
            <a:rect b="b" l="l" r="r" t="t"/>
            <a:pathLst>
              <a:path extrusionOk="0" h="5632954" w="5632954">
                <a:moveTo>
                  <a:pt x="0" y="0"/>
                </a:moveTo>
                <a:lnTo>
                  <a:pt x="5632955" y="0"/>
                </a:lnTo>
                <a:lnTo>
                  <a:pt x="5632955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10"/>
          <p:cNvSpPr/>
          <p:nvPr/>
        </p:nvSpPr>
        <p:spPr>
          <a:xfrm>
            <a:off x="1904222" y="4527197"/>
            <a:ext cx="9541847" cy="4961760"/>
          </a:xfrm>
          <a:custGeom>
            <a:rect b="b" l="l" r="r" t="t"/>
            <a:pathLst>
              <a:path extrusionOk="0" h="4961760" w="9541847">
                <a:moveTo>
                  <a:pt x="0" y="0"/>
                </a:moveTo>
                <a:lnTo>
                  <a:pt x="9541847" y="0"/>
                </a:lnTo>
                <a:lnTo>
                  <a:pt x="9541847" y="4961760"/>
                </a:lnTo>
                <a:lnTo>
                  <a:pt x="0" y="49617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0"/>
          <p:cNvSpPr txBox="1"/>
          <p:nvPr/>
        </p:nvSpPr>
        <p:spPr>
          <a:xfrm>
            <a:off x="1904222" y="3872808"/>
            <a:ext cx="11461140" cy="49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Arreglo Bidimensional</a:t>
            </a:r>
            <a:endParaRPr/>
          </a:p>
        </p:txBody>
      </p:sp>
      <p:sp>
        <p:nvSpPr>
          <p:cNvPr id="182" name="Google Shape;182;p10"/>
          <p:cNvSpPr txBox="1"/>
          <p:nvPr/>
        </p:nvSpPr>
        <p:spPr>
          <a:xfrm>
            <a:off x="1904222" y="2454395"/>
            <a:ext cx="13410644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REPRESENTACIÓN GRÁFICA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/>
          <p:nvPr/>
        </p:nvSpPr>
        <p:spPr>
          <a:xfrm>
            <a:off x="12498389" y="2150715"/>
            <a:ext cx="5632954" cy="5632954"/>
          </a:xfrm>
          <a:custGeom>
            <a:rect b="b" l="l" r="r" t="t"/>
            <a:pathLst>
              <a:path extrusionOk="0" h="5632954" w="5632954">
                <a:moveTo>
                  <a:pt x="0" y="0"/>
                </a:moveTo>
                <a:lnTo>
                  <a:pt x="5632955" y="0"/>
                </a:lnTo>
                <a:lnTo>
                  <a:pt x="5632955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11"/>
          <p:cNvSpPr/>
          <p:nvPr/>
        </p:nvSpPr>
        <p:spPr>
          <a:xfrm>
            <a:off x="1904222" y="5143500"/>
            <a:ext cx="11301259" cy="3249112"/>
          </a:xfrm>
          <a:custGeom>
            <a:rect b="b" l="l" r="r" t="t"/>
            <a:pathLst>
              <a:path extrusionOk="0" h="3249112" w="11301259">
                <a:moveTo>
                  <a:pt x="0" y="0"/>
                </a:moveTo>
                <a:lnTo>
                  <a:pt x="11301259" y="0"/>
                </a:lnTo>
                <a:lnTo>
                  <a:pt x="11301259" y="3249112"/>
                </a:lnTo>
                <a:lnTo>
                  <a:pt x="0" y="3249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1"/>
          <p:cNvSpPr txBox="1"/>
          <p:nvPr/>
        </p:nvSpPr>
        <p:spPr>
          <a:xfrm>
            <a:off x="1904222" y="3872808"/>
            <a:ext cx="11461140" cy="49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Arreglo Multidimensional</a:t>
            </a:r>
            <a:endParaRPr/>
          </a:p>
        </p:txBody>
      </p:sp>
      <p:sp>
        <p:nvSpPr>
          <p:cNvPr id="190" name="Google Shape;190;p11"/>
          <p:cNvSpPr txBox="1"/>
          <p:nvPr/>
        </p:nvSpPr>
        <p:spPr>
          <a:xfrm>
            <a:off x="1904222" y="1557983"/>
            <a:ext cx="11630208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ARREGLOS EN JAVA</a:t>
            </a:r>
            <a:endParaRPr/>
          </a:p>
        </p:txBody>
      </p:sp>
      <p:sp>
        <p:nvSpPr>
          <p:cNvPr id="191" name="Google Shape;191;p11"/>
          <p:cNvSpPr txBox="1"/>
          <p:nvPr/>
        </p:nvSpPr>
        <p:spPr>
          <a:xfrm>
            <a:off x="1904222" y="2454395"/>
            <a:ext cx="13410644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REPRESENTACIÓN GRÁFICA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/>
        </p:nvSpPr>
        <p:spPr>
          <a:xfrm>
            <a:off x="1904222" y="1557983"/>
            <a:ext cx="15355078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OTROS CASOS DE ARREGLOS</a:t>
            </a:r>
            <a:endParaRPr/>
          </a:p>
        </p:txBody>
      </p:sp>
      <p:sp>
        <p:nvSpPr>
          <p:cNvPr id="197" name="Google Shape;197;p12"/>
          <p:cNvSpPr/>
          <p:nvPr/>
        </p:nvSpPr>
        <p:spPr>
          <a:xfrm>
            <a:off x="12498389" y="2150715"/>
            <a:ext cx="5632954" cy="5632954"/>
          </a:xfrm>
          <a:custGeom>
            <a:rect b="b" l="l" r="r" t="t"/>
            <a:pathLst>
              <a:path extrusionOk="0" h="5632954" w="5632954">
                <a:moveTo>
                  <a:pt x="0" y="0"/>
                </a:moveTo>
                <a:lnTo>
                  <a:pt x="5632955" y="0"/>
                </a:lnTo>
                <a:lnTo>
                  <a:pt x="5632955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2"/>
          <p:cNvSpPr/>
          <p:nvPr/>
        </p:nvSpPr>
        <p:spPr>
          <a:xfrm>
            <a:off x="5382102" y="5065524"/>
            <a:ext cx="7523795" cy="4192776"/>
          </a:xfrm>
          <a:custGeom>
            <a:rect b="b" l="l" r="r" t="t"/>
            <a:pathLst>
              <a:path extrusionOk="0" h="4192776" w="7523795">
                <a:moveTo>
                  <a:pt x="0" y="0"/>
                </a:moveTo>
                <a:lnTo>
                  <a:pt x="7523796" y="0"/>
                </a:lnTo>
                <a:lnTo>
                  <a:pt x="7523796" y="4192776"/>
                </a:lnTo>
                <a:lnTo>
                  <a:pt x="0" y="4192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12"/>
          <p:cNvSpPr txBox="1"/>
          <p:nvPr/>
        </p:nvSpPr>
        <p:spPr>
          <a:xfrm>
            <a:off x="1904222" y="3872808"/>
            <a:ext cx="11461140" cy="1019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Es posible convertir un </a:t>
            </a:r>
            <a:r>
              <a:rPr b="1" i="0" lang="en-US" sz="29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b="0" i="0" lang="en-US" sz="29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 en un arreglo de caracteres con el método </a:t>
            </a:r>
            <a:r>
              <a:rPr b="1" i="0" lang="en-US" sz="29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.toCharArray()</a:t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1904222" y="2454395"/>
            <a:ext cx="11274643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STRING → CHAR[]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/>
          <p:nvPr/>
        </p:nvSpPr>
        <p:spPr>
          <a:xfrm>
            <a:off x="1904222" y="1557983"/>
            <a:ext cx="14990969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OTROS CASOS DE ARREGLOS</a:t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12498389" y="2150715"/>
            <a:ext cx="5632954" cy="5632954"/>
          </a:xfrm>
          <a:custGeom>
            <a:rect b="b" l="l" r="r" t="t"/>
            <a:pathLst>
              <a:path extrusionOk="0" h="5632954" w="5632954">
                <a:moveTo>
                  <a:pt x="0" y="0"/>
                </a:moveTo>
                <a:lnTo>
                  <a:pt x="5632955" y="0"/>
                </a:lnTo>
                <a:lnTo>
                  <a:pt x="5632955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13"/>
          <p:cNvSpPr/>
          <p:nvPr/>
        </p:nvSpPr>
        <p:spPr>
          <a:xfrm>
            <a:off x="5666658" y="5065524"/>
            <a:ext cx="6954684" cy="4192776"/>
          </a:xfrm>
          <a:custGeom>
            <a:rect b="b" l="l" r="r" t="t"/>
            <a:pathLst>
              <a:path extrusionOk="0" h="4192776" w="6954684">
                <a:moveTo>
                  <a:pt x="0" y="0"/>
                </a:moveTo>
                <a:lnTo>
                  <a:pt x="6954684" y="0"/>
                </a:lnTo>
                <a:lnTo>
                  <a:pt x="6954684" y="4192776"/>
                </a:lnTo>
                <a:lnTo>
                  <a:pt x="0" y="4192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3"/>
          <p:cNvSpPr txBox="1"/>
          <p:nvPr/>
        </p:nvSpPr>
        <p:spPr>
          <a:xfrm>
            <a:off x="1904222" y="3872808"/>
            <a:ext cx="11461140" cy="1019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Es posible convertir un </a:t>
            </a:r>
            <a:r>
              <a:rPr b="1" i="0" lang="en-US" sz="29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b="0" i="0" lang="en-US" sz="29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 en un arreglo de </a:t>
            </a:r>
            <a:r>
              <a:rPr b="1" i="0" lang="en-US" sz="29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b="0" i="0" lang="en-US" sz="29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 con el método </a:t>
            </a:r>
            <a:r>
              <a:rPr b="1" i="0" lang="en-US" sz="299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.split(" ")</a:t>
            </a:r>
            <a:endParaRPr/>
          </a:p>
        </p:txBody>
      </p:sp>
      <p:sp>
        <p:nvSpPr>
          <p:cNvPr id="209" name="Google Shape;209;p13"/>
          <p:cNvSpPr txBox="1"/>
          <p:nvPr/>
        </p:nvSpPr>
        <p:spPr>
          <a:xfrm>
            <a:off x="1904222" y="2454395"/>
            <a:ext cx="11274643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STRING → STRING[]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 txBox="1"/>
          <p:nvPr/>
        </p:nvSpPr>
        <p:spPr>
          <a:xfrm>
            <a:off x="3383176" y="1086662"/>
            <a:ext cx="1315515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ESTRUCTURAS DE DATOS</a:t>
            </a:r>
            <a:endParaRPr/>
          </a:p>
        </p:txBody>
      </p:sp>
      <p:sp>
        <p:nvSpPr>
          <p:cNvPr id="215" name="Google Shape;215;p14"/>
          <p:cNvSpPr/>
          <p:nvPr/>
        </p:nvSpPr>
        <p:spPr>
          <a:xfrm>
            <a:off x="9144000" y="5367175"/>
            <a:ext cx="7909829" cy="3977709"/>
          </a:xfrm>
          <a:custGeom>
            <a:rect b="b" l="l" r="r" t="t"/>
            <a:pathLst>
              <a:path extrusionOk="0" h="3977709" w="7909829">
                <a:moveTo>
                  <a:pt x="0" y="0"/>
                </a:moveTo>
                <a:lnTo>
                  <a:pt x="7909829" y="0"/>
                </a:lnTo>
                <a:lnTo>
                  <a:pt x="7909829" y="3977709"/>
                </a:lnTo>
                <a:lnTo>
                  <a:pt x="0" y="39777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14"/>
          <p:cNvSpPr txBox="1"/>
          <p:nvPr/>
        </p:nvSpPr>
        <p:spPr>
          <a:xfrm>
            <a:off x="1234171" y="3409940"/>
            <a:ext cx="15819657" cy="227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1305" lvl="1" marL="562612" marR="0" rtl="0" algn="l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5"/>
              <a:buFont typeface="Arial"/>
              <a:buChar char="•"/>
            </a:pPr>
            <a:r>
              <a:rPr b="0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Almacena pares clave-valor.</a:t>
            </a:r>
            <a:endParaRPr/>
          </a:p>
          <a:p>
            <a:pPr indent="-281305" lvl="1" marL="562612" marR="0" rtl="0" algn="l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5"/>
              <a:buFont typeface="Arial"/>
              <a:buChar char="•"/>
            </a:pPr>
            <a:r>
              <a:rPr b="0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acceso eficiente a los valores mediante claves.</a:t>
            </a:r>
            <a:endParaRPr/>
          </a:p>
          <a:p>
            <a:pPr indent="-281305" lvl="1" marL="562612" marR="0" rtl="0" algn="l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5"/>
              <a:buFont typeface="Arial"/>
              <a:buChar char="•"/>
            </a:pPr>
            <a:r>
              <a:rPr b="0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Rendimiento rápido.</a:t>
            </a:r>
            <a:endParaRPr/>
          </a:p>
          <a:p>
            <a:pPr indent="-281305" lvl="1" marL="562612" marR="0" rtl="0" algn="l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5"/>
              <a:buFont typeface="Arial"/>
              <a:buChar char="•"/>
            </a:pPr>
            <a:r>
              <a:rPr b="0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Métodos propios para manipulación de datos.</a:t>
            </a:r>
            <a:endParaRPr/>
          </a:p>
          <a:p>
            <a:pPr indent="-281305" lvl="1" marL="562612" marR="0" rtl="0" algn="l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5"/>
              <a:buFont typeface="Arial"/>
              <a:buChar char="•"/>
            </a:pPr>
            <a:r>
              <a:rPr b="0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Pertenece a la clase java.util</a:t>
            </a:r>
            <a:endParaRPr/>
          </a:p>
        </p:txBody>
      </p:sp>
      <p:sp>
        <p:nvSpPr>
          <p:cNvPr id="217" name="Google Shape;217;p14"/>
          <p:cNvSpPr txBox="1"/>
          <p:nvPr/>
        </p:nvSpPr>
        <p:spPr>
          <a:xfrm>
            <a:off x="3166384" y="2224488"/>
            <a:ext cx="131551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HASHMAP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 txBox="1"/>
          <p:nvPr/>
        </p:nvSpPr>
        <p:spPr>
          <a:xfrm>
            <a:off x="3383176" y="1086662"/>
            <a:ext cx="1315515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ESTRUCTURAS DE DATOS</a:t>
            </a:r>
            <a:endParaRPr/>
          </a:p>
        </p:txBody>
      </p:sp>
      <p:sp>
        <p:nvSpPr>
          <p:cNvPr id="223" name="Google Shape;223;p15"/>
          <p:cNvSpPr/>
          <p:nvPr/>
        </p:nvSpPr>
        <p:spPr>
          <a:xfrm>
            <a:off x="9144000" y="4897915"/>
            <a:ext cx="7909829" cy="4540242"/>
          </a:xfrm>
          <a:custGeom>
            <a:rect b="b" l="l" r="r" t="t"/>
            <a:pathLst>
              <a:path extrusionOk="0" h="4540242" w="7909829">
                <a:moveTo>
                  <a:pt x="0" y="0"/>
                </a:moveTo>
                <a:lnTo>
                  <a:pt x="7909829" y="0"/>
                </a:lnTo>
                <a:lnTo>
                  <a:pt x="7909829" y="4540242"/>
                </a:lnTo>
                <a:lnTo>
                  <a:pt x="0" y="4540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15"/>
          <p:cNvSpPr txBox="1"/>
          <p:nvPr/>
        </p:nvSpPr>
        <p:spPr>
          <a:xfrm>
            <a:off x="1234171" y="3740385"/>
            <a:ext cx="15819657" cy="2036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8922" lvl="1" marL="497843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5"/>
              <a:buFont typeface="Arial"/>
              <a:buChar char="•"/>
            </a:pPr>
            <a:r>
              <a:rPr b="0" i="0" lang="en-US" sz="2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Almacena pares clave-valor.</a:t>
            </a:r>
            <a:endParaRPr/>
          </a:p>
          <a:p>
            <a:pPr indent="-248922" lvl="1" marL="497843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5"/>
              <a:buFont typeface="Arial"/>
              <a:buChar char="•"/>
            </a:pPr>
            <a:r>
              <a:rPr b="0" i="0" lang="en-US" sz="2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acceso eficiente a los valores mediante claves.</a:t>
            </a:r>
            <a:endParaRPr/>
          </a:p>
          <a:p>
            <a:pPr indent="-248922" lvl="1" marL="497843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5"/>
              <a:buFont typeface="Arial"/>
              <a:buChar char="•"/>
            </a:pPr>
            <a:r>
              <a:rPr b="0" i="0" lang="en-US" sz="2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Ordena las claves automáticamente.</a:t>
            </a:r>
            <a:endParaRPr/>
          </a:p>
          <a:p>
            <a:pPr indent="-248922" lvl="1" marL="497843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5"/>
              <a:buFont typeface="Arial"/>
              <a:buChar char="•"/>
            </a:pPr>
            <a:r>
              <a:rPr b="0" i="0" lang="en-US" sz="2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Métodos propios para manipulación de datos.</a:t>
            </a:r>
            <a:endParaRPr/>
          </a:p>
          <a:p>
            <a:pPr indent="-248922" lvl="1" marL="497843" marR="0" rtl="0" algn="l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5"/>
              <a:buFont typeface="Arial"/>
              <a:buChar char="•"/>
            </a:pPr>
            <a:r>
              <a:rPr b="0" i="0" lang="en-US" sz="2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Pertenece a la clase java.util</a:t>
            </a:r>
            <a:endParaRPr/>
          </a:p>
        </p:txBody>
      </p:sp>
      <p:sp>
        <p:nvSpPr>
          <p:cNvPr id="225" name="Google Shape;225;p15"/>
          <p:cNvSpPr txBox="1"/>
          <p:nvPr/>
        </p:nvSpPr>
        <p:spPr>
          <a:xfrm>
            <a:off x="3166384" y="2224488"/>
            <a:ext cx="131551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TREEMAP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/>
          <p:nvPr/>
        </p:nvSpPr>
        <p:spPr>
          <a:xfrm>
            <a:off x="3383176" y="1086662"/>
            <a:ext cx="1315515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ESTRUCTURAS DE DATOS</a:t>
            </a:r>
            <a:endParaRPr/>
          </a:p>
        </p:txBody>
      </p:sp>
      <p:sp>
        <p:nvSpPr>
          <p:cNvPr id="231" name="Google Shape;231;p16"/>
          <p:cNvSpPr/>
          <p:nvPr/>
        </p:nvSpPr>
        <p:spPr>
          <a:xfrm>
            <a:off x="9323537" y="4690464"/>
            <a:ext cx="7730291" cy="4753307"/>
          </a:xfrm>
          <a:custGeom>
            <a:rect b="b" l="l" r="r" t="t"/>
            <a:pathLst>
              <a:path extrusionOk="0" h="4753307" w="7730291">
                <a:moveTo>
                  <a:pt x="0" y="0"/>
                </a:moveTo>
                <a:lnTo>
                  <a:pt x="7730292" y="0"/>
                </a:lnTo>
                <a:lnTo>
                  <a:pt x="7730292" y="4753307"/>
                </a:lnTo>
                <a:lnTo>
                  <a:pt x="0" y="47533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16"/>
          <p:cNvSpPr txBox="1"/>
          <p:nvPr/>
        </p:nvSpPr>
        <p:spPr>
          <a:xfrm>
            <a:off x="1234171" y="3770910"/>
            <a:ext cx="15819657" cy="1653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716" lvl="1" marL="519433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5"/>
              <a:buFont typeface="Arial"/>
              <a:buChar char="•"/>
            </a:pPr>
            <a:r>
              <a:rPr b="0" i="0" lang="en-US" sz="24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estructura de datos dinámica que permite almacenar elementos de un mismo tipo.</a:t>
            </a:r>
            <a:endParaRPr/>
          </a:p>
          <a:p>
            <a:pPr indent="-259716" lvl="1" marL="519433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5"/>
              <a:buFont typeface="Arial"/>
              <a:buChar char="•"/>
            </a:pPr>
            <a:r>
              <a:rPr b="0" i="0" lang="en-US" sz="24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diferencia de los arreglos, su tamaño puede cambiar dinámicamente.</a:t>
            </a:r>
            <a:endParaRPr/>
          </a:p>
          <a:p>
            <a:pPr indent="-259716" lvl="1" marL="519433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5"/>
              <a:buFont typeface="Arial"/>
              <a:buChar char="•"/>
            </a:pPr>
            <a:r>
              <a:rPr b="0" i="0" lang="en-US" sz="24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Métodos propios para manipulación de datos.</a:t>
            </a:r>
            <a:endParaRPr/>
          </a:p>
          <a:p>
            <a:pPr indent="-259716" lvl="1" marL="519433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5"/>
              <a:buFont typeface="Arial"/>
              <a:buChar char="•"/>
            </a:pPr>
            <a:r>
              <a:rPr b="0" i="0" lang="en-US" sz="24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Pertenece a la clase java.util</a:t>
            </a:r>
            <a:endParaRPr/>
          </a:p>
        </p:txBody>
      </p:sp>
      <p:sp>
        <p:nvSpPr>
          <p:cNvPr id="233" name="Google Shape;233;p16"/>
          <p:cNvSpPr txBox="1"/>
          <p:nvPr/>
        </p:nvSpPr>
        <p:spPr>
          <a:xfrm>
            <a:off x="3166384" y="2224488"/>
            <a:ext cx="131551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ARRAYLIST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"/>
          <p:cNvSpPr txBox="1"/>
          <p:nvPr/>
        </p:nvSpPr>
        <p:spPr>
          <a:xfrm>
            <a:off x="2674821" y="1086662"/>
            <a:ext cx="12938358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ITERACIÓN</a:t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11046204" y="3972086"/>
            <a:ext cx="6007624" cy="5372798"/>
          </a:xfrm>
          <a:custGeom>
            <a:rect b="b" l="l" r="r" t="t"/>
            <a:pathLst>
              <a:path extrusionOk="0" h="5372798" w="6007624">
                <a:moveTo>
                  <a:pt x="0" y="0"/>
                </a:moveTo>
                <a:lnTo>
                  <a:pt x="6007625" y="0"/>
                </a:lnTo>
                <a:lnTo>
                  <a:pt x="6007625" y="5372798"/>
                </a:lnTo>
                <a:lnTo>
                  <a:pt x="0" y="53727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17"/>
          <p:cNvSpPr txBox="1"/>
          <p:nvPr/>
        </p:nvSpPr>
        <p:spPr>
          <a:xfrm>
            <a:off x="1234171" y="3751930"/>
            <a:ext cx="15819657" cy="2214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Iteración utilizando estructuras cíclicas.</a:t>
            </a:r>
            <a:endParaRPr/>
          </a:p>
          <a:p>
            <a:pPr indent="-346074" lvl="1" marL="692148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205"/>
              <a:buFont typeface="Arial"/>
              <a:buChar char="•"/>
            </a:pPr>
            <a:r>
              <a:rPr b="0" i="0" lang="en-US" sz="320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endParaRPr/>
          </a:p>
          <a:p>
            <a:pPr indent="-346074" lvl="1" marL="692148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205"/>
              <a:buFont typeface="Arial"/>
              <a:buChar char="•"/>
            </a:pPr>
            <a:r>
              <a:rPr b="0" i="0" lang="en-US" sz="320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For-Each</a:t>
            </a:r>
            <a:endParaRPr/>
          </a:p>
          <a:p>
            <a:pPr indent="-346074" lvl="1" marL="692148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205"/>
              <a:buFont typeface="Arial"/>
              <a:buChar char="•"/>
            </a:pPr>
            <a:r>
              <a:rPr b="0" i="0" lang="en-US" sz="320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2674821" y="2224488"/>
            <a:ext cx="12938358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CLÁSICA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/>
          <p:nvPr/>
        </p:nvSpPr>
        <p:spPr>
          <a:xfrm>
            <a:off x="3720297" y="5143500"/>
            <a:ext cx="10847405" cy="3822730"/>
          </a:xfrm>
          <a:custGeom>
            <a:rect b="b" l="l" r="r" t="t"/>
            <a:pathLst>
              <a:path extrusionOk="0" h="3822730" w="10847405">
                <a:moveTo>
                  <a:pt x="0" y="0"/>
                </a:moveTo>
                <a:lnTo>
                  <a:pt x="10847406" y="0"/>
                </a:lnTo>
                <a:lnTo>
                  <a:pt x="10847406" y="3822730"/>
                </a:lnTo>
                <a:lnTo>
                  <a:pt x="0" y="38227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8"/>
          <p:cNvSpPr txBox="1"/>
          <p:nvPr/>
        </p:nvSpPr>
        <p:spPr>
          <a:xfrm>
            <a:off x="1234171" y="3787166"/>
            <a:ext cx="15819657" cy="1090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for: Este método es útil cuando se necesita acceder a los elementos por posición.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2674821" y="2224488"/>
            <a:ext cx="12938358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ARREGLOS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2674821" y="1086662"/>
            <a:ext cx="12938358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ITERACIÓN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"/>
          <p:cNvSpPr/>
          <p:nvPr/>
        </p:nvSpPr>
        <p:spPr>
          <a:xfrm>
            <a:off x="5527236" y="5143500"/>
            <a:ext cx="7233528" cy="3822730"/>
          </a:xfrm>
          <a:custGeom>
            <a:rect b="b" l="l" r="r" t="t"/>
            <a:pathLst>
              <a:path extrusionOk="0" h="3822730" w="7233528">
                <a:moveTo>
                  <a:pt x="0" y="0"/>
                </a:moveTo>
                <a:lnTo>
                  <a:pt x="7233528" y="0"/>
                </a:lnTo>
                <a:lnTo>
                  <a:pt x="7233528" y="3822730"/>
                </a:lnTo>
                <a:lnTo>
                  <a:pt x="0" y="38227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19"/>
          <p:cNvSpPr txBox="1"/>
          <p:nvPr/>
        </p:nvSpPr>
        <p:spPr>
          <a:xfrm>
            <a:off x="1234171" y="3787166"/>
            <a:ext cx="15819657" cy="1090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for-each: Este método es más sencillo y limpio, pero no permite modificar elementos directamente.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2674821" y="2224488"/>
            <a:ext cx="12938358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ARREGLOS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2674821" y="1086662"/>
            <a:ext cx="12938358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ITERACIÓN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"/>
          <p:cNvSpPr/>
          <p:nvPr/>
        </p:nvSpPr>
        <p:spPr>
          <a:xfrm>
            <a:off x="5588834" y="5143500"/>
            <a:ext cx="7110331" cy="3809106"/>
          </a:xfrm>
          <a:custGeom>
            <a:rect b="b" l="l" r="r" t="t"/>
            <a:pathLst>
              <a:path extrusionOk="0" h="3809106" w="7110331">
                <a:moveTo>
                  <a:pt x="0" y="0"/>
                </a:moveTo>
                <a:lnTo>
                  <a:pt x="7110332" y="0"/>
                </a:lnTo>
                <a:lnTo>
                  <a:pt x="7110332" y="3809106"/>
                </a:lnTo>
                <a:lnTo>
                  <a:pt x="0" y="38091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20"/>
          <p:cNvSpPr txBox="1"/>
          <p:nvPr/>
        </p:nvSpPr>
        <p:spPr>
          <a:xfrm>
            <a:off x="1234171" y="3787166"/>
            <a:ext cx="15819657" cy="1090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while: Se usa cuando no se sabe de antemano cuántas iteraciones se necesitan.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2674821" y="2224488"/>
            <a:ext cx="12938358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ARREGLOS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2674821" y="1086662"/>
            <a:ext cx="12938358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ITERACIÓN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"/>
          <p:cNvSpPr txBox="1"/>
          <p:nvPr/>
        </p:nvSpPr>
        <p:spPr>
          <a:xfrm>
            <a:off x="2674821" y="1086662"/>
            <a:ext cx="12938358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ITERACIÓN</a:t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5152277" y="5143500"/>
            <a:ext cx="7983445" cy="3822730"/>
          </a:xfrm>
          <a:custGeom>
            <a:rect b="b" l="l" r="r" t="t"/>
            <a:pathLst>
              <a:path extrusionOk="0" h="3822730" w="7983445">
                <a:moveTo>
                  <a:pt x="0" y="0"/>
                </a:moveTo>
                <a:lnTo>
                  <a:pt x="7983446" y="0"/>
                </a:lnTo>
                <a:lnTo>
                  <a:pt x="7983446" y="3822730"/>
                </a:lnTo>
                <a:lnTo>
                  <a:pt x="0" y="38227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21"/>
          <p:cNvSpPr txBox="1"/>
          <p:nvPr/>
        </p:nvSpPr>
        <p:spPr>
          <a:xfrm>
            <a:off x="1234171" y="3787166"/>
            <a:ext cx="15819657" cy="1090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for: Este método es útil cuando se necesita acceder a los elementos por posición.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2674821" y="2224488"/>
            <a:ext cx="12938358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ARRAYLIST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/>
          <p:nvPr/>
        </p:nvSpPr>
        <p:spPr>
          <a:xfrm>
            <a:off x="6309101" y="5143500"/>
            <a:ext cx="5669798" cy="3822730"/>
          </a:xfrm>
          <a:custGeom>
            <a:rect b="b" l="l" r="r" t="t"/>
            <a:pathLst>
              <a:path extrusionOk="0" h="3822730" w="5669798">
                <a:moveTo>
                  <a:pt x="0" y="0"/>
                </a:moveTo>
                <a:lnTo>
                  <a:pt x="5669798" y="0"/>
                </a:lnTo>
                <a:lnTo>
                  <a:pt x="5669798" y="3822730"/>
                </a:lnTo>
                <a:lnTo>
                  <a:pt x="0" y="38227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22"/>
          <p:cNvSpPr txBox="1"/>
          <p:nvPr/>
        </p:nvSpPr>
        <p:spPr>
          <a:xfrm>
            <a:off x="1234171" y="3787166"/>
            <a:ext cx="15819657" cy="528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for-each: Más limpio y eficiente si solo se necesita leer datos.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2674821" y="1086662"/>
            <a:ext cx="12938358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ITERACIÓN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2674821" y="2224488"/>
            <a:ext cx="12938358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ARRAYLIST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 txBox="1"/>
          <p:nvPr/>
        </p:nvSpPr>
        <p:spPr>
          <a:xfrm>
            <a:off x="2674821" y="1086662"/>
            <a:ext cx="12938358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ITERACIÓN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1234171" y="4101222"/>
            <a:ext cx="15819657" cy="2008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Java ofrece la interfaz </a:t>
            </a:r>
            <a:r>
              <a:rPr b="1" i="0" lang="en-US" sz="380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Iterator </a:t>
            </a:r>
            <a:r>
              <a:rPr b="0" i="0" lang="en-US" sz="3805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para recorrer estructuras de datos de manera flexible, permitiendo eliminar elementos de forma segura durante la iteración.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2674821" y="2224488"/>
            <a:ext cx="12938358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ITERADORES JAVA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"/>
          <p:cNvSpPr/>
          <p:nvPr/>
        </p:nvSpPr>
        <p:spPr>
          <a:xfrm>
            <a:off x="9669838" y="3708387"/>
            <a:ext cx="7589462" cy="5411005"/>
          </a:xfrm>
          <a:custGeom>
            <a:rect b="b" l="l" r="r" t="t"/>
            <a:pathLst>
              <a:path extrusionOk="0" h="5411005" w="7589462">
                <a:moveTo>
                  <a:pt x="0" y="0"/>
                </a:moveTo>
                <a:lnTo>
                  <a:pt x="7589462" y="0"/>
                </a:lnTo>
                <a:lnTo>
                  <a:pt x="7589462" y="5411005"/>
                </a:lnTo>
                <a:lnTo>
                  <a:pt x="0" y="5411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24"/>
          <p:cNvSpPr txBox="1"/>
          <p:nvPr/>
        </p:nvSpPr>
        <p:spPr>
          <a:xfrm>
            <a:off x="1493360" y="4560737"/>
            <a:ext cx="7007616" cy="456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terador con while</a:t>
            </a:r>
            <a:r>
              <a:rPr b="0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Para recorrer una estructura de datos en Java, es indispensable contar con una estructura cíclica. El bucle while es una opción ideal cuando usamos un </a:t>
            </a:r>
            <a:r>
              <a:rPr b="1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Iterator</a:t>
            </a:r>
            <a:r>
              <a:rPr b="0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ya que este proporciona métodos nativos que permiten verificar si hay más elementos disponibles y obtener el siguiente elemento.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2674821" y="1086662"/>
            <a:ext cx="12938358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ITERACIÓN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2674821" y="2224488"/>
            <a:ext cx="12938358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ITERADORES JAVA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5"/>
          <p:cNvSpPr txBox="1"/>
          <p:nvPr/>
        </p:nvSpPr>
        <p:spPr>
          <a:xfrm>
            <a:off x="1234171" y="4088204"/>
            <a:ext cx="15819657" cy="2034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ListIterator</a:t>
            </a:r>
            <a:r>
              <a:rPr b="0" i="0" lang="en-US" sz="39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 más avanzado que </a:t>
            </a:r>
            <a:r>
              <a:rPr b="1" i="0" lang="en-US" sz="39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Iterator</a:t>
            </a:r>
            <a:r>
              <a:rPr b="0" i="0" lang="en-US" sz="39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ya que permite recorrer la lista en ambas direcciones (hacia adelante y atrás).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2674821" y="1086662"/>
            <a:ext cx="12938358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ITERACIÓN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2674821" y="2224488"/>
            <a:ext cx="12938358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ITERADORES JAVA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6"/>
          <p:cNvSpPr/>
          <p:nvPr/>
        </p:nvSpPr>
        <p:spPr>
          <a:xfrm>
            <a:off x="11732840" y="3708387"/>
            <a:ext cx="5571927" cy="5411005"/>
          </a:xfrm>
          <a:custGeom>
            <a:rect b="b" l="l" r="r" t="t"/>
            <a:pathLst>
              <a:path extrusionOk="0" h="5411005" w="5571927">
                <a:moveTo>
                  <a:pt x="0" y="0"/>
                </a:moveTo>
                <a:lnTo>
                  <a:pt x="5571927" y="0"/>
                </a:lnTo>
                <a:lnTo>
                  <a:pt x="5571927" y="5411005"/>
                </a:lnTo>
                <a:lnTo>
                  <a:pt x="0" y="5411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p26"/>
          <p:cNvSpPr txBox="1"/>
          <p:nvPr/>
        </p:nvSpPr>
        <p:spPr>
          <a:xfrm>
            <a:off x="1474450" y="5246648"/>
            <a:ext cx="8785152" cy="2734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ListIterator</a:t>
            </a:r>
            <a:r>
              <a:rPr b="0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 una interfaz en Java que extiende </a:t>
            </a:r>
            <a:r>
              <a:rPr b="1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Iterator</a:t>
            </a:r>
            <a:r>
              <a:rPr b="0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proporciona más funcionalidades para recorrer listas en ambas direcciones (adelante y atrás). Solo está disponible para listas (</a:t>
            </a:r>
            <a:r>
              <a:rPr b="1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como </a:t>
            </a:r>
            <a:r>
              <a:rPr b="1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ArrayList </a:t>
            </a:r>
            <a:r>
              <a:rPr b="0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b="1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LinkedList</a:t>
            </a:r>
            <a:r>
              <a:rPr b="0" i="0" lang="en-US" sz="26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y permite modificar la lista mientras se itera de manera segura.</a:t>
            </a:r>
            <a:endParaRPr/>
          </a:p>
        </p:txBody>
      </p:sp>
      <p:sp>
        <p:nvSpPr>
          <p:cNvPr id="310" name="Google Shape;310;p26"/>
          <p:cNvSpPr txBox="1"/>
          <p:nvPr/>
        </p:nvSpPr>
        <p:spPr>
          <a:xfrm>
            <a:off x="2674821" y="1086662"/>
            <a:ext cx="12938358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ITERACIÓN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2674821" y="2224488"/>
            <a:ext cx="12938358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ITERADORES JAVA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"/>
          <p:cNvSpPr txBox="1"/>
          <p:nvPr/>
        </p:nvSpPr>
        <p:spPr>
          <a:xfrm>
            <a:off x="1904222" y="1557983"/>
            <a:ext cx="13865029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LECTURA DE ARCHIVOS</a:t>
            </a:r>
            <a:endParaRPr/>
          </a:p>
        </p:txBody>
      </p:sp>
      <p:sp>
        <p:nvSpPr>
          <p:cNvPr id="317" name="Google Shape;317;p27"/>
          <p:cNvSpPr/>
          <p:nvPr/>
        </p:nvSpPr>
        <p:spPr>
          <a:xfrm>
            <a:off x="12498389" y="2150715"/>
            <a:ext cx="5632954" cy="5632954"/>
          </a:xfrm>
          <a:custGeom>
            <a:rect b="b" l="l" r="r" t="t"/>
            <a:pathLst>
              <a:path extrusionOk="0" h="5632954" w="5632954">
                <a:moveTo>
                  <a:pt x="0" y="0"/>
                </a:moveTo>
                <a:lnTo>
                  <a:pt x="5632955" y="0"/>
                </a:lnTo>
                <a:lnTo>
                  <a:pt x="5632955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8" name="Google Shape;318;p27"/>
          <p:cNvSpPr/>
          <p:nvPr/>
        </p:nvSpPr>
        <p:spPr>
          <a:xfrm>
            <a:off x="1904222" y="3638250"/>
            <a:ext cx="11064307" cy="5052751"/>
          </a:xfrm>
          <a:custGeom>
            <a:rect b="b" l="l" r="r" t="t"/>
            <a:pathLst>
              <a:path extrusionOk="0" h="5052751" w="11064307">
                <a:moveTo>
                  <a:pt x="0" y="0"/>
                </a:moveTo>
                <a:lnTo>
                  <a:pt x="11064307" y="0"/>
                </a:lnTo>
                <a:lnTo>
                  <a:pt x="11064307" y="5052751"/>
                </a:lnTo>
                <a:lnTo>
                  <a:pt x="0" y="50527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9" name="Google Shape;319;p27"/>
          <p:cNvSpPr txBox="1"/>
          <p:nvPr/>
        </p:nvSpPr>
        <p:spPr>
          <a:xfrm>
            <a:off x="1904222" y="2454395"/>
            <a:ext cx="9175638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BUFFEREDREADER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 txBox="1"/>
          <p:nvPr/>
        </p:nvSpPr>
        <p:spPr>
          <a:xfrm>
            <a:off x="1904222" y="1557983"/>
            <a:ext cx="13643253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LECTURA DE ARCHIVOS</a:t>
            </a:r>
            <a:endParaRPr/>
          </a:p>
        </p:txBody>
      </p:sp>
      <p:sp>
        <p:nvSpPr>
          <p:cNvPr id="325" name="Google Shape;325;p28"/>
          <p:cNvSpPr/>
          <p:nvPr/>
        </p:nvSpPr>
        <p:spPr>
          <a:xfrm>
            <a:off x="12498389" y="2150715"/>
            <a:ext cx="5632954" cy="5632954"/>
          </a:xfrm>
          <a:custGeom>
            <a:rect b="b" l="l" r="r" t="t"/>
            <a:pathLst>
              <a:path extrusionOk="0" h="5632954" w="5632954">
                <a:moveTo>
                  <a:pt x="0" y="0"/>
                </a:moveTo>
                <a:lnTo>
                  <a:pt x="5632955" y="0"/>
                </a:lnTo>
                <a:lnTo>
                  <a:pt x="5632955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p28"/>
          <p:cNvSpPr/>
          <p:nvPr/>
        </p:nvSpPr>
        <p:spPr>
          <a:xfrm>
            <a:off x="1904222" y="3638250"/>
            <a:ext cx="8850064" cy="5052751"/>
          </a:xfrm>
          <a:custGeom>
            <a:rect b="b" l="l" r="r" t="t"/>
            <a:pathLst>
              <a:path extrusionOk="0" h="5052751" w="8850064">
                <a:moveTo>
                  <a:pt x="0" y="0"/>
                </a:moveTo>
                <a:lnTo>
                  <a:pt x="8850064" y="0"/>
                </a:lnTo>
                <a:lnTo>
                  <a:pt x="8850064" y="5052751"/>
                </a:lnTo>
                <a:lnTo>
                  <a:pt x="0" y="50527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7" name="Google Shape;327;p28"/>
          <p:cNvSpPr txBox="1"/>
          <p:nvPr/>
        </p:nvSpPr>
        <p:spPr>
          <a:xfrm>
            <a:off x="1904222" y="2454395"/>
            <a:ext cx="9175638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SCANNER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"/>
          <p:cNvSpPr txBox="1"/>
          <p:nvPr/>
        </p:nvSpPr>
        <p:spPr>
          <a:xfrm>
            <a:off x="1904222" y="1557983"/>
            <a:ext cx="14206223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ESCRITURA DE ARCHIVOS</a:t>
            </a:r>
            <a:endParaRPr/>
          </a:p>
        </p:txBody>
      </p:sp>
      <p:sp>
        <p:nvSpPr>
          <p:cNvPr id="333" name="Google Shape;333;p29"/>
          <p:cNvSpPr/>
          <p:nvPr/>
        </p:nvSpPr>
        <p:spPr>
          <a:xfrm>
            <a:off x="12498389" y="2150715"/>
            <a:ext cx="5632954" cy="5632954"/>
          </a:xfrm>
          <a:custGeom>
            <a:rect b="b" l="l" r="r" t="t"/>
            <a:pathLst>
              <a:path extrusionOk="0" h="5632954" w="5632954">
                <a:moveTo>
                  <a:pt x="0" y="0"/>
                </a:moveTo>
                <a:lnTo>
                  <a:pt x="5632955" y="0"/>
                </a:lnTo>
                <a:lnTo>
                  <a:pt x="5632955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4" name="Google Shape;334;p29"/>
          <p:cNvSpPr/>
          <p:nvPr/>
        </p:nvSpPr>
        <p:spPr>
          <a:xfrm>
            <a:off x="1796517" y="3639912"/>
            <a:ext cx="11845619" cy="5051089"/>
          </a:xfrm>
          <a:custGeom>
            <a:rect b="b" l="l" r="r" t="t"/>
            <a:pathLst>
              <a:path extrusionOk="0" h="5051089" w="11845619">
                <a:moveTo>
                  <a:pt x="0" y="0"/>
                </a:moveTo>
                <a:lnTo>
                  <a:pt x="11845619" y="0"/>
                </a:lnTo>
                <a:lnTo>
                  <a:pt x="11845619" y="5051089"/>
                </a:lnTo>
                <a:lnTo>
                  <a:pt x="0" y="5051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5" name="Google Shape;335;p29"/>
          <p:cNvSpPr txBox="1"/>
          <p:nvPr/>
        </p:nvSpPr>
        <p:spPr>
          <a:xfrm>
            <a:off x="1904222" y="2454395"/>
            <a:ext cx="9175638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BUFFEREDWRITER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/>
          <p:nvPr/>
        </p:nvSpPr>
        <p:spPr>
          <a:xfrm>
            <a:off x="1904222" y="1557983"/>
            <a:ext cx="14103865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ESCRITURA DE ARCHIVOS</a:t>
            </a:r>
            <a:endParaRPr/>
          </a:p>
        </p:txBody>
      </p:sp>
      <p:sp>
        <p:nvSpPr>
          <p:cNvPr id="341" name="Google Shape;341;p30"/>
          <p:cNvSpPr/>
          <p:nvPr/>
        </p:nvSpPr>
        <p:spPr>
          <a:xfrm>
            <a:off x="12498389" y="2150715"/>
            <a:ext cx="5632954" cy="5632954"/>
          </a:xfrm>
          <a:custGeom>
            <a:rect b="b" l="l" r="r" t="t"/>
            <a:pathLst>
              <a:path extrusionOk="0" h="5632954" w="5632954">
                <a:moveTo>
                  <a:pt x="0" y="0"/>
                </a:moveTo>
                <a:lnTo>
                  <a:pt x="5632955" y="0"/>
                </a:lnTo>
                <a:lnTo>
                  <a:pt x="5632955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2" name="Google Shape;342;p30"/>
          <p:cNvSpPr/>
          <p:nvPr/>
        </p:nvSpPr>
        <p:spPr>
          <a:xfrm>
            <a:off x="1796517" y="3639912"/>
            <a:ext cx="9700189" cy="5051089"/>
          </a:xfrm>
          <a:custGeom>
            <a:rect b="b" l="l" r="r" t="t"/>
            <a:pathLst>
              <a:path extrusionOk="0" h="5051089" w="9700189">
                <a:moveTo>
                  <a:pt x="0" y="0"/>
                </a:moveTo>
                <a:lnTo>
                  <a:pt x="9700189" y="0"/>
                </a:lnTo>
                <a:lnTo>
                  <a:pt x="9700189" y="5051089"/>
                </a:lnTo>
                <a:lnTo>
                  <a:pt x="0" y="5051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p30"/>
          <p:cNvSpPr txBox="1"/>
          <p:nvPr/>
        </p:nvSpPr>
        <p:spPr>
          <a:xfrm>
            <a:off x="1904222" y="2454395"/>
            <a:ext cx="9175638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PRINTWRITER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1"/>
          <p:cNvSpPr txBox="1"/>
          <p:nvPr/>
        </p:nvSpPr>
        <p:spPr>
          <a:xfrm>
            <a:off x="1464052" y="2923362"/>
            <a:ext cx="12632411" cy="6054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Arreglos en Java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Estructura de datos de tamaño fijo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Acceso a elementos por índice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Uso de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length 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para obtener la longitud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Se recorre con bucles (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for-each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Estructuras de Datos en Java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Uso de colecciones dinámicas (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ArrayList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HashMap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, etc.)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Diferencias entre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Set 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Uso de genéricos para tipado seguro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Métodos como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add()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remove()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get()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contains()</a:t>
            </a:r>
            <a:endParaRPr/>
          </a:p>
        </p:txBody>
      </p:sp>
      <p:sp>
        <p:nvSpPr>
          <p:cNvPr id="349" name="Google Shape;349;p31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 txBox="1"/>
          <p:nvPr/>
        </p:nvSpPr>
        <p:spPr>
          <a:xfrm>
            <a:off x="1464052" y="2923362"/>
            <a:ext cx="12632411" cy="6054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Iteración en Java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Repetición con bucles (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do-while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for-each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 para recorrer colecciones fácilmente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Uso de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break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continue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, y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Iteradores (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Iterator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) para recorrer estructuras de datos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Lectura de Archivos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Clases como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BufferedReader 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Scanner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Lectura línea por línea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Manejo de excepciones (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IOException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Uso de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try-with-resources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 para cerrar automáticamente</a:t>
            </a:r>
            <a:endParaRPr/>
          </a:p>
        </p:txBody>
      </p:sp>
      <p:sp>
        <p:nvSpPr>
          <p:cNvPr id="355" name="Google Shape;355;p32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 txBox="1"/>
          <p:nvPr/>
        </p:nvSpPr>
        <p:spPr>
          <a:xfrm>
            <a:off x="1464052" y="2923362"/>
            <a:ext cx="12632411" cy="2739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Escritura de Archivos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Clases como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FileWriter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BufferedWriter</a:t>
            </a: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PrintWriter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Escritura de texto en archivos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Opción para sobrescribir o agregar</a:t>
            </a:r>
            <a:endParaRPr/>
          </a:p>
          <a:p>
            <a:pPr indent="-338363" lvl="1" marL="676727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134"/>
              <a:buFont typeface="Arial"/>
              <a:buChar char="•"/>
            </a:pPr>
            <a:r>
              <a:rPr b="0" i="0" lang="en-US" sz="3134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Cierre de recursos y manejo de excepciones</a:t>
            </a:r>
            <a:endParaRPr/>
          </a:p>
        </p:txBody>
      </p:sp>
      <p:sp>
        <p:nvSpPr>
          <p:cNvPr id="361" name="Google Shape;361;p33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"/>
          <p:cNvSpPr txBox="1"/>
          <p:nvPr/>
        </p:nvSpPr>
        <p:spPr>
          <a:xfrm>
            <a:off x="1793489" y="3266859"/>
            <a:ext cx="14701023" cy="5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Perseverancia</a:t>
            </a:r>
            <a:r>
              <a:rPr b="0" i="0" lang="en-US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: Frecuentemente requieren un alto nivel de comprensión llegar a entender el funcionamiento de estructuras de datos.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Pensamiento Lógico</a:t>
            </a:r>
            <a:r>
              <a:rPr b="0" i="0" lang="en-US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: Es necesario razonar paso a paso el proceso completo del funcionamiento de un programa y cómo se alamcenan los datos.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Disciplina</a:t>
            </a:r>
            <a:r>
              <a:rPr b="0" i="0" lang="en-US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: Es requerido que el estudiante desarrolle hábitos de estudio y posteriormente por cuenta propia llevar a la práctica la teoría.</a:t>
            </a:r>
            <a:endParaRPr/>
          </a:p>
        </p:txBody>
      </p:sp>
      <p:sp>
        <p:nvSpPr>
          <p:cNvPr id="367" name="Google Shape;367;p34"/>
          <p:cNvSpPr txBox="1"/>
          <p:nvPr/>
        </p:nvSpPr>
        <p:spPr>
          <a:xfrm>
            <a:off x="2392343" y="2262543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5"/>
          <p:cNvSpPr txBox="1"/>
          <p:nvPr/>
        </p:nvSpPr>
        <p:spPr>
          <a:xfrm>
            <a:off x="1793489" y="4312620"/>
            <a:ext cx="14701023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28" lvl="1" marL="734056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Gosling, J. (2005). The Java Programming Language.</a:t>
            </a:r>
            <a:endParaRPr/>
          </a:p>
          <a:p>
            <a:pPr indent="-367028" lvl="1" marL="734056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15254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</a:rPr>
              <a:t>Oracle. Java Documentation. </a:t>
            </a:r>
            <a:r>
              <a:rPr b="0" i="0" lang="en-US" sz="3399" u="sng" cap="none" strike="noStrike">
                <a:solidFill>
                  <a:srgbClr val="15254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docs.oracle.com/javase</a:t>
            </a:r>
            <a:endParaRPr/>
          </a:p>
        </p:txBody>
      </p:sp>
      <p:sp>
        <p:nvSpPr>
          <p:cNvPr id="373" name="Google Shape;373;p35"/>
          <p:cNvSpPr txBox="1"/>
          <p:nvPr/>
        </p:nvSpPr>
        <p:spPr>
          <a:xfrm>
            <a:off x="2392343" y="2849441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6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6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380" name="Google Shape;380;p36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36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