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5" r:id="rId6"/>
    <p:sldId id="266" r:id="rId7"/>
    <p:sldId id="260" r:id="rId8"/>
    <p:sldId id="268" r:id="rId9"/>
    <p:sldId id="269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Impact" panose="020B0806030902050204" pitchFamily="34" charset="0"/>
      <p:regular r:id="rId16"/>
    </p:embeddedFont>
    <p:embeddedFont>
      <p:font typeface="Lobster" panose="00000500000000000000" pitchFamily="2" charset="0"/>
      <p:regular r:id="rId17"/>
    </p:embeddedFont>
    <p:embeddedFont>
      <p:font typeface="Open Sans" panose="020B0606030504020204" pitchFamily="34" charset="0"/>
      <p:regular r:id="rId18"/>
      <p:bold r:id="rId19"/>
      <p:italic r:id="rId20"/>
      <p:boldItalic r:id="rId21"/>
    </p:embeddedFont>
    <p:embeddedFont>
      <p:font typeface="Pacifico" panose="00000500000000000000" pitchFamily="2" charset="0"/>
      <p:regular r:id="rId2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3" roundtripDataSignature="AMtx7mgVTfPeuph8O4z6nnE8PyMA4ke/o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74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4FC4BD20-7452-101A-F8F8-72EE1E812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>
            <a:extLst>
              <a:ext uri="{FF2B5EF4-FFF2-40B4-BE49-F238E27FC236}">
                <a16:creationId xmlns:a16="http://schemas.microsoft.com/office/drawing/2014/main" id="{6D595831-95C9-23C5-805A-C691CD2150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4:notes">
            <a:extLst>
              <a:ext uri="{FF2B5EF4-FFF2-40B4-BE49-F238E27FC236}">
                <a16:creationId xmlns:a16="http://schemas.microsoft.com/office/drawing/2014/main" id="{FE26DFE1-7ADA-5409-AF0A-AC96FC9FAB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427039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3BA44EDD-0A20-011F-4640-96651D5CF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>
            <a:extLst>
              <a:ext uri="{FF2B5EF4-FFF2-40B4-BE49-F238E27FC236}">
                <a16:creationId xmlns:a16="http://schemas.microsoft.com/office/drawing/2014/main" id="{4FDD554C-E567-9100-9217-84B2E1CA38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4:notes">
            <a:extLst>
              <a:ext uri="{FF2B5EF4-FFF2-40B4-BE49-F238E27FC236}">
                <a16:creationId xmlns:a16="http://schemas.microsoft.com/office/drawing/2014/main" id="{4A9CB342-EEF9-554B-E4A3-AAFEE0FDA3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778257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>
          <a:extLst>
            <a:ext uri="{FF2B5EF4-FFF2-40B4-BE49-F238E27FC236}">
              <a16:creationId xmlns:a16="http://schemas.microsoft.com/office/drawing/2014/main" id="{A9C0A5D5-5AC7-B254-2E77-1301020AF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>
            <a:extLst>
              <a:ext uri="{FF2B5EF4-FFF2-40B4-BE49-F238E27FC236}">
                <a16:creationId xmlns:a16="http://schemas.microsoft.com/office/drawing/2014/main" id="{61E5D78D-6B32-7211-F9D0-3A447FCEDF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5:notes">
            <a:extLst>
              <a:ext uri="{FF2B5EF4-FFF2-40B4-BE49-F238E27FC236}">
                <a16:creationId xmlns:a16="http://schemas.microsoft.com/office/drawing/2014/main" id="{06E9E87A-C28A-585F-DFDC-5663A05A59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504356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>
          <a:extLst>
            <a:ext uri="{FF2B5EF4-FFF2-40B4-BE49-F238E27FC236}">
              <a16:creationId xmlns:a16="http://schemas.microsoft.com/office/drawing/2014/main" id="{F0213F4A-3681-6C7B-7401-A4EB5408B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>
            <a:extLst>
              <a:ext uri="{FF2B5EF4-FFF2-40B4-BE49-F238E27FC236}">
                <a16:creationId xmlns:a16="http://schemas.microsoft.com/office/drawing/2014/main" id="{7ABA5D6B-6A2D-D0B1-22C3-DBABEAC99E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5:notes">
            <a:extLst>
              <a:ext uri="{FF2B5EF4-FFF2-40B4-BE49-F238E27FC236}">
                <a16:creationId xmlns:a16="http://schemas.microsoft.com/office/drawing/2014/main" id="{FF782454-8275-3ACC-4F4F-4786FDA49D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207509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763" y="9601200"/>
            <a:ext cx="18283238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23" y="9501474"/>
            <a:ext cx="18283238" cy="960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45920" y="1138428"/>
            <a:ext cx="15087600" cy="534924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12000" spc="-75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50077" y="6683430"/>
            <a:ext cx="15087600" cy="17145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3600" cap="all" spc="300" baseline="0">
                <a:solidFill>
                  <a:schemeClr val="tx2"/>
                </a:solidFill>
                <a:latin typeface="+mj-lt"/>
              </a:defRPr>
            </a:lvl1pPr>
            <a:lvl2pPr marL="685800" indent="0" algn="ctr">
              <a:buNone/>
              <a:defRPr sz="3600"/>
            </a:lvl2pPr>
            <a:lvl3pPr marL="1371600" indent="0" algn="ctr">
              <a:buNone/>
              <a:defRPr sz="3600"/>
            </a:lvl3pPr>
            <a:lvl4pPr marL="2057400" indent="0" algn="ctr">
              <a:buNone/>
              <a:defRPr sz="3000"/>
            </a:lvl4pPr>
            <a:lvl5pPr marL="2743200" indent="0" algn="ctr">
              <a:buNone/>
              <a:defRPr sz="3000"/>
            </a:lvl5pPr>
            <a:lvl6pPr marL="3429000" indent="0" algn="ctr">
              <a:buNone/>
              <a:defRPr sz="3000"/>
            </a:lvl6pPr>
            <a:lvl7pPr marL="4114800" indent="0" algn="ctr">
              <a:buNone/>
              <a:defRPr sz="3000"/>
            </a:lvl7pPr>
            <a:lvl8pPr marL="4800600" indent="0" algn="ctr">
              <a:buNone/>
              <a:defRPr sz="3000"/>
            </a:lvl8pPr>
            <a:lvl9pPr marL="5486400" indent="0" algn="ctr">
              <a:buNone/>
              <a:defRPr sz="30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‹Nº›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811487" y="6515100"/>
            <a:ext cx="1481328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63506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01059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763" y="9601200"/>
            <a:ext cx="18283238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23" y="9501474"/>
            <a:ext cx="18283238" cy="960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0" y="1138428"/>
            <a:ext cx="15087600" cy="534924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12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45920" y="6679692"/>
            <a:ext cx="15087600" cy="17145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3600" cap="all" spc="300" baseline="0">
                <a:solidFill>
                  <a:schemeClr val="tx2"/>
                </a:solidFill>
                <a:latin typeface="+mj-lt"/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‹Nº›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811487" y="6515100"/>
            <a:ext cx="1481328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710519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645920" y="429905"/>
            <a:ext cx="15087600" cy="2176136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45919" y="2768601"/>
            <a:ext cx="7406640" cy="603504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326880" y="2768603"/>
            <a:ext cx="7406640" cy="603504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51840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645920" y="429905"/>
            <a:ext cx="15087600" cy="2176136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45920" y="2769078"/>
            <a:ext cx="7406640" cy="1104423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3000" b="0" cap="all" baseline="0">
                <a:solidFill>
                  <a:schemeClr val="tx2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5920" y="3873501"/>
            <a:ext cx="7406640" cy="50673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326880" y="2769078"/>
            <a:ext cx="7406640" cy="1104423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3000" b="0" cap="all" baseline="0">
                <a:solidFill>
                  <a:schemeClr val="tx2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326880" y="3873501"/>
            <a:ext cx="7406640" cy="50673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307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93228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763" y="9601200"/>
            <a:ext cx="18283238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23" y="9501474"/>
            <a:ext cx="18283238" cy="960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s-G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44298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5" y="0"/>
            <a:ext cx="6076187" cy="1028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6060107" y="0"/>
            <a:ext cx="96012" cy="10287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891538"/>
            <a:ext cx="4800600" cy="3429000"/>
          </a:xfrm>
        </p:spPr>
        <p:txBody>
          <a:bodyPr anchor="b">
            <a:normAutofit/>
          </a:bodyPr>
          <a:lstStyle>
            <a:lvl1pPr>
              <a:defRPr sz="5400" b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00900" y="1097280"/>
            <a:ext cx="9738360" cy="78867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389120"/>
            <a:ext cx="4800600" cy="5068686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2250">
                <a:solidFill>
                  <a:srgbClr val="FFFFFF"/>
                </a:solidFill>
              </a:defRPr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98268" y="9689678"/>
            <a:ext cx="3927765" cy="547688"/>
          </a:xfrm>
        </p:spPr>
        <p:txBody>
          <a:bodyPr/>
          <a:lstStyle>
            <a:lvl1pPr algn="l">
              <a:defRPr/>
            </a:lvl1pPr>
          </a:lstStyle>
          <a:p>
            <a:endParaRPr lang="es-G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7200900" y="9689678"/>
            <a:ext cx="6972300" cy="547688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s-G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92884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" y="7429500"/>
            <a:ext cx="18283238" cy="2857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23" y="7372614"/>
            <a:ext cx="18283238" cy="960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0" y="7612380"/>
            <a:ext cx="15169896" cy="1234440"/>
          </a:xfrm>
        </p:spPr>
        <p:txBody>
          <a:bodyPr lIns="91440" tIns="0" rIns="91440" bIns="0" anchor="b">
            <a:noAutofit/>
          </a:bodyPr>
          <a:lstStyle>
            <a:lvl1pPr>
              <a:defRPr sz="5400" b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" y="0"/>
            <a:ext cx="18287978" cy="7372614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4800">
                <a:solidFill>
                  <a:schemeClr val="bg1"/>
                </a:solidFill>
              </a:defRPr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920" y="8860535"/>
            <a:ext cx="15169896" cy="89154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900"/>
              </a:spcAft>
              <a:buNone/>
              <a:defRPr sz="2250">
                <a:solidFill>
                  <a:srgbClr val="FFFFFF"/>
                </a:solidFill>
              </a:defRPr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63665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96021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763" y="9601200"/>
            <a:ext cx="18283238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23" y="9501474"/>
            <a:ext cx="18283238" cy="960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0" y="622168"/>
            <a:ext cx="3943350" cy="8636132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622167"/>
            <a:ext cx="11601450" cy="8636133"/>
          </a:xfrm>
        </p:spPr>
        <p:txBody>
          <a:bodyPr vert="eaVert" lIns="45720" tIns="0" rIns="45720" bIns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274267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" y="9601200"/>
            <a:ext cx="18288000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" y="9501474"/>
            <a:ext cx="18288002" cy="989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45920" y="429905"/>
            <a:ext cx="15087600" cy="217613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45920" y="2768601"/>
            <a:ext cx="15087600" cy="603504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45921" y="9689678"/>
            <a:ext cx="3708407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50">
                <a:solidFill>
                  <a:srgbClr val="FFFFFF"/>
                </a:solidFill>
              </a:defRPr>
            </a:lvl1pPr>
          </a:lstStyle>
          <a:p>
            <a:endParaRPr lang="es-G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29278" y="9689678"/>
            <a:ext cx="7234206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50" cap="all" baseline="0">
                <a:solidFill>
                  <a:srgbClr val="FFFFFF"/>
                </a:solidFill>
              </a:defRPr>
            </a:lvl1pPr>
          </a:lstStyle>
          <a:p>
            <a:endParaRPr lang="es-G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4850688" y="9689678"/>
            <a:ext cx="1968038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75">
                <a:solidFill>
                  <a:srgbClr val="FFFFFF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‹Nº›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790298" y="2606768"/>
            <a:ext cx="149504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5164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hf sldNum="0" hdr="0" ftr="0" dt="0"/>
  <p:txStyles>
    <p:titleStyle>
      <a:lvl1pPr algn="l" defTabSz="1371600" rtl="0" eaLnBrk="1" latinLnBrk="0" hangingPunct="1">
        <a:lnSpc>
          <a:spcPct val="85000"/>
        </a:lnSpc>
        <a:spcBef>
          <a:spcPct val="0"/>
        </a:spcBef>
        <a:buNone/>
        <a:defRPr sz="7200" kern="1200" spc="-75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137160" indent="-137160" algn="l" defTabSz="1371600" rtl="0" eaLnBrk="1" latinLnBrk="0" hangingPunct="1">
        <a:lnSpc>
          <a:spcPct val="90000"/>
        </a:lnSpc>
        <a:spcBef>
          <a:spcPts val="1800"/>
        </a:spcBef>
        <a:spcAft>
          <a:spcPts val="3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3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76072" indent="-274320" algn="l" defTabSz="1371600" rtl="0" eaLnBrk="1" latinLnBrk="0" hangingPunct="1">
        <a:lnSpc>
          <a:spcPct val="90000"/>
        </a:lnSpc>
        <a:spcBef>
          <a:spcPts val="300"/>
        </a:spcBef>
        <a:spcAft>
          <a:spcPts val="600"/>
        </a:spcAft>
        <a:buClr>
          <a:schemeClr val="accent1"/>
        </a:buClr>
        <a:buFont typeface="Calibri" pitchFamily="34" charset="0"/>
        <a:buChar char="◦"/>
        <a:defRPr sz="2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0392" indent="-274320" algn="l" defTabSz="1371600" rtl="0" eaLnBrk="1" latinLnBrk="0" hangingPunct="1">
        <a:lnSpc>
          <a:spcPct val="90000"/>
        </a:lnSpc>
        <a:spcBef>
          <a:spcPts val="300"/>
        </a:spcBef>
        <a:spcAft>
          <a:spcPts val="600"/>
        </a:spcAft>
        <a:buClr>
          <a:schemeClr val="accent1"/>
        </a:buClr>
        <a:buFont typeface="Calibri" pitchFamily="34" charset="0"/>
        <a:buChar char="◦"/>
        <a:defRPr sz="2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124712" indent="-274320" algn="l" defTabSz="1371600" rtl="0" eaLnBrk="1" latinLnBrk="0" hangingPunct="1">
        <a:lnSpc>
          <a:spcPct val="90000"/>
        </a:lnSpc>
        <a:spcBef>
          <a:spcPts val="300"/>
        </a:spcBef>
        <a:spcAft>
          <a:spcPts val="600"/>
        </a:spcAft>
        <a:buClr>
          <a:schemeClr val="accent1"/>
        </a:buClr>
        <a:buFont typeface="Calibri" pitchFamily="34" charset="0"/>
        <a:buChar char="◦"/>
        <a:defRPr sz="2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99032" indent="-274320" algn="l" defTabSz="1371600" rtl="0" eaLnBrk="1" latinLnBrk="0" hangingPunct="1">
        <a:lnSpc>
          <a:spcPct val="90000"/>
        </a:lnSpc>
        <a:spcBef>
          <a:spcPts val="300"/>
        </a:spcBef>
        <a:spcAft>
          <a:spcPts val="600"/>
        </a:spcAft>
        <a:buClr>
          <a:schemeClr val="accent1"/>
        </a:buClr>
        <a:buFont typeface="Calibri" pitchFamily="34" charset="0"/>
        <a:buChar char="◦"/>
        <a:defRPr sz="2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650000" indent="-342900" algn="l" defTabSz="1371600" rtl="0" eaLnBrk="1" latinLnBrk="0" hangingPunct="1">
        <a:lnSpc>
          <a:spcPct val="90000"/>
        </a:lnSpc>
        <a:spcBef>
          <a:spcPts val="300"/>
        </a:spcBef>
        <a:spcAft>
          <a:spcPts val="600"/>
        </a:spcAft>
        <a:buClr>
          <a:schemeClr val="accent1"/>
        </a:buClr>
        <a:buFont typeface="Calibri" pitchFamily="34" charset="0"/>
        <a:buChar char="◦"/>
        <a:defRPr sz="2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950000" indent="-342900" algn="l" defTabSz="1371600" rtl="0" eaLnBrk="1" latinLnBrk="0" hangingPunct="1">
        <a:lnSpc>
          <a:spcPct val="90000"/>
        </a:lnSpc>
        <a:spcBef>
          <a:spcPts val="300"/>
        </a:spcBef>
        <a:spcAft>
          <a:spcPts val="600"/>
        </a:spcAft>
        <a:buClr>
          <a:schemeClr val="accent1"/>
        </a:buClr>
        <a:buFont typeface="Calibri" pitchFamily="34" charset="0"/>
        <a:buChar char="◦"/>
        <a:defRPr sz="2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0000" indent="-342900" algn="l" defTabSz="1371600" rtl="0" eaLnBrk="1" latinLnBrk="0" hangingPunct="1">
        <a:lnSpc>
          <a:spcPct val="90000"/>
        </a:lnSpc>
        <a:spcBef>
          <a:spcPts val="300"/>
        </a:spcBef>
        <a:spcAft>
          <a:spcPts val="600"/>
        </a:spcAft>
        <a:buClr>
          <a:schemeClr val="accent1"/>
        </a:buClr>
        <a:buFont typeface="Calibri" pitchFamily="34" charset="0"/>
        <a:buChar char="◦"/>
        <a:defRPr sz="2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550000" indent="-342900" algn="l" defTabSz="1371600" rtl="0" eaLnBrk="1" latinLnBrk="0" hangingPunct="1">
        <a:lnSpc>
          <a:spcPct val="90000"/>
        </a:lnSpc>
        <a:spcBef>
          <a:spcPts val="300"/>
        </a:spcBef>
        <a:spcAft>
          <a:spcPts val="600"/>
        </a:spcAft>
        <a:buClr>
          <a:schemeClr val="accent1"/>
        </a:buClr>
        <a:buFont typeface="Calibri" pitchFamily="34" charset="0"/>
        <a:buChar char="◦"/>
        <a:defRPr sz="2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12541309" y="0"/>
            <a:ext cx="5746691" cy="1711780"/>
          </a:xfrm>
          <a:custGeom>
            <a:avLst/>
            <a:gdLst/>
            <a:ahLst/>
            <a:cxnLst/>
            <a:rect l="l" t="t" r="r" b="b"/>
            <a:pathLst>
              <a:path w="5746691" h="1711780" extrusionOk="0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85" name="Google Shape;85;p1"/>
          <p:cNvSpPr/>
          <p:nvPr/>
        </p:nvSpPr>
        <p:spPr>
          <a:xfrm>
            <a:off x="12541309" y="6021878"/>
            <a:ext cx="4160184" cy="4114800"/>
          </a:xfrm>
          <a:custGeom>
            <a:avLst/>
            <a:gdLst/>
            <a:ahLst/>
            <a:cxnLst/>
            <a:rect l="l" t="t" r="r" b="b"/>
            <a:pathLst>
              <a:path w="4160184" h="4114800" extrusionOk="0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86" name="Google Shape;86;p1"/>
          <p:cNvSpPr txBox="1"/>
          <p:nvPr/>
        </p:nvSpPr>
        <p:spPr>
          <a:xfrm>
            <a:off x="-777922" y="4892521"/>
            <a:ext cx="11656410" cy="2154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 i="0" u="none" strike="noStrike" cap="none" dirty="0" err="1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Lenguajes</a:t>
            </a:r>
            <a:r>
              <a:rPr lang="en-US" sz="5000" b="1" i="0" u="none" strike="noStrike" cap="none" dirty="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5000" b="1" i="0" u="none" strike="noStrike" cap="none" dirty="0" err="1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Formales</a:t>
            </a:r>
            <a:r>
              <a:rPr lang="en-US" sz="5000" b="1" i="0" u="none" strike="noStrike" cap="none" dirty="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y de </a:t>
            </a:r>
            <a:r>
              <a:rPr lang="en-US" sz="5000" b="1" i="0" u="none" strike="noStrike" cap="none" dirty="0" err="1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programacion</a:t>
            </a:r>
            <a:endParaRPr sz="5000" b="1" i="0" u="none" strike="noStrike" cap="none" dirty="0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2755644" y="2532861"/>
            <a:ext cx="12375000" cy="1982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200" b="1" i="0" u="none" strike="noStrike" cap="none" dirty="0" err="1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Analisis</a:t>
            </a:r>
            <a:r>
              <a:rPr lang="en-US" sz="9200" b="1" i="0" u="none" strike="noStrike" cap="none" dirty="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9200" b="1" i="0" u="none" strike="noStrike" cap="none" dirty="0" err="1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Lexico</a:t>
            </a:r>
            <a:endParaRPr dirty="0"/>
          </a:p>
        </p:txBody>
      </p:sp>
      <p:sp>
        <p:nvSpPr>
          <p:cNvPr id="88" name="Google Shape;88;p1"/>
          <p:cNvSpPr txBox="1"/>
          <p:nvPr/>
        </p:nvSpPr>
        <p:spPr>
          <a:xfrm>
            <a:off x="1028700" y="7860481"/>
            <a:ext cx="6981379" cy="422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 b="1" i="0" u="none" strike="noStrike" cap="none" dirty="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Ingenieria de </a:t>
            </a:r>
            <a:r>
              <a:rPr lang="en-US" sz="2499" b="1" i="0" u="none" strike="noStrike" cap="none" dirty="0" err="1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Ciencias</a:t>
            </a:r>
            <a:r>
              <a:rPr lang="en-US" sz="2499" b="1" i="0" u="none" strike="noStrike" cap="none" dirty="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Y Sistemas</a:t>
            </a:r>
            <a:endParaRPr sz="2499" b="1" i="0" u="none" strike="noStrike" cap="none" dirty="0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1028700" y="8325905"/>
            <a:ext cx="6667500" cy="422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 b="1" i="0" u="none" strike="noStrike" cap="none" dirty="0" err="1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Facultad</a:t>
            </a:r>
            <a:r>
              <a:rPr lang="en-US" sz="2499" b="1" i="0" u="none" strike="noStrike" cap="none" dirty="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de Ingenieria</a:t>
            </a:r>
            <a:endParaRPr sz="2499" b="1" i="0" u="none" strike="noStrike" cap="none" dirty="0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160361" y="8791329"/>
            <a:ext cx="8115300" cy="4193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 b="1" i="0" u="none" strike="noStrike" cap="none" dirty="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oogle Shape;96;p2"/>
          <p:cNvGrpSpPr/>
          <p:nvPr/>
        </p:nvGrpSpPr>
        <p:grpSpPr>
          <a:xfrm>
            <a:off x="176619" y="4699462"/>
            <a:ext cx="8692262" cy="855724"/>
            <a:chOff x="0" y="0"/>
            <a:chExt cx="2220887" cy="364325"/>
          </a:xfrm>
        </p:grpSpPr>
        <p:sp>
          <p:nvSpPr>
            <p:cNvPr id="97" name="Google Shape;97;p2"/>
            <p:cNvSpPr/>
            <p:nvPr/>
          </p:nvSpPr>
          <p:spPr>
            <a:xfrm>
              <a:off x="0" y="0"/>
              <a:ext cx="1964221" cy="283723"/>
            </a:xfrm>
            <a:custGeom>
              <a:avLst/>
              <a:gdLst/>
              <a:ahLst/>
              <a:cxnLst/>
              <a:rect l="l" t="t" r="r" b="b"/>
              <a:pathLst>
                <a:path w="1964221" h="283723" extrusionOk="0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98" name="Google Shape;98;p2"/>
            <p:cNvSpPr txBox="1"/>
            <p:nvPr/>
          </p:nvSpPr>
          <p:spPr>
            <a:xfrm>
              <a:off x="370966" y="4402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rtl="0" fontAlgn="b"/>
              <a:r>
                <a:rPr lang="es-ES" sz="4000" dirty="0">
                  <a:effectLst/>
                </a:rPr>
                <a:t>AUTOMATAS FINITOS</a:t>
              </a:r>
            </a:p>
          </p:txBody>
        </p:sp>
      </p:grpSp>
      <p:sp>
        <p:nvSpPr>
          <p:cNvPr id="99" name="Google Shape;99;p2"/>
          <p:cNvSpPr/>
          <p:nvPr/>
        </p:nvSpPr>
        <p:spPr>
          <a:xfrm>
            <a:off x="878654" y="4740441"/>
            <a:ext cx="453358" cy="550094"/>
          </a:xfrm>
          <a:custGeom>
            <a:avLst/>
            <a:gdLst/>
            <a:ahLst/>
            <a:cxnLst/>
            <a:rect l="l" t="t" r="r" b="b"/>
            <a:pathLst>
              <a:path w="453358" h="550094" extrusionOk="0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grpSp>
        <p:nvGrpSpPr>
          <p:cNvPr id="100" name="Google Shape;100;p2"/>
          <p:cNvGrpSpPr/>
          <p:nvPr/>
        </p:nvGrpSpPr>
        <p:grpSpPr>
          <a:xfrm>
            <a:off x="1866989" y="3013983"/>
            <a:ext cx="4115190" cy="1556484"/>
            <a:chOff x="0" y="-76200"/>
            <a:chExt cx="1083836" cy="409938"/>
          </a:xfrm>
        </p:grpSpPr>
        <p:sp>
          <p:nvSpPr>
            <p:cNvPr id="101" name="Google Shape;101;p2"/>
            <p:cNvSpPr/>
            <p:nvPr/>
          </p:nvSpPr>
          <p:spPr>
            <a:xfrm>
              <a:off x="0" y="0"/>
              <a:ext cx="1083836" cy="333738"/>
            </a:xfrm>
            <a:custGeom>
              <a:avLst/>
              <a:gdLst/>
              <a:ahLst/>
              <a:cxnLst/>
              <a:rect l="l" t="t" r="r" b="b"/>
              <a:pathLst>
                <a:path w="1083836" h="333738" extrusionOk="0">
                  <a:moveTo>
                    <a:pt x="880636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880636" y="333738"/>
                  </a:lnTo>
                  <a:lnTo>
                    <a:pt x="1083836" y="166869"/>
                  </a:lnTo>
                  <a:lnTo>
                    <a:pt x="8806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02" name="Google Shape;102;p2"/>
            <p:cNvSpPr txBox="1"/>
            <p:nvPr/>
          </p:nvSpPr>
          <p:spPr>
            <a:xfrm>
              <a:off x="0" y="-76200"/>
              <a:ext cx="969536" cy="4099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99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RECORDATORIOS</a:t>
              </a:r>
              <a:endParaRPr dirty="0"/>
            </a:p>
          </p:txBody>
        </p:sp>
      </p:grpSp>
      <p:sp>
        <p:nvSpPr>
          <p:cNvPr id="103" name="Google Shape;103;p2"/>
          <p:cNvSpPr/>
          <p:nvPr/>
        </p:nvSpPr>
        <p:spPr>
          <a:xfrm>
            <a:off x="651754" y="3429735"/>
            <a:ext cx="753892" cy="872928"/>
          </a:xfrm>
          <a:custGeom>
            <a:avLst/>
            <a:gdLst/>
            <a:ahLst/>
            <a:cxnLst/>
            <a:rect l="l" t="t" r="r" b="b"/>
            <a:pathLst>
              <a:path w="753892" h="872928" extrusionOk="0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104" name="Google Shape;104;p2"/>
          <p:cNvSpPr txBox="1"/>
          <p:nvPr/>
        </p:nvSpPr>
        <p:spPr>
          <a:xfrm>
            <a:off x="651749" y="490900"/>
            <a:ext cx="7710301" cy="2308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0" i="0" u="none" strike="noStrike" cap="none">
                <a:solidFill>
                  <a:srgbClr val="131416"/>
                </a:solidFill>
                <a:latin typeface="Pacifico"/>
                <a:ea typeface="Pacifico"/>
                <a:cs typeface="Pacifico"/>
                <a:sym typeface="Pacifico"/>
              </a:rPr>
              <a:t>Agenda</a:t>
            </a:r>
            <a:endParaRPr>
              <a:latin typeface="Pacifico"/>
              <a:ea typeface="Pacifico"/>
              <a:cs typeface="Pacifico"/>
              <a:sym typeface="Pacifico"/>
            </a:endParaRPr>
          </a:p>
        </p:txBody>
      </p:sp>
      <p:sp>
        <p:nvSpPr>
          <p:cNvPr id="105" name="Google Shape;105;p2"/>
          <p:cNvSpPr txBox="1"/>
          <p:nvPr/>
        </p:nvSpPr>
        <p:spPr>
          <a:xfrm>
            <a:off x="10105990" y="390767"/>
            <a:ext cx="8416800" cy="23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0" i="0" u="none" strike="noStrike" cap="none">
                <a:solidFill>
                  <a:srgbClr val="131416"/>
                </a:solidFill>
                <a:latin typeface="Lobster"/>
                <a:ea typeface="Lobster"/>
                <a:cs typeface="Lobster"/>
                <a:sym typeface="Lobster"/>
              </a:rPr>
              <a:t>Recursos</a:t>
            </a:r>
            <a:endParaRPr>
              <a:latin typeface="Lobster"/>
              <a:ea typeface="Lobster"/>
              <a:cs typeface="Lobster"/>
              <a:sym typeface="Lobster"/>
            </a:endParaRPr>
          </a:p>
        </p:txBody>
      </p:sp>
      <p:grpSp>
        <p:nvGrpSpPr>
          <p:cNvPr id="106" name="Google Shape;106;p2"/>
          <p:cNvGrpSpPr/>
          <p:nvPr/>
        </p:nvGrpSpPr>
        <p:grpSpPr>
          <a:xfrm>
            <a:off x="11739805" y="2798634"/>
            <a:ext cx="5353646" cy="1701145"/>
            <a:chOff x="0" y="-114300"/>
            <a:chExt cx="1410014" cy="448038"/>
          </a:xfrm>
        </p:grpSpPr>
        <p:sp>
          <p:nvSpPr>
            <p:cNvPr id="107" name="Google Shape;107;p2"/>
            <p:cNvSpPr/>
            <p:nvPr/>
          </p:nvSpPr>
          <p:spPr>
            <a:xfrm>
              <a:off x="0" y="0"/>
              <a:ext cx="1410014" cy="333738"/>
            </a:xfrm>
            <a:custGeom>
              <a:avLst/>
              <a:gdLst/>
              <a:ahLst/>
              <a:cxnLst/>
              <a:rect l="l" t="t" r="r" b="b"/>
              <a:pathLst>
                <a:path w="1410014" h="333738" extrusionOk="0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08" name="Google Shape;108;p2"/>
            <p:cNvSpPr txBox="1"/>
            <p:nvPr/>
          </p:nvSpPr>
          <p:spPr>
            <a:xfrm>
              <a:off x="0" y="-114300"/>
              <a:ext cx="1295714" cy="4480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09" name="Google Shape;109;p2"/>
          <p:cNvGrpSpPr/>
          <p:nvPr/>
        </p:nvGrpSpPr>
        <p:grpSpPr>
          <a:xfrm>
            <a:off x="11739805" y="4598683"/>
            <a:ext cx="5353646" cy="1701145"/>
            <a:chOff x="0" y="-114300"/>
            <a:chExt cx="1410014" cy="448038"/>
          </a:xfrm>
        </p:grpSpPr>
        <p:sp>
          <p:nvSpPr>
            <p:cNvPr id="110" name="Google Shape;110;p2"/>
            <p:cNvSpPr/>
            <p:nvPr/>
          </p:nvSpPr>
          <p:spPr>
            <a:xfrm>
              <a:off x="0" y="0"/>
              <a:ext cx="1410014" cy="333738"/>
            </a:xfrm>
            <a:custGeom>
              <a:avLst/>
              <a:gdLst/>
              <a:ahLst/>
              <a:cxnLst/>
              <a:rect l="l" t="t" r="r" b="b"/>
              <a:pathLst>
                <a:path w="1410014" h="333738" extrusionOk="0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11" name="Google Shape;111;p2"/>
            <p:cNvSpPr txBox="1"/>
            <p:nvPr/>
          </p:nvSpPr>
          <p:spPr>
            <a:xfrm>
              <a:off x="0" y="-114300"/>
              <a:ext cx="1295714" cy="4480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14" name="Google Shape;114;p2"/>
          <p:cNvSpPr txBox="1"/>
          <p:nvPr/>
        </p:nvSpPr>
        <p:spPr>
          <a:xfrm>
            <a:off x="1637094" y="6547390"/>
            <a:ext cx="4345084" cy="845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rtl="0" fontAlgn="b"/>
            <a:endParaRPr lang="es-ES" sz="4000" dirty="0">
              <a:effectLst/>
            </a:endParaRPr>
          </a:p>
        </p:txBody>
      </p:sp>
      <p:sp>
        <p:nvSpPr>
          <p:cNvPr id="119" name="Google Shape;119;p2"/>
          <p:cNvSpPr/>
          <p:nvPr/>
        </p:nvSpPr>
        <p:spPr>
          <a:xfrm>
            <a:off x="176619" y="7528435"/>
            <a:ext cx="4613551" cy="666407"/>
          </a:xfrm>
          <a:custGeom>
            <a:avLst/>
            <a:gdLst/>
            <a:ahLst/>
            <a:cxnLst/>
            <a:rect l="l" t="t" r="r" b="b"/>
            <a:pathLst>
              <a:path w="1964221" h="283723" extrusionOk="0">
                <a:moveTo>
                  <a:pt x="1761021" y="0"/>
                </a:moveTo>
                <a:lnTo>
                  <a:pt x="0" y="0"/>
                </a:lnTo>
                <a:lnTo>
                  <a:pt x="0" y="283723"/>
                </a:lnTo>
                <a:lnTo>
                  <a:pt x="1761021" y="283723"/>
                </a:lnTo>
                <a:lnTo>
                  <a:pt x="1964221" y="141862"/>
                </a:lnTo>
                <a:lnTo>
                  <a:pt x="176102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122" name="Google Shape;122;p2"/>
          <p:cNvSpPr/>
          <p:nvPr/>
        </p:nvSpPr>
        <p:spPr>
          <a:xfrm>
            <a:off x="490517" y="8489227"/>
            <a:ext cx="4613551" cy="666407"/>
          </a:xfrm>
          <a:custGeom>
            <a:avLst/>
            <a:gdLst/>
            <a:ahLst/>
            <a:cxnLst/>
            <a:rect l="l" t="t" r="r" b="b"/>
            <a:pathLst>
              <a:path w="1964221" h="283723" extrusionOk="0">
                <a:moveTo>
                  <a:pt x="1761021" y="0"/>
                </a:moveTo>
                <a:lnTo>
                  <a:pt x="0" y="0"/>
                </a:lnTo>
                <a:lnTo>
                  <a:pt x="0" y="283723"/>
                </a:lnTo>
                <a:lnTo>
                  <a:pt x="1761021" y="283723"/>
                </a:lnTo>
                <a:lnTo>
                  <a:pt x="1964221" y="141862"/>
                </a:lnTo>
                <a:lnTo>
                  <a:pt x="176102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s-GT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"/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98" i="0" u="none" strike="noStrike" cap="none" dirty="0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COMPETENCIA(S) QUE DESARROLLAREMOS</a:t>
            </a:r>
            <a:endParaRPr dirty="0"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35" name="Google Shape;135;p3"/>
          <p:cNvSpPr txBox="1"/>
          <p:nvPr/>
        </p:nvSpPr>
        <p:spPr>
          <a:xfrm>
            <a:off x="2618602" y="3660317"/>
            <a:ext cx="13050795" cy="2585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000" dirty="0">
                <a:solidFill>
                  <a:srgbClr val="131416"/>
                </a:solidFill>
                <a:latin typeface="Impact"/>
              </a:rPr>
              <a:t>El estudiante aplica el análisis léxico mediante el uso de expresiones regulares para solucionar problemas que requieran el reconocimiento de lenguajes. </a:t>
            </a:r>
            <a:endParaRPr sz="4000" dirty="0">
              <a:solidFill>
                <a:srgbClr val="131416"/>
              </a:solidFill>
              <a:latin typeface="Impac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2DCF4B7-D5BF-385B-A6CB-80EDD68750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2112" y="1887963"/>
            <a:ext cx="14796654" cy="62478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lang="es-GT" altLang="es-GT" sz="2800" dirty="0">
                <a:solidFill>
                  <a:srgbClr val="131416"/>
                </a:solidFill>
                <a:latin typeface="Impact"/>
              </a:rPr>
              <a:t>Definición de AFN (Autómata Finito No Determinista)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s-GT" altLang="es-GT" sz="2800" dirty="0">
              <a:solidFill>
                <a:srgbClr val="131416"/>
              </a:solidFill>
              <a:latin typeface="Impac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sz="2400" dirty="0"/>
              <a:t>Un </a:t>
            </a:r>
            <a:r>
              <a:rPr lang="es-ES" sz="2400" b="1" dirty="0"/>
              <a:t>AFN</a:t>
            </a:r>
            <a:r>
              <a:rPr lang="es-ES" sz="2400" dirty="0"/>
              <a:t> es un modelo matemático que representa una máquina abstracta con un conjunto finito de estados, capaz de aceptar o rechazar cadenas de entrada. Se denomina </a:t>
            </a:r>
            <a:r>
              <a:rPr lang="es-ES" sz="2400" b="1" dirty="0"/>
              <a:t>no determinista</a:t>
            </a:r>
            <a:r>
              <a:rPr lang="es-ES" sz="2400" dirty="0"/>
              <a:t> porque, al recibir un símbolo, puede moverse a múltiples estados, o incluso hacer transiciones vacías (ε-transiciones).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GT" altLang="es-GT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GT" altLang="es-GT" sz="2800" dirty="0">
                <a:solidFill>
                  <a:srgbClr val="131416"/>
                </a:solidFill>
                <a:latin typeface="Impact"/>
              </a:rPr>
              <a:t>2. Estructura de un AFN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GT" altLang="es-GT" sz="2800" dirty="0">
              <a:solidFill>
                <a:srgbClr val="131416"/>
              </a:solidFill>
              <a:latin typeface="Impact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altLang="es-GT" sz="2400" b="1" dirty="0">
                <a:latin typeface="Arial" panose="020B0604020202020204" pitchFamily="34" charset="0"/>
              </a:rPr>
              <a:t>Un AFN tiene: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s-ES" altLang="es-GT" sz="2400" b="1" dirty="0">
              <a:latin typeface="Arial" panose="020B0604020202020204" pitchFamily="34" charset="0"/>
            </a:endParaRPr>
          </a:p>
          <a:p>
            <a:pPr lvl="2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ES" altLang="es-GT" sz="2400" b="1" dirty="0">
                <a:latin typeface="Arial" panose="020B0604020202020204" pitchFamily="34" charset="0"/>
              </a:rPr>
              <a:t> Estados (representados como círculos)</a:t>
            </a:r>
          </a:p>
          <a:p>
            <a:pPr lvl="2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ES" altLang="es-GT" sz="2400" b="1" dirty="0">
                <a:latin typeface="Arial" panose="020B0604020202020204" pitchFamily="34" charset="0"/>
              </a:rPr>
              <a:t> Transiciones etiquetadas con símbolos del alfabeto o ε</a:t>
            </a:r>
          </a:p>
          <a:p>
            <a:pPr lvl="2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ES" altLang="es-GT" sz="2400" b="1" dirty="0">
                <a:latin typeface="Arial" panose="020B0604020202020204" pitchFamily="34" charset="0"/>
              </a:rPr>
              <a:t> Estado inicial (marcado con una flecha de entrada)Estados finales (doble círculo)</a:t>
            </a:r>
          </a:p>
          <a:p>
            <a:pPr lvl="2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s-ES" altLang="es-GT" sz="2400" b="1" dirty="0">
              <a:latin typeface="Arial" panose="020B0604020202020204" pitchFamily="34" charset="0"/>
            </a:endParaRPr>
          </a:p>
          <a:p>
            <a:pPr lvl="2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altLang="es-GT" sz="2400" b="1" dirty="0">
                <a:latin typeface="Arial" panose="020B0604020202020204" pitchFamily="34" charset="0"/>
              </a:rPr>
              <a:t>Un estado puede tener múltiples transiciones con el mismo símbolo o incluso ninguna transición con un símbolo dado.</a:t>
            </a:r>
            <a:endParaRPr kumimoji="0" lang="es-GT" altLang="es-GT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654C3E89-065B-750F-DE8B-6104A2B3A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3E1EC9D1-2FCA-937C-D551-3140968224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7641" y="1800535"/>
            <a:ext cx="15702059" cy="56630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GT" altLang="es-GT" sz="2800" dirty="0">
                <a:solidFill>
                  <a:srgbClr val="131416"/>
                </a:solidFill>
                <a:latin typeface="Impact"/>
              </a:rPr>
              <a:t>3. </a:t>
            </a:r>
            <a:r>
              <a:rPr lang="es-ES" altLang="es-GT" sz="2800" dirty="0">
                <a:solidFill>
                  <a:srgbClr val="131416"/>
                </a:solidFill>
                <a:latin typeface="Impact"/>
              </a:rPr>
              <a:t>Definición de AFD (Autómata Finito Determinista)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GT" altLang="es-GT" sz="2800" dirty="0">
              <a:solidFill>
                <a:srgbClr val="131416"/>
              </a:solidFill>
              <a:latin typeface="Impac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altLang="es-GT" sz="2400" dirty="0">
                <a:latin typeface="Arial" panose="020B0604020202020204" pitchFamily="34" charset="0"/>
              </a:rPr>
              <a:t>Un AFD es un autómata donde para cada estado y símbolo de entrada hay una única transición posible. No existen transiciones </a:t>
            </a:r>
            <a:r>
              <a:rPr lang="es-ES" altLang="es-GT" sz="2400" dirty="0" err="1">
                <a:latin typeface="Arial" panose="020B0604020202020204" pitchFamily="34" charset="0"/>
              </a:rPr>
              <a:t>ε.Formalmente</a:t>
            </a:r>
            <a:r>
              <a:rPr lang="es-ES" altLang="es-GT" sz="2400" dirty="0">
                <a:latin typeface="Arial" panose="020B0604020202020204" pitchFamily="34" charset="0"/>
              </a:rPr>
              <a:t> se define como: AFD = (Q, Σ, δ, q₀, F)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GT" altLang="es-GT" sz="24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altLang="es-GT" sz="2400" dirty="0">
                <a:latin typeface="Arial" panose="020B0604020202020204" pitchFamily="34" charset="0"/>
              </a:rPr>
              <a:t>Donde: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altLang="es-GT" sz="2400" dirty="0">
                <a:latin typeface="Arial" panose="020B0604020202020204" pitchFamily="34" charset="0"/>
              </a:rPr>
              <a:t>	Q: conjunto finito de estados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altLang="es-GT" sz="2400" dirty="0">
                <a:latin typeface="Arial" panose="020B0604020202020204" pitchFamily="34" charset="0"/>
              </a:rPr>
              <a:t>	Σ: alfabeto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altLang="es-GT" sz="2400" dirty="0">
                <a:latin typeface="Arial" panose="020B0604020202020204" pitchFamily="34" charset="0"/>
              </a:rPr>
              <a:t>	δ: función de transición Q × Σ → Q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altLang="es-GT" sz="2400" dirty="0">
                <a:latin typeface="Arial" panose="020B0604020202020204" pitchFamily="34" charset="0"/>
              </a:rPr>
              <a:t>	q₀: estado inicial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altLang="es-GT" sz="2400" dirty="0">
                <a:latin typeface="Arial" panose="020B0604020202020204" pitchFamily="34" charset="0"/>
              </a:rPr>
              <a:t>	F: conjunto de estados de aceptación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ES" altLang="es-GT" sz="24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altLang="es-GT" sz="2400" dirty="0">
                <a:latin typeface="Arial" panose="020B0604020202020204" pitchFamily="34" charset="0"/>
              </a:rPr>
              <a:t>Nota: Todo AFD es también un AFN, pero no todo AFN puede ser representado de manera directa como un AFD sin transformación.</a:t>
            </a:r>
            <a:endParaRPr lang="es-GT" altLang="es-GT" sz="24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GT" altLang="es-GT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45907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6758A8EF-809E-0428-1CDE-7DF38B22E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1D61E6E7-8B71-B6DD-E5A7-778C590961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7641" y="769482"/>
            <a:ext cx="15702059" cy="77251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GT" altLang="es-GT" sz="2800" dirty="0">
                <a:solidFill>
                  <a:srgbClr val="131416"/>
                </a:solidFill>
                <a:latin typeface="Impact"/>
              </a:rPr>
              <a:t>4. Estructura de un AFD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GT" altLang="es-GT" sz="2800" dirty="0">
              <a:solidFill>
                <a:srgbClr val="131416"/>
              </a:solidFill>
              <a:latin typeface="Impac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altLang="es-GT" sz="2400" dirty="0">
                <a:latin typeface="Arial" panose="020B0604020202020204" pitchFamily="34" charset="0"/>
              </a:rPr>
              <a:t>Cada estado tiene una única transición por cada símbolo del </a:t>
            </a:r>
            <a:r>
              <a:rPr lang="es-ES" altLang="es-GT" sz="2400" dirty="0" err="1">
                <a:latin typeface="Arial" panose="020B0604020202020204" pitchFamily="34" charset="0"/>
              </a:rPr>
              <a:t>alfabeto.No</a:t>
            </a:r>
            <a:r>
              <a:rPr lang="es-ES" altLang="es-GT" sz="2400" dirty="0">
                <a:latin typeface="Arial" panose="020B0604020202020204" pitchFamily="34" charset="0"/>
              </a:rPr>
              <a:t> existen transiciones </a:t>
            </a:r>
            <a:r>
              <a:rPr lang="es-ES" altLang="es-GT" sz="2400" dirty="0" err="1">
                <a:latin typeface="Arial" panose="020B0604020202020204" pitchFamily="34" charset="0"/>
              </a:rPr>
              <a:t>vacías.Es</a:t>
            </a:r>
            <a:r>
              <a:rPr lang="es-ES" altLang="es-GT" sz="2400" dirty="0">
                <a:latin typeface="Arial" panose="020B0604020202020204" pitchFamily="34" charset="0"/>
              </a:rPr>
              <a:t> más fácil de implementar en lenguajes de programación o </a:t>
            </a:r>
            <a:r>
              <a:rPr lang="es-ES" altLang="es-GT" sz="2400" dirty="0" err="1">
                <a:latin typeface="Arial" panose="020B0604020202020204" pitchFamily="34" charset="0"/>
              </a:rPr>
              <a:t>compiladores.La</a:t>
            </a:r>
            <a:r>
              <a:rPr lang="es-ES" altLang="es-GT" sz="2400" dirty="0">
                <a:latin typeface="Arial" panose="020B0604020202020204" pitchFamily="34" charset="0"/>
              </a:rPr>
              <a:t> función δ es total y unívoca.</a:t>
            </a:r>
            <a:endParaRPr lang="es-GT" altLang="es-GT" sz="24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GT" altLang="es-GT" sz="2400" dirty="0"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GT" altLang="es-GT" sz="2800" dirty="0">
                <a:solidFill>
                  <a:srgbClr val="131416"/>
                </a:solidFill>
                <a:latin typeface="Impact"/>
              </a:rPr>
              <a:t>5. Ejemplo de AFD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s-GT" altLang="es-GT" sz="2800" dirty="0">
              <a:solidFill>
                <a:srgbClr val="131416"/>
              </a:solidFill>
              <a:latin typeface="Impac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GT" altLang="es-GT" sz="2400" dirty="0">
                <a:latin typeface="Arial" panose="020B0604020202020204" pitchFamily="34" charset="0"/>
              </a:rPr>
              <a:t>Q = {q₀, q₁, q₂}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l-GR" altLang="es-GT" sz="2400" dirty="0">
                <a:latin typeface="Arial" panose="020B0604020202020204" pitchFamily="34" charset="0"/>
              </a:rPr>
              <a:t>Σ = {0, 1}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l-GR" altLang="es-GT" sz="2400" dirty="0">
                <a:latin typeface="Arial" panose="020B0604020202020204" pitchFamily="34" charset="0"/>
              </a:rPr>
              <a:t>δ: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l-GR" altLang="es-GT" sz="2400" dirty="0">
                <a:latin typeface="Arial" panose="020B0604020202020204" pitchFamily="34" charset="0"/>
              </a:rPr>
              <a:t>- δ(</a:t>
            </a:r>
            <a:r>
              <a:rPr lang="es-GT" altLang="es-GT" sz="2400" dirty="0">
                <a:latin typeface="Arial" panose="020B0604020202020204" pitchFamily="34" charset="0"/>
              </a:rPr>
              <a:t>q₀, 0) = q₁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GT" altLang="es-GT" sz="2400" dirty="0">
                <a:latin typeface="Arial" panose="020B0604020202020204" pitchFamily="34" charset="0"/>
              </a:rPr>
              <a:t>- </a:t>
            </a:r>
            <a:r>
              <a:rPr lang="el-GR" altLang="es-GT" sz="2400" dirty="0">
                <a:latin typeface="Arial" panose="020B0604020202020204" pitchFamily="34" charset="0"/>
              </a:rPr>
              <a:t>δ(</a:t>
            </a:r>
            <a:r>
              <a:rPr lang="es-GT" altLang="es-GT" sz="2400" dirty="0">
                <a:latin typeface="Arial" panose="020B0604020202020204" pitchFamily="34" charset="0"/>
              </a:rPr>
              <a:t>q₀, 1) = q₀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GT" altLang="es-GT" sz="2400" dirty="0">
                <a:latin typeface="Arial" panose="020B0604020202020204" pitchFamily="34" charset="0"/>
              </a:rPr>
              <a:t>- </a:t>
            </a:r>
            <a:r>
              <a:rPr lang="el-GR" altLang="es-GT" sz="2400" dirty="0">
                <a:latin typeface="Arial" panose="020B0604020202020204" pitchFamily="34" charset="0"/>
              </a:rPr>
              <a:t>δ(</a:t>
            </a:r>
            <a:r>
              <a:rPr lang="es-GT" altLang="es-GT" sz="2400" dirty="0">
                <a:latin typeface="Arial" panose="020B0604020202020204" pitchFamily="34" charset="0"/>
              </a:rPr>
              <a:t>q₁, 0) = q₁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GT" altLang="es-GT" sz="2400" dirty="0">
                <a:latin typeface="Arial" panose="020B0604020202020204" pitchFamily="34" charset="0"/>
              </a:rPr>
              <a:t>- </a:t>
            </a:r>
            <a:r>
              <a:rPr lang="el-GR" altLang="es-GT" sz="2400" dirty="0">
                <a:latin typeface="Arial" panose="020B0604020202020204" pitchFamily="34" charset="0"/>
              </a:rPr>
              <a:t>δ(</a:t>
            </a:r>
            <a:r>
              <a:rPr lang="es-GT" altLang="es-GT" sz="2400" dirty="0">
                <a:latin typeface="Arial" panose="020B0604020202020204" pitchFamily="34" charset="0"/>
              </a:rPr>
              <a:t>q₁, 1) = q₂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GT" altLang="es-GT" sz="2400" dirty="0">
                <a:latin typeface="Arial" panose="020B0604020202020204" pitchFamily="34" charset="0"/>
              </a:rPr>
              <a:t>- </a:t>
            </a:r>
            <a:r>
              <a:rPr lang="el-GR" altLang="es-GT" sz="2400" dirty="0">
                <a:latin typeface="Arial" panose="020B0604020202020204" pitchFamily="34" charset="0"/>
              </a:rPr>
              <a:t>δ(</a:t>
            </a:r>
            <a:r>
              <a:rPr lang="es-GT" altLang="es-GT" sz="2400" dirty="0">
                <a:latin typeface="Arial" panose="020B0604020202020204" pitchFamily="34" charset="0"/>
              </a:rPr>
              <a:t>q₂, 0) = q₁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GT" altLang="es-GT" sz="2400" dirty="0">
                <a:latin typeface="Arial" panose="020B0604020202020204" pitchFamily="34" charset="0"/>
              </a:rPr>
              <a:t>- </a:t>
            </a:r>
            <a:r>
              <a:rPr lang="el-GR" altLang="es-GT" sz="2400" dirty="0">
                <a:latin typeface="Arial" panose="020B0604020202020204" pitchFamily="34" charset="0"/>
              </a:rPr>
              <a:t>δ(</a:t>
            </a:r>
            <a:r>
              <a:rPr lang="es-GT" altLang="es-GT" sz="2400" dirty="0">
                <a:latin typeface="Arial" panose="020B0604020202020204" pitchFamily="34" charset="0"/>
              </a:rPr>
              <a:t>q₂, 1) = q₀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GT" altLang="es-GT" sz="24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GT" altLang="es-GT" sz="2400" dirty="0">
                <a:latin typeface="Arial" panose="020B0604020202020204" pitchFamily="34" charset="0"/>
              </a:rPr>
              <a:t>q₀: estado inicial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GT" altLang="es-GT" sz="2400" dirty="0">
                <a:latin typeface="Arial" panose="020B0604020202020204" pitchFamily="34" charset="0"/>
              </a:rPr>
              <a:t>F = {q₂}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GT" altLang="es-GT" sz="2400" dirty="0">
                <a:latin typeface="Arial" panose="020B0604020202020204" pitchFamily="34" charset="0"/>
              </a:rPr>
              <a:t>Este AFD acepta cadenas como 101, 00001, pero rechaza 100, 111.</a:t>
            </a:r>
            <a:endParaRPr kumimoji="0" lang="es-GT" altLang="es-GT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6692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"/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98" i="0" u="none" strike="noStrike" cap="none" dirty="0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APLICACIONES POR MEDIO DE EJEMPLOS</a:t>
            </a:r>
            <a:endParaRPr dirty="0"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E43F095-8379-EBE2-8CD7-B4C8FCB72D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1921" y="1785658"/>
            <a:ext cx="10804205" cy="671568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>
          <a:extLst>
            <a:ext uri="{FF2B5EF4-FFF2-40B4-BE49-F238E27FC236}">
              <a16:creationId xmlns:a16="http://schemas.microsoft.com/office/drawing/2014/main" id="{4D7989E8-0129-3A68-AF8A-07E1F09A2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80E7AB03-5730-4CF1-A9F7-15017D7B27C3}"/>
              </a:ext>
            </a:extLst>
          </p:cNvPr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98" i="0" u="none" strike="noStrike" cap="non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APLICACIONES POR MEDIO DE EJEMPLOS</a:t>
            </a:r>
            <a:endParaRPr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B1B7BD2-64D6-92B8-E833-3934AFE07C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8374" y="1593064"/>
            <a:ext cx="10294712" cy="7566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662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>
          <a:extLst>
            <a:ext uri="{FF2B5EF4-FFF2-40B4-BE49-F238E27FC236}">
              <a16:creationId xmlns:a16="http://schemas.microsoft.com/office/drawing/2014/main" id="{E92EBC69-AA2E-FB37-A269-EAECCE067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E8DAF92D-CC00-9674-4C16-9DEA6B590DC4}"/>
              </a:ext>
            </a:extLst>
          </p:cNvPr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98" i="0" u="none" strike="noStrike" cap="non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APLICACIONES POR MEDIO DE EJEMPLOS</a:t>
            </a:r>
            <a:endParaRPr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0575C91-3F99-4F40-FA0B-7C33BC7D49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8211" y="2235174"/>
            <a:ext cx="11333160" cy="6325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20676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"/>
          <p:cNvSpPr txBox="1"/>
          <p:nvPr/>
        </p:nvSpPr>
        <p:spPr>
          <a:xfrm>
            <a:off x="2392350" y="33138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00" i="0" u="none" strike="noStrike" cap="none" dirty="0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CONCEPTOS CLAVE APRENDIDOS </a:t>
            </a:r>
            <a:endParaRPr dirty="0"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59" name="Google Shape;159;p6"/>
          <p:cNvSpPr txBox="1"/>
          <p:nvPr/>
        </p:nvSpPr>
        <p:spPr>
          <a:xfrm>
            <a:off x="398490" y="1677191"/>
            <a:ext cx="17220770" cy="5909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endParaRPr lang="es-ES" sz="32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s-ES" sz="3200" dirty="0"/>
              <a:t> Token: Unidad mínima significativa del código fuente. Representa una categoría léxica, como una palabra clave (</a:t>
            </a:r>
            <a:r>
              <a:rPr lang="es-ES" sz="3200" dirty="0" err="1"/>
              <a:t>if</a:t>
            </a:r>
            <a:r>
              <a:rPr lang="es-ES" sz="3200" dirty="0"/>
              <a:t>), un operador (+), o un identificador (</a:t>
            </a:r>
            <a:r>
              <a:rPr lang="es-ES" sz="3200" dirty="0" err="1"/>
              <a:t>nombreUsuario</a:t>
            </a:r>
            <a:r>
              <a:rPr lang="es-ES" sz="3200" dirty="0"/>
              <a:t>).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ES" sz="3200" dirty="0"/>
              <a:t> Lexema: Es una instancia concreta de un token. Por ejemplo, el token Identificador puede tener como lexema la palabra contador.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ES" sz="3200" dirty="0"/>
              <a:t> Patrón: Regla que describe cómo debe formarse un lexema para que sea válido. Se expresa generalmente mediante una expresión regular.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ES" sz="3200" dirty="0"/>
              <a:t> Expresión Regular: Herramienta para definir patrones léxicos. Permite describir de forma precisa secuencias de caracteres que deben ser reconocidas por el analizador léxico.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ES" sz="3200" dirty="0"/>
              <a:t> Diagrama de Transición: Representación gráfica de los estados y transiciones de un autómata finito. Útil para visualizar cómo se analiza una cadena paso a paso.</a:t>
            </a:r>
          </a:p>
          <a:p>
            <a:pPr>
              <a:buFont typeface="Arial" panose="020B0604020202020204" pitchFamily="34" charset="0"/>
              <a:buChar char="•"/>
            </a:pPr>
            <a:endParaRPr lang="es-ES" sz="3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"/>
          <p:cNvSpPr txBox="1"/>
          <p:nvPr/>
        </p:nvSpPr>
        <p:spPr>
          <a:xfrm>
            <a:off x="2507390" y="1000125"/>
            <a:ext cx="13503300" cy="1199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00" dirty="0" err="1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Responsabilidad</a:t>
            </a:r>
            <a:endParaRPr dirty="0"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FC0A423-76C6-7D14-76CC-97521A8821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4859" y="2066436"/>
            <a:ext cx="14076218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br>
              <a:rPr kumimoji="0" lang="es-GT" altLang="es-GT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s-ES" altLang="es-GT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 diseño de patrones léxicos y expresiones regulares requiere una actitud responsable, ya que un error en esta etapa puede comprometer el correcto funcionamiento del compilador o del sistema que los utilice. Ser responsable implica: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ES" altLang="es-GT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ES" altLang="es-GT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Validar exhaustivamente los patrones antes de implementarlos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ES" altLang="es-GT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Asegurarse de cubrir todos los posibles errores léxicos.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ES" altLang="es-GT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Comprobar que las expresiones regulares sean claras, legibles y eficientes.</a:t>
            </a:r>
            <a:endParaRPr kumimoji="0" lang="es-GT" altLang="es-GT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8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00" i="0" u="none" strike="noStrike" cap="non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REFERENCIAS </a:t>
            </a:r>
            <a:endParaRPr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77" name="Google Shape;177;p8"/>
          <p:cNvSpPr txBox="1"/>
          <p:nvPr/>
        </p:nvSpPr>
        <p:spPr>
          <a:xfrm>
            <a:off x="5803381" y="4280604"/>
            <a:ext cx="6911332" cy="2216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1" b="0" i="0" u="none" strike="noStrike" cap="non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hay que dar crédito a las personas de las cuales te has basado para generar tu presentación  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"/>
          <p:cNvSpPr txBox="1"/>
          <p:nvPr/>
        </p:nvSpPr>
        <p:spPr>
          <a:xfrm>
            <a:off x="4437795" y="3389104"/>
            <a:ext cx="8658900" cy="19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99" i="0" u="none" strike="noStrike" cap="non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¡GRACIAS POR SU  ATENCIÓN!</a:t>
            </a:r>
            <a:endParaRPr>
              <a:latin typeface="Impact"/>
              <a:ea typeface="Impact"/>
              <a:cs typeface="Impact"/>
              <a:sym typeface="Impact"/>
            </a:endParaRPr>
          </a:p>
          <a:p>
            <a:pPr marL="0" marR="0" lvl="0" indent="0" algn="just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99" i="0" u="none" strike="noStrike" cap="none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85" name="Google Shape;185;p9"/>
          <p:cNvSpPr txBox="1"/>
          <p:nvPr/>
        </p:nvSpPr>
        <p:spPr>
          <a:xfrm>
            <a:off x="5414714" y="5958103"/>
            <a:ext cx="6704991" cy="898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0" i="0" u="none" strike="noStrike" cap="non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</a:t>
            </a:r>
            <a:endParaRPr/>
          </a:p>
        </p:txBody>
      </p:sp>
      <p:sp>
        <p:nvSpPr>
          <p:cNvPr id="186" name="Google Shape;186;p9"/>
          <p:cNvSpPr/>
          <p:nvPr/>
        </p:nvSpPr>
        <p:spPr>
          <a:xfrm>
            <a:off x="13963751" y="1028700"/>
            <a:ext cx="2757268" cy="3770970"/>
          </a:xfrm>
          <a:custGeom>
            <a:avLst/>
            <a:gdLst/>
            <a:ahLst/>
            <a:cxnLst/>
            <a:rect l="l" t="t" r="r" b="b"/>
            <a:pathLst>
              <a:path w="2757268" h="3770970" extrusionOk="0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187" name="Google Shape;187;p9"/>
          <p:cNvSpPr txBox="1"/>
          <p:nvPr/>
        </p:nvSpPr>
        <p:spPr>
          <a:xfrm>
            <a:off x="2411098" y="7899735"/>
            <a:ext cx="13465804" cy="719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ción">
  <a:themeElements>
    <a:clrScheme name="Retrospección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ció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ción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13</TotalTime>
  <Words>722</Words>
  <Application>Microsoft Office PowerPoint</Application>
  <PresentationFormat>Personalizado</PresentationFormat>
  <Paragraphs>76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21" baseType="lpstr">
      <vt:lpstr>Arial</vt:lpstr>
      <vt:lpstr>Impact</vt:lpstr>
      <vt:lpstr>Lobster</vt:lpstr>
      <vt:lpstr>Calibri</vt:lpstr>
      <vt:lpstr>Open Sans</vt:lpstr>
      <vt:lpstr>Pacifico</vt:lpstr>
      <vt:lpstr>Calibri Light</vt:lpstr>
      <vt:lpstr>Retrospección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Jonatan Garcia</cp:lastModifiedBy>
  <cp:revision>2</cp:revision>
  <dcterms:created xsi:type="dcterms:W3CDTF">2006-08-16T00:00:00Z</dcterms:created>
  <dcterms:modified xsi:type="dcterms:W3CDTF">2025-05-29T00:19:56Z</dcterms:modified>
</cp:coreProperties>
</file>