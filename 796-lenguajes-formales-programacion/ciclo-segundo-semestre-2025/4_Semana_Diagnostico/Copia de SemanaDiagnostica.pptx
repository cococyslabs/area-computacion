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10287000" cx="18288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  <p:embeddedFont>
      <p:font typeface="Pacifico"/>
      <p:regular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i4Yj1Q7l+vaQyAjzngaNMJqarQ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B535F70-C607-4497-899A-5116A0BD8623}">
  <a:tblStyle styleId="{9B535F70-C607-4497-899A-5116A0BD862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11" Type="http://schemas.openxmlformats.org/officeDocument/2006/relationships/slide" Target="slides/slide5.xml"/><Relationship Id="rId22" Type="http://schemas.openxmlformats.org/officeDocument/2006/relationships/font" Target="fonts/Montserrat-boldItalic.fntdata"/><Relationship Id="rId10" Type="http://schemas.openxmlformats.org/officeDocument/2006/relationships/slide" Target="slides/slide4.xml"/><Relationship Id="rId21" Type="http://schemas.openxmlformats.org/officeDocument/2006/relationships/font" Target="fonts/Montserrat-italic.fntdata"/><Relationship Id="rId13" Type="http://schemas.openxmlformats.org/officeDocument/2006/relationships/slide" Target="slides/slide7.xml"/><Relationship Id="rId24" Type="http://customschemas.google.com/relationships/presentationmetadata" Target="metadata"/><Relationship Id="rId12" Type="http://schemas.openxmlformats.org/officeDocument/2006/relationships/slide" Target="slides/slide6.xml"/><Relationship Id="rId23" Type="http://schemas.openxmlformats.org/officeDocument/2006/relationships/font" Target="fonts/Pacific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Montserrat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Relationship Id="rId4" Type="http://schemas.openxmlformats.org/officeDocument/2006/relationships/hyperlink" Target="mailto:316923389103@ingenieria.usac.edu.gt" TargetMode="External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jp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jp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jp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2" y="0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" name="Google Shape;89;p1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{9B535F70-C607-4497-899A-5116A0BD8623}</a:tableStyleId>
              </a:tblPr>
              <a:tblGrid>
                <a:gridCol w="3036400"/>
                <a:gridCol w="43447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Día, Fecha:</a:t>
                      </a:r>
                      <a:endParaRPr b="1" sz="2800" u="none" cap="none" strike="noStrik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850" marB="182850" marR="182850" marL="1828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</a:t>
                      </a:r>
                      <a:r>
                        <a:rPr b="1" lang="en-US" sz="28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de </a:t>
                      </a:r>
                      <a:r>
                        <a:rPr b="1" lang="en-US" sz="28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Enero</a:t>
                      </a:r>
                      <a:r>
                        <a:rPr b="1" lang="en-US" sz="28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de 2026</a:t>
                      </a:r>
                      <a:endParaRPr b="1" sz="2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850" marB="182850" marR="182850" marL="182850">
                    <a:noFill/>
                  </a:tcPr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Hora de inicio:</a:t>
                      </a:r>
                      <a:endParaRPr b="1" sz="2800" u="none" cap="none" strike="noStrik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850" marB="182850" marR="182850" marL="1828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09</a:t>
                      </a:r>
                      <a:r>
                        <a:rPr b="1" lang="en-US" sz="28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:</a:t>
                      </a:r>
                      <a:r>
                        <a:rPr b="1" lang="en-US" sz="28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00</a:t>
                      </a:r>
                      <a:r>
                        <a:rPr b="1" lang="en-US" sz="28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- </a:t>
                      </a:r>
                      <a:r>
                        <a:rPr b="1" lang="en-US" sz="28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10:40</a:t>
                      </a:r>
                      <a:endParaRPr b="1" sz="2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182850" marB="182850" marR="182850" marL="182850">
                    <a:noFill/>
                  </a:tcPr>
                </a:tc>
              </a:tr>
            </a:tbl>
          </a:graphicData>
        </a:graphic>
      </p:graphicFrame>
      <p:sp>
        <p:nvSpPr>
          <p:cNvPr id="90" name="Google Shape;90;p1"/>
          <p:cNvSpPr txBox="1"/>
          <p:nvPr/>
        </p:nvSpPr>
        <p:spPr>
          <a:xfrm>
            <a:off x="1674750" y="4737500"/>
            <a:ext cx="149385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Lenguajes Formales y De Programación </a:t>
            </a:r>
            <a:r>
              <a:rPr b="1" lang="en-US" sz="5000">
                <a:latin typeface="Montserrat"/>
                <a:ea typeface="Montserrat"/>
                <a:cs typeface="Montserrat"/>
                <a:sym typeface="Montserrat"/>
              </a:rPr>
              <a:t>B-</a:t>
            </a:r>
            <a:endParaRPr b="1" i="0" sz="5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069950" y="6469925"/>
            <a:ext cx="101481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500">
                <a:latin typeface="Montserrat"/>
                <a:ea typeface="Montserrat"/>
                <a:cs typeface="Montserrat"/>
                <a:sym typeface="Montserrat"/>
              </a:rPr>
              <a:t>River Anderson, Ismalej Roman</a:t>
            </a:r>
            <a:endParaRPr b="1" i="0" sz="4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/>
        </p:nvSpPr>
        <p:spPr>
          <a:xfrm>
            <a:off x="775174" y="6501763"/>
            <a:ext cx="8526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Lenguajes Formales y De Programación</a:t>
            </a:r>
            <a:endParaRPr b="1" i="0" sz="5000" u="none" cap="none" strike="noStrike">
              <a:solidFill>
                <a:srgbClr val="1314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2617350" y="2317675"/>
            <a:ext cx="13053300" cy="30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Semana de Diagnostico</a:t>
            </a:r>
            <a:endParaRPr b="1" i="0" sz="2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1028699" y="8779775"/>
            <a:ext cx="85266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Escuela de Ingeniería de Ciencias Y Sistemas</a:t>
            </a:r>
            <a:endParaRPr b="1" i="0" sz="2499" u="none" cap="none" strike="noStrike">
              <a:solidFill>
                <a:srgbClr val="1314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1028700" y="9210675"/>
            <a:ext cx="66675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Facultad de Ingeniería</a:t>
            </a:r>
            <a:endParaRPr b="1" i="0" sz="2499" u="none" cap="none" strike="noStrike">
              <a:solidFill>
                <a:srgbClr val="1314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304800" y="9595279"/>
            <a:ext cx="8115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1" name="Google Shape;10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4675" y="0"/>
            <a:ext cx="10243325" cy="1067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agnóstico del contexto educativo – Desarrollo de Materiales en línea y  multimedia" id="102" name="Google Shape;10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22979" y="5768200"/>
            <a:ext cx="4550147" cy="4239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3"/>
          <p:cNvGrpSpPr/>
          <p:nvPr/>
        </p:nvGrpSpPr>
        <p:grpSpPr>
          <a:xfrm>
            <a:off x="2953094" y="4417712"/>
            <a:ext cx="6789418" cy="845568"/>
            <a:chOff x="0" y="-74192"/>
            <a:chExt cx="2890590" cy="360000"/>
          </a:xfrm>
        </p:grpSpPr>
        <p:sp>
          <p:nvSpPr>
            <p:cNvPr id="108" name="Google Shape;108;p3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9" name="Google Shape;109;p3"/>
            <p:cNvSpPr txBox="1"/>
            <p:nvPr/>
          </p:nvSpPr>
          <p:spPr>
            <a:xfrm>
              <a:off x="298890" y="-74192"/>
              <a:ext cx="25917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45720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PRESENTACIÓN PERSONAL</a:t>
              </a:r>
              <a:endPara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10" name="Google Shape;110;p3"/>
          <p:cNvSpPr/>
          <p:nvPr/>
        </p:nvSpPr>
        <p:spPr>
          <a:xfrm>
            <a:off x="3655129" y="4632954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3"/>
          <p:cNvSpPr txBox="1"/>
          <p:nvPr/>
        </p:nvSpPr>
        <p:spPr>
          <a:xfrm>
            <a:off x="4726650" y="1409550"/>
            <a:ext cx="88347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lang="en-US" sz="15000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</a:t>
            </a: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grpSp>
        <p:nvGrpSpPr>
          <p:cNvPr id="112" name="Google Shape;112;p3"/>
          <p:cNvGrpSpPr/>
          <p:nvPr/>
        </p:nvGrpSpPr>
        <p:grpSpPr>
          <a:xfrm>
            <a:off x="2953094" y="5368062"/>
            <a:ext cx="7029634" cy="845568"/>
            <a:chOff x="0" y="-62896"/>
            <a:chExt cx="2992862" cy="360000"/>
          </a:xfrm>
        </p:grpSpPr>
        <p:sp>
          <p:nvSpPr>
            <p:cNvPr id="113" name="Google Shape;113;p3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4" name="Google Shape;114;p3"/>
            <p:cNvSpPr txBox="1"/>
            <p:nvPr/>
          </p:nvSpPr>
          <p:spPr>
            <a:xfrm>
              <a:off x="419462" y="-62896"/>
              <a:ext cx="25734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45720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PRESENTACIÓN DEL CURSO</a:t>
              </a:r>
              <a:endPara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15" name="Google Shape;115;p3"/>
          <p:cNvGrpSpPr/>
          <p:nvPr/>
        </p:nvGrpSpPr>
        <p:grpSpPr>
          <a:xfrm>
            <a:off x="2953094" y="6318387"/>
            <a:ext cx="8302076" cy="845568"/>
            <a:chOff x="0" y="-76200"/>
            <a:chExt cx="3534603" cy="360000"/>
          </a:xfrm>
        </p:grpSpPr>
        <p:sp>
          <p:nvSpPr>
            <p:cNvPr id="116" name="Google Shape;116;p3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7" name="Google Shape;117;p3"/>
            <p:cNvSpPr txBox="1"/>
            <p:nvPr/>
          </p:nvSpPr>
          <p:spPr>
            <a:xfrm>
              <a:off x="3" y="-76200"/>
              <a:ext cx="35346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457200" lvl="0" marL="91440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PARTICIPACION ESTUDIANTIL</a:t>
              </a:r>
              <a:endParaRPr b="0" i="0" sz="2799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18" name="Google Shape;118;p3"/>
          <p:cNvGrpSpPr/>
          <p:nvPr/>
        </p:nvGrpSpPr>
        <p:grpSpPr>
          <a:xfrm>
            <a:off x="2953094" y="7241962"/>
            <a:ext cx="7140829" cy="845568"/>
            <a:chOff x="0" y="-76203"/>
            <a:chExt cx="3040203" cy="360000"/>
          </a:xfrm>
        </p:grpSpPr>
        <p:sp>
          <p:nvSpPr>
            <p:cNvPr id="119" name="Google Shape;119;p3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0" name="Google Shape;120;p3"/>
            <p:cNvSpPr txBox="1"/>
            <p:nvPr/>
          </p:nvSpPr>
          <p:spPr>
            <a:xfrm>
              <a:off x="3" y="-76203"/>
              <a:ext cx="30402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45720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      ACTIVIDAD PEDAGOGICA</a:t>
              </a:r>
              <a:endPara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21" name="Google Shape;121;p3"/>
          <p:cNvGrpSpPr/>
          <p:nvPr/>
        </p:nvGrpSpPr>
        <p:grpSpPr>
          <a:xfrm>
            <a:off x="2953094" y="8305437"/>
            <a:ext cx="7312761" cy="845568"/>
            <a:chOff x="0" y="-76196"/>
            <a:chExt cx="3113403" cy="360000"/>
          </a:xfrm>
        </p:grpSpPr>
        <p:sp>
          <p:nvSpPr>
            <p:cNvPr id="122" name="Google Shape;122;p3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3" name="Google Shape;123;p3"/>
            <p:cNvSpPr txBox="1"/>
            <p:nvPr/>
          </p:nvSpPr>
          <p:spPr>
            <a:xfrm>
              <a:off x="3" y="-76196"/>
              <a:ext cx="31134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PROGRAMA DEL CURSO</a:t>
              </a:r>
              <a:endParaRPr b="0" i="0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24" name="Google Shape;124;p3"/>
          <p:cNvSpPr/>
          <p:nvPr/>
        </p:nvSpPr>
        <p:spPr>
          <a:xfrm>
            <a:off x="3655129" y="551579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5" name="Google Shape;125;p3"/>
          <p:cNvSpPr/>
          <p:nvPr/>
        </p:nvSpPr>
        <p:spPr>
          <a:xfrm>
            <a:off x="3655129" y="6497366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3"/>
          <p:cNvSpPr/>
          <p:nvPr/>
        </p:nvSpPr>
        <p:spPr>
          <a:xfrm>
            <a:off x="3655129" y="7497148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3"/>
          <p:cNvSpPr/>
          <p:nvPr/>
        </p:nvSpPr>
        <p:spPr>
          <a:xfrm>
            <a:off x="3655129" y="84980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28" name="Google Shape;1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44675" y="0"/>
            <a:ext cx="10243324" cy="106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55174" y="4470063"/>
            <a:ext cx="4542175" cy="454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 txBox="1"/>
          <p:nvPr/>
        </p:nvSpPr>
        <p:spPr>
          <a:xfrm>
            <a:off x="1259114" y="654364"/>
            <a:ext cx="139911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4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PRESENTACIÓN PERSONAL</a:t>
            </a:r>
            <a:endParaRPr b="0" i="0" sz="18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descr="Presentación de dibujos animados de profesión empresario | Vector Premium" id="135" name="Google Shape;1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09400" y="4408400"/>
            <a:ext cx="5878600" cy="587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 txBox="1"/>
          <p:nvPr/>
        </p:nvSpPr>
        <p:spPr>
          <a:xfrm>
            <a:off x="1259125" y="2556900"/>
            <a:ext cx="10735500" cy="77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Hola a todos, mi nombre es </a:t>
            </a:r>
            <a:r>
              <a:rPr b="1" lang="en-US" sz="3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River</a:t>
            </a:r>
            <a:r>
              <a:rPr lang="en-US" sz="3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estudió </a:t>
            </a:r>
            <a:r>
              <a:rPr b="1" lang="en-US" sz="3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Ingeniería en Sistemas</a:t>
            </a:r>
            <a:r>
              <a:rPr lang="en-US" sz="3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y estoy en </a:t>
            </a:r>
            <a:r>
              <a:rPr b="1" lang="en-US" sz="3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décimo semestre</a:t>
            </a:r>
            <a:r>
              <a:rPr lang="en-US" sz="3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3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sz="3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 igual que ustedes, sigo aprendiendo, pero ya he trabajado con varios temas de programación, así que estaré apoyándolos durante el curso en lo que necesiten.</a:t>
            </a:r>
            <a:endParaRPr sz="3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Datos Personales:</a:t>
            </a:r>
            <a:br>
              <a:rPr lang="en-US" sz="3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3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Correo: </a:t>
            </a:r>
            <a:r>
              <a:rPr lang="en-US" sz="31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3169233891503@ingenieria.usac.edu.gt</a:t>
            </a:r>
            <a:endParaRPr sz="3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Github: riverroman</a:t>
            </a:r>
            <a:endParaRPr sz="3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1" sz="3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i="0" sz="3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7" name="Google Shape;137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27825" y="7609454"/>
            <a:ext cx="749925" cy="74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62150" y="8359372"/>
            <a:ext cx="749925" cy="74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89625" y="0"/>
            <a:ext cx="8798375" cy="91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 txBox="1"/>
          <p:nvPr/>
        </p:nvSpPr>
        <p:spPr>
          <a:xfrm>
            <a:off x="1374889" y="938689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PRESENTACIÓN DEL CURSO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45" name="Google Shape;14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87800" y="7014950"/>
            <a:ext cx="4633775" cy="260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5"/>
          <p:cNvSpPr txBox="1"/>
          <p:nvPr/>
        </p:nvSpPr>
        <p:spPr>
          <a:xfrm>
            <a:off x="1374900" y="2359450"/>
            <a:ext cx="11830500" cy="58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Este curso tiene como objetivo que ustedes desarrollen y fortalezcan sus conocimientos en el área de </a:t>
            </a:r>
            <a:r>
              <a:rPr b="1" lang="en-US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Sistemas</a:t>
            </a:r>
            <a:r>
              <a:rPr lang="en-US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enfocándose tanto en la parte teórica como práctica.</a:t>
            </a:r>
            <a:endParaRPr sz="2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lo largo del curso se trabajarán temas fundamentales que les permitirán comprender mejor los conceptos y aplicarlos en ejercicios, prácticas o proyectos, según corresponda.</a:t>
            </a:r>
            <a:endParaRPr sz="2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Durante esta primera semana realizaremos una </a:t>
            </a:r>
            <a:r>
              <a:rPr b="1" lang="en-US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evaluación diagnóstica</a:t>
            </a:r>
            <a:r>
              <a:rPr lang="en-US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la cual no tiene como fin calificarlos, sino conocer el nivel de conocimientos que poseen actualmente y así poder adaptar el ritmo y los contenidos del curso.</a:t>
            </a:r>
            <a:endParaRPr sz="2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 espera participación activa, responsabilidad con las actividades y disposición para aprender, ya que el curso será principalmente práctico.</a:t>
            </a:r>
            <a:endParaRPr sz="2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Cualquier duda o dificultad que tengan durante el desarrollo del curso, pueden </a:t>
            </a:r>
            <a:r>
              <a:rPr lang="en-US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comunicar</a:t>
            </a:r>
            <a:r>
              <a:rPr lang="en-US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sin problema.</a:t>
            </a:r>
            <a:endParaRPr sz="4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7" name="Google Shape;1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76581" y="0"/>
            <a:ext cx="9011418" cy="9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 txBox="1"/>
          <p:nvPr/>
        </p:nvSpPr>
        <p:spPr>
          <a:xfrm>
            <a:off x="1465389" y="91081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PRESENTACIÓN ALUMNADO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descr="Alumnos de pie felices - personajes de dibujos animados personas aislaron  ilustración. Niños y niñas sonrientes con mochilas agitando las manos. Haz  una gran presentación con estos estudiantes internacionales | Vector Premium" id="153" name="Google Shape;15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26850" y="5898725"/>
            <a:ext cx="5961151" cy="421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6"/>
          <p:cNvSpPr txBox="1"/>
          <p:nvPr/>
        </p:nvSpPr>
        <p:spPr>
          <a:xfrm>
            <a:off x="1465400" y="2430825"/>
            <a:ext cx="11211600" cy="5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i="0" lang="en-US" sz="3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1. Nombre completo.</a:t>
            </a:r>
            <a:endParaRPr i="0" sz="3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i="0" sz="3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i="0" lang="en-US" sz="3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2. ¿Cuáles son tus intereses y expectativas sobre este curso?</a:t>
            </a:r>
            <a:endParaRPr i="0" sz="3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i="0" sz="3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i="0" lang="en-US" sz="3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3. ¿Tienes experiencia previa relacionada con el curso o con programación?</a:t>
            </a:r>
            <a:endParaRPr i="0" sz="3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i="0" sz="3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i="0" lang="en-US" sz="3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4. Un dato curioso sobre ti.</a:t>
            </a:r>
            <a:endParaRPr i="0" sz="3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5" name="Google Shape;15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44178" y="0"/>
            <a:ext cx="8743821" cy="91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 txBox="1"/>
          <p:nvPr/>
        </p:nvSpPr>
        <p:spPr>
          <a:xfrm>
            <a:off x="1374889" y="1315914"/>
            <a:ext cx="13991100" cy="10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8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SENSO HORARIOS DE CALIFICACIÓN</a:t>
            </a:r>
            <a:endParaRPr b="0" i="0" sz="22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61" name="Google Shape;16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2000" y="5786449"/>
            <a:ext cx="7064150" cy="39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7"/>
          <p:cNvSpPr txBox="1"/>
          <p:nvPr/>
        </p:nvSpPr>
        <p:spPr>
          <a:xfrm>
            <a:off x="1374900" y="3429000"/>
            <a:ext cx="10735500" cy="53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lang="en-US" sz="10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MARTES</a:t>
            </a:r>
            <a:endParaRPr b="1" sz="10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1" sz="10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lang="en-US" sz="10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SABADO</a:t>
            </a:r>
            <a:endParaRPr b="1" sz="10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3" name="Google Shape;16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44178" y="0"/>
            <a:ext cx="8743821" cy="91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"/>
          <p:cNvSpPr txBox="1"/>
          <p:nvPr/>
        </p:nvSpPr>
        <p:spPr>
          <a:xfrm>
            <a:off x="1374889" y="91081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ACTIVIDAD PEDAGÓGICA CURSOS ANTERIORES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69" name="Google Shape;16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01700" y="6830319"/>
            <a:ext cx="5186299" cy="3456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8"/>
          <p:cNvSpPr txBox="1"/>
          <p:nvPr/>
        </p:nvSpPr>
        <p:spPr>
          <a:xfrm>
            <a:off x="1374900" y="2692675"/>
            <a:ext cx="10735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XXXXXXXXXXXXX</a:t>
            </a:r>
            <a:endParaRPr b="0" i="0" sz="3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1" name="Google Shape;17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44178" y="0"/>
            <a:ext cx="8743821" cy="91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/>
          <p:cNvSpPr txBox="1"/>
          <p:nvPr/>
        </p:nvSpPr>
        <p:spPr>
          <a:xfrm>
            <a:off x="1374889" y="1117439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ACTIVIDAD PEDAGÓGICA SOBRE EL CURSO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77" name="Google Shape;17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63900" y="6813577"/>
            <a:ext cx="3047475" cy="3047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9"/>
          <p:cNvSpPr txBox="1"/>
          <p:nvPr/>
        </p:nvSpPr>
        <p:spPr>
          <a:xfrm>
            <a:off x="1374900" y="2692675"/>
            <a:ext cx="10735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XXXXXXXXXXXXX</a:t>
            </a:r>
            <a:endParaRPr b="0" i="0" sz="3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9" name="Google Shape;17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44178" y="0"/>
            <a:ext cx="8743821" cy="91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PROGRAMA DEL CURSO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85" name="Google Shape;18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16975" y="6249350"/>
            <a:ext cx="4722151" cy="375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0"/>
          <p:cNvSpPr txBox="1"/>
          <p:nvPr/>
        </p:nvSpPr>
        <p:spPr>
          <a:xfrm>
            <a:off x="1374900" y="2692675"/>
            <a:ext cx="10735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XXXXXXXXXXXXX</a:t>
            </a:r>
            <a:endParaRPr b="0" i="0" sz="3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7" name="Google Shape;18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44178" y="0"/>
            <a:ext cx="8743821" cy="91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"/>
          <p:cNvSpPr txBox="1"/>
          <p:nvPr/>
        </p:nvSpPr>
        <p:spPr>
          <a:xfrm>
            <a:off x="5791477" y="7667628"/>
            <a:ext cx="67050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100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DUDAS ¿?</a:t>
            </a:r>
            <a:endParaRPr b="1" i="0" sz="1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3" name="Google Shape;193;p11" title="Gemini_Generated_Image_1od44x1od44x1od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6287" y="1975825"/>
            <a:ext cx="9135424" cy="5691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44178" y="0"/>
            <a:ext cx="8743821" cy="91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"/>
          <p:cNvSpPr txBox="1"/>
          <p:nvPr/>
        </p:nvSpPr>
        <p:spPr>
          <a:xfrm>
            <a:off x="2815350" y="5377525"/>
            <a:ext cx="126573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1" i="0" lang="en-US" sz="6099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¡GRACIAS POR SU ATENCIÓN!</a:t>
            </a:r>
            <a:endParaRPr b="1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1" i="0" sz="6099" u="none" cap="none" strike="noStrike">
              <a:solidFill>
                <a:srgbClr val="1314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7765363" y="1384225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1" name="Google Shape;201;p12"/>
          <p:cNvSpPr txBox="1"/>
          <p:nvPr/>
        </p:nvSpPr>
        <p:spPr>
          <a:xfrm>
            <a:off x="2411098" y="7899735"/>
            <a:ext cx="134658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2" name="Google Shape;20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44178" y="0"/>
            <a:ext cx="8743821" cy="91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