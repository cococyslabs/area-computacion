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289" r:id="rId2"/>
    <p:sldId id="257" r:id="rId3"/>
    <p:sldId id="258" r:id="rId4"/>
    <p:sldId id="259" r:id="rId5"/>
    <p:sldId id="260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</p:sldIdLst>
  <p:sldSz cx="18288000" cy="10287000"/>
  <p:notesSz cx="6858000" cy="9144000"/>
  <p:embeddedFontLst>
    <p:embeddedFont>
      <p:font typeface="Impact" panose="020B0806030902050204" pitchFamily="34" charset="0"/>
      <p:regular r:id="rId36"/>
    </p:embeddedFont>
    <p:embeddedFont>
      <p:font typeface="Lobster" panose="00000500000000000000" pitchFamily="2" charset="0"/>
      <p:regular r:id="rId37"/>
    </p:embeddedFont>
    <p:embeddedFont>
      <p:font typeface="Montserrat" panose="00000500000000000000" pitchFamily="2" charset="0"/>
      <p:regular r:id="rId38"/>
      <p:bold r:id="rId39"/>
    </p:embeddedFont>
    <p:embeddedFont>
      <p:font typeface="Open Sans" panose="020B0606030504020204" pitchFamily="34" charset="0"/>
      <p:regular r:id="rId40"/>
      <p:bold r:id="rId41"/>
      <p:italic r:id="rId42"/>
      <p:boldItalic r:id="rId43"/>
    </p:embeddedFont>
    <p:embeddedFont>
      <p:font typeface="Pacifico" panose="00000500000000000000" pitchFamily="2" charset="0"/>
      <p:regular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jzHJqWqhzwEBDXzytYeL345583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D0D730-AD71-4C7B-A4B5-7AA99F169CB1}">
  <a:tblStyle styleId="{09D0D730-AD71-4C7B-A4B5-7AA99F169CB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4f262177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4f262177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4afea4f6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64afea4f6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5e2d797d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85e2d797d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4afea4f6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64afea4f6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e2d797db_0_6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85e2d797db_0_67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g385e2d797db_0_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7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" name="Google Shape;168;p27"/>
          <p:cNvGraphicFramePr/>
          <p:nvPr/>
        </p:nvGraphicFramePr>
        <p:xfrm>
          <a:off x="10656400" y="1940050"/>
          <a:ext cx="738115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Día, Fecha:</a:t>
                      </a:r>
                      <a:endParaRPr sz="2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 de x de 2026</a:t>
                      </a:r>
                      <a:endParaRPr sz="28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Hora de inicio:</a:t>
                      </a:r>
                      <a:endParaRPr sz="2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xx:xx - xxxx</a:t>
                      </a:r>
                      <a:endParaRPr sz="28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9" name="Google Shape;169;p27"/>
          <p:cNvSpPr txBox="1"/>
          <p:nvPr/>
        </p:nvSpPr>
        <p:spPr>
          <a:xfrm>
            <a:off x="2828250" y="4787100"/>
            <a:ext cx="144465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Lenguajes Formales y De Programación X</a:t>
            </a:r>
            <a:endParaRPr sz="5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4658250" y="6354150"/>
            <a:ext cx="89715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Nombre del Tutor : XXXXX</a:t>
            </a:r>
            <a:endParaRPr sz="4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12541309" y="6021878"/>
            <a:ext cx="4160184" cy="4114800"/>
          </a:xfrm>
          <a:custGeom>
            <a:avLst/>
            <a:gdLst/>
            <a:ahLst/>
            <a:cxnLst/>
            <a:rect l="l" t="t" r="r" b="b"/>
            <a:pathLst>
              <a:path w="4160184" h="4114800" extrusionOk="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96" name="Google Shape;96;p1"/>
          <p:cNvSpPr txBox="1"/>
          <p:nvPr/>
        </p:nvSpPr>
        <p:spPr>
          <a:xfrm>
            <a:off x="629910" y="6505712"/>
            <a:ext cx="8526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s-ES" sz="50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Lenguajes Formales y de </a:t>
            </a:r>
            <a:r>
              <a:rPr lang="es-ES" sz="50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programacion</a:t>
            </a:r>
            <a:endParaRPr lang="es-ES" sz="5000" b="1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591255" y="2167474"/>
            <a:ext cx="12375000" cy="1982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92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Analisis</a:t>
            </a:r>
            <a:r>
              <a:rPr lang="en-US" sz="92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9200" b="1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Lexico</a:t>
            </a:r>
            <a:endParaRPr lang="en-US" sz="9600" dirty="0"/>
          </a:p>
        </p:txBody>
      </p:sp>
      <p:sp>
        <p:nvSpPr>
          <p:cNvPr id="98" name="Google Shape;9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176619" y="4579368"/>
            <a:ext cx="5371578" cy="845385"/>
            <a:chOff x="0" y="-51130"/>
            <a:chExt cx="2286951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523259" y="-51130"/>
              <a:ext cx="1763692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8017"/>
                </a:lnSpc>
                <a:buSzPts val="2799"/>
              </a:pPr>
              <a:r>
                <a:rPr lang="en-US" sz="2799" dirty="0" err="1"/>
                <a:t>Minimización</a:t>
              </a:r>
              <a:r>
                <a:rPr lang="en-US" sz="2799" dirty="0"/>
                <a:t> de un AFD</a:t>
              </a:r>
              <a:endParaRPr lang="en-US" dirty="0"/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878654" y="474044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11" name="Google Shape;111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651754" y="342973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5" name="Google Shape;115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 dirty="0" err="1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1400" b="0" i="0" u="none" strike="noStrike" cap="none" dirty="0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1739805" y="3232617"/>
            <a:ext cx="5353646" cy="1267162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21" name="Google Shape;121;p2"/>
          <p:cNvSpPr/>
          <p:nvPr/>
        </p:nvSpPr>
        <p:spPr>
          <a:xfrm>
            <a:off x="11986960" y="4984371"/>
            <a:ext cx="5353646" cy="1267162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23" name="Google Shape;123;p2"/>
          <p:cNvGrpSpPr/>
          <p:nvPr/>
        </p:nvGrpSpPr>
        <p:grpSpPr>
          <a:xfrm>
            <a:off x="176619" y="5485963"/>
            <a:ext cx="7411373" cy="803724"/>
            <a:chOff x="0" y="-58463"/>
            <a:chExt cx="3181632" cy="342186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523259" y="-58463"/>
              <a:ext cx="2658373" cy="3049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lvl="0" algn="ctr">
                <a:lnSpc>
                  <a:spcPct val="148017"/>
                </a:lnSpc>
                <a:buSzPts val="2799"/>
              </a:pPr>
              <a:r>
                <a:rPr lang="en-US" sz="2799" dirty="0" err="1"/>
                <a:t>Identificación</a:t>
              </a:r>
              <a:r>
                <a:rPr lang="en-US" sz="2799" dirty="0"/>
                <a:t> de </a:t>
              </a:r>
              <a:r>
                <a:rPr lang="en-US" sz="2799" dirty="0" err="1"/>
                <a:t>estados</a:t>
              </a:r>
              <a:r>
                <a:rPr lang="en-US" sz="2799" dirty="0"/>
                <a:t> </a:t>
              </a:r>
              <a:r>
                <a:rPr lang="en-US" sz="2799" dirty="0" err="1"/>
                <a:t>equivalentes</a:t>
              </a:r>
              <a:endParaRPr lang="en-US" dirty="0"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878654" y="5623280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39" name="Google Shape;139;p2"/>
          <p:cNvSpPr/>
          <p:nvPr/>
        </p:nvSpPr>
        <p:spPr>
          <a:xfrm>
            <a:off x="12350549" y="5430647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4603847" y="3265762"/>
            <a:ext cx="9473377" cy="4136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7"/>
              </a:lnSpc>
              <a:buSzPts val="2400"/>
            </a:pPr>
            <a:r>
              <a:rPr lang="es-ES" sz="3200" b="1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aplica técnicas de minimización de autómatas finitos deterministas (AFD) mediante la identificación de estados equivalentes y particiones sucesivas para reducir el número de estados sin alterar el lenguaje reconocido </a:t>
            </a:r>
            <a:endParaRPr lang="es-ES" sz="3200" dirty="0"/>
          </a:p>
        </p:txBody>
      </p:sp>
      <p:sp>
        <p:nvSpPr>
          <p:cNvPr id="147" name="Google Shape;147;p3"/>
          <p:cNvSpPr/>
          <p:nvPr/>
        </p:nvSpPr>
        <p:spPr>
          <a:xfrm>
            <a:off x="14077224" y="6223378"/>
            <a:ext cx="3994644" cy="3618401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pic>
        <p:nvPicPr>
          <p:cNvPr id="149" name="Google Shape;149;p3" title="Gemini_Generated_Image_sfb0qdsfb0qdsfb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956943"/>
            <a:ext cx="4210776" cy="717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/>
          <p:nvPr/>
        </p:nvSpPr>
        <p:spPr>
          <a:xfrm>
            <a:off x="14470777" y="6578220"/>
            <a:ext cx="3435086" cy="3495571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" name="Google Shape;137;p4">
            <a:extLst>
              <a:ext uri="{FF2B5EF4-FFF2-40B4-BE49-F238E27FC236}">
                <a16:creationId xmlns:a16="http://schemas.microsoft.com/office/drawing/2014/main" id="{D590BE5C-107B-77BD-E49F-5F444A7A8C45}"/>
              </a:ext>
            </a:extLst>
          </p:cNvPr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REPASO</a:t>
            </a:r>
            <a:endParaRPr sz="1400" b="0" i="0" u="none" strike="noStrike" cap="none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" name="Google Shape;136;p4">
            <a:extLst>
              <a:ext uri="{FF2B5EF4-FFF2-40B4-BE49-F238E27FC236}">
                <a16:creationId xmlns:a16="http://schemas.microsoft.com/office/drawing/2014/main" id="{C69FC3C5-72C8-749D-444D-EE222D6A1356}"/>
              </a:ext>
            </a:extLst>
          </p:cNvPr>
          <p:cNvSpPr txBox="1"/>
          <p:nvPr/>
        </p:nvSpPr>
        <p:spPr>
          <a:xfrm>
            <a:off x="1374889" y="1714782"/>
            <a:ext cx="15252753" cy="830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Símbolo</a:t>
            </a:r>
            <a:r>
              <a:rPr lang="en-US" sz="2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un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signo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representa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algo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abstracto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En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material,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símbolo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referirá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un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carácter</a:t>
            </a:r>
            <a:endParaRPr dirty="0"/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alfanumérico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a, b, 1, 0, x, y, z, 9,</a:t>
            </a:r>
            <a:endParaRPr dirty="0"/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Alfabeto</a:t>
            </a:r>
            <a:r>
              <a:rPr lang="en-US" sz="2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un conjunto de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símbolos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normalmente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denota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 la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letra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Σ.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Σ = {</a:t>
            </a:r>
            <a:r>
              <a:rPr lang="en-US" sz="2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a,b,c</a:t>
            </a:r>
            <a:r>
              <a:rPr lang="en-US" sz="2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,...z}   Σ = {1,2,3,...9}   Σ = {0,1}   Σ = {</a:t>
            </a:r>
            <a:r>
              <a:rPr lang="en-US" sz="2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lang="en-US" sz="2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dirty="0"/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Cadena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palabra es un conjunto de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símbolos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algún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alfabeto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Σ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concatenados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entre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sí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es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decir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uno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seguido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otro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</a:t>
            </a:r>
            <a:endParaRPr dirty="0"/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alfabeto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Σ = {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a,b,c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,...z}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algunas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cadenas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son:</a:t>
            </a:r>
            <a:endParaRPr dirty="0"/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ab, z, cc, </a:t>
            </a:r>
            <a:r>
              <a:rPr lang="en-US" sz="2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abc</a:t>
            </a:r>
            <a:r>
              <a:rPr lang="en-US" sz="2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abab</a:t>
            </a:r>
            <a:endParaRPr dirty="0"/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alfabeto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Σ = {0,1}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algunas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cadenas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son:</a:t>
            </a:r>
            <a:endParaRPr dirty="0"/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0, 1, 01, 000, 0101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2;p22">
            <a:extLst>
              <a:ext uri="{FF2B5EF4-FFF2-40B4-BE49-F238E27FC236}">
                <a16:creationId xmlns:a16="http://schemas.microsoft.com/office/drawing/2014/main" id="{525BD491-DC5C-4DB2-D9F5-8E01E984FECF}"/>
              </a:ext>
            </a:extLst>
          </p:cNvPr>
          <p:cNvSpPr txBox="1"/>
          <p:nvPr/>
        </p:nvSpPr>
        <p:spPr>
          <a:xfrm>
            <a:off x="1333945" y="582018"/>
            <a:ext cx="15252753" cy="532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Cadena </a:t>
            </a:r>
            <a:r>
              <a:rPr lang="en-US" sz="2500" b="1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Vacía</a:t>
            </a:r>
            <a:r>
              <a:rPr lang="en-US" sz="2500" b="1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(ε):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Es la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cadena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contiene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ningún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símbolo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Lenguaje</a:t>
            </a:r>
            <a:r>
              <a:rPr lang="en-US" sz="2500" b="1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Es un conjunto de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cadenas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o palabras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definido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alfabeto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Σ.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Ejemplos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Si Σ = {0,1}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podríamos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definir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lenguajes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“conjunto de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cadenas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Σ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terminan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0”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algunos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 las palabras del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lenguaje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serían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500" b="1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0, 10, 00, 010, 100, 110...</a:t>
            </a:r>
            <a:endParaRPr sz="2500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Autómata</a:t>
            </a:r>
            <a:r>
              <a:rPr lang="en-US" sz="2500" b="1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Es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máquina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matemática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M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formada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5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elementos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M = (Σ, Q, s, F, δ)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donde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Σ es un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alfabeto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 entrada, Q es un conjunto finito de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estados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, s es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estado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inicial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, F es un conjunto de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estados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finales o de</a:t>
            </a:r>
            <a:endParaRPr dirty="0"/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aceptación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y δ (delta) es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relación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transición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5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r>
              <a:rPr lang="en-US" sz="25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44;p22">
            <a:extLst>
              <a:ext uri="{FF2B5EF4-FFF2-40B4-BE49-F238E27FC236}">
                <a16:creationId xmlns:a16="http://schemas.microsoft.com/office/drawing/2014/main" id="{94F882B9-3F72-22B1-FFDE-31FCCEEE2E4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49413" y="6452463"/>
            <a:ext cx="9789173" cy="30394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500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8D58597-9146-F347-35B5-9B0321E000A9}"/>
              </a:ext>
            </a:extLst>
          </p:cNvPr>
          <p:cNvSpPr txBox="1"/>
          <p:nvPr/>
        </p:nvSpPr>
        <p:spPr>
          <a:xfrm>
            <a:off x="655091" y="278354"/>
            <a:ext cx="16732157" cy="9730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GT" sz="2000" b="1" dirty="0"/>
              <a:t>Repaso de Conceptos Fundamentales</a:t>
            </a:r>
          </a:p>
          <a:p>
            <a:pPr>
              <a:lnSpc>
                <a:spcPct val="150000"/>
              </a:lnSpc>
              <a:buNone/>
            </a:pPr>
            <a:r>
              <a:rPr lang="es-GT" sz="2000" b="1" dirty="0"/>
              <a:t>Definiciones Básicas</a:t>
            </a:r>
          </a:p>
          <a:p>
            <a:pPr>
              <a:lnSpc>
                <a:spcPct val="150000"/>
              </a:lnSpc>
              <a:buNone/>
            </a:pPr>
            <a:r>
              <a:rPr lang="es-GT" sz="2000" b="1" dirty="0"/>
              <a:t>Símbolo</a:t>
            </a:r>
            <a:r>
              <a:rPr lang="es-GT" sz="2000" dirty="0"/>
              <a:t>: Es un signo que representa algo abstracto. En este contexto, se refiere a caracteres alfanuméricos.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b="1" dirty="0"/>
              <a:t>Ejemplos</a:t>
            </a:r>
            <a:r>
              <a:rPr lang="es-GT" sz="2000" dirty="0"/>
              <a:t>: a, b, 1, 0, x, y, z, 9</a:t>
            </a:r>
          </a:p>
          <a:p>
            <a:pPr>
              <a:lnSpc>
                <a:spcPct val="150000"/>
              </a:lnSpc>
              <a:buNone/>
            </a:pPr>
            <a:r>
              <a:rPr lang="es-GT" sz="2000" b="1" dirty="0"/>
              <a:t>Alfabeto (</a:t>
            </a:r>
            <a:r>
              <a:rPr lang="el-GR" sz="2000" b="1" dirty="0"/>
              <a:t>Σ)</a:t>
            </a:r>
            <a:r>
              <a:rPr lang="el-GR" sz="2000" dirty="0"/>
              <a:t>: </a:t>
            </a:r>
            <a:r>
              <a:rPr lang="es-GT" sz="2000" dirty="0"/>
              <a:t>Conjunto finito de símbolos que utilizamos para construir cadenas.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b="1" dirty="0"/>
              <a:t>Ejemplos</a:t>
            </a:r>
            <a:r>
              <a:rPr lang="es-GT" sz="2000" dirty="0"/>
              <a:t>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/>
              <a:t>Σ = {</a:t>
            </a:r>
            <a:r>
              <a:rPr lang="es-GT" sz="2000" dirty="0" err="1"/>
              <a:t>a,b,c</a:t>
            </a:r>
            <a:r>
              <a:rPr lang="es-GT" sz="2000" dirty="0"/>
              <a:t>,...,z} (alfabeto de letras minúsculas)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/>
              <a:t>Σ = {0,1} (</a:t>
            </a:r>
            <a:r>
              <a:rPr lang="es-GT" sz="2000" dirty="0"/>
              <a:t>alfabeto binario)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/>
              <a:t>Σ = {</a:t>
            </a:r>
            <a:r>
              <a:rPr lang="es-GT" sz="2000" dirty="0" err="1"/>
              <a:t>a,b</a:t>
            </a:r>
            <a:r>
              <a:rPr lang="es-GT" sz="2000" dirty="0"/>
              <a:t>} (alfabeto simple de dos símbolos)</a:t>
            </a:r>
          </a:p>
          <a:p>
            <a:pPr>
              <a:lnSpc>
                <a:spcPct val="150000"/>
              </a:lnSpc>
              <a:buNone/>
            </a:pPr>
            <a:r>
              <a:rPr lang="es-GT" sz="2000" b="1" dirty="0"/>
              <a:t>Cadena o Palabra</a:t>
            </a:r>
            <a:r>
              <a:rPr lang="es-GT" sz="2000" dirty="0"/>
              <a:t>: Secuencia finita de símbolos tomados de un alfabeto </a:t>
            </a:r>
            <a:r>
              <a:rPr lang="el-GR" sz="2000" dirty="0"/>
              <a:t>Σ.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b="1" dirty="0"/>
              <a:t>Para </a:t>
            </a:r>
            <a:r>
              <a:rPr lang="el-GR" sz="2000" b="1" dirty="0"/>
              <a:t>Σ = {</a:t>
            </a:r>
            <a:r>
              <a:rPr lang="es-GT" sz="2000" b="1" dirty="0" err="1"/>
              <a:t>a,b,c</a:t>
            </a:r>
            <a:r>
              <a:rPr lang="es-GT" sz="2000" b="1" dirty="0"/>
              <a:t>,...,z}</a:t>
            </a:r>
            <a:r>
              <a:rPr lang="es-GT" sz="2000" dirty="0"/>
              <a:t>: ab, z, </a:t>
            </a:r>
            <a:r>
              <a:rPr lang="es-GT" sz="2000" dirty="0" err="1"/>
              <a:t>cc</a:t>
            </a:r>
            <a:r>
              <a:rPr lang="es-GT" sz="2000" dirty="0"/>
              <a:t>, </a:t>
            </a:r>
            <a:r>
              <a:rPr lang="es-GT" sz="2000" dirty="0" err="1"/>
              <a:t>abc</a:t>
            </a:r>
            <a:r>
              <a:rPr lang="es-GT" sz="2000" dirty="0"/>
              <a:t>, abab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b="1" dirty="0"/>
              <a:t>Para </a:t>
            </a:r>
            <a:r>
              <a:rPr lang="el-GR" sz="2000" b="1" dirty="0"/>
              <a:t>Σ = {0,1}</a:t>
            </a:r>
            <a:r>
              <a:rPr lang="el-GR" sz="2000" dirty="0"/>
              <a:t>: 0, 1, 01, 000, 0101</a:t>
            </a:r>
          </a:p>
          <a:p>
            <a:pPr>
              <a:lnSpc>
                <a:spcPct val="150000"/>
              </a:lnSpc>
              <a:buNone/>
            </a:pPr>
            <a:r>
              <a:rPr lang="es-GT" sz="2000" b="1" dirty="0"/>
              <a:t>Cadena Vacía (</a:t>
            </a:r>
            <a:r>
              <a:rPr lang="el-GR" sz="2000" b="1" dirty="0"/>
              <a:t>ε)</a:t>
            </a:r>
            <a:r>
              <a:rPr lang="el-GR" sz="2000" dirty="0"/>
              <a:t>: </a:t>
            </a:r>
            <a:r>
              <a:rPr lang="es-GT" sz="2000" dirty="0"/>
              <a:t>La cadena que no contiene ningún símbolo. Es importante en muchas definiciones formales.</a:t>
            </a:r>
          </a:p>
          <a:p>
            <a:pPr>
              <a:lnSpc>
                <a:spcPct val="150000"/>
              </a:lnSpc>
              <a:buNone/>
            </a:pPr>
            <a:r>
              <a:rPr lang="es-GT" sz="2000" b="1" dirty="0"/>
              <a:t>Lenguaje</a:t>
            </a:r>
            <a:r>
              <a:rPr lang="es-GT" sz="2000" dirty="0"/>
              <a:t>: Conjunto de cadenas definido sobre un alfabeto </a:t>
            </a:r>
            <a:r>
              <a:rPr lang="el-GR" sz="2000" dirty="0"/>
              <a:t>Σ.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b="1" dirty="0"/>
              <a:t>Ejemplo</a:t>
            </a:r>
            <a:r>
              <a:rPr lang="es-GT" sz="2000" dirty="0"/>
              <a:t>: Si </a:t>
            </a:r>
            <a:r>
              <a:rPr lang="el-GR" sz="2000" dirty="0"/>
              <a:t>Σ = {0,1}, </a:t>
            </a:r>
            <a:r>
              <a:rPr lang="es-GT" sz="2000" dirty="0"/>
              <a:t>el lenguaje "cadenas que terminan en 0" incluye: {0, 10, 00, 010, 100, 110, ...}</a:t>
            </a:r>
          </a:p>
          <a:p>
            <a:pPr>
              <a:lnSpc>
                <a:spcPct val="150000"/>
              </a:lnSpc>
              <a:buNone/>
            </a:pPr>
            <a:r>
              <a:rPr lang="es-GT" sz="2000" b="1" dirty="0"/>
              <a:t>Autómata Finito Determinista (AFD)</a:t>
            </a:r>
            <a:r>
              <a:rPr lang="es-GT" sz="2000" dirty="0"/>
              <a:t>: Máquina matemática M = (</a:t>
            </a:r>
            <a:r>
              <a:rPr lang="el-GR" sz="2000" dirty="0"/>
              <a:t>Σ, </a:t>
            </a:r>
            <a:r>
              <a:rPr lang="es-GT" sz="2000" dirty="0"/>
              <a:t>Q, s, F, </a:t>
            </a:r>
            <a:r>
              <a:rPr lang="el-GR" sz="2000" dirty="0"/>
              <a:t>δ) </a:t>
            </a:r>
            <a:r>
              <a:rPr lang="es-GT" sz="2000" dirty="0"/>
              <a:t>donde: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b="1" dirty="0"/>
              <a:t>Σ</a:t>
            </a:r>
            <a:r>
              <a:rPr lang="el-GR" sz="2000" dirty="0"/>
              <a:t>: </a:t>
            </a:r>
            <a:r>
              <a:rPr lang="es-GT" sz="2000" dirty="0"/>
              <a:t>Alfabeto de entrada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b="1" dirty="0"/>
              <a:t>Q</a:t>
            </a:r>
            <a:r>
              <a:rPr lang="es-GT" sz="2000" dirty="0"/>
              <a:t>: Conjunto finito de estados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b="1" dirty="0"/>
              <a:t>s</a:t>
            </a:r>
            <a:r>
              <a:rPr lang="es-GT" sz="2000" dirty="0"/>
              <a:t>: Estado inicial (s ∈ Q)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b="1" dirty="0"/>
              <a:t>F</a:t>
            </a:r>
            <a:r>
              <a:rPr lang="es-GT" sz="2000" dirty="0"/>
              <a:t>: Conjunto de estados finales (F ⊆ Q)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b="1" dirty="0"/>
              <a:t>δ</a:t>
            </a:r>
            <a:r>
              <a:rPr lang="el-GR" sz="2000" dirty="0"/>
              <a:t>: </a:t>
            </a:r>
            <a:r>
              <a:rPr lang="es-GT" sz="2000" dirty="0"/>
              <a:t>Función de transición (</a:t>
            </a:r>
            <a:r>
              <a:rPr lang="el-GR" sz="2000" dirty="0"/>
              <a:t>δ: </a:t>
            </a:r>
            <a:r>
              <a:rPr lang="es-GT" sz="2000" dirty="0"/>
              <a:t>Q × </a:t>
            </a:r>
            <a:r>
              <a:rPr lang="el-GR" sz="2000" dirty="0"/>
              <a:t>Σ → </a:t>
            </a:r>
            <a:r>
              <a:rPr lang="es-GT" sz="2000" dirty="0"/>
              <a:t>Q)</a:t>
            </a:r>
          </a:p>
        </p:txBody>
      </p:sp>
    </p:spTree>
    <p:extLst>
      <p:ext uri="{BB962C8B-B14F-4D97-AF65-F5344CB8AC3E}">
        <p14:creationId xmlns:p14="http://schemas.microsoft.com/office/powerpoint/2010/main" val="2658350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4C17E72-AE2D-1765-2F70-FCE5FC9E5FEF}"/>
              </a:ext>
            </a:extLst>
          </p:cNvPr>
          <p:cNvSpPr txBox="1"/>
          <p:nvPr/>
        </p:nvSpPr>
        <p:spPr>
          <a:xfrm>
            <a:off x="655092" y="1378537"/>
            <a:ext cx="16745804" cy="7225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ES" sz="2400" b="1" dirty="0"/>
              <a:t>Conversión de AFN a AFD</a:t>
            </a:r>
          </a:p>
          <a:p>
            <a:pPr>
              <a:lnSpc>
                <a:spcPct val="150000"/>
              </a:lnSpc>
              <a:buNone/>
            </a:pPr>
            <a:r>
              <a:rPr lang="es-ES" sz="2400" b="1" dirty="0"/>
              <a:t>¿Por qué es necesaria esta conversión?</a:t>
            </a:r>
          </a:p>
          <a:p>
            <a:pPr>
              <a:lnSpc>
                <a:spcPct val="150000"/>
              </a:lnSpc>
              <a:buNone/>
            </a:pPr>
            <a:r>
              <a:rPr lang="es-ES" sz="2400" dirty="0"/>
              <a:t>La minimización se aplica únicamente a </a:t>
            </a:r>
            <a:r>
              <a:rPr lang="es-ES" sz="2400" b="1" dirty="0"/>
              <a:t>Autómatas Finitos Deterministas (AFD)</a:t>
            </a:r>
            <a:r>
              <a:rPr lang="es-ES" sz="2400" dirty="0"/>
              <a:t>. Si tenemos un </a:t>
            </a:r>
            <a:r>
              <a:rPr lang="es-ES" sz="2400" b="1" dirty="0"/>
              <a:t>Autómata Finito No Determinista (AFN)</a:t>
            </a:r>
            <a:r>
              <a:rPr lang="es-ES" sz="2400" dirty="0"/>
              <a:t>, primero debemos convertirlo a AFD.</a:t>
            </a:r>
          </a:p>
          <a:p>
            <a:pPr>
              <a:lnSpc>
                <a:spcPct val="150000"/>
              </a:lnSpc>
              <a:buNone/>
            </a:pPr>
            <a:r>
              <a:rPr lang="es-ES" sz="2400" b="1" dirty="0"/>
              <a:t>Diferencias Clave AFN vs AFD</a:t>
            </a:r>
          </a:p>
          <a:p>
            <a:pPr>
              <a:lnSpc>
                <a:spcPct val="150000"/>
              </a:lnSpc>
              <a:buNone/>
            </a:pPr>
            <a:r>
              <a:rPr lang="es-ES" sz="2400" b="1" dirty="0"/>
              <a:t>AFN (No Determinista)</a:t>
            </a:r>
            <a:r>
              <a:rPr lang="es-ES" sz="2400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Puede tener múltiples transiciones para el mismo símbolo desde un estado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Puede tener transiciones ε (épsilon)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Un estado puede transitar a varios estados simultáneamente</a:t>
            </a:r>
          </a:p>
          <a:p>
            <a:pPr>
              <a:lnSpc>
                <a:spcPct val="150000"/>
              </a:lnSpc>
              <a:buNone/>
            </a:pPr>
            <a:r>
              <a:rPr lang="es-ES" sz="2400" b="1" dirty="0"/>
              <a:t>AFD (Determinista)</a:t>
            </a:r>
            <a:r>
              <a:rPr lang="es-ES" sz="2400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Desde cada estado, hay exactamente una transición para cada símbolo del alfabeto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No tiene transiciones ε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/>
              <a:t>La ejecución es única y predecible</a:t>
            </a:r>
          </a:p>
        </p:txBody>
      </p:sp>
    </p:spTree>
    <p:extLst>
      <p:ext uri="{BB962C8B-B14F-4D97-AF65-F5344CB8AC3E}">
        <p14:creationId xmlns:p14="http://schemas.microsoft.com/office/powerpoint/2010/main" val="3718516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64D13D0-D0C1-B218-007C-0FD9ACEC0B5F}"/>
              </a:ext>
            </a:extLst>
          </p:cNvPr>
          <p:cNvSpPr txBox="1"/>
          <p:nvPr/>
        </p:nvSpPr>
        <p:spPr>
          <a:xfrm>
            <a:off x="1037229" y="414433"/>
            <a:ext cx="14698639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ES" sz="1800" b="1" dirty="0"/>
              <a:t>Algoritmo de Conversión AFN → AFD</a:t>
            </a:r>
          </a:p>
          <a:p>
            <a:pPr>
              <a:lnSpc>
                <a:spcPct val="150000"/>
              </a:lnSpc>
              <a:buNone/>
            </a:pPr>
            <a:r>
              <a:rPr lang="es-ES" sz="1800" b="1" dirty="0"/>
              <a:t>Paso 1: Construcción de Subconjuntos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s-ES" sz="1800" b="1" dirty="0"/>
              <a:t>Estado inicial del AFD</a:t>
            </a:r>
            <a:r>
              <a:rPr lang="es-ES" sz="1800" dirty="0"/>
              <a:t>: Clausura-ε del estado inicial del AFN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s-ES" sz="1800" b="1" dirty="0"/>
              <a:t>Para cada nuevo estado del AFD</a:t>
            </a:r>
            <a:r>
              <a:rPr lang="es-ES" sz="1800" dirty="0"/>
              <a:t>: Calcular transiciones para cada símbolo del alfabeto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s-ES" sz="1800" b="1" dirty="0"/>
              <a:t>Crear nuevos estados</a:t>
            </a:r>
            <a:r>
              <a:rPr lang="es-ES" sz="1800" dirty="0"/>
              <a:t>: Si la transición lleva a un conjunto no visto antes</a:t>
            </a:r>
          </a:p>
          <a:p>
            <a:pPr>
              <a:lnSpc>
                <a:spcPct val="150000"/>
              </a:lnSpc>
              <a:buNone/>
            </a:pPr>
            <a:r>
              <a:rPr lang="es-ES" sz="1800" b="1" dirty="0"/>
              <a:t>Paso 2: Cálculo de Transiciones</a:t>
            </a:r>
          </a:p>
          <a:p>
            <a:pPr>
              <a:lnSpc>
                <a:spcPct val="150000"/>
              </a:lnSpc>
              <a:buNone/>
            </a:pPr>
            <a:r>
              <a:rPr lang="es-ES" sz="1800" dirty="0"/>
              <a:t>Para cada estado S del AFD y símbolo a ∈ Σ: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886368-C232-1378-1D2D-9D61BA71A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643" y="3531293"/>
            <a:ext cx="4516381" cy="103948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3C5EADC-67D6-A527-02CA-ED6710840301}"/>
              </a:ext>
            </a:extLst>
          </p:cNvPr>
          <p:cNvSpPr txBox="1"/>
          <p:nvPr/>
        </p:nvSpPr>
        <p:spPr>
          <a:xfrm>
            <a:off x="1037229" y="5024573"/>
            <a:ext cx="14029899" cy="4847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ES" sz="1600" b="1" dirty="0"/>
              <a:t>Paso 3: Determinación de Estados Finales</a:t>
            </a:r>
          </a:p>
          <a:p>
            <a:pPr>
              <a:lnSpc>
                <a:spcPct val="150000"/>
              </a:lnSpc>
              <a:buNone/>
            </a:pPr>
            <a:r>
              <a:rPr lang="es-ES" sz="1600" dirty="0"/>
              <a:t>Un estado del AFD es final si contiene al menos un estado final del AFN original.</a:t>
            </a:r>
          </a:p>
          <a:p>
            <a:pPr>
              <a:lnSpc>
                <a:spcPct val="150000"/>
              </a:lnSpc>
              <a:buNone/>
            </a:pPr>
            <a:r>
              <a:rPr lang="es-ES" sz="1600" b="1" dirty="0"/>
              <a:t>Ejemplo Práctico de Conversión</a:t>
            </a:r>
          </a:p>
          <a:p>
            <a:pPr>
              <a:lnSpc>
                <a:spcPct val="150000"/>
              </a:lnSpc>
              <a:buNone/>
            </a:pPr>
            <a:r>
              <a:rPr lang="es-ES" sz="1600" b="1" dirty="0"/>
              <a:t>AFN Original</a:t>
            </a:r>
            <a:r>
              <a:rPr lang="es-ES" sz="1600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Estados: {q0, q1, q2}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Alfabeto: {0, 1}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Estado inicial: q0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Estados finales: {q2}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Transiciones incluyen ε-transiciones</a:t>
            </a:r>
          </a:p>
          <a:p>
            <a:pPr>
              <a:lnSpc>
                <a:spcPct val="150000"/>
              </a:lnSpc>
              <a:buNone/>
            </a:pPr>
            <a:r>
              <a:rPr lang="es-ES" sz="1600" b="1" dirty="0"/>
              <a:t>AFD Resultante</a:t>
            </a:r>
            <a:r>
              <a:rPr lang="es-ES" sz="1600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Estados: {A, B, C} donde cada estado representa un conjunto de estados del AFN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Misma funcionalidad pero comportamiento determinista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Base para aplicar minimización</a:t>
            </a:r>
          </a:p>
        </p:txBody>
      </p:sp>
    </p:spTree>
    <p:extLst>
      <p:ext uri="{BB962C8B-B14F-4D97-AF65-F5344CB8AC3E}">
        <p14:creationId xmlns:p14="http://schemas.microsoft.com/office/powerpoint/2010/main" val="2496161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5B68361-6980-02E4-A151-A25D7FD2B31D}"/>
              </a:ext>
            </a:extLst>
          </p:cNvPr>
          <p:cNvSpPr txBox="1"/>
          <p:nvPr/>
        </p:nvSpPr>
        <p:spPr>
          <a:xfrm>
            <a:off x="777923" y="313056"/>
            <a:ext cx="114504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000" b="1" dirty="0"/>
              <a:t>Procedimiento Detallado AFN a AFD</a:t>
            </a:r>
          </a:p>
          <a:p>
            <a:pPr>
              <a:buNone/>
            </a:pPr>
            <a:r>
              <a:rPr lang="es-ES" sz="2000" b="1" dirty="0"/>
              <a:t>Algoritmo de Construcción de Subconjuntos</a:t>
            </a:r>
          </a:p>
          <a:p>
            <a:pPr>
              <a:buNone/>
            </a:pPr>
            <a:r>
              <a:rPr lang="es-ES" sz="2000" b="1" dirty="0"/>
              <a:t>Estructura de Datos Necesaria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366053D-002A-10D4-C8B2-B8C2C89EC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101" y="1328719"/>
            <a:ext cx="5450476" cy="212356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814D677-42AB-59C7-6AEE-03A5AFD20B49}"/>
              </a:ext>
            </a:extLst>
          </p:cNvPr>
          <p:cNvSpPr txBox="1"/>
          <p:nvPr/>
        </p:nvSpPr>
        <p:spPr>
          <a:xfrm>
            <a:off x="777923" y="3926793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sz="2000" b="1" dirty="0"/>
              <a:t>Pseudocódigo del Algoritmo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E7C8BE7-7F93-8857-0825-997A312C5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923" y="4467943"/>
            <a:ext cx="5495369" cy="452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723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97EF886-0DB6-8635-479D-1D24A8CB9838}"/>
              </a:ext>
            </a:extLst>
          </p:cNvPr>
          <p:cNvSpPr txBox="1"/>
          <p:nvPr/>
        </p:nvSpPr>
        <p:spPr>
          <a:xfrm>
            <a:off x="832513" y="475369"/>
            <a:ext cx="11655188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ES" sz="2000" b="1" dirty="0"/>
              <a:t>Funciones Auxiliares</a:t>
            </a:r>
          </a:p>
          <a:p>
            <a:pPr>
              <a:lnSpc>
                <a:spcPct val="150000"/>
              </a:lnSpc>
              <a:buNone/>
            </a:pPr>
            <a:r>
              <a:rPr lang="es-ES" sz="2000" b="1" dirty="0" err="1"/>
              <a:t>Move</a:t>
            </a:r>
            <a:r>
              <a:rPr lang="es-ES" sz="2000" b="1" dirty="0"/>
              <a:t>(T, a): Conjunto de estados alcanzables desde algún estado en T leyendo símbolo 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3142087-89EA-7F62-BDF0-C0A482E35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858" y="1734279"/>
            <a:ext cx="6006111" cy="111741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352DBCC-5882-68BE-59F8-0D777B85FACE}"/>
              </a:ext>
            </a:extLst>
          </p:cNvPr>
          <p:cNvSpPr txBox="1"/>
          <p:nvPr/>
        </p:nvSpPr>
        <p:spPr>
          <a:xfrm>
            <a:off x="832513" y="3558304"/>
            <a:ext cx="11259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/>
              <a:t>Clausura-ε(T): Conjunto de estados alcanzables desde T usando solo transiciones ε</a:t>
            </a:r>
            <a:endParaRPr lang="es-GT" sz="2000" b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1E893B1-28BB-CB36-C1AC-549A1A6A3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168" y="4424216"/>
            <a:ext cx="7506748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07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85943743-B225-D8EE-F3F6-5B93598D8A72}"/>
              </a:ext>
            </a:extLst>
          </p:cNvPr>
          <p:cNvSpPr txBox="1"/>
          <p:nvPr/>
        </p:nvSpPr>
        <p:spPr>
          <a:xfrm>
            <a:off x="859809" y="298398"/>
            <a:ext cx="14725934" cy="9730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GT" sz="2000" b="1" dirty="0"/>
              <a:t>Ejemplo Paso a Paso</a:t>
            </a:r>
          </a:p>
          <a:p>
            <a:pPr>
              <a:lnSpc>
                <a:spcPct val="150000"/>
              </a:lnSpc>
              <a:buNone/>
            </a:pPr>
            <a:r>
              <a:rPr lang="es-GT" sz="2000" b="1" dirty="0"/>
              <a:t>AFN de entrada</a:t>
            </a:r>
            <a:r>
              <a:rPr lang="es-GT" sz="2000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dirty="0"/>
              <a:t>Q = {q0, q1, q2}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/>
              <a:t>Σ = {0, 1}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dirty="0"/>
              <a:t>Estado inicial: q0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dirty="0"/>
              <a:t>Estados finales: {q2}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dirty="0"/>
              <a:t>Transiciones: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/>
              <a:t>δ(</a:t>
            </a:r>
            <a:r>
              <a:rPr lang="es-GT" sz="2000" dirty="0"/>
              <a:t>q0, </a:t>
            </a:r>
            <a:r>
              <a:rPr lang="el-GR" sz="2000" dirty="0"/>
              <a:t>ε) = {</a:t>
            </a:r>
            <a:r>
              <a:rPr lang="es-GT" sz="2000" dirty="0"/>
              <a:t>q1}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/>
              <a:t>δ(</a:t>
            </a:r>
            <a:r>
              <a:rPr lang="es-GT" sz="2000" dirty="0"/>
              <a:t>q0, 0) = {q0}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/>
              <a:t>δ(</a:t>
            </a:r>
            <a:r>
              <a:rPr lang="es-GT" sz="2000" dirty="0"/>
              <a:t>q1, 1) = {q2}</a:t>
            </a:r>
          </a:p>
          <a:p>
            <a:pPr>
              <a:lnSpc>
                <a:spcPct val="150000"/>
              </a:lnSpc>
              <a:buNone/>
            </a:pPr>
            <a:r>
              <a:rPr lang="es-GT" sz="2000" b="1" dirty="0"/>
              <a:t>Construcción del AFD</a:t>
            </a:r>
            <a:r>
              <a:rPr lang="es-GT" sz="2000" dirty="0"/>
              <a:t>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s-GT" sz="2000" b="1" dirty="0"/>
              <a:t>Estado inicial A</a:t>
            </a:r>
            <a:r>
              <a:rPr lang="es-GT" sz="2000" dirty="0"/>
              <a:t>: Clausura-</a:t>
            </a:r>
            <a:r>
              <a:rPr lang="el-GR" sz="2000" dirty="0"/>
              <a:t>ε({</a:t>
            </a:r>
            <a:r>
              <a:rPr lang="es-GT" sz="2000" dirty="0"/>
              <a:t>q0}) = {q0, q1}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s-GT" sz="2000" b="1" dirty="0"/>
              <a:t>Desde A con '0'</a:t>
            </a:r>
            <a:r>
              <a:rPr lang="es-GT" sz="2000" dirty="0"/>
              <a:t>: </a:t>
            </a:r>
            <a:r>
              <a:rPr lang="es-GT" sz="2000" dirty="0" err="1"/>
              <a:t>Move</a:t>
            </a:r>
            <a:r>
              <a:rPr lang="es-GT" sz="2000" dirty="0"/>
              <a:t>({q0, q1}, 0) = {q0} → Clausura-</a:t>
            </a:r>
            <a:r>
              <a:rPr lang="el-GR" sz="2000" dirty="0"/>
              <a:t>ε({</a:t>
            </a:r>
            <a:r>
              <a:rPr lang="es-GT" sz="2000" dirty="0"/>
              <a:t>q0}) = {q0, q1} = A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s-GT" sz="2000" b="1" dirty="0"/>
              <a:t>Desde A con '1'</a:t>
            </a:r>
            <a:r>
              <a:rPr lang="es-GT" sz="2000" dirty="0"/>
              <a:t>: </a:t>
            </a:r>
            <a:r>
              <a:rPr lang="es-GT" sz="2000" dirty="0" err="1"/>
              <a:t>Move</a:t>
            </a:r>
            <a:r>
              <a:rPr lang="es-GT" sz="2000" dirty="0"/>
              <a:t>({q0, q1}, 1) = {q2} → Clausura-</a:t>
            </a:r>
            <a:r>
              <a:rPr lang="el-GR" sz="2000" dirty="0"/>
              <a:t>ε({</a:t>
            </a:r>
            <a:r>
              <a:rPr lang="es-GT" sz="2000" dirty="0"/>
              <a:t>q2}) = {q2} = B (nuevo estado)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s-GT" sz="2000" b="1" dirty="0"/>
              <a:t>Desde B con '0'</a:t>
            </a:r>
            <a:r>
              <a:rPr lang="es-GT" sz="2000" dirty="0"/>
              <a:t>: </a:t>
            </a:r>
            <a:r>
              <a:rPr lang="es-GT" sz="2000" dirty="0" err="1"/>
              <a:t>Move</a:t>
            </a:r>
            <a:r>
              <a:rPr lang="es-GT" sz="2000" dirty="0"/>
              <a:t>({q2}, 0) = ∅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s-GT" sz="2000" b="1" dirty="0"/>
              <a:t>Desde B con '1'</a:t>
            </a:r>
            <a:r>
              <a:rPr lang="es-GT" sz="2000" dirty="0"/>
              <a:t>: </a:t>
            </a:r>
            <a:r>
              <a:rPr lang="es-GT" sz="2000" dirty="0" err="1"/>
              <a:t>Move</a:t>
            </a:r>
            <a:r>
              <a:rPr lang="es-GT" sz="2000" dirty="0"/>
              <a:t>({q2}, 1) = ∅</a:t>
            </a:r>
          </a:p>
          <a:p>
            <a:pPr>
              <a:lnSpc>
                <a:spcPct val="150000"/>
              </a:lnSpc>
              <a:buNone/>
            </a:pPr>
            <a:r>
              <a:rPr lang="es-GT" sz="2000" b="1" dirty="0"/>
              <a:t>AFD resultante</a:t>
            </a:r>
            <a:r>
              <a:rPr lang="es-GT" sz="2000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dirty="0"/>
              <a:t>Estados: {A, B}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dirty="0"/>
              <a:t>A = {q0, q1} (estado inicial)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dirty="0"/>
              <a:t>B = {q2} (estado final)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GT" sz="2000" dirty="0"/>
              <a:t>Transiciones: </a:t>
            </a:r>
            <a:r>
              <a:rPr lang="el-GR" sz="2000" dirty="0"/>
              <a:t>δ(</a:t>
            </a:r>
            <a:r>
              <a:rPr lang="es-GT" sz="2000" dirty="0"/>
              <a:t>A, 0) = A, </a:t>
            </a:r>
            <a:r>
              <a:rPr lang="el-GR" sz="2000" dirty="0"/>
              <a:t>δ(</a:t>
            </a:r>
            <a:r>
              <a:rPr lang="es-GT" sz="2000" dirty="0"/>
              <a:t>A, 1) = B, </a:t>
            </a:r>
            <a:r>
              <a:rPr lang="el-GR" sz="2000" dirty="0"/>
              <a:t>δ(</a:t>
            </a:r>
            <a:r>
              <a:rPr lang="es-GT" sz="2000" dirty="0"/>
              <a:t>B, 0) = ∅, </a:t>
            </a:r>
            <a:r>
              <a:rPr lang="el-GR" sz="2000" dirty="0"/>
              <a:t>δ(</a:t>
            </a:r>
            <a:r>
              <a:rPr lang="es-GT" sz="2000" dirty="0"/>
              <a:t>B, 1) = ∅</a:t>
            </a:r>
          </a:p>
        </p:txBody>
      </p:sp>
    </p:spTree>
    <p:extLst>
      <p:ext uri="{BB962C8B-B14F-4D97-AF65-F5344CB8AC3E}">
        <p14:creationId xmlns:p14="http://schemas.microsoft.com/office/powerpoint/2010/main" val="1284830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B051A4BA-30D2-1850-75FF-7797895F6E69}"/>
              </a:ext>
            </a:extLst>
          </p:cNvPr>
          <p:cNvSpPr txBox="1"/>
          <p:nvPr/>
        </p:nvSpPr>
        <p:spPr>
          <a:xfrm>
            <a:off x="723332" y="311408"/>
            <a:ext cx="15858698" cy="9730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ES" sz="2000" b="1" dirty="0"/>
              <a:t>Conceptos Clave de Minimización</a:t>
            </a:r>
          </a:p>
          <a:p>
            <a:pPr>
              <a:lnSpc>
                <a:spcPct val="150000"/>
              </a:lnSpc>
              <a:buNone/>
            </a:pPr>
            <a:r>
              <a:rPr lang="es-ES" sz="2000" b="1" dirty="0"/>
              <a:t>¿Qué es la Minimización de AFD?</a:t>
            </a:r>
          </a:p>
          <a:p>
            <a:pPr>
              <a:lnSpc>
                <a:spcPct val="150000"/>
              </a:lnSpc>
              <a:buNone/>
            </a:pPr>
            <a:r>
              <a:rPr lang="es-ES" sz="2000" dirty="0"/>
              <a:t>La </a:t>
            </a:r>
            <a:r>
              <a:rPr lang="es-ES" sz="2000" b="1" dirty="0"/>
              <a:t>minimización</a:t>
            </a:r>
            <a:r>
              <a:rPr lang="es-ES" sz="2000" dirty="0"/>
              <a:t> es el proceso de reducir un AFD al menor número posible de estados, manteniendo el mismo lenguaje reconocido.</a:t>
            </a:r>
          </a:p>
          <a:p>
            <a:pPr>
              <a:lnSpc>
                <a:spcPct val="150000"/>
              </a:lnSpc>
              <a:buNone/>
            </a:pPr>
            <a:r>
              <a:rPr lang="es-ES" sz="2000" b="1" dirty="0"/>
              <a:t>Objetivos de la Minimización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s-ES" sz="2000" b="1" dirty="0"/>
              <a:t>Eficiencia de memoria</a:t>
            </a:r>
            <a:r>
              <a:rPr lang="es-ES" sz="2000" dirty="0"/>
              <a:t>: Menos estados requieren menos almacenamiento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s-ES" sz="2000" b="1" dirty="0"/>
              <a:t>Velocidad de procesamiento</a:t>
            </a:r>
            <a:r>
              <a:rPr lang="es-ES" sz="2000" dirty="0"/>
              <a:t>: Menos estados significan menos comparaciones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s-ES" sz="2000" b="1" dirty="0"/>
              <a:t>Simplicidad</a:t>
            </a:r>
            <a:r>
              <a:rPr lang="es-ES" sz="2000" dirty="0"/>
              <a:t>: Autómatas más fáciles de entender y mantener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s-ES" sz="2000" b="1" dirty="0"/>
              <a:t>Optimalidad</a:t>
            </a:r>
            <a:r>
              <a:rPr lang="es-ES" sz="2000" dirty="0"/>
              <a:t>: Garantizar que no existe AFD más pequeño para el mismo lenguaje</a:t>
            </a:r>
          </a:p>
          <a:p>
            <a:pPr>
              <a:lnSpc>
                <a:spcPct val="150000"/>
              </a:lnSpc>
              <a:buNone/>
            </a:pPr>
            <a:r>
              <a:rPr lang="es-ES" sz="2000" b="1" dirty="0"/>
              <a:t>Métodos Principales de Minimización</a:t>
            </a:r>
          </a:p>
          <a:p>
            <a:pPr>
              <a:lnSpc>
                <a:spcPct val="150000"/>
              </a:lnSpc>
              <a:buNone/>
            </a:pPr>
            <a:r>
              <a:rPr lang="es-ES" sz="2000" b="1" dirty="0"/>
              <a:t>1. Método de Estados Equivalentes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Principio</a:t>
            </a:r>
            <a:r>
              <a:rPr lang="es-ES" sz="2000" dirty="0"/>
              <a:t>: Dos estados son equivalentes si producen el mismo comportamiento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Criterio</a:t>
            </a:r>
            <a:r>
              <a:rPr lang="es-ES" sz="2000" dirty="0"/>
              <a:t>: Estados p y q son equivalentes si para toda cadena w, δ(</a:t>
            </a:r>
            <a:r>
              <a:rPr lang="es-ES" sz="2000" dirty="0" err="1"/>
              <a:t>p,w</a:t>
            </a:r>
            <a:r>
              <a:rPr lang="es-ES" sz="2000" dirty="0"/>
              <a:t>) y δ(</a:t>
            </a:r>
            <a:r>
              <a:rPr lang="es-ES" sz="2000" dirty="0" err="1"/>
              <a:t>q,w</a:t>
            </a:r>
            <a:r>
              <a:rPr lang="es-ES" sz="2000" dirty="0"/>
              <a:t>) llevan ambos a estados finales o ambos a estados no finales</a:t>
            </a:r>
          </a:p>
          <a:p>
            <a:pPr>
              <a:lnSpc>
                <a:spcPct val="150000"/>
              </a:lnSpc>
              <a:buNone/>
            </a:pPr>
            <a:r>
              <a:rPr lang="es-ES" sz="2000" b="1" dirty="0"/>
              <a:t>2. Teorema de </a:t>
            </a:r>
            <a:r>
              <a:rPr lang="es-ES" sz="2000" b="1" dirty="0" err="1"/>
              <a:t>Myhill-Nerode</a:t>
            </a:r>
            <a:endParaRPr lang="es-ES" sz="20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Fundamento teórico</a:t>
            </a:r>
            <a:r>
              <a:rPr lang="es-ES" sz="2000" dirty="0"/>
              <a:t>: Proporciona base matemática para la minimización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Garantía</a:t>
            </a:r>
            <a:r>
              <a:rPr lang="es-ES" sz="2000" dirty="0"/>
              <a:t>: El AFD resultante tiene el mínimo número de estados posible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Aplicación</a:t>
            </a:r>
            <a:r>
              <a:rPr lang="es-ES" sz="2000" dirty="0"/>
              <a:t>: Define cuando dos cadenas son equivalentes respecto al lenguaje</a:t>
            </a:r>
          </a:p>
          <a:p>
            <a:pPr>
              <a:lnSpc>
                <a:spcPct val="150000"/>
              </a:lnSpc>
              <a:buNone/>
            </a:pPr>
            <a:r>
              <a:rPr lang="es-ES" sz="2000" b="1" dirty="0"/>
              <a:t>3. Algoritmo de Particiones Sucesivas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Estrategia</a:t>
            </a:r>
            <a:r>
              <a:rPr lang="es-ES" sz="2000" dirty="0"/>
              <a:t>: Dividir estados en grupos progresivamente más refinados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Proceso iterativo</a:t>
            </a:r>
            <a:r>
              <a:rPr lang="es-ES" sz="2000" dirty="0"/>
              <a:t>: Continuar hasta que no se puedan hacer más divisiones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Eficiencia</a:t>
            </a:r>
            <a:r>
              <a:rPr lang="es-ES" sz="2000" dirty="0"/>
              <a:t>: O(n²|Σ|) en el peor caso</a:t>
            </a:r>
          </a:p>
        </p:txBody>
      </p:sp>
    </p:spTree>
    <p:extLst>
      <p:ext uri="{BB962C8B-B14F-4D97-AF65-F5344CB8AC3E}">
        <p14:creationId xmlns:p14="http://schemas.microsoft.com/office/powerpoint/2010/main" val="241458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p5">
            <a:extLst>
              <a:ext uri="{FF2B5EF4-FFF2-40B4-BE49-F238E27FC236}">
                <a16:creationId xmlns:a16="http://schemas.microsoft.com/office/drawing/2014/main" id="{B5AC7A4B-E656-3AD6-5827-A0B759C465DC}"/>
              </a:ext>
            </a:extLst>
          </p:cNvPr>
          <p:cNvSpPr txBox="1"/>
          <p:nvPr/>
        </p:nvSpPr>
        <p:spPr>
          <a:xfrm>
            <a:off x="1374889" y="654364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CONVERSIÓN DE AFN A AFD</a:t>
            </a:r>
            <a:endParaRPr sz="1400" b="0" i="0" u="none" strike="noStrike" cap="none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3" name="Google Shape;150;p5">
            <a:extLst>
              <a:ext uri="{FF2B5EF4-FFF2-40B4-BE49-F238E27FC236}">
                <a16:creationId xmlns:a16="http://schemas.microsoft.com/office/drawing/2014/main" id="{BBDAF349-E002-E52E-F2BC-1772CF9AC02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84911" y="1861172"/>
            <a:ext cx="10371056" cy="74848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6551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6;p23">
            <a:extLst>
              <a:ext uri="{FF2B5EF4-FFF2-40B4-BE49-F238E27FC236}">
                <a16:creationId xmlns:a16="http://schemas.microsoft.com/office/drawing/2014/main" id="{C8F9CFE2-CEEC-7676-CF4E-9C3C0039015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40308" y="1347627"/>
            <a:ext cx="10507131" cy="7591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1238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2;p24">
            <a:extLst>
              <a:ext uri="{FF2B5EF4-FFF2-40B4-BE49-F238E27FC236}">
                <a16:creationId xmlns:a16="http://schemas.microsoft.com/office/drawing/2014/main" id="{5D0C0A30-087B-025B-D6F9-E2871A7BD3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58026" y="1255313"/>
            <a:ext cx="10171947" cy="72817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542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8;p25">
            <a:extLst>
              <a:ext uri="{FF2B5EF4-FFF2-40B4-BE49-F238E27FC236}">
                <a16:creationId xmlns:a16="http://schemas.microsoft.com/office/drawing/2014/main" id="{C8A4B66E-A238-9177-68AA-78FEF560814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000"/>
          <a:stretch/>
        </p:blipFill>
        <p:spPr>
          <a:xfrm>
            <a:off x="3962096" y="1326521"/>
            <a:ext cx="10363808" cy="74428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0541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4;p26">
            <a:extLst>
              <a:ext uri="{FF2B5EF4-FFF2-40B4-BE49-F238E27FC236}">
                <a16:creationId xmlns:a16="http://schemas.microsoft.com/office/drawing/2014/main" id="{0EF34F4E-C159-20AB-6F3D-64B17050EAE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8833" y="1714782"/>
            <a:ext cx="10389987" cy="75231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7317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80;p27">
            <a:extLst>
              <a:ext uri="{FF2B5EF4-FFF2-40B4-BE49-F238E27FC236}">
                <a16:creationId xmlns:a16="http://schemas.microsoft.com/office/drawing/2014/main" id="{E3D250B9-D08A-44A2-9D2F-D3AC46A7415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73190" y="2269085"/>
            <a:ext cx="9941620" cy="66836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6924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86;p28">
            <a:extLst>
              <a:ext uri="{FF2B5EF4-FFF2-40B4-BE49-F238E27FC236}">
                <a16:creationId xmlns:a16="http://schemas.microsoft.com/office/drawing/2014/main" id="{EFA2BF6B-C9F7-9305-A0ED-0CD6DA1D0C4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10222" y="1714782"/>
            <a:ext cx="10267556" cy="74292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286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92;p29">
            <a:extLst>
              <a:ext uri="{FF2B5EF4-FFF2-40B4-BE49-F238E27FC236}">
                <a16:creationId xmlns:a16="http://schemas.microsoft.com/office/drawing/2014/main" id="{7E1AF883-9B05-8812-B11F-F6CAAC094E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15108" y="1947855"/>
            <a:ext cx="10257783" cy="73432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8845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98;p30">
            <a:extLst>
              <a:ext uri="{FF2B5EF4-FFF2-40B4-BE49-F238E27FC236}">
                <a16:creationId xmlns:a16="http://schemas.microsoft.com/office/drawing/2014/main" id="{34362161-F5AC-43B9-DC98-8C53AADD28F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5257" y="1324607"/>
            <a:ext cx="10570852" cy="7637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3376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04;p31">
            <a:extLst>
              <a:ext uri="{FF2B5EF4-FFF2-40B4-BE49-F238E27FC236}">
                <a16:creationId xmlns:a16="http://schemas.microsoft.com/office/drawing/2014/main" id="{B3EEEDA3-F173-567D-B133-3100675395D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6275" y="1564424"/>
            <a:ext cx="9995450" cy="71581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747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10;p32">
            <a:extLst>
              <a:ext uri="{FF2B5EF4-FFF2-40B4-BE49-F238E27FC236}">
                <a16:creationId xmlns:a16="http://schemas.microsoft.com/office/drawing/2014/main" id="{FC2C476B-7C68-CE2C-C6F2-B9D270965B9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74674" y="2155208"/>
            <a:ext cx="12138652" cy="70202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0077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16;p33">
            <a:extLst>
              <a:ext uri="{FF2B5EF4-FFF2-40B4-BE49-F238E27FC236}">
                <a16:creationId xmlns:a16="http://schemas.microsoft.com/office/drawing/2014/main" id="{FC5A43DD-0202-30AF-C4D5-E5FC873743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1692"/>
          <a:stretch/>
        </p:blipFill>
        <p:spPr>
          <a:xfrm>
            <a:off x="2148450" y="2575165"/>
            <a:ext cx="13991100" cy="63551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2594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4905188" y="7894020"/>
            <a:ext cx="2825230" cy="2117151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" name="Google Shape;222;p6">
            <a:extLst>
              <a:ext uri="{FF2B5EF4-FFF2-40B4-BE49-F238E27FC236}">
                <a16:creationId xmlns:a16="http://schemas.microsoft.com/office/drawing/2014/main" id="{D23FEC27-6E25-1F15-B003-C7DFF52ABE20}"/>
              </a:ext>
            </a:extLst>
          </p:cNvPr>
          <p:cNvSpPr txBox="1"/>
          <p:nvPr/>
        </p:nvSpPr>
        <p:spPr>
          <a:xfrm>
            <a:off x="898777" y="2392980"/>
            <a:ext cx="15616990" cy="620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minimizar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autómata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finito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determinista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(AFD), se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pueden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seguir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varios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métodos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, entre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cuales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destacan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200" dirty="0"/>
          </a:p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400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r>
              <a:rPr lang="en-US" sz="2400" b="1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b="1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Minimización</a:t>
            </a:r>
            <a:r>
              <a:rPr lang="en-US" sz="2400" b="1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Consiste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encontrar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todos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estados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equivalentes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sustituirlos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un solo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estado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. Se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utiliza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reducir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número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estados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autómata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determinista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 dirty="0"/>
          </a:p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Teorema</a:t>
            </a:r>
            <a:r>
              <a:rPr lang="en-US" sz="2400" b="1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 Myhill-</a:t>
            </a:r>
            <a:r>
              <a:rPr lang="en-US" sz="2400" b="1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Nerode</a:t>
            </a:r>
            <a:r>
              <a:rPr lang="en-US" sz="2400" b="1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Proporciona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método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minimizar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un AFD,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asegurando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autómata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tenga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número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mínimo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estados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 dirty="0"/>
          </a:p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Partición</a:t>
            </a:r>
            <a:r>
              <a:rPr lang="en-US" sz="2400" b="1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Inicial</a:t>
            </a:r>
            <a:r>
              <a:rPr lang="en-US" sz="2400" b="1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 divide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autómata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conjuntos de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estados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finales y no finales, y se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estudian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las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transiciones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separar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estados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que se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dirigen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a conjuntos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distintos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 dirty="0"/>
          </a:p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b="1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Minimización</a:t>
            </a:r>
            <a:r>
              <a:rPr lang="en-US" sz="2400" b="1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b="1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Estados</a:t>
            </a:r>
            <a:r>
              <a:rPr lang="en-US" sz="2400" b="1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lang="en-US" sz="2400" b="1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Alcanzables</a:t>
            </a:r>
            <a:r>
              <a:rPr lang="en-US" sz="2400" b="1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eliminan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estados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que no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pueden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ser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alcanzados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desde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estado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inicial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Estos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métodos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son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fundamentales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optimizar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autómatas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programación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y la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automatización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procesos</a:t>
            </a:r>
            <a:r>
              <a:rPr lang="en-US" sz="24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/>
        </p:nvSpPr>
        <p:spPr>
          <a:xfrm>
            <a:off x="2507390" y="1000125"/>
            <a:ext cx="13503300" cy="119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3000"/>
              </a:lnSpc>
              <a:buSzPts val="6900"/>
            </a:pPr>
            <a:r>
              <a:rPr lang="en-US" sz="6900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</a:t>
            </a:r>
            <a:endParaRPr sz="1400" b="0" i="0" u="none" strike="noStrike" cap="none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3945130" y="7833814"/>
            <a:ext cx="3510358" cy="2133045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" name="Google Shape;228;p7">
            <a:extLst>
              <a:ext uri="{FF2B5EF4-FFF2-40B4-BE49-F238E27FC236}">
                <a16:creationId xmlns:a16="http://schemas.microsoft.com/office/drawing/2014/main" id="{024045C3-944C-E83B-64A9-0FC723773611}"/>
              </a:ext>
            </a:extLst>
          </p:cNvPr>
          <p:cNvSpPr txBox="1"/>
          <p:nvPr/>
        </p:nvSpPr>
        <p:spPr>
          <a:xfrm>
            <a:off x="1340921" y="2896175"/>
            <a:ext cx="6911400" cy="180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Precisión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exactitud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pasos para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minimizar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autómatas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sin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perder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lenguaje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reconocido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29;p7">
            <a:extLst>
              <a:ext uri="{FF2B5EF4-FFF2-40B4-BE49-F238E27FC236}">
                <a16:creationId xmlns:a16="http://schemas.microsoft.com/office/drawing/2014/main" id="{4139C89B-EDDD-55A1-9EF6-0BFC6AB42048}"/>
              </a:ext>
            </a:extLst>
          </p:cNvPr>
          <p:cNvSpPr txBox="1"/>
          <p:nvPr/>
        </p:nvSpPr>
        <p:spPr>
          <a:xfrm>
            <a:off x="10247779" y="2896175"/>
            <a:ext cx="66993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Lógica estructurada: Aborda la minimización usando razonamiento paso a paso y organizado.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30;p7">
            <a:extLst>
              <a:ext uri="{FF2B5EF4-FFF2-40B4-BE49-F238E27FC236}">
                <a16:creationId xmlns:a16="http://schemas.microsoft.com/office/drawing/2014/main" id="{83D054CB-9FA7-C772-D5ED-CD7025502765}"/>
              </a:ext>
            </a:extLst>
          </p:cNvPr>
          <p:cNvSpPr txBox="1"/>
          <p:nvPr/>
        </p:nvSpPr>
        <p:spPr>
          <a:xfrm>
            <a:off x="1340921" y="6425442"/>
            <a:ext cx="6911400" cy="180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Responsabilidad: Cumple con los ejercicios de minimización mostrando comprensión y esfuerzo.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31;p7">
            <a:extLst>
              <a:ext uri="{FF2B5EF4-FFF2-40B4-BE49-F238E27FC236}">
                <a16:creationId xmlns:a16="http://schemas.microsoft.com/office/drawing/2014/main" id="{092F8A37-ADA8-6442-E6C1-DB08823357EB}"/>
              </a:ext>
            </a:extLst>
          </p:cNvPr>
          <p:cNvSpPr txBox="1"/>
          <p:nvPr/>
        </p:nvSpPr>
        <p:spPr>
          <a:xfrm>
            <a:off x="10247779" y="6425442"/>
            <a:ext cx="6911400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Disciplina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Mantiene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constancia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revisión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estados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equivalentes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3447195" y="5334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pic>
        <p:nvPicPr>
          <p:cNvPr id="184" name="Google Shape;184;p8" title="Gemini_Generated_Image_k3gbyrk3gbyrk3g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7000174" cy="43614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7;p8">
            <a:extLst>
              <a:ext uri="{FF2B5EF4-FFF2-40B4-BE49-F238E27FC236}">
                <a16:creationId xmlns:a16="http://schemas.microsoft.com/office/drawing/2014/main" id="{00E6A492-9822-BFD4-4165-7AFDDE647DF3}"/>
              </a:ext>
            </a:extLst>
          </p:cNvPr>
          <p:cNvSpPr txBox="1"/>
          <p:nvPr/>
        </p:nvSpPr>
        <p:spPr>
          <a:xfrm>
            <a:off x="5688334" y="4132271"/>
            <a:ext cx="6911332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19"/>
              </a:lnSpc>
            </a:pPr>
            <a:r>
              <a:rPr lang="en-US" sz="3200" dirty="0"/>
              <a:t>"Compilers: Principles, Techniques, and Tools" - Aho, Sethi, Ullman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4f262177b_0_2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práctico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0" name="Google Shape;190;g364f262177b_0_2"/>
          <p:cNvSpPr/>
          <p:nvPr/>
        </p:nvSpPr>
        <p:spPr>
          <a:xfrm>
            <a:off x="13447195" y="5334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pic>
        <p:nvPicPr>
          <p:cNvPr id="192" name="Google Shape;192;g364f262177b_0_2" title="Gemini_Generated_Image_u2i06ou2i06ou2i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"/>
            <a:ext cx="4695574" cy="643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4afea4f63_0_148"/>
          <p:cNvSpPr txBox="1"/>
          <p:nvPr/>
        </p:nvSpPr>
        <p:spPr>
          <a:xfrm>
            <a:off x="2148439" y="40778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 lo aprendido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8" name="Google Shape;198;g364afea4f63_0_148" title="Gemini_Generated_Image_mopnfwmopnfwmopn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"/>
            <a:ext cx="4077824" cy="40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64afea4f63_0_148"/>
          <p:cNvSpPr/>
          <p:nvPr/>
        </p:nvSpPr>
        <p:spPr>
          <a:xfrm>
            <a:off x="13447195" y="5334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85e2d797db_0_12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g385e2d797db_0_12"/>
          <p:cNvGraphicFramePr/>
          <p:nvPr/>
        </p:nvGraphicFramePr>
        <p:xfrm>
          <a:off x="16900" y="1507250"/>
          <a:ext cx="10459750" cy="2803980"/>
        </p:xfrm>
        <a:graphic>
          <a:graphicData uri="http://schemas.openxmlformats.org/drawingml/2006/table">
            <a:tbl>
              <a:tblPr>
                <a:noFill/>
                <a:tableStyleId>{09D0D730-AD71-4C7B-A4B5-7AA99F169CB1}</a:tableStyleId>
              </a:tblPr>
              <a:tblGrid>
                <a:gridCol w="55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7" name="Google Shape;207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" name="Google Shape;209;g385e2d797db_0_12"/>
          <p:cNvGraphicFramePr/>
          <p:nvPr/>
        </p:nvGraphicFramePr>
        <p:xfrm>
          <a:off x="10656400" y="1940050"/>
          <a:ext cx="7381150" cy="2377260"/>
        </p:xfrm>
        <a:graphic>
          <a:graphicData uri="http://schemas.openxmlformats.org/drawingml/2006/table">
            <a:tbl>
              <a:tblPr>
                <a:noFill/>
                <a:tableStyleId>{09D0D730-AD71-4C7B-A4B5-7AA99F169CB1}</a:tableStyleId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1000" b="1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0" name="Google Shape;210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lang="en-US" sz="6099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endParaRPr sz="6099" b="0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765363" y="5966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24" name="Google Shape;224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1762</Words>
  <Application>Microsoft Office PowerPoint</Application>
  <PresentationFormat>Personalizado</PresentationFormat>
  <Paragraphs>163</Paragraphs>
  <Slides>33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1" baseType="lpstr">
      <vt:lpstr>Open Sans</vt:lpstr>
      <vt:lpstr>Lobster</vt:lpstr>
      <vt:lpstr>Montserrat</vt:lpstr>
      <vt:lpstr>Calibri</vt:lpstr>
      <vt:lpstr>Arial</vt:lpstr>
      <vt:lpstr>Pacifico</vt:lpstr>
      <vt:lpstr>Impact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Kev M</cp:lastModifiedBy>
  <cp:revision>4</cp:revision>
  <dcterms:created xsi:type="dcterms:W3CDTF">2006-08-16T00:00:00Z</dcterms:created>
  <dcterms:modified xsi:type="dcterms:W3CDTF">2025-11-07T01:45:46Z</dcterms:modified>
</cp:coreProperties>
</file>