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x="18288000" cy="10287000"/>
  <p:notesSz cx="6858000" cy="9144000"/>
  <p:embeddedFontLst>
    <p:embeddedFont>
      <p:font typeface="Open Sans Bold" charset="1" panose="00000000000000000000"/>
      <p:regular r:id="rId43"/>
    </p:embeddedFont>
    <p:embeddedFont>
      <p:font typeface="Arial MT Pro" charset="1" panose="020B0502020202020204"/>
      <p:regular r:id="rId45"/>
    </p:embeddedFont>
    <p:embeddedFont>
      <p:font typeface="Pacifico" charset="1" panose="00000500000000000000"/>
      <p:regular r:id="rId46"/>
    </p:embeddedFont>
    <p:embeddedFont>
      <p:font typeface="Arial MT Pro Bold" charset="1" panose="020B0802020202020204"/>
      <p:regular r:id="rId49"/>
    </p:embeddedFont>
    <p:embeddedFont>
      <p:font typeface="Arial MT Pro Italics" charset="1" panose="020B0502020202090204"/>
      <p:regular r:id="rId7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notesMasters/notesMaster1.xml" Type="http://schemas.openxmlformats.org/officeDocument/2006/relationships/notesMaster"/><Relationship Id="rId41" Target="theme/theme2.xml" Type="http://schemas.openxmlformats.org/officeDocument/2006/relationships/theme"/><Relationship Id="rId42" Target="notesSlides/notesSlide1.xml" Type="http://schemas.openxmlformats.org/officeDocument/2006/relationships/notesSlide"/><Relationship Id="rId43" Target="fonts/font43.fntdata" Type="http://schemas.openxmlformats.org/officeDocument/2006/relationships/font"/><Relationship Id="rId44" Target="notesSlides/notesSlide2.xml" Type="http://schemas.openxmlformats.org/officeDocument/2006/relationships/notesSlide"/><Relationship Id="rId45" Target="fonts/font45.fntdata" Type="http://schemas.openxmlformats.org/officeDocument/2006/relationships/font"/><Relationship Id="rId46" Target="fonts/font46.fntdata" Type="http://schemas.openxmlformats.org/officeDocument/2006/relationships/font"/><Relationship Id="rId47" Target="notesSlides/notesSlide3.xml" Type="http://schemas.openxmlformats.org/officeDocument/2006/relationships/notesSlide"/><Relationship Id="rId48" Target="notesSlides/notesSlide4.xml" Type="http://schemas.openxmlformats.org/officeDocument/2006/relationships/notesSlide"/><Relationship Id="rId49" Target="fonts/font49.fntdata" Type="http://schemas.openxmlformats.org/officeDocument/2006/relationships/font"/><Relationship Id="rId5" Target="tableStyles.xml" Type="http://schemas.openxmlformats.org/officeDocument/2006/relationships/tableStyles"/><Relationship Id="rId50" Target="notesSlides/notesSlide5.xml" Type="http://schemas.openxmlformats.org/officeDocument/2006/relationships/notesSlide"/><Relationship Id="rId51" Target="notesSlides/notesSlide6.xml" Type="http://schemas.openxmlformats.org/officeDocument/2006/relationships/notesSlide"/><Relationship Id="rId52" Target="notesSlides/notesSlide7.xml" Type="http://schemas.openxmlformats.org/officeDocument/2006/relationships/notesSlide"/><Relationship Id="rId53" Target="notesSlides/notesSlide8.xml" Type="http://schemas.openxmlformats.org/officeDocument/2006/relationships/notesSlide"/><Relationship Id="rId54" Target="notesSlides/notesSlide9.xml" Type="http://schemas.openxmlformats.org/officeDocument/2006/relationships/notesSlide"/><Relationship Id="rId55" Target="notesSlides/notesSlide10.xml" Type="http://schemas.openxmlformats.org/officeDocument/2006/relationships/notesSlide"/><Relationship Id="rId56" Target="notesSlides/notesSlide11.xml" Type="http://schemas.openxmlformats.org/officeDocument/2006/relationships/notesSlide"/><Relationship Id="rId57" Target="notesSlides/notesSlide12.xml" Type="http://schemas.openxmlformats.org/officeDocument/2006/relationships/notesSlide"/><Relationship Id="rId58" Target="notesSlides/notesSlide13.xml" Type="http://schemas.openxmlformats.org/officeDocument/2006/relationships/notesSlide"/><Relationship Id="rId59" Target="notesSlides/notesSlide14.xml" Type="http://schemas.openxmlformats.org/officeDocument/2006/relationships/notesSlide"/><Relationship Id="rId6" Target="slides/slide1.xml" Type="http://schemas.openxmlformats.org/officeDocument/2006/relationships/slide"/><Relationship Id="rId60" Target="notesSlides/notesSlide15.xml" Type="http://schemas.openxmlformats.org/officeDocument/2006/relationships/notesSlide"/><Relationship Id="rId61" Target="notesSlides/notesSlide16.xml" Type="http://schemas.openxmlformats.org/officeDocument/2006/relationships/notesSlide"/><Relationship Id="rId62" Target="notesSlides/notesSlide17.xml" Type="http://schemas.openxmlformats.org/officeDocument/2006/relationships/notesSlide"/><Relationship Id="rId63" Target="notesSlides/notesSlide18.xml" Type="http://schemas.openxmlformats.org/officeDocument/2006/relationships/notesSlide"/><Relationship Id="rId64" Target="notesSlides/notesSlide19.xml" Type="http://schemas.openxmlformats.org/officeDocument/2006/relationships/notesSlide"/><Relationship Id="rId65" Target="notesSlides/notesSlide20.xml" Type="http://schemas.openxmlformats.org/officeDocument/2006/relationships/notesSlide"/><Relationship Id="rId66" Target="notesSlides/notesSlide21.xml" Type="http://schemas.openxmlformats.org/officeDocument/2006/relationships/notesSlide"/><Relationship Id="rId67" Target="notesSlides/notesSlide22.xml" Type="http://schemas.openxmlformats.org/officeDocument/2006/relationships/notesSlide"/><Relationship Id="rId68" Target="notesSlides/notesSlide23.xml" Type="http://schemas.openxmlformats.org/officeDocument/2006/relationships/notesSlide"/><Relationship Id="rId69" Target="notesSlides/notesSlide24.xml" Type="http://schemas.openxmlformats.org/officeDocument/2006/relationships/notesSlide"/><Relationship Id="rId7" Target="slides/slide2.xml" Type="http://schemas.openxmlformats.org/officeDocument/2006/relationships/slide"/><Relationship Id="rId70" Target="notesSlides/notesSlide25.xml" Type="http://schemas.openxmlformats.org/officeDocument/2006/relationships/notesSlide"/><Relationship Id="rId71" Target="notesSlides/notesSlide26.xml" Type="http://schemas.openxmlformats.org/officeDocument/2006/relationships/notesSlide"/><Relationship Id="rId72" Target="notesSlides/notesSlide27.xml" Type="http://schemas.openxmlformats.org/officeDocument/2006/relationships/notesSlide"/><Relationship Id="rId73" Target="notesSlides/notesSlide28.xml" Type="http://schemas.openxmlformats.org/officeDocument/2006/relationships/notesSlide"/><Relationship Id="rId74" Target="notesSlides/notesSlide29.xml" Type="http://schemas.openxmlformats.org/officeDocument/2006/relationships/notesSlide"/><Relationship Id="rId75" Target="fonts/font75.fntdata" Type="http://schemas.openxmlformats.org/officeDocument/2006/relationships/font"/><Relationship Id="rId76" Target="notesSlides/notesSlide30.xml" Type="http://schemas.openxmlformats.org/officeDocument/2006/relationships/notesSlide"/><Relationship Id="rId77" Target="notesSlides/notesSlide31.xml" Type="http://schemas.openxmlformats.org/officeDocument/2006/relationships/notesSlide"/><Relationship Id="rId78" Target="notesSlides/notesSlide32.xml" Type="http://schemas.openxmlformats.org/officeDocument/2006/relationships/notesSlide"/><Relationship Id="rId79" Target="notesSlides/notesSlide33.xml" Type="http://schemas.openxmlformats.org/officeDocument/2006/relationships/notesSlide"/><Relationship Id="rId8" Target="slides/slide3.xml" Type="http://schemas.openxmlformats.org/officeDocument/2006/relationships/slide"/><Relationship Id="rId80" Target="notesSlides/notesSlide34.xml" Type="http://schemas.openxmlformats.org/officeDocument/2006/relationships/note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5.png" Type="http://schemas.openxmlformats.org/officeDocument/2006/relationships/image"/><Relationship Id="rId4"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6.png" Type="http://schemas.openxmlformats.org/officeDocument/2006/relationships/image"/><Relationship Id="rId4" Target="../media/image1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7.png" Type="http://schemas.openxmlformats.org/officeDocument/2006/relationships/image"/><Relationship Id="rId4" Target="../media/image1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8.png" Type="http://schemas.openxmlformats.org/officeDocument/2006/relationships/image"/><Relationship Id="rId4" Target="../media/image1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9.png" Type="http://schemas.openxmlformats.org/officeDocument/2006/relationships/image"/><Relationship Id="rId4" Target="../media/image2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2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2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2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24.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2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2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2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41309" y="0"/>
            <a:ext cx="5746691" cy="1711780"/>
            <a:chOff x="0" y="0"/>
            <a:chExt cx="7662255" cy="2282373"/>
          </a:xfrm>
        </p:grpSpPr>
        <p:sp>
          <p:nvSpPr>
            <p:cNvPr name="Freeform 3" id="3"/>
            <p:cNvSpPr/>
            <p:nvPr/>
          </p:nvSpPr>
          <p:spPr>
            <a:xfrm flipH="false" flipV="false" rot="0">
              <a:off x="0" y="0"/>
              <a:ext cx="7662291" cy="2282317"/>
            </a:xfrm>
            <a:custGeom>
              <a:avLst/>
              <a:gdLst/>
              <a:ahLst/>
              <a:cxnLst/>
              <a:rect r="r" b="b" t="t" l="l"/>
              <a:pathLst>
                <a:path h="2282317" w="7662291">
                  <a:moveTo>
                    <a:pt x="0" y="0"/>
                  </a:moveTo>
                  <a:lnTo>
                    <a:pt x="7662291" y="0"/>
                  </a:lnTo>
                  <a:lnTo>
                    <a:pt x="7662291" y="2282317"/>
                  </a:lnTo>
                  <a:lnTo>
                    <a:pt x="0" y="2282317"/>
                  </a:lnTo>
                  <a:lnTo>
                    <a:pt x="0" y="0"/>
                  </a:lnTo>
                  <a:close/>
                </a:path>
              </a:pathLst>
            </a:custGeom>
            <a:blipFill>
              <a:blip r:embed="rId3"/>
              <a:stretch>
                <a:fillRect l="0" t="0" r="0" b="-2"/>
              </a:stretch>
            </a:blipFill>
          </p:spPr>
        </p:sp>
      </p:grpSp>
      <p:sp>
        <p:nvSpPr>
          <p:cNvPr name="TextBox 4" id="4"/>
          <p:cNvSpPr txBox="true"/>
          <p:nvPr/>
        </p:nvSpPr>
        <p:spPr>
          <a:xfrm rot="0">
            <a:off x="1028700" y="6670675"/>
            <a:ext cx="12637001" cy="1092200"/>
          </a:xfrm>
          <a:prstGeom prst="rect">
            <a:avLst/>
          </a:prstGeom>
        </p:spPr>
        <p:txBody>
          <a:bodyPr anchor="t" rtlCol="false" tIns="0" lIns="0" bIns="0" rIns="0">
            <a:spAutoFit/>
          </a:bodyPr>
          <a:lstStyle/>
          <a:p>
            <a:pPr algn="l">
              <a:lnSpc>
                <a:spcPts val="8399"/>
              </a:lnSpc>
            </a:pPr>
            <a:r>
              <a:rPr lang="en-US" b="true" sz="4999">
                <a:solidFill>
                  <a:srgbClr val="131416"/>
                </a:solidFill>
                <a:latin typeface="Open Sans Bold"/>
                <a:ea typeface="Open Sans Bold"/>
                <a:cs typeface="Open Sans Bold"/>
                <a:sym typeface="Open Sans Bold"/>
              </a:rPr>
              <a:t>Lenguajes Formales y de Programación</a:t>
            </a:r>
          </a:p>
        </p:txBody>
      </p:sp>
      <p:sp>
        <p:nvSpPr>
          <p:cNvPr name="TextBox 5" id="5"/>
          <p:cNvSpPr txBox="true"/>
          <p:nvPr/>
        </p:nvSpPr>
        <p:spPr>
          <a:xfrm rot="0">
            <a:off x="4527852" y="3319729"/>
            <a:ext cx="7755133" cy="2401181"/>
          </a:xfrm>
          <a:prstGeom prst="rect">
            <a:avLst/>
          </a:prstGeom>
        </p:spPr>
        <p:txBody>
          <a:bodyPr anchor="t" rtlCol="false" tIns="0" lIns="0" bIns="0" rIns="0">
            <a:spAutoFit/>
          </a:bodyPr>
          <a:lstStyle/>
          <a:p>
            <a:pPr algn="ctr">
              <a:lnSpc>
                <a:spcPts val="15456"/>
              </a:lnSpc>
            </a:pPr>
            <a:r>
              <a:rPr lang="en-US" b="true" sz="9200">
                <a:solidFill>
                  <a:srgbClr val="131416"/>
                </a:solidFill>
                <a:latin typeface="Open Sans Bold"/>
                <a:ea typeface="Open Sans Bold"/>
                <a:cs typeface="Open Sans Bold"/>
                <a:sym typeface="Open Sans Bold"/>
              </a:rPr>
              <a:t>JavaScript</a:t>
            </a:r>
          </a:p>
        </p:txBody>
      </p:sp>
      <p:sp>
        <p:nvSpPr>
          <p:cNvPr name="TextBox 6" id="6"/>
          <p:cNvSpPr txBox="true"/>
          <p:nvPr/>
        </p:nvSpPr>
        <p:spPr>
          <a:xfrm rot="0">
            <a:off x="1028700" y="7972425"/>
            <a:ext cx="9650400" cy="498900"/>
          </a:xfrm>
          <a:prstGeom prst="rect">
            <a:avLst/>
          </a:prstGeom>
        </p:spPr>
        <p:txBody>
          <a:bodyPr anchor="t" rtlCol="false" tIns="0" lIns="0" bIns="0" rIns="0">
            <a:spAutoFit/>
          </a:bodyPr>
          <a:lstStyle/>
          <a:p>
            <a:pPr algn="l">
              <a:lnSpc>
                <a:spcPts val="4198"/>
              </a:lnSpc>
            </a:pPr>
            <a:r>
              <a:rPr lang="en-US" b="true" sz="2499">
                <a:solidFill>
                  <a:srgbClr val="131416"/>
                </a:solidFill>
                <a:latin typeface="Open Sans Bold"/>
                <a:ea typeface="Open Sans Bold"/>
                <a:cs typeface="Open Sans Bold"/>
                <a:sym typeface="Open Sans Bold"/>
              </a:rPr>
              <a:t>Escuela de Ingeniería de Ciencias Y Sistemas</a:t>
            </a:r>
          </a:p>
        </p:txBody>
      </p:sp>
      <p:sp>
        <p:nvSpPr>
          <p:cNvPr name="TextBox 7" id="7"/>
          <p:cNvSpPr txBox="true"/>
          <p:nvPr/>
        </p:nvSpPr>
        <p:spPr>
          <a:xfrm rot="0">
            <a:off x="1028700" y="8347075"/>
            <a:ext cx="4873200" cy="498900"/>
          </a:xfrm>
          <a:prstGeom prst="rect">
            <a:avLst/>
          </a:prstGeom>
        </p:spPr>
        <p:txBody>
          <a:bodyPr anchor="t" rtlCol="false" tIns="0" lIns="0" bIns="0" rIns="0">
            <a:spAutoFit/>
          </a:bodyPr>
          <a:lstStyle/>
          <a:p>
            <a:pPr algn="l">
              <a:lnSpc>
                <a:spcPts val="4198"/>
              </a:lnSpc>
            </a:pPr>
            <a:r>
              <a:rPr lang="en-US" b="true" sz="2499">
                <a:solidFill>
                  <a:srgbClr val="131416"/>
                </a:solidFill>
                <a:latin typeface="Open Sans Bold"/>
                <a:ea typeface="Open Sans Bold"/>
                <a:cs typeface="Open Sans Bold"/>
                <a:sym typeface="Open Sans Bold"/>
              </a:rPr>
              <a:t>Facultad de Ingeniería</a:t>
            </a:r>
          </a:p>
        </p:txBody>
      </p:sp>
      <p:sp>
        <p:nvSpPr>
          <p:cNvPr name="TextBox 8" id="8"/>
          <p:cNvSpPr txBox="true"/>
          <p:nvPr/>
        </p:nvSpPr>
        <p:spPr>
          <a:xfrm rot="0">
            <a:off x="1028700" y="8721725"/>
            <a:ext cx="8857200" cy="498900"/>
          </a:xfrm>
          <a:prstGeom prst="rect">
            <a:avLst/>
          </a:prstGeom>
        </p:spPr>
        <p:txBody>
          <a:bodyPr anchor="t" rtlCol="false" tIns="0" lIns="0" bIns="0" rIns="0">
            <a:spAutoFit/>
          </a:bodyPr>
          <a:lstStyle/>
          <a:p>
            <a:pPr algn="l">
              <a:lnSpc>
                <a:spcPts val="4198"/>
              </a:lnSpc>
            </a:pPr>
            <a:r>
              <a:rPr lang="en-US" b="true" sz="2499">
                <a:solidFill>
                  <a:srgbClr val="131416"/>
                </a:solidFill>
                <a:latin typeface="Open Sans Bold"/>
                <a:ea typeface="Open Sans Bold"/>
                <a:cs typeface="Open Sans Bold"/>
                <a:sym typeface="Open Sans Bold"/>
              </a:rPr>
              <a:t>Universidad de San Carlos de Guatemala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66989" y="3632154"/>
            <a:ext cx="4115190" cy="1267162"/>
            <a:chOff x="0" y="0"/>
            <a:chExt cx="5486920" cy="1689549"/>
          </a:xfrm>
        </p:grpSpPr>
        <p:sp>
          <p:nvSpPr>
            <p:cNvPr name="Freeform 3" id="3"/>
            <p:cNvSpPr/>
            <p:nvPr/>
          </p:nvSpPr>
          <p:spPr>
            <a:xfrm flipH="false" flipV="false" rot="0">
              <a:off x="0" y="0"/>
              <a:ext cx="5486908" cy="1689608"/>
            </a:xfrm>
            <a:custGeom>
              <a:avLst/>
              <a:gdLst/>
              <a:ahLst/>
              <a:cxnLst/>
              <a:rect r="r" b="b" t="t" l="l"/>
              <a:pathLst>
                <a:path h="1689608" w="5486908">
                  <a:moveTo>
                    <a:pt x="4458208" y="0"/>
                  </a:moveTo>
                  <a:lnTo>
                    <a:pt x="0" y="0"/>
                  </a:lnTo>
                  <a:lnTo>
                    <a:pt x="0" y="1689608"/>
                  </a:lnTo>
                  <a:lnTo>
                    <a:pt x="4458208" y="1689608"/>
                  </a:lnTo>
                  <a:lnTo>
                    <a:pt x="5486908" y="844804"/>
                  </a:lnTo>
                  <a:lnTo>
                    <a:pt x="4458208" y="0"/>
                  </a:lnTo>
                  <a:close/>
                </a:path>
              </a:pathLst>
            </a:custGeom>
            <a:solidFill>
              <a:srgbClr val="FFFFFF"/>
            </a:solidFill>
          </p:spPr>
        </p:sp>
      </p:grpSp>
      <p:grpSp>
        <p:nvGrpSpPr>
          <p:cNvPr name="Group 4" id="4"/>
          <p:cNvGrpSpPr/>
          <p:nvPr/>
        </p:nvGrpSpPr>
        <p:grpSpPr>
          <a:xfrm rot="0">
            <a:off x="1866989" y="3342832"/>
            <a:ext cx="3681207" cy="1556484"/>
            <a:chOff x="0" y="0"/>
            <a:chExt cx="4908276" cy="2075312"/>
          </a:xfrm>
        </p:grpSpPr>
        <p:sp>
          <p:nvSpPr>
            <p:cNvPr name="Freeform 5" id="5"/>
            <p:cNvSpPr/>
            <p:nvPr/>
          </p:nvSpPr>
          <p:spPr>
            <a:xfrm flipH="false" flipV="false" rot="0">
              <a:off x="0" y="0"/>
              <a:ext cx="4908276" cy="2075312"/>
            </a:xfrm>
            <a:custGeom>
              <a:avLst/>
              <a:gdLst/>
              <a:ahLst/>
              <a:cxnLst/>
              <a:rect r="r" b="b" t="t" l="l"/>
              <a:pathLst>
                <a:path h="2075312" w="4908276">
                  <a:moveTo>
                    <a:pt x="0" y="0"/>
                  </a:moveTo>
                  <a:lnTo>
                    <a:pt x="4908276" y="0"/>
                  </a:lnTo>
                  <a:lnTo>
                    <a:pt x="4908276" y="2075312"/>
                  </a:lnTo>
                  <a:lnTo>
                    <a:pt x="0" y="2075312"/>
                  </a:lnTo>
                  <a:close/>
                </a:path>
              </a:pathLst>
            </a:custGeom>
            <a:solidFill>
              <a:srgbClr val="000000">
                <a:alpha val="0"/>
              </a:srgbClr>
            </a:solidFill>
          </p:spPr>
        </p:sp>
        <p:sp>
          <p:nvSpPr>
            <p:cNvPr name="TextBox 6" id="6"/>
            <p:cNvSpPr txBox="true"/>
            <p:nvPr/>
          </p:nvSpPr>
          <p:spPr>
            <a:xfrm>
              <a:off x="0" y="-209550"/>
              <a:ext cx="4908276" cy="2284862"/>
            </a:xfrm>
            <a:prstGeom prst="rect">
              <a:avLst/>
            </a:prstGeom>
          </p:spPr>
          <p:txBody>
            <a:bodyPr anchor="ctr" rtlCol="false" tIns="0" lIns="0" bIns="0" rIns="0"/>
            <a:lstStyle/>
            <a:p>
              <a:pPr algn="ctr">
                <a:lnSpc>
                  <a:spcPts val="4971"/>
                </a:lnSpc>
              </a:pPr>
              <a:r>
                <a:rPr lang="en-US" sz="2799">
                  <a:solidFill>
                    <a:srgbClr val="000000"/>
                  </a:solidFill>
                  <a:latin typeface="Arial MT Pro"/>
                  <a:ea typeface="Arial MT Pro"/>
                  <a:cs typeface="Arial MT Pro"/>
                  <a:sym typeface="Arial MT Pro"/>
                </a:rPr>
                <a:t>RECORDATORIOS</a:t>
              </a:r>
            </a:p>
          </p:txBody>
        </p:sp>
      </p:grpSp>
      <p:grpSp>
        <p:nvGrpSpPr>
          <p:cNvPr name="Group 7" id="7"/>
          <p:cNvGrpSpPr/>
          <p:nvPr/>
        </p:nvGrpSpPr>
        <p:grpSpPr>
          <a:xfrm rot="0">
            <a:off x="651754" y="3758584"/>
            <a:ext cx="753892" cy="872928"/>
            <a:chOff x="0" y="0"/>
            <a:chExt cx="1005189" cy="1163904"/>
          </a:xfrm>
        </p:grpSpPr>
        <p:sp>
          <p:nvSpPr>
            <p:cNvPr name="Freeform 8" id="8"/>
            <p:cNvSpPr/>
            <p:nvPr/>
          </p:nvSpPr>
          <p:spPr>
            <a:xfrm flipH="false" flipV="false" rot="0">
              <a:off x="0" y="0"/>
              <a:ext cx="1005205" cy="1163955"/>
            </a:xfrm>
            <a:custGeom>
              <a:avLst/>
              <a:gdLst/>
              <a:ahLst/>
              <a:cxnLst/>
              <a:rect r="r" b="b" t="t" l="l"/>
              <a:pathLst>
                <a:path h="1163955" w="1005205">
                  <a:moveTo>
                    <a:pt x="0" y="0"/>
                  </a:moveTo>
                  <a:lnTo>
                    <a:pt x="1005205" y="0"/>
                  </a:lnTo>
                  <a:lnTo>
                    <a:pt x="1005205" y="1163955"/>
                  </a:lnTo>
                  <a:lnTo>
                    <a:pt x="0" y="1163955"/>
                  </a:lnTo>
                  <a:lnTo>
                    <a:pt x="0" y="0"/>
                  </a:lnTo>
                  <a:close/>
                </a:path>
              </a:pathLst>
            </a:custGeom>
            <a:blipFill>
              <a:blip r:embed="rId3"/>
              <a:stretch>
                <a:fillRect l="0" t="-36" r="1" b="-31"/>
              </a:stretch>
            </a:blipFill>
          </p:spPr>
        </p:sp>
      </p:grpSp>
      <p:grpSp>
        <p:nvGrpSpPr>
          <p:cNvPr name="Group 9" id="9"/>
          <p:cNvGrpSpPr/>
          <p:nvPr/>
        </p:nvGrpSpPr>
        <p:grpSpPr>
          <a:xfrm rot="0">
            <a:off x="11739805" y="5032666"/>
            <a:ext cx="5353646" cy="1267162"/>
            <a:chOff x="0" y="0"/>
            <a:chExt cx="7138195" cy="1689549"/>
          </a:xfrm>
        </p:grpSpPr>
        <p:sp>
          <p:nvSpPr>
            <p:cNvPr name="Freeform 10" id="10"/>
            <p:cNvSpPr/>
            <p:nvPr/>
          </p:nvSpPr>
          <p:spPr>
            <a:xfrm flipH="false" flipV="false" rot="0">
              <a:off x="0" y="0"/>
              <a:ext cx="7138162" cy="1689608"/>
            </a:xfrm>
            <a:custGeom>
              <a:avLst/>
              <a:gdLst/>
              <a:ahLst/>
              <a:cxnLst/>
              <a:rect r="r" b="b" t="t" l="l"/>
              <a:pathLst>
                <a:path h="1689608" w="7138162">
                  <a:moveTo>
                    <a:pt x="6109462" y="0"/>
                  </a:moveTo>
                  <a:lnTo>
                    <a:pt x="0" y="0"/>
                  </a:lnTo>
                  <a:lnTo>
                    <a:pt x="0" y="1689608"/>
                  </a:lnTo>
                  <a:lnTo>
                    <a:pt x="6109462" y="1689608"/>
                  </a:lnTo>
                  <a:lnTo>
                    <a:pt x="7138162" y="844804"/>
                  </a:lnTo>
                  <a:lnTo>
                    <a:pt x="6109462" y="0"/>
                  </a:lnTo>
                  <a:close/>
                </a:path>
              </a:pathLst>
            </a:custGeom>
            <a:solidFill>
              <a:srgbClr val="FFFFFF"/>
            </a:solidFill>
          </p:spPr>
        </p:sp>
      </p:grpSp>
      <p:sp>
        <p:nvSpPr>
          <p:cNvPr name="TextBox 11" id="11"/>
          <p:cNvSpPr txBox="true"/>
          <p:nvPr/>
        </p:nvSpPr>
        <p:spPr>
          <a:xfrm rot="0">
            <a:off x="1389450" y="4804066"/>
            <a:ext cx="8390471" cy="968483"/>
          </a:xfrm>
          <a:prstGeom prst="rect">
            <a:avLst/>
          </a:prstGeom>
        </p:spPr>
        <p:txBody>
          <a:bodyPr anchor="t" rtlCol="false" tIns="0" lIns="0" bIns="0" rIns="0">
            <a:spAutoFit/>
          </a:bodyPr>
          <a:lstStyle/>
          <a:p>
            <a:pPr algn="l">
              <a:lnSpc>
                <a:spcPts val="5769"/>
              </a:lnSpc>
            </a:pPr>
            <a:r>
              <a:rPr lang="en-US" sz="3434">
                <a:solidFill>
                  <a:srgbClr val="152540"/>
                </a:solidFill>
                <a:latin typeface="Arial MT Pro"/>
                <a:ea typeface="Arial MT Pro"/>
                <a:cs typeface="Arial MT Pro"/>
                <a:sym typeface="Arial MT Pro"/>
              </a:rPr>
              <a:t>Arreglos en JavaScript</a:t>
            </a:r>
          </a:p>
        </p:txBody>
      </p:sp>
      <p:grpSp>
        <p:nvGrpSpPr>
          <p:cNvPr name="Group 12" id="12"/>
          <p:cNvGrpSpPr/>
          <p:nvPr/>
        </p:nvGrpSpPr>
        <p:grpSpPr>
          <a:xfrm rot="0">
            <a:off x="651754" y="5032666"/>
            <a:ext cx="453358" cy="550094"/>
            <a:chOff x="0" y="0"/>
            <a:chExt cx="604477" cy="733459"/>
          </a:xfrm>
        </p:grpSpPr>
        <p:sp>
          <p:nvSpPr>
            <p:cNvPr name="Freeform 13" id="13"/>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4"/>
              <a:stretch>
                <a:fillRect l="0" t="0" r="7" b="-4"/>
              </a:stretch>
            </a:blipFill>
          </p:spPr>
        </p:sp>
      </p:grpSp>
      <p:grpSp>
        <p:nvGrpSpPr>
          <p:cNvPr name="Group 14" id="14"/>
          <p:cNvGrpSpPr/>
          <p:nvPr/>
        </p:nvGrpSpPr>
        <p:grpSpPr>
          <a:xfrm rot="0">
            <a:off x="651754" y="5716618"/>
            <a:ext cx="453358" cy="550094"/>
            <a:chOff x="0" y="0"/>
            <a:chExt cx="604477" cy="733459"/>
          </a:xfrm>
        </p:grpSpPr>
        <p:sp>
          <p:nvSpPr>
            <p:cNvPr name="Freeform 15" id="15"/>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4"/>
              <a:stretch>
                <a:fillRect l="0" t="0" r="7" b="-4"/>
              </a:stretch>
            </a:blipFill>
          </p:spPr>
        </p:sp>
      </p:grpSp>
      <p:grpSp>
        <p:nvGrpSpPr>
          <p:cNvPr name="Group 16" id="16"/>
          <p:cNvGrpSpPr/>
          <p:nvPr/>
        </p:nvGrpSpPr>
        <p:grpSpPr>
          <a:xfrm rot="0">
            <a:off x="651754" y="6400062"/>
            <a:ext cx="453358" cy="550094"/>
            <a:chOff x="0" y="0"/>
            <a:chExt cx="604477" cy="733459"/>
          </a:xfrm>
        </p:grpSpPr>
        <p:sp>
          <p:nvSpPr>
            <p:cNvPr name="Freeform 17" id="17"/>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4"/>
              <a:stretch>
                <a:fillRect l="0" t="0" r="7" b="-4"/>
              </a:stretch>
            </a:blipFill>
          </p:spPr>
        </p:sp>
      </p:grpSp>
      <p:grpSp>
        <p:nvGrpSpPr>
          <p:cNvPr name="Group 18" id="18"/>
          <p:cNvGrpSpPr/>
          <p:nvPr/>
        </p:nvGrpSpPr>
        <p:grpSpPr>
          <a:xfrm rot="0">
            <a:off x="651754" y="7083506"/>
            <a:ext cx="453358" cy="550094"/>
            <a:chOff x="0" y="0"/>
            <a:chExt cx="604477" cy="733459"/>
          </a:xfrm>
        </p:grpSpPr>
        <p:sp>
          <p:nvSpPr>
            <p:cNvPr name="Freeform 19" id="19"/>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4"/>
              <a:stretch>
                <a:fillRect l="0" t="0" r="7" b="-4"/>
              </a:stretch>
            </a:blipFill>
          </p:spPr>
        </p:sp>
      </p:grpSp>
      <p:grpSp>
        <p:nvGrpSpPr>
          <p:cNvPr name="Group 20" id="20"/>
          <p:cNvGrpSpPr/>
          <p:nvPr/>
        </p:nvGrpSpPr>
        <p:grpSpPr>
          <a:xfrm rot="0">
            <a:off x="651754" y="7766951"/>
            <a:ext cx="453358" cy="550094"/>
            <a:chOff x="0" y="0"/>
            <a:chExt cx="604477" cy="733459"/>
          </a:xfrm>
        </p:grpSpPr>
        <p:sp>
          <p:nvSpPr>
            <p:cNvPr name="Freeform 21" id="21"/>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4"/>
              <a:stretch>
                <a:fillRect l="0" t="0" r="7" b="-4"/>
              </a:stretch>
            </a:blipFill>
          </p:spPr>
        </p:sp>
      </p:grpSp>
      <p:sp>
        <p:nvSpPr>
          <p:cNvPr name="TextBox 22" id="22"/>
          <p:cNvSpPr txBox="true"/>
          <p:nvPr/>
        </p:nvSpPr>
        <p:spPr>
          <a:xfrm rot="0">
            <a:off x="1389450" y="5502465"/>
            <a:ext cx="8390471" cy="968483"/>
          </a:xfrm>
          <a:prstGeom prst="rect">
            <a:avLst/>
          </a:prstGeom>
        </p:spPr>
        <p:txBody>
          <a:bodyPr anchor="t" rtlCol="false" tIns="0" lIns="0" bIns="0" rIns="0">
            <a:spAutoFit/>
          </a:bodyPr>
          <a:lstStyle/>
          <a:p>
            <a:pPr algn="l">
              <a:lnSpc>
                <a:spcPts val="5769"/>
              </a:lnSpc>
            </a:pPr>
            <a:r>
              <a:rPr lang="en-US" sz="3434">
                <a:solidFill>
                  <a:srgbClr val="152540"/>
                </a:solidFill>
                <a:latin typeface="Arial MT Pro"/>
                <a:ea typeface="Arial MT Pro"/>
                <a:cs typeface="Arial MT Pro"/>
                <a:sym typeface="Arial MT Pro"/>
              </a:rPr>
              <a:t>Estructuras de Datos en JavaScript</a:t>
            </a:r>
          </a:p>
        </p:txBody>
      </p:sp>
      <p:sp>
        <p:nvSpPr>
          <p:cNvPr name="TextBox 23" id="23"/>
          <p:cNvSpPr txBox="true"/>
          <p:nvPr/>
        </p:nvSpPr>
        <p:spPr>
          <a:xfrm rot="0">
            <a:off x="1389450" y="6186417"/>
            <a:ext cx="8390471" cy="968483"/>
          </a:xfrm>
          <a:prstGeom prst="rect">
            <a:avLst/>
          </a:prstGeom>
        </p:spPr>
        <p:txBody>
          <a:bodyPr anchor="t" rtlCol="false" tIns="0" lIns="0" bIns="0" rIns="0">
            <a:spAutoFit/>
          </a:bodyPr>
          <a:lstStyle/>
          <a:p>
            <a:pPr algn="l">
              <a:lnSpc>
                <a:spcPts val="5769"/>
              </a:lnSpc>
            </a:pPr>
            <a:r>
              <a:rPr lang="en-US" sz="3434">
                <a:solidFill>
                  <a:srgbClr val="152540"/>
                </a:solidFill>
                <a:latin typeface="Arial MT Pro"/>
                <a:ea typeface="Arial MT Pro"/>
                <a:cs typeface="Arial MT Pro"/>
                <a:sym typeface="Arial MT Pro"/>
              </a:rPr>
              <a:t>Iteración en JavaScript</a:t>
            </a:r>
          </a:p>
        </p:txBody>
      </p:sp>
      <p:sp>
        <p:nvSpPr>
          <p:cNvPr name="TextBox 24" id="24"/>
          <p:cNvSpPr txBox="true"/>
          <p:nvPr/>
        </p:nvSpPr>
        <p:spPr>
          <a:xfrm rot="0">
            <a:off x="1389450" y="6907135"/>
            <a:ext cx="8390471" cy="817640"/>
          </a:xfrm>
          <a:prstGeom prst="rect">
            <a:avLst/>
          </a:prstGeom>
        </p:spPr>
        <p:txBody>
          <a:bodyPr anchor="t" rtlCol="false" tIns="0" lIns="0" bIns="0" rIns="0">
            <a:spAutoFit/>
          </a:bodyPr>
          <a:lstStyle/>
          <a:p>
            <a:pPr algn="l">
              <a:lnSpc>
                <a:spcPts val="5769"/>
              </a:lnSpc>
            </a:pPr>
            <a:r>
              <a:rPr lang="en-US" sz="3434">
                <a:solidFill>
                  <a:srgbClr val="152540"/>
                </a:solidFill>
                <a:latin typeface="Arial MT Pro"/>
                <a:ea typeface="Arial MT Pro"/>
                <a:cs typeface="Arial MT Pro"/>
                <a:sym typeface="Arial MT Pro"/>
              </a:rPr>
              <a:t>Lectura de Archivos</a:t>
            </a:r>
          </a:p>
        </p:txBody>
      </p:sp>
      <p:sp>
        <p:nvSpPr>
          <p:cNvPr name="TextBox 25" id="25"/>
          <p:cNvSpPr txBox="true"/>
          <p:nvPr/>
        </p:nvSpPr>
        <p:spPr>
          <a:xfrm rot="0">
            <a:off x="1352960" y="7600950"/>
            <a:ext cx="8390471" cy="817640"/>
          </a:xfrm>
          <a:prstGeom prst="rect">
            <a:avLst/>
          </a:prstGeom>
        </p:spPr>
        <p:txBody>
          <a:bodyPr anchor="t" rtlCol="false" tIns="0" lIns="0" bIns="0" rIns="0">
            <a:spAutoFit/>
          </a:bodyPr>
          <a:lstStyle/>
          <a:p>
            <a:pPr algn="l">
              <a:lnSpc>
                <a:spcPts val="5769"/>
              </a:lnSpc>
            </a:pPr>
            <a:r>
              <a:rPr lang="en-US" sz="3434">
                <a:solidFill>
                  <a:srgbClr val="152540"/>
                </a:solidFill>
                <a:latin typeface="Arial MT Pro"/>
                <a:ea typeface="Arial MT Pro"/>
                <a:cs typeface="Arial MT Pro"/>
                <a:sym typeface="Arial MT Pro"/>
              </a:rPr>
              <a:t>Escritura de Archivos</a:t>
            </a:r>
          </a:p>
        </p:txBody>
      </p:sp>
      <p:sp>
        <p:nvSpPr>
          <p:cNvPr name="TextBox 26" id="26"/>
          <p:cNvSpPr txBox="true"/>
          <p:nvPr/>
        </p:nvSpPr>
        <p:spPr>
          <a:xfrm rot="0">
            <a:off x="651749" y="233725"/>
            <a:ext cx="7710300" cy="2565975"/>
          </a:xfrm>
          <a:prstGeom prst="rect">
            <a:avLst/>
          </a:prstGeom>
        </p:spPr>
        <p:txBody>
          <a:bodyPr anchor="t" rtlCol="false" tIns="0" lIns="0" bIns="0" rIns="0">
            <a:spAutoFit/>
          </a:bodyPr>
          <a:lstStyle/>
          <a:p>
            <a:pPr algn="l">
              <a:lnSpc>
                <a:spcPts val="20699"/>
              </a:lnSpc>
            </a:pPr>
            <a:r>
              <a:rPr lang="en-US" sz="15000">
                <a:solidFill>
                  <a:srgbClr val="131416"/>
                </a:solidFill>
                <a:latin typeface="Pacifico"/>
                <a:ea typeface="Pacifico"/>
                <a:cs typeface="Pacifico"/>
                <a:sym typeface="Pacifico"/>
              </a:rPr>
              <a:t>Agenda</a:t>
            </a:r>
          </a:p>
        </p:txBody>
      </p:sp>
      <p:grpSp>
        <p:nvGrpSpPr>
          <p:cNvPr name="Group 27" id="27"/>
          <p:cNvGrpSpPr/>
          <p:nvPr/>
        </p:nvGrpSpPr>
        <p:grpSpPr>
          <a:xfrm rot="0">
            <a:off x="651749" y="8523365"/>
            <a:ext cx="453358" cy="550094"/>
            <a:chOff x="0" y="0"/>
            <a:chExt cx="604477" cy="733459"/>
          </a:xfrm>
        </p:grpSpPr>
        <p:sp>
          <p:nvSpPr>
            <p:cNvPr name="Freeform 28" id="28"/>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4"/>
              <a:stretch>
                <a:fillRect l="0" t="0" r="7" b="-4"/>
              </a:stretch>
            </a:blipFill>
          </p:spPr>
        </p:sp>
      </p:grpSp>
      <p:sp>
        <p:nvSpPr>
          <p:cNvPr name="TextBox 29" id="29"/>
          <p:cNvSpPr txBox="true"/>
          <p:nvPr/>
        </p:nvSpPr>
        <p:spPr>
          <a:xfrm rot="0">
            <a:off x="1352955" y="8294765"/>
            <a:ext cx="8390471" cy="743106"/>
          </a:xfrm>
          <a:prstGeom prst="rect">
            <a:avLst/>
          </a:prstGeom>
        </p:spPr>
        <p:txBody>
          <a:bodyPr anchor="t" rtlCol="false" tIns="0" lIns="0" bIns="0" rIns="0">
            <a:spAutoFit/>
          </a:bodyPr>
          <a:lstStyle/>
          <a:p>
            <a:pPr algn="l">
              <a:lnSpc>
                <a:spcPts val="5769"/>
              </a:lnSpc>
            </a:pPr>
            <a:r>
              <a:rPr lang="en-US" sz="3434">
                <a:solidFill>
                  <a:srgbClr val="152540"/>
                </a:solidFill>
                <a:latin typeface="Arial MT Pro"/>
                <a:ea typeface="Arial MT Pro"/>
                <a:cs typeface="Arial MT Pro"/>
                <a:sym typeface="Arial MT Pro"/>
              </a:rPr>
              <a:t>Práctica</a:t>
            </a:r>
          </a:p>
        </p:txBody>
      </p:sp>
      <p:grpSp>
        <p:nvGrpSpPr>
          <p:cNvPr name="Group 30" id="30"/>
          <p:cNvGrpSpPr/>
          <p:nvPr/>
        </p:nvGrpSpPr>
        <p:grpSpPr>
          <a:xfrm rot="0">
            <a:off x="651749" y="9225859"/>
            <a:ext cx="453358" cy="550094"/>
            <a:chOff x="0" y="0"/>
            <a:chExt cx="604477" cy="733459"/>
          </a:xfrm>
        </p:grpSpPr>
        <p:sp>
          <p:nvSpPr>
            <p:cNvPr name="Freeform 31" id="31"/>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4"/>
              <a:stretch>
                <a:fillRect l="0" t="0" r="7" b="-4"/>
              </a:stretch>
            </a:blipFill>
          </p:spPr>
        </p:sp>
      </p:grpSp>
      <p:sp>
        <p:nvSpPr>
          <p:cNvPr name="TextBox 32" id="32"/>
          <p:cNvSpPr txBox="true"/>
          <p:nvPr/>
        </p:nvSpPr>
        <p:spPr>
          <a:xfrm rot="0">
            <a:off x="1352955" y="8997259"/>
            <a:ext cx="8390471" cy="968483"/>
          </a:xfrm>
          <a:prstGeom prst="rect">
            <a:avLst/>
          </a:prstGeom>
        </p:spPr>
        <p:txBody>
          <a:bodyPr anchor="t" rtlCol="false" tIns="0" lIns="0" bIns="0" rIns="0">
            <a:spAutoFit/>
          </a:bodyPr>
          <a:lstStyle/>
          <a:p>
            <a:pPr algn="l">
              <a:lnSpc>
                <a:spcPts val="5769"/>
              </a:lnSpc>
            </a:pPr>
            <a:r>
              <a:rPr lang="en-US" sz="3434">
                <a:solidFill>
                  <a:srgbClr val="152540"/>
                </a:solidFill>
                <a:latin typeface="Arial MT Pro"/>
                <a:ea typeface="Arial MT Pro"/>
                <a:cs typeface="Arial MT Pro"/>
                <a:sym typeface="Arial MT Pro"/>
              </a:rPr>
              <a:t>Tarea 2</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00100"/>
            <a:ext cx="16230600" cy="2016362"/>
          </a:xfrm>
          <a:prstGeom prst="rect">
            <a:avLst/>
          </a:prstGeom>
        </p:spPr>
        <p:txBody>
          <a:bodyPr anchor="t" rtlCol="false" tIns="0" lIns="0" bIns="0" rIns="0">
            <a:spAutoFit/>
          </a:bodyPr>
          <a:lstStyle/>
          <a:p>
            <a:pPr algn="l">
              <a:lnSpc>
                <a:spcPts val="8267"/>
              </a:lnSpc>
            </a:pPr>
            <a:r>
              <a:rPr lang="en-US" sz="6098">
                <a:solidFill>
                  <a:srgbClr val="131416"/>
                </a:solidFill>
                <a:latin typeface="Arial MT Pro"/>
                <a:ea typeface="Arial MT Pro"/>
                <a:cs typeface="Arial MT Pro"/>
                <a:sym typeface="Arial MT Pro"/>
              </a:rPr>
              <a:t>COMPETENCIA QUE DESARROLLAREMOS</a:t>
            </a:r>
          </a:p>
        </p:txBody>
      </p:sp>
      <p:sp>
        <p:nvSpPr>
          <p:cNvPr name="TextBox 3" id="3"/>
          <p:cNvSpPr txBox="true"/>
          <p:nvPr/>
        </p:nvSpPr>
        <p:spPr>
          <a:xfrm rot="0">
            <a:off x="1028700" y="3006725"/>
            <a:ext cx="16230600" cy="4632722"/>
          </a:xfrm>
          <a:prstGeom prst="rect">
            <a:avLst/>
          </a:prstGeom>
        </p:spPr>
        <p:txBody>
          <a:bodyPr anchor="t" rtlCol="false" tIns="0" lIns="0" bIns="0" rIns="0">
            <a:spAutoFit/>
          </a:bodyPr>
          <a:lstStyle/>
          <a:p>
            <a:pPr algn="ctr">
              <a:lnSpc>
                <a:spcPts val="8399"/>
              </a:lnSpc>
            </a:pPr>
            <a:r>
              <a:rPr lang="en-US" sz="4999">
                <a:solidFill>
                  <a:srgbClr val="131416"/>
                </a:solidFill>
                <a:latin typeface="Arial MT Pro"/>
                <a:ea typeface="Arial MT Pro"/>
                <a:cs typeface="Arial MT Pro"/>
                <a:sym typeface="Arial MT Pro"/>
              </a:rPr>
              <a:t>El estudiante comprende el funcionamiento del lenguaje de programación JavaScript a través de su aplicación para la resolución de problemas relacionados con las fases del compilador. </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904222" y="1234133"/>
            <a:ext cx="12449074" cy="1401068"/>
          </a:xfrm>
          <a:prstGeom prst="rect">
            <a:avLst/>
          </a:prstGeom>
        </p:spPr>
        <p:txBody>
          <a:bodyPr anchor="t" rtlCol="false" tIns="0" lIns="0" bIns="0" rIns="0">
            <a:spAutoFit/>
          </a:bodyPr>
          <a:lstStyle/>
          <a:p>
            <a:pPr algn="l">
              <a:lnSpc>
                <a:spcPts val="8399"/>
              </a:lnSpc>
            </a:pPr>
            <a:r>
              <a:rPr lang="en-US" sz="4999">
                <a:solidFill>
                  <a:srgbClr val="152540"/>
                </a:solidFill>
                <a:latin typeface="Arial MT Pro"/>
                <a:ea typeface="Arial MT Pro"/>
                <a:cs typeface="Arial MT Pro"/>
                <a:sym typeface="Arial MT Pro"/>
              </a:rPr>
              <a:t>ARREGLOS EN JAVASCRIPT</a:t>
            </a:r>
          </a:p>
        </p:txBody>
      </p:sp>
      <p:sp>
        <p:nvSpPr>
          <p:cNvPr name="TextBox 3" id="3"/>
          <p:cNvSpPr txBox="true"/>
          <p:nvPr/>
        </p:nvSpPr>
        <p:spPr>
          <a:xfrm rot="0">
            <a:off x="1904223" y="3739458"/>
            <a:ext cx="14937114" cy="4134445"/>
          </a:xfrm>
          <a:prstGeom prst="rect">
            <a:avLst/>
          </a:prstGeom>
        </p:spPr>
        <p:txBody>
          <a:bodyPr anchor="t" rtlCol="false" tIns="0" lIns="0" bIns="0" rIns="0">
            <a:spAutoFit/>
          </a:bodyPr>
          <a:lstStyle/>
          <a:p>
            <a:pPr algn="just">
              <a:lnSpc>
                <a:spcPts val="3360"/>
              </a:lnSpc>
            </a:pPr>
            <a:r>
              <a:rPr lang="en-US" sz="2000">
                <a:solidFill>
                  <a:srgbClr val="000000"/>
                </a:solidFill>
                <a:latin typeface="Arial MT Pro"/>
                <a:ea typeface="Arial MT Pro"/>
                <a:cs typeface="Arial MT Pro"/>
                <a:sym typeface="Arial MT Pro"/>
              </a:rPr>
              <a:t>Un arreglo en JavaScript es una estructura de datos fundamental que representa una colección ordenada de elementos. A diferencia de otros lenguajes, JavaScript permite que un arreglo contenga elementos de diferentes tipos de datos (números, strings, objetos, incluso otros arreglos) en la misma estructura. Los arreglos son objetos especiales que heredan del prototipo Array, proporcionando métodos integrados para su manipulación.</a:t>
            </a:r>
          </a:p>
          <a:p>
            <a:pPr algn="l">
              <a:lnSpc>
                <a:spcPts val="3360"/>
              </a:lnSpc>
            </a:pPr>
          </a:p>
          <a:p>
            <a:pPr algn="l">
              <a:lnSpc>
                <a:spcPts val="2400"/>
              </a:lnSpc>
            </a:pPr>
            <a:r>
              <a:rPr lang="en-US" sz="2000" b="true">
                <a:solidFill>
                  <a:srgbClr val="000000"/>
                </a:solidFill>
                <a:latin typeface="Arial MT Pro Bold"/>
                <a:ea typeface="Arial MT Pro Bold"/>
                <a:cs typeface="Arial MT Pro Bold"/>
                <a:sym typeface="Arial MT Pro Bold"/>
              </a:rPr>
              <a:t>Características principales:</a:t>
            </a:r>
          </a:p>
          <a:p>
            <a:pPr algn="l">
              <a:lnSpc>
                <a:spcPts val="2400"/>
              </a:lnSpc>
            </a:pPr>
          </a:p>
          <a:p>
            <a:pPr algn="l">
              <a:lnSpc>
                <a:spcPts val="2400"/>
              </a:lnSpc>
            </a:pPr>
            <a:r>
              <a:rPr lang="en-US" sz="2000">
                <a:solidFill>
                  <a:srgbClr val="000000"/>
                </a:solidFill>
                <a:latin typeface="Arial MT Pro"/>
                <a:ea typeface="Arial MT Pro"/>
                <a:cs typeface="Arial MT Pro"/>
                <a:sym typeface="Arial MT Pro"/>
              </a:rPr>
              <a:t>- Tamaño dinámico (puede cambiar durante la ejecución)</a:t>
            </a:r>
          </a:p>
          <a:p>
            <a:pPr algn="l">
              <a:lnSpc>
                <a:spcPts val="2400"/>
              </a:lnSpc>
            </a:pPr>
            <a:r>
              <a:rPr lang="en-US" sz="2000">
                <a:solidFill>
                  <a:srgbClr val="000000"/>
                </a:solidFill>
                <a:latin typeface="Arial MT Pro"/>
                <a:ea typeface="Arial MT Pro"/>
                <a:cs typeface="Arial MT Pro"/>
                <a:sym typeface="Arial MT Pro"/>
              </a:rPr>
              <a:t>- Pueden contener elementos de diferentes tipos</a:t>
            </a:r>
          </a:p>
          <a:p>
            <a:pPr algn="l">
              <a:lnSpc>
                <a:spcPts val="2400"/>
              </a:lnSpc>
            </a:pPr>
            <a:r>
              <a:rPr lang="en-US" sz="2000">
                <a:solidFill>
                  <a:srgbClr val="000000"/>
                </a:solidFill>
                <a:latin typeface="Arial MT Pro"/>
                <a:ea typeface="Arial MT Pro"/>
                <a:cs typeface="Arial MT Pro"/>
                <a:sym typeface="Arial MT Pro"/>
              </a:rPr>
              <a:t>- Indexados desde 0</a:t>
            </a:r>
          </a:p>
          <a:p>
            <a:pPr algn="l">
              <a:lnSpc>
                <a:spcPts val="2400"/>
              </a:lnSpc>
            </a:pPr>
            <a:r>
              <a:rPr lang="en-US" sz="2000">
                <a:solidFill>
                  <a:srgbClr val="000000"/>
                </a:solidFill>
                <a:latin typeface="Arial MT Pro"/>
                <a:ea typeface="Arial MT Pro"/>
                <a:cs typeface="Arial MT Pro"/>
                <a:sym typeface="Arial MT Pro"/>
              </a:rPr>
              <a:t>- Son objetos mutables por referencia</a:t>
            </a:r>
          </a:p>
        </p:txBody>
      </p:sp>
      <p:sp>
        <p:nvSpPr>
          <p:cNvPr name="TextBox 4" id="4"/>
          <p:cNvSpPr txBox="true"/>
          <p:nvPr/>
        </p:nvSpPr>
        <p:spPr>
          <a:xfrm rot="0">
            <a:off x="1904222" y="2159120"/>
            <a:ext cx="12860533" cy="1114425"/>
          </a:xfrm>
          <a:prstGeom prst="rect">
            <a:avLst/>
          </a:prstGeom>
        </p:spPr>
        <p:txBody>
          <a:bodyPr anchor="t" rtlCol="false" tIns="0" lIns="0" bIns="0" rIns="0">
            <a:spAutoFit/>
          </a:bodyPr>
          <a:lstStyle/>
          <a:p>
            <a:pPr algn="l">
              <a:lnSpc>
                <a:spcPts val="7558"/>
              </a:lnSpc>
            </a:pPr>
            <a:r>
              <a:rPr lang="en-US" sz="4500">
                <a:solidFill>
                  <a:srgbClr val="152540"/>
                </a:solidFill>
                <a:latin typeface="Arial MT Pro"/>
                <a:ea typeface="Arial MT Pro"/>
                <a:cs typeface="Arial MT Pro"/>
                <a:sym typeface="Arial MT Pro"/>
              </a:rPr>
              <a:t>¿QUÉ ES UN ARREGLO?</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904222" y="1234133"/>
            <a:ext cx="15519820" cy="1401068"/>
          </a:xfrm>
          <a:prstGeom prst="rect">
            <a:avLst/>
          </a:prstGeom>
        </p:spPr>
        <p:txBody>
          <a:bodyPr anchor="t" rtlCol="false" tIns="0" lIns="0" bIns="0" rIns="0">
            <a:spAutoFit/>
          </a:bodyPr>
          <a:lstStyle/>
          <a:p>
            <a:pPr algn="l">
              <a:lnSpc>
                <a:spcPts val="8399"/>
              </a:lnSpc>
            </a:pPr>
            <a:r>
              <a:rPr lang="en-US" sz="4999">
                <a:solidFill>
                  <a:srgbClr val="152540"/>
                </a:solidFill>
                <a:latin typeface="Arial MT Pro"/>
                <a:ea typeface="Arial MT Pro"/>
                <a:cs typeface="Arial MT Pro"/>
                <a:sym typeface="Arial MT Pro"/>
              </a:rPr>
              <a:t>ARREGLOS EN JAVASCRIPT</a:t>
            </a:r>
          </a:p>
        </p:txBody>
      </p:sp>
      <p:sp>
        <p:nvSpPr>
          <p:cNvPr name="TextBox 3" id="3"/>
          <p:cNvSpPr txBox="true"/>
          <p:nvPr/>
        </p:nvSpPr>
        <p:spPr>
          <a:xfrm rot="0">
            <a:off x="1904222" y="3682308"/>
            <a:ext cx="14118250" cy="6200094"/>
          </a:xfrm>
          <a:prstGeom prst="rect">
            <a:avLst/>
          </a:prstGeom>
        </p:spPr>
        <p:txBody>
          <a:bodyPr anchor="t" rtlCol="false" tIns="0" lIns="0" bIns="0" rIns="0">
            <a:spAutoFit/>
          </a:bodyPr>
          <a:lstStyle/>
          <a:p>
            <a:pPr algn="just">
              <a:lnSpc>
                <a:spcPts val="4704"/>
              </a:lnSpc>
            </a:pPr>
            <a:r>
              <a:rPr lang="en-US" sz="2799">
                <a:solidFill>
                  <a:srgbClr val="000000"/>
                </a:solidFill>
                <a:latin typeface="Arial MT Pro"/>
                <a:ea typeface="Arial MT Pro"/>
                <a:cs typeface="Arial MT Pro"/>
                <a:sym typeface="Arial MT Pro"/>
              </a:rPr>
              <a:t>Los arreglos en JavaScript pueden organizarse en diferentes dimensiones según la complejidad de los datos que necesitemos almacenar. Esta flexibilidad permite modelar desde listas simples hasta estructuras de datos complejas como matrices matemáticas o representaciones tridimensionales.</a:t>
            </a:r>
          </a:p>
          <a:p>
            <a:pPr algn="just">
              <a:lnSpc>
                <a:spcPts val="4704"/>
              </a:lnSpc>
            </a:pPr>
          </a:p>
          <a:p>
            <a:pPr algn="just" marL="628692" indent="-209564" lvl="2">
              <a:lnSpc>
                <a:spcPts val="4704"/>
              </a:lnSpc>
              <a:buFont typeface="Arial"/>
              <a:buChar char="⚬"/>
            </a:pPr>
            <a:r>
              <a:rPr lang="en-US" sz="2799">
                <a:solidFill>
                  <a:srgbClr val="152540"/>
                </a:solidFill>
                <a:latin typeface="Arial MT Pro"/>
                <a:ea typeface="Arial MT Pro"/>
                <a:cs typeface="Arial MT Pro"/>
                <a:sym typeface="Arial MT Pro"/>
              </a:rPr>
              <a:t>Unidimensionales: </a:t>
            </a:r>
            <a:r>
              <a:rPr lang="en-US" sz="2799">
                <a:solidFill>
                  <a:srgbClr val="000000"/>
                </a:solidFill>
                <a:latin typeface="Arial MT Pro"/>
                <a:ea typeface="Arial MT Pro"/>
                <a:cs typeface="Arial MT Pro"/>
                <a:sym typeface="Arial MT Pro"/>
              </a:rPr>
              <a:t>Contienen una sola fila de elementos, ideales para listas simples.</a:t>
            </a:r>
          </a:p>
          <a:p>
            <a:pPr algn="just" marL="628692" indent="-209564" lvl="2">
              <a:lnSpc>
                <a:spcPts val="4704"/>
              </a:lnSpc>
              <a:buFont typeface="Arial"/>
              <a:buChar char="⚬"/>
            </a:pPr>
            <a:r>
              <a:rPr lang="en-US" sz="2799">
                <a:solidFill>
                  <a:srgbClr val="152540"/>
                </a:solidFill>
                <a:latin typeface="Arial MT Pro"/>
                <a:ea typeface="Arial MT Pro"/>
                <a:cs typeface="Arial MT Pro"/>
                <a:sym typeface="Arial MT Pro"/>
              </a:rPr>
              <a:t>Bidimensionales: </a:t>
            </a:r>
            <a:r>
              <a:rPr lang="en-US" sz="2799">
                <a:solidFill>
                  <a:srgbClr val="000000"/>
                </a:solidFill>
                <a:latin typeface="Arial MT Pro"/>
                <a:ea typeface="Arial MT Pro"/>
                <a:cs typeface="Arial MT Pro"/>
                <a:sym typeface="Arial MT Pro"/>
              </a:rPr>
              <a:t>Matrices con filas y columnas, útiles para representar tablas o grillas.</a:t>
            </a:r>
          </a:p>
          <a:p>
            <a:pPr algn="just" marL="628692" indent="-209564" lvl="2">
              <a:lnSpc>
                <a:spcPts val="4704"/>
              </a:lnSpc>
              <a:buFont typeface="Arial"/>
              <a:buChar char="⚬"/>
            </a:pPr>
            <a:r>
              <a:rPr lang="en-US" sz="2799">
                <a:solidFill>
                  <a:srgbClr val="152540"/>
                </a:solidFill>
                <a:latin typeface="Arial MT Pro"/>
                <a:ea typeface="Arial MT Pro"/>
                <a:cs typeface="Arial MT Pro"/>
                <a:sym typeface="Arial MT Pro"/>
              </a:rPr>
              <a:t>Multidimensionales: </a:t>
            </a:r>
            <a:r>
              <a:rPr lang="en-US" sz="2799">
                <a:solidFill>
                  <a:srgbClr val="000000"/>
                </a:solidFill>
                <a:latin typeface="Arial MT Pro"/>
                <a:ea typeface="Arial MT Pro"/>
                <a:cs typeface="Arial MT Pro"/>
                <a:sym typeface="Arial MT Pro"/>
              </a:rPr>
              <a:t>Arreglos de más de dos dimensiones, apropiados para datos complejos como cubos de información.</a:t>
            </a:r>
          </a:p>
        </p:txBody>
      </p:sp>
      <p:sp>
        <p:nvSpPr>
          <p:cNvPr name="TextBox 4" id="4"/>
          <p:cNvSpPr txBox="true"/>
          <p:nvPr/>
        </p:nvSpPr>
        <p:spPr>
          <a:xfrm rot="0">
            <a:off x="1904222" y="2159120"/>
            <a:ext cx="15355078" cy="1114425"/>
          </a:xfrm>
          <a:prstGeom prst="rect">
            <a:avLst/>
          </a:prstGeom>
        </p:spPr>
        <p:txBody>
          <a:bodyPr anchor="t" rtlCol="false" tIns="0" lIns="0" bIns="0" rIns="0">
            <a:spAutoFit/>
          </a:bodyPr>
          <a:lstStyle/>
          <a:p>
            <a:pPr algn="l">
              <a:lnSpc>
                <a:spcPts val="7558"/>
              </a:lnSpc>
            </a:pPr>
            <a:r>
              <a:rPr lang="en-US" sz="4500">
                <a:solidFill>
                  <a:srgbClr val="152540"/>
                </a:solidFill>
                <a:latin typeface="Arial MT Pro"/>
                <a:ea typeface="Arial MT Pro"/>
                <a:cs typeface="Arial MT Pro"/>
                <a:sym typeface="Arial MT Pro"/>
              </a:rPr>
              <a:t>TIPOS DE ARREGLOS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904222" y="1234133"/>
            <a:ext cx="11630208" cy="1401068"/>
          </a:xfrm>
          <a:prstGeom prst="rect">
            <a:avLst/>
          </a:prstGeom>
        </p:spPr>
        <p:txBody>
          <a:bodyPr anchor="t" rtlCol="false" tIns="0" lIns="0" bIns="0" rIns="0">
            <a:spAutoFit/>
          </a:bodyPr>
          <a:lstStyle/>
          <a:p>
            <a:pPr algn="l">
              <a:lnSpc>
                <a:spcPts val="8399"/>
              </a:lnSpc>
            </a:pPr>
            <a:r>
              <a:rPr lang="en-US" sz="4999">
                <a:solidFill>
                  <a:srgbClr val="152540"/>
                </a:solidFill>
                <a:latin typeface="Arial MT Pro"/>
                <a:ea typeface="Arial MT Pro"/>
                <a:cs typeface="Arial MT Pro"/>
                <a:sym typeface="Arial MT Pro"/>
              </a:rPr>
              <a:t>ARREGLOS EN JAVASCRIPT</a:t>
            </a:r>
          </a:p>
        </p:txBody>
      </p:sp>
      <p:sp>
        <p:nvSpPr>
          <p:cNvPr name="TextBox 3" id="3"/>
          <p:cNvSpPr txBox="true"/>
          <p:nvPr/>
        </p:nvSpPr>
        <p:spPr>
          <a:xfrm rot="0">
            <a:off x="1440197" y="3555111"/>
            <a:ext cx="15633151" cy="3915180"/>
          </a:xfrm>
          <a:prstGeom prst="rect">
            <a:avLst/>
          </a:prstGeom>
        </p:spPr>
        <p:txBody>
          <a:bodyPr anchor="t" rtlCol="false" tIns="0" lIns="0" bIns="0" rIns="0">
            <a:spAutoFit/>
          </a:bodyPr>
          <a:lstStyle/>
          <a:p>
            <a:pPr algn="just">
              <a:lnSpc>
                <a:spcPts val="5376"/>
              </a:lnSpc>
            </a:pPr>
            <a:r>
              <a:rPr lang="en-US" sz="3200">
                <a:solidFill>
                  <a:srgbClr val="000000"/>
                </a:solidFill>
                <a:latin typeface="Arial MT Pro"/>
                <a:ea typeface="Arial MT Pro"/>
                <a:cs typeface="Arial MT Pro"/>
                <a:sym typeface="Arial MT Pro"/>
              </a:rPr>
              <a:t>El sistema de indexación en JavaScript sigue el estándar de la mayoría de lenguajes de programación, comenzando desde cero. Este mecanismo de acceso directo por índice proporciona una complejidad temporal O(1), lo que significa que acceder a cualquier elemento toma el mismo tiempo independientemente del tamaño del arreglo.</a:t>
            </a:r>
          </a:p>
          <a:p>
            <a:pPr algn="just">
              <a:lnSpc>
                <a:spcPts val="5376"/>
              </a:lnSpc>
            </a:pPr>
          </a:p>
          <a:p>
            <a:pPr algn="just">
              <a:lnSpc>
                <a:spcPts val="5376"/>
              </a:lnSpc>
            </a:pPr>
            <a:r>
              <a:rPr lang="en-US" sz="3200" b="true">
                <a:solidFill>
                  <a:srgbClr val="000000"/>
                </a:solidFill>
                <a:latin typeface="Arial MT Pro Bold"/>
                <a:ea typeface="Arial MT Pro Bold"/>
                <a:cs typeface="Arial MT Pro Bold"/>
                <a:sym typeface="Arial MT Pro Bold"/>
              </a:rPr>
              <a:t>Acceso</a:t>
            </a:r>
            <a:r>
              <a:rPr lang="en-US" sz="3200">
                <a:solidFill>
                  <a:srgbClr val="000000"/>
                </a:solidFill>
                <a:latin typeface="Arial MT Pro"/>
                <a:ea typeface="Arial MT Pro"/>
                <a:cs typeface="Arial MT Pro"/>
                <a:sym typeface="Arial MT Pro"/>
              </a:rPr>
              <a:t>: Se usan índices para obtener el valor de una posición del arreglo.</a:t>
            </a:r>
          </a:p>
        </p:txBody>
      </p:sp>
      <p:sp>
        <p:nvSpPr>
          <p:cNvPr name="TextBox 4" id="4"/>
          <p:cNvSpPr txBox="true"/>
          <p:nvPr/>
        </p:nvSpPr>
        <p:spPr>
          <a:xfrm rot="0">
            <a:off x="1904222" y="2159120"/>
            <a:ext cx="12596643" cy="1114425"/>
          </a:xfrm>
          <a:prstGeom prst="rect">
            <a:avLst/>
          </a:prstGeom>
        </p:spPr>
        <p:txBody>
          <a:bodyPr anchor="t" rtlCol="false" tIns="0" lIns="0" bIns="0" rIns="0">
            <a:spAutoFit/>
          </a:bodyPr>
          <a:lstStyle/>
          <a:p>
            <a:pPr algn="l">
              <a:lnSpc>
                <a:spcPts val="7558"/>
              </a:lnSpc>
            </a:pPr>
            <a:r>
              <a:rPr lang="en-US" sz="4500">
                <a:solidFill>
                  <a:srgbClr val="152540"/>
                </a:solidFill>
                <a:latin typeface="Arial MT Pro"/>
                <a:ea typeface="Arial MT Pro"/>
                <a:cs typeface="Arial MT Pro"/>
                <a:sym typeface="Arial MT Pro"/>
              </a:rPr>
              <a:t>ACCESO Y MODIFICACIÓN</a:t>
            </a:r>
          </a:p>
        </p:txBody>
      </p:sp>
      <p:grpSp>
        <p:nvGrpSpPr>
          <p:cNvPr name="Group 5" id="5"/>
          <p:cNvGrpSpPr>
            <a:grpSpLocks noChangeAspect="true"/>
          </p:cNvGrpSpPr>
          <p:nvPr/>
        </p:nvGrpSpPr>
        <p:grpSpPr>
          <a:xfrm rot="0">
            <a:off x="5971731" y="7581538"/>
            <a:ext cx="5997355" cy="2485389"/>
            <a:chOff x="0" y="0"/>
            <a:chExt cx="7996473" cy="3313852"/>
          </a:xfrm>
        </p:grpSpPr>
        <p:sp>
          <p:nvSpPr>
            <p:cNvPr name="Freeform 6" id="6"/>
            <p:cNvSpPr/>
            <p:nvPr/>
          </p:nvSpPr>
          <p:spPr>
            <a:xfrm flipH="false" flipV="false" rot="0">
              <a:off x="0" y="0"/>
              <a:ext cx="7996428" cy="3313811"/>
            </a:xfrm>
            <a:custGeom>
              <a:avLst/>
              <a:gdLst/>
              <a:ahLst/>
              <a:cxnLst/>
              <a:rect r="r" b="b" t="t" l="l"/>
              <a:pathLst>
                <a:path h="3313811" w="7996428">
                  <a:moveTo>
                    <a:pt x="0" y="0"/>
                  </a:moveTo>
                  <a:lnTo>
                    <a:pt x="7996428" y="0"/>
                  </a:lnTo>
                  <a:lnTo>
                    <a:pt x="7996428" y="3313811"/>
                  </a:lnTo>
                  <a:lnTo>
                    <a:pt x="0" y="3313811"/>
                  </a:lnTo>
                  <a:lnTo>
                    <a:pt x="0" y="0"/>
                  </a:lnTo>
                  <a:close/>
                </a:path>
              </a:pathLst>
            </a:custGeom>
            <a:blipFill>
              <a:blip r:embed="rId3"/>
              <a:stretch>
                <a:fillRect l="0" t="0" r="0" b="-1"/>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904222" y="1234133"/>
            <a:ext cx="11630208" cy="1401068"/>
          </a:xfrm>
          <a:prstGeom prst="rect">
            <a:avLst/>
          </a:prstGeom>
        </p:spPr>
        <p:txBody>
          <a:bodyPr anchor="t" rtlCol="false" tIns="0" lIns="0" bIns="0" rIns="0">
            <a:spAutoFit/>
          </a:bodyPr>
          <a:lstStyle/>
          <a:p>
            <a:pPr algn="l">
              <a:lnSpc>
                <a:spcPts val="8399"/>
              </a:lnSpc>
            </a:pPr>
            <a:r>
              <a:rPr lang="en-US" sz="4999">
                <a:solidFill>
                  <a:srgbClr val="152540"/>
                </a:solidFill>
                <a:latin typeface="Arial MT Pro"/>
                <a:ea typeface="Arial MT Pro"/>
                <a:cs typeface="Arial MT Pro"/>
                <a:sym typeface="Arial MT Pro"/>
              </a:rPr>
              <a:t>ARREGLOS EN JAVASCRIPT</a:t>
            </a:r>
          </a:p>
        </p:txBody>
      </p:sp>
      <p:sp>
        <p:nvSpPr>
          <p:cNvPr name="TextBox 3" id="3"/>
          <p:cNvSpPr txBox="true"/>
          <p:nvPr/>
        </p:nvSpPr>
        <p:spPr>
          <a:xfrm rot="0">
            <a:off x="1904222" y="3644208"/>
            <a:ext cx="11461140" cy="1588389"/>
          </a:xfrm>
          <a:prstGeom prst="rect">
            <a:avLst/>
          </a:prstGeom>
        </p:spPr>
        <p:txBody>
          <a:bodyPr anchor="t" rtlCol="false" tIns="0" lIns="0" bIns="0" rIns="0">
            <a:spAutoFit/>
          </a:bodyPr>
          <a:lstStyle/>
          <a:p>
            <a:pPr algn="l">
              <a:lnSpc>
                <a:spcPts val="5376"/>
              </a:lnSpc>
            </a:pPr>
            <a:r>
              <a:rPr lang="en-US" sz="3200" b="true">
                <a:solidFill>
                  <a:srgbClr val="000000"/>
                </a:solidFill>
                <a:latin typeface="Arial MT Pro Bold"/>
                <a:ea typeface="Arial MT Pro Bold"/>
                <a:cs typeface="Arial MT Pro Bold"/>
                <a:sym typeface="Arial MT Pro Bold"/>
              </a:rPr>
              <a:t>Modificación</a:t>
            </a:r>
            <a:r>
              <a:rPr lang="en-US" sz="3200">
                <a:solidFill>
                  <a:srgbClr val="000000"/>
                </a:solidFill>
                <a:latin typeface="Arial MT Pro"/>
                <a:ea typeface="Arial MT Pro"/>
                <a:cs typeface="Arial MT Pro"/>
                <a:sym typeface="Arial MT Pro"/>
              </a:rPr>
              <a:t>: Al igual que para el acceso se usan índices para reasignar el valor de una posición.</a:t>
            </a:r>
          </a:p>
        </p:txBody>
      </p:sp>
      <p:sp>
        <p:nvSpPr>
          <p:cNvPr name="TextBox 4" id="4"/>
          <p:cNvSpPr txBox="true"/>
          <p:nvPr/>
        </p:nvSpPr>
        <p:spPr>
          <a:xfrm rot="0">
            <a:off x="1904222" y="2159120"/>
            <a:ext cx="12443106" cy="1114425"/>
          </a:xfrm>
          <a:prstGeom prst="rect">
            <a:avLst/>
          </a:prstGeom>
        </p:spPr>
        <p:txBody>
          <a:bodyPr anchor="t" rtlCol="false" tIns="0" lIns="0" bIns="0" rIns="0">
            <a:spAutoFit/>
          </a:bodyPr>
          <a:lstStyle/>
          <a:p>
            <a:pPr algn="l">
              <a:lnSpc>
                <a:spcPts val="7558"/>
              </a:lnSpc>
            </a:pPr>
            <a:r>
              <a:rPr lang="en-US" sz="4500">
                <a:solidFill>
                  <a:srgbClr val="152540"/>
                </a:solidFill>
                <a:latin typeface="Arial MT Pro"/>
                <a:ea typeface="Arial MT Pro"/>
                <a:cs typeface="Arial MT Pro"/>
                <a:sym typeface="Arial MT Pro"/>
              </a:rPr>
              <a:t>ACCESO Y MODIFICACIÓN</a:t>
            </a:r>
          </a:p>
        </p:txBody>
      </p:sp>
      <p:grpSp>
        <p:nvGrpSpPr>
          <p:cNvPr name="Group 5" id="5"/>
          <p:cNvGrpSpPr>
            <a:grpSpLocks noChangeAspect="true"/>
          </p:cNvGrpSpPr>
          <p:nvPr/>
        </p:nvGrpSpPr>
        <p:grpSpPr>
          <a:xfrm rot="0">
            <a:off x="9688255" y="6002261"/>
            <a:ext cx="7037260" cy="2161189"/>
            <a:chOff x="0" y="0"/>
            <a:chExt cx="9383013" cy="2881585"/>
          </a:xfrm>
        </p:grpSpPr>
        <p:sp>
          <p:nvSpPr>
            <p:cNvPr name="Freeform 6" id="6"/>
            <p:cNvSpPr/>
            <p:nvPr/>
          </p:nvSpPr>
          <p:spPr>
            <a:xfrm flipH="false" flipV="false" rot="0">
              <a:off x="0" y="0"/>
              <a:ext cx="9383014" cy="2881630"/>
            </a:xfrm>
            <a:custGeom>
              <a:avLst/>
              <a:gdLst/>
              <a:ahLst/>
              <a:cxnLst/>
              <a:rect r="r" b="b" t="t" l="l"/>
              <a:pathLst>
                <a:path h="2881630" w="9383014">
                  <a:moveTo>
                    <a:pt x="0" y="0"/>
                  </a:moveTo>
                  <a:lnTo>
                    <a:pt x="9383014" y="0"/>
                  </a:lnTo>
                  <a:lnTo>
                    <a:pt x="9383014" y="2881630"/>
                  </a:lnTo>
                  <a:lnTo>
                    <a:pt x="0" y="2881630"/>
                  </a:lnTo>
                  <a:lnTo>
                    <a:pt x="0" y="0"/>
                  </a:lnTo>
                  <a:close/>
                </a:path>
              </a:pathLst>
            </a:custGeom>
            <a:blipFill>
              <a:blip r:embed="rId3"/>
              <a:stretch>
                <a:fillRect l="0" t="0" r="0" b="1"/>
              </a:stretch>
            </a:blipFill>
          </p:spPr>
        </p:sp>
      </p:grpSp>
      <p:grpSp>
        <p:nvGrpSpPr>
          <p:cNvPr name="Group 7" id="7"/>
          <p:cNvGrpSpPr>
            <a:grpSpLocks noChangeAspect="true"/>
          </p:cNvGrpSpPr>
          <p:nvPr/>
        </p:nvGrpSpPr>
        <p:grpSpPr>
          <a:xfrm rot="0">
            <a:off x="3326489" y="5840161"/>
            <a:ext cx="5997355" cy="2485389"/>
            <a:chOff x="0" y="0"/>
            <a:chExt cx="7996473" cy="3313852"/>
          </a:xfrm>
        </p:grpSpPr>
        <p:sp>
          <p:nvSpPr>
            <p:cNvPr name="Freeform 8" id="8"/>
            <p:cNvSpPr/>
            <p:nvPr/>
          </p:nvSpPr>
          <p:spPr>
            <a:xfrm flipH="false" flipV="false" rot="0">
              <a:off x="0" y="0"/>
              <a:ext cx="7996428" cy="3313811"/>
            </a:xfrm>
            <a:custGeom>
              <a:avLst/>
              <a:gdLst/>
              <a:ahLst/>
              <a:cxnLst/>
              <a:rect r="r" b="b" t="t" l="l"/>
              <a:pathLst>
                <a:path h="3313811" w="7996428">
                  <a:moveTo>
                    <a:pt x="0" y="0"/>
                  </a:moveTo>
                  <a:lnTo>
                    <a:pt x="7996428" y="0"/>
                  </a:lnTo>
                  <a:lnTo>
                    <a:pt x="7996428" y="3313811"/>
                  </a:lnTo>
                  <a:lnTo>
                    <a:pt x="0" y="3313811"/>
                  </a:lnTo>
                  <a:lnTo>
                    <a:pt x="0" y="0"/>
                  </a:lnTo>
                  <a:close/>
                </a:path>
              </a:pathLst>
            </a:custGeom>
            <a:blipFill>
              <a:blip r:embed="rId4"/>
              <a:stretch>
                <a:fillRect l="0" t="0" r="0" b="-1"/>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904222" y="1234133"/>
            <a:ext cx="11630208" cy="1401068"/>
          </a:xfrm>
          <a:prstGeom prst="rect">
            <a:avLst/>
          </a:prstGeom>
        </p:spPr>
        <p:txBody>
          <a:bodyPr anchor="t" rtlCol="false" tIns="0" lIns="0" bIns="0" rIns="0">
            <a:spAutoFit/>
          </a:bodyPr>
          <a:lstStyle/>
          <a:p>
            <a:pPr algn="l">
              <a:lnSpc>
                <a:spcPts val="8399"/>
              </a:lnSpc>
            </a:pPr>
            <a:r>
              <a:rPr lang="en-US" sz="4999">
                <a:solidFill>
                  <a:srgbClr val="152540"/>
                </a:solidFill>
                <a:latin typeface="Arial MT Pro"/>
                <a:ea typeface="Arial MT Pro"/>
                <a:cs typeface="Arial MT Pro"/>
                <a:sym typeface="Arial MT Pro"/>
              </a:rPr>
              <a:t>ARREGLOS EN JAVASCRIPT</a:t>
            </a:r>
          </a:p>
        </p:txBody>
      </p:sp>
      <p:sp>
        <p:nvSpPr>
          <p:cNvPr name="TextBox 3" id="3"/>
          <p:cNvSpPr txBox="true"/>
          <p:nvPr/>
        </p:nvSpPr>
        <p:spPr>
          <a:xfrm rot="0">
            <a:off x="1904222" y="3663258"/>
            <a:ext cx="11461140" cy="898970"/>
          </a:xfrm>
          <a:prstGeom prst="rect">
            <a:avLst/>
          </a:prstGeom>
        </p:spPr>
        <p:txBody>
          <a:bodyPr anchor="t" rtlCol="false" tIns="0" lIns="0" bIns="0" rIns="0">
            <a:spAutoFit/>
          </a:bodyPr>
          <a:lstStyle/>
          <a:p>
            <a:pPr algn="l">
              <a:lnSpc>
                <a:spcPts val="5376"/>
              </a:lnSpc>
            </a:pPr>
            <a:r>
              <a:rPr lang="en-US" sz="3200">
                <a:solidFill>
                  <a:srgbClr val="000000"/>
                </a:solidFill>
                <a:latin typeface="Arial MT Pro"/>
                <a:ea typeface="Arial MT Pro"/>
                <a:cs typeface="Arial MT Pro"/>
                <a:sym typeface="Arial MT Pro"/>
              </a:rPr>
              <a:t>También es posible modificar un arreglo completo:</a:t>
            </a:r>
          </a:p>
        </p:txBody>
      </p:sp>
      <p:sp>
        <p:nvSpPr>
          <p:cNvPr name="TextBox 4" id="4"/>
          <p:cNvSpPr txBox="true"/>
          <p:nvPr/>
        </p:nvSpPr>
        <p:spPr>
          <a:xfrm rot="0">
            <a:off x="1904222" y="2159120"/>
            <a:ext cx="13645942" cy="1114425"/>
          </a:xfrm>
          <a:prstGeom prst="rect">
            <a:avLst/>
          </a:prstGeom>
        </p:spPr>
        <p:txBody>
          <a:bodyPr anchor="t" rtlCol="false" tIns="0" lIns="0" bIns="0" rIns="0">
            <a:spAutoFit/>
          </a:bodyPr>
          <a:lstStyle/>
          <a:p>
            <a:pPr algn="l">
              <a:lnSpc>
                <a:spcPts val="7558"/>
              </a:lnSpc>
            </a:pPr>
            <a:r>
              <a:rPr lang="en-US" sz="4500">
                <a:solidFill>
                  <a:srgbClr val="152540"/>
                </a:solidFill>
                <a:latin typeface="Arial MT Pro"/>
                <a:ea typeface="Arial MT Pro"/>
                <a:cs typeface="Arial MT Pro"/>
                <a:sym typeface="Arial MT Pro"/>
              </a:rPr>
              <a:t>MODIFICACIÓN DE ARREGLO</a:t>
            </a:r>
          </a:p>
        </p:txBody>
      </p:sp>
      <p:grpSp>
        <p:nvGrpSpPr>
          <p:cNvPr name="Group 5" id="5"/>
          <p:cNvGrpSpPr>
            <a:grpSpLocks noChangeAspect="true"/>
          </p:cNvGrpSpPr>
          <p:nvPr/>
        </p:nvGrpSpPr>
        <p:grpSpPr>
          <a:xfrm rot="0">
            <a:off x="4911385" y="5143500"/>
            <a:ext cx="6593678" cy="3795820"/>
            <a:chOff x="0" y="0"/>
            <a:chExt cx="8791571" cy="5061093"/>
          </a:xfrm>
        </p:grpSpPr>
        <p:sp>
          <p:nvSpPr>
            <p:cNvPr name="Freeform 6" id="6"/>
            <p:cNvSpPr/>
            <p:nvPr/>
          </p:nvSpPr>
          <p:spPr>
            <a:xfrm flipH="false" flipV="false" rot="0">
              <a:off x="0" y="0"/>
              <a:ext cx="8791575" cy="5061077"/>
            </a:xfrm>
            <a:custGeom>
              <a:avLst/>
              <a:gdLst/>
              <a:ahLst/>
              <a:cxnLst/>
              <a:rect r="r" b="b" t="t" l="l"/>
              <a:pathLst>
                <a:path h="5061077" w="8791575">
                  <a:moveTo>
                    <a:pt x="0" y="0"/>
                  </a:moveTo>
                  <a:lnTo>
                    <a:pt x="8791575" y="0"/>
                  </a:lnTo>
                  <a:lnTo>
                    <a:pt x="8791575" y="5061077"/>
                  </a:lnTo>
                  <a:lnTo>
                    <a:pt x="0" y="5061077"/>
                  </a:lnTo>
                  <a:lnTo>
                    <a:pt x="0" y="0"/>
                  </a:lnTo>
                  <a:close/>
                </a:path>
              </a:pathLst>
            </a:custGeom>
            <a:blipFill>
              <a:blip r:embed="rId3"/>
              <a:stretch>
                <a:fillRect l="0" t="0" r="0"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904222" y="1234133"/>
            <a:ext cx="11630208" cy="1401068"/>
          </a:xfrm>
          <a:prstGeom prst="rect">
            <a:avLst/>
          </a:prstGeom>
        </p:spPr>
        <p:txBody>
          <a:bodyPr anchor="t" rtlCol="false" tIns="0" lIns="0" bIns="0" rIns="0">
            <a:spAutoFit/>
          </a:bodyPr>
          <a:lstStyle/>
          <a:p>
            <a:pPr algn="l">
              <a:lnSpc>
                <a:spcPts val="8399"/>
              </a:lnSpc>
            </a:pPr>
            <a:r>
              <a:rPr lang="en-US" sz="4999">
                <a:solidFill>
                  <a:srgbClr val="152540"/>
                </a:solidFill>
                <a:latin typeface="Arial MT Pro"/>
                <a:ea typeface="Arial MT Pro"/>
                <a:cs typeface="Arial MT Pro"/>
                <a:sym typeface="Arial MT Pro"/>
              </a:rPr>
              <a:t>ARREGLOS EN JAVASCRIPT</a:t>
            </a:r>
          </a:p>
        </p:txBody>
      </p:sp>
      <p:sp>
        <p:nvSpPr>
          <p:cNvPr name="TextBox 3" id="3"/>
          <p:cNvSpPr txBox="true"/>
          <p:nvPr/>
        </p:nvSpPr>
        <p:spPr>
          <a:xfrm rot="0">
            <a:off x="1904222" y="3672783"/>
            <a:ext cx="11461140" cy="695465"/>
          </a:xfrm>
          <a:prstGeom prst="rect">
            <a:avLst/>
          </a:prstGeom>
        </p:spPr>
        <p:txBody>
          <a:bodyPr anchor="t" rtlCol="false" tIns="0" lIns="0" bIns="0" rIns="0">
            <a:spAutoFit/>
          </a:bodyPr>
          <a:lstStyle/>
          <a:p>
            <a:pPr algn="l">
              <a:lnSpc>
                <a:spcPts val="5030"/>
              </a:lnSpc>
            </a:pPr>
            <a:r>
              <a:rPr lang="en-US" sz="2994">
                <a:solidFill>
                  <a:srgbClr val="152540"/>
                </a:solidFill>
                <a:latin typeface="Arial MT Pro"/>
                <a:ea typeface="Arial MT Pro"/>
                <a:cs typeface="Arial MT Pro"/>
                <a:sym typeface="Arial MT Pro"/>
              </a:rPr>
              <a:t>Arreglo Unidimensional</a:t>
            </a:r>
          </a:p>
        </p:txBody>
      </p:sp>
      <p:sp>
        <p:nvSpPr>
          <p:cNvPr name="TextBox 4" id="4"/>
          <p:cNvSpPr txBox="true"/>
          <p:nvPr/>
        </p:nvSpPr>
        <p:spPr>
          <a:xfrm rot="0">
            <a:off x="1904222" y="2159120"/>
            <a:ext cx="13410644" cy="1114425"/>
          </a:xfrm>
          <a:prstGeom prst="rect">
            <a:avLst/>
          </a:prstGeom>
        </p:spPr>
        <p:txBody>
          <a:bodyPr anchor="t" rtlCol="false" tIns="0" lIns="0" bIns="0" rIns="0">
            <a:spAutoFit/>
          </a:bodyPr>
          <a:lstStyle/>
          <a:p>
            <a:pPr algn="l">
              <a:lnSpc>
                <a:spcPts val="7558"/>
              </a:lnSpc>
            </a:pPr>
            <a:r>
              <a:rPr lang="en-US" sz="4500">
                <a:solidFill>
                  <a:srgbClr val="152540"/>
                </a:solidFill>
                <a:latin typeface="Arial MT Pro"/>
                <a:ea typeface="Arial MT Pro"/>
                <a:cs typeface="Arial MT Pro"/>
                <a:sym typeface="Arial MT Pro"/>
              </a:rPr>
              <a:t>REPRESENTACIÓN GRÁFICA</a:t>
            </a:r>
          </a:p>
        </p:txBody>
      </p:sp>
      <p:grpSp>
        <p:nvGrpSpPr>
          <p:cNvPr name="Group 5" id="5"/>
          <p:cNvGrpSpPr>
            <a:grpSpLocks noChangeAspect="true"/>
          </p:cNvGrpSpPr>
          <p:nvPr/>
        </p:nvGrpSpPr>
        <p:grpSpPr>
          <a:xfrm rot="0">
            <a:off x="4710562" y="4821434"/>
            <a:ext cx="7790787" cy="4941438"/>
            <a:chOff x="0" y="0"/>
            <a:chExt cx="10387716" cy="6588584"/>
          </a:xfrm>
        </p:grpSpPr>
        <p:sp>
          <p:nvSpPr>
            <p:cNvPr name="Freeform 6" id="6" descr="Escala de tiempo  El contenido generado por IA puede ser incorrecto."/>
            <p:cNvSpPr/>
            <p:nvPr/>
          </p:nvSpPr>
          <p:spPr>
            <a:xfrm flipH="false" flipV="false" rot="0">
              <a:off x="0" y="0"/>
              <a:ext cx="10387711" cy="6588633"/>
            </a:xfrm>
            <a:custGeom>
              <a:avLst/>
              <a:gdLst/>
              <a:ahLst/>
              <a:cxnLst/>
              <a:rect r="r" b="b" t="t" l="l"/>
              <a:pathLst>
                <a:path h="6588633" w="10387711">
                  <a:moveTo>
                    <a:pt x="0" y="0"/>
                  </a:moveTo>
                  <a:lnTo>
                    <a:pt x="10387711" y="0"/>
                  </a:lnTo>
                  <a:lnTo>
                    <a:pt x="10387711" y="6588633"/>
                  </a:lnTo>
                  <a:lnTo>
                    <a:pt x="0" y="6588633"/>
                  </a:lnTo>
                  <a:lnTo>
                    <a:pt x="0" y="0"/>
                  </a:lnTo>
                  <a:close/>
                </a:path>
              </a:pathLst>
            </a:custGeom>
            <a:blipFill>
              <a:blip r:embed="rId3"/>
              <a:stretch>
                <a:fillRect l="0" t="0" r="0"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904222" y="1234133"/>
            <a:ext cx="11630208" cy="1244600"/>
          </a:xfrm>
          <a:prstGeom prst="rect">
            <a:avLst/>
          </a:prstGeom>
        </p:spPr>
        <p:txBody>
          <a:bodyPr anchor="t" rtlCol="false" tIns="0" lIns="0" bIns="0" rIns="0">
            <a:spAutoFit/>
          </a:bodyPr>
          <a:lstStyle/>
          <a:p>
            <a:pPr algn="l">
              <a:lnSpc>
                <a:spcPts val="8399"/>
              </a:lnSpc>
            </a:pPr>
            <a:r>
              <a:rPr lang="en-US" sz="4999">
                <a:solidFill>
                  <a:srgbClr val="152540"/>
                </a:solidFill>
                <a:latin typeface="Arial MT Pro"/>
                <a:ea typeface="Arial MT Pro"/>
                <a:cs typeface="Arial MT Pro"/>
                <a:sym typeface="Arial MT Pro"/>
              </a:rPr>
              <a:t>ARREGLOS EN JAVA</a:t>
            </a:r>
          </a:p>
        </p:txBody>
      </p:sp>
      <p:sp>
        <p:nvSpPr>
          <p:cNvPr name="TextBox 3" id="3"/>
          <p:cNvSpPr txBox="true"/>
          <p:nvPr/>
        </p:nvSpPr>
        <p:spPr>
          <a:xfrm rot="0">
            <a:off x="1904222" y="3672783"/>
            <a:ext cx="11461140" cy="695465"/>
          </a:xfrm>
          <a:prstGeom prst="rect">
            <a:avLst/>
          </a:prstGeom>
        </p:spPr>
        <p:txBody>
          <a:bodyPr anchor="t" rtlCol="false" tIns="0" lIns="0" bIns="0" rIns="0">
            <a:spAutoFit/>
          </a:bodyPr>
          <a:lstStyle/>
          <a:p>
            <a:pPr algn="l">
              <a:lnSpc>
                <a:spcPts val="5030"/>
              </a:lnSpc>
            </a:pPr>
            <a:r>
              <a:rPr lang="en-US" sz="2994">
                <a:solidFill>
                  <a:srgbClr val="152540"/>
                </a:solidFill>
                <a:latin typeface="Arial MT Pro"/>
                <a:ea typeface="Arial MT Pro"/>
                <a:cs typeface="Arial MT Pro"/>
                <a:sym typeface="Arial MT Pro"/>
              </a:rPr>
              <a:t>Arreglo Bidimensional</a:t>
            </a:r>
          </a:p>
        </p:txBody>
      </p:sp>
      <p:sp>
        <p:nvSpPr>
          <p:cNvPr name="TextBox 4" id="4"/>
          <p:cNvSpPr txBox="true"/>
          <p:nvPr/>
        </p:nvSpPr>
        <p:spPr>
          <a:xfrm rot="0">
            <a:off x="1904222" y="2159120"/>
            <a:ext cx="13410644" cy="1114425"/>
          </a:xfrm>
          <a:prstGeom prst="rect">
            <a:avLst/>
          </a:prstGeom>
        </p:spPr>
        <p:txBody>
          <a:bodyPr anchor="t" rtlCol="false" tIns="0" lIns="0" bIns="0" rIns="0">
            <a:spAutoFit/>
          </a:bodyPr>
          <a:lstStyle/>
          <a:p>
            <a:pPr algn="l">
              <a:lnSpc>
                <a:spcPts val="7558"/>
              </a:lnSpc>
            </a:pPr>
            <a:r>
              <a:rPr lang="en-US" sz="4500">
                <a:solidFill>
                  <a:srgbClr val="152540"/>
                </a:solidFill>
                <a:latin typeface="Arial MT Pro"/>
                <a:ea typeface="Arial MT Pro"/>
                <a:cs typeface="Arial MT Pro"/>
                <a:sym typeface="Arial MT Pro"/>
              </a:rPr>
              <a:t>REPRESENTACIÓN GRÁFICA</a:t>
            </a:r>
          </a:p>
        </p:txBody>
      </p:sp>
      <p:grpSp>
        <p:nvGrpSpPr>
          <p:cNvPr name="Group 5" id="5"/>
          <p:cNvGrpSpPr>
            <a:grpSpLocks noChangeAspect="true"/>
          </p:cNvGrpSpPr>
          <p:nvPr/>
        </p:nvGrpSpPr>
        <p:grpSpPr>
          <a:xfrm rot="0">
            <a:off x="4312452" y="4967511"/>
            <a:ext cx="9218659" cy="4422149"/>
            <a:chOff x="0" y="0"/>
            <a:chExt cx="12291545" cy="5896199"/>
          </a:xfrm>
        </p:grpSpPr>
        <p:sp>
          <p:nvSpPr>
            <p:cNvPr name="Freeform 6" id="6"/>
            <p:cNvSpPr/>
            <p:nvPr/>
          </p:nvSpPr>
          <p:spPr>
            <a:xfrm flipH="false" flipV="false" rot="0">
              <a:off x="0" y="0"/>
              <a:ext cx="12291568" cy="5896229"/>
            </a:xfrm>
            <a:custGeom>
              <a:avLst/>
              <a:gdLst/>
              <a:ahLst/>
              <a:cxnLst/>
              <a:rect r="r" b="b" t="t" l="l"/>
              <a:pathLst>
                <a:path h="5896229" w="12291568">
                  <a:moveTo>
                    <a:pt x="0" y="0"/>
                  </a:moveTo>
                  <a:lnTo>
                    <a:pt x="12291568" y="0"/>
                  </a:lnTo>
                  <a:lnTo>
                    <a:pt x="12291568" y="5896229"/>
                  </a:lnTo>
                  <a:lnTo>
                    <a:pt x="0" y="5896229"/>
                  </a:lnTo>
                  <a:lnTo>
                    <a:pt x="0" y="0"/>
                  </a:lnTo>
                  <a:close/>
                </a:path>
              </a:pathLst>
            </a:custGeom>
            <a:blipFill>
              <a:blip r:embed="rId3"/>
              <a:stretch>
                <a:fillRect l="0" t="0" r="0"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904222" y="3672783"/>
            <a:ext cx="11461140" cy="695465"/>
          </a:xfrm>
          <a:prstGeom prst="rect">
            <a:avLst/>
          </a:prstGeom>
        </p:spPr>
        <p:txBody>
          <a:bodyPr anchor="t" rtlCol="false" tIns="0" lIns="0" bIns="0" rIns="0">
            <a:spAutoFit/>
          </a:bodyPr>
          <a:lstStyle/>
          <a:p>
            <a:pPr algn="l">
              <a:lnSpc>
                <a:spcPts val="5030"/>
              </a:lnSpc>
            </a:pPr>
            <a:r>
              <a:rPr lang="en-US" sz="2994">
                <a:solidFill>
                  <a:srgbClr val="152540"/>
                </a:solidFill>
                <a:latin typeface="Arial MT Pro"/>
                <a:ea typeface="Arial MT Pro"/>
                <a:cs typeface="Arial MT Pro"/>
                <a:sym typeface="Arial MT Pro"/>
              </a:rPr>
              <a:t>Arreglo Multidimensional</a:t>
            </a:r>
          </a:p>
        </p:txBody>
      </p:sp>
      <p:sp>
        <p:nvSpPr>
          <p:cNvPr name="TextBox 3" id="3"/>
          <p:cNvSpPr txBox="true"/>
          <p:nvPr/>
        </p:nvSpPr>
        <p:spPr>
          <a:xfrm rot="0">
            <a:off x="1904222" y="1234133"/>
            <a:ext cx="11630208" cy="1244600"/>
          </a:xfrm>
          <a:prstGeom prst="rect">
            <a:avLst/>
          </a:prstGeom>
        </p:spPr>
        <p:txBody>
          <a:bodyPr anchor="t" rtlCol="false" tIns="0" lIns="0" bIns="0" rIns="0">
            <a:spAutoFit/>
          </a:bodyPr>
          <a:lstStyle/>
          <a:p>
            <a:pPr algn="l">
              <a:lnSpc>
                <a:spcPts val="8399"/>
              </a:lnSpc>
            </a:pPr>
            <a:r>
              <a:rPr lang="en-US" sz="4999">
                <a:solidFill>
                  <a:srgbClr val="152540"/>
                </a:solidFill>
                <a:latin typeface="Arial MT Pro"/>
                <a:ea typeface="Arial MT Pro"/>
                <a:cs typeface="Arial MT Pro"/>
                <a:sym typeface="Arial MT Pro"/>
              </a:rPr>
              <a:t>ARREGLOS EN JAVA</a:t>
            </a:r>
          </a:p>
        </p:txBody>
      </p:sp>
      <p:sp>
        <p:nvSpPr>
          <p:cNvPr name="TextBox 4" id="4"/>
          <p:cNvSpPr txBox="true"/>
          <p:nvPr/>
        </p:nvSpPr>
        <p:spPr>
          <a:xfrm rot="0">
            <a:off x="1904222" y="2159120"/>
            <a:ext cx="13410644" cy="1114425"/>
          </a:xfrm>
          <a:prstGeom prst="rect">
            <a:avLst/>
          </a:prstGeom>
        </p:spPr>
        <p:txBody>
          <a:bodyPr anchor="t" rtlCol="false" tIns="0" lIns="0" bIns="0" rIns="0">
            <a:spAutoFit/>
          </a:bodyPr>
          <a:lstStyle/>
          <a:p>
            <a:pPr algn="l">
              <a:lnSpc>
                <a:spcPts val="7558"/>
              </a:lnSpc>
            </a:pPr>
            <a:r>
              <a:rPr lang="en-US" sz="4500">
                <a:solidFill>
                  <a:srgbClr val="152540"/>
                </a:solidFill>
                <a:latin typeface="Arial MT Pro"/>
                <a:ea typeface="Arial MT Pro"/>
                <a:cs typeface="Arial MT Pro"/>
                <a:sym typeface="Arial MT Pro"/>
              </a:rPr>
              <a:t>REPRESENTACIÓN GRÁFICA</a:t>
            </a:r>
          </a:p>
        </p:txBody>
      </p:sp>
      <p:grpSp>
        <p:nvGrpSpPr>
          <p:cNvPr name="Group 5" id="5"/>
          <p:cNvGrpSpPr>
            <a:grpSpLocks noChangeAspect="true"/>
          </p:cNvGrpSpPr>
          <p:nvPr/>
        </p:nvGrpSpPr>
        <p:grpSpPr>
          <a:xfrm rot="0">
            <a:off x="4960514" y="4821916"/>
            <a:ext cx="7377062" cy="4830220"/>
            <a:chOff x="0" y="0"/>
            <a:chExt cx="9836083" cy="6440293"/>
          </a:xfrm>
        </p:grpSpPr>
        <p:sp>
          <p:nvSpPr>
            <p:cNvPr name="Freeform 6" id="6"/>
            <p:cNvSpPr/>
            <p:nvPr/>
          </p:nvSpPr>
          <p:spPr>
            <a:xfrm flipH="false" flipV="false" rot="0">
              <a:off x="0" y="0"/>
              <a:ext cx="9836023" cy="6440297"/>
            </a:xfrm>
            <a:custGeom>
              <a:avLst/>
              <a:gdLst/>
              <a:ahLst/>
              <a:cxnLst/>
              <a:rect r="r" b="b" t="t" l="l"/>
              <a:pathLst>
                <a:path h="6440297" w="9836023">
                  <a:moveTo>
                    <a:pt x="0" y="0"/>
                  </a:moveTo>
                  <a:lnTo>
                    <a:pt x="9836023" y="0"/>
                  </a:lnTo>
                  <a:lnTo>
                    <a:pt x="9836023" y="6440297"/>
                  </a:lnTo>
                  <a:lnTo>
                    <a:pt x="0" y="6440297"/>
                  </a:lnTo>
                  <a:lnTo>
                    <a:pt x="0" y="0"/>
                  </a:lnTo>
                  <a:close/>
                </a:path>
              </a:pathLst>
            </a:custGeom>
            <a:blipFill>
              <a:blip r:embed="rId3"/>
              <a:stretch>
                <a:fillRect l="0" t="0" r="0" b="0"/>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17724" y="783758"/>
            <a:ext cx="15860592" cy="3767100"/>
          </a:xfrm>
          <a:prstGeom prst="rect">
            <a:avLst/>
          </a:prstGeom>
        </p:spPr>
        <p:txBody>
          <a:bodyPr anchor="t" rtlCol="false" tIns="0" lIns="0" bIns="0" rIns="0">
            <a:spAutoFit/>
          </a:bodyPr>
          <a:lstStyle/>
          <a:p>
            <a:pPr algn="l">
              <a:lnSpc>
                <a:spcPts val="8399"/>
              </a:lnSpc>
            </a:pPr>
            <a:r>
              <a:rPr lang="en-US" sz="4999">
                <a:solidFill>
                  <a:srgbClr val="152540"/>
                </a:solidFill>
                <a:latin typeface="Arial MT Pro"/>
                <a:ea typeface="Arial MT Pro"/>
                <a:cs typeface="Arial MT Pro"/>
                <a:sym typeface="Arial MT Pro"/>
              </a:rPr>
              <a:t>OTROS CASOS DE ARREGLOS</a:t>
            </a:r>
          </a:p>
          <a:p>
            <a:pPr algn="just">
              <a:lnSpc>
                <a:spcPts val="5029"/>
              </a:lnSpc>
            </a:pPr>
            <a:r>
              <a:rPr lang="en-US" sz="2994">
                <a:solidFill>
                  <a:srgbClr val="152540"/>
                </a:solidFill>
                <a:latin typeface="Arial MT Pro"/>
                <a:ea typeface="Arial MT Pro"/>
                <a:cs typeface="Arial MT Pro"/>
                <a:sym typeface="Arial MT Pro"/>
              </a:rPr>
              <a:t>Los strings en JavaScript son inmutables, pero ofrecen métodos poderosos para convertirse en arreglos, facilitando la manipulación de texto. Esta conversión es fundamental en el procesamiento de datos textuales y análisis léxico.</a:t>
            </a:r>
          </a:p>
          <a:p>
            <a:pPr algn="l">
              <a:lnSpc>
                <a:spcPts val="5029"/>
              </a:lnSpc>
            </a:pPr>
          </a:p>
        </p:txBody>
      </p:sp>
      <p:sp>
        <p:nvSpPr>
          <p:cNvPr name="TextBox 3" id="3"/>
          <p:cNvSpPr txBox="true"/>
          <p:nvPr/>
        </p:nvSpPr>
        <p:spPr>
          <a:xfrm rot="0">
            <a:off x="1717724" y="4943475"/>
            <a:ext cx="15519398" cy="2135170"/>
          </a:xfrm>
          <a:prstGeom prst="rect">
            <a:avLst/>
          </a:prstGeom>
        </p:spPr>
        <p:txBody>
          <a:bodyPr anchor="t" rtlCol="false" tIns="0" lIns="0" bIns="0" rIns="0">
            <a:spAutoFit/>
          </a:bodyPr>
          <a:lstStyle/>
          <a:p>
            <a:pPr algn="just">
              <a:lnSpc>
                <a:spcPts val="5030"/>
              </a:lnSpc>
            </a:pPr>
            <a:r>
              <a:rPr lang="en-US" sz="2994">
                <a:solidFill>
                  <a:srgbClr val="152540"/>
                </a:solidFill>
                <a:latin typeface="Arial MT Pro"/>
                <a:ea typeface="Arial MT Pro"/>
                <a:cs typeface="Arial MT Pro"/>
                <a:sym typeface="Arial MT Pro"/>
              </a:rPr>
              <a:t>La conversión de string a arreglo de caracteres es esencial para algoritmos que requieren manipulación a nivel de carácter, como palíndromos, cifrado o análisis de patrones. Es posible convertir un String en un arreglo de caracteres con el método .split(''):</a:t>
            </a:r>
          </a:p>
        </p:txBody>
      </p:sp>
      <p:sp>
        <p:nvSpPr>
          <p:cNvPr name="TextBox 4" id="4"/>
          <p:cNvSpPr txBox="true"/>
          <p:nvPr/>
        </p:nvSpPr>
        <p:spPr>
          <a:xfrm rot="0">
            <a:off x="1717724" y="3846008"/>
            <a:ext cx="11274643" cy="1114425"/>
          </a:xfrm>
          <a:prstGeom prst="rect">
            <a:avLst/>
          </a:prstGeom>
        </p:spPr>
        <p:txBody>
          <a:bodyPr anchor="t" rtlCol="false" tIns="0" lIns="0" bIns="0" rIns="0">
            <a:spAutoFit/>
          </a:bodyPr>
          <a:lstStyle/>
          <a:p>
            <a:pPr algn="l">
              <a:lnSpc>
                <a:spcPts val="7558"/>
              </a:lnSpc>
            </a:pPr>
            <a:r>
              <a:rPr lang="en-US" sz="4500">
                <a:solidFill>
                  <a:srgbClr val="152540"/>
                </a:solidFill>
                <a:latin typeface="Arial MT Pro"/>
                <a:ea typeface="Arial MT Pro"/>
                <a:cs typeface="Arial MT Pro"/>
                <a:sym typeface="Arial MT Pro"/>
              </a:rPr>
              <a:t>STRING → CHAR[]</a:t>
            </a:r>
          </a:p>
        </p:txBody>
      </p:sp>
      <p:grpSp>
        <p:nvGrpSpPr>
          <p:cNvPr name="Group 5" id="5"/>
          <p:cNvGrpSpPr>
            <a:grpSpLocks noChangeAspect="true"/>
          </p:cNvGrpSpPr>
          <p:nvPr/>
        </p:nvGrpSpPr>
        <p:grpSpPr>
          <a:xfrm rot="0">
            <a:off x="4673665" y="7365124"/>
            <a:ext cx="8318702" cy="2490076"/>
            <a:chOff x="0" y="0"/>
            <a:chExt cx="11091603" cy="3320101"/>
          </a:xfrm>
        </p:grpSpPr>
        <p:sp>
          <p:nvSpPr>
            <p:cNvPr name="Freeform 6" id="6"/>
            <p:cNvSpPr/>
            <p:nvPr/>
          </p:nvSpPr>
          <p:spPr>
            <a:xfrm flipH="false" flipV="false" rot="0">
              <a:off x="0" y="0"/>
              <a:ext cx="11091545" cy="3320161"/>
            </a:xfrm>
            <a:custGeom>
              <a:avLst/>
              <a:gdLst/>
              <a:ahLst/>
              <a:cxnLst/>
              <a:rect r="r" b="b" t="t" l="l"/>
              <a:pathLst>
                <a:path h="3320161" w="11091545">
                  <a:moveTo>
                    <a:pt x="0" y="0"/>
                  </a:moveTo>
                  <a:lnTo>
                    <a:pt x="11091545" y="0"/>
                  </a:lnTo>
                  <a:lnTo>
                    <a:pt x="11091545" y="3320161"/>
                  </a:lnTo>
                  <a:lnTo>
                    <a:pt x="0" y="3320161"/>
                  </a:lnTo>
                  <a:lnTo>
                    <a:pt x="0" y="0"/>
                  </a:lnTo>
                  <a:close/>
                </a:path>
              </a:pathLst>
            </a:custGeom>
            <a:blipFill>
              <a:blip r:embed="rId3"/>
              <a:stretch>
                <a:fillRect l="0" t="0" r="0" b="1"/>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904222" y="1234133"/>
            <a:ext cx="14990969" cy="1244600"/>
          </a:xfrm>
          <a:prstGeom prst="rect">
            <a:avLst/>
          </a:prstGeom>
        </p:spPr>
        <p:txBody>
          <a:bodyPr anchor="t" rtlCol="false" tIns="0" lIns="0" bIns="0" rIns="0">
            <a:spAutoFit/>
          </a:bodyPr>
          <a:lstStyle/>
          <a:p>
            <a:pPr algn="l">
              <a:lnSpc>
                <a:spcPts val="8399"/>
              </a:lnSpc>
            </a:pPr>
            <a:r>
              <a:rPr lang="en-US" sz="4999">
                <a:solidFill>
                  <a:srgbClr val="152540"/>
                </a:solidFill>
                <a:latin typeface="Arial MT Pro"/>
                <a:ea typeface="Arial MT Pro"/>
                <a:cs typeface="Arial MT Pro"/>
                <a:sym typeface="Arial MT Pro"/>
              </a:rPr>
              <a:t>OTROS CASOS DE ARREGLOS</a:t>
            </a:r>
          </a:p>
        </p:txBody>
      </p:sp>
      <p:sp>
        <p:nvSpPr>
          <p:cNvPr name="TextBox 3" id="3"/>
          <p:cNvSpPr txBox="true"/>
          <p:nvPr/>
        </p:nvSpPr>
        <p:spPr>
          <a:xfrm rot="0">
            <a:off x="1904221" y="3672783"/>
            <a:ext cx="14473091" cy="2135170"/>
          </a:xfrm>
          <a:prstGeom prst="rect">
            <a:avLst/>
          </a:prstGeom>
        </p:spPr>
        <p:txBody>
          <a:bodyPr anchor="t" rtlCol="false" tIns="0" lIns="0" bIns="0" rIns="0">
            <a:spAutoFit/>
          </a:bodyPr>
          <a:lstStyle/>
          <a:p>
            <a:pPr algn="just">
              <a:lnSpc>
                <a:spcPts val="5030"/>
              </a:lnSpc>
            </a:pPr>
            <a:r>
              <a:rPr lang="en-US" sz="2994">
                <a:solidFill>
                  <a:srgbClr val="152540"/>
                </a:solidFill>
                <a:latin typeface="Arial MT Pro"/>
                <a:ea typeface="Arial MT Pro"/>
                <a:cs typeface="Arial MT Pro"/>
                <a:sym typeface="Arial MT Pro"/>
              </a:rPr>
              <a:t>La tokenización de strings es crucial en el procesamiento de lenguaje natural y análisis sintáctico, permitiendo separar un texto en unidades significativas. Es posible convertir un String en un arreglo de palabras con el método .split(' '):</a:t>
            </a:r>
          </a:p>
        </p:txBody>
      </p:sp>
      <p:sp>
        <p:nvSpPr>
          <p:cNvPr name="TextBox 4" id="4"/>
          <p:cNvSpPr txBox="true"/>
          <p:nvPr/>
        </p:nvSpPr>
        <p:spPr>
          <a:xfrm rot="0">
            <a:off x="1904222" y="2159120"/>
            <a:ext cx="11274643" cy="1114425"/>
          </a:xfrm>
          <a:prstGeom prst="rect">
            <a:avLst/>
          </a:prstGeom>
        </p:spPr>
        <p:txBody>
          <a:bodyPr anchor="t" rtlCol="false" tIns="0" lIns="0" bIns="0" rIns="0">
            <a:spAutoFit/>
          </a:bodyPr>
          <a:lstStyle/>
          <a:p>
            <a:pPr algn="l">
              <a:lnSpc>
                <a:spcPts val="7558"/>
              </a:lnSpc>
            </a:pPr>
            <a:r>
              <a:rPr lang="en-US" sz="4500">
                <a:solidFill>
                  <a:srgbClr val="152540"/>
                </a:solidFill>
                <a:latin typeface="Arial MT Pro"/>
                <a:ea typeface="Arial MT Pro"/>
                <a:cs typeface="Arial MT Pro"/>
                <a:sym typeface="Arial MT Pro"/>
              </a:rPr>
              <a:t>STRING → STRING[]</a:t>
            </a:r>
          </a:p>
        </p:txBody>
      </p:sp>
      <p:grpSp>
        <p:nvGrpSpPr>
          <p:cNvPr name="Group 5" id="5"/>
          <p:cNvGrpSpPr>
            <a:grpSpLocks noChangeAspect="true"/>
          </p:cNvGrpSpPr>
          <p:nvPr/>
        </p:nvGrpSpPr>
        <p:grpSpPr>
          <a:xfrm rot="0">
            <a:off x="4987975" y="6407216"/>
            <a:ext cx="8312050" cy="2321801"/>
            <a:chOff x="0" y="0"/>
            <a:chExt cx="11082733" cy="3095735"/>
          </a:xfrm>
        </p:grpSpPr>
        <p:sp>
          <p:nvSpPr>
            <p:cNvPr name="Freeform 6" id="6"/>
            <p:cNvSpPr/>
            <p:nvPr/>
          </p:nvSpPr>
          <p:spPr>
            <a:xfrm flipH="false" flipV="false" rot="0">
              <a:off x="0" y="0"/>
              <a:ext cx="11082782" cy="3095752"/>
            </a:xfrm>
            <a:custGeom>
              <a:avLst/>
              <a:gdLst/>
              <a:ahLst/>
              <a:cxnLst/>
              <a:rect r="r" b="b" t="t" l="l"/>
              <a:pathLst>
                <a:path h="3095752" w="11082782">
                  <a:moveTo>
                    <a:pt x="0" y="0"/>
                  </a:moveTo>
                  <a:lnTo>
                    <a:pt x="11082782" y="0"/>
                  </a:lnTo>
                  <a:lnTo>
                    <a:pt x="11082782" y="3095752"/>
                  </a:lnTo>
                  <a:lnTo>
                    <a:pt x="0" y="3095752"/>
                  </a:lnTo>
                  <a:lnTo>
                    <a:pt x="0" y="0"/>
                  </a:lnTo>
                  <a:close/>
                </a:path>
              </a:pathLst>
            </a:custGeom>
            <a:blipFill>
              <a:blip r:embed="rId3"/>
              <a:stretch>
                <a:fillRect l="0" t="0" r="0" b="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383176" y="762812"/>
            <a:ext cx="13155150" cy="1244600"/>
          </a:xfrm>
          <a:prstGeom prst="rect">
            <a:avLst/>
          </a:prstGeom>
        </p:spPr>
        <p:txBody>
          <a:bodyPr anchor="t" rtlCol="false" tIns="0" lIns="0" bIns="0" rIns="0">
            <a:spAutoFit/>
          </a:bodyPr>
          <a:lstStyle/>
          <a:p>
            <a:pPr algn="ctr">
              <a:lnSpc>
                <a:spcPts val="8399"/>
              </a:lnSpc>
            </a:pPr>
            <a:r>
              <a:rPr lang="en-US" sz="4999">
                <a:solidFill>
                  <a:srgbClr val="000000"/>
                </a:solidFill>
                <a:latin typeface="Arial MT Pro"/>
                <a:ea typeface="Arial MT Pro"/>
                <a:cs typeface="Arial MT Pro"/>
                <a:sym typeface="Arial MT Pro"/>
              </a:rPr>
              <a:t>ESTRUCTURAS DE DATOS</a:t>
            </a:r>
          </a:p>
        </p:txBody>
      </p:sp>
      <p:sp>
        <p:nvSpPr>
          <p:cNvPr name="TextBox 3" id="3"/>
          <p:cNvSpPr txBox="true"/>
          <p:nvPr/>
        </p:nvSpPr>
        <p:spPr>
          <a:xfrm rot="0">
            <a:off x="1160163" y="2074931"/>
            <a:ext cx="16568279" cy="7601760"/>
          </a:xfrm>
          <a:prstGeom prst="rect">
            <a:avLst/>
          </a:prstGeom>
        </p:spPr>
        <p:txBody>
          <a:bodyPr anchor="t" rtlCol="false" tIns="0" lIns="0" bIns="0" rIns="0">
            <a:spAutoFit/>
          </a:bodyPr>
          <a:lstStyle/>
          <a:p>
            <a:pPr algn="just">
              <a:lnSpc>
                <a:spcPts val="4703"/>
              </a:lnSpc>
            </a:pPr>
            <a:r>
              <a:rPr lang="en-US" sz="2799">
                <a:solidFill>
                  <a:srgbClr val="000000"/>
                </a:solidFill>
                <a:latin typeface="Arial MT Pro"/>
                <a:ea typeface="Arial MT Pro"/>
                <a:cs typeface="Arial MT Pro"/>
                <a:sym typeface="Arial MT Pro"/>
              </a:rPr>
              <a:t>JavaScript ofrece diversas estructuras de datos nativas que optimizan diferentes tipos de operaciones. La elección de la estructura correcta impacta significativamente en el rendimiento y la claridad del código.</a:t>
            </a:r>
          </a:p>
          <a:p>
            <a:pPr algn="just">
              <a:lnSpc>
                <a:spcPts val="4703"/>
              </a:lnSpc>
            </a:pPr>
          </a:p>
          <a:p>
            <a:pPr algn="just">
              <a:lnSpc>
                <a:spcPts val="4703"/>
              </a:lnSpc>
            </a:pPr>
            <a:r>
              <a:rPr lang="en-US" sz="2799" b="true">
                <a:solidFill>
                  <a:srgbClr val="000000"/>
                </a:solidFill>
                <a:latin typeface="Arial MT Pro Bold"/>
                <a:ea typeface="Arial MT Pro Bold"/>
                <a:cs typeface="Arial MT Pro Bold"/>
                <a:sym typeface="Arial MT Pro Bold"/>
              </a:rPr>
              <a:t>MAP</a:t>
            </a:r>
          </a:p>
          <a:p>
            <a:pPr algn="just">
              <a:lnSpc>
                <a:spcPts val="4703"/>
              </a:lnSpc>
            </a:pPr>
            <a:r>
              <a:rPr lang="en-US" sz="2799">
                <a:solidFill>
                  <a:srgbClr val="000000"/>
                </a:solidFill>
                <a:latin typeface="Arial MT Pro"/>
                <a:ea typeface="Arial MT Pro"/>
                <a:cs typeface="Arial MT Pro"/>
                <a:sym typeface="Arial MT Pro"/>
              </a:rPr>
              <a:t>El objeto Map es una estructura de datos introducida en ES6 que mejora las limitaciones de los objetos tradicionales como contenedores clave-valor. Mantiene el orden de inserción y permite claves de cualquier tipo, no solo strings.</a:t>
            </a:r>
          </a:p>
          <a:p>
            <a:pPr algn="l">
              <a:lnSpc>
                <a:spcPts val="3359"/>
              </a:lnSpc>
            </a:pPr>
            <a:r>
              <a:rPr lang="en-US" sz="2799" b="true">
                <a:solidFill>
                  <a:srgbClr val="000000"/>
                </a:solidFill>
                <a:latin typeface="Arial MT Pro Bold"/>
                <a:ea typeface="Arial MT Pro Bold"/>
                <a:cs typeface="Arial MT Pro Bold"/>
                <a:sym typeface="Arial MT Pro Bold"/>
              </a:rPr>
              <a:t>Características:</a:t>
            </a:r>
          </a:p>
          <a:p>
            <a:pPr algn="l">
              <a:lnSpc>
                <a:spcPts val="3359"/>
              </a:lnSpc>
            </a:pPr>
            <a:r>
              <a:rPr lang="en-US" sz="2799">
                <a:solidFill>
                  <a:srgbClr val="000000"/>
                </a:solidFill>
                <a:latin typeface="Arial MT Pro"/>
                <a:ea typeface="Arial MT Pro"/>
                <a:cs typeface="Arial MT Pro"/>
                <a:sym typeface="Arial MT Pro"/>
              </a:rPr>
              <a:t>- Almacena pares clave-valor</a:t>
            </a:r>
          </a:p>
          <a:p>
            <a:pPr algn="l">
              <a:lnSpc>
                <a:spcPts val="3359"/>
              </a:lnSpc>
            </a:pPr>
            <a:r>
              <a:rPr lang="en-US" sz="2799">
                <a:solidFill>
                  <a:srgbClr val="000000"/>
                </a:solidFill>
                <a:latin typeface="Arial MT Pro"/>
                <a:ea typeface="Arial MT Pro"/>
                <a:cs typeface="Arial MT Pro"/>
                <a:sym typeface="Arial MT Pro"/>
              </a:rPr>
              <a:t>- Permite acceso eficiente a los valores mediante claves</a:t>
            </a:r>
          </a:p>
          <a:p>
            <a:pPr algn="l">
              <a:lnSpc>
                <a:spcPts val="3359"/>
              </a:lnSpc>
            </a:pPr>
            <a:r>
              <a:rPr lang="en-US" sz="2799">
                <a:solidFill>
                  <a:srgbClr val="000000"/>
                </a:solidFill>
                <a:latin typeface="Arial MT Pro"/>
                <a:ea typeface="Arial MT Pro"/>
                <a:cs typeface="Arial MT Pro"/>
                <a:sym typeface="Arial MT Pro"/>
              </a:rPr>
              <a:t>- Rendimiento rápido para operaciones de búsqueda</a:t>
            </a:r>
          </a:p>
          <a:p>
            <a:pPr algn="l">
              <a:lnSpc>
                <a:spcPts val="3359"/>
              </a:lnSpc>
            </a:pPr>
            <a:r>
              <a:rPr lang="en-US" sz="2799">
                <a:solidFill>
                  <a:srgbClr val="000000"/>
                </a:solidFill>
                <a:latin typeface="Arial MT Pro"/>
                <a:ea typeface="Arial MT Pro"/>
                <a:cs typeface="Arial MT Pro"/>
                <a:sym typeface="Arial MT Pro"/>
              </a:rPr>
              <a:t>- Métodos propios para manipulación de datos</a:t>
            </a:r>
          </a:p>
          <a:p>
            <a:pPr algn="l">
              <a:lnSpc>
                <a:spcPts val="3359"/>
              </a:lnSpc>
            </a:pPr>
            <a:r>
              <a:rPr lang="en-US" sz="2799">
                <a:solidFill>
                  <a:srgbClr val="000000"/>
                </a:solidFill>
                <a:latin typeface="Arial MT Pro"/>
                <a:ea typeface="Arial MT Pro"/>
                <a:cs typeface="Arial MT Pro"/>
                <a:sym typeface="Arial MT Pro"/>
              </a:rPr>
              <a:t>- Nativo en JavaScript ES6+</a:t>
            </a:r>
          </a:p>
        </p:txBody>
      </p:sp>
      <p:grpSp>
        <p:nvGrpSpPr>
          <p:cNvPr name="Group 4" id="4"/>
          <p:cNvGrpSpPr>
            <a:grpSpLocks noChangeAspect="true"/>
          </p:cNvGrpSpPr>
          <p:nvPr/>
        </p:nvGrpSpPr>
        <p:grpSpPr>
          <a:xfrm rot="0">
            <a:off x="11023786" y="6673344"/>
            <a:ext cx="5722636" cy="2798201"/>
            <a:chOff x="0" y="0"/>
            <a:chExt cx="7630181" cy="3730935"/>
          </a:xfrm>
        </p:grpSpPr>
        <p:sp>
          <p:nvSpPr>
            <p:cNvPr name="Freeform 5" id="5"/>
            <p:cNvSpPr/>
            <p:nvPr/>
          </p:nvSpPr>
          <p:spPr>
            <a:xfrm flipH="false" flipV="false" rot="0">
              <a:off x="0" y="0"/>
              <a:ext cx="7630160" cy="3730879"/>
            </a:xfrm>
            <a:custGeom>
              <a:avLst/>
              <a:gdLst/>
              <a:ahLst/>
              <a:cxnLst/>
              <a:rect r="r" b="b" t="t" l="l"/>
              <a:pathLst>
                <a:path h="3730879" w="7630160">
                  <a:moveTo>
                    <a:pt x="0" y="0"/>
                  </a:moveTo>
                  <a:lnTo>
                    <a:pt x="7630160" y="0"/>
                  </a:lnTo>
                  <a:lnTo>
                    <a:pt x="7630160" y="3730879"/>
                  </a:lnTo>
                  <a:lnTo>
                    <a:pt x="0" y="3730879"/>
                  </a:lnTo>
                  <a:lnTo>
                    <a:pt x="0" y="0"/>
                  </a:lnTo>
                  <a:close/>
                </a:path>
              </a:pathLst>
            </a:custGeom>
            <a:blipFill>
              <a:blip r:embed="rId3"/>
              <a:stretch>
                <a:fillRect l="0" t="0" r="0" b="-1"/>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383176" y="762812"/>
            <a:ext cx="13155150" cy="1244600"/>
          </a:xfrm>
          <a:prstGeom prst="rect">
            <a:avLst/>
          </a:prstGeom>
        </p:spPr>
        <p:txBody>
          <a:bodyPr anchor="t" rtlCol="false" tIns="0" lIns="0" bIns="0" rIns="0">
            <a:spAutoFit/>
          </a:bodyPr>
          <a:lstStyle/>
          <a:p>
            <a:pPr algn="ctr">
              <a:lnSpc>
                <a:spcPts val="8399"/>
              </a:lnSpc>
            </a:pPr>
            <a:r>
              <a:rPr lang="en-US" sz="4999">
                <a:solidFill>
                  <a:srgbClr val="000000"/>
                </a:solidFill>
                <a:latin typeface="Arial MT Pro"/>
                <a:ea typeface="Arial MT Pro"/>
                <a:cs typeface="Arial MT Pro"/>
                <a:sym typeface="Arial MT Pro"/>
              </a:rPr>
              <a:t>ESTRUCTURAS DE DATOS</a:t>
            </a:r>
          </a:p>
        </p:txBody>
      </p:sp>
      <p:sp>
        <p:nvSpPr>
          <p:cNvPr name="TextBox 3" id="3"/>
          <p:cNvSpPr txBox="true"/>
          <p:nvPr/>
        </p:nvSpPr>
        <p:spPr>
          <a:xfrm rot="0">
            <a:off x="1105571" y="1950262"/>
            <a:ext cx="16759347" cy="4666853"/>
          </a:xfrm>
          <a:prstGeom prst="rect">
            <a:avLst/>
          </a:prstGeom>
        </p:spPr>
        <p:txBody>
          <a:bodyPr anchor="t" rtlCol="false" tIns="0" lIns="0" bIns="0" rIns="0">
            <a:spAutoFit/>
          </a:bodyPr>
          <a:lstStyle/>
          <a:p>
            <a:pPr algn="l">
              <a:lnSpc>
                <a:spcPts val="3359"/>
              </a:lnSpc>
            </a:pPr>
            <a:r>
              <a:rPr lang="en-US" sz="2799" b="true">
                <a:solidFill>
                  <a:srgbClr val="000000"/>
                </a:solidFill>
                <a:latin typeface="Arial MT Pro Bold"/>
                <a:ea typeface="Arial MT Pro Bold"/>
                <a:cs typeface="Arial MT Pro Bold"/>
                <a:sym typeface="Arial MT Pro Bold"/>
              </a:rPr>
              <a:t>OBJECT</a:t>
            </a:r>
          </a:p>
          <a:p>
            <a:pPr algn="just">
              <a:lnSpc>
                <a:spcPts val="3359"/>
              </a:lnSpc>
            </a:pPr>
            <a:r>
              <a:rPr lang="en-US" sz="2799">
                <a:solidFill>
                  <a:srgbClr val="000000"/>
                </a:solidFill>
                <a:latin typeface="Arial MT Pro"/>
                <a:ea typeface="Arial MT Pro"/>
                <a:cs typeface="Arial MT Pro"/>
                <a:sym typeface="Arial MT Pro"/>
              </a:rPr>
              <a:t>Los objetos son la estructura de datos fundamental en JavaScript, sirviendo como base para la mayoría de construcciones del lenguaje. Son especialmente útiles para representar entidades del mundo real con propiedades y métodos.</a:t>
            </a:r>
          </a:p>
          <a:p>
            <a:pPr algn="l">
              <a:lnSpc>
                <a:spcPts val="3359"/>
              </a:lnSpc>
            </a:pPr>
          </a:p>
          <a:p>
            <a:pPr algn="l">
              <a:lnSpc>
                <a:spcPts val="3359"/>
              </a:lnSpc>
            </a:pPr>
            <a:r>
              <a:rPr lang="en-US" sz="2799" b="true">
                <a:solidFill>
                  <a:srgbClr val="000000"/>
                </a:solidFill>
                <a:latin typeface="Arial MT Pro Bold"/>
                <a:ea typeface="Arial MT Pro Bold"/>
                <a:cs typeface="Arial MT Pro Bold"/>
                <a:sym typeface="Arial MT Pro Bold"/>
              </a:rPr>
              <a:t>Características:</a:t>
            </a:r>
          </a:p>
          <a:p>
            <a:pPr algn="l">
              <a:lnSpc>
                <a:spcPts val="3359"/>
              </a:lnSpc>
            </a:pPr>
            <a:r>
              <a:rPr lang="en-US" sz="2799">
                <a:solidFill>
                  <a:srgbClr val="000000"/>
                </a:solidFill>
                <a:latin typeface="Arial MT Pro"/>
                <a:ea typeface="Arial MT Pro"/>
                <a:cs typeface="Arial MT Pro"/>
                <a:sym typeface="Arial MT Pro"/>
              </a:rPr>
              <a:t>- Almacena pares clave-valor</a:t>
            </a:r>
          </a:p>
          <a:p>
            <a:pPr algn="l">
              <a:lnSpc>
                <a:spcPts val="3359"/>
              </a:lnSpc>
            </a:pPr>
            <a:r>
              <a:rPr lang="en-US" sz="2799">
                <a:solidFill>
                  <a:srgbClr val="000000"/>
                </a:solidFill>
                <a:latin typeface="Arial MT Pro"/>
                <a:ea typeface="Arial MT Pro"/>
                <a:cs typeface="Arial MT Pro"/>
                <a:sym typeface="Arial MT Pro"/>
              </a:rPr>
              <a:t>- Permite acceso eficiente a los valores mediante claves</a:t>
            </a:r>
          </a:p>
          <a:p>
            <a:pPr algn="l">
              <a:lnSpc>
                <a:spcPts val="3359"/>
              </a:lnSpc>
            </a:pPr>
            <a:r>
              <a:rPr lang="en-US" sz="2799">
                <a:solidFill>
                  <a:srgbClr val="000000"/>
                </a:solidFill>
                <a:latin typeface="Arial MT Pro"/>
                <a:ea typeface="Arial MT Pro"/>
                <a:cs typeface="Arial MT Pro"/>
                <a:sym typeface="Arial MT Pro"/>
              </a:rPr>
              <a:t>- Las claves son strings o símbolos</a:t>
            </a:r>
          </a:p>
          <a:p>
            <a:pPr algn="l">
              <a:lnSpc>
                <a:spcPts val="3359"/>
              </a:lnSpc>
            </a:pPr>
            <a:r>
              <a:rPr lang="en-US" sz="2799">
                <a:solidFill>
                  <a:srgbClr val="000000"/>
                </a:solidFill>
                <a:latin typeface="Arial MT Pro"/>
                <a:ea typeface="Arial MT Pro"/>
                <a:cs typeface="Arial MT Pro"/>
                <a:sym typeface="Arial MT Pro"/>
              </a:rPr>
              <a:t>- Métodos propios para manipulación de datos</a:t>
            </a:r>
          </a:p>
          <a:p>
            <a:pPr algn="l">
              <a:lnSpc>
                <a:spcPts val="3359"/>
              </a:lnSpc>
            </a:pPr>
            <a:r>
              <a:rPr lang="en-US" sz="2799">
                <a:solidFill>
                  <a:srgbClr val="000000"/>
                </a:solidFill>
                <a:latin typeface="Arial MT Pro"/>
                <a:ea typeface="Arial MT Pro"/>
                <a:cs typeface="Arial MT Pro"/>
                <a:sym typeface="Arial MT Pro"/>
              </a:rPr>
              <a:t>- Estructura fundamental en JavaScript</a:t>
            </a:r>
          </a:p>
        </p:txBody>
      </p:sp>
      <p:grpSp>
        <p:nvGrpSpPr>
          <p:cNvPr name="Group 4" id="4"/>
          <p:cNvGrpSpPr>
            <a:grpSpLocks noChangeAspect="true"/>
          </p:cNvGrpSpPr>
          <p:nvPr/>
        </p:nvGrpSpPr>
        <p:grpSpPr>
          <a:xfrm rot="0">
            <a:off x="10651615" y="6383487"/>
            <a:ext cx="3938926" cy="3268470"/>
            <a:chOff x="0" y="0"/>
            <a:chExt cx="5251901" cy="4357960"/>
          </a:xfrm>
        </p:grpSpPr>
        <p:sp>
          <p:nvSpPr>
            <p:cNvPr name="Freeform 5" id="5"/>
            <p:cNvSpPr/>
            <p:nvPr/>
          </p:nvSpPr>
          <p:spPr>
            <a:xfrm flipH="false" flipV="false" rot="0">
              <a:off x="0" y="0"/>
              <a:ext cx="5251958" cy="4358005"/>
            </a:xfrm>
            <a:custGeom>
              <a:avLst/>
              <a:gdLst/>
              <a:ahLst/>
              <a:cxnLst/>
              <a:rect r="r" b="b" t="t" l="l"/>
              <a:pathLst>
                <a:path h="4358005" w="5251958">
                  <a:moveTo>
                    <a:pt x="0" y="0"/>
                  </a:moveTo>
                  <a:lnTo>
                    <a:pt x="5251958" y="0"/>
                  </a:lnTo>
                  <a:lnTo>
                    <a:pt x="5251958" y="4358005"/>
                  </a:lnTo>
                  <a:lnTo>
                    <a:pt x="0" y="4358005"/>
                  </a:lnTo>
                  <a:lnTo>
                    <a:pt x="0" y="0"/>
                  </a:lnTo>
                  <a:close/>
                </a:path>
              </a:pathLst>
            </a:custGeom>
            <a:blipFill>
              <a:blip r:embed="rId3"/>
              <a:stretch>
                <a:fillRect l="0" t="0" r="1" b="1"/>
              </a:stretch>
            </a:blipFill>
          </p:spPr>
        </p:sp>
      </p:grpSp>
      <p:sp>
        <p:nvSpPr>
          <p:cNvPr name="TextBox 6" id="6"/>
          <p:cNvSpPr txBox="true"/>
          <p:nvPr/>
        </p:nvSpPr>
        <p:spPr>
          <a:xfrm rot="0">
            <a:off x="11269873" y="4667286"/>
            <a:ext cx="5989427" cy="476214"/>
          </a:xfrm>
          <a:prstGeom prst="rect">
            <a:avLst/>
          </a:prstGeom>
        </p:spPr>
        <p:txBody>
          <a:bodyPr anchor="t" rtlCol="false" tIns="0" lIns="0" bIns="0" rIns="0">
            <a:spAutoFit/>
          </a:bodyPr>
          <a:lstStyle/>
          <a:p>
            <a:pPr algn="l">
              <a:lnSpc>
                <a:spcPts val="3359"/>
              </a:lnSpc>
            </a:pPr>
            <a:r>
              <a:rPr lang="en-US" sz="2799" b="true">
                <a:solidFill>
                  <a:srgbClr val="000000"/>
                </a:solidFill>
                <a:latin typeface="Arial MT Pro Bold"/>
                <a:ea typeface="Arial MT Pro Bold"/>
                <a:cs typeface="Arial MT Pro Bold"/>
                <a:sym typeface="Arial MT Pro Bold"/>
              </a:rPr>
              <a:t>JSON: JavaScript Object Notation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383176" y="762812"/>
            <a:ext cx="13155150" cy="1244600"/>
          </a:xfrm>
          <a:prstGeom prst="rect">
            <a:avLst/>
          </a:prstGeom>
        </p:spPr>
        <p:txBody>
          <a:bodyPr anchor="t" rtlCol="false" tIns="0" lIns="0" bIns="0" rIns="0">
            <a:spAutoFit/>
          </a:bodyPr>
          <a:lstStyle/>
          <a:p>
            <a:pPr algn="ctr">
              <a:lnSpc>
                <a:spcPts val="8399"/>
              </a:lnSpc>
            </a:pPr>
            <a:r>
              <a:rPr lang="en-US" sz="4999">
                <a:solidFill>
                  <a:srgbClr val="000000"/>
                </a:solidFill>
                <a:latin typeface="Arial MT Pro"/>
                <a:ea typeface="Arial MT Pro"/>
                <a:cs typeface="Arial MT Pro"/>
                <a:sym typeface="Arial MT Pro"/>
              </a:rPr>
              <a:t>ESTRUCTURAS DE DATOS</a:t>
            </a:r>
          </a:p>
        </p:txBody>
      </p:sp>
      <p:sp>
        <p:nvSpPr>
          <p:cNvPr name="TextBox 3" id="3"/>
          <p:cNvSpPr txBox="true"/>
          <p:nvPr/>
        </p:nvSpPr>
        <p:spPr>
          <a:xfrm rot="0">
            <a:off x="1050981" y="2168627"/>
            <a:ext cx="16827585" cy="4559921"/>
          </a:xfrm>
          <a:prstGeom prst="rect">
            <a:avLst/>
          </a:prstGeom>
        </p:spPr>
        <p:txBody>
          <a:bodyPr anchor="t" rtlCol="false" tIns="0" lIns="0" bIns="0" rIns="0">
            <a:spAutoFit/>
          </a:bodyPr>
          <a:lstStyle/>
          <a:p>
            <a:pPr algn="l">
              <a:lnSpc>
                <a:spcPts val="3359"/>
              </a:lnSpc>
            </a:pPr>
            <a:r>
              <a:rPr lang="en-US" sz="2799" b="true">
                <a:solidFill>
                  <a:srgbClr val="000000"/>
                </a:solidFill>
                <a:latin typeface="Arial MT Pro Bold"/>
                <a:ea typeface="Arial MT Pro Bold"/>
                <a:cs typeface="Arial MT Pro Bold"/>
                <a:sym typeface="Arial MT Pro Bold"/>
              </a:rPr>
              <a:t>ARRAY</a:t>
            </a:r>
          </a:p>
          <a:p>
            <a:pPr algn="just">
              <a:lnSpc>
                <a:spcPts val="3359"/>
              </a:lnSpc>
            </a:pPr>
            <a:r>
              <a:rPr lang="en-US" sz="2799">
                <a:solidFill>
                  <a:srgbClr val="000000"/>
                </a:solidFill>
                <a:latin typeface="Arial MT Pro"/>
                <a:ea typeface="Arial MT Pro"/>
                <a:cs typeface="Arial MT Pro"/>
                <a:sym typeface="Arial MT Pro"/>
              </a:rPr>
              <a:t>Los arreglos en JavaScript son objetos especializados optimizados para almacenar secuencias ordenadas. Su naturaleza dinámica y los métodos integrados los convierten en una herramienta versátil para el manejo de colecciones.</a:t>
            </a:r>
          </a:p>
          <a:p>
            <a:pPr algn="just">
              <a:lnSpc>
                <a:spcPts val="3359"/>
              </a:lnSpc>
            </a:pPr>
          </a:p>
          <a:p>
            <a:pPr algn="l">
              <a:lnSpc>
                <a:spcPts val="3359"/>
              </a:lnSpc>
            </a:pPr>
            <a:r>
              <a:rPr lang="en-US" sz="2799" b="true">
                <a:solidFill>
                  <a:srgbClr val="000000"/>
                </a:solidFill>
                <a:latin typeface="Arial MT Pro Bold"/>
                <a:ea typeface="Arial MT Pro Bold"/>
                <a:cs typeface="Arial MT Pro Bold"/>
                <a:sym typeface="Arial MT Pro Bold"/>
              </a:rPr>
              <a:t>Características:</a:t>
            </a:r>
          </a:p>
          <a:p>
            <a:pPr algn="l">
              <a:lnSpc>
                <a:spcPts val="3359"/>
              </a:lnSpc>
            </a:pPr>
            <a:r>
              <a:rPr lang="en-US" sz="2799">
                <a:solidFill>
                  <a:srgbClr val="000000"/>
                </a:solidFill>
                <a:latin typeface="Arial MT Pro"/>
                <a:ea typeface="Arial MT Pro"/>
                <a:cs typeface="Arial MT Pro"/>
                <a:sym typeface="Arial MT Pro"/>
              </a:rPr>
              <a:t>- Una estructura de datos dinámica que permite almacenar elementos de cualquier tipo</a:t>
            </a:r>
          </a:p>
          <a:p>
            <a:pPr algn="l">
              <a:lnSpc>
                <a:spcPts val="3359"/>
              </a:lnSpc>
            </a:pPr>
            <a:r>
              <a:rPr lang="en-US" sz="2799">
                <a:solidFill>
                  <a:srgbClr val="000000"/>
                </a:solidFill>
                <a:latin typeface="Arial MT Pro"/>
                <a:ea typeface="Arial MT Pro"/>
                <a:cs typeface="Arial MT Pro"/>
                <a:sym typeface="Arial MT Pro"/>
              </a:rPr>
              <a:t>- Su tamaño puede cambiar dinámicamente</a:t>
            </a:r>
          </a:p>
          <a:p>
            <a:pPr algn="l">
              <a:lnSpc>
                <a:spcPts val="3359"/>
              </a:lnSpc>
            </a:pPr>
            <a:r>
              <a:rPr lang="en-US" sz="2799">
                <a:solidFill>
                  <a:srgbClr val="000000"/>
                </a:solidFill>
                <a:latin typeface="Arial MT Pro"/>
                <a:ea typeface="Arial MT Pro"/>
                <a:cs typeface="Arial MT Pro"/>
                <a:sym typeface="Arial MT Pro"/>
              </a:rPr>
              <a:t>- Métodos propios para manipulación de datos</a:t>
            </a:r>
          </a:p>
          <a:p>
            <a:pPr algn="l">
              <a:lnSpc>
                <a:spcPts val="3359"/>
              </a:lnSpc>
            </a:pPr>
            <a:r>
              <a:rPr lang="en-US" sz="2799">
                <a:solidFill>
                  <a:srgbClr val="000000"/>
                </a:solidFill>
                <a:latin typeface="Arial MT Pro"/>
                <a:ea typeface="Arial MT Pro"/>
                <a:cs typeface="Arial MT Pro"/>
                <a:sym typeface="Arial MT Pro"/>
              </a:rPr>
              <a:t>- Nativo en JavaScript</a:t>
            </a:r>
          </a:p>
          <a:p>
            <a:pPr algn="just">
              <a:lnSpc>
                <a:spcPts val="4703"/>
              </a:lnSpc>
            </a:pPr>
          </a:p>
        </p:txBody>
      </p:sp>
      <p:grpSp>
        <p:nvGrpSpPr>
          <p:cNvPr name="Group 4" id="4"/>
          <p:cNvGrpSpPr>
            <a:grpSpLocks noChangeAspect="true"/>
          </p:cNvGrpSpPr>
          <p:nvPr/>
        </p:nvGrpSpPr>
        <p:grpSpPr>
          <a:xfrm rot="0">
            <a:off x="6099308" y="6728548"/>
            <a:ext cx="5648803" cy="2770294"/>
            <a:chOff x="0" y="0"/>
            <a:chExt cx="7531737" cy="3693725"/>
          </a:xfrm>
        </p:grpSpPr>
        <p:sp>
          <p:nvSpPr>
            <p:cNvPr name="Freeform 5" id="5"/>
            <p:cNvSpPr/>
            <p:nvPr/>
          </p:nvSpPr>
          <p:spPr>
            <a:xfrm flipH="false" flipV="false" rot="0">
              <a:off x="0" y="0"/>
              <a:ext cx="7531735" cy="3693668"/>
            </a:xfrm>
            <a:custGeom>
              <a:avLst/>
              <a:gdLst/>
              <a:ahLst/>
              <a:cxnLst/>
              <a:rect r="r" b="b" t="t" l="l"/>
              <a:pathLst>
                <a:path h="3693668" w="7531735">
                  <a:moveTo>
                    <a:pt x="0" y="0"/>
                  </a:moveTo>
                  <a:lnTo>
                    <a:pt x="7531735" y="0"/>
                  </a:lnTo>
                  <a:lnTo>
                    <a:pt x="7531735" y="3693668"/>
                  </a:lnTo>
                  <a:lnTo>
                    <a:pt x="0" y="3693668"/>
                  </a:lnTo>
                  <a:lnTo>
                    <a:pt x="0" y="0"/>
                  </a:lnTo>
                  <a:close/>
                </a:path>
              </a:pathLst>
            </a:custGeom>
            <a:blipFill>
              <a:blip r:embed="rId3"/>
              <a:stretch>
                <a:fillRect l="0" t="0" r="0" b="-1"/>
              </a:stretch>
            </a:blipFill>
          </p:spPr>
        </p:sp>
      </p:gr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674821" y="762812"/>
            <a:ext cx="12938358" cy="1244600"/>
          </a:xfrm>
          <a:prstGeom prst="rect">
            <a:avLst/>
          </a:prstGeom>
        </p:spPr>
        <p:txBody>
          <a:bodyPr anchor="t" rtlCol="false" tIns="0" lIns="0" bIns="0" rIns="0">
            <a:spAutoFit/>
          </a:bodyPr>
          <a:lstStyle/>
          <a:p>
            <a:pPr algn="ctr">
              <a:lnSpc>
                <a:spcPts val="8399"/>
              </a:lnSpc>
            </a:pPr>
            <a:r>
              <a:rPr lang="en-US" sz="4999">
                <a:solidFill>
                  <a:srgbClr val="000000"/>
                </a:solidFill>
                <a:latin typeface="Arial MT Pro"/>
                <a:ea typeface="Arial MT Pro"/>
                <a:cs typeface="Arial MT Pro"/>
                <a:sym typeface="Arial MT Pro"/>
              </a:rPr>
              <a:t>ITERACIÓN</a:t>
            </a:r>
          </a:p>
        </p:txBody>
      </p:sp>
      <p:sp>
        <p:nvSpPr>
          <p:cNvPr name="TextBox 3" id="3"/>
          <p:cNvSpPr txBox="true"/>
          <p:nvPr/>
        </p:nvSpPr>
        <p:spPr>
          <a:xfrm rot="0">
            <a:off x="1091681" y="1816912"/>
            <a:ext cx="16336510" cy="7537127"/>
          </a:xfrm>
          <a:prstGeom prst="rect">
            <a:avLst/>
          </a:prstGeom>
        </p:spPr>
        <p:txBody>
          <a:bodyPr anchor="t" rtlCol="false" tIns="0" lIns="0" bIns="0" rIns="0">
            <a:spAutoFit/>
          </a:bodyPr>
          <a:lstStyle/>
          <a:p>
            <a:pPr algn="just">
              <a:lnSpc>
                <a:spcPts val="4703"/>
              </a:lnSpc>
            </a:pPr>
            <a:r>
              <a:rPr lang="en-US" sz="2799">
                <a:solidFill>
                  <a:srgbClr val="000000"/>
                </a:solidFill>
                <a:latin typeface="Arial MT Pro"/>
                <a:ea typeface="Arial MT Pro"/>
                <a:cs typeface="Arial MT Pro"/>
                <a:sym typeface="Arial MT Pro"/>
              </a:rPr>
              <a:t>La iteración es un concepto fundamental en programación que permite ejecutar código repetidamente sobre colecciones de datos. JavaScript ofrece múltiples paradigmas de iteración, desde estructuras imperativas tradicionales hasta enfoques funcionales modernos.</a:t>
            </a:r>
          </a:p>
          <a:p>
            <a:pPr algn="just">
              <a:lnSpc>
                <a:spcPts val="4703"/>
              </a:lnSpc>
            </a:pPr>
          </a:p>
          <a:p>
            <a:pPr algn="l">
              <a:lnSpc>
                <a:spcPts val="3359"/>
              </a:lnSpc>
            </a:pPr>
            <a:r>
              <a:rPr lang="en-US" sz="2799" b="true">
                <a:solidFill>
                  <a:srgbClr val="000000"/>
                </a:solidFill>
                <a:latin typeface="Arial MT Pro Bold"/>
                <a:ea typeface="Arial MT Pro Bold"/>
                <a:cs typeface="Arial MT Pro Bold"/>
                <a:sym typeface="Arial MT Pro Bold"/>
              </a:rPr>
              <a:t>CLÁSICA</a:t>
            </a:r>
          </a:p>
          <a:p>
            <a:pPr algn="l">
              <a:lnSpc>
                <a:spcPts val="3359"/>
              </a:lnSpc>
            </a:pPr>
            <a:r>
              <a:rPr lang="en-US" sz="2799">
                <a:solidFill>
                  <a:srgbClr val="000000"/>
                </a:solidFill>
                <a:latin typeface="Arial MT Pro"/>
                <a:ea typeface="Arial MT Pro"/>
                <a:cs typeface="Arial MT Pro"/>
                <a:sym typeface="Arial MT Pro"/>
              </a:rPr>
              <a:t>Las estructuras de iteración clásicas proporcionan control granular sobre el flujo de ejecución y son fundamentales para algoritmos que requieren manipulación precisa de índices o condiciones complejas de terminación.</a:t>
            </a:r>
          </a:p>
          <a:p>
            <a:pPr algn="l">
              <a:lnSpc>
                <a:spcPts val="3359"/>
              </a:lnSpc>
            </a:pPr>
          </a:p>
          <a:p>
            <a:pPr algn="l">
              <a:lnSpc>
                <a:spcPts val="3359"/>
              </a:lnSpc>
            </a:pPr>
            <a:r>
              <a:rPr lang="en-US" sz="2799">
                <a:solidFill>
                  <a:srgbClr val="000000"/>
                </a:solidFill>
                <a:latin typeface="Arial MT Pro"/>
                <a:ea typeface="Arial MT Pro"/>
                <a:cs typeface="Arial MT Pro"/>
                <a:sym typeface="Arial MT Pro"/>
              </a:rPr>
              <a:t>Iteración utilizando estructuras cíclicas:</a:t>
            </a:r>
          </a:p>
          <a:p>
            <a:pPr algn="l">
              <a:lnSpc>
                <a:spcPts val="3359"/>
              </a:lnSpc>
            </a:pPr>
          </a:p>
          <a:p>
            <a:pPr algn="l">
              <a:lnSpc>
                <a:spcPts val="3359"/>
              </a:lnSpc>
            </a:pPr>
            <a:r>
              <a:rPr lang="en-US" sz="2799" b="true">
                <a:solidFill>
                  <a:srgbClr val="000000"/>
                </a:solidFill>
                <a:latin typeface="Arial MT Pro Bold"/>
                <a:ea typeface="Arial MT Pro Bold"/>
                <a:cs typeface="Arial MT Pro Bold"/>
                <a:sym typeface="Arial MT Pro Bold"/>
              </a:rPr>
              <a:t>for</a:t>
            </a:r>
            <a:r>
              <a:rPr lang="en-US" sz="2799">
                <a:solidFill>
                  <a:srgbClr val="000000"/>
                </a:solidFill>
                <a:latin typeface="Arial MT Pro"/>
                <a:ea typeface="Arial MT Pro"/>
                <a:cs typeface="Arial MT Pro"/>
                <a:sym typeface="Arial MT Pro"/>
              </a:rPr>
              <a:t>: Control total sobre inicialización, condición y incremento</a:t>
            </a:r>
          </a:p>
          <a:p>
            <a:pPr algn="l">
              <a:lnSpc>
                <a:spcPts val="3359"/>
              </a:lnSpc>
            </a:pPr>
            <a:r>
              <a:rPr lang="en-US" sz="2799" b="true">
                <a:solidFill>
                  <a:srgbClr val="000000"/>
                </a:solidFill>
                <a:latin typeface="Arial MT Pro Bold"/>
                <a:ea typeface="Arial MT Pro Bold"/>
                <a:cs typeface="Arial MT Pro Bold"/>
                <a:sym typeface="Arial MT Pro Bold"/>
              </a:rPr>
              <a:t>for...of</a:t>
            </a:r>
            <a:r>
              <a:rPr lang="en-US" sz="2799">
                <a:solidFill>
                  <a:srgbClr val="000000"/>
                </a:solidFill>
                <a:latin typeface="Arial MT Pro"/>
                <a:ea typeface="Arial MT Pro"/>
                <a:cs typeface="Arial MT Pro"/>
                <a:sym typeface="Arial MT Pro"/>
              </a:rPr>
              <a:t>: Iteración sobre elementos iterables (arreglos, strings, etc.)</a:t>
            </a:r>
          </a:p>
          <a:p>
            <a:pPr algn="l">
              <a:lnSpc>
                <a:spcPts val="3359"/>
              </a:lnSpc>
            </a:pPr>
            <a:r>
              <a:rPr lang="en-US" sz="2799" b="true">
                <a:solidFill>
                  <a:srgbClr val="000000"/>
                </a:solidFill>
                <a:latin typeface="Arial MT Pro Bold"/>
                <a:ea typeface="Arial MT Pro Bold"/>
                <a:cs typeface="Arial MT Pro Bold"/>
                <a:sym typeface="Arial MT Pro Bold"/>
              </a:rPr>
              <a:t>for...in</a:t>
            </a:r>
            <a:r>
              <a:rPr lang="en-US" sz="2799">
                <a:solidFill>
                  <a:srgbClr val="000000"/>
                </a:solidFill>
                <a:latin typeface="Arial MT Pro"/>
                <a:ea typeface="Arial MT Pro"/>
                <a:cs typeface="Arial MT Pro"/>
                <a:sym typeface="Arial MT Pro"/>
              </a:rPr>
              <a:t>: Iteración sobre propiedades enumerables de objetos</a:t>
            </a:r>
          </a:p>
          <a:p>
            <a:pPr algn="l">
              <a:lnSpc>
                <a:spcPts val="3359"/>
              </a:lnSpc>
            </a:pPr>
            <a:r>
              <a:rPr lang="en-US" sz="2799" b="true">
                <a:solidFill>
                  <a:srgbClr val="000000"/>
                </a:solidFill>
                <a:latin typeface="Arial MT Pro Bold"/>
                <a:ea typeface="Arial MT Pro Bold"/>
                <a:cs typeface="Arial MT Pro Bold"/>
                <a:sym typeface="Arial MT Pro Bold"/>
              </a:rPr>
              <a:t>while</a:t>
            </a:r>
            <a:r>
              <a:rPr lang="en-US" sz="2799">
                <a:solidFill>
                  <a:srgbClr val="000000"/>
                </a:solidFill>
                <a:latin typeface="Arial MT Pro"/>
                <a:ea typeface="Arial MT Pro"/>
                <a:cs typeface="Arial MT Pro"/>
                <a:sym typeface="Arial MT Pro"/>
              </a:rPr>
              <a:t>: Iteración basada en condiciones, útil cuando no se conoce el número de iteraciones</a:t>
            </a:r>
          </a:p>
          <a:p>
            <a:pPr algn="just">
              <a:lnSpc>
                <a:spcPts val="4703"/>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51454" y="3093552"/>
            <a:ext cx="16954409" cy="1013722"/>
          </a:xfrm>
          <a:prstGeom prst="rect">
            <a:avLst/>
          </a:prstGeom>
        </p:spPr>
        <p:txBody>
          <a:bodyPr anchor="t" rtlCol="false" tIns="0" lIns="0" bIns="0" rIns="0">
            <a:spAutoFit/>
          </a:bodyPr>
          <a:lstStyle/>
          <a:p>
            <a:pPr algn="l">
              <a:lnSpc>
                <a:spcPts val="6049"/>
              </a:lnSpc>
            </a:pPr>
            <a:r>
              <a:rPr lang="en-US" sz="3600" b="true">
                <a:solidFill>
                  <a:srgbClr val="000000"/>
                </a:solidFill>
                <a:latin typeface="Arial MT Pro Bold"/>
                <a:ea typeface="Arial MT Pro Bold"/>
                <a:cs typeface="Arial MT Pro Bold"/>
                <a:sym typeface="Arial MT Pro Bold"/>
              </a:rPr>
              <a:t>for</a:t>
            </a:r>
            <a:r>
              <a:rPr lang="en-US" sz="3600">
                <a:solidFill>
                  <a:srgbClr val="000000"/>
                </a:solidFill>
                <a:latin typeface="Arial MT Pro"/>
                <a:ea typeface="Arial MT Pro"/>
                <a:cs typeface="Arial MT Pro"/>
                <a:sym typeface="Arial MT Pro"/>
              </a:rPr>
              <a:t>: Este método es útil cuando se necesita acceder a los elementos por posición.</a:t>
            </a:r>
          </a:p>
        </p:txBody>
      </p:sp>
      <p:sp>
        <p:nvSpPr>
          <p:cNvPr name="TextBox 3" id="3"/>
          <p:cNvSpPr txBox="true"/>
          <p:nvPr/>
        </p:nvSpPr>
        <p:spPr>
          <a:xfrm rot="0">
            <a:off x="2674821" y="1929213"/>
            <a:ext cx="12938358" cy="1114425"/>
          </a:xfrm>
          <a:prstGeom prst="rect">
            <a:avLst/>
          </a:prstGeom>
        </p:spPr>
        <p:txBody>
          <a:bodyPr anchor="t" rtlCol="false" tIns="0" lIns="0" bIns="0" rIns="0">
            <a:spAutoFit/>
          </a:bodyPr>
          <a:lstStyle/>
          <a:p>
            <a:pPr algn="ctr">
              <a:lnSpc>
                <a:spcPts val="7558"/>
              </a:lnSpc>
            </a:pPr>
            <a:r>
              <a:rPr lang="en-US" sz="4500">
                <a:solidFill>
                  <a:srgbClr val="000000"/>
                </a:solidFill>
                <a:latin typeface="Arial MT Pro"/>
                <a:ea typeface="Arial MT Pro"/>
                <a:cs typeface="Arial MT Pro"/>
                <a:sym typeface="Arial MT Pro"/>
              </a:rPr>
              <a:t>ARREGLOS</a:t>
            </a:r>
          </a:p>
        </p:txBody>
      </p:sp>
      <p:sp>
        <p:nvSpPr>
          <p:cNvPr name="TextBox 4" id="4"/>
          <p:cNvSpPr txBox="true"/>
          <p:nvPr/>
        </p:nvSpPr>
        <p:spPr>
          <a:xfrm rot="0">
            <a:off x="2674821" y="762812"/>
            <a:ext cx="12938358" cy="1244600"/>
          </a:xfrm>
          <a:prstGeom prst="rect">
            <a:avLst/>
          </a:prstGeom>
        </p:spPr>
        <p:txBody>
          <a:bodyPr anchor="t" rtlCol="false" tIns="0" lIns="0" bIns="0" rIns="0">
            <a:spAutoFit/>
          </a:bodyPr>
          <a:lstStyle/>
          <a:p>
            <a:pPr algn="ctr">
              <a:lnSpc>
                <a:spcPts val="8399"/>
              </a:lnSpc>
            </a:pPr>
            <a:r>
              <a:rPr lang="en-US" sz="4999">
                <a:solidFill>
                  <a:srgbClr val="000000"/>
                </a:solidFill>
                <a:latin typeface="Arial MT Pro"/>
                <a:ea typeface="Arial MT Pro"/>
                <a:cs typeface="Arial MT Pro"/>
                <a:sym typeface="Arial MT Pro"/>
              </a:rPr>
              <a:t>ITERACIÓN</a:t>
            </a:r>
          </a:p>
        </p:txBody>
      </p:sp>
      <p:grpSp>
        <p:nvGrpSpPr>
          <p:cNvPr name="Group 5" id="5"/>
          <p:cNvGrpSpPr>
            <a:grpSpLocks noChangeAspect="true"/>
          </p:cNvGrpSpPr>
          <p:nvPr/>
        </p:nvGrpSpPr>
        <p:grpSpPr>
          <a:xfrm rot="0">
            <a:off x="4750079" y="5065159"/>
            <a:ext cx="8334132" cy="3179855"/>
            <a:chOff x="0" y="0"/>
            <a:chExt cx="11112176" cy="4239807"/>
          </a:xfrm>
        </p:grpSpPr>
        <p:sp>
          <p:nvSpPr>
            <p:cNvPr name="Freeform 6" id="6"/>
            <p:cNvSpPr/>
            <p:nvPr/>
          </p:nvSpPr>
          <p:spPr>
            <a:xfrm flipH="false" flipV="false" rot="0">
              <a:off x="0" y="0"/>
              <a:ext cx="11112119" cy="4239768"/>
            </a:xfrm>
            <a:custGeom>
              <a:avLst/>
              <a:gdLst/>
              <a:ahLst/>
              <a:cxnLst/>
              <a:rect r="r" b="b" t="t" l="l"/>
              <a:pathLst>
                <a:path h="4239768" w="11112119">
                  <a:moveTo>
                    <a:pt x="0" y="0"/>
                  </a:moveTo>
                  <a:lnTo>
                    <a:pt x="11112119" y="0"/>
                  </a:lnTo>
                  <a:lnTo>
                    <a:pt x="11112119" y="4239768"/>
                  </a:lnTo>
                  <a:lnTo>
                    <a:pt x="0" y="4239768"/>
                  </a:lnTo>
                  <a:lnTo>
                    <a:pt x="0" y="0"/>
                  </a:lnTo>
                  <a:close/>
                </a:path>
              </a:pathLst>
            </a:custGeom>
            <a:blipFill>
              <a:blip r:embed="rId3"/>
              <a:stretch>
                <a:fillRect l="0" t="0" r="0" b="0"/>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34171" y="3549041"/>
            <a:ext cx="15819657" cy="1013722"/>
          </a:xfrm>
          <a:prstGeom prst="rect">
            <a:avLst/>
          </a:prstGeom>
        </p:spPr>
        <p:txBody>
          <a:bodyPr anchor="t" rtlCol="false" tIns="0" lIns="0" bIns="0" rIns="0">
            <a:spAutoFit/>
          </a:bodyPr>
          <a:lstStyle/>
          <a:p>
            <a:pPr algn="l">
              <a:lnSpc>
                <a:spcPts val="6049"/>
              </a:lnSpc>
            </a:pPr>
            <a:r>
              <a:rPr lang="en-US" sz="3600" b="true">
                <a:solidFill>
                  <a:srgbClr val="000000"/>
                </a:solidFill>
                <a:latin typeface="Arial MT Pro Bold"/>
                <a:ea typeface="Arial MT Pro Bold"/>
                <a:cs typeface="Arial MT Pro Bold"/>
                <a:sym typeface="Arial MT Pro Bold"/>
              </a:rPr>
              <a:t>for...of</a:t>
            </a:r>
            <a:r>
              <a:rPr lang="en-US" sz="3600">
                <a:solidFill>
                  <a:srgbClr val="000000"/>
                </a:solidFill>
                <a:latin typeface="Arial MT Pro"/>
                <a:ea typeface="Arial MT Pro"/>
                <a:cs typeface="Arial MT Pro"/>
                <a:sym typeface="Arial MT Pro"/>
              </a:rPr>
              <a:t>: Este método es más sencillo y limpio para recorrer elementos.</a:t>
            </a:r>
          </a:p>
        </p:txBody>
      </p:sp>
      <p:sp>
        <p:nvSpPr>
          <p:cNvPr name="TextBox 3" id="3"/>
          <p:cNvSpPr txBox="true"/>
          <p:nvPr/>
        </p:nvSpPr>
        <p:spPr>
          <a:xfrm rot="0">
            <a:off x="2674821" y="1929213"/>
            <a:ext cx="12938358" cy="1114425"/>
          </a:xfrm>
          <a:prstGeom prst="rect">
            <a:avLst/>
          </a:prstGeom>
        </p:spPr>
        <p:txBody>
          <a:bodyPr anchor="t" rtlCol="false" tIns="0" lIns="0" bIns="0" rIns="0">
            <a:spAutoFit/>
          </a:bodyPr>
          <a:lstStyle/>
          <a:p>
            <a:pPr algn="ctr">
              <a:lnSpc>
                <a:spcPts val="7558"/>
              </a:lnSpc>
            </a:pPr>
            <a:r>
              <a:rPr lang="en-US" sz="4500">
                <a:solidFill>
                  <a:srgbClr val="000000"/>
                </a:solidFill>
                <a:latin typeface="Arial MT Pro"/>
                <a:ea typeface="Arial MT Pro"/>
                <a:cs typeface="Arial MT Pro"/>
                <a:sym typeface="Arial MT Pro"/>
              </a:rPr>
              <a:t>ARREGLOS</a:t>
            </a:r>
          </a:p>
        </p:txBody>
      </p:sp>
      <p:sp>
        <p:nvSpPr>
          <p:cNvPr name="TextBox 4" id="4"/>
          <p:cNvSpPr txBox="true"/>
          <p:nvPr/>
        </p:nvSpPr>
        <p:spPr>
          <a:xfrm rot="0">
            <a:off x="2674821" y="762812"/>
            <a:ext cx="12938358" cy="1244600"/>
          </a:xfrm>
          <a:prstGeom prst="rect">
            <a:avLst/>
          </a:prstGeom>
        </p:spPr>
        <p:txBody>
          <a:bodyPr anchor="t" rtlCol="false" tIns="0" lIns="0" bIns="0" rIns="0">
            <a:spAutoFit/>
          </a:bodyPr>
          <a:lstStyle/>
          <a:p>
            <a:pPr algn="ctr">
              <a:lnSpc>
                <a:spcPts val="8399"/>
              </a:lnSpc>
            </a:pPr>
            <a:r>
              <a:rPr lang="en-US" sz="4999">
                <a:solidFill>
                  <a:srgbClr val="000000"/>
                </a:solidFill>
                <a:latin typeface="Arial MT Pro"/>
                <a:ea typeface="Arial MT Pro"/>
                <a:cs typeface="Arial MT Pro"/>
                <a:sym typeface="Arial MT Pro"/>
              </a:rPr>
              <a:t>ITERACIÓN</a:t>
            </a:r>
          </a:p>
        </p:txBody>
      </p:sp>
      <p:grpSp>
        <p:nvGrpSpPr>
          <p:cNvPr name="Group 5" id="5"/>
          <p:cNvGrpSpPr>
            <a:grpSpLocks noChangeAspect="true"/>
          </p:cNvGrpSpPr>
          <p:nvPr/>
        </p:nvGrpSpPr>
        <p:grpSpPr>
          <a:xfrm rot="0">
            <a:off x="10434079" y="4781838"/>
            <a:ext cx="6825221" cy="3435061"/>
            <a:chOff x="0" y="0"/>
            <a:chExt cx="9100295" cy="4580081"/>
          </a:xfrm>
        </p:grpSpPr>
        <p:sp>
          <p:nvSpPr>
            <p:cNvPr name="Freeform 6" id="6"/>
            <p:cNvSpPr/>
            <p:nvPr/>
          </p:nvSpPr>
          <p:spPr>
            <a:xfrm flipH="false" flipV="false" rot="0">
              <a:off x="0" y="0"/>
              <a:ext cx="9100312" cy="4580128"/>
            </a:xfrm>
            <a:custGeom>
              <a:avLst/>
              <a:gdLst/>
              <a:ahLst/>
              <a:cxnLst/>
              <a:rect r="r" b="b" t="t" l="l"/>
              <a:pathLst>
                <a:path h="4580128" w="9100312">
                  <a:moveTo>
                    <a:pt x="0" y="0"/>
                  </a:moveTo>
                  <a:lnTo>
                    <a:pt x="9100312" y="0"/>
                  </a:lnTo>
                  <a:lnTo>
                    <a:pt x="9100312" y="4580128"/>
                  </a:lnTo>
                  <a:lnTo>
                    <a:pt x="0" y="4580128"/>
                  </a:lnTo>
                  <a:lnTo>
                    <a:pt x="0" y="0"/>
                  </a:lnTo>
                  <a:close/>
                </a:path>
              </a:pathLst>
            </a:custGeom>
            <a:blipFill>
              <a:blip r:embed="rId3"/>
              <a:stretch>
                <a:fillRect l="0" t="0" r="0" b="1"/>
              </a:stretch>
            </a:blipFill>
          </p:spPr>
        </p:sp>
      </p:grpSp>
      <p:grpSp>
        <p:nvGrpSpPr>
          <p:cNvPr name="Group 7" id="7"/>
          <p:cNvGrpSpPr>
            <a:grpSpLocks noChangeAspect="true"/>
          </p:cNvGrpSpPr>
          <p:nvPr/>
        </p:nvGrpSpPr>
        <p:grpSpPr>
          <a:xfrm rot="0">
            <a:off x="249945" y="4781838"/>
            <a:ext cx="8334132" cy="3179855"/>
            <a:chOff x="0" y="0"/>
            <a:chExt cx="11112176" cy="4239807"/>
          </a:xfrm>
        </p:grpSpPr>
        <p:sp>
          <p:nvSpPr>
            <p:cNvPr name="Freeform 8" id="8"/>
            <p:cNvSpPr/>
            <p:nvPr/>
          </p:nvSpPr>
          <p:spPr>
            <a:xfrm flipH="false" flipV="false" rot="0">
              <a:off x="0" y="0"/>
              <a:ext cx="11112119" cy="4239768"/>
            </a:xfrm>
            <a:custGeom>
              <a:avLst/>
              <a:gdLst/>
              <a:ahLst/>
              <a:cxnLst/>
              <a:rect r="r" b="b" t="t" l="l"/>
              <a:pathLst>
                <a:path h="4239768" w="11112119">
                  <a:moveTo>
                    <a:pt x="0" y="0"/>
                  </a:moveTo>
                  <a:lnTo>
                    <a:pt x="11112119" y="0"/>
                  </a:lnTo>
                  <a:lnTo>
                    <a:pt x="11112119" y="4239768"/>
                  </a:lnTo>
                  <a:lnTo>
                    <a:pt x="0" y="4239768"/>
                  </a:lnTo>
                  <a:lnTo>
                    <a:pt x="0" y="0"/>
                  </a:lnTo>
                  <a:close/>
                </a:path>
              </a:pathLst>
            </a:custGeom>
            <a:blipFill>
              <a:blip r:embed="rId4"/>
              <a:stretch>
                <a:fillRect l="0" t="0" r="0" b="0"/>
              </a:stretch>
            </a:blipFill>
          </p:spPr>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7335" y="3194199"/>
            <a:ext cx="16811107" cy="1013722"/>
          </a:xfrm>
          <a:prstGeom prst="rect">
            <a:avLst/>
          </a:prstGeom>
        </p:spPr>
        <p:txBody>
          <a:bodyPr anchor="t" rtlCol="false" tIns="0" lIns="0" bIns="0" rIns="0">
            <a:spAutoFit/>
          </a:bodyPr>
          <a:lstStyle/>
          <a:p>
            <a:pPr algn="l">
              <a:lnSpc>
                <a:spcPts val="6049"/>
              </a:lnSpc>
            </a:pPr>
            <a:r>
              <a:rPr lang="en-US" sz="3600" b="true">
                <a:solidFill>
                  <a:srgbClr val="000000"/>
                </a:solidFill>
                <a:latin typeface="Arial MT Pro Bold"/>
                <a:ea typeface="Arial MT Pro Bold"/>
                <a:cs typeface="Arial MT Pro Bold"/>
                <a:sym typeface="Arial MT Pro Bold"/>
              </a:rPr>
              <a:t>while</a:t>
            </a:r>
            <a:r>
              <a:rPr lang="en-US" sz="3600">
                <a:solidFill>
                  <a:srgbClr val="000000"/>
                </a:solidFill>
                <a:latin typeface="Arial MT Pro"/>
                <a:ea typeface="Arial MT Pro"/>
                <a:cs typeface="Arial MT Pro"/>
                <a:sym typeface="Arial MT Pro"/>
              </a:rPr>
              <a:t>: Se usa cuando no se sabe de antemano cuántas iteraciones se necesitan.</a:t>
            </a:r>
          </a:p>
        </p:txBody>
      </p:sp>
      <p:sp>
        <p:nvSpPr>
          <p:cNvPr name="TextBox 3" id="3"/>
          <p:cNvSpPr txBox="true"/>
          <p:nvPr/>
        </p:nvSpPr>
        <p:spPr>
          <a:xfrm rot="0">
            <a:off x="2674821" y="1929213"/>
            <a:ext cx="12938358" cy="1114425"/>
          </a:xfrm>
          <a:prstGeom prst="rect">
            <a:avLst/>
          </a:prstGeom>
        </p:spPr>
        <p:txBody>
          <a:bodyPr anchor="t" rtlCol="false" tIns="0" lIns="0" bIns="0" rIns="0">
            <a:spAutoFit/>
          </a:bodyPr>
          <a:lstStyle/>
          <a:p>
            <a:pPr algn="ctr">
              <a:lnSpc>
                <a:spcPts val="7558"/>
              </a:lnSpc>
            </a:pPr>
            <a:r>
              <a:rPr lang="en-US" sz="4500">
                <a:solidFill>
                  <a:srgbClr val="000000"/>
                </a:solidFill>
                <a:latin typeface="Arial MT Pro"/>
                <a:ea typeface="Arial MT Pro"/>
                <a:cs typeface="Arial MT Pro"/>
                <a:sym typeface="Arial MT Pro"/>
              </a:rPr>
              <a:t>ARREGLOS</a:t>
            </a:r>
          </a:p>
        </p:txBody>
      </p:sp>
      <p:sp>
        <p:nvSpPr>
          <p:cNvPr name="TextBox 4" id="4"/>
          <p:cNvSpPr txBox="true"/>
          <p:nvPr/>
        </p:nvSpPr>
        <p:spPr>
          <a:xfrm rot="0">
            <a:off x="2674821" y="762812"/>
            <a:ext cx="12938358" cy="1244600"/>
          </a:xfrm>
          <a:prstGeom prst="rect">
            <a:avLst/>
          </a:prstGeom>
        </p:spPr>
        <p:txBody>
          <a:bodyPr anchor="t" rtlCol="false" tIns="0" lIns="0" bIns="0" rIns="0">
            <a:spAutoFit/>
          </a:bodyPr>
          <a:lstStyle/>
          <a:p>
            <a:pPr algn="ctr">
              <a:lnSpc>
                <a:spcPts val="8399"/>
              </a:lnSpc>
            </a:pPr>
            <a:r>
              <a:rPr lang="en-US" sz="4999">
                <a:solidFill>
                  <a:srgbClr val="000000"/>
                </a:solidFill>
                <a:latin typeface="Arial MT Pro"/>
                <a:ea typeface="Arial MT Pro"/>
                <a:cs typeface="Arial MT Pro"/>
                <a:sym typeface="Arial MT Pro"/>
              </a:rPr>
              <a:t>ITERACIÓN</a:t>
            </a:r>
          </a:p>
        </p:txBody>
      </p:sp>
      <p:grpSp>
        <p:nvGrpSpPr>
          <p:cNvPr name="Group 5" id="5"/>
          <p:cNvGrpSpPr>
            <a:grpSpLocks noChangeAspect="true"/>
          </p:cNvGrpSpPr>
          <p:nvPr/>
        </p:nvGrpSpPr>
        <p:grpSpPr>
          <a:xfrm rot="0">
            <a:off x="9633489" y="4598446"/>
            <a:ext cx="6142594" cy="4124314"/>
            <a:chOff x="0" y="0"/>
            <a:chExt cx="8190125" cy="5499085"/>
          </a:xfrm>
        </p:grpSpPr>
        <p:sp>
          <p:nvSpPr>
            <p:cNvPr name="Freeform 6" id="6"/>
            <p:cNvSpPr/>
            <p:nvPr/>
          </p:nvSpPr>
          <p:spPr>
            <a:xfrm flipH="false" flipV="false" rot="0">
              <a:off x="0" y="0"/>
              <a:ext cx="8190103" cy="5499100"/>
            </a:xfrm>
            <a:custGeom>
              <a:avLst/>
              <a:gdLst/>
              <a:ahLst/>
              <a:cxnLst/>
              <a:rect r="r" b="b" t="t" l="l"/>
              <a:pathLst>
                <a:path h="5499100" w="8190103">
                  <a:moveTo>
                    <a:pt x="0" y="0"/>
                  </a:moveTo>
                  <a:lnTo>
                    <a:pt x="8190103" y="0"/>
                  </a:lnTo>
                  <a:lnTo>
                    <a:pt x="8190103" y="5499100"/>
                  </a:lnTo>
                  <a:lnTo>
                    <a:pt x="0" y="5499100"/>
                  </a:lnTo>
                  <a:lnTo>
                    <a:pt x="0" y="0"/>
                  </a:lnTo>
                  <a:close/>
                </a:path>
              </a:pathLst>
            </a:custGeom>
            <a:blipFill>
              <a:blip r:embed="rId3"/>
              <a:stretch>
                <a:fillRect l="0" t="0" r="0" b="0"/>
              </a:stretch>
            </a:blipFill>
          </p:spPr>
        </p:sp>
      </p:grpSp>
      <p:grpSp>
        <p:nvGrpSpPr>
          <p:cNvPr name="Group 7" id="7"/>
          <p:cNvGrpSpPr>
            <a:grpSpLocks noChangeAspect="true"/>
          </p:cNvGrpSpPr>
          <p:nvPr/>
        </p:nvGrpSpPr>
        <p:grpSpPr>
          <a:xfrm rot="0">
            <a:off x="809868" y="5143500"/>
            <a:ext cx="8334132" cy="3179855"/>
            <a:chOff x="0" y="0"/>
            <a:chExt cx="11112176" cy="4239807"/>
          </a:xfrm>
        </p:grpSpPr>
        <p:sp>
          <p:nvSpPr>
            <p:cNvPr name="Freeform 8" id="8"/>
            <p:cNvSpPr/>
            <p:nvPr/>
          </p:nvSpPr>
          <p:spPr>
            <a:xfrm flipH="false" flipV="false" rot="0">
              <a:off x="0" y="0"/>
              <a:ext cx="11112119" cy="4239768"/>
            </a:xfrm>
            <a:custGeom>
              <a:avLst/>
              <a:gdLst/>
              <a:ahLst/>
              <a:cxnLst/>
              <a:rect r="r" b="b" t="t" l="l"/>
              <a:pathLst>
                <a:path h="4239768" w="11112119">
                  <a:moveTo>
                    <a:pt x="0" y="0"/>
                  </a:moveTo>
                  <a:lnTo>
                    <a:pt x="11112119" y="0"/>
                  </a:lnTo>
                  <a:lnTo>
                    <a:pt x="11112119" y="4239768"/>
                  </a:lnTo>
                  <a:lnTo>
                    <a:pt x="0" y="4239768"/>
                  </a:lnTo>
                  <a:lnTo>
                    <a:pt x="0" y="0"/>
                  </a:lnTo>
                  <a:close/>
                </a:path>
              </a:pathLst>
            </a:custGeom>
            <a:blipFill>
              <a:blip r:embed="rId4"/>
              <a:stretch>
                <a:fillRect l="0" t="0" r="0" b="0"/>
              </a:stretch>
            </a:blipFill>
          </p:spPr>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674821" y="762812"/>
            <a:ext cx="12938358" cy="1244600"/>
          </a:xfrm>
          <a:prstGeom prst="rect">
            <a:avLst/>
          </a:prstGeom>
        </p:spPr>
        <p:txBody>
          <a:bodyPr anchor="t" rtlCol="false" tIns="0" lIns="0" bIns="0" rIns="0">
            <a:spAutoFit/>
          </a:bodyPr>
          <a:lstStyle/>
          <a:p>
            <a:pPr algn="ctr">
              <a:lnSpc>
                <a:spcPts val="8399"/>
              </a:lnSpc>
            </a:pPr>
            <a:r>
              <a:rPr lang="en-US" sz="4999">
                <a:solidFill>
                  <a:srgbClr val="000000"/>
                </a:solidFill>
                <a:latin typeface="Arial MT Pro"/>
                <a:ea typeface="Arial MT Pro"/>
                <a:cs typeface="Arial MT Pro"/>
                <a:sym typeface="Arial MT Pro"/>
              </a:rPr>
              <a:t>ITERACIÓN</a:t>
            </a:r>
          </a:p>
        </p:txBody>
      </p:sp>
      <p:sp>
        <p:nvSpPr>
          <p:cNvPr name="TextBox 3" id="3"/>
          <p:cNvSpPr txBox="true"/>
          <p:nvPr/>
        </p:nvSpPr>
        <p:spPr>
          <a:xfrm rot="0">
            <a:off x="1234171" y="3070214"/>
            <a:ext cx="16071190" cy="3809952"/>
          </a:xfrm>
          <a:prstGeom prst="rect">
            <a:avLst/>
          </a:prstGeom>
        </p:spPr>
        <p:txBody>
          <a:bodyPr anchor="t" rtlCol="false" tIns="0" lIns="0" bIns="0" rIns="0">
            <a:spAutoFit/>
          </a:bodyPr>
          <a:lstStyle/>
          <a:p>
            <a:pPr algn="just">
              <a:lnSpc>
                <a:spcPts val="4705"/>
              </a:lnSpc>
            </a:pPr>
            <a:r>
              <a:rPr lang="en-US" sz="2799">
                <a:solidFill>
                  <a:srgbClr val="000000"/>
                </a:solidFill>
                <a:latin typeface="Arial MT Pro"/>
                <a:ea typeface="Arial MT Pro"/>
                <a:cs typeface="Arial MT Pro"/>
                <a:sym typeface="Arial MT Pro"/>
              </a:rPr>
              <a:t>JavaScript incorpora el paradigma de programación funcional a través de métodos de arreglo que tratan las funciones como ciudadanos de primera clase. Estos métodos promueven código más declarativo y menos propenso a errores.</a:t>
            </a:r>
          </a:p>
          <a:p>
            <a:pPr algn="just">
              <a:lnSpc>
                <a:spcPts val="4705"/>
              </a:lnSpc>
            </a:pPr>
          </a:p>
          <a:p>
            <a:pPr algn="just">
              <a:lnSpc>
                <a:spcPts val="4705"/>
              </a:lnSpc>
            </a:pPr>
            <a:r>
              <a:rPr lang="en-US" sz="2799" b="true">
                <a:solidFill>
                  <a:srgbClr val="000000"/>
                </a:solidFill>
                <a:latin typeface="Arial MT Pro Bold"/>
                <a:ea typeface="Arial MT Pro Bold"/>
                <a:cs typeface="Arial MT Pro Bold"/>
                <a:sym typeface="Arial MT Pro Bold"/>
              </a:rPr>
              <a:t>forEach</a:t>
            </a:r>
            <a:r>
              <a:rPr lang="en-US" sz="2799">
                <a:solidFill>
                  <a:srgbClr val="000000"/>
                </a:solidFill>
                <a:latin typeface="Arial MT Pro"/>
                <a:ea typeface="Arial MT Pro"/>
                <a:cs typeface="Arial MT Pro"/>
                <a:sym typeface="Arial MT Pro"/>
              </a:rPr>
              <a:t>: Ideal para efectos secundarios como logging o modificación de elementos externos. No retorna un nuevo arreglo.</a:t>
            </a:r>
          </a:p>
        </p:txBody>
      </p:sp>
      <p:sp>
        <p:nvSpPr>
          <p:cNvPr name="TextBox 4" id="4"/>
          <p:cNvSpPr txBox="true"/>
          <p:nvPr/>
        </p:nvSpPr>
        <p:spPr>
          <a:xfrm rot="0">
            <a:off x="2674821" y="1929213"/>
            <a:ext cx="12938358" cy="1114425"/>
          </a:xfrm>
          <a:prstGeom prst="rect">
            <a:avLst/>
          </a:prstGeom>
        </p:spPr>
        <p:txBody>
          <a:bodyPr anchor="t" rtlCol="false" tIns="0" lIns="0" bIns="0" rIns="0">
            <a:spAutoFit/>
          </a:bodyPr>
          <a:lstStyle/>
          <a:p>
            <a:pPr algn="ctr">
              <a:lnSpc>
                <a:spcPts val="7558"/>
              </a:lnSpc>
            </a:pPr>
            <a:r>
              <a:rPr lang="en-US" sz="4500">
                <a:solidFill>
                  <a:srgbClr val="000000"/>
                </a:solidFill>
                <a:latin typeface="Arial MT Pro"/>
                <a:ea typeface="Arial MT Pro"/>
                <a:cs typeface="Arial MT Pro"/>
                <a:sym typeface="Arial MT Pro"/>
              </a:rPr>
              <a:t>ARRAYLIST</a:t>
            </a:r>
          </a:p>
        </p:txBody>
      </p:sp>
      <p:grpSp>
        <p:nvGrpSpPr>
          <p:cNvPr name="Group 5" id="5"/>
          <p:cNvGrpSpPr>
            <a:grpSpLocks noChangeAspect="true"/>
          </p:cNvGrpSpPr>
          <p:nvPr/>
        </p:nvGrpSpPr>
        <p:grpSpPr>
          <a:xfrm rot="0">
            <a:off x="9344999" y="7099241"/>
            <a:ext cx="7960362" cy="2305761"/>
            <a:chOff x="0" y="0"/>
            <a:chExt cx="10613816" cy="3074348"/>
          </a:xfrm>
        </p:grpSpPr>
        <p:sp>
          <p:nvSpPr>
            <p:cNvPr name="Freeform 6" id="6"/>
            <p:cNvSpPr/>
            <p:nvPr/>
          </p:nvSpPr>
          <p:spPr>
            <a:xfrm flipH="false" flipV="false" rot="0">
              <a:off x="0" y="0"/>
              <a:ext cx="10613771" cy="3074289"/>
            </a:xfrm>
            <a:custGeom>
              <a:avLst/>
              <a:gdLst/>
              <a:ahLst/>
              <a:cxnLst/>
              <a:rect r="r" b="b" t="t" l="l"/>
              <a:pathLst>
                <a:path h="3074289" w="10613771">
                  <a:moveTo>
                    <a:pt x="0" y="0"/>
                  </a:moveTo>
                  <a:lnTo>
                    <a:pt x="10613771" y="0"/>
                  </a:lnTo>
                  <a:lnTo>
                    <a:pt x="10613771" y="3074289"/>
                  </a:lnTo>
                  <a:lnTo>
                    <a:pt x="0" y="3074289"/>
                  </a:lnTo>
                  <a:lnTo>
                    <a:pt x="0" y="0"/>
                  </a:lnTo>
                  <a:close/>
                </a:path>
              </a:pathLst>
            </a:custGeom>
            <a:blipFill>
              <a:blip r:embed="rId3"/>
              <a:stretch>
                <a:fillRect l="0" t="0" r="0" b="-1"/>
              </a:stretch>
            </a:blipFill>
          </p:spPr>
        </p:sp>
      </p:grpSp>
      <p:grpSp>
        <p:nvGrpSpPr>
          <p:cNvPr name="Group 7" id="7"/>
          <p:cNvGrpSpPr>
            <a:grpSpLocks noChangeAspect="true"/>
          </p:cNvGrpSpPr>
          <p:nvPr/>
        </p:nvGrpSpPr>
        <p:grpSpPr>
          <a:xfrm rot="0">
            <a:off x="809868" y="6662194"/>
            <a:ext cx="8334132" cy="3179855"/>
            <a:chOff x="0" y="0"/>
            <a:chExt cx="11112176" cy="4239807"/>
          </a:xfrm>
        </p:grpSpPr>
        <p:sp>
          <p:nvSpPr>
            <p:cNvPr name="Freeform 8" id="8"/>
            <p:cNvSpPr/>
            <p:nvPr/>
          </p:nvSpPr>
          <p:spPr>
            <a:xfrm flipH="false" flipV="false" rot="0">
              <a:off x="0" y="0"/>
              <a:ext cx="11112119" cy="4239768"/>
            </a:xfrm>
            <a:custGeom>
              <a:avLst/>
              <a:gdLst/>
              <a:ahLst/>
              <a:cxnLst/>
              <a:rect r="r" b="b" t="t" l="l"/>
              <a:pathLst>
                <a:path h="4239768" w="11112119">
                  <a:moveTo>
                    <a:pt x="0" y="0"/>
                  </a:moveTo>
                  <a:lnTo>
                    <a:pt x="11112119" y="0"/>
                  </a:lnTo>
                  <a:lnTo>
                    <a:pt x="11112119" y="4239768"/>
                  </a:lnTo>
                  <a:lnTo>
                    <a:pt x="0" y="4239768"/>
                  </a:lnTo>
                  <a:lnTo>
                    <a:pt x="0" y="0"/>
                  </a:lnTo>
                  <a:close/>
                </a:path>
              </a:pathLst>
            </a:custGeom>
            <a:blipFill>
              <a:blip r:embed="rId4"/>
              <a:stretch>
                <a:fillRect l="0" t="0" r="0" b="0"/>
              </a:stretch>
            </a:blipFill>
          </p:spPr>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32652" y="2422767"/>
            <a:ext cx="15819657" cy="1789319"/>
          </a:xfrm>
          <a:prstGeom prst="rect">
            <a:avLst/>
          </a:prstGeom>
        </p:spPr>
        <p:txBody>
          <a:bodyPr anchor="t" rtlCol="false" tIns="0" lIns="0" bIns="0" rIns="0">
            <a:spAutoFit/>
          </a:bodyPr>
          <a:lstStyle/>
          <a:p>
            <a:pPr algn="just">
              <a:lnSpc>
                <a:spcPts val="6049"/>
              </a:lnSpc>
            </a:pPr>
            <a:r>
              <a:rPr lang="en-US" sz="3600" b="true">
                <a:solidFill>
                  <a:srgbClr val="000000"/>
                </a:solidFill>
                <a:latin typeface="Arial MT Pro Bold"/>
                <a:ea typeface="Arial MT Pro Bold"/>
                <a:cs typeface="Arial MT Pro Bold"/>
                <a:sym typeface="Arial MT Pro Bold"/>
              </a:rPr>
              <a:t>map</a:t>
            </a:r>
            <a:r>
              <a:rPr lang="en-US" sz="3600">
                <a:solidFill>
                  <a:srgbClr val="000000"/>
                </a:solidFill>
                <a:latin typeface="Arial MT Pro"/>
                <a:ea typeface="Arial MT Pro"/>
                <a:cs typeface="Arial MT Pro"/>
                <a:sym typeface="Arial MT Pro"/>
              </a:rPr>
              <a:t>: Fundamental para transformaciones inmutables. Crea un nuevo arreglo aplicando una función a cada elemento.</a:t>
            </a:r>
          </a:p>
        </p:txBody>
      </p:sp>
      <p:sp>
        <p:nvSpPr>
          <p:cNvPr name="TextBox 3" id="3"/>
          <p:cNvSpPr txBox="true"/>
          <p:nvPr/>
        </p:nvSpPr>
        <p:spPr>
          <a:xfrm rot="0">
            <a:off x="2673302" y="309428"/>
            <a:ext cx="12938358" cy="1244600"/>
          </a:xfrm>
          <a:prstGeom prst="rect">
            <a:avLst/>
          </a:prstGeom>
        </p:spPr>
        <p:txBody>
          <a:bodyPr anchor="t" rtlCol="false" tIns="0" lIns="0" bIns="0" rIns="0">
            <a:spAutoFit/>
          </a:bodyPr>
          <a:lstStyle/>
          <a:p>
            <a:pPr algn="ctr">
              <a:lnSpc>
                <a:spcPts val="8399"/>
              </a:lnSpc>
            </a:pPr>
            <a:r>
              <a:rPr lang="en-US" sz="4999">
                <a:solidFill>
                  <a:srgbClr val="000000"/>
                </a:solidFill>
                <a:latin typeface="Arial MT Pro"/>
                <a:ea typeface="Arial MT Pro"/>
                <a:cs typeface="Arial MT Pro"/>
                <a:sym typeface="Arial MT Pro"/>
              </a:rPr>
              <a:t>ITERACIÓN</a:t>
            </a:r>
          </a:p>
        </p:txBody>
      </p:sp>
      <p:sp>
        <p:nvSpPr>
          <p:cNvPr name="TextBox 4" id="4"/>
          <p:cNvSpPr txBox="true"/>
          <p:nvPr/>
        </p:nvSpPr>
        <p:spPr>
          <a:xfrm rot="0">
            <a:off x="2673302" y="1440035"/>
            <a:ext cx="12938358" cy="1114425"/>
          </a:xfrm>
          <a:prstGeom prst="rect">
            <a:avLst/>
          </a:prstGeom>
        </p:spPr>
        <p:txBody>
          <a:bodyPr anchor="t" rtlCol="false" tIns="0" lIns="0" bIns="0" rIns="0">
            <a:spAutoFit/>
          </a:bodyPr>
          <a:lstStyle/>
          <a:p>
            <a:pPr algn="ctr">
              <a:lnSpc>
                <a:spcPts val="7558"/>
              </a:lnSpc>
            </a:pPr>
            <a:r>
              <a:rPr lang="en-US" sz="4500">
                <a:solidFill>
                  <a:srgbClr val="000000"/>
                </a:solidFill>
                <a:latin typeface="Arial MT Pro"/>
                <a:ea typeface="Arial MT Pro"/>
                <a:cs typeface="Arial MT Pro"/>
                <a:sym typeface="Arial MT Pro"/>
              </a:rPr>
              <a:t>ARRAYLIST</a:t>
            </a:r>
          </a:p>
        </p:txBody>
      </p:sp>
      <p:grpSp>
        <p:nvGrpSpPr>
          <p:cNvPr name="Group 5" id="5"/>
          <p:cNvGrpSpPr>
            <a:grpSpLocks noChangeAspect="true"/>
          </p:cNvGrpSpPr>
          <p:nvPr/>
        </p:nvGrpSpPr>
        <p:grpSpPr>
          <a:xfrm rot="0">
            <a:off x="4450370" y="4424621"/>
            <a:ext cx="8346992" cy="2063089"/>
            <a:chOff x="0" y="0"/>
            <a:chExt cx="11129323" cy="2750785"/>
          </a:xfrm>
        </p:grpSpPr>
        <p:sp>
          <p:nvSpPr>
            <p:cNvPr name="Freeform 6" id="6"/>
            <p:cNvSpPr/>
            <p:nvPr/>
          </p:nvSpPr>
          <p:spPr>
            <a:xfrm flipH="false" flipV="false" rot="0">
              <a:off x="0" y="0"/>
              <a:ext cx="11129264" cy="2750820"/>
            </a:xfrm>
            <a:custGeom>
              <a:avLst/>
              <a:gdLst/>
              <a:ahLst/>
              <a:cxnLst/>
              <a:rect r="r" b="b" t="t" l="l"/>
              <a:pathLst>
                <a:path h="2750820" w="11129264">
                  <a:moveTo>
                    <a:pt x="0" y="0"/>
                  </a:moveTo>
                  <a:lnTo>
                    <a:pt x="11129264" y="0"/>
                  </a:lnTo>
                  <a:lnTo>
                    <a:pt x="11129264" y="2750820"/>
                  </a:lnTo>
                  <a:lnTo>
                    <a:pt x="0" y="2750820"/>
                  </a:lnTo>
                  <a:lnTo>
                    <a:pt x="0" y="0"/>
                  </a:lnTo>
                  <a:close/>
                </a:path>
              </a:pathLst>
            </a:custGeom>
            <a:blipFill>
              <a:blip r:embed="rId3"/>
              <a:stretch>
                <a:fillRect l="0" t="0" r="0" b="1"/>
              </a:stretch>
            </a:blipFill>
          </p:spPr>
        </p:sp>
      </p:grpSp>
      <p:sp>
        <p:nvSpPr>
          <p:cNvPr name="TextBox 7" id="7"/>
          <p:cNvSpPr txBox="true"/>
          <p:nvPr/>
        </p:nvSpPr>
        <p:spPr>
          <a:xfrm rot="0">
            <a:off x="1232652" y="6462121"/>
            <a:ext cx="15819657" cy="1789319"/>
          </a:xfrm>
          <a:prstGeom prst="rect">
            <a:avLst/>
          </a:prstGeom>
        </p:spPr>
        <p:txBody>
          <a:bodyPr anchor="t" rtlCol="false" tIns="0" lIns="0" bIns="0" rIns="0">
            <a:spAutoFit/>
          </a:bodyPr>
          <a:lstStyle/>
          <a:p>
            <a:pPr algn="just">
              <a:lnSpc>
                <a:spcPts val="6049"/>
              </a:lnSpc>
            </a:pPr>
            <a:r>
              <a:rPr lang="en-US" sz="3600" b="true">
                <a:solidFill>
                  <a:srgbClr val="000000"/>
                </a:solidFill>
                <a:latin typeface="Arial MT Pro Bold"/>
                <a:ea typeface="Arial MT Pro Bold"/>
                <a:cs typeface="Arial MT Pro Bold"/>
                <a:sym typeface="Arial MT Pro Bold"/>
              </a:rPr>
              <a:t>filter</a:t>
            </a:r>
            <a:r>
              <a:rPr lang="en-US" sz="3600">
                <a:solidFill>
                  <a:srgbClr val="000000"/>
                </a:solidFill>
                <a:latin typeface="Arial MT Pro"/>
                <a:ea typeface="Arial MT Pro"/>
                <a:cs typeface="Arial MT Pro"/>
                <a:sym typeface="Arial MT Pro"/>
              </a:rPr>
              <a:t>: Implementa filtrado declarativo basado en predicados. Retorna un nuevo arreglo con elementos que cumplen la condición.</a:t>
            </a:r>
          </a:p>
        </p:txBody>
      </p:sp>
      <p:grpSp>
        <p:nvGrpSpPr>
          <p:cNvPr name="Group 8" id="8"/>
          <p:cNvGrpSpPr>
            <a:grpSpLocks noChangeAspect="true"/>
          </p:cNvGrpSpPr>
          <p:nvPr/>
        </p:nvGrpSpPr>
        <p:grpSpPr>
          <a:xfrm rot="0">
            <a:off x="5296531" y="8463976"/>
            <a:ext cx="6986454" cy="1448047"/>
            <a:chOff x="0" y="0"/>
            <a:chExt cx="9315272" cy="1930729"/>
          </a:xfrm>
        </p:grpSpPr>
        <p:sp>
          <p:nvSpPr>
            <p:cNvPr name="Freeform 9" id="9"/>
            <p:cNvSpPr/>
            <p:nvPr/>
          </p:nvSpPr>
          <p:spPr>
            <a:xfrm flipH="false" flipV="false" rot="0">
              <a:off x="0" y="0"/>
              <a:ext cx="9315323" cy="1930781"/>
            </a:xfrm>
            <a:custGeom>
              <a:avLst/>
              <a:gdLst/>
              <a:ahLst/>
              <a:cxnLst/>
              <a:rect r="r" b="b" t="t" l="l"/>
              <a:pathLst>
                <a:path h="1930781" w="9315323">
                  <a:moveTo>
                    <a:pt x="0" y="0"/>
                  </a:moveTo>
                  <a:lnTo>
                    <a:pt x="9315323" y="0"/>
                  </a:lnTo>
                  <a:lnTo>
                    <a:pt x="9315323" y="1930781"/>
                  </a:lnTo>
                  <a:lnTo>
                    <a:pt x="0" y="1930781"/>
                  </a:lnTo>
                  <a:lnTo>
                    <a:pt x="0" y="0"/>
                  </a:lnTo>
                  <a:close/>
                </a:path>
              </a:pathLst>
            </a:custGeom>
            <a:blipFill>
              <a:blip r:embed="rId4"/>
              <a:stretch>
                <a:fillRect l="0" t="0" r="0" b="2"/>
              </a:stretch>
            </a:blipFill>
          </p:spPr>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674821" y="762812"/>
            <a:ext cx="12938358" cy="1244600"/>
          </a:xfrm>
          <a:prstGeom prst="rect">
            <a:avLst/>
          </a:prstGeom>
        </p:spPr>
        <p:txBody>
          <a:bodyPr anchor="t" rtlCol="false" tIns="0" lIns="0" bIns="0" rIns="0">
            <a:spAutoFit/>
          </a:bodyPr>
          <a:lstStyle/>
          <a:p>
            <a:pPr algn="ctr">
              <a:lnSpc>
                <a:spcPts val="8399"/>
              </a:lnSpc>
            </a:pPr>
            <a:r>
              <a:rPr lang="en-US" sz="4999">
                <a:solidFill>
                  <a:srgbClr val="000000"/>
                </a:solidFill>
                <a:latin typeface="Arial MT Pro"/>
                <a:ea typeface="Arial MT Pro"/>
                <a:cs typeface="Arial MT Pro"/>
                <a:sym typeface="Arial MT Pro"/>
              </a:rPr>
              <a:t>ITERACIÓN</a:t>
            </a:r>
          </a:p>
        </p:txBody>
      </p:sp>
      <p:sp>
        <p:nvSpPr>
          <p:cNvPr name="TextBox 3" id="3"/>
          <p:cNvSpPr txBox="true"/>
          <p:nvPr/>
        </p:nvSpPr>
        <p:spPr>
          <a:xfrm rot="0">
            <a:off x="1002159" y="3143274"/>
            <a:ext cx="16521565" cy="3432926"/>
          </a:xfrm>
          <a:prstGeom prst="rect">
            <a:avLst/>
          </a:prstGeom>
        </p:spPr>
        <p:txBody>
          <a:bodyPr anchor="t" rtlCol="false" tIns="0" lIns="0" bIns="0" rIns="0">
            <a:spAutoFit/>
          </a:bodyPr>
          <a:lstStyle/>
          <a:p>
            <a:pPr algn="just">
              <a:lnSpc>
                <a:spcPts val="4704"/>
              </a:lnSpc>
            </a:pPr>
            <a:r>
              <a:rPr lang="en-US" sz="2799">
                <a:solidFill>
                  <a:srgbClr val="000000"/>
                </a:solidFill>
                <a:latin typeface="Arial MT Pro"/>
                <a:ea typeface="Arial MT Pro"/>
                <a:cs typeface="Arial MT Pro"/>
                <a:sym typeface="Arial MT Pro"/>
              </a:rPr>
              <a:t>JavaScript implementa el protocolo de iteración a través del concepto de iterables e iteradores, proporcionando una interfaz uniforme para recorrer diferentes tipos de colecciones. Este sistema es la base de construcciones modernas como for...of y destructuring.</a:t>
            </a:r>
          </a:p>
          <a:p>
            <a:pPr algn="just">
              <a:lnSpc>
                <a:spcPts val="4704"/>
              </a:lnSpc>
            </a:pPr>
          </a:p>
          <a:p>
            <a:pPr algn="just">
              <a:lnSpc>
                <a:spcPts val="4704"/>
              </a:lnSpc>
            </a:pPr>
            <a:r>
              <a:rPr lang="en-US" sz="2799" b="true">
                <a:solidFill>
                  <a:srgbClr val="000000"/>
                </a:solidFill>
                <a:latin typeface="Arial MT Pro Bold"/>
                <a:ea typeface="Arial MT Pro Bold"/>
                <a:cs typeface="Arial MT Pro Bold"/>
                <a:sym typeface="Arial MT Pro Bold"/>
              </a:rPr>
              <a:t>for...in</a:t>
            </a:r>
            <a:r>
              <a:rPr lang="en-US" sz="2799">
                <a:solidFill>
                  <a:srgbClr val="000000"/>
                </a:solidFill>
                <a:latin typeface="Arial MT Pro"/>
                <a:ea typeface="Arial MT Pro"/>
                <a:cs typeface="Arial MT Pro"/>
                <a:sym typeface="Arial MT Pro"/>
              </a:rPr>
              <a:t>: Específicamente diseñado para enumerar propiedades enumerables de objetos. Es importante notar que itera sobre claves, no valores.</a:t>
            </a:r>
          </a:p>
        </p:txBody>
      </p:sp>
      <p:sp>
        <p:nvSpPr>
          <p:cNvPr name="TextBox 4" id="4"/>
          <p:cNvSpPr txBox="true"/>
          <p:nvPr/>
        </p:nvSpPr>
        <p:spPr>
          <a:xfrm rot="0">
            <a:off x="2674821" y="1929213"/>
            <a:ext cx="12938358" cy="1264771"/>
          </a:xfrm>
          <a:prstGeom prst="rect">
            <a:avLst/>
          </a:prstGeom>
        </p:spPr>
        <p:txBody>
          <a:bodyPr anchor="t" rtlCol="false" tIns="0" lIns="0" bIns="0" rIns="0">
            <a:spAutoFit/>
          </a:bodyPr>
          <a:lstStyle/>
          <a:p>
            <a:pPr algn="ctr">
              <a:lnSpc>
                <a:spcPts val="7558"/>
              </a:lnSpc>
            </a:pPr>
            <a:r>
              <a:rPr lang="en-US" sz="4500">
                <a:solidFill>
                  <a:srgbClr val="000000"/>
                </a:solidFill>
                <a:latin typeface="Arial MT Pro"/>
                <a:ea typeface="Arial MT Pro"/>
                <a:cs typeface="Arial MT Pro"/>
                <a:sym typeface="Arial MT Pro"/>
              </a:rPr>
              <a:t>ITERADORES JAVASCRIPT</a:t>
            </a:r>
          </a:p>
        </p:txBody>
      </p:sp>
      <p:grpSp>
        <p:nvGrpSpPr>
          <p:cNvPr name="Group 5" id="5"/>
          <p:cNvGrpSpPr>
            <a:grpSpLocks noChangeAspect="true"/>
          </p:cNvGrpSpPr>
          <p:nvPr/>
        </p:nvGrpSpPr>
        <p:grpSpPr>
          <a:xfrm rot="0">
            <a:off x="5452571" y="6866336"/>
            <a:ext cx="7382857" cy="2567950"/>
            <a:chOff x="0" y="0"/>
            <a:chExt cx="9843809" cy="3423933"/>
          </a:xfrm>
        </p:grpSpPr>
        <p:sp>
          <p:nvSpPr>
            <p:cNvPr name="Freeform 6" id="6"/>
            <p:cNvSpPr/>
            <p:nvPr/>
          </p:nvSpPr>
          <p:spPr>
            <a:xfrm flipH="false" flipV="false" rot="0">
              <a:off x="0" y="0"/>
              <a:ext cx="9843770" cy="3423920"/>
            </a:xfrm>
            <a:custGeom>
              <a:avLst/>
              <a:gdLst/>
              <a:ahLst/>
              <a:cxnLst/>
              <a:rect r="r" b="b" t="t" l="l"/>
              <a:pathLst>
                <a:path h="3423920" w="9843770">
                  <a:moveTo>
                    <a:pt x="0" y="0"/>
                  </a:moveTo>
                  <a:lnTo>
                    <a:pt x="9843770" y="0"/>
                  </a:lnTo>
                  <a:lnTo>
                    <a:pt x="9843770" y="3423920"/>
                  </a:lnTo>
                  <a:lnTo>
                    <a:pt x="0" y="3423920"/>
                  </a:lnTo>
                  <a:lnTo>
                    <a:pt x="0" y="0"/>
                  </a:lnTo>
                  <a:close/>
                </a:path>
              </a:pathLst>
            </a:custGeom>
            <a:blipFill>
              <a:blip r:embed="rId3"/>
              <a:stretch>
                <a:fillRect l="0" t="0" r="0" b="0"/>
              </a:stretch>
            </a:blipFill>
          </p:spPr>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47450" y="3674201"/>
            <a:ext cx="8060072" cy="2603468"/>
          </a:xfrm>
          <a:prstGeom prst="rect">
            <a:avLst/>
          </a:prstGeom>
        </p:spPr>
        <p:txBody>
          <a:bodyPr anchor="t" rtlCol="false" tIns="0" lIns="0" bIns="0" rIns="0">
            <a:spAutoFit/>
          </a:bodyPr>
          <a:lstStyle/>
          <a:p>
            <a:pPr algn="just">
              <a:lnSpc>
                <a:spcPts val="4705"/>
              </a:lnSpc>
            </a:pPr>
            <a:r>
              <a:rPr lang="en-US" sz="2799" b="true">
                <a:solidFill>
                  <a:srgbClr val="000000"/>
                </a:solidFill>
                <a:latin typeface="Arial MT Pro Bold"/>
                <a:ea typeface="Arial MT Pro Bold"/>
                <a:cs typeface="Arial MT Pro Bold"/>
                <a:sym typeface="Arial MT Pro Bold"/>
              </a:rPr>
              <a:t>Iterador con Symbol.iterator</a:t>
            </a:r>
            <a:r>
              <a:rPr lang="en-US" sz="2799">
                <a:solidFill>
                  <a:srgbClr val="000000"/>
                </a:solidFill>
                <a:latin typeface="Arial MT Pro"/>
                <a:ea typeface="Arial MT Pro"/>
                <a:cs typeface="Arial MT Pro"/>
                <a:sym typeface="Arial MT Pro"/>
              </a:rPr>
              <a:t>: Permite crear iteradores personalizados implementando el protocolo de iteración. Útil para estructuras de datos customizadas.</a:t>
            </a:r>
          </a:p>
        </p:txBody>
      </p:sp>
      <p:sp>
        <p:nvSpPr>
          <p:cNvPr name="TextBox 3" id="3"/>
          <p:cNvSpPr txBox="true"/>
          <p:nvPr/>
        </p:nvSpPr>
        <p:spPr>
          <a:xfrm rot="0">
            <a:off x="2674821" y="762812"/>
            <a:ext cx="12938358" cy="1244600"/>
          </a:xfrm>
          <a:prstGeom prst="rect">
            <a:avLst/>
          </a:prstGeom>
        </p:spPr>
        <p:txBody>
          <a:bodyPr anchor="t" rtlCol="false" tIns="0" lIns="0" bIns="0" rIns="0">
            <a:spAutoFit/>
          </a:bodyPr>
          <a:lstStyle/>
          <a:p>
            <a:pPr algn="ctr">
              <a:lnSpc>
                <a:spcPts val="8399"/>
              </a:lnSpc>
            </a:pPr>
            <a:r>
              <a:rPr lang="en-US" sz="4999">
                <a:solidFill>
                  <a:srgbClr val="000000"/>
                </a:solidFill>
                <a:latin typeface="Arial MT Pro"/>
                <a:ea typeface="Arial MT Pro"/>
                <a:cs typeface="Arial MT Pro"/>
                <a:sym typeface="Arial MT Pro"/>
              </a:rPr>
              <a:t>ITERACIÓN</a:t>
            </a:r>
          </a:p>
        </p:txBody>
      </p:sp>
      <p:sp>
        <p:nvSpPr>
          <p:cNvPr name="TextBox 4" id="4"/>
          <p:cNvSpPr txBox="true"/>
          <p:nvPr/>
        </p:nvSpPr>
        <p:spPr>
          <a:xfrm rot="0">
            <a:off x="2674821" y="1929213"/>
            <a:ext cx="12938358" cy="1264771"/>
          </a:xfrm>
          <a:prstGeom prst="rect">
            <a:avLst/>
          </a:prstGeom>
        </p:spPr>
        <p:txBody>
          <a:bodyPr anchor="t" rtlCol="false" tIns="0" lIns="0" bIns="0" rIns="0">
            <a:spAutoFit/>
          </a:bodyPr>
          <a:lstStyle/>
          <a:p>
            <a:pPr algn="ctr">
              <a:lnSpc>
                <a:spcPts val="7558"/>
              </a:lnSpc>
            </a:pPr>
            <a:r>
              <a:rPr lang="en-US" sz="4500">
                <a:solidFill>
                  <a:srgbClr val="000000"/>
                </a:solidFill>
                <a:latin typeface="Arial MT Pro"/>
                <a:ea typeface="Arial MT Pro"/>
                <a:cs typeface="Arial MT Pro"/>
                <a:sym typeface="Arial MT Pro"/>
              </a:rPr>
              <a:t>ITERADORES JAVASCRIPT</a:t>
            </a:r>
          </a:p>
        </p:txBody>
      </p:sp>
      <p:grpSp>
        <p:nvGrpSpPr>
          <p:cNvPr name="Group 5" id="5"/>
          <p:cNvGrpSpPr>
            <a:grpSpLocks noChangeAspect="true"/>
          </p:cNvGrpSpPr>
          <p:nvPr/>
        </p:nvGrpSpPr>
        <p:grpSpPr>
          <a:xfrm rot="0">
            <a:off x="9993015" y="5799198"/>
            <a:ext cx="7244108" cy="3833048"/>
            <a:chOff x="0" y="0"/>
            <a:chExt cx="9658811" cy="5110731"/>
          </a:xfrm>
        </p:grpSpPr>
        <p:sp>
          <p:nvSpPr>
            <p:cNvPr name="Freeform 6" id="6"/>
            <p:cNvSpPr/>
            <p:nvPr/>
          </p:nvSpPr>
          <p:spPr>
            <a:xfrm flipH="false" flipV="false" rot="0">
              <a:off x="0" y="0"/>
              <a:ext cx="9658858" cy="5110734"/>
            </a:xfrm>
            <a:custGeom>
              <a:avLst/>
              <a:gdLst/>
              <a:ahLst/>
              <a:cxnLst/>
              <a:rect r="r" b="b" t="t" l="l"/>
              <a:pathLst>
                <a:path h="5110734" w="9658858">
                  <a:moveTo>
                    <a:pt x="0" y="0"/>
                  </a:moveTo>
                  <a:lnTo>
                    <a:pt x="9658858" y="0"/>
                  </a:lnTo>
                  <a:lnTo>
                    <a:pt x="9658858" y="5110734"/>
                  </a:lnTo>
                  <a:lnTo>
                    <a:pt x="0" y="5110734"/>
                  </a:lnTo>
                  <a:lnTo>
                    <a:pt x="0" y="0"/>
                  </a:lnTo>
                  <a:close/>
                </a:path>
              </a:pathLst>
            </a:custGeom>
            <a:blipFill>
              <a:blip r:embed="rId3"/>
              <a:stretch>
                <a:fillRect l="0" t="0" r="0" b="0"/>
              </a:stretch>
            </a:blipFill>
          </p:spPr>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685858" y="428915"/>
            <a:ext cx="13865029" cy="1244600"/>
          </a:xfrm>
          <a:prstGeom prst="rect">
            <a:avLst/>
          </a:prstGeom>
        </p:spPr>
        <p:txBody>
          <a:bodyPr anchor="t" rtlCol="false" tIns="0" lIns="0" bIns="0" rIns="0">
            <a:spAutoFit/>
          </a:bodyPr>
          <a:lstStyle/>
          <a:p>
            <a:pPr algn="l">
              <a:lnSpc>
                <a:spcPts val="8399"/>
              </a:lnSpc>
            </a:pPr>
            <a:r>
              <a:rPr lang="en-US" sz="4999">
                <a:solidFill>
                  <a:srgbClr val="152540"/>
                </a:solidFill>
                <a:latin typeface="Arial MT Pro"/>
                <a:ea typeface="Arial MT Pro"/>
                <a:cs typeface="Arial MT Pro"/>
                <a:sym typeface="Arial MT Pro"/>
              </a:rPr>
              <a:t>LECTURA DE ARCHIVOS</a:t>
            </a:r>
          </a:p>
        </p:txBody>
      </p:sp>
      <p:sp>
        <p:nvSpPr>
          <p:cNvPr name="TextBox 3" id="3"/>
          <p:cNvSpPr txBox="true"/>
          <p:nvPr/>
        </p:nvSpPr>
        <p:spPr>
          <a:xfrm rot="0">
            <a:off x="1685858" y="1511590"/>
            <a:ext cx="15455732" cy="4298442"/>
          </a:xfrm>
          <a:prstGeom prst="rect">
            <a:avLst/>
          </a:prstGeom>
        </p:spPr>
        <p:txBody>
          <a:bodyPr anchor="t" rtlCol="false" tIns="0" lIns="0" bIns="0" rIns="0">
            <a:spAutoFit/>
          </a:bodyPr>
          <a:lstStyle/>
          <a:p>
            <a:pPr algn="l">
              <a:lnSpc>
                <a:spcPts val="4031"/>
              </a:lnSpc>
            </a:pPr>
            <a:r>
              <a:rPr lang="en-US" sz="2400">
                <a:solidFill>
                  <a:srgbClr val="152540"/>
                </a:solidFill>
                <a:latin typeface="Arial MT Pro"/>
                <a:ea typeface="Arial MT Pro"/>
                <a:cs typeface="Arial MT Pro"/>
                <a:sym typeface="Arial MT Pro"/>
              </a:rPr>
              <a:t>El manejo de archivos en JavaScript varía significativamente según el entorno de ejecución. En Node.js, el módulo fs proporciona acceso completo al sistema de archivos, mientras que en navegadores, las APIs están restringidas por seguridad.</a:t>
            </a:r>
          </a:p>
          <a:p>
            <a:pPr algn="l">
              <a:lnSpc>
                <a:spcPts val="4031"/>
              </a:lnSpc>
            </a:pPr>
          </a:p>
          <a:p>
            <a:pPr algn="l">
              <a:lnSpc>
                <a:spcPts val="4031"/>
              </a:lnSpc>
            </a:pPr>
            <a:r>
              <a:rPr lang="en-US" sz="2400">
                <a:solidFill>
                  <a:srgbClr val="152540"/>
                </a:solidFill>
                <a:latin typeface="Arial MT Pro"/>
                <a:ea typeface="Arial MT Pro"/>
                <a:cs typeface="Arial MT Pro"/>
                <a:sym typeface="Arial MT Pro"/>
              </a:rPr>
              <a:t>FILESYSTEM (Node.js)</a:t>
            </a:r>
          </a:p>
          <a:p>
            <a:pPr algn="l">
              <a:lnSpc>
                <a:spcPts val="4031"/>
              </a:lnSpc>
            </a:pPr>
            <a:r>
              <a:rPr lang="en-US" sz="2400">
                <a:solidFill>
                  <a:srgbClr val="152540"/>
                </a:solidFill>
                <a:latin typeface="Arial MT Pro"/>
                <a:ea typeface="Arial MT Pro"/>
                <a:cs typeface="Arial MT Pro"/>
                <a:sym typeface="Arial MT Pro"/>
              </a:rPr>
              <a:t>Node.js ofrece APIs tanto síncronas como asíncronas para operaciones de archivo. Las operaciones asíncronas son preferibles para mantener la naturaleza no-bloqueante de Node.js, especialmente en aplicaciones de servidor.</a:t>
            </a:r>
          </a:p>
        </p:txBody>
      </p:sp>
      <p:grpSp>
        <p:nvGrpSpPr>
          <p:cNvPr name="Group 4" id="4"/>
          <p:cNvGrpSpPr>
            <a:grpSpLocks noChangeAspect="true"/>
          </p:cNvGrpSpPr>
          <p:nvPr/>
        </p:nvGrpSpPr>
        <p:grpSpPr>
          <a:xfrm rot="0">
            <a:off x="8048949" y="5418161"/>
            <a:ext cx="5809020" cy="4773303"/>
            <a:chOff x="0" y="0"/>
            <a:chExt cx="7745360" cy="6364404"/>
          </a:xfrm>
        </p:grpSpPr>
        <p:sp>
          <p:nvSpPr>
            <p:cNvPr name="Freeform 5" id="5"/>
            <p:cNvSpPr/>
            <p:nvPr/>
          </p:nvSpPr>
          <p:spPr>
            <a:xfrm flipH="false" flipV="false" rot="0">
              <a:off x="0" y="0"/>
              <a:ext cx="7745349" cy="6364351"/>
            </a:xfrm>
            <a:custGeom>
              <a:avLst/>
              <a:gdLst/>
              <a:ahLst/>
              <a:cxnLst/>
              <a:rect r="r" b="b" t="t" l="l"/>
              <a:pathLst>
                <a:path h="6364351" w="7745349">
                  <a:moveTo>
                    <a:pt x="0" y="0"/>
                  </a:moveTo>
                  <a:lnTo>
                    <a:pt x="7745349" y="0"/>
                  </a:lnTo>
                  <a:lnTo>
                    <a:pt x="7745349" y="6364351"/>
                  </a:lnTo>
                  <a:lnTo>
                    <a:pt x="0" y="6364351"/>
                  </a:lnTo>
                  <a:lnTo>
                    <a:pt x="0" y="0"/>
                  </a:lnTo>
                  <a:close/>
                </a:path>
              </a:pathLst>
            </a:custGeom>
            <a:blipFill>
              <a:blip r:embed="rId3"/>
              <a:stretch>
                <a:fillRect l="0" t="0" r="0" b="0"/>
              </a:stretch>
            </a:blipFill>
          </p:spPr>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687195" y="1206838"/>
            <a:ext cx="13643253" cy="1244600"/>
          </a:xfrm>
          <a:prstGeom prst="rect">
            <a:avLst/>
          </a:prstGeom>
        </p:spPr>
        <p:txBody>
          <a:bodyPr anchor="t" rtlCol="false" tIns="0" lIns="0" bIns="0" rIns="0">
            <a:spAutoFit/>
          </a:bodyPr>
          <a:lstStyle/>
          <a:p>
            <a:pPr algn="l">
              <a:lnSpc>
                <a:spcPts val="8399"/>
              </a:lnSpc>
            </a:pPr>
            <a:r>
              <a:rPr lang="en-US" sz="4999">
                <a:solidFill>
                  <a:srgbClr val="152540"/>
                </a:solidFill>
                <a:latin typeface="Arial MT Pro"/>
                <a:ea typeface="Arial MT Pro"/>
                <a:cs typeface="Arial MT Pro"/>
                <a:sym typeface="Arial MT Pro"/>
              </a:rPr>
              <a:t>LECTURA DE ARCHIVOS</a:t>
            </a:r>
          </a:p>
        </p:txBody>
      </p:sp>
      <p:sp>
        <p:nvSpPr>
          <p:cNvPr name="TextBox 3" id="3"/>
          <p:cNvSpPr txBox="true"/>
          <p:nvPr/>
        </p:nvSpPr>
        <p:spPr>
          <a:xfrm rot="0">
            <a:off x="1687195" y="2861269"/>
            <a:ext cx="15863826" cy="1543711"/>
          </a:xfrm>
          <a:prstGeom prst="rect">
            <a:avLst/>
          </a:prstGeom>
        </p:spPr>
        <p:txBody>
          <a:bodyPr anchor="t" rtlCol="false" tIns="0" lIns="0" bIns="0" rIns="0">
            <a:spAutoFit/>
          </a:bodyPr>
          <a:lstStyle/>
          <a:p>
            <a:pPr algn="just">
              <a:lnSpc>
                <a:spcPts val="3359"/>
              </a:lnSpc>
            </a:pPr>
            <a:r>
              <a:rPr lang="en-US" sz="2799" b="true">
                <a:solidFill>
                  <a:srgbClr val="000000"/>
                </a:solidFill>
                <a:latin typeface="Arial MT Pro Bold"/>
                <a:ea typeface="Arial MT Pro Bold"/>
                <a:cs typeface="Arial MT Pro Bold"/>
                <a:sym typeface="Arial MT Pro Bold"/>
              </a:rPr>
              <a:t>FETCH API (Browser)</a:t>
            </a:r>
          </a:p>
          <a:p>
            <a:pPr algn="just">
              <a:lnSpc>
                <a:spcPts val="3359"/>
              </a:lnSpc>
            </a:pPr>
            <a:r>
              <a:rPr lang="en-US" sz="2799">
                <a:solidFill>
                  <a:srgbClr val="000000"/>
                </a:solidFill>
                <a:latin typeface="Arial MT Pro"/>
                <a:ea typeface="Arial MT Pro"/>
                <a:cs typeface="Arial MT Pro"/>
                <a:sym typeface="Arial MT Pro"/>
              </a:rPr>
              <a:t>En entornos de navegador, la Fetch API permite cargar recursos de manera asíncrona. Está basada en promesas y es la evolución moderna de XMLHttpRequest.</a:t>
            </a:r>
          </a:p>
          <a:p>
            <a:pPr algn="just">
              <a:lnSpc>
                <a:spcPts val="4703"/>
              </a:lnSpc>
            </a:pPr>
          </a:p>
        </p:txBody>
      </p:sp>
      <p:grpSp>
        <p:nvGrpSpPr>
          <p:cNvPr name="Group 4" id="4"/>
          <p:cNvGrpSpPr>
            <a:grpSpLocks noChangeAspect="true"/>
          </p:cNvGrpSpPr>
          <p:nvPr/>
        </p:nvGrpSpPr>
        <p:grpSpPr>
          <a:xfrm rot="0">
            <a:off x="3742771" y="5498983"/>
            <a:ext cx="10802458" cy="3398274"/>
            <a:chOff x="0" y="0"/>
            <a:chExt cx="14403277" cy="4531032"/>
          </a:xfrm>
        </p:grpSpPr>
        <p:sp>
          <p:nvSpPr>
            <p:cNvPr name="Freeform 5" id="5"/>
            <p:cNvSpPr/>
            <p:nvPr/>
          </p:nvSpPr>
          <p:spPr>
            <a:xfrm flipH="false" flipV="false" rot="0">
              <a:off x="0" y="0"/>
              <a:ext cx="14403324" cy="4530979"/>
            </a:xfrm>
            <a:custGeom>
              <a:avLst/>
              <a:gdLst/>
              <a:ahLst/>
              <a:cxnLst/>
              <a:rect r="r" b="b" t="t" l="l"/>
              <a:pathLst>
                <a:path h="4530979" w="14403324">
                  <a:moveTo>
                    <a:pt x="0" y="0"/>
                  </a:moveTo>
                  <a:lnTo>
                    <a:pt x="14403324" y="0"/>
                  </a:lnTo>
                  <a:lnTo>
                    <a:pt x="14403324" y="4530979"/>
                  </a:lnTo>
                  <a:lnTo>
                    <a:pt x="0" y="4530979"/>
                  </a:lnTo>
                  <a:lnTo>
                    <a:pt x="0" y="0"/>
                  </a:lnTo>
                  <a:close/>
                </a:path>
              </a:pathLst>
            </a:custGeom>
            <a:blipFill>
              <a:blip r:embed="rId3"/>
              <a:stretch>
                <a:fillRect l="0" t="0" r="0" b="-1"/>
              </a:stretch>
            </a:blipFill>
          </p:spPr>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904220" y="647483"/>
            <a:ext cx="14206223" cy="1244600"/>
          </a:xfrm>
          <a:prstGeom prst="rect">
            <a:avLst/>
          </a:prstGeom>
        </p:spPr>
        <p:txBody>
          <a:bodyPr anchor="t" rtlCol="false" tIns="0" lIns="0" bIns="0" rIns="0">
            <a:spAutoFit/>
          </a:bodyPr>
          <a:lstStyle/>
          <a:p>
            <a:pPr algn="l">
              <a:lnSpc>
                <a:spcPts val="8399"/>
              </a:lnSpc>
            </a:pPr>
            <a:r>
              <a:rPr lang="en-US" sz="4999">
                <a:solidFill>
                  <a:srgbClr val="152540"/>
                </a:solidFill>
                <a:latin typeface="Arial MT Pro"/>
                <a:ea typeface="Arial MT Pro"/>
                <a:cs typeface="Arial MT Pro"/>
                <a:sym typeface="Arial MT Pro"/>
              </a:rPr>
              <a:t>ESCRITURA DE ARCHIVOS</a:t>
            </a:r>
          </a:p>
        </p:txBody>
      </p:sp>
      <p:sp>
        <p:nvSpPr>
          <p:cNvPr name="TextBox 3" id="3"/>
          <p:cNvSpPr txBox="true"/>
          <p:nvPr/>
        </p:nvSpPr>
        <p:spPr>
          <a:xfrm rot="0">
            <a:off x="1904220" y="2061918"/>
            <a:ext cx="15510321" cy="3896130"/>
          </a:xfrm>
          <a:prstGeom prst="rect">
            <a:avLst/>
          </a:prstGeom>
        </p:spPr>
        <p:txBody>
          <a:bodyPr anchor="t" rtlCol="false" tIns="0" lIns="0" bIns="0" rIns="0">
            <a:spAutoFit/>
          </a:bodyPr>
          <a:lstStyle/>
          <a:p>
            <a:pPr algn="just">
              <a:lnSpc>
                <a:spcPts val="4703"/>
              </a:lnSpc>
            </a:pPr>
            <a:r>
              <a:rPr lang="en-US" sz="2799">
                <a:solidFill>
                  <a:srgbClr val="000000"/>
                </a:solidFill>
                <a:latin typeface="Arial MT Pro"/>
                <a:ea typeface="Arial MT Pro"/>
                <a:cs typeface="Arial MT Pro"/>
                <a:sym typeface="Arial MT Pro"/>
              </a:rPr>
              <a:t>La escritura de archivos en Node.js sigue patrones similares a la lectura, ofreciendo opciones síncronas y asíncronas. La gestión adecuada de streams es crucial para el manejo eficiente de archivos grandes.</a:t>
            </a:r>
          </a:p>
          <a:p>
            <a:pPr algn="just">
              <a:lnSpc>
                <a:spcPts val="4703"/>
              </a:lnSpc>
            </a:pPr>
          </a:p>
          <a:p>
            <a:pPr algn="just">
              <a:lnSpc>
                <a:spcPts val="3359"/>
              </a:lnSpc>
            </a:pPr>
            <a:r>
              <a:rPr lang="en-US" sz="2799" b="true">
                <a:solidFill>
                  <a:srgbClr val="000000"/>
                </a:solidFill>
                <a:latin typeface="Arial MT Pro Bold"/>
                <a:ea typeface="Arial MT Pro Bold"/>
                <a:cs typeface="Arial MT Pro Bold"/>
                <a:sym typeface="Arial MT Pro Bold"/>
              </a:rPr>
              <a:t>FILESYSTEM (Node.js)</a:t>
            </a:r>
          </a:p>
          <a:p>
            <a:pPr algn="just">
              <a:lnSpc>
                <a:spcPts val="3359"/>
              </a:lnSpc>
            </a:pPr>
            <a:r>
              <a:rPr lang="en-US" sz="2799">
                <a:solidFill>
                  <a:srgbClr val="000000"/>
                </a:solidFill>
                <a:latin typeface="Arial MT Pro"/>
                <a:ea typeface="Arial MT Pro"/>
                <a:cs typeface="Arial MT Pro"/>
                <a:sym typeface="Arial MT Pro"/>
              </a:rPr>
              <a:t>Las operaciones de escritura pueden ser destructivas o aditivas, dependiendo de los flags utilizados. Es importante manejar errores apropiadamente para evitar pérdida de datos.</a:t>
            </a:r>
          </a:p>
        </p:txBody>
      </p:sp>
      <p:grpSp>
        <p:nvGrpSpPr>
          <p:cNvPr name="Group 4" id="4"/>
          <p:cNvGrpSpPr>
            <a:grpSpLocks noChangeAspect="true"/>
          </p:cNvGrpSpPr>
          <p:nvPr/>
        </p:nvGrpSpPr>
        <p:grpSpPr>
          <a:xfrm rot="0">
            <a:off x="6050517" y="6102734"/>
            <a:ext cx="6272112" cy="4097914"/>
            <a:chOff x="0" y="0"/>
            <a:chExt cx="8362816" cy="5463885"/>
          </a:xfrm>
        </p:grpSpPr>
        <p:sp>
          <p:nvSpPr>
            <p:cNvPr name="Freeform 5" id="5"/>
            <p:cNvSpPr/>
            <p:nvPr/>
          </p:nvSpPr>
          <p:spPr>
            <a:xfrm flipH="false" flipV="false" rot="0">
              <a:off x="0" y="0"/>
              <a:ext cx="8362823" cy="5463921"/>
            </a:xfrm>
            <a:custGeom>
              <a:avLst/>
              <a:gdLst/>
              <a:ahLst/>
              <a:cxnLst/>
              <a:rect r="r" b="b" t="t" l="l"/>
              <a:pathLst>
                <a:path h="5463921" w="8362823">
                  <a:moveTo>
                    <a:pt x="0" y="0"/>
                  </a:moveTo>
                  <a:lnTo>
                    <a:pt x="8362823" y="0"/>
                  </a:lnTo>
                  <a:lnTo>
                    <a:pt x="8362823" y="5463921"/>
                  </a:lnTo>
                  <a:lnTo>
                    <a:pt x="0" y="5463921"/>
                  </a:lnTo>
                  <a:lnTo>
                    <a:pt x="0" y="0"/>
                  </a:lnTo>
                  <a:close/>
                </a:path>
              </a:pathLst>
            </a:custGeom>
            <a:blipFill>
              <a:blip r:embed="rId3"/>
              <a:stretch>
                <a:fillRect l="0" t="0" r="0" b="0"/>
              </a:stretch>
            </a:blipFill>
          </p:spPr>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904222" y="1234133"/>
            <a:ext cx="14103865" cy="1244600"/>
          </a:xfrm>
          <a:prstGeom prst="rect">
            <a:avLst/>
          </a:prstGeom>
        </p:spPr>
        <p:txBody>
          <a:bodyPr anchor="t" rtlCol="false" tIns="0" lIns="0" bIns="0" rIns="0">
            <a:spAutoFit/>
          </a:bodyPr>
          <a:lstStyle/>
          <a:p>
            <a:pPr algn="l">
              <a:lnSpc>
                <a:spcPts val="8399"/>
              </a:lnSpc>
            </a:pPr>
            <a:r>
              <a:rPr lang="en-US" sz="4999">
                <a:solidFill>
                  <a:srgbClr val="152540"/>
                </a:solidFill>
                <a:latin typeface="Arial MT Pro"/>
                <a:ea typeface="Arial MT Pro"/>
                <a:cs typeface="Arial MT Pro"/>
                <a:sym typeface="Arial MT Pro"/>
              </a:rPr>
              <a:t>ESCRITURA DE ARCHIVOS</a:t>
            </a:r>
          </a:p>
        </p:txBody>
      </p:sp>
      <p:sp>
        <p:nvSpPr>
          <p:cNvPr name="TextBox 3" id="3"/>
          <p:cNvSpPr txBox="true"/>
          <p:nvPr/>
        </p:nvSpPr>
        <p:spPr>
          <a:xfrm rot="0">
            <a:off x="1904222" y="2711143"/>
            <a:ext cx="14479556" cy="1780699"/>
          </a:xfrm>
          <a:prstGeom prst="rect">
            <a:avLst/>
          </a:prstGeom>
        </p:spPr>
        <p:txBody>
          <a:bodyPr anchor="t" rtlCol="false" tIns="0" lIns="0" bIns="0" rIns="0">
            <a:spAutoFit/>
          </a:bodyPr>
          <a:lstStyle/>
          <a:p>
            <a:pPr algn="just">
              <a:lnSpc>
                <a:spcPts val="3359"/>
              </a:lnSpc>
            </a:pPr>
            <a:r>
              <a:rPr lang="en-US" sz="2799" b="true">
                <a:solidFill>
                  <a:srgbClr val="000000"/>
                </a:solidFill>
                <a:latin typeface="Arial MT Pro Bold"/>
                <a:ea typeface="Arial MT Pro Bold"/>
                <a:cs typeface="Arial MT Pro Bold"/>
                <a:sym typeface="Arial MT Pro Bold"/>
              </a:rPr>
              <a:t>STREAMS (Node.js)</a:t>
            </a:r>
          </a:p>
          <a:p>
            <a:pPr algn="just">
              <a:lnSpc>
                <a:spcPts val="3359"/>
              </a:lnSpc>
            </a:pPr>
            <a:r>
              <a:rPr lang="en-US" sz="2799">
                <a:solidFill>
                  <a:srgbClr val="000000"/>
                </a:solidFill>
                <a:latin typeface="Arial MT Pro"/>
                <a:ea typeface="Arial MT Pro"/>
                <a:cs typeface="Arial MT Pro"/>
                <a:sym typeface="Arial MT Pro"/>
              </a:rPr>
              <a:t>Los streams proporcionan una interfaz eficiente para manejar datos que no caben en memoria o que se procesan gradualmente. Son especialmente útiles para archivos grandes o procesamiento en tiempo real.</a:t>
            </a:r>
          </a:p>
        </p:txBody>
      </p:sp>
      <p:grpSp>
        <p:nvGrpSpPr>
          <p:cNvPr name="Group 4" id="4"/>
          <p:cNvGrpSpPr>
            <a:grpSpLocks noChangeAspect="true"/>
          </p:cNvGrpSpPr>
          <p:nvPr/>
        </p:nvGrpSpPr>
        <p:grpSpPr>
          <a:xfrm rot="0">
            <a:off x="5149761" y="5023978"/>
            <a:ext cx="8175370" cy="3396691"/>
            <a:chOff x="0" y="0"/>
            <a:chExt cx="10900493" cy="4528921"/>
          </a:xfrm>
        </p:grpSpPr>
        <p:sp>
          <p:nvSpPr>
            <p:cNvPr name="Freeform 5" id="5"/>
            <p:cNvSpPr/>
            <p:nvPr/>
          </p:nvSpPr>
          <p:spPr>
            <a:xfrm flipH="false" flipV="false" rot="0">
              <a:off x="0" y="0"/>
              <a:ext cx="10900537" cy="4528947"/>
            </a:xfrm>
            <a:custGeom>
              <a:avLst/>
              <a:gdLst/>
              <a:ahLst/>
              <a:cxnLst/>
              <a:rect r="r" b="b" t="t" l="l"/>
              <a:pathLst>
                <a:path h="4528947" w="10900537">
                  <a:moveTo>
                    <a:pt x="0" y="0"/>
                  </a:moveTo>
                  <a:lnTo>
                    <a:pt x="10900537" y="0"/>
                  </a:lnTo>
                  <a:lnTo>
                    <a:pt x="10900537" y="4528947"/>
                  </a:lnTo>
                  <a:lnTo>
                    <a:pt x="0" y="4528947"/>
                  </a:lnTo>
                  <a:lnTo>
                    <a:pt x="0" y="0"/>
                  </a:lnTo>
                  <a:close/>
                </a:path>
              </a:pathLst>
            </a:custGeom>
            <a:blipFill>
              <a:blip r:embed="rId3"/>
              <a:stretch>
                <a:fillRect l="0" t="0" r="0" b="0"/>
              </a:stretch>
            </a:blipFill>
          </p:spPr>
        </p:sp>
      </p:grpSp>
    </p:spTree>
  </p:cSld>
  <p:clrMapOvr>
    <a:masterClrMapping/>
  </p:clrMapOvr>
</p:sld>
</file>

<file path=ppt/slides/slide2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423108" y="2713812"/>
            <a:ext cx="12632411" cy="6990381"/>
          </a:xfrm>
          <a:prstGeom prst="rect">
            <a:avLst/>
          </a:prstGeom>
        </p:spPr>
        <p:txBody>
          <a:bodyPr anchor="t" rtlCol="false" tIns="0" lIns="0" bIns="0" rIns="0">
            <a:spAutoFit/>
          </a:bodyPr>
          <a:lstStyle/>
          <a:p>
            <a:pPr algn="l">
              <a:lnSpc>
                <a:spcPts val="5265"/>
              </a:lnSpc>
            </a:pPr>
            <a:r>
              <a:rPr lang="en-US" b="true" sz="3133">
                <a:solidFill>
                  <a:srgbClr val="152540"/>
                </a:solidFill>
                <a:latin typeface="Arial MT Pro Bold"/>
                <a:ea typeface="Arial MT Pro Bold"/>
                <a:cs typeface="Arial MT Pro Bold"/>
                <a:sym typeface="Arial MT Pro Bold"/>
              </a:rPr>
              <a:t>Arreglos en JavaScript</a:t>
            </a:r>
          </a:p>
          <a:p>
            <a:pPr algn="l" marL="716481" indent="-238827" lvl="2">
              <a:lnSpc>
                <a:spcPts val="5265"/>
              </a:lnSpc>
              <a:buFont typeface="Arial"/>
              <a:buChar char="⚬"/>
            </a:pPr>
            <a:r>
              <a:rPr lang="en-US" sz="3133">
                <a:solidFill>
                  <a:srgbClr val="152540"/>
                </a:solidFill>
                <a:latin typeface="Arial MT Pro"/>
                <a:ea typeface="Arial MT Pro"/>
                <a:cs typeface="Arial MT Pro"/>
                <a:sym typeface="Arial MT Pro"/>
              </a:rPr>
              <a:t>Estructura de datos de tamaño dinamico</a:t>
            </a:r>
          </a:p>
          <a:p>
            <a:pPr algn="l" marL="716481" indent="-238827" lvl="2">
              <a:lnSpc>
                <a:spcPts val="5265"/>
              </a:lnSpc>
              <a:buFont typeface="Arial"/>
              <a:buChar char="⚬"/>
            </a:pPr>
            <a:r>
              <a:rPr lang="en-US" sz="3133">
                <a:solidFill>
                  <a:srgbClr val="152540"/>
                </a:solidFill>
                <a:latin typeface="Arial MT Pro"/>
                <a:ea typeface="Arial MT Pro"/>
                <a:cs typeface="Arial MT Pro"/>
                <a:sym typeface="Arial MT Pro"/>
              </a:rPr>
              <a:t>Acceso a elementos por índice</a:t>
            </a:r>
          </a:p>
          <a:p>
            <a:pPr algn="l" marL="716481" indent="-238827" lvl="2">
              <a:lnSpc>
                <a:spcPts val="5265"/>
              </a:lnSpc>
              <a:buFont typeface="Arial"/>
              <a:buChar char="⚬"/>
            </a:pPr>
            <a:r>
              <a:rPr lang="en-US" sz="3133">
                <a:solidFill>
                  <a:srgbClr val="152540"/>
                </a:solidFill>
                <a:latin typeface="Arial MT Pro"/>
                <a:ea typeface="Arial MT Pro"/>
                <a:cs typeface="Arial MT Pro"/>
                <a:sym typeface="Arial MT Pro"/>
              </a:rPr>
              <a:t>Uso de </a:t>
            </a:r>
            <a:r>
              <a:rPr lang="en-US" sz="3133" i="true">
                <a:solidFill>
                  <a:srgbClr val="152540"/>
                </a:solidFill>
                <a:latin typeface="Arial MT Pro Italics"/>
                <a:ea typeface="Arial MT Pro Italics"/>
                <a:cs typeface="Arial MT Pro Italics"/>
                <a:sym typeface="Arial MT Pro Italics"/>
              </a:rPr>
              <a:t>length </a:t>
            </a:r>
            <a:r>
              <a:rPr lang="en-US" sz="3133">
                <a:solidFill>
                  <a:srgbClr val="152540"/>
                </a:solidFill>
                <a:latin typeface="Arial MT Pro"/>
                <a:ea typeface="Arial MT Pro"/>
                <a:cs typeface="Arial MT Pro"/>
                <a:sym typeface="Arial MT Pro"/>
              </a:rPr>
              <a:t>para obtener la longitud</a:t>
            </a:r>
          </a:p>
          <a:p>
            <a:pPr algn="l" marL="716481" indent="-238827" lvl="2">
              <a:lnSpc>
                <a:spcPts val="5265"/>
              </a:lnSpc>
              <a:buFont typeface="Arial"/>
              <a:buChar char="⚬"/>
            </a:pPr>
            <a:r>
              <a:rPr lang="en-US" sz="3133">
                <a:solidFill>
                  <a:srgbClr val="152540"/>
                </a:solidFill>
                <a:latin typeface="Arial MT Pro"/>
                <a:ea typeface="Arial MT Pro"/>
                <a:cs typeface="Arial MT Pro"/>
                <a:sym typeface="Arial MT Pro"/>
              </a:rPr>
              <a:t>Se recorre con bucles (</a:t>
            </a:r>
            <a:r>
              <a:rPr lang="en-US" sz="3133" i="true">
                <a:solidFill>
                  <a:srgbClr val="152540"/>
                </a:solidFill>
                <a:latin typeface="Arial MT Pro Italics"/>
                <a:ea typeface="Arial MT Pro Italics"/>
                <a:cs typeface="Arial MT Pro Italics"/>
                <a:sym typeface="Arial MT Pro Italics"/>
              </a:rPr>
              <a:t>for</a:t>
            </a:r>
            <a:r>
              <a:rPr lang="en-US" sz="3133">
                <a:solidFill>
                  <a:srgbClr val="152540"/>
                </a:solidFill>
                <a:latin typeface="Arial MT Pro"/>
                <a:ea typeface="Arial MT Pro"/>
                <a:cs typeface="Arial MT Pro"/>
                <a:sym typeface="Arial MT Pro"/>
              </a:rPr>
              <a:t>, </a:t>
            </a:r>
            <a:r>
              <a:rPr lang="en-US" sz="3133" i="true">
                <a:solidFill>
                  <a:srgbClr val="152540"/>
                </a:solidFill>
                <a:latin typeface="Arial MT Pro Italics"/>
                <a:ea typeface="Arial MT Pro Italics"/>
                <a:cs typeface="Arial MT Pro Italics"/>
                <a:sym typeface="Arial MT Pro Italics"/>
              </a:rPr>
              <a:t>for-each</a:t>
            </a:r>
            <a:r>
              <a:rPr lang="en-US" sz="3133">
                <a:solidFill>
                  <a:srgbClr val="152540"/>
                </a:solidFill>
                <a:latin typeface="Arial MT Pro"/>
                <a:ea typeface="Arial MT Pro"/>
                <a:cs typeface="Arial MT Pro"/>
                <a:sym typeface="Arial MT Pro"/>
              </a:rPr>
              <a:t>)</a:t>
            </a:r>
          </a:p>
          <a:p>
            <a:pPr algn="l" marL="716481" indent="-238827" lvl="2">
              <a:lnSpc>
                <a:spcPts val="5265"/>
              </a:lnSpc>
            </a:pPr>
            <a:r>
              <a:rPr lang="en-US" b="true" sz="3133">
                <a:solidFill>
                  <a:srgbClr val="152540"/>
                </a:solidFill>
                <a:latin typeface="Arial MT Pro Bold"/>
                <a:ea typeface="Arial MT Pro Bold"/>
                <a:cs typeface="Arial MT Pro Bold"/>
                <a:sym typeface="Arial MT Pro Bold"/>
              </a:rPr>
              <a:t>Estructuras de Datos en Java</a:t>
            </a:r>
          </a:p>
          <a:p>
            <a:pPr algn="l" marL="716481" indent="-238827" lvl="2">
              <a:lnSpc>
                <a:spcPts val="5265"/>
              </a:lnSpc>
              <a:buFont typeface="Arial"/>
              <a:buChar char="⚬"/>
            </a:pPr>
            <a:r>
              <a:rPr lang="en-US" sz="3133">
                <a:solidFill>
                  <a:srgbClr val="152540"/>
                </a:solidFill>
                <a:latin typeface="Arial MT Pro"/>
                <a:ea typeface="Arial MT Pro"/>
                <a:cs typeface="Arial MT Pro"/>
                <a:sym typeface="Arial MT Pro"/>
              </a:rPr>
              <a:t>Uso de objetos nativos (Array, Object, Map, Set)</a:t>
            </a:r>
          </a:p>
          <a:p>
            <a:pPr algn="l" marL="716481" indent="-238827" lvl="2">
              <a:lnSpc>
                <a:spcPts val="5265"/>
              </a:lnSpc>
              <a:buFont typeface="Arial"/>
              <a:buChar char="⚬"/>
            </a:pPr>
            <a:r>
              <a:rPr lang="en-US" sz="3133">
                <a:solidFill>
                  <a:srgbClr val="152540"/>
                </a:solidFill>
                <a:latin typeface="Arial MT Pro"/>
                <a:ea typeface="Arial MT Pro"/>
                <a:cs typeface="Arial MT Pro"/>
                <a:sym typeface="Arial MT Pro"/>
              </a:rPr>
              <a:t>Diferencias entre primitivos y objetos</a:t>
            </a:r>
          </a:p>
          <a:p>
            <a:pPr algn="l" marL="716481" indent="-238827" lvl="2">
              <a:lnSpc>
                <a:spcPts val="5265"/>
              </a:lnSpc>
              <a:buFont typeface="Arial"/>
              <a:buChar char="⚬"/>
            </a:pPr>
            <a:r>
              <a:rPr lang="en-US" sz="3133">
                <a:solidFill>
                  <a:srgbClr val="152540"/>
                </a:solidFill>
                <a:latin typeface="Arial MT Pro"/>
                <a:ea typeface="Arial MT Pro"/>
                <a:cs typeface="Arial MT Pro"/>
                <a:sym typeface="Arial MT Pro"/>
              </a:rPr>
              <a:t>Métodos como push(), pop(), shift(), unshift()</a:t>
            </a:r>
          </a:p>
          <a:p>
            <a:pPr algn="l" marL="716481" indent="-238827" lvl="2">
              <a:lnSpc>
                <a:spcPts val="5265"/>
              </a:lnSpc>
              <a:buFont typeface="Arial"/>
              <a:buChar char="⚬"/>
            </a:pPr>
            <a:r>
              <a:rPr lang="en-US" sz="3133">
                <a:solidFill>
                  <a:srgbClr val="152540"/>
                </a:solidFill>
                <a:latin typeface="Arial MT Pro"/>
                <a:ea typeface="Arial MT Pro"/>
                <a:cs typeface="Arial MT Pro"/>
                <a:sym typeface="Arial MT Pro"/>
              </a:rPr>
              <a:t>Métodos funcionales como map(), filter(), reduce()</a:t>
            </a:r>
          </a:p>
        </p:txBody>
      </p:sp>
      <p:sp>
        <p:nvSpPr>
          <p:cNvPr name="TextBox 3" id="3"/>
          <p:cNvSpPr txBox="true"/>
          <p:nvPr/>
        </p:nvSpPr>
        <p:spPr>
          <a:xfrm rot="0">
            <a:off x="2507390" y="762000"/>
            <a:ext cx="13503315" cy="2290191"/>
          </a:xfrm>
          <a:prstGeom prst="rect">
            <a:avLst/>
          </a:prstGeom>
        </p:spPr>
        <p:txBody>
          <a:bodyPr anchor="t" rtlCol="false" tIns="0" lIns="0" bIns="0" rIns="0">
            <a:spAutoFit/>
          </a:bodyPr>
          <a:lstStyle/>
          <a:p>
            <a:pPr algn="ctr">
              <a:lnSpc>
                <a:spcPts val="9356"/>
              </a:lnSpc>
            </a:pPr>
            <a:r>
              <a:rPr lang="en-US" sz="6900">
                <a:solidFill>
                  <a:srgbClr val="131416"/>
                </a:solidFill>
                <a:latin typeface="Arial MT Pro"/>
                <a:ea typeface="Arial MT Pro"/>
                <a:cs typeface="Arial MT Pro"/>
                <a:sym typeface="Arial MT Pro"/>
              </a:rPr>
              <a:t>CONCEPTOS CLAVE APRENDIDOS </a:t>
            </a:r>
          </a:p>
        </p:txBody>
      </p:sp>
    </p:spTree>
  </p:cSld>
  <p:clrMapOvr>
    <a:masterClrMapping/>
  </p:clrMapOvr>
</p:sld>
</file>

<file path=ppt/slides/slide3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464052" y="2713812"/>
            <a:ext cx="12632411" cy="7637289"/>
          </a:xfrm>
          <a:prstGeom prst="rect">
            <a:avLst/>
          </a:prstGeom>
        </p:spPr>
        <p:txBody>
          <a:bodyPr anchor="t" rtlCol="false" tIns="0" lIns="0" bIns="0" rIns="0">
            <a:spAutoFit/>
          </a:bodyPr>
          <a:lstStyle/>
          <a:p>
            <a:pPr algn="l">
              <a:lnSpc>
                <a:spcPts val="5265"/>
              </a:lnSpc>
            </a:pPr>
            <a:r>
              <a:rPr lang="en-US" b="true" sz="3133">
                <a:solidFill>
                  <a:srgbClr val="152540"/>
                </a:solidFill>
                <a:latin typeface="Arial MT Pro Bold"/>
                <a:ea typeface="Arial MT Pro Bold"/>
                <a:cs typeface="Arial MT Pro Bold"/>
                <a:sym typeface="Arial MT Pro Bold"/>
              </a:rPr>
              <a:t>Iteración en Java</a:t>
            </a:r>
          </a:p>
          <a:p>
            <a:pPr algn="l" marL="716481" indent="-238827" lvl="2">
              <a:lnSpc>
                <a:spcPts val="5265"/>
              </a:lnSpc>
              <a:buFont typeface="Arial"/>
              <a:buChar char="⚬"/>
            </a:pPr>
            <a:r>
              <a:rPr lang="en-US" sz="3133">
                <a:solidFill>
                  <a:srgbClr val="152540"/>
                </a:solidFill>
                <a:latin typeface="Arial MT Pro"/>
                <a:ea typeface="Arial MT Pro"/>
                <a:cs typeface="Arial MT Pro"/>
                <a:sym typeface="Arial MT Pro"/>
              </a:rPr>
              <a:t>Repetición con bucles (</a:t>
            </a:r>
            <a:r>
              <a:rPr lang="en-US" sz="3133" i="true">
                <a:solidFill>
                  <a:srgbClr val="152540"/>
                </a:solidFill>
                <a:latin typeface="Arial MT Pro Italics"/>
                <a:ea typeface="Arial MT Pro Italics"/>
                <a:cs typeface="Arial MT Pro Italics"/>
                <a:sym typeface="Arial MT Pro Italics"/>
              </a:rPr>
              <a:t>for</a:t>
            </a:r>
            <a:r>
              <a:rPr lang="en-US" sz="3133">
                <a:solidFill>
                  <a:srgbClr val="152540"/>
                </a:solidFill>
                <a:latin typeface="Arial MT Pro"/>
                <a:ea typeface="Arial MT Pro"/>
                <a:cs typeface="Arial MT Pro"/>
                <a:sym typeface="Arial MT Pro"/>
              </a:rPr>
              <a:t>, </a:t>
            </a:r>
            <a:r>
              <a:rPr lang="en-US" sz="3133" i="true">
                <a:solidFill>
                  <a:srgbClr val="152540"/>
                </a:solidFill>
                <a:latin typeface="Arial MT Pro Italics"/>
                <a:ea typeface="Arial MT Pro Italics"/>
                <a:cs typeface="Arial MT Pro Italics"/>
                <a:sym typeface="Arial MT Pro Italics"/>
              </a:rPr>
              <a:t>while</a:t>
            </a:r>
            <a:r>
              <a:rPr lang="en-US" sz="3133">
                <a:solidFill>
                  <a:srgbClr val="152540"/>
                </a:solidFill>
                <a:latin typeface="Arial MT Pro"/>
                <a:ea typeface="Arial MT Pro"/>
                <a:cs typeface="Arial MT Pro"/>
                <a:sym typeface="Arial MT Pro"/>
              </a:rPr>
              <a:t>, </a:t>
            </a:r>
            <a:r>
              <a:rPr lang="en-US" sz="3133" i="true">
                <a:solidFill>
                  <a:srgbClr val="152540"/>
                </a:solidFill>
                <a:latin typeface="Arial MT Pro Italics"/>
                <a:ea typeface="Arial MT Pro Italics"/>
                <a:cs typeface="Arial MT Pro Italics"/>
                <a:sym typeface="Arial MT Pro Italics"/>
              </a:rPr>
              <a:t>do-while</a:t>
            </a:r>
            <a:r>
              <a:rPr lang="en-US" sz="3133">
                <a:solidFill>
                  <a:srgbClr val="152540"/>
                </a:solidFill>
                <a:latin typeface="Arial MT Pro"/>
                <a:ea typeface="Arial MT Pro"/>
                <a:cs typeface="Arial MT Pro"/>
                <a:sym typeface="Arial MT Pro"/>
              </a:rPr>
              <a:t>)</a:t>
            </a:r>
          </a:p>
          <a:p>
            <a:pPr algn="l" marL="716481" indent="-238827" lvl="2">
              <a:lnSpc>
                <a:spcPts val="5265"/>
              </a:lnSpc>
              <a:buFont typeface="Arial"/>
              <a:buChar char="⚬"/>
            </a:pPr>
            <a:r>
              <a:rPr lang="en-US" sz="3133" i="true">
                <a:solidFill>
                  <a:srgbClr val="152540"/>
                </a:solidFill>
                <a:latin typeface="Arial MT Pro Italics"/>
                <a:ea typeface="Arial MT Pro Italics"/>
                <a:cs typeface="Arial MT Pro Italics"/>
                <a:sym typeface="Arial MT Pro Italics"/>
              </a:rPr>
              <a:t>for-each</a:t>
            </a:r>
            <a:r>
              <a:rPr lang="en-US" sz="3133">
                <a:solidFill>
                  <a:srgbClr val="152540"/>
                </a:solidFill>
                <a:latin typeface="Arial MT Pro"/>
                <a:ea typeface="Arial MT Pro"/>
                <a:cs typeface="Arial MT Pro"/>
                <a:sym typeface="Arial MT Pro"/>
              </a:rPr>
              <a:t> para recorrer colecciones fácilmente</a:t>
            </a:r>
          </a:p>
          <a:p>
            <a:pPr algn="l" marL="716481" indent="-238827" lvl="2">
              <a:lnSpc>
                <a:spcPts val="5265"/>
              </a:lnSpc>
              <a:buFont typeface="Arial"/>
              <a:buChar char="⚬"/>
            </a:pPr>
            <a:r>
              <a:rPr lang="en-US" sz="3133">
                <a:solidFill>
                  <a:srgbClr val="152540"/>
                </a:solidFill>
                <a:latin typeface="Arial MT Pro"/>
                <a:ea typeface="Arial MT Pro"/>
                <a:cs typeface="Arial MT Pro"/>
                <a:sym typeface="Arial MT Pro"/>
              </a:rPr>
              <a:t>for...in para recorrer propiedades de objetos</a:t>
            </a:r>
          </a:p>
          <a:p>
            <a:pPr algn="l" marL="716481" indent="-238827" lvl="2">
              <a:lnSpc>
                <a:spcPts val="5265"/>
              </a:lnSpc>
              <a:buFont typeface="Arial"/>
              <a:buChar char="⚬"/>
            </a:pPr>
            <a:r>
              <a:rPr lang="en-US" sz="3133">
                <a:solidFill>
                  <a:srgbClr val="152540"/>
                </a:solidFill>
                <a:latin typeface="Arial MT Pro"/>
                <a:ea typeface="Arial MT Pro"/>
                <a:cs typeface="Arial MT Pro"/>
                <a:sym typeface="Arial MT Pro"/>
              </a:rPr>
              <a:t>Uso de break, continue, y return</a:t>
            </a:r>
          </a:p>
          <a:p>
            <a:pPr algn="l" marL="716481" indent="-238827" lvl="2">
              <a:lnSpc>
                <a:spcPts val="5265"/>
              </a:lnSpc>
              <a:buFont typeface="Arial"/>
              <a:buChar char="⚬"/>
            </a:pPr>
            <a:r>
              <a:rPr lang="en-US" sz="3133">
                <a:solidFill>
                  <a:srgbClr val="152540"/>
                </a:solidFill>
                <a:latin typeface="Arial MT Pro"/>
                <a:ea typeface="Arial MT Pro"/>
                <a:cs typeface="Arial MT Pro"/>
                <a:sym typeface="Arial MT Pro"/>
              </a:rPr>
              <a:t>Métodos de arreglo para iteración funcional</a:t>
            </a:r>
          </a:p>
          <a:p>
            <a:pPr algn="l" marL="716481" indent="-238827" lvl="2">
              <a:lnSpc>
                <a:spcPts val="5265"/>
              </a:lnSpc>
            </a:pPr>
            <a:r>
              <a:rPr lang="en-US" b="true" sz="3133">
                <a:solidFill>
                  <a:srgbClr val="152540"/>
                </a:solidFill>
                <a:latin typeface="Arial MT Pro Bold"/>
                <a:ea typeface="Arial MT Pro Bold"/>
                <a:cs typeface="Arial MT Pro Bold"/>
                <a:sym typeface="Arial MT Pro Bold"/>
              </a:rPr>
              <a:t>Lectura de Archivos</a:t>
            </a:r>
          </a:p>
          <a:p>
            <a:pPr algn="l" marL="716481" indent="-238827" lvl="2">
              <a:lnSpc>
                <a:spcPts val="5265"/>
              </a:lnSpc>
              <a:buFont typeface="Arial"/>
              <a:buChar char="⚬"/>
            </a:pPr>
            <a:r>
              <a:rPr lang="en-US" sz="3133">
                <a:solidFill>
                  <a:srgbClr val="152540"/>
                </a:solidFill>
                <a:latin typeface="Arial MT Pro"/>
                <a:ea typeface="Arial MT Pro"/>
                <a:cs typeface="Arial MT Pro"/>
                <a:sym typeface="Arial MT Pro"/>
              </a:rPr>
              <a:t>En Node.js: módulo fs y sus métodos síncronos/asíncronos</a:t>
            </a:r>
          </a:p>
          <a:p>
            <a:pPr algn="l" marL="716481" indent="-238827" lvl="2">
              <a:lnSpc>
                <a:spcPts val="5265"/>
              </a:lnSpc>
              <a:buFont typeface="Arial"/>
              <a:buChar char="⚬"/>
            </a:pPr>
            <a:r>
              <a:rPr lang="en-US" sz="3133">
                <a:solidFill>
                  <a:srgbClr val="152540"/>
                </a:solidFill>
                <a:latin typeface="Arial MT Pro"/>
                <a:ea typeface="Arial MT Pro"/>
                <a:cs typeface="Arial MT Pro"/>
                <a:sym typeface="Arial MT Pro"/>
              </a:rPr>
              <a:t>En navegador: Fetch API y File API</a:t>
            </a:r>
          </a:p>
          <a:p>
            <a:pPr algn="l" marL="716481" indent="-238827" lvl="2">
              <a:lnSpc>
                <a:spcPts val="5265"/>
              </a:lnSpc>
              <a:buFont typeface="Arial"/>
              <a:buChar char="⚬"/>
            </a:pPr>
            <a:r>
              <a:rPr lang="en-US" sz="3133">
                <a:solidFill>
                  <a:srgbClr val="152540"/>
                </a:solidFill>
                <a:latin typeface="Arial MT Pro"/>
                <a:ea typeface="Arial MT Pro"/>
                <a:cs typeface="Arial MT Pro"/>
                <a:sym typeface="Arial MT Pro"/>
              </a:rPr>
              <a:t>Manejo de promesas y callback</a:t>
            </a:r>
          </a:p>
          <a:p>
            <a:pPr algn="l" marL="716481" indent="-238827" lvl="2">
              <a:lnSpc>
                <a:spcPts val="5265"/>
              </a:lnSpc>
              <a:buFont typeface="Arial"/>
              <a:buChar char="⚬"/>
            </a:pPr>
            <a:r>
              <a:rPr lang="en-US" sz="3133">
                <a:solidFill>
                  <a:srgbClr val="152540"/>
                </a:solidFill>
                <a:latin typeface="Arial MT Pro"/>
                <a:ea typeface="Arial MT Pro"/>
                <a:cs typeface="Arial MT Pro"/>
                <a:sym typeface="Arial MT Pro"/>
              </a:rPr>
              <a:t>Uso de try-catch para manejo de errores</a:t>
            </a:r>
          </a:p>
        </p:txBody>
      </p:sp>
      <p:sp>
        <p:nvSpPr>
          <p:cNvPr name="TextBox 3" id="3"/>
          <p:cNvSpPr txBox="true"/>
          <p:nvPr/>
        </p:nvSpPr>
        <p:spPr>
          <a:xfrm rot="0">
            <a:off x="2507390" y="762000"/>
            <a:ext cx="13503315" cy="2290191"/>
          </a:xfrm>
          <a:prstGeom prst="rect">
            <a:avLst/>
          </a:prstGeom>
        </p:spPr>
        <p:txBody>
          <a:bodyPr anchor="t" rtlCol="false" tIns="0" lIns="0" bIns="0" rIns="0">
            <a:spAutoFit/>
          </a:bodyPr>
          <a:lstStyle/>
          <a:p>
            <a:pPr algn="ctr">
              <a:lnSpc>
                <a:spcPts val="9356"/>
              </a:lnSpc>
            </a:pPr>
            <a:r>
              <a:rPr lang="en-US" sz="6900">
                <a:solidFill>
                  <a:srgbClr val="131416"/>
                </a:solidFill>
                <a:latin typeface="Arial MT Pro"/>
                <a:ea typeface="Arial MT Pro"/>
                <a:cs typeface="Arial MT Pro"/>
                <a:sym typeface="Arial MT Pro"/>
              </a:rPr>
              <a:t>CONCEPTOS CLAVE APRENDIDOS </a:t>
            </a:r>
          </a:p>
        </p:txBody>
      </p:sp>
    </p:spTree>
  </p:cSld>
  <p:clrMapOvr>
    <a:masterClrMapping/>
  </p:clrMapOvr>
</p:sld>
</file>

<file path=ppt/slides/slide3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464052" y="2713812"/>
            <a:ext cx="12632411" cy="3585795"/>
          </a:xfrm>
          <a:prstGeom prst="rect">
            <a:avLst/>
          </a:prstGeom>
        </p:spPr>
        <p:txBody>
          <a:bodyPr anchor="t" rtlCol="false" tIns="0" lIns="0" bIns="0" rIns="0">
            <a:spAutoFit/>
          </a:bodyPr>
          <a:lstStyle/>
          <a:p>
            <a:pPr algn="l">
              <a:lnSpc>
                <a:spcPts val="5265"/>
              </a:lnSpc>
            </a:pPr>
            <a:r>
              <a:rPr lang="en-US" b="true" sz="3133">
                <a:solidFill>
                  <a:srgbClr val="152540"/>
                </a:solidFill>
                <a:latin typeface="Arial MT Pro Bold"/>
                <a:ea typeface="Arial MT Pro Bold"/>
                <a:cs typeface="Arial MT Pro Bold"/>
                <a:sym typeface="Arial MT Pro Bold"/>
              </a:rPr>
              <a:t>Escritura de Archivos</a:t>
            </a:r>
          </a:p>
          <a:p>
            <a:pPr algn="l" marL="716481" indent="-238827" lvl="2">
              <a:lnSpc>
                <a:spcPts val="5265"/>
              </a:lnSpc>
              <a:buFont typeface="Arial"/>
              <a:buChar char="⚬"/>
            </a:pPr>
            <a:r>
              <a:rPr lang="en-US" sz="3133">
                <a:solidFill>
                  <a:srgbClr val="152540"/>
                </a:solidFill>
                <a:latin typeface="Arial MT Pro"/>
                <a:ea typeface="Arial MT Pro"/>
                <a:cs typeface="Arial MT Pro"/>
                <a:sym typeface="Arial MT Pro"/>
              </a:rPr>
              <a:t>En Node.js: fs.writeFile(), fs.writeFileSync()</a:t>
            </a:r>
          </a:p>
          <a:p>
            <a:pPr algn="l" marL="716481" indent="-238827" lvl="2">
              <a:lnSpc>
                <a:spcPts val="5265"/>
              </a:lnSpc>
              <a:buFont typeface="Arial"/>
              <a:buChar char="⚬"/>
            </a:pPr>
            <a:r>
              <a:rPr lang="en-US" sz="3133">
                <a:solidFill>
                  <a:srgbClr val="152540"/>
                </a:solidFill>
                <a:latin typeface="Arial MT Pro"/>
                <a:ea typeface="Arial MT Pro"/>
                <a:cs typeface="Arial MT Pro"/>
                <a:sym typeface="Arial MT Pro"/>
              </a:rPr>
              <a:t>Streams para archivos grandes</a:t>
            </a:r>
          </a:p>
          <a:p>
            <a:pPr algn="l" marL="716481" indent="-238827" lvl="2">
              <a:lnSpc>
                <a:spcPts val="5265"/>
              </a:lnSpc>
              <a:buFont typeface="Arial"/>
              <a:buChar char="⚬"/>
            </a:pPr>
            <a:r>
              <a:rPr lang="en-US" sz="3133">
                <a:solidFill>
                  <a:srgbClr val="152540"/>
                </a:solidFill>
                <a:latin typeface="Arial MT Pro"/>
                <a:ea typeface="Arial MT Pro"/>
                <a:cs typeface="Arial MT Pro"/>
                <a:sym typeface="Arial MT Pro"/>
              </a:rPr>
              <a:t>Opciones para sobrescribir o agregar contenido</a:t>
            </a:r>
          </a:p>
          <a:p>
            <a:pPr algn="l" marL="716481" indent="-238827" lvl="2">
              <a:lnSpc>
                <a:spcPts val="5265"/>
              </a:lnSpc>
              <a:buFont typeface="Arial"/>
              <a:buChar char="⚬"/>
            </a:pPr>
            <a:r>
              <a:rPr lang="en-US" sz="3133">
                <a:solidFill>
                  <a:srgbClr val="152540"/>
                </a:solidFill>
                <a:latin typeface="Arial MT Pro"/>
                <a:ea typeface="Arial MT Pro"/>
                <a:cs typeface="Arial MT Pro"/>
                <a:sym typeface="Arial MT Pro"/>
              </a:rPr>
              <a:t>Manejo de errores y callbacks</a:t>
            </a:r>
          </a:p>
        </p:txBody>
      </p:sp>
      <p:sp>
        <p:nvSpPr>
          <p:cNvPr name="TextBox 3" id="3"/>
          <p:cNvSpPr txBox="true"/>
          <p:nvPr/>
        </p:nvSpPr>
        <p:spPr>
          <a:xfrm rot="0">
            <a:off x="2507390" y="762000"/>
            <a:ext cx="13503315" cy="2290191"/>
          </a:xfrm>
          <a:prstGeom prst="rect">
            <a:avLst/>
          </a:prstGeom>
        </p:spPr>
        <p:txBody>
          <a:bodyPr anchor="t" rtlCol="false" tIns="0" lIns="0" bIns="0" rIns="0">
            <a:spAutoFit/>
          </a:bodyPr>
          <a:lstStyle/>
          <a:p>
            <a:pPr algn="ctr">
              <a:lnSpc>
                <a:spcPts val="9356"/>
              </a:lnSpc>
            </a:pPr>
            <a:r>
              <a:rPr lang="en-US" sz="6900">
                <a:solidFill>
                  <a:srgbClr val="131416"/>
                </a:solidFill>
                <a:latin typeface="Arial MT Pro"/>
                <a:ea typeface="Arial MT Pro"/>
                <a:cs typeface="Arial MT Pro"/>
                <a:sym typeface="Arial MT Pro"/>
              </a:rPr>
              <a:t>CONCEPTOS CLAVE APRENDIDOS </a:t>
            </a:r>
          </a:p>
        </p:txBody>
      </p:sp>
    </p:spTree>
  </p:cSld>
  <p:clrMapOvr>
    <a:masterClrMapping/>
  </p:clrMapOvr>
</p:sld>
</file>

<file path=ppt/slides/slide3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93489" y="3038259"/>
            <a:ext cx="14701023" cy="5088640"/>
          </a:xfrm>
          <a:prstGeom prst="rect">
            <a:avLst/>
          </a:prstGeom>
        </p:spPr>
        <p:txBody>
          <a:bodyPr anchor="t" rtlCol="false" tIns="0" lIns="0" bIns="0" rIns="0">
            <a:spAutoFit/>
          </a:bodyPr>
          <a:lstStyle/>
          <a:p>
            <a:pPr algn="just">
              <a:lnSpc>
                <a:spcPts val="5710"/>
              </a:lnSpc>
            </a:pPr>
            <a:r>
              <a:rPr lang="en-US" b="true" sz="3399">
                <a:solidFill>
                  <a:srgbClr val="152540"/>
                </a:solidFill>
                <a:latin typeface="Arial MT Pro Bold"/>
                <a:ea typeface="Arial MT Pro Bold"/>
                <a:cs typeface="Arial MT Pro Bold"/>
                <a:sym typeface="Arial MT Pro Bold"/>
              </a:rPr>
              <a:t>Perseverancia</a:t>
            </a:r>
            <a:r>
              <a:rPr lang="en-US" sz="3399">
                <a:solidFill>
                  <a:srgbClr val="152540"/>
                </a:solidFill>
                <a:latin typeface="Arial MT Pro"/>
                <a:ea typeface="Arial MT Pro"/>
                <a:cs typeface="Arial MT Pro"/>
                <a:sym typeface="Arial MT Pro"/>
              </a:rPr>
              <a:t>: Frecuentemente requieren un alto nivel de comprensión llegar a entender el funcionamiento de estructuras de datos.</a:t>
            </a:r>
          </a:p>
          <a:p>
            <a:pPr algn="just">
              <a:lnSpc>
                <a:spcPts val="5710"/>
              </a:lnSpc>
            </a:pPr>
            <a:r>
              <a:rPr lang="en-US" b="true" sz="3399">
                <a:solidFill>
                  <a:srgbClr val="152540"/>
                </a:solidFill>
                <a:latin typeface="Arial MT Pro Bold"/>
                <a:ea typeface="Arial MT Pro Bold"/>
                <a:cs typeface="Arial MT Pro Bold"/>
                <a:sym typeface="Arial MT Pro Bold"/>
              </a:rPr>
              <a:t>Pensamiento Lógico</a:t>
            </a:r>
            <a:r>
              <a:rPr lang="en-US" sz="3399">
                <a:solidFill>
                  <a:srgbClr val="152540"/>
                </a:solidFill>
                <a:latin typeface="Arial MT Pro"/>
                <a:ea typeface="Arial MT Pro"/>
                <a:cs typeface="Arial MT Pro"/>
                <a:sym typeface="Arial MT Pro"/>
              </a:rPr>
              <a:t>: Es necesario razonar paso a paso el proceso completo del funcionamiento de un programa y cómo se alamcenan los datos.</a:t>
            </a:r>
          </a:p>
          <a:p>
            <a:pPr algn="just">
              <a:lnSpc>
                <a:spcPts val="5710"/>
              </a:lnSpc>
            </a:pPr>
            <a:r>
              <a:rPr lang="en-US" b="true" sz="3399">
                <a:solidFill>
                  <a:srgbClr val="152540"/>
                </a:solidFill>
                <a:latin typeface="Arial MT Pro Bold"/>
                <a:ea typeface="Arial MT Pro Bold"/>
                <a:cs typeface="Arial MT Pro Bold"/>
                <a:sym typeface="Arial MT Pro Bold"/>
              </a:rPr>
              <a:t>Disciplina</a:t>
            </a:r>
            <a:r>
              <a:rPr lang="en-US" sz="3399">
                <a:solidFill>
                  <a:srgbClr val="152540"/>
                </a:solidFill>
                <a:latin typeface="Arial MT Pro"/>
                <a:ea typeface="Arial MT Pro"/>
                <a:cs typeface="Arial MT Pro"/>
                <a:sym typeface="Arial MT Pro"/>
              </a:rPr>
              <a:t>: Es requerido que el estudiante desarrolle hábitos de estudio y posteriormente por cuenta propia llevar a la práctica la teoría.</a:t>
            </a:r>
          </a:p>
        </p:txBody>
      </p:sp>
      <p:sp>
        <p:nvSpPr>
          <p:cNvPr name="TextBox 3" id="3"/>
          <p:cNvSpPr txBox="true"/>
          <p:nvPr/>
        </p:nvSpPr>
        <p:spPr>
          <a:xfrm rot="0">
            <a:off x="2392343" y="2024418"/>
            <a:ext cx="13503315" cy="1309116"/>
          </a:xfrm>
          <a:prstGeom prst="rect">
            <a:avLst/>
          </a:prstGeom>
        </p:spPr>
        <p:txBody>
          <a:bodyPr anchor="t" rtlCol="false" tIns="0" lIns="0" bIns="0" rIns="0">
            <a:spAutoFit/>
          </a:bodyPr>
          <a:lstStyle/>
          <a:p>
            <a:pPr algn="ctr">
              <a:lnSpc>
                <a:spcPts val="9356"/>
              </a:lnSpc>
            </a:pPr>
            <a:r>
              <a:rPr lang="en-US" sz="6900">
                <a:solidFill>
                  <a:srgbClr val="131416"/>
                </a:solidFill>
                <a:latin typeface="Arial MT Pro"/>
                <a:ea typeface="Arial MT Pro"/>
                <a:cs typeface="Arial MT Pro"/>
                <a:sym typeface="Arial MT Pro"/>
              </a:rPr>
              <a:t>VALORES</a:t>
            </a:r>
          </a:p>
        </p:txBody>
      </p:sp>
    </p:spTree>
  </p:cSld>
  <p:clrMapOvr>
    <a:masterClrMapping/>
  </p:clrMapOvr>
</p:sld>
</file>

<file path=ppt/slides/slide3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93489" y="4084020"/>
            <a:ext cx="14701023" cy="3502766"/>
          </a:xfrm>
          <a:prstGeom prst="rect">
            <a:avLst/>
          </a:prstGeom>
        </p:spPr>
        <p:txBody>
          <a:bodyPr anchor="t" rtlCol="false" tIns="0" lIns="0" bIns="0" rIns="0">
            <a:spAutoFit/>
          </a:bodyPr>
          <a:lstStyle/>
          <a:p>
            <a:pPr algn="just" marL="777117" indent="-259039" lvl="2">
              <a:lnSpc>
                <a:spcPts val="5710"/>
              </a:lnSpc>
              <a:buFont typeface="Arial"/>
              <a:buChar char="⚬"/>
            </a:pPr>
            <a:r>
              <a:rPr lang="en-US" sz="3399">
                <a:solidFill>
                  <a:srgbClr val="152540"/>
                </a:solidFill>
                <a:latin typeface="Arial MT Pro"/>
                <a:ea typeface="Arial MT Pro"/>
                <a:cs typeface="Arial MT Pro"/>
                <a:sym typeface="Arial MT Pro"/>
              </a:rPr>
              <a:t>MDN Web Docs. JavaScript Documentation. developer.mozilla.org/en-US/docs/Web/JavaScript</a:t>
            </a:r>
          </a:p>
          <a:p>
            <a:pPr algn="just" marL="777117" indent="-259039" lvl="2">
              <a:lnSpc>
                <a:spcPts val="5710"/>
              </a:lnSpc>
              <a:buFont typeface="Arial"/>
              <a:buChar char="⚬"/>
            </a:pPr>
            <a:r>
              <a:rPr lang="en-US" sz="3399">
                <a:solidFill>
                  <a:srgbClr val="152540"/>
                </a:solidFill>
                <a:latin typeface="Arial MT Pro"/>
                <a:ea typeface="Arial MT Pro"/>
                <a:cs typeface="Arial MT Pro"/>
                <a:sym typeface="Arial MT Pro"/>
              </a:rPr>
              <a:t>Node.js Documentation. nodejs.org/en/docs</a:t>
            </a:r>
          </a:p>
          <a:p>
            <a:pPr algn="just" marL="777117" indent="-259039" lvl="2">
              <a:lnSpc>
                <a:spcPts val="5710"/>
              </a:lnSpc>
              <a:buFont typeface="Arial"/>
              <a:buChar char="⚬"/>
            </a:pPr>
            <a:r>
              <a:rPr lang="en-US" sz="3399">
                <a:solidFill>
                  <a:srgbClr val="152540"/>
                </a:solidFill>
                <a:latin typeface="Arial MT Pro"/>
                <a:ea typeface="Arial MT Pro"/>
                <a:cs typeface="Arial MT Pro"/>
                <a:sym typeface="Arial MT Pro"/>
              </a:rPr>
              <a:t>ECMAScript 2015+ Specification</a:t>
            </a:r>
          </a:p>
          <a:p>
            <a:pPr algn="just" marL="777117" indent="-259039" lvl="2">
              <a:lnSpc>
                <a:spcPts val="5710"/>
              </a:lnSpc>
            </a:pPr>
          </a:p>
        </p:txBody>
      </p:sp>
      <p:sp>
        <p:nvSpPr>
          <p:cNvPr name="TextBox 3" id="3"/>
          <p:cNvSpPr txBox="true"/>
          <p:nvPr/>
        </p:nvSpPr>
        <p:spPr>
          <a:xfrm rot="0">
            <a:off x="2392343" y="2611316"/>
            <a:ext cx="13503315" cy="1309116"/>
          </a:xfrm>
          <a:prstGeom prst="rect">
            <a:avLst/>
          </a:prstGeom>
        </p:spPr>
        <p:txBody>
          <a:bodyPr anchor="t" rtlCol="false" tIns="0" lIns="0" bIns="0" rIns="0">
            <a:spAutoFit/>
          </a:bodyPr>
          <a:lstStyle/>
          <a:p>
            <a:pPr algn="ctr">
              <a:lnSpc>
                <a:spcPts val="9356"/>
              </a:lnSpc>
            </a:pPr>
            <a:r>
              <a:rPr lang="en-US" sz="6900">
                <a:solidFill>
                  <a:srgbClr val="131416"/>
                </a:solidFill>
                <a:latin typeface="Arial MT Pro"/>
                <a:ea typeface="Arial MT Pro"/>
                <a:cs typeface="Arial MT Pro"/>
                <a:sym typeface="Arial MT Pro"/>
              </a:rPr>
              <a:t>REFERENCIAS </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437795" y="3236704"/>
            <a:ext cx="8658828" cy="2648077"/>
          </a:xfrm>
          <a:prstGeom prst="rect">
            <a:avLst/>
          </a:prstGeom>
        </p:spPr>
        <p:txBody>
          <a:bodyPr anchor="t" rtlCol="false" tIns="0" lIns="0" bIns="0" rIns="0">
            <a:spAutoFit/>
          </a:bodyPr>
          <a:lstStyle/>
          <a:p>
            <a:pPr algn="just">
              <a:lnSpc>
                <a:spcPts val="7611"/>
              </a:lnSpc>
            </a:pPr>
            <a:r>
              <a:rPr lang="en-US" sz="6098">
                <a:solidFill>
                  <a:srgbClr val="131416"/>
                </a:solidFill>
                <a:latin typeface="Arial MT Pro"/>
                <a:ea typeface="Arial MT Pro"/>
                <a:cs typeface="Arial MT Pro"/>
                <a:sym typeface="Arial MT Pro"/>
              </a:rPr>
              <a:t>¡GRACIAS POR SU  ATENCIÓN!</a:t>
            </a:r>
          </a:p>
          <a:p>
            <a:pPr algn="just">
              <a:lnSpc>
                <a:spcPts val="7611"/>
              </a:lnSpc>
            </a:pPr>
          </a:p>
        </p:txBody>
      </p:sp>
      <p:sp>
        <p:nvSpPr>
          <p:cNvPr name="TextBox 3" id="3"/>
          <p:cNvSpPr txBox="true"/>
          <p:nvPr/>
        </p:nvSpPr>
        <p:spPr>
          <a:xfrm rot="0">
            <a:off x="5414714" y="5586628"/>
            <a:ext cx="6704991" cy="1270000"/>
          </a:xfrm>
          <a:prstGeom prst="rect">
            <a:avLst/>
          </a:prstGeom>
        </p:spPr>
        <p:txBody>
          <a:bodyPr anchor="t" rtlCol="false" tIns="0" lIns="0" bIns="0" rIns="0">
            <a:spAutoFit/>
          </a:bodyPr>
          <a:lstStyle/>
          <a:p>
            <a:pPr algn="ctr">
              <a:lnSpc>
                <a:spcPts val="8879"/>
              </a:lnSpc>
            </a:pPr>
            <a:r>
              <a:rPr lang="en-US" sz="4999">
                <a:solidFill>
                  <a:srgbClr val="131416"/>
                </a:solidFill>
                <a:latin typeface="Arial MT Pro"/>
                <a:ea typeface="Arial MT Pro"/>
                <a:cs typeface="Arial MT Pro"/>
                <a:sym typeface="Arial MT Pro"/>
              </a:rPr>
              <a:t>DUDAS</a:t>
            </a:r>
          </a:p>
        </p:txBody>
      </p:sp>
      <p:grpSp>
        <p:nvGrpSpPr>
          <p:cNvPr name="Group 4" id="4"/>
          <p:cNvGrpSpPr/>
          <p:nvPr/>
        </p:nvGrpSpPr>
        <p:grpSpPr>
          <a:xfrm rot="0">
            <a:off x="13963751" y="1028700"/>
            <a:ext cx="2757268" cy="3770970"/>
            <a:chOff x="0" y="0"/>
            <a:chExt cx="3676357" cy="5027960"/>
          </a:xfrm>
        </p:grpSpPr>
        <p:sp>
          <p:nvSpPr>
            <p:cNvPr name="Freeform 5" id="5"/>
            <p:cNvSpPr/>
            <p:nvPr/>
          </p:nvSpPr>
          <p:spPr>
            <a:xfrm flipH="false" flipV="false" rot="0">
              <a:off x="0" y="0"/>
              <a:ext cx="3676396" cy="5027930"/>
            </a:xfrm>
            <a:custGeom>
              <a:avLst/>
              <a:gdLst/>
              <a:ahLst/>
              <a:cxnLst/>
              <a:rect r="r" b="b" t="t" l="l"/>
              <a:pathLst>
                <a:path h="5027930" w="3676396">
                  <a:moveTo>
                    <a:pt x="0" y="0"/>
                  </a:moveTo>
                  <a:lnTo>
                    <a:pt x="3676396" y="0"/>
                  </a:lnTo>
                  <a:lnTo>
                    <a:pt x="3676396" y="5027930"/>
                  </a:lnTo>
                  <a:lnTo>
                    <a:pt x="0" y="5027930"/>
                  </a:lnTo>
                  <a:lnTo>
                    <a:pt x="0" y="0"/>
                  </a:lnTo>
                  <a:close/>
                </a:path>
              </a:pathLst>
            </a:custGeom>
            <a:blipFill>
              <a:blip r:embed="rId3"/>
              <a:stretch>
                <a:fillRect l="-7" t="0" r="-6" b="0"/>
              </a:stretch>
            </a:blipFill>
          </p:spPr>
        </p:sp>
      </p:grpSp>
      <p:sp>
        <p:nvSpPr>
          <p:cNvPr name="TextBox 6" id="6"/>
          <p:cNvSpPr txBox="true"/>
          <p:nvPr/>
        </p:nvSpPr>
        <p:spPr>
          <a:xfrm rot="0">
            <a:off x="2411098" y="7747335"/>
            <a:ext cx="13465804" cy="871855"/>
          </a:xfrm>
          <a:prstGeom prst="rect">
            <a:avLst/>
          </a:prstGeom>
        </p:spPr>
        <p:txBody>
          <a:bodyPr anchor="t" rtlCol="false" tIns="0" lIns="0" bIns="0" rIns="0">
            <a:spAutoFit/>
          </a:bodyPr>
          <a:lstStyle/>
          <a:p>
            <a:pPr algn="ctr">
              <a:lnSpc>
                <a:spcPts val="3552"/>
              </a:lnSpc>
            </a:pPr>
            <a:r>
              <a:rPr lang="en-US" sz="2000">
                <a:solidFill>
                  <a:srgbClr val="131416"/>
                </a:solidFill>
                <a:latin typeface="Arial MT Pro"/>
                <a:ea typeface="Arial MT Pro"/>
                <a:cs typeface="Arial MT Pro"/>
                <a:sym typeface="Arial MT Pro"/>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DAGvLdklyJ0</dc:identifier>
  <dcterms:modified xsi:type="dcterms:W3CDTF">2011-08-01T06:04:30Z</dcterms:modified>
  <cp:revision>1</cp:revision>
  <dc:title>[LFPA+]Clase 3 - 2S2025</dc:title>
</cp:coreProperties>
</file>