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10287000" cx="18288000"/>
  <p:notesSz cx="6858000" cy="9144000"/>
  <p:embeddedFontLst>
    <p:embeddedFont>
      <p:font typeface="Pacifico"/>
      <p:regular r:id="rId39"/>
    </p:embeddedFont>
    <p:embeddedFont>
      <p:font typeface="Oi"/>
      <p:regular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i-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Pacifico-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5" name="Google Shape;115;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6" name="Google Shape;116;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19" name="Google Shape;119;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25" name="Google Shape;125;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26" name="Google Shape;126;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9" name="Google Shape;129;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36" name="Google Shape;136;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37" name="Google Shape;137;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40" name="Google Shape;140;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47" name="Google Shape;147;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48" name="Google Shape;148;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1" name="Google Shape;151;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9" name="Google Shape;159;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60" name="Google Shape;160;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63" name="Google Shape;163;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2" name="Google Shape;172;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3" name="Google Shape;173;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76" name="Google Shape;176;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84" name="Google Shape;184;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85" name="Google Shape;185;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8" name="Google Shape;188;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96" name="Google Shape;196;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97" name="Google Shape;197;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00" name="Google Shape;200;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08" name="Google Shape;208;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09" name="Google Shape;209;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12" name="Google Shape;212;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0" name="Google Shape;22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1" name="Google Shape;221;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4" name="Google Shape;22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32" name="Google Shape;232;p1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33" name="Google Shape;233;p1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36" name="Google Shape;236;p1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44" name="Google Shape;244;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45" name="Google Shape;245;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48" name="Google Shape;248;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55" name="Google Shape;255;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56" name="Google Shape;256;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59" name="Google Shape;259;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7" name="Google Shape;267;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8" name="Google Shape;268;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71" name="Google Shape;271;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78" name="Google Shape;278;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79" name="Google Shape;279;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82" name="Google Shape;282;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88" name="Google Shape;288;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89" name="Google Shape;289;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92" name="Google Shape;292;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00" name="Google Shape;300;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01" name="Google Shape;301;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4" name="Google Shape;304;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13" name="Google Shape;313;p2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14" name="Google Shape;314;p2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2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17" name="Google Shape;317;p2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26" name="Google Shape;326;p2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27" name="Google Shape;327;p2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30" name="Google Shape;330;p2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39" name="Google Shape;339;p2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40" name="Google Shape;340;p2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2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p2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43" name="Google Shape;343;p2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53" name="Google Shape;353;p2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4" name="Google Shape;354;p2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2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2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7" name="Google Shape;357;p2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5" name="Google Shape;365;p2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6" name="Google Shape;366;p2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2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2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69" name="Google Shape;369;p2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77" name="Google Shape;377;p2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78" name="Google Shape;378;p2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2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2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1" name="Google Shape;381;p2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8" name="Google Shape;388;p2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9" name="Google Shape;389;p2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2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92" name="Google Shape;392;p2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99" name="Google Shape;399;p2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0" name="Google Shape;400;p2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2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3" name="Google Shape;403;p2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10" name="Google Shape;410;p2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11" name="Google Shape;411;p2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2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2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14" name="Google Shape;414;p2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1" name="Google Shape;421;p2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2" name="Google Shape;422;p2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2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2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5" name="Google Shape;425;p2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31" name="Google Shape;431;p3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32" name="Google Shape;432;p3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3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3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35" name="Google Shape;435;p3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41" name="Google Shape;441;p3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42" name="Google Shape;442;p3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p3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3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45" name="Google Shape;445;p3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51" name="Google Shape;451;p3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52" name="Google Shape;452;p3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p3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55" name="Google Shape;455;p3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3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61" name="Google Shape;461;p3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62" name="Google Shape;462;p3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3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3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65" name="Google Shape;465;p3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71" name="Google Shape;471;p3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72" name="Google Shape;472;p3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3" name="Google Shape;473;p3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p3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75" name="Google Shape;475;p3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3"/>
          <p:cNvSpPr/>
          <p:nvPr/>
        </p:nvSpPr>
        <p:spPr>
          <a:xfrm>
            <a:off x="1866989" y="3632154"/>
            <a:ext cx="4115181" cy="1267206"/>
          </a:xfrm>
          <a:custGeom>
            <a:rect b="b" l="l" r="r" t="t"/>
            <a:pathLst>
              <a:path extrusionOk="0" h="1689608" w="5486908">
                <a:moveTo>
                  <a:pt x="4458208" y="0"/>
                </a:moveTo>
                <a:lnTo>
                  <a:pt x="0" y="0"/>
                </a:lnTo>
                <a:lnTo>
                  <a:pt x="0" y="1689608"/>
                </a:lnTo>
                <a:lnTo>
                  <a:pt x="4458208" y="1689608"/>
                </a:lnTo>
                <a:lnTo>
                  <a:pt x="5486908" y="844804"/>
                </a:lnTo>
                <a:lnTo>
                  <a:pt x="4458208" y="0"/>
                </a:lnTo>
                <a:close/>
              </a:path>
            </a:pathLst>
          </a:custGeom>
          <a:solidFill>
            <a:srgbClr val="FFFFFF"/>
          </a:solidFill>
          <a:ln>
            <a:noFill/>
          </a:ln>
        </p:spPr>
      </p:sp>
      <p:grpSp>
        <p:nvGrpSpPr>
          <p:cNvPr id="93" name="Google Shape;93;p13"/>
          <p:cNvGrpSpPr/>
          <p:nvPr/>
        </p:nvGrpSpPr>
        <p:grpSpPr>
          <a:xfrm>
            <a:off x="1866989" y="3185669"/>
            <a:ext cx="3681207" cy="1713647"/>
            <a:chOff x="0" y="-209550"/>
            <a:chExt cx="4908276" cy="2284862"/>
          </a:xfrm>
        </p:grpSpPr>
        <p:sp>
          <p:nvSpPr>
            <p:cNvPr id="94" name="Google Shape;94;p13"/>
            <p:cNvSpPr/>
            <p:nvPr/>
          </p:nvSpPr>
          <p:spPr>
            <a:xfrm>
              <a:off x="0" y="0"/>
              <a:ext cx="4908276" cy="2075312"/>
            </a:xfrm>
            <a:custGeom>
              <a:rect b="b" l="l" r="r" t="t"/>
              <a:pathLst>
                <a:path extrusionOk="0" h="2075312" w="4908276">
                  <a:moveTo>
                    <a:pt x="0" y="0"/>
                  </a:moveTo>
                  <a:lnTo>
                    <a:pt x="4908276" y="0"/>
                  </a:lnTo>
                  <a:lnTo>
                    <a:pt x="4908276" y="2075312"/>
                  </a:lnTo>
                  <a:lnTo>
                    <a:pt x="0" y="2075312"/>
                  </a:lnTo>
                  <a:close/>
                </a:path>
              </a:pathLst>
            </a:custGeom>
            <a:solidFill>
              <a:srgbClr val="000000">
                <a:alpha val="0"/>
              </a:srgbClr>
            </a:solidFill>
            <a:ln>
              <a:noFill/>
            </a:ln>
          </p:spPr>
        </p:sp>
        <p:sp>
          <p:nvSpPr>
            <p:cNvPr id="95" name="Google Shape;95;p13"/>
            <p:cNvSpPr txBox="1"/>
            <p:nvPr/>
          </p:nvSpPr>
          <p:spPr>
            <a:xfrm>
              <a:off x="0" y="-209550"/>
              <a:ext cx="4908276" cy="2284862"/>
            </a:xfrm>
            <a:prstGeom prst="rect">
              <a:avLst/>
            </a:prstGeom>
            <a:noFill/>
            <a:ln>
              <a:noFill/>
            </a:ln>
          </p:spPr>
          <p:txBody>
            <a:bodyPr anchorCtr="0" anchor="ctr" bIns="0" lIns="0" spcFirstLastPara="1" rIns="0" wrap="square" tIns="0">
              <a:noAutofit/>
            </a:bodyPr>
            <a:lstStyle/>
            <a:p>
              <a:pPr indent="0" lvl="0" marL="0" marR="0" rtl="0" algn="ctr">
                <a:lnSpc>
                  <a:spcPct val="177599"/>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96" name="Google Shape;96;p13"/>
          <p:cNvSpPr/>
          <p:nvPr/>
        </p:nvSpPr>
        <p:spPr>
          <a:xfrm>
            <a:off x="651754" y="3758584"/>
            <a:ext cx="753904" cy="872966"/>
          </a:xfrm>
          <a:custGeom>
            <a:rect b="b" l="l" r="r" t="t"/>
            <a:pathLst>
              <a:path extrusionOk="0" h="1163955" w="1005205">
                <a:moveTo>
                  <a:pt x="0" y="0"/>
                </a:moveTo>
                <a:lnTo>
                  <a:pt x="1005205" y="0"/>
                </a:lnTo>
                <a:lnTo>
                  <a:pt x="1005205" y="1163955"/>
                </a:lnTo>
                <a:lnTo>
                  <a:pt x="0" y="1163955"/>
                </a:lnTo>
                <a:lnTo>
                  <a:pt x="0" y="0"/>
                </a:lnTo>
                <a:close/>
              </a:path>
            </a:pathLst>
          </a:custGeom>
          <a:blipFill rotWithShape="1">
            <a:blip r:embed="rId3">
              <a:alphaModFix/>
            </a:blip>
            <a:stretch>
              <a:fillRect b="-30" l="0" r="1" t="-35"/>
            </a:stretch>
          </a:blipFill>
          <a:ln>
            <a:noFill/>
          </a:ln>
        </p:spPr>
      </p:sp>
      <p:sp>
        <p:nvSpPr>
          <p:cNvPr id="97" name="Google Shape;97;p13"/>
          <p:cNvSpPr/>
          <p:nvPr/>
        </p:nvSpPr>
        <p:spPr>
          <a:xfrm>
            <a:off x="11739805" y="5032666"/>
            <a:ext cx="5353621" cy="1267206"/>
          </a:xfrm>
          <a:custGeom>
            <a:rect b="b" l="l" r="r" t="t"/>
            <a:pathLst>
              <a:path extrusionOk="0" h="1689608" w="7138162">
                <a:moveTo>
                  <a:pt x="6109462" y="0"/>
                </a:moveTo>
                <a:lnTo>
                  <a:pt x="0" y="0"/>
                </a:lnTo>
                <a:lnTo>
                  <a:pt x="0" y="1689608"/>
                </a:lnTo>
                <a:lnTo>
                  <a:pt x="6109462" y="1689608"/>
                </a:lnTo>
                <a:lnTo>
                  <a:pt x="7138162" y="844804"/>
                </a:lnTo>
                <a:lnTo>
                  <a:pt x="6109462" y="0"/>
                </a:lnTo>
                <a:close/>
              </a:path>
            </a:pathLst>
          </a:custGeom>
          <a:solidFill>
            <a:srgbClr val="FFFFFF"/>
          </a:solidFill>
          <a:ln>
            <a:noFill/>
          </a:ln>
        </p:spPr>
      </p:sp>
      <p:sp>
        <p:nvSpPr>
          <p:cNvPr id="98" name="Google Shape;98;p13"/>
          <p:cNvSpPr txBox="1"/>
          <p:nvPr/>
        </p:nvSpPr>
        <p:spPr>
          <a:xfrm>
            <a:off x="1389450" y="4804066"/>
            <a:ext cx="8390471" cy="968483"/>
          </a:xfrm>
          <a:prstGeom prst="rect">
            <a:avLst/>
          </a:prstGeom>
          <a:noFill/>
          <a:ln>
            <a:noFill/>
          </a:ln>
        </p:spPr>
        <p:txBody>
          <a:bodyPr anchorCtr="0" anchor="t" bIns="0" lIns="0" spcFirstLastPara="1" rIns="0" wrap="square" tIns="0">
            <a:spAutoFit/>
          </a:bodyPr>
          <a:lstStyle/>
          <a:p>
            <a:pPr indent="0" lvl="0" marL="0" marR="0" rtl="0" algn="l">
              <a:lnSpc>
                <a:spcPct val="167996"/>
              </a:lnSpc>
              <a:spcBef>
                <a:spcPts val="0"/>
              </a:spcBef>
              <a:spcAft>
                <a:spcPts val="0"/>
              </a:spcAft>
              <a:buNone/>
            </a:pPr>
            <a:r>
              <a:rPr b="0" i="0" lang="en-US" sz="3434" u="none" cap="none" strike="noStrike">
                <a:solidFill>
                  <a:srgbClr val="152540"/>
                </a:solidFill>
                <a:latin typeface="Arial"/>
                <a:ea typeface="Arial"/>
                <a:cs typeface="Arial"/>
                <a:sym typeface="Arial"/>
              </a:rPr>
              <a:t>Arreglos en JavaScript</a:t>
            </a:r>
            <a:endParaRPr/>
          </a:p>
        </p:txBody>
      </p:sp>
      <p:sp>
        <p:nvSpPr>
          <p:cNvPr id="99" name="Google Shape;99;p13"/>
          <p:cNvSpPr/>
          <p:nvPr/>
        </p:nvSpPr>
        <p:spPr>
          <a:xfrm>
            <a:off x="651754" y="5032666"/>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7" t="0"/>
            </a:stretch>
          </a:blipFill>
          <a:ln>
            <a:noFill/>
          </a:ln>
        </p:spPr>
      </p:sp>
      <p:sp>
        <p:nvSpPr>
          <p:cNvPr id="100" name="Google Shape;100;p13"/>
          <p:cNvSpPr/>
          <p:nvPr/>
        </p:nvSpPr>
        <p:spPr>
          <a:xfrm>
            <a:off x="651754" y="5716618"/>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7" t="0"/>
            </a:stretch>
          </a:blipFill>
          <a:ln>
            <a:noFill/>
          </a:ln>
        </p:spPr>
      </p:sp>
      <p:sp>
        <p:nvSpPr>
          <p:cNvPr id="101" name="Google Shape;101;p13"/>
          <p:cNvSpPr/>
          <p:nvPr/>
        </p:nvSpPr>
        <p:spPr>
          <a:xfrm>
            <a:off x="651754" y="6400062"/>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7" t="0"/>
            </a:stretch>
          </a:blipFill>
          <a:ln>
            <a:noFill/>
          </a:ln>
        </p:spPr>
      </p:sp>
      <p:sp>
        <p:nvSpPr>
          <p:cNvPr id="102" name="Google Shape;102;p13"/>
          <p:cNvSpPr/>
          <p:nvPr/>
        </p:nvSpPr>
        <p:spPr>
          <a:xfrm>
            <a:off x="651754" y="7083506"/>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7" t="0"/>
            </a:stretch>
          </a:blipFill>
          <a:ln>
            <a:noFill/>
          </a:ln>
        </p:spPr>
      </p:sp>
      <p:sp>
        <p:nvSpPr>
          <p:cNvPr id="103" name="Google Shape;103;p13"/>
          <p:cNvSpPr/>
          <p:nvPr/>
        </p:nvSpPr>
        <p:spPr>
          <a:xfrm>
            <a:off x="651754" y="7766951"/>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7" t="0"/>
            </a:stretch>
          </a:blipFill>
          <a:ln>
            <a:noFill/>
          </a:ln>
        </p:spPr>
      </p:sp>
      <p:sp>
        <p:nvSpPr>
          <p:cNvPr id="104" name="Google Shape;104;p13"/>
          <p:cNvSpPr txBox="1"/>
          <p:nvPr/>
        </p:nvSpPr>
        <p:spPr>
          <a:xfrm>
            <a:off x="1389450" y="5502465"/>
            <a:ext cx="8390471" cy="968483"/>
          </a:xfrm>
          <a:prstGeom prst="rect">
            <a:avLst/>
          </a:prstGeom>
          <a:noFill/>
          <a:ln>
            <a:noFill/>
          </a:ln>
        </p:spPr>
        <p:txBody>
          <a:bodyPr anchorCtr="0" anchor="t" bIns="0" lIns="0" spcFirstLastPara="1" rIns="0" wrap="square" tIns="0">
            <a:spAutoFit/>
          </a:bodyPr>
          <a:lstStyle/>
          <a:p>
            <a:pPr indent="0" lvl="0" marL="0" marR="0" rtl="0" algn="l">
              <a:lnSpc>
                <a:spcPct val="167996"/>
              </a:lnSpc>
              <a:spcBef>
                <a:spcPts val="0"/>
              </a:spcBef>
              <a:spcAft>
                <a:spcPts val="0"/>
              </a:spcAft>
              <a:buNone/>
            </a:pPr>
            <a:r>
              <a:rPr b="0" i="0" lang="en-US" sz="3434" u="none" cap="none" strike="noStrike">
                <a:solidFill>
                  <a:srgbClr val="152540"/>
                </a:solidFill>
                <a:latin typeface="Arial"/>
                <a:ea typeface="Arial"/>
                <a:cs typeface="Arial"/>
                <a:sym typeface="Arial"/>
              </a:rPr>
              <a:t>Estructuras de Datos en JavaScript</a:t>
            </a:r>
            <a:endParaRPr/>
          </a:p>
        </p:txBody>
      </p:sp>
      <p:sp>
        <p:nvSpPr>
          <p:cNvPr id="105" name="Google Shape;105;p13"/>
          <p:cNvSpPr txBox="1"/>
          <p:nvPr/>
        </p:nvSpPr>
        <p:spPr>
          <a:xfrm>
            <a:off x="1389450" y="6186417"/>
            <a:ext cx="8390471" cy="968483"/>
          </a:xfrm>
          <a:prstGeom prst="rect">
            <a:avLst/>
          </a:prstGeom>
          <a:noFill/>
          <a:ln>
            <a:noFill/>
          </a:ln>
        </p:spPr>
        <p:txBody>
          <a:bodyPr anchorCtr="0" anchor="t" bIns="0" lIns="0" spcFirstLastPara="1" rIns="0" wrap="square" tIns="0">
            <a:spAutoFit/>
          </a:bodyPr>
          <a:lstStyle/>
          <a:p>
            <a:pPr indent="0" lvl="0" marL="0" marR="0" rtl="0" algn="l">
              <a:lnSpc>
                <a:spcPct val="167996"/>
              </a:lnSpc>
              <a:spcBef>
                <a:spcPts val="0"/>
              </a:spcBef>
              <a:spcAft>
                <a:spcPts val="0"/>
              </a:spcAft>
              <a:buNone/>
            </a:pPr>
            <a:r>
              <a:rPr b="0" i="0" lang="en-US" sz="3434" u="none" cap="none" strike="noStrike">
                <a:solidFill>
                  <a:srgbClr val="152540"/>
                </a:solidFill>
                <a:latin typeface="Arial"/>
                <a:ea typeface="Arial"/>
                <a:cs typeface="Arial"/>
                <a:sym typeface="Arial"/>
              </a:rPr>
              <a:t>Iteración en JavaScript</a:t>
            </a:r>
            <a:endParaRPr/>
          </a:p>
        </p:txBody>
      </p:sp>
      <p:sp>
        <p:nvSpPr>
          <p:cNvPr id="106" name="Google Shape;106;p13"/>
          <p:cNvSpPr txBox="1"/>
          <p:nvPr/>
        </p:nvSpPr>
        <p:spPr>
          <a:xfrm>
            <a:off x="1389450" y="6907135"/>
            <a:ext cx="8390471" cy="817640"/>
          </a:xfrm>
          <a:prstGeom prst="rect">
            <a:avLst/>
          </a:prstGeom>
          <a:noFill/>
          <a:ln>
            <a:noFill/>
          </a:ln>
        </p:spPr>
        <p:txBody>
          <a:bodyPr anchorCtr="0" anchor="t" bIns="0" lIns="0" spcFirstLastPara="1" rIns="0" wrap="square" tIns="0">
            <a:spAutoFit/>
          </a:bodyPr>
          <a:lstStyle/>
          <a:p>
            <a:pPr indent="0" lvl="0" marL="0" marR="0" rtl="0" algn="l">
              <a:lnSpc>
                <a:spcPct val="167996"/>
              </a:lnSpc>
              <a:spcBef>
                <a:spcPts val="0"/>
              </a:spcBef>
              <a:spcAft>
                <a:spcPts val="0"/>
              </a:spcAft>
              <a:buNone/>
            </a:pPr>
            <a:r>
              <a:rPr b="0" i="0" lang="en-US" sz="3434" u="none" cap="none" strike="noStrike">
                <a:solidFill>
                  <a:srgbClr val="152540"/>
                </a:solidFill>
                <a:latin typeface="Arial"/>
                <a:ea typeface="Arial"/>
                <a:cs typeface="Arial"/>
                <a:sym typeface="Arial"/>
              </a:rPr>
              <a:t>Lectura de Archivos</a:t>
            </a:r>
            <a:endParaRPr/>
          </a:p>
        </p:txBody>
      </p:sp>
      <p:sp>
        <p:nvSpPr>
          <p:cNvPr id="107" name="Google Shape;107;p13"/>
          <p:cNvSpPr txBox="1"/>
          <p:nvPr/>
        </p:nvSpPr>
        <p:spPr>
          <a:xfrm>
            <a:off x="1352960" y="7600950"/>
            <a:ext cx="8390471" cy="817640"/>
          </a:xfrm>
          <a:prstGeom prst="rect">
            <a:avLst/>
          </a:prstGeom>
          <a:noFill/>
          <a:ln>
            <a:noFill/>
          </a:ln>
        </p:spPr>
        <p:txBody>
          <a:bodyPr anchorCtr="0" anchor="t" bIns="0" lIns="0" spcFirstLastPara="1" rIns="0" wrap="square" tIns="0">
            <a:spAutoFit/>
          </a:bodyPr>
          <a:lstStyle/>
          <a:p>
            <a:pPr indent="0" lvl="0" marL="0" marR="0" rtl="0" algn="l">
              <a:lnSpc>
                <a:spcPct val="167996"/>
              </a:lnSpc>
              <a:spcBef>
                <a:spcPts val="0"/>
              </a:spcBef>
              <a:spcAft>
                <a:spcPts val="0"/>
              </a:spcAft>
              <a:buNone/>
            </a:pPr>
            <a:r>
              <a:rPr b="0" i="0" lang="en-US" sz="3434" u="none" cap="none" strike="noStrike">
                <a:solidFill>
                  <a:srgbClr val="152540"/>
                </a:solidFill>
                <a:latin typeface="Arial"/>
                <a:ea typeface="Arial"/>
                <a:cs typeface="Arial"/>
                <a:sym typeface="Arial"/>
              </a:rPr>
              <a:t>Escritura de Archivos</a:t>
            </a:r>
            <a:endParaRPr/>
          </a:p>
        </p:txBody>
      </p:sp>
      <p:sp>
        <p:nvSpPr>
          <p:cNvPr id="108" name="Google Shape;108;p13"/>
          <p:cNvSpPr txBox="1"/>
          <p:nvPr/>
        </p:nvSpPr>
        <p:spPr>
          <a:xfrm>
            <a:off x="651749" y="233725"/>
            <a:ext cx="7710300" cy="2565975"/>
          </a:xfrm>
          <a:prstGeom prst="rect">
            <a:avLst/>
          </a:prstGeom>
          <a:noFill/>
          <a:ln>
            <a:noFill/>
          </a:ln>
        </p:spPr>
        <p:txBody>
          <a:bodyPr anchorCtr="0" anchor="t" bIns="0" lIns="0" spcFirstLastPara="1" rIns="0" wrap="square" tIns="0">
            <a:spAutoFit/>
          </a:bodyPr>
          <a:lstStyle/>
          <a:p>
            <a:pPr indent="0" lvl="0" marL="0" marR="0" rtl="0" algn="l">
              <a:lnSpc>
                <a:spcPct val="137993"/>
              </a:lnSpc>
              <a:spcBef>
                <a:spcPts val="0"/>
              </a:spcBef>
              <a:spcAft>
                <a:spcPts val="0"/>
              </a:spcAft>
              <a:buNone/>
            </a:pPr>
            <a:r>
              <a:rPr b="0" i="0" lang="en-US" sz="15000" u="none" cap="none" strike="noStrike">
                <a:solidFill>
                  <a:srgbClr val="131416"/>
                </a:solidFill>
                <a:latin typeface="Pacifico"/>
                <a:ea typeface="Pacifico"/>
                <a:cs typeface="Pacifico"/>
                <a:sym typeface="Pacifico"/>
              </a:rPr>
              <a:t>Agenda</a:t>
            </a:r>
            <a:endParaRPr/>
          </a:p>
        </p:txBody>
      </p:sp>
      <p:sp>
        <p:nvSpPr>
          <p:cNvPr id="109" name="Google Shape;109;p13"/>
          <p:cNvSpPr/>
          <p:nvPr/>
        </p:nvSpPr>
        <p:spPr>
          <a:xfrm>
            <a:off x="651749" y="8523365"/>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7" t="0"/>
            </a:stretch>
          </a:blipFill>
          <a:ln>
            <a:noFill/>
          </a:ln>
        </p:spPr>
      </p:sp>
      <p:sp>
        <p:nvSpPr>
          <p:cNvPr id="110" name="Google Shape;110;p13"/>
          <p:cNvSpPr txBox="1"/>
          <p:nvPr/>
        </p:nvSpPr>
        <p:spPr>
          <a:xfrm>
            <a:off x="1352955" y="8294765"/>
            <a:ext cx="8390471" cy="743106"/>
          </a:xfrm>
          <a:prstGeom prst="rect">
            <a:avLst/>
          </a:prstGeom>
          <a:noFill/>
          <a:ln>
            <a:noFill/>
          </a:ln>
        </p:spPr>
        <p:txBody>
          <a:bodyPr anchorCtr="0" anchor="t" bIns="0" lIns="0" spcFirstLastPara="1" rIns="0" wrap="square" tIns="0">
            <a:spAutoFit/>
          </a:bodyPr>
          <a:lstStyle/>
          <a:p>
            <a:pPr indent="0" lvl="0" marL="0" marR="0" rtl="0" algn="l">
              <a:lnSpc>
                <a:spcPct val="167996"/>
              </a:lnSpc>
              <a:spcBef>
                <a:spcPts val="0"/>
              </a:spcBef>
              <a:spcAft>
                <a:spcPts val="0"/>
              </a:spcAft>
              <a:buNone/>
            </a:pPr>
            <a:r>
              <a:rPr b="0" i="0" lang="en-US" sz="3434" u="none" cap="none" strike="noStrike">
                <a:solidFill>
                  <a:srgbClr val="152540"/>
                </a:solidFill>
                <a:latin typeface="Arial"/>
                <a:ea typeface="Arial"/>
                <a:cs typeface="Arial"/>
                <a:sym typeface="Arial"/>
              </a:rPr>
              <a:t>Práctica</a:t>
            </a:r>
            <a:endParaRPr/>
          </a:p>
        </p:txBody>
      </p:sp>
      <p:sp>
        <p:nvSpPr>
          <p:cNvPr id="111" name="Google Shape;111;p13"/>
          <p:cNvSpPr/>
          <p:nvPr/>
        </p:nvSpPr>
        <p:spPr>
          <a:xfrm>
            <a:off x="651749" y="9225859"/>
            <a:ext cx="453390" cy="550069"/>
          </a:xfrm>
          <a:custGeom>
            <a:rect b="b" l="l" r="r" t="t"/>
            <a:pathLst>
              <a:path extrusionOk="0" h="733425" w="604520">
                <a:moveTo>
                  <a:pt x="0" y="0"/>
                </a:moveTo>
                <a:lnTo>
                  <a:pt x="604520" y="0"/>
                </a:lnTo>
                <a:lnTo>
                  <a:pt x="604520" y="733425"/>
                </a:lnTo>
                <a:lnTo>
                  <a:pt x="0" y="733425"/>
                </a:lnTo>
                <a:lnTo>
                  <a:pt x="0" y="0"/>
                </a:lnTo>
                <a:close/>
              </a:path>
            </a:pathLst>
          </a:custGeom>
          <a:blipFill rotWithShape="1">
            <a:blip r:embed="rId4">
              <a:alphaModFix/>
            </a:blip>
            <a:stretch>
              <a:fillRect b="-3" l="0" r="7" t="0"/>
            </a:stretch>
          </a:blipFill>
          <a:ln>
            <a:noFill/>
          </a:ln>
        </p:spPr>
      </p:sp>
      <p:sp>
        <p:nvSpPr>
          <p:cNvPr id="112" name="Google Shape;112;p13"/>
          <p:cNvSpPr txBox="1"/>
          <p:nvPr/>
        </p:nvSpPr>
        <p:spPr>
          <a:xfrm>
            <a:off x="1352955" y="8997259"/>
            <a:ext cx="8390471" cy="968483"/>
          </a:xfrm>
          <a:prstGeom prst="rect">
            <a:avLst/>
          </a:prstGeom>
          <a:noFill/>
          <a:ln>
            <a:noFill/>
          </a:ln>
        </p:spPr>
        <p:txBody>
          <a:bodyPr anchorCtr="0" anchor="t" bIns="0" lIns="0" spcFirstLastPara="1" rIns="0" wrap="square" tIns="0">
            <a:spAutoFit/>
          </a:bodyPr>
          <a:lstStyle/>
          <a:p>
            <a:pPr indent="0" lvl="0" marL="0" marR="0" rtl="0" algn="l">
              <a:lnSpc>
                <a:spcPct val="167996"/>
              </a:lnSpc>
              <a:spcBef>
                <a:spcPts val="0"/>
              </a:spcBef>
              <a:spcAft>
                <a:spcPts val="0"/>
              </a:spcAft>
              <a:buNone/>
            </a:pPr>
            <a:r>
              <a:rPr b="0" i="0" lang="en-US" sz="3434" u="none" cap="none" strike="noStrike">
                <a:solidFill>
                  <a:srgbClr val="152540"/>
                </a:solidFill>
                <a:latin typeface="Arial"/>
                <a:ea typeface="Arial"/>
                <a:cs typeface="Arial"/>
                <a:sym typeface="Arial"/>
              </a:rPr>
              <a:t>Tarea 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txBox="1"/>
          <p:nvPr/>
        </p:nvSpPr>
        <p:spPr>
          <a:xfrm>
            <a:off x="1028700" y="800100"/>
            <a:ext cx="16230600" cy="2016362"/>
          </a:xfrm>
          <a:prstGeom prst="rect">
            <a:avLst/>
          </a:prstGeom>
          <a:noFill/>
          <a:ln>
            <a:noFill/>
          </a:ln>
        </p:spPr>
        <p:txBody>
          <a:bodyPr anchorCtr="0" anchor="t" bIns="0" lIns="0" spcFirstLastPara="1" rIns="0" wrap="square" tIns="0">
            <a:spAutoFit/>
          </a:bodyPr>
          <a:lstStyle/>
          <a:p>
            <a:pPr indent="0" lvl="0" marL="0" marR="0" rtl="0" algn="l">
              <a:lnSpc>
                <a:spcPct val="135569"/>
              </a:lnSpc>
              <a:spcBef>
                <a:spcPts val="0"/>
              </a:spcBef>
              <a:spcAft>
                <a:spcPts val="0"/>
              </a:spcAft>
              <a:buNone/>
            </a:pPr>
            <a:r>
              <a:rPr b="0" i="0" lang="en-US" sz="6098" u="none" cap="none" strike="noStrike">
                <a:solidFill>
                  <a:srgbClr val="131416"/>
                </a:solidFill>
                <a:latin typeface="Arial"/>
                <a:ea typeface="Arial"/>
                <a:cs typeface="Arial"/>
                <a:sym typeface="Arial"/>
              </a:rPr>
              <a:t>COMPETENCIA QUE DESARROLLAREMOS</a:t>
            </a:r>
            <a:endParaRPr/>
          </a:p>
        </p:txBody>
      </p:sp>
      <p:sp>
        <p:nvSpPr>
          <p:cNvPr id="122" name="Google Shape;122;p14"/>
          <p:cNvSpPr txBox="1"/>
          <p:nvPr/>
        </p:nvSpPr>
        <p:spPr>
          <a:xfrm>
            <a:off x="1028700" y="3006725"/>
            <a:ext cx="16230600" cy="4632722"/>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131416"/>
                </a:solidFill>
                <a:latin typeface="Arial"/>
                <a:ea typeface="Arial"/>
                <a:cs typeface="Arial"/>
                <a:sym typeface="Arial"/>
              </a:rPr>
              <a:t>El estudiante comprende el funcionamiento del lenguaje de programación JavaScript a través de su aplicación para la resolución de problemas relacionados con las fases del compilador.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5"/>
          <p:cNvSpPr txBox="1"/>
          <p:nvPr/>
        </p:nvSpPr>
        <p:spPr>
          <a:xfrm>
            <a:off x="1904222" y="1234133"/>
            <a:ext cx="12449074" cy="1401068"/>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JAVASCRIPT</a:t>
            </a:r>
            <a:endParaRPr/>
          </a:p>
        </p:txBody>
      </p:sp>
      <p:sp>
        <p:nvSpPr>
          <p:cNvPr id="132" name="Google Shape;132;p15"/>
          <p:cNvSpPr txBox="1"/>
          <p:nvPr/>
        </p:nvSpPr>
        <p:spPr>
          <a:xfrm>
            <a:off x="1904223" y="3739458"/>
            <a:ext cx="14937114" cy="4134445"/>
          </a:xfrm>
          <a:prstGeom prst="rect">
            <a:avLst/>
          </a:prstGeom>
          <a:noFill/>
          <a:ln>
            <a:noFill/>
          </a:ln>
        </p:spPr>
        <p:txBody>
          <a:bodyPr anchorCtr="0" anchor="t" bIns="0" lIns="0" spcFirstLastPara="1" rIns="0" wrap="square" tIns="0">
            <a:spAutoFit/>
          </a:bodyPr>
          <a:lstStyle/>
          <a:p>
            <a:pPr indent="0" lvl="0" marL="0" marR="0" rtl="0" algn="just">
              <a:lnSpc>
                <a:spcPct val="168000"/>
              </a:lnSpc>
              <a:spcBef>
                <a:spcPts val="0"/>
              </a:spcBef>
              <a:spcAft>
                <a:spcPts val="0"/>
              </a:spcAft>
              <a:buNone/>
            </a:pPr>
            <a:r>
              <a:rPr b="0" i="0" lang="en-US" sz="2000" u="none" cap="none" strike="noStrike">
                <a:solidFill>
                  <a:srgbClr val="000000"/>
                </a:solidFill>
                <a:latin typeface="Arial"/>
                <a:ea typeface="Arial"/>
                <a:cs typeface="Arial"/>
                <a:sym typeface="Arial"/>
              </a:rPr>
              <a:t>Un arreglo en JavaScript es una estructura de datos fundamental que representa una colección ordenada de elementos. A diferencia de otros lenguajes, JavaScript permite que un arreglo contenga elementos de diferentes tipos de datos (números, strings, objetos, incluso otros arreglos) en la misma estructura. Los arreglos son objetos especiales que heredan del prototipo Array, proporcionando métodos integrados para su manipulación.</a:t>
            </a:r>
            <a:endParaRPr/>
          </a:p>
          <a:p>
            <a:pPr indent="0" lvl="0" marL="0" marR="0" rtl="0" algn="l">
              <a:lnSpc>
                <a:spcPct val="168000"/>
              </a:lnSpc>
              <a:spcBef>
                <a:spcPts val="0"/>
              </a:spcBef>
              <a:spcAft>
                <a:spcPts val="0"/>
              </a:spcAft>
              <a:buNone/>
            </a:pPr>
            <a:r>
              <a:t/>
            </a:r>
            <a:endParaRPr b="0" i="0" sz="20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None/>
            </a:pPr>
            <a:r>
              <a:rPr b="1" i="0" lang="en-US" sz="2000" u="none" cap="none" strike="noStrike">
                <a:solidFill>
                  <a:srgbClr val="000000"/>
                </a:solidFill>
                <a:latin typeface="Arial"/>
                <a:ea typeface="Arial"/>
                <a:cs typeface="Arial"/>
                <a:sym typeface="Arial"/>
              </a:rPr>
              <a:t>Características principales:</a:t>
            </a:r>
            <a:endParaRPr/>
          </a:p>
          <a:p>
            <a:pPr indent="0" lvl="0" marL="0" marR="0" rtl="0" algn="l">
              <a:lnSpc>
                <a:spcPct val="120000"/>
              </a:lnSpc>
              <a:spcBef>
                <a:spcPts val="0"/>
              </a:spcBef>
              <a:spcAft>
                <a:spcPts val="0"/>
              </a:spcAft>
              <a:buNone/>
            </a:pPr>
            <a:r>
              <a:t/>
            </a:r>
            <a:endParaRPr b="1" i="0" sz="20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None/>
            </a:pPr>
            <a:r>
              <a:rPr b="0" i="0" lang="en-US" sz="2000" u="none" cap="none" strike="noStrike">
                <a:solidFill>
                  <a:srgbClr val="000000"/>
                </a:solidFill>
                <a:latin typeface="Arial"/>
                <a:ea typeface="Arial"/>
                <a:cs typeface="Arial"/>
                <a:sym typeface="Arial"/>
              </a:rPr>
              <a:t>- Tamaño dinámico (puede cambiar durante la ejecución)</a:t>
            </a:r>
            <a:endParaRPr/>
          </a:p>
          <a:p>
            <a:pPr indent="0" lvl="0" marL="0" marR="0" rtl="0" algn="l">
              <a:lnSpc>
                <a:spcPct val="120000"/>
              </a:lnSpc>
              <a:spcBef>
                <a:spcPts val="0"/>
              </a:spcBef>
              <a:spcAft>
                <a:spcPts val="0"/>
              </a:spcAft>
              <a:buNone/>
            </a:pPr>
            <a:r>
              <a:rPr b="0" i="0" lang="en-US" sz="2000" u="none" cap="none" strike="noStrike">
                <a:solidFill>
                  <a:srgbClr val="000000"/>
                </a:solidFill>
                <a:latin typeface="Arial"/>
                <a:ea typeface="Arial"/>
                <a:cs typeface="Arial"/>
                <a:sym typeface="Arial"/>
              </a:rPr>
              <a:t>- Pueden contener elementos de diferentes tipos</a:t>
            </a:r>
            <a:endParaRPr/>
          </a:p>
          <a:p>
            <a:pPr indent="0" lvl="0" marL="0" marR="0" rtl="0" algn="l">
              <a:lnSpc>
                <a:spcPct val="120000"/>
              </a:lnSpc>
              <a:spcBef>
                <a:spcPts val="0"/>
              </a:spcBef>
              <a:spcAft>
                <a:spcPts val="0"/>
              </a:spcAft>
              <a:buNone/>
            </a:pPr>
            <a:r>
              <a:rPr b="0" i="0" lang="en-US" sz="2000" u="none" cap="none" strike="noStrike">
                <a:solidFill>
                  <a:srgbClr val="000000"/>
                </a:solidFill>
                <a:latin typeface="Arial"/>
                <a:ea typeface="Arial"/>
                <a:cs typeface="Arial"/>
                <a:sym typeface="Arial"/>
              </a:rPr>
              <a:t>- Indexados desde 0</a:t>
            </a:r>
            <a:endParaRPr/>
          </a:p>
          <a:p>
            <a:pPr indent="0" lvl="0" marL="0" marR="0" rtl="0" algn="l">
              <a:lnSpc>
                <a:spcPct val="120000"/>
              </a:lnSpc>
              <a:spcBef>
                <a:spcPts val="0"/>
              </a:spcBef>
              <a:spcAft>
                <a:spcPts val="0"/>
              </a:spcAft>
              <a:buNone/>
            </a:pPr>
            <a:r>
              <a:rPr b="0" i="0" lang="en-US" sz="2000" u="none" cap="none" strike="noStrike">
                <a:solidFill>
                  <a:srgbClr val="000000"/>
                </a:solidFill>
                <a:latin typeface="Arial"/>
                <a:ea typeface="Arial"/>
                <a:cs typeface="Arial"/>
                <a:sym typeface="Arial"/>
              </a:rPr>
              <a:t>- Son objetos mutables por referencia</a:t>
            </a:r>
            <a:endParaRPr/>
          </a:p>
        </p:txBody>
      </p:sp>
      <p:sp>
        <p:nvSpPr>
          <p:cNvPr id="133" name="Google Shape;133;p15"/>
          <p:cNvSpPr txBox="1"/>
          <p:nvPr/>
        </p:nvSpPr>
        <p:spPr>
          <a:xfrm>
            <a:off x="1904222" y="2159120"/>
            <a:ext cx="12860533"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¿QUÉ ES UN ARREGLO?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6"/>
          <p:cNvSpPr txBox="1"/>
          <p:nvPr/>
        </p:nvSpPr>
        <p:spPr>
          <a:xfrm>
            <a:off x="1904222" y="1234133"/>
            <a:ext cx="15519820" cy="1401068"/>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JAVASCRIPT</a:t>
            </a:r>
            <a:endParaRPr/>
          </a:p>
        </p:txBody>
      </p:sp>
      <p:sp>
        <p:nvSpPr>
          <p:cNvPr id="143" name="Google Shape;143;p16"/>
          <p:cNvSpPr txBox="1"/>
          <p:nvPr/>
        </p:nvSpPr>
        <p:spPr>
          <a:xfrm>
            <a:off x="1904222" y="3682308"/>
            <a:ext cx="14118250" cy="6200094"/>
          </a:xfrm>
          <a:prstGeom prst="rect">
            <a:avLst/>
          </a:prstGeom>
          <a:noFill/>
          <a:ln>
            <a:noFill/>
          </a:ln>
        </p:spPr>
        <p:txBody>
          <a:bodyPr anchorCtr="0" anchor="t" bIns="0" lIns="0" spcFirstLastPara="1" rIns="0" wrap="square" tIns="0">
            <a:spAutoFit/>
          </a:bodyPr>
          <a:lstStyle/>
          <a:p>
            <a:pPr indent="0" lvl="0" marL="0" marR="0" rtl="0" algn="just">
              <a:lnSpc>
                <a:spcPct val="168060"/>
              </a:lnSpc>
              <a:spcBef>
                <a:spcPts val="0"/>
              </a:spcBef>
              <a:spcAft>
                <a:spcPts val="0"/>
              </a:spcAft>
              <a:buNone/>
            </a:pPr>
            <a:r>
              <a:rPr b="0" i="0" lang="en-US" sz="2799" u="none" cap="none" strike="noStrike">
                <a:solidFill>
                  <a:srgbClr val="000000"/>
                </a:solidFill>
                <a:latin typeface="Arial"/>
                <a:ea typeface="Arial"/>
                <a:cs typeface="Arial"/>
                <a:sym typeface="Arial"/>
              </a:rPr>
              <a:t>Los arreglos en JavaScript pueden organizarse en diferentes dimensiones según la complejidad de los datos que necesitemos almacenar. Esta flexibilidad permite modelar desde listas simples hasta estructuras de datos complejas como matrices matemáticas o representaciones tridimensionales.</a:t>
            </a:r>
            <a:endParaRPr/>
          </a:p>
          <a:p>
            <a:pPr indent="0" lvl="0" marL="0" marR="0" rtl="0" algn="just">
              <a:lnSpc>
                <a:spcPct val="168060"/>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209564" lvl="2" marL="628692" marR="0" rtl="0" algn="just">
              <a:lnSpc>
                <a:spcPct val="168060"/>
              </a:lnSpc>
              <a:spcBef>
                <a:spcPts val="0"/>
              </a:spcBef>
              <a:spcAft>
                <a:spcPts val="0"/>
              </a:spcAft>
              <a:buClr>
                <a:srgbClr val="152540"/>
              </a:buClr>
              <a:buSzPts val="2799"/>
              <a:buFont typeface="Arial"/>
              <a:buChar char="⚬"/>
            </a:pPr>
            <a:r>
              <a:rPr b="0" i="0" lang="en-US" sz="2799" u="none" cap="none" strike="noStrike">
                <a:solidFill>
                  <a:srgbClr val="152540"/>
                </a:solidFill>
                <a:latin typeface="Arial"/>
                <a:ea typeface="Arial"/>
                <a:cs typeface="Arial"/>
                <a:sym typeface="Arial"/>
              </a:rPr>
              <a:t>Unidimensionales: </a:t>
            </a:r>
            <a:r>
              <a:rPr b="0" i="0" lang="en-US" sz="2799" u="none" cap="none" strike="noStrike">
                <a:solidFill>
                  <a:srgbClr val="000000"/>
                </a:solidFill>
                <a:latin typeface="Arial"/>
                <a:ea typeface="Arial"/>
                <a:cs typeface="Arial"/>
                <a:sym typeface="Arial"/>
              </a:rPr>
              <a:t>Contienen una sola fila de elementos, ideales para listas simples.</a:t>
            </a:r>
            <a:endParaRPr/>
          </a:p>
          <a:p>
            <a:pPr indent="-209564" lvl="2" marL="628692" marR="0" rtl="0" algn="just">
              <a:lnSpc>
                <a:spcPct val="168060"/>
              </a:lnSpc>
              <a:spcBef>
                <a:spcPts val="0"/>
              </a:spcBef>
              <a:spcAft>
                <a:spcPts val="0"/>
              </a:spcAft>
              <a:buClr>
                <a:srgbClr val="152540"/>
              </a:buClr>
              <a:buSzPts val="2799"/>
              <a:buFont typeface="Arial"/>
              <a:buChar char="⚬"/>
            </a:pPr>
            <a:r>
              <a:rPr b="0" i="0" lang="en-US" sz="2799" u="none" cap="none" strike="noStrike">
                <a:solidFill>
                  <a:srgbClr val="152540"/>
                </a:solidFill>
                <a:latin typeface="Arial"/>
                <a:ea typeface="Arial"/>
                <a:cs typeface="Arial"/>
                <a:sym typeface="Arial"/>
              </a:rPr>
              <a:t>Bidimensionales: </a:t>
            </a:r>
            <a:r>
              <a:rPr b="0" i="0" lang="en-US" sz="2799" u="none" cap="none" strike="noStrike">
                <a:solidFill>
                  <a:srgbClr val="000000"/>
                </a:solidFill>
                <a:latin typeface="Arial"/>
                <a:ea typeface="Arial"/>
                <a:cs typeface="Arial"/>
                <a:sym typeface="Arial"/>
              </a:rPr>
              <a:t>Matrices con filas y columnas, útiles para representar tablas o grillas.</a:t>
            </a:r>
            <a:endParaRPr/>
          </a:p>
          <a:p>
            <a:pPr indent="-209564" lvl="2" marL="628692" marR="0" rtl="0" algn="just">
              <a:lnSpc>
                <a:spcPct val="168060"/>
              </a:lnSpc>
              <a:spcBef>
                <a:spcPts val="0"/>
              </a:spcBef>
              <a:spcAft>
                <a:spcPts val="0"/>
              </a:spcAft>
              <a:buClr>
                <a:srgbClr val="152540"/>
              </a:buClr>
              <a:buSzPts val="2799"/>
              <a:buFont typeface="Arial"/>
              <a:buChar char="⚬"/>
            </a:pPr>
            <a:r>
              <a:rPr b="0" i="0" lang="en-US" sz="2799" u="none" cap="none" strike="noStrike">
                <a:solidFill>
                  <a:srgbClr val="152540"/>
                </a:solidFill>
                <a:latin typeface="Arial"/>
                <a:ea typeface="Arial"/>
                <a:cs typeface="Arial"/>
                <a:sym typeface="Arial"/>
              </a:rPr>
              <a:t>Multidimensionales: </a:t>
            </a:r>
            <a:r>
              <a:rPr b="0" i="0" lang="en-US" sz="2799" u="none" cap="none" strike="noStrike">
                <a:solidFill>
                  <a:srgbClr val="000000"/>
                </a:solidFill>
                <a:latin typeface="Arial"/>
                <a:ea typeface="Arial"/>
                <a:cs typeface="Arial"/>
                <a:sym typeface="Arial"/>
              </a:rPr>
              <a:t>Arreglos de más de dos dimensiones, apropiados para datos complejos como cubos de información.</a:t>
            </a:r>
            <a:endParaRPr/>
          </a:p>
        </p:txBody>
      </p:sp>
      <p:sp>
        <p:nvSpPr>
          <p:cNvPr id="144" name="Google Shape;144;p16"/>
          <p:cNvSpPr txBox="1"/>
          <p:nvPr/>
        </p:nvSpPr>
        <p:spPr>
          <a:xfrm>
            <a:off x="1904222" y="2159120"/>
            <a:ext cx="15355078"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TIPOS DE ARREGLOS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txBox="1"/>
          <p:nvPr/>
        </p:nvSpPr>
        <p:spPr>
          <a:xfrm>
            <a:off x="1904222" y="1234133"/>
            <a:ext cx="11630208" cy="1401068"/>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JAVASCRIPT</a:t>
            </a:r>
            <a:endParaRPr/>
          </a:p>
        </p:txBody>
      </p:sp>
      <p:sp>
        <p:nvSpPr>
          <p:cNvPr id="154" name="Google Shape;154;p17"/>
          <p:cNvSpPr txBox="1"/>
          <p:nvPr/>
        </p:nvSpPr>
        <p:spPr>
          <a:xfrm>
            <a:off x="1440197" y="3555111"/>
            <a:ext cx="15633151" cy="3915180"/>
          </a:xfrm>
          <a:prstGeom prst="rect">
            <a:avLst/>
          </a:prstGeom>
          <a:noFill/>
          <a:ln>
            <a:noFill/>
          </a:ln>
        </p:spPr>
        <p:txBody>
          <a:bodyPr anchorCtr="0" anchor="t" bIns="0" lIns="0" spcFirstLastPara="1" rIns="0" wrap="square" tIns="0">
            <a:spAutoFit/>
          </a:bodyPr>
          <a:lstStyle/>
          <a:p>
            <a:pPr indent="0" lvl="0" marL="0" marR="0" rtl="0" algn="just">
              <a:lnSpc>
                <a:spcPct val="168000"/>
              </a:lnSpc>
              <a:spcBef>
                <a:spcPts val="0"/>
              </a:spcBef>
              <a:spcAft>
                <a:spcPts val="0"/>
              </a:spcAft>
              <a:buNone/>
            </a:pPr>
            <a:r>
              <a:rPr b="0" i="0" lang="en-US" sz="3200" u="none" cap="none" strike="noStrike">
                <a:solidFill>
                  <a:srgbClr val="000000"/>
                </a:solidFill>
                <a:latin typeface="Arial"/>
                <a:ea typeface="Arial"/>
                <a:cs typeface="Arial"/>
                <a:sym typeface="Arial"/>
              </a:rPr>
              <a:t>El sistema de indexación en JavaScript sigue el estándar de la mayoría de lenguajes de programación, comenzando desde cero. Este mecanismo de acceso directo por índice proporciona una complejidad temporal O(1), lo que significa que acceder a cualquier elemento toma el mismo tiempo independientemente del tamaño del arreglo.</a:t>
            </a:r>
            <a:endParaRPr/>
          </a:p>
          <a:p>
            <a:pPr indent="0" lvl="0" marL="0" marR="0" rtl="0" algn="just">
              <a:lnSpc>
                <a:spcPct val="168000"/>
              </a:lnSpc>
              <a:spcBef>
                <a:spcPts val="0"/>
              </a:spcBef>
              <a:spcAft>
                <a:spcPts val="0"/>
              </a:spcAft>
              <a:buNone/>
            </a:pPr>
            <a:r>
              <a:t/>
            </a:r>
            <a:endParaRPr b="0" i="0" sz="3200" u="none" cap="none" strike="noStrike">
              <a:solidFill>
                <a:srgbClr val="000000"/>
              </a:solidFill>
              <a:latin typeface="Arial"/>
              <a:ea typeface="Arial"/>
              <a:cs typeface="Arial"/>
              <a:sym typeface="Arial"/>
            </a:endParaRPr>
          </a:p>
          <a:p>
            <a:pPr indent="0" lvl="0" marL="0" marR="0" rtl="0" algn="just">
              <a:lnSpc>
                <a:spcPct val="168000"/>
              </a:lnSpc>
              <a:spcBef>
                <a:spcPts val="0"/>
              </a:spcBef>
              <a:spcAft>
                <a:spcPts val="0"/>
              </a:spcAft>
              <a:buNone/>
            </a:pPr>
            <a:r>
              <a:rPr b="1" i="0" lang="en-US" sz="3200" u="none" cap="none" strike="noStrike">
                <a:solidFill>
                  <a:srgbClr val="000000"/>
                </a:solidFill>
                <a:latin typeface="Arial"/>
                <a:ea typeface="Arial"/>
                <a:cs typeface="Arial"/>
                <a:sym typeface="Arial"/>
              </a:rPr>
              <a:t>Acceso</a:t>
            </a:r>
            <a:r>
              <a:rPr b="0" i="0" lang="en-US" sz="3200" u="none" cap="none" strike="noStrike">
                <a:solidFill>
                  <a:srgbClr val="000000"/>
                </a:solidFill>
                <a:latin typeface="Arial"/>
                <a:ea typeface="Arial"/>
                <a:cs typeface="Arial"/>
                <a:sym typeface="Arial"/>
              </a:rPr>
              <a:t>: Se usan índices para obtener el valor de una posición del arreglo.</a:t>
            </a:r>
            <a:endParaRPr/>
          </a:p>
        </p:txBody>
      </p:sp>
      <p:sp>
        <p:nvSpPr>
          <p:cNvPr id="155" name="Google Shape;155;p17"/>
          <p:cNvSpPr txBox="1"/>
          <p:nvPr/>
        </p:nvSpPr>
        <p:spPr>
          <a:xfrm>
            <a:off x="1904222" y="2159120"/>
            <a:ext cx="12596643"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ACCESO Y MODIFICACIÓN</a:t>
            </a:r>
            <a:endParaRPr/>
          </a:p>
        </p:txBody>
      </p:sp>
      <p:sp>
        <p:nvSpPr>
          <p:cNvPr id="156" name="Google Shape;156;p17"/>
          <p:cNvSpPr/>
          <p:nvPr/>
        </p:nvSpPr>
        <p:spPr>
          <a:xfrm>
            <a:off x="5971731" y="7581538"/>
            <a:ext cx="5997321" cy="2485358"/>
          </a:xfrm>
          <a:custGeom>
            <a:rect b="b" l="l" r="r" t="t"/>
            <a:pathLst>
              <a:path extrusionOk="0" h="3313811" w="7996428">
                <a:moveTo>
                  <a:pt x="0" y="0"/>
                </a:moveTo>
                <a:lnTo>
                  <a:pt x="7996428" y="0"/>
                </a:lnTo>
                <a:lnTo>
                  <a:pt x="7996428" y="3313811"/>
                </a:lnTo>
                <a:lnTo>
                  <a:pt x="0" y="331381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nvSpPr>
        <p:spPr>
          <a:xfrm>
            <a:off x="1904222" y="1234133"/>
            <a:ext cx="11630208" cy="1401068"/>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JAVASCRIPT</a:t>
            </a:r>
            <a:endParaRPr/>
          </a:p>
        </p:txBody>
      </p:sp>
      <p:sp>
        <p:nvSpPr>
          <p:cNvPr id="166" name="Google Shape;166;p18"/>
          <p:cNvSpPr txBox="1"/>
          <p:nvPr/>
        </p:nvSpPr>
        <p:spPr>
          <a:xfrm>
            <a:off x="1904222" y="3644208"/>
            <a:ext cx="11461140" cy="1588389"/>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1" i="0" lang="en-US" sz="3200" u="none" cap="none" strike="noStrike">
                <a:solidFill>
                  <a:srgbClr val="000000"/>
                </a:solidFill>
                <a:latin typeface="Arial"/>
                <a:ea typeface="Arial"/>
                <a:cs typeface="Arial"/>
                <a:sym typeface="Arial"/>
              </a:rPr>
              <a:t>Modificación</a:t>
            </a:r>
            <a:r>
              <a:rPr b="0" i="0" lang="en-US" sz="3200" u="none" cap="none" strike="noStrike">
                <a:solidFill>
                  <a:srgbClr val="000000"/>
                </a:solidFill>
                <a:latin typeface="Arial"/>
                <a:ea typeface="Arial"/>
                <a:cs typeface="Arial"/>
                <a:sym typeface="Arial"/>
              </a:rPr>
              <a:t>: Al igual que para el acceso se usan índices para reasignar el valor de una posición.</a:t>
            </a:r>
            <a:endParaRPr/>
          </a:p>
        </p:txBody>
      </p:sp>
      <p:sp>
        <p:nvSpPr>
          <p:cNvPr id="167" name="Google Shape;167;p18"/>
          <p:cNvSpPr txBox="1"/>
          <p:nvPr/>
        </p:nvSpPr>
        <p:spPr>
          <a:xfrm>
            <a:off x="1904222" y="2159120"/>
            <a:ext cx="12443106"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ACCESO Y MODIFICACIÓN</a:t>
            </a:r>
            <a:endParaRPr/>
          </a:p>
        </p:txBody>
      </p:sp>
      <p:sp>
        <p:nvSpPr>
          <p:cNvPr id="168" name="Google Shape;168;p18"/>
          <p:cNvSpPr/>
          <p:nvPr/>
        </p:nvSpPr>
        <p:spPr>
          <a:xfrm>
            <a:off x="9688255" y="6002261"/>
            <a:ext cx="7037261" cy="2161223"/>
          </a:xfrm>
          <a:custGeom>
            <a:rect b="b" l="l" r="r" t="t"/>
            <a:pathLst>
              <a:path extrusionOk="0" h="2881630" w="9383014">
                <a:moveTo>
                  <a:pt x="0" y="0"/>
                </a:moveTo>
                <a:lnTo>
                  <a:pt x="9383014" y="0"/>
                </a:lnTo>
                <a:lnTo>
                  <a:pt x="9383014" y="2881630"/>
                </a:lnTo>
                <a:lnTo>
                  <a:pt x="0" y="2881630"/>
                </a:lnTo>
                <a:lnTo>
                  <a:pt x="0" y="0"/>
                </a:lnTo>
                <a:close/>
              </a:path>
            </a:pathLst>
          </a:custGeom>
          <a:blipFill rotWithShape="1">
            <a:blip r:embed="rId3">
              <a:alphaModFix/>
            </a:blip>
            <a:stretch>
              <a:fillRect b="1" l="0" r="0" t="0"/>
            </a:stretch>
          </a:blipFill>
          <a:ln>
            <a:noFill/>
          </a:ln>
        </p:spPr>
      </p:sp>
      <p:sp>
        <p:nvSpPr>
          <p:cNvPr id="169" name="Google Shape;169;p18"/>
          <p:cNvSpPr/>
          <p:nvPr/>
        </p:nvSpPr>
        <p:spPr>
          <a:xfrm>
            <a:off x="3326489" y="5840161"/>
            <a:ext cx="5997321" cy="2485358"/>
          </a:xfrm>
          <a:custGeom>
            <a:rect b="b" l="l" r="r" t="t"/>
            <a:pathLst>
              <a:path extrusionOk="0" h="3313811" w="7996428">
                <a:moveTo>
                  <a:pt x="0" y="0"/>
                </a:moveTo>
                <a:lnTo>
                  <a:pt x="7996428" y="0"/>
                </a:lnTo>
                <a:lnTo>
                  <a:pt x="7996428" y="3313811"/>
                </a:lnTo>
                <a:lnTo>
                  <a:pt x="0" y="331381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nvSpPr>
        <p:spPr>
          <a:xfrm>
            <a:off x="1904222" y="1234133"/>
            <a:ext cx="11630208" cy="1401068"/>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JAVASCRIPT</a:t>
            </a:r>
            <a:endParaRPr/>
          </a:p>
        </p:txBody>
      </p:sp>
      <p:sp>
        <p:nvSpPr>
          <p:cNvPr id="179" name="Google Shape;179;p19"/>
          <p:cNvSpPr txBox="1"/>
          <p:nvPr/>
        </p:nvSpPr>
        <p:spPr>
          <a:xfrm>
            <a:off x="1904222" y="3663258"/>
            <a:ext cx="11461140" cy="898970"/>
          </a:xfrm>
          <a:prstGeom prst="rect">
            <a:avLst/>
          </a:prstGeom>
          <a:noFill/>
          <a:ln>
            <a:noFill/>
          </a:ln>
        </p:spPr>
        <p:txBody>
          <a:bodyPr anchorCtr="0" anchor="t" bIns="0" lIns="0" spcFirstLastPara="1" rIns="0" wrap="square" tIns="0">
            <a:spAutoFit/>
          </a:bodyPr>
          <a:lstStyle/>
          <a:p>
            <a:pPr indent="0" lvl="0" marL="0" marR="0" rtl="0" algn="l">
              <a:lnSpc>
                <a:spcPct val="168000"/>
              </a:lnSpc>
              <a:spcBef>
                <a:spcPts val="0"/>
              </a:spcBef>
              <a:spcAft>
                <a:spcPts val="0"/>
              </a:spcAft>
              <a:buNone/>
            </a:pPr>
            <a:r>
              <a:rPr b="0" i="0" lang="en-US" sz="3200" u="none" cap="none" strike="noStrike">
                <a:solidFill>
                  <a:srgbClr val="000000"/>
                </a:solidFill>
                <a:latin typeface="Arial"/>
                <a:ea typeface="Arial"/>
                <a:cs typeface="Arial"/>
                <a:sym typeface="Arial"/>
              </a:rPr>
              <a:t>También es posible modificar un arreglo completo:</a:t>
            </a:r>
            <a:endParaRPr/>
          </a:p>
        </p:txBody>
      </p:sp>
      <p:sp>
        <p:nvSpPr>
          <p:cNvPr id="180" name="Google Shape;180;p19"/>
          <p:cNvSpPr txBox="1"/>
          <p:nvPr/>
        </p:nvSpPr>
        <p:spPr>
          <a:xfrm>
            <a:off x="1904222" y="2159120"/>
            <a:ext cx="13645942"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MODIFICACIÓN DE ARREGLO</a:t>
            </a:r>
            <a:endParaRPr/>
          </a:p>
        </p:txBody>
      </p:sp>
      <p:sp>
        <p:nvSpPr>
          <p:cNvPr id="181" name="Google Shape;181;p19"/>
          <p:cNvSpPr/>
          <p:nvPr/>
        </p:nvSpPr>
        <p:spPr>
          <a:xfrm>
            <a:off x="4911385" y="5143500"/>
            <a:ext cx="6593681" cy="3795808"/>
          </a:xfrm>
          <a:custGeom>
            <a:rect b="b" l="l" r="r" t="t"/>
            <a:pathLst>
              <a:path extrusionOk="0" h="5061077" w="8791575">
                <a:moveTo>
                  <a:pt x="0" y="0"/>
                </a:moveTo>
                <a:lnTo>
                  <a:pt x="8791575" y="0"/>
                </a:lnTo>
                <a:lnTo>
                  <a:pt x="8791575" y="5061077"/>
                </a:lnTo>
                <a:lnTo>
                  <a:pt x="0" y="506107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nvSpPr>
        <p:spPr>
          <a:xfrm>
            <a:off x="1904222" y="1234133"/>
            <a:ext cx="11630208" cy="1401068"/>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JAVASCRIPT</a:t>
            </a:r>
            <a:endParaRPr/>
          </a:p>
        </p:txBody>
      </p:sp>
      <p:sp>
        <p:nvSpPr>
          <p:cNvPr id="191" name="Google Shape;191;p20"/>
          <p:cNvSpPr txBox="1"/>
          <p:nvPr/>
        </p:nvSpPr>
        <p:spPr>
          <a:xfrm>
            <a:off x="1904222" y="3672783"/>
            <a:ext cx="11461140" cy="695465"/>
          </a:xfrm>
          <a:prstGeom prst="rect">
            <a:avLst/>
          </a:prstGeom>
          <a:noFill/>
          <a:ln>
            <a:noFill/>
          </a:ln>
        </p:spPr>
        <p:txBody>
          <a:bodyPr anchorCtr="0" anchor="t" bIns="0" lIns="0" spcFirstLastPara="1" rIns="0" wrap="square" tIns="0">
            <a:spAutoFit/>
          </a:bodyPr>
          <a:lstStyle/>
          <a:p>
            <a:pPr indent="0" lvl="0" marL="0" marR="0" rtl="0" algn="l">
              <a:lnSpc>
                <a:spcPct val="168002"/>
              </a:lnSpc>
              <a:spcBef>
                <a:spcPts val="0"/>
              </a:spcBef>
              <a:spcAft>
                <a:spcPts val="0"/>
              </a:spcAft>
              <a:buNone/>
            </a:pPr>
            <a:r>
              <a:rPr b="0" i="0" lang="en-US" sz="2994" u="none" cap="none" strike="noStrike">
                <a:solidFill>
                  <a:srgbClr val="152540"/>
                </a:solidFill>
                <a:latin typeface="Arial"/>
                <a:ea typeface="Arial"/>
                <a:cs typeface="Arial"/>
                <a:sym typeface="Arial"/>
              </a:rPr>
              <a:t>Arreglo Unidimensional</a:t>
            </a:r>
            <a:endParaRPr/>
          </a:p>
        </p:txBody>
      </p:sp>
      <p:sp>
        <p:nvSpPr>
          <p:cNvPr id="192" name="Google Shape;192;p20"/>
          <p:cNvSpPr txBox="1"/>
          <p:nvPr/>
        </p:nvSpPr>
        <p:spPr>
          <a:xfrm>
            <a:off x="1904222" y="2159120"/>
            <a:ext cx="13410644"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REPRESENTACIÓN GRÁFICA</a:t>
            </a:r>
            <a:endParaRPr/>
          </a:p>
        </p:txBody>
      </p:sp>
      <p:sp>
        <p:nvSpPr>
          <p:cNvPr descr="Escala de tiempo  El contenido generado por IA puede ser incorrecto." id="193" name="Google Shape;193;p20"/>
          <p:cNvSpPr/>
          <p:nvPr/>
        </p:nvSpPr>
        <p:spPr>
          <a:xfrm>
            <a:off x="4710562" y="4821434"/>
            <a:ext cx="7790783" cy="4941475"/>
          </a:xfrm>
          <a:custGeom>
            <a:rect b="b" l="l" r="r" t="t"/>
            <a:pathLst>
              <a:path extrusionOk="0" h="6588633" w="10387711">
                <a:moveTo>
                  <a:pt x="0" y="0"/>
                </a:moveTo>
                <a:lnTo>
                  <a:pt x="10387711" y="0"/>
                </a:lnTo>
                <a:lnTo>
                  <a:pt x="10387711" y="6588633"/>
                </a:lnTo>
                <a:lnTo>
                  <a:pt x="0" y="6588633"/>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1"/>
          <p:cNvSpPr txBox="1"/>
          <p:nvPr/>
        </p:nvSpPr>
        <p:spPr>
          <a:xfrm>
            <a:off x="1904222" y="1234133"/>
            <a:ext cx="11630208" cy="12446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a:t>
            </a:r>
            <a:endParaRPr/>
          </a:p>
        </p:txBody>
      </p:sp>
      <p:sp>
        <p:nvSpPr>
          <p:cNvPr id="203" name="Google Shape;203;p21"/>
          <p:cNvSpPr txBox="1"/>
          <p:nvPr/>
        </p:nvSpPr>
        <p:spPr>
          <a:xfrm>
            <a:off x="1904222" y="3672783"/>
            <a:ext cx="11461140" cy="695465"/>
          </a:xfrm>
          <a:prstGeom prst="rect">
            <a:avLst/>
          </a:prstGeom>
          <a:noFill/>
          <a:ln>
            <a:noFill/>
          </a:ln>
        </p:spPr>
        <p:txBody>
          <a:bodyPr anchorCtr="0" anchor="t" bIns="0" lIns="0" spcFirstLastPara="1" rIns="0" wrap="square" tIns="0">
            <a:spAutoFit/>
          </a:bodyPr>
          <a:lstStyle/>
          <a:p>
            <a:pPr indent="0" lvl="0" marL="0" marR="0" rtl="0" algn="l">
              <a:lnSpc>
                <a:spcPct val="168002"/>
              </a:lnSpc>
              <a:spcBef>
                <a:spcPts val="0"/>
              </a:spcBef>
              <a:spcAft>
                <a:spcPts val="0"/>
              </a:spcAft>
              <a:buNone/>
            </a:pPr>
            <a:r>
              <a:rPr b="0" i="0" lang="en-US" sz="2994" u="none" cap="none" strike="noStrike">
                <a:solidFill>
                  <a:srgbClr val="152540"/>
                </a:solidFill>
                <a:latin typeface="Arial"/>
                <a:ea typeface="Arial"/>
                <a:cs typeface="Arial"/>
                <a:sym typeface="Arial"/>
              </a:rPr>
              <a:t>Arreglo Bidimensional</a:t>
            </a:r>
            <a:endParaRPr/>
          </a:p>
        </p:txBody>
      </p:sp>
      <p:sp>
        <p:nvSpPr>
          <p:cNvPr id="204" name="Google Shape;204;p21"/>
          <p:cNvSpPr txBox="1"/>
          <p:nvPr/>
        </p:nvSpPr>
        <p:spPr>
          <a:xfrm>
            <a:off x="1904222" y="2159120"/>
            <a:ext cx="13410644"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REPRESENTACIÓN GRÁFICA</a:t>
            </a:r>
            <a:endParaRPr/>
          </a:p>
        </p:txBody>
      </p:sp>
      <p:sp>
        <p:nvSpPr>
          <p:cNvPr id="205" name="Google Shape;205;p21"/>
          <p:cNvSpPr/>
          <p:nvPr/>
        </p:nvSpPr>
        <p:spPr>
          <a:xfrm>
            <a:off x="4312452" y="4967511"/>
            <a:ext cx="9218676" cy="4422171"/>
          </a:xfrm>
          <a:custGeom>
            <a:rect b="b" l="l" r="r" t="t"/>
            <a:pathLst>
              <a:path extrusionOk="0" h="5896229" w="12291568">
                <a:moveTo>
                  <a:pt x="0" y="0"/>
                </a:moveTo>
                <a:lnTo>
                  <a:pt x="12291568" y="0"/>
                </a:lnTo>
                <a:lnTo>
                  <a:pt x="12291568" y="5896229"/>
                </a:lnTo>
                <a:lnTo>
                  <a:pt x="0" y="589622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nvSpPr>
        <p:spPr>
          <a:xfrm>
            <a:off x="1904222" y="3672783"/>
            <a:ext cx="11461140" cy="695465"/>
          </a:xfrm>
          <a:prstGeom prst="rect">
            <a:avLst/>
          </a:prstGeom>
          <a:noFill/>
          <a:ln>
            <a:noFill/>
          </a:ln>
        </p:spPr>
        <p:txBody>
          <a:bodyPr anchorCtr="0" anchor="t" bIns="0" lIns="0" spcFirstLastPara="1" rIns="0" wrap="square" tIns="0">
            <a:spAutoFit/>
          </a:bodyPr>
          <a:lstStyle/>
          <a:p>
            <a:pPr indent="0" lvl="0" marL="0" marR="0" rtl="0" algn="l">
              <a:lnSpc>
                <a:spcPct val="168002"/>
              </a:lnSpc>
              <a:spcBef>
                <a:spcPts val="0"/>
              </a:spcBef>
              <a:spcAft>
                <a:spcPts val="0"/>
              </a:spcAft>
              <a:buNone/>
            </a:pPr>
            <a:r>
              <a:rPr b="0" i="0" lang="en-US" sz="2994" u="none" cap="none" strike="noStrike">
                <a:solidFill>
                  <a:srgbClr val="152540"/>
                </a:solidFill>
                <a:latin typeface="Arial"/>
                <a:ea typeface="Arial"/>
                <a:cs typeface="Arial"/>
                <a:sym typeface="Arial"/>
              </a:rPr>
              <a:t>Arreglo Multidimensional</a:t>
            </a:r>
            <a:endParaRPr/>
          </a:p>
        </p:txBody>
      </p:sp>
      <p:sp>
        <p:nvSpPr>
          <p:cNvPr id="215" name="Google Shape;215;p22"/>
          <p:cNvSpPr txBox="1"/>
          <p:nvPr/>
        </p:nvSpPr>
        <p:spPr>
          <a:xfrm>
            <a:off x="1904222" y="1234133"/>
            <a:ext cx="11630208" cy="12446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ARREGLOS EN JAVA</a:t>
            </a:r>
            <a:endParaRPr/>
          </a:p>
        </p:txBody>
      </p:sp>
      <p:sp>
        <p:nvSpPr>
          <p:cNvPr id="216" name="Google Shape;216;p22"/>
          <p:cNvSpPr txBox="1"/>
          <p:nvPr/>
        </p:nvSpPr>
        <p:spPr>
          <a:xfrm>
            <a:off x="1904222" y="2159120"/>
            <a:ext cx="13410644"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REPRESENTACIÓN GRÁFICA</a:t>
            </a:r>
            <a:endParaRPr/>
          </a:p>
        </p:txBody>
      </p:sp>
      <p:sp>
        <p:nvSpPr>
          <p:cNvPr id="217" name="Google Shape;217;p22"/>
          <p:cNvSpPr/>
          <p:nvPr/>
        </p:nvSpPr>
        <p:spPr>
          <a:xfrm>
            <a:off x="4960514" y="4821916"/>
            <a:ext cx="7377017" cy="4830223"/>
          </a:xfrm>
          <a:custGeom>
            <a:rect b="b" l="l" r="r" t="t"/>
            <a:pathLst>
              <a:path extrusionOk="0" h="6440297" w="9836023">
                <a:moveTo>
                  <a:pt x="0" y="0"/>
                </a:moveTo>
                <a:lnTo>
                  <a:pt x="9836023" y="0"/>
                </a:lnTo>
                <a:lnTo>
                  <a:pt x="9836023" y="6440297"/>
                </a:lnTo>
                <a:lnTo>
                  <a:pt x="0" y="644029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3"/>
          <p:cNvSpPr txBox="1"/>
          <p:nvPr/>
        </p:nvSpPr>
        <p:spPr>
          <a:xfrm>
            <a:off x="1717724" y="783758"/>
            <a:ext cx="15860592" cy="37671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OTROS CASOS DE ARREGLOS</a:t>
            </a:r>
            <a:endParaRPr/>
          </a:p>
          <a:p>
            <a:pPr indent="0" lvl="0" marL="0" marR="0" rtl="0" algn="just">
              <a:lnSpc>
                <a:spcPct val="167969"/>
              </a:lnSpc>
              <a:spcBef>
                <a:spcPts val="0"/>
              </a:spcBef>
              <a:spcAft>
                <a:spcPts val="0"/>
              </a:spcAft>
              <a:buNone/>
            </a:pPr>
            <a:r>
              <a:rPr b="0" i="0" lang="en-US" sz="2994" u="none" cap="none" strike="noStrike">
                <a:solidFill>
                  <a:srgbClr val="152540"/>
                </a:solidFill>
                <a:latin typeface="Arial"/>
                <a:ea typeface="Arial"/>
                <a:cs typeface="Arial"/>
                <a:sym typeface="Arial"/>
              </a:rPr>
              <a:t>Los strings en JavaScript son inmutables, pero ofrecen métodos poderosos para convertirse en arreglos, facilitando la manipulación de texto. Esta conversión es fundamental en el procesamiento de datos textuales y análisis léxico.</a:t>
            </a:r>
            <a:endParaRPr/>
          </a:p>
          <a:p>
            <a:pPr indent="0" lvl="0" marL="0" marR="0" rtl="0" algn="l">
              <a:lnSpc>
                <a:spcPct val="167969"/>
              </a:lnSpc>
              <a:spcBef>
                <a:spcPts val="0"/>
              </a:spcBef>
              <a:spcAft>
                <a:spcPts val="0"/>
              </a:spcAft>
              <a:buNone/>
            </a:pPr>
            <a:r>
              <a:t/>
            </a:r>
            <a:endParaRPr b="0" i="0" sz="2994" u="none" cap="none" strike="noStrike">
              <a:solidFill>
                <a:srgbClr val="152540"/>
              </a:solidFill>
              <a:latin typeface="Arial"/>
              <a:ea typeface="Arial"/>
              <a:cs typeface="Arial"/>
              <a:sym typeface="Arial"/>
            </a:endParaRPr>
          </a:p>
        </p:txBody>
      </p:sp>
      <p:sp>
        <p:nvSpPr>
          <p:cNvPr id="227" name="Google Shape;227;p23"/>
          <p:cNvSpPr txBox="1"/>
          <p:nvPr/>
        </p:nvSpPr>
        <p:spPr>
          <a:xfrm>
            <a:off x="1717724" y="4943475"/>
            <a:ext cx="15519398" cy="2135170"/>
          </a:xfrm>
          <a:prstGeom prst="rect">
            <a:avLst/>
          </a:prstGeom>
          <a:noFill/>
          <a:ln>
            <a:noFill/>
          </a:ln>
        </p:spPr>
        <p:txBody>
          <a:bodyPr anchorCtr="0" anchor="t" bIns="0" lIns="0" spcFirstLastPara="1" rIns="0" wrap="square" tIns="0">
            <a:spAutoFit/>
          </a:bodyPr>
          <a:lstStyle/>
          <a:p>
            <a:pPr indent="0" lvl="0" marL="0" marR="0" rtl="0" algn="just">
              <a:lnSpc>
                <a:spcPct val="168002"/>
              </a:lnSpc>
              <a:spcBef>
                <a:spcPts val="0"/>
              </a:spcBef>
              <a:spcAft>
                <a:spcPts val="0"/>
              </a:spcAft>
              <a:buNone/>
            </a:pPr>
            <a:r>
              <a:rPr b="0" i="0" lang="en-US" sz="2994" u="none" cap="none" strike="noStrike">
                <a:solidFill>
                  <a:srgbClr val="152540"/>
                </a:solidFill>
                <a:latin typeface="Arial"/>
                <a:ea typeface="Arial"/>
                <a:cs typeface="Arial"/>
                <a:sym typeface="Arial"/>
              </a:rPr>
              <a:t>La conversión de string a arreglo de caracteres es esencial para algoritmos que requieren manipulación a nivel de carácter, como palíndromos, cifrado o análisis de patrones. Es posible convertir un String en un arreglo de caracteres con el método .split(''):</a:t>
            </a:r>
            <a:endParaRPr/>
          </a:p>
        </p:txBody>
      </p:sp>
      <p:sp>
        <p:nvSpPr>
          <p:cNvPr id="228" name="Google Shape;228;p23"/>
          <p:cNvSpPr txBox="1"/>
          <p:nvPr/>
        </p:nvSpPr>
        <p:spPr>
          <a:xfrm>
            <a:off x="1717724" y="3846008"/>
            <a:ext cx="11274643"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STRING → CHAR[]</a:t>
            </a:r>
            <a:endParaRPr/>
          </a:p>
        </p:txBody>
      </p:sp>
      <p:sp>
        <p:nvSpPr>
          <p:cNvPr id="229" name="Google Shape;229;p23"/>
          <p:cNvSpPr/>
          <p:nvPr/>
        </p:nvSpPr>
        <p:spPr>
          <a:xfrm>
            <a:off x="4673665" y="7365124"/>
            <a:ext cx="8318659" cy="2490121"/>
          </a:xfrm>
          <a:custGeom>
            <a:rect b="b" l="l" r="r" t="t"/>
            <a:pathLst>
              <a:path extrusionOk="0" h="3320161" w="11091545">
                <a:moveTo>
                  <a:pt x="0" y="0"/>
                </a:moveTo>
                <a:lnTo>
                  <a:pt x="11091545" y="0"/>
                </a:lnTo>
                <a:lnTo>
                  <a:pt x="11091545" y="3320161"/>
                </a:lnTo>
                <a:lnTo>
                  <a:pt x="0" y="3320161"/>
                </a:lnTo>
                <a:lnTo>
                  <a:pt x="0" y="0"/>
                </a:lnTo>
                <a:close/>
              </a:path>
            </a:pathLst>
          </a:custGeom>
          <a:blipFill rotWithShape="1">
            <a:blip r:embed="rId3">
              <a:alphaModFix/>
            </a:blip>
            <a:stretch>
              <a:fillRect b="1"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nvSpPr>
        <p:spPr>
          <a:xfrm>
            <a:off x="1904222" y="1234133"/>
            <a:ext cx="14990969" cy="12446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OTROS CASOS DE ARREGLOS</a:t>
            </a:r>
            <a:endParaRPr/>
          </a:p>
        </p:txBody>
      </p:sp>
      <p:sp>
        <p:nvSpPr>
          <p:cNvPr id="239" name="Google Shape;239;p24"/>
          <p:cNvSpPr txBox="1"/>
          <p:nvPr/>
        </p:nvSpPr>
        <p:spPr>
          <a:xfrm>
            <a:off x="1904221" y="3672783"/>
            <a:ext cx="14473091" cy="2135170"/>
          </a:xfrm>
          <a:prstGeom prst="rect">
            <a:avLst/>
          </a:prstGeom>
          <a:noFill/>
          <a:ln>
            <a:noFill/>
          </a:ln>
        </p:spPr>
        <p:txBody>
          <a:bodyPr anchorCtr="0" anchor="t" bIns="0" lIns="0" spcFirstLastPara="1" rIns="0" wrap="square" tIns="0">
            <a:spAutoFit/>
          </a:bodyPr>
          <a:lstStyle/>
          <a:p>
            <a:pPr indent="0" lvl="0" marL="0" marR="0" rtl="0" algn="just">
              <a:lnSpc>
                <a:spcPct val="168002"/>
              </a:lnSpc>
              <a:spcBef>
                <a:spcPts val="0"/>
              </a:spcBef>
              <a:spcAft>
                <a:spcPts val="0"/>
              </a:spcAft>
              <a:buNone/>
            </a:pPr>
            <a:r>
              <a:rPr b="0" i="0" lang="en-US" sz="2994" u="none" cap="none" strike="noStrike">
                <a:solidFill>
                  <a:srgbClr val="152540"/>
                </a:solidFill>
                <a:latin typeface="Arial"/>
                <a:ea typeface="Arial"/>
                <a:cs typeface="Arial"/>
                <a:sym typeface="Arial"/>
              </a:rPr>
              <a:t>La tokenización de strings es crucial en el procesamiento de lenguaje natural y análisis sintáctico, permitiendo separar un texto en unidades significativas. Es posible convertir un String en un arreglo de palabras con el método .split(' '):</a:t>
            </a:r>
            <a:endParaRPr/>
          </a:p>
        </p:txBody>
      </p:sp>
      <p:sp>
        <p:nvSpPr>
          <p:cNvPr id="240" name="Google Shape;240;p24"/>
          <p:cNvSpPr txBox="1"/>
          <p:nvPr/>
        </p:nvSpPr>
        <p:spPr>
          <a:xfrm>
            <a:off x="1904222" y="2159120"/>
            <a:ext cx="11274643" cy="1114425"/>
          </a:xfrm>
          <a:prstGeom prst="rect">
            <a:avLst/>
          </a:prstGeom>
          <a:noFill/>
          <a:ln>
            <a:noFill/>
          </a:ln>
        </p:spPr>
        <p:txBody>
          <a:bodyPr anchorCtr="0" anchor="t" bIns="0" lIns="0" spcFirstLastPara="1" rIns="0" wrap="square" tIns="0">
            <a:spAutoFit/>
          </a:bodyPr>
          <a:lstStyle/>
          <a:p>
            <a:pPr indent="0" lvl="0" marL="0" marR="0" rtl="0" algn="l">
              <a:lnSpc>
                <a:spcPct val="167955"/>
              </a:lnSpc>
              <a:spcBef>
                <a:spcPts val="0"/>
              </a:spcBef>
              <a:spcAft>
                <a:spcPts val="0"/>
              </a:spcAft>
              <a:buNone/>
            </a:pPr>
            <a:r>
              <a:rPr b="0" i="0" lang="en-US" sz="4500" u="none" cap="none" strike="noStrike">
                <a:solidFill>
                  <a:srgbClr val="152540"/>
                </a:solidFill>
                <a:latin typeface="Arial"/>
                <a:ea typeface="Arial"/>
                <a:cs typeface="Arial"/>
                <a:sym typeface="Arial"/>
              </a:rPr>
              <a:t>STRING → STRING[]</a:t>
            </a:r>
            <a:endParaRPr/>
          </a:p>
        </p:txBody>
      </p:sp>
      <p:sp>
        <p:nvSpPr>
          <p:cNvPr id="241" name="Google Shape;241;p24"/>
          <p:cNvSpPr/>
          <p:nvPr/>
        </p:nvSpPr>
        <p:spPr>
          <a:xfrm>
            <a:off x="4987975" y="6407216"/>
            <a:ext cx="8312087" cy="2321814"/>
          </a:xfrm>
          <a:custGeom>
            <a:rect b="b" l="l" r="r" t="t"/>
            <a:pathLst>
              <a:path extrusionOk="0" h="3095752" w="11082782">
                <a:moveTo>
                  <a:pt x="0" y="0"/>
                </a:moveTo>
                <a:lnTo>
                  <a:pt x="11082782" y="0"/>
                </a:lnTo>
                <a:lnTo>
                  <a:pt x="11082782" y="3095752"/>
                </a:lnTo>
                <a:lnTo>
                  <a:pt x="0" y="309575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nvSpPr>
        <p:spPr>
          <a:xfrm>
            <a:off x="3383176" y="762812"/>
            <a:ext cx="13155150"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ESTRUCTURAS DE DATOS</a:t>
            </a:r>
            <a:endParaRPr/>
          </a:p>
        </p:txBody>
      </p:sp>
      <p:sp>
        <p:nvSpPr>
          <p:cNvPr id="251" name="Google Shape;251;p25"/>
          <p:cNvSpPr txBox="1"/>
          <p:nvPr/>
        </p:nvSpPr>
        <p:spPr>
          <a:xfrm>
            <a:off x="1160163" y="2074931"/>
            <a:ext cx="16568279" cy="7601760"/>
          </a:xfrm>
          <a:prstGeom prst="rect">
            <a:avLst/>
          </a:prstGeom>
          <a:noFill/>
          <a:ln>
            <a:noFill/>
          </a:ln>
        </p:spPr>
        <p:txBody>
          <a:bodyPr anchorCtr="0" anchor="t" bIns="0" lIns="0" spcFirstLastPara="1" rIns="0" wrap="square" tIns="0">
            <a:spAutoFit/>
          </a:bodyPr>
          <a:lstStyle/>
          <a:p>
            <a:pPr indent="0" lvl="0" marL="0" marR="0" rtl="0" algn="just">
              <a:lnSpc>
                <a:spcPct val="168024"/>
              </a:lnSpc>
              <a:spcBef>
                <a:spcPts val="0"/>
              </a:spcBef>
              <a:spcAft>
                <a:spcPts val="0"/>
              </a:spcAft>
              <a:buNone/>
            </a:pPr>
            <a:r>
              <a:rPr b="0" i="0" lang="en-US" sz="2799" u="none" cap="none" strike="noStrike">
                <a:solidFill>
                  <a:srgbClr val="000000"/>
                </a:solidFill>
                <a:latin typeface="Arial"/>
                <a:ea typeface="Arial"/>
                <a:cs typeface="Arial"/>
                <a:sym typeface="Arial"/>
              </a:rPr>
              <a:t>JavaScript ofrece diversas estructuras de datos nativas que optimizan diferentes tipos de operaciones. La elección de la estructura correcta impacta significativamente en el rendimiento y la claridad del código.</a:t>
            </a:r>
            <a:endParaRPr/>
          </a:p>
          <a:p>
            <a:pPr indent="0" lvl="0" marL="0" marR="0" rtl="0" algn="just">
              <a:lnSpc>
                <a:spcPct val="168024"/>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just">
              <a:lnSpc>
                <a:spcPct val="168024"/>
              </a:lnSpc>
              <a:spcBef>
                <a:spcPts val="0"/>
              </a:spcBef>
              <a:spcAft>
                <a:spcPts val="0"/>
              </a:spcAft>
              <a:buNone/>
            </a:pPr>
            <a:r>
              <a:rPr b="1" i="0" lang="en-US" sz="2799" u="none" cap="none" strike="noStrike">
                <a:solidFill>
                  <a:srgbClr val="000000"/>
                </a:solidFill>
                <a:latin typeface="Arial"/>
                <a:ea typeface="Arial"/>
                <a:cs typeface="Arial"/>
                <a:sym typeface="Arial"/>
              </a:rPr>
              <a:t>MAP</a:t>
            </a:r>
            <a:endParaRPr/>
          </a:p>
          <a:p>
            <a:pPr indent="0" lvl="0" marL="0" marR="0" rtl="0" algn="just">
              <a:lnSpc>
                <a:spcPct val="168024"/>
              </a:lnSpc>
              <a:spcBef>
                <a:spcPts val="0"/>
              </a:spcBef>
              <a:spcAft>
                <a:spcPts val="0"/>
              </a:spcAft>
              <a:buNone/>
            </a:pPr>
            <a:r>
              <a:rPr b="0" i="0" lang="en-US" sz="2799" u="none" cap="none" strike="noStrike">
                <a:solidFill>
                  <a:srgbClr val="000000"/>
                </a:solidFill>
                <a:latin typeface="Arial"/>
                <a:ea typeface="Arial"/>
                <a:cs typeface="Arial"/>
                <a:sym typeface="Arial"/>
              </a:rPr>
              <a:t>El objeto Map es una estructura de datos introducida en ES6 que mejora las limitaciones de los objetos tradicionales como contenedores clave-valor. Mantiene el orden de inserción y permite claves de cualquier tipo, no solo strings.</a:t>
            </a:r>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Características: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Almacena pares clave-valor</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Permite acceso eficiente a los valores mediante claves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Rendimiento rápido para operaciones de búsqueda</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Métodos propios para manipulación de datos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Nativo en JavaScript ES6+</a:t>
            </a:r>
            <a:endParaRPr/>
          </a:p>
        </p:txBody>
      </p:sp>
      <p:sp>
        <p:nvSpPr>
          <p:cNvPr id="252" name="Google Shape;252;p25"/>
          <p:cNvSpPr/>
          <p:nvPr/>
        </p:nvSpPr>
        <p:spPr>
          <a:xfrm>
            <a:off x="11023786" y="6673344"/>
            <a:ext cx="5722620" cy="2798159"/>
          </a:xfrm>
          <a:custGeom>
            <a:rect b="b" l="l" r="r" t="t"/>
            <a:pathLst>
              <a:path extrusionOk="0" h="3730879" w="7630160">
                <a:moveTo>
                  <a:pt x="0" y="0"/>
                </a:moveTo>
                <a:lnTo>
                  <a:pt x="7630160" y="0"/>
                </a:lnTo>
                <a:lnTo>
                  <a:pt x="7630160" y="3730879"/>
                </a:lnTo>
                <a:lnTo>
                  <a:pt x="0" y="373087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6"/>
          <p:cNvSpPr txBox="1"/>
          <p:nvPr/>
        </p:nvSpPr>
        <p:spPr>
          <a:xfrm>
            <a:off x="3383176" y="762812"/>
            <a:ext cx="13155150"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ESTRUCTURAS DE DATOS</a:t>
            </a:r>
            <a:endParaRPr/>
          </a:p>
        </p:txBody>
      </p:sp>
      <p:sp>
        <p:nvSpPr>
          <p:cNvPr id="262" name="Google Shape;262;p26"/>
          <p:cNvSpPr txBox="1"/>
          <p:nvPr/>
        </p:nvSpPr>
        <p:spPr>
          <a:xfrm>
            <a:off x="1105571" y="1950262"/>
            <a:ext cx="16759347" cy="4666853"/>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OBJECT</a:t>
            </a:r>
            <a:endParaRPr/>
          </a:p>
          <a:p>
            <a:pPr indent="0" lvl="0" marL="0" marR="0" rtl="0" algn="just">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Los objetos son la estructura de datos fundamental en JavaScript, sirviendo como base para la mayoría de construcciones del lenguaje. Son especialmente útiles para representar entidades del mundo real con propiedades y métodos.</a:t>
            </a:r>
            <a:endParaRPr/>
          </a:p>
          <a:p>
            <a:pPr indent="0" lvl="0" marL="0" marR="0" rtl="0" algn="l">
              <a:lnSpc>
                <a:spcPct val="12000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Características: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Almacena pares clave-valor</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Permite acceso eficiente a los valores mediante claves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Las claves son strings o símbolos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Métodos propios para manipulación de datos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Estructura fundamental en JavaScript</a:t>
            </a:r>
            <a:endParaRPr/>
          </a:p>
        </p:txBody>
      </p:sp>
      <p:sp>
        <p:nvSpPr>
          <p:cNvPr id="263" name="Google Shape;263;p26"/>
          <p:cNvSpPr/>
          <p:nvPr/>
        </p:nvSpPr>
        <p:spPr>
          <a:xfrm>
            <a:off x="10651615" y="6383487"/>
            <a:ext cx="3938969" cy="3268504"/>
          </a:xfrm>
          <a:custGeom>
            <a:rect b="b" l="l" r="r" t="t"/>
            <a:pathLst>
              <a:path extrusionOk="0" h="4358005" w="5251958">
                <a:moveTo>
                  <a:pt x="0" y="0"/>
                </a:moveTo>
                <a:lnTo>
                  <a:pt x="5251958" y="0"/>
                </a:lnTo>
                <a:lnTo>
                  <a:pt x="5251958" y="4358005"/>
                </a:lnTo>
                <a:lnTo>
                  <a:pt x="0" y="4358005"/>
                </a:lnTo>
                <a:lnTo>
                  <a:pt x="0" y="0"/>
                </a:lnTo>
                <a:close/>
              </a:path>
            </a:pathLst>
          </a:custGeom>
          <a:blipFill rotWithShape="1">
            <a:blip r:embed="rId3">
              <a:alphaModFix/>
            </a:blip>
            <a:stretch>
              <a:fillRect b="1" l="0" r="1" t="0"/>
            </a:stretch>
          </a:blipFill>
          <a:ln>
            <a:noFill/>
          </a:ln>
        </p:spPr>
      </p:sp>
      <p:sp>
        <p:nvSpPr>
          <p:cNvPr id="264" name="Google Shape;264;p26"/>
          <p:cNvSpPr txBox="1"/>
          <p:nvPr/>
        </p:nvSpPr>
        <p:spPr>
          <a:xfrm>
            <a:off x="11269873" y="4667286"/>
            <a:ext cx="5989427" cy="476214"/>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JSON: JavaScript Object Notation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7"/>
          <p:cNvSpPr txBox="1"/>
          <p:nvPr/>
        </p:nvSpPr>
        <p:spPr>
          <a:xfrm>
            <a:off x="3383176" y="762812"/>
            <a:ext cx="13155150"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ESTRUCTURAS DE DATOS</a:t>
            </a:r>
            <a:endParaRPr/>
          </a:p>
        </p:txBody>
      </p:sp>
      <p:sp>
        <p:nvSpPr>
          <p:cNvPr id="274" name="Google Shape;274;p27"/>
          <p:cNvSpPr txBox="1"/>
          <p:nvPr/>
        </p:nvSpPr>
        <p:spPr>
          <a:xfrm>
            <a:off x="1050981" y="2168627"/>
            <a:ext cx="16827585" cy="4559921"/>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ARRAY</a:t>
            </a:r>
            <a:endParaRPr/>
          </a:p>
          <a:p>
            <a:pPr indent="0" lvl="0" marL="0" marR="0" rtl="0" algn="just">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Los arreglos en JavaScript son objetos especializados optimizados para almacenar secuencias ordenadas. Su naturaleza dinámica y los métodos integrados los convierten en una herramienta versátil para el manejo de colecciones.</a:t>
            </a:r>
            <a:endParaRPr/>
          </a:p>
          <a:p>
            <a:pPr indent="0" lvl="0" marL="0" marR="0" rtl="0" algn="just">
              <a:lnSpc>
                <a:spcPct val="12000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Características: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Una estructura de datos dinámica que permite almacenar elementos de cualquier tipo</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Su tamaño puede cambiar dinámicamente</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Métodos propios para manipulación de datos</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 Nativo en JavaScript</a:t>
            </a:r>
            <a:endParaRPr/>
          </a:p>
          <a:p>
            <a:pPr indent="0" lvl="0" marL="0" marR="0" rtl="0" algn="just">
              <a:lnSpc>
                <a:spcPct val="168024"/>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sp>
        <p:nvSpPr>
          <p:cNvPr id="275" name="Google Shape;275;p27"/>
          <p:cNvSpPr/>
          <p:nvPr/>
        </p:nvSpPr>
        <p:spPr>
          <a:xfrm>
            <a:off x="6099308" y="6728548"/>
            <a:ext cx="5648801" cy="2770251"/>
          </a:xfrm>
          <a:custGeom>
            <a:rect b="b" l="l" r="r" t="t"/>
            <a:pathLst>
              <a:path extrusionOk="0" h="3693668" w="7531735">
                <a:moveTo>
                  <a:pt x="0" y="0"/>
                </a:moveTo>
                <a:lnTo>
                  <a:pt x="7531735" y="0"/>
                </a:lnTo>
                <a:lnTo>
                  <a:pt x="7531735" y="3693668"/>
                </a:lnTo>
                <a:lnTo>
                  <a:pt x="0" y="369366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nvSpPr>
        <p:spPr>
          <a:xfrm>
            <a:off x="2674821" y="762812"/>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285" name="Google Shape;285;p28"/>
          <p:cNvSpPr txBox="1"/>
          <p:nvPr/>
        </p:nvSpPr>
        <p:spPr>
          <a:xfrm>
            <a:off x="1091681" y="1816912"/>
            <a:ext cx="16336510" cy="7537127"/>
          </a:xfrm>
          <a:prstGeom prst="rect">
            <a:avLst/>
          </a:prstGeom>
          <a:noFill/>
          <a:ln>
            <a:noFill/>
          </a:ln>
        </p:spPr>
        <p:txBody>
          <a:bodyPr anchorCtr="0" anchor="t" bIns="0" lIns="0" spcFirstLastPara="1" rIns="0" wrap="square" tIns="0">
            <a:spAutoFit/>
          </a:bodyPr>
          <a:lstStyle/>
          <a:p>
            <a:pPr indent="0" lvl="0" marL="0" marR="0" rtl="0" algn="just">
              <a:lnSpc>
                <a:spcPct val="168024"/>
              </a:lnSpc>
              <a:spcBef>
                <a:spcPts val="0"/>
              </a:spcBef>
              <a:spcAft>
                <a:spcPts val="0"/>
              </a:spcAft>
              <a:buNone/>
            </a:pPr>
            <a:r>
              <a:rPr b="0" i="0" lang="en-US" sz="2799" u="none" cap="none" strike="noStrike">
                <a:solidFill>
                  <a:srgbClr val="000000"/>
                </a:solidFill>
                <a:latin typeface="Arial"/>
                <a:ea typeface="Arial"/>
                <a:cs typeface="Arial"/>
                <a:sym typeface="Arial"/>
              </a:rPr>
              <a:t>La iteración es un concepto fundamental en programación que permite ejecutar código repetidamente sobre colecciones de datos. JavaScript ofrece múltiples paradigmas de iteración, desde estructuras imperativas tradicionales hasta enfoques funcionales modernos.</a:t>
            </a:r>
            <a:endParaRPr/>
          </a:p>
          <a:p>
            <a:pPr indent="0" lvl="0" marL="0" marR="0" rtl="0" algn="just">
              <a:lnSpc>
                <a:spcPct val="168024"/>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CLÁSICA</a:t>
            </a:r>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Las estructuras de iteración clásicas proporcionan control granular sobre el flujo de ejecución y son fundamentales para algoritmos que requieren manipulación precisa de índices o condiciones complejas de terminación.</a:t>
            </a:r>
            <a:endParaRPr/>
          </a:p>
          <a:p>
            <a:pPr indent="0" lvl="0" marL="0" marR="0" rtl="0" algn="l">
              <a:lnSpc>
                <a:spcPct val="12000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Iteración utilizando estructuras cíclicas:</a:t>
            </a:r>
            <a:endParaRPr/>
          </a:p>
          <a:p>
            <a:pPr indent="0" lvl="0" marL="0" marR="0" rtl="0" algn="l">
              <a:lnSpc>
                <a:spcPct val="120007"/>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for</a:t>
            </a:r>
            <a:r>
              <a:rPr b="0" i="0" lang="en-US" sz="2799" u="none" cap="none" strike="noStrike">
                <a:solidFill>
                  <a:srgbClr val="000000"/>
                </a:solidFill>
                <a:latin typeface="Arial"/>
                <a:ea typeface="Arial"/>
                <a:cs typeface="Arial"/>
                <a:sym typeface="Arial"/>
              </a:rPr>
              <a:t>: Control total sobre inicialización, condición y incremento</a:t>
            </a:r>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for...of</a:t>
            </a:r>
            <a:r>
              <a:rPr b="0" i="0" lang="en-US" sz="2799" u="none" cap="none" strike="noStrike">
                <a:solidFill>
                  <a:srgbClr val="000000"/>
                </a:solidFill>
                <a:latin typeface="Arial"/>
                <a:ea typeface="Arial"/>
                <a:cs typeface="Arial"/>
                <a:sym typeface="Arial"/>
              </a:rPr>
              <a:t>: Iteración sobre elementos iterables (arreglos, strings, etc.)</a:t>
            </a:r>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for...in</a:t>
            </a:r>
            <a:r>
              <a:rPr b="0" i="0" lang="en-US" sz="2799" u="none" cap="none" strike="noStrike">
                <a:solidFill>
                  <a:srgbClr val="000000"/>
                </a:solidFill>
                <a:latin typeface="Arial"/>
                <a:ea typeface="Arial"/>
                <a:cs typeface="Arial"/>
                <a:sym typeface="Arial"/>
              </a:rPr>
              <a:t>: Iteración sobre propiedades enumerables de objetos</a:t>
            </a:r>
            <a:endParaRPr/>
          </a:p>
          <a:p>
            <a:pPr indent="0" lvl="0" marL="0" marR="0" rtl="0" algn="l">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while</a:t>
            </a:r>
            <a:r>
              <a:rPr b="0" i="0" lang="en-US" sz="2799" u="none" cap="none" strike="noStrike">
                <a:solidFill>
                  <a:srgbClr val="000000"/>
                </a:solidFill>
                <a:latin typeface="Arial"/>
                <a:ea typeface="Arial"/>
                <a:cs typeface="Arial"/>
                <a:sym typeface="Arial"/>
              </a:rPr>
              <a:t>: Iteración basada en condiciones, útil cuando no se conoce el número de iteraciones</a:t>
            </a:r>
            <a:endParaRPr/>
          </a:p>
          <a:p>
            <a:pPr indent="0" lvl="0" marL="0" marR="0" rtl="0" algn="just">
              <a:lnSpc>
                <a:spcPct val="168024"/>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9"/>
          <p:cNvSpPr txBox="1"/>
          <p:nvPr/>
        </p:nvSpPr>
        <p:spPr>
          <a:xfrm>
            <a:off x="951454" y="3093552"/>
            <a:ext cx="16954409" cy="1013722"/>
          </a:xfrm>
          <a:prstGeom prst="rect">
            <a:avLst/>
          </a:prstGeom>
          <a:noFill/>
          <a:ln>
            <a:noFill/>
          </a:ln>
        </p:spPr>
        <p:txBody>
          <a:bodyPr anchorCtr="0" anchor="t" bIns="0" lIns="0" spcFirstLastPara="1" rIns="0" wrap="square" tIns="0">
            <a:spAutoFit/>
          </a:bodyPr>
          <a:lstStyle/>
          <a:p>
            <a:pPr indent="0" lvl="0" marL="0" marR="0" rtl="0" algn="l">
              <a:lnSpc>
                <a:spcPct val="168027"/>
              </a:lnSpc>
              <a:spcBef>
                <a:spcPts val="0"/>
              </a:spcBef>
              <a:spcAft>
                <a:spcPts val="0"/>
              </a:spcAft>
              <a:buNone/>
            </a:pPr>
            <a:r>
              <a:rPr b="1" i="0" lang="en-US" sz="3600" u="none" cap="none" strike="noStrike">
                <a:solidFill>
                  <a:srgbClr val="000000"/>
                </a:solidFill>
                <a:latin typeface="Arial"/>
                <a:ea typeface="Arial"/>
                <a:cs typeface="Arial"/>
                <a:sym typeface="Arial"/>
              </a:rPr>
              <a:t>for</a:t>
            </a:r>
            <a:r>
              <a:rPr b="0" i="0" lang="en-US" sz="3600" u="none" cap="none" strike="noStrike">
                <a:solidFill>
                  <a:srgbClr val="000000"/>
                </a:solidFill>
                <a:latin typeface="Arial"/>
                <a:ea typeface="Arial"/>
                <a:cs typeface="Arial"/>
                <a:sym typeface="Arial"/>
              </a:rPr>
              <a:t>: Este método es útil cuando se necesita acceder a los elementos por posición.</a:t>
            </a:r>
            <a:endParaRPr/>
          </a:p>
        </p:txBody>
      </p:sp>
      <p:sp>
        <p:nvSpPr>
          <p:cNvPr id="295" name="Google Shape;295;p29"/>
          <p:cNvSpPr txBox="1"/>
          <p:nvPr/>
        </p:nvSpPr>
        <p:spPr>
          <a:xfrm>
            <a:off x="2674821" y="1929213"/>
            <a:ext cx="12938358" cy="1114425"/>
          </a:xfrm>
          <a:prstGeom prst="rect">
            <a:avLst/>
          </a:prstGeom>
          <a:noFill/>
          <a:ln>
            <a:noFill/>
          </a:ln>
        </p:spPr>
        <p:txBody>
          <a:bodyPr anchorCtr="0" anchor="t" bIns="0" lIns="0" spcFirstLastPara="1" rIns="0" wrap="square" tIns="0">
            <a:spAutoFit/>
          </a:bodyPr>
          <a:lstStyle/>
          <a:p>
            <a:pPr indent="0" lvl="0" marL="0" marR="0" rtl="0" algn="ctr">
              <a:lnSpc>
                <a:spcPct val="167955"/>
              </a:lnSpc>
              <a:spcBef>
                <a:spcPts val="0"/>
              </a:spcBef>
              <a:spcAft>
                <a:spcPts val="0"/>
              </a:spcAft>
              <a:buNone/>
            </a:pPr>
            <a:r>
              <a:rPr b="0" i="0" lang="en-US" sz="4500" u="none" cap="none" strike="noStrike">
                <a:solidFill>
                  <a:srgbClr val="000000"/>
                </a:solidFill>
                <a:latin typeface="Arial"/>
                <a:ea typeface="Arial"/>
                <a:cs typeface="Arial"/>
                <a:sym typeface="Arial"/>
              </a:rPr>
              <a:t>ARREGLOS</a:t>
            </a:r>
            <a:endParaRPr/>
          </a:p>
        </p:txBody>
      </p:sp>
      <p:sp>
        <p:nvSpPr>
          <p:cNvPr id="296" name="Google Shape;296;p29"/>
          <p:cNvSpPr txBox="1"/>
          <p:nvPr/>
        </p:nvSpPr>
        <p:spPr>
          <a:xfrm>
            <a:off x="2674821" y="762812"/>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297" name="Google Shape;297;p29"/>
          <p:cNvSpPr/>
          <p:nvPr/>
        </p:nvSpPr>
        <p:spPr>
          <a:xfrm>
            <a:off x="4750079" y="5065159"/>
            <a:ext cx="8334089" cy="3179826"/>
          </a:xfrm>
          <a:custGeom>
            <a:rect b="b" l="l" r="r" t="t"/>
            <a:pathLst>
              <a:path extrusionOk="0" h="4239768" w="11112119">
                <a:moveTo>
                  <a:pt x="0" y="0"/>
                </a:moveTo>
                <a:lnTo>
                  <a:pt x="11112119" y="0"/>
                </a:lnTo>
                <a:lnTo>
                  <a:pt x="11112119" y="4239768"/>
                </a:lnTo>
                <a:lnTo>
                  <a:pt x="0" y="4239768"/>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0"/>
          <p:cNvSpPr txBox="1"/>
          <p:nvPr/>
        </p:nvSpPr>
        <p:spPr>
          <a:xfrm>
            <a:off x="1234171" y="3549041"/>
            <a:ext cx="15819657" cy="1013722"/>
          </a:xfrm>
          <a:prstGeom prst="rect">
            <a:avLst/>
          </a:prstGeom>
          <a:noFill/>
          <a:ln>
            <a:noFill/>
          </a:ln>
        </p:spPr>
        <p:txBody>
          <a:bodyPr anchorCtr="0" anchor="t" bIns="0" lIns="0" spcFirstLastPara="1" rIns="0" wrap="square" tIns="0">
            <a:spAutoFit/>
          </a:bodyPr>
          <a:lstStyle/>
          <a:p>
            <a:pPr indent="0" lvl="0" marL="0" marR="0" rtl="0" algn="l">
              <a:lnSpc>
                <a:spcPct val="168027"/>
              </a:lnSpc>
              <a:spcBef>
                <a:spcPts val="0"/>
              </a:spcBef>
              <a:spcAft>
                <a:spcPts val="0"/>
              </a:spcAft>
              <a:buNone/>
            </a:pPr>
            <a:r>
              <a:rPr b="1" i="0" lang="en-US" sz="3600" u="none" cap="none" strike="noStrike">
                <a:solidFill>
                  <a:srgbClr val="000000"/>
                </a:solidFill>
                <a:latin typeface="Arial"/>
                <a:ea typeface="Arial"/>
                <a:cs typeface="Arial"/>
                <a:sym typeface="Arial"/>
              </a:rPr>
              <a:t>for...of</a:t>
            </a:r>
            <a:r>
              <a:rPr b="0" i="0" lang="en-US" sz="3600" u="none" cap="none" strike="noStrike">
                <a:solidFill>
                  <a:srgbClr val="000000"/>
                </a:solidFill>
                <a:latin typeface="Arial"/>
                <a:ea typeface="Arial"/>
                <a:cs typeface="Arial"/>
                <a:sym typeface="Arial"/>
              </a:rPr>
              <a:t>: Este método es más sencillo y limpio para recorrer elementos.</a:t>
            </a:r>
            <a:endParaRPr/>
          </a:p>
        </p:txBody>
      </p:sp>
      <p:sp>
        <p:nvSpPr>
          <p:cNvPr id="307" name="Google Shape;307;p30"/>
          <p:cNvSpPr txBox="1"/>
          <p:nvPr/>
        </p:nvSpPr>
        <p:spPr>
          <a:xfrm>
            <a:off x="2674821" y="1929213"/>
            <a:ext cx="12938358" cy="1114425"/>
          </a:xfrm>
          <a:prstGeom prst="rect">
            <a:avLst/>
          </a:prstGeom>
          <a:noFill/>
          <a:ln>
            <a:noFill/>
          </a:ln>
        </p:spPr>
        <p:txBody>
          <a:bodyPr anchorCtr="0" anchor="t" bIns="0" lIns="0" spcFirstLastPara="1" rIns="0" wrap="square" tIns="0">
            <a:spAutoFit/>
          </a:bodyPr>
          <a:lstStyle/>
          <a:p>
            <a:pPr indent="0" lvl="0" marL="0" marR="0" rtl="0" algn="ctr">
              <a:lnSpc>
                <a:spcPct val="167955"/>
              </a:lnSpc>
              <a:spcBef>
                <a:spcPts val="0"/>
              </a:spcBef>
              <a:spcAft>
                <a:spcPts val="0"/>
              </a:spcAft>
              <a:buNone/>
            </a:pPr>
            <a:r>
              <a:rPr b="0" i="0" lang="en-US" sz="4500" u="none" cap="none" strike="noStrike">
                <a:solidFill>
                  <a:srgbClr val="000000"/>
                </a:solidFill>
                <a:latin typeface="Arial"/>
                <a:ea typeface="Arial"/>
                <a:cs typeface="Arial"/>
                <a:sym typeface="Arial"/>
              </a:rPr>
              <a:t>ARREGLOS</a:t>
            </a:r>
            <a:endParaRPr/>
          </a:p>
        </p:txBody>
      </p:sp>
      <p:sp>
        <p:nvSpPr>
          <p:cNvPr id="308" name="Google Shape;308;p30"/>
          <p:cNvSpPr txBox="1"/>
          <p:nvPr/>
        </p:nvSpPr>
        <p:spPr>
          <a:xfrm>
            <a:off x="2674821" y="762812"/>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309" name="Google Shape;309;p30"/>
          <p:cNvSpPr/>
          <p:nvPr/>
        </p:nvSpPr>
        <p:spPr>
          <a:xfrm>
            <a:off x="10434079" y="4781838"/>
            <a:ext cx="6825234" cy="3435096"/>
          </a:xfrm>
          <a:custGeom>
            <a:rect b="b" l="l" r="r" t="t"/>
            <a:pathLst>
              <a:path extrusionOk="0" h="4580128" w="9100312">
                <a:moveTo>
                  <a:pt x="0" y="0"/>
                </a:moveTo>
                <a:lnTo>
                  <a:pt x="9100312" y="0"/>
                </a:lnTo>
                <a:lnTo>
                  <a:pt x="9100312" y="4580128"/>
                </a:lnTo>
                <a:lnTo>
                  <a:pt x="0" y="4580128"/>
                </a:lnTo>
                <a:lnTo>
                  <a:pt x="0" y="0"/>
                </a:lnTo>
                <a:close/>
              </a:path>
            </a:pathLst>
          </a:custGeom>
          <a:blipFill rotWithShape="1">
            <a:blip r:embed="rId3">
              <a:alphaModFix/>
            </a:blip>
            <a:stretch>
              <a:fillRect b="1" l="0" r="0" t="0"/>
            </a:stretch>
          </a:blipFill>
          <a:ln>
            <a:noFill/>
          </a:ln>
        </p:spPr>
      </p:sp>
      <p:sp>
        <p:nvSpPr>
          <p:cNvPr id="310" name="Google Shape;310;p30"/>
          <p:cNvSpPr/>
          <p:nvPr/>
        </p:nvSpPr>
        <p:spPr>
          <a:xfrm>
            <a:off x="249945" y="4781838"/>
            <a:ext cx="8334089" cy="3179826"/>
          </a:xfrm>
          <a:custGeom>
            <a:rect b="b" l="l" r="r" t="t"/>
            <a:pathLst>
              <a:path extrusionOk="0" h="4239768" w="11112119">
                <a:moveTo>
                  <a:pt x="0" y="0"/>
                </a:moveTo>
                <a:lnTo>
                  <a:pt x="11112119" y="0"/>
                </a:lnTo>
                <a:lnTo>
                  <a:pt x="11112119" y="4239768"/>
                </a:lnTo>
                <a:lnTo>
                  <a:pt x="0" y="423976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1"/>
          <p:cNvSpPr txBox="1"/>
          <p:nvPr/>
        </p:nvSpPr>
        <p:spPr>
          <a:xfrm>
            <a:off x="917335" y="3194199"/>
            <a:ext cx="16811107" cy="1013722"/>
          </a:xfrm>
          <a:prstGeom prst="rect">
            <a:avLst/>
          </a:prstGeom>
          <a:noFill/>
          <a:ln>
            <a:noFill/>
          </a:ln>
        </p:spPr>
        <p:txBody>
          <a:bodyPr anchorCtr="0" anchor="t" bIns="0" lIns="0" spcFirstLastPara="1" rIns="0" wrap="square" tIns="0">
            <a:spAutoFit/>
          </a:bodyPr>
          <a:lstStyle/>
          <a:p>
            <a:pPr indent="0" lvl="0" marL="0" marR="0" rtl="0" algn="l">
              <a:lnSpc>
                <a:spcPct val="168027"/>
              </a:lnSpc>
              <a:spcBef>
                <a:spcPts val="0"/>
              </a:spcBef>
              <a:spcAft>
                <a:spcPts val="0"/>
              </a:spcAft>
              <a:buNone/>
            </a:pPr>
            <a:r>
              <a:rPr b="1" i="0" lang="en-US" sz="3600" u="none" cap="none" strike="noStrike">
                <a:solidFill>
                  <a:srgbClr val="000000"/>
                </a:solidFill>
                <a:latin typeface="Arial"/>
                <a:ea typeface="Arial"/>
                <a:cs typeface="Arial"/>
                <a:sym typeface="Arial"/>
              </a:rPr>
              <a:t>while</a:t>
            </a:r>
            <a:r>
              <a:rPr b="0" i="0" lang="en-US" sz="3600" u="none" cap="none" strike="noStrike">
                <a:solidFill>
                  <a:srgbClr val="000000"/>
                </a:solidFill>
                <a:latin typeface="Arial"/>
                <a:ea typeface="Arial"/>
                <a:cs typeface="Arial"/>
                <a:sym typeface="Arial"/>
              </a:rPr>
              <a:t>: Se usa cuando no se sabe de antemano cuántas iteraciones se necesitan.</a:t>
            </a:r>
            <a:endParaRPr/>
          </a:p>
        </p:txBody>
      </p:sp>
      <p:sp>
        <p:nvSpPr>
          <p:cNvPr id="320" name="Google Shape;320;p31"/>
          <p:cNvSpPr txBox="1"/>
          <p:nvPr/>
        </p:nvSpPr>
        <p:spPr>
          <a:xfrm>
            <a:off x="2674821" y="1929213"/>
            <a:ext cx="12938358" cy="1114425"/>
          </a:xfrm>
          <a:prstGeom prst="rect">
            <a:avLst/>
          </a:prstGeom>
          <a:noFill/>
          <a:ln>
            <a:noFill/>
          </a:ln>
        </p:spPr>
        <p:txBody>
          <a:bodyPr anchorCtr="0" anchor="t" bIns="0" lIns="0" spcFirstLastPara="1" rIns="0" wrap="square" tIns="0">
            <a:spAutoFit/>
          </a:bodyPr>
          <a:lstStyle/>
          <a:p>
            <a:pPr indent="0" lvl="0" marL="0" marR="0" rtl="0" algn="ctr">
              <a:lnSpc>
                <a:spcPct val="167955"/>
              </a:lnSpc>
              <a:spcBef>
                <a:spcPts val="0"/>
              </a:spcBef>
              <a:spcAft>
                <a:spcPts val="0"/>
              </a:spcAft>
              <a:buNone/>
            </a:pPr>
            <a:r>
              <a:rPr b="0" i="0" lang="en-US" sz="4500" u="none" cap="none" strike="noStrike">
                <a:solidFill>
                  <a:srgbClr val="000000"/>
                </a:solidFill>
                <a:latin typeface="Arial"/>
                <a:ea typeface="Arial"/>
                <a:cs typeface="Arial"/>
                <a:sym typeface="Arial"/>
              </a:rPr>
              <a:t>ARREGLOS</a:t>
            </a:r>
            <a:endParaRPr/>
          </a:p>
        </p:txBody>
      </p:sp>
      <p:sp>
        <p:nvSpPr>
          <p:cNvPr id="321" name="Google Shape;321;p31"/>
          <p:cNvSpPr txBox="1"/>
          <p:nvPr/>
        </p:nvSpPr>
        <p:spPr>
          <a:xfrm>
            <a:off x="2674821" y="762812"/>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322" name="Google Shape;322;p31"/>
          <p:cNvSpPr/>
          <p:nvPr/>
        </p:nvSpPr>
        <p:spPr>
          <a:xfrm>
            <a:off x="9633489" y="4598446"/>
            <a:ext cx="6142577" cy="4124325"/>
          </a:xfrm>
          <a:custGeom>
            <a:rect b="b" l="l" r="r" t="t"/>
            <a:pathLst>
              <a:path extrusionOk="0" h="5499100" w="8190103">
                <a:moveTo>
                  <a:pt x="0" y="0"/>
                </a:moveTo>
                <a:lnTo>
                  <a:pt x="8190103" y="0"/>
                </a:lnTo>
                <a:lnTo>
                  <a:pt x="8190103" y="5499100"/>
                </a:lnTo>
                <a:lnTo>
                  <a:pt x="0" y="5499100"/>
                </a:lnTo>
                <a:lnTo>
                  <a:pt x="0" y="0"/>
                </a:lnTo>
                <a:close/>
              </a:path>
            </a:pathLst>
          </a:custGeom>
          <a:blipFill rotWithShape="1">
            <a:blip r:embed="rId3">
              <a:alphaModFix/>
            </a:blip>
            <a:stretch>
              <a:fillRect b="0" l="0" r="0" t="0"/>
            </a:stretch>
          </a:blipFill>
          <a:ln>
            <a:noFill/>
          </a:ln>
        </p:spPr>
      </p:sp>
      <p:sp>
        <p:nvSpPr>
          <p:cNvPr id="323" name="Google Shape;323;p31"/>
          <p:cNvSpPr/>
          <p:nvPr/>
        </p:nvSpPr>
        <p:spPr>
          <a:xfrm>
            <a:off x="809868" y="5143500"/>
            <a:ext cx="8334089" cy="3179826"/>
          </a:xfrm>
          <a:custGeom>
            <a:rect b="b" l="l" r="r" t="t"/>
            <a:pathLst>
              <a:path extrusionOk="0" h="4239768" w="11112119">
                <a:moveTo>
                  <a:pt x="0" y="0"/>
                </a:moveTo>
                <a:lnTo>
                  <a:pt x="11112119" y="0"/>
                </a:lnTo>
                <a:lnTo>
                  <a:pt x="11112119" y="4239768"/>
                </a:lnTo>
                <a:lnTo>
                  <a:pt x="0" y="423976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2"/>
          <p:cNvSpPr txBox="1"/>
          <p:nvPr/>
        </p:nvSpPr>
        <p:spPr>
          <a:xfrm>
            <a:off x="2674821" y="762812"/>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333" name="Google Shape;333;p32"/>
          <p:cNvSpPr txBox="1"/>
          <p:nvPr/>
        </p:nvSpPr>
        <p:spPr>
          <a:xfrm>
            <a:off x="1234171" y="3070214"/>
            <a:ext cx="16071190" cy="3809952"/>
          </a:xfrm>
          <a:prstGeom prst="rect">
            <a:avLst/>
          </a:prstGeom>
          <a:noFill/>
          <a:ln>
            <a:noFill/>
          </a:ln>
        </p:spPr>
        <p:txBody>
          <a:bodyPr anchorCtr="0" anchor="t" bIns="0" lIns="0" spcFirstLastPara="1" rIns="0" wrap="square" tIns="0">
            <a:spAutoFit/>
          </a:bodyPr>
          <a:lstStyle/>
          <a:p>
            <a:pPr indent="0" lvl="0" marL="0" marR="0" rtl="0" algn="just">
              <a:lnSpc>
                <a:spcPct val="168095"/>
              </a:lnSpc>
              <a:spcBef>
                <a:spcPts val="0"/>
              </a:spcBef>
              <a:spcAft>
                <a:spcPts val="0"/>
              </a:spcAft>
              <a:buNone/>
            </a:pPr>
            <a:r>
              <a:rPr b="0" i="0" lang="en-US" sz="2799" u="none" cap="none" strike="noStrike">
                <a:solidFill>
                  <a:srgbClr val="000000"/>
                </a:solidFill>
                <a:latin typeface="Arial"/>
                <a:ea typeface="Arial"/>
                <a:cs typeface="Arial"/>
                <a:sym typeface="Arial"/>
              </a:rPr>
              <a:t>JavaScript incorpora el paradigma de programación funcional a través de métodos de arreglo que tratan las funciones como ciudadanos de primera clase. Estos métodos promueven código más declarativo y menos propenso a errores.</a:t>
            </a:r>
            <a:endParaRPr/>
          </a:p>
          <a:p>
            <a:pPr indent="0" lvl="0" marL="0" marR="0" rtl="0" algn="just">
              <a:lnSpc>
                <a:spcPct val="168095"/>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just">
              <a:lnSpc>
                <a:spcPct val="168095"/>
              </a:lnSpc>
              <a:spcBef>
                <a:spcPts val="0"/>
              </a:spcBef>
              <a:spcAft>
                <a:spcPts val="0"/>
              </a:spcAft>
              <a:buNone/>
            </a:pPr>
            <a:r>
              <a:rPr b="1" i="0" lang="en-US" sz="2799" u="none" cap="none" strike="noStrike">
                <a:solidFill>
                  <a:srgbClr val="000000"/>
                </a:solidFill>
                <a:latin typeface="Arial"/>
                <a:ea typeface="Arial"/>
                <a:cs typeface="Arial"/>
                <a:sym typeface="Arial"/>
              </a:rPr>
              <a:t>forEach</a:t>
            </a:r>
            <a:r>
              <a:rPr b="0" i="0" lang="en-US" sz="2799" u="none" cap="none" strike="noStrike">
                <a:solidFill>
                  <a:srgbClr val="000000"/>
                </a:solidFill>
                <a:latin typeface="Arial"/>
                <a:ea typeface="Arial"/>
                <a:cs typeface="Arial"/>
                <a:sym typeface="Arial"/>
              </a:rPr>
              <a:t>: Ideal para efectos secundarios como logging o modificación de elementos externos. No retorna un nuevo arreglo.</a:t>
            </a:r>
            <a:endParaRPr/>
          </a:p>
        </p:txBody>
      </p:sp>
      <p:sp>
        <p:nvSpPr>
          <p:cNvPr id="334" name="Google Shape;334;p32"/>
          <p:cNvSpPr txBox="1"/>
          <p:nvPr/>
        </p:nvSpPr>
        <p:spPr>
          <a:xfrm>
            <a:off x="2674821" y="1929213"/>
            <a:ext cx="12938358" cy="1114425"/>
          </a:xfrm>
          <a:prstGeom prst="rect">
            <a:avLst/>
          </a:prstGeom>
          <a:noFill/>
          <a:ln>
            <a:noFill/>
          </a:ln>
        </p:spPr>
        <p:txBody>
          <a:bodyPr anchorCtr="0" anchor="t" bIns="0" lIns="0" spcFirstLastPara="1" rIns="0" wrap="square" tIns="0">
            <a:spAutoFit/>
          </a:bodyPr>
          <a:lstStyle/>
          <a:p>
            <a:pPr indent="0" lvl="0" marL="0" marR="0" rtl="0" algn="ctr">
              <a:lnSpc>
                <a:spcPct val="167955"/>
              </a:lnSpc>
              <a:spcBef>
                <a:spcPts val="0"/>
              </a:spcBef>
              <a:spcAft>
                <a:spcPts val="0"/>
              </a:spcAft>
              <a:buNone/>
            </a:pPr>
            <a:r>
              <a:rPr b="0" i="0" lang="en-US" sz="4500" u="none" cap="none" strike="noStrike">
                <a:solidFill>
                  <a:srgbClr val="000000"/>
                </a:solidFill>
                <a:latin typeface="Arial"/>
                <a:ea typeface="Arial"/>
                <a:cs typeface="Arial"/>
                <a:sym typeface="Arial"/>
              </a:rPr>
              <a:t>ARRAYLIST</a:t>
            </a:r>
            <a:endParaRPr/>
          </a:p>
        </p:txBody>
      </p:sp>
      <p:sp>
        <p:nvSpPr>
          <p:cNvPr id="335" name="Google Shape;335;p32"/>
          <p:cNvSpPr/>
          <p:nvPr/>
        </p:nvSpPr>
        <p:spPr>
          <a:xfrm>
            <a:off x="9344999" y="7099241"/>
            <a:ext cx="7960328" cy="2305717"/>
          </a:xfrm>
          <a:custGeom>
            <a:rect b="b" l="l" r="r" t="t"/>
            <a:pathLst>
              <a:path extrusionOk="0" h="3074289" w="10613771">
                <a:moveTo>
                  <a:pt x="0" y="0"/>
                </a:moveTo>
                <a:lnTo>
                  <a:pt x="10613771" y="0"/>
                </a:lnTo>
                <a:lnTo>
                  <a:pt x="10613771" y="3074289"/>
                </a:lnTo>
                <a:lnTo>
                  <a:pt x="0" y="3074289"/>
                </a:lnTo>
                <a:lnTo>
                  <a:pt x="0" y="0"/>
                </a:lnTo>
                <a:close/>
              </a:path>
            </a:pathLst>
          </a:custGeom>
          <a:blipFill rotWithShape="1">
            <a:blip r:embed="rId3">
              <a:alphaModFix/>
            </a:blip>
            <a:stretch>
              <a:fillRect b="0" l="0" r="0" t="0"/>
            </a:stretch>
          </a:blipFill>
          <a:ln>
            <a:noFill/>
          </a:ln>
        </p:spPr>
      </p:sp>
      <p:sp>
        <p:nvSpPr>
          <p:cNvPr id="336" name="Google Shape;336;p32"/>
          <p:cNvSpPr/>
          <p:nvPr/>
        </p:nvSpPr>
        <p:spPr>
          <a:xfrm>
            <a:off x="809868" y="6662194"/>
            <a:ext cx="8334089" cy="3179826"/>
          </a:xfrm>
          <a:custGeom>
            <a:rect b="b" l="l" r="r" t="t"/>
            <a:pathLst>
              <a:path extrusionOk="0" h="4239768" w="11112119">
                <a:moveTo>
                  <a:pt x="0" y="0"/>
                </a:moveTo>
                <a:lnTo>
                  <a:pt x="11112119" y="0"/>
                </a:lnTo>
                <a:lnTo>
                  <a:pt x="11112119" y="4239768"/>
                </a:lnTo>
                <a:lnTo>
                  <a:pt x="0" y="423976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3"/>
          <p:cNvSpPr txBox="1"/>
          <p:nvPr/>
        </p:nvSpPr>
        <p:spPr>
          <a:xfrm>
            <a:off x="1232652" y="2422767"/>
            <a:ext cx="15819657" cy="1789319"/>
          </a:xfrm>
          <a:prstGeom prst="rect">
            <a:avLst/>
          </a:prstGeom>
          <a:noFill/>
          <a:ln>
            <a:noFill/>
          </a:ln>
        </p:spPr>
        <p:txBody>
          <a:bodyPr anchorCtr="0" anchor="t" bIns="0" lIns="0" spcFirstLastPara="1" rIns="0" wrap="square" tIns="0">
            <a:spAutoFit/>
          </a:bodyPr>
          <a:lstStyle/>
          <a:p>
            <a:pPr indent="0" lvl="0" marL="0" marR="0" rtl="0" algn="just">
              <a:lnSpc>
                <a:spcPct val="168027"/>
              </a:lnSpc>
              <a:spcBef>
                <a:spcPts val="0"/>
              </a:spcBef>
              <a:spcAft>
                <a:spcPts val="0"/>
              </a:spcAft>
              <a:buNone/>
            </a:pPr>
            <a:r>
              <a:rPr b="1" i="0" lang="en-US" sz="3600" u="none" cap="none" strike="noStrike">
                <a:solidFill>
                  <a:srgbClr val="000000"/>
                </a:solidFill>
                <a:latin typeface="Arial"/>
                <a:ea typeface="Arial"/>
                <a:cs typeface="Arial"/>
                <a:sym typeface="Arial"/>
              </a:rPr>
              <a:t>map</a:t>
            </a:r>
            <a:r>
              <a:rPr b="0" i="0" lang="en-US" sz="3600" u="none" cap="none" strike="noStrike">
                <a:solidFill>
                  <a:srgbClr val="000000"/>
                </a:solidFill>
                <a:latin typeface="Arial"/>
                <a:ea typeface="Arial"/>
                <a:cs typeface="Arial"/>
                <a:sym typeface="Arial"/>
              </a:rPr>
              <a:t>: Fundamental para transformaciones inmutables. Crea un nuevo arreglo aplicando una función a cada elemento.</a:t>
            </a:r>
            <a:endParaRPr/>
          </a:p>
        </p:txBody>
      </p:sp>
      <p:sp>
        <p:nvSpPr>
          <p:cNvPr id="346" name="Google Shape;346;p33"/>
          <p:cNvSpPr txBox="1"/>
          <p:nvPr/>
        </p:nvSpPr>
        <p:spPr>
          <a:xfrm>
            <a:off x="2673302" y="309428"/>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347" name="Google Shape;347;p33"/>
          <p:cNvSpPr txBox="1"/>
          <p:nvPr/>
        </p:nvSpPr>
        <p:spPr>
          <a:xfrm>
            <a:off x="2673302" y="1440035"/>
            <a:ext cx="12938358" cy="1114425"/>
          </a:xfrm>
          <a:prstGeom prst="rect">
            <a:avLst/>
          </a:prstGeom>
          <a:noFill/>
          <a:ln>
            <a:noFill/>
          </a:ln>
        </p:spPr>
        <p:txBody>
          <a:bodyPr anchorCtr="0" anchor="t" bIns="0" lIns="0" spcFirstLastPara="1" rIns="0" wrap="square" tIns="0">
            <a:spAutoFit/>
          </a:bodyPr>
          <a:lstStyle/>
          <a:p>
            <a:pPr indent="0" lvl="0" marL="0" marR="0" rtl="0" algn="ctr">
              <a:lnSpc>
                <a:spcPct val="167955"/>
              </a:lnSpc>
              <a:spcBef>
                <a:spcPts val="0"/>
              </a:spcBef>
              <a:spcAft>
                <a:spcPts val="0"/>
              </a:spcAft>
              <a:buNone/>
            </a:pPr>
            <a:r>
              <a:rPr b="0" i="0" lang="en-US" sz="4500" u="none" cap="none" strike="noStrike">
                <a:solidFill>
                  <a:srgbClr val="000000"/>
                </a:solidFill>
                <a:latin typeface="Arial"/>
                <a:ea typeface="Arial"/>
                <a:cs typeface="Arial"/>
                <a:sym typeface="Arial"/>
              </a:rPr>
              <a:t>ARRAYLIST</a:t>
            </a:r>
            <a:endParaRPr/>
          </a:p>
        </p:txBody>
      </p:sp>
      <p:sp>
        <p:nvSpPr>
          <p:cNvPr id="348" name="Google Shape;348;p33"/>
          <p:cNvSpPr/>
          <p:nvPr/>
        </p:nvSpPr>
        <p:spPr>
          <a:xfrm>
            <a:off x="4450370" y="4424621"/>
            <a:ext cx="8346948" cy="2063115"/>
          </a:xfrm>
          <a:custGeom>
            <a:rect b="b" l="l" r="r" t="t"/>
            <a:pathLst>
              <a:path extrusionOk="0" h="2750820" w="11129264">
                <a:moveTo>
                  <a:pt x="0" y="0"/>
                </a:moveTo>
                <a:lnTo>
                  <a:pt x="11129264" y="0"/>
                </a:lnTo>
                <a:lnTo>
                  <a:pt x="11129264" y="2750820"/>
                </a:lnTo>
                <a:lnTo>
                  <a:pt x="0" y="2750820"/>
                </a:lnTo>
                <a:lnTo>
                  <a:pt x="0" y="0"/>
                </a:lnTo>
                <a:close/>
              </a:path>
            </a:pathLst>
          </a:custGeom>
          <a:blipFill rotWithShape="1">
            <a:blip r:embed="rId3">
              <a:alphaModFix/>
            </a:blip>
            <a:stretch>
              <a:fillRect b="1" l="0" r="0" t="0"/>
            </a:stretch>
          </a:blipFill>
          <a:ln>
            <a:noFill/>
          </a:ln>
        </p:spPr>
      </p:sp>
      <p:sp>
        <p:nvSpPr>
          <p:cNvPr id="349" name="Google Shape;349;p33"/>
          <p:cNvSpPr txBox="1"/>
          <p:nvPr/>
        </p:nvSpPr>
        <p:spPr>
          <a:xfrm>
            <a:off x="1232652" y="6462121"/>
            <a:ext cx="15819657" cy="1789319"/>
          </a:xfrm>
          <a:prstGeom prst="rect">
            <a:avLst/>
          </a:prstGeom>
          <a:noFill/>
          <a:ln>
            <a:noFill/>
          </a:ln>
        </p:spPr>
        <p:txBody>
          <a:bodyPr anchorCtr="0" anchor="t" bIns="0" lIns="0" spcFirstLastPara="1" rIns="0" wrap="square" tIns="0">
            <a:spAutoFit/>
          </a:bodyPr>
          <a:lstStyle/>
          <a:p>
            <a:pPr indent="0" lvl="0" marL="0" marR="0" rtl="0" algn="just">
              <a:lnSpc>
                <a:spcPct val="168027"/>
              </a:lnSpc>
              <a:spcBef>
                <a:spcPts val="0"/>
              </a:spcBef>
              <a:spcAft>
                <a:spcPts val="0"/>
              </a:spcAft>
              <a:buNone/>
            </a:pPr>
            <a:r>
              <a:rPr b="1" i="0" lang="en-US" sz="3600" u="none" cap="none" strike="noStrike">
                <a:solidFill>
                  <a:srgbClr val="000000"/>
                </a:solidFill>
                <a:latin typeface="Arial"/>
                <a:ea typeface="Arial"/>
                <a:cs typeface="Arial"/>
                <a:sym typeface="Arial"/>
              </a:rPr>
              <a:t>filter</a:t>
            </a:r>
            <a:r>
              <a:rPr b="0" i="0" lang="en-US" sz="3600" u="none" cap="none" strike="noStrike">
                <a:solidFill>
                  <a:srgbClr val="000000"/>
                </a:solidFill>
                <a:latin typeface="Arial"/>
                <a:ea typeface="Arial"/>
                <a:cs typeface="Arial"/>
                <a:sym typeface="Arial"/>
              </a:rPr>
              <a:t>: Implementa filtrado declarativo basado en predicados. Retorna un nuevo arreglo con elementos que cumplen la condición.</a:t>
            </a:r>
            <a:endParaRPr/>
          </a:p>
        </p:txBody>
      </p:sp>
      <p:sp>
        <p:nvSpPr>
          <p:cNvPr id="350" name="Google Shape;350;p33"/>
          <p:cNvSpPr/>
          <p:nvPr/>
        </p:nvSpPr>
        <p:spPr>
          <a:xfrm>
            <a:off x="5296531" y="8463976"/>
            <a:ext cx="6986492" cy="1448086"/>
          </a:xfrm>
          <a:custGeom>
            <a:rect b="b" l="l" r="r" t="t"/>
            <a:pathLst>
              <a:path extrusionOk="0" h="1930781" w="9315323">
                <a:moveTo>
                  <a:pt x="0" y="0"/>
                </a:moveTo>
                <a:lnTo>
                  <a:pt x="9315323" y="0"/>
                </a:lnTo>
                <a:lnTo>
                  <a:pt x="9315323" y="1930781"/>
                </a:lnTo>
                <a:lnTo>
                  <a:pt x="0" y="1930781"/>
                </a:lnTo>
                <a:lnTo>
                  <a:pt x="0" y="0"/>
                </a:lnTo>
                <a:close/>
              </a:path>
            </a:pathLst>
          </a:custGeom>
          <a:blipFill rotWithShape="1">
            <a:blip r:embed="rId4">
              <a:alphaModFix/>
            </a:blip>
            <a:stretch>
              <a:fillRect b="2"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4"/>
          <p:cNvSpPr txBox="1"/>
          <p:nvPr/>
        </p:nvSpPr>
        <p:spPr>
          <a:xfrm>
            <a:off x="2674821" y="762812"/>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360" name="Google Shape;360;p34"/>
          <p:cNvSpPr txBox="1"/>
          <p:nvPr/>
        </p:nvSpPr>
        <p:spPr>
          <a:xfrm>
            <a:off x="1002159" y="3143274"/>
            <a:ext cx="16521565" cy="3432926"/>
          </a:xfrm>
          <a:prstGeom prst="rect">
            <a:avLst/>
          </a:prstGeom>
          <a:noFill/>
          <a:ln>
            <a:noFill/>
          </a:ln>
        </p:spPr>
        <p:txBody>
          <a:bodyPr anchorCtr="0" anchor="t" bIns="0" lIns="0" spcFirstLastPara="1" rIns="0" wrap="square" tIns="0">
            <a:spAutoFit/>
          </a:bodyPr>
          <a:lstStyle/>
          <a:p>
            <a:pPr indent="0" lvl="0" marL="0" marR="0" rtl="0" algn="just">
              <a:lnSpc>
                <a:spcPct val="168060"/>
              </a:lnSpc>
              <a:spcBef>
                <a:spcPts val="0"/>
              </a:spcBef>
              <a:spcAft>
                <a:spcPts val="0"/>
              </a:spcAft>
              <a:buNone/>
            </a:pPr>
            <a:r>
              <a:rPr b="0" i="0" lang="en-US" sz="2799" u="none" cap="none" strike="noStrike">
                <a:solidFill>
                  <a:srgbClr val="000000"/>
                </a:solidFill>
                <a:latin typeface="Arial"/>
                <a:ea typeface="Arial"/>
                <a:cs typeface="Arial"/>
                <a:sym typeface="Arial"/>
              </a:rPr>
              <a:t>JavaScript implementa el protocolo de iteración a través del concepto de iterables e iteradores, proporcionando una interfaz uniforme para recorrer diferentes tipos de colecciones. Este sistema es la base de construcciones modernas como for...of y destructuring.</a:t>
            </a:r>
            <a:endParaRPr/>
          </a:p>
          <a:p>
            <a:pPr indent="0" lvl="0" marL="0" marR="0" rtl="0" algn="just">
              <a:lnSpc>
                <a:spcPct val="168060"/>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just">
              <a:lnSpc>
                <a:spcPct val="168060"/>
              </a:lnSpc>
              <a:spcBef>
                <a:spcPts val="0"/>
              </a:spcBef>
              <a:spcAft>
                <a:spcPts val="0"/>
              </a:spcAft>
              <a:buNone/>
            </a:pPr>
            <a:r>
              <a:rPr b="1" i="0" lang="en-US" sz="2799" u="none" cap="none" strike="noStrike">
                <a:solidFill>
                  <a:srgbClr val="000000"/>
                </a:solidFill>
                <a:latin typeface="Arial"/>
                <a:ea typeface="Arial"/>
                <a:cs typeface="Arial"/>
                <a:sym typeface="Arial"/>
              </a:rPr>
              <a:t>for...in</a:t>
            </a:r>
            <a:r>
              <a:rPr b="0" i="0" lang="en-US" sz="2799" u="none" cap="none" strike="noStrike">
                <a:solidFill>
                  <a:srgbClr val="000000"/>
                </a:solidFill>
                <a:latin typeface="Arial"/>
                <a:ea typeface="Arial"/>
                <a:cs typeface="Arial"/>
                <a:sym typeface="Arial"/>
              </a:rPr>
              <a:t>: Específicamente diseñado para enumerar propiedades enumerables de objetos. Es importante notar que itera sobre claves, no valores.</a:t>
            </a:r>
            <a:endParaRPr/>
          </a:p>
        </p:txBody>
      </p:sp>
      <p:sp>
        <p:nvSpPr>
          <p:cNvPr id="361" name="Google Shape;361;p34"/>
          <p:cNvSpPr txBox="1"/>
          <p:nvPr/>
        </p:nvSpPr>
        <p:spPr>
          <a:xfrm>
            <a:off x="2674821" y="1929213"/>
            <a:ext cx="12938358" cy="1264771"/>
          </a:xfrm>
          <a:prstGeom prst="rect">
            <a:avLst/>
          </a:prstGeom>
          <a:noFill/>
          <a:ln>
            <a:noFill/>
          </a:ln>
        </p:spPr>
        <p:txBody>
          <a:bodyPr anchorCtr="0" anchor="t" bIns="0" lIns="0" spcFirstLastPara="1" rIns="0" wrap="square" tIns="0">
            <a:spAutoFit/>
          </a:bodyPr>
          <a:lstStyle/>
          <a:p>
            <a:pPr indent="0" lvl="0" marL="0" marR="0" rtl="0" algn="ctr">
              <a:lnSpc>
                <a:spcPct val="167955"/>
              </a:lnSpc>
              <a:spcBef>
                <a:spcPts val="0"/>
              </a:spcBef>
              <a:spcAft>
                <a:spcPts val="0"/>
              </a:spcAft>
              <a:buNone/>
            </a:pPr>
            <a:r>
              <a:rPr b="0" i="0" lang="en-US" sz="4500" u="none" cap="none" strike="noStrike">
                <a:solidFill>
                  <a:srgbClr val="000000"/>
                </a:solidFill>
                <a:latin typeface="Arial"/>
                <a:ea typeface="Arial"/>
                <a:cs typeface="Arial"/>
                <a:sym typeface="Arial"/>
              </a:rPr>
              <a:t>ITERADORES JAVASCRIPT</a:t>
            </a:r>
            <a:endParaRPr/>
          </a:p>
        </p:txBody>
      </p:sp>
      <p:sp>
        <p:nvSpPr>
          <p:cNvPr id="362" name="Google Shape;362;p34"/>
          <p:cNvSpPr/>
          <p:nvPr/>
        </p:nvSpPr>
        <p:spPr>
          <a:xfrm>
            <a:off x="5452571" y="6866336"/>
            <a:ext cx="7382828" cy="2567940"/>
          </a:xfrm>
          <a:custGeom>
            <a:rect b="b" l="l" r="r" t="t"/>
            <a:pathLst>
              <a:path extrusionOk="0" h="3423920" w="9843770">
                <a:moveTo>
                  <a:pt x="0" y="0"/>
                </a:moveTo>
                <a:lnTo>
                  <a:pt x="9843770" y="0"/>
                </a:lnTo>
                <a:lnTo>
                  <a:pt x="9843770" y="3423920"/>
                </a:lnTo>
                <a:lnTo>
                  <a:pt x="0" y="34239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5"/>
          <p:cNvSpPr txBox="1"/>
          <p:nvPr/>
        </p:nvSpPr>
        <p:spPr>
          <a:xfrm>
            <a:off x="947450" y="3674201"/>
            <a:ext cx="8060072" cy="2603468"/>
          </a:xfrm>
          <a:prstGeom prst="rect">
            <a:avLst/>
          </a:prstGeom>
          <a:noFill/>
          <a:ln>
            <a:noFill/>
          </a:ln>
        </p:spPr>
        <p:txBody>
          <a:bodyPr anchorCtr="0" anchor="t" bIns="0" lIns="0" spcFirstLastPara="1" rIns="0" wrap="square" tIns="0">
            <a:spAutoFit/>
          </a:bodyPr>
          <a:lstStyle/>
          <a:p>
            <a:pPr indent="0" lvl="0" marL="0" marR="0" rtl="0" algn="just">
              <a:lnSpc>
                <a:spcPct val="168095"/>
              </a:lnSpc>
              <a:spcBef>
                <a:spcPts val="0"/>
              </a:spcBef>
              <a:spcAft>
                <a:spcPts val="0"/>
              </a:spcAft>
              <a:buNone/>
            </a:pPr>
            <a:r>
              <a:rPr b="1" i="0" lang="en-US" sz="2799" u="none" cap="none" strike="noStrike">
                <a:solidFill>
                  <a:srgbClr val="000000"/>
                </a:solidFill>
                <a:latin typeface="Arial"/>
                <a:ea typeface="Arial"/>
                <a:cs typeface="Arial"/>
                <a:sym typeface="Arial"/>
              </a:rPr>
              <a:t>Iterador con Symbol.iterator</a:t>
            </a:r>
            <a:r>
              <a:rPr b="0" i="0" lang="en-US" sz="2799" u="none" cap="none" strike="noStrike">
                <a:solidFill>
                  <a:srgbClr val="000000"/>
                </a:solidFill>
                <a:latin typeface="Arial"/>
                <a:ea typeface="Arial"/>
                <a:cs typeface="Arial"/>
                <a:sym typeface="Arial"/>
              </a:rPr>
              <a:t>: Permite crear iteradores personalizados implementando el protocolo de iteración. Útil para estructuras de datos customizadas.</a:t>
            </a:r>
            <a:endParaRPr/>
          </a:p>
        </p:txBody>
      </p:sp>
      <p:sp>
        <p:nvSpPr>
          <p:cNvPr id="372" name="Google Shape;372;p35"/>
          <p:cNvSpPr txBox="1"/>
          <p:nvPr/>
        </p:nvSpPr>
        <p:spPr>
          <a:xfrm>
            <a:off x="2674821" y="762812"/>
            <a:ext cx="12938358" cy="1244600"/>
          </a:xfrm>
          <a:prstGeom prst="rect">
            <a:avLst/>
          </a:prstGeom>
          <a:noFill/>
          <a:ln>
            <a:noFill/>
          </a:ln>
        </p:spPr>
        <p:txBody>
          <a:bodyPr anchorCtr="0" anchor="t" bIns="0" lIns="0" spcFirstLastPara="1" rIns="0" wrap="square" tIns="0">
            <a:spAutoFit/>
          </a:bodyPr>
          <a:lstStyle/>
          <a:p>
            <a:pPr indent="0" lvl="0" marL="0" marR="0" rtl="0" algn="ctr">
              <a:lnSpc>
                <a:spcPct val="168013"/>
              </a:lnSpc>
              <a:spcBef>
                <a:spcPts val="0"/>
              </a:spcBef>
              <a:spcAft>
                <a:spcPts val="0"/>
              </a:spcAft>
              <a:buNone/>
            </a:pPr>
            <a:r>
              <a:rPr b="0" i="0" lang="en-US" sz="4999" u="none" cap="none" strike="noStrike">
                <a:solidFill>
                  <a:srgbClr val="000000"/>
                </a:solidFill>
                <a:latin typeface="Arial"/>
                <a:ea typeface="Arial"/>
                <a:cs typeface="Arial"/>
                <a:sym typeface="Arial"/>
              </a:rPr>
              <a:t>ITERACIÓN</a:t>
            </a:r>
            <a:endParaRPr/>
          </a:p>
        </p:txBody>
      </p:sp>
      <p:sp>
        <p:nvSpPr>
          <p:cNvPr id="373" name="Google Shape;373;p35"/>
          <p:cNvSpPr txBox="1"/>
          <p:nvPr/>
        </p:nvSpPr>
        <p:spPr>
          <a:xfrm>
            <a:off x="2674821" y="1929213"/>
            <a:ext cx="12938358" cy="1264771"/>
          </a:xfrm>
          <a:prstGeom prst="rect">
            <a:avLst/>
          </a:prstGeom>
          <a:noFill/>
          <a:ln>
            <a:noFill/>
          </a:ln>
        </p:spPr>
        <p:txBody>
          <a:bodyPr anchorCtr="0" anchor="t" bIns="0" lIns="0" spcFirstLastPara="1" rIns="0" wrap="square" tIns="0">
            <a:spAutoFit/>
          </a:bodyPr>
          <a:lstStyle/>
          <a:p>
            <a:pPr indent="0" lvl="0" marL="0" marR="0" rtl="0" algn="ctr">
              <a:lnSpc>
                <a:spcPct val="167955"/>
              </a:lnSpc>
              <a:spcBef>
                <a:spcPts val="0"/>
              </a:spcBef>
              <a:spcAft>
                <a:spcPts val="0"/>
              </a:spcAft>
              <a:buNone/>
            </a:pPr>
            <a:r>
              <a:rPr b="0" i="0" lang="en-US" sz="4500" u="none" cap="none" strike="noStrike">
                <a:solidFill>
                  <a:srgbClr val="000000"/>
                </a:solidFill>
                <a:latin typeface="Arial"/>
                <a:ea typeface="Arial"/>
                <a:cs typeface="Arial"/>
                <a:sym typeface="Arial"/>
              </a:rPr>
              <a:t>ITERADORES JAVASCRIPT</a:t>
            </a:r>
            <a:endParaRPr/>
          </a:p>
        </p:txBody>
      </p:sp>
      <p:sp>
        <p:nvSpPr>
          <p:cNvPr id="374" name="Google Shape;374;p35"/>
          <p:cNvSpPr/>
          <p:nvPr/>
        </p:nvSpPr>
        <p:spPr>
          <a:xfrm>
            <a:off x="9993015" y="5799198"/>
            <a:ext cx="7244143" cy="3833050"/>
          </a:xfrm>
          <a:custGeom>
            <a:rect b="b" l="l" r="r" t="t"/>
            <a:pathLst>
              <a:path extrusionOk="0" h="5110734" w="9658858">
                <a:moveTo>
                  <a:pt x="0" y="0"/>
                </a:moveTo>
                <a:lnTo>
                  <a:pt x="9658858" y="0"/>
                </a:lnTo>
                <a:lnTo>
                  <a:pt x="9658858" y="5110734"/>
                </a:lnTo>
                <a:lnTo>
                  <a:pt x="0" y="511073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6"/>
          <p:cNvSpPr txBox="1"/>
          <p:nvPr/>
        </p:nvSpPr>
        <p:spPr>
          <a:xfrm>
            <a:off x="1685858" y="428915"/>
            <a:ext cx="13865029" cy="12446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LECTURA DE ARCHIVOS</a:t>
            </a:r>
            <a:endParaRPr/>
          </a:p>
        </p:txBody>
      </p:sp>
      <p:sp>
        <p:nvSpPr>
          <p:cNvPr id="384" name="Google Shape;384;p36"/>
          <p:cNvSpPr txBox="1"/>
          <p:nvPr/>
        </p:nvSpPr>
        <p:spPr>
          <a:xfrm>
            <a:off x="1685858" y="1511590"/>
            <a:ext cx="15455732" cy="4298442"/>
          </a:xfrm>
          <a:prstGeom prst="rect">
            <a:avLst/>
          </a:prstGeom>
          <a:noFill/>
          <a:ln>
            <a:noFill/>
          </a:ln>
        </p:spPr>
        <p:txBody>
          <a:bodyPr anchorCtr="0" anchor="t" bIns="0" lIns="0" spcFirstLastPara="1" rIns="0" wrap="square" tIns="0">
            <a:spAutoFit/>
          </a:bodyPr>
          <a:lstStyle/>
          <a:p>
            <a:pPr indent="0" lvl="0" marL="0" marR="0" rtl="0" algn="l">
              <a:lnSpc>
                <a:spcPct val="167958"/>
              </a:lnSpc>
              <a:spcBef>
                <a:spcPts val="0"/>
              </a:spcBef>
              <a:spcAft>
                <a:spcPts val="0"/>
              </a:spcAft>
              <a:buNone/>
            </a:pPr>
            <a:r>
              <a:rPr b="0" i="0" lang="en-US" sz="2400" u="none" cap="none" strike="noStrike">
                <a:solidFill>
                  <a:srgbClr val="152540"/>
                </a:solidFill>
                <a:latin typeface="Arial"/>
                <a:ea typeface="Arial"/>
                <a:cs typeface="Arial"/>
                <a:sym typeface="Arial"/>
              </a:rPr>
              <a:t>El manejo de archivos en JavaScript varía significativamente según el entorno de ejecución. En Node.js, el módulo fs proporciona acceso completo al sistema de archivos, mientras que en navegadores, las APIs están restringidas por seguridad.</a:t>
            </a:r>
            <a:endParaRPr/>
          </a:p>
          <a:p>
            <a:pPr indent="0" lvl="0" marL="0" marR="0" rtl="0" algn="l">
              <a:lnSpc>
                <a:spcPct val="167958"/>
              </a:lnSpc>
              <a:spcBef>
                <a:spcPts val="0"/>
              </a:spcBef>
              <a:spcAft>
                <a:spcPts val="0"/>
              </a:spcAft>
              <a:buNone/>
            </a:pPr>
            <a:r>
              <a:t/>
            </a:r>
            <a:endParaRPr b="0" i="0" sz="2400" u="none" cap="none" strike="noStrike">
              <a:solidFill>
                <a:srgbClr val="152540"/>
              </a:solidFill>
              <a:latin typeface="Arial"/>
              <a:ea typeface="Arial"/>
              <a:cs typeface="Arial"/>
              <a:sym typeface="Arial"/>
            </a:endParaRPr>
          </a:p>
          <a:p>
            <a:pPr indent="0" lvl="0" marL="0" marR="0" rtl="0" algn="l">
              <a:lnSpc>
                <a:spcPct val="167958"/>
              </a:lnSpc>
              <a:spcBef>
                <a:spcPts val="0"/>
              </a:spcBef>
              <a:spcAft>
                <a:spcPts val="0"/>
              </a:spcAft>
              <a:buNone/>
            </a:pPr>
            <a:r>
              <a:rPr b="0" i="0" lang="en-US" sz="2400" u="none" cap="none" strike="noStrike">
                <a:solidFill>
                  <a:srgbClr val="152540"/>
                </a:solidFill>
                <a:latin typeface="Arial"/>
                <a:ea typeface="Arial"/>
                <a:cs typeface="Arial"/>
                <a:sym typeface="Arial"/>
              </a:rPr>
              <a:t>FILESYSTEM (Node.js)</a:t>
            </a:r>
            <a:endParaRPr/>
          </a:p>
          <a:p>
            <a:pPr indent="0" lvl="0" marL="0" marR="0" rtl="0" algn="l">
              <a:lnSpc>
                <a:spcPct val="167958"/>
              </a:lnSpc>
              <a:spcBef>
                <a:spcPts val="0"/>
              </a:spcBef>
              <a:spcAft>
                <a:spcPts val="0"/>
              </a:spcAft>
              <a:buNone/>
            </a:pPr>
            <a:r>
              <a:rPr b="0" i="0" lang="en-US" sz="2400" u="none" cap="none" strike="noStrike">
                <a:solidFill>
                  <a:srgbClr val="152540"/>
                </a:solidFill>
                <a:latin typeface="Arial"/>
                <a:ea typeface="Arial"/>
                <a:cs typeface="Arial"/>
                <a:sym typeface="Arial"/>
              </a:rPr>
              <a:t>Node.js ofrece APIs tanto síncronas como asíncronas para operaciones de archivo. Las operaciones asíncronas son preferibles para mantener la naturaleza no-bloqueante de Node.js, especialmente en aplicaciones de servidor.</a:t>
            </a:r>
            <a:endParaRPr/>
          </a:p>
        </p:txBody>
      </p:sp>
      <p:sp>
        <p:nvSpPr>
          <p:cNvPr id="385" name="Google Shape;385;p36"/>
          <p:cNvSpPr/>
          <p:nvPr/>
        </p:nvSpPr>
        <p:spPr>
          <a:xfrm>
            <a:off x="8048949" y="5418161"/>
            <a:ext cx="5809012" cy="4773263"/>
          </a:xfrm>
          <a:custGeom>
            <a:rect b="b" l="l" r="r" t="t"/>
            <a:pathLst>
              <a:path extrusionOk="0" h="6364351" w="7745349">
                <a:moveTo>
                  <a:pt x="0" y="0"/>
                </a:moveTo>
                <a:lnTo>
                  <a:pt x="7745349" y="0"/>
                </a:lnTo>
                <a:lnTo>
                  <a:pt x="7745349" y="6364351"/>
                </a:lnTo>
                <a:lnTo>
                  <a:pt x="0" y="636435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7"/>
          <p:cNvSpPr txBox="1"/>
          <p:nvPr/>
        </p:nvSpPr>
        <p:spPr>
          <a:xfrm>
            <a:off x="1687195" y="1206838"/>
            <a:ext cx="13643253" cy="12446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LECTURA DE ARCHIVOS</a:t>
            </a:r>
            <a:endParaRPr/>
          </a:p>
        </p:txBody>
      </p:sp>
      <p:sp>
        <p:nvSpPr>
          <p:cNvPr id="395" name="Google Shape;395;p37"/>
          <p:cNvSpPr txBox="1"/>
          <p:nvPr/>
        </p:nvSpPr>
        <p:spPr>
          <a:xfrm>
            <a:off x="1687195" y="2861269"/>
            <a:ext cx="15863826" cy="1543711"/>
          </a:xfrm>
          <a:prstGeom prst="rect">
            <a:avLst/>
          </a:prstGeom>
          <a:noFill/>
          <a:ln>
            <a:noFill/>
          </a:ln>
        </p:spPr>
        <p:txBody>
          <a:bodyPr anchorCtr="0" anchor="t" bIns="0" lIns="0" spcFirstLastPara="1" rIns="0" wrap="square" tIns="0">
            <a:spAutoFit/>
          </a:bodyPr>
          <a:lstStyle/>
          <a:p>
            <a:pPr indent="0" lvl="0" marL="0" marR="0" rtl="0" algn="just">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FETCH API (Browser)</a:t>
            </a:r>
            <a:endParaRPr/>
          </a:p>
          <a:p>
            <a:pPr indent="0" lvl="0" marL="0" marR="0" rtl="0" algn="just">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En entornos de navegador, la Fetch API permite cargar recursos de manera asíncrona. Está basada en promesas y es la evolución moderna de XMLHttpRequest.</a:t>
            </a:r>
            <a:endParaRPr/>
          </a:p>
          <a:p>
            <a:pPr indent="0" lvl="0" marL="0" marR="0" rtl="0" algn="just">
              <a:lnSpc>
                <a:spcPct val="168024"/>
              </a:lnSpc>
              <a:spcBef>
                <a:spcPts val="0"/>
              </a:spcBef>
              <a:spcAft>
                <a:spcPts val="0"/>
              </a:spcAft>
              <a:buNone/>
            </a:pPr>
            <a:r>
              <a:t/>
            </a:r>
            <a:endParaRPr b="0" i="0" sz="2799" u="none" cap="none" strike="noStrike">
              <a:solidFill>
                <a:srgbClr val="000000"/>
              </a:solidFill>
              <a:latin typeface="Arial"/>
              <a:ea typeface="Arial"/>
              <a:cs typeface="Arial"/>
              <a:sym typeface="Arial"/>
            </a:endParaRPr>
          </a:p>
        </p:txBody>
      </p:sp>
      <p:sp>
        <p:nvSpPr>
          <p:cNvPr id="396" name="Google Shape;396;p37"/>
          <p:cNvSpPr/>
          <p:nvPr/>
        </p:nvSpPr>
        <p:spPr>
          <a:xfrm>
            <a:off x="3742771" y="5498983"/>
            <a:ext cx="10802493" cy="3398234"/>
          </a:xfrm>
          <a:custGeom>
            <a:rect b="b" l="l" r="r" t="t"/>
            <a:pathLst>
              <a:path extrusionOk="0" h="4530979" w="14403324">
                <a:moveTo>
                  <a:pt x="0" y="0"/>
                </a:moveTo>
                <a:lnTo>
                  <a:pt x="14403324" y="0"/>
                </a:lnTo>
                <a:lnTo>
                  <a:pt x="14403324" y="4530979"/>
                </a:lnTo>
                <a:lnTo>
                  <a:pt x="0" y="453097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38"/>
          <p:cNvSpPr txBox="1"/>
          <p:nvPr/>
        </p:nvSpPr>
        <p:spPr>
          <a:xfrm>
            <a:off x="1904220" y="647483"/>
            <a:ext cx="14206223" cy="12446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ESCRITURA DE ARCHIVOS</a:t>
            </a:r>
            <a:endParaRPr/>
          </a:p>
        </p:txBody>
      </p:sp>
      <p:sp>
        <p:nvSpPr>
          <p:cNvPr id="406" name="Google Shape;406;p38"/>
          <p:cNvSpPr txBox="1"/>
          <p:nvPr/>
        </p:nvSpPr>
        <p:spPr>
          <a:xfrm>
            <a:off x="1904220" y="2061918"/>
            <a:ext cx="15510321" cy="3896130"/>
          </a:xfrm>
          <a:prstGeom prst="rect">
            <a:avLst/>
          </a:prstGeom>
          <a:noFill/>
          <a:ln>
            <a:noFill/>
          </a:ln>
        </p:spPr>
        <p:txBody>
          <a:bodyPr anchorCtr="0" anchor="t" bIns="0" lIns="0" spcFirstLastPara="1" rIns="0" wrap="square" tIns="0">
            <a:spAutoFit/>
          </a:bodyPr>
          <a:lstStyle/>
          <a:p>
            <a:pPr indent="0" lvl="0" marL="0" marR="0" rtl="0" algn="just">
              <a:lnSpc>
                <a:spcPct val="168024"/>
              </a:lnSpc>
              <a:spcBef>
                <a:spcPts val="0"/>
              </a:spcBef>
              <a:spcAft>
                <a:spcPts val="0"/>
              </a:spcAft>
              <a:buNone/>
            </a:pPr>
            <a:r>
              <a:rPr b="0" i="0" lang="en-US" sz="2799" u="none" cap="none" strike="noStrike">
                <a:solidFill>
                  <a:srgbClr val="000000"/>
                </a:solidFill>
                <a:latin typeface="Arial"/>
                <a:ea typeface="Arial"/>
                <a:cs typeface="Arial"/>
                <a:sym typeface="Arial"/>
              </a:rPr>
              <a:t>La escritura de archivos en Node.js sigue patrones similares a la lectura, ofreciendo opciones síncronas y asíncronas. La gestión adecuada de streams es crucial para el manejo eficiente de archivos grandes.</a:t>
            </a:r>
            <a:endParaRPr/>
          </a:p>
          <a:p>
            <a:pPr indent="0" lvl="0" marL="0" marR="0" rtl="0" algn="just">
              <a:lnSpc>
                <a:spcPct val="168024"/>
              </a:lnSpc>
              <a:spcBef>
                <a:spcPts val="0"/>
              </a:spcBef>
              <a:spcAft>
                <a:spcPts val="0"/>
              </a:spcAft>
              <a:buNone/>
            </a:pPr>
            <a:r>
              <a:t/>
            </a:r>
            <a:endParaRPr b="0" i="0" sz="2799" u="none" cap="none" strike="noStrike">
              <a:solidFill>
                <a:srgbClr val="000000"/>
              </a:solidFill>
              <a:latin typeface="Arial"/>
              <a:ea typeface="Arial"/>
              <a:cs typeface="Arial"/>
              <a:sym typeface="Arial"/>
            </a:endParaRPr>
          </a:p>
          <a:p>
            <a:pPr indent="0" lvl="0" marL="0" marR="0" rtl="0" algn="just">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FILESYSTEM (Node.js)</a:t>
            </a:r>
            <a:endParaRPr/>
          </a:p>
          <a:p>
            <a:pPr indent="0" lvl="0" marL="0" marR="0" rtl="0" algn="just">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Las operaciones de escritura pueden ser destructivas o aditivas, dependiendo de los flags utilizados. Es importante manejar errores apropiadamente para evitar pérdida de datos.</a:t>
            </a:r>
            <a:endParaRPr/>
          </a:p>
        </p:txBody>
      </p:sp>
      <p:sp>
        <p:nvSpPr>
          <p:cNvPr id="407" name="Google Shape;407;p38"/>
          <p:cNvSpPr/>
          <p:nvPr/>
        </p:nvSpPr>
        <p:spPr>
          <a:xfrm>
            <a:off x="6050517" y="6102734"/>
            <a:ext cx="6272117" cy="4097941"/>
          </a:xfrm>
          <a:custGeom>
            <a:rect b="b" l="l" r="r" t="t"/>
            <a:pathLst>
              <a:path extrusionOk="0" h="5463921" w="8362823">
                <a:moveTo>
                  <a:pt x="0" y="0"/>
                </a:moveTo>
                <a:lnTo>
                  <a:pt x="8362823" y="0"/>
                </a:lnTo>
                <a:lnTo>
                  <a:pt x="8362823" y="5463921"/>
                </a:lnTo>
                <a:lnTo>
                  <a:pt x="0" y="5463921"/>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9"/>
          <p:cNvSpPr txBox="1"/>
          <p:nvPr/>
        </p:nvSpPr>
        <p:spPr>
          <a:xfrm>
            <a:off x="1904222" y="1234133"/>
            <a:ext cx="14103865" cy="1244600"/>
          </a:xfrm>
          <a:prstGeom prst="rect">
            <a:avLst/>
          </a:prstGeom>
          <a:noFill/>
          <a:ln>
            <a:noFill/>
          </a:ln>
        </p:spPr>
        <p:txBody>
          <a:bodyPr anchorCtr="0" anchor="t" bIns="0" lIns="0" spcFirstLastPara="1" rIns="0" wrap="square" tIns="0">
            <a:spAutoFit/>
          </a:bodyPr>
          <a:lstStyle/>
          <a:p>
            <a:pPr indent="0" lvl="0" marL="0" marR="0" rtl="0" algn="l">
              <a:lnSpc>
                <a:spcPct val="168013"/>
              </a:lnSpc>
              <a:spcBef>
                <a:spcPts val="0"/>
              </a:spcBef>
              <a:spcAft>
                <a:spcPts val="0"/>
              </a:spcAft>
              <a:buNone/>
            </a:pPr>
            <a:r>
              <a:rPr b="0" i="0" lang="en-US" sz="4999" u="none" cap="none" strike="noStrike">
                <a:solidFill>
                  <a:srgbClr val="152540"/>
                </a:solidFill>
                <a:latin typeface="Arial"/>
                <a:ea typeface="Arial"/>
                <a:cs typeface="Arial"/>
                <a:sym typeface="Arial"/>
              </a:rPr>
              <a:t>ESCRITURA DE ARCHIVOS</a:t>
            </a:r>
            <a:endParaRPr/>
          </a:p>
        </p:txBody>
      </p:sp>
      <p:sp>
        <p:nvSpPr>
          <p:cNvPr id="417" name="Google Shape;417;p39"/>
          <p:cNvSpPr txBox="1"/>
          <p:nvPr/>
        </p:nvSpPr>
        <p:spPr>
          <a:xfrm>
            <a:off x="1904222" y="2711143"/>
            <a:ext cx="14479556" cy="1780699"/>
          </a:xfrm>
          <a:prstGeom prst="rect">
            <a:avLst/>
          </a:prstGeom>
          <a:noFill/>
          <a:ln>
            <a:noFill/>
          </a:ln>
        </p:spPr>
        <p:txBody>
          <a:bodyPr anchorCtr="0" anchor="t" bIns="0" lIns="0" spcFirstLastPara="1" rIns="0" wrap="square" tIns="0">
            <a:spAutoFit/>
          </a:bodyPr>
          <a:lstStyle/>
          <a:p>
            <a:pPr indent="0" lvl="0" marL="0" marR="0" rtl="0" algn="just">
              <a:lnSpc>
                <a:spcPct val="120007"/>
              </a:lnSpc>
              <a:spcBef>
                <a:spcPts val="0"/>
              </a:spcBef>
              <a:spcAft>
                <a:spcPts val="0"/>
              </a:spcAft>
              <a:buNone/>
            </a:pPr>
            <a:r>
              <a:rPr b="1" i="0" lang="en-US" sz="2799" u="none" cap="none" strike="noStrike">
                <a:solidFill>
                  <a:srgbClr val="000000"/>
                </a:solidFill>
                <a:latin typeface="Arial"/>
                <a:ea typeface="Arial"/>
                <a:cs typeface="Arial"/>
                <a:sym typeface="Arial"/>
              </a:rPr>
              <a:t>STREAMS (Node.js)</a:t>
            </a:r>
            <a:endParaRPr/>
          </a:p>
          <a:p>
            <a:pPr indent="0" lvl="0" marL="0" marR="0" rtl="0" algn="just">
              <a:lnSpc>
                <a:spcPct val="120007"/>
              </a:lnSpc>
              <a:spcBef>
                <a:spcPts val="0"/>
              </a:spcBef>
              <a:spcAft>
                <a:spcPts val="0"/>
              </a:spcAft>
              <a:buNone/>
            </a:pPr>
            <a:r>
              <a:rPr b="0" i="0" lang="en-US" sz="2799" u="none" cap="none" strike="noStrike">
                <a:solidFill>
                  <a:srgbClr val="000000"/>
                </a:solidFill>
                <a:latin typeface="Arial"/>
                <a:ea typeface="Arial"/>
                <a:cs typeface="Arial"/>
                <a:sym typeface="Arial"/>
              </a:rPr>
              <a:t>Los streams proporcionan una interfaz eficiente para manejar datos que no caben en memoria o que se procesan gradualmente. Son especialmente útiles para archivos grandes o procesamiento en tiempo real.</a:t>
            </a:r>
            <a:endParaRPr/>
          </a:p>
        </p:txBody>
      </p:sp>
      <p:sp>
        <p:nvSpPr>
          <p:cNvPr id="418" name="Google Shape;418;p39"/>
          <p:cNvSpPr/>
          <p:nvPr/>
        </p:nvSpPr>
        <p:spPr>
          <a:xfrm>
            <a:off x="5149761" y="5023978"/>
            <a:ext cx="8175403" cy="3396711"/>
          </a:xfrm>
          <a:custGeom>
            <a:rect b="b" l="l" r="r" t="t"/>
            <a:pathLst>
              <a:path extrusionOk="0" h="4528947" w="10900537">
                <a:moveTo>
                  <a:pt x="0" y="0"/>
                </a:moveTo>
                <a:lnTo>
                  <a:pt x="10900537" y="0"/>
                </a:lnTo>
                <a:lnTo>
                  <a:pt x="10900537" y="4528947"/>
                </a:lnTo>
                <a:lnTo>
                  <a:pt x="0" y="452894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0"/>
          <p:cNvSpPr txBox="1"/>
          <p:nvPr/>
        </p:nvSpPr>
        <p:spPr>
          <a:xfrm>
            <a:off x="1423108" y="2713812"/>
            <a:ext cx="12632411" cy="6990381"/>
          </a:xfrm>
          <a:prstGeom prst="rect">
            <a:avLst/>
          </a:prstGeom>
          <a:noFill/>
          <a:ln>
            <a:noFill/>
          </a:ln>
        </p:spPr>
        <p:txBody>
          <a:bodyPr anchorCtr="0" anchor="t" bIns="0" lIns="0" spcFirstLastPara="1" rIns="0" wrap="square" tIns="0">
            <a:spAutoFit/>
          </a:bodyPr>
          <a:lstStyle/>
          <a:p>
            <a:pPr indent="0" lvl="0" marL="0" marR="0" rtl="0" algn="l">
              <a:lnSpc>
                <a:spcPct val="168049"/>
              </a:lnSpc>
              <a:spcBef>
                <a:spcPts val="0"/>
              </a:spcBef>
              <a:spcAft>
                <a:spcPts val="0"/>
              </a:spcAft>
              <a:buNone/>
            </a:pPr>
            <a:r>
              <a:rPr b="1" i="0" lang="en-US" sz="3133" u="none" cap="none" strike="noStrike">
                <a:solidFill>
                  <a:srgbClr val="152540"/>
                </a:solidFill>
                <a:latin typeface="Arial"/>
                <a:ea typeface="Arial"/>
                <a:cs typeface="Arial"/>
                <a:sym typeface="Arial"/>
              </a:rPr>
              <a:t>Arreglos en JavaScript</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Estructura de datos de tamaño dinamico</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Acceso a elementos por índice</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Uso de </a:t>
            </a:r>
            <a:r>
              <a:rPr b="0" i="1" lang="en-US" sz="3133" u="none" cap="none" strike="noStrike">
                <a:solidFill>
                  <a:srgbClr val="152540"/>
                </a:solidFill>
                <a:latin typeface="Oi"/>
                <a:ea typeface="Oi"/>
                <a:cs typeface="Oi"/>
                <a:sym typeface="Oi"/>
              </a:rPr>
              <a:t>length </a:t>
            </a:r>
            <a:r>
              <a:rPr b="0" i="0" lang="en-US" sz="3133" u="none" cap="none" strike="noStrike">
                <a:solidFill>
                  <a:srgbClr val="152540"/>
                </a:solidFill>
                <a:latin typeface="Arial"/>
                <a:ea typeface="Arial"/>
                <a:cs typeface="Arial"/>
                <a:sym typeface="Arial"/>
              </a:rPr>
              <a:t>para obtener la longitud</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Se recorre con bucles (</a:t>
            </a:r>
            <a:r>
              <a:rPr b="0" i="1" lang="en-US" sz="3133" u="none" cap="none" strike="noStrike">
                <a:solidFill>
                  <a:srgbClr val="152540"/>
                </a:solidFill>
                <a:latin typeface="Oi"/>
                <a:ea typeface="Oi"/>
                <a:cs typeface="Oi"/>
                <a:sym typeface="Oi"/>
              </a:rPr>
              <a:t>for</a:t>
            </a:r>
            <a:r>
              <a:rPr b="0" i="0" lang="en-US" sz="3133" u="none" cap="none" strike="noStrike">
                <a:solidFill>
                  <a:srgbClr val="152540"/>
                </a:solidFill>
                <a:latin typeface="Arial"/>
                <a:ea typeface="Arial"/>
                <a:cs typeface="Arial"/>
                <a:sym typeface="Arial"/>
              </a:rPr>
              <a:t>, </a:t>
            </a:r>
            <a:r>
              <a:rPr b="0" i="1" lang="en-US" sz="3133" u="none" cap="none" strike="noStrike">
                <a:solidFill>
                  <a:srgbClr val="152540"/>
                </a:solidFill>
                <a:latin typeface="Oi"/>
                <a:ea typeface="Oi"/>
                <a:cs typeface="Oi"/>
                <a:sym typeface="Oi"/>
              </a:rPr>
              <a:t>for-each</a:t>
            </a:r>
            <a:r>
              <a:rPr b="0" i="0" lang="en-US" sz="3133" u="none" cap="none" strike="noStrike">
                <a:solidFill>
                  <a:srgbClr val="152540"/>
                </a:solidFill>
                <a:latin typeface="Arial"/>
                <a:ea typeface="Arial"/>
                <a:cs typeface="Arial"/>
                <a:sym typeface="Arial"/>
              </a:rPr>
              <a:t>)</a:t>
            </a:r>
            <a:endParaRPr/>
          </a:p>
          <a:p>
            <a:pPr indent="-238827" lvl="2" marL="716481" marR="0" rtl="0" algn="l">
              <a:lnSpc>
                <a:spcPct val="168049"/>
              </a:lnSpc>
              <a:spcBef>
                <a:spcPts val="0"/>
              </a:spcBef>
              <a:spcAft>
                <a:spcPts val="0"/>
              </a:spcAft>
              <a:buNone/>
            </a:pPr>
            <a:r>
              <a:rPr b="1" i="0" lang="en-US" sz="3133" u="none" cap="none" strike="noStrike">
                <a:solidFill>
                  <a:srgbClr val="152540"/>
                </a:solidFill>
                <a:latin typeface="Arial"/>
                <a:ea typeface="Arial"/>
                <a:cs typeface="Arial"/>
                <a:sym typeface="Arial"/>
              </a:rPr>
              <a:t>Estructuras de Datos en Java</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Uso de objetos nativos (Array, Object, Map, Set)</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Diferencias entre primitivos y objetos</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Métodos como push(), pop(), shift(), unshift()</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Métodos funcionales como map(), filter(), reduce()</a:t>
            </a:r>
            <a:endParaRPr/>
          </a:p>
        </p:txBody>
      </p:sp>
      <p:sp>
        <p:nvSpPr>
          <p:cNvPr id="428" name="Google Shape;428;p40"/>
          <p:cNvSpPr txBox="1"/>
          <p:nvPr/>
        </p:nvSpPr>
        <p:spPr>
          <a:xfrm>
            <a:off x="2507390" y="762000"/>
            <a:ext cx="13503315" cy="2290191"/>
          </a:xfrm>
          <a:prstGeom prst="rect">
            <a:avLst/>
          </a:prstGeom>
          <a:noFill/>
          <a:ln>
            <a:noFill/>
          </a:ln>
        </p:spPr>
        <p:txBody>
          <a:bodyPr anchorCtr="0" anchor="t" bIns="0" lIns="0" spcFirstLastPara="1" rIns="0" wrap="square" tIns="0">
            <a:spAutoFit/>
          </a:bodyPr>
          <a:lstStyle/>
          <a:p>
            <a:pPr indent="0" lvl="0" marL="0" marR="0" rtl="0" algn="ctr">
              <a:lnSpc>
                <a:spcPct val="135594"/>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1"/>
          <p:cNvSpPr txBox="1"/>
          <p:nvPr/>
        </p:nvSpPr>
        <p:spPr>
          <a:xfrm>
            <a:off x="1464052" y="2713812"/>
            <a:ext cx="12632411" cy="7637289"/>
          </a:xfrm>
          <a:prstGeom prst="rect">
            <a:avLst/>
          </a:prstGeom>
          <a:noFill/>
          <a:ln>
            <a:noFill/>
          </a:ln>
        </p:spPr>
        <p:txBody>
          <a:bodyPr anchorCtr="0" anchor="t" bIns="0" lIns="0" spcFirstLastPara="1" rIns="0" wrap="square" tIns="0">
            <a:spAutoFit/>
          </a:bodyPr>
          <a:lstStyle/>
          <a:p>
            <a:pPr indent="0" lvl="0" marL="0" marR="0" rtl="0" algn="l">
              <a:lnSpc>
                <a:spcPct val="168049"/>
              </a:lnSpc>
              <a:spcBef>
                <a:spcPts val="0"/>
              </a:spcBef>
              <a:spcAft>
                <a:spcPts val="0"/>
              </a:spcAft>
              <a:buNone/>
            </a:pPr>
            <a:r>
              <a:rPr b="1" i="0" lang="en-US" sz="3133" u="none" cap="none" strike="noStrike">
                <a:solidFill>
                  <a:srgbClr val="152540"/>
                </a:solidFill>
                <a:latin typeface="Arial"/>
                <a:ea typeface="Arial"/>
                <a:cs typeface="Arial"/>
                <a:sym typeface="Arial"/>
              </a:rPr>
              <a:t>Iteración en Java</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Repetición con bucles (</a:t>
            </a:r>
            <a:r>
              <a:rPr b="0" i="1" lang="en-US" sz="3133" u="none" cap="none" strike="noStrike">
                <a:solidFill>
                  <a:srgbClr val="152540"/>
                </a:solidFill>
                <a:latin typeface="Oi"/>
                <a:ea typeface="Oi"/>
                <a:cs typeface="Oi"/>
                <a:sym typeface="Oi"/>
              </a:rPr>
              <a:t>for</a:t>
            </a:r>
            <a:r>
              <a:rPr b="0" i="0" lang="en-US" sz="3133" u="none" cap="none" strike="noStrike">
                <a:solidFill>
                  <a:srgbClr val="152540"/>
                </a:solidFill>
                <a:latin typeface="Arial"/>
                <a:ea typeface="Arial"/>
                <a:cs typeface="Arial"/>
                <a:sym typeface="Arial"/>
              </a:rPr>
              <a:t>, </a:t>
            </a:r>
            <a:r>
              <a:rPr b="0" i="1" lang="en-US" sz="3133" u="none" cap="none" strike="noStrike">
                <a:solidFill>
                  <a:srgbClr val="152540"/>
                </a:solidFill>
                <a:latin typeface="Oi"/>
                <a:ea typeface="Oi"/>
                <a:cs typeface="Oi"/>
                <a:sym typeface="Oi"/>
              </a:rPr>
              <a:t>while</a:t>
            </a:r>
            <a:r>
              <a:rPr b="0" i="0" lang="en-US" sz="3133" u="none" cap="none" strike="noStrike">
                <a:solidFill>
                  <a:srgbClr val="152540"/>
                </a:solidFill>
                <a:latin typeface="Arial"/>
                <a:ea typeface="Arial"/>
                <a:cs typeface="Arial"/>
                <a:sym typeface="Arial"/>
              </a:rPr>
              <a:t>, </a:t>
            </a:r>
            <a:r>
              <a:rPr b="0" i="1" lang="en-US" sz="3133" u="none" cap="none" strike="noStrike">
                <a:solidFill>
                  <a:srgbClr val="152540"/>
                </a:solidFill>
                <a:latin typeface="Oi"/>
                <a:ea typeface="Oi"/>
                <a:cs typeface="Oi"/>
                <a:sym typeface="Oi"/>
              </a:rPr>
              <a:t>do-while</a:t>
            </a:r>
            <a:r>
              <a:rPr b="0" i="0" lang="en-US" sz="3133" u="none" cap="none" strike="noStrike">
                <a:solidFill>
                  <a:srgbClr val="152540"/>
                </a:solidFill>
                <a:latin typeface="Arial"/>
                <a:ea typeface="Arial"/>
                <a:cs typeface="Arial"/>
                <a:sym typeface="Arial"/>
              </a:rPr>
              <a:t>)</a:t>
            </a:r>
            <a:endParaRPr/>
          </a:p>
          <a:p>
            <a:pPr indent="-238827" lvl="2" marL="716481" marR="0" rtl="0" algn="l">
              <a:lnSpc>
                <a:spcPct val="168049"/>
              </a:lnSpc>
              <a:spcBef>
                <a:spcPts val="0"/>
              </a:spcBef>
              <a:spcAft>
                <a:spcPts val="0"/>
              </a:spcAft>
              <a:buClr>
                <a:srgbClr val="152540"/>
              </a:buClr>
              <a:buSzPts val="3133"/>
              <a:buFont typeface="Arial"/>
              <a:buChar char="⚬"/>
            </a:pPr>
            <a:r>
              <a:rPr b="0" i="1" lang="en-US" sz="3133" u="none" cap="none" strike="noStrike">
                <a:solidFill>
                  <a:srgbClr val="152540"/>
                </a:solidFill>
                <a:latin typeface="Oi"/>
                <a:ea typeface="Oi"/>
                <a:cs typeface="Oi"/>
                <a:sym typeface="Oi"/>
              </a:rPr>
              <a:t>for-each</a:t>
            </a:r>
            <a:r>
              <a:rPr b="0" i="0" lang="en-US" sz="3133" u="none" cap="none" strike="noStrike">
                <a:solidFill>
                  <a:srgbClr val="152540"/>
                </a:solidFill>
                <a:latin typeface="Arial"/>
                <a:ea typeface="Arial"/>
                <a:cs typeface="Arial"/>
                <a:sym typeface="Arial"/>
              </a:rPr>
              <a:t> para recorrer colecciones fácilmente</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for...in para recorrer propiedades de objetos</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Uso de break, continue, y return</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Métodos de arreglo para iteración funcional</a:t>
            </a:r>
            <a:endParaRPr/>
          </a:p>
          <a:p>
            <a:pPr indent="-238827" lvl="2" marL="716481" marR="0" rtl="0" algn="l">
              <a:lnSpc>
                <a:spcPct val="168049"/>
              </a:lnSpc>
              <a:spcBef>
                <a:spcPts val="0"/>
              </a:spcBef>
              <a:spcAft>
                <a:spcPts val="0"/>
              </a:spcAft>
              <a:buNone/>
            </a:pPr>
            <a:r>
              <a:rPr b="1" i="0" lang="en-US" sz="3133" u="none" cap="none" strike="noStrike">
                <a:solidFill>
                  <a:srgbClr val="152540"/>
                </a:solidFill>
                <a:latin typeface="Arial"/>
                <a:ea typeface="Arial"/>
                <a:cs typeface="Arial"/>
                <a:sym typeface="Arial"/>
              </a:rPr>
              <a:t>Lectura de Archivos</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En Node.js: módulo fs y sus métodos síncronos/asíncronos</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En navegador: Fetch API y File API</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Manejo de promesas y callback</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Uso de try-catch para manejo de errores</a:t>
            </a:r>
            <a:endParaRPr/>
          </a:p>
        </p:txBody>
      </p:sp>
      <p:sp>
        <p:nvSpPr>
          <p:cNvPr id="438" name="Google Shape;438;p41"/>
          <p:cNvSpPr txBox="1"/>
          <p:nvPr/>
        </p:nvSpPr>
        <p:spPr>
          <a:xfrm>
            <a:off x="2507390" y="762000"/>
            <a:ext cx="13503315" cy="2290191"/>
          </a:xfrm>
          <a:prstGeom prst="rect">
            <a:avLst/>
          </a:prstGeom>
          <a:noFill/>
          <a:ln>
            <a:noFill/>
          </a:ln>
        </p:spPr>
        <p:txBody>
          <a:bodyPr anchorCtr="0" anchor="t" bIns="0" lIns="0" spcFirstLastPara="1" rIns="0" wrap="square" tIns="0">
            <a:spAutoFit/>
          </a:bodyPr>
          <a:lstStyle/>
          <a:p>
            <a:pPr indent="0" lvl="0" marL="0" marR="0" rtl="0" algn="ctr">
              <a:lnSpc>
                <a:spcPct val="135594"/>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2"/>
          <p:cNvSpPr txBox="1"/>
          <p:nvPr/>
        </p:nvSpPr>
        <p:spPr>
          <a:xfrm>
            <a:off x="1464052" y="2713812"/>
            <a:ext cx="12632411" cy="3585795"/>
          </a:xfrm>
          <a:prstGeom prst="rect">
            <a:avLst/>
          </a:prstGeom>
          <a:noFill/>
          <a:ln>
            <a:noFill/>
          </a:ln>
        </p:spPr>
        <p:txBody>
          <a:bodyPr anchorCtr="0" anchor="t" bIns="0" lIns="0" spcFirstLastPara="1" rIns="0" wrap="square" tIns="0">
            <a:spAutoFit/>
          </a:bodyPr>
          <a:lstStyle/>
          <a:p>
            <a:pPr indent="0" lvl="0" marL="0" marR="0" rtl="0" algn="l">
              <a:lnSpc>
                <a:spcPct val="168049"/>
              </a:lnSpc>
              <a:spcBef>
                <a:spcPts val="0"/>
              </a:spcBef>
              <a:spcAft>
                <a:spcPts val="0"/>
              </a:spcAft>
              <a:buNone/>
            </a:pPr>
            <a:r>
              <a:rPr b="1" i="0" lang="en-US" sz="3133" u="none" cap="none" strike="noStrike">
                <a:solidFill>
                  <a:srgbClr val="152540"/>
                </a:solidFill>
                <a:latin typeface="Arial"/>
                <a:ea typeface="Arial"/>
                <a:cs typeface="Arial"/>
                <a:sym typeface="Arial"/>
              </a:rPr>
              <a:t>Escritura de Archivos</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En Node.js: fs.writeFile(), fs.writeFileSync()</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Streams para archivos grandes</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Opciones para sobrescribir o agregar contenido</a:t>
            </a:r>
            <a:endParaRPr/>
          </a:p>
          <a:p>
            <a:pPr indent="-238827" lvl="2" marL="716481" marR="0" rtl="0" algn="l">
              <a:lnSpc>
                <a:spcPct val="168049"/>
              </a:lnSpc>
              <a:spcBef>
                <a:spcPts val="0"/>
              </a:spcBef>
              <a:spcAft>
                <a:spcPts val="0"/>
              </a:spcAft>
              <a:buClr>
                <a:srgbClr val="152540"/>
              </a:buClr>
              <a:buSzPts val="3133"/>
              <a:buFont typeface="Arial"/>
              <a:buChar char="⚬"/>
            </a:pPr>
            <a:r>
              <a:rPr b="0" i="0" lang="en-US" sz="3133" u="none" cap="none" strike="noStrike">
                <a:solidFill>
                  <a:srgbClr val="152540"/>
                </a:solidFill>
                <a:latin typeface="Arial"/>
                <a:ea typeface="Arial"/>
                <a:cs typeface="Arial"/>
                <a:sym typeface="Arial"/>
              </a:rPr>
              <a:t>Manejo de errores y callbacks</a:t>
            </a:r>
            <a:endParaRPr/>
          </a:p>
        </p:txBody>
      </p:sp>
      <p:sp>
        <p:nvSpPr>
          <p:cNvPr id="448" name="Google Shape;448;p42"/>
          <p:cNvSpPr txBox="1"/>
          <p:nvPr/>
        </p:nvSpPr>
        <p:spPr>
          <a:xfrm>
            <a:off x="2507390" y="762000"/>
            <a:ext cx="13503315" cy="2290191"/>
          </a:xfrm>
          <a:prstGeom prst="rect">
            <a:avLst/>
          </a:prstGeom>
          <a:noFill/>
          <a:ln>
            <a:noFill/>
          </a:ln>
        </p:spPr>
        <p:txBody>
          <a:bodyPr anchorCtr="0" anchor="t" bIns="0" lIns="0" spcFirstLastPara="1" rIns="0" wrap="square" tIns="0">
            <a:spAutoFit/>
          </a:bodyPr>
          <a:lstStyle/>
          <a:p>
            <a:pPr indent="0" lvl="0" marL="0" marR="0" rtl="0" algn="ctr">
              <a:lnSpc>
                <a:spcPct val="135594"/>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3"/>
          <p:cNvSpPr txBox="1"/>
          <p:nvPr/>
        </p:nvSpPr>
        <p:spPr>
          <a:xfrm>
            <a:off x="1793489" y="3038259"/>
            <a:ext cx="14701023" cy="5088640"/>
          </a:xfrm>
          <a:prstGeom prst="rect">
            <a:avLst/>
          </a:prstGeom>
          <a:noFill/>
          <a:ln>
            <a:noFill/>
          </a:ln>
        </p:spPr>
        <p:txBody>
          <a:bodyPr anchorCtr="0" anchor="t" bIns="0" lIns="0" spcFirstLastPara="1" rIns="0" wrap="square" tIns="0">
            <a:spAutoFit/>
          </a:bodyPr>
          <a:lstStyle/>
          <a:p>
            <a:pPr indent="0" lvl="0" marL="0" marR="0" rtl="0" algn="just">
              <a:lnSpc>
                <a:spcPct val="167990"/>
              </a:lnSpc>
              <a:spcBef>
                <a:spcPts val="0"/>
              </a:spcBef>
              <a:spcAft>
                <a:spcPts val="0"/>
              </a:spcAft>
              <a:buNone/>
            </a:pPr>
            <a:r>
              <a:rPr b="1" i="0" lang="en-US" sz="3399" u="none" cap="none" strike="noStrike">
                <a:solidFill>
                  <a:srgbClr val="152540"/>
                </a:solidFill>
                <a:latin typeface="Arial"/>
                <a:ea typeface="Arial"/>
                <a:cs typeface="Arial"/>
                <a:sym typeface="Arial"/>
              </a:rPr>
              <a:t>Perseverancia</a:t>
            </a:r>
            <a:r>
              <a:rPr b="0" i="0" lang="en-US" sz="3399" u="none" cap="none" strike="noStrike">
                <a:solidFill>
                  <a:srgbClr val="152540"/>
                </a:solidFill>
                <a:latin typeface="Arial"/>
                <a:ea typeface="Arial"/>
                <a:cs typeface="Arial"/>
                <a:sym typeface="Arial"/>
              </a:rPr>
              <a:t>: Frecuentemente requieren un alto nivel de comprensión llegar a entender el funcionamiento de estructuras de datos.</a:t>
            </a:r>
            <a:endParaRPr/>
          </a:p>
          <a:p>
            <a:pPr indent="0" lvl="0" marL="0" marR="0" rtl="0" algn="just">
              <a:lnSpc>
                <a:spcPct val="167990"/>
              </a:lnSpc>
              <a:spcBef>
                <a:spcPts val="0"/>
              </a:spcBef>
              <a:spcAft>
                <a:spcPts val="0"/>
              </a:spcAft>
              <a:buNone/>
            </a:pPr>
            <a:r>
              <a:rPr b="1" i="0" lang="en-US" sz="3399" u="none" cap="none" strike="noStrike">
                <a:solidFill>
                  <a:srgbClr val="152540"/>
                </a:solidFill>
                <a:latin typeface="Arial"/>
                <a:ea typeface="Arial"/>
                <a:cs typeface="Arial"/>
                <a:sym typeface="Arial"/>
              </a:rPr>
              <a:t>Pensamiento Lógico</a:t>
            </a:r>
            <a:r>
              <a:rPr b="0" i="0" lang="en-US" sz="3399" u="none" cap="none" strike="noStrike">
                <a:solidFill>
                  <a:srgbClr val="152540"/>
                </a:solidFill>
                <a:latin typeface="Arial"/>
                <a:ea typeface="Arial"/>
                <a:cs typeface="Arial"/>
                <a:sym typeface="Arial"/>
              </a:rPr>
              <a:t>: Es necesario razonar paso a paso el proceso completo del funcionamiento de un programa y cómo se alamcenan los datos.</a:t>
            </a:r>
            <a:endParaRPr/>
          </a:p>
          <a:p>
            <a:pPr indent="0" lvl="0" marL="0" marR="0" rtl="0" algn="just">
              <a:lnSpc>
                <a:spcPct val="167990"/>
              </a:lnSpc>
              <a:spcBef>
                <a:spcPts val="0"/>
              </a:spcBef>
              <a:spcAft>
                <a:spcPts val="0"/>
              </a:spcAft>
              <a:buNone/>
            </a:pPr>
            <a:r>
              <a:rPr b="1" i="0" lang="en-US" sz="3399" u="none" cap="none" strike="noStrike">
                <a:solidFill>
                  <a:srgbClr val="152540"/>
                </a:solidFill>
                <a:latin typeface="Arial"/>
                <a:ea typeface="Arial"/>
                <a:cs typeface="Arial"/>
                <a:sym typeface="Arial"/>
              </a:rPr>
              <a:t>Disciplina</a:t>
            </a:r>
            <a:r>
              <a:rPr b="0" i="0" lang="en-US" sz="3399" u="none" cap="none" strike="noStrike">
                <a:solidFill>
                  <a:srgbClr val="152540"/>
                </a:solidFill>
                <a:latin typeface="Arial"/>
                <a:ea typeface="Arial"/>
                <a:cs typeface="Arial"/>
                <a:sym typeface="Arial"/>
              </a:rPr>
              <a:t>: Es requerido que el estudiante desarrolle hábitos de estudio y posteriormente por cuenta propia llevar a la práctica la teoría.</a:t>
            </a:r>
            <a:endParaRPr/>
          </a:p>
        </p:txBody>
      </p:sp>
      <p:sp>
        <p:nvSpPr>
          <p:cNvPr id="458" name="Google Shape;458;p43"/>
          <p:cNvSpPr txBox="1"/>
          <p:nvPr/>
        </p:nvSpPr>
        <p:spPr>
          <a:xfrm>
            <a:off x="2392343" y="2024418"/>
            <a:ext cx="13503315" cy="1309116"/>
          </a:xfrm>
          <a:prstGeom prst="rect">
            <a:avLst/>
          </a:prstGeom>
          <a:noFill/>
          <a:ln>
            <a:noFill/>
          </a:ln>
        </p:spPr>
        <p:txBody>
          <a:bodyPr anchorCtr="0" anchor="t" bIns="0" lIns="0" spcFirstLastPara="1" rIns="0" wrap="square" tIns="0">
            <a:spAutoFit/>
          </a:bodyPr>
          <a:lstStyle/>
          <a:p>
            <a:pPr indent="0" lvl="0" marL="0" marR="0" rtl="0" algn="ctr">
              <a:lnSpc>
                <a:spcPct val="135594"/>
              </a:lnSpc>
              <a:spcBef>
                <a:spcPts val="0"/>
              </a:spcBef>
              <a:spcAft>
                <a:spcPts val="0"/>
              </a:spcAft>
              <a:buNone/>
            </a:pPr>
            <a:r>
              <a:rPr b="0" i="0" lang="en-US" sz="6900" u="none" cap="none" strike="noStrike">
                <a:solidFill>
                  <a:srgbClr val="131416"/>
                </a:solidFill>
                <a:latin typeface="Arial"/>
                <a:ea typeface="Arial"/>
                <a:cs typeface="Arial"/>
                <a:sym typeface="Arial"/>
              </a:rPr>
              <a:t>VALORES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44"/>
          <p:cNvSpPr txBox="1"/>
          <p:nvPr/>
        </p:nvSpPr>
        <p:spPr>
          <a:xfrm>
            <a:off x="1793489" y="4084020"/>
            <a:ext cx="14701023" cy="3502766"/>
          </a:xfrm>
          <a:prstGeom prst="rect">
            <a:avLst/>
          </a:prstGeom>
          <a:noFill/>
          <a:ln>
            <a:noFill/>
          </a:ln>
        </p:spPr>
        <p:txBody>
          <a:bodyPr anchorCtr="0" anchor="t" bIns="0" lIns="0" spcFirstLastPara="1" rIns="0" wrap="square" tIns="0">
            <a:spAutoFit/>
          </a:bodyPr>
          <a:lstStyle/>
          <a:p>
            <a:pPr indent="-259039" lvl="2" marL="777117" marR="0" rtl="0" algn="just">
              <a:lnSpc>
                <a:spcPct val="167990"/>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MDN Web Docs. JavaScript Documentation. developer.mozilla.org/en-US/docs/Web/JavaScript</a:t>
            </a:r>
            <a:endParaRPr/>
          </a:p>
          <a:p>
            <a:pPr indent="-259039" lvl="2" marL="777117" marR="0" rtl="0" algn="just">
              <a:lnSpc>
                <a:spcPct val="167990"/>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Node.js Documentation. nodejs.org/en/docs</a:t>
            </a:r>
            <a:endParaRPr/>
          </a:p>
          <a:p>
            <a:pPr indent="-259039" lvl="2" marL="777117" marR="0" rtl="0" algn="just">
              <a:lnSpc>
                <a:spcPct val="167990"/>
              </a:lnSpc>
              <a:spcBef>
                <a:spcPts val="0"/>
              </a:spcBef>
              <a:spcAft>
                <a:spcPts val="0"/>
              </a:spcAft>
              <a:buClr>
                <a:srgbClr val="152540"/>
              </a:buClr>
              <a:buSzPts val="3399"/>
              <a:buFont typeface="Arial"/>
              <a:buChar char="⚬"/>
            </a:pPr>
            <a:r>
              <a:rPr b="0" i="0" lang="en-US" sz="3399" u="none" cap="none" strike="noStrike">
                <a:solidFill>
                  <a:srgbClr val="152540"/>
                </a:solidFill>
                <a:latin typeface="Arial"/>
                <a:ea typeface="Arial"/>
                <a:cs typeface="Arial"/>
                <a:sym typeface="Arial"/>
              </a:rPr>
              <a:t>ECMAScript 2015+ Specification</a:t>
            </a:r>
            <a:endParaRPr/>
          </a:p>
          <a:p>
            <a:pPr indent="-259039" lvl="2" marL="777117" marR="0" rtl="0" algn="just">
              <a:lnSpc>
                <a:spcPct val="167990"/>
              </a:lnSpc>
              <a:spcBef>
                <a:spcPts val="0"/>
              </a:spcBef>
              <a:spcAft>
                <a:spcPts val="0"/>
              </a:spcAft>
              <a:buNone/>
            </a:pPr>
            <a:r>
              <a:t/>
            </a:r>
            <a:endParaRPr b="0" i="0" sz="3399" u="none" cap="none" strike="noStrike">
              <a:solidFill>
                <a:srgbClr val="152540"/>
              </a:solidFill>
              <a:latin typeface="Arial"/>
              <a:ea typeface="Arial"/>
              <a:cs typeface="Arial"/>
              <a:sym typeface="Arial"/>
            </a:endParaRPr>
          </a:p>
        </p:txBody>
      </p:sp>
      <p:sp>
        <p:nvSpPr>
          <p:cNvPr id="468" name="Google Shape;468;p44"/>
          <p:cNvSpPr txBox="1"/>
          <p:nvPr/>
        </p:nvSpPr>
        <p:spPr>
          <a:xfrm>
            <a:off x="2392343" y="2611316"/>
            <a:ext cx="13503315" cy="1309116"/>
          </a:xfrm>
          <a:prstGeom prst="rect">
            <a:avLst/>
          </a:prstGeom>
          <a:noFill/>
          <a:ln>
            <a:noFill/>
          </a:ln>
        </p:spPr>
        <p:txBody>
          <a:bodyPr anchorCtr="0" anchor="t" bIns="0" lIns="0" spcFirstLastPara="1" rIns="0" wrap="square" tIns="0">
            <a:spAutoFit/>
          </a:bodyPr>
          <a:lstStyle/>
          <a:p>
            <a:pPr indent="0" lvl="0" marL="0" marR="0" rtl="0" algn="ctr">
              <a:lnSpc>
                <a:spcPct val="135594"/>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45"/>
          <p:cNvSpPr txBox="1"/>
          <p:nvPr/>
        </p:nvSpPr>
        <p:spPr>
          <a:xfrm>
            <a:off x="4437795" y="3236704"/>
            <a:ext cx="8658828" cy="2648077"/>
          </a:xfrm>
          <a:prstGeom prst="rect">
            <a:avLst/>
          </a:prstGeom>
          <a:noFill/>
          <a:ln>
            <a:noFill/>
          </a:ln>
        </p:spPr>
        <p:txBody>
          <a:bodyPr anchorCtr="0" anchor="t" bIns="0" lIns="0" spcFirstLastPara="1" rIns="0" wrap="square" tIns="0">
            <a:spAutoFit/>
          </a:bodyPr>
          <a:lstStyle/>
          <a:p>
            <a:pPr indent="0" lvl="0" marL="0" marR="0" rtl="0" algn="just">
              <a:lnSpc>
                <a:spcPct val="124811"/>
              </a:lnSpc>
              <a:spcBef>
                <a:spcPts val="0"/>
              </a:spcBef>
              <a:spcAft>
                <a:spcPts val="0"/>
              </a:spcAft>
              <a:buNone/>
            </a:pPr>
            <a:r>
              <a:rPr b="0" i="0" lang="en-US" sz="6098" u="none" cap="none" strike="noStrike">
                <a:solidFill>
                  <a:srgbClr val="131416"/>
                </a:solidFill>
                <a:latin typeface="Arial"/>
                <a:ea typeface="Arial"/>
                <a:cs typeface="Arial"/>
                <a:sym typeface="Arial"/>
              </a:rPr>
              <a:t>¡GRACIAS POR SU  ATENCIÓN!</a:t>
            </a:r>
            <a:endParaRPr/>
          </a:p>
          <a:p>
            <a:pPr indent="0" lvl="0" marL="0" marR="0" rtl="0" algn="just">
              <a:lnSpc>
                <a:spcPct val="124811"/>
              </a:lnSpc>
              <a:spcBef>
                <a:spcPts val="0"/>
              </a:spcBef>
              <a:spcAft>
                <a:spcPts val="0"/>
              </a:spcAft>
              <a:buNone/>
            </a:pPr>
            <a:r>
              <a:t/>
            </a:r>
            <a:endParaRPr b="0" i="0" sz="6098" u="none" cap="none" strike="noStrike">
              <a:solidFill>
                <a:srgbClr val="131416"/>
              </a:solidFill>
              <a:latin typeface="Arial"/>
              <a:ea typeface="Arial"/>
              <a:cs typeface="Arial"/>
              <a:sym typeface="Arial"/>
            </a:endParaRPr>
          </a:p>
        </p:txBody>
      </p:sp>
      <p:sp>
        <p:nvSpPr>
          <p:cNvPr id="478" name="Google Shape;478;p45"/>
          <p:cNvSpPr txBox="1"/>
          <p:nvPr/>
        </p:nvSpPr>
        <p:spPr>
          <a:xfrm>
            <a:off x="5414714" y="5586628"/>
            <a:ext cx="6704991" cy="1270000"/>
          </a:xfrm>
          <a:prstGeom prst="rect">
            <a:avLst/>
          </a:prstGeom>
          <a:noFill/>
          <a:ln>
            <a:noFill/>
          </a:ln>
        </p:spPr>
        <p:txBody>
          <a:bodyPr anchorCtr="0" anchor="t" bIns="0" lIns="0" spcFirstLastPara="1" rIns="0" wrap="square" tIns="0">
            <a:spAutoFit/>
          </a:bodyPr>
          <a:lstStyle/>
          <a:p>
            <a:pPr indent="0" lvl="0" marL="0" marR="0" rtl="0" algn="ctr">
              <a:lnSpc>
                <a:spcPct val="177615"/>
              </a:lnSpc>
              <a:spcBef>
                <a:spcPts val="0"/>
              </a:spcBef>
              <a:spcAft>
                <a:spcPts val="0"/>
              </a:spcAft>
              <a:buNone/>
            </a:pPr>
            <a:r>
              <a:rPr b="0" i="0" lang="en-US" sz="4999" u="none" cap="none" strike="noStrike">
                <a:solidFill>
                  <a:srgbClr val="131416"/>
                </a:solidFill>
                <a:latin typeface="Arial"/>
                <a:ea typeface="Arial"/>
                <a:cs typeface="Arial"/>
                <a:sym typeface="Arial"/>
              </a:rPr>
              <a:t>DUDAS</a:t>
            </a:r>
            <a:endParaRPr/>
          </a:p>
        </p:txBody>
      </p:sp>
      <p:sp>
        <p:nvSpPr>
          <p:cNvPr id="479" name="Google Shape;479;p45"/>
          <p:cNvSpPr/>
          <p:nvPr/>
        </p:nvSpPr>
        <p:spPr>
          <a:xfrm>
            <a:off x="13963751" y="1028700"/>
            <a:ext cx="2757297" cy="3770948"/>
          </a:xfrm>
          <a:custGeom>
            <a:rect b="b" l="l" r="r" t="t"/>
            <a:pathLst>
              <a:path extrusionOk="0" h="5027930" w="3676396">
                <a:moveTo>
                  <a:pt x="0" y="0"/>
                </a:moveTo>
                <a:lnTo>
                  <a:pt x="3676396" y="0"/>
                </a:lnTo>
                <a:lnTo>
                  <a:pt x="3676396" y="5027930"/>
                </a:lnTo>
                <a:lnTo>
                  <a:pt x="0" y="5027930"/>
                </a:lnTo>
                <a:lnTo>
                  <a:pt x="0" y="0"/>
                </a:lnTo>
                <a:close/>
              </a:path>
            </a:pathLst>
          </a:custGeom>
          <a:blipFill rotWithShape="1">
            <a:blip r:embed="rId3">
              <a:alphaModFix/>
            </a:blip>
            <a:stretch>
              <a:fillRect b="0" l="-6" r="-5" t="0"/>
            </a:stretch>
          </a:blipFill>
          <a:ln>
            <a:noFill/>
          </a:ln>
        </p:spPr>
      </p:sp>
      <p:sp>
        <p:nvSpPr>
          <p:cNvPr id="480" name="Google Shape;480;p45"/>
          <p:cNvSpPr txBox="1"/>
          <p:nvPr/>
        </p:nvSpPr>
        <p:spPr>
          <a:xfrm>
            <a:off x="2411098" y="7747335"/>
            <a:ext cx="13465804" cy="871855"/>
          </a:xfrm>
          <a:prstGeom prst="rect">
            <a:avLst/>
          </a:prstGeom>
          <a:noFill/>
          <a:ln>
            <a:noFill/>
          </a:ln>
        </p:spPr>
        <p:txBody>
          <a:bodyPr anchorCtr="0" anchor="t" bIns="0" lIns="0" spcFirstLastPara="1" rIns="0" wrap="square" tIns="0">
            <a:spAutoFit/>
          </a:bodyPr>
          <a:lstStyle/>
          <a:p>
            <a:pPr indent="0" lvl="0" marL="0" marR="0" rtl="0" algn="ctr">
              <a:lnSpc>
                <a:spcPct val="1776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