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5143500" cx="9144000"/>
  <p:notesSz cx="6858000" cy="9144000"/>
  <p:embeddedFontLst>
    <p:embeddedFont>
      <p:font typeface="Lobster"/>
      <p:regular r:id="rId32"/>
    </p:embeddedFont>
    <p:embeddedFont>
      <p:font typeface="Montserrat"/>
      <p:regular r:id="rId33"/>
      <p:bold r:id="rId34"/>
      <p:italic r:id="rId35"/>
      <p:boldItalic r:id="rId36"/>
    </p:embeddedFont>
    <p:embeddedFont>
      <p:font typeface="Pacifico"/>
      <p:regular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50BB659-2174-4AF7-9D86-63EC6889496E}">
  <a:tblStyle styleId="{150BB659-2174-4AF7-9D86-63EC6889496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slide" Target="slides/slide13.xml"/><Relationship Id="rId41" Type="http://schemas.openxmlformats.org/officeDocument/2006/relationships/font" Target="fonts/OpenSans-bold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Montserrat-regular.fntdata"/><Relationship Id="rId10" Type="http://schemas.openxmlformats.org/officeDocument/2006/relationships/slide" Target="slides/slide3.xml"/><Relationship Id="rId32" Type="http://schemas.openxmlformats.org/officeDocument/2006/relationships/font" Target="fonts/Lobster-regular.fntdata"/><Relationship Id="rId13" Type="http://schemas.openxmlformats.org/officeDocument/2006/relationships/slide" Target="slides/slide6.xml"/><Relationship Id="rId35" Type="http://schemas.openxmlformats.org/officeDocument/2006/relationships/font" Target="fonts/Montserrat-italic.fntdata"/><Relationship Id="rId12" Type="http://schemas.openxmlformats.org/officeDocument/2006/relationships/slide" Target="slides/slide5.xml"/><Relationship Id="rId34" Type="http://schemas.openxmlformats.org/officeDocument/2006/relationships/font" Target="fonts/Montserrat-bold.fntdata"/><Relationship Id="rId15" Type="http://schemas.openxmlformats.org/officeDocument/2006/relationships/slide" Target="slides/slide8.xml"/><Relationship Id="rId37" Type="http://schemas.openxmlformats.org/officeDocument/2006/relationships/font" Target="fonts/Pacifico-regular.fntdata"/><Relationship Id="rId14" Type="http://schemas.openxmlformats.org/officeDocument/2006/relationships/slide" Target="slides/slide7.xml"/><Relationship Id="rId36" Type="http://schemas.openxmlformats.org/officeDocument/2006/relationships/font" Target="fonts/Montserrat-boldItalic.fntdata"/><Relationship Id="rId17" Type="http://schemas.openxmlformats.org/officeDocument/2006/relationships/slide" Target="slides/slide10.xml"/><Relationship Id="rId39" Type="http://schemas.openxmlformats.org/officeDocument/2006/relationships/font" Target="fonts/OpenSans-bold.fntdata"/><Relationship Id="rId16" Type="http://schemas.openxmlformats.org/officeDocument/2006/relationships/slide" Target="slides/slide9.xml"/><Relationship Id="rId38" Type="http://schemas.openxmlformats.org/officeDocument/2006/relationships/font" Target="fonts/OpenSans-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178a4ede4_2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g3a178a4ede4_2_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178a4ede4_4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3a178a4ede4_4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178a4ede4_2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g3a178a4ede4_2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178a4ede4_4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3a178a4ede4_4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178a4ede4_2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a178a4ede4_2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178a4ede4_2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3a178a4ede4_2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178a4ede4_2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g3a178a4ede4_2_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178a4ede4_2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g3a178a4ede4_2_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178a4ede4_2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g3a178a4ede4_2_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a178a4ede4_2_2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g3a178a4ede4_2_2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178a4ede4_2_2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g3a178a4ede4_2_2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a178a4ede4_2_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g3a178a4ede4_2_2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a178a4ede4_2_2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g3a178a4ede4_2_2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a178a4ede4_2_2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g3a178a4ede4_2_2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a178a4ede4_2_2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g3a178a4ede4_2_2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a178a4ede4_2_3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9" name="Google Shape;379;g3a178a4ede4_2_3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a178a4ede4_2_3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g3a178a4ede4_2_3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a178a4ede4_4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g3a178a4ede4_4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a178a4ede4_4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g3a178a4ede4_4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a178a4ede4_2_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7" name="Google Shape;417;g3a178a4ede4_2_3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a178a4ede4_4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3" name="Google Shape;423;g3a178a4ede4_4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a178a4ede4_4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1" name="Google Shape;431;g3a178a4ede4_4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a178a4ede4_4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3a178a4ede4_4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a178a4ede4_4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5" name="Google Shape;445;g3a178a4ede4_4_1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lnSpc>
                <a:spcPct val="100000"/>
              </a:lnSpc>
              <a:spcBef>
                <a:spcPts val="300"/>
              </a:spcBef>
              <a:spcAft>
                <a:spcPts val="0"/>
              </a:spcAft>
              <a:buClr>
                <a:srgbClr val="888888"/>
              </a:buClr>
              <a:buSzPts val="1600"/>
              <a:buNone/>
              <a:defRPr>
                <a:solidFill>
                  <a:srgbClr val="888888"/>
                </a:solidFill>
              </a:defRPr>
            </a:lvl1pPr>
            <a:lvl2pPr lvl="1" algn="ctr">
              <a:lnSpc>
                <a:spcPct val="100000"/>
              </a:lnSpc>
              <a:spcBef>
                <a:spcPts val="300"/>
              </a:spcBef>
              <a:spcAft>
                <a:spcPts val="0"/>
              </a:spcAft>
              <a:buClr>
                <a:srgbClr val="888888"/>
              </a:buClr>
              <a:buSzPts val="1400"/>
              <a:buNone/>
              <a:defRPr>
                <a:solidFill>
                  <a:srgbClr val="888888"/>
                </a:solidFill>
              </a:defRPr>
            </a:lvl2pPr>
            <a:lvl3pPr lvl="2" algn="ctr">
              <a:lnSpc>
                <a:spcPct val="100000"/>
              </a:lnSpc>
              <a:spcBef>
                <a:spcPts val="200"/>
              </a:spcBef>
              <a:spcAft>
                <a:spcPts val="0"/>
              </a:spcAft>
              <a:buClr>
                <a:srgbClr val="888888"/>
              </a:buClr>
              <a:buSzPts val="1200"/>
              <a:buNone/>
              <a:defRPr>
                <a:solidFill>
                  <a:srgbClr val="888888"/>
                </a:solidFill>
              </a:defRPr>
            </a:lvl3pPr>
            <a:lvl4pPr lvl="3" algn="ctr">
              <a:lnSpc>
                <a:spcPct val="100000"/>
              </a:lnSpc>
              <a:spcBef>
                <a:spcPts val="200"/>
              </a:spcBef>
              <a:spcAft>
                <a:spcPts val="0"/>
              </a:spcAft>
              <a:buClr>
                <a:srgbClr val="888888"/>
              </a:buClr>
              <a:buSzPts val="10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200"/>
              </a:spcBef>
              <a:spcAft>
                <a:spcPts val="0"/>
              </a:spcAft>
              <a:buClr>
                <a:srgbClr val="888888"/>
              </a:buClr>
              <a:buSzPts val="1000"/>
              <a:buNone/>
              <a:defRPr>
                <a:solidFill>
                  <a:srgbClr val="888888"/>
                </a:solidFill>
              </a:defRPr>
            </a:lvl6pPr>
            <a:lvl7pPr lvl="6" algn="ctr">
              <a:lnSpc>
                <a:spcPct val="100000"/>
              </a:lnSpc>
              <a:spcBef>
                <a:spcPts val="200"/>
              </a:spcBef>
              <a:spcAft>
                <a:spcPts val="0"/>
              </a:spcAft>
              <a:buClr>
                <a:srgbClr val="888888"/>
              </a:buClr>
              <a:buSzPts val="1000"/>
              <a:buNone/>
              <a:defRPr>
                <a:solidFill>
                  <a:srgbClr val="888888"/>
                </a:solidFill>
              </a:defRPr>
            </a:lvl7pPr>
            <a:lvl8pPr lvl="7" algn="ctr">
              <a:lnSpc>
                <a:spcPct val="100000"/>
              </a:lnSpc>
              <a:spcBef>
                <a:spcPts val="200"/>
              </a:spcBef>
              <a:spcAft>
                <a:spcPts val="0"/>
              </a:spcAft>
              <a:buClr>
                <a:srgbClr val="888888"/>
              </a:buClr>
              <a:buSzPts val="1000"/>
              <a:buNone/>
              <a:defRPr>
                <a:solidFill>
                  <a:srgbClr val="888888"/>
                </a:solidFill>
              </a:defRPr>
            </a:lvl8pPr>
            <a:lvl9pPr lvl="8" algn="ctr">
              <a:lnSpc>
                <a:spcPct val="100000"/>
              </a:lnSpc>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rgbClr val="888888"/>
              </a:buClr>
              <a:buSzPts val="1000"/>
              <a:buNone/>
              <a:defRPr sz="1000">
                <a:solidFill>
                  <a:srgbClr val="888888"/>
                </a:solidFill>
              </a:defRPr>
            </a:lvl1pPr>
            <a:lvl2pPr indent="-228600" lvl="1" marL="914400" algn="l">
              <a:lnSpc>
                <a:spcPct val="100000"/>
              </a:lnSpc>
              <a:spcBef>
                <a:spcPts val="200"/>
              </a:spcBef>
              <a:spcAft>
                <a:spcPts val="0"/>
              </a:spcAft>
              <a:buClr>
                <a:srgbClr val="888888"/>
              </a:buClr>
              <a:buSzPts val="900"/>
              <a:buNone/>
              <a:defRPr sz="900">
                <a:solidFill>
                  <a:srgbClr val="888888"/>
                </a:solidFill>
              </a:defRPr>
            </a:lvl2pPr>
            <a:lvl3pPr indent="-228600" lvl="2" marL="1371600" algn="l">
              <a:lnSpc>
                <a:spcPct val="100000"/>
              </a:lnSpc>
              <a:spcBef>
                <a:spcPts val="200"/>
              </a:spcBef>
              <a:spcAft>
                <a:spcPts val="0"/>
              </a:spcAft>
              <a:buClr>
                <a:srgbClr val="888888"/>
              </a:buClr>
              <a:buSzPts val="800"/>
              <a:buNone/>
              <a:defRPr sz="800">
                <a:solidFill>
                  <a:srgbClr val="888888"/>
                </a:solidFill>
              </a:defRPr>
            </a:lvl3pPr>
            <a:lvl4pPr indent="-228600" lvl="3" marL="1828800" algn="l">
              <a:lnSpc>
                <a:spcPct val="100000"/>
              </a:lnSpc>
              <a:spcBef>
                <a:spcPts val="100"/>
              </a:spcBef>
              <a:spcAft>
                <a:spcPts val="0"/>
              </a:spcAft>
              <a:buClr>
                <a:srgbClr val="888888"/>
              </a:buClr>
              <a:buSzPts val="700"/>
              <a:buNone/>
              <a:defRPr sz="700">
                <a:solidFill>
                  <a:srgbClr val="888888"/>
                </a:solidFill>
              </a:defRPr>
            </a:lvl4pPr>
            <a:lvl5pPr indent="-228600" lvl="4" marL="2286000" algn="l">
              <a:lnSpc>
                <a:spcPct val="100000"/>
              </a:lnSpc>
              <a:spcBef>
                <a:spcPts val="100"/>
              </a:spcBef>
              <a:spcAft>
                <a:spcPts val="0"/>
              </a:spcAft>
              <a:buClr>
                <a:srgbClr val="888888"/>
              </a:buClr>
              <a:buSzPts val="700"/>
              <a:buNone/>
              <a:defRPr sz="700">
                <a:solidFill>
                  <a:srgbClr val="888888"/>
                </a:solidFill>
              </a:defRPr>
            </a:lvl5pPr>
            <a:lvl6pPr indent="-228600" lvl="5" marL="2743200" algn="l">
              <a:lnSpc>
                <a:spcPct val="100000"/>
              </a:lnSpc>
              <a:spcBef>
                <a:spcPts val="100"/>
              </a:spcBef>
              <a:spcAft>
                <a:spcPts val="0"/>
              </a:spcAft>
              <a:buClr>
                <a:srgbClr val="888888"/>
              </a:buClr>
              <a:buSzPts val="700"/>
              <a:buNone/>
              <a:defRPr sz="700">
                <a:solidFill>
                  <a:srgbClr val="888888"/>
                </a:solidFill>
              </a:defRPr>
            </a:lvl6pPr>
            <a:lvl7pPr indent="-228600" lvl="6" marL="3200400" algn="l">
              <a:lnSpc>
                <a:spcPct val="100000"/>
              </a:lnSpc>
              <a:spcBef>
                <a:spcPts val="100"/>
              </a:spcBef>
              <a:spcAft>
                <a:spcPts val="0"/>
              </a:spcAft>
              <a:buClr>
                <a:srgbClr val="888888"/>
              </a:buClr>
              <a:buSzPts val="700"/>
              <a:buNone/>
              <a:defRPr sz="700">
                <a:solidFill>
                  <a:srgbClr val="888888"/>
                </a:solidFill>
              </a:defRPr>
            </a:lvl7pPr>
            <a:lvl8pPr indent="-228600" lvl="7" marL="3657600" algn="l">
              <a:lnSpc>
                <a:spcPct val="100000"/>
              </a:lnSpc>
              <a:spcBef>
                <a:spcPts val="100"/>
              </a:spcBef>
              <a:spcAft>
                <a:spcPts val="0"/>
              </a:spcAft>
              <a:buClr>
                <a:srgbClr val="888888"/>
              </a:buClr>
              <a:buSzPts val="700"/>
              <a:buNone/>
              <a:defRPr sz="700">
                <a:solidFill>
                  <a:srgbClr val="888888"/>
                </a:solidFill>
              </a:defRPr>
            </a:lvl8pPr>
            <a:lvl9pPr indent="-228600" lvl="8" marL="4114800" algn="l">
              <a:lnSpc>
                <a:spcPct val="100000"/>
              </a:lnSpc>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2200"/>
              <a:buFont typeface="Calibri"/>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lnSpc>
                <a:spcPct val="100000"/>
              </a:lnSpc>
              <a:spcBef>
                <a:spcPts val="300"/>
              </a:spcBef>
              <a:spcAft>
                <a:spcPts val="0"/>
              </a:spcAft>
              <a:buClr>
                <a:schemeClr val="dk1"/>
              </a:buClr>
              <a:buSzPts val="1600"/>
              <a:buChar char="•"/>
              <a:defRPr sz="1600"/>
            </a:lvl1pPr>
            <a:lvl2pPr indent="-317500" lvl="1" marL="914400" algn="l">
              <a:lnSpc>
                <a:spcPct val="100000"/>
              </a:lnSpc>
              <a:spcBef>
                <a:spcPts val="300"/>
              </a:spcBef>
              <a:spcAft>
                <a:spcPts val="0"/>
              </a:spcAft>
              <a:buClr>
                <a:schemeClr val="dk1"/>
              </a:buClr>
              <a:buSzPts val="1400"/>
              <a:buChar char="–"/>
              <a:defRPr sz="1400"/>
            </a:lvl2pPr>
            <a:lvl3pPr indent="-304800" lvl="2" marL="1371600" algn="l">
              <a:lnSpc>
                <a:spcPct val="100000"/>
              </a:lnSpc>
              <a:spcBef>
                <a:spcPts val="200"/>
              </a:spcBef>
              <a:spcAft>
                <a:spcPts val="0"/>
              </a:spcAft>
              <a:buClr>
                <a:schemeClr val="dk1"/>
              </a:buClr>
              <a:buSzPts val="1200"/>
              <a:buChar char="•"/>
              <a:defRPr sz="1200"/>
            </a:lvl3pPr>
            <a:lvl4pPr indent="-292100" lvl="3" marL="1828800" algn="l">
              <a:lnSpc>
                <a:spcPct val="100000"/>
              </a:lnSpc>
              <a:spcBef>
                <a:spcPts val="200"/>
              </a:spcBef>
              <a:spcAft>
                <a:spcPts val="0"/>
              </a:spcAft>
              <a:buClr>
                <a:schemeClr val="dk1"/>
              </a:buClr>
              <a:buSzPts val="1000"/>
              <a:buChar char="–"/>
              <a:defRPr sz="1000"/>
            </a:lvl4pPr>
            <a:lvl5pPr indent="-292100" lvl="4" marL="2286000" algn="l">
              <a:lnSpc>
                <a:spcPct val="100000"/>
              </a:lnSpc>
              <a:spcBef>
                <a:spcPts val="200"/>
              </a:spcBef>
              <a:spcAft>
                <a:spcPts val="0"/>
              </a:spcAft>
              <a:buClr>
                <a:schemeClr val="dk1"/>
              </a:buClr>
              <a:buSzPts val="1000"/>
              <a:buChar char="»"/>
              <a:defRPr sz="1000"/>
            </a:lvl5pPr>
            <a:lvl6pPr indent="-292100" lvl="5" marL="2743200" algn="l">
              <a:lnSpc>
                <a:spcPct val="100000"/>
              </a:lnSpc>
              <a:spcBef>
                <a:spcPts val="200"/>
              </a:spcBef>
              <a:spcAft>
                <a:spcPts val="0"/>
              </a:spcAft>
              <a:buClr>
                <a:schemeClr val="dk1"/>
              </a:buClr>
              <a:buSzPts val="1000"/>
              <a:buChar char="•"/>
              <a:defRPr sz="1000"/>
            </a:lvl6pPr>
            <a:lvl7pPr indent="-292100" lvl="6" marL="3200400" algn="l">
              <a:lnSpc>
                <a:spcPct val="100000"/>
              </a:lnSpc>
              <a:spcBef>
                <a:spcPts val="200"/>
              </a:spcBef>
              <a:spcAft>
                <a:spcPts val="0"/>
              </a:spcAft>
              <a:buClr>
                <a:schemeClr val="dk1"/>
              </a:buClr>
              <a:buSzPts val="1000"/>
              <a:buChar char="•"/>
              <a:defRPr sz="1000"/>
            </a:lvl7pPr>
            <a:lvl8pPr indent="-292100" lvl="7" marL="3657600" algn="l">
              <a:lnSpc>
                <a:spcPct val="100000"/>
              </a:lnSpc>
              <a:spcBef>
                <a:spcPts val="200"/>
              </a:spcBef>
              <a:spcAft>
                <a:spcPts val="0"/>
              </a:spcAft>
              <a:buClr>
                <a:schemeClr val="dk1"/>
              </a:buClr>
              <a:buSzPts val="1000"/>
              <a:buChar char="•"/>
              <a:defRPr sz="1000"/>
            </a:lvl8pPr>
            <a:lvl9pPr indent="-292100" lvl="8" marL="4114800" algn="l">
              <a:lnSpc>
                <a:spcPct val="100000"/>
              </a:lnSpc>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5" name="Google Shape;115;p23"/>
          <p:cNvSpPr txBox="1"/>
          <p:nvPr>
            <p:ph idx="1" type="body"/>
          </p:nvPr>
        </p:nvSpPr>
        <p:spPr>
          <a:xfrm rot="5400000">
            <a:off x="1154510" y="-125809"/>
            <a:ext cx="2262981" cy="41148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1"/>
            <a:ext cx="2925763" cy="10287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7" name="Google Shape;12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lnSpc>
                <a:spcPct val="100000"/>
              </a:lnSpc>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lnSpc>
                <a:spcPct val="100000"/>
              </a:lnSpc>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100000"/>
              </a:lnSpc>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hyperlink" Target="https://www.youtube.com/watch?v=uZuMPtLBKm4&amp;t=4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14.png"/><Relationship Id="rId5" Type="http://schemas.openxmlformats.org/officeDocument/2006/relationships/image" Target="../media/image9.png"/><Relationship Id="rId6" Type="http://schemas.openxmlformats.org/officeDocument/2006/relationships/image" Target="../media/image27.png"/><Relationship Id="rId7"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3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1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4" name="Google Shape;134;p26"/>
          <p:cNvSpPr txBox="1"/>
          <p:nvPr/>
        </p:nvSpPr>
        <p:spPr>
          <a:xfrm>
            <a:off x="531651" y="3201013"/>
            <a:ext cx="4477078"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s" sz="2500" u="none" cap="none" strike="noStrike">
                <a:solidFill>
                  <a:srgbClr val="131416"/>
                </a:solidFill>
                <a:latin typeface="Open Sans"/>
                <a:ea typeface="Open Sans"/>
                <a:cs typeface="Open Sans"/>
                <a:sym typeface="Open Sans"/>
              </a:rPr>
              <a:t>Lenguajes Formales y de Programación</a:t>
            </a:r>
            <a:endParaRPr b="1" i="0" sz="2500" u="none" cap="none" strike="noStrike">
              <a:solidFill>
                <a:srgbClr val="131416"/>
              </a:solidFill>
              <a:latin typeface="Open Sans"/>
              <a:ea typeface="Open Sans"/>
              <a:cs typeface="Open Sans"/>
              <a:sym typeface="Open Sans"/>
            </a:endParaRPr>
          </a:p>
        </p:txBody>
      </p:sp>
      <p:sp>
        <p:nvSpPr>
          <p:cNvPr id="135" name="Google Shape;135;p26"/>
          <p:cNvSpPr txBox="1"/>
          <p:nvPr/>
        </p:nvSpPr>
        <p:spPr>
          <a:xfrm>
            <a:off x="1343703" y="1957824"/>
            <a:ext cx="6187500" cy="99104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1" i="0" lang="es" sz="4600" u="none" cap="none" strike="noStrike">
                <a:solidFill>
                  <a:srgbClr val="131416"/>
                </a:solidFill>
                <a:latin typeface="Open Sans"/>
                <a:ea typeface="Open Sans"/>
                <a:cs typeface="Open Sans"/>
                <a:sym typeface="Open Sans"/>
              </a:rPr>
              <a:t>Análisis Sintáctico</a:t>
            </a:r>
            <a:endParaRPr b="0" i="0" sz="700" u="none" cap="none" strike="noStrike">
              <a:solidFill>
                <a:srgbClr val="000000"/>
              </a:solidFill>
              <a:latin typeface="Arial"/>
              <a:ea typeface="Arial"/>
              <a:cs typeface="Arial"/>
              <a:sym typeface="Arial"/>
            </a:endParaRPr>
          </a:p>
        </p:txBody>
      </p:sp>
      <p:sp>
        <p:nvSpPr>
          <p:cNvPr id="136" name="Google Shape;136;p26"/>
          <p:cNvSpPr txBox="1"/>
          <p:nvPr/>
        </p:nvSpPr>
        <p:spPr>
          <a:xfrm>
            <a:off x="531651" y="4372626"/>
            <a:ext cx="3490689" cy="211138"/>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Open Sans"/>
                <a:ea typeface="Open Sans"/>
                <a:cs typeface="Open Sans"/>
                <a:sym typeface="Open Sans"/>
              </a:rPr>
              <a:t>Escuela de Ingenieria de Ciencias Y Sistemas</a:t>
            </a:r>
            <a:endParaRPr b="1" i="0" sz="1200" u="none" cap="none" strike="noStrike">
              <a:solidFill>
                <a:srgbClr val="131416"/>
              </a:solidFill>
              <a:latin typeface="Open Sans"/>
              <a:ea typeface="Open Sans"/>
              <a:cs typeface="Open Sans"/>
              <a:sym typeface="Open Sans"/>
            </a:endParaRPr>
          </a:p>
        </p:txBody>
      </p:sp>
      <p:sp>
        <p:nvSpPr>
          <p:cNvPr id="137" name="Google Shape;137;p26"/>
          <p:cNvSpPr txBox="1"/>
          <p:nvPr/>
        </p:nvSpPr>
        <p:spPr>
          <a:xfrm>
            <a:off x="514350" y="4605338"/>
            <a:ext cx="3333750" cy="211138"/>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Open Sans"/>
                <a:ea typeface="Open Sans"/>
                <a:cs typeface="Open Sans"/>
                <a:sym typeface="Open Sans"/>
              </a:rPr>
              <a:t>Facultad de Ingenieria</a:t>
            </a:r>
            <a:endParaRPr b="1" i="0" sz="1200" u="none" cap="none" strike="noStrike">
              <a:solidFill>
                <a:srgbClr val="131416"/>
              </a:solidFill>
              <a:latin typeface="Open Sans"/>
              <a:ea typeface="Open Sans"/>
              <a:cs typeface="Open Sans"/>
              <a:sym typeface="Open Sans"/>
            </a:endParaRPr>
          </a:p>
        </p:txBody>
      </p:sp>
      <p:sp>
        <p:nvSpPr>
          <p:cNvPr id="138" name="Google Shape;138;p26"/>
          <p:cNvSpPr txBox="1"/>
          <p:nvPr/>
        </p:nvSpPr>
        <p:spPr>
          <a:xfrm>
            <a:off x="114300" y="4794127"/>
            <a:ext cx="4057650" cy="209673"/>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Open Sans"/>
                <a:ea typeface="Open Sans"/>
                <a:cs typeface="Open Sans"/>
                <a:sym typeface="Open Sans"/>
              </a:rPr>
              <a:t>Universidad de San Carlos de Guatemala</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144" name="Google Shape;144;p27"/>
          <p:cNvGraphicFramePr/>
          <p:nvPr/>
        </p:nvGraphicFramePr>
        <p:xfrm>
          <a:off x="5328200" y="970025"/>
          <a:ext cx="3000000" cy="3000000"/>
        </p:xfrm>
        <a:graphic>
          <a:graphicData uri="http://schemas.openxmlformats.org/drawingml/2006/table">
            <a:tbl>
              <a:tblPr>
                <a:noFill/>
                <a:tableStyleId>{150BB659-2174-4AF7-9D86-63EC6889496E}</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solidFill>
                            <a:schemeClr val="dk1"/>
                          </a:solidFill>
                          <a:latin typeface="Montserrat"/>
                          <a:ea typeface="Montserrat"/>
                          <a:cs typeface="Montserrat"/>
                          <a:sym typeface="Montserrat"/>
                        </a:rPr>
                        <a:t>Día, Fecha:</a:t>
                      </a:r>
                      <a:endParaRPr b="1" sz="1400" u="none" cap="none" strike="noStrike">
                        <a:solidFill>
                          <a:schemeClr val="dk1"/>
                        </a:solidFill>
                        <a:latin typeface="Montserrat"/>
                        <a:ea typeface="Montserrat"/>
                        <a:cs typeface="Montserrat"/>
                        <a:sym typeface="Montserra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latin typeface="Montserrat"/>
                          <a:ea typeface="Montserrat"/>
                          <a:cs typeface="Montserrat"/>
                          <a:sym typeface="Montserrat"/>
                        </a:rPr>
                        <a:t>x de x de 2026</a:t>
                      </a:r>
                      <a:endParaRPr b="1" sz="1400" u="none" cap="none" strike="noStrike">
                        <a:latin typeface="Montserrat"/>
                        <a:ea typeface="Montserrat"/>
                        <a:cs typeface="Montserrat"/>
                        <a:sym typeface="Montserrat"/>
                      </a:endParaRPr>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solidFill>
                            <a:schemeClr val="dk1"/>
                          </a:solidFill>
                          <a:latin typeface="Montserrat"/>
                          <a:ea typeface="Montserrat"/>
                          <a:cs typeface="Montserrat"/>
                          <a:sym typeface="Montserrat"/>
                        </a:rPr>
                        <a:t>Hora de inicio:</a:t>
                      </a:r>
                      <a:endParaRPr b="1" sz="1400" u="none" cap="none" strike="noStrike">
                        <a:solidFill>
                          <a:schemeClr val="dk1"/>
                        </a:solidFill>
                        <a:latin typeface="Montserrat"/>
                        <a:ea typeface="Montserrat"/>
                        <a:cs typeface="Montserrat"/>
                        <a:sym typeface="Montserra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latin typeface="Montserrat"/>
                          <a:ea typeface="Montserrat"/>
                          <a:cs typeface="Montserrat"/>
                          <a:sym typeface="Montserrat"/>
                        </a:rPr>
                        <a:t>xx:xx - xxxx</a:t>
                      </a:r>
                      <a:endParaRPr b="1" sz="1400" u="none" cap="none" strike="noStrike">
                        <a:latin typeface="Montserrat"/>
                        <a:ea typeface="Montserrat"/>
                        <a:cs typeface="Montserrat"/>
                        <a:sym typeface="Montserrat"/>
                      </a:endParaRPr>
                    </a:p>
                  </a:txBody>
                  <a:tcPr marT="91425" marB="91425" marR="91425" marL="91425"/>
                </a:tc>
              </a:tr>
            </a:tbl>
          </a:graphicData>
        </a:graphic>
      </p:graphicFrame>
      <p:sp>
        <p:nvSpPr>
          <p:cNvPr id="145" name="Google Shape;145;p27"/>
          <p:cNvSpPr txBox="1"/>
          <p:nvPr/>
        </p:nvSpPr>
        <p:spPr>
          <a:xfrm>
            <a:off x="1414125" y="2393550"/>
            <a:ext cx="7223250" cy="56955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s" sz="2500" u="none" cap="none" strike="noStrike">
                <a:solidFill>
                  <a:srgbClr val="000000"/>
                </a:solidFill>
                <a:latin typeface="Montserrat"/>
                <a:ea typeface="Montserrat"/>
                <a:cs typeface="Montserrat"/>
                <a:sym typeface="Montserrat"/>
              </a:rPr>
              <a:t>Lenguajes Formales y De Programación X</a:t>
            </a:r>
            <a:endParaRPr b="1" i="0" sz="2500" u="none" cap="none" strike="noStrike">
              <a:solidFill>
                <a:srgbClr val="000000"/>
              </a:solidFill>
              <a:latin typeface="Montserrat"/>
              <a:ea typeface="Montserrat"/>
              <a:cs typeface="Montserrat"/>
              <a:sym typeface="Montserrat"/>
            </a:endParaRPr>
          </a:p>
        </p:txBody>
      </p:sp>
      <p:sp>
        <p:nvSpPr>
          <p:cNvPr id="146" name="Google Shape;146;p27"/>
          <p:cNvSpPr txBox="1"/>
          <p:nvPr/>
        </p:nvSpPr>
        <p:spPr>
          <a:xfrm>
            <a:off x="2329125" y="3177075"/>
            <a:ext cx="448575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s" sz="2000" u="none" cap="none" strike="noStrike">
                <a:solidFill>
                  <a:srgbClr val="000000"/>
                </a:solidFill>
                <a:latin typeface="Montserrat"/>
                <a:ea typeface="Montserrat"/>
                <a:cs typeface="Montserrat"/>
                <a:sym typeface="Montserrat"/>
              </a:rPr>
              <a:t>Nombre del Tutor : XXXXX</a:t>
            </a:r>
            <a:endParaRPr b="1" i="0" sz="2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grpSp>
        <p:nvGrpSpPr>
          <p:cNvPr id="151" name="Google Shape;151;p28"/>
          <p:cNvGrpSpPr/>
          <p:nvPr/>
        </p:nvGrpSpPr>
        <p:grpSpPr>
          <a:xfrm>
            <a:off x="88310" y="2279911"/>
            <a:ext cx="3313981" cy="422692"/>
            <a:chOff x="0" y="-59452"/>
            <a:chExt cx="2821857" cy="359923"/>
          </a:xfrm>
        </p:grpSpPr>
        <p:sp>
          <p:nvSpPr>
            <p:cNvPr id="152" name="Google Shape;152;p28"/>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53" name="Google Shape;153;p28"/>
            <p:cNvSpPr txBox="1"/>
            <p:nvPr/>
          </p:nvSpPr>
          <p:spPr>
            <a:xfrm>
              <a:off x="534906" y="-59452"/>
              <a:ext cx="2286951" cy="359923"/>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Definción de análisis sintáctico</a:t>
              </a:r>
              <a:endParaRPr b="0" i="0" sz="700" u="none" cap="none" strike="noStrike">
                <a:solidFill>
                  <a:srgbClr val="000000"/>
                </a:solidFill>
                <a:latin typeface="Arial"/>
                <a:ea typeface="Arial"/>
                <a:cs typeface="Arial"/>
                <a:sym typeface="Arial"/>
              </a:endParaRPr>
            </a:p>
          </p:txBody>
        </p:sp>
      </p:grpSp>
      <p:sp>
        <p:nvSpPr>
          <p:cNvPr id="154" name="Google Shape;154;p28"/>
          <p:cNvSpPr/>
          <p:nvPr/>
        </p:nvSpPr>
        <p:spPr>
          <a:xfrm>
            <a:off x="439327" y="2370221"/>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nvGrpSpPr>
          <p:cNvPr id="155" name="Google Shape;155;p28"/>
          <p:cNvGrpSpPr/>
          <p:nvPr/>
        </p:nvGrpSpPr>
        <p:grpSpPr>
          <a:xfrm>
            <a:off x="933494" y="1506992"/>
            <a:ext cx="2057595" cy="778242"/>
            <a:chOff x="0" y="-76200"/>
            <a:chExt cx="1083836" cy="409938"/>
          </a:xfrm>
        </p:grpSpPr>
        <p:sp>
          <p:nvSpPr>
            <p:cNvPr id="156" name="Google Shape;156;p28"/>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57" name="Google Shape;157;p28"/>
            <p:cNvSpPr txBox="1"/>
            <p:nvPr/>
          </p:nvSpPr>
          <p:spPr>
            <a:xfrm>
              <a:off x="0" y="-76200"/>
              <a:ext cx="969536" cy="409938"/>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RECORDATORIOS</a:t>
              </a:r>
              <a:endParaRPr b="0" i="0" sz="700" u="none" cap="none" strike="noStrike">
                <a:solidFill>
                  <a:srgbClr val="000000"/>
                </a:solidFill>
                <a:latin typeface="Arial"/>
                <a:ea typeface="Arial"/>
                <a:cs typeface="Arial"/>
                <a:sym typeface="Arial"/>
              </a:endParaRPr>
            </a:p>
          </p:txBody>
        </p:sp>
      </p:grpSp>
      <p:sp>
        <p:nvSpPr>
          <p:cNvPr id="158" name="Google Shape;158;p28"/>
          <p:cNvSpPr/>
          <p:nvPr/>
        </p:nvSpPr>
        <p:spPr>
          <a:xfrm>
            <a:off x="325877" y="1714868"/>
            <a:ext cx="376946" cy="436464"/>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59" name="Google Shape;159;p28"/>
          <p:cNvSpPr txBox="1"/>
          <p:nvPr/>
        </p:nvSpPr>
        <p:spPr>
          <a:xfrm>
            <a:off x="325874" y="245450"/>
            <a:ext cx="3855151" cy="11544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500"/>
              <a:buFont typeface="Arial"/>
              <a:buNone/>
            </a:pPr>
            <a:r>
              <a:rPr b="0" i="0" lang="es" sz="7500" u="none" cap="none" strike="noStrike">
                <a:solidFill>
                  <a:srgbClr val="131416"/>
                </a:solidFill>
                <a:latin typeface="Pacifico"/>
                <a:ea typeface="Pacifico"/>
                <a:cs typeface="Pacifico"/>
                <a:sym typeface="Pacifico"/>
              </a:rPr>
              <a:t>Agenda</a:t>
            </a:r>
            <a:endParaRPr b="0" i="0" sz="700" u="none" cap="none" strike="noStrike">
              <a:solidFill>
                <a:srgbClr val="000000"/>
              </a:solidFill>
              <a:latin typeface="Pacifico"/>
              <a:ea typeface="Pacifico"/>
              <a:cs typeface="Pacifico"/>
              <a:sym typeface="Pacifico"/>
            </a:endParaRPr>
          </a:p>
        </p:txBody>
      </p:sp>
      <p:sp>
        <p:nvSpPr>
          <p:cNvPr id="160" name="Google Shape;160;p28"/>
          <p:cNvSpPr txBox="1"/>
          <p:nvPr/>
        </p:nvSpPr>
        <p:spPr>
          <a:xfrm>
            <a:off x="5052995" y="195384"/>
            <a:ext cx="4208400" cy="115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500"/>
              <a:buFont typeface="Arial"/>
              <a:buNone/>
            </a:pPr>
            <a:r>
              <a:rPr b="0" i="0" lang="es" sz="7500" u="none" cap="none" strike="noStrike">
                <a:solidFill>
                  <a:srgbClr val="131416"/>
                </a:solidFill>
                <a:latin typeface="Lobster"/>
                <a:ea typeface="Lobster"/>
                <a:cs typeface="Lobster"/>
                <a:sym typeface="Lobster"/>
              </a:rPr>
              <a:t>Recursos</a:t>
            </a:r>
            <a:endParaRPr b="0" i="0" sz="700" u="none" cap="none" strike="noStrike">
              <a:solidFill>
                <a:srgbClr val="000000"/>
              </a:solidFill>
              <a:latin typeface="Lobster"/>
              <a:ea typeface="Lobster"/>
              <a:cs typeface="Lobster"/>
              <a:sym typeface="Lobster"/>
            </a:endParaRPr>
          </a:p>
        </p:txBody>
      </p:sp>
      <p:grpSp>
        <p:nvGrpSpPr>
          <p:cNvPr id="161" name="Google Shape;161;p28"/>
          <p:cNvGrpSpPr/>
          <p:nvPr/>
        </p:nvGrpSpPr>
        <p:grpSpPr>
          <a:xfrm>
            <a:off x="5869902" y="1399317"/>
            <a:ext cx="2676823" cy="850573"/>
            <a:chOff x="0" y="-114300"/>
            <a:chExt cx="1410014" cy="448038"/>
          </a:xfrm>
        </p:grpSpPr>
        <p:sp>
          <p:nvSpPr>
            <p:cNvPr id="162" name="Google Shape;162;p28"/>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63" name="Google Shape;163;p28"/>
            <p:cNvSpPr txBox="1"/>
            <p:nvPr/>
          </p:nvSpPr>
          <p:spPr>
            <a:xfrm>
              <a:off x="0" y="-114300"/>
              <a:ext cx="1295714" cy="448038"/>
            </a:xfrm>
            <a:prstGeom prst="rect">
              <a:avLst/>
            </a:prstGeom>
            <a:noFill/>
            <a:ln>
              <a:noFill/>
            </a:ln>
          </p:spPr>
          <p:txBody>
            <a:bodyPr anchorCtr="0" anchor="ctr" bIns="25400" lIns="25400" spcFirstLastPara="1" rIns="25400" wrap="square" tIns="25400">
              <a:noAutofit/>
            </a:bodyPr>
            <a:lstStyle/>
            <a:p>
              <a:pPr indent="0" lvl="0" marL="0" marR="0" rtl="0" algn="ctr">
                <a:lnSpc>
                  <a:spcPct val="148010"/>
                </a:lnSpc>
                <a:spcBef>
                  <a:spcPts val="0"/>
                </a:spcBef>
                <a:spcAft>
                  <a:spcPts val="0"/>
                </a:spcAft>
                <a:buClr>
                  <a:srgbClr val="000000"/>
                </a:buClr>
                <a:buSzPts val="2200"/>
                <a:buFont typeface="Arial"/>
                <a:buNone/>
              </a:pPr>
              <a:r>
                <a:rPr b="0" i="0" lang="es" sz="2200" u="sng" cap="none" strike="noStrike">
                  <a:solidFill>
                    <a:schemeClr val="hlink"/>
                  </a:solidFill>
                  <a:latin typeface="Arial"/>
                  <a:ea typeface="Arial"/>
                  <a:cs typeface="Arial"/>
                  <a:sym typeface="Arial"/>
                  <a:hlinkClick r:id="rId5"/>
                </a:rPr>
                <a:t>Link del Video</a:t>
              </a:r>
              <a:endParaRPr b="0" i="0" sz="700" u="none" cap="none" strike="noStrike">
                <a:solidFill>
                  <a:srgbClr val="000000"/>
                </a:solidFill>
                <a:latin typeface="Arial"/>
                <a:ea typeface="Arial"/>
                <a:cs typeface="Arial"/>
                <a:sym typeface="Arial"/>
              </a:endParaRPr>
            </a:p>
          </p:txBody>
        </p:sp>
      </p:grpSp>
      <p:grpSp>
        <p:nvGrpSpPr>
          <p:cNvPr id="164" name="Google Shape;164;p28"/>
          <p:cNvGrpSpPr/>
          <p:nvPr/>
        </p:nvGrpSpPr>
        <p:grpSpPr>
          <a:xfrm>
            <a:off x="5869902" y="2299342"/>
            <a:ext cx="2676823" cy="850572"/>
            <a:chOff x="0" y="-114300"/>
            <a:chExt cx="1410014" cy="448038"/>
          </a:xfrm>
        </p:grpSpPr>
        <p:sp>
          <p:nvSpPr>
            <p:cNvPr id="165" name="Google Shape;165;p28"/>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66" name="Google Shape;166;p28"/>
            <p:cNvSpPr txBox="1"/>
            <p:nvPr/>
          </p:nvSpPr>
          <p:spPr>
            <a:xfrm>
              <a:off x="0" y="-114300"/>
              <a:ext cx="1295714" cy="448038"/>
            </a:xfrm>
            <a:prstGeom prst="rect">
              <a:avLst/>
            </a:prstGeom>
            <a:noFill/>
            <a:ln>
              <a:noFill/>
            </a:ln>
          </p:spPr>
          <p:txBody>
            <a:bodyPr anchorCtr="0" anchor="ctr" bIns="25400" lIns="25400" spcFirstLastPara="1" rIns="25400" wrap="square" tIns="25400">
              <a:noAutofit/>
            </a:bodyPr>
            <a:lstStyle/>
            <a:p>
              <a:pPr indent="0" lvl="0" marL="0" marR="0" rtl="0" algn="ctr">
                <a:lnSpc>
                  <a:spcPct val="148010"/>
                </a:lnSpc>
                <a:spcBef>
                  <a:spcPts val="0"/>
                </a:spcBef>
                <a:spcAft>
                  <a:spcPts val="0"/>
                </a:spcAft>
                <a:buClr>
                  <a:srgbClr val="000000"/>
                </a:buClr>
                <a:buSzPts val="2200"/>
                <a:buFont typeface="Arial"/>
                <a:buNone/>
              </a:pPr>
              <a:r>
                <a:rPr b="0" i="0" lang="es" sz="2200" u="none" cap="none" strike="noStrike">
                  <a:solidFill>
                    <a:srgbClr val="000000"/>
                  </a:solidFill>
                  <a:latin typeface="Arial"/>
                  <a:ea typeface="Arial"/>
                  <a:cs typeface="Arial"/>
                  <a:sym typeface="Arial"/>
                </a:rPr>
                <a:t>Link de Quizziz</a:t>
              </a:r>
              <a:endParaRPr b="0" i="0" sz="700" u="none" cap="none" strike="noStrike">
                <a:solidFill>
                  <a:srgbClr val="000000"/>
                </a:solidFill>
                <a:latin typeface="Arial"/>
                <a:ea typeface="Arial"/>
                <a:cs typeface="Arial"/>
                <a:sym typeface="Arial"/>
              </a:endParaRPr>
            </a:p>
          </p:txBody>
        </p:sp>
      </p:grpSp>
      <p:grpSp>
        <p:nvGrpSpPr>
          <p:cNvPr id="167" name="Google Shape;167;p28"/>
          <p:cNvGrpSpPr/>
          <p:nvPr/>
        </p:nvGrpSpPr>
        <p:grpSpPr>
          <a:xfrm>
            <a:off x="88310" y="2711454"/>
            <a:ext cx="4568462" cy="433390"/>
            <a:chOff x="0" y="-85309"/>
            <a:chExt cx="3890048" cy="369032"/>
          </a:xfrm>
        </p:grpSpPr>
        <p:sp>
          <p:nvSpPr>
            <p:cNvPr id="168" name="Google Shape;168;p28"/>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69" name="Google Shape;169;p28"/>
            <p:cNvSpPr txBox="1"/>
            <p:nvPr/>
          </p:nvSpPr>
          <p:spPr>
            <a:xfrm>
              <a:off x="618152" y="-85309"/>
              <a:ext cx="3271896" cy="359923"/>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Definción de lenguajes libres de contexto (LFC)</a:t>
              </a:r>
              <a:endParaRPr b="0" i="0" sz="700" u="none" cap="none" strike="noStrike">
                <a:solidFill>
                  <a:srgbClr val="000000"/>
                </a:solidFill>
                <a:latin typeface="Arial"/>
                <a:ea typeface="Arial"/>
                <a:cs typeface="Arial"/>
                <a:sym typeface="Arial"/>
              </a:endParaRPr>
            </a:p>
          </p:txBody>
        </p:sp>
      </p:grpSp>
      <p:grpSp>
        <p:nvGrpSpPr>
          <p:cNvPr id="170" name="Google Shape;170;p28"/>
          <p:cNvGrpSpPr/>
          <p:nvPr/>
        </p:nvGrpSpPr>
        <p:grpSpPr>
          <a:xfrm>
            <a:off x="88309" y="3223635"/>
            <a:ext cx="2598582" cy="422692"/>
            <a:chOff x="0" y="-67091"/>
            <a:chExt cx="2212695" cy="359923"/>
          </a:xfrm>
        </p:grpSpPr>
        <p:sp>
          <p:nvSpPr>
            <p:cNvPr id="171" name="Google Shape;171;p28"/>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72" name="Google Shape;172;p28"/>
            <p:cNvSpPr txBox="1"/>
            <p:nvPr/>
          </p:nvSpPr>
          <p:spPr>
            <a:xfrm>
              <a:off x="362774" y="-67091"/>
              <a:ext cx="1849921" cy="359923"/>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Gramaticas Tipo 2</a:t>
              </a:r>
              <a:endParaRPr b="0" i="0" sz="700" u="none" cap="none" strike="noStrike">
                <a:solidFill>
                  <a:srgbClr val="000000"/>
                </a:solidFill>
                <a:latin typeface="Arial"/>
                <a:ea typeface="Arial"/>
                <a:cs typeface="Arial"/>
                <a:sym typeface="Arial"/>
              </a:endParaRPr>
            </a:p>
          </p:txBody>
        </p:sp>
      </p:grpSp>
      <p:grpSp>
        <p:nvGrpSpPr>
          <p:cNvPr id="173" name="Google Shape;173;p28"/>
          <p:cNvGrpSpPr/>
          <p:nvPr/>
        </p:nvGrpSpPr>
        <p:grpSpPr>
          <a:xfrm>
            <a:off x="88309" y="3674729"/>
            <a:ext cx="2306776" cy="422692"/>
            <a:chOff x="0" y="-76200"/>
            <a:chExt cx="1964221" cy="359923"/>
          </a:xfrm>
        </p:grpSpPr>
        <p:sp>
          <p:nvSpPr>
            <p:cNvPr id="174" name="Google Shape;174;p28"/>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75" name="Google Shape;175;p28"/>
            <p:cNvSpPr txBox="1"/>
            <p:nvPr/>
          </p:nvSpPr>
          <p:spPr>
            <a:xfrm>
              <a:off x="57150" y="-76200"/>
              <a:ext cx="1849921" cy="359923"/>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Ejemplos</a:t>
              </a:r>
              <a:endParaRPr b="0" i="0" sz="700" u="none" cap="none" strike="noStrike">
                <a:solidFill>
                  <a:srgbClr val="000000"/>
                </a:solidFill>
                <a:latin typeface="Arial"/>
                <a:ea typeface="Arial"/>
                <a:cs typeface="Arial"/>
                <a:sym typeface="Arial"/>
              </a:endParaRPr>
            </a:p>
          </p:txBody>
        </p:sp>
      </p:grpSp>
      <p:grpSp>
        <p:nvGrpSpPr>
          <p:cNvPr id="176" name="Google Shape;176;p28"/>
          <p:cNvGrpSpPr/>
          <p:nvPr/>
        </p:nvGrpSpPr>
        <p:grpSpPr>
          <a:xfrm>
            <a:off x="88310" y="4206458"/>
            <a:ext cx="3313981" cy="422692"/>
            <a:chOff x="0" y="-76200"/>
            <a:chExt cx="2821858" cy="359923"/>
          </a:xfrm>
        </p:grpSpPr>
        <p:sp>
          <p:nvSpPr>
            <p:cNvPr id="177" name="Google Shape;177;p28"/>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78" name="Google Shape;178;p28"/>
            <p:cNvSpPr txBox="1"/>
            <p:nvPr/>
          </p:nvSpPr>
          <p:spPr>
            <a:xfrm>
              <a:off x="534907" y="-76200"/>
              <a:ext cx="2286951" cy="359923"/>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Tema</a:t>
              </a:r>
              <a:endParaRPr b="0" i="0" sz="700" u="none" cap="none" strike="noStrike">
                <a:solidFill>
                  <a:srgbClr val="000000"/>
                </a:solidFill>
                <a:latin typeface="Arial"/>
                <a:ea typeface="Arial"/>
                <a:cs typeface="Arial"/>
                <a:sym typeface="Arial"/>
              </a:endParaRPr>
            </a:p>
          </p:txBody>
        </p:sp>
      </p:grpSp>
      <p:sp>
        <p:nvSpPr>
          <p:cNvPr id="179" name="Google Shape;179;p28"/>
          <p:cNvSpPr/>
          <p:nvPr/>
        </p:nvSpPr>
        <p:spPr>
          <a:xfrm>
            <a:off x="439327" y="2811640"/>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0" name="Google Shape;180;p28"/>
          <p:cNvSpPr/>
          <p:nvPr/>
        </p:nvSpPr>
        <p:spPr>
          <a:xfrm>
            <a:off x="439327" y="3302427"/>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1" name="Google Shape;181;p28"/>
          <p:cNvSpPr/>
          <p:nvPr/>
        </p:nvSpPr>
        <p:spPr>
          <a:xfrm>
            <a:off x="439327" y="3802318"/>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2" name="Google Shape;182;p28"/>
          <p:cNvSpPr/>
          <p:nvPr/>
        </p:nvSpPr>
        <p:spPr>
          <a:xfrm>
            <a:off x="439327" y="4302770"/>
            <a:ext cx="226679" cy="275047"/>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29" title="Gemini_Generated_Image_sfb0qdsfb0qdsfb0.png"/>
          <p:cNvPicPr preferRelativeResize="0"/>
          <p:nvPr/>
        </p:nvPicPr>
        <p:blipFill rotWithShape="1">
          <a:blip r:embed="rId3">
            <a:alphaModFix/>
          </a:blip>
          <a:srcRect b="0" l="0" r="0" t="0"/>
          <a:stretch/>
        </p:blipFill>
        <p:spPr>
          <a:xfrm>
            <a:off x="-147212" y="1556995"/>
            <a:ext cx="2617180" cy="3586506"/>
          </a:xfrm>
          <a:prstGeom prst="rect">
            <a:avLst/>
          </a:prstGeom>
          <a:noFill/>
          <a:ln>
            <a:noFill/>
          </a:ln>
        </p:spPr>
      </p:pic>
      <p:sp>
        <p:nvSpPr>
          <p:cNvPr id="188" name="Google Shape;188;p29"/>
          <p:cNvSpPr txBox="1"/>
          <p:nvPr/>
        </p:nvSpPr>
        <p:spPr>
          <a:xfrm>
            <a:off x="1074220" y="1479820"/>
            <a:ext cx="6995550" cy="46935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COMPETENCIA QUE DESARROLLAREMOS</a:t>
            </a:r>
            <a:endParaRPr b="0" i="0" sz="700" u="none" cap="none" strike="noStrike">
              <a:solidFill>
                <a:srgbClr val="000000"/>
              </a:solidFill>
              <a:latin typeface="Impact"/>
              <a:ea typeface="Impact"/>
              <a:cs typeface="Impact"/>
              <a:sym typeface="Impact"/>
            </a:endParaRPr>
          </a:p>
        </p:txBody>
      </p:sp>
      <p:sp>
        <p:nvSpPr>
          <p:cNvPr id="189" name="Google Shape;189;p29"/>
          <p:cNvSpPr txBox="1"/>
          <p:nvPr/>
        </p:nvSpPr>
        <p:spPr>
          <a:xfrm>
            <a:off x="1228800" y="2103825"/>
            <a:ext cx="6686400" cy="93585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chemeClr val="dk1"/>
              </a:buClr>
              <a:buSzPts val="600"/>
              <a:buFont typeface="Arial"/>
              <a:buNone/>
            </a:pPr>
            <a:r>
              <a:rPr b="0" i="0" lang="es" sz="1600" u="none" cap="none" strike="noStrike">
                <a:solidFill>
                  <a:schemeClr val="dk1"/>
                </a:solidFill>
                <a:latin typeface="Montserrat"/>
                <a:ea typeface="Montserrat"/>
                <a:cs typeface="Montserrat"/>
                <a:sym typeface="Montserrat"/>
              </a:rPr>
              <a:t>El estudiante necesita ser disciplinado para aprender y practicar la sintaxis del lenguaje de manera correcta.</a:t>
            </a:r>
            <a:endParaRPr b="0" i="0" sz="1600" u="none" cap="none" strike="noStrike">
              <a:solidFill>
                <a:schemeClr val="dk1"/>
              </a:solidFill>
              <a:latin typeface="Montserrat"/>
              <a:ea typeface="Montserrat"/>
              <a:cs typeface="Montserrat"/>
              <a:sym typeface="Montserrat"/>
            </a:endParaRPr>
          </a:p>
          <a:p>
            <a:pPr indent="0" lvl="0" marL="0" marR="0" rtl="0" algn="ctr">
              <a:lnSpc>
                <a:spcPct val="140007"/>
              </a:lnSpc>
              <a:spcBef>
                <a:spcPts val="0"/>
              </a:spcBef>
              <a:spcAft>
                <a:spcPts val="0"/>
              </a:spcAft>
              <a:buClr>
                <a:schemeClr val="dk1"/>
              </a:buClr>
              <a:buSzPts val="600"/>
              <a:buFont typeface="Arial"/>
              <a:buNone/>
            </a:pPr>
            <a:r>
              <a:t/>
            </a:r>
            <a:endParaRPr b="0" i="0" sz="1600" u="none" cap="none" strike="noStrike">
              <a:solidFill>
                <a:schemeClr val="dk1"/>
              </a:solidFill>
              <a:latin typeface="Montserrat"/>
              <a:ea typeface="Montserrat"/>
              <a:cs typeface="Montserrat"/>
              <a:sym typeface="Montserrat"/>
            </a:endParaRPr>
          </a:p>
        </p:txBody>
      </p:sp>
      <p:sp>
        <p:nvSpPr>
          <p:cNvPr id="190" name="Google Shape;190;p29"/>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4">
              <a:alphaModFix/>
            </a:blip>
            <a:stretch>
              <a:fillRect b="0" l="0" r="0" t="0"/>
            </a:stretch>
          </a:blipFill>
          <a:ln>
            <a:noFill/>
          </a:ln>
        </p:spPr>
      </p:sp>
      <p:pic>
        <p:nvPicPr>
          <p:cNvPr id="191" name="Google Shape;191;p29"/>
          <p:cNvPicPr preferRelativeResize="0"/>
          <p:nvPr/>
        </p:nvPicPr>
        <p:blipFill rotWithShape="1">
          <a:blip r:embed="rId5">
            <a:alphaModFix/>
          </a:blip>
          <a:srcRect b="0" l="0" r="0" t="0"/>
          <a:stretch/>
        </p:blipFill>
        <p:spPr>
          <a:xfrm>
            <a:off x="6997150" y="3674263"/>
            <a:ext cx="2146849" cy="14319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nvSpPr>
        <p:spPr>
          <a:xfrm>
            <a:off x="687445" y="857391"/>
            <a:ext cx="7626376" cy="1038266"/>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1300"/>
              <a:buFont typeface="Arial"/>
              <a:buNone/>
            </a:pPr>
            <a:r>
              <a:rPr b="0" i="0" lang="es" sz="1300" u="none" cap="none" strike="noStrike">
                <a:solidFill>
                  <a:srgbClr val="000000"/>
                </a:solidFill>
                <a:latin typeface="Arial"/>
                <a:ea typeface="Arial"/>
                <a:cs typeface="Arial"/>
                <a:sym typeface="Arial"/>
              </a:rPr>
              <a:t>En el modelo del compilador, el analizador sintáctico obtiene una cadena de componentes</a:t>
            </a:r>
            <a:endParaRPr b="0" i="0" sz="700" u="none" cap="none" strike="noStrike">
              <a:solidFill>
                <a:srgbClr val="000000"/>
              </a:solidFill>
              <a:latin typeface="Arial"/>
              <a:ea typeface="Arial"/>
              <a:cs typeface="Arial"/>
              <a:sym typeface="Arial"/>
            </a:endParaRPr>
          </a:p>
          <a:p>
            <a:pPr indent="0" lvl="0" marL="0" marR="0" rtl="0" algn="l">
              <a:lnSpc>
                <a:spcPct val="173070"/>
              </a:lnSpc>
              <a:spcBef>
                <a:spcPts val="0"/>
              </a:spcBef>
              <a:spcAft>
                <a:spcPts val="0"/>
              </a:spcAft>
              <a:buClr>
                <a:srgbClr val="000000"/>
              </a:buClr>
              <a:buSzPts val="1300"/>
              <a:buFont typeface="Arial"/>
              <a:buNone/>
            </a:pPr>
            <a:r>
              <a:rPr b="0" i="0" lang="es" sz="1300" u="none" cap="none" strike="noStrike">
                <a:solidFill>
                  <a:srgbClr val="000000"/>
                </a:solidFill>
                <a:latin typeface="Arial"/>
                <a:ea typeface="Arial"/>
                <a:cs typeface="Arial"/>
                <a:sym typeface="Arial"/>
              </a:rPr>
              <a:t>léxicos del analizador léxico, y comprueba si la cadena puede ser generada por la gramática</a:t>
            </a:r>
            <a:endParaRPr b="0" i="0" sz="700" u="none" cap="none" strike="noStrike">
              <a:solidFill>
                <a:srgbClr val="000000"/>
              </a:solidFill>
              <a:latin typeface="Arial"/>
              <a:ea typeface="Arial"/>
              <a:cs typeface="Arial"/>
              <a:sym typeface="Arial"/>
            </a:endParaRPr>
          </a:p>
          <a:p>
            <a:pPr indent="0" lvl="0" marL="0" marR="0" rtl="0" algn="l">
              <a:lnSpc>
                <a:spcPct val="173070"/>
              </a:lnSpc>
              <a:spcBef>
                <a:spcPts val="0"/>
              </a:spcBef>
              <a:spcAft>
                <a:spcPts val="0"/>
              </a:spcAft>
              <a:buClr>
                <a:srgbClr val="000000"/>
              </a:buClr>
              <a:buSzPts val="1300"/>
              <a:buFont typeface="Arial"/>
              <a:buNone/>
            </a:pPr>
            <a:r>
              <a:rPr b="0" i="0" lang="es" sz="1300" u="none" cap="none" strike="noStrike">
                <a:solidFill>
                  <a:srgbClr val="000000"/>
                </a:solidFill>
                <a:latin typeface="Arial"/>
                <a:ea typeface="Arial"/>
                <a:cs typeface="Arial"/>
                <a:sym typeface="Arial"/>
              </a:rPr>
              <a:t>del programa fuente.</a:t>
            </a:r>
            <a:endParaRPr b="0" i="0" sz="700" u="none" cap="none" strike="noStrike">
              <a:solidFill>
                <a:srgbClr val="000000"/>
              </a:solidFill>
              <a:latin typeface="Arial"/>
              <a:ea typeface="Arial"/>
              <a:cs typeface="Arial"/>
              <a:sym typeface="Arial"/>
            </a:endParaRPr>
          </a:p>
        </p:txBody>
      </p:sp>
      <p:sp>
        <p:nvSpPr>
          <p:cNvPr id="197" name="Google Shape;197;p30"/>
          <p:cNvSpPr txBox="1"/>
          <p:nvPr/>
        </p:nvSpPr>
        <p:spPr>
          <a:xfrm>
            <a:off x="687445" y="327182"/>
            <a:ext cx="6995550" cy="53020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ANALIZADOR SINTÁCTICO</a:t>
            </a:r>
            <a:endParaRPr b="0" i="0" sz="700" u="none" cap="none" strike="noStrike">
              <a:solidFill>
                <a:srgbClr val="000000"/>
              </a:solidFill>
              <a:latin typeface="Impact"/>
              <a:ea typeface="Impact"/>
              <a:cs typeface="Impact"/>
              <a:sym typeface="Impact"/>
            </a:endParaRPr>
          </a:p>
        </p:txBody>
      </p:sp>
      <p:pic>
        <p:nvPicPr>
          <p:cNvPr id="198" name="Google Shape;198;p30"/>
          <p:cNvPicPr preferRelativeResize="0"/>
          <p:nvPr/>
        </p:nvPicPr>
        <p:blipFill rotWithShape="1">
          <a:blip r:embed="rId3">
            <a:alphaModFix/>
          </a:blip>
          <a:srcRect b="0" l="0" r="0" t="0"/>
          <a:stretch/>
        </p:blipFill>
        <p:spPr>
          <a:xfrm>
            <a:off x="1480969" y="2023573"/>
            <a:ext cx="6182061" cy="244854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nvSpPr>
        <p:spPr>
          <a:xfrm>
            <a:off x="687445" y="857391"/>
            <a:ext cx="7626376" cy="2329484"/>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1300"/>
              <a:buFont typeface="Arial"/>
              <a:buNone/>
            </a:pPr>
            <a:r>
              <a:rPr b="0" i="0" lang="es" sz="1300" u="none" cap="none" strike="noStrike">
                <a:solidFill>
                  <a:srgbClr val="000000"/>
                </a:solidFill>
                <a:latin typeface="Arial"/>
                <a:ea typeface="Arial"/>
                <a:cs typeface="Arial"/>
                <a:sym typeface="Arial"/>
              </a:rPr>
              <a:t>Un lenguaje libre de contexto (LFC) es un conjunto de cadenas de símbolos generadas por una gramática libre de contexto (GLC). La característica distintiva de una GLC es que sus reglas de producción no dependen del contexto del símbolo.</a:t>
            </a:r>
            <a:endParaRPr b="0" i="0" sz="700" u="none" cap="none" strike="noStrike">
              <a:solidFill>
                <a:srgbClr val="000000"/>
              </a:solidFill>
              <a:latin typeface="Arial"/>
              <a:ea typeface="Arial"/>
              <a:cs typeface="Arial"/>
              <a:sym typeface="Arial"/>
            </a:endParaRPr>
          </a:p>
          <a:p>
            <a:pPr indent="0" lvl="0" marL="0" marR="0" rtl="0" algn="l">
              <a:lnSpc>
                <a:spcPct val="17307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0" marR="0" rtl="0" algn="l">
              <a:lnSpc>
                <a:spcPct val="173070"/>
              </a:lnSpc>
              <a:spcBef>
                <a:spcPts val="0"/>
              </a:spcBef>
              <a:spcAft>
                <a:spcPts val="0"/>
              </a:spcAft>
              <a:buClr>
                <a:srgbClr val="000000"/>
              </a:buClr>
              <a:buSzPts val="1300"/>
              <a:buFont typeface="Arial"/>
              <a:buNone/>
            </a:pPr>
            <a:r>
              <a:rPr b="0" i="0" lang="es" sz="1300" u="none" cap="none" strike="noStrike">
                <a:solidFill>
                  <a:srgbClr val="000000"/>
                </a:solidFill>
                <a:latin typeface="Arial"/>
                <a:ea typeface="Arial"/>
                <a:cs typeface="Arial"/>
                <a:sym typeface="Arial"/>
              </a:rPr>
              <a:t>La forma general de una regla de producción en una GLC es A→α, donde A es un símbolo no terminal y α es una cadena de símbolos que puede incluir terminales y no terminales. Esta estructura permite describir construcciones complejas en lenguajes de programación modernos.</a:t>
            </a:r>
            <a:endParaRPr b="0" i="0" sz="700" u="none" cap="none" strike="noStrike">
              <a:solidFill>
                <a:srgbClr val="000000"/>
              </a:solidFill>
              <a:latin typeface="Arial"/>
              <a:ea typeface="Arial"/>
              <a:cs typeface="Arial"/>
              <a:sym typeface="Arial"/>
            </a:endParaRPr>
          </a:p>
        </p:txBody>
      </p:sp>
      <p:sp>
        <p:nvSpPr>
          <p:cNvPr id="204" name="Google Shape;204;p31"/>
          <p:cNvSpPr txBox="1"/>
          <p:nvPr/>
        </p:nvSpPr>
        <p:spPr>
          <a:xfrm>
            <a:off x="687445" y="327182"/>
            <a:ext cx="6995550" cy="53020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LENGUAJES LIBRES DE CONTEXTO</a:t>
            </a:r>
            <a:endParaRPr b="0" i="0" sz="700" u="none" cap="none" strike="noStrike">
              <a:solidFill>
                <a:srgbClr val="000000"/>
              </a:solidFill>
              <a:latin typeface="Impact"/>
              <a:ea typeface="Impact"/>
              <a:cs typeface="Impact"/>
              <a:sym typeface="Impact"/>
            </a:endParaRPr>
          </a:p>
        </p:txBody>
      </p:sp>
      <p:sp>
        <p:nvSpPr>
          <p:cNvPr id="205" name="Google Shape;205;p31"/>
          <p:cNvSpPr/>
          <p:nvPr/>
        </p:nvSpPr>
        <p:spPr>
          <a:xfrm>
            <a:off x="1410662" y="3283785"/>
            <a:ext cx="1961078" cy="866597"/>
          </a:xfrm>
          <a:prstGeom prst="roundRect">
            <a:avLst>
              <a:gd fmla="val 2137"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06" name="Google Shape;206;p31"/>
          <p:cNvSpPr/>
          <p:nvPr/>
        </p:nvSpPr>
        <p:spPr>
          <a:xfrm>
            <a:off x="1534073" y="3407190"/>
            <a:ext cx="1714200" cy="1753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100"/>
              <a:buFont typeface="Montserrat"/>
              <a:buNone/>
            </a:pPr>
            <a:r>
              <a:rPr b="1" i="0" lang="es" sz="1100" u="none" cap="none" strike="noStrike">
                <a:solidFill>
                  <a:srgbClr val="E2E6E9"/>
                </a:solidFill>
                <a:latin typeface="Montserrat"/>
                <a:ea typeface="Montserrat"/>
                <a:cs typeface="Montserrat"/>
                <a:sym typeface="Montserrat"/>
              </a:rPr>
              <a:t>Símbolo No Terminal</a:t>
            </a:r>
            <a:endParaRPr b="0" i="0" sz="1100" u="none" cap="none" strike="noStrike">
              <a:solidFill>
                <a:schemeClr val="dk1"/>
              </a:solidFill>
              <a:latin typeface="Calibri"/>
              <a:ea typeface="Calibri"/>
              <a:cs typeface="Calibri"/>
              <a:sym typeface="Calibri"/>
            </a:endParaRPr>
          </a:p>
        </p:txBody>
      </p:sp>
      <p:sp>
        <p:nvSpPr>
          <p:cNvPr id="207" name="Google Shape;207;p31"/>
          <p:cNvSpPr/>
          <p:nvPr/>
        </p:nvSpPr>
        <p:spPr>
          <a:xfrm>
            <a:off x="1534071" y="3656570"/>
            <a:ext cx="1714262" cy="370404"/>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000"/>
              <a:buFont typeface="Arial"/>
              <a:buNone/>
            </a:pPr>
            <a:r>
              <a:rPr b="0" i="0" lang="es" sz="1000" u="none" cap="none" strike="noStrike">
                <a:solidFill>
                  <a:srgbClr val="E2E6E9"/>
                </a:solidFill>
                <a:latin typeface="Arial"/>
                <a:ea typeface="Arial"/>
                <a:cs typeface="Arial"/>
                <a:sym typeface="Arial"/>
              </a:rPr>
              <a:t>A: Representa una variable de la gramática.</a:t>
            </a:r>
            <a:endParaRPr b="0" i="0" sz="1000" u="none" cap="none" strike="noStrike">
              <a:solidFill>
                <a:schemeClr val="dk1"/>
              </a:solidFill>
              <a:latin typeface="Calibri"/>
              <a:ea typeface="Calibri"/>
              <a:cs typeface="Calibri"/>
              <a:sym typeface="Calibri"/>
            </a:endParaRPr>
          </a:p>
        </p:txBody>
      </p:sp>
      <p:sp>
        <p:nvSpPr>
          <p:cNvPr id="208" name="Google Shape;208;p31"/>
          <p:cNvSpPr/>
          <p:nvPr/>
        </p:nvSpPr>
        <p:spPr>
          <a:xfrm>
            <a:off x="3495149" y="3283785"/>
            <a:ext cx="1961078" cy="866597"/>
          </a:xfrm>
          <a:prstGeom prst="roundRect">
            <a:avLst>
              <a:gd fmla="val 2137"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09" name="Google Shape;209;p31"/>
          <p:cNvSpPr/>
          <p:nvPr/>
        </p:nvSpPr>
        <p:spPr>
          <a:xfrm>
            <a:off x="3618561" y="3407190"/>
            <a:ext cx="1714200" cy="1753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100"/>
              <a:buFont typeface="Montserrat"/>
              <a:buNone/>
            </a:pPr>
            <a:r>
              <a:rPr b="1" i="0" lang="es" sz="1100" u="none" cap="none" strike="noStrike">
                <a:solidFill>
                  <a:srgbClr val="E2E6E9"/>
                </a:solidFill>
                <a:latin typeface="Montserrat"/>
                <a:ea typeface="Montserrat"/>
                <a:cs typeface="Montserrat"/>
                <a:sym typeface="Montserrat"/>
              </a:rPr>
              <a:t>Flecha de Producción</a:t>
            </a:r>
            <a:endParaRPr b="0" i="0" sz="1100" u="none" cap="none" strike="noStrike">
              <a:solidFill>
                <a:schemeClr val="dk1"/>
              </a:solidFill>
              <a:latin typeface="Calibri"/>
              <a:ea typeface="Calibri"/>
              <a:cs typeface="Calibri"/>
              <a:sym typeface="Calibri"/>
            </a:endParaRPr>
          </a:p>
        </p:txBody>
      </p:sp>
      <p:sp>
        <p:nvSpPr>
          <p:cNvPr id="210" name="Google Shape;210;p31"/>
          <p:cNvSpPr/>
          <p:nvPr/>
        </p:nvSpPr>
        <p:spPr>
          <a:xfrm>
            <a:off x="3618557" y="3656570"/>
            <a:ext cx="1714262" cy="370404"/>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000"/>
              <a:buFont typeface="Arial"/>
              <a:buNone/>
            </a:pPr>
            <a:r>
              <a:rPr b="0" i="0" lang="es" sz="1000" u="none" cap="none" strike="noStrike">
                <a:solidFill>
                  <a:srgbClr val="E2E6E9"/>
                </a:solidFill>
                <a:latin typeface="Arial"/>
                <a:ea typeface="Arial"/>
                <a:cs typeface="Arial"/>
                <a:sym typeface="Arial"/>
              </a:rPr>
              <a:t>→: Indica la transformación de la regla.</a:t>
            </a:r>
            <a:endParaRPr b="0" i="0" sz="1000" u="none" cap="none" strike="noStrike">
              <a:solidFill>
                <a:schemeClr val="dk1"/>
              </a:solidFill>
              <a:latin typeface="Calibri"/>
              <a:ea typeface="Calibri"/>
              <a:cs typeface="Calibri"/>
              <a:sym typeface="Calibri"/>
            </a:endParaRPr>
          </a:p>
        </p:txBody>
      </p:sp>
      <p:sp>
        <p:nvSpPr>
          <p:cNvPr id="211" name="Google Shape;211;p31"/>
          <p:cNvSpPr/>
          <p:nvPr/>
        </p:nvSpPr>
        <p:spPr>
          <a:xfrm>
            <a:off x="5579636" y="3283785"/>
            <a:ext cx="1961078" cy="866597"/>
          </a:xfrm>
          <a:prstGeom prst="roundRect">
            <a:avLst>
              <a:gd fmla="val 2137"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12" name="Google Shape;212;p31"/>
          <p:cNvSpPr/>
          <p:nvPr/>
        </p:nvSpPr>
        <p:spPr>
          <a:xfrm>
            <a:off x="5703048" y="3407190"/>
            <a:ext cx="1714200" cy="1753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100"/>
              <a:buFont typeface="Montserrat"/>
              <a:buNone/>
            </a:pPr>
            <a:r>
              <a:rPr b="1" i="0" lang="es" sz="1100" u="none" cap="none" strike="noStrike">
                <a:solidFill>
                  <a:srgbClr val="E2E6E9"/>
                </a:solidFill>
                <a:latin typeface="Montserrat"/>
                <a:ea typeface="Montserrat"/>
                <a:cs typeface="Montserrat"/>
                <a:sym typeface="Montserrat"/>
              </a:rPr>
              <a:t>Cadena de Símbolos</a:t>
            </a:r>
            <a:endParaRPr b="0" i="0" sz="1100" u="none" cap="none" strike="noStrike">
              <a:solidFill>
                <a:schemeClr val="dk1"/>
              </a:solidFill>
              <a:latin typeface="Calibri"/>
              <a:ea typeface="Calibri"/>
              <a:cs typeface="Calibri"/>
              <a:sym typeface="Calibri"/>
            </a:endParaRPr>
          </a:p>
        </p:txBody>
      </p:sp>
      <p:sp>
        <p:nvSpPr>
          <p:cNvPr id="213" name="Google Shape;213;p31"/>
          <p:cNvSpPr/>
          <p:nvPr/>
        </p:nvSpPr>
        <p:spPr>
          <a:xfrm>
            <a:off x="5703044" y="3656570"/>
            <a:ext cx="1714262" cy="370404"/>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000"/>
              <a:buFont typeface="Arial"/>
              <a:buNone/>
            </a:pPr>
            <a:r>
              <a:rPr b="0" i="0" lang="es" sz="1000" u="none" cap="none" strike="noStrike">
                <a:solidFill>
                  <a:srgbClr val="E2E6E9"/>
                </a:solidFill>
                <a:latin typeface="Arial"/>
                <a:ea typeface="Arial"/>
                <a:cs typeface="Arial"/>
                <a:sym typeface="Arial"/>
              </a:rPr>
              <a:t>α: Puede contener terminales y no terminales.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nvSpPr>
        <p:spPr>
          <a:xfrm>
            <a:off x="687445" y="327182"/>
            <a:ext cx="69955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Notación para representar Lenguajes de Tipo 2</a:t>
            </a:r>
            <a:endParaRPr b="0" i="0" sz="700" u="none" cap="none" strike="noStrike">
              <a:solidFill>
                <a:srgbClr val="000000"/>
              </a:solidFill>
              <a:latin typeface="Arial"/>
              <a:ea typeface="Arial"/>
              <a:cs typeface="Arial"/>
              <a:sym typeface="Arial"/>
            </a:endParaRPr>
          </a:p>
        </p:txBody>
      </p:sp>
      <p:sp>
        <p:nvSpPr>
          <p:cNvPr id="219" name="Google Shape;219;p32"/>
          <p:cNvSpPr/>
          <p:nvPr/>
        </p:nvSpPr>
        <p:spPr>
          <a:xfrm>
            <a:off x="592515" y="1587183"/>
            <a:ext cx="6130050" cy="55560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000"/>
              <a:buFont typeface="Arial"/>
              <a:buNone/>
            </a:pPr>
            <a:r>
              <a:rPr b="0" i="0" lang="es" sz="1200" u="none" cap="none" strike="noStrike">
                <a:solidFill>
                  <a:schemeClr val="dk1"/>
                </a:solidFill>
                <a:latin typeface="Arial"/>
                <a:ea typeface="Arial"/>
                <a:cs typeface="Arial"/>
                <a:sym typeface="Arial"/>
              </a:rPr>
              <a:t>Por ejemplo:</a:t>
            </a:r>
            <a:endParaRPr b="0" i="0" sz="1200" u="none" cap="none" strike="noStrike">
              <a:solidFill>
                <a:schemeClr val="dk1"/>
              </a:solidFill>
              <a:latin typeface="Arial"/>
              <a:ea typeface="Arial"/>
              <a:cs typeface="Arial"/>
              <a:sym typeface="Arial"/>
            </a:endParaRPr>
          </a:p>
          <a:p>
            <a:pPr indent="0" lvl="0" marL="0" marR="0" rtl="0" algn="l">
              <a:lnSpc>
                <a:spcPct val="152631"/>
              </a:lnSpc>
              <a:spcBef>
                <a:spcPts val="0"/>
              </a:spcBef>
              <a:spcAft>
                <a:spcPts val="0"/>
              </a:spcAft>
              <a:buClr>
                <a:schemeClr val="dk1"/>
              </a:buClr>
              <a:buSzPts val="600"/>
              <a:buFont typeface="Arial"/>
              <a:buNone/>
            </a:pPr>
            <a:r>
              <a:rPr b="0" i="0" lang="es" sz="1200" u="none" cap="none" strike="noStrike">
                <a:solidFill>
                  <a:schemeClr val="dk1"/>
                </a:solidFill>
                <a:latin typeface="Arial"/>
                <a:ea typeface="Arial"/>
                <a:cs typeface="Arial"/>
                <a:sym typeface="Arial"/>
              </a:rPr>
              <a:t>Lenguaje formal L: T={a,b} N={S} Io=S</a:t>
            </a:r>
            <a:endParaRPr b="0" i="0" sz="1200" u="none" cap="none" strike="noStrike">
              <a:solidFill>
                <a:schemeClr val="dk1"/>
              </a:solidFill>
              <a:latin typeface="Arial"/>
              <a:ea typeface="Arial"/>
              <a:cs typeface="Arial"/>
              <a:sym typeface="Arial"/>
            </a:endParaRPr>
          </a:p>
          <a:p>
            <a:pPr indent="0" lvl="0" marL="0" marR="0" rtl="0" algn="l">
              <a:lnSpc>
                <a:spcPct val="152631"/>
              </a:lnSpc>
              <a:spcBef>
                <a:spcPts val="0"/>
              </a:spcBef>
              <a:spcAft>
                <a:spcPts val="0"/>
              </a:spcAft>
              <a:buClr>
                <a:schemeClr val="dk1"/>
              </a:buClr>
              <a:buSzPts val="600"/>
              <a:buFont typeface="Arial"/>
              <a:buNone/>
            </a:pPr>
            <a:r>
              <a:rPr b="0" i="0" lang="es" sz="1200" u="none" cap="none" strike="noStrike">
                <a:solidFill>
                  <a:schemeClr val="dk1"/>
                </a:solidFill>
                <a:latin typeface="Arial"/>
                <a:ea typeface="Arial"/>
                <a:cs typeface="Arial"/>
                <a:sym typeface="Arial"/>
              </a:rPr>
              <a:t>G:</a:t>
            </a:r>
            <a:endParaRPr b="0" i="0" sz="1200" u="none" cap="none" strike="noStrike">
              <a:solidFill>
                <a:schemeClr val="dk1"/>
              </a:solidFill>
              <a:latin typeface="Arial"/>
              <a:ea typeface="Arial"/>
              <a:cs typeface="Arial"/>
              <a:sym typeface="Arial"/>
            </a:endParaRPr>
          </a:p>
          <a:p>
            <a:pPr indent="0" lvl="0" marL="0" marR="0" rtl="0" algn="l">
              <a:lnSpc>
                <a:spcPct val="152631"/>
              </a:lnSpc>
              <a:spcBef>
                <a:spcPts val="0"/>
              </a:spcBef>
              <a:spcAft>
                <a:spcPts val="0"/>
              </a:spcAft>
              <a:buClr>
                <a:schemeClr val="dk1"/>
              </a:buClr>
              <a:buSzPts val="600"/>
              <a:buFont typeface="Arial"/>
              <a:buNone/>
            </a:pPr>
            <a:r>
              <a:rPr b="0" i="0" lang="es" sz="1200" u="none" cap="none" strike="noStrike">
                <a:solidFill>
                  <a:schemeClr val="dk1"/>
                </a:solidFill>
                <a:latin typeface="Arial"/>
                <a:ea typeface="Arial"/>
                <a:cs typeface="Arial"/>
                <a:sym typeface="Arial"/>
              </a:rPr>
              <a:t>S → aSb ∣ ε</a:t>
            </a:r>
            <a:endParaRPr b="0" i="0" sz="1200" u="none" cap="none" strike="noStrike">
              <a:solidFill>
                <a:schemeClr val="dk1"/>
              </a:solidFill>
              <a:latin typeface="Arial"/>
              <a:ea typeface="Arial"/>
              <a:cs typeface="Arial"/>
              <a:sym typeface="Arial"/>
            </a:endParaRPr>
          </a:p>
          <a:p>
            <a:pPr indent="0" lvl="0" marL="0" marR="0" rtl="0" algn="l">
              <a:lnSpc>
                <a:spcPct val="152631"/>
              </a:lnSpc>
              <a:spcBef>
                <a:spcPts val="0"/>
              </a:spcBef>
              <a:spcAft>
                <a:spcPts val="0"/>
              </a:spcAft>
              <a:buClr>
                <a:srgbClr val="E2E6E9"/>
              </a:buClr>
              <a:buSzPts val="1000"/>
              <a:buFont typeface="Arial"/>
              <a:buNone/>
            </a:pPr>
            <a:r>
              <a:t/>
            </a:r>
            <a:endParaRPr b="0" i="0" sz="1200" u="none" cap="none" strike="noStrike">
              <a:solidFill>
                <a:schemeClr val="dk1"/>
              </a:solidFill>
              <a:latin typeface="Arial"/>
              <a:ea typeface="Arial"/>
              <a:cs typeface="Arial"/>
              <a:sym typeface="Arial"/>
            </a:endParaRPr>
          </a:p>
        </p:txBody>
      </p:sp>
      <p:sp>
        <p:nvSpPr>
          <p:cNvPr id="220" name="Google Shape;220;p32"/>
          <p:cNvSpPr/>
          <p:nvPr/>
        </p:nvSpPr>
        <p:spPr>
          <a:xfrm>
            <a:off x="592513" y="3000718"/>
            <a:ext cx="3484950" cy="866550"/>
          </a:xfrm>
          <a:prstGeom prst="roundRect">
            <a:avLst>
              <a:gd fmla="val 2137"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21" name="Google Shape;221;p32"/>
          <p:cNvSpPr/>
          <p:nvPr/>
        </p:nvSpPr>
        <p:spPr>
          <a:xfrm>
            <a:off x="715926" y="3124117"/>
            <a:ext cx="1714200" cy="1753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100"/>
              <a:buFont typeface="Montserrat"/>
              <a:buNone/>
            </a:pPr>
            <a:r>
              <a:rPr b="1" i="0" lang="es" sz="1100" u="none" cap="none" strike="noStrike">
                <a:solidFill>
                  <a:srgbClr val="E2E6E9"/>
                </a:solidFill>
                <a:latin typeface="Montserrat"/>
                <a:ea typeface="Montserrat"/>
                <a:cs typeface="Montserrat"/>
                <a:sym typeface="Montserrat"/>
              </a:rPr>
              <a:t>Notación Explícita</a:t>
            </a:r>
            <a:endParaRPr b="0" i="0" sz="1100" u="none" cap="none" strike="noStrike">
              <a:solidFill>
                <a:schemeClr val="dk1"/>
              </a:solidFill>
              <a:latin typeface="Calibri"/>
              <a:ea typeface="Calibri"/>
              <a:cs typeface="Calibri"/>
              <a:sym typeface="Calibri"/>
            </a:endParaRPr>
          </a:p>
        </p:txBody>
      </p:sp>
      <p:sp>
        <p:nvSpPr>
          <p:cNvPr id="222" name="Google Shape;222;p32"/>
          <p:cNvSpPr/>
          <p:nvPr/>
        </p:nvSpPr>
        <p:spPr>
          <a:xfrm>
            <a:off x="715925" y="3373493"/>
            <a:ext cx="3268200" cy="37035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chemeClr val="dk1"/>
              </a:buClr>
              <a:buSzPts val="600"/>
              <a:buFont typeface="Arial"/>
              <a:buNone/>
            </a:pPr>
            <a:r>
              <a:rPr b="0" i="0" lang="es" sz="1100" u="none" cap="none" strike="noStrike">
                <a:solidFill>
                  <a:srgbClr val="E2E6E9"/>
                </a:solidFill>
                <a:latin typeface="Arial"/>
                <a:ea typeface="Arial"/>
                <a:cs typeface="Arial"/>
                <a:sym typeface="Arial"/>
              </a:rPr>
              <a:t>L={ab, aabb, aaabbb, aaaabbbb, aaaaabbbbb,...}</a:t>
            </a:r>
            <a:endParaRPr b="0" i="0" sz="1100" u="none" cap="none" strike="noStrike">
              <a:solidFill>
                <a:srgbClr val="E2E6E9"/>
              </a:solidFill>
              <a:latin typeface="Arial"/>
              <a:ea typeface="Arial"/>
              <a:cs typeface="Arial"/>
              <a:sym typeface="Arial"/>
            </a:endParaRPr>
          </a:p>
          <a:p>
            <a:pPr indent="0" lvl="0" marL="0" marR="0" rtl="0" algn="l">
              <a:lnSpc>
                <a:spcPct val="152631"/>
              </a:lnSpc>
              <a:spcBef>
                <a:spcPts val="0"/>
              </a:spcBef>
              <a:spcAft>
                <a:spcPts val="0"/>
              </a:spcAft>
              <a:buClr>
                <a:srgbClr val="E2E6E9"/>
              </a:buClr>
              <a:buSzPts val="1000"/>
              <a:buFont typeface="Arial"/>
              <a:buNone/>
            </a:pPr>
            <a:r>
              <a:t/>
            </a:r>
            <a:endParaRPr b="0" i="0" sz="1100" u="none" cap="none" strike="noStrike">
              <a:solidFill>
                <a:srgbClr val="E2E6E9"/>
              </a:solidFill>
              <a:latin typeface="Arial"/>
              <a:ea typeface="Arial"/>
              <a:cs typeface="Arial"/>
              <a:sym typeface="Arial"/>
            </a:endParaRPr>
          </a:p>
        </p:txBody>
      </p:sp>
      <p:sp>
        <p:nvSpPr>
          <p:cNvPr id="223" name="Google Shape;223;p32"/>
          <p:cNvSpPr/>
          <p:nvPr/>
        </p:nvSpPr>
        <p:spPr>
          <a:xfrm>
            <a:off x="4532071" y="3000713"/>
            <a:ext cx="1961100" cy="866550"/>
          </a:xfrm>
          <a:prstGeom prst="roundRect">
            <a:avLst>
              <a:gd fmla="val 2137"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24" name="Google Shape;224;p32"/>
          <p:cNvSpPr/>
          <p:nvPr/>
        </p:nvSpPr>
        <p:spPr>
          <a:xfrm>
            <a:off x="4655482" y="3124117"/>
            <a:ext cx="1714200" cy="1753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100"/>
              <a:buFont typeface="Montserrat"/>
              <a:buNone/>
            </a:pPr>
            <a:r>
              <a:rPr b="1" i="0" lang="es" sz="1100" u="none" cap="none" strike="noStrike">
                <a:solidFill>
                  <a:srgbClr val="E2E6E9"/>
                </a:solidFill>
                <a:latin typeface="Montserrat"/>
                <a:ea typeface="Montserrat"/>
                <a:cs typeface="Montserrat"/>
                <a:sym typeface="Montserrat"/>
              </a:rPr>
              <a:t>Notación de Potencia</a:t>
            </a:r>
            <a:endParaRPr b="0" i="0" sz="1100" u="none" cap="none" strike="noStrike">
              <a:solidFill>
                <a:schemeClr val="dk1"/>
              </a:solidFill>
              <a:latin typeface="Calibri"/>
              <a:ea typeface="Calibri"/>
              <a:cs typeface="Calibri"/>
              <a:sym typeface="Calibri"/>
            </a:endParaRPr>
          </a:p>
        </p:txBody>
      </p:sp>
      <p:sp>
        <p:nvSpPr>
          <p:cNvPr id="225" name="Google Shape;225;p32"/>
          <p:cNvSpPr/>
          <p:nvPr/>
        </p:nvSpPr>
        <p:spPr>
          <a:xfrm>
            <a:off x="4655479" y="3373498"/>
            <a:ext cx="1714200" cy="370350"/>
          </a:xfrm>
          <a:prstGeom prst="rect">
            <a:avLst/>
          </a:prstGeom>
          <a:noFill/>
          <a:ln>
            <a:noFill/>
          </a:ln>
          <a:effectLst>
            <a:outerShdw blurRad="57150" rotWithShape="0" algn="bl" dir="5400000" dist="19050">
              <a:srgbClr val="000000">
                <a:alpha val="49411"/>
              </a:srgbClr>
            </a:outerShdw>
          </a:effectLst>
        </p:spPr>
        <p:txBody>
          <a:bodyPr anchorCtr="0" anchor="t" bIns="0" lIns="0" spcFirstLastPara="1" rIns="0" wrap="square" tIns="0">
            <a:noAutofit/>
          </a:bodyPr>
          <a:lstStyle/>
          <a:p>
            <a:pPr indent="0" lvl="0" marL="0" marR="0" rtl="0" algn="l">
              <a:lnSpc>
                <a:spcPct val="152631"/>
              </a:lnSpc>
              <a:spcBef>
                <a:spcPts val="0"/>
              </a:spcBef>
              <a:spcAft>
                <a:spcPts val="0"/>
              </a:spcAft>
              <a:buClr>
                <a:schemeClr val="dk1"/>
              </a:buClr>
              <a:buSzPts val="600"/>
              <a:buFont typeface="Arial"/>
              <a:buNone/>
            </a:pPr>
            <a:r>
              <a:rPr b="0" i="0" lang="es" sz="1500" u="none" cap="none" strike="noStrike">
                <a:solidFill>
                  <a:srgbClr val="E2E6E9"/>
                </a:solidFill>
                <a:latin typeface="Arial"/>
                <a:ea typeface="Arial"/>
                <a:cs typeface="Arial"/>
                <a:sym typeface="Arial"/>
              </a:rPr>
              <a:t>L={ a</a:t>
            </a:r>
            <a:r>
              <a:rPr b="0" baseline="30000" i="0" lang="es" sz="1500" u="none" cap="none" strike="noStrike">
                <a:solidFill>
                  <a:srgbClr val="E2E6E9"/>
                </a:solidFill>
                <a:latin typeface="Arial"/>
                <a:ea typeface="Arial"/>
                <a:cs typeface="Arial"/>
                <a:sym typeface="Arial"/>
              </a:rPr>
              <a:t>n</a:t>
            </a:r>
            <a:r>
              <a:rPr b="0" i="0" lang="es" sz="1500" u="none" cap="none" strike="noStrike">
                <a:solidFill>
                  <a:srgbClr val="E2E6E9"/>
                </a:solidFill>
                <a:latin typeface="Arial"/>
                <a:ea typeface="Arial"/>
                <a:cs typeface="Arial"/>
                <a:sym typeface="Arial"/>
              </a:rPr>
              <a:t>b</a:t>
            </a:r>
            <a:r>
              <a:rPr b="0" baseline="30000" i="0" lang="es" sz="1500" u="none" cap="none" strike="noStrike">
                <a:solidFill>
                  <a:srgbClr val="E2E6E9"/>
                </a:solidFill>
                <a:latin typeface="Arial"/>
                <a:ea typeface="Arial"/>
                <a:cs typeface="Arial"/>
                <a:sym typeface="Arial"/>
              </a:rPr>
              <a:t>n</a:t>
            </a:r>
            <a:r>
              <a:rPr b="0" i="0" lang="es" sz="1500" u="none" cap="none" strike="noStrike">
                <a:solidFill>
                  <a:srgbClr val="E2E6E9"/>
                </a:solidFill>
                <a:latin typeface="Arial"/>
                <a:ea typeface="Arial"/>
                <a:cs typeface="Arial"/>
                <a:sym typeface="Arial"/>
              </a:rPr>
              <a:t> n&gt;0}</a:t>
            </a:r>
            <a:endParaRPr b="0" i="0" sz="1500" u="none" cap="none" strike="noStrike">
              <a:solidFill>
                <a:srgbClr val="E2E6E9"/>
              </a:solidFill>
              <a:latin typeface="Arial"/>
              <a:ea typeface="Arial"/>
              <a:cs typeface="Arial"/>
              <a:sym typeface="Arial"/>
            </a:endParaRPr>
          </a:p>
        </p:txBody>
      </p:sp>
      <p:sp>
        <p:nvSpPr>
          <p:cNvPr id="226" name="Google Shape;226;p32"/>
          <p:cNvSpPr txBox="1"/>
          <p:nvPr/>
        </p:nvSpPr>
        <p:spPr>
          <a:xfrm>
            <a:off x="592513" y="3632364"/>
            <a:ext cx="5445150" cy="287850"/>
          </a:xfrm>
          <a:prstGeom prst="rect">
            <a:avLst/>
          </a:prstGeom>
          <a:noFill/>
          <a:ln>
            <a:noFill/>
          </a:ln>
        </p:spPr>
        <p:txBody>
          <a:bodyPr anchorCtr="0" anchor="t" bIns="45725" lIns="45725" spcFirstLastPara="1" rIns="45725" wrap="square" tIns="45725">
            <a:noAutofit/>
          </a:bodyPr>
          <a:lstStyle/>
          <a:p>
            <a:pPr indent="0" lvl="0" marL="0" marR="0" rtl="0" algn="l">
              <a:lnSpc>
                <a:spcPct val="100000"/>
              </a:lnSpc>
              <a:spcBef>
                <a:spcPts val="0"/>
              </a:spcBef>
              <a:spcAft>
                <a:spcPts val="0"/>
              </a:spcAft>
              <a:buClr>
                <a:srgbClr val="000000"/>
              </a:buClr>
              <a:buSzPts val="900"/>
              <a:buFont typeface="Arial"/>
              <a:buNone/>
            </a:pPr>
            <a:r>
              <a:rPr b="0" i="0" lang="es" sz="900" u="none" cap="none" strike="noStrike">
                <a:solidFill>
                  <a:schemeClr val="lt1"/>
                </a:solidFill>
                <a:latin typeface="Arial"/>
                <a:ea typeface="Arial"/>
                <a:cs typeface="Arial"/>
                <a:sym typeface="Arial"/>
              </a:rPr>
              <a:t>Esto es importante porque en los autómatas de pila se utilizan comúnmente estas notaciones.</a:t>
            </a:r>
            <a:endParaRPr b="0" i="0" sz="9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3"/>
          <p:cNvSpPr txBox="1"/>
          <p:nvPr/>
        </p:nvSpPr>
        <p:spPr>
          <a:xfrm>
            <a:off x="687445" y="327182"/>
            <a:ext cx="48350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Características de los Lenguajes Libres de Contexto</a:t>
            </a:r>
            <a:endParaRPr b="0" i="0" sz="700" u="none" cap="none" strike="noStrike">
              <a:solidFill>
                <a:srgbClr val="000000"/>
              </a:solidFill>
              <a:latin typeface="Arial"/>
              <a:ea typeface="Arial"/>
              <a:cs typeface="Arial"/>
              <a:sym typeface="Arial"/>
            </a:endParaRPr>
          </a:p>
        </p:txBody>
      </p:sp>
      <p:sp>
        <p:nvSpPr>
          <p:cNvPr id="232" name="Google Shape;232;p33"/>
          <p:cNvSpPr/>
          <p:nvPr/>
        </p:nvSpPr>
        <p:spPr>
          <a:xfrm>
            <a:off x="687445" y="1387601"/>
            <a:ext cx="4835050" cy="296584"/>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Los lenguajes libres de contexto poseen características únicas que los distinguen de otros tipos de lenguajes formales. Entre estas se encuentran:</a:t>
            </a:r>
            <a:endParaRPr b="0" i="0" sz="1200" u="none" cap="none" strike="noStrike">
              <a:solidFill>
                <a:schemeClr val="dk1"/>
              </a:solidFill>
              <a:latin typeface="Calibri"/>
              <a:ea typeface="Calibri"/>
              <a:cs typeface="Calibri"/>
              <a:sym typeface="Calibri"/>
            </a:endParaRPr>
          </a:p>
        </p:txBody>
      </p:sp>
      <p:sp>
        <p:nvSpPr>
          <p:cNvPr id="233" name="Google Shape;233;p33"/>
          <p:cNvSpPr/>
          <p:nvPr/>
        </p:nvSpPr>
        <p:spPr>
          <a:xfrm>
            <a:off x="687445" y="2616862"/>
            <a:ext cx="222468" cy="222469"/>
          </a:xfrm>
          <a:prstGeom prst="roundRect">
            <a:avLst>
              <a:gd fmla="val 6668"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34" name="Google Shape;234;p33"/>
          <p:cNvSpPr/>
          <p:nvPr/>
        </p:nvSpPr>
        <p:spPr>
          <a:xfrm>
            <a:off x="772931" y="2660677"/>
            <a:ext cx="51495" cy="13483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100"/>
              <a:buFont typeface="Montserrat"/>
              <a:buNone/>
            </a:pPr>
            <a:r>
              <a:rPr b="1" i="0" lang="es" sz="1100" u="none" cap="none" strike="noStrike">
                <a:solidFill>
                  <a:schemeClr val="dk1"/>
                </a:solidFill>
                <a:latin typeface="Montserrat"/>
                <a:ea typeface="Montserrat"/>
                <a:cs typeface="Montserrat"/>
                <a:sym typeface="Montserrat"/>
              </a:rPr>
              <a:t>1</a:t>
            </a:r>
            <a:endParaRPr b="0" i="0" sz="1100" u="none" cap="none" strike="noStrike">
              <a:solidFill>
                <a:schemeClr val="dk1"/>
              </a:solidFill>
              <a:latin typeface="Calibri"/>
              <a:ea typeface="Calibri"/>
              <a:cs typeface="Calibri"/>
              <a:sym typeface="Calibri"/>
            </a:endParaRPr>
          </a:p>
        </p:txBody>
      </p:sp>
      <p:sp>
        <p:nvSpPr>
          <p:cNvPr id="235" name="Google Shape;235;p33"/>
          <p:cNvSpPr/>
          <p:nvPr/>
        </p:nvSpPr>
        <p:spPr>
          <a:xfrm>
            <a:off x="1008790" y="2270456"/>
            <a:ext cx="3378900" cy="14055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E2E6E9"/>
              </a:buClr>
              <a:buSzPts val="900"/>
              <a:buFont typeface="Montserrat"/>
              <a:buNone/>
            </a:pPr>
            <a:r>
              <a:rPr b="1" i="0" lang="es" sz="1100" u="none" cap="none" strike="noStrike">
                <a:solidFill>
                  <a:schemeClr val="dk1"/>
                </a:solidFill>
                <a:latin typeface="Montserrat"/>
                <a:ea typeface="Montserrat"/>
                <a:cs typeface="Montserrat"/>
                <a:sym typeface="Montserrat"/>
              </a:rPr>
              <a:t>Producciones Unidas a Símbolos No Terminales</a:t>
            </a:r>
            <a:endParaRPr b="0" i="0" sz="1100" u="none" cap="none" strike="noStrike">
              <a:solidFill>
                <a:schemeClr val="dk1"/>
              </a:solidFill>
              <a:latin typeface="Calibri"/>
              <a:ea typeface="Calibri"/>
              <a:cs typeface="Calibri"/>
              <a:sym typeface="Calibri"/>
            </a:endParaRPr>
          </a:p>
        </p:txBody>
      </p:sp>
      <p:sp>
        <p:nvSpPr>
          <p:cNvPr id="236" name="Google Shape;236;p33"/>
          <p:cNvSpPr/>
          <p:nvPr/>
        </p:nvSpPr>
        <p:spPr>
          <a:xfrm>
            <a:off x="995400" y="2709185"/>
            <a:ext cx="4226306" cy="303271"/>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E2E6E9"/>
              </a:buClr>
              <a:buSzPts val="800"/>
              <a:buFont typeface="Arial"/>
              <a:buNone/>
            </a:pPr>
            <a:r>
              <a:rPr b="0" i="0" lang="es" sz="1100" u="none" cap="none" strike="noStrike">
                <a:solidFill>
                  <a:schemeClr val="dk1"/>
                </a:solidFill>
                <a:latin typeface="Arial"/>
                <a:ea typeface="Arial"/>
                <a:cs typeface="Arial"/>
                <a:sym typeface="Arial"/>
              </a:rPr>
              <a:t>Las reglas de producción sólo pueden tener un símbolo no terminal en el lado izquierdo, lo que les otorga independencia del contexto.</a:t>
            </a:r>
            <a:endParaRPr b="0" i="0" sz="1100" u="none" cap="none" strike="noStrike">
              <a:solidFill>
                <a:schemeClr val="dk1"/>
              </a:solidFill>
              <a:latin typeface="Calibri"/>
              <a:ea typeface="Calibri"/>
              <a:cs typeface="Calibri"/>
              <a:sym typeface="Calibri"/>
            </a:endParaRPr>
          </a:p>
        </p:txBody>
      </p:sp>
      <p:sp>
        <p:nvSpPr>
          <p:cNvPr id="237" name="Google Shape;237;p33"/>
          <p:cNvSpPr/>
          <p:nvPr/>
        </p:nvSpPr>
        <p:spPr>
          <a:xfrm>
            <a:off x="687445" y="3323319"/>
            <a:ext cx="222468" cy="222468"/>
          </a:xfrm>
          <a:prstGeom prst="roundRect">
            <a:avLst>
              <a:gd fmla="val 6668"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38" name="Google Shape;238;p33"/>
          <p:cNvSpPr/>
          <p:nvPr/>
        </p:nvSpPr>
        <p:spPr>
          <a:xfrm>
            <a:off x="759537" y="3367134"/>
            <a:ext cx="78224" cy="13483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100"/>
              <a:buFont typeface="Montserrat"/>
              <a:buNone/>
            </a:pPr>
            <a:r>
              <a:rPr b="1" i="0" lang="es" sz="1100" u="none" cap="none" strike="noStrike">
                <a:solidFill>
                  <a:schemeClr val="dk1"/>
                </a:solidFill>
                <a:latin typeface="Montserrat"/>
                <a:ea typeface="Montserrat"/>
                <a:cs typeface="Montserrat"/>
                <a:sym typeface="Montserrat"/>
              </a:rPr>
              <a:t>2</a:t>
            </a:r>
            <a:endParaRPr b="0" i="0" sz="1100" u="none" cap="none" strike="noStrike">
              <a:solidFill>
                <a:schemeClr val="dk1"/>
              </a:solidFill>
              <a:latin typeface="Calibri"/>
              <a:ea typeface="Calibri"/>
              <a:cs typeface="Calibri"/>
              <a:sym typeface="Calibri"/>
            </a:endParaRPr>
          </a:p>
        </p:txBody>
      </p:sp>
      <p:sp>
        <p:nvSpPr>
          <p:cNvPr id="239" name="Google Shape;239;p33"/>
          <p:cNvSpPr/>
          <p:nvPr/>
        </p:nvSpPr>
        <p:spPr>
          <a:xfrm>
            <a:off x="1008790" y="3323317"/>
            <a:ext cx="2453250" cy="14055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E2E6E9"/>
              </a:buClr>
              <a:buSzPts val="900"/>
              <a:buFont typeface="Montserrat"/>
              <a:buNone/>
            </a:pPr>
            <a:r>
              <a:rPr b="1" i="0" lang="es" sz="1100" u="none" cap="none" strike="noStrike">
                <a:solidFill>
                  <a:schemeClr val="dk1"/>
                </a:solidFill>
                <a:latin typeface="Montserrat"/>
                <a:ea typeface="Montserrat"/>
                <a:cs typeface="Montserrat"/>
                <a:sym typeface="Montserrat"/>
              </a:rPr>
              <a:t>Árboles de Derivación</a:t>
            </a:r>
            <a:endParaRPr b="0" i="0" sz="1100" u="none" cap="none" strike="noStrike">
              <a:solidFill>
                <a:schemeClr val="dk1"/>
              </a:solidFill>
              <a:latin typeface="Calibri"/>
              <a:ea typeface="Calibri"/>
              <a:cs typeface="Calibri"/>
              <a:sym typeface="Calibri"/>
            </a:endParaRPr>
          </a:p>
        </p:txBody>
      </p:sp>
      <p:sp>
        <p:nvSpPr>
          <p:cNvPr id="240" name="Google Shape;240;p33"/>
          <p:cNvSpPr/>
          <p:nvPr/>
        </p:nvSpPr>
        <p:spPr>
          <a:xfrm>
            <a:off x="1008795" y="3523106"/>
            <a:ext cx="4357289" cy="296585"/>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E2E6E9"/>
              </a:buClr>
              <a:buSzPts val="800"/>
              <a:buFont typeface="Arial"/>
              <a:buNone/>
            </a:pPr>
            <a:r>
              <a:rPr b="0" i="0" lang="es" sz="1100" u="none" cap="none" strike="noStrike">
                <a:solidFill>
                  <a:schemeClr val="dk1"/>
                </a:solidFill>
                <a:latin typeface="Arial"/>
                <a:ea typeface="Arial"/>
                <a:cs typeface="Arial"/>
                <a:sym typeface="Arial"/>
              </a:rPr>
              <a:t>Las cadenas de un LFC se pueden representar mediante árboles de derivación, cruciales en el análisis sintáctico de compiladores.</a:t>
            </a:r>
            <a:endParaRPr b="0" i="0" sz="1100" u="none" cap="none" strike="noStrike">
              <a:solidFill>
                <a:schemeClr val="dk1"/>
              </a:solidFill>
              <a:latin typeface="Calibri"/>
              <a:ea typeface="Calibri"/>
              <a:cs typeface="Calibri"/>
              <a:sym typeface="Calibri"/>
            </a:endParaRPr>
          </a:p>
        </p:txBody>
      </p:sp>
      <p:sp>
        <p:nvSpPr>
          <p:cNvPr id="241" name="Google Shape;241;p33"/>
          <p:cNvSpPr/>
          <p:nvPr/>
        </p:nvSpPr>
        <p:spPr>
          <a:xfrm>
            <a:off x="687445" y="4029776"/>
            <a:ext cx="222468" cy="222468"/>
          </a:xfrm>
          <a:prstGeom prst="roundRect">
            <a:avLst>
              <a:gd fmla="val 6668"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42" name="Google Shape;242;p33"/>
          <p:cNvSpPr/>
          <p:nvPr/>
        </p:nvSpPr>
        <p:spPr>
          <a:xfrm>
            <a:off x="759418" y="4073591"/>
            <a:ext cx="78462" cy="13483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100"/>
              <a:buFont typeface="Montserrat"/>
              <a:buNone/>
            </a:pPr>
            <a:r>
              <a:rPr b="1" i="0" lang="es" sz="1100" u="none" cap="none" strike="noStrike">
                <a:solidFill>
                  <a:schemeClr val="dk1"/>
                </a:solidFill>
                <a:latin typeface="Montserrat"/>
                <a:ea typeface="Montserrat"/>
                <a:cs typeface="Montserrat"/>
                <a:sym typeface="Montserrat"/>
              </a:rPr>
              <a:t>3</a:t>
            </a:r>
            <a:endParaRPr b="0" i="0" sz="1100" u="none" cap="none" strike="noStrike">
              <a:solidFill>
                <a:schemeClr val="dk1"/>
              </a:solidFill>
              <a:latin typeface="Calibri"/>
              <a:ea typeface="Calibri"/>
              <a:cs typeface="Calibri"/>
              <a:sym typeface="Calibri"/>
            </a:endParaRPr>
          </a:p>
        </p:txBody>
      </p:sp>
      <p:sp>
        <p:nvSpPr>
          <p:cNvPr id="243" name="Google Shape;243;p33"/>
          <p:cNvSpPr/>
          <p:nvPr/>
        </p:nvSpPr>
        <p:spPr>
          <a:xfrm>
            <a:off x="1008792" y="4029779"/>
            <a:ext cx="2313300" cy="14055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E2E6E9"/>
              </a:buClr>
              <a:buSzPts val="900"/>
              <a:buFont typeface="Montserrat"/>
              <a:buNone/>
            </a:pPr>
            <a:r>
              <a:rPr b="1" i="0" lang="es" sz="1100" u="none" cap="none" strike="noStrike">
                <a:solidFill>
                  <a:schemeClr val="dk1"/>
                </a:solidFill>
                <a:latin typeface="Montserrat"/>
                <a:ea typeface="Montserrat"/>
                <a:cs typeface="Montserrat"/>
                <a:sym typeface="Montserrat"/>
              </a:rPr>
              <a:t>Potencia de Expresividad</a:t>
            </a:r>
            <a:endParaRPr b="0" i="0" sz="1100" u="none" cap="none" strike="noStrike">
              <a:solidFill>
                <a:schemeClr val="dk1"/>
              </a:solidFill>
              <a:latin typeface="Calibri"/>
              <a:ea typeface="Calibri"/>
              <a:cs typeface="Calibri"/>
              <a:sym typeface="Calibri"/>
            </a:endParaRPr>
          </a:p>
        </p:txBody>
      </p:sp>
      <p:sp>
        <p:nvSpPr>
          <p:cNvPr id="244" name="Google Shape;244;p33"/>
          <p:cNvSpPr/>
          <p:nvPr/>
        </p:nvSpPr>
        <p:spPr>
          <a:xfrm>
            <a:off x="1008794" y="4275500"/>
            <a:ext cx="4357290" cy="296585"/>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E2E6E9"/>
              </a:buClr>
              <a:buSzPts val="800"/>
              <a:buFont typeface="Arial"/>
              <a:buNone/>
            </a:pPr>
            <a:r>
              <a:rPr b="0" i="0" lang="es" sz="1100" u="none" cap="none" strike="noStrike">
                <a:solidFill>
                  <a:schemeClr val="dk1"/>
                </a:solidFill>
                <a:latin typeface="Arial"/>
                <a:ea typeface="Arial"/>
                <a:cs typeface="Arial"/>
                <a:sym typeface="Arial"/>
              </a:rPr>
              <a:t>Los LFC son más expresivos que los lenguajes regulares, pudiendo describir estructuras más complejas que los autómatas finitos.</a:t>
            </a:r>
            <a:endParaRPr b="0" i="0" sz="1100" u="none" cap="none" strike="noStrike">
              <a:solidFill>
                <a:schemeClr val="dk1"/>
              </a:solidFill>
              <a:latin typeface="Calibri"/>
              <a:ea typeface="Calibri"/>
              <a:cs typeface="Calibri"/>
              <a:sym typeface="Calibri"/>
            </a:endParaRPr>
          </a:p>
        </p:txBody>
      </p:sp>
      <p:pic>
        <p:nvPicPr>
          <p:cNvPr id="245" name="Google Shape;245;p33"/>
          <p:cNvPicPr preferRelativeResize="0"/>
          <p:nvPr/>
        </p:nvPicPr>
        <p:blipFill rotWithShape="1">
          <a:blip r:embed="rId3">
            <a:alphaModFix/>
          </a:blip>
          <a:srcRect b="0" l="0" r="0" t="0"/>
          <a:stretch/>
        </p:blipFill>
        <p:spPr>
          <a:xfrm>
            <a:off x="5821909" y="0"/>
            <a:ext cx="3322091"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4"/>
          <p:cNvSpPr txBox="1"/>
          <p:nvPr/>
        </p:nvSpPr>
        <p:spPr>
          <a:xfrm>
            <a:off x="687445" y="327182"/>
            <a:ext cx="4474103"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Ejemplo Práctico de Gramática Libre de Contexto</a:t>
            </a:r>
            <a:endParaRPr b="0" i="0" sz="700" u="none" cap="none" strike="noStrike">
              <a:solidFill>
                <a:srgbClr val="000000"/>
              </a:solidFill>
              <a:latin typeface="Arial"/>
              <a:ea typeface="Arial"/>
              <a:cs typeface="Arial"/>
              <a:sym typeface="Arial"/>
            </a:endParaRPr>
          </a:p>
        </p:txBody>
      </p:sp>
      <p:sp>
        <p:nvSpPr>
          <p:cNvPr id="251" name="Google Shape;251;p34"/>
          <p:cNvSpPr/>
          <p:nvPr/>
        </p:nvSpPr>
        <p:spPr>
          <a:xfrm>
            <a:off x="687445" y="1387600"/>
            <a:ext cx="4474103" cy="106144"/>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Consideremos la siguiente gramática libre de contexto: S→aSb ∣ ε</a:t>
            </a:r>
            <a:endParaRPr b="0" i="0" sz="1000" u="none" cap="none" strike="noStrike">
              <a:solidFill>
                <a:schemeClr val="dk1"/>
              </a:solidFill>
              <a:latin typeface="Calibri"/>
              <a:ea typeface="Calibri"/>
              <a:cs typeface="Calibri"/>
              <a:sym typeface="Calibri"/>
            </a:endParaRPr>
          </a:p>
        </p:txBody>
      </p:sp>
      <p:sp>
        <p:nvSpPr>
          <p:cNvPr id="252" name="Google Shape;252;p34"/>
          <p:cNvSpPr/>
          <p:nvPr/>
        </p:nvSpPr>
        <p:spPr>
          <a:xfrm>
            <a:off x="687445" y="1635250"/>
            <a:ext cx="4654577" cy="424518"/>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Esta gramática genera cadenas con igual número de a's seguidas por el mismo número de b's. Ejemplos válidos incluyen: ε (cadena vacía), ab, aabb, aaabbb. Una cadena no válida sería aabbb, al no tener la misma cantidad de a's y b's.</a:t>
            </a:r>
            <a:endParaRPr b="0" i="0" sz="1000" u="none" cap="none" strike="noStrike">
              <a:solidFill>
                <a:schemeClr val="dk1"/>
              </a:solidFill>
              <a:latin typeface="Calibri"/>
              <a:ea typeface="Calibri"/>
              <a:cs typeface="Calibri"/>
              <a:sym typeface="Calibri"/>
            </a:endParaRPr>
          </a:p>
        </p:txBody>
      </p:sp>
      <p:sp>
        <p:nvSpPr>
          <p:cNvPr id="253" name="Google Shape;253;p34"/>
          <p:cNvSpPr/>
          <p:nvPr/>
        </p:nvSpPr>
        <p:spPr>
          <a:xfrm>
            <a:off x="687445" y="2382584"/>
            <a:ext cx="4654577" cy="254199"/>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Este ejemplo ilustra cómo los LFC manejan estructuras más complejas que los lenguajes regulares, demostrando su capacidad para emparejar elementos de manera más sofisticada.</a:t>
            </a:r>
            <a:endParaRPr b="0" i="0" sz="1000" u="none" cap="none" strike="noStrike">
              <a:solidFill>
                <a:schemeClr val="dk1"/>
              </a:solidFill>
              <a:latin typeface="Calibri"/>
              <a:ea typeface="Calibri"/>
              <a:cs typeface="Calibri"/>
              <a:sym typeface="Calibri"/>
            </a:endParaRPr>
          </a:p>
        </p:txBody>
      </p:sp>
      <p:sp>
        <p:nvSpPr>
          <p:cNvPr id="254" name="Google Shape;254;p34"/>
          <p:cNvSpPr/>
          <p:nvPr/>
        </p:nvSpPr>
        <p:spPr>
          <a:xfrm>
            <a:off x="796231" y="3065742"/>
            <a:ext cx="11430" cy="1750576"/>
          </a:xfrm>
          <a:prstGeom prst="roundRect">
            <a:avLst>
              <a:gd fmla="val 123828" name="adj"/>
            </a:avLst>
          </a:prstGeom>
          <a:solidFill>
            <a:srgbClr val="494A4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255" name="Google Shape;255;p34"/>
          <p:cNvSpPr/>
          <p:nvPr/>
        </p:nvSpPr>
        <p:spPr>
          <a:xfrm>
            <a:off x="896660" y="3272315"/>
            <a:ext cx="330220" cy="11430"/>
          </a:xfrm>
          <a:prstGeom prst="roundRect">
            <a:avLst>
              <a:gd fmla="val 123828" name="adj"/>
            </a:avLst>
          </a:prstGeom>
          <a:solidFill>
            <a:srgbClr val="494A4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256" name="Google Shape;256;p34"/>
          <p:cNvSpPr/>
          <p:nvPr/>
        </p:nvSpPr>
        <p:spPr>
          <a:xfrm>
            <a:off x="695801" y="3171886"/>
            <a:ext cx="212289" cy="212289"/>
          </a:xfrm>
          <a:prstGeom prst="roundRect">
            <a:avLst>
              <a:gd fmla="val 6667"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257" name="Google Shape;257;p34"/>
          <p:cNvSpPr/>
          <p:nvPr/>
        </p:nvSpPr>
        <p:spPr>
          <a:xfrm>
            <a:off x="777359" y="3213677"/>
            <a:ext cx="49173" cy="12864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000"/>
              <a:buFont typeface="Montserrat"/>
              <a:buNone/>
            </a:pPr>
            <a:r>
              <a:rPr b="1" i="0" lang="es" sz="1000" u="none" cap="none" strike="noStrike">
                <a:solidFill>
                  <a:schemeClr val="dk1"/>
                </a:solidFill>
                <a:latin typeface="Montserrat"/>
                <a:ea typeface="Montserrat"/>
                <a:cs typeface="Montserrat"/>
                <a:sym typeface="Montserrat"/>
              </a:rPr>
              <a:t>1</a:t>
            </a:r>
            <a:endParaRPr b="0" i="0" sz="1000" u="none" cap="none" strike="noStrike">
              <a:solidFill>
                <a:schemeClr val="dk1"/>
              </a:solidFill>
              <a:latin typeface="Calibri"/>
              <a:ea typeface="Calibri"/>
              <a:cs typeface="Calibri"/>
              <a:sym typeface="Calibri"/>
            </a:endParaRPr>
          </a:p>
        </p:txBody>
      </p:sp>
      <p:sp>
        <p:nvSpPr>
          <p:cNvPr id="258" name="Google Shape;258;p34"/>
          <p:cNvSpPr/>
          <p:nvPr/>
        </p:nvSpPr>
        <p:spPr>
          <a:xfrm>
            <a:off x="1320879" y="3160040"/>
            <a:ext cx="1072218" cy="13400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E2E6E9"/>
              </a:buClr>
              <a:buSzPts val="800"/>
              <a:buFont typeface="Montserrat"/>
              <a:buNone/>
            </a:pPr>
            <a:r>
              <a:rPr b="1" i="0" lang="es" sz="1000" u="none" cap="none" strike="noStrike">
                <a:solidFill>
                  <a:schemeClr val="dk1"/>
                </a:solidFill>
                <a:latin typeface="Montserrat"/>
                <a:ea typeface="Montserrat"/>
                <a:cs typeface="Montserrat"/>
                <a:sym typeface="Montserrat"/>
              </a:rPr>
              <a:t>Paso 1: S</a:t>
            </a:r>
            <a:endParaRPr b="0" i="0" sz="1000" u="none" cap="none" strike="noStrike">
              <a:solidFill>
                <a:schemeClr val="dk1"/>
              </a:solidFill>
              <a:latin typeface="Calibri"/>
              <a:ea typeface="Calibri"/>
              <a:cs typeface="Calibri"/>
              <a:sym typeface="Calibri"/>
            </a:endParaRPr>
          </a:p>
        </p:txBody>
      </p:sp>
      <p:sp>
        <p:nvSpPr>
          <p:cNvPr id="259" name="Google Shape;259;p34"/>
          <p:cNvSpPr/>
          <p:nvPr/>
        </p:nvSpPr>
        <p:spPr>
          <a:xfrm>
            <a:off x="1320879" y="3350599"/>
            <a:ext cx="3251121" cy="141506"/>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Comenzamos con el símbolo inicial S.</a:t>
            </a:r>
            <a:endParaRPr b="0" i="0" sz="1000" u="none" cap="none" strike="noStrike">
              <a:solidFill>
                <a:schemeClr val="dk1"/>
              </a:solidFill>
              <a:latin typeface="Calibri"/>
              <a:ea typeface="Calibri"/>
              <a:cs typeface="Calibri"/>
              <a:sym typeface="Calibri"/>
            </a:endParaRPr>
          </a:p>
        </p:txBody>
      </p:sp>
      <p:sp>
        <p:nvSpPr>
          <p:cNvPr id="260" name="Google Shape;260;p34"/>
          <p:cNvSpPr/>
          <p:nvPr/>
        </p:nvSpPr>
        <p:spPr>
          <a:xfrm>
            <a:off x="896660" y="3887273"/>
            <a:ext cx="330220" cy="11430"/>
          </a:xfrm>
          <a:prstGeom prst="roundRect">
            <a:avLst>
              <a:gd fmla="val 123828" name="adj"/>
            </a:avLst>
          </a:prstGeom>
          <a:solidFill>
            <a:srgbClr val="494A4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261" name="Google Shape;261;p34"/>
          <p:cNvSpPr/>
          <p:nvPr/>
        </p:nvSpPr>
        <p:spPr>
          <a:xfrm>
            <a:off x="695801" y="3786844"/>
            <a:ext cx="212289" cy="212289"/>
          </a:xfrm>
          <a:prstGeom prst="roundRect">
            <a:avLst>
              <a:gd fmla="val 6667"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262" name="Google Shape;262;p34"/>
          <p:cNvSpPr/>
          <p:nvPr/>
        </p:nvSpPr>
        <p:spPr>
          <a:xfrm>
            <a:off x="764620" y="3828635"/>
            <a:ext cx="74652" cy="12864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000"/>
              <a:buFont typeface="Montserrat"/>
              <a:buNone/>
            </a:pPr>
            <a:r>
              <a:rPr b="1" i="0" lang="es" sz="1000" u="none" cap="none" strike="noStrike">
                <a:solidFill>
                  <a:schemeClr val="dk1"/>
                </a:solidFill>
                <a:latin typeface="Montserrat"/>
                <a:ea typeface="Montserrat"/>
                <a:cs typeface="Montserrat"/>
                <a:sym typeface="Montserrat"/>
              </a:rPr>
              <a:t>2</a:t>
            </a:r>
            <a:endParaRPr b="0" i="0" sz="1000" u="none" cap="none" strike="noStrike">
              <a:solidFill>
                <a:schemeClr val="dk1"/>
              </a:solidFill>
              <a:latin typeface="Calibri"/>
              <a:ea typeface="Calibri"/>
              <a:cs typeface="Calibri"/>
              <a:sym typeface="Calibri"/>
            </a:endParaRPr>
          </a:p>
        </p:txBody>
      </p:sp>
      <p:sp>
        <p:nvSpPr>
          <p:cNvPr id="263" name="Google Shape;263;p34"/>
          <p:cNvSpPr/>
          <p:nvPr/>
        </p:nvSpPr>
        <p:spPr>
          <a:xfrm>
            <a:off x="1320879" y="3774997"/>
            <a:ext cx="1072218" cy="13400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E2E6E9"/>
              </a:buClr>
              <a:buSzPts val="800"/>
              <a:buFont typeface="Montserrat"/>
              <a:buNone/>
            </a:pPr>
            <a:r>
              <a:rPr b="1" i="0" lang="es" sz="1000" u="none" cap="none" strike="noStrike">
                <a:solidFill>
                  <a:schemeClr val="dk1"/>
                </a:solidFill>
                <a:latin typeface="Montserrat"/>
                <a:ea typeface="Montserrat"/>
                <a:cs typeface="Montserrat"/>
                <a:sym typeface="Montserrat"/>
              </a:rPr>
              <a:t>Paso 2: aSb</a:t>
            </a:r>
            <a:endParaRPr b="0" i="0" sz="1000" u="none" cap="none" strike="noStrike">
              <a:solidFill>
                <a:schemeClr val="dk1"/>
              </a:solidFill>
              <a:latin typeface="Calibri"/>
              <a:ea typeface="Calibri"/>
              <a:cs typeface="Calibri"/>
              <a:sym typeface="Calibri"/>
            </a:endParaRPr>
          </a:p>
        </p:txBody>
      </p:sp>
      <p:sp>
        <p:nvSpPr>
          <p:cNvPr id="264" name="Google Shape;264;p34"/>
          <p:cNvSpPr/>
          <p:nvPr/>
        </p:nvSpPr>
        <p:spPr>
          <a:xfrm>
            <a:off x="1320879" y="3965557"/>
            <a:ext cx="3251121" cy="141506"/>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Aplicamos la regla S→aSb.</a:t>
            </a:r>
            <a:endParaRPr b="0" i="0" sz="1000" u="none" cap="none" strike="noStrike">
              <a:solidFill>
                <a:schemeClr val="dk1"/>
              </a:solidFill>
              <a:latin typeface="Calibri"/>
              <a:ea typeface="Calibri"/>
              <a:cs typeface="Calibri"/>
              <a:sym typeface="Calibri"/>
            </a:endParaRPr>
          </a:p>
        </p:txBody>
      </p:sp>
      <p:sp>
        <p:nvSpPr>
          <p:cNvPr id="265" name="Google Shape;265;p34"/>
          <p:cNvSpPr/>
          <p:nvPr/>
        </p:nvSpPr>
        <p:spPr>
          <a:xfrm>
            <a:off x="896660" y="4502231"/>
            <a:ext cx="330220" cy="11430"/>
          </a:xfrm>
          <a:prstGeom prst="roundRect">
            <a:avLst>
              <a:gd fmla="val 123828" name="adj"/>
            </a:avLst>
          </a:prstGeom>
          <a:solidFill>
            <a:srgbClr val="494A4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266" name="Google Shape;266;p34"/>
          <p:cNvSpPr/>
          <p:nvPr/>
        </p:nvSpPr>
        <p:spPr>
          <a:xfrm>
            <a:off x="695801" y="4401802"/>
            <a:ext cx="212289" cy="212289"/>
          </a:xfrm>
          <a:prstGeom prst="roundRect">
            <a:avLst>
              <a:gd fmla="val 6667"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267" name="Google Shape;267;p34"/>
          <p:cNvSpPr/>
          <p:nvPr/>
        </p:nvSpPr>
        <p:spPr>
          <a:xfrm>
            <a:off x="764501" y="4443593"/>
            <a:ext cx="74890" cy="12864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000"/>
              <a:buFont typeface="Montserrat"/>
              <a:buNone/>
            </a:pPr>
            <a:r>
              <a:rPr b="1" i="0" lang="es" sz="1000" u="none" cap="none" strike="noStrike">
                <a:solidFill>
                  <a:schemeClr val="dk1"/>
                </a:solidFill>
                <a:latin typeface="Montserrat"/>
                <a:ea typeface="Montserrat"/>
                <a:cs typeface="Montserrat"/>
                <a:sym typeface="Montserrat"/>
              </a:rPr>
              <a:t>3</a:t>
            </a:r>
            <a:endParaRPr b="0" i="0" sz="1000" u="none" cap="none" strike="noStrike">
              <a:solidFill>
                <a:schemeClr val="dk1"/>
              </a:solidFill>
              <a:latin typeface="Calibri"/>
              <a:ea typeface="Calibri"/>
              <a:cs typeface="Calibri"/>
              <a:sym typeface="Calibri"/>
            </a:endParaRPr>
          </a:p>
        </p:txBody>
      </p:sp>
      <p:sp>
        <p:nvSpPr>
          <p:cNvPr id="268" name="Google Shape;268;p34"/>
          <p:cNvSpPr/>
          <p:nvPr/>
        </p:nvSpPr>
        <p:spPr>
          <a:xfrm>
            <a:off x="1320879" y="4389955"/>
            <a:ext cx="1072218" cy="13400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E2E6E9"/>
              </a:buClr>
              <a:buSzPts val="800"/>
              <a:buFont typeface="Montserrat"/>
              <a:buNone/>
            </a:pPr>
            <a:r>
              <a:rPr b="1" i="0" lang="es" sz="1000" u="none" cap="none" strike="noStrike">
                <a:solidFill>
                  <a:schemeClr val="dk1"/>
                </a:solidFill>
                <a:latin typeface="Montserrat"/>
                <a:ea typeface="Montserrat"/>
                <a:cs typeface="Montserrat"/>
                <a:sym typeface="Montserrat"/>
              </a:rPr>
              <a:t>Paso 3: aabb</a:t>
            </a:r>
            <a:endParaRPr b="0" i="0" sz="1000" u="none" cap="none" strike="noStrike">
              <a:solidFill>
                <a:schemeClr val="dk1"/>
              </a:solidFill>
              <a:latin typeface="Calibri"/>
              <a:ea typeface="Calibri"/>
              <a:cs typeface="Calibri"/>
              <a:sym typeface="Calibri"/>
            </a:endParaRPr>
          </a:p>
        </p:txBody>
      </p:sp>
      <p:sp>
        <p:nvSpPr>
          <p:cNvPr id="269" name="Google Shape;269;p34"/>
          <p:cNvSpPr/>
          <p:nvPr/>
        </p:nvSpPr>
        <p:spPr>
          <a:xfrm>
            <a:off x="1320879" y="4580515"/>
            <a:ext cx="3251121" cy="141506"/>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Aplicamos S→ε para obtener la cadena final aabb.</a:t>
            </a:r>
            <a:endParaRPr b="0" i="0" sz="1000" u="none" cap="none" strike="noStrike">
              <a:solidFill>
                <a:schemeClr val="dk1"/>
              </a:solidFill>
              <a:latin typeface="Calibri"/>
              <a:ea typeface="Calibri"/>
              <a:cs typeface="Calibri"/>
              <a:sym typeface="Calibri"/>
            </a:endParaRPr>
          </a:p>
        </p:txBody>
      </p:sp>
      <p:pic>
        <p:nvPicPr>
          <p:cNvPr id="270" name="Google Shape;270;p34"/>
          <p:cNvPicPr preferRelativeResize="0"/>
          <p:nvPr/>
        </p:nvPicPr>
        <p:blipFill rotWithShape="1">
          <a:blip r:embed="rId3">
            <a:alphaModFix/>
          </a:blip>
          <a:srcRect b="0" l="0" r="0" t="0"/>
          <a:stretch/>
        </p:blipFill>
        <p:spPr>
          <a:xfrm>
            <a:off x="5574338" y="-10306"/>
            <a:ext cx="3569663" cy="515380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5"/>
          <p:cNvSpPr txBox="1"/>
          <p:nvPr/>
        </p:nvSpPr>
        <p:spPr>
          <a:xfrm>
            <a:off x="687445" y="327182"/>
            <a:ext cx="69955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Importancia de los LFC en la Teoría de Lenguajes de Programación</a:t>
            </a:r>
            <a:endParaRPr b="0" i="0" sz="3000" u="none" cap="none" strike="noStrike">
              <a:solidFill>
                <a:srgbClr val="131416"/>
              </a:solidFill>
              <a:latin typeface="Impact"/>
              <a:ea typeface="Impact"/>
              <a:cs typeface="Impact"/>
              <a:sym typeface="Impact"/>
            </a:endParaRPr>
          </a:p>
        </p:txBody>
      </p:sp>
      <p:sp>
        <p:nvSpPr>
          <p:cNvPr id="276" name="Google Shape;276;p35"/>
          <p:cNvSpPr/>
          <p:nvPr/>
        </p:nvSpPr>
        <p:spPr>
          <a:xfrm>
            <a:off x="592515" y="1385292"/>
            <a:ext cx="7864041" cy="55560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000"/>
              <a:buFont typeface="Arial"/>
              <a:buNone/>
            </a:pPr>
            <a:r>
              <a:rPr b="0" i="0" lang="es" sz="1400" u="none" cap="none" strike="noStrike">
                <a:solidFill>
                  <a:schemeClr val="dk1"/>
                </a:solidFill>
                <a:latin typeface="Arial"/>
                <a:ea typeface="Arial"/>
                <a:cs typeface="Arial"/>
                <a:sym typeface="Arial"/>
              </a:rPr>
              <a:t>Los lenguajes libres de contexto juegan un papel crucial en la teoría de lenguajes de programación. Su estructura permite describir relaciones jerárquicas complejas, como pares de paréntesis anidados o la relación entre un bloque de código y sus subbloques.</a:t>
            </a:r>
            <a:endParaRPr b="0" i="0" sz="1400" u="none" cap="none" strike="noStrike">
              <a:solidFill>
                <a:schemeClr val="dk1"/>
              </a:solidFill>
              <a:latin typeface="Calibri"/>
              <a:ea typeface="Calibri"/>
              <a:cs typeface="Calibri"/>
              <a:sym typeface="Calibri"/>
            </a:endParaRPr>
          </a:p>
        </p:txBody>
      </p:sp>
      <p:sp>
        <p:nvSpPr>
          <p:cNvPr id="277" name="Google Shape;277;p35"/>
          <p:cNvSpPr/>
          <p:nvPr/>
        </p:nvSpPr>
        <p:spPr>
          <a:xfrm>
            <a:off x="592515" y="2340206"/>
            <a:ext cx="7864041" cy="370404"/>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000"/>
              <a:buFont typeface="Arial"/>
              <a:buNone/>
            </a:pPr>
            <a:r>
              <a:rPr b="0" i="0" lang="es" sz="1400" u="none" cap="none" strike="noStrike">
                <a:solidFill>
                  <a:schemeClr val="dk1"/>
                </a:solidFill>
                <a:latin typeface="Arial"/>
                <a:ea typeface="Arial"/>
                <a:cs typeface="Arial"/>
                <a:sym typeface="Arial"/>
              </a:rPr>
              <a:t>Esta capacidad es fundamental para los lenguajes de programación y los compiladores, ya que permite expresar y analizar estructuras sintácticas complejas de manera eficiente y precisa.</a:t>
            </a:r>
            <a:endParaRPr b="0" i="0" sz="1400" u="none" cap="none" strike="noStrike">
              <a:solidFill>
                <a:schemeClr val="dk1"/>
              </a:solidFill>
              <a:latin typeface="Calibri"/>
              <a:ea typeface="Calibri"/>
              <a:cs typeface="Calibri"/>
              <a:sym typeface="Calibri"/>
            </a:endParaRPr>
          </a:p>
        </p:txBody>
      </p:sp>
      <p:sp>
        <p:nvSpPr>
          <p:cNvPr id="278" name="Google Shape;278;p35"/>
          <p:cNvSpPr/>
          <p:nvPr/>
        </p:nvSpPr>
        <p:spPr>
          <a:xfrm>
            <a:off x="592515" y="3181595"/>
            <a:ext cx="2363403" cy="1753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100"/>
              <a:buFont typeface="Montserrat"/>
              <a:buNone/>
            </a:pPr>
            <a:r>
              <a:rPr b="1" i="0" lang="es" sz="1400" u="none" cap="none" strike="noStrike">
                <a:solidFill>
                  <a:schemeClr val="dk1"/>
                </a:solidFill>
                <a:latin typeface="Montserrat"/>
                <a:ea typeface="Montserrat"/>
                <a:cs typeface="Montserrat"/>
                <a:sym typeface="Montserrat"/>
              </a:rPr>
              <a:t>Expresión de Jerarquías</a:t>
            </a:r>
            <a:endParaRPr b="0" i="0" sz="1400" u="none" cap="none" strike="noStrike">
              <a:solidFill>
                <a:schemeClr val="dk1"/>
              </a:solidFill>
              <a:latin typeface="Calibri"/>
              <a:ea typeface="Calibri"/>
              <a:cs typeface="Calibri"/>
              <a:sym typeface="Calibri"/>
            </a:endParaRPr>
          </a:p>
        </p:txBody>
      </p:sp>
      <p:sp>
        <p:nvSpPr>
          <p:cNvPr id="279" name="Google Shape;279;p35"/>
          <p:cNvSpPr/>
          <p:nvPr/>
        </p:nvSpPr>
        <p:spPr>
          <a:xfrm>
            <a:off x="592516" y="3480323"/>
            <a:ext cx="2363497" cy="55560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000"/>
              <a:buFont typeface="Arial"/>
              <a:buNone/>
            </a:pPr>
            <a:r>
              <a:rPr b="0" i="0" lang="es" sz="1400" u="none" cap="none" strike="noStrike">
                <a:solidFill>
                  <a:schemeClr val="dk1"/>
                </a:solidFill>
                <a:latin typeface="Arial"/>
                <a:ea typeface="Arial"/>
                <a:cs typeface="Arial"/>
                <a:sym typeface="Arial"/>
              </a:rPr>
              <a:t>Los LFC permiten representar estructuras anidadas y relaciones jerárquicas en el código.</a:t>
            </a:r>
            <a:endParaRPr b="0" i="0" sz="1400" u="none" cap="none" strike="noStrike">
              <a:solidFill>
                <a:schemeClr val="dk1"/>
              </a:solidFill>
              <a:latin typeface="Calibri"/>
              <a:ea typeface="Calibri"/>
              <a:cs typeface="Calibri"/>
              <a:sym typeface="Calibri"/>
            </a:endParaRPr>
          </a:p>
        </p:txBody>
      </p:sp>
      <p:sp>
        <p:nvSpPr>
          <p:cNvPr id="280" name="Google Shape;280;p35"/>
          <p:cNvSpPr/>
          <p:nvPr/>
        </p:nvSpPr>
        <p:spPr>
          <a:xfrm>
            <a:off x="2739809" y="3181595"/>
            <a:ext cx="1799505" cy="1753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100"/>
              <a:buFont typeface="Montserrat"/>
              <a:buNone/>
            </a:pPr>
            <a:r>
              <a:rPr b="1" i="0" lang="es" sz="1400" u="none" cap="none" strike="noStrike">
                <a:solidFill>
                  <a:schemeClr val="dk1"/>
                </a:solidFill>
                <a:latin typeface="Montserrat"/>
                <a:ea typeface="Montserrat"/>
                <a:cs typeface="Montserrat"/>
                <a:sym typeface="Montserrat"/>
              </a:rPr>
              <a:t>Análisis Sintáctico</a:t>
            </a:r>
            <a:endParaRPr b="0" i="0" sz="1400" u="none" cap="none" strike="noStrike">
              <a:solidFill>
                <a:schemeClr val="dk1"/>
              </a:solidFill>
              <a:latin typeface="Calibri"/>
              <a:ea typeface="Calibri"/>
              <a:cs typeface="Calibri"/>
              <a:sym typeface="Calibri"/>
            </a:endParaRPr>
          </a:p>
        </p:txBody>
      </p:sp>
      <p:sp>
        <p:nvSpPr>
          <p:cNvPr id="281" name="Google Shape;281;p35"/>
          <p:cNvSpPr/>
          <p:nvPr/>
        </p:nvSpPr>
        <p:spPr>
          <a:xfrm>
            <a:off x="2739808" y="3480323"/>
            <a:ext cx="2363496" cy="55560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000"/>
              <a:buFont typeface="Arial"/>
              <a:buNone/>
            </a:pPr>
            <a:r>
              <a:rPr b="0" i="0" lang="es" sz="1400" u="none" cap="none" strike="noStrike">
                <a:solidFill>
                  <a:schemeClr val="dk1"/>
                </a:solidFill>
                <a:latin typeface="Arial"/>
                <a:ea typeface="Arial"/>
                <a:cs typeface="Arial"/>
                <a:sym typeface="Arial"/>
              </a:rPr>
              <a:t>Facilitan la creación de analizadores sintácticos eficientes para compiladores.</a:t>
            </a:r>
            <a:endParaRPr b="0" i="0" sz="1400" u="none" cap="none" strike="noStrike">
              <a:solidFill>
                <a:schemeClr val="dk1"/>
              </a:solidFill>
              <a:latin typeface="Calibri"/>
              <a:ea typeface="Calibri"/>
              <a:cs typeface="Calibri"/>
              <a:sym typeface="Calibri"/>
            </a:endParaRPr>
          </a:p>
        </p:txBody>
      </p:sp>
      <p:sp>
        <p:nvSpPr>
          <p:cNvPr id="282" name="Google Shape;282;p35"/>
          <p:cNvSpPr/>
          <p:nvPr/>
        </p:nvSpPr>
        <p:spPr>
          <a:xfrm>
            <a:off x="4887102" y="3181595"/>
            <a:ext cx="2314141" cy="1753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100"/>
              <a:buFont typeface="Montserrat"/>
              <a:buNone/>
            </a:pPr>
            <a:r>
              <a:rPr b="1" i="0" lang="es" sz="1400" u="none" cap="none" strike="noStrike">
                <a:solidFill>
                  <a:schemeClr val="dk1"/>
                </a:solidFill>
                <a:latin typeface="Montserrat"/>
                <a:ea typeface="Montserrat"/>
                <a:cs typeface="Montserrat"/>
                <a:sym typeface="Montserrat"/>
              </a:rPr>
              <a:t>Diseño de Lenguajes</a:t>
            </a:r>
            <a:endParaRPr b="0" i="0" sz="1400" u="none" cap="none" strike="noStrike">
              <a:solidFill>
                <a:schemeClr val="dk1"/>
              </a:solidFill>
              <a:latin typeface="Calibri"/>
              <a:ea typeface="Calibri"/>
              <a:cs typeface="Calibri"/>
              <a:sym typeface="Calibri"/>
            </a:endParaRPr>
          </a:p>
        </p:txBody>
      </p:sp>
      <p:sp>
        <p:nvSpPr>
          <p:cNvPr id="283" name="Google Shape;283;p35"/>
          <p:cNvSpPr/>
          <p:nvPr/>
        </p:nvSpPr>
        <p:spPr>
          <a:xfrm>
            <a:off x="4887100" y="3480323"/>
            <a:ext cx="2363497" cy="55560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000"/>
              <a:buFont typeface="Arial"/>
              <a:buNone/>
            </a:pPr>
            <a:r>
              <a:rPr b="0" i="0" lang="es" sz="1400" u="none" cap="none" strike="noStrike">
                <a:solidFill>
                  <a:schemeClr val="dk1"/>
                </a:solidFill>
                <a:latin typeface="Arial"/>
                <a:ea typeface="Arial"/>
                <a:cs typeface="Arial"/>
                <a:sym typeface="Arial"/>
              </a:rPr>
              <a:t>Son la base para definir la sintaxis de nuevos lenguajes de programación.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6"/>
          <p:cNvSpPr txBox="1"/>
          <p:nvPr/>
        </p:nvSpPr>
        <p:spPr>
          <a:xfrm>
            <a:off x="687445" y="327182"/>
            <a:ext cx="6995550" cy="53020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Aplicación de LFC: Paréntesis Balanceados</a:t>
            </a:r>
            <a:endParaRPr b="0" i="0" sz="3000" u="none" cap="none" strike="noStrike">
              <a:solidFill>
                <a:srgbClr val="131416"/>
              </a:solidFill>
              <a:latin typeface="Impact"/>
              <a:ea typeface="Impact"/>
              <a:cs typeface="Impact"/>
              <a:sym typeface="Impact"/>
            </a:endParaRPr>
          </a:p>
        </p:txBody>
      </p:sp>
      <p:sp>
        <p:nvSpPr>
          <p:cNvPr id="289" name="Google Shape;289;p36"/>
          <p:cNvSpPr/>
          <p:nvPr/>
        </p:nvSpPr>
        <p:spPr>
          <a:xfrm>
            <a:off x="687445" y="989507"/>
            <a:ext cx="3971330" cy="386299"/>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Un ejemplo práctico de la aplicación de los LFC es la definición de paréntesis balanceados, crucial en la sintaxis de lenguajes como C, Python o JavaScript. Podemos definir una gramática libre de contexto para paréntesis balanceados como: S→(S) ∣ ε</a:t>
            </a:r>
            <a:endParaRPr b="0" i="0" sz="1000" u="none" cap="none" strike="noStrike">
              <a:solidFill>
                <a:schemeClr val="dk1"/>
              </a:solidFill>
              <a:latin typeface="Calibri"/>
              <a:ea typeface="Calibri"/>
              <a:cs typeface="Calibri"/>
              <a:sym typeface="Calibri"/>
            </a:endParaRPr>
          </a:p>
        </p:txBody>
      </p:sp>
      <p:sp>
        <p:nvSpPr>
          <p:cNvPr id="290" name="Google Shape;290;p36"/>
          <p:cNvSpPr/>
          <p:nvPr/>
        </p:nvSpPr>
        <p:spPr>
          <a:xfrm>
            <a:off x="687445" y="1917474"/>
            <a:ext cx="3971330" cy="257532"/>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Esta gramática genera cadenas de paréntesis balanceados como: (), (()), (()()), etc. Estas construcciones son comunes en expresiones y agrupación de bloques de código en programación.</a:t>
            </a:r>
            <a:endParaRPr b="0" i="0" sz="1000" u="none" cap="none" strike="noStrike">
              <a:solidFill>
                <a:schemeClr val="dk1"/>
              </a:solidFill>
              <a:latin typeface="Calibri"/>
              <a:ea typeface="Calibri"/>
              <a:cs typeface="Calibri"/>
              <a:sym typeface="Calibri"/>
            </a:endParaRPr>
          </a:p>
        </p:txBody>
      </p:sp>
      <p:pic>
        <p:nvPicPr>
          <p:cNvPr descr="preencoded.png" id="291" name="Google Shape;291;p36"/>
          <p:cNvPicPr preferRelativeResize="0"/>
          <p:nvPr/>
        </p:nvPicPr>
        <p:blipFill rotWithShape="1">
          <a:blip r:embed="rId3">
            <a:alphaModFix/>
          </a:blip>
          <a:srcRect b="0" l="0" r="0" t="0"/>
          <a:stretch/>
        </p:blipFill>
        <p:spPr>
          <a:xfrm>
            <a:off x="687444" y="2709415"/>
            <a:ext cx="429102" cy="686514"/>
          </a:xfrm>
          <a:prstGeom prst="rect">
            <a:avLst/>
          </a:prstGeom>
          <a:noFill/>
          <a:ln>
            <a:noFill/>
          </a:ln>
        </p:spPr>
      </p:pic>
      <p:sp>
        <p:nvSpPr>
          <p:cNvPr id="292" name="Google Shape;292;p36"/>
          <p:cNvSpPr/>
          <p:nvPr/>
        </p:nvSpPr>
        <p:spPr>
          <a:xfrm>
            <a:off x="1245252" y="2795200"/>
            <a:ext cx="975241" cy="121860"/>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E2E6E9"/>
              </a:buClr>
              <a:buSzPts val="800"/>
              <a:buFont typeface="Montserrat"/>
              <a:buNone/>
            </a:pPr>
            <a:r>
              <a:rPr b="1" i="0" lang="es" sz="1000" u="none" cap="none" strike="noStrike">
                <a:solidFill>
                  <a:schemeClr val="dk1"/>
                </a:solidFill>
                <a:latin typeface="Montserrat"/>
                <a:ea typeface="Montserrat"/>
                <a:cs typeface="Montserrat"/>
                <a:sym typeface="Montserrat"/>
              </a:rPr>
              <a:t>Inicio</a:t>
            </a:r>
            <a:endParaRPr b="0" i="0" sz="1000" u="none" cap="none" strike="noStrike">
              <a:solidFill>
                <a:schemeClr val="dk1"/>
              </a:solidFill>
              <a:latin typeface="Calibri"/>
              <a:ea typeface="Calibri"/>
              <a:cs typeface="Calibri"/>
              <a:sym typeface="Calibri"/>
            </a:endParaRPr>
          </a:p>
        </p:txBody>
      </p:sp>
      <p:sp>
        <p:nvSpPr>
          <p:cNvPr id="293" name="Google Shape;293;p36"/>
          <p:cNvSpPr/>
          <p:nvPr/>
        </p:nvSpPr>
        <p:spPr>
          <a:xfrm>
            <a:off x="1245252" y="2968495"/>
            <a:ext cx="3413522" cy="128766"/>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Comenzamos con el símbolo S.</a:t>
            </a:r>
            <a:endParaRPr b="0" i="0" sz="1000" u="none" cap="none" strike="noStrike">
              <a:solidFill>
                <a:schemeClr val="dk1"/>
              </a:solidFill>
              <a:latin typeface="Calibri"/>
              <a:ea typeface="Calibri"/>
              <a:cs typeface="Calibri"/>
              <a:sym typeface="Calibri"/>
            </a:endParaRPr>
          </a:p>
        </p:txBody>
      </p:sp>
      <p:pic>
        <p:nvPicPr>
          <p:cNvPr descr="preencoded.png" id="294" name="Google Shape;294;p36"/>
          <p:cNvPicPr preferRelativeResize="0"/>
          <p:nvPr/>
        </p:nvPicPr>
        <p:blipFill rotWithShape="1">
          <a:blip r:embed="rId4">
            <a:alphaModFix/>
          </a:blip>
          <a:srcRect b="0" l="0" r="0" t="0"/>
          <a:stretch/>
        </p:blipFill>
        <p:spPr>
          <a:xfrm>
            <a:off x="687444" y="3395929"/>
            <a:ext cx="429102" cy="686514"/>
          </a:xfrm>
          <a:prstGeom prst="rect">
            <a:avLst/>
          </a:prstGeom>
          <a:noFill/>
          <a:ln>
            <a:noFill/>
          </a:ln>
        </p:spPr>
      </p:pic>
      <p:sp>
        <p:nvSpPr>
          <p:cNvPr id="295" name="Google Shape;295;p36"/>
          <p:cNvSpPr/>
          <p:nvPr/>
        </p:nvSpPr>
        <p:spPr>
          <a:xfrm>
            <a:off x="1245252" y="3481713"/>
            <a:ext cx="975241" cy="121861"/>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E2E6E9"/>
              </a:buClr>
              <a:buSzPts val="800"/>
              <a:buFont typeface="Montserrat"/>
              <a:buNone/>
            </a:pPr>
            <a:r>
              <a:rPr b="1" i="0" lang="es" sz="1000" u="none" cap="none" strike="noStrike">
                <a:solidFill>
                  <a:schemeClr val="dk1"/>
                </a:solidFill>
                <a:latin typeface="Montserrat"/>
                <a:ea typeface="Montserrat"/>
                <a:cs typeface="Montserrat"/>
                <a:sym typeface="Montserrat"/>
              </a:rPr>
              <a:t>Expansión</a:t>
            </a:r>
            <a:endParaRPr b="0" i="0" sz="1000" u="none" cap="none" strike="noStrike">
              <a:solidFill>
                <a:schemeClr val="dk1"/>
              </a:solidFill>
              <a:latin typeface="Calibri"/>
              <a:ea typeface="Calibri"/>
              <a:cs typeface="Calibri"/>
              <a:sym typeface="Calibri"/>
            </a:endParaRPr>
          </a:p>
        </p:txBody>
      </p:sp>
      <p:sp>
        <p:nvSpPr>
          <p:cNvPr id="296" name="Google Shape;296;p36"/>
          <p:cNvSpPr/>
          <p:nvPr/>
        </p:nvSpPr>
        <p:spPr>
          <a:xfrm>
            <a:off x="1245252" y="3655009"/>
            <a:ext cx="3413522" cy="128766"/>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Aplicamos S→(S) repetidamente.</a:t>
            </a:r>
            <a:endParaRPr b="0" i="0" sz="1000" u="none" cap="none" strike="noStrike">
              <a:solidFill>
                <a:schemeClr val="dk1"/>
              </a:solidFill>
              <a:latin typeface="Calibri"/>
              <a:ea typeface="Calibri"/>
              <a:cs typeface="Calibri"/>
              <a:sym typeface="Calibri"/>
            </a:endParaRPr>
          </a:p>
        </p:txBody>
      </p:sp>
      <p:pic>
        <p:nvPicPr>
          <p:cNvPr descr="preencoded.png" id="297" name="Google Shape;297;p36"/>
          <p:cNvPicPr preferRelativeResize="0"/>
          <p:nvPr/>
        </p:nvPicPr>
        <p:blipFill rotWithShape="1">
          <a:blip r:embed="rId5">
            <a:alphaModFix/>
          </a:blip>
          <a:srcRect b="0" l="0" r="0" t="0"/>
          <a:stretch/>
        </p:blipFill>
        <p:spPr>
          <a:xfrm>
            <a:off x="687444" y="4082444"/>
            <a:ext cx="429102" cy="686515"/>
          </a:xfrm>
          <a:prstGeom prst="rect">
            <a:avLst/>
          </a:prstGeom>
          <a:noFill/>
          <a:ln>
            <a:noFill/>
          </a:ln>
        </p:spPr>
      </p:pic>
      <p:sp>
        <p:nvSpPr>
          <p:cNvPr id="298" name="Google Shape;298;p36"/>
          <p:cNvSpPr/>
          <p:nvPr/>
        </p:nvSpPr>
        <p:spPr>
          <a:xfrm>
            <a:off x="1245252" y="4168228"/>
            <a:ext cx="975241" cy="121861"/>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E2E6E9"/>
              </a:buClr>
              <a:buSzPts val="800"/>
              <a:buFont typeface="Montserrat"/>
              <a:buNone/>
            </a:pPr>
            <a:r>
              <a:rPr b="1" i="0" lang="es" sz="1000" u="none" cap="none" strike="noStrike">
                <a:solidFill>
                  <a:schemeClr val="dk1"/>
                </a:solidFill>
                <a:latin typeface="Montserrat"/>
                <a:ea typeface="Montserrat"/>
                <a:cs typeface="Montserrat"/>
                <a:sym typeface="Montserrat"/>
              </a:rPr>
              <a:t>Terminación</a:t>
            </a:r>
            <a:endParaRPr b="0" i="0" sz="1000" u="none" cap="none" strike="noStrike">
              <a:solidFill>
                <a:schemeClr val="dk1"/>
              </a:solidFill>
              <a:latin typeface="Calibri"/>
              <a:ea typeface="Calibri"/>
              <a:cs typeface="Calibri"/>
              <a:sym typeface="Calibri"/>
            </a:endParaRPr>
          </a:p>
        </p:txBody>
      </p:sp>
      <p:sp>
        <p:nvSpPr>
          <p:cNvPr id="299" name="Google Shape;299;p36"/>
          <p:cNvSpPr/>
          <p:nvPr/>
        </p:nvSpPr>
        <p:spPr>
          <a:xfrm>
            <a:off x="1245252" y="4341524"/>
            <a:ext cx="3413522" cy="128766"/>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Finalizamos con S→ε cuando sea necesario.</a:t>
            </a:r>
            <a:endParaRPr b="0" i="0" sz="1000" u="none" cap="none" strike="noStrike">
              <a:solidFill>
                <a:schemeClr val="dk1"/>
              </a:solidFill>
              <a:latin typeface="Calibri"/>
              <a:ea typeface="Calibri"/>
              <a:cs typeface="Calibri"/>
              <a:sym typeface="Calibri"/>
            </a:endParaRPr>
          </a:p>
        </p:txBody>
      </p:sp>
      <p:pic>
        <p:nvPicPr>
          <p:cNvPr id="300" name="Google Shape;300;p36"/>
          <p:cNvPicPr preferRelativeResize="0"/>
          <p:nvPr/>
        </p:nvPicPr>
        <p:blipFill rotWithShape="1">
          <a:blip r:embed="rId6">
            <a:alphaModFix/>
          </a:blip>
          <a:srcRect b="0" l="0" r="0" t="0"/>
          <a:stretch/>
        </p:blipFill>
        <p:spPr>
          <a:xfrm>
            <a:off x="5390147" y="755349"/>
            <a:ext cx="3738416" cy="3215073"/>
          </a:xfrm>
          <a:prstGeom prst="rect">
            <a:avLst/>
          </a:prstGeom>
          <a:noFill/>
          <a:ln>
            <a:noFill/>
          </a:ln>
        </p:spPr>
      </p:pic>
      <p:pic>
        <p:nvPicPr>
          <p:cNvPr id="301" name="Google Shape;301;p36"/>
          <p:cNvPicPr preferRelativeResize="0"/>
          <p:nvPr/>
        </p:nvPicPr>
        <p:blipFill rotWithShape="1">
          <a:blip r:embed="rId7">
            <a:alphaModFix/>
          </a:blip>
          <a:srcRect b="0" l="0" r="0" t="0"/>
          <a:stretch/>
        </p:blipFill>
        <p:spPr>
          <a:xfrm>
            <a:off x="6761748" y="3970421"/>
            <a:ext cx="2354410" cy="951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7"/>
          <p:cNvSpPr txBox="1"/>
          <p:nvPr/>
        </p:nvSpPr>
        <p:spPr>
          <a:xfrm>
            <a:off x="687445" y="327182"/>
            <a:ext cx="69955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Gramáticas Tipo 2 en la Jerarquía de Chomsky</a:t>
            </a:r>
            <a:endParaRPr b="0" i="0" sz="3000" u="none" cap="none" strike="noStrike">
              <a:solidFill>
                <a:srgbClr val="131416"/>
              </a:solidFill>
              <a:latin typeface="Impact"/>
              <a:ea typeface="Impact"/>
              <a:cs typeface="Impact"/>
              <a:sym typeface="Impact"/>
            </a:endParaRPr>
          </a:p>
        </p:txBody>
      </p:sp>
      <p:sp>
        <p:nvSpPr>
          <p:cNvPr id="307" name="Google Shape;307;p37"/>
          <p:cNvSpPr/>
          <p:nvPr/>
        </p:nvSpPr>
        <p:spPr>
          <a:xfrm>
            <a:off x="687445" y="1387601"/>
            <a:ext cx="3989904" cy="249436"/>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Las gramáticas Tipo 2, según la Jerarquía de Chomsky, son aquellas que generan lenguajes libres de contexto. Su característica principal es que las reglas de producción tienen un único símbolo no terminal en el lado izquierdo.</a:t>
            </a:r>
            <a:endParaRPr b="0" i="0" sz="1000" u="none" cap="none" strike="noStrike">
              <a:solidFill>
                <a:schemeClr val="dk1"/>
              </a:solidFill>
              <a:latin typeface="Calibri"/>
              <a:ea typeface="Calibri"/>
              <a:cs typeface="Calibri"/>
              <a:sym typeface="Calibri"/>
            </a:endParaRPr>
          </a:p>
        </p:txBody>
      </p:sp>
      <p:sp>
        <p:nvSpPr>
          <p:cNvPr id="308" name="Google Shape;308;p37"/>
          <p:cNvSpPr/>
          <p:nvPr/>
        </p:nvSpPr>
        <p:spPr>
          <a:xfrm>
            <a:off x="687470" y="2322300"/>
            <a:ext cx="3989850" cy="2494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Esta propiedad les permite describir estructuras fundamentales para los lenguajes de programación, ocupando un lugar crucial en la teoría de lenguajes formales y en el diseño de compiladores.</a:t>
            </a:r>
            <a:endParaRPr b="0" i="0" sz="1000" u="none" cap="none" strike="noStrike">
              <a:solidFill>
                <a:schemeClr val="dk1"/>
              </a:solidFill>
              <a:latin typeface="Calibri"/>
              <a:ea typeface="Calibri"/>
              <a:cs typeface="Calibri"/>
              <a:sym typeface="Calibri"/>
            </a:endParaRPr>
          </a:p>
        </p:txBody>
      </p:sp>
      <p:pic>
        <p:nvPicPr>
          <p:cNvPr descr="preencoded.png" id="309" name="Google Shape;309;p37"/>
          <p:cNvPicPr preferRelativeResize="0"/>
          <p:nvPr/>
        </p:nvPicPr>
        <p:blipFill rotWithShape="1">
          <a:blip r:embed="rId3">
            <a:alphaModFix/>
          </a:blip>
          <a:srcRect b="0" l="0" r="0" t="0"/>
          <a:stretch/>
        </p:blipFill>
        <p:spPr>
          <a:xfrm>
            <a:off x="687470" y="2642379"/>
            <a:ext cx="207883" cy="207883"/>
          </a:xfrm>
          <a:prstGeom prst="rect">
            <a:avLst/>
          </a:prstGeom>
          <a:noFill/>
          <a:ln>
            <a:noFill/>
          </a:ln>
        </p:spPr>
      </p:pic>
      <p:sp>
        <p:nvSpPr>
          <p:cNvPr id="310" name="Google Shape;310;p37"/>
          <p:cNvSpPr/>
          <p:nvPr/>
        </p:nvSpPr>
        <p:spPr>
          <a:xfrm>
            <a:off x="687441" y="3026751"/>
            <a:ext cx="945000" cy="118050"/>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E2E6E9"/>
              </a:buClr>
              <a:buSzPts val="700"/>
              <a:buFont typeface="Montserrat"/>
              <a:buNone/>
            </a:pPr>
            <a:r>
              <a:rPr b="1" i="0" lang="es" sz="1000" u="none" cap="none" strike="noStrike">
                <a:solidFill>
                  <a:schemeClr val="dk1"/>
                </a:solidFill>
                <a:latin typeface="Montserrat"/>
                <a:ea typeface="Montserrat"/>
                <a:cs typeface="Montserrat"/>
                <a:sym typeface="Montserrat"/>
              </a:rPr>
              <a:t>Jerarquía</a:t>
            </a:r>
            <a:endParaRPr b="0" i="0" sz="1000" u="none" cap="none" strike="noStrike">
              <a:solidFill>
                <a:schemeClr val="dk1"/>
              </a:solidFill>
              <a:latin typeface="Calibri"/>
              <a:ea typeface="Calibri"/>
              <a:cs typeface="Calibri"/>
              <a:sym typeface="Calibri"/>
            </a:endParaRPr>
          </a:p>
        </p:txBody>
      </p:sp>
      <p:sp>
        <p:nvSpPr>
          <p:cNvPr id="311" name="Google Shape;311;p37"/>
          <p:cNvSpPr/>
          <p:nvPr/>
        </p:nvSpPr>
        <p:spPr>
          <a:xfrm>
            <a:off x="687441" y="3194689"/>
            <a:ext cx="3989850" cy="1246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Posición en la clasificación de Chomsky.</a:t>
            </a:r>
            <a:endParaRPr b="0" i="0" sz="1000" u="none" cap="none" strike="noStrike">
              <a:solidFill>
                <a:schemeClr val="dk1"/>
              </a:solidFill>
              <a:latin typeface="Calibri"/>
              <a:ea typeface="Calibri"/>
              <a:cs typeface="Calibri"/>
              <a:sym typeface="Calibri"/>
            </a:endParaRPr>
          </a:p>
        </p:txBody>
      </p:sp>
      <p:pic>
        <p:nvPicPr>
          <p:cNvPr descr="preencoded.png" id="312" name="Google Shape;312;p37"/>
          <p:cNvPicPr preferRelativeResize="0"/>
          <p:nvPr/>
        </p:nvPicPr>
        <p:blipFill rotWithShape="1">
          <a:blip r:embed="rId4">
            <a:alphaModFix/>
          </a:blip>
          <a:srcRect b="0" l="0" r="0" t="0"/>
          <a:stretch/>
        </p:blipFill>
        <p:spPr>
          <a:xfrm>
            <a:off x="687416" y="3464868"/>
            <a:ext cx="207883" cy="207883"/>
          </a:xfrm>
          <a:prstGeom prst="rect">
            <a:avLst/>
          </a:prstGeom>
          <a:noFill/>
          <a:ln>
            <a:noFill/>
          </a:ln>
        </p:spPr>
      </p:pic>
      <p:sp>
        <p:nvSpPr>
          <p:cNvPr id="313" name="Google Shape;313;p37"/>
          <p:cNvSpPr/>
          <p:nvPr/>
        </p:nvSpPr>
        <p:spPr>
          <a:xfrm>
            <a:off x="687416" y="3755857"/>
            <a:ext cx="944940" cy="118050"/>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E2E6E9"/>
              </a:buClr>
              <a:buSzPts val="700"/>
              <a:buFont typeface="Montserrat"/>
              <a:buNone/>
            </a:pPr>
            <a:r>
              <a:rPr b="1" i="0" lang="es" sz="1000" u="none" cap="none" strike="noStrike">
                <a:solidFill>
                  <a:schemeClr val="dk1"/>
                </a:solidFill>
                <a:latin typeface="Montserrat"/>
                <a:ea typeface="Montserrat"/>
                <a:cs typeface="Montserrat"/>
                <a:sym typeface="Montserrat"/>
              </a:rPr>
              <a:t>Programación</a:t>
            </a:r>
            <a:endParaRPr b="0" i="0" sz="1000" u="none" cap="none" strike="noStrike">
              <a:solidFill>
                <a:schemeClr val="dk1"/>
              </a:solidFill>
              <a:latin typeface="Calibri"/>
              <a:ea typeface="Calibri"/>
              <a:cs typeface="Calibri"/>
              <a:sym typeface="Calibri"/>
            </a:endParaRPr>
          </a:p>
        </p:txBody>
      </p:sp>
      <p:sp>
        <p:nvSpPr>
          <p:cNvPr id="314" name="Google Shape;314;p37"/>
          <p:cNvSpPr/>
          <p:nvPr/>
        </p:nvSpPr>
        <p:spPr>
          <a:xfrm>
            <a:off x="687416" y="3923794"/>
            <a:ext cx="3989904" cy="12471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Aplicación en lenguajes de programación.</a:t>
            </a:r>
            <a:endParaRPr b="0" i="0" sz="1000" u="none" cap="none" strike="noStrike">
              <a:solidFill>
                <a:schemeClr val="dk1"/>
              </a:solidFill>
              <a:latin typeface="Calibri"/>
              <a:ea typeface="Calibri"/>
              <a:cs typeface="Calibri"/>
              <a:sym typeface="Calibri"/>
            </a:endParaRPr>
          </a:p>
        </p:txBody>
      </p:sp>
      <p:pic>
        <p:nvPicPr>
          <p:cNvPr descr="preencoded.png" id="315" name="Google Shape;315;p37"/>
          <p:cNvPicPr preferRelativeResize="0"/>
          <p:nvPr/>
        </p:nvPicPr>
        <p:blipFill rotWithShape="1">
          <a:blip r:embed="rId5">
            <a:alphaModFix/>
          </a:blip>
          <a:srcRect b="0" l="0" r="0" t="0"/>
          <a:stretch/>
        </p:blipFill>
        <p:spPr>
          <a:xfrm>
            <a:off x="687416" y="4297948"/>
            <a:ext cx="207883" cy="207883"/>
          </a:xfrm>
          <a:prstGeom prst="rect">
            <a:avLst/>
          </a:prstGeom>
          <a:noFill/>
          <a:ln>
            <a:noFill/>
          </a:ln>
        </p:spPr>
      </p:pic>
      <p:sp>
        <p:nvSpPr>
          <p:cNvPr id="316" name="Google Shape;316;p37"/>
          <p:cNvSpPr/>
          <p:nvPr/>
        </p:nvSpPr>
        <p:spPr>
          <a:xfrm>
            <a:off x="687416" y="4588937"/>
            <a:ext cx="944940" cy="118050"/>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E2E6E9"/>
              </a:buClr>
              <a:buSzPts val="700"/>
              <a:buFont typeface="Montserrat"/>
              <a:buNone/>
            </a:pPr>
            <a:r>
              <a:rPr b="1" i="0" lang="es" sz="1000" u="none" cap="none" strike="noStrike">
                <a:solidFill>
                  <a:schemeClr val="dk1"/>
                </a:solidFill>
                <a:latin typeface="Montserrat"/>
                <a:ea typeface="Montserrat"/>
                <a:cs typeface="Montserrat"/>
                <a:sym typeface="Montserrat"/>
              </a:rPr>
              <a:t>Compiladores</a:t>
            </a:r>
            <a:endParaRPr b="0" i="0" sz="1000" u="none" cap="none" strike="noStrike">
              <a:solidFill>
                <a:schemeClr val="dk1"/>
              </a:solidFill>
              <a:latin typeface="Calibri"/>
              <a:ea typeface="Calibri"/>
              <a:cs typeface="Calibri"/>
              <a:sym typeface="Calibri"/>
            </a:endParaRPr>
          </a:p>
        </p:txBody>
      </p:sp>
      <p:sp>
        <p:nvSpPr>
          <p:cNvPr id="317" name="Google Shape;317;p37"/>
          <p:cNvSpPr/>
          <p:nvPr/>
        </p:nvSpPr>
        <p:spPr>
          <a:xfrm>
            <a:off x="687416" y="4756874"/>
            <a:ext cx="3989904" cy="12471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Uso en el diseño de compiladores.</a:t>
            </a:r>
            <a:endParaRPr b="0" i="0" sz="1000" u="none" cap="none" strike="noStrike">
              <a:solidFill>
                <a:schemeClr val="dk1"/>
              </a:solidFill>
              <a:latin typeface="Calibri"/>
              <a:ea typeface="Calibri"/>
              <a:cs typeface="Calibri"/>
              <a:sym typeface="Calibri"/>
            </a:endParaRPr>
          </a:p>
        </p:txBody>
      </p:sp>
      <p:pic>
        <p:nvPicPr>
          <p:cNvPr id="318" name="Google Shape;318;p37"/>
          <p:cNvPicPr preferRelativeResize="0"/>
          <p:nvPr/>
        </p:nvPicPr>
        <p:blipFill rotWithShape="1">
          <a:blip r:embed="rId6">
            <a:alphaModFix/>
          </a:blip>
          <a:srcRect b="0" l="0" r="0" t="0"/>
          <a:stretch/>
        </p:blipFill>
        <p:spPr>
          <a:xfrm>
            <a:off x="5134015" y="894368"/>
            <a:ext cx="3989904" cy="330465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8"/>
          <p:cNvSpPr txBox="1"/>
          <p:nvPr/>
        </p:nvSpPr>
        <p:spPr>
          <a:xfrm>
            <a:off x="687445" y="327182"/>
            <a:ext cx="6995550" cy="53020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Gramáticas Libres de Contexto</a:t>
            </a:r>
            <a:endParaRPr b="0" i="0" sz="700" u="none" cap="none" strike="noStrike">
              <a:solidFill>
                <a:srgbClr val="000000"/>
              </a:solidFill>
              <a:latin typeface="Arial"/>
              <a:ea typeface="Arial"/>
              <a:cs typeface="Arial"/>
              <a:sym typeface="Arial"/>
            </a:endParaRPr>
          </a:p>
        </p:txBody>
      </p:sp>
      <p:pic>
        <p:nvPicPr>
          <p:cNvPr id="324" name="Google Shape;324;p38"/>
          <p:cNvPicPr preferRelativeResize="0"/>
          <p:nvPr/>
        </p:nvPicPr>
        <p:blipFill rotWithShape="1">
          <a:blip r:embed="rId3">
            <a:alphaModFix/>
          </a:blip>
          <a:srcRect b="0" l="0" r="0" t="0"/>
          <a:stretch/>
        </p:blipFill>
        <p:spPr>
          <a:xfrm>
            <a:off x="2891589" y="857391"/>
            <a:ext cx="3677653" cy="428610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9"/>
          <p:cNvSpPr txBox="1"/>
          <p:nvPr/>
        </p:nvSpPr>
        <p:spPr>
          <a:xfrm>
            <a:off x="687445" y="327182"/>
            <a:ext cx="69955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Ejemplo de Gramática Tipo 2 en Lenguajes de Programación</a:t>
            </a:r>
            <a:endParaRPr b="0" i="0" sz="3000" u="none" cap="none" strike="noStrike">
              <a:solidFill>
                <a:srgbClr val="131416"/>
              </a:solidFill>
              <a:latin typeface="Impact"/>
              <a:ea typeface="Impact"/>
              <a:cs typeface="Impact"/>
              <a:sym typeface="Impact"/>
            </a:endParaRPr>
          </a:p>
        </p:txBody>
      </p:sp>
      <p:sp>
        <p:nvSpPr>
          <p:cNvPr id="330" name="Google Shape;330;p39"/>
          <p:cNvSpPr/>
          <p:nvPr/>
        </p:nvSpPr>
        <p:spPr>
          <a:xfrm>
            <a:off x="687445" y="1387600"/>
            <a:ext cx="7662472" cy="20210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Consideremos una gramática Tipo 2 que define un subconjunto simple de un lenguaje de programación:</a:t>
            </a:r>
            <a:endParaRPr b="0" i="0" sz="1200" u="none" cap="none" strike="noStrike">
              <a:solidFill>
                <a:schemeClr val="dk1"/>
              </a:solidFill>
              <a:latin typeface="Calibri"/>
              <a:ea typeface="Calibri"/>
              <a:cs typeface="Calibri"/>
              <a:sym typeface="Calibri"/>
            </a:endParaRPr>
          </a:p>
        </p:txBody>
      </p:sp>
      <p:sp>
        <p:nvSpPr>
          <p:cNvPr id="331" name="Google Shape;331;p39"/>
          <p:cNvSpPr/>
          <p:nvPr/>
        </p:nvSpPr>
        <p:spPr>
          <a:xfrm>
            <a:off x="687445" y="1654479"/>
            <a:ext cx="6130112" cy="15251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S→if (E) S ∣ while (E) S ∣ begin S end ∣ statement</a:t>
            </a:r>
            <a:endParaRPr b="0" i="0" sz="1200" u="none" cap="none" strike="noStrike">
              <a:solidFill>
                <a:schemeClr val="dk1"/>
              </a:solidFill>
              <a:latin typeface="Calibri"/>
              <a:ea typeface="Calibri"/>
              <a:cs typeface="Calibri"/>
              <a:sym typeface="Calibri"/>
            </a:endParaRPr>
          </a:p>
        </p:txBody>
      </p:sp>
      <p:sp>
        <p:nvSpPr>
          <p:cNvPr id="332" name="Google Shape;332;p39"/>
          <p:cNvSpPr/>
          <p:nvPr/>
        </p:nvSpPr>
        <p:spPr>
          <a:xfrm>
            <a:off x="687445" y="1921358"/>
            <a:ext cx="6130112" cy="15251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E→expresion</a:t>
            </a:r>
            <a:endParaRPr b="0" i="0" sz="1200" u="none" cap="none" strike="noStrike">
              <a:solidFill>
                <a:schemeClr val="dk1"/>
              </a:solidFill>
              <a:latin typeface="Calibri"/>
              <a:ea typeface="Calibri"/>
              <a:cs typeface="Calibri"/>
              <a:sym typeface="Calibri"/>
            </a:endParaRPr>
          </a:p>
        </p:txBody>
      </p:sp>
      <p:sp>
        <p:nvSpPr>
          <p:cNvPr id="333" name="Google Shape;333;p39"/>
          <p:cNvSpPr/>
          <p:nvPr/>
        </p:nvSpPr>
        <p:spPr>
          <a:xfrm>
            <a:off x="687445" y="2296881"/>
            <a:ext cx="7578250" cy="20210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Esta gramática representa estructuras básicas de control de flujo, como condicionales y bucles. Permite construir estructuras jerárquicas como: if (x &gt; 0) { statement; } else { statement; }</a:t>
            </a:r>
            <a:endParaRPr b="0" i="0" sz="1200" u="none" cap="none" strike="noStrike">
              <a:solidFill>
                <a:schemeClr val="dk1"/>
              </a:solidFill>
              <a:latin typeface="Calibri"/>
              <a:ea typeface="Calibri"/>
              <a:cs typeface="Calibri"/>
              <a:sym typeface="Calibri"/>
            </a:endParaRPr>
          </a:p>
        </p:txBody>
      </p:sp>
      <p:sp>
        <p:nvSpPr>
          <p:cNvPr id="334" name="Google Shape;334;p39"/>
          <p:cNvSpPr/>
          <p:nvPr/>
        </p:nvSpPr>
        <p:spPr>
          <a:xfrm>
            <a:off x="687445" y="2988872"/>
            <a:ext cx="7578250" cy="20591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Este ejemplo muestra cómo las gramáticas libres de contexto describen bloques sintácticos en lenguajes de programación, siendo fundamentales para el diseño de analizadores sintácticos.</a:t>
            </a:r>
            <a:endParaRPr b="0" i="0" sz="1200" u="none" cap="none" strike="noStrike">
              <a:solidFill>
                <a:schemeClr val="dk1"/>
              </a:solidFill>
              <a:latin typeface="Calibri"/>
              <a:ea typeface="Calibri"/>
              <a:cs typeface="Calibri"/>
              <a:sym typeface="Calibri"/>
            </a:endParaRPr>
          </a:p>
        </p:txBody>
      </p:sp>
      <p:sp>
        <p:nvSpPr>
          <p:cNvPr id="335" name="Google Shape;335;p39"/>
          <p:cNvSpPr/>
          <p:nvPr/>
        </p:nvSpPr>
        <p:spPr>
          <a:xfrm>
            <a:off x="687444" y="3539834"/>
            <a:ext cx="6130111" cy="1135857"/>
          </a:xfrm>
          <a:prstGeom prst="roundRect">
            <a:avLst>
              <a:gd fmla="val 1343" name="adj"/>
            </a:avLst>
          </a:prstGeom>
          <a:noFill/>
          <a:ln cap="flat" cmpd="sng" w="9525">
            <a:solidFill>
              <a:srgbClr val="FFFFFF">
                <a:alpha val="23137"/>
              </a:srgbClr>
            </a:solidFill>
            <a:prstDash val="solid"/>
            <a:round/>
            <a:headEnd len="sm" w="sm" type="none"/>
            <a:tailEnd len="sm" w="sm" type="none"/>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36" name="Google Shape;336;p39"/>
          <p:cNvSpPr/>
          <p:nvPr/>
        </p:nvSpPr>
        <p:spPr>
          <a:xfrm>
            <a:off x="691254" y="3543644"/>
            <a:ext cx="6122492" cy="282059"/>
          </a:xfrm>
          <a:prstGeom prst="rect">
            <a:avLst/>
          </a:prstGeom>
          <a:solidFill>
            <a:srgbClr val="FFFFFF">
              <a:alpha val="3137"/>
            </a:srgbClr>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37" name="Google Shape;337;p39"/>
          <p:cNvSpPr/>
          <p:nvPr/>
        </p:nvSpPr>
        <p:spPr>
          <a:xfrm>
            <a:off x="792993" y="3608414"/>
            <a:ext cx="2855952" cy="15251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Símbolo</a:t>
            </a:r>
            <a:endParaRPr b="0" i="0" sz="1200" u="none" cap="none" strike="noStrike">
              <a:solidFill>
                <a:schemeClr val="dk1"/>
              </a:solidFill>
              <a:latin typeface="Calibri"/>
              <a:ea typeface="Calibri"/>
              <a:cs typeface="Calibri"/>
              <a:sym typeface="Calibri"/>
            </a:endParaRPr>
          </a:p>
        </p:txBody>
      </p:sp>
      <p:sp>
        <p:nvSpPr>
          <p:cNvPr id="338" name="Google Shape;338;p39"/>
          <p:cNvSpPr/>
          <p:nvPr/>
        </p:nvSpPr>
        <p:spPr>
          <a:xfrm>
            <a:off x="3856114" y="3608414"/>
            <a:ext cx="2855952" cy="15251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Significado</a:t>
            </a:r>
            <a:endParaRPr b="0" i="0" sz="1200" u="none" cap="none" strike="noStrike">
              <a:solidFill>
                <a:schemeClr val="dk1"/>
              </a:solidFill>
              <a:latin typeface="Calibri"/>
              <a:ea typeface="Calibri"/>
              <a:cs typeface="Calibri"/>
              <a:sym typeface="Calibri"/>
            </a:endParaRPr>
          </a:p>
        </p:txBody>
      </p:sp>
      <p:sp>
        <p:nvSpPr>
          <p:cNvPr id="339" name="Google Shape;339;p39"/>
          <p:cNvSpPr/>
          <p:nvPr/>
        </p:nvSpPr>
        <p:spPr>
          <a:xfrm>
            <a:off x="691254" y="3825703"/>
            <a:ext cx="6122492" cy="282059"/>
          </a:xfrm>
          <a:prstGeom prst="rect">
            <a:avLst/>
          </a:prstGeom>
          <a:solidFill>
            <a:srgbClr val="000000">
              <a:alpha val="3137"/>
            </a:srgbClr>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40" name="Google Shape;340;p39"/>
          <p:cNvSpPr/>
          <p:nvPr/>
        </p:nvSpPr>
        <p:spPr>
          <a:xfrm>
            <a:off x="792993" y="3890473"/>
            <a:ext cx="2855952" cy="15251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S</a:t>
            </a:r>
            <a:endParaRPr b="0" i="0" sz="1200" u="none" cap="none" strike="noStrike">
              <a:solidFill>
                <a:schemeClr val="dk1"/>
              </a:solidFill>
              <a:latin typeface="Calibri"/>
              <a:ea typeface="Calibri"/>
              <a:cs typeface="Calibri"/>
              <a:sym typeface="Calibri"/>
            </a:endParaRPr>
          </a:p>
        </p:txBody>
      </p:sp>
      <p:sp>
        <p:nvSpPr>
          <p:cNvPr id="341" name="Google Shape;341;p39"/>
          <p:cNvSpPr/>
          <p:nvPr/>
        </p:nvSpPr>
        <p:spPr>
          <a:xfrm>
            <a:off x="3856114" y="3890473"/>
            <a:ext cx="2855952" cy="15251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Sentencia</a:t>
            </a:r>
            <a:endParaRPr b="0" i="0" sz="1200" u="none" cap="none" strike="noStrike">
              <a:solidFill>
                <a:schemeClr val="dk1"/>
              </a:solidFill>
              <a:latin typeface="Calibri"/>
              <a:ea typeface="Calibri"/>
              <a:cs typeface="Calibri"/>
              <a:sym typeface="Calibri"/>
            </a:endParaRPr>
          </a:p>
        </p:txBody>
      </p:sp>
      <p:sp>
        <p:nvSpPr>
          <p:cNvPr id="342" name="Google Shape;342;p39"/>
          <p:cNvSpPr/>
          <p:nvPr/>
        </p:nvSpPr>
        <p:spPr>
          <a:xfrm>
            <a:off x="691254" y="4107762"/>
            <a:ext cx="6122492" cy="282059"/>
          </a:xfrm>
          <a:prstGeom prst="rect">
            <a:avLst/>
          </a:prstGeom>
          <a:solidFill>
            <a:srgbClr val="FFFFFF">
              <a:alpha val="3137"/>
            </a:srgbClr>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43" name="Google Shape;343;p39"/>
          <p:cNvSpPr/>
          <p:nvPr/>
        </p:nvSpPr>
        <p:spPr>
          <a:xfrm>
            <a:off x="792993" y="4172532"/>
            <a:ext cx="2855952" cy="15251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E</a:t>
            </a:r>
            <a:endParaRPr b="0" i="0" sz="1200" u="none" cap="none" strike="noStrike">
              <a:solidFill>
                <a:schemeClr val="dk1"/>
              </a:solidFill>
              <a:latin typeface="Calibri"/>
              <a:ea typeface="Calibri"/>
              <a:cs typeface="Calibri"/>
              <a:sym typeface="Calibri"/>
            </a:endParaRPr>
          </a:p>
        </p:txBody>
      </p:sp>
      <p:sp>
        <p:nvSpPr>
          <p:cNvPr id="344" name="Google Shape;344;p39"/>
          <p:cNvSpPr/>
          <p:nvPr/>
        </p:nvSpPr>
        <p:spPr>
          <a:xfrm>
            <a:off x="3856114" y="4172532"/>
            <a:ext cx="2855952" cy="15251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Expresión</a:t>
            </a:r>
            <a:endParaRPr b="0" i="0" sz="1200" u="none" cap="none" strike="noStrike">
              <a:solidFill>
                <a:schemeClr val="dk1"/>
              </a:solidFill>
              <a:latin typeface="Calibri"/>
              <a:ea typeface="Calibri"/>
              <a:cs typeface="Calibri"/>
              <a:sym typeface="Calibri"/>
            </a:endParaRPr>
          </a:p>
        </p:txBody>
      </p:sp>
      <p:sp>
        <p:nvSpPr>
          <p:cNvPr id="345" name="Google Shape;345;p39"/>
          <p:cNvSpPr/>
          <p:nvPr/>
        </p:nvSpPr>
        <p:spPr>
          <a:xfrm>
            <a:off x="691254" y="4389821"/>
            <a:ext cx="6122492" cy="282059"/>
          </a:xfrm>
          <a:prstGeom prst="rect">
            <a:avLst/>
          </a:prstGeom>
          <a:solidFill>
            <a:srgbClr val="000000">
              <a:alpha val="3137"/>
            </a:srgbClr>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46" name="Google Shape;346;p39"/>
          <p:cNvSpPr/>
          <p:nvPr/>
        </p:nvSpPr>
        <p:spPr>
          <a:xfrm>
            <a:off x="792993" y="4454591"/>
            <a:ext cx="2855952" cy="15251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if, while</a:t>
            </a:r>
            <a:endParaRPr b="0" i="0" sz="1200" u="none" cap="none" strike="noStrike">
              <a:solidFill>
                <a:schemeClr val="dk1"/>
              </a:solidFill>
              <a:latin typeface="Calibri"/>
              <a:ea typeface="Calibri"/>
              <a:cs typeface="Calibri"/>
              <a:sym typeface="Calibri"/>
            </a:endParaRPr>
          </a:p>
        </p:txBody>
      </p:sp>
      <p:sp>
        <p:nvSpPr>
          <p:cNvPr id="347" name="Google Shape;347;p39"/>
          <p:cNvSpPr/>
          <p:nvPr/>
        </p:nvSpPr>
        <p:spPr>
          <a:xfrm>
            <a:off x="3856114" y="4454591"/>
            <a:ext cx="2855952" cy="15251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800"/>
              <a:buFont typeface="Arial"/>
              <a:buNone/>
            </a:pPr>
            <a:r>
              <a:rPr b="0" i="0" lang="es" sz="1200" u="none" cap="none" strike="noStrike">
                <a:solidFill>
                  <a:schemeClr val="dk1"/>
                </a:solidFill>
                <a:latin typeface="Arial"/>
                <a:ea typeface="Arial"/>
                <a:cs typeface="Arial"/>
                <a:sym typeface="Arial"/>
              </a:rPr>
              <a:t>Palabras clave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0"/>
          <p:cNvSpPr txBox="1"/>
          <p:nvPr/>
        </p:nvSpPr>
        <p:spPr>
          <a:xfrm>
            <a:off x="687445" y="327182"/>
            <a:ext cx="6995550" cy="118215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Aplicaciones Prácticas de Gramáticas Tipo 2 en Compiladores</a:t>
            </a:r>
            <a:endParaRPr b="0" i="0" sz="700" u="none" cap="none" strike="noStrike">
              <a:solidFill>
                <a:srgbClr val="000000"/>
              </a:solidFill>
              <a:latin typeface="Arial"/>
              <a:ea typeface="Arial"/>
              <a:cs typeface="Arial"/>
              <a:sym typeface="Arial"/>
            </a:endParaRPr>
          </a:p>
          <a:p>
            <a:pPr indent="0" lvl="0" marL="0" marR="0" rtl="0" algn="just">
              <a:lnSpc>
                <a:spcPct val="112987"/>
              </a:lnSpc>
              <a:spcBef>
                <a:spcPts val="0"/>
              </a:spcBef>
              <a:spcAft>
                <a:spcPts val="0"/>
              </a:spcAft>
              <a:buClr>
                <a:srgbClr val="000000"/>
              </a:buClr>
              <a:buSzPts val="700"/>
              <a:buFont typeface="Arial"/>
              <a:buNone/>
            </a:pPr>
            <a:r>
              <a:t/>
            </a:r>
            <a:endParaRPr b="0" i="0" sz="700" u="none" cap="none" strike="noStrike">
              <a:solidFill>
                <a:srgbClr val="000000"/>
              </a:solidFill>
              <a:latin typeface="Impact"/>
              <a:ea typeface="Impact"/>
              <a:cs typeface="Impact"/>
              <a:sym typeface="Impact"/>
            </a:endParaRPr>
          </a:p>
        </p:txBody>
      </p:sp>
      <p:sp>
        <p:nvSpPr>
          <p:cNvPr id="353" name="Google Shape;353;p40"/>
          <p:cNvSpPr/>
          <p:nvPr/>
        </p:nvSpPr>
        <p:spPr>
          <a:xfrm>
            <a:off x="687444" y="1318029"/>
            <a:ext cx="4930672" cy="41506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En la construcción de compiladores, el análisis sintáctico es un componente crucial que se basa en la gramática del lenguaje a compilar. Los compiladores de lenguajes como C o Java utilizan gramáticas libres de contexto para analizar el código fuente y verificar su conformidad con las reglas sintácticas del lenguaje.</a:t>
            </a:r>
            <a:endParaRPr b="0" i="0" sz="1000" u="none" cap="none" strike="noStrike">
              <a:solidFill>
                <a:schemeClr val="dk1"/>
              </a:solidFill>
              <a:latin typeface="Calibri"/>
              <a:ea typeface="Calibri"/>
              <a:cs typeface="Calibri"/>
              <a:sym typeface="Calibri"/>
            </a:endParaRPr>
          </a:p>
        </p:txBody>
      </p:sp>
      <p:sp>
        <p:nvSpPr>
          <p:cNvPr id="354" name="Google Shape;354;p40"/>
          <p:cNvSpPr/>
          <p:nvPr/>
        </p:nvSpPr>
        <p:spPr>
          <a:xfrm>
            <a:off x="687445" y="2293094"/>
            <a:ext cx="4930671" cy="19221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Este proceso es fundamental para la correcta interpretación y compilación del código, asegurando que las estructuras del lenguaje se utilicen de manera adecuada.</a:t>
            </a:r>
            <a:endParaRPr b="0" i="0" sz="1000" u="none" cap="none" strike="noStrike">
              <a:solidFill>
                <a:schemeClr val="dk1"/>
              </a:solidFill>
              <a:latin typeface="Calibri"/>
              <a:ea typeface="Calibri"/>
              <a:cs typeface="Calibri"/>
              <a:sym typeface="Calibri"/>
            </a:endParaRPr>
          </a:p>
        </p:txBody>
      </p:sp>
      <p:sp>
        <p:nvSpPr>
          <p:cNvPr id="355" name="Google Shape;355;p40"/>
          <p:cNvSpPr/>
          <p:nvPr/>
        </p:nvSpPr>
        <p:spPr>
          <a:xfrm>
            <a:off x="776236" y="2845444"/>
            <a:ext cx="11400" cy="2106750"/>
          </a:xfrm>
          <a:prstGeom prst="roundRect">
            <a:avLst>
              <a:gd fmla="val 110247" name="adj"/>
            </a:avLst>
          </a:prstGeom>
          <a:solidFill>
            <a:srgbClr val="494A4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356" name="Google Shape;356;p40"/>
          <p:cNvSpPr/>
          <p:nvPr/>
        </p:nvSpPr>
        <p:spPr>
          <a:xfrm>
            <a:off x="865026" y="3028681"/>
            <a:ext cx="294000" cy="11400"/>
          </a:xfrm>
          <a:prstGeom prst="roundRect">
            <a:avLst>
              <a:gd fmla="val 110247" name="adj"/>
            </a:avLst>
          </a:prstGeom>
          <a:solidFill>
            <a:srgbClr val="494A4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357" name="Google Shape;357;p40"/>
          <p:cNvSpPr/>
          <p:nvPr/>
        </p:nvSpPr>
        <p:spPr>
          <a:xfrm>
            <a:off x="687445" y="2939920"/>
            <a:ext cx="189000" cy="189000"/>
          </a:xfrm>
          <a:prstGeom prst="roundRect">
            <a:avLst>
              <a:gd fmla="val 6667"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358" name="Google Shape;358;p40"/>
          <p:cNvSpPr/>
          <p:nvPr/>
        </p:nvSpPr>
        <p:spPr>
          <a:xfrm>
            <a:off x="760073" y="2977127"/>
            <a:ext cx="43800" cy="114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900"/>
              <a:buFont typeface="Montserrat"/>
              <a:buNone/>
            </a:pPr>
            <a:r>
              <a:rPr b="1" i="0" lang="es" sz="1000" u="none" cap="none" strike="noStrike">
                <a:solidFill>
                  <a:schemeClr val="dk1"/>
                </a:solidFill>
                <a:latin typeface="Montserrat"/>
                <a:ea typeface="Montserrat"/>
                <a:cs typeface="Montserrat"/>
                <a:sym typeface="Montserrat"/>
              </a:rPr>
              <a:t>1</a:t>
            </a:r>
            <a:endParaRPr b="0" i="0" sz="1000" u="none" cap="none" strike="noStrike">
              <a:solidFill>
                <a:schemeClr val="dk1"/>
              </a:solidFill>
              <a:latin typeface="Calibri"/>
              <a:ea typeface="Calibri"/>
              <a:cs typeface="Calibri"/>
              <a:sym typeface="Calibri"/>
            </a:endParaRPr>
          </a:p>
        </p:txBody>
      </p:sp>
      <p:sp>
        <p:nvSpPr>
          <p:cNvPr id="359" name="Google Shape;359;p40"/>
          <p:cNvSpPr/>
          <p:nvPr/>
        </p:nvSpPr>
        <p:spPr>
          <a:xfrm>
            <a:off x="1243972" y="2929443"/>
            <a:ext cx="954600" cy="1194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E2E6E9"/>
              </a:buClr>
              <a:buSzPts val="800"/>
              <a:buFont typeface="Montserrat"/>
              <a:buNone/>
            </a:pPr>
            <a:r>
              <a:rPr b="1" i="0" lang="es" sz="1000" u="none" cap="none" strike="noStrike">
                <a:solidFill>
                  <a:schemeClr val="dk1"/>
                </a:solidFill>
                <a:latin typeface="Montserrat"/>
                <a:ea typeface="Montserrat"/>
                <a:cs typeface="Montserrat"/>
                <a:sym typeface="Montserrat"/>
              </a:rPr>
              <a:t>Análisis Léxico</a:t>
            </a:r>
            <a:endParaRPr b="0" i="0" sz="1000" u="none" cap="none" strike="noStrike">
              <a:solidFill>
                <a:schemeClr val="dk1"/>
              </a:solidFill>
              <a:latin typeface="Calibri"/>
              <a:ea typeface="Calibri"/>
              <a:cs typeface="Calibri"/>
              <a:sym typeface="Calibri"/>
            </a:endParaRPr>
          </a:p>
        </p:txBody>
      </p:sp>
      <p:sp>
        <p:nvSpPr>
          <p:cNvPr id="360" name="Google Shape;360;p40"/>
          <p:cNvSpPr/>
          <p:nvPr/>
        </p:nvSpPr>
        <p:spPr>
          <a:xfrm>
            <a:off x="1243954" y="3218566"/>
            <a:ext cx="3396000" cy="126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Tokenización del código fuente.</a:t>
            </a:r>
            <a:endParaRPr b="0" i="0" sz="1000" u="none" cap="none" strike="noStrike">
              <a:solidFill>
                <a:schemeClr val="dk1"/>
              </a:solidFill>
              <a:latin typeface="Calibri"/>
              <a:ea typeface="Calibri"/>
              <a:cs typeface="Calibri"/>
              <a:sym typeface="Calibri"/>
            </a:endParaRPr>
          </a:p>
        </p:txBody>
      </p:sp>
      <p:sp>
        <p:nvSpPr>
          <p:cNvPr id="361" name="Google Shape;361;p40"/>
          <p:cNvSpPr/>
          <p:nvPr/>
        </p:nvSpPr>
        <p:spPr>
          <a:xfrm>
            <a:off x="865026" y="3576368"/>
            <a:ext cx="294000" cy="11400"/>
          </a:xfrm>
          <a:prstGeom prst="roundRect">
            <a:avLst>
              <a:gd fmla="val 110247" name="adj"/>
            </a:avLst>
          </a:prstGeom>
          <a:solidFill>
            <a:srgbClr val="494A4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362" name="Google Shape;362;p40"/>
          <p:cNvSpPr/>
          <p:nvPr/>
        </p:nvSpPr>
        <p:spPr>
          <a:xfrm>
            <a:off x="687445" y="3487607"/>
            <a:ext cx="189000" cy="189000"/>
          </a:xfrm>
          <a:prstGeom prst="roundRect">
            <a:avLst>
              <a:gd fmla="val 6667"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363" name="Google Shape;363;p40"/>
          <p:cNvSpPr/>
          <p:nvPr/>
        </p:nvSpPr>
        <p:spPr>
          <a:xfrm>
            <a:off x="748703" y="3524814"/>
            <a:ext cx="66450" cy="114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900"/>
              <a:buFont typeface="Montserrat"/>
              <a:buNone/>
            </a:pPr>
            <a:r>
              <a:rPr b="1" i="0" lang="es" sz="1000" u="none" cap="none" strike="noStrike">
                <a:solidFill>
                  <a:schemeClr val="dk1"/>
                </a:solidFill>
                <a:latin typeface="Montserrat"/>
                <a:ea typeface="Montserrat"/>
                <a:cs typeface="Montserrat"/>
                <a:sym typeface="Montserrat"/>
              </a:rPr>
              <a:t>2</a:t>
            </a:r>
            <a:endParaRPr b="0" i="0" sz="1000" u="none" cap="none" strike="noStrike">
              <a:solidFill>
                <a:schemeClr val="dk1"/>
              </a:solidFill>
              <a:latin typeface="Calibri"/>
              <a:ea typeface="Calibri"/>
              <a:cs typeface="Calibri"/>
              <a:sym typeface="Calibri"/>
            </a:endParaRPr>
          </a:p>
        </p:txBody>
      </p:sp>
      <p:sp>
        <p:nvSpPr>
          <p:cNvPr id="364" name="Google Shape;364;p40"/>
          <p:cNvSpPr/>
          <p:nvPr/>
        </p:nvSpPr>
        <p:spPr>
          <a:xfrm>
            <a:off x="1243972" y="3477130"/>
            <a:ext cx="954600" cy="1194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E2E6E9"/>
              </a:buClr>
              <a:buSzPts val="800"/>
              <a:buFont typeface="Montserrat"/>
              <a:buNone/>
            </a:pPr>
            <a:r>
              <a:rPr b="1" i="0" lang="es" sz="1000" u="none" cap="none" strike="noStrike">
                <a:solidFill>
                  <a:schemeClr val="dk1"/>
                </a:solidFill>
                <a:latin typeface="Montserrat"/>
                <a:ea typeface="Montserrat"/>
                <a:cs typeface="Montserrat"/>
                <a:sym typeface="Montserrat"/>
              </a:rPr>
              <a:t>Análisis Sintáctico</a:t>
            </a:r>
            <a:endParaRPr b="0" i="0" sz="1000" u="none" cap="none" strike="noStrike">
              <a:solidFill>
                <a:schemeClr val="dk1"/>
              </a:solidFill>
              <a:latin typeface="Calibri"/>
              <a:ea typeface="Calibri"/>
              <a:cs typeface="Calibri"/>
              <a:sym typeface="Calibri"/>
            </a:endParaRPr>
          </a:p>
        </p:txBody>
      </p:sp>
      <p:sp>
        <p:nvSpPr>
          <p:cNvPr id="365" name="Google Shape;365;p40"/>
          <p:cNvSpPr/>
          <p:nvPr/>
        </p:nvSpPr>
        <p:spPr>
          <a:xfrm>
            <a:off x="1243954" y="3791398"/>
            <a:ext cx="3396000" cy="126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Construcción del árbol de análisis sintáctico.</a:t>
            </a:r>
            <a:endParaRPr b="0" i="0" sz="1000" u="none" cap="none" strike="noStrike">
              <a:solidFill>
                <a:schemeClr val="dk1"/>
              </a:solidFill>
              <a:latin typeface="Calibri"/>
              <a:ea typeface="Calibri"/>
              <a:cs typeface="Calibri"/>
              <a:sym typeface="Calibri"/>
            </a:endParaRPr>
          </a:p>
        </p:txBody>
      </p:sp>
      <p:sp>
        <p:nvSpPr>
          <p:cNvPr id="366" name="Google Shape;366;p40"/>
          <p:cNvSpPr/>
          <p:nvPr/>
        </p:nvSpPr>
        <p:spPr>
          <a:xfrm>
            <a:off x="865026" y="4124056"/>
            <a:ext cx="294000" cy="11400"/>
          </a:xfrm>
          <a:prstGeom prst="roundRect">
            <a:avLst>
              <a:gd fmla="val 110247" name="adj"/>
            </a:avLst>
          </a:prstGeom>
          <a:solidFill>
            <a:srgbClr val="494A4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367" name="Google Shape;367;p40"/>
          <p:cNvSpPr/>
          <p:nvPr/>
        </p:nvSpPr>
        <p:spPr>
          <a:xfrm>
            <a:off x="687445" y="4035295"/>
            <a:ext cx="189000" cy="189000"/>
          </a:xfrm>
          <a:prstGeom prst="roundRect">
            <a:avLst>
              <a:gd fmla="val 6667"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368" name="Google Shape;368;p40"/>
          <p:cNvSpPr/>
          <p:nvPr/>
        </p:nvSpPr>
        <p:spPr>
          <a:xfrm>
            <a:off x="748583" y="4072502"/>
            <a:ext cx="66750" cy="114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900"/>
              <a:buFont typeface="Montserrat"/>
              <a:buNone/>
            </a:pPr>
            <a:r>
              <a:rPr b="1" i="0" lang="es" sz="1000" u="none" cap="none" strike="noStrike">
                <a:solidFill>
                  <a:schemeClr val="dk1"/>
                </a:solidFill>
                <a:latin typeface="Montserrat"/>
                <a:ea typeface="Montserrat"/>
                <a:cs typeface="Montserrat"/>
                <a:sym typeface="Montserrat"/>
              </a:rPr>
              <a:t>3</a:t>
            </a:r>
            <a:endParaRPr b="0" i="0" sz="1000" u="none" cap="none" strike="noStrike">
              <a:solidFill>
                <a:schemeClr val="dk1"/>
              </a:solidFill>
              <a:latin typeface="Calibri"/>
              <a:ea typeface="Calibri"/>
              <a:cs typeface="Calibri"/>
              <a:sym typeface="Calibri"/>
            </a:endParaRPr>
          </a:p>
        </p:txBody>
      </p:sp>
      <p:sp>
        <p:nvSpPr>
          <p:cNvPr id="369" name="Google Shape;369;p40"/>
          <p:cNvSpPr/>
          <p:nvPr/>
        </p:nvSpPr>
        <p:spPr>
          <a:xfrm>
            <a:off x="1243972" y="4024818"/>
            <a:ext cx="954600" cy="1194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E2E6E9"/>
              </a:buClr>
              <a:buSzPts val="800"/>
              <a:buFont typeface="Montserrat"/>
              <a:buNone/>
            </a:pPr>
            <a:r>
              <a:rPr b="1" i="0" lang="es" sz="1000" u="none" cap="none" strike="noStrike">
                <a:solidFill>
                  <a:schemeClr val="dk1"/>
                </a:solidFill>
                <a:latin typeface="Montserrat"/>
                <a:ea typeface="Montserrat"/>
                <a:cs typeface="Montserrat"/>
                <a:sym typeface="Montserrat"/>
              </a:rPr>
              <a:t>Análisis Semántico</a:t>
            </a:r>
            <a:endParaRPr b="0" i="0" sz="1000" u="none" cap="none" strike="noStrike">
              <a:solidFill>
                <a:schemeClr val="dk1"/>
              </a:solidFill>
              <a:latin typeface="Calibri"/>
              <a:ea typeface="Calibri"/>
              <a:cs typeface="Calibri"/>
              <a:sym typeface="Calibri"/>
            </a:endParaRPr>
          </a:p>
        </p:txBody>
      </p:sp>
      <p:sp>
        <p:nvSpPr>
          <p:cNvPr id="370" name="Google Shape;370;p40"/>
          <p:cNvSpPr/>
          <p:nvPr/>
        </p:nvSpPr>
        <p:spPr>
          <a:xfrm>
            <a:off x="1243954" y="4338446"/>
            <a:ext cx="3396000" cy="126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Verificación de tipos y semántica.</a:t>
            </a:r>
            <a:endParaRPr b="0" i="0" sz="1000" u="none" cap="none" strike="noStrike">
              <a:solidFill>
                <a:schemeClr val="dk1"/>
              </a:solidFill>
              <a:latin typeface="Calibri"/>
              <a:ea typeface="Calibri"/>
              <a:cs typeface="Calibri"/>
              <a:sym typeface="Calibri"/>
            </a:endParaRPr>
          </a:p>
        </p:txBody>
      </p:sp>
      <p:sp>
        <p:nvSpPr>
          <p:cNvPr id="371" name="Google Shape;371;p40"/>
          <p:cNvSpPr/>
          <p:nvPr/>
        </p:nvSpPr>
        <p:spPr>
          <a:xfrm>
            <a:off x="865026" y="4671744"/>
            <a:ext cx="294000" cy="11400"/>
          </a:xfrm>
          <a:prstGeom prst="roundRect">
            <a:avLst>
              <a:gd fmla="val 110247" name="adj"/>
            </a:avLst>
          </a:prstGeom>
          <a:solidFill>
            <a:srgbClr val="494A4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372" name="Google Shape;372;p40"/>
          <p:cNvSpPr/>
          <p:nvPr/>
        </p:nvSpPr>
        <p:spPr>
          <a:xfrm>
            <a:off x="687445" y="4582983"/>
            <a:ext cx="189000" cy="189000"/>
          </a:xfrm>
          <a:prstGeom prst="roundRect">
            <a:avLst>
              <a:gd fmla="val 6667" name="adj"/>
            </a:avLst>
          </a:prstGeom>
          <a:solidFill>
            <a:srgbClr val="30313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373" name="Google Shape;373;p40"/>
          <p:cNvSpPr/>
          <p:nvPr/>
        </p:nvSpPr>
        <p:spPr>
          <a:xfrm>
            <a:off x="743047" y="4620190"/>
            <a:ext cx="77700" cy="114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900"/>
              <a:buFont typeface="Montserrat"/>
              <a:buNone/>
            </a:pPr>
            <a:r>
              <a:rPr b="1" i="0" lang="es" sz="1000" u="none" cap="none" strike="noStrike">
                <a:solidFill>
                  <a:schemeClr val="dk1"/>
                </a:solidFill>
                <a:latin typeface="Montserrat"/>
                <a:ea typeface="Montserrat"/>
                <a:cs typeface="Montserrat"/>
                <a:sym typeface="Montserrat"/>
              </a:rPr>
              <a:t>4</a:t>
            </a:r>
            <a:endParaRPr b="0" i="0" sz="1000" u="none" cap="none" strike="noStrike">
              <a:solidFill>
                <a:schemeClr val="dk1"/>
              </a:solidFill>
              <a:latin typeface="Calibri"/>
              <a:ea typeface="Calibri"/>
              <a:cs typeface="Calibri"/>
              <a:sym typeface="Calibri"/>
            </a:endParaRPr>
          </a:p>
        </p:txBody>
      </p:sp>
      <p:sp>
        <p:nvSpPr>
          <p:cNvPr id="374" name="Google Shape;374;p40"/>
          <p:cNvSpPr/>
          <p:nvPr/>
        </p:nvSpPr>
        <p:spPr>
          <a:xfrm>
            <a:off x="1243972" y="4572505"/>
            <a:ext cx="1086150" cy="1194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E2E6E9"/>
              </a:buClr>
              <a:buSzPts val="800"/>
              <a:buFont typeface="Montserrat"/>
              <a:buNone/>
            </a:pPr>
            <a:r>
              <a:rPr b="1" i="0" lang="es" sz="1000" u="none" cap="none" strike="noStrike">
                <a:solidFill>
                  <a:schemeClr val="dk1"/>
                </a:solidFill>
                <a:latin typeface="Montserrat"/>
                <a:ea typeface="Montserrat"/>
                <a:cs typeface="Montserrat"/>
                <a:sym typeface="Montserrat"/>
              </a:rPr>
              <a:t>Generación de Código</a:t>
            </a:r>
            <a:endParaRPr b="0" i="0" sz="1000" u="none" cap="none" strike="noStrike">
              <a:solidFill>
                <a:schemeClr val="dk1"/>
              </a:solidFill>
              <a:latin typeface="Calibri"/>
              <a:ea typeface="Calibri"/>
              <a:cs typeface="Calibri"/>
              <a:sym typeface="Calibri"/>
            </a:endParaRPr>
          </a:p>
        </p:txBody>
      </p:sp>
      <p:sp>
        <p:nvSpPr>
          <p:cNvPr id="375" name="Google Shape;375;p40"/>
          <p:cNvSpPr/>
          <p:nvPr/>
        </p:nvSpPr>
        <p:spPr>
          <a:xfrm>
            <a:off x="1243954" y="4872891"/>
            <a:ext cx="3396000" cy="126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700"/>
              <a:buFont typeface="Arial"/>
              <a:buNone/>
            </a:pPr>
            <a:r>
              <a:rPr b="0" i="0" lang="es" sz="1000" u="none" cap="none" strike="noStrike">
                <a:solidFill>
                  <a:schemeClr val="dk1"/>
                </a:solidFill>
                <a:latin typeface="Arial"/>
                <a:ea typeface="Arial"/>
                <a:cs typeface="Arial"/>
                <a:sym typeface="Arial"/>
              </a:rPr>
              <a:t>Producción del código objeto.</a:t>
            </a:r>
            <a:endParaRPr b="0" i="0" sz="1000" u="none" cap="none" strike="noStrike">
              <a:solidFill>
                <a:schemeClr val="dk1"/>
              </a:solidFill>
              <a:latin typeface="Calibri"/>
              <a:ea typeface="Calibri"/>
              <a:cs typeface="Calibri"/>
              <a:sym typeface="Calibri"/>
            </a:endParaRPr>
          </a:p>
        </p:txBody>
      </p:sp>
      <p:pic>
        <p:nvPicPr>
          <p:cNvPr id="376" name="Google Shape;376;p40"/>
          <p:cNvPicPr preferRelativeResize="0"/>
          <p:nvPr/>
        </p:nvPicPr>
        <p:blipFill rotWithShape="1">
          <a:blip r:embed="rId3">
            <a:alphaModFix/>
          </a:blip>
          <a:srcRect b="0" l="0" r="0" t="0"/>
          <a:stretch/>
        </p:blipFill>
        <p:spPr>
          <a:xfrm>
            <a:off x="5618116" y="1156215"/>
            <a:ext cx="3507291" cy="182639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1"/>
          <p:cNvSpPr txBox="1"/>
          <p:nvPr/>
        </p:nvSpPr>
        <p:spPr>
          <a:xfrm>
            <a:off x="567129" y="327182"/>
            <a:ext cx="6995550" cy="118215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Gramáticas Tipo 2 en la Práctica: Expresiones Matemáticas</a:t>
            </a:r>
            <a:endParaRPr b="0" i="0" sz="700" u="none" cap="none" strike="noStrike">
              <a:solidFill>
                <a:srgbClr val="000000"/>
              </a:solidFill>
              <a:latin typeface="Arial"/>
              <a:ea typeface="Arial"/>
              <a:cs typeface="Arial"/>
              <a:sym typeface="Arial"/>
            </a:endParaRPr>
          </a:p>
          <a:p>
            <a:pPr indent="0" lvl="0" marL="0" marR="0" rtl="0" algn="just">
              <a:lnSpc>
                <a:spcPct val="112987"/>
              </a:lnSpc>
              <a:spcBef>
                <a:spcPts val="0"/>
              </a:spcBef>
              <a:spcAft>
                <a:spcPts val="0"/>
              </a:spcAft>
              <a:buClr>
                <a:srgbClr val="000000"/>
              </a:buClr>
              <a:buSzPts val="700"/>
              <a:buFont typeface="Arial"/>
              <a:buNone/>
            </a:pPr>
            <a:r>
              <a:t/>
            </a:r>
            <a:endParaRPr b="0" i="0" sz="700" u="none" cap="none" strike="noStrike">
              <a:solidFill>
                <a:srgbClr val="000000"/>
              </a:solidFill>
              <a:latin typeface="Impact"/>
              <a:ea typeface="Impact"/>
              <a:cs typeface="Impact"/>
              <a:sym typeface="Impact"/>
            </a:endParaRPr>
          </a:p>
        </p:txBody>
      </p:sp>
      <p:sp>
        <p:nvSpPr>
          <p:cNvPr id="382" name="Google Shape;382;p41"/>
          <p:cNvSpPr/>
          <p:nvPr/>
        </p:nvSpPr>
        <p:spPr>
          <a:xfrm>
            <a:off x="567129" y="1311895"/>
            <a:ext cx="7830911" cy="131738"/>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600"/>
              <a:buFont typeface="Arial"/>
              <a:buNone/>
            </a:pPr>
            <a:r>
              <a:rPr b="0" i="0" lang="es" sz="900" u="none" cap="none" strike="noStrike">
                <a:solidFill>
                  <a:schemeClr val="dk1"/>
                </a:solidFill>
                <a:latin typeface="Arial"/>
                <a:ea typeface="Arial"/>
                <a:cs typeface="Arial"/>
                <a:sym typeface="Arial"/>
              </a:rPr>
              <a:t>Un ejemplo clásico del uso de gramáticas libres de contexto es la descripción de expresiones matemáticas. Consideremos la siguiente gramática:</a:t>
            </a:r>
            <a:endParaRPr b="0" i="0" sz="900" u="none" cap="none" strike="noStrike">
              <a:solidFill>
                <a:schemeClr val="dk1"/>
              </a:solidFill>
              <a:latin typeface="Calibri"/>
              <a:ea typeface="Calibri"/>
              <a:cs typeface="Calibri"/>
              <a:sym typeface="Calibri"/>
            </a:endParaRPr>
          </a:p>
        </p:txBody>
      </p:sp>
      <p:sp>
        <p:nvSpPr>
          <p:cNvPr id="383" name="Google Shape;383;p41"/>
          <p:cNvSpPr/>
          <p:nvPr/>
        </p:nvSpPr>
        <p:spPr>
          <a:xfrm>
            <a:off x="567131" y="1570852"/>
            <a:ext cx="6130112" cy="118825"/>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600"/>
              <a:buFont typeface="Arial"/>
              <a:buNone/>
            </a:pPr>
            <a:r>
              <a:rPr b="0" i="0" lang="es" sz="900" u="none" cap="none" strike="noStrike">
                <a:solidFill>
                  <a:schemeClr val="dk1"/>
                </a:solidFill>
                <a:latin typeface="Arial"/>
                <a:ea typeface="Arial"/>
                <a:cs typeface="Arial"/>
                <a:sym typeface="Arial"/>
              </a:rPr>
              <a:t>E → E+T ∣ E−T ∣ T</a:t>
            </a:r>
            <a:endParaRPr b="0" i="0" sz="900" u="none" cap="none" strike="noStrike">
              <a:solidFill>
                <a:schemeClr val="dk1"/>
              </a:solidFill>
              <a:latin typeface="Calibri"/>
              <a:ea typeface="Calibri"/>
              <a:cs typeface="Calibri"/>
              <a:sym typeface="Calibri"/>
            </a:endParaRPr>
          </a:p>
        </p:txBody>
      </p:sp>
      <p:sp>
        <p:nvSpPr>
          <p:cNvPr id="384" name="Google Shape;384;p41"/>
          <p:cNvSpPr/>
          <p:nvPr/>
        </p:nvSpPr>
        <p:spPr>
          <a:xfrm>
            <a:off x="567131" y="1765878"/>
            <a:ext cx="6130112" cy="118824"/>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600"/>
              <a:buFont typeface="Arial"/>
              <a:buNone/>
            </a:pPr>
            <a:r>
              <a:rPr b="0" i="0" lang="es" sz="900" u="none" cap="none" strike="noStrike">
                <a:solidFill>
                  <a:schemeClr val="dk1"/>
                </a:solidFill>
                <a:latin typeface="Arial"/>
                <a:ea typeface="Arial"/>
                <a:cs typeface="Arial"/>
                <a:sym typeface="Arial"/>
              </a:rPr>
              <a:t>T → T∗F ∣ T/F ∣ F</a:t>
            </a:r>
            <a:endParaRPr b="0" i="0" sz="900" u="none" cap="none" strike="noStrike">
              <a:solidFill>
                <a:schemeClr val="dk1"/>
              </a:solidFill>
              <a:latin typeface="Calibri"/>
              <a:ea typeface="Calibri"/>
              <a:cs typeface="Calibri"/>
              <a:sym typeface="Calibri"/>
            </a:endParaRPr>
          </a:p>
        </p:txBody>
      </p:sp>
      <p:sp>
        <p:nvSpPr>
          <p:cNvPr id="385" name="Google Shape;385;p41"/>
          <p:cNvSpPr/>
          <p:nvPr/>
        </p:nvSpPr>
        <p:spPr>
          <a:xfrm>
            <a:off x="567131" y="1950571"/>
            <a:ext cx="6130112" cy="118824"/>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600"/>
              <a:buFont typeface="Arial"/>
              <a:buNone/>
            </a:pPr>
            <a:r>
              <a:rPr b="0" i="0" lang="es" sz="900" u="none" cap="none" strike="noStrike">
                <a:solidFill>
                  <a:schemeClr val="dk1"/>
                </a:solidFill>
                <a:latin typeface="Arial"/>
                <a:ea typeface="Arial"/>
                <a:cs typeface="Arial"/>
                <a:sym typeface="Arial"/>
              </a:rPr>
              <a:t>F → (E) ∣ id</a:t>
            </a:r>
            <a:endParaRPr b="0" i="0" sz="900" u="none" cap="none" strike="noStrike">
              <a:solidFill>
                <a:schemeClr val="dk1"/>
              </a:solidFill>
              <a:latin typeface="Calibri"/>
              <a:ea typeface="Calibri"/>
              <a:cs typeface="Calibri"/>
              <a:sym typeface="Calibri"/>
            </a:endParaRPr>
          </a:p>
        </p:txBody>
      </p:sp>
      <p:sp>
        <p:nvSpPr>
          <p:cNvPr id="386" name="Google Shape;386;p41"/>
          <p:cNvSpPr/>
          <p:nvPr/>
        </p:nvSpPr>
        <p:spPr>
          <a:xfrm>
            <a:off x="567129" y="2135263"/>
            <a:ext cx="7662469" cy="313849"/>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600"/>
              <a:buFont typeface="Arial"/>
              <a:buNone/>
            </a:pPr>
            <a:r>
              <a:rPr b="0" i="0" lang="es" sz="900" u="none" cap="none" strike="noStrike">
                <a:solidFill>
                  <a:schemeClr val="dk1"/>
                </a:solidFill>
                <a:latin typeface="Arial"/>
                <a:ea typeface="Arial"/>
                <a:cs typeface="Arial"/>
                <a:sym typeface="Arial"/>
              </a:rPr>
              <a:t>Esta gramática puede analizar expresiones como a+b∗c, determinando correctamente que la multiplicación debe realizarse antes que la suma. Esta capacidad es esencial en los lenguajes de programación para la evaluación correcta de expresiones matemáticas.</a:t>
            </a:r>
            <a:endParaRPr b="0" i="0" sz="900" u="none" cap="none" strike="noStrike">
              <a:solidFill>
                <a:schemeClr val="dk1"/>
              </a:solidFill>
              <a:latin typeface="Calibri"/>
              <a:ea typeface="Calibri"/>
              <a:cs typeface="Calibri"/>
              <a:sym typeface="Calibri"/>
            </a:endParaRPr>
          </a:p>
        </p:txBody>
      </p:sp>
      <p:sp>
        <p:nvSpPr>
          <p:cNvPr id="387" name="Google Shape;387;p41"/>
          <p:cNvSpPr/>
          <p:nvPr/>
        </p:nvSpPr>
        <p:spPr>
          <a:xfrm>
            <a:off x="567131" y="4537414"/>
            <a:ext cx="900231" cy="11251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700"/>
              <a:buFont typeface="Montserrat"/>
              <a:buNone/>
            </a:pPr>
            <a:r>
              <a:rPr b="1" i="0" lang="es" sz="900" u="none" cap="none" strike="noStrike">
                <a:solidFill>
                  <a:schemeClr val="dk1"/>
                </a:solidFill>
                <a:latin typeface="Montserrat"/>
                <a:ea typeface="Montserrat"/>
                <a:cs typeface="Montserrat"/>
                <a:sym typeface="Montserrat"/>
              </a:rPr>
              <a:t>Árbol de Expresión</a:t>
            </a:r>
            <a:endParaRPr b="0" i="0" sz="900" u="none" cap="none" strike="noStrike">
              <a:solidFill>
                <a:schemeClr val="dk1"/>
              </a:solidFill>
              <a:latin typeface="Calibri"/>
              <a:ea typeface="Calibri"/>
              <a:cs typeface="Calibri"/>
              <a:sym typeface="Calibri"/>
            </a:endParaRPr>
          </a:p>
        </p:txBody>
      </p:sp>
      <p:sp>
        <p:nvSpPr>
          <p:cNvPr id="388" name="Google Shape;388;p41"/>
          <p:cNvSpPr/>
          <p:nvPr/>
        </p:nvSpPr>
        <p:spPr>
          <a:xfrm>
            <a:off x="567128" y="4833527"/>
            <a:ext cx="3005614" cy="118825"/>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600"/>
              <a:buFont typeface="Arial"/>
              <a:buNone/>
            </a:pPr>
            <a:r>
              <a:rPr b="0" i="0" lang="es" sz="900" u="none" cap="none" strike="noStrike">
                <a:solidFill>
                  <a:schemeClr val="dk1"/>
                </a:solidFill>
                <a:latin typeface="Arial"/>
                <a:ea typeface="Arial"/>
                <a:cs typeface="Arial"/>
                <a:sym typeface="Arial"/>
              </a:rPr>
              <a:t>Representación jerárquica de una expresión matemática.</a:t>
            </a:r>
            <a:endParaRPr b="0" i="0" sz="900" u="none" cap="none" strike="noStrike">
              <a:solidFill>
                <a:schemeClr val="dk1"/>
              </a:solidFill>
              <a:latin typeface="Calibri"/>
              <a:ea typeface="Calibri"/>
              <a:cs typeface="Calibri"/>
              <a:sym typeface="Calibri"/>
            </a:endParaRPr>
          </a:p>
        </p:txBody>
      </p:sp>
      <p:sp>
        <p:nvSpPr>
          <p:cNvPr id="389" name="Google Shape;389;p41"/>
          <p:cNvSpPr/>
          <p:nvPr/>
        </p:nvSpPr>
        <p:spPr>
          <a:xfrm>
            <a:off x="3691566" y="4537472"/>
            <a:ext cx="1745100" cy="112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700"/>
              <a:buFont typeface="Montserrat"/>
              <a:buNone/>
            </a:pPr>
            <a:r>
              <a:rPr b="1" i="0" lang="es" sz="900" u="none" cap="none" strike="noStrike">
                <a:solidFill>
                  <a:schemeClr val="dk1"/>
                </a:solidFill>
                <a:latin typeface="Montserrat"/>
                <a:ea typeface="Montserrat"/>
                <a:cs typeface="Montserrat"/>
                <a:sym typeface="Montserrat"/>
              </a:rPr>
              <a:t>Precedencia de Operadores</a:t>
            </a:r>
            <a:endParaRPr b="0" i="0" sz="900" u="none" cap="none" strike="noStrike">
              <a:solidFill>
                <a:schemeClr val="dk1"/>
              </a:solidFill>
              <a:latin typeface="Calibri"/>
              <a:ea typeface="Calibri"/>
              <a:cs typeface="Calibri"/>
              <a:sym typeface="Calibri"/>
            </a:endParaRPr>
          </a:p>
        </p:txBody>
      </p:sp>
      <p:sp>
        <p:nvSpPr>
          <p:cNvPr id="390" name="Google Shape;390;p41"/>
          <p:cNvSpPr/>
          <p:nvPr/>
        </p:nvSpPr>
        <p:spPr>
          <a:xfrm>
            <a:off x="3691569" y="4697494"/>
            <a:ext cx="3005674" cy="118825"/>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600"/>
              <a:buFont typeface="Arial"/>
              <a:buNone/>
            </a:pPr>
            <a:r>
              <a:rPr b="0" i="0" lang="es" sz="900" u="none" cap="none" strike="noStrike">
                <a:solidFill>
                  <a:schemeClr val="dk1"/>
                </a:solidFill>
                <a:latin typeface="Arial"/>
                <a:ea typeface="Arial"/>
                <a:cs typeface="Arial"/>
                <a:sym typeface="Arial"/>
              </a:rPr>
              <a:t>Ilustración de la prioridad de operaciones matemáticas.</a:t>
            </a:r>
            <a:endParaRPr b="0" i="0" sz="900" u="none" cap="none" strike="noStrike">
              <a:solidFill>
                <a:schemeClr val="dk1"/>
              </a:solidFill>
              <a:latin typeface="Calibri"/>
              <a:ea typeface="Calibri"/>
              <a:cs typeface="Calibri"/>
              <a:sym typeface="Calibri"/>
            </a:endParaRPr>
          </a:p>
        </p:txBody>
      </p:sp>
      <p:pic>
        <p:nvPicPr>
          <p:cNvPr id="391" name="Google Shape;391;p41"/>
          <p:cNvPicPr preferRelativeResize="0"/>
          <p:nvPr/>
        </p:nvPicPr>
        <p:blipFill rotWithShape="1">
          <a:blip r:embed="rId3">
            <a:alphaModFix/>
          </a:blip>
          <a:srcRect b="0" l="0" r="0" t="0"/>
          <a:stretch/>
        </p:blipFill>
        <p:spPr>
          <a:xfrm>
            <a:off x="567129" y="2567947"/>
            <a:ext cx="2792675" cy="1893263"/>
          </a:xfrm>
          <a:prstGeom prst="rect">
            <a:avLst/>
          </a:prstGeom>
          <a:noFill/>
          <a:ln>
            <a:noFill/>
          </a:ln>
        </p:spPr>
      </p:pic>
      <p:pic>
        <p:nvPicPr>
          <p:cNvPr id="392" name="Google Shape;392;p41"/>
          <p:cNvPicPr preferRelativeResize="0"/>
          <p:nvPr/>
        </p:nvPicPr>
        <p:blipFill rotWithShape="1">
          <a:blip r:embed="rId4">
            <a:alphaModFix/>
          </a:blip>
          <a:srcRect b="0" l="0" r="0" t="0"/>
          <a:stretch/>
        </p:blipFill>
        <p:spPr>
          <a:xfrm>
            <a:off x="3572742" y="2567942"/>
            <a:ext cx="3437062" cy="18933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2"/>
          <p:cNvSpPr txBox="1"/>
          <p:nvPr/>
        </p:nvSpPr>
        <p:spPr>
          <a:xfrm>
            <a:off x="567129" y="327182"/>
            <a:ext cx="6995550" cy="63795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Gramática Ejemplo</a:t>
            </a:r>
            <a:endParaRPr b="0" i="0" sz="700" u="none" cap="none" strike="noStrike">
              <a:solidFill>
                <a:srgbClr val="000000"/>
              </a:solidFill>
              <a:latin typeface="Arial"/>
              <a:ea typeface="Arial"/>
              <a:cs typeface="Arial"/>
              <a:sym typeface="Arial"/>
            </a:endParaRPr>
          </a:p>
          <a:p>
            <a:pPr indent="0" lvl="0" marL="0" marR="0" rtl="0" algn="just">
              <a:lnSpc>
                <a:spcPct val="112987"/>
              </a:lnSpc>
              <a:spcBef>
                <a:spcPts val="0"/>
              </a:spcBef>
              <a:spcAft>
                <a:spcPts val="0"/>
              </a:spcAft>
              <a:buClr>
                <a:srgbClr val="000000"/>
              </a:buClr>
              <a:buSzPts val="700"/>
              <a:buFont typeface="Arial"/>
              <a:buNone/>
            </a:pPr>
            <a:r>
              <a:t/>
            </a:r>
            <a:endParaRPr b="0" i="0" sz="700" u="none" cap="none" strike="noStrike">
              <a:solidFill>
                <a:srgbClr val="000000"/>
              </a:solidFill>
              <a:latin typeface="Impact"/>
              <a:ea typeface="Impact"/>
              <a:cs typeface="Impact"/>
              <a:sym typeface="Impact"/>
            </a:endParaRPr>
          </a:p>
        </p:txBody>
      </p:sp>
      <p:sp>
        <p:nvSpPr>
          <p:cNvPr id="398" name="Google Shape;398;p42"/>
          <p:cNvSpPr txBox="1"/>
          <p:nvPr/>
        </p:nvSpPr>
        <p:spPr>
          <a:xfrm>
            <a:off x="1522575" y="2359400"/>
            <a:ext cx="1526850" cy="1062000"/>
          </a:xfrm>
          <a:prstGeom prst="rect">
            <a:avLst/>
          </a:prstGeom>
          <a:noFill/>
          <a:ln>
            <a:noFill/>
          </a:ln>
        </p:spPr>
        <p:txBody>
          <a:bodyPr anchorCtr="0" anchor="t" bIns="45725" lIns="45725" spcFirstLastPara="1" rIns="45725" wrap="square" tIns="45725">
            <a:spAutoFit/>
          </a:bodyPr>
          <a:lstStyle/>
          <a:p>
            <a:pPr indent="0" lvl="0" marL="0" marR="0" rtl="0" algn="l">
              <a:lnSpc>
                <a:spcPct val="100000"/>
              </a:lnSpc>
              <a:spcBef>
                <a:spcPts val="0"/>
              </a:spcBef>
              <a:spcAft>
                <a:spcPts val="0"/>
              </a:spcAft>
              <a:buClr>
                <a:schemeClr val="dk1"/>
              </a:buClr>
              <a:buSzPts val="600"/>
              <a:buFont typeface="Arial"/>
              <a:buNone/>
            </a:pPr>
            <a:r>
              <a:rPr b="0" i="0" lang="es" sz="2100" u="none" cap="none" strike="noStrike">
                <a:solidFill>
                  <a:schemeClr val="dk1"/>
                </a:solidFill>
                <a:latin typeface="Calibri"/>
                <a:ea typeface="Calibri"/>
                <a:cs typeface="Calibri"/>
                <a:sym typeface="Calibri"/>
              </a:rPr>
              <a:t>E → E + T | T</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600"/>
              <a:buFont typeface="Arial"/>
              <a:buNone/>
            </a:pPr>
            <a:r>
              <a:rPr b="0" i="0" lang="es" sz="2100" u="none" cap="none" strike="noStrike">
                <a:solidFill>
                  <a:schemeClr val="dk1"/>
                </a:solidFill>
                <a:latin typeface="Calibri"/>
                <a:ea typeface="Calibri"/>
                <a:cs typeface="Calibri"/>
                <a:sym typeface="Calibri"/>
              </a:rPr>
              <a:t>T → T * F | F</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rPr b="0" i="0" lang="es" sz="2100" u="none" cap="none" strike="noStrike">
                <a:solidFill>
                  <a:schemeClr val="dk1"/>
                </a:solidFill>
                <a:latin typeface="Calibri"/>
                <a:ea typeface="Calibri"/>
                <a:cs typeface="Calibri"/>
                <a:sym typeface="Calibri"/>
              </a:rPr>
              <a:t>F → (E) | id</a:t>
            </a:r>
            <a:endParaRPr b="0" i="0" sz="2100" u="none" cap="none" strike="noStrike">
              <a:solidFill>
                <a:schemeClr val="dk1"/>
              </a:solidFill>
              <a:latin typeface="Calibri"/>
              <a:ea typeface="Calibri"/>
              <a:cs typeface="Calibri"/>
              <a:sym typeface="Calibri"/>
            </a:endParaRPr>
          </a:p>
        </p:txBody>
      </p:sp>
      <p:pic>
        <p:nvPicPr>
          <p:cNvPr id="399" name="Google Shape;399;p42"/>
          <p:cNvPicPr preferRelativeResize="0"/>
          <p:nvPr/>
        </p:nvPicPr>
        <p:blipFill rotWithShape="1">
          <a:blip r:embed="rId3">
            <a:alphaModFix/>
          </a:blip>
          <a:srcRect b="0" l="0" r="0" t="0"/>
          <a:stretch/>
        </p:blipFill>
        <p:spPr>
          <a:xfrm>
            <a:off x="4729775" y="1163963"/>
            <a:ext cx="2205725" cy="3079975"/>
          </a:xfrm>
          <a:prstGeom prst="rect">
            <a:avLst/>
          </a:prstGeom>
          <a:noFill/>
          <a:ln>
            <a:noFill/>
          </a:ln>
        </p:spPr>
      </p:pic>
      <p:cxnSp>
        <p:nvCxnSpPr>
          <p:cNvPr id="400" name="Google Shape;400;p42"/>
          <p:cNvCxnSpPr/>
          <p:nvPr/>
        </p:nvCxnSpPr>
        <p:spPr>
          <a:xfrm>
            <a:off x="3373950" y="2768363"/>
            <a:ext cx="1211100" cy="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3"/>
          <p:cNvSpPr txBox="1"/>
          <p:nvPr/>
        </p:nvSpPr>
        <p:spPr>
          <a:xfrm>
            <a:off x="1429250" y="2221525"/>
            <a:ext cx="3541800" cy="12291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3700" u="none" cap="none" strike="noStrike">
                <a:solidFill>
                  <a:srgbClr val="131416"/>
                </a:solidFill>
                <a:latin typeface="Impact"/>
                <a:ea typeface="Impact"/>
                <a:cs typeface="Impact"/>
                <a:sym typeface="Impact"/>
              </a:rPr>
              <a:t>Ejemplo </a:t>
            </a:r>
            <a:br>
              <a:rPr b="0" i="0" lang="es" sz="3700" u="none" cap="none" strike="noStrike">
                <a:solidFill>
                  <a:srgbClr val="131416"/>
                </a:solidFill>
                <a:latin typeface="Impact"/>
                <a:ea typeface="Impact"/>
                <a:cs typeface="Impact"/>
                <a:sym typeface="Impact"/>
              </a:rPr>
            </a:br>
            <a:r>
              <a:rPr b="0" i="0" lang="es" sz="3700" u="none" cap="none" strike="noStrike">
                <a:solidFill>
                  <a:srgbClr val="131416"/>
                </a:solidFill>
                <a:latin typeface="Impact"/>
                <a:ea typeface="Impact"/>
                <a:cs typeface="Impact"/>
                <a:sym typeface="Impact"/>
              </a:rPr>
              <a:t>práctico</a:t>
            </a:r>
            <a:endParaRPr b="0" i="0" sz="1400" u="none" cap="none" strike="noStrike">
              <a:solidFill>
                <a:srgbClr val="000000"/>
              </a:solidFill>
              <a:latin typeface="Impact"/>
              <a:ea typeface="Impact"/>
              <a:cs typeface="Impact"/>
              <a:sym typeface="Impact"/>
            </a:endParaRPr>
          </a:p>
        </p:txBody>
      </p:sp>
      <p:pic>
        <p:nvPicPr>
          <p:cNvPr id="406" name="Google Shape;406;p43" title="Gemini_Generated_Image_u2i06ou2i06ou2i0.png"/>
          <p:cNvPicPr preferRelativeResize="0"/>
          <p:nvPr/>
        </p:nvPicPr>
        <p:blipFill rotWithShape="1">
          <a:blip r:embed="rId3">
            <a:alphaModFix/>
          </a:blip>
          <a:srcRect b="0" l="0" r="0" t="0"/>
          <a:stretch/>
        </p:blipFill>
        <p:spPr>
          <a:xfrm>
            <a:off x="0" y="1"/>
            <a:ext cx="2347787" cy="3217338"/>
          </a:xfrm>
          <a:prstGeom prst="rect">
            <a:avLst/>
          </a:prstGeom>
          <a:noFill/>
          <a:ln>
            <a:noFill/>
          </a:ln>
        </p:spPr>
      </p:pic>
      <p:pic>
        <p:nvPicPr>
          <p:cNvPr id="407" name="Google Shape;407;p43"/>
          <p:cNvPicPr preferRelativeResize="0"/>
          <p:nvPr/>
        </p:nvPicPr>
        <p:blipFill rotWithShape="1">
          <a:blip r:embed="rId4">
            <a:alphaModFix/>
          </a:blip>
          <a:srcRect b="0" l="0" r="0" t="0"/>
          <a:stretch/>
        </p:blipFill>
        <p:spPr>
          <a:xfrm>
            <a:off x="4875800" y="1497038"/>
            <a:ext cx="4014000" cy="267808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4"/>
          <p:cNvSpPr txBox="1"/>
          <p:nvPr/>
        </p:nvSpPr>
        <p:spPr>
          <a:xfrm>
            <a:off x="1074220" y="2038907"/>
            <a:ext cx="6995550" cy="46935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Practiquemos lo aprendido</a:t>
            </a:r>
            <a:endParaRPr b="0" i="0" sz="700" u="none" cap="none" strike="noStrike">
              <a:solidFill>
                <a:srgbClr val="000000"/>
              </a:solidFill>
              <a:latin typeface="Impact"/>
              <a:ea typeface="Impact"/>
              <a:cs typeface="Impact"/>
              <a:sym typeface="Impact"/>
            </a:endParaRPr>
          </a:p>
        </p:txBody>
      </p:sp>
      <p:pic>
        <p:nvPicPr>
          <p:cNvPr id="413" name="Google Shape;413;p44" title="Gemini_Generated_Image_mopnfwmopnfwmopn (1).png"/>
          <p:cNvPicPr preferRelativeResize="0"/>
          <p:nvPr/>
        </p:nvPicPr>
        <p:blipFill rotWithShape="1">
          <a:blip r:embed="rId3">
            <a:alphaModFix/>
          </a:blip>
          <a:srcRect b="0" l="0" r="0" t="0"/>
          <a:stretch/>
        </p:blipFill>
        <p:spPr>
          <a:xfrm>
            <a:off x="0" y="-2"/>
            <a:ext cx="2038912" cy="2038912"/>
          </a:xfrm>
          <a:prstGeom prst="rect">
            <a:avLst/>
          </a:prstGeom>
          <a:noFill/>
          <a:ln>
            <a:noFill/>
          </a:ln>
        </p:spPr>
      </p:pic>
      <p:pic>
        <p:nvPicPr>
          <p:cNvPr descr="Ilustración Vectorial De Dibujos Animados En El Lugar De Trabajo  Ilustración del Vector - Ilustración de libreta, plano: 197884868" id="414" name="Google Shape;414;p44"/>
          <p:cNvPicPr preferRelativeResize="0"/>
          <p:nvPr/>
        </p:nvPicPr>
        <p:blipFill rotWithShape="1">
          <a:blip r:embed="rId4">
            <a:alphaModFix/>
          </a:blip>
          <a:srcRect b="0" l="0" r="0" t="0"/>
          <a:stretch/>
        </p:blipFill>
        <p:spPr>
          <a:xfrm>
            <a:off x="5829300" y="2933700"/>
            <a:ext cx="3314700" cy="2209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5"/>
          <p:cNvSpPr txBox="1"/>
          <p:nvPr/>
        </p:nvSpPr>
        <p:spPr>
          <a:xfrm>
            <a:off x="1253695" y="500063"/>
            <a:ext cx="6751650" cy="531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3500"/>
              <a:buFont typeface="Arial"/>
              <a:buNone/>
            </a:pPr>
            <a:r>
              <a:rPr b="0" i="0" lang="es" sz="3500" u="none" cap="none" strike="noStrike">
                <a:solidFill>
                  <a:srgbClr val="131416"/>
                </a:solidFill>
                <a:latin typeface="Impact"/>
                <a:ea typeface="Impact"/>
                <a:cs typeface="Impact"/>
                <a:sym typeface="Impact"/>
              </a:rPr>
              <a:t>CONCEPTOS CLAVE APRENDIDOS </a:t>
            </a:r>
            <a:endParaRPr b="0" i="0" sz="700" u="none" cap="none" strike="noStrike">
              <a:solidFill>
                <a:srgbClr val="000000"/>
              </a:solidFill>
              <a:latin typeface="Impact"/>
              <a:ea typeface="Impact"/>
              <a:cs typeface="Impact"/>
              <a:sym typeface="Impact"/>
            </a:endParaRPr>
          </a:p>
        </p:txBody>
      </p:sp>
      <p:sp>
        <p:nvSpPr>
          <p:cNvPr id="420" name="Google Shape;420;p45"/>
          <p:cNvSpPr txBox="1"/>
          <p:nvPr/>
        </p:nvSpPr>
        <p:spPr>
          <a:xfrm>
            <a:off x="667753" y="1196490"/>
            <a:ext cx="7808495" cy="3921074"/>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131416"/>
                </a:solidFill>
                <a:latin typeface="Arial"/>
                <a:ea typeface="Arial"/>
                <a:cs typeface="Arial"/>
                <a:sym typeface="Arial"/>
              </a:rPr>
              <a:t>Análisis Sintáctico (Parsing): Proceso que toma una secuencia de tokens generados por el análisis léxico y verifica si esta secuencia puede ser generada por una gramática formal (generalmente libre de contexto). Construye una estructura (como un árbol) que representa la jerarquía gramatical del programa.</a:t>
            </a:r>
            <a:endParaRPr b="0" i="0" sz="700" u="none" cap="none" strike="noStrike">
              <a:solidFill>
                <a:srgbClr val="000000"/>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131416"/>
                </a:solidFill>
                <a:latin typeface="Arial"/>
                <a:ea typeface="Arial"/>
                <a:cs typeface="Arial"/>
                <a:sym typeface="Arial"/>
              </a:rPr>
              <a:t>Propósito: Determinar la estructura gramatical correcta de una cadena de entrada según una gramática formal.</a:t>
            </a:r>
            <a:endParaRPr b="0" i="0" sz="700" u="none" cap="none" strike="noStrike">
              <a:solidFill>
                <a:srgbClr val="000000"/>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131416"/>
                </a:solidFill>
                <a:latin typeface="Arial"/>
                <a:ea typeface="Arial"/>
                <a:cs typeface="Arial"/>
                <a:sym typeface="Arial"/>
              </a:rPr>
              <a:t>Árbol de Derivación o Árbol Sintáctico: Representación jerárquica que muestra cómo una cadena es derivada a partir del símbolo inicial de la gramática.</a:t>
            </a:r>
            <a:endParaRPr b="0" i="0" sz="700" u="none" cap="none" strike="noStrike">
              <a:solidFill>
                <a:srgbClr val="000000"/>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Gramática Libre de Contexto: Una GLC es una gramática formal donde cada producción tiene la forma: A→α Donde A es un no terminal y α es una cadena de símbolos terminales y/o no terminales.</a:t>
            </a:r>
            <a:endParaRPr b="0" i="0" sz="700" u="none" cap="none" strike="noStrike">
              <a:solidFill>
                <a:srgbClr val="000000"/>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Componentes de una GLC:Σ: Conjunto de símbolos terminales (tokens).N: Conjunto de símbolos no terminales. P: Conjunto de producciones (reglas).S: Símbolo inicial (S ∈ 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6"/>
          <p:cNvSpPr txBox="1"/>
          <p:nvPr/>
        </p:nvSpPr>
        <p:spPr>
          <a:xfrm>
            <a:off x="1196170" y="1275125"/>
            <a:ext cx="6751650" cy="531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3500"/>
              <a:buFont typeface="Arial"/>
              <a:buNone/>
            </a:pPr>
            <a:r>
              <a:rPr b="0" i="0" lang="es" sz="3500" u="none" cap="none" strike="noStrike">
                <a:solidFill>
                  <a:srgbClr val="131416"/>
                </a:solidFill>
                <a:latin typeface="Impact"/>
                <a:ea typeface="Impact"/>
                <a:cs typeface="Impact"/>
                <a:sym typeface="Impact"/>
              </a:rPr>
              <a:t>DISCIPLINA</a:t>
            </a:r>
            <a:endParaRPr b="0" i="0" sz="700" u="none" cap="none" strike="noStrike">
              <a:solidFill>
                <a:srgbClr val="000000"/>
              </a:solidFill>
              <a:latin typeface="Impact"/>
              <a:ea typeface="Impact"/>
              <a:cs typeface="Impact"/>
              <a:sym typeface="Impact"/>
            </a:endParaRPr>
          </a:p>
        </p:txBody>
      </p:sp>
      <p:sp>
        <p:nvSpPr>
          <p:cNvPr id="426" name="Google Shape;426;p46"/>
          <p:cNvSpPr txBox="1"/>
          <p:nvPr/>
        </p:nvSpPr>
        <p:spPr>
          <a:xfrm>
            <a:off x="1316688" y="2186925"/>
            <a:ext cx="6827100" cy="784950"/>
          </a:xfrm>
          <a:prstGeom prst="rect">
            <a:avLst/>
          </a:prstGeom>
          <a:noFill/>
          <a:ln>
            <a:noFill/>
          </a:ln>
        </p:spPr>
        <p:txBody>
          <a:bodyPr anchorCtr="0" anchor="t" bIns="45725" lIns="45725" spcFirstLastPara="1" rIns="45725" wrap="square" tIns="45725">
            <a:spAutoFit/>
          </a:bodyPr>
          <a:lstStyle/>
          <a:p>
            <a:pPr indent="0" lvl="0" marL="0" marR="0" rtl="0" algn="ctr">
              <a:lnSpc>
                <a:spcPct val="100000"/>
              </a:lnSpc>
              <a:spcBef>
                <a:spcPts val="0"/>
              </a:spcBef>
              <a:spcAft>
                <a:spcPts val="0"/>
              </a:spcAft>
              <a:buClr>
                <a:schemeClr val="dk1"/>
              </a:buClr>
              <a:buSzPts val="600"/>
              <a:buFont typeface="Arial"/>
              <a:buNone/>
            </a:pPr>
            <a:r>
              <a:rPr b="0" i="0" lang="es" sz="1500" u="none" cap="none" strike="noStrike">
                <a:solidFill>
                  <a:srgbClr val="000000"/>
                </a:solidFill>
                <a:latin typeface="Montserrat"/>
                <a:ea typeface="Montserrat"/>
                <a:cs typeface="Montserrat"/>
                <a:sym typeface="Montserrat"/>
              </a:rPr>
              <a:t>La disciplina se refiere a la constancia y la capacidad de mantener un hábito de estudio ordenado y enfocado.</a:t>
            </a:r>
            <a:endParaRPr b="0" i="0" sz="15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ontserrat"/>
              <a:ea typeface="Montserrat"/>
              <a:cs typeface="Montserrat"/>
              <a:sym typeface="Montserrat"/>
            </a:endParaRPr>
          </a:p>
        </p:txBody>
      </p:sp>
      <p:sp>
        <p:nvSpPr>
          <p:cNvPr id="427" name="Google Shape;427;p46"/>
          <p:cNvSpPr/>
          <p:nvPr/>
        </p:nvSpPr>
        <p:spPr>
          <a:xfrm>
            <a:off x="7316938" y="0"/>
            <a:ext cx="1824574" cy="530652"/>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428" name="Google Shape;428;p46"/>
          <p:cNvPicPr preferRelativeResize="0"/>
          <p:nvPr/>
        </p:nvPicPr>
        <p:blipFill rotWithShape="1">
          <a:blip r:embed="rId4">
            <a:alphaModFix/>
          </a:blip>
          <a:srcRect b="0" l="0" r="0" t="0"/>
          <a:stretch/>
        </p:blipFill>
        <p:spPr>
          <a:xfrm>
            <a:off x="7316938" y="3360513"/>
            <a:ext cx="1574329" cy="1557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7"/>
          <p:cNvSpPr txBox="1"/>
          <p:nvPr/>
        </p:nvSpPr>
        <p:spPr>
          <a:xfrm>
            <a:off x="1253695" y="500063"/>
            <a:ext cx="6751650" cy="531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3500"/>
              <a:buFont typeface="Arial"/>
              <a:buNone/>
            </a:pPr>
            <a:r>
              <a:rPr b="0" i="0" lang="es" sz="3500" u="none" cap="none" strike="noStrike">
                <a:solidFill>
                  <a:srgbClr val="131416"/>
                </a:solidFill>
                <a:latin typeface="Impact"/>
                <a:ea typeface="Impact"/>
                <a:cs typeface="Impact"/>
                <a:sym typeface="Impact"/>
              </a:rPr>
              <a:t>REFERENCIAS </a:t>
            </a:r>
            <a:endParaRPr b="0" i="0" sz="700" u="none" cap="none" strike="noStrike">
              <a:solidFill>
                <a:srgbClr val="000000"/>
              </a:solidFill>
              <a:latin typeface="Impact"/>
              <a:ea typeface="Impact"/>
              <a:cs typeface="Impact"/>
              <a:sym typeface="Impact"/>
            </a:endParaRPr>
          </a:p>
        </p:txBody>
      </p:sp>
      <p:pic>
        <p:nvPicPr>
          <p:cNvPr id="434" name="Google Shape;434;p47" title="Gemini_Generated_Image_k3gbyrk3gbyrk3gb.png"/>
          <p:cNvPicPr preferRelativeResize="0"/>
          <p:nvPr/>
        </p:nvPicPr>
        <p:blipFill rotWithShape="1">
          <a:blip r:embed="rId3">
            <a:alphaModFix/>
          </a:blip>
          <a:srcRect b="0" l="0" r="0" t="0"/>
          <a:stretch/>
        </p:blipFill>
        <p:spPr>
          <a:xfrm>
            <a:off x="0" y="0"/>
            <a:ext cx="3500087" cy="2180725"/>
          </a:xfrm>
          <a:prstGeom prst="rect">
            <a:avLst/>
          </a:prstGeom>
          <a:noFill/>
          <a:ln>
            <a:noFill/>
          </a:ln>
        </p:spPr>
      </p:pic>
      <p:sp>
        <p:nvSpPr>
          <p:cNvPr id="435" name="Google Shape;435;p47"/>
          <p:cNvSpPr txBox="1"/>
          <p:nvPr/>
        </p:nvSpPr>
        <p:spPr>
          <a:xfrm>
            <a:off x="1629679" y="2441350"/>
            <a:ext cx="5884650" cy="2001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1000"/>
              <a:buFont typeface="Arial"/>
              <a:buNone/>
            </a:pPr>
            <a:r>
              <a:rPr b="0" i="0" lang="es" sz="1300" u="none" cap="none" strike="noStrike">
                <a:solidFill>
                  <a:srgbClr val="131416"/>
                </a:solidFill>
                <a:latin typeface="Montserrat"/>
                <a:ea typeface="Montserrat"/>
                <a:cs typeface="Montserrat"/>
                <a:sym typeface="Montserrat"/>
              </a:rPr>
              <a:t>https://www.codecademy.com/article/fwd-js-methods-functions</a:t>
            </a:r>
            <a:endParaRPr b="0" i="0" sz="1300" u="none" cap="none" strike="noStrike">
              <a:solidFill>
                <a:srgbClr val="131416"/>
              </a:solidFill>
              <a:latin typeface="Montserrat"/>
              <a:ea typeface="Montserrat"/>
              <a:cs typeface="Montserrat"/>
              <a:sym typeface="Montserrat"/>
            </a:endParaRPr>
          </a:p>
        </p:txBody>
      </p:sp>
      <p:sp>
        <p:nvSpPr>
          <p:cNvPr id="436" name="Google Shape;436;p47"/>
          <p:cNvSpPr txBox="1"/>
          <p:nvPr/>
        </p:nvSpPr>
        <p:spPr>
          <a:xfrm>
            <a:off x="2413725" y="2788950"/>
            <a:ext cx="4394550" cy="292500"/>
          </a:xfrm>
          <a:prstGeom prst="rect">
            <a:avLst/>
          </a:prstGeom>
          <a:noFill/>
          <a:ln>
            <a:noFill/>
          </a:ln>
        </p:spPr>
        <p:txBody>
          <a:bodyPr anchorCtr="0" anchor="t" bIns="45725" lIns="45725" spcFirstLastPara="1" rIns="45725" wrap="square" tIns="45725">
            <a:spAutoFit/>
          </a:bodyPr>
          <a:lstStyle/>
          <a:p>
            <a:pPr indent="0" lvl="0" marL="0" marR="0" rtl="0" algn="ctr">
              <a:lnSpc>
                <a:spcPct val="100000"/>
              </a:lnSpc>
              <a:spcBef>
                <a:spcPts val="0"/>
              </a:spcBef>
              <a:spcAft>
                <a:spcPts val="0"/>
              </a:spcAft>
              <a:buClr>
                <a:srgbClr val="000000"/>
              </a:buClr>
              <a:buSzPts val="1300"/>
              <a:buFont typeface="Arial"/>
              <a:buNone/>
            </a:pPr>
            <a:r>
              <a:rPr b="0" i="0" lang="es" sz="1300" u="none" cap="none" strike="noStrike">
                <a:solidFill>
                  <a:srgbClr val="000000"/>
                </a:solidFill>
                <a:latin typeface="Montserrat"/>
                <a:ea typeface="Montserrat"/>
                <a:cs typeface="Montserrat"/>
                <a:sym typeface="Montserrat"/>
              </a:rPr>
              <a:t>https://trio.dev/javascript-best-practices/</a:t>
            </a:r>
            <a:endParaRPr b="0" i="0" sz="13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8"/>
          <p:cNvSpPr txBox="1"/>
          <p:nvPr/>
        </p:nvSpPr>
        <p:spPr>
          <a:xfrm>
            <a:off x="2895738" y="3833814"/>
            <a:ext cx="3352500" cy="39255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500"/>
              <a:buFont typeface="Arial"/>
              <a:buNone/>
            </a:pPr>
            <a:r>
              <a:rPr b="1" i="0" lang="es" sz="2600" u="none" cap="none" strike="noStrike">
                <a:solidFill>
                  <a:srgbClr val="131416"/>
                </a:solidFill>
                <a:latin typeface="Montserrat"/>
                <a:ea typeface="Montserrat"/>
                <a:cs typeface="Montserrat"/>
                <a:sym typeface="Montserrat"/>
              </a:rPr>
              <a:t>DUDAS ¿?</a:t>
            </a:r>
            <a:endParaRPr b="1" i="0" sz="800" u="none" cap="none" strike="noStrike">
              <a:solidFill>
                <a:srgbClr val="000000"/>
              </a:solidFill>
              <a:latin typeface="Montserrat"/>
              <a:ea typeface="Montserrat"/>
              <a:cs typeface="Montserrat"/>
              <a:sym typeface="Montserrat"/>
            </a:endParaRPr>
          </a:p>
        </p:txBody>
      </p:sp>
      <p:pic>
        <p:nvPicPr>
          <p:cNvPr id="442" name="Google Shape;442;p48" title="Gemini_Generated_Image_1od44x1od44x1od4.png"/>
          <p:cNvPicPr preferRelativeResize="0"/>
          <p:nvPr/>
        </p:nvPicPr>
        <p:blipFill rotWithShape="1">
          <a:blip r:embed="rId3">
            <a:alphaModFix/>
          </a:blip>
          <a:srcRect b="0" l="0" r="0" t="0"/>
          <a:stretch/>
        </p:blipFill>
        <p:spPr>
          <a:xfrm>
            <a:off x="2288143" y="987913"/>
            <a:ext cx="4567712" cy="28459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9"/>
          <p:cNvSpPr txBox="1"/>
          <p:nvPr/>
        </p:nvSpPr>
        <p:spPr>
          <a:xfrm>
            <a:off x="1407675" y="2688763"/>
            <a:ext cx="6328650" cy="9576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3000"/>
              <a:buFont typeface="Arial"/>
              <a:buNone/>
            </a:pPr>
            <a:r>
              <a:rPr b="1" i="0" lang="es" sz="3000" u="none" cap="none" strike="noStrike">
                <a:solidFill>
                  <a:srgbClr val="131416"/>
                </a:solidFill>
                <a:latin typeface="Montserrat"/>
                <a:ea typeface="Montserrat"/>
                <a:cs typeface="Montserrat"/>
                <a:sym typeface="Montserrat"/>
              </a:rPr>
              <a:t>¡GRACIAS POR SU ATENCIÓN!</a:t>
            </a:r>
            <a:endParaRPr b="1" i="0" sz="700" u="none" cap="none" strike="noStrike">
              <a:solidFill>
                <a:srgbClr val="000000"/>
              </a:solidFill>
              <a:latin typeface="Montserrat"/>
              <a:ea typeface="Montserrat"/>
              <a:cs typeface="Montserrat"/>
              <a:sym typeface="Montserrat"/>
            </a:endParaRPr>
          </a:p>
          <a:p>
            <a:pPr indent="0" lvl="0" marL="0" marR="0" rtl="0" algn="just">
              <a:lnSpc>
                <a:spcPct val="104000"/>
              </a:lnSpc>
              <a:spcBef>
                <a:spcPts val="0"/>
              </a:spcBef>
              <a:spcAft>
                <a:spcPts val="0"/>
              </a:spcAft>
              <a:buClr>
                <a:srgbClr val="000000"/>
              </a:buClr>
              <a:buSzPts val="3000"/>
              <a:buFont typeface="Arial"/>
              <a:buNone/>
            </a:pPr>
            <a:r>
              <a:t/>
            </a:r>
            <a:endParaRPr b="1" i="0" sz="3000" u="none" cap="none" strike="noStrike">
              <a:solidFill>
                <a:srgbClr val="131416"/>
              </a:solidFill>
              <a:latin typeface="Montserrat"/>
              <a:ea typeface="Montserrat"/>
              <a:cs typeface="Montserrat"/>
              <a:sym typeface="Montserrat"/>
            </a:endParaRPr>
          </a:p>
        </p:txBody>
      </p:sp>
      <p:sp>
        <p:nvSpPr>
          <p:cNvPr id="448" name="Google Shape;448;p49"/>
          <p:cNvSpPr/>
          <p:nvPr/>
        </p:nvSpPr>
        <p:spPr>
          <a:xfrm>
            <a:off x="3882682" y="692113"/>
            <a:ext cx="1378634" cy="1885485"/>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449" name="Google Shape;449;p49"/>
          <p:cNvSpPr txBox="1"/>
          <p:nvPr/>
        </p:nvSpPr>
        <p:spPr>
          <a:xfrm>
            <a:off x="1205549" y="3949868"/>
            <a:ext cx="6732900" cy="38175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1000"/>
              <a:buFont typeface="Arial"/>
              <a:buNone/>
            </a:pPr>
            <a:r>
              <a:rPr b="0" i="0" lang="es" sz="1000" u="none" cap="none" strike="noStrike">
                <a:solidFill>
                  <a:srgbClr val="131416"/>
                </a:solidFill>
                <a:latin typeface="Montserrat"/>
                <a:ea typeface="Montserrat"/>
                <a:cs typeface="Montserrat"/>
                <a:sym typeface="Montserrat"/>
              </a:rPr>
              <a:t>RECUERDA QUE TENEMOS NUESTRO FORO SEMANAL DONDE PUEDES CONSULTAR CUALQUIER DUDA QUE TE SURJA EN LA SEMANA</a:t>
            </a:r>
            <a:endParaRPr b="0" i="0" sz="700" u="none" cap="none" strike="noStrike">
              <a:solidFill>
                <a:srgbClr val="000000"/>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