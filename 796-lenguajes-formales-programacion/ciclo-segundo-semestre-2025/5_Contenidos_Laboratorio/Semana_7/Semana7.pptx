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8288000" cy="10287000"/>
  <p:notesSz cx="6858000" cy="9144000"/>
  <p:embeddedFontLst>
    <p:embeddedFont>
      <p:font typeface="Impact" panose="020B0806030902050204" pitchFamily="34" charset="0"/>
      <p:regular r:id="rId24"/>
    </p:embeddedFont>
    <p:embeddedFont>
      <p:font typeface="Lobster" panose="00000500000000000000" pitchFamily="2" charset="0"/>
      <p:regular r:id="rId25"/>
    </p:embeddedFont>
    <p:embeddedFont>
      <p:font typeface="Montserrat" panose="00000500000000000000" pitchFamily="2" charset="0"/>
      <p:regular r:id="rId26"/>
      <p:bold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Pacifico" panose="00000500000000000000" pitchFamily="2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zHJqWqhzwEBDXzytYeL345583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D0D730-AD71-4C7B-A4B5-7AA99F169CB1}">
  <a:tblStyle styleId="{09D0D730-AD71-4C7B-A4B5-7AA99F169CB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4f26217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4f26217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4afea4f6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64afea4f6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e2d797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85e2d797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afea4f6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64afea4f6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user@domain.com" TargetMode="Externa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27"/>
          <p:cNvGraphicFramePr/>
          <p:nvPr/>
        </p:nvGraphicFramePr>
        <p:xfrm>
          <a:off x="10656400" y="1940050"/>
          <a:ext cx="738115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Día, Fecha:</a:t>
                      </a:r>
                      <a:endParaRPr sz="2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de x de 2026</a:t>
                      </a:r>
                      <a:endParaRPr sz="28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xx:xx - xxxx</a:t>
                      </a:r>
                      <a:endParaRPr sz="28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9" name="Google Shape;169;p27"/>
          <p:cNvSpPr txBox="1"/>
          <p:nvPr/>
        </p:nvSpPr>
        <p:spPr>
          <a:xfrm>
            <a:off x="2828250" y="4787100"/>
            <a:ext cx="144465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 X</a:t>
            </a:r>
            <a:endParaRPr sz="5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4658250" y="6354150"/>
            <a:ext cx="8971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Nombre del Tutor : XXXXX</a:t>
            </a:r>
            <a:endParaRPr sz="4000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12541309" y="6021878"/>
            <a:ext cx="4160184" cy="4114800"/>
          </a:xfrm>
          <a:custGeom>
            <a:avLst/>
            <a:gdLst/>
            <a:ahLst/>
            <a:cxnLst/>
            <a:rect l="l" t="t" r="r" b="b"/>
            <a:pathLst>
              <a:path w="4160184" h="4114800" extrusionOk="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6" name="Google Shape;96;p1"/>
          <p:cNvSpPr txBox="1"/>
          <p:nvPr/>
        </p:nvSpPr>
        <p:spPr>
          <a:xfrm>
            <a:off x="629910" y="6505712"/>
            <a:ext cx="8526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s-ES" sz="50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 Formales y de </a:t>
            </a:r>
            <a:r>
              <a:rPr lang="es-ES" sz="50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programacion</a:t>
            </a:r>
            <a:endParaRPr lang="es-ES" sz="5000" b="1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591255" y="2167474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9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Analisis</a:t>
            </a:r>
            <a:r>
              <a:rPr lang="en-US" sz="9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Lexico</a:t>
            </a:r>
            <a:endParaRPr lang="en-US" sz="9600" dirty="0"/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76619" y="4579368"/>
            <a:ext cx="7425183" cy="845385"/>
            <a:chOff x="0" y="-51130"/>
            <a:chExt cx="3161274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523259" y="-51130"/>
              <a:ext cx="2638015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fontAlgn="b"/>
              <a:r>
                <a:rPr lang="es-ES" sz="2800" dirty="0"/>
                <a:t>LECTURA ENUNCIADO PROYECTO </a:t>
              </a: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11" name="Google Shape;111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5" name="Google Shape;115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400" b="0" i="0" u="none" strike="noStrike" cap="non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</a:t>
              </a:r>
              <a:r>
                <a:rPr lang="en-US" sz="44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Quizziz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76619" y="5485963"/>
            <a:ext cx="5574112" cy="845385"/>
            <a:chOff x="0" y="-58463"/>
            <a:chExt cx="2373180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523259" y="-58463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fontAlgn="b"/>
              <a:r>
                <a:rPr lang="es-ES" sz="2800" dirty="0"/>
                <a:t>AUTOMATAS FINITOS</a:t>
              </a: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878654" y="562328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39" name="Google Shape;139;p2"/>
          <p:cNvSpPr/>
          <p:nvPr/>
        </p:nvSpPr>
        <p:spPr>
          <a:xfrm>
            <a:off x="7357570" y="5299435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603847" y="3265762"/>
            <a:ext cx="9473377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</a:pPr>
            <a:r>
              <a:rPr lang="es-ES" sz="3200" dirty="0">
                <a:solidFill>
                  <a:srgbClr val="131416"/>
                </a:solidFill>
                <a:latin typeface="Impact"/>
              </a:rPr>
              <a:t>El estudiante aplica el análisis léxico mediante el uso de expresiones regulares para solucionar problemas que requieran el reconocimiento de lenguajes. </a:t>
            </a:r>
          </a:p>
        </p:txBody>
      </p:sp>
      <p:sp>
        <p:nvSpPr>
          <p:cNvPr id="147" name="Google Shape;147;p3"/>
          <p:cNvSpPr/>
          <p:nvPr/>
        </p:nvSpPr>
        <p:spPr>
          <a:xfrm>
            <a:off x="14077224" y="6223378"/>
            <a:ext cx="3994644" cy="3618401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pic>
        <p:nvPicPr>
          <p:cNvPr id="149" name="Google Shape;149;p3" title="Gemini_Generated_Image_sfb0qdsfb0qdsfb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56943"/>
            <a:ext cx="4210776" cy="717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/>
          <p:nvPr/>
        </p:nvSpPr>
        <p:spPr>
          <a:xfrm>
            <a:off x="14470777" y="6578220"/>
            <a:ext cx="3435086" cy="3495571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053D23-DCEF-4323-3D91-C7ABCDBF8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646" y="632369"/>
            <a:ext cx="14796654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Definición de AFN (Autómata Finito No Determinista)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sz="2400" dirty="0"/>
              <a:t>Un </a:t>
            </a:r>
            <a:r>
              <a:rPr lang="es-ES" sz="2400" b="1" dirty="0"/>
              <a:t>AFN</a:t>
            </a:r>
            <a:r>
              <a:rPr lang="es-ES" sz="2400" dirty="0"/>
              <a:t> es un modelo matemático que representa una máquina abstracta con un conjunto finito de estados, capaz de aceptar o rechazar cadenas de entrada. Se denomina </a:t>
            </a:r>
            <a:r>
              <a:rPr lang="es-ES" sz="2400" b="1" dirty="0"/>
              <a:t>no determinista</a:t>
            </a:r>
            <a:r>
              <a:rPr lang="es-ES" sz="2400" dirty="0"/>
              <a:t> porque, al recibir un símbolo, puede moverse a múltiples estados, o incluso hacer transiciones vacías (ε-transiciones).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GT" altLang="es-GT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2. Estructura de un AFN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GT" sz="2400" b="1" dirty="0">
                <a:latin typeface="Arial" panose="020B0604020202020204" pitchFamily="34" charset="0"/>
              </a:rPr>
              <a:t>Un AFN tiene: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GT" sz="2400" b="1" dirty="0"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GT" sz="2400" b="1" dirty="0">
                <a:latin typeface="Arial" panose="020B0604020202020204" pitchFamily="34" charset="0"/>
              </a:rPr>
              <a:t> Estados (representados como círculos)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GT" sz="2400" b="1" dirty="0">
                <a:latin typeface="Arial" panose="020B0604020202020204" pitchFamily="34" charset="0"/>
              </a:rPr>
              <a:t> Transiciones etiquetadas con símbolos del alfabeto o ε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GT" sz="2400" b="1" dirty="0">
                <a:latin typeface="Arial" panose="020B0604020202020204" pitchFamily="34" charset="0"/>
              </a:rPr>
              <a:t> Estado inicial (marcado con una flecha de entrada)Estados finales (doble círculo)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GT" sz="2400" b="1" dirty="0"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GT" sz="2400" b="1" dirty="0">
                <a:latin typeface="Arial" panose="020B0604020202020204" pitchFamily="34" charset="0"/>
              </a:rPr>
              <a:t>Un estado puede tener múltiples transiciones con el mismo símbolo o incluso ninguna transición con un símbolo dado.</a:t>
            </a:r>
            <a:endParaRPr kumimoji="0" lang="es-GT" altLang="es-G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A24E93-4327-8279-5020-382659642EB8}"/>
              </a:ext>
            </a:extLst>
          </p:cNvPr>
          <p:cNvSpPr txBox="1"/>
          <p:nvPr/>
        </p:nvSpPr>
        <p:spPr>
          <a:xfrm>
            <a:off x="2402005" y="775733"/>
            <a:ext cx="12501349" cy="821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Definición Formal</a:t>
            </a:r>
          </a:p>
          <a:p>
            <a:pPr>
              <a:buNone/>
            </a:pPr>
            <a:r>
              <a:rPr lang="es-ES" sz="2800" dirty="0"/>
              <a:t>AFN = (Q, Σ, δ, q₀, F)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dirty="0"/>
              <a:t>Donde: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 Q: Conjunto finito de estados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 Σ: Alfabeto de entrada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 δ: Función de transición Q × (Σ ∪ {ε}) → 2^Q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 q₀: Estado inicial (q₀ ∈ Q)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 F: Conjunto de estados finales (F ⊆ Q)</a:t>
            </a:r>
          </a:p>
          <a:p>
            <a:pPr>
              <a:lnSpc>
                <a:spcPct val="150000"/>
              </a:lnSpc>
              <a:buNone/>
            </a:pPr>
            <a:r>
              <a:rPr lang="es-ES" sz="2800" b="1" dirty="0"/>
              <a:t>Características Principales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 No determinismo: Un estado puede tener múltiples transiciones con el mismo   símbolo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 ε-transiciones: Transiciones sin consumir entrada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 Flexibilidad: Más fácil de construir a partir de expresiones regulares</a:t>
            </a:r>
          </a:p>
        </p:txBody>
      </p:sp>
    </p:spTree>
    <p:extLst>
      <p:ext uri="{BB962C8B-B14F-4D97-AF65-F5344CB8AC3E}">
        <p14:creationId xmlns:p14="http://schemas.microsoft.com/office/powerpoint/2010/main" val="369950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817B458-3FCE-FC52-114B-06174F21263B}"/>
              </a:ext>
            </a:extLst>
          </p:cNvPr>
          <p:cNvSpPr txBox="1"/>
          <p:nvPr/>
        </p:nvSpPr>
        <p:spPr>
          <a:xfrm>
            <a:off x="1105469" y="420890"/>
            <a:ext cx="8679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Ejemplo de AFN: Reconocer (</a:t>
            </a:r>
            <a:r>
              <a:rPr lang="es-ES" sz="2800" b="1" dirty="0" err="1"/>
              <a:t>a|b</a:t>
            </a:r>
            <a:r>
              <a:rPr lang="es-ES" sz="2800" b="1" dirty="0"/>
              <a:t>)*</a:t>
            </a:r>
            <a:r>
              <a:rPr lang="es-ES" sz="2800" b="1" dirty="0" err="1"/>
              <a:t>abb</a:t>
            </a:r>
            <a:endParaRPr lang="es-ES" sz="28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3326D3-A7D6-D192-7F86-FC848BDB7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69" y="2343157"/>
            <a:ext cx="9400421" cy="360467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C1D23C0-AE4D-77D1-7D7E-BC75046F82E1}"/>
              </a:ext>
            </a:extLst>
          </p:cNvPr>
          <p:cNvSpPr txBox="1"/>
          <p:nvPr/>
        </p:nvSpPr>
        <p:spPr>
          <a:xfrm>
            <a:off x="1105469" y="7346877"/>
            <a:ext cx="102767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800" b="1" dirty="0"/>
              <a:t>Cadenas aceptadas: </a:t>
            </a:r>
            <a:r>
              <a:rPr lang="es-GT" sz="2800" dirty="0"/>
              <a:t>"</a:t>
            </a:r>
            <a:r>
              <a:rPr lang="es-GT" sz="2800" dirty="0" err="1"/>
              <a:t>abb</a:t>
            </a:r>
            <a:r>
              <a:rPr lang="es-GT" sz="2800" dirty="0"/>
              <a:t>", "</a:t>
            </a:r>
            <a:r>
              <a:rPr lang="es-GT" sz="2800" dirty="0" err="1"/>
              <a:t>aabb</a:t>
            </a:r>
            <a:r>
              <a:rPr lang="es-GT" sz="2800" dirty="0"/>
              <a:t>", "</a:t>
            </a:r>
            <a:r>
              <a:rPr lang="es-GT" sz="2800" dirty="0" err="1"/>
              <a:t>babb</a:t>
            </a:r>
            <a:r>
              <a:rPr lang="es-GT" sz="2800" dirty="0"/>
              <a:t>", "</a:t>
            </a:r>
            <a:r>
              <a:rPr lang="es-GT" sz="2800" dirty="0" err="1"/>
              <a:t>ababb</a:t>
            </a:r>
            <a:r>
              <a:rPr lang="es-GT" sz="2800" dirty="0"/>
              <a:t>"</a:t>
            </a:r>
            <a:br>
              <a:rPr lang="es-GT" sz="2800" dirty="0"/>
            </a:br>
            <a:r>
              <a:rPr lang="es-GT" sz="2800" b="1" dirty="0"/>
              <a:t>Cadenas rechazadas: </a:t>
            </a:r>
            <a:r>
              <a:rPr lang="es-GT" sz="2800" dirty="0"/>
              <a:t>"ab", "</a:t>
            </a:r>
            <a:r>
              <a:rPr lang="es-GT" sz="2800" dirty="0" err="1"/>
              <a:t>ba</a:t>
            </a:r>
            <a:r>
              <a:rPr lang="es-GT" sz="2800" dirty="0"/>
              <a:t>", "abab"</a:t>
            </a:r>
          </a:p>
        </p:txBody>
      </p:sp>
    </p:spTree>
    <p:extLst>
      <p:ext uri="{BB962C8B-B14F-4D97-AF65-F5344CB8AC3E}">
        <p14:creationId xmlns:p14="http://schemas.microsoft.com/office/powerpoint/2010/main" val="2658350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7F9A7D4-A05A-060E-F62F-90BB1D35A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151" y="1227329"/>
            <a:ext cx="15702059" cy="566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3. </a:t>
            </a:r>
            <a:r>
              <a:rPr lang="es-ES" altLang="es-GT" sz="2800" dirty="0">
                <a:solidFill>
                  <a:srgbClr val="131416"/>
                </a:solidFill>
                <a:latin typeface="Impact"/>
              </a:rPr>
              <a:t>Definición de AFD (Autómata Finito Determinista)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Un AFD es un autómata donde para cada estado y símbolo de entrada hay una única transición posible. No existen transiciones </a:t>
            </a:r>
            <a:r>
              <a:rPr lang="es-ES" altLang="es-GT" sz="2400" dirty="0" err="1">
                <a:latin typeface="Arial" panose="020B0604020202020204" pitchFamily="34" charset="0"/>
              </a:rPr>
              <a:t>ε.Formalmente</a:t>
            </a:r>
            <a:r>
              <a:rPr lang="es-ES" altLang="es-GT" sz="2400" dirty="0">
                <a:latin typeface="Arial" panose="020B0604020202020204" pitchFamily="34" charset="0"/>
              </a:rPr>
              <a:t> se define como: AFD = (Q, Σ, δ, q₀, 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Donde: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	Q: conjunto finito de estados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	Σ: alfabeto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	δ: función de transición Q × Σ → 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	q₀: estado inicial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	F: conjunto de estados de aceptación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GT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Nota: Todo AFD es también un AFN, pero no todo AFN puede ser representado de manera directa como un AFD sin transformación.</a:t>
            </a:r>
            <a:endParaRPr lang="es-GT" altLang="es-GT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51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A217802-4839-C722-B37D-17CC4C33D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641" y="769482"/>
            <a:ext cx="15702059" cy="7725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4. Estructura de un AFD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Cada estado tiene una única transición por cada símbolo del </a:t>
            </a:r>
            <a:r>
              <a:rPr lang="es-ES" altLang="es-GT" sz="2400" dirty="0" err="1">
                <a:latin typeface="Arial" panose="020B0604020202020204" pitchFamily="34" charset="0"/>
              </a:rPr>
              <a:t>alfabeto.No</a:t>
            </a:r>
            <a:r>
              <a:rPr lang="es-ES" altLang="es-GT" sz="2400" dirty="0">
                <a:latin typeface="Arial" panose="020B0604020202020204" pitchFamily="34" charset="0"/>
              </a:rPr>
              <a:t> existen transiciones </a:t>
            </a:r>
            <a:r>
              <a:rPr lang="es-ES" altLang="es-GT" sz="2400" dirty="0" err="1">
                <a:latin typeface="Arial" panose="020B0604020202020204" pitchFamily="34" charset="0"/>
              </a:rPr>
              <a:t>vacías.Es</a:t>
            </a:r>
            <a:r>
              <a:rPr lang="es-ES" altLang="es-GT" sz="2400" dirty="0">
                <a:latin typeface="Arial" panose="020B0604020202020204" pitchFamily="34" charset="0"/>
              </a:rPr>
              <a:t> más fácil de implementar en lenguajes de programación o </a:t>
            </a:r>
            <a:r>
              <a:rPr lang="es-ES" altLang="es-GT" sz="2400" dirty="0" err="1">
                <a:latin typeface="Arial" panose="020B0604020202020204" pitchFamily="34" charset="0"/>
              </a:rPr>
              <a:t>compiladores.La</a:t>
            </a:r>
            <a:r>
              <a:rPr lang="es-ES" altLang="es-GT" sz="2400" dirty="0">
                <a:latin typeface="Arial" panose="020B0604020202020204" pitchFamily="34" charset="0"/>
              </a:rPr>
              <a:t> función δ es total y unívoca.</a:t>
            </a:r>
            <a:endParaRPr lang="es-GT" altLang="es-GT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5. Ejemplo de AFD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Q = {q₀, q₁, q₂}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l-GR" altLang="es-GT" sz="2400" dirty="0">
                <a:latin typeface="Arial" panose="020B0604020202020204" pitchFamily="34" charset="0"/>
              </a:rPr>
              <a:t>Σ = {0, 1}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l-GR" altLang="es-GT" sz="2400" dirty="0">
                <a:latin typeface="Arial" panose="020B0604020202020204" pitchFamily="34" charset="0"/>
              </a:rPr>
              <a:t>δ: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l-GR" altLang="es-GT" sz="2400" dirty="0">
                <a:latin typeface="Arial" panose="020B0604020202020204" pitchFamily="34" charset="0"/>
              </a:rPr>
              <a:t>- δ(</a:t>
            </a:r>
            <a:r>
              <a:rPr lang="es-GT" altLang="es-GT" sz="2400" dirty="0">
                <a:latin typeface="Arial" panose="020B0604020202020204" pitchFamily="34" charset="0"/>
              </a:rPr>
              <a:t>q₀, 0) = q₁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- </a:t>
            </a:r>
            <a:r>
              <a:rPr lang="el-GR" altLang="es-GT" sz="2400" dirty="0">
                <a:latin typeface="Arial" panose="020B0604020202020204" pitchFamily="34" charset="0"/>
              </a:rPr>
              <a:t>δ(</a:t>
            </a:r>
            <a:r>
              <a:rPr lang="es-GT" altLang="es-GT" sz="2400" dirty="0">
                <a:latin typeface="Arial" panose="020B0604020202020204" pitchFamily="34" charset="0"/>
              </a:rPr>
              <a:t>q₀, 1) = q₀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- </a:t>
            </a:r>
            <a:r>
              <a:rPr lang="el-GR" altLang="es-GT" sz="2400" dirty="0">
                <a:latin typeface="Arial" panose="020B0604020202020204" pitchFamily="34" charset="0"/>
              </a:rPr>
              <a:t>δ(</a:t>
            </a:r>
            <a:r>
              <a:rPr lang="es-GT" altLang="es-GT" sz="2400" dirty="0">
                <a:latin typeface="Arial" panose="020B0604020202020204" pitchFamily="34" charset="0"/>
              </a:rPr>
              <a:t>q₁, 0) = q₁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- </a:t>
            </a:r>
            <a:r>
              <a:rPr lang="el-GR" altLang="es-GT" sz="2400" dirty="0">
                <a:latin typeface="Arial" panose="020B0604020202020204" pitchFamily="34" charset="0"/>
              </a:rPr>
              <a:t>δ(</a:t>
            </a:r>
            <a:r>
              <a:rPr lang="es-GT" altLang="es-GT" sz="2400" dirty="0">
                <a:latin typeface="Arial" panose="020B0604020202020204" pitchFamily="34" charset="0"/>
              </a:rPr>
              <a:t>q₁, 1) = q₂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- </a:t>
            </a:r>
            <a:r>
              <a:rPr lang="el-GR" altLang="es-GT" sz="2400" dirty="0">
                <a:latin typeface="Arial" panose="020B0604020202020204" pitchFamily="34" charset="0"/>
              </a:rPr>
              <a:t>δ(</a:t>
            </a:r>
            <a:r>
              <a:rPr lang="es-GT" altLang="es-GT" sz="2400" dirty="0">
                <a:latin typeface="Arial" panose="020B0604020202020204" pitchFamily="34" charset="0"/>
              </a:rPr>
              <a:t>q₂, 0) = q₁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- </a:t>
            </a:r>
            <a:r>
              <a:rPr lang="el-GR" altLang="es-GT" sz="2400" dirty="0">
                <a:latin typeface="Arial" panose="020B0604020202020204" pitchFamily="34" charset="0"/>
              </a:rPr>
              <a:t>δ(</a:t>
            </a:r>
            <a:r>
              <a:rPr lang="es-GT" altLang="es-GT" sz="2400" dirty="0">
                <a:latin typeface="Arial" panose="020B0604020202020204" pitchFamily="34" charset="0"/>
              </a:rPr>
              <a:t>q₂, 1) = q₀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q₀: estado inicial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F = {q₂}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Este AFD acepta cadenas como 101, 00001, pero rechaza 100, 111.</a:t>
            </a: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16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A944D68-5614-E9BD-7487-08C46300E420}"/>
              </a:ext>
            </a:extLst>
          </p:cNvPr>
          <p:cNvSpPr txBox="1"/>
          <p:nvPr/>
        </p:nvSpPr>
        <p:spPr>
          <a:xfrm>
            <a:off x="914399" y="345817"/>
            <a:ext cx="14684991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AUTÓMATAS FINITOS DETERMINISTAS (AFD)</a:t>
            </a:r>
          </a:p>
          <a:p>
            <a:pPr>
              <a:buNone/>
            </a:pPr>
            <a:endParaRPr lang="es-ES" sz="3600" b="1" dirty="0"/>
          </a:p>
          <a:p>
            <a:pPr>
              <a:buNone/>
            </a:pPr>
            <a:r>
              <a:rPr lang="es-ES" sz="3600" b="1" dirty="0"/>
              <a:t>Definición Formal</a:t>
            </a:r>
          </a:p>
          <a:p>
            <a:pPr>
              <a:buNone/>
            </a:pPr>
            <a:r>
              <a:rPr lang="es-ES" sz="3600" b="1" dirty="0"/>
              <a:t>AFD = (Q, Σ, δ, q₀, F)</a:t>
            </a:r>
          </a:p>
          <a:p>
            <a:pPr>
              <a:buNone/>
            </a:pPr>
            <a:endParaRPr lang="es-ES" sz="3600" dirty="0"/>
          </a:p>
          <a:p>
            <a:pPr>
              <a:buNone/>
            </a:pPr>
            <a:r>
              <a:rPr lang="es-ES" sz="3600" dirty="0"/>
              <a:t>Donde: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 δ</a:t>
            </a:r>
            <a:r>
              <a:rPr lang="es-ES" sz="3600" dirty="0"/>
              <a:t>: Q × Σ → Q (función total y unívoca)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 No existen ε-transiciones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 Para cada estado y símbolo existe exactamente una transición</a:t>
            </a:r>
          </a:p>
          <a:p>
            <a:endParaRPr lang="es-ES" sz="3600" dirty="0"/>
          </a:p>
          <a:p>
            <a:pPr>
              <a:buNone/>
            </a:pPr>
            <a:r>
              <a:rPr lang="es-ES" sz="3600" b="1" dirty="0"/>
              <a:t>Ventajas del AFD</a:t>
            </a:r>
          </a:p>
          <a:p>
            <a:pPr>
              <a:buNone/>
            </a:pPr>
            <a:endParaRPr lang="es-ES" sz="3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 Implementación directa</a:t>
            </a:r>
            <a:r>
              <a:rPr lang="es-ES" sz="3600" dirty="0"/>
              <a:t> en código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 Ejecución eficiente</a:t>
            </a:r>
            <a:r>
              <a:rPr lang="es-ES" sz="3600" dirty="0"/>
              <a:t> O(n) donde n es la longitud de la cadena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 Determinismo</a:t>
            </a:r>
            <a:r>
              <a:rPr lang="es-ES" sz="3600" dirty="0"/>
              <a:t> facilita la depuración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 Menos memoria</a:t>
            </a:r>
            <a:r>
              <a:rPr lang="es-ES" sz="3600" dirty="0"/>
              <a:t> durante la ejecución</a:t>
            </a:r>
          </a:p>
        </p:txBody>
      </p:sp>
    </p:spTree>
    <p:extLst>
      <p:ext uri="{BB962C8B-B14F-4D97-AF65-F5344CB8AC3E}">
        <p14:creationId xmlns:p14="http://schemas.microsoft.com/office/powerpoint/2010/main" val="2985723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8AA11E2-DC1A-C585-57E4-64932CFA32B4}"/>
              </a:ext>
            </a:extLst>
          </p:cNvPr>
          <p:cNvSpPr txBox="1"/>
          <p:nvPr/>
        </p:nvSpPr>
        <p:spPr>
          <a:xfrm>
            <a:off x="873456" y="593257"/>
            <a:ext cx="12583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Ejemplo Detallado: Reconocer números decimales</a:t>
            </a:r>
            <a:endParaRPr lang="es-GT" sz="36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6687C0-6897-9132-D3BB-B262762F803E}"/>
              </a:ext>
            </a:extLst>
          </p:cNvPr>
          <p:cNvSpPr txBox="1"/>
          <p:nvPr/>
        </p:nvSpPr>
        <p:spPr>
          <a:xfrm>
            <a:off x="873455" y="1384826"/>
            <a:ext cx="65236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600" b="1" dirty="0"/>
              <a:t>Patrón: [0-9]+(.[0-9]+)?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79998A-E0DC-D06C-2F3E-4D202BD4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55" y="2367464"/>
            <a:ext cx="9114607" cy="370579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7C1A35D-DA35-6A31-36C2-9BF65A2DCC66}"/>
              </a:ext>
            </a:extLst>
          </p:cNvPr>
          <p:cNvSpPr txBox="1"/>
          <p:nvPr/>
        </p:nvSpPr>
        <p:spPr>
          <a:xfrm>
            <a:off x="1009934" y="6330877"/>
            <a:ext cx="86936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Ejemplos de cadenas: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 Valida: </a:t>
            </a:r>
            <a:r>
              <a:rPr lang="es-ES" sz="2800" dirty="0"/>
              <a:t>"123" → acepta (entero)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 Valida: </a:t>
            </a:r>
            <a:r>
              <a:rPr lang="es-ES" sz="2800" dirty="0"/>
              <a:t>"123.45" → acepta (decimal)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 Invalidad: </a:t>
            </a:r>
            <a:r>
              <a:rPr lang="es-ES" sz="2800" dirty="0"/>
              <a:t>"123." → rechaza (punto sin decimales)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 Invalidad: </a:t>
            </a:r>
            <a:r>
              <a:rPr lang="es-ES" sz="2800" dirty="0"/>
              <a:t>".123" → rechaza (sin parte entera)</a:t>
            </a:r>
          </a:p>
        </p:txBody>
      </p:sp>
    </p:spTree>
    <p:extLst>
      <p:ext uri="{BB962C8B-B14F-4D97-AF65-F5344CB8AC3E}">
        <p14:creationId xmlns:p14="http://schemas.microsoft.com/office/powerpoint/2010/main" val="3852307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CC56296-1E5A-8CE7-7A07-908606121959}"/>
              </a:ext>
            </a:extLst>
          </p:cNvPr>
          <p:cNvSpPr txBox="1"/>
          <p:nvPr/>
        </p:nvSpPr>
        <p:spPr>
          <a:xfrm>
            <a:off x="1228299" y="415836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600" b="1" dirty="0"/>
              <a:t>EXPRESIONES REGULARES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EDB860-33F3-EFB0-0847-5060A3BB3B1D}"/>
              </a:ext>
            </a:extLst>
          </p:cNvPr>
          <p:cNvSpPr txBox="1"/>
          <p:nvPr/>
        </p:nvSpPr>
        <p:spPr>
          <a:xfrm>
            <a:off x="1228298" y="1255931"/>
            <a:ext cx="165820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/>
              <a:t>Una expresión regular (o </a:t>
            </a:r>
            <a:r>
              <a:rPr lang="es-ES" sz="2800" dirty="0" err="1"/>
              <a:t>regex</a:t>
            </a:r>
            <a:r>
              <a:rPr lang="es-ES" sz="2800" dirty="0"/>
              <a:t>) es una secuencia de caracteres que define un patrón de búsqueda de texto, permitiendo buscar, validar, extraer y manipular información de cadenas de texto de forma flexible y potente. Se componen de caracteres literales y </a:t>
            </a:r>
            <a:r>
              <a:rPr lang="es-ES" sz="2800" dirty="0" err="1"/>
              <a:t>metacaracteres</a:t>
            </a:r>
            <a:r>
              <a:rPr lang="es-ES" sz="2800" dirty="0"/>
              <a:t> (caracteres especiales con un significado particular, como . o *) para crear patrones complejos. </a:t>
            </a:r>
            <a:endParaRPr lang="es-GT" sz="2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55E8817-8CF6-D20D-9512-F5A4E84E2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384028"/>
              </p:ext>
            </p:extLst>
          </p:nvPr>
        </p:nvGraphicFramePr>
        <p:xfrm>
          <a:off x="1228298" y="3265577"/>
          <a:ext cx="10959153" cy="2357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3051">
                  <a:extLst>
                    <a:ext uri="{9D8B030D-6E8A-4147-A177-3AD203B41FA5}">
                      <a16:colId xmlns:a16="http://schemas.microsoft.com/office/drawing/2014/main" val="2640926027"/>
                    </a:ext>
                  </a:extLst>
                </a:gridCol>
                <a:gridCol w="3653051">
                  <a:extLst>
                    <a:ext uri="{9D8B030D-6E8A-4147-A177-3AD203B41FA5}">
                      <a16:colId xmlns:a16="http://schemas.microsoft.com/office/drawing/2014/main" val="3905953689"/>
                    </a:ext>
                  </a:extLst>
                </a:gridCol>
                <a:gridCol w="3653051">
                  <a:extLst>
                    <a:ext uri="{9D8B030D-6E8A-4147-A177-3AD203B41FA5}">
                      <a16:colId xmlns:a16="http://schemas.microsoft.com/office/drawing/2014/main" val="2784352235"/>
                    </a:ext>
                  </a:extLst>
                </a:gridCol>
              </a:tblGrid>
              <a:tr h="392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dirty="0"/>
                        <a:t>Operador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Significado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293124"/>
                  </a:ext>
                </a:extLst>
              </a:tr>
              <a:tr h="392883">
                <a:tc>
                  <a:txBody>
                    <a:bodyPr/>
                    <a:lstStyle/>
                    <a:p>
                      <a:r>
                        <a:rPr lang="es-GT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Cero o más repeticiones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a* = {ε, a, aa, </a:t>
                      </a:r>
                      <a:r>
                        <a:rPr lang="pt-BR" dirty="0" err="1"/>
                        <a:t>aaa</a:t>
                      </a:r>
                      <a:r>
                        <a:rPr lang="pt-BR" dirty="0"/>
                        <a:t>, ...}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437894"/>
                  </a:ext>
                </a:extLst>
              </a:tr>
              <a:tr h="392883">
                <a:tc>
                  <a:txBody>
                    <a:bodyPr/>
                    <a:lstStyle/>
                    <a:p>
                      <a:r>
                        <a:rPr lang="es-GT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Una o más repeticiones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a+ = {a, </a:t>
                      </a:r>
                      <a:r>
                        <a:rPr lang="es-GT" dirty="0" err="1"/>
                        <a:t>aa</a:t>
                      </a:r>
                      <a:r>
                        <a:rPr lang="es-GT" dirty="0"/>
                        <a:t>, </a:t>
                      </a:r>
                      <a:r>
                        <a:rPr lang="es-GT" dirty="0" err="1"/>
                        <a:t>aaa</a:t>
                      </a:r>
                      <a:r>
                        <a:rPr lang="es-GT" dirty="0"/>
                        <a:t>, ...}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82658"/>
                  </a:ext>
                </a:extLst>
              </a:tr>
              <a:tr h="392883">
                <a:tc>
                  <a:txBody>
                    <a:bodyPr/>
                    <a:lstStyle/>
                    <a:p>
                      <a:r>
                        <a:rPr lang="es-GT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Cero o una repetición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a? = {</a:t>
                      </a:r>
                      <a:r>
                        <a:rPr lang="el-GR" dirty="0"/>
                        <a:t>ε, </a:t>
                      </a:r>
                      <a:r>
                        <a:rPr lang="es-GT" dirty="0"/>
                        <a:t>a}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551954"/>
                  </a:ext>
                </a:extLst>
              </a:tr>
              <a:tr h="392883">
                <a:tc>
                  <a:txBody>
                    <a:bodyPr/>
                    <a:lstStyle/>
                    <a:p>
                      <a:r>
                        <a:rPr lang="es-GT" dirty="0"/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Alternativa (OR)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902744"/>
                  </a:ext>
                </a:extLst>
              </a:tr>
              <a:tr h="392883">
                <a:tc>
                  <a:txBody>
                    <a:bodyPr/>
                    <a:lstStyle/>
                    <a:p>
                      <a:r>
                        <a:rPr lang="es-GT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Agrupación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(ab)* = {</a:t>
                      </a:r>
                      <a:r>
                        <a:rPr lang="el-GR" dirty="0"/>
                        <a:t>ε, </a:t>
                      </a:r>
                      <a:r>
                        <a:rPr lang="es-GT" dirty="0"/>
                        <a:t>ab, abab, ...}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095117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379E6572-8F02-0842-5D97-129AF602DF4D}"/>
              </a:ext>
            </a:extLst>
          </p:cNvPr>
          <p:cNvSpPr txBox="1"/>
          <p:nvPr/>
        </p:nvSpPr>
        <p:spPr>
          <a:xfrm>
            <a:off x="1228299" y="581663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600" b="1" dirty="0"/>
              <a:t>Clases de Caracteres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82EF25-0143-FECF-3A85-1DF02704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181" y="6656734"/>
            <a:ext cx="8835501" cy="25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30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4ED416-C003-5ABA-4CC2-BFE64E46E24F}"/>
              </a:ext>
            </a:extLst>
          </p:cNvPr>
          <p:cNvSpPr txBox="1"/>
          <p:nvPr/>
        </p:nvSpPr>
        <p:spPr>
          <a:xfrm>
            <a:off x="1255594" y="293006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600" b="1" dirty="0"/>
              <a:t>Ejemplos de Patrones Comunes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F8E41A7-2696-59D6-5BC4-9A0CB3D20399}"/>
              </a:ext>
            </a:extLst>
          </p:cNvPr>
          <p:cNvSpPr txBox="1"/>
          <p:nvPr/>
        </p:nvSpPr>
        <p:spPr>
          <a:xfrm>
            <a:off x="1255594" y="1275645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600" b="1" dirty="0"/>
              <a:t>Identificadores en C/Java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D5AA69-8D40-1D29-492A-1FE138B1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94" y="2108734"/>
            <a:ext cx="10561699" cy="137144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8F2DC33-BF92-F8E0-9EE2-E7588CA47C90}"/>
              </a:ext>
            </a:extLst>
          </p:cNvPr>
          <p:cNvSpPr txBox="1"/>
          <p:nvPr/>
        </p:nvSpPr>
        <p:spPr>
          <a:xfrm>
            <a:off x="1392072" y="3666937"/>
            <a:ext cx="75062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600" b="1" dirty="0"/>
              <a:t>Acepta</a:t>
            </a:r>
            <a:r>
              <a:rPr lang="es-GT" sz="3600" dirty="0"/>
              <a:t>: variable, _</a:t>
            </a:r>
            <a:r>
              <a:rPr lang="es-GT" sz="3600" dirty="0" err="1"/>
              <a:t>temp</a:t>
            </a:r>
            <a:r>
              <a:rPr lang="es-GT" sz="3600" dirty="0"/>
              <a:t>, count123</a:t>
            </a:r>
            <a:br>
              <a:rPr lang="es-GT" sz="3600" dirty="0"/>
            </a:br>
            <a:r>
              <a:rPr lang="es-GT" sz="3600" b="1" dirty="0"/>
              <a:t>Rechaza</a:t>
            </a:r>
            <a:r>
              <a:rPr lang="es-GT" sz="3600" dirty="0"/>
              <a:t>: 123abc, </a:t>
            </a:r>
            <a:r>
              <a:rPr lang="es-GT" sz="3600" dirty="0" err="1"/>
              <a:t>var-name</a:t>
            </a:r>
            <a:endParaRPr lang="es-GT" sz="36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FE0A22-BC2B-F1DC-E4E7-C4A953809CDB}"/>
              </a:ext>
            </a:extLst>
          </p:cNvPr>
          <p:cNvSpPr txBox="1"/>
          <p:nvPr/>
        </p:nvSpPr>
        <p:spPr>
          <a:xfrm>
            <a:off x="1255594" y="51435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600" b="1" dirty="0"/>
              <a:t>Números enteros con signo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6792D33-CB53-304A-A62C-B22434B1B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594" y="6029163"/>
            <a:ext cx="6430272" cy="84784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803008E-05B6-C0A3-9569-F82D02FE5406}"/>
              </a:ext>
            </a:extLst>
          </p:cNvPr>
          <p:cNvSpPr txBox="1"/>
          <p:nvPr/>
        </p:nvSpPr>
        <p:spPr>
          <a:xfrm>
            <a:off x="1255594" y="7116338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Acepta: </a:t>
            </a:r>
            <a:r>
              <a:rPr lang="es-ES" sz="3600" dirty="0"/>
              <a:t>123, -456, +789</a:t>
            </a:r>
            <a:br>
              <a:rPr lang="es-ES" sz="3600" b="1" dirty="0"/>
            </a:br>
            <a:r>
              <a:rPr lang="es-ES" sz="3600" b="1" dirty="0"/>
              <a:t>Rechaza: </a:t>
            </a:r>
            <a:r>
              <a:rPr lang="es-ES" sz="3600" dirty="0"/>
              <a:t>12.3, </a:t>
            </a:r>
            <a:r>
              <a:rPr lang="es-ES" sz="3600" dirty="0" err="1"/>
              <a:t>abc</a:t>
            </a:r>
            <a:endParaRPr lang="es-GT" sz="3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96DE65D-43D8-FDAB-1577-FC23946E7F62}"/>
              </a:ext>
            </a:extLst>
          </p:cNvPr>
          <p:cNvSpPr txBox="1"/>
          <p:nvPr/>
        </p:nvSpPr>
        <p:spPr>
          <a:xfrm>
            <a:off x="9910549" y="5143500"/>
            <a:ext cx="6603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600" b="1" dirty="0"/>
              <a:t>Direcciones de email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FFCE442-C0F3-DC8A-A576-190DD420D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5613" y="5962478"/>
            <a:ext cx="6373114" cy="91452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AECED44-A8FA-41A3-2D3D-BF6D5E2A246A}"/>
              </a:ext>
            </a:extLst>
          </p:cNvPr>
          <p:cNvSpPr txBox="1"/>
          <p:nvPr/>
        </p:nvSpPr>
        <p:spPr>
          <a:xfrm>
            <a:off x="9144000" y="7116338"/>
            <a:ext cx="88278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Acepta</a:t>
            </a:r>
            <a:r>
              <a:rPr lang="es-ES" sz="3600" dirty="0"/>
              <a:t>: </a:t>
            </a:r>
            <a:r>
              <a:rPr lang="es-ES" sz="3600" dirty="0">
                <a:hlinkClick r:id="rId5"/>
              </a:rPr>
              <a:t>user@domain.com</a:t>
            </a:r>
            <a:br>
              <a:rPr lang="es-ES" sz="3600" dirty="0"/>
            </a:br>
            <a:r>
              <a:rPr lang="es-ES" sz="3600" b="1" dirty="0"/>
              <a:t>Rechaza</a:t>
            </a:r>
            <a:r>
              <a:rPr lang="es-ES" sz="3600" dirty="0"/>
              <a:t>: </a:t>
            </a:r>
            <a:r>
              <a:rPr lang="es-ES" sz="3600" dirty="0" err="1"/>
              <a:t>user@domain</a:t>
            </a:r>
            <a:r>
              <a:rPr lang="es-ES" sz="3600" dirty="0"/>
              <a:t>, @domain.com</a:t>
            </a:r>
            <a:endParaRPr lang="es-GT" sz="3600" dirty="0"/>
          </a:p>
        </p:txBody>
      </p:sp>
    </p:spTree>
    <p:extLst>
      <p:ext uri="{BB962C8B-B14F-4D97-AF65-F5344CB8AC3E}">
        <p14:creationId xmlns:p14="http://schemas.microsoft.com/office/powerpoint/2010/main" val="241458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4604936" y="7110482"/>
            <a:ext cx="3353199" cy="2826831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" name="Google Shape;159;p6">
            <a:extLst>
              <a:ext uri="{FF2B5EF4-FFF2-40B4-BE49-F238E27FC236}">
                <a16:creationId xmlns:a16="http://schemas.microsoft.com/office/drawing/2014/main" id="{8A0985B2-3B2F-0D87-3092-2CE9127F4417}"/>
              </a:ext>
            </a:extLst>
          </p:cNvPr>
          <p:cNvSpPr txBox="1"/>
          <p:nvPr/>
        </p:nvSpPr>
        <p:spPr>
          <a:xfrm>
            <a:off x="559944" y="2367656"/>
            <a:ext cx="17398191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s-ES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800" dirty="0"/>
              <a:t> Token: Unidad mínima significativa del código fuente. Representa una categoría léxica, como una palabra clave (</a:t>
            </a:r>
            <a:r>
              <a:rPr lang="es-ES" sz="2800" dirty="0" err="1"/>
              <a:t>if</a:t>
            </a:r>
            <a:r>
              <a:rPr lang="es-ES" sz="2800" dirty="0"/>
              <a:t>), un operador (+), o un identificador (</a:t>
            </a:r>
            <a:r>
              <a:rPr lang="es-ES" sz="2800" dirty="0" err="1"/>
              <a:t>nombreUsuario</a:t>
            </a:r>
            <a:r>
              <a:rPr lang="es-ES" sz="2800" dirty="0"/>
              <a:t>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800" dirty="0"/>
              <a:t> Lexema: Es una instancia concreta de un token. Por ejemplo, el token Identificador puede tener como lexema la palabra contador.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800" dirty="0"/>
              <a:t> Patrón: Regla que describe cómo debe formarse un lexema para que sea válido. Se expresa generalmente mediante una expresión regular.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800" dirty="0"/>
              <a:t> Expresión Regular: Herramienta para definir patrones léxicos. Permite describir de forma precisa secuencias de caracteres que deben ser reconocidas por el analizador léxico.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800" dirty="0"/>
              <a:t> Diagrama de Transición: Representación gráfica de los estados y transiciones de un autómata finito. Útil para visualizar cómo se analiza una cadena paso a paso.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2507390" y="1000125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3000"/>
              </a:lnSpc>
              <a:buSzPts val="6900"/>
            </a:pPr>
            <a:r>
              <a:rPr lang="en-US" sz="6900" dirty="0" err="1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Responsabilidad</a:t>
            </a:r>
            <a:endParaRPr sz="14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3945129" y="7328848"/>
            <a:ext cx="3906143" cy="2638012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A27A76-8BE0-7DF8-AA0F-FEF64B031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146" y="2149200"/>
            <a:ext cx="1552370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GT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diseño de patrones léxicos y expresiones regulares requiere una actitud responsable, ya que un error en esta etapa puede comprometer el correcto funcionamiento del compilador o del sistema que los utilice. Ser responsable implica: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GT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Validar exhaustivamente los patrones antes de implementarlos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Asegurarse de cubrir todos los posibles errores léxicos.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Comprobar que las expresiones regulares sean claras, legibles y eficientes.</a:t>
            </a:r>
            <a:endParaRPr kumimoji="0" lang="es-GT" altLang="es-GT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pic>
        <p:nvPicPr>
          <p:cNvPr id="184" name="Google Shape;184;p8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8">
            <a:extLst>
              <a:ext uri="{FF2B5EF4-FFF2-40B4-BE49-F238E27FC236}">
                <a16:creationId xmlns:a16="http://schemas.microsoft.com/office/drawing/2014/main" id="{00E6A492-9822-BFD4-4165-7AFDDE647DF3}"/>
              </a:ext>
            </a:extLst>
          </p:cNvPr>
          <p:cNvSpPr txBox="1"/>
          <p:nvPr/>
        </p:nvSpPr>
        <p:spPr>
          <a:xfrm>
            <a:off x="5688334" y="4132271"/>
            <a:ext cx="6911332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19"/>
              </a:lnSpc>
            </a:pPr>
            <a:r>
              <a:rPr lang="en-US" sz="3200" dirty="0"/>
              <a:t>"Compilers: Principles, Techniques, and Tools" - Aho, Sethi, Ullman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f262177b_0_2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0" name="Google Shape;190;g364f262177b_0_2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pic>
        <p:nvPicPr>
          <p:cNvPr id="192" name="Google Shape;192;g364f262177b_0_2" title="Gemini_Generated_Image_u2i06ou2i06ou2i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4afea4f63_0_148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8" name="Google Shape;198;g364afea4f63_0_148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64afea4f63_0_148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5e2d797db_0_1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g385e2d797db_0_12"/>
          <p:cNvGraphicFramePr/>
          <p:nvPr/>
        </p:nvGraphicFramePr>
        <p:xfrm>
          <a:off x="16900" y="1507250"/>
          <a:ext cx="10459750" cy="2803980"/>
        </p:xfrm>
        <a:graphic>
          <a:graphicData uri="http://schemas.openxmlformats.org/drawingml/2006/table">
            <a:tbl>
              <a:tblPr>
                <a:noFill/>
                <a:tableStyleId>{09D0D730-AD71-4C7B-A4B5-7AA99F169CB1}</a:tableStyleId>
              </a:tblPr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" name="Google Shape;207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g385e2d797db_0_12"/>
          <p:cNvGraphicFramePr/>
          <p:nvPr/>
        </p:nvGraphicFramePr>
        <p:xfrm>
          <a:off x="10656400" y="1940050"/>
          <a:ext cx="7381150" cy="2377260"/>
        </p:xfrm>
        <a:graphic>
          <a:graphicData uri="http://schemas.openxmlformats.org/drawingml/2006/table">
            <a:tbl>
              <a:tblPr>
                <a:noFill/>
                <a:tableStyleId>{09D0D730-AD71-4C7B-A4B5-7AA99F169CB1}</a:tableStyleId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6099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6099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765363" y="5966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24" name="Google Shape;224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1299</Words>
  <Application>Microsoft Office PowerPoint</Application>
  <PresentationFormat>Personalizado</PresentationFormat>
  <Paragraphs>157</Paragraphs>
  <Slides>21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Open Sans</vt:lpstr>
      <vt:lpstr>Lobster</vt:lpstr>
      <vt:lpstr>Calibri</vt:lpstr>
      <vt:lpstr>Montserrat</vt:lpstr>
      <vt:lpstr>Arial</vt:lpstr>
      <vt:lpstr>Pacifico</vt:lpstr>
      <vt:lpstr>Impact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 M</dc:creator>
  <cp:lastModifiedBy>Kev M</cp:lastModifiedBy>
  <cp:revision>3</cp:revision>
  <dcterms:created xsi:type="dcterms:W3CDTF">2006-08-16T00:00:00Z</dcterms:created>
  <dcterms:modified xsi:type="dcterms:W3CDTF">2025-11-07T01:45:16Z</dcterms:modified>
</cp:coreProperties>
</file>