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10287000" cx="18288000"/>
  <p:notesSz cx="6858000" cy="9144000"/>
  <p:embeddedFontLst>
    <p:embeddedFont>
      <p:font typeface="Lobster"/>
      <p:regular r:id="rId26"/>
    </p:embeddedFont>
    <p:embeddedFont>
      <p:font typeface="Montserrat"/>
      <p:regular r:id="rId27"/>
      <p:bold r:id="rId28"/>
      <p:italic r:id="rId29"/>
      <p:boldItalic r:id="rId30"/>
    </p:embeddedFont>
    <p:embeddedFont>
      <p:font typeface="Pacifico"/>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2" roundtripDataSignature="AMtx7mgjggljkqubqiXlVXzdfWBBT55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3CA40F-9963-480C-9783-54C9C94074BC}">
  <a:tblStyle styleId="{9C3CA40F-9963-480C-9783-54C9C94074B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Lobster-regular.fntdata"/><Relationship Id="rId25" Type="http://schemas.openxmlformats.org/officeDocument/2006/relationships/slide" Target="slides/slide18.xml"/><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Montserrat-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acifico-regular.fntdata"/><Relationship Id="rId30" Type="http://schemas.openxmlformats.org/officeDocument/2006/relationships/font" Target="fonts/Montserrat-boldItalic.fntdata"/><Relationship Id="rId11" Type="http://schemas.openxmlformats.org/officeDocument/2006/relationships/slide" Target="slides/slide4.xml"/><Relationship Id="rId10" Type="http://schemas.openxmlformats.org/officeDocument/2006/relationships/slide" Target="slides/slide3.xml"/><Relationship Id="rId32" Type="http://customschemas.google.com/relationships/presentationmetadata" Target="meta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5" name="Google Shape;33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20"/>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p20"/>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p20"/>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3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p:nvPr>
            <p:ph idx="2" type="pic"/>
          </p:nvPr>
        </p:nvSpPr>
        <p:spPr>
          <a:xfrm>
            <a:off x="1792288" y="612775"/>
            <a:ext cx="5486400" cy="4114800"/>
          </a:xfrm>
          <a:prstGeom prst="rect">
            <a:avLst/>
          </a:prstGeom>
          <a:noFill/>
          <a:ln>
            <a:noFill/>
          </a:ln>
        </p:spPr>
      </p:sp>
      <p:sp>
        <p:nvSpPr>
          <p:cNvPr id="68" name="Google Shape;68;p3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4" name="Shape 94"/>
        <p:cNvGrpSpPr/>
        <p:nvPr/>
      </p:nvGrpSpPr>
      <p:grpSpPr>
        <a:xfrm>
          <a:off x="0" y="0"/>
          <a:ext cx="0" cy="0"/>
          <a:chOff x="0" y="0"/>
          <a:chExt cx="0" cy="0"/>
        </a:xfrm>
      </p:grpSpPr>
      <p:sp>
        <p:nvSpPr>
          <p:cNvPr id="95" name="Google Shape;95;p34"/>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7" name="Google Shape;97;p3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3" name="Google Shape;103;p3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3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 name="Shape 106"/>
        <p:cNvGrpSpPr/>
        <p:nvPr/>
      </p:nvGrpSpPr>
      <p:grpSpPr>
        <a:xfrm>
          <a:off x="0" y="0"/>
          <a:ext cx="0" cy="0"/>
          <a:chOff x="0" y="0"/>
          <a:chExt cx="0" cy="0"/>
        </a:xfrm>
      </p:grpSpPr>
      <p:sp>
        <p:nvSpPr>
          <p:cNvPr id="107" name="Google Shape;107;p36"/>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6"/>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9" name="Google Shape;109;p3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37"/>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5" name="Google Shape;115;p37"/>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6" name="Google Shape;116;p3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3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9" name="Shape 119"/>
        <p:cNvGrpSpPr/>
        <p:nvPr/>
      </p:nvGrpSpPr>
      <p:grpSpPr>
        <a:xfrm>
          <a:off x="0" y="0"/>
          <a:ext cx="0" cy="0"/>
          <a:chOff x="0" y="0"/>
          <a:chExt cx="0" cy="0"/>
        </a:xfrm>
      </p:grpSpPr>
      <p:sp>
        <p:nvSpPr>
          <p:cNvPr id="120" name="Google Shape;120;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38"/>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2" name="Google Shape;122;p38"/>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3" name="Google Shape;123;p38"/>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4" name="Google Shape;124;p38"/>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5" name="Google Shape;125;p3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3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8" name="Shape 128"/>
        <p:cNvGrpSpPr/>
        <p:nvPr/>
      </p:nvGrpSpPr>
      <p:grpSpPr>
        <a:xfrm>
          <a:off x="0" y="0"/>
          <a:ext cx="0" cy="0"/>
          <a:chOff x="0" y="0"/>
          <a:chExt cx="0" cy="0"/>
        </a:xfrm>
      </p:grpSpPr>
      <p:sp>
        <p:nvSpPr>
          <p:cNvPr id="129" name="Google Shape;129;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3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3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p40"/>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40"/>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6" name="Google Shape;136;p40"/>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7" name="Google Shape;137;p4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4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4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p41"/>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41"/>
          <p:cNvSpPr/>
          <p:nvPr>
            <p:ph idx="2" type="pic"/>
          </p:nvPr>
        </p:nvSpPr>
        <p:spPr>
          <a:xfrm>
            <a:off x="1792288" y="612775"/>
            <a:ext cx="5486400" cy="4114800"/>
          </a:xfrm>
          <a:prstGeom prst="rect">
            <a:avLst/>
          </a:prstGeom>
          <a:noFill/>
          <a:ln>
            <a:noFill/>
          </a:ln>
        </p:spPr>
      </p:sp>
      <p:sp>
        <p:nvSpPr>
          <p:cNvPr id="143" name="Google Shape;143;p41"/>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4" name="Google Shape;144;p4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4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4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42"/>
          <p:cNvSpPr txBox="1"/>
          <p:nvPr>
            <p:ph idx="1" type="body"/>
          </p:nvPr>
        </p:nvSpPr>
        <p:spPr>
          <a:xfrm rot="5400000">
            <a:off x="2308951"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0" name="Google Shape;150;p4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4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4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43"/>
          <p:cNvSpPr txBox="1"/>
          <p:nvPr>
            <p:ph type="title"/>
          </p:nvPr>
        </p:nvSpPr>
        <p:spPr>
          <a:xfrm rot="5400000">
            <a:off x="4732351" y="2171689"/>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43"/>
          <p:cNvSpPr txBox="1"/>
          <p:nvPr>
            <p:ph idx="1" type="body"/>
          </p:nvPr>
        </p:nvSpPr>
        <p:spPr>
          <a:xfrm rot="5400000">
            <a:off x="541350" y="190487"/>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6" name="Google Shape;156;p4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4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4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9" name="Shape 159"/>
        <p:cNvGrpSpPr/>
        <p:nvPr/>
      </p:nvGrpSpPr>
      <p:grpSpPr>
        <a:xfrm>
          <a:off x="0" y="0"/>
          <a:ext cx="0" cy="0"/>
          <a:chOff x="0" y="0"/>
          <a:chExt cx="0" cy="0"/>
        </a:xfrm>
      </p:grpSpPr>
      <p:sp>
        <p:nvSpPr>
          <p:cNvPr id="160" name="Google Shape;160;p44"/>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61" name="Google Shape;161;p44"/>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62" name="Google Shape;162;p44"/>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2.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2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8.png"/><Relationship Id="rId6" Type="http://schemas.openxmlformats.org/officeDocument/2006/relationships/image" Target="../media/image2.png"/><Relationship Id="rId7"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8.jp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2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2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26.jpg"/><Relationship Id="rId5" Type="http://schemas.openxmlformats.org/officeDocument/2006/relationships/image" Target="../media/image2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2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1"/>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168" name="Google Shape;168;p1"/>
          <p:cNvGraphicFramePr/>
          <p:nvPr/>
        </p:nvGraphicFramePr>
        <p:xfrm>
          <a:off x="10656400" y="1940050"/>
          <a:ext cx="3000000" cy="3000000"/>
        </p:xfrm>
        <a:graphic>
          <a:graphicData uri="http://schemas.openxmlformats.org/drawingml/2006/table">
            <a:tbl>
              <a:tblPr>
                <a:noFill/>
                <a:tableStyleId>{9C3CA40F-9963-480C-9783-54C9C94074BC}</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latin typeface="Montserrat"/>
                          <a:ea typeface="Montserrat"/>
                          <a:cs typeface="Montserrat"/>
                          <a:sym typeface="Montserrat"/>
                        </a:rPr>
                        <a:t>Día, Fecha:</a:t>
                      </a:r>
                      <a:endParaRPr b="1" sz="2800" u="none" cap="none" strike="noStrike">
                        <a:solidFill>
                          <a:schemeClr val="dk1"/>
                        </a:solidFill>
                        <a:latin typeface="Montserrat"/>
                        <a:ea typeface="Montserrat"/>
                        <a:cs typeface="Montserrat"/>
                        <a:sym typeface="Montserrat"/>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latin typeface="Montserrat"/>
                          <a:ea typeface="Montserrat"/>
                          <a:cs typeface="Montserrat"/>
                          <a:sym typeface="Montserrat"/>
                        </a:rPr>
                        <a:t>x de x de 2026</a:t>
                      </a:r>
                      <a:endParaRPr b="1" sz="2800" u="none" cap="none" strike="noStrike">
                        <a:latin typeface="Montserrat"/>
                        <a:ea typeface="Montserrat"/>
                        <a:cs typeface="Montserrat"/>
                        <a:sym typeface="Montserrat"/>
                      </a:endParaRPr>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latin typeface="Montserrat"/>
                          <a:ea typeface="Montserrat"/>
                          <a:cs typeface="Montserrat"/>
                          <a:sym typeface="Montserrat"/>
                        </a:rPr>
                        <a:t>Hora de inicio:</a:t>
                      </a:r>
                      <a:endParaRPr b="1" sz="2800" u="none" cap="none" strike="noStrike">
                        <a:solidFill>
                          <a:schemeClr val="dk1"/>
                        </a:solidFill>
                        <a:latin typeface="Montserrat"/>
                        <a:ea typeface="Montserrat"/>
                        <a:cs typeface="Montserrat"/>
                        <a:sym typeface="Montserrat"/>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latin typeface="Montserrat"/>
                          <a:ea typeface="Montserrat"/>
                          <a:cs typeface="Montserrat"/>
                          <a:sym typeface="Montserrat"/>
                        </a:rPr>
                        <a:t>xx:xx - xxxx</a:t>
                      </a:r>
                      <a:endParaRPr b="1" sz="2800" u="none" cap="none" strike="noStrike">
                        <a:latin typeface="Montserrat"/>
                        <a:ea typeface="Montserrat"/>
                        <a:cs typeface="Montserrat"/>
                        <a:sym typeface="Montserrat"/>
                      </a:endParaRPr>
                    </a:p>
                  </a:txBody>
                  <a:tcPr marT="182850" marB="182850" marR="182850" marL="182850"/>
                </a:tc>
              </a:tr>
            </a:tbl>
          </a:graphicData>
        </a:graphic>
      </p:graphicFrame>
      <p:sp>
        <p:nvSpPr>
          <p:cNvPr id="169" name="Google Shape;169;p1"/>
          <p:cNvSpPr txBox="1"/>
          <p:nvPr/>
        </p:nvSpPr>
        <p:spPr>
          <a:xfrm>
            <a:off x="2828250" y="4787100"/>
            <a:ext cx="14446500" cy="11391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000" u="none" cap="none" strike="noStrike">
                <a:solidFill>
                  <a:srgbClr val="000000"/>
                </a:solidFill>
                <a:latin typeface="Montserrat"/>
                <a:ea typeface="Montserrat"/>
                <a:cs typeface="Montserrat"/>
                <a:sym typeface="Montserrat"/>
              </a:rPr>
              <a:t>Lenguajes Formales y De Programación X</a:t>
            </a:r>
            <a:endParaRPr b="1" i="0" sz="5000" u="none" cap="none" strike="noStrike">
              <a:solidFill>
                <a:srgbClr val="000000"/>
              </a:solidFill>
              <a:latin typeface="Montserrat"/>
              <a:ea typeface="Montserrat"/>
              <a:cs typeface="Montserrat"/>
              <a:sym typeface="Montserrat"/>
            </a:endParaRPr>
          </a:p>
        </p:txBody>
      </p:sp>
      <p:sp>
        <p:nvSpPr>
          <p:cNvPr id="170" name="Google Shape;170;p1"/>
          <p:cNvSpPr txBox="1"/>
          <p:nvPr/>
        </p:nvSpPr>
        <p:spPr>
          <a:xfrm>
            <a:off x="4658250" y="6354150"/>
            <a:ext cx="8971500" cy="9852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000000"/>
                </a:solidFill>
                <a:latin typeface="Montserrat"/>
                <a:ea typeface="Montserrat"/>
                <a:cs typeface="Montserrat"/>
                <a:sym typeface="Montserrat"/>
              </a:rPr>
              <a:t>Nombre del Tutor : XXXXX</a:t>
            </a:r>
            <a:endParaRPr b="1" i="0" sz="4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
          <p:cNvSpPr txBox="1"/>
          <p:nvPr/>
        </p:nvSpPr>
        <p:spPr>
          <a:xfrm>
            <a:off x="775174" y="6501763"/>
            <a:ext cx="85266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Montserrat"/>
                <a:ea typeface="Montserrat"/>
                <a:cs typeface="Montserrat"/>
                <a:sym typeface="Montserrat"/>
              </a:rPr>
              <a:t>Lenguajes Formales y De Programación</a:t>
            </a:r>
            <a:endParaRPr b="1" i="0" sz="5000" u="none" cap="none" strike="noStrike">
              <a:solidFill>
                <a:srgbClr val="131416"/>
              </a:solidFill>
              <a:latin typeface="Montserrat"/>
              <a:ea typeface="Montserrat"/>
              <a:cs typeface="Montserrat"/>
              <a:sym typeface="Montserrat"/>
            </a:endParaRPr>
          </a:p>
        </p:txBody>
      </p:sp>
      <p:sp>
        <p:nvSpPr>
          <p:cNvPr id="176" name="Google Shape;176;p2"/>
          <p:cNvSpPr txBox="1"/>
          <p:nvPr/>
        </p:nvSpPr>
        <p:spPr>
          <a:xfrm>
            <a:off x="2617350" y="2295700"/>
            <a:ext cx="13053300" cy="3472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400" u="none" cap="none" strike="noStrike">
                <a:solidFill>
                  <a:srgbClr val="131416"/>
                </a:solidFill>
                <a:latin typeface="Montserrat"/>
                <a:ea typeface="Montserrat"/>
                <a:cs typeface="Montserrat"/>
                <a:sym typeface="Montserrat"/>
              </a:rPr>
              <a:t>Lenguajes De Programación</a:t>
            </a:r>
            <a:endParaRPr b="1" i="0" sz="1600" u="none" cap="none" strike="noStrike">
              <a:solidFill>
                <a:srgbClr val="000000"/>
              </a:solidFill>
              <a:latin typeface="Montserrat"/>
              <a:ea typeface="Montserrat"/>
              <a:cs typeface="Montserrat"/>
              <a:sym typeface="Montserrat"/>
            </a:endParaRPr>
          </a:p>
        </p:txBody>
      </p:sp>
      <p:sp>
        <p:nvSpPr>
          <p:cNvPr id="177" name="Google Shape;177;p2"/>
          <p:cNvSpPr txBox="1"/>
          <p:nvPr/>
        </p:nvSpPr>
        <p:spPr>
          <a:xfrm>
            <a:off x="1028699" y="8779775"/>
            <a:ext cx="85266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Montserrat"/>
                <a:ea typeface="Montserrat"/>
                <a:cs typeface="Montserrat"/>
                <a:sym typeface="Montserrat"/>
              </a:rPr>
              <a:t>Escuela de Ingeniería de Ciencias Y Sistemas</a:t>
            </a:r>
            <a:endParaRPr b="1" i="0" sz="2499" u="none" cap="none" strike="noStrike">
              <a:solidFill>
                <a:srgbClr val="131416"/>
              </a:solidFill>
              <a:latin typeface="Montserrat"/>
              <a:ea typeface="Montserrat"/>
              <a:cs typeface="Montserrat"/>
              <a:sym typeface="Montserrat"/>
            </a:endParaRPr>
          </a:p>
        </p:txBody>
      </p:sp>
      <p:sp>
        <p:nvSpPr>
          <p:cNvPr id="178" name="Google Shape;178;p2"/>
          <p:cNvSpPr txBox="1"/>
          <p:nvPr/>
        </p:nvSpPr>
        <p:spPr>
          <a:xfrm>
            <a:off x="1028700" y="9210675"/>
            <a:ext cx="66675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Montserrat"/>
                <a:ea typeface="Montserrat"/>
                <a:cs typeface="Montserrat"/>
                <a:sym typeface="Montserrat"/>
              </a:rPr>
              <a:t>Facultad de Ingeniería</a:t>
            </a:r>
            <a:endParaRPr b="1" i="0" sz="2499" u="none" cap="none" strike="noStrike">
              <a:solidFill>
                <a:srgbClr val="131416"/>
              </a:solidFill>
              <a:latin typeface="Montserrat"/>
              <a:ea typeface="Montserrat"/>
              <a:cs typeface="Montserrat"/>
              <a:sym typeface="Montserrat"/>
            </a:endParaRPr>
          </a:p>
        </p:txBody>
      </p:sp>
      <p:sp>
        <p:nvSpPr>
          <p:cNvPr id="179" name="Google Shape;179;p2"/>
          <p:cNvSpPr txBox="1"/>
          <p:nvPr/>
        </p:nvSpPr>
        <p:spPr>
          <a:xfrm>
            <a:off x="304800" y="9595279"/>
            <a:ext cx="811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Montserrat"/>
                <a:ea typeface="Montserrat"/>
                <a:cs typeface="Montserrat"/>
                <a:sym typeface="Montserrat"/>
              </a:rPr>
              <a:t>Universidad de San Carlos de Guatemala</a:t>
            </a:r>
            <a:endParaRPr b="0" i="0" sz="1400" u="none" cap="none" strike="noStrike">
              <a:solidFill>
                <a:srgbClr val="000000"/>
              </a:solidFill>
              <a:latin typeface="Montserrat"/>
              <a:ea typeface="Montserrat"/>
              <a:cs typeface="Montserrat"/>
              <a:sym typeface="Montserrat"/>
            </a:endParaRPr>
          </a:p>
        </p:txBody>
      </p:sp>
      <p:pic>
        <p:nvPicPr>
          <p:cNvPr id="180" name="Google Shape;180;p2"/>
          <p:cNvPicPr preferRelativeResize="0"/>
          <p:nvPr/>
        </p:nvPicPr>
        <p:blipFill rotWithShape="1">
          <a:blip r:embed="rId3">
            <a:alphaModFix/>
          </a:blip>
          <a:srcRect b="0" l="0" r="0" t="0"/>
          <a:stretch/>
        </p:blipFill>
        <p:spPr>
          <a:xfrm>
            <a:off x="8044675" y="0"/>
            <a:ext cx="10243325" cy="1067013"/>
          </a:xfrm>
          <a:prstGeom prst="rect">
            <a:avLst/>
          </a:prstGeom>
          <a:noFill/>
          <a:ln>
            <a:noFill/>
          </a:ln>
        </p:spPr>
      </p:pic>
      <p:pic>
        <p:nvPicPr>
          <p:cNvPr descr="Diagnóstico del contexto educativo – Desarrollo de Materiales en línea y  multimedia" id="181" name="Google Shape;181;p2"/>
          <p:cNvPicPr preferRelativeResize="0"/>
          <p:nvPr/>
        </p:nvPicPr>
        <p:blipFill rotWithShape="1">
          <a:blip r:embed="rId4">
            <a:alphaModFix/>
          </a:blip>
          <a:srcRect b="0" l="0" r="0" t="0"/>
          <a:stretch/>
        </p:blipFill>
        <p:spPr>
          <a:xfrm>
            <a:off x="15334925" y="7549575"/>
            <a:ext cx="2638199" cy="2458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grpSp>
        <p:nvGrpSpPr>
          <p:cNvPr id="186" name="Google Shape;186;p3"/>
          <p:cNvGrpSpPr/>
          <p:nvPr/>
        </p:nvGrpSpPr>
        <p:grpSpPr>
          <a:xfrm>
            <a:off x="0" y="4537100"/>
            <a:ext cx="9181947" cy="880645"/>
            <a:chOff x="0" y="0"/>
            <a:chExt cx="2883506" cy="374918"/>
          </a:xfrm>
        </p:grpSpPr>
        <p:sp>
          <p:nvSpPr>
            <p:cNvPr id="187" name="Google Shape;187;p3"/>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88" name="Google Shape;188;p3"/>
            <p:cNvSpPr txBox="1"/>
            <p:nvPr/>
          </p:nvSpPr>
          <p:spPr>
            <a:xfrm>
              <a:off x="491906" y="2618"/>
              <a:ext cx="2391600" cy="3723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Montserrat"/>
                  <a:ea typeface="Montserrat"/>
                  <a:cs typeface="Montserrat"/>
                  <a:sym typeface="Montserrat"/>
                </a:rPr>
                <a:t>¿Qué son los lenguajes de Programación?</a:t>
              </a:r>
              <a:endParaRPr b="0" i="0" sz="1400" u="none" cap="none" strike="noStrike">
                <a:solidFill>
                  <a:srgbClr val="000000"/>
                </a:solidFill>
                <a:latin typeface="Montserrat"/>
                <a:ea typeface="Montserrat"/>
                <a:cs typeface="Montserrat"/>
                <a:sym typeface="Montserrat"/>
              </a:endParaRPr>
            </a:p>
          </p:txBody>
        </p:sp>
      </p:grpSp>
      <p:sp>
        <p:nvSpPr>
          <p:cNvPr id="189" name="Google Shape;189;p3"/>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90" name="Google Shape;190;p3"/>
          <p:cNvGrpSpPr/>
          <p:nvPr/>
        </p:nvGrpSpPr>
        <p:grpSpPr>
          <a:xfrm>
            <a:off x="1672189" y="3087956"/>
            <a:ext cx="4115217" cy="1556494"/>
            <a:chOff x="0" y="-76200"/>
            <a:chExt cx="1083836" cy="409938"/>
          </a:xfrm>
        </p:grpSpPr>
        <p:sp>
          <p:nvSpPr>
            <p:cNvPr id="191" name="Google Shape;191;p3"/>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92" name="Google Shape;192;p3"/>
            <p:cNvSpPr txBox="1"/>
            <p:nvPr/>
          </p:nvSpPr>
          <p:spPr>
            <a:xfrm>
              <a:off x="0" y="-76200"/>
              <a:ext cx="969600" cy="4098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93" name="Google Shape;193;p3"/>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sp>
        <p:nvSpPr>
          <p:cNvPr id="194" name="Google Shape;194;p3"/>
          <p:cNvSpPr txBox="1"/>
          <p:nvPr/>
        </p:nvSpPr>
        <p:spPr>
          <a:xfrm>
            <a:off x="651749" y="490900"/>
            <a:ext cx="77103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95" name="Google Shape;195;p3"/>
          <p:cNvSpPr txBox="1"/>
          <p:nvPr/>
        </p:nvSpPr>
        <p:spPr>
          <a:xfrm>
            <a:off x="10186575" y="2621650"/>
            <a:ext cx="66336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sp>
        <p:nvSpPr>
          <p:cNvPr id="196" name="Google Shape;196;p3"/>
          <p:cNvSpPr/>
          <p:nvPr/>
        </p:nvSpPr>
        <p:spPr>
          <a:xfrm>
            <a:off x="10826117" y="5228879"/>
            <a:ext cx="5354528" cy="1267370"/>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grpSp>
        <p:nvGrpSpPr>
          <p:cNvPr id="197" name="Google Shape;197;p3"/>
          <p:cNvGrpSpPr/>
          <p:nvPr/>
        </p:nvGrpSpPr>
        <p:grpSpPr>
          <a:xfrm>
            <a:off x="176627" y="5435427"/>
            <a:ext cx="8963568" cy="854264"/>
            <a:chOff x="0" y="-79979"/>
            <a:chExt cx="2833703" cy="363702"/>
          </a:xfrm>
        </p:grpSpPr>
        <p:sp>
          <p:nvSpPr>
            <p:cNvPr id="198" name="Google Shape;198;p3"/>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99" name="Google Shape;199;p3"/>
            <p:cNvSpPr txBox="1"/>
            <p:nvPr/>
          </p:nvSpPr>
          <p:spPr>
            <a:xfrm>
              <a:off x="491903" y="-79979"/>
              <a:ext cx="2341800" cy="360000"/>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Montserrat"/>
                  <a:ea typeface="Montserrat"/>
                  <a:cs typeface="Montserrat"/>
                  <a:sym typeface="Montserrat"/>
                </a:rPr>
                <a:t>Breve historia de los lenguajes</a:t>
              </a:r>
              <a:endParaRPr b="0" i="0" sz="1400" u="none" cap="none" strike="noStrike">
                <a:solidFill>
                  <a:srgbClr val="000000"/>
                </a:solidFill>
                <a:latin typeface="Montserrat"/>
                <a:ea typeface="Montserrat"/>
                <a:cs typeface="Montserrat"/>
                <a:sym typeface="Montserrat"/>
              </a:endParaRPr>
            </a:p>
          </p:txBody>
        </p:sp>
      </p:grpSp>
      <p:grpSp>
        <p:nvGrpSpPr>
          <p:cNvPr id="200" name="Google Shape;200;p3"/>
          <p:cNvGrpSpPr/>
          <p:nvPr/>
        </p:nvGrpSpPr>
        <p:grpSpPr>
          <a:xfrm>
            <a:off x="176619" y="6396900"/>
            <a:ext cx="6896076" cy="874361"/>
            <a:chOff x="0" y="-88536"/>
            <a:chExt cx="2935999" cy="372259"/>
          </a:xfrm>
        </p:grpSpPr>
        <p:sp>
          <p:nvSpPr>
            <p:cNvPr id="201" name="Google Shape;201;p3"/>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202" name="Google Shape;202;p3"/>
            <p:cNvSpPr txBox="1"/>
            <p:nvPr/>
          </p:nvSpPr>
          <p:spPr>
            <a:xfrm>
              <a:off x="621799" y="-88536"/>
              <a:ext cx="2314200" cy="360000"/>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Montserrat"/>
                  <a:ea typeface="Montserrat"/>
                  <a:cs typeface="Montserrat"/>
                  <a:sym typeface="Montserrat"/>
                </a:rPr>
                <a:t> Características principales</a:t>
              </a:r>
              <a:endParaRPr b="0" i="0" sz="1400" u="none" cap="none" strike="noStrike">
                <a:solidFill>
                  <a:srgbClr val="000000"/>
                </a:solidFill>
                <a:latin typeface="Montserrat"/>
                <a:ea typeface="Montserrat"/>
                <a:cs typeface="Montserrat"/>
                <a:sym typeface="Montserrat"/>
              </a:endParaRPr>
            </a:p>
          </p:txBody>
        </p:sp>
      </p:grpSp>
      <p:grpSp>
        <p:nvGrpSpPr>
          <p:cNvPr id="203" name="Google Shape;203;p3"/>
          <p:cNvGrpSpPr/>
          <p:nvPr/>
        </p:nvGrpSpPr>
        <p:grpSpPr>
          <a:xfrm>
            <a:off x="176619" y="7456987"/>
            <a:ext cx="6827030" cy="845568"/>
            <a:chOff x="0" y="-30419"/>
            <a:chExt cx="2906603" cy="360000"/>
          </a:xfrm>
        </p:grpSpPr>
        <p:sp>
          <p:nvSpPr>
            <p:cNvPr id="204" name="Google Shape;204;p3"/>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205" name="Google Shape;205;p3"/>
            <p:cNvSpPr txBox="1"/>
            <p:nvPr/>
          </p:nvSpPr>
          <p:spPr>
            <a:xfrm>
              <a:off x="491903" y="-30419"/>
              <a:ext cx="2414700" cy="360000"/>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Montserrat"/>
                  <a:ea typeface="Montserrat"/>
                  <a:cs typeface="Montserrat"/>
                  <a:sym typeface="Montserrat"/>
                </a:rPr>
                <a:t>    Principales usos</a:t>
              </a:r>
              <a:endParaRPr b="0" i="0" sz="1400" u="none" cap="none" strike="noStrike">
                <a:solidFill>
                  <a:srgbClr val="000000"/>
                </a:solidFill>
                <a:latin typeface="Montserrat"/>
                <a:ea typeface="Montserrat"/>
                <a:cs typeface="Montserrat"/>
                <a:sym typeface="Montserrat"/>
              </a:endParaRPr>
            </a:p>
          </p:txBody>
        </p:sp>
      </p:grpSp>
      <p:grpSp>
        <p:nvGrpSpPr>
          <p:cNvPr id="206" name="Google Shape;206;p3"/>
          <p:cNvGrpSpPr/>
          <p:nvPr/>
        </p:nvGrpSpPr>
        <p:grpSpPr>
          <a:xfrm>
            <a:off x="-6" y="8488265"/>
            <a:ext cx="5189847" cy="845568"/>
            <a:chOff x="0" y="-44120"/>
            <a:chExt cx="2209574" cy="360000"/>
          </a:xfrm>
        </p:grpSpPr>
        <p:sp>
          <p:nvSpPr>
            <p:cNvPr id="207" name="Google Shape;207;p3"/>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208" name="Google Shape;208;p3"/>
            <p:cNvSpPr txBox="1"/>
            <p:nvPr/>
          </p:nvSpPr>
          <p:spPr>
            <a:xfrm>
              <a:off x="359774" y="-4412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Montserrat"/>
                  <a:ea typeface="Montserrat"/>
                  <a:cs typeface="Montserrat"/>
                  <a:sym typeface="Montserrat"/>
                </a:rPr>
                <a:t>      Ejemplo práctico</a:t>
              </a:r>
              <a:endParaRPr b="0" i="0" sz="1400" u="none" cap="none" strike="noStrike">
                <a:solidFill>
                  <a:srgbClr val="000000"/>
                </a:solidFill>
                <a:latin typeface="Montserrat"/>
                <a:ea typeface="Montserrat"/>
                <a:cs typeface="Montserrat"/>
                <a:sym typeface="Montserrat"/>
              </a:endParaRPr>
            </a:p>
          </p:txBody>
        </p:sp>
      </p:grpSp>
      <p:sp>
        <p:nvSpPr>
          <p:cNvPr id="209" name="Google Shape;209;p3"/>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210" name="Google Shape;210;p3"/>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211" name="Google Shape;211;p3"/>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212" name="Google Shape;212;p3"/>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sp>
        <p:nvSpPr>
          <p:cNvPr id="213" name="Google Shape;213;p3"/>
          <p:cNvSpPr txBox="1"/>
          <p:nvPr/>
        </p:nvSpPr>
        <p:spPr>
          <a:xfrm>
            <a:off x="11202425" y="5177850"/>
            <a:ext cx="5500200" cy="1139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0" i="0" lang="en-US" sz="3100" u="none" cap="none" strike="noStrike">
                <a:solidFill>
                  <a:srgbClr val="000000"/>
                </a:solidFill>
                <a:latin typeface="Montserrat"/>
                <a:ea typeface="Montserrat"/>
                <a:cs typeface="Montserrat"/>
                <a:sym typeface="Montserrat"/>
              </a:rPr>
              <a:t>https://www.youtube.com/watch?v=pWw4UtQhdek</a:t>
            </a:r>
            <a:endParaRPr b="0" i="0" sz="3100" u="none" cap="none" strike="noStrike">
              <a:solidFill>
                <a:srgbClr val="000000"/>
              </a:solidFill>
              <a:latin typeface="Montserrat"/>
              <a:ea typeface="Montserrat"/>
              <a:cs typeface="Montserrat"/>
              <a:sym typeface="Montserrat"/>
            </a:endParaRPr>
          </a:p>
        </p:txBody>
      </p:sp>
      <p:sp>
        <p:nvSpPr>
          <p:cNvPr id="214" name="Google Shape;214;p3"/>
          <p:cNvSpPr txBox="1"/>
          <p:nvPr/>
        </p:nvSpPr>
        <p:spPr>
          <a:xfrm>
            <a:off x="11202425" y="6794675"/>
            <a:ext cx="56178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Montserrat"/>
                <a:ea typeface="Montserrat"/>
                <a:cs typeface="Montserrat"/>
                <a:sym typeface="Montserrat"/>
              </a:rPr>
              <a:t>https://github.com/getify/You-Dont-Know-JS</a:t>
            </a:r>
            <a:endParaRPr b="0" i="0" sz="3800" u="none" cap="none" strike="noStrike">
              <a:solidFill>
                <a:srgbClr val="000000"/>
              </a:solidFill>
              <a:latin typeface="Montserrat"/>
              <a:ea typeface="Montserrat"/>
              <a:cs typeface="Montserrat"/>
              <a:sym typeface="Montserrat"/>
            </a:endParaRPr>
          </a:p>
        </p:txBody>
      </p:sp>
      <p:pic>
        <p:nvPicPr>
          <p:cNvPr id="215" name="Google Shape;215;p3"/>
          <p:cNvPicPr preferRelativeResize="0"/>
          <p:nvPr/>
        </p:nvPicPr>
        <p:blipFill rotWithShape="1">
          <a:blip r:embed="rId5">
            <a:alphaModFix/>
          </a:blip>
          <a:srcRect b="0" l="0" r="0" t="0"/>
          <a:stretch/>
        </p:blipFill>
        <p:spPr>
          <a:xfrm>
            <a:off x="9429050" y="5193300"/>
            <a:ext cx="1108200" cy="1108200"/>
          </a:xfrm>
          <a:prstGeom prst="rect">
            <a:avLst/>
          </a:prstGeom>
          <a:noFill/>
          <a:ln>
            <a:noFill/>
          </a:ln>
        </p:spPr>
      </p:pic>
      <p:pic>
        <p:nvPicPr>
          <p:cNvPr id="216" name="Google Shape;216;p3"/>
          <p:cNvPicPr preferRelativeResize="0"/>
          <p:nvPr/>
        </p:nvPicPr>
        <p:blipFill rotWithShape="1">
          <a:blip r:embed="rId6">
            <a:alphaModFix/>
          </a:blip>
          <a:srcRect b="0" l="0" r="0" t="0"/>
          <a:stretch/>
        </p:blipFill>
        <p:spPr>
          <a:xfrm>
            <a:off x="9545972" y="7028525"/>
            <a:ext cx="874350" cy="874350"/>
          </a:xfrm>
          <a:prstGeom prst="rect">
            <a:avLst/>
          </a:prstGeom>
          <a:noFill/>
          <a:ln>
            <a:noFill/>
          </a:ln>
        </p:spPr>
      </p:pic>
      <p:sp>
        <p:nvSpPr>
          <p:cNvPr id="217" name="Google Shape;217;p3"/>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7">
              <a:alphaModFix/>
            </a:blip>
            <a:stretch>
              <a:fillRect b="0" l="0" r="0" t="0"/>
            </a:stretch>
          </a:blipFill>
          <a:ln>
            <a:noFill/>
          </a:ln>
        </p:spPr>
      </p:sp>
      <p:grpSp>
        <p:nvGrpSpPr>
          <p:cNvPr id="218" name="Google Shape;218;p3"/>
          <p:cNvGrpSpPr/>
          <p:nvPr/>
        </p:nvGrpSpPr>
        <p:grpSpPr>
          <a:xfrm>
            <a:off x="4680572" y="2890416"/>
            <a:ext cx="4934842" cy="1711797"/>
            <a:chOff x="-215867" y="-194448"/>
            <a:chExt cx="1299703" cy="528186"/>
          </a:xfrm>
        </p:grpSpPr>
        <p:sp>
          <p:nvSpPr>
            <p:cNvPr id="219" name="Google Shape;219;p3"/>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220" name="Google Shape;220;p3"/>
            <p:cNvSpPr txBox="1"/>
            <p:nvPr/>
          </p:nvSpPr>
          <p:spPr>
            <a:xfrm>
              <a:off x="-215867" y="-194448"/>
              <a:ext cx="969600" cy="4098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1" i="0" lang="en-US" sz="3299" u="none" cap="none" strike="noStrike">
                  <a:solidFill>
                    <a:srgbClr val="000000"/>
                  </a:solidFill>
                  <a:latin typeface="Arial"/>
                  <a:ea typeface="Arial"/>
                  <a:cs typeface="Arial"/>
                  <a:sym typeface="Arial"/>
                </a:rPr>
                <a:t>Foro 1</a:t>
              </a:r>
              <a:endParaRPr b="1" i="0" sz="1900" u="none" cap="none" strike="noStrike">
                <a:solidFill>
                  <a:srgbClr val="000000"/>
                </a:solidFill>
                <a:latin typeface="Arial"/>
                <a:ea typeface="Arial"/>
                <a:cs typeface="Arial"/>
                <a:sym typeface="Arial"/>
              </a:endParaRPr>
            </a:p>
          </p:txBody>
        </p:sp>
      </p:grpSp>
      <p:sp>
        <p:nvSpPr>
          <p:cNvPr id="221" name="Google Shape;221;p3"/>
          <p:cNvSpPr/>
          <p:nvPr/>
        </p:nvSpPr>
        <p:spPr>
          <a:xfrm>
            <a:off x="730600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4" title="Gemini_Generated_Image_sfb0qdsfb0qdsfb0.png"/>
          <p:cNvPicPr preferRelativeResize="0"/>
          <p:nvPr/>
        </p:nvPicPr>
        <p:blipFill rotWithShape="1">
          <a:blip r:embed="rId3">
            <a:alphaModFix/>
          </a:blip>
          <a:srcRect b="0" l="0" r="0" t="0"/>
          <a:stretch/>
        </p:blipFill>
        <p:spPr>
          <a:xfrm>
            <a:off x="-294425" y="3113989"/>
            <a:ext cx="5234360" cy="7173012"/>
          </a:xfrm>
          <a:prstGeom prst="rect">
            <a:avLst/>
          </a:prstGeom>
          <a:noFill/>
          <a:ln>
            <a:noFill/>
          </a:ln>
        </p:spPr>
      </p:pic>
      <p:sp>
        <p:nvSpPr>
          <p:cNvPr id="227" name="Google Shape;227;p4"/>
          <p:cNvSpPr txBox="1"/>
          <p:nvPr/>
        </p:nvSpPr>
        <p:spPr>
          <a:xfrm>
            <a:off x="2148439" y="2959639"/>
            <a:ext cx="13991100" cy="9387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 QUE DESARROLLAREMOS</a:t>
            </a:r>
            <a:endParaRPr b="0" i="0" sz="1400" u="none" cap="none" strike="noStrike">
              <a:solidFill>
                <a:srgbClr val="000000"/>
              </a:solidFill>
              <a:latin typeface="Impact"/>
              <a:ea typeface="Impact"/>
              <a:cs typeface="Impact"/>
              <a:sym typeface="Impact"/>
            </a:endParaRPr>
          </a:p>
        </p:txBody>
      </p:sp>
      <p:sp>
        <p:nvSpPr>
          <p:cNvPr id="228" name="Google Shape;228;p4"/>
          <p:cNvSpPr txBox="1"/>
          <p:nvPr/>
        </p:nvSpPr>
        <p:spPr>
          <a:xfrm>
            <a:off x="2457601" y="4207650"/>
            <a:ext cx="13372800" cy="18717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chemeClr val="dk1"/>
              </a:buClr>
              <a:buSzPts val="1100"/>
              <a:buFont typeface="Arial"/>
              <a:buNone/>
            </a:pPr>
            <a:r>
              <a:rPr b="0" i="0" lang="en-US" sz="3200" u="none" cap="none" strike="noStrike">
                <a:solidFill>
                  <a:schemeClr val="dk1"/>
                </a:solidFill>
                <a:latin typeface="Montserrat"/>
                <a:ea typeface="Montserrat"/>
                <a:cs typeface="Montserrat"/>
                <a:sym typeface="Montserrat"/>
              </a:rPr>
              <a:t>Comprender el funcionamiento del lenguaje de programación a través de su aplicación para la resolución de problemas relacionados con las fases del compilador.</a:t>
            </a:r>
            <a:endParaRPr b="0" i="0" sz="3200" u="none" cap="none" strike="noStrike">
              <a:solidFill>
                <a:schemeClr val="dk1"/>
              </a:solidFill>
              <a:latin typeface="Montserrat"/>
              <a:ea typeface="Montserrat"/>
              <a:cs typeface="Montserrat"/>
              <a:sym typeface="Montserrat"/>
            </a:endParaRPr>
          </a:p>
        </p:txBody>
      </p:sp>
      <p:sp>
        <p:nvSpPr>
          <p:cNvPr id="229" name="Google Shape;229;p4"/>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4">
              <a:alphaModFix/>
            </a:blip>
            <a:stretch>
              <a:fillRect b="0" l="0" r="0" t="0"/>
            </a:stretch>
          </a:blipFill>
          <a:ln>
            <a:noFill/>
          </a:ln>
        </p:spPr>
      </p:sp>
      <p:pic>
        <p:nvPicPr>
          <p:cNvPr id="230" name="Google Shape;230;p4"/>
          <p:cNvPicPr preferRelativeResize="0"/>
          <p:nvPr/>
        </p:nvPicPr>
        <p:blipFill rotWithShape="1">
          <a:blip r:embed="rId5">
            <a:alphaModFix/>
          </a:blip>
          <a:srcRect b="0" l="0" r="0" t="0"/>
          <a:stretch/>
        </p:blipFill>
        <p:spPr>
          <a:xfrm>
            <a:off x="13994300" y="7348525"/>
            <a:ext cx="4293699" cy="286386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5"/>
          <p:cNvSpPr txBox="1"/>
          <p:nvPr/>
        </p:nvSpPr>
        <p:spPr>
          <a:xfrm>
            <a:off x="1243950" y="3144100"/>
            <a:ext cx="16685700" cy="4457700"/>
          </a:xfrm>
          <a:prstGeom prst="rect">
            <a:avLst/>
          </a:prstGeom>
          <a:noFill/>
          <a:ln>
            <a:noFill/>
          </a:ln>
        </p:spPr>
        <p:txBody>
          <a:bodyPr anchorCtr="0" anchor="t" bIns="0" lIns="0" spcFirstLastPara="1" rIns="0" wrap="square" tIns="0">
            <a:spAutoFit/>
          </a:bodyPr>
          <a:lstStyle/>
          <a:p>
            <a:pPr indent="457200" lvl="0" marL="0" marR="0" rtl="0" algn="just">
              <a:lnSpc>
                <a:spcPct val="173070"/>
              </a:lnSpc>
              <a:spcBef>
                <a:spcPts val="0"/>
              </a:spcBef>
              <a:spcAft>
                <a:spcPts val="0"/>
              </a:spcAft>
              <a:buClr>
                <a:srgbClr val="000000"/>
              </a:buClr>
              <a:buSzPts val="3925"/>
              <a:buFont typeface="Arial"/>
              <a:buNone/>
            </a:pPr>
            <a:r>
              <a:rPr b="0" i="0" lang="en-US" sz="3000" u="none" cap="none" strike="noStrike">
                <a:solidFill>
                  <a:srgbClr val="131416"/>
                </a:solidFill>
                <a:latin typeface="Montserrat"/>
                <a:ea typeface="Montserrat"/>
                <a:cs typeface="Montserrat"/>
                <a:sym typeface="Montserrat"/>
              </a:rPr>
              <a:t>Un lenguaje de programación es un conjunto de reglas, símbolos y gramática que permite a los humanos comunicarse con las computadoras para darles instrucciones y que así puedan realizar tareas específicas. Es como un lenguaje hablado o escrito, pero diseñado para que las máquinas lo entiendan y ejecuten acciones de forma sistemática. Al igual que existen diversos lenguajes para los humanos, hay muchos tipos de lenguajes de programación, cada uno con aplicaciones específicas</a:t>
            </a:r>
            <a:endParaRPr b="0" i="0" sz="3000" u="none" cap="none" strike="noStrike">
              <a:solidFill>
                <a:srgbClr val="000000"/>
              </a:solidFill>
              <a:latin typeface="Montserrat"/>
              <a:ea typeface="Montserrat"/>
              <a:cs typeface="Montserrat"/>
              <a:sym typeface="Montserrat"/>
            </a:endParaRPr>
          </a:p>
        </p:txBody>
      </p:sp>
      <p:sp>
        <p:nvSpPr>
          <p:cNvPr id="236" name="Google Shape;236;p5"/>
          <p:cNvSpPr txBox="1"/>
          <p:nvPr/>
        </p:nvSpPr>
        <p:spPr>
          <a:xfrm>
            <a:off x="1130250" y="844875"/>
            <a:ext cx="9539100" cy="19992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¿Qué son los lenguajes de Programación?</a:t>
            </a:r>
            <a:endParaRPr b="0" i="0" sz="1400" u="none" cap="none" strike="noStrike">
              <a:solidFill>
                <a:srgbClr val="000000"/>
              </a:solidFill>
              <a:latin typeface="Impact"/>
              <a:ea typeface="Impact"/>
              <a:cs typeface="Impact"/>
              <a:sym typeface="Impact"/>
            </a:endParaRPr>
          </a:p>
        </p:txBody>
      </p:sp>
      <p:sp>
        <p:nvSpPr>
          <p:cNvPr id="237" name="Google Shape;237;p5"/>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238" name="Google Shape;238;p5"/>
          <p:cNvPicPr preferRelativeResize="0"/>
          <p:nvPr/>
        </p:nvPicPr>
        <p:blipFill rotWithShape="1">
          <a:blip r:embed="rId4">
            <a:alphaModFix/>
          </a:blip>
          <a:srcRect b="0" l="0" r="0" t="0"/>
          <a:stretch/>
        </p:blipFill>
        <p:spPr>
          <a:xfrm>
            <a:off x="13527200" y="7906600"/>
            <a:ext cx="4760800" cy="2380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6"/>
          <p:cNvSpPr txBox="1"/>
          <p:nvPr/>
        </p:nvSpPr>
        <p:spPr>
          <a:xfrm>
            <a:off x="1182150" y="2226250"/>
            <a:ext cx="9435300" cy="7402200"/>
          </a:xfrm>
          <a:prstGeom prst="rect">
            <a:avLst/>
          </a:prstGeom>
          <a:noFill/>
          <a:ln>
            <a:noFill/>
          </a:ln>
        </p:spPr>
        <p:txBody>
          <a:bodyPr anchorCtr="0" anchor="t" bIns="0" lIns="0" spcFirstLastPara="1" rIns="0" wrap="square" tIns="0">
            <a:spAutoFit/>
          </a:bodyPr>
          <a:lstStyle/>
          <a:p>
            <a:pPr indent="457200" lvl="0" marL="0" marR="0" rtl="0" algn="just">
              <a:lnSpc>
                <a:spcPct val="173070"/>
              </a:lnSpc>
              <a:spcBef>
                <a:spcPts val="0"/>
              </a:spcBef>
              <a:spcAft>
                <a:spcPts val="0"/>
              </a:spcAft>
              <a:buClr>
                <a:schemeClr val="dk1"/>
              </a:buClr>
              <a:buSzPts val="1100"/>
              <a:buFont typeface="Arial"/>
              <a:buNone/>
            </a:pPr>
            <a:r>
              <a:rPr b="0" i="0" lang="en-US" sz="2400" u="none" cap="none" strike="noStrike">
                <a:solidFill>
                  <a:srgbClr val="131416"/>
                </a:solidFill>
                <a:latin typeface="Montserrat"/>
                <a:ea typeface="Montserrat"/>
                <a:cs typeface="Montserrat"/>
                <a:sym typeface="Montserrat"/>
              </a:rPr>
              <a:t>La historia de los lenguajes de programación comienza con el telar de Jacquard en 1801, y Ada Lovelace es conocida como la primera programadora por escribir instrucciones para la máquina de Charles Babbage. La era moderna de la programación comenzó en los años 40 con el lenguaje máquina, seguido por el primer lenguaje de alto nivel, Fortran, en 1957. Otros hitos importantes incluyen COBOL para transacciones financieras en 1959, C y C++ en los años 70 y 80 para sistemas y aplicaciones, y lenguajes más modernos como Python y Java en los años 90 para una variedad de usos.</a:t>
            </a:r>
            <a:endParaRPr b="0" i="0" sz="2400" u="none" cap="none" strike="noStrike">
              <a:solidFill>
                <a:srgbClr val="131416"/>
              </a:solidFill>
              <a:latin typeface="Montserrat"/>
              <a:ea typeface="Montserrat"/>
              <a:cs typeface="Montserrat"/>
              <a:sym typeface="Montserrat"/>
            </a:endParaRPr>
          </a:p>
          <a:p>
            <a:pPr indent="457200" lvl="0" marL="0" marR="0" rtl="0" algn="just">
              <a:lnSpc>
                <a:spcPct val="173070"/>
              </a:lnSpc>
              <a:spcBef>
                <a:spcPts val="0"/>
              </a:spcBef>
              <a:spcAft>
                <a:spcPts val="0"/>
              </a:spcAft>
              <a:buClr>
                <a:srgbClr val="000000"/>
              </a:buClr>
              <a:buSzPts val="3925"/>
              <a:buFont typeface="Arial"/>
              <a:buNone/>
            </a:pPr>
            <a:r>
              <a:t/>
            </a:r>
            <a:endParaRPr b="0" i="0" sz="2400" u="none" cap="none" strike="noStrike">
              <a:solidFill>
                <a:srgbClr val="131416"/>
              </a:solidFill>
              <a:latin typeface="Montserrat"/>
              <a:ea typeface="Montserrat"/>
              <a:cs typeface="Montserrat"/>
              <a:sym typeface="Montserrat"/>
            </a:endParaRPr>
          </a:p>
        </p:txBody>
      </p:sp>
      <p:sp>
        <p:nvSpPr>
          <p:cNvPr id="244" name="Google Shape;244;p6"/>
          <p:cNvSpPr txBox="1"/>
          <p:nvPr/>
        </p:nvSpPr>
        <p:spPr>
          <a:xfrm>
            <a:off x="1130250" y="844875"/>
            <a:ext cx="9539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Breve Historia</a:t>
            </a:r>
            <a:endParaRPr b="0" i="0" sz="1400" u="none" cap="none" strike="noStrike">
              <a:solidFill>
                <a:srgbClr val="000000"/>
              </a:solidFill>
              <a:latin typeface="Impact"/>
              <a:ea typeface="Impact"/>
              <a:cs typeface="Impact"/>
              <a:sym typeface="Impact"/>
            </a:endParaRPr>
          </a:p>
        </p:txBody>
      </p:sp>
      <p:pic>
        <p:nvPicPr>
          <p:cNvPr id="245" name="Google Shape;245;p6"/>
          <p:cNvPicPr preferRelativeResize="0"/>
          <p:nvPr/>
        </p:nvPicPr>
        <p:blipFill rotWithShape="1">
          <a:blip r:embed="rId3">
            <a:alphaModFix/>
          </a:blip>
          <a:srcRect b="0" l="0" r="0" t="0"/>
          <a:stretch/>
        </p:blipFill>
        <p:spPr>
          <a:xfrm>
            <a:off x="10835650" y="2957750"/>
            <a:ext cx="7365751" cy="4910501"/>
          </a:xfrm>
          <a:prstGeom prst="rect">
            <a:avLst/>
          </a:prstGeom>
          <a:noFill/>
          <a:ln>
            <a:noFill/>
          </a:ln>
        </p:spPr>
      </p:pic>
      <p:sp>
        <p:nvSpPr>
          <p:cNvPr id="246" name="Google Shape;246;p6"/>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7"/>
          <p:cNvSpPr txBox="1"/>
          <p:nvPr/>
        </p:nvSpPr>
        <p:spPr>
          <a:xfrm>
            <a:off x="1009025" y="2045000"/>
            <a:ext cx="9836700" cy="7371600"/>
          </a:xfrm>
          <a:prstGeom prst="rect">
            <a:avLst/>
          </a:prstGeom>
          <a:noFill/>
          <a:ln>
            <a:noFill/>
          </a:ln>
        </p:spPr>
        <p:txBody>
          <a:bodyPr anchorCtr="0" anchor="t" bIns="0" lIns="0" spcFirstLastPara="1" rIns="0" wrap="square" tIns="0">
            <a:spAutoFit/>
          </a:bodyPr>
          <a:lstStyle/>
          <a:p>
            <a:pPr indent="457200" lvl="0" marL="0" marR="0" rtl="0" algn="l">
              <a:lnSpc>
                <a:spcPct val="173070"/>
              </a:lnSpc>
              <a:spcBef>
                <a:spcPts val="0"/>
              </a:spcBef>
              <a:spcAft>
                <a:spcPts val="0"/>
              </a:spcAft>
              <a:buClr>
                <a:schemeClr val="dk1"/>
              </a:buClr>
              <a:buSzPts val="1100"/>
              <a:buFont typeface="Arial"/>
              <a:buNone/>
            </a:pPr>
            <a:r>
              <a:rPr b="1" i="0" lang="en-US" sz="2200" u="none" cap="none" strike="noStrike">
                <a:solidFill>
                  <a:schemeClr val="dk1"/>
                </a:solidFill>
                <a:latin typeface="Montserrat"/>
                <a:ea typeface="Montserrat"/>
                <a:cs typeface="Montserrat"/>
                <a:sym typeface="Montserrat"/>
              </a:rPr>
              <a:t>Sintaxis:</a:t>
            </a:r>
            <a:r>
              <a:rPr b="0" i="0" lang="en-US" sz="2200" u="none" cap="none" strike="noStrike">
                <a:solidFill>
                  <a:schemeClr val="dk1"/>
                </a:solidFill>
                <a:latin typeface="Montserrat"/>
                <a:ea typeface="Montserrat"/>
                <a:cs typeface="Montserrat"/>
                <a:sym typeface="Montserrat"/>
              </a:rPr>
              <a:t> Es el conjunto de reglas y estructura específicas que define cómo se deben escribir las instrucciones. Es similar a la gramática en un lenguaje natural.</a:t>
            </a:r>
            <a:endParaRPr b="0" i="0" sz="2200" u="none" cap="none" strike="noStrike">
              <a:solidFill>
                <a:schemeClr val="dk1"/>
              </a:solidFill>
              <a:latin typeface="Montserrat"/>
              <a:ea typeface="Montserrat"/>
              <a:cs typeface="Montserrat"/>
              <a:sym typeface="Montserrat"/>
            </a:endParaRPr>
          </a:p>
          <a:p>
            <a:pPr indent="457200" lvl="0" marL="0" marR="0" rtl="0" algn="l">
              <a:lnSpc>
                <a:spcPct val="173070"/>
              </a:lnSpc>
              <a:spcBef>
                <a:spcPts val="0"/>
              </a:spcBef>
              <a:spcAft>
                <a:spcPts val="0"/>
              </a:spcAft>
              <a:buClr>
                <a:schemeClr val="dk1"/>
              </a:buClr>
              <a:buSzPts val="1100"/>
              <a:buFont typeface="Arial"/>
              <a:buNone/>
            </a:pPr>
            <a:r>
              <a:rPr b="1" i="0" lang="en-US" sz="2200" u="none" cap="none" strike="noStrike">
                <a:solidFill>
                  <a:schemeClr val="dk1"/>
                </a:solidFill>
                <a:latin typeface="Montserrat"/>
                <a:ea typeface="Montserrat"/>
                <a:cs typeface="Montserrat"/>
                <a:sym typeface="Montserrat"/>
              </a:rPr>
              <a:t>Semántica:</a:t>
            </a:r>
            <a:r>
              <a:rPr b="0" i="0" lang="en-US" sz="2200" u="none" cap="none" strike="noStrike">
                <a:solidFill>
                  <a:schemeClr val="dk1"/>
                </a:solidFill>
                <a:latin typeface="Montserrat"/>
                <a:ea typeface="Montserrat"/>
                <a:cs typeface="Montserrat"/>
                <a:sym typeface="Montserrat"/>
              </a:rPr>
              <a:t> Se refiere al significado de las instrucciones. Un código sintácticamente correcto debe tener un significado válido para la máquina.</a:t>
            </a:r>
            <a:endParaRPr b="0" i="0" sz="2200" u="none" cap="none" strike="noStrike">
              <a:solidFill>
                <a:schemeClr val="dk1"/>
              </a:solidFill>
              <a:latin typeface="Montserrat"/>
              <a:ea typeface="Montserrat"/>
              <a:cs typeface="Montserrat"/>
              <a:sym typeface="Montserrat"/>
            </a:endParaRPr>
          </a:p>
          <a:p>
            <a:pPr indent="457200" lvl="0" marL="0" marR="0" rtl="0" algn="l">
              <a:lnSpc>
                <a:spcPct val="173070"/>
              </a:lnSpc>
              <a:spcBef>
                <a:spcPts val="0"/>
              </a:spcBef>
              <a:spcAft>
                <a:spcPts val="0"/>
              </a:spcAft>
              <a:buClr>
                <a:schemeClr val="dk1"/>
              </a:buClr>
              <a:buSzPts val="1100"/>
              <a:buFont typeface="Arial"/>
              <a:buNone/>
            </a:pPr>
            <a:r>
              <a:rPr b="1" i="0" lang="en-US" sz="2200" u="none" cap="none" strike="noStrike">
                <a:solidFill>
                  <a:schemeClr val="dk1"/>
                </a:solidFill>
                <a:latin typeface="Montserrat"/>
                <a:ea typeface="Montserrat"/>
                <a:cs typeface="Montserrat"/>
                <a:sym typeface="Montserrat"/>
              </a:rPr>
              <a:t>Tipos de Datos:</a:t>
            </a:r>
            <a:r>
              <a:rPr b="0" i="0" lang="en-US" sz="2200" u="none" cap="none" strike="noStrike">
                <a:solidFill>
                  <a:schemeClr val="dk1"/>
                </a:solidFill>
                <a:latin typeface="Montserrat"/>
                <a:ea typeface="Montserrat"/>
                <a:cs typeface="Montserrat"/>
                <a:sym typeface="Montserrat"/>
              </a:rPr>
              <a:t> Permiten definir los diferentes tipos de valores que se pueden almacenar y manipular, como números enteros, números decimales, cadenas de texto (strings) y valores booleanos (verdadero/falso).</a:t>
            </a:r>
            <a:endParaRPr b="0" i="0" sz="2200" u="none" cap="none" strike="noStrike">
              <a:solidFill>
                <a:schemeClr val="dk1"/>
              </a:solidFill>
              <a:latin typeface="Montserrat"/>
              <a:ea typeface="Montserrat"/>
              <a:cs typeface="Montserrat"/>
              <a:sym typeface="Montserrat"/>
            </a:endParaRPr>
          </a:p>
          <a:p>
            <a:pPr indent="457200" lvl="0" marL="0" marR="0" rtl="0" algn="l">
              <a:lnSpc>
                <a:spcPct val="173070"/>
              </a:lnSpc>
              <a:spcBef>
                <a:spcPts val="0"/>
              </a:spcBef>
              <a:spcAft>
                <a:spcPts val="0"/>
              </a:spcAft>
              <a:buClr>
                <a:schemeClr val="dk1"/>
              </a:buClr>
              <a:buSzPts val="1100"/>
              <a:buFont typeface="Arial"/>
              <a:buNone/>
            </a:pPr>
            <a:r>
              <a:rPr b="1" i="0" lang="en-US" sz="2200" u="none" cap="none" strike="noStrike">
                <a:solidFill>
                  <a:schemeClr val="dk1"/>
                </a:solidFill>
                <a:latin typeface="Montserrat"/>
                <a:ea typeface="Montserrat"/>
                <a:cs typeface="Montserrat"/>
                <a:sym typeface="Montserrat"/>
              </a:rPr>
              <a:t>Variables y Constantes:</a:t>
            </a:r>
            <a:r>
              <a:rPr b="0" i="0" lang="en-US" sz="2200" u="none" cap="none" strike="noStrike">
                <a:solidFill>
                  <a:schemeClr val="dk1"/>
                </a:solidFill>
                <a:latin typeface="Montserrat"/>
                <a:ea typeface="Montserrat"/>
                <a:cs typeface="Montserrat"/>
                <a:sym typeface="Montserrat"/>
              </a:rPr>
              <a:t> Son espacios de memoria con nombre utilizados para almacenar datos que pueden cambiar (variables) o permanecer fijos (constantes) durante la ejecución del programa.</a:t>
            </a:r>
            <a:endParaRPr b="0" i="0" sz="3000" u="none" cap="none" strike="noStrike">
              <a:solidFill>
                <a:srgbClr val="131416"/>
              </a:solidFill>
              <a:latin typeface="Montserrat"/>
              <a:ea typeface="Montserrat"/>
              <a:cs typeface="Montserrat"/>
              <a:sym typeface="Montserrat"/>
            </a:endParaRPr>
          </a:p>
        </p:txBody>
      </p:sp>
      <p:sp>
        <p:nvSpPr>
          <p:cNvPr id="252" name="Google Shape;252;p7"/>
          <p:cNvSpPr txBox="1"/>
          <p:nvPr/>
        </p:nvSpPr>
        <p:spPr>
          <a:xfrm>
            <a:off x="1009025" y="844875"/>
            <a:ext cx="9539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Características Principales</a:t>
            </a:r>
            <a:endParaRPr b="0" i="0" sz="1400" u="none" cap="none" strike="noStrike">
              <a:solidFill>
                <a:srgbClr val="000000"/>
              </a:solidFill>
              <a:latin typeface="Impact"/>
              <a:ea typeface="Impact"/>
              <a:cs typeface="Impact"/>
              <a:sym typeface="Impact"/>
            </a:endParaRPr>
          </a:p>
        </p:txBody>
      </p:sp>
      <p:sp>
        <p:nvSpPr>
          <p:cNvPr id="253" name="Google Shape;253;p7"/>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254" name="Google Shape;254;p7"/>
          <p:cNvPicPr preferRelativeResize="0"/>
          <p:nvPr/>
        </p:nvPicPr>
        <p:blipFill rotWithShape="1">
          <a:blip r:embed="rId4">
            <a:alphaModFix/>
          </a:blip>
          <a:srcRect b="0" l="0" r="0" t="0"/>
          <a:stretch/>
        </p:blipFill>
        <p:spPr>
          <a:xfrm>
            <a:off x="11029750" y="3454555"/>
            <a:ext cx="6828750" cy="4552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8"/>
          <p:cNvSpPr txBox="1"/>
          <p:nvPr/>
        </p:nvSpPr>
        <p:spPr>
          <a:xfrm>
            <a:off x="860225" y="2824325"/>
            <a:ext cx="9836700" cy="5613300"/>
          </a:xfrm>
          <a:prstGeom prst="rect">
            <a:avLst/>
          </a:prstGeom>
          <a:noFill/>
          <a:ln>
            <a:noFill/>
          </a:ln>
        </p:spPr>
        <p:txBody>
          <a:bodyPr anchorCtr="0" anchor="ctr" bIns="0" lIns="0" spcFirstLastPara="1" rIns="0" wrap="square" tIns="0">
            <a:noAutofit/>
          </a:bodyPr>
          <a:lstStyle/>
          <a:p>
            <a:pPr indent="457200" lvl="0" marL="0" marR="0" rtl="0" algn="l">
              <a:lnSpc>
                <a:spcPct val="173070"/>
              </a:lnSpc>
              <a:spcBef>
                <a:spcPts val="0"/>
              </a:spcBef>
              <a:spcAft>
                <a:spcPts val="0"/>
              </a:spcAft>
              <a:buClr>
                <a:schemeClr val="dk1"/>
              </a:buClr>
              <a:buSzPts val="1100"/>
              <a:buFont typeface="Arial"/>
              <a:buNone/>
            </a:pPr>
            <a:r>
              <a:rPr b="1" i="0" lang="en-US" sz="2200" u="none" cap="none" strike="noStrike">
                <a:solidFill>
                  <a:schemeClr val="dk1"/>
                </a:solidFill>
                <a:latin typeface="Montserrat"/>
                <a:ea typeface="Montserrat"/>
                <a:cs typeface="Montserrat"/>
                <a:sym typeface="Montserrat"/>
              </a:rPr>
              <a:t>Estructuras de Control:</a:t>
            </a:r>
            <a:r>
              <a:rPr b="0" i="0" lang="en-US" sz="2200" u="none" cap="none" strike="noStrike">
                <a:solidFill>
                  <a:schemeClr val="dk1"/>
                </a:solidFill>
                <a:latin typeface="Montserrat"/>
                <a:ea typeface="Montserrat"/>
                <a:cs typeface="Montserrat"/>
                <a:sym typeface="Montserrat"/>
              </a:rPr>
              <a:t> Incluyen condicionales (instrucciones que se ejecutan sólo si se cumple una condición) y bucles (instrucciones que se repiten un número determinado de veces o hasta que se cumpla una condición), lo que permite controlar el flujo del programa.</a:t>
            </a:r>
            <a:endParaRPr b="0" i="0" sz="2200" u="none" cap="none" strike="noStrike">
              <a:solidFill>
                <a:schemeClr val="dk1"/>
              </a:solidFill>
              <a:latin typeface="Montserrat"/>
              <a:ea typeface="Montserrat"/>
              <a:cs typeface="Montserrat"/>
              <a:sym typeface="Montserrat"/>
            </a:endParaRPr>
          </a:p>
          <a:p>
            <a:pPr indent="457200" lvl="0" marL="0" marR="0" rtl="0" algn="l">
              <a:lnSpc>
                <a:spcPct val="173070"/>
              </a:lnSpc>
              <a:spcBef>
                <a:spcPts val="0"/>
              </a:spcBef>
              <a:spcAft>
                <a:spcPts val="0"/>
              </a:spcAft>
              <a:buClr>
                <a:schemeClr val="dk1"/>
              </a:buClr>
              <a:buSzPts val="1100"/>
              <a:buFont typeface="Arial"/>
              <a:buNone/>
            </a:pPr>
            <a:r>
              <a:rPr b="1" i="0" lang="en-US" sz="2200" u="none" cap="none" strike="noStrike">
                <a:solidFill>
                  <a:schemeClr val="dk1"/>
                </a:solidFill>
                <a:latin typeface="Montserrat"/>
                <a:ea typeface="Montserrat"/>
                <a:cs typeface="Montserrat"/>
                <a:sym typeface="Montserrat"/>
              </a:rPr>
              <a:t>Funciones/Procedimientos:</a:t>
            </a:r>
            <a:r>
              <a:rPr b="0" i="0" lang="en-US" sz="2200" u="none" cap="none" strike="noStrike">
                <a:solidFill>
                  <a:schemeClr val="dk1"/>
                </a:solidFill>
                <a:latin typeface="Montserrat"/>
                <a:ea typeface="Montserrat"/>
                <a:cs typeface="Montserrat"/>
                <a:sym typeface="Montserrat"/>
              </a:rPr>
              <a:t> Son bloques de código reutilizables que realizan una tarea específica, lo que ayuda a modularizar el programa y hacerlo más manejable.</a:t>
            </a:r>
            <a:endParaRPr b="0" i="0" sz="2200" u="none" cap="none" strike="noStrike">
              <a:solidFill>
                <a:schemeClr val="dk1"/>
              </a:solidFill>
              <a:latin typeface="Montserrat"/>
              <a:ea typeface="Montserrat"/>
              <a:cs typeface="Montserrat"/>
              <a:sym typeface="Montserrat"/>
            </a:endParaRPr>
          </a:p>
          <a:p>
            <a:pPr indent="457200" lvl="0" marL="0" marR="0" rtl="0" algn="l">
              <a:lnSpc>
                <a:spcPct val="173070"/>
              </a:lnSpc>
              <a:spcBef>
                <a:spcPts val="0"/>
              </a:spcBef>
              <a:spcAft>
                <a:spcPts val="0"/>
              </a:spcAft>
              <a:buClr>
                <a:schemeClr val="dk1"/>
              </a:buClr>
              <a:buSzPts val="3925"/>
              <a:buFont typeface="Arial"/>
              <a:buNone/>
            </a:pPr>
            <a:r>
              <a:rPr b="1" i="0" lang="en-US" sz="2200" u="none" cap="none" strike="noStrike">
                <a:solidFill>
                  <a:schemeClr val="dk1"/>
                </a:solidFill>
                <a:latin typeface="Montserrat"/>
                <a:ea typeface="Montserrat"/>
                <a:cs typeface="Montserrat"/>
                <a:sym typeface="Montserrat"/>
              </a:rPr>
              <a:t>Palabras Reservadas:</a:t>
            </a:r>
            <a:r>
              <a:rPr b="0" i="0" lang="en-US" sz="2200" u="none" cap="none" strike="noStrike">
                <a:solidFill>
                  <a:schemeClr val="dk1"/>
                </a:solidFill>
                <a:latin typeface="Montserrat"/>
                <a:ea typeface="Montserrat"/>
                <a:cs typeface="Montserrat"/>
                <a:sym typeface="Montserrat"/>
              </a:rPr>
              <a:t> Son identificadores predefinidos que tienen un significado especial en el lenguaje y no pueden ser utilizados como nombres de variables o funciones.</a:t>
            </a:r>
            <a:endParaRPr b="1" i="0" sz="2200" u="none" cap="none" strike="noStrike">
              <a:solidFill>
                <a:schemeClr val="dk1"/>
              </a:solidFill>
              <a:latin typeface="Montserrat"/>
              <a:ea typeface="Montserrat"/>
              <a:cs typeface="Montserrat"/>
              <a:sym typeface="Montserrat"/>
            </a:endParaRPr>
          </a:p>
        </p:txBody>
      </p:sp>
      <p:sp>
        <p:nvSpPr>
          <p:cNvPr id="260" name="Google Shape;260;p8"/>
          <p:cNvSpPr txBox="1"/>
          <p:nvPr/>
        </p:nvSpPr>
        <p:spPr>
          <a:xfrm>
            <a:off x="1009025" y="844875"/>
            <a:ext cx="9539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Características Principales</a:t>
            </a:r>
            <a:endParaRPr b="0" i="0" sz="1400" u="none" cap="none" strike="noStrike">
              <a:solidFill>
                <a:srgbClr val="000000"/>
              </a:solidFill>
              <a:latin typeface="Impact"/>
              <a:ea typeface="Impact"/>
              <a:cs typeface="Impact"/>
              <a:sym typeface="Impact"/>
            </a:endParaRPr>
          </a:p>
        </p:txBody>
      </p:sp>
      <p:sp>
        <p:nvSpPr>
          <p:cNvPr id="261" name="Google Shape;261;p8"/>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262" name="Google Shape;262;p8"/>
          <p:cNvPicPr preferRelativeResize="0"/>
          <p:nvPr/>
        </p:nvPicPr>
        <p:blipFill rotWithShape="1">
          <a:blip r:embed="rId4">
            <a:alphaModFix/>
          </a:blip>
          <a:srcRect b="0" l="0" r="0" t="0"/>
          <a:stretch/>
        </p:blipFill>
        <p:spPr>
          <a:xfrm>
            <a:off x="11099025" y="3354730"/>
            <a:ext cx="6828750" cy="4552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9"/>
          <p:cNvSpPr txBox="1"/>
          <p:nvPr/>
        </p:nvSpPr>
        <p:spPr>
          <a:xfrm>
            <a:off x="860225" y="2824325"/>
            <a:ext cx="9836700" cy="4729200"/>
          </a:xfrm>
          <a:prstGeom prst="rect">
            <a:avLst/>
          </a:prstGeom>
          <a:noFill/>
          <a:ln>
            <a:noFill/>
          </a:ln>
        </p:spPr>
        <p:txBody>
          <a:bodyPr anchorCtr="0" anchor="ctr" bIns="0" lIns="0" spcFirstLastPara="1" rIns="0" wrap="square" tIns="0">
            <a:noAutofit/>
          </a:bodyPr>
          <a:lstStyle/>
          <a:p>
            <a:pPr indent="457200" lvl="0" marL="0" marR="0" rtl="0" algn="ctr">
              <a:lnSpc>
                <a:spcPct val="173070"/>
              </a:lnSpc>
              <a:spcBef>
                <a:spcPts val="0"/>
              </a:spcBef>
              <a:spcAft>
                <a:spcPts val="0"/>
              </a:spcAft>
              <a:buClr>
                <a:schemeClr val="dk1"/>
              </a:buClr>
              <a:buSzPts val="1100"/>
              <a:buFont typeface="Arial"/>
              <a:buNone/>
            </a:pPr>
            <a:r>
              <a:rPr b="1" i="0" lang="en-US" sz="3000" u="none" cap="none" strike="noStrike">
                <a:solidFill>
                  <a:schemeClr val="dk1"/>
                </a:solidFill>
                <a:latin typeface="Montserrat"/>
                <a:ea typeface="Montserrat"/>
                <a:cs typeface="Montserrat"/>
                <a:sym typeface="Montserrat"/>
              </a:rPr>
              <a:t>Desarrollo Web</a:t>
            </a:r>
            <a:endParaRPr b="1" i="0" sz="3000" u="none" cap="none" strike="noStrike">
              <a:solidFill>
                <a:schemeClr val="dk1"/>
              </a:solidFill>
              <a:latin typeface="Montserrat"/>
              <a:ea typeface="Montserrat"/>
              <a:cs typeface="Montserrat"/>
              <a:sym typeface="Montserrat"/>
            </a:endParaRPr>
          </a:p>
          <a:p>
            <a:pPr indent="-393700" lvl="0" marL="457200" marR="0" rtl="0" algn="l">
              <a:lnSpc>
                <a:spcPct val="115000"/>
              </a:lnSpc>
              <a:spcBef>
                <a:spcPts val="1200"/>
              </a:spcBef>
              <a:spcAft>
                <a:spcPts val="0"/>
              </a:spcAft>
              <a:buClr>
                <a:schemeClr val="dk1"/>
              </a:buClr>
              <a:buSzPts val="2600"/>
              <a:buFont typeface="Arial"/>
              <a:buChar char="●"/>
            </a:pPr>
            <a:r>
              <a:rPr b="1" i="0" lang="en-US" sz="2600" u="none" cap="none" strike="noStrike">
                <a:solidFill>
                  <a:schemeClr val="dk1"/>
                </a:solidFill>
                <a:latin typeface="Montserrat"/>
                <a:ea typeface="Montserrat"/>
                <a:cs typeface="Montserrat"/>
                <a:sym typeface="Montserrat"/>
              </a:rPr>
              <a:t>Frontend (interfaz de usuario):</a:t>
            </a:r>
            <a:r>
              <a:rPr b="0" i="0" lang="en-US" sz="2600" u="none" cap="none" strike="noStrike">
                <a:solidFill>
                  <a:schemeClr val="dk1"/>
                </a:solidFill>
                <a:latin typeface="Montserrat"/>
                <a:ea typeface="Montserrat"/>
                <a:cs typeface="Montserrat"/>
                <a:sym typeface="Montserrat"/>
              </a:rPr>
              <a:t> Creación de la parte visible e interactiva de los sitios web (con lenguajes como JavaScript, HTML y CSS).</a:t>
            </a:r>
            <a:endParaRPr b="0" i="0" sz="2600" u="none" cap="none" strike="noStrike">
              <a:solidFill>
                <a:schemeClr val="dk1"/>
              </a:solidFill>
              <a:latin typeface="Montserrat"/>
              <a:ea typeface="Montserrat"/>
              <a:cs typeface="Montserrat"/>
              <a:sym typeface="Montserrat"/>
            </a:endParaRPr>
          </a:p>
          <a:p>
            <a:pPr indent="-393700" lvl="0" marL="457200" marR="0" rtl="0" algn="l">
              <a:lnSpc>
                <a:spcPct val="115000"/>
              </a:lnSpc>
              <a:spcBef>
                <a:spcPts val="0"/>
              </a:spcBef>
              <a:spcAft>
                <a:spcPts val="0"/>
              </a:spcAft>
              <a:buClr>
                <a:schemeClr val="dk1"/>
              </a:buClr>
              <a:buSzPts val="2600"/>
              <a:buFont typeface="Arial"/>
              <a:buChar char="●"/>
            </a:pPr>
            <a:r>
              <a:rPr b="1" i="0" lang="en-US" sz="2600" u="none" cap="none" strike="noStrike">
                <a:solidFill>
                  <a:schemeClr val="dk1"/>
                </a:solidFill>
                <a:latin typeface="Montserrat"/>
                <a:ea typeface="Montserrat"/>
                <a:cs typeface="Montserrat"/>
                <a:sym typeface="Montserrat"/>
              </a:rPr>
              <a:t>Backend (servidor):</a:t>
            </a:r>
            <a:r>
              <a:rPr b="0" i="0" lang="en-US" sz="2600" u="none" cap="none" strike="noStrike">
                <a:solidFill>
                  <a:schemeClr val="dk1"/>
                </a:solidFill>
                <a:latin typeface="Montserrat"/>
                <a:ea typeface="Montserrat"/>
                <a:cs typeface="Montserrat"/>
                <a:sym typeface="Montserrat"/>
              </a:rPr>
              <a:t> Gestión de la lógica del servidor, bases de datos y autenticación de usuarios (con lenguajes como Python, Java, JavaScript con Node.js, y Ruby).</a:t>
            </a:r>
            <a:endParaRPr b="1" i="0" sz="2600" u="none" cap="none" strike="noStrike">
              <a:solidFill>
                <a:schemeClr val="dk1"/>
              </a:solidFill>
              <a:latin typeface="Montserrat"/>
              <a:ea typeface="Montserrat"/>
              <a:cs typeface="Montserrat"/>
              <a:sym typeface="Montserrat"/>
            </a:endParaRPr>
          </a:p>
        </p:txBody>
      </p:sp>
      <p:sp>
        <p:nvSpPr>
          <p:cNvPr id="268" name="Google Shape;268;p9"/>
          <p:cNvSpPr txBox="1"/>
          <p:nvPr/>
        </p:nvSpPr>
        <p:spPr>
          <a:xfrm>
            <a:off x="1009025" y="844875"/>
            <a:ext cx="9539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Principales Usos</a:t>
            </a:r>
            <a:endParaRPr b="0" i="0" sz="1400" u="none" cap="none" strike="noStrike">
              <a:solidFill>
                <a:srgbClr val="000000"/>
              </a:solidFill>
              <a:latin typeface="Impact"/>
              <a:ea typeface="Impact"/>
              <a:cs typeface="Impact"/>
              <a:sym typeface="Impact"/>
            </a:endParaRPr>
          </a:p>
        </p:txBody>
      </p:sp>
      <p:sp>
        <p:nvSpPr>
          <p:cNvPr id="269" name="Google Shape;269;p9"/>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270" name="Google Shape;270;p9"/>
          <p:cNvPicPr preferRelativeResize="0"/>
          <p:nvPr/>
        </p:nvPicPr>
        <p:blipFill rotWithShape="1">
          <a:blip r:embed="rId4">
            <a:alphaModFix/>
          </a:blip>
          <a:srcRect b="0" l="0" r="0" t="0"/>
          <a:stretch/>
        </p:blipFill>
        <p:spPr>
          <a:xfrm>
            <a:off x="10901275" y="2175905"/>
            <a:ext cx="6896100" cy="685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0"/>
          <p:cNvSpPr txBox="1"/>
          <p:nvPr/>
        </p:nvSpPr>
        <p:spPr>
          <a:xfrm>
            <a:off x="860225" y="2897975"/>
            <a:ext cx="9836700" cy="5157900"/>
          </a:xfrm>
          <a:prstGeom prst="rect">
            <a:avLst/>
          </a:prstGeom>
          <a:noFill/>
          <a:ln>
            <a:noFill/>
          </a:ln>
        </p:spPr>
        <p:txBody>
          <a:bodyPr anchorCtr="0" anchor="ctr" bIns="0" lIns="0" spcFirstLastPara="1" rIns="0" wrap="square" tIns="0">
            <a:noAutofit/>
          </a:bodyPr>
          <a:lstStyle/>
          <a:p>
            <a:pPr indent="-228600" lvl="0" marL="457200" marR="0" rtl="0" algn="ctr">
              <a:lnSpc>
                <a:spcPct val="115000"/>
              </a:lnSpc>
              <a:spcBef>
                <a:spcPts val="1200"/>
              </a:spcBef>
              <a:spcAft>
                <a:spcPts val="0"/>
              </a:spcAft>
              <a:buClr>
                <a:srgbClr val="000000"/>
              </a:buClr>
              <a:buSzPts val="2600"/>
              <a:buFont typeface="Arial"/>
              <a:buNone/>
            </a:pPr>
            <a:r>
              <a:rPr b="1" i="0" lang="en-US" sz="2600" u="none" cap="none" strike="noStrike">
                <a:solidFill>
                  <a:schemeClr val="dk1"/>
                </a:solidFill>
                <a:latin typeface="Montserrat"/>
                <a:ea typeface="Montserrat"/>
                <a:cs typeface="Montserrat"/>
                <a:sym typeface="Montserrat"/>
              </a:rPr>
              <a:t>Desarrollo de Aplicaciones Móviles</a:t>
            </a:r>
            <a:endParaRPr b="1" i="0" sz="2600" u="none" cap="none" strike="noStrike">
              <a:solidFill>
                <a:schemeClr val="dk1"/>
              </a:solidFill>
              <a:latin typeface="Montserrat"/>
              <a:ea typeface="Montserrat"/>
              <a:cs typeface="Montserrat"/>
              <a:sym typeface="Montserrat"/>
            </a:endParaRPr>
          </a:p>
          <a:p>
            <a:pPr indent="-393700" lvl="0" marL="457200" marR="0" rtl="0" algn="l">
              <a:lnSpc>
                <a:spcPct val="115000"/>
              </a:lnSpc>
              <a:spcBef>
                <a:spcPts val="1200"/>
              </a:spcBef>
              <a:spcAft>
                <a:spcPts val="0"/>
              </a:spcAft>
              <a:buClr>
                <a:schemeClr val="dk1"/>
              </a:buClr>
              <a:buSzPts val="2600"/>
              <a:buFont typeface="Montserrat"/>
              <a:buChar char="●"/>
            </a:pPr>
            <a:r>
              <a:rPr b="0" i="0" lang="en-US" sz="2600" u="none" cap="none" strike="noStrike">
                <a:solidFill>
                  <a:schemeClr val="dk1"/>
                </a:solidFill>
                <a:latin typeface="Montserrat"/>
                <a:ea typeface="Montserrat"/>
                <a:cs typeface="Montserrat"/>
                <a:sym typeface="Montserrat"/>
              </a:rPr>
              <a:t>Creación de aplicaciones para sistemas operativos como iOS y Android (utilizando Swift, Kotlin, Java, o frameworks que usan JavaScript/Dart).</a:t>
            </a:r>
            <a:endParaRPr b="0" i="0" sz="26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1200"/>
              </a:spcBef>
              <a:spcAft>
                <a:spcPts val="0"/>
              </a:spcAft>
              <a:buClr>
                <a:srgbClr val="000000"/>
              </a:buClr>
              <a:buSzPts val="2600"/>
              <a:buFont typeface="Arial"/>
              <a:buNone/>
            </a:pPr>
            <a:r>
              <a:t/>
            </a:r>
            <a:endParaRPr b="1" i="0" sz="2600" u="none" cap="none" strike="noStrike">
              <a:solidFill>
                <a:schemeClr val="dk1"/>
              </a:solidFill>
              <a:latin typeface="Montserrat"/>
              <a:ea typeface="Montserrat"/>
              <a:cs typeface="Montserrat"/>
              <a:sym typeface="Montserrat"/>
            </a:endParaRPr>
          </a:p>
          <a:p>
            <a:pPr indent="0" lvl="0" marL="457200" marR="0" rtl="0" algn="ctr">
              <a:lnSpc>
                <a:spcPct val="115000"/>
              </a:lnSpc>
              <a:spcBef>
                <a:spcPts val="1200"/>
              </a:spcBef>
              <a:spcAft>
                <a:spcPts val="0"/>
              </a:spcAft>
              <a:buClr>
                <a:schemeClr val="dk1"/>
              </a:buClr>
              <a:buSzPts val="1100"/>
              <a:buFont typeface="Arial"/>
              <a:buNone/>
            </a:pPr>
            <a:r>
              <a:rPr b="1" i="0" lang="en-US" sz="2600" u="none" cap="none" strike="noStrike">
                <a:solidFill>
                  <a:schemeClr val="dk1"/>
                </a:solidFill>
                <a:latin typeface="Montserrat"/>
                <a:ea typeface="Montserrat"/>
                <a:cs typeface="Montserrat"/>
                <a:sym typeface="Montserrat"/>
              </a:rPr>
              <a:t>Desarrollo de Videojuegos</a:t>
            </a:r>
            <a:endParaRPr b="1" i="0" sz="2600" u="none" cap="none" strike="noStrike">
              <a:solidFill>
                <a:schemeClr val="dk1"/>
              </a:solidFill>
              <a:latin typeface="Montserrat"/>
              <a:ea typeface="Montserrat"/>
              <a:cs typeface="Montserrat"/>
              <a:sym typeface="Montserrat"/>
            </a:endParaRPr>
          </a:p>
          <a:p>
            <a:pPr indent="-393700" lvl="0" marL="457200" marR="0" rtl="0" algn="l">
              <a:lnSpc>
                <a:spcPct val="115000"/>
              </a:lnSpc>
              <a:spcBef>
                <a:spcPts val="1200"/>
              </a:spcBef>
              <a:spcAft>
                <a:spcPts val="0"/>
              </a:spcAft>
              <a:buClr>
                <a:schemeClr val="dk1"/>
              </a:buClr>
              <a:buSzPts val="2600"/>
              <a:buFont typeface="Montserrat"/>
              <a:buChar char="●"/>
            </a:pPr>
            <a:r>
              <a:rPr b="0" i="0" lang="en-US" sz="2600" u="none" cap="none" strike="noStrike">
                <a:solidFill>
                  <a:schemeClr val="dk1"/>
                </a:solidFill>
                <a:latin typeface="Montserrat"/>
                <a:ea typeface="Montserrat"/>
                <a:cs typeface="Montserrat"/>
                <a:sym typeface="Montserrat"/>
              </a:rPr>
              <a:t>Creación de la lógica, gráficos y motores de videojuegos, tanto para consolas como para dispositivos móviles y PC (con lenguajes como C++, C# y Java).</a:t>
            </a:r>
            <a:endParaRPr b="0" i="0" sz="26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1200"/>
              </a:spcBef>
              <a:spcAft>
                <a:spcPts val="1200"/>
              </a:spcAft>
              <a:buClr>
                <a:srgbClr val="000000"/>
              </a:buClr>
              <a:buSzPts val="2600"/>
              <a:buFont typeface="Arial"/>
              <a:buNone/>
            </a:pPr>
            <a:r>
              <a:t/>
            </a:r>
            <a:endParaRPr b="1" i="0" sz="2600" u="none" cap="none" strike="noStrike">
              <a:solidFill>
                <a:schemeClr val="dk1"/>
              </a:solidFill>
              <a:latin typeface="Montserrat"/>
              <a:ea typeface="Montserrat"/>
              <a:cs typeface="Montserrat"/>
              <a:sym typeface="Montserrat"/>
            </a:endParaRPr>
          </a:p>
        </p:txBody>
      </p:sp>
      <p:sp>
        <p:nvSpPr>
          <p:cNvPr id="276" name="Google Shape;276;p10"/>
          <p:cNvSpPr txBox="1"/>
          <p:nvPr/>
        </p:nvSpPr>
        <p:spPr>
          <a:xfrm>
            <a:off x="1009025" y="1243175"/>
            <a:ext cx="9539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Principales Usos</a:t>
            </a:r>
            <a:endParaRPr b="0" i="0" sz="1400" u="none" cap="none" strike="noStrike">
              <a:solidFill>
                <a:srgbClr val="000000"/>
              </a:solidFill>
              <a:latin typeface="Impact"/>
              <a:ea typeface="Impact"/>
              <a:cs typeface="Impact"/>
              <a:sym typeface="Impact"/>
            </a:endParaRPr>
          </a:p>
        </p:txBody>
      </p:sp>
      <p:sp>
        <p:nvSpPr>
          <p:cNvPr id="277" name="Google Shape;277;p10"/>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278" name="Google Shape;278;p10"/>
          <p:cNvPicPr preferRelativeResize="0"/>
          <p:nvPr/>
        </p:nvPicPr>
        <p:blipFill rotWithShape="1">
          <a:blip r:embed="rId4">
            <a:alphaModFix/>
          </a:blip>
          <a:srcRect b="0" l="0" r="0" t="0"/>
          <a:stretch/>
        </p:blipFill>
        <p:spPr>
          <a:xfrm>
            <a:off x="11611325" y="2279801"/>
            <a:ext cx="6071976" cy="2967725"/>
          </a:xfrm>
          <a:prstGeom prst="rect">
            <a:avLst/>
          </a:prstGeom>
          <a:noFill/>
          <a:ln>
            <a:noFill/>
          </a:ln>
        </p:spPr>
      </p:pic>
      <p:pic>
        <p:nvPicPr>
          <p:cNvPr id="279" name="Google Shape;279;p10"/>
          <p:cNvPicPr preferRelativeResize="0"/>
          <p:nvPr/>
        </p:nvPicPr>
        <p:blipFill rotWithShape="1">
          <a:blip r:embed="rId5">
            <a:alphaModFix/>
          </a:blip>
          <a:srcRect b="0" l="0" r="0" t="0"/>
          <a:stretch/>
        </p:blipFill>
        <p:spPr>
          <a:xfrm>
            <a:off x="11755163" y="6006076"/>
            <a:ext cx="6096000" cy="3429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1"/>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285" name="Google Shape;285;p11"/>
          <p:cNvSpPr txBox="1"/>
          <p:nvPr/>
        </p:nvSpPr>
        <p:spPr>
          <a:xfrm>
            <a:off x="661051" y="2753225"/>
            <a:ext cx="11872500" cy="56343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chemeClr val="dk1"/>
              </a:buClr>
              <a:buSzPts val="1100"/>
              <a:buFont typeface="Arial"/>
              <a:buNone/>
            </a:pPr>
            <a:r>
              <a:rPr b="1" i="0" lang="en-US" sz="3000" u="none" cap="none" strike="noStrike">
                <a:solidFill>
                  <a:schemeClr val="dk1"/>
                </a:solidFill>
                <a:latin typeface="Montserrat"/>
                <a:ea typeface="Montserrat"/>
                <a:cs typeface="Montserrat"/>
                <a:sym typeface="Montserrat"/>
              </a:rPr>
              <a:t>Algoritmo</a:t>
            </a:r>
            <a:r>
              <a:rPr b="0" i="0" lang="en-US" sz="3000" u="none" cap="none" strike="noStrike">
                <a:solidFill>
                  <a:schemeClr val="dk1"/>
                </a:solidFill>
                <a:latin typeface="Montserrat"/>
                <a:ea typeface="Montserrat"/>
                <a:cs typeface="Montserrat"/>
                <a:sym typeface="Montserrat"/>
              </a:rPr>
              <a:t>: Es una secuencia ordenada y finita de pasos o instrucciones que resuelven un problema o lograr un objetivo específico. Es la lógica subyacente antes de escribir cualquier código.</a:t>
            </a:r>
            <a:endParaRPr b="0" i="0" sz="3000" u="none" cap="none" strike="noStrike">
              <a:solidFill>
                <a:schemeClr val="dk1"/>
              </a:solidFill>
              <a:latin typeface="Montserrat"/>
              <a:ea typeface="Montserrat"/>
              <a:cs typeface="Montserrat"/>
              <a:sym typeface="Montserrat"/>
            </a:endParaRPr>
          </a:p>
          <a:p>
            <a:pPr indent="0" lvl="0" marL="0" marR="0" rtl="0" algn="l">
              <a:lnSpc>
                <a:spcPct val="140019"/>
              </a:lnSpc>
              <a:spcBef>
                <a:spcPts val="0"/>
              </a:spcBef>
              <a:spcAft>
                <a:spcPts val="0"/>
              </a:spcAft>
              <a:buClr>
                <a:schemeClr val="dk1"/>
              </a:buClr>
              <a:buSzPts val="1100"/>
              <a:buFont typeface="Arial"/>
              <a:buNone/>
            </a:pPr>
            <a:r>
              <a:rPr b="1" i="0" lang="en-US" sz="3000" u="none" cap="none" strike="noStrike">
                <a:solidFill>
                  <a:schemeClr val="dk1"/>
                </a:solidFill>
                <a:latin typeface="Montserrat"/>
                <a:ea typeface="Montserrat"/>
                <a:cs typeface="Montserrat"/>
                <a:sym typeface="Montserrat"/>
              </a:rPr>
              <a:t>Lenguaje de Programación</a:t>
            </a:r>
            <a:r>
              <a:rPr b="0" i="0" lang="en-US" sz="3000" u="none" cap="none" strike="noStrike">
                <a:solidFill>
                  <a:schemeClr val="dk1"/>
                </a:solidFill>
                <a:latin typeface="Montserrat"/>
                <a:ea typeface="Montserrat"/>
                <a:cs typeface="Montserrat"/>
                <a:sym typeface="Montserrat"/>
              </a:rPr>
              <a:t>: Es un idioma formal (como Python, Java, C++) con un conjunto de reglas y sintaxis específicas, utilizado para escribir las instrucciones que la computadora puede entender y ejecutar.</a:t>
            </a:r>
            <a:endParaRPr b="0" i="0" sz="3000" u="none" cap="none" strike="noStrike">
              <a:solidFill>
                <a:schemeClr val="dk1"/>
              </a:solidFill>
              <a:latin typeface="Montserrat"/>
              <a:ea typeface="Montserrat"/>
              <a:cs typeface="Montserrat"/>
              <a:sym typeface="Montserrat"/>
            </a:endParaRPr>
          </a:p>
          <a:p>
            <a:pPr indent="0" lvl="0" marL="0" marR="0" rtl="0" algn="l">
              <a:lnSpc>
                <a:spcPct val="140019"/>
              </a:lnSpc>
              <a:spcBef>
                <a:spcPts val="0"/>
              </a:spcBef>
              <a:spcAft>
                <a:spcPts val="0"/>
              </a:spcAft>
              <a:buClr>
                <a:srgbClr val="000000"/>
              </a:buClr>
              <a:buSzPts val="3151"/>
              <a:buFont typeface="Arial"/>
              <a:buNone/>
            </a:pPr>
            <a:r>
              <a:t/>
            </a:r>
            <a:endParaRPr b="1" i="0" sz="3000" u="none" cap="none" strike="noStrike">
              <a:solidFill>
                <a:srgbClr val="131416"/>
              </a:solidFill>
              <a:latin typeface="Montserrat"/>
              <a:ea typeface="Montserrat"/>
              <a:cs typeface="Montserrat"/>
              <a:sym typeface="Montserrat"/>
            </a:endParaRPr>
          </a:p>
        </p:txBody>
      </p:sp>
      <p:sp>
        <p:nvSpPr>
          <p:cNvPr id="286" name="Google Shape;286;p11"/>
          <p:cNvSpPr/>
          <p:nvPr/>
        </p:nvSpPr>
        <p:spPr>
          <a:xfrm>
            <a:off x="14677150" y="0"/>
            <a:ext cx="3491115" cy="1061304"/>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287" name="Google Shape;287;p11"/>
          <p:cNvPicPr preferRelativeResize="0"/>
          <p:nvPr/>
        </p:nvPicPr>
        <p:blipFill rotWithShape="1">
          <a:blip r:embed="rId4">
            <a:alphaModFix/>
          </a:blip>
          <a:srcRect b="0" l="0" r="0" t="0"/>
          <a:stretch/>
        </p:blipFill>
        <p:spPr>
          <a:xfrm>
            <a:off x="11994925" y="5034675"/>
            <a:ext cx="5823976" cy="30468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2"/>
          <p:cNvSpPr txBox="1"/>
          <p:nvPr/>
        </p:nvSpPr>
        <p:spPr>
          <a:xfrm>
            <a:off x="2507390" y="1102400"/>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293" name="Google Shape;293;p12"/>
          <p:cNvSpPr txBox="1"/>
          <p:nvPr/>
        </p:nvSpPr>
        <p:spPr>
          <a:xfrm>
            <a:off x="776100" y="2962375"/>
            <a:ext cx="10338000" cy="5986800"/>
          </a:xfrm>
          <a:prstGeom prst="rect">
            <a:avLst/>
          </a:prstGeom>
          <a:noFill/>
          <a:ln>
            <a:noFill/>
          </a:ln>
        </p:spPr>
        <p:txBody>
          <a:bodyPr anchorCtr="0" anchor="ctr" bIns="0" lIns="0" spcFirstLastPara="1" rIns="0" wrap="square" tIns="0">
            <a:noAutofit/>
          </a:bodyPr>
          <a:lstStyle/>
          <a:p>
            <a:pPr indent="0" lvl="0" marL="0" marR="0" rtl="0" algn="l">
              <a:lnSpc>
                <a:spcPct val="140019"/>
              </a:lnSpc>
              <a:spcBef>
                <a:spcPts val="0"/>
              </a:spcBef>
              <a:spcAft>
                <a:spcPts val="0"/>
              </a:spcAft>
              <a:buClr>
                <a:schemeClr val="dk1"/>
              </a:buClr>
              <a:buSzPts val="1100"/>
              <a:buFont typeface="Arial"/>
              <a:buNone/>
            </a:pPr>
            <a:r>
              <a:rPr b="1" i="0" lang="en-US" sz="3000" u="none" cap="none" strike="noStrike">
                <a:solidFill>
                  <a:schemeClr val="dk1"/>
                </a:solidFill>
                <a:latin typeface="Montserrat"/>
                <a:ea typeface="Montserrat"/>
                <a:cs typeface="Montserrat"/>
                <a:sym typeface="Montserrat"/>
              </a:rPr>
              <a:t>Variables y Tipos de Datos</a:t>
            </a:r>
            <a:r>
              <a:rPr b="0" i="0" lang="en-US" sz="3000" u="none" cap="none" strike="noStrike">
                <a:solidFill>
                  <a:schemeClr val="dk1"/>
                </a:solidFill>
                <a:latin typeface="Montserrat"/>
                <a:ea typeface="Montserrat"/>
                <a:cs typeface="Montserrat"/>
                <a:sym typeface="Montserrat"/>
              </a:rPr>
              <a:t>:</a:t>
            </a:r>
            <a:endParaRPr b="0" i="0" sz="3000" u="none" cap="none" strike="noStrike">
              <a:solidFill>
                <a:schemeClr val="dk1"/>
              </a:solidFill>
              <a:latin typeface="Montserrat"/>
              <a:ea typeface="Montserrat"/>
              <a:cs typeface="Montserrat"/>
              <a:sym typeface="Montserrat"/>
            </a:endParaRPr>
          </a:p>
          <a:p>
            <a:pPr indent="-419100" lvl="0" marL="457200" marR="0" rtl="0" algn="l">
              <a:lnSpc>
                <a:spcPct val="115000"/>
              </a:lnSpc>
              <a:spcBef>
                <a:spcPts val="1200"/>
              </a:spcBef>
              <a:spcAft>
                <a:spcPts val="0"/>
              </a:spcAft>
              <a:buClr>
                <a:schemeClr val="dk1"/>
              </a:buClr>
              <a:buSzPts val="3000"/>
              <a:buFont typeface="Arial"/>
              <a:buChar char="●"/>
            </a:pPr>
            <a:r>
              <a:rPr b="1" i="0" lang="en-US" sz="3000" u="none" cap="none" strike="noStrike">
                <a:solidFill>
                  <a:schemeClr val="dk1"/>
                </a:solidFill>
                <a:latin typeface="Montserrat"/>
                <a:ea typeface="Montserrat"/>
                <a:cs typeface="Montserrat"/>
                <a:sym typeface="Montserrat"/>
              </a:rPr>
              <a:t>Variables</a:t>
            </a:r>
            <a:r>
              <a:rPr b="0" i="0" lang="en-US" sz="3000" u="none" cap="none" strike="noStrike">
                <a:solidFill>
                  <a:schemeClr val="dk1"/>
                </a:solidFill>
                <a:latin typeface="Montserrat"/>
                <a:ea typeface="Montserrat"/>
                <a:cs typeface="Montserrat"/>
                <a:sym typeface="Montserrat"/>
              </a:rPr>
              <a:t>: Son espacios en la memoria de la computadora utilizados para almacenar información (datos). Piensa en ellas como cajas con un nombre que guardan valores.</a:t>
            </a:r>
            <a:endParaRPr b="0" i="0" sz="3000" u="none" cap="none" strike="noStrike">
              <a:solidFill>
                <a:schemeClr val="dk1"/>
              </a:solidFill>
              <a:latin typeface="Montserrat"/>
              <a:ea typeface="Montserrat"/>
              <a:cs typeface="Montserrat"/>
              <a:sym typeface="Montserrat"/>
            </a:endParaRPr>
          </a:p>
          <a:p>
            <a:pPr indent="-419100" lvl="0" marL="457200" marR="0" rtl="0" algn="l">
              <a:lnSpc>
                <a:spcPct val="115000"/>
              </a:lnSpc>
              <a:spcBef>
                <a:spcPts val="0"/>
              </a:spcBef>
              <a:spcAft>
                <a:spcPts val="0"/>
              </a:spcAft>
              <a:buClr>
                <a:schemeClr val="dk1"/>
              </a:buClr>
              <a:buSzPts val="3000"/>
              <a:buFont typeface="Arial"/>
              <a:buChar char="●"/>
            </a:pPr>
            <a:r>
              <a:rPr b="1" i="0" lang="en-US" sz="3000" u="none" cap="none" strike="noStrike">
                <a:solidFill>
                  <a:schemeClr val="dk1"/>
                </a:solidFill>
                <a:latin typeface="Montserrat"/>
                <a:ea typeface="Montserrat"/>
                <a:cs typeface="Montserrat"/>
                <a:sym typeface="Montserrat"/>
              </a:rPr>
              <a:t>Tipos de Datos</a:t>
            </a:r>
            <a:r>
              <a:rPr b="0" i="0" lang="en-US" sz="3000" u="none" cap="none" strike="noStrike">
                <a:solidFill>
                  <a:schemeClr val="dk1"/>
                </a:solidFill>
                <a:latin typeface="Montserrat"/>
                <a:ea typeface="Montserrat"/>
                <a:cs typeface="Montserrat"/>
                <a:sym typeface="Montserrat"/>
              </a:rPr>
              <a:t>: Definen la naturaleza de la información que una variable puede contener (por ejemplo, números enteros, números decimales, texto/cadenas de caracteres, valores booleanos de verdadero/falso).</a:t>
            </a:r>
            <a:endParaRPr b="1" i="0" sz="3600" u="none" cap="none" strike="noStrike">
              <a:solidFill>
                <a:srgbClr val="131416"/>
              </a:solidFill>
              <a:latin typeface="Montserrat"/>
              <a:ea typeface="Montserrat"/>
              <a:cs typeface="Montserrat"/>
              <a:sym typeface="Montserrat"/>
            </a:endParaRPr>
          </a:p>
        </p:txBody>
      </p:sp>
      <p:sp>
        <p:nvSpPr>
          <p:cNvPr id="294" name="Google Shape;294;p12"/>
          <p:cNvSpPr/>
          <p:nvPr/>
        </p:nvSpPr>
        <p:spPr>
          <a:xfrm>
            <a:off x="14633875" y="0"/>
            <a:ext cx="3649149" cy="1061304"/>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295" name="Google Shape;295;p12"/>
          <p:cNvPicPr preferRelativeResize="0"/>
          <p:nvPr/>
        </p:nvPicPr>
        <p:blipFill rotWithShape="1">
          <a:blip r:embed="rId4">
            <a:alphaModFix/>
          </a:blip>
          <a:srcRect b="0" l="0" r="0" t="0"/>
          <a:stretch/>
        </p:blipFill>
        <p:spPr>
          <a:xfrm>
            <a:off x="11266525" y="4000863"/>
            <a:ext cx="6869100" cy="277086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3"/>
          <p:cNvSpPr txBox="1"/>
          <p:nvPr/>
        </p:nvSpPr>
        <p:spPr>
          <a:xfrm>
            <a:off x="2392340" y="2550250"/>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RESPONSABILIDAD</a:t>
            </a:r>
            <a:endParaRPr b="0" i="0" sz="1400" u="none" cap="none" strike="noStrike">
              <a:solidFill>
                <a:srgbClr val="000000"/>
              </a:solidFill>
              <a:latin typeface="Impact"/>
              <a:ea typeface="Impact"/>
              <a:cs typeface="Impact"/>
              <a:sym typeface="Impact"/>
            </a:endParaRPr>
          </a:p>
        </p:txBody>
      </p:sp>
      <p:sp>
        <p:nvSpPr>
          <p:cNvPr id="301" name="Google Shape;301;p13"/>
          <p:cNvSpPr txBox="1"/>
          <p:nvPr/>
        </p:nvSpPr>
        <p:spPr>
          <a:xfrm>
            <a:off x="2633375" y="4373850"/>
            <a:ext cx="13654200" cy="2493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Montserrat"/>
                <a:ea typeface="Montserrat"/>
                <a:cs typeface="Montserrat"/>
                <a:sym typeface="Montserrat"/>
              </a:rPr>
              <a:t>La responsabilidad implica asumir con seriedad y compromiso cada tarea de aprendizaje, comprendiendo que los conocimientos adquiridos en clase serán la base para proyectos personales, académicos y profesionales.</a:t>
            </a:r>
            <a:endParaRPr b="0" i="0" sz="30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000000"/>
              </a:solidFill>
              <a:latin typeface="Montserrat"/>
              <a:ea typeface="Montserrat"/>
              <a:cs typeface="Montserrat"/>
              <a:sym typeface="Montserrat"/>
            </a:endParaRPr>
          </a:p>
        </p:txBody>
      </p:sp>
      <p:sp>
        <p:nvSpPr>
          <p:cNvPr id="302" name="Google Shape;302;p13"/>
          <p:cNvSpPr/>
          <p:nvPr/>
        </p:nvSpPr>
        <p:spPr>
          <a:xfrm>
            <a:off x="14633875" y="0"/>
            <a:ext cx="3649149" cy="1061304"/>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303" name="Google Shape;303;p13"/>
          <p:cNvPicPr preferRelativeResize="0"/>
          <p:nvPr/>
        </p:nvPicPr>
        <p:blipFill rotWithShape="1">
          <a:blip r:embed="rId4">
            <a:alphaModFix/>
          </a:blip>
          <a:srcRect b="0" l="0" r="0" t="0"/>
          <a:stretch/>
        </p:blipFill>
        <p:spPr>
          <a:xfrm>
            <a:off x="14633875" y="6721025"/>
            <a:ext cx="3148658" cy="3114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4"/>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Impact"/>
              <a:ea typeface="Impact"/>
              <a:cs typeface="Impact"/>
              <a:sym typeface="Impact"/>
            </a:endParaRPr>
          </a:p>
        </p:txBody>
      </p:sp>
      <p:pic>
        <p:nvPicPr>
          <p:cNvPr id="309" name="Google Shape;309;p14" title="Gemini_Generated_Image_k3gbyrk3gbyrk3gb.png"/>
          <p:cNvPicPr preferRelativeResize="0"/>
          <p:nvPr/>
        </p:nvPicPr>
        <p:blipFill rotWithShape="1">
          <a:blip r:embed="rId3">
            <a:alphaModFix/>
          </a:blip>
          <a:srcRect b="0" l="0" r="0" t="0"/>
          <a:stretch/>
        </p:blipFill>
        <p:spPr>
          <a:xfrm>
            <a:off x="0" y="0"/>
            <a:ext cx="7000174" cy="4361449"/>
          </a:xfrm>
          <a:prstGeom prst="rect">
            <a:avLst/>
          </a:prstGeom>
          <a:noFill/>
          <a:ln>
            <a:noFill/>
          </a:ln>
        </p:spPr>
      </p:pic>
      <p:sp>
        <p:nvSpPr>
          <p:cNvPr id="310" name="Google Shape;310;p14"/>
          <p:cNvSpPr txBox="1"/>
          <p:nvPr/>
        </p:nvSpPr>
        <p:spPr>
          <a:xfrm>
            <a:off x="4693200" y="4693200"/>
            <a:ext cx="97344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Montserrat"/>
                <a:ea typeface="Montserrat"/>
                <a:cs typeface="Montserrat"/>
                <a:sym typeface="Montserrat"/>
              </a:rPr>
              <a:t>https://desarrollarinclusion.cilsa.org/tecnologia-inclusiva/que-es-un-lenguaje-de-programacion/</a:t>
            </a:r>
            <a:endParaRPr b="0" i="0" sz="2200" u="none" cap="none" strike="noStrike">
              <a:solidFill>
                <a:srgbClr val="000000"/>
              </a:solidFill>
              <a:latin typeface="Montserrat"/>
              <a:ea typeface="Montserrat"/>
              <a:cs typeface="Montserrat"/>
              <a:sym typeface="Montserrat"/>
            </a:endParaRPr>
          </a:p>
        </p:txBody>
      </p:sp>
      <p:sp>
        <p:nvSpPr>
          <p:cNvPr id="311" name="Google Shape;311;p14"/>
          <p:cNvSpPr txBox="1"/>
          <p:nvPr/>
        </p:nvSpPr>
        <p:spPr>
          <a:xfrm>
            <a:off x="4693200" y="5957450"/>
            <a:ext cx="99249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Montserrat"/>
                <a:ea typeface="Montserrat"/>
                <a:cs typeface="Montserrat"/>
                <a:sym typeface="Montserrat"/>
              </a:rPr>
              <a:t>https://chakray.com/es/lenguajes-programacion-tipos-caracteristicas/</a:t>
            </a:r>
            <a:endParaRPr b="0" i="0" sz="2200" u="none" cap="none" strike="noStrike">
              <a:solidFill>
                <a:srgbClr val="000000"/>
              </a:solidFill>
              <a:latin typeface="Montserrat"/>
              <a:ea typeface="Montserrat"/>
              <a:cs typeface="Montserrat"/>
              <a:sym typeface="Montserrat"/>
            </a:endParaRPr>
          </a:p>
        </p:txBody>
      </p:sp>
      <p:sp>
        <p:nvSpPr>
          <p:cNvPr id="312" name="Google Shape;312;p14"/>
          <p:cNvSpPr txBox="1"/>
          <p:nvPr/>
        </p:nvSpPr>
        <p:spPr>
          <a:xfrm>
            <a:off x="4693200" y="6788725"/>
            <a:ext cx="97344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Montserrat"/>
                <a:ea typeface="Montserrat"/>
                <a:cs typeface="Montserrat"/>
                <a:sym typeface="Montserrat"/>
              </a:rPr>
              <a:t>https://fi.ort.edu.uy/blog/los-10-lenguajes-de-programacion-mas-usados-actualmente</a:t>
            </a:r>
            <a:endParaRPr b="0" i="0" sz="22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5"/>
          <p:cNvSpPr txBox="1"/>
          <p:nvPr/>
        </p:nvSpPr>
        <p:spPr>
          <a:xfrm>
            <a:off x="2858500" y="4443050"/>
            <a:ext cx="7083600" cy="24582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6098"/>
              <a:buFont typeface="Arial"/>
              <a:buNone/>
            </a:pPr>
            <a:r>
              <a:rPr b="0" i="0" lang="en-US" sz="7498" u="none" cap="none" strike="noStrike">
                <a:solidFill>
                  <a:srgbClr val="131416"/>
                </a:solidFill>
                <a:latin typeface="Impact"/>
                <a:ea typeface="Impact"/>
                <a:cs typeface="Impact"/>
                <a:sym typeface="Impact"/>
              </a:rPr>
              <a:t>Ejemplo </a:t>
            </a:r>
            <a:br>
              <a:rPr b="0" i="0" lang="en-US" sz="7498" u="none" cap="none" strike="noStrike">
                <a:solidFill>
                  <a:srgbClr val="131416"/>
                </a:solidFill>
                <a:latin typeface="Impact"/>
                <a:ea typeface="Impact"/>
                <a:cs typeface="Impact"/>
                <a:sym typeface="Impact"/>
              </a:rPr>
            </a:br>
            <a:r>
              <a:rPr b="0" i="0" lang="en-US" sz="7498" u="none" cap="none" strike="noStrike">
                <a:solidFill>
                  <a:srgbClr val="131416"/>
                </a:solidFill>
                <a:latin typeface="Impact"/>
                <a:ea typeface="Impact"/>
                <a:cs typeface="Impact"/>
                <a:sym typeface="Impact"/>
              </a:rPr>
              <a:t>práctico</a:t>
            </a:r>
            <a:endParaRPr b="0" i="0" sz="2800" u="none" cap="none" strike="noStrike">
              <a:solidFill>
                <a:srgbClr val="000000"/>
              </a:solidFill>
              <a:latin typeface="Impact"/>
              <a:ea typeface="Impact"/>
              <a:cs typeface="Impact"/>
              <a:sym typeface="Impact"/>
            </a:endParaRPr>
          </a:p>
        </p:txBody>
      </p:sp>
      <p:pic>
        <p:nvPicPr>
          <p:cNvPr id="318" name="Google Shape;318;p15" title="Gemini_Generated_Image_u2i06ou2i06ou2i0.png"/>
          <p:cNvPicPr preferRelativeResize="0"/>
          <p:nvPr/>
        </p:nvPicPr>
        <p:blipFill rotWithShape="1">
          <a:blip r:embed="rId3">
            <a:alphaModFix/>
          </a:blip>
          <a:srcRect b="0" l="0" r="0" t="0"/>
          <a:stretch/>
        </p:blipFill>
        <p:spPr>
          <a:xfrm>
            <a:off x="0" y="3"/>
            <a:ext cx="4695574" cy="6434676"/>
          </a:xfrm>
          <a:prstGeom prst="rect">
            <a:avLst/>
          </a:prstGeom>
          <a:noFill/>
          <a:ln>
            <a:noFill/>
          </a:ln>
        </p:spPr>
      </p:pic>
      <p:pic>
        <p:nvPicPr>
          <p:cNvPr id="319" name="Google Shape;319;p15"/>
          <p:cNvPicPr preferRelativeResize="0"/>
          <p:nvPr/>
        </p:nvPicPr>
        <p:blipFill rotWithShape="1">
          <a:blip r:embed="rId4">
            <a:alphaModFix/>
          </a:blip>
          <a:srcRect b="0" l="0" r="0" t="0"/>
          <a:stretch/>
        </p:blipFill>
        <p:spPr>
          <a:xfrm>
            <a:off x="9751600" y="2994076"/>
            <a:ext cx="8028000" cy="5356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6"/>
          <p:cNvSpPr txBox="1"/>
          <p:nvPr/>
        </p:nvSpPr>
        <p:spPr>
          <a:xfrm>
            <a:off x="2148439" y="4077814"/>
            <a:ext cx="13991100" cy="9387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Practiquemos lo aprendido</a:t>
            </a:r>
            <a:endParaRPr b="0" i="0" sz="1400" u="none" cap="none" strike="noStrike">
              <a:solidFill>
                <a:srgbClr val="000000"/>
              </a:solidFill>
              <a:latin typeface="Impact"/>
              <a:ea typeface="Impact"/>
              <a:cs typeface="Impact"/>
              <a:sym typeface="Impact"/>
            </a:endParaRPr>
          </a:p>
        </p:txBody>
      </p:sp>
      <p:pic>
        <p:nvPicPr>
          <p:cNvPr id="325" name="Google Shape;325;p16" title="Gemini_Generated_Image_mopnfwmopnfwmopn (1).png"/>
          <p:cNvPicPr preferRelativeResize="0"/>
          <p:nvPr/>
        </p:nvPicPr>
        <p:blipFill rotWithShape="1">
          <a:blip r:embed="rId3">
            <a:alphaModFix/>
          </a:blip>
          <a:srcRect b="0" l="0" r="0" t="0"/>
          <a:stretch/>
        </p:blipFill>
        <p:spPr>
          <a:xfrm>
            <a:off x="0" y="-5"/>
            <a:ext cx="4077824" cy="4077824"/>
          </a:xfrm>
          <a:prstGeom prst="rect">
            <a:avLst/>
          </a:prstGeom>
          <a:noFill/>
          <a:ln>
            <a:noFill/>
          </a:ln>
        </p:spPr>
      </p:pic>
      <p:pic>
        <p:nvPicPr>
          <p:cNvPr descr="Ilustración Vectorial De Dibujos Animados En El Lugar De Trabajo  Ilustración del Vector - Ilustración de libreta, plano: 197884868" id="326" name="Google Shape;326;p16"/>
          <p:cNvPicPr preferRelativeResize="0"/>
          <p:nvPr/>
        </p:nvPicPr>
        <p:blipFill rotWithShape="1">
          <a:blip r:embed="rId4">
            <a:alphaModFix/>
          </a:blip>
          <a:srcRect b="0" l="0" r="0" t="0"/>
          <a:stretch/>
        </p:blipFill>
        <p:spPr>
          <a:xfrm>
            <a:off x="11658600" y="5867400"/>
            <a:ext cx="6629400" cy="4419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7"/>
          <p:cNvSpPr txBox="1"/>
          <p:nvPr/>
        </p:nvSpPr>
        <p:spPr>
          <a:xfrm>
            <a:off x="5791477" y="7667628"/>
            <a:ext cx="6705000" cy="7851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1" i="0" lang="en-US" sz="5100" u="none" cap="none" strike="noStrike">
                <a:solidFill>
                  <a:srgbClr val="131416"/>
                </a:solidFill>
                <a:latin typeface="Montserrat"/>
                <a:ea typeface="Montserrat"/>
                <a:cs typeface="Montserrat"/>
                <a:sym typeface="Montserrat"/>
              </a:rPr>
              <a:t>DUDAS ¿?</a:t>
            </a:r>
            <a:endParaRPr b="1" i="0" sz="1500" u="none" cap="none" strike="noStrike">
              <a:solidFill>
                <a:srgbClr val="000000"/>
              </a:solidFill>
              <a:latin typeface="Montserrat"/>
              <a:ea typeface="Montserrat"/>
              <a:cs typeface="Montserrat"/>
              <a:sym typeface="Montserrat"/>
            </a:endParaRPr>
          </a:p>
        </p:txBody>
      </p:sp>
      <p:pic>
        <p:nvPicPr>
          <p:cNvPr id="332" name="Google Shape;332;p17" title="Gemini_Generated_Image_1od44x1od44x1od4.png"/>
          <p:cNvPicPr preferRelativeResize="0"/>
          <p:nvPr/>
        </p:nvPicPr>
        <p:blipFill rotWithShape="1">
          <a:blip r:embed="rId3">
            <a:alphaModFix/>
          </a:blip>
          <a:srcRect b="0" l="0" r="0" t="0"/>
          <a:stretch/>
        </p:blipFill>
        <p:spPr>
          <a:xfrm>
            <a:off x="4576287" y="1975825"/>
            <a:ext cx="9135424" cy="56918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8"/>
          <p:cNvSpPr txBox="1"/>
          <p:nvPr/>
        </p:nvSpPr>
        <p:spPr>
          <a:xfrm>
            <a:off x="2815350" y="5377525"/>
            <a:ext cx="126573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1" i="0" lang="en-US" sz="6099" u="none" cap="none" strike="noStrike">
                <a:solidFill>
                  <a:srgbClr val="131416"/>
                </a:solidFill>
                <a:latin typeface="Montserrat"/>
                <a:ea typeface="Montserrat"/>
                <a:cs typeface="Montserrat"/>
                <a:sym typeface="Montserrat"/>
              </a:rPr>
              <a:t>¡GRACIAS POR SU ATENCIÓN!</a:t>
            </a:r>
            <a:endParaRPr b="1" i="0" sz="1400" u="none" cap="none" strike="noStrike">
              <a:solidFill>
                <a:srgbClr val="000000"/>
              </a:solidFill>
              <a:latin typeface="Montserrat"/>
              <a:ea typeface="Montserrat"/>
              <a:cs typeface="Montserrat"/>
              <a:sym typeface="Montserrat"/>
            </a:endParaRPr>
          </a:p>
          <a:p>
            <a:pPr indent="0" lvl="0" marL="0" marR="0" rtl="0" algn="just">
              <a:lnSpc>
                <a:spcPct val="104000"/>
              </a:lnSpc>
              <a:spcBef>
                <a:spcPts val="0"/>
              </a:spcBef>
              <a:spcAft>
                <a:spcPts val="0"/>
              </a:spcAft>
              <a:buClr>
                <a:srgbClr val="000000"/>
              </a:buClr>
              <a:buSzPts val="6099"/>
              <a:buFont typeface="Arial"/>
              <a:buNone/>
            </a:pPr>
            <a:r>
              <a:t/>
            </a:r>
            <a:endParaRPr b="1" i="0" sz="6099" u="none" cap="none" strike="noStrike">
              <a:solidFill>
                <a:srgbClr val="131416"/>
              </a:solidFill>
              <a:latin typeface="Montserrat"/>
              <a:ea typeface="Montserrat"/>
              <a:cs typeface="Montserrat"/>
              <a:sym typeface="Montserrat"/>
            </a:endParaRPr>
          </a:p>
        </p:txBody>
      </p:sp>
      <p:sp>
        <p:nvSpPr>
          <p:cNvPr id="338" name="Google Shape;338;p18"/>
          <p:cNvSpPr/>
          <p:nvPr/>
        </p:nvSpPr>
        <p:spPr>
          <a:xfrm>
            <a:off x="7765363" y="1384225"/>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339" name="Google Shape;339;p18"/>
          <p:cNvSpPr txBox="1"/>
          <p:nvPr/>
        </p:nvSpPr>
        <p:spPr>
          <a:xfrm>
            <a:off x="2411098" y="7899735"/>
            <a:ext cx="13465800" cy="7635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Montserrat"/>
                <a:ea typeface="Montserrat"/>
                <a:cs typeface="Montserrat"/>
                <a:sym typeface="Montserrat"/>
              </a:rPr>
              <a:t>RECUERDA QUE TENEMOS NUESTRO FORO SEMANAL DONDE PUEDES CONSULTAR CUALQUIER DUDA QUE TE SURJA EN LA SEMANA</a:t>
            </a:r>
            <a:endParaRPr b="0" i="0" sz="1400" u="none" cap="none" strike="noStrike">
              <a:solidFill>
                <a:srgbClr val="000000"/>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