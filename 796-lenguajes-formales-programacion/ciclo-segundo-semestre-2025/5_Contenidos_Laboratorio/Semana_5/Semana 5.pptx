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10287000" cx="18288000"/>
  <p:notesSz cx="6858000" cy="9144000"/>
  <p:embeddedFontLst>
    <p:embeddedFont>
      <p:font typeface="Montserrat"/>
      <p:regular r:id="rId33"/>
      <p:bold r:id="rId34"/>
      <p:italic r:id="rId35"/>
      <p:boldItalic r:id="rId36"/>
    </p:embeddedFont>
    <p:embeddedFont>
      <p:font typeface="Pacifico"/>
      <p:regular r:id="rId37"/>
    </p:embeddedFont>
    <p:embeddedFont>
      <p:font typeface="Open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2" roundtripDataSignature="AMtx7mjj58teYedSC6TUUvMoUkTyPZsm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italic.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OpenSans-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Montserrat-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Montserrat-italic.fntdata"/><Relationship Id="rId12" Type="http://schemas.openxmlformats.org/officeDocument/2006/relationships/slide" Target="slides/slide7.xml"/><Relationship Id="rId34" Type="http://schemas.openxmlformats.org/officeDocument/2006/relationships/font" Target="fonts/Montserrat-bold.fntdata"/><Relationship Id="rId15" Type="http://schemas.openxmlformats.org/officeDocument/2006/relationships/slide" Target="slides/slide10.xml"/><Relationship Id="rId37" Type="http://schemas.openxmlformats.org/officeDocument/2006/relationships/font" Target="fonts/Pacifico-regular.fntdata"/><Relationship Id="rId14" Type="http://schemas.openxmlformats.org/officeDocument/2006/relationships/slide" Target="slides/slide9.xml"/><Relationship Id="rId36" Type="http://schemas.openxmlformats.org/officeDocument/2006/relationships/font" Target="fonts/Montserrat-boldItalic.fntdata"/><Relationship Id="rId17" Type="http://schemas.openxmlformats.org/officeDocument/2006/relationships/slide" Target="slides/slide12.xml"/><Relationship Id="rId39" Type="http://schemas.openxmlformats.org/officeDocument/2006/relationships/font" Target="fonts/OpenSans-bold.fntdata"/><Relationship Id="rId16" Type="http://schemas.openxmlformats.org/officeDocument/2006/relationships/slide" Target="slides/slide11.xml"/><Relationship Id="rId38" Type="http://schemas.openxmlformats.org/officeDocument/2006/relationships/font" Target="fonts/OpenSans-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2" name="Google Shape;26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8" name="Google Shape;27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62d1a54d8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g362d1a54d8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1" name="Google Shape;32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8" name="Google Shape;32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5" name="Google Shape;33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2" name="Google Shape;34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9" name="Google Shape;34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6" name="Google Shape;35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3" name="Google Shape;36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9" name="Google Shape;36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5" name="Google Shape;37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1" name="Google Shape;38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7" name="Google Shape;38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3" name="Google Shape;39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3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3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3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3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3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6"/>
          <p:cNvSpPr/>
          <p:nvPr>
            <p:ph idx="2" type="pic"/>
          </p:nvPr>
        </p:nvSpPr>
        <p:spPr>
          <a:xfrm>
            <a:off x="1792288" y="612775"/>
            <a:ext cx="5486400" cy="4114800"/>
          </a:xfrm>
          <a:prstGeom prst="rect">
            <a:avLst/>
          </a:prstGeom>
          <a:noFill/>
          <a:ln>
            <a:noFill/>
          </a:ln>
        </p:spPr>
      </p:sp>
      <p:sp>
        <p:nvSpPr>
          <p:cNvPr id="64" name="Google Shape;64;p3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028700" y="6899275"/>
            <a:ext cx="12637001"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Lenguajes Formales y de Programación</a:t>
            </a:r>
            <a:endParaRPr b="0" i="0" sz="1400" u="none" cap="none" strike="noStrike">
              <a:solidFill>
                <a:srgbClr val="000000"/>
              </a:solidFill>
              <a:latin typeface="Arial"/>
              <a:ea typeface="Arial"/>
              <a:cs typeface="Arial"/>
              <a:sym typeface="Arial"/>
            </a:endParaRPr>
          </a:p>
        </p:txBody>
      </p:sp>
      <p:sp>
        <p:nvSpPr>
          <p:cNvPr id="86" name="Google Shape;86;p1"/>
          <p:cNvSpPr txBox="1"/>
          <p:nvPr/>
        </p:nvSpPr>
        <p:spPr>
          <a:xfrm>
            <a:off x="6204148" y="4274503"/>
            <a:ext cx="5879703" cy="156654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Lenguajes</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1028700" y="8086725"/>
            <a:ext cx="93192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88" name="Google Shape;88;p1"/>
          <p:cNvSpPr txBox="1"/>
          <p:nvPr/>
        </p:nvSpPr>
        <p:spPr>
          <a:xfrm>
            <a:off x="1028700" y="8461375"/>
            <a:ext cx="73974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89" name="Google Shape;89;p1"/>
          <p:cNvSpPr txBox="1"/>
          <p:nvPr/>
        </p:nvSpPr>
        <p:spPr>
          <a:xfrm>
            <a:off x="1028700" y="8836025"/>
            <a:ext cx="88884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grpSp>
        <p:nvGrpSpPr>
          <p:cNvPr id="94" name="Google Shape;94;p2"/>
          <p:cNvGrpSpPr/>
          <p:nvPr/>
        </p:nvGrpSpPr>
        <p:grpSpPr>
          <a:xfrm>
            <a:off x="1866989" y="3342832"/>
            <a:ext cx="4115190" cy="1556484"/>
            <a:chOff x="0" y="-76200"/>
            <a:chExt cx="1083836" cy="409938"/>
          </a:xfrm>
        </p:grpSpPr>
        <p:sp>
          <p:nvSpPr>
            <p:cNvPr id="95" name="Google Shape;95;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96" name="Google Shape;96;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97" name="Google Shape;97;p2"/>
          <p:cNvSpPr/>
          <p:nvPr/>
        </p:nvSpPr>
        <p:spPr>
          <a:xfrm>
            <a:off x="651754" y="3758584"/>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3">
              <a:alphaModFix/>
            </a:blip>
            <a:stretch>
              <a:fillRect b="0" l="0" r="0" t="0"/>
            </a:stretch>
          </a:blipFill>
          <a:ln>
            <a:noFill/>
          </a:ln>
        </p:spPr>
      </p:sp>
      <p:sp>
        <p:nvSpPr>
          <p:cNvPr id="98" name="Google Shape;98;p2"/>
          <p:cNvSpPr/>
          <p:nvPr/>
        </p:nvSpPr>
        <p:spPr>
          <a:xfrm>
            <a:off x="11739805" y="5032666"/>
            <a:ext cx="5353646" cy="1267162"/>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sp>
      <p:sp>
        <p:nvSpPr>
          <p:cNvPr id="99" name="Google Shape;99;p2"/>
          <p:cNvSpPr/>
          <p:nvPr/>
        </p:nvSpPr>
        <p:spPr>
          <a:xfrm>
            <a:off x="651754" y="5032666"/>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4">
              <a:alphaModFix/>
            </a:blip>
            <a:stretch>
              <a:fillRect b="0" l="0" r="0" t="0"/>
            </a:stretch>
          </a:blipFill>
          <a:ln>
            <a:noFill/>
          </a:ln>
        </p:spPr>
      </p:sp>
      <p:sp>
        <p:nvSpPr>
          <p:cNvPr id="100" name="Google Shape;100;p2"/>
          <p:cNvSpPr/>
          <p:nvPr/>
        </p:nvSpPr>
        <p:spPr>
          <a:xfrm>
            <a:off x="651754" y="5716618"/>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4">
              <a:alphaModFix/>
            </a:blip>
            <a:stretch>
              <a:fillRect b="0" l="0" r="0" t="0"/>
            </a:stretch>
          </a:blipFill>
          <a:ln>
            <a:noFill/>
          </a:ln>
        </p:spPr>
      </p:sp>
      <p:sp>
        <p:nvSpPr>
          <p:cNvPr id="101" name="Google Shape;101;p2"/>
          <p:cNvSpPr/>
          <p:nvPr/>
        </p:nvSpPr>
        <p:spPr>
          <a:xfrm>
            <a:off x="651754" y="6400062"/>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4">
              <a:alphaModFix/>
            </a:blip>
            <a:stretch>
              <a:fillRect b="0" l="0" r="0" t="0"/>
            </a:stretch>
          </a:blipFill>
          <a:ln>
            <a:noFill/>
          </a:ln>
        </p:spPr>
      </p:sp>
      <p:sp>
        <p:nvSpPr>
          <p:cNvPr id="102" name="Google Shape;102;p2"/>
          <p:cNvSpPr/>
          <p:nvPr/>
        </p:nvSpPr>
        <p:spPr>
          <a:xfrm>
            <a:off x="651754" y="7083506"/>
            <a:ext cx="453358" cy="550094"/>
          </a:xfrm>
          <a:custGeom>
            <a:rect b="b" l="l" r="r" t="t"/>
            <a:pathLst>
              <a:path extrusionOk="0" h="550094" w="453358">
                <a:moveTo>
                  <a:pt x="0" y="0"/>
                </a:moveTo>
                <a:lnTo>
                  <a:pt x="453358" y="0"/>
                </a:lnTo>
                <a:lnTo>
                  <a:pt x="453358" y="550095"/>
                </a:lnTo>
                <a:lnTo>
                  <a:pt x="0" y="550095"/>
                </a:lnTo>
                <a:lnTo>
                  <a:pt x="0" y="0"/>
                </a:lnTo>
                <a:close/>
              </a:path>
            </a:pathLst>
          </a:custGeom>
          <a:blipFill rotWithShape="1">
            <a:blip r:embed="rId4">
              <a:alphaModFix/>
            </a:blip>
            <a:stretch>
              <a:fillRect b="0" l="0" r="0" t="0"/>
            </a:stretch>
          </a:blipFill>
          <a:ln>
            <a:noFill/>
          </a:ln>
        </p:spPr>
      </p:sp>
      <p:sp>
        <p:nvSpPr>
          <p:cNvPr id="103" name="Google Shape;103;p2"/>
          <p:cNvSpPr/>
          <p:nvPr/>
        </p:nvSpPr>
        <p:spPr>
          <a:xfrm>
            <a:off x="651754" y="7766951"/>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4">
              <a:alphaModFix/>
            </a:blip>
            <a:stretch>
              <a:fillRect b="0" l="0" r="0" t="0"/>
            </a:stretch>
          </a:blipFill>
          <a:ln>
            <a:noFill/>
          </a:ln>
        </p:spPr>
      </p:sp>
      <p:sp>
        <p:nvSpPr>
          <p:cNvPr id="104" name="Google Shape;104;p2"/>
          <p:cNvSpPr txBox="1"/>
          <p:nvPr/>
        </p:nvSpPr>
        <p:spPr>
          <a:xfrm>
            <a:off x="1488748" y="5045515"/>
            <a:ext cx="8390471"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3434"/>
              <a:buFont typeface="Arial"/>
              <a:buNone/>
            </a:pPr>
            <a:r>
              <a:rPr b="0" i="0" lang="en-US" sz="3434" u="none" cap="none" strike="noStrike">
                <a:solidFill>
                  <a:srgbClr val="152540"/>
                </a:solidFill>
                <a:latin typeface="Arial"/>
                <a:ea typeface="Arial"/>
                <a:cs typeface="Arial"/>
                <a:sym typeface="Arial"/>
              </a:rPr>
              <a:t>Lenguaje Natural</a:t>
            </a:r>
            <a:endParaRPr b="0" i="0" sz="1400" u="none" cap="none" strike="noStrike">
              <a:solidFill>
                <a:srgbClr val="000000"/>
              </a:solidFill>
              <a:latin typeface="Arial"/>
              <a:ea typeface="Arial"/>
              <a:cs typeface="Arial"/>
              <a:sym typeface="Arial"/>
            </a:endParaRPr>
          </a:p>
        </p:txBody>
      </p:sp>
      <p:sp>
        <p:nvSpPr>
          <p:cNvPr id="105" name="Google Shape;105;p2"/>
          <p:cNvSpPr txBox="1"/>
          <p:nvPr/>
        </p:nvSpPr>
        <p:spPr>
          <a:xfrm>
            <a:off x="1488748" y="5729467"/>
            <a:ext cx="8390471"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3434"/>
              <a:buFont typeface="Arial"/>
              <a:buNone/>
            </a:pPr>
            <a:r>
              <a:rPr b="0" i="0" lang="en-US" sz="3434" u="none" cap="none" strike="noStrike">
                <a:solidFill>
                  <a:srgbClr val="152540"/>
                </a:solidFill>
                <a:latin typeface="Arial"/>
                <a:ea typeface="Arial"/>
                <a:cs typeface="Arial"/>
                <a:sym typeface="Arial"/>
              </a:rPr>
              <a:t>Lenguaje Formal</a:t>
            </a:r>
            <a:endParaRPr b="0" i="0" sz="1400" u="none" cap="none" strike="noStrike">
              <a:solidFill>
                <a:srgbClr val="000000"/>
              </a:solidFill>
              <a:latin typeface="Arial"/>
              <a:ea typeface="Arial"/>
              <a:cs typeface="Arial"/>
              <a:sym typeface="Arial"/>
            </a:endParaRPr>
          </a:p>
        </p:txBody>
      </p:sp>
      <p:sp>
        <p:nvSpPr>
          <p:cNvPr id="106" name="Google Shape;106;p2"/>
          <p:cNvSpPr txBox="1"/>
          <p:nvPr/>
        </p:nvSpPr>
        <p:spPr>
          <a:xfrm>
            <a:off x="1488748" y="6413758"/>
            <a:ext cx="8390471"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3434"/>
              <a:buFont typeface="Arial"/>
              <a:buNone/>
            </a:pPr>
            <a:r>
              <a:rPr b="0" i="0" lang="en-US" sz="3434" u="none" cap="none" strike="noStrike">
                <a:solidFill>
                  <a:srgbClr val="152540"/>
                </a:solidFill>
                <a:latin typeface="Arial"/>
                <a:ea typeface="Arial"/>
                <a:cs typeface="Arial"/>
                <a:sym typeface="Arial"/>
              </a:rPr>
              <a:t>Lenguajes de Programación</a:t>
            </a:r>
            <a:endParaRPr b="0" i="0" sz="1400" u="none" cap="none" strike="noStrike">
              <a:solidFill>
                <a:srgbClr val="000000"/>
              </a:solidFill>
              <a:latin typeface="Arial"/>
              <a:ea typeface="Arial"/>
              <a:cs typeface="Arial"/>
              <a:sym typeface="Arial"/>
            </a:endParaRPr>
          </a:p>
        </p:txBody>
      </p:sp>
      <p:sp>
        <p:nvSpPr>
          <p:cNvPr id="107" name="Google Shape;107;p2"/>
          <p:cNvSpPr txBox="1"/>
          <p:nvPr/>
        </p:nvSpPr>
        <p:spPr>
          <a:xfrm>
            <a:off x="1488748" y="7098048"/>
            <a:ext cx="10544673"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3434"/>
              <a:buFont typeface="Arial"/>
              <a:buNone/>
            </a:pPr>
            <a:r>
              <a:rPr b="0" i="0" lang="en-US" sz="3434" u="none" cap="none" strike="noStrike">
                <a:solidFill>
                  <a:srgbClr val="152540"/>
                </a:solidFill>
                <a:latin typeface="Arial"/>
                <a:ea typeface="Arial"/>
                <a:cs typeface="Arial"/>
                <a:sym typeface="Arial"/>
              </a:rPr>
              <a:t>Evolución de los Lenguajes de Programación</a:t>
            </a:r>
            <a:endParaRPr b="0" i="0" sz="1400" u="none" cap="none" strike="noStrike">
              <a:solidFill>
                <a:srgbClr val="000000"/>
              </a:solidFill>
              <a:latin typeface="Arial"/>
              <a:ea typeface="Arial"/>
              <a:cs typeface="Arial"/>
              <a:sym typeface="Arial"/>
            </a:endParaRPr>
          </a:p>
        </p:txBody>
      </p:sp>
      <p:sp>
        <p:nvSpPr>
          <p:cNvPr id="108" name="Google Shape;108;p2"/>
          <p:cNvSpPr txBox="1"/>
          <p:nvPr/>
        </p:nvSpPr>
        <p:spPr>
          <a:xfrm>
            <a:off x="1488748" y="7782338"/>
            <a:ext cx="8390471"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3434"/>
              <a:buFont typeface="Arial"/>
              <a:buNone/>
            </a:pPr>
            <a:r>
              <a:rPr b="0" i="0" lang="en-US" sz="3434" u="none" cap="none" strike="noStrike">
                <a:solidFill>
                  <a:srgbClr val="152540"/>
                </a:solidFill>
                <a:latin typeface="Arial"/>
                <a:ea typeface="Arial"/>
                <a:cs typeface="Arial"/>
                <a:sym typeface="Arial"/>
              </a:rPr>
              <a:t>Paradigmas</a:t>
            </a:r>
            <a:endParaRPr b="0" i="0" sz="1400" u="none" cap="none" strike="noStrike">
              <a:solidFill>
                <a:srgbClr val="000000"/>
              </a:solidFill>
              <a:latin typeface="Arial"/>
              <a:ea typeface="Arial"/>
              <a:cs typeface="Arial"/>
              <a:sym typeface="Arial"/>
            </a:endParaRPr>
          </a:p>
        </p:txBody>
      </p:sp>
      <p:sp>
        <p:nvSpPr>
          <p:cNvPr id="109" name="Google Shape;109;p2"/>
          <p:cNvSpPr txBox="1"/>
          <p:nvPr/>
        </p:nvSpPr>
        <p:spPr>
          <a:xfrm>
            <a:off x="1488748" y="8465782"/>
            <a:ext cx="11556332"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3434"/>
              <a:buFont typeface="Arial"/>
              <a:buNone/>
            </a:pPr>
            <a:r>
              <a:rPr b="0" i="0" lang="en-US" sz="3434" u="none" cap="none" strike="noStrike">
                <a:solidFill>
                  <a:srgbClr val="152540"/>
                </a:solidFill>
                <a:latin typeface="Arial"/>
                <a:ea typeface="Arial"/>
                <a:cs typeface="Arial"/>
                <a:sym typeface="Arial"/>
              </a:rPr>
              <a:t>Generaciones de los Lenguajes de Programación</a:t>
            </a:r>
            <a:endParaRPr b="0" i="0" sz="1400" u="none" cap="none" strike="noStrike">
              <a:solidFill>
                <a:srgbClr val="000000"/>
              </a:solidFill>
              <a:latin typeface="Arial"/>
              <a:ea typeface="Arial"/>
              <a:cs typeface="Arial"/>
              <a:sym typeface="Arial"/>
            </a:endParaRPr>
          </a:p>
        </p:txBody>
      </p:sp>
      <p:sp>
        <p:nvSpPr>
          <p:cNvPr id="110" name="Google Shape;110;p2"/>
          <p:cNvSpPr/>
          <p:nvPr/>
        </p:nvSpPr>
        <p:spPr>
          <a:xfrm>
            <a:off x="651754" y="8450395"/>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4">
              <a:alphaModFix/>
            </a:blip>
            <a:stretch>
              <a:fillRect b="0" l="0" r="0" t="0"/>
            </a:stretch>
          </a:blipFill>
          <a:ln>
            <a:noFill/>
          </a:ln>
        </p:spPr>
      </p:sp>
      <p:sp>
        <p:nvSpPr>
          <p:cNvPr id="111" name="Google Shape;111;p2"/>
          <p:cNvSpPr txBox="1"/>
          <p:nvPr/>
        </p:nvSpPr>
        <p:spPr>
          <a:xfrm>
            <a:off x="651749" y="490900"/>
            <a:ext cx="77103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nvSpPr>
        <p:spPr>
          <a:xfrm>
            <a:off x="1028700" y="1009650"/>
            <a:ext cx="16230600" cy="1806812"/>
          </a:xfrm>
          <a:prstGeom prst="rect">
            <a:avLst/>
          </a:prstGeom>
          <a:noFill/>
          <a:ln>
            <a:noFill/>
          </a:ln>
        </p:spPr>
        <p:txBody>
          <a:bodyPr anchorCtr="0" anchor="t" bIns="0" lIns="0" spcFirstLastPara="1" rIns="0" wrap="square" tIns="0">
            <a:spAutoFit/>
          </a:bodyPr>
          <a:lstStyle/>
          <a:p>
            <a:pPr indent="0" lvl="0" marL="0" marR="0" rtl="0" algn="l">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Arial"/>
                <a:ea typeface="Arial"/>
                <a:cs typeface="Arial"/>
                <a:sym typeface="Arial"/>
              </a:rPr>
              <a:t>COMPETENCIA QUE DESARROLLAREMOS</a:t>
            </a:r>
            <a:endParaRPr b="0" i="0" sz="1400" u="none" cap="none" strike="noStrike">
              <a:solidFill>
                <a:srgbClr val="000000"/>
              </a:solidFill>
              <a:latin typeface="Arial"/>
              <a:ea typeface="Arial"/>
              <a:cs typeface="Arial"/>
              <a:sym typeface="Arial"/>
            </a:endParaRPr>
          </a:p>
        </p:txBody>
      </p:sp>
      <p:sp>
        <p:nvSpPr>
          <p:cNvPr id="117" name="Google Shape;117;p3"/>
          <p:cNvSpPr txBox="1"/>
          <p:nvPr/>
        </p:nvSpPr>
        <p:spPr>
          <a:xfrm>
            <a:off x="1028700" y="3330575"/>
            <a:ext cx="16230600" cy="4406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El estudiante analiza la evolución y clasificación de los lenguajes formales y de programación mediante la comparación de sus características, estructuras y herramientas para comprender su organización y funcionamiento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nvSpPr>
        <p:spPr>
          <a:xfrm>
            <a:off x="1904222" y="1557983"/>
            <a:ext cx="11630208" cy="9207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0" i="0" lang="en-US" sz="5000" u="none" cap="none" strike="noStrike">
                <a:solidFill>
                  <a:srgbClr val="152540"/>
                </a:solidFill>
                <a:latin typeface="Arial"/>
                <a:ea typeface="Arial"/>
                <a:cs typeface="Arial"/>
                <a:sym typeface="Arial"/>
              </a:rPr>
              <a:t>LENGUAJE</a:t>
            </a:r>
            <a:endParaRPr b="0" i="0" sz="1400" u="none" cap="none" strike="noStrike">
              <a:solidFill>
                <a:srgbClr val="000000"/>
              </a:solidFill>
              <a:latin typeface="Arial"/>
              <a:ea typeface="Arial"/>
              <a:cs typeface="Arial"/>
              <a:sym typeface="Arial"/>
            </a:endParaRPr>
          </a:p>
        </p:txBody>
      </p:sp>
      <p:sp>
        <p:nvSpPr>
          <p:cNvPr id="123" name="Google Shape;123;p4"/>
          <p:cNvSpPr txBox="1"/>
          <p:nvPr/>
        </p:nvSpPr>
        <p:spPr>
          <a:xfrm>
            <a:off x="1904222" y="3364255"/>
            <a:ext cx="14701023" cy="54344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000000"/>
              </a:buClr>
              <a:buSzPts val="2794"/>
              <a:buFont typeface="Arial"/>
              <a:buNone/>
            </a:pPr>
            <a:r>
              <a:rPr b="0" i="0" lang="en-US" sz="2794" u="none" cap="none" strike="noStrike">
                <a:solidFill>
                  <a:srgbClr val="152540"/>
                </a:solidFill>
                <a:latin typeface="Arial"/>
                <a:ea typeface="Arial"/>
                <a:cs typeface="Arial"/>
                <a:sym typeface="Arial"/>
              </a:rPr>
              <a:t>El lenguaje natural es una herramienta esencial para la comunicación humana. Nos permite compartir nuestros pensamientos, sentimientos y experiencias con otras personas. También nos permite aprender, enseñar, negociar, resolver conflictos y construir relaciones.</a:t>
            </a:r>
            <a:endParaRPr b="0" i="0" sz="14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4"/>
              <a:buFont typeface="Arial"/>
              <a:buNone/>
            </a:pPr>
            <a:r>
              <a:t/>
            </a:r>
            <a:endParaRPr b="0" i="0" sz="2794" u="none" cap="none" strike="noStrike">
              <a:solidFill>
                <a:srgbClr val="152540"/>
              </a:solidFill>
              <a:latin typeface="Arial"/>
              <a:ea typeface="Arial"/>
              <a:cs typeface="Arial"/>
              <a:sym typeface="Arial"/>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Hablamos con nuestros amigos, familiares y colegas.</a:t>
            </a:r>
            <a:endParaRPr b="0" i="0" sz="1400" u="none" cap="none" strike="noStrike">
              <a:solidFill>
                <a:srgbClr val="000000"/>
              </a:solidFill>
              <a:latin typeface="Arial"/>
              <a:ea typeface="Arial"/>
              <a:cs typeface="Arial"/>
              <a:sym typeface="Arial"/>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Escribimos cartas, correos electrónicos y mensajes de texto.</a:t>
            </a:r>
            <a:endParaRPr b="0" i="0" sz="1400" u="none" cap="none" strike="noStrike">
              <a:solidFill>
                <a:srgbClr val="000000"/>
              </a:solidFill>
              <a:latin typeface="Arial"/>
              <a:ea typeface="Arial"/>
              <a:cs typeface="Arial"/>
              <a:sym typeface="Arial"/>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Leemos libros, artículos y periódicos.</a:t>
            </a:r>
            <a:endParaRPr b="0" i="0" sz="1400" u="none" cap="none" strike="noStrike">
              <a:solidFill>
                <a:srgbClr val="000000"/>
              </a:solidFill>
              <a:latin typeface="Arial"/>
              <a:ea typeface="Arial"/>
              <a:cs typeface="Arial"/>
              <a:sym typeface="Arial"/>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Vemos películas y programas de televisión.</a:t>
            </a:r>
            <a:endParaRPr b="0" i="0" sz="1400" u="none" cap="none" strike="noStrike">
              <a:solidFill>
                <a:srgbClr val="000000"/>
              </a:solidFill>
              <a:latin typeface="Arial"/>
              <a:ea typeface="Arial"/>
              <a:cs typeface="Arial"/>
              <a:sym typeface="Arial"/>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Escuchamos música.</a:t>
            </a:r>
            <a:endParaRPr b="0" i="0" sz="1400" u="none" cap="none" strike="noStrike">
              <a:solidFill>
                <a:srgbClr val="000000"/>
              </a:solidFill>
              <a:latin typeface="Arial"/>
              <a:ea typeface="Arial"/>
              <a:cs typeface="Arial"/>
              <a:sym typeface="Arial"/>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Utilizamos la Internet para comunicarnos con personas de todo el mundo. </a:t>
            </a:r>
            <a:endParaRPr b="0" i="0" sz="1400" u="none" cap="none" strike="noStrike">
              <a:solidFill>
                <a:srgbClr val="000000"/>
              </a:solidFill>
              <a:latin typeface="Arial"/>
              <a:ea typeface="Arial"/>
              <a:cs typeface="Arial"/>
              <a:sym typeface="Arial"/>
            </a:endParaRPr>
          </a:p>
        </p:txBody>
      </p:sp>
      <p:sp>
        <p:nvSpPr>
          <p:cNvPr id="124" name="Google Shape;124;p4"/>
          <p:cNvSpPr txBox="1"/>
          <p:nvPr/>
        </p:nvSpPr>
        <p:spPr>
          <a:xfrm>
            <a:off x="1904222" y="2454395"/>
            <a:ext cx="9175638" cy="819150"/>
          </a:xfrm>
          <a:prstGeom prst="rect">
            <a:avLst/>
          </a:prstGeom>
          <a:noFill/>
          <a:ln>
            <a:noFill/>
          </a:ln>
        </p:spPr>
        <p:txBody>
          <a:bodyPr anchorCtr="0" anchor="t" bIns="0" lIns="0" spcFirstLastPara="1" rIns="0" wrap="square" tIns="0">
            <a:spAutoFit/>
          </a:bodyPr>
          <a:lstStyle/>
          <a:p>
            <a:pPr indent="0" lvl="0" marL="0" marR="0" rtl="0" algn="l">
              <a:lnSpc>
                <a:spcPct val="139977"/>
              </a:lnSpc>
              <a:spcBef>
                <a:spcPts val="0"/>
              </a:spcBef>
              <a:spcAft>
                <a:spcPts val="0"/>
              </a:spcAft>
              <a:buClr>
                <a:srgbClr val="000000"/>
              </a:buClr>
              <a:buSzPts val="4500"/>
              <a:buFont typeface="Arial"/>
              <a:buNone/>
            </a:pPr>
            <a:r>
              <a:rPr b="0" i="0" lang="en-US" sz="4500" u="none" cap="none" strike="noStrike">
                <a:solidFill>
                  <a:srgbClr val="152540"/>
                </a:solidFill>
                <a:latin typeface="Arial"/>
                <a:ea typeface="Arial"/>
                <a:cs typeface="Arial"/>
                <a:sym typeface="Arial"/>
              </a:rPr>
              <a:t>NATURAL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nvSpPr>
        <p:spPr>
          <a:xfrm>
            <a:off x="1904222" y="3364255"/>
            <a:ext cx="14701023" cy="54344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000000"/>
              </a:buClr>
              <a:buSzPts val="2794"/>
              <a:buFont typeface="Arial"/>
              <a:buNone/>
            </a:pPr>
            <a:r>
              <a:rPr b="0" i="0" lang="en-US" sz="2794" u="none" cap="none" strike="noStrike">
                <a:solidFill>
                  <a:srgbClr val="152540"/>
                </a:solidFill>
                <a:latin typeface="Arial"/>
                <a:ea typeface="Arial"/>
                <a:cs typeface="Arial"/>
                <a:sym typeface="Arial"/>
              </a:rPr>
              <a:t>Un lenguaje formal es un lenguaje artificial que, a diferencia de los lenguajes naturales, no está centrado en la comunicación humana habitual, sino en la definición y aplicación de una serie de reglas específicas en un entorno específico. Consta de una serie de símbolos básicos, que se combinan en cadenas para formar expresiones complejas.</a:t>
            </a:r>
            <a:endParaRPr b="0" i="0" sz="14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4"/>
              <a:buFont typeface="Arial"/>
              <a:buNone/>
            </a:pPr>
            <a:r>
              <a:t/>
            </a:r>
            <a:endParaRPr b="0" i="0" sz="2794" u="none" cap="none" strike="noStrike">
              <a:solidFill>
                <a:srgbClr val="15254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4"/>
              <a:buFont typeface="Arial"/>
              <a:buNone/>
            </a:pPr>
            <a:r>
              <a:rPr b="0" i="0" lang="en-US" sz="2794" u="none" cap="none" strike="noStrike">
                <a:solidFill>
                  <a:srgbClr val="152540"/>
                </a:solidFill>
                <a:latin typeface="Arial"/>
                <a:ea typeface="Arial"/>
                <a:cs typeface="Arial"/>
                <a:sym typeface="Arial"/>
              </a:rPr>
              <a:t>Los símbolos constituyen el alfabeto de un lenguaje formal, mientras que las cadenas son las palabras. Tanto la combinación de los símbolos como la interpretación de las cadenas se realiza de acuerdo con reglas rigurosas, establecidas de antemano, que no admiten excepciones; en conjunto, estas reglas conforman la gramática del lenguaje. </a:t>
            </a:r>
            <a:endParaRPr b="0" i="0" sz="1400" u="none" cap="none" strike="noStrike">
              <a:solidFill>
                <a:srgbClr val="000000"/>
              </a:solidFill>
              <a:latin typeface="Arial"/>
              <a:ea typeface="Arial"/>
              <a:cs typeface="Arial"/>
              <a:sym typeface="Arial"/>
            </a:endParaRPr>
          </a:p>
        </p:txBody>
      </p:sp>
      <p:sp>
        <p:nvSpPr>
          <p:cNvPr id="130" name="Google Shape;130;p5"/>
          <p:cNvSpPr txBox="1"/>
          <p:nvPr/>
        </p:nvSpPr>
        <p:spPr>
          <a:xfrm>
            <a:off x="1904222" y="2454395"/>
            <a:ext cx="9175638" cy="819150"/>
          </a:xfrm>
          <a:prstGeom prst="rect">
            <a:avLst/>
          </a:prstGeom>
          <a:noFill/>
          <a:ln>
            <a:noFill/>
          </a:ln>
        </p:spPr>
        <p:txBody>
          <a:bodyPr anchorCtr="0" anchor="t" bIns="0" lIns="0" spcFirstLastPara="1" rIns="0" wrap="square" tIns="0">
            <a:spAutoFit/>
          </a:bodyPr>
          <a:lstStyle/>
          <a:p>
            <a:pPr indent="0" lvl="0" marL="0" marR="0" rtl="0" algn="l">
              <a:lnSpc>
                <a:spcPct val="139977"/>
              </a:lnSpc>
              <a:spcBef>
                <a:spcPts val="0"/>
              </a:spcBef>
              <a:spcAft>
                <a:spcPts val="0"/>
              </a:spcAft>
              <a:buClr>
                <a:srgbClr val="000000"/>
              </a:buClr>
              <a:buSzPts val="4500"/>
              <a:buFont typeface="Arial"/>
              <a:buNone/>
            </a:pPr>
            <a:r>
              <a:rPr b="0" i="0" lang="en-US" sz="4500" u="none" cap="none" strike="noStrike">
                <a:solidFill>
                  <a:srgbClr val="152540"/>
                </a:solidFill>
                <a:latin typeface="Arial"/>
                <a:ea typeface="Arial"/>
                <a:cs typeface="Arial"/>
                <a:sym typeface="Arial"/>
              </a:rPr>
              <a:t>FORMAL</a:t>
            </a:r>
            <a:endParaRPr b="0" i="0" sz="1400" u="none" cap="none" strike="noStrike">
              <a:solidFill>
                <a:srgbClr val="000000"/>
              </a:solidFill>
              <a:latin typeface="Arial"/>
              <a:ea typeface="Arial"/>
              <a:cs typeface="Arial"/>
              <a:sym typeface="Arial"/>
            </a:endParaRPr>
          </a:p>
        </p:txBody>
      </p:sp>
      <p:sp>
        <p:nvSpPr>
          <p:cNvPr id="131" name="Google Shape;131;p5"/>
          <p:cNvSpPr txBox="1"/>
          <p:nvPr/>
        </p:nvSpPr>
        <p:spPr>
          <a:xfrm>
            <a:off x="1904222" y="1557983"/>
            <a:ext cx="11630208" cy="9207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0" i="0" lang="en-US" sz="5000" u="none" cap="none" strike="noStrike">
                <a:solidFill>
                  <a:srgbClr val="152540"/>
                </a:solidFill>
                <a:latin typeface="Arial"/>
                <a:ea typeface="Arial"/>
                <a:cs typeface="Arial"/>
                <a:sym typeface="Arial"/>
              </a:rPr>
              <a:t>LENGUAJE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grpSp>
        <p:nvGrpSpPr>
          <p:cNvPr id="136" name="Google Shape;136;p6"/>
          <p:cNvGrpSpPr/>
          <p:nvPr/>
        </p:nvGrpSpPr>
        <p:grpSpPr>
          <a:xfrm>
            <a:off x="1541022" y="3666377"/>
            <a:ext cx="3475845" cy="2091375"/>
            <a:chOff x="0" y="-38100"/>
            <a:chExt cx="914818" cy="550435"/>
          </a:xfrm>
        </p:grpSpPr>
        <p:sp>
          <p:nvSpPr>
            <p:cNvPr id="137" name="Google Shape;137;p6"/>
            <p:cNvSpPr/>
            <p:nvPr/>
          </p:nvSpPr>
          <p:spPr>
            <a:xfrm>
              <a:off x="0" y="0"/>
              <a:ext cx="914818" cy="512335"/>
            </a:xfrm>
            <a:custGeom>
              <a:rect b="b" l="l" r="r" t="t"/>
              <a:pathLst>
                <a:path extrusionOk="0" h="512335" w="914818">
                  <a:moveTo>
                    <a:pt x="113595" y="0"/>
                  </a:moveTo>
                  <a:lnTo>
                    <a:pt x="801223" y="0"/>
                  </a:lnTo>
                  <a:cubicBezTo>
                    <a:pt x="863960" y="0"/>
                    <a:pt x="914818" y="50858"/>
                    <a:pt x="914818" y="113595"/>
                  </a:cubicBezTo>
                  <a:lnTo>
                    <a:pt x="914818" y="398740"/>
                  </a:lnTo>
                  <a:cubicBezTo>
                    <a:pt x="914818" y="461477"/>
                    <a:pt x="863960" y="512335"/>
                    <a:pt x="801223" y="512335"/>
                  </a:cubicBezTo>
                  <a:lnTo>
                    <a:pt x="113595" y="512335"/>
                  </a:lnTo>
                  <a:cubicBezTo>
                    <a:pt x="50858" y="512335"/>
                    <a:pt x="0" y="461477"/>
                    <a:pt x="0" y="398740"/>
                  </a:cubicBezTo>
                  <a:lnTo>
                    <a:pt x="0" y="113595"/>
                  </a:lnTo>
                  <a:cubicBezTo>
                    <a:pt x="0" y="50858"/>
                    <a:pt x="50858" y="0"/>
                    <a:pt x="113595" y="0"/>
                  </a:cubicBezTo>
                  <a:close/>
                </a:path>
              </a:pathLst>
            </a:custGeom>
            <a:solidFill>
              <a:srgbClr val="F1F1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6"/>
            <p:cNvSpPr txBox="1"/>
            <p:nvPr/>
          </p:nvSpPr>
          <p:spPr>
            <a:xfrm>
              <a:off x="0" y="-38100"/>
              <a:ext cx="914818" cy="550435"/>
            </a:xfrm>
            <a:prstGeom prst="rect">
              <a:avLst/>
            </a:prstGeom>
            <a:noFill/>
            <a:ln>
              <a:noFill/>
            </a:ln>
          </p:spPr>
          <p:txBody>
            <a:bodyPr anchorCtr="0" anchor="ctr" bIns="241300" lIns="241300" spcFirstLastPara="1" rIns="241300" wrap="square" tIns="241300">
              <a:noAutofit/>
            </a:bodyPr>
            <a:lstStyle/>
            <a:p>
              <a:pPr indent="0" lvl="0" marL="0" marR="0" rtl="0" algn="ctr">
                <a:lnSpc>
                  <a:spcPct val="14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Recursivamente Enumerables</a:t>
              </a:r>
              <a:endParaRPr b="0" i="0" sz="1400" u="none" cap="none" strike="noStrike">
                <a:solidFill>
                  <a:srgbClr val="000000"/>
                </a:solidFill>
                <a:latin typeface="Arial"/>
                <a:ea typeface="Arial"/>
                <a:cs typeface="Arial"/>
                <a:sym typeface="Arial"/>
              </a:endParaRPr>
            </a:p>
          </p:txBody>
        </p:sp>
      </p:grpSp>
      <p:grpSp>
        <p:nvGrpSpPr>
          <p:cNvPr id="139" name="Google Shape;139;p6"/>
          <p:cNvGrpSpPr/>
          <p:nvPr/>
        </p:nvGrpSpPr>
        <p:grpSpPr>
          <a:xfrm>
            <a:off x="5443973" y="3666377"/>
            <a:ext cx="3475845" cy="2091375"/>
            <a:chOff x="0" y="-38100"/>
            <a:chExt cx="914818" cy="550435"/>
          </a:xfrm>
        </p:grpSpPr>
        <p:sp>
          <p:nvSpPr>
            <p:cNvPr id="140" name="Google Shape;140;p6"/>
            <p:cNvSpPr/>
            <p:nvPr/>
          </p:nvSpPr>
          <p:spPr>
            <a:xfrm>
              <a:off x="0" y="0"/>
              <a:ext cx="914818" cy="512335"/>
            </a:xfrm>
            <a:custGeom>
              <a:rect b="b" l="l" r="r" t="t"/>
              <a:pathLst>
                <a:path extrusionOk="0" h="512335" w="914818">
                  <a:moveTo>
                    <a:pt x="113595" y="0"/>
                  </a:moveTo>
                  <a:lnTo>
                    <a:pt x="801223" y="0"/>
                  </a:lnTo>
                  <a:cubicBezTo>
                    <a:pt x="863960" y="0"/>
                    <a:pt x="914818" y="50858"/>
                    <a:pt x="914818" y="113595"/>
                  </a:cubicBezTo>
                  <a:lnTo>
                    <a:pt x="914818" y="398740"/>
                  </a:lnTo>
                  <a:cubicBezTo>
                    <a:pt x="914818" y="461477"/>
                    <a:pt x="863960" y="512335"/>
                    <a:pt x="801223" y="512335"/>
                  </a:cubicBezTo>
                  <a:lnTo>
                    <a:pt x="113595" y="512335"/>
                  </a:lnTo>
                  <a:cubicBezTo>
                    <a:pt x="50858" y="512335"/>
                    <a:pt x="0" y="461477"/>
                    <a:pt x="0" y="398740"/>
                  </a:cubicBezTo>
                  <a:lnTo>
                    <a:pt x="0" y="113595"/>
                  </a:lnTo>
                  <a:cubicBezTo>
                    <a:pt x="0" y="50858"/>
                    <a:pt x="50858" y="0"/>
                    <a:pt x="113595" y="0"/>
                  </a:cubicBezTo>
                  <a:close/>
                </a:path>
              </a:pathLst>
            </a:custGeom>
            <a:solidFill>
              <a:srgbClr val="F1F1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6"/>
            <p:cNvSpPr txBox="1"/>
            <p:nvPr/>
          </p:nvSpPr>
          <p:spPr>
            <a:xfrm>
              <a:off x="0" y="-38100"/>
              <a:ext cx="914818" cy="550435"/>
            </a:xfrm>
            <a:prstGeom prst="rect">
              <a:avLst/>
            </a:prstGeom>
            <a:noFill/>
            <a:ln>
              <a:noFill/>
            </a:ln>
          </p:spPr>
          <p:txBody>
            <a:bodyPr anchorCtr="0" anchor="ctr" bIns="241300" lIns="241300" spcFirstLastPara="1" rIns="241300" wrap="square" tIns="241300">
              <a:noAutofit/>
            </a:bodyPr>
            <a:lstStyle/>
            <a:p>
              <a:pPr indent="0" lvl="0" marL="0" marR="0" rtl="0" algn="ctr">
                <a:lnSpc>
                  <a:spcPct val="14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Requieren gramáticas sensibles al contexto</a:t>
              </a:r>
              <a:endParaRPr b="0" i="0" sz="1400" u="none" cap="none" strike="noStrike">
                <a:solidFill>
                  <a:srgbClr val="000000"/>
                </a:solidFill>
                <a:latin typeface="Arial"/>
                <a:ea typeface="Arial"/>
                <a:cs typeface="Arial"/>
                <a:sym typeface="Arial"/>
              </a:endParaRPr>
            </a:p>
          </p:txBody>
        </p:sp>
      </p:grpSp>
      <p:grpSp>
        <p:nvGrpSpPr>
          <p:cNvPr id="142" name="Google Shape;142;p6"/>
          <p:cNvGrpSpPr/>
          <p:nvPr/>
        </p:nvGrpSpPr>
        <p:grpSpPr>
          <a:xfrm>
            <a:off x="9314236" y="3666377"/>
            <a:ext cx="3475845" cy="2091375"/>
            <a:chOff x="0" y="-38100"/>
            <a:chExt cx="914818" cy="550435"/>
          </a:xfrm>
        </p:grpSpPr>
        <p:sp>
          <p:nvSpPr>
            <p:cNvPr id="143" name="Google Shape;143;p6"/>
            <p:cNvSpPr/>
            <p:nvPr/>
          </p:nvSpPr>
          <p:spPr>
            <a:xfrm>
              <a:off x="0" y="0"/>
              <a:ext cx="914818" cy="512335"/>
            </a:xfrm>
            <a:custGeom>
              <a:rect b="b" l="l" r="r" t="t"/>
              <a:pathLst>
                <a:path extrusionOk="0" h="512335" w="914818">
                  <a:moveTo>
                    <a:pt x="113595" y="0"/>
                  </a:moveTo>
                  <a:lnTo>
                    <a:pt x="801223" y="0"/>
                  </a:lnTo>
                  <a:cubicBezTo>
                    <a:pt x="863960" y="0"/>
                    <a:pt x="914818" y="50858"/>
                    <a:pt x="914818" y="113595"/>
                  </a:cubicBezTo>
                  <a:lnTo>
                    <a:pt x="914818" y="398740"/>
                  </a:lnTo>
                  <a:cubicBezTo>
                    <a:pt x="914818" y="461477"/>
                    <a:pt x="863960" y="512335"/>
                    <a:pt x="801223" y="512335"/>
                  </a:cubicBezTo>
                  <a:lnTo>
                    <a:pt x="113595" y="512335"/>
                  </a:lnTo>
                  <a:cubicBezTo>
                    <a:pt x="50858" y="512335"/>
                    <a:pt x="0" y="461477"/>
                    <a:pt x="0" y="398740"/>
                  </a:cubicBezTo>
                  <a:lnTo>
                    <a:pt x="0" y="113595"/>
                  </a:lnTo>
                  <a:cubicBezTo>
                    <a:pt x="0" y="50858"/>
                    <a:pt x="50858" y="0"/>
                    <a:pt x="113595" y="0"/>
                  </a:cubicBezTo>
                  <a:close/>
                </a:path>
              </a:pathLst>
            </a:custGeom>
            <a:solidFill>
              <a:srgbClr val="F1F1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6"/>
            <p:cNvSpPr txBox="1"/>
            <p:nvPr/>
          </p:nvSpPr>
          <p:spPr>
            <a:xfrm>
              <a:off x="0" y="-38100"/>
              <a:ext cx="914818" cy="550435"/>
            </a:xfrm>
            <a:prstGeom prst="rect">
              <a:avLst/>
            </a:prstGeom>
            <a:noFill/>
            <a:ln>
              <a:noFill/>
            </a:ln>
          </p:spPr>
          <p:txBody>
            <a:bodyPr anchorCtr="0" anchor="ctr" bIns="241300" lIns="241300" spcFirstLastPara="1" rIns="241300" wrap="square" tIns="241300">
              <a:noAutofit/>
            </a:bodyPr>
            <a:lstStyle/>
            <a:p>
              <a:pPr indent="0" lvl="0" marL="0" marR="0" rtl="0" algn="ctr">
                <a:lnSpc>
                  <a:spcPct val="14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Representados por gramáticas libres de contexto</a:t>
              </a:r>
              <a:endParaRPr b="0" i="0" sz="1400" u="none" cap="none" strike="noStrike">
                <a:solidFill>
                  <a:srgbClr val="000000"/>
                </a:solidFill>
                <a:latin typeface="Arial"/>
                <a:ea typeface="Arial"/>
                <a:cs typeface="Arial"/>
                <a:sym typeface="Arial"/>
              </a:endParaRPr>
            </a:p>
          </p:txBody>
        </p:sp>
      </p:grpSp>
      <p:grpSp>
        <p:nvGrpSpPr>
          <p:cNvPr id="145" name="Google Shape;145;p6"/>
          <p:cNvGrpSpPr/>
          <p:nvPr/>
        </p:nvGrpSpPr>
        <p:grpSpPr>
          <a:xfrm>
            <a:off x="13181346" y="3666377"/>
            <a:ext cx="3475845" cy="2091375"/>
            <a:chOff x="0" y="-38100"/>
            <a:chExt cx="914818" cy="550435"/>
          </a:xfrm>
        </p:grpSpPr>
        <p:sp>
          <p:nvSpPr>
            <p:cNvPr id="146" name="Google Shape;146;p6"/>
            <p:cNvSpPr/>
            <p:nvPr/>
          </p:nvSpPr>
          <p:spPr>
            <a:xfrm>
              <a:off x="0" y="0"/>
              <a:ext cx="914818" cy="512335"/>
            </a:xfrm>
            <a:custGeom>
              <a:rect b="b" l="l" r="r" t="t"/>
              <a:pathLst>
                <a:path extrusionOk="0" h="512335" w="914818">
                  <a:moveTo>
                    <a:pt x="113595" y="0"/>
                  </a:moveTo>
                  <a:lnTo>
                    <a:pt x="801223" y="0"/>
                  </a:lnTo>
                  <a:cubicBezTo>
                    <a:pt x="863960" y="0"/>
                    <a:pt x="914818" y="50858"/>
                    <a:pt x="914818" y="113595"/>
                  </a:cubicBezTo>
                  <a:lnTo>
                    <a:pt x="914818" y="398740"/>
                  </a:lnTo>
                  <a:cubicBezTo>
                    <a:pt x="914818" y="461477"/>
                    <a:pt x="863960" y="512335"/>
                    <a:pt x="801223" y="512335"/>
                  </a:cubicBezTo>
                  <a:lnTo>
                    <a:pt x="113595" y="512335"/>
                  </a:lnTo>
                  <a:cubicBezTo>
                    <a:pt x="50858" y="512335"/>
                    <a:pt x="0" y="461477"/>
                    <a:pt x="0" y="398740"/>
                  </a:cubicBezTo>
                  <a:lnTo>
                    <a:pt x="0" y="113595"/>
                  </a:lnTo>
                  <a:cubicBezTo>
                    <a:pt x="0" y="50858"/>
                    <a:pt x="50858" y="0"/>
                    <a:pt x="113595" y="0"/>
                  </a:cubicBezTo>
                  <a:close/>
                </a:path>
              </a:pathLst>
            </a:custGeom>
            <a:solidFill>
              <a:srgbClr val="F1F1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6"/>
            <p:cNvSpPr txBox="1"/>
            <p:nvPr/>
          </p:nvSpPr>
          <p:spPr>
            <a:xfrm>
              <a:off x="0" y="-38100"/>
              <a:ext cx="914818" cy="550435"/>
            </a:xfrm>
            <a:prstGeom prst="rect">
              <a:avLst/>
            </a:prstGeom>
            <a:noFill/>
            <a:ln>
              <a:noFill/>
            </a:ln>
          </p:spPr>
          <p:txBody>
            <a:bodyPr anchorCtr="0" anchor="ctr" bIns="241300" lIns="241300" spcFirstLastPara="1" rIns="241300" wrap="square" tIns="241300">
              <a:noAutofit/>
            </a:bodyPr>
            <a:lstStyle/>
            <a:p>
              <a:pPr indent="0" lvl="0" marL="0" marR="0" rtl="0" algn="ctr">
                <a:lnSpc>
                  <a:spcPct val="14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Se describen mediante autómatas finitos o expresiones regulares</a:t>
              </a:r>
              <a:endParaRPr b="0" i="0" sz="1400" u="none" cap="none" strike="noStrike">
                <a:solidFill>
                  <a:srgbClr val="000000"/>
                </a:solidFill>
                <a:latin typeface="Arial"/>
                <a:ea typeface="Arial"/>
                <a:cs typeface="Arial"/>
                <a:sym typeface="Arial"/>
              </a:endParaRPr>
            </a:p>
          </p:txBody>
        </p:sp>
      </p:grpSp>
      <p:grpSp>
        <p:nvGrpSpPr>
          <p:cNvPr id="148" name="Google Shape;148;p6"/>
          <p:cNvGrpSpPr/>
          <p:nvPr/>
        </p:nvGrpSpPr>
        <p:grpSpPr>
          <a:xfrm>
            <a:off x="2635924" y="2943848"/>
            <a:ext cx="1286042" cy="1105192"/>
            <a:chOff x="0" y="0"/>
            <a:chExt cx="812800" cy="698500"/>
          </a:xfrm>
        </p:grpSpPr>
        <p:sp>
          <p:nvSpPr>
            <p:cNvPr id="149" name="Google Shape;149;p6"/>
            <p:cNvSpPr/>
            <p:nvPr/>
          </p:nvSpPr>
          <p:spPr>
            <a:xfrm>
              <a:off x="0" y="0"/>
              <a:ext cx="812800" cy="698500"/>
            </a:xfrm>
            <a:custGeom>
              <a:rect b="b" l="l" r="r" t="t"/>
              <a:pathLst>
                <a:path extrusionOk="0"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EDC0C1"/>
            </a:solidFill>
            <a:ln>
              <a:noFill/>
            </a:ln>
          </p:spPr>
        </p:sp>
        <p:sp>
          <p:nvSpPr>
            <p:cNvPr id="150" name="Google Shape;150;p6"/>
            <p:cNvSpPr txBox="1"/>
            <p:nvPr/>
          </p:nvSpPr>
          <p:spPr>
            <a:xfrm>
              <a:off x="114300" y="57150"/>
              <a:ext cx="584200" cy="641350"/>
            </a:xfrm>
            <a:prstGeom prst="rect">
              <a:avLst/>
            </a:prstGeom>
            <a:noFill/>
            <a:ln>
              <a:noFill/>
            </a:ln>
          </p:spPr>
          <p:txBody>
            <a:bodyPr anchorCtr="0" anchor="ctr" bIns="10475" lIns="10475" spcFirstLastPara="1" rIns="10475" wrap="square" tIns="10475">
              <a:noAutofit/>
            </a:bodyPr>
            <a:lstStyle/>
            <a:p>
              <a:pPr indent="0" lvl="0" marL="0" marR="0" rtl="0" algn="ctr">
                <a:lnSpc>
                  <a:spcPct val="98999"/>
                </a:lnSpc>
                <a:spcBef>
                  <a:spcPts val="0"/>
                </a:spcBef>
                <a:spcAft>
                  <a:spcPts val="0"/>
                </a:spcAft>
                <a:buClr>
                  <a:srgbClr val="000000"/>
                </a:buClr>
                <a:buSzPts val="2399"/>
                <a:buFont typeface="Arial"/>
                <a:buNone/>
              </a:pPr>
              <a:r>
                <a:rPr b="1" i="0" lang="en-US" sz="2399" u="none" cap="none" strike="noStrike">
                  <a:solidFill>
                    <a:srgbClr val="010204"/>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151" name="Google Shape;151;p6"/>
          <p:cNvGrpSpPr/>
          <p:nvPr/>
        </p:nvGrpSpPr>
        <p:grpSpPr>
          <a:xfrm>
            <a:off x="10409138" y="2943848"/>
            <a:ext cx="1286042" cy="1105192"/>
            <a:chOff x="0" y="0"/>
            <a:chExt cx="812800" cy="698500"/>
          </a:xfrm>
        </p:grpSpPr>
        <p:sp>
          <p:nvSpPr>
            <p:cNvPr id="152" name="Google Shape;152;p6"/>
            <p:cNvSpPr/>
            <p:nvPr/>
          </p:nvSpPr>
          <p:spPr>
            <a:xfrm>
              <a:off x="0" y="0"/>
              <a:ext cx="812800" cy="698500"/>
            </a:xfrm>
            <a:custGeom>
              <a:rect b="b" l="l" r="r" t="t"/>
              <a:pathLst>
                <a:path extrusionOk="0"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CFAACD"/>
            </a:solidFill>
            <a:ln>
              <a:noFill/>
            </a:ln>
          </p:spPr>
        </p:sp>
        <p:sp>
          <p:nvSpPr>
            <p:cNvPr id="153" name="Google Shape;153;p6"/>
            <p:cNvSpPr txBox="1"/>
            <p:nvPr/>
          </p:nvSpPr>
          <p:spPr>
            <a:xfrm>
              <a:off x="114300" y="57150"/>
              <a:ext cx="584200" cy="641350"/>
            </a:xfrm>
            <a:prstGeom prst="rect">
              <a:avLst/>
            </a:prstGeom>
            <a:noFill/>
            <a:ln>
              <a:noFill/>
            </a:ln>
          </p:spPr>
          <p:txBody>
            <a:bodyPr anchorCtr="0" anchor="ctr" bIns="10475" lIns="10475" spcFirstLastPara="1" rIns="10475" wrap="square" tIns="10475">
              <a:noAutofit/>
            </a:bodyPr>
            <a:lstStyle/>
            <a:p>
              <a:pPr indent="0" lvl="0" marL="0" marR="0" rtl="0" algn="ctr">
                <a:lnSpc>
                  <a:spcPct val="98999"/>
                </a:lnSpc>
                <a:spcBef>
                  <a:spcPts val="0"/>
                </a:spcBef>
                <a:spcAft>
                  <a:spcPts val="0"/>
                </a:spcAft>
                <a:buClr>
                  <a:srgbClr val="000000"/>
                </a:buClr>
                <a:buSzPts val="2399"/>
                <a:buFont typeface="Arial"/>
                <a:buNone/>
              </a:pPr>
              <a:r>
                <a:rPr b="1" i="0" lang="en-US" sz="2399" u="none" cap="none" strike="noStrike">
                  <a:solidFill>
                    <a:srgbClr val="010204"/>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grpSp>
      <p:grpSp>
        <p:nvGrpSpPr>
          <p:cNvPr id="154" name="Google Shape;154;p6"/>
          <p:cNvGrpSpPr/>
          <p:nvPr/>
        </p:nvGrpSpPr>
        <p:grpSpPr>
          <a:xfrm>
            <a:off x="6538875" y="2943848"/>
            <a:ext cx="1286042" cy="1105192"/>
            <a:chOff x="0" y="0"/>
            <a:chExt cx="812800" cy="698500"/>
          </a:xfrm>
        </p:grpSpPr>
        <p:sp>
          <p:nvSpPr>
            <p:cNvPr id="155" name="Google Shape;155;p6"/>
            <p:cNvSpPr/>
            <p:nvPr/>
          </p:nvSpPr>
          <p:spPr>
            <a:xfrm>
              <a:off x="0" y="0"/>
              <a:ext cx="812800" cy="698500"/>
            </a:xfrm>
            <a:custGeom>
              <a:rect b="b" l="l" r="r" t="t"/>
              <a:pathLst>
                <a:path extrusionOk="0"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D5D8B9"/>
            </a:solidFill>
            <a:ln>
              <a:noFill/>
            </a:ln>
          </p:spPr>
        </p:sp>
        <p:sp>
          <p:nvSpPr>
            <p:cNvPr id="156" name="Google Shape;156;p6"/>
            <p:cNvSpPr txBox="1"/>
            <p:nvPr/>
          </p:nvSpPr>
          <p:spPr>
            <a:xfrm>
              <a:off x="114300" y="57150"/>
              <a:ext cx="584200" cy="641350"/>
            </a:xfrm>
            <a:prstGeom prst="rect">
              <a:avLst/>
            </a:prstGeom>
            <a:noFill/>
            <a:ln>
              <a:noFill/>
            </a:ln>
          </p:spPr>
          <p:txBody>
            <a:bodyPr anchorCtr="0" anchor="ctr" bIns="10475" lIns="10475" spcFirstLastPara="1" rIns="10475" wrap="square" tIns="10475">
              <a:noAutofit/>
            </a:bodyPr>
            <a:lstStyle/>
            <a:p>
              <a:pPr indent="0" lvl="0" marL="0" marR="0" rtl="0" algn="ctr">
                <a:lnSpc>
                  <a:spcPct val="98999"/>
                </a:lnSpc>
                <a:spcBef>
                  <a:spcPts val="0"/>
                </a:spcBef>
                <a:spcAft>
                  <a:spcPts val="0"/>
                </a:spcAft>
                <a:buClr>
                  <a:srgbClr val="000000"/>
                </a:buClr>
                <a:buSzPts val="2399"/>
                <a:buFont typeface="Arial"/>
                <a:buNone/>
              </a:pPr>
              <a:r>
                <a:rPr b="1" i="0" lang="en-US" sz="2399" u="none" cap="none" strike="noStrike">
                  <a:solidFill>
                    <a:srgbClr val="010204"/>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grpSp>
      <p:grpSp>
        <p:nvGrpSpPr>
          <p:cNvPr id="157" name="Google Shape;157;p6"/>
          <p:cNvGrpSpPr/>
          <p:nvPr/>
        </p:nvGrpSpPr>
        <p:grpSpPr>
          <a:xfrm>
            <a:off x="14276248" y="2943848"/>
            <a:ext cx="1286042" cy="1105192"/>
            <a:chOff x="0" y="0"/>
            <a:chExt cx="812800" cy="698500"/>
          </a:xfrm>
        </p:grpSpPr>
        <p:sp>
          <p:nvSpPr>
            <p:cNvPr id="158" name="Google Shape;158;p6"/>
            <p:cNvSpPr/>
            <p:nvPr/>
          </p:nvSpPr>
          <p:spPr>
            <a:xfrm>
              <a:off x="0" y="0"/>
              <a:ext cx="812800" cy="698500"/>
            </a:xfrm>
            <a:custGeom>
              <a:rect b="b" l="l" r="r" t="t"/>
              <a:pathLst>
                <a:path extrusionOk="0"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B6C9DE"/>
            </a:solidFill>
            <a:ln>
              <a:noFill/>
            </a:ln>
          </p:spPr>
        </p:sp>
        <p:sp>
          <p:nvSpPr>
            <p:cNvPr id="159" name="Google Shape;159;p6"/>
            <p:cNvSpPr txBox="1"/>
            <p:nvPr/>
          </p:nvSpPr>
          <p:spPr>
            <a:xfrm>
              <a:off x="114300" y="57150"/>
              <a:ext cx="584200" cy="641350"/>
            </a:xfrm>
            <a:prstGeom prst="rect">
              <a:avLst/>
            </a:prstGeom>
            <a:noFill/>
            <a:ln>
              <a:noFill/>
            </a:ln>
          </p:spPr>
          <p:txBody>
            <a:bodyPr anchorCtr="0" anchor="ctr" bIns="10475" lIns="10475" spcFirstLastPara="1" rIns="10475" wrap="square" tIns="10475">
              <a:noAutofit/>
            </a:bodyPr>
            <a:lstStyle/>
            <a:p>
              <a:pPr indent="0" lvl="0" marL="0" marR="0" rtl="0" algn="ctr">
                <a:lnSpc>
                  <a:spcPct val="98999"/>
                </a:lnSpc>
                <a:spcBef>
                  <a:spcPts val="0"/>
                </a:spcBef>
                <a:spcAft>
                  <a:spcPts val="0"/>
                </a:spcAft>
                <a:buClr>
                  <a:srgbClr val="000000"/>
                </a:buClr>
                <a:buSzPts val="2399"/>
                <a:buFont typeface="Arial"/>
                <a:buNone/>
              </a:pPr>
              <a:r>
                <a:rPr b="1" i="0" lang="en-US" sz="2399" u="none" cap="none" strike="noStrike">
                  <a:solidFill>
                    <a:srgbClr val="010204"/>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grpSp>
      <p:grpSp>
        <p:nvGrpSpPr>
          <p:cNvPr id="160" name="Google Shape;160;p6"/>
          <p:cNvGrpSpPr/>
          <p:nvPr/>
        </p:nvGrpSpPr>
        <p:grpSpPr>
          <a:xfrm>
            <a:off x="3278945" y="1471766"/>
            <a:ext cx="11634134" cy="1472082"/>
            <a:chOff x="15095" y="0"/>
            <a:chExt cx="15512178" cy="1962776"/>
          </a:xfrm>
        </p:grpSpPr>
        <p:cxnSp>
          <p:nvCxnSpPr>
            <p:cNvPr id="161" name="Google Shape;161;p6"/>
            <p:cNvCxnSpPr/>
            <p:nvPr/>
          </p:nvCxnSpPr>
          <p:spPr>
            <a:xfrm flipH="1" rot="10800000">
              <a:off x="19050" y="999105"/>
              <a:ext cx="5173" cy="963671"/>
            </a:xfrm>
            <a:prstGeom prst="straightConnector1">
              <a:avLst/>
            </a:prstGeom>
            <a:noFill/>
            <a:ln cap="flat" cmpd="sng" w="38100">
              <a:solidFill>
                <a:srgbClr val="000000"/>
              </a:solidFill>
              <a:prstDash val="solid"/>
              <a:round/>
              <a:headEnd len="sm" w="sm" type="none"/>
              <a:tailEnd len="sm" w="sm" type="none"/>
            </a:ln>
          </p:spPr>
        </p:cxnSp>
        <p:cxnSp>
          <p:nvCxnSpPr>
            <p:cNvPr id="162" name="Google Shape;162;p6"/>
            <p:cNvCxnSpPr/>
            <p:nvPr/>
          </p:nvCxnSpPr>
          <p:spPr>
            <a:xfrm flipH="1" rot="10800000">
              <a:off x="5222984" y="999105"/>
              <a:ext cx="5173" cy="963671"/>
            </a:xfrm>
            <a:prstGeom prst="straightConnector1">
              <a:avLst/>
            </a:prstGeom>
            <a:noFill/>
            <a:ln cap="flat" cmpd="sng" w="38100">
              <a:solidFill>
                <a:srgbClr val="000000"/>
              </a:solidFill>
              <a:prstDash val="solid"/>
              <a:round/>
              <a:headEnd len="sm" w="sm" type="none"/>
              <a:tailEnd len="sm" w="sm" type="none"/>
            </a:ln>
          </p:spPr>
        </p:cxnSp>
        <p:cxnSp>
          <p:nvCxnSpPr>
            <p:cNvPr id="163" name="Google Shape;163;p6"/>
            <p:cNvCxnSpPr/>
            <p:nvPr/>
          </p:nvCxnSpPr>
          <p:spPr>
            <a:xfrm rot="10800000">
              <a:off x="7826041" y="0"/>
              <a:ext cx="0" cy="998383"/>
            </a:xfrm>
            <a:prstGeom prst="straightConnector1">
              <a:avLst/>
            </a:prstGeom>
            <a:noFill/>
            <a:ln cap="flat" cmpd="sng" w="38100">
              <a:solidFill>
                <a:srgbClr val="000000"/>
              </a:solidFill>
              <a:prstDash val="solid"/>
              <a:round/>
              <a:headEnd len="sm" w="sm" type="none"/>
              <a:tailEnd len="sm" w="sm" type="none"/>
            </a:ln>
          </p:spPr>
        </p:cxnSp>
        <p:cxnSp>
          <p:nvCxnSpPr>
            <p:cNvPr id="164" name="Google Shape;164;p6"/>
            <p:cNvCxnSpPr/>
            <p:nvPr/>
          </p:nvCxnSpPr>
          <p:spPr>
            <a:xfrm>
              <a:off x="15095" y="998744"/>
              <a:ext cx="15501382" cy="0"/>
            </a:xfrm>
            <a:prstGeom prst="straightConnector1">
              <a:avLst/>
            </a:prstGeom>
            <a:noFill/>
            <a:ln cap="flat" cmpd="sng" w="38100">
              <a:solidFill>
                <a:srgbClr val="000000"/>
              </a:solidFill>
              <a:prstDash val="solid"/>
              <a:round/>
              <a:headEnd len="sm" w="sm" type="none"/>
              <a:tailEnd len="sm" w="sm" type="none"/>
            </a:ln>
          </p:spPr>
        </p:cxnSp>
        <p:cxnSp>
          <p:nvCxnSpPr>
            <p:cNvPr id="165" name="Google Shape;165;p6"/>
            <p:cNvCxnSpPr/>
            <p:nvPr/>
          </p:nvCxnSpPr>
          <p:spPr>
            <a:xfrm rot="10800000">
              <a:off x="10372932" y="999105"/>
              <a:ext cx="3654" cy="963671"/>
            </a:xfrm>
            <a:prstGeom prst="straightConnector1">
              <a:avLst/>
            </a:prstGeom>
            <a:noFill/>
            <a:ln cap="flat" cmpd="sng" w="38100">
              <a:solidFill>
                <a:srgbClr val="000000"/>
              </a:solidFill>
              <a:prstDash val="solid"/>
              <a:round/>
              <a:headEnd len="sm" w="sm" type="none"/>
              <a:tailEnd len="sm" w="sm" type="none"/>
            </a:ln>
          </p:spPr>
        </p:cxnSp>
        <p:cxnSp>
          <p:nvCxnSpPr>
            <p:cNvPr id="166" name="Google Shape;166;p6"/>
            <p:cNvCxnSpPr/>
            <p:nvPr/>
          </p:nvCxnSpPr>
          <p:spPr>
            <a:xfrm rot="10800000">
              <a:off x="15516477" y="999105"/>
              <a:ext cx="10796" cy="963671"/>
            </a:xfrm>
            <a:prstGeom prst="straightConnector1">
              <a:avLst/>
            </a:prstGeom>
            <a:noFill/>
            <a:ln cap="flat" cmpd="sng" w="38100">
              <a:solidFill>
                <a:srgbClr val="000000"/>
              </a:solidFill>
              <a:prstDash val="solid"/>
              <a:round/>
              <a:headEnd len="sm" w="sm" type="none"/>
              <a:tailEnd len="sm" w="sm" type="none"/>
            </a:ln>
          </p:spPr>
        </p:cxnSp>
      </p:grpSp>
      <p:grpSp>
        <p:nvGrpSpPr>
          <p:cNvPr id="167" name="Google Shape;167;p6"/>
          <p:cNvGrpSpPr/>
          <p:nvPr/>
        </p:nvGrpSpPr>
        <p:grpSpPr>
          <a:xfrm>
            <a:off x="1530369" y="5798010"/>
            <a:ext cx="3474509" cy="1484170"/>
            <a:chOff x="0" y="-38100"/>
            <a:chExt cx="914818" cy="390773"/>
          </a:xfrm>
        </p:grpSpPr>
        <p:sp>
          <p:nvSpPr>
            <p:cNvPr id="168" name="Google Shape;168;p6"/>
            <p:cNvSpPr/>
            <p:nvPr/>
          </p:nvSpPr>
          <p:spPr>
            <a:xfrm>
              <a:off x="0" y="0"/>
              <a:ext cx="914818" cy="352673"/>
            </a:xfrm>
            <a:custGeom>
              <a:rect b="b" l="l" r="r" t="t"/>
              <a:pathLst>
                <a:path extrusionOk="0" h="352673" w="914818">
                  <a:moveTo>
                    <a:pt x="113638" y="0"/>
                  </a:moveTo>
                  <a:lnTo>
                    <a:pt x="801180" y="0"/>
                  </a:lnTo>
                  <a:cubicBezTo>
                    <a:pt x="831318" y="0"/>
                    <a:pt x="860223" y="11973"/>
                    <a:pt x="881534" y="33284"/>
                  </a:cubicBezTo>
                  <a:cubicBezTo>
                    <a:pt x="902845" y="54595"/>
                    <a:pt x="914818" y="83500"/>
                    <a:pt x="914818" y="113638"/>
                  </a:cubicBezTo>
                  <a:lnTo>
                    <a:pt x="914818" y="239035"/>
                  </a:lnTo>
                  <a:cubicBezTo>
                    <a:pt x="914818" y="301796"/>
                    <a:pt x="863940" y="352673"/>
                    <a:pt x="801180" y="352673"/>
                  </a:cubicBezTo>
                  <a:lnTo>
                    <a:pt x="113638" y="352673"/>
                  </a:lnTo>
                  <a:cubicBezTo>
                    <a:pt x="83500" y="352673"/>
                    <a:pt x="54595" y="340701"/>
                    <a:pt x="33284" y="319390"/>
                  </a:cubicBezTo>
                  <a:cubicBezTo>
                    <a:pt x="11973" y="298078"/>
                    <a:pt x="0" y="269174"/>
                    <a:pt x="0" y="239035"/>
                  </a:cubicBezTo>
                  <a:lnTo>
                    <a:pt x="0" y="113638"/>
                  </a:lnTo>
                  <a:cubicBezTo>
                    <a:pt x="0" y="83500"/>
                    <a:pt x="11973" y="54595"/>
                    <a:pt x="33284" y="33284"/>
                  </a:cubicBezTo>
                  <a:cubicBezTo>
                    <a:pt x="54595" y="11973"/>
                    <a:pt x="83500" y="0"/>
                    <a:pt x="113638" y="0"/>
                  </a:cubicBezTo>
                  <a:close/>
                </a:path>
              </a:pathLst>
            </a:custGeom>
            <a:solidFill>
              <a:srgbClr val="EDC0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6"/>
            <p:cNvSpPr txBox="1"/>
            <p:nvPr/>
          </p:nvSpPr>
          <p:spPr>
            <a:xfrm>
              <a:off x="0" y="-38100"/>
              <a:ext cx="914818" cy="390773"/>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00000"/>
                </a:buClr>
                <a:buSzPts val="2199"/>
                <a:buFont typeface="Arial"/>
                <a:buNone/>
              </a:pPr>
              <a:r>
                <a:rPr b="0" i="0" lang="en-US" sz="2199" u="none" cap="none" strike="noStrike">
                  <a:solidFill>
                    <a:srgbClr val="010204"/>
                  </a:solidFill>
                  <a:latin typeface="Arial"/>
                  <a:ea typeface="Arial"/>
                  <a:cs typeface="Arial"/>
                  <a:sym typeface="Arial"/>
                </a:rPr>
                <a:t>Máquina de Turing</a:t>
              </a:r>
              <a:endParaRPr b="0" i="0" sz="1400" u="none" cap="none" strike="noStrike">
                <a:solidFill>
                  <a:srgbClr val="000000"/>
                </a:solidFill>
                <a:latin typeface="Arial"/>
                <a:ea typeface="Arial"/>
                <a:cs typeface="Arial"/>
                <a:sym typeface="Arial"/>
              </a:endParaRPr>
            </a:p>
          </p:txBody>
        </p:sp>
      </p:grpSp>
      <p:grpSp>
        <p:nvGrpSpPr>
          <p:cNvPr id="170" name="Google Shape;170;p6"/>
          <p:cNvGrpSpPr/>
          <p:nvPr/>
        </p:nvGrpSpPr>
        <p:grpSpPr>
          <a:xfrm>
            <a:off x="5443973" y="5798010"/>
            <a:ext cx="3474509" cy="1484170"/>
            <a:chOff x="0" y="-38100"/>
            <a:chExt cx="914818" cy="390773"/>
          </a:xfrm>
        </p:grpSpPr>
        <p:sp>
          <p:nvSpPr>
            <p:cNvPr id="171" name="Google Shape;171;p6"/>
            <p:cNvSpPr/>
            <p:nvPr/>
          </p:nvSpPr>
          <p:spPr>
            <a:xfrm>
              <a:off x="0" y="0"/>
              <a:ext cx="914818" cy="352673"/>
            </a:xfrm>
            <a:custGeom>
              <a:rect b="b" l="l" r="r" t="t"/>
              <a:pathLst>
                <a:path extrusionOk="0" h="352673" w="914818">
                  <a:moveTo>
                    <a:pt x="113638" y="0"/>
                  </a:moveTo>
                  <a:lnTo>
                    <a:pt x="801180" y="0"/>
                  </a:lnTo>
                  <a:cubicBezTo>
                    <a:pt x="831318" y="0"/>
                    <a:pt x="860223" y="11973"/>
                    <a:pt x="881534" y="33284"/>
                  </a:cubicBezTo>
                  <a:cubicBezTo>
                    <a:pt x="902845" y="54595"/>
                    <a:pt x="914818" y="83500"/>
                    <a:pt x="914818" y="113638"/>
                  </a:cubicBezTo>
                  <a:lnTo>
                    <a:pt x="914818" y="239035"/>
                  </a:lnTo>
                  <a:cubicBezTo>
                    <a:pt x="914818" y="301796"/>
                    <a:pt x="863940" y="352673"/>
                    <a:pt x="801180" y="352673"/>
                  </a:cubicBezTo>
                  <a:lnTo>
                    <a:pt x="113638" y="352673"/>
                  </a:lnTo>
                  <a:cubicBezTo>
                    <a:pt x="83500" y="352673"/>
                    <a:pt x="54595" y="340701"/>
                    <a:pt x="33284" y="319390"/>
                  </a:cubicBezTo>
                  <a:cubicBezTo>
                    <a:pt x="11973" y="298078"/>
                    <a:pt x="0" y="269174"/>
                    <a:pt x="0" y="239035"/>
                  </a:cubicBezTo>
                  <a:lnTo>
                    <a:pt x="0" y="113638"/>
                  </a:lnTo>
                  <a:cubicBezTo>
                    <a:pt x="0" y="83500"/>
                    <a:pt x="11973" y="54595"/>
                    <a:pt x="33284" y="33284"/>
                  </a:cubicBezTo>
                  <a:cubicBezTo>
                    <a:pt x="54595" y="11973"/>
                    <a:pt x="83500" y="0"/>
                    <a:pt x="113638" y="0"/>
                  </a:cubicBezTo>
                  <a:close/>
                </a:path>
              </a:pathLst>
            </a:custGeom>
            <a:solidFill>
              <a:srgbClr val="D5D8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6"/>
            <p:cNvSpPr txBox="1"/>
            <p:nvPr/>
          </p:nvSpPr>
          <p:spPr>
            <a:xfrm>
              <a:off x="0" y="-38100"/>
              <a:ext cx="914818" cy="390773"/>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00000"/>
                </a:buClr>
                <a:buSzPts val="2199"/>
                <a:buFont typeface="Arial"/>
                <a:buNone/>
              </a:pPr>
              <a:r>
                <a:rPr b="0" i="0" lang="en-US" sz="2199" u="none" cap="none" strike="noStrike">
                  <a:solidFill>
                    <a:srgbClr val="010204"/>
                  </a:solidFill>
                  <a:latin typeface="Arial"/>
                  <a:ea typeface="Arial"/>
                  <a:cs typeface="Arial"/>
                  <a:sym typeface="Arial"/>
                </a:rPr>
                <a:t>Máquina de Turing Acotada</a:t>
              </a:r>
              <a:endParaRPr b="0" i="0" sz="1400" u="none" cap="none" strike="noStrike">
                <a:solidFill>
                  <a:srgbClr val="000000"/>
                </a:solidFill>
                <a:latin typeface="Arial"/>
                <a:ea typeface="Arial"/>
                <a:cs typeface="Arial"/>
                <a:sym typeface="Arial"/>
              </a:endParaRPr>
            </a:p>
          </p:txBody>
        </p:sp>
      </p:grpSp>
      <p:grpSp>
        <p:nvGrpSpPr>
          <p:cNvPr id="173" name="Google Shape;173;p6"/>
          <p:cNvGrpSpPr/>
          <p:nvPr/>
        </p:nvGrpSpPr>
        <p:grpSpPr>
          <a:xfrm>
            <a:off x="9356632" y="5798010"/>
            <a:ext cx="3474509" cy="1484170"/>
            <a:chOff x="0" y="-38100"/>
            <a:chExt cx="914818" cy="390773"/>
          </a:xfrm>
        </p:grpSpPr>
        <p:sp>
          <p:nvSpPr>
            <p:cNvPr id="174" name="Google Shape;174;p6"/>
            <p:cNvSpPr/>
            <p:nvPr/>
          </p:nvSpPr>
          <p:spPr>
            <a:xfrm>
              <a:off x="0" y="0"/>
              <a:ext cx="914818" cy="352673"/>
            </a:xfrm>
            <a:custGeom>
              <a:rect b="b" l="l" r="r" t="t"/>
              <a:pathLst>
                <a:path extrusionOk="0" h="352673" w="914818">
                  <a:moveTo>
                    <a:pt x="113638" y="0"/>
                  </a:moveTo>
                  <a:lnTo>
                    <a:pt x="801180" y="0"/>
                  </a:lnTo>
                  <a:cubicBezTo>
                    <a:pt x="831318" y="0"/>
                    <a:pt x="860223" y="11973"/>
                    <a:pt x="881534" y="33284"/>
                  </a:cubicBezTo>
                  <a:cubicBezTo>
                    <a:pt x="902845" y="54595"/>
                    <a:pt x="914818" y="83500"/>
                    <a:pt x="914818" y="113638"/>
                  </a:cubicBezTo>
                  <a:lnTo>
                    <a:pt x="914818" y="239035"/>
                  </a:lnTo>
                  <a:cubicBezTo>
                    <a:pt x="914818" y="301796"/>
                    <a:pt x="863940" y="352673"/>
                    <a:pt x="801180" y="352673"/>
                  </a:cubicBezTo>
                  <a:lnTo>
                    <a:pt x="113638" y="352673"/>
                  </a:lnTo>
                  <a:cubicBezTo>
                    <a:pt x="83500" y="352673"/>
                    <a:pt x="54595" y="340701"/>
                    <a:pt x="33284" y="319390"/>
                  </a:cubicBezTo>
                  <a:cubicBezTo>
                    <a:pt x="11973" y="298078"/>
                    <a:pt x="0" y="269174"/>
                    <a:pt x="0" y="239035"/>
                  </a:cubicBezTo>
                  <a:lnTo>
                    <a:pt x="0" y="113638"/>
                  </a:lnTo>
                  <a:cubicBezTo>
                    <a:pt x="0" y="83500"/>
                    <a:pt x="11973" y="54595"/>
                    <a:pt x="33284" y="33284"/>
                  </a:cubicBezTo>
                  <a:cubicBezTo>
                    <a:pt x="54595" y="11973"/>
                    <a:pt x="83500" y="0"/>
                    <a:pt x="113638" y="0"/>
                  </a:cubicBezTo>
                  <a:close/>
                </a:path>
              </a:pathLst>
            </a:custGeom>
            <a:solidFill>
              <a:srgbClr val="CFAA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6"/>
            <p:cNvSpPr txBox="1"/>
            <p:nvPr/>
          </p:nvSpPr>
          <p:spPr>
            <a:xfrm>
              <a:off x="0" y="-38100"/>
              <a:ext cx="914818" cy="390773"/>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00000"/>
                </a:buClr>
                <a:buSzPts val="2199"/>
                <a:buFont typeface="Arial"/>
                <a:buNone/>
              </a:pPr>
              <a:r>
                <a:rPr b="0" i="0" lang="en-US" sz="2199" u="none" cap="none" strike="noStrike">
                  <a:solidFill>
                    <a:srgbClr val="010204"/>
                  </a:solidFill>
                  <a:latin typeface="Arial"/>
                  <a:ea typeface="Arial"/>
                  <a:cs typeface="Arial"/>
                  <a:sym typeface="Arial"/>
                </a:rPr>
                <a:t>Autómata de Pila</a:t>
              </a:r>
              <a:endParaRPr b="0" i="0" sz="1400" u="none" cap="none" strike="noStrike">
                <a:solidFill>
                  <a:srgbClr val="000000"/>
                </a:solidFill>
                <a:latin typeface="Arial"/>
                <a:ea typeface="Arial"/>
                <a:cs typeface="Arial"/>
                <a:sym typeface="Arial"/>
              </a:endParaRPr>
            </a:p>
          </p:txBody>
        </p:sp>
      </p:grpSp>
      <p:grpSp>
        <p:nvGrpSpPr>
          <p:cNvPr id="176" name="Google Shape;176;p6"/>
          <p:cNvGrpSpPr/>
          <p:nvPr/>
        </p:nvGrpSpPr>
        <p:grpSpPr>
          <a:xfrm>
            <a:off x="13181346" y="5798010"/>
            <a:ext cx="3474509" cy="1484170"/>
            <a:chOff x="0" y="-38100"/>
            <a:chExt cx="914818" cy="390773"/>
          </a:xfrm>
        </p:grpSpPr>
        <p:sp>
          <p:nvSpPr>
            <p:cNvPr id="177" name="Google Shape;177;p6"/>
            <p:cNvSpPr/>
            <p:nvPr/>
          </p:nvSpPr>
          <p:spPr>
            <a:xfrm>
              <a:off x="0" y="0"/>
              <a:ext cx="914818" cy="352673"/>
            </a:xfrm>
            <a:custGeom>
              <a:rect b="b" l="l" r="r" t="t"/>
              <a:pathLst>
                <a:path extrusionOk="0" h="352673" w="914818">
                  <a:moveTo>
                    <a:pt x="113638" y="0"/>
                  </a:moveTo>
                  <a:lnTo>
                    <a:pt x="801180" y="0"/>
                  </a:lnTo>
                  <a:cubicBezTo>
                    <a:pt x="831318" y="0"/>
                    <a:pt x="860223" y="11973"/>
                    <a:pt x="881534" y="33284"/>
                  </a:cubicBezTo>
                  <a:cubicBezTo>
                    <a:pt x="902845" y="54595"/>
                    <a:pt x="914818" y="83500"/>
                    <a:pt x="914818" y="113638"/>
                  </a:cubicBezTo>
                  <a:lnTo>
                    <a:pt x="914818" y="239035"/>
                  </a:lnTo>
                  <a:cubicBezTo>
                    <a:pt x="914818" y="301796"/>
                    <a:pt x="863940" y="352673"/>
                    <a:pt x="801180" y="352673"/>
                  </a:cubicBezTo>
                  <a:lnTo>
                    <a:pt x="113638" y="352673"/>
                  </a:lnTo>
                  <a:cubicBezTo>
                    <a:pt x="83500" y="352673"/>
                    <a:pt x="54595" y="340701"/>
                    <a:pt x="33284" y="319390"/>
                  </a:cubicBezTo>
                  <a:cubicBezTo>
                    <a:pt x="11973" y="298078"/>
                    <a:pt x="0" y="269174"/>
                    <a:pt x="0" y="239035"/>
                  </a:cubicBezTo>
                  <a:lnTo>
                    <a:pt x="0" y="113638"/>
                  </a:lnTo>
                  <a:cubicBezTo>
                    <a:pt x="0" y="83500"/>
                    <a:pt x="11973" y="54595"/>
                    <a:pt x="33284" y="33284"/>
                  </a:cubicBezTo>
                  <a:cubicBezTo>
                    <a:pt x="54595" y="11973"/>
                    <a:pt x="83500" y="0"/>
                    <a:pt x="113638" y="0"/>
                  </a:cubicBezTo>
                  <a:close/>
                </a:path>
              </a:pathLst>
            </a:custGeom>
            <a:solidFill>
              <a:srgbClr val="B6C9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6"/>
            <p:cNvSpPr txBox="1"/>
            <p:nvPr/>
          </p:nvSpPr>
          <p:spPr>
            <a:xfrm>
              <a:off x="0" y="-38100"/>
              <a:ext cx="914818" cy="390773"/>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00000"/>
                </a:buClr>
                <a:buSzPts val="2199"/>
                <a:buFont typeface="Arial"/>
                <a:buNone/>
              </a:pPr>
              <a:r>
                <a:rPr b="0" i="0" lang="en-US" sz="2199" u="none" cap="none" strike="noStrike">
                  <a:solidFill>
                    <a:srgbClr val="010204"/>
                  </a:solidFill>
                  <a:latin typeface="Arial"/>
                  <a:ea typeface="Arial"/>
                  <a:cs typeface="Arial"/>
                  <a:sym typeface="Arial"/>
                </a:rPr>
                <a:t>AFD, AFND ó Regex</a:t>
              </a:r>
              <a:endParaRPr b="0" i="0" sz="1400" u="none" cap="none" strike="noStrike">
                <a:solidFill>
                  <a:srgbClr val="000000"/>
                </a:solidFill>
                <a:latin typeface="Arial"/>
                <a:ea typeface="Arial"/>
                <a:cs typeface="Arial"/>
                <a:sym typeface="Arial"/>
              </a:endParaRPr>
            </a:p>
          </p:txBody>
        </p:sp>
      </p:grpSp>
      <p:grpSp>
        <p:nvGrpSpPr>
          <p:cNvPr id="179" name="Google Shape;179;p6"/>
          <p:cNvGrpSpPr/>
          <p:nvPr/>
        </p:nvGrpSpPr>
        <p:grpSpPr>
          <a:xfrm>
            <a:off x="1542358" y="7374542"/>
            <a:ext cx="3474509" cy="1549143"/>
            <a:chOff x="0" y="-38100"/>
            <a:chExt cx="914818" cy="407881"/>
          </a:xfrm>
        </p:grpSpPr>
        <p:sp>
          <p:nvSpPr>
            <p:cNvPr id="180" name="Google Shape;180;p6"/>
            <p:cNvSpPr/>
            <p:nvPr/>
          </p:nvSpPr>
          <p:spPr>
            <a:xfrm>
              <a:off x="0" y="0"/>
              <a:ext cx="914818" cy="369781"/>
            </a:xfrm>
            <a:custGeom>
              <a:rect b="b" l="l" r="r" t="t"/>
              <a:pathLst>
                <a:path extrusionOk="0" h="369781" w="914818">
                  <a:moveTo>
                    <a:pt x="113638" y="0"/>
                  </a:moveTo>
                  <a:lnTo>
                    <a:pt x="801180" y="0"/>
                  </a:lnTo>
                  <a:cubicBezTo>
                    <a:pt x="831318" y="0"/>
                    <a:pt x="860223" y="11973"/>
                    <a:pt x="881534" y="33284"/>
                  </a:cubicBezTo>
                  <a:cubicBezTo>
                    <a:pt x="902845" y="54595"/>
                    <a:pt x="914818" y="83500"/>
                    <a:pt x="914818" y="113638"/>
                  </a:cubicBezTo>
                  <a:lnTo>
                    <a:pt x="914818" y="256142"/>
                  </a:lnTo>
                  <a:cubicBezTo>
                    <a:pt x="914818" y="318903"/>
                    <a:pt x="863940" y="369781"/>
                    <a:pt x="801180" y="369781"/>
                  </a:cubicBezTo>
                  <a:lnTo>
                    <a:pt x="113638" y="369781"/>
                  </a:lnTo>
                  <a:cubicBezTo>
                    <a:pt x="83500" y="369781"/>
                    <a:pt x="54595" y="357808"/>
                    <a:pt x="33284" y="336497"/>
                  </a:cubicBezTo>
                  <a:cubicBezTo>
                    <a:pt x="11973" y="315185"/>
                    <a:pt x="0" y="286281"/>
                    <a:pt x="0" y="256142"/>
                  </a:cubicBezTo>
                  <a:lnTo>
                    <a:pt x="0" y="113638"/>
                  </a:lnTo>
                  <a:cubicBezTo>
                    <a:pt x="0" y="83500"/>
                    <a:pt x="11973" y="54595"/>
                    <a:pt x="33284" y="33284"/>
                  </a:cubicBezTo>
                  <a:cubicBezTo>
                    <a:pt x="54595" y="11973"/>
                    <a:pt x="83500" y="0"/>
                    <a:pt x="113638" y="0"/>
                  </a:cubicBezTo>
                  <a:close/>
                </a:path>
              </a:pathLst>
            </a:custGeom>
            <a:solidFill>
              <a:srgbClr val="EDC0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6"/>
            <p:cNvSpPr txBox="1"/>
            <p:nvPr/>
          </p:nvSpPr>
          <p:spPr>
            <a:xfrm>
              <a:off x="0" y="-38100"/>
              <a:ext cx="914818" cy="407881"/>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00000"/>
                </a:buClr>
                <a:buSzPts val="2199"/>
                <a:buFont typeface="Arial"/>
                <a:buNone/>
              </a:pPr>
              <a:r>
                <a:rPr b="0" i="0" lang="en-US" sz="2199" u="none" cap="none" strike="noStrike">
                  <a:solidFill>
                    <a:srgbClr val="010204"/>
                  </a:solidFill>
                  <a:latin typeface="Arial"/>
                  <a:ea typeface="Arial"/>
                  <a:cs typeface="Arial"/>
                  <a:sym typeface="Arial"/>
                </a:rPr>
                <a:t>Sin Restricción</a:t>
              </a:r>
              <a:endParaRPr b="0" i="0" sz="1400" u="none" cap="none" strike="noStrike">
                <a:solidFill>
                  <a:srgbClr val="000000"/>
                </a:solidFill>
                <a:latin typeface="Arial"/>
                <a:ea typeface="Arial"/>
                <a:cs typeface="Arial"/>
                <a:sym typeface="Arial"/>
              </a:endParaRPr>
            </a:p>
          </p:txBody>
        </p:sp>
      </p:grpSp>
      <p:grpSp>
        <p:nvGrpSpPr>
          <p:cNvPr id="182" name="Google Shape;182;p6"/>
          <p:cNvGrpSpPr/>
          <p:nvPr/>
        </p:nvGrpSpPr>
        <p:grpSpPr>
          <a:xfrm>
            <a:off x="5445309" y="7318450"/>
            <a:ext cx="3474509" cy="1605235"/>
            <a:chOff x="0" y="-38100"/>
            <a:chExt cx="914818" cy="422649"/>
          </a:xfrm>
        </p:grpSpPr>
        <p:sp>
          <p:nvSpPr>
            <p:cNvPr id="183" name="Google Shape;183;p6"/>
            <p:cNvSpPr/>
            <p:nvPr/>
          </p:nvSpPr>
          <p:spPr>
            <a:xfrm>
              <a:off x="0" y="0"/>
              <a:ext cx="914818" cy="384549"/>
            </a:xfrm>
            <a:custGeom>
              <a:rect b="b" l="l" r="r" t="t"/>
              <a:pathLst>
                <a:path extrusionOk="0" h="384549" w="914818">
                  <a:moveTo>
                    <a:pt x="113638" y="0"/>
                  </a:moveTo>
                  <a:lnTo>
                    <a:pt x="801180" y="0"/>
                  </a:lnTo>
                  <a:cubicBezTo>
                    <a:pt x="831318" y="0"/>
                    <a:pt x="860223" y="11973"/>
                    <a:pt x="881534" y="33284"/>
                  </a:cubicBezTo>
                  <a:cubicBezTo>
                    <a:pt x="902845" y="54595"/>
                    <a:pt x="914818" y="83500"/>
                    <a:pt x="914818" y="113638"/>
                  </a:cubicBezTo>
                  <a:lnTo>
                    <a:pt x="914818" y="270911"/>
                  </a:lnTo>
                  <a:cubicBezTo>
                    <a:pt x="914818" y="301049"/>
                    <a:pt x="902845" y="329954"/>
                    <a:pt x="881534" y="351265"/>
                  </a:cubicBezTo>
                  <a:cubicBezTo>
                    <a:pt x="860223" y="372576"/>
                    <a:pt x="831318" y="384549"/>
                    <a:pt x="801180" y="384549"/>
                  </a:cubicBezTo>
                  <a:lnTo>
                    <a:pt x="113638" y="384549"/>
                  </a:lnTo>
                  <a:cubicBezTo>
                    <a:pt x="50878" y="384549"/>
                    <a:pt x="0" y="333671"/>
                    <a:pt x="0" y="270911"/>
                  </a:cubicBezTo>
                  <a:lnTo>
                    <a:pt x="0" y="113638"/>
                  </a:lnTo>
                  <a:cubicBezTo>
                    <a:pt x="0" y="83500"/>
                    <a:pt x="11973" y="54595"/>
                    <a:pt x="33284" y="33284"/>
                  </a:cubicBezTo>
                  <a:cubicBezTo>
                    <a:pt x="54595" y="11973"/>
                    <a:pt x="83500" y="0"/>
                    <a:pt x="113638" y="0"/>
                  </a:cubicBezTo>
                  <a:close/>
                </a:path>
              </a:pathLst>
            </a:custGeom>
            <a:solidFill>
              <a:srgbClr val="D5D8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6"/>
            <p:cNvSpPr txBox="1"/>
            <p:nvPr/>
          </p:nvSpPr>
          <p:spPr>
            <a:xfrm>
              <a:off x="0" y="-38100"/>
              <a:ext cx="914818" cy="422649"/>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00000"/>
                </a:buClr>
                <a:buSzPts val="2199"/>
                <a:buFont typeface="Arial"/>
                <a:buNone/>
              </a:pPr>
              <a:r>
                <a:rPr b="0" i="0" lang="en-US" sz="2199" u="none" cap="none" strike="noStrike">
                  <a:solidFill>
                    <a:srgbClr val="010204"/>
                  </a:solidFill>
                  <a:latin typeface="Arial"/>
                  <a:ea typeface="Arial"/>
                  <a:cs typeface="Arial"/>
                  <a:sym typeface="Arial"/>
                </a:rPr>
                <a:t>Sensible al Contexto</a:t>
              </a:r>
              <a:endParaRPr b="0" i="0" sz="1400" u="none" cap="none" strike="noStrike">
                <a:solidFill>
                  <a:srgbClr val="000000"/>
                </a:solidFill>
                <a:latin typeface="Arial"/>
                <a:ea typeface="Arial"/>
                <a:cs typeface="Arial"/>
                <a:sym typeface="Arial"/>
              </a:endParaRPr>
            </a:p>
          </p:txBody>
        </p:sp>
      </p:grpSp>
      <p:grpSp>
        <p:nvGrpSpPr>
          <p:cNvPr id="185" name="Google Shape;185;p6"/>
          <p:cNvGrpSpPr/>
          <p:nvPr/>
        </p:nvGrpSpPr>
        <p:grpSpPr>
          <a:xfrm>
            <a:off x="9371386" y="7318450"/>
            <a:ext cx="3474509" cy="1605235"/>
            <a:chOff x="0" y="-38100"/>
            <a:chExt cx="914818" cy="422649"/>
          </a:xfrm>
        </p:grpSpPr>
        <p:sp>
          <p:nvSpPr>
            <p:cNvPr id="186" name="Google Shape;186;p6"/>
            <p:cNvSpPr/>
            <p:nvPr/>
          </p:nvSpPr>
          <p:spPr>
            <a:xfrm>
              <a:off x="0" y="0"/>
              <a:ext cx="914818" cy="384549"/>
            </a:xfrm>
            <a:custGeom>
              <a:rect b="b" l="l" r="r" t="t"/>
              <a:pathLst>
                <a:path extrusionOk="0" h="384549" w="914818">
                  <a:moveTo>
                    <a:pt x="113638" y="0"/>
                  </a:moveTo>
                  <a:lnTo>
                    <a:pt x="801180" y="0"/>
                  </a:lnTo>
                  <a:cubicBezTo>
                    <a:pt x="831318" y="0"/>
                    <a:pt x="860223" y="11973"/>
                    <a:pt x="881534" y="33284"/>
                  </a:cubicBezTo>
                  <a:cubicBezTo>
                    <a:pt x="902845" y="54595"/>
                    <a:pt x="914818" y="83500"/>
                    <a:pt x="914818" y="113638"/>
                  </a:cubicBezTo>
                  <a:lnTo>
                    <a:pt x="914818" y="270911"/>
                  </a:lnTo>
                  <a:cubicBezTo>
                    <a:pt x="914818" y="301049"/>
                    <a:pt x="902845" y="329954"/>
                    <a:pt x="881534" y="351265"/>
                  </a:cubicBezTo>
                  <a:cubicBezTo>
                    <a:pt x="860223" y="372576"/>
                    <a:pt x="831318" y="384549"/>
                    <a:pt x="801180" y="384549"/>
                  </a:cubicBezTo>
                  <a:lnTo>
                    <a:pt x="113638" y="384549"/>
                  </a:lnTo>
                  <a:cubicBezTo>
                    <a:pt x="50878" y="384549"/>
                    <a:pt x="0" y="333671"/>
                    <a:pt x="0" y="270911"/>
                  </a:cubicBezTo>
                  <a:lnTo>
                    <a:pt x="0" y="113638"/>
                  </a:lnTo>
                  <a:cubicBezTo>
                    <a:pt x="0" y="83500"/>
                    <a:pt x="11973" y="54595"/>
                    <a:pt x="33284" y="33284"/>
                  </a:cubicBezTo>
                  <a:cubicBezTo>
                    <a:pt x="54595" y="11973"/>
                    <a:pt x="83500" y="0"/>
                    <a:pt x="113638" y="0"/>
                  </a:cubicBezTo>
                  <a:close/>
                </a:path>
              </a:pathLst>
            </a:custGeom>
            <a:solidFill>
              <a:srgbClr val="CFAA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6"/>
            <p:cNvSpPr txBox="1"/>
            <p:nvPr/>
          </p:nvSpPr>
          <p:spPr>
            <a:xfrm>
              <a:off x="0" y="-38100"/>
              <a:ext cx="914818" cy="422649"/>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00000"/>
                </a:buClr>
                <a:buSzPts val="2199"/>
                <a:buFont typeface="Arial"/>
                <a:buNone/>
              </a:pPr>
              <a:r>
                <a:rPr b="0" i="0" lang="en-US" sz="2199" u="none" cap="none" strike="noStrike">
                  <a:solidFill>
                    <a:srgbClr val="010204"/>
                  </a:solidFill>
                  <a:latin typeface="Arial"/>
                  <a:ea typeface="Arial"/>
                  <a:cs typeface="Arial"/>
                  <a:sym typeface="Arial"/>
                </a:rPr>
                <a:t>GramáticaLibre del Contexto</a:t>
              </a:r>
              <a:endParaRPr b="0" i="0" sz="1400" u="none" cap="none" strike="noStrike">
                <a:solidFill>
                  <a:srgbClr val="000000"/>
                </a:solidFill>
                <a:latin typeface="Arial"/>
                <a:ea typeface="Arial"/>
                <a:cs typeface="Arial"/>
                <a:sym typeface="Arial"/>
              </a:endParaRPr>
            </a:p>
          </p:txBody>
        </p:sp>
      </p:grpSp>
      <p:grpSp>
        <p:nvGrpSpPr>
          <p:cNvPr id="188" name="Google Shape;188;p6"/>
          <p:cNvGrpSpPr/>
          <p:nvPr/>
        </p:nvGrpSpPr>
        <p:grpSpPr>
          <a:xfrm>
            <a:off x="13181346" y="7318450"/>
            <a:ext cx="3474509" cy="1605235"/>
            <a:chOff x="0" y="-38100"/>
            <a:chExt cx="914818" cy="422649"/>
          </a:xfrm>
        </p:grpSpPr>
        <p:sp>
          <p:nvSpPr>
            <p:cNvPr id="189" name="Google Shape;189;p6"/>
            <p:cNvSpPr/>
            <p:nvPr/>
          </p:nvSpPr>
          <p:spPr>
            <a:xfrm>
              <a:off x="0" y="0"/>
              <a:ext cx="914818" cy="384549"/>
            </a:xfrm>
            <a:custGeom>
              <a:rect b="b" l="l" r="r" t="t"/>
              <a:pathLst>
                <a:path extrusionOk="0" h="384549" w="914818">
                  <a:moveTo>
                    <a:pt x="113638" y="0"/>
                  </a:moveTo>
                  <a:lnTo>
                    <a:pt x="801180" y="0"/>
                  </a:lnTo>
                  <a:cubicBezTo>
                    <a:pt x="831318" y="0"/>
                    <a:pt x="860223" y="11973"/>
                    <a:pt x="881534" y="33284"/>
                  </a:cubicBezTo>
                  <a:cubicBezTo>
                    <a:pt x="902845" y="54595"/>
                    <a:pt x="914818" y="83500"/>
                    <a:pt x="914818" y="113638"/>
                  </a:cubicBezTo>
                  <a:lnTo>
                    <a:pt x="914818" y="270911"/>
                  </a:lnTo>
                  <a:cubicBezTo>
                    <a:pt x="914818" y="301049"/>
                    <a:pt x="902845" y="329954"/>
                    <a:pt x="881534" y="351265"/>
                  </a:cubicBezTo>
                  <a:cubicBezTo>
                    <a:pt x="860223" y="372576"/>
                    <a:pt x="831318" y="384549"/>
                    <a:pt x="801180" y="384549"/>
                  </a:cubicBezTo>
                  <a:lnTo>
                    <a:pt x="113638" y="384549"/>
                  </a:lnTo>
                  <a:cubicBezTo>
                    <a:pt x="50878" y="384549"/>
                    <a:pt x="0" y="333671"/>
                    <a:pt x="0" y="270911"/>
                  </a:cubicBezTo>
                  <a:lnTo>
                    <a:pt x="0" y="113638"/>
                  </a:lnTo>
                  <a:cubicBezTo>
                    <a:pt x="0" y="83500"/>
                    <a:pt x="11973" y="54595"/>
                    <a:pt x="33284" y="33284"/>
                  </a:cubicBezTo>
                  <a:cubicBezTo>
                    <a:pt x="54595" y="11973"/>
                    <a:pt x="83500" y="0"/>
                    <a:pt x="113638" y="0"/>
                  </a:cubicBezTo>
                  <a:close/>
                </a:path>
              </a:pathLst>
            </a:custGeom>
            <a:solidFill>
              <a:srgbClr val="B6C9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6"/>
            <p:cNvSpPr txBox="1"/>
            <p:nvPr/>
          </p:nvSpPr>
          <p:spPr>
            <a:xfrm>
              <a:off x="0" y="-38100"/>
              <a:ext cx="914818" cy="422649"/>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00000"/>
                </a:buClr>
                <a:buSzPts val="2199"/>
                <a:buFont typeface="Arial"/>
                <a:buNone/>
              </a:pPr>
              <a:r>
                <a:rPr b="0" i="0" lang="en-US" sz="2199" u="none" cap="none" strike="noStrike">
                  <a:solidFill>
                    <a:srgbClr val="010204"/>
                  </a:solidFill>
                  <a:latin typeface="Arial"/>
                  <a:ea typeface="Arial"/>
                  <a:cs typeface="Arial"/>
                  <a:sym typeface="Arial"/>
                </a:rPr>
                <a:t>Gramática Regular</a:t>
              </a:r>
              <a:endParaRPr b="0" i="0" sz="1400" u="none" cap="none" strike="noStrike">
                <a:solidFill>
                  <a:srgbClr val="000000"/>
                </a:solidFill>
                <a:latin typeface="Arial"/>
                <a:ea typeface="Arial"/>
                <a:cs typeface="Arial"/>
                <a:sym typeface="Arial"/>
              </a:endParaRPr>
            </a:p>
          </p:txBody>
        </p:sp>
      </p:grpSp>
      <p:grpSp>
        <p:nvGrpSpPr>
          <p:cNvPr id="191" name="Google Shape;191;p6"/>
          <p:cNvGrpSpPr/>
          <p:nvPr/>
        </p:nvGrpSpPr>
        <p:grpSpPr>
          <a:xfrm>
            <a:off x="9356632" y="8955982"/>
            <a:ext cx="3474509" cy="818879"/>
            <a:chOff x="0" y="-38100"/>
            <a:chExt cx="914818" cy="215606"/>
          </a:xfrm>
        </p:grpSpPr>
        <p:sp>
          <p:nvSpPr>
            <p:cNvPr id="192" name="Google Shape;192;p6"/>
            <p:cNvSpPr/>
            <p:nvPr/>
          </p:nvSpPr>
          <p:spPr>
            <a:xfrm>
              <a:off x="0" y="0"/>
              <a:ext cx="914818" cy="177506"/>
            </a:xfrm>
            <a:custGeom>
              <a:rect b="b" l="l" r="r" t="t"/>
              <a:pathLst>
                <a:path extrusionOk="0" h="177506" w="914818">
                  <a:moveTo>
                    <a:pt x="88753" y="0"/>
                  </a:moveTo>
                  <a:lnTo>
                    <a:pt x="826065" y="0"/>
                  </a:lnTo>
                  <a:cubicBezTo>
                    <a:pt x="849604" y="0"/>
                    <a:pt x="872179" y="9351"/>
                    <a:pt x="888823" y="25995"/>
                  </a:cubicBezTo>
                  <a:cubicBezTo>
                    <a:pt x="905467" y="42640"/>
                    <a:pt x="914818" y="65214"/>
                    <a:pt x="914818" y="88753"/>
                  </a:cubicBezTo>
                  <a:lnTo>
                    <a:pt x="914818" y="88753"/>
                  </a:lnTo>
                  <a:cubicBezTo>
                    <a:pt x="914818" y="137770"/>
                    <a:pt x="875082" y="177506"/>
                    <a:pt x="826065" y="177506"/>
                  </a:cubicBezTo>
                  <a:lnTo>
                    <a:pt x="88753" y="177506"/>
                  </a:lnTo>
                  <a:cubicBezTo>
                    <a:pt x="65214" y="177506"/>
                    <a:pt x="42640" y="168155"/>
                    <a:pt x="25995" y="151511"/>
                  </a:cubicBezTo>
                  <a:cubicBezTo>
                    <a:pt x="9351" y="134866"/>
                    <a:pt x="0" y="112292"/>
                    <a:pt x="0" y="88753"/>
                  </a:cubicBezTo>
                  <a:lnTo>
                    <a:pt x="0" y="88753"/>
                  </a:lnTo>
                  <a:cubicBezTo>
                    <a:pt x="0" y="65214"/>
                    <a:pt x="9351" y="42640"/>
                    <a:pt x="25995" y="25995"/>
                  </a:cubicBezTo>
                  <a:cubicBezTo>
                    <a:pt x="42640" y="9351"/>
                    <a:pt x="65214" y="0"/>
                    <a:pt x="88753" y="0"/>
                  </a:cubicBezTo>
                  <a:close/>
                </a:path>
              </a:pathLst>
            </a:custGeom>
            <a:solidFill>
              <a:srgbClr val="CFAA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6"/>
            <p:cNvSpPr txBox="1"/>
            <p:nvPr/>
          </p:nvSpPr>
          <p:spPr>
            <a:xfrm>
              <a:off x="0" y="-38100"/>
              <a:ext cx="914818" cy="215606"/>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00000"/>
                </a:buClr>
                <a:buSzPts val="2199"/>
                <a:buFont typeface="Arial"/>
                <a:buNone/>
              </a:pPr>
              <a:r>
                <a:rPr b="0" i="0" lang="en-US" sz="2199" u="none" cap="none" strike="noStrike">
                  <a:solidFill>
                    <a:srgbClr val="010204"/>
                  </a:solidFill>
                  <a:latin typeface="Arial"/>
                  <a:ea typeface="Arial"/>
                  <a:cs typeface="Arial"/>
                  <a:sym typeface="Arial"/>
                </a:rPr>
                <a:t>Parser</a:t>
              </a:r>
              <a:endParaRPr b="0" i="0" sz="1400" u="none" cap="none" strike="noStrike">
                <a:solidFill>
                  <a:srgbClr val="000000"/>
                </a:solidFill>
                <a:latin typeface="Arial"/>
                <a:ea typeface="Arial"/>
                <a:cs typeface="Arial"/>
                <a:sym typeface="Arial"/>
              </a:endParaRPr>
            </a:p>
          </p:txBody>
        </p:sp>
      </p:grpSp>
      <p:grpSp>
        <p:nvGrpSpPr>
          <p:cNvPr id="194" name="Google Shape;194;p6"/>
          <p:cNvGrpSpPr/>
          <p:nvPr/>
        </p:nvGrpSpPr>
        <p:grpSpPr>
          <a:xfrm>
            <a:off x="2563742" y="450023"/>
            <a:ext cx="13160517" cy="1278212"/>
            <a:chOff x="0" y="-85725"/>
            <a:chExt cx="3463756" cy="336416"/>
          </a:xfrm>
        </p:grpSpPr>
        <p:sp>
          <p:nvSpPr>
            <p:cNvPr id="195" name="Google Shape;195;p6"/>
            <p:cNvSpPr/>
            <p:nvPr/>
          </p:nvSpPr>
          <p:spPr>
            <a:xfrm>
              <a:off x="0" y="0"/>
              <a:ext cx="3463756" cy="250691"/>
            </a:xfrm>
            <a:custGeom>
              <a:rect b="b" l="l" r="r" t="t"/>
              <a:pathLst>
                <a:path extrusionOk="0" h="250691" w="3463756">
                  <a:moveTo>
                    <a:pt x="30002" y="0"/>
                  </a:moveTo>
                  <a:lnTo>
                    <a:pt x="3433754" y="0"/>
                  </a:lnTo>
                  <a:cubicBezTo>
                    <a:pt x="3441711" y="0"/>
                    <a:pt x="3449342" y="3161"/>
                    <a:pt x="3454969" y="8787"/>
                  </a:cubicBezTo>
                  <a:cubicBezTo>
                    <a:pt x="3460595" y="14414"/>
                    <a:pt x="3463756" y="22045"/>
                    <a:pt x="3463756" y="30002"/>
                  </a:cubicBezTo>
                  <a:lnTo>
                    <a:pt x="3463756" y="220690"/>
                  </a:lnTo>
                  <a:cubicBezTo>
                    <a:pt x="3463756" y="237259"/>
                    <a:pt x="3450324" y="250691"/>
                    <a:pt x="3433754" y="250691"/>
                  </a:cubicBezTo>
                  <a:lnTo>
                    <a:pt x="30002" y="250691"/>
                  </a:lnTo>
                  <a:cubicBezTo>
                    <a:pt x="22045" y="250691"/>
                    <a:pt x="14414" y="247530"/>
                    <a:pt x="8787" y="241904"/>
                  </a:cubicBezTo>
                  <a:cubicBezTo>
                    <a:pt x="3161" y="236278"/>
                    <a:pt x="0" y="228646"/>
                    <a:pt x="0" y="220690"/>
                  </a:cubicBezTo>
                  <a:lnTo>
                    <a:pt x="0" y="30002"/>
                  </a:lnTo>
                  <a:cubicBezTo>
                    <a:pt x="0" y="13432"/>
                    <a:pt x="13432" y="0"/>
                    <a:pt x="30002" y="0"/>
                  </a:cubicBezTo>
                  <a:close/>
                </a:path>
              </a:pathLst>
            </a:custGeom>
            <a:solidFill>
              <a:srgbClr val="F1F1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6"/>
            <p:cNvSpPr txBox="1"/>
            <p:nvPr/>
          </p:nvSpPr>
          <p:spPr>
            <a:xfrm>
              <a:off x="0" y="-85725"/>
              <a:ext cx="3463756" cy="336416"/>
            </a:xfrm>
            <a:prstGeom prst="rect">
              <a:avLst/>
            </a:prstGeom>
            <a:noFill/>
            <a:ln>
              <a:noFill/>
            </a:ln>
          </p:spPr>
          <p:txBody>
            <a:bodyPr anchorCtr="0" anchor="ctr" bIns="50800" lIns="50800" spcFirstLastPara="1" rIns="50800" wrap="square" tIns="50800">
              <a:noAutofit/>
            </a:bodyPr>
            <a:lstStyle/>
            <a:p>
              <a:pPr indent="0" lvl="0" marL="0" marR="0" rtl="0" algn="ctr">
                <a:lnSpc>
                  <a:spcPct val="140009"/>
                </a:lnSpc>
                <a:spcBef>
                  <a:spcPts val="0"/>
                </a:spcBef>
                <a:spcAft>
                  <a:spcPts val="0"/>
                </a:spcAft>
                <a:buClr>
                  <a:srgbClr val="000000"/>
                </a:buClr>
                <a:buSzPts val="4199"/>
                <a:buFont typeface="Arial"/>
                <a:buNone/>
              </a:pPr>
              <a:r>
                <a:rPr b="1" i="0" lang="en-US" sz="4199" u="none" cap="none" strike="noStrike">
                  <a:solidFill>
                    <a:srgbClr val="010204"/>
                  </a:solidFill>
                  <a:latin typeface="Arial"/>
                  <a:ea typeface="Arial"/>
                  <a:cs typeface="Arial"/>
                  <a:sym typeface="Arial"/>
                </a:rPr>
                <a:t>TIPOS DE LENGUAJES FORMALES</a:t>
              </a:r>
              <a:endParaRPr b="0" i="0" sz="1400" u="none" cap="none" strike="noStrike">
                <a:solidFill>
                  <a:srgbClr val="000000"/>
                </a:solidFill>
                <a:latin typeface="Arial"/>
                <a:ea typeface="Arial"/>
                <a:cs typeface="Arial"/>
                <a:sym typeface="Arial"/>
              </a:endParaRPr>
            </a:p>
          </p:txBody>
        </p:sp>
      </p:grpSp>
      <p:grpSp>
        <p:nvGrpSpPr>
          <p:cNvPr id="197" name="Google Shape;197;p6"/>
          <p:cNvGrpSpPr/>
          <p:nvPr/>
        </p:nvGrpSpPr>
        <p:grpSpPr>
          <a:xfrm>
            <a:off x="13181346" y="8955982"/>
            <a:ext cx="3474509" cy="818879"/>
            <a:chOff x="0" y="-38100"/>
            <a:chExt cx="914818" cy="215606"/>
          </a:xfrm>
        </p:grpSpPr>
        <p:sp>
          <p:nvSpPr>
            <p:cNvPr id="198" name="Google Shape;198;p6"/>
            <p:cNvSpPr/>
            <p:nvPr/>
          </p:nvSpPr>
          <p:spPr>
            <a:xfrm>
              <a:off x="0" y="0"/>
              <a:ext cx="914818" cy="177506"/>
            </a:xfrm>
            <a:custGeom>
              <a:rect b="b" l="l" r="r" t="t"/>
              <a:pathLst>
                <a:path extrusionOk="0" h="177506" w="914818">
                  <a:moveTo>
                    <a:pt x="88753" y="0"/>
                  </a:moveTo>
                  <a:lnTo>
                    <a:pt x="826065" y="0"/>
                  </a:lnTo>
                  <a:cubicBezTo>
                    <a:pt x="849604" y="0"/>
                    <a:pt x="872179" y="9351"/>
                    <a:pt x="888823" y="25995"/>
                  </a:cubicBezTo>
                  <a:cubicBezTo>
                    <a:pt x="905467" y="42640"/>
                    <a:pt x="914818" y="65214"/>
                    <a:pt x="914818" y="88753"/>
                  </a:cubicBezTo>
                  <a:lnTo>
                    <a:pt x="914818" y="88753"/>
                  </a:lnTo>
                  <a:cubicBezTo>
                    <a:pt x="914818" y="137770"/>
                    <a:pt x="875082" y="177506"/>
                    <a:pt x="826065" y="177506"/>
                  </a:cubicBezTo>
                  <a:lnTo>
                    <a:pt x="88753" y="177506"/>
                  </a:lnTo>
                  <a:cubicBezTo>
                    <a:pt x="65214" y="177506"/>
                    <a:pt x="42640" y="168155"/>
                    <a:pt x="25995" y="151511"/>
                  </a:cubicBezTo>
                  <a:cubicBezTo>
                    <a:pt x="9351" y="134866"/>
                    <a:pt x="0" y="112292"/>
                    <a:pt x="0" y="88753"/>
                  </a:cubicBezTo>
                  <a:lnTo>
                    <a:pt x="0" y="88753"/>
                  </a:lnTo>
                  <a:cubicBezTo>
                    <a:pt x="0" y="65214"/>
                    <a:pt x="9351" y="42640"/>
                    <a:pt x="25995" y="25995"/>
                  </a:cubicBezTo>
                  <a:cubicBezTo>
                    <a:pt x="42640" y="9351"/>
                    <a:pt x="65214" y="0"/>
                    <a:pt x="88753" y="0"/>
                  </a:cubicBezTo>
                  <a:close/>
                </a:path>
              </a:pathLst>
            </a:custGeom>
            <a:solidFill>
              <a:srgbClr val="B6C9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6"/>
            <p:cNvSpPr txBox="1"/>
            <p:nvPr/>
          </p:nvSpPr>
          <p:spPr>
            <a:xfrm>
              <a:off x="0" y="-38100"/>
              <a:ext cx="914818" cy="215606"/>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00000"/>
                </a:buClr>
                <a:buSzPts val="2199"/>
                <a:buFont typeface="Arial"/>
                <a:buNone/>
              </a:pPr>
              <a:r>
                <a:rPr b="0" i="0" lang="en-US" sz="2199" u="none" cap="none" strike="noStrike">
                  <a:solidFill>
                    <a:srgbClr val="010204"/>
                  </a:solidFill>
                  <a:latin typeface="Arial"/>
                  <a:ea typeface="Arial"/>
                  <a:cs typeface="Arial"/>
                  <a:sym typeface="Arial"/>
                </a:rPr>
                <a:t>Scanner ó Lexer</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7"/>
          <p:cNvSpPr txBox="1"/>
          <p:nvPr/>
        </p:nvSpPr>
        <p:spPr>
          <a:xfrm>
            <a:off x="1904222" y="1557983"/>
            <a:ext cx="11630208" cy="9207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0" i="0" lang="en-US" sz="5000" u="none" cap="none" strike="noStrike">
                <a:solidFill>
                  <a:srgbClr val="152540"/>
                </a:solidFill>
                <a:latin typeface="Arial"/>
                <a:ea typeface="Arial"/>
                <a:cs typeface="Arial"/>
                <a:sym typeface="Arial"/>
              </a:rPr>
              <a:t>LENGUAJES DE</a:t>
            </a:r>
            <a:endParaRPr b="0" i="0" sz="1400" u="none" cap="none" strike="noStrike">
              <a:solidFill>
                <a:srgbClr val="000000"/>
              </a:solidFill>
              <a:latin typeface="Arial"/>
              <a:ea typeface="Arial"/>
              <a:cs typeface="Arial"/>
              <a:sym typeface="Arial"/>
            </a:endParaRPr>
          </a:p>
        </p:txBody>
      </p:sp>
      <p:sp>
        <p:nvSpPr>
          <p:cNvPr id="205" name="Google Shape;205;p7"/>
          <p:cNvSpPr txBox="1"/>
          <p:nvPr/>
        </p:nvSpPr>
        <p:spPr>
          <a:xfrm>
            <a:off x="1904222" y="3373780"/>
            <a:ext cx="14701023" cy="46864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Un lenguaje de programación es un conjunto de reglas que permiten a los desarrolladores comunicar instrucciones a las computadoras. Los lenguajes de programación son diseñados para ser concisos, fáciles de leer y fáciles de entender por las computadoras y para los humanos.</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2994"/>
              <a:buFont typeface="Arial"/>
              <a:buNone/>
            </a:pPr>
            <a:r>
              <a:rPr b="0" i="0" lang="en-US" sz="2994" u="none" cap="none" strike="noStrike">
                <a:solidFill>
                  <a:srgbClr val="152540"/>
                </a:solidFill>
                <a:latin typeface="Arial"/>
                <a:ea typeface="Arial"/>
                <a:cs typeface="Arial"/>
                <a:sym typeface="Arial"/>
              </a:rPr>
              <a:t>Los lenguajes de programación se utilizan para crear software mediante la escritura de algoritmos e instrucciones, que son programas informáticos que realizan tareas específicas, permitiendo la creación de software y sistemas computacionales.</a:t>
            </a:r>
            <a:endParaRPr b="0" i="0" sz="1400" u="none" cap="none" strike="noStrike">
              <a:solidFill>
                <a:srgbClr val="000000"/>
              </a:solidFill>
              <a:latin typeface="Arial"/>
              <a:ea typeface="Arial"/>
              <a:cs typeface="Arial"/>
              <a:sym typeface="Arial"/>
            </a:endParaRPr>
          </a:p>
        </p:txBody>
      </p:sp>
      <p:sp>
        <p:nvSpPr>
          <p:cNvPr id="206" name="Google Shape;206;p7"/>
          <p:cNvSpPr txBox="1"/>
          <p:nvPr/>
        </p:nvSpPr>
        <p:spPr>
          <a:xfrm>
            <a:off x="1904222" y="2454395"/>
            <a:ext cx="9175638" cy="819150"/>
          </a:xfrm>
          <a:prstGeom prst="rect">
            <a:avLst/>
          </a:prstGeom>
          <a:noFill/>
          <a:ln>
            <a:noFill/>
          </a:ln>
        </p:spPr>
        <p:txBody>
          <a:bodyPr anchorCtr="0" anchor="t" bIns="0" lIns="0" spcFirstLastPara="1" rIns="0" wrap="square" tIns="0">
            <a:spAutoFit/>
          </a:bodyPr>
          <a:lstStyle/>
          <a:p>
            <a:pPr indent="0" lvl="0" marL="0" marR="0" rtl="0" algn="l">
              <a:lnSpc>
                <a:spcPct val="139977"/>
              </a:lnSpc>
              <a:spcBef>
                <a:spcPts val="0"/>
              </a:spcBef>
              <a:spcAft>
                <a:spcPts val="0"/>
              </a:spcAft>
              <a:buClr>
                <a:srgbClr val="000000"/>
              </a:buClr>
              <a:buSzPts val="4500"/>
              <a:buFont typeface="Arial"/>
              <a:buNone/>
            </a:pPr>
            <a:r>
              <a:rPr b="0" i="0" lang="en-US" sz="4500" u="none" cap="none" strike="noStrike">
                <a:solidFill>
                  <a:srgbClr val="152540"/>
                </a:solidFill>
                <a:latin typeface="Arial"/>
                <a:ea typeface="Arial"/>
                <a:cs typeface="Arial"/>
                <a:sym typeface="Arial"/>
              </a:rPr>
              <a:t>PROGRAMACIÓN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grpSp>
        <p:nvGrpSpPr>
          <p:cNvPr id="211" name="Google Shape;211;p8"/>
          <p:cNvGrpSpPr/>
          <p:nvPr/>
        </p:nvGrpSpPr>
        <p:grpSpPr>
          <a:xfrm>
            <a:off x="2689825" y="5592964"/>
            <a:ext cx="1638210" cy="617869"/>
            <a:chOff x="0" y="-19050"/>
            <a:chExt cx="1370946" cy="517067"/>
          </a:xfrm>
        </p:grpSpPr>
        <p:sp>
          <p:nvSpPr>
            <p:cNvPr id="212" name="Google Shape;212;p8"/>
            <p:cNvSpPr/>
            <p:nvPr/>
          </p:nvSpPr>
          <p:spPr>
            <a:xfrm>
              <a:off x="0" y="0"/>
              <a:ext cx="1370946" cy="498017"/>
            </a:xfrm>
            <a:custGeom>
              <a:rect b="b" l="l" r="r" t="t"/>
              <a:pathLst>
                <a:path extrusionOk="0" h="498017" w="1370946">
                  <a:moveTo>
                    <a:pt x="1167746" y="0"/>
                  </a:moveTo>
                  <a:lnTo>
                    <a:pt x="0" y="0"/>
                  </a:lnTo>
                  <a:lnTo>
                    <a:pt x="0" y="498017"/>
                  </a:lnTo>
                  <a:lnTo>
                    <a:pt x="1167746" y="498017"/>
                  </a:lnTo>
                  <a:lnTo>
                    <a:pt x="1370946" y="249008"/>
                  </a:lnTo>
                  <a:lnTo>
                    <a:pt x="1167746" y="0"/>
                  </a:lnTo>
                  <a:close/>
                </a:path>
              </a:pathLst>
            </a:custGeom>
            <a:solidFill>
              <a:srgbClr val="CED5E6"/>
            </a:solidFill>
            <a:ln>
              <a:noFill/>
            </a:ln>
          </p:spPr>
        </p:sp>
        <p:sp>
          <p:nvSpPr>
            <p:cNvPr id="213" name="Google Shape;213;p8"/>
            <p:cNvSpPr txBox="1"/>
            <p:nvPr/>
          </p:nvSpPr>
          <p:spPr>
            <a:xfrm>
              <a:off x="0" y="-19050"/>
              <a:ext cx="1256646"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Clr>
                  <a:srgbClr val="000000"/>
                </a:buClr>
                <a:buSzPts val="1599"/>
                <a:buFont typeface="Arial"/>
                <a:buNone/>
              </a:pPr>
              <a:r>
                <a:rPr b="1" i="0" lang="en-US" sz="1599" u="none" cap="none" strike="noStrike">
                  <a:solidFill>
                    <a:srgbClr val="000000"/>
                  </a:solidFill>
                  <a:latin typeface="Arial"/>
                  <a:ea typeface="Arial"/>
                  <a:cs typeface="Arial"/>
                  <a:sym typeface="Arial"/>
                </a:rPr>
                <a:t>1950s</a:t>
              </a:r>
              <a:endParaRPr b="0" i="0" sz="1400" u="none" cap="none" strike="noStrike">
                <a:solidFill>
                  <a:srgbClr val="000000"/>
                </a:solidFill>
                <a:latin typeface="Arial"/>
                <a:ea typeface="Arial"/>
                <a:cs typeface="Arial"/>
                <a:sym typeface="Arial"/>
              </a:endParaRPr>
            </a:p>
          </p:txBody>
        </p:sp>
      </p:grpSp>
      <p:grpSp>
        <p:nvGrpSpPr>
          <p:cNvPr id="214" name="Google Shape;214;p8"/>
          <p:cNvGrpSpPr/>
          <p:nvPr/>
        </p:nvGrpSpPr>
        <p:grpSpPr>
          <a:xfrm>
            <a:off x="4183520" y="5592964"/>
            <a:ext cx="1722280" cy="617869"/>
            <a:chOff x="0" y="-19050"/>
            <a:chExt cx="1441300" cy="517067"/>
          </a:xfrm>
        </p:grpSpPr>
        <p:sp>
          <p:nvSpPr>
            <p:cNvPr id="215" name="Google Shape;215;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979BFF"/>
            </a:solidFill>
            <a:ln>
              <a:noFill/>
            </a:ln>
          </p:spPr>
        </p:sp>
        <p:sp>
          <p:nvSpPr>
            <p:cNvPr id="216" name="Google Shape;216;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Clr>
                  <a:srgbClr val="000000"/>
                </a:buClr>
                <a:buSzPts val="1599"/>
                <a:buFont typeface="Arial"/>
                <a:buNone/>
              </a:pPr>
              <a:r>
                <a:rPr b="1" i="0" lang="en-US" sz="1599" u="none" cap="none" strike="noStrike">
                  <a:solidFill>
                    <a:srgbClr val="000000"/>
                  </a:solidFill>
                  <a:latin typeface="Arial"/>
                  <a:ea typeface="Arial"/>
                  <a:cs typeface="Arial"/>
                  <a:sym typeface="Arial"/>
                </a:rPr>
                <a:t>1960s</a:t>
              </a:r>
              <a:endParaRPr b="0" i="0" sz="1400" u="none" cap="none" strike="noStrike">
                <a:solidFill>
                  <a:srgbClr val="000000"/>
                </a:solidFill>
                <a:latin typeface="Arial"/>
                <a:ea typeface="Arial"/>
                <a:cs typeface="Arial"/>
                <a:sym typeface="Arial"/>
              </a:endParaRPr>
            </a:p>
          </p:txBody>
        </p:sp>
      </p:grpSp>
      <p:grpSp>
        <p:nvGrpSpPr>
          <p:cNvPr id="217" name="Google Shape;217;p8"/>
          <p:cNvGrpSpPr/>
          <p:nvPr/>
        </p:nvGrpSpPr>
        <p:grpSpPr>
          <a:xfrm>
            <a:off x="5761285" y="5592964"/>
            <a:ext cx="1722280" cy="617869"/>
            <a:chOff x="0" y="-19050"/>
            <a:chExt cx="1441300" cy="517067"/>
          </a:xfrm>
        </p:grpSpPr>
        <p:sp>
          <p:nvSpPr>
            <p:cNvPr id="218" name="Google Shape;218;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89E2E8"/>
            </a:solidFill>
            <a:ln>
              <a:noFill/>
            </a:ln>
          </p:spPr>
        </p:sp>
        <p:sp>
          <p:nvSpPr>
            <p:cNvPr id="219" name="Google Shape;219;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Clr>
                  <a:srgbClr val="000000"/>
                </a:buClr>
                <a:buSzPts val="1599"/>
                <a:buFont typeface="Arial"/>
                <a:buNone/>
              </a:pPr>
              <a:r>
                <a:rPr b="1" i="0" lang="en-US" sz="1599" u="none" cap="none" strike="noStrike">
                  <a:solidFill>
                    <a:srgbClr val="000000"/>
                  </a:solidFill>
                  <a:latin typeface="Arial"/>
                  <a:ea typeface="Arial"/>
                  <a:cs typeface="Arial"/>
                  <a:sym typeface="Arial"/>
                </a:rPr>
                <a:t>1970s</a:t>
              </a:r>
              <a:endParaRPr b="0" i="0" sz="1400" u="none" cap="none" strike="noStrike">
                <a:solidFill>
                  <a:srgbClr val="000000"/>
                </a:solidFill>
                <a:latin typeface="Arial"/>
                <a:ea typeface="Arial"/>
                <a:cs typeface="Arial"/>
                <a:sym typeface="Arial"/>
              </a:endParaRPr>
            </a:p>
          </p:txBody>
        </p:sp>
      </p:grpSp>
      <p:grpSp>
        <p:nvGrpSpPr>
          <p:cNvPr id="220" name="Google Shape;220;p8"/>
          <p:cNvGrpSpPr/>
          <p:nvPr/>
        </p:nvGrpSpPr>
        <p:grpSpPr>
          <a:xfrm>
            <a:off x="7339050" y="5592964"/>
            <a:ext cx="1722280" cy="617869"/>
            <a:chOff x="0" y="-19050"/>
            <a:chExt cx="1441300" cy="517067"/>
          </a:xfrm>
        </p:grpSpPr>
        <p:sp>
          <p:nvSpPr>
            <p:cNvPr id="221" name="Google Shape;221;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ADE466"/>
            </a:solidFill>
            <a:ln>
              <a:noFill/>
            </a:ln>
          </p:spPr>
        </p:sp>
        <p:sp>
          <p:nvSpPr>
            <p:cNvPr id="222" name="Google Shape;222;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Clr>
                  <a:srgbClr val="000000"/>
                </a:buClr>
                <a:buSzPts val="1599"/>
                <a:buFont typeface="Arial"/>
                <a:buNone/>
              </a:pPr>
              <a:r>
                <a:rPr b="1" i="0" lang="en-US" sz="1599" u="none" cap="none" strike="noStrike">
                  <a:solidFill>
                    <a:srgbClr val="000000"/>
                  </a:solidFill>
                  <a:latin typeface="Arial"/>
                  <a:ea typeface="Arial"/>
                  <a:cs typeface="Arial"/>
                  <a:sym typeface="Arial"/>
                </a:rPr>
                <a:t>1980s</a:t>
              </a:r>
              <a:endParaRPr b="0" i="0" sz="1400" u="none" cap="none" strike="noStrike">
                <a:solidFill>
                  <a:srgbClr val="000000"/>
                </a:solidFill>
                <a:latin typeface="Arial"/>
                <a:ea typeface="Arial"/>
                <a:cs typeface="Arial"/>
                <a:sym typeface="Arial"/>
              </a:endParaRPr>
            </a:p>
          </p:txBody>
        </p:sp>
      </p:grpSp>
      <p:grpSp>
        <p:nvGrpSpPr>
          <p:cNvPr id="223" name="Google Shape;223;p8"/>
          <p:cNvGrpSpPr/>
          <p:nvPr/>
        </p:nvGrpSpPr>
        <p:grpSpPr>
          <a:xfrm>
            <a:off x="8916815" y="5592964"/>
            <a:ext cx="1722280" cy="617869"/>
            <a:chOff x="0" y="-19050"/>
            <a:chExt cx="1441300" cy="517067"/>
          </a:xfrm>
        </p:grpSpPr>
        <p:sp>
          <p:nvSpPr>
            <p:cNvPr id="224" name="Google Shape;224;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E8E252"/>
            </a:solidFill>
            <a:ln>
              <a:noFill/>
            </a:ln>
          </p:spPr>
        </p:sp>
        <p:sp>
          <p:nvSpPr>
            <p:cNvPr id="225" name="Google Shape;225;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Clr>
                  <a:srgbClr val="000000"/>
                </a:buClr>
                <a:buSzPts val="1599"/>
                <a:buFont typeface="Arial"/>
                <a:buNone/>
              </a:pPr>
              <a:r>
                <a:rPr b="1" i="0" lang="en-US" sz="1599" u="none" cap="none" strike="noStrike">
                  <a:solidFill>
                    <a:srgbClr val="000000"/>
                  </a:solidFill>
                  <a:latin typeface="Arial"/>
                  <a:ea typeface="Arial"/>
                  <a:cs typeface="Arial"/>
                  <a:sym typeface="Arial"/>
                </a:rPr>
                <a:t>1990s</a:t>
              </a:r>
              <a:endParaRPr b="0" i="0" sz="1400" u="none" cap="none" strike="noStrike">
                <a:solidFill>
                  <a:srgbClr val="000000"/>
                </a:solidFill>
                <a:latin typeface="Arial"/>
                <a:ea typeface="Arial"/>
                <a:cs typeface="Arial"/>
                <a:sym typeface="Arial"/>
              </a:endParaRPr>
            </a:p>
          </p:txBody>
        </p:sp>
      </p:grpSp>
      <p:grpSp>
        <p:nvGrpSpPr>
          <p:cNvPr id="226" name="Google Shape;226;p8"/>
          <p:cNvGrpSpPr/>
          <p:nvPr/>
        </p:nvGrpSpPr>
        <p:grpSpPr>
          <a:xfrm>
            <a:off x="10494580" y="5592964"/>
            <a:ext cx="1722280" cy="617869"/>
            <a:chOff x="0" y="-19050"/>
            <a:chExt cx="1441300" cy="517067"/>
          </a:xfrm>
        </p:grpSpPr>
        <p:sp>
          <p:nvSpPr>
            <p:cNvPr id="227" name="Google Shape;227;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FFD308"/>
            </a:solidFill>
            <a:ln>
              <a:noFill/>
            </a:ln>
          </p:spPr>
        </p:sp>
        <p:sp>
          <p:nvSpPr>
            <p:cNvPr id="228" name="Google Shape;228;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Clr>
                  <a:srgbClr val="000000"/>
                </a:buClr>
                <a:buSzPts val="1599"/>
                <a:buFont typeface="Arial"/>
                <a:buNone/>
              </a:pPr>
              <a:r>
                <a:rPr b="1" i="0" lang="en-US" sz="1599" u="none" cap="none" strike="noStrike">
                  <a:solidFill>
                    <a:srgbClr val="000000"/>
                  </a:solidFill>
                  <a:latin typeface="Arial"/>
                  <a:ea typeface="Arial"/>
                  <a:cs typeface="Arial"/>
                  <a:sym typeface="Arial"/>
                </a:rPr>
                <a:t>2000s</a:t>
              </a:r>
              <a:endParaRPr b="0" i="0" sz="1400" u="none" cap="none" strike="noStrike">
                <a:solidFill>
                  <a:srgbClr val="000000"/>
                </a:solidFill>
                <a:latin typeface="Arial"/>
                <a:ea typeface="Arial"/>
                <a:cs typeface="Arial"/>
                <a:sym typeface="Arial"/>
              </a:endParaRPr>
            </a:p>
          </p:txBody>
        </p:sp>
      </p:grpSp>
      <p:grpSp>
        <p:nvGrpSpPr>
          <p:cNvPr id="229" name="Google Shape;229;p8"/>
          <p:cNvGrpSpPr/>
          <p:nvPr/>
        </p:nvGrpSpPr>
        <p:grpSpPr>
          <a:xfrm>
            <a:off x="12072345" y="5592964"/>
            <a:ext cx="1722280" cy="617869"/>
            <a:chOff x="0" y="-19050"/>
            <a:chExt cx="1441300" cy="517067"/>
          </a:xfrm>
        </p:grpSpPr>
        <p:sp>
          <p:nvSpPr>
            <p:cNvPr id="230" name="Google Shape;230;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FFA678"/>
            </a:solidFill>
            <a:ln>
              <a:noFill/>
            </a:ln>
          </p:spPr>
        </p:sp>
        <p:sp>
          <p:nvSpPr>
            <p:cNvPr id="231" name="Google Shape;231;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Clr>
                  <a:srgbClr val="000000"/>
                </a:buClr>
                <a:buSzPts val="1599"/>
                <a:buFont typeface="Arial"/>
                <a:buNone/>
              </a:pPr>
              <a:r>
                <a:rPr b="1" i="0" lang="en-US" sz="1599" u="none" cap="none" strike="noStrike">
                  <a:solidFill>
                    <a:srgbClr val="000000"/>
                  </a:solidFill>
                  <a:latin typeface="Arial"/>
                  <a:ea typeface="Arial"/>
                  <a:cs typeface="Arial"/>
                  <a:sym typeface="Arial"/>
                </a:rPr>
                <a:t>2010s</a:t>
              </a:r>
              <a:endParaRPr b="0" i="0" sz="1400" u="none" cap="none" strike="noStrike">
                <a:solidFill>
                  <a:srgbClr val="000000"/>
                </a:solidFill>
                <a:latin typeface="Arial"/>
                <a:ea typeface="Arial"/>
                <a:cs typeface="Arial"/>
                <a:sym typeface="Arial"/>
              </a:endParaRPr>
            </a:p>
          </p:txBody>
        </p:sp>
      </p:grpSp>
      <p:grpSp>
        <p:nvGrpSpPr>
          <p:cNvPr id="232" name="Google Shape;232;p8"/>
          <p:cNvGrpSpPr/>
          <p:nvPr/>
        </p:nvGrpSpPr>
        <p:grpSpPr>
          <a:xfrm>
            <a:off x="13650110" y="5592964"/>
            <a:ext cx="1722280" cy="617869"/>
            <a:chOff x="0" y="-19050"/>
            <a:chExt cx="1441300" cy="517067"/>
          </a:xfrm>
        </p:grpSpPr>
        <p:sp>
          <p:nvSpPr>
            <p:cNvPr id="233" name="Google Shape;233;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FFBEC4"/>
            </a:solidFill>
            <a:ln>
              <a:noFill/>
            </a:ln>
          </p:spPr>
        </p:sp>
        <p:sp>
          <p:nvSpPr>
            <p:cNvPr id="234" name="Google Shape;234;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Clr>
                  <a:srgbClr val="000000"/>
                </a:buClr>
                <a:buSzPts val="1599"/>
                <a:buFont typeface="Arial"/>
                <a:buNone/>
              </a:pPr>
              <a:r>
                <a:rPr b="1" i="0" lang="en-US" sz="1599" u="none" cap="none" strike="noStrike">
                  <a:solidFill>
                    <a:srgbClr val="000000"/>
                  </a:solidFill>
                  <a:latin typeface="Arial"/>
                  <a:ea typeface="Arial"/>
                  <a:cs typeface="Arial"/>
                  <a:sym typeface="Arial"/>
                </a:rPr>
                <a:t>2020s</a:t>
              </a:r>
              <a:endParaRPr b="0" i="0" sz="1400" u="none" cap="none" strike="noStrike">
                <a:solidFill>
                  <a:srgbClr val="000000"/>
                </a:solidFill>
                <a:latin typeface="Arial"/>
                <a:ea typeface="Arial"/>
                <a:cs typeface="Arial"/>
                <a:sym typeface="Arial"/>
              </a:endParaRPr>
            </a:p>
          </p:txBody>
        </p:sp>
      </p:grpSp>
      <p:cxnSp>
        <p:nvCxnSpPr>
          <p:cNvPr id="235" name="Google Shape;235;p8"/>
          <p:cNvCxnSpPr/>
          <p:nvPr/>
        </p:nvCxnSpPr>
        <p:spPr>
          <a:xfrm rot="10800000">
            <a:off x="3537027" y="4288966"/>
            <a:ext cx="0" cy="927781"/>
          </a:xfrm>
          <a:prstGeom prst="straightConnector1">
            <a:avLst/>
          </a:prstGeom>
          <a:noFill/>
          <a:ln cap="flat" cmpd="sng" w="38100">
            <a:solidFill>
              <a:srgbClr val="818DAB"/>
            </a:solidFill>
            <a:prstDash val="solid"/>
            <a:round/>
            <a:headEnd len="sm" w="sm" type="none"/>
            <a:tailEnd len="lg" w="lg" type="oval"/>
          </a:ln>
        </p:spPr>
      </p:cxnSp>
      <p:sp>
        <p:nvSpPr>
          <p:cNvPr id="236" name="Google Shape;236;p8"/>
          <p:cNvSpPr txBox="1"/>
          <p:nvPr/>
        </p:nvSpPr>
        <p:spPr>
          <a:xfrm>
            <a:off x="2315345" y="2790473"/>
            <a:ext cx="2476500" cy="1368933"/>
          </a:xfrm>
          <a:prstGeom prst="rect">
            <a:avLst/>
          </a:prstGeom>
          <a:noFill/>
          <a:ln>
            <a:noFill/>
          </a:ln>
        </p:spPr>
        <p:txBody>
          <a:bodyPr anchorCtr="0" anchor="t" bIns="0" lIns="0" spcFirstLastPara="1" rIns="0" wrap="square" tIns="0">
            <a:spAutoFit/>
          </a:bodyPr>
          <a:lstStyle/>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FORTRAN</a:t>
            </a:r>
            <a:r>
              <a:rPr b="0" i="0" lang="en-US" sz="1200" u="none" cap="none" strike="noStrike">
                <a:solidFill>
                  <a:srgbClr val="000000"/>
                </a:solidFill>
                <a:latin typeface="Arial"/>
                <a:ea typeface="Arial"/>
                <a:cs typeface="Arial"/>
                <a:sym typeface="Arial"/>
              </a:rPr>
              <a:t>: Primer lenguaje de alto nivel, diseñado para cálculos científicos.</a:t>
            </a:r>
            <a:endParaRPr b="0" i="0" sz="1400" u="none" cap="none" strike="noStrike">
              <a:solidFill>
                <a:srgbClr val="000000"/>
              </a:solidFill>
              <a:latin typeface="Arial"/>
              <a:ea typeface="Arial"/>
              <a:cs typeface="Arial"/>
              <a:sym typeface="Arial"/>
            </a:endParaRPr>
          </a:p>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COBOL</a:t>
            </a:r>
            <a:r>
              <a:rPr b="0" i="0" lang="en-US" sz="1200" u="none" cap="none" strike="noStrike">
                <a:solidFill>
                  <a:srgbClr val="000000"/>
                </a:solidFill>
                <a:latin typeface="Arial"/>
                <a:ea typeface="Arial"/>
                <a:cs typeface="Arial"/>
                <a:sym typeface="Arial"/>
              </a:rPr>
              <a:t>: Creado para aplicaciones empresariales y financieras.</a:t>
            </a:r>
            <a:endParaRPr b="0" i="0" sz="1400" u="none" cap="none" strike="noStrike">
              <a:solidFill>
                <a:srgbClr val="000000"/>
              </a:solidFill>
              <a:latin typeface="Arial"/>
              <a:ea typeface="Arial"/>
              <a:cs typeface="Arial"/>
              <a:sym typeface="Arial"/>
            </a:endParaRPr>
          </a:p>
        </p:txBody>
      </p:sp>
      <p:sp>
        <p:nvSpPr>
          <p:cNvPr id="237" name="Google Shape;237;p8"/>
          <p:cNvSpPr txBox="1"/>
          <p:nvPr/>
        </p:nvSpPr>
        <p:spPr>
          <a:xfrm>
            <a:off x="2282209" y="1804260"/>
            <a:ext cx="2509636" cy="9045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Clr>
                <a:srgbClr val="000000"/>
              </a:buClr>
              <a:buSzPts val="1911"/>
              <a:buFont typeface="Arial"/>
              <a:buNone/>
            </a:pPr>
            <a:r>
              <a:rPr b="1" i="0" lang="en-US" sz="1911" u="none" cap="none" strike="noStrike">
                <a:solidFill>
                  <a:srgbClr val="818DAB"/>
                </a:solidFill>
                <a:latin typeface="Arial"/>
                <a:ea typeface="Arial"/>
                <a:cs typeface="Arial"/>
                <a:sym typeface="Arial"/>
              </a:rPr>
              <a:t>El nacimiento de los lenguajes de programación</a:t>
            </a:r>
            <a:endParaRPr b="0" i="0" sz="1400" u="none" cap="none" strike="noStrike">
              <a:solidFill>
                <a:srgbClr val="000000"/>
              </a:solidFill>
              <a:latin typeface="Arial"/>
              <a:ea typeface="Arial"/>
              <a:cs typeface="Arial"/>
              <a:sym typeface="Arial"/>
            </a:endParaRPr>
          </a:p>
        </p:txBody>
      </p:sp>
      <p:cxnSp>
        <p:nvCxnSpPr>
          <p:cNvPr id="238" name="Google Shape;238;p8"/>
          <p:cNvCxnSpPr/>
          <p:nvPr/>
        </p:nvCxnSpPr>
        <p:spPr>
          <a:xfrm rot="10800000">
            <a:off x="6667621" y="4288966"/>
            <a:ext cx="0" cy="927781"/>
          </a:xfrm>
          <a:prstGeom prst="straightConnector1">
            <a:avLst/>
          </a:prstGeom>
          <a:noFill/>
          <a:ln cap="flat" cmpd="sng" w="38100">
            <a:solidFill>
              <a:srgbClr val="00C2CB"/>
            </a:solidFill>
            <a:prstDash val="solid"/>
            <a:round/>
            <a:headEnd len="sm" w="sm" type="none"/>
            <a:tailEnd len="lg" w="lg" type="oval"/>
          </a:ln>
        </p:spPr>
      </p:cxnSp>
      <p:sp>
        <p:nvSpPr>
          <p:cNvPr id="239" name="Google Shape;239;p8"/>
          <p:cNvSpPr txBox="1"/>
          <p:nvPr/>
        </p:nvSpPr>
        <p:spPr>
          <a:xfrm>
            <a:off x="5110608" y="2561836"/>
            <a:ext cx="3130594" cy="1597533"/>
          </a:xfrm>
          <a:prstGeom prst="rect">
            <a:avLst/>
          </a:prstGeom>
          <a:noFill/>
          <a:ln>
            <a:noFill/>
          </a:ln>
        </p:spPr>
        <p:txBody>
          <a:bodyPr anchorCtr="0" anchor="t" bIns="0" lIns="0" spcFirstLastPara="1" rIns="0" wrap="square" tIns="0">
            <a:spAutoFit/>
          </a:bodyPr>
          <a:lstStyle/>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Pascal</a:t>
            </a:r>
            <a:r>
              <a:rPr b="0" i="0" lang="en-US" sz="1200" u="none" cap="none" strike="noStrike">
                <a:solidFill>
                  <a:srgbClr val="000000"/>
                </a:solidFill>
                <a:latin typeface="Arial"/>
                <a:ea typeface="Arial"/>
                <a:cs typeface="Arial"/>
                <a:sym typeface="Arial"/>
              </a:rPr>
              <a:t>: Popular en educación y software estructurado.</a:t>
            </a:r>
            <a:endParaRPr b="0" i="0" sz="1400" u="none" cap="none" strike="noStrike">
              <a:solidFill>
                <a:srgbClr val="000000"/>
              </a:solidFill>
              <a:latin typeface="Arial"/>
              <a:ea typeface="Arial"/>
              <a:cs typeface="Arial"/>
              <a:sym typeface="Arial"/>
            </a:endParaRPr>
          </a:p>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C</a:t>
            </a:r>
            <a:r>
              <a:rPr b="0" i="0" lang="en-US" sz="1200" u="none" cap="none" strike="noStrike">
                <a:solidFill>
                  <a:srgbClr val="000000"/>
                </a:solidFill>
                <a:latin typeface="Arial"/>
                <a:ea typeface="Arial"/>
                <a:cs typeface="Arial"/>
                <a:sym typeface="Arial"/>
              </a:rPr>
              <a:t>: Lenguaje fundamental para sistemas operativos (Unix) y aplicaciones.</a:t>
            </a:r>
            <a:endParaRPr b="0" i="0" sz="1400" u="none" cap="none" strike="noStrike">
              <a:solidFill>
                <a:srgbClr val="000000"/>
              </a:solidFill>
              <a:latin typeface="Arial"/>
              <a:ea typeface="Arial"/>
              <a:cs typeface="Arial"/>
              <a:sym typeface="Arial"/>
            </a:endParaRPr>
          </a:p>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SQL</a:t>
            </a:r>
            <a:r>
              <a:rPr b="0" i="0" lang="en-US" sz="1200" u="none" cap="none" strike="noStrike">
                <a:solidFill>
                  <a:srgbClr val="000000"/>
                </a:solidFill>
                <a:latin typeface="Arial"/>
                <a:ea typeface="Arial"/>
                <a:cs typeface="Arial"/>
                <a:sym typeface="Arial"/>
              </a:rPr>
              <a:t>: Introducido para gestionar bases de datos relacionales.</a:t>
            </a:r>
            <a:endParaRPr b="0" i="0" sz="1400" u="none" cap="none" strike="noStrike">
              <a:solidFill>
                <a:srgbClr val="000000"/>
              </a:solidFill>
              <a:latin typeface="Arial"/>
              <a:ea typeface="Arial"/>
              <a:cs typeface="Arial"/>
              <a:sym typeface="Arial"/>
            </a:endParaRPr>
          </a:p>
        </p:txBody>
      </p:sp>
      <p:sp>
        <p:nvSpPr>
          <p:cNvPr id="240" name="Google Shape;240;p8"/>
          <p:cNvSpPr txBox="1"/>
          <p:nvPr/>
        </p:nvSpPr>
        <p:spPr>
          <a:xfrm>
            <a:off x="5412803" y="1823896"/>
            <a:ext cx="2509636" cy="613752"/>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Clr>
                <a:srgbClr val="000000"/>
              </a:buClr>
              <a:buSzPts val="1911"/>
              <a:buFont typeface="Arial"/>
              <a:buNone/>
            </a:pPr>
            <a:r>
              <a:rPr b="1" i="0" lang="en-US" sz="1911" u="none" cap="none" strike="noStrike">
                <a:solidFill>
                  <a:srgbClr val="03949B"/>
                </a:solidFill>
                <a:latin typeface="Montserrat"/>
                <a:ea typeface="Montserrat"/>
                <a:cs typeface="Montserrat"/>
                <a:sym typeface="Montserrat"/>
              </a:rPr>
              <a:t>La revolución del software</a:t>
            </a:r>
            <a:endParaRPr b="0" i="0" sz="1400" u="none" cap="none" strike="noStrike">
              <a:solidFill>
                <a:srgbClr val="000000"/>
              </a:solidFill>
              <a:latin typeface="Arial"/>
              <a:ea typeface="Arial"/>
              <a:cs typeface="Arial"/>
              <a:sym typeface="Arial"/>
            </a:endParaRPr>
          </a:p>
        </p:txBody>
      </p:sp>
      <p:cxnSp>
        <p:nvCxnSpPr>
          <p:cNvPr id="241" name="Google Shape;241;p8"/>
          <p:cNvCxnSpPr/>
          <p:nvPr/>
        </p:nvCxnSpPr>
        <p:spPr>
          <a:xfrm>
            <a:off x="14514551" y="6484804"/>
            <a:ext cx="0" cy="927781"/>
          </a:xfrm>
          <a:prstGeom prst="straightConnector1">
            <a:avLst/>
          </a:prstGeom>
          <a:noFill/>
          <a:ln cap="flat" cmpd="sng" w="38100">
            <a:solidFill>
              <a:srgbClr val="E87B85"/>
            </a:solidFill>
            <a:prstDash val="solid"/>
            <a:round/>
            <a:headEnd len="sm" w="sm" type="none"/>
            <a:tailEnd len="lg" w="lg" type="oval"/>
          </a:ln>
        </p:spPr>
      </p:cxnSp>
      <p:sp>
        <p:nvSpPr>
          <p:cNvPr id="242" name="Google Shape;242;p8"/>
          <p:cNvSpPr txBox="1"/>
          <p:nvPr/>
        </p:nvSpPr>
        <p:spPr>
          <a:xfrm>
            <a:off x="13023310" y="8239712"/>
            <a:ext cx="2982481" cy="1597533"/>
          </a:xfrm>
          <a:prstGeom prst="rect">
            <a:avLst/>
          </a:prstGeom>
          <a:noFill/>
          <a:ln>
            <a:noFill/>
          </a:ln>
        </p:spPr>
        <p:txBody>
          <a:bodyPr anchorCtr="0" anchor="t" bIns="0" lIns="0" spcFirstLastPara="1" rIns="0" wrap="square" tIns="0">
            <a:spAutoFit/>
          </a:bodyPr>
          <a:lstStyle/>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Julia</a:t>
            </a:r>
            <a:r>
              <a:rPr b="0" i="0" lang="en-US" sz="1200" u="none" cap="none" strike="noStrike">
                <a:solidFill>
                  <a:srgbClr val="000000"/>
                </a:solidFill>
                <a:latin typeface="Arial"/>
                <a:ea typeface="Arial"/>
                <a:cs typeface="Arial"/>
                <a:sym typeface="Arial"/>
              </a:rPr>
              <a:t>: Crece en popularidad para computación científica y machine learning.</a:t>
            </a:r>
            <a:endParaRPr b="0" i="0" sz="1400" u="none" cap="none" strike="noStrike">
              <a:solidFill>
                <a:srgbClr val="000000"/>
              </a:solidFill>
              <a:latin typeface="Arial"/>
              <a:ea typeface="Arial"/>
              <a:cs typeface="Arial"/>
              <a:sym typeface="Arial"/>
            </a:endParaRPr>
          </a:p>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Python</a:t>
            </a:r>
            <a:r>
              <a:rPr b="0" i="0" lang="en-US" sz="1200" u="none" cap="none" strike="noStrike">
                <a:solidFill>
                  <a:srgbClr val="000000"/>
                </a:solidFill>
                <a:latin typeface="Arial"/>
                <a:ea typeface="Arial"/>
                <a:cs typeface="Arial"/>
                <a:sym typeface="Arial"/>
              </a:rPr>
              <a:t> sigue dominando en IA y Data Science, con crecimientos en lenguajes como </a:t>
            </a:r>
            <a:r>
              <a:rPr b="1" i="0" lang="en-US" sz="1200" u="none" cap="none" strike="noStrike">
                <a:solidFill>
                  <a:srgbClr val="000000"/>
                </a:solidFill>
                <a:latin typeface="Arial"/>
                <a:ea typeface="Arial"/>
                <a:cs typeface="Arial"/>
                <a:sym typeface="Arial"/>
              </a:rPr>
              <a:t>Rust</a:t>
            </a:r>
            <a:r>
              <a:rPr b="0" i="0" lang="en-US" sz="1200" u="none" cap="none" strike="noStrike">
                <a:solidFill>
                  <a:srgbClr val="000000"/>
                </a:solidFill>
                <a:latin typeface="Arial"/>
                <a:ea typeface="Arial"/>
                <a:cs typeface="Arial"/>
                <a:sym typeface="Arial"/>
              </a:rPr>
              <a:t> y </a:t>
            </a:r>
            <a:r>
              <a:rPr b="1" i="0" lang="en-US" sz="1200" u="none" cap="none" strike="noStrike">
                <a:solidFill>
                  <a:srgbClr val="000000"/>
                </a:solidFill>
                <a:latin typeface="Arial"/>
                <a:ea typeface="Arial"/>
                <a:cs typeface="Arial"/>
                <a:sym typeface="Arial"/>
              </a:rPr>
              <a:t>TypeScript</a:t>
            </a:r>
            <a:r>
              <a:rPr b="0" i="0" lang="en-US" sz="12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43" name="Google Shape;243;p8"/>
          <p:cNvSpPr txBox="1"/>
          <p:nvPr/>
        </p:nvSpPr>
        <p:spPr>
          <a:xfrm>
            <a:off x="13020010" y="7516186"/>
            <a:ext cx="2875371" cy="5997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Clr>
                <a:srgbClr val="000000"/>
              </a:buClr>
              <a:buSzPts val="1911"/>
              <a:buFont typeface="Arial"/>
              <a:buNone/>
            </a:pPr>
            <a:r>
              <a:rPr b="1" i="0" lang="en-US" sz="1911" u="none" cap="none" strike="noStrike">
                <a:solidFill>
                  <a:srgbClr val="DB5763"/>
                </a:solidFill>
                <a:latin typeface="Arial"/>
                <a:ea typeface="Arial"/>
                <a:cs typeface="Arial"/>
                <a:sym typeface="Arial"/>
              </a:rPr>
              <a:t>Inteligencia Artificial y nuevas tecnologías</a:t>
            </a:r>
            <a:endParaRPr b="0" i="0" sz="1400" u="none" cap="none" strike="noStrike">
              <a:solidFill>
                <a:srgbClr val="000000"/>
              </a:solidFill>
              <a:latin typeface="Arial"/>
              <a:ea typeface="Arial"/>
              <a:cs typeface="Arial"/>
              <a:sym typeface="Arial"/>
            </a:endParaRPr>
          </a:p>
        </p:txBody>
      </p:sp>
      <p:cxnSp>
        <p:nvCxnSpPr>
          <p:cNvPr id="244" name="Google Shape;244;p8"/>
          <p:cNvCxnSpPr/>
          <p:nvPr/>
        </p:nvCxnSpPr>
        <p:spPr>
          <a:xfrm>
            <a:off x="11346195" y="6484804"/>
            <a:ext cx="0" cy="927781"/>
          </a:xfrm>
          <a:prstGeom prst="straightConnector1">
            <a:avLst/>
          </a:prstGeom>
          <a:noFill/>
          <a:ln cap="flat" cmpd="sng" w="38100">
            <a:solidFill>
              <a:srgbClr val="E1B900"/>
            </a:solidFill>
            <a:prstDash val="solid"/>
            <a:round/>
            <a:headEnd len="sm" w="sm" type="none"/>
            <a:tailEnd len="lg" w="lg" type="oval"/>
          </a:ln>
        </p:spPr>
      </p:cxnSp>
      <p:sp>
        <p:nvSpPr>
          <p:cNvPr id="245" name="Google Shape;245;p8"/>
          <p:cNvSpPr txBox="1"/>
          <p:nvPr/>
        </p:nvSpPr>
        <p:spPr>
          <a:xfrm>
            <a:off x="9892590" y="8239712"/>
            <a:ext cx="2926261" cy="1368933"/>
          </a:xfrm>
          <a:prstGeom prst="rect">
            <a:avLst/>
          </a:prstGeom>
          <a:noFill/>
          <a:ln>
            <a:noFill/>
          </a:ln>
        </p:spPr>
        <p:txBody>
          <a:bodyPr anchorCtr="0" anchor="t" bIns="0" lIns="0" spcFirstLastPara="1" rIns="0" wrap="square" tIns="0">
            <a:spAutoFit/>
          </a:bodyPr>
          <a:lstStyle/>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C#</a:t>
            </a:r>
            <a:r>
              <a:rPr b="0" i="0" lang="en-US" sz="1200" u="none" cap="none" strike="noStrike">
                <a:solidFill>
                  <a:srgbClr val="000000"/>
                </a:solidFill>
                <a:latin typeface="Arial"/>
                <a:ea typeface="Arial"/>
                <a:cs typeface="Arial"/>
                <a:sym typeface="Arial"/>
              </a:rPr>
              <a:t>: Creado por Microsoft para su ecosistema.</a:t>
            </a:r>
            <a:endParaRPr b="0" i="0" sz="1400" u="none" cap="none" strike="noStrike">
              <a:solidFill>
                <a:srgbClr val="000000"/>
              </a:solidFill>
              <a:latin typeface="Arial"/>
              <a:ea typeface="Arial"/>
              <a:cs typeface="Arial"/>
              <a:sym typeface="Arial"/>
            </a:endParaRPr>
          </a:p>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Scala</a:t>
            </a:r>
            <a:r>
              <a:rPr b="0" i="0" lang="en-US" sz="1200" u="none" cap="none" strike="noStrike">
                <a:solidFill>
                  <a:srgbClr val="000000"/>
                </a:solidFill>
                <a:latin typeface="Arial"/>
                <a:ea typeface="Arial"/>
                <a:cs typeface="Arial"/>
                <a:sym typeface="Arial"/>
              </a:rPr>
              <a:t>: Combina programación funcional y orientada a objetos.</a:t>
            </a:r>
            <a:endParaRPr b="0" i="0" sz="1400" u="none" cap="none" strike="noStrike">
              <a:solidFill>
                <a:srgbClr val="000000"/>
              </a:solidFill>
              <a:latin typeface="Arial"/>
              <a:ea typeface="Arial"/>
              <a:cs typeface="Arial"/>
              <a:sym typeface="Arial"/>
            </a:endParaRPr>
          </a:p>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Go</a:t>
            </a:r>
            <a:r>
              <a:rPr b="0" i="0" lang="en-US" sz="1200" u="none" cap="none" strike="noStrike">
                <a:solidFill>
                  <a:srgbClr val="000000"/>
                </a:solidFill>
                <a:latin typeface="Arial"/>
                <a:ea typeface="Arial"/>
                <a:cs typeface="Arial"/>
                <a:sym typeface="Arial"/>
              </a:rPr>
              <a:t>: Lenguaje de Google enfocado en rendimiento y concurrencia.</a:t>
            </a:r>
            <a:endParaRPr b="0" i="0" sz="1400" u="none" cap="none" strike="noStrike">
              <a:solidFill>
                <a:srgbClr val="000000"/>
              </a:solidFill>
              <a:latin typeface="Arial"/>
              <a:ea typeface="Arial"/>
              <a:cs typeface="Arial"/>
              <a:sym typeface="Arial"/>
            </a:endParaRPr>
          </a:p>
        </p:txBody>
      </p:sp>
      <p:sp>
        <p:nvSpPr>
          <p:cNvPr id="246" name="Google Shape;246;p8"/>
          <p:cNvSpPr txBox="1"/>
          <p:nvPr/>
        </p:nvSpPr>
        <p:spPr>
          <a:xfrm>
            <a:off x="10100902" y="7516186"/>
            <a:ext cx="2509636" cy="5997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Clr>
                <a:srgbClr val="000000"/>
              </a:buClr>
              <a:buSzPts val="1911"/>
              <a:buFont typeface="Arial"/>
              <a:buNone/>
            </a:pPr>
            <a:r>
              <a:rPr b="1" i="0" lang="en-US" sz="1911" u="none" cap="none" strike="noStrike">
                <a:solidFill>
                  <a:srgbClr val="A48701"/>
                </a:solidFill>
                <a:latin typeface="Arial"/>
                <a:ea typeface="Arial"/>
                <a:cs typeface="Arial"/>
                <a:sym typeface="Arial"/>
              </a:rPr>
              <a:t>Desarrollo web y móvil</a:t>
            </a:r>
            <a:endParaRPr b="0" i="0" sz="1400" u="none" cap="none" strike="noStrike">
              <a:solidFill>
                <a:srgbClr val="000000"/>
              </a:solidFill>
              <a:latin typeface="Arial"/>
              <a:ea typeface="Arial"/>
              <a:cs typeface="Arial"/>
              <a:sym typeface="Arial"/>
            </a:endParaRPr>
          </a:p>
        </p:txBody>
      </p:sp>
      <p:cxnSp>
        <p:nvCxnSpPr>
          <p:cNvPr id="247" name="Google Shape;247;p8"/>
          <p:cNvCxnSpPr/>
          <p:nvPr/>
        </p:nvCxnSpPr>
        <p:spPr>
          <a:xfrm>
            <a:off x="8177840" y="6484804"/>
            <a:ext cx="0" cy="927781"/>
          </a:xfrm>
          <a:prstGeom prst="straightConnector1">
            <a:avLst/>
          </a:prstGeom>
          <a:noFill/>
          <a:ln cap="flat" cmpd="sng" w="38100">
            <a:solidFill>
              <a:srgbClr val="70B812"/>
            </a:solidFill>
            <a:prstDash val="solid"/>
            <a:round/>
            <a:headEnd len="sm" w="sm" type="none"/>
            <a:tailEnd len="lg" w="lg" type="oval"/>
          </a:ln>
        </p:spPr>
      </p:cxnSp>
      <p:sp>
        <p:nvSpPr>
          <p:cNvPr id="248" name="Google Shape;248;p8"/>
          <p:cNvSpPr txBox="1"/>
          <p:nvPr/>
        </p:nvSpPr>
        <p:spPr>
          <a:xfrm>
            <a:off x="6772723" y="8239712"/>
            <a:ext cx="2854933" cy="1368933"/>
          </a:xfrm>
          <a:prstGeom prst="rect">
            <a:avLst/>
          </a:prstGeom>
          <a:noFill/>
          <a:ln>
            <a:noFill/>
          </a:ln>
        </p:spPr>
        <p:txBody>
          <a:bodyPr anchorCtr="0" anchor="t" bIns="0" lIns="0" spcFirstLastPara="1" rIns="0" wrap="square" tIns="0">
            <a:spAutoFit/>
          </a:bodyPr>
          <a:lstStyle/>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C++</a:t>
            </a:r>
            <a:r>
              <a:rPr b="0" i="0" lang="en-US" sz="1200" u="none" cap="none" strike="noStrike">
                <a:solidFill>
                  <a:srgbClr val="000000"/>
                </a:solidFill>
                <a:latin typeface="Arial"/>
                <a:ea typeface="Arial"/>
                <a:cs typeface="Arial"/>
                <a:sym typeface="Arial"/>
              </a:rPr>
              <a:t>: Extensión de C con programación orientada a objetos.</a:t>
            </a:r>
            <a:endParaRPr b="0" i="0" sz="1400" u="none" cap="none" strike="noStrike">
              <a:solidFill>
                <a:srgbClr val="000000"/>
              </a:solidFill>
              <a:latin typeface="Arial"/>
              <a:ea typeface="Arial"/>
              <a:cs typeface="Arial"/>
              <a:sym typeface="Arial"/>
            </a:endParaRPr>
          </a:p>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Perl</a:t>
            </a:r>
            <a:r>
              <a:rPr b="0" i="0" lang="en-US" sz="1200" u="none" cap="none" strike="noStrike">
                <a:solidFill>
                  <a:srgbClr val="000000"/>
                </a:solidFill>
                <a:latin typeface="Arial"/>
                <a:ea typeface="Arial"/>
                <a:cs typeface="Arial"/>
                <a:sym typeface="Arial"/>
              </a:rPr>
              <a:t>: Potente para procesamiento de texto y scripting.</a:t>
            </a:r>
            <a:endParaRPr b="0" i="0" sz="1400" u="none" cap="none" strike="noStrike">
              <a:solidFill>
                <a:srgbClr val="000000"/>
              </a:solidFill>
              <a:latin typeface="Arial"/>
              <a:ea typeface="Arial"/>
              <a:cs typeface="Arial"/>
              <a:sym typeface="Arial"/>
            </a:endParaRPr>
          </a:p>
        </p:txBody>
      </p:sp>
      <p:sp>
        <p:nvSpPr>
          <p:cNvPr id="249" name="Google Shape;249;p8"/>
          <p:cNvSpPr txBox="1"/>
          <p:nvPr/>
        </p:nvSpPr>
        <p:spPr>
          <a:xfrm>
            <a:off x="6772723" y="7516186"/>
            <a:ext cx="2854933" cy="5997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Clr>
                <a:srgbClr val="000000"/>
              </a:buClr>
              <a:buSzPts val="1911"/>
              <a:buFont typeface="Arial"/>
              <a:buNone/>
            </a:pPr>
            <a:r>
              <a:rPr b="1" i="0" lang="en-US" sz="1911" u="none" cap="none" strike="noStrike">
                <a:solidFill>
                  <a:srgbClr val="5C9B0A"/>
                </a:solidFill>
                <a:latin typeface="Arial"/>
                <a:ea typeface="Arial"/>
                <a:cs typeface="Arial"/>
                <a:sym typeface="Arial"/>
              </a:rPr>
              <a:t>Orientación a objetos y más accesibilidad</a:t>
            </a:r>
            <a:endParaRPr b="0" i="0" sz="1400" u="none" cap="none" strike="noStrike">
              <a:solidFill>
                <a:srgbClr val="000000"/>
              </a:solidFill>
              <a:latin typeface="Arial"/>
              <a:ea typeface="Arial"/>
              <a:cs typeface="Arial"/>
              <a:sym typeface="Arial"/>
            </a:endParaRPr>
          </a:p>
        </p:txBody>
      </p:sp>
      <p:cxnSp>
        <p:nvCxnSpPr>
          <p:cNvPr id="250" name="Google Shape;250;p8"/>
          <p:cNvCxnSpPr/>
          <p:nvPr/>
        </p:nvCxnSpPr>
        <p:spPr>
          <a:xfrm>
            <a:off x="5009484" y="6484804"/>
            <a:ext cx="0" cy="927781"/>
          </a:xfrm>
          <a:prstGeom prst="straightConnector1">
            <a:avLst/>
          </a:prstGeom>
          <a:noFill/>
          <a:ln cap="flat" cmpd="sng" w="38100">
            <a:solidFill>
              <a:srgbClr val="521DF1"/>
            </a:solidFill>
            <a:prstDash val="solid"/>
            <a:round/>
            <a:headEnd len="sm" w="sm" type="none"/>
            <a:tailEnd len="lg" w="lg" type="oval"/>
          </a:ln>
        </p:spPr>
      </p:cxnSp>
      <p:sp>
        <p:nvSpPr>
          <p:cNvPr id="251" name="Google Shape;251;p8"/>
          <p:cNvSpPr txBox="1"/>
          <p:nvPr/>
        </p:nvSpPr>
        <p:spPr>
          <a:xfrm>
            <a:off x="3751197" y="8327657"/>
            <a:ext cx="2493068" cy="1368933"/>
          </a:xfrm>
          <a:prstGeom prst="rect">
            <a:avLst/>
          </a:prstGeom>
          <a:noFill/>
          <a:ln>
            <a:noFill/>
          </a:ln>
        </p:spPr>
        <p:txBody>
          <a:bodyPr anchorCtr="0" anchor="t" bIns="0" lIns="0" spcFirstLastPara="1" rIns="0" wrap="square" tIns="0">
            <a:spAutoFit/>
          </a:bodyPr>
          <a:lstStyle/>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ALGOL</a:t>
            </a:r>
            <a:r>
              <a:rPr b="0" i="0" lang="en-US" sz="1200" u="none" cap="none" strike="noStrike">
                <a:solidFill>
                  <a:srgbClr val="000000"/>
                </a:solidFill>
                <a:latin typeface="Arial"/>
                <a:ea typeface="Arial"/>
                <a:cs typeface="Arial"/>
                <a:sym typeface="Arial"/>
              </a:rPr>
              <a:t>: Base para muchos lenguajes modernos, influyó en C y Pascal.</a:t>
            </a:r>
            <a:endParaRPr b="0" i="0" sz="1400" u="none" cap="none" strike="noStrike">
              <a:solidFill>
                <a:srgbClr val="000000"/>
              </a:solidFill>
              <a:latin typeface="Arial"/>
              <a:ea typeface="Arial"/>
              <a:cs typeface="Arial"/>
              <a:sym typeface="Arial"/>
            </a:endParaRPr>
          </a:p>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BASIC</a:t>
            </a:r>
            <a:r>
              <a:rPr b="0" i="0" lang="en-US" sz="1200" u="none" cap="none" strike="noStrike">
                <a:solidFill>
                  <a:srgbClr val="000000"/>
                </a:solidFill>
                <a:latin typeface="Arial"/>
                <a:ea typeface="Arial"/>
                <a:cs typeface="Arial"/>
                <a:sym typeface="Arial"/>
              </a:rPr>
              <a:t>: Facilita el aprendizaje de programación.</a:t>
            </a:r>
            <a:endParaRPr b="0" i="0" sz="1400" u="none" cap="none" strike="noStrike">
              <a:solidFill>
                <a:srgbClr val="000000"/>
              </a:solidFill>
              <a:latin typeface="Arial"/>
              <a:ea typeface="Arial"/>
              <a:cs typeface="Arial"/>
              <a:sym typeface="Arial"/>
            </a:endParaRPr>
          </a:p>
        </p:txBody>
      </p:sp>
      <p:sp>
        <p:nvSpPr>
          <p:cNvPr id="252" name="Google Shape;252;p8"/>
          <p:cNvSpPr txBox="1"/>
          <p:nvPr/>
        </p:nvSpPr>
        <p:spPr>
          <a:xfrm>
            <a:off x="3754666" y="7516186"/>
            <a:ext cx="2509636" cy="5997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Clr>
                <a:srgbClr val="000000"/>
              </a:buClr>
              <a:buSzPts val="1911"/>
              <a:buFont typeface="Arial"/>
              <a:buNone/>
            </a:pPr>
            <a:r>
              <a:rPr b="1" i="0" lang="en-US" sz="1911" u="none" cap="none" strike="noStrike">
                <a:solidFill>
                  <a:srgbClr val="521DF1"/>
                </a:solidFill>
                <a:latin typeface="Arial"/>
                <a:ea typeface="Arial"/>
                <a:cs typeface="Arial"/>
                <a:sym typeface="Arial"/>
              </a:rPr>
              <a:t>Estandarización y expansión</a:t>
            </a:r>
            <a:endParaRPr b="0" i="0" sz="1400" u="none" cap="none" strike="noStrike">
              <a:solidFill>
                <a:srgbClr val="000000"/>
              </a:solidFill>
              <a:latin typeface="Arial"/>
              <a:ea typeface="Arial"/>
              <a:cs typeface="Arial"/>
              <a:sym typeface="Arial"/>
            </a:endParaRPr>
          </a:p>
        </p:txBody>
      </p:sp>
      <p:cxnSp>
        <p:nvCxnSpPr>
          <p:cNvPr id="253" name="Google Shape;253;p8"/>
          <p:cNvCxnSpPr/>
          <p:nvPr/>
        </p:nvCxnSpPr>
        <p:spPr>
          <a:xfrm rot="10800000">
            <a:off x="9798214" y="4288966"/>
            <a:ext cx="0" cy="927781"/>
          </a:xfrm>
          <a:prstGeom prst="straightConnector1">
            <a:avLst/>
          </a:prstGeom>
          <a:noFill/>
          <a:ln cap="flat" cmpd="sng" w="38100">
            <a:solidFill>
              <a:srgbClr val="C4BD19"/>
            </a:solidFill>
            <a:prstDash val="solid"/>
            <a:round/>
            <a:headEnd len="sm" w="sm" type="none"/>
            <a:tailEnd len="lg" w="lg" type="oval"/>
          </a:ln>
        </p:spPr>
      </p:cxnSp>
      <p:cxnSp>
        <p:nvCxnSpPr>
          <p:cNvPr id="254" name="Google Shape;254;p8"/>
          <p:cNvCxnSpPr/>
          <p:nvPr/>
        </p:nvCxnSpPr>
        <p:spPr>
          <a:xfrm rot="10800000">
            <a:off x="12928808" y="4288966"/>
            <a:ext cx="0" cy="927781"/>
          </a:xfrm>
          <a:prstGeom prst="straightConnector1">
            <a:avLst/>
          </a:prstGeom>
          <a:noFill/>
          <a:ln cap="flat" cmpd="sng" w="38100">
            <a:solidFill>
              <a:srgbClr val="F0702F"/>
            </a:solidFill>
            <a:prstDash val="solid"/>
            <a:round/>
            <a:headEnd len="sm" w="sm" type="none"/>
            <a:tailEnd len="lg" w="lg" type="oval"/>
          </a:ln>
        </p:spPr>
      </p:cxnSp>
      <p:sp>
        <p:nvSpPr>
          <p:cNvPr id="255" name="Google Shape;255;p8"/>
          <p:cNvSpPr txBox="1"/>
          <p:nvPr/>
        </p:nvSpPr>
        <p:spPr>
          <a:xfrm>
            <a:off x="1382102" y="1031919"/>
            <a:ext cx="15523796" cy="503174"/>
          </a:xfrm>
          <a:prstGeom prst="rect">
            <a:avLst/>
          </a:prstGeom>
          <a:noFill/>
          <a:ln>
            <a:noFill/>
          </a:ln>
        </p:spPr>
        <p:txBody>
          <a:bodyPr anchorCtr="0" anchor="t" bIns="0" lIns="0" spcFirstLastPara="1" rIns="0" wrap="square" tIns="0">
            <a:spAutoFit/>
          </a:bodyPr>
          <a:lstStyle/>
          <a:p>
            <a:pPr indent="0" lvl="0" marL="0" marR="0" rtl="0" algn="ctr">
              <a:lnSpc>
                <a:spcPct val="117999"/>
              </a:lnSpc>
              <a:spcBef>
                <a:spcPts val="0"/>
              </a:spcBef>
              <a:spcAft>
                <a:spcPts val="0"/>
              </a:spcAft>
              <a:buClr>
                <a:srgbClr val="000000"/>
              </a:buClr>
              <a:buSzPts val="3100"/>
              <a:buFont typeface="Arial"/>
              <a:buNone/>
            </a:pPr>
            <a:r>
              <a:rPr b="0" i="0" lang="en-US" sz="3100" u="none" cap="none" strike="noStrike">
                <a:solidFill>
                  <a:srgbClr val="000000"/>
                </a:solidFill>
                <a:latin typeface="Arial"/>
                <a:ea typeface="Arial"/>
                <a:cs typeface="Arial"/>
                <a:sym typeface="Arial"/>
              </a:rPr>
              <a:t>Evolución de los Lenguajes de Programación</a:t>
            </a:r>
            <a:endParaRPr b="0" i="0" sz="1400" u="none" cap="none" strike="noStrike">
              <a:solidFill>
                <a:srgbClr val="000000"/>
              </a:solidFill>
              <a:latin typeface="Arial"/>
              <a:ea typeface="Arial"/>
              <a:cs typeface="Arial"/>
              <a:sym typeface="Arial"/>
            </a:endParaRPr>
          </a:p>
        </p:txBody>
      </p:sp>
      <p:sp>
        <p:nvSpPr>
          <p:cNvPr id="256" name="Google Shape;256;p8"/>
          <p:cNvSpPr txBox="1"/>
          <p:nvPr/>
        </p:nvSpPr>
        <p:spPr>
          <a:xfrm>
            <a:off x="11466510" y="2748360"/>
            <a:ext cx="2933950" cy="1368933"/>
          </a:xfrm>
          <a:prstGeom prst="rect">
            <a:avLst/>
          </a:prstGeom>
          <a:noFill/>
          <a:ln>
            <a:noFill/>
          </a:ln>
        </p:spPr>
        <p:txBody>
          <a:bodyPr anchorCtr="0" anchor="t" bIns="0" lIns="0" spcFirstLastPara="1" rIns="0" wrap="square" tIns="0">
            <a:spAutoFit/>
          </a:bodyPr>
          <a:lstStyle/>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Kotlin</a:t>
            </a:r>
            <a:r>
              <a:rPr b="0" i="0" lang="en-US" sz="1200" u="none" cap="none" strike="noStrike">
                <a:solidFill>
                  <a:srgbClr val="000000"/>
                </a:solidFill>
                <a:latin typeface="Arial"/>
                <a:ea typeface="Arial"/>
                <a:cs typeface="Arial"/>
                <a:sym typeface="Arial"/>
              </a:rPr>
              <a:t>: Alternativa moderna a Java para Android.</a:t>
            </a:r>
            <a:endParaRPr b="0" i="0" sz="1400" u="none" cap="none" strike="noStrike">
              <a:solidFill>
                <a:srgbClr val="000000"/>
              </a:solidFill>
              <a:latin typeface="Arial"/>
              <a:ea typeface="Arial"/>
              <a:cs typeface="Arial"/>
              <a:sym typeface="Arial"/>
            </a:endParaRPr>
          </a:p>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Swift</a:t>
            </a:r>
            <a:r>
              <a:rPr b="0" i="0" lang="en-US" sz="1200" u="none" cap="none" strike="noStrike">
                <a:solidFill>
                  <a:srgbClr val="000000"/>
                </a:solidFill>
                <a:latin typeface="Arial"/>
                <a:ea typeface="Arial"/>
                <a:cs typeface="Arial"/>
                <a:sym typeface="Arial"/>
              </a:rPr>
              <a:t>: Creado por Apple para desarrollo en iOS/macOS.</a:t>
            </a:r>
            <a:endParaRPr b="0" i="0" sz="1400" u="none" cap="none" strike="noStrike">
              <a:solidFill>
                <a:srgbClr val="000000"/>
              </a:solidFill>
              <a:latin typeface="Arial"/>
              <a:ea typeface="Arial"/>
              <a:cs typeface="Arial"/>
              <a:sym typeface="Arial"/>
            </a:endParaRPr>
          </a:p>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Rust</a:t>
            </a:r>
            <a:r>
              <a:rPr b="0" i="0" lang="en-US" sz="1200" u="none" cap="none" strike="noStrike">
                <a:solidFill>
                  <a:srgbClr val="000000"/>
                </a:solidFill>
                <a:latin typeface="Arial"/>
                <a:ea typeface="Arial"/>
                <a:cs typeface="Arial"/>
                <a:sym typeface="Arial"/>
              </a:rPr>
              <a:t>: Popular por su seguridad en sistemas de bajo nivel.</a:t>
            </a:r>
            <a:endParaRPr b="0" i="0" sz="1400" u="none" cap="none" strike="noStrike">
              <a:solidFill>
                <a:srgbClr val="000000"/>
              </a:solidFill>
              <a:latin typeface="Arial"/>
              <a:ea typeface="Arial"/>
              <a:cs typeface="Arial"/>
              <a:sym typeface="Arial"/>
            </a:endParaRPr>
          </a:p>
        </p:txBody>
      </p:sp>
      <p:sp>
        <p:nvSpPr>
          <p:cNvPr id="257" name="Google Shape;257;p8"/>
          <p:cNvSpPr txBox="1"/>
          <p:nvPr/>
        </p:nvSpPr>
        <p:spPr>
          <a:xfrm>
            <a:off x="11631592" y="1811273"/>
            <a:ext cx="2509636" cy="9045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Clr>
                <a:srgbClr val="000000"/>
              </a:buClr>
              <a:buSzPts val="1911"/>
              <a:buFont typeface="Arial"/>
              <a:buNone/>
            </a:pPr>
            <a:r>
              <a:rPr b="1" i="0" lang="en-US" sz="1911" u="none" cap="none" strike="noStrike">
                <a:solidFill>
                  <a:srgbClr val="D15414"/>
                </a:solidFill>
                <a:latin typeface="Arial"/>
                <a:ea typeface="Arial"/>
                <a:cs typeface="Arial"/>
                <a:sym typeface="Arial"/>
              </a:rPr>
              <a:t>Programación moderna y nuevas tendencias</a:t>
            </a:r>
            <a:endParaRPr b="0" i="0" sz="1400" u="none" cap="none" strike="noStrike">
              <a:solidFill>
                <a:srgbClr val="000000"/>
              </a:solidFill>
              <a:latin typeface="Arial"/>
              <a:ea typeface="Arial"/>
              <a:cs typeface="Arial"/>
              <a:sym typeface="Arial"/>
            </a:endParaRPr>
          </a:p>
        </p:txBody>
      </p:sp>
      <p:sp>
        <p:nvSpPr>
          <p:cNvPr id="258" name="Google Shape;258;p8"/>
          <p:cNvSpPr txBox="1"/>
          <p:nvPr/>
        </p:nvSpPr>
        <p:spPr>
          <a:xfrm>
            <a:off x="8437544" y="2561836"/>
            <a:ext cx="2680823" cy="1368933"/>
          </a:xfrm>
          <a:prstGeom prst="rect">
            <a:avLst/>
          </a:prstGeom>
          <a:noFill/>
          <a:ln>
            <a:noFill/>
          </a:ln>
        </p:spPr>
        <p:txBody>
          <a:bodyPr anchorCtr="0" anchor="t" bIns="0" lIns="0" spcFirstLastPara="1" rIns="0" wrap="square" tIns="0">
            <a:spAutoFit/>
          </a:bodyPr>
          <a:lstStyle/>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Python</a:t>
            </a:r>
            <a:r>
              <a:rPr b="0" i="0" lang="en-US" sz="1200" u="none" cap="none" strike="noStrike">
                <a:solidFill>
                  <a:srgbClr val="000000"/>
                </a:solidFill>
                <a:latin typeface="Arial"/>
                <a:ea typeface="Arial"/>
                <a:cs typeface="Arial"/>
                <a:sym typeface="Arial"/>
              </a:rPr>
              <a:t>: Lenguaje simple y poderoso para múltiples propósitos.</a:t>
            </a:r>
            <a:endParaRPr b="0" i="0" sz="1400" u="none" cap="none" strike="noStrike">
              <a:solidFill>
                <a:srgbClr val="000000"/>
              </a:solidFill>
              <a:latin typeface="Arial"/>
              <a:ea typeface="Arial"/>
              <a:cs typeface="Arial"/>
              <a:sym typeface="Arial"/>
            </a:endParaRPr>
          </a:p>
          <a:p>
            <a:pPr indent="-129538"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Java</a:t>
            </a:r>
            <a:r>
              <a:rPr b="0" i="0" lang="en-US" sz="1200" u="none" cap="none" strike="noStrike">
                <a:solidFill>
                  <a:srgbClr val="000000"/>
                </a:solidFill>
                <a:latin typeface="Arial"/>
                <a:ea typeface="Arial"/>
                <a:cs typeface="Arial"/>
                <a:sym typeface="Arial"/>
              </a:rPr>
              <a:t>, </a:t>
            </a:r>
            <a:r>
              <a:rPr b="1" i="0" lang="en-US" sz="1200" u="none" cap="none" strike="noStrike">
                <a:solidFill>
                  <a:srgbClr val="000000"/>
                </a:solidFill>
                <a:latin typeface="Arial"/>
                <a:ea typeface="Arial"/>
                <a:cs typeface="Arial"/>
                <a:sym typeface="Arial"/>
              </a:rPr>
              <a:t>JavaScript</a:t>
            </a:r>
            <a:r>
              <a:rPr b="0" i="0" lang="en-US" sz="1200" u="none" cap="none" strike="noStrike">
                <a:solidFill>
                  <a:srgbClr val="000000"/>
                </a:solidFill>
                <a:latin typeface="Arial"/>
                <a:ea typeface="Arial"/>
                <a:cs typeface="Arial"/>
                <a:sym typeface="Arial"/>
              </a:rPr>
              <a:t>, </a:t>
            </a:r>
            <a:r>
              <a:rPr b="1" i="0" lang="en-US" sz="1200" u="none" cap="none" strike="noStrike">
                <a:solidFill>
                  <a:srgbClr val="000000"/>
                </a:solidFill>
                <a:latin typeface="Arial"/>
                <a:ea typeface="Arial"/>
                <a:cs typeface="Arial"/>
                <a:sym typeface="Arial"/>
              </a:rPr>
              <a:t>PHP</a:t>
            </a:r>
            <a:r>
              <a:rPr b="0" i="0" lang="en-US" sz="1200" u="none" cap="none" strike="noStrike">
                <a:solidFill>
                  <a:srgbClr val="000000"/>
                </a:solidFill>
                <a:latin typeface="Arial"/>
                <a:ea typeface="Arial"/>
                <a:cs typeface="Arial"/>
                <a:sym typeface="Arial"/>
              </a:rPr>
              <a:t>, </a:t>
            </a:r>
            <a:r>
              <a:rPr b="1" i="0" lang="en-US" sz="1200" u="none" cap="none" strike="noStrike">
                <a:solidFill>
                  <a:srgbClr val="000000"/>
                </a:solidFill>
                <a:latin typeface="Arial"/>
                <a:ea typeface="Arial"/>
                <a:cs typeface="Arial"/>
                <a:sym typeface="Arial"/>
              </a:rPr>
              <a:t>Ruby</a:t>
            </a:r>
            <a:r>
              <a:rPr b="0" i="0" lang="en-US" sz="1200" u="none" cap="none" strike="noStrike">
                <a:solidFill>
                  <a:srgbClr val="000000"/>
                </a:solidFill>
                <a:latin typeface="Arial"/>
                <a:ea typeface="Arial"/>
                <a:cs typeface="Arial"/>
                <a:sym typeface="Arial"/>
              </a:rPr>
              <a:t>: Lenguajes clave para la web y aplicaciones empresariales.</a:t>
            </a:r>
            <a:endParaRPr b="0" i="0" sz="1400" u="none" cap="none" strike="noStrike">
              <a:solidFill>
                <a:srgbClr val="000000"/>
              </a:solidFill>
              <a:latin typeface="Arial"/>
              <a:ea typeface="Arial"/>
              <a:cs typeface="Arial"/>
              <a:sym typeface="Arial"/>
            </a:endParaRPr>
          </a:p>
        </p:txBody>
      </p:sp>
      <p:sp>
        <p:nvSpPr>
          <p:cNvPr id="259" name="Google Shape;259;p8"/>
          <p:cNvSpPr txBox="1"/>
          <p:nvPr/>
        </p:nvSpPr>
        <p:spPr>
          <a:xfrm>
            <a:off x="8279162" y="1794958"/>
            <a:ext cx="3038105" cy="613752"/>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Clr>
                <a:srgbClr val="000000"/>
              </a:buClr>
              <a:buSzPts val="1911"/>
              <a:buFont typeface="Arial"/>
              <a:buNone/>
            </a:pPr>
            <a:r>
              <a:rPr b="1" i="0" lang="en-US" sz="1911" u="none" cap="none" strike="noStrike">
                <a:solidFill>
                  <a:srgbClr val="948E0A"/>
                </a:solidFill>
                <a:latin typeface="Montserrat"/>
                <a:ea typeface="Montserrat"/>
                <a:cs typeface="Montserrat"/>
                <a:sym typeface="Montserrat"/>
              </a:rPr>
              <a:t>Internet y el auge de los lenguajes modernos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9"/>
          <p:cNvSpPr txBox="1"/>
          <p:nvPr/>
        </p:nvSpPr>
        <p:spPr>
          <a:xfrm>
            <a:off x="1904222" y="1577033"/>
            <a:ext cx="15355078" cy="16452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600"/>
              <a:buFont typeface="Arial"/>
              <a:buNone/>
            </a:pPr>
            <a:r>
              <a:rPr b="0" i="0" lang="en-US" sz="4600" u="none" cap="none" strike="noStrike">
                <a:solidFill>
                  <a:srgbClr val="152540"/>
                </a:solidFill>
                <a:latin typeface="Arial"/>
                <a:ea typeface="Arial"/>
                <a:cs typeface="Arial"/>
                <a:sym typeface="Arial"/>
              </a:rPr>
              <a:t>GENERACIONES DE LENGUAJES DE PROGRAMACIÓN</a:t>
            </a:r>
            <a:endParaRPr b="0" i="0" sz="1400" u="none" cap="none" strike="noStrike">
              <a:solidFill>
                <a:srgbClr val="000000"/>
              </a:solidFill>
              <a:latin typeface="Arial"/>
              <a:ea typeface="Arial"/>
              <a:cs typeface="Arial"/>
              <a:sym typeface="Arial"/>
            </a:endParaRPr>
          </a:p>
        </p:txBody>
      </p:sp>
      <p:sp>
        <p:nvSpPr>
          <p:cNvPr id="265" name="Google Shape;265;p9"/>
          <p:cNvSpPr/>
          <p:nvPr/>
        </p:nvSpPr>
        <p:spPr>
          <a:xfrm>
            <a:off x="7941920" y="6632673"/>
            <a:ext cx="2625627" cy="2625627"/>
          </a:xfrm>
          <a:custGeom>
            <a:rect b="b" l="l" r="r" t="t"/>
            <a:pathLst>
              <a:path extrusionOk="0" h="2625627" w="2625627">
                <a:moveTo>
                  <a:pt x="0" y="0"/>
                </a:moveTo>
                <a:lnTo>
                  <a:pt x="2625627" y="0"/>
                </a:lnTo>
                <a:lnTo>
                  <a:pt x="2625627" y="2625627"/>
                </a:lnTo>
                <a:lnTo>
                  <a:pt x="0" y="2625627"/>
                </a:lnTo>
                <a:lnTo>
                  <a:pt x="0" y="0"/>
                </a:lnTo>
                <a:close/>
              </a:path>
            </a:pathLst>
          </a:custGeom>
          <a:blipFill rotWithShape="1">
            <a:blip r:embed="rId3">
              <a:alphaModFix/>
            </a:blip>
            <a:stretch>
              <a:fillRect b="0" l="0" r="0" t="0"/>
            </a:stretch>
          </a:blipFill>
          <a:ln>
            <a:noFill/>
          </a:ln>
        </p:spPr>
      </p:sp>
      <p:sp>
        <p:nvSpPr>
          <p:cNvPr id="266" name="Google Shape;266;p9"/>
          <p:cNvSpPr txBox="1"/>
          <p:nvPr/>
        </p:nvSpPr>
        <p:spPr>
          <a:xfrm>
            <a:off x="1904222" y="5020792"/>
            <a:ext cx="14701023" cy="19673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000000"/>
              </a:buClr>
              <a:buSzPts val="2794"/>
              <a:buFont typeface="Arial"/>
              <a:buNone/>
            </a:pPr>
            <a:r>
              <a:rPr b="0" i="0" lang="en-US" sz="2794" u="none" cap="none" strike="noStrike">
                <a:solidFill>
                  <a:srgbClr val="152540"/>
                </a:solidFill>
                <a:latin typeface="Arial"/>
                <a:ea typeface="Arial"/>
                <a:cs typeface="Arial"/>
                <a:sym typeface="Arial"/>
              </a:rPr>
              <a:t>Los primeros lenguajes de programación se escribían en lenguaje máquina, que es un conjunto de instrucciones binarias que la computadora puede entender directamente. El lenguaje máquina es muy difícil de leer y escribir, y es muy difícil de depurar. </a:t>
            </a:r>
            <a:endParaRPr b="0" i="0" sz="1400" u="none" cap="none" strike="noStrike">
              <a:solidFill>
                <a:srgbClr val="000000"/>
              </a:solidFill>
              <a:latin typeface="Arial"/>
              <a:ea typeface="Arial"/>
              <a:cs typeface="Arial"/>
              <a:sym typeface="Arial"/>
            </a:endParaRPr>
          </a:p>
        </p:txBody>
      </p:sp>
      <p:sp>
        <p:nvSpPr>
          <p:cNvPr id="267" name="Google Shape;267;p9"/>
          <p:cNvSpPr txBox="1"/>
          <p:nvPr/>
        </p:nvSpPr>
        <p:spPr>
          <a:xfrm>
            <a:off x="1904222" y="3787083"/>
            <a:ext cx="14701023" cy="72009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899"/>
              <a:buFont typeface="Arial"/>
              <a:buNone/>
            </a:pPr>
            <a:r>
              <a:rPr b="0" i="0" lang="en-US" sz="3899" u="none" cap="none" strike="noStrike">
                <a:solidFill>
                  <a:srgbClr val="152540"/>
                </a:solidFill>
                <a:latin typeface="Arial"/>
                <a:ea typeface="Arial"/>
                <a:cs typeface="Arial"/>
                <a:sym typeface="Arial"/>
              </a:rPr>
              <a:t>PRIMERA GENERACIÓN (1945 - 1955)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0"/>
          <p:cNvSpPr txBox="1"/>
          <p:nvPr/>
        </p:nvSpPr>
        <p:spPr>
          <a:xfrm>
            <a:off x="1904222" y="1577033"/>
            <a:ext cx="15355078" cy="164528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Clr>
                <a:srgbClr val="000000"/>
              </a:buClr>
              <a:buSzPts val="4599"/>
              <a:buFont typeface="Arial"/>
              <a:buNone/>
            </a:pPr>
            <a:r>
              <a:rPr b="0" i="0" lang="en-US" sz="4599" u="none" cap="none" strike="noStrike">
                <a:solidFill>
                  <a:srgbClr val="152540"/>
                </a:solidFill>
                <a:latin typeface="Arial"/>
                <a:ea typeface="Arial"/>
                <a:cs typeface="Arial"/>
                <a:sym typeface="Arial"/>
              </a:rPr>
              <a:t>GENERACIONES DE LENGUAJES DE PROGRAMACIÓN</a:t>
            </a:r>
            <a:endParaRPr b="0" i="0" sz="1400" u="none" cap="none" strike="noStrike">
              <a:solidFill>
                <a:srgbClr val="000000"/>
              </a:solidFill>
              <a:latin typeface="Arial"/>
              <a:ea typeface="Arial"/>
              <a:cs typeface="Arial"/>
              <a:sym typeface="Arial"/>
            </a:endParaRPr>
          </a:p>
        </p:txBody>
      </p:sp>
      <p:sp>
        <p:nvSpPr>
          <p:cNvPr id="273" name="Google Shape;273;p10"/>
          <p:cNvSpPr/>
          <p:nvPr/>
        </p:nvSpPr>
        <p:spPr>
          <a:xfrm>
            <a:off x="7845477" y="6627647"/>
            <a:ext cx="3066782" cy="3066782"/>
          </a:xfrm>
          <a:custGeom>
            <a:rect b="b" l="l" r="r" t="t"/>
            <a:pathLst>
              <a:path extrusionOk="0" h="3066782" w="3066782">
                <a:moveTo>
                  <a:pt x="0" y="0"/>
                </a:moveTo>
                <a:lnTo>
                  <a:pt x="3066782" y="0"/>
                </a:lnTo>
                <a:lnTo>
                  <a:pt x="3066782" y="3066782"/>
                </a:lnTo>
                <a:lnTo>
                  <a:pt x="0" y="3066782"/>
                </a:lnTo>
                <a:lnTo>
                  <a:pt x="0" y="0"/>
                </a:lnTo>
                <a:close/>
              </a:path>
            </a:pathLst>
          </a:custGeom>
          <a:blipFill rotWithShape="1">
            <a:blip r:embed="rId3">
              <a:alphaModFix/>
            </a:blip>
            <a:stretch>
              <a:fillRect b="0" l="0" r="0" t="0"/>
            </a:stretch>
          </a:blipFill>
          <a:ln>
            <a:noFill/>
          </a:ln>
        </p:spPr>
      </p:sp>
      <p:sp>
        <p:nvSpPr>
          <p:cNvPr id="274" name="Google Shape;274;p10"/>
          <p:cNvSpPr txBox="1"/>
          <p:nvPr/>
        </p:nvSpPr>
        <p:spPr>
          <a:xfrm>
            <a:off x="1904222" y="5020792"/>
            <a:ext cx="14701023" cy="1820050"/>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Clr>
                <a:srgbClr val="000000"/>
              </a:buClr>
              <a:buSzPts val="2594"/>
              <a:buFont typeface="Arial"/>
              <a:buNone/>
            </a:pPr>
            <a:r>
              <a:rPr b="0" i="0" lang="en-US" sz="2594" u="none" cap="none" strike="noStrike">
                <a:solidFill>
                  <a:srgbClr val="152540"/>
                </a:solidFill>
                <a:latin typeface="Arial"/>
                <a:ea typeface="Arial"/>
                <a:cs typeface="Arial"/>
                <a:sym typeface="Arial"/>
              </a:rPr>
              <a:t>Los lenguajes de segunda generación se escribían en lenguaje ensamblador, que es un lenguaje de nivel medio que es más fácil de leer y escribir que el lenguaje máquina. El lenguaje ensamblador es aún difícil de depurar, y es difícil de portarlo a diferentes tipos de computadoras.</a:t>
            </a:r>
            <a:endParaRPr b="0" i="0" sz="1400" u="none" cap="none" strike="noStrike">
              <a:solidFill>
                <a:srgbClr val="000000"/>
              </a:solidFill>
              <a:latin typeface="Arial"/>
              <a:ea typeface="Arial"/>
              <a:cs typeface="Arial"/>
              <a:sym typeface="Arial"/>
            </a:endParaRPr>
          </a:p>
        </p:txBody>
      </p:sp>
      <p:sp>
        <p:nvSpPr>
          <p:cNvPr id="275" name="Google Shape;275;p10"/>
          <p:cNvSpPr txBox="1"/>
          <p:nvPr/>
        </p:nvSpPr>
        <p:spPr>
          <a:xfrm>
            <a:off x="1904222" y="3787083"/>
            <a:ext cx="14701023" cy="720090"/>
          </a:xfrm>
          <a:prstGeom prst="rect">
            <a:avLst/>
          </a:prstGeom>
          <a:noFill/>
          <a:ln>
            <a:noFill/>
          </a:ln>
        </p:spPr>
        <p:txBody>
          <a:bodyPr anchorCtr="0" anchor="t" bIns="0" lIns="0" spcFirstLastPara="1" rIns="0" wrap="square" tIns="0">
            <a:spAutoFit/>
          </a:bodyPr>
          <a:lstStyle/>
          <a:p>
            <a:pPr indent="0" lvl="0" marL="0" marR="0" rtl="0" algn="l">
              <a:lnSpc>
                <a:spcPct val="139974"/>
              </a:lnSpc>
              <a:spcBef>
                <a:spcPts val="0"/>
              </a:spcBef>
              <a:spcAft>
                <a:spcPts val="0"/>
              </a:spcAft>
              <a:buClr>
                <a:srgbClr val="000000"/>
              </a:buClr>
              <a:buSzPts val="3900"/>
              <a:buFont typeface="Arial"/>
              <a:buNone/>
            </a:pPr>
            <a:r>
              <a:rPr b="0" i="0" lang="en-US" sz="3900" u="none" cap="none" strike="noStrike">
                <a:solidFill>
                  <a:srgbClr val="152540"/>
                </a:solidFill>
                <a:latin typeface="Arial"/>
                <a:ea typeface="Arial"/>
                <a:cs typeface="Arial"/>
                <a:sym typeface="Arial"/>
              </a:rPr>
              <a:t>SEGUNDA GENERACIÓN (1955 - 1965)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1"/>
          <p:cNvSpPr txBox="1"/>
          <p:nvPr/>
        </p:nvSpPr>
        <p:spPr>
          <a:xfrm>
            <a:off x="1904222" y="1577033"/>
            <a:ext cx="15355078" cy="164528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Clr>
                <a:srgbClr val="000000"/>
              </a:buClr>
              <a:buSzPts val="4599"/>
              <a:buFont typeface="Arial"/>
              <a:buNone/>
            </a:pPr>
            <a:r>
              <a:rPr b="0" i="0" lang="en-US" sz="4599" u="none" cap="none" strike="noStrike">
                <a:solidFill>
                  <a:srgbClr val="152540"/>
                </a:solidFill>
                <a:latin typeface="Arial"/>
                <a:ea typeface="Arial"/>
                <a:cs typeface="Arial"/>
                <a:sym typeface="Arial"/>
              </a:rPr>
              <a:t>GENERACIONES DE LENGUAJES DE PROGRAMACIÓN</a:t>
            </a:r>
            <a:endParaRPr b="0" i="0" sz="1400" u="none" cap="none" strike="noStrike">
              <a:solidFill>
                <a:srgbClr val="000000"/>
              </a:solidFill>
              <a:latin typeface="Arial"/>
              <a:ea typeface="Arial"/>
              <a:cs typeface="Arial"/>
              <a:sym typeface="Arial"/>
            </a:endParaRPr>
          </a:p>
        </p:txBody>
      </p:sp>
      <p:sp>
        <p:nvSpPr>
          <p:cNvPr id="281" name="Google Shape;281;p11"/>
          <p:cNvSpPr/>
          <p:nvPr/>
        </p:nvSpPr>
        <p:spPr>
          <a:xfrm>
            <a:off x="5155262" y="7954632"/>
            <a:ext cx="1851494" cy="1851494"/>
          </a:xfrm>
          <a:custGeom>
            <a:rect b="b" l="l" r="r" t="t"/>
            <a:pathLst>
              <a:path extrusionOk="0" h="1851494" w="1851494">
                <a:moveTo>
                  <a:pt x="0" y="0"/>
                </a:moveTo>
                <a:lnTo>
                  <a:pt x="1851494" y="0"/>
                </a:lnTo>
                <a:lnTo>
                  <a:pt x="1851494" y="1851494"/>
                </a:lnTo>
                <a:lnTo>
                  <a:pt x="0" y="1851494"/>
                </a:lnTo>
                <a:lnTo>
                  <a:pt x="0" y="0"/>
                </a:lnTo>
                <a:close/>
              </a:path>
            </a:pathLst>
          </a:custGeom>
          <a:blipFill rotWithShape="1">
            <a:blip r:embed="rId3">
              <a:alphaModFix/>
            </a:blip>
            <a:stretch>
              <a:fillRect b="0" l="0" r="0" t="0"/>
            </a:stretch>
          </a:blipFill>
          <a:ln>
            <a:noFill/>
          </a:ln>
        </p:spPr>
      </p:sp>
      <p:sp>
        <p:nvSpPr>
          <p:cNvPr id="282" name="Google Shape;282;p11"/>
          <p:cNvSpPr/>
          <p:nvPr/>
        </p:nvSpPr>
        <p:spPr>
          <a:xfrm>
            <a:off x="9239250" y="7954632"/>
            <a:ext cx="1851494" cy="1851494"/>
          </a:xfrm>
          <a:custGeom>
            <a:rect b="b" l="l" r="r" t="t"/>
            <a:pathLst>
              <a:path extrusionOk="0" h="1851494" w="1851494">
                <a:moveTo>
                  <a:pt x="0" y="0"/>
                </a:moveTo>
                <a:lnTo>
                  <a:pt x="1851494" y="0"/>
                </a:lnTo>
                <a:lnTo>
                  <a:pt x="1851494" y="1851494"/>
                </a:lnTo>
                <a:lnTo>
                  <a:pt x="0" y="1851494"/>
                </a:lnTo>
                <a:lnTo>
                  <a:pt x="0" y="0"/>
                </a:lnTo>
                <a:close/>
              </a:path>
            </a:pathLst>
          </a:custGeom>
          <a:blipFill rotWithShape="1">
            <a:blip r:embed="rId4">
              <a:alphaModFix/>
            </a:blip>
            <a:stretch>
              <a:fillRect b="0" l="0" r="0" t="0"/>
            </a:stretch>
          </a:blipFill>
          <a:ln>
            <a:noFill/>
          </a:ln>
        </p:spPr>
      </p:sp>
      <p:sp>
        <p:nvSpPr>
          <p:cNvPr id="283" name="Google Shape;283;p11"/>
          <p:cNvSpPr/>
          <p:nvPr/>
        </p:nvSpPr>
        <p:spPr>
          <a:xfrm>
            <a:off x="11281244" y="7954632"/>
            <a:ext cx="1851494" cy="1843937"/>
          </a:xfrm>
          <a:custGeom>
            <a:rect b="b" l="l" r="r" t="t"/>
            <a:pathLst>
              <a:path extrusionOk="0" h="1843937" w="1851494">
                <a:moveTo>
                  <a:pt x="0" y="0"/>
                </a:moveTo>
                <a:lnTo>
                  <a:pt x="1851494" y="0"/>
                </a:lnTo>
                <a:lnTo>
                  <a:pt x="1851494" y="1843937"/>
                </a:lnTo>
                <a:lnTo>
                  <a:pt x="0" y="1843937"/>
                </a:lnTo>
                <a:lnTo>
                  <a:pt x="0" y="0"/>
                </a:lnTo>
                <a:close/>
              </a:path>
            </a:pathLst>
          </a:custGeom>
          <a:blipFill rotWithShape="1">
            <a:blip r:embed="rId5">
              <a:alphaModFix/>
            </a:blip>
            <a:stretch>
              <a:fillRect b="-15563" l="-15900" r="-15544" t="-16421"/>
            </a:stretch>
          </a:blipFill>
          <a:ln>
            <a:noFill/>
          </a:ln>
        </p:spPr>
      </p:sp>
      <p:sp>
        <p:nvSpPr>
          <p:cNvPr id="284" name="Google Shape;284;p11"/>
          <p:cNvSpPr txBox="1"/>
          <p:nvPr/>
        </p:nvSpPr>
        <p:spPr>
          <a:xfrm>
            <a:off x="1904222" y="5020792"/>
            <a:ext cx="14701023" cy="24626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000000"/>
              </a:buClr>
              <a:buSzPts val="2794"/>
              <a:buFont typeface="Arial"/>
              <a:buNone/>
            </a:pPr>
            <a:r>
              <a:rPr b="0" i="0" lang="en-US" sz="2794" u="none" cap="none" strike="noStrike">
                <a:solidFill>
                  <a:srgbClr val="152540"/>
                </a:solidFill>
                <a:latin typeface="Arial"/>
                <a:ea typeface="Arial"/>
                <a:cs typeface="Arial"/>
                <a:sym typeface="Arial"/>
              </a:rPr>
              <a:t>Los lenguajes de tercera generación se escribían en lenguajes de alto nivel, que son mucho más fáciles de leer y escribir que el lenguaje ensamblador. Los lenguajes de alto nivel son fáciles de depurar, y son fáciles de portar a diferentes tipos de computadoras. Algunos de los lenguajes de alto nivel más populares de la tercera generación son Fortran, Java, COBOL, y Pascal.</a:t>
            </a:r>
            <a:endParaRPr b="0" i="0" sz="1400" u="none" cap="none" strike="noStrike">
              <a:solidFill>
                <a:srgbClr val="000000"/>
              </a:solidFill>
              <a:latin typeface="Arial"/>
              <a:ea typeface="Arial"/>
              <a:cs typeface="Arial"/>
              <a:sym typeface="Arial"/>
            </a:endParaRPr>
          </a:p>
        </p:txBody>
      </p:sp>
      <p:sp>
        <p:nvSpPr>
          <p:cNvPr id="285" name="Google Shape;285;p11"/>
          <p:cNvSpPr txBox="1"/>
          <p:nvPr/>
        </p:nvSpPr>
        <p:spPr>
          <a:xfrm>
            <a:off x="1904222" y="3787083"/>
            <a:ext cx="14701023" cy="720090"/>
          </a:xfrm>
          <a:prstGeom prst="rect">
            <a:avLst/>
          </a:prstGeom>
          <a:noFill/>
          <a:ln>
            <a:noFill/>
          </a:ln>
        </p:spPr>
        <p:txBody>
          <a:bodyPr anchorCtr="0" anchor="t" bIns="0" lIns="0" spcFirstLastPara="1" rIns="0" wrap="square" tIns="0">
            <a:spAutoFit/>
          </a:bodyPr>
          <a:lstStyle/>
          <a:p>
            <a:pPr indent="0" lvl="0" marL="0" marR="0" rtl="0" algn="l">
              <a:lnSpc>
                <a:spcPct val="139974"/>
              </a:lnSpc>
              <a:spcBef>
                <a:spcPts val="0"/>
              </a:spcBef>
              <a:spcAft>
                <a:spcPts val="0"/>
              </a:spcAft>
              <a:buClr>
                <a:srgbClr val="000000"/>
              </a:buClr>
              <a:buSzPts val="3900"/>
              <a:buFont typeface="Arial"/>
              <a:buNone/>
            </a:pPr>
            <a:r>
              <a:rPr b="0" i="0" lang="en-US" sz="3900" u="none" cap="none" strike="noStrike">
                <a:solidFill>
                  <a:srgbClr val="152540"/>
                </a:solidFill>
                <a:latin typeface="Arial"/>
                <a:ea typeface="Arial"/>
                <a:cs typeface="Arial"/>
                <a:sym typeface="Arial"/>
              </a:rPr>
              <a:t>TERCERA GENERACIÓN (1965 - 1975)</a:t>
            </a:r>
            <a:endParaRPr b="0" i="0" sz="1400" u="none" cap="none" strike="noStrike">
              <a:solidFill>
                <a:srgbClr val="000000"/>
              </a:solidFill>
              <a:latin typeface="Arial"/>
              <a:ea typeface="Arial"/>
              <a:cs typeface="Arial"/>
              <a:sym typeface="Arial"/>
            </a:endParaRPr>
          </a:p>
        </p:txBody>
      </p:sp>
      <p:sp>
        <p:nvSpPr>
          <p:cNvPr id="286" name="Google Shape;286;p11"/>
          <p:cNvSpPr/>
          <p:nvPr/>
        </p:nvSpPr>
        <p:spPr>
          <a:xfrm>
            <a:off x="7197256" y="7954632"/>
            <a:ext cx="1851494" cy="1851494"/>
          </a:xfrm>
          <a:custGeom>
            <a:rect b="b" l="l" r="r" t="t"/>
            <a:pathLst>
              <a:path extrusionOk="0" h="1851494" w="1851494">
                <a:moveTo>
                  <a:pt x="0" y="0"/>
                </a:moveTo>
                <a:lnTo>
                  <a:pt x="1851494" y="0"/>
                </a:lnTo>
                <a:lnTo>
                  <a:pt x="1851494" y="1851494"/>
                </a:lnTo>
                <a:lnTo>
                  <a:pt x="0" y="1851494"/>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2"/>
          <p:cNvSpPr txBox="1"/>
          <p:nvPr/>
        </p:nvSpPr>
        <p:spPr>
          <a:xfrm>
            <a:off x="1904222" y="1577033"/>
            <a:ext cx="15355078" cy="164528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Clr>
                <a:srgbClr val="000000"/>
              </a:buClr>
              <a:buSzPts val="4599"/>
              <a:buFont typeface="Arial"/>
              <a:buNone/>
            </a:pPr>
            <a:r>
              <a:rPr b="0" i="0" lang="en-US" sz="4599" u="none" cap="none" strike="noStrike">
                <a:solidFill>
                  <a:srgbClr val="152540"/>
                </a:solidFill>
                <a:latin typeface="Arial"/>
                <a:ea typeface="Arial"/>
                <a:cs typeface="Arial"/>
                <a:sym typeface="Arial"/>
              </a:rPr>
              <a:t>GENERACIONES DE LENGUAJES DE PROGRAMACIÓN</a:t>
            </a:r>
            <a:endParaRPr b="0" i="0" sz="1400" u="none" cap="none" strike="noStrike">
              <a:solidFill>
                <a:srgbClr val="000000"/>
              </a:solidFill>
              <a:latin typeface="Arial"/>
              <a:ea typeface="Arial"/>
              <a:cs typeface="Arial"/>
              <a:sym typeface="Arial"/>
            </a:endParaRPr>
          </a:p>
        </p:txBody>
      </p:sp>
      <p:sp>
        <p:nvSpPr>
          <p:cNvPr id="292" name="Google Shape;292;p12"/>
          <p:cNvSpPr/>
          <p:nvPr/>
        </p:nvSpPr>
        <p:spPr>
          <a:xfrm>
            <a:off x="4591955" y="7954632"/>
            <a:ext cx="1475834" cy="1950494"/>
          </a:xfrm>
          <a:custGeom>
            <a:rect b="b" l="l" r="r" t="t"/>
            <a:pathLst>
              <a:path extrusionOk="0" h="1950494" w="1475834">
                <a:moveTo>
                  <a:pt x="0" y="0"/>
                </a:moveTo>
                <a:lnTo>
                  <a:pt x="1475834" y="0"/>
                </a:lnTo>
                <a:lnTo>
                  <a:pt x="1475834" y="1950494"/>
                </a:lnTo>
                <a:lnTo>
                  <a:pt x="0" y="1950494"/>
                </a:lnTo>
                <a:lnTo>
                  <a:pt x="0" y="0"/>
                </a:lnTo>
                <a:close/>
              </a:path>
            </a:pathLst>
          </a:custGeom>
          <a:blipFill rotWithShape="1">
            <a:blip r:embed="rId3">
              <a:alphaModFix/>
            </a:blip>
            <a:stretch>
              <a:fillRect b="0" l="-75923" r="-75794" t="0"/>
            </a:stretch>
          </a:blipFill>
          <a:ln>
            <a:noFill/>
          </a:ln>
        </p:spPr>
      </p:sp>
      <p:sp>
        <p:nvSpPr>
          <p:cNvPr id="293" name="Google Shape;293;p12"/>
          <p:cNvSpPr/>
          <p:nvPr/>
        </p:nvSpPr>
        <p:spPr>
          <a:xfrm>
            <a:off x="6167188" y="8235970"/>
            <a:ext cx="4916841" cy="1387818"/>
          </a:xfrm>
          <a:custGeom>
            <a:rect b="b" l="l" r="r" t="t"/>
            <a:pathLst>
              <a:path extrusionOk="0" h="1387818" w="4916841">
                <a:moveTo>
                  <a:pt x="0" y="0"/>
                </a:moveTo>
                <a:lnTo>
                  <a:pt x="4916840" y="0"/>
                </a:lnTo>
                <a:lnTo>
                  <a:pt x="4916840" y="1387818"/>
                </a:lnTo>
                <a:lnTo>
                  <a:pt x="0" y="1387818"/>
                </a:lnTo>
                <a:lnTo>
                  <a:pt x="0" y="0"/>
                </a:lnTo>
                <a:close/>
              </a:path>
            </a:pathLst>
          </a:custGeom>
          <a:blipFill rotWithShape="1">
            <a:blip r:embed="rId4">
              <a:alphaModFix/>
            </a:blip>
            <a:stretch>
              <a:fillRect b="0" l="0" r="0" t="0"/>
            </a:stretch>
          </a:blipFill>
          <a:ln>
            <a:noFill/>
          </a:ln>
        </p:spPr>
      </p:sp>
      <p:sp>
        <p:nvSpPr>
          <p:cNvPr id="294" name="Google Shape;294;p12"/>
          <p:cNvSpPr/>
          <p:nvPr/>
        </p:nvSpPr>
        <p:spPr>
          <a:xfrm>
            <a:off x="11179278" y="7954632"/>
            <a:ext cx="2516766" cy="1950494"/>
          </a:xfrm>
          <a:custGeom>
            <a:rect b="b" l="l" r="r" t="t"/>
            <a:pathLst>
              <a:path extrusionOk="0" h="1950494" w="2516766">
                <a:moveTo>
                  <a:pt x="0" y="0"/>
                </a:moveTo>
                <a:lnTo>
                  <a:pt x="2516767" y="0"/>
                </a:lnTo>
                <a:lnTo>
                  <a:pt x="2516767" y="1950494"/>
                </a:lnTo>
                <a:lnTo>
                  <a:pt x="0" y="1950494"/>
                </a:lnTo>
                <a:lnTo>
                  <a:pt x="0" y="0"/>
                </a:lnTo>
                <a:close/>
              </a:path>
            </a:pathLst>
          </a:custGeom>
          <a:blipFill rotWithShape="1">
            <a:blip r:embed="rId5">
              <a:alphaModFix/>
            </a:blip>
            <a:stretch>
              <a:fillRect b="0" l="0" r="0" t="0"/>
            </a:stretch>
          </a:blipFill>
          <a:ln>
            <a:noFill/>
          </a:ln>
        </p:spPr>
      </p:sp>
      <p:sp>
        <p:nvSpPr>
          <p:cNvPr id="295" name="Google Shape;295;p12"/>
          <p:cNvSpPr txBox="1"/>
          <p:nvPr/>
        </p:nvSpPr>
        <p:spPr>
          <a:xfrm>
            <a:off x="1904222" y="5020792"/>
            <a:ext cx="14701023" cy="29579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000000"/>
              </a:buClr>
              <a:buSzPts val="2794"/>
              <a:buFont typeface="Arial"/>
              <a:buNone/>
            </a:pPr>
            <a:r>
              <a:rPr b="0" i="0" lang="en-US" sz="2794" u="none" cap="none" strike="noStrike">
                <a:solidFill>
                  <a:srgbClr val="152540"/>
                </a:solidFill>
                <a:latin typeface="Arial"/>
                <a:ea typeface="Arial"/>
                <a:cs typeface="Arial"/>
                <a:sym typeface="Arial"/>
              </a:rPr>
              <a:t>Los lenguajes de cuarta generación se escribían en lenguajes de alto nivel, que son aún más fáciles de leer y escribir que los lenguajes de alto nivel. Los lenguajes de cuarta generación se utilizan a menudo para crear aplicaciones de negocios, y son fáciles de usar por personas sin experiencia en programación. Algunos de los lenguajes de cuarta generación más populares son SQL, ABAP y R.</a:t>
            </a:r>
            <a:endParaRPr b="0" i="0" sz="1400" u="none" cap="none" strike="noStrike">
              <a:solidFill>
                <a:srgbClr val="000000"/>
              </a:solidFill>
              <a:latin typeface="Arial"/>
              <a:ea typeface="Arial"/>
              <a:cs typeface="Arial"/>
              <a:sym typeface="Arial"/>
            </a:endParaRPr>
          </a:p>
        </p:txBody>
      </p:sp>
      <p:sp>
        <p:nvSpPr>
          <p:cNvPr id="296" name="Google Shape;296;p12"/>
          <p:cNvSpPr txBox="1"/>
          <p:nvPr/>
        </p:nvSpPr>
        <p:spPr>
          <a:xfrm>
            <a:off x="1904222" y="3787375"/>
            <a:ext cx="14701023" cy="720090"/>
          </a:xfrm>
          <a:prstGeom prst="rect">
            <a:avLst/>
          </a:prstGeom>
          <a:noFill/>
          <a:ln>
            <a:noFill/>
          </a:ln>
        </p:spPr>
        <p:txBody>
          <a:bodyPr anchorCtr="0" anchor="t" bIns="0" lIns="0" spcFirstLastPara="1" rIns="0" wrap="square" tIns="0">
            <a:spAutoFit/>
          </a:bodyPr>
          <a:lstStyle/>
          <a:p>
            <a:pPr indent="0" lvl="0" marL="0" marR="0" rtl="0" algn="l">
              <a:lnSpc>
                <a:spcPct val="139974"/>
              </a:lnSpc>
              <a:spcBef>
                <a:spcPts val="0"/>
              </a:spcBef>
              <a:spcAft>
                <a:spcPts val="0"/>
              </a:spcAft>
              <a:buClr>
                <a:srgbClr val="000000"/>
              </a:buClr>
              <a:buSzPts val="3900"/>
              <a:buFont typeface="Arial"/>
              <a:buNone/>
            </a:pPr>
            <a:r>
              <a:rPr b="0" i="0" lang="en-US" sz="3900" u="none" cap="none" strike="noStrike">
                <a:solidFill>
                  <a:srgbClr val="152540"/>
                </a:solidFill>
                <a:latin typeface="Arial"/>
                <a:ea typeface="Arial"/>
                <a:cs typeface="Arial"/>
                <a:sym typeface="Arial"/>
              </a:rPr>
              <a:t>CUARTA GENERACIÓN (1975 - 1985)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3"/>
          <p:cNvSpPr txBox="1"/>
          <p:nvPr/>
        </p:nvSpPr>
        <p:spPr>
          <a:xfrm>
            <a:off x="1904222" y="1577033"/>
            <a:ext cx="15355078" cy="164528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Clr>
                <a:srgbClr val="000000"/>
              </a:buClr>
              <a:buSzPts val="4599"/>
              <a:buFont typeface="Arial"/>
              <a:buNone/>
            </a:pPr>
            <a:r>
              <a:rPr b="0" i="0" lang="en-US" sz="4599" u="none" cap="none" strike="noStrike">
                <a:solidFill>
                  <a:srgbClr val="152540"/>
                </a:solidFill>
                <a:latin typeface="Arial"/>
                <a:ea typeface="Arial"/>
                <a:cs typeface="Arial"/>
                <a:sym typeface="Arial"/>
              </a:rPr>
              <a:t>GENERACIONES DE LENGUAJES DE PROGRAMACIÓN</a:t>
            </a:r>
            <a:endParaRPr b="0" i="0" sz="1400" u="none" cap="none" strike="noStrike">
              <a:solidFill>
                <a:srgbClr val="000000"/>
              </a:solidFill>
              <a:latin typeface="Arial"/>
              <a:ea typeface="Arial"/>
              <a:cs typeface="Arial"/>
              <a:sym typeface="Arial"/>
            </a:endParaRPr>
          </a:p>
        </p:txBody>
      </p:sp>
      <p:sp>
        <p:nvSpPr>
          <p:cNvPr id="302" name="Google Shape;302;p13"/>
          <p:cNvSpPr/>
          <p:nvPr/>
        </p:nvSpPr>
        <p:spPr>
          <a:xfrm>
            <a:off x="8412816" y="7802830"/>
            <a:ext cx="1462368" cy="1455470"/>
          </a:xfrm>
          <a:custGeom>
            <a:rect b="b" l="l" r="r" t="t"/>
            <a:pathLst>
              <a:path extrusionOk="0" h="1455470" w="1462368">
                <a:moveTo>
                  <a:pt x="0" y="0"/>
                </a:moveTo>
                <a:lnTo>
                  <a:pt x="1462368" y="0"/>
                </a:lnTo>
                <a:lnTo>
                  <a:pt x="1462368" y="1455470"/>
                </a:lnTo>
                <a:lnTo>
                  <a:pt x="0" y="1455470"/>
                </a:lnTo>
                <a:lnTo>
                  <a:pt x="0" y="0"/>
                </a:lnTo>
                <a:close/>
              </a:path>
            </a:pathLst>
          </a:custGeom>
          <a:blipFill rotWithShape="1">
            <a:blip r:embed="rId3">
              <a:alphaModFix/>
            </a:blip>
            <a:stretch>
              <a:fillRect b="-39742" l="-30083" r="-36647" t="-27778"/>
            </a:stretch>
          </a:blipFill>
          <a:ln>
            <a:noFill/>
          </a:ln>
        </p:spPr>
      </p:sp>
      <p:sp>
        <p:nvSpPr>
          <p:cNvPr id="303" name="Google Shape;303;p13"/>
          <p:cNvSpPr txBox="1"/>
          <p:nvPr/>
        </p:nvSpPr>
        <p:spPr>
          <a:xfrm>
            <a:off x="1904222" y="5030317"/>
            <a:ext cx="14701023" cy="2836685"/>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000000"/>
              </a:buClr>
              <a:buSzPts val="2694"/>
              <a:buFont typeface="Arial"/>
              <a:buNone/>
            </a:pPr>
            <a:r>
              <a:rPr b="0" i="0" lang="en-US" sz="2694" u="none" cap="none" strike="noStrike">
                <a:solidFill>
                  <a:srgbClr val="152540"/>
                </a:solidFill>
                <a:latin typeface="Arial"/>
                <a:ea typeface="Arial"/>
                <a:cs typeface="Arial"/>
                <a:sym typeface="Arial"/>
              </a:rPr>
              <a:t>Los lenguajes de quinta generación se escriben en lenguajes de alto nivel, que son muy parecidos al lenguaje humano. Los lenguajes de quinta generación se utilizan a menudo para crear sistemas expertos, que son programas informáticos que pueden tomar decisiones y resolver problemas como lo haría un humano. Algunos de los lenguajes de quinta generación más populares son Prolog, Mercury y OPS5.</a:t>
            </a:r>
            <a:endParaRPr b="0" i="0" sz="1400" u="none" cap="none" strike="noStrike">
              <a:solidFill>
                <a:srgbClr val="000000"/>
              </a:solidFill>
              <a:latin typeface="Arial"/>
              <a:ea typeface="Arial"/>
              <a:cs typeface="Arial"/>
              <a:sym typeface="Arial"/>
            </a:endParaRPr>
          </a:p>
        </p:txBody>
      </p:sp>
      <p:sp>
        <p:nvSpPr>
          <p:cNvPr id="304" name="Google Shape;304;p13"/>
          <p:cNvSpPr txBox="1"/>
          <p:nvPr/>
        </p:nvSpPr>
        <p:spPr>
          <a:xfrm>
            <a:off x="1904222" y="3806133"/>
            <a:ext cx="14833393"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500"/>
              <a:buFont typeface="Arial"/>
              <a:buNone/>
            </a:pPr>
            <a:r>
              <a:rPr b="0" i="0" lang="en-US" sz="3500" u="none" cap="none" strike="noStrike">
                <a:solidFill>
                  <a:srgbClr val="152540"/>
                </a:solidFill>
                <a:latin typeface="Arial"/>
                <a:ea typeface="Arial"/>
                <a:cs typeface="Arial"/>
                <a:sym typeface="Arial"/>
              </a:rPr>
              <a:t>QUINTA GENERACIÓN (1985 - PRESENTE)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4"/>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000"/>
              <a:buFont typeface="Arial"/>
              <a:buNone/>
            </a:pPr>
            <a:r>
              <a:rPr b="0" i="0" lang="en-US" sz="4000" u="none" cap="none" strike="noStrike">
                <a:solidFill>
                  <a:srgbClr val="152540"/>
                </a:solidFill>
                <a:latin typeface="Arial"/>
                <a:ea typeface="Arial"/>
                <a:cs typeface="Arial"/>
                <a:sym typeface="Arial"/>
              </a:rPr>
              <a:t>PARADIGMAS DE PROGRAMACIÓN</a:t>
            </a:r>
            <a:endParaRPr b="0" i="0" sz="1400" u="none" cap="none" strike="noStrike">
              <a:solidFill>
                <a:srgbClr val="000000"/>
              </a:solidFill>
              <a:latin typeface="Arial"/>
              <a:ea typeface="Arial"/>
              <a:cs typeface="Arial"/>
              <a:sym typeface="Arial"/>
            </a:endParaRPr>
          </a:p>
        </p:txBody>
      </p:sp>
      <p:sp>
        <p:nvSpPr>
          <p:cNvPr id="310" name="Google Shape;310;p14"/>
          <p:cNvSpPr txBox="1"/>
          <p:nvPr/>
        </p:nvSpPr>
        <p:spPr>
          <a:xfrm>
            <a:off x="1904222" y="2116306"/>
            <a:ext cx="14701023" cy="69203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000000"/>
              </a:buClr>
              <a:buSzPts val="2794"/>
              <a:buFont typeface="Arial"/>
              <a:buNone/>
            </a:pPr>
            <a:r>
              <a:rPr b="0" i="0" lang="en-US" sz="2794" u="none" cap="none" strike="noStrike">
                <a:solidFill>
                  <a:srgbClr val="152540"/>
                </a:solidFill>
                <a:latin typeface="Arial"/>
                <a:ea typeface="Arial"/>
                <a:cs typeface="Arial"/>
                <a:sym typeface="Arial"/>
              </a:rPr>
              <a:t>Un paradigma de programación es un conjunto de principios y prácticas que se utilizan para diseñar y escribir programas informáticos. Los paradigmas de programación se pueden utilizar en combinación para crear programas más complejos y poderosos.</a:t>
            </a:r>
            <a:endParaRPr b="0" i="0" sz="1400" u="none" cap="none" strike="noStrike">
              <a:solidFill>
                <a:srgbClr val="000000"/>
              </a:solidFill>
              <a:latin typeface="Arial"/>
              <a:ea typeface="Arial"/>
              <a:cs typeface="Arial"/>
              <a:sym typeface="Arial"/>
            </a:endParaRPr>
          </a:p>
          <a:p>
            <a:pPr indent="-301666" lvl="1" marL="603333" marR="0" rtl="0" algn="just">
              <a:lnSpc>
                <a:spcPct val="140014"/>
              </a:lnSpc>
              <a:spcBef>
                <a:spcPts val="0"/>
              </a:spcBef>
              <a:spcAft>
                <a:spcPts val="0"/>
              </a:spcAft>
              <a:buClr>
                <a:srgbClr val="152540"/>
              </a:buClr>
              <a:buSzPts val="2794"/>
              <a:buFont typeface="Arial"/>
              <a:buChar char="•"/>
            </a:pPr>
            <a:r>
              <a:rPr b="1" i="0" lang="en-US" sz="2794" u="none" cap="none" strike="noStrike">
                <a:solidFill>
                  <a:srgbClr val="152540"/>
                </a:solidFill>
                <a:latin typeface="Arial"/>
                <a:ea typeface="Arial"/>
                <a:cs typeface="Arial"/>
                <a:sym typeface="Arial"/>
              </a:rPr>
              <a:t>Programación imperativa</a:t>
            </a:r>
            <a:r>
              <a:rPr b="0" i="0" lang="en-US" sz="2794" u="none" cap="none" strike="noStrike">
                <a:solidFill>
                  <a:srgbClr val="152540"/>
                </a:solidFill>
                <a:latin typeface="Arial"/>
                <a:ea typeface="Arial"/>
                <a:cs typeface="Arial"/>
                <a:sym typeface="Arial"/>
              </a:rPr>
              <a:t>: este paradigma se basa en la idea de dar instrucciones a la computadora paso a paso.</a:t>
            </a:r>
            <a:endParaRPr b="0" i="0" sz="1400" u="none" cap="none" strike="noStrike">
              <a:solidFill>
                <a:srgbClr val="000000"/>
              </a:solidFill>
              <a:latin typeface="Arial"/>
              <a:ea typeface="Arial"/>
              <a:cs typeface="Arial"/>
              <a:sym typeface="Arial"/>
            </a:endParaRPr>
          </a:p>
          <a:p>
            <a:pPr indent="-301666" lvl="1" marL="603333" marR="0" rtl="0" algn="just">
              <a:lnSpc>
                <a:spcPct val="140014"/>
              </a:lnSpc>
              <a:spcBef>
                <a:spcPts val="0"/>
              </a:spcBef>
              <a:spcAft>
                <a:spcPts val="0"/>
              </a:spcAft>
              <a:buClr>
                <a:srgbClr val="152540"/>
              </a:buClr>
              <a:buSzPts val="2794"/>
              <a:buFont typeface="Arial"/>
              <a:buChar char="•"/>
            </a:pPr>
            <a:r>
              <a:rPr b="1" i="0" lang="en-US" sz="2794" u="none" cap="none" strike="noStrike">
                <a:solidFill>
                  <a:srgbClr val="152540"/>
                </a:solidFill>
                <a:latin typeface="Arial"/>
                <a:ea typeface="Arial"/>
                <a:cs typeface="Arial"/>
                <a:sym typeface="Arial"/>
              </a:rPr>
              <a:t>Programación orientada a objetos</a:t>
            </a:r>
            <a:r>
              <a:rPr b="0" i="0" lang="en-US" sz="2794" u="none" cap="none" strike="noStrike">
                <a:solidFill>
                  <a:srgbClr val="152540"/>
                </a:solidFill>
                <a:latin typeface="Arial"/>
                <a:ea typeface="Arial"/>
                <a:cs typeface="Arial"/>
                <a:sym typeface="Arial"/>
              </a:rPr>
              <a:t>: este paradigma se basa en la idea de crear objetos que representan conceptos del mundo real.</a:t>
            </a:r>
            <a:endParaRPr b="0" i="0" sz="1400" u="none" cap="none" strike="noStrike">
              <a:solidFill>
                <a:srgbClr val="000000"/>
              </a:solidFill>
              <a:latin typeface="Arial"/>
              <a:ea typeface="Arial"/>
              <a:cs typeface="Arial"/>
              <a:sym typeface="Arial"/>
            </a:endParaRPr>
          </a:p>
          <a:p>
            <a:pPr indent="-301666" lvl="1" marL="603333" marR="0" rtl="0" algn="just">
              <a:lnSpc>
                <a:spcPct val="140014"/>
              </a:lnSpc>
              <a:spcBef>
                <a:spcPts val="0"/>
              </a:spcBef>
              <a:spcAft>
                <a:spcPts val="0"/>
              </a:spcAft>
              <a:buClr>
                <a:srgbClr val="152540"/>
              </a:buClr>
              <a:buSzPts val="2794"/>
              <a:buFont typeface="Arial"/>
              <a:buChar char="•"/>
            </a:pPr>
            <a:r>
              <a:rPr b="1" i="0" lang="en-US" sz="2794" u="none" cap="none" strike="noStrike">
                <a:solidFill>
                  <a:srgbClr val="152540"/>
                </a:solidFill>
                <a:latin typeface="Arial"/>
                <a:ea typeface="Arial"/>
                <a:cs typeface="Arial"/>
                <a:sym typeface="Arial"/>
              </a:rPr>
              <a:t>Programación funcional</a:t>
            </a:r>
            <a:r>
              <a:rPr b="0" i="0" lang="en-US" sz="2794" u="none" cap="none" strike="noStrike">
                <a:solidFill>
                  <a:srgbClr val="152540"/>
                </a:solidFill>
                <a:latin typeface="Arial"/>
                <a:ea typeface="Arial"/>
                <a:cs typeface="Arial"/>
                <a:sym typeface="Arial"/>
              </a:rPr>
              <a:t>: este paradigma se basa en la idea de usar funciones para representar el comportamiento de un programa.</a:t>
            </a:r>
            <a:endParaRPr b="0" i="0" sz="1400" u="none" cap="none" strike="noStrike">
              <a:solidFill>
                <a:srgbClr val="000000"/>
              </a:solidFill>
              <a:latin typeface="Arial"/>
              <a:ea typeface="Arial"/>
              <a:cs typeface="Arial"/>
              <a:sym typeface="Arial"/>
            </a:endParaRPr>
          </a:p>
          <a:p>
            <a:pPr indent="-301666" lvl="1" marL="603333" marR="0" rtl="0" algn="just">
              <a:lnSpc>
                <a:spcPct val="140014"/>
              </a:lnSpc>
              <a:spcBef>
                <a:spcPts val="0"/>
              </a:spcBef>
              <a:spcAft>
                <a:spcPts val="0"/>
              </a:spcAft>
              <a:buClr>
                <a:srgbClr val="152540"/>
              </a:buClr>
              <a:buSzPts val="2794"/>
              <a:buFont typeface="Arial"/>
              <a:buChar char="•"/>
            </a:pPr>
            <a:r>
              <a:rPr b="1" i="0" lang="en-US" sz="2794" u="none" cap="none" strike="noStrike">
                <a:solidFill>
                  <a:srgbClr val="152540"/>
                </a:solidFill>
                <a:latin typeface="Arial"/>
                <a:ea typeface="Arial"/>
                <a:cs typeface="Arial"/>
                <a:sym typeface="Arial"/>
              </a:rPr>
              <a:t>Programación lógica</a:t>
            </a:r>
            <a:r>
              <a:rPr b="0" i="0" lang="en-US" sz="2794" u="none" cap="none" strike="noStrike">
                <a:solidFill>
                  <a:srgbClr val="152540"/>
                </a:solidFill>
                <a:latin typeface="Arial"/>
                <a:ea typeface="Arial"/>
                <a:cs typeface="Arial"/>
                <a:sym typeface="Arial"/>
              </a:rPr>
              <a:t>: este paradigma se basa en la idea de usar lógica para representar el conocimiento.</a:t>
            </a:r>
            <a:endParaRPr b="0" i="0" sz="1400" u="none" cap="none" strike="noStrike">
              <a:solidFill>
                <a:srgbClr val="000000"/>
              </a:solidFill>
              <a:latin typeface="Arial"/>
              <a:ea typeface="Arial"/>
              <a:cs typeface="Arial"/>
              <a:sym typeface="Arial"/>
            </a:endParaRPr>
          </a:p>
          <a:p>
            <a:pPr indent="-301666" lvl="1" marL="603333" marR="0" rtl="0" algn="just">
              <a:lnSpc>
                <a:spcPct val="140014"/>
              </a:lnSpc>
              <a:spcBef>
                <a:spcPts val="0"/>
              </a:spcBef>
              <a:spcAft>
                <a:spcPts val="0"/>
              </a:spcAft>
              <a:buClr>
                <a:srgbClr val="152540"/>
              </a:buClr>
              <a:buSzPts val="2794"/>
              <a:buFont typeface="Arial"/>
              <a:buChar char="•"/>
            </a:pPr>
            <a:r>
              <a:rPr b="1" i="0" lang="en-US" sz="2794" u="none" cap="none" strike="noStrike">
                <a:solidFill>
                  <a:srgbClr val="152540"/>
                </a:solidFill>
                <a:latin typeface="Arial"/>
                <a:ea typeface="Arial"/>
                <a:cs typeface="Arial"/>
                <a:sym typeface="Arial"/>
              </a:rPr>
              <a:t>Programación declarativa</a:t>
            </a:r>
            <a:r>
              <a:rPr b="0" i="0" lang="en-US" sz="2794" u="none" cap="none" strike="noStrike">
                <a:solidFill>
                  <a:srgbClr val="152540"/>
                </a:solidFill>
                <a:latin typeface="Arial"/>
                <a:ea typeface="Arial"/>
                <a:cs typeface="Arial"/>
                <a:sym typeface="Arial"/>
              </a:rPr>
              <a:t>: este paradigma se centra en describir qué debe hacerse, en lugar de cómo hacerlo.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362d1a54d81_0_0"/>
          <p:cNvSpPr txBox="1"/>
          <p:nvPr/>
        </p:nvSpPr>
        <p:spPr>
          <a:xfrm>
            <a:off x="1904222" y="895350"/>
            <a:ext cx="147009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000"/>
              <a:buFont typeface="Arial"/>
              <a:buNone/>
            </a:pPr>
            <a:r>
              <a:rPr b="0" i="0" lang="en-US" sz="4000" u="none" cap="none" strike="noStrike">
                <a:solidFill>
                  <a:srgbClr val="152540"/>
                </a:solidFill>
                <a:latin typeface="Arial"/>
                <a:ea typeface="Arial"/>
                <a:cs typeface="Arial"/>
                <a:sym typeface="Arial"/>
              </a:rPr>
              <a:t>PARADIGMAS EJEMPLOS</a:t>
            </a:r>
            <a:endParaRPr b="0" i="0" sz="1400" u="none" cap="none" strike="noStrike">
              <a:solidFill>
                <a:srgbClr val="000000"/>
              </a:solidFill>
              <a:latin typeface="Arial"/>
              <a:ea typeface="Arial"/>
              <a:cs typeface="Arial"/>
              <a:sym typeface="Arial"/>
            </a:endParaRPr>
          </a:p>
        </p:txBody>
      </p:sp>
      <p:pic>
        <p:nvPicPr>
          <p:cNvPr id="316" name="Google Shape;316;g362d1a54d81_0_0"/>
          <p:cNvPicPr preferRelativeResize="0"/>
          <p:nvPr/>
        </p:nvPicPr>
        <p:blipFill rotWithShape="1">
          <a:blip r:embed="rId3">
            <a:alphaModFix/>
          </a:blip>
          <a:srcRect b="0" l="0" r="0" t="0"/>
          <a:stretch/>
        </p:blipFill>
        <p:spPr>
          <a:xfrm>
            <a:off x="514150" y="2701500"/>
            <a:ext cx="5185000" cy="5493500"/>
          </a:xfrm>
          <a:prstGeom prst="rect">
            <a:avLst/>
          </a:prstGeom>
          <a:noFill/>
          <a:ln>
            <a:noFill/>
          </a:ln>
        </p:spPr>
      </p:pic>
      <p:pic>
        <p:nvPicPr>
          <p:cNvPr id="317" name="Google Shape;317;g362d1a54d81_0_0"/>
          <p:cNvPicPr preferRelativeResize="0"/>
          <p:nvPr/>
        </p:nvPicPr>
        <p:blipFill rotWithShape="1">
          <a:blip r:embed="rId4">
            <a:alphaModFix/>
          </a:blip>
          <a:srcRect b="0" l="0" r="0" t="0"/>
          <a:stretch/>
        </p:blipFill>
        <p:spPr>
          <a:xfrm>
            <a:off x="6161000" y="2701500"/>
            <a:ext cx="5629276" cy="5340183"/>
          </a:xfrm>
          <a:prstGeom prst="rect">
            <a:avLst/>
          </a:prstGeom>
          <a:noFill/>
          <a:ln>
            <a:noFill/>
          </a:ln>
        </p:spPr>
      </p:pic>
      <p:pic>
        <p:nvPicPr>
          <p:cNvPr id="318" name="Google Shape;318;g362d1a54d81_0_0"/>
          <p:cNvPicPr preferRelativeResize="0"/>
          <p:nvPr/>
        </p:nvPicPr>
        <p:blipFill rotWithShape="1">
          <a:blip r:embed="rId5">
            <a:alphaModFix/>
          </a:blip>
          <a:srcRect b="0" l="0" r="0" t="0"/>
          <a:stretch/>
        </p:blipFill>
        <p:spPr>
          <a:xfrm>
            <a:off x="12122425" y="2701500"/>
            <a:ext cx="5856225" cy="53401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5"/>
          <p:cNvSpPr txBox="1"/>
          <p:nvPr/>
        </p:nvSpPr>
        <p:spPr>
          <a:xfrm>
            <a:off x="1904222" y="2853826"/>
            <a:ext cx="14701023" cy="6682740"/>
          </a:xfrm>
          <a:prstGeom prst="rect">
            <a:avLst/>
          </a:prstGeom>
          <a:noFill/>
          <a:ln>
            <a:noFill/>
          </a:ln>
        </p:spPr>
        <p:txBody>
          <a:bodyPr anchorCtr="0" anchor="t" bIns="0" lIns="0" spcFirstLastPara="1" rIns="0" wrap="square" tIns="0">
            <a:spAutoFit/>
          </a:bodyPr>
          <a:lstStyle/>
          <a:p>
            <a:pPr indent="0" lvl="0" marL="0" marR="0" rtl="0" algn="just">
              <a:lnSpc>
                <a:spcPct val="139958"/>
              </a:lnSpc>
              <a:spcBef>
                <a:spcPts val="0"/>
              </a:spcBef>
              <a:spcAft>
                <a:spcPts val="0"/>
              </a:spcAft>
              <a:buClr>
                <a:srgbClr val="000000"/>
              </a:buClr>
              <a:buSzPts val="2400"/>
              <a:buFont typeface="Arial"/>
              <a:buNone/>
            </a:pPr>
            <a:r>
              <a:rPr b="0" i="0" lang="en-US" sz="2400" u="none" cap="none" strike="noStrike">
                <a:solidFill>
                  <a:srgbClr val="152540"/>
                </a:solidFill>
                <a:latin typeface="Arial"/>
                <a:ea typeface="Arial"/>
                <a:cs typeface="Arial"/>
                <a:sym typeface="Arial"/>
              </a:rPr>
              <a:t>La programación imperativa es un paradigma que se centra en cómo se modifican los estados de un programa a lo largo del tiempo, dando instrucciones a la computadora paso a paso. Se utiliza declaraciones de asignación para asignar valores a variables y declaraciones de control de flujo para determinar el orden de ejecución de las instrucciones.</a:t>
            </a:r>
            <a:endParaRPr b="0" i="0" sz="1400" u="none" cap="none" strike="noStrike">
              <a:solidFill>
                <a:srgbClr val="000000"/>
              </a:solidFill>
              <a:latin typeface="Arial"/>
              <a:ea typeface="Arial"/>
              <a:cs typeface="Arial"/>
              <a:sym typeface="Arial"/>
            </a:endParaRPr>
          </a:p>
          <a:p>
            <a:pPr indent="-259079" lvl="1" marL="518160" marR="0" rtl="0" algn="just">
              <a:lnSpc>
                <a:spcPct val="139958"/>
              </a:lnSpc>
              <a:spcBef>
                <a:spcPts val="0"/>
              </a:spcBef>
              <a:spcAft>
                <a:spcPts val="0"/>
              </a:spcAft>
              <a:buClr>
                <a:srgbClr val="152540"/>
              </a:buClr>
              <a:buSzPts val="2400"/>
              <a:buFont typeface="Arial"/>
              <a:buChar char="•"/>
            </a:pPr>
            <a:r>
              <a:rPr b="1" i="0" lang="en-US" sz="2400" u="none" cap="none" strike="noStrike">
                <a:solidFill>
                  <a:srgbClr val="152540"/>
                </a:solidFill>
                <a:latin typeface="Arial"/>
                <a:ea typeface="Arial"/>
                <a:cs typeface="Arial"/>
                <a:sym typeface="Arial"/>
              </a:rPr>
              <a:t>Ventajas</a:t>
            </a:r>
            <a:endParaRPr b="0" i="0" sz="1400" u="none" cap="none" strike="noStrike">
              <a:solidFill>
                <a:srgbClr val="000000"/>
              </a:solidFill>
              <a:latin typeface="Arial"/>
              <a:ea typeface="Arial"/>
              <a:cs typeface="Arial"/>
              <a:sym typeface="Arial"/>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Es fácil de entender y de aprender.</a:t>
            </a:r>
            <a:endParaRPr b="0" i="0" sz="1400" u="none" cap="none" strike="noStrike">
              <a:solidFill>
                <a:srgbClr val="000000"/>
              </a:solidFill>
              <a:latin typeface="Arial"/>
              <a:ea typeface="Arial"/>
              <a:cs typeface="Arial"/>
              <a:sym typeface="Arial"/>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Es versátil y puede ser utilizado para escribir una amplia gama de programas.</a:t>
            </a:r>
            <a:endParaRPr b="0" i="0" sz="1400" u="none" cap="none" strike="noStrike">
              <a:solidFill>
                <a:srgbClr val="000000"/>
              </a:solidFill>
              <a:latin typeface="Arial"/>
              <a:ea typeface="Arial"/>
              <a:cs typeface="Arial"/>
              <a:sym typeface="Arial"/>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Es rápido y eficiente.</a:t>
            </a:r>
            <a:endParaRPr b="0" i="0" sz="1400" u="none" cap="none" strike="noStrike">
              <a:solidFill>
                <a:srgbClr val="000000"/>
              </a:solidFill>
              <a:latin typeface="Arial"/>
              <a:ea typeface="Arial"/>
              <a:cs typeface="Arial"/>
              <a:sym typeface="Arial"/>
            </a:endParaRPr>
          </a:p>
          <a:p>
            <a:pPr indent="-259079" lvl="1" marL="518160" marR="0" rtl="0" algn="just">
              <a:lnSpc>
                <a:spcPct val="139958"/>
              </a:lnSpc>
              <a:spcBef>
                <a:spcPts val="0"/>
              </a:spcBef>
              <a:spcAft>
                <a:spcPts val="0"/>
              </a:spcAft>
              <a:buClr>
                <a:srgbClr val="152540"/>
              </a:buClr>
              <a:buSzPts val="2400"/>
              <a:buFont typeface="Arial"/>
              <a:buChar char="•"/>
            </a:pPr>
            <a:r>
              <a:rPr b="1" i="0" lang="en-US" sz="2400" u="none" cap="none" strike="noStrike">
                <a:solidFill>
                  <a:srgbClr val="152540"/>
                </a:solidFill>
                <a:latin typeface="Arial"/>
                <a:ea typeface="Arial"/>
                <a:cs typeface="Arial"/>
                <a:sym typeface="Arial"/>
              </a:rPr>
              <a:t>Desventajas</a:t>
            </a:r>
            <a:endParaRPr b="0" i="0" sz="1400" u="none" cap="none" strike="noStrike">
              <a:solidFill>
                <a:srgbClr val="000000"/>
              </a:solidFill>
              <a:latin typeface="Arial"/>
              <a:ea typeface="Arial"/>
              <a:cs typeface="Arial"/>
              <a:sym typeface="Arial"/>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Puede ser difícil de mantener, especialmente para programas grandes y complejos.</a:t>
            </a:r>
            <a:endParaRPr b="0" i="0" sz="1400" u="none" cap="none" strike="noStrike">
              <a:solidFill>
                <a:srgbClr val="000000"/>
              </a:solidFill>
              <a:latin typeface="Arial"/>
              <a:ea typeface="Arial"/>
              <a:cs typeface="Arial"/>
              <a:sym typeface="Arial"/>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Puede ser difícil de depurar, especialmente para programas que contienen muchos ciclos.</a:t>
            </a:r>
            <a:endParaRPr b="0" i="0" sz="1400" u="none" cap="none" strike="noStrike">
              <a:solidFill>
                <a:srgbClr val="000000"/>
              </a:solidFill>
              <a:latin typeface="Arial"/>
              <a:ea typeface="Arial"/>
              <a:cs typeface="Arial"/>
              <a:sym typeface="Arial"/>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Puede no ser adecuado para escribir programas que requieren un alto nivel de concurrencia.</a:t>
            </a:r>
            <a:endParaRPr b="0" i="0" sz="1400" u="none" cap="none" strike="noStrike">
              <a:solidFill>
                <a:srgbClr val="000000"/>
              </a:solidFill>
              <a:latin typeface="Arial"/>
              <a:ea typeface="Arial"/>
              <a:cs typeface="Arial"/>
              <a:sym typeface="Arial"/>
            </a:endParaRPr>
          </a:p>
        </p:txBody>
      </p:sp>
      <p:sp>
        <p:nvSpPr>
          <p:cNvPr id="324" name="Google Shape;324;p15"/>
          <p:cNvSpPr txBox="1"/>
          <p:nvPr/>
        </p:nvSpPr>
        <p:spPr>
          <a:xfrm>
            <a:off x="1904222" y="1782237"/>
            <a:ext cx="14701023"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500"/>
              <a:buFont typeface="Arial"/>
              <a:buNone/>
            </a:pPr>
            <a:r>
              <a:rPr b="0" i="0" lang="en-US" sz="3500" u="none" cap="none" strike="noStrike">
                <a:solidFill>
                  <a:srgbClr val="152540"/>
                </a:solidFill>
                <a:latin typeface="Arial"/>
                <a:ea typeface="Arial"/>
                <a:cs typeface="Arial"/>
                <a:sym typeface="Arial"/>
              </a:rPr>
              <a:t>IMPERATIVO O DE PROCEDIMIENTOS</a:t>
            </a:r>
            <a:endParaRPr b="0" i="0" sz="1400" u="none" cap="none" strike="noStrike">
              <a:solidFill>
                <a:srgbClr val="000000"/>
              </a:solidFill>
              <a:latin typeface="Arial"/>
              <a:ea typeface="Arial"/>
              <a:cs typeface="Arial"/>
              <a:sym typeface="Arial"/>
            </a:endParaRPr>
          </a:p>
        </p:txBody>
      </p:sp>
      <p:sp>
        <p:nvSpPr>
          <p:cNvPr id="325" name="Google Shape;325;p15"/>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000"/>
              <a:buFont typeface="Arial"/>
              <a:buNone/>
            </a:pPr>
            <a:r>
              <a:rPr b="0" i="0" lang="en-US" sz="4000" u="none" cap="none" strike="noStrike">
                <a:solidFill>
                  <a:srgbClr val="152540"/>
                </a:solidFill>
                <a:latin typeface="Arial"/>
                <a:ea typeface="Arial"/>
                <a:cs typeface="Arial"/>
                <a:sym typeface="Arial"/>
              </a:rPr>
              <a:t>PARADIGMAS DE PROGRAMACIÓN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6"/>
          <p:cNvSpPr txBox="1"/>
          <p:nvPr/>
        </p:nvSpPr>
        <p:spPr>
          <a:xfrm>
            <a:off x="1904222" y="2786506"/>
            <a:ext cx="14701023" cy="6565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500"/>
              <a:buFont typeface="Arial"/>
              <a:buNone/>
            </a:pPr>
            <a:r>
              <a:rPr b="0" i="0" lang="en-US" sz="2500" u="none" cap="none" strike="noStrike">
                <a:solidFill>
                  <a:srgbClr val="152540"/>
                </a:solidFill>
                <a:latin typeface="Arial"/>
                <a:ea typeface="Arial"/>
                <a:cs typeface="Arial"/>
                <a:sym typeface="Arial"/>
              </a:rPr>
              <a:t>La programación orientada a objetos (OOP) es un paradigma de programación que organiza el código en unidades llamadas objetos. Cada objeto tiene su propio estado y comportamiento. El estado de un objeto se almacena en sus atributos y el comportamiento se define en sus métodos. Los objetos se comunican entre sí enviando mensajes. Un mensaje es una solicitud que un objeto hace a otro objeto para realizar una acción. Los objetos pueden enviar mensajes a sí mismos o a otros objetos.</a:t>
            </a:r>
            <a:endParaRPr b="0" i="0" sz="1400" u="none" cap="none" strike="noStrike">
              <a:solidFill>
                <a:srgbClr val="000000"/>
              </a:solidFill>
              <a:latin typeface="Arial"/>
              <a:ea typeface="Arial"/>
              <a:cs typeface="Arial"/>
              <a:sym typeface="Arial"/>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Ventajas</a:t>
            </a:r>
            <a:endParaRPr b="0" i="0" sz="1400" u="none" cap="none" strike="noStrike">
              <a:solidFill>
                <a:srgbClr val="000000"/>
              </a:solidFill>
              <a:latin typeface="Arial"/>
              <a:ea typeface="Arial"/>
              <a:cs typeface="Arial"/>
              <a:sym typeface="Arial"/>
            </a:endParaRPr>
          </a:p>
          <a:p>
            <a:pPr indent="-359834" lvl="2" marL="1079502"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Flexibilidad</a:t>
            </a:r>
            <a:r>
              <a:rPr b="0" i="0" lang="en-US" sz="2500" u="none" cap="none" strike="noStrike">
                <a:solidFill>
                  <a:srgbClr val="152540"/>
                </a:solidFill>
                <a:latin typeface="Arial"/>
                <a:ea typeface="Arial"/>
                <a:cs typeface="Arial"/>
                <a:sym typeface="Arial"/>
              </a:rPr>
              <a:t>: La programación orientada a objetos es muy flexible y puede ser utilizada para escribir una amplia gama de programas.</a:t>
            </a:r>
            <a:endParaRPr b="0" i="0" sz="1400" u="none" cap="none" strike="noStrike">
              <a:solidFill>
                <a:srgbClr val="000000"/>
              </a:solidFill>
              <a:latin typeface="Arial"/>
              <a:ea typeface="Arial"/>
              <a:cs typeface="Arial"/>
              <a:sym typeface="Arial"/>
            </a:endParaRPr>
          </a:p>
          <a:p>
            <a:pPr indent="-359834" lvl="2" marL="1079502"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Mantenimiento</a:t>
            </a:r>
            <a:r>
              <a:rPr b="0" i="0" lang="en-US" sz="2500" u="none" cap="none" strike="noStrike">
                <a:solidFill>
                  <a:srgbClr val="152540"/>
                </a:solidFill>
                <a:latin typeface="Arial"/>
                <a:ea typeface="Arial"/>
                <a:cs typeface="Arial"/>
                <a:sym typeface="Arial"/>
              </a:rPr>
              <a:t>: La programación orientada a objetos es muy fácil de mantener, especialmente para programas grandes y complejos.</a:t>
            </a:r>
            <a:endParaRPr b="0" i="0" sz="1400" u="none" cap="none" strike="noStrike">
              <a:solidFill>
                <a:srgbClr val="000000"/>
              </a:solidFill>
              <a:latin typeface="Arial"/>
              <a:ea typeface="Arial"/>
              <a:cs typeface="Arial"/>
              <a:sym typeface="Arial"/>
            </a:endParaRPr>
          </a:p>
          <a:p>
            <a:pPr indent="-359834" lvl="2" marL="1079502"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Extensibilidad</a:t>
            </a:r>
            <a:r>
              <a:rPr b="0" i="0" lang="en-US" sz="2500" u="none" cap="none" strike="noStrike">
                <a:solidFill>
                  <a:srgbClr val="152540"/>
                </a:solidFill>
                <a:latin typeface="Arial"/>
                <a:ea typeface="Arial"/>
                <a:cs typeface="Arial"/>
                <a:sym typeface="Arial"/>
              </a:rPr>
              <a:t>: La programación orientada a objetos es muy extensible y puede ser fácilmente ampliada para agregar nuevas funcionalidades.</a:t>
            </a:r>
            <a:endParaRPr b="0" i="0" sz="1400" u="none" cap="none" strike="noStrike">
              <a:solidFill>
                <a:srgbClr val="000000"/>
              </a:solidFill>
              <a:latin typeface="Arial"/>
              <a:ea typeface="Arial"/>
              <a:cs typeface="Arial"/>
              <a:sym typeface="Arial"/>
            </a:endParaRPr>
          </a:p>
          <a:p>
            <a:pPr indent="-359834" lvl="2" marL="1079502"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Seguridad</a:t>
            </a:r>
            <a:r>
              <a:rPr b="0" i="0" lang="en-US" sz="2500" u="none" cap="none" strike="noStrike">
                <a:solidFill>
                  <a:srgbClr val="152540"/>
                </a:solidFill>
                <a:latin typeface="Arial"/>
                <a:ea typeface="Arial"/>
                <a:cs typeface="Arial"/>
                <a:sym typeface="Arial"/>
              </a:rPr>
              <a:t>: La programación orientada a objetos es muy segura y puede ayudar a prevenir errores. </a:t>
            </a:r>
            <a:endParaRPr b="0" i="0" sz="1400" u="none" cap="none" strike="noStrike">
              <a:solidFill>
                <a:srgbClr val="000000"/>
              </a:solidFill>
              <a:latin typeface="Arial"/>
              <a:ea typeface="Arial"/>
              <a:cs typeface="Arial"/>
              <a:sym typeface="Arial"/>
            </a:endParaRPr>
          </a:p>
        </p:txBody>
      </p:sp>
      <p:sp>
        <p:nvSpPr>
          <p:cNvPr id="331" name="Google Shape;331;p16"/>
          <p:cNvSpPr txBox="1"/>
          <p:nvPr/>
        </p:nvSpPr>
        <p:spPr>
          <a:xfrm>
            <a:off x="1904222" y="1782237"/>
            <a:ext cx="9175638"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500"/>
              <a:buFont typeface="Arial"/>
              <a:buNone/>
            </a:pPr>
            <a:r>
              <a:rPr b="0" i="0" lang="en-US" sz="3500" u="none" cap="none" strike="noStrike">
                <a:solidFill>
                  <a:srgbClr val="152540"/>
                </a:solidFill>
                <a:latin typeface="Arial"/>
                <a:ea typeface="Arial"/>
                <a:cs typeface="Arial"/>
                <a:sym typeface="Arial"/>
              </a:rPr>
              <a:t>ORIENTADO A OBJETOS</a:t>
            </a:r>
            <a:endParaRPr b="0" i="0" sz="1400" u="none" cap="none" strike="noStrike">
              <a:solidFill>
                <a:srgbClr val="000000"/>
              </a:solidFill>
              <a:latin typeface="Arial"/>
              <a:ea typeface="Arial"/>
              <a:cs typeface="Arial"/>
              <a:sym typeface="Arial"/>
            </a:endParaRPr>
          </a:p>
        </p:txBody>
      </p:sp>
      <p:sp>
        <p:nvSpPr>
          <p:cNvPr id="332" name="Google Shape;332;p16"/>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000"/>
              <a:buFont typeface="Arial"/>
              <a:buNone/>
            </a:pPr>
            <a:r>
              <a:rPr b="0" i="0" lang="en-US" sz="4000" u="none" cap="none" strike="noStrike">
                <a:solidFill>
                  <a:srgbClr val="152540"/>
                </a:solidFill>
                <a:latin typeface="Arial"/>
                <a:ea typeface="Arial"/>
                <a:cs typeface="Arial"/>
                <a:sym typeface="Arial"/>
              </a:rPr>
              <a:t>PARADIGMAS DE PROGRAMACIÓN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7"/>
          <p:cNvSpPr txBox="1"/>
          <p:nvPr/>
        </p:nvSpPr>
        <p:spPr>
          <a:xfrm>
            <a:off x="1904222" y="2786506"/>
            <a:ext cx="14701023" cy="6127750"/>
          </a:xfrm>
          <a:prstGeom prst="rect">
            <a:avLst/>
          </a:prstGeom>
          <a:noFill/>
          <a:ln>
            <a:noFill/>
          </a:ln>
        </p:spPr>
        <p:txBody>
          <a:bodyPr anchorCtr="0" anchor="t" bIns="0" lIns="0" spcFirstLastPara="1" rIns="0" wrap="square" tIns="0">
            <a:spAutoFit/>
          </a:bodyPr>
          <a:lstStyle/>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Abstracción</a:t>
            </a:r>
            <a:r>
              <a:rPr b="0" i="0" lang="en-US" sz="2500" u="none" cap="none" strike="noStrike">
                <a:solidFill>
                  <a:srgbClr val="152540"/>
                </a:solidFill>
                <a:latin typeface="Arial"/>
                <a:ea typeface="Arial"/>
                <a:cs typeface="Arial"/>
                <a:sym typeface="Arial"/>
              </a:rPr>
              <a:t>: Es el proceso de ocultar los detalles de implementación de un objeto y exponer solo los detalles que son esenciales para su uso. Esto permite que los usuarios de un objeto se concentren en su funcionalidad y no en cómo funciona internamente.</a:t>
            </a:r>
            <a:endParaRPr b="0" i="0" sz="1400" u="none" cap="none" strike="noStrike">
              <a:solidFill>
                <a:srgbClr val="000000"/>
              </a:solidFill>
              <a:latin typeface="Arial"/>
              <a:ea typeface="Arial"/>
              <a:cs typeface="Arial"/>
              <a:sym typeface="Arial"/>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Encapsulamiento</a:t>
            </a:r>
            <a:r>
              <a:rPr b="0" i="0" lang="en-US" sz="2500" u="none" cap="none" strike="noStrike">
                <a:solidFill>
                  <a:srgbClr val="152540"/>
                </a:solidFill>
                <a:latin typeface="Arial"/>
                <a:ea typeface="Arial"/>
                <a:cs typeface="Arial"/>
                <a:sym typeface="Arial"/>
              </a:rPr>
              <a:t>: Es el proceso de agrupar juntos los datos y el código que se utilizan para manipular esos datos. Esto permite proteger los datos de acceso no autorizado y hace que el código sea más fácil de entender y mantener.</a:t>
            </a:r>
            <a:endParaRPr b="0" i="0" sz="1400" u="none" cap="none" strike="noStrike">
              <a:solidFill>
                <a:srgbClr val="000000"/>
              </a:solidFill>
              <a:latin typeface="Arial"/>
              <a:ea typeface="Arial"/>
              <a:cs typeface="Arial"/>
              <a:sym typeface="Arial"/>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Herencia</a:t>
            </a:r>
            <a:r>
              <a:rPr b="0" i="0" lang="en-US" sz="2500" u="none" cap="none" strike="noStrike">
                <a:solidFill>
                  <a:srgbClr val="152540"/>
                </a:solidFill>
                <a:latin typeface="Arial"/>
                <a:ea typeface="Arial"/>
                <a:cs typeface="Arial"/>
                <a:sym typeface="Arial"/>
              </a:rPr>
              <a:t>: Es el proceso de crear una nueva clase a partir de una clase existente. La nueva clase hereda todas las propiedades y métodos de la clase existente, y puede agregar sus propias propiedades y métodos. Esto permite reutilizar el código y crear clases más complejas más rápidamente.</a:t>
            </a:r>
            <a:endParaRPr b="0" i="0" sz="1400" u="none" cap="none" strike="noStrike">
              <a:solidFill>
                <a:srgbClr val="000000"/>
              </a:solidFill>
              <a:latin typeface="Arial"/>
              <a:ea typeface="Arial"/>
              <a:cs typeface="Arial"/>
              <a:sym typeface="Arial"/>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Polimorfismo</a:t>
            </a:r>
            <a:r>
              <a:rPr b="0" i="0" lang="en-US" sz="2500" u="none" cap="none" strike="noStrike">
                <a:solidFill>
                  <a:srgbClr val="152540"/>
                </a:solidFill>
                <a:latin typeface="Arial"/>
                <a:ea typeface="Arial"/>
                <a:cs typeface="Arial"/>
                <a:sym typeface="Arial"/>
              </a:rPr>
              <a:t>: Es la capacidad de una función para tener diferentes significados dependiendo de los argumentos que se le pasen. Esto permite escribir código más genérico y flexible</a:t>
            </a:r>
            <a:endParaRPr b="0" i="0" sz="1400" u="none" cap="none" strike="noStrike">
              <a:solidFill>
                <a:srgbClr val="000000"/>
              </a:solidFill>
              <a:latin typeface="Arial"/>
              <a:ea typeface="Arial"/>
              <a:cs typeface="Arial"/>
              <a:sym typeface="Arial"/>
            </a:endParaRPr>
          </a:p>
        </p:txBody>
      </p:sp>
      <p:sp>
        <p:nvSpPr>
          <p:cNvPr id="338" name="Google Shape;338;p17"/>
          <p:cNvSpPr txBox="1"/>
          <p:nvPr/>
        </p:nvSpPr>
        <p:spPr>
          <a:xfrm>
            <a:off x="1904222" y="1782237"/>
            <a:ext cx="9175638"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500"/>
              <a:buFont typeface="Arial"/>
              <a:buNone/>
            </a:pPr>
            <a:r>
              <a:rPr b="0" i="0" lang="en-US" sz="3500" u="none" cap="none" strike="noStrike">
                <a:solidFill>
                  <a:srgbClr val="152540"/>
                </a:solidFill>
                <a:latin typeface="Arial"/>
                <a:ea typeface="Arial"/>
                <a:cs typeface="Arial"/>
                <a:sym typeface="Arial"/>
              </a:rPr>
              <a:t>PILARES DE POO</a:t>
            </a:r>
            <a:endParaRPr b="0" i="0" sz="1400" u="none" cap="none" strike="noStrike">
              <a:solidFill>
                <a:srgbClr val="000000"/>
              </a:solidFill>
              <a:latin typeface="Arial"/>
              <a:ea typeface="Arial"/>
              <a:cs typeface="Arial"/>
              <a:sym typeface="Arial"/>
            </a:endParaRPr>
          </a:p>
        </p:txBody>
      </p:sp>
      <p:sp>
        <p:nvSpPr>
          <p:cNvPr id="339" name="Google Shape;339;p17"/>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000"/>
              <a:buFont typeface="Arial"/>
              <a:buNone/>
            </a:pPr>
            <a:r>
              <a:rPr b="0" i="0" lang="en-US" sz="4000" u="none" cap="none" strike="noStrike">
                <a:solidFill>
                  <a:srgbClr val="152540"/>
                </a:solidFill>
                <a:latin typeface="Arial"/>
                <a:ea typeface="Arial"/>
                <a:cs typeface="Arial"/>
                <a:sym typeface="Arial"/>
              </a:rPr>
              <a:t>PARADIGMAS DE PROGRAMACIÓN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8"/>
          <p:cNvSpPr txBox="1"/>
          <p:nvPr/>
        </p:nvSpPr>
        <p:spPr>
          <a:xfrm>
            <a:off x="1904222" y="2853563"/>
            <a:ext cx="14701023" cy="6565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500"/>
              <a:buFont typeface="Arial"/>
              <a:buNone/>
            </a:pPr>
            <a:r>
              <a:rPr b="0" i="0" lang="en-US" sz="2500" u="none" cap="none" strike="noStrike">
                <a:solidFill>
                  <a:srgbClr val="152540"/>
                </a:solidFill>
                <a:latin typeface="Arial"/>
                <a:ea typeface="Arial"/>
                <a:cs typeface="Arial"/>
                <a:sym typeface="Arial"/>
              </a:rPr>
              <a:t>La programación funcional es un paradigma de programación que se basa en el uso de funciones. Una función es un bloque de código que toma un conjunto de valores como entrada y devuelve un conjunto de valores como salida. En la programación funcional, las funciones se utilizan para representar el comportamiento de un programa. Las funciones se pueden combinar para crear otras funciones más complejas.</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500"/>
              <a:buFont typeface="Arial"/>
              <a:buNone/>
            </a:pPr>
            <a:r>
              <a:rPr b="0" i="0" lang="en-US" sz="2500" u="none" cap="none" strike="noStrike">
                <a:solidFill>
                  <a:srgbClr val="152540"/>
                </a:solidFill>
                <a:latin typeface="Arial"/>
                <a:ea typeface="Arial"/>
                <a:cs typeface="Arial"/>
                <a:sym typeface="Arial"/>
              </a:rPr>
              <a:t>La programación funcional tiene varias ventajas sobre otros paradigmas de programación, como la programación imperativa y la programación orientada a objetos. Algunas de las ventajas de la programación funcional incluyen:</a:t>
            </a:r>
            <a:endParaRPr b="0" i="0" sz="1400" u="none" cap="none" strike="noStrike">
              <a:solidFill>
                <a:srgbClr val="000000"/>
              </a:solidFill>
              <a:latin typeface="Arial"/>
              <a:ea typeface="Arial"/>
              <a:cs typeface="Arial"/>
              <a:sym typeface="Arial"/>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Eficiencia</a:t>
            </a:r>
            <a:r>
              <a:rPr b="0" i="0" lang="en-US" sz="2500" u="none" cap="none" strike="noStrike">
                <a:solidFill>
                  <a:srgbClr val="152540"/>
                </a:solidFill>
                <a:latin typeface="Arial"/>
                <a:ea typeface="Arial"/>
                <a:cs typeface="Arial"/>
                <a:sym typeface="Arial"/>
              </a:rPr>
              <a:t>: La programación funcional es muy eficiente y puede ser utilizada para escribir programas que son rápidos y ligeros.</a:t>
            </a:r>
            <a:endParaRPr b="0" i="0" sz="1400" u="none" cap="none" strike="noStrike">
              <a:solidFill>
                <a:srgbClr val="000000"/>
              </a:solidFill>
              <a:latin typeface="Arial"/>
              <a:ea typeface="Arial"/>
              <a:cs typeface="Arial"/>
              <a:sym typeface="Arial"/>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Seguridad</a:t>
            </a:r>
            <a:r>
              <a:rPr b="0" i="0" lang="en-US" sz="2500" u="none" cap="none" strike="noStrike">
                <a:solidFill>
                  <a:srgbClr val="152540"/>
                </a:solidFill>
                <a:latin typeface="Arial"/>
                <a:ea typeface="Arial"/>
                <a:cs typeface="Arial"/>
                <a:sym typeface="Arial"/>
              </a:rPr>
              <a:t>: La programación funcional es muy segura y puede ayudar a prevenir errores.</a:t>
            </a:r>
            <a:endParaRPr b="0" i="0" sz="1400" u="none" cap="none" strike="noStrike">
              <a:solidFill>
                <a:srgbClr val="000000"/>
              </a:solidFill>
              <a:latin typeface="Arial"/>
              <a:ea typeface="Arial"/>
              <a:cs typeface="Arial"/>
              <a:sym typeface="Arial"/>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Fácil mantenimiento</a:t>
            </a:r>
            <a:r>
              <a:rPr b="0" i="0" lang="en-US" sz="2500" u="none" cap="none" strike="noStrike">
                <a:solidFill>
                  <a:srgbClr val="152540"/>
                </a:solidFill>
                <a:latin typeface="Arial"/>
                <a:ea typeface="Arial"/>
                <a:cs typeface="Arial"/>
                <a:sym typeface="Arial"/>
              </a:rPr>
              <a:t>: La programación funcional es muy fácil de mantener, especialmente para programas grandes y complejos.</a:t>
            </a:r>
            <a:endParaRPr b="0" i="0" sz="1400" u="none" cap="none" strike="noStrike">
              <a:solidFill>
                <a:srgbClr val="000000"/>
              </a:solidFill>
              <a:latin typeface="Arial"/>
              <a:ea typeface="Arial"/>
              <a:cs typeface="Arial"/>
              <a:sym typeface="Arial"/>
            </a:endParaRPr>
          </a:p>
        </p:txBody>
      </p:sp>
      <p:sp>
        <p:nvSpPr>
          <p:cNvPr id="345" name="Google Shape;345;p18"/>
          <p:cNvSpPr txBox="1"/>
          <p:nvPr/>
        </p:nvSpPr>
        <p:spPr>
          <a:xfrm>
            <a:off x="1904222" y="1782237"/>
            <a:ext cx="9175638"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500"/>
              <a:buFont typeface="Arial"/>
              <a:buNone/>
            </a:pPr>
            <a:r>
              <a:rPr b="0" i="0" lang="en-US" sz="3500" u="none" cap="none" strike="noStrike">
                <a:solidFill>
                  <a:srgbClr val="152540"/>
                </a:solidFill>
                <a:latin typeface="Arial"/>
                <a:ea typeface="Arial"/>
                <a:cs typeface="Arial"/>
                <a:sym typeface="Arial"/>
              </a:rPr>
              <a:t>FUNCIONAL</a:t>
            </a:r>
            <a:endParaRPr b="0" i="0" sz="1400" u="none" cap="none" strike="noStrike">
              <a:solidFill>
                <a:srgbClr val="000000"/>
              </a:solidFill>
              <a:latin typeface="Arial"/>
              <a:ea typeface="Arial"/>
              <a:cs typeface="Arial"/>
              <a:sym typeface="Arial"/>
            </a:endParaRPr>
          </a:p>
        </p:txBody>
      </p:sp>
      <p:sp>
        <p:nvSpPr>
          <p:cNvPr id="346" name="Google Shape;346;p18"/>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000"/>
              <a:buFont typeface="Arial"/>
              <a:buNone/>
            </a:pPr>
            <a:r>
              <a:rPr b="0" i="0" lang="en-US" sz="4000" u="none" cap="none" strike="noStrike">
                <a:solidFill>
                  <a:srgbClr val="152540"/>
                </a:solidFill>
                <a:latin typeface="Arial"/>
                <a:ea typeface="Arial"/>
                <a:cs typeface="Arial"/>
                <a:sym typeface="Arial"/>
              </a:rPr>
              <a:t>PARADIGMAS DE PROGRAMACIÓN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9"/>
          <p:cNvSpPr txBox="1"/>
          <p:nvPr/>
        </p:nvSpPr>
        <p:spPr>
          <a:xfrm>
            <a:off x="1904222" y="2673047"/>
            <a:ext cx="14701023" cy="639191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600"/>
              <a:buFont typeface="Arial"/>
              <a:buNone/>
            </a:pPr>
            <a:r>
              <a:rPr b="0" i="0" lang="en-US" sz="2600" u="none" cap="none" strike="noStrike">
                <a:solidFill>
                  <a:srgbClr val="152540"/>
                </a:solidFill>
                <a:latin typeface="Arial"/>
                <a:ea typeface="Arial"/>
                <a:cs typeface="Arial"/>
                <a:sym typeface="Arial"/>
              </a:rPr>
              <a:t>La programación lógica es un paradigma de programación que se basa en la lógica matemática. En la programación lógica, los programas se representan como conjuntos de hechos y reglas. Los hechos son declaraciones que son verdaderas, y las reglas son declaraciones que describen cómo se relacionan los hechos.</a:t>
            </a:r>
            <a:endParaRPr b="0" i="0" sz="1400" u="none" cap="none" strike="noStrike">
              <a:solidFill>
                <a:srgbClr val="000000"/>
              </a:solidFill>
              <a:latin typeface="Arial"/>
              <a:ea typeface="Arial"/>
              <a:cs typeface="Arial"/>
              <a:sym typeface="Arial"/>
            </a:endParaRPr>
          </a:p>
          <a:p>
            <a:pPr indent="-280668" lvl="1" marL="561341" marR="0" rtl="0" algn="just">
              <a:lnSpc>
                <a:spcPct val="140000"/>
              </a:lnSpc>
              <a:spcBef>
                <a:spcPts val="0"/>
              </a:spcBef>
              <a:spcAft>
                <a:spcPts val="0"/>
              </a:spcAft>
              <a:buClr>
                <a:srgbClr val="152540"/>
              </a:buClr>
              <a:buSzPts val="2600"/>
              <a:buFont typeface="Arial"/>
              <a:buChar char="•"/>
            </a:pPr>
            <a:r>
              <a:rPr b="1" i="0" lang="en-US" sz="2600" u="none" cap="none" strike="noStrike">
                <a:solidFill>
                  <a:srgbClr val="152540"/>
                </a:solidFill>
                <a:latin typeface="Arial"/>
                <a:ea typeface="Arial"/>
                <a:cs typeface="Arial"/>
                <a:sym typeface="Arial"/>
              </a:rPr>
              <a:t>Ventajas</a:t>
            </a:r>
            <a:endParaRPr b="0" i="0" sz="1400" u="none" cap="none" strike="noStrike">
              <a:solidFill>
                <a:srgbClr val="000000"/>
              </a:solidFill>
              <a:latin typeface="Arial"/>
              <a:ea typeface="Arial"/>
              <a:cs typeface="Arial"/>
              <a:sym typeface="Arial"/>
            </a:endParaRPr>
          </a:p>
          <a:p>
            <a:pPr indent="-374227" lvl="2" marL="1122681" marR="0" rtl="0" algn="just">
              <a:lnSpc>
                <a:spcPct val="140000"/>
              </a:lnSpc>
              <a:spcBef>
                <a:spcPts val="0"/>
              </a:spcBef>
              <a:spcAft>
                <a:spcPts val="0"/>
              </a:spcAft>
              <a:buClr>
                <a:srgbClr val="152540"/>
              </a:buClr>
              <a:buSzPts val="2600"/>
              <a:buFont typeface="Arial"/>
              <a:buChar char="⚬"/>
            </a:pPr>
            <a:r>
              <a:rPr b="1" i="0" lang="en-US" sz="2600" u="none" cap="none" strike="noStrike">
                <a:solidFill>
                  <a:srgbClr val="152540"/>
                </a:solidFill>
                <a:latin typeface="Arial"/>
                <a:ea typeface="Arial"/>
                <a:cs typeface="Arial"/>
                <a:sym typeface="Arial"/>
              </a:rPr>
              <a:t>Facilidad de mantenimiento</a:t>
            </a:r>
            <a:r>
              <a:rPr b="0" i="0" lang="en-US" sz="2600" u="none" cap="none" strike="noStrike">
                <a:solidFill>
                  <a:srgbClr val="152540"/>
                </a:solidFill>
                <a:latin typeface="Arial"/>
                <a:ea typeface="Arial"/>
                <a:cs typeface="Arial"/>
                <a:sym typeface="Arial"/>
              </a:rPr>
              <a:t>: Los programas de lógica son muy fáciles de mantener, ya que se pueden modificar fácilmente los hechos y las reglas sin tener que modificar el código.</a:t>
            </a:r>
            <a:endParaRPr b="0" i="0" sz="1400" u="none" cap="none" strike="noStrike">
              <a:solidFill>
                <a:srgbClr val="000000"/>
              </a:solidFill>
              <a:latin typeface="Arial"/>
              <a:ea typeface="Arial"/>
              <a:cs typeface="Arial"/>
              <a:sym typeface="Arial"/>
            </a:endParaRPr>
          </a:p>
          <a:p>
            <a:pPr indent="-374227" lvl="2" marL="1122681" marR="0" rtl="0" algn="just">
              <a:lnSpc>
                <a:spcPct val="140000"/>
              </a:lnSpc>
              <a:spcBef>
                <a:spcPts val="0"/>
              </a:spcBef>
              <a:spcAft>
                <a:spcPts val="0"/>
              </a:spcAft>
              <a:buClr>
                <a:srgbClr val="152540"/>
              </a:buClr>
              <a:buSzPts val="2600"/>
              <a:buFont typeface="Arial"/>
              <a:buChar char="⚬"/>
            </a:pPr>
            <a:r>
              <a:rPr b="1" i="0" lang="en-US" sz="2600" u="none" cap="none" strike="noStrike">
                <a:solidFill>
                  <a:srgbClr val="152540"/>
                </a:solidFill>
                <a:latin typeface="Arial"/>
                <a:ea typeface="Arial"/>
                <a:cs typeface="Arial"/>
                <a:sym typeface="Arial"/>
              </a:rPr>
              <a:t>Eficiencia</a:t>
            </a:r>
            <a:r>
              <a:rPr b="0" i="0" lang="en-US" sz="2600" u="none" cap="none" strike="noStrike">
                <a:solidFill>
                  <a:srgbClr val="152540"/>
                </a:solidFill>
                <a:latin typeface="Arial"/>
                <a:ea typeface="Arial"/>
                <a:cs typeface="Arial"/>
                <a:sym typeface="Arial"/>
              </a:rPr>
              <a:t>: Los programas de lógica son muy eficientes, ya que no tienen que realizar operaciones de control de flujo.</a:t>
            </a:r>
            <a:endParaRPr b="0" i="0" sz="1400" u="none" cap="none" strike="noStrike">
              <a:solidFill>
                <a:srgbClr val="000000"/>
              </a:solidFill>
              <a:latin typeface="Arial"/>
              <a:ea typeface="Arial"/>
              <a:cs typeface="Arial"/>
              <a:sym typeface="Arial"/>
            </a:endParaRPr>
          </a:p>
          <a:p>
            <a:pPr indent="-374227" lvl="2" marL="1122681" marR="0" rtl="0" algn="just">
              <a:lnSpc>
                <a:spcPct val="140000"/>
              </a:lnSpc>
              <a:spcBef>
                <a:spcPts val="0"/>
              </a:spcBef>
              <a:spcAft>
                <a:spcPts val="0"/>
              </a:spcAft>
              <a:buClr>
                <a:srgbClr val="152540"/>
              </a:buClr>
              <a:buSzPts val="2600"/>
              <a:buFont typeface="Arial"/>
              <a:buChar char="⚬"/>
            </a:pPr>
            <a:r>
              <a:rPr b="1" i="0" lang="en-US" sz="2600" u="none" cap="none" strike="noStrike">
                <a:solidFill>
                  <a:srgbClr val="152540"/>
                </a:solidFill>
                <a:latin typeface="Arial"/>
                <a:ea typeface="Arial"/>
                <a:cs typeface="Arial"/>
                <a:sym typeface="Arial"/>
              </a:rPr>
              <a:t>Verificación</a:t>
            </a:r>
            <a:r>
              <a:rPr b="0" i="0" lang="en-US" sz="2600" u="none" cap="none" strike="noStrike">
                <a:solidFill>
                  <a:srgbClr val="152540"/>
                </a:solidFill>
                <a:latin typeface="Arial"/>
                <a:ea typeface="Arial"/>
                <a:cs typeface="Arial"/>
                <a:sym typeface="Arial"/>
              </a:rPr>
              <a:t>: Los programas de lógica se pueden verificar para garantizar que son correctos.</a:t>
            </a:r>
            <a:endParaRPr b="0" i="0" sz="1400" u="none" cap="none" strike="noStrike">
              <a:solidFill>
                <a:srgbClr val="000000"/>
              </a:solidFill>
              <a:latin typeface="Arial"/>
              <a:ea typeface="Arial"/>
              <a:cs typeface="Arial"/>
              <a:sym typeface="Arial"/>
            </a:endParaRPr>
          </a:p>
          <a:p>
            <a:pPr indent="-374227" lvl="2" marL="1122681" marR="0" rtl="0" algn="just">
              <a:lnSpc>
                <a:spcPct val="140000"/>
              </a:lnSpc>
              <a:spcBef>
                <a:spcPts val="0"/>
              </a:spcBef>
              <a:spcAft>
                <a:spcPts val="0"/>
              </a:spcAft>
              <a:buClr>
                <a:srgbClr val="152540"/>
              </a:buClr>
              <a:buSzPts val="2600"/>
              <a:buFont typeface="Arial"/>
              <a:buChar char="⚬"/>
            </a:pPr>
            <a:r>
              <a:rPr b="1" i="0" lang="en-US" sz="2600" u="none" cap="none" strike="noStrike">
                <a:solidFill>
                  <a:srgbClr val="152540"/>
                </a:solidFill>
                <a:latin typeface="Arial"/>
                <a:ea typeface="Arial"/>
                <a:cs typeface="Arial"/>
                <a:sym typeface="Arial"/>
              </a:rPr>
              <a:t>Robustez</a:t>
            </a:r>
            <a:r>
              <a:rPr b="0" i="0" lang="en-US" sz="2600" u="none" cap="none" strike="noStrike">
                <a:solidFill>
                  <a:srgbClr val="152540"/>
                </a:solidFill>
                <a:latin typeface="Arial"/>
                <a:ea typeface="Arial"/>
                <a:cs typeface="Arial"/>
                <a:sym typeface="Arial"/>
              </a:rPr>
              <a:t>: Los programas de lógica son muy robustos y pueden tolerar errores en los datos. </a:t>
            </a:r>
            <a:endParaRPr b="0" i="0" sz="1400" u="none" cap="none" strike="noStrike">
              <a:solidFill>
                <a:srgbClr val="000000"/>
              </a:solidFill>
              <a:latin typeface="Arial"/>
              <a:ea typeface="Arial"/>
              <a:cs typeface="Arial"/>
              <a:sym typeface="Arial"/>
            </a:endParaRPr>
          </a:p>
        </p:txBody>
      </p:sp>
      <p:sp>
        <p:nvSpPr>
          <p:cNvPr id="352" name="Google Shape;352;p19"/>
          <p:cNvSpPr txBox="1"/>
          <p:nvPr/>
        </p:nvSpPr>
        <p:spPr>
          <a:xfrm>
            <a:off x="1904222" y="1782237"/>
            <a:ext cx="9175638"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500"/>
              <a:buFont typeface="Arial"/>
              <a:buNone/>
            </a:pPr>
            <a:r>
              <a:rPr b="0" i="0" lang="en-US" sz="3500" u="none" cap="none" strike="noStrike">
                <a:solidFill>
                  <a:srgbClr val="152540"/>
                </a:solidFill>
                <a:latin typeface="Arial"/>
                <a:ea typeface="Arial"/>
                <a:cs typeface="Arial"/>
                <a:sym typeface="Arial"/>
              </a:rPr>
              <a:t>LÓGICA</a:t>
            </a:r>
            <a:endParaRPr b="0" i="0" sz="1400" u="none" cap="none" strike="noStrike">
              <a:solidFill>
                <a:srgbClr val="000000"/>
              </a:solidFill>
              <a:latin typeface="Arial"/>
              <a:ea typeface="Arial"/>
              <a:cs typeface="Arial"/>
              <a:sym typeface="Arial"/>
            </a:endParaRPr>
          </a:p>
        </p:txBody>
      </p:sp>
      <p:sp>
        <p:nvSpPr>
          <p:cNvPr id="353" name="Google Shape;353;p19"/>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000"/>
              <a:buFont typeface="Arial"/>
              <a:buNone/>
            </a:pPr>
            <a:r>
              <a:rPr b="0" i="0" lang="en-US" sz="4000" u="none" cap="none" strike="noStrike">
                <a:solidFill>
                  <a:srgbClr val="152540"/>
                </a:solidFill>
                <a:latin typeface="Arial"/>
                <a:ea typeface="Arial"/>
                <a:cs typeface="Arial"/>
                <a:sym typeface="Arial"/>
              </a:rPr>
              <a:t>PARADIGMAS DE PROGRAMACIÓN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0"/>
          <p:cNvSpPr txBox="1"/>
          <p:nvPr/>
        </p:nvSpPr>
        <p:spPr>
          <a:xfrm>
            <a:off x="1904222" y="2863088"/>
            <a:ext cx="14701023" cy="5694045"/>
          </a:xfrm>
          <a:prstGeom prst="rect">
            <a:avLst/>
          </a:prstGeom>
          <a:noFill/>
          <a:ln>
            <a:noFill/>
          </a:ln>
        </p:spPr>
        <p:txBody>
          <a:bodyPr anchorCtr="0" anchor="t" bIns="0" lIns="0" spcFirstLastPara="1" rIns="0" wrap="square" tIns="0">
            <a:spAutoFit/>
          </a:bodyPr>
          <a:lstStyle/>
          <a:p>
            <a:pPr indent="0" lvl="0" marL="0" marR="0" rtl="0" algn="just">
              <a:lnSpc>
                <a:spcPct val="139962"/>
              </a:lnSpc>
              <a:spcBef>
                <a:spcPts val="0"/>
              </a:spcBef>
              <a:spcAft>
                <a:spcPts val="0"/>
              </a:spcAft>
              <a:buClr>
                <a:srgbClr val="000000"/>
              </a:buClr>
              <a:buSzPts val="2700"/>
              <a:buFont typeface="Arial"/>
              <a:buNone/>
            </a:pPr>
            <a:r>
              <a:rPr b="0" i="0" lang="en-US" sz="2700" u="none" cap="none" strike="noStrike">
                <a:solidFill>
                  <a:srgbClr val="152540"/>
                </a:solidFill>
                <a:latin typeface="Arial"/>
                <a:ea typeface="Arial"/>
                <a:cs typeface="Arial"/>
                <a:sym typeface="Arial"/>
              </a:rPr>
              <a:t>La programación declarativa es un paradigma que se centra en el qué se quiere lograr, en lugar del cómo hacerlo. En este enfoque, los programadores expresan los resultados deseados mediante declaraciones y expresiones, dejando que el lenguaje de programación se encargue de la ejecución.</a:t>
            </a:r>
            <a:endParaRPr b="0" i="0" sz="1400" u="none" cap="none" strike="noStrike">
              <a:solidFill>
                <a:srgbClr val="000000"/>
              </a:solidFill>
              <a:latin typeface="Arial"/>
              <a:ea typeface="Arial"/>
              <a:cs typeface="Arial"/>
              <a:sym typeface="Arial"/>
            </a:endParaRPr>
          </a:p>
          <a:p>
            <a:pPr indent="0" lvl="0" marL="0" marR="0" rtl="0" algn="just">
              <a:lnSpc>
                <a:spcPct val="139962"/>
              </a:lnSpc>
              <a:spcBef>
                <a:spcPts val="0"/>
              </a:spcBef>
              <a:spcAft>
                <a:spcPts val="0"/>
              </a:spcAft>
              <a:buClr>
                <a:srgbClr val="000000"/>
              </a:buClr>
              <a:buSzPts val="2700"/>
              <a:buFont typeface="Arial"/>
              <a:buNone/>
            </a:pPr>
            <a:r>
              <a:rPr b="0" i="0" lang="en-US" sz="2700" u="none" cap="none" strike="noStrike">
                <a:solidFill>
                  <a:srgbClr val="152540"/>
                </a:solidFill>
                <a:latin typeface="Arial"/>
                <a:ea typeface="Arial"/>
                <a:cs typeface="Arial"/>
                <a:sym typeface="Arial"/>
              </a:rPr>
              <a:t>Algunas ventajas de la programación declarativa incluyen:</a:t>
            </a:r>
            <a:endParaRPr b="0" i="0" sz="1400" u="none" cap="none" strike="noStrike">
              <a:solidFill>
                <a:srgbClr val="000000"/>
              </a:solidFill>
              <a:latin typeface="Arial"/>
              <a:ea typeface="Arial"/>
              <a:cs typeface="Arial"/>
              <a:sym typeface="Arial"/>
            </a:endParaRPr>
          </a:p>
          <a:p>
            <a:pPr indent="-291465" lvl="1" marL="582930" marR="0" rtl="0" algn="just">
              <a:lnSpc>
                <a:spcPct val="139962"/>
              </a:lnSpc>
              <a:spcBef>
                <a:spcPts val="0"/>
              </a:spcBef>
              <a:spcAft>
                <a:spcPts val="0"/>
              </a:spcAft>
              <a:buClr>
                <a:srgbClr val="152540"/>
              </a:buClr>
              <a:buSzPts val="2700"/>
              <a:buFont typeface="Arial"/>
              <a:buChar char="•"/>
            </a:pPr>
            <a:r>
              <a:rPr b="1" i="0" lang="en-US" sz="2700" u="none" cap="none" strike="noStrike">
                <a:solidFill>
                  <a:srgbClr val="152540"/>
                </a:solidFill>
                <a:latin typeface="Arial"/>
                <a:ea typeface="Arial"/>
                <a:cs typeface="Arial"/>
                <a:sym typeface="Arial"/>
              </a:rPr>
              <a:t>Simplicidad</a:t>
            </a:r>
            <a:r>
              <a:rPr b="0" i="0" lang="en-US" sz="2700" u="none" cap="none" strike="noStrike">
                <a:solidFill>
                  <a:srgbClr val="152540"/>
                </a:solidFill>
                <a:latin typeface="Arial"/>
                <a:ea typeface="Arial"/>
                <a:cs typeface="Arial"/>
                <a:sym typeface="Arial"/>
              </a:rPr>
              <a:t>: Permite escribir código más conciso y claro, facilitando la comprensión de lo que se está haciendo.</a:t>
            </a:r>
            <a:endParaRPr b="0" i="0" sz="1400" u="none" cap="none" strike="noStrike">
              <a:solidFill>
                <a:srgbClr val="000000"/>
              </a:solidFill>
              <a:latin typeface="Arial"/>
              <a:ea typeface="Arial"/>
              <a:cs typeface="Arial"/>
              <a:sym typeface="Arial"/>
            </a:endParaRPr>
          </a:p>
          <a:p>
            <a:pPr indent="-291465" lvl="1" marL="582930" marR="0" rtl="0" algn="just">
              <a:lnSpc>
                <a:spcPct val="139962"/>
              </a:lnSpc>
              <a:spcBef>
                <a:spcPts val="0"/>
              </a:spcBef>
              <a:spcAft>
                <a:spcPts val="0"/>
              </a:spcAft>
              <a:buClr>
                <a:srgbClr val="152540"/>
              </a:buClr>
              <a:buSzPts val="2700"/>
              <a:buFont typeface="Arial"/>
              <a:buChar char="•"/>
            </a:pPr>
            <a:r>
              <a:rPr b="1" i="0" lang="en-US" sz="2700" u="none" cap="none" strike="noStrike">
                <a:solidFill>
                  <a:srgbClr val="152540"/>
                </a:solidFill>
                <a:latin typeface="Arial"/>
                <a:ea typeface="Arial"/>
                <a:cs typeface="Arial"/>
                <a:sym typeface="Arial"/>
              </a:rPr>
              <a:t>Mantenibilidad</a:t>
            </a:r>
            <a:r>
              <a:rPr b="0" i="0" lang="en-US" sz="2700" u="none" cap="none" strike="noStrike">
                <a:solidFill>
                  <a:srgbClr val="152540"/>
                </a:solidFill>
                <a:latin typeface="Arial"/>
                <a:ea typeface="Arial"/>
                <a:cs typeface="Arial"/>
                <a:sym typeface="Arial"/>
              </a:rPr>
              <a:t>: Hace que el mantenimiento del código sea más fácil, ya que se enfoca en la lógica del programa y no en los detalles de la implementación.</a:t>
            </a:r>
            <a:endParaRPr b="0" i="0" sz="1400" u="none" cap="none" strike="noStrike">
              <a:solidFill>
                <a:srgbClr val="000000"/>
              </a:solidFill>
              <a:latin typeface="Arial"/>
              <a:ea typeface="Arial"/>
              <a:cs typeface="Arial"/>
              <a:sym typeface="Arial"/>
            </a:endParaRPr>
          </a:p>
          <a:p>
            <a:pPr indent="-291465" lvl="1" marL="582930" marR="0" rtl="0" algn="just">
              <a:lnSpc>
                <a:spcPct val="139962"/>
              </a:lnSpc>
              <a:spcBef>
                <a:spcPts val="0"/>
              </a:spcBef>
              <a:spcAft>
                <a:spcPts val="0"/>
              </a:spcAft>
              <a:buClr>
                <a:srgbClr val="152540"/>
              </a:buClr>
              <a:buSzPts val="2700"/>
              <a:buFont typeface="Arial"/>
              <a:buChar char="•"/>
            </a:pPr>
            <a:r>
              <a:rPr b="1" i="0" lang="en-US" sz="2700" u="none" cap="none" strike="noStrike">
                <a:solidFill>
                  <a:srgbClr val="152540"/>
                </a:solidFill>
                <a:latin typeface="Arial"/>
                <a:ea typeface="Arial"/>
                <a:cs typeface="Arial"/>
                <a:sym typeface="Arial"/>
              </a:rPr>
              <a:t>Abstracción</a:t>
            </a:r>
            <a:r>
              <a:rPr b="0" i="0" lang="en-US" sz="2700" u="none" cap="none" strike="noStrike">
                <a:solidFill>
                  <a:srgbClr val="152540"/>
                </a:solidFill>
                <a:latin typeface="Arial"/>
                <a:ea typeface="Arial"/>
                <a:cs typeface="Arial"/>
                <a:sym typeface="Arial"/>
              </a:rPr>
              <a:t>: Proporciona un nivel de abstracción que puede hacer que el desarrollo sea más rápido y menos propenso a errores.</a:t>
            </a:r>
            <a:endParaRPr b="0" i="0" sz="1400" u="none" cap="none" strike="noStrike">
              <a:solidFill>
                <a:srgbClr val="000000"/>
              </a:solidFill>
              <a:latin typeface="Arial"/>
              <a:ea typeface="Arial"/>
              <a:cs typeface="Arial"/>
              <a:sym typeface="Arial"/>
            </a:endParaRPr>
          </a:p>
        </p:txBody>
      </p:sp>
      <p:sp>
        <p:nvSpPr>
          <p:cNvPr id="359" name="Google Shape;359;p20"/>
          <p:cNvSpPr txBox="1"/>
          <p:nvPr/>
        </p:nvSpPr>
        <p:spPr>
          <a:xfrm>
            <a:off x="1904222" y="1782237"/>
            <a:ext cx="9175638"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500"/>
              <a:buFont typeface="Arial"/>
              <a:buNone/>
            </a:pPr>
            <a:r>
              <a:rPr b="0" i="0" lang="en-US" sz="3500" u="none" cap="none" strike="noStrike">
                <a:solidFill>
                  <a:srgbClr val="152540"/>
                </a:solidFill>
                <a:latin typeface="Arial"/>
                <a:ea typeface="Arial"/>
                <a:cs typeface="Arial"/>
                <a:sym typeface="Arial"/>
              </a:rPr>
              <a:t>DECLARATIVO</a:t>
            </a:r>
            <a:endParaRPr b="0" i="0" sz="1400" u="none" cap="none" strike="noStrike">
              <a:solidFill>
                <a:srgbClr val="000000"/>
              </a:solidFill>
              <a:latin typeface="Arial"/>
              <a:ea typeface="Arial"/>
              <a:cs typeface="Arial"/>
              <a:sym typeface="Arial"/>
            </a:endParaRPr>
          </a:p>
        </p:txBody>
      </p:sp>
      <p:sp>
        <p:nvSpPr>
          <p:cNvPr id="360" name="Google Shape;360;p20"/>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000"/>
              <a:buFont typeface="Arial"/>
              <a:buNone/>
            </a:pPr>
            <a:r>
              <a:rPr b="0" i="0" lang="en-US" sz="4000" u="none" cap="none" strike="noStrike">
                <a:solidFill>
                  <a:srgbClr val="152540"/>
                </a:solidFill>
                <a:latin typeface="Arial"/>
                <a:ea typeface="Arial"/>
                <a:cs typeface="Arial"/>
                <a:sym typeface="Arial"/>
              </a:rPr>
              <a:t>PARADIGMAS DE PROGRAMACIÓN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1"/>
          <p:cNvSpPr txBox="1"/>
          <p:nvPr/>
        </p:nvSpPr>
        <p:spPr>
          <a:xfrm>
            <a:off x="1464052" y="2923362"/>
            <a:ext cx="12632411" cy="6424055"/>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Clr>
                <a:srgbClr val="000000"/>
              </a:buClr>
              <a:buSzPts val="2834"/>
              <a:buFont typeface="Arial"/>
              <a:buNone/>
            </a:pPr>
            <a:r>
              <a:rPr b="1" i="0" lang="en-US" sz="2834" u="none" cap="none" strike="noStrike">
                <a:solidFill>
                  <a:srgbClr val="152540"/>
                </a:solidFill>
                <a:latin typeface="Arial"/>
                <a:ea typeface="Arial"/>
                <a:cs typeface="Arial"/>
                <a:sym typeface="Arial"/>
              </a:rPr>
              <a:t>Lenguaje Natural</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Usado por los humanos para comunicarse.</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Ambiguo, flexible y contextual.</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Ejemplos: Español, Inglés.</a:t>
            </a:r>
            <a:endParaRPr b="0" i="0" sz="1400" u="none" cap="none" strike="noStrike">
              <a:solidFill>
                <a:srgbClr val="000000"/>
              </a:solidFill>
              <a:latin typeface="Arial"/>
              <a:ea typeface="Arial"/>
              <a:cs typeface="Arial"/>
              <a:sym typeface="Arial"/>
            </a:endParaRPr>
          </a:p>
          <a:p>
            <a:pPr indent="0" lvl="0" marL="0" marR="0" rtl="0" algn="l">
              <a:lnSpc>
                <a:spcPct val="140014"/>
              </a:lnSpc>
              <a:spcBef>
                <a:spcPts val="0"/>
              </a:spcBef>
              <a:spcAft>
                <a:spcPts val="0"/>
              </a:spcAft>
              <a:buClr>
                <a:srgbClr val="000000"/>
              </a:buClr>
              <a:buSzPts val="2834"/>
              <a:buFont typeface="Arial"/>
              <a:buNone/>
            </a:pPr>
            <a:r>
              <a:rPr b="1" i="0" lang="en-US" sz="2834" u="none" cap="none" strike="noStrike">
                <a:solidFill>
                  <a:srgbClr val="152540"/>
                </a:solidFill>
                <a:latin typeface="Arial"/>
                <a:ea typeface="Arial"/>
                <a:cs typeface="Arial"/>
                <a:sym typeface="Arial"/>
              </a:rPr>
              <a:t>Lenguaje Formal</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Conjunto de símbolos y reglas precisas.</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No ambiguo.</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Usado en matemáticas, lógica y programación.</a:t>
            </a:r>
            <a:endParaRPr b="0" i="0" sz="1400" u="none" cap="none" strike="noStrike">
              <a:solidFill>
                <a:srgbClr val="000000"/>
              </a:solidFill>
              <a:latin typeface="Arial"/>
              <a:ea typeface="Arial"/>
              <a:cs typeface="Arial"/>
              <a:sym typeface="Arial"/>
            </a:endParaRPr>
          </a:p>
          <a:p>
            <a:pPr indent="0" lvl="0" marL="0" marR="0" rtl="0" algn="l">
              <a:lnSpc>
                <a:spcPct val="140014"/>
              </a:lnSpc>
              <a:spcBef>
                <a:spcPts val="0"/>
              </a:spcBef>
              <a:spcAft>
                <a:spcPts val="0"/>
              </a:spcAft>
              <a:buClr>
                <a:srgbClr val="000000"/>
              </a:buClr>
              <a:buSzPts val="2834"/>
              <a:buFont typeface="Arial"/>
              <a:buNone/>
            </a:pPr>
            <a:r>
              <a:rPr b="1" i="0" lang="en-US" sz="2834" u="none" cap="none" strike="noStrike">
                <a:solidFill>
                  <a:srgbClr val="152540"/>
                </a:solidFill>
                <a:latin typeface="Arial"/>
                <a:ea typeface="Arial"/>
                <a:cs typeface="Arial"/>
                <a:sym typeface="Arial"/>
              </a:rPr>
              <a:t>Lenguajes de Programación</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Sistemas formales diseñados para comunicarse con computadoras.</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Tienen sintaxis y semántica bien definidas.</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Ejemplos: Java, Python, C++.</a:t>
            </a:r>
            <a:endParaRPr b="0" i="0" sz="1400" u="none" cap="none" strike="noStrike">
              <a:solidFill>
                <a:srgbClr val="000000"/>
              </a:solidFill>
              <a:latin typeface="Arial"/>
              <a:ea typeface="Arial"/>
              <a:cs typeface="Arial"/>
              <a:sym typeface="Arial"/>
            </a:endParaRPr>
          </a:p>
        </p:txBody>
      </p:sp>
      <p:sp>
        <p:nvSpPr>
          <p:cNvPr id="366" name="Google Shape;366;p21"/>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Arial"/>
                <a:ea typeface="Arial"/>
                <a:cs typeface="Arial"/>
                <a:sym typeface="Arial"/>
              </a:rPr>
              <a:t>CONCEPTOS CLAVE APRENDIDOS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2"/>
          <p:cNvSpPr txBox="1"/>
          <p:nvPr/>
        </p:nvSpPr>
        <p:spPr>
          <a:xfrm>
            <a:off x="1464052" y="2923362"/>
            <a:ext cx="12632411" cy="4442855"/>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Clr>
                <a:srgbClr val="000000"/>
              </a:buClr>
              <a:buSzPts val="2834"/>
              <a:buFont typeface="Arial"/>
              <a:buNone/>
            </a:pPr>
            <a:r>
              <a:rPr b="1" i="0" lang="en-US" sz="2834" u="none" cap="none" strike="noStrike">
                <a:solidFill>
                  <a:srgbClr val="152540"/>
                </a:solidFill>
                <a:latin typeface="Arial"/>
                <a:ea typeface="Arial"/>
                <a:cs typeface="Arial"/>
                <a:sym typeface="Arial"/>
              </a:rPr>
              <a:t>Evolución de los Lenguajes de Programación</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De bajo nivel (ensamblador) a alto nivel (Java, Python).</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Mayor abstracción, facilidad de uso y legibilidad.</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Incorporación de nuevos paradigmas y características.</a:t>
            </a:r>
            <a:endParaRPr b="0" i="0" sz="1400" u="none" cap="none" strike="noStrike">
              <a:solidFill>
                <a:srgbClr val="000000"/>
              </a:solidFill>
              <a:latin typeface="Arial"/>
              <a:ea typeface="Arial"/>
              <a:cs typeface="Arial"/>
              <a:sym typeface="Arial"/>
            </a:endParaRPr>
          </a:p>
          <a:p>
            <a:pPr indent="0" lvl="0" marL="0" marR="0" rtl="0" algn="l">
              <a:lnSpc>
                <a:spcPct val="140014"/>
              </a:lnSpc>
              <a:spcBef>
                <a:spcPts val="0"/>
              </a:spcBef>
              <a:spcAft>
                <a:spcPts val="0"/>
              </a:spcAft>
              <a:buClr>
                <a:srgbClr val="000000"/>
              </a:buClr>
              <a:buSzPts val="2834"/>
              <a:buFont typeface="Arial"/>
              <a:buNone/>
            </a:pPr>
            <a:r>
              <a:rPr b="1" i="0" lang="en-US" sz="2834" u="none" cap="none" strike="noStrike">
                <a:solidFill>
                  <a:srgbClr val="152540"/>
                </a:solidFill>
                <a:latin typeface="Arial"/>
                <a:ea typeface="Arial"/>
                <a:cs typeface="Arial"/>
                <a:sym typeface="Arial"/>
              </a:rPr>
              <a:t>Paradigmas de Programación</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Imperativo: secuencia de instrucciones (C, Java).</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Orientado a Objetos: objetos y clases (Java, Python).</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Funcional: funciones puras (Haskell, Scala).</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Lógico: basado en reglas lógicas (Prolog).</a:t>
            </a:r>
            <a:endParaRPr b="0" i="0" sz="1400" u="none" cap="none" strike="noStrike">
              <a:solidFill>
                <a:srgbClr val="000000"/>
              </a:solidFill>
              <a:latin typeface="Arial"/>
              <a:ea typeface="Arial"/>
              <a:cs typeface="Arial"/>
              <a:sym typeface="Arial"/>
            </a:endParaRPr>
          </a:p>
        </p:txBody>
      </p:sp>
      <p:sp>
        <p:nvSpPr>
          <p:cNvPr id="372" name="Google Shape;372;p22"/>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Arial"/>
                <a:ea typeface="Arial"/>
                <a:cs typeface="Arial"/>
                <a:sym typeface="Arial"/>
              </a:rPr>
              <a:t>CONCEPTOS CLAVE APRENDIDOS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3"/>
          <p:cNvSpPr txBox="1"/>
          <p:nvPr/>
        </p:nvSpPr>
        <p:spPr>
          <a:xfrm>
            <a:off x="1464052" y="2923362"/>
            <a:ext cx="12632411" cy="3452255"/>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Clr>
                <a:srgbClr val="000000"/>
              </a:buClr>
              <a:buSzPts val="2834"/>
              <a:buFont typeface="Arial"/>
              <a:buNone/>
            </a:pPr>
            <a:r>
              <a:rPr b="1" i="0" lang="en-US" sz="2834" u="none" cap="none" strike="noStrike">
                <a:solidFill>
                  <a:srgbClr val="152540"/>
                </a:solidFill>
                <a:latin typeface="Arial"/>
                <a:ea typeface="Arial"/>
                <a:cs typeface="Arial"/>
                <a:sym typeface="Arial"/>
              </a:rPr>
              <a:t>Generaciones de Lenguajes de Programación</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1ª Generación: lenguaje máquina (binario).</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2ª Generación: ensamblador.</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3ª Generación: lenguajes de alto nivel (C, Java).</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4ª Generación: lenguajes orientados a tareas (SQL).</a:t>
            </a:r>
            <a:endParaRPr b="0" i="0" sz="1400" u="none" cap="none" strike="noStrike">
              <a:solidFill>
                <a:srgbClr val="000000"/>
              </a:solidFill>
              <a:latin typeface="Arial"/>
              <a:ea typeface="Arial"/>
              <a:cs typeface="Arial"/>
              <a:sym typeface="Arial"/>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5ª Generación: lenguajes basados en inteligencia artificial y lógica (Prolog).</a:t>
            </a:r>
            <a:endParaRPr b="0" i="0" sz="1400" u="none" cap="none" strike="noStrike">
              <a:solidFill>
                <a:srgbClr val="000000"/>
              </a:solidFill>
              <a:latin typeface="Arial"/>
              <a:ea typeface="Arial"/>
              <a:cs typeface="Arial"/>
              <a:sym typeface="Arial"/>
            </a:endParaRPr>
          </a:p>
        </p:txBody>
      </p:sp>
      <p:sp>
        <p:nvSpPr>
          <p:cNvPr id="378" name="Google Shape;378;p23"/>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Arial"/>
                <a:ea typeface="Arial"/>
                <a:cs typeface="Arial"/>
                <a:sym typeface="Arial"/>
              </a:rPr>
              <a:t>CONCEPTOS CLAVE APRENDIDOS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4"/>
          <p:cNvSpPr txBox="1"/>
          <p:nvPr/>
        </p:nvSpPr>
        <p:spPr>
          <a:xfrm>
            <a:off x="1793489" y="3285909"/>
            <a:ext cx="14701023" cy="5586095"/>
          </a:xfrm>
          <a:prstGeom prst="rect">
            <a:avLst/>
          </a:prstGeom>
          <a:noFill/>
          <a:ln>
            <a:noFill/>
          </a:ln>
        </p:spPr>
        <p:txBody>
          <a:bodyPr anchorCtr="0" anchor="t" bIns="0" lIns="0" spcFirstLastPara="1" rIns="0" wrap="square" tIns="0">
            <a:spAutoFit/>
          </a:bodyPr>
          <a:lstStyle/>
          <a:p>
            <a:pPr indent="0" lvl="0" marL="0" marR="0" rtl="0" algn="just">
              <a:lnSpc>
                <a:spcPct val="140012"/>
              </a:lnSpc>
              <a:spcBef>
                <a:spcPts val="0"/>
              </a:spcBef>
              <a:spcAft>
                <a:spcPts val="0"/>
              </a:spcAft>
              <a:buClr>
                <a:srgbClr val="000000"/>
              </a:buClr>
              <a:buSzPts val="3199"/>
              <a:buFont typeface="Arial"/>
              <a:buNone/>
            </a:pPr>
            <a:r>
              <a:rPr b="1" i="0" lang="en-US" sz="3199" u="none" cap="none" strike="noStrike">
                <a:solidFill>
                  <a:srgbClr val="152540"/>
                </a:solidFill>
                <a:latin typeface="Arial"/>
                <a:ea typeface="Arial"/>
                <a:cs typeface="Arial"/>
                <a:sym typeface="Arial"/>
              </a:rPr>
              <a:t>Curiosidad</a:t>
            </a:r>
            <a:r>
              <a:rPr b="0" i="0" lang="en-US" sz="3199" u="none" cap="none" strike="noStrike">
                <a:solidFill>
                  <a:srgbClr val="152540"/>
                </a:solidFill>
                <a:latin typeface="Arial"/>
                <a:ea typeface="Arial"/>
                <a:cs typeface="Arial"/>
                <a:sym typeface="Arial"/>
              </a:rPr>
              <a:t>: La curiosidad lleva al alumno a explorar cómo y por qué se han desarrollado los lenguajes formales y de programación, las razones detrás de sus estructuras y cómo influyen en nuestra vida diaria.</a:t>
            </a:r>
            <a:endParaRPr b="0" i="0" sz="1400" u="none" cap="none" strike="noStrike">
              <a:solidFill>
                <a:srgbClr val="000000"/>
              </a:solidFill>
              <a:latin typeface="Arial"/>
              <a:ea typeface="Arial"/>
              <a:cs typeface="Arial"/>
              <a:sym typeface="Arial"/>
            </a:endParaRPr>
          </a:p>
          <a:p>
            <a:pPr indent="0" lvl="0" marL="0" marR="0" rtl="0" algn="just">
              <a:lnSpc>
                <a:spcPct val="140012"/>
              </a:lnSpc>
              <a:spcBef>
                <a:spcPts val="0"/>
              </a:spcBef>
              <a:spcAft>
                <a:spcPts val="0"/>
              </a:spcAft>
              <a:buClr>
                <a:srgbClr val="000000"/>
              </a:buClr>
              <a:buSzPts val="3199"/>
              <a:buFont typeface="Arial"/>
              <a:buNone/>
            </a:pPr>
            <a:r>
              <a:rPr b="1" i="0" lang="en-US" sz="3199" u="none" cap="none" strike="noStrike">
                <a:solidFill>
                  <a:srgbClr val="152540"/>
                </a:solidFill>
                <a:latin typeface="Arial"/>
                <a:ea typeface="Arial"/>
                <a:cs typeface="Arial"/>
                <a:sym typeface="Arial"/>
              </a:rPr>
              <a:t>Pensamiento Crítico</a:t>
            </a:r>
            <a:r>
              <a:rPr b="0" i="0" lang="en-US" sz="3199" u="none" cap="none" strike="noStrike">
                <a:solidFill>
                  <a:srgbClr val="152540"/>
                </a:solidFill>
                <a:latin typeface="Arial"/>
                <a:ea typeface="Arial"/>
                <a:cs typeface="Arial"/>
                <a:sym typeface="Arial"/>
              </a:rPr>
              <a:t>: Los lenguajes de programación y su evolución no son solo una cuestión de memorizar reglas, sino también de comprender por qué ciertas decisiones se tomaron en el diseño de lenguajes.</a:t>
            </a:r>
            <a:endParaRPr b="0" i="0" sz="1400" u="none" cap="none" strike="noStrike">
              <a:solidFill>
                <a:srgbClr val="000000"/>
              </a:solidFill>
              <a:latin typeface="Arial"/>
              <a:ea typeface="Arial"/>
              <a:cs typeface="Arial"/>
              <a:sym typeface="Arial"/>
            </a:endParaRPr>
          </a:p>
          <a:p>
            <a:pPr indent="0" lvl="0" marL="0" marR="0" rtl="0" algn="just">
              <a:lnSpc>
                <a:spcPct val="140012"/>
              </a:lnSpc>
              <a:spcBef>
                <a:spcPts val="0"/>
              </a:spcBef>
              <a:spcAft>
                <a:spcPts val="0"/>
              </a:spcAft>
              <a:buClr>
                <a:srgbClr val="000000"/>
              </a:buClr>
              <a:buSzPts val="3199"/>
              <a:buFont typeface="Arial"/>
              <a:buNone/>
            </a:pPr>
            <a:r>
              <a:rPr b="1" i="0" lang="en-US" sz="3199" u="none" cap="none" strike="noStrike">
                <a:solidFill>
                  <a:srgbClr val="152540"/>
                </a:solidFill>
                <a:latin typeface="Arial"/>
                <a:ea typeface="Arial"/>
                <a:cs typeface="Arial"/>
                <a:sym typeface="Arial"/>
              </a:rPr>
              <a:t>Atención al Detalle</a:t>
            </a:r>
            <a:r>
              <a:rPr b="0" i="0" lang="en-US" sz="3199" u="none" cap="none" strike="noStrike">
                <a:solidFill>
                  <a:srgbClr val="152540"/>
                </a:solidFill>
                <a:latin typeface="Arial"/>
                <a:ea typeface="Arial"/>
                <a:cs typeface="Arial"/>
                <a:sym typeface="Arial"/>
              </a:rPr>
              <a:t>: Una sola palabra mal escrita o un símbolo erróneo puede afectar el comportamiento del programa.</a:t>
            </a:r>
            <a:endParaRPr b="0" i="0" sz="1400" u="none" cap="none" strike="noStrike">
              <a:solidFill>
                <a:srgbClr val="000000"/>
              </a:solidFill>
              <a:latin typeface="Arial"/>
              <a:ea typeface="Arial"/>
              <a:cs typeface="Arial"/>
              <a:sym typeface="Arial"/>
            </a:endParaRPr>
          </a:p>
        </p:txBody>
      </p:sp>
      <p:sp>
        <p:nvSpPr>
          <p:cNvPr id="384" name="Google Shape;384;p24"/>
          <p:cNvSpPr txBox="1"/>
          <p:nvPr/>
        </p:nvSpPr>
        <p:spPr>
          <a:xfrm>
            <a:off x="2392343" y="2262543"/>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Arial"/>
                <a:ea typeface="Arial"/>
                <a:cs typeface="Arial"/>
                <a:sym typeface="Arial"/>
              </a:rPr>
              <a:t>VALORES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5"/>
          <p:cNvSpPr txBox="1"/>
          <p:nvPr/>
        </p:nvSpPr>
        <p:spPr>
          <a:xfrm>
            <a:off x="1793489" y="4312620"/>
            <a:ext cx="14701023" cy="3580765"/>
          </a:xfrm>
          <a:prstGeom prst="rect">
            <a:avLst/>
          </a:prstGeom>
          <a:noFill/>
          <a:ln>
            <a:noFill/>
          </a:ln>
        </p:spPr>
        <p:txBody>
          <a:bodyPr anchorCtr="0" anchor="t" bIns="0" lIns="0" spcFirstLastPara="1" rIns="0" wrap="square" tIns="0">
            <a:spAutoFit/>
          </a:bodyPr>
          <a:lstStyle/>
          <a:p>
            <a:pPr indent="-367028" lvl="1" marL="734056" marR="0" rtl="0" algn="just">
              <a:lnSpc>
                <a:spcPct val="140011"/>
              </a:lnSpc>
              <a:spcBef>
                <a:spcPts val="0"/>
              </a:spcBef>
              <a:spcAft>
                <a:spcPts val="0"/>
              </a:spcAft>
              <a:buClr>
                <a:srgbClr val="152540"/>
              </a:buClr>
              <a:buSzPts val="3399"/>
              <a:buFont typeface="Arial"/>
              <a:buChar char="•"/>
            </a:pPr>
            <a:r>
              <a:rPr b="0" i="0" lang="en-US" sz="3399" u="none" cap="none" strike="noStrike">
                <a:solidFill>
                  <a:srgbClr val="152540"/>
                </a:solidFill>
                <a:latin typeface="Arial"/>
                <a:ea typeface="Arial"/>
                <a:cs typeface="Arial"/>
                <a:sym typeface="Arial"/>
              </a:rPr>
              <a:t>Kernighan, B. W., &amp; Ritchie, D. M. (1988). The C programming language (2nd ed.). Prentice Hall.</a:t>
            </a:r>
            <a:endParaRPr b="0" i="0" sz="1400" u="none" cap="none" strike="noStrike">
              <a:solidFill>
                <a:srgbClr val="000000"/>
              </a:solidFill>
              <a:latin typeface="Arial"/>
              <a:ea typeface="Arial"/>
              <a:cs typeface="Arial"/>
              <a:sym typeface="Arial"/>
            </a:endParaRPr>
          </a:p>
          <a:p>
            <a:pPr indent="-367028" lvl="1" marL="734056" marR="0" rtl="0" algn="just">
              <a:lnSpc>
                <a:spcPct val="140011"/>
              </a:lnSpc>
              <a:spcBef>
                <a:spcPts val="0"/>
              </a:spcBef>
              <a:spcAft>
                <a:spcPts val="0"/>
              </a:spcAft>
              <a:buClr>
                <a:srgbClr val="152540"/>
              </a:buClr>
              <a:buSzPts val="3399"/>
              <a:buFont typeface="Arial"/>
              <a:buChar char="•"/>
            </a:pPr>
            <a:r>
              <a:rPr b="0" i="0" lang="en-US" sz="3399" u="none" cap="none" strike="noStrike">
                <a:solidFill>
                  <a:srgbClr val="152540"/>
                </a:solidFill>
                <a:latin typeface="Arial"/>
                <a:ea typeface="Arial"/>
                <a:cs typeface="Arial"/>
                <a:sym typeface="Arial"/>
              </a:rPr>
              <a:t>SICP. (1996). Structure and Interpretation of Computer Programs (2nd ed.). MIT Press.</a:t>
            </a:r>
            <a:endParaRPr b="0" i="0" sz="1400" u="none" cap="none" strike="noStrike">
              <a:solidFill>
                <a:srgbClr val="000000"/>
              </a:solidFill>
              <a:latin typeface="Arial"/>
              <a:ea typeface="Arial"/>
              <a:cs typeface="Arial"/>
              <a:sym typeface="Arial"/>
            </a:endParaRPr>
          </a:p>
          <a:p>
            <a:pPr indent="-367028" lvl="1" marL="734056" marR="0" rtl="0" algn="just">
              <a:lnSpc>
                <a:spcPct val="140011"/>
              </a:lnSpc>
              <a:spcBef>
                <a:spcPts val="0"/>
              </a:spcBef>
              <a:spcAft>
                <a:spcPts val="0"/>
              </a:spcAft>
              <a:buClr>
                <a:srgbClr val="152540"/>
              </a:buClr>
              <a:buSzPts val="3399"/>
              <a:buFont typeface="Arial"/>
              <a:buChar char="•"/>
            </a:pPr>
            <a:r>
              <a:rPr b="0" i="0" lang="en-US" sz="3399" u="none" cap="none" strike="noStrike">
                <a:solidFill>
                  <a:srgbClr val="152540"/>
                </a:solidFill>
                <a:latin typeface="Arial"/>
                <a:ea typeface="Arial"/>
                <a:cs typeface="Arial"/>
                <a:sym typeface="Arial"/>
              </a:rPr>
              <a:t>Wirth, N. (1996). Programming in Modula-2 (2nd ed.). Springer.</a:t>
            </a:r>
            <a:endParaRPr b="0" i="0" sz="1400" u="none" cap="none" strike="noStrike">
              <a:solidFill>
                <a:srgbClr val="000000"/>
              </a:solidFill>
              <a:latin typeface="Arial"/>
              <a:ea typeface="Arial"/>
              <a:cs typeface="Arial"/>
              <a:sym typeface="Arial"/>
            </a:endParaRPr>
          </a:p>
        </p:txBody>
      </p:sp>
      <p:sp>
        <p:nvSpPr>
          <p:cNvPr id="390" name="Google Shape;390;p25"/>
          <p:cNvSpPr txBox="1"/>
          <p:nvPr/>
        </p:nvSpPr>
        <p:spPr>
          <a:xfrm>
            <a:off x="2392343" y="2849441"/>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Arial"/>
                <a:ea typeface="Arial"/>
                <a:cs typeface="Arial"/>
                <a:sym typeface="Arial"/>
              </a:rPr>
              <a:t>REFERENCIAS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6"/>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Arial"/>
                <a:ea typeface="Arial"/>
                <a:cs typeface="Arial"/>
                <a:sym typeface="Arial"/>
              </a:rPr>
              <a:t>¡GRACIAS POR SU  ATENCIÓN!</a:t>
            </a:r>
            <a:endParaRPr b="0" i="0" sz="1400" u="none" cap="none" strike="noStrike">
              <a:solidFill>
                <a:srgbClr val="000000"/>
              </a:solidFill>
              <a:latin typeface="Arial"/>
              <a:ea typeface="Arial"/>
              <a:cs typeface="Arial"/>
              <a:sym typeface="Arial"/>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Arial"/>
              <a:ea typeface="Arial"/>
              <a:cs typeface="Arial"/>
              <a:sym typeface="Arial"/>
            </a:endParaRPr>
          </a:p>
        </p:txBody>
      </p:sp>
      <p:sp>
        <p:nvSpPr>
          <p:cNvPr id="396" name="Google Shape;396;p26"/>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397" name="Google Shape;397;p26"/>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398" name="Google Shape;398;p26"/>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