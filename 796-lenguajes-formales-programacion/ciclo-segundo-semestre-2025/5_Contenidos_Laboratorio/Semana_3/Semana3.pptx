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10287000" cx="18288000"/>
  <p:notesSz cx="6858000" cy="9144000"/>
  <p:embeddedFontLst>
    <p:embeddedFont>
      <p:font typeface="Lobster"/>
      <p:regular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Pacifico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630FD9-8412-4A15-8642-9C9A01545175}">
  <a:tblStyle styleId="{AB630FD9-8412-4A15-8642-9C9A0154517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4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3.xml"/><Relationship Id="rId32" Type="http://schemas.openxmlformats.org/officeDocument/2006/relationships/font" Target="fonts/Montserrat-bold.fntdata"/><Relationship Id="rId13" Type="http://schemas.openxmlformats.org/officeDocument/2006/relationships/slide" Target="slides/slide6.xml"/><Relationship Id="rId35" Type="http://schemas.openxmlformats.org/officeDocument/2006/relationships/font" Target="fonts/Pacifico-regular.fntdata"/><Relationship Id="rId12" Type="http://schemas.openxmlformats.org/officeDocument/2006/relationships/slide" Target="slides/slide5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a7eb5c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9fa7eb5c2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fa7eb5c2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9fa7eb5c2b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fa7eb5c2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9fa7eb5c2b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fa7eb5c2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9fa7eb5c2b_0_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fa7eb5c2b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9fa7eb5c2b_0_3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fa7eb5c2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9fa7eb5c2b_0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fa7eb5c2b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9fa7eb5c2b_0_5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fa7eb5c2b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9fa7eb5c2b_0_6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fa7eb5c2b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9fa7eb5c2b_0_7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fa7eb5c2b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9fa7eb5c2b_0_8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fa7eb5c2b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9fa7eb5c2b_0_9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fa7eb5c2b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9fa7eb5c2b_0_9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5" name="Google Shape;115;p1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2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www.google.com/search?sca_esv=7f0bd94c4cf1a1fb&amp;cs=1&amp;sxsrf=AE3TifODqyNvdsmWK_Md5HXBneIij5529g%3A1753712496836&amp;q=camelCase&amp;sa=X&amp;ved=2ahUKEwje5_GS4N-OAxV6TTABHQbJCUkQxccNegQIDBAB&amp;mstk=AUtExfDs_r6B1YQ1hBbGw47unHdsW43P0cBr3J1UvVU47W3BHSX2ycNgtyoqX714foR5100KR_jV7JCqYLl0KPC3fbb5SG11XF7IIHKJsrV96y3Ak6rjEvNZFsYJJbh-GMk0zrW35FyqMsx_KVQssFXoJrPbmmk37prFDLBAUtJlE5XbWoc&amp;csui=3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www.google.com/search?sca_esv=7f0bd94c4cf1a1fb&amp;cs=1&amp;sxsrf=AE3TifODqyNvdsmWK_Md5HXBneIij5529g%3A1753712496836&amp;q=PascalCase&amp;sa=X&amp;ved=2ahUKEwje5_GS4N-OAxV6TTABHQbJCUkQxccNegQIDxAB&amp;mstk=AUtExfDs_r6B1YQ1hBbGw47unHdsW43P0cBr3J1UvVU47W3BHSX2ycNgtyoqX714foR5100KR_jV7JCqYLl0KPC3fbb5SG11XF7IIHKJsrV96y3Ak6rjEvNZFsYJJbh-GMk0zrW35FyqMsx_KVQssFXoJrPbmmk37prFDLBAUtJlE5XbWoc&amp;csui=3" TargetMode="External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www.google.com/search?sca_esv=7f0bd94c4cf1a1fb&amp;cs=1&amp;sxsrf=AE3TifODqyNvdsmWK_Md5HXBneIij5529g%3A1753712496836&amp;q=SCREAMING_SNAKE_CASE&amp;sa=X&amp;ved=2ahUKEwje5_GS4N-OAxV6TTABHQbJCUkQxccNegQIEBAB&amp;mstk=AUtExfDs_r6B1YQ1hBbGw47unHdsW43P0cBr3J1UvVU47W3BHSX2ycNgtyoqX714foR5100KR_jV7JCqYLl0KPC3fbb5SG11XF7IIHKJsrV96y3Ak6rjEvNZFsYJJbh-GMk0zrW35FyqMsx_KVQssFXoJrPbmmk37prFDLBAUtJlE5XbWoc&amp;csui=3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oogle.com/search?sca_esv=7f0bd94c4cf1a1fb&amp;cs=1&amp;sxsrf=AE3TifODqyNvdsmWK_Md5HXBneIij5529g%3A1753712496836&amp;q=ESLint&amp;sa=X&amp;ved=2ahUKEwje5_GS4N-OAxV6TTABHQbJCUkQxccNegQIMxAB&amp;mstk=AUtExfDs_r6B1YQ1hBbGw47unHdsW43P0cBr3J1UvVU47W3BHSX2ycNgtyoqX714foR5100KR_jV7JCqYLl0KPC3fbb5SG11XF7IIHKJsrV96y3Ak6rjEvNZFsYJJbh-GMk0zrW35FyqMsx_KVQssFXoJrPbmmk37prFDLBAUtJlE5XbWoc&amp;csui=3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7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{AB630FD9-8412-4A15-8642-9C9A01545175}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de x de 2026</a:t>
                      </a:r>
                      <a:endParaRPr b="1" sz="2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xx:xx - xxxx</a:t>
                      </a:r>
                      <a:endParaRPr b="1" sz="2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169" name="Google Shape;169;p27"/>
          <p:cNvSpPr txBox="1"/>
          <p:nvPr/>
        </p:nvSpPr>
        <p:spPr>
          <a:xfrm>
            <a:off x="2828250" y="4787100"/>
            <a:ext cx="14446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X</a:t>
            </a:r>
            <a:endParaRPr b="1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658250" y="6354150"/>
            <a:ext cx="8971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Nombre del Tutor : XXXXX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/>
        </p:nvSpPr>
        <p:spPr>
          <a:xfrm>
            <a:off x="775174" y="6501763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endParaRPr b="1" i="0" sz="50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2617350" y="2295700"/>
            <a:ext cx="130533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4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De Programación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1028699" y="8779775"/>
            <a:ext cx="8526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304800" y="9595279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nóstico del contexto educativo – Desarrollo de Materiales en línea y  multimedia" id="181" name="Google Shape;18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4925" y="7549575"/>
            <a:ext cx="2638199" cy="24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9"/>
          <p:cNvGrpSpPr/>
          <p:nvPr/>
        </p:nvGrpSpPr>
        <p:grpSpPr>
          <a:xfrm>
            <a:off x="176619" y="4520475"/>
            <a:ext cx="7181701" cy="845568"/>
            <a:chOff x="0" y="-76204"/>
            <a:chExt cx="3057604" cy="360000"/>
          </a:xfrm>
        </p:grpSpPr>
        <p:sp>
          <p:nvSpPr>
            <p:cNvPr id="187" name="Google Shape;187;p29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8" name="Google Shape;188;p29"/>
            <p:cNvSpPr txBox="1"/>
            <p:nvPr/>
          </p:nvSpPr>
          <p:spPr>
            <a:xfrm>
              <a:off x="4" y="-76204"/>
              <a:ext cx="30576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           Dudas de la clase anterior ?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9" name="Google Shape;189;p29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0" name="Google Shape;190;p29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91" name="Google Shape;191;p29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2" name="Google Shape;192;p29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i="0" lang="en-US" sz="2799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RECORDATORIOS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3" name="Google Shape;193;p29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29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10810698" y="2050325"/>
            <a:ext cx="6992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96" name="Google Shape;196;p29"/>
          <p:cNvGrpSpPr/>
          <p:nvPr/>
        </p:nvGrpSpPr>
        <p:grpSpPr>
          <a:xfrm>
            <a:off x="11323980" y="4302681"/>
            <a:ext cx="5409693" cy="1701230"/>
            <a:chOff x="0" y="-114320"/>
            <a:chExt cx="1424766" cy="448058"/>
          </a:xfrm>
        </p:grpSpPr>
        <p:sp>
          <p:nvSpPr>
            <p:cNvPr id="197" name="Google Shape;197;p29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8" name="Google Shape;198;p29"/>
            <p:cNvSpPr txBox="1"/>
            <p:nvPr/>
          </p:nvSpPr>
          <p:spPr>
            <a:xfrm>
              <a:off x="129066" y="-11432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i="0" lang="en-US" sz="4499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Link del Video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9" name="Google Shape;199;p29"/>
          <p:cNvGrpSpPr/>
          <p:nvPr/>
        </p:nvGrpSpPr>
        <p:grpSpPr>
          <a:xfrm>
            <a:off x="11323980" y="6102805"/>
            <a:ext cx="5442718" cy="1701155"/>
            <a:chOff x="0" y="-114300"/>
            <a:chExt cx="1433464" cy="448038"/>
          </a:xfrm>
        </p:grpSpPr>
        <p:sp>
          <p:nvSpPr>
            <p:cNvPr id="200" name="Google Shape;200;p29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1" name="Google Shape;201;p29"/>
            <p:cNvSpPr txBox="1"/>
            <p:nvPr/>
          </p:nvSpPr>
          <p:spPr>
            <a:xfrm>
              <a:off x="137764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>
                  <a:latin typeface="Montserrat"/>
                  <a:ea typeface="Montserrat"/>
                  <a:cs typeface="Montserrat"/>
                  <a:sym typeface="Montserrat"/>
                </a:rPr>
                <a:t>Actividad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2" name="Google Shape;202;p29"/>
          <p:cNvGrpSpPr/>
          <p:nvPr/>
        </p:nvGrpSpPr>
        <p:grpSpPr>
          <a:xfrm>
            <a:off x="176634" y="5465950"/>
            <a:ext cx="12816807" cy="845568"/>
            <a:chOff x="0" y="-66983"/>
            <a:chExt cx="2146941" cy="360000"/>
          </a:xfrm>
        </p:grpSpPr>
        <p:sp>
          <p:nvSpPr>
            <p:cNvPr id="203" name="Google Shape;203;p29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4" name="Google Shape;204;p29"/>
            <p:cNvSpPr txBox="1"/>
            <p:nvPr/>
          </p:nvSpPr>
          <p:spPr>
            <a:xfrm>
              <a:off x="268341" y="-66983"/>
              <a:ext cx="18786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Convenciones de nomenclatura  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5" name="Google Shape;205;p29"/>
          <p:cNvGrpSpPr/>
          <p:nvPr/>
        </p:nvGrpSpPr>
        <p:grpSpPr>
          <a:xfrm>
            <a:off x="1778569" y="6411412"/>
            <a:ext cx="4613562" cy="845568"/>
            <a:chOff x="0" y="-76200"/>
            <a:chExt cx="1964221" cy="360000"/>
          </a:xfrm>
        </p:grpSpPr>
        <p:sp>
          <p:nvSpPr>
            <p:cNvPr id="206" name="Google Shape;206;p29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7" name="Google Shape;207;p29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Tipos de Nomenclatura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8" name="Google Shape;208;p29"/>
          <p:cNvGrpSpPr/>
          <p:nvPr/>
        </p:nvGrpSpPr>
        <p:grpSpPr>
          <a:xfrm>
            <a:off x="176625" y="7349451"/>
            <a:ext cx="8496857" cy="845568"/>
            <a:chOff x="0" y="-76201"/>
            <a:chExt cx="2010900" cy="360000"/>
          </a:xfrm>
        </p:grpSpPr>
        <p:sp>
          <p:nvSpPr>
            <p:cNvPr id="209" name="Google Shape;209;p29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0" name="Google Shape;210;p29"/>
            <p:cNvSpPr txBox="1"/>
            <p:nvPr/>
          </p:nvSpPr>
          <p:spPr>
            <a:xfrm>
              <a:off x="0" y="-76201"/>
              <a:ext cx="2010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Uso de métodos y Funciones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1" name="Google Shape;211;p29"/>
          <p:cNvGrpSpPr/>
          <p:nvPr/>
        </p:nvGrpSpPr>
        <p:grpSpPr>
          <a:xfrm>
            <a:off x="176625" y="8412922"/>
            <a:ext cx="7710353" cy="845568"/>
            <a:chOff x="0" y="-76200"/>
            <a:chExt cx="1964221" cy="360000"/>
          </a:xfrm>
        </p:grpSpPr>
        <p:sp>
          <p:nvSpPr>
            <p:cNvPr id="212" name="Google Shape;212;p29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3" name="Google Shape;213;p29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         </a:t>
              </a: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Métodos en Programacion</a:t>
              </a:r>
              <a:endParaRPr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4" name="Google Shape;214;p29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9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29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29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8" name="Google Shape;218;p29"/>
          <p:cNvGrpSpPr/>
          <p:nvPr/>
        </p:nvGrpSpPr>
        <p:grpSpPr>
          <a:xfrm>
            <a:off x="5171164" y="2888394"/>
            <a:ext cx="4934842" cy="1807681"/>
            <a:chOff x="-215867" y="-142356"/>
            <a:chExt cx="1299703" cy="476094"/>
          </a:xfrm>
        </p:grpSpPr>
        <p:sp>
          <p:nvSpPr>
            <p:cNvPr id="219" name="Google Shape;219;p29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0" name="Google Shape;220;p29"/>
            <p:cNvSpPr txBox="1"/>
            <p:nvPr/>
          </p:nvSpPr>
          <p:spPr>
            <a:xfrm>
              <a:off x="-215867" y="-142356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lang="en-US" sz="3299">
                  <a:latin typeface="Montserrat"/>
                  <a:ea typeface="Montserrat"/>
                  <a:cs typeface="Montserrat"/>
                  <a:sym typeface="Montserrat"/>
                </a:rPr>
                <a:t>Foro 2</a:t>
              </a:r>
              <a:endParaRPr b="1" i="0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1" name="Google Shape;221;p29"/>
          <p:cNvSpPr/>
          <p:nvPr/>
        </p:nvSpPr>
        <p:spPr>
          <a:xfrm>
            <a:off x="7919554" y="3212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9"/>
          <p:cNvSpPr txBox="1"/>
          <p:nvPr/>
        </p:nvSpPr>
        <p:spPr>
          <a:xfrm>
            <a:off x="11630000" y="5589800"/>
            <a:ext cx="53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https://www.youtube.com/watch?v=PqV8EalcxZ0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21800" y="5497400"/>
            <a:ext cx="1108200" cy="1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41300" y="7349461"/>
            <a:ext cx="3333241" cy="1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0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94425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/>
        </p:nvSpPr>
        <p:spPr>
          <a:xfrm>
            <a:off x="2148439" y="29596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2457601" y="4207650"/>
            <a:ext cx="133728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estudiante necesita ser disciplinado para aprender y practicar la sintaxis del lenguaje de manera correcta.</a:t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4" name="Google Shape;23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94300" y="7348525"/>
            <a:ext cx="4293699" cy="2863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/>
        </p:nvSpPr>
        <p:spPr>
          <a:xfrm>
            <a:off x="1130250" y="3199700"/>
            <a:ext cx="12857700" cy="6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</a:t>
            </a: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convenciones de nomenclatura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 programación son un conjunto de reglas y directrices estandarizadas para nombrar variables, funciones, clases, paquetes y otras entidades dentro del código. Su propósito principal no es afectar la lógica del programa, sino mejorar significativamente su </a:t>
            </a: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legibilidad, comprensión y mantenimiento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Propósito e Importancia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Legibilidad y Comprensión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Facilitan que tanto el desarrollador original como otros programadores entiendan rápidamente la función y el propósito de un identificador con solo leer su nombre.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Mantenimiento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Un código consistente y fácil de leer es más sencillo de depurar, modificar y mantener a largo plazo.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Colaboración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En equipos de desarrollo, seguir un estándar común garantiza la coherencia en todo el proyecto, facilitando la colaboración efectiva entre los miembros.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Coherencia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Establecen un estilo uniforme en todo el código base, lo cual es crucial para proyectos grandes y complejos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just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1130250" y="844875"/>
            <a:ext cx="109659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Qué son las convenciones de 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nomenclatura en </a:t>
            </a: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Programación</a:t>
            </a: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?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descr="Tipos de convenciones de nombres de variables" id="242" name="Google Shape;2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6150" y="4844325"/>
            <a:ext cx="3676701" cy="24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32"/>
          <p:cNvSpPr txBox="1"/>
          <p:nvPr/>
        </p:nvSpPr>
        <p:spPr>
          <a:xfrm>
            <a:off x="606150" y="2078175"/>
            <a:ext cx="17123400" cy="180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camelCase</a:t>
            </a:r>
            <a: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8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 utiliza para variables y funciones. La primera palabra va en minúsculas y las siguientes palabras comienzan con mayúsculas, por ejemplo, miVariable o calcularTotal</a:t>
            </a:r>
            <a:endParaRPr sz="28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150" y="4247950"/>
            <a:ext cx="5908950" cy="311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 txBox="1"/>
          <p:nvPr/>
        </p:nvSpPr>
        <p:spPr>
          <a:xfrm>
            <a:off x="606151" y="974400"/>
            <a:ext cx="11611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Tipos de nomenclatura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51" name="Google Shape;25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40200" y="5819250"/>
            <a:ext cx="9189360" cy="335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33"/>
          <p:cNvSpPr txBox="1"/>
          <p:nvPr/>
        </p:nvSpPr>
        <p:spPr>
          <a:xfrm>
            <a:off x="606150" y="2078175"/>
            <a:ext cx="17123400" cy="266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 u="sng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PascalCase</a:t>
            </a:r>
            <a: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 usa para clases y constructores. La primera letra de cada palabra va en mayúsculas, por ejemplo, MiClase o FormularioUsuario. </a:t>
            </a:r>
            <a:endParaRPr sz="28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3"/>
          <p:cNvSpPr txBox="1"/>
          <p:nvPr/>
        </p:nvSpPr>
        <p:spPr>
          <a:xfrm>
            <a:off x="606151" y="974400"/>
            <a:ext cx="11611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Tipos de nomenclatura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59" name="Google Shape;25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6025" y="4503725"/>
            <a:ext cx="7063645" cy="52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34"/>
          <p:cNvSpPr txBox="1"/>
          <p:nvPr/>
        </p:nvSpPr>
        <p:spPr>
          <a:xfrm>
            <a:off x="606150" y="2078175"/>
            <a:ext cx="17123400" cy="290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 u="sng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SCREAMING_SNAKE_CASE</a:t>
            </a:r>
            <a: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 utiliza para constantes. Todas las letras van en mayúsculas y las palabras se separan por guiones bajos, por ejemplo, MAX_NUMERO o API_KEY. </a:t>
            </a:r>
            <a:endParaRPr sz="28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375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606151" y="974400"/>
            <a:ext cx="11611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Tipos de nomenclatura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67" name="Google Shape;26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9850" y="4165525"/>
            <a:ext cx="9078254" cy="287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52850" y="6018073"/>
            <a:ext cx="6976700" cy="33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35"/>
          <p:cNvSpPr txBox="1"/>
          <p:nvPr/>
        </p:nvSpPr>
        <p:spPr>
          <a:xfrm>
            <a:off x="2883501" y="1711775"/>
            <a:ext cx="11611800" cy="25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78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Que tipo de nomenclatura uso ?</a:t>
            </a:r>
            <a:endParaRPr sz="78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75" name="Google Shape;27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450" y="4421125"/>
            <a:ext cx="5908950" cy="311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2800" y="5542800"/>
            <a:ext cx="5220950" cy="38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17450" y="3277475"/>
            <a:ext cx="6056099" cy="191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/>
        </p:nvSpPr>
        <p:spPr>
          <a:xfrm>
            <a:off x="1218550" y="845250"/>
            <a:ext cx="16337700" cy="6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Estilos de código:</a:t>
            </a:r>
            <a:endParaRPr b="1" sz="31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Comentarios:</a:t>
            </a:r>
            <a:b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 recomienda usar comentarios de una sola línea (//) para explicar secciones de código y proporcionar contexto. </a:t>
            </a:r>
            <a:endParaRPr sz="3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Consistencia:</a:t>
            </a:r>
            <a:b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Es fundamental mantener la coherencia en el estilo de código en todo el proyecto. </a:t>
            </a:r>
            <a:endParaRPr sz="3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Herramientas:</a:t>
            </a:r>
            <a:b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Utiliza herramientas como </a:t>
            </a:r>
            <a:r>
              <a:rPr lang="en-US" sz="3000" u="sng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ESLint</a:t>
            </a:r>
            <a:r>
              <a:rPr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para automatizar la aplicación de convenciones y estilos de código, lo que simplifica el proceso de desarrollo. </a:t>
            </a:r>
            <a:endParaRPr sz="3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56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4" name="Google Shape;28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2725" y="6830525"/>
            <a:ext cx="5189350" cy="291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/>
        </p:nvSpPr>
        <p:spPr>
          <a:xfrm>
            <a:off x="1374900" y="2440475"/>
            <a:ext cx="161598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Funciones</a:t>
            </a:r>
            <a:endParaRPr b="1" sz="28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Las funciones son como recetas. Pueden ejecutar un conjunto de instrucciones sobre datos o variables y devolver el resultado. La belleza de las funciones es que son reciclables. Es decir, la función se puede utilizar repetidamente sin tener que volver a escribir el mismo código.</a:t>
            </a:r>
            <a:endParaRPr sz="26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48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920323" y="611100"/>
            <a:ext cx="115056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52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Definición y Uso de Métodos y Funciones</a:t>
            </a:r>
            <a:endParaRPr b="0" i="0" sz="6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91" name="Google Shape;2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188" y="4972801"/>
            <a:ext cx="9115225" cy="40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/>
        </p:nvSpPr>
        <p:spPr>
          <a:xfrm>
            <a:off x="1258950" y="2072475"/>
            <a:ext cx="16449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Tanto los valores de cadena como los de array contienen, además de la propiedad length,</a:t>
            </a:r>
            <a:endParaRPr sz="2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varias propiedades que contienen valores de función.</a:t>
            </a:r>
            <a:endParaRPr i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Métodos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99" name="Google Shape;2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639" y="3429001"/>
            <a:ext cx="7981625" cy="379475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8"/>
          <p:cNvSpPr txBox="1"/>
          <p:nvPr/>
        </p:nvSpPr>
        <p:spPr>
          <a:xfrm>
            <a:off x="1316850" y="7728250"/>
            <a:ext cx="16333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Montserrat"/>
                <a:ea typeface="Montserrat"/>
                <a:cs typeface="Montserrat"/>
                <a:sym typeface="Montserrat"/>
              </a:rPr>
              <a:t>Cada cadena de texto tiene una propiedad toUpperCase. Cuando se llama, devolverá una copia de la cadena en la que todas las letras se han convertido a mayúsculas. También existe toLowerCase, que hace lo contrario.</a:t>
            </a:r>
            <a:endParaRPr sz="2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7" name="Google Shape;3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9063" y="5452177"/>
            <a:ext cx="5649175" cy="4285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9"/>
          <p:cNvSpPr txBox="1"/>
          <p:nvPr/>
        </p:nvSpPr>
        <p:spPr>
          <a:xfrm>
            <a:off x="974150" y="1711775"/>
            <a:ext cx="165390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Montserrat"/>
                <a:ea typeface="Montserrat"/>
                <a:cs typeface="Montserrat"/>
                <a:sym typeface="Montserrat"/>
              </a:rPr>
              <a:t>El método push agrega valores al final de un array. El método pop hace lo opuesto, eliminando el último valor en el array y devolviéndole. 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Montserrat"/>
                <a:ea typeface="Montserrat"/>
                <a:cs typeface="Montserrat"/>
                <a:sym typeface="Montserrat"/>
              </a:rPr>
              <a:t>Estos nombres un tanto peculiares son términos tradicionales para operaciones en una pila. Una pila, en programación, es una estructura de datos que te permite agregar valores a ella y sacarlos en el orden opuesto para que lo que se agregó último se elimine primero.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974139" y="53038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Métodos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/>
        </p:nvSpPr>
        <p:spPr>
          <a:xfrm>
            <a:off x="947889" y="959041"/>
            <a:ext cx="12625500" cy="3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Buenas Prácticas en Métodos</a:t>
            </a:r>
            <a:endParaRPr b="1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b="1"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Nombres descriptivos:</a:t>
            </a:r>
            <a:r>
              <a:rPr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greet</a:t>
            </a:r>
            <a:r>
              <a:rPr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(), no metodo1().</a:t>
            </a:r>
            <a:endParaRPr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Comentarios</a:t>
            </a:r>
            <a:endParaRPr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b="1" lang="en-US" sz="3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Declaración de Variables</a:t>
            </a:r>
            <a:endParaRPr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6" name="Google Shape;31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6625" y="4360225"/>
            <a:ext cx="7444126" cy="3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0874" y="4986427"/>
            <a:ext cx="8006999" cy="414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/>
          <p:nvPr/>
        </p:nvSpPr>
        <p:spPr>
          <a:xfrm>
            <a:off x="2392340" y="2220713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CLAVES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2170527" y="3791675"/>
            <a:ext cx="14454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Convenciones de Nombres y Estilo</a:t>
            </a:r>
            <a:endParaRPr b="1"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</a:t>
            </a: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PascalCase: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Clases (UsuarioService).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camelCase: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Métodos/variables (calcularSaldo).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MAYÚSCULAS: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Constantes (MAX_CONEXIONES).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Legibilidad: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Indentación, nombres descriptivos, comentarios útiles.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4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5" name="Google Shape;32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0050" y="8069000"/>
            <a:ext cx="3267950" cy="22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/>
        </p:nvSpPr>
        <p:spPr>
          <a:xfrm>
            <a:off x="2392340" y="236700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CLAVES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1" name="Google Shape;331;p42"/>
          <p:cNvSpPr txBox="1"/>
          <p:nvPr/>
        </p:nvSpPr>
        <p:spPr>
          <a:xfrm>
            <a:off x="2206325" y="4084225"/>
            <a:ext cx="144462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Métodos y funciones</a:t>
            </a:r>
            <a:endParaRPr b="1"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 Propósito único: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Un método = una responsabilidad (SOLID).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 Reutilización: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Evita código duplicado.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✔ Regla de oro:</a:t>
            </a:r>
            <a:r>
              <a:rPr i="0" lang="en-US" sz="3151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Métodos cortos (&lt; 30 líneas) y nombres descriptivos.</a:t>
            </a:r>
            <a:endParaRPr i="0" sz="3151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2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33" name="Google Shape;33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0050" y="8069000"/>
            <a:ext cx="3267950" cy="22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2392340" y="255025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DISCIPLINA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2633375" y="4373850"/>
            <a:ext cx="13654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La disciplina se refiere a la constancia y la capacidad de mantener un hábito de estudio ordenado y enfocado.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3"/>
          <p:cNvSpPr/>
          <p:nvPr/>
        </p:nvSpPr>
        <p:spPr>
          <a:xfrm>
            <a:off x="14633875" y="0"/>
            <a:ext cx="3649149" cy="1061304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41" name="Google Shape;34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3875" y="6721025"/>
            <a:ext cx="3148658" cy="31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47" name="Google Shape;347;p44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 txBox="1"/>
          <p:nvPr/>
        </p:nvSpPr>
        <p:spPr>
          <a:xfrm>
            <a:off x="3259357" y="4882700"/>
            <a:ext cx="1176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600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https://www.codecademy.com/article/fwd-js-methods-functions</a:t>
            </a:r>
            <a:endParaRPr i="0" sz="26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4827450" y="5577900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Montserrat"/>
                <a:ea typeface="Montserrat"/>
                <a:cs typeface="Montserrat"/>
                <a:sym typeface="Montserrat"/>
              </a:rPr>
              <a:t>https://trio.dev/javascript-best-practices/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/>
        </p:nvSpPr>
        <p:spPr>
          <a:xfrm>
            <a:off x="2858500" y="4443050"/>
            <a:ext cx="70836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74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</a:t>
            </a:r>
            <a:br>
              <a:rPr b="0" i="0" lang="en-US" sz="74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b="0" i="0" lang="en-US" sz="74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práctico</a:t>
            </a:r>
            <a:endParaRPr b="0" i="0" sz="28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55" name="Google Shape;355;p45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1600" y="2994076"/>
            <a:ext cx="8028000" cy="53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62" name="Google Shape;362;p46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lustración Vectorial De Dibujos Animados En El Lugar De Trabajo  Ilustración del Vector - Ilustración de libreta, plano: 197884868" id="363" name="Google Shape;36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8600" y="5867400"/>
            <a:ext cx="66294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/>
        </p:nvSpPr>
        <p:spPr>
          <a:xfrm>
            <a:off x="5791477" y="7667628"/>
            <a:ext cx="6705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1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DUDAS ¿?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9" name="Google Shape;369;p47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197582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/>
        </p:nvSpPr>
        <p:spPr>
          <a:xfrm>
            <a:off x="2815350" y="5377525"/>
            <a:ext cx="126573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¡GRACIAS POR SU ATENCIÓN!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1" i="0" sz="6099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7765363" y="138422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6" name="Google Shape;376;p48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