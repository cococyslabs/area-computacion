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8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</p:sldIdLst>
  <p:sldSz cx="18288000" cy="10287000"/>
  <p:notesSz cx="6858000" cy="9144000"/>
  <p:embeddedFontLst>
    <p:embeddedFont>
      <p:font typeface="Impact" panose="020B0806030902050204" pitchFamily="34" charset="0"/>
      <p:regular r:id="rId33"/>
    </p:embeddedFont>
    <p:embeddedFont>
      <p:font typeface="Lobster" panose="00000500000000000000" pitchFamily="2" charset="0"/>
      <p:regular r:id="rId34"/>
    </p:embeddedFont>
    <p:embeddedFont>
      <p:font typeface="Montserrat" panose="00000500000000000000" pitchFamily="2" charset="0"/>
      <p:regular r:id="rId35"/>
      <p:bold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Pacifico" panose="00000500000000000000" pitchFamily="2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jzHJqWqhzwEBDXzytYeL34558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D0D730-AD71-4C7B-A4B5-7AA99F169CB1}">
  <a:tblStyle styleId="{09D0D730-AD71-4C7B-A4B5-7AA99F169C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4f2621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4f2621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afea4f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64afea4f6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7"/>
          <p:cNvGraphicFramePr/>
          <p:nvPr/>
        </p:nvGraphicFramePr>
        <p:xfrm>
          <a:off x="10656400" y="1940050"/>
          <a:ext cx="738115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de x de 2026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xx:xx - xxxx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27"/>
          <p:cNvSpPr txBox="1"/>
          <p:nvPr/>
        </p:nvSpPr>
        <p:spPr>
          <a:xfrm>
            <a:off x="2828250" y="4787100"/>
            <a:ext cx="14446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X</a:t>
            </a:r>
            <a:endParaRPr sz="5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658250" y="6354150"/>
            <a:ext cx="8971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Nombre del Tutor : XXXXX</a:t>
            </a:r>
            <a:endParaRPr sz="4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 extrusionOk="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6" name="Google Shape;96;p1"/>
          <p:cNvSpPr txBox="1"/>
          <p:nvPr/>
        </p:nvSpPr>
        <p:spPr>
          <a:xfrm>
            <a:off x="629910" y="6505712"/>
            <a:ext cx="8526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ES" sz="5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</a:t>
            </a:r>
            <a:r>
              <a:rPr lang="es-ES" sz="5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programacion</a:t>
            </a:r>
            <a:endParaRPr lang="es-ES" sz="50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9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Lexico</a:t>
            </a:r>
            <a:endParaRPr lang="en-US" sz="9600"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79368"/>
            <a:ext cx="8298641" cy="845385"/>
            <a:chOff x="0" y="-51130"/>
            <a:chExt cx="3533149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523259" y="-51130"/>
              <a:ext cx="3009890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r>
                <a:rPr lang="es-ES" sz="2800" dirty="0" err="1"/>
                <a:t>Conversion</a:t>
              </a:r>
              <a:r>
                <a:rPr lang="es-ES" sz="2800" dirty="0"/>
                <a:t> AFN a AFD Método del Árbol </a:t>
              </a: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1739805" y="3232617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76619" y="5485963"/>
            <a:ext cx="7002104" cy="845385"/>
            <a:chOff x="0" y="-58463"/>
            <a:chExt cx="2981148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523259" y="-58463"/>
              <a:ext cx="2457889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r>
                <a:rPr lang="es-ES" sz="2800" dirty="0" err="1"/>
                <a:t>Conversion</a:t>
              </a:r>
              <a:r>
                <a:rPr lang="es-ES" sz="2800" dirty="0"/>
                <a:t> AFN a AFD Anulables </a:t>
              </a: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9" name="Google Shape;139;p2"/>
          <p:cNvSpPr/>
          <p:nvPr/>
        </p:nvSpPr>
        <p:spPr>
          <a:xfrm>
            <a:off x="12103394" y="5299435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" name="Google Shape;135;p2">
            <a:extLst>
              <a:ext uri="{FF2B5EF4-FFF2-40B4-BE49-F238E27FC236}">
                <a16:creationId xmlns:a16="http://schemas.microsoft.com/office/drawing/2014/main" id="{5AE60C82-B0AB-DD22-45A5-94671649BF31}"/>
              </a:ext>
            </a:extLst>
          </p:cNvPr>
          <p:cNvSpPr/>
          <p:nvPr/>
        </p:nvSpPr>
        <p:spPr>
          <a:xfrm>
            <a:off x="802021" y="661380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125;p2">
            <a:extLst>
              <a:ext uri="{FF2B5EF4-FFF2-40B4-BE49-F238E27FC236}">
                <a16:creationId xmlns:a16="http://schemas.microsoft.com/office/drawing/2014/main" id="{E0650C82-B7D4-5C47-5367-C3EF5B278FE4}"/>
              </a:ext>
            </a:extLst>
          </p:cNvPr>
          <p:cNvSpPr txBox="1"/>
          <p:nvPr/>
        </p:nvSpPr>
        <p:spPr>
          <a:xfrm>
            <a:off x="1405646" y="6507199"/>
            <a:ext cx="6537351" cy="84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r>
              <a:rPr lang="es-ES" sz="2800" dirty="0" err="1"/>
              <a:t>Conversion</a:t>
            </a:r>
            <a:r>
              <a:rPr lang="es-ES" sz="2800" dirty="0"/>
              <a:t> AFN a AFD Cálculo de</a:t>
            </a:r>
          </a:p>
          <a:p>
            <a:r>
              <a:rPr lang="es-ES" sz="2800" dirty="0" err="1"/>
              <a:t>First</a:t>
            </a:r>
            <a:r>
              <a:rPr lang="es-ES" sz="2800" dirty="0"/>
              <a:t>, </a:t>
            </a:r>
            <a:r>
              <a:rPr lang="es-ES" sz="2800" dirty="0" err="1"/>
              <a:t>Last</a:t>
            </a:r>
            <a:r>
              <a:rPr lang="es-ES" sz="2800" dirty="0"/>
              <a:t> y Next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603847" y="3265762"/>
            <a:ext cx="9473377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</a:pPr>
            <a:r>
              <a:rPr lang="es-ES" sz="3200" dirty="0">
                <a:solidFill>
                  <a:srgbClr val="131416"/>
                </a:solidFill>
                <a:latin typeface="Impact"/>
              </a:rPr>
              <a:t>El estudiante aplica el análisis léxico mediante el uso de expresiones regulares para solucionar problemas que requieran el reconocimiento de lenguajes. </a:t>
            </a:r>
          </a:p>
        </p:txBody>
      </p:sp>
      <p:sp>
        <p:nvSpPr>
          <p:cNvPr id="147" name="Google Shape;147;p3"/>
          <p:cNvSpPr/>
          <p:nvPr/>
        </p:nvSpPr>
        <p:spPr>
          <a:xfrm>
            <a:off x="14077224" y="6223378"/>
            <a:ext cx="3994644" cy="361840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56943"/>
            <a:ext cx="4210776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14470777" y="6578220"/>
            <a:ext cx="3435086" cy="349557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739367-F0B4-50B8-1176-B5FBF0354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666" y="970145"/>
            <a:ext cx="14796654" cy="735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Introducción a la conversión de AFN a AFD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/>
              <a:t>Un AFN (Autómata Finito No Determinista) puede tener múltiples transiciones para un mismo símbolo o incluso transiciones vacías (ε).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/>
              <a:t>Un AFD (Autómata Finito Determinista), en cambio, solo permite una transición por símbolo desde cada estado.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sz="2400" dirty="0"/>
              <a:t>La conversión de un AFN a un AFD permite simplificar el análisis léxico y facilitar la implementación de analizadores sintácticos.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GT" altLang="es-G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2. 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Método del Árbol (Representación Posicional)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/>
              <a:t>Se utiliza en el contexto de expresiones regulares convertidas a árboles sintácticos binarios.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GT" sz="2400" dirty="0"/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/>
              <a:t>Cada hoja del árbol representa un símbolo de la expresión regular con una posición única.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altLang="es-GT" sz="2400" dirty="0"/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/>
              <a:t>Se etiquetan nodos internos con operaciones como concatenación, unión (|), y cerradura (*).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altLang="es-GT" sz="2400" dirty="0"/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/>
              <a:t>A cada nodo se le calculan tres conjuntos: </a:t>
            </a:r>
            <a:r>
              <a:rPr lang="es-ES" altLang="es-GT" sz="2400" dirty="0" err="1"/>
              <a:t>nullable</a:t>
            </a:r>
            <a:r>
              <a:rPr lang="es-ES" altLang="es-GT" sz="2400" dirty="0"/>
              <a:t>, </a:t>
            </a:r>
            <a:r>
              <a:rPr lang="es-ES" altLang="es-GT" sz="2400" dirty="0" err="1"/>
              <a:t>firstpos</a:t>
            </a:r>
            <a:r>
              <a:rPr lang="es-ES" altLang="es-GT" sz="2400" dirty="0"/>
              <a:t>, y </a:t>
            </a:r>
            <a:r>
              <a:rPr lang="es-ES" altLang="es-GT" sz="2400" dirty="0" err="1"/>
              <a:t>lastpos</a:t>
            </a:r>
            <a:r>
              <a:rPr lang="es-ES" altLang="es-GT" sz="2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C341DA-6502-E204-E5B9-B5B8D0877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493" y="6500747"/>
            <a:ext cx="5961846" cy="29549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68D0F04-3A16-1265-6FB7-8B1F76407E24}"/>
              </a:ext>
            </a:extLst>
          </p:cNvPr>
          <p:cNvSpPr txBox="1"/>
          <p:nvPr/>
        </p:nvSpPr>
        <p:spPr>
          <a:xfrm>
            <a:off x="1064526" y="499240"/>
            <a:ext cx="14862412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GT" sz="3200" dirty="0">
                <a:solidFill>
                  <a:srgbClr val="131416"/>
                </a:solidFill>
                <a:latin typeface="Impact"/>
              </a:rPr>
              <a:t>Conversión de AFN a AFD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Definiciones Fundamentales</a:t>
            </a:r>
          </a:p>
          <a:p>
            <a:pPr>
              <a:buNone/>
            </a:pPr>
            <a:r>
              <a:rPr lang="es-ES" sz="3200" b="1" dirty="0"/>
              <a:t>AFN (Autómata Finito No Determinista):</a:t>
            </a: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  Puede tener múltiples transiciones para un mismo símbolo desde un estado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  Permite transiciones vacías (ε-transiciones)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  Ventajas: Mayor expresividad, construcción más intuitiva desde expresiones regulares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  Desventajas: Complejidad en la simulación, requiere </a:t>
            </a:r>
            <a:r>
              <a:rPr lang="es-ES" sz="3200" dirty="0" err="1"/>
              <a:t>backtracking</a:t>
            </a:r>
            <a:endParaRPr lang="es-ES" sz="3200" dirty="0"/>
          </a:p>
          <a:p>
            <a:endParaRPr lang="es-ES" sz="3200" dirty="0"/>
          </a:p>
          <a:p>
            <a:r>
              <a:rPr lang="es-ES" sz="3200" b="1" dirty="0"/>
              <a:t>AFD (Autómata Finito Determinista):</a:t>
            </a: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Una única transición por símbolo desde cada estado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No permite transiciones vacías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Ventajas: Ejecución eficiente O(n), implementación directa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Desventajas: Puede tener exponencialmente más estados</a:t>
            </a:r>
          </a:p>
          <a:p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69950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DB5B4CD-4163-CE1B-949C-66A174F7264D}"/>
              </a:ext>
            </a:extLst>
          </p:cNvPr>
          <p:cNvSpPr txBox="1"/>
          <p:nvPr/>
        </p:nvSpPr>
        <p:spPr>
          <a:xfrm>
            <a:off x="1433013" y="725186"/>
            <a:ext cx="1562668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Importancia de la Conversión</a:t>
            </a:r>
          </a:p>
          <a:p>
            <a:pPr>
              <a:buNone/>
            </a:pPr>
            <a:r>
              <a:rPr lang="es-ES" sz="3600" dirty="0"/>
              <a:t>La conversión de AFN a AFD es crucial porque: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Los analizadores léxicos requieren determinismo para eficiencia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Facilita la implementación en compiladores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Permite optimizaciones adicionales (minimización)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Garantiza tiempo de ejecución lineal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None/>
            </a:pPr>
            <a:r>
              <a:rPr lang="es-ES" sz="3600" b="1" dirty="0"/>
              <a:t>Métodos de Conversión Existentes</a:t>
            </a:r>
          </a:p>
          <a:p>
            <a:pPr>
              <a:buFont typeface="+mj-lt"/>
              <a:buAutoNum type="arabicPeriod"/>
            </a:pPr>
            <a:r>
              <a:rPr lang="es-ES" sz="3600" dirty="0"/>
              <a:t>Construcción de subconjuntos (Thompson-</a:t>
            </a:r>
            <a:r>
              <a:rPr lang="es-ES" sz="3600" dirty="0" err="1"/>
              <a:t>McNaughton</a:t>
            </a:r>
            <a:r>
              <a:rPr lang="es-ES" sz="3600" dirty="0"/>
              <a:t>-</a:t>
            </a:r>
            <a:r>
              <a:rPr lang="es-ES" sz="3600" dirty="0" err="1"/>
              <a:t>Yamada</a:t>
            </a:r>
            <a:r>
              <a:rPr lang="es-ES" sz="3600" dirty="0"/>
              <a:t>)</a:t>
            </a:r>
          </a:p>
          <a:p>
            <a:pPr>
              <a:buFont typeface="+mj-lt"/>
              <a:buAutoNum type="arabicPeriod"/>
            </a:pPr>
            <a:r>
              <a:rPr lang="es-ES" sz="3600" dirty="0"/>
              <a:t>Método del árbol (Berry-</a:t>
            </a:r>
            <a:r>
              <a:rPr lang="es-ES" sz="3600" dirty="0" err="1"/>
              <a:t>Sethi</a:t>
            </a:r>
            <a:r>
              <a:rPr lang="es-ES" sz="3600" dirty="0"/>
              <a:t>)</a:t>
            </a:r>
          </a:p>
          <a:p>
            <a:pPr>
              <a:buFont typeface="+mj-lt"/>
              <a:buAutoNum type="arabicPeriod"/>
            </a:pPr>
            <a:r>
              <a:rPr lang="es-ES" sz="3600" dirty="0"/>
              <a:t>Algoritmo de </a:t>
            </a:r>
            <a:r>
              <a:rPr lang="es-ES" sz="3600" dirty="0" err="1"/>
              <a:t>Brzozowski</a:t>
            </a:r>
            <a:endParaRPr lang="es-ES" sz="3600" dirty="0"/>
          </a:p>
        </p:txBody>
      </p:sp>
      <p:pic>
        <p:nvPicPr>
          <p:cNvPr id="6" name="Picture 6" descr="Árboles">
            <a:extLst>
              <a:ext uri="{FF2B5EF4-FFF2-40B4-BE49-F238E27FC236}">
                <a16:creationId xmlns:a16="http://schemas.microsoft.com/office/drawing/2014/main" id="{0A697838-3BAA-2BF4-0F05-B1B04E22E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228" y="6911495"/>
            <a:ext cx="3190724" cy="239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allery image">
            <a:extLst>
              <a:ext uri="{FF2B5EF4-FFF2-40B4-BE49-F238E27FC236}">
                <a16:creationId xmlns:a16="http://schemas.microsoft.com/office/drawing/2014/main" id="{FB55021E-DA8E-F2BC-AE20-812F6FB49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4145" y="7440555"/>
            <a:ext cx="4271749" cy="133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35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F3AEEB2-F592-DF82-713C-AED98EA39FEF}"/>
              </a:ext>
            </a:extLst>
          </p:cNvPr>
          <p:cNvSpPr txBox="1"/>
          <p:nvPr/>
        </p:nvSpPr>
        <p:spPr>
          <a:xfrm>
            <a:off x="1235122" y="1434868"/>
            <a:ext cx="1581775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Método del Árbol (Representación Posicional)</a:t>
            </a:r>
          </a:p>
          <a:p>
            <a:pPr>
              <a:buNone/>
            </a:pPr>
            <a:r>
              <a:rPr lang="es-ES" sz="3200" b="1" dirty="0"/>
              <a:t>Fundamentos Teóricos</a:t>
            </a:r>
          </a:p>
          <a:p>
            <a:pPr>
              <a:buNone/>
            </a:pPr>
            <a:r>
              <a:rPr lang="es-ES" sz="3200" dirty="0"/>
              <a:t>El método del árbol, también conocido como algoritmo de Berry-</a:t>
            </a:r>
            <a:r>
              <a:rPr lang="es-ES" sz="3200" dirty="0" err="1"/>
              <a:t>Sethi</a:t>
            </a:r>
            <a:r>
              <a:rPr lang="es-ES" sz="3200" dirty="0"/>
              <a:t>, convierte una expresión regular directamente a AFD sin construir primero un AFN intermedio.</a:t>
            </a:r>
          </a:p>
          <a:p>
            <a:pPr>
              <a:buNone/>
            </a:pPr>
            <a:endParaRPr lang="es-ES" sz="3200" dirty="0"/>
          </a:p>
          <a:p>
            <a:pPr>
              <a:buNone/>
            </a:pPr>
            <a:r>
              <a:rPr lang="es-ES" sz="3200" b="1" dirty="0"/>
              <a:t>Construcción del Árbol Sintáctico</a:t>
            </a:r>
          </a:p>
          <a:p>
            <a:pPr>
              <a:buNone/>
            </a:pPr>
            <a:r>
              <a:rPr lang="es-ES" sz="3200" b="1" dirty="0"/>
              <a:t>Pasos para construir el árbol: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b="1" dirty="0"/>
              <a:t>Aumentar la expresión regular:</a:t>
            </a:r>
            <a:r>
              <a:rPr lang="es-ES" sz="3200" dirty="0"/>
              <a:t> Agregar un símbolo único '#' al final (r#)</a:t>
            </a:r>
          </a:p>
          <a:p>
            <a:pPr>
              <a:buFont typeface="+mj-lt"/>
              <a:buAutoNum type="arabicPeriod"/>
            </a:pPr>
            <a:r>
              <a:rPr lang="es-ES" sz="3200" b="1" dirty="0"/>
              <a:t>Crear árbol binario:</a:t>
            </a:r>
            <a:r>
              <a:rPr lang="es-ES" sz="3200" dirty="0"/>
              <a:t> Cada operador es un nodo interno, cada símbolo es una hoja</a:t>
            </a:r>
          </a:p>
          <a:p>
            <a:pPr>
              <a:buFont typeface="+mj-lt"/>
              <a:buAutoNum type="arabicPeriod"/>
            </a:pPr>
            <a:r>
              <a:rPr lang="es-ES" sz="3200" b="1" dirty="0"/>
              <a:t>Asignar posiciones:</a:t>
            </a:r>
            <a:r>
              <a:rPr lang="es-ES" sz="3200" dirty="0"/>
              <a:t> Numerar cada hoja consecutivamente de izquierda a derecha</a:t>
            </a:r>
          </a:p>
          <a:p>
            <a:pPr>
              <a:buFont typeface="+mj-lt"/>
              <a:buAutoNum type="arabicPeriod"/>
            </a:pPr>
            <a:r>
              <a:rPr lang="es-ES" sz="3200" b="1" dirty="0"/>
              <a:t>Etiquetar nodos:</a:t>
            </a:r>
            <a:r>
              <a:rPr lang="es-ES" sz="3200" dirty="0"/>
              <a:t> Marcar nodos internos con sus operaciones (·, |, *)</a:t>
            </a:r>
          </a:p>
        </p:txBody>
      </p:sp>
    </p:spTree>
    <p:extLst>
      <p:ext uri="{BB962C8B-B14F-4D97-AF65-F5344CB8AC3E}">
        <p14:creationId xmlns:p14="http://schemas.microsoft.com/office/powerpoint/2010/main" val="371851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539576-7288-8A05-702D-1077EF7A1B39}"/>
              </a:ext>
            </a:extLst>
          </p:cNvPr>
          <p:cNvSpPr txBox="1"/>
          <p:nvPr/>
        </p:nvSpPr>
        <p:spPr>
          <a:xfrm>
            <a:off x="1228298" y="1039084"/>
            <a:ext cx="1419367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Tipos de Nodos y sus Propiedades</a:t>
            </a:r>
          </a:p>
          <a:p>
            <a:pPr>
              <a:buNone/>
            </a:pPr>
            <a:r>
              <a:rPr lang="es-ES" sz="3600" b="1" dirty="0"/>
              <a:t>Nodos Hoja:</a:t>
            </a: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Representan símbolos terminales del alfabeto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Tienen una posición única asociada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Base para todos los cálculos posteriores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3600" dirty="0"/>
          </a:p>
          <a:p>
            <a:pPr>
              <a:buNone/>
            </a:pPr>
            <a:r>
              <a:rPr lang="es-ES" sz="3600" b="1" dirty="0"/>
              <a:t>Nodos Internos:</a:t>
            </a:r>
            <a:endParaRPr lang="es-E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Concatenación (·):</a:t>
            </a:r>
            <a:r>
              <a:rPr lang="es-ES" sz="3600" dirty="0"/>
              <a:t> Secuencia obligatoria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Unión (|):</a:t>
            </a:r>
            <a:r>
              <a:rPr lang="es-ES" sz="3600" dirty="0"/>
              <a:t> Alternativa entre opciones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Cerradura (*):</a:t>
            </a:r>
            <a:r>
              <a:rPr lang="es-ES" sz="3600" dirty="0"/>
              <a:t> Repetición cero o más veces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b="1" dirty="0"/>
              <a:t>Cerradura Positiva (+):</a:t>
            </a:r>
            <a:r>
              <a:rPr lang="es-ES" sz="3600" dirty="0"/>
              <a:t> Repetición una o más veces</a:t>
            </a:r>
          </a:p>
        </p:txBody>
      </p:sp>
    </p:spTree>
    <p:extLst>
      <p:ext uri="{BB962C8B-B14F-4D97-AF65-F5344CB8AC3E}">
        <p14:creationId xmlns:p14="http://schemas.microsoft.com/office/powerpoint/2010/main" val="249616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90560AA-1713-3B84-7B5E-FD3BF66F06FB}"/>
              </a:ext>
            </a:extLst>
          </p:cNvPr>
          <p:cNvSpPr txBox="1"/>
          <p:nvPr/>
        </p:nvSpPr>
        <p:spPr>
          <a:xfrm>
            <a:off x="1310185" y="44111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Ejemplo de Construcción</a:t>
            </a:r>
          </a:p>
          <a:p>
            <a:pPr>
              <a:buNone/>
            </a:pPr>
            <a:r>
              <a:rPr lang="es-ES" sz="3200" dirty="0"/>
              <a:t>Para la expresión regular </a:t>
            </a:r>
            <a:r>
              <a:rPr lang="es-ES" sz="3200" dirty="0">
                <a:latin typeface="Courier New" panose="02070309020205020404" pitchFamily="49" charset="0"/>
              </a:rPr>
              <a:t>(</a:t>
            </a:r>
            <a:r>
              <a:rPr lang="es-ES" sz="3200" dirty="0" err="1">
                <a:latin typeface="Courier New" panose="02070309020205020404" pitchFamily="49" charset="0"/>
              </a:rPr>
              <a:t>a|b</a:t>
            </a:r>
            <a:r>
              <a:rPr lang="es-ES" sz="3200" dirty="0">
                <a:latin typeface="Courier New" panose="02070309020205020404" pitchFamily="49" charset="0"/>
              </a:rPr>
              <a:t>)*</a:t>
            </a:r>
            <a:r>
              <a:rPr lang="es-ES" sz="3200" dirty="0" err="1">
                <a:latin typeface="Courier New" panose="02070309020205020404" pitchFamily="49" charset="0"/>
              </a:rPr>
              <a:t>abb</a:t>
            </a:r>
            <a:r>
              <a:rPr lang="es-ES" sz="3200" dirty="0">
                <a:latin typeface="Courier New" panose="02070309020205020404" pitchFamily="49" charset="0"/>
              </a:rPr>
              <a:t>#</a:t>
            </a:r>
            <a:r>
              <a:rPr lang="es-ES" sz="3200" dirty="0"/>
              <a:t>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CA72B6-7CA3-FCDA-D5CD-69D59371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588" y="2093963"/>
            <a:ext cx="8964276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2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D3936EE6-BE37-C487-D4BE-8C48CBD5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970" y="816041"/>
            <a:ext cx="1570205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3. 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Cálculo de </a:t>
            </a:r>
            <a:r>
              <a:rPr lang="es-ES" altLang="es-GT" sz="2800" dirty="0" err="1">
                <a:solidFill>
                  <a:srgbClr val="131416"/>
                </a:solidFill>
                <a:latin typeface="Impact"/>
              </a:rPr>
              <a:t>Nullable</a:t>
            </a:r>
            <a:endParaRPr lang="es-ES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(n) indica si el subárbol en el nodo n puede derivar la cadena vacía (</a:t>
            </a:r>
            <a:r>
              <a:rPr lang="el-GR" altLang="es-GT" sz="2400" dirty="0">
                <a:latin typeface="Arial" panose="020B0604020202020204" pitchFamily="34" charset="0"/>
              </a:rPr>
              <a:t>ε).</a:t>
            </a:r>
            <a:endParaRPr lang="es-GT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Reglas generales: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(n) = True si n = </a:t>
            </a:r>
            <a:r>
              <a:rPr lang="el-GR" altLang="es-GT" sz="2400" dirty="0">
                <a:latin typeface="Arial" panose="020B0604020202020204" pitchFamily="34" charset="0"/>
              </a:rPr>
              <a:t>ε </a:t>
            </a:r>
            <a:r>
              <a:rPr lang="es-ES" altLang="es-GT" sz="2400" dirty="0">
                <a:latin typeface="Arial" panose="020B0604020202020204" pitchFamily="34" charset="0"/>
              </a:rPr>
              <a:t>o n = A* (cerradura).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>
                <a:latin typeface="Arial" panose="020B0604020202020204" pitchFamily="34" charset="0"/>
              </a:rPr>
              <a:t>En una concatenación (·),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(n) =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(n1) and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(n2).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GT" sz="2400" dirty="0">
                <a:latin typeface="Arial" panose="020B0604020202020204" pitchFamily="34" charset="0"/>
              </a:rPr>
              <a:t>En una unión (|),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(n) =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(n1) </a:t>
            </a:r>
            <a:r>
              <a:rPr lang="es-ES" altLang="es-GT" sz="2400" dirty="0" err="1">
                <a:latin typeface="Arial" panose="020B0604020202020204" pitchFamily="34" charset="0"/>
              </a:rPr>
              <a:t>or</a:t>
            </a:r>
            <a:r>
              <a:rPr lang="es-ES" altLang="es-GT" sz="2400" dirty="0">
                <a:latin typeface="Arial" panose="020B0604020202020204" pitchFamily="34" charset="0"/>
              </a:rPr>
              <a:t> </a:t>
            </a:r>
            <a:r>
              <a:rPr lang="es-ES" altLang="es-GT" sz="2400" dirty="0" err="1">
                <a:latin typeface="Arial" panose="020B0604020202020204" pitchFamily="34" charset="0"/>
              </a:rPr>
              <a:t>nullable</a:t>
            </a:r>
            <a:r>
              <a:rPr lang="es-ES" altLang="es-GT" sz="2400" dirty="0">
                <a:latin typeface="Arial" panose="020B0604020202020204" pitchFamily="34" charset="0"/>
              </a:rPr>
              <a:t>(n2).</a:t>
            </a:r>
            <a:endParaRPr kumimoji="0" lang="es-GT" altLang="es-G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3761F2-D7B1-BA7B-572D-61A8E45C252E}"/>
              </a:ext>
            </a:extLst>
          </p:cNvPr>
          <p:cNvSpPr txBox="1"/>
          <p:nvPr/>
        </p:nvSpPr>
        <p:spPr>
          <a:xfrm>
            <a:off x="1292970" y="4445586"/>
            <a:ext cx="1173056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4. 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Cálculo de </a:t>
            </a:r>
            <a:r>
              <a:rPr lang="es-ES" altLang="es-GT" sz="2800" dirty="0" err="1">
                <a:solidFill>
                  <a:srgbClr val="131416"/>
                </a:solidFill>
                <a:latin typeface="Impact"/>
              </a:rPr>
              <a:t>Firstpos</a:t>
            </a:r>
            <a:r>
              <a:rPr lang="es-ES" altLang="es-GT" sz="2800" dirty="0">
                <a:solidFill>
                  <a:srgbClr val="131416"/>
                </a:solidFill>
                <a:latin typeface="Impact"/>
              </a:rPr>
              <a:t> y </a:t>
            </a:r>
            <a:r>
              <a:rPr lang="es-ES" altLang="es-GT" sz="2800" dirty="0" err="1">
                <a:solidFill>
                  <a:srgbClr val="131416"/>
                </a:solidFill>
                <a:latin typeface="Impact"/>
              </a:rPr>
              <a:t>Lastpos</a:t>
            </a:r>
            <a:endParaRPr lang="es-ES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 err="1">
                <a:latin typeface="Arial" panose="020B0604020202020204" pitchFamily="34" charset="0"/>
              </a:rPr>
              <a:t>Firstpos</a:t>
            </a:r>
            <a:r>
              <a:rPr lang="es-ES" altLang="es-GT" sz="2400" dirty="0">
                <a:latin typeface="Arial" panose="020B0604020202020204" pitchFamily="34" charset="0"/>
              </a:rPr>
              <a:t>(n): conjunto de posiciones (hojas) que pueden ser las primeras en aparecer en una cadena derivada del nodo 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 err="1">
                <a:latin typeface="Arial" panose="020B0604020202020204" pitchFamily="34" charset="0"/>
              </a:rPr>
              <a:t>Lastpos</a:t>
            </a:r>
            <a:r>
              <a:rPr lang="es-ES" altLang="es-GT" sz="2400" dirty="0">
                <a:latin typeface="Arial" panose="020B0604020202020204" pitchFamily="34" charset="0"/>
              </a:rPr>
              <a:t>(n): conjunto de posiciones (hojas) que pueden ser las últimas en aparecer en una cadena derivada del nodo 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Las reglas dependen del tipo de operación (·, |, *) y si los operandos son anulables</a:t>
            </a:r>
            <a:r>
              <a:rPr kumimoji="0" lang="es-ES" altLang="es-G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GT" altLang="es-G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30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C41F690-7DA9-D7C0-8C79-DDD6E7A18A68}"/>
              </a:ext>
            </a:extLst>
          </p:cNvPr>
          <p:cNvSpPr txBox="1"/>
          <p:nvPr/>
        </p:nvSpPr>
        <p:spPr>
          <a:xfrm>
            <a:off x="1221474" y="1348937"/>
            <a:ext cx="15845051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GT" sz="3200" b="1" dirty="0"/>
              <a:t>Definición Formal</a:t>
            </a:r>
          </a:p>
          <a:p>
            <a:pPr>
              <a:buNone/>
            </a:pP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(n)</a:t>
            </a:r>
            <a:r>
              <a:rPr lang="es-GT" sz="3200" dirty="0"/>
              <a:t> es verdadero si y solo si el subárbol con raíz en el nodo </a:t>
            </a:r>
            <a:r>
              <a:rPr lang="es-GT" sz="3200" dirty="0">
                <a:latin typeface="Courier New" panose="02070309020205020404" pitchFamily="49" charset="0"/>
              </a:rPr>
              <a:t>n</a:t>
            </a:r>
            <a:r>
              <a:rPr lang="es-GT" sz="3200" dirty="0"/>
              <a:t> puede generar la cadena vacía (</a:t>
            </a:r>
            <a:r>
              <a:rPr lang="el-GR" sz="3200" dirty="0"/>
              <a:t>ε).</a:t>
            </a:r>
          </a:p>
          <a:p>
            <a:pPr>
              <a:buNone/>
            </a:pPr>
            <a:endParaRPr lang="es-GT" sz="3200" b="1" dirty="0"/>
          </a:p>
          <a:p>
            <a:pPr>
              <a:buNone/>
            </a:pPr>
            <a:r>
              <a:rPr lang="es-GT" sz="3200" b="1" dirty="0"/>
              <a:t>Reglas de Cálculo</a:t>
            </a:r>
          </a:p>
          <a:p>
            <a:pPr>
              <a:buNone/>
            </a:pPr>
            <a:r>
              <a:rPr lang="es-GT" sz="3200" b="1" dirty="0"/>
              <a:t>Para nodos hoja:</a:t>
            </a:r>
            <a:endParaRPr lang="es-GT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(símbolo) = false</a:t>
            </a:r>
            <a:r>
              <a:rPr lang="es-GT" sz="3200" dirty="0"/>
              <a:t> (excepto para </a:t>
            </a:r>
            <a:r>
              <a:rPr lang="el-GR" sz="3200" dirty="0"/>
              <a:t>ε)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</a:t>
            </a:r>
            <a:r>
              <a:rPr lang="el-GR" sz="3200" dirty="0">
                <a:latin typeface="Courier New" panose="02070309020205020404" pitchFamily="49" charset="0"/>
              </a:rPr>
              <a:t>ε) = </a:t>
            </a:r>
            <a:r>
              <a:rPr lang="es-GT" sz="3200" dirty="0">
                <a:latin typeface="Courier New" panose="02070309020205020404" pitchFamily="49" charset="0"/>
              </a:rPr>
              <a:t>true</a:t>
            </a:r>
            <a:endParaRPr lang="es-GT" sz="3200" dirty="0"/>
          </a:p>
          <a:p>
            <a:pPr>
              <a:buNone/>
            </a:pPr>
            <a:endParaRPr lang="es-GT" sz="3200" b="1" dirty="0"/>
          </a:p>
          <a:p>
            <a:pPr>
              <a:buNone/>
            </a:pPr>
            <a:r>
              <a:rPr lang="es-GT" sz="3200" b="1" dirty="0"/>
              <a:t>Para nodos internos:</a:t>
            </a:r>
            <a:endParaRPr lang="es-GT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200" b="1" dirty="0"/>
              <a:t>Concatenación (n₁ · n₂):</a:t>
            </a:r>
            <a:r>
              <a:rPr lang="es-GT" sz="3200" dirty="0"/>
              <a:t>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(n) =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(n₁) ∧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(n₂)</a:t>
            </a:r>
            <a:endParaRPr lang="es-GT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200" b="1" dirty="0"/>
              <a:t>Unión (n₁ | n₂):</a:t>
            </a:r>
            <a:r>
              <a:rPr lang="es-GT" sz="3200" dirty="0"/>
              <a:t>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(n) =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(n₁) ∨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(n₂)</a:t>
            </a:r>
            <a:endParaRPr lang="es-GT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200" i="1" dirty="0"/>
              <a:t>Cerradura (n₁):</a:t>
            </a:r>
            <a:r>
              <a:rPr lang="es-GT" sz="3200" dirty="0"/>
              <a:t>*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(n) = true</a:t>
            </a:r>
            <a:r>
              <a:rPr lang="es-GT" sz="3200" dirty="0"/>
              <a:t> (siempre)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GT" sz="3200" b="1" dirty="0"/>
              <a:t>Cerradura positiva (n₁+):</a:t>
            </a:r>
            <a:r>
              <a:rPr lang="es-GT" sz="3200" dirty="0"/>
              <a:t>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(n) = </a:t>
            </a:r>
            <a:r>
              <a:rPr lang="es-GT" sz="3200" dirty="0" err="1">
                <a:latin typeface="Courier New" panose="02070309020205020404" pitchFamily="49" charset="0"/>
              </a:rPr>
              <a:t>nullable</a:t>
            </a:r>
            <a:r>
              <a:rPr lang="es-GT" sz="3200" dirty="0">
                <a:latin typeface="Courier New" panose="02070309020205020404" pitchFamily="49" charset="0"/>
              </a:rPr>
              <a:t>(n₁)</a:t>
            </a:r>
            <a:endParaRPr lang="es-GT" sz="3200" dirty="0"/>
          </a:p>
        </p:txBody>
      </p:sp>
    </p:spTree>
    <p:extLst>
      <p:ext uri="{BB962C8B-B14F-4D97-AF65-F5344CB8AC3E}">
        <p14:creationId xmlns:p14="http://schemas.microsoft.com/office/powerpoint/2010/main" val="1284830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1A396FFD-5302-DFE4-D5DE-D18BEB53A3B0}"/>
              </a:ext>
            </a:extLst>
          </p:cNvPr>
          <p:cNvSpPr txBox="1"/>
          <p:nvPr/>
        </p:nvSpPr>
        <p:spPr>
          <a:xfrm>
            <a:off x="1337481" y="72973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3600" b="1" dirty="0"/>
              <a:t>Algoritmo de Cálculo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0CFF803-C76F-6364-25AA-4286C2F3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008" y="2229240"/>
            <a:ext cx="13043049" cy="505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5B0158-E573-D2E9-4597-2A82E58F1C41}"/>
              </a:ext>
            </a:extLst>
          </p:cNvPr>
          <p:cNvSpPr txBox="1"/>
          <p:nvPr/>
        </p:nvSpPr>
        <p:spPr>
          <a:xfrm>
            <a:off x="934871" y="1438407"/>
            <a:ext cx="1682769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Cálculo de </a:t>
            </a:r>
            <a:r>
              <a:rPr lang="es-ES" sz="2800" b="1" dirty="0" err="1"/>
              <a:t>Firstpos</a:t>
            </a:r>
            <a:r>
              <a:rPr lang="es-ES" sz="2800" b="1" dirty="0"/>
              <a:t> y </a:t>
            </a:r>
            <a:r>
              <a:rPr lang="es-ES" sz="2800" b="1" dirty="0" err="1"/>
              <a:t>Lastpos</a:t>
            </a:r>
            <a:endParaRPr lang="es-ES" sz="2800" b="1" dirty="0"/>
          </a:p>
          <a:p>
            <a:pPr>
              <a:buNone/>
            </a:pPr>
            <a:r>
              <a:rPr lang="es-ES" sz="2800" b="1" dirty="0"/>
              <a:t>Definiciones Formales</a:t>
            </a:r>
          </a:p>
          <a:p>
            <a:pPr>
              <a:buNone/>
            </a:pPr>
            <a:r>
              <a:rPr lang="es-ES" sz="2800" b="1" dirty="0" err="1"/>
              <a:t>Firstpos</a:t>
            </a:r>
            <a:r>
              <a:rPr lang="es-ES" sz="2800" b="1" dirty="0"/>
              <a:t>(n):</a:t>
            </a:r>
            <a:r>
              <a:rPr lang="es-ES" sz="2800" dirty="0"/>
              <a:t> Conjunto de posiciones (hojas) que pueden aparecer como el primer símbolo en alguna cadena generada por el subárbol con raíz en </a:t>
            </a:r>
            <a:r>
              <a:rPr lang="es-ES" sz="2800" dirty="0">
                <a:latin typeface="Courier New" panose="02070309020205020404" pitchFamily="49" charset="0"/>
              </a:rPr>
              <a:t>n</a:t>
            </a:r>
            <a:r>
              <a:rPr lang="es-ES" sz="2800" dirty="0"/>
              <a:t>.</a:t>
            </a:r>
          </a:p>
          <a:p>
            <a:pPr>
              <a:buNone/>
            </a:pPr>
            <a:r>
              <a:rPr lang="es-ES" sz="2800" b="1" dirty="0" err="1"/>
              <a:t>Lastpos</a:t>
            </a:r>
            <a:r>
              <a:rPr lang="es-ES" sz="2800" b="1" dirty="0"/>
              <a:t>(n):</a:t>
            </a:r>
            <a:r>
              <a:rPr lang="es-ES" sz="2800" dirty="0"/>
              <a:t> Conjunto de posiciones (hojas) que pueden aparecer como el último símbolo en alguna cadena generada por el subárbol con raíz en </a:t>
            </a:r>
            <a:r>
              <a:rPr lang="es-ES" sz="2800" dirty="0">
                <a:latin typeface="Courier New" panose="02070309020205020404" pitchFamily="49" charset="0"/>
              </a:rPr>
              <a:t>n</a:t>
            </a:r>
            <a:r>
              <a:rPr lang="es-ES" sz="2800" dirty="0"/>
              <a:t>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Reglas de Cálculo Detalladas</a:t>
            </a:r>
          </a:p>
          <a:p>
            <a:pPr>
              <a:buNone/>
            </a:pPr>
            <a:r>
              <a:rPr lang="es-ES" sz="2800" b="1" dirty="0"/>
              <a:t>Para nodos hoja: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(hoja) = {posición de la hoja}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(hoja) = {posición de la hoja}</a:t>
            </a:r>
            <a:endParaRPr lang="es-ES" sz="2800" dirty="0"/>
          </a:p>
          <a:p>
            <a:pPr>
              <a:buNone/>
            </a:pPr>
            <a:r>
              <a:rPr lang="es-ES" sz="2800" b="1" dirty="0"/>
              <a:t>Para concatenación (n₁ · n₂):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Si </a:t>
            </a:r>
            <a:r>
              <a:rPr lang="es-ES" sz="2800" dirty="0" err="1">
                <a:latin typeface="Courier New" panose="02070309020205020404" pitchFamily="49" charset="0"/>
              </a:rPr>
              <a:t>nullable</a:t>
            </a:r>
            <a:r>
              <a:rPr lang="es-ES" sz="2800" dirty="0">
                <a:latin typeface="Courier New" panose="02070309020205020404" pitchFamily="49" charset="0"/>
              </a:rPr>
              <a:t>(n₁)</a:t>
            </a:r>
            <a:r>
              <a:rPr lang="es-ES" sz="2800" dirty="0"/>
              <a:t>: </a:t>
            </a: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(n) = </a:t>
            </a: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(n₁) ∪ </a:t>
            </a: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(n₂)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Si no: </a:t>
            </a: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(n) = </a:t>
            </a:r>
            <a:r>
              <a:rPr lang="es-ES" sz="2800" dirty="0" err="1">
                <a:latin typeface="Courier New" panose="02070309020205020404" pitchFamily="49" charset="0"/>
              </a:rPr>
              <a:t>firstpos</a:t>
            </a:r>
            <a:r>
              <a:rPr lang="es-ES" sz="2800" dirty="0">
                <a:latin typeface="Courier New" panose="02070309020205020404" pitchFamily="49" charset="0"/>
              </a:rPr>
              <a:t>(n₁)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Si </a:t>
            </a:r>
            <a:r>
              <a:rPr lang="es-ES" sz="2800" dirty="0" err="1">
                <a:latin typeface="Courier New" panose="02070309020205020404" pitchFamily="49" charset="0"/>
              </a:rPr>
              <a:t>nullable</a:t>
            </a:r>
            <a:r>
              <a:rPr lang="es-ES" sz="2800" dirty="0">
                <a:latin typeface="Courier New" panose="02070309020205020404" pitchFamily="49" charset="0"/>
              </a:rPr>
              <a:t>(n₂)</a:t>
            </a:r>
            <a:r>
              <a:rPr lang="es-ES" sz="2800" dirty="0"/>
              <a:t>: </a:t>
            </a: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(n) = </a:t>
            </a: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(n₁) ∪ </a:t>
            </a: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(n₂)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Si no: </a:t>
            </a: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(n) = </a:t>
            </a:r>
            <a:r>
              <a:rPr lang="es-ES" sz="2800" dirty="0" err="1">
                <a:latin typeface="Courier New" panose="02070309020205020404" pitchFamily="49" charset="0"/>
              </a:rPr>
              <a:t>lastpos</a:t>
            </a:r>
            <a:r>
              <a:rPr lang="es-ES" sz="2800" dirty="0">
                <a:latin typeface="Courier New" panose="02070309020205020404" pitchFamily="49" charset="0"/>
              </a:rPr>
              <a:t>(n₂)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394103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36AFF9-68DC-6CFB-8C10-04D165B70FAD}"/>
              </a:ext>
            </a:extLst>
          </p:cNvPr>
          <p:cNvSpPr txBox="1"/>
          <p:nvPr/>
        </p:nvSpPr>
        <p:spPr>
          <a:xfrm>
            <a:off x="1160059" y="705978"/>
            <a:ext cx="133475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GT" sz="3600" b="1" dirty="0"/>
              <a:t>Para unión (n₁ | n₂):</a:t>
            </a:r>
            <a:endParaRPr lang="es-GT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600" dirty="0" err="1">
                <a:latin typeface="Courier New" panose="02070309020205020404" pitchFamily="49" charset="0"/>
              </a:rPr>
              <a:t>firstpos</a:t>
            </a:r>
            <a:r>
              <a:rPr lang="es-GT" sz="3600" dirty="0">
                <a:latin typeface="Courier New" panose="02070309020205020404" pitchFamily="49" charset="0"/>
              </a:rPr>
              <a:t>(n) = </a:t>
            </a:r>
            <a:r>
              <a:rPr lang="es-GT" sz="3600" dirty="0" err="1">
                <a:latin typeface="Courier New" panose="02070309020205020404" pitchFamily="49" charset="0"/>
              </a:rPr>
              <a:t>firstpos</a:t>
            </a:r>
            <a:r>
              <a:rPr lang="es-GT" sz="3600" dirty="0">
                <a:latin typeface="Courier New" panose="02070309020205020404" pitchFamily="49" charset="0"/>
              </a:rPr>
              <a:t>(n₁) ∪ </a:t>
            </a:r>
            <a:r>
              <a:rPr lang="es-GT" sz="3600" dirty="0" err="1">
                <a:latin typeface="Courier New" panose="02070309020205020404" pitchFamily="49" charset="0"/>
              </a:rPr>
              <a:t>firstpos</a:t>
            </a:r>
            <a:r>
              <a:rPr lang="es-GT" sz="3600" dirty="0">
                <a:latin typeface="Courier New" panose="02070309020205020404" pitchFamily="49" charset="0"/>
              </a:rPr>
              <a:t>(n₂)</a:t>
            </a:r>
            <a:endParaRPr lang="es-GT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600" dirty="0" err="1">
                <a:latin typeface="Courier New" panose="02070309020205020404" pitchFamily="49" charset="0"/>
              </a:rPr>
              <a:t>lastpos</a:t>
            </a:r>
            <a:r>
              <a:rPr lang="es-GT" sz="3600" dirty="0">
                <a:latin typeface="Courier New" panose="02070309020205020404" pitchFamily="49" charset="0"/>
              </a:rPr>
              <a:t>(n) = </a:t>
            </a:r>
            <a:r>
              <a:rPr lang="es-GT" sz="3600" dirty="0" err="1">
                <a:latin typeface="Courier New" panose="02070309020205020404" pitchFamily="49" charset="0"/>
              </a:rPr>
              <a:t>lastpos</a:t>
            </a:r>
            <a:r>
              <a:rPr lang="es-GT" sz="3600" dirty="0">
                <a:latin typeface="Courier New" panose="02070309020205020404" pitchFamily="49" charset="0"/>
              </a:rPr>
              <a:t>(n₁) ∪ </a:t>
            </a:r>
            <a:r>
              <a:rPr lang="es-GT" sz="3600" dirty="0" err="1">
                <a:latin typeface="Courier New" panose="02070309020205020404" pitchFamily="49" charset="0"/>
              </a:rPr>
              <a:t>lastpos</a:t>
            </a:r>
            <a:r>
              <a:rPr lang="es-GT" sz="3600" dirty="0">
                <a:latin typeface="Courier New" panose="02070309020205020404" pitchFamily="49" charset="0"/>
              </a:rPr>
              <a:t>(n₂)</a:t>
            </a:r>
          </a:p>
          <a:p>
            <a:pPr>
              <a:buFont typeface="Arial" panose="020B0604020202020204" pitchFamily="34" charset="0"/>
              <a:buChar char="•"/>
            </a:pPr>
            <a:endParaRPr lang="es-GT" sz="3600" dirty="0"/>
          </a:p>
          <a:p>
            <a:pPr>
              <a:buNone/>
            </a:pPr>
            <a:r>
              <a:rPr lang="es-GT" sz="3600" i="1" dirty="0"/>
              <a:t>Para cerradura (n₁):</a:t>
            </a:r>
            <a:r>
              <a:rPr lang="es-GT" sz="3600" dirty="0"/>
              <a:t>*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GT" sz="3600" dirty="0" err="1">
                <a:latin typeface="Courier New" panose="02070309020205020404" pitchFamily="49" charset="0"/>
              </a:rPr>
              <a:t>firstpos</a:t>
            </a:r>
            <a:r>
              <a:rPr lang="es-GT" sz="3600" dirty="0">
                <a:latin typeface="Courier New" panose="02070309020205020404" pitchFamily="49" charset="0"/>
              </a:rPr>
              <a:t>(n) = </a:t>
            </a:r>
            <a:r>
              <a:rPr lang="es-GT" sz="3600" dirty="0" err="1">
                <a:latin typeface="Courier New" panose="02070309020205020404" pitchFamily="49" charset="0"/>
              </a:rPr>
              <a:t>firstpos</a:t>
            </a:r>
            <a:r>
              <a:rPr lang="es-GT" sz="3600" dirty="0">
                <a:latin typeface="Courier New" panose="02070309020205020404" pitchFamily="49" charset="0"/>
              </a:rPr>
              <a:t>(n₁)</a:t>
            </a:r>
            <a:endParaRPr lang="es-GT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GT" sz="3600" dirty="0" err="1">
                <a:latin typeface="Courier New" panose="02070309020205020404" pitchFamily="49" charset="0"/>
              </a:rPr>
              <a:t>lastpos</a:t>
            </a:r>
            <a:r>
              <a:rPr lang="es-GT" sz="3600" dirty="0">
                <a:latin typeface="Courier New" panose="02070309020205020404" pitchFamily="49" charset="0"/>
              </a:rPr>
              <a:t>(n) = </a:t>
            </a:r>
            <a:r>
              <a:rPr lang="es-GT" sz="3600" dirty="0" err="1">
                <a:latin typeface="Courier New" panose="02070309020205020404" pitchFamily="49" charset="0"/>
              </a:rPr>
              <a:t>lastpos</a:t>
            </a:r>
            <a:r>
              <a:rPr lang="es-GT" sz="3600" dirty="0">
                <a:latin typeface="Courier New" panose="02070309020205020404" pitchFamily="49" charset="0"/>
              </a:rPr>
              <a:t>(n₁)</a:t>
            </a:r>
            <a:endParaRPr lang="es-GT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B675A2-9A79-B566-3C21-BE09CDF0F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923" y="5143500"/>
            <a:ext cx="7997585" cy="45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6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83AF43F-E90E-6EEE-1DCF-4D0D60FB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641" y="1323481"/>
            <a:ext cx="15702059" cy="661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5. Cálculo de </a:t>
            </a:r>
            <a:r>
              <a:rPr lang="es-GT" altLang="es-GT" sz="2800" dirty="0" err="1">
                <a:solidFill>
                  <a:srgbClr val="131416"/>
                </a:solidFill>
                <a:latin typeface="Impact"/>
              </a:rPr>
              <a:t>Nextpos</a:t>
            </a: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GT" altLang="es-GT" sz="2800" dirty="0">
              <a:solidFill>
                <a:srgbClr val="131416"/>
              </a:solidFill>
              <a:latin typeface="Impac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 err="1">
                <a:latin typeface="Arial" panose="020B0604020202020204" pitchFamily="34" charset="0"/>
              </a:rPr>
              <a:t>Nextpos</a:t>
            </a:r>
            <a:r>
              <a:rPr lang="es-ES" altLang="es-GT" sz="2400" dirty="0">
                <a:latin typeface="Arial" panose="020B0604020202020204" pitchFamily="34" charset="0"/>
              </a:rPr>
              <a:t>(p) se define para cada posición p en el árbol (es decir, cada hoja)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Si hay una concatenación A·B y una posición p ∈ </a:t>
            </a:r>
            <a:r>
              <a:rPr lang="es-ES" altLang="es-GT" sz="2400" dirty="0" err="1">
                <a:latin typeface="Arial" panose="020B0604020202020204" pitchFamily="34" charset="0"/>
              </a:rPr>
              <a:t>lastpos</a:t>
            </a:r>
            <a:r>
              <a:rPr lang="es-ES" altLang="es-GT" sz="2400" dirty="0">
                <a:latin typeface="Arial" panose="020B0604020202020204" pitchFamily="34" charset="0"/>
              </a:rPr>
              <a:t>(A), entonces </a:t>
            </a:r>
            <a:r>
              <a:rPr lang="es-ES" altLang="es-GT" sz="2400" dirty="0" err="1">
                <a:latin typeface="Arial" panose="020B0604020202020204" pitchFamily="34" charset="0"/>
              </a:rPr>
              <a:t>nextpos</a:t>
            </a:r>
            <a:r>
              <a:rPr lang="es-ES" altLang="es-GT" sz="2400" dirty="0">
                <a:latin typeface="Arial" panose="020B0604020202020204" pitchFamily="34" charset="0"/>
              </a:rPr>
              <a:t>(p) ⊇ </a:t>
            </a:r>
            <a:r>
              <a:rPr lang="es-ES" altLang="es-GT" sz="2400" dirty="0" err="1">
                <a:latin typeface="Arial" panose="020B0604020202020204" pitchFamily="34" charset="0"/>
              </a:rPr>
              <a:t>firstpos</a:t>
            </a:r>
            <a:r>
              <a:rPr lang="es-ES" altLang="es-GT" sz="2400" dirty="0">
                <a:latin typeface="Arial" panose="020B0604020202020204" pitchFamily="34" charset="0"/>
              </a:rPr>
              <a:t>(B)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En una cerradura A*, si p ∈ </a:t>
            </a:r>
            <a:r>
              <a:rPr lang="es-ES" altLang="es-GT" sz="2400" dirty="0" err="1">
                <a:latin typeface="Arial" panose="020B0604020202020204" pitchFamily="34" charset="0"/>
              </a:rPr>
              <a:t>lastpos</a:t>
            </a:r>
            <a:r>
              <a:rPr lang="es-ES" altLang="es-GT" sz="2400" dirty="0">
                <a:latin typeface="Arial" panose="020B0604020202020204" pitchFamily="34" charset="0"/>
              </a:rPr>
              <a:t>(A), entonces </a:t>
            </a:r>
            <a:r>
              <a:rPr lang="es-ES" altLang="es-GT" sz="2400" dirty="0" err="1">
                <a:latin typeface="Arial" panose="020B0604020202020204" pitchFamily="34" charset="0"/>
              </a:rPr>
              <a:t>nextpos</a:t>
            </a:r>
            <a:r>
              <a:rPr lang="es-ES" altLang="es-GT" sz="2400" dirty="0">
                <a:latin typeface="Arial" panose="020B0604020202020204" pitchFamily="34" charset="0"/>
              </a:rPr>
              <a:t>(p) ⊇ </a:t>
            </a:r>
            <a:r>
              <a:rPr lang="es-ES" altLang="es-GT" sz="2400" dirty="0" err="1">
                <a:latin typeface="Arial" panose="020B0604020202020204" pitchFamily="34" charset="0"/>
              </a:rPr>
              <a:t>firstpos</a:t>
            </a:r>
            <a:r>
              <a:rPr lang="es-ES" altLang="es-GT" sz="2400" dirty="0">
                <a:latin typeface="Arial" panose="020B0604020202020204" pitchFamily="34" charset="0"/>
              </a:rPr>
              <a:t>(A)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GT" altLang="es-GT" sz="2400" dirty="0">
              <a:latin typeface="Arial" panose="020B0604020202020204" pitchFamily="34" charset="0"/>
            </a:endParaRPr>
          </a:p>
          <a:p>
            <a:r>
              <a:rPr lang="es-GT" altLang="es-GT" sz="2800" dirty="0">
                <a:solidFill>
                  <a:srgbClr val="131416"/>
                </a:solidFill>
                <a:latin typeface="Impact"/>
              </a:rPr>
              <a:t>6. </a:t>
            </a:r>
            <a:r>
              <a:rPr lang="es-ES" sz="2800" b="1" dirty="0"/>
              <a:t>Construcción del AFD desde los conjuntos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GT" altLang="es-GT" sz="2800" b="1" dirty="0">
              <a:solidFill>
                <a:srgbClr val="131416"/>
              </a:solidFill>
              <a:latin typeface="Impac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Cada estado del AFD corresponde a un conjunto de posiciones (inicialmente </a:t>
            </a:r>
            <a:r>
              <a:rPr lang="es-ES" altLang="es-GT" sz="2400" dirty="0" err="1">
                <a:latin typeface="Arial" panose="020B0604020202020204" pitchFamily="34" charset="0"/>
              </a:rPr>
              <a:t>firstpos</a:t>
            </a:r>
            <a:r>
              <a:rPr lang="es-ES" altLang="es-GT" sz="2400" dirty="0">
                <a:latin typeface="Arial" panose="020B0604020202020204" pitchFamily="34" charset="0"/>
              </a:rPr>
              <a:t> de la raíz).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Se recorren los estados del AFD construyendo transiciones según el conjunto </a:t>
            </a:r>
            <a:r>
              <a:rPr lang="es-ES" altLang="es-GT" sz="2400" dirty="0" err="1">
                <a:latin typeface="Arial" panose="020B0604020202020204" pitchFamily="34" charset="0"/>
              </a:rPr>
              <a:t>nextpos</a:t>
            </a:r>
            <a:r>
              <a:rPr lang="es-ES" altLang="es-GT" sz="2400" dirty="0"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Si dos posiciones comparten el mismo símbolo, se agrupan las </a:t>
            </a:r>
            <a:r>
              <a:rPr lang="es-ES" altLang="es-GT" sz="2400" dirty="0" err="1">
                <a:latin typeface="Arial" panose="020B0604020202020204" pitchFamily="34" charset="0"/>
              </a:rPr>
              <a:t>nextpos</a:t>
            </a:r>
            <a:r>
              <a:rPr lang="es-ES" altLang="es-GT" sz="2400" dirty="0">
                <a:latin typeface="Arial" panose="020B0604020202020204" pitchFamily="34" charset="0"/>
              </a:rPr>
              <a:t> en un nuevo estado.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ES" altLang="es-GT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ES" altLang="es-GT" sz="2400" dirty="0">
                <a:latin typeface="Arial" panose="020B0604020202020204" pitchFamily="34" charset="0"/>
              </a:rPr>
              <a:t>El estado que contiene la posición del símbolo '#' (fin de cadena) se considera estado de aceptación.</a:t>
            </a:r>
            <a:endParaRPr lang="es-GT" altLang="es-GT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209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3A7EC6-173E-0F52-0CE3-AC416A7E3890}"/>
              </a:ext>
            </a:extLst>
          </p:cNvPr>
          <p:cNvSpPr txBox="1"/>
          <p:nvPr/>
        </p:nvSpPr>
        <p:spPr>
          <a:xfrm>
            <a:off x="818864" y="867730"/>
            <a:ext cx="168003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Cálculo de </a:t>
            </a:r>
            <a:r>
              <a:rPr lang="es-ES" sz="3200" b="1" dirty="0" err="1"/>
              <a:t>Nextpos</a:t>
            </a:r>
            <a:endParaRPr lang="es-ES" sz="3200" b="1" dirty="0"/>
          </a:p>
          <a:p>
            <a:pPr>
              <a:buNone/>
            </a:pPr>
            <a:r>
              <a:rPr lang="es-ES" sz="3200" b="1" dirty="0"/>
              <a:t>Definición y Propósito</a:t>
            </a:r>
          </a:p>
          <a:p>
            <a:pPr>
              <a:buNone/>
            </a:pPr>
            <a:r>
              <a:rPr lang="es-ES" sz="3200" dirty="0" err="1">
                <a:latin typeface="Courier New" panose="02070309020205020404" pitchFamily="49" charset="0"/>
              </a:rPr>
              <a:t>Nextpos</a:t>
            </a:r>
            <a:r>
              <a:rPr lang="es-ES" sz="3200" dirty="0">
                <a:latin typeface="Courier New" panose="02070309020205020404" pitchFamily="49" charset="0"/>
              </a:rPr>
              <a:t>(p)</a:t>
            </a:r>
            <a:r>
              <a:rPr lang="es-ES" sz="3200" dirty="0"/>
              <a:t> para una posición </a:t>
            </a:r>
            <a:r>
              <a:rPr lang="es-ES" sz="3200" dirty="0">
                <a:latin typeface="Courier New" panose="02070309020205020404" pitchFamily="49" charset="0"/>
              </a:rPr>
              <a:t>p</a:t>
            </a:r>
            <a:r>
              <a:rPr lang="es-ES" sz="3200" dirty="0"/>
              <a:t> es el conjunto de posiciones que pueden seguir inmediatamente a </a:t>
            </a:r>
            <a:r>
              <a:rPr lang="es-ES" sz="3200" dirty="0">
                <a:latin typeface="Courier New" panose="02070309020205020404" pitchFamily="49" charset="0"/>
              </a:rPr>
              <a:t>p</a:t>
            </a:r>
            <a:r>
              <a:rPr lang="es-ES" sz="3200" dirty="0"/>
              <a:t> en alguna cadena aceptada por la expresión regular.</a:t>
            </a:r>
          </a:p>
          <a:p>
            <a:pPr>
              <a:buNone/>
            </a:pPr>
            <a:endParaRPr lang="es-ES" sz="3200" dirty="0"/>
          </a:p>
          <a:p>
            <a:pPr>
              <a:buNone/>
            </a:pPr>
            <a:r>
              <a:rPr lang="es-ES" sz="3200" b="1" dirty="0"/>
              <a:t>Reglas de Construcción</a:t>
            </a:r>
          </a:p>
          <a:p>
            <a:pPr>
              <a:buNone/>
            </a:pPr>
            <a:r>
              <a:rPr lang="es-ES" sz="3200" b="1" dirty="0"/>
              <a:t>Regla 1 - Concatenación:</a:t>
            </a:r>
            <a:r>
              <a:rPr lang="es-ES" sz="3200" dirty="0"/>
              <a:t> Si existe un nodo de concatenación </a:t>
            </a:r>
            <a:r>
              <a:rPr lang="es-ES" sz="3200" dirty="0">
                <a:latin typeface="Courier New" panose="02070309020205020404" pitchFamily="49" charset="0"/>
              </a:rPr>
              <a:t>n = n₁ · n₂</a:t>
            </a:r>
            <a:r>
              <a:rPr lang="es-ES" sz="3200" dirty="0"/>
              <a:t>, entonces para cada posición </a:t>
            </a:r>
            <a:r>
              <a:rPr lang="es-ES" sz="3200" dirty="0">
                <a:latin typeface="Courier New" panose="02070309020205020404" pitchFamily="49" charset="0"/>
              </a:rPr>
              <a:t>p ∈ </a:t>
            </a:r>
            <a:r>
              <a:rPr lang="es-ES" sz="3200" dirty="0" err="1">
                <a:latin typeface="Courier New" panose="02070309020205020404" pitchFamily="49" charset="0"/>
              </a:rPr>
              <a:t>lastpos</a:t>
            </a:r>
            <a:r>
              <a:rPr lang="es-ES" sz="3200" dirty="0">
                <a:latin typeface="Courier New" panose="02070309020205020404" pitchFamily="49" charset="0"/>
              </a:rPr>
              <a:t>(n₁)</a:t>
            </a:r>
            <a:r>
              <a:rPr lang="es-ES" sz="3200" dirty="0"/>
              <a:t>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F98403-C9A3-5EB6-4D19-43BE1E6BD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418" y="5646705"/>
            <a:ext cx="6648092" cy="188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0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648ADF-DA66-1DEA-F2B0-7014CD54CE10}"/>
              </a:ext>
            </a:extLst>
          </p:cNvPr>
          <p:cNvSpPr txBox="1"/>
          <p:nvPr/>
        </p:nvSpPr>
        <p:spPr>
          <a:xfrm>
            <a:off x="696035" y="632179"/>
            <a:ext cx="162954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/>
              <a:t>Regla 2 - Cerradura:</a:t>
            </a:r>
            <a:r>
              <a:rPr lang="es-ES" sz="3600" dirty="0"/>
              <a:t> Si existe un nodo de cerradura </a:t>
            </a:r>
            <a:r>
              <a:rPr lang="es-ES" sz="3600" dirty="0">
                <a:latin typeface="Courier New" panose="02070309020205020404" pitchFamily="49" charset="0"/>
              </a:rPr>
              <a:t>n = n₁*</a:t>
            </a:r>
            <a:r>
              <a:rPr lang="es-ES" sz="3600" dirty="0"/>
              <a:t>, entonces para cada posición </a:t>
            </a:r>
            <a:r>
              <a:rPr lang="es-ES" sz="3600" dirty="0">
                <a:latin typeface="Courier New" panose="02070309020205020404" pitchFamily="49" charset="0"/>
              </a:rPr>
              <a:t>p ∈ </a:t>
            </a:r>
            <a:r>
              <a:rPr lang="es-ES" sz="3600" dirty="0" err="1">
                <a:latin typeface="Courier New" panose="02070309020205020404" pitchFamily="49" charset="0"/>
              </a:rPr>
              <a:t>lastpos</a:t>
            </a:r>
            <a:r>
              <a:rPr lang="es-ES" sz="3600" dirty="0">
                <a:latin typeface="Courier New" panose="02070309020205020404" pitchFamily="49" charset="0"/>
              </a:rPr>
              <a:t>(n₁)</a:t>
            </a:r>
            <a:r>
              <a:rPr lang="es-ES" sz="3600" dirty="0"/>
              <a:t>:</a:t>
            </a:r>
            <a:endParaRPr lang="es-GT" sz="3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534FE2-D649-9386-77AC-C3408D29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248" y="3031225"/>
            <a:ext cx="7543837" cy="211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73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0;p5">
            <a:extLst>
              <a:ext uri="{FF2B5EF4-FFF2-40B4-BE49-F238E27FC236}">
                <a16:creationId xmlns:a16="http://schemas.microsoft.com/office/drawing/2014/main" id="{C99D92A7-B909-08D5-3A89-B131080BA360}"/>
              </a:ext>
            </a:extLst>
          </p:cNvPr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497DB0-B84F-E3F8-191C-B8292C05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426" y="2006085"/>
            <a:ext cx="10949667" cy="65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72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E24D94E-470B-4DA8-D1C0-C79C5FD12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362" y="967956"/>
            <a:ext cx="10101593" cy="753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63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5687AF6-6B9E-73A6-2D44-D3106D2FD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466" y="942304"/>
            <a:ext cx="12016103" cy="796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85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E1017D-5501-7329-638C-EB1C04FE0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455" y="1252674"/>
            <a:ext cx="13989356" cy="68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24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4604936" y="7110482"/>
            <a:ext cx="3353199" cy="282683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159;p6">
            <a:extLst>
              <a:ext uri="{FF2B5EF4-FFF2-40B4-BE49-F238E27FC236}">
                <a16:creationId xmlns:a16="http://schemas.microsoft.com/office/drawing/2014/main" id="{9787628F-84A7-63CA-D108-BE948BC1830D}"/>
              </a:ext>
            </a:extLst>
          </p:cNvPr>
          <p:cNvSpPr txBox="1"/>
          <p:nvPr/>
        </p:nvSpPr>
        <p:spPr>
          <a:xfrm>
            <a:off x="329873" y="2370312"/>
            <a:ext cx="17628253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AFN (Autómata Finito No Determinista):Modelo de autómata donde, para un estado y un símbolo dado, puede haber múltiples transiciones o incluso transiciones vacías (ε). Es flexible pero difícil de implementar directamente.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AFD (Autómata Finito Determinista):Variante del autómata donde cada estado tiene una única transición por símbolo. Es más adecuado para ejecución eficiente, como en analizadores léxicos.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Nullable</a:t>
            </a:r>
            <a:r>
              <a:rPr lang="es-ES" sz="2400" dirty="0"/>
              <a:t>: Propiedad de un nodo del árbol sintáctico que indica si puede derivar la cadena vacía (ε). Es fundamental para el cálculo de transiciones en el autómata determinista.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Firstpos</a:t>
            </a:r>
            <a:r>
              <a:rPr lang="es-ES" sz="2400" dirty="0"/>
              <a:t> y </a:t>
            </a:r>
            <a:r>
              <a:rPr lang="es-ES" sz="2400" dirty="0" err="1"/>
              <a:t>Lastpos</a:t>
            </a:r>
            <a:r>
              <a:rPr lang="es-ES" sz="24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Firstpos</a:t>
            </a:r>
            <a:r>
              <a:rPr lang="es-ES" sz="2400" dirty="0"/>
              <a:t>: posiciones donde puede comenzar una cadena derivada desde un nodo.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Lastpos</a:t>
            </a:r>
            <a:r>
              <a:rPr lang="es-ES" sz="2400" dirty="0"/>
              <a:t>: posiciones donde puede terminar dicha cadena.</a:t>
            </a:r>
          </a:p>
          <a:p>
            <a:pPr lvl="1"/>
            <a:r>
              <a:rPr lang="es-ES" sz="2400" dirty="0"/>
              <a:t>	Ambos se usan para construir las transiciones del AFD.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/>
              <a:t>Nextpos</a:t>
            </a:r>
            <a:r>
              <a:rPr lang="es-ES" sz="2400" dirty="0"/>
              <a:t>: Conjunto de posiciones que pueden seguir a una posición dada. Es esencial para definir correctamente las transiciones entre estados en el AFD basado en el árbol de la expresión regular.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507390" y="1000125"/>
            <a:ext cx="13503300" cy="144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3000"/>
              </a:lnSpc>
              <a:buSzPts val="6900"/>
            </a:pPr>
            <a:r>
              <a:rPr lang="en-US" sz="690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Rigor Formal</a:t>
            </a:r>
            <a:endParaRPr lang="en-US" sz="7200" dirty="0">
              <a:latin typeface="Impact"/>
              <a:ea typeface="Impact"/>
              <a:cs typeface="Impact"/>
              <a:sym typeface="Impact"/>
            </a:endParaRPr>
          </a:p>
          <a:p>
            <a:pPr lvl="0" algn="ctr">
              <a:lnSpc>
                <a:spcPct val="113000"/>
              </a:lnSpc>
              <a:buSzPts val="6900"/>
            </a:pP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3945129" y="7328848"/>
            <a:ext cx="3906143" cy="2638012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5E22F92-10BC-05F2-5704-20638E23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859" y="3451430"/>
            <a:ext cx="140762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GT" altLang="es-GT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s-ES" sz="3600" dirty="0"/>
              <a:t>El uso de métodos formales como el del árbol en la conversión de autómatas fomenta el pensamiento estructurado, la disciplina en la resolución de problemas y la capacidad de abstraer soluciones precisas en contextos complejos</a:t>
            </a:r>
            <a:endParaRPr kumimoji="0" lang="es-GT" altLang="es-GT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84" name="Google Shape;184;p8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8">
            <a:extLst>
              <a:ext uri="{FF2B5EF4-FFF2-40B4-BE49-F238E27FC236}">
                <a16:creationId xmlns:a16="http://schemas.microsoft.com/office/drawing/2014/main" id="{00E6A492-9822-BFD4-4165-7AFDDE647DF3}"/>
              </a:ext>
            </a:extLst>
          </p:cNvPr>
          <p:cNvSpPr txBox="1"/>
          <p:nvPr/>
        </p:nvSpPr>
        <p:spPr>
          <a:xfrm>
            <a:off x="5688334" y="4132271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9"/>
              </a:lnSpc>
            </a:pPr>
            <a:r>
              <a:rPr lang="en-US" sz="3200" dirty="0"/>
              <a:t>"Compilers: Principles, Techniques, and Tools" - Aho, Sethi, Ullman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0" name="Google Shape;190;g364f262177b_0_2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92" name="Google Shape;192;g364f262177b_0_2" title="Gemini_Generated_Image_u2i06ou2i06ou2i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64afea4f63_0_14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24" name="Google Shape;22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1652</Words>
  <Application>Microsoft Office PowerPoint</Application>
  <PresentationFormat>Personalizado</PresentationFormat>
  <Paragraphs>184</Paragraphs>
  <Slides>30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Courier New</vt:lpstr>
      <vt:lpstr>Pacifico</vt:lpstr>
      <vt:lpstr>Lobster</vt:lpstr>
      <vt:lpstr>Calibri</vt:lpstr>
      <vt:lpstr>Montserrat</vt:lpstr>
      <vt:lpstr>Arial</vt:lpstr>
      <vt:lpstr>Open Sans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 M</cp:lastModifiedBy>
  <cp:revision>4</cp:revision>
  <dcterms:created xsi:type="dcterms:W3CDTF">2006-08-16T00:00:00Z</dcterms:created>
  <dcterms:modified xsi:type="dcterms:W3CDTF">2025-11-07T01:45:32Z</dcterms:modified>
</cp:coreProperties>
</file>