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Lobster"/>
      <p:regular r:id="rId35"/>
    </p:embeddedFont>
    <p:embeddedFont>
      <p:font typeface="Montserrat"/>
      <p:regular r:id="rId36"/>
      <p:bold r:id="rId37"/>
      <p:italic r:id="rId38"/>
      <p:boldItalic r:id="rId39"/>
    </p:embeddedFont>
    <p:embeddedFont>
      <p:font typeface="Pacifico"/>
      <p:regular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0384B8-B920-47B7-BEAB-658D2A46653C}">
  <a:tblStyle styleId="{220384B8-B920-47B7-BEAB-658D2A46653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acifico-regular.fntdata"/><Relationship Id="rId20" Type="http://schemas.openxmlformats.org/officeDocument/2006/relationships/slide" Target="slides/slide13.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5.xml"/><Relationship Id="rId44" Type="http://schemas.openxmlformats.org/officeDocument/2006/relationships/font" Target="fonts/OpenSans-boldItalic.fntdata"/><Relationship Id="rId21" Type="http://schemas.openxmlformats.org/officeDocument/2006/relationships/slide" Target="slides/slide14.xml"/><Relationship Id="rId43" Type="http://schemas.openxmlformats.org/officeDocument/2006/relationships/font" Target="fonts/OpenSans-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Lobster-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Montserrat-bold.fntdata"/><Relationship Id="rId14" Type="http://schemas.openxmlformats.org/officeDocument/2006/relationships/slide" Target="slides/slide7.xml"/><Relationship Id="rId36" Type="http://schemas.openxmlformats.org/officeDocument/2006/relationships/font" Target="fonts/Montserrat-regular.fntdata"/><Relationship Id="rId17" Type="http://schemas.openxmlformats.org/officeDocument/2006/relationships/slide" Target="slides/slide10.xml"/><Relationship Id="rId39" Type="http://schemas.openxmlformats.org/officeDocument/2006/relationships/font" Target="fonts/Montserrat-boldItalic.fntdata"/><Relationship Id="rId16" Type="http://schemas.openxmlformats.org/officeDocument/2006/relationships/slide" Target="slides/slide9.xml"/><Relationship Id="rId38" Type="http://schemas.openxmlformats.org/officeDocument/2006/relationships/font" Target="fonts/Montserrat-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179896d72_5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a179896d72_5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179896d72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g3a179896d72_2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179896d72_5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a179896d72_5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179896d72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3a179896d72_2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179896d72_2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a179896d72_2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179896d72_2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a179896d72_2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179896d72_2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a179896d72_2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179896d72_2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a179896d72_2_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179896d72_2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a179896d72_2_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179896d72_2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a179896d72_2_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179896d72_2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a179896d72_2_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179896d72_2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g3a179896d72_2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179896d72_2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a179896d72_2_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179896d72_2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3a179896d72_2_2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179896d72_2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g3a179896d72_2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179896d72_2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a179896d72_2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179896d72_2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g3a179896d72_2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179896d72_2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2" name="Google Shape;422;g3a179896d72_2_3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179896d72_2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1" name="Google Shape;441;g3a179896d72_2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a179896d72_2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a179896d72_2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a179896d72_5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g3a179896d72_5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a179896d72_5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3a179896d72_5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a179896d72_2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g3a179896d72_2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179896d72_5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7" name="Google Shape;477;g3a179896d72_5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a179896d72_5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g3a179896d72_5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a179896d72_5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3a179896d72_5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a179896d72_5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g3a179896d72_5_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5" name="Google Shape;115;p23"/>
          <p:cNvSpPr txBox="1"/>
          <p:nvPr>
            <p:ph idx="1" type="body"/>
          </p:nvPr>
        </p:nvSpPr>
        <p:spPr>
          <a:xfrm rot="5400000">
            <a:off x="1154510" y="-125809"/>
            <a:ext cx="2262981"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1"/>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hyperlink" Target="https://www.youtube.com/watch?v=AQovg7-UAl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34" name="Google Shape;134;p26"/>
          <p:cNvGraphicFramePr/>
          <p:nvPr/>
        </p:nvGraphicFramePr>
        <p:xfrm>
          <a:off x="5328200" y="970025"/>
          <a:ext cx="3000000" cy="3000000"/>
        </p:xfrm>
        <a:graphic>
          <a:graphicData uri="http://schemas.openxmlformats.org/drawingml/2006/table">
            <a:tbl>
              <a:tblPr>
                <a:noFill/>
                <a:tableStyleId>{220384B8-B920-47B7-BEAB-658D2A46653C}</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latin typeface="Montserrat"/>
                          <a:ea typeface="Montserrat"/>
                          <a:cs typeface="Montserrat"/>
                          <a:sym typeface="Montserrat"/>
                        </a:rPr>
                        <a:t>Día, Fecha:</a:t>
                      </a:r>
                      <a:endParaRPr b="1" sz="1400" u="none" cap="none" strike="noStrike">
                        <a:solidFill>
                          <a:schemeClr val="dk1"/>
                        </a:solidFill>
                        <a:latin typeface="Montserrat"/>
                        <a:ea typeface="Montserrat"/>
                        <a:cs typeface="Montserrat"/>
                        <a:sym typeface="Montserra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latin typeface="Montserrat"/>
                          <a:ea typeface="Montserrat"/>
                          <a:cs typeface="Montserrat"/>
                          <a:sym typeface="Montserrat"/>
                        </a:rPr>
                        <a:t>x de x de 2026</a:t>
                      </a:r>
                      <a:endParaRPr b="1" sz="1400" u="none" cap="none" strike="noStrike">
                        <a:latin typeface="Montserrat"/>
                        <a:ea typeface="Montserrat"/>
                        <a:cs typeface="Montserrat"/>
                        <a:sym typeface="Montserrat"/>
                      </a:endParaRPr>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latin typeface="Montserrat"/>
                          <a:ea typeface="Montserrat"/>
                          <a:cs typeface="Montserrat"/>
                          <a:sym typeface="Montserrat"/>
                        </a:rPr>
                        <a:t>Hora de inicio:</a:t>
                      </a:r>
                      <a:endParaRPr b="1" sz="1400" u="none" cap="none" strike="noStrike">
                        <a:solidFill>
                          <a:schemeClr val="dk1"/>
                        </a:solidFill>
                        <a:latin typeface="Montserrat"/>
                        <a:ea typeface="Montserrat"/>
                        <a:cs typeface="Montserrat"/>
                        <a:sym typeface="Montserra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latin typeface="Montserrat"/>
                          <a:ea typeface="Montserrat"/>
                          <a:cs typeface="Montserrat"/>
                          <a:sym typeface="Montserrat"/>
                        </a:rPr>
                        <a:t>xx:xx - xxxx</a:t>
                      </a:r>
                      <a:endParaRPr b="1" sz="1400" u="none" cap="none" strike="noStrike">
                        <a:latin typeface="Montserrat"/>
                        <a:ea typeface="Montserrat"/>
                        <a:cs typeface="Montserrat"/>
                        <a:sym typeface="Montserrat"/>
                      </a:endParaRPr>
                    </a:p>
                  </a:txBody>
                  <a:tcPr marT="91425" marB="91425" marR="91425" marL="91425"/>
                </a:tc>
              </a:tr>
            </a:tbl>
          </a:graphicData>
        </a:graphic>
      </p:graphicFrame>
      <p:sp>
        <p:nvSpPr>
          <p:cNvPr id="135" name="Google Shape;135;p26"/>
          <p:cNvSpPr txBox="1"/>
          <p:nvPr/>
        </p:nvSpPr>
        <p:spPr>
          <a:xfrm>
            <a:off x="1414125" y="2393550"/>
            <a:ext cx="7223250" cy="56955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Montserrat"/>
                <a:ea typeface="Montserrat"/>
                <a:cs typeface="Montserrat"/>
                <a:sym typeface="Montserrat"/>
              </a:rPr>
              <a:t>Lenguajes Formales y De Programación X</a:t>
            </a:r>
            <a:endParaRPr b="1" i="0" sz="2500" u="none" cap="none" strike="noStrike">
              <a:solidFill>
                <a:srgbClr val="000000"/>
              </a:solidFill>
              <a:latin typeface="Montserrat"/>
              <a:ea typeface="Montserrat"/>
              <a:cs typeface="Montserrat"/>
              <a:sym typeface="Montserrat"/>
            </a:endParaRPr>
          </a:p>
        </p:txBody>
      </p:sp>
      <p:sp>
        <p:nvSpPr>
          <p:cNvPr id="136" name="Google Shape;136;p26"/>
          <p:cNvSpPr txBox="1"/>
          <p:nvPr/>
        </p:nvSpPr>
        <p:spPr>
          <a:xfrm>
            <a:off x="2329125" y="3177075"/>
            <a:ext cx="448575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latin typeface="Montserrat"/>
                <a:ea typeface="Montserrat"/>
                <a:cs typeface="Montserrat"/>
                <a:sym typeface="Montserrat"/>
              </a:rPr>
              <a:t>Nombre del Tutor : XXXXX</a:t>
            </a:r>
            <a:endParaRPr b="1" i="0" sz="2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2" name="Google Shape;142;p27"/>
          <p:cNvSpPr txBox="1"/>
          <p:nvPr/>
        </p:nvSpPr>
        <p:spPr>
          <a:xfrm>
            <a:off x="531651" y="3201013"/>
            <a:ext cx="4477078"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s" sz="2500" u="none" cap="none" strike="noStrike">
                <a:solidFill>
                  <a:srgbClr val="131416"/>
                </a:solidFill>
                <a:latin typeface="Open Sans"/>
                <a:ea typeface="Open Sans"/>
                <a:cs typeface="Open Sans"/>
                <a:sym typeface="Open Sans"/>
              </a:rPr>
              <a:t>Lenguajes Formales y de Programación</a:t>
            </a:r>
            <a:endParaRPr b="1" i="0" sz="2500" u="none" cap="none" strike="noStrike">
              <a:solidFill>
                <a:srgbClr val="131416"/>
              </a:solidFill>
              <a:latin typeface="Open Sans"/>
              <a:ea typeface="Open Sans"/>
              <a:cs typeface="Open Sans"/>
              <a:sym typeface="Open Sans"/>
            </a:endParaRPr>
          </a:p>
        </p:txBody>
      </p:sp>
      <p:sp>
        <p:nvSpPr>
          <p:cNvPr id="143" name="Google Shape;143;p27"/>
          <p:cNvSpPr txBox="1"/>
          <p:nvPr/>
        </p:nvSpPr>
        <p:spPr>
          <a:xfrm>
            <a:off x="1343703" y="1957824"/>
            <a:ext cx="6187500" cy="99104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131416"/>
                </a:solidFill>
                <a:latin typeface="Open Sans"/>
                <a:ea typeface="Open Sans"/>
                <a:cs typeface="Open Sans"/>
                <a:sym typeface="Open Sans"/>
              </a:rPr>
              <a:t>Análisis Sintáctico</a:t>
            </a:r>
            <a:endParaRPr b="0" i="0" sz="700" u="none" cap="none" strike="noStrike">
              <a:solidFill>
                <a:srgbClr val="000000"/>
              </a:solidFill>
              <a:latin typeface="Arial"/>
              <a:ea typeface="Arial"/>
              <a:cs typeface="Arial"/>
              <a:sym typeface="Arial"/>
            </a:endParaRPr>
          </a:p>
        </p:txBody>
      </p:sp>
      <p:sp>
        <p:nvSpPr>
          <p:cNvPr id="144" name="Google Shape;144;p27"/>
          <p:cNvSpPr txBox="1"/>
          <p:nvPr/>
        </p:nvSpPr>
        <p:spPr>
          <a:xfrm>
            <a:off x="531651" y="4372626"/>
            <a:ext cx="3490689" cy="21113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Escuela de Ingenieria de Ciencias Y Sistemas</a:t>
            </a:r>
            <a:endParaRPr b="1" i="0" sz="1200" u="none" cap="none" strike="noStrike">
              <a:solidFill>
                <a:srgbClr val="131416"/>
              </a:solidFill>
              <a:latin typeface="Open Sans"/>
              <a:ea typeface="Open Sans"/>
              <a:cs typeface="Open Sans"/>
              <a:sym typeface="Open Sans"/>
            </a:endParaRPr>
          </a:p>
        </p:txBody>
      </p:sp>
      <p:sp>
        <p:nvSpPr>
          <p:cNvPr id="145" name="Google Shape;145;p27"/>
          <p:cNvSpPr txBox="1"/>
          <p:nvPr/>
        </p:nvSpPr>
        <p:spPr>
          <a:xfrm>
            <a:off x="514350" y="4605338"/>
            <a:ext cx="3333750" cy="211138"/>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Facultad de Ingenieria</a:t>
            </a:r>
            <a:endParaRPr b="1" i="0" sz="1200" u="none" cap="none" strike="noStrike">
              <a:solidFill>
                <a:srgbClr val="131416"/>
              </a:solidFill>
              <a:latin typeface="Open Sans"/>
              <a:ea typeface="Open Sans"/>
              <a:cs typeface="Open Sans"/>
              <a:sym typeface="Open Sans"/>
            </a:endParaRPr>
          </a:p>
        </p:txBody>
      </p:sp>
      <p:sp>
        <p:nvSpPr>
          <p:cNvPr id="146" name="Google Shape;146;p27"/>
          <p:cNvSpPr txBox="1"/>
          <p:nvPr/>
        </p:nvSpPr>
        <p:spPr>
          <a:xfrm>
            <a:off x="114300" y="4794127"/>
            <a:ext cx="4057650" cy="209673"/>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Universidad de San Carlos de Guatemala</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8" title="Gemini_Generated_Image_sfb0qdsfb0qdsfb0.png"/>
          <p:cNvPicPr preferRelativeResize="0"/>
          <p:nvPr/>
        </p:nvPicPr>
        <p:blipFill rotWithShape="1">
          <a:blip r:embed="rId3">
            <a:alphaModFix/>
          </a:blip>
          <a:srcRect b="0" l="0" r="0" t="0"/>
          <a:stretch/>
        </p:blipFill>
        <p:spPr>
          <a:xfrm>
            <a:off x="-147212" y="1556995"/>
            <a:ext cx="2617180" cy="3586506"/>
          </a:xfrm>
          <a:prstGeom prst="rect">
            <a:avLst/>
          </a:prstGeom>
          <a:noFill/>
          <a:ln>
            <a:noFill/>
          </a:ln>
        </p:spPr>
      </p:pic>
      <p:sp>
        <p:nvSpPr>
          <p:cNvPr id="152" name="Google Shape;152;p28"/>
          <p:cNvSpPr txBox="1"/>
          <p:nvPr/>
        </p:nvSpPr>
        <p:spPr>
          <a:xfrm>
            <a:off x="1074220" y="1479820"/>
            <a:ext cx="6995550" cy="46935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COMPETENCIA QUE DESARROLLAREMOS</a:t>
            </a:r>
            <a:endParaRPr b="0" i="0" sz="700" u="none" cap="none" strike="noStrike">
              <a:solidFill>
                <a:srgbClr val="000000"/>
              </a:solidFill>
              <a:latin typeface="Impact"/>
              <a:ea typeface="Impact"/>
              <a:cs typeface="Impact"/>
              <a:sym typeface="Impact"/>
            </a:endParaRPr>
          </a:p>
        </p:txBody>
      </p:sp>
      <p:sp>
        <p:nvSpPr>
          <p:cNvPr id="153" name="Google Shape;153;p28"/>
          <p:cNvSpPr txBox="1"/>
          <p:nvPr/>
        </p:nvSpPr>
        <p:spPr>
          <a:xfrm>
            <a:off x="1228800" y="2103825"/>
            <a:ext cx="6686400" cy="93585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chemeClr val="dk1"/>
              </a:buClr>
              <a:buSzPts val="600"/>
              <a:buFont typeface="Arial"/>
              <a:buNone/>
            </a:pPr>
            <a:r>
              <a:rPr b="0" i="0" lang="es" sz="1600" u="none" cap="none" strike="noStrike">
                <a:solidFill>
                  <a:schemeClr val="dk1"/>
                </a:solidFill>
                <a:latin typeface="Montserrat"/>
                <a:ea typeface="Montserrat"/>
                <a:cs typeface="Montserrat"/>
                <a:sym typeface="Montserrat"/>
              </a:rPr>
              <a:t>El estudiante necesita ser disciplinado para aprender y practicar la sintaxis del lenguaje de manera correcta.</a:t>
            </a:r>
            <a:endParaRPr b="0" i="0" sz="1600" u="none" cap="none" strike="noStrike">
              <a:solidFill>
                <a:schemeClr val="dk1"/>
              </a:solidFill>
              <a:latin typeface="Montserrat"/>
              <a:ea typeface="Montserrat"/>
              <a:cs typeface="Montserrat"/>
              <a:sym typeface="Montserrat"/>
            </a:endParaRPr>
          </a:p>
          <a:p>
            <a:pPr indent="0" lvl="0" marL="0" marR="0" rtl="0" algn="ctr">
              <a:lnSpc>
                <a:spcPct val="140007"/>
              </a:lnSpc>
              <a:spcBef>
                <a:spcPts val="0"/>
              </a:spcBef>
              <a:spcAft>
                <a:spcPts val="0"/>
              </a:spcAft>
              <a:buClr>
                <a:schemeClr val="dk1"/>
              </a:buClr>
              <a:buSzPts val="600"/>
              <a:buFont typeface="Arial"/>
              <a:buNone/>
            </a:pPr>
            <a:r>
              <a:t/>
            </a:r>
            <a:endParaRPr b="0" i="0" sz="1600" u="none" cap="none" strike="noStrike">
              <a:solidFill>
                <a:schemeClr val="dk1"/>
              </a:solidFill>
              <a:latin typeface="Montserrat"/>
              <a:ea typeface="Montserrat"/>
              <a:cs typeface="Montserrat"/>
              <a:sym typeface="Montserrat"/>
            </a:endParaRPr>
          </a:p>
        </p:txBody>
      </p:sp>
      <p:sp>
        <p:nvSpPr>
          <p:cNvPr id="154" name="Google Shape;154;p28"/>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pic>
        <p:nvPicPr>
          <p:cNvPr id="155" name="Google Shape;155;p28"/>
          <p:cNvPicPr preferRelativeResize="0"/>
          <p:nvPr/>
        </p:nvPicPr>
        <p:blipFill rotWithShape="1">
          <a:blip r:embed="rId5">
            <a:alphaModFix/>
          </a:blip>
          <a:srcRect b="0" l="0" r="0" t="0"/>
          <a:stretch/>
        </p:blipFill>
        <p:spPr>
          <a:xfrm>
            <a:off x="6997150" y="3674263"/>
            <a:ext cx="2146849" cy="143193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p29"/>
          <p:cNvGrpSpPr/>
          <p:nvPr/>
        </p:nvGrpSpPr>
        <p:grpSpPr>
          <a:xfrm>
            <a:off x="88309" y="2279911"/>
            <a:ext cx="3004561" cy="422692"/>
            <a:chOff x="0" y="-59452"/>
            <a:chExt cx="2558386" cy="359923"/>
          </a:xfrm>
        </p:grpSpPr>
        <p:sp>
          <p:nvSpPr>
            <p:cNvPr id="161" name="Google Shape;161;p29"/>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2" name="Google Shape;162;p29"/>
            <p:cNvSpPr txBox="1"/>
            <p:nvPr/>
          </p:nvSpPr>
          <p:spPr>
            <a:xfrm>
              <a:off x="271435" y="-59452"/>
              <a:ext cx="228695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Árboles de derivación</a:t>
              </a:r>
              <a:endParaRPr b="0" i="0" sz="700" u="none" cap="none" strike="noStrike">
                <a:solidFill>
                  <a:srgbClr val="000000"/>
                </a:solidFill>
                <a:latin typeface="Arial"/>
                <a:ea typeface="Arial"/>
                <a:cs typeface="Arial"/>
                <a:sym typeface="Arial"/>
              </a:endParaRPr>
            </a:p>
          </p:txBody>
        </p:sp>
      </p:grpSp>
      <p:sp>
        <p:nvSpPr>
          <p:cNvPr id="163" name="Google Shape;163;p29"/>
          <p:cNvSpPr/>
          <p:nvPr/>
        </p:nvSpPr>
        <p:spPr>
          <a:xfrm>
            <a:off x="439327" y="2370221"/>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164" name="Google Shape;164;p29"/>
          <p:cNvGrpSpPr/>
          <p:nvPr/>
        </p:nvGrpSpPr>
        <p:grpSpPr>
          <a:xfrm>
            <a:off x="933494" y="1506992"/>
            <a:ext cx="2057595" cy="778242"/>
            <a:chOff x="0" y="-76200"/>
            <a:chExt cx="1083836" cy="409938"/>
          </a:xfrm>
        </p:grpSpPr>
        <p:sp>
          <p:nvSpPr>
            <p:cNvPr id="165" name="Google Shape;165;p29"/>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6" name="Google Shape;166;p29"/>
            <p:cNvSpPr txBox="1"/>
            <p:nvPr/>
          </p:nvSpPr>
          <p:spPr>
            <a:xfrm>
              <a:off x="0" y="-76200"/>
              <a:ext cx="969536" cy="409938"/>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RECORDATORIOS</a:t>
              </a:r>
              <a:endParaRPr b="0" i="0" sz="700" u="none" cap="none" strike="noStrike">
                <a:solidFill>
                  <a:srgbClr val="000000"/>
                </a:solidFill>
                <a:latin typeface="Arial"/>
                <a:ea typeface="Arial"/>
                <a:cs typeface="Arial"/>
                <a:sym typeface="Arial"/>
              </a:endParaRPr>
            </a:p>
          </p:txBody>
        </p:sp>
      </p:grpSp>
      <p:sp>
        <p:nvSpPr>
          <p:cNvPr id="167" name="Google Shape;167;p29"/>
          <p:cNvSpPr/>
          <p:nvPr/>
        </p:nvSpPr>
        <p:spPr>
          <a:xfrm>
            <a:off x="325877" y="1714868"/>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8" name="Google Shape;168;p29"/>
          <p:cNvSpPr txBox="1"/>
          <p:nvPr/>
        </p:nvSpPr>
        <p:spPr>
          <a:xfrm>
            <a:off x="325874" y="245450"/>
            <a:ext cx="3855151" cy="11544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Agenda</a:t>
            </a:r>
            <a:endParaRPr b="0" i="0" sz="700" u="none" cap="none" strike="noStrike">
              <a:solidFill>
                <a:srgbClr val="000000"/>
              </a:solidFill>
              <a:latin typeface="Pacifico"/>
              <a:ea typeface="Pacifico"/>
              <a:cs typeface="Pacifico"/>
              <a:sym typeface="Pacifico"/>
            </a:endParaRPr>
          </a:p>
        </p:txBody>
      </p:sp>
      <p:sp>
        <p:nvSpPr>
          <p:cNvPr id="169" name="Google Shape;169;p29"/>
          <p:cNvSpPr txBox="1"/>
          <p:nvPr/>
        </p:nvSpPr>
        <p:spPr>
          <a:xfrm>
            <a:off x="5052995" y="195384"/>
            <a:ext cx="42084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Lobster"/>
                <a:ea typeface="Lobster"/>
                <a:cs typeface="Lobster"/>
                <a:sym typeface="Lobster"/>
              </a:rPr>
              <a:t>Recursos</a:t>
            </a:r>
            <a:endParaRPr b="0" i="0" sz="700" u="none" cap="none" strike="noStrike">
              <a:solidFill>
                <a:srgbClr val="000000"/>
              </a:solidFill>
              <a:latin typeface="Lobster"/>
              <a:ea typeface="Lobster"/>
              <a:cs typeface="Lobster"/>
              <a:sym typeface="Lobster"/>
            </a:endParaRPr>
          </a:p>
        </p:txBody>
      </p:sp>
      <p:grpSp>
        <p:nvGrpSpPr>
          <p:cNvPr id="170" name="Google Shape;170;p29"/>
          <p:cNvGrpSpPr/>
          <p:nvPr/>
        </p:nvGrpSpPr>
        <p:grpSpPr>
          <a:xfrm>
            <a:off x="5869902" y="1399317"/>
            <a:ext cx="2676823" cy="850573"/>
            <a:chOff x="0" y="-114300"/>
            <a:chExt cx="1410014" cy="448038"/>
          </a:xfrm>
        </p:grpSpPr>
        <p:sp>
          <p:nvSpPr>
            <p:cNvPr id="171" name="Google Shape;171;p29"/>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2" name="Google Shape;172;p29"/>
            <p:cNvSpPr txBox="1"/>
            <p:nvPr/>
          </p:nvSpPr>
          <p:spPr>
            <a:xfrm>
              <a:off x="0" y="-114300"/>
              <a:ext cx="1295714" cy="448038"/>
            </a:xfrm>
            <a:prstGeom prst="rect">
              <a:avLst/>
            </a:prstGeom>
            <a:noFill/>
            <a:ln>
              <a:noFill/>
            </a:ln>
          </p:spPr>
          <p:txBody>
            <a:bodyPr anchorCtr="0" anchor="ctr" bIns="25400" lIns="25400" spcFirstLastPara="1" rIns="25400" wrap="square" tIns="25400">
              <a:noAutofit/>
            </a:bodyPr>
            <a:lstStyle/>
            <a:p>
              <a:pPr indent="0" lvl="0" marL="0" marR="0" rtl="0" algn="ctr">
                <a:lnSpc>
                  <a:spcPct val="148010"/>
                </a:lnSpc>
                <a:spcBef>
                  <a:spcPts val="0"/>
                </a:spcBef>
                <a:spcAft>
                  <a:spcPts val="0"/>
                </a:spcAft>
                <a:buClr>
                  <a:srgbClr val="000000"/>
                </a:buClr>
                <a:buSzPts val="2200"/>
                <a:buFont typeface="Arial"/>
                <a:buNone/>
              </a:pPr>
              <a:r>
                <a:rPr b="0" i="0" lang="es" sz="2200" u="sng" cap="none" strike="noStrike">
                  <a:solidFill>
                    <a:schemeClr val="hlink"/>
                  </a:solidFill>
                  <a:latin typeface="Arial"/>
                  <a:ea typeface="Arial"/>
                  <a:cs typeface="Arial"/>
                  <a:sym typeface="Arial"/>
                  <a:hlinkClick r:id="rId5"/>
                </a:rPr>
                <a:t>Link del Video</a:t>
              </a:r>
              <a:endParaRPr b="0" i="0" sz="700" u="none" cap="none" strike="noStrike">
                <a:solidFill>
                  <a:srgbClr val="000000"/>
                </a:solidFill>
                <a:latin typeface="Arial"/>
                <a:ea typeface="Arial"/>
                <a:cs typeface="Arial"/>
                <a:sym typeface="Arial"/>
              </a:endParaRPr>
            </a:p>
          </p:txBody>
        </p:sp>
      </p:grpSp>
      <p:grpSp>
        <p:nvGrpSpPr>
          <p:cNvPr id="173" name="Google Shape;173;p29"/>
          <p:cNvGrpSpPr/>
          <p:nvPr/>
        </p:nvGrpSpPr>
        <p:grpSpPr>
          <a:xfrm>
            <a:off x="-568407" y="2734757"/>
            <a:ext cx="3842506" cy="422693"/>
            <a:chOff x="-559195" y="-65466"/>
            <a:chExt cx="3271896" cy="359923"/>
          </a:xfrm>
        </p:grpSpPr>
        <p:sp>
          <p:nvSpPr>
            <p:cNvPr id="174" name="Google Shape;174;p29"/>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5" name="Google Shape;175;p29"/>
            <p:cNvSpPr txBox="1"/>
            <p:nvPr/>
          </p:nvSpPr>
          <p:spPr>
            <a:xfrm>
              <a:off x="-559195" y="-65466"/>
              <a:ext cx="3271896"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Ambiguedad</a:t>
              </a:r>
              <a:endParaRPr b="0" i="0" sz="700" u="none" cap="none" strike="noStrike">
                <a:solidFill>
                  <a:srgbClr val="000000"/>
                </a:solidFill>
                <a:latin typeface="Arial"/>
                <a:ea typeface="Arial"/>
                <a:cs typeface="Arial"/>
                <a:sym typeface="Arial"/>
              </a:endParaRPr>
            </a:p>
          </p:txBody>
        </p:sp>
      </p:grpSp>
      <p:grpSp>
        <p:nvGrpSpPr>
          <p:cNvPr id="176" name="Google Shape;176;p29"/>
          <p:cNvGrpSpPr/>
          <p:nvPr/>
        </p:nvGrpSpPr>
        <p:grpSpPr>
          <a:xfrm>
            <a:off x="88309" y="3223635"/>
            <a:ext cx="2598582" cy="422692"/>
            <a:chOff x="0" y="-67091"/>
            <a:chExt cx="2212695" cy="359923"/>
          </a:xfrm>
        </p:grpSpPr>
        <p:sp>
          <p:nvSpPr>
            <p:cNvPr id="177" name="Google Shape;177;p29"/>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8" name="Google Shape;178;p29"/>
            <p:cNvSpPr txBox="1"/>
            <p:nvPr/>
          </p:nvSpPr>
          <p:spPr>
            <a:xfrm>
              <a:off x="362774" y="-67091"/>
              <a:ext cx="184992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Automatas de Pila</a:t>
              </a:r>
              <a:endParaRPr b="0" i="0" sz="700" u="none" cap="none" strike="noStrike">
                <a:solidFill>
                  <a:srgbClr val="000000"/>
                </a:solidFill>
                <a:latin typeface="Arial"/>
                <a:ea typeface="Arial"/>
                <a:cs typeface="Arial"/>
                <a:sym typeface="Arial"/>
              </a:endParaRPr>
            </a:p>
          </p:txBody>
        </p:sp>
      </p:grpSp>
      <p:grpSp>
        <p:nvGrpSpPr>
          <p:cNvPr id="179" name="Google Shape;179;p29"/>
          <p:cNvGrpSpPr/>
          <p:nvPr/>
        </p:nvGrpSpPr>
        <p:grpSpPr>
          <a:xfrm>
            <a:off x="88309" y="3674729"/>
            <a:ext cx="2306776" cy="422692"/>
            <a:chOff x="0" y="-76200"/>
            <a:chExt cx="1964221" cy="359923"/>
          </a:xfrm>
        </p:grpSpPr>
        <p:sp>
          <p:nvSpPr>
            <p:cNvPr id="180" name="Google Shape;180;p29"/>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1" name="Google Shape;181;p29"/>
            <p:cNvSpPr txBox="1"/>
            <p:nvPr/>
          </p:nvSpPr>
          <p:spPr>
            <a:xfrm>
              <a:off x="57150" y="-76200"/>
              <a:ext cx="184992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Tarea 4</a:t>
              </a:r>
              <a:endParaRPr b="0" i="0" sz="700" u="none" cap="none" strike="noStrike">
                <a:solidFill>
                  <a:srgbClr val="000000"/>
                </a:solidFill>
                <a:latin typeface="Arial"/>
                <a:ea typeface="Arial"/>
                <a:cs typeface="Arial"/>
                <a:sym typeface="Arial"/>
              </a:endParaRPr>
            </a:p>
          </p:txBody>
        </p:sp>
      </p:grpSp>
      <p:grpSp>
        <p:nvGrpSpPr>
          <p:cNvPr id="182" name="Google Shape;182;p29"/>
          <p:cNvGrpSpPr/>
          <p:nvPr/>
        </p:nvGrpSpPr>
        <p:grpSpPr>
          <a:xfrm>
            <a:off x="88310" y="4206458"/>
            <a:ext cx="3411745" cy="422692"/>
            <a:chOff x="0" y="-76200"/>
            <a:chExt cx="2905103" cy="359923"/>
          </a:xfrm>
        </p:grpSpPr>
        <p:sp>
          <p:nvSpPr>
            <p:cNvPr id="183" name="Google Shape;183;p29"/>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4" name="Google Shape;184;p29"/>
            <p:cNvSpPr txBox="1"/>
            <p:nvPr/>
          </p:nvSpPr>
          <p:spPr>
            <a:xfrm>
              <a:off x="618152" y="-76200"/>
              <a:ext cx="2286951" cy="359923"/>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Horarios Calificación Proyecto 2</a:t>
              </a:r>
              <a:endParaRPr b="0" i="0" sz="700" u="none" cap="none" strike="noStrike">
                <a:solidFill>
                  <a:srgbClr val="000000"/>
                </a:solidFill>
                <a:latin typeface="Arial"/>
                <a:ea typeface="Arial"/>
                <a:cs typeface="Arial"/>
                <a:sym typeface="Arial"/>
              </a:endParaRPr>
            </a:p>
          </p:txBody>
        </p:sp>
      </p:grpSp>
      <p:sp>
        <p:nvSpPr>
          <p:cNvPr id="185" name="Google Shape;185;p29"/>
          <p:cNvSpPr/>
          <p:nvPr/>
        </p:nvSpPr>
        <p:spPr>
          <a:xfrm>
            <a:off x="439327" y="2811640"/>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6" name="Google Shape;186;p29"/>
          <p:cNvSpPr/>
          <p:nvPr/>
        </p:nvSpPr>
        <p:spPr>
          <a:xfrm>
            <a:off x="439327" y="3302427"/>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7" name="Google Shape;187;p29"/>
          <p:cNvSpPr/>
          <p:nvPr/>
        </p:nvSpPr>
        <p:spPr>
          <a:xfrm>
            <a:off x="439327" y="3802318"/>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8" name="Google Shape;188;p29"/>
          <p:cNvSpPr/>
          <p:nvPr/>
        </p:nvSpPr>
        <p:spPr>
          <a:xfrm>
            <a:off x="439327" y="4302770"/>
            <a:ext cx="226679" cy="275047"/>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COMPETENCIA QUE DESARROLLAREMOS</a:t>
            </a:r>
            <a:endParaRPr b="0" i="0" sz="700" u="none" cap="none" strike="noStrike">
              <a:solidFill>
                <a:srgbClr val="000000"/>
              </a:solidFill>
              <a:latin typeface="Impact"/>
              <a:ea typeface="Impact"/>
              <a:cs typeface="Impact"/>
              <a:sym typeface="Impact"/>
            </a:endParaRPr>
          </a:p>
        </p:txBody>
      </p:sp>
      <p:sp>
        <p:nvSpPr>
          <p:cNvPr id="194" name="Google Shape;194;p30"/>
          <p:cNvSpPr txBox="1"/>
          <p:nvPr/>
        </p:nvSpPr>
        <p:spPr>
          <a:xfrm>
            <a:off x="687445" y="2001311"/>
            <a:ext cx="3604841" cy="77559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El estudiante genera gramáticas libres de contexto mediante el análisis sintáctico para reconocer lenguajes formales. </a:t>
            </a:r>
            <a:endParaRPr b="0" i="0" sz="1200" u="none" cap="none" strike="noStrike">
              <a:solidFill>
                <a:srgbClr val="000000"/>
              </a:solidFill>
              <a:latin typeface="Arial"/>
              <a:ea typeface="Arial"/>
              <a:cs typeface="Arial"/>
              <a:sym typeface="Arial"/>
            </a:endParaRPr>
          </a:p>
        </p:txBody>
      </p:sp>
      <p:sp>
        <p:nvSpPr>
          <p:cNvPr id="195" name="Google Shape;195;p30"/>
          <p:cNvSpPr txBox="1"/>
          <p:nvPr/>
        </p:nvSpPr>
        <p:spPr>
          <a:xfrm>
            <a:off x="5010792" y="2001311"/>
            <a:ext cx="3604841" cy="129266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1200"/>
              <a:buFont typeface="Arial"/>
              <a:buNone/>
            </a:pPr>
            <a:r>
              <a:rPr b="1" i="0" lang="es" sz="1200" u="none" cap="none" strike="noStrike">
                <a:solidFill>
                  <a:srgbClr val="131416"/>
                </a:solidFill>
                <a:latin typeface="Open Sans"/>
                <a:ea typeface="Open Sans"/>
                <a:cs typeface="Open Sans"/>
                <a:sym typeface="Open Sans"/>
              </a:rPr>
              <a:t>El estudiante construye aplicaciones mediante el uso del análisis léxico y sintáctico utilizando herramientas de procesamiento de lenguajes formales para dar solución a enunciados que requieren el reconocimiento de lenguajes.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Definición y construcción de árboles de derivación</a:t>
            </a:r>
            <a:endParaRPr b="0" i="0" sz="700" u="none" cap="none" strike="noStrike">
              <a:solidFill>
                <a:srgbClr val="000000"/>
              </a:solidFill>
              <a:latin typeface="Impact"/>
              <a:ea typeface="Impact"/>
              <a:cs typeface="Impact"/>
              <a:sym typeface="Impact"/>
            </a:endParaRPr>
          </a:p>
        </p:txBody>
      </p:sp>
      <p:sp>
        <p:nvSpPr>
          <p:cNvPr id="201" name="Google Shape;201;p31"/>
          <p:cNvSpPr/>
          <p:nvPr/>
        </p:nvSpPr>
        <p:spPr>
          <a:xfrm>
            <a:off x="795397" y="1432719"/>
            <a:ext cx="11430" cy="2571095"/>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02" name="Google Shape;202;p31"/>
          <p:cNvSpPr/>
          <p:nvPr/>
        </p:nvSpPr>
        <p:spPr>
          <a:xfrm>
            <a:off x="895707" y="1639054"/>
            <a:ext cx="329863" cy="1143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03" name="Google Shape;203;p31"/>
          <p:cNvSpPr/>
          <p:nvPr/>
        </p:nvSpPr>
        <p:spPr>
          <a:xfrm>
            <a:off x="695087" y="1538744"/>
            <a:ext cx="212050" cy="212051"/>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04" name="Google Shape;204;p31"/>
          <p:cNvSpPr/>
          <p:nvPr/>
        </p:nvSpPr>
        <p:spPr>
          <a:xfrm>
            <a:off x="773728" y="1574046"/>
            <a:ext cx="54709" cy="1413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Open Sans"/>
                <a:ea typeface="Open Sans"/>
                <a:cs typeface="Open Sans"/>
                <a:sym typeface="Open Sans"/>
              </a:rPr>
              <a:t>1</a:t>
            </a:r>
            <a:endParaRPr b="0" i="0" sz="1400" u="none" cap="none" strike="noStrike">
              <a:solidFill>
                <a:schemeClr val="dk1"/>
              </a:solidFill>
              <a:latin typeface="Open Sans"/>
              <a:ea typeface="Open Sans"/>
              <a:cs typeface="Open Sans"/>
              <a:sym typeface="Open Sans"/>
            </a:endParaRPr>
          </a:p>
        </p:txBody>
      </p:sp>
      <p:sp>
        <p:nvSpPr>
          <p:cNvPr id="205" name="Google Shape;205;p31"/>
          <p:cNvSpPr/>
          <p:nvPr/>
        </p:nvSpPr>
        <p:spPr>
          <a:xfrm>
            <a:off x="1319510" y="1526957"/>
            <a:ext cx="1178183" cy="1472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Open Sans"/>
                <a:ea typeface="Open Sans"/>
                <a:cs typeface="Open Sans"/>
                <a:sym typeface="Open Sans"/>
              </a:rPr>
              <a:t>Definición</a:t>
            </a:r>
            <a:endParaRPr b="0" i="0" sz="1400" u="none" cap="none" strike="noStrike">
              <a:solidFill>
                <a:schemeClr val="dk1"/>
              </a:solidFill>
              <a:latin typeface="Open Sans"/>
              <a:ea typeface="Open Sans"/>
              <a:cs typeface="Open Sans"/>
              <a:sym typeface="Open Sans"/>
            </a:endParaRPr>
          </a:p>
        </p:txBody>
      </p:sp>
      <p:sp>
        <p:nvSpPr>
          <p:cNvPr id="206" name="Google Shape;206;p31"/>
          <p:cNvSpPr/>
          <p:nvPr/>
        </p:nvSpPr>
        <p:spPr>
          <a:xfrm>
            <a:off x="1319510" y="1730733"/>
            <a:ext cx="7029093" cy="4521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Open Sans"/>
                <a:ea typeface="Open Sans"/>
                <a:cs typeface="Open Sans"/>
                <a:sym typeface="Open Sans"/>
              </a:rPr>
              <a:t>Los árboles de derivación son representaciones visuales de la estructura sintáctica de una oración o expresión en un lenguaje de programación. Muestran cómo los diferentes elementos se relacionan entre sí.</a:t>
            </a:r>
            <a:endParaRPr b="0" i="0" sz="1400" u="none" cap="none" strike="noStrike">
              <a:solidFill>
                <a:schemeClr val="dk1"/>
              </a:solidFill>
              <a:latin typeface="Open Sans"/>
              <a:ea typeface="Open Sans"/>
              <a:cs typeface="Open Sans"/>
              <a:sym typeface="Open Sans"/>
            </a:endParaRPr>
          </a:p>
        </p:txBody>
      </p:sp>
      <p:sp>
        <p:nvSpPr>
          <p:cNvPr id="207" name="Google Shape;207;p31"/>
          <p:cNvSpPr/>
          <p:nvPr/>
        </p:nvSpPr>
        <p:spPr>
          <a:xfrm>
            <a:off x="888065" y="2908213"/>
            <a:ext cx="329863" cy="1143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08" name="Google Shape;208;p31"/>
          <p:cNvSpPr/>
          <p:nvPr/>
        </p:nvSpPr>
        <p:spPr>
          <a:xfrm>
            <a:off x="687445" y="2807903"/>
            <a:ext cx="212051" cy="212051"/>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09" name="Google Shape;209;p31"/>
          <p:cNvSpPr/>
          <p:nvPr/>
        </p:nvSpPr>
        <p:spPr>
          <a:xfrm>
            <a:off x="754060" y="2843205"/>
            <a:ext cx="78760" cy="1413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Open Sans"/>
                <a:ea typeface="Open Sans"/>
                <a:cs typeface="Open Sans"/>
                <a:sym typeface="Open Sans"/>
              </a:rPr>
              <a:t>2</a:t>
            </a:r>
            <a:endParaRPr b="0" i="0" sz="1400" u="none" cap="none" strike="noStrike">
              <a:solidFill>
                <a:schemeClr val="dk1"/>
              </a:solidFill>
              <a:latin typeface="Open Sans"/>
              <a:ea typeface="Open Sans"/>
              <a:cs typeface="Open Sans"/>
              <a:sym typeface="Open Sans"/>
            </a:endParaRPr>
          </a:p>
        </p:txBody>
      </p:sp>
      <p:sp>
        <p:nvSpPr>
          <p:cNvPr id="210" name="Google Shape;210;p31"/>
          <p:cNvSpPr/>
          <p:nvPr/>
        </p:nvSpPr>
        <p:spPr>
          <a:xfrm>
            <a:off x="1311868" y="2796116"/>
            <a:ext cx="1178183" cy="1472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Open Sans"/>
                <a:ea typeface="Open Sans"/>
                <a:cs typeface="Open Sans"/>
                <a:sym typeface="Open Sans"/>
              </a:rPr>
              <a:t>Construcción</a:t>
            </a:r>
            <a:endParaRPr b="0" i="0" sz="1400" u="none" cap="none" strike="noStrike">
              <a:solidFill>
                <a:schemeClr val="dk1"/>
              </a:solidFill>
              <a:latin typeface="Open Sans"/>
              <a:ea typeface="Open Sans"/>
              <a:cs typeface="Open Sans"/>
              <a:sym typeface="Open Sans"/>
            </a:endParaRPr>
          </a:p>
        </p:txBody>
      </p:sp>
      <p:sp>
        <p:nvSpPr>
          <p:cNvPr id="211" name="Google Shape;211;p31"/>
          <p:cNvSpPr/>
          <p:nvPr/>
        </p:nvSpPr>
        <p:spPr>
          <a:xfrm>
            <a:off x="1311868" y="2999891"/>
            <a:ext cx="6851135" cy="4521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Open Sans"/>
                <a:ea typeface="Open Sans"/>
                <a:cs typeface="Open Sans"/>
                <a:sym typeface="Open Sans"/>
              </a:rPr>
              <a:t>Para construir un árbol de derivación, partimos de la gramática del lenguaje y aplicamos reglas de derivación, expandiendo los símbolos no terminales hasta obtener únicamente símbolos terminales.</a:t>
            </a:r>
            <a:endParaRPr b="0" i="0" sz="1400" u="none" cap="none" strike="noStrike">
              <a:solidFill>
                <a:schemeClr val="dk1"/>
              </a:solidFill>
              <a:latin typeface="Open Sans"/>
              <a:ea typeface="Open Sans"/>
              <a:cs typeface="Open Sans"/>
              <a:sym typeface="Open Sans"/>
            </a:endParaRPr>
          </a:p>
        </p:txBody>
      </p:sp>
      <p:sp>
        <p:nvSpPr>
          <p:cNvPr id="212" name="Google Shape;212;p31"/>
          <p:cNvSpPr/>
          <p:nvPr/>
        </p:nvSpPr>
        <p:spPr>
          <a:xfrm>
            <a:off x="888065" y="4142608"/>
            <a:ext cx="329863" cy="1143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13" name="Google Shape;213;p31"/>
          <p:cNvSpPr/>
          <p:nvPr/>
        </p:nvSpPr>
        <p:spPr>
          <a:xfrm>
            <a:off x="687445" y="4042298"/>
            <a:ext cx="212051" cy="212050"/>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214" name="Google Shape;214;p31"/>
          <p:cNvSpPr/>
          <p:nvPr/>
        </p:nvSpPr>
        <p:spPr>
          <a:xfrm>
            <a:off x="752513" y="4077600"/>
            <a:ext cx="81856" cy="1413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Open Sans"/>
                <a:ea typeface="Open Sans"/>
                <a:cs typeface="Open Sans"/>
                <a:sym typeface="Open Sans"/>
              </a:rPr>
              <a:t>3</a:t>
            </a:r>
            <a:endParaRPr b="0" i="0" sz="1400" u="none" cap="none" strike="noStrike">
              <a:solidFill>
                <a:schemeClr val="dk1"/>
              </a:solidFill>
              <a:latin typeface="Open Sans"/>
              <a:ea typeface="Open Sans"/>
              <a:cs typeface="Open Sans"/>
              <a:sym typeface="Open Sans"/>
            </a:endParaRPr>
          </a:p>
        </p:txBody>
      </p:sp>
      <p:sp>
        <p:nvSpPr>
          <p:cNvPr id="215" name="Google Shape;215;p31"/>
          <p:cNvSpPr/>
          <p:nvPr/>
        </p:nvSpPr>
        <p:spPr>
          <a:xfrm>
            <a:off x="1311868" y="4030510"/>
            <a:ext cx="1178183" cy="1472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Open Sans"/>
                <a:ea typeface="Open Sans"/>
                <a:cs typeface="Open Sans"/>
                <a:sym typeface="Open Sans"/>
              </a:rPr>
              <a:t>Importancia</a:t>
            </a:r>
            <a:endParaRPr b="0" i="0" sz="1400" u="none" cap="none" strike="noStrike">
              <a:solidFill>
                <a:schemeClr val="dk1"/>
              </a:solidFill>
              <a:latin typeface="Open Sans"/>
              <a:ea typeface="Open Sans"/>
              <a:cs typeface="Open Sans"/>
              <a:sym typeface="Open Sans"/>
            </a:endParaRPr>
          </a:p>
        </p:txBody>
      </p:sp>
      <p:sp>
        <p:nvSpPr>
          <p:cNvPr id="216" name="Google Shape;216;p31"/>
          <p:cNvSpPr/>
          <p:nvPr/>
        </p:nvSpPr>
        <p:spPr>
          <a:xfrm>
            <a:off x="1311868" y="4234286"/>
            <a:ext cx="7106543" cy="4522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Open Sans"/>
                <a:ea typeface="Open Sans"/>
                <a:cs typeface="Open Sans"/>
                <a:sym typeface="Open Sans"/>
              </a:rPr>
              <a:t>Estos árboles son cruciales para entender el funcionamiento interno de los lenguajes y facilitarles a los estudiantes de ingeniería el análisis sintáctico.</a:t>
            </a:r>
            <a:endParaRPr b="0" i="0" sz="1400" u="none" cap="none" strike="noStrike">
              <a:solidFill>
                <a:schemeClr val="dk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Ejemplo práctico de construcción de árbol de derivación</a:t>
            </a:r>
            <a:endParaRPr b="0" i="0" sz="700" u="none" cap="none" strike="noStrike">
              <a:solidFill>
                <a:srgbClr val="000000"/>
              </a:solidFill>
              <a:latin typeface="Arial"/>
              <a:ea typeface="Arial"/>
              <a:cs typeface="Arial"/>
              <a:sym typeface="Arial"/>
            </a:endParaRPr>
          </a:p>
        </p:txBody>
      </p:sp>
      <p:pic>
        <p:nvPicPr>
          <p:cNvPr id="222" name="Google Shape;222;p32"/>
          <p:cNvPicPr preferRelativeResize="0"/>
          <p:nvPr/>
        </p:nvPicPr>
        <p:blipFill rotWithShape="1">
          <a:blip r:embed="rId3">
            <a:alphaModFix/>
          </a:blip>
          <a:srcRect b="0" l="0" r="0" t="0"/>
          <a:stretch/>
        </p:blipFill>
        <p:spPr>
          <a:xfrm>
            <a:off x="687445" y="1540358"/>
            <a:ext cx="509349" cy="814923"/>
          </a:xfrm>
          <a:prstGeom prst="rect">
            <a:avLst/>
          </a:prstGeom>
          <a:noFill/>
          <a:ln>
            <a:noFill/>
          </a:ln>
        </p:spPr>
      </p:pic>
      <p:sp>
        <p:nvSpPr>
          <p:cNvPr id="223" name="Google Shape;223;p32"/>
          <p:cNvSpPr/>
          <p:nvPr/>
        </p:nvSpPr>
        <p:spPr>
          <a:xfrm>
            <a:off x="1349551" y="1642215"/>
            <a:ext cx="1273374" cy="1591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Open Sans"/>
                <a:ea typeface="Open Sans"/>
                <a:cs typeface="Open Sans"/>
                <a:sym typeface="Open Sans"/>
              </a:rPr>
              <a:t>Expresión</a:t>
            </a:r>
            <a:endParaRPr b="0" i="0" sz="1400" u="none" cap="none" strike="noStrike">
              <a:solidFill>
                <a:schemeClr val="dk1"/>
              </a:solidFill>
              <a:latin typeface="Open Sans"/>
              <a:ea typeface="Open Sans"/>
              <a:cs typeface="Open Sans"/>
              <a:sym typeface="Open Sans"/>
            </a:endParaRPr>
          </a:p>
        </p:txBody>
      </p:sp>
      <p:sp>
        <p:nvSpPr>
          <p:cNvPr id="224" name="Google Shape;224;p32"/>
          <p:cNvSpPr/>
          <p:nvPr/>
        </p:nvSpPr>
        <p:spPr>
          <a:xfrm>
            <a:off x="1349551" y="1862422"/>
            <a:ext cx="3196828" cy="162937"/>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Open Sans"/>
                <a:ea typeface="Open Sans"/>
                <a:cs typeface="Open Sans"/>
                <a:sym typeface="Open Sans"/>
              </a:rPr>
              <a:t>Consideremos la expresión: "abbba"</a:t>
            </a:r>
            <a:endParaRPr b="0" i="0" sz="1400" u="none" cap="none" strike="noStrike">
              <a:solidFill>
                <a:schemeClr val="dk1"/>
              </a:solidFill>
              <a:latin typeface="Open Sans"/>
              <a:ea typeface="Open Sans"/>
              <a:cs typeface="Open Sans"/>
              <a:sym typeface="Open Sans"/>
            </a:endParaRPr>
          </a:p>
        </p:txBody>
      </p:sp>
      <p:pic>
        <p:nvPicPr>
          <p:cNvPr id="225" name="Google Shape;225;p32"/>
          <p:cNvPicPr preferRelativeResize="0"/>
          <p:nvPr/>
        </p:nvPicPr>
        <p:blipFill rotWithShape="1">
          <a:blip r:embed="rId4">
            <a:alphaModFix/>
          </a:blip>
          <a:srcRect b="0" l="0" r="0" t="0"/>
          <a:stretch/>
        </p:blipFill>
        <p:spPr>
          <a:xfrm>
            <a:off x="687445" y="2355281"/>
            <a:ext cx="509349" cy="814923"/>
          </a:xfrm>
          <a:prstGeom prst="rect">
            <a:avLst/>
          </a:prstGeom>
          <a:noFill/>
          <a:ln>
            <a:noFill/>
          </a:ln>
        </p:spPr>
      </p:pic>
      <p:sp>
        <p:nvSpPr>
          <p:cNvPr id="226" name="Google Shape;226;p32"/>
          <p:cNvSpPr/>
          <p:nvPr/>
        </p:nvSpPr>
        <p:spPr>
          <a:xfrm>
            <a:off x="1349551" y="2457139"/>
            <a:ext cx="1273374" cy="1591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Open Sans"/>
                <a:ea typeface="Open Sans"/>
                <a:cs typeface="Open Sans"/>
                <a:sym typeface="Open Sans"/>
              </a:rPr>
              <a:t>Gramática</a:t>
            </a:r>
            <a:endParaRPr b="0" i="0" sz="1400" u="none" cap="none" strike="noStrike">
              <a:solidFill>
                <a:schemeClr val="dk1"/>
              </a:solidFill>
              <a:latin typeface="Open Sans"/>
              <a:ea typeface="Open Sans"/>
              <a:cs typeface="Open Sans"/>
              <a:sym typeface="Open Sans"/>
            </a:endParaRPr>
          </a:p>
        </p:txBody>
      </p:sp>
      <p:sp>
        <p:nvSpPr>
          <p:cNvPr id="227" name="Google Shape;227;p32"/>
          <p:cNvSpPr/>
          <p:nvPr/>
        </p:nvSpPr>
        <p:spPr>
          <a:xfrm>
            <a:off x="1349551" y="2677345"/>
            <a:ext cx="3196828" cy="32587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Open Sans"/>
                <a:ea typeface="Open Sans"/>
                <a:cs typeface="Open Sans"/>
                <a:sym typeface="Open Sans"/>
              </a:rPr>
              <a:t>Aplicando las reglas de la gramática, construimos el árbol de derivación paso a paso.</a:t>
            </a:r>
            <a:endParaRPr b="0" i="0" sz="1400" u="none" cap="none" strike="noStrike">
              <a:solidFill>
                <a:schemeClr val="dk1"/>
              </a:solidFill>
              <a:latin typeface="Open Sans"/>
              <a:ea typeface="Open Sans"/>
              <a:cs typeface="Open Sans"/>
              <a:sym typeface="Open Sans"/>
            </a:endParaRPr>
          </a:p>
        </p:txBody>
      </p:sp>
      <p:pic>
        <p:nvPicPr>
          <p:cNvPr id="228" name="Google Shape;228;p32"/>
          <p:cNvPicPr preferRelativeResize="0"/>
          <p:nvPr/>
        </p:nvPicPr>
        <p:blipFill rotWithShape="1">
          <a:blip r:embed="rId5">
            <a:alphaModFix/>
          </a:blip>
          <a:srcRect b="0" l="0" r="0" t="0"/>
          <a:stretch/>
        </p:blipFill>
        <p:spPr>
          <a:xfrm>
            <a:off x="687445" y="3582685"/>
            <a:ext cx="509349" cy="814924"/>
          </a:xfrm>
          <a:prstGeom prst="rect">
            <a:avLst/>
          </a:prstGeom>
          <a:noFill/>
          <a:ln>
            <a:noFill/>
          </a:ln>
        </p:spPr>
      </p:pic>
      <p:sp>
        <p:nvSpPr>
          <p:cNvPr id="229" name="Google Shape;229;p32"/>
          <p:cNvSpPr/>
          <p:nvPr/>
        </p:nvSpPr>
        <p:spPr>
          <a:xfrm>
            <a:off x="1349551" y="3684543"/>
            <a:ext cx="1273374" cy="1591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Open Sans"/>
                <a:ea typeface="Open Sans"/>
                <a:cs typeface="Open Sans"/>
                <a:sym typeface="Open Sans"/>
              </a:rPr>
              <a:t>Resultado</a:t>
            </a:r>
            <a:endParaRPr b="0" i="0" sz="1400" u="none" cap="none" strike="noStrike">
              <a:solidFill>
                <a:schemeClr val="dk1"/>
              </a:solidFill>
              <a:latin typeface="Open Sans"/>
              <a:ea typeface="Open Sans"/>
              <a:cs typeface="Open Sans"/>
              <a:sym typeface="Open Sans"/>
            </a:endParaRPr>
          </a:p>
        </p:txBody>
      </p:sp>
      <p:sp>
        <p:nvSpPr>
          <p:cNvPr id="230" name="Google Shape;230;p32"/>
          <p:cNvSpPr/>
          <p:nvPr/>
        </p:nvSpPr>
        <p:spPr>
          <a:xfrm>
            <a:off x="1349551" y="3904749"/>
            <a:ext cx="3196828" cy="32587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Open Sans"/>
                <a:ea typeface="Open Sans"/>
                <a:cs typeface="Open Sans"/>
                <a:sym typeface="Open Sans"/>
              </a:rPr>
              <a:t>El árbol de derivación final muestra la estructura jerárquica de la expresión.</a:t>
            </a:r>
            <a:endParaRPr b="0" i="0" sz="1400" u="none" cap="none" strike="noStrike">
              <a:solidFill>
                <a:schemeClr val="dk1"/>
              </a:solidFill>
              <a:latin typeface="Open Sans"/>
              <a:ea typeface="Open Sans"/>
              <a:cs typeface="Open Sans"/>
              <a:sym typeface="Open Sans"/>
            </a:endParaRPr>
          </a:p>
        </p:txBody>
      </p:sp>
      <p:pic>
        <p:nvPicPr>
          <p:cNvPr id="231" name="Google Shape;231;p32"/>
          <p:cNvPicPr preferRelativeResize="0"/>
          <p:nvPr/>
        </p:nvPicPr>
        <p:blipFill rotWithShape="1">
          <a:blip r:embed="rId6">
            <a:alphaModFix/>
          </a:blip>
          <a:srcRect b="0" l="0" r="0" t="0"/>
          <a:stretch/>
        </p:blipFill>
        <p:spPr>
          <a:xfrm>
            <a:off x="4944980" y="857391"/>
            <a:ext cx="4211684" cy="1167968"/>
          </a:xfrm>
          <a:prstGeom prst="rect">
            <a:avLst/>
          </a:prstGeom>
          <a:noFill/>
          <a:ln>
            <a:noFill/>
          </a:ln>
        </p:spPr>
      </p:pic>
      <p:pic>
        <p:nvPicPr>
          <p:cNvPr id="232" name="Google Shape;232;p32"/>
          <p:cNvPicPr preferRelativeResize="0"/>
          <p:nvPr/>
        </p:nvPicPr>
        <p:blipFill rotWithShape="1">
          <a:blip r:embed="rId7">
            <a:alphaModFix/>
          </a:blip>
          <a:srcRect b="0" l="0" r="0" t="0"/>
          <a:stretch/>
        </p:blipFill>
        <p:spPr>
          <a:xfrm>
            <a:off x="5823284" y="2025358"/>
            <a:ext cx="3333379" cy="31181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Análisis de la definición y construcción de árboles de derivación</a:t>
            </a:r>
            <a:endParaRPr b="0" i="0" sz="3000" u="none" cap="none" strike="noStrike">
              <a:solidFill>
                <a:srgbClr val="131416"/>
              </a:solidFill>
              <a:latin typeface="Impact"/>
              <a:ea typeface="Impact"/>
              <a:cs typeface="Impact"/>
              <a:sym typeface="Impact"/>
            </a:endParaRPr>
          </a:p>
        </p:txBody>
      </p:sp>
      <p:sp>
        <p:nvSpPr>
          <p:cNvPr id="238" name="Google Shape;238;p33"/>
          <p:cNvSpPr/>
          <p:nvPr/>
        </p:nvSpPr>
        <p:spPr>
          <a:xfrm>
            <a:off x="1307902" y="1744236"/>
            <a:ext cx="1417618" cy="17716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Open Sans"/>
                <a:ea typeface="Open Sans"/>
                <a:cs typeface="Open Sans"/>
                <a:sym typeface="Open Sans"/>
              </a:rPr>
              <a:t>Ventajas</a:t>
            </a:r>
            <a:endParaRPr b="0" i="0" sz="1400" u="none" cap="none" strike="noStrike">
              <a:solidFill>
                <a:schemeClr val="dk1"/>
              </a:solidFill>
              <a:latin typeface="Open Sans"/>
              <a:ea typeface="Open Sans"/>
              <a:cs typeface="Open Sans"/>
              <a:sym typeface="Open Sans"/>
            </a:endParaRPr>
          </a:p>
        </p:txBody>
      </p:sp>
      <p:sp>
        <p:nvSpPr>
          <p:cNvPr id="239" name="Google Shape;239;p33"/>
          <p:cNvSpPr/>
          <p:nvPr/>
        </p:nvSpPr>
        <p:spPr>
          <a:xfrm>
            <a:off x="1307902" y="2034808"/>
            <a:ext cx="1989058" cy="90725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Open Sans"/>
                <a:ea typeface="Open Sans"/>
                <a:cs typeface="Open Sans"/>
                <a:sym typeface="Open Sans"/>
              </a:rPr>
              <a:t>Los árboles de derivación permiten visualizar la estructura sintáctica de forma clara y organizada, facilitando el análisis y la comprensión de los lenguajes.</a:t>
            </a:r>
            <a:endParaRPr b="0" i="0" sz="1400" u="none" cap="none" strike="noStrike">
              <a:solidFill>
                <a:schemeClr val="dk1"/>
              </a:solidFill>
              <a:latin typeface="Open Sans"/>
              <a:ea typeface="Open Sans"/>
              <a:cs typeface="Open Sans"/>
              <a:sym typeface="Open Sans"/>
            </a:endParaRPr>
          </a:p>
        </p:txBody>
      </p:sp>
      <p:sp>
        <p:nvSpPr>
          <p:cNvPr id="240" name="Google Shape;240;p33"/>
          <p:cNvSpPr/>
          <p:nvPr/>
        </p:nvSpPr>
        <p:spPr>
          <a:xfrm>
            <a:off x="3577471" y="1744236"/>
            <a:ext cx="1417617" cy="17716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Open Sans"/>
                <a:ea typeface="Open Sans"/>
                <a:cs typeface="Open Sans"/>
                <a:sym typeface="Open Sans"/>
              </a:rPr>
              <a:t>Desafíos</a:t>
            </a:r>
            <a:endParaRPr b="0" i="0" sz="1400" u="none" cap="none" strike="noStrike">
              <a:solidFill>
                <a:schemeClr val="dk1"/>
              </a:solidFill>
              <a:latin typeface="Open Sans"/>
              <a:ea typeface="Open Sans"/>
              <a:cs typeface="Open Sans"/>
              <a:sym typeface="Open Sans"/>
            </a:endParaRPr>
          </a:p>
        </p:txBody>
      </p:sp>
      <p:sp>
        <p:nvSpPr>
          <p:cNvPr id="241" name="Google Shape;241;p33"/>
          <p:cNvSpPr/>
          <p:nvPr/>
        </p:nvSpPr>
        <p:spPr>
          <a:xfrm>
            <a:off x="3577471" y="2034808"/>
            <a:ext cx="1989058"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Open Sans"/>
                <a:ea typeface="Open Sans"/>
                <a:cs typeface="Open Sans"/>
                <a:sym typeface="Open Sans"/>
              </a:rPr>
              <a:t>La construcción de estos árboles puede ser compleja, especialmente cuando se trata de gramáticas más avanzadas o ambiguas.</a:t>
            </a:r>
            <a:endParaRPr b="0" i="0" sz="1400" u="none" cap="none" strike="noStrike">
              <a:solidFill>
                <a:schemeClr val="dk1"/>
              </a:solidFill>
              <a:latin typeface="Open Sans"/>
              <a:ea typeface="Open Sans"/>
              <a:cs typeface="Open Sans"/>
              <a:sym typeface="Open Sans"/>
            </a:endParaRPr>
          </a:p>
        </p:txBody>
      </p:sp>
      <p:sp>
        <p:nvSpPr>
          <p:cNvPr id="242" name="Google Shape;242;p33"/>
          <p:cNvSpPr/>
          <p:nvPr/>
        </p:nvSpPr>
        <p:spPr>
          <a:xfrm>
            <a:off x="5847040" y="1744236"/>
            <a:ext cx="1417618" cy="17716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Open Sans"/>
                <a:ea typeface="Open Sans"/>
                <a:cs typeface="Open Sans"/>
                <a:sym typeface="Open Sans"/>
              </a:rPr>
              <a:t>Aplicaciones</a:t>
            </a:r>
            <a:endParaRPr b="0" i="0" sz="1400" u="none" cap="none" strike="noStrike">
              <a:solidFill>
                <a:schemeClr val="dk1"/>
              </a:solidFill>
              <a:latin typeface="Open Sans"/>
              <a:ea typeface="Open Sans"/>
              <a:cs typeface="Open Sans"/>
              <a:sym typeface="Open Sans"/>
            </a:endParaRPr>
          </a:p>
        </p:txBody>
      </p:sp>
      <p:sp>
        <p:nvSpPr>
          <p:cNvPr id="243" name="Google Shape;243;p33"/>
          <p:cNvSpPr/>
          <p:nvPr/>
        </p:nvSpPr>
        <p:spPr>
          <a:xfrm>
            <a:off x="5847041" y="2034808"/>
            <a:ext cx="1989058"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Open Sans"/>
                <a:ea typeface="Open Sans"/>
                <a:cs typeface="Open Sans"/>
                <a:sym typeface="Open Sans"/>
              </a:rPr>
              <a:t>Estas herramientas son fundamentales en el desarrollo de compiladores, intérpretes y herramientas de análisis sintáctico.</a:t>
            </a:r>
            <a:endParaRPr b="0" i="0" sz="1400" u="none" cap="none" strike="noStrike">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nvSpPr>
        <p:spPr>
          <a:xfrm>
            <a:off x="687445" y="327182"/>
            <a:ext cx="48350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Ambigüedad en árboles de derivación</a:t>
            </a:r>
            <a:endParaRPr b="0" i="0" sz="700" u="none" cap="none" strike="noStrike">
              <a:solidFill>
                <a:srgbClr val="000000"/>
              </a:solidFill>
              <a:latin typeface="Arial"/>
              <a:ea typeface="Arial"/>
              <a:cs typeface="Arial"/>
              <a:sym typeface="Arial"/>
            </a:endParaRPr>
          </a:p>
        </p:txBody>
      </p:sp>
      <p:sp>
        <p:nvSpPr>
          <p:cNvPr id="249" name="Google Shape;249;p34"/>
          <p:cNvSpPr/>
          <p:nvPr/>
        </p:nvSpPr>
        <p:spPr>
          <a:xfrm>
            <a:off x="687445" y="1426132"/>
            <a:ext cx="1882021" cy="1687753"/>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Open Sans"/>
              <a:ea typeface="Open Sans"/>
              <a:cs typeface="Open Sans"/>
              <a:sym typeface="Open Sans"/>
            </a:endParaRPr>
          </a:p>
        </p:txBody>
      </p:sp>
      <p:sp>
        <p:nvSpPr>
          <p:cNvPr id="250" name="Google Shape;250;p34"/>
          <p:cNvSpPr/>
          <p:nvPr/>
        </p:nvSpPr>
        <p:spPr>
          <a:xfrm>
            <a:off x="792220" y="1530907"/>
            <a:ext cx="1559540" cy="15781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Open Sans"/>
                <a:ea typeface="Open Sans"/>
                <a:cs typeface="Open Sans"/>
                <a:sym typeface="Open Sans"/>
              </a:rPr>
              <a:t>Definición de ambigüedad</a:t>
            </a:r>
            <a:endParaRPr b="0" i="0" sz="1000" u="none" cap="none" strike="noStrike">
              <a:solidFill>
                <a:srgbClr val="000000"/>
              </a:solidFill>
              <a:latin typeface="Open Sans"/>
              <a:ea typeface="Open Sans"/>
              <a:cs typeface="Open Sans"/>
              <a:sym typeface="Open Sans"/>
            </a:endParaRPr>
          </a:p>
        </p:txBody>
      </p:sp>
      <p:sp>
        <p:nvSpPr>
          <p:cNvPr id="251" name="Google Shape;251;p34"/>
          <p:cNvSpPr/>
          <p:nvPr/>
        </p:nvSpPr>
        <p:spPr>
          <a:xfrm>
            <a:off x="792220" y="1749327"/>
            <a:ext cx="1672471" cy="80813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1000" u="none" cap="none" strike="noStrike">
                <a:solidFill>
                  <a:srgbClr val="CFD0D8"/>
                </a:solidFill>
                <a:latin typeface="Open Sans"/>
                <a:ea typeface="Open Sans"/>
                <a:cs typeface="Open Sans"/>
                <a:sym typeface="Open Sans"/>
              </a:rPr>
              <a:t>La ambigüedad en un árbol de derivación ocurre cuando una expresión o frase puede tener más de una interpretación sintáctica válida.</a:t>
            </a:r>
            <a:endParaRPr b="0" i="0" sz="1000" u="none" cap="none" strike="noStrike">
              <a:solidFill>
                <a:srgbClr val="000000"/>
              </a:solidFill>
              <a:latin typeface="Open Sans"/>
              <a:ea typeface="Open Sans"/>
              <a:cs typeface="Open Sans"/>
              <a:sym typeface="Open Sans"/>
            </a:endParaRPr>
          </a:p>
        </p:txBody>
      </p:sp>
      <p:sp>
        <p:nvSpPr>
          <p:cNvPr id="252" name="Google Shape;252;p34"/>
          <p:cNvSpPr/>
          <p:nvPr/>
        </p:nvSpPr>
        <p:spPr>
          <a:xfrm>
            <a:off x="2670431" y="1426132"/>
            <a:ext cx="1882021" cy="1687753"/>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Open Sans"/>
              <a:ea typeface="Open Sans"/>
              <a:cs typeface="Open Sans"/>
              <a:sym typeface="Open Sans"/>
            </a:endParaRPr>
          </a:p>
        </p:txBody>
      </p:sp>
      <p:sp>
        <p:nvSpPr>
          <p:cNvPr id="253" name="Google Shape;253;p34"/>
          <p:cNvSpPr/>
          <p:nvPr/>
        </p:nvSpPr>
        <p:spPr>
          <a:xfrm>
            <a:off x="2775206" y="1530907"/>
            <a:ext cx="1284149" cy="15781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Open Sans"/>
                <a:ea typeface="Open Sans"/>
                <a:cs typeface="Open Sans"/>
                <a:sym typeface="Open Sans"/>
              </a:rPr>
              <a:t>Tipos de ambigüedad</a:t>
            </a:r>
            <a:endParaRPr b="0" i="0" sz="1000" u="none" cap="none" strike="noStrike">
              <a:solidFill>
                <a:srgbClr val="000000"/>
              </a:solidFill>
              <a:latin typeface="Open Sans"/>
              <a:ea typeface="Open Sans"/>
              <a:cs typeface="Open Sans"/>
              <a:sym typeface="Open Sans"/>
            </a:endParaRPr>
          </a:p>
        </p:txBody>
      </p:sp>
      <p:sp>
        <p:nvSpPr>
          <p:cNvPr id="254" name="Google Shape;254;p34"/>
          <p:cNvSpPr/>
          <p:nvPr/>
        </p:nvSpPr>
        <p:spPr>
          <a:xfrm>
            <a:off x="2775206" y="1749327"/>
            <a:ext cx="1672471" cy="64651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1000" u="none" cap="none" strike="noStrike">
                <a:solidFill>
                  <a:srgbClr val="CFD0D8"/>
                </a:solidFill>
                <a:latin typeface="Open Sans"/>
                <a:ea typeface="Open Sans"/>
                <a:cs typeface="Open Sans"/>
                <a:sym typeface="Open Sans"/>
              </a:rPr>
              <a:t>Pueden ser ambigüedad léxica, sintáctica o semántica, dependiendo del nivel de la estructura lingüística afectado.</a:t>
            </a:r>
            <a:endParaRPr b="0" i="0" sz="1000" u="none" cap="none" strike="noStrike">
              <a:solidFill>
                <a:srgbClr val="000000"/>
              </a:solidFill>
              <a:latin typeface="Open Sans"/>
              <a:ea typeface="Open Sans"/>
              <a:cs typeface="Open Sans"/>
              <a:sym typeface="Open Sans"/>
            </a:endParaRPr>
          </a:p>
        </p:txBody>
      </p:sp>
      <p:sp>
        <p:nvSpPr>
          <p:cNvPr id="255" name="Google Shape;255;p34"/>
          <p:cNvSpPr/>
          <p:nvPr/>
        </p:nvSpPr>
        <p:spPr>
          <a:xfrm>
            <a:off x="687445" y="3218660"/>
            <a:ext cx="1882021" cy="1597658"/>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Open Sans"/>
              <a:ea typeface="Open Sans"/>
              <a:cs typeface="Open Sans"/>
              <a:sym typeface="Open Sans"/>
            </a:endParaRPr>
          </a:p>
        </p:txBody>
      </p:sp>
      <p:sp>
        <p:nvSpPr>
          <p:cNvPr id="256" name="Google Shape;256;p34"/>
          <p:cNvSpPr/>
          <p:nvPr/>
        </p:nvSpPr>
        <p:spPr>
          <a:xfrm>
            <a:off x="792220" y="3323435"/>
            <a:ext cx="1262539" cy="15781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Open Sans"/>
                <a:ea typeface="Open Sans"/>
                <a:cs typeface="Open Sans"/>
                <a:sym typeface="Open Sans"/>
              </a:rPr>
              <a:t>Impacto en lenguajes</a:t>
            </a:r>
            <a:endParaRPr b="0" i="0" sz="1000" u="none" cap="none" strike="noStrike">
              <a:solidFill>
                <a:srgbClr val="000000"/>
              </a:solidFill>
              <a:latin typeface="Open Sans"/>
              <a:ea typeface="Open Sans"/>
              <a:cs typeface="Open Sans"/>
              <a:sym typeface="Open Sans"/>
            </a:endParaRPr>
          </a:p>
        </p:txBody>
      </p:sp>
      <p:sp>
        <p:nvSpPr>
          <p:cNvPr id="257" name="Google Shape;257;p34"/>
          <p:cNvSpPr/>
          <p:nvPr/>
        </p:nvSpPr>
        <p:spPr>
          <a:xfrm>
            <a:off x="792220" y="3541855"/>
            <a:ext cx="1672471" cy="64651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1000" u="none" cap="none" strike="noStrike">
                <a:solidFill>
                  <a:srgbClr val="CFD0D8"/>
                </a:solidFill>
                <a:latin typeface="Open Sans"/>
                <a:ea typeface="Open Sans"/>
                <a:cs typeface="Open Sans"/>
                <a:sym typeface="Open Sans"/>
              </a:rPr>
              <a:t>La ambigüedad puede generar problemas de comprensión y procesamiento en los lenguajes de programación.</a:t>
            </a:r>
            <a:endParaRPr b="0" i="0" sz="1000" u="none" cap="none" strike="noStrike">
              <a:solidFill>
                <a:srgbClr val="000000"/>
              </a:solidFill>
              <a:latin typeface="Open Sans"/>
              <a:ea typeface="Open Sans"/>
              <a:cs typeface="Open Sans"/>
              <a:sym typeface="Open Sans"/>
            </a:endParaRPr>
          </a:p>
        </p:txBody>
      </p:sp>
      <p:sp>
        <p:nvSpPr>
          <p:cNvPr id="258" name="Google Shape;258;p34"/>
          <p:cNvSpPr/>
          <p:nvPr/>
        </p:nvSpPr>
        <p:spPr>
          <a:xfrm>
            <a:off x="2670431" y="3218660"/>
            <a:ext cx="1882021" cy="1597658"/>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Open Sans"/>
              <a:ea typeface="Open Sans"/>
              <a:cs typeface="Open Sans"/>
              <a:sym typeface="Open Sans"/>
            </a:endParaRPr>
          </a:p>
        </p:txBody>
      </p:sp>
      <p:sp>
        <p:nvSpPr>
          <p:cNvPr id="259" name="Google Shape;259;p34"/>
          <p:cNvSpPr/>
          <p:nvPr/>
        </p:nvSpPr>
        <p:spPr>
          <a:xfrm>
            <a:off x="2775206" y="3323435"/>
            <a:ext cx="1396603" cy="15781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Open Sans"/>
                <a:ea typeface="Open Sans"/>
                <a:cs typeface="Open Sans"/>
                <a:sym typeface="Open Sans"/>
              </a:rPr>
              <a:t>Importancia del análisis</a:t>
            </a:r>
            <a:endParaRPr b="0" i="0" sz="1000" u="none" cap="none" strike="noStrike">
              <a:solidFill>
                <a:srgbClr val="000000"/>
              </a:solidFill>
              <a:latin typeface="Open Sans"/>
              <a:ea typeface="Open Sans"/>
              <a:cs typeface="Open Sans"/>
              <a:sym typeface="Open Sans"/>
            </a:endParaRPr>
          </a:p>
        </p:txBody>
      </p:sp>
      <p:sp>
        <p:nvSpPr>
          <p:cNvPr id="260" name="Google Shape;260;p34"/>
          <p:cNvSpPr/>
          <p:nvPr/>
        </p:nvSpPr>
        <p:spPr>
          <a:xfrm>
            <a:off x="2775206" y="3541855"/>
            <a:ext cx="1672471" cy="64651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1000" u="none" cap="none" strike="noStrike">
                <a:solidFill>
                  <a:srgbClr val="CFD0D8"/>
                </a:solidFill>
                <a:latin typeface="Open Sans"/>
                <a:ea typeface="Open Sans"/>
                <a:cs typeface="Open Sans"/>
                <a:sym typeface="Open Sans"/>
              </a:rPr>
              <a:t>Identificar y resolver la ambigüedad es fundamental para garantizar la correcta interpretación de los programas.</a:t>
            </a:r>
            <a:endParaRPr b="0" i="0" sz="1000" u="none" cap="none" strike="noStrike">
              <a:solidFill>
                <a:srgbClr val="000000"/>
              </a:solidFill>
              <a:latin typeface="Open Sans"/>
              <a:ea typeface="Open Sans"/>
              <a:cs typeface="Open Sans"/>
              <a:sym typeface="Open Sans"/>
            </a:endParaRPr>
          </a:p>
        </p:txBody>
      </p:sp>
      <p:pic>
        <p:nvPicPr>
          <p:cNvPr id="261" name="Google Shape;261;p34"/>
          <p:cNvPicPr preferRelativeResize="0"/>
          <p:nvPr/>
        </p:nvPicPr>
        <p:blipFill rotWithShape="1">
          <a:blip r:embed="rId3">
            <a:alphaModFix/>
          </a:blip>
          <a:srcRect b="0" l="0" r="0" t="0"/>
          <a:stretch/>
        </p:blipFill>
        <p:spPr>
          <a:xfrm>
            <a:off x="5522494" y="823376"/>
            <a:ext cx="3397204" cy="4320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nvSpPr>
        <p:spPr>
          <a:xfrm>
            <a:off x="687445" y="327182"/>
            <a:ext cx="7903103"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Ejemplo práctico de ambigüedad en árboles de derivación</a:t>
            </a:r>
            <a:endParaRPr b="0" i="0" sz="3000" u="none" cap="none" strike="noStrike">
              <a:solidFill>
                <a:srgbClr val="131416"/>
              </a:solidFill>
              <a:latin typeface="Impact"/>
              <a:ea typeface="Impact"/>
              <a:cs typeface="Impact"/>
              <a:sym typeface="Impact"/>
            </a:endParaRPr>
          </a:p>
        </p:txBody>
      </p:sp>
      <p:sp>
        <p:nvSpPr>
          <p:cNvPr id="267" name="Google Shape;267;p35"/>
          <p:cNvSpPr/>
          <p:nvPr/>
        </p:nvSpPr>
        <p:spPr>
          <a:xfrm>
            <a:off x="1307931" y="1487125"/>
            <a:ext cx="1417650" cy="1771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200" u="none" cap="none" strike="noStrike">
                <a:solidFill>
                  <a:schemeClr val="dk1"/>
                </a:solidFill>
                <a:latin typeface="Open Sans"/>
                <a:ea typeface="Open Sans"/>
                <a:cs typeface="Open Sans"/>
                <a:sym typeface="Open Sans"/>
              </a:rPr>
              <a:t>Expresión ambigua</a:t>
            </a:r>
            <a:endParaRPr b="0" i="0" sz="1200" u="none" cap="none" strike="noStrike">
              <a:solidFill>
                <a:schemeClr val="dk1"/>
              </a:solidFill>
              <a:latin typeface="Open Sans"/>
              <a:ea typeface="Open Sans"/>
              <a:cs typeface="Open Sans"/>
              <a:sym typeface="Open Sans"/>
            </a:endParaRPr>
          </a:p>
        </p:txBody>
      </p:sp>
      <p:sp>
        <p:nvSpPr>
          <p:cNvPr id="268" name="Google Shape;268;p35"/>
          <p:cNvSpPr/>
          <p:nvPr/>
        </p:nvSpPr>
        <p:spPr>
          <a:xfrm>
            <a:off x="1307931" y="1777697"/>
            <a:ext cx="1989000" cy="181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200" u="none" cap="none" strike="noStrike">
                <a:solidFill>
                  <a:schemeClr val="dk1"/>
                </a:solidFill>
                <a:latin typeface="Open Sans"/>
                <a:ea typeface="Open Sans"/>
                <a:cs typeface="Open Sans"/>
                <a:sym typeface="Open Sans"/>
              </a:rPr>
              <a:t>Consideremos la expresión "a + b * a"</a:t>
            </a:r>
            <a:endParaRPr b="0" i="0" sz="1200" u="none" cap="none" strike="noStrike">
              <a:solidFill>
                <a:schemeClr val="dk1"/>
              </a:solidFill>
              <a:latin typeface="Open Sans"/>
              <a:ea typeface="Open Sans"/>
              <a:cs typeface="Open Sans"/>
              <a:sym typeface="Open Sans"/>
            </a:endParaRPr>
          </a:p>
        </p:txBody>
      </p:sp>
      <p:sp>
        <p:nvSpPr>
          <p:cNvPr id="269" name="Google Shape;269;p35"/>
          <p:cNvSpPr/>
          <p:nvPr/>
        </p:nvSpPr>
        <p:spPr>
          <a:xfrm>
            <a:off x="3577499" y="1487127"/>
            <a:ext cx="1869900" cy="1771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200" u="none" cap="none" strike="noStrike">
                <a:solidFill>
                  <a:schemeClr val="dk1"/>
                </a:solidFill>
                <a:latin typeface="Open Sans"/>
                <a:ea typeface="Open Sans"/>
                <a:cs typeface="Open Sans"/>
                <a:sym typeface="Open Sans"/>
              </a:rPr>
              <a:t>Interpretaciones posibles</a:t>
            </a:r>
            <a:endParaRPr b="0" i="0" sz="1200" u="none" cap="none" strike="noStrike">
              <a:solidFill>
                <a:schemeClr val="dk1"/>
              </a:solidFill>
              <a:latin typeface="Open Sans"/>
              <a:ea typeface="Open Sans"/>
              <a:cs typeface="Open Sans"/>
              <a:sym typeface="Open Sans"/>
            </a:endParaRPr>
          </a:p>
        </p:txBody>
      </p:sp>
      <p:sp>
        <p:nvSpPr>
          <p:cNvPr id="270" name="Google Shape;270;p35"/>
          <p:cNvSpPr/>
          <p:nvPr/>
        </p:nvSpPr>
        <p:spPr>
          <a:xfrm>
            <a:off x="3577500" y="1777697"/>
            <a:ext cx="1989000" cy="54435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200" u="none" cap="none" strike="noStrike">
                <a:solidFill>
                  <a:schemeClr val="dk1"/>
                </a:solidFill>
                <a:latin typeface="Open Sans"/>
                <a:ea typeface="Open Sans"/>
                <a:cs typeface="Open Sans"/>
                <a:sym typeface="Open Sans"/>
              </a:rPr>
              <a:t>Dependiendo del orden de las operaciones, se pueden generar dos árboles de derivación válidos.</a:t>
            </a:r>
            <a:endParaRPr b="0" i="0" sz="1200" u="none" cap="none" strike="noStrike">
              <a:solidFill>
                <a:schemeClr val="dk1"/>
              </a:solidFill>
              <a:latin typeface="Open Sans"/>
              <a:ea typeface="Open Sans"/>
              <a:cs typeface="Open Sans"/>
              <a:sym typeface="Open Sans"/>
            </a:endParaRPr>
          </a:p>
        </p:txBody>
      </p:sp>
      <p:sp>
        <p:nvSpPr>
          <p:cNvPr id="271" name="Google Shape;271;p35"/>
          <p:cNvSpPr/>
          <p:nvPr/>
        </p:nvSpPr>
        <p:spPr>
          <a:xfrm>
            <a:off x="5847070" y="1487125"/>
            <a:ext cx="1417650" cy="1771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200" u="none" cap="none" strike="noStrike">
                <a:solidFill>
                  <a:schemeClr val="dk1"/>
                </a:solidFill>
                <a:latin typeface="Open Sans"/>
                <a:ea typeface="Open Sans"/>
                <a:cs typeface="Open Sans"/>
                <a:sym typeface="Open Sans"/>
              </a:rPr>
              <a:t>Implicaciones</a:t>
            </a:r>
            <a:endParaRPr b="0" i="0" sz="1200" u="none" cap="none" strike="noStrike">
              <a:solidFill>
                <a:schemeClr val="dk1"/>
              </a:solidFill>
              <a:latin typeface="Open Sans"/>
              <a:ea typeface="Open Sans"/>
              <a:cs typeface="Open Sans"/>
              <a:sym typeface="Open Sans"/>
            </a:endParaRPr>
          </a:p>
        </p:txBody>
      </p:sp>
      <p:sp>
        <p:nvSpPr>
          <p:cNvPr id="272" name="Google Shape;272;p35"/>
          <p:cNvSpPr/>
          <p:nvPr/>
        </p:nvSpPr>
        <p:spPr>
          <a:xfrm>
            <a:off x="5847070" y="1777697"/>
            <a:ext cx="1989000" cy="54435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200" u="none" cap="none" strike="noStrike">
                <a:solidFill>
                  <a:schemeClr val="dk1"/>
                </a:solidFill>
                <a:latin typeface="Open Sans"/>
                <a:ea typeface="Open Sans"/>
                <a:cs typeface="Open Sans"/>
                <a:sym typeface="Open Sans"/>
              </a:rPr>
              <a:t>Esta ambigüedad puede conducir a resultados diferentes en la evaluación de la expresión.</a:t>
            </a:r>
            <a:endParaRPr b="0" i="0" sz="1200" u="none" cap="none" strike="noStrike">
              <a:solidFill>
                <a:schemeClr val="dk1"/>
              </a:solidFill>
              <a:latin typeface="Open Sans"/>
              <a:ea typeface="Open Sans"/>
              <a:cs typeface="Open Sans"/>
              <a:sym typeface="Open Sans"/>
            </a:endParaRPr>
          </a:p>
        </p:txBody>
      </p:sp>
      <p:pic>
        <p:nvPicPr>
          <p:cNvPr id="273" name="Google Shape;273;p35"/>
          <p:cNvPicPr preferRelativeResize="0"/>
          <p:nvPr/>
        </p:nvPicPr>
        <p:blipFill rotWithShape="1">
          <a:blip r:embed="rId3">
            <a:alphaModFix/>
          </a:blip>
          <a:srcRect b="0" l="0" r="0" t="0"/>
          <a:stretch/>
        </p:blipFill>
        <p:spPr>
          <a:xfrm>
            <a:off x="1685321" y="3184303"/>
            <a:ext cx="5437686" cy="17502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Análisis del concepto de ambigüedad en gramáticas</a:t>
            </a:r>
            <a:endParaRPr b="0" i="0" sz="700" u="none" cap="none" strike="noStrike">
              <a:solidFill>
                <a:srgbClr val="000000"/>
              </a:solidFill>
              <a:latin typeface="Arial"/>
              <a:ea typeface="Arial"/>
              <a:cs typeface="Arial"/>
              <a:sym typeface="Arial"/>
            </a:endParaRPr>
          </a:p>
        </p:txBody>
      </p:sp>
      <p:pic>
        <p:nvPicPr>
          <p:cNvPr id="279" name="Google Shape;279;p36"/>
          <p:cNvPicPr preferRelativeResize="0"/>
          <p:nvPr/>
        </p:nvPicPr>
        <p:blipFill rotWithShape="1">
          <a:blip r:embed="rId3">
            <a:alphaModFix/>
          </a:blip>
          <a:srcRect b="0" l="0" r="0" t="0"/>
          <a:stretch/>
        </p:blipFill>
        <p:spPr>
          <a:xfrm>
            <a:off x="4572000" y="1414225"/>
            <a:ext cx="276582" cy="276582"/>
          </a:xfrm>
          <a:prstGeom prst="rect">
            <a:avLst/>
          </a:prstGeom>
          <a:noFill/>
          <a:ln>
            <a:noFill/>
          </a:ln>
        </p:spPr>
      </p:pic>
      <p:sp>
        <p:nvSpPr>
          <p:cNvPr id="280" name="Google Shape;280;p36"/>
          <p:cNvSpPr/>
          <p:nvPr/>
        </p:nvSpPr>
        <p:spPr>
          <a:xfrm>
            <a:off x="4572000" y="1801415"/>
            <a:ext cx="1383090" cy="1728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Ambigüedad léxica</a:t>
            </a:r>
            <a:endParaRPr b="0" i="0" sz="1000" u="none" cap="none" strike="noStrike">
              <a:solidFill>
                <a:schemeClr val="dk1"/>
              </a:solidFill>
              <a:latin typeface="Open Sans"/>
              <a:ea typeface="Open Sans"/>
              <a:cs typeface="Open Sans"/>
              <a:sym typeface="Open Sans"/>
            </a:endParaRPr>
          </a:p>
        </p:txBody>
      </p:sp>
      <p:sp>
        <p:nvSpPr>
          <p:cNvPr id="281" name="Google Shape;281;p36"/>
          <p:cNvSpPr/>
          <p:nvPr/>
        </p:nvSpPr>
        <p:spPr>
          <a:xfrm>
            <a:off x="4572000" y="2040612"/>
            <a:ext cx="1815763" cy="53113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Open Sans"/>
                <a:ea typeface="Open Sans"/>
                <a:cs typeface="Open Sans"/>
                <a:sym typeface="Open Sans"/>
              </a:rPr>
              <a:t>Cuando una palabra o símbolo terminal tiene más de un significado posible.</a:t>
            </a:r>
            <a:endParaRPr b="0" i="0" sz="1000" u="none" cap="none" strike="noStrike">
              <a:solidFill>
                <a:schemeClr val="dk1"/>
              </a:solidFill>
              <a:latin typeface="Open Sans"/>
              <a:ea typeface="Open Sans"/>
              <a:cs typeface="Open Sans"/>
              <a:sym typeface="Open Sans"/>
            </a:endParaRPr>
          </a:p>
        </p:txBody>
      </p:sp>
      <p:pic>
        <p:nvPicPr>
          <p:cNvPr id="282" name="Google Shape;282;p36"/>
          <p:cNvPicPr preferRelativeResize="0"/>
          <p:nvPr/>
        </p:nvPicPr>
        <p:blipFill rotWithShape="1">
          <a:blip r:embed="rId4">
            <a:alphaModFix/>
          </a:blip>
          <a:srcRect b="0" l="0" r="0" t="0"/>
          <a:stretch/>
        </p:blipFill>
        <p:spPr>
          <a:xfrm>
            <a:off x="6553676" y="1414225"/>
            <a:ext cx="276582" cy="276582"/>
          </a:xfrm>
          <a:prstGeom prst="rect">
            <a:avLst/>
          </a:prstGeom>
          <a:noFill/>
          <a:ln>
            <a:noFill/>
          </a:ln>
        </p:spPr>
      </p:pic>
      <p:sp>
        <p:nvSpPr>
          <p:cNvPr id="283" name="Google Shape;283;p36"/>
          <p:cNvSpPr/>
          <p:nvPr/>
        </p:nvSpPr>
        <p:spPr>
          <a:xfrm>
            <a:off x="6553674" y="1801417"/>
            <a:ext cx="1718850" cy="172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Ambigüedad sintáctica</a:t>
            </a:r>
            <a:endParaRPr b="0" i="0" sz="1000" u="none" cap="none" strike="noStrike">
              <a:solidFill>
                <a:schemeClr val="dk1"/>
              </a:solidFill>
              <a:latin typeface="Open Sans"/>
              <a:ea typeface="Open Sans"/>
              <a:cs typeface="Open Sans"/>
              <a:sym typeface="Open Sans"/>
            </a:endParaRPr>
          </a:p>
        </p:txBody>
      </p:sp>
      <p:sp>
        <p:nvSpPr>
          <p:cNvPr id="284" name="Google Shape;284;p36"/>
          <p:cNvSpPr/>
          <p:nvPr/>
        </p:nvSpPr>
        <p:spPr>
          <a:xfrm>
            <a:off x="6553676" y="2040612"/>
            <a:ext cx="1815822" cy="53113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Open Sans"/>
                <a:ea typeface="Open Sans"/>
                <a:cs typeface="Open Sans"/>
                <a:sym typeface="Open Sans"/>
              </a:rPr>
              <a:t>Cuando la estructura gramatical tiene más de una interpretación válida.</a:t>
            </a:r>
            <a:endParaRPr b="0" i="0" sz="1000" u="none" cap="none" strike="noStrike">
              <a:solidFill>
                <a:schemeClr val="dk1"/>
              </a:solidFill>
              <a:latin typeface="Open Sans"/>
              <a:ea typeface="Open Sans"/>
              <a:cs typeface="Open Sans"/>
              <a:sym typeface="Open Sans"/>
            </a:endParaRPr>
          </a:p>
        </p:txBody>
      </p:sp>
      <p:pic>
        <p:nvPicPr>
          <p:cNvPr id="285" name="Google Shape;285;p36"/>
          <p:cNvPicPr preferRelativeResize="0"/>
          <p:nvPr/>
        </p:nvPicPr>
        <p:blipFill rotWithShape="1">
          <a:blip r:embed="rId5">
            <a:alphaModFix/>
          </a:blip>
          <a:srcRect b="0" l="0" r="0" t="0"/>
          <a:stretch/>
        </p:blipFill>
        <p:spPr>
          <a:xfrm>
            <a:off x="4572000" y="2903637"/>
            <a:ext cx="276582" cy="276582"/>
          </a:xfrm>
          <a:prstGeom prst="rect">
            <a:avLst/>
          </a:prstGeom>
          <a:noFill/>
          <a:ln>
            <a:noFill/>
          </a:ln>
        </p:spPr>
      </p:pic>
      <p:sp>
        <p:nvSpPr>
          <p:cNvPr id="286" name="Google Shape;286;p36"/>
          <p:cNvSpPr/>
          <p:nvPr/>
        </p:nvSpPr>
        <p:spPr>
          <a:xfrm>
            <a:off x="4572000" y="3290828"/>
            <a:ext cx="1557159" cy="1728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Ambigüedad semántica</a:t>
            </a:r>
            <a:endParaRPr b="0" i="0" sz="1000" u="none" cap="none" strike="noStrike">
              <a:solidFill>
                <a:schemeClr val="dk1"/>
              </a:solidFill>
              <a:latin typeface="Open Sans"/>
              <a:ea typeface="Open Sans"/>
              <a:cs typeface="Open Sans"/>
              <a:sym typeface="Open Sans"/>
            </a:endParaRPr>
          </a:p>
        </p:txBody>
      </p:sp>
      <p:sp>
        <p:nvSpPr>
          <p:cNvPr id="287" name="Google Shape;287;p36"/>
          <p:cNvSpPr/>
          <p:nvPr/>
        </p:nvSpPr>
        <p:spPr>
          <a:xfrm>
            <a:off x="4572000" y="3530025"/>
            <a:ext cx="1815763" cy="53113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Open Sans"/>
                <a:ea typeface="Open Sans"/>
                <a:cs typeface="Open Sans"/>
                <a:sym typeface="Open Sans"/>
              </a:rPr>
              <a:t>Cuando el significado de una expresión o frase es ambiguo o impreciso.</a:t>
            </a:r>
            <a:endParaRPr b="0" i="0" sz="1000" u="none" cap="none" strike="noStrike">
              <a:solidFill>
                <a:schemeClr val="dk1"/>
              </a:solidFill>
              <a:latin typeface="Open Sans"/>
              <a:ea typeface="Open Sans"/>
              <a:cs typeface="Open Sans"/>
              <a:sym typeface="Open Sans"/>
            </a:endParaRPr>
          </a:p>
        </p:txBody>
      </p:sp>
      <p:pic>
        <p:nvPicPr>
          <p:cNvPr id="288" name="Google Shape;288;p36"/>
          <p:cNvPicPr preferRelativeResize="0"/>
          <p:nvPr/>
        </p:nvPicPr>
        <p:blipFill rotWithShape="1">
          <a:blip r:embed="rId6">
            <a:alphaModFix/>
          </a:blip>
          <a:srcRect b="0" l="0" r="0" t="0"/>
          <a:stretch/>
        </p:blipFill>
        <p:spPr>
          <a:xfrm>
            <a:off x="6553676" y="2903637"/>
            <a:ext cx="276582" cy="276582"/>
          </a:xfrm>
          <a:prstGeom prst="rect">
            <a:avLst/>
          </a:prstGeom>
          <a:noFill/>
          <a:ln>
            <a:noFill/>
          </a:ln>
        </p:spPr>
      </p:pic>
      <p:sp>
        <p:nvSpPr>
          <p:cNvPr id="289" name="Google Shape;289;p36"/>
          <p:cNvSpPr/>
          <p:nvPr/>
        </p:nvSpPr>
        <p:spPr>
          <a:xfrm>
            <a:off x="6553676" y="3290828"/>
            <a:ext cx="1760339" cy="172819"/>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Resolución de ambigüedad</a:t>
            </a:r>
            <a:endParaRPr b="0" i="0" sz="1000" u="none" cap="none" strike="noStrike">
              <a:solidFill>
                <a:schemeClr val="dk1"/>
              </a:solidFill>
              <a:latin typeface="Open Sans"/>
              <a:ea typeface="Open Sans"/>
              <a:cs typeface="Open Sans"/>
              <a:sym typeface="Open Sans"/>
            </a:endParaRPr>
          </a:p>
        </p:txBody>
      </p:sp>
      <p:sp>
        <p:nvSpPr>
          <p:cNvPr id="290" name="Google Shape;290;p36"/>
          <p:cNvSpPr/>
          <p:nvPr/>
        </p:nvSpPr>
        <p:spPr>
          <a:xfrm>
            <a:off x="6553676" y="3530025"/>
            <a:ext cx="1815822" cy="53113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Open Sans"/>
                <a:ea typeface="Open Sans"/>
                <a:cs typeface="Open Sans"/>
                <a:sym typeface="Open Sans"/>
              </a:rPr>
              <a:t>Técnicas y estrategias para identificar y eliminar la ambigüedad en las gramáticas.</a:t>
            </a:r>
            <a:endParaRPr b="0" i="0" sz="1000" u="none" cap="none" strike="noStrike">
              <a:solidFill>
                <a:schemeClr val="dk1"/>
              </a:solidFill>
              <a:latin typeface="Open Sans"/>
              <a:ea typeface="Open Sans"/>
              <a:cs typeface="Open Sans"/>
              <a:sym typeface="Open Sans"/>
            </a:endParaRPr>
          </a:p>
        </p:txBody>
      </p:sp>
      <p:pic>
        <p:nvPicPr>
          <p:cNvPr id="291" name="Google Shape;291;p36"/>
          <p:cNvPicPr preferRelativeResize="0"/>
          <p:nvPr/>
        </p:nvPicPr>
        <p:blipFill rotWithShape="1">
          <a:blip r:embed="rId7">
            <a:alphaModFix/>
          </a:blip>
          <a:srcRect b="0" l="0" r="0" t="0"/>
          <a:stretch/>
        </p:blipFill>
        <p:spPr>
          <a:xfrm>
            <a:off x="561801" y="1555702"/>
            <a:ext cx="3733664" cy="285698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3: Resolución de ambigüedad en árboles de derivación</a:t>
            </a:r>
            <a:endParaRPr b="0" i="0" sz="3000" u="none" cap="none" strike="noStrike">
              <a:solidFill>
                <a:srgbClr val="131416"/>
              </a:solidFill>
              <a:latin typeface="Impact"/>
              <a:ea typeface="Impact"/>
              <a:cs typeface="Impact"/>
              <a:sym typeface="Impact"/>
            </a:endParaRPr>
          </a:p>
        </p:txBody>
      </p:sp>
      <p:sp>
        <p:nvSpPr>
          <p:cNvPr id="297" name="Google Shape;297;p37"/>
          <p:cNvSpPr/>
          <p:nvPr/>
        </p:nvSpPr>
        <p:spPr>
          <a:xfrm>
            <a:off x="708594" y="3730050"/>
            <a:ext cx="6681788" cy="11430"/>
          </a:xfrm>
          <a:prstGeom prst="roundRect">
            <a:avLst>
              <a:gd fmla="val 332505"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298" name="Google Shape;298;p37"/>
          <p:cNvSpPr/>
          <p:nvPr/>
        </p:nvSpPr>
        <p:spPr>
          <a:xfrm>
            <a:off x="2350705" y="3413344"/>
            <a:ext cx="11430" cy="316707"/>
          </a:xfrm>
          <a:prstGeom prst="roundRect">
            <a:avLst>
              <a:gd fmla="val 332505"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299" name="Google Shape;299;p37"/>
          <p:cNvSpPr/>
          <p:nvPr/>
        </p:nvSpPr>
        <p:spPr>
          <a:xfrm>
            <a:off x="2254621" y="3628252"/>
            <a:ext cx="203597" cy="203597"/>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0" name="Google Shape;300;p37"/>
          <p:cNvSpPr/>
          <p:nvPr/>
        </p:nvSpPr>
        <p:spPr>
          <a:xfrm>
            <a:off x="2330166" y="3662185"/>
            <a:ext cx="52506" cy="1357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301" name="Google Shape;301;p37"/>
          <p:cNvSpPr/>
          <p:nvPr/>
        </p:nvSpPr>
        <p:spPr>
          <a:xfrm>
            <a:off x="1736402" y="2837617"/>
            <a:ext cx="1239977" cy="141387"/>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900"/>
              <a:buFont typeface="Instrument Sans SemiBold"/>
              <a:buNone/>
            </a:pPr>
            <a:r>
              <a:rPr b="1" i="0" lang="es" sz="1000" u="none" cap="none" strike="noStrike">
                <a:solidFill>
                  <a:schemeClr val="dk1"/>
                </a:solidFill>
                <a:latin typeface="Open Sans"/>
                <a:ea typeface="Open Sans"/>
                <a:cs typeface="Open Sans"/>
                <a:sym typeface="Open Sans"/>
              </a:rPr>
              <a:t>Identificar ambigüedad</a:t>
            </a:r>
            <a:endParaRPr b="0" i="0" sz="1000" u="none" cap="none" strike="noStrike">
              <a:solidFill>
                <a:schemeClr val="dk1"/>
              </a:solidFill>
              <a:latin typeface="Open Sans"/>
              <a:ea typeface="Open Sans"/>
              <a:cs typeface="Open Sans"/>
              <a:sym typeface="Open Sans"/>
            </a:endParaRPr>
          </a:p>
        </p:txBody>
      </p:sp>
      <p:sp>
        <p:nvSpPr>
          <p:cNvPr id="302" name="Google Shape;302;p37"/>
          <p:cNvSpPr/>
          <p:nvPr/>
        </p:nvSpPr>
        <p:spPr>
          <a:xfrm>
            <a:off x="799082" y="3033296"/>
            <a:ext cx="3114675" cy="28956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700"/>
              <a:buFont typeface="Instrument Sans Medium"/>
              <a:buNone/>
            </a:pPr>
            <a:r>
              <a:rPr b="0" i="0" lang="es" sz="1000" u="none" cap="none" strike="noStrike">
                <a:solidFill>
                  <a:schemeClr val="dk1"/>
                </a:solidFill>
                <a:latin typeface="Open Sans"/>
                <a:ea typeface="Open Sans"/>
                <a:cs typeface="Open Sans"/>
                <a:sym typeface="Open Sans"/>
              </a:rPr>
              <a:t>El primer paso es detectar la presencia de ambigüedad en la expresión o gramática.</a:t>
            </a:r>
            <a:endParaRPr b="0" i="0" sz="1000" u="none" cap="none" strike="noStrike">
              <a:solidFill>
                <a:schemeClr val="dk1"/>
              </a:solidFill>
              <a:latin typeface="Open Sans"/>
              <a:ea typeface="Open Sans"/>
              <a:cs typeface="Open Sans"/>
              <a:sym typeface="Open Sans"/>
            </a:endParaRPr>
          </a:p>
        </p:txBody>
      </p:sp>
      <p:sp>
        <p:nvSpPr>
          <p:cNvPr id="303" name="Google Shape;303;p37"/>
          <p:cNvSpPr/>
          <p:nvPr/>
        </p:nvSpPr>
        <p:spPr>
          <a:xfrm>
            <a:off x="4043773" y="3730050"/>
            <a:ext cx="11430" cy="316707"/>
          </a:xfrm>
          <a:prstGeom prst="roundRect">
            <a:avLst>
              <a:gd fmla="val 332505"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4" name="Google Shape;304;p37"/>
          <p:cNvSpPr/>
          <p:nvPr/>
        </p:nvSpPr>
        <p:spPr>
          <a:xfrm>
            <a:off x="3947690" y="3628252"/>
            <a:ext cx="203597" cy="203597"/>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5" name="Google Shape;305;p37"/>
          <p:cNvSpPr/>
          <p:nvPr/>
        </p:nvSpPr>
        <p:spPr>
          <a:xfrm>
            <a:off x="4011686" y="3662185"/>
            <a:ext cx="75604" cy="1357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306" name="Google Shape;306;p37"/>
          <p:cNvSpPr/>
          <p:nvPr/>
        </p:nvSpPr>
        <p:spPr>
          <a:xfrm>
            <a:off x="3265342" y="4137244"/>
            <a:ext cx="1568231" cy="141386"/>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900"/>
              <a:buFont typeface="Instrument Sans SemiBold"/>
              <a:buNone/>
            </a:pPr>
            <a:r>
              <a:rPr b="1" i="0" lang="es" sz="1000" u="none" cap="none" strike="noStrike">
                <a:solidFill>
                  <a:schemeClr val="dk1"/>
                </a:solidFill>
                <a:latin typeface="Open Sans"/>
                <a:ea typeface="Open Sans"/>
                <a:cs typeface="Open Sans"/>
                <a:sym typeface="Open Sans"/>
              </a:rPr>
              <a:t>Aplicar reglas de precedencia</a:t>
            </a:r>
            <a:endParaRPr b="0" i="0" sz="1000" u="none" cap="none" strike="noStrike">
              <a:solidFill>
                <a:schemeClr val="dk1"/>
              </a:solidFill>
              <a:latin typeface="Open Sans"/>
              <a:ea typeface="Open Sans"/>
              <a:cs typeface="Open Sans"/>
              <a:sym typeface="Open Sans"/>
            </a:endParaRPr>
          </a:p>
        </p:txBody>
      </p:sp>
      <p:sp>
        <p:nvSpPr>
          <p:cNvPr id="307" name="Google Shape;307;p37"/>
          <p:cNvSpPr/>
          <p:nvPr/>
        </p:nvSpPr>
        <p:spPr>
          <a:xfrm>
            <a:off x="2492151" y="4332924"/>
            <a:ext cx="3114675" cy="28956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700"/>
              <a:buFont typeface="Instrument Sans Medium"/>
              <a:buNone/>
            </a:pPr>
            <a:r>
              <a:rPr b="0" i="0" lang="es" sz="1000" u="none" cap="none" strike="noStrike">
                <a:solidFill>
                  <a:schemeClr val="dk1"/>
                </a:solidFill>
                <a:latin typeface="Open Sans"/>
                <a:ea typeface="Open Sans"/>
                <a:cs typeface="Open Sans"/>
                <a:sym typeface="Open Sans"/>
              </a:rPr>
              <a:t>Utilizar reglas de precedencia y asociatividad de operadores para resolver la ambigüedad.</a:t>
            </a:r>
            <a:endParaRPr b="0" i="0" sz="1000" u="none" cap="none" strike="noStrike">
              <a:solidFill>
                <a:schemeClr val="dk1"/>
              </a:solidFill>
              <a:latin typeface="Open Sans"/>
              <a:ea typeface="Open Sans"/>
              <a:cs typeface="Open Sans"/>
              <a:sym typeface="Open Sans"/>
            </a:endParaRPr>
          </a:p>
        </p:txBody>
      </p:sp>
      <p:sp>
        <p:nvSpPr>
          <p:cNvPr id="308" name="Google Shape;308;p37"/>
          <p:cNvSpPr/>
          <p:nvPr/>
        </p:nvSpPr>
        <p:spPr>
          <a:xfrm>
            <a:off x="5736842" y="3413344"/>
            <a:ext cx="11430" cy="316707"/>
          </a:xfrm>
          <a:prstGeom prst="roundRect">
            <a:avLst>
              <a:gd fmla="val 332505"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9" name="Google Shape;309;p37"/>
          <p:cNvSpPr/>
          <p:nvPr/>
        </p:nvSpPr>
        <p:spPr>
          <a:xfrm>
            <a:off x="5640759" y="3628252"/>
            <a:ext cx="203597" cy="203597"/>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10" name="Google Shape;310;p37"/>
          <p:cNvSpPr/>
          <p:nvPr/>
        </p:nvSpPr>
        <p:spPr>
          <a:xfrm>
            <a:off x="5703266" y="3662185"/>
            <a:ext cx="78582" cy="1357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311" name="Google Shape;311;p37"/>
          <p:cNvSpPr/>
          <p:nvPr/>
        </p:nvSpPr>
        <p:spPr>
          <a:xfrm>
            <a:off x="5079199" y="2837618"/>
            <a:ext cx="1586295" cy="105192"/>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900"/>
              <a:buFont typeface="Instrument Sans SemiBold"/>
              <a:buNone/>
            </a:pPr>
            <a:r>
              <a:rPr b="1" i="0" lang="es" sz="1000" u="none" cap="none" strike="noStrike">
                <a:solidFill>
                  <a:schemeClr val="dk1"/>
                </a:solidFill>
                <a:latin typeface="Open Sans"/>
                <a:ea typeface="Open Sans"/>
                <a:cs typeface="Open Sans"/>
                <a:sym typeface="Open Sans"/>
              </a:rPr>
              <a:t>Construir árbol definitivo</a:t>
            </a:r>
            <a:endParaRPr b="0" i="0" sz="1000" u="none" cap="none" strike="noStrike">
              <a:solidFill>
                <a:schemeClr val="dk1"/>
              </a:solidFill>
              <a:latin typeface="Open Sans"/>
              <a:ea typeface="Open Sans"/>
              <a:cs typeface="Open Sans"/>
              <a:sym typeface="Open Sans"/>
            </a:endParaRPr>
          </a:p>
        </p:txBody>
      </p:sp>
      <p:sp>
        <p:nvSpPr>
          <p:cNvPr id="312" name="Google Shape;312;p37"/>
          <p:cNvSpPr/>
          <p:nvPr/>
        </p:nvSpPr>
        <p:spPr>
          <a:xfrm>
            <a:off x="4185219" y="3033296"/>
            <a:ext cx="3114675" cy="28956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700"/>
              <a:buFont typeface="Instrument Sans Medium"/>
              <a:buNone/>
            </a:pPr>
            <a:r>
              <a:rPr b="0" i="0" lang="es" sz="1000" u="none" cap="none" strike="noStrike">
                <a:solidFill>
                  <a:schemeClr val="dk1"/>
                </a:solidFill>
                <a:latin typeface="Open Sans"/>
                <a:ea typeface="Open Sans"/>
                <a:cs typeface="Open Sans"/>
                <a:sym typeface="Open Sans"/>
              </a:rPr>
              <a:t>Con la ambigüedad resuelta, se puede construir un único árbol de derivación correcto.</a:t>
            </a:r>
            <a:endParaRPr b="0" i="0" sz="1000" u="none" cap="none" strike="noStrike">
              <a:solidFill>
                <a:schemeClr val="dk1"/>
              </a:solidFill>
              <a:latin typeface="Open Sans"/>
              <a:ea typeface="Open Sans"/>
              <a:cs typeface="Open Sans"/>
              <a:sym typeface="Open Sans"/>
            </a:endParaRPr>
          </a:p>
        </p:txBody>
      </p:sp>
      <p:sp>
        <p:nvSpPr>
          <p:cNvPr id="313" name="Google Shape;313;p37"/>
          <p:cNvSpPr txBox="1"/>
          <p:nvPr/>
        </p:nvSpPr>
        <p:spPr>
          <a:xfrm>
            <a:off x="689771" y="1387601"/>
            <a:ext cx="5362050" cy="316650"/>
          </a:xfrm>
          <a:prstGeom prst="rect">
            <a:avLst/>
          </a:prstGeom>
          <a:no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rPr b="0" i="0" lang="es" sz="1000" u="none" cap="none" strike="noStrike">
                <a:solidFill>
                  <a:schemeClr val="dk1"/>
                </a:solidFill>
                <a:latin typeface="Arial"/>
                <a:ea typeface="Arial"/>
                <a:cs typeface="Arial"/>
                <a:sym typeface="Arial"/>
              </a:rPr>
              <a:t>En el ejemplo de los operadores aritméticos, además de la variable E, que representa expresiones, también se utilizan las variables F para factores y T para términos y se tienen las siguientes reglas:</a:t>
            </a:r>
            <a:endParaRPr b="0" i="0" sz="1000" u="none" cap="none" strike="noStrike">
              <a:solidFill>
                <a:schemeClr val="dk1"/>
              </a:solidFill>
              <a:latin typeface="Arial"/>
              <a:ea typeface="Arial"/>
              <a:cs typeface="Arial"/>
              <a:sym typeface="Arial"/>
            </a:endParaRPr>
          </a:p>
        </p:txBody>
      </p:sp>
      <p:sp>
        <p:nvSpPr>
          <p:cNvPr id="314" name="Google Shape;314;p37"/>
          <p:cNvSpPr txBox="1"/>
          <p:nvPr/>
        </p:nvSpPr>
        <p:spPr>
          <a:xfrm>
            <a:off x="687445" y="2009559"/>
            <a:ext cx="1605150" cy="522750"/>
          </a:xfrm>
          <a:prstGeom prst="rect">
            <a:avLst/>
          </a:prstGeom>
          <a:no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E → E + T</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T → T * F</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F → ( E )</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F → id</a:t>
            </a:r>
            <a:endParaRPr b="1" i="0" sz="1000" u="none" cap="none" strike="noStrike">
              <a:solidFill>
                <a:schemeClr val="dk1"/>
              </a:solidFill>
              <a:latin typeface="Arial"/>
              <a:ea typeface="Arial"/>
              <a:cs typeface="Arial"/>
              <a:sym typeface="Arial"/>
            </a:endParaRPr>
          </a:p>
        </p:txBody>
      </p:sp>
      <p:sp>
        <p:nvSpPr>
          <p:cNvPr id="315" name="Google Shape;315;p37"/>
          <p:cNvSpPr txBox="1"/>
          <p:nvPr/>
        </p:nvSpPr>
        <p:spPr>
          <a:xfrm>
            <a:off x="2043038" y="2009559"/>
            <a:ext cx="1239900" cy="522750"/>
          </a:xfrm>
          <a:prstGeom prst="rect">
            <a:avLst/>
          </a:prstGeom>
          <a:no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E → T</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T → F</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T → - F</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s" sz="1000" u="none" cap="none" strike="noStrike">
                <a:solidFill>
                  <a:schemeClr val="dk1"/>
                </a:solidFill>
                <a:latin typeface="Arial"/>
                <a:ea typeface="Arial"/>
                <a:cs typeface="Arial"/>
                <a:sym typeface="Arial"/>
              </a:rPr>
              <a:t>• F → num</a:t>
            </a:r>
            <a:endParaRPr b="1" i="0" sz="10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Definición de un Autómata de Pila</a:t>
            </a:r>
            <a:endParaRPr b="0" i="0" sz="700" u="none" cap="none" strike="noStrike">
              <a:solidFill>
                <a:srgbClr val="000000"/>
              </a:solidFill>
              <a:latin typeface="Arial"/>
              <a:ea typeface="Arial"/>
              <a:cs typeface="Arial"/>
              <a:sym typeface="Arial"/>
            </a:endParaRPr>
          </a:p>
        </p:txBody>
      </p:sp>
      <p:sp>
        <p:nvSpPr>
          <p:cNvPr id="321" name="Google Shape;321;p38"/>
          <p:cNvSpPr/>
          <p:nvPr/>
        </p:nvSpPr>
        <p:spPr>
          <a:xfrm>
            <a:off x="687444" y="1174291"/>
            <a:ext cx="4690672" cy="58125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dk1"/>
                </a:solidFill>
                <a:latin typeface="Open Sans"/>
                <a:ea typeface="Open Sans"/>
                <a:cs typeface="Open Sans"/>
                <a:sym typeface="Open Sans"/>
              </a:rPr>
              <a:t>Un autómata de pila (AP) es una máquina de estados finitos que utiliza una estructura de datos llamada pila. Esta pila sigue el principio LIFO (Last In, First Out) y permite almacenar una cantidad ilimitada de información. Formalmente, se define como un 7-tuple M=(Q,Σ,Γ,δ,q0,Z0,F), donde cada elemento representa una parte específica del autómata.</a:t>
            </a:r>
            <a:endParaRPr b="0" i="0" sz="900" u="none" cap="none" strike="noStrike">
              <a:solidFill>
                <a:schemeClr val="dk1"/>
              </a:solidFill>
              <a:latin typeface="Arial"/>
              <a:ea typeface="Arial"/>
              <a:cs typeface="Arial"/>
              <a:sym typeface="Arial"/>
            </a:endParaRPr>
          </a:p>
        </p:txBody>
      </p:sp>
      <p:sp>
        <p:nvSpPr>
          <p:cNvPr id="322" name="Google Shape;322;p38"/>
          <p:cNvSpPr/>
          <p:nvPr/>
        </p:nvSpPr>
        <p:spPr>
          <a:xfrm>
            <a:off x="687444" y="2449951"/>
            <a:ext cx="3936087" cy="523458"/>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323" name="Google Shape;323;p38"/>
          <p:cNvSpPr/>
          <p:nvPr/>
        </p:nvSpPr>
        <p:spPr>
          <a:xfrm>
            <a:off x="778288" y="2540795"/>
            <a:ext cx="1135559" cy="14198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Open Sans"/>
                <a:ea typeface="Open Sans"/>
                <a:cs typeface="Open Sans"/>
                <a:sym typeface="Open Sans"/>
              </a:rPr>
              <a:t>Q</a:t>
            </a:r>
            <a:endParaRPr b="0" i="0" sz="900" u="none" cap="none" strike="noStrike">
              <a:solidFill>
                <a:schemeClr val="lt1"/>
              </a:solidFill>
              <a:latin typeface="Open Sans"/>
              <a:ea typeface="Open Sans"/>
              <a:cs typeface="Open Sans"/>
              <a:sym typeface="Open Sans"/>
            </a:endParaRPr>
          </a:p>
        </p:txBody>
      </p:sp>
      <p:sp>
        <p:nvSpPr>
          <p:cNvPr id="324" name="Google Shape;324;p38"/>
          <p:cNvSpPr/>
          <p:nvPr/>
        </p:nvSpPr>
        <p:spPr>
          <a:xfrm>
            <a:off x="778288" y="2737249"/>
            <a:ext cx="3754398" cy="14531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Open Sans"/>
                <a:ea typeface="Open Sans"/>
                <a:cs typeface="Open Sans"/>
                <a:sym typeface="Open Sans"/>
              </a:rPr>
              <a:t>Conjunto finito de estados</a:t>
            </a:r>
            <a:endParaRPr b="0" i="0" sz="900" u="none" cap="none" strike="noStrike">
              <a:solidFill>
                <a:schemeClr val="lt1"/>
              </a:solidFill>
              <a:latin typeface="Open Sans"/>
              <a:ea typeface="Open Sans"/>
              <a:cs typeface="Open Sans"/>
              <a:sym typeface="Open Sans"/>
            </a:endParaRPr>
          </a:p>
        </p:txBody>
      </p:sp>
      <p:sp>
        <p:nvSpPr>
          <p:cNvPr id="325" name="Google Shape;325;p38"/>
          <p:cNvSpPr/>
          <p:nvPr/>
        </p:nvSpPr>
        <p:spPr>
          <a:xfrm>
            <a:off x="687444" y="3064253"/>
            <a:ext cx="3936087" cy="523459"/>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326" name="Google Shape;326;p38"/>
          <p:cNvSpPr/>
          <p:nvPr/>
        </p:nvSpPr>
        <p:spPr>
          <a:xfrm>
            <a:off x="778288" y="3155098"/>
            <a:ext cx="1135559" cy="14198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Open Sans"/>
                <a:ea typeface="Open Sans"/>
                <a:cs typeface="Open Sans"/>
                <a:sym typeface="Open Sans"/>
              </a:rPr>
              <a:t>Σ</a:t>
            </a:r>
            <a:endParaRPr b="0" i="0" sz="900" u="none" cap="none" strike="noStrike">
              <a:solidFill>
                <a:schemeClr val="lt1"/>
              </a:solidFill>
              <a:latin typeface="Open Sans"/>
              <a:ea typeface="Open Sans"/>
              <a:cs typeface="Open Sans"/>
              <a:sym typeface="Open Sans"/>
            </a:endParaRPr>
          </a:p>
        </p:txBody>
      </p:sp>
      <p:sp>
        <p:nvSpPr>
          <p:cNvPr id="327" name="Google Shape;327;p38"/>
          <p:cNvSpPr/>
          <p:nvPr/>
        </p:nvSpPr>
        <p:spPr>
          <a:xfrm>
            <a:off x="778288" y="3351552"/>
            <a:ext cx="3754398" cy="14531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Open Sans"/>
                <a:ea typeface="Open Sans"/>
                <a:cs typeface="Open Sans"/>
                <a:sym typeface="Open Sans"/>
              </a:rPr>
              <a:t>Conjunto finito de símbolos de entrada (alfabeto)</a:t>
            </a:r>
            <a:endParaRPr b="0" i="0" sz="900" u="none" cap="none" strike="noStrike">
              <a:solidFill>
                <a:schemeClr val="lt1"/>
              </a:solidFill>
              <a:latin typeface="Open Sans"/>
              <a:ea typeface="Open Sans"/>
              <a:cs typeface="Open Sans"/>
              <a:sym typeface="Open Sans"/>
            </a:endParaRPr>
          </a:p>
        </p:txBody>
      </p:sp>
      <p:sp>
        <p:nvSpPr>
          <p:cNvPr id="328" name="Google Shape;328;p38"/>
          <p:cNvSpPr/>
          <p:nvPr/>
        </p:nvSpPr>
        <p:spPr>
          <a:xfrm>
            <a:off x="687444" y="3678557"/>
            <a:ext cx="3936087" cy="523458"/>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329" name="Google Shape;329;p38"/>
          <p:cNvSpPr/>
          <p:nvPr/>
        </p:nvSpPr>
        <p:spPr>
          <a:xfrm>
            <a:off x="778288" y="3769401"/>
            <a:ext cx="1135559" cy="14198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Open Sans"/>
                <a:ea typeface="Open Sans"/>
                <a:cs typeface="Open Sans"/>
                <a:sym typeface="Open Sans"/>
              </a:rPr>
              <a:t>Γ</a:t>
            </a:r>
            <a:endParaRPr b="0" i="0" sz="900" u="none" cap="none" strike="noStrike">
              <a:solidFill>
                <a:schemeClr val="lt1"/>
              </a:solidFill>
              <a:latin typeface="Open Sans"/>
              <a:ea typeface="Open Sans"/>
              <a:cs typeface="Open Sans"/>
              <a:sym typeface="Open Sans"/>
            </a:endParaRPr>
          </a:p>
        </p:txBody>
      </p:sp>
      <p:sp>
        <p:nvSpPr>
          <p:cNvPr id="330" name="Google Shape;330;p38"/>
          <p:cNvSpPr/>
          <p:nvPr/>
        </p:nvSpPr>
        <p:spPr>
          <a:xfrm>
            <a:off x="778288" y="3965855"/>
            <a:ext cx="3754398" cy="14531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Open Sans"/>
                <a:ea typeface="Open Sans"/>
                <a:cs typeface="Open Sans"/>
                <a:sym typeface="Open Sans"/>
              </a:rPr>
              <a:t>Conjunto finito de símbolos de pila</a:t>
            </a:r>
            <a:endParaRPr b="0" i="0" sz="900" u="none" cap="none" strike="noStrike">
              <a:solidFill>
                <a:schemeClr val="lt1"/>
              </a:solidFill>
              <a:latin typeface="Open Sans"/>
              <a:ea typeface="Open Sans"/>
              <a:cs typeface="Open Sans"/>
              <a:sym typeface="Open Sans"/>
            </a:endParaRPr>
          </a:p>
        </p:txBody>
      </p:sp>
      <p:sp>
        <p:nvSpPr>
          <p:cNvPr id="331" name="Google Shape;331;p38"/>
          <p:cNvSpPr/>
          <p:nvPr/>
        </p:nvSpPr>
        <p:spPr>
          <a:xfrm>
            <a:off x="687444" y="4292860"/>
            <a:ext cx="3936087" cy="523458"/>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332" name="Google Shape;332;p38"/>
          <p:cNvSpPr/>
          <p:nvPr/>
        </p:nvSpPr>
        <p:spPr>
          <a:xfrm>
            <a:off x="778288" y="4383704"/>
            <a:ext cx="1135559" cy="14198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Open Sans"/>
                <a:ea typeface="Open Sans"/>
                <a:cs typeface="Open Sans"/>
                <a:sym typeface="Open Sans"/>
              </a:rPr>
              <a:t>δ</a:t>
            </a:r>
            <a:endParaRPr b="0" i="0" sz="900" u="none" cap="none" strike="noStrike">
              <a:solidFill>
                <a:schemeClr val="lt1"/>
              </a:solidFill>
              <a:latin typeface="Open Sans"/>
              <a:ea typeface="Open Sans"/>
              <a:cs typeface="Open Sans"/>
              <a:sym typeface="Open Sans"/>
            </a:endParaRPr>
          </a:p>
        </p:txBody>
      </p:sp>
      <p:sp>
        <p:nvSpPr>
          <p:cNvPr id="333" name="Google Shape;333;p38"/>
          <p:cNvSpPr/>
          <p:nvPr/>
        </p:nvSpPr>
        <p:spPr>
          <a:xfrm>
            <a:off x="778288" y="4580158"/>
            <a:ext cx="3754398" cy="145316"/>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Open Sans"/>
                <a:ea typeface="Open Sans"/>
                <a:cs typeface="Open Sans"/>
                <a:sym typeface="Open Sans"/>
              </a:rPr>
              <a:t>Función de transición</a:t>
            </a:r>
            <a:endParaRPr b="0" i="0" sz="900" u="none" cap="none" strike="noStrike">
              <a:solidFill>
                <a:schemeClr val="lt1"/>
              </a:solidFill>
              <a:latin typeface="Open Sans"/>
              <a:ea typeface="Open Sans"/>
              <a:cs typeface="Open Sans"/>
              <a:sym typeface="Open Sans"/>
            </a:endParaRPr>
          </a:p>
        </p:txBody>
      </p:sp>
      <p:pic>
        <p:nvPicPr>
          <p:cNvPr id="334" name="Google Shape;334;p38"/>
          <p:cNvPicPr preferRelativeResize="0"/>
          <p:nvPr/>
        </p:nvPicPr>
        <p:blipFill rotWithShape="1">
          <a:blip r:embed="rId3">
            <a:alphaModFix/>
          </a:blip>
          <a:srcRect b="0" l="0" r="0" t="0"/>
          <a:stretch/>
        </p:blipFill>
        <p:spPr>
          <a:xfrm>
            <a:off x="5468960" y="1077010"/>
            <a:ext cx="3438976" cy="38679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Funcionamiento de un Autómata de Pila</a:t>
            </a:r>
            <a:endParaRPr b="0" i="0" sz="700" u="none" cap="none" strike="noStrike">
              <a:solidFill>
                <a:srgbClr val="000000"/>
              </a:solidFill>
              <a:latin typeface="Arial"/>
              <a:ea typeface="Arial"/>
              <a:cs typeface="Arial"/>
              <a:sym typeface="Arial"/>
            </a:endParaRPr>
          </a:p>
        </p:txBody>
      </p:sp>
      <p:sp>
        <p:nvSpPr>
          <p:cNvPr id="340" name="Google Shape;340;p39"/>
          <p:cNvSpPr/>
          <p:nvPr/>
        </p:nvSpPr>
        <p:spPr>
          <a:xfrm>
            <a:off x="687445" y="1070319"/>
            <a:ext cx="6597491" cy="65603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El autómata de pila opera leyendo símbolos de entrada uno por uno. En cada paso, realiza una acción basada en su estado actual, el símbolo de entrada y el símbolo en la cima de la pila. Puede empujar símbolos en la pila, desapilar símbolos o no hacer nada, dependiendo de la transición definida. La aceptación de una cadena ocurre si, al final de la entrada, el autómata se encuentra en un estado de aceptación.</a:t>
            </a:r>
            <a:endParaRPr b="0" i="0" sz="1000" u="none" cap="none" strike="noStrike">
              <a:solidFill>
                <a:schemeClr val="dk1"/>
              </a:solidFill>
              <a:latin typeface="Open Sans"/>
              <a:ea typeface="Open Sans"/>
              <a:cs typeface="Open Sans"/>
              <a:sym typeface="Open Sans"/>
            </a:endParaRPr>
          </a:p>
        </p:txBody>
      </p:sp>
      <p:sp>
        <p:nvSpPr>
          <p:cNvPr id="341" name="Google Shape;341;p39"/>
          <p:cNvSpPr/>
          <p:nvPr/>
        </p:nvSpPr>
        <p:spPr>
          <a:xfrm>
            <a:off x="3980475" y="2252300"/>
            <a:ext cx="11430" cy="2255579"/>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2" name="Google Shape;342;p39"/>
          <p:cNvSpPr/>
          <p:nvPr/>
        </p:nvSpPr>
        <p:spPr>
          <a:xfrm>
            <a:off x="3523424" y="2477209"/>
            <a:ext cx="358854" cy="1143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3" name="Google Shape;343;p39"/>
          <p:cNvSpPr/>
          <p:nvPr/>
        </p:nvSpPr>
        <p:spPr>
          <a:xfrm>
            <a:off x="3870848" y="2367612"/>
            <a:ext cx="230683" cy="230683"/>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4" name="Google Shape;344;p39"/>
          <p:cNvSpPr/>
          <p:nvPr/>
        </p:nvSpPr>
        <p:spPr>
          <a:xfrm>
            <a:off x="3956275" y="2406010"/>
            <a:ext cx="59829" cy="1538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345" name="Google Shape;345;p39"/>
          <p:cNvSpPr/>
          <p:nvPr/>
        </p:nvSpPr>
        <p:spPr>
          <a:xfrm>
            <a:off x="2140662" y="2354813"/>
            <a:ext cx="1281649" cy="160199"/>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Lectura</a:t>
            </a:r>
            <a:endParaRPr b="0" i="0" sz="1000" u="none" cap="none" strike="noStrike">
              <a:solidFill>
                <a:schemeClr val="dk1"/>
              </a:solidFill>
              <a:latin typeface="Open Sans"/>
              <a:ea typeface="Open Sans"/>
              <a:cs typeface="Open Sans"/>
              <a:sym typeface="Open Sans"/>
            </a:endParaRPr>
          </a:p>
        </p:txBody>
      </p:sp>
      <p:sp>
        <p:nvSpPr>
          <p:cNvPr id="346" name="Google Shape;346;p39"/>
          <p:cNvSpPr/>
          <p:nvPr/>
        </p:nvSpPr>
        <p:spPr>
          <a:xfrm>
            <a:off x="687445" y="2576507"/>
            <a:ext cx="2734866" cy="164008"/>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Lee símbolos de entrada uno por uno</a:t>
            </a:r>
            <a:endParaRPr b="0" i="0" sz="1000" u="none" cap="none" strike="noStrike">
              <a:solidFill>
                <a:schemeClr val="dk1"/>
              </a:solidFill>
              <a:latin typeface="Open Sans"/>
              <a:ea typeface="Open Sans"/>
              <a:cs typeface="Open Sans"/>
              <a:sym typeface="Open Sans"/>
            </a:endParaRPr>
          </a:p>
        </p:txBody>
      </p:sp>
      <p:sp>
        <p:nvSpPr>
          <p:cNvPr id="347" name="Google Shape;347;p39"/>
          <p:cNvSpPr/>
          <p:nvPr/>
        </p:nvSpPr>
        <p:spPr>
          <a:xfrm>
            <a:off x="4090102" y="2989833"/>
            <a:ext cx="358854" cy="1143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8" name="Google Shape;348;p39"/>
          <p:cNvSpPr/>
          <p:nvPr/>
        </p:nvSpPr>
        <p:spPr>
          <a:xfrm>
            <a:off x="3870848" y="2880236"/>
            <a:ext cx="230683" cy="230683"/>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9" name="Google Shape;349;p39"/>
          <p:cNvSpPr/>
          <p:nvPr/>
        </p:nvSpPr>
        <p:spPr>
          <a:xfrm>
            <a:off x="3943774" y="2918633"/>
            <a:ext cx="84772" cy="1538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350" name="Google Shape;350;p39"/>
          <p:cNvSpPr/>
          <p:nvPr/>
        </p:nvSpPr>
        <p:spPr>
          <a:xfrm>
            <a:off x="4550070" y="2867436"/>
            <a:ext cx="1281649" cy="16019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Acción</a:t>
            </a:r>
            <a:endParaRPr b="0" i="0" sz="1000" u="none" cap="none" strike="noStrike">
              <a:solidFill>
                <a:schemeClr val="dk1"/>
              </a:solidFill>
              <a:latin typeface="Open Sans"/>
              <a:ea typeface="Open Sans"/>
              <a:cs typeface="Open Sans"/>
              <a:sym typeface="Open Sans"/>
            </a:endParaRPr>
          </a:p>
        </p:txBody>
      </p:sp>
      <p:sp>
        <p:nvSpPr>
          <p:cNvPr id="351" name="Google Shape;351;p39"/>
          <p:cNvSpPr/>
          <p:nvPr/>
        </p:nvSpPr>
        <p:spPr>
          <a:xfrm>
            <a:off x="4550070" y="3089131"/>
            <a:ext cx="2734866" cy="328017"/>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Realiza acciones basadas en el estado, símbolo de entrada y cima de la pila</a:t>
            </a:r>
            <a:endParaRPr b="0" i="0" sz="1000" u="none" cap="none" strike="noStrike">
              <a:solidFill>
                <a:schemeClr val="dk1"/>
              </a:solidFill>
              <a:latin typeface="Open Sans"/>
              <a:ea typeface="Open Sans"/>
              <a:cs typeface="Open Sans"/>
              <a:sym typeface="Open Sans"/>
            </a:endParaRPr>
          </a:p>
        </p:txBody>
      </p:sp>
      <p:sp>
        <p:nvSpPr>
          <p:cNvPr id="352" name="Google Shape;352;p39"/>
          <p:cNvSpPr/>
          <p:nvPr/>
        </p:nvSpPr>
        <p:spPr>
          <a:xfrm>
            <a:off x="3523424" y="3451200"/>
            <a:ext cx="358854" cy="1143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3" name="Google Shape;353;p39"/>
          <p:cNvSpPr/>
          <p:nvPr/>
        </p:nvSpPr>
        <p:spPr>
          <a:xfrm>
            <a:off x="3870848" y="3341603"/>
            <a:ext cx="230683" cy="230683"/>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4" name="Google Shape;354;p39"/>
          <p:cNvSpPr/>
          <p:nvPr/>
        </p:nvSpPr>
        <p:spPr>
          <a:xfrm>
            <a:off x="3941810" y="3380000"/>
            <a:ext cx="88761" cy="1538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355" name="Google Shape;355;p39"/>
          <p:cNvSpPr/>
          <p:nvPr/>
        </p:nvSpPr>
        <p:spPr>
          <a:xfrm>
            <a:off x="2140662" y="3328804"/>
            <a:ext cx="1281649" cy="160199"/>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Manipulación</a:t>
            </a:r>
            <a:endParaRPr b="0" i="0" sz="1000" u="none" cap="none" strike="noStrike">
              <a:solidFill>
                <a:schemeClr val="dk1"/>
              </a:solidFill>
              <a:latin typeface="Open Sans"/>
              <a:ea typeface="Open Sans"/>
              <a:cs typeface="Open Sans"/>
              <a:sym typeface="Open Sans"/>
            </a:endParaRPr>
          </a:p>
        </p:txBody>
      </p:sp>
      <p:sp>
        <p:nvSpPr>
          <p:cNvPr id="356" name="Google Shape;356;p39"/>
          <p:cNvSpPr/>
          <p:nvPr/>
        </p:nvSpPr>
        <p:spPr>
          <a:xfrm>
            <a:off x="687445" y="3550498"/>
            <a:ext cx="2734866" cy="164008"/>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Empuja o desapila símbolos según la transición</a:t>
            </a:r>
            <a:endParaRPr b="0" i="0" sz="1000" u="none" cap="none" strike="noStrike">
              <a:solidFill>
                <a:schemeClr val="dk1"/>
              </a:solidFill>
              <a:latin typeface="Open Sans"/>
              <a:ea typeface="Open Sans"/>
              <a:cs typeface="Open Sans"/>
              <a:sym typeface="Open Sans"/>
            </a:endParaRPr>
          </a:p>
        </p:txBody>
      </p:sp>
      <p:sp>
        <p:nvSpPr>
          <p:cNvPr id="357" name="Google Shape;357;p39"/>
          <p:cNvSpPr/>
          <p:nvPr/>
        </p:nvSpPr>
        <p:spPr>
          <a:xfrm>
            <a:off x="4090102" y="3912567"/>
            <a:ext cx="358854" cy="1143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8" name="Google Shape;358;p39"/>
          <p:cNvSpPr/>
          <p:nvPr/>
        </p:nvSpPr>
        <p:spPr>
          <a:xfrm>
            <a:off x="3870848" y="3802970"/>
            <a:ext cx="230683" cy="230683"/>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9" name="Google Shape;359;p39"/>
          <p:cNvSpPr/>
          <p:nvPr/>
        </p:nvSpPr>
        <p:spPr>
          <a:xfrm>
            <a:off x="3939488" y="3841368"/>
            <a:ext cx="93345" cy="1538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4</a:t>
            </a:r>
            <a:endParaRPr b="0" i="0" sz="1000" u="none" cap="none" strike="noStrike">
              <a:solidFill>
                <a:schemeClr val="dk1"/>
              </a:solidFill>
              <a:latin typeface="Open Sans"/>
              <a:ea typeface="Open Sans"/>
              <a:cs typeface="Open Sans"/>
              <a:sym typeface="Open Sans"/>
            </a:endParaRPr>
          </a:p>
        </p:txBody>
      </p:sp>
      <p:sp>
        <p:nvSpPr>
          <p:cNvPr id="360" name="Google Shape;360;p39"/>
          <p:cNvSpPr/>
          <p:nvPr/>
        </p:nvSpPr>
        <p:spPr>
          <a:xfrm>
            <a:off x="4550070" y="3790171"/>
            <a:ext cx="1281649" cy="16019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Aceptación</a:t>
            </a:r>
            <a:endParaRPr b="0" i="0" sz="1000" u="none" cap="none" strike="noStrike">
              <a:solidFill>
                <a:schemeClr val="dk1"/>
              </a:solidFill>
              <a:latin typeface="Open Sans"/>
              <a:ea typeface="Open Sans"/>
              <a:cs typeface="Open Sans"/>
              <a:sym typeface="Open Sans"/>
            </a:endParaRPr>
          </a:p>
        </p:txBody>
      </p:sp>
      <p:sp>
        <p:nvSpPr>
          <p:cNvPr id="361" name="Google Shape;361;p39"/>
          <p:cNvSpPr/>
          <p:nvPr/>
        </p:nvSpPr>
        <p:spPr>
          <a:xfrm>
            <a:off x="4550070" y="4011865"/>
            <a:ext cx="2734866" cy="1640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Acepta la cadena si termina en un estado de aceptación</a:t>
            </a:r>
            <a:endParaRPr b="0" i="0" sz="1000" u="none" cap="none" strike="noStrike">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Diferencias con Autómatas Finitos</a:t>
            </a:r>
            <a:endParaRPr b="0" i="0" sz="3000" u="none" cap="none" strike="noStrike">
              <a:solidFill>
                <a:srgbClr val="131416"/>
              </a:solidFill>
              <a:latin typeface="Impact"/>
              <a:ea typeface="Impact"/>
              <a:cs typeface="Impact"/>
              <a:sym typeface="Impact"/>
            </a:endParaRPr>
          </a:p>
        </p:txBody>
      </p:sp>
      <p:sp>
        <p:nvSpPr>
          <p:cNvPr id="367" name="Google Shape;367;p40"/>
          <p:cNvSpPr/>
          <p:nvPr/>
        </p:nvSpPr>
        <p:spPr>
          <a:xfrm>
            <a:off x="1344531" y="1373311"/>
            <a:ext cx="6451163"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000"/>
              <a:buFont typeface="Open Sans"/>
              <a:buNone/>
            </a:pPr>
            <a:r>
              <a:rPr b="0" i="0" lang="es" sz="1000" u="none" cap="none" strike="noStrike">
                <a:solidFill>
                  <a:schemeClr val="dk1"/>
                </a:solidFill>
                <a:latin typeface="Open Sans"/>
                <a:ea typeface="Open Sans"/>
                <a:cs typeface="Open Sans"/>
                <a:sym typeface="Open Sans"/>
              </a:rPr>
              <a:t>Los autómatas de pila y los autómatas finitos son modelos de computación con diferencias clave. Los autómatas de pila utilizan una pila como estructura de datos adicional, mientras que los autómatas finitos no tienen memoria adicional. Esto permite a los autómatas de pila reconocer lenguajes libres de contexto, mientras que los autómatas finitos sólo reconocen lenguajes regulares.</a:t>
            </a:r>
            <a:endParaRPr b="0" i="0" sz="1000" u="none" cap="none" strike="noStrike">
              <a:solidFill>
                <a:schemeClr val="dk1"/>
              </a:solidFill>
              <a:latin typeface="Open Sans"/>
              <a:ea typeface="Open Sans"/>
              <a:cs typeface="Open Sans"/>
              <a:sym typeface="Open Sans"/>
            </a:endParaRPr>
          </a:p>
        </p:txBody>
      </p:sp>
      <p:sp>
        <p:nvSpPr>
          <p:cNvPr id="368" name="Google Shape;368;p40"/>
          <p:cNvSpPr/>
          <p:nvPr/>
        </p:nvSpPr>
        <p:spPr>
          <a:xfrm>
            <a:off x="1344531" y="2425645"/>
            <a:ext cx="1543050" cy="19288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1200"/>
              <a:buFont typeface="Instrument Sans Medium"/>
              <a:buNone/>
            </a:pPr>
            <a:r>
              <a:rPr b="0" i="0" lang="es" sz="1000" u="none" cap="none" strike="noStrike">
                <a:solidFill>
                  <a:schemeClr val="dk1"/>
                </a:solidFill>
                <a:latin typeface="Open Sans"/>
                <a:ea typeface="Open Sans"/>
                <a:cs typeface="Open Sans"/>
                <a:sym typeface="Open Sans"/>
              </a:rPr>
              <a:t>Autómatas Finitos</a:t>
            </a:r>
            <a:endParaRPr b="0" i="0" sz="1000" u="none" cap="none" strike="noStrike">
              <a:solidFill>
                <a:schemeClr val="dk1"/>
              </a:solidFill>
              <a:latin typeface="Open Sans"/>
              <a:ea typeface="Open Sans"/>
              <a:cs typeface="Open Sans"/>
              <a:sym typeface="Open Sans"/>
            </a:endParaRPr>
          </a:p>
        </p:txBody>
      </p:sp>
      <p:sp>
        <p:nvSpPr>
          <p:cNvPr id="369" name="Google Shape;369;p40"/>
          <p:cNvSpPr/>
          <p:nvPr/>
        </p:nvSpPr>
        <p:spPr>
          <a:xfrm>
            <a:off x="1344525" y="2741939"/>
            <a:ext cx="3075000" cy="102825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000"/>
              <a:buFont typeface="Open Sans"/>
              <a:buNone/>
            </a:pPr>
            <a:r>
              <a:rPr b="0" i="0" lang="es" sz="1000" u="none" cap="none" strike="noStrike">
                <a:solidFill>
                  <a:schemeClr val="dk1"/>
                </a:solidFill>
                <a:latin typeface="Open Sans"/>
                <a:ea typeface="Open Sans"/>
                <a:cs typeface="Open Sans"/>
                <a:sym typeface="Open Sans"/>
              </a:rPr>
              <a:t>- Sin memoria adicional</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Reconocen lenguajes regulares</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Menor complejidad</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Ejemplo: a</a:t>
            </a:r>
            <a:r>
              <a:rPr b="0" baseline="30000" i="0" lang="es" sz="1000" u="none" cap="none" strike="noStrike">
                <a:solidFill>
                  <a:schemeClr val="dk1"/>
                </a:solidFill>
                <a:latin typeface="Open Sans"/>
                <a:ea typeface="Open Sans"/>
                <a:cs typeface="Open Sans"/>
                <a:sym typeface="Open Sans"/>
              </a:rPr>
              <a:t>n</a:t>
            </a:r>
            <a:r>
              <a:rPr b="0" i="0" lang="es" sz="1000" u="none" cap="none" strike="noStrike">
                <a:solidFill>
                  <a:schemeClr val="dk1"/>
                </a:solidFill>
                <a:latin typeface="Open Sans"/>
                <a:ea typeface="Open Sans"/>
                <a:cs typeface="Open Sans"/>
                <a:sym typeface="Open Sans"/>
              </a:rPr>
              <a:t> b</a:t>
            </a:r>
            <a:r>
              <a:rPr b="0" baseline="30000" i="0" lang="es" sz="1000" u="none" cap="none" strike="noStrike">
                <a:solidFill>
                  <a:schemeClr val="dk1"/>
                </a:solidFill>
                <a:latin typeface="Open Sans"/>
                <a:ea typeface="Open Sans"/>
                <a:cs typeface="Open Sans"/>
                <a:sym typeface="Open Sans"/>
              </a:rPr>
              <a:t>n</a:t>
            </a:r>
            <a:r>
              <a:rPr b="0" i="0" lang="es" sz="1000" u="none" cap="none" strike="noStrike">
                <a:solidFill>
                  <a:schemeClr val="dk1"/>
                </a:solidFill>
                <a:latin typeface="Open Sans"/>
                <a:ea typeface="Open Sans"/>
                <a:cs typeface="Open Sans"/>
                <a:sym typeface="Open Sans"/>
              </a:rPr>
              <a:t> (donde n ≥ 0)</a:t>
            </a:r>
            <a:endParaRPr b="0" i="0" sz="1000" u="none" cap="none" strike="noStrike">
              <a:solidFill>
                <a:schemeClr val="dk1"/>
              </a:solidFill>
              <a:latin typeface="Open Sans"/>
              <a:ea typeface="Open Sans"/>
              <a:cs typeface="Open Sans"/>
              <a:sym typeface="Open Sans"/>
            </a:endParaRPr>
          </a:p>
        </p:txBody>
      </p:sp>
      <p:sp>
        <p:nvSpPr>
          <p:cNvPr id="370" name="Google Shape;370;p40"/>
          <p:cNvSpPr/>
          <p:nvPr/>
        </p:nvSpPr>
        <p:spPr>
          <a:xfrm>
            <a:off x="4724477" y="2425645"/>
            <a:ext cx="1543050" cy="19288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1200"/>
              <a:buFont typeface="Instrument Sans Medium"/>
              <a:buNone/>
            </a:pPr>
            <a:r>
              <a:rPr b="0" i="0" lang="es" sz="1000" u="none" cap="none" strike="noStrike">
                <a:solidFill>
                  <a:schemeClr val="dk1"/>
                </a:solidFill>
                <a:latin typeface="Open Sans"/>
                <a:ea typeface="Open Sans"/>
                <a:cs typeface="Open Sans"/>
                <a:sym typeface="Open Sans"/>
              </a:rPr>
              <a:t>Autómatas de Pila</a:t>
            </a:r>
            <a:endParaRPr b="0" i="0" sz="1000" u="none" cap="none" strike="noStrike">
              <a:solidFill>
                <a:schemeClr val="dk1"/>
              </a:solidFill>
              <a:latin typeface="Open Sans"/>
              <a:ea typeface="Open Sans"/>
              <a:cs typeface="Open Sans"/>
              <a:sym typeface="Open Sans"/>
            </a:endParaRPr>
          </a:p>
        </p:txBody>
      </p:sp>
      <p:sp>
        <p:nvSpPr>
          <p:cNvPr id="371" name="Google Shape;371;p40"/>
          <p:cNvSpPr/>
          <p:nvPr/>
        </p:nvSpPr>
        <p:spPr>
          <a:xfrm>
            <a:off x="4724475" y="2741939"/>
            <a:ext cx="3075000" cy="99705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000"/>
              <a:buFont typeface="Open Sans"/>
              <a:buNone/>
            </a:pPr>
            <a:r>
              <a:rPr b="0" i="0" lang="es" sz="1000" u="none" cap="none" strike="noStrike">
                <a:solidFill>
                  <a:schemeClr val="dk1"/>
                </a:solidFill>
                <a:latin typeface="Open Sans"/>
                <a:ea typeface="Open Sans"/>
                <a:cs typeface="Open Sans"/>
                <a:sym typeface="Open Sans"/>
              </a:rPr>
              <a:t>- Utilizan una pila (LIFO)</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Reconocen lenguajes libres de contexto</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Mayor complejidad</a:t>
            </a:r>
            <a:br>
              <a:rPr b="0" i="0" lang="es" sz="1000" u="none" cap="none" strike="noStrike">
                <a:solidFill>
                  <a:schemeClr val="dk1"/>
                </a:solidFill>
                <a:latin typeface="Open Sans"/>
                <a:ea typeface="Open Sans"/>
                <a:cs typeface="Open Sans"/>
                <a:sym typeface="Open Sans"/>
              </a:rPr>
            </a:br>
            <a:r>
              <a:rPr b="0" i="0" lang="es" sz="1000" u="none" cap="none" strike="noStrike">
                <a:solidFill>
                  <a:schemeClr val="dk1"/>
                </a:solidFill>
                <a:latin typeface="Open Sans"/>
                <a:ea typeface="Open Sans"/>
                <a:cs typeface="Open Sans"/>
                <a:sym typeface="Open Sans"/>
              </a:rPr>
              <a:t>- Ejemplo: a</a:t>
            </a:r>
            <a:r>
              <a:rPr b="0" baseline="30000" i="0" lang="es" sz="1000" u="none" cap="none" strike="noStrike">
                <a:solidFill>
                  <a:schemeClr val="dk1"/>
                </a:solidFill>
                <a:latin typeface="Open Sans"/>
                <a:ea typeface="Open Sans"/>
                <a:cs typeface="Open Sans"/>
                <a:sym typeface="Open Sans"/>
              </a:rPr>
              <a:t>n</a:t>
            </a:r>
            <a:r>
              <a:rPr b="0" i="0" lang="es" sz="1000" u="none" cap="none" strike="noStrike">
                <a:solidFill>
                  <a:schemeClr val="dk1"/>
                </a:solidFill>
                <a:latin typeface="Open Sans"/>
                <a:ea typeface="Open Sans"/>
                <a:cs typeface="Open Sans"/>
                <a:sym typeface="Open Sans"/>
              </a:rPr>
              <a:t> b</a:t>
            </a:r>
            <a:r>
              <a:rPr b="0" baseline="30000" i="0" lang="es" sz="1000" u="none" cap="none" strike="noStrike">
                <a:solidFill>
                  <a:schemeClr val="dk1"/>
                </a:solidFill>
                <a:latin typeface="Open Sans"/>
                <a:ea typeface="Open Sans"/>
                <a:cs typeface="Open Sans"/>
                <a:sym typeface="Open Sans"/>
              </a:rPr>
              <a:t>n</a:t>
            </a:r>
            <a:r>
              <a:rPr b="0" i="0" lang="es" sz="1000" u="none" cap="none" strike="noStrike">
                <a:solidFill>
                  <a:schemeClr val="dk1"/>
                </a:solidFill>
                <a:latin typeface="Open Sans"/>
                <a:ea typeface="Open Sans"/>
                <a:cs typeface="Open Sans"/>
                <a:sym typeface="Open Sans"/>
              </a:rPr>
              <a:t> c</a:t>
            </a:r>
            <a:r>
              <a:rPr b="0" baseline="30000" i="0" lang="es" sz="1000" u="none" cap="none" strike="noStrike">
                <a:solidFill>
                  <a:schemeClr val="dk1"/>
                </a:solidFill>
                <a:latin typeface="Open Sans"/>
                <a:ea typeface="Open Sans"/>
                <a:cs typeface="Open Sans"/>
                <a:sym typeface="Open Sans"/>
              </a:rPr>
              <a:t>n</a:t>
            </a:r>
            <a:endParaRPr b="0" baseline="30000" i="0" sz="1000" u="none" cap="none" strike="noStrike">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Reconocimiento de Palíndromos</a:t>
            </a:r>
            <a:endParaRPr b="0" i="0" sz="700" u="none" cap="none" strike="noStrike">
              <a:solidFill>
                <a:srgbClr val="000000"/>
              </a:solidFill>
              <a:latin typeface="Arial"/>
              <a:ea typeface="Arial"/>
              <a:cs typeface="Arial"/>
              <a:sym typeface="Arial"/>
            </a:endParaRPr>
          </a:p>
        </p:txBody>
      </p:sp>
      <p:sp>
        <p:nvSpPr>
          <p:cNvPr id="377" name="Google Shape;377;p41"/>
          <p:cNvSpPr/>
          <p:nvPr/>
        </p:nvSpPr>
        <p:spPr>
          <a:xfrm>
            <a:off x="3724925" y="1206209"/>
            <a:ext cx="4042291" cy="484108"/>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600"/>
              <a:buFont typeface="Open Sans"/>
              <a:buNone/>
            </a:pPr>
            <a:r>
              <a:rPr b="0" i="0" lang="es" sz="900" u="none" cap="none" strike="noStrike">
                <a:solidFill>
                  <a:schemeClr val="dk1"/>
                </a:solidFill>
                <a:latin typeface="Open Sans"/>
                <a:ea typeface="Open Sans"/>
                <a:cs typeface="Open Sans"/>
                <a:sym typeface="Open Sans"/>
              </a:rPr>
              <a:t>Un caso práctico de autómatas de pila es el reconocimiento de palíndromos de la forma a</a:t>
            </a:r>
            <a:r>
              <a:rPr b="0" baseline="30000" i="0" lang="es" sz="900" u="none" cap="none" strike="noStrike">
                <a:solidFill>
                  <a:schemeClr val="dk1"/>
                </a:solidFill>
                <a:latin typeface="Open Sans"/>
                <a:ea typeface="Open Sans"/>
                <a:cs typeface="Open Sans"/>
                <a:sym typeface="Open Sans"/>
              </a:rPr>
              <a:t>n</a:t>
            </a:r>
            <a:r>
              <a:rPr b="0" i="0" lang="es" sz="900" u="none" cap="none" strike="noStrike">
                <a:solidFill>
                  <a:schemeClr val="dk1"/>
                </a:solidFill>
                <a:latin typeface="Open Sans"/>
                <a:ea typeface="Open Sans"/>
                <a:cs typeface="Open Sans"/>
                <a:sym typeface="Open Sans"/>
              </a:rPr>
              <a:t> b</a:t>
            </a:r>
            <a:r>
              <a:rPr b="0" baseline="30000" i="0" lang="es" sz="900" u="none" cap="none" strike="noStrike">
                <a:solidFill>
                  <a:schemeClr val="dk1"/>
                </a:solidFill>
                <a:latin typeface="Open Sans"/>
                <a:ea typeface="Open Sans"/>
                <a:cs typeface="Open Sans"/>
                <a:sym typeface="Open Sans"/>
              </a:rPr>
              <a:t>n</a:t>
            </a:r>
            <a:r>
              <a:rPr b="0" i="0" lang="es" sz="900" u="none" cap="none" strike="noStrike">
                <a:solidFill>
                  <a:schemeClr val="dk1"/>
                </a:solidFill>
                <a:latin typeface="Open Sans"/>
                <a:ea typeface="Open Sans"/>
                <a:cs typeface="Open Sans"/>
                <a:sym typeface="Open Sans"/>
              </a:rPr>
              <a:t> a</a:t>
            </a:r>
            <a:r>
              <a:rPr b="0" baseline="30000" i="0" lang="es" sz="900" u="none" cap="none" strike="noStrike">
                <a:solidFill>
                  <a:schemeClr val="dk1"/>
                </a:solidFill>
                <a:latin typeface="Open Sans"/>
                <a:ea typeface="Open Sans"/>
                <a:cs typeface="Open Sans"/>
                <a:sym typeface="Open Sans"/>
              </a:rPr>
              <a:t>n</a:t>
            </a:r>
            <a:r>
              <a:rPr b="0" i="0" lang="es" sz="900" u="none" cap="none" strike="noStrike">
                <a:solidFill>
                  <a:schemeClr val="dk1"/>
                </a:solidFill>
                <a:latin typeface="Open Sans"/>
                <a:ea typeface="Open Sans"/>
                <a:cs typeface="Open Sans"/>
                <a:sym typeface="Open Sans"/>
              </a:rPr>
              <a:t>. El autómata lee y apila cada 'a' en la pila. Al encontrar el primer 'b', comienza a desapilar por cada 'b' encontrado. Al llegar a la mitad, encuentra el segundo 'a' y verifica si puede desapilar hasta vaciar la pila. Si logra desapilar completamente al final, acepta la cadena como un palíndromo.</a:t>
            </a:r>
            <a:endParaRPr b="0" i="0" sz="900" u="none" cap="none" strike="noStrike">
              <a:solidFill>
                <a:schemeClr val="dk1"/>
              </a:solidFill>
              <a:latin typeface="Open Sans"/>
              <a:ea typeface="Open Sans"/>
              <a:cs typeface="Open Sans"/>
              <a:sym typeface="Open Sans"/>
            </a:endParaRPr>
          </a:p>
        </p:txBody>
      </p:sp>
      <p:pic>
        <p:nvPicPr>
          <p:cNvPr id="378" name="Google Shape;378;p41"/>
          <p:cNvPicPr preferRelativeResize="0"/>
          <p:nvPr/>
        </p:nvPicPr>
        <p:blipFill rotWithShape="1">
          <a:blip r:embed="rId3">
            <a:alphaModFix/>
          </a:blip>
          <a:srcRect b="0" l="0" r="0" t="0"/>
          <a:stretch/>
        </p:blipFill>
        <p:spPr>
          <a:xfrm>
            <a:off x="3724925" y="2554304"/>
            <a:ext cx="378381" cy="605433"/>
          </a:xfrm>
          <a:prstGeom prst="rect">
            <a:avLst/>
          </a:prstGeom>
          <a:noFill/>
          <a:ln>
            <a:noFill/>
          </a:ln>
        </p:spPr>
      </p:pic>
      <p:sp>
        <p:nvSpPr>
          <p:cNvPr id="379" name="Google Shape;379;p41"/>
          <p:cNvSpPr/>
          <p:nvPr/>
        </p:nvSpPr>
        <p:spPr>
          <a:xfrm>
            <a:off x="4216772" y="2629968"/>
            <a:ext cx="946050" cy="1182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700"/>
              <a:buFont typeface="Instrument Sans Medium"/>
              <a:buNone/>
            </a:pPr>
            <a:r>
              <a:rPr b="0" i="0" lang="es" sz="900" u="none" cap="none" strike="noStrike">
                <a:solidFill>
                  <a:schemeClr val="dk1"/>
                </a:solidFill>
                <a:latin typeface="Open Sans"/>
                <a:ea typeface="Open Sans"/>
                <a:cs typeface="Open Sans"/>
                <a:sym typeface="Open Sans"/>
              </a:rPr>
              <a:t>Apilar 'a'</a:t>
            </a:r>
            <a:endParaRPr b="0" i="0" sz="900" u="none" cap="none" strike="noStrike">
              <a:solidFill>
                <a:schemeClr val="dk1"/>
              </a:solidFill>
              <a:latin typeface="Open Sans"/>
              <a:ea typeface="Open Sans"/>
              <a:cs typeface="Open Sans"/>
              <a:sym typeface="Open Sans"/>
            </a:endParaRPr>
          </a:p>
        </p:txBody>
      </p:sp>
      <p:sp>
        <p:nvSpPr>
          <p:cNvPr id="380" name="Google Shape;380;p41"/>
          <p:cNvSpPr/>
          <p:nvPr/>
        </p:nvSpPr>
        <p:spPr>
          <a:xfrm>
            <a:off x="4216772" y="2793560"/>
            <a:ext cx="3550500" cy="12105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600"/>
              <a:buFont typeface="Open Sans"/>
              <a:buNone/>
            </a:pPr>
            <a:r>
              <a:rPr b="0" i="0" lang="es" sz="900" u="none" cap="none" strike="noStrike">
                <a:solidFill>
                  <a:schemeClr val="dk1"/>
                </a:solidFill>
                <a:latin typeface="Open Sans"/>
                <a:ea typeface="Open Sans"/>
                <a:cs typeface="Open Sans"/>
                <a:sym typeface="Open Sans"/>
              </a:rPr>
              <a:t>Lee y apila cada 'a' encontrado</a:t>
            </a:r>
            <a:endParaRPr b="0" i="0" sz="900" u="none" cap="none" strike="noStrike">
              <a:solidFill>
                <a:schemeClr val="dk1"/>
              </a:solidFill>
              <a:latin typeface="Open Sans"/>
              <a:ea typeface="Open Sans"/>
              <a:cs typeface="Open Sans"/>
              <a:sym typeface="Open Sans"/>
            </a:endParaRPr>
          </a:p>
        </p:txBody>
      </p:sp>
      <p:pic>
        <p:nvPicPr>
          <p:cNvPr id="381" name="Google Shape;381;p41"/>
          <p:cNvPicPr preferRelativeResize="0"/>
          <p:nvPr/>
        </p:nvPicPr>
        <p:blipFill rotWithShape="1">
          <a:blip r:embed="rId4">
            <a:alphaModFix/>
          </a:blip>
          <a:srcRect b="0" l="0" r="0" t="0"/>
          <a:stretch/>
        </p:blipFill>
        <p:spPr>
          <a:xfrm>
            <a:off x="3724925" y="3159737"/>
            <a:ext cx="378381" cy="605433"/>
          </a:xfrm>
          <a:prstGeom prst="rect">
            <a:avLst/>
          </a:prstGeom>
          <a:noFill/>
          <a:ln>
            <a:noFill/>
          </a:ln>
        </p:spPr>
      </p:pic>
      <p:sp>
        <p:nvSpPr>
          <p:cNvPr id="382" name="Google Shape;382;p41"/>
          <p:cNvSpPr/>
          <p:nvPr/>
        </p:nvSpPr>
        <p:spPr>
          <a:xfrm>
            <a:off x="4216772" y="3235401"/>
            <a:ext cx="946050" cy="1182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700"/>
              <a:buFont typeface="Instrument Sans Medium"/>
              <a:buNone/>
            </a:pPr>
            <a:r>
              <a:rPr b="0" i="0" lang="es" sz="900" u="none" cap="none" strike="noStrike">
                <a:solidFill>
                  <a:schemeClr val="dk1"/>
                </a:solidFill>
                <a:latin typeface="Open Sans"/>
                <a:ea typeface="Open Sans"/>
                <a:cs typeface="Open Sans"/>
                <a:sym typeface="Open Sans"/>
              </a:rPr>
              <a:t>Desapilar 'b'</a:t>
            </a:r>
            <a:endParaRPr b="0" i="0" sz="900" u="none" cap="none" strike="noStrike">
              <a:solidFill>
                <a:schemeClr val="dk1"/>
              </a:solidFill>
              <a:latin typeface="Open Sans"/>
              <a:ea typeface="Open Sans"/>
              <a:cs typeface="Open Sans"/>
              <a:sym typeface="Open Sans"/>
            </a:endParaRPr>
          </a:p>
        </p:txBody>
      </p:sp>
      <p:sp>
        <p:nvSpPr>
          <p:cNvPr id="383" name="Google Shape;383;p41"/>
          <p:cNvSpPr/>
          <p:nvPr/>
        </p:nvSpPr>
        <p:spPr>
          <a:xfrm>
            <a:off x="4216772" y="3398993"/>
            <a:ext cx="3550500" cy="12105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600"/>
              <a:buFont typeface="Open Sans"/>
              <a:buNone/>
            </a:pPr>
            <a:r>
              <a:rPr b="0" i="0" lang="es" sz="900" u="none" cap="none" strike="noStrike">
                <a:solidFill>
                  <a:schemeClr val="dk1"/>
                </a:solidFill>
                <a:latin typeface="Open Sans"/>
                <a:ea typeface="Open Sans"/>
                <a:cs typeface="Open Sans"/>
                <a:sym typeface="Open Sans"/>
              </a:rPr>
              <a:t>Desapila por cada 'b' leído</a:t>
            </a:r>
            <a:endParaRPr b="0" i="0" sz="900" u="none" cap="none" strike="noStrike">
              <a:solidFill>
                <a:schemeClr val="dk1"/>
              </a:solidFill>
              <a:latin typeface="Open Sans"/>
              <a:ea typeface="Open Sans"/>
              <a:cs typeface="Open Sans"/>
              <a:sym typeface="Open Sans"/>
            </a:endParaRPr>
          </a:p>
        </p:txBody>
      </p:sp>
      <p:pic>
        <p:nvPicPr>
          <p:cNvPr id="384" name="Google Shape;384;p41"/>
          <p:cNvPicPr preferRelativeResize="0"/>
          <p:nvPr/>
        </p:nvPicPr>
        <p:blipFill rotWithShape="1">
          <a:blip r:embed="rId5">
            <a:alphaModFix/>
          </a:blip>
          <a:srcRect b="0" l="0" r="0" t="0"/>
          <a:stretch/>
        </p:blipFill>
        <p:spPr>
          <a:xfrm>
            <a:off x="3724925" y="3765170"/>
            <a:ext cx="378381" cy="605433"/>
          </a:xfrm>
          <a:prstGeom prst="rect">
            <a:avLst/>
          </a:prstGeom>
          <a:noFill/>
          <a:ln>
            <a:noFill/>
          </a:ln>
        </p:spPr>
      </p:pic>
      <p:sp>
        <p:nvSpPr>
          <p:cNvPr id="385" name="Google Shape;385;p41"/>
          <p:cNvSpPr/>
          <p:nvPr/>
        </p:nvSpPr>
        <p:spPr>
          <a:xfrm>
            <a:off x="4216772" y="3840834"/>
            <a:ext cx="946050" cy="1182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700"/>
              <a:buFont typeface="Instrument Sans Medium"/>
              <a:buNone/>
            </a:pPr>
            <a:r>
              <a:rPr b="0" i="0" lang="es" sz="900" u="none" cap="none" strike="noStrike">
                <a:solidFill>
                  <a:schemeClr val="dk1"/>
                </a:solidFill>
                <a:latin typeface="Open Sans"/>
                <a:ea typeface="Open Sans"/>
                <a:cs typeface="Open Sans"/>
                <a:sym typeface="Open Sans"/>
              </a:rPr>
              <a:t>Verificar 'a'</a:t>
            </a:r>
            <a:endParaRPr b="0" i="0" sz="900" u="none" cap="none" strike="noStrike">
              <a:solidFill>
                <a:schemeClr val="dk1"/>
              </a:solidFill>
              <a:latin typeface="Open Sans"/>
              <a:ea typeface="Open Sans"/>
              <a:cs typeface="Open Sans"/>
              <a:sym typeface="Open Sans"/>
            </a:endParaRPr>
          </a:p>
        </p:txBody>
      </p:sp>
      <p:sp>
        <p:nvSpPr>
          <p:cNvPr id="386" name="Google Shape;386;p41"/>
          <p:cNvSpPr/>
          <p:nvPr/>
        </p:nvSpPr>
        <p:spPr>
          <a:xfrm>
            <a:off x="4216772" y="4004426"/>
            <a:ext cx="3550500" cy="12105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600"/>
              <a:buFont typeface="Open Sans"/>
              <a:buNone/>
            </a:pPr>
            <a:r>
              <a:rPr b="0" i="0" lang="es" sz="900" u="none" cap="none" strike="noStrike">
                <a:solidFill>
                  <a:schemeClr val="dk1"/>
                </a:solidFill>
                <a:latin typeface="Open Sans"/>
                <a:ea typeface="Open Sans"/>
                <a:cs typeface="Open Sans"/>
                <a:sym typeface="Open Sans"/>
              </a:rPr>
              <a:t>Desapila por cada 'a' final</a:t>
            </a:r>
            <a:endParaRPr b="0" i="0" sz="900" u="none" cap="none" strike="noStrike">
              <a:solidFill>
                <a:schemeClr val="dk1"/>
              </a:solidFill>
              <a:latin typeface="Open Sans"/>
              <a:ea typeface="Open Sans"/>
              <a:cs typeface="Open Sans"/>
              <a:sym typeface="Open Sans"/>
            </a:endParaRPr>
          </a:p>
        </p:txBody>
      </p:sp>
      <p:pic>
        <p:nvPicPr>
          <p:cNvPr id="387" name="Google Shape;387;p41"/>
          <p:cNvPicPr preferRelativeResize="0"/>
          <p:nvPr/>
        </p:nvPicPr>
        <p:blipFill rotWithShape="1">
          <a:blip r:embed="rId6">
            <a:alphaModFix/>
          </a:blip>
          <a:srcRect b="0" l="0" r="0" t="0"/>
          <a:stretch/>
        </p:blipFill>
        <p:spPr>
          <a:xfrm>
            <a:off x="3724925" y="4370602"/>
            <a:ext cx="378381" cy="605433"/>
          </a:xfrm>
          <a:prstGeom prst="rect">
            <a:avLst/>
          </a:prstGeom>
          <a:noFill/>
          <a:ln>
            <a:noFill/>
          </a:ln>
        </p:spPr>
      </p:pic>
      <p:sp>
        <p:nvSpPr>
          <p:cNvPr id="388" name="Google Shape;388;p41"/>
          <p:cNvSpPr/>
          <p:nvPr/>
        </p:nvSpPr>
        <p:spPr>
          <a:xfrm>
            <a:off x="4216772" y="4446267"/>
            <a:ext cx="946050" cy="1182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700"/>
              <a:buFont typeface="Instrument Sans Medium"/>
              <a:buNone/>
            </a:pPr>
            <a:r>
              <a:rPr b="0" i="0" lang="es" sz="900" u="none" cap="none" strike="noStrike">
                <a:solidFill>
                  <a:schemeClr val="dk1"/>
                </a:solidFill>
                <a:latin typeface="Open Sans"/>
                <a:ea typeface="Open Sans"/>
                <a:cs typeface="Open Sans"/>
                <a:sym typeface="Open Sans"/>
              </a:rPr>
              <a:t>Aceptar</a:t>
            </a:r>
            <a:endParaRPr b="0" i="0" sz="900" u="none" cap="none" strike="noStrike">
              <a:solidFill>
                <a:schemeClr val="dk1"/>
              </a:solidFill>
              <a:latin typeface="Open Sans"/>
              <a:ea typeface="Open Sans"/>
              <a:cs typeface="Open Sans"/>
              <a:sym typeface="Open Sans"/>
            </a:endParaRPr>
          </a:p>
        </p:txBody>
      </p:sp>
      <p:sp>
        <p:nvSpPr>
          <p:cNvPr id="389" name="Google Shape;389;p41"/>
          <p:cNvSpPr/>
          <p:nvPr/>
        </p:nvSpPr>
        <p:spPr>
          <a:xfrm>
            <a:off x="4216772" y="4609858"/>
            <a:ext cx="3550500" cy="12105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600"/>
              <a:buFont typeface="Open Sans"/>
              <a:buNone/>
            </a:pPr>
            <a:r>
              <a:rPr b="0" i="0" lang="es" sz="900" u="none" cap="none" strike="noStrike">
                <a:solidFill>
                  <a:schemeClr val="dk1"/>
                </a:solidFill>
                <a:latin typeface="Open Sans"/>
                <a:ea typeface="Open Sans"/>
                <a:cs typeface="Open Sans"/>
                <a:sym typeface="Open Sans"/>
              </a:rPr>
              <a:t>Acepta si la pila queda vacía</a:t>
            </a:r>
            <a:endParaRPr b="0" i="0" sz="900" u="none" cap="none" strike="noStrike">
              <a:solidFill>
                <a:schemeClr val="dk1"/>
              </a:solidFill>
              <a:latin typeface="Open Sans"/>
              <a:ea typeface="Open Sans"/>
              <a:cs typeface="Open Sans"/>
              <a:sym typeface="Open Sans"/>
            </a:endParaRPr>
          </a:p>
        </p:txBody>
      </p:sp>
      <p:pic>
        <p:nvPicPr>
          <p:cNvPr id="390" name="Google Shape;390;p41"/>
          <p:cNvPicPr preferRelativeResize="0"/>
          <p:nvPr/>
        </p:nvPicPr>
        <p:blipFill rotWithShape="1">
          <a:blip r:embed="rId7">
            <a:alphaModFix/>
          </a:blip>
          <a:srcRect b="0" l="0" r="0" t="0"/>
          <a:stretch/>
        </p:blipFill>
        <p:spPr>
          <a:xfrm>
            <a:off x="-1026" y="1316351"/>
            <a:ext cx="3514247" cy="36596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2"/>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Paréntesis Balanceados</a:t>
            </a:r>
            <a:endParaRPr b="0" i="0" sz="3000" u="none" cap="none" strike="noStrike">
              <a:solidFill>
                <a:srgbClr val="131416"/>
              </a:solidFill>
              <a:latin typeface="Impact"/>
              <a:ea typeface="Impact"/>
              <a:cs typeface="Impact"/>
              <a:sym typeface="Impact"/>
            </a:endParaRPr>
          </a:p>
        </p:txBody>
      </p:sp>
      <p:sp>
        <p:nvSpPr>
          <p:cNvPr id="396" name="Google Shape;396;p42"/>
          <p:cNvSpPr/>
          <p:nvPr/>
        </p:nvSpPr>
        <p:spPr>
          <a:xfrm>
            <a:off x="687445" y="927893"/>
            <a:ext cx="5147872" cy="54364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Otro caso interesante es el reconocimiento de expresiones con paréntesis balanceados, como (a(b(c)d)e). El autómata empuja un símbolo (por ejemplo, #) en la pila al leer un paréntesis abierto. Cada vez que lee un paréntesis cerrado, desapila un símbolo de la pila. Si al final de la entrada la pila está vacía, acepta la cadena como balanceada.</a:t>
            </a:r>
            <a:endParaRPr b="0" i="0" sz="1000" u="none" cap="none" strike="noStrike">
              <a:solidFill>
                <a:schemeClr val="dk1"/>
              </a:solidFill>
              <a:latin typeface="Arial"/>
              <a:ea typeface="Arial"/>
              <a:cs typeface="Arial"/>
              <a:sym typeface="Arial"/>
            </a:endParaRPr>
          </a:p>
        </p:txBody>
      </p:sp>
      <p:sp>
        <p:nvSpPr>
          <p:cNvPr id="397" name="Google Shape;397;p42"/>
          <p:cNvSpPr/>
          <p:nvPr/>
        </p:nvSpPr>
        <p:spPr>
          <a:xfrm>
            <a:off x="809126" y="2295367"/>
            <a:ext cx="11430" cy="2212955"/>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98" name="Google Shape;398;p42"/>
          <p:cNvSpPr/>
          <p:nvPr/>
        </p:nvSpPr>
        <p:spPr>
          <a:xfrm>
            <a:off x="898989" y="2480747"/>
            <a:ext cx="297358" cy="1143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99" name="Google Shape;399;p42"/>
          <p:cNvSpPr/>
          <p:nvPr/>
        </p:nvSpPr>
        <p:spPr>
          <a:xfrm>
            <a:off x="719264" y="2390915"/>
            <a:ext cx="191155" cy="191155"/>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00" name="Google Shape;400;p42"/>
          <p:cNvSpPr/>
          <p:nvPr/>
        </p:nvSpPr>
        <p:spPr>
          <a:xfrm>
            <a:off x="790047" y="2422764"/>
            <a:ext cx="49590" cy="1274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401" name="Google Shape;401;p42"/>
          <p:cNvSpPr/>
          <p:nvPr/>
        </p:nvSpPr>
        <p:spPr>
          <a:xfrm>
            <a:off x="1282103" y="2380318"/>
            <a:ext cx="1062038" cy="132754"/>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Open Sans"/>
                <a:ea typeface="Open Sans"/>
                <a:cs typeface="Open Sans"/>
                <a:sym typeface="Open Sans"/>
              </a:rPr>
              <a:t>Leer '('</a:t>
            </a:r>
            <a:endParaRPr b="0" i="0" sz="1000" u="none" cap="none" strike="noStrike">
              <a:solidFill>
                <a:schemeClr val="dk1"/>
              </a:solidFill>
              <a:latin typeface="Open Sans"/>
              <a:ea typeface="Open Sans"/>
              <a:cs typeface="Open Sans"/>
              <a:sym typeface="Open Sans"/>
            </a:endParaRPr>
          </a:p>
        </p:txBody>
      </p:sp>
      <p:sp>
        <p:nvSpPr>
          <p:cNvPr id="402" name="Google Shape;402;p42"/>
          <p:cNvSpPr/>
          <p:nvPr/>
        </p:nvSpPr>
        <p:spPr>
          <a:xfrm>
            <a:off x="1282103" y="2564032"/>
            <a:ext cx="3382625" cy="13591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Empuja '#' en la pila</a:t>
            </a:r>
            <a:endParaRPr b="0" i="0" sz="1000" u="none" cap="none" strike="noStrike">
              <a:solidFill>
                <a:schemeClr val="dk1"/>
              </a:solidFill>
              <a:latin typeface="Arial"/>
              <a:ea typeface="Arial"/>
              <a:cs typeface="Arial"/>
              <a:sym typeface="Arial"/>
            </a:endParaRPr>
          </a:p>
        </p:txBody>
      </p:sp>
      <p:sp>
        <p:nvSpPr>
          <p:cNvPr id="403" name="Google Shape;403;p42"/>
          <p:cNvSpPr/>
          <p:nvPr/>
        </p:nvSpPr>
        <p:spPr>
          <a:xfrm>
            <a:off x="898989" y="3055224"/>
            <a:ext cx="297358" cy="1143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04" name="Google Shape;404;p42"/>
          <p:cNvSpPr/>
          <p:nvPr/>
        </p:nvSpPr>
        <p:spPr>
          <a:xfrm>
            <a:off x="719264" y="2965391"/>
            <a:ext cx="191155" cy="191155"/>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05" name="Google Shape;405;p42"/>
          <p:cNvSpPr/>
          <p:nvPr/>
        </p:nvSpPr>
        <p:spPr>
          <a:xfrm>
            <a:off x="779689" y="2997240"/>
            <a:ext cx="70247" cy="1274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406" name="Google Shape;406;p42"/>
          <p:cNvSpPr/>
          <p:nvPr/>
        </p:nvSpPr>
        <p:spPr>
          <a:xfrm>
            <a:off x="1282103" y="2954795"/>
            <a:ext cx="1062038" cy="132754"/>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Open Sans"/>
                <a:ea typeface="Open Sans"/>
                <a:cs typeface="Open Sans"/>
                <a:sym typeface="Open Sans"/>
              </a:rPr>
              <a:t>Leer ')'</a:t>
            </a:r>
            <a:endParaRPr b="0" i="0" sz="1000" u="none" cap="none" strike="noStrike">
              <a:solidFill>
                <a:schemeClr val="dk1"/>
              </a:solidFill>
              <a:latin typeface="Open Sans"/>
              <a:ea typeface="Open Sans"/>
              <a:cs typeface="Open Sans"/>
              <a:sym typeface="Open Sans"/>
            </a:endParaRPr>
          </a:p>
        </p:txBody>
      </p:sp>
      <p:sp>
        <p:nvSpPr>
          <p:cNvPr id="407" name="Google Shape;407;p42"/>
          <p:cNvSpPr/>
          <p:nvPr/>
        </p:nvSpPr>
        <p:spPr>
          <a:xfrm>
            <a:off x="1282103" y="3138508"/>
            <a:ext cx="3382625" cy="13591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Desapila un símbolo</a:t>
            </a:r>
            <a:endParaRPr b="0" i="0" sz="1000" u="none" cap="none" strike="noStrike">
              <a:solidFill>
                <a:schemeClr val="dk1"/>
              </a:solidFill>
              <a:latin typeface="Arial"/>
              <a:ea typeface="Arial"/>
              <a:cs typeface="Arial"/>
              <a:sym typeface="Arial"/>
            </a:endParaRPr>
          </a:p>
        </p:txBody>
      </p:sp>
      <p:sp>
        <p:nvSpPr>
          <p:cNvPr id="408" name="Google Shape;408;p42"/>
          <p:cNvSpPr/>
          <p:nvPr/>
        </p:nvSpPr>
        <p:spPr>
          <a:xfrm>
            <a:off x="898989" y="3629700"/>
            <a:ext cx="297358" cy="1143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09" name="Google Shape;409;p42"/>
          <p:cNvSpPr/>
          <p:nvPr/>
        </p:nvSpPr>
        <p:spPr>
          <a:xfrm>
            <a:off x="719264" y="3539868"/>
            <a:ext cx="191155" cy="191155"/>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10" name="Google Shape;410;p42"/>
          <p:cNvSpPr/>
          <p:nvPr/>
        </p:nvSpPr>
        <p:spPr>
          <a:xfrm>
            <a:off x="778081" y="3571717"/>
            <a:ext cx="73521" cy="12745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411" name="Google Shape;411;p42"/>
          <p:cNvSpPr/>
          <p:nvPr/>
        </p:nvSpPr>
        <p:spPr>
          <a:xfrm>
            <a:off x="1282103" y="3529271"/>
            <a:ext cx="1062038" cy="132754"/>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Open Sans"/>
                <a:ea typeface="Open Sans"/>
                <a:cs typeface="Open Sans"/>
                <a:sym typeface="Open Sans"/>
              </a:rPr>
              <a:t>Procesar</a:t>
            </a:r>
            <a:endParaRPr b="0" i="0" sz="1000" u="none" cap="none" strike="noStrike">
              <a:solidFill>
                <a:schemeClr val="dk1"/>
              </a:solidFill>
              <a:latin typeface="Open Sans"/>
              <a:ea typeface="Open Sans"/>
              <a:cs typeface="Open Sans"/>
              <a:sym typeface="Open Sans"/>
            </a:endParaRPr>
          </a:p>
        </p:txBody>
      </p:sp>
      <p:sp>
        <p:nvSpPr>
          <p:cNvPr id="412" name="Google Shape;412;p42"/>
          <p:cNvSpPr/>
          <p:nvPr/>
        </p:nvSpPr>
        <p:spPr>
          <a:xfrm>
            <a:off x="1282103" y="3712985"/>
            <a:ext cx="3382625" cy="13591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Continúa leyendo la entrada</a:t>
            </a:r>
            <a:endParaRPr b="0" i="0" sz="1000" u="none" cap="none" strike="noStrike">
              <a:solidFill>
                <a:schemeClr val="dk1"/>
              </a:solidFill>
              <a:latin typeface="Arial"/>
              <a:ea typeface="Arial"/>
              <a:cs typeface="Arial"/>
              <a:sym typeface="Arial"/>
            </a:endParaRPr>
          </a:p>
        </p:txBody>
      </p:sp>
      <p:sp>
        <p:nvSpPr>
          <p:cNvPr id="413" name="Google Shape;413;p42"/>
          <p:cNvSpPr/>
          <p:nvPr/>
        </p:nvSpPr>
        <p:spPr>
          <a:xfrm>
            <a:off x="898989" y="4204177"/>
            <a:ext cx="297358" cy="1143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14" name="Google Shape;414;p42"/>
          <p:cNvSpPr/>
          <p:nvPr/>
        </p:nvSpPr>
        <p:spPr>
          <a:xfrm>
            <a:off x="719264" y="4114344"/>
            <a:ext cx="191155" cy="191155"/>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15" name="Google Shape;415;p42"/>
          <p:cNvSpPr/>
          <p:nvPr/>
        </p:nvSpPr>
        <p:spPr>
          <a:xfrm>
            <a:off x="776176" y="4146194"/>
            <a:ext cx="77331" cy="12745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4</a:t>
            </a:r>
            <a:endParaRPr b="0" i="0" sz="1000" u="none" cap="none" strike="noStrike">
              <a:solidFill>
                <a:schemeClr val="dk1"/>
              </a:solidFill>
              <a:latin typeface="Open Sans"/>
              <a:ea typeface="Open Sans"/>
              <a:cs typeface="Open Sans"/>
              <a:sym typeface="Open Sans"/>
            </a:endParaRPr>
          </a:p>
        </p:txBody>
      </p:sp>
      <p:sp>
        <p:nvSpPr>
          <p:cNvPr id="416" name="Google Shape;416;p42"/>
          <p:cNvSpPr/>
          <p:nvPr/>
        </p:nvSpPr>
        <p:spPr>
          <a:xfrm>
            <a:off x="1282103" y="4103748"/>
            <a:ext cx="1062038" cy="132754"/>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Open Sans"/>
                <a:ea typeface="Open Sans"/>
                <a:cs typeface="Open Sans"/>
                <a:sym typeface="Open Sans"/>
              </a:rPr>
              <a:t>Verificar</a:t>
            </a:r>
            <a:endParaRPr b="0" i="0" sz="1000" u="none" cap="none" strike="noStrike">
              <a:solidFill>
                <a:schemeClr val="dk1"/>
              </a:solidFill>
              <a:latin typeface="Open Sans"/>
              <a:ea typeface="Open Sans"/>
              <a:cs typeface="Open Sans"/>
              <a:sym typeface="Open Sans"/>
            </a:endParaRPr>
          </a:p>
        </p:txBody>
      </p:sp>
      <p:sp>
        <p:nvSpPr>
          <p:cNvPr id="417" name="Google Shape;417;p42"/>
          <p:cNvSpPr/>
          <p:nvPr/>
        </p:nvSpPr>
        <p:spPr>
          <a:xfrm>
            <a:off x="1282103" y="4287461"/>
            <a:ext cx="3382625" cy="13591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Acepta si la pila está vacía al final</a:t>
            </a:r>
            <a:endParaRPr b="0" i="0" sz="1000" u="none" cap="none" strike="noStrike">
              <a:solidFill>
                <a:schemeClr val="dk1"/>
              </a:solidFill>
              <a:latin typeface="Arial"/>
              <a:ea typeface="Arial"/>
              <a:cs typeface="Arial"/>
              <a:sym typeface="Arial"/>
            </a:endParaRPr>
          </a:p>
        </p:txBody>
      </p:sp>
      <p:pic>
        <p:nvPicPr>
          <p:cNvPr id="418" name="Google Shape;418;p42"/>
          <p:cNvPicPr preferRelativeResize="0"/>
          <p:nvPr/>
        </p:nvPicPr>
        <p:blipFill rotWithShape="1">
          <a:blip r:embed="rId3">
            <a:alphaModFix/>
          </a:blip>
          <a:srcRect b="0" l="0" r="0" t="0"/>
          <a:stretch/>
        </p:blipFill>
        <p:spPr>
          <a:xfrm>
            <a:off x="6064402" y="761801"/>
            <a:ext cx="2888159" cy="1820268"/>
          </a:xfrm>
          <a:prstGeom prst="rect">
            <a:avLst/>
          </a:prstGeom>
          <a:noFill/>
          <a:ln>
            <a:noFill/>
          </a:ln>
        </p:spPr>
      </p:pic>
      <p:pic>
        <p:nvPicPr>
          <p:cNvPr id="419" name="Google Shape;419;p42"/>
          <p:cNvPicPr preferRelativeResize="0"/>
          <p:nvPr/>
        </p:nvPicPr>
        <p:blipFill rotWithShape="1">
          <a:blip r:embed="rId4">
            <a:alphaModFix/>
          </a:blip>
          <a:srcRect b="0" l="0" r="0" t="0"/>
          <a:stretch/>
        </p:blipFill>
        <p:spPr>
          <a:xfrm>
            <a:off x="6064401" y="2658270"/>
            <a:ext cx="2888159" cy="19921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3"/>
          <p:cNvSpPr txBox="1"/>
          <p:nvPr/>
        </p:nvSpPr>
        <p:spPr>
          <a:xfrm>
            <a:off x="687445" y="327182"/>
            <a:ext cx="6995550" cy="53020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Potencias de Un Símbolo</a:t>
            </a:r>
            <a:endParaRPr b="0" i="0" sz="700" u="none" cap="none" strike="noStrike">
              <a:solidFill>
                <a:srgbClr val="000000"/>
              </a:solidFill>
              <a:latin typeface="Arial"/>
              <a:ea typeface="Arial"/>
              <a:cs typeface="Arial"/>
              <a:sym typeface="Arial"/>
            </a:endParaRPr>
          </a:p>
        </p:txBody>
      </p:sp>
      <p:sp>
        <p:nvSpPr>
          <p:cNvPr id="425" name="Google Shape;425;p43"/>
          <p:cNvSpPr/>
          <p:nvPr/>
        </p:nvSpPr>
        <p:spPr>
          <a:xfrm>
            <a:off x="3549786" y="1152613"/>
            <a:ext cx="5257330" cy="84326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Los autómatas de pila también pueden reconocer lenguajes como a</a:t>
            </a:r>
            <a:r>
              <a:rPr b="0" baseline="30000" i="0" lang="es" sz="1000" u="none" cap="none" strike="noStrike">
                <a:solidFill>
                  <a:schemeClr val="dk1"/>
                </a:solidFill>
                <a:latin typeface="Open Sans"/>
                <a:ea typeface="Open Sans"/>
                <a:cs typeface="Open Sans"/>
                <a:sym typeface="Open Sans"/>
              </a:rPr>
              <a:t>n</a:t>
            </a:r>
            <a:r>
              <a:rPr b="0" i="0" lang="es" sz="1000" u="none" cap="none" strike="noStrike">
                <a:solidFill>
                  <a:schemeClr val="dk1"/>
                </a:solidFill>
                <a:latin typeface="Open Sans"/>
                <a:ea typeface="Open Sans"/>
                <a:cs typeface="Open Sans"/>
                <a:sym typeface="Open Sans"/>
              </a:rPr>
              <a:t> b</a:t>
            </a:r>
            <a:r>
              <a:rPr b="0" baseline="30000" i="0" lang="es" sz="1000" u="none" cap="none" strike="noStrike">
                <a:solidFill>
                  <a:schemeClr val="dk1"/>
                </a:solidFill>
                <a:latin typeface="Open Sans"/>
                <a:ea typeface="Open Sans"/>
                <a:cs typeface="Open Sans"/>
                <a:sym typeface="Open Sans"/>
              </a:rPr>
              <a:t>m</a:t>
            </a:r>
            <a:r>
              <a:rPr b="0" i="0" lang="es" sz="1000" u="none" cap="none" strike="noStrike">
                <a:solidFill>
                  <a:schemeClr val="dk1"/>
                </a:solidFill>
                <a:latin typeface="Open Sans"/>
                <a:ea typeface="Open Sans"/>
                <a:cs typeface="Open Sans"/>
                <a:sym typeface="Open Sans"/>
              </a:rPr>
              <a:t> donde n y m son mayores o iguales a 1. En este caso, el autómata empuja un símbolo en la pila para cada 'a' leído. Al encontrar un 'b', no se desapila. La aceptación puede depender de que se lean uno o más 'a' seguidos de uno o más 'b'.</a:t>
            </a:r>
            <a:endParaRPr b="0" i="0" sz="1000" u="none" cap="none" strike="noStrike">
              <a:solidFill>
                <a:schemeClr val="dk1"/>
              </a:solidFill>
              <a:latin typeface="Arial"/>
              <a:ea typeface="Arial"/>
              <a:cs typeface="Arial"/>
              <a:sym typeface="Arial"/>
            </a:endParaRPr>
          </a:p>
        </p:txBody>
      </p:sp>
      <p:sp>
        <p:nvSpPr>
          <p:cNvPr id="426" name="Google Shape;426;p43"/>
          <p:cNvSpPr/>
          <p:nvPr/>
        </p:nvSpPr>
        <p:spPr>
          <a:xfrm>
            <a:off x="3549787" y="2233045"/>
            <a:ext cx="237172" cy="237172"/>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27" name="Google Shape;427;p43"/>
          <p:cNvSpPr/>
          <p:nvPr/>
        </p:nvSpPr>
        <p:spPr>
          <a:xfrm>
            <a:off x="3637596" y="2272574"/>
            <a:ext cx="61556" cy="15811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428" name="Google Shape;428;p43"/>
          <p:cNvSpPr/>
          <p:nvPr/>
        </p:nvSpPr>
        <p:spPr>
          <a:xfrm>
            <a:off x="3892330" y="2233045"/>
            <a:ext cx="1317665" cy="16466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Lectura de 'a'</a:t>
            </a:r>
            <a:endParaRPr b="0" i="0" sz="1000" u="none" cap="none" strike="noStrike">
              <a:solidFill>
                <a:schemeClr val="dk1"/>
              </a:solidFill>
              <a:latin typeface="Open Sans"/>
              <a:ea typeface="Open Sans"/>
              <a:cs typeface="Open Sans"/>
              <a:sym typeface="Open Sans"/>
            </a:endParaRPr>
          </a:p>
        </p:txBody>
      </p:sp>
      <p:sp>
        <p:nvSpPr>
          <p:cNvPr id="429" name="Google Shape;429;p43"/>
          <p:cNvSpPr/>
          <p:nvPr/>
        </p:nvSpPr>
        <p:spPr>
          <a:xfrm>
            <a:off x="3892329" y="2460931"/>
            <a:ext cx="3491627" cy="1686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Empuja un símbolo en la pila por cada 'a' leído</a:t>
            </a:r>
            <a:endParaRPr b="0" i="0" sz="1000" u="none" cap="none" strike="noStrike">
              <a:solidFill>
                <a:schemeClr val="dk1"/>
              </a:solidFill>
              <a:latin typeface="Open Sans"/>
              <a:ea typeface="Open Sans"/>
              <a:cs typeface="Open Sans"/>
              <a:sym typeface="Open Sans"/>
            </a:endParaRPr>
          </a:p>
        </p:txBody>
      </p:sp>
      <p:sp>
        <p:nvSpPr>
          <p:cNvPr id="430" name="Google Shape;430;p43"/>
          <p:cNvSpPr/>
          <p:nvPr/>
        </p:nvSpPr>
        <p:spPr>
          <a:xfrm>
            <a:off x="3549787" y="2853540"/>
            <a:ext cx="237172" cy="237172"/>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31" name="Google Shape;431;p43"/>
          <p:cNvSpPr/>
          <p:nvPr/>
        </p:nvSpPr>
        <p:spPr>
          <a:xfrm>
            <a:off x="3624796" y="2893068"/>
            <a:ext cx="87154" cy="15811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432" name="Google Shape;432;p43"/>
          <p:cNvSpPr/>
          <p:nvPr/>
        </p:nvSpPr>
        <p:spPr>
          <a:xfrm>
            <a:off x="3892330" y="2853540"/>
            <a:ext cx="1317665" cy="16466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Lectura de 'b'</a:t>
            </a:r>
            <a:endParaRPr b="0" i="0" sz="1000" u="none" cap="none" strike="noStrike">
              <a:solidFill>
                <a:schemeClr val="dk1"/>
              </a:solidFill>
              <a:latin typeface="Open Sans"/>
              <a:ea typeface="Open Sans"/>
              <a:cs typeface="Open Sans"/>
              <a:sym typeface="Open Sans"/>
            </a:endParaRPr>
          </a:p>
        </p:txBody>
      </p:sp>
      <p:sp>
        <p:nvSpPr>
          <p:cNvPr id="433" name="Google Shape;433;p43"/>
          <p:cNvSpPr/>
          <p:nvPr/>
        </p:nvSpPr>
        <p:spPr>
          <a:xfrm>
            <a:off x="3892329" y="3081425"/>
            <a:ext cx="3491627" cy="1686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No desapila al encontrar 'b'</a:t>
            </a:r>
            <a:endParaRPr b="0" i="0" sz="1000" u="none" cap="none" strike="noStrike">
              <a:solidFill>
                <a:schemeClr val="dk1"/>
              </a:solidFill>
              <a:latin typeface="Open Sans"/>
              <a:ea typeface="Open Sans"/>
              <a:cs typeface="Open Sans"/>
              <a:sym typeface="Open Sans"/>
            </a:endParaRPr>
          </a:p>
        </p:txBody>
      </p:sp>
      <p:sp>
        <p:nvSpPr>
          <p:cNvPr id="434" name="Google Shape;434;p43"/>
          <p:cNvSpPr/>
          <p:nvPr/>
        </p:nvSpPr>
        <p:spPr>
          <a:xfrm>
            <a:off x="3549787" y="3474034"/>
            <a:ext cx="237172" cy="237172"/>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435" name="Google Shape;435;p43"/>
          <p:cNvSpPr/>
          <p:nvPr/>
        </p:nvSpPr>
        <p:spPr>
          <a:xfrm>
            <a:off x="3622713" y="3513563"/>
            <a:ext cx="91261" cy="15811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436" name="Google Shape;436;p43"/>
          <p:cNvSpPr/>
          <p:nvPr/>
        </p:nvSpPr>
        <p:spPr>
          <a:xfrm>
            <a:off x="3892330" y="3474033"/>
            <a:ext cx="1317665" cy="164664"/>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Aceptación</a:t>
            </a:r>
            <a:endParaRPr b="0" i="0" sz="1000" u="none" cap="none" strike="noStrike">
              <a:solidFill>
                <a:schemeClr val="dk1"/>
              </a:solidFill>
              <a:latin typeface="Open Sans"/>
              <a:ea typeface="Open Sans"/>
              <a:cs typeface="Open Sans"/>
              <a:sym typeface="Open Sans"/>
            </a:endParaRPr>
          </a:p>
        </p:txBody>
      </p:sp>
      <p:sp>
        <p:nvSpPr>
          <p:cNvPr id="437" name="Google Shape;437;p43"/>
          <p:cNvSpPr/>
          <p:nvPr/>
        </p:nvSpPr>
        <p:spPr>
          <a:xfrm>
            <a:off x="3892329" y="3701920"/>
            <a:ext cx="3491627" cy="1686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Acepta si se leen uno o más 'a' seguidos de uno o más 'b'</a:t>
            </a:r>
            <a:endParaRPr b="0" i="0" sz="1000" u="none" cap="none" strike="noStrike">
              <a:solidFill>
                <a:schemeClr val="dk1"/>
              </a:solidFill>
              <a:latin typeface="Open Sans"/>
              <a:ea typeface="Open Sans"/>
              <a:cs typeface="Open Sans"/>
              <a:sym typeface="Open Sans"/>
            </a:endParaRPr>
          </a:p>
        </p:txBody>
      </p:sp>
      <p:pic>
        <p:nvPicPr>
          <p:cNvPr id="438" name="Google Shape;438;p43"/>
          <p:cNvPicPr preferRelativeResize="0"/>
          <p:nvPr/>
        </p:nvPicPr>
        <p:blipFill rotWithShape="1">
          <a:blip r:embed="rId3">
            <a:alphaModFix/>
          </a:blip>
          <a:srcRect b="0" l="0" r="0" t="0"/>
          <a:stretch/>
        </p:blipFill>
        <p:spPr>
          <a:xfrm>
            <a:off x="484696" y="1157192"/>
            <a:ext cx="2959715" cy="189191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4"/>
          <p:cNvSpPr txBox="1"/>
          <p:nvPr/>
        </p:nvSpPr>
        <p:spPr>
          <a:xfrm>
            <a:off x="687445" y="327182"/>
            <a:ext cx="6995550" cy="1060419"/>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Método sin gramática y utilizando gramática.</a:t>
            </a:r>
            <a:endParaRPr b="0" i="0" sz="700" u="none" cap="none" strike="noStrike">
              <a:solidFill>
                <a:srgbClr val="000000"/>
              </a:solidFill>
              <a:latin typeface="Arial"/>
              <a:ea typeface="Arial"/>
              <a:cs typeface="Arial"/>
              <a:sym typeface="Arial"/>
            </a:endParaRPr>
          </a:p>
        </p:txBody>
      </p:sp>
      <p:sp>
        <p:nvSpPr>
          <p:cNvPr id="444" name="Google Shape;444;p44"/>
          <p:cNvSpPr/>
          <p:nvPr/>
        </p:nvSpPr>
        <p:spPr>
          <a:xfrm>
            <a:off x="685757" y="1387600"/>
            <a:ext cx="3698550" cy="1451852"/>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45" name="Google Shape;445;p44"/>
          <p:cNvSpPr/>
          <p:nvPr/>
        </p:nvSpPr>
        <p:spPr>
          <a:xfrm>
            <a:off x="776657" y="1496176"/>
            <a:ext cx="3551550" cy="14535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chemeClr val="dk1"/>
              </a:buClr>
              <a:buSzPts val="600"/>
              <a:buFont typeface="Arial"/>
              <a:buNone/>
            </a:pPr>
            <a:r>
              <a:rPr b="0" i="0" lang="es" sz="1000" u="none" cap="none" strike="noStrike">
                <a:solidFill>
                  <a:srgbClr val="BFBFBF"/>
                </a:solidFill>
                <a:latin typeface="Open Sans"/>
                <a:ea typeface="Open Sans"/>
                <a:cs typeface="Open Sans"/>
                <a:sym typeface="Open Sans"/>
              </a:rPr>
              <a:t>En ambos casos se diseñan los autómatas para reconocer el lenguaje. En cada caso, el diseño es diferente. Además, cada uno tiene un algoritmo para su ejecución y validación que una cadena de entrada cumple con el lenguaje. Es decir, llega al estado de aceptación.</a:t>
            </a:r>
            <a:endParaRPr b="0" i="0" sz="1000" u="none" cap="none" strike="noStrike">
              <a:solidFill>
                <a:srgbClr val="BFBFBF"/>
              </a:solidFill>
              <a:latin typeface="Open Sans"/>
              <a:ea typeface="Open Sans"/>
              <a:cs typeface="Open Sans"/>
              <a:sym typeface="Open Sans"/>
            </a:endParaRPr>
          </a:p>
          <a:p>
            <a:pPr indent="0" lvl="0" marL="0" marR="0" rtl="0" algn="l">
              <a:lnSpc>
                <a:spcPct val="160714"/>
              </a:lnSpc>
              <a:spcBef>
                <a:spcPts val="0"/>
              </a:spcBef>
              <a:spcAft>
                <a:spcPts val="0"/>
              </a:spcAft>
              <a:buClr>
                <a:srgbClr val="BFBFBF"/>
              </a:buClr>
              <a:buSzPts val="700"/>
              <a:buFont typeface="Open Sans"/>
              <a:buNone/>
            </a:pPr>
            <a:r>
              <a:t/>
            </a:r>
            <a:endParaRPr b="0" i="0" sz="1000" u="none" cap="none" strike="noStrike">
              <a:solidFill>
                <a:srgbClr val="BFBFBF"/>
              </a:solidFill>
              <a:latin typeface="Open Sans"/>
              <a:ea typeface="Open Sans"/>
              <a:cs typeface="Open Sans"/>
              <a:sym typeface="Open Sans"/>
            </a:endParaRPr>
          </a:p>
        </p:txBody>
      </p:sp>
      <p:pic>
        <p:nvPicPr>
          <p:cNvPr id="446" name="Google Shape;446;p44"/>
          <p:cNvPicPr preferRelativeResize="0"/>
          <p:nvPr/>
        </p:nvPicPr>
        <p:blipFill rotWithShape="1">
          <a:blip r:embed="rId3">
            <a:alphaModFix/>
          </a:blip>
          <a:srcRect b="0" l="0" r="0" t="0"/>
          <a:stretch/>
        </p:blipFill>
        <p:spPr>
          <a:xfrm>
            <a:off x="5452995" y="1259127"/>
            <a:ext cx="3144400" cy="1726013"/>
          </a:xfrm>
          <a:prstGeom prst="rect">
            <a:avLst/>
          </a:prstGeom>
          <a:noFill/>
          <a:ln>
            <a:noFill/>
          </a:ln>
        </p:spPr>
      </p:pic>
      <p:pic>
        <p:nvPicPr>
          <p:cNvPr id="447" name="Google Shape;447;p44"/>
          <p:cNvPicPr preferRelativeResize="0"/>
          <p:nvPr/>
        </p:nvPicPr>
        <p:blipFill rotWithShape="1">
          <a:blip r:embed="rId4">
            <a:alphaModFix/>
          </a:blip>
          <a:srcRect b="0" l="0" r="0" t="0"/>
          <a:stretch/>
        </p:blipFill>
        <p:spPr>
          <a:xfrm>
            <a:off x="685757" y="2985140"/>
            <a:ext cx="3698550" cy="17260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5"/>
          <p:cNvSpPr txBox="1"/>
          <p:nvPr/>
        </p:nvSpPr>
        <p:spPr>
          <a:xfrm>
            <a:off x="687445" y="327182"/>
            <a:ext cx="6995550" cy="46935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 Libre De Contexto Ejemplos</a:t>
            </a:r>
            <a:endParaRPr b="0" i="0" sz="700" u="none" cap="none" strike="noStrike">
              <a:solidFill>
                <a:srgbClr val="000000"/>
              </a:solidFill>
              <a:latin typeface="Arial"/>
              <a:ea typeface="Arial"/>
              <a:cs typeface="Arial"/>
              <a:sym typeface="Arial"/>
            </a:endParaRPr>
          </a:p>
        </p:txBody>
      </p:sp>
      <p:sp>
        <p:nvSpPr>
          <p:cNvPr id="453" name="Google Shape;453;p45"/>
          <p:cNvSpPr txBox="1"/>
          <p:nvPr/>
        </p:nvSpPr>
        <p:spPr>
          <a:xfrm>
            <a:off x="817925" y="1431375"/>
            <a:ext cx="4530000" cy="1816350"/>
          </a:xfrm>
          <a:prstGeom prst="rect">
            <a:avLst/>
          </a:prstGeom>
          <a:noFill/>
          <a:ln>
            <a:noFill/>
          </a:ln>
        </p:spPr>
        <p:txBody>
          <a:bodyPr anchorCtr="0" anchor="t" bIns="45725" lIns="45725" spcFirstLastPara="1" rIns="45725" wrap="square" tIns="457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Calibri"/>
                <a:ea typeface="Calibri"/>
                <a:cs typeface="Calibri"/>
                <a:sym typeface="Calibri"/>
              </a:rPr>
              <a:t>Árbol de derivación para “abbba”</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Calibri"/>
                <a:ea typeface="Calibri"/>
                <a:cs typeface="Calibri"/>
                <a:sym typeface="Calibri"/>
              </a:rPr>
              <a:t>Gramática:</a:t>
            </a:r>
            <a:br>
              <a:rPr b="0" i="0" lang="es" sz="1600" u="none" cap="none" strike="noStrike">
                <a:solidFill>
                  <a:schemeClr val="dk1"/>
                </a:solidFill>
                <a:latin typeface="Calibri"/>
                <a:ea typeface="Calibri"/>
                <a:cs typeface="Calibri"/>
                <a:sym typeface="Calibri"/>
              </a:rPr>
            </a:br>
            <a:r>
              <a:rPr b="0" i="0" lang="es" sz="1600" u="none" cap="none" strike="noStrike">
                <a:solidFill>
                  <a:schemeClr val="dk1"/>
                </a:solidFill>
                <a:latin typeface="Calibri"/>
                <a:ea typeface="Calibri"/>
                <a:cs typeface="Calibri"/>
                <a:sym typeface="Calibri"/>
              </a:rPr>
              <a:t>S → aSb | ε</a:t>
            </a:r>
            <a:br>
              <a:rPr b="0" i="0" lang="es" sz="1600" u="none" cap="none" strike="noStrike">
                <a:solidFill>
                  <a:schemeClr val="dk1"/>
                </a:solidFill>
                <a:latin typeface="Calibri"/>
                <a:ea typeface="Calibri"/>
                <a:cs typeface="Calibri"/>
                <a:sym typeface="Calibri"/>
              </a:rPr>
            </a:br>
            <a:br>
              <a:rPr b="0" i="0" lang="es" sz="1600" u="none" cap="none" strike="noStrike">
                <a:solidFill>
                  <a:schemeClr val="dk1"/>
                </a:solidFill>
                <a:latin typeface="Calibri"/>
                <a:ea typeface="Calibri"/>
                <a:cs typeface="Calibri"/>
                <a:sym typeface="Calibri"/>
              </a:rPr>
            </a:br>
            <a:r>
              <a:rPr b="0" i="0" lang="es" sz="1600" u="none" cap="none" strike="noStrike">
                <a:solidFill>
                  <a:schemeClr val="dk1"/>
                </a:solidFill>
                <a:latin typeface="Calibri"/>
                <a:ea typeface="Calibri"/>
                <a:cs typeface="Calibri"/>
                <a:sym typeface="Calibri"/>
              </a:rPr>
              <a:t>Derivación:</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Calibri"/>
                <a:ea typeface="Calibri"/>
                <a:cs typeface="Calibri"/>
                <a:sym typeface="Calibri"/>
              </a:rPr>
              <a:t>S ⇒ aSb ⇒ aaSbb ⇒ aaaSbbb ⇒ aaabbb</a:t>
            </a:r>
            <a:endParaRPr b="0" i="0" sz="1600" u="none" cap="none" strike="noStrike">
              <a:solidFill>
                <a:schemeClr val="dk1"/>
              </a:solidFill>
              <a:latin typeface="Calibri"/>
              <a:ea typeface="Calibri"/>
              <a:cs typeface="Calibri"/>
              <a:sym typeface="Calibri"/>
            </a:endParaRPr>
          </a:p>
        </p:txBody>
      </p:sp>
      <p:pic>
        <p:nvPicPr>
          <p:cNvPr id="454" name="Google Shape;454;p45"/>
          <p:cNvPicPr preferRelativeResize="0"/>
          <p:nvPr/>
        </p:nvPicPr>
        <p:blipFill rotWithShape="1">
          <a:blip r:embed="rId3">
            <a:alphaModFix/>
          </a:blip>
          <a:srcRect b="0" l="0" r="0" t="0"/>
          <a:stretch/>
        </p:blipFill>
        <p:spPr>
          <a:xfrm>
            <a:off x="5392675" y="1234507"/>
            <a:ext cx="3281899" cy="358291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6"/>
          <p:cNvSpPr txBox="1"/>
          <p:nvPr/>
        </p:nvSpPr>
        <p:spPr>
          <a:xfrm>
            <a:off x="1429250" y="2221525"/>
            <a:ext cx="3541800" cy="12291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700" u="none" cap="none" strike="noStrike">
                <a:solidFill>
                  <a:srgbClr val="131416"/>
                </a:solidFill>
                <a:latin typeface="Impact"/>
                <a:ea typeface="Impact"/>
                <a:cs typeface="Impact"/>
                <a:sym typeface="Impact"/>
              </a:rPr>
              <a:t>Ejemplo </a:t>
            </a:r>
            <a:br>
              <a:rPr b="0" i="0" lang="es" sz="3700" u="none" cap="none" strike="noStrike">
                <a:solidFill>
                  <a:srgbClr val="131416"/>
                </a:solidFill>
                <a:latin typeface="Impact"/>
                <a:ea typeface="Impact"/>
                <a:cs typeface="Impact"/>
                <a:sym typeface="Impact"/>
              </a:rPr>
            </a:br>
            <a:r>
              <a:rPr b="0" i="0" lang="es" sz="3700" u="none" cap="none" strike="noStrike">
                <a:solidFill>
                  <a:srgbClr val="131416"/>
                </a:solidFill>
                <a:latin typeface="Impact"/>
                <a:ea typeface="Impact"/>
                <a:cs typeface="Impact"/>
                <a:sym typeface="Impact"/>
              </a:rPr>
              <a:t>práctico</a:t>
            </a:r>
            <a:endParaRPr b="0" i="0" sz="1400" u="none" cap="none" strike="noStrike">
              <a:solidFill>
                <a:srgbClr val="000000"/>
              </a:solidFill>
              <a:latin typeface="Impact"/>
              <a:ea typeface="Impact"/>
              <a:cs typeface="Impact"/>
              <a:sym typeface="Impact"/>
            </a:endParaRPr>
          </a:p>
        </p:txBody>
      </p:sp>
      <p:pic>
        <p:nvPicPr>
          <p:cNvPr id="460" name="Google Shape;460;p46" title="Gemini_Generated_Image_u2i06ou2i06ou2i0.png"/>
          <p:cNvPicPr preferRelativeResize="0"/>
          <p:nvPr/>
        </p:nvPicPr>
        <p:blipFill rotWithShape="1">
          <a:blip r:embed="rId3">
            <a:alphaModFix/>
          </a:blip>
          <a:srcRect b="0" l="0" r="0" t="0"/>
          <a:stretch/>
        </p:blipFill>
        <p:spPr>
          <a:xfrm>
            <a:off x="0" y="1"/>
            <a:ext cx="2347787" cy="3217338"/>
          </a:xfrm>
          <a:prstGeom prst="rect">
            <a:avLst/>
          </a:prstGeom>
          <a:noFill/>
          <a:ln>
            <a:noFill/>
          </a:ln>
        </p:spPr>
      </p:pic>
      <p:pic>
        <p:nvPicPr>
          <p:cNvPr id="461" name="Google Shape;461;p46"/>
          <p:cNvPicPr preferRelativeResize="0"/>
          <p:nvPr/>
        </p:nvPicPr>
        <p:blipFill rotWithShape="1">
          <a:blip r:embed="rId4">
            <a:alphaModFix/>
          </a:blip>
          <a:srcRect b="0" l="0" r="0" t="0"/>
          <a:stretch/>
        </p:blipFill>
        <p:spPr>
          <a:xfrm>
            <a:off x="4875800" y="1497038"/>
            <a:ext cx="4014000" cy="26780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7"/>
          <p:cNvSpPr txBox="1"/>
          <p:nvPr/>
        </p:nvSpPr>
        <p:spPr>
          <a:xfrm>
            <a:off x="1074220" y="2038907"/>
            <a:ext cx="6995550" cy="46935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Practiquemos lo aprendido</a:t>
            </a:r>
            <a:endParaRPr b="0" i="0" sz="700" u="none" cap="none" strike="noStrike">
              <a:solidFill>
                <a:srgbClr val="000000"/>
              </a:solidFill>
              <a:latin typeface="Impact"/>
              <a:ea typeface="Impact"/>
              <a:cs typeface="Impact"/>
              <a:sym typeface="Impact"/>
            </a:endParaRPr>
          </a:p>
        </p:txBody>
      </p:sp>
      <p:pic>
        <p:nvPicPr>
          <p:cNvPr id="467" name="Google Shape;467;p47" title="Gemini_Generated_Image_mopnfwmopnfwmopn (1).png"/>
          <p:cNvPicPr preferRelativeResize="0"/>
          <p:nvPr/>
        </p:nvPicPr>
        <p:blipFill rotWithShape="1">
          <a:blip r:embed="rId3">
            <a:alphaModFix/>
          </a:blip>
          <a:srcRect b="0" l="0" r="0" t="0"/>
          <a:stretch/>
        </p:blipFill>
        <p:spPr>
          <a:xfrm>
            <a:off x="0" y="-2"/>
            <a:ext cx="2038912" cy="2038912"/>
          </a:xfrm>
          <a:prstGeom prst="rect">
            <a:avLst/>
          </a:prstGeom>
          <a:noFill/>
          <a:ln>
            <a:noFill/>
          </a:ln>
        </p:spPr>
      </p:pic>
      <p:pic>
        <p:nvPicPr>
          <p:cNvPr descr="Ilustración Vectorial De Dibujos Animados En El Lugar De Trabajo  Ilustración del Vector - Ilustración de libreta, plano: 197884868" id="468" name="Google Shape;468;p47"/>
          <p:cNvPicPr preferRelativeResize="0"/>
          <p:nvPr/>
        </p:nvPicPr>
        <p:blipFill rotWithShape="1">
          <a:blip r:embed="rId4">
            <a:alphaModFix/>
          </a:blip>
          <a:srcRect b="0" l="0" r="0" t="0"/>
          <a:stretch/>
        </p:blipFill>
        <p:spPr>
          <a:xfrm>
            <a:off x="5829300" y="2933700"/>
            <a:ext cx="3314700" cy="2209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8"/>
          <p:cNvSpPr txBox="1"/>
          <p:nvPr/>
        </p:nvSpPr>
        <p:spPr>
          <a:xfrm>
            <a:off x="1253695" y="500063"/>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CONCEPTOS CLAVE APRENDIDOS </a:t>
            </a:r>
            <a:endParaRPr b="0" i="0" sz="700" u="none" cap="none" strike="noStrike">
              <a:solidFill>
                <a:srgbClr val="000000"/>
              </a:solidFill>
              <a:latin typeface="Impact"/>
              <a:ea typeface="Impact"/>
              <a:cs typeface="Impact"/>
              <a:sym typeface="Impact"/>
            </a:endParaRPr>
          </a:p>
        </p:txBody>
      </p:sp>
      <p:sp>
        <p:nvSpPr>
          <p:cNvPr id="474" name="Google Shape;474;p48"/>
          <p:cNvSpPr txBox="1"/>
          <p:nvPr/>
        </p:nvSpPr>
        <p:spPr>
          <a:xfrm>
            <a:off x="667753" y="1196490"/>
            <a:ext cx="7808495" cy="3619453"/>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Árboles de Derivación: Representación gráfica de cómo una cadena se deriva a partir del símbolo inicial de una gramática, siguiendo sus reglas de producción.</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Estructura: Raíz: símbolo inicial de la gramática. Nodos internos: no terminales. Hojas: terminales (cadena derivada).</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Tipos de derivación: Izquierda: se expande el no terminal más a la izquierda. Derecha: se expande el no terminal más a la derecha.</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t/>
            </a:r>
            <a:endParaRPr b="0" i="0" sz="1400"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Gramática ambigua: Una gramática es ambigua si una misma cadena tiene más de un árbol de derivación o más de una derivación izquierda.</a:t>
            </a:r>
            <a:endParaRPr b="0" i="0" sz="7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t/>
            </a:r>
            <a:endParaRPr b="0" i="0" sz="1400"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Arial"/>
                <a:ea typeface="Arial"/>
                <a:cs typeface="Arial"/>
                <a:sym typeface="Arial"/>
              </a:rPr>
              <a:t>Autómatas de Pila (PDA): Autómatas que, además de un estado y una cinta de entrada, cuentan con una pila que permite almacenar información temporal.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9"/>
          <p:cNvSpPr txBox="1"/>
          <p:nvPr/>
        </p:nvSpPr>
        <p:spPr>
          <a:xfrm>
            <a:off x="1196170" y="1275125"/>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DISCIPLINA</a:t>
            </a:r>
            <a:endParaRPr b="0" i="0" sz="700" u="none" cap="none" strike="noStrike">
              <a:solidFill>
                <a:srgbClr val="000000"/>
              </a:solidFill>
              <a:latin typeface="Impact"/>
              <a:ea typeface="Impact"/>
              <a:cs typeface="Impact"/>
              <a:sym typeface="Impact"/>
            </a:endParaRPr>
          </a:p>
        </p:txBody>
      </p:sp>
      <p:sp>
        <p:nvSpPr>
          <p:cNvPr id="480" name="Google Shape;480;p49"/>
          <p:cNvSpPr txBox="1"/>
          <p:nvPr/>
        </p:nvSpPr>
        <p:spPr>
          <a:xfrm>
            <a:off x="1316688" y="2186925"/>
            <a:ext cx="6827100" cy="784950"/>
          </a:xfrm>
          <a:prstGeom prst="rect">
            <a:avLst/>
          </a:prstGeom>
          <a:noFill/>
          <a:ln>
            <a:noFill/>
          </a:ln>
        </p:spPr>
        <p:txBody>
          <a:bodyPr anchorCtr="0" anchor="t" bIns="45725" lIns="45725" spcFirstLastPara="1" rIns="45725" wrap="square" tIns="45725">
            <a:spAutoFit/>
          </a:bodyPr>
          <a:lstStyle/>
          <a:p>
            <a:pPr indent="0" lvl="0" marL="0" marR="0" rtl="0" algn="ctr">
              <a:lnSpc>
                <a:spcPct val="100000"/>
              </a:lnSpc>
              <a:spcBef>
                <a:spcPts val="0"/>
              </a:spcBef>
              <a:spcAft>
                <a:spcPts val="0"/>
              </a:spcAft>
              <a:buClr>
                <a:schemeClr val="dk1"/>
              </a:buClr>
              <a:buSzPts val="600"/>
              <a:buFont typeface="Arial"/>
              <a:buNone/>
            </a:pPr>
            <a:r>
              <a:rPr b="0" i="0" lang="es" sz="1500" u="none" cap="none" strike="noStrike">
                <a:solidFill>
                  <a:srgbClr val="000000"/>
                </a:solidFill>
                <a:latin typeface="Montserrat"/>
                <a:ea typeface="Montserrat"/>
                <a:cs typeface="Montserrat"/>
                <a:sym typeface="Montserrat"/>
              </a:rPr>
              <a:t>La disciplina se refiere a la constancia y la capacidad de mantener un hábito de estudio ordenado y enfocado.</a:t>
            </a:r>
            <a:endParaRPr b="0" i="0" sz="15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a:ea typeface="Montserrat"/>
              <a:cs typeface="Montserrat"/>
              <a:sym typeface="Montserrat"/>
            </a:endParaRPr>
          </a:p>
        </p:txBody>
      </p:sp>
      <p:sp>
        <p:nvSpPr>
          <p:cNvPr id="481" name="Google Shape;481;p49"/>
          <p:cNvSpPr/>
          <p:nvPr/>
        </p:nvSpPr>
        <p:spPr>
          <a:xfrm>
            <a:off x="7316938" y="0"/>
            <a:ext cx="1824574" cy="530652"/>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482" name="Google Shape;482;p49"/>
          <p:cNvPicPr preferRelativeResize="0"/>
          <p:nvPr/>
        </p:nvPicPr>
        <p:blipFill rotWithShape="1">
          <a:blip r:embed="rId4">
            <a:alphaModFix/>
          </a:blip>
          <a:srcRect b="0" l="0" r="0" t="0"/>
          <a:stretch/>
        </p:blipFill>
        <p:spPr>
          <a:xfrm>
            <a:off x="7316938" y="3360513"/>
            <a:ext cx="1574329" cy="1557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0"/>
          <p:cNvSpPr txBox="1"/>
          <p:nvPr/>
        </p:nvSpPr>
        <p:spPr>
          <a:xfrm>
            <a:off x="1253695" y="500063"/>
            <a:ext cx="6751650" cy="531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0" i="0" lang="es" sz="3500" u="none" cap="none" strike="noStrike">
                <a:solidFill>
                  <a:srgbClr val="131416"/>
                </a:solidFill>
                <a:latin typeface="Impact"/>
                <a:ea typeface="Impact"/>
                <a:cs typeface="Impact"/>
                <a:sym typeface="Impact"/>
              </a:rPr>
              <a:t>REFERENCIAS </a:t>
            </a:r>
            <a:endParaRPr b="0" i="0" sz="700" u="none" cap="none" strike="noStrike">
              <a:solidFill>
                <a:srgbClr val="000000"/>
              </a:solidFill>
              <a:latin typeface="Impact"/>
              <a:ea typeface="Impact"/>
              <a:cs typeface="Impact"/>
              <a:sym typeface="Impact"/>
            </a:endParaRPr>
          </a:p>
        </p:txBody>
      </p:sp>
      <p:pic>
        <p:nvPicPr>
          <p:cNvPr id="488" name="Google Shape;488;p50" title="Gemini_Generated_Image_k3gbyrk3gbyrk3gb.png"/>
          <p:cNvPicPr preferRelativeResize="0"/>
          <p:nvPr/>
        </p:nvPicPr>
        <p:blipFill rotWithShape="1">
          <a:blip r:embed="rId3">
            <a:alphaModFix/>
          </a:blip>
          <a:srcRect b="0" l="0" r="0" t="0"/>
          <a:stretch/>
        </p:blipFill>
        <p:spPr>
          <a:xfrm>
            <a:off x="0" y="0"/>
            <a:ext cx="3500087" cy="2180725"/>
          </a:xfrm>
          <a:prstGeom prst="rect">
            <a:avLst/>
          </a:prstGeom>
          <a:noFill/>
          <a:ln>
            <a:noFill/>
          </a:ln>
        </p:spPr>
      </p:pic>
      <p:sp>
        <p:nvSpPr>
          <p:cNvPr id="489" name="Google Shape;489;p50"/>
          <p:cNvSpPr txBox="1"/>
          <p:nvPr/>
        </p:nvSpPr>
        <p:spPr>
          <a:xfrm>
            <a:off x="1629679" y="2441350"/>
            <a:ext cx="5884650" cy="2001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1000"/>
              <a:buFont typeface="Arial"/>
              <a:buNone/>
            </a:pPr>
            <a:r>
              <a:rPr b="0" i="0" lang="es" sz="1300" u="none" cap="none" strike="noStrike">
                <a:solidFill>
                  <a:srgbClr val="131416"/>
                </a:solidFill>
                <a:latin typeface="Montserrat"/>
                <a:ea typeface="Montserrat"/>
                <a:cs typeface="Montserrat"/>
                <a:sym typeface="Montserrat"/>
              </a:rPr>
              <a:t>https://www.codecademy.com/article/fwd-js-methods-functions</a:t>
            </a:r>
            <a:endParaRPr b="0" i="0" sz="1300" u="none" cap="none" strike="noStrike">
              <a:solidFill>
                <a:srgbClr val="131416"/>
              </a:solidFill>
              <a:latin typeface="Montserrat"/>
              <a:ea typeface="Montserrat"/>
              <a:cs typeface="Montserrat"/>
              <a:sym typeface="Montserrat"/>
            </a:endParaRPr>
          </a:p>
        </p:txBody>
      </p:sp>
      <p:sp>
        <p:nvSpPr>
          <p:cNvPr id="490" name="Google Shape;490;p50"/>
          <p:cNvSpPr txBox="1"/>
          <p:nvPr/>
        </p:nvSpPr>
        <p:spPr>
          <a:xfrm>
            <a:off x="2413725" y="2788950"/>
            <a:ext cx="4394550" cy="292500"/>
          </a:xfrm>
          <a:prstGeom prst="rect">
            <a:avLst/>
          </a:prstGeom>
          <a:noFill/>
          <a:ln>
            <a:noFill/>
          </a:ln>
        </p:spPr>
        <p:txBody>
          <a:bodyPr anchorCtr="0" anchor="t" bIns="45725" lIns="45725" spcFirstLastPara="1" rIns="45725" wrap="square" tIns="45725">
            <a:sp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rgbClr val="000000"/>
                </a:solidFill>
                <a:latin typeface="Montserrat"/>
                <a:ea typeface="Montserrat"/>
                <a:cs typeface="Montserrat"/>
                <a:sym typeface="Montserrat"/>
              </a:rPr>
              <a:t>https://trio.dev/javascript-best-practices/</a:t>
            </a:r>
            <a:endParaRPr b="0" i="0" sz="13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1"/>
          <p:cNvSpPr txBox="1"/>
          <p:nvPr/>
        </p:nvSpPr>
        <p:spPr>
          <a:xfrm>
            <a:off x="2895738" y="3833814"/>
            <a:ext cx="3352500" cy="39255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500"/>
              <a:buFont typeface="Arial"/>
              <a:buNone/>
            </a:pPr>
            <a:r>
              <a:rPr b="1" i="0" lang="es" sz="2600" u="none" cap="none" strike="noStrike">
                <a:solidFill>
                  <a:srgbClr val="131416"/>
                </a:solidFill>
                <a:latin typeface="Montserrat"/>
                <a:ea typeface="Montserrat"/>
                <a:cs typeface="Montserrat"/>
                <a:sym typeface="Montserrat"/>
              </a:rPr>
              <a:t>DUDAS ¿?</a:t>
            </a:r>
            <a:endParaRPr b="1" i="0" sz="800" u="none" cap="none" strike="noStrike">
              <a:solidFill>
                <a:srgbClr val="000000"/>
              </a:solidFill>
              <a:latin typeface="Montserrat"/>
              <a:ea typeface="Montserrat"/>
              <a:cs typeface="Montserrat"/>
              <a:sym typeface="Montserrat"/>
            </a:endParaRPr>
          </a:p>
        </p:txBody>
      </p:sp>
      <p:pic>
        <p:nvPicPr>
          <p:cNvPr id="496" name="Google Shape;496;p51" title="Gemini_Generated_Image_1od44x1od44x1od4.png"/>
          <p:cNvPicPr preferRelativeResize="0"/>
          <p:nvPr/>
        </p:nvPicPr>
        <p:blipFill rotWithShape="1">
          <a:blip r:embed="rId3">
            <a:alphaModFix/>
          </a:blip>
          <a:srcRect b="0" l="0" r="0" t="0"/>
          <a:stretch/>
        </p:blipFill>
        <p:spPr>
          <a:xfrm>
            <a:off x="2288143" y="987913"/>
            <a:ext cx="4567712" cy="28459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2"/>
          <p:cNvSpPr txBox="1"/>
          <p:nvPr/>
        </p:nvSpPr>
        <p:spPr>
          <a:xfrm>
            <a:off x="1407675" y="2688763"/>
            <a:ext cx="6328650" cy="9576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¡GRACIAS POR SU ATENCIÓN!</a:t>
            </a:r>
            <a:endParaRPr b="1" i="0" sz="700" u="none" cap="none" strike="noStrike">
              <a:solidFill>
                <a:srgbClr val="000000"/>
              </a:solidFill>
              <a:latin typeface="Montserrat"/>
              <a:ea typeface="Montserrat"/>
              <a:cs typeface="Montserrat"/>
              <a:sym typeface="Montserrat"/>
            </a:endParaRPr>
          </a:p>
          <a:p>
            <a:pPr indent="0" lvl="0" marL="0" marR="0" rtl="0" algn="just">
              <a:lnSpc>
                <a:spcPct val="104000"/>
              </a:lnSpc>
              <a:spcBef>
                <a:spcPts val="0"/>
              </a:spcBef>
              <a:spcAft>
                <a:spcPts val="0"/>
              </a:spcAft>
              <a:buClr>
                <a:srgbClr val="000000"/>
              </a:buClr>
              <a:buSzPts val="3000"/>
              <a:buFont typeface="Arial"/>
              <a:buNone/>
            </a:pPr>
            <a:r>
              <a:t/>
            </a:r>
            <a:endParaRPr b="1" i="0" sz="3000" u="none" cap="none" strike="noStrike">
              <a:solidFill>
                <a:srgbClr val="131416"/>
              </a:solidFill>
              <a:latin typeface="Montserrat"/>
              <a:ea typeface="Montserrat"/>
              <a:cs typeface="Montserrat"/>
              <a:sym typeface="Montserrat"/>
            </a:endParaRPr>
          </a:p>
        </p:txBody>
      </p:sp>
      <p:sp>
        <p:nvSpPr>
          <p:cNvPr id="502" name="Google Shape;502;p52"/>
          <p:cNvSpPr/>
          <p:nvPr/>
        </p:nvSpPr>
        <p:spPr>
          <a:xfrm>
            <a:off x="3882682" y="692113"/>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503" name="Google Shape;503;p52"/>
          <p:cNvSpPr txBox="1"/>
          <p:nvPr/>
        </p:nvSpPr>
        <p:spPr>
          <a:xfrm>
            <a:off x="1205549" y="3949868"/>
            <a:ext cx="6732900" cy="38175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000"/>
              <a:buFont typeface="Arial"/>
              <a:buNone/>
            </a:pPr>
            <a:r>
              <a:rPr b="0" i="0" lang="es" sz="1000" u="none" cap="none" strike="noStrike">
                <a:solidFill>
                  <a:srgbClr val="131416"/>
                </a:solidFill>
                <a:latin typeface="Montserrat"/>
                <a:ea typeface="Montserrat"/>
                <a:cs typeface="Montserrat"/>
                <a:sym typeface="Montserrat"/>
              </a:rPr>
              <a:t>RECUERDA QUE TENEMOS NUESTRO FORO SEMANAL DONDE PUEDES CONSULTAR CUALQUIER DUDA QUE TE SURJA EN LA SEMANA</a:t>
            </a:r>
            <a:endParaRPr b="0" i="0" sz="70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