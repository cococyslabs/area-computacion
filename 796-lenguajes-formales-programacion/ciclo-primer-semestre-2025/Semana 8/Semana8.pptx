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10287000" cx="18288000"/>
  <p:notesSz cx="6858000" cy="9144000"/>
  <p:embeddedFontLst>
    <p:embeddedFont>
      <p:font typeface="Lobster"/>
      <p:regular r:id="rId20"/>
    </p:embeddedFont>
    <p:embeddedFont>
      <p:font typeface="Pacifico"/>
      <p:regular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hFILevfU+ksMr3B28cy7yFvOLj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obster-regular.fntdata"/><Relationship Id="rId22" Type="http://schemas.openxmlformats.org/officeDocument/2006/relationships/font" Target="fonts/OpenSans-regular.fntdata"/><Relationship Id="rId21" Type="http://schemas.openxmlformats.org/officeDocument/2006/relationships/font" Target="fonts/Pacifico-regular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showMasterSp="0" type="blank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9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9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9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9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0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0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0"/>
          <p:cNvSpPr txBox="1"/>
          <p:nvPr>
            <p:ph type="ctrTitle"/>
          </p:nvPr>
        </p:nvSpPr>
        <p:spPr>
          <a:xfrm>
            <a:off x="1645920" y="1138428"/>
            <a:ext cx="15087600" cy="5349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0"/>
              <a:buFont typeface="Calibri"/>
              <a:buNone/>
              <a:defRPr sz="12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0"/>
          <p:cNvSpPr txBox="1"/>
          <p:nvPr>
            <p:ph idx="1" type="subTitle"/>
          </p:nvPr>
        </p:nvSpPr>
        <p:spPr>
          <a:xfrm>
            <a:off x="1650077" y="6683430"/>
            <a:ext cx="150876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3600"/>
              <a:buNone/>
              <a:defRPr sz="36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5" name="Google Shape;25;p30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0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30"/>
          <p:cNvCxnSpPr/>
          <p:nvPr/>
        </p:nvCxnSpPr>
        <p:spPr>
          <a:xfrm>
            <a:off x="1811487" y="6515100"/>
            <a:ext cx="1481328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1"/>
          <p:cNvSpPr txBox="1"/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" type="body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1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1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2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2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2"/>
          <p:cNvSpPr txBox="1"/>
          <p:nvPr>
            <p:ph type="title"/>
          </p:nvPr>
        </p:nvSpPr>
        <p:spPr>
          <a:xfrm>
            <a:off x="1645920" y="1138428"/>
            <a:ext cx="15087600" cy="5349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0"/>
              <a:buFont typeface="Calibri"/>
              <a:buNone/>
              <a:defRPr b="0" sz="12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" type="body"/>
          </p:nvPr>
        </p:nvSpPr>
        <p:spPr>
          <a:xfrm>
            <a:off x="1645920" y="6679692"/>
            <a:ext cx="150876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3600"/>
              <a:buNone/>
              <a:defRPr sz="36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700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32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2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2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3" name="Google Shape;43;p32"/>
          <p:cNvCxnSpPr/>
          <p:nvPr/>
        </p:nvCxnSpPr>
        <p:spPr>
          <a:xfrm>
            <a:off x="1811487" y="6515100"/>
            <a:ext cx="1481328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/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3"/>
          <p:cNvSpPr txBox="1"/>
          <p:nvPr>
            <p:ph idx="1" type="body"/>
          </p:nvPr>
        </p:nvSpPr>
        <p:spPr>
          <a:xfrm>
            <a:off x="1645919" y="2768601"/>
            <a:ext cx="7406640" cy="60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2" type="body"/>
          </p:nvPr>
        </p:nvSpPr>
        <p:spPr>
          <a:xfrm>
            <a:off x="9326880" y="2768603"/>
            <a:ext cx="7406640" cy="60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3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3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4"/>
          <p:cNvSpPr txBox="1"/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" type="body"/>
          </p:nvPr>
        </p:nvSpPr>
        <p:spPr>
          <a:xfrm>
            <a:off x="1645920" y="2769078"/>
            <a:ext cx="7406640" cy="11044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3000"/>
              <a:buNone/>
              <a:defRPr b="0" sz="3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3000"/>
              <a:buNone/>
              <a:defRPr b="1" sz="30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700"/>
              <a:buNone/>
              <a:defRPr b="1" sz="27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4" name="Google Shape;54;p34"/>
          <p:cNvSpPr txBox="1"/>
          <p:nvPr>
            <p:ph idx="2" type="body"/>
          </p:nvPr>
        </p:nvSpPr>
        <p:spPr>
          <a:xfrm>
            <a:off x="1645920" y="3873501"/>
            <a:ext cx="7406640" cy="50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5" name="Google Shape;55;p34"/>
          <p:cNvSpPr txBox="1"/>
          <p:nvPr>
            <p:ph idx="3" type="body"/>
          </p:nvPr>
        </p:nvSpPr>
        <p:spPr>
          <a:xfrm>
            <a:off x="9326880" y="2769078"/>
            <a:ext cx="7406640" cy="11044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3000"/>
              <a:buNone/>
              <a:defRPr b="0" sz="3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3000"/>
              <a:buNone/>
              <a:defRPr b="1" sz="30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700"/>
              <a:buNone/>
              <a:defRPr b="1" sz="27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6" name="Google Shape;56;p34"/>
          <p:cNvSpPr txBox="1"/>
          <p:nvPr>
            <p:ph idx="4" type="body"/>
          </p:nvPr>
        </p:nvSpPr>
        <p:spPr>
          <a:xfrm>
            <a:off x="9326880" y="3873501"/>
            <a:ext cx="7406640" cy="50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7" name="Google Shape;57;p34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4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5"/>
          <p:cNvSpPr txBox="1"/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5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5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/>
          <p:nvPr/>
        </p:nvSpPr>
        <p:spPr>
          <a:xfrm>
            <a:off x="25" y="0"/>
            <a:ext cx="6076187" cy="1028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6"/>
          <p:cNvSpPr/>
          <p:nvPr/>
        </p:nvSpPr>
        <p:spPr>
          <a:xfrm>
            <a:off x="6060107" y="0"/>
            <a:ext cx="96012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6"/>
          <p:cNvSpPr txBox="1"/>
          <p:nvPr>
            <p:ph type="title"/>
          </p:nvPr>
        </p:nvSpPr>
        <p:spPr>
          <a:xfrm>
            <a:off x="685800" y="891538"/>
            <a:ext cx="4800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  <a:defRPr b="0" sz="5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6"/>
          <p:cNvSpPr txBox="1"/>
          <p:nvPr>
            <p:ph idx="1" type="body"/>
          </p:nvPr>
        </p:nvSpPr>
        <p:spPr>
          <a:xfrm>
            <a:off x="7200900" y="1097280"/>
            <a:ext cx="973836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0" name="Google Shape;70;p36"/>
          <p:cNvSpPr txBox="1"/>
          <p:nvPr>
            <p:ph idx="2" type="body"/>
          </p:nvPr>
        </p:nvSpPr>
        <p:spPr>
          <a:xfrm>
            <a:off x="685800" y="4389120"/>
            <a:ext cx="4800600" cy="5068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250"/>
              <a:buNone/>
              <a:defRPr sz="225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  <a:defRPr sz="15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350"/>
              <a:buNone/>
              <a:defRPr sz="1350"/>
            </a:lvl9pPr>
          </a:lstStyle>
          <a:p/>
        </p:txBody>
      </p:sp>
      <p:sp>
        <p:nvSpPr>
          <p:cNvPr id="71" name="Google Shape;71;p36"/>
          <p:cNvSpPr txBox="1"/>
          <p:nvPr>
            <p:ph idx="10" type="dt"/>
          </p:nvPr>
        </p:nvSpPr>
        <p:spPr>
          <a:xfrm>
            <a:off x="698268" y="9689678"/>
            <a:ext cx="3927765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 txBox="1"/>
          <p:nvPr>
            <p:ph idx="11" type="ftr"/>
          </p:nvPr>
        </p:nvSpPr>
        <p:spPr>
          <a:xfrm>
            <a:off x="7200900" y="9689678"/>
            <a:ext cx="69723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6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75"/>
              <a:buFont typeface="Calibri"/>
              <a:buNone/>
              <a:defRPr sz="1575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75"/>
              <a:buFont typeface="Calibri"/>
              <a:buNone/>
              <a:defRPr sz="1575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75"/>
              <a:buFont typeface="Calibri"/>
              <a:buNone/>
              <a:defRPr sz="1575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75"/>
              <a:buFont typeface="Calibri"/>
              <a:buNone/>
              <a:defRPr sz="1575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75"/>
              <a:buFont typeface="Calibri"/>
              <a:buNone/>
              <a:defRPr sz="1575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75"/>
              <a:buFont typeface="Calibri"/>
              <a:buNone/>
              <a:defRPr sz="1575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75"/>
              <a:buFont typeface="Calibri"/>
              <a:buNone/>
              <a:defRPr sz="1575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75"/>
              <a:buFont typeface="Calibri"/>
              <a:buNone/>
              <a:defRPr sz="1575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75"/>
              <a:buFont typeface="Calibri"/>
              <a:buNone/>
              <a:defRPr sz="1575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/>
          <p:nvPr/>
        </p:nvSpPr>
        <p:spPr>
          <a:xfrm>
            <a:off x="1" y="7429500"/>
            <a:ext cx="18283238" cy="2857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7"/>
          <p:cNvSpPr/>
          <p:nvPr/>
        </p:nvSpPr>
        <p:spPr>
          <a:xfrm>
            <a:off x="23" y="737261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7"/>
          <p:cNvSpPr txBox="1"/>
          <p:nvPr>
            <p:ph type="title"/>
          </p:nvPr>
        </p:nvSpPr>
        <p:spPr>
          <a:xfrm>
            <a:off x="1645920" y="7612380"/>
            <a:ext cx="15169896" cy="12344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  <a:defRPr b="0" sz="5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8" name="Google Shape;78;p37"/>
          <p:cNvPicPr preferRelativeResize="0"/>
          <p:nvPr>
            <p:ph idx="2" type="pic"/>
          </p:nvPr>
        </p:nvPicPr>
        <p:blipFill/>
        <p:spPr>
          <a:xfrm>
            <a:off x="23" y="0"/>
            <a:ext cx="18287978" cy="7372614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79" name="Google Shape;79;p37"/>
          <p:cNvSpPr txBox="1"/>
          <p:nvPr>
            <p:ph idx="1" type="body"/>
          </p:nvPr>
        </p:nvSpPr>
        <p:spPr>
          <a:xfrm>
            <a:off x="1645920" y="8860535"/>
            <a:ext cx="15169896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  <a:defRPr sz="225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  <a:defRPr sz="15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350"/>
              <a:buNone/>
              <a:defRPr sz="1350"/>
            </a:lvl9pPr>
          </a:lstStyle>
          <a:p/>
        </p:txBody>
      </p:sp>
      <p:sp>
        <p:nvSpPr>
          <p:cNvPr id="80" name="Google Shape;80;p37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7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7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8"/>
          <p:cNvSpPr txBox="1"/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8"/>
          <p:cNvSpPr txBox="1"/>
          <p:nvPr>
            <p:ph idx="1" type="body"/>
          </p:nvPr>
        </p:nvSpPr>
        <p:spPr>
          <a:xfrm rot="5400000">
            <a:off x="6172200" y="-1757679"/>
            <a:ext cx="6035040" cy="150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6" name="Google Shape;86;p38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8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8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showMasterSp="0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9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9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9"/>
          <p:cNvSpPr txBox="1"/>
          <p:nvPr>
            <p:ph type="title"/>
          </p:nvPr>
        </p:nvSpPr>
        <p:spPr>
          <a:xfrm rot="5400000">
            <a:off x="10740959" y="2968559"/>
            <a:ext cx="8636132" cy="3943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9"/>
          <p:cNvSpPr txBox="1"/>
          <p:nvPr>
            <p:ph idx="1" type="body"/>
          </p:nvPr>
        </p:nvSpPr>
        <p:spPr>
          <a:xfrm rot="5400000">
            <a:off x="2739959" y="-860492"/>
            <a:ext cx="8636133" cy="1160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4" name="Google Shape;94;p39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9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9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/>
          <p:nvPr/>
        </p:nvSpPr>
        <p:spPr>
          <a:xfrm>
            <a:off x="2" y="9601200"/>
            <a:ext cx="182880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28"/>
          <p:cNvSpPr/>
          <p:nvPr/>
        </p:nvSpPr>
        <p:spPr>
          <a:xfrm>
            <a:off x="1" y="9501474"/>
            <a:ext cx="18288002" cy="98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28"/>
          <p:cNvSpPr txBox="1"/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200"/>
              <a:buFont typeface="Calibri"/>
              <a:buNone/>
              <a:defRPr b="0" i="0" sz="72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28"/>
          <p:cNvSpPr txBox="1"/>
          <p:nvPr>
            <p:ph idx="1" type="body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419100" lvl="0" marL="4572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Char char=" "/>
              <a:defRPr b="0" i="0" sz="3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005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Char char="◦"/>
              <a:defRPr b="0" i="0" sz="27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6195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libri"/>
              <a:buChar char="◦"/>
              <a:defRPr b="0" i="0" sz="2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195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libri"/>
              <a:buChar char="◦"/>
              <a:defRPr b="0" i="0" sz="2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195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libri"/>
              <a:buChar char="◦"/>
              <a:defRPr b="0" i="0" sz="2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195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libri"/>
              <a:buChar char="◦"/>
              <a:defRPr b="0" i="0" sz="2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195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libri"/>
              <a:buChar char="◦"/>
              <a:defRPr b="0" i="0" sz="2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195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libri"/>
              <a:buChar char="◦"/>
              <a:defRPr b="0" i="0" sz="2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195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2100"/>
              <a:buFont typeface="Calibri"/>
              <a:buChar char="◦"/>
              <a:defRPr b="0" i="0" sz="2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8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8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8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Calibri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Calibri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Calibri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Calibri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Calibri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Calibri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Calibri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Calibri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Calibri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28"/>
          <p:cNvCxnSpPr/>
          <p:nvPr/>
        </p:nvCxnSpPr>
        <p:spPr>
          <a:xfrm>
            <a:off x="1790298" y="2606768"/>
            <a:ext cx="149504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12541309" y="6021878"/>
            <a:ext cx="4160184" cy="4114800"/>
          </a:xfrm>
          <a:custGeom>
            <a:rect b="b" l="l" r="r" t="t"/>
            <a:pathLst>
              <a:path extrusionOk="0"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-777922" y="4892521"/>
            <a:ext cx="11656410" cy="2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5000"/>
              <a:buFont typeface="Open Sans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Lenguajes Formales y de programacion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2755644" y="2532861"/>
            <a:ext cx="12375000" cy="1982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9200"/>
              <a:buFont typeface="Open Sans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Analisis Lexico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1028700" y="786048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499"/>
              <a:buFont typeface="Open Sans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1028700" y="832590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499"/>
              <a:buFont typeface="Open Sans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160361" y="8791329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499"/>
              <a:buFont typeface="Open Sans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2"/>
          <p:cNvGrpSpPr/>
          <p:nvPr/>
        </p:nvGrpSpPr>
        <p:grpSpPr>
          <a:xfrm>
            <a:off x="176619" y="5183832"/>
            <a:ext cx="9472348" cy="4847272"/>
            <a:chOff x="0" y="0"/>
            <a:chExt cx="2281813" cy="321823"/>
          </a:xfrm>
        </p:grpSpPr>
        <p:sp>
          <p:nvSpPr>
            <p:cNvPr id="113" name="Google Shape;113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431892" y="38100"/>
              <a:ext cx="1849921" cy="2837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Calibri"/>
                <a:buNone/>
              </a:pPr>
              <a:r>
                <a:rPr lang="en-US" sz="4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Conversion AFN a AFD Método del Árbol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Calibri"/>
                <a:buNone/>
              </a:pPr>
              <a:r>
                <a:t/>
              </a:r>
              <a:endParaRPr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Calibri"/>
                <a:buNone/>
              </a:pPr>
              <a:r>
                <a:rPr lang="en-US" sz="4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Conversion AFN a AFD Anulables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Calibri"/>
                <a:buNone/>
              </a:pPr>
              <a:r>
                <a:t/>
              </a:r>
              <a:endParaRPr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Conversion AFN a AFD Cálculo de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First, Last y Next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grpSp>
        <p:nvGrpSpPr>
          <p:cNvPr id="116" name="Google Shape;116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" name="Google Shape;119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5000"/>
              <a:buFont typeface="Pacifico"/>
              <a:buNone/>
            </a:pPr>
            <a:r>
              <a:rPr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sz="1800">
              <a:solidFill>
                <a:schemeClr val="dk1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5000"/>
              <a:buFont typeface="Lobster"/>
              <a:buNone/>
            </a:pPr>
            <a:r>
              <a:rPr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sz="180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22" name="Google Shape;122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23" name="Google Shape;123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26" name="Google Shape;126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2"/>
          <p:cNvSpPr txBox="1"/>
          <p:nvPr/>
        </p:nvSpPr>
        <p:spPr>
          <a:xfrm>
            <a:off x="1637094" y="6547390"/>
            <a:ext cx="4345084" cy="84538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952288" y="6419988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130" name="Google Shape;130;p2"/>
          <p:cNvSpPr/>
          <p:nvPr/>
        </p:nvSpPr>
        <p:spPr>
          <a:xfrm>
            <a:off x="952288" y="7824488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6098"/>
              <a:buFont typeface="Impact"/>
              <a:buNone/>
            </a:pPr>
            <a:r>
              <a:rPr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sz="18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2618602" y="3660317"/>
            <a:ext cx="13050795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000"/>
              <a:buFont typeface="Impact"/>
              <a:buNone/>
            </a:pPr>
            <a:r>
              <a:rPr lang="en-US" sz="40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El estudiante aplica el análisis léxico mediante el uso de expresiones regulares para solucionar problemas que requieran el reconocimiento de lenguajes. </a:t>
            </a:r>
            <a:endParaRPr sz="4000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/>
          <p:nvPr/>
        </p:nvSpPr>
        <p:spPr>
          <a:xfrm>
            <a:off x="972112" y="1333965"/>
            <a:ext cx="14796654" cy="7355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800"/>
              <a:buFont typeface="Impact"/>
              <a:buAutoNum type="arabicPeriod"/>
            </a:pPr>
            <a:r>
              <a:rPr lang="en-US" sz="28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Introducción a la conversión de AFN a AFD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AFN (Autómata Finito No Determinista) puede tener múltiples transiciones para un mismo símbolo o incluso transiciones vacías (ε).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AFD (Autómata Finito Determinista), en cambio, solo permite una transición por símbolo desde cada estado.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conversión de un AFN a un AFD permite simplificar el análisis léxico y facilitar la implementación de analizadores sintácticos.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800"/>
              <a:buFont typeface="Impact"/>
              <a:buNone/>
            </a:pPr>
            <a:r>
              <a:rPr lang="en-US" sz="28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2. Método del Árbol (Representación Posicional)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sz="2800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utiliza en el contexto de expresiones regulares convertidas a árboles sintácticos binarios.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hoja del árbol representa un símbolo de la expresión regular con una posición única.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etiquetan nodos internos con operaciones como concatenación, unión (|), y cerradura (*).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cada nodo se le calculan tres conjuntos: nullable, firstpos, y lastpos.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/>
          <p:nvPr/>
        </p:nvSpPr>
        <p:spPr>
          <a:xfrm>
            <a:off x="1453176" y="1539373"/>
            <a:ext cx="15702059" cy="2800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800"/>
              <a:buFont typeface="Impact"/>
              <a:buNone/>
            </a:pPr>
            <a:r>
              <a:rPr lang="en-US" sz="28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3. Cálculo de Nullable</a:t>
            </a:r>
            <a:endParaRPr sz="2800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sz="2800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Nullable(n) indica si el subárbol en el nodo n puede derivar la cadena vacía (ε).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Reglas generales: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nullable(n) = True si n = ε o n = A* (cerradura).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una concatenación (·), nullable(n) = nullable(n1) and nullable(n2).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una unión (|), nullable(n) = nullable(n1) or nullable(n2).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1453175" y="5114326"/>
            <a:ext cx="11730561" cy="3908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800"/>
              <a:buFont typeface="Impact"/>
              <a:buNone/>
            </a:pPr>
            <a:r>
              <a:rPr lang="en-US" sz="28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4. Cálculo de Firstpos y Lastpos</a:t>
            </a:r>
            <a:endParaRPr sz="2800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sz="2800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Firstpos(n): conjunto de posiciones (hojas) que pueden ser las primeras en aparecer en una cadena derivada del nodo n.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Lastpos(n): conjunto de posiciones (hojas) que pueden ser las últimas en aparecer en una cadena derivada del nodo n.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 reglas dependen del tipo de operación (·, |, *) y si los operandos son anulables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/>
          <p:nvPr/>
        </p:nvSpPr>
        <p:spPr>
          <a:xfrm>
            <a:off x="1357641" y="1323481"/>
            <a:ext cx="15702059" cy="6617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800"/>
              <a:buFont typeface="Impact"/>
              <a:buNone/>
            </a:pPr>
            <a:r>
              <a:rPr lang="en-US" sz="28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5. Cálculo de Nextpos</a:t>
            </a:r>
            <a:endParaRPr sz="2800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sz="2800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Nextpos(p) se define para cada posición p en el árbol (es decir, cada hoja)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hay una concatenación A·B y una posición p ∈ lastpos(A), entonces nextpos(p) ⊇ firstpos(B)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una cerradura A*, si p ∈ lastpos(A), entonces nextpos(p) ⊇ firstpos(A)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6.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Construcción del AFD desde los conjuntos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estado del AFD corresponde a un conjunto de posiciones (inicialmente firstpos de la raíz).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recorren los estados del AFD construyendo transiciones según el conjunto nextpos.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dos posiciones comparten el mismo símbolo, se agrupan las nextpos en un nuevo estado.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estado que contiene la posición del símbolo '#' (fin de cadena) se considera estado de aceptación.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6098"/>
              <a:buFont typeface="Impact"/>
              <a:buNone/>
            </a:pPr>
            <a:r>
              <a:rPr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APLICACIONES POR MEDIO DE EJEMPLOS</a:t>
            </a:r>
            <a:endParaRPr sz="18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58" name="Google Shape;1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1426" y="2006085"/>
            <a:ext cx="10949667" cy="6538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6098"/>
              <a:buFont typeface="Impact"/>
              <a:buNone/>
            </a:pPr>
            <a:r>
              <a:rPr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APLICACIONES POR MEDIO DE EJEMPLOS</a:t>
            </a:r>
            <a:endParaRPr sz="18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64" name="Google Shape;16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1312" y="1833614"/>
            <a:ext cx="8875088" cy="6619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3712" y="1986014"/>
            <a:ext cx="8875088" cy="6619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6098"/>
              <a:buFont typeface="Impact"/>
              <a:buNone/>
            </a:pPr>
            <a:r>
              <a:rPr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APLICACIONES POR MEDIO DE EJEMPLOS</a:t>
            </a:r>
            <a:endParaRPr sz="18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71" name="Google Shape;17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2759" y="1781100"/>
            <a:ext cx="10757127" cy="7134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6098"/>
              <a:buFont typeface="Impact"/>
              <a:buNone/>
            </a:pPr>
            <a:r>
              <a:rPr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APLICACIONES POR MEDIO DE EJEMPLOS</a:t>
            </a:r>
            <a:endParaRPr sz="18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77" name="Google Shape;17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8773" y="2151260"/>
            <a:ext cx="12719970" cy="6269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1173" y="2303660"/>
            <a:ext cx="12719970" cy="6269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"/>
          <p:cNvSpPr txBox="1"/>
          <p:nvPr/>
        </p:nvSpPr>
        <p:spPr>
          <a:xfrm>
            <a:off x="2392350" y="33138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6900"/>
              <a:buFont typeface="Impact"/>
              <a:buNone/>
            </a:pPr>
            <a:r>
              <a:rPr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sz="18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398489" y="1677191"/>
            <a:ext cx="17628253" cy="6401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AFN (Autómata Finito No Determinista):Modelo de autómata donde, para un estado y un símbolo dado, puede haber múltiples transiciones o incluso transiciones vacías (ε). Es flexible pero difícil de implementar directamente.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AFD (Autómata Finito Determinista):Variante del autómata donde cada estado tiene una única transición por símbolo. Es más adecuado para ejecución eficiente, como en analizadores léxicos.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Nullable: Propiedad de un nodo del árbol sintáctico que indica si puede derivar la cadena vacía (ε). Es fundamental para el cálculo de transiciones en el autómata determinista.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Firstpos y Lastpos: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Firstpos: posiciones donde puede comenzar una cadena derivada desde un nodo.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Lastpos: posiciones donde puede terminar dicha cadena.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Ambos se usan para construir las transiciones del AFD.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Nextpos: Conjunto de posiciones que pueden seguir a una posición dada. Es esencial para definir correctamente las transiciones entre estados en el AFD basado en el árbol de la expresión regular.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/>
        </p:nvSpPr>
        <p:spPr>
          <a:xfrm>
            <a:off x="2507390" y="1000125"/>
            <a:ext cx="13503300" cy="119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6900"/>
              <a:buFont typeface="Impact"/>
              <a:buNone/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Rigor Formal</a:t>
            </a:r>
            <a:endParaRPr sz="18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0" name="Google Shape;190;p27"/>
          <p:cNvSpPr/>
          <p:nvPr/>
        </p:nvSpPr>
        <p:spPr>
          <a:xfrm>
            <a:off x="2354859" y="3451430"/>
            <a:ext cx="14076218" cy="2862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uso de métodos formales como el del árbol en la conversión de autómatas fomenta el pensamiento estructurado, la disciplina en la resolución de problemas y la capacidad de abstraer soluciones precisas en contextos complejos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6900"/>
              <a:buFont typeface="Impact"/>
              <a:buNone/>
            </a:pPr>
            <a:r>
              <a:rPr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sz="18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6" name="Google Shape;196;p8"/>
          <p:cNvSpPr txBox="1"/>
          <p:nvPr/>
        </p:nvSpPr>
        <p:spPr>
          <a:xfrm>
            <a:off x="5803381" y="4280604"/>
            <a:ext cx="6911332" cy="2216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hay que dar crédito a las personas de las cuales te has basado para generar tu presentación 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6099"/>
              <a:buFont typeface="Impact"/>
              <a:buNone/>
            </a:pPr>
            <a:r>
              <a:rPr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sz="18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99"/>
              <a:buFont typeface="Calibri"/>
              <a:buNone/>
            </a:pPr>
            <a:r>
              <a:t/>
            </a:r>
            <a:endParaRPr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02" name="Google Shape;202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ción">
  <a:themeElements>
    <a:clrScheme name="Retrospección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