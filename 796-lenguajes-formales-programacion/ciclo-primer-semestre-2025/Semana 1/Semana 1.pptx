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Lobster"/>
      <p:regular r:id="rId21"/>
    </p:embeddedFont>
    <p:embeddedFont>
      <p:font typeface="Pacifico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CdJa9/0/n+oWfB+UzxoOf5HYR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acifico-regular.fntdata"/><Relationship Id="rId21" Type="http://schemas.openxmlformats.org/officeDocument/2006/relationships/font" Target="fonts/Lobster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c69470c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5c69470c6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c69470c6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5c69470c6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69470c6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5c69470c6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2d1a3201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2d1a320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69470c6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5c69470c69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69470c6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5c69470c69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hyperlink" Target="https://youtu.be/LWrkE-ujMR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ocs.oracle.com/javas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28598" y="6608250"/>
            <a:ext cx="9827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Programación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JAVA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6619" y="4580171"/>
            <a:ext cx="4922486" cy="845566"/>
            <a:chOff x="0" y="-50788"/>
            <a:chExt cx="2095750" cy="360000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245950" y="-5078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¿Q</a:t>
              </a:r>
              <a:r>
                <a:rPr lang="en-US" sz="2799"/>
                <a:t>ué es Java</a:t>
              </a:r>
              <a:r>
                <a:rPr lang="en-US" sz="2799"/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u="sng">
                  <a:solidFill>
                    <a:schemeClr val="hlink"/>
                  </a:solidFill>
                  <a:hlinkClick r:id="rId5"/>
                </a:rPr>
                <a:t>https://youtu.be/LWrkE-ujMRk</a:t>
              </a:r>
              <a:r>
                <a:rPr lang="en-US" sz="4499"/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76619" y="5435414"/>
            <a:ext cx="5500185" cy="854275"/>
            <a:chOff x="0" y="-79984"/>
            <a:chExt cx="2341700" cy="363707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491900" y="-7998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Breve historia de Java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76619" y="6396888"/>
            <a:ext cx="5805271" cy="874372"/>
            <a:chOff x="0" y="-88541"/>
            <a:chExt cx="2471596" cy="372264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621796" y="-88541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Características principales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6619" y="7456982"/>
            <a:ext cx="5671485" cy="845568"/>
            <a:chOff x="0" y="-30421"/>
            <a:chExt cx="2414631" cy="360000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564831" y="-30421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Principales usos de Java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-6" y="8488265"/>
            <a:ext cx="5189848" cy="845568"/>
            <a:chOff x="0" y="-44120"/>
            <a:chExt cx="2209574" cy="360000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359774" y="-4412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Ejemplo práctico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18696" y="4534849"/>
            <a:ext cx="100506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El estudiante comprende el funcionamiento del lenguaje de programación Java a través de su aplicación para la resolución de problemas relacionados con las fases del compilador.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1374903" y="2490850"/>
            <a:ext cx="160275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Java es un lenguaje de programación orientado a objetos, multiplataforma y de propósito general, diseñado para ser portable, seguro y de alto rendimiento mediante el uso de la JVM (Java Virtual Machine).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¿Qué es Java?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023839" y="53377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Características clave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223878" y="6838625"/>
            <a:ext cx="16027500" cy="28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lang="en-US" sz="3000"/>
              <a:t>Multiplataforma (WORA)</a:t>
            </a:r>
            <a:endParaRPr sz="3000"/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Sintaxis similar a C/C++</a:t>
            </a:r>
            <a:endParaRPr sz="3000"/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Manejo automático de memoria (Garbage Collector)</a:t>
            </a:r>
            <a:endParaRPr sz="3000"/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3000"/>
              <a:t>Ampliamente usado en web, móvil y empresarial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c69470c69_0_6"/>
          <p:cNvSpPr txBox="1"/>
          <p:nvPr/>
        </p:nvSpPr>
        <p:spPr>
          <a:xfrm>
            <a:off x="519052" y="6468050"/>
            <a:ext cx="40791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1991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Proyecto "Oak" (Sun Microsystems).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45" name="Google Shape;145;g35c69470c69_0_6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Breve historia de Java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g35c69470c69_0_6"/>
          <p:cNvSpPr/>
          <p:nvPr/>
        </p:nvSpPr>
        <p:spPr>
          <a:xfrm>
            <a:off x="2306900" y="5856700"/>
            <a:ext cx="503400" cy="503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5c69470c69_0_6"/>
          <p:cNvSpPr txBox="1"/>
          <p:nvPr/>
        </p:nvSpPr>
        <p:spPr>
          <a:xfrm>
            <a:off x="4346577" y="3656050"/>
            <a:ext cx="40791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1995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Renombrado a Java y lanzado oficialmente.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48" name="Google Shape;148;g35c69470c69_0_6"/>
          <p:cNvSpPr/>
          <p:nvPr/>
        </p:nvSpPr>
        <p:spPr>
          <a:xfrm>
            <a:off x="6251900" y="5964650"/>
            <a:ext cx="503400" cy="503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5c69470c69_0_6"/>
          <p:cNvSpPr txBox="1"/>
          <p:nvPr/>
        </p:nvSpPr>
        <p:spPr>
          <a:xfrm>
            <a:off x="7770002" y="6576000"/>
            <a:ext cx="40791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1996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JDK 1.0 (Primera versión pública).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50" name="Google Shape;150;g35c69470c69_0_6"/>
          <p:cNvSpPr/>
          <p:nvPr/>
        </p:nvSpPr>
        <p:spPr>
          <a:xfrm>
            <a:off x="9557850" y="5964650"/>
            <a:ext cx="503400" cy="503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5c69470c69_0_6"/>
          <p:cNvSpPr txBox="1"/>
          <p:nvPr/>
        </p:nvSpPr>
        <p:spPr>
          <a:xfrm>
            <a:off x="10431052" y="3787825"/>
            <a:ext cx="40791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2010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Oracle adquiere Sun Microsystems.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52" name="Google Shape;152;g35c69470c69_0_6"/>
          <p:cNvSpPr/>
          <p:nvPr/>
        </p:nvSpPr>
        <p:spPr>
          <a:xfrm>
            <a:off x="12218900" y="5940050"/>
            <a:ext cx="503400" cy="503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5c69470c69_0_6"/>
          <p:cNvSpPr txBox="1"/>
          <p:nvPr/>
        </p:nvSpPr>
        <p:spPr>
          <a:xfrm>
            <a:off x="13812677" y="6773725"/>
            <a:ext cx="40791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Actualidad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Uso en Android, cloud, IoT y big data.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54" name="Google Shape;154;g35c69470c69_0_6"/>
          <p:cNvSpPr/>
          <p:nvPr/>
        </p:nvSpPr>
        <p:spPr>
          <a:xfrm>
            <a:off x="15524700" y="5894375"/>
            <a:ext cx="503400" cy="503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5c69470c69_0_6"/>
          <p:cNvSpPr/>
          <p:nvPr/>
        </p:nvSpPr>
        <p:spPr>
          <a:xfrm>
            <a:off x="2796900" y="6040700"/>
            <a:ext cx="34551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5c69470c69_0_6"/>
          <p:cNvSpPr/>
          <p:nvPr/>
        </p:nvSpPr>
        <p:spPr>
          <a:xfrm>
            <a:off x="6755300" y="6078425"/>
            <a:ext cx="28026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5c69470c69_0_6"/>
          <p:cNvSpPr/>
          <p:nvPr/>
        </p:nvSpPr>
        <p:spPr>
          <a:xfrm>
            <a:off x="10061200" y="6040758"/>
            <a:ext cx="21576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5c69470c69_0_6"/>
          <p:cNvSpPr/>
          <p:nvPr/>
        </p:nvSpPr>
        <p:spPr>
          <a:xfrm>
            <a:off x="12722400" y="6082400"/>
            <a:ext cx="28026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g35c69470c6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700" y="3771947"/>
            <a:ext cx="2911802" cy="20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5c69470c69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1251" y="6716547"/>
            <a:ext cx="2684687" cy="168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5c69470c69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5676" y="4542422"/>
            <a:ext cx="2304493" cy="13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5c69470c69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47174" y="6535582"/>
            <a:ext cx="2684700" cy="2684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5c69470c69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10150" y="3686875"/>
            <a:ext cx="3596975" cy="20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c69470c69_0_36"/>
          <p:cNvSpPr txBox="1"/>
          <p:nvPr/>
        </p:nvSpPr>
        <p:spPr>
          <a:xfrm>
            <a:off x="1509153" y="2910375"/>
            <a:ext cx="16027500" cy="28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Orientado a Objetos:</a:t>
            </a:r>
            <a:r>
              <a:rPr lang="en-US" sz="3000">
                <a:solidFill>
                  <a:srgbClr val="131416"/>
                </a:solidFill>
              </a:rPr>
              <a:t> Clases, herencia, polimorfismo.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Portable:</a:t>
            </a:r>
            <a:r>
              <a:rPr lang="en-US" sz="3000">
                <a:solidFill>
                  <a:srgbClr val="131416"/>
                </a:solidFill>
              </a:rPr>
              <a:t> Ejecución en JVM (sin dependencia del SO).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Robusto:</a:t>
            </a:r>
            <a:r>
              <a:rPr lang="en-US" sz="3000">
                <a:solidFill>
                  <a:srgbClr val="131416"/>
                </a:solidFill>
              </a:rPr>
              <a:t> Manejo de excepciones y seguridad integrada.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Multihilo:</a:t>
            </a:r>
            <a:r>
              <a:rPr lang="en-US" sz="3000">
                <a:solidFill>
                  <a:srgbClr val="131416"/>
                </a:solidFill>
              </a:rPr>
              <a:t> Soporte para concurrencia.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69" name="Google Shape;169;g35c69470c69_0_36"/>
          <p:cNvSpPr txBox="1"/>
          <p:nvPr/>
        </p:nvSpPr>
        <p:spPr>
          <a:xfrm>
            <a:off x="1509139" y="1409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Características principales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69470c69_0_44"/>
          <p:cNvSpPr txBox="1"/>
          <p:nvPr/>
        </p:nvSpPr>
        <p:spPr>
          <a:xfrm>
            <a:off x="1509153" y="2910375"/>
            <a:ext cx="16027500" cy="28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Desarrollo web: </a:t>
            </a:r>
            <a:r>
              <a:rPr lang="en-US" sz="3000">
                <a:solidFill>
                  <a:srgbClr val="131416"/>
                </a:solidFill>
              </a:rPr>
              <a:t>Spring, Jakarta EE.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Aplicaciones móviles:</a:t>
            </a:r>
            <a:r>
              <a:rPr lang="en-US" sz="3000">
                <a:solidFill>
                  <a:srgbClr val="131416"/>
                </a:solidFill>
              </a:rPr>
              <a:t> Android (Kotlin compila a JVM).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Empresarial: </a:t>
            </a:r>
            <a:r>
              <a:rPr lang="en-US" sz="3000">
                <a:solidFill>
                  <a:srgbClr val="131416"/>
                </a:solidFill>
              </a:rPr>
              <a:t>Bancos, sistemas distribuidos.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AutoNum type="arabicPeriod"/>
            </a:pPr>
            <a:r>
              <a:rPr b="1" lang="en-US" sz="3000">
                <a:solidFill>
                  <a:srgbClr val="131416"/>
                </a:solidFill>
              </a:rPr>
              <a:t>Big Data: </a:t>
            </a:r>
            <a:r>
              <a:rPr lang="en-US" sz="3000">
                <a:solidFill>
                  <a:srgbClr val="131416"/>
                </a:solidFill>
              </a:rPr>
              <a:t>Hadoop, Apache Spark.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75" name="Google Shape;175;g35c69470c69_0_44"/>
          <p:cNvSpPr txBox="1"/>
          <p:nvPr/>
        </p:nvSpPr>
        <p:spPr>
          <a:xfrm>
            <a:off x="1509139" y="1409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Principales usos de Java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6" name="Google Shape;176;g35c69470c69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2450" y="16092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5c69470c69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00250" y="4143250"/>
            <a:ext cx="19716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5c69470c69_0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02825" y="7566650"/>
            <a:ext cx="5670748" cy="202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código básico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4" name="Google Shape;18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774" y="3767425"/>
            <a:ext cx="16308550" cy="406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2d1a32014_0_0"/>
          <p:cNvSpPr txBox="1"/>
          <p:nvPr/>
        </p:nvSpPr>
        <p:spPr>
          <a:xfrm>
            <a:off x="608550" y="0"/>
            <a:ext cx="58878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Ejemplos</a:t>
            </a:r>
            <a:endParaRPr/>
          </a:p>
        </p:txBody>
      </p:sp>
      <p:pic>
        <p:nvPicPr>
          <p:cNvPr id="190" name="Google Shape;190;g362d1a3201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75" y="1123200"/>
            <a:ext cx="7463399" cy="519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62d1a3201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2500" y="1017525"/>
            <a:ext cx="7555001" cy="53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62d1a32014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5400" y="6723724"/>
            <a:ext cx="5172075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61054" y="2753225"/>
            <a:ext cx="16965900" cy="6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Definición de Java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Lenguaje de pro</a:t>
            </a:r>
            <a:r>
              <a:rPr lang="en-US" sz="3000">
                <a:solidFill>
                  <a:srgbClr val="131416"/>
                </a:solidFill>
              </a:rPr>
              <a:t>g</a:t>
            </a:r>
            <a:r>
              <a:rPr lang="en-US" sz="3000">
                <a:solidFill>
                  <a:srgbClr val="131416"/>
                </a:solidFill>
              </a:rPr>
              <a:t>ramación orientado a objetos, multiplataforma y de propósito general.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Funciona en la JVM (Java Virtual Machine), lo que permite portabilidad (WORA: Write Once, Run Anywhere).</a:t>
            </a:r>
            <a:endParaRPr sz="3000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Historia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Creado por James Gosling (Sun Microsystems, 1991).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Lanzamiento público en 1995 con JDK 1.0.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Adquirido por Oracle en 2010.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69470c69_0_5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4" name="Google Shape;204;g35c69470c69_0_58"/>
          <p:cNvSpPr txBox="1"/>
          <p:nvPr/>
        </p:nvSpPr>
        <p:spPr>
          <a:xfrm>
            <a:off x="560379" y="2280300"/>
            <a:ext cx="16965900" cy="6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1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Características Principales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Sintaxis similar a C/C++ (pero más simple).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Recolección de basura (Garbage Collector): Manejo automático de memoria.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Multihilo: Soporte para programación concurrente.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Seguridad: Diseñado para evitar vulnerabilidades (ej. sin punteros).</a:t>
            </a:r>
            <a:endParaRPr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1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Orientación a Objetos (Pilares)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Encapsulamiento:</a:t>
            </a:r>
            <a:r>
              <a:rPr lang="en-US" sz="3000">
                <a:solidFill>
                  <a:srgbClr val="131416"/>
                </a:solidFill>
              </a:rPr>
              <a:t> Ocultar datos con modificadores de acceso (private, public).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Herencia:</a:t>
            </a:r>
            <a:r>
              <a:rPr lang="en-US" sz="3000">
                <a:solidFill>
                  <a:srgbClr val="131416"/>
                </a:solidFill>
              </a:rPr>
              <a:t> Reutilizar código mediante clases padre/hijo (extends).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Polimorfismo:</a:t>
            </a:r>
            <a:r>
              <a:rPr lang="en-US" sz="3000">
                <a:solidFill>
                  <a:srgbClr val="131416"/>
                </a:solidFill>
              </a:rPr>
              <a:t> Mismo método, comportamientos distintos.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c69470c69_0_63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0" name="Google Shape;210;g35c69470c69_0_63"/>
          <p:cNvSpPr txBox="1"/>
          <p:nvPr/>
        </p:nvSpPr>
        <p:spPr>
          <a:xfrm>
            <a:off x="560375" y="2280300"/>
            <a:ext cx="16965900" cy="82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Usos Comunes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Desarrollo web:</a:t>
            </a:r>
            <a:r>
              <a:rPr lang="en-US" sz="3000">
                <a:solidFill>
                  <a:srgbClr val="131416"/>
                </a:solidFill>
              </a:rPr>
              <a:t> Frameworks como Spring y Jakarta EE.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Aplicaciones móviles:</a:t>
            </a:r>
            <a:r>
              <a:rPr lang="en-US" sz="3000">
                <a:solidFill>
                  <a:srgbClr val="131416"/>
                </a:solidFill>
              </a:rPr>
              <a:t> Android (aunque usa Kotlin, sigue basado en JVM).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Sistemas empresariales:</a:t>
            </a:r>
            <a:r>
              <a:rPr lang="en-US" sz="3000">
                <a:solidFill>
                  <a:srgbClr val="131416"/>
                </a:solidFill>
              </a:rPr>
              <a:t> Banca, logística, etc.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Big Data:</a:t>
            </a:r>
            <a:r>
              <a:rPr lang="en-US" sz="3000">
                <a:solidFill>
                  <a:srgbClr val="131416"/>
                </a:solidFill>
              </a:rPr>
              <a:t> Herramientas como Hadoop y Apache Spark.</a:t>
            </a:r>
            <a:endParaRPr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  <a:p>
            <a:pPr indent="0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990127" y="3429000"/>
            <a:ext cx="161268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Responsabilidad:</a:t>
            </a:r>
            <a:r>
              <a:rPr lang="en-US" sz="3151">
                <a:solidFill>
                  <a:srgbClr val="131416"/>
                </a:solidFill>
              </a:rPr>
              <a:t> Al comprender los orígenes del lenguaje, el estudiante valora el aprendizaje técnico.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Disciplina:</a:t>
            </a:r>
            <a:r>
              <a:rPr lang="en-US" sz="3151">
                <a:solidFill>
                  <a:srgbClr val="131416"/>
                </a:solidFill>
              </a:rPr>
              <a:t> Se requiere precisión para respetar normas y estructuras del lenguaje.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Perseverancia:</a:t>
            </a:r>
            <a:r>
              <a:rPr lang="en-US" sz="3151">
                <a:solidFill>
                  <a:srgbClr val="131416"/>
                </a:solidFill>
              </a:rPr>
              <a:t> Requiere insistencia y esfuerzo al enfrentarse a errores o desafíos.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Orden:</a:t>
            </a:r>
            <a:r>
              <a:rPr lang="en-US" sz="3151">
                <a:solidFill>
                  <a:srgbClr val="131416"/>
                </a:solidFill>
              </a:rPr>
              <a:t> Requiere estructurar el pensamiento lógico de forma secuencial y clara.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4012497" y="3746825"/>
            <a:ext cx="104931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Gosling, J. (2005). The Java Programming Language.n  </a:t>
            </a:r>
            <a:endParaRPr sz="3151">
              <a:solidFill>
                <a:srgbClr val="131416"/>
              </a:solidFill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Oracle. Java Documentation. </a:t>
            </a:r>
            <a:r>
              <a:rPr lang="en-US" sz="3151" u="sng">
                <a:solidFill>
                  <a:schemeClr val="hlink"/>
                </a:solidFill>
                <a:hlinkClick r:id="rId3"/>
              </a:rPr>
              <a:t>docs.oracle.com/javase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