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10287000" cx="18288000"/>
  <p:notesSz cx="6858000" cy="9144000"/>
  <p:embeddedFontLst>
    <p:embeddedFont>
      <p:font typeface="Lobster"/>
      <p:regular r:id="rId33"/>
    </p:embeddedFont>
    <p:embeddedFont>
      <p:font typeface="Montserrat"/>
      <p:bold r:id="rId34"/>
      <p:boldItalic r:id="rId35"/>
    </p:embeddedFont>
    <p:embeddedFont>
      <p:font typeface="Pacifico"/>
      <p:regular r:id="rId36"/>
    </p:embeddedFont>
    <p:embeddedFont>
      <p:font typeface="Open Sans"/>
      <p:bold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9" roundtripDataSignature="AMtx7mjetZaADtwTAfDKPZP3vzntrDsRR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Lobster-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Montserrat-boldItalic.fntdata"/><Relationship Id="rId12" Type="http://schemas.openxmlformats.org/officeDocument/2006/relationships/slide" Target="slides/slide7.xml"/><Relationship Id="rId34" Type="http://schemas.openxmlformats.org/officeDocument/2006/relationships/font" Target="fonts/Montserrat-bold.fntdata"/><Relationship Id="rId15" Type="http://schemas.openxmlformats.org/officeDocument/2006/relationships/slide" Target="slides/slide10.xml"/><Relationship Id="rId37" Type="http://schemas.openxmlformats.org/officeDocument/2006/relationships/font" Target="fonts/OpenSans-bold.fntdata"/><Relationship Id="rId14" Type="http://schemas.openxmlformats.org/officeDocument/2006/relationships/slide" Target="slides/slide9.xml"/><Relationship Id="rId36" Type="http://schemas.openxmlformats.org/officeDocument/2006/relationships/font" Target="fonts/Pacifico-regular.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OpenSans-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62d1a54d8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62d1a54d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p:nvPr>
            <p:ph idx="2" type="pic"/>
          </p:nvPr>
        </p:nvSpPr>
        <p:spPr>
          <a:xfrm>
            <a:off x="1792288" y="612775"/>
            <a:ext cx="5486400" cy="4114800"/>
          </a:xfrm>
          <a:prstGeom prst="rect">
            <a:avLst/>
          </a:prstGeom>
          <a:noFill/>
          <a:ln>
            <a:noFill/>
          </a:ln>
        </p:spPr>
      </p:sp>
      <p:sp>
        <p:nvSpPr>
          <p:cNvPr id="64" name="Google Shape;6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hyperlink" Target="https://youtu.be/dOQaPZXk70I" TargetMode="External"/><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10.png"/><Relationship Id="rId6"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28700" y="6899275"/>
            <a:ext cx="12637001"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Lenguajes Formales y de Programación</a:t>
            </a:r>
            <a:endParaRPr/>
          </a:p>
        </p:txBody>
      </p:sp>
      <p:sp>
        <p:nvSpPr>
          <p:cNvPr id="86" name="Google Shape;86;p1"/>
          <p:cNvSpPr txBox="1"/>
          <p:nvPr/>
        </p:nvSpPr>
        <p:spPr>
          <a:xfrm>
            <a:off x="6204148" y="4274503"/>
            <a:ext cx="5879703"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Lenguajes</a:t>
            </a:r>
            <a:endParaRPr/>
          </a:p>
        </p:txBody>
      </p:sp>
      <p:sp>
        <p:nvSpPr>
          <p:cNvPr id="87" name="Google Shape;87;p1"/>
          <p:cNvSpPr txBox="1"/>
          <p:nvPr/>
        </p:nvSpPr>
        <p:spPr>
          <a:xfrm>
            <a:off x="1028700" y="8086725"/>
            <a:ext cx="93192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a:t>
            </a:r>
            <a:r>
              <a:rPr b="1" lang="en-US" sz="2499">
                <a:solidFill>
                  <a:srgbClr val="131416"/>
                </a:solidFill>
                <a:latin typeface="Open Sans"/>
                <a:ea typeface="Open Sans"/>
                <a:cs typeface="Open Sans"/>
                <a:sym typeface="Open Sans"/>
              </a:rPr>
              <a:t>í</a:t>
            </a:r>
            <a:r>
              <a:rPr b="1" i="0" lang="en-US" sz="2499" u="none" cap="none" strike="noStrike">
                <a:solidFill>
                  <a:srgbClr val="131416"/>
                </a:solidFill>
                <a:latin typeface="Open Sans"/>
                <a:ea typeface="Open Sans"/>
                <a:cs typeface="Open Sans"/>
                <a:sym typeface="Open Sans"/>
              </a:rPr>
              <a:t>a de Ciencias Y Sistemas</a:t>
            </a:r>
            <a:endParaRPr/>
          </a:p>
        </p:txBody>
      </p:sp>
      <p:sp>
        <p:nvSpPr>
          <p:cNvPr id="88" name="Google Shape;88;p1"/>
          <p:cNvSpPr txBox="1"/>
          <p:nvPr/>
        </p:nvSpPr>
        <p:spPr>
          <a:xfrm>
            <a:off x="1028700" y="8461375"/>
            <a:ext cx="73974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a:t>
            </a:r>
            <a:r>
              <a:rPr b="1" lang="en-US" sz="2499">
                <a:solidFill>
                  <a:srgbClr val="131416"/>
                </a:solidFill>
                <a:latin typeface="Open Sans"/>
                <a:ea typeface="Open Sans"/>
                <a:cs typeface="Open Sans"/>
                <a:sym typeface="Open Sans"/>
              </a:rPr>
              <a:t>í</a:t>
            </a:r>
            <a:r>
              <a:rPr b="1" i="0" lang="en-US" sz="2499" u="none" cap="none" strike="noStrike">
                <a:solidFill>
                  <a:srgbClr val="131416"/>
                </a:solidFill>
                <a:latin typeface="Open Sans"/>
                <a:ea typeface="Open Sans"/>
                <a:cs typeface="Open Sans"/>
                <a:sym typeface="Open Sans"/>
              </a:rPr>
              <a:t>a</a:t>
            </a:r>
            <a:endParaRPr/>
          </a:p>
        </p:txBody>
      </p:sp>
      <p:sp>
        <p:nvSpPr>
          <p:cNvPr id="89" name="Google Shape;89;p1"/>
          <p:cNvSpPr txBox="1"/>
          <p:nvPr/>
        </p:nvSpPr>
        <p:spPr>
          <a:xfrm>
            <a:off x="1028700" y="8836025"/>
            <a:ext cx="88884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1866989" y="3342832"/>
            <a:ext cx="4115190" cy="1556484"/>
            <a:chOff x="0" y="-76200"/>
            <a:chExt cx="1083836" cy="409938"/>
          </a:xfrm>
        </p:grpSpPr>
        <p:sp>
          <p:nvSpPr>
            <p:cNvPr id="95" name="Google Shape;95;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96" name="Google Shape;96;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97" name="Google Shape;97;p2"/>
          <p:cNvSpPr/>
          <p:nvPr/>
        </p:nvSpPr>
        <p:spPr>
          <a:xfrm>
            <a:off x="651754" y="3758584"/>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3">
              <a:alphaModFix/>
            </a:blip>
            <a:stretch>
              <a:fillRect b="0" l="0" r="0" t="0"/>
            </a:stretch>
          </a:blipFill>
          <a:ln>
            <a:noFill/>
          </a:ln>
        </p:spPr>
      </p:sp>
      <p:sp>
        <p:nvSpPr>
          <p:cNvPr id="98" name="Google Shape;98;p2"/>
          <p:cNvSpPr txBox="1"/>
          <p:nvPr/>
        </p:nvSpPr>
        <p:spPr>
          <a:xfrm>
            <a:off x="11739805" y="2798634"/>
            <a:ext cx="4919663" cy="1701145"/>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None/>
            </a:pPr>
            <a:r>
              <a:rPr b="0" i="0" lang="en-US" sz="4499" cap="none" strike="noStrike">
                <a:solidFill>
                  <a:schemeClr val="dk1"/>
                </a:solidFill>
                <a:uFill>
                  <a:noFill/>
                </a:uFill>
                <a:latin typeface="Arial"/>
                <a:ea typeface="Arial"/>
                <a:cs typeface="Arial"/>
                <a:sym typeface="Arial"/>
                <a:hlinkClick r:id="rId4">
                  <a:extLst>
                    <a:ext uri="{A12FA001-AC4F-418D-AE19-62706E023703}">
                      <ahyp:hlinkClr val="tx"/>
                    </a:ext>
                  </a:extLst>
                </a:hlinkClick>
              </a:rPr>
              <a:t>Link del Video</a:t>
            </a:r>
            <a:endParaRPr>
              <a:solidFill>
                <a:schemeClr val="dk1"/>
              </a:solidFill>
            </a:endParaRPr>
          </a:p>
        </p:txBody>
      </p:sp>
      <p:grpSp>
        <p:nvGrpSpPr>
          <p:cNvPr id="99" name="Google Shape;99;p2"/>
          <p:cNvGrpSpPr/>
          <p:nvPr/>
        </p:nvGrpSpPr>
        <p:grpSpPr>
          <a:xfrm>
            <a:off x="11739805" y="4598683"/>
            <a:ext cx="5353646" cy="1701145"/>
            <a:chOff x="0" y="-114300"/>
            <a:chExt cx="1410014" cy="448038"/>
          </a:xfrm>
        </p:grpSpPr>
        <p:sp>
          <p:nvSpPr>
            <p:cNvPr id="100" name="Google Shape;100;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01" name="Google Shape;101;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None/>
              </a:pPr>
              <a:r>
                <a:rPr b="0" i="0" lang="en-US" sz="4499" u="none" cap="none" strike="noStrike">
                  <a:solidFill>
                    <a:srgbClr val="000000"/>
                  </a:solidFill>
                  <a:latin typeface="Arial"/>
                  <a:ea typeface="Arial"/>
                  <a:cs typeface="Arial"/>
                  <a:sym typeface="Arial"/>
                </a:rPr>
                <a:t>Link de Quizziz</a:t>
              </a:r>
              <a:endParaRPr/>
            </a:p>
          </p:txBody>
        </p:sp>
      </p:grpSp>
      <p:sp>
        <p:nvSpPr>
          <p:cNvPr id="102" name="Google Shape;102;p2"/>
          <p:cNvSpPr/>
          <p:nvPr/>
        </p:nvSpPr>
        <p:spPr>
          <a:xfrm>
            <a:off x="651754" y="5032666"/>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5">
              <a:alphaModFix/>
            </a:blip>
            <a:stretch>
              <a:fillRect b="0" l="0" r="0" t="0"/>
            </a:stretch>
          </a:blipFill>
          <a:ln>
            <a:noFill/>
          </a:ln>
        </p:spPr>
      </p:sp>
      <p:sp>
        <p:nvSpPr>
          <p:cNvPr id="103" name="Google Shape;103;p2"/>
          <p:cNvSpPr/>
          <p:nvPr/>
        </p:nvSpPr>
        <p:spPr>
          <a:xfrm>
            <a:off x="651754" y="5716618"/>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5">
              <a:alphaModFix/>
            </a:blip>
            <a:stretch>
              <a:fillRect b="0" l="0" r="0" t="0"/>
            </a:stretch>
          </a:blipFill>
          <a:ln>
            <a:noFill/>
          </a:ln>
        </p:spPr>
      </p:sp>
      <p:sp>
        <p:nvSpPr>
          <p:cNvPr id="104" name="Google Shape;104;p2"/>
          <p:cNvSpPr/>
          <p:nvPr/>
        </p:nvSpPr>
        <p:spPr>
          <a:xfrm>
            <a:off x="651754" y="6400062"/>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5">
              <a:alphaModFix/>
            </a:blip>
            <a:stretch>
              <a:fillRect b="0" l="0" r="0" t="0"/>
            </a:stretch>
          </a:blipFill>
          <a:ln>
            <a:noFill/>
          </a:ln>
        </p:spPr>
      </p:sp>
      <p:sp>
        <p:nvSpPr>
          <p:cNvPr id="105" name="Google Shape;105;p2"/>
          <p:cNvSpPr/>
          <p:nvPr/>
        </p:nvSpPr>
        <p:spPr>
          <a:xfrm>
            <a:off x="651754" y="7083506"/>
            <a:ext cx="453358" cy="550094"/>
          </a:xfrm>
          <a:custGeom>
            <a:rect b="b" l="l" r="r" t="t"/>
            <a:pathLst>
              <a:path extrusionOk="0" h="550094" w="453358">
                <a:moveTo>
                  <a:pt x="0" y="0"/>
                </a:moveTo>
                <a:lnTo>
                  <a:pt x="453358" y="0"/>
                </a:lnTo>
                <a:lnTo>
                  <a:pt x="453358" y="550095"/>
                </a:lnTo>
                <a:lnTo>
                  <a:pt x="0" y="550095"/>
                </a:lnTo>
                <a:lnTo>
                  <a:pt x="0" y="0"/>
                </a:lnTo>
                <a:close/>
              </a:path>
            </a:pathLst>
          </a:custGeom>
          <a:blipFill rotWithShape="1">
            <a:blip r:embed="rId5">
              <a:alphaModFix/>
            </a:blip>
            <a:stretch>
              <a:fillRect b="0" l="0" r="0" t="0"/>
            </a:stretch>
          </a:blipFill>
          <a:ln>
            <a:noFill/>
          </a:ln>
        </p:spPr>
      </p:sp>
      <p:sp>
        <p:nvSpPr>
          <p:cNvPr id="106" name="Google Shape;106;p2"/>
          <p:cNvSpPr/>
          <p:nvPr/>
        </p:nvSpPr>
        <p:spPr>
          <a:xfrm>
            <a:off x="651754" y="7766951"/>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5">
              <a:alphaModFix/>
            </a:blip>
            <a:stretch>
              <a:fillRect b="0" l="0" r="0" t="0"/>
            </a:stretch>
          </a:blipFill>
          <a:ln>
            <a:noFill/>
          </a:ln>
        </p:spPr>
      </p:sp>
      <p:sp>
        <p:nvSpPr>
          <p:cNvPr id="107" name="Google Shape;107;p2"/>
          <p:cNvSpPr txBox="1"/>
          <p:nvPr/>
        </p:nvSpPr>
        <p:spPr>
          <a:xfrm>
            <a:off x="1488748" y="5045515"/>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434" u="none" cap="none" strike="noStrike">
                <a:solidFill>
                  <a:srgbClr val="152540"/>
                </a:solidFill>
                <a:latin typeface="Arial"/>
                <a:ea typeface="Arial"/>
                <a:cs typeface="Arial"/>
                <a:sym typeface="Arial"/>
              </a:rPr>
              <a:t>Lenguaje Natural</a:t>
            </a:r>
            <a:endParaRPr/>
          </a:p>
        </p:txBody>
      </p:sp>
      <p:sp>
        <p:nvSpPr>
          <p:cNvPr id="108" name="Google Shape;108;p2"/>
          <p:cNvSpPr txBox="1"/>
          <p:nvPr/>
        </p:nvSpPr>
        <p:spPr>
          <a:xfrm>
            <a:off x="1488748" y="5729467"/>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434" u="none" cap="none" strike="noStrike">
                <a:solidFill>
                  <a:srgbClr val="152540"/>
                </a:solidFill>
                <a:latin typeface="Arial"/>
                <a:ea typeface="Arial"/>
                <a:cs typeface="Arial"/>
                <a:sym typeface="Arial"/>
              </a:rPr>
              <a:t>Lenguaje Formal</a:t>
            </a:r>
            <a:endParaRPr/>
          </a:p>
        </p:txBody>
      </p:sp>
      <p:sp>
        <p:nvSpPr>
          <p:cNvPr id="109" name="Google Shape;109;p2"/>
          <p:cNvSpPr txBox="1"/>
          <p:nvPr/>
        </p:nvSpPr>
        <p:spPr>
          <a:xfrm>
            <a:off x="1488748" y="6413758"/>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434" u="none" cap="none" strike="noStrike">
                <a:solidFill>
                  <a:srgbClr val="152540"/>
                </a:solidFill>
                <a:latin typeface="Arial"/>
                <a:ea typeface="Arial"/>
                <a:cs typeface="Arial"/>
                <a:sym typeface="Arial"/>
              </a:rPr>
              <a:t>Lenguajes de Programación</a:t>
            </a:r>
            <a:endParaRPr/>
          </a:p>
        </p:txBody>
      </p:sp>
      <p:sp>
        <p:nvSpPr>
          <p:cNvPr id="110" name="Google Shape;110;p2"/>
          <p:cNvSpPr txBox="1"/>
          <p:nvPr/>
        </p:nvSpPr>
        <p:spPr>
          <a:xfrm>
            <a:off x="1488748" y="7098048"/>
            <a:ext cx="10544673"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434" u="none" cap="none" strike="noStrike">
                <a:solidFill>
                  <a:srgbClr val="152540"/>
                </a:solidFill>
                <a:latin typeface="Arial"/>
                <a:ea typeface="Arial"/>
                <a:cs typeface="Arial"/>
                <a:sym typeface="Arial"/>
              </a:rPr>
              <a:t>Evolución de los Lenguajes de Programación</a:t>
            </a:r>
            <a:endParaRPr/>
          </a:p>
        </p:txBody>
      </p:sp>
      <p:sp>
        <p:nvSpPr>
          <p:cNvPr id="111" name="Google Shape;111;p2"/>
          <p:cNvSpPr txBox="1"/>
          <p:nvPr/>
        </p:nvSpPr>
        <p:spPr>
          <a:xfrm>
            <a:off x="1488748" y="7782338"/>
            <a:ext cx="8390471"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434" u="none" cap="none" strike="noStrike">
                <a:solidFill>
                  <a:srgbClr val="152540"/>
                </a:solidFill>
                <a:latin typeface="Arial"/>
                <a:ea typeface="Arial"/>
                <a:cs typeface="Arial"/>
                <a:sym typeface="Arial"/>
              </a:rPr>
              <a:t>Paradigmas</a:t>
            </a:r>
            <a:endParaRPr/>
          </a:p>
        </p:txBody>
      </p:sp>
      <p:sp>
        <p:nvSpPr>
          <p:cNvPr id="112" name="Google Shape;112;p2"/>
          <p:cNvSpPr txBox="1"/>
          <p:nvPr/>
        </p:nvSpPr>
        <p:spPr>
          <a:xfrm>
            <a:off x="1488748" y="8465782"/>
            <a:ext cx="11556332" cy="5890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434" u="none" cap="none" strike="noStrike">
                <a:solidFill>
                  <a:srgbClr val="152540"/>
                </a:solidFill>
                <a:latin typeface="Arial"/>
                <a:ea typeface="Arial"/>
                <a:cs typeface="Arial"/>
                <a:sym typeface="Arial"/>
              </a:rPr>
              <a:t>Generaciones de los Lenguajes de Programación</a:t>
            </a:r>
            <a:endParaRPr/>
          </a:p>
        </p:txBody>
      </p:sp>
      <p:sp>
        <p:nvSpPr>
          <p:cNvPr id="113" name="Google Shape;113;p2"/>
          <p:cNvSpPr/>
          <p:nvPr/>
        </p:nvSpPr>
        <p:spPr>
          <a:xfrm>
            <a:off x="651754" y="8450395"/>
            <a:ext cx="453358" cy="550094"/>
          </a:xfrm>
          <a:custGeom>
            <a:rect b="b" l="l" r="r" t="t"/>
            <a:pathLst>
              <a:path extrusionOk="0" h="550094" w="453358">
                <a:moveTo>
                  <a:pt x="0" y="0"/>
                </a:moveTo>
                <a:lnTo>
                  <a:pt x="453358" y="0"/>
                </a:lnTo>
                <a:lnTo>
                  <a:pt x="453358" y="550094"/>
                </a:lnTo>
                <a:lnTo>
                  <a:pt x="0" y="550094"/>
                </a:lnTo>
                <a:lnTo>
                  <a:pt x="0" y="0"/>
                </a:lnTo>
                <a:close/>
              </a:path>
            </a:pathLst>
          </a:custGeom>
          <a:blipFill rotWithShape="1">
            <a:blip r:embed="rId5">
              <a:alphaModFix/>
            </a:blip>
            <a:stretch>
              <a:fillRect b="0" l="0" r="0" t="0"/>
            </a:stretch>
          </a:blipFill>
          <a:ln>
            <a:noFill/>
          </a:ln>
        </p:spPr>
      </p:sp>
      <p:sp>
        <p:nvSpPr>
          <p:cNvPr id="114" name="Google Shape;114;p2"/>
          <p:cNvSpPr txBox="1"/>
          <p:nvPr/>
        </p:nvSpPr>
        <p:spPr>
          <a:xfrm>
            <a:off x="651749" y="49090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15" name="Google Shape;115;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3"/>
          <p:cNvSpPr txBox="1"/>
          <p:nvPr/>
        </p:nvSpPr>
        <p:spPr>
          <a:xfrm>
            <a:off x="1028700" y="1009650"/>
            <a:ext cx="16230600" cy="1806812"/>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 QUE DESARROLLAREMOS</a:t>
            </a:r>
            <a:endParaRPr/>
          </a:p>
        </p:txBody>
      </p:sp>
      <p:sp>
        <p:nvSpPr>
          <p:cNvPr id="121" name="Google Shape;121;p3"/>
          <p:cNvSpPr txBox="1"/>
          <p:nvPr/>
        </p:nvSpPr>
        <p:spPr>
          <a:xfrm>
            <a:off x="1028700" y="3330575"/>
            <a:ext cx="16230600" cy="44069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131416"/>
                </a:solidFill>
                <a:latin typeface="Arial"/>
                <a:ea typeface="Arial"/>
                <a:cs typeface="Arial"/>
                <a:sym typeface="Arial"/>
              </a:rPr>
              <a:t>El estudiante analiza la evolución y clasificación de los lenguajes formales y de programación mediante la comparación de sus características, estructuras y herramientas para comprender su organización y funcionamiento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txBox="1"/>
          <p:nvPr/>
        </p:nvSpPr>
        <p:spPr>
          <a:xfrm>
            <a:off x="1904222" y="1557983"/>
            <a:ext cx="11630208" cy="920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5000" u="none" cap="none" strike="noStrike">
                <a:solidFill>
                  <a:srgbClr val="152540"/>
                </a:solidFill>
                <a:latin typeface="Arial"/>
                <a:ea typeface="Arial"/>
                <a:cs typeface="Arial"/>
                <a:sym typeface="Arial"/>
              </a:rPr>
              <a:t>LENGUAJE</a:t>
            </a:r>
            <a:endParaRPr/>
          </a:p>
        </p:txBody>
      </p:sp>
      <p:sp>
        <p:nvSpPr>
          <p:cNvPr id="127" name="Google Shape;127;p4"/>
          <p:cNvSpPr txBox="1"/>
          <p:nvPr/>
        </p:nvSpPr>
        <p:spPr>
          <a:xfrm>
            <a:off x="1904222" y="3364255"/>
            <a:ext cx="14701023" cy="54344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794" u="none" cap="none" strike="noStrike">
                <a:solidFill>
                  <a:srgbClr val="152540"/>
                </a:solidFill>
                <a:latin typeface="Arial"/>
                <a:ea typeface="Arial"/>
                <a:cs typeface="Arial"/>
                <a:sym typeface="Arial"/>
              </a:rPr>
              <a:t>El lenguaje natural es una herramienta esencial para la comunicación humana. Nos permite compartir nuestros pensamientos, sentimientos y experiencias con otras personas. También nos permite aprender, enseñar, negociar, resolver conflictos y construir relaciones.</a:t>
            </a:r>
            <a:endParaRPr/>
          </a:p>
          <a:p>
            <a:pPr indent="0" lvl="0" marL="0" marR="0" rtl="0" algn="just">
              <a:lnSpc>
                <a:spcPct val="140014"/>
              </a:lnSpc>
              <a:spcBef>
                <a:spcPts val="0"/>
              </a:spcBef>
              <a:spcAft>
                <a:spcPts val="0"/>
              </a:spcAft>
              <a:buNone/>
            </a:pPr>
            <a:r>
              <a:t/>
            </a:r>
            <a:endParaRPr b="0" i="0" sz="2794" u="none" cap="none" strike="noStrike">
              <a:solidFill>
                <a:srgbClr val="152540"/>
              </a:solidFill>
              <a:latin typeface="Arial"/>
              <a:ea typeface="Arial"/>
              <a:cs typeface="Arial"/>
              <a:sym typeface="Arial"/>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Hablamos con nuestros amigos, familiares y colegas.</a:t>
            </a:r>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Escribimos cartas, correos electrónicos y mensajes de texto.</a:t>
            </a:r>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Leemos libros, artículos y periódicos.</a:t>
            </a:r>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Vemos películas y programas de televisión.</a:t>
            </a:r>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Escuchamos música.</a:t>
            </a:r>
            <a:endParaRPr/>
          </a:p>
          <a:p>
            <a:pPr indent="-301666" lvl="1" marL="603333" marR="0" rtl="0" algn="just">
              <a:lnSpc>
                <a:spcPct val="140014"/>
              </a:lnSpc>
              <a:spcBef>
                <a:spcPts val="0"/>
              </a:spcBef>
              <a:spcAft>
                <a:spcPts val="0"/>
              </a:spcAft>
              <a:buClr>
                <a:srgbClr val="152540"/>
              </a:buClr>
              <a:buSzPts val="2794"/>
              <a:buFont typeface="Arial"/>
              <a:buChar char="•"/>
            </a:pPr>
            <a:r>
              <a:rPr b="0" i="0" lang="en-US" sz="2794" u="none" cap="none" strike="noStrike">
                <a:solidFill>
                  <a:srgbClr val="152540"/>
                </a:solidFill>
                <a:latin typeface="Arial"/>
                <a:ea typeface="Arial"/>
                <a:cs typeface="Arial"/>
                <a:sym typeface="Arial"/>
              </a:rPr>
              <a:t>Utilizamos la Internet para comunicarnos con personas de todo el mundo. </a:t>
            </a:r>
            <a:endParaRPr/>
          </a:p>
        </p:txBody>
      </p:sp>
      <p:sp>
        <p:nvSpPr>
          <p:cNvPr id="128" name="Google Shape;128;p4"/>
          <p:cNvSpPr txBox="1"/>
          <p:nvPr/>
        </p:nvSpPr>
        <p:spPr>
          <a:xfrm>
            <a:off x="1904222" y="2454395"/>
            <a:ext cx="9175638" cy="819150"/>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None/>
            </a:pPr>
            <a:r>
              <a:rPr b="0" i="0" lang="en-US" sz="4500" u="none" cap="none" strike="noStrike">
                <a:solidFill>
                  <a:srgbClr val="152540"/>
                </a:solidFill>
                <a:latin typeface="Arial"/>
                <a:ea typeface="Arial"/>
                <a:cs typeface="Arial"/>
                <a:sym typeface="Arial"/>
              </a:rPr>
              <a:t>NATURAL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5"/>
          <p:cNvSpPr txBox="1"/>
          <p:nvPr/>
        </p:nvSpPr>
        <p:spPr>
          <a:xfrm>
            <a:off x="1904222" y="3364255"/>
            <a:ext cx="14701023" cy="54344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794" u="none" cap="none" strike="noStrike">
                <a:solidFill>
                  <a:srgbClr val="152540"/>
                </a:solidFill>
                <a:latin typeface="Arial"/>
                <a:ea typeface="Arial"/>
                <a:cs typeface="Arial"/>
                <a:sym typeface="Arial"/>
              </a:rPr>
              <a:t>Un lenguaje formal es un lenguaje artificial que, a diferencia de los lenguajes naturales, no está centrado en la comunicación humana habitual, sino en la definición y aplicación de una serie de reglas específicas en un entorno específico. Consta de una serie de símbolos básicos, que se combinan en cadenas para formar expresiones complejas.</a:t>
            </a:r>
            <a:endParaRPr/>
          </a:p>
          <a:p>
            <a:pPr indent="0" lvl="0" marL="0" marR="0" rtl="0" algn="just">
              <a:lnSpc>
                <a:spcPct val="140014"/>
              </a:lnSpc>
              <a:spcBef>
                <a:spcPts val="0"/>
              </a:spcBef>
              <a:spcAft>
                <a:spcPts val="0"/>
              </a:spcAft>
              <a:buNone/>
            </a:pPr>
            <a:r>
              <a:t/>
            </a:r>
            <a:endParaRPr b="0" i="0" sz="2794" u="none" cap="none" strike="noStrike">
              <a:solidFill>
                <a:srgbClr val="152540"/>
              </a:solidFill>
              <a:latin typeface="Arial"/>
              <a:ea typeface="Arial"/>
              <a:cs typeface="Arial"/>
              <a:sym typeface="Arial"/>
            </a:endParaRPr>
          </a:p>
          <a:p>
            <a:pPr indent="0" lvl="0" marL="0" marR="0" rtl="0" algn="just">
              <a:lnSpc>
                <a:spcPct val="140014"/>
              </a:lnSpc>
              <a:spcBef>
                <a:spcPts val="0"/>
              </a:spcBef>
              <a:spcAft>
                <a:spcPts val="0"/>
              </a:spcAft>
              <a:buNone/>
            </a:pPr>
            <a:r>
              <a:rPr b="0" i="0" lang="en-US" sz="2794" u="none" cap="none" strike="noStrike">
                <a:solidFill>
                  <a:srgbClr val="152540"/>
                </a:solidFill>
                <a:latin typeface="Arial"/>
                <a:ea typeface="Arial"/>
                <a:cs typeface="Arial"/>
                <a:sym typeface="Arial"/>
              </a:rPr>
              <a:t>Los símbolos constituyen el alfabeto de un lenguaje formal, mientras que las cadenas son las palabras. Tanto la combinación de los símbolos como la interpretación de las cadenas se realiza de acuerdo con reglas rigurosas, establecidas de antemano, que no admiten excepciones; en conjunto, estas reglas conforman la gramática del lenguaje. </a:t>
            </a:r>
            <a:endParaRPr/>
          </a:p>
        </p:txBody>
      </p:sp>
      <p:sp>
        <p:nvSpPr>
          <p:cNvPr id="134" name="Google Shape;134;p5"/>
          <p:cNvSpPr txBox="1"/>
          <p:nvPr/>
        </p:nvSpPr>
        <p:spPr>
          <a:xfrm>
            <a:off x="1904222" y="2454395"/>
            <a:ext cx="9175638" cy="819150"/>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None/>
            </a:pPr>
            <a:r>
              <a:rPr b="0" i="0" lang="en-US" sz="4500" u="none" cap="none" strike="noStrike">
                <a:solidFill>
                  <a:srgbClr val="152540"/>
                </a:solidFill>
                <a:latin typeface="Arial"/>
                <a:ea typeface="Arial"/>
                <a:cs typeface="Arial"/>
                <a:sym typeface="Arial"/>
              </a:rPr>
              <a:t>FORMAL</a:t>
            </a:r>
            <a:endParaRPr/>
          </a:p>
        </p:txBody>
      </p:sp>
      <p:sp>
        <p:nvSpPr>
          <p:cNvPr id="135" name="Google Shape;135;p5"/>
          <p:cNvSpPr txBox="1"/>
          <p:nvPr/>
        </p:nvSpPr>
        <p:spPr>
          <a:xfrm>
            <a:off x="1904222" y="1557983"/>
            <a:ext cx="11630208" cy="920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5000" u="none" cap="none" strike="noStrike">
                <a:solidFill>
                  <a:srgbClr val="152540"/>
                </a:solidFill>
                <a:latin typeface="Arial"/>
                <a:ea typeface="Arial"/>
                <a:cs typeface="Arial"/>
                <a:sym typeface="Arial"/>
              </a:rPr>
              <a:t>LENGUAJE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grpSp>
        <p:nvGrpSpPr>
          <p:cNvPr id="140" name="Google Shape;140;p6"/>
          <p:cNvGrpSpPr/>
          <p:nvPr/>
        </p:nvGrpSpPr>
        <p:grpSpPr>
          <a:xfrm>
            <a:off x="1541022" y="3666377"/>
            <a:ext cx="3475845" cy="2091375"/>
            <a:chOff x="0" y="-38100"/>
            <a:chExt cx="914818" cy="550435"/>
          </a:xfrm>
        </p:grpSpPr>
        <p:sp>
          <p:nvSpPr>
            <p:cNvPr id="141" name="Google Shape;141;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None/>
              </a:pPr>
              <a:r>
                <a:rPr b="0" i="0" lang="en-US" sz="1800" u="none" cap="none" strike="noStrike">
                  <a:solidFill>
                    <a:srgbClr val="000000"/>
                  </a:solidFill>
                  <a:latin typeface="Arial"/>
                  <a:ea typeface="Arial"/>
                  <a:cs typeface="Arial"/>
                  <a:sym typeface="Arial"/>
                </a:rPr>
                <a:t>Recursivamente Enumerables</a:t>
              </a:r>
              <a:endParaRPr/>
            </a:p>
          </p:txBody>
        </p:sp>
      </p:grpSp>
      <p:grpSp>
        <p:nvGrpSpPr>
          <p:cNvPr id="143" name="Google Shape;143;p6"/>
          <p:cNvGrpSpPr/>
          <p:nvPr/>
        </p:nvGrpSpPr>
        <p:grpSpPr>
          <a:xfrm>
            <a:off x="5443973" y="3666377"/>
            <a:ext cx="3475845" cy="2091375"/>
            <a:chOff x="0" y="-38100"/>
            <a:chExt cx="914818" cy="550435"/>
          </a:xfrm>
        </p:grpSpPr>
        <p:sp>
          <p:nvSpPr>
            <p:cNvPr id="144" name="Google Shape;144;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None/>
              </a:pPr>
              <a:r>
                <a:rPr b="0" i="0" lang="en-US" sz="1800" u="none" cap="none" strike="noStrike">
                  <a:solidFill>
                    <a:srgbClr val="000000"/>
                  </a:solidFill>
                  <a:latin typeface="Arial"/>
                  <a:ea typeface="Arial"/>
                  <a:cs typeface="Arial"/>
                  <a:sym typeface="Arial"/>
                </a:rPr>
                <a:t>Requieren gramáticas sensibles al contexto</a:t>
              </a:r>
              <a:endParaRPr/>
            </a:p>
          </p:txBody>
        </p:sp>
      </p:grpSp>
      <p:grpSp>
        <p:nvGrpSpPr>
          <p:cNvPr id="146" name="Google Shape;146;p6"/>
          <p:cNvGrpSpPr/>
          <p:nvPr/>
        </p:nvGrpSpPr>
        <p:grpSpPr>
          <a:xfrm>
            <a:off x="9314236" y="3666377"/>
            <a:ext cx="3475845" cy="2091375"/>
            <a:chOff x="0" y="-38100"/>
            <a:chExt cx="914818" cy="550435"/>
          </a:xfrm>
        </p:grpSpPr>
        <p:sp>
          <p:nvSpPr>
            <p:cNvPr id="147" name="Google Shape;147;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None/>
              </a:pPr>
              <a:r>
                <a:rPr b="0" i="0" lang="en-US" sz="1800" u="none" cap="none" strike="noStrike">
                  <a:solidFill>
                    <a:srgbClr val="000000"/>
                  </a:solidFill>
                  <a:latin typeface="Arial"/>
                  <a:ea typeface="Arial"/>
                  <a:cs typeface="Arial"/>
                  <a:sym typeface="Arial"/>
                </a:rPr>
                <a:t>Representados por gramáticas libres de contexto</a:t>
              </a:r>
              <a:endParaRPr/>
            </a:p>
          </p:txBody>
        </p:sp>
      </p:grpSp>
      <p:grpSp>
        <p:nvGrpSpPr>
          <p:cNvPr id="149" name="Google Shape;149;p6"/>
          <p:cNvGrpSpPr/>
          <p:nvPr/>
        </p:nvGrpSpPr>
        <p:grpSpPr>
          <a:xfrm>
            <a:off x="13181346" y="3666377"/>
            <a:ext cx="3475845" cy="2091375"/>
            <a:chOff x="0" y="-38100"/>
            <a:chExt cx="914818" cy="550435"/>
          </a:xfrm>
        </p:grpSpPr>
        <p:sp>
          <p:nvSpPr>
            <p:cNvPr id="150" name="Google Shape;150;p6"/>
            <p:cNvSpPr/>
            <p:nvPr/>
          </p:nvSpPr>
          <p:spPr>
            <a:xfrm>
              <a:off x="0" y="0"/>
              <a:ext cx="914818" cy="512335"/>
            </a:xfrm>
            <a:custGeom>
              <a:rect b="b" l="l" r="r" t="t"/>
              <a:pathLst>
                <a:path extrusionOk="0" h="512335" w="914818">
                  <a:moveTo>
                    <a:pt x="113595" y="0"/>
                  </a:moveTo>
                  <a:lnTo>
                    <a:pt x="801223" y="0"/>
                  </a:lnTo>
                  <a:cubicBezTo>
                    <a:pt x="863960" y="0"/>
                    <a:pt x="914818" y="50858"/>
                    <a:pt x="914818" y="113595"/>
                  </a:cubicBezTo>
                  <a:lnTo>
                    <a:pt x="914818" y="398740"/>
                  </a:lnTo>
                  <a:cubicBezTo>
                    <a:pt x="914818" y="461477"/>
                    <a:pt x="863960" y="512335"/>
                    <a:pt x="801223" y="512335"/>
                  </a:cubicBezTo>
                  <a:lnTo>
                    <a:pt x="113595" y="512335"/>
                  </a:lnTo>
                  <a:cubicBezTo>
                    <a:pt x="50858" y="512335"/>
                    <a:pt x="0" y="461477"/>
                    <a:pt x="0" y="398740"/>
                  </a:cubicBezTo>
                  <a:lnTo>
                    <a:pt x="0" y="113595"/>
                  </a:lnTo>
                  <a:cubicBezTo>
                    <a:pt x="0" y="50858"/>
                    <a:pt x="50858" y="0"/>
                    <a:pt x="113595" y="0"/>
                  </a:cubicBezTo>
                  <a:close/>
                </a:path>
              </a:pathLst>
            </a:custGeom>
            <a:solidFill>
              <a:srgbClr val="F1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txBox="1"/>
            <p:nvPr/>
          </p:nvSpPr>
          <p:spPr>
            <a:xfrm>
              <a:off x="0" y="-38100"/>
              <a:ext cx="914818" cy="550435"/>
            </a:xfrm>
            <a:prstGeom prst="rect">
              <a:avLst/>
            </a:prstGeom>
            <a:noFill/>
            <a:ln>
              <a:noFill/>
            </a:ln>
          </p:spPr>
          <p:txBody>
            <a:bodyPr anchorCtr="0" anchor="ctr" bIns="241300" lIns="241300" spcFirstLastPara="1" rIns="241300" wrap="square" tIns="241300">
              <a:noAutofit/>
            </a:bodyPr>
            <a:lstStyle/>
            <a:p>
              <a:pPr indent="0" lvl="0" marL="0" marR="0" rtl="0" algn="ctr">
                <a:lnSpc>
                  <a:spcPct val="140000"/>
                </a:lnSpc>
                <a:spcBef>
                  <a:spcPts val="0"/>
                </a:spcBef>
                <a:spcAft>
                  <a:spcPts val="0"/>
                </a:spcAft>
                <a:buNone/>
              </a:pPr>
              <a:r>
                <a:rPr b="0" i="0" lang="en-US" sz="1800" u="none" cap="none" strike="noStrike">
                  <a:solidFill>
                    <a:srgbClr val="000000"/>
                  </a:solidFill>
                  <a:latin typeface="Arial"/>
                  <a:ea typeface="Arial"/>
                  <a:cs typeface="Arial"/>
                  <a:sym typeface="Arial"/>
                </a:rPr>
                <a:t>Se describen mediante autómatas finitos o expresiones regulares</a:t>
              </a:r>
              <a:endParaRPr/>
            </a:p>
          </p:txBody>
        </p:sp>
      </p:grpSp>
      <p:grpSp>
        <p:nvGrpSpPr>
          <p:cNvPr id="152" name="Google Shape;152;p6"/>
          <p:cNvGrpSpPr/>
          <p:nvPr/>
        </p:nvGrpSpPr>
        <p:grpSpPr>
          <a:xfrm>
            <a:off x="2635924" y="2943848"/>
            <a:ext cx="1286042" cy="1105192"/>
            <a:chOff x="0" y="0"/>
            <a:chExt cx="812800" cy="698500"/>
          </a:xfrm>
        </p:grpSpPr>
        <p:sp>
          <p:nvSpPr>
            <p:cNvPr id="153" name="Google Shape;153;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EDC0C1"/>
            </a:solidFill>
            <a:ln>
              <a:noFill/>
            </a:ln>
          </p:spPr>
        </p:sp>
        <p:sp>
          <p:nvSpPr>
            <p:cNvPr id="154" name="Google Shape;154;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None/>
              </a:pPr>
              <a:r>
                <a:rPr b="1" i="0" lang="en-US" sz="2399" u="none" cap="none" strike="noStrike">
                  <a:solidFill>
                    <a:srgbClr val="010204"/>
                  </a:solidFill>
                  <a:latin typeface="Arial"/>
                  <a:ea typeface="Arial"/>
                  <a:cs typeface="Arial"/>
                  <a:sym typeface="Arial"/>
                </a:rPr>
                <a:t>0</a:t>
              </a:r>
              <a:endParaRPr/>
            </a:p>
          </p:txBody>
        </p:sp>
      </p:grpSp>
      <p:grpSp>
        <p:nvGrpSpPr>
          <p:cNvPr id="155" name="Google Shape;155;p6"/>
          <p:cNvGrpSpPr/>
          <p:nvPr/>
        </p:nvGrpSpPr>
        <p:grpSpPr>
          <a:xfrm>
            <a:off x="10409138" y="2943848"/>
            <a:ext cx="1286042" cy="1105192"/>
            <a:chOff x="0" y="0"/>
            <a:chExt cx="812800" cy="698500"/>
          </a:xfrm>
        </p:grpSpPr>
        <p:sp>
          <p:nvSpPr>
            <p:cNvPr id="156" name="Google Shape;156;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CFAACD"/>
            </a:solidFill>
            <a:ln>
              <a:noFill/>
            </a:ln>
          </p:spPr>
        </p:sp>
        <p:sp>
          <p:nvSpPr>
            <p:cNvPr id="157" name="Google Shape;157;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None/>
              </a:pPr>
              <a:r>
                <a:rPr b="1" i="0" lang="en-US" sz="2399" u="none" cap="none" strike="noStrike">
                  <a:solidFill>
                    <a:srgbClr val="010204"/>
                  </a:solidFill>
                  <a:latin typeface="Arial"/>
                  <a:ea typeface="Arial"/>
                  <a:cs typeface="Arial"/>
                  <a:sym typeface="Arial"/>
                </a:rPr>
                <a:t>2</a:t>
              </a:r>
              <a:endParaRPr/>
            </a:p>
          </p:txBody>
        </p:sp>
      </p:grpSp>
      <p:grpSp>
        <p:nvGrpSpPr>
          <p:cNvPr id="158" name="Google Shape;158;p6"/>
          <p:cNvGrpSpPr/>
          <p:nvPr/>
        </p:nvGrpSpPr>
        <p:grpSpPr>
          <a:xfrm>
            <a:off x="6538875" y="2943848"/>
            <a:ext cx="1286042" cy="1105192"/>
            <a:chOff x="0" y="0"/>
            <a:chExt cx="812800" cy="698500"/>
          </a:xfrm>
        </p:grpSpPr>
        <p:sp>
          <p:nvSpPr>
            <p:cNvPr id="159" name="Google Shape;159;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D5D8B9"/>
            </a:solidFill>
            <a:ln>
              <a:noFill/>
            </a:ln>
          </p:spPr>
        </p:sp>
        <p:sp>
          <p:nvSpPr>
            <p:cNvPr id="160" name="Google Shape;160;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None/>
              </a:pPr>
              <a:r>
                <a:rPr b="1" i="0" lang="en-US" sz="2399" u="none" cap="none" strike="noStrike">
                  <a:solidFill>
                    <a:srgbClr val="010204"/>
                  </a:solidFill>
                  <a:latin typeface="Arial"/>
                  <a:ea typeface="Arial"/>
                  <a:cs typeface="Arial"/>
                  <a:sym typeface="Arial"/>
                </a:rPr>
                <a:t>1</a:t>
              </a:r>
              <a:endParaRPr/>
            </a:p>
          </p:txBody>
        </p:sp>
      </p:grpSp>
      <p:grpSp>
        <p:nvGrpSpPr>
          <p:cNvPr id="161" name="Google Shape;161;p6"/>
          <p:cNvGrpSpPr/>
          <p:nvPr/>
        </p:nvGrpSpPr>
        <p:grpSpPr>
          <a:xfrm>
            <a:off x="14276248" y="2943848"/>
            <a:ext cx="1286042" cy="1105192"/>
            <a:chOff x="0" y="0"/>
            <a:chExt cx="812800" cy="698500"/>
          </a:xfrm>
        </p:grpSpPr>
        <p:sp>
          <p:nvSpPr>
            <p:cNvPr id="162" name="Google Shape;162;p6"/>
            <p:cNvSpPr/>
            <p:nvPr/>
          </p:nvSpPr>
          <p:spPr>
            <a:xfrm>
              <a:off x="0" y="0"/>
              <a:ext cx="812800" cy="698500"/>
            </a:xfrm>
            <a:custGeom>
              <a:rect b="b" l="l" r="r" t="t"/>
              <a:pathLst>
                <a:path extrusionOk="0"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B6C9DE"/>
            </a:solidFill>
            <a:ln>
              <a:noFill/>
            </a:ln>
          </p:spPr>
        </p:sp>
        <p:sp>
          <p:nvSpPr>
            <p:cNvPr id="163" name="Google Shape;163;p6"/>
            <p:cNvSpPr txBox="1"/>
            <p:nvPr/>
          </p:nvSpPr>
          <p:spPr>
            <a:xfrm>
              <a:off x="114300" y="57150"/>
              <a:ext cx="584200" cy="641350"/>
            </a:xfrm>
            <a:prstGeom prst="rect">
              <a:avLst/>
            </a:prstGeom>
            <a:noFill/>
            <a:ln>
              <a:noFill/>
            </a:ln>
          </p:spPr>
          <p:txBody>
            <a:bodyPr anchorCtr="0" anchor="ctr" bIns="10475" lIns="10475" spcFirstLastPara="1" rIns="10475" wrap="square" tIns="10475">
              <a:noAutofit/>
            </a:bodyPr>
            <a:lstStyle/>
            <a:p>
              <a:pPr indent="0" lvl="0" marL="0" marR="0" rtl="0" algn="ctr">
                <a:lnSpc>
                  <a:spcPct val="98999"/>
                </a:lnSpc>
                <a:spcBef>
                  <a:spcPts val="0"/>
                </a:spcBef>
                <a:spcAft>
                  <a:spcPts val="0"/>
                </a:spcAft>
                <a:buNone/>
              </a:pPr>
              <a:r>
                <a:rPr b="1" i="0" lang="en-US" sz="2399" u="none" cap="none" strike="noStrike">
                  <a:solidFill>
                    <a:srgbClr val="010204"/>
                  </a:solidFill>
                  <a:latin typeface="Arial"/>
                  <a:ea typeface="Arial"/>
                  <a:cs typeface="Arial"/>
                  <a:sym typeface="Arial"/>
                </a:rPr>
                <a:t>3</a:t>
              </a:r>
              <a:endParaRPr/>
            </a:p>
          </p:txBody>
        </p:sp>
      </p:grpSp>
      <p:grpSp>
        <p:nvGrpSpPr>
          <p:cNvPr id="164" name="Google Shape;164;p6"/>
          <p:cNvGrpSpPr/>
          <p:nvPr/>
        </p:nvGrpSpPr>
        <p:grpSpPr>
          <a:xfrm>
            <a:off x="3278945" y="1471766"/>
            <a:ext cx="11634134" cy="1472082"/>
            <a:chOff x="15095" y="0"/>
            <a:chExt cx="15512178" cy="1962776"/>
          </a:xfrm>
        </p:grpSpPr>
        <p:cxnSp>
          <p:nvCxnSpPr>
            <p:cNvPr id="165" name="Google Shape;165;p6"/>
            <p:cNvCxnSpPr/>
            <p:nvPr/>
          </p:nvCxnSpPr>
          <p:spPr>
            <a:xfrm flipH="1" rot="10800000">
              <a:off x="19050" y="999105"/>
              <a:ext cx="5173" cy="963671"/>
            </a:xfrm>
            <a:prstGeom prst="straightConnector1">
              <a:avLst/>
            </a:prstGeom>
            <a:noFill/>
            <a:ln cap="flat" cmpd="sng" w="38100">
              <a:solidFill>
                <a:srgbClr val="000000"/>
              </a:solidFill>
              <a:prstDash val="solid"/>
              <a:round/>
              <a:headEnd len="sm" w="sm" type="none"/>
              <a:tailEnd len="sm" w="sm" type="none"/>
            </a:ln>
          </p:spPr>
        </p:cxnSp>
        <p:cxnSp>
          <p:nvCxnSpPr>
            <p:cNvPr id="166" name="Google Shape;166;p6"/>
            <p:cNvCxnSpPr/>
            <p:nvPr/>
          </p:nvCxnSpPr>
          <p:spPr>
            <a:xfrm flipH="1" rot="10800000">
              <a:off x="5222984" y="999105"/>
              <a:ext cx="5173" cy="963671"/>
            </a:xfrm>
            <a:prstGeom prst="straightConnector1">
              <a:avLst/>
            </a:prstGeom>
            <a:noFill/>
            <a:ln cap="flat" cmpd="sng" w="38100">
              <a:solidFill>
                <a:srgbClr val="000000"/>
              </a:solidFill>
              <a:prstDash val="solid"/>
              <a:round/>
              <a:headEnd len="sm" w="sm" type="none"/>
              <a:tailEnd len="sm" w="sm" type="none"/>
            </a:ln>
          </p:spPr>
        </p:cxnSp>
        <p:cxnSp>
          <p:nvCxnSpPr>
            <p:cNvPr id="167" name="Google Shape;167;p6"/>
            <p:cNvCxnSpPr/>
            <p:nvPr/>
          </p:nvCxnSpPr>
          <p:spPr>
            <a:xfrm rot="10800000">
              <a:off x="7826041" y="0"/>
              <a:ext cx="0" cy="998383"/>
            </a:xfrm>
            <a:prstGeom prst="straightConnector1">
              <a:avLst/>
            </a:prstGeom>
            <a:noFill/>
            <a:ln cap="flat" cmpd="sng" w="38100">
              <a:solidFill>
                <a:srgbClr val="000000"/>
              </a:solidFill>
              <a:prstDash val="solid"/>
              <a:round/>
              <a:headEnd len="sm" w="sm" type="none"/>
              <a:tailEnd len="sm" w="sm" type="none"/>
            </a:ln>
          </p:spPr>
        </p:cxnSp>
        <p:cxnSp>
          <p:nvCxnSpPr>
            <p:cNvPr id="168" name="Google Shape;168;p6"/>
            <p:cNvCxnSpPr/>
            <p:nvPr/>
          </p:nvCxnSpPr>
          <p:spPr>
            <a:xfrm>
              <a:off x="15095" y="998744"/>
              <a:ext cx="15501382" cy="0"/>
            </a:xfrm>
            <a:prstGeom prst="straightConnector1">
              <a:avLst/>
            </a:prstGeom>
            <a:noFill/>
            <a:ln cap="flat" cmpd="sng" w="38100">
              <a:solidFill>
                <a:srgbClr val="000000"/>
              </a:solidFill>
              <a:prstDash val="solid"/>
              <a:round/>
              <a:headEnd len="sm" w="sm" type="none"/>
              <a:tailEnd len="sm" w="sm" type="none"/>
            </a:ln>
          </p:spPr>
        </p:cxnSp>
        <p:cxnSp>
          <p:nvCxnSpPr>
            <p:cNvPr id="169" name="Google Shape;169;p6"/>
            <p:cNvCxnSpPr/>
            <p:nvPr/>
          </p:nvCxnSpPr>
          <p:spPr>
            <a:xfrm rot="10800000">
              <a:off x="10372932" y="999105"/>
              <a:ext cx="3654" cy="963671"/>
            </a:xfrm>
            <a:prstGeom prst="straightConnector1">
              <a:avLst/>
            </a:prstGeom>
            <a:noFill/>
            <a:ln cap="flat" cmpd="sng" w="38100">
              <a:solidFill>
                <a:srgbClr val="000000"/>
              </a:solidFill>
              <a:prstDash val="solid"/>
              <a:round/>
              <a:headEnd len="sm" w="sm" type="none"/>
              <a:tailEnd len="sm" w="sm" type="none"/>
            </a:ln>
          </p:spPr>
        </p:cxnSp>
        <p:cxnSp>
          <p:nvCxnSpPr>
            <p:cNvPr id="170" name="Google Shape;170;p6"/>
            <p:cNvCxnSpPr/>
            <p:nvPr/>
          </p:nvCxnSpPr>
          <p:spPr>
            <a:xfrm rot="10800000">
              <a:off x="15516477" y="999105"/>
              <a:ext cx="10796" cy="963671"/>
            </a:xfrm>
            <a:prstGeom prst="straightConnector1">
              <a:avLst/>
            </a:prstGeom>
            <a:noFill/>
            <a:ln cap="flat" cmpd="sng" w="38100">
              <a:solidFill>
                <a:srgbClr val="000000"/>
              </a:solidFill>
              <a:prstDash val="solid"/>
              <a:round/>
              <a:headEnd len="sm" w="sm" type="none"/>
              <a:tailEnd len="sm" w="sm" type="none"/>
            </a:ln>
          </p:spPr>
        </p:cxnSp>
      </p:grpSp>
      <p:grpSp>
        <p:nvGrpSpPr>
          <p:cNvPr id="171" name="Google Shape;171;p6"/>
          <p:cNvGrpSpPr/>
          <p:nvPr/>
        </p:nvGrpSpPr>
        <p:grpSpPr>
          <a:xfrm>
            <a:off x="1530369" y="5798010"/>
            <a:ext cx="3474509" cy="1484170"/>
            <a:chOff x="0" y="-38100"/>
            <a:chExt cx="914818" cy="390773"/>
          </a:xfrm>
        </p:grpSpPr>
        <p:sp>
          <p:nvSpPr>
            <p:cNvPr id="172" name="Google Shape;172;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EDC0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Máquina de Turing</a:t>
              </a:r>
              <a:endParaRPr/>
            </a:p>
          </p:txBody>
        </p:sp>
      </p:grpSp>
      <p:grpSp>
        <p:nvGrpSpPr>
          <p:cNvPr id="174" name="Google Shape;174;p6"/>
          <p:cNvGrpSpPr/>
          <p:nvPr/>
        </p:nvGrpSpPr>
        <p:grpSpPr>
          <a:xfrm>
            <a:off x="5443973" y="5798010"/>
            <a:ext cx="3474509" cy="1484170"/>
            <a:chOff x="0" y="-38100"/>
            <a:chExt cx="914818" cy="390773"/>
          </a:xfrm>
        </p:grpSpPr>
        <p:sp>
          <p:nvSpPr>
            <p:cNvPr id="175" name="Google Shape;175;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D5D8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Máquina de Turing Acotada</a:t>
              </a:r>
              <a:endParaRPr/>
            </a:p>
          </p:txBody>
        </p:sp>
      </p:grpSp>
      <p:grpSp>
        <p:nvGrpSpPr>
          <p:cNvPr id="177" name="Google Shape;177;p6"/>
          <p:cNvGrpSpPr/>
          <p:nvPr/>
        </p:nvGrpSpPr>
        <p:grpSpPr>
          <a:xfrm>
            <a:off x="9356632" y="5798010"/>
            <a:ext cx="3474509" cy="1484170"/>
            <a:chOff x="0" y="-38100"/>
            <a:chExt cx="914818" cy="390773"/>
          </a:xfrm>
        </p:grpSpPr>
        <p:sp>
          <p:nvSpPr>
            <p:cNvPr id="178" name="Google Shape;178;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CFA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Autómata de Pila</a:t>
              </a:r>
              <a:endParaRPr/>
            </a:p>
          </p:txBody>
        </p:sp>
      </p:grpSp>
      <p:grpSp>
        <p:nvGrpSpPr>
          <p:cNvPr id="180" name="Google Shape;180;p6"/>
          <p:cNvGrpSpPr/>
          <p:nvPr/>
        </p:nvGrpSpPr>
        <p:grpSpPr>
          <a:xfrm>
            <a:off x="13181346" y="5798010"/>
            <a:ext cx="3474509" cy="1484170"/>
            <a:chOff x="0" y="-38100"/>
            <a:chExt cx="914818" cy="390773"/>
          </a:xfrm>
        </p:grpSpPr>
        <p:sp>
          <p:nvSpPr>
            <p:cNvPr id="181" name="Google Shape;181;p6"/>
            <p:cNvSpPr/>
            <p:nvPr/>
          </p:nvSpPr>
          <p:spPr>
            <a:xfrm>
              <a:off x="0" y="0"/>
              <a:ext cx="914818" cy="352673"/>
            </a:xfrm>
            <a:custGeom>
              <a:rect b="b" l="l" r="r" t="t"/>
              <a:pathLst>
                <a:path extrusionOk="0" h="352673" w="914818">
                  <a:moveTo>
                    <a:pt x="113638" y="0"/>
                  </a:moveTo>
                  <a:lnTo>
                    <a:pt x="801180" y="0"/>
                  </a:lnTo>
                  <a:cubicBezTo>
                    <a:pt x="831318" y="0"/>
                    <a:pt x="860223" y="11973"/>
                    <a:pt x="881534" y="33284"/>
                  </a:cubicBezTo>
                  <a:cubicBezTo>
                    <a:pt x="902845" y="54595"/>
                    <a:pt x="914818" y="83500"/>
                    <a:pt x="914818" y="113638"/>
                  </a:cubicBezTo>
                  <a:lnTo>
                    <a:pt x="914818" y="239035"/>
                  </a:lnTo>
                  <a:cubicBezTo>
                    <a:pt x="914818" y="301796"/>
                    <a:pt x="863940" y="352673"/>
                    <a:pt x="801180" y="352673"/>
                  </a:cubicBezTo>
                  <a:lnTo>
                    <a:pt x="113638" y="352673"/>
                  </a:lnTo>
                  <a:cubicBezTo>
                    <a:pt x="83500" y="352673"/>
                    <a:pt x="54595" y="340701"/>
                    <a:pt x="33284" y="319390"/>
                  </a:cubicBezTo>
                  <a:cubicBezTo>
                    <a:pt x="11973" y="298078"/>
                    <a:pt x="0" y="269174"/>
                    <a:pt x="0" y="239035"/>
                  </a:cubicBezTo>
                  <a:lnTo>
                    <a:pt x="0" y="113638"/>
                  </a:lnTo>
                  <a:cubicBezTo>
                    <a:pt x="0" y="83500"/>
                    <a:pt x="11973" y="54595"/>
                    <a:pt x="33284" y="33284"/>
                  </a:cubicBezTo>
                  <a:cubicBezTo>
                    <a:pt x="54595" y="11973"/>
                    <a:pt x="83500" y="0"/>
                    <a:pt x="113638" y="0"/>
                  </a:cubicBezTo>
                  <a:close/>
                </a:path>
              </a:pathLst>
            </a:custGeom>
            <a:solidFill>
              <a:srgbClr val="B6C9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txBox="1"/>
            <p:nvPr/>
          </p:nvSpPr>
          <p:spPr>
            <a:xfrm>
              <a:off x="0" y="-38100"/>
              <a:ext cx="914818" cy="390773"/>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AFD, AFND ó Regex</a:t>
              </a:r>
              <a:endParaRPr/>
            </a:p>
          </p:txBody>
        </p:sp>
      </p:grpSp>
      <p:grpSp>
        <p:nvGrpSpPr>
          <p:cNvPr id="183" name="Google Shape;183;p6"/>
          <p:cNvGrpSpPr/>
          <p:nvPr/>
        </p:nvGrpSpPr>
        <p:grpSpPr>
          <a:xfrm>
            <a:off x="1542358" y="7374542"/>
            <a:ext cx="3474509" cy="1549143"/>
            <a:chOff x="0" y="-38100"/>
            <a:chExt cx="914818" cy="407881"/>
          </a:xfrm>
        </p:grpSpPr>
        <p:sp>
          <p:nvSpPr>
            <p:cNvPr id="184" name="Google Shape;184;p6"/>
            <p:cNvSpPr/>
            <p:nvPr/>
          </p:nvSpPr>
          <p:spPr>
            <a:xfrm>
              <a:off x="0" y="0"/>
              <a:ext cx="914818" cy="369781"/>
            </a:xfrm>
            <a:custGeom>
              <a:rect b="b" l="l" r="r" t="t"/>
              <a:pathLst>
                <a:path extrusionOk="0" h="369781" w="914818">
                  <a:moveTo>
                    <a:pt x="113638" y="0"/>
                  </a:moveTo>
                  <a:lnTo>
                    <a:pt x="801180" y="0"/>
                  </a:lnTo>
                  <a:cubicBezTo>
                    <a:pt x="831318" y="0"/>
                    <a:pt x="860223" y="11973"/>
                    <a:pt x="881534" y="33284"/>
                  </a:cubicBezTo>
                  <a:cubicBezTo>
                    <a:pt x="902845" y="54595"/>
                    <a:pt x="914818" y="83500"/>
                    <a:pt x="914818" y="113638"/>
                  </a:cubicBezTo>
                  <a:lnTo>
                    <a:pt x="914818" y="256142"/>
                  </a:lnTo>
                  <a:cubicBezTo>
                    <a:pt x="914818" y="318903"/>
                    <a:pt x="863940" y="369781"/>
                    <a:pt x="801180" y="369781"/>
                  </a:cubicBezTo>
                  <a:lnTo>
                    <a:pt x="113638" y="369781"/>
                  </a:lnTo>
                  <a:cubicBezTo>
                    <a:pt x="83500" y="369781"/>
                    <a:pt x="54595" y="357808"/>
                    <a:pt x="33284" y="336497"/>
                  </a:cubicBezTo>
                  <a:cubicBezTo>
                    <a:pt x="11973" y="315185"/>
                    <a:pt x="0" y="286281"/>
                    <a:pt x="0" y="256142"/>
                  </a:cubicBezTo>
                  <a:lnTo>
                    <a:pt x="0" y="113638"/>
                  </a:lnTo>
                  <a:cubicBezTo>
                    <a:pt x="0" y="83500"/>
                    <a:pt x="11973" y="54595"/>
                    <a:pt x="33284" y="33284"/>
                  </a:cubicBezTo>
                  <a:cubicBezTo>
                    <a:pt x="54595" y="11973"/>
                    <a:pt x="83500" y="0"/>
                    <a:pt x="113638" y="0"/>
                  </a:cubicBezTo>
                  <a:close/>
                </a:path>
              </a:pathLst>
            </a:custGeom>
            <a:solidFill>
              <a:srgbClr val="EDC0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txBox="1"/>
            <p:nvPr/>
          </p:nvSpPr>
          <p:spPr>
            <a:xfrm>
              <a:off x="0" y="-38100"/>
              <a:ext cx="914818" cy="407881"/>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Sin Restricción</a:t>
              </a:r>
              <a:endParaRPr/>
            </a:p>
          </p:txBody>
        </p:sp>
      </p:grpSp>
      <p:grpSp>
        <p:nvGrpSpPr>
          <p:cNvPr id="186" name="Google Shape;186;p6"/>
          <p:cNvGrpSpPr/>
          <p:nvPr/>
        </p:nvGrpSpPr>
        <p:grpSpPr>
          <a:xfrm>
            <a:off x="5445309" y="7318450"/>
            <a:ext cx="3474509" cy="1605235"/>
            <a:chOff x="0" y="-38100"/>
            <a:chExt cx="914818" cy="422649"/>
          </a:xfrm>
        </p:grpSpPr>
        <p:sp>
          <p:nvSpPr>
            <p:cNvPr id="187" name="Google Shape;187;p6"/>
            <p:cNvSpPr/>
            <p:nvPr/>
          </p:nvSpPr>
          <p:spPr>
            <a:xfrm>
              <a:off x="0" y="0"/>
              <a:ext cx="914818" cy="384549"/>
            </a:xfrm>
            <a:custGeom>
              <a:rect b="b" l="l" r="r" t="t"/>
              <a:pathLst>
                <a:path extrusionOk="0" h="384549" w="914818">
                  <a:moveTo>
                    <a:pt x="113638" y="0"/>
                  </a:moveTo>
                  <a:lnTo>
                    <a:pt x="801180" y="0"/>
                  </a:lnTo>
                  <a:cubicBezTo>
                    <a:pt x="831318" y="0"/>
                    <a:pt x="860223" y="11973"/>
                    <a:pt x="881534" y="33284"/>
                  </a:cubicBezTo>
                  <a:cubicBezTo>
                    <a:pt x="902845" y="54595"/>
                    <a:pt x="914818" y="83500"/>
                    <a:pt x="914818" y="113638"/>
                  </a:cubicBezTo>
                  <a:lnTo>
                    <a:pt x="914818" y="270911"/>
                  </a:lnTo>
                  <a:cubicBezTo>
                    <a:pt x="914818" y="301049"/>
                    <a:pt x="902845" y="329954"/>
                    <a:pt x="881534" y="351265"/>
                  </a:cubicBezTo>
                  <a:cubicBezTo>
                    <a:pt x="860223" y="372576"/>
                    <a:pt x="831318" y="384549"/>
                    <a:pt x="801180" y="384549"/>
                  </a:cubicBezTo>
                  <a:lnTo>
                    <a:pt x="113638" y="384549"/>
                  </a:lnTo>
                  <a:cubicBezTo>
                    <a:pt x="50878" y="384549"/>
                    <a:pt x="0" y="333671"/>
                    <a:pt x="0" y="270911"/>
                  </a:cubicBezTo>
                  <a:lnTo>
                    <a:pt x="0" y="113638"/>
                  </a:lnTo>
                  <a:cubicBezTo>
                    <a:pt x="0" y="83500"/>
                    <a:pt x="11973" y="54595"/>
                    <a:pt x="33284" y="33284"/>
                  </a:cubicBezTo>
                  <a:cubicBezTo>
                    <a:pt x="54595" y="11973"/>
                    <a:pt x="83500" y="0"/>
                    <a:pt x="113638" y="0"/>
                  </a:cubicBezTo>
                  <a:close/>
                </a:path>
              </a:pathLst>
            </a:custGeom>
            <a:solidFill>
              <a:srgbClr val="D5D8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txBox="1"/>
            <p:nvPr/>
          </p:nvSpPr>
          <p:spPr>
            <a:xfrm>
              <a:off x="0" y="-38100"/>
              <a:ext cx="914818" cy="422649"/>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Sensible al Contexto</a:t>
              </a:r>
              <a:endParaRPr/>
            </a:p>
          </p:txBody>
        </p:sp>
      </p:grpSp>
      <p:grpSp>
        <p:nvGrpSpPr>
          <p:cNvPr id="189" name="Google Shape;189;p6"/>
          <p:cNvGrpSpPr/>
          <p:nvPr/>
        </p:nvGrpSpPr>
        <p:grpSpPr>
          <a:xfrm>
            <a:off x="9371386" y="7318450"/>
            <a:ext cx="3474509" cy="1605235"/>
            <a:chOff x="0" y="-38100"/>
            <a:chExt cx="914818" cy="422649"/>
          </a:xfrm>
        </p:grpSpPr>
        <p:sp>
          <p:nvSpPr>
            <p:cNvPr id="190" name="Google Shape;190;p6"/>
            <p:cNvSpPr/>
            <p:nvPr/>
          </p:nvSpPr>
          <p:spPr>
            <a:xfrm>
              <a:off x="0" y="0"/>
              <a:ext cx="914818" cy="384549"/>
            </a:xfrm>
            <a:custGeom>
              <a:rect b="b" l="l" r="r" t="t"/>
              <a:pathLst>
                <a:path extrusionOk="0" h="384549" w="914818">
                  <a:moveTo>
                    <a:pt x="113638" y="0"/>
                  </a:moveTo>
                  <a:lnTo>
                    <a:pt x="801180" y="0"/>
                  </a:lnTo>
                  <a:cubicBezTo>
                    <a:pt x="831318" y="0"/>
                    <a:pt x="860223" y="11973"/>
                    <a:pt x="881534" y="33284"/>
                  </a:cubicBezTo>
                  <a:cubicBezTo>
                    <a:pt x="902845" y="54595"/>
                    <a:pt x="914818" y="83500"/>
                    <a:pt x="914818" y="113638"/>
                  </a:cubicBezTo>
                  <a:lnTo>
                    <a:pt x="914818" y="270911"/>
                  </a:lnTo>
                  <a:cubicBezTo>
                    <a:pt x="914818" y="301049"/>
                    <a:pt x="902845" y="329954"/>
                    <a:pt x="881534" y="351265"/>
                  </a:cubicBezTo>
                  <a:cubicBezTo>
                    <a:pt x="860223" y="372576"/>
                    <a:pt x="831318" y="384549"/>
                    <a:pt x="801180" y="384549"/>
                  </a:cubicBezTo>
                  <a:lnTo>
                    <a:pt x="113638" y="384549"/>
                  </a:lnTo>
                  <a:cubicBezTo>
                    <a:pt x="50878" y="384549"/>
                    <a:pt x="0" y="333671"/>
                    <a:pt x="0" y="270911"/>
                  </a:cubicBezTo>
                  <a:lnTo>
                    <a:pt x="0" y="113638"/>
                  </a:lnTo>
                  <a:cubicBezTo>
                    <a:pt x="0" y="83500"/>
                    <a:pt x="11973" y="54595"/>
                    <a:pt x="33284" y="33284"/>
                  </a:cubicBezTo>
                  <a:cubicBezTo>
                    <a:pt x="54595" y="11973"/>
                    <a:pt x="83500" y="0"/>
                    <a:pt x="113638" y="0"/>
                  </a:cubicBezTo>
                  <a:close/>
                </a:path>
              </a:pathLst>
            </a:custGeom>
            <a:solidFill>
              <a:srgbClr val="CFA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txBox="1"/>
            <p:nvPr/>
          </p:nvSpPr>
          <p:spPr>
            <a:xfrm>
              <a:off x="0" y="-38100"/>
              <a:ext cx="914818" cy="422649"/>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GramáticaLibre del Contexto</a:t>
              </a:r>
              <a:endParaRPr/>
            </a:p>
          </p:txBody>
        </p:sp>
      </p:grpSp>
      <p:grpSp>
        <p:nvGrpSpPr>
          <p:cNvPr id="192" name="Google Shape;192;p6"/>
          <p:cNvGrpSpPr/>
          <p:nvPr/>
        </p:nvGrpSpPr>
        <p:grpSpPr>
          <a:xfrm>
            <a:off x="13181346" y="7318450"/>
            <a:ext cx="3474509" cy="1605235"/>
            <a:chOff x="0" y="-38100"/>
            <a:chExt cx="914818" cy="422649"/>
          </a:xfrm>
        </p:grpSpPr>
        <p:sp>
          <p:nvSpPr>
            <p:cNvPr id="193" name="Google Shape;193;p6"/>
            <p:cNvSpPr/>
            <p:nvPr/>
          </p:nvSpPr>
          <p:spPr>
            <a:xfrm>
              <a:off x="0" y="0"/>
              <a:ext cx="914818" cy="384549"/>
            </a:xfrm>
            <a:custGeom>
              <a:rect b="b" l="l" r="r" t="t"/>
              <a:pathLst>
                <a:path extrusionOk="0" h="384549" w="914818">
                  <a:moveTo>
                    <a:pt x="113638" y="0"/>
                  </a:moveTo>
                  <a:lnTo>
                    <a:pt x="801180" y="0"/>
                  </a:lnTo>
                  <a:cubicBezTo>
                    <a:pt x="831318" y="0"/>
                    <a:pt x="860223" y="11973"/>
                    <a:pt x="881534" y="33284"/>
                  </a:cubicBezTo>
                  <a:cubicBezTo>
                    <a:pt x="902845" y="54595"/>
                    <a:pt x="914818" y="83500"/>
                    <a:pt x="914818" y="113638"/>
                  </a:cubicBezTo>
                  <a:lnTo>
                    <a:pt x="914818" y="270911"/>
                  </a:lnTo>
                  <a:cubicBezTo>
                    <a:pt x="914818" y="301049"/>
                    <a:pt x="902845" y="329954"/>
                    <a:pt x="881534" y="351265"/>
                  </a:cubicBezTo>
                  <a:cubicBezTo>
                    <a:pt x="860223" y="372576"/>
                    <a:pt x="831318" y="384549"/>
                    <a:pt x="801180" y="384549"/>
                  </a:cubicBezTo>
                  <a:lnTo>
                    <a:pt x="113638" y="384549"/>
                  </a:lnTo>
                  <a:cubicBezTo>
                    <a:pt x="50878" y="384549"/>
                    <a:pt x="0" y="333671"/>
                    <a:pt x="0" y="270911"/>
                  </a:cubicBezTo>
                  <a:lnTo>
                    <a:pt x="0" y="113638"/>
                  </a:lnTo>
                  <a:cubicBezTo>
                    <a:pt x="0" y="83500"/>
                    <a:pt x="11973" y="54595"/>
                    <a:pt x="33284" y="33284"/>
                  </a:cubicBezTo>
                  <a:cubicBezTo>
                    <a:pt x="54595" y="11973"/>
                    <a:pt x="83500" y="0"/>
                    <a:pt x="113638" y="0"/>
                  </a:cubicBezTo>
                  <a:close/>
                </a:path>
              </a:pathLst>
            </a:custGeom>
            <a:solidFill>
              <a:srgbClr val="B6C9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txBox="1"/>
            <p:nvPr/>
          </p:nvSpPr>
          <p:spPr>
            <a:xfrm>
              <a:off x="0" y="-38100"/>
              <a:ext cx="914818" cy="422649"/>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Gramática Regular</a:t>
              </a:r>
              <a:endParaRPr/>
            </a:p>
          </p:txBody>
        </p:sp>
      </p:grpSp>
      <p:grpSp>
        <p:nvGrpSpPr>
          <p:cNvPr id="195" name="Google Shape;195;p6"/>
          <p:cNvGrpSpPr/>
          <p:nvPr/>
        </p:nvGrpSpPr>
        <p:grpSpPr>
          <a:xfrm>
            <a:off x="9356632" y="8955982"/>
            <a:ext cx="3474509" cy="818879"/>
            <a:chOff x="0" y="-38100"/>
            <a:chExt cx="914818" cy="215606"/>
          </a:xfrm>
        </p:grpSpPr>
        <p:sp>
          <p:nvSpPr>
            <p:cNvPr id="196" name="Google Shape;196;p6"/>
            <p:cNvSpPr/>
            <p:nvPr/>
          </p:nvSpPr>
          <p:spPr>
            <a:xfrm>
              <a:off x="0" y="0"/>
              <a:ext cx="914818" cy="177506"/>
            </a:xfrm>
            <a:custGeom>
              <a:rect b="b" l="l" r="r" t="t"/>
              <a:pathLst>
                <a:path extrusionOk="0" h="177506" w="914818">
                  <a:moveTo>
                    <a:pt x="88753" y="0"/>
                  </a:moveTo>
                  <a:lnTo>
                    <a:pt x="826065" y="0"/>
                  </a:lnTo>
                  <a:cubicBezTo>
                    <a:pt x="849604" y="0"/>
                    <a:pt x="872179" y="9351"/>
                    <a:pt x="888823" y="25995"/>
                  </a:cubicBezTo>
                  <a:cubicBezTo>
                    <a:pt x="905467" y="42640"/>
                    <a:pt x="914818" y="65214"/>
                    <a:pt x="914818" y="88753"/>
                  </a:cubicBezTo>
                  <a:lnTo>
                    <a:pt x="914818" y="88753"/>
                  </a:lnTo>
                  <a:cubicBezTo>
                    <a:pt x="914818" y="137770"/>
                    <a:pt x="875082" y="177506"/>
                    <a:pt x="826065" y="177506"/>
                  </a:cubicBezTo>
                  <a:lnTo>
                    <a:pt x="88753" y="177506"/>
                  </a:lnTo>
                  <a:cubicBezTo>
                    <a:pt x="65214" y="177506"/>
                    <a:pt x="42640" y="168155"/>
                    <a:pt x="25995" y="151511"/>
                  </a:cubicBezTo>
                  <a:cubicBezTo>
                    <a:pt x="9351" y="134866"/>
                    <a:pt x="0" y="112292"/>
                    <a:pt x="0" y="88753"/>
                  </a:cubicBezTo>
                  <a:lnTo>
                    <a:pt x="0" y="88753"/>
                  </a:lnTo>
                  <a:cubicBezTo>
                    <a:pt x="0" y="65214"/>
                    <a:pt x="9351" y="42640"/>
                    <a:pt x="25995" y="25995"/>
                  </a:cubicBezTo>
                  <a:cubicBezTo>
                    <a:pt x="42640" y="9351"/>
                    <a:pt x="65214" y="0"/>
                    <a:pt x="88753" y="0"/>
                  </a:cubicBezTo>
                  <a:close/>
                </a:path>
              </a:pathLst>
            </a:custGeom>
            <a:solidFill>
              <a:srgbClr val="CFAA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txBox="1"/>
            <p:nvPr/>
          </p:nvSpPr>
          <p:spPr>
            <a:xfrm>
              <a:off x="0" y="-38100"/>
              <a:ext cx="914818" cy="215606"/>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Parser</a:t>
              </a:r>
              <a:endParaRPr/>
            </a:p>
          </p:txBody>
        </p:sp>
      </p:grpSp>
      <p:grpSp>
        <p:nvGrpSpPr>
          <p:cNvPr id="198" name="Google Shape;198;p6"/>
          <p:cNvGrpSpPr/>
          <p:nvPr/>
        </p:nvGrpSpPr>
        <p:grpSpPr>
          <a:xfrm>
            <a:off x="2563742" y="450023"/>
            <a:ext cx="13160517" cy="1278212"/>
            <a:chOff x="0" y="-85725"/>
            <a:chExt cx="3463756" cy="336416"/>
          </a:xfrm>
        </p:grpSpPr>
        <p:sp>
          <p:nvSpPr>
            <p:cNvPr id="199" name="Google Shape;199;p6"/>
            <p:cNvSpPr/>
            <p:nvPr/>
          </p:nvSpPr>
          <p:spPr>
            <a:xfrm>
              <a:off x="0" y="0"/>
              <a:ext cx="3463756" cy="250691"/>
            </a:xfrm>
            <a:custGeom>
              <a:rect b="b" l="l" r="r" t="t"/>
              <a:pathLst>
                <a:path extrusionOk="0" h="250691" w="3463756">
                  <a:moveTo>
                    <a:pt x="30002" y="0"/>
                  </a:moveTo>
                  <a:lnTo>
                    <a:pt x="3433754" y="0"/>
                  </a:lnTo>
                  <a:cubicBezTo>
                    <a:pt x="3441711" y="0"/>
                    <a:pt x="3449342" y="3161"/>
                    <a:pt x="3454969" y="8787"/>
                  </a:cubicBezTo>
                  <a:cubicBezTo>
                    <a:pt x="3460595" y="14414"/>
                    <a:pt x="3463756" y="22045"/>
                    <a:pt x="3463756" y="30002"/>
                  </a:cubicBezTo>
                  <a:lnTo>
                    <a:pt x="3463756" y="220690"/>
                  </a:lnTo>
                  <a:cubicBezTo>
                    <a:pt x="3463756" y="237259"/>
                    <a:pt x="3450324" y="250691"/>
                    <a:pt x="3433754" y="250691"/>
                  </a:cubicBezTo>
                  <a:lnTo>
                    <a:pt x="30002" y="250691"/>
                  </a:lnTo>
                  <a:cubicBezTo>
                    <a:pt x="22045" y="250691"/>
                    <a:pt x="14414" y="247530"/>
                    <a:pt x="8787" y="241904"/>
                  </a:cubicBezTo>
                  <a:cubicBezTo>
                    <a:pt x="3161" y="236278"/>
                    <a:pt x="0" y="228646"/>
                    <a:pt x="0" y="220690"/>
                  </a:cubicBezTo>
                  <a:lnTo>
                    <a:pt x="0" y="30002"/>
                  </a:lnTo>
                  <a:cubicBezTo>
                    <a:pt x="0" y="13432"/>
                    <a:pt x="13432" y="0"/>
                    <a:pt x="30002" y="0"/>
                  </a:cubicBezTo>
                  <a:close/>
                </a:path>
              </a:pathLst>
            </a:custGeom>
            <a:solidFill>
              <a:srgbClr val="F1F1F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txBox="1"/>
            <p:nvPr/>
          </p:nvSpPr>
          <p:spPr>
            <a:xfrm>
              <a:off x="0" y="-85725"/>
              <a:ext cx="3463756" cy="336416"/>
            </a:xfrm>
            <a:prstGeom prst="rect">
              <a:avLst/>
            </a:prstGeom>
            <a:noFill/>
            <a:ln>
              <a:noFill/>
            </a:ln>
          </p:spPr>
          <p:txBody>
            <a:bodyPr anchorCtr="0" anchor="ctr" bIns="50800" lIns="50800" spcFirstLastPara="1" rIns="50800" wrap="square" tIns="50800">
              <a:noAutofit/>
            </a:bodyPr>
            <a:lstStyle/>
            <a:p>
              <a:pPr indent="0" lvl="0" marL="0" marR="0" rtl="0" algn="ctr">
                <a:lnSpc>
                  <a:spcPct val="140009"/>
                </a:lnSpc>
                <a:spcBef>
                  <a:spcPts val="0"/>
                </a:spcBef>
                <a:spcAft>
                  <a:spcPts val="0"/>
                </a:spcAft>
                <a:buNone/>
              </a:pPr>
              <a:r>
                <a:rPr b="1" i="0" lang="en-US" sz="4199" u="none" cap="none" strike="noStrike">
                  <a:solidFill>
                    <a:srgbClr val="010204"/>
                  </a:solidFill>
                  <a:latin typeface="Arial"/>
                  <a:ea typeface="Arial"/>
                  <a:cs typeface="Arial"/>
                  <a:sym typeface="Arial"/>
                </a:rPr>
                <a:t>TIPOS DE LENGUAJES FORMALES</a:t>
              </a:r>
              <a:endParaRPr/>
            </a:p>
          </p:txBody>
        </p:sp>
      </p:grpSp>
      <p:grpSp>
        <p:nvGrpSpPr>
          <p:cNvPr id="201" name="Google Shape;201;p6"/>
          <p:cNvGrpSpPr/>
          <p:nvPr/>
        </p:nvGrpSpPr>
        <p:grpSpPr>
          <a:xfrm>
            <a:off x="13181346" y="8955982"/>
            <a:ext cx="3474509" cy="818879"/>
            <a:chOff x="0" y="-38100"/>
            <a:chExt cx="914818" cy="215606"/>
          </a:xfrm>
        </p:grpSpPr>
        <p:sp>
          <p:nvSpPr>
            <p:cNvPr id="202" name="Google Shape;202;p6"/>
            <p:cNvSpPr/>
            <p:nvPr/>
          </p:nvSpPr>
          <p:spPr>
            <a:xfrm>
              <a:off x="0" y="0"/>
              <a:ext cx="914818" cy="177506"/>
            </a:xfrm>
            <a:custGeom>
              <a:rect b="b" l="l" r="r" t="t"/>
              <a:pathLst>
                <a:path extrusionOk="0" h="177506" w="914818">
                  <a:moveTo>
                    <a:pt x="88753" y="0"/>
                  </a:moveTo>
                  <a:lnTo>
                    <a:pt x="826065" y="0"/>
                  </a:lnTo>
                  <a:cubicBezTo>
                    <a:pt x="849604" y="0"/>
                    <a:pt x="872179" y="9351"/>
                    <a:pt x="888823" y="25995"/>
                  </a:cubicBezTo>
                  <a:cubicBezTo>
                    <a:pt x="905467" y="42640"/>
                    <a:pt x="914818" y="65214"/>
                    <a:pt x="914818" y="88753"/>
                  </a:cubicBezTo>
                  <a:lnTo>
                    <a:pt x="914818" y="88753"/>
                  </a:lnTo>
                  <a:cubicBezTo>
                    <a:pt x="914818" y="137770"/>
                    <a:pt x="875082" y="177506"/>
                    <a:pt x="826065" y="177506"/>
                  </a:cubicBezTo>
                  <a:lnTo>
                    <a:pt x="88753" y="177506"/>
                  </a:lnTo>
                  <a:cubicBezTo>
                    <a:pt x="65214" y="177506"/>
                    <a:pt x="42640" y="168155"/>
                    <a:pt x="25995" y="151511"/>
                  </a:cubicBezTo>
                  <a:cubicBezTo>
                    <a:pt x="9351" y="134866"/>
                    <a:pt x="0" y="112292"/>
                    <a:pt x="0" y="88753"/>
                  </a:cubicBezTo>
                  <a:lnTo>
                    <a:pt x="0" y="88753"/>
                  </a:lnTo>
                  <a:cubicBezTo>
                    <a:pt x="0" y="65214"/>
                    <a:pt x="9351" y="42640"/>
                    <a:pt x="25995" y="25995"/>
                  </a:cubicBezTo>
                  <a:cubicBezTo>
                    <a:pt x="42640" y="9351"/>
                    <a:pt x="65214" y="0"/>
                    <a:pt x="88753" y="0"/>
                  </a:cubicBezTo>
                  <a:close/>
                </a:path>
              </a:pathLst>
            </a:custGeom>
            <a:solidFill>
              <a:srgbClr val="B6C9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txBox="1"/>
            <p:nvPr/>
          </p:nvSpPr>
          <p:spPr>
            <a:xfrm>
              <a:off x="0" y="-38100"/>
              <a:ext cx="914818" cy="215606"/>
            </a:xfrm>
            <a:prstGeom prst="rect">
              <a:avLst/>
            </a:prstGeom>
            <a:noFill/>
            <a:ln>
              <a:noFill/>
            </a:ln>
          </p:spPr>
          <p:txBody>
            <a:bodyPr anchorCtr="0" anchor="ctr" bIns="50800" lIns="50800" spcFirstLastPara="1" rIns="50800" wrap="square" tIns="50800">
              <a:noAutofit/>
            </a:bodyPr>
            <a:lstStyle/>
            <a:p>
              <a:pPr indent="0" lvl="0" marL="0" marR="0" rtl="0" algn="ctr">
                <a:lnSpc>
                  <a:spcPct val="140018"/>
                </a:lnSpc>
                <a:spcBef>
                  <a:spcPts val="0"/>
                </a:spcBef>
                <a:spcAft>
                  <a:spcPts val="0"/>
                </a:spcAft>
                <a:buNone/>
              </a:pPr>
              <a:r>
                <a:rPr b="0" i="0" lang="en-US" sz="2199" u="none" cap="none" strike="noStrike">
                  <a:solidFill>
                    <a:srgbClr val="010204"/>
                  </a:solidFill>
                  <a:latin typeface="Arial"/>
                  <a:ea typeface="Arial"/>
                  <a:cs typeface="Arial"/>
                  <a:sym typeface="Arial"/>
                </a:rPr>
                <a:t>Scanner ó Lexer</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7"/>
          <p:cNvSpPr txBox="1"/>
          <p:nvPr/>
        </p:nvSpPr>
        <p:spPr>
          <a:xfrm>
            <a:off x="1904222" y="1557983"/>
            <a:ext cx="11630208" cy="9207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5000" u="none" cap="none" strike="noStrike">
                <a:solidFill>
                  <a:srgbClr val="152540"/>
                </a:solidFill>
                <a:latin typeface="Arial"/>
                <a:ea typeface="Arial"/>
                <a:cs typeface="Arial"/>
                <a:sym typeface="Arial"/>
              </a:rPr>
              <a:t>LENGUAJES DE</a:t>
            </a:r>
            <a:endParaRPr/>
          </a:p>
        </p:txBody>
      </p:sp>
      <p:sp>
        <p:nvSpPr>
          <p:cNvPr id="209" name="Google Shape;209;p7"/>
          <p:cNvSpPr txBox="1"/>
          <p:nvPr/>
        </p:nvSpPr>
        <p:spPr>
          <a:xfrm>
            <a:off x="1904222" y="3373780"/>
            <a:ext cx="14701023" cy="46864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Un lenguaje de programación es un conjunto de reglas que permiten a los desarrolladores comunicar instrucciones a las computadoras. Los lenguajes de programación son diseñados para ser concisos, fáciles de leer y fáciles de entender por las computadoras y para los humanos.</a:t>
            </a:r>
            <a:endParaRPr/>
          </a:p>
          <a:p>
            <a:pPr indent="0" lvl="0" marL="0" marR="0" rtl="0" algn="just">
              <a:lnSpc>
                <a:spcPct val="140013"/>
              </a:lnSpc>
              <a:spcBef>
                <a:spcPts val="0"/>
              </a:spcBef>
              <a:spcAft>
                <a:spcPts val="0"/>
              </a:spcAft>
              <a:buNone/>
            </a:pPr>
            <a:r>
              <a:t/>
            </a:r>
            <a:endParaRPr b="0" i="0" sz="2994" u="none" cap="none" strike="noStrike">
              <a:solidFill>
                <a:srgbClr val="152540"/>
              </a:solidFill>
              <a:latin typeface="Arial"/>
              <a:ea typeface="Arial"/>
              <a:cs typeface="Arial"/>
              <a:sym typeface="Arial"/>
            </a:endParaRPr>
          </a:p>
          <a:p>
            <a:pPr indent="0" lvl="0" marL="0" marR="0" rtl="0" algn="just">
              <a:lnSpc>
                <a:spcPct val="140013"/>
              </a:lnSpc>
              <a:spcBef>
                <a:spcPts val="0"/>
              </a:spcBef>
              <a:spcAft>
                <a:spcPts val="0"/>
              </a:spcAft>
              <a:buNone/>
            </a:pPr>
            <a:r>
              <a:rPr b="0" i="0" lang="en-US" sz="2994" u="none" cap="none" strike="noStrike">
                <a:solidFill>
                  <a:srgbClr val="152540"/>
                </a:solidFill>
                <a:latin typeface="Arial"/>
                <a:ea typeface="Arial"/>
                <a:cs typeface="Arial"/>
                <a:sym typeface="Arial"/>
              </a:rPr>
              <a:t>Los lenguajes de programación se utilizan para crear software mediante la escritura de algoritmos e instrucciones, que son programas informáticos que realizan tareas específicas, permitiendo la creación de software y sistemas computacionales.</a:t>
            </a:r>
            <a:endParaRPr/>
          </a:p>
        </p:txBody>
      </p:sp>
      <p:sp>
        <p:nvSpPr>
          <p:cNvPr id="210" name="Google Shape;210;p7"/>
          <p:cNvSpPr txBox="1"/>
          <p:nvPr/>
        </p:nvSpPr>
        <p:spPr>
          <a:xfrm>
            <a:off x="1904222" y="2454395"/>
            <a:ext cx="9175638" cy="819150"/>
          </a:xfrm>
          <a:prstGeom prst="rect">
            <a:avLst/>
          </a:prstGeom>
          <a:noFill/>
          <a:ln>
            <a:noFill/>
          </a:ln>
        </p:spPr>
        <p:txBody>
          <a:bodyPr anchorCtr="0" anchor="t" bIns="0" lIns="0" spcFirstLastPara="1" rIns="0" wrap="square" tIns="0">
            <a:spAutoFit/>
          </a:bodyPr>
          <a:lstStyle/>
          <a:p>
            <a:pPr indent="0" lvl="0" marL="0" marR="0" rtl="0" algn="l">
              <a:lnSpc>
                <a:spcPct val="139977"/>
              </a:lnSpc>
              <a:spcBef>
                <a:spcPts val="0"/>
              </a:spcBef>
              <a:spcAft>
                <a:spcPts val="0"/>
              </a:spcAft>
              <a:buNone/>
            </a:pPr>
            <a:r>
              <a:rPr b="0" i="0" lang="en-US" sz="4500" u="none" cap="none" strike="noStrike">
                <a:solidFill>
                  <a:srgbClr val="152540"/>
                </a:solidFill>
                <a:latin typeface="Arial"/>
                <a:ea typeface="Arial"/>
                <a:cs typeface="Arial"/>
                <a:sym typeface="Arial"/>
              </a:rPr>
              <a:t>PROGRAMACIÓN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pSp>
        <p:nvGrpSpPr>
          <p:cNvPr id="215" name="Google Shape;215;p8"/>
          <p:cNvGrpSpPr/>
          <p:nvPr/>
        </p:nvGrpSpPr>
        <p:grpSpPr>
          <a:xfrm>
            <a:off x="2689825" y="5592964"/>
            <a:ext cx="1638210" cy="617869"/>
            <a:chOff x="0" y="-19050"/>
            <a:chExt cx="1370946" cy="517067"/>
          </a:xfrm>
        </p:grpSpPr>
        <p:sp>
          <p:nvSpPr>
            <p:cNvPr id="216" name="Google Shape;216;p8"/>
            <p:cNvSpPr/>
            <p:nvPr/>
          </p:nvSpPr>
          <p:spPr>
            <a:xfrm>
              <a:off x="0" y="0"/>
              <a:ext cx="1370946" cy="498017"/>
            </a:xfrm>
            <a:custGeom>
              <a:rect b="b" l="l" r="r" t="t"/>
              <a:pathLst>
                <a:path extrusionOk="0" h="498017" w="1370946">
                  <a:moveTo>
                    <a:pt x="1167746" y="0"/>
                  </a:moveTo>
                  <a:lnTo>
                    <a:pt x="0" y="0"/>
                  </a:lnTo>
                  <a:lnTo>
                    <a:pt x="0" y="498017"/>
                  </a:lnTo>
                  <a:lnTo>
                    <a:pt x="1167746" y="498017"/>
                  </a:lnTo>
                  <a:lnTo>
                    <a:pt x="1370946" y="249008"/>
                  </a:lnTo>
                  <a:lnTo>
                    <a:pt x="1167746" y="0"/>
                  </a:lnTo>
                  <a:close/>
                </a:path>
              </a:pathLst>
            </a:custGeom>
            <a:solidFill>
              <a:srgbClr val="CED5E6"/>
            </a:solidFill>
            <a:ln>
              <a:noFill/>
            </a:ln>
          </p:spPr>
        </p:sp>
        <p:sp>
          <p:nvSpPr>
            <p:cNvPr id="217" name="Google Shape;217;p8"/>
            <p:cNvSpPr txBox="1"/>
            <p:nvPr/>
          </p:nvSpPr>
          <p:spPr>
            <a:xfrm>
              <a:off x="0" y="-19050"/>
              <a:ext cx="1256646"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1950s</a:t>
              </a:r>
              <a:endParaRPr/>
            </a:p>
          </p:txBody>
        </p:sp>
      </p:grpSp>
      <p:grpSp>
        <p:nvGrpSpPr>
          <p:cNvPr id="218" name="Google Shape;218;p8"/>
          <p:cNvGrpSpPr/>
          <p:nvPr/>
        </p:nvGrpSpPr>
        <p:grpSpPr>
          <a:xfrm>
            <a:off x="4183520" y="5592964"/>
            <a:ext cx="1722280" cy="617869"/>
            <a:chOff x="0" y="-19050"/>
            <a:chExt cx="1441300" cy="517067"/>
          </a:xfrm>
        </p:grpSpPr>
        <p:sp>
          <p:nvSpPr>
            <p:cNvPr id="219" name="Google Shape;219;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979BFF"/>
            </a:solidFill>
            <a:ln>
              <a:noFill/>
            </a:ln>
          </p:spPr>
        </p:sp>
        <p:sp>
          <p:nvSpPr>
            <p:cNvPr id="220" name="Google Shape;220;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1960s</a:t>
              </a:r>
              <a:endParaRPr/>
            </a:p>
          </p:txBody>
        </p:sp>
      </p:grpSp>
      <p:grpSp>
        <p:nvGrpSpPr>
          <p:cNvPr id="221" name="Google Shape;221;p8"/>
          <p:cNvGrpSpPr/>
          <p:nvPr/>
        </p:nvGrpSpPr>
        <p:grpSpPr>
          <a:xfrm>
            <a:off x="5761285" y="5592964"/>
            <a:ext cx="1722280" cy="617869"/>
            <a:chOff x="0" y="-19050"/>
            <a:chExt cx="1441300" cy="517067"/>
          </a:xfrm>
        </p:grpSpPr>
        <p:sp>
          <p:nvSpPr>
            <p:cNvPr id="222" name="Google Shape;222;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89E2E8"/>
            </a:solidFill>
            <a:ln>
              <a:noFill/>
            </a:ln>
          </p:spPr>
        </p:sp>
        <p:sp>
          <p:nvSpPr>
            <p:cNvPr id="223" name="Google Shape;223;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1970s</a:t>
              </a:r>
              <a:endParaRPr/>
            </a:p>
          </p:txBody>
        </p:sp>
      </p:grpSp>
      <p:grpSp>
        <p:nvGrpSpPr>
          <p:cNvPr id="224" name="Google Shape;224;p8"/>
          <p:cNvGrpSpPr/>
          <p:nvPr/>
        </p:nvGrpSpPr>
        <p:grpSpPr>
          <a:xfrm>
            <a:off x="7339050" y="5592964"/>
            <a:ext cx="1722280" cy="617869"/>
            <a:chOff x="0" y="-19050"/>
            <a:chExt cx="1441300" cy="517067"/>
          </a:xfrm>
        </p:grpSpPr>
        <p:sp>
          <p:nvSpPr>
            <p:cNvPr id="225" name="Google Shape;225;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ADE466"/>
            </a:solidFill>
            <a:ln>
              <a:noFill/>
            </a:ln>
          </p:spPr>
        </p:sp>
        <p:sp>
          <p:nvSpPr>
            <p:cNvPr id="226" name="Google Shape;226;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1980s</a:t>
              </a:r>
              <a:endParaRPr/>
            </a:p>
          </p:txBody>
        </p:sp>
      </p:grpSp>
      <p:grpSp>
        <p:nvGrpSpPr>
          <p:cNvPr id="227" name="Google Shape;227;p8"/>
          <p:cNvGrpSpPr/>
          <p:nvPr/>
        </p:nvGrpSpPr>
        <p:grpSpPr>
          <a:xfrm>
            <a:off x="8916815" y="5592964"/>
            <a:ext cx="1722280" cy="617869"/>
            <a:chOff x="0" y="-19050"/>
            <a:chExt cx="1441300" cy="517067"/>
          </a:xfrm>
        </p:grpSpPr>
        <p:sp>
          <p:nvSpPr>
            <p:cNvPr id="228" name="Google Shape;228;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E8E252"/>
            </a:solidFill>
            <a:ln>
              <a:noFill/>
            </a:ln>
          </p:spPr>
        </p:sp>
        <p:sp>
          <p:nvSpPr>
            <p:cNvPr id="229" name="Google Shape;229;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1990s</a:t>
              </a:r>
              <a:endParaRPr/>
            </a:p>
          </p:txBody>
        </p:sp>
      </p:grpSp>
      <p:grpSp>
        <p:nvGrpSpPr>
          <p:cNvPr id="230" name="Google Shape;230;p8"/>
          <p:cNvGrpSpPr/>
          <p:nvPr/>
        </p:nvGrpSpPr>
        <p:grpSpPr>
          <a:xfrm>
            <a:off x="10494580" y="5592964"/>
            <a:ext cx="1722280" cy="617869"/>
            <a:chOff x="0" y="-19050"/>
            <a:chExt cx="1441300" cy="517067"/>
          </a:xfrm>
        </p:grpSpPr>
        <p:sp>
          <p:nvSpPr>
            <p:cNvPr id="231" name="Google Shape;231;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FFD308"/>
            </a:solidFill>
            <a:ln>
              <a:noFill/>
            </a:ln>
          </p:spPr>
        </p:sp>
        <p:sp>
          <p:nvSpPr>
            <p:cNvPr id="232" name="Google Shape;232;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2000s</a:t>
              </a:r>
              <a:endParaRPr/>
            </a:p>
          </p:txBody>
        </p:sp>
      </p:grpSp>
      <p:grpSp>
        <p:nvGrpSpPr>
          <p:cNvPr id="233" name="Google Shape;233;p8"/>
          <p:cNvGrpSpPr/>
          <p:nvPr/>
        </p:nvGrpSpPr>
        <p:grpSpPr>
          <a:xfrm>
            <a:off x="12072345" y="5592964"/>
            <a:ext cx="1722280" cy="617869"/>
            <a:chOff x="0" y="-19050"/>
            <a:chExt cx="1441300" cy="517067"/>
          </a:xfrm>
        </p:grpSpPr>
        <p:sp>
          <p:nvSpPr>
            <p:cNvPr id="234" name="Google Shape;234;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FFA678"/>
            </a:solidFill>
            <a:ln>
              <a:noFill/>
            </a:ln>
          </p:spPr>
        </p:sp>
        <p:sp>
          <p:nvSpPr>
            <p:cNvPr id="235" name="Google Shape;235;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2010s</a:t>
              </a:r>
              <a:endParaRPr/>
            </a:p>
          </p:txBody>
        </p:sp>
      </p:grpSp>
      <p:grpSp>
        <p:nvGrpSpPr>
          <p:cNvPr id="236" name="Google Shape;236;p8"/>
          <p:cNvGrpSpPr/>
          <p:nvPr/>
        </p:nvGrpSpPr>
        <p:grpSpPr>
          <a:xfrm>
            <a:off x="13650110" y="5592964"/>
            <a:ext cx="1722280" cy="617869"/>
            <a:chOff x="0" y="-19050"/>
            <a:chExt cx="1441300" cy="517067"/>
          </a:xfrm>
        </p:grpSpPr>
        <p:sp>
          <p:nvSpPr>
            <p:cNvPr id="237" name="Google Shape;237;p8"/>
            <p:cNvSpPr/>
            <p:nvPr/>
          </p:nvSpPr>
          <p:spPr>
            <a:xfrm>
              <a:off x="0" y="0"/>
              <a:ext cx="1441300" cy="498017"/>
            </a:xfrm>
            <a:custGeom>
              <a:rect b="b" l="l" r="r" t="t"/>
              <a:pathLst>
                <a:path extrusionOk="0" h="498017" w="1441300">
                  <a:moveTo>
                    <a:pt x="0" y="0"/>
                  </a:moveTo>
                  <a:lnTo>
                    <a:pt x="1238100" y="0"/>
                  </a:lnTo>
                  <a:lnTo>
                    <a:pt x="1441300" y="249008"/>
                  </a:lnTo>
                  <a:lnTo>
                    <a:pt x="1238100" y="498017"/>
                  </a:lnTo>
                  <a:lnTo>
                    <a:pt x="0" y="498017"/>
                  </a:lnTo>
                  <a:lnTo>
                    <a:pt x="203200" y="249008"/>
                  </a:lnTo>
                  <a:lnTo>
                    <a:pt x="0" y="0"/>
                  </a:lnTo>
                  <a:close/>
                </a:path>
              </a:pathLst>
            </a:custGeom>
            <a:solidFill>
              <a:srgbClr val="FFBEC4"/>
            </a:solidFill>
            <a:ln>
              <a:noFill/>
            </a:ln>
          </p:spPr>
        </p:sp>
        <p:sp>
          <p:nvSpPr>
            <p:cNvPr id="238" name="Google Shape;238;p8"/>
            <p:cNvSpPr txBox="1"/>
            <p:nvPr/>
          </p:nvSpPr>
          <p:spPr>
            <a:xfrm>
              <a:off x="177800" y="-19050"/>
              <a:ext cx="1187300" cy="517067"/>
            </a:xfrm>
            <a:prstGeom prst="rect">
              <a:avLst/>
            </a:prstGeom>
            <a:noFill/>
            <a:ln>
              <a:noFill/>
            </a:ln>
          </p:spPr>
          <p:txBody>
            <a:bodyPr anchorCtr="0" anchor="ctr" bIns="50800" lIns="50800" spcFirstLastPara="1" rIns="50800" wrap="square" tIns="50800">
              <a:noAutofit/>
            </a:bodyPr>
            <a:lstStyle/>
            <a:p>
              <a:pPr indent="0" lvl="0" marL="0" marR="0" rtl="0" algn="ctr">
                <a:lnSpc>
                  <a:spcPct val="140025"/>
                </a:lnSpc>
                <a:spcBef>
                  <a:spcPts val="0"/>
                </a:spcBef>
                <a:spcAft>
                  <a:spcPts val="0"/>
                </a:spcAft>
                <a:buNone/>
              </a:pPr>
              <a:r>
                <a:rPr b="1" i="0" lang="en-US" sz="1599" u="none" cap="none" strike="noStrike">
                  <a:solidFill>
                    <a:srgbClr val="000000"/>
                  </a:solidFill>
                  <a:latin typeface="Arial"/>
                  <a:ea typeface="Arial"/>
                  <a:cs typeface="Arial"/>
                  <a:sym typeface="Arial"/>
                </a:rPr>
                <a:t>2020s</a:t>
              </a:r>
              <a:endParaRPr/>
            </a:p>
          </p:txBody>
        </p:sp>
      </p:grpSp>
      <p:cxnSp>
        <p:nvCxnSpPr>
          <p:cNvPr id="239" name="Google Shape;239;p8"/>
          <p:cNvCxnSpPr/>
          <p:nvPr/>
        </p:nvCxnSpPr>
        <p:spPr>
          <a:xfrm rot="10800000">
            <a:off x="3537027" y="4288966"/>
            <a:ext cx="0" cy="927781"/>
          </a:xfrm>
          <a:prstGeom prst="straightConnector1">
            <a:avLst/>
          </a:prstGeom>
          <a:noFill/>
          <a:ln cap="flat" cmpd="sng" w="38100">
            <a:solidFill>
              <a:srgbClr val="818DAB"/>
            </a:solidFill>
            <a:prstDash val="solid"/>
            <a:round/>
            <a:headEnd len="sm" w="sm" type="none"/>
            <a:tailEnd len="lg" w="lg" type="oval"/>
          </a:ln>
        </p:spPr>
      </p:cxnSp>
      <p:sp>
        <p:nvSpPr>
          <p:cNvPr id="240" name="Google Shape;240;p8"/>
          <p:cNvSpPr txBox="1"/>
          <p:nvPr/>
        </p:nvSpPr>
        <p:spPr>
          <a:xfrm>
            <a:off x="2315345" y="2790473"/>
            <a:ext cx="2476500"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FORTRAN</a:t>
            </a:r>
            <a:r>
              <a:rPr b="0" i="0" lang="en-US" sz="1200" u="none" cap="none" strike="noStrike">
                <a:solidFill>
                  <a:srgbClr val="000000"/>
                </a:solidFill>
                <a:latin typeface="Arial"/>
                <a:ea typeface="Arial"/>
                <a:cs typeface="Arial"/>
                <a:sym typeface="Arial"/>
              </a:rPr>
              <a:t>: Primer lenguaje de alto nivel, diseñado para cálculos científicos.</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COBOL</a:t>
            </a:r>
            <a:r>
              <a:rPr b="0" i="0" lang="en-US" sz="1200" u="none" cap="none" strike="noStrike">
                <a:solidFill>
                  <a:srgbClr val="000000"/>
                </a:solidFill>
                <a:latin typeface="Arial"/>
                <a:ea typeface="Arial"/>
                <a:cs typeface="Arial"/>
                <a:sym typeface="Arial"/>
              </a:rPr>
              <a:t>: Creado para aplicaciones empresariales y financieras.</a:t>
            </a:r>
            <a:endParaRPr/>
          </a:p>
        </p:txBody>
      </p:sp>
      <p:sp>
        <p:nvSpPr>
          <p:cNvPr id="241" name="Google Shape;241;p8"/>
          <p:cNvSpPr txBox="1"/>
          <p:nvPr/>
        </p:nvSpPr>
        <p:spPr>
          <a:xfrm>
            <a:off x="2282209" y="1804260"/>
            <a:ext cx="2509636" cy="9045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None/>
            </a:pPr>
            <a:r>
              <a:rPr b="1" i="0" lang="en-US" sz="1911" u="none" cap="none" strike="noStrike">
                <a:solidFill>
                  <a:srgbClr val="818DAB"/>
                </a:solidFill>
                <a:latin typeface="Arial"/>
                <a:ea typeface="Arial"/>
                <a:cs typeface="Arial"/>
                <a:sym typeface="Arial"/>
              </a:rPr>
              <a:t>El nacimiento de los lenguajes de programación</a:t>
            </a:r>
            <a:endParaRPr/>
          </a:p>
        </p:txBody>
      </p:sp>
      <p:cxnSp>
        <p:nvCxnSpPr>
          <p:cNvPr id="242" name="Google Shape;242;p8"/>
          <p:cNvCxnSpPr/>
          <p:nvPr/>
        </p:nvCxnSpPr>
        <p:spPr>
          <a:xfrm rot="10800000">
            <a:off x="6667621" y="4288966"/>
            <a:ext cx="0" cy="927781"/>
          </a:xfrm>
          <a:prstGeom prst="straightConnector1">
            <a:avLst/>
          </a:prstGeom>
          <a:noFill/>
          <a:ln cap="flat" cmpd="sng" w="38100">
            <a:solidFill>
              <a:srgbClr val="00C2CB"/>
            </a:solidFill>
            <a:prstDash val="solid"/>
            <a:round/>
            <a:headEnd len="sm" w="sm" type="none"/>
            <a:tailEnd len="lg" w="lg" type="oval"/>
          </a:ln>
        </p:spPr>
      </p:cxnSp>
      <p:sp>
        <p:nvSpPr>
          <p:cNvPr id="243" name="Google Shape;243;p8"/>
          <p:cNvSpPr txBox="1"/>
          <p:nvPr/>
        </p:nvSpPr>
        <p:spPr>
          <a:xfrm>
            <a:off x="5110608" y="2561836"/>
            <a:ext cx="3130594" cy="15975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Pascal</a:t>
            </a:r>
            <a:r>
              <a:rPr b="0" i="0" lang="en-US" sz="1200" u="none" cap="none" strike="noStrike">
                <a:solidFill>
                  <a:srgbClr val="000000"/>
                </a:solidFill>
                <a:latin typeface="Arial"/>
                <a:ea typeface="Arial"/>
                <a:cs typeface="Arial"/>
                <a:sym typeface="Arial"/>
              </a:rPr>
              <a:t>: Popular en educación y software estructurado.</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a:t>
            </a:r>
            <a:r>
              <a:rPr b="0" i="0" lang="en-US" sz="1200" u="none" cap="none" strike="noStrike">
                <a:solidFill>
                  <a:srgbClr val="000000"/>
                </a:solidFill>
                <a:latin typeface="Arial"/>
                <a:ea typeface="Arial"/>
                <a:cs typeface="Arial"/>
                <a:sym typeface="Arial"/>
              </a:rPr>
              <a:t>: Lenguaje fundamental para sistemas operativos (Unix) y aplicaciones.</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SQL</a:t>
            </a:r>
            <a:r>
              <a:rPr b="0" i="0" lang="en-US" sz="1200" u="none" cap="none" strike="noStrike">
                <a:solidFill>
                  <a:srgbClr val="000000"/>
                </a:solidFill>
                <a:latin typeface="Arial"/>
                <a:ea typeface="Arial"/>
                <a:cs typeface="Arial"/>
                <a:sym typeface="Arial"/>
              </a:rPr>
              <a:t>: Introducido para gestionar bases de datos relacionales.</a:t>
            </a:r>
            <a:endParaRPr/>
          </a:p>
        </p:txBody>
      </p:sp>
      <p:sp>
        <p:nvSpPr>
          <p:cNvPr id="244" name="Google Shape;244;p8"/>
          <p:cNvSpPr txBox="1"/>
          <p:nvPr/>
        </p:nvSpPr>
        <p:spPr>
          <a:xfrm>
            <a:off x="5412803" y="1823896"/>
            <a:ext cx="2509636" cy="613752"/>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None/>
            </a:pPr>
            <a:r>
              <a:rPr b="1" i="0" lang="en-US" sz="1911" u="none" cap="none" strike="noStrike">
                <a:solidFill>
                  <a:srgbClr val="03949B"/>
                </a:solidFill>
                <a:latin typeface="Montserrat"/>
                <a:ea typeface="Montserrat"/>
                <a:cs typeface="Montserrat"/>
                <a:sym typeface="Montserrat"/>
              </a:rPr>
              <a:t>La revolución del software</a:t>
            </a:r>
            <a:endParaRPr/>
          </a:p>
        </p:txBody>
      </p:sp>
      <p:cxnSp>
        <p:nvCxnSpPr>
          <p:cNvPr id="245" name="Google Shape;245;p8"/>
          <p:cNvCxnSpPr/>
          <p:nvPr/>
        </p:nvCxnSpPr>
        <p:spPr>
          <a:xfrm>
            <a:off x="14514551" y="6484804"/>
            <a:ext cx="0" cy="927781"/>
          </a:xfrm>
          <a:prstGeom prst="straightConnector1">
            <a:avLst/>
          </a:prstGeom>
          <a:noFill/>
          <a:ln cap="flat" cmpd="sng" w="38100">
            <a:solidFill>
              <a:srgbClr val="E87B85"/>
            </a:solidFill>
            <a:prstDash val="solid"/>
            <a:round/>
            <a:headEnd len="sm" w="sm" type="none"/>
            <a:tailEnd len="lg" w="lg" type="oval"/>
          </a:ln>
        </p:spPr>
      </p:cxnSp>
      <p:sp>
        <p:nvSpPr>
          <p:cNvPr id="246" name="Google Shape;246;p8"/>
          <p:cNvSpPr txBox="1"/>
          <p:nvPr/>
        </p:nvSpPr>
        <p:spPr>
          <a:xfrm>
            <a:off x="13023310" y="8239712"/>
            <a:ext cx="2982481" cy="15975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Julia</a:t>
            </a:r>
            <a:r>
              <a:rPr b="0" i="0" lang="en-US" sz="1200" u="none" cap="none" strike="noStrike">
                <a:solidFill>
                  <a:srgbClr val="000000"/>
                </a:solidFill>
                <a:latin typeface="Arial"/>
                <a:ea typeface="Arial"/>
                <a:cs typeface="Arial"/>
                <a:sym typeface="Arial"/>
              </a:rPr>
              <a:t>: Crece en popularidad para computación científica y machine learning.</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Python</a:t>
            </a:r>
            <a:r>
              <a:rPr b="0" i="0" lang="en-US" sz="1200" u="none" cap="none" strike="noStrike">
                <a:solidFill>
                  <a:srgbClr val="000000"/>
                </a:solidFill>
                <a:latin typeface="Arial"/>
                <a:ea typeface="Arial"/>
                <a:cs typeface="Arial"/>
                <a:sym typeface="Arial"/>
              </a:rPr>
              <a:t> sigue dominando en IA y Data Science, con crecimientos en lenguajes como </a:t>
            </a:r>
            <a:r>
              <a:rPr b="1" i="0" lang="en-US" sz="1200" u="none" cap="none" strike="noStrike">
                <a:solidFill>
                  <a:srgbClr val="000000"/>
                </a:solidFill>
                <a:latin typeface="Arial"/>
                <a:ea typeface="Arial"/>
                <a:cs typeface="Arial"/>
                <a:sym typeface="Arial"/>
              </a:rPr>
              <a:t>Rust</a:t>
            </a:r>
            <a:r>
              <a:rPr b="0" i="0" lang="en-US" sz="1200" u="none" cap="none" strike="noStrike">
                <a:solidFill>
                  <a:srgbClr val="000000"/>
                </a:solidFill>
                <a:latin typeface="Arial"/>
                <a:ea typeface="Arial"/>
                <a:cs typeface="Arial"/>
                <a:sym typeface="Arial"/>
              </a:rPr>
              <a:t> y </a:t>
            </a:r>
            <a:r>
              <a:rPr b="1" i="0" lang="en-US" sz="1200" u="none" cap="none" strike="noStrike">
                <a:solidFill>
                  <a:srgbClr val="000000"/>
                </a:solidFill>
                <a:latin typeface="Arial"/>
                <a:ea typeface="Arial"/>
                <a:cs typeface="Arial"/>
                <a:sym typeface="Arial"/>
              </a:rPr>
              <a:t>TypeScript</a:t>
            </a:r>
            <a:r>
              <a:rPr b="0" i="0" lang="en-US" sz="1200" u="none" cap="none" strike="noStrike">
                <a:solidFill>
                  <a:srgbClr val="000000"/>
                </a:solidFill>
                <a:latin typeface="Arial"/>
                <a:ea typeface="Arial"/>
                <a:cs typeface="Arial"/>
                <a:sym typeface="Arial"/>
              </a:rPr>
              <a:t>.</a:t>
            </a:r>
            <a:endParaRPr/>
          </a:p>
        </p:txBody>
      </p:sp>
      <p:sp>
        <p:nvSpPr>
          <p:cNvPr id="247" name="Google Shape;247;p8"/>
          <p:cNvSpPr txBox="1"/>
          <p:nvPr/>
        </p:nvSpPr>
        <p:spPr>
          <a:xfrm>
            <a:off x="13020010" y="7516186"/>
            <a:ext cx="2875371"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None/>
            </a:pPr>
            <a:r>
              <a:rPr b="1" i="0" lang="en-US" sz="1911" u="none" cap="none" strike="noStrike">
                <a:solidFill>
                  <a:srgbClr val="DB5763"/>
                </a:solidFill>
                <a:latin typeface="Arial"/>
                <a:ea typeface="Arial"/>
                <a:cs typeface="Arial"/>
                <a:sym typeface="Arial"/>
              </a:rPr>
              <a:t>Inteligencia Artificial y nuevas tecnologías</a:t>
            </a:r>
            <a:endParaRPr/>
          </a:p>
        </p:txBody>
      </p:sp>
      <p:cxnSp>
        <p:nvCxnSpPr>
          <p:cNvPr id="248" name="Google Shape;248;p8"/>
          <p:cNvCxnSpPr/>
          <p:nvPr/>
        </p:nvCxnSpPr>
        <p:spPr>
          <a:xfrm>
            <a:off x="11346195" y="6484804"/>
            <a:ext cx="0" cy="927781"/>
          </a:xfrm>
          <a:prstGeom prst="straightConnector1">
            <a:avLst/>
          </a:prstGeom>
          <a:noFill/>
          <a:ln cap="flat" cmpd="sng" w="38100">
            <a:solidFill>
              <a:srgbClr val="E1B900"/>
            </a:solidFill>
            <a:prstDash val="solid"/>
            <a:round/>
            <a:headEnd len="sm" w="sm" type="none"/>
            <a:tailEnd len="lg" w="lg" type="oval"/>
          </a:ln>
        </p:spPr>
      </p:cxnSp>
      <p:sp>
        <p:nvSpPr>
          <p:cNvPr id="249" name="Google Shape;249;p8"/>
          <p:cNvSpPr txBox="1"/>
          <p:nvPr/>
        </p:nvSpPr>
        <p:spPr>
          <a:xfrm>
            <a:off x="9892590" y="8239712"/>
            <a:ext cx="2926261"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a:t>
            </a:r>
            <a:r>
              <a:rPr b="0" i="0" lang="en-US" sz="1200" u="none" cap="none" strike="noStrike">
                <a:solidFill>
                  <a:srgbClr val="000000"/>
                </a:solidFill>
                <a:latin typeface="Arial"/>
                <a:ea typeface="Arial"/>
                <a:cs typeface="Arial"/>
                <a:sym typeface="Arial"/>
              </a:rPr>
              <a:t>: Creado por Microsoft para su ecosistema.</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Scala</a:t>
            </a:r>
            <a:r>
              <a:rPr b="0" i="0" lang="en-US" sz="1200" u="none" cap="none" strike="noStrike">
                <a:solidFill>
                  <a:srgbClr val="000000"/>
                </a:solidFill>
                <a:latin typeface="Arial"/>
                <a:ea typeface="Arial"/>
                <a:cs typeface="Arial"/>
                <a:sym typeface="Arial"/>
              </a:rPr>
              <a:t>: Combina programación funcional y orientada a objetos.</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Go</a:t>
            </a:r>
            <a:r>
              <a:rPr b="0" i="0" lang="en-US" sz="1200" u="none" cap="none" strike="noStrike">
                <a:solidFill>
                  <a:srgbClr val="000000"/>
                </a:solidFill>
                <a:latin typeface="Arial"/>
                <a:ea typeface="Arial"/>
                <a:cs typeface="Arial"/>
                <a:sym typeface="Arial"/>
              </a:rPr>
              <a:t>: Lenguaje de Google enfocado en rendimiento y concurrencia.</a:t>
            </a:r>
            <a:endParaRPr/>
          </a:p>
        </p:txBody>
      </p:sp>
      <p:sp>
        <p:nvSpPr>
          <p:cNvPr id="250" name="Google Shape;250;p8"/>
          <p:cNvSpPr txBox="1"/>
          <p:nvPr/>
        </p:nvSpPr>
        <p:spPr>
          <a:xfrm>
            <a:off x="10100902" y="7516186"/>
            <a:ext cx="2509636"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None/>
            </a:pPr>
            <a:r>
              <a:rPr b="1" i="0" lang="en-US" sz="1911" u="none" cap="none" strike="noStrike">
                <a:solidFill>
                  <a:srgbClr val="A48701"/>
                </a:solidFill>
                <a:latin typeface="Arial"/>
                <a:ea typeface="Arial"/>
                <a:cs typeface="Arial"/>
                <a:sym typeface="Arial"/>
              </a:rPr>
              <a:t>Desarrollo web y móvil</a:t>
            </a:r>
            <a:endParaRPr/>
          </a:p>
        </p:txBody>
      </p:sp>
      <p:cxnSp>
        <p:nvCxnSpPr>
          <p:cNvPr id="251" name="Google Shape;251;p8"/>
          <p:cNvCxnSpPr/>
          <p:nvPr/>
        </p:nvCxnSpPr>
        <p:spPr>
          <a:xfrm>
            <a:off x="8177840" y="6484804"/>
            <a:ext cx="0" cy="927781"/>
          </a:xfrm>
          <a:prstGeom prst="straightConnector1">
            <a:avLst/>
          </a:prstGeom>
          <a:noFill/>
          <a:ln cap="flat" cmpd="sng" w="38100">
            <a:solidFill>
              <a:srgbClr val="70B812"/>
            </a:solidFill>
            <a:prstDash val="solid"/>
            <a:round/>
            <a:headEnd len="sm" w="sm" type="none"/>
            <a:tailEnd len="lg" w="lg" type="oval"/>
          </a:ln>
        </p:spPr>
      </p:cxnSp>
      <p:sp>
        <p:nvSpPr>
          <p:cNvPr id="252" name="Google Shape;252;p8"/>
          <p:cNvSpPr txBox="1"/>
          <p:nvPr/>
        </p:nvSpPr>
        <p:spPr>
          <a:xfrm>
            <a:off x="6772723" y="8239712"/>
            <a:ext cx="2854933"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C++</a:t>
            </a:r>
            <a:r>
              <a:rPr b="0" i="0" lang="en-US" sz="1200" u="none" cap="none" strike="noStrike">
                <a:solidFill>
                  <a:srgbClr val="000000"/>
                </a:solidFill>
                <a:latin typeface="Arial"/>
                <a:ea typeface="Arial"/>
                <a:cs typeface="Arial"/>
                <a:sym typeface="Arial"/>
              </a:rPr>
              <a:t>: Extensión de C con programación orientada a objetos.</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Perl</a:t>
            </a:r>
            <a:r>
              <a:rPr b="0" i="0" lang="en-US" sz="1200" u="none" cap="none" strike="noStrike">
                <a:solidFill>
                  <a:srgbClr val="000000"/>
                </a:solidFill>
                <a:latin typeface="Arial"/>
                <a:ea typeface="Arial"/>
                <a:cs typeface="Arial"/>
                <a:sym typeface="Arial"/>
              </a:rPr>
              <a:t>: Potente para procesamiento de texto y scripting.</a:t>
            </a:r>
            <a:endParaRPr/>
          </a:p>
        </p:txBody>
      </p:sp>
      <p:sp>
        <p:nvSpPr>
          <p:cNvPr id="253" name="Google Shape;253;p8"/>
          <p:cNvSpPr txBox="1"/>
          <p:nvPr/>
        </p:nvSpPr>
        <p:spPr>
          <a:xfrm>
            <a:off x="6772723" y="7516186"/>
            <a:ext cx="2854933"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None/>
            </a:pPr>
            <a:r>
              <a:rPr b="1" i="0" lang="en-US" sz="1911" u="none" cap="none" strike="noStrike">
                <a:solidFill>
                  <a:srgbClr val="5C9B0A"/>
                </a:solidFill>
                <a:latin typeface="Arial"/>
                <a:ea typeface="Arial"/>
                <a:cs typeface="Arial"/>
                <a:sym typeface="Arial"/>
              </a:rPr>
              <a:t>Orientación a objetos y más accesibilidad</a:t>
            </a:r>
            <a:endParaRPr/>
          </a:p>
        </p:txBody>
      </p:sp>
      <p:cxnSp>
        <p:nvCxnSpPr>
          <p:cNvPr id="254" name="Google Shape;254;p8"/>
          <p:cNvCxnSpPr/>
          <p:nvPr/>
        </p:nvCxnSpPr>
        <p:spPr>
          <a:xfrm>
            <a:off x="5009484" y="6484804"/>
            <a:ext cx="0" cy="927781"/>
          </a:xfrm>
          <a:prstGeom prst="straightConnector1">
            <a:avLst/>
          </a:prstGeom>
          <a:noFill/>
          <a:ln cap="flat" cmpd="sng" w="38100">
            <a:solidFill>
              <a:srgbClr val="521DF1"/>
            </a:solidFill>
            <a:prstDash val="solid"/>
            <a:round/>
            <a:headEnd len="sm" w="sm" type="none"/>
            <a:tailEnd len="lg" w="lg" type="oval"/>
          </a:ln>
        </p:spPr>
      </p:cxnSp>
      <p:sp>
        <p:nvSpPr>
          <p:cNvPr id="255" name="Google Shape;255;p8"/>
          <p:cNvSpPr txBox="1"/>
          <p:nvPr/>
        </p:nvSpPr>
        <p:spPr>
          <a:xfrm>
            <a:off x="3751197" y="8327657"/>
            <a:ext cx="2493068"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ALGOL</a:t>
            </a:r>
            <a:r>
              <a:rPr b="0" i="0" lang="en-US" sz="1200" u="none" cap="none" strike="noStrike">
                <a:solidFill>
                  <a:srgbClr val="000000"/>
                </a:solidFill>
                <a:latin typeface="Arial"/>
                <a:ea typeface="Arial"/>
                <a:cs typeface="Arial"/>
                <a:sym typeface="Arial"/>
              </a:rPr>
              <a:t>: Base para muchos lenguajes modernos, influyó en C y Pascal.</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BASIC</a:t>
            </a:r>
            <a:r>
              <a:rPr b="0" i="0" lang="en-US" sz="1200" u="none" cap="none" strike="noStrike">
                <a:solidFill>
                  <a:srgbClr val="000000"/>
                </a:solidFill>
                <a:latin typeface="Arial"/>
                <a:ea typeface="Arial"/>
                <a:cs typeface="Arial"/>
                <a:sym typeface="Arial"/>
              </a:rPr>
              <a:t>: Facilita el aprendizaje de programación.</a:t>
            </a:r>
            <a:endParaRPr/>
          </a:p>
        </p:txBody>
      </p:sp>
      <p:sp>
        <p:nvSpPr>
          <p:cNvPr id="256" name="Google Shape;256;p8"/>
          <p:cNvSpPr txBox="1"/>
          <p:nvPr/>
        </p:nvSpPr>
        <p:spPr>
          <a:xfrm>
            <a:off x="3754666" y="7516186"/>
            <a:ext cx="2509636" cy="5997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None/>
            </a:pPr>
            <a:r>
              <a:rPr b="1" i="0" lang="en-US" sz="1911" u="none" cap="none" strike="noStrike">
                <a:solidFill>
                  <a:srgbClr val="521DF1"/>
                </a:solidFill>
                <a:latin typeface="Arial"/>
                <a:ea typeface="Arial"/>
                <a:cs typeface="Arial"/>
                <a:sym typeface="Arial"/>
              </a:rPr>
              <a:t>Estandarización y expansión</a:t>
            </a:r>
            <a:endParaRPr/>
          </a:p>
        </p:txBody>
      </p:sp>
      <p:cxnSp>
        <p:nvCxnSpPr>
          <p:cNvPr id="257" name="Google Shape;257;p8"/>
          <p:cNvCxnSpPr/>
          <p:nvPr/>
        </p:nvCxnSpPr>
        <p:spPr>
          <a:xfrm rot="10800000">
            <a:off x="9798214" y="4288966"/>
            <a:ext cx="0" cy="927781"/>
          </a:xfrm>
          <a:prstGeom prst="straightConnector1">
            <a:avLst/>
          </a:prstGeom>
          <a:noFill/>
          <a:ln cap="flat" cmpd="sng" w="38100">
            <a:solidFill>
              <a:srgbClr val="C4BD19"/>
            </a:solidFill>
            <a:prstDash val="solid"/>
            <a:round/>
            <a:headEnd len="sm" w="sm" type="none"/>
            <a:tailEnd len="lg" w="lg" type="oval"/>
          </a:ln>
        </p:spPr>
      </p:cxnSp>
      <p:cxnSp>
        <p:nvCxnSpPr>
          <p:cNvPr id="258" name="Google Shape;258;p8"/>
          <p:cNvCxnSpPr/>
          <p:nvPr/>
        </p:nvCxnSpPr>
        <p:spPr>
          <a:xfrm rot="10800000">
            <a:off x="12928808" y="4288966"/>
            <a:ext cx="0" cy="927781"/>
          </a:xfrm>
          <a:prstGeom prst="straightConnector1">
            <a:avLst/>
          </a:prstGeom>
          <a:noFill/>
          <a:ln cap="flat" cmpd="sng" w="38100">
            <a:solidFill>
              <a:srgbClr val="F0702F"/>
            </a:solidFill>
            <a:prstDash val="solid"/>
            <a:round/>
            <a:headEnd len="sm" w="sm" type="none"/>
            <a:tailEnd len="lg" w="lg" type="oval"/>
          </a:ln>
        </p:spPr>
      </p:cxnSp>
      <p:sp>
        <p:nvSpPr>
          <p:cNvPr id="259" name="Google Shape;259;p8"/>
          <p:cNvSpPr txBox="1"/>
          <p:nvPr/>
        </p:nvSpPr>
        <p:spPr>
          <a:xfrm>
            <a:off x="1382102" y="1031919"/>
            <a:ext cx="15523796" cy="503174"/>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None/>
            </a:pPr>
            <a:r>
              <a:rPr b="0" i="0" lang="en-US" sz="3100" u="none" cap="none" strike="noStrike">
                <a:solidFill>
                  <a:srgbClr val="000000"/>
                </a:solidFill>
                <a:latin typeface="Arial"/>
                <a:ea typeface="Arial"/>
                <a:cs typeface="Arial"/>
                <a:sym typeface="Arial"/>
              </a:rPr>
              <a:t>Evolución de los Lenguajes de Programación</a:t>
            </a:r>
            <a:endParaRPr/>
          </a:p>
        </p:txBody>
      </p:sp>
      <p:sp>
        <p:nvSpPr>
          <p:cNvPr id="260" name="Google Shape;260;p8"/>
          <p:cNvSpPr txBox="1"/>
          <p:nvPr/>
        </p:nvSpPr>
        <p:spPr>
          <a:xfrm>
            <a:off x="11466510" y="2748360"/>
            <a:ext cx="2933950"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Kotlin</a:t>
            </a:r>
            <a:r>
              <a:rPr b="0" i="0" lang="en-US" sz="1200" u="none" cap="none" strike="noStrike">
                <a:solidFill>
                  <a:srgbClr val="000000"/>
                </a:solidFill>
                <a:latin typeface="Arial"/>
                <a:ea typeface="Arial"/>
                <a:cs typeface="Arial"/>
                <a:sym typeface="Arial"/>
              </a:rPr>
              <a:t>: Alternativa moderna a Java para Android.</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Swift</a:t>
            </a:r>
            <a:r>
              <a:rPr b="0" i="0" lang="en-US" sz="1200" u="none" cap="none" strike="noStrike">
                <a:solidFill>
                  <a:srgbClr val="000000"/>
                </a:solidFill>
                <a:latin typeface="Arial"/>
                <a:ea typeface="Arial"/>
                <a:cs typeface="Arial"/>
                <a:sym typeface="Arial"/>
              </a:rPr>
              <a:t>: Creado por Apple para desarrollo en iOS/macOS.</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Rust</a:t>
            </a:r>
            <a:r>
              <a:rPr b="0" i="0" lang="en-US" sz="1200" u="none" cap="none" strike="noStrike">
                <a:solidFill>
                  <a:srgbClr val="000000"/>
                </a:solidFill>
                <a:latin typeface="Arial"/>
                <a:ea typeface="Arial"/>
                <a:cs typeface="Arial"/>
                <a:sym typeface="Arial"/>
              </a:rPr>
              <a:t>: Popular por su seguridad en sistemas de bajo nivel.</a:t>
            </a:r>
            <a:endParaRPr/>
          </a:p>
        </p:txBody>
      </p:sp>
      <p:sp>
        <p:nvSpPr>
          <p:cNvPr id="261" name="Google Shape;261;p8"/>
          <p:cNvSpPr txBox="1"/>
          <p:nvPr/>
        </p:nvSpPr>
        <p:spPr>
          <a:xfrm>
            <a:off x="11631592" y="1811273"/>
            <a:ext cx="2509636" cy="904501"/>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None/>
            </a:pPr>
            <a:r>
              <a:rPr b="1" i="0" lang="en-US" sz="1911" u="none" cap="none" strike="noStrike">
                <a:solidFill>
                  <a:srgbClr val="D15414"/>
                </a:solidFill>
                <a:latin typeface="Arial"/>
                <a:ea typeface="Arial"/>
                <a:cs typeface="Arial"/>
                <a:sym typeface="Arial"/>
              </a:rPr>
              <a:t>Programación moderna y nuevas tendencias</a:t>
            </a:r>
            <a:endParaRPr/>
          </a:p>
        </p:txBody>
      </p:sp>
      <p:sp>
        <p:nvSpPr>
          <p:cNvPr id="262" name="Google Shape;262;p8"/>
          <p:cNvSpPr txBox="1"/>
          <p:nvPr/>
        </p:nvSpPr>
        <p:spPr>
          <a:xfrm>
            <a:off x="8437544" y="2561836"/>
            <a:ext cx="2680823" cy="1368933"/>
          </a:xfrm>
          <a:prstGeom prst="rect">
            <a:avLst/>
          </a:prstGeom>
          <a:noFill/>
          <a:ln>
            <a:noFill/>
          </a:ln>
        </p:spPr>
        <p:txBody>
          <a:bodyPr anchorCtr="0" anchor="t" bIns="0" lIns="0" spcFirstLastPara="1" rIns="0" wrap="square" tIns="0">
            <a:spAutoFit/>
          </a:bodyPr>
          <a:lstStyle/>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Python</a:t>
            </a:r>
            <a:r>
              <a:rPr b="0" i="0" lang="en-US" sz="1200" u="none" cap="none" strike="noStrike">
                <a:solidFill>
                  <a:srgbClr val="000000"/>
                </a:solidFill>
                <a:latin typeface="Arial"/>
                <a:ea typeface="Arial"/>
                <a:cs typeface="Arial"/>
                <a:sym typeface="Arial"/>
              </a:rPr>
              <a:t>: Lenguaje simple y poderoso para múltiples propósitos.</a:t>
            </a:r>
            <a:endParaRPr/>
          </a:p>
          <a:p>
            <a:pPr indent="-129539" lvl="1" marL="259080" marR="0" rtl="0" algn="l">
              <a:lnSpc>
                <a:spcPct val="153000"/>
              </a:lnSpc>
              <a:spcBef>
                <a:spcPts val="0"/>
              </a:spcBef>
              <a:spcAft>
                <a:spcPts val="0"/>
              </a:spcAft>
              <a:buClr>
                <a:srgbClr val="000000"/>
              </a:buClr>
              <a:buSzPts val="1200"/>
              <a:buFont typeface="Arial"/>
              <a:buChar char="•"/>
            </a:pPr>
            <a:r>
              <a:rPr b="1" i="0" lang="en-US" sz="1200" u="none" cap="none" strike="noStrike">
                <a:solidFill>
                  <a:srgbClr val="000000"/>
                </a:solidFill>
                <a:latin typeface="Arial"/>
                <a:ea typeface="Arial"/>
                <a:cs typeface="Arial"/>
                <a:sym typeface="Arial"/>
              </a:rPr>
              <a:t>Java</a:t>
            </a: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latin typeface="Arial"/>
                <a:ea typeface="Arial"/>
                <a:cs typeface="Arial"/>
                <a:sym typeface="Arial"/>
              </a:rPr>
              <a:t>JavaScript</a:t>
            </a: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latin typeface="Arial"/>
                <a:ea typeface="Arial"/>
                <a:cs typeface="Arial"/>
                <a:sym typeface="Arial"/>
              </a:rPr>
              <a:t>PHP</a:t>
            </a:r>
            <a:r>
              <a:rPr b="0" i="0" lang="en-US" sz="1200" u="none" cap="none" strike="noStrike">
                <a:solidFill>
                  <a:srgbClr val="000000"/>
                </a:solidFill>
                <a:latin typeface="Arial"/>
                <a:ea typeface="Arial"/>
                <a:cs typeface="Arial"/>
                <a:sym typeface="Arial"/>
              </a:rPr>
              <a:t>, </a:t>
            </a:r>
            <a:r>
              <a:rPr b="1" i="0" lang="en-US" sz="1200" u="none" cap="none" strike="noStrike">
                <a:solidFill>
                  <a:srgbClr val="000000"/>
                </a:solidFill>
                <a:latin typeface="Arial"/>
                <a:ea typeface="Arial"/>
                <a:cs typeface="Arial"/>
                <a:sym typeface="Arial"/>
              </a:rPr>
              <a:t>Ruby</a:t>
            </a:r>
            <a:r>
              <a:rPr b="0" i="0" lang="en-US" sz="1200" u="none" cap="none" strike="noStrike">
                <a:solidFill>
                  <a:srgbClr val="000000"/>
                </a:solidFill>
                <a:latin typeface="Arial"/>
                <a:ea typeface="Arial"/>
                <a:cs typeface="Arial"/>
                <a:sym typeface="Arial"/>
              </a:rPr>
              <a:t>: Lenguajes clave para la web y aplicaciones empresariales.</a:t>
            </a:r>
            <a:endParaRPr/>
          </a:p>
        </p:txBody>
      </p:sp>
      <p:sp>
        <p:nvSpPr>
          <p:cNvPr id="263" name="Google Shape;263;p8"/>
          <p:cNvSpPr txBox="1"/>
          <p:nvPr/>
        </p:nvSpPr>
        <p:spPr>
          <a:xfrm>
            <a:off x="8279162" y="1794958"/>
            <a:ext cx="3038105" cy="613752"/>
          </a:xfrm>
          <a:prstGeom prst="rect">
            <a:avLst/>
          </a:prstGeom>
          <a:noFill/>
          <a:ln>
            <a:noFill/>
          </a:ln>
        </p:spPr>
        <p:txBody>
          <a:bodyPr anchorCtr="0" anchor="t" bIns="0" lIns="0" spcFirstLastPara="1" rIns="0" wrap="square" tIns="0">
            <a:spAutoFit/>
          </a:bodyPr>
          <a:lstStyle/>
          <a:p>
            <a:pPr indent="0" lvl="0" marL="0" marR="0" rtl="0" algn="ctr">
              <a:lnSpc>
                <a:spcPct val="128048"/>
              </a:lnSpc>
              <a:spcBef>
                <a:spcPts val="0"/>
              </a:spcBef>
              <a:spcAft>
                <a:spcPts val="0"/>
              </a:spcAft>
              <a:buNone/>
            </a:pPr>
            <a:r>
              <a:rPr b="1" i="0" lang="en-US" sz="1911" u="none" cap="none" strike="noStrike">
                <a:solidFill>
                  <a:srgbClr val="948E0A"/>
                </a:solidFill>
                <a:latin typeface="Montserrat"/>
                <a:ea typeface="Montserrat"/>
                <a:cs typeface="Montserrat"/>
                <a:sym typeface="Montserrat"/>
              </a:rPr>
              <a:t>Internet y el auge de los lenguajes modernos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9"/>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600" u="none" cap="none" strike="noStrike">
                <a:solidFill>
                  <a:srgbClr val="152540"/>
                </a:solidFill>
                <a:latin typeface="Arial"/>
                <a:ea typeface="Arial"/>
                <a:cs typeface="Arial"/>
                <a:sym typeface="Arial"/>
              </a:rPr>
              <a:t>GENERACIONES DE LENGUAJES DE PROGRAMACIÓN</a:t>
            </a:r>
            <a:endParaRPr/>
          </a:p>
        </p:txBody>
      </p:sp>
      <p:sp>
        <p:nvSpPr>
          <p:cNvPr id="269" name="Google Shape;269;p9"/>
          <p:cNvSpPr/>
          <p:nvPr/>
        </p:nvSpPr>
        <p:spPr>
          <a:xfrm>
            <a:off x="7941920" y="6632673"/>
            <a:ext cx="2625627" cy="2625627"/>
          </a:xfrm>
          <a:custGeom>
            <a:rect b="b" l="l" r="r" t="t"/>
            <a:pathLst>
              <a:path extrusionOk="0" h="2625627" w="2625627">
                <a:moveTo>
                  <a:pt x="0" y="0"/>
                </a:moveTo>
                <a:lnTo>
                  <a:pt x="2625627" y="0"/>
                </a:lnTo>
                <a:lnTo>
                  <a:pt x="2625627" y="2625627"/>
                </a:lnTo>
                <a:lnTo>
                  <a:pt x="0" y="2625627"/>
                </a:lnTo>
                <a:lnTo>
                  <a:pt x="0" y="0"/>
                </a:lnTo>
                <a:close/>
              </a:path>
            </a:pathLst>
          </a:custGeom>
          <a:blipFill rotWithShape="1">
            <a:blip r:embed="rId3">
              <a:alphaModFix/>
            </a:blip>
            <a:stretch>
              <a:fillRect b="0" l="0" r="0" t="0"/>
            </a:stretch>
          </a:blipFill>
          <a:ln>
            <a:noFill/>
          </a:ln>
        </p:spPr>
      </p:sp>
      <p:sp>
        <p:nvSpPr>
          <p:cNvPr id="270" name="Google Shape;270;p9"/>
          <p:cNvSpPr txBox="1"/>
          <p:nvPr/>
        </p:nvSpPr>
        <p:spPr>
          <a:xfrm>
            <a:off x="1904222" y="5020792"/>
            <a:ext cx="14701023" cy="19673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794" u="none" cap="none" strike="noStrike">
                <a:solidFill>
                  <a:srgbClr val="152540"/>
                </a:solidFill>
                <a:latin typeface="Arial"/>
                <a:ea typeface="Arial"/>
                <a:cs typeface="Arial"/>
                <a:sym typeface="Arial"/>
              </a:rPr>
              <a:t>Los primeros lenguajes de programación se escribían en lenguaje máquina, que es un conjunto de instrucciones binarias que la computadora puede entender directamente. El lenguaje máquina es muy difícil de leer y escribir, y es muy difícil de depurar. </a:t>
            </a:r>
            <a:endParaRPr/>
          </a:p>
        </p:txBody>
      </p:sp>
      <p:sp>
        <p:nvSpPr>
          <p:cNvPr id="271" name="Google Shape;271;p9"/>
          <p:cNvSpPr txBox="1"/>
          <p:nvPr/>
        </p:nvSpPr>
        <p:spPr>
          <a:xfrm>
            <a:off x="1904222" y="3787083"/>
            <a:ext cx="14701023" cy="720090"/>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3899" u="none" cap="none" strike="noStrike">
                <a:solidFill>
                  <a:srgbClr val="152540"/>
                </a:solidFill>
                <a:latin typeface="Arial"/>
                <a:ea typeface="Arial"/>
                <a:cs typeface="Arial"/>
                <a:sym typeface="Arial"/>
              </a:rPr>
              <a:t>PRIMERA GENERACIÓN (1945 - 1955)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0"/>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599" u="none" cap="none" strike="noStrike">
                <a:solidFill>
                  <a:srgbClr val="152540"/>
                </a:solidFill>
                <a:latin typeface="Arial"/>
                <a:ea typeface="Arial"/>
                <a:cs typeface="Arial"/>
                <a:sym typeface="Arial"/>
              </a:rPr>
              <a:t>GENERACIONES DE LENGUAJES DE PROGRAMACIÓN</a:t>
            </a:r>
            <a:endParaRPr/>
          </a:p>
        </p:txBody>
      </p:sp>
      <p:sp>
        <p:nvSpPr>
          <p:cNvPr id="277" name="Google Shape;277;p10"/>
          <p:cNvSpPr/>
          <p:nvPr/>
        </p:nvSpPr>
        <p:spPr>
          <a:xfrm>
            <a:off x="7845477" y="6627647"/>
            <a:ext cx="3066782" cy="3066782"/>
          </a:xfrm>
          <a:custGeom>
            <a:rect b="b" l="l" r="r" t="t"/>
            <a:pathLst>
              <a:path extrusionOk="0" h="3066782" w="3066782">
                <a:moveTo>
                  <a:pt x="0" y="0"/>
                </a:moveTo>
                <a:lnTo>
                  <a:pt x="3066782" y="0"/>
                </a:lnTo>
                <a:lnTo>
                  <a:pt x="3066782" y="3066782"/>
                </a:lnTo>
                <a:lnTo>
                  <a:pt x="0" y="3066782"/>
                </a:lnTo>
                <a:lnTo>
                  <a:pt x="0" y="0"/>
                </a:lnTo>
                <a:close/>
              </a:path>
            </a:pathLst>
          </a:custGeom>
          <a:blipFill rotWithShape="1">
            <a:blip r:embed="rId3">
              <a:alphaModFix/>
            </a:blip>
            <a:stretch>
              <a:fillRect b="0" l="0" r="0" t="0"/>
            </a:stretch>
          </a:blipFill>
          <a:ln>
            <a:noFill/>
          </a:ln>
        </p:spPr>
      </p:sp>
      <p:sp>
        <p:nvSpPr>
          <p:cNvPr id="278" name="Google Shape;278;p10"/>
          <p:cNvSpPr txBox="1"/>
          <p:nvPr/>
        </p:nvSpPr>
        <p:spPr>
          <a:xfrm>
            <a:off x="1904222" y="5020792"/>
            <a:ext cx="14701023" cy="1820050"/>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0" i="0" lang="en-US" sz="2594" u="none" cap="none" strike="noStrike">
                <a:solidFill>
                  <a:srgbClr val="152540"/>
                </a:solidFill>
                <a:latin typeface="Arial"/>
                <a:ea typeface="Arial"/>
                <a:cs typeface="Arial"/>
                <a:sym typeface="Arial"/>
              </a:rPr>
              <a:t>Los lenguajes de segunda generación se escribían en lenguaje ensamblador, que es un lenguaje de nivel medio que es más fácil de leer y escribir que el lenguaje máquina. El lenguaje ensamblador es aún difícil de depurar, y es difícil de portarlo a diferentes tipos de computadoras.</a:t>
            </a:r>
            <a:endParaRPr/>
          </a:p>
        </p:txBody>
      </p:sp>
      <p:sp>
        <p:nvSpPr>
          <p:cNvPr id="279" name="Google Shape;279;p10"/>
          <p:cNvSpPr txBox="1"/>
          <p:nvPr/>
        </p:nvSpPr>
        <p:spPr>
          <a:xfrm>
            <a:off x="1904222" y="3787083"/>
            <a:ext cx="14701023" cy="7200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None/>
            </a:pPr>
            <a:r>
              <a:rPr b="0" i="0" lang="en-US" sz="3900" u="none" cap="none" strike="noStrike">
                <a:solidFill>
                  <a:srgbClr val="152540"/>
                </a:solidFill>
                <a:latin typeface="Arial"/>
                <a:ea typeface="Arial"/>
                <a:cs typeface="Arial"/>
                <a:sym typeface="Arial"/>
              </a:rPr>
              <a:t>SEGUNDA GENERACIÓN (1955 - 1965)</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1"/>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599" u="none" cap="none" strike="noStrike">
                <a:solidFill>
                  <a:srgbClr val="152540"/>
                </a:solidFill>
                <a:latin typeface="Arial"/>
                <a:ea typeface="Arial"/>
                <a:cs typeface="Arial"/>
                <a:sym typeface="Arial"/>
              </a:rPr>
              <a:t>GENERACIONES DE LENGUAJES DE PROGRAMACIÓN</a:t>
            </a:r>
            <a:endParaRPr/>
          </a:p>
        </p:txBody>
      </p:sp>
      <p:sp>
        <p:nvSpPr>
          <p:cNvPr id="285" name="Google Shape;285;p11"/>
          <p:cNvSpPr/>
          <p:nvPr/>
        </p:nvSpPr>
        <p:spPr>
          <a:xfrm>
            <a:off x="5155262" y="7954632"/>
            <a:ext cx="1851494" cy="1851494"/>
          </a:xfrm>
          <a:custGeom>
            <a:rect b="b" l="l" r="r" t="t"/>
            <a:pathLst>
              <a:path extrusionOk="0" h="1851494" w="1851494">
                <a:moveTo>
                  <a:pt x="0" y="0"/>
                </a:moveTo>
                <a:lnTo>
                  <a:pt x="1851494" y="0"/>
                </a:lnTo>
                <a:lnTo>
                  <a:pt x="1851494" y="1851494"/>
                </a:lnTo>
                <a:lnTo>
                  <a:pt x="0" y="1851494"/>
                </a:lnTo>
                <a:lnTo>
                  <a:pt x="0" y="0"/>
                </a:lnTo>
                <a:close/>
              </a:path>
            </a:pathLst>
          </a:custGeom>
          <a:blipFill rotWithShape="1">
            <a:blip r:embed="rId3">
              <a:alphaModFix/>
            </a:blip>
            <a:stretch>
              <a:fillRect b="0" l="0" r="0" t="0"/>
            </a:stretch>
          </a:blipFill>
          <a:ln>
            <a:noFill/>
          </a:ln>
        </p:spPr>
      </p:sp>
      <p:sp>
        <p:nvSpPr>
          <p:cNvPr id="286" name="Google Shape;286;p11"/>
          <p:cNvSpPr/>
          <p:nvPr/>
        </p:nvSpPr>
        <p:spPr>
          <a:xfrm>
            <a:off x="9239250" y="7954632"/>
            <a:ext cx="1851494" cy="1851494"/>
          </a:xfrm>
          <a:custGeom>
            <a:rect b="b" l="l" r="r" t="t"/>
            <a:pathLst>
              <a:path extrusionOk="0" h="1851494" w="1851494">
                <a:moveTo>
                  <a:pt x="0" y="0"/>
                </a:moveTo>
                <a:lnTo>
                  <a:pt x="1851494" y="0"/>
                </a:lnTo>
                <a:lnTo>
                  <a:pt x="1851494" y="1851494"/>
                </a:lnTo>
                <a:lnTo>
                  <a:pt x="0" y="1851494"/>
                </a:lnTo>
                <a:lnTo>
                  <a:pt x="0" y="0"/>
                </a:lnTo>
                <a:close/>
              </a:path>
            </a:pathLst>
          </a:custGeom>
          <a:blipFill rotWithShape="1">
            <a:blip r:embed="rId4">
              <a:alphaModFix/>
            </a:blip>
            <a:stretch>
              <a:fillRect b="0" l="0" r="0" t="0"/>
            </a:stretch>
          </a:blipFill>
          <a:ln>
            <a:noFill/>
          </a:ln>
        </p:spPr>
      </p:sp>
      <p:sp>
        <p:nvSpPr>
          <p:cNvPr id="287" name="Google Shape;287;p11"/>
          <p:cNvSpPr/>
          <p:nvPr/>
        </p:nvSpPr>
        <p:spPr>
          <a:xfrm>
            <a:off x="11281244" y="7954632"/>
            <a:ext cx="1851494" cy="1843937"/>
          </a:xfrm>
          <a:custGeom>
            <a:rect b="b" l="l" r="r" t="t"/>
            <a:pathLst>
              <a:path extrusionOk="0" h="1843937" w="1851494">
                <a:moveTo>
                  <a:pt x="0" y="0"/>
                </a:moveTo>
                <a:lnTo>
                  <a:pt x="1851494" y="0"/>
                </a:lnTo>
                <a:lnTo>
                  <a:pt x="1851494" y="1843937"/>
                </a:lnTo>
                <a:lnTo>
                  <a:pt x="0" y="1843937"/>
                </a:lnTo>
                <a:lnTo>
                  <a:pt x="0" y="0"/>
                </a:lnTo>
                <a:close/>
              </a:path>
            </a:pathLst>
          </a:custGeom>
          <a:blipFill rotWithShape="1">
            <a:blip r:embed="rId5">
              <a:alphaModFix/>
            </a:blip>
            <a:stretch>
              <a:fillRect b="-15566" l="-15902" r="-15546" t="-16422"/>
            </a:stretch>
          </a:blipFill>
          <a:ln>
            <a:noFill/>
          </a:ln>
        </p:spPr>
      </p:sp>
      <p:sp>
        <p:nvSpPr>
          <p:cNvPr id="288" name="Google Shape;288;p11"/>
          <p:cNvSpPr txBox="1"/>
          <p:nvPr/>
        </p:nvSpPr>
        <p:spPr>
          <a:xfrm>
            <a:off x="1904222" y="5020792"/>
            <a:ext cx="14701023" cy="24626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794" u="none" cap="none" strike="noStrike">
                <a:solidFill>
                  <a:srgbClr val="152540"/>
                </a:solidFill>
                <a:latin typeface="Arial"/>
                <a:ea typeface="Arial"/>
                <a:cs typeface="Arial"/>
                <a:sym typeface="Arial"/>
              </a:rPr>
              <a:t>Los lenguajes de tercera generación se escribían en lenguajes de alto nivel, que son mucho más fáciles de leer y escribir que el lenguaje ensamblador. Los lenguajes de alto nivel son fáciles de depurar, y son fáciles de portar a diferentes tipos de computadoras. Algunos de los lenguajes de alto nivel más populares de la tercera generación son Fortran, Java, COBOL, y Pascal.</a:t>
            </a:r>
            <a:endParaRPr/>
          </a:p>
        </p:txBody>
      </p:sp>
      <p:sp>
        <p:nvSpPr>
          <p:cNvPr id="289" name="Google Shape;289;p11"/>
          <p:cNvSpPr txBox="1"/>
          <p:nvPr/>
        </p:nvSpPr>
        <p:spPr>
          <a:xfrm>
            <a:off x="1904222" y="3787083"/>
            <a:ext cx="14701023" cy="7200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None/>
            </a:pPr>
            <a:r>
              <a:rPr b="0" i="0" lang="en-US" sz="3900" u="none" cap="none" strike="noStrike">
                <a:solidFill>
                  <a:srgbClr val="152540"/>
                </a:solidFill>
                <a:latin typeface="Arial"/>
                <a:ea typeface="Arial"/>
                <a:cs typeface="Arial"/>
                <a:sym typeface="Arial"/>
              </a:rPr>
              <a:t>TERCERA GENERACIÓN (1965 - 1975)</a:t>
            </a:r>
            <a:endParaRPr/>
          </a:p>
        </p:txBody>
      </p:sp>
      <p:sp>
        <p:nvSpPr>
          <p:cNvPr id="290" name="Google Shape;290;p11"/>
          <p:cNvSpPr/>
          <p:nvPr/>
        </p:nvSpPr>
        <p:spPr>
          <a:xfrm>
            <a:off x="7197256" y="7954632"/>
            <a:ext cx="1851494" cy="1851494"/>
          </a:xfrm>
          <a:custGeom>
            <a:rect b="b" l="l" r="r" t="t"/>
            <a:pathLst>
              <a:path extrusionOk="0" h="1851494" w="1851494">
                <a:moveTo>
                  <a:pt x="0" y="0"/>
                </a:moveTo>
                <a:lnTo>
                  <a:pt x="1851494" y="0"/>
                </a:lnTo>
                <a:lnTo>
                  <a:pt x="1851494" y="1851494"/>
                </a:lnTo>
                <a:lnTo>
                  <a:pt x="0" y="1851494"/>
                </a:lnTo>
                <a:lnTo>
                  <a:pt x="0" y="0"/>
                </a:lnTo>
                <a:close/>
              </a:path>
            </a:pathLst>
          </a:custGeom>
          <a:blipFill rotWithShape="1">
            <a:blip r:embed="rId6">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2"/>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599" u="none" cap="none" strike="noStrike">
                <a:solidFill>
                  <a:srgbClr val="152540"/>
                </a:solidFill>
                <a:latin typeface="Arial"/>
                <a:ea typeface="Arial"/>
                <a:cs typeface="Arial"/>
                <a:sym typeface="Arial"/>
              </a:rPr>
              <a:t>GENERACIONES DE LENGUAJES DE PROGRAMACIÓN</a:t>
            </a:r>
            <a:endParaRPr/>
          </a:p>
        </p:txBody>
      </p:sp>
      <p:sp>
        <p:nvSpPr>
          <p:cNvPr id="296" name="Google Shape;296;p12"/>
          <p:cNvSpPr/>
          <p:nvPr/>
        </p:nvSpPr>
        <p:spPr>
          <a:xfrm>
            <a:off x="4591955" y="7954632"/>
            <a:ext cx="1475834" cy="1950494"/>
          </a:xfrm>
          <a:custGeom>
            <a:rect b="b" l="l" r="r" t="t"/>
            <a:pathLst>
              <a:path extrusionOk="0" h="1950494" w="1475834">
                <a:moveTo>
                  <a:pt x="0" y="0"/>
                </a:moveTo>
                <a:lnTo>
                  <a:pt x="1475834" y="0"/>
                </a:lnTo>
                <a:lnTo>
                  <a:pt x="1475834" y="1950494"/>
                </a:lnTo>
                <a:lnTo>
                  <a:pt x="0" y="1950494"/>
                </a:lnTo>
                <a:lnTo>
                  <a:pt x="0" y="0"/>
                </a:lnTo>
                <a:close/>
              </a:path>
            </a:pathLst>
          </a:custGeom>
          <a:blipFill rotWithShape="1">
            <a:blip r:embed="rId3">
              <a:alphaModFix/>
            </a:blip>
            <a:stretch>
              <a:fillRect b="0" l="-75925" r="-75799" t="0"/>
            </a:stretch>
          </a:blipFill>
          <a:ln>
            <a:noFill/>
          </a:ln>
        </p:spPr>
      </p:sp>
      <p:sp>
        <p:nvSpPr>
          <p:cNvPr id="297" name="Google Shape;297;p12"/>
          <p:cNvSpPr/>
          <p:nvPr/>
        </p:nvSpPr>
        <p:spPr>
          <a:xfrm>
            <a:off x="6167188" y="8235970"/>
            <a:ext cx="4916841" cy="1387818"/>
          </a:xfrm>
          <a:custGeom>
            <a:rect b="b" l="l" r="r" t="t"/>
            <a:pathLst>
              <a:path extrusionOk="0" h="1387818" w="4916841">
                <a:moveTo>
                  <a:pt x="0" y="0"/>
                </a:moveTo>
                <a:lnTo>
                  <a:pt x="4916840" y="0"/>
                </a:lnTo>
                <a:lnTo>
                  <a:pt x="4916840" y="1387818"/>
                </a:lnTo>
                <a:lnTo>
                  <a:pt x="0" y="1387818"/>
                </a:lnTo>
                <a:lnTo>
                  <a:pt x="0" y="0"/>
                </a:lnTo>
                <a:close/>
              </a:path>
            </a:pathLst>
          </a:custGeom>
          <a:blipFill rotWithShape="1">
            <a:blip r:embed="rId4">
              <a:alphaModFix/>
            </a:blip>
            <a:stretch>
              <a:fillRect b="0" l="0" r="0" t="0"/>
            </a:stretch>
          </a:blipFill>
          <a:ln>
            <a:noFill/>
          </a:ln>
        </p:spPr>
      </p:sp>
      <p:sp>
        <p:nvSpPr>
          <p:cNvPr id="298" name="Google Shape;298;p12"/>
          <p:cNvSpPr/>
          <p:nvPr/>
        </p:nvSpPr>
        <p:spPr>
          <a:xfrm>
            <a:off x="11179278" y="7954632"/>
            <a:ext cx="2516766" cy="1950494"/>
          </a:xfrm>
          <a:custGeom>
            <a:rect b="b" l="l" r="r" t="t"/>
            <a:pathLst>
              <a:path extrusionOk="0" h="1950494" w="2516766">
                <a:moveTo>
                  <a:pt x="0" y="0"/>
                </a:moveTo>
                <a:lnTo>
                  <a:pt x="2516767" y="0"/>
                </a:lnTo>
                <a:lnTo>
                  <a:pt x="2516767" y="1950494"/>
                </a:lnTo>
                <a:lnTo>
                  <a:pt x="0" y="1950494"/>
                </a:lnTo>
                <a:lnTo>
                  <a:pt x="0" y="0"/>
                </a:lnTo>
                <a:close/>
              </a:path>
            </a:pathLst>
          </a:custGeom>
          <a:blipFill rotWithShape="1">
            <a:blip r:embed="rId5">
              <a:alphaModFix/>
            </a:blip>
            <a:stretch>
              <a:fillRect b="0" l="0" r="0" t="0"/>
            </a:stretch>
          </a:blipFill>
          <a:ln>
            <a:noFill/>
          </a:ln>
        </p:spPr>
      </p:sp>
      <p:sp>
        <p:nvSpPr>
          <p:cNvPr id="299" name="Google Shape;299;p12"/>
          <p:cNvSpPr txBox="1"/>
          <p:nvPr/>
        </p:nvSpPr>
        <p:spPr>
          <a:xfrm>
            <a:off x="1904222" y="5020792"/>
            <a:ext cx="14701023" cy="29579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794" u="none" cap="none" strike="noStrike">
                <a:solidFill>
                  <a:srgbClr val="152540"/>
                </a:solidFill>
                <a:latin typeface="Arial"/>
                <a:ea typeface="Arial"/>
                <a:cs typeface="Arial"/>
                <a:sym typeface="Arial"/>
              </a:rPr>
              <a:t>Los lenguajes de cuarta generación se escribían en lenguajes de alto nivel, que son aún más fáciles de leer y escribir que los lenguajes de alto nivel. Los lenguajes de cuarta generación se utilizan a menudo para crear aplicaciones de negocios, y son fáciles de usar por personas sin experiencia en programación. Algunos de los lenguajes de cuarta generación más populares son SQL, ABAP y R.</a:t>
            </a:r>
            <a:endParaRPr/>
          </a:p>
        </p:txBody>
      </p:sp>
      <p:sp>
        <p:nvSpPr>
          <p:cNvPr id="300" name="Google Shape;300;p12"/>
          <p:cNvSpPr txBox="1"/>
          <p:nvPr/>
        </p:nvSpPr>
        <p:spPr>
          <a:xfrm>
            <a:off x="1904222" y="3787375"/>
            <a:ext cx="14701023" cy="72009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None/>
            </a:pPr>
            <a:r>
              <a:rPr b="0" i="0" lang="en-US" sz="3900" u="none" cap="none" strike="noStrike">
                <a:solidFill>
                  <a:srgbClr val="152540"/>
                </a:solidFill>
                <a:latin typeface="Arial"/>
                <a:ea typeface="Arial"/>
                <a:cs typeface="Arial"/>
                <a:sym typeface="Arial"/>
              </a:rPr>
              <a:t>CUARTA GENERACIÓN (1975 - 1985)</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3"/>
          <p:cNvSpPr txBox="1"/>
          <p:nvPr/>
        </p:nvSpPr>
        <p:spPr>
          <a:xfrm>
            <a:off x="1904222" y="1577033"/>
            <a:ext cx="15355078" cy="1645285"/>
          </a:xfrm>
          <a:prstGeom prst="rect">
            <a:avLst/>
          </a:prstGeom>
          <a:noFill/>
          <a:ln>
            <a:noFill/>
          </a:ln>
        </p:spPr>
        <p:txBody>
          <a:bodyPr anchorCtr="0" anchor="t" bIns="0" lIns="0" spcFirstLastPara="1" rIns="0" wrap="square" tIns="0">
            <a:spAutoFit/>
          </a:bodyPr>
          <a:lstStyle/>
          <a:p>
            <a:pPr indent="0" lvl="0" marL="0" marR="0" rtl="0" algn="l">
              <a:lnSpc>
                <a:spcPct val="140008"/>
              </a:lnSpc>
              <a:spcBef>
                <a:spcPts val="0"/>
              </a:spcBef>
              <a:spcAft>
                <a:spcPts val="0"/>
              </a:spcAft>
              <a:buNone/>
            </a:pPr>
            <a:r>
              <a:rPr b="0" i="0" lang="en-US" sz="4599" u="none" cap="none" strike="noStrike">
                <a:solidFill>
                  <a:srgbClr val="152540"/>
                </a:solidFill>
                <a:latin typeface="Arial"/>
                <a:ea typeface="Arial"/>
                <a:cs typeface="Arial"/>
                <a:sym typeface="Arial"/>
              </a:rPr>
              <a:t>GENERACIONES DE LENGUAJES DE PROGRAMACIÓN</a:t>
            </a:r>
            <a:endParaRPr/>
          </a:p>
        </p:txBody>
      </p:sp>
      <p:sp>
        <p:nvSpPr>
          <p:cNvPr id="306" name="Google Shape;306;p13"/>
          <p:cNvSpPr/>
          <p:nvPr/>
        </p:nvSpPr>
        <p:spPr>
          <a:xfrm>
            <a:off x="8412816" y="7802830"/>
            <a:ext cx="1462368" cy="1455470"/>
          </a:xfrm>
          <a:custGeom>
            <a:rect b="b" l="l" r="r" t="t"/>
            <a:pathLst>
              <a:path extrusionOk="0" h="1455470" w="1462368">
                <a:moveTo>
                  <a:pt x="0" y="0"/>
                </a:moveTo>
                <a:lnTo>
                  <a:pt x="1462368" y="0"/>
                </a:lnTo>
                <a:lnTo>
                  <a:pt x="1462368" y="1455470"/>
                </a:lnTo>
                <a:lnTo>
                  <a:pt x="0" y="1455470"/>
                </a:lnTo>
                <a:lnTo>
                  <a:pt x="0" y="0"/>
                </a:lnTo>
                <a:close/>
              </a:path>
            </a:pathLst>
          </a:custGeom>
          <a:blipFill rotWithShape="1">
            <a:blip r:embed="rId3">
              <a:alphaModFix/>
            </a:blip>
            <a:stretch>
              <a:fillRect b="-39745" l="-30086" r="-36652" t="-27780"/>
            </a:stretch>
          </a:blipFill>
          <a:ln>
            <a:noFill/>
          </a:ln>
        </p:spPr>
      </p:sp>
      <p:sp>
        <p:nvSpPr>
          <p:cNvPr id="307" name="Google Shape;307;p13"/>
          <p:cNvSpPr txBox="1"/>
          <p:nvPr/>
        </p:nvSpPr>
        <p:spPr>
          <a:xfrm>
            <a:off x="1904222" y="5030317"/>
            <a:ext cx="14701023" cy="2836685"/>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694" u="none" cap="none" strike="noStrike">
                <a:solidFill>
                  <a:srgbClr val="152540"/>
                </a:solidFill>
                <a:latin typeface="Arial"/>
                <a:ea typeface="Arial"/>
                <a:cs typeface="Arial"/>
                <a:sym typeface="Arial"/>
              </a:rPr>
              <a:t>Los lenguajes de quinta generación se escriben en lenguajes de alto nivel, que son muy parecidos al lenguaje humano. Los lenguajes de quinta generación se utilizan a menudo para crear sistemas expertos, que son programas informáticos que pueden tomar decisiones y resolver problemas como lo haría un humano. Algunos de los lenguajes de quinta generación más populares son Prolog, Mercury y OPS5.</a:t>
            </a:r>
            <a:endParaRPr/>
          </a:p>
        </p:txBody>
      </p:sp>
      <p:sp>
        <p:nvSpPr>
          <p:cNvPr id="308" name="Google Shape;308;p13"/>
          <p:cNvSpPr txBox="1"/>
          <p:nvPr/>
        </p:nvSpPr>
        <p:spPr>
          <a:xfrm>
            <a:off x="1904222" y="3806133"/>
            <a:ext cx="14833393"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152540"/>
                </a:solidFill>
                <a:latin typeface="Arial"/>
                <a:ea typeface="Arial"/>
                <a:cs typeface="Arial"/>
                <a:sym typeface="Arial"/>
              </a:rPr>
              <a:t>QUINTA GENERACIÓN (1985 - PRESENTE)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4"/>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000" u="none" cap="none" strike="noStrike">
                <a:solidFill>
                  <a:srgbClr val="152540"/>
                </a:solidFill>
                <a:latin typeface="Arial"/>
                <a:ea typeface="Arial"/>
                <a:cs typeface="Arial"/>
                <a:sym typeface="Arial"/>
              </a:rPr>
              <a:t>PARADIGMAS DE PROGRAMACIÓN</a:t>
            </a:r>
            <a:endParaRPr/>
          </a:p>
        </p:txBody>
      </p:sp>
      <p:sp>
        <p:nvSpPr>
          <p:cNvPr id="314" name="Google Shape;314;p14"/>
          <p:cNvSpPr txBox="1"/>
          <p:nvPr/>
        </p:nvSpPr>
        <p:spPr>
          <a:xfrm>
            <a:off x="1904222" y="2116306"/>
            <a:ext cx="14701023" cy="6920370"/>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794" u="none" cap="none" strike="noStrike">
                <a:solidFill>
                  <a:srgbClr val="152540"/>
                </a:solidFill>
                <a:latin typeface="Arial"/>
                <a:ea typeface="Arial"/>
                <a:cs typeface="Arial"/>
                <a:sym typeface="Arial"/>
              </a:rPr>
              <a:t>Un paradigma de programación es un conjunto de principios y prácticas que se utilizan para diseñar y escribir programas informáticos. Los paradigmas de programación se pueden utilizar en combinación para crear programas más complejos y poderosos.</a:t>
            </a:r>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imperativa</a:t>
            </a:r>
            <a:r>
              <a:rPr b="0" i="0" lang="en-US" sz="2794" u="none" cap="none" strike="noStrike">
                <a:solidFill>
                  <a:srgbClr val="152540"/>
                </a:solidFill>
                <a:latin typeface="Arial"/>
                <a:ea typeface="Arial"/>
                <a:cs typeface="Arial"/>
                <a:sym typeface="Arial"/>
              </a:rPr>
              <a:t>: este paradigma se basa en la idea de dar instrucciones a la computadora paso a paso.</a:t>
            </a:r>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orientada a objetos</a:t>
            </a:r>
            <a:r>
              <a:rPr b="0" i="0" lang="en-US" sz="2794" u="none" cap="none" strike="noStrike">
                <a:solidFill>
                  <a:srgbClr val="152540"/>
                </a:solidFill>
                <a:latin typeface="Arial"/>
                <a:ea typeface="Arial"/>
                <a:cs typeface="Arial"/>
                <a:sym typeface="Arial"/>
              </a:rPr>
              <a:t>: este paradigma se basa en la idea de crear objetos que representan conceptos del mundo real.</a:t>
            </a:r>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funcional</a:t>
            </a:r>
            <a:r>
              <a:rPr b="0" i="0" lang="en-US" sz="2794" u="none" cap="none" strike="noStrike">
                <a:solidFill>
                  <a:srgbClr val="152540"/>
                </a:solidFill>
                <a:latin typeface="Arial"/>
                <a:ea typeface="Arial"/>
                <a:cs typeface="Arial"/>
                <a:sym typeface="Arial"/>
              </a:rPr>
              <a:t>: este paradigma se basa en la idea de usar funciones para representar el comportamiento de un programa.</a:t>
            </a:r>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lógica</a:t>
            </a:r>
            <a:r>
              <a:rPr b="0" i="0" lang="en-US" sz="2794" u="none" cap="none" strike="noStrike">
                <a:solidFill>
                  <a:srgbClr val="152540"/>
                </a:solidFill>
                <a:latin typeface="Arial"/>
                <a:ea typeface="Arial"/>
                <a:cs typeface="Arial"/>
                <a:sym typeface="Arial"/>
              </a:rPr>
              <a:t>: este paradigma se basa en la idea de usar lógica para representar el conocimiento.</a:t>
            </a:r>
            <a:endParaRPr/>
          </a:p>
          <a:p>
            <a:pPr indent="-301666" lvl="1" marL="603333" marR="0" rtl="0" algn="just">
              <a:lnSpc>
                <a:spcPct val="140014"/>
              </a:lnSpc>
              <a:spcBef>
                <a:spcPts val="0"/>
              </a:spcBef>
              <a:spcAft>
                <a:spcPts val="0"/>
              </a:spcAft>
              <a:buClr>
                <a:srgbClr val="152540"/>
              </a:buClr>
              <a:buSzPts val="2794"/>
              <a:buFont typeface="Arial"/>
              <a:buChar char="•"/>
            </a:pPr>
            <a:r>
              <a:rPr b="1" i="0" lang="en-US" sz="2794" u="none" cap="none" strike="noStrike">
                <a:solidFill>
                  <a:srgbClr val="152540"/>
                </a:solidFill>
                <a:latin typeface="Arial"/>
                <a:ea typeface="Arial"/>
                <a:cs typeface="Arial"/>
                <a:sym typeface="Arial"/>
              </a:rPr>
              <a:t>Programación declarativa</a:t>
            </a:r>
            <a:r>
              <a:rPr b="0" i="0" lang="en-US" sz="2794" u="none" cap="none" strike="noStrike">
                <a:solidFill>
                  <a:srgbClr val="152540"/>
                </a:solidFill>
                <a:latin typeface="Arial"/>
                <a:ea typeface="Arial"/>
                <a:cs typeface="Arial"/>
                <a:sym typeface="Arial"/>
              </a:rPr>
              <a:t>: este paradigma se centra en describir qué debe hacerse, en lugar de cómo hacerlo.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62d1a54d81_0_0"/>
          <p:cNvSpPr txBox="1"/>
          <p:nvPr/>
        </p:nvSpPr>
        <p:spPr>
          <a:xfrm>
            <a:off x="1904222" y="895350"/>
            <a:ext cx="147009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000" u="none" cap="none" strike="noStrike">
                <a:solidFill>
                  <a:srgbClr val="152540"/>
                </a:solidFill>
                <a:latin typeface="Arial"/>
                <a:ea typeface="Arial"/>
                <a:cs typeface="Arial"/>
                <a:sym typeface="Arial"/>
              </a:rPr>
              <a:t>PARADIGMAS </a:t>
            </a:r>
            <a:r>
              <a:rPr lang="en-US" sz="4000">
                <a:solidFill>
                  <a:srgbClr val="152540"/>
                </a:solidFill>
              </a:rPr>
              <a:t>EJEMPLOS</a:t>
            </a:r>
            <a:endParaRPr/>
          </a:p>
        </p:txBody>
      </p:sp>
      <p:pic>
        <p:nvPicPr>
          <p:cNvPr id="320" name="Google Shape;320;g362d1a54d81_0_0"/>
          <p:cNvPicPr preferRelativeResize="0"/>
          <p:nvPr/>
        </p:nvPicPr>
        <p:blipFill>
          <a:blip r:embed="rId3">
            <a:alphaModFix/>
          </a:blip>
          <a:stretch>
            <a:fillRect/>
          </a:stretch>
        </p:blipFill>
        <p:spPr>
          <a:xfrm>
            <a:off x="514150" y="2701500"/>
            <a:ext cx="5185000" cy="5493500"/>
          </a:xfrm>
          <a:prstGeom prst="rect">
            <a:avLst/>
          </a:prstGeom>
          <a:noFill/>
          <a:ln>
            <a:noFill/>
          </a:ln>
        </p:spPr>
      </p:pic>
      <p:pic>
        <p:nvPicPr>
          <p:cNvPr id="321" name="Google Shape;321;g362d1a54d81_0_0"/>
          <p:cNvPicPr preferRelativeResize="0"/>
          <p:nvPr/>
        </p:nvPicPr>
        <p:blipFill>
          <a:blip r:embed="rId4">
            <a:alphaModFix/>
          </a:blip>
          <a:stretch>
            <a:fillRect/>
          </a:stretch>
        </p:blipFill>
        <p:spPr>
          <a:xfrm>
            <a:off x="6161000" y="2701500"/>
            <a:ext cx="5629276" cy="5340183"/>
          </a:xfrm>
          <a:prstGeom prst="rect">
            <a:avLst/>
          </a:prstGeom>
          <a:noFill/>
          <a:ln>
            <a:noFill/>
          </a:ln>
        </p:spPr>
      </p:pic>
      <p:pic>
        <p:nvPicPr>
          <p:cNvPr id="322" name="Google Shape;322;g362d1a54d81_0_0"/>
          <p:cNvPicPr preferRelativeResize="0"/>
          <p:nvPr/>
        </p:nvPicPr>
        <p:blipFill>
          <a:blip r:embed="rId5">
            <a:alphaModFix/>
          </a:blip>
          <a:stretch>
            <a:fillRect/>
          </a:stretch>
        </p:blipFill>
        <p:spPr>
          <a:xfrm>
            <a:off x="12122425" y="2701500"/>
            <a:ext cx="5856225" cy="5340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5"/>
          <p:cNvSpPr txBox="1"/>
          <p:nvPr/>
        </p:nvSpPr>
        <p:spPr>
          <a:xfrm>
            <a:off x="1904222" y="2853826"/>
            <a:ext cx="14701023" cy="6682740"/>
          </a:xfrm>
          <a:prstGeom prst="rect">
            <a:avLst/>
          </a:prstGeom>
          <a:noFill/>
          <a:ln>
            <a:noFill/>
          </a:ln>
        </p:spPr>
        <p:txBody>
          <a:bodyPr anchorCtr="0" anchor="t" bIns="0" lIns="0" spcFirstLastPara="1" rIns="0" wrap="square" tIns="0">
            <a:spAutoFit/>
          </a:bodyPr>
          <a:lstStyle/>
          <a:p>
            <a:pPr indent="0" lvl="0" marL="0" marR="0" rtl="0" algn="just">
              <a:lnSpc>
                <a:spcPct val="139958"/>
              </a:lnSpc>
              <a:spcBef>
                <a:spcPts val="0"/>
              </a:spcBef>
              <a:spcAft>
                <a:spcPts val="0"/>
              </a:spcAft>
              <a:buNone/>
            </a:pPr>
            <a:r>
              <a:rPr b="0" i="0" lang="en-US" sz="2400" u="none" cap="none" strike="noStrike">
                <a:solidFill>
                  <a:srgbClr val="152540"/>
                </a:solidFill>
                <a:latin typeface="Arial"/>
                <a:ea typeface="Arial"/>
                <a:cs typeface="Arial"/>
                <a:sym typeface="Arial"/>
              </a:rPr>
              <a:t>La programación imperativa es un paradigma que se centra en cómo se modifican los estados de un programa a lo largo del tiempo, dando instrucciones a la computadora paso a paso. Se utiliza declaraciones de asignación para asignar valores a variables y declaraciones de control de flujo para determinar el orden de ejecución de las instrucciones.</a:t>
            </a:r>
            <a:endParaRPr/>
          </a:p>
          <a:p>
            <a:pPr indent="-259079" lvl="1" marL="518160" marR="0" rtl="0" algn="just">
              <a:lnSpc>
                <a:spcPct val="139958"/>
              </a:lnSpc>
              <a:spcBef>
                <a:spcPts val="0"/>
              </a:spcBef>
              <a:spcAft>
                <a:spcPts val="0"/>
              </a:spcAft>
              <a:buClr>
                <a:srgbClr val="152540"/>
              </a:buClr>
              <a:buSzPts val="2400"/>
              <a:buFont typeface="Arial"/>
              <a:buChar char="•"/>
            </a:pPr>
            <a:r>
              <a:rPr b="1" i="0" lang="en-US" sz="2400" u="none" cap="none" strike="noStrike">
                <a:solidFill>
                  <a:srgbClr val="152540"/>
                </a:solidFill>
                <a:latin typeface="Arial"/>
                <a:ea typeface="Arial"/>
                <a:cs typeface="Arial"/>
                <a:sym typeface="Arial"/>
              </a:rPr>
              <a:t>Ventajas</a:t>
            </a:r>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Es fácil de entender y de aprender.</a:t>
            </a:r>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Es versátil y puede ser utilizado para escribir una amplia gama de programas.</a:t>
            </a:r>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Es rápido y eficiente.</a:t>
            </a:r>
            <a:endParaRPr/>
          </a:p>
          <a:p>
            <a:pPr indent="-259079" lvl="1" marL="518160" marR="0" rtl="0" algn="just">
              <a:lnSpc>
                <a:spcPct val="139958"/>
              </a:lnSpc>
              <a:spcBef>
                <a:spcPts val="0"/>
              </a:spcBef>
              <a:spcAft>
                <a:spcPts val="0"/>
              </a:spcAft>
              <a:buClr>
                <a:srgbClr val="152540"/>
              </a:buClr>
              <a:buSzPts val="2400"/>
              <a:buFont typeface="Arial"/>
              <a:buChar char="•"/>
            </a:pPr>
            <a:r>
              <a:rPr b="1" i="0" lang="en-US" sz="2400" u="none" cap="none" strike="noStrike">
                <a:solidFill>
                  <a:srgbClr val="152540"/>
                </a:solidFill>
                <a:latin typeface="Arial"/>
                <a:ea typeface="Arial"/>
                <a:cs typeface="Arial"/>
                <a:sym typeface="Arial"/>
              </a:rPr>
              <a:t>Desventajas</a:t>
            </a:r>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Puede ser difícil de mantener, especialmente para programas grandes y complejos.</a:t>
            </a:r>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Puede ser difícil de depurar, especialmente para programas que contienen muchos ciclos.</a:t>
            </a:r>
            <a:endParaRPr/>
          </a:p>
          <a:p>
            <a:pPr indent="-345439" lvl="2" marL="1036320" marR="0" rtl="0" algn="just">
              <a:lnSpc>
                <a:spcPct val="139958"/>
              </a:lnSpc>
              <a:spcBef>
                <a:spcPts val="0"/>
              </a:spcBef>
              <a:spcAft>
                <a:spcPts val="0"/>
              </a:spcAft>
              <a:buClr>
                <a:srgbClr val="152540"/>
              </a:buClr>
              <a:buSzPts val="2400"/>
              <a:buFont typeface="Arial"/>
              <a:buChar char="⚬"/>
            </a:pPr>
            <a:r>
              <a:rPr b="0" i="0" lang="en-US" sz="2400" u="none" cap="none" strike="noStrike">
                <a:solidFill>
                  <a:srgbClr val="152540"/>
                </a:solidFill>
                <a:latin typeface="Arial"/>
                <a:ea typeface="Arial"/>
                <a:cs typeface="Arial"/>
                <a:sym typeface="Arial"/>
              </a:rPr>
              <a:t>Puede no ser adecuado para escribir programas que requieren un alto nivel de concurrencia.</a:t>
            </a:r>
            <a:endParaRPr/>
          </a:p>
        </p:txBody>
      </p:sp>
      <p:sp>
        <p:nvSpPr>
          <p:cNvPr id="328" name="Google Shape;328;p15"/>
          <p:cNvSpPr txBox="1"/>
          <p:nvPr/>
        </p:nvSpPr>
        <p:spPr>
          <a:xfrm>
            <a:off x="1904222" y="1782237"/>
            <a:ext cx="14701023"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152540"/>
                </a:solidFill>
                <a:latin typeface="Arial"/>
                <a:ea typeface="Arial"/>
                <a:cs typeface="Arial"/>
                <a:sym typeface="Arial"/>
              </a:rPr>
              <a:t>IMPERATIVO O DE PROCEDIMIENTOS</a:t>
            </a:r>
            <a:endParaRPr/>
          </a:p>
        </p:txBody>
      </p:sp>
      <p:sp>
        <p:nvSpPr>
          <p:cNvPr id="329" name="Google Shape;329;p15"/>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000" u="none" cap="none" strike="noStrike">
                <a:solidFill>
                  <a:srgbClr val="152540"/>
                </a:solidFill>
                <a:latin typeface="Arial"/>
                <a:ea typeface="Arial"/>
                <a:cs typeface="Arial"/>
                <a:sym typeface="Arial"/>
              </a:rPr>
              <a:t>PARADIGMAS DE PROGRAMACIÓN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6"/>
          <p:cNvSpPr txBox="1"/>
          <p:nvPr/>
        </p:nvSpPr>
        <p:spPr>
          <a:xfrm>
            <a:off x="1904222" y="2786506"/>
            <a:ext cx="14701023" cy="6565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00" u="none" cap="none" strike="noStrike">
                <a:solidFill>
                  <a:srgbClr val="152540"/>
                </a:solidFill>
                <a:latin typeface="Arial"/>
                <a:ea typeface="Arial"/>
                <a:cs typeface="Arial"/>
                <a:sym typeface="Arial"/>
              </a:rPr>
              <a:t>La programación orientada a objetos (OOP) es un paradigma de programación que organiza el código en unidades llamadas objetos. Cada objeto tiene su propio estado y comportamiento. El estado de un objeto se almacena en sus atributos y el comportamiento se define en sus métodos. Los objetos se comunican entre sí enviando mensajes. Un mensaje es una solicitud que un objeto hace a otro objeto para realizar una acción. Los objetos pueden enviar mensajes a sí mismos o a otros objetos.</a:t>
            </a:r>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Ventajas</a:t>
            </a:r>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Flexibilidad</a:t>
            </a:r>
            <a:r>
              <a:rPr b="0" i="0" lang="en-US" sz="2500" u="none" cap="none" strike="noStrike">
                <a:solidFill>
                  <a:srgbClr val="152540"/>
                </a:solidFill>
                <a:latin typeface="Arial"/>
                <a:ea typeface="Arial"/>
                <a:cs typeface="Arial"/>
                <a:sym typeface="Arial"/>
              </a:rPr>
              <a:t>: La programación orientada a objetos es muy flexible y puede ser utilizada para escribir una amplia gama de programas.</a:t>
            </a:r>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Mantenimiento</a:t>
            </a:r>
            <a:r>
              <a:rPr b="0" i="0" lang="en-US" sz="2500" u="none" cap="none" strike="noStrike">
                <a:solidFill>
                  <a:srgbClr val="152540"/>
                </a:solidFill>
                <a:latin typeface="Arial"/>
                <a:ea typeface="Arial"/>
                <a:cs typeface="Arial"/>
                <a:sym typeface="Arial"/>
              </a:rPr>
              <a:t>: La programación orientada a objetos es muy fácil de mantener, especialmente para programas grandes y complejos.</a:t>
            </a:r>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Extensibilidad</a:t>
            </a:r>
            <a:r>
              <a:rPr b="0" i="0" lang="en-US" sz="2500" u="none" cap="none" strike="noStrike">
                <a:solidFill>
                  <a:srgbClr val="152540"/>
                </a:solidFill>
                <a:latin typeface="Arial"/>
                <a:ea typeface="Arial"/>
                <a:cs typeface="Arial"/>
                <a:sym typeface="Arial"/>
              </a:rPr>
              <a:t>: La programación orientada a objetos es muy extensible y puede ser fácilmente ampliada para agregar nuevas funcionalidades.</a:t>
            </a:r>
            <a:endParaRPr/>
          </a:p>
          <a:p>
            <a:pPr indent="-359834" lvl="2" marL="1079502"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Seguridad</a:t>
            </a:r>
            <a:r>
              <a:rPr b="0" i="0" lang="en-US" sz="2500" u="none" cap="none" strike="noStrike">
                <a:solidFill>
                  <a:srgbClr val="152540"/>
                </a:solidFill>
                <a:latin typeface="Arial"/>
                <a:ea typeface="Arial"/>
                <a:cs typeface="Arial"/>
                <a:sym typeface="Arial"/>
              </a:rPr>
              <a:t>: La programación orientada a objetos es muy segura y puede ayudar a prevenir errores. </a:t>
            </a:r>
            <a:endParaRPr/>
          </a:p>
        </p:txBody>
      </p:sp>
      <p:sp>
        <p:nvSpPr>
          <p:cNvPr id="335" name="Google Shape;335;p16"/>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152540"/>
                </a:solidFill>
                <a:latin typeface="Arial"/>
                <a:ea typeface="Arial"/>
                <a:cs typeface="Arial"/>
                <a:sym typeface="Arial"/>
              </a:rPr>
              <a:t>ORIENTADO A OBJETOS</a:t>
            </a:r>
            <a:endParaRPr/>
          </a:p>
        </p:txBody>
      </p:sp>
      <p:sp>
        <p:nvSpPr>
          <p:cNvPr id="336" name="Google Shape;336;p16"/>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000" u="none" cap="none" strike="noStrike">
                <a:solidFill>
                  <a:srgbClr val="152540"/>
                </a:solidFill>
                <a:latin typeface="Arial"/>
                <a:ea typeface="Arial"/>
                <a:cs typeface="Arial"/>
                <a:sym typeface="Arial"/>
              </a:rPr>
              <a:t>PARADIGMAS DE PROGRAMACIÓN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7"/>
          <p:cNvSpPr txBox="1"/>
          <p:nvPr/>
        </p:nvSpPr>
        <p:spPr>
          <a:xfrm>
            <a:off x="1904222" y="2786506"/>
            <a:ext cx="14701023" cy="6127750"/>
          </a:xfrm>
          <a:prstGeom prst="rect">
            <a:avLst/>
          </a:prstGeom>
          <a:noFill/>
          <a:ln>
            <a:noFill/>
          </a:ln>
        </p:spPr>
        <p:txBody>
          <a:bodyPr anchorCtr="0" anchor="t" bIns="0" lIns="0" spcFirstLastPara="1" rIns="0" wrap="square" tIns="0">
            <a:spAutoFit/>
          </a:bodyPr>
          <a:lstStyle/>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Abstracción</a:t>
            </a:r>
            <a:r>
              <a:rPr b="0" i="0" lang="en-US" sz="2500" u="none" cap="none" strike="noStrike">
                <a:solidFill>
                  <a:srgbClr val="152540"/>
                </a:solidFill>
                <a:latin typeface="Arial"/>
                <a:ea typeface="Arial"/>
                <a:cs typeface="Arial"/>
                <a:sym typeface="Arial"/>
              </a:rPr>
              <a:t>: Es el proceso de ocultar los detalles de implementación de un objeto y exponer solo los detalles que son esenciales para su uso. Esto permite que los usuarios de un objeto se concentren en su funcionalidad y no en cómo funciona internamente.</a:t>
            </a:r>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Encapsulamiento</a:t>
            </a:r>
            <a:r>
              <a:rPr b="0" i="0" lang="en-US" sz="2500" u="none" cap="none" strike="noStrike">
                <a:solidFill>
                  <a:srgbClr val="152540"/>
                </a:solidFill>
                <a:latin typeface="Arial"/>
                <a:ea typeface="Arial"/>
                <a:cs typeface="Arial"/>
                <a:sym typeface="Arial"/>
              </a:rPr>
              <a:t>: Es el proceso de agrupar juntos los datos y el código que se utilizan para manipular esos datos. Esto permite proteger los datos de acceso no autorizado y hace que el código sea más fácil de entender y mantener.</a:t>
            </a:r>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Herencia</a:t>
            </a:r>
            <a:r>
              <a:rPr b="0" i="0" lang="en-US" sz="2500" u="none" cap="none" strike="noStrike">
                <a:solidFill>
                  <a:srgbClr val="152540"/>
                </a:solidFill>
                <a:latin typeface="Arial"/>
                <a:ea typeface="Arial"/>
                <a:cs typeface="Arial"/>
                <a:sym typeface="Arial"/>
              </a:rPr>
              <a:t>: Es el proceso de crear una nueva clase a partir de una clase existente. La nueva clase hereda todas las propiedades y métodos de la clase existente, y puede agregar sus propias propiedades y métodos. Esto permite reutilizar el código y crear clases más complejas más rápidamente.</a:t>
            </a:r>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Polimorfismo</a:t>
            </a:r>
            <a:r>
              <a:rPr b="0" i="0" lang="en-US" sz="2500" u="none" cap="none" strike="noStrike">
                <a:solidFill>
                  <a:srgbClr val="152540"/>
                </a:solidFill>
                <a:latin typeface="Arial"/>
                <a:ea typeface="Arial"/>
                <a:cs typeface="Arial"/>
                <a:sym typeface="Arial"/>
              </a:rPr>
              <a:t>: Es la capacidad de una función para tener diferentes significados dependiendo de los argumentos que se le pasen. Esto permite escribir código más genérico y flexible</a:t>
            </a:r>
            <a:endParaRPr/>
          </a:p>
        </p:txBody>
      </p:sp>
      <p:sp>
        <p:nvSpPr>
          <p:cNvPr id="342" name="Google Shape;342;p17"/>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152540"/>
                </a:solidFill>
                <a:latin typeface="Arial"/>
                <a:ea typeface="Arial"/>
                <a:cs typeface="Arial"/>
                <a:sym typeface="Arial"/>
              </a:rPr>
              <a:t>PILARES DE POO</a:t>
            </a:r>
            <a:endParaRPr/>
          </a:p>
        </p:txBody>
      </p:sp>
      <p:sp>
        <p:nvSpPr>
          <p:cNvPr id="343" name="Google Shape;343;p17"/>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000" u="none" cap="none" strike="noStrike">
                <a:solidFill>
                  <a:srgbClr val="152540"/>
                </a:solidFill>
                <a:latin typeface="Arial"/>
                <a:ea typeface="Arial"/>
                <a:cs typeface="Arial"/>
                <a:sym typeface="Arial"/>
              </a:rPr>
              <a:t>PARADIGMAS DE PROGRAMACIÓN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8"/>
          <p:cNvSpPr txBox="1"/>
          <p:nvPr/>
        </p:nvSpPr>
        <p:spPr>
          <a:xfrm>
            <a:off x="1904222" y="2853563"/>
            <a:ext cx="14701023" cy="6565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500" u="none" cap="none" strike="noStrike">
                <a:solidFill>
                  <a:srgbClr val="152540"/>
                </a:solidFill>
                <a:latin typeface="Arial"/>
                <a:ea typeface="Arial"/>
                <a:cs typeface="Arial"/>
                <a:sym typeface="Arial"/>
              </a:rPr>
              <a:t>La programación funcional es un paradigma de programación que se basa en el uso de funciones. Una función es un bloque de código que toma un conjunto de valores como entrada y devuelve un conjunto de valores como salida. En la programación funcional, las funciones se utilizan para representar el comportamiento de un programa. Las funciones se pueden combinar para crear otras funciones más complejas.</a:t>
            </a:r>
            <a:endParaRPr/>
          </a:p>
          <a:p>
            <a:pPr indent="0" lvl="0" marL="0" marR="0" rtl="0" algn="just">
              <a:lnSpc>
                <a:spcPct val="140000"/>
              </a:lnSpc>
              <a:spcBef>
                <a:spcPts val="0"/>
              </a:spcBef>
              <a:spcAft>
                <a:spcPts val="0"/>
              </a:spcAft>
              <a:buNone/>
            </a:pPr>
            <a:r>
              <a:rPr b="0" i="0" lang="en-US" sz="2500" u="none" cap="none" strike="noStrike">
                <a:solidFill>
                  <a:srgbClr val="152540"/>
                </a:solidFill>
                <a:latin typeface="Arial"/>
                <a:ea typeface="Arial"/>
                <a:cs typeface="Arial"/>
                <a:sym typeface="Arial"/>
              </a:rPr>
              <a:t>La programación funcional tiene varias ventajas sobre otros paradigmas de programación, como la programación imperativa y la programación orientada a objetos. Algunas de las ventajas de la programación funcional incluyen:</a:t>
            </a:r>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Eficiencia</a:t>
            </a:r>
            <a:r>
              <a:rPr b="0" i="0" lang="en-US" sz="2500" u="none" cap="none" strike="noStrike">
                <a:solidFill>
                  <a:srgbClr val="152540"/>
                </a:solidFill>
                <a:latin typeface="Arial"/>
                <a:ea typeface="Arial"/>
                <a:cs typeface="Arial"/>
                <a:sym typeface="Arial"/>
              </a:rPr>
              <a:t>: La programación funcional es muy eficiente y puede ser utilizada para escribir programas que son rápidos y ligeros.</a:t>
            </a:r>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Seguridad</a:t>
            </a:r>
            <a:r>
              <a:rPr b="0" i="0" lang="en-US" sz="2500" u="none" cap="none" strike="noStrike">
                <a:solidFill>
                  <a:srgbClr val="152540"/>
                </a:solidFill>
                <a:latin typeface="Arial"/>
                <a:ea typeface="Arial"/>
                <a:cs typeface="Arial"/>
                <a:sym typeface="Arial"/>
              </a:rPr>
              <a:t>: La programación funcional es muy segura y puede ayudar a prevenir errores.</a:t>
            </a:r>
            <a:endParaRPr/>
          </a:p>
          <a:p>
            <a:pPr indent="-269876" lvl="1" marL="539751" marR="0" rtl="0" algn="just">
              <a:lnSpc>
                <a:spcPct val="140000"/>
              </a:lnSpc>
              <a:spcBef>
                <a:spcPts val="0"/>
              </a:spcBef>
              <a:spcAft>
                <a:spcPts val="0"/>
              </a:spcAft>
              <a:buClr>
                <a:srgbClr val="152540"/>
              </a:buClr>
              <a:buSzPts val="2500"/>
              <a:buFont typeface="Arial"/>
              <a:buChar char="•"/>
            </a:pPr>
            <a:r>
              <a:rPr b="1" i="0" lang="en-US" sz="2500" u="none" cap="none" strike="noStrike">
                <a:solidFill>
                  <a:srgbClr val="152540"/>
                </a:solidFill>
                <a:latin typeface="Arial"/>
                <a:ea typeface="Arial"/>
                <a:cs typeface="Arial"/>
                <a:sym typeface="Arial"/>
              </a:rPr>
              <a:t>Fácil mantenimiento</a:t>
            </a:r>
            <a:r>
              <a:rPr b="0" i="0" lang="en-US" sz="2500" u="none" cap="none" strike="noStrike">
                <a:solidFill>
                  <a:srgbClr val="152540"/>
                </a:solidFill>
                <a:latin typeface="Arial"/>
                <a:ea typeface="Arial"/>
                <a:cs typeface="Arial"/>
                <a:sym typeface="Arial"/>
              </a:rPr>
              <a:t>: La programación funcional es muy fácil de mantener, especialmente para programas grandes y complejos.</a:t>
            </a:r>
            <a:endParaRPr/>
          </a:p>
        </p:txBody>
      </p:sp>
      <p:sp>
        <p:nvSpPr>
          <p:cNvPr id="349" name="Google Shape;349;p18"/>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152540"/>
                </a:solidFill>
                <a:latin typeface="Arial"/>
                <a:ea typeface="Arial"/>
                <a:cs typeface="Arial"/>
                <a:sym typeface="Arial"/>
              </a:rPr>
              <a:t>FUNCIONAL</a:t>
            </a:r>
            <a:endParaRPr/>
          </a:p>
        </p:txBody>
      </p:sp>
      <p:sp>
        <p:nvSpPr>
          <p:cNvPr id="350" name="Google Shape;350;p18"/>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000" u="none" cap="none" strike="noStrike">
                <a:solidFill>
                  <a:srgbClr val="152540"/>
                </a:solidFill>
                <a:latin typeface="Arial"/>
                <a:ea typeface="Arial"/>
                <a:cs typeface="Arial"/>
                <a:sym typeface="Arial"/>
              </a:rPr>
              <a:t>PARADIGMAS DE PROGRAMACIÓN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9"/>
          <p:cNvSpPr txBox="1"/>
          <p:nvPr/>
        </p:nvSpPr>
        <p:spPr>
          <a:xfrm>
            <a:off x="1904222" y="2673047"/>
            <a:ext cx="14701023" cy="639191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600" u="none" cap="none" strike="noStrike">
                <a:solidFill>
                  <a:srgbClr val="152540"/>
                </a:solidFill>
                <a:latin typeface="Arial"/>
                <a:ea typeface="Arial"/>
                <a:cs typeface="Arial"/>
                <a:sym typeface="Arial"/>
              </a:rPr>
              <a:t>La programación lógica es un paradigma de programación que se basa en la lógica matemática. En la programación lógica, los programas se representan como conjuntos de hechos y reglas. Los hechos son declaraciones que son verdaderas, y las reglas son declaraciones que describen cómo se relacionan los hechos.</a:t>
            </a:r>
            <a:endParaRPr/>
          </a:p>
          <a:p>
            <a:pPr indent="-280669" lvl="1" marL="56134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Ventajas</a:t>
            </a:r>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Facilidad de mantenimiento</a:t>
            </a:r>
            <a:r>
              <a:rPr b="0" i="0" lang="en-US" sz="2600" u="none" cap="none" strike="noStrike">
                <a:solidFill>
                  <a:srgbClr val="152540"/>
                </a:solidFill>
                <a:latin typeface="Arial"/>
                <a:ea typeface="Arial"/>
                <a:cs typeface="Arial"/>
                <a:sym typeface="Arial"/>
              </a:rPr>
              <a:t>: Los programas de lógica son muy fáciles de mantener, ya que se pueden modificar fácilmente los hechos y las reglas sin tener que modificar el código.</a:t>
            </a:r>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Eficiencia</a:t>
            </a:r>
            <a:r>
              <a:rPr b="0" i="0" lang="en-US" sz="2600" u="none" cap="none" strike="noStrike">
                <a:solidFill>
                  <a:srgbClr val="152540"/>
                </a:solidFill>
                <a:latin typeface="Arial"/>
                <a:ea typeface="Arial"/>
                <a:cs typeface="Arial"/>
                <a:sym typeface="Arial"/>
              </a:rPr>
              <a:t>: Los programas de lógica son muy eficientes, ya que no tienen que realizar operaciones de control de flujo.</a:t>
            </a:r>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Verificación</a:t>
            </a:r>
            <a:r>
              <a:rPr b="0" i="0" lang="en-US" sz="2600" u="none" cap="none" strike="noStrike">
                <a:solidFill>
                  <a:srgbClr val="152540"/>
                </a:solidFill>
                <a:latin typeface="Arial"/>
                <a:ea typeface="Arial"/>
                <a:cs typeface="Arial"/>
                <a:sym typeface="Arial"/>
              </a:rPr>
              <a:t>: Los programas de lógica se pueden verificar para garantizar que son correctos.</a:t>
            </a:r>
            <a:endParaRPr/>
          </a:p>
          <a:p>
            <a:pPr indent="-374227" lvl="2" marL="1122681" marR="0" rtl="0" algn="just">
              <a:lnSpc>
                <a:spcPct val="140000"/>
              </a:lnSpc>
              <a:spcBef>
                <a:spcPts val="0"/>
              </a:spcBef>
              <a:spcAft>
                <a:spcPts val="0"/>
              </a:spcAft>
              <a:buClr>
                <a:srgbClr val="152540"/>
              </a:buClr>
              <a:buSzPts val="2600"/>
              <a:buFont typeface="Arial"/>
              <a:buChar char="⚬"/>
            </a:pPr>
            <a:r>
              <a:rPr b="1" i="0" lang="en-US" sz="2600" u="none" cap="none" strike="noStrike">
                <a:solidFill>
                  <a:srgbClr val="152540"/>
                </a:solidFill>
                <a:latin typeface="Arial"/>
                <a:ea typeface="Arial"/>
                <a:cs typeface="Arial"/>
                <a:sym typeface="Arial"/>
              </a:rPr>
              <a:t>Robustez</a:t>
            </a:r>
            <a:r>
              <a:rPr b="0" i="0" lang="en-US" sz="2600" u="none" cap="none" strike="noStrike">
                <a:solidFill>
                  <a:srgbClr val="152540"/>
                </a:solidFill>
                <a:latin typeface="Arial"/>
                <a:ea typeface="Arial"/>
                <a:cs typeface="Arial"/>
                <a:sym typeface="Arial"/>
              </a:rPr>
              <a:t>: Los programas de lógica son muy robustos y pueden tolerar errores en los datos. </a:t>
            </a:r>
            <a:endParaRPr/>
          </a:p>
        </p:txBody>
      </p:sp>
      <p:sp>
        <p:nvSpPr>
          <p:cNvPr id="356" name="Google Shape;356;p19"/>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152540"/>
                </a:solidFill>
                <a:latin typeface="Arial"/>
                <a:ea typeface="Arial"/>
                <a:cs typeface="Arial"/>
                <a:sym typeface="Arial"/>
              </a:rPr>
              <a:t>LÓGICA</a:t>
            </a:r>
            <a:endParaRPr/>
          </a:p>
        </p:txBody>
      </p:sp>
      <p:sp>
        <p:nvSpPr>
          <p:cNvPr id="357" name="Google Shape;357;p19"/>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000" u="none" cap="none" strike="noStrike">
                <a:solidFill>
                  <a:srgbClr val="152540"/>
                </a:solidFill>
                <a:latin typeface="Arial"/>
                <a:ea typeface="Arial"/>
                <a:cs typeface="Arial"/>
                <a:sym typeface="Arial"/>
              </a:rPr>
              <a:t>PARADIGMAS DE PROGRAMACIÓN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0"/>
          <p:cNvSpPr txBox="1"/>
          <p:nvPr/>
        </p:nvSpPr>
        <p:spPr>
          <a:xfrm>
            <a:off x="1904222" y="2863088"/>
            <a:ext cx="14701023" cy="5694045"/>
          </a:xfrm>
          <a:prstGeom prst="rect">
            <a:avLst/>
          </a:prstGeom>
          <a:noFill/>
          <a:ln>
            <a:noFill/>
          </a:ln>
        </p:spPr>
        <p:txBody>
          <a:bodyPr anchorCtr="0" anchor="t" bIns="0" lIns="0" spcFirstLastPara="1" rIns="0" wrap="square" tIns="0">
            <a:spAutoFit/>
          </a:bodyPr>
          <a:lstStyle/>
          <a:p>
            <a:pPr indent="0" lvl="0" marL="0" marR="0" rtl="0" algn="just">
              <a:lnSpc>
                <a:spcPct val="139962"/>
              </a:lnSpc>
              <a:spcBef>
                <a:spcPts val="0"/>
              </a:spcBef>
              <a:spcAft>
                <a:spcPts val="0"/>
              </a:spcAft>
              <a:buNone/>
            </a:pPr>
            <a:r>
              <a:rPr b="0" i="0" lang="en-US" sz="2700" u="none" cap="none" strike="noStrike">
                <a:solidFill>
                  <a:srgbClr val="152540"/>
                </a:solidFill>
                <a:latin typeface="Arial"/>
                <a:ea typeface="Arial"/>
                <a:cs typeface="Arial"/>
                <a:sym typeface="Arial"/>
              </a:rPr>
              <a:t>La programación declarativa es un paradigma que se centra en el qué se quiere lograr, en lugar del cómo hacerlo. En este enfoque, los programadores expresan los resultados deseados mediante declaraciones y expresiones, dejando que el lenguaje de programación se encargue de la ejecución.</a:t>
            </a:r>
            <a:endParaRPr/>
          </a:p>
          <a:p>
            <a:pPr indent="0" lvl="0" marL="0" marR="0" rtl="0" algn="just">
              <a:lnSpc>
                <a:spcPct val="139962"/>
              </a:lnSpc>
              <a:spcBef>
                <a:spcPts val="0"/>
              </a:spcBef>
              <a:spcAft>
                <a:spcPts val="0"/>
              </a:spcAft>
              <a:buNone/>
            </a:pPr>
            <a:r>
              <a:rPr b="0" i="0" lang="en-US" sz="2700" u="none" cap="none" strike="noStrike">
                <a:solidFill>
                  <a:srgbClr val="152540"/>
                </a:solidFill>
                <a:latin typeface="Arial"/>
                <a:ea typeface="Arial"/>
                <a:cs typeface="Arial"/>
                <a:sym typeface="Arial"/>
              </a:rPr>
              <a:t>Algunas ventajas de la programación declarativa incluyen:</a:t>
            </a:r>
            <a:endParaRPr/>
          </a:p>
          <a:p>
            <a:pPr indent="-291465" lvl="1" marL="582930" marR="0" rtl="0" algn="just">
              <a:lnSpc>
                <a:spcPct val="139962"/>
              </a:lnSpc>
              <a:spcBef>
                <a:spcPts val="0"/>
              </a:spcBef>
              <a:spcAft>
                <a:spcPts val="0"/>
              </a:spcAft>
              <a:buClr>
                <a:srgbClr val="152540"/>
              </a:buClr>
              <a:buSzPts val="2700"/>
              <a:buFont typeface="Arial"/>
              <a:buChar char="•"/>
            </a:pPr>
            <a:r>
              <a:rPr b="1" i="0" lang="en-US" sz="2700" u="none" cap="none" strike="noStrike">
                <a:solidFill>
                  <a:srgbClr val="152540"/>
                </a:solidFill>
                <a:latin typeface="Arial"/>
                <a:ea typeface="Arial"/>
                <a:cs typeface="Arial"/>
                <a:sym typeface="Arial"/>
              </a:rPr>
              <a:t>Simplicidad</a:t>
            </a:r>
            <a:r>
              <a:rPr b="0" i="0" lang="en-US" sz="2700" u="none" cap="none" strike="noStrike">
                <a:solidFill>
                  <a:srgbClr val="152540"/>
                </a:solidFill>
                <a:latin typeface="Arial"/>
                <a:ea typeface="Arial"/>
                <a:cs typeface="Arial"/>
                <a:sym typeface="Arial"/>
              </a:rPr>
              <a:t>: Permite escribir código más conciso y claro, facilitando la comprensión de lo que se está haciendo.</a:t>
            </a:r>
            <a:endParaRPr/>
          </a:p>
          <a:p>
            <a:pPr indent="-291465" lvl="1" marL="582930" marR="0" rtl="0" algn="just">
              <a:lnSpc>
                <a:spcPct val="139962"/>
              </a:lnSpc>
              <a:spcBef>
                <a:spcPts val="0"/>
              </a:spcBef>
              <a:spcAft>
                <a:spcPts val="0"/>
              </a:spcAft>
              <a:buClr>
                <a:srgbClr val="152540"/>
              </a:buClr>
              <a:buSzPts val="2700"/>
              <a:buFont typeface="Arial"/>
              <a:buChar char="•"/>
            </a:pPr>
            <a:r>
              <a:rPr b="1" i="0" lang="en-US" sz="2700" u="none" cap="none" strike="noStrike">
                <a:solidFill>
                  <a:srgbClr val="152540"/>
                </a:solidFill>
                <a:latin typeface="Arial"/>
                <a:ea typeface="Arial"/>
                <a:cs typeface="Arial"/>
                <a:sym typeface="Arial"/>
              </a:rPr>
              <a:t>Mantenibilidad</a:t>
            </a:r>
            <a:r>
              <a:rPr b="0" i="0" lang="en-US" sz="2700" u="none" cap="none" strike="noStrike">
                <a:solidFill>
                  <a:srgbClr val="152540"/>
                </a:solidFill>
                <a:latin typeface="Arial"/>
                <a:ea typeface="Arial"/>
                <a:cs typeface="Arial"/>
                <a:sym typeface="Arial"/>
              </a:rPr>
              <a:t>: Hace que el mantenimiento del código sea más fácil, ya que se enfoca en la lógica del programa y no en los detalles de la implementación.</a:t>
            </a:r>
            <a:endParaRPr/>
          </a:p>
          <a:p>
            <a:pPr indent="-291465" lvl="1" marL="582930" marR="0" rtl="0" algn="just">
              <a:lnSpc>
                <a:spcPct val="139962"/>
              </a:lnSpc>
              <a:spcBef>
                <a:spcPts val="0"/>
              </a:spcBef>
              <a:spcAft>
                <a:spcPts val="0"/>
              </a:spcAft>
              <a:buClr>
                <a:srgbClr val="152540"/>
              </a:buClr>
              <a:buSzPts val="2700"/>
              <a:buFont typeface="Arial"/>
              <a:buChar char="•"/>
            </a:pPr>
            <a:r>
              <a:rPr b="1" i="0" lang="en-US" sz="2700" u="none" cap="none" strike="noStrike">
                <a:solidFill>
                  <a:srgbClr val="152540"/>
                </a:solidFill>
                <a:latin typeface="Arial"/>
                <a:ea typeface="Arial"/>
                <a:cs typeface="Arial"/>
                <a:sym typeface="Arial"/>
              </a:rPr>
              <a:t>Abstracción</a:t>
            </a:r>
            <a:r>
              <a:rPr b="0" i="0" lang="en-US" sz="2700" u="none" cap="none" strike="noStrike">
                <a:solidFill>
                  <a:srgbClr val="152540"/>
                </a:solidFill>
                <a:latin typeface="Arial"/>
                <a:ea typeface="Arial"/>
                <a:cs typeface="Arial"/>
                <a:sym typeface="Arial"/>
              </a:rPr>
              <a:t>: Proporciona un nivel de abstracción que puede hacer que el desarrollo sea más rápido y menos propenso a errores.</a:t>
            </a:r>
            <a:endParaRPr/>
          </a:p>
        </p:txBody>
      </p:sp>
      <p:sp>
        <p:nvSpPr>
          <p:cNvPr id="363" name="Google Shape;363;p20"/>
          <p:cNvSpPr txBox="1"/>
          <p:nvPr/>
        </p:nvSpPr>
        <p:spPr>
          <a:xfrm>
            <a:off x="1904222" y="1782237"/>
            <a:ext cx="9175638" cy="644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500" u="none" cap="none" strike="noStrike">
                <a:solidFill>
                  <a:srgbClr val="152540"/>
                </a:solidFill>
                <a:latin typeface="Arial"/>
                <a:ea typeface="Arial"/>
                <a:cs typeface="Arial"/>
                <a:sym typeface="Arial"/>
              </a:rPr>
              <a:t>DECLARATIVO</a:t>
            </a:r>
            <a:endParaRPr/>
          </a:p>
        </p:txBody>
      </p:sp>
      <p:sp>
        <p:nvSpPr>
          <p:cNvPr id="364" name="Google Shape;364;p20"/>
          <p:cNvSpPr txBox="1"/>
          <p:nvPr/>
        </p:nvSpPr>
        <p:spPr>
          <a:xfrm>
            <a:off x="1904222" y="895350"/>
            <a:ext cx="14701023" cy="73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000" u="none" cap="none" strike="noStrike">
                <a:solidFill>
                  <a:srgbClr val="152540"/>
                </a:solidFill>
                <a:latin typeface="Arial"/>
                <a:ea typeface="Arial"/>
                <a:cs typeface="Arial"/>
                <a:sym typeface="Arial"/>
              </a:rPr>
              <a:t>PARADIGMAS DE PROGRAMACIÓN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1"/>
          <p:cNvSpPr txBox="1"/>
          <p:nvPr/>
        </p:nvSpPr>
        <p:spPr>
          <a:xfrm>
            <a:off x="1464052" y="2923362"/>
            <a:ext cx="12632411" cy="64240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834" u="none" cap="none" strike="noStrike">
                <a:solidFill>
                  <a:srgbClr val="152540"/>
                </a:solidFill>
                <a:latin typeface="Arial"/>
                <a:ea typeface="Arial"/>
                <a:cs typeface="Arial"/>
                <a:sym typeface="Arial"/>
              </a:rPr>
              <a:t>Lenguaje Natural</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Usado por los humanos para comunicarse.</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Ambiguo, flexible y contextual.</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Ejemplos: Español, Inglés.</a:t>
            </a:r>
            <a:endParaRPr/>
          </a:p>
          <a:p>
            <a:pPr indent="0" lvl="0" marL="0" marR="0" rtl="0" algn="l">
              <a:lnSpc>
                <a:spcPct val="140014"/>
              </a:lnSpc>
              <a:spcBef>
                <a:spcPts val="0"/>
              </a:spcBef>
              <a:spcAft>
                <a:spcPts val="0"/>
              </a:spcAft>
              <a:buNone/>
            </a:pPr>
            <a:r>
              <a:rPr b="1" i="0" lang="en-US" sz="2834" u="none" cap="none" strike="noStrike">
                <a:solidFill>
                  <a:srgbClr val="152540"/>
                </a:solidFill>
                <a:latin typeface="Arial"/>
                <a:ea typeface="Arial"/>
                <a:cs typeface="Arial"/>
                <a:sym typeface="Arial"/>
              </a:rPr>
              <a:t>Lenguaje Formal</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Conjunto de símbolos y reglas precisas.</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No ambiguo.</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Usado en matemáticas, lógica y programación.</a:t>
            </a:r>
            <a:endParaRPr/>
          </a:p>
          <a:p>
            <a:pPr indent="0" lvl="0" marL="0" marR="0" rtl="0" algn="l">
              <a:lnSpc>
                <a:spcPct val="140014"/>
              </a:lnSpc>
              <a:spcBef>
                <a:spcPts val="0"/>
              </a:spcBef>
              <a:spcAft>
                <a:spcPts val="0"/>
              </a:spcAft>
              <a:buNone/>
            </a:pPr>
            <a:r>
              <a:rPr b="1" i="0" lang="en-US" sz="2834" u="none" cap="none" strike="noStrike">
                <a:solidFill>
                  <a:srgbClr val="152540"/>
                </a:solidFill>
                <a:latin typeface="Arial"/>
                <a:ea typeface="Arial"/>
                <a:cs typeface="Arial"/>
                <a:sym typeface="Arial"/>
              </a:rPr>
              <a:t>Lenguajes de Programación</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Sistemas formales diseñados para comunicarse con computadoras.</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Tienen sintaxis y semántica bien definidas.</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Ejemplos: Java, Python, C++.</a:t>
            </a:r>
            <a:endParaRPr/>
          </a:p>
        </p:txBody>
      </p:sp>
      <p:sp>
        <p:nvSpPr>
          <p:cNvPr id="370" name="Google Shape;370;p21"/>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2"/>
          <p:cNvSpPr txBox="1"/>
          <p:nvPr/>
        </p:nvSpPr>
        <p:spPr>
          <a:xfrm>
            <a:off x="1464052" y="2923362"/>
            <a:ext cx="12632411" cy="44428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834" u="none" cap="none" strike="noStrike">
                <a:solidFill>
                  <a:srgbClr val="152540"/>
                </a:solidFill>
                <a:latin typeface="Arial"/>
                <a:ea typeface="Arial"/>
                <a:cs typeface="Arial"/>
                <a:sym typeface="Arial"/>
              </a:rPr>
              <a:t>Evolución de los Lenguajes de Programación</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De bajo nivel (ensamblador) a alto nivel (Java, Python).</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Mayor abstracción, facilidad de uso y legibilidad.</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Incorporación de nuevos paradigmas y características.</a:t>
            </a:r>
            <a:endParaRPr/>
          </a:p>
          <a:p>
            <a:pPr indent="0" lvl="0" marL="0" marR="0" rtl="0" algn="l">
              <a:lnSpc>
                <a:spcPct val="140014"/>
              </a:lnSpc>
              <a:spcBef>
                <a:spcPts val="0"/>
              </a:spcBef>
              <a:spcAft>
                <a:spcPts val="0"/>
              </a:spcAft>
              <a:buNone/>
            </a:pPr>
            <a:r>
              <a:rPr b="1" i="0" lang="en-US" sz="2834" u="none" cap="none" strike="noStrike">
                <a:solidFill>
                  <a:srgbClr val="152540"/>
                </a:solidFill>
                <a:latin typeface="Arial"/>
                <a:ea typeface="Arial"/>
                <a:cs typeface="Arial"/>
                <a:sym typeface="Arial"/>
              </a:rPr>
              <a:t>Paradigmas de Programación</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Imperativo: secuencia de instrucciones (C, Java).</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Orientado a Objetos: objetos y clases (Java, Python).</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Funcional: funciones puras (Haskell, Scala).</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Lógico: basado en reglas lógicas (Prolog).</a:t>
            </a:r>
            <a:endParaRPr/>
          </a:p>
        </p:txBody>
      </p:sp>
      <p:sp>
        <p:nvSpPr>
          <p:cNvPr id="376" name="Google Shape;376;p22"/>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3"/>
          <p:cNvSpPr txBox="1"/>
          <p:nvPr/>
        </p:nvSpPr>
        <p:spPr>
          <a:xfrm>
            <a:off x="1464052" y="2923362"/>
            <a:ext cx="12632411" cy="34522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1" i="0" lang="en-US" sz="2834" u="none" cap="none" strike="noStrike">
                <a:solidFill>
                  <a:srgbClr val="152540"/>
                </a:solidFill>
                <a:latin typeface="Arial"/>
                <a:ea typeface="Arial"/>
                <a:cs typeface="Arial"/>
                <a:sym typeface="Arial"/>
              </a:rPr>
              <a:t>Generaciones de Lenguajes de Programación</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1ª Generación: lenguaje máquina (binario).</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2ª Generación: ensamblador.</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3ª Generación: lenguajes de alto nivel (C, Java).</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4ª Generación: lenguajes orientados a tareas (SQL).</a:t>
            </a:r>
            <a:endParaRPr/>
          </a:p>
          <a:p>
            <a:pPr indent="-305979" lvl="1" marL="611958" marR="0" rtl="0" algn="l">
              <a:lnSpc>
                <a:spcPct val="140014"/>
              </a:lnSpc>
              <a:spcBef>
                <a:spcPts val="0"/>
              </a:spcBef>
              <a:spcAft>
                <a:spcPts val="0"/>
              </a:spcAft>
              <a:buClr>
                <a:srgbClr val="152540"/>
              </a:buClr>
              <a:buSzPts val="2834"/>
              <a:buFont typeface="Arial"/>
              <a:buChar char="•"/>
            </a:pPr>
            <a:r>
              <a:rPr b="0" i="0" lang="en-US" sz="2834" u="none" cap="none" strike="noStrike">
                <a:solidFill>
                  <a:srgbClr val="152540"/>
                </a:solidFill>
                <a:latin typeface="Arial"/>
                <a:ea typeface="Arial"/>
                <a:cs typeface="Arial"/>
                <a:sym typeface="Arial"/>
              </a:rPr>
              <a:t>5ª Generación: lenguajes basados en inteligencia artificial y lógica (Prolog).</a:t>
            </a:r>
            <a:endParaRPr/>
          </a:p>
        </p:txBody>
      </p:sp>
      <p:sp>
        <p:nvSpPr>
          <p:cNvPr id="382" name="Google Shape;382;p23"/>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4"/>
          <p:cNvSpPr txBox="1"/>
          <p:nvPr/>
        </p:nvSpPr>
        <p:spPr>
          <a:xfrm>
            <a:off x="1793489" y="3285909"/>
            <a:ext cx="14701023" cy="5586095"/>
          </a:xfrm>
          <a:prstGeom prst="rect">
            <a:avLst/>
          </a:prstGeom>
          <a:noFill/>
          <a:ln>
            <a:noFill/>
          </a:ln>
        </p:spPr>
        <p:txBody>
          <a:bodyPr anchorCtr="0" anchor="t" bIns="0" lIns="0" spcFirstLastPara="1" rIns="0" wrap="square" tIns="0">
            <a:spAutoFit/>
          </a:bodyPr>
          <a:lstStyle/>
          <a:p>
            <a:pPr indent="0" lvl="0" marL="0" marR="0" rtl="0" algn="just">
              <a:lnSpc>
                <a:spcPct val="140012"/>
              </a:lnSpc>
              <a:spcBef>
                <a:spcPts val="0"/>
              </a:spcBef>
              <a:spcAft>
                <a:spcPts val="0"/>
              </a:spcAft>
              <a:buNone/>
            </a:pPr>
            <a:r>
              <a:rPr b="1" i="0" lang="en-US" sz="3199" u="none" cap="none" strike="noStrike">
                <a:solidFill>
                  <a:srgbClr val="152540"/>
                </a:solidFill>
                <a:latin typeface="Arial"/>
                <a:ea typeface="Arial"/>
                <a:cs typeface="Arial"/>
                <a:sym typeface="Arial"/>
              </a:rPr>
              <a:t>Curiosidad</a:t>
            </a:r>
            <a:r>
              <a:rPr b="0" i="0" lang="en-US" sz="3199" u="none" cap="none" strike="noStrike">
                <a:solidFill>
                  <a:srgbClr val="152540"/>
                </a:solidFill>
                <a:latin typeface="Arial"/>
                <a:ea typeface="Arial"/>
                <a:cs typeface="Arial"/>
                <a:sym typeface="Arial"/>
              </a:rPr>
              <a:t>: La curiosidad lleva al alumno a explorar cómo y por qué se han desarrollado los lenguajes formales y de programación, las razones detrás de sus estructuras y cómo influyen en nuestra vida diaria.</a:t>
            </a:r>
            <a:endParaRPr/>
          </a:p>
          <a:p>
            <a:pPr indent="0" lvl="0" marL="0" marR="0" rtl="0" algn="just">
              <a:lnSpc>
                <a:spcPct val="140012"/>
              </a:lnSpc>
              <a:spcBef>
                <a:spcPts val="0"/>
              </a:spcBef>
              <a:spcAft>
                <a:spcPts val="0"/>
              </a:spcAft>
              <a:buNone/>
            </a:pPr>
            <a:r>
              <a:rPr b="1" i="0" lang="en-US" sz="3199" u="none" cap="none" strike="noStrike">
                <a:solidFill>
                  <a:srgbClr val="152540"/>
                </a:solidFill>
                <a:latin typeface="Arial"/>
                <a:ea typeface="Arial"/>
                <a:cs typeface="Arial"/>
                <a:sym typeface="Arial"/>
              </a:rPr>
              <a:t>Pensamiento Crítico</a:t>
            </a:r>
            <a:r>
              <a:rPr b="0" i="0" lang="en-US" sz="3199" u="none" cap="none" strike="noStrike">
                <a:solidFill>
                  <a:srgbClr val="152540"/>
                </a:solidFill>
                <a:latin typeface="Arial"/>
                <a:ea typeface="Arial"/>
                <a:cs typeface="Arial"/>
                <a:sym typeface="Arial"/>
              </a:rPr>
              <a:t>: Los lenguajes de programación y su evolución no son solo una cuestión de memorizar reglas, sino también de comprender por qué ciertas decisiones se tomaron en el diseño de lenguajes.</a:t>
            </a:r>
            <a:endParaRPr/>
          </a:p>
          <a:p>
            <a:pPr indent="0" lvl="0" marL="0" marR="0" rtl="0" algn="just">
              <a:lnSpc>
                <a:spcPct val="140012"/>
              </a:lnSpc>
              <a:spcBef>
                <a:spcPts val="0"/>
              </a:spcBef>
              <a:spcAft>
                <a:spcPts val="0"/>
              </a:spcAft>
              <a:buNone/>
            </a:pPr>
            <a:r>
              <a:rPr b="1" i="0" lang="en-US" sz="3199" u="none" cap="none" strike="noStrike">
                <a:solidFill>
                  <a:srgbClr val="152540"/>
                </a:solidFill>
                <a:latin typeface="Arial"/>
                <a:ea typeface="Arial"/>
                <a:cs typeface="Arial"/>
                <a:sym typeface="Arial"/>
              </a:rPr>
              <a:t>Atención al Detalle</a:t>
            </a:r>
            <a:r>
              <a:rPr b="0" i="0" lang="en-US" sz="3199" u="none" cap="none" strike="noStrike">
                <a:solidFill>
                  <a:srgbClr val="152540"/>
                </a:solidFill>
                <a:latin typeface="Arial"/>
                <a:ea typeface="Arial"/>
                <a:cs typeface="Arial"/>
                <a:sym typeface="Arial"/>
              </a:rPr>
              <a:t>: Una sola palabra mal escrita o un símbolo erróneo puede afectar el comportamiento del programa.</a:t>
            </a:r>
            <a:endParaRPr/>
          </a:p>
        </p:txBody>
      </p:sp>
      <p:sp>
        <p:nvSpPr>
          <p:cNvPr id="388" name="Google Shape;388;p24"/>
          <p:cNvSpPr txBox="1"/>
          <p:nvPr/>
        </p:nvSpPr>
        <p:spPr>
          <a:xfrm>
            <a:off x="2392343" y="2262543"/>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VALORES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5"/>
          <p:cNvSpPr txBox="1"/>
          <p:nvPr/>
        </p:nvSpPr>
        <p:spPr>
          <a:xfrm>
            <a:off x="1793489" y="4312620"/>
            <a:ext cx="14701023" cy="3580765"/>
          </a:xfrm>
          <a:prstGeom prst="rect">
            <a:avLst/>
          </a:prstGeom>
          <a:noFill/>
          <a:ln>
            <a:noFill/>
          </a:ln>
        </p:spPr>
        <p:txBody>
          <a:bodyPr anchorCtr="0" anchor="t" bIns="0" lIns="0" spcFirstLastPara="1" rIns="0" wrap="square" tIns="0">
            <a:spAutoFit/>
          </a:bodyPr>
          <a:lstStyle/>
          <a:p>
            <a:pPr indent="-367028" lvl="1" marL="734056" marR="0" rtl="0" algn="just">
              <a:lnSpc>
                <a:spcPct val="140011"/>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Kernighan, B. W., &amp; Ritchie, D. M. (1988). The C programming language (2nd ed.). Prentice Hall.</a:t>
            </a:r>
            <a:endParaRPr/>
          </a:p>
          <a:p>
            <a:pPr indent="-367028" lvl="1" marL="734056" marR="0" rtl="0" algn="just">
              <a:lnSpc>
                <a:spcPct val="140011"/>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SICP. (1996). Structure and Interpretation of Computer Programs (2nd ed.). MIT Press.</a:t>
            </a:r>
            <a:endParaRPr/>
          </a:p>
          <a:p>
            <a:pPr indent="-367028" lvl="1" marL="734056" marR="0" rtl="0" algn="just">
              <a:lnSpc>
                <a:spcPct val="140011"/>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Wirth, N. (1996). Programming in Modula-2 (2nd ed.). Springer.</a:t>
            </a:r>
            <a:endParaRPr/>
          </a:p>
        </p:txBody>
      </p:sp>
      <p:sp>
        <p:nvSpPr>
          <p:cNvPr id="394" name="Google Shape;394;p25"/>
          <p:cNvSpPr txBox="1"/>
          <p:nvPr/>
        </p:nvSpPr>
        <p:spPr>
          <a:xfrm>
            <a:off x="2392343" y="2849441"/>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26"/>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400" name="Google Shape;400;p26"/>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401" name="Google Shape;401;p26"/>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402" name="Google Shape;402;p26"/>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