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</p:sldIdLst>
  <p:sldSz cy="10287000" cx="18288000"/>
  <p:notesSz cx="6858000" cy="9144000"/>
  <p:embeddedFontLst>
    <p:embeddedFont>
      <p:font typeface="Lobster"/>
      <p:regular r:id="rId25"/>
    </p:embeddedFont>
    <p:embeddedFont>
      <p:font typeface="Pacifico"/>
      <p:regular r:id="rId26"/>
    </p:embeddedFont>
    <p:embeddedFont>
      <p:font typeface="Open Sans"/>
      <p:regular r:id="rId27"/>
      <p:bold r:id="rId28"/>
      <p:italic r:id="rId29"/>
      <p:boldItalic r:id="rId30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GoogleSlidesCustomDataVersion2">
      <go:slidesCustomData xmlns:go="http://customooxmlschemas.google.com/" r:id="rId31" roundtripDataSignature="AMtx7mgM8os1+QTjgkulUNBwFo999fCcz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font" Target="fonts/Pacifico-regular.fntdata"/><Relationship Id="rId25" Type="http://schemas.openxmlformats.org/officeDocument/2006/relationships/font" Target="fonts/Lobster-regular.fntdata"/><Relationship Id="rId28" Type="http://schemas.openxmlformats.org/officeDocument/2006/relationships/font" Target="fonts/OpenSans-bold.fntdata"/><Relationship Id="rId27" Type="http://schemas.openxmlformats.org/officeDocument/2006/relationships/font" Target="fonts/OpenSans-regular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font" Target="fonts/OpenSans-italic.fntdata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customschemas.google.com/relationships/presentationmetadata" Target="metadata"/><Relationship Id="rId30" Type="http://schemas.openxmlformats.org/officeDocument/2006/relationships/font" Target="fonts/OpenSans-boldItalic.fntdata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92" name="Google Shape;92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28" name="Google Shape;128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34" name="Google Shape;134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g35c6afc6fbd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40" name="Google Shape;140;g35c6afc6fbd_1_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g35c6afc6fbd_1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46" name="Google Shape;146;g35c6afc6fbd_1_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g35c6afc6fbd_1_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51" name="Google Shape;151;g35c6afc6fbd_1_1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g35c6afc6fbd_1_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57" name="Google Shape;157;g35c6afc6fbd_1_1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g35c6afc6fbd_1_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63" name="Google Shape;163;g35c6afc6fbd_1_2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g35c6afc6fbd_1_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69" name="Google Shape;169;g35c6afc6fbd_1_27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g35c6afc6fbd_1_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75" name="Google Shape;175;g35c6afc6fbd_1_33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g35c6afc6fbd_1_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81" name="Google Shape;181;g35c6afc6fbd_1_39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g35c6afc6fbd_1_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88" name="Google Shape;188;g35c6afc6fbd_1_4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93" name="Google Shape;193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00" name="Google Shape;200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g35c6afc6fbd_1_5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07" name="Google Shape;207;g35c6afc6fbd_1_5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13" name="Google Shape;213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19" name="Google Shape;219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25" name="Google Shape;225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2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12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13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13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1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1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1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14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14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1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1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1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15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15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15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1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1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1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1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16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16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16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16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1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1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1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1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1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1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8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18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18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1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1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1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9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9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9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20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20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2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2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2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21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21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2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2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2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0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10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4.png"/><Relationship Id="rId4" Type="http://schemas.openxmlformats.org/officeDocument/2006/relationships/image" Target="../media/image2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9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3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7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8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6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0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1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"/>
          <p:cNvSpPr/>
          <p:nvPr/>
        </p:nvSpPr>
        <p:spPr>
          <a:xfrm>
            <a:off x="12541309" y="0"/>
            <a:ext cx="5746691" cy="1711780"/>
          </a:xfrm>
          <a:custGeom>
            <a:rect b="b" l="l" r="r" t="t"/>
            <a:pathLst>
              <a:path extrusionOk="0" h="1711780" w="5746691">
                <a:moveTo>
                  <a:pt x="0" y="0"/>
                </a:moveTo>
                <a:lnTo>
                  <a:pt x="5746691" y="0"/>
                </a:lnTo>
                <a:lnTo>
                  <a:pt x="5746691" y="1711780"/>
                </a:lnTo>
                <a:lnTo>
                  <a:pt x="0" y="171178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85" name="Google Shape;85;p1"/>
          <p:cNvSpPr txBox="1"/>
          <p:nvPr/>
        </p:nvSpPr>
        <p:spPr>
          <a:xfrm>
            <a:off x="228600" y="6608275"/>
            <a:ext cx="9660000" cy="1847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0"/>
              <a:buFont typeface="Arial"/>
              <a:buNone/>
            </a:pPr>
            <a:r>
              <a:rPr b="1" lang="en-US" sz="5000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Lenguajes Formales y de Programación</a:t>
            </a:r>
            <a:endParaRPr b="1" i="0" sz="5000" u="none" cap="none" strike="noStrike">
              <a:solidFill>
                <a:srgbClr val="131416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86" name="Google Shape;86;p1"/>
          <p:cNvSpPr txBox="1"/>
          <p:nvPr/>
        </p:nvSpPr>
        <p:spPr>
          <a:xfrm>
            <a:off x="2687405" y="3915649"/>
            <a:ext cx="12375000" cy="1416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200"/>
              <a:buFont typeface="Arial"/>
              <a:buNone/>
            </a:pPr>
            <a:r>
              <a:rPr b="1" lang="en-US" sz="9200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Java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7" name="Google Shape;87;p1"/>
          <p:cNvSpPr txBox="1"/>
          <p:nvPr/>
        </p:nvSpPr>
        <p:spPr>
          <a:xfrm>
            <a:off x="1063303" y="8745251"/>
            <a:ext cx="6981300" cy="384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99"/>
              <a:buFont typeface="Arial"/>
              <a:buNone/>
            </a:pPr>
            <a:r>
              <a:rPr b="1" i="0" lang="en-US" sz="2499" u="none" cap="none" strike="noStrike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Escuela de </a:t>
            </a:r>
            <a:r>
              <a:rPr b="1" lang="en-US" sz="2499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Ingeniería</a:t>
            </a:r>
            <a:r>
              <a:rPr b="1" i="0" lang="en-US" sz="2499" u="none" cap="none" strike="noStrike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 de Ciencias Y Sistemas</a:t>
            </a:r>
            <a:endParaRPr b="1" i="0" sz="2499" u="none" cap="none" strike="noStrike">
              <a:solidFill>
                <a:srgbClr val="131416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88" name="Google Shape;88;p1"/>
          <p:cNvSpPr txBox="1"/>
          <p:nvPr/>
        </p:nvSpPr>
        <p:spPr>
          <a:xfrm>
            <a:off x="1028700" y="9210675"/>
            <a:ext cx="6667500" cy="384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1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99"/>
              <a:buFont typeface="Arial"/>
              <a:buNone/>
            </a:pPr>
            <a:r>
              <a:rPr b="1" i="0" lang="en-US" sz="2499" u="none" cap="none" strike="noStrike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Facultad de </a:t>
            </a:r>
            <a:r>
              <a:rPr b="1" lang="en-US" sz="2499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Ingeniería</a:t>
            </a:r>
            <a:endParaRPr b="1" i="0" sz="2499" u="none" cap="none" strike="noStrike">
              <a:solidFill>
                <a:srgbClr val="131416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89" name="Google Shape;89;p1"/>
          <p:cNvSpPr txBox="1"/>
          <p:nvPr/>
        </p:nvSpPr>
        <p:spPr>
          <a:xfrm>
            <a:off x="228600" y="9588254"/>
            <a:ext cx="8115300" cy="41934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99"/>
              <a:buFont typeface="Arial"/>
              <a:buNone/>
            </a:pPr>
            <a:r>
              <a:rPr b="1" i="0" lang="en-US" sz="2499" u="none" cap="none" strike="noStrike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Universidad de San Carlos de Guatemala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4" name="Google Shape;94;p2"/>
          <p:cNvGrpSpPr/>
          <p:nvPr/>
        </p:nvGrpSpPr>
        <p:grpSpPr>
          <a:xfrm>
            <a:off x="176619" y="4520484"/>
            <a:ext cx="4613551" cy="845385"/>
            <a:chOff x="0" y="-76200"/>
            <a:chExt cx="1964221" cy="359923"/>
          </a:xfrm>
        </p:grpSpPr>
        <p:sp>
          <p:nvSpPr>
            <p:cNvPr id="95" name="Google Shape;95;p2"/>
            <p:cNvSpPr/>
            <p:nvPr/>
          </p:nvSpPr>
          <p:spPr>
            <a:xfrm>
              <a:off x="0" y="0"/>
              <a:ext cx="1964221" cy="283723"/>
            </a:xfrm>
            <a:custGeom>
              <a:rect b="b" l="l" r="r" t="t"/>
              <a:pathLst>
                <a:path extrusionOk="0" h="283723" w="1964221">
                  <a:moveTo>
                    <a:pt x="1761021" y="0"/>
                  </a:moveTo>
                  <a:lnTo>
                    <a:pt x="0" y="0"/>
                  </a:lnTo>
                  <a:lnTo>
                    <a:pt x="0" y="283723"/>
                  </a:lnTo>
                  <a:lnTo>
                    <a:pt x="1761021" y="283723"/>
                  </a:lnTo>
                  <a:lnTo>
                    <a:pt x="1964221" y="141862"/>
                  </a:lnTo>
                  <a:lnTo>
                    <a:pt x="1761021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  <p:sp>
          <p:nvSpPr>
            <p:cNvPr id="96" name="Google Shape;96;p2"/>
            <p:cNvSpPr txBox="1"/>
            <p:nvPr/>
          </p:nvSpPr>
          <p:spPr>
            <a:xfrm>
              <a:off x="0" y="-76200"/>
              <a:ext cx="1849921" cy="35992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8017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799"/>
                <a:buFont typeface="Arial"/>
                <a:buNone/>
              </a:pPr>
              <a:r>
                <a:rPr b="0" i="0" lang="en-US" sz="2799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TEMA 1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97" name="Google Shape;97;p2"/>
          <p:cNvSpPr/>
          <p:nvPr/>
        </p:nvSpPr>
        <p:spPr>
          <a:xfrm>
            <a:off x="878654" y="4740441"/>
            <a:ext cx="453358" cy="550094"/>
          </a:xfrm>
          <a:custGeom>
            <a:rect b="b" l="l" r="r" t="t"/>
            <a:pathLst>
              <a:path extrusionOk="0" h="550094" w="453358">
                <a:moveTo>
                  <a:pt x="0" y="0"/>
                </a:moveTo>
                <a:lnTo>
                  <a:pt x="453359" y="0"/>
                </a:lnTo>
                <a:lnTo>
                  <a:pt x="453359" y="550094"/>
                </a:lnTo>
                <a:lnTo>
                  <a:pt x="0" y="55009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98" name="Google Shape;98;p2"/>
          <p:cNvGrpSpPr/>
          <p:nvPr/>
        </p:nvGrpSpPr>
        <p:grpSpPr>
          <a:xfrm>
            <a:off x="1866989" y="3013983"/>
            <a:ext cx="4115190" cy="1556484"/>
            <a:chOff x="0" y="-76200"/>
            <a:chExt cx="1083836" cy="409938"/>
          </a:xfrm>
        </p:grpSpPr>
        <p:sp>
          <p:nvSpPr>
            <p:cNvPr id="99" name="Google Shape;99;p2"/>
            <p:cNvSpPr/>
            <p:nvPr/>
          </p:nvSpPr>
          <p:spPr>
            <a:xfrm>
              <a:off x="0" y="0"/>
              <a:ext cx="1083836" cy="333738"/>
            </a:xfrm>
            <a:custGeom>
              <a:rect b="b" l="l" r="r" t="t"/>
              <a:pathLst>
                <a:path extrusionOk="0" h="333738" w="1083836">
                  <a:moveTo>
                    <a:pt x="880636" y="0"/>
                  </a:moveTo>
                  <a:lnTo>
                    <a:pt x="0" y="0"/>
                  </a:lnTo>
                  <a:lnTo>
                    <a:pt x="0" y="333738"/>
                  </a:lnTo>
                  <a:lnTo>
                    <a:pt x="880636" y="333738"/>
                  </a:lnTo>
                  <a:lnTo>
                    <a:pt x="1083836" y="166869"/>
                  </a:lnTo>
                  <a:lnTo>
                    <a:pt x="880636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  <p:sp>
          <p:nvSpPr>
            <p:cNvPr id="100" name="Google Shape;100;p2"/>
            <p:cNvSpPr txBox="1"/>
            <p:nvPr/>
          </p:nvSpPr>
          <p:spPr>
            <a:xfrm>
              <a:off x="0" y="-76200"/>
              <a:ext cx="969536" cy="40993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8017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799"/>
                <a:buFont typeface="Arial"/>
                <a:buNone/>
              </a:pPr>
              <a:r>
                <a:rPr b="0" i="0" lang="en-US" sz="2799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RECORDATORIOS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01" name="Google Shape;101;p2"/>
          <p:cNvSpPr/>
          <p:nvPr/>
        </p:nvSpPr>
        <p:spPr>
          <a:xfrm>
            <a:off x="651754" y="3429735"/>
            <a:ext cx="753892" cy="872928"/>
          </a:xfrm>
          <a:custGeom>
            <a:rect b="b" l="l" r="r" t="t"/>
            <a:pathLst>
              <a:path extrusionOk="0" h="872928" w="753892">
                <a:moveTo>
                  <a:pt x="0" y="0"/>
                </a:moveTo>
                <a:lnTo>
                  <a:pt x="753892" y="0"/>
                </a:lnTo>
                <a:lnTo>
                  <a:pt x="753892" y="872927"/>
                </a:lnTo>
                <a:lnTo>
                  <a:pt x="0" y="87292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02" name="Google Shape;102;p2"/>
          <p:cNvSpPr txBox="1"/>
          <p:nvPr/>
        </p:nvSpPr>
        <p:spPr>
          <a:xfrm>
            <a:off x="651749" y="490900"/>
            <a:ext cx="7710301" cy="2308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0"/>
              <a:buFont typeface="Arial"/>
              <a:buNone/>
            </a:pPr>
            <a:r>
              <a:rPr b="0" i="0" lang="en-US" sz="15000" u="none" cap="none" strike="noStrike">
                <a:solidFill>
                  <a:srgbClr val="131416"/>
                </a:solidFill>
                <a:latin typeface="Pacifico"/>
                <a:ea typeface="Pacifico"/>
                <a:cs typeface="Pacifico"/>
                <a:sym typeface="Pacifico"/>
              </a:rPr>
              <a:t>Agenda</a:t>
            </a:r>
            <a:endParaRPr b="0" i="0" sz="1400" u="none" cap="none" strike="noStrike">
              <a:solidFill>
                <a:srgbClr val="000000"/>
              </a:solidFill>
              <a:latin typeface="Pacifico"/>
              <a:ea typeface="Pacifico"/>
              <a:cs typeface="Pacifico"/>
              <a:sym typeface="Pacifico"/>
            </a:endParaRPr>
          </a:p>
        </p:txBody>
      </p:sp>
      <p:sp>
        <p:nvSpPr>
          <p:cNvPr id="103" name="Google Shape;103;p2"/>
          <p:cNvSpPr txBox="1"/>
          <p:nvPr/>
        </p:nvSpPr>
        <p:spPr>
          <a:xfrm>
            <a:off x="10105990" y="390767"/>
            <a:ext cx="8416800" cy="230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0"/>
              <a:buFont typeface="Arial"/>
              <a:buNone/>
            </a:pPr>
            <a:r>
              <a:rPr b="0" i="0" lang="en-US" sz="15000" u="none" cap="none" strike="noStrike">
                <a:solidFill>
                  <a:srgbClr val="131416"/>
                </a:solidFill>
                <a:latin typeface="Lobster"/>
                <a:ea typeface="Lobster"/>
                <a:cs typeface="Lobster"/>
                <a:sym typeface="Lobster"/>
              </a:rPr>
              <a:t>Recursos</a:t>
            </a:r>
            <a:endParaRPr b="0" i="0" sz="1400" u="none" cap="none" strike="noStrike">
              <a:solidFill>
                <a:srgbClr val="000000"/>
              </a:solidFill>
              <a:latin typeface="Lobster"/>
              <a:ea typeface="Lobster"/>
              <a:cs typeface="Lobster"/>
              <a:sym typeface="Lobster"/>
            </a:endParaRPr>
          </a:p>
        </p:txBody>
      </p:sp>
      <p:grpSp>
        <p:nvGrpSpPr>
          <p:cNvPr id="104" name="Google Shape;104;p2"/>
          <p:cNvGrpSpPr/>
          <p:nvPr/>
        </p:nvGrpSpPr>
        <p:grpSpPr>
          <a:xfrm>
            <a:off x="11739805" y="2798634"/>
            <a:ext cx="5353646" cy="1701145"/>
            <a:chOff x="0" y="-114300"/>
            <a:chExt cx="1410014" cy="448038"/>
          </a:xfrm>
        </p:grpSpPr>
        <p:sp>
          <p:nvSpPr>
            <p:cNvPr id="105" name="Google Shape;105;p2"/>
            <p:cNvSpPr/>
            <p:nvPr/>
          </p:nvSpPr>
          <p:spPr>
            <a:xfrm>
              <a:off x="0" y="0"/>
              <a:ext cx="1410014" cy="333738"/>
            </a:xfrm>
            <a:custGeom>
              <a:rect b="b" l="l" r="r" t="t"/>
              <a:pathLst>
                <a:path extrusionOk="0" h="333738" w="1410014">
                  <a:moveTo>
                    <a:pt x="1206814" y="0"/>
                  </a:moveTo>
                  <a:lnTo>
                    <a:pt x="0" y="0"/>
                  </a:lnTo>
                  <a:lnTo>
                    <a:pt x="0" y="333738"/>
                  </a:lnTo>
                  <a:lnTo>
                    <a:pt x="1206814" y="333738"/>
                  </a:lnTo>
                  <a:lnTo>
                    <a:pt x="1410014" y="166869"/>
                  </a:lnTo>
                  <a:lnTo>
                    <a:pt x="1206814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  <p:sp>
          <p:nvSpPr>
            <p:cNvPr id="106" name="Google Shape;106;p2"/>
            <p:cNvSpPr txBox="1"/>
            <p:nvPr/>
          </p:nvSpPr>
          <p:spPr>
            <a:xfrm>
              <a:off x="0" y="-114300"/>
              <a:ext cx="1295714" cy="44803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801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4499"/>
                <a:buFont typeface="Arial"/>
                <a:buNone/>
              </a:pPr>
              <a:r>
                <a:rPr b="0" i="0" lang="en-US" sz="4499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Link del Video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07" name="Google Shape;107;p2"/>
          <p:cNvGrpSpPr/>
          <p:nvPr/>
        </p:nvGrpSpPr>
        <p:grpSpPr>
          <a:xfrm>
            <a:off x="11739805" y="4598683"/>
            <a:ext cx="5353646" cy="1701145"/>
            <a:chOff x="0" y="-114300"/>
            <a:chExt cx="1410014" cy="448038"/>
          </a:xfrm>
        </p:grpSpPr>
        <p:sp>
          <p:nvSpPr>
            <p:cNvPr id="108" name="Google Shape;108;p2"/>
            <p:cNvSpPr/>
            <p:nvPr/>
          </p:nvSpPr>
          <p:spPr>
            <a:xfrm>
              <a:off x="0" y="0"/>
              <a:ext cx="1410014" cy="333738"/>
            </a:xfrm>
            <a:custGeom>
              <a:rect b="b" l="l" r="r" t="t"/>
              <a:pathLst>
                <a:path extrusionOk="0" h="333738" w="1410014">
                  <a:moveTo>
                    <a:pt x="1206814" y="0"/>
                  </a:moveTo>
                  <a:lnTo>
                    <a:pt x="0" y="0"/>
                  </a:lnTo>
                  <a:lnTo>
                    <a:pt x="0" y="333738"/>
                  </a:lnTo>
                  <a:lnTo>
                    <a:pt x="1206814" y="333738"/>
                  </a:lnTo>
                  <a:lnTo>
                    <a:pt x="1410014" y="166869"/>
                  </a:lnTo>
                  <a:lnTo>
                    <a:pt x="1206814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  <p:sp>
          <p:nvSpPr>
            <p:cNvPr id="109" name="Google Shape;109;p2"/>
            <p:cNvSpPr txBox="1"/>
            <p:nvPr/>
          </p:nvSpPr>
          <p:spPr>
            <a:xfrm>
              <a:off x="0" y="-114300"/>
              <a:ext cx="1295714" cy="44803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801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4499"/>
                <a:buFont typeface="Arial"/>
                <a:buNone/>
              </a:pPr>
              <a:r>
                <a:rPr b="0" i="0" lang="en-US" sz="4499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Link de Quizziz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10" name="Google Shape;110;p2"/>
          <p:cNvGrpSpPr/>
          <p:nvPr/>
        </p:nvGrpSpPr>
        <p:grpSpPr>
          <a:xfrm>
            <a:off x="176619" y="5444302"/>
            <a:ext cx="4613551" cy="845385"/>
            <a:chOff x="0" y="-76200"/>
            <a:chExt cx="1964221" cy="359923"/>
          </a:xfrm>
        </p:grpSpPr>
        <p:sp>
          <p:nvSpPr>
            <p:cNvPr id="111" name="Google Shape;111;p2"/>
            <p:cNvSpPr/>
            <p:nvPr/>
          </p:nvSpPr>
          <p:spPr>
            <a:xfrm>
              <a:off x="0" y="0"/>
              <a:ext cx="1964221" cy="283723"/>
            </a:xfrm>
            <a:custGeom>
              <a:rect b="b" l="l" r="r" t="t"/>
              <a:pathLst>
                <a:path extrusionOk="0" h="283723" w="1964221">
                  <a:moveTo>
                    <a:pt x="1761021" y="0"/>
                  </a:moveTo>
                  <a:lnTo>
                    <a:pt x="0" y="0"/>
                  </a:lnTo>
                  <a:lnTo>
                    <a:pt x="0" y="283723"/>
                  </a:lnTo>
                  <a:lnTo>
                    <a:pt x="1761021" y="283723"/>
                  </a:lnTo>
                  <a:lnTo>
                    <a:pt x="1964221" y="141862"/>
                  </a:lnTo>
                  <a:lnTo>
                    <a:pt x="1761021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  <p:sp>
          <p:nvSpPr>
            <p:cNvPr id="112" name="Google Shape;112;p2"/>
            <p:cNvSpPr txBox="1"/>
            <p:nvPr/>
          </p:nvSpPr>
          <p:spPr>
            <a:xfrm>
              <a:off x="0" y="-76200"/>
              <a:ext cx="1849921" cy="35992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8017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799"/>
                <a:buFont typeface="Arial"/>
                <a:buNone/>
              </a:pPr>
              <a:r>
                <a:rPr b="0" i="0" lang="en-US" sz="2799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TEMA 2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13" name="Google Shape;113;p2"/>
          <p:cNvGrpSpPr/>
          <p:nvPr/>
        </p:nvGrpSpPr>
        <p:grpSpPr>
          <a:xfrm>
            <a:off x="176619" y="6425875"/>
            <a:ext cx="4613551" cy="845385"/>
            <a:chOff x="0" y="-76200"/>
            <a:chExt cx="1964221" cy="359923"/>
          </a:xfrm>
        </p:grpSpPr>
        <p:sp>
          <p:nvSpPr>
            <p:cNvPr id="114" name="Google Shape;114;p2"/>
            <p:cNvSpPr/>
            <p:nvPr/>
          </p:nvSpPr>
          <p:spPr>
            <a:xfrm>
              <a:off x="0" y="0"/>
              <a:ext cx="1964221" cy="283723"/>
            </a:xfrm>
            <a:custGeom>
              <a:rect b="b" l="l" r="r" t="t"/>
              <a:pathLst>
                <a:path extrusionOk="0" h="283723" w="1964221">
                  <a:moveTo>
                    <a:pt x="1761021" y="0"/>
                  </a:moveTo>
                  <a:lnTo>
                    <a:pt x="0" y="0"/>
                  </a:lnTo>
                  <a:lnTo>
                    <a:pt x="0" y="283723"/>
                  </a:lnTo>
                  <a:lnTo>
                    <a:pt x="1761021" y="283723"/>
                  </a:lnTo>
                  <a:lnTo>
                    <a:pt x="1964221" y="141862"/>
                  </a:lnTo>
                  <a:lnTo>
                    <a:pt x="1761021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  <p:sp>
          <p:nvSpPr>
            <p:cNvPr id="115" name="Google Shape;115;p2"/>
            <p:cNvSpPr txBox="1"/>
            <p:nvPr/>
          </p:nvSpPr>
          <p:spPr>
            <a:xfrm>
              <a:off x="0" y="-76200"/>
              <a:ext cx="1849921" cy="35992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8017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799"/>
                <a:buFont typeface="Arial"/>
                <a:buNone/>
              </a:pPr>
              <a:r>
                <a:rPr b="0" i="0" lang="en-US" sz="2799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TEMA 3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16" name="Google Shape;116;p2"/>
          <p:cNvGrpSpPr/>
          <p:nvPr/>
        </p:nvGrpSpPr>
        <p:grpSpPr>
          <a:xfrm>
            <a:off x="176619" y="7349457"/>
            <a:ext cx="4613551" cy="845385"/>
            <a:chOff x="0" y="-76200"/>
            <a:chExt cx="1964221" cy="359923"/>
          </a:xfrm>
        </p:grpSpPr>
        <p:sp>
          <p:nvSpPr>
            <p:cNvPr id="117" name="Google Shape;117;p2"/>
            <p:cNvSpPr/>
            <p:nvPr/>
          </p:nvSpPr>
          <p:spPr>
            <a:xfrm>
              <a:off x="0" y="0"/>
              <a:ext cx="1964221" cy="283723"/>
            </a:xfrm>
            <a:custGeom>
              <a:rect b="b" l="l" r="r" t="t"/>
              <a:pathLst>
                <a:path extrusionOk="0" h="283723" w="1964221">
                  <a:moveTo>
                    <a:pt x="1761021" y="0"/>
                  </a:moveTo>
                  <a:lnTo>
                    <a:pt x="0" y="0"/>
                  </a:lnTo>
                  <a:lnTo>
                    <a:pt x="0" y="283723"/>
                  </a:lnTo>
                  <a:lnTo>
                    <a:pt x="1761021" y="283723"/>
                  </a:lnTo>
                  <a:lnTo>
                    <a:pt x="1964221" y="141862"/>
                  </a:lnTo>
                  <a:lnTo>
                    <a:pt x="1761021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  <p:sp>
          <p:nvSpPr>
            <p:cNvPr id="118" name="Google Shape;118;p2"/>
            <p:cNvSpPr txBox="1"/>
            <p:nvPr/>
          </p:nvSpPr>
          <p:spPr>
            <a:xfrm>
              <a:off x="0" y="-76200"/>
              <a:ext cx="1849921" cy="35992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8017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799"/>
                <a:buFont typeface="Arial"/>
                <a:buNone/>
              </a:pPr>
              <a:r>
                <a:rPr b="0" i="0" lang="en-US" sz="2799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TEMA 4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19" name="Google Shape;119;p2"/>
          <p:cNvGrpSpPr/>
          <p:nvPr/>
        </p:nvGrpSpPr>
        <p:grpSpPr>
          <a:xfrm>
            <a:off x="176619" y="8412915"/>
            <a:ext cx="4613551" cy="845385"/>
            <a:chOff x="0" y="-76200"/>
            <a:chExt cx="1964221" cy="359923"/>
          </a:xfrm>
        </p:grpSpPr>
        <p:sp>
          <p:nvSpPr>
            <p:cNvPr id="120" name="Google Shape;120;p2"/>
            <p:cNvSpPr/>
            <p:nvPr/>
          </p:nvSpPr>
          <p:spPr>
            <a:xfrm>
              <a:off x="0" y="0"/>
              <a:ext cx="1964221" cy="283723"/>
            </a:xfrm>
            <a:custGeom>
              <a:rect b="b" l="l" r="r" t="t"/>
              <a:pathLst>
                <a:path extrusionOk="0" h="283723" w="1964221">
                  <a:moveTo>
                    <a:pt x="1761021" y="0"/>
                  </a:moveTo>
                  <a:lnTo>
                    <a:pt x="0" y="0"/>
                  </a:lnTo>
                  <a:lnTo>
                    <a:pt x="0" y="283723"/>
                  </a:lnTo>
                  <a:lnTo>
                    <a:pt x="1761021" y="283723"/>
                  </a:lnTo>
                  <a:lnTo>
                    <a:pt x="1964221" y="141862"/>
                  </a:lnTo>
                  <a:lnTo>
                    <a:pt x="1761021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  <p:sp>
          <p:nvSpPr>
            <p:cNvPr id="121" name="Google Shape;121;p2"/>
            <p:cNvSpPr txBox="1"/>
            <p:nvPr/>
          </p:nvSpPr>
          <p:spPr>
            <a:xfrm>
              <a:off x="0" y="-76200"/>
              <a:ext cx="1849921" cy="35992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8017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799"/>
                <a:buFont typeface="Arial"/>
                <a:buNone/>
              </a:pPr>
              <a:r>
                <a:rPr b="0" i="0" lang="en-US" sz="2799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TEMA 5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22" name="Google Shape;122;p2"/>
          <p:cNvSpPr/>
          <p:nvPr/>
        </p:nvSpPr>
        <p:spPr>
          <a:xfrm>
            <a:off x="878654" y="5623280"/>
            <a:ext cx="453358" cy="550094"/>
          </a:xfrm>
          <a:custGeom>
            <a:rect b="b" l="l" r="r" t="t"/>
            <a:pathLst>
              <a:path extrusionOk="0" h="550094" w="453358">
                <a:moveTo>
                  <a:pt x="0" y="0"/>
                </a:moveTo>
                <a:lnTo>
                  <a:pt x="453359" y="0"/>
                </a:lnTo>
                <a:lnTo>
                  <a:pt x="453359" y="550094"/>
                </a:lnTo>
                <a:lnTo>
                  <a:pt x="0" y="55009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23" name="Google Shape;123;p2"/>
          <p:cNvSpPr/>
          <p:nvPr/>
        </p:nvSpPr>
        <p:spPr>
          <a:xfrm>
            <a:off x="878654" y="6604853"/>
            <a:ext cx="453358" cy="550094"/>
          </a:xfrm>
          <a:custGeom>
            <a:rect b="b" l="l" r="r" t="t"/>
            <a:pathLst>
              <a:path extrusionOk="0" h="550094" w="453358">
                <a:moveTo>
                  <a:pt x="0" y="0"/>
                </a:moveTo>
                <a:lnTo>
                  <a:pt x="453359" y="0"/>
                </a:lnTo>
                <a:lnTo>
                  <a:pt x="453359" y="550094"/>
                </a:lnTo>
                <a:lnTo>
                  <a:pt x="0" y="55009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24" name="Google Shape;124;p2"/>
          <p:cNvSpPr/>
          <p:nvPr/>
        </p:nvSpPr>
        <p:spPr>
          <a:xfrm>
            <a:off x="878654" y="7604635"/>
            <a:ext cx="453358" cy="550094"/>
          </a:xfrm>
          <a:custGeom>
            <a:rect b="b" l="l" r="r" t="t"/>
            <a:pathLst>
              <a:path extrusionOk="0" h="550094" w="453358">
                <a:moveTo>
                  <a:pt x="0" y="0"/>
                </a:moveTo>
                <a:lnTo>
                  <a:pt x="453359" y="0"/>
                </a:lnTo>
                <a:lnTo>
                  <a:pt x="453359" y="550094"/>
                </a:lnTo>
                <a:lnTo>
                  <a:pt x="0" y="55009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25" name="Google Shape;125;p2"/>
          <p:cNvSpPr/>
          <p:nvPr/>
        </p:nvSpPr>
        <p:spPr>
          <a:xfrm>
            <a:off x="878654" y="8605540"/>
            <a:ext cx="453358" cy="550094"/>
          </a:xfrm>
          <a:custGeom>
            <a:rect b="b" l="l" r="r" t="t"/>
            <a:pathLst>
              <a:path extrusionOk="0" h="550094" w="453358">
                <a:moveTo>
                  <a:pt x="0" y="0"/>
                </a:moveTo>
                <a:lnTo>
                  <a:pt x="453359" y="0"/>
                </a:lnTo>
                <a:lnTo>
                  <a:pt x="453359" y="550095"/>
                </a:lnTo>
                <a:lnTo>
                  <a:pt x="0" y="55009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3"/>
          <p:cNvSpPr txBox="1"/>
          <p:nvPr/>
        </p:nvSpPr>
        <p:spPr>
          <a:xfrm>
            <a:off x="1374889" y="654364"/>
            <a:ext cx="13991100" cy="9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11298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98"/>
              <a:buFont typeface="Arial"/>
              <a:buNone/>
            </a:pPr>
            <a:r>
              <a:rPr b="0" i="0" lang="en-US" sz="6098" u="none" cap="none" strike="noStrike">
                <a:solidFill>
                  <a:srgbClr val="131416"/>
                </a:solidFill>
                <a:latin typeface="Impact"/>
                <a:ea typeface="Impact"/>
                <a:cs typeface="Impact"/>
                <a:sym typeface="Impact"/>
              </a:rPr>
              <a:t>COMPETENCIA QUE DESARROLLAREMOS</a:t>
            </a:r>
            <a:endParaRPr b="0" i="0" sz="1400" u="none" cap="none" strike="noStrike">
              <a:solidFill>
                <a:srgbClr val="000000"/>
              </a:solidFill>
              <a:latin typeface="Impact"/>
              <a:ea typeface="Impact"/>
              <a:cs typeface="Impact"/>
              <a:sym typeface="Impact"/>
            </a:endParaRPr>
          </a:p>
        </p:txBody>
      </p:sp>
      <p:sp>
        <p:nvSpPr>
          <p:cNvPr id="131" name="Google Shape;131;p3"/>
          <p:cNvSpPr txBox="1"/>
          <p:nvPr/>
        </p:nvSpPr>
        <p:spPr>
          <a:xfrm>
            <a:off x="5539210" y="3296402"/>
            <a:ext cx="7209600" cy="369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199"/>
              <a:buFont typeface="Arial"/>
              <a:buNone/>
            </a:pPr>
            <a:r>
              <a:rPr b="1" lang="en-US" sz="3000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El estudiante comprende el funcionamiento del lenguaje de programación Java a través de su aplicación para la resolución de problemas relacionados con las fases del compilador.</a:t>
            </a:r>
            <a:endParaRPr b="0" i="0" sz="3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4"/>
          <p:cNvSpPr txBox="1"/>
          <p:nvPr/>
        </p:nvSpPr>
        <p:spPr>
          <a:xfrm>
            <a:off x="1374889" y="3850116"/>
            <a:ext cx="12625500" cy="285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7307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925"/>
              <a:buFont typeface="Arial"/>
              <a:buNone/>
            </a:pPr>
            <a:r>
              <a:rPr b="1" lang="en-US" sz="3000">
                <a:solidFill>
                  <a:srgbClr val="131416"/>
                </a:solidFill>
              </a:rPr>
              <a:t>¿Por qué son importantes?</a:t>
            </a:r>
            <a:endParaRPr b="1" sz="3000">
              <a:solidFill>
                <a:srgbClr val="131416"/>
              </a:solidFill>
            </a:endParaRPr>
          </a:p>
          <a:p>
            <a:pPr indent="0" lvl="0" marL="0" marR="0" rtl="0" algn="l">
              <a:lnSpc>
                <a:spcPct val="17307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925"/>
              <a:buFont typeface="Arial"/>
              <a:buNone/>
            </a:pPr>
            <a:r>
              <a:rPr lang="en-US" sz="3000">
                <a:solidFill>
                  <a:srgbClr val="131416"/>
                </a:solidFill>
              </a:rPr>
              <a:t>✔ Mejoran la legibilidad y mantenimiento.</a:t>
            </a:r>
            <a:endParaRPr sz="3000">
              <a:solidFill>
                <a:srgbClr val="131416"/>
              </a:solidFill>
            </a:endParaRPr>
          </a:p>
          <a:p>
            <a:pPr indent="0" lvl="0" marL="0" marR="0" rtl="0" algn="l">
              <a:lnSpc>
                <a:spcPct val="17307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925"/>
              <a:buFont typeface="Arial"/>
              <a:buNone/>
            </a:pPr>
            <a:r>
              <a:rPr lang="en-US" sz="3000">
                <a:solidFill>
                  <a:srgbClr val="131416"/>
                </a:solidFill>
              </a:rPr>
              <a:t>✔ Facilitan el trabajo en equipo.</a:t>
            </a:r>
            <a:endParaRPr sz="3000">
              <a:solidFill>
                <a:srgbClr val="131416"/>
              </a:solidFill>
            </a:endParaRPr>
          </a:p>
          <a:p>
            <a:pPr indent="0" lvl="0" marL="0" marR="0" rtl="0" algn="l">
              <a:lnSpc>
                <a:spcPct val="17307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925"/>
              <a:buFont typeface="Arial"/>
              <a:buNone/>
            </a:pPr>
            <a:r>
              <a:rPr lang="en-US" sz="3000">
                <a:solidFill>
                  <a:srgbClr val="131416"/>
                </a:solidFill>
              </a:rPr>
              <a:t>✔ Siguen estándares reconocidos (Oracle, Google).</a:t>
            </a:r>
            <a:endParaRPr sz="3000">
              <a:solidFill>
                <a:srgbClr val="131416"/>
              </a:solidFill>
            </a:endParaRPr>
          </a:p>
        </p:txBody>
      </p:sp>
      <p:sp>
        <p:nvSpPr>
          <p:cNvPr id="137" name="Google Shape;137;p4"/>
          <p:cNvSpPr txBox="1"/>
          <p:nvPr/>
        </p:nvSpPr>
        <p:spPr>
          <a:xfrm>
            <a:off x="1374889" y="654364"/>
            <a:ext cx="13991100" cy="199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11298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98"/>
              <a:buFont typeface="Arial"/>
              <a:buNone/>
            </a:pPr>
            <a:r>
              <a:rPr lang="en-US" sz="6098">
                <a:solidFill>
                  <a:srgbClr val="131416"/>
                </a:solidFill>
                <a:latin typeface="Impact"/>
                <a:ea typeface="Impact"/>
                <a:cs typeface="Impact"/>
                <a:sym typeface="Impact"/>
              </a:rPr>
              <a:t>Convenciones de Nombres y Estilo de Código</a:t>
            </a:r>
            <a:endParaRPr b="0" i="0" sz="1400" u="none" cap="none" strike="noStrike">
              <a:solidFill>
                <a:srgbClr val="000000"/>
              </a:solidFill>
              <a:latin typeface="Impact"/>
              <a:ea typeface="Impact"/>
              <a:cs typeface="Impact"/>
              <a:sym typeface="Impact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g35c6afc6fbd_1_0"/>
          <p:cNvSpPr txBox="1"/>
          <p:nvPr/>
        </p:nvSpPr>
        <p:spPr>
          <a:xfrm>
            <a:off x="1945464" y="1093641"/>
            <a:ext cx="12625500" cy="4670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7307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925"/>
              <a:buFont typeface="Arial"/>
              <a:buNone/>
            </a:pPr>
            <a:r>
              <a:rPr b="1" lang="en-US" sz="3800">
                <a:solidFill>
                  <a:srgbClr val="131416"/>
                </a:solidFill>
              </a:rPr>
              <a:t>Convenciones principales</a:t>
            </a:r>
            <a:endParaRPr b="1" sz="3800">
              <a:solidFill>
                <a:srgbClr val="131416"/>
              </a:solidFill>
            </a:endParaRPr>
          </a:p>
          <a:p>
            <a:pPr indent="-419100" lvl="0" marL="457200" marR="0" rtl="0" algn="l">
              <a:lnSpc>
                <a:spcPct val="173070"/>
              </a:lnSpc>
              <a:spcBef>
                <a:spcPts val="0"/>
              </a:spcBef>
              <a:spcAft>
                <a:spcPts val="0"/>
              </a:spcAft>
              <a:buClr>
                <a:srgbClr val="131416"/>
              </a:buClr>
              <a:buSzPts val="3000"/>
              <a:buChar char="●"/>
            </a:pPr>
            <a:r>
              <a:rPr b="1" lang="en-US" sz="3000">
                <a:solidFill>
                  <a:srgbClr val="131416"/>
                </a:solidFill>
              </a:rPr>
              <a:t>Clases:</a:t>
            </a:r>
            <a:r>
              <a:rPr lang="en-US" sz="3000">
                <a:solidFill>
                  <a:srgbClr val="131416"/>
                </a:solidFill>
              </a:rPr>
              <a:t> PascalCase → Carro, FacturaService.</a:t>
            </a:r>
            <a:endParaRPr sz="3000">
              <a:solidFill>
                <a:srgbClr val="131416"/>
              </a:solidFill>
            </a:endParaRPr>
          </a:p>
          <a:p>
            <a:pPr indent="-419100" lvl="0" marL="457200" marR="0" rtl="0" algn="l">
              <a:lnSpc>
                <a:spcPct val="173070"/>
              </a:lnSpc>
              <a:spcBef>
                <a:spcPts val="0"/>
              </a:spcBef>
              <a:spcAft>
                <a:spcPts val="0"/>
              </a:spcAft>
              <a:buClr>
                <a:srgbClr val="131416"/>
              </a:buClr>
              <a:buSzPts val="3000"/>
              <a:buChar char="●"/>
            </a:pPr>
            <a:r>
              <a:rPr b="1" lang="en-US" sz="3000">
                <a:solidFill>
                  <a:srgbClr val="131416"/>
                </a:solidFill>
              </a:rPr>
              <a:t>Métodos/Variables:</a:t>
            </a:r>
            <a:r>
              <a:rPr lang="en-US" sz="3000">
                <a:solidFill>
                  <a:srgbClr val="131416"/>
                </a:solidFill>
              </a:rPr>
              <a:t> camelCase → calcularTotal(), nombreUsuario.</a:t>
            </a:r>
            <a:endParaRPr sz="3000">
              <a:solidFill>
                <a:srgbClr val="131416"/>
              </a:solidFill>
            </a:endParaRPr>
          </a:p>
          <a:p>
            <a:pPr indent="-419100" lvl="0" marL="457200" marR="0" rtl="0" algn="l">
              <a:lnSpc>
                <a:spcPct val="173070"/>
              </a:lnSpc>
              <a:spcBef>
                <a:spcPts val="0"/>
              </a:spcBef>
              <a:spcAft>
                <a:spcPts val="0"/>
              </a:spcAft>
              <a:buClr>
                <a:srgbClr val="131416"/>
              </a:buClr>
              <a:buSzPts val="3000"/>
              <a:buChar char="●"/>
            </a:pPr>
            <a:r>
              <a:rPr b="1" lang="en-US" sz="3000">
                <a:solidFill>
                  <a:srgbClr val="131416"/>
                </a:solidFill>
              </a:rPr>
              <a:t>Constantes:</a:t>
            </a:r>
            <a:r>
              <a:rPr lang="en-US" sz="3000">
                <a:solidFill>
                  <a:srgbClr val="131416"/>
                </a:solidFill>
              </a:rPr>
              <a:t> MAYÚSCULAS_CON_GUIONES → MAX_INTENTOS.</a:t>
            </a:r>
            <a:endParaRPr sz="3000">
              <a:solidFill>
                <a:srgbClr val="131416"/>
              </a:solidFill>
            </a:endParaRPr>
          </a:p>
          <a:p>
            <a:pPr indent="-419100" lvl="0" marL="457200" marR="0" rtl="0" algn="l">
              <a:lnSpc>
                <a:spcPct val="173070"/>
              </a:lnSpc>
              <a:spcBef>
                <a:spcPts val="0"/>
              </a:spcBef>
              <a:spcAft>
                <a:spcPts val="0"/>
              </a:spcAft>
              <a:buClr>
                <a:srgbClr val="131416"/>
              </a:buClr>
              <a:buSzPts val="3000"/>
              <a:buChar char="●"/>
            </a:pPr>
            <a:r>
              <a:rPr b="1" lang="en-US" sz="3000">
                <a:solidFill>
                  <a:srgbClr val="131416"/>
                </a:solidFill>
              </a:rPr>
              <a:t>Paquetes:</a:t>
            </a:r>
            <a:r>
              <a:rPr lang="en-US" sz="3000">
                <a:solidFill>
                  <a:srgbClr val="131416"/>
                </a:solidFill>
              </a:rPr>
              <a:t> Letras minúsculas → com.ejemplo.proyecto.</a:t>
            </a:r>
            <a:endParaRPr sz="3000">
              <a:solidFill>
                <a:srgbClr val="131416"/>
              </a:solidFill>
            </a:endParaRPr>
          </a:p>
          <a:p>
            <a:pPr indent="0" lvl="0" marL="0" marR="0" rtl="0" algn="l">
              <a:lnSpc>
                <a:spcPct val="17307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>
                <a:solidFill>
                  <a:srgbClr val="131416"/>
                </a:solidFill>
              </a:rPr>
              <a:t>Ejemplo:</a:t>
            </a:r>
            <a:endParaRPr sz="3000">
              <a:solidFill>
                <a:srgbClr val="131416"/>
              </a:solidFill>
            </a:endParaRPr>
          </a:p>
        </p:txBody>
      </p:sp>
      <p:pic>
        <p:nvPicPr>
          <p:cNvPr id="143" name="Google Shape;143;g35c6afc6fbd_1_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939325" y="6202013"/>
            <a:ext cx="12860050" cy="28263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g35c6afc6fbd_1_6"/>
          <p:cNvSpPr txBox="1"/>
          <p:nvPr/>
        </p:nvSpPr>
        <p:spPr>
          <a:xfrm>
            <a:off x="2831239" y="3023516"/>
            <a:ext cx="12625500" cy="3072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7307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925"/>
              <a:buFont typeface="Arial"/>
              <a:buNone/>
            </a:pPr>
            <a:r>
              <a:rPr b="1" lang="en-US" sz="3800">
                <a:solidFill>
                  <a:srgbClr val="131416"/>
                </a:solidFill>
              </a:rPr>
              <a:t>Buenas prácticas de estilo</a:t>
            </a:r>
            <a:endParaRPr b="1" sz="3800">
              <a:solidFill>
                <a:srgbClr val="131416"/>
              </a:solidFill>
            </a:endParaRPr>
          </a:p>
          <a:p>
            <a:pPr indent="0" lvl="0" marL="0" marR="0" rtl="0" algn="l">
              <a:lnSpc>
                <a:spcPct val="17307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000">
                <a:solidFill>
                  <a:srgbClr val="131416"/>
                </a:solidFill>
              </a:rPr>
              <a:t>✔ Indentación: </a:t>
            </a:r>
            <a:r>
              <a:rPr lang="en-US" sz="3000">
                <a:solidFill>
                  <a:srgbClr val="131416"/>
                </a:solidFill>
              </a:rPr>
              <a:t>4 espacios (no tabs).</a:t>
            </a:r>
            <a:endParaRPr sz="3000">
              <a:solidFill>
                <a:srgbClr val="131416"/>
              </a:solidFill>
            </a:endParaRPr>
          </a:p>
          <a:p>
            <a:pPr indent="0" lvl="0" marL="0" marR="0" rtl="0" algn="l">
              <a:lnSpc>
                <a:spcPct val="17307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000">
                <a:solidFill>
                  <a:srgbClr val="131416"/>
                </a:solidFill>
              </a:rPr>
              <a:t>✔ Líneas cortas </a:t>
            </a:r>
            <a:r>
              <a:rPr lang="en-US" sz="3000">
                <a:solidFill>
                  <a:srgbClr val="131416"/>
                </a:solidFill>
              </a:rPr>
              <a:t>(&lt; 80 caracteres).</a:t>
            </a:r>
            <a:endParaRPr sz="3000">
              <a:solidFill>
                <a:srgbClr val="131416"/>
              </a:solidFill>
            </a:endParaRPr>
          </a:p>
          <a:p>
            <a:pPr indent="0" lvl="0" marL="0" marR="0" rtl="0" algn="l">
              <a:lnSpc>
                <a:spcPct val="17307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000">
                <a:solidFill>
                  <a:srgbClr val="131416"/>
                </a:solidFill>
              </a:rPr>
              <a:t>✔ Comentarios útiles: </a:t>
            </a:r>
            <a:r>
              <a:rPr lang="en-US" sz="3000">
                <a:solidFill>
                  <a:srgbClr val="131416"/>
                </a:solidFill>
              </a:rPr>
              <a:t>Explicar el "porqué", no el "qué".</a:t>
            </a:r>
            <a:endParaRPr sz="3000">
              <a:solidFill>
                <a:srgbClr val="131416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g35c6afc6fbd_1_11"/>
          <p:cNvSpPr txBox="1"/>
          <p:nvPr/>
        </p:nvSpPr>
        <p:spPr>
          <a:xfrm>
            <a:off x="1374889" y="3850116"/>
            <a:ext cx="12625500" cy="206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7307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925"/>
              <a:buFont typeface="Arial"/>
              <a:buNone/>
            </a:pPr>
            <a:r>
              <a:rPr b="1" lang="en-US" sz="3000">
                <a:solidFill>
                  <a:srgbClr val="131416"/>
                </a:solidFill>
              </a:rPr>
              <a:t>Problemas comunes:</a:t>
            </a:r>
            <a:endParaRPr sz="3000">
              <a:solidFill>
                <a:srgbClr val="131416"/>
              </a:solidFill>
            </a:endParaRPr>
          </a:p>
          <a:p>
            <a:pPr indent="-419100" lvl="0" marL="457200" marR="0" rtl="0" algn="l">
              <a:lnSpc>
                <a:spcPct val="173070"/>
              </a:lnSpc>
              <a:spcBef>
                <a:spcPts val="0"/>
              </a:spcBef>
              <a:spcAft>
                <a:spcPts val="0"/>
              </a:spcAft>
              <a:buClr>
                <a:srgbClr val="131416"/>
              </a:buClr>
              <a:buSzPts val="3000"/>
              <a:buChar char="●"/>
            </a:pPr>
            <a:r>
              <a:rPr lang="en-US" sz="3000">
                <a:solidFill>
                  <a:srgbClr val="131416"/>
                </a:solidFill>
              </a:rPr>
              <a:t>Fugas de memoria (memory leaks).</a:t>
            </a:r>
            <a:endParaRPr sz="3000">
              <a:solidFill>
                <a:srgbClr val="131416"/>
              </a:solidFill>
            </a:endParaRPr>
          </a:p>
          <a:p>
            <a:pPr indent="-419100" lvl="0" marL="457200" marR="0" rtl="0" algn="l">
              <a:lnSpc>
                <a:spcPct val="173070"/>
              </a:lnSpc>
              <a:spcBef>
                <a:spcPts val="0"/>
              </a:spcBef>
              <a:spcAft>
                <a:spcPts val="0"/>
              </a:spcAft>
              <a:buClr>
                <a:srgbClr val="131416"/>
              </a:buClr>
              <a:buSzPts val="3000"/>
              <a:buChar char="●"/>
            </a:pPr>
            <a:r>
              <a:rPr lang="en-US" sz="3000">
                <a:solidFill>
                  <a:srgbClr val="131416"/>
                </a:solidFill>
              </a:rPr>
              <a:t>Uso excesivo de recursos.</a:t>
            </a:r>
            <a:endParaRPr sz="3000">
              <a:solidFill>
                <a:srgbClr val="131416"/>
              </a:solidFill>
            </a:endParaRPr>
          </a:p>
        </p:txBody>
      </p:sp>
      <p:sp>
        <p:nvSpPr>
          <p:cNvPr id="154" name="Google Shape;154;g35c6afc6fbd_1_11"/>
          <p:cNvSpPr txBox="1"/>
          <p:nvPr/>
        </p:nvSpPr>
        <p:spPr>
          <a:xfrm>
            <a:off x="1374889" y="654364"/>
            <a:ext cx="13991100" cy="9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11298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98"/>
              <a:buFont typeface="Arial"/>
              <a:buNone/>
            </a:pPr>
            <a:r>
              <a:rPr lang="en-US" sz="6098">
                <a:solidFill>
                  <a:srgbClr val="131416"/>
                </a:solidFill>
                <a:latin typeface="Impact"/>
                <a:ea typeface="Impact"/>
                <a:cs typeface="Impact"/>
                <a:sym typeface="Impact"/>
              </a:rPr>
              <a:t>Gestión de memoria y optimización</a:t>
            </a:r>
            <a:endParaRPr b="0" i="0" sz="1400" u="none" cap="none" strike="noStrike">
              <a:solidFill>
                <a:srgbClr val="000000"/>
              </a:solidFill>
              <a:latin typeface="Impact"/>
              <a:ea typeface="Impact"/>
              <a:cs typeface="Impact"/>
              <a:sym typeface="Impact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g35c6afc6fbd_1_16"/>
          <p:cNvSpPr txBox="1"/>
          <p:nvPr/>
        </p:nvSpPr>
        <p:spPr>
          <a:xfrm>
            <a:off x="2831239" y="1043341"/>
            <a:ext cx="12625500" cy="227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7307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925"/>
              <a:buFont typeface="Arial"/>
              <a:buNone/>
            </a:pPr>
            <a:r>
              <a:rPr b="1" lang="en-US" sz="3800">
                <a:solidFill>
                  <a:srgbClr val="131416"/>
                </a:solidFill>
              </a:rPr>
              <a:t>¿Cómo gestiona Java la memoria?</a:t>
            </a:r>
            <a:endParaRPr b="1" sz="3800">
              <a:solidFill>
                <a:srgbClr val="131416"/>
              </a:solidFill>
            </a:endParaRPr>
          </a:p>
          <a:p>
            <a:pPr indent="-419100" lvl="0" marL="457200" marR="0" rtl="0" algn="l">
              <a:lnSpc>
                <a:spcPct val="173070"/>
              </a:lnSpc>
              <a:spcBef>
                <a:spcPts val="0"/>
              </a:spcBef>
              <a:spcAft>
                <a:spcPts val="0"/>
              </a:spcAft>
              <a:buClr>
                <a:srgbClr val="131416"/>
              </a:buClr>
              <a:buSzPts val="3000"/>
              <a:buChar char="➔"/>
            </a:pPr>
            <a:r>
              <a:rPr b="1" lang="en-US" sz="3000">
                <a:solidFill>
                  <a:srgbClr val="131416"/>
                </a:solidFill>
              </a:rPr>
              <a:t>Heap: </a:t>
            </a:r>
            <a:r>
              <a:rPr lang="en-US" sz="3000">
                <a:solidFill>
                  <a:srgbClr val="131416"/>
                </a:solidFill>
              </a:rPr>
              <a:t>Almacena objetos (GC los elimina automáticamente).</a:t>
            </a:r>
            <a:endParaRPr b="1" sz="3000">
              <a:solidFill>
                <a:srgbClr val="131416"/>
              </a:solidFill>
            </a:endParaRPr>
          </a:p>
          <a:p>
            <a:pPr indent="-419100" lvl="0" marL="457200" marR="0" rtl="0" algn="l">
              <a:lnSpc>
                <a:spcPct val="173070"/>
              </a:lnSpc>
              <a:spcBef>
                <a:spcPts val="0"/>
              </a:spcBef>
              <a:spcAft>
                <a:spcPts val="0"/>
              </a:spcAft>
              <a:buClr>
                <a:srgbClr val="131416"/>
              </a:buClr>
              <a:buSzPts val="3000"/>
              <a:buChar char="➔"/>
            </a:pPr>
            <a:r>
              <a:rPr b="1" lang="en-US" sz="3000">
                <a:solidFill>
                  <a:srgbClr val="131416"/>
                </a:solidFill>
              </a:rPr>
              <a:t>Stack: </a:t>
            </a:r>
            <a:r>
              <a:rPr lang="en-US" sz="3000">
                <a:solidFill>
                  <a:srgbClr val="131416"/>
                </a:solidFill>
              </a:rPr>
              <a:t>Variables locales y llamadas a métodos.</a:t>
            </a:r>
            <a:endParaRPr sz="3000">
              <a:solidFill>
                <a:srgbClr val="131416"/>
              </a:solidFill>
            </a:endParaRPr>
          </a:p>
        </p:txBody>
      </p:sp>
      <p:pic>
        <p:nvPicPr>
          <p:cNvPr id="160" name="Google Shape;160;g35c6afc6fbd_1_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666638" y="3502666"/>
            <a:ext cx="10954728" cy="616203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g35c6afc6fbd_1_21"/>
          <p:cNvSpPr txBox="1"/>
          <p:nvPr/>
        </p:nvSpPr>
        <p:spPr>
          <a:xfrm>
            <a:off x="2831239" y="1043341"/>
            <a:ext cx="12625500" cy="3072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7307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925"/>
              <a:buFont typeface="Arial"/>
              <a:buNone/>
            </a:pPr>
            <a:r>
              <a:rPr b="1" lang="en-US" sz="3800">
                <a:solidFill>
                  <a:srgbClr val="131416"/>
                </a:solidFill>
              </a:rPr>
              <a:t>¿Cómo gestiona Java la memoria?</a:t>
            </a:r>
            <a:endParaRPr b="1" sz="3800">
              <a:solidFill>
                <a:srgbClr val="131416"/>
              </a:solidFill>
            </a:endParaRPr>
          </a:p>
          <a:p>
            <a:pPr indent="-419100" lvl="0" marL="457200" marR="0" rtl="0" algn="l">
              <a:lnSpc>
                <a:spcPct val="173070"/>
              </a:lnSpc>
              <a:spcBef>
                <a:spcPts val="0"/>
              </a:spcBef>
              <a:spcAft>
                <a:spcPts val="0"/>
              </a:spcAft>
              <a:buClr>
                <a:srgbClr val="131416"/>
              </a:buClr>
              <a:buSzPts val="3000"/>
              <a:buChar char="➔"/>
            </a:pPr>
            <a:r>
              <a:rPr b="1" lang="en-US" sz="3000">
                <a:solidFill>
                  <a:srgbClr val="131416"/>
                </a:solidFill>
              </a:rPr>
              <a:t>Garbage Collector (GC):</a:t>
            </a:r>
            <a:endParaRPr b="1" sz="3000">
              <a:solidFill>
                <a:srgbClr val="131416"/>
              </a:solidFill>
            </a:endParaRPr>
          </a:p>
          <a:p>
            <a:pPr indent="0" lvl="0" marL="457200" marR="0" rtl="0" algn="l">
              <a:lnSpc>
                <a:spcPct val="17307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>
                <a:solidFill>
                  <a:srgbClr val="38761D"/>
                </a:solidFill>
              </a:rPr>
              <a:t>✔</a:t>
            </a:r>
            <a:r>
              <a:rPr lang="en-US" sz="3000">
                <a:solidFill>
                  <a:srgbClr val="131416"/>
                </a:solidFill>
              </a:rPr>
              <a:t> Recicla objetos no referenciados.</a:t>
            </a:r>
            <a:endParaRPr sz="3000">
              <a:solidFill>
                <a:srgbClr val="131416"/>
              </a:solidFill>
            </a:endParaRPr>
          </a:p>
          <a:p>
            <a:pPr indent="0" lvl="0" marL="457200" marR="0" rtl="0" algn="l">
              <a:lnSpc>
                <a:spcPct val="17307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>
                <a:solidFill>
                  <a:srgbClr val="FF0000"/>
                </a:solidFill>
              </a:rPr>
              <a:t>✖</a:t>
            </a:r>
            <a:r>
              <a:rPr lang="en-US" sz="3000">
                <a:solidFill>
                  <a:srgbClr val="131416"/>
                </a:solidFill>
              </a:rPr>
              <a:t> No garantiza eliminación inmediata.</a:t>
            </a:r>
            <a:endParaRPr sz="3000">
              <a:solidFill>
                <a:srgbClr val="131416"/>
              </a:solidFill>
            </a:endParaRPr>
          </a:p>
        </p:txBody>
      </p:sp>
      <p:pic>
        <p:nvPicPr>
          <p:cNvPr id="166" name="Google Shape;166;g35c6afc6fbd_1_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648325" y="4822116"/>
            <a:ext cx="6991350" cy="41338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g35c6afc6fbd_1_27"/>
          <p:cNvSpPr txBox="1"/>
          <p:nvPr/>
        </p:nvSpPr>
        <p:spPr>
          <a:xfrm>
            <a:off x="2831239" y="1043341"/>
            <a:ext cx="12625500" cy="38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7307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925"/>
              <a:buFont typeface="Arial"/>
              <a:buNone/>
            </a:pPr>
            <a:r>
              <a:rPr b="1" lang="en-US" sz="3800">
                <a:solidFill>
                  <a:srgbClr val="131416"/>
                </a:solidFill>
              </a:rPr>
              <a:t>Tips de optimización</a:t>
            </a:r>
            <a:endParaRPr b="1" sz="3800">
              <a:solidFill>
                <a:srgbClr val="131416"/>
              </a:solidFill>
            </a:endParaRPr>
          </a:p>
          <a:p>
            <a:pPr indent="-419100" lvl="0" marL="457200" marR="0" rtl="0" algn="l">
              <a:lnSpc>
                <a:spcPct val="173070"/>
              </a:lnSpc>
              <a:spcBef>
                <a:spcPts val="0"/>
              </a:spcBef>
              <a:spcAft>
                <a:spcPts val="0"/>
              </a:spcAft>
              <a:buClr>
                <a:srgbClr val="131416"/>
              </a:buClr>
              <a:buSzPts val="3000"/>
              <a:buChar char="➔"/>
            </a:pPr>
            <a:r>
              <a:rPr b="1" lang="en-US" sz="3000">
                <a:solidFill>
                  <a:srgbClr val="131416"/>
                </a:solidFill>
              </a:rPr>
              <a:t>Reutiliza objetos </a:t>
            </a:r>
            <a:r>
              <a:rPr lang="en-US" sz="3000">
                <a:solidFill>
                  <a:srgbClr val="131416"/>
                </a:solidFill>
              </a:rPr>
              <a:t>(ej.: StringBuilder en vez de + para concatenar cadenas).</a:t>
            </a:r>
            <a:endParaRPr sz="3000">
              <a:solidFill>
                <a:srgbClr val="131416"/>
              </a:solidFill>
            </a:endParaRPr>
          </a:p>
          <a:p>
            <a:pPr indent="-419100" lvl="0" marL="457200" marR="0" rtl="0" algn="l">
              <a:lnSpc>
                <a:spcPct val="173070"/>
              </a:lnSpc>
              <a:spcBef>
                <a:spcPts val="0"/>
              </a:spcBef>
              <a:spcAft>
                <a:spcPts val="0"/>
              </a:spcAft>
              <a:buClr>
                <a:srgbClr val="131416"/>
              </a:buClr>
              <a:buSzPts val="3000"/>
              <a:buChar char="➔"/>
            </a:pPr>
            <a:r>
              <a:rPr b="1" lang="en-US" sz="3000">
                <a:solidFill>
                  <a:srgbClr val="131416"/>
                </a:solidFill>
              </a:rPr>
              <a:t>Cierra recursos: </a:t>
            </a:r>
            <a:r>
              <a:rPr lang="en-US" sz="3000">
                <a:solidFill>
                  <a:srgbClr val="131416"/>
                </a:solidFill>
              </a:rPr>
              <a:t>Usa try-with-resources para archivos/BD.</a:t>
            </a:r>
            <a:endParaRPr sz="3000">
              <a:solidFill>
                <a:srgbClr val="131416"/>
              </a:solidFill>
            </a:endParaRPr>
          </a:p>
          <a:p>
            <a:pPr indent="-419100" lvl="0" marL="457200" marR="0" rtl="0" algn="l">
              <a:lnSpc>
                <a:spcPct val="173070"/>
              </a:lnSpc>
              <a:spcBef>
                <a:spcPts val="0"/>
              </a:spcBef>
              <a:spcAft>
                <a:spcPts val="0"/>
              </a:spcAft>
              <a:buClr>
                <a:srgbClr val="131416"/>
              </a:buClr>
              <a:buSzPts val="3000"/>
              <a:buChar char="➔"/>
            </a:pPr>
            <a:r>
              <a:rPr b="1" lang="en-US" sz="3000">
                <a:solidFill>
                  <a:srgbClr val="131416"/>
                </a:solidFill>
              </a:rPr>
              <a:t>Evita objetos innecesarios:</a:t>
            </a:r>
            <a:endParaRPr b="1" sz="3000">
              <a:solidFill>
                <a:srgbClr val="131416"/>
              </a:solidFill>
            </a:endParaRPr>
          </a:p>
        </p:txBody>
      </p:sp>
      <p:pic>
        <p:nvPicPr>
          <p:cNvPr id="172" name="Google Shape;172;g35c6afc6fbd_1_2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587800" y="6007008"/>
            <a:ext cx="13112401" cy="19977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g35c6afc6fbd_1_33"/>
          <p:cNvSpPr txBox="1"/>
          <p:nvPr/>
        </p:nvSpPr>
        <p:spPr>
          <a:xfrm>
            <a:off x="1374889" y="2440466"/>
            <a:ext cx="12625500" cy="4537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7307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925"/>
              <a:buFont typeface="Arial"/>
              <a:buNone/>
            </a:pPr>
            <a:r>
              <a:rPr b="1" lang="en-US" sz="3300">
                <a:solidFill>
                  <a:srgbClr val="131416"/>
                </a:solidFill>
              </a:rPr>
              <a:t>¿Qué es un método?</a:t>
            </a:r>
            <a:endParaRPr sz="3000">
              <a:solidFill>
                <a:srgbClr val="131416"/>
              </a:solidFill>
            </a:endParaRPr>
          </a:p>
          <a:p>
            <a:pPr indent="0" lvl="0" marL="0" marR="0" rtl="0" algn="l">
              <a:lnSpc>
                <a:spcPct val="17307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>
                <a:solidFill>
                  <a:srgbClr val="131416"/>
                </a:solidFill>
              </a:rPr>
              <a:t>Bloque de código reutilizable que realiza una tarea específica.</a:t>
            </a:r>
            <a:endParaRPr sz="3000">
              <a:solidFill>
                <a:srgbClr val="131416"/>
              </a:solidFill>
            </a:endParaRPr>
          </a:p>
          <a:p>
            <a:pPr indent="0" lvl="0" marL="0" marR="0" rtl="0" algn="l">
              <a:lnSpc>
                <a:spcPct val="17307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000">
                <a:solidFill>
                  <a:srgbClr val="131416"/>
                </a:solidFill>
              </a:rPr>
              <a:t>Ventajas:</a:t>
            </a:r>
            <a:endParaRPr b="1" sz="3000">
              <a:solidFill>
                <a:srgbClr val="131416"/>
              </a:solidFill>
            </a:endParaRPr>
          </a:p>
          <a:p>
            <a:pPr indent="0" lvl="0" marL="0" marR="0" rtl="0" algn="l">
              <a:lnSpc>
                <a:spcPct val="17307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>
                <a:solidFill>
                  <a:srgbClr val="131416"/>
                </a:solidFill>
              </a:rPr>
              <a:t>✔ Modularidad.</a:t>
            </a:r>
            <a:endParaRPr sz="3000">
              <a:solidFill>
                <a:srgbClr val="131416"/>
              </a:solidFill>
            </a:endParaRPr>
          </a:p>
          <a:p>
            <a:pPr indent="0" lvl="0" marL="0" marR="0" rtl="0" algn="l">
              <a:lnSpc>
                <a:spcPct val="17307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>
                <a:solidFill>
                  <a:srgbClr val="131416"/>
                </a:solidFill>
              </a:rPr>
              <a:t>✔ Facilita pruebas unitarias.</a:t>
            </a:r>
            <a:endParaRPr sz="3000">
              <a:solidFill>
                <a:srgbClr val="131416"/>
              </a:solidFill>
            </a:endParaRPr>
          </a:p>
          <a:p>
            <a:pPr indent="0" lvl="0" marL="0" marR="0" rtl="0" algn="l">
              <a:lnSpc>
                <a:spcPct val="17307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3000">
              <a:solidFill>
                <a:srgbClr val="131416"/>
              </a:solidFill>
            </a:endParaRPr>
          </a:p>
        </p:txBody>
      </p:sp>
      <p:sp>
        <p:nvSpPr>
          <p:cNvPr id="178" name="Google Shape;178;g35c6afc6fbd_1_33"/>
          <p:cNvSpPr txBox="1"/>
          <p:nvPr/>
        </p:nvSpPr>
        <p:spPr>
          <a:xfrm>
            <a:off x="1374889" y="654364"/>
            <a:ext cx="13991100" cy="9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11298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98"/>
              <a:buFont typeface="Arial"/>
              <a:buNone/>
            </a:pPr>
            <a:r>
              <a:rPr lang="en-US" sz="6098">
                <a:solidFill>
                  <a:srgbClr val="131416"/>
                </a:solidFill>
                <a:latin typeface="Impact"/>
                <a:ea typeface="Impact"/>
                <a:cs typeface="Impact"/>
                <a:sym typeface="Impact"/>
              </a:rPr>
              <a:t>Definición y Uso de Métodos y Funciones</a:t>
            </a:r>
            <a:endParaRPr b="0" i="0" sz="1400" u="none" cap="none" strike="noStrike">
              <a:solidFill>
                <a:srgbClr val="000000"/>
              </a:solidFill>
              <a:latin typeface="Impact"/>
              <a:ea typeface="Impact"/>
              <a:cs typeface="Impact"/>
              <a:sym typeface="Impact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g35c6afc6fbd_1_39"/>
          <p:cNvSpPr txBox="1"/>
          <p:nvPr/>
        </p:nvSpPr>
        <p:spPr>
          <a:xfrm>
            <a:off x="1341314" y="1114741"/>
            <a:ext cx="12625500" cy="15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7307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925"/>
              <a:buFont typeface="Arial"/>
              <a:buNone/>
            </a:pPr>
            <a:r>
              <a:rPr b="1" lang="en-US" sz="3900">
                <a:solidFill>
                  <a:srgbClr val="131416"/>
                </a:solidFill>
              </a:rPr>
              <a:t>Sintaxis</a:t>
            </a:r>
            <a:endParaRPr sz="3600">
              <a:solidFill>
                <a:srgbClr val="131416"/>
              </a:solidFill>
            </a:endParaRPr>
          </a:p>
          <a:p>
            <a:pPr indent="0" lvl="0" marL="0" marR="0" rtl="0" algn="l">
              <a:lnSpc>
                <a:spcPct val="17307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3000">
              <a:solidFill>
                <a:srgbClr val="131416"/>
              </a:solidFill>
            </a:endParaRPr>
          </a:p>
        </p:txBody>
      </p:sp>
      <p:pic>
        <p:nvPicPr>
          <p:cNvPr id="184" name="Google Shape;184;g35c6afc6fbd_1_3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56725" y="2615362"/>
            <a:ext cx="13848000" cy="2528171"/>
          </a:xfrm>
          <a:prstGeom prst="rect">
            <a:avLst/>
          </a:prstGeom>
          <a:noFill/>
          <a:ln>
            <a:noFill/>
          </a:ln>
        </p:spPr>
      </p:pic>
      <p:sp>
        <p:nvSpPr>
          <p:cNvPr id="185" name="Google Shape;185;g35c6afc6fbd_1_39"/>
          <p:cNvSpPr txBox="1"/>
          <p:nvPr/>
        </p:nvSpPr>
        <p:spPr>
          <a:xfrm>
            <a:off x="1409789" y="6452591"/>
            <a:ext cx="12625500" cy="2197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7307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925"/>
              <a:buFont typeface="Arial"/>
              <a:buNone/>
            </a:pPr>
            <a:r>
              <a:rPr b="1" lang="en-US" sz="3200">
                <a:solidFill>
                  <a:srgbClr val="131416"/>
                </a:solidFill>
              </a:rPr>
              <a:t>Partes clave:</a:t>
            </a:r>
            <a:endParaRPr b="1" sz="3200">
              <a:solidFill>
                <a:srgbClr val="131416"/>
              </a:solidFill>
            </a:endParaRPr>
          </a:p>
          <a:p>
            <a:pPr indent="-431800" lvl="0" marL="457200" marR="0" rtl="0" algn="l">
              <a:lnSpc>
                <a:spcPct val="173070"/>
              </a:lnSpc>
              <a:spcBef>
                <a:spcPts val="0"/>
              </a:spcBef>
              <a:spcAft>
                <a:spcPts val="0"/>
              </a:spcAft>
              <a:buClr>
                <a:srgbClr val="131416"/>
              </a:buClr>
              <a:buSzPts val="3200"/>
              <a:buChar char="●"/>
            </a:pPr>
            <a:r>
              <a:rPr b="1" lang="en-US" sz="3200">
                <a:solidFill>
                  <a:srgbClr val="131416"/>
                </a:solidFill>
              </a:rPr>
              <a:t>Parámetros: </a:t>
            </a:r>
            <a:r>
              <a:rPr lang="en-US" sz="3200">
                <a:solidFill>
                  <a:srgbClr val="131416"/>
                </a:solidFill>
              </a:rPr>
              <a:t>Datos de entrada.</a:t>
            </a:r>
            <a:endParaRPr sz="3200">
              <a:solidFill>
                <a:srgbClr val="131416"/>
              </a:solidFill>
            </a:endParaRPr>
          </a:p>
          <a:p>
            <a:pPr indent="-431800" lvl="0" marL="457200" marR="0" rtl="0" algn="l">
              <a:lnSpc>
                <a:spcPct val="173070"/>
              </a:lnSpc>
              <a:spcBef>
                <a:spcPts val="0"/>
              </a:spcBef>
              <a:spcAft>
                <a:spcPts val="0"/>
              </a:spcAft>
              <a:buClr>
                <a:srgbClr val="131416"/>
              </a:buClr>
              <a:buSzPts val="3200"/>
              <a:buChar char="●"/>
            </a:pPr>
            <a:r>
              <a:rPr b="1" lang="en-US" sz="3200">
                <a:solidFill>
                  <a:srgbClr val="131416"/>
                </a:solidFill>
              </a:rPr>
              <a:t>Retorno: </a:t>
            </a:r>
            <a:r>
              <a:rPr lang="en-US" sz="3200">
                <a:solidFill>
                  <a:srgbClr val="131416"/>
                </a:solidFill>
              </a:rPr>
              <a:t>Resultado (o void si no devuelve nada).</a:t>
            </a:r>
            <a:endParaRPr sz="3200">
              <a:solidFill>
                <a:srgbClr val="131416"/>
              </a:solidFill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g35c6afc6fbd_1_46"/>
          <p:cNvSpPr txBox="1"/>
          <p:nvPr/>
        </p:nvSpPr>
        <p:spPr>
          <a:xfrm>
            <a:off x="2831239" y="3816541"/>
            <a:ext cx="12625500" cy="3898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7307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900">
                <a:solidFill>
                  <a:srgbClr val="131416"/>
                </a:solidFill>
              </a:rPr>
              <a:t>Buenas Prácticas en Métodos</a:t>
            </a:r>
            <a:endParaRPr b="1" sz="3900">
              <a:solidFill>
                <a:srgbClr val="131416"/>
              </a:solidFill>
            </a:endParaRPr>
          </a:p>
          <a:p>
            <a:pPr indent="0" lvl="0" marL="0" marR="0" rtl="0" algn="l">
              <a:lnSpc>
                <a:spcPct val="17307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>
                <a:solidFill>
                  <a:srgbClr val="131416"/>
                </a:solidFill>
              </a:rPr>
              <a:t>✔ </a:t>
            </a:r>
            <a:r>
              <a:rPr b="1" lang="en-US" sz="3000">
                <a:solidFill>
                  <a:srgbClr val="131416"/>
                </a:solidFill>
              </a:rPr>
              <a:t>Nombres descriptivos:</a:t>
            </a:r>
            <a:r>
              <a:rPr lang="en-US" sz="3000">
                <a:solidFill>
                  <a:srgbClr val="131416"/>
                </a:solidFill>
              </a:rPr>
              <a:t> calcularImpuesto(), no metodo1().</a:t>
            </a:r>
            <a:endParaRPr sz="3000">
              <a:solidFill>
                <a:srgbClr val="131416"/>
              </a:solidFill>
            </a:endParaRPr>
          </a:p>
          <a:p>
            <a:pPr indent="0" lvl="0" marL="0" marR="0" rtl="0" algn="l">
              <a:lnSpc>
                <a:spcPct val="17307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>
                <a:solidFill>
                  <a:srgbClr val="131416"/>
                </a:solidFill>
              </a:rPr>
              <a:t>✔ Una sola responsabilidad (Principio SOLID).</a:t>
            </a:r>
            <a:endParaRPr sz="3000">
              <a:solidFill>
                <a:srgbClr val="131416"/>
              </a:solidFill>
            </a:endParaRPr>
          </a:p>
          <a:p>
            <a:pPr indent="0" lvl="0" marL="0" marR="0" rtl="0" algn="l">
              <a:lnSpc>
                <a:spcPct val="17307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>
                <a:solidFill>
                  <a:srgbClr val="131416"/>
                </a:solidFill>
              </a:rPr>
              <a:t>✔ Máximo 20-30 líneas por método.</a:t>
            </a:r>
            <a:endParaRPr sz="3000">
              <a:solidFill>
                <a:srgbClr val="131416"/>
              </a:solidFill>
            </a:endParaRPr>
          </a:p>
          <a:p>
            <a:pPr indent="0" lvl="0" marL="0" marR="0" rtl="0" algn="l">
              <a:lnSpc>
                <a:spcPct val="17307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000">
              <a:solidFill>
                <a:srgbClr val="131416"/>
              </a:solidFill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5"/>
          <p:cNvSpPr txBox="1"/>
          <p:nvPr/>
        </p:nvSpPr>
        <p:spPr>
          <a:xfrm>
            <a:off x="1374889" y="654364"/>
            <a:ext cx="13991100" cy="9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11298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98"/>
              <a:buFont typeface="Arial"/>
              <a:buNone/>
            </a:pPr>
            <a:r>
              <a:rPr lang="en-US" sz="6098">
                <a:solidFill>
                  <a:srgbClr val="131416"/>
                </a:solidFill>
                <a:latin typeface="Impact"/>
                <a:ea typeface="Impact"/>
                <a:cs typeface="Impact"/>
                <a:sym typeface="Impact"/>
              </a:rPr>
              <a:t>Ejemplo de método bien definido</a:t>
            </a:r>
            <a:endParaRPr b="0" i="0" sz="1400" u="none" cap="none" strike="noStrike">
              <a:solidFill>
                <a:srgbClr val="000000"/>
              </a:solidFill>
              <a:latin typeface="Impact"/>
              <a:ea typeface="Impact"/>
              <a:cs typeface="Impact"/>
              <a:sym typeface="Impact"/>
            </a:endParaRPr>
          </a:p>
        </p:txBody>
      </p:sp>
      <p:sp>
        <p:nvSpPr>
          <p:cNvPr id="196" name="Google Shape;196;p5"/>
          <p:cNvSpPr txBox="1"/>
          <p:nvPr/>
        </p:nvSpPr>
        <p:spPr>
          <a:xfrm>
            <a:off x="1374889" y="3650660"/>
            <a:ext cx="143658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7303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75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97" name="Google Shape;197;p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80238" y="4421207"/>
            <a:ext cx="14755125" cy="20060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6"/>
          <p:cNvSpPr txBox="1"/>
          <p:nvPr/>
        </p:nvSpPr>
        <p:spPr>
          <a:xfrm>
            <a:off x="2392340" y="781950"/>
            <a:ext cx="13503300" cy="106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900"/>
              <a:buFont typeface="Arial"/>
              <a:buNone/>
            </a:pPr>
            <a:r>
              <a:rPr b="0" i="0" lang="en-US" sz="6900" u="none" cap="none" strike="noStrike">
                <a:solidFill>
                  <a:srgbClr val="131416"/>
                </a:solidFill>
                <a:latin typeface="Impact"/>
                <a:ea typeface="Impact"/>
                <a:cs typeface="Impact"/>
                <a:sym typeface="Impact"/>
              </a:rPr>
              <a:t>CONCEPTOS CLAVE APRENDIDOS </a:t>
            </a:r>
            <a:endParaRPr b="0" i="0" sz="1400" u="none" cap="none" strike="noStrike">
              <a:solidFill>
                <a:srgbClr val="000000"/>
              </a:solidFill>
              <a:latin typeface="Impact"/>
              <a:ea typeface="Impact"/>
              <a:cs typeface="Impact"/>
              <a:sym typeface="Impact"/>
            </a:endParaRPr>
          </a:p>
        </p:txBody>
      </p:sp>
      <p:sp>
        <p:nvSpPr>
          <p:cNvPr id="203" name="Google Shape;203;p6"/>
          <p:cNvSpPr txBox="1"/>
          <p:nvPr/>
        </p:nvSpPr>
        <p:spPr>
          <a:xfrm>
            <a:off x="1174715" y="2233025"/>
            <a:ext cx="12553200" cy="320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14001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51"/>
              <a:buFont typeface="Arial"/>
              <a:buNone/>
            </a:pPr>
            <a:r>
              <a:rPr b="1" lang="en-US" sz="3151">
                <a:solidFill>
                  <a:srgbClr val="131416"/>
                </a:solidFill>
              </a:rPr>
              <a:t>Convenciones de Nombres y Estilo</a:t>
            </a:r>
            <a:endParaRPr b="1" sz="3151">
              <a:solidFill>
                <a:srgbClr val="131416"/>
              </a:solidFill>
            </a:endParaRPr>
          </a:p>
          <a:p>
            <a:pPr indent="0" lvl="0" marL="0" marR="0" rtl="0" algn="just">
              <a:lnSpc>
                <a:spcPct val="14001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51"/>
              <a:buFont typeface="Arial"/>
              <a:buNone/>
            </a:pPr>
            <a:r>
              <a:rPr lang="en-US" sz="3151">
                <a:solidFill>
                  <a:srgbClr val="131416"/>
                </a:solidFill>
              </a:rPr>
              <a:t>✔</a:t>
            </a:r>
            <a:r>
              <a:rPr b="1" lang="en-US" sz="3151">
                <a:solidFill>
                  <a:srgbClr val="131416"/>
                </a:solidFill>
              </a:rPr>
              <a:t> PascalCase:</a:t>
            </a:r>
            <a:r>
              <a:rPr lang="en-US" sz="3151">
                <a:solidFill>
                  <a:srgbClr val="131416"/>
                </a:solidFill>
              </a:rPr>
              <a:t> Clases (UsuarioService).</a:t>
            </a:r>
            <a:endParaRPr sz="3151">
              <a:solidFill>
                <a:srgbClr val="131416"/>
              </a:solidFill>
            </a:endParaRPr>
          </a:p>
          <a:p>
            <a:pPr indent="0" lvl="0" marL="0" marR="0" rtl="0" algn="just">
              <a:lnSpc>
                <a:spcPct val="14001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51"/>
              <a:buFont typeface="Arial"/>
              <a:buNone/>
            </a:pPr>
            <a:r>
              <a:rPr lang="en-US" sz="3151">
                <a:solidFill>
                  <a:srgbClr val="131416"/>
                </a:solidFill>
              </a:rPr>
              <a:t>✔ </a:t>
            </a:r>
            <a:r>
              <a:rPr b="1" lang="en-US" sz="3151">
                <a:solidFill>
                  <a:srgbClr val="131416"/>
                </a:solidFill>
              </a:rPr>
              <a:t>camelCase:</a:t>
            </a:r>
            <a:r>
              <a:rPr lang="en-US" sz="3151">
                <a:solidFill>
                  <a:srgbClr val="131416"/>
                </a:solidFill>
              </a:rPr>
              <a:t> Métodos/variables (calcularSaldo).</a:t>
            </a:r>
            <a:endParaRPr sz="3151">
              <a:solidFill>
                <a:srgbClr val="131416"/>
              </a:solidFill>
            </a:endParaRPr>
          </a:p>
          <a:p>
            <a:pPr indent="0" lvl="0" marL="0" marR="0" rtl="0" algn="just">
              <a:lnSpc>
                <a:spcPct val="14001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51"/>
              <a:buFont typeface="Arial"/>
              <a:buNone/>
            </a:pPr>
            <a:r>
              <a:rPr lang="en-US" sz="3151">
                <a:solidFill>
                  <a:srgbClr val="131416"/>
                </a:solidFill>
              </a:rPr>
              <a:t>✔ </a:t>
            </a:r>
            <a:r>
              <a:rPr b="1" lang="en-US" sz="3151">
                <a:solidFill>
                  <a:srgbClr val="131416"/>
                </a:solidFill>
              </a:rPr>
              <a:t>MAYÚSCULAS:</a:t>
            </a:r>
            <a:r>
              <a:rPr lang="en-US" sz="3151">
                <a:solidFill>
                  <a:srgbClr val="131416"/>
                </a:solidFill>
              </a:rPr>
              <a:t> Constantes (MAX_CONEXIONES).</a:t>
            </a:r>
            <a:endParaRPr sz="3151">
              <a:solidFill>
                <a:srgbClr val="131416"/>
              </a:solidFill>
            </a:endParaRPr>
          </a:p>
          <a:p>
            <a:pPr indent="0" lvl="0" marL="0" marR="0" rtl="0" algn="just">
              <a:lnSpc>
                <a:spcPct val="14001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51"/>
              <a:buFont typeface="Arial"/>
              <a:buNone/>
            </a:pPr>
            <a:r>
              <a:rPr lang="en-US" sz="3151">
                <a:solidFill>
                  <a:srgbClr val="131416"/>
                </a:solidFill>
              </a:rPr>
              <a:t>✔ </a:t>
            </a:r>
            <a:r>
              <a:rPr b="1" lang="en-US" sz="3151">
                <a:solidFill>
                  <a:srgbClr val="131416"/>
                </a:solidFill>
              </a:rPr>
              <a:t>Legibilidad:</a:t>
            </a:r>
            <a:r>
              <a:rPr lang="en-US" sz="3151">
                <a:solidFill>
                  <a:srgbClr val="131416"/>
                </a:solidFill>
              </a:rPr>
              <a:t> Indentación, nombres descriptivos, comentarios útiles.</a:t>
            </a:r>
            <a:endParaRPr sz="3151">
              <a:solidFill>
                <a:srgbClr val="131416"/>
              </a:solidFill>
            </a:endParaRPr>
          </a:p>
        </p:txBody>
      </p:sp>
      <p:sp>
        <p:nvSpPr>
          <p:cNvPr id="204" name="Google Shape;204;p6"/>
          <p:cNvSpPr txBox="1"/>
          <p:nvPr/>
        </p:nvSpPr>
        <p:spPr>
          <a:xfrm>
            <a:off x="4497425" y="6026975"/>
            <a:ext cx="13175400" cy="388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14001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51"/>
              <a:buFont typeface="Arial"/>
              <a:buNone/>
            </a:pPr>
            <a:r>
              <a:rPr b="1" lang="en-US" sz="3151">
                <a:solidFill>
                  <a:srgbClr val="131416"/>
                </a:solidFill>
              </a:rPr>
              <a:t>Gestión de Memoria</a:t>
            </a:r>
            <a:endParaRPr b="1" sz="3151">
              <a:solidFill>
                <a:srgbClr val="131416"/>
              </a:solidFill>
            </a:endParaRPr>
          </a:p>
          <a:p>
            <a:pPr indent="0" lvl="0" marL="0" marR="0" rtl="0" algn="just">
              <a:lnSpc>
                <a:spcPct val="14001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51"/>
              <a:buFont typeface="Arial"/>
              <a:buNone/>
            </a:pPr>
            <a:r>
              <a:rPr lang="en-US" sz="3151">
                <a:solidFill>
                  <a:srgbClr val="131416"/>
                </a:solidFill>
              </a:rPr>
              <a:t>✔</a:t>
            </a:r>
            <a:r>
              <a:rPr b="1" lang="en-US" sz="3151">
                <a:solidFill>
                  <a:srgbClr val="131416"/>
                </a:solidFill>
              </a:rPr>
              <a:t> Heap: </a:t>
            </a:r>
            <a:r>
              <a:rPr lang="en-US" sz="3151">
                <a:solidFill>
                  <a:srgbClr val="131416"/>
                </a:solidFill>
              </a:rPr>
              <a:t>Almacena objetos (GC los gestiona).</a:t>
            </a:r>
            <a:endParaRPr sz="3151">
              <a:solidFill>
                <a:srgbClr val="131416"/>
              </a:solidFill>
            </a:endParaRPr>
          </a:p>
          <a:p>
            <a:pPr indent="0" lvl="0" marL="0" marR="0" rtl="0" algn="just">
              <a:lnSpc>
                <a:spcPct val="14001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51"/>
              <a:buFont typeface="Arial"/>
              <a:buNone/>
            </a:pPr>
            <a:r>
              <a:rPr b="1" lang="en-US" sz="3151">
                <a:solidFill>
                  <a:srgbClr val="131416"/>
                </a:solidFill>
              </a:rPr>
              <a:t>✔ Stack:</a:t>
            </a:r>
            <a:r>
              <a:rPr lang="en-US" sz="3151">
                <a:solidFill>
                  <a:srgbClr val="131416"/>
                </a:solidFill>
              </a:rPr>
              <a:t> Variables locales y llamadas a métodos.</a:t>
            </a:r>
            <a:endParaRPr sz="3151">
              <a:solidFill>
                <a:srgbClr val="131416"/>
              </a:solidFill>
            </a:endParaRPr>
          </a:p>
          <a:p>
            <a:pPr indent="0" lvl="0" marL="0" marR="0" rtl="0" algn="just">
              <a:lnSpc>
                <a:spcPct val="14001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51"/>
              <a:buFont typeface="Arial"/>
              <a:buNone/>
            </a:pPr>
            <a:r>
              <a:rPr b="1" lang="en-US" sz="3151">
                <a:solidFill>
                  <a:srgbClr val="131416"/>
                </a:solidFill>
              </a:rPr>
              <a:t>✔ Garbage Collector:</a:t>
            </a:r>
            <a:r>
              <a:rPr lang="en-US" sz="3151">
                <a:solidFill>
                  <a:srgbClr val="131416"/>
                </a:solidFill>
              </a:rPr>
              <a:t> Elimina objetos no referenciados (no inmediato).</a:t>
            </a:r>
            <a:endParaRPr sz="3151">
              <a:solidFill>
                <a:srgbClr val="131416"/>
              </a:solidFill>
            </a:endParaRPr>
          </a:p>
          <a:p>
            <a:pPr indent="0" lvl="0" marL="0" marR="0" rtl="0" algn="just">
              <a:lnSpc>
                <a:spcPct val="14001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51"/>
              <a:buFont typeface="Arial"/>
              <a:buNone/>
            </a:pPr>
            <a:r>
              <a:rPr b="1" lang="en-US" sz="3151">
                <a:solidFill>
                  <a:srgbClr val="131416"/>
                </a:solidFill>
              </a:rPr>
              <a:t>✔ Optimización:</a:t>
            </a:r>
            <a:r>
              <a:rPr lang="en-US" sz="3151">
                <a:solidFill>
                  <a:srgbClr val="131416"/>
                </a:solidFill>
              </a:rPr>
              <a:t> Reutilizar objetos, cerrar recursos, evitar creaciones innecesarias.</a:t>
            </a:r>
            <a:endParaRPr sz="3151">
              <a:solidFill>
                <a:srgbClr val="131416"/>
              </a:solidFill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g35c6afc6fbd_1_54"/>
          <p:cNvSpPr txBox="1"/>
          <p:nvPr/>
        </p:nvSpPr>
        <p:spPr>
          <a:xfrm>
            <a:off x="2392340" y="781950"/>
            <a:ext cx="13503300" cy="106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900"/>
              <a:buFont typeface="Arial"/>
              <a:buNone/>
            </a:pPr>
            <a:r>
              <a:rPr b="0" i="0" lang="en-US" sz="6900" u="none" cap="none" strike="noStrike">
                <a:solidFill>
                  <a:srgbClr val="131416"/>
                </a:solidFill>
                <a:latin typeface="Impact"/>
                <a:ea typeface="Impact"/>
                <a:cs typeface="Impact"/>
                <a:sym typeface="Impact"/>
              </a:rPr>
              <a:t>CONCEPTOS CLAVE APRENDIDOS </a:t>
            </a:r>
            <a:endParaRPr b="0" i="0" sz="1400" u="none" cap="none" strike="noStrike">
              <a:solidFill>
                <a:srgbClr val="000000"/>
              </a:solidFill>
              <a:latin typeface="Impact"/>
              <a:ea typeface="Impact"/>
              <a:cs typeface="Impact"/>
              <a:sym typeface="Impact"/>
            </a:endParaRPr>
          </a:p>
        </p:txBody>
      </p:sp>
      <p:sp>
        <p:nvSpPr>
          <p:cNvPr id="210" name="Google Shape;210;g35c6afc6fbd_1_54"/>
          <p:cNvSpPr txBox="1"/>
          <p:nvPr/>
        </p:nvSpPr>
        <p:spPr>
          <a:xfrm>
            <a:off x="2867390" y="4230000"/>
            <a:ext cx="12553200" cy="320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14001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51"/>
              <a:buFont typeface="Arial"/>
              <a:buNone/>
            </a:pPr>
            <a:r>
              <a:rPr b="1" lang="en-US" sz="3151">
                <a:solidFill>
                  <a:srgbClr val="131416"/>
                </a:solidFill>
              </a:rPr>
              <a:t>Métodos y funciones</a:t>
            </a:r>
            <a:endParaRPr b="1" sz="3151">
              <a:solidFill>
                <a:srgbClr val="131416"/>
              </a:solidFill>
            </a:endParaRPr>
          </a:p>
          <a:p>
            <a:pPr indent="0" lvl="0" marL="0" marR="0" rtl="0" algn="just">
              <a:lnSpc>
                <a:spcPct val="14001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51"/>
              <a:buFont typeface="Arial"/>
              <a:buNone/>
            </a:pPr>
            <a:r>
              <a:rPr b="1" lang="en-US" sz="3151">
                <a:solidFill>
                  <a:srgbClr val="131416"/>
                </a:solidFill>
              </a:rPr>
              <a:t>✔ Propósito único:</a:t>
            </a:r>
            <a:r>
              <a:rPr lang="en-US" sz="3151">
                <a:solidFill>
                  <a:srgbClr val="131416"/>
                </a:solidFill>
              </a:rPr>
              <a:t> Un método = una responsabilidad (SOLID).</a:t>
            </a:r>
            <a:endParaRPr sz="3151">
              <a:solidFill>
                <a:srgbClr val="131416"/>
              </a:solidFill>
            </a:endParaRPr>
          </a:p>
          <a:p>
            <a:pPr indent="0" lvl="0" marL="0" marR="0" rtl="0" algn="just">
              <a:lnSpc>
                <a:spcPct val="14001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51"/>
              <a:buFont typeface="Arial"/>
              <a:buNone/>
            </a:pPr>
            <a:r>
              <a:rPr b="1" lang="en-US" sz="3151">
                <a:solidFill>
                  <a:srgbClr val="131416"/>
                </a:solidFill>
              </a:rPr>
              <a:t>✔ Firma clara:</a:t>
            </a:r>
            <a:r>
              <a:rPr lang="en-US" sz="3151">
                <a:solidFill>
                  <a:srgbClr val="131416"/>
                </a:solidFill>
              </a:rPr>
              <a:t> modificador + tipoRetorno + nombre(parámetros).</a:t>
            </a:r>
            <a:endParaRPr sz="3151">
              <a:solidFill>
                <a:srgbClr val="131416"/>
              </a:solidFill>
            </a:endParaRPr>
          </a:p>
          <a:p>
            <a:pPr indent="0" lvl="0" marL="0" marR="0" rtl="0" algn="just">
              <a:lnSpc>
                <a:spcPct val="14001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51"/>
              <a:buFont typeface="Arial"/>
              <a:buNone/>
            </a:pPr>
            <a:r>
              <a:rPr b="1" lang="en-US" sz="3151">
                <a:solidFill>
                  <a:srgbClr val="131416"/>
                </a:solidFill>
              </a:rPr>
              <a:t>✔ Reutilización:</a:t>
            </a:r>
            <a:r>
              <a:rPr lang="en-US" sz="3151">
                <a:solidFill>
                  <a:srgbClr val="131416"/>
                </a:solidFill>
              </a:rPr>
              <a:t> Evita código duplicado.</a:t>
            </a:r>
            <a:endParaRPr sz="3151">
              <a:solidFill>
                <a:srgbClr val="131416"/>
              </a:solidFill>
            </a:endParaRPr>
          </a:p>
          <a:p>
            <a:pPr indent="0" lvl="0" marL="0" marR="0" rtl="0" algn="just">
              <a:lnSpc>
                <a:spcPct val="14001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51"/>
              <a:buFont typeface="Arial"/>
              <a:buNone/>
            </a:pPr>
            <a:r>
              <a:rPr b="1" lang="en-US" sz="3151">
                <a:solidFill>
                  <a:srgbClr val="131416"/>
                </a:solidFill>
              </a:rPr>
              <a:t>✔ Regla de oro:</a:t>
            </a:r>
            <a:r>
              <a:rPr lang="en-US" sz="3151">
                <a:solidFill>
                  <a:srgbClr val="131416"/>
                </a:solidFill>
              </a:rPr>
              <a:t> Métodos cortos (&lt; 30 líneas) y nombres descriptivos.</a:t>
            </a:r>
            <a:endParaRPr sz="3151">
              <a:solidFill>
                <a:srgbClr val="131416"/>
              </a:solidFill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p7"/>
          <p:cNvSpPr txBox="1"/>
          <p:nvPr/>
        </p:nvSpPr>
        <p:spPr>
          <a:xfrm>
            <a:off x="2507390" y="1000125"/>
            <a:ext cx="13503300" cy="106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900"/>
              <a:buFont typeface="Arial"/>
              <a:buNone/>
            </a:pPr>
            <a:r>
              <a:rPr lang="en-US" sz="6900">
                <a:solidFill>
                  <a:srgbClr val="131416"/>
                </a:solidFill>
                <a:latin typeface="Impact"/>
                <a:ea typeface="Impact"/>
                <a:cs typeface="Impact"/>
                <a:sym typeface="Impact"/>
              </a:rPr>
              <a:t>VALORES</a:t>
            </a:r>
            <a:endParaRPr b="0" i="0" sz="1400" u="none" cap="none" strike="noStrike">
              <a:solidFill>
                <a:srgbClr val="000000"/>
              </a:solidFill>
              <a:latin typeface="Impact"/>
              <a:ea typeface="Impact"/>
              <a:cs typeface="Impact"/>
              <a:sym typeface="Impact"/>
            </a:endParaRPr>
          </a:p>
        </p:txBody>
      </p:sp>
      <p:sp>
        <p:nvSpPr>
          <p:cNvPr id="216" name="Google Shape;216;p7"/>
          <p:cNvSpPr txBox="1"/>
          <p:nvPr/>
        </p:nvSpPr>
        <p:spPr>
          <a:xfrm>
            <a:off x="1275450" y="3429000"/>
            <a:ext cx="15967200" cy="388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1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51"/>
              <a:buFont typeface="Arial"/>
              <a:buNone/>
            </a:pPr>
            <a:r>
              <a:rPr b="1" lang="en-US" sz="3151">
                <a:solidFill>
                  <a:srgbClr val="131416"/>
                </a:solidFill>
              </a:rPr>
              <a:t>Disciplina: </a:t>
            </a:r>
            <a:r>
              <a:rPr lang="en-US" sz="3151">
                <a:solidFill>
                  <a:srgbClr val="131416"/>
                </a:solidFill>
              </a:rPr>
              <a:t>Fomenta el respeto por normas y estándares que garantizan claridad en el código.</a:t>
            </a:r>
            <a:endParaRPr sz="3151">
              <a:solidFill>
                <a:srgbClr val="131416"/>
              </a:solidFill>
            </a:endParaRPr>
          </a:p>
          <a:p>
            <a:pPr indent="0" lvl="0" marL="0" marR="0" rtl="0" algn="l">
              <a:lnSpc>
                <a:spcPct val="14001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51"/>
              <a:buFont typeface="Arial"/>
              <a:buNone/>
            </a:pPr>
            <a:r>
              <a:rPr b="1" lang="en-US" sz="3151">
                <a:solidFill>
                  <a:srgbClr val="131416"/>
                </a:solidFill>
              </a:rPr>
              <a:t>Organización: </a:t>
            </a:r>
            <a:r>
              <a:rPr lang="en-US" sz="3151">
                <a:solidFill>
                  <a:srgbClr val="131416"/>
                </a:solidFill>
              </a:rPr>
              <a:t>Desarrolla la capacidad de estructurar código modular y reutilizable.</a:t>
            </a:r>
            <a:endParaRPr sz="3151">
              <a:solidFill>
                <a:srgbClr val="131416"/>
              </a:solidFill>
            </a:endParaRPr>
          </a:p>
          <a:p>
            <a:pPr indent="0" lvl="0" marL="0" marR="0" rtl="0" algn="l">
              <a:lnSpc>
                <a:spcPct val="14001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51"/>
              <a:buFont typeface="Arial"/>
              <a:buNone/>
            </a:pPr>
            <a:r>
              <a:rPr b="1" lang="en-US" sz="3151">
                <a:solidFill>
                  <a:srgbClr val="131416"/>
                </a:solidFill>
              </a:rPr>
              <a:t>Pensamiento lógico:</a:t>
            </a:r>
            <a:r>
              <a:rPr lang="en-US" sz="3151">
                <a:solidFill>
                  <a:srgbClr val="131416"/>
                </a:solidFill>
              </a:rPr>
              <a:t> Fortalece la comprensión de la lógica orientada a objetos</a:t>
            </a:r>
            <a:endParaRPr sz="3151">
              <a:solidFill>
                <a:srgbClr val="131416"/>
              </a:solidFill>
            </a:endParaRPr>
          </a:p>
          <a:p>
            <a:pPr indent="0" lvl="0" marL="0" marR="0" rtl="0" algn="l">
              <a:lnSpc>
                <a:spcPct val="14001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51"/>
              <a:buFont typeface="Arial"/>
              <a:buNone/>
            </a:pPr>
            <a:r>
              <a:rPr b="1" lang="en-US" sz="3151">
                <a:solidFill>
                  <a:srgbClr val="131416"/>
                </a:solidFill>
              </a:rPr>
              <a:t>Pensamiento crítico: </a:t>
            </a:r>
            <a:r>
              <a:rPr lang="en-US" sz="3151">
                <a:solidFill>
                  <a:srgbClr val="131416"/>
                </a:solidFill>
              </a:rPr>
              <a:t>Se estimula al enfrentar situaciones que exigen análisis de errores y decisiones técnicas.</a:t>
            </a:r>
            <a:endParaRPr sz="3151">
              <a:solidFill>
                <a:srgbClr val="131416"/>
              </a:solidFill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p8"/>
          <p:cNvSpPr txBox="1"/>
          <p:nvPr/>
        </p:nvSpPr>
        <p:spPr>
          <a:xfrm>
            <a:off x="2507390" y="1000125"/>
            <a:ext cx="13503300" cy="106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900"/>
              <a:buFont typeface="Arial"/>
              <a:buNone/>
            </a:pPr>
            <a:r>
              <a:rPr b="0" i="0" lang="en-US" sz="6900" u="none" cap="none" strike="noStrike">
                <a:solidFill>
                  <a:srgbClr val="131416"/>
                </a:solidFill>
                <a:latin typeface="Impact"/>
                <a:ea typeface="Impact"/>
                <a:cs typeface="Impact"/>
                <a:sym typeface="Impact"/>
              </a:rPr>
              <a:t>REFERENCIAS </a:t>
            </a:r>
            <a:endParaRPr b="0" i="0" sz="1400" u="none" cap="none" strike="noStrike">
              <a:solidFill>
                <a:srgbClr val="000000"/>
              </a:solidFill>
              <a:latin typeface="Impact"/>
              <a:ea typeface="Impact"/>
              <a:cs typeface="Impact"/>
              <a:sym typeface="Impact"/>
            </a:endParaRPr>
          </a:p>
        </p:txBody>
      </p:sp>
      <p:sp>
        <p:nvSpPr>
          <p:cNvPr id="222" name="Google Shape;222;p8"/>
          <p:cNvSpPr txBox="1"/>
          <p:nvPr/>
        </p:nvSpPr>
        <p:spPr>
          <a:xfrm>
            <a:off x="3259357" y="3894125"/>
            <a:ext cx="11769300" cy="2739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375539" lvl="0" marL="457200" marR="0" rtl="0" algn="ctr">
              <a:lnSpc>
                <a:spcPct val="140019"/>
              </a:lnSpc>
              <a:spcBef>
                <a:spcPts val="0"/>
              </a:spcBef>
              <a:spcAft>
                <a:spcPts val="0"/>
              </a:spcAft>
              <a:buClr>
                <a:srgbClr val="131416"/>
              </a:buClr>
              <a:buSzPts val="2314"/>
              <a:buFont typeface="Open Sans"/>
              <a:buChar char="●"/>
            </a:pPr>
            <a:r>
              <a:rPr lang="en-US" sz="2314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Bloch, J. (2008). Effective Java. Addison-Wesley.</a:t>
            </a:r>
            <a:endParaRPr sz="2314">
              <a:solidFill>
                <a:srgbClr val="131416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-375539" lvl="0" marL="457200" rtl="0" algn="ctr">
              <a:lnSpc>
                <a:spcPct val="140019"/>
              </a:lnSpc>
              <a:spcBef>
                <a:spcPts val="0"/>
              </a:spcBef>
              <a:spcAft>
                <a:spcPts val="0"/>
              </a:spcAft>
              <a:buClr>
                <a:srgbClr val="131416"/>
              </a:buClr>
              <a:buSzPts val="2314"/>
              <a:buFont typeface="Open Sans"/>
              <a:buChar char="●"/>
            </a:pPr>
            <a:r>
              <a:rPr lang="en-US" sz="2314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Google Java Style Guide. Enlace</a:t>
            </a:r>
            <a:endParaRPr sz="2314">
              <a:solidFill>
                <a:srgbClr val="131416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-375539" lvl="0" marL="457200" marR="0" rtl="0" algn="ctr">
              <a:lnSpc>
                <a:spcPct val="140019"/>
              </a:lnSpc>
              <a:spcBef>
                <a:spcPts val="0"/>
              </a:spcBef>
              <a:spcAft>
                <a:spcPts val="0"/>
              </a:spcAft>
              <a:buClr>
                <a:srgbClr val="131416"/>
              </a:buClr>
              <a:buSzPts val="2314"/>
              <a:buFont typeface="Open Sans"/>
              <a:buChar char="●"/>
            </a:pPr>
            <a:r>
              <a:rPr lang="en-US" sz="2314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Oracle. Java Code Conventions. Enlace</a:t>
            </a:r>
            <a:endParaRPr sz="2314">
              <a:solidFill>
                <a:srgbClr val="131416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-375539" lvl="0" marL="457200" marR="0" rtl="0" algn="ctr">
              <a:lnSpc>
                <a:spcPct val="140019"/>
              </a:lnSpc>
              <a:spcBef>
                <a:spcPts val="0"/>
              </a:spcBef>
              <a:spcAft>
                <a:spcPts val="0"/>
              </a:spcAft>
              <a:buClr>
                <a:srgbClr val="131416"/>
              </a:buClr>
              <a:buSzPts val="2314"/>
              <a:buFont typeface="Open Sans"/>
              <a:buChar char="●"/>
            </a:pPr>
            <a:r>
              <a:rPr lang="en-US" sz="2314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Oracle. Memory Management in Java. Enlace</a:t>
            </a:r>
            <a:endParaRPr sz="2314">
              <a:solidFill>
                <a:srgbClr val="131416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marR="0" rtl="0" algn="ctr">
              <a:lnSpc>
                <a:spcPct val="14001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14"/>
              <a:buFont typeface="Arial"/>
              <a:buNone/>
            </a:pPr>
            <a:r>
              <a:t/>
            </a:r>
            <a:endParaRPr sz="2014">
              <a:solidFill>
                <a:srgbClr val="131416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marR="0" rtl="0" algn="ctr">
              <a:lnSpc>
                <a:spcPct val="14001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14"/>
              <a:buFont typeface="Arial"/>
              <a:buNone/>
            </a:pPr>
            <a:r>
              <a:t/>
            </a:r>
            <a:endParaRPr sz="2014">
              <a:solidFill>
                <a:srgbClr val="131416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p9"/>
          <p:cNvSpPr txBox="1"/>
          <p:nvPr/>
        </p:nvSpPr>
        <p:spPr>
          <a:xfrm>
            <a:off x="4437795" y="3389104"/>
            <a:ext cx="8658900" cy="1915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99"/>
              <a:buFont typeface="Arial"/>
              <a:buNone/>
            </a:pPr>
            <a:r>
              <a:rPr b="0" i="0" lang="en-US" sz="6099" u="none" cap="none" strike="noStrike">
                <a:solidFill>
                  <a:srgbClr val="131416"/>
                </a:solidFill>
                <a:latin typeface="Impact"/>
                <a:ea typeface="Impact"/>
                <a:cs typeface="Impact"/>
                <a:sym typeface="Impact"/>
              </a:rPr>
              <a:t>¡GRACIAS POR SU  ATENCIÓN!</a:t>
            </a:r>
            <a:endParaRPr b="0" i="0" sz="1400" u="none" cap="none" strike="noStrike">
              <a:solidFill>
                <a:srgbClr val="000000"/>
              </a:solidFill>
              <a:latin typeface="Impact"/>
              <a:ea typeface="Impact"/>
              <a:cs typeface="Impact"/>
              <a:sym typeface="Impact"/>
            </a:endParaRPr>
          </a:p>
          <a:p>
            <a:pPr indent="0" lvl="0" marL="0" marR="0" rtl="0" algn="just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99"/>
              <a:buFont typeface="Arial"/>
              <a:buNone/>
            </a:pPr>
            <a:r>
              <a:t/>
            </a:r>
            <a:endParaRPr b="0" i="0" sz="6099" u="none" cap="none" strike="noStrike">
              <a:solidFill>
                <a:srgbClr val="131416"/>
              </a:solidFill>
              <a:latin typeface="Impact"/>
              <a:ea typeface="Impact"/>
              <a:cs typeface="Impact"/>
              <a:sym typeface="Impact"/>
            </a:endParaRPr>
          </a:p>
        </p:txBody>
      </p:sp>
      <p:sp>
        <p:nvSpPr>
          <p:cNvPr id="228" name="Google Shape;228;p9"/>
          <p:cNvSpPr txBox="1"/>
          <p:nvPr/>
        </p:nvSpPr>
        <p:spPr>
          <a:xfrm>
            <a:off x="5414714" y="5958103"/>
            <a:ext cx="6704991" cy="8985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8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0"/>
              <a:buFont typeface="Arial"/>
              <a:buNone/>
            </a:pPr>
            <a:r>
              <a:rPr b="0" i="0" lang="en-US" sz="5000" u="none" cap="none" strike="noStrike">
                <a:solidFill>
                  <a:srgbClr val="131416"/>
                </a:solidFill>
                <a:latin typeface="Arial"/>
                <a:ea typeface="Arial"/>
                <a:cs typeface="Arial"/>
                <a:sym typeface="Arial"/>
              </a:rPr>
              <a:t>DUDAS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9" name="Google Shape;229;p9"/>
          <p:cNvSpPr/>
          <p:nvPr/>
        </p:nvSpPr>
        <p:spPr>
          <a:xfrm>
            <a:off x="13963751" y="1028700"/>
            <a:ext cx="2757268" cy="3770970"/>
          </a:xfrm>
          <a:custGeom>
            <a:rect b="b" l="l" r="r" t="t"/>
            <a:pathLst>
              <a:path extrusionOk="0" h="3770970" w="2757268">
                <a:moveTo>
                  <a:pt x="0" y="0"/>
                </a:moveTo>
                <a:lnTo>
                  <a:pt x="2757268" y="0"/>
                </a:lnTo>
                <a:lnTo>
                  <a:pt x="2757268" y="3770970"/>
                </a:lnTo>
                <a:lnTo>
                  <a:pt x="0" y="377097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30" name="Google Shape;230;p9"/>
          <p:cNvSpPr txBox="1"/>
          <p:nvPr/>
        </p:nvSpPr>
        <p:spPr>
          <a:xfrm>
            <a:off x="2411098" y="7899735"/>
            <a:ext cx="13465804" cy="71945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8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131416"/>
                </a:solidFill>
                <a:latin typeface="Arial"/>
                <a:ea typeface="Arial"/>
                <a:cs typeface="Arial"/>
                <a:sym typeface="Arial"/>
              </a:rPr>
              <a:t>RECUERDA QUE TENEMOS NUESTRO FORO SEMANAL DONDE PUEDES CONSULTAR CUALQUIER DUDA QUE TE SURJA EN LA SEMANA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2006-08-16T00:00:00Z</dcterms:created>
</cp:coreProperties>
</file>