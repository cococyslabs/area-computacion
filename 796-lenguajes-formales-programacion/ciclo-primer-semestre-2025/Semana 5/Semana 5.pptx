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embeddedFontLst>
    <p:embeddedFont>
      <p:font typeface="Lobster"/>
      <p:regular r:id="rId28"/>
    </p:embeddedFont>
    <p:embeddedFont>
      <p:font typeface="Pacifico"/>
      <p:regular r:id="rId29"/>
    </p:embeddedFont>
    <p:embeddedFont>
      <p:font typeface="Open Sans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hdNs+pBu83PZDCTMqmL3KbJ36u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AB721E-B4E6-480B-97C9-D461A09866D7}">
  <a:tblStyle styleId="{C5AB721E-B4E6-480B-97C9-D461A09866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obster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acific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28700" y="6899275"/>
            <a:ext cx="12637001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 Formales y de Programación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6204148" y="4274503"/>
            <a:ext cx="5879703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28700" y="8086725"/>
            <a:ext cx="9335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8461375"/>
            <a:ext cx="4713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8836025"/>
            <a:ext cx="8568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866989" y="3342832"/>
            <a:ext cx="4115190" cy="1556484"/>
            <a:chOff x="0" y="-76200"/>
            <a:chExt cx="1083836" cy="409938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651754" y="3758584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/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" name="Google Shape;103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sp>
        <p:nvSpPr>
          <p:cNvPr id="104" name="Google Shape;104;p2"/>
          <p:cNvSpPr/>
          <p:nvPr/>
        </p:nvSpPr>
        <p:spPr>
          <a:xfrm>
            <a:off x="651754" y="503266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651754" y="571661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651754" y="640006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651754" y="708350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651754" y="776695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1405646" y="4981657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Intérprete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405646" y="5665609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Compilador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405646" y="6349899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Estructura de un Compilador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405646" y="7034189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Jerarquía de Chomsky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405646" y="7718480"/>
            <a:ext cx="8390471" cy="598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Clasificación de Gramáticas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/>
        </p:nvSpPr>
        <p:spPr>
          <a:xfrm>
            <a:off x="1028700" y="1009650"/>
            <a:ext cx="16230600" cy="180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 QUE DESARROLLAREMOS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28700" y="3330575"/>
            <a:ext cx="16230600" cy="352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estudiante aplica el análisis léxico mediante el uso de expresiones regulares para solucionar problemas que requieran el reconocimiento de lenguajes.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1904222" y="1577033"/>
            <a:ext cx="14701023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INTÉRPRETE VS COMPILADOR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1904222" y="2853563"/>
            <a:ext cx="14701023" cy="1967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Los intérpretes y los compiladores son los principales mecanismos para ejecutar programas de computadora. Mientras que los intérpretes procesan el código fuente línea por línea, los compiladores traducen todo el código fuente a un lenguaje de máquina que puede ser ejecutado directamente.</a:t>
            </a:r>
            <a:endParaRPr/>
          </a:p>
        </p:txBody>
      </p:sp>
      <p:sp>
        <p:nvSpPr>
          <p:cNvPr descr="preencoded.png" id="128" name="Google Shape;128;p4"/>
          <p:cNvSpPr/>
          <p:nvPr/>
        </p:nvSpPr>
        <p:spPr>
          <a:xfrm>
            <a:off x="3775546" y="5221589"/>
            <a:ext cx="10736908" cy="4420095"/>
          </a:xfrm>
          <a:custGeom>
            <a:rect b="b" l="l" r="r" t="t"/>
            <a:pathLst>
              <a:path extrusionOk="0" h="4420095" w="10736908">
                <a:moveTo>
                  <a:pt x="0" y="0"/>
                </a:moveTo>
                <a:lnTo>
                  <a:pt x="10736908" y="0"/>
                </a:lnTo>
                <a:lnTo>
                  <a:pt x="10736908" y="4420095"/>
                </a:lnTo>
                <a:lnTo>
                  <a:pt x="0" y="442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5"/>
          <p:cNvGrpSpPr/>
          <p:nvPr/>
        </p:nvGrpSpPr>
        <p:grpSpPr>
          <a:xfrm>
            <a:off x="2689825" y="5592964"/>
            <a:ext cx="1638210" cy="617869"/>
            <a:chOff x="0" y="-19050"/>
            <a:chExt cx="1370946" cy="517067"/>
          </a:xfrm>
        </p:grpSpPr>
        <p:sp>
          <p:nvSpPr>
            <p:cNvPr id="134" name="Google Shape;134;p5"/>
            <p:cNvSpPr/>
            <p:nvPr/>
          </p:nvSpPr>
          <p:spPr>
            <a:xfrm>
              <a:off x="0" y="0"/>
              <a:ext cx="1370946" cy="498017"/>
            </a:xfrm>
            <a:custGeom>
              <a:rect b="b" l="l" r="r" t="t"/>
              <a:pathLst>
                <a:path extrusionOk="0" h="498017" w="1370946">
                  <a:moveTo>
                    <a:pt x="1167746" y="0"/>
                  </a:moveTo>
                  <a:lnTo>
                    <a:pt x="0" y="0"/>
                  </a:lnTo>
                  <a:lnTo>
                    <a:pt x="0" y="498017"/>
                  </a:lnTo>
                  <a:lnTo>
                    <a:pt x="1167746" y="498017"/>
                  </a:lnTo>
                  <a:lnTo>
                    <a:pt x="1370946" y="249008"/>
                  </a:lnTo>
                  <a:lnTo>
                    <a:pt x="1167746" y="0"/>
                  </a:lnTo>
                  <a:close/>
                </a:path>
              </a:pathLst>
            </a:custGeom>
            <a:solidFill>
              <a:srgbClr val="CED5E6"/>
            </a:solidFill>
            <a:ln>
              <a:noFill/>
            </a:ln>
          </p:spPr>
        </p:sp>
        <p:sp>
          <p:nvSpPr>
            <p:cNvPr id="135" name="Google Shape;135;p5"/>
            <p:cNvSpPr txBox="1"/>
            <p:nvPr/>
          </p:nvSpPr>
          <p:spPr>
            <a:xfrm>
              <a:off x="0" y="-19050"/>
              <a:ext cx="1256646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36" name="Google Shape;136;p5"/>
          <p:cNvGrpSpPr/>
          <p:nvPr/>
        </p:nvGrpSpPr>
        <p:grpSpPr>
          <a:xfrm>
            <a:off x="4183520" y="5592964"/>
            <a:ext cx="1722280" cy="617869"/>
            <a:chOff x="0" y="-19050"/>
            <a:chExt cx="1441300" cy="517067"/>
          </a:xfrm>
        </p:grpSpPr>
        <p:sp>
          <p:nvSpPr>
            <p:cNvPr id="137" name="Google Shape;137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9BFF"/>
            </a:solidFill>
            <a:ln>
              <a:noFill/>
            </a:ln>
          </p:spPr>
        </p:sp>
        <p:sp>
          <p:nvSpPr>
            <p:cNvPr id="138" name="Google Shape;138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39" name="Google Shape;139;p5"/>
          <p:cNvGrpSpPr/>
          <p:nvPr/>
        </p:nvGrpSpPr>
        <p:grpSpPr>
          <a:xfrm>
            <a:off x="5761285" y="5592964"/>
            <a:ext cx="1722280" cy="617869"/>
            <a:chOff x="0" y="-19050"/>
            <a:chExt cx="1441300" cy="517067"/>
          </a:xfrm>
        </p:grpSpPr>
        <p:sp>
          <p:nvSpPr>
            <p:cNvPr id="140" name="Google Shape;140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E2E8"/>
            </a:solidFill>
            <a:ln>
              <a:noFill/>
            </a:ln>
          </p:spPr>
        </p:sp>
        <p:sp>
          <p:nvSpPr>
            <p:cNvPr id="141" name="Google Shape;141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42" name="Google Shape;142;p5"/>
          <p:cNvGrpSpPr/>
          <p:nvPr/>
        </p:nvGrpSpPr>
        <p:grpSpPr>
          <a:xfrm>
            <a:off x="7339050" y="5592964"/>
            <a:ext cx="1722280" cy="617869"/>
            <a:chOff x="0" y="-19050"/>
            <a:chExt cx="1441300" cy="517067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E466"/>
            </a:solidFill>
            <a:ln>
              <a:noFill/>
            </a:ln>
          </p:spPr>
        </p:sp>
        <p:sp>
          <p:nvSpPr>
            <p:cNvPr id="144" name="Google Shape;144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145" name="Google Shape;145;p5"/>
          <p:cNvGrpSpPr/>
          <p:nvPr/>
        </p:nvGrpSpPr>
        <p:grpSpPr>
          <a:xfrm>
            <a:off x="8916815" y="5592964"/>
            <a:ext cx="1722280" cy="617869"/>
            <a:chOff x="0" y="-19050"/>
            <a:chExt cx="1441300" cy="517067"/>
          </a:xfrm>
        </p:grpSpPr>
        <p:sp>
          <p:nvSpPr>
            <p:cNvPr id="146" name="Google Shape;146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252"/>
            </a:solidFill>
            <a:ln>
              <a:noFill/>
            </a:ln>
          </p:spPr>
        </p:sp>
        <p:sp>
          <p:nvSpPr>
            <p:cNvPr id="147" name="Google Shape;147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148" name="Google Shape;148;p5"/>
          <p:cNvGrpSpPr/>
          <p:nvPr/>
        </p:nvGrpSpPr>
        <p:grpSpPr>
          <a:xfrm>
            <a:off x="10494580" y="5592964"/>
            <a:ext cx="1722280" cy="617869"/>
            <a:chOff x="0" y="-19050"/>
            <a:chExt cx="1441300" cy="517067"/>
          </a:xfrm>
        </p:grpSpPr>
        <p:sp>
          <p:nvSpPr>
            <p:cNvPr id="149" name="Google Shape;149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308"/>
            </a:solidFill>
            <a:ln>
              <a:noFill/>
            </a:ln>
          </p:spPr>
        </p:sp>
        <p:sp>
          <p:nvSpPr>
            <p:cNvPr id="150" name="Google Shape;150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grpSp>
        <p:nvGrpSpPr>
          <p:cNvPr id="151" name="Google Shape;151;p5"/>
          <p:cNvGrpSpPr/>
          <p:nvPr/>
        </p:nvGrpSpPr>
        <p:grpSpPr>
          <a:xfrm>
            <a:off x="12072345" y="5592964"/>
            <a:ext cx="1722280" cy="617869"/>
            <a:chOff x="0" y="-19050"/>
            <a:chExt cx="1441300" cy="517067"/>
          </a:xfrm>
        </p:grpSpPr>
        <p:sp>
          <p:nvSpPr>
            <p:cNvPr id="152" name="Google Shape;152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678"/>
            </a:solidFill>
            <a:ln>
              <a:noFill/>
            </a:ln>
          </p:spPr>
        </p:sp>
        <p:sp>
          <p:nvSpPr>
            <p:cNvPr id="153" name="Google Shape;153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</p:grpSp>
      <p:grpSp>
        <p:nvGrpSpPr>
          <p:cNvPr id="154" name="Google Shape;154;p5"/>
          <p:cNvGrpSpPr/>
          <p:nvPr/>
        </p:nvGrpSpPr>
        <p:grpSpPr>
          <a:xfrm>
            <a:off x="13650110" y="5592964"/>
            <a:ext cx="1722280" cy="617869"/>
            <a:chOff x="0" y="-19050"/>
            <a:chExt cx="1441300" cy="517067"/>
          </a:xfrm>
        </p:grpSpPr>
        <p:sp>
          <p:nvSpPr>
            <p:cNvPr id="155" name="Google Shape;155;p5"/>
            <p:cNvSpPr/>
            <p:nvPr/>
          </p:nvSpPr>
          <p:spPr>
            <a:xfrm>
              <a:off x="0" y="0"/>
              <a:ext cx="1441300" cy="498017"/>
            </a:xfrm>
            <a:custGeom>
              <a:rect b="b" l="l" r="r" t="t"/>
              <a:pathLst>
                <a:path extrusionOk="0" h="498017" w="1441300">
                  <a:moveTo>
                    <a:pt x="0" y="0"/>
                  </a:moveTo>
                  <a:lnTo>
                    <a:pt x="1238100" y="0"/>
                  </a:lnTo>
                  <a:lnTo>
                    <a:pt x="1441300" y="249008"/>
                  </a:lnTo>
                  <a:lnTo>
                    <a:pt x="1238100" y="498017"/>
                  </a:lnTo>
                  <a:lnTo>
                    <a:pt x="0" y="498017"/>
                  </a:lnTo>
                  <a:lnTo>
                    <a:pt x="203200" y="2490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EC4"/>
            </a:solidFill>
            <a:ln>
              <a:noFill/>
            </a:ln>
          </p:spPr>
        </p:sp>
        <p:sp>
          <p:nvSpPr>
            <p:cNvPr id="156" name="Google Shape;156;p5"/>
            <p:cNvSpPr txBox="1"/>
            <p:nvPr/>
          </p:nvSpPr>
          <p:spPr>
            <a:xfrm>
              <a:off x="177800" y="-19050"/>
              <a:ext cx="1187300" cy="5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cxnSp>
        <p:nvCxnSpPr>
          <p:cNvPr id="157" name="Google Shape;157;p5"/>
          <p:cNvCxnSpPr/>
          <p:nvPr/>
        </p:nvCxnSpPr>
        <p:spPr>
          <a:xfrm rot="10800000">
            <a:off x="3537027" y="4288966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818DAB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58" name="Google Shape;158;p5"/>
          <p:cNvSpPr txBox="1"/>
          <p:nvPr/>
        </p:nvSpPr>
        <p:spPr>
          <a:xfrm>
            <a:off x="2282209" y="3574965"/>
            <a:ext cx="2509636" cy="294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1" u="none" cap="none" strike="noStrike">
                <a:solidFill>
                  <a:srgbClr val="818DAB"/>
                </a:solidFill>
                <a:latin typeface="Arial"/>
                <a:ea typeface="Arial"/>
                <a:cs typeface="Arial"/>
                <a:sym typeface="Arial"/>
              </a:rPr>
              <a:t>Análisis Léxico</a:t>
            </a:r>
            <a:endParaRPr/>
          </a:p>
        </p:txBody>
      </p:sp>
      <p:cxnSp>
        <p:nvCxnSpPr>
          <p:cNvPr id="159" name="Google Shape;159;p5"/>
          <p:cNvCxnSpPr/>
          <p:nvPr/>
        </p:nvCxnSpPr>
        <p:spPr>
          <a:xfrm rot="10800000">
            <a:off x="6667621" y="4288966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00C2CB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60" name="Google Shape;160;p5"/>
          <p:cNvSpPr txBox="1"/>
          <p:nvPr/>
        </p:nvSpPr>
        <p:spPr>
          <a:xfrm>
            <a:off x="5412803" y="3562554"/>
            <a:ext cx="2509636" cy="294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1" u="none" cap="none" strike="noStrike">
                <a:solidFill>
                  <a:srgbClr val="03949B"/>
                </a:solidFill>
                <a:latin typeface="Arial"/>
                <a:ea typeface="Arial"/>
                <a:cs typeface="Arial"/>
                <a:sym typeface="Arial"/>
              </a:rPr>
              <a:t>Análisis Semántico</a:t>
            </a:r>
            <a:endParaRPr/>
          </a:p>
        </p:txBody>
      </p:sp>
      <p:cxnSp>
        <p:nvCxnSpPr>
          <p:cNvPr id="161" name="Google Shape;161;p5"/>
          <p:cNvCxnSpPr/>
          <p:nvPr/>
        </p:nvCxnSpPr>
        <p:spPr>
          <a:xfrm>
            <a:off x="14514551" y="6484804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E87B85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62" name="Google Shape;162;p5"/>
          <p:cNvSpPr txBox="1"/>
          <p:nvPr/>
        </p:nvSpPr>
        <p:spPr>
          <a:xfrm>
            <a:off x="13073565" y="7811274"/>
            <a:ext cx="2875371" cy="294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1" u="none" cap="none" strike="noStrike">
                <a:solidFill>
                  <a:srgbClr val="DB5763"/>
                </a:solidFill>
                <a:latin typeface="Arial"/>
                <a:ea typeface="Arial"/>
                <a:cs typeface="Arial"/>
                <a:sym typeface="Arial"/>
              </a:rPr>
              <a:t>Código Objeto</a:t>
            </a:r>
            <a:endParaRPr/>
          </a:p>
        </p:txBody>
      </p:sp>
      <p:cxnSp>
        <p:nvCxnSpPr>
          <p:cNvPr id="163" name="Google Shape;163;p5"/>
          <p:cNvCxnSpPr/>
          <p:nvPr/>
        </p:nvCxnSpPr>
        <p:spPr>
          <a:xfrm>
            <a:off x="11346195" y="6484804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E1B900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64" name="Google Shape;164;p5"/>
          <p:cNvSpPr txBox="1"/>
          <p:nvPr/>
        </p:nvSpPr>
        <p:spPr>
          <a:xfrm>
            <a:off x="10100902" y="7823249"/>
            <a:ext cx="2509636" cy="599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1" u="none" cap="none" strike="noStrike">
                <a:solidFill>
                  <a:srgbClr val="A48701"/>
                </a:solidFill>
                <a:latin typeface="Arial"/>
                <a:ea typeface="Arial"/>
                <a:cs typeface="Arial"/>
                <a:sym typeface="Arial"/>
              </a:rPr>
              <a:t>Generación de Código Máquina</a:t>
            </a:r>
            <a:endParaRPr/>
          </a:p>
        </p:txBody>
      </p:sp>
      <p:cxnSp>
        <p:nvCxnSpPr>
          <p:cNvPr id="165" name="Google Shape;165;p5"/>
          <p:cNvCxnSpPr/>
          <p:nvPr/>
        </p:nvCxnSpPr>
        <p:spPr>
          <a:xfrm>
            <a:off x="8177840" y="6484804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70B812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66" name="Google Shape;166;p5"/>
          <p:cNvSpPr txBox="1"/>
          <p:nvPr/>
        </p:nvSpPr>
        <p:spPr>
          <a:xfrm>
            <a:off x="6750373" y="7813537"/>
            <a:ext cx="2854933" cy="599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1" u="none" cap="none" strike="noStrike">
                <a:solidFill>
                  <a:srgbClr val="5C9B0A"/>
                </a:solidFill>
                <a:latin typeface="Arial"/>
                <a:ea typeface="Arial"/>
                <a:cs typeface="Arial"/>
                <a:sym typeface="Arial"/>
              </a:rPr>
              <a:t>Generación de Código Intermedio</a:t>
            </a:r>
            <a:endParaRPr/>
          </a:p>
        </p:txBody>
      </p:sp>
      <p:cxnSp>
        <p:nvCxnSpPr>
          <p:cNvPr id="167" name="Google Shape;167;p5"/>
          <p:cNvCxnSpPr/>
          <p:nvPr/>
        </p:nvCxnSpPr>
        <p:spPr>
          <a:xfrm>
            <a:off x="5009484" y="6484804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521DF1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68" name="Google Shape;168;p5"/>
          <p:cNvSpPr txBox="1"/>
          <p:nvPr/>
        </p:nvSpPr>
        <p:spPr>
          <a:xfrm>
            <a:off x="3754666" y="7820986"/>
            <a:ext cx="2509636" cy="294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1" u="none" cap="none" strike="noStrike">
                <a:solidFill>
                  <a:srgbClr val="521DF1"/>
                </a:solidFill>
                <a:latin typeface="Arial"/>
                <a:ea typeface="Arial"/>
                <a:cs typeface="Arial"/>
                <a:sym typeface="Arial"/>
              </a:rPr>
              <a:t>Análisis Sintáctico</a:t>
            </a:r>
            <a:endParaRPr/>
          </a:p>
        </p:txBody>
      </p:sp>
      <p:cxnSp>
        <p:nvCxnSpPr>
          <p:cNvPr id="169" name="Google Shape;169;p5"/>
          <p:cNvCxnSpPr/>
          <p:nvPr/>
        </p:nvCxnSpPr>
        <p:spPr>
          <a:xfrm rot="10800000">
            <a:off x="9798214" y="4288966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C4BD19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170" name="Google Shape;170;p5"/>
          <p:cNvCxnSpPr/>
          <p:nvPr/>
        </p:nvCxnSpPr>
        <p:spPr>
          <a:xfrm rot="10800000">
            <a:off x="12928808" y="4288966"/>
            <a:ext cx="0" cy="927781"/>
          </a:xfrm>
          <a:prstGeom prst="straightConnector1">
            <a:avLst/>
          </a:prstGeom>
          <a:noFill/>
          <a:ln cap="flat" cmpd="sng" w="38100">
            <a:solidFill>
              <a:srgbClr val="F0702F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171" name="Google Shape;171;p5"/>
          <p:cNvSpPr txBox="1"/>
          <p:nvPr/>
        </p:nvSpPr>
        <p:spPr>
          <a:xfrm>
            <a:off x="1382102" y="857919"/>
            <a:ext cx="15523796" cy="832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Fases del Compilador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11678667" y="3579566"/>
            <a:ext cx="2509636" cy="599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1" u="none" cap="none" strike="noStrike">
                <a:solidFill>
                  <a:srgbClr val="D15414"/>
                </a:solidFill>
                <a:latin typeface="Arial"/>
                <a:ea typeface="Arial"/>
                <a:cs typeface="Arial"/>
                <a:sym typeface="Arial"/>
              </a:rPr>
              <a:t>Optimización de Código Máquina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8279162" y="3564818"/>
            <a:ext cx="3038105" cy="599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11" u="none" cap="none" strike="noStrike">
                <a:solidFill>
                  <a:srgbClr val="948E0A"/>
                </a:solidFill>
                <a:latin typeface="Arial"/>
                <a:ea typeface="Arial"/>
                <a:cs typeface="Arial"/>
                <a:sym typeface="Arial"/>
              </a:rPr>
              <a:t>Optimización de Código Intermedio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/>
        </p:nvSpPr>
        <p:spPr>
          <a:xfrm>
            <a:off x="1904225" y="1577025"/>
            <a:ext cx="70686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FASES DEL COMPILADOR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1911427" y="5489979"/>
            <a:ext cx="7232573" cy="215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Examina el código fuente y lo divide en tokens reconocibles, como palabras clave, identificadores y literales.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1904222" y="4060068"/>
            <a:ext cx="723977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LÉXICO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0049125" y="593844"/>
            <a:ext cx="7633749" cy="9099312"/>
          </a:xfrm>
          <a:custGeom>
            <a:rect b="b" l="l" r="r" t="t"/>
            <a:pathLst>
              <a:path extrusionOk="0" h="9099312" w="7633749">
                <a:moveTo>
                  <a:pt x="0" y="0"/>
                </a:moveTo>
                <a:lnTo>
                  <a:pt x="7633749" y="0"/>
                </a:lnTo>
                <a:lnTo>
                  <a:pt x="7633749" y="9099312"/>
                </a:lnTo>
                <a:lnTo>
                  <a:pt x="0" y="9099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/>
        </p:nvSpPr>
        <p:spPr>
          <a:xfrm>
            <a:off x="1904222" y="1577033"/>
            <a:ext cx="7239778" cy="164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FASES DEL COMPILADOR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1911427" y="5480454"/>
            <a:ext cx="7232573" cy="1616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Verifica que la secuencia de tokens cumpla con las reglas gramaticales del lenguaje de programación.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1904222" y="4060068"/>
            <a:ext cx="723977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SINTÁCTICO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10049125" y="593844"/>
            <a:ext cx="7633749" cy="9099312"/>
          </a:xfrm>
          <a:custGeom>
            <a:rect b="b" l="l" r="r" t="t"/>
            <a:pathLst>
              <a:path extrusionOk="0" h="9099312" w="7633749">
                <a:moveTo>
                  <a:pt x="0" y="0"/>
                </a:moveTo>
                <a:lnTo>
                  <a:pt x="7633749" y="0"/>
                </a:lnTo>
                <a:lnTo>
                  <a:pt x="7633749" y="9099312"/>
                </a:lnTo>
                <a:lnTo>
                  <a:pt x="0" y="9099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1911427" y="5489979"/>
            <a:ext cx="7232573" cy="215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Comprueba el significado del programa y garantiza que las instrucciones sean válidas y consistentes.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1904222" y="4060068"/>
            <a:ext cx="723977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SEMÁNTICO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0049125" y="593844"/>
            <a:ext cx="7633749" cy="9099312"/>
          </a:xfrm>
          <a:custGeom>
            <a:rect b="b" l="l" r="r" t="t"/>
            <a:pathLst>
              <a:path extrusionOk="0" h="9099312" w="7633749">
                <a:moveTo>
                  <a:pt x="0" y="0"/>
                </a:moveTo>
                <a:lnTo>
                  <a:pt x="7633749" y="0"/>
                </a:lnTo>
                <a:lnTo>
                  <a:pt x="7633749" y="9099312"/>
                </a:lnTo>
                <a:lnTo>
                  <a:pt x="0" y="9099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8"/>
          <p:cNvSpPr txBox="1"/>
          <p:nvPr/>
        </p:nvSpPr>
        <p:spPr>
          <a:xfrm>
            <a:off x="1904222" y="1577033"/>
            <a:ext cx="7239778" cy="164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FASES DEL COMPILADOR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9"/>
          <p:cNvGrpSpPr/>
          <p:nvPr/>
        </p:nvGrpSpPr>
        <p:grpSpPr>
          <a:xfrm>
            <a:off x="1541022" y="3666377"/>
            <a:ext cx="3475845" cy="1477123"/>
            <a:chOff x="0" y="-38100"/>
            <a:chExt cx="914818" cy="388768"/>
          </a:xfrm>
        </p:grpSpPr>
        <p:sp>
          <p:nvSpPr>
            <p:cNvPr id="203" name="Google Shape;203;p9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Reconocimiento de Tokens</a:t>
              </a:r>
              <a:endParaRPr/>
            </a:p>
          </p:txBody>
        </p:sp>
      </p:grpSp>
      <p:grpSp>
        <p:nvGrpSpPr>
          <p:cNvPr id="205" name="Google Shape;205;p9"/>
          <p:cNvGrpSpPr/>
          <p:nvPr/>
        </p:nvGrpSpPr>
        <p:grpSpPr>
          <a:xfrm>
            <a:off x="5443973" y="3666377"/>
            <a:ext cx="3475845" cy="1477123"/>
            <a:chOff x="0" y="-38100"/>
            <a:chExt cx="914818" cy="388768"/>
          </a:xfrm>
        </p:grpSpPr>
        <p:sp>
          <p:nvSpPr>
            <p:cNvPr id="206" name="Google Shape;206;p9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Eliminación de Espacios en Blanco</a:t>
              </a:r>
              <a:endParaRPr/>
            </a:p>
          </p:txBody>
        </p:sp>
      </p:grpSp>
      <p:grpSp>
        <p:nvGrpSpPr>
          <p:cNvPr id="208" name="Google Shape;208;p9"/>
          <p:cNvGrpSpPr/>
          <p:nvPr/>
        </p:nvGrpSpPr>
        <p:grpSpPr>
          <a:xfrm>
            <a:off x="9314236" y="3666377"/>
            <a:ext cx="3475845" cy="1477123"/>
            <a:chOff x="0" y="-38100"/>
            <a:chExt cx="914818" cy="388768"/>
          </a:xfrm>
        </p:grpSpPr>
        <p:sp>
          <p:nvSpPr>
            <p:cNvPr id="209" name="Google Shape;209;p9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Manejo de Comentarios</a:t>
              </a:r>
              <a:endParaRPr/>
            </a:p>
          </p:txBody>
        </p:sp>
      </p:grpSp>
      <p:grpSp>
        <p:nvGrpSpPr>
          <p:cNvPr id="211" name="Google Shape;211;p9"/>
          <p:cNvGrpSpPr/>
          <p:nvPr/>
        </p:nvGrpSpPr>
        <p:grpSpPr>
          <a:xfrm>
            <a:off x="13181346" y="3666377"/>
            <a:ext cx="3475845" cy="1477123"/>
            <a:chOff x="0" y="-38100"/>
            <a:chExt cx="914818" cy="388768"/>
          </a:xfrm>
        </p:grpSpPr>
        <p:sp>
          <p:nvSpPr>
            <p:cNvPr id="212" name="Google Shape;212;p9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Detección de Errores</a:t>
              </a:r>
              <a:endParaRPr/>
            </a:p>
          </p:txBody>
        </p:sp>
      </p:grpSp>
      <p:grpSp>
        <p:nvGrpSpPr>
          <p:cNvPr id="214" name="Google Shape;214;p9"/>
          <p:cNvGrpSpPr/>
          <p:nvPr/>
        </p:nvGrpSpPr>
        <p:grpSpPr>
          <a:xfrm>
            <a:off x="2635924" y="2943848"/>
            <a:ext cx="1286042" cy="1105192"/>
            <a:chOff x="0" y="0"/>
            <a:chExt cx="812800" cy="698500"/>
          </a:xfrm>
        </p:grpSpPr>
        <p:sp>
          <p:nvSpPr>
            <p:cNvPr id="215" name="Google Shape;215;p9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</p:sp>
        <p:sp>
          <p:nvSpPr>
            <p:cNvPr id="216" name="Google Shape;216;p9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17" name="Google Shape;217;p9"/>
          <p:cNvGrpSpPr/>
          <p:nvPr/>
        </p:nvGrpSpPr>
        <p:grpSpPr>
          <a:xfrm>
            <a:off x="10409138" y="2943848"/>
            <a:ext cx="1286042" cy="1105192"/>
            <a:chOff x="0" y="0"/>
            <a:chExt cx="812800" cy="698500"/>
          </a:xfrm>
        </p:grpSpPr>
        <p:sp>
          <p:nvSpPr>
            <p:cNvPr id="218" name="Google Shape;218;p9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</p:sp>
        <p:sp>
          <p:nvSpPr>
            <p:cNvPr id="219" name="Google Shape;219;p9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20" name="Google Shape;220;p9"/>
          <p:cNvGrpSpPr/>
          <p:nvPr/>
        </p:nvGrpSpPr>
        <p:grpSpPr>
          <a:xfrm>
            <a:off x="6538875" y="2943848"/>
            <a:ext cx="1286042" cy="1105192"/>
            <a:chOff x="0" y="0"/>
            <a:chExt cx="812800" cy="698500"/>
          </a:xfrm>
        </p:grpSpPr>
        <p:sp>
          <p:nvSpPr>
            <p:cNvPr id="221" name="Google Shape;221;p9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</p:sp>
        <p:sp>
          <p:nvSpPr>
            <p:cNvPr id="222" name="Google Shape;222;p9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23" name="Google Shape;223;p9"/>
          <p:cNvGrpSpPr/>
          <p:nvPr/>
        </p:nvGrpSpPr>
        <p:grpSpPr>
          <a:xfrm>
            <a:off x="14276248" y="2943848"/>
            <a:ext cx="1286042" cy="1105192"/>
            <a:chOff x="0" y="0"/>
            <a:chExt cx="812800" cy="698500"/>
          </a:xfrm>
        </p:grpSpPr>
        <p:sp>
          <p:nvSpPr>
            <p:cNvPr id="224" name="Google Shape;224;p9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</p:sp>
        <p:sp>
          <p:nvSpPr>
            <p:cNvPr id="225" name="Google Shape;225;p9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226" name="Google Shape;226;p9"/>
          <p:cNvGrpSpPr/>
          <p:nvPr/>
        </p:nvGrpSpPr>
        <p:grpSpPr>
          <a:xfrm>
            <a:off x="3278945" y="1471766"/>
            <a:ext cx="11634134" cy="1472082"/>
            <a:chOff x="15095" y="0"/>
            <a:chExt cx="15512178" cy="1962776"/>
          </a:xfrm>
        </p:grpSpPr>
        <p:cxnSp>
          <p:nvCxnSpPr>
            <p:cNvPr id="227" name="Google Shape;227;p9"/>
            <p:cNvCxnSpPr/>
            <p:nvPr/>
          </p:nvCxnSpPr>
          <p:spPr>
            <a:xfrm flipH="1" rot="10800000">
              <a:off x="19050" y="999105"/>
              <a:ext cx="5173" cy="96367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 flipH="1" rot="10800000">
              <a:off x="5222984" y="999105"/>
              <a:ext cx="5173" cy="96367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9"/>
            <p:cNvCxnSpPr/>
            <p:nvPr/>
          </p:nvCxnSpPr>
          <p:spPr>
            <a:xfrm rot="10800000">
              <a:off x="7826041" y="0"/>
              <a:ext cx="0" cy="998383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9"/>
            <p:cNvCxnSpPr/>
            <p:nvPr/>
          </p:nvCxnSpPr>
          <p:spPr>
            <a:xfrm>
              <a:off x="15095" y="998744"/>
              <a:ext cx="15501382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9"/>
            <p:cNvCxnSpPr/>
            <p:nvPr/>
          </p:nvCxnSpPr>
          <p:spPr>
            <a:xfrm rot="10800000">
              <a:off x="10372932" y="999105"/>
              <a:ext cx="3654" cy="96367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9"/>
            <p:cNvCxnSpPr/>
            <p:nvPr/>
          </p:nvCxnSpPr>
          <p:spPr>
            <a:xfrm rot="10800000">
              <a:off x="15516477" y="999105"/>
              <a:ext cx="10796" cy="963671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3" name="Google Shape;233;p9"/>
          <p:cNvGrpSpPr/>
          <p:nvPr/>
        </p:nvGrpSpPr>
        <p:grpSpPr>
          <a:xfrm>
            <a:off x="1530369" y="5195235"/>
            <a:ext cx="3474509" cy="4579625"/>
            <a:chOff x="0" y="-38100"/>
            <a:chExt cx="914818" cy="1205789"/>
          </a:xfrm>
        </p:grpSpPr>
        <p:sp>
          <p:nvSpPr>
            <p:cNvPr id="234" name="Google Shape;234;p9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9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El analizador léxico identifica y clasifica los elementos básicos del código fuente, como palabras clave, identificadores y operadores.</a:t>
              </a:r>
              <a:endParaRPr/>
            </a:p>
          </p:txBody>
        </p:sp>
      </p:grpSp>
      <p:grpSp>
        <p:nvGrpSpPr>
          <p:cNvPr id="236" name="Google Shape;236;p9"/>
          <p:cNvGrpSpPr/>
          <p:nvPr/>
        </p:nvGrpSpPr>
        <p:grpSpPr>
          <a:xfrm>
            <a:off x="5443973" y="5195235"/>
            <a:ext cx="3474509" cy="4579625"/>
            <a:chOff x="0" y="-38100"/>
            <a:chExt cx="914818" cy="1205789"/>
          </a:xfrm>
        </p:grpSpPr>
        <p:sp>
          <p:nvSpPr>
            <p:cNvPr id="237" name="Google Shape;237;p9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9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Los espacios en blanco, como tabuladores y saltos de línea, se eliminan durante esta etapa.</a:t>
              </a:r>
              <a:endParaRPr/>
            </a:p>
          </p:txBody>
        </p:sp>
      </p:grpSp>
      <p:grpSp>
        <p:nvGrpSpPr>
          <p:cNvPr id="239" name="Google Shape;239;p9"/>
          <p:cNvGrpSpPr/>
          <p:nvPr/>
        </p:nvGrpSpPr>
        <p:grpSpPr>
          <a:xfrm>
            <a:off x="9356632" y="5195235"/>
            <a:ext cx="3474509" cy="4579625"/>
            <a:chOff x="0" y="-38100"/>
            <a:chExt cx="914818" cy="1205789"/>
          </a:xfrm>
        </p:grpSpPr>
        <p:sp>
          <p:nvSpPr>
            <p:cNvPr id="240" name="Google Shape;240;p9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9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Los comentarios del código fuente se ignoran y no se incluyen en el análisis posterior.</a:t>
              </a:r>
              <a:endParaRPr/>
            </a:p>
          </p:txBody>
        </p:sp>
      </p:grpSp>
      <p:grpSp>
        <p:nvGrpSpPr>
          <p:cNvPr id="242" name="Google Shape;242;p9"/>
          <p:cNvGrpSpPr/>
          <p:nvPr/>
        </p:nvGrpSpPr>
        <p:grpSpPr>
          <a:xfrm>
            <a:off x="2563742" y="450023"/>
            <a:ext cx="13160517" cy="1278212"/>
            <a:chOff x="0" y="-85725"/>
            <a:chExt cx="3463756" cy="336416"/>
          </a:xfrm>
        </p:grpSpPr>
        <p:sp>
          <p:nvSpPr>
            <p:cNvPr id="243" name="Google Shape;243;p9"/>
            <p:cNvSpPr/>
            <p:nvPr/>
          </p:nvSpPr>
          <p:spPr>
            <a:xfrm>
              <a:off x="0" y="0"/>
              <a:ext cx="3463756" cy="250691"/>
            </a:xfrm>
            <a:custGeom>
              <a:rect b="b" l="l" r="r" t="t"/>
              <a:pathLst>
                <a:path extrusionOk="0" h="250691" w="3463756">
                  <a:moveTo>
                    <a:pt x="30002" y="0"/>
                  </a:moveTo>
                  <a:lnTo>
                    <a:pt x="3433754" y="0"/>
                  </a:lnTo>
                  <a:cubicBezTo>
                    <a:pt x="3441711" y="0"/>
                    <a:pt x="3449342" y="3161"/>
                    <a:pt x="3454969" y="8787"/>
                  </a:cubicBezTo>
                  <a:cubicBezTo>
                    <a:pt x="3460595" y="14414"/>
                    <a:pt x="3463756" y="22045"/>
                    <a:pt x="3463756" y="30002"/>
                  </a:cubicBezTo>
                  <a:lnTo>
                    <a:pt x="3463756" y="220690"/>
                  </a:lnTo>
                  <a:cubicBezTo>
                    <a:pt x="3463756" y="237259"/>
                    <a:pt x="3450324" y="250691"/>
                    <a:pt x="3433754" y="250691"/>
                  </a:cubicBezTo>
                  <a:lnTo>
                    <a:pt x="30002" y="250691"/>
                  </a:lnTo>
                  <a:cubicBezTo>
                    <a:pt x="22045" y="250691"/>
                    <a:pt x="14414" y="247530"/>
                    <a:pt x="8787" y="241904"/>
                  </a:cubicBezTo>
                  <a:cubicBezTo>
                    <a:pt x="3161" y="236278"/>
                    <a:pt x="0" y="228646"/>
                    <a:pt x="0" y="220690"/>
                  </a:cubicBezTo>
                  <a:lnTo>
                    <a:pt x="0" y="30002"/>
                  </a:lnTo>
                  <a:cubicBezTo>
                    <a:pt x="0" y="13432"/>
                    <a:pt x="13432" y="0"/>
                    <a:pt x="30002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9"/>
            <p:cNvSpPr txBox="1"/>
            <p:nvPr/>
          </p:nvSpPr>
          <p:spPr>
            <a:xfrm>
              <a:off x="0" y="-85725"/>
              <a:ext cx="3463756" cy="3364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ANÁLISIS LÉXICO</a:t>
              </a:r>
              <a:endParaRPr/>
            </a:p>
          </p:txBody>
        </p:sp>
      </p:grpSp>
      <p:grpSp>
        <p:nvGrpSpPr>
          <p:cNvPr id="245" name="Google Shape;245;p9"/>
          <p:cNvGrpSpPr/>
          <p:nvPr/>
        </p:nvGrpSpPr>
        <p:grpSpPr>
          <a:xfrm>
            <a:off x="13181346" y="5195235"/>
            <a:ext cx="3474509" cy="4579625"/>
            <a:chOff x="0" y="-38100"/>
            <a:chExt cx="914818" cy="1205789"/>
          </a:xfrm>
        </p:grpSpPr>
        <p:sp>
          <p:nvSpPr>
            <p:cNvPr id="246" name="Google Shape;246;p9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9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Los caracteres que no pertenecen al lenguaje definido se excluyen del posterior análisis y se guardan para ser reportados.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10"/>
          <p:cNvGrpSpPr/>
          <p:nvPr/>
        </p:nvGrpSpPr>
        <p:grpSpPr>
          <a:xfrm>
            <a:off x="1541022" y="3666377"/>
            <a:ext cx="3475845" cy="1477123"/>
            <a:chOff x="0" y="-38100"/>
            <a:chExt cx="914818" cy="388768"/>
          </a:xfrm>
        </p:grpSpPr>
        <p:sp>
          <p:nvSpPr>
            <p:cNvPr id="253" name="Google Shape;253;p10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0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Árbol Sintáctico</a:t>
              </a:r>
              <a:endParaRPr/>
            </a:p>
          </p:txBody>
        </p:sp>
      </p:grpSp>
      <p:grpSp>
        <p:nvGrpSpPr>
          <p:cNvPr id="255" name="Google Shape;255;p10"/>
          <p:cNvGrpSpPr/>
          <p:nvPr/>
        </p:nvGrpSpPr>
        <p:grpSpPr>
          <a:xfrm>
            <a:off x="5443973" y="3666377"/>
            <a:ext cx="3475845" cy="1477123"/>
            <a:chOff x="0" y="-38100"/>
            <a:chExt cx="914818" cy="388768"/>
          </a:xfrm>
        </p:grpSpPr>
        <p:sp>
          <p:nvSpPr>
            <p:cNvPr id="256" name="Google Shape;256;p10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0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Eliminación de Ambigüedad</a:t>
              </a:r>
              <a:endParaRPr/>
            </a:p>
          </p:txBody>
        </p:sp>
      </p:grpSp>
      <p:grpSp>
        <p:nvGrpSpPr>
          <p:cNvPr id="258" name="Google Shape;258;p10"/>
          <p:cNvGrpSpPr/>
          <p:nvPr/>
        </p:nvGrpSpPr>
        <p:grpSpPr>
          <a:xfrm>
            <a:off x="9314236" y="3666377"/>
            <a:ext cx="3475845" cy="1477123"/>
            <a:chOff x="0" y="-38100"/>
            <a:chExt cx="914818" cy="388768"/>
          </a:xfrm>
        </p:grpSpPr>
        <p:sp>
          <p:nvSpPr>
            <p:cNvPr id="259" name="Google Shape;259;p10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0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Construcción de Tabla de Símbolos</a:t>
              </a:r>
              <a:endParaRPr/>
            </a:p>
          </p:txBody>
        </p:sp>
      </p:grpSp>
      <p:grpSp>
        <p:nvGrpSpPr>
          <p:cNvPr id="261" name="Google Shape;261;p10"/>
          <p:cNvGrpSpPr/>
          <p:nvPr/>
        </p:nvGrpSpPr>
        <p:grpSpPr>
          <a:xfrm>
            <a:off x="13181346" y="3666377"/>
            <a:ext cx="3475845" cy="1477123"/>
            <a:chOff x="0" y="-38100"/>
            <a:chExt cx="914818" cy="388768"/>
          </a:xfrm>
        </p:grpSpPr>
        <p:sp>
          <p:nvSpPr>
            <p:cNvPr id="262" name="Google Shape;262;p10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0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Detección de Errores</a:t>
              </a:r>
              <a:endParaRPr/>
            </a:p>
          </p:txBody>
        </p:sp>
      </p:grpSp>
      <p:grpSp>
        <p:nvGrpSpPr>
          <p:cNvPr id="264" name="Google Shape;264;p10"/>
          <p:cNvGrpSpPr/>
          <p:nvPr/>
        </p:nvGrpSpPr>
        <p:grpSpPr>
          <a:xfrm>
            <a:off x="2635924" y="2943848"/>
            <a:ext cx="1286042" cy="1105192"/>
            <a:chOff x="0" y="0"/>
            <a:chExt cx="812800" cy="698500"/>
          </a:xfrm>
        </p:grpSpPr>
        <p:sp>
          <p:nvSpPr>
            <p:cNvPr id="265" name="Google Shape;265;p10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</p:sp>
        <p:sp>
          <p:nvSpPr>
            <p:cNvPr id="266" name="Google Shape;266;p10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67" name="Google Shape;267;p10"/>
          <p:cNvGrpSpPr/>
          <p:nvPr/>
        </p:nvGrpSpPr>
        <p:grpSpPr>
          <a:xfrm>
            <a:off x="10409138" y="2943848"/>
            <a:ext cx="1286042" cy="1105192"/>
            <a:chOff x="0" y="0"/>
            <a:chExt cx="812800" cy="698500"/>
          </a:xfrm>
        </p:grpSpPr>
        <p:sp>
          <p:nvSpPr>
            <p:cNvPr id="268" name="Google Shape;268;p10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</p:sp>
        <p:sp>
          <p:nvSpPr>
            <p:cNvPr id="269" name="Google Shape;269;p10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6538875" y="2943848"/>
            <a:ext cx="1286042" cy="1105192"/>
            <a:chOff x="0" y="0"/>
            <a:chExt cx="812800" cy="698500"/>
          </a:xfrm>
        </p:grpSpPr>
        <p:sp>
          <p:nvSpPr>
            <p:cNvPr id="271" name="Google Shape;271;p10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</p:sp>
        <p:sp>
          <p:nvSpPr>
            <p:cNvPr id="272" name="Google Shape;272;p10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73" name="Google Shape;273;p10"/>
          <p:cNvGrpSpPr/>
          <p:nvPr/>
        </p:nvGrpSpPr>
        <p:grpSpPr>
          <a:xfrm>
            <a:off x="14276248" y="2943848"/>
            <a:ext cx="1286042" cy="1105192"/>
            <a:chOff x="0" y="0"/>
            <a:chExt cx="812800" cy="698500"/>
          </a:xfrm>
        </p:grpSpPr>
        <p:sp>
          <p:nvSpPr>
            <p:cNvPr id="274" name="Google Shape;274;p10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</p:sp>
        <p:sp>
          <p:nvSpPr>
            <p:cNvPr id="275" name="Google Shape;275;p10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cxnSp>
        <p:nvCxnSpPr>
          <p:cNvPr id="276" name="Google Shape;276;p10"/>
          <p:cNvCxnSpPr/>
          <p:nvPr/>
        </p:nvCxnSpPr>
        <p:spPr>
          <a:xfrm flipH="1" rot="10800000">
            <a:off x="3281911" y="2221094"/>
            <a:ext cx="3880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10"/>
          <p:cNvCxnSpPr/>
          <p:nvPr/>
        </p:nvCxnSpPr>
        <p:spPr>
          <a:xfrm flipH="1" rot="10800000">
            <a:off x="7184862" y="2221094"/>
            <a:ext cx="3880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10"/>
          <p:cNvCxnSpPr/>
          <p:nvPr/>
        </p:nvCxnSpPr>
        <p:spPr>
          <a:xfrm rot="10800000">
            <a:off x="9137154" y="1471766"/>
            <a:ext cx="0" cy="748787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10"/>
          <p:cNvCxnSpPr/>
          <p:nvPr/>
        </p:nvCxnSpPr>
        <p:spPr>
          <a:xfrm>
            <a:off x="3278945" y="2220823"/>
            <a:ext cx="11626036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p10"/>
          <p:cNvCxnSpPr/>
          <p:nvPr/>
        </p:nvCxnSpPr>
        <p:spPr>
          <a:xfrm rot="10800000">
            <a:off x="11047323" y="2221094"/>
            <a:ext cx="2741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0"/>
          <p:cNvCxnSpPr/>
          <p:nvPr/>
        </p:nvCxnSpPr>
        <p:spPr>
          <a:xfrm rot="10800000">
            <a:off x="14904981" y="2221094"/>
            <a:ext cx="8097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2" name="Google Shape;282;p10"/>
          <p:cNvGrpSpPr/>
          <p:nvPr/>
        </p:nvGrpSpPr>
        <p:grpSpPr>
          <a:xfrm>
            <a:off x="1530369" y="5195235"/>
            <a:ext cx="3474509" cy="4579625"/>
            <a:chOff x="0" y="-38100"/>
            <a:chExt cx="914818" cy="1205789"/>
          </a:xfrm>
        </p:grpSpPr>
        <p:sp>
          <p:nvSpPr>
            <p:cNvPr id="283" name="Google Shape;283;p10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0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El analizador sintáctico construye un árbol que representa la estructura gramatical del código fuente.</a:t>
              </a:r>
              <a:endParaRPr/>
            </a:p>
          </p:txBody>
        </p:sp>
      </p:grpSp>
      <p:grpSp>
        <p:nvGrpSpPr>
          <p:cNvPr id="285" name="Google Shape;285;p10"/>
          <p:cNvGrpSpPr/>
          <p:nvPr/>
        </p:nvGrpSpPr>
        <p:grpSpPr>
          <a:xfrm>
            <a:off x="5443973" y="5195235"/>
            <a:ext cx="3474509" cy="4579625"/>
            <a:chOff x="0" y="-38100"/>
            <a:chExt cx="914818" cy="1205789"/>
          </a:xfrm>
        </p:grpSpPr>
        <p:sp>
          <p:nvSpPr>
            <p:cNvPr id="286" name="Google Shape;286;p10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0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El análisis sintáctico debe resolver ambigüedades en la gramática.</a:t>
              </a:r>
              <a:endParaRPr/>
            </a:p>
          </p:txBody>
        </p:sp>
      </p:grpSp>
      <p:grpSp>
        <p:nvGrpSpPr>
          <p:cNvPr id="288" name="Google Shape;288;p10"/>
          <p:cNvGrpSpPr/>
          <p:nvPr/>
        </p:nvGrpSpPr>
        <p:grpSpPr>
          <a:xfrm>
            <a:off x="9356632" y="5195235"/>
            <a:ext cx="3474509" cy="4579625"/>
            <a:chOff x="0" y="-38100"/>
            <a:chExt cx="914818" cy="1205789"/>
          </a:xfrm>
        </p:grpSpPr>
        <p:sp>
          <p:nvSpPr>
            <p:cNvPr id="289" name="Google Shape;289;p10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0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La información de los identificadores se almacena en la tabla de símbolos para su uso posterior.</a:t>
              </a:r>
              <a:endParaRPr/>
            </a:p>
          </p:txBody>
        </p:sp>
      </p:grpSp>
      <p:grpSp>
        <p:nvGrpSpPr>
          <p:cNvPr id="291" name="Google Shape;291;p10"/>
          <p:cNvGrpSpPr/>
          <p:nvPr/>
        </p:nvGrpSpPr>
        <p:grpSpPr>
          <a:xfrm>
            <a:off x="2563742" y="450023"/>
            <a:ext cx="13160517" cy="1278212"/>
            <a:chOff x="0" y="-85725"/>
            <a:chExt cx="3463756" cy="336416"/>
          </a:xfrm>
        </p:grpSpPr>
        <p:sp>
          <p:nvSpPr>
            <p:cNvPr id="292" name="Google Shape;292;p10"/>
            <p:cNvSpPr/>
            <p:nvPr/>
          </p:nvSpPr>
          <p:spPr>
            <a:xfrm>
              <a:off x="0" y="0"/>
              <a:ext cx="3463756" cy="250691"/>
            </a:xfrm>
            <a:custGeom>
              <a:rect b="b" l="l" r="r" t="t"/>
              <a:pathLst>
                <a:path extrusionOk="0" h="250691" w="3463756">
                  <a:moveTo>
                    <a:pt x="30002" y="0"/>
                  </a:moveTo>
                  <a:lnTo>
                    <a:pt x="3433754" y="0"/>
                  </a:lnTo>
                  <a:cubicBezTo>
                    <a:pt x="3441711" y="0"/>
                    <a:pt x="3449342" y="3161"/>
                    <a:pt x="3454969" y="8787"/>
                  </a:cubicBezTo>
                  <a:cubicBezTo>
                    <a:pt x="3460595" y="14414"/>
                    <a:pt x="3463756" y="22045"/>
                    <a:pt x="3463756" y="30002"/>
                  </a:cubicBezTo>
                  <a:lnTo>
                    <a:pt x="3463756" y="220690"/>
                  </a:lnTo>
                  <a:cubicBezTo>
                    <a:pt x="3463756" y="237259"/>
                    <a:pt x="3450324" y="250691"/>
                    <a:pt x="3433754" y="250691"/>
                  </a:cubicBezTo>
                  <a:lnTo>
                    <a:pt x="30002" y="250691"/>
                  </a:lnTo>
                  <a:cubicBezTo>
                    <a:pt x="22045" y="250691"/>
                    <a:pt x="14414" y="247530"/>
                    <a:pt x="8787" y="241904"/>
                  </a:cubicBezTo>
                  <a:cubicBezTo>
                    <a:pt x="3161" y="236278"/>
                    <a:pt x="0" y="228646"/>
                    <a:pt x="0" y="220690"/>
                  </a:cubicBezTo>
                  <a:lnTo>
                    <a:pt x="0" y="30002"/>
                  </a:lnTo>
                  <a:cubicBezTo>
                    <a:pt x="0" y="13432"/>
                    <a:pt x="13432" y="0"/>
                    <a:pt x="30002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0"/>
            <p:cNvSpPr txBox="1"/>
            <p:nvPr/>
          </p:nvSpPr>
          <p:spPr>
            <a:xfrm>
              <a:off x="0" y="-85725"/>
              <a:ext cx="3463756" cy="3364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ANÁLISIS SINTÁCTICO</a:t>
              </a:r>
              <a:endParaRPr/>
            </a:p>
          </p:txBody>
        </p:sp>
      </p:grpSp>
      <p:grpSp>
        <p:nvGrpSpPr>
          <p:cNvPr id="294" name="Google Shape;294;p10"/>
          <p:cNvGrpSpPr/>
          <p:nvPr/>
        </p:nvGrpSpPr>
        <p:grpSpPr>
          <a:xfrm>
            <a:off x="13181346" y="5195235"/>
            <a:ext cx="3474509" cy="4579625"/>
            <a:chOff x="0" y="-38100"/>
            <a:chExt cx="914818" cy="1205789"/>
          </a:xfrm>
        </p:grpSpPr>
        <p:sp>
          <p:nvSpPr>
            <p:cNvPr id="295" name="Google Shape;295;p10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0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Esta etapa identifica y reporta cualquier error de sintaxis en el código fuente.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11"/>
          <p:cNvGrpSpPr/>
          <p:nvPr/>
        </p:nvGrpSpPr>
        <p:grpSpPr>
          <a:xfrm>
            <a:off x="1541022" y="3666377"/>
            <a:ext cx="3475845" cy="1477123"/>
            <a:chOff x="0" y="-38100"/>
            <a:chExt cx="914818" cy="388768"/>
          </a:xfrm>
        </p:grpSpPr>
        <p:sp>
          <p:nvSpPr>
            <p:cNvPr id="302" name="Google Shape;302;p11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Verificación de Tipos</a:t>
              </a:r>
              <a:endParaRPr/>
            </a:p>
          </p:txBody>
        </p:sp>
      </p:grpSp>
      <p:grpSp>
        <p:nvGrpSpPr>
          <p:cNvPr id="304" name="Google Shape;304;p11"/>
          <p:cNvGrpSpPr/>
          <p:nvPr/>
        </p:nvGrpSpPr>
        <p:grpSpPr>
          <a:xfrm>
            <a:off x="5443973" y="3666377"/>
            <a:ext cx="3475845" cy="1477123"/>
            <a:chOff x="0" y="-38100"/>
            <a:chExt cx="914818" cy="388768"/>
          </a:xfrm>
        </p:grpSpPr>
        <p:sp>
          <p:nvSpPr>
            <p:cNvPr id="305" name="Google Shape;305;p11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1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Resolución de Referencias</a:t>
              </a:r>
              <a:endParaRPr/>
            </a:p>
          </p:txBody>
        </p:sp>
      </p:grpSp>
      <p:grpSp>
        <p:nvGrpSpPr>
          <p:cNvPr id="307" name="Google Shape;307;p11"/>
          <p:cNvGrpSpPr/>
          <p:nvPr/>
        </p:nvGrpSpPr>
        <p:grpSpPr>
          <a:xfrm>
            <a:off x="9314236" y="3666377"/>
            <a:ext cx="3475845" cy="1477123"/>
            <a:chOff x="0" y="-38100"/>
            <a:chExt cx="914818" cy="388768"/>
          </a:xfrm>
        </p:grpSpPr>
        <p:sp>
          <p:nvSpPr>
            <p:cNvPr id="308" name="Google Shape;308;p11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Validación de Restricciones</a:t>
              </a:r>
              <a:endParaRPr/>
            </a:p>
          </p:txBody>
        </p:sp>
      </p:grpSp>
      <p:grpSp>
        <p:nvGrpSpPr>
          <p:cNvPr id="310" name="Google Shape;310;p11"/>
          <p:cNvGrpSpPr/>
          <p:nvPr/>
        </p:nvGrpSpPr>
        <p:grpSpPr>
          <a:xfrm>
            <a:off x="13181346" y="3666377"/>
            <a:ext cx="3475845" cy="1477123"/>
            <a:chOff x="0" y="-38100"/>
            <a:chExt cx="914818" cy="388768"/>
          </a:xfrm>
        </p:grpSpPr>
        <p:sp>
          <p:nvSpPr>
            <p:cNvPr id="311" name="Google Shape;311;p11"/>
            <p:cNvSpPr/>
            <p:nvPr/>
          </p:nvSpPr>
          <p:spPr>
            <a:xfrm>
              <a:off x="0" y="0"/>
              <a:ext cx="914818" cy="350668"/>
            </a:xfrm>
            <a:custGeom>
              <a:rect b="b" l="l" r="r" t="t"/>
              <a:pathLst>
                <a:path extrusionOk="0" h="350668" w="914818">
                  <a:moveTo>
                    <a:pt x="113595" y="0"/>
                  </a:moveTo>
                  <a:lnTo>
                    <a:pt x="801223" y="0"/>
                  </a:lnTo>
                  <a:cubicBezTo>
                    <a:pt x="863960" y="0"/>
                    <a:pt x="914818" y="50858"/>
                    <a:pt x="914818" y="113595"/>
                  </a:cubicBezTo>
                  <a:lnTo>
                    <a:pt x="914818" y="237074"/>
                  </a:lnTo>
                  <a:cubicBezTo>
                    <a:pt x="914818" y="299810"/>
                    <a:pt x="863960" y="350668"/>
                    <a:pt x="801223" y="350668"/>
                  </a:cubicBezTo>
                  <a:lnTo>
                    <a:pt x="113595" y="350668"/>
                  </a:lnTo>
                  <a:cubicBezTo>
                    <a:pt x="50858" y="350668"/>
                    <a:pt x="0" y="299810"/>
                    <a:pt x="0" y="237074"/>
                  </a:cubicBezTo>
                  <a:lnTo>
                    <a:pt x="0" y="113595"/>
                  </a:lnTo>
                  <a:cubicBezTo>
                    <a:pt x="0" y="50858"/>
                    <a:pt x="50858" y="0"/>
                    <a:pt x="113595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1"/>
            <p:cNvSpPr txBox="1"/>
            <p:nvPr/>
          </p:nvSpPr>
          <p:spPr>
            <a:xfrm>
              <a:off x="0" y="-38100"/>
              <a:ext cx="914818" cy="38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41300" lIns="241300" spcFirstLastPara="1" rIns="241300" wrap="square" tIns="2413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Detección de Errores</a:t>
              </a:r>
              <a:endParaRPr/>
            </a:p>
          </p:txBody>
        </p:sp>
      </p:grpSp>
      <p:grpSp>
        <p:nvGrpSpPr>
          <p:cNvPr id="313" name="Google Shape;313;p11"/>
          <p:cNvGrpSpPr/>
          <p:nvPr/>
        </p:nvGrpSpPr>
        <p:grpSpPr>
          <a:xfrm>
            <a:off x="2635924" y="2943848"/>
            <a:ext cx="1286042" cy="1105192"/>
            <a:chOff x="0" y="0"/>
            <a:chExt cx="812800" cy="698500"/>
          </a:xfrm>
        </p:grpSpPr>
        <p:sp>
          <p:nvSpPr>
            <p:cNvPr id="314" name="Google Shape;314;p11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</p:sp>
        <p:sp>
          <p:nvSpPr>
            <p:cNvPr id="315" name="Google Shape;315;p11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10409138" y="2943848"/>
            <a:ext cx="1286042" cy="1105192"/>
            <a:chOff x="0" y="0"/>
            <a:chExt cx="812800" cy="698500"/>
          </a:xfrm>
        </p:grpSpPr>
        <p:sp>
          <p:nvSpPr>
            <p:cNvPr id="317" name="Google Shape;317;p11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</p:sp>
        <p:sp>
          <p:nvSpPr>
            <p:cNvPr id="318" name="Google Shape;318;p11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19" name="Google Shape;319;p11"/>
          <p:cNvGrpSpPr/>
          <p:nvPr/>
        </p:nvGrpSpPr>
        <p:grpSpPr>
          <a:xfrm>
            <a:off x="6538875" y="2943848"/>
            <a:ext cx="1286042" cy="1105192"/>
            <a:chOff x="0" y="0"/>
            <a:chExt cx="812800" cy="698500"/>
          </a:xfrm>
        </p:grpSpPr>
        <p:sp>
          <p:nvSpPr>
            <p:cNvPr id="320" name="Google Shape;320;p11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</p:sp>
        <p:sp>
          <p:nvSpPr>
            <p:cNvPr id="321" name="Google Shape;321;p11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22" name="Google Shape;322;p11"/>
          <p:cNvGrpSpPr/>
          <p:nvPr/>
        </p:nvGrpSpPr>
        <p:grpSpPr>
          <a:xfrm>
            <a:off x="14276248" y="2943848"/>
            <a:ext cx="1286042" cy="1105192"/>
            <a:chOff x="0" y="0"/>
            <a:chExt cx="812800" cy="698500"/>
          </a:xfrm>
        </p:grpSpPr>
        <p:sp>
          <p:nvSpPr>
            <p:cNvPr id="323" name="Google Shape;323;p11"/>
            <p:cNvSpPr/>
            <p:nvPr/>
          </p:nvSpPr>
          <p:spPr>
            <a:xfrm>
              <a:off x="0" y="0"/>
              <a:ext cx="812800" cy="698500"/>
            </a:xfrm>
            <a:custGeom>
              <a:rect b="b" l="l" r="r" t="t"/>
              <a:pathLst>
                <a:path extrusionOk="0"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</p:sp>
        <p:sp>
          <p:nvSpPr>
            <p:cNvPr id="324" name="Google Shape;324;p11"/>
            <p:cNvSpPr txBox="1"/>
            <p:nvPr/>
          </p:nvSpPr>
          <p:spPr>
            <a:xfrm>
              <a:off x="114300" y="57150"/>
              <a:ext cx="5842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475" lIns="10475" spcFirstLastPara="1" rIns="10475" wrap="square" tIns="10475">
              <a:noAutofit/>
            </a:bodyPr>
            <a:lstStyle/>
            <a:p>
              <a:pPr indent="0" lvl="0" marL="0" marR="0" rtl="0" algn="ctr">
                <a:lnSpc>
                  <a:spcPct val="98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cxnSp>
        <p:nvCxnSpPr>
          <p:cNvPr id="325" name="Google Shape;325;p11"/>
          <p:cNvCxnSpPr/>
          <p:nvPr/>
        </p:nvCxnSpPr>
        <p:spPr>
          <a:xfrm flipH="1" rot="10800000">
            <a:off x="3281911" y="2221094"/>
            <a:ext cx="3880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11"/>
          <p:cNvCxnSpPr/>
          <p:nvPr/>
        </p:nvCxnSpPr>
        <p:spPr>
          <a:xfrm flipH="1" rot="10800000">
            <a:off x="7184862" y="2221094"/>
            <a:ext cx="3880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11"/>
          <p:cNvCxnSpPr/>
          <p:nvPr/>
        </p:nvCxnSpPr>
        <p:spPr>
          <a:xfrm rot="10800000">
            <a:off x="9137154" y="1471766"/>
            <a:ext cx="0" cy="748787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11"/>
          <p:cNvCxnSpPr/>
          <p:nvPr/>
        </p:nvCxnSpPr>
        <p:spPr>
          <a:xfrm>
            <a:off x="3278945" y="2220823"/>
            <a:ext cx="11626036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1"/>
          <p:cNvCxnSpPr/>
          <p:nvPr/>
        </p:nvCxnSpPr>
        <p:spPr>
          <a:xfrm rot="10800000">
            <a:off x="11047323" y="2221094"/>
            <a:ext cx="2741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1"/>
          <p:cNvCxnSpPr/>
          <p:nvPr/>
        </p:nvCxnSpPr>
        <p:spPr>
          <a:xfrm rot="10800000">
            <a:off x="14904981" y="2221094"/>
            <a:ext cx="8097" cy="722754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1" name="Google Shape;331;p11"/>
          <p:cNvGrpSpPr/>
          <p:nvPr/>
        </p:nvGrpSpPr>
        <p:grpSpPr>
          <a:xfrm>
            <a:off x="1530369" y="5195235"/>
            <a:ext cx="3474509" cy="4579625"/>
            <a:chOff x="0" y="-38100"/>
            <a:chExt cx="914818" cy="1205789"/>
          </a:xfrm>
        </p:grpSpPr>
        <p:sp>
          <p:nvSpPr>
            <p:cNvPr id="332" name="Google Shape;332;p11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EDC0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1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Se verifica que las operaciones y asignaciones sean compatibles con los tipos de datos utilizados.</a:t>
              </a:r>
              <a:endParaRPr/>
            </a:p>
          </p:txBody>
        </p:sp>
      </p:grpSp>
      <p:grpSp>
        <p:nvGrpSpPr>
          <p:cNvPr id="334" name="Google Shape;334;p11"/>
          <p:cNvGrpSpPr/>
          <p:nvPr/>
        </p:nvGrpSpPr>
        <p:grpSpPr>
          <a:xfrm>
            <a:off x="5443973" y="5195235"/>
            <a:ext cx="3474509" cy="4579625"/>
            <a:chOff x="0" y="-38100"/>
            <a:chExt cx="914818" cy="1205789"/>
          </a:xfrm>
        </p:grpSpPr>
        <p:sp>
          <p:nvSpPr>
            <p:cNvPr id="335" name="Google Shape;335;p11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D5D8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1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Las referencias a identificadores, como variables y funciones, se asocian con sus definiciones.</a:t>
              </a:r>
              <a:endParaRPr/>
            </a:p>
          </p:txBody>
        </p:sp>
      </p:grpSp>
      <p:grpSp>
        <p:nvGrpSpPr>
          <p:cNvPr id="337" name="Google Shape;337;p11"/>
          <p:cNvGrpSpPr/>
          <p:nvPr/>
        </p:nvGrpSpPr>
        <p:grpSpPr>
          <a:xfrm>
            <a:off x="9356632" y="5195235"/>
            <a:ext cx="3474509" cy="4579625"/>
            <a:chOff x="0" y="-38100"/>
            <a:chExt cx="914818" cy="1205789"/>
          </a:xfrm>
        </p:grpSpPr>
        <p:sp>
          <p:nvSpPr>
            <p:cNvPr id="338" name="Google Shape;338;p11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CFAA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1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Se comprueban otras restricciones semánticas, como la no declaración de variables duplicadas.</a:t>
              </a:r>
              <a:endParaRPr/>
            </a:p>
          </p:txBody>
        </p:sp>
      </p:grpSp>
      <p:grpSp>
        <p:nvGrpSpPr>
          <p:cNvPr id="340" name="Google Shape;340;p11"/>
          <p:cNvGrpSpPr/>
          <p:nvPr/>
        </p:nvGrpSpPr>
        <p:grpSpPr>
          <a:xfrm>
            <a:off x="2563742" y="450023"/>
            <a:ext cx="13160517" cy="1278212"/>
            <a:chOff x="0" y="-85725"/>
            <a:chExt cx="3463756" cy="336416"/>
          </a:xfrm>
        </p:grpSpPr>
        <p:sp>
          <p:nvSpPr>
            <p:cNvPr id="341" name="Google Shape;341;p11"/>
            <p:cNvSpPr/>
            <p:nvPr/>
          </p:nvSpPr>
          <p:spPr>
            <a:xfrm>
              <a:off x="0" y="0"/>
              <a:ext cx="3463756" cy="250691"/>
            </a:xfrm>
            <a:custGeom>
              <a:rect b="b" l="l" r="r" t="t"/>
              <a:pathLst>
                <a:path extrusionOk="0" h="250691" w="3463756">
                  <a:moveTo>
                    <a:pt x="30002" y="0"/>
                  </a:moveTo>
                  <a:lnTo>
                    <a:pt x="3433754" y="0"/>
                  </a:lnTo>
                  <a:cubicBezTo>
                    <a:pt x="3441711" y="0"/>
                    <a:pt x="3449342" y="3161"/>
                    <a:pt x="3454969" y="8787"/>
                  </a:cubicBezTo>
                  <a:cubicBezTo>
                    <a:pt x="3460595" y="14414"/>
                    <a:pt x="3463756" y="22045"/>
                    <a:pt x="3463756" y="30002"/>
                  </a:cubicBezTo>
                  <a:lnTo>
                    <a:pt x="3463756" y="220690"/>
                  </a:lnTo>
                  <a:cubicBezTo>
                    <a:pt x="3463756" y="237259"/>
                    <a:pt x="3450324" y="250691"/>
                    <a:pt x="3433754" y="250691"/>
                  </a:cubicBezTo>
                  <a:lnTo>
                    <a:pt x="30002" y="250691"/>
                  </a:lnTo>
                  <a:cubicBezTo>
                    <a:pt x="22045" y="250691"/>
                    <a:pt x="14414" y="247530"/>
                    <a:pt x="8787" y="241904"/>
                  </a:cubicBezTo>
                  <a:cubicBezTo>
                    <a:pt x="3161" y="236278"/>
                    <a:pt x="0" y="228646"/>
                    <a:pt x="0" y="220690"/>
                  </a:cubicBezTo>
                  <a:lnTo>
                    <a:pt x="0" y="30002"/>
                  </a:lnTo>
                  <a:cubicBezTo>
                    <a:pt x="0" y="13432"/>
                    <a:pt x="13432" y="0"/>
                    <a:pt x="30002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1"/>
            <p:cNvSpPr txBox="1"/>
            <p:nvPr/>
          </p:nvSpPr>
          <p:spPr>
            <a:xfrm>
              <a:off x="0" y="-85725"/>
              <a:ext cx="3463756" cy="3364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ANÁLISIS SEMÁNTICO</a:t>
              </a:r>
              <a:endParaRPr/>
            </a:p>
          </p:txBody>
        </p:sp>
      </p:grpSp>
      <p:grpSp>
        <p:nvGrpSpPr>
          <p:cNvPr id="343" name="Google Shape;343;p11"/>
          <p:cNvGrpSpPr/>
          <p:nvPr/>
        </p:nvGrpSpPr>
        <p:grpSpPr>
          <a:xfrm>
            <a:off x="13181346" y="5195235"/>
            <a:ext cx="3474509" cy="4579625"/>
            <a:chOff x="0" y="-38100"/>
            <a:chExt cx="914818" cy="1205789"/>
          </a:xfrm>
        </p:grpSpPr>
        <p:sp>
          <p:nvSpPr>
            <p:cNvPr id="344" name="Google Shape;344;p11"/>
            <p:cNvSpPr/>
            <p:nvPr/>
          </p:nvSpPr>
          <p:spPr>
            <a:xfrm>
              <a:off x="0" y="0"/>
              <a:ext cx="914818" cy="1167689"/>
            </a:xfrm>
            <a:custGeom>
              <a:rect b="b" l="l" r="r" t="t"/>
              <a:pathLst>
                <a:path extrusionOk="0" h="1167689" w="914818">
                  <a:moveTo>
                    <a:pt x="113638" y="0"/>
                  </a:moveTo>
                  <a:lnTo>
                    <a:pt x="801180" y="0"/>
                  </a:lnTo>
                  <a:cubicBezTo>
                    <a:pt x="831318" y="0"/>
                    <a:pt x="860223" y="11973"/>
                    <a:pt x="881534" y="33284"/>
                  </a:cubicBezTo>
                  <a:cubicBezTo>
                    <a:pt x="902845" y="54595"/>
                    <a:pt x="914818" y="83500"/>
                    <a:pt x="914818" y="113638"/>
                  </a:cubicBezTo>
                  <a:lnTo>
                    <a:pt x="914818" y="1054050"/>
                  </a:lnTo>
                  <a:cubicBezTo>
                    <a:pt x="914818" y="1116811"/>
                    <a:pt x="863940" y="1167689"/>
                    <a:pt x="801180" y="1167689"/>
                  </a:cubicBezTo>
                  <a:lnTo>
                    <a:pt x="113638" y="1167689"/>
                  </a:lnTo>
                  <a:cubicBezTo>
                    <a:pt x="83500" y="1167689"/>
                    <a:pt x="54595" y="1155716"/>
                    <a:pt x="33284" y="1134405"/>
                  </a:cubicBezTo>
                  <a:cubicBezTo>
                    <a:pt x="11973" y="1113093"/>
                    <a:pt x="0" y="1084189"/>
                    <a:pt x="0" y="1054050"/>
                  </a:cubicBezTo>
                  <a:lnTo>
                    <a:pt x="0" y="113638"/>
                  </a:lnTo>
                  <a:cubicBezTo>
                    <a:pt x="0" y="83500"/>
                    <a:pt x="11973" y="54595"/>
                    <a:pt x="33284" y="33284"/>
                  </a:cubicBezTo>
                  <a:cubicBezTo>
                    <a:pt x="54595" y="11973"/>
                    <a:pt x="83500" y="0"/>
                    <a:pt x="113638" y="0"/>
                  </a:cubicBezTo>
                  <a:close/>
                </a:path>
              </a:pathLst>
            </a:custGeom>
            <a:solidFill>
              <a:srgbClr val="B6C9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0" y="-38100"/>
              <a:ext cx="914818" cy="1205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10204"/>
                  </a:solidFill>
                  <a:latin typeface="Arial"/>
                  <a:ea typeface="Arial"/>
                  <a:cs typeface="Arial"/>
                  <a:sym typeface="Arial"/>
                </a:rPr>
                <a:t>Esta etapa identifica cualquier incoherencia que hace que la estructura del código no tenga consistencia con las reglas definidas del lenguaje.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 txBox="1"/>
          <p:nvPr/>
        </p:nvSpPr>
        <p:spPr>
          <a:xfrm>
            <a:off x="1904222" y="1577033"/>
            <a:ext cx="13131496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GENERACIÓN DE CÓDIGO</a:t>
            </a:r>
            <a:endParaRPr/>
          </a:p>
        </p:txBody>
      </p:sp>
      <p:sp>
        <p:nvSpPr>
          <p:cNvPr descr="preencoded.png" id="351" name="Google Shape;351;p12"/>
          <p:cNvSpPr/>
          <p:nvPr/>
        </p:nvSpPr>
        <p:spPr>
          <a:xfrm>
            <a:off x="1720972" y="3401273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2" name="Google Shape;352;p12"/>
          <p:cNvGrpSpPr/>
          <p:nvPr/>
        </p:nvGrpSpPr>
        <p:grpSpPr>
          <a:xfrm>
            <a:off x="1720972" y="4376991"/>
            <a:ext cx="4833829" cy="511373"/>
            <a:chOff x="0" y="-95250"/>
            <a:chExt cx="6445105" cy="681832"/>
          </a:xfrm>
        </p:grpSpPr>
        <p:sp>
          <p:nvSpPr>
            <p:cNvPr id="353" name="Google Shape;353;p12"/>
            <p:cNvSpPr/>
            <p:nvPr/>
          </p:nvSpPr>
          <p:spPr>
            <a:xfrm>
              <a:off x="0" y="0"/>
              <a:ext cx="6445105" cy="586582"/>
            </a:xfrm>
            <a:custGeom>
              <a:rect b="b" l="l" r="r" t="t"/>
              <a:pathLst>
                <a:path extrusionOk="0" h="586582" w="6445105">
                  <a:moveTo>
                    <a:pt x="0" y="0"/>
                  </a:moveTo>
                  <a:lnTo>
                    <a:pt x="6445105" y="0"/>
                  </a:lnTo>
                  <a:lnTo>
                    <a:pt x="6445105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4" name="Google Shape;354;p12"/>
            <p:cNvSpPr txBox="1"/>
            <p:nvPr/>
          </p:nvSpPr>
          <p:spPr>
            <a:xfrm>
              <a:off x="0" y="-95250"/>
              <a:ext cx="6445104" cy="68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Código Intermedio</a:t>
              </a:r>
              <a:endParaRPr/>
            </a:p>
          </p:txBody>
        </p:sp>
      </p:grpSp>
      <p:grpSp>
        <p:nvGrpSpPr>
          <p:cNvPr id="355" name="Google Shape;355;p12"/>
          <p:cNvGrpSpPr/>
          <p:nvPr/>
        </p:nvGrpSpPr>
        <p:grpSpPr>
          <a:xfrm>
            <a:off x="1720972" y="4967838"/>
            <a:ext cx="5098702" cy="1536353"/>
            <a:chOff x="0" y="-133350"/>
            <a:chExt cx="6798270" cy="2048470"/>
          </a:xfrm>
        </p:grpSpPr>
        <p:sp>
          <p:nvSpPr>
            <p:cNvPr id="356" name="Google Shape;356;p12"/>
            <p:cNvSpPr/>
            <p:nvPr/>
          </p:nvSpPr>
          <p:spPr>
            <a:xfrm>
              <a:off x="0" y="0"/>
              <a:ext cx="6798270" cy="1915120"/>
            </a:xfrm>
            <a:custGeom>
              <a:rect b="b" l="l" r="r" t="t"/>
              <a:pathLst>
                <a:path extrusionOk="0" h="1915120" w="6798270">
                  <a:moveTo>
                    <a:pt x="0" y="0"/>
                  </a:moveTo>
                  <a:lnTo>
                    <a:pt x="6798270" y="0"/>
                  </a:lnTo>
                  <a:lnTo>
                    <a:pt x="6798270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7" name="Google Shape;357;p12"/>
            <p:cNvSpPr txBox="1"/>
            <p:nvPr/>
          </p:nvSpPr>
          <p:spPr>
            <a:xfrm>
              <a:off x="0" y="-133350"/>
              <a:ext cx="6798270" cy="2048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6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genera un código intermedio que es más abstraído que el código máquina final.</a:t>
              </a:r>
              <a:endParaRPr/>
            </a:p>
          </p:txBody>
        </p:sp>
      </p:grpSp>
      <p:sp>
        <p:nvSpPr>
          <p:cNvPr descr="preencoded.png" id="358" name="Google Shape;358;p12"/>
          <p:cNvSpPr/>
          <p:nvPr/>
        </p:nvSpPr>
        <p:spPr>
          <a:xfrm>
            <a:off x="7061746" y="3401273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9" name="Google Shape;359;p12"/>
          <p:cNvGrpSpPr/>
          <p:nvPr/>
        </p:nvGrpSpPr>
        <p:grpSpPr>
          <a:xfrm>
            <a:off x="7061746" y="4376991"/>
            <a:ext cx="4322037" cy="511373"/>
            <a:chOff x="0" y="-95250"/>
            <a:chExt cx="5762716" cy="681832"/>
          </a:xfrm>
        </p:grpSpPr>
        <p:sp>
          <p:nvSpPr>
            <p:cNvPr id="360" name="Google Shape;360;p12"/>
            <p:cNvSpPr/>
            <p:nvPr/>
          </p:nvSpPr>
          <p:spPr>
            <a:xfrm>
              <a:off x="0" y="0"/>
              <a:ext cx="5762716" cy="586582"/>
            </a:xfrm>
            <a:custGeom>
              <a:rect b="b" l="l" r="r" t="t"/>
              <a:pathLst>
                <a:path extrusionOk="0" h="586582" w="5762716">
                  <a:moveTo>
                    <a:pt x="0" y="0"/>
                  </a:moveTo>
                  <a:lnTo>
                    <a:pt x="5762716" y="0"/>
                  </a:lnTo>
                  <a:lnTo>
                    <a:pt x="5762716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1" name="Google Shape;361;p12"/>
            <p:cNvSpPr txBox="1"/>
            <p:nvPr/>
          </p:nvSpPr>
          <p:spPr>
            <a:xfrm>
              <a:off x="0" y="-95250"/>
              <a:ext cx="5762716" cy="68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Código Objeto</a:t>
              </a:r>
              <a:endParaRPr/>
            </a:p>
          </p:txBody>
        </p:sp>
      </p:grpSp>
      <p:grpSp>
        <p:nvGrpSpPr>
          <p:cNvPr id="362" name="Google Shape;362;p12"/>
          <p:cNvGrpSpPr/>
          <p:nvPr/>
        </p:nvGrpSpPr>
        <p:grpSpPr>
          <a:xfrm>
            <a:off x="7061746" y="4967838"/>
            <a:ext cx="5098702" cy="1536353"/>
            <a:chOff x="0" y="-133350"/>
            <a:chExt cx="6798270" cy="2048470"/>
          </a:xfrm>
        </p:grpSpPr>
        <p:sp>
          <p:nvSpPr>
            <p:cNvPr id="363" name="Google Shape;363;p12"/>
            <p:cNvSpPr/>
            <p:nvPr/>
          </p:nvSpPr>
          <p:spPr>
            <a:xfrm>
              <a:off x="0" y="0"/>
              <a:ext cx="6798270" cy="1915120"/>
            </a:xfrm>
            <a:custGeom>
              <a:rect b="b" l="l" r="r" t="t"/>
              <a:pathLst>
                <a:path extrusionOk="0" h="1915120" w="6798270">
                  <a:moveTo>
                    <a:pt x="0" y="0"/>
                  </a:moveTo>
                  <a:lnTo>
                    <a:pt x="6798270" y="0"/>
                  </a:lnTo>
                  <a:lnTo>
                    <a:pt x="6798270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4" name="Google Shape;364;p12"/>
            <p:cNvSpPr txBox="1"/>
            <p:nvPr/>
          </p:nvSpPr>
          <p:spPr>
            <a:xfrm>
              <a:off x="0" y="-133350"/>
              <a:ext cx="6798270" cy="2048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6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 código intermedio se traduce a código máquina que puede ser ejecutado directamente.</a:t>
              </a:r>
              <a:endParaRPr/>
            </a:p>
          </p:txBody>
        </p:sp>
      </p:grpSp>
      <p:sp>
        <p:nvSpPr>
          <p:cNvPr descr="preencoded.png" id="365" name="Google Shape;365;p12"/>
          <p:cNvSpPr/>
          <p:nvPr/>
        </p:nvSpPr>
        <p:spPr>
          <a:xfrm>
            <a:off x="12160449" y="3407763"/>
            <a:ext cx="748010" cy="748010"/>
          </a:xfrm>
          <a:custGeom>
            <a:rect b="b" l="l" r="r" t="t"/>
            <a:pathLst>
              <a:path extrusionOk="0" h="748010" w="748010">
                <a:moveTo>
                  <a:pt x="0" y="0"/>
                </a:moveTo>
                <a:lnTo>
                  <a:pt x="748010" y="0"/>
                </a:lnTo>
                <a:lnTo>
                  <a:pt x="748010" y="748010"/>
                </a:lnTo>
                <a:lnTo>
                  <a:pt x="0" y="748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6" name="Google Shape;366;p12"/>
          <p:cNvGrpSpPr/>
          <p:nvPr/>
        </p:nvGrpSpPr>
        <p:grpSpPr>
          <a:xfrm>
            <a:off x="12160449" y="4383481"/>
            <a:ext cx="4304978" cy="511373"/>
            <a:chOff x="0" y="-95250"/>
            <a:chExt cx="5739970" cy="681832"/>
          </a:xfrm>
        </p:grpSpPr>
        <p:sp>
          <p:nvSpPr>
            <p:cNvPr id="367" name="Google Shape;367;p12"/>
            <p:cNvSpPr/>
            <p:nvPr/>
          </p:nvSpPr>
          <p:spPr>
            <a:xfrm>
              <a:off x="0" y="0"/>
              <a:ext cx="5739970" cy="586582"/>
            </a:xfrm>
            <a:custGeom>
              <a:rect b="b" l="l" r="r" t="t"/>
              <a:pathLst>
                <a:path extrusionOk="0" h="586582" w="5739970">
                  <a:moveTo>
                    <a:pt x="0" y="0"/>
                  </a:moveTo>
                  <a:lnTo>
                    <a:pt x="5739970" y="0"/>
                  </a:lnTo>
                  <a:lnTo>
                    <a:pt x="5739970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8" name="Google Shape;368;p12"/>
            <p:cNvSpPr txBox="1"/>
            <p:nvPr/>
          </p:nvSpPr>
          <p:spPr>
            <a:xfrm>
              <a:off x="0" y="-95250"/>
              <a:ext cx="5739970" cy="681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Enlazador</a:t>
              </a:r>
              <a:endParaRPr/>
            </a:p>
          </p:txBody>
        </p:sp>
      </p:grpSp>
      <p:grpSp>
        <p:nvGrpSpPr>
          <p:cNvPr id="369" name="Google Shape;369;p12"/>
          <p:cNvGrpSpPr/>
          <p:nvPr/>
        </p:nvGrpSpPr>
        <p:grpSpPr>
          <a:xfrm>
            <a:off x="12160449" y="4974329"/>
            <a:ext cx="5098851" cy="1536353"/>
            <a:chOff x="0" y="-133350"/>
            <a:chExt cx="6798468" cy="2048470"/>
          </a:xfrm>
        </p:grpSpPr>
        <p:sp>
          <p:nvSpPr>
            <p:cNvPr id="370" name="Google Shape;370;p12"/>
            <p:cNvSpPr/>
            <p:nvPr/>
          </p:nvSpPr>
          <p:spPr>
            <a:xfrm>
              <a:off x="0" y="0"/>
              <a:ext cx="6798468" cy="1915120"/>
            </a:xfrm>
            <a:custGeom>
              <a:rect b="b" l="l" r="r" t="t"/>
              <a:pathLst>
                <a:path extrusionOk="0" h="1915120" w="6798468">
                  <a:moveTo>
                    <a:pt x="0" y="0"/>
                  </a:moveTo>
                  <a:lnTo>
                    <a:pt x="6798468" y="0"/>
                  </a:lnTo>
                  <a:lnTo>
                    <a:pt x="6798468" y="1915120"/>
                  </a:lnTo>
                  <a:lnTo>
                    <a:pt x="0" y="1915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1" name="Google Shape;371;p12"/>
            <p:cNvSpPr txBox="1"/>
            <p:nvPr/>
          </p:nvSpPr>
          <p:spPr>
            <a:xfrm>
              <a:off x="0" y="-133350"/>
              <a:ext cx="6798468" cy="2048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6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 código objeto se enlaza con bibliotecas externas para crear el programa ejecutable final.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 txBox="1"/>
          <p:nvPr/>
        </p:nvSpPr>
        <p:spPr>
          <a:xfrm>
            <a:off x="1904222" y="1577033"/>
            <a:ext cx="13131496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OPTIMIZACIÓN DE CÓDIGO</a:t>
            </a:r>
            <a:endParaRPr/>
          </a:p>
        </p:txBody>
      </p:sp>
      <p:grpSp>
        <p:nvGrpSpPr>
          <p:cNvPr id="377" name="Google Shape;377;p13"/>
          <p:cNvGrpSpPr/>
          <p:nvPr/>
        </p:nvGrpSpPr>
        <p:grpSpPr>
          <a:xfrm>
            <a:off x="1476496" y="4390624"/>
            <a:ext cx="3520231" cy="890857"/>
            <a:chOff x="0" y="-85725"/>
            <a:chExt cx="4693642" cy="1187809"/>
          </a:xfrm>
        </p:grpSpPr>
        <p:sp>
          <p:nvSpPr>
            <p:cNvPr id="378" name="Google Shape;378;p13"/>
            <p:cNvSpPr/>
            <p:nvPr/>
          </p:nvSpPr>
          <p:spPr>
            <a:xfrm>
              <a:off x="0" y="0"/>
              <a:ext cx="4693642" cy="1102084"/>
            </a:xfrm>
            <a:custGeom>
              <a:rect b="b" l="l" r="r" t="t"/>
              <a:pathLst>
                <a:path extrusionOk="0" h="1102084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1102084"/>
                  </a:lnTo>
                  <a:lnTo>
                    <a:pt x="0" y="1102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9" name="Google Shape;379;p13"/>
            <p:cNvSpPr txBox="1"/>
            <p:nvPr/>
          </p:nvSpPr>
          <p:spPr>
            <a:xfrm>
              <a:off x="0" y="-85725"/>
              <a:ext cx="4693642" cy="1187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Eliminación de Código Muerto</a:t>
              </a:r>
              <a:endParaRPr/>
            </a:p>
          </p:txBody>
        </p:sp>
      </p:grpSp>
      <p:grpSp>
        <p:nvGrpSpPr>
          <p:cNvPr id="380" name="Google Shape;380;p13"/>
          <p:cNvGrpSpPr/>
          <p:nvPr/>
        </p:nvGrpSpPr>
        <p:grpSpPr>
          <a:xfrm>
            <a:off x="1476496" y="5591757"/>
            <a:ext cx="5098702" cy="1720454"/>
            <a:chOff x="0" y="-161925"/>
            <a:chExt cx="6798270" cy="2293938"/>
          </a:xfrm>
        </p:grpSpPr>
        <p:sp>
          <p:nvSpPr>
            <p:cNvPr id="381" name="Google Shape;381;p13"/>
            <p:cNvSpPr/>
            <p:nvPr/>
          </p:nvSpPr>
          <p:spPr>
            <a:xfrm>
              <a:off x="0" y="0"/>
              <a:ext cx="6798270" cy="2132013"/>
            </a:xfrm>
            <a:custGeom>
              <a:rect b="b" l="l" r="r" t="t"/>
              <a:pathLst>
                <a:path extrusionOk="0" h="2132013" w="6798270">
                  <a:moveTo>
                    <a:pt x="0" y="0"/>
                  </a:moveTo>
                  <a:lnTo>
                    <a:pt x="6798270" y="0"/>
                  </a:lnTo>
                  <a:lnTo>
                    <a:pt x="6798270" y="2132013"/>
                  </a:lnTo>
                  <a:lnTo>
                    <a:pt x="0" y="2132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2" name="Google Shape;382;p13"/>
            <p:cNvSpPr txBox="1"/>
            <p:nvPr/>
          </p:nvSpPr>
          <p:spPr>
            <a:xfrm>
              <a:off x="0" y="-161925"/>
              <a:ext cx="6798270" cy="2293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5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elimina el código que nunca se ejecuta, mejorando la eficiencia del programa.</a:t>
              </a:r>
              <a:endParaRPr/>
            </a:p>
          </p:txBody>
        </p:sp>
      </p:grpSp>
      <p:grpSp>
        <p:nvGrpSpPr>
          <p:cNvPr id="383" name="Google Shape;383;p13"/>
          <p:cNvGrpSpPr/>
          <p:nvPr/>
        </p:nvGrpSpPr>
        <p:grpSpPr>
          <a:xfrm>
            <a:off x="6594649" y="4390624"/>
            <a:ext cx="3520231" cy="890857"/>
            <a:chOff x="0" y="-85725"/>
            <a:chExt cx="4693642" cy="1187809"/>
          </a:xfrm>
        </p:grpSpPr>
        <p:sp>
          <p:nvSpPr>
            <p:cNvPr id="384" name="Google Shape;384;p13"/>
            <p:cNvSpPr/>
            <p:nvPr/>
          </p:nvSpPr>
          <p:spPr>
            <a:xfrm>
              <a:off x="0" y="0"/>
              <a:ext cx="4693642" cy="1102084"/>
            </a:xfrm>
            <a:custGeom>
              <a:rect b="b" l="l" r="r" t="t"/>
              <a:pathLst>
                <a:path extrusionOk="0" h="1102084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1102084"/>
                  </a:lnTo>
                  <a:lnTo>
                    <a:pt x="0" y="1102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5" name="Google Shape;385;p13"/>
            <p:cNvSpPr txBox="1"/>
            <p:nvPr/>
          </p:nvSpPr>
          <p:spPr>
            <a:xfrm>
              <a:off x="0" y="-85725"/>
              <a:ext cx="4693642" cy="1187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Desenrollado de Bucles</a:t>
              </a:r>
              <a:endParaRPr/>
            </a:p>
          </p:txBody>
        </p:sp>
      </p:grpSp>
      <p:grpSp>
        <p:nvGrpSpPr>
          <p:cNvPr id="386" name="Google Shape;386;p13"/>
          <p:cNvGrpSpPr/>
          <p:nvPr/>
        </p:nvGrpSpPr>
        <p:grpSpPr>
          <a:xfrm>
            <a:off x="6594649" y="5591757"/>
            <a:ext cx="5098702" cy="1720454"/>
            <a:chOff x="0" y="-161925"/>
            <a:chExt cx="6798270" cy="2293938"/>
          </a:xfrm>
        </p:grpSpPr>
        <p:sp>
          <p:nvSpPr>
            <p:cNvPr id="387" name="Google Shape;387;p13"/>
            <p:cNvSpPr/>
            <p:nvPr/>
          </p:nvSpPr>
          <p:spPr>
            <a:xfrm>
              <a:off x="0" y="0"/>
              <a:ext cx="6798270" cy="2132013"/>
            </a:xfrm>
            <a:custGeom>
              <a:rect b="b" l="l" r="r" t="t"/>
              <a:pathLst>
                <a:path extrusionOk="0" h="2132013" w="6798270">
                  <a:moveTo>
                    <a:pt x="0" y="0"/>
                  </a:moveTo>
                  <a:lnTo>
                    <a:pt x="6798270" y="0"/>
                  </a:lnTo>
                  <a:lnTo>
                    <a:pt x="6798270" y="2132013"/>
                  </a:lnTo>
                  <a:lnTo>
                    <a:pt x="0" y="2132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8" name="Google Shape;388;p13"/>
            <p:cNvSpPr txBox="1"/>
            <p:nvPr/>
          </p:nvSpPr>
          <p:spPr>
            <a:xfrm>
              <a:off x="0" y="-161925"/>
              <a:ext cx="6798270" cy="2293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5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Los bucles se transforman para reducir los saltos y mejorar el rendimiento.</a:t>
              </a:r>
              <a:endParaRPr/>
            </a:p>
          </p:txBody>
        </p:sp>
      </p:grpSp>
      <p:grpSp>
        <p:nvGrpSpPr>
          <p:cNvPr id="389" name="Google Shape;389;p13"/>
          <p:cNvGrpSpPr/>
          <p:nvPr/>
        </p:nvGrpSpPr>
        <p:grpSpPr>
          <a:xfrm>
            <a:off x="12274376" y="4390624"/>
            <a:ext cx="3520231" cy="890857"/>
            <a:chOff x="0" y="-85725"/>
            <a:chExt cx="4693642" cy="1187809"/>
          </a:xfrm>
        </p:grpSpPr>
        <p:sp>
          <p:nvSpPr>
            <p:cNvPr id="390" name="Google Shape;390;p13"/>
            <p:cNvSpPr/>
            <p:nvPr/>
          </p:nvSpPr>
          <p:spPr>
            <a:xfrm>
              <a:off x="0" y="0"/>
              <a:ext cx="4693642" cy="1102084"/>
            </a:xfrm>
            <a:custGeom>
              <a:rect b="b" l="l" r="r" t="t"/>
              <a:pathLst>
                <a:path extrusionOk="0" h="1102084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1102084"/>
                  </a:lnTo>
                  <a:lnTo>
                    <a:pt x="0" y="1102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1" name="Google Shape;391;p13"/>
            <p:cNvSpPr txBox="1"/>
            <p:nvPr/>
          </p:nvSpPr>
          <p:spPr>
            <a:xfrm>
              <a:off x="0" y="-85725"/>
              <a:ext cx="4693642" cy="1187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Propagación de Constantes</a:t>
              </a:r>
              <a:endParaRPr/>
            </a:p>
          </p:txBody>
        </p:sp>
      </p:grpSp>
      <p:grpSp>
        <p:nvGrpSpPr>
          <p:cNvPr id="392" name="Google Shape;392;p13"/>
          <p:cNvGrpSpPr/>
          <p:nvPr/>
        </p:nvGrpSpPr>
        <p:grpSpPr>
          <a:xfrm>
            <a:off x="12274376" y="5591757"/>
            <a:ext cx="5098851" cy="1720454"/>
            <a:chOff x="0" y="-161925"/>
            <a:chExt cx="6798468" cy="2293938"/>
          </a:xfrm>
        </p:grpSpPr>
        <p:sp>
          <p:nvSpPr>
            <p:cNvPr id="393" name="Google Shape;393;p13"/>
            <p:cNvSpPr/>
            <p:nvPr/>
          </p:nvSpPr>
          <p:spPr>
            <a:xfrm>
              <a:off x="0" y="0"/>
              <a:ext cx="6798468" cy="2132013"/>
            </a:xfrm>
            <a:custGeom>
              <a:rect b="b" l="l" r="r" t="t"/>
              <a:pathLst>
                <a:path extrusionOk="0" h="2132013" w="6798468">
                  <a:moveTo>
                    <a:pt x="0" y="0"/>
                  </a:moveTo>
                  <a:lnTo>
                    <a:pt x="6798468" y="0"/>
                  </a:lnTo>
                  <a:lnTo>
                    <a:pt x="6798468" y="2132013"/>
                  </a:lnTo>
                  <a:lnTo>
                    <a:pt x="0" y="2132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4" name="Google Shape;394;p13"/>
            <p:cNvSpPr txBox="1"/>
            <p:nvPr/>
          </p:nvSpPr>
          <p:spPr>
            <a:xfrm>
              <a:off x="0" y="-161925"/>
              <a:ext cx="6798468" cy="2293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945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1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Los valores constantes se propagan a través del código, evitando cálculos innecesarios.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"/>
          <p:cNvSpPr txBox="1"/>
          <p:nvPr/>
        </p:nvSpPr>
        <p:spPr>
          <a:xfrm>
            <a:off x="1904222" y="1577033"/>
            <a:ext cx="13131496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JERARQUÍA DE CHOMSKY</a:t>
            </a:r>
            <a:endParaRPr/>
          </a:p>
        </p:txBody>
      </p:sp>
      <p:graphicFrame>
        <p:nvGraphicFramePr>
          <p:cNvPr id="400" name="Google Shape;400;p14"/>
          <p:cNvGraphicFramePr/>
          <p:nvPr/>
        </p:nvGraphicFramePr>
        <p:xfrm>
          <a:off x="1028700" y="25815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{C5AB721E-B4E6-480B-97C9-D461A09866D7}</a:tableStyleId>
              </a:tblPr>
              <a:tblGrid>
                <a:gridCol w="2688200"/>
                <a:gridCol w="3378875"/>
                <a:gridCol w="10163500"/>
              </a:tblGrid>
              <a:tr h="75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Lenguaje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CD"/>
                    </a:solidFill>
                  </a:tcPr>
                </a:tc>
              </a:tr>
              <a:tr h="144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Lenguajes Regulares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Son los lenguajes más simples en la jerarquía de Chomsky. Se pueden describir mediante expresiones regulares y ser reconocidos por autómatas finitos deterministas (DFA) o no deterministas (NFA).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 Libre del Contexto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Son más complejos que los lenguajes regulares y pueden ser descritos mediante gramáticas libres de contexto (CFG). Estos lenguajes pueden ser reconocidos por autómatas de pila (PDA).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 Sensible al Contexto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Son más complejos que los lenguajes libres de contexto y pueden ser descritos mediante gramáticas sensibles al contexto. Estos lenguajes pueden ser reconocidos por máquinas de Turing lineales limitadas (LBA).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 Recursivamente Enumerable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Son los lenguajes más generales en la jerarquía y se pueden describir mediante gramáticas no restringidas. Son reconocidos por máquinas de Turing, que pueden realizar cualquier cómputo.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 txBox="1"/>
          <p:nvPr/>
        </p:nvSpPr>
        <p:spPr>
          <a:xfrm>
            <a:off x="1076998" y="1611152"/>
            <a:ext cx="16134004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CLASIFICACIÓN DE GRAMÁTICAS</a:t>
            </a:r>
            <a:endParaRPr/>
          </a:p>
        </p:txBody>
      </p:sp>
      <p:graphicFrame>
        <p:nvGraphicFramePr>
          <p:cNvPr id="406" name="Google Shape;406;p15"/>
          <p:cNvGraphicFramePr/>
          <p:nvPr/>
        </p:nvGraphicFramePr>
        <p:xfrm>
          <a:off x="1028700" y="329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{C5AB721E-B4E6-480B-97C9-D461A09866D7}</a:tableStyleId>
              </a:tblPr>
              <a:tblGrid>
                <a:gridCol w="4622700"/>
                <a:gridCol w="6672700"/>
                <a:gridCol w="4935225"/>
              </a:tblGrid>
              <a:tr h="76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Complejidad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Tiempo de Reconocimiento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BCD"/>
                    </a:solidFill>
                  </a:tcPr>
                </a:tc>
              </a:tr>
              <a:tr h="76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Regulares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Simple y Eficiente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Reconocible en Tiempo Lineal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Libre del Contexto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Más Expresiva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Reconocible en Tiempo Polinomial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Sensible al Contexto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Aún Más Expresiva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Reconocible en Tiempo Exponencial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Recursivamente Enumerable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 Más Expresiva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Reconocible en Tiempo Algorítmico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D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"/>
          <p:cNvSpPr txBox="1"/>
          <p:nvPr/>
        </p:nvSpPr>
        <p:spPr>
          <a:xfrm>
            <a:off x="1464052" y="2923362"/>
            <a:ext cx="12632411" cy="5126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Intérprete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Ejecuta el código línea por línea.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Traduce y ejecuta en tiempo de ejecución.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Más flexible pero menos eficiente que un compilador.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Ejemplo: Python, JavaScript.</a:t>
            </a:r>
            <a:endParaRPr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Compilador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Traduce todo el código fuente a código máquina o intermedio antes de ejecutarlo.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Proceso más largo al inicio, pero la ejecución es más rápida.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Ejemplo: C, C++.</a:t>
            </a:r>
            <a:endParaRPr/>
          </a:p>
        </p:txBody>
      </p:sp>
      <p:sp>
        <p:nvSpPr>
          <p:cNvPr id="412" name="Google Shape;412;p16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"/>
          <p:cNvSpPr txBox="1"/>
          <p:nvPr/>
        </p:nvSpPr>
        <p:spPr>
          <a:xfrm>
            <a:off x="1464052" y="2923362"/>
            <a:ext cx="12632411" cy="409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Estructura de un Compilador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léxico: convierte el código fuente en tokens.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sintáctico: construye árboles sintácticos (parsing).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Análisis semántico: verifica el significado del código.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Generación de código intermedio.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Optimización del código.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Generación de código final (ejecutable).</a:t>
            </a:r>
            <a:endParaRPr/>
          </a:p>
          <a:p>
            <a:pPr indent="-316774" lvl="1" marL="633548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934"/>
              <a:buFont typeface="Arial"/>
              <a:buChar char="•"/>
            </a:pPr>
            <a:r>
              <a:rPr b="0" i="0" lang="en-US" sz="29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Gestión de errores en todas las fases.</a:t>
            </a: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8"/>
          <p:cNvSpPr txBox="1"/>
          <p:nvPr/>
        </p:nvSpPr>
        <p:spPr>
          <a:xfrm>
            <a:off x="1464052" y="2932887"/>
            <a:ext cx="15276664" cy="6293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Jerarquía de Chomsky (clasificación de lenguajes formales)</a:t>
            </a:r>
            <a:endParaRPr/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Tipo 0 – Lenguajes irrestrictos (Turing-completos)</a:t>
            </a:r>
            <a:endParaRPr/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Tipo 1 – Gramáticas sensibles al contexto</a:t>
            </a:r>
            <a:endParaRPr/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Tipo 2 – Gramáticas libres del contexto (usadas en la mayoría de los lenguajes de programación)</a:t>
            </a:r>
            <a:endParaRPr/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Tipo 3 – Gramáticas regulares (usadas en expresiones regulares y análisis léxico)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Clasificación de Gramáticas</a:t>
            </a:r>
            <a:endParaRPr/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Regulares (Tipo 3): autómatas finitos, usadas para el análisis léxico.</a:t>
            </a:r>
            <a:endParaRPr/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Libres de contexto (Tipo 2): autómatas de pila, usadas para análisis sintáctico.</a:t>
            </a:r>
            <a:endParaRPr/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Sensibles al contexto (Tipo 1): más complejas, raramente usadas en compiladores.</a:t>
            </a:r>
            <a:endParaRPr/>
          </a:p>
          <a:p>
            <a:pPr indent="-295184" lvl="1" marL="59036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734"/>
              <a:buFont typeface="Arial"/>
              <a:buChar char="•"/>
            </a:pPr>
            <a:r>
              <a:rPr b="0" i="0" lang="en-US" sz="27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Irrestritas (Tipo 0): teóricas, relacionadas con máquinas de Turing.</a:t>
            </a:r>
            <a:endParaRPr/>
          </a:p>
        </p:txBody>
      </p:sp>
      <p:sp>
        <p:nvSpPr>
          <p:cNvPr id="424" name="Google Shape;424;p18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"/>
          <p:cNvSpPr txBox="1"/>
          <p:nvPr/>
        </p:nvSpPr>
        <p:spPr>
          <a:xfrm>
            <a:off x="1793489" y="3276384"/>
            <a:ext cx="14701023" cy="5950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Pensamiento Lógico y Analítico</a:t>
            </a:r>
            <a:r>
              <a:rPr b="0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Es esencial para comprender cómo se procesan las instrucciones, cómo se generan los errores y cómo se optimizan los procesos de traducción de lenguajes.</a:t>
            </a:r>
            <a:endParaRPr/>
          </a:p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Paciencia</a:t>
            </a:r>
            <a:r>
              <a:rPr b="0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Es esencial para superar los obstáculos que se presentan al implementar o estudiar estas herramientas ya que comprender cómo funcionan los compiladores e intérpretes y las estructuras que los componen puede ser desafiante y requerir tiempo.</a:t>
            </a:r>
            <a:endParaRPr/>
          </a:p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Curiosidad</a:t>
            </a:r>
            <a:r>
              <a:rPr b="0" i="0" lang="en-US" sz="30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Por cómo funcionan los lenguajes formales y los autómatas, y cómo se aplican en la teoría de lenguajes y la computación es importante ser autodidacta y estudiar por cuenta propia.</a:t>
            </a:r>
            <a:endParaRPr/>
          </a:p>
        </p:txBody>
      </p:sp>
      <p:sp>
        <p:nvSpPr>
          <p:cNvPr id="430" name="Google Shape;430;p19"/>
          <p:cNvSpPr txBox="1"/>
          <p:nvPr/>
        </p:nvSpPr>
        <p:spPr>
          <a:xfrm>
            <a:off x="2392343" y="2262543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0"/>
          <p:cNvSpPr txBox="1"/>
          <p:nvPr/>
        </p:nvSpPr>
        <p:spPr>
          <a:xfrm>
            <a:off x="1793489" y="4312620"/>
            <a:ext cx="14701023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28" lvl="1" marL="734056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"Introducción a los lenguajes formales y a la teoría de autómatas" de Peter Linz</a:t>
            </a:r>
            <a:endParaRPr/>
          </a:p>
          <a:p>
            <a:pPr indent="-367028" lvl="1" marL="734056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"Teoría de Lenguajes Formales y Autómatas" de Jörg S. M. Hock</a:t>
            </a:r>
            <a:endParaRPr/>
          </a:p>
        </p:txBody>
      </p:sp>
      <p:sp>
        <p:nvSpPr>
          <p:cNvPr id="436" name="Google Shape;436;p20"/>
          <p:cNvSpPr txBox="1"/>
          <p:nvPr/>
        </p:nvSpPr>
        <p:spPr>
          <a:xfrm>
            <a:off x="2392343" y="2849441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443" name="Google Shape;443;p21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21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