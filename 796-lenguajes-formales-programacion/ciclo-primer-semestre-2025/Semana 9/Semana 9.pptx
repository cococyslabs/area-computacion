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10287000" cx="18288000"/>
  <p:notesSz cx="6858000" cy="9144000"/>
  <p:embeddedFontLst>
    <p:embeddedFont>
      <p:font typeface="Lobster"/>
      <p:regular r:id="rId27"/>
    </p:embeddedFont>
    <p:embeddedFont>
      <p:font typeface="Pacifico"/>
      <p:regular r:id="rId28"/>
    </p:embeddedFont>
    <p:embeddedFont>
      <p:font typeface="Open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jhYrqtVhDsEW9jO1AN/tS8apqm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Pacifico-regular.fntdata"/><Relationship Id="rId27" Type="http://schemas.openxmlformats.org/officeDocument/2006/relationships/font" Target="fonts/Lobst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italic.fntdata"/><Relationship Id="rId30" Type="http://schemas.openxmlformats.org/officeDocument/2006/relationships/font" Target="fonts/OpenSans-bold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youtube.com/watch?v=2Mng7S3iBf4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ebdiis.unizar.es/asignaturas/TC/wp/wp-content/uploads/2012/09/121008MinimAFDs.pdf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063303" y="6402026"/>
            <a:ext cx="8954155" cy="2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Lenguajes Formales y de Programación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687405" y="3915649"/>
            <a:ext cx="12375000" cy="1982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Análisis Léxico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2"/>
          <p:cNvGrpSpPr/>
          <p:nvPr/>
        </p:nvGrpSpPr>
        <p:grpSpPr>
          <a:xfrm>
            <a:off x="176619" y="4559822"/>
            <a:ext cx="5601470" cy="845385"/>
            <a:chOff x="0" y="-59452"/>
            <a:chExt cx="2384828" cy="359923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534907" y="-59452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Minimización de un AFD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97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" name="Google Shape;98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99" name="Google Shape;99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04" name="Google Shape;104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05" name="Google Shape;105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sng" cap="none" strike="noStrike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  <a:hlinkClick r:id="rId5"/>
                </a:rPr>
                <a:t>Link del Video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" name="Google Shape;107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" name="Google Shape;110;p2"/>
          <p:cNvGrpSpPr/>
          <p:nvPr/>
        </p:nvGrpSpPr>
        <p:grpSpPr>
          <a:xfrm>
            <a:off x="176619" y="5422907"/>
            <a:ext cx="7766378" cy="866780"/>
            <a:chOff x="0" y="-85309"/>
            <a:chExt cx="3306538" cy="369032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"/>
            <p:cNvSpPr txBox="1"/>
            <p:nvPr/>
          </p:nvSpPr>
          <p:spPr>
            <a:xfrm>
              <a:off x="545969" y="-85309"/>
              <a:ext cx="2760569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Identificación de estados equivalentes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" name="Google Shape;113;p2"/>
          <p:cNvGrpSpPr/>
          <p:nvPr/>
        </p:nvGrpSpPr>
        <p:grpSpPr>
          <a:xfrm>
            <a:off x="176619" y="6425875"/>
            <a:ext cx="4613551" cy="845385"/>
            <a:chOff x="0" y="-76200"/>
            <a:chExt cx="1964221" cy="359923"/>
          </a:xfrm>
        </p:grpSpPr>
        <p:sp>
          <p:nvSpPr>
            <p:cNvPr id="114" name="Google Shape;114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Tarea 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" name="Google Shape;116;p2"/>
          <p:cNvGrpSpPr/>
          <p:nvPr/>
        </p:nvGrpSpPr>
        <p:grpSpPr>
          <a:xfrm>
            <a:off x="176619" y="7349457"/>
            <a:ext cx="4613551" cy="845385"/>
            <a:chOff x="0" y="-76200"/>
            <a:chExt cx="1964221" cy="359923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Corto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2"/>
          <p:cNvGrpSpPr/>
          <p:nvPr/>
        </p:nvGrpSpPr>
        <p:grpSpPr>
          <a:xfrm>
            <a:off x="176619" y="8412915"/>
            <a:ext cx="6627963" cy="845385"/>
            <a:chOff x="0" y="-76200"/>
            <a:chExt cx="2821858" cy="359923"/>
          </a:xfrm>
        </p:grpSpPr>
        <p:sp>
          <p:nvSpPr>
            <p:cNvPr id="120" name="Google Shape;120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 txBox="1"/>
            <p:nvPr/>
          </p:nvSpPr>
          <p:spPr>
            <a:xfrm>
              <a:off x="534907" y="-76200"/>
              <a:ext cx="228695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Lectura enunciado Proyecto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 txBox="1"/>
          <p:nvPr/>
        </p:nvSpPr>
        <p:spPr>
          <a:xfrm>
            <a:off x="1374889" y="654364"/>
            <a:ext cx="13991100" cy="1060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5539160" y="4652327"/>
            <a:ext cx="7209681" cy="3102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 estudiante aplica técnicas de minimización de autómatas finitos deterministas (AFD) mediante la identificación de estados equivalentes y particiones sucesivas para reducir el número de estados sin alterar el lenguaje reconocido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 txBox="1"/>
          <p:nvPr/>
        </p:nvSpPr>
        <p:spPr>
          <a:xfrm>
            <a:off x="1374889" y="1714782"/>
            <a:ext cx="15252753" cy="8306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Símbolo:</a:t>
            </a: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 un signo que representa algo abstracto. En este material, símbolo se referirá a un carácter</a:t>
            </a:r>
            <a:endParaRPr/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alfanumérico.</a:t>
            </a:r>
            <a:endParaRPr/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Ejemplos:</a:t>
            </a:r>
            <a:endParaRPr/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a, b, 1, 0, x, y, z, 9,</a:t>
            </a:r>
            <a:endParaRPr/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Alfabeto:</a:t>
            </a: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 un conjunto de símbolos y normalmente se denota con la letra Σ. Ejemplos:</a:t>
            </a:r>
            <a:endParaRPr/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Σ = {a,b,c,...z}   Σ = {1,2,3,...9}   Σ = {0,1}   Σ = {a,b}</a:t>
            </a:r>
            <a:endParaRPr/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Cadena</a:t>
            </a: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palabra es un conjunto de símbolos de algún alfabeto Σ concatenados entre sí, es decir uno seguido del otro. Ejemplos</a:t>
            </a:r>
            <a:endParaRPr/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el alfabeto Σ = {a,b,c,...z} algunas cadenas son:</a:t>
            </a:r>
            <a:endParaRPr/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ab, z, cc, abc, abab</a:t>
            </a:r>
            <a:endParaRPr/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el alfabeto Σ = {0,1} algunas cadenas son:</a:t>
            </a:r>
            <a:endParaRPr/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0, 1, 01, 000, 0101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1374889" y="654364"/>
            <a:ext cx="13991100" cy="1060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REPASO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/>
        </p:nvSpPr>
        <p:spPr>
          <a:xfrm>
            <a:off x="1374889" y="1714782"/>
            <a:ext cx="15252753" cy="5324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Cadena Vacía (ε):</a:t>
            </a:r>
            <a:r>
              <a:rPr b="0" i="0" lang="en-US" sz="2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Es la cadena que no contiene ningún símbolo.</a:t>
            </a:r>
            <a:endParaRPr/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Lenguaje:</a:t>
            </a:r>
            <a:r>
              <a:rPr b="0" i="0" lang="en-US" sz="2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Es un conjunto de cadenas o palabras definido en un alfabeto Σ. Ejemplos:</a:t>
            </a:r>
            <a:endParaRPr/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Si Σ = {0,1} podríamos definir los lenguajes “conjunto de cadenas en Σ que terminan en 0” algunos de las palabras del lenguaje serían: </a:t>
            </a:r>
            <a:r>
              <a:rPr b="1" i="0" lang="en-US" sz="2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0, 10, 00, 010, 100, 110...</a:t>
            </a:r>
            <a:endParaRPr b="0" i="0" sz="25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Autómata:</a:t>
            </a:r>
            <a:r>
              <a:rPr b="0" i="0" lang="en-US" sz="2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Es una máquina matemática M formada por 5 elementos M = (Σ, Q, s, F, δ) donde Σ es un alfabeto de entrada, Q es un conjunto finito de estados, s es el estado inicial, F es un conjunto de estados finales o de</a:t>
            </a:r>
            <a:endParaRPr/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aceptación y δ (delta) es una relación de transición. Ejemplo: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2"/>
          <p:cNvSpPr txBox="1"/>
          <p:nvPr/>
        </p:nvSpPr>
        <p:spPr>
          <a:xfrm>
            <a:off x="1374889" y="654364"/>
            <a:ext cx="13991100" cy="1060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REPASO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44" name="Google Shape;14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9413" y="7039317"/>
            <a:ext cx="9789173" cy="3039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 txBox="1"/>
          <p:nvPr/>
        </p:nvSpPr>
        <p:spPr>
          <a:xfrm>
            <a:off x="1374889" y="654364"/>
            <a:ext cx="13991100" cy="1060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CONVERSIÓN DE AFN A AFD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50" name="Google Shape;15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8472" y="2147775"/>
            <a:ext cx="10371056" cy="7484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/>
        </p:nvSpPr>
        <p:spPr>
          <a:xfrm>
            <a:off x="1374889" y="654364"/>
            <a:ext cx="13991100" cy="1060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CONVERSIÓN DE AFN A AFD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56" name="Google Shape;15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90434" y="2040891"/>
            <a:ext cx="10507131" cy="7591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/>
        </p:nvSpPr>
        <p:spPr>
          <a:xfrm>
            <a:off x="1374889" y="654364"/>
            <a:ext cx="13991100" cy="1060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CONVERSIÓN DE AFN A AFD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62" name="Google Shape;1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8026" y="2027602"/>
            <a:ext cx="10171947" cy="7281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/>
        </p:nvSpPr>
        <p:spPr>
          <a:xfrm>
            <a:off x="1374889" y="654364"/>
            <a:ext cx="13991100" cy="1060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CONVERSIÓN DE AFN A AFD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68" name="Google Shape;168;p25"/>
          <p:cNvPicPr preferRelativeResize="0"/>
          <p:nvPr/>
        </p:nvPicPr>
        <p:blipFill rotWithShape="1">
          <a:blip r:embed="rId3">
            <a:alphaModFix/>
          </a:blip>
          <a:srcRect b="0" l="0" r="0" t="1000"/>
          <a:stretch/>
        </p:blipFill>
        <p:spPr>
          <a:xfrm>
            <a:off x="3962096" y="2189747"/>
            <a:ext cx="10363808" cy="7442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/>
        </p:nvSpPr>
        <p:spPr>
          <a:xfrm>
            <a:off x="1374889" y="654364"/>
            <a:ext cx="13991100" cy="1060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CONVERSIÓN DE AFN A AFD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74" name="Google Shape;17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8833" y="1714782"/>
            <a:ext cx="10389987" cy="75231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/>
        </p:nvSpPr>
        <p:spPr>
          <a:xfrm>
            <a:off x="1374889" y="654364"/>
            <a:ext cx="13991100" cy="1060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CONVERSIÓN DE AFN A AFD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80" name="Google Shape;18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3190" y="2269085"/>
            <a:ext cx="9941620" cy="6683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/>
          <p:nvPr/>
        </p:nvSpPr>
        <p:spPr>
          <a:xfrm>
            <a:off x="1374889" y="654364"/>
            <a:ext cx="13991100" cy="1060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PROCEDIMIENTO PARA AFN A AFD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86" name="Google Shape;18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0222" y="1714782"/>
            <a:ext cx="10267556" cy="7429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/>
          <p:nvPr/>
        </p:nvSpPr>
        <p:spPr>
          <a:xfrm>
            <a:off x="1374889" y="654364"/>
            <a:ext cx="13991100" cy="1060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PROCEDIMIENTO PARA AFN A AFD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92" name="Google Shape;19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5108" y="1947855"/>
            <a:ext cx="10257783" cy="7343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/>
          <p:nvPr/>
        </p:nvSpPr>
        <p:spPr>
          <a:xfrm>
            <a:off x="1374889" y="654364"/>
            <a:ext cx="13991100" cy="1060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PROCEDIMIENTO PARA AFN A AFD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98" name="Google Shape;19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8574" y="1994851"/>
            <a:ext cx="10570852" cy="7637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/>
          <p:nvPr/>
        </p:nvSpPr>
        <p:spPr>
          <a:xfrm>
            <a:off x="1374889" y="654364"/>
            <a:ext cx="13991100" cy="1060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PROCEDIMIENTO PARA AFN A AFD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04" name="Google Shape;20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6275" y="2474485"/>
            <a:ext cx="9995450" cy="7158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 txBox="1"/>
          <p:nvPr/>
        </p:nvSpPr>
        <p:spPr>
          <a:xfrm>
            <a:off x="1374889" y="654364"/>
            <a:ext cx="13991100" cy="1060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PROCEDIMIENTO PARA AFN A AFD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10" name="Google Shape;21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4674" y="2155208"/>
            <a:ext cx="12138652" cy="7020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/>
          <p:nvPr/>
        </p:nvSpPr>
        <p:spPr>
          <a:xfrm>
            <a:off x="1374889" y="654364"/>
            <a:ext cx="13991100" cy="1060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PROCEDIMIENTO PARA AFN A AFD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16" name="Google Shape;216;p33"/>
          <p:cNvPicPr preferRelativeResize="0"/>
          <p:nvPr/>
        </p:nvPicPr>
        <p:blipFill rotWithShape="1">
          <a:blip r:embed="rId3">
            <a:alphaModFix/>
          </a:blip>
          <a:srcRect b="0" l="0" r="0" t="1692"/>
          <a:stretch/>
        </p:blipFill>
        <p:spPr>
          <a:xfrm>
            <a:off x="2148450" y="2575165"/>
            <a:ext cx="13991100" cy="6355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2" name="Google Shape;222;p6"/>
          <p:cNvSpPr txBox="1"/>
          <p:nvPr/>
        </p:nvSpPr>
        <p:spPr>
          <a:xfrm>
            <a:off x="1335505" y="2392980"/>
            <a:ext cx="15616990" cy="7238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Para minimizar un autómata finito determinista (AFD), se pueden seguir varios métodos, entre los cuales se destacan: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Método de Minimización: </a:t>
            </a:r>
            <a:r>
              <a:rPr b="0" i="0" lang="en-US" sz="28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Consiste en encontrar todos los estados equivalentes y sustituirlos por un solo estado. Se utiliza para reducir el número de estados en un autómata determinista.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Teorema de Myhill-Nerode: </a:t>
            </a:r>
            <a:r>
              <a:rPr b="0" i="0" lang="en-US" sz="28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Proporciona un método para minimizar un AFD, asegurando que el autómata tenga un número mínimo de estados.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Partición Inicial: </a:t>
            </a:r>
            <a:r>
              <a:rPr b="0" i="0" lang="en-US" sz="28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Se divide el autómata en conjuntos de estados finales y no finales, y se estudian las transiciones para separar estados que se dirigen a conjuntos distintos.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Minimización de Estados No Alcanzables: </a:t>
            </a:r>
            <a:r>
              <a:rPr b="0" i="0" lang="en-US" sz="28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Se eliminan estados que no pueden ser alcanzados desde el estado inicial. Estos métodos son fundamentales para optimizar el diseño de autómatas en la programación y la automatización de procesos.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"/>
          <p:cNvSpPr txBox="1"/>
          <p:nvPr/>
        </p:nvSpPr>
        <p:spPr>
          <a:xfrm>
            <a:off x="2507390" y="1000125"/>
            <a:ext cx="13503300" cy="119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VALORES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8" name="Google Shape;228;p7"/>
          <p:cNvSpPr txBox="1"/>
          <p:nvPr/>
        </p:nvSpPr>
        <p:spPr>
          <a:xfrm>
            <a:off x="1340921" y="2896175"/>
            <a:ext cx="6911400" cy="180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Precisión: Aplica con exactitud los pasos para minimizar autómatas sin perder el lenguaje reconocido.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 txBox="1"/>
          <p:nvPr/>
        </p:nvSpPr>
        <p:spPr>
          <a:xfrm>
            <a:off x="10247779" y="2896175"/>
            <a:ext cx="6699300" cy="14772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Lógica estructurada: Aborda la minimización usando razonamiento paso a paso y organizado.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7"/>
          <p:cNvSpPr txBox="1"/>
          <p:nvPr/>
        </p:nvSpPr>
        <p:spPr>
          <a:xfrm>
            <a:off x="1340921" y="6425442"/>
            <a:ext cx="6911400" cy="180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Responsabilidad: Cumple con los ejercicios de minimización mostrando comprensión y esfuerzo.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7"/>
          <p:cNvSpPr txBox="1"/>
          <p:nvPr/>
        </p:nvSpPr>
        <p:spPr>
          <a:xfrm>
            <a:off x="10247779" y="6425442"/>
            <a:ext cx="6911400" cy="1206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Disciplina: Mantiene constancia en el análisis y revisión de estados equivalentes.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7" name="Google Shape;237;p8"/>
          <p:cNvSpPr txBox="1"/>
          <p:nvPr/>
        </p:nvSpPr>
        <p:spPr>
          <a:xfrm>
            <a:off x="4211054" y="4280604"/>
            <a:ext cx="11502188" cy="3619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(S/f). Unizar.es. Recuperado el 29 de mayo de 2025, de </a:t>
            </a:r>
            <a:r>
              <a:rPr b="0" i="0" lang="en-US" sz="2800" u="sng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https://webdiis.unizar.es/asignaturas/TC/wp/wp-content/uploads/2012/09/121008MinimAFDs.pdf</a:t>
            </a:r>
            <a:endParaRPr b="0" i="0" sz="28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Aho, A., Lam, M., Sethi, R. &amp; Ullman, J. (2007). Compilers: Principles, Techniques &amp; Tools (2nd ed.). Pearson.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"/>
          <p:cNvSpPr txBox="1"/>
          <p:nvPr/>
        </p:nvSpPr>
        <p:spPr>
          <a:xfrm>
            <a:off x="3946358" y="3389104"/>
            <a:ext cx="9150337" cy="1952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43" name="Google Shape;243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