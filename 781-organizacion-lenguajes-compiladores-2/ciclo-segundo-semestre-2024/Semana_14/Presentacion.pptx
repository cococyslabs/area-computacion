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7054850"/>
  <p:notesSz cx="11430000" cy="7054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3129" y="1797050"/>
            <a:ext cx="960374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3F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5850" y="2619374"/>
            <a:ext cx="5924550" cy="1990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157922"/>
            <a:ext cx="5126355" cy="221170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130"/>
              </a:spcBef>
            </a:pPr>
            <a:r>
              <a:rPr dirty="0" sz="4650" spc="540"/>
              <a:t>Optimización</a:t>
            </a:r>
            <a:r>
              <a:rPr dirty="0" sz="4650" spc="250"/>
              <a:t> </a:t>
            </a:r>
            <a:r>
              <a:rPr dirty="0" sz="4650" spc="480"/>
              <a:t>de </a:t>
            </a:r>
            <a:r>
              <a:rPr dirty="0" sz="4650" spc="-1005"/>
              <a:t> </a:t>
            </a:r>
            <a:r>
              <a:rPr dirty="0" sz="4650" spc="595"/>
              <a:t>Código</a:t>
            </a:r>
            <a:r>
              <a:rPr dirty="0" sz="4650" spc="300"/>
              <a:t> </a:t>
            </a:r>
            <a:r>
              <a:rPr dirty="0" sz="4650" spc="500"/>
              <a:t>en</a:t>
            </a:r>
            <a:r>
              <a:rPr dirty="0" sz="4650" spc="300"/>
              <a:t> </a:t>
            </a:r>
            <a:r>
              <a:rPr dirty="0" sz="4650" spc="580"/>
              <a:t>un</a:t>
            </a:r>
            <a:endParaRPr sz="4650"/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650" spc="565"/>
              <a:t>Compilador</a:t>
            </a:r>
            <a:endParaRPr sz="4650"/>
          </a:p>
        </p:txBody>
      </p:sp>
      <p:sp>
        <p:nvSpPr>
          <p:cNvPr id="6" name="object 6"/>
          <p:cNvSpPr txBox="1"/>
          <p:nvPr/>
        </p:nvSpPr>
        <p:spPr>
          <a:xfrm>
            <a:off x="587375" y="3602990"/>
            <a:ext cx="5932170" cy="1634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La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optimización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es crucial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para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mejorar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rendimiento de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los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programas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compilados.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ahoma"/>
                <a:cs typeface="Tahoma"/>
              </a:rPr>
              <a:t>Este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proceso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transforma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alto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nivel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en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instrucciones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máquina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más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eficientes,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reduciendo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uso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recursos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acelerando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la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ejecución.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ahoma"/>
              <a:cs typeface="Tahoma"/>
            </a:endParaRPr>
          </a:p>
          <a:p>
            <a:pPr marL="372110">
              <a:lnSpc>
                <a:spcPct val="100000"/>
              </a:lnSpc>
            </a:pPr>
            <a:r>
              <a:rPr dirty="0" sz="1650" spc="35" b="1">
                <a:solidFill>
                  <a:srgbClr val="494959"/>
                </a:solidFill>
                <a:latin typeface="Tahoma"/>
                <a:cs typeface="Tahoma"/>
              </a:rPr>
              <a:t>por</a:t>
            </a:r>
            <a:r>
              <a:rPr dirty="0" sz="1650" spc="-65" b="1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650" spc="25" b="1">
                <a:solidFill>
                  <a:srgbClr val="494959"/>
                </a:solidFill>
                <a:latin typeface="Tahoma"/>
                <a:cs typeface="Tahoma"/>
              </a:rPr>
              <a:t>Henry</a:t>
            </a:r>
            <a:r>
              <a:rPr dirty="0" sz="1650" spc="-70" b="1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650" spc="30" b="1">
                <a:solidFill>
                  <a:srgbClr val="494959"/>
                </a:solidFill>
                <a:latin typeface="Tahoma"/>
                <a:cs typeface="Tahoma"/>
              </a:rPr>
              <a:t>Mendoza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4962525"/>
            <a:ext cx="276225" cy="2762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835025"/>
            <a:ext cx="543941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85"/>
              <a:t>Fundamentos </a:t>
            </a:r>
            <a:r>
              <a:rPr dirty="0" spc="355"/>
              <a:t>de </a:t>
            </a:r>
            <a:r>
              <a:rPr dirty="0" spc="210"/>
              <a:t>la </a:t>
            </a:r>
            <a:r>
              <a:rPr dirty="0" spc="215"/>
              <a:t> </a:t>
            </a:r>
            <a:r>
              <a:rPr dirty="0" spc="405"/>
              <a:t>Optimización</a:t>
            </a:r>
            <a:r>
              <a:rPr dirty="0" spc="204"/>
              <a:t> </a:t>
            </a:r>
            <a:r>
              <a:rPr dirty="0" spc="355"/>
              <a:t>de</a:t>
            </a:r>
            <a:r>
              <a:rPr dirty="0" spc="204"/>
              <a:t> </a:t>
            </a:r>
            <a:r>
              <a:rPr dirty="0" spc="440"/>
              <a:t>Código</a:t>
            </a:r>
          </a:p>
        </p:txBody>
      </p:sp>
      <p:sp>
        <p:nvSpPr>
          <p:cNvPr id="6" name="object 6"/>
          <p:cNvSpPr/>
          <p:nvPr/>
        </p:nvSpPr>
        <p:spPr>
          <a:xfrm>
            <a:off x="600075" y="237172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6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2809" y="2387600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7" y="2354262"/>
            <a:ext cx="526796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0">
                <a:solidFill>
                  <a:srgbClr val="494959"/>
                </a:solidFill>
                <a:latin typeface="Cambria"/>
                <a:cs typeface="Cambria"/>
              </a:rPr>
              <a:t>Definición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Proceso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mejora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del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intermedio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494959"/>
                </a:solidFill>
                <a:latin typeface="Tahoma"/>
                <a:cs typeface="Tahoma"/>
              </a:rPr>
              <a:t>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máquina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generado </a:t>
            </a:r>
            <a:r>
              <a:rPr dirty="0" sz="1350" spc="-409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ahoma"/>
                <a:cs typeface="Tahoma"/>
              </a:rPr>
              <a:t>por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ahoma"/>
                <a:cs typeface="Tahoma"/>
              </a:rPr>
              <a:t>un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compilador.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075" y="365760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6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00930" y="3673475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587" y="3640137"/>
            <a:ext cx="540131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Objetivos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Reducir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tiempo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ejecución,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uso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ahoma"/>
                <a:cs typeface="Tahoma"/>
              </a:rPr>
              <a:t>memoria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consumo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energía.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5" y="4943475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59570"/>
                </a:lnTo>
                <a:lnTo>
                  <a:pt x="0" y="362407"/>
                </a:lnTo>
                <a:lnTo>
                  <a:pt x="18588" y="381001"/>
                </a:lnTo>
                <a:lnTo>
                  <a:pt x="371936" y="381001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0930" y="4959351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7" y="4926013"/>
            <a:ext cx="472884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>
                <a:solidFill>
                  <a:srgbClr val="494959"/>
                </a:solidFill>
                <a:latin typeface="Cambria"/>
                <a:cs typeface="Cambria"/>
              </a:rPr>
              <a:t>Niveles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Optimizaciones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a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nivel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máquina,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bucle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procedimiento.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434975"/>
            <a:ext cx="508825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370"/>
              <a:t>Eliminación</a:t>
            </a:r>
            <a:r>
              <a:rPr dirty="0" spc="215"/>
              <a:t> </a:t>
            </a:r>
            <a:r>
              <a:rPr dirty="0" spc="355"/>
              <a:t>de</a:t>
            </a:r>
            <a:r>
              <a:rPr dirty="0" spc="220"/>
              <a:t> </a:t>
            </a:r>
            <a:r>
              <a:rPr dirty="0" spc="440"/>
              <a:t>Código </a:t>
            </a:r>
            <a:r>
              <a:rPr dirty="0" spc="-720"/>
              <a:t> </a:t>
            </a:r>
            <a:r>
              <a:rPr dirty="0" spc="395"/>
              <a:t>Muerto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50625" y="1819274"/>
            <a:ext cx="971550" cy="4133850"/>
            <a:chOff x="4950625" y="1819274"/>
            <a:chExt cx="971550" cy="4133850"/>
          </a:xfrm>
        </p:grpSpPr>
        <p:sp>
          <p:nvSpPr>
            <p:cNvPr id="5" name="object 5"/>
            <p:cNvSpPr/>
            <p:nvPr/>
          </p:nvSpPr>
          <p:spPr>
            <a:xfrm>
              <a:off x="5133975" y="1819274"/>
              <a:ext cx="788670" cy="4134485"/>
            </a:xfrm>
            <a:custGeom>
              <a:avLst/>
              <a:gdLst/>
              <a:ahLst/>
              <a:cxnLst/>
              <a:rect l="l" t="t" r="r" b="b"/>
              <a:pathLst>
                <a:path w="788670" h="41344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24337"/>
                  </a:lnTo>
                  <a:lnTo>
                    <a:pt x="0" y="4126966"/>
                  </a:lnTo>
                  <a:lnTo>
                    <a:pt x="927" y="4129201"/>
                  </a:lnTo>
                  <a:lnTo>
                    <a:pt x="4648" y="4132923"/>
                  </a:lnTo>
                  <a:lnTo>
                    <a:pt x="6896" y="4133862"/>
                  </a:lnTo>
                  <a:lnTo>
                    <a:pt x="12153" y="4133862"/>
                  </a:lnTo>
                  <a:lnTo>
                    <a:pt x="14401" y="4132923"/>
                  </a:lnTo>
                  <a:lnTo>
                    <a:pt x="18122" y="4129201"/>
                  </a:lnTo>
                  <a:lnTo>
                    <a:pt x="19050" y="4126966"/>
                  </a:lnTo>
                  <a:lnTo>
                    <a:pt x="19050" y="6896"/>
                  </a:lnTo>
                  <a:close/>
                </a:path>
                <a:path w="788670" h="4134485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73" y="372402"/>
                  </a:lnTo>
                  <a:lnTo>
                    <a:pt x="189039" y="376123"/>
                  </a:lnTo>
                  <a:lnTo>
                    <a:pt x="188125" y="378371"/>
                  </a:lnTo>
                  <a:lnTo>
                    <a:pt x="188125" y="381000"/>
                  </a:lnTo>
                  <a:lnTo>
                    <a:pt x="188125" y="383628"/>
                  </a:lnTo>
                  <a:lnTo>
                    <a:pt x="189039" y="385876"/>
                  </a:lnTo>
                  <a:lnTo>
                    <a:pt x="192773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50625" y="200977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073357" y="2025650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3780" y="1973262"/>
            <a:ext cx="428244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94959"/>
                </a:solidFill>
                <a:latin typeface="Cambria"/>
                <a:cs typeface="Cambria"/>
              </a:rPr>
              <a:t>Identificación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10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compilador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analiza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flujo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control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para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detectar </a:t>
            </a:r>
            <a:r>
              <a:rPr dirty="0" sz="1350" spc="-409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inalcanzable.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50625" y="3448050"/>
            <a:ext cx="971550" cy="381000"/>
            <a:chOff x="4950625" y="3448050"/>
            <a:chExt cx="971550" cy="381000"/>
          </a:xfrm>
        </p:grpSpPr>
        <p:sp>
          <p:nvSpPr>
            <p:cNvPr id="10" name="object 10"/>
            <p:cNvSpPr/>
            <p:nvPr/>
          </p:nvSpPr>
          <p:spPr>
            <a:xfrm>
              <a:off x="5322100" y="362902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50625" y="3448050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51475" y="3454400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3776" y="3402012"/>
            <a:ext cx="464820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494959"/>
                </a:solidFill>
                <a:latin typeface="Cambria"/>
                <a:cs typeface="Cambria"/>
              </a:rPr>
              <a:t>Análisis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15">
                <a:solidFill>
                  <a:srgbClr val="494959"/>
                </a:solidFill>
                <a:latin typeface="Tahoma"/>
                <a:cs typeface="Tahoma"/>
              </a:rPr>
              <a:t>Se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evalúan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las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variables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94959"/>
                </a:solidFill>
                <a:latin typeface="Tahoma"/>
                <a:cs typeface="Tahoma"/>
              </a:rPr>
              <a:t>no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utilizadas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las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expresiones</a:t>
            </a:r>
            <a:r>
              <a:rPr dirty="0" sz="13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sin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ahoma"/>
                <a:cs typeface="Tahoma"/>
              </a:rPr>
              <a:t>efecto.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50625" y="4876800"/>
            <a:ext cx="971550" cy="390525"/>
            <a:chOff x="4950625" y="4876800"/>
            <a:chExt cx="971550" cy="390525"/>
          </a:xfrm>
        </p:grpSpPr>
        <p:sp>
          <p:nvSpPr>
            <p:cNvPr id="15" name="object 15"/>
            <p:cNvSpPr/>
            <p:nvPr/>
          </p:nvSpPr>
          <p:spPr>
            <a:xfrm>
              <a:off x="5322100" y="5067300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D0CE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950625" y="48768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095"/>
                  </a:lnTo>
                  <a:lnTo>
                    <a:pt x="0" y="371937"/>
                  </a:lnTo>
                  <a:lnTo>
                    <a:pt x="18580" y="390526"/>
                  </a:lnTo>
                  <a:lnTo>
                    <a:pt x="371932" y="390526"/>
                  </a:lnTo>
                  <a:lnTo>
                    <a:pt x="390525" y="37193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EAE8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051475" y="4892675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3776" y="4840287"/>
            <a:ext cx="476631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>
                <a:solidFill>
                  <a:srgbClr val="494959"/>
                </a:solidFill>
                <a:latin typeface="Cambria"/>
                <a:cs typeface="Cambria"/>
              </a:rPr>
              <a:t>Eliminación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15">
                <a:solidFill>
                  <a:srgbClr val="494959"/>
                </a:solidFill>
                <a:latin typeface="Tahoma"/>
                <a:cs typeface="Tahoma"/>
              </a:rPr>
              <a:t>Se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remueve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innecesario,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mejorando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la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eficiencia</a:t>
            </a:r>
            <a:r>
              <a:rPr dirty="0" sz="13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legibilidad.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2006600"/>
            <a:ext cx="59664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35"/>
              <a:t>Propagación</a:t>
            </a:r>
            <a:r>
              <a:rPr dirty="0" spc="215"/>
              <a:t> </a:t>
            </a:r>
            <a:r>
              <a:rPr dirty="0" spc="355"/>
              <a:t>de</a:t>
            </a:r>
            <a:r>
              <a:rPr dirty="0" spc="215"/>
              <a:t> </a:t>
            </a:r>
            <a:r>
              <a:rPr dirty="0" spc="315"/>
              <a:t>Constantes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572" y="2973387"/>
            <a:ext cx="2618740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0">
                <a:solidFill>
                  <a:srgbClr val="3F3CCF"/>
                </a:solidFill>
                <a:latin typeface="Cambria"/>
                <a:cs typeface="Cambria"/>
              </a:rPr>
              <a:t>Concepto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Reemplazar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variables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con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sus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valores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constantes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conocidos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en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tiempo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compilación.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9920" y="2973387"/>
            <a:ext cx="2864485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3F3CCF"/>
                </a:solidFill>
                <a:latin typeface="Cambria"/>
                <a:cs typeface="Cambria"/>
              </a:rPr>
              <a:t>Proceso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25">
                <a:solidFill>
                  <a:srgbClr val="494959"/>
                </a:solidFill>
                <a:latin typeface="Tahoma"/>
                <a:cs typeface="Tahoma"/>
              </a:rPr>
              <a:t>Identificar</a:t>
            </a:r>
            <a:r>
              <a:rPr dirty="0" sz="13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asignaciones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constantes,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propagar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valores,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simplificar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 expresiones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resultantes.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0271" y="2973387"/>
            <a:ext cx="2414905" cy="1255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3F3CCF"/>
                </a:solidFill>
                <a:latin typeface="Cambria"/>
                <a:cs typeface="Cambria"/>
              </a:rPr>
              <a:t>Beneficios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Reduce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cálculos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en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tiempo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-409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ejecución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</a:t>
            </a:r>
            <a:r>
              <a:rPr dirty="0" sz="13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optimiza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uso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-409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registros.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739775"/>
            <a:ext cx="52679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05"/>
              <a:t>Optimización</a:t>
            </a:r>
            <a:r>
              <a:rPr dirty="0" spc="200"/>
              <a:t> </a:t>
            </a:r>
            <a:r>
              <a:rPr dirty="0" spc="355"/>
              <a:t>de</a:t>
            </a:r>
            <a:r>
              <a:rPr dirty="0" spc="200"/>
              <a:t> </a:t>
            </a:r>
            <a:r>
              <a:rPr dirty="0" spc="305"/>
              <a:t>Bucles</a:t>
            </a:r>
          </a:p>
        </p:txBody>
      </p:sp>
      <p:sp>
        <p:nvSpPr>
          <p:cNvPr id="6" name="object 6"/>
          <p:cNvSpPr/>
          <p:nvPr/>
        </p:nvSpPr>
        <p:spPr>
          <a:xfrm>
            <a:off x="600075" y="1562099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58552" y="2063750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4">
                <a:solidFill>
                  <a:srgbClr val="49495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800" y="1716087"/>
            <a:ext cx="482282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Desenrollado</a:t>
            </a:r>
            <a:r>
              <a:rPr dirty="0" sz="1650" spc="10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0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94959"/>
                </a:solidFill>
                <a:latin typeface="Cambria"/>
                <a:cs typeface="Cambria"/>
              </a:rPr>
              <a:t>Bucles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Replica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el</a:t>
            </a:r>
            <a:r>
              <a:rPr dirty="0" sz="1350" spc="-7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cuerpo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del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bucle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Lucida Sans Unicode"/>
                <a:cs typeface="Lucida Sans Unicode"/>
              </a:rPr>
              <a:t>para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reducir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las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comprobaciones </a:t>
            </a:r>
            <a:r>
              <a:rPr dirty="0" sz="1350" spc="-409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8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condición.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075" y="2933699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36674" y="3435350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3087687"/>
            <a:ext cx="464693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94959"/>
                </a:solidFill>
                <a:latin typeface="Cambria"/>
                <a:cs typeface="Cambria"/>
              </a:rPr>
              <a:t>Fusión</a:t>
            </a:r>
            <a:r>
              <a:rPr dirty="0" sz="1650" spc="9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0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65">
                <a:solidFill>
                  <a:srgbClr val="494959"/>
                </a:solidFill>
                <a:latin typeface="Cambria"/>
                <a:cs typeface="Cambria"/>
              </a:rPr>
              <a:t>Bucles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Combina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bucles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adyacentes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Lucida Sans Unicode"/>
                <a:cs typeface="Lucida Sans Unicode"/>
              </a:rPr>
              <a:t>para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Lucida Sans Unicode"/>
                <a:cs typeface="Lucida Sans Unicode"/>
              </a:rPr>
              <a:t>reducir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la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sobrecarga</a:t>
            </a:r>
            <a:r>
              <a:rPr dirty="0" sz="1350" spc="-7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494959"/>
                </a:solidFill>
                <a:latin typeface="Lucida Sans Unicode"/>
                <a:cs typeface="Lucida Sans Unicode"/>
              </a:rPr>
              <a:t>de </a:t>
            </a:r>
            <a:r>
              <a:rPr dirty="0" sz="1350" spc="-41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control.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075" y="4305300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1"/>
                </a:lnTo>
                <a:lnTo>
                  <a:pt x="428625" y="1371601"/>
                </a:lnTo>
                <a:lnTo>
                  <a:pt x="857250" y="1200151"/>
                </a:lnTo>
                <a:lnTo>
                  <a:pt x="857250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36674" y="4806950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40">
                <a:solidFill>
                  <a:srgbClr val="49495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1800" y="4459287"/>
            <a:ext cx="430149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94959"/>
                </a:solidFill>
                <a:latin typeface="Cambria"/>
                <a:cs typeface="Cambria"/>
              </a:rPr>
              <a:t>Invariante</a:t>
            </a:r>
            <a:r>
              <a:rPr dirty="0" sz="1650" spc="10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0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94959"/>
                </a:solidFill>
                <a:latin typeface="Cambria"/>
                <a:cs typeface="Cambria"/>
              </a:rPr>
              <a:t>Bucle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>
                <a:solidFill>
                  <a:srgbClr val="494959"/>
                </a:solidFill>
                <a:latin typeface="Lucida Sans Unicode"/>
                <a:cs typeface="Lucida Sans Unicode"/>
              </a:rPr>
              <a:t>Mueve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494959"/>
                </a:solidFill>
                <a:latin typeface="Lucida Sans Unicode"/>
                <a:cs typeface="Lucida Sans Unicode"/>
              </a:rPr>
              <a:t>cálculos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constantes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Lucida Sans Unicode"/>
                <a:cs typeface="Lucida Sans Unicode"/>
              </a:rPr>
              <a:t>fuera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del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bucle</a:t>
            </a:r>
            <a:r>
              <a:rPr dirty="0" sz="1350" spc="-80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Lucida Sans Unicode"/>
                <a:cs typeface="Lucida Sans Unicode"/>
              </a:rPr>
              <a:t>para</a:t>
            </a:r>
            <a:r>
              <a:rPr dirty="0" sz="1350" spc="-7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">
                <a:solidFill>
                  <a:srgbClr val="494959"/>
                </a:solidFill>
                <a:latin typeface="Lucida Sans Unicode"/>
                <a:cs typeface="Lucida Sans Unicode"/>
              </a:rPr>
              <a:t>evitar </a:t>
            </a:r>
            <a:r>
              <a:rPr dirty="0" sz="1350" spc="-41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494959"/>
                </a:solidFill>
                <a:latin typeface="Lucida Sans Unicode"/>
                <a:cs typeface="Lucida Sans Unicode"/>
              </a:rPr>
              <a:t>repeticiones</a:t>
            </a:r>
            <a:r>
              <a:rPr dirty="0" sz="1350" spc="-8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494959"/>
                </a:solidFill>
                <a:latin typeface="Lucida Sans Unicode"/>
                <a:cs typeface="Lucida Sans Unicode"/>
              </a:rPr>
              <a:t>innecesarias.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973195">
              <a:lnSpc>
                <a:spcPct val="100000"/>
              </a:lnSpc>
              <a:spcBef>
                <a:spcPts val="125"/>
              </a:spcBef>
            </a:pPr>
            <a:r>
              <a:rPr dirty="0" spc="360"/>
              <a:t>Simplificación</a:t>
            </a:r>
            <a:r>
              <a:rPr dirty="0" spc="25"/>
              <a:t> </a:t>
            </a:r>
            <a:r>
              <a:rPr dirty="0" spc="295"/>
              <a:t>Algebraica</a:t>
            </a:r>
          </a:p>
        </p:txBody>
      </p:sp>
      <p:sp>
        <p:nvSpPr>
          <p:cNvPr id="4" name="object 4"/>
          <p:cNvSpPr/>
          <p:nvPr/>
        </p:nvSpPr>
        <p:spPr>
          <a:xfrm>
            <a:off x="4891087" y="2614612"/>
            <a:ext cx="5934075" cy="2000250"/>
          </a:xfrm>
          <a:custGeom>
            <a:avLst/>
            <a:gdLst/>
            <a:ahLst/>
            <a:cxnLst/>
            <a:rect l="l" t="t" r="r" b="b"/>
            <a:pathLst>
              <a:path w="5934075" h="2000250">
                <a:moveTo>
                  <a:pt x="0" y="1983587"/>
                </a:moveTo>
                <a:lnTo>
                  <a:pt x="0" y="16675"/>
                </a:lnTo>
                <a:lnTo>
                  <a:pt x="0" y="14452"/>
                </a:lnTo>
                <a:lnTo>
                  <a:pt x="419" y="12331"/>
                </a:lnTo>
                <a:lnTo>
                  <a:pt x="1270" y="10287"/>
                </a:lnTo>
                <a:lnTo>
                  <a:pt x="2108" y="8242"/>
                </a:lnTo>
                <a:lnTo>
                  <a:pt x="3314" y="6438"/>
                </a:lnTo>
                <a:lnTo>
                  <a:pt x="4876" y="4876"/>
                </a:lnTo>
                <a:lnTo>
                  <a:pt x="6438" y="3314"/>
                </a:lnTo>
                <a:lnTo>
                  <a:pt x="8242" y="2108"/>
                </a:lnTo>
                <a:lnTo>
                  <a:pt x="10287" y="1270"/>
                </a:lnTo>
                <a:lnTo>
                  <a:pt x="12331" y="419"/>
                </a:lnTo>
                <a:lnTo>
                  <a:pt x="14452" y="0"/>
                </a:lnTo>
                <a:lnTo>
                  <a:pt x="16675" y="0"/>
                </a:lnTo>
                <a:lnTo>
                  <a:pt x="5917412" y="0"/>
                </a:lnTo>
                <a:lnTo>
                  <a:pt x="5919622" y="0"/>
                </a:lnTo>
                <a:lnTo>
                  <a:pt x="5921743" y="419"/>
                </a:lnTo>
                <a:lnTo>
                  <a:pt x="5923788" y="1270"/>
                </a:lnTo>
                <a:lnTo>
                  <a:pt x="5925820" y="2108"/>
                </a:lnTo>
                <a:lnTo>
                  <a:pt x="5927623" y="3314"/>
                </a:lnTo>
                <a:lnTo>
                  <a:pt x="5934075" y="14452"/>
                </a:lnTo>
                <a:lnTo>
                  <a:pt x="5934075" y="16675"/>
                </a:lnTo>
                <a:lnTo>
                  <a:pt x="5934075" y="1983587"/>
                </a:lnTo>
                <a:lnTo>
                  <a:pt x="5934075" y="1985784"/>
                </a:lnTo>
                <a:lnTo>
                  <a:pt x="5933643" y="1987918"/>
                </a:lnTo>
                <a:lnTo>
                  <a:pt x="5919622" y="2000250"/>
                </a:lnTo>
                <a:lnTo>
                  <a:pt x="5917412" y="2000250"/>
                </a:lnTo>
                <a:lnTo>
                  <a:pt x="16675" y="2000250"/>
                </a:lnTo>
                <a:lnTo>
                  <a:pt x="14452" y="2000250"/>
                </a:lnTo>
                <a:lnTo>
                  <a:pt x="12331" y="1999818"/>
                </a:lnTo>
                <a:lnTo>
                  <a:pt x="1270" y="1989963"/>
                </a:lnTo>
                <a:lnTo>
                  <a:pt x="419" y="1987918"/>
                </a:lnTo>
                <a:lnTo>
                  <a:pt x="0" y="1985784"/>
                </a:lnTo>
                <a:lnTo>
                  <a:pt x="0" y="19835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95850" y="2619374"/>
          <a:ext cx="5924550" cy="1990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720"/>
                <a:gridCol w="2957195"/>
              </a:tblGrid>
              <a:tr h="495300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4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Expresión</a:t>
                      </a:r>
                      <a:r>
                        <a:rPr dirty="0" sz="1350" spc="-9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2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Original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FBFA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4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Expresión</a:t>
                      </a:r>
                      <a:r>
                        <a:rPr dirty="0" sz="1350" spc="-9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1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Simplificada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FBFA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3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24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FBFAFF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FBFAFF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3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FBFA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FBFA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3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24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FBFAFF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350" spc="3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x</a:t>
                      </a:r>
                      <a:r>
                        <a:rPr dirty="0" sz="1350" spc="-9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&lt;&lt;</a:t>
                      </a:r>
                      <a:r>
                        <a:rPr dirty="0" sz="1350" spc="-85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50" spc="60">
                          <a:solidFill>
                            <a:srgbClr val="494959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FBFAFF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48500"/>
          </a:xfrm>
          <a:custGeom>
            <a:avLst/>
            <a:gdLst/>
            <a:ahLst/>
            <a:cxnLst/>
            <a:rect l="l" t="t" r="r" b="b"/>
            <a:pathLst>
              <a:path w="11430000" h="7048500">
                <a:moveTo>
                  <a:pt x="11430000" y="0"/>
                </a:moveTo>
                <a:lnTo>
                  <a:pt x="0" y="0"/>
                </a:lnTo>
                <a:lnTo>
                  <a:pt x="0" y="7048500"/>
                </a:lnTo>
                <a:lnTo>
                  <a:pt x="11430000" y="7048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A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7048500"/>
            <a:chOff x="7143750" y="253"/>
            <a:chExt cx="4286250" cy="7048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70482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535674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13524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405"/>
              <a:t>Optimización</a:t>
            </a:r>
            <a:r>
              <a:rPr dirty="0" spc="195"/>
              <a:t> </a:t>
            </a:r>
            <a:r>
              <a:rPr dirty="0" spc="355"/>
              <a:t>de</a:t>
            </a:r>
            <a:r>
              <a:rPr dirty="0" spc="200"/>
              <a:t> </a:t>
            </a:r>
            <a:r>
              <a:rPr dirty="0" spc="265"/>
              <a:t>Saltos </a:t>
            </a:r>
            <a:r>
              <a:rPr dirty="0" spc="-725"/>
              <a:t> </a:t>
            </a:r>
            <a:r>
              <a:rPr dirty="0" spc="350"/>
              <a:t>Condicionales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1863331"/>
            <a:ext cx="429879" cy="3214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7375" y="2392362"/>
            <a:ext cx="487997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94959"/>
                </a:solidFill>
                <a:latin typeface="Cambria"/>
                <a:cs typeface="Cambria"/>
              </a:rPr>
              <a:t>Fusión</a:t>
            </a:r>
            <a:r>
              <a:rPr dirty="0" sz="1650" spc="10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1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Bloques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60">
                <a:solidFill>
                  <a:srgbClr val="494959"/>
                </a:solidFill>
                <a:latin typeface="Trebuchet MS"/>
                <a:cs typeface="Trebuchet MS"/>
              </a:rPr>
              <a:t>Combina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rebuchet MS"/>
                <a:cs typeface="Trebuchet MS"/>
              </a:rPr>
              <a:t>bloques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código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reducir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saltos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innecesarios.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864" y="3615931"/>
            <a:ext cx="375046" cy="29467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7375" y="4144962"/>
            <a:ext cx="5495925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0">
                <a:solidFill>
                  <a:srgbClr val="494959"/>
                </a:solidFill>
                <a:latin typeface="Cambria"/>
                <a:cs typeface="Cambria"/>
              </a:rPr>
              <a:t>Reordenamiento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Reorganiza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las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instrucciones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</a:t>
            </a:r>
            <a:r>
              <a:rPr dirty="0" sz="1350" spc="-6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rebuchet MS"/>
                <a:cs typeface="Trebuchet MS"/>
              </a:rPr>
              <a:t>minimizar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los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saltos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5">
                <a:solidFill>
                  <a:srgbClr val="494959"/>
                </a:solidFill>
                <a:latin typeface="Trebuchet MS"/>
                <a:cs typeface="Trebuchet MS"/>
              </a:rPr>
              <a:t>condicionales.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2124" y="5327700"/>
            <a:ext cx="423352" cy="4233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7375" y="5907088"/>
            <a:ext cx="5660390" cy="636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94959"/>
                </a:solidFill>
                <a:latin typeface="Cambria"/>
                <a:cs typeface="Cambria"/>
              </a:rPr>
              <a:t>Predicción</a:t>
            </a:r>
            <a:r>
              <a:rPr dirty="0" sz="1650" spc="10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90">
                <a:solidFill>
                  <a:srgbClr val="494959"/>
                </a:solidFill>
                <a:latin typeface="Cambria"/>
                <a:cs typeface="Cambria"/>
              </a:rPr>
              <a:t>de</a:t>
            </a:r>
            <a:r>
              <a:rPr dirty="0" sz="1650" spc="10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1650" spc="140">
                <a:solidFill>
                  <a:srgbClr val="494959"/>
                </a:solidFill>
                <a:latin typeface="Cambria"/>
                <a:cs typeface="Cambria"/>
              </a:rPr>
              <a:t>Saltos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350" spc="-10">
                <a:solidFill>
                  <a:srgbClr val="494959"/>
                </a:solidFill>
                <a:latin typeface="Trebuchet MS"/>
                <a:cs typeface="Trebuchet MS"/>
              </a:rPr>
              <a:t>Utiliza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5">
                <a:solidFill>
                  <a:srgbClr val="494959"/>
                </a:solidFill>
                <a:latin typeface="Trebuchet MS"/>
                <a:cs typeface="Trebuchet MS"/>
              </a:rPr>
              <a:t>técnicas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de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0">
                <a:solidFill>
                  <a:srgbClr val="494959"/>
                </a:solidFill>
                <a:latin typeface="Trebuchet MS"/>
                <a:cs typeface="Trebuchet MS"/>
              </a:rPr>
              <a:t>predicción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rebuchet MS"/>
                <a:cs typeface="Trebuchet MS"/>
              </a:rPr>
              <a:t>para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25">
                <a:solidFill>
                  <a:srgbClr val="494959"/>
                </a:solidFill>
                <a:latin typeface="Trebuchet MS"/>
                <a:cs typeface="Trebuchet MS"/>
              </a:rPr>
              <a:t>mejorar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494959"/>
                </a:solidFill>
                <a:latin typeface="Trebuchet MS"/>
                <a:cs typeface="Trebuchet MS"/>
              </a:rPr>
              <a:t>el</a:t>
            </a:r>
            <a:r>
              <a:rPr dirty="0" sz="1350" spc="-50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rebuchet MS"/>
                <a:cs typeface="Trebuchet MS"/>
              </a:rPr>
              <a:t>rendimiento</a:t>
            </a:r>
            <a:r>
              <a:rPr dirty="0" sz="1350" spc="-4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10">
                <a:solidFill>
                  <a:srgbClr val="494959"/>
                </a:solidFill>
                <a:latin typeface="Trebuchet MS"/>
                <a:cs typeface="Trebuchet MS"/>
              </a:rPr>
              <a:t>del</a:t>
            </a:r>
            <a:r>
              <a:rPr dirty="0" sz="1350" spc="-55">
                <a:solidFill>
                  <a:srgbClr val="494959"/>
                </a:solidFill>
                <a:latin typeface="Trebuchet MS"/>
                <a:cs typeface="Trebuchet MS"/>
              </a:rPr>
              <a:t> </a:t>
            </a:r>
            <a:r>
              <a:rPr dirty="0" sz="1350" spc="-5">
                <a:solidFill>
                  <a:srgbClr val="494959"/>
                </a:solidFill>
                <a:latin typeface="Trebuchet MS"/>
                <a:cs typeface="Trebuchet MS"/>
              </a:rPr>
              <a:t>pipeline.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9572" y="3101975"/>
            <a:ext cx="792289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350">
                <a:solidFill>
                  <a:srgbClr val="3F3CCF"/>
                </a:solidFill>
                <a:latin typeface="Cambria"/>
                <a:cs typeface="Cambria"/>
              </a:rPr>
              <a:t>Conclusiones</a:t>
            </a:r>
            <a:r>
              <a:rPr dirty="0" sz="3350" spc="125">
                <a:solidFill>
                  <a:srgbClr val="3F3CCF"/>
                </a:solidFill>
                <a:latin typeface="Cambria"/>
                <a:cs typeface="Cambria"/>
              </a:rPr>
              <a:t> </a:t>
            </a:r>
            <a:r>
              <a:rPr dirty="0" sz="3350" spc="465">
                <a:solidFill>
                  <a:srgbClr val="3F3CCF"/>
                </a:solidFill>
                <a:latin typeface="Cambria"/>
                <a:cs typeface="Cambria"/>
              </a:rPr>
              <a:t>y</a:t>
            </a:r>
            <a:r>
              <a:rPr dirty="0" sz="3350" spc="125">
                <a:solidFill>
                  <a:srgbClr val="3F3CCF"/>
                </a:solidFill>
                <a:latin typeface="Cambria"/>
                <a:cs typeface="Cambria"/>
              </a:rPr>
              <a:t> </a:t>
            </a:r>
            <a:r>
              <a:rPr dirty="0" sz="3350" spc="245">
                <a:solidFill>
                  <a:srgbClr val="3F3CCF"/>
                </a:solidFill>
                <a:latin typeface="Cambria"/>
                <a:cs typeface="Cambria"/>
              </a:rPr>
              <a:t>Perspectivas</a:t>
            </a:r>
            <a:r>
              <a:rPr dirty="0" sz="3350" spc="229">
                <a:solidFill>
                  <a:srgbClr val="3F3CCF"/>
                </a:solidFill>
                <a:latin typeface="Cambria"/>
                <a:cs typeface="Cambria"/>
              </a:rPr>
              <a:t> </a:t>
            </a:r>
            <a:r>
              <a:rPr dirty="0" sz="3350" spc="280">
                <a:solidFill>
                  <a:srgbClr val="3F3CCF"/>
                </a:solidFill>
                <a:latin typeface="Cambria"/>
                <a:cs typeface="Cambria"/>
              </a:rPr>
              <a:t>Futuras</a:t>
            </a:r>
            <a:endParaRPr sz="335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700" y="3914775"/>
            <a:ext cx="3009900" cy="1543050"/>
          </a:xfrm>
          <a:custGeom>
            <a:avLst/>
            <a:gdLst/>
            <a:ahLst/>
            <a:cxnLst/>
            <a:rect l="l" t="t" r="r" b="b"/>
            <a:pathLst>
              <a:path w="3009900" h="1543050">
                <a:moveTo>
                  <a:pt x="29913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88" y="1543051"/>
                </a:lnTo>
                <a:lnTo>
                  <a:pt x="2991307" y="1543051"/>
                </a:lnTo>
                <a:lnTo>
                  <a:pt x="3009900" y="152445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91022" y="4068762"/>
            <a:ext cx="2679065" cy="118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4">
                <a:solidFill>
                  <a:srgbClr val="494959"/>
                </a:solidFill>
                <a:latin typeface="Cambria"/>
                <a:cs typeface="Cambria"/>
              </a:rPr>
              <a:t>Impacto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La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optimización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código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es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fundamental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para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el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rendimiento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software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moderno.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0050" y="3914775"/>
            <a:ext cx="3009900" cy="1543050"/>
          </a:xfrm>
          <a:custGeom>
            <a:avLst/>
            <a:gdLst/>
            <a:ahLst/>
            <a:cxnLst/>
            <a:rect l="l" t="t" r="r" b="b"/>
            <a:pathLst>
              <a:path w="3009900" h="1543050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92" y="1543051"/>
                </a:lnTo>
                <a:lnTo>
                  <a:pt x="2991307" y="1543051"/>
                </a:lnTo>
                <a:lnTo>
                  <a:pt x="3009900" y="152445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69993" y="4068762"/>
            <a:ext cx="2668270" cy="118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94959"/>
                </a:solidFill>
                <a:latin typeface="Cambria"/>
                <a:cs typeface="Cambria"/>
              </a:rPr>
              <a:t>Desafíos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45">
                <a:solidFill>
                  <a:srgbClr val="494959"/>
                </a:solidFill>
                <a:latin typeface="Tahoma"/>
                <a:cs typeface="Tahoma"/>
              </a:rPr>
              <a:t>Equilibrar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tiempo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compilación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94959"/>
                </a:solidFill>
                <a:latin typeface="Tahoma"/>
                <a:cs typeface="Tahoma"/>
              </a:rPr>
              <a:t>y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mejoras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rendimiento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sigue </a:t>
            </a:r>
            <a:r>
              <a:rPr dirty="0" sz="1350" spc="4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94959"/>
                </a:solidFill>
                <a:latin typeface="Tahoma"/>
                <a:cs typeface="Tahoma"/>
              </a:rPr>
              <a:t>siendo</a:t>
            </a:r>
            <a:r>
              <a:rPr dirty="0" sz="13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crucial.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1400" y="3914775"/>
            <a:ext cx="3009900" cy="1543050"/>
          </a:xfrm>
          <a:custGeom>
            <a:avLst/>
            <a:gdLst/>
            <a:ahLst/>
            <a:cxnLst/>
            <a:rect l="l" t="t" r="r" b="b"/>
            <a:pathLst>
              <a:path w="3009900" h="1543050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21620"/>
                </a:lnTo>
                <a:lnTo>
                  <a:pt x="0" y="1524457"/>
                </a:lnTo>
                <a:lnTo>
                  <a:pt x="18592" y="1543051"/>
                </a:lnTo>
                <a:lnTo>
                  <a:pt x="2991307" y="1543051"/>
                </a:lnTo>
                <a:lnTo>
                  <a:pt x="3009900" y="1524457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EAE8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548956" y="4068762"/>
            <a:ext cx="2576195" cy="118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94959"/>
                </a:solidFill>
                <a:latin typeface="Cambria"/>
                <a:cs typeface="Cambria"/>
              </a:rPr>
              <a:t>Futuro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La</a:t>
            </a:r>
            <a:r>
              <a:rPr dirty="0" sz="13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inteligencia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94959"/>
                </a:solidFill>
                <a:latin typeface="Tahoma"/>
                <a:cs typeface="Tahoma"/>
              </a:rPr>
              <a:t>artificial</a:t>
            </a:r>
            <a:r>
              <a:rPr dirty="0" sz="13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promete </a:t>
            </a:r>
            <a:r>
              <a:rPr dirty="0" sz="1350" spc="-4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revolucionar </a:t>
            </a:r>
            <a:r>
              <a:rPr dirty="0" sz="1350" spc="30">
                <a:solidFill>
                  <a:srgbClr val="494959"/>
                </a:solidFill>
                <a:latin typeface="Tahoma"/>
                <a:cs typeface="Tahoma"/>
              </a:rPr>
              <a:t>las técnicas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 </a:t>
            </a:r>
            <a:r>
              <a:rPr dirty="0" sz="1350" spc="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optimización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94959"/>
                </a:solidFill>
                <a:latin typeface="Tahoma"/>
                <a:cs typeface="Tahoma"/>
              </a:rPr>
              <a:t>de</a:t>
            </a:r>
            <a:r>
              <a:rPr dirty="0" sz="13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94959"/>
                </a:solidFill>
                <a:latin typeface="Tahoma"/>
                <a:cs typeface="Tahoma"/>
              </a:rPr>
              <a:t>compiladores.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2024-11-05T16:54:38Z</dcterms:created>
  <dcterms:modified xsi:type="dcterms:W3CDTF">2024-11-05T16:54:38Z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