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1430000" cy="6750050"/>
  <p:notesSz cx="11430000" cy="67500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743700"/>
          </a:xfrm>
          <a:custGeom>
            <a:avLst/>
            <a:gdLst/>
            <a:ahLst/>
            <a:cxnLst/>
            <a:rect l="l" t="t" r="r" b="b"/>
            <a:pathLst>
              <a:path w="11430000" h="6743700">
                <a:moveTo>
                  <a:pt x="11430000" y="0"/>
                </a:moveTo>
                <a:lnTo>
                  <a:pt x="0" y="0"/>
                </a:lnTo>
                <a:lnTo>
                  <a:pt x="0" y="6743700"/>
                </a:lnTo>
                <a:lnTo>
                  <a:pt x="11430000" y="6743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707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707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44500"/>
            <a:ext cx="10255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96B7F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73625" y="1186497"/>
            <a:ext cx="4811395" cy="4012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-210">
                <a:solidFill>
                  <a:srgbClr val="96B7FF"/>
                </a:solidFill>
                <a:latin typeface="Verdana"/>
                <a:cs typeface="Verdana"/>
              </a:rPr>
              <a:t>T</a:t>
            </a:r>
            <a:r>
              <a:rPr dirty="0" sz="4650" spc="-70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4650" spc="-95">
                <a:solidFill>
                  <a:srgbClr val="96B7FF"/>
                </a:solidFill>
                <a:latin typeface="Verdana"/>
                <a:cs typeface="Verdana"/>
              </a:rPr>
              <a:t>a</a:t>
            </a:r>
            <a:r>
              <a:rPr dirty="0" sz="4650" spc="330">
                <a:solidFill>
                  <a:srgbClr val="96B7FF"/>
                </a:solidFill>
                <a:latin typeface="Verdana"/>
                <a:cs typeface="Verdana"/>
              </a:rPr>
              <a:t>d</a:t>
            </a:r>
            <a:r>
              <a:rPr dirty="0" sz="4650" spc="5">
                <a:solidFill>
                  <a:srgbClr val="96B7FF"/>
                </a:solidFill>
                <a:latin typeface="Verdana"/>
                <a:cs typeface="Verdana"/>
              </a:rPr>
              <a:t>u</a:t>
            </a:r>
            <a:r>
              <a:rPr dirty="0" sz="4650" spc="400">
                <a:solidFill>
                  <a:srgbClr val="96B7FF"/>
                </a:solidFill>
                <a:latin typeface="Verdana"/>
                <a:cs typeface="Verdana"/>
              </a:rPr>
              <a:t>cc</a:t>
            </a:r>
            <a:r>
              <a:rPr dirty="0" sz="4650" spc="195">
                <a:solidFill>
                  <a:srgbClr val="96B7FF"/>
                </a:solidFill>
                <a:latin typeface="Verdana"/>
                <a:cs typeface="Verdana"/>
              </a:rPr>
              <a:t>i</a:t>
            </a:r>
            <a:r>
              <a:rPr dirty="0" sz="4650" spc="330">
                <a:solidFill>
                  <a:srgbClr val="96B7FF"/>
                </a:solidFill>
                <a:latin typeface="Verdana"/>
                <a:cs typeface="Verdana"/>
              </a:rPr>
              <a:t>ó</a:t>
            </a:r>
            <a:r>
              <a:rPr dirty="0" sz="4650" spc="55">
                <a:solidFill>
                  <a:srgbClr val="96B7FF"/>
                </a:solidFill>
                <a:latin typeface="Verdana"/>
                <a:cs typeface="Verdana"/>
              </a:rPr>
              <a:t>n</a:t>
            </a:r>
            <a:r>
              <a:rPr dirty="0" sz="4650" spc="-605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4650" spc="330">
                <a:solidFill>
                  <a:srgbClr val="96B7FF"/>
                </a:solidFill>
                <a:latin typeface="Verdana"/>
                <a:cs typeface="Verdana"/>
              </a:rPr>
              <a:t>d</a:t>
            </a:r>
            <a:r>
              <a:rPr dirty="0" sz="4650" spc="95">
                <a:solidFill>
                  <a:srgbClr val="96B7FF"/>
                </a:solidFill>
                <a:latin typeface="Verdana"/>
                <a:cs typeface="Verdana"/>
              </a:rPr>
              <a:t>e</a:t>
            </a:r>
            <a:endParaRPr sz="4650">
              <a:latin typeface="Verdana"/>
              <a:cs typeface="Verdana"/>
            </a:endParaRPr>
          </a:p>
          <a:p>
            <a:pPr marL="12700" marR="445134">
              <a:lnSpc>
                <a:spcPct val="104200"/>
              </a:lnSpc>
              <a:spcBef>
                <a:spcPts val="35"/>
              </a:spcBef>
            </a:pPr>
            <a:r>
              <a:rPr dirty="0" sz="4650" spc="-210">
                <a:solidFill>
                  <a:srgbClr val="96B7FF"/>
                </a:solidFill>
                <a:latin typeface="Verdana"/>
                <a:cs typeface="Verdana"/>
              </a:rPr>
              <a:t>E</a:t>
            </a:r>
            <a:r>
              <a:rPr dirty="0" sz="4650" spc="100">
                <a:solidFill>
                  <a:srgbClr val="96B7FF"/>
                </a:solidFill>
                <a:latin typeface="Verdana"/>
                <a:cs typeface="Verdana"/>
              </a:rPr>
              <a:t>s</a:t>
            </a:r>
            <a:r>
              <a:rPr dirty="0" sz="4650" spc="160">
                <a:solidFill>
                  <a:srgbClr val="96B7FF"/>
                </a:solidFill>
                <a:latin typeface="Verdana"/>
                <a:cs typeface="Verdana"/>
              </a:rPr>
              <a:t>t</a:t>
            </a:r>
            <a:r>
              <a:rPr dirty="0" sz="4650" spc="-65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4650" spc="5">
                <a:solidFill>
                  <a:srgbClr val="96B7FF"/>
                </a:solidFill>
                <a:latin typeface="Verdana"/>
                <a:cs typeface="Verdana"/>
              </a:rPr>
              <a:t>u</a:t>
            </a:r>
            <a:r>
              <a:rPr dirty="0" sz="4650" spc="400">
                <a:solidFill>
                  <a:srgbClr val="96B7FF"/>
                </a:solidFill>
                <a:latin typeface="Verdana"/>
                <a:cs typeface="Verdana"/>
              </a:rPr>
              <a:t>c</a:t>
            </a:r>
            <a:r>
              <a:rPr dirty="0" sz="4650" spc="160">
                <a:solidFill>
                  <a:srgbClr val="96B7FF"/>
                </a:solidFill>
                <a:latin typeface="Verdana"/>
                <a:cs typeface="Verdana"/>
              </a:rPr>
              <a:t>t</a:t>
            </a:r>
            <a:r>
              <a:rPr dirty="0" sz="4650" spc="5">
                <a:solidFill>
                  <a:srgbClr val="96B7FF"/>
                </a:solidFill>
                <a:latin typeface="Verdana"/>
                <a:cs typeface="Verdana"/>
              </a:rPr>
              <a:t>u</a:t>
            </a:r>
            <a:r>
              <a:rPr dirty="0" sz="4650" spc="-70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4650" spc="-95">
                <a:solidFill>
                  <a:srgbClr val="96B7FF"/>
                </a:solidFill>
                <a:latin typeface="Verdana"/>
                <a:cs typeface="Verdana"/>
              </a:rPr>
              <a:t>a</a:t>
            </a:r>
            <a:r>
              <a:rPr dirty="0" sz="4650" spc="105">
                <a:solidFill>
                  <a:srgbClr val="96B7FF"/>
                </a:solidFill>
                <a:latin typeface="Verdana"/>
                <a:cs typeface="Verdana"/>
              </a:rPr>
              <a:t>s</a:t>
            </a:r>
            <a:r>
              <a:rPr dirty="0" sz="4650" spc="-605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4650" spc="330">
                <a:solidFill>
                  <a:srgbClr val="96B7FF"/>
                </a:solidFill>
                <a:latin typeface="Verdana"/>
                <a:cs typeface="Verdana"/>
              </a:rPr>
              <a:t>d</a:t>
            </a:r>
            <a:r>
              <a:rPr dirty="0" sz="4650" spc="70">
                <a:solidFill>
                  <a:srgbClr val="96B7FF"/>
                </a:solidFill>
                <a:latin typeface="Verdana"/>
                <a:cs typeface="Verdana"/>
              </a:rPr>
              <a:t>e  </a:t>
            </a:r>
            <a:r>
              <a:rPr dirty="0" sz="4650" spc="459">
                <a:solidFill>
                  <a:srgbClr val="96B7FF"/>
                </a:solidFill>
                <a:latin typeface="Verdana"/>
                <a:cs typeface="Verdana"/>
              </a:rPr>
              <a:t>C</a:t>
            </a:r>
            <a:r>
              <a:rPr dirty="0" sz="4650" spc="330">
                <a:solidFill>
                  <a:srgbClr val="96B7FF"/>
                </a:solidFill>
                <a:latin typeface="Verdana"/>
                <a:cs typeface="Verdana"/>
              </a:rPr>
              <a:t>o</a:t>
            </a:r>
            <a:r>
              <a:rPr dirty="0" sz="4650" spc="50">
                <a:solidFill>
                  <a:srgbClr val="96B7FF"/>
                </a:solidFill>
                <a:latin typeface="Verdana"/>
                <a:cs typeface="Verdana"/>
              </a:rPr>
              <a:t>n</a:t>
            </a:r>
            <a:r>
              <a:rPr dirty="0" sz="4650" spc="160">
                <a:solidFill>
                  <a:srgbClr val="96B7FF"/>
                </a:solidFill>
                <a:latin typeface="Verdana"/>
                <a:cs typeface="Verdana"/>
              </a:rPr>
              <a:t>t</a:t>
            </a:r>
            <a:r>
              <a:rPr dirty="0" sz="4650" spc="-85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4650" spc="330">
                <a:solidFill>
                  <a:srgbClr val="96B7FF"/>
                </a:solidFill>
                <a:latin typeface="Verdana"/>
                <a:cs typeface="Verdana"/>
              </a:rPr>
              <a:t>o</a:t>
            </a:r>
            <a:r>
              <a:rPr dirty="0" sz="4650" spc="100">
                <a:solidFill>
                  <a:srgbClr val="96B7FF"/>
                </a:solidFill>
                <a:latin typeface="Verdana"/>
                <a:cs typeface="Verdana"/>
              </a:rPr>
              <a:t>l</a:t>
            </a:r>
            <a:r>
              <a:rPr dirty="0" sz="4650" spc="-605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4650" spc="90">
                <a:solidFill>
                  <a:srgbClr val="96B7FF"/>
                </a:solidFill>
                <a:latin typeface="Verdana"/>
                <a:cs typeface="Verdana"/>
              </a:rPr>
              <a:t>e</a:t>
            </a:r>
            <a:r>
              <a:rPr dirty="0" sz="4650" spc="40">
                <a:solidFill>
                  <a:srgbClr val="96B7FF"/>
                </a:solidFill>
                <a:latin typeface="Verdana"/>
                <a:cs typeface="Verdana"/>
              </a:rPr>
              <a:t>n  </a:t>
            </a:r>
            <a:r>
              <a:rPr dirty="0" sz="4650" spc="175">
                <a:solidFill>
                  <a:srgbClr val="96B7FF"/>
                </a:solidFill>
                <a:latin typeface="Verdana"/>
                <a:cs typeface="Verdana"/>
              </a:rPr>
              <a:t>Compiladores</a:t>
            </a:r>
            <a:endParaRPr sz="4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745"/>
              </a:spcBef>
            </a:pP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ans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f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ormación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ficien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ondicionales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bucles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RIS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180">
                <a:solidFill>
                  <a:srgbClr val="E0D6DE"/>
                </a:solidFill>
                <a:latin typeface="Verdana"/>
                <a:cs typeface="Verdana"/>
              </a:rPr>
              <a:t>-</a:t>
            </a:r>
            <a:r>
              <a:rPr dirty="0" sz="1350" spc="-254">
                <a:solidFill>
                  <a:srgbClr val="E0D6DE"/>
                </a:solidFill>
                <a:latin typeface="Verdana"/>
                <a:cs typeface="Verdana"/>
              </a:rPr>
              <a:t>V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Verdana"/>
              <a:cs typeface="Verdana"/>
            </a:endParaRPr>
          </a:p>
          <a:p>
            <a:pPr marL="372110">
              <a:lnSpc>
                <a:spcPct val="100000"/>
              </a:lnSpc>
            </a:pPr>
            <a:r>
              <a:rPr dirty="0" sz="1650" spc="70" b="1">
                <a:solidFill>
                  <a:srgbClr val="E0D6DE"/>
                </a:solidFill>
                <a:latin typeface="Arial"/>
                <a:cs typeface="Arial"/>
              </a:rPr>
              <a:t>por</a:t>
            </a:r>
            <a:r>
              <a:rPr dirty="0" sz="1650" spc="-100" b="1">
                <a:solidFill>
                  <a:srgbClr val="E0D6DE"/>
                </a:solidFill>
                <a:latin typeface="Arial"/>
                <a:cs typeface="Arial"/>
              </a:rPr>
              <a:t> </a:t>
            </a:r>
            <a:r>
              <a:rPr dirty="0" sz="1650" spc="75" b="1">
                <a:solidFill>
                  <a:srgbClr val="E0D6DE"/>
                </a:solidFill>
                <a:latin typeface="Arial"/>
                <a:cs typeface="Arial"/>
              </a:rPr>
              <a:t>Henry</a:t>
            </a:r>
            <a:r>
              <a:rPr dirty="0" sz="1650" spc="-100" b="1">
                <a:solidFill>
                  <a:srgbClr val="E0D6DE"/>
                </a:solidFill>
                <a:latin typeface="Arial"/>
                <a:cs typeface="Arial"/>
              </a:rPr>
              <a:t> </a:t>
            </a:r>
            <a:r>
              <a:rPr dirty="0" sz="1650" spc="50" b="1">
                <a:solidFill>
                  <a:srgbClr val="E0D6DE"/>
                </a:solidFill>
                <a:latin typeface="Arial"/>
                <a:cs typeface="Arial"/>
              </a:rPr>
              <a:t>Mendoza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6325" y="4924425"/>
            <a:ext cx="276225" cy="2762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9572" y="3168650"/>
            <a:ext cx="908875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35">
                <a:solidFill>
                  <a:srgbClr val="96B7FF"/>
                </a:solidFill>
                <a:latin typeface="Verdana"/>
                <a:cs typeface="Verdana"/>
              </a:rPr>
              <a:t>Impo</a:t>
            </a:r>
            <a:r>
              <a:rPr dirty="0" sz="3350" spc="55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3350" spc="114">
                <a:solidFill>
                  <a:srgbClr val="96B7FF"/>
                </a:solidFill>
                <a:latin typeface="Verdana"/>
                <a:cs typeface="Verdana"/>
              </a:rPr>
              <a:t>t</a:t>
            </a:r>
            <a:r>
              <a:rPr dirty="0" sz="3350" spc="80">
                <a:solidFill>
                  <a:srgbClr val="96B7FF"/>
                </a:solidFill>
                <a:latin typeface="Verdana"/>
                <a:cs typeface="Verdana"/>
              </a:rPr>
              <a:t>ancia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65">
                <a:solidFill>
                  <a:srgbClr val="96B7FF"/>
                </a:solidFill>
                <a:latin typeface="Verdana"/>
                <a:cs typeface="Verdana"/>
              </a:rPr>
              <a:t>de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35">
                <a:solidFill>
                  <a:srgbClr val="96B7FF"/>
                </a:solidFill>
                <a:latin typeface="Verdana"/>
                <a:cs typeface="Verdana"/>
              </a:rPr>
              <a:t>las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-135">
                <a:solidFill>
                  <a:srgbClr val="96B7FF"/>
                </a:solidFill>
                <a:latin typeface="Verdana"/>
                <a:cs typeface="Verdana"/>
              </a:rPr>
              <a:t>E</a:t>
            </a:r>
            <a:r>
              <a:rPr dirty="0" sz="3350" spc="75">
                <a:solidFill>
                  <a:srgbClr val="96B7FF"/>
                </a:solidFill>
                <a:latin typeface="Verdana"/>
                <a:cs typeface="Verdana"/>
              </a:rPr>
              <a:t>structu</a:t>
            </a:r>
            <a:r>
              <a:rPr dirty="0" sz="3350" spc="55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3350" spc="15">
                <a:solidFill>
                  <a:srgbClr val="96B7FF"/>
                </a:solidFill>
                <a:latin typeface="Verdana"/>
                <a:cs typeface="Verdana"/>
              </a:rPr>
              <a:t>as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65">
                <a:solidFill>
                  <a:srgbClr val="96B7FF"/>
                </a:solidFill>
                <a:latin typeface="Verdana"/>
                <a:cs typeface="Verdana"/>
              </a:rPr>
              <a:t>de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55">
                <a:solidFill>
                  <a:srgbClr val="96B7FF"/>
                </a:solidFill>
                <a:latin typeface="Verdana"/>
                <a:cs typeface="Verdana"/>
              </a:rPr>
              <a:t>Cont</a:t>
            </a:r>
            <a:r>
              <a:rPr dirty="0" sz="3350" spc="95">
                <a:solidFill>
                  <a:srgbClr val="96B7FF"/>
                </a:solidFill>
                <a:latin typeface="Verdana"/>
                <a:cs typeface="Verdana"/>
              </a:rPr>
              <a:t>r</a:t>
            </a:r>
            <a:r>
              <a:rPr dirty="0" sz="3350" spc="165">
                <a:solidFill>
                  <a:srgbClr val="96B7FF"/>
                </a:solidFill>
                <a:latin typeface="Verdana"/>
                <a:cs typeface="Verdana"/>
              </a:rPr>
              <a:t>ol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700" y="419100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2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88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7982" y="4187825"/>
            <a:ext cx="1346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15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6785" y="4164012"/>
            <a:ext cx="2226945" cy="9220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">
                <a:solidFill>
                  <a:srgbClr val="E0D6DE"/>
                </a:solidFill>
                <a:latin typeface="Verdana"/>
                <a:cs typeface="Verdana"/>
              </a:rPr>
              <a:t>L</a:t>
            </a:r>
            <a:r>
              <a:rPr dirty="0" sz="1650" spc="95">
                <a:solidFill>
                  <a:srgbClr val="E0D6DE"/>
                </a:solidFill>
                <a:latin typeface="Verdana"/>
                <a:cs typeface="Verdana"/>
              </a:rPr>
              <a:t>ógica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E0D6DE"/>
                </a:solidFill>
                <a:latin typeface="Verdana"/>
                <a:cs typeface="Verdana"/>
              </a:rPr>
              <a:t>F</a:t>
            </a:r>
            <a:r>
              <a:rPr dirty="0" sz="1650" spc="50">
                <a:solidFill>
                  <a:srgbClr val="E0D6DE"/>
                </a:solidFill>
                <a:latin typeface="Verdana"/>
                <a:cs typeface="Verdana"/>
              </a:rPr>
              <a:t>undamen</a:t>
            </a:r>
            <a:r>
              <a:rPr dirty="0" sz="1650" spc="2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650" spc="15">
                <a:solidFill>
                  <a:srgbClr val="E0D6DE"/>
                </a:solidFill>
                <a:latin typeface="Verdana"/>
                <a:cs typeface="Verdana"/>
              </a:rPr>
              <a:t>al</a:t>
            </a:r>
            <a:endParaRPr sz="1650">
              <a:latin typeface="Verdana"/>
              <a:cs typeface="Verdana"/>
            </a:endParaRPr>
          </a:p>
          <a:p>
            <a:pPr marL="12700" marR="207010">
              <a:lnSpc>
                <a:spcPct val="129600"/>
              </a:lnSpc>
              <a:spcBef>
                <a:spcPts val="840"/>
              </a:spcBef>
            </a:pP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f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-else,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f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o</a:t>
            </a: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,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while: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b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ase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programación.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10050" y="419100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11205" y="4187825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5755" y="4164012"/>
            <a:ext cx="2297430" cy="9220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Optimización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Crítica</a:t>
            </a:r>
            <a:endParaRPr sz="1650">
              <a:latin typeface="Verdana"/>
              <a:cs typeface="Verdana"/>
            </a:endParaRPr>
          </a:p>
          <a:p>
            <a:pPr marL="12700" marR="61594">
              <a:lnSpc>
                <a:spcPct val="129600"/>
              </a:lnSpc>
              <a:spcBef>
                <a:spcPts val="840"/>
              </a:spcBef>
            </a:pP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adu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15">
                <a:solidFill>
                  <a:srgbClr val="E0D6DE"/>
                </a:solidFill>
                <a:latin typeface="Verdana"/>
                <a:cs typeface="Verdana"/>
              </a:rPr>
              <a:t>ción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ficien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mejo</a:t>
            </a: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a  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endimien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5">
                <a:solidFill>
                  <a:srgbClr val="E0D6DE"/>
                </a:solidFill>
                <a:latin typeface="Verdana"/>
                <a:cs typeface="Verdana"/>
              </a:rPr>
              <a:t>o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del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si</a:t>
            </a: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s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ema.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91400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624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62407" y="381000"/>
                </a:lnTo>
                <a:lnTo>
                  <a:pt x="381000" y="362407"/>
                </a:lnTo>
                <a:lnTo>
                  <a:pt x="381000" y="18592"/>
                </a:lnTo>
                <a:lnTo>
                  <a:pt x="365150" y="546"/>
                </a:lnTo>
                <a:lnTo>
                  <a:pt x="3624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90624" y="4187825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34728" y="4164012"/>
            <a:ext cx="2305050" cy="11982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5">
                <a:solidFill>
                  <a:srgbClr val="E0D6DE"/>
                </a:solidFill>
                <a:latin typeface="Verdana"/>
                <a:cs typeface="Verdana"/>
              </a:rPr>
              <a:t>Impac</a:t>
            </a:r>
            <a:r>
              <a:rPr dirty="0" sz="1650" spc="2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650" spc="140">
                <a:solidFill>
                  <a:srgbClr val="E0D6DE"/>
                </a:solidFill>
                <a:latin typeface="Verdana"/>
                <a:cs typeface="Verdana"/>
              </a:rPr>
              <a:t>o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45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85">
                <a:solidFill>
                  <a:srgbClr val="E0D6DE"/>
                </a:solidFill>
                <a:latin typeface="Verdana"/>
                <a:cs typeface="Verdana"/>
              </a:rPr>
              <a:t>So</a:t>
            </a:r>
            <a:r>
              <a:rPr dirty="0" sz="1650" spc="60">
                <a:solidFill>
                  <a:srgbClr val="E0D6DE"/>
                </a:solidFill>
                <a:latin typeface="Verdana"/>
                <a:cs typeface="Verdana"/>
              </a:rPr>
              <a:t>f</a:t>
            </a:r>
            <a:r>
              <a:rPr dirty="0" sz="1650" spc="6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650" spc="120">
                <a:solidFill>
                  <a:srgbClr val="E0D6DE"/>
                </a:solidFill>
                <a:latin typeface="Verdana"/>
                <a:cs typeface="Verdana"/>
              </a:rPr>
              <a:t>w</a:t>
            </a:r>
            <a:r>
              <a:rPr dirty="0" sz="1650" spc="-10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650" spc="-2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650" spc="55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endParaRPr sz="1650">
              <a:latin typeface="Verdana"/>
              <a:cs typeface="Verdana"/>
            </a:endParaRPr>
          </a:p>
          <a:p>
            <a:pPr marL="12700" marR="99695">
              <a:lnSpc>
                <a:spcPct val="131900"/>
              </a:lnSpc>
              <a:spcBef>
                <a:spcPts val="805"/>
              </a:spcBef>
            </a:pP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s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tru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tu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bien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aducidas 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aumen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an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v</a:t>
            </a:r>
            <a:r>
              <a:rPr dirty="0" sz="1350" spc="-15">
                <a:solidFill>
                  <a:srgbClr val="E0D6DE"/>
                </a:solidFill>
                <a:latin typeface="Verdana"/>
                <a:cs typeface="Verdana"/>
              </a:rPr>
              <a:t>elocidad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ejecución.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707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572" y="2130425"/>
            <a:ext cx="37204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0"/>
              <a:t>Sal</a:t>
            </a:r>
            <a:r>
              <a:rPr dirty="0" spc="15"/>
              <a:t>t</a:t>
            </a:r>
            <a:r>
              <a:rPr dirty="0" spc="170"/>
              <a:t>os</a:t>
            </a:r>
            <a:r>
              <a:rPr dirty="0" spc="-430"/>
              <a:t> </a:t>
            </a:r>
            <a:r>
              <a:rPr dirty="0" spc="65"/>
              <a:t>en</a:t>
            </a:r>
            <a:r>
              <a:rPr dirty="0" spc="-430"/>
              <a:t> </a:t>
            </a:r>
            <a:r>
              <a:rPr dirty="0" spc="20"/>
              <a:t>RIS</a:t>
            </a:r>
            <a:r>
              <a:rPr dirty="0" spc="50"/>
              <a:t>C</a:t>
            </a:r>
            <a:r>
              <a:rPr dirty="0" spc="75"/>
              <a:t>-</a:t>
            </a:r>
            <a:r>
              <a:rPr dirty="0" spc="135"/>
              <a:t>V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9572" y="3106737"/>
            <a:ext cx="2626360" cy="721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96B7FF"/>
                </a:solidFill>
                <a:latin typeface="Verdana"/>
                <a:cs typeface="Verdana"/>
              </a:rPr>
              <a:t>Condicionales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beq,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bne,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Verdana"/>
                <a:cs typeface="Verdana"/>
              </a:rPr>
              <a:t>bl</a:t>
            </a:r>
            <a:r>
              <a:rPr dirty="0" sz="1350" spc="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240">
                <a:solidFill>
                  <a:srgbClr val="E0D6DE"/>
                </a:solidFill>
                <a:latin typeface="Verdana"/>
                <a:cs typeface="Verdana"/>
              </a:rPr>
              <a:t>: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om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p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an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sal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an.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89920" y="3106737"/>
            <a:ext cx="2485390" cy="9982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96B7FF"/>
                </a:solidFill>
                <a:latin typeface="Verdana"/>
                <a:cs typeface="Verdana"/>
              </a:rPr>
              <a:t>Incondicionales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290"/>
              </a:spcBef>
            </a:pP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j: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sal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di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amen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tiqu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a 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especificada.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0271" y="3106737"/>
            <a:ext cx="2860675" cy="9982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96B7FF"/>
                </a:solidFill>
                <a:latin typeface="Verdana"/>
                <a:cs typeface="Verdana"/>
              </a:rPr>
              <a:t>Etiquetas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290"/>
              </a:spcBef>
            </a:pP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Facilitan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navegación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optimización </a:t>
            </a:r>
            <a:r>
              <a:rPr dirty="0" sz="1350" spc="-459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del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ódi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g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o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743700"/>
            <a:chOff x="7143750" y="253"/>
            <a:chExt cx="4286250" cy="6743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7434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2308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320294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40"/>
              <a:t>T</a:t>
            </a:r>
            <a:r>
              <a:rPr dirty="0" spc="-45"/>
              <a:t>r</a:t>
            </a:r>
            <a:r>
              <a:rPr dirty="0" spc="160"/>
              <a:t>aducción</a:t>
            </a:r>
            <a:r>
              <a:rPr dirty="0" spc="-430"/>
              <a:t> </a:t>
            </a:r>
            <a:r>
              <a:rPr dirty="0" spc="130"/>
              <a:t>de  </a:t>
            </a:r>
            <a:r>
              <a:rPr dirty="0" spc="155"/>
              <a:t>Condicionales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64368" y="1800224"/>
            <a:ext cx="972185" cy="4467225"/>
            <a:chOff x="664368" y="1800224"/>
            <a:chExt cx="972185" cy="4467225"/>
          </a:xfrm>
        </p:grpSpPr>
        <p:sp>
          <p:nvSpPr>
            <p:cNvPr id="7" name="object 7"/>
            <p:cNvSpPr/>
            <p:nvPr/>
          </p:nvSpPr>
          <p:spPr>
            <a:xfrm>
              <a:off x="847725" y="1800224"/>
              <a:ext cx="788670" cy="4467225"/>
            </a:xfrm>
            <a:custGeom>
              <a:avLst/>
              <a:gdLst/>
              <a:ahLst/>
              <a:cxnLst/>
              <a:rect l="l" t="t" r="r" b="b"/>
              <a:pathLst>
                <a:path w="788669" h="446722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457712"/>
                  </a:lnTo>
                  <a:lnTo>
                    <a:pt x="0" y="4460341"/>
                  </a:lnTo>
                  <a:lnTo>
                    <a:pt x="927" y="4462577"/>
                  </a:lnTo>
                  <a:lnTo>
                    <a:pt x="4648" y="4466298"/>
                  </a:lnTo>
                  <a:lnTo>
                    <a:pt x="6896" y="4467225"/>
                  </a:lnTo>
                  <a:lnTo>
                    <a:pt x="12153" y="4467225"/>
                  </a:lnTo>
                  <a:lnTo>
                    <a:pt x="14401" y="4466298"/>
                  </a:lnTo>
                  <a:lnTo>
                    <a:pt x="18122" y="4462577"/>
                  </a:lnTo>
                  <a:lnTo>
                    <a:pt x="19050" y="4460341"/>
                  </a:lnTo>
                  <a:lnTo>
                    <a:pt x="19050" y="6896"/>
                  </a:lnTo>
                  <a:close/>
                </a:path>
                <a:path w="788669" h="4467225">
                  <a:moveTo>
                    <a:pt x="788200" y="387896"/>
                  </a:moveTo>
                  <a:lnTo>
                    <a:pt x="787260" y="385648"/>
                  </a:lnTo>
                  <a:lnTo>
                    <a:pt x="783539" y="381927"/>
                  </a:lnTo>
                  <a:lnTo>
                    <a:pt x="781304" y="381000"/>
                  </a:lnTo>
                  <a:lnTo>
                    <a:pt x="195008" y="381000"/>
                  </a:lnTo>
                  <a:lnTo>
                    <a:pt x="192760" y="381927"/>
                  </a:lnTo>
                  <a:lnTo>
                    <a:pt x="189039" y="385648"/>
                  </a:lnTo>
                  <a:lnTo>
                    <a:pt x="188112" y="387896"/>
                  </a:lnTo>
                  <a:lnTo>
                    <a:pt x="188112" y="390525"/>
                  </a:lnTo>
                  <a:lnTo>
                    <a:pt x="188112" y="393153"/>
                  </a:lnTo>
                  <a:lnTo>
                    <a:pt x="189039" y="395401"/>
                  </a:lnTo>
                  <a:lnTo>
                    <a:pt x="192760" y="399122"/>
                  </a:lnTo>
                  <a:lnTo>
                    <a:pt x="195008" y="400050"/>
                  </a:lnTo>
                  <a:lnTo>
                    <a:pt x="781304" y="400050"/>
                  </a:lnTo>
                  <a:lnTo>
                    <a:pt x="783539" y="399122"/>
                  </a:lnTo>
                  <a:lnTo>
                    <a:pt x="787260" y="395401"/>
                  </a:lnTo>
                  <a:lnTo>
                    <a:pt x="788200" y="393153"/>
                  </a:lnTo>
                  <a:lnTo>
                    <a:pt x="788200" y="387896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4368" y="20002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8" y="381000"/>
                  </a:lnTo>
                  <a:lnTo>
                    <a:pt x="371936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90078" y="1997075"/>
            <a:ext cx="1346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15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7525" y="1944687"/>
            <a:ext cx="3342004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E0D6DE"/>
                </a:solidFill>
                <a:latin typeface="Verdana"/>
                <a:cs typeface="Verdana"/>
              </a:rPr>
              <a:t>Análisis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Identificar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condición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bloques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código.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368" y="3152774"/>
            <a:ext cx="972185" cy="390525"/>
            <a:chOff x="664368" y="3152774"/>
            <a:chExt cx="972185" cy="390525"/>
          </a:xfrm>
        </p:grpSpPr>
        <p:sp>
          <p:nvSpPr>
            <p:cNvPr id="12" name="object 12"/>
            <p:cNvSpPr/>
            <p:nvPr/>
          </p:nvSpPr>
          <p:spPr>
            <a:xfrm>
              <a:off x="1035843" y="3343274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4368" y="315277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8" y="390525"/>
                  </a:lnTo>
                  <a:lnTo>
                    <a:pt x="371936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64331" y="3159125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7525" y="3106737"/>
            <a:ext cx="3788410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Comparación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Transformar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operadores</a:t>
            </a:r>
            <a:r>
              <a:rPr dirty="0" sz="1350" spc="-16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instrucciones</a:t>
            </a:r>
            <a:r>
              <a:rPr dirty="0" sz="1350" spc="-16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50">
                <a:solidFill>
                  <a:srgbClr val="E0D6DE"/>
                </a:solidFill>
                <a:latin typeface="Verdana"/>
                <a:cs typeface="Verdana"/>
              </a:rPr>
              <a:t>RISC-V.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4368" y="4314825"/>
            <a:ext cx="972185" cy="390525"/>
            <a:chOff x="664368" y="4314825"/>
            <a:chExt cx="972185" cy="390525"/>
          </a:xfrm>
        </p:grpSpPr>
        <p:sp>
          <p:nvSpPr>
            <p:cNvPr id="17" name="object 17"/>
            <p:cNvSpPr/>
            <p:nvPr/>
          </p:nvSpPr>
          <p:spPr>
            <a:xfrm>
              <a:off x="1035843" y="449580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368" y="4314825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6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8" y="390525"/>
                  </a:lnTo>
                  <a:lnTo>
                    <a:pt x="371936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70" y="546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64778" y="4321175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87526" y="4268787"/>
            <a:ext cx="3474720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E0D6DE"/>
                </a:solidFill>
                <a:latin typeface="Verdana"/>
                <a:cs typeface="Verdana"/>
              </a:rPr>
              <a:t>Saltos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Implemen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beq/bne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p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ont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5">
                <a:solidFill>
                  <a:srgbClr val="E0D6DE"/>
                </a:solidFill>
                <a:latin typeface="Verdana"/>
                <a:cs typeface="Verdana"/>
              </a:rPr>
              <a:t>ol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fluj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o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4368" y="5476876"/>
            <a:ext cx="972185" cy="381000"/>
            <a:chOff x="664368" y="5476876"/>
            <a:chExt cx="972185" cy="381000"/>
          </a:xfrm>
        </p:grpSpPr>
        <p:sp>
          <p:nvSpPr>
            <p:cNvPr id="22" name="object 22"/>
            <p:cNvSpPr/>
            <p:nvPr/>
          </p:nvSpPr>
          <p:spPr>
            <a:xfrm>
              <a:off x="1035843" y="5657851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1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396"/>
                  </a:lnTo>
                  <a:lnTo>
                    <a:pt x="4648" y="18116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16"/>
                  </a:lnTo>
                  <a:lnTo>
                    <a:pt x="599141" y="14396"/>
                  </a:lnTo>
                  <a:lnTo>
                    <a:pt x="600081" y="12153"/>
                  </a:lnTo>
                  <a:lnTo>
                    <a:pt x="600081" y="6891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3F3F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4368" y="5476876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6" y="0"/>
                  </a:moveTo>
                  <a:lnTo>
                    <a:pt x="18588" y="0"/>
                  </a:lnTo>
                  <a:lnTo>
                    <a:pt x="15854" y="541"/>
                  </a:lnTo>
                  <a:lnTo>
                    <a:pt x="0" y="18587"/>
                  </a:lnTo>
                  <a:lnTo>
                    <a:pt x="0" y="359568"/>
                  </a:lnTo>
                  <a:lnTo>
                    <a:pt x="0" y="362411"/>
                  </a:lnTo>
                  <a:lnTo>
                    <a:pt x="18588" y="381000"/>
                  </a:lnTo>
                  <a:lnTo>
                    <a:pt x="371936" y="381000"/>
                  </a:lnTo>
                  <a:lnTo>
                    <a:pt x="390525" y="362411"/>
                  </a:lnTo>
                  <a:lnTo>
                    <a:pt x="390525" y="18587"/>
                  </a:lnTo>
                  <a:lnTo>
                    <a:pt x="374670" y="541"/>
                  </a:lnTo>
                  <a:lnTo>
                    <a:pt x="371936" y="0"/>
                  </a:lnTo>
                  <a:close/>
                </a:path>
              </a:pathLst>
            </a:custGeom>
            <a:solidFill>
              <a:srgbClr val="2525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60610" y="5473701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5">
                <a:solidFill>
                  <a:srgbClr val="E0D6DE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87525" y="5421313"/>
            <a:ext cx="4572635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Optimización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10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educir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in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s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tru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ciones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inne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esarias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p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ma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ficiencia.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7070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711450"/>
            <a:ext cx="46901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0"/>
              <a:t>T</a:t>
            </a:r>
            <a:r>
              <a:rPr dirty="0" spc="-45"/>
              <a:t>r</a:t>
            </a:r>
            <a:r>
              <a:rPr dirty="0" spc="160"/>
              <a:t>aducción</a:t>
            </a:r>
            <a:r>
              <a:rPr dirty="0" spc="-430"/>
              <a:t> </a:t>
            </a:r>
            <a:r>
              <a:rPr dirty="0" spc="165"/>
              <a:t>de</a:t>
            </a:r>
            <a:r>
              <a:rPr dirty="0" spc="-430"/>
              <a:t> </a:t>
            </a:r>
            <a:r>
              <a:rPr dirty="0" spc="95"/>
              <a:t>Bucles</a:t>
            </a:r>
          </a:p>
        </p:txBody>
      </p:sp>
      <p:sp>
        <p:nvSpPr>
          <p:cNvPr id="5" name="object 5"/>
          <p:cNvSpPr/>
          <p:nvPr/>
        </p:nvSpPr>
        <p:spPr>
          <a:xfrm>
            <a:off x="1028700" y="3533787"/>
            <a:ext cx="4685030" cy="685800"/>
          </a:xfrm>
          <a:custGeom>
            <a:avLst/>
            <a:gdLst/>
            <a:ahLst/>
            <a:cxnLst/>
            <a:rect l="l" t="t" r="r" b="b"/>
            <a:pathLst>
              <a:path w="4685030" h="685800">
                <a:moveTo>
                  <a:pt x="2341359" y="342887"/>
                </a:moveTo>
                <a:lnTo>
                  <a:pt x="2169909" y="0"/>
                </a:lnTo>
                <a:lnTo>
                  <a:pt x="0" y="0"/>
                </a:lnTo>
                <a:lnTo>
                  <a:pt x="171450" y="342887"/>
                </a:lnTo>
                <a:lnTo>
                  <a:pt x="0" y="685787"/>
                </a:lnTo>
                <a:lnTo>
                  <a:pt x="2169909" y="685787"/>
                </a:lnTo>
                <a:lnTo>
                  <a:pt x="2341359" y="342887"/>
                </a:lnTo>
                <a:close/>
              </a:path>
              <a:path w="4685030" h="685800">
                <a:moveTo>
                  <a:pt x="4684509" y="342887"/>
                </a:moveTo>
                <a:lnTo>
                  <a:pt x="4513059" y="0"/>
                </a:lnTo>
                <a:lnTo>
                  <a:pt x="2343150" y="0"/>
                </a:lnTo>
                <a:lnTo>
                  <a:pt x="2514600" y="342887"/>
                </a:lnTo>
                <a:lnTo>
                  <a:pt x="2343150" y="685787"/>
                </a:lnTo>
                <a:lnTo>
                  <a:pt x="4513059" y="685787"/>
                </a:lnTo>
                <a:lnTo>
                  <a:pt x="4684509" y="342887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91022" y="4449762"/>
            <a:ext cx="1871345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E0D6DE"/>
                </a:solidFill>
                <a:latin typeface="Verdana"/>
                <a:cs typeface="Verdana"/>
              </a:rPr>
              <a:t>Inicialización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Configu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v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ariables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ont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5">
                <a:solidFill>
                  <a:srgbClr val="E0D6DE"/>
                </a:solidFill>
                <a:latin typeface="Verdana"/>
                <a:cs typeface="Verdana"/>
              </a:rPr>
              <a:t>ol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del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bucle.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5784" y="3683000"/>
            <a:ext cx="25012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27910" algn="l"/>
              </a:tabLst>
            </a:pPr>
            <a:r>
              <a:rPr dirty="0" sz="2000" spc="-415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r>
              <a:rPr dirty="0" sz="2000" spc="-415">
                <a:solidFill>
                  <a:srgbClr val="E0D6DE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2390" y="4449762"/>
            <a:ext cx="2015489" cy="11982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4">
                <a:solidFill>
                  <a:srgbClr val="E0D6DE"/>
                </a:solidFill>
                <a:latin typeface="Verdana"/>
                <a:cs typeface="Verdana"/>
              </a:rPr>
              <a:t>Condición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805"/>
              </a:spcBef>
            </a:pP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Implementar 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om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p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ación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p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a 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ontinua</a:t>
            </a:r>
            <a:r>
              <a:rPr dirty="0" sz="1350" spc="-8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/salir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del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bucle.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0" y="3533775"/>
            <a:ext cx="2341880" cy="685800"/>
          </a:xfrm>
          <a:custGeom>
            <a:avLst/>
            <a:gdLst/>
            <a:ahLst/>
            <a:cxnLst/>
            <a:rect l="l" t="t" r="r" b="b"/>
            <a:pathLst>
              <a:path w="2341879" h="685800">
                <a:moveTo>
                  <a:pt x="2169909" y="0"/>
                </a:moveTo>
                <a:lnTo>
                  <a:pt x="0" y="0"/>
                </a:lnTo>
                <a:lnTo>
                  <a:pt x="171450" y="342900"/>
                </a:lnTo>
                <a:lnTo>
                  <a:pt x="0" y="685800"/>
                </a:lnTo>
                <a:lnTo>
                  <a:pt x="2169909" y="685800"/>
                </a:lnTo>
                <a:lnTo>
                  <a:pt x="2341359" y="342900"/>
                </a:lnTo>
                <a:lnTo>
                  <a:pt x="2169909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93204" y="3683000"/>
            <a:ext cx="1854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73750" y="4449762"/>
            <a:ext cx="1790700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E0D6DE"/>
                </a:solidFill>
                <a:latin typeface="Verdana"/>
                <a:cs typeface="Verdana"/>
              </a:rPr>
              <a:t>Cuerpo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aducir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in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s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tru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ciones 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del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bucle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0D6DE"/>
                </a:solidFill>
                <a:latin typeface="Verdana"/>
                <a:cs typeface="Verdana"/>
              </a:rPr>
              <a:t>RIS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180">
                <a:solidFill>
                  <a:srgbClr val="E0D6DE"/>
                </a:solidFill>
                <a:latin typeface="Verdana"/>
                <a:cs typeface="Verdana"/>
              </a:rPr>
              <a:t>-</a:t>
            </a:r>
            <a:r>
              <a:rPr dirty="0" sz="1350" spc="-254">
                <a:solidFill>
                  <a:srgbClr val="E0D6DE"/>
                </a:solidFill>
                <a:latin typeface="Verdana"/>
                <a:cs typeface="Verdana"/>
              </a:rPr>
              <a:t>V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58150" y="3533775"/>
            <a:ext cx="2341880" cy="685800"/>
          </a:xfrm>
          <a:custGeom>
            <a:avLst/>
            <a:gdLst/>
            <a:ahLst/>
            <a:cxnLst/>
            <a:rect l="l" t="t" r="r" b="b"/>
            <a:pathLst>
              <a:path w="2341879" h="685800">
                <a:moveTo>
                  <a:pt x="2169909" y="0"/>
                </a:moveTo>
                <a:lnTo>
                  <a:pt x="0" y="0"/>
                </a:lnTo>
                <a:lnTo>
                  <a:pt x="171450" y="342900"/>
                </a:lnTo>
                <a:lnTo>
                  <a:pt x="0" y="685800"/>
                </a:lnTo>
                <a:lnTo>
                  <a:pt x="2169909" y="685800"/>
                </a:lnTo>
                <a:lnTo>
                  <a:pt x="2341359" y="342900"/>
                </a:lnTo>
                <a:lnTo>
                  <a:pt x="2169909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130410" y="3683000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45">
                <a:solidFill>
                  <a:srgbClr val="E0D6DE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15109" y="4449762"/>
            <a:ext cx="1692910" cy="9315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E0D6DE"/>
                </a:solidFill>
                <a:latin typeface="Verdana"/>
                <a:cs typeface="Verdana"/>
              </a:rPr>
              <a:t>Actualización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765"/>
              </a:spcBef>
            </a:pPr>
            <a:r>
              <a:rPr dirty="0" sz="1350" spc="-15">
                <a:solidFill>
                  <a:srgbClr val="E0D6DE"/>
                </a:solidFill>
                <a:latin typeface="Verdana"/>
                <a:cs typeface="Verdana"/>
              </a:rPr>
              <a:t>Modifi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ar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v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ariable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de 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ont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5">
                <a:solidFill>
                  <a:srgbClr val="E0D6DE"/>
                </a:solidFill>
                <a:latin typeface="Verdana"/>
                <a:cs typeface="Verdana"/>
              </a:rPr>
              <a:t>ol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sal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3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743700"/>
            <a:chOff x="7143750" y="253"/>
            <a:chExt cx="4286250" cy="6743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7434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2308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444500"/>
            <a:ext cx="353504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75"/>
              <a:t>Uso</a:t>
            </a:r>
            <a:r>
              <a:rPr dirty="0" spc="-430"/>
              <a:t> </a:t>
            </a:r>
            <a:r>
              <a:rPr dirty="0" spc="165"/>
              <a:t>de</a:t>
            </a:r>
            <a:r>
              <a:rPr dirty="0" spc="-430"/>
              <a:t> </a:t>
            </a:r>
            <a:r>
              <a:rPr dirty="0" spc="40"/>
              <a:t>Sal</a:t>
            </a:r>
            <a:r>
              <a:rPr dirty="0" spc="15"/>
              <a:t>t</a:t>
            </a:r>
            <a:r>
              <a:rPr dirty="0" spc="135"/>
              <a:t>os  </a:t>
            </a:r>
            <a:r>
              <a:rPr dirty="0" spc="110"/>
              <a:t>Incondicionales</a:t>
            </a:r>
          </a:p>
        </p:txBody>
      </p:sp>
      <p:sp>
        <p:nvSpPr>
          <p:cNvPr id="6" name="object 6"/>
          <p:cNvSpPr/>
          <p:nvPr/>
        </p:nvSpPr>
        <p:spPr>
          <a:xfrm>
            <a:off x="600075" y="1800224"/>
            <a:ext cx="5943600" cy="990600"/>
          </a:xfrm>
          <a:custGeom>
            <a:avLst/>
            <a:gdLst/>
            <a:ahLst/>
            <a:cxnLst/>
            <a:rect l="l" t="t" r="r" b="b"/>
            <a:pathLst>
              <a:path w="5943600" h="990600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69175"/>
                </a:lnTo>
                <a:lnTo>
                  <a:pt x="0" y="972007"/>
                </a:lnTo>
                <a:lnTo>
                  <a:pt x="18588" y="990600"/>
                </a:lnTo>
                <a:lnTo>
                  <a:pt x="5925007" y="990600"/>
                </a:lnTo>
                <a:lnTo>
                  <a:pt x="5943600" y="9720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8825" y="1944687"/>
            <a:ext cx="3576954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E0D6DE"/>
                </a:solidFill>
                <a:latin typeface="Verdana"/>
                <a:cs typeface="Verdana"/>
              </a:rPr>
              <a:t>Simplicidad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j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simplifi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95">
                <a:solidFill>
                  <a:srgbClr val="E0D6DE"/>
                </a:solidFill>
                <a:latin typeface="Verdana"/>
                <a:cs typeface="Verdana"/>
              </a:rPr>
              <a:t>s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tru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tu</a:t>
            </a:r>
            <a:r>
              <a:rPr dirty="0" sz="1350" spc="-7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65">
                <a:solidFill>
                  <a:srgbClr val="E0D6DE"/>
                </a:solidFill>
                <a:latin typeface="Verdana"/>
                <a:cs typeface="Verdana"/>
              </a:rPr>
              <a:t>as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ont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5">
                <a:solidFill>
                  <a:srgbClr val="E0D6DE"/>
                </a:solidFill>
                <a:latin typeface="Verdana"/>
                <a:cs typeface="Verdana"/>
              </a:rPr>
              <a:t>ol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omplejas.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0075" y="2962274"/>
            <a:ext cx="5943600" cy="990600"/>
          </a:xfrm>
          <a:custGeom>
            <a:avLst/>
            <a:gdLst/>
            <a:ahLst/>
            <a:cxnLst/>
            <a:rect l="l" t="t" r="r" b="b"/>
            <a:pathLst>
              <a:path w="5943600" h="990600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69175"/>
                </a:lnTo>
                <a:lnTo>
                  <a:pt x="0" y="972007"/>
                </a:lnTo>
                <a:lnTo>
                  <a:pt x="18588" y="990600"/>
                </a:lnTo>
                <a:lnTo>
                  <a:pt x="5925007" y="990600"/>
                </a:lnTo>
                <a:lnTo>
                  <a:pt x="5943600" y="9720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8825" y="3106737"/>
            <a:ext cx="4616450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E0D6DE"/>
                </a:solidFill>
                <a:latin typeface="Verdana"/>
                <a:cs typeface="Verdana"/>
              </a:rPr>
              <a:t>Eficiencia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Reduce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instrucciones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Verdana"/>
                <a:cs typeface="Verdana"/>
              </a:rPr>
              <a:t>en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bucles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0D6DE"/>
                </a:solidFill>
                <a:latin typeface="Verdana"/>
                <a:cs typeface="Verdana"/>
              </a:rPr>
              <a:t>y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condicionales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Verdana"/>
                <a:cs typeface="Verdana"/>
              </a:rPr>
              <a:t>anidados.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0075" y="4124325"/>
            <a:ext cx="5943600" cy="981075"/>
          </a:xfrm>
          <a:custGeom>
            <a:avLst/>
            <a:gdLst/>
            <a:ahLst/>
            <a:cxnLst/>
            <a:rect l="l" t="t" r="r" b="b"/>
            <a:pathLst>
              <a:path w="5943600" h="981075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59650"/>
                </a:lnTo>
                <a:lnTo>
                  <a:pt x="0" y="962482"/>
                </a:lnTo>
                <a:lnTo>
                  <a:pt x="18588" y="981075"/>
                </a:lnTo>
                <a:lnTo>
                  <a:pt x="5925007" y="981075"/>
                </a:lnTo>
                <a:lnTo>
                  <a:pt x="5943600" y="96248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0075" y="5276850"/>
            <a:ext cx="5943600" cy="990600"/>
          </a:xfrm>
          <a:custGeom>
            <a:avLst/>
            <a:gdLst/>
            <a:ahLst/>
            <a:cxnLst/>
            <a:rect l="l" t="t" r="r" b="b"/>
            <a:pathLst>
              <a:path w="5943600" h="990600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69170"/>
                </a:lnTo>
                <a:lnTo>
                  <a:pt x="0" y="972007"/>
                </a:lnTo>
                <a:lnTo>
                  <a:pt x="18588" y="990596"/>
                </a:lnTo>
                <a:lnTo>
                  <a:pt x="5925007" y="990596"/>
                </a:lnTo>
                <a:lnTo>
                  <a:pt x="5943600" y="9720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8825" y="4268787"/>
            <a:ext cx="3453129" cy="1807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E0D6DE"/>
                </a:solidFill>
                <a:latin typeface="Verdana"/>
                <a:cs typeface="Verdana"/>
              </a:rPr>
              <a:t>Claridad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Mejo</a:t>
            </a:r>
            <a:r>
              <a:rPr dirty="0" sz="1350" spc="-8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E0D6DE"/>
                </a:solidFill>
                <a:latin typeface="Verdana"/>
                <a:cs typeface="Verdana"/>
              </a:rPr>
              <a:t>l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e</a:t>
            </a:r>
            <a:r>
              <a:rPr dirty="0" sz="1350" spc="-15">
                <a:solidFill>
                  <a:srgbClr val="E0D6DE"/>
                </a:solidFill>
                <a:latin typeface="Verdana"/>
                <a:cs typeface="Verdana"/>
              </a:rPr>
              <a:t>gibilidad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del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Verdana"/>
                <a:cs typeface="Verdana"/>
              </a:rPr>
              <a:t>c</a:t>
            </a:r>
            <a:r>
              <a:rPr dirty="0" sz="1350" spc="-20">
                <a:solidFill>
                  <a:srgbClr val="E0D6DE"/>
                </a:solidFill>
                <a:latin typeface="Verdana"/>
                <a:cs typeface="Verdana"/>
              </a:rPr>
              <a:t>ódi</a:t>
            </a:r>
            <a:r>
              <a:rPr dirty="0" sz="1350" spc="-50">
                <a:solidFill>
                  <a:srgbClr val="E0D6DE"/>
                </a:solidFill>
                <a:latin typeface="Verdana"/>
                <a:cs typeface="Verdana"/>
              </a:rPr>
              <a:t>g</a:t>
            </a:r>
            <a:r>
              <a:rPr dirty="0" sz="1350" spc="-5">
                <a:solidFill>
                  <a:srgbClr val="E0D6DE"/>
                </a:solidFill>
                <a:latin typeface="Verdana"/>
                <a:cs typeface="Verdana"/>
              </a:rPr>
              <a:t>o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ensamblado</a:t>
            </a:r>
            <a:r>
              <a:rPr dirty="0" sz="1350" spc="-114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350" spc="-120">
                <a:solidFill>
                  <a:srgbClr val="E0D6DE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Optimización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Facilita</a:t>
            </a:r>
            <a:r>
              <a:rPr dirty="0" sz="1350" spc="-175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Verdana"/>
                <a:cs typeface="Verdana"/>
              </a:rPr>
              <a:t>eliminación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Verdana"/>
                <a:cs typeface="Verdana"/>
              </a:rPr>
              <a:t>código</a:t>
            </a:r>
            <a:r>
              <a:rPr dirty="0" sz="1350" spc="-17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Verdana"/>
                <a:cs typeface="Verdana"/>
              </a:rPr>
              <a:t>muerto.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37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9572" y="3368675"/>
            <a:ext cx="804989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4">
                <a:solidFill>
                  <a:srgbClr val="96B7FF"/>
                </a:solidFill>
                <a:latin typeface="Verdana"/>
                <a:cs typeface="Verdana"/>
              </a:rPr>
              <a:t>T</a:t>
            </a:r>
            <a:r>
              <a:rPr dirty="0" sz="3350" spc="130">
                <a:solidFill>
                  <a:srgbClr val="96B7FF"/>
                </a:solidFill>
                <a:latin typeface="Verdana"/>
                <a:cs typeface="Verdana"/>
              </a:rPr>
              <a:t>écnicas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65">
                <a:solidFill>
                  <a:srgbClr val="96B7FF"/>
                </a:solidFill>
                <a:latin typeface="Verdana"/>
                <a:cs typeface="Verdana"/>
              </a:rPr>
              <a:t>de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30">
                <a:solidFill>
                  <a:srgbClr val="96B7FF"/>
                </a:solidFill>
                <a:latin typeface="Verdana"/>
                <a:cs typeface="Verdana"/>
              </a:rPr>
              <a:t>Optimización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165">
                <a:solidFill>
                  <a:srgbClr val="96B7FF"/>
                </a:solidFill>
                <a:latin typeface="Verdana"/>
                <a:cs typeface="Verdana"/>
              </a:rPr>
              <a:t>de</a:t>
            </a:r>
            <a:r>
              <a:rPr dirty="0" sz="3350" spc="-430">
                <a:solidFill>
                  <a:srgbClr val="96B7FF"/>
                </a:solidFill>
                <a:latin typeface="Verdana"/>
                <a:cs typeface="Verdana"/>
              </a:rPr>
              <a:t> </a:t>
            </a:r>
            <a:r>
              <a:rPr dirty="0" sz="3350" spc="245">
                <a:solidFill>
                  <a:srgbClr val="96B7FF"/>
                </a:solidFill>
                <a:latin typeface="Verdana"/>
                <a:cs typeface="Verdana"/>
              </a:rPr>
              <a:t>Código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8700" y="4191000"/>
            <a:ext cx="3009900" cy="990600"/>
          </a:xfrm>
          <a:custGeom>
            <a:avLst/>
            <a:gdLst/>
            <a:ahLst/>
            <a:cxnLst/>
            <a:rect l="l" t="t" r="r" b="b"/>
            <a:pathLst>
              <a:path w="3009900" h="990600">
                <a:moveTo>
                  <a:pt x="29913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69175"/>
                </a:lnTo>
                <a:lnTo>
                  <a:pt x="0" y="972007"/>
                </a:lnTo>
                <a:lnTo>
                  <a:pt x="18588" y="990601"/>
                </a:lnTo>
                <a:lnTo>
                  <a:pt x="2991307" y="990601"/>
                </a:lnTo>
                <a:lnTo>
                  <a:pt x="3009900" y="972007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91022" y="4335462"/>
            <a:ext cx="2237105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650" spc="100">
                <a:solidFill>
                  <a:srgbClr val="E0D6DE"/>
                </a:solidFill>
                <a:latin typeface="Verdana"/>
                <a:cs typeface="Verdana"/>
              </a:rPr>
              <a:t>educción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40">
                <a:solidFill>
                  <a:srgbClr val="E0D6DE"/>
                </a:solidFill>
                <a:latin typeface="Verdana"/>
                <a:cs typeface="Verdana"/>
              </a:rPr>
              <a:t>sal</a:t>
            </a:r>
            <a:r>
              <a:rPr dirty="0" sz="1650" spc="25">
                <a:solidFill>
                  <a:srgbClr val="E0D6DE"/>
                </a:solidFill>
                <a:latin typeface="Verdana"/>
                <a:cs typeface="Verdana"/>
              </a:rPr>
              <a:t>t</a:t>
            </a:r>
            <a:r>
              <a:rPr dirty="0" sz="1650" spc="95">
                <a:solidFill>
                  <a:srgbClr val="E0D6DE"/>
                </a:solidFill>
                <a:latin typeface="Verdana"/>
                <a:cs typeface="Verdana"/>
              </a:rPr>
              <a:t>os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35">
                <a:solidFill>
                  <a:srgbClr val="E0D6DE"/>
                </a:solidFill>
                <a:latin typeface="Lucida Sans Unicode"/>
                <a:cs typeface="Lucida Sans Unicode"/>
              </a:rPr>
              <a:t>Mejo</a:t>
            </a:r>
            <a:r>
              <a:rPr dirty="0" sz="1350" spc="-65">
                <a:solidFill>
                  <a:srgbClr val="E0D6DE"/>
                </a:solidFill>
                <a:latin typeface="Lucida Sans Unicode"/>
                <a:cs typeface="Lucida Sans Unicode"/>
              </a:rPr>
              <a:t>r</a:t>
            </a:r>
            <a:r>
              <a:rPr dirty="0" sz="1350" spc="1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25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Lucida Sans Unicode"/>
                <a:cs typeface="Lucida Sans Unicode"/>
              </a:rPr>
              <a:t>r</a:t>
            </a:r>
            <a:r>
              <a:rPr dirty="0" sz="1350" spc="-15">
                <a:solidFill>
                  <a:srgbClr val="E0D6DE"/>
                </a:solidFill>
                <a:latin typeface="Lucida Sans Unicode"/>
                <a:cs typeface="Lucida Sans Unicode"/>
              </a:rPr>
              <a:t>endimien</a:t>
            </a:r>
            <a:r>
              <a:rPr dirty="0" sz="1350" spc="-35">
                <a:solidFill>
                  <a:srgbClr val="E0D6DE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15">
                <a:solidFill>
                  <a:srgbClr val="E0D6DE"/>
                </a:solidFill>
                <a:latin typeface="Lucida Sans Unicode"/>
                <a:cs typeface="Lucida Sans Unicode"/>
              </a:rPr>
              <a:t>o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10050" y="4191000"/>
            <a:ext cx="3009900" cy="990600"/>
          </a:xfrm>
          <a:custGeom>
            <a:avLst/>
            <a:gdLst/>
            <a:ahLst/>
            <a:cxnLst/>
            <a:rect l="l" t="t" r="r" b="b"/>
            <a:pathLst>
              <a:path w="3009900" h="990600">
                <a:moveTo>
                  <a:pt x="29913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969175"/>
                </a:lnTo>
                <a:lnTo>
                  <a:pt x="0" y="972007"/>
                </a:lnTo>
                <a:lnTo>
                  <a:pt x="18592" y="990601"/>
                </a:lnTo>
                <a:lnTo>
                  <a:pt x="2991307" y="990601"/>
                </a:lnTo>
                <a:lnTo>
                  <a:pt x="3009900" y="972007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69993" y="4335462"/>
            <a:ext cx="2593975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5">
                <a:solidFill>
                  <a:srgbClr val="E0D6DE"/>
                </a:solidFill>
                <a:latin typeface="Verdana"/>
                <a:cs typeface="Verdana"/>
              </a:rPr>
              <a:t>Desen</a:t>
            </a:r>
            <a:r>
              <a:rPr dirty="0" sz="1650" spc="20">
                <a:solidFill>
                  <a:srgbClr val="E0D6DE"/>
                </a:solidFill>
                <a:latin typeface="Verdana"/>
                <a:cs typeface="Verdana"/>
              </a:rPr>
              <a:t>r</a:t>
            </a:r>
            <a:r>
              <a:rPr dirty="0" sz="1650" spc="85">
                <a:solidFill>
                  <a:srgbClr val="E0D6DE"/>
                </a:solidFill>
                <a:latin typeface="Verdana"/>
                <a:cs typeface="Verdana"/>
              </a:rPr>
              <a:t>ollado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bucles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13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">
                <a:solidFill>
                  <a:srgbClr val="E0D6DE"/>
                </a:solidFill>
                <a:latin typeface="Lucida Sans Unicode"/>
                <a:cs typeface="Lucida Sans Unicode"/>
              </a:rPr>
              <a:t>umen</a:t>
            </a:r>
            <a:r>
              <a:rPr dirty="0" sz="1350" spc="-50">
                <a:solidFill>
                  <a:srgbClr val="E0D6DE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1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25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Lucida Sans Unicode"/>
                <a:cs typeface="Lucida Sans Unicode"/>
              </a:rPr>
              <a:t>p</a:t>
            </a:r>
            <a:r>
              <a:rPr dirty="0" sz="1350" spc="-1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50">
                <a:solidFill>
                  <a:srgbClr val="E0D6DE"/>
                </a:solidFill>
                <a:latin typeface="Lucida Sans Unicode"/>
                <a:cs typeface="Lucida Sans Unicode"/>
              </a:rPr>
              <a:t>r</a:t>
            </a:r>
            <a:r>
              <a:rPr dirty="0" sz="1350" spc="-15">
                <a:solidFill>
                  <a:srgbClr val="E0D6DE"/>
                </a:solidFill>
                <a:latin typeface="Lucida Sans Unicode"/>
                <a:cs typeface="Lucida Sans Unicode"/>
              </a:rPr>
              <a:t>alelismo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91400" y="4191000"/>
            <a:ext cx="3009900" cy="990600"/>
          </a:xfrm>
          <a:custGeom>
            <a:avLst/>
            <a:gdLst/>
            <a:ahLst/>
            <a:cxnLst/>
            <a:rect l="l" t="t" r="r" b="b"/>
            <a:pathLst>
              <a:path w="3009900" h="990600">
                <a:moveTo>
                  <a:pt x="29913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969175"/>
                </a:lnTo>
                <a:lnTo>
                  <a:pt x="0" y="972007"/>
                </a:lnTo>
                <a:lnTo>
                  <a:pt x="18592" y="990601"/>
                </a:lnTo>
                <a:lnTo>
                  <a:pt x="2991307" y="990601"/>
                </a:lnTo>
                <a:lnTo>
                  <a:pt x="3009900" y="972007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2525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548956" y="4335462"/>
            <a:ext cx="1850389" cy="655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>
                <a:solidFill>
                  <a:srgbClr val="E0D6DE"/>
                </a:solidFill>
                <a:latin typeface="Verdana"/>
                <a:cs typeface="Verdana"/>
              </a:rPr>
              <a:t>F</a:t>
            </a:r>
            <a:r>
              <a:rPr dirty="0" sz="1650" spc="70">
                <a:solidFill>
                  <a:srgbClr val="E0D6DE"/>
                </a:solidFill>
                <a:latin typeface="Verdana"/>
                <a:cs typeface="Verdana"/>
              </a:rPr>
              <a:t>usión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95">
                <a:solidFill>
                  <a:srgbClr val="E0D6DE"/>
                </a:solidFill>
                <a:latin typeface="Verdana"/>
                <a:cs typeface="Verdana"/>
              </a:rPr>
              <a:t>de</a:t>
            </a:r>
            <a:r>
              <a:rPr dirty="0" sz="1650" spc="-21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dirty="0" sz="1650" spc="80">
                <a:solidFill>
                  <a:srgbClr val="E0D6DE"/>
                </a:solidFill>
                <a:latin typeface="Verdana"/>
                <a:cs typeface="Verdana"/>
              </a:rPr>
              <a:t>bucles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350" spc="-20">
                <a:solidFill>
                  <a:srgbClr val="E0D6DE"/>
                </a:solidFill>
                <a:latin typeface="Lucida Sans Unicode"/>
                <a:cs typeface="Lucida Sans Unicode"/>
              </a:rPr>
              <a:t>R</a:t>
            </a:r>
            <a:r>
              <a:rPr dirty="0" sz="1350" spc="-10">
                <a:solidFill>
                  <a:srgbClr val="E0D6DE"/>
                </a:solidFill>
                <a:latin typeface="Lucida Sans Unicode"/>
                <a:cs typeface="Lucida Sans Unicode"/>
              </a:rPr>
              <a:t>edu</a:t>
            </a:r>
            <a:r>
              <a:rPr dirty="0" sz="1350" spc="-50">
                <a:solidFill>
                  <a:srgbClr val="E0D6DE"/>
                </a:solidFill>
                <a:latin typeface="Lucida Sans Unicode"/>
                <a:cs typeface="Lucida Sans Unicode"/>
              </a:rPr>
              <a:t>c</a:t>
            </a:r>
            <a:r>
              <a:rPr dirty="0" sz="1350" spc="-5">
                <a:solidFill>
                  <a:srgbClr val="E0D6DE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25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">
                <a:solidFill>
                  <a:srgbClr val="E0D6DE"/>
                </a:solidFill>
                <a:latin typeface="Lucida Sans Unicode"/>
                <a:cs typeface="Lucida Sans Unicode"/>
              </a:rPr>
              <a:t>v</a:t>
            </a:r>
            <a:r>
              <a:rPr dirty="0" sz="1350" spc="-15">
                <a:solidFill>
                  <a:srgbClr val="E0D6DE"/>
                </a:solidFill>
                <a:latin typeface="Lucida Sans Unicode"/>
                <a:cs typeface="Lucida Sans Unicode"/>
              </a:rPr>
              <a:t>erh</a:t>
            </a:r>
            <a:r>
              <a:rPr dirty="0" sz="1350" spc="-45">
                <a:solidFill>
                  <a:srgbClr val="E0D6DE"/>
                </a:solidFill>
                <a:latin typeface="Lucida Sans Unicode"/>
                <a:cs typeface="Lucida Sans Unicode"/>
              </a:rPr>
              <a:t>e</a:t>
            </a:r>
            <a:r>
              <a:rPr dirty="0" sz="1350">
                <a:solidFill>
                  <a:srgbClr val="E0D6DE"/>
                </a:solidFill>
                <a:latin typeface="Lucida Sans Unicode"/>
                <a:cs typeface="Lucida Sans Unicode"/>
              </a:rPr>
              <a:t>ad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2024-11-05T16:52:07Z</dcterms:created>
  <dcterms:modified xsi:type="dcterms:W3CDTF">2024-11-05T16:52:07Z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