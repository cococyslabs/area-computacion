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7054850"/>
  <p:notesSz cx="11430000" cy="7054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B443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724650"/>
          </a:xfrm>
          <a:custGeom>
            <a:avLst/>
            <a:gdLst/>
            <a:ahLst/>
            <a:cxnLst/>
            <a:rect l="l" t="t" r="r" b="b"/>
            <a:pathLst>
              <a:path w="11430000" h="6724650">
                <a:moveTo>
                  <a:pt x="11430000" y="0"/>
                </a:moveTo>
                <a:lnTo>
                  <a:pt x="0" y="0"/>
                </a:lnTo>
                <a:lnTo>
                  <a:pt x="0" y="6724650"/>
                </a:lnTo>
                <a:lnTo>
                  <a:pt x="11430000" y="67246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F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B443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B443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F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1909" y="1377950"/>
            <a:ext cx="880618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3B443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95850" y="2209799"/>
            <a:ext cx="5924550" cy="281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300797"/>
            <a:ext cx="5961380" cy="221170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335"/>
              <a:t>Progra </a:t>
            </a:r>
            <a:r>
              <a:rPr dirty="0" sz="4650" spc="830"/>
              <a:t> </a:t>
            </a:r>
            <a:r>
              <a:rPr dirty="0" sz="4650" spc="420"/>
              <a:t>ació"</a:t>
            </a:r>
            <a:endParaRPr sz="4650"/>
          </a:p>
          <a:p>
            <a:pPr marL="12700" marR="5080">
              <a:lnSpc>
                <a:spcPct val="103499"/>
              </a:lnSpc>
              <a:spcBef>
                <a:spcPts val="75"/>
              </a:spcBef>
            </a:pPr>
            <a:r>
              <a:rPr dirty="0" sz="4650" spc="350"/>
              <a:t>Orie"tada</a:t>
            </a:r>
            <a:r>
              <a:rPr dirty="0" sz="4650" spc="-90"/>
              <a:t> </a:t>
            </a:r>
            <a:r>
              <a:rPr dirty="0" sz="4650" spc="254"/>
              <a:t>a</a:t>
            </a:r>
            <a:r>
              <a:rPr dirty="0" sz="4650" spc="-90"/>
              <a:t> </a:t>
            </a:r>
            <a:r>
              <a:rPr dirty="0" sz="4650" spc="250"/>
              <a:t>Objetos </a:t>
            </a:r>
            <a:r>
              <a:rPr dirty="0" sz="4650" spc="-1010"/>
              <a:t> </a:t>
            </a:r>
            <a:r>
              <a:rPr dirty="0" sz="4650" spc="630"/>
              <a:t>e"</a:t>
            </a:r>
            <a:r>
              <a:rPr dirty="0" sz="4650" spc="-75"/>
              <a:t> </a:t>
            </a:r>
            <a:r>
              <a:rPr dirty="0" sz="4650" spc="730"/>
              <a:t>u"</a:t>
            </a:r>
            <a:r>
              <a:rPr dirty="0" sz="4650" spc="-70"/>
              <a:t> </a:t>
            </a:r>
            <a:r>
              <a:rPr dirty="0" sz="4650" spc="434"/>
              <a:t>Co</a:t>
            </a:r>
            <a:r>
              <a:rPr dirty="0" sz="4650" spc="655"/>
              <a:t> </a:t>
            </a:r>
            <a:r>
              <a:rPr dirty="0" sz="4650" spc="215"/>
              <a:t>pilador</a:t>
            </a:r>
            <a:endParaRPr sz="4650"/>
          </a:p>
        </p:txBody>
      </p:sp>
      <p:sp>
        <p:nvSpPr>
          <p:cNvPr id="4" name="object 4"/>
          <p:cNvSpPr txBox="1"/>
          <p:nvPr/>
        </p:nvSpPr>
        <p:spPr>
          <a:xfrm>
            <a:off x="4873625" y="3726815"/>
            <a:ext cx="5831840" cy="13487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Exploraremos </a:t>
            </a:r>
            <a:r>
              <a:rPr dirty="0" sz="1350" spc="85">
                <a:solidFill>
                  <a:srgbClr val="3F5349"/>
                </a:solidFill>
                <a:latin typeface="Microsoft Sans Serif"/>
                <a:cs typeface="Microsoft Sans Serif"/>
              </a:rPr>
              <a:t>cómo </a:t>
            </a:r>
            <a:r>
              <a:rPr dirty="0" sz="1350" spc="25">
                <a:solidFill>
                  <a:srgbClr val="3F5349"/>
                </a:solidFill>
                <a:latin typeface="Microsoft Sans Serif"/>
                <a:cs typeface="Microsoft Sans Serif"/>
              </a:rPr>
              <a:t>los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compiladores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traducen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conceptos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 </a:t>
            </a:r>
            <a:r>
              <a:rPr dirty="0" sz="1350" spc="-50">
                <a:solidFill>
                  <a:srgbClr val="3F5349"/>
                </a:solidFill>
                <a:latin typeface="Microsoft Sans Serif"/>
                <a:cs typeface="Microsoft Sans Serif"/>
              </a:rPr>
              <a:t>POO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a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instrucciones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bajo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nivel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RISC-V.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Esta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comprensión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 es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crucial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 </a:t>
            </a:r>
            <a:r>
              <a:rPr dirty="0" sz="1350" spc="-3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desarrollo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eficiente.</a:t>
            </a: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50">
              <a:latin typeface="Microsoft Sans Serif"/>
              <a:cs typeface="Microsoft Sans Serif"/>
            </a:endParaRPr>
          </a:p>
          <a:p>
            <a:pPr marL="372110">
              <a:lnSpc>
                <a:spcPct val="100000"/>
              </a:lnSpc>
            </a:pPr>
            <a:r>
              <a:rPr dirty="0" sz="1650" spc="100" b="1">
                <a:solidFill>
                  <a:srgbClr val="3F5349"/>
                </a:solidFill>
                <a:latin typeface="Arial"/>
                <a:cs typeface="Arial"/>
              </a:rPr>
              <a:t>por</a:t>
            </a:r>
            <a:r>
              <a:rPr dirty="0" sz="1650" spc="-65" b="1">
                <a:solidFill>
                  <a:srgbClr val="3F5349"/>
                </a:solidFill>
                <a:latin typeface="Arial"/>
                <a:cs typeface="Arial"/>
              </a:rPr>
              <a:t> </a:t>
            </a:r>
            <a:r>
              <a:rPr dirty="0" sz="1650" spc="120" b="1">
                <a:solidFill>
                  <a:srgbClr val="3F5349"/>
                </a:solidFill>
                <a:latin typeface="Arial"/>
                <a:cs typeface="Arial"/>
              </a:rPr>
              <a:t>Henry</a:t>
            </a:r>
            <a:r>
              <a:rPr dirty="0" sz="1650" spc="-55" b="1">
                <a:solidFill>
                  <a:srgbClr val="3F5349"/>
                </a:solidFill>
                <a:latin typeface="Arial"/>
                <a:cs typeface="Arial"/>
              </a:rPr>
              <a:t> </a:t>
            </a:r>
            <a:r>
              <a:rPr dirty="0" sz="1650" spc="140" b="1">
                <a:solidFill>
                  <a:srgbClr val="3F5349"/>
                </a:solidFill>
                <a:latin typeface="Arial"/>
                <a:cs typeface="Arial"/>
              </a:rPr>
              <a:t>Mendoza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6325" y="4829175"/>
            <a:ext cx="276225" cy="2762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073150"/>
            <a:ext cx="5759450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295"/>
              <a:t>Co"ceptos</a:t>
            </a:r>
            <a:r>
              <a:rPr dirty="0" spc="-55"/>
              <a:t> </a:t>
            </a:r>
            <a:r>
              <a:rPr dirty="0" spc="350"/>
              <a:t>Fu"da</a:t>
            </a:r>
            <a:r>
              <a:rPr dirty="0" spc="760"/>
              <a:t> </a:t>
            </a:r>
            <a:r>
              <a:rPr dirty="0" spc="509"/>
              <a:t>e"tales </a:t>
            </a:r>
            <a:r>
              <a:rPr dirty="0" spc="-725"/>
              <a:t> </a:t>
            </a:r>
            <a:r>
              <a:rPr dirty="0" spc="135"/>
              <a:t>de</a:t>
            </a:r>
            <a:r>
              <a:rPr dirty="0" spc="-45"/>
              <a:t> </a:t>
            </a:r>
            <a:r>
              <a:rPr dirty="0" spc="405"/>
              <a:t>POO</a:t>
            </a:r>
          </a:p>
        </p:txBody>
      </p:sp>
      <p:sp>
        <p:nvSpPr>
          <p:cNvPr id="6" name="object 6"/>
          <p:cNvSpPr/>
          <p:nvPr/>
        </p:nvSpPr>
        <p:spPr>
          <a:xfrm>
            <a:off x="600075" y="2647949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270380" y="0"/>
                </a:moveTo>
                <a:lnTo>
                  <a:pt x="120144" y="0"/>
                </a:lnTo>
                <a:lnTo>
                  <a:pt x="111780" y="825"/>
                </a:lnTo>
                <a:lnTo>
                  <a:pt x="71575" y="13017"/>
                </a:lnTo>
                <a:lnTo>
                  <a:pt x="31690" y="43637"/>
                </a:lnTo>
                <a:lnTo>
                  <a:pt x="6558" y="87185"/>
                </a:lnTo>
                <a:lnTo>
                  <a:pt x="0" y="120142"/>
                </a:lnTo>
                <a:lnTo>
                  <a:pt x="0" y="261937"/>
                </a:lnTo>
                <a:lnTo>
                  <a:pt x="0" y="270383"/>
                </a:lnTo>
                <a:lnTo>
                  <a:pt x="13017" y="318947"/>
                </a:lnTo>
                <a:lnTo>
                  <a:pt x="43630" y="358825"/>
                </a:lnTo>
                <a:lnTo>
                  <a:pt x="87179" y="383971"/>
                </a:lnTo>
                <a:lnTo>
                  <a:pt x="120144" y="390525"/>
                </a:lnTo>
                <a:lnTo>
                  <a:pt x="270380" y="390525"/>
                </a:lnTo>
                <a:lnTo>
                  <a:pt x="318949" y="377507"/>
                </a:lnTo>
                <a:lnTo>
                  <a:pt x="358834" y="346887"/>
                </a:lnTo>
                <a:lnTo>
                  <a:pt x="383966" y="303339"/>
                </a:lnTo>
                <a:lnTo>
                  <a:pt x="390525" y="270383"/>
                </a:lnTo>
                <a:lnTo>
                  <a:pt x="390525" y="120142"/>
                </a:lnTo>
                <a:lnTo>
                  <a:pt x="377507" y="71577"/>
                </a:lnTo>
                <a:lnTo>
                  <a:pt x="346894" y="31686"/>
                </a:lnTo>
                <a:lnTo>
                  <a:pt x="303345" y="6553"/>
                </a:lnTo>
                <a:lnTo>
                  <a:pt x="278739" y="825"/>
                </a:lnTo>
                <a:lnTo>
                  <a:pt x="270380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5962" y="2663825"/>
            <a:ext cx="1543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75" b="1">
                <a:solidFill>
                  <a:srgbClr val="3F5349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587" y="2630487"/>
            <a:ext cx="372173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5" b="1">
                <a:solidFill>
                  <a:srgbClr val="3F5349"/>
                </a:solidFill>
                <a:latin typeface="Cambria"/>
                <a:cs typeface="Cambria"/>
              </a:rPr>
              <a:t>Propiedades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Atributos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que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definen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estado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un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objeto.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0075" y="365760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270380" y="0"/>
                </a:moveTo>
                <a:lnTo>
                  <a:pt x="120144" y="0"/>
                </a:lnTo>
                <a:lnTo>
                  <a:pt x="111780" y="825"/>
                </a:lnTo>
                <a:lnTo>
                  <a:pt x="71575" y="13017"/>
                </a:lnTo>
                <a:lnTo>
                  <a:pt x="31690" y="43637"/>
                </a:lnTo>
                <a:lnTo>
                  <a:pt x="6558" y="87185"/>
                </a:lnTo>
                <a:lnTo>
                  <a:pt x="0" y="120142"/>
                </a:lnTo>
                <a:lnTo>
                  <a:pt x="0" y="261937"/>
                </a:lnTo>
                <a:lnTo>
                  <a:pt x="0" y="270383"/>
                </a:lnTo>
                <a:lnTo>
                  <a:pt x="13017" y="318947"/>
                </a:lnTo>
                <a:lnTo>
                  <a:pt x="43630" y="358825"/>
                </a:lnTo>
                <a:lnTo>
                  <a:pt x="87179" y="383971"/>
                </a:lnTo>
                <a:lnTo>
                  <a:pt x="120144" y="390525"/>
                </a:lnTo>
                <a:lnTo>
                  <a:pt x="270380" y="390525"/>
                </a:lnTo>
                <a:lnTo>
                  <a:pt x="318949" y="377507"/>
                </a:lnTo>
                <a:lnTo>
                  <a:pt x="358834" y="346887"/>
                </a:lnTo>
                <a:lnTo>
                  <a:pt x="383966" y="303339"/>
                </a:lnTo>
                <a:lnTo>
                  <a:pt x="390525" y="270383"/>
                </a:lnTo>
                <a:lnTo>
                  <a:pt x="390525" y="120142"/>
                </a:lnTo>
                <a:lnTo>
                  <a:pt x="377507" y="71577"/>
                </a:lnTo>
                <a:lnTo>
                  <a:pt x="346894" y="31686"/>
                </a:lnTo>
                <a:lnTo>
                  <a:pt x="303345" y="6553"/>
                </a:lnTo>
                <a:lnTo>
                  <a:pt x="278739" y="825"/>
                </a:lnTo>
                <a:lnTo>
                  <a:pt x="270380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96168" y="3673475"/>
            <a:ext cx="1936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35" b="1">
                <a:solidFill>
                  <a:srgbClr val="3F5349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587" y="3640137"/>
            <a:ext cx="460819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4" b="1">
                <a:solidFill>
                  <a:srgbClr val="3F5349"/>
                </a:solidFill>
                <a:latin typeface="Cambria"/>
                <a:cs typeface="Cambria"/>
              </a:rPr>
              <a:t>Métodos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Funciones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que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definen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90">
                <a:solidFill>
                  <a:srgbClr val="3F5349"/>
                </a:solidFill>
                <a:latin typeface="Microsoft Sans Serif"/>
                <a:cs typeface="Microsoft Sans Serif"/>
              </a:rPr>
              <a:t>comportamiento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un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objeto.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075" y="4667250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270380" y="0"/>
                </a:moveTo>
                <a:lnTo>
                  <a:pt x="120144" y="0"/>
                </a:lnTo>
                <a:lnTo>
                  <a:pt x="111780" y="825"/>
                </a:lnTo>
                <a:lnTo>
                  <a:pt x="71575" y="13017"/>
                </a:lnTo>
                <a:lnTo>
                  <a:pt x="31690" y="43637"/>
                </a:lnTo>
                <a:lnTo>
                  <a:pt x="6558" y="87185"/>
                </a:lnTo>
                <a:lnTo>
                  <a:pt x="0" y="120142"/>
                </a:lnTo>
                <a:lnTo>
                  <a:pt x="0" y="252412"/>
                </a:lnTo>
                <a:lnTo>
                  <a:pt x="0" y="260858"/>
                </a:lnTo>
                <a:lnTo>
                  <a:pt x="13017" y="309422"/>
                </a:lnTo>
                <a:lnTo>
                  <a:pt x="43630" y="349300"/>
                </a:lnTo>
                <a:lnTo>
                  <a:pt x="87179" y="374446"/>
                </a:lnTo>
                <a:lnTo>
                  <a:pt x="120144" y="381000"/>
                </a:lnTo>
                <a:lnTo>
                  <a:pt x="270380" y="381000"/>
                </a:lnTo>
                <a:lnTo>
                  <a:pt x="318949" y="367982"/>
                </a:lnTo>
                <a:lnTo>
                  <a:pt x="358834" y="337362"/>
                </a:lnTo>
                <a:lnTo>
                  <a:pt x="383966" y="293814"/>
                </a:lnTo>
                <a:lnTo>
                  <a:pt x="390525" y="260858"/>
                </a:lnTo>
                <a:lnTo>
                  <a:pt x="390525" y="120142"/>
                </a:lnTo>
                <a:lnTo>
                  <a:pt x="377507" y="71577"/>
                </a:lnTo>
                <a:lnTo>
                  <a:pt x="346894" y="31686"/>
                </a:lnTo>
                <a:lnTo>
                  <a:pt x="303345" y="6553"/>
                </a:lnTo>
                <a:lnTo>
                  <a:pt x="278739" y="825"/>
                </a:lnTo>
                <a:lnTo>
                  <a:pt x="270380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02567" y="4683125"/>
            <a:ext cx="1809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35" b="1">
                <a:solidFill>
                  <a:srgbClr val="3F5349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587" y="4649787"/>
            <a:ext cx="441515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0" b="1">
                <a:solidFill>
                  <a:srgbClr val="3F5349"/>
                </a:solidFill>
                <a:latin typeface="Cambria"/>
                <a:cs typeface="Cambria"/>
              </a:rPr>
              <a:t>Estructura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Organización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propiedades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métodos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una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clase.</a:t>
            </a:r>
            <a:endParaRPr sz="1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434975"/>
            <a:ext cx="5821045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275">
                <a:latin typeface="Tahoma"/>
                <a:cs typeface="Tahoma"/>
              </a:rPr>
              <a:t>R</a:t>
            </a:r>
            <a:r>
              <a:rPr dirty="0" spc="-130">
                <a:latin typeface="Tahoma"/>
                <a:cs typeface="Tahoma"/>
              </a:rPr>
              <a:t>e</a:t>
            </a:r>
            <a:r>
              <a:rPr dirty="0" spc="85">
                <a:latin typeface="Tahoma"/>
                <a:cs typeface="Tahoma"/>
              </a:rPr>
              <a:t>pr</a:t>
            </a:r>
            <a:r>
              <a:rPr dirty="0" spc="90">
                <a:latin typeface="Tahoma"/>
                <a:cs typeface="Tahoma"/>
              </a:rPr>
              <a:t>e</a:t>
            </a:r>
            <a:r>
              <a:rPr dirty="0" spc="-50">
                <a:latin typeface="Tahoma"/>
                <a:cs typeface="Tahoma"/>
              </a:rPr>
              <a:t>s</a:t>
            </a:r>
            <a:r>
              <a:rPr dirty="0" spc="-60">
                <a:latin typeface="Tahoma"/>
                <a:cs typeface="Tahoma"/>
              </a:rPr>
              <a:t>e</a:t>
            </a:r>
            <a:r>
              <a:rPr dirty="0" spc="630">
                <a:latin typeface="Tahoma"/>
                <a:cs typeface="Tahoma"/>
              </a:rPr>
              <a:t>"</a:t>
            </a:r>
            <a:r>
              <a:rPr dirty="0" spc="10">
                <a:latin typeface="Tahoma"/>
                <a:cs typeface="Tahoma"/>
              </a:rPr>
              <a:t>t</a:t>
            </a:r>
            <a:r>
              <a:rPr dirty="0" spc="10">
                <a:latin typeface="Tahoma"/>
                <a:cs typeface="Tahoma"/>
              </a:rPr>
              <a:t>a</a:t>
            </a:r>
            <a:r>
              <a:rPr dirty="0" spc="75">
                <a:latin typeface="Tahoma"/>
                <a:cs typeface="Tahoma"/>
              </a:rPr>
              <a:t>ció</a:t>
            </a:r>
            <a:r>
              <a:rPr dirty="0" spc="630">
                <a:latin typeface="Tahoma"/>
                <a:cs typeface="Tahoma"/>
              </a:rPr>
              <a:t>"</a:t>
            </a:r>
            <a:r>
              <a:rPr dirty="0" spc="-285">
                <a:latin typeface="Tahoma"/>
                <a:cs typeface="Tahoma"/>
              </a:rPr>
              <a:t> </a:t>
            </a:r>
            <a:r>
              <a:rPr dirty="0" spc="80">
                <a:latin typeface="Tahoma"/>
                <a:cs typeface="Tahoma"/>
              </a:rPr>
              <a:t>d</a:t>
            </a:r>
            <a:r>
              <a:rPr dirty="0" spc="-130">
                <a:latin typeface="Tahoma"/>
                <a:cs typeface="Tahoma"/>
              </a:rPr>
              <a:t>e</a:t>
            </a:r>
            <a:r>
              <a:rPr dirty="0" spc="-285">
                <a:latin typeface="Tahoma"/>
                <a:cs typeface="Tahoma"/>
              </a:rPr>
              <a:t> </a:t>
            </a:r>
            <a:r>
              <a:rPr dirty="0" spc="120">
                <a:latin typeface="Tahoma"/>
                <a:cs typeface="Tahoma"/>
              </a:rPr>
              <a:t>O</a:t>
            </a:r>
            <a:r>
              <a:rPr dirty="0" spc="-50">
                <a:latin typeface="Tahoma"/>
                <a:cs typeface="Tahoma"/>
              </a:rPr>
              <a:t>bj</a:t>
            </a:r>
            <a:r>
              <a:rPr dirty="0" spc="-65">
                <a:latin typeface="Tahoma"/>
                <a:cs typeface="Tahoma"/>
              </a:rPr>
              <a:t>e</a:t>
            </a:r>
            <a:r>
              <a:rPr dirty="0" spc="40">
                <a:latin typeface="Tahoma"/>
                <a:cs typeface="Tahoma"/>
              </a:rPr>
              <a:t>t</a:t>
            </a:r>
            <a:r>
              <a:rPr dirty="0" spc="5">
                <a:latin typeface="Tahoma"/>
                <a:cs typeface="Tahoma"/>
              </a:rPr>
              <a:t>o</a:t>
            </a:r>
            <a:r>
              <a:rPr dirty="0" spc="15">
                <a:latin typeface="Tahoma"/>
                <a:cs typeface="Tahoma"/>
              </a:rPr>
              <a:t>s  </a:t>
            </a:r>
            <a:r>
              <a:rPr dirty="0" spc="-130">
                <a:latin typeface="Tahoma"/>
                <a:cs typeface="Tahoma"/>
              </a:rPr>
              <a:t>e</a:t>
            </a:r>
            <a:r>
              <a:rPr dirty="0" spc="630">
                <a:latin typeface="Tahoma"/>
                <a:cs typeface="Tahoma"/>
              </a:rPr>
              <a:t>"</a:t>
            </a:r>
            <a:r>
              <a:rPr dirty="0" spc="-285">
                <a:latin typeface="Tahoma"/>
                <a:cs typeface="Tahoma"/>
              </a:rPr>
              <a:t> </a:t>
            </a:r>
            <a:r>
              <a:rPr dirty="0" spc="90">
                <a:latin typeface="Tahoma"/>
                <a:cs typeface="Tahoma"/>
              </a:rPr>
              <a:t>M</a:t>
            </a:r>
            <a:r>
              <a:rPr dirty="0" spc="55">
                <a:latin typeface="Tahoma"/>
                <a:cs typeface="Tahoma"/>
              </a:rPr>
              <a:t>e</a:t>
            </a:r>
            <a:r>
              <a:rPr dirty="0" spc="1185">
                <a:latin typeface="Tahoma"/>
                <a:cs typeface="Tahoma"/>
              </a:rPr>
              <a:t> o</a:t>
            </a:r>
            <a:r>
              <a:rPr dirty="0" spc="140">
                <a:latin typeface="Tahoma"/>
                <a:cs typeface="Tahoma"/>
              </a:rPr>
              <a:t>ria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64368" y="1819274"/>
            <a:ext cx="972185" cy="4133850"/>
            <a:chOff x="664368" y="1819274"/>
            <a:chExt cx="972185" cy="4133850"/>
          </a:xfrm>
        </p:grpSpPr>
        <p:sp>
          <p:nvSpPr>
            <p:cNvPr id="7" name="object 7"/>
            <p:cNvSpPr/>
            <p:nvPr/>
          </p:nvSpPr>
          <p:spPr>
            <a:xfrm>
              <a:off x="847725" y="1819274"/>
              <a:ext cx="788670" cy="4134485"/>
            </a:xfrm>
            <a:custGeom>
              <a:avLst/>
              <a:gdLst/>
              <a:ahLst/>
              <a:cxnLst/>
              <a:rect l="l" t="t" r="r" b="b"/>
              <a:pathLst>
                <a:path w="788669" h="4134485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124337"/>
                  </a:lnTo>
                  <a:lnTo>
                    <a:pt x="0" y="4126966"/>
                  </a:lnTo>
                  <a:lnTo>
                    <a:pt x="927" y="4129201"/>
                  </a:lnTo>
                  <a:lnTo>
                    <a:pt x="4648" y="4132923"/>
                  </a:lnTo>
                  <a:lnTo>
                    <a:pt x="6896" y="4133862"/>
                  </a:lnTo>
                  <a:lnTo>
                    <a:pt x="12153" y="4133862"/>
                  </a:lnTo>
                  <a:lnTo>
                    <a:pt x="14401" y="4132923"/>
                  </a:lnTo>
                  <a:lnTo>
                    <a:pt x="18122" y="4129201"/>
                  </a:lnTo>
                  <a:lnTo>
                    <a:pt x="19050" y="4126966"/>
                  </a:lnTo>
                  <a:lnTo>
                    <a:pt x="19050" y="6896"/>
                  </a:lnTo>
                  <a:close/>
                </a:path>
                <a:path w="788669" h="4134485">
                  <a:moveTo>
                    <a:pt x="788200" y="378371"/>
                  </a:moveTo>
                  <a:lnTo>
                    <a:pt x="787260" y="376123"/>
                  </a:lnTo>
                  <a:lnTo>
                    <a:pt x="783539" y="372402"/>
                  </a:lnTo>
                  <a:lnTo>
                    <a:pt x="781304" y="371475"/>
                  </a:lnTo>
                  <a:lnTo>
                    <a:pt x="195008" y="371475"/>
                  </a:lnTo>
                  <a:lnTo>
                    <a:pt x="192760" y="372402"/>
                  </a:lnTo>
                  <a:lnTo>
                    <a:pt x="189039" y="376123"/>
                  </a:lnTo>
                  <a:lnTo>
                    <a:pt x="188112" y="378371"/>
                  </a:lnTo>
                  <a:lnTo>
                    <a:pt x="188112" y="381000"/>
                  </a:lnTo>
                  <a:lnTo>
                    <a:pt x="188112" y="383628"/>
                  </a:lnTo>
                  <a:lnTo>
                    <a:pt x="189039" y="385876"/>
                  </a:lnTo>
                  <a:lnTo>
                    <a:pt x="192760" y="389597"/>
                  </a:lnTo>
                  <a:lnTo>
                    <a:pt x="195008" y="390525"/>
                  </a:lnTo>
                  <a:lnTo>
                    <a:pt x="781304" y="390525"/>
                  </a:lnTo>
                  <a:lnTo>
                    <a:pt x="783539" y="389597"/>
                  </a:lnTo>
                  <a:lnTo>
                    <a:pt x="787260" y="385876"/>
                  </a:lnTo>
                  <a:lnTo>
                    <a:pt x="788200" y="383628"/>
                  </a:lnTo>
                  <a:lnTo>
                    <a:pt x="788200" y="378371"/>
                  </a:lnTo>
                  <a:close/>
                </a:path>
              </a:pathLst>
            </a:custGeom>
            <a:solidFill>
              <a:srgbClr val="CED9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4368" y="2009774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270380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85"/>
                  </a:lnTo>
                  <a:lnTo>
                    <a:pt x="0" y="120142"/>
                  </a:lnTo>
                  <a:lnTo>
                    <a:pt x="0" y="261937"/>
                  </a:lnTo>
                  <a:lnTo>
                    <a:pt x="0" y="270383"/>
                  </a:lnTo>
                  <a:lnTo>
                    <a:pt x="13017" y="318947"/>
                  </a:lnTo>
                  <a:lnTo>
                    <a:pt x="43630" y="358825"/>
                  </a:lnTo>
                  <a:lnTo>
                    <a:pt x="87179" y="383971"/>
                  </a:lnTo>
                  <a:lnTo>
                    <a:pt x="120144" y="390525"/>
                  </a:lnTo>
                  <a:lnTo>
                    <a:pt x="270380" y="390525"/>
                  </a:lnTo>
                  <a:lnTo>
                    <a:pt x="318949" y="377507"/>
                  </a:lnTo>
                  <a:lnTo>
                    <a:pt x="358834" y="346887"/>
                  </a:lnTo>
                  <a:lnTo>
                    <a:pt x="383966" y="303339"/>
                  </a:lnTo>
                  <a:lnTo>
                    <a:pt x="390525" y="270383"/>
                  </a:lnTo>
                  <a:lnTo>
                    <a:pt x="390525" y="120142"/>
                  </a:lnTo>
                  <a:lnTo>
                    <a:pt x="377507" y="71577"/>
                  </a:lnTo>
                  <a:lnTo>
                    <a:pt x="346894" y="31686"/>
                  </a:lnTo>
                  <a:lnTo>
                    <a:pt x="303345" y="6553"/>
                  </a:lnTo>
                  <a:lnTo>
                    <a:pt x="278739" y="825"/>
                  </a:lnTo>
                  <a:lnTo>
                    <a:pt x="270380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80256" y="2025650"/>
            <a:ext cx="1543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65" b="1">
                <a:solidFill>
                  <a:srgbClr val="3F5349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7525" y="1973262"/>
            <a:ext cx="415861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5" b="1">
                <a:solidFill>
                  <a:srgbClr val="3F5349"/>
                </a:solidFill>
                <a:latin typeface="Tahoma"/>
                <a:cs typeface="Tahoma"/>
              </a:rPr>
              <a:t>Asig"ació"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50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compilador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reserva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espacio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memoria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las </a:t>
            </a:r>
            <a:r>
              <a:rPr dirty="0" sz="1350" spc="-3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propiedades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del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objeto.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368" y="3448050"/>
            <a:ext cx="972185" cy="381000"/>
            <a:chOff x="664368" y="3448050"/>
            <a:chExt cx="972185" cy="381000"/>
          </a:xfrm>
        </p:grpSpPr>
        <p:sp>
          <p:nvSpPr>
            <p:cNvPr id="12" name="object 12"/>
            <p:cNvSpPr/>
            <p:nvPr/>
          </p:nvSpPr>
          <p:spPr>
            <a:xfrm>
              <a:off x="1035843" y="3629025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CED9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64368" y="3448050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270380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85"/>
                  </a:lnTo>
                  <a:lnTo>
                    <a:pt x="0" y="120142"/>
                  </a:lnTo>
                  <a:lnTo>
                    <a:pt x="0" y="252412"/>
                  </a:lnTo>
                  <a:lnTo>
                    <a:pt x="0" y="260858"/>
                  </a:lnTo>
                  <a:lnTo>
                    <a:pt x="13017" y="309422"/>
                  </a:lnTo>
                  <a:lnTo>
                    <a:pt x="43630" y="349300"/>
                  </a:lnTo>
                  <a:lnTo>
                    <a:pt x="87179" y="374446"/>
                  </a:lnTo>
                  <a:lnTo>
                    <a:pt x="120144" y="381000"/>
                  </a:lnTo>
                  <a:lnTo>
                    <a:pt x="270380" y="381000"/>
                  </a:lnTo>
                  <a:lnTo>
                    <a:pt x="318949" y="367982"/>
                  </a:lnTo>
                  <a:lnTo>
                    <a:pt x="358834" y="337362"/>
                  </a:lnTo>
                  <a:lnTo>
                    <a:pt x="383966" y="293814"/>
                  </a:lnTo>
                  <a:lnTo>
                    <a:pt x="390525" y="260858"/>
                  </a:lnTo>
                  <a:lnTo>
                    <a:pt x="390525" y="120142"/>
                  </a:lnTo>
                  <a:lnTo>
                    <a:pt x="377507" y="71577"/>
                  </a:lnTo>
                  <a:lnTo>
                    <a:pt x="346894" y="31686"/>
                  </a:lnTo>
                  <a:lnTo>
                    <a:pt x="303345" y="6553"/>
                  </a:lnTo>
                  <a:lnTo>
                    <a:pt x="278739" y="825"/>
                  </a:lnTo>
                  <a:lnTo>
                    <a:pt x="270380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60462" y="3454400"/>
            <a:ext cx="1936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5" b="1">
                <a:solidFill>
                  <a:srgbClr val="3F5349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87525" y="3402012"/>
            <a:ext cx="450151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 b="1">
                <a:solidFill>
                  <a:srgbClr val="3F5349"/>
                </a:solidFill>
                <a:latin typeface="Tahoma"/>
                <a:cs typeface="Tahoma"/>
              </a:rPr>
              <a:t>Orga"izació"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Las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propiedades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se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almacenan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estructuras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datos </a:t>
            </a:r>
            <a:r>
              <a:rPr dirty="0" sz="1350" spc="-3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específicas.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4368" y="4876800"/>
            <a:ext cx="972185" cy="390525"/>
            <a:chOff x="664368" y="4876800"/>
            <a:chExt cx="972185" cy="390525"/>
          </a:xfrm>
        </p:grpSpPr>
        <p:sp>
          <p:nvSpPr>
            <p:cNvPr id="17" name="object 17"/>
            <p:cNvSpPr/>
            <p:nvPr/>
          </p:nvSpPr>
          <p:spPr>
            <a:xfrm>
              <a:off x="1035843" y="5067300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CED9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4368" y="487680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270380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85"/>
                  </a:lnTo>
                  <a:lnTo>
                    <a:pt x="0" y="120142"/>
                  </a:lnTo>
                  <a:lnTo>
                    <a:pt x="0" y="261937"/>
                  </a:lnTo>
                  <a:lnTo>
                    <a:pt x="0" y="270383"/>
                  </a:lnTo>
                  <a:lnTo>
                    <a:pt x="13017" y="318943"/>
                  </a:lnTo>
                  <a:lnTo>
                    <a:pt x="43630" y="358830"/>
                  </a:lnTo>
                  <a:lnTo>
                    <a:pt x="87179" y="383967"/>
                  </a:lnTo>
                  <a:lnTo>
                    <a:pt x="120144" y="390526"/>
                  </a:lnTo>
                  <a:lnTo>
                    <a:pt x="270380" y="390526"/>
                  </a:lnTo>
                  <a:lnTo>
                    <a:pt x="318949" y="377503"/>
                  </a:lnTo>
                  <a:lnTo>
                    <a:pt x="358834" y="346889"/>
                  </a:lnTo>
                  <a:lnTo>
                    <a:pt x="383966" y="303342"/>
                  </a:lnTo>
                  <a:lnTo>
                    <a:pt x="390525" y="270383"/>
                  </a:lnTo>
                  <a:lnTo>
                    <a:pt x="390525" y="120142"/>
                  </a:lnTo>
                  <a:lnTo>
                    <a:pt x="377507" y="71577"/>
                  </a:lnTo>
                  <a:lnTo>
                    <a:pt x="346894" y="31686"/>
                  </a:lnTo>
                  <a:lnTo>
                    <a:pt x="303345" y="6553"/>
                  </a:lnTo>
                  <a:lnTo>
                    <a:pt x="278739" y="825"/>
                  </a:lnTo>
                  <a:lnTo>
                    <a:pt x="270380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66861" y="4892675"/>
            <a:ext cx="1809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5" b="1">
                <a:solidFill>
                  <a:srgbClr val="3F5349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87525" y="4840287"/>
            <a:ext cx="445262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0" b="1">
                <a:solidFill>
                  <a:srgbClr val="3F5349"/>
                </a:solidFill>
                <a:latin typeface="Tahoma"/>
                <a:cs typeface="Tahoma"/>
              </a:rPr>
              <a:t>Acceso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Se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utilizan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punteros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acceder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a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las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propiedades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en </a:t>
            </a:r>
            <a:r>
              <a:rPr dirty="0" sz="1350" spc="-3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ensamblador.</a:t>
            </a:r>
            <a:endParaRPr sz="1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572" y="2597149"/>
            <a:ext cx="6791959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685">
                <a:latin typeface="Tahoma"/>
                <a:cs typeface="Tahoma"/>
              </a:rPr>
              <a:t>I p</a:t>
            </a:r>
            <a:r>
              <a:rPr dirty="0" spc="434">
                <a:latin typeface="Tahoma"/>
                <a:cs typeface="Tahoma"/>
              </a:rPr>
              <a:t>l</a:t>
            </a:r>
            <a:r>
              <a:rPr dirty="0" spc="-130">
                <a:latin typeface="Tahoma"/>
                <a:cs typeface="Tahoma"/>
              </a:rPr>
              <a:t>e</a:t>
            </a:r>
            <a:r>
              <a:rPr dirty="0" spc="740">
                <a:latin typeface="Tahoma"/>
                <a:cs typeface="Tahoma"/>
              </a:rPr>
              <a:t> </a:t>
            </a:r>
            <a:r>
              <a:rPr dirty="0" spc="1495">
                <a:latin typeface="Tahoma"/>
                <a:cs typeface="Tahoma"/>
              </a:rPr>
              <a:t>e</a:t>
            </a:r>
            <a:r>
              <a:rPr dirty="0" spc="630">
                <a:latin typeface="Tahoma"/>
                <a:cs typeface="Tahoma"/>
              </a:rPr>
              <a:t>"</a:t>
            </a:r>
            <a:r>
              <a:rPr dirty="0" spc="10">
                <a:latin typeface="Tahoma"/>
                <a:cs typeface="Tahoma"/>
              </a:rPr>
              <a:t>t</a:t>
            </a:r>
            <a:r>
              <a:rPr dirty="0" spc="10">
                <a:latin typeface="Tahoma"/>
                <a:cs typeface="Tahoma"/>
              </a:rPr>
              <a:t>a</a:t>
            </a:r>
            <a:r>
              <a:rPr dirty="0" spc="75">
                <a:latin typeface="Tahoma"/>
                <a:cs typeface="Tahoma"/>
              </a:rPr>
              <a:t>ció</a:t>
            </a:r>
            <a:r>
              <a:rPr dirty="0" spc="630">
                <a:latin typeface="Tahoma"/>
                <a:cs typeface="Tahoma"/>
              </a:rPr>
              <a:t>"</a:t>
            </a:r>
            <a:r>
              <a:rPr dirty="0" spc="-285">
                <a:latin typeface="Tahoma"/>
                <a:cs typeface="Tahoma"/>
              </a:rPr>
              <a:t> </a:t>
            </a:r>
            <a:r>
              <a:rPr dirty="0" spc="80">
                <a:latin typeface="Tahoma"/>
                <a:cs typeface="Tahoma"/>
              </a:rPr>
              <a:t>d</a:t>
            </a:r>
            <a:r>
              <a:rPr dirty="0" spc="-130">
                <a:latin typeface="Tahoma"/>
                <a:cs typeface="Tahoma"/>
              </a:rPr>
              <a:t>e</a:t>
            </a:r>
            <a:r>
              <a:rPr dirty="0" spc="-285">
                <a:latin typeface="Tahoma"/>
                <a:cs typeface="Tahoma"/>
              </a:rPr>
              <a:t> </a:t>
            </a:r>
            <a:r>
              <a:rPr dirty="0" spc="90">
                <a:latin typeface="Tahoma"/>
                <a:cs typeface="Tahoma"/>
              </a:rPr>
              <a:t>M</a:t>
            </a:r>
            <a:r>
              <a:rPr dirty="0" spc="55">
                <a:latin typeface="Tahoma"/>
                <a:cs typeface="Tahoma"/>
              </a:rPr>
              <a:t>é</a:t>
            </a:r>
            <a:r>
              <a:rPr dirty="0" spc="40">
                <a:latin typeface="Tahoma"/>
                <a:cs typeface="Tahoma"/>
              </a:rPr>
              <a:t>t</a:t>
            </a:r>
            <a:r>
              <a:rPr dirty="0" spc="5">
                <a:latin typeface="Tahoma"/>
                <a:cs typeface="Tahoma"/>
              </a:rPr>
              <a:t>o</a:t>
            </a:r>
            <a:r>
              <a:rPr dirty="0" spc="80">
                <a:latin typeface="Tahoma"/>
                <a:cs typeface="Tahoma"/>
              </a:rPr>
              <a:t>d</a:t>
            </a:r>
            <a:r>
              <a:rPr dirty="0" spc="5">
                <a:latin typeface="Tahoma"/>
                <a:cs typeface="Tahoma"/>
              </a:rPr>
              <a:t>o</a:t>
            </a:r>
            <a:r>
              <a:rPr dirty="0" spc="25">
                <a:latin typeface="Tahoma"/>
                <a:cs typeface="Tahoma"/>
              </a:rPr>
              <a:t>s</a:t>
            </a:r>
            <a:r>
              <a:rPr dirty="0" spc="-285">
                <a:latin typeface="Tahoma"/>
                <a:cs typeface="Tahoma"/>
              </a:rPr>
              <a:t> </a:t>
            </a:r>
            <a:r>
              <a:rPr dirty="0" spc="-130">
                <a:latin typeface="Tahoma"/>
                <a:cs typeface="Tahoma"/>
              </a:rPr>
              <a:t>e</a:t>
            </a:r>
            <a:r>
              <a:rPr dirty="0" spc="459">
                <a:latin typeface="Tahoma"/>
                <a:cs typeface="Tahoma"/>
              </a:rPr>
              <a:t>"  </a:t>
            </a:r>
            <a:r>
              <a:rPr dirty="0" spc="215">
                <a:latin typeface="Tahoma"/>
                <a:cs typeface="Tahoma"/>
              </a:rPr>
              <a:t>E"sa</a:t>
            </a:r>
            <a:r>
              <a:rPr dirty="0" spc="605">
                <a:latin typeface="Tahoma"/>
                <a:cs typeface="Tahoma"/>
              </a:rPr>
              <a:t> </a:t>
            </a:r>
            <a:r>
              <a:rPr dirty="0" spc="380">
                <a:latin typeface="Tahoma"/>
                <a:cs typeface="Tahoma"/>
              </a:rPr>
              <a:t>blador</a:t>
            </a:r>
          </a:p>
        </p:txBody>
      </p:sp>
      <p:sp>
        <p:nvSpPr>
          <p:cNvPr id="3" name="object 3"/>
          <p:cNvSpPr/>
          <p:nvPr/>
        </p:nvSpPr>
        <p:spPr>
          <a:xfrm>
            <a:off x="1028700" y="3943362"/>
            <a:ext cx="6246495" cy="685800"/>
          </a:xfrm>
          <a:custGeom>
            <a:avLst/>
            <a:gdLst/>
            <a:ahLst/>
            <a:cxnLst/>
            <a:rect l="l" t="t" r="r" b="b"/>
            <a:pathLst>
              <a:path w="6246495" h="685800">
                <a:moveTo>
                  <a:pt x="3121825" y="342887"/>
                </a:moveTo>
                <a:lnTo>
                  <a:pt x="2950375" y="0"/>
                </a:lnTo>
                <a:lnTo>
                  <a:pt x="0" y="0"/>
                </a:lnTo>
                <a:lnTo>
                  <a:pt x="171450" y="342887"/>
                </a:lnTo>
                <a:lnTo>
                  <a:pt x="0" y="685787"/>
                </a:lnTo>
                <a:lnTo>
                  <a:pt x="2950375" y="685787"/>
                </a:lnTo>
                <a:lnTo>
                  <a:pt x="3121825" y="342887"/>
                </a:lnTo>
                <a:close/>
              </a:path>
              <a:path w="6246495" h="685800">
                <a:moveTo>
                  <a:pt x="6246025" y="342887"/>
                </a:moveTo>
                <a:lnTo>
                  <a:pt x="6074575" y="0"/>
                </a:lnTo>
                <a:lnTo>
                  <a:pt x="3124200" y="0"/>
                </a:lnTo>
                <a:lnTo>
                  <a:pt x="3295650" y="342887"/>
                </a:lnTo>
                <a:lnTo>
                  <a:pt x="3124200" y="685787"/>
                </a:lnTo>
                <a:lnTo>
                  <a:pt x="6074575" y="685787"/>
                </a:lnTo>
                <a:lnTo>
                  <a:pt x="6246025" y="342887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91022" y="4868862"/>
            <a:ext cx="222885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 b="1">
                <a:solidFill>
                  <a:srgbClr val="3F5349"/>
                </a:solidFill>
                <a:latin typeface="Tahoma"/>
                <a:cs typeface="Tahoma"/>
              </a:rPr>
              <a:t>Traducció"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50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compilador</a:t>
            </a: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convierte</a:t>
            </a: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los </a:t>
            </a:r>
            <a:r>
              <a:rPr dirty="0" sz="1350" spc="-3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métodos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en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funciones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ensamblador.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6187" y="4111625"/>
            <a:ext cx="32956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14040" algn="l"/>
              </a:tabLst>
            </a:pPr>
            <a:r>
              <a:rPr dirty="0" sz="2000" spc="-265" b="1">
                <a:solidFill>
                  <a:srgbClr val="3F5349"/>
                </a:solidFill>
                <a:latin typeface="Tahoma"/>
                <a:cs typeface="Tahoma"/>
              </a:rPr>
              <a:t>1</a:t>
            </a:r>
            <a:r>
              <a:rPr dirty="0" sz="2000" spc="-265" b="1">
                <a:solidFill>
                  <a:srgbClr val="3F5349"/>
                </a:solidFill>
                <a:latin typeface="Tahoma"/>
                <a:cs typeface="Tahoma"/>
              </a:rPr>
              <a:t>	</a:t>
            </a:r>
            <a:r>
              <a:rPr dirty="0" sz="2000" spc="45" b="1">
                <a:solidFill>
                  <a:srgbClr val="3F5349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2843" y="4868862"/>
            <a:ext cx="229997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75" b="1">
                <a:solidFill>
                  <a:srgbClr val="3F5349"/>
                </a:solidFill>
                <a:latin typeface="Tahoma"/>
                <a:cs typeface="Tahoma"/>
              </a:rPr>
              <a:t>Argu</a:t>
            </a:r>
            <a:r>
              <a:rPr dirty="0" sz="1650" spc="100" b="1">
                <a:solidFill>
                  <a:srgbClr val="3F5349"/>
                </a:solidFill>
                <a:latin typeface="Tahoma"/>
                <a:cs typeface="Tahoma"/>
              </a:rPr>
              <a:t> </a:t>
            </a:r>
            <a:r>
              <a:rPr dirty="0" sz="1650" spc="130" b="1">
                <a:solidFill>
                  <a:srgbClr val="3F5349"/>
                </a:solidFill>
                <a:latin typeface="Tahoma"/>
                <a:cs typeface="Tahoma"/>
              </a:rPr>
              <a:t>e"tos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25">
                <a:solidFill>
                  <a:srgbClr val="3F5349"/>
                </a:solidFill>
                <a:latin typeface="Microsoft Sans Serif"/>
                <a:cs typeface="Microsoft Sans Serif"/>
              </a:rPr>
              <a:t>Los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parámetros 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se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pasan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utilizando</a:t>
            </a: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registros</a:t>
            </a: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pila.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77100" y="3943349"/>
            <a:ext cx="3122295" cy="685800"/>
          </a:xfrm>
          <a:custGeom>
            <a:avLst/>
            <a:gdLst/>
            <a:ahLst/>
            <a:cxnLst/>
            <a:rect l="l" t="t" r="r" b="b"/>
            <a:pathLst>
              <a:path w="3122295" h="685800">
                <a:moveTo>
                  <a:pt x="2950375" y="0"/>
                </a:moveTo>
                <a:lnTo>
                  <a:pt x="0" y="0"/>
                </a:lnTo>
                <a:lnTo>
                  <a:pt x="171450" y="342900"/>
                </a:lnTo>
                <a:lnTo>
                  <a:pt x="0" y="685800"/>
                </a:lnTo>
                <a:lnTo>
                  <a:pt x="2950375" y="685800"/>
                </a:lnTo>
                <a:lnTo>
                  <a:pt x="3121825" y="342900"/>
                </a:lnTo>
                <a:lnTo>
                  <a:pt x="2950375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746426" y="4111625"/>
            <a:ext cx="1809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5" b="1">
                <a:solidFill>
                  <a:srgbClr val="3F5349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34656" y="4868862"/>
            <a:ext cx="280162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 b="1">
                <a:solidFill>
                  <a:srgbClr val="3F5349"/>
                </a:solidFill>
                <a:latin typeface="Tahoma"/>
                <a:cs typeface="Tahoma"/>
              </a:rPr>
              <a:t>I"vocació"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Se</a:t>
            </a:r>
            <a:r>
              <a:rPr dirty="0" sz="1350" spc="-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utiliza</a:t>
            </a:r>
            <a:r>
              <a:rPr dirty="0" sz="1350" spc="-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un</a:t>
            </a:r>
            <a:r>
              <a:rPr dirty="0" sz="1350" spc="-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esquema</a:t>
            </a: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consistente </a:t>
            </a:r>
            <a:r>
              <a:rPr dirty="0" sz="1350" spc="-3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llamar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y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retornar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métodos.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621563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572" y="1844675"/>
            <a:ext cx="7466330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195"/>
              <a:t>Eje</a:t>
            </a:r>
            <a:r>
              <a:rPr dirty="0" spc="560"/>
              <a:t> </a:t>
            </a:r>
            <a:r>
              <a:rPr dirty="0" spc="840"/>
              <a:t>plo</a:t>
            </a:r>
            <a:r>
              <a:rPr dirty="0" spc="-45"/>
              <a:t> </a:t>
            </a:r>
            <a:r>
              <a:rPr dirty="0" spc="235"/>
              <a:t>Práctico</a:t>
            </a:r>
            <a:r>
              <a:rPr dirty="0" spc="-50"/>
              <a:t> </a:t>
            </a:r>
            <a:r>
              <a:rPr dirty="0" spc="135"/>
              <a:t>de</a:t>
            </a:r>
            <a:r>
              <a:rPr dirty="0" spc="-45"/>
              <a:t> </a:t>
            </a:r>
            <a:r>
              <a:rPr dirty="0" spc="335"/>
              <a:t>I"vocació"</a:t>
            </a:r>
            <a:r>
              <a:rPr dirty="0" spc="-45"/>
              <a:t> </a:t>
            </a:r>
            <a:r>
              <a:rPr dirty="0" spc="135"/>
              <a:t>de </a:t>
            </a:r>
            <a:r>
              <a:rPr dirty="0" spc="-725"/>
              <a:t> </a:t>
            </a:r>
            <a:r>
              <a:rPr dirty="0" spc="204"/>
              <a:t>Métodos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9572" y="3382962"/>
            <a:ext cx="2828290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0" b="1">
                <a:solidFill>
                  <a:srgbClr val="3B443F"/>
                </a:solidFill>
                <a:latin typeface="Cambria"/>
                <a:cs typeface="Cambria"/>
              </a:rPr>
              <a:t>Código</a:t>
            </a:r>
            <a:r>
              <a:rPr dirty="0" sz="1650" spc="-30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3B443F"/>
                </a:solidFill>
                <a:latin typeface="Cambria"/>
                <a:cs typeface="Cambria"/>
              </a:rPr>
              <a:t>de</a:t>
            </a:r>
            <a:r>
              <a:rPr dirty="0" sz="1650" spc="-30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125" b="1">
                <a:solidFill>
                  <a:srgbClr val="3B443F"/>
                </a:solidFill>
                <a:latin typeface="Cambria"/>
                <a:cs typeface="Cambria"/>
              </a:rPr>
              <a:t>Alto</a:t>
            </a:r>
            <a:r>
              <a:rPr dirty="0" sz="1650" spc="-25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85" b="1">
                <a:solidFill>
                  <a:srgbClr val="3B443F"/>
                </a:solidFill>
                <a:latin typeface="Cambria"/>
                <a:cs typeface="Cambria"/>
              </a:rPr>
              <a:t>Nivel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Definición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una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clase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simple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con </a:t>
            </a:r>
            <a:r>
              <a:rPr dirty="0" sz="1350" spc="-3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un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85">
                <a:solidFill>
                  <a:srgbClr val="3F5349"/>
                </a:solidFill>
                <a:latin typeface="Microsoft Sans Serif"/>
                <a:cs typeface="Microsoft Sans Serif"/>
              </a:rPr>
              <a:t>método.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89920" y="3382962"/>
            <a:ext cx="2593975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45" b="1">
                <a:solidFill>
                  <a:srgbClr val="3B443F"/>
                </a:solidFill>
                <a:latin typeface="Cambria"/>
                <a:cs typeface="Cambria"/>
              </a:rPr>
              <a:t>Traducció"</a:t>
            </a:r>
            <a:r>
              <a:rPr dirty="0" sz="1650" spc="-30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110" b="1">
                <a:solidFill>
                  <a:srgbClr val="3B443F"/>
                </a:solidFill>
                <a:latin typeface="Cambria"/>
                <a:cs typeface="Cambria"/>
              </a:rPr>
              <a:t>a</a:t>
            </a:r>
            <a:r>
              <a:rPr dirty="0" sz="1650" spc="-25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210" b="1">
                <a:solidFill>
                  <a:srgbClr val="3B443F"/>
                </a:solidFill>
                <a:latin typeface="Cambria"/>
                <a:cs typeface="Cambria"/>
              </a:rPr>
              <a:t>RISC-V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Código</a:t>
            </a: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ensamblador</a:t>
            </a: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resultante </a:t>
            </a:r>
            <a:r>
              <a:rPr dirty="0" sz="1350" spc="-3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invocación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del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85">
                <a:solidFill>
                  <a:srgbClr val="3F5349"/>
                </a:solidFill>
                <a:latin typeface="Microsoft Sans Serif"/>
                <a:cs typeface="Microsoft Sans Serif"/>
              </a:rPr>
              <a:t>método.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0271" y="3382962"/>
            <a:ext cx="2398395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40" b="1">
                <a:solidFill>
                  <a:srgbClr val="3B443F"/>
                </a:solidFill>
                <a:latin typeface="Cambria"/>
                <a:cs typeface="Cambria"/>
              </a:rPr>
              <a:t>Paso</a:t>
            </a:r>
            <a:r>
              <a:rPr dirty="0" sz="1650" spc="-40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3B443F"/>
                </a:solidFill>
                <a:latin typeface="Cambria"/>
                <a:cs typeface="Cambria"/>
              </a:rPr>
              <a:t>de</a:t>
            </a:r>
            <a:r>
              <a:rPr dirty="0" sz="1650" spc="-35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105" b="1">
                <a:solidFill>
                  <a:srgbClr val="3B443F"/>
                </a:solidFill>
                <a:latin typeface="Cambria"/>
                <a:cs typeface="Cambria"/>
              </a:rPr>
              <a:t>Objeto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Cómo</a:t>
            </a: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se</a:t>
            </a:r>
            <a:r>
              <a:rPr dirty="0" sz="1350" spc="-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pasa</a:t>
            </a:r>
            <a:r>
              <a:rPr dirty="0" sz="1350" spc="-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-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referencia</a:t>
            </a:r>
            <a:r>
              <a:rPr dirty="0" sz="1350" spc="-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al </a:t>
            </a:r>
            <a:r>
              <a:rPr dirty="0" sz="1350" spc="-3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objeto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5">
                <a:solidFill>
                  <a:srgbClr val="3F5349"/>
                </a:solidFill>
                <a:latin typeface="Microsoft Sans Serif"/>
                <a:cs typeface="Microsoft Sans Serif"/>
              </a:rPr>
              <a:t>los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registros.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149350"/>
            <a:ext cx="53257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10"/>
              <a:t>Ma"ejo</a:t>
            </a:r>
            <a:r>
              <a:rPr dirty="0" spc="-55"/>
              <a:t> </a:t>
            </a:r>
            <a:r>
              <a:rPr dirty="0" spc="130"/>
              <a:t>del</a:t>
            </a:r>
            <a:r>
              <a:rPr dirty="0" spc="-55"/>
              <a:t> </a:t>
            </a:r>
            <a:r>
              <a:rPr dirty="0" spc="260"/>
              <a:t>Heap</a:t>
            </a:r>
            <a:r>
              <a:rPr dirty="0" spc="-50"/>
              <a:t> </a:t>
            </a:r>
            <a:r>
              <a:rPr dirty="0" spc="465"/>
              <a:t>e"</a:t>
            </a:r>
            <a:r>
              <a:rPr dirty="0" spc="-55"/>
              <a:t> </a:t>
            </a:r>
            <a:r>
              <a:rPr dirty="0" spc="405"/>
              <a:t>POO</a:t>
            </a:r>
          </a:p>
        </p:txBody>
      </p:sp>
      <p:sp>
        <p:nvSpPr>
          <p:cNvPr id="4" name="object 4"/>
          <p:cNvSpPr/>
          <p:nvPr/>
        </p:nvSpPr>
        <p:spPr>
          <a:xfrm>
            <a:off x="4886325" y="1962149"/>
            <a:ext cx="5943600" cy="990600"/>
          </a:xfrm>
          <a:custGeom>
            <a:avLst/>
            <a:gdLst/>
            <a:ahLst/>
            <a:cxnLst/>
            <a:rect l="l" t="t" r="r" b="b"/>
            <a:pathLst>
              <a:path w="5943600" h="990600">
                <a:moveTo>
                  <a:pt x="5823458" y="0"/>
                </a:moveTo>
                <a:lnTo>
                  <a:pt x="120142" y="0"/>
                </a:lnTo>
                <a:lnTo>
                  <a:pt x="111785" y="825"/>
                </a:lnTo>
                <a:lnTo>
                  <a:pt x="71577" y="13017"/>
                </a:lnTo>
                <a:lnTo>
                  <a:pt x="31686" y="43637"/>
                </a:lnTo>
                <a:lnTo>
                  <a:pt x="6553" y="87185"/>
                </a:lnTo>
                <a:lnTo>
                  <a:pt x="0" y="120142"/>
                </a:lnTo>
                <a:lnTo>
                  <a:pt x="0" y="862012"/>
                </a:lnTo>
                <a:lnTo>
                  <a:pt x="0" y="870458"/>
                </a:lnTo>
                <a:lnTo>
                  <a:pt x="13017" y="919022"/>
                </a:lnTo>
                <a:lnTo>
                  <a:pt x="43637" y="958900"/>
                </a:lnTo>
                <a:lnTo>
                  <a:pt x="87172" y="984046"/>
                </a:lnTo>
                <a:lnTo>
                  <a:pt x="120142" y="990600"/>
                </a:lnTo>
                <a:lnTo>
                  <a:pt x="5823458" y="990600"/>
                </a:lnTo>
                <a:lnTo>
                  <a:pt x="5872022" y="977582"/>
                </a:lnTo>
                <a:lnTo>
                  <a:pt x="5911913" y="946962"/>
                </a:lnTo>
                <a:lnTo>
                  <a:pt x="5937046" y="903414"/>
                </a:lnTo>
                <a:lnTo>
                  <a:pt x="5943600" y="870458"/>
                </a:lnTo>
                <a:lnTo>
                  <a:pt x="5943600" y="120142"/>
                </a:lnTo>
                <a:lnTo>
                  <a:pt x="5930582" y="71577"/>
                </a:lnTo>
                <a:lnTo>
                  <a:pt x="5899962" y="31686"/>
                </a:lnTo>
                <a:lnTo>
                  <a:pt x="5856427" y="6553"/>
                </a:lnTo>
                <a:lnTo>
                  <a:pt x="5831814" y="825"/>
                </a:lnTo>
                <a:lnTo>
                  <a:pt x="5823458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045075" y="2116137"/>
            <a:ext cx="491934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0" b="1">
                <a:solidFill>
                  <a:srgbClr val="3F5349"/>
                </a:solidFill>
                <a:latin typeface="Cambria"/>
                <a:cs typeface="Cambria"/>
              </a:rPr>
              <a:t>Asig"ació"</a:t>
            </a:r>
            <a:r>
              <a:rPr dirty="0" sz="1650" spc="-30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204" b="1">
                <a:solidFill>
                  <a:srgbClr val="3F5349"/>
                </a:solidFill>
                <a:latin typeface="Cambria"/>
                <a:cs typeface="Cambria"/>
              </a:rPr>
              <a:t>Di"á</a:t>
            </a:r>
            <a:r>
              <a:rPr dirty="0" sz="1650" spc="21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465" b="1">
                <a:solidFill>
                  <a:srgbClr val="3F5349"/>
                </a:solidFill>
                <a:latin typeface="Cambria"/>
                <a:cs typeface="Cambria"/>
              </a:rPr>
              <a:t>ica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Instrucciones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reservar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espacio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heap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objetos.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86325" y="3124199"/>
            <a:ext cx="5943600" cy="981075"/>
          </a:xfrm>
          <a:custGeom>
            <a:avLst/>
            <a:gdLst/>
            <a:ahLst/>
            <a:cxnLst/>
            <a:rect l="l" t="t" r="r" b="b"/>
            <a:pathLst>
              <a:path w="5943600" h="981075">
                <a:moveTo>
                  <a:pt x="5823458" y="0"/>
                </a:moveTo>
                <a:lnTo>
                  <a:pt x="120142" y="0"/>
                </a:lnTo>
                <a:lnTo>
                  <a:pt x="111785" y="825"/>
                </a:lnTo>
                <a:lnTo>
                  <a:pt x="71577" y="13017"/>
                </a:lnTo>
                <a:lnTo>
                  <a:pt x="31686" y="43637"/>
                </a:lnTo>
                <a:lnTo>
                  <a:pt x="6553" y="87185"/>
                </a:lnTo>
                <a:lnTo>
                  <a:pt x="0" y="120142"/>
                </a:lnTo>
                <a:lnTo>
                  <a:pt x="0" y="852487"/>
                </a:lnTo>
                <a:lnTo>
                  <a:pt x="0" y="860933"/>
                </a:lnTo>
                <a:lnTo>
                  <a:pt x="13017" y="909497"/>
                </a:lnTo>
                <a:lnTo>
                  <a:pt x="43637" y="949375"/>
                </a:lnTo>
                <a:lnTo>
                  <a:pt x="87172" y="974521"/>
                </a:lnTo>
                <a:lnTo>
                  <a:pt x="120142" y="981075"/>
                </a:lnTo>
                <a:lnTo>
                  <a:pt x="5823458" y="981075"/>
                </a:lnTo>
                <a:lnTo>
                  <a:pt x="5872022" y="968057"/>
                </a:lnTo>
                <a:lnTo>
                  <a:pt x="5911913" y="937437"/>
                </a:lnTo>
                <a:lnTo>
                  <a:pt x="5937046" y="893889"/>
                </a:lnTo>
                <a:lnTo>
                  <a:pt x="5943600" y="860933"/>
                </a:lnTo>
                <a:lnTo>
                  <a:pt x="5943600" y="120142"/>
                </a:lnTo>
                <a:lnTo>
                  <a:pt x="5930582" y="71577"/>
                </a:lnTo>
                <a:lnTo>
                  <a:pt x="5899962" y="31686"/>
                </a:lnTo>
                <a:lnTo>
                  <a:pt x="5856427" y="6553"/>
                </a:lnTo>
                <a:lnTo>
                  <a:pt x="5831814" y="825"/>
                </a:lnTo>
                <a:lnTo>
                  <a:pt x="5823458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45075" y="3278187"/>
            <a:ext cx="554228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5" b="1">
                <a:solidFill>
                  <a:srgbClr val="3F5349"/>
                </a:solidFill>
                <a:latin typeface="Cambria"/>
                <a:cs typeface="Cambria"/>
              </a:rPr>
              <a:t>Liberació"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Gestión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memoria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evitar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fugas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optimizar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rendimiento.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86325" y="4276725"/>
            <a:ext cx="5943600" cy="990600"/>
          </a:xfrm>
          <a:custGeom>
            <a:avLst/>
            <a:gdLst/>
            <a:ahLst/>
            <a:cxnLst/>
            <a:rect l="l" t="t" r="r" b="b"/>
            <a:pathLst>
              <a:path w="5943600" h="990600">
                <a:moveTo>
                  <a:pt x="5823458" y="0"/>
                </a:moveTo>
                <a:lnTo>
                  <a:pt x="120142" y="0"/>
                </a:lnTo>
                <a:lnTo>
                  <a:pt x="111785" y="825"/>
                </a:lnTo>
                <a:lnTo>
                  <a:pt x="71577" y="13017"/>
                </a:lnTo>
                <a:lnTo>
                  <a:pt x="31686" y="43637"/>
                </a:lnTo>
                <a:lnTo>
                  <a:pt x="6553" y="87185"/>
                </a:lnTo>
                <a:lnTo>
                  <a:pt x="0" y="120142"/>
                </a:lnTo>
                <a:lnTo>
                  <a:pt x="0" y="862012"/>
                </a:lnTo>
                <a:lnTo>
                  <a:pt x="0" y="870458"/>
                </a:lnTo>
                <a:lnTo>
                  <a:pt x="13017" y="919019"/>
                </a:lnTo>
                <a:lnTo>
                  <a:pt x="43637" y="958905"/>
                </a:lnTo>
                <a:lnTo>
                  <a:pt x="87172" y="984043"/>
                </a:lnTo>
                <a:lnTo>
                  <a:pt x="120142" y="990601"/>
                </a:lnTo>
                <a:lnTo>
                  <a:pt x="5823458" y="990601"/>
                </a:lnTo>
                <a:lnTo>
                  <a:pt x="5872022" y="977578"/>
                </a:lnTo>
                <a:lnTo>
                  <a:pt x="5911913" y="946964"/>
                </a:lnTo>
                <a:lnTo>
                  <a:pt x="5937046" y="903417"/>
                </a:lnTo>
                <a:lnTo>
                  <a:pt x="5943600" y="870458"/>
                </a:lnTo>
                <a:lnTo>
                  <a:pt x="5943600" y="120142"/>
                </a:lnTo>
                <a:lnTo>
                  <a:pt x="5930582" y="71577"/>
                </a:lnTo>
                <a:lnTo>
                  <a:pt x="5899962" y="31686"/>
                </a:lnTo>
                <a:lnTo>
                  <a:pt x="5856427" y="6553"/>
                </a:lnTo>
                <a:lnTo>
                  <a:pt x="5831814" y="825"/>
                </a:lnTo>
                <a:lnTo>
                  <a:pt x="5823458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45075" y="4430712"/>
            <a:ext cx="539305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45" b="1">
                <a:solidFill>
                  <a:srgbClr val="3F5349"/>
                </a:solidFill>
                <a:latin typeface="Cambria"/>
                <a:cs typeface="Cambria"/>
              </a:rPr>
              <a:t>Eficie"cia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Estrategias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minimizar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fragmentación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uso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memoria.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048500"/>
          </a:xfrm>
          <a:custGeom>
            <a:avLst/>
            <a:gdLst/>
            <a:ahLst/>
            <a:cxnLst/>
            <a:rect l="l" t="t" r="r" b="b"/>
            <a:pathLst>
              <a:path w="11430000" h="7048500">
                <a:moveTo>
                  <a:pt x="11430000" y="0"/>
                </a:moveTo>
                <a:lnTo>
                  <a:pt x="0" y="0"/>
                </a:lnTo>
                <a:lnTo>
                  <a:pt x="0" y="7048500"/>
                </a:lnTo>
                <a:lnTo>
                  <a:pt x="11430000" y="7048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F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70482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454025"/>
            <a:ext cx="582358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495"/>
              <a:t>Opti</a:t>
            </a:r>
            <a:r>
              <a:rPr dirty="0" spc="275"/>
              <a:t> </a:t>
            </a:r>
            <a:r>
              <a:rPr dirty="0" spc="434"/>
              <a:t>izació"</a:t>
            </a:r>
            <a:r>
              <a:rPr dirty="0" spc="-45"/>
              <a:t> </a:t>
            </a:r>
            <a:r>
              <a:rPr dirty="0" spc="465"/>
              <a:t>e"</a:t>
            </a:r>
            <a:r>
              <a:rPr dirty="0" spc="-40"/>
              <a:t> </a:t>
            </a:r>
            <a:r>
              <a:rPr dirty="0" spc="160"/>
              <a:t>la</a:t>
            </a:r>
            <a:r>
              <a:rPr dirty="0" spc="-45"/>
              <a:t> </a:t>
            </a:r>
            <a:r>
              <a:rPr dirty="0" spc="295"/>
              <a:t>Gestió" </a:t>
            </a:r>
            <a:r>
              <a:rPr dirty="0" spc="-720"/>
              <a:t> </a:t>
            </a:r>
            <a:r>
              <a:rPr dirty="0" spc="135"/>
              <a:t>de</a:t>
            </a:r>
            <a:r>
              <a:rPr dirty="0" spc="-45"/>
              <a:t> </a:t>
            </a:r>
            <a:r>
              <a:rPr dirty="0" spc="190"/>
              <a:t>Objetos</a:t>
            </a:r>
            <a:r>
              <a:rPr dirty="0" spc="-45"/>
              <a:t> </a:t>
            </a:r>
            <a:r>
              <a:rPr dirty="0" spc="229"/>
              <a:t>y</a:t>
            </a:r>
            <a:r>
              <a:rPr dirty="0" spc="-40"/>
              <a:t> </a:t>
            </a:r>
            <a:r>
              <a:rPr dirty="0" spc="254"/>
              <a:t>Me</a:t>
            </a:r>
            <a:r>
              <a:rPr dirty="0" spc="770"/>
              <a:t> </a:t>
            </a:r>
            <a:r>
              <a:rPr dirty="0" spc="625"/>
              <a:t>oria</a:t>
            </a:r>
          </a:p>
        </p:txBody>
      </p:sp>
      <p:sp>
        <p:nvSpPr>
          <p:cNvPr id="5" name="object 5"/>
          <p:cNvSpPr/>
          <p:nvPr/>
        </p:nvSpPr>
        <p:spPr>
          <a:xfrm>
            <a:off x="4900142" y="1810384"/>
            <a:ext cx="401320" cy="427990"/>
          </a:xfrm>
          <a:custGeom>
            <a:avLst/>
            <a:gdLst/>
            <a:ahLst/>
            <a:cxnLst/>
            <a:rect l="l" t="t" r="r" b="b"/>
            <a:pathLst>
              <a:path w="401320" h="427989">
                <a:moveTo>
                  <a:pt x="224731" y="426720"/>
                </a:moveTo>
                <a:lnTo>
                  <a:pt x="176257" y="426720"/>
                </a:lnTo>
                <a:lnTo>
                  <a:pt x="184265" y="427990"/>
                </a:lnTo>
                <a:lnTo>
                  <a:pt x="216723" y="427990"/>
                </a:lnTo>
                <a:lnTo>
                  <a:pt x="224731" y="426720"/>
                </a:lnTo>
                <a:close/>
              </a:path>
              <a:path w="401320" h="427989">
                <a:moveTo>
                  <a:pt x="234061" y="425450"/>
                </a:moveTo>
                <a:lnTo>
                  <a:pt x="166839" y="425450"/>
                </a:lnTo>
                <a:lnTo>
                  <a:pt x="168351" y="426720"/>
                </a:lnTo>
                <a:lnTo>
                  <a:pt x="232638" y="426720"/>
                </a:lnTo>
                <a:lnTo>
                  <a:pt x="234061" y="425450"/>
                </a:lnTo>
                <a:close/>
              </a:path>
              <a:path w="401320" h="427989">
                <a:moveTo>
                  <a:pt x="155230" y="345440"/>
                </a:moveTo>
                <a:lnTo>
                  <a:pt x="107149" y="345440"/>
                </a:lnTo>
                <a:lnTo>
                  <a:pt x="109499" y="346710"/>
                </a:lnTo>
                <a:lnTo>
                  <a:pt x="116357" y="351790"/>
                </a:lnTo>
                <a:lnTo>
                  <a:pt x="123647" y="355600"/>
                </a:lnTo>
                <a:lnTo>
                  <a:pt x="131254" y="359410"/>
                </a:lnTo>
                <a:lnTo>
                  <a:pt x="133858" y="360680"/>
                </a:lnTo>
                <a:lnTo>
                  <a:pt x="135356" y="363220"/>
                </a:lnTo>
                <a:lnTo>
                  <a:pt x="135953" y="364490"/>
                </a:lnTo>
                <a:lnTo>
                  <a:pt x="147421" y="403860"/>
                </a:lnTo>
                <a:lnTo>
                  <a:pt x="150012" y="410210"/>
                </a:lnTo>
                <a:lnTo>
                  <a:pt x="153781" y="416560"/>
                </a:lnTo>
                <a:lnTo>
                  <a:pt x="158555" y="421640"/>
                </a:lnTo>
                <a:lnTo>
                  <a:pt x="164160" y="425450"/>
                </a:lnTo>
                <a:lnTo>
                  <a:pt x="236829" y="425450"/>
                </a:lnTo>
                <a:lnTo>
                  <a:pt x="254308" y="401320"/>
                </a:lnTo>
                <a:lnTo>
                  <a:pt x="181376" y="401320"/>
                </a:lnTo>
                <a:lnTo>
                  <a:pt x="175133" y="400050"/>
                </a:lnTo>
                <a:lnTo>
                  <a:pt x="174205" y="398780"/>
                </a:lnTo>
                <a:lnTo>
                  <a:pt x="173532" y="398780"/>
                </a:lnTo>
                <a:lnTo>
                  <a:pt x="173126" y="397510"/>
                </a:lnTo>
                <a:lnTo>
                  <a:pt x="161645" y="356870"/>
                </a:lnTo>
                <a:lnTo>
                  <a:pt x="158683" y="350520"/>
                </a:lnTo>
                <a:lnTo>
                  <a:pt x="155230" y="345440"/>
                </a:lnTo>
                <a:close/>
              </a:path>
              <a:path w="401320" h="427989">
                <a:moveTo>
                  <a:pt x="304723" y="318770"/>
                </a:moveTo>
                <a:lnTo>
                  <a:pt x="289683" y="318770"/>
                </a:lnTo>
                <a:lnTo>
                  <a:pt x="282692" y="321310"/>
                </a:lnTo>
                <a:lnTo>
                  <a:pt x="276339" y="325120"/>
                </a:lnTo>
                <a:lnTo>
                  <a:pt x="270560" y="328930"/>
                </a:lnTo>
                <a:lnTo>
                  <a:pt x="264541" y="332740"/>
                </a:lnTo>
                <a:lnTo>
                  <a:pt x="227863" y="397510"/>
                </a:lnTo>
                <a:lnTo>
                  <a:pt x="227533" y="398780"/>
                </a:lnTo>
                <a:lnTo>
                  <a:pt x="226783" y="398780"/>
                </a:lnTo>
                <a:lnTo>
                  <a:pt x="225856" y="400050"/>
                </a:lnTo>
                <a:lnTo>
                  <a:pt x="219613" y="401320"/>
                </a:lnTo>
                <a:lnTo>
                  <a:pt x="254308" y="401320"/>
                </a:lnTo>
                <a:lnTo>
                  <a:pt x="265036" y="364490"/>
                </a:lnTo>
                <a:lnTo>
                  <a:pt x="265544" y="361950"/>
                </a:lnTo>
                <a:lnTo>
                  <a:pt x="267131" y="360680"/>
                </a:lnTo>
                <a:lnTo>
                  <a:pt x="277342" y="355600"/>
                </a:lnTo>
                <a:lnTo>
                  <a:pt x="284632" y="351790"/>
                </a:lnTo>
                <a:lnTo>
                  <a:pt x="293839" y="345440"/>
                </a:lnTo>
                <a:lnTo>
                  <a:pt x="370094" y="345440"/>
                </a:lnTo>
                <a:lnTo>
                  <a:pt x="372205" y="342900"/>
                </a:lnTo>
                <a:lnTo>
                  <a:pt x="376380" y="336550"/>
                </a:lnTo>
                <a:lnTo>
                  <a:pt x="380369" y="330200"/>
                </a:lnTo>
                <a:lnTo>
                  <a:pt x="346329" y="330200"/>
                </a:lnTo>
                <a:lnTo>
                  <a:pt x="345071" y="328930"/>
                </a:lnTo>
                <a:lnTo>
                  <a:pt x="304723" y="318770"/>
                </a:lnTo>
                <a:close/>
              </a:path>
              <a:path w="401320" h="427989">
                <a:moveTo>
                  <a:pt x="55590" y="72390"/>
                </a:moveTo>
                <a:lnTo>
                  <a:pt x="48833" y="72390"/>
                </a:lnTo>
                <a:lnTo>
                  <a:pt x="42373" y="74930"/>
                </a:lnTo>
                <a:lnTo>
                  <a:pt x="36410" y="77470"/>
                </a:lnTo>
                <a:lnTo>
                  <a:pt x="35153" y="78740"/>
                </a:lnTo>
                <a:lnTo>
                  <a:pt x="34061" y="78740"/>
                </a:lnTo>
                <a:lnTo>
                  <a:pt x="28770" y="86360"/>
                </a:lnTo>
                <a:lnTo>
                  <a:pt x="24566" y="91440"/>
                </a:lnTo>
                <a:lnTo>
                  <a:pt x="20550" y="97790"/>
                </a:lnTo>
                <a:lnTo>
                  <a:pt x="16738" y="104140"/>
                </a:lnTo>
                <a:lnTo>
                  <a:pt x="12966" y="110490"/>
                </a:lnTo>
                <a:lnTo>
                  <a:pt x="9594" y="116840"/>
                </a:lnTo>
                <a:lnTo>
                  <a:pt x="0" y="140970"/>
                </a:lnTo>
                <a:lnTo>
                  <a:pt x="357" y="147320"/>
                </a:lnTo>
                <a:lnTo>
                  <a:pt x="38252" y="195580"/>
                </a:lnTo>
                <a:lnTo>
                  <a:pt x="39585" y="196850"/>
                </a:lnTo>
                <a:lnTo>
                  <a:pt x="40513" y="199390"/>
                </a:lnTo>
                <a:lnTo>
                  <a:pt x="40259" y="201930"/>
                </a:lnTo>
                <a:lnTo>
                  <a:pt x="39928" y="205740"/>
                </a:lnTo>
                <a:lnTo>
                  <a:pt x="39818" y="219710"/>
                </a:lnTo>
                <a:lnTo>
                  <a:pt x="39928" y="222250"/>
                </a:lnTo>
                <a:lnTo>
                  <a:pt x="40259" y="227330"/>
                </a:lnTo>
                <a:lnTo>
                  <a:pt x="40513" y="229870"/>
                </a:lnTo>
                <a:lnTo>
                  <a:pt x="39585" y="232410"/>
                </a:lnTo>
                <a:lnTo>
                  <a:pt x="9372" y="262890"/>
                </a:lnTo>
                <a:lnTo>
                  <a:pt x="76" y="289560"/>
                </a:lnTo>
                <a:lnTo>
                  <a:pt x="419" y="290830"/>
                </a:lnTo>
                <a:lnTo>
                  <a:pt x="914" y="292100"/>
                </a:lnTo>
                <a:lnTo>
                  <a:pt x="3596" y="298450"/>
                </a:lnTo>
                <a:lnTo>
                  <a:pt x="6492" y="306070"/>
                </a:lnTo>
                <a:lnTo>
                  <a:pt x="9594" y="311150"/>
                </a:lnTo>
                <a:lnTo>
                  <a:pt x="12890" y="317500"/>
                </a:lnTo>
                <a:lnTo>
                  <a:pt x="12966" y="318770"/>
                </a:lnTo>
                <a:lnTo>
                  <a:pt x="16649" y="325120"/>
                </a:lnTo>
                <a:lnTo>
                  <a:pt x="20538" y="331470"/>
                </a:lnTo>
                <a:lnTo>
                  <a:pt x="24533" y="336550"/>
                </a:lnTo>
                <a:lnTo>
                  <a:pt x="55590" y="356870"/>
                </a:lnTo>
                <a:lnTo>
                  <a:pt x="62445" y="355600"/>
                </a:lnTo>
                <a:lnTo>
                  <a:pt x="102793" y="345440"/>
                </a:lnTo>
                <a:lnTo>
                  <a:pt x="155230" y="345440"/>
                </a:lnTo>
                <a:lnTo>
                  <a:pt x="154366" y="344170"/>
                </a:lnTo>
                <a:lnTo>
                  <a:pt x="148981" y="339090"/>
                </a:lnTo>
                <a:lnTo>
                  <a:pt x="142811" y="335280"/>
                </a:lnTo>
                <a:lnTo>
                  <a:pt x="136448" y="332740"/>
                </a:lnTo>
                <a:lnTo>
                  <a:pt x="132435" y="330200"/>
                </a:lnTo>
                <a:lnTo>
                  <a:pt x="53403" y="330200"/>
                </a:lnTo>
                <a:lnTo>
                  <a:pt x="52235" y="328930"/>
                </a:lnTo>
                <a:lnTo>
                  <a:pt x="29540" y="292100"/>
                </a:lnTo>
                <a:lnTo>
                  <a:pt x="26784" y="285750"/>
                </a:lnTo>
                <a:lnTo>
                  <a:pt x="27038" y="284480"/>
                </a:lnTo>
                <a:lnTo>
                  <a:pt x="27622" y="283210"/>
                </a:lnTo>
                <a:lnTo>
                  <a:pt x="28549" y="281940"/>
                </a:lnTo>
                <a:lnTo>
                  <a:pt x="57505" y="251460"/>
                </a:lnTo>
                <a:lnTo>
                  <a:pt x="62164" y="246380"/>
                </a:lnTo>
                <a:lnTo>
                  <a:pt x="65251" y="238760"/>
                </a:lnTo>
                <a:lnTo>
                  <a:pt x="66829" y="232410"/>
                </a:lnTo>
                <a:lnTo>
                  <a:pt x="66944" y="226060"/>
                </a:lnTo>
                <a:lnTo>
                  <a:pt x="66883" y="223520"/>
                </a:lnTo>
                <a:lnTo>
                  <a:pt x="66631" y="219710"/>
                </a:lnTo>
                <a:lnTo>
                  <a:pt x="66713" y="207010"/>
                </a:lnTo>
                <a:lnTo>
                  <a:pt x="66967" y="204470"/>
                </a:lnTo>
                <a:lnTo>
                  <a:pt x="66829" y="196850"/>
                </a:lnTo>
                <a:lnTo>
                  <a:pt x="65251" y="189230"/>
                </a:lnTo>
                <a:lnTo>
                  <a:pt x="62164" y="182880"/>
                </a:lnTo>
                <a:lnTo>
                  <a:pt x="57505" y="176530"/>
                </a:lnTo>
                <a:lnTo>
                  <a:pt x="28625" y="146050"/>
                </a:lnTo>
                <a:lnTo>
                  <a:pt x="27711" y="146050"/>
                </a:lnTo>
                <a:lnTo>
                  <a:pt x="27114" y="144780"/>
                </a:lnTo>
                <a:lnTo>
                  <a:pt x="26873" y="143510"/>
                </a:lnTo>
                <a:lnTo>
                  <a:pt x="29629" y="137160"/>
                </a:lnTo>
                <a:lnTo>
                  <a:pt x="32727" y="129540"/>
                </a:lnTo>
                <a:lnTo>
                  <a:pt x="36245" y="123190"/>
                </a:lnTo>
                <a:lnTo>
                  <a:pt x="39763" y="118110"/>
                </a:lnTo>
                <a:lnTo>
                  <a:pt x="43611" y="111760"/>
                </a:lnTo>
                <a:lnTo>
                  <a:pt x="47802" y="105410"/>
                </a:lnTo>
                <a:lnTo>
                  <a:pt x="52311" y="99060"/>
                </a:lnTo>
                <a:lnTo>
                  <a:pt x="132516" y="99060"/>
                </a:lnTo>
                <a:lnTo>
                  <a:pt x="136537" y="96520"/>
                </a:lnTo>
                <a:lnTo>
                  <a:pt x="142900" y="92710"/>
                </a:lnTo>
                <a:lnTo>
                  <a:pt x="149081" y="90170"/>
                </a:lnTo>
                <a:lnTo>
                  <a:pt x="154484" y="85090"/>
                </a:lnTo>
                <a:lnTo>
                  <a:pt x="155348" y="83820"/>
                </a:lnTo>
                <a:lnTo>
                  <a:pt x="102793" y="83820"/>
                </a:lnTo>
                <a:lnTo>
                  <a:pt x="62445" y="73660"/>
                </a:lnTo>
                <a:lnTo>
                  <a:pt x="55590" y="72390"/>
                </a:lnTo>
                <a:close/>
              </a:path>
              <a:path w="401320" h="427989">
                <a:moveTo>
                  <a:pt x="370094" y="345440"/>
                </a:moveTo>
                <a:lnTo>
                  <a:pt x="298196" y="345440"/>
                </a:lnTo>
                <a:lnTo>
                  <a:pt x="338543" y="355600"/>
                </a:lnTo>
                <a:lnTo>
                  <a:pt x="345399" y="356870"/>
                </a:lnTo>
                <a:lnTo>
                  <a:pt x="358616" y="354330"/>
                </a:lnTo>
                <a:lnTo>
                  <a:pt x="364578" y="350520"/>
                </a:lnTo>
                <a:lnTo>
                  <a:pt x="365836" y="350520"/>
                </a:lnTo>
                <a:lnTo>
                  <a:pt x="366928" y="349250"/>
                </a:lnTo>
                <a:lnTo>
                  <a:pt x="370094" y="345440"/>
                </a:lnTo>
                <a:close/>
              </a:path>
              <a:path w="401320" h="427989">
                <a:moveTo>
                  <a:pt x="111334" y="318770"/>
                </a:moveTo>
                <a:lnTo>
                  <a:pt x="96266" y="318770"/>
                </a:lnTo>
                <a:lnTo>
                  <a:pt x="55918" y="328930"/>
                </a:lnTo>
                <a:lnTo>
                  <a:pt x="54660" y="330200"/>
                </a:lnTo>
                <a:lnTo>
                  <a:pt x="132435" y="330200"/>
                </a:lnTo>
                <a:lnTo>
                  <a:pt x="130429" y="328930"/>
                </a:lnTo>
                <a:lnTo>
                  <a:pt x="124650" y="325120"/>
                </a:lnTo>
                <a:lnTo>
                  <a:pt x="118329" y="321310"/>
                </a:lnTo>
                <a:lnTo>
                  <a:pt x="111334" y="318770"/>
                </a:lnTo>
                <a:close/>
              </a:path>
              <a:path w="401320" h="427989">
                <a:moveTo>
                  <a:pt x="381212" y="99060"/>
                </a:moveTo>
                <a:lnTo>
                  <a:pt x="348754" y="99060"/>
                </a:lnTo>
                <a:lnTo>
                  <a:pt x="353275" y="105410"/>
                </a:lnTo>
                <a:lnTo>
                  <a:pt x="357466" y="111760"/>
                </a:lnTo>
                <a:lnTo>
                  <a:pt x="361226" y="118110"/>
                </a:lnTo>
                <a:lnTo>
                  <a:pt x="364832" y="124460"/>
                </a:lnTo>
                <a:lnTo>
                  <a:pt x="368338" y="129540"/>
                </a:lnTo>
                <a:lnTo>
                  <a:pt x="371449" y="137160"/>
                </a:lnTo>
                <a:lnTo>
                  <a:pt x="374205" y="143510"/>
                </a:lnTo>
                <a:lnTo>
                  <a:pt x="373951" y="144780"/>
                </a:lnTo>
                <a:lnTo>
                  <a:pt x="373367" y="146050"/>
                </a:lnTo>
                <a:lnTo>
                  <a:pt x="372440" y="147320"/>
                </a:lnTo>
                <a:lnTo>
                  <a:pt x="343484" y="176530"/>
                </a:lnTo>
                <a:lnTo>
                  <a:pt x="338825" y="182880"/>
                </a:lnTo>
                <a:lnTo>
                  <a:pt x="335738" y="189230"/>
                </a:lnTo>
                <a:lnTo>
                  <a:pt x="334159" y="196850"/>
                </a:lnTo>
                <a:lnTo>
                  <a:pt x="334022" y="204470"/>
                </a:lnTo>
                <a:lnTo>
                  <a:pt x="334276" y="207010"/>
                </a:lnTo>
                <a:lnTo>
                  <a:pt x="334357" y="219710"/>
                </a:lnTo>
                <a:lnTo>
                  <a:pt x="334106" y="223520"/>
                </a:lnTo>
                <a:lnTo>
                  <a:pt x="334045" y="226060"/>
                </a:lnTo>
                <a:lnTo>
                  <a:pt x="334159" y="232410"/>
                </a:lnTo>
                <a:lnTo>
                  <a:pt x="335738" y="238760"/>
                </a:lnTo>
                <a:lnTo>
                  <a:pt x="338825" y="246380"/>
                </a:lnTo>
                <a:lnTo>
                  <a:pt x="343484" y="251460"/>
                </a:lnTo>
                <a:lnTo>
                  <a:pt x="372364" y="281940"/>
                </a:lnTo>
                <a:lnTo>
                  <a:pt x="373278" y="283210"/>
                </a:lnTo>
                <a:lnTo>
                  <a:pt x="373875" y="284480"/>
                </a:lnTo>
                <a:lnTo>
                  <a:pt x="374116" y="285750"/>
                </a:lnTo>
                <a:lnTo>
                  <a:pt x="371360" y="292100"/>
                </a:lnTo>
                <a:lnTo>
                  <a:pt x="348754" y="328930"/>
                </a:lnTo>
                <a:lnTo>
                  <a:pt x="347586" y="330200"/>
                </a:lnTo>
                <a:lnTo>
                  <a:pt x="380369" y="330200"/>
                </a:lnTo>
                <a:lnTo>
                  <a:pt x="384175" y="325120"/>
                </a:lnTo>
                <a:lnTo>
                  <a:pt x="384251" y="323850"/>
                </a:lnTo>
                <a:lnTo>
                  <a:pt x="388023" y="317500"/>
                </a:lnTo>
                <a:lnTo>
                  <a:pt x="391395" y="311150"/>
                </a:lnTo>
                <a:lnTo>
                  <a:pt x="400913" y="289560"/>
                </a:lnTo>
                <a:lnTo>
                  <a:pt x="400856" y="285750"/>
                </a:lnTo>
                <a:lnTo>
                  <a:pt x="362737" y="233680"/>
                </a:lnTo>
                <a:lnTo>
                  <a:pt x="361403" y="232410"/>
                </a:lnTo>
                <a:lnTo>
                  <a:pt x="360476" y="229870"/>
                </a:lnTo>
                <a:lnTo>
                  <a:pt x="360730" y="227330"/>
                </a:lnTo>
                <a:lnTo>
                  <a:pt x="361061" y="222250"/>
                </a:lnTo>
                <a:lnTo>
                  <a:pt x="361171" y="219710"/>
                </a:lnTo>
                <a:lnTo>
                  <a:pt x="361061" y="205740"/>
                </a:lnTo>
                <a:lnTo>
                  <a:pt x="360730" y="201930"/>
                </a:lnTo>
                <a:lnTo>
                  <a:pt x="360476" y="199390"/>
                </a:lnTo>
                <a:lnTo>
                  <a:pt x="361403" y="196850"/>
                </a:lnTo>
                <a:lnTo>
                  <a:pt x="391617" y="165100"/>
                </a:lnTo>
                <a:lnTo>
                  <a:pt x="400913" y="138430"/>
                </a:lnTo>
                <a:lnTo>
                  <a:pt x="400570" y="137160"/>
                </a:lnTo>
                <a:lnTo>
                  <a:pt x="388099" y="110490"/>
                </a:lnTo>
                <a:lnTo>
                  <a:pt x="384327" y="104140"/>
                </a:lnTo>
                <a:lnTo>
                  <a:pt x="381212" y="99060"/>
                </a:lnTo>
                <a:close/>
              </a:path>
              <a:path w="401320" h="427989">
                <a:moveTo>
                  <a:pt x="210121" y="140970"/>
                </a:moveTo>
                <a:lnTo>
                  <a:pt x="190868" y="140970"/>
                </a:lnTo>
                <a:lnTo>
                  <a:pt x="176771" y="144780"/>
                </a:lnTo>
                <a:lnTo>
                  <a:pt x="167830" y="148590"/>
                </a:lnTo>
                <a:lnTo>
                  <a:pt x="163588" y="149860"/>
                </a:lnTo>
                <a:lnTo>
                  <a:pt x="155549" y="156210"/>
                </a:lnTo>
                <a:lnTo>
                  <a:pt x="151828" y="158750"/>
                </a:lnTo>
                <a:lnTo>
                  <a:pt x="144983" y="165100"/>
                </a:lnTo>
                <a:lnTo>
                  <a:pt x="127292" y="204470"/>
                </a:lnTo>
                <a:lnTo>
                  <a:pt x="126822" y="219710"/>
                </a:lnTo>
                <a:lnTo>
                  <a:pt x="127292" y="223520"/>
                </a:lnTo>
                <a:lnTo>
                  <a:pt x="141922" y="259080"/>
                </a:lnTo>
                <a:lnTo>
                  <a:pt x="151828" y="269240"/>
                </a:lnTo>
                <a:lnTo>
                  <a:pt x="155549" y="273050"/>
                </a:lnTo>
                <a:lnTo>
                  <a:pt x="190868" y="287020"/>
                </a:lnTo>
                <a:lnTo>
                  <a:pt x="195656" y="288290"/>
                </a:lnTo>
                <a:lnTo>
                  <a:pt x="205333" y="288290"/>
                </a:lnTo>
                <a:lnTo>
                  <a:pt x="210121" y="287020"/>
                </a:lnTo>
                <a:lnTo>
                  <a:pt x="219608" y="285750"/>
                </a:lnTo>
                <a:lnTo>
                  <a:pt x="249161" y="269240"/>
                </a:lnTo>
                <a:lnTo>
                  <a:pt x="256006" y="262890"/>
                </a:lnTo>
                <a:lnTo>
                  <a:pt x="257026" y="261620"/>
                </a:lnTo>
                <a:lnTo>
                  <a:pt x="194284" y="261620"/>
                </a:lnTo>
                <a:lnTo>
                  <a:pt x="188290" y="260350"/>
                </a:lnTo>
                <a:lnTo>
                  <a:pt x="154800" y="226060"/>
                </a:lnTo>
                <a:lnTo>
                  <a:pt x="153619" y="220980"/>
                </a:lnTo>
                <a:lnTo>
                  <a:pt x="153619" y="208280"/>
                </a:lnTo>
                <a:lnTo>
                  <a:pt x="176809" y="173990"/>
                </a:lnTo>
                <a:lnTo>
                  <a:pt x="194284" y="167640"/>
                </a:lnTo>
                <a:lnTo>
                  <a:pt x="258047" y="167640"/>
                </a:lnTo>
                <a:lnTo>
                  <a:pt x="256006" y="165100"/>
                </a:lnTo>
                <a:lnTo>
                  <a:pt x="249161" y="158750"/>
                </a:lnTo>
                <a:lnTo>
                  <a:pt x="245440" y="156210"/>
                </a:lnTo>
                <a:lnTo>
                  <a:pt x="237401" y="149860"/>
                </a:lnTo>
                <a:lnTo>
                  <a:pt x="233159" y="148590"/>
                </a:lnTo>
                <a:lnTo>
                  <a:pt x="224218" y="144780"/>
                </a:lnTo>
                <a:lnTo>
                  <a:pt x="210121" y="140970"/>
                </a:lnTo>
                <a:close/>
              </a:path>
              <a:path w="401320" h="427989">
                <a:moveTo>
                  <a:pt x="258047" y="167640"/>
                </a:moveTo>
                <a:lnTo>
                  <a:pt x="206705" y="167640"/>
                </a:lnTo>
                <a:lnTo>
                  <a:pt x="212699" y="168910"/>
                </a:lnTo>
                <a:lnTo>
                  <a:pt x="224180" y="173990"/>
                </a:lnTo>
                <a:lnTo>
                  <a:pt x="247370" y="208280"/>
                </a:lnTo>
                <a:lnTo>
                  <a:pt x="247370" y="220980"/>
                </a:lnTo>
                <a:lnTo>
                  <a:pt x="224180" y="255270"/>
                </a:lnTo>
                <a:lnTo>
                  <a:pt x="206705" y="261620"/>
                </a:lnTo>
                <a:lnTo>
                  <a:pt x="257026" y="261620"/>
                </a:lnTo>
                <a:lnTo>
                  <a:pt x="273697" y="223520"/>
                </a:lnTo>
                <a:lnTo>
                  <a:pt x="274167" y="219710"/>
                </a:lnTo>
                <a:lnTo>
                  <a:pt x="274050" y="208280"/>
                </a:lnTo>
                <a:lnTo>
                  <a:pt x="259067" y="168910"/>
                </a:lnTo>
                <a:lnTo>
                  <a:pt x="258047" y="167640"/>
                </a:lnTo>
                <a:close/>
              </a:path>
              <a:path w="401320" h="427989">
                <a:moveTo>
                  <a:pt x="132516" y="99060"/>
                </a:moveTo>
                <a:lnTo>
                  <a:pt x="56007" y="99060"/>
                </a:lnTo>
                <a:lnTo>
                  <a:pt x="96354" y="109220"/>
                </a:lnTo>
                <a:lnTo>
                  <a:pt x="103977" y="110490"/>
                </a:lnTo>
                <a:lnTo>
                  <a:pt x="111388" y="109220"/>
                </a:lnTo>
                <a:lnTo>
                  <a:pt x="118375" y="106680"/>
                </a:lnTo>
                <a:lnTo>
                  <a:pt x="124726" y="104140"/>
                </a:lnTo>
                <a:lnTo>
                  <a:pt x="130505" y="100330"/>
                </a:lnTo>
                <a:lnTo>
                  <a:pt x="132516" y="99060"/>
                </a:lnTo>
                <a:close/>
              </a:path>
              <a:path w="401320" h="427989">
                <a:moveTo>
                  <a:pt x="254290" y="26670"/>
                </a:moveTo>
                <a:lnTo>
                  <a:pt x="213304" y="26670"/>
                </a:lnTo>
                <a:lnTo>
                  <a:pt x="219613" y="27940"/>
                </a:lnTo>
                <a:lnTo>
                  <a:pt x="225856" y="27940"/>
                </a:lnTo>
                <a:lnTo>
                  <a:pt x="226783" y="29210"/>
                </a:lnTo>
                <a:lnTo>
                  <a:pt x="227457" y="30480"/>
                </a:lnTo>
                <a:lnTo>
                  <a:pt x="227863" y="31750"/>
                </a:lnTo>
                <a:lnTo>
                  <a:pt x="239344" y="71120"/>
                </a:lnTo>
                <a:lnTo>
                  <a:pt x="242306" y="78740"/>
                </a:lnTo>
                <a:lnTo>
                  <a:pt x="246622" y="85090"/>
                </a:lnTo>
                <a:lnTo>
                  <a:pt x="252008" y="90170"/>
                </a:lnTo>
                <a:lnTo>
                  <a:pt x="258178" y="93980"/>
                </a:lnTo>
                <a:lnTo>
                  <a:pt x="264541" y="96520"/>
                </a:lnTo>
                <a:lnTo>
                  <a:pt x="270560" y="100330"/>
                </a:lnTo>
                <a:lnTo>
                  <a:pt x="276339" y="104140"/>
                </a:lnTo>
                <a:lnTo>
                  <a:pt x="282660" y="107950"/>
                </a:lnTo>
                <a:lnTo>
                  <a:pt x="289655" y="109220"/>
                </a:lnTo>
                <a:lnTo>
                  <a:pt x="297088" y="110490"/>
                </a:lnTo>
                <a:lnTo>
                  <a:pt x="304723" y="109220"/>
                </a:lnTo>
                <a:lnTo>
                  <a:pt x="345071" y="99060"/>
                </a:lnTo>
                <a:lnTo>
                  <a:pt x="381212" y="99060"/>
                </a:lnTo>
                <a:lnTo>
                  <a:pt x="380452" y="97790"/>
                </a:lnTo>
                <a:lnTo>
                  <a:pt x="376467" y="91440"/>
                </a:lnTo>
                <a:lnTo>
                  <a:pt x="372294" y="86360"/>
                </a:lnTo>
                <a:lnTo>
                  <a:pt x="370531" y="83820"/>
                </a:lnTo>
                <a:lnTo>
                  <a:pt x="293916" y="83820"/>
                </a:lnTo>
                <a:lnTo>
                  <a:pt x="291579" y="81280"/>
                </a:lnTo>
                <a:lnTo>
                  <a:pt x="284708" y="77470"/>
                </a:lnTo>
                <a:lnTo>
                  <a:pt x="277431" y="72390"/>
                </a:lnTo>
                <a:lnTo>
                  <a:pt x="269811" y="69850"/>
                </a:lnTo>
                <a:lnTo>
                  <a:pt x="267220" y="68580"/>
                </a:lnTo>
                <a:lnTo>
                  <a:pt x="265709" y="66040"/>
                </a:lnTo>
                <a:lnTo>
                  <a:pt x="265125" y="64770"/>
                </a:lnTo>
                <a:lnTo>
                  <a:pt x="254290" y="26670"/>
                </a:lnTo>
                <a:close/>
              </a:path>
              <a:path w="401320" h="427989">
                <a:moveTo>
                  <a:pt x="235483" y="2540"/>
                </a:moveTo>
                <a:lnTo>
                  <a:pt x="165506" y="2540"/>
                </a:lnTo>
                <a:lnTo>
                  <a:pt x="164160" y="3810"/>
                </a:lnTo>
                <a:lnTo>
                  <a:pt x="158555" y="7620"/>
                </a:lnTo>
                <a:lnTo>
                  <a:pt x="153781" y="12700"/>
                </a:lnTo>
                <a:lnTo>
                  <a:pt x="150012" y="17780"/>
                </a:lnTo>
                <a:lnTo>
                  <a:pt x="147421" y="24130"/>
                </a:lnTo>
                <a:lnTo>
                  <a:pt x="135953" y="64770"/>
                </a:lnTo>
                <a:lnTo>
                  <a:pt x="135445" y="66040"/>
                </a:lnTo>
                <a:lnTo>
                  <a:pt x="133858" y="68580"/>
                </a:lnTo>
                <a:lnTo>
                  <a:pt x="131254" y="69850"/>
                </a:lnTo>
                <a:lnTo>
                  <a:pt x="123647" y="72390"/>
                </a:lnTo>
                <a:lnTo>
                  <a:pt x="107149" y="83820"/>
                </a:lnTo>
                <a:lnTo>
                  <a:pt x="155348" y="83820"/>
                </a:lnTo>
                <a:lnTo>
                  <a:pt x="158804" y="78740"/>
                </a:lnTo>
                <a:lnTo>
                  <a:pt x="161734" y="71120"/>
                </a:lnTo>
                <a:lnTo>
                  <a:pt x="173202" y="31750"/>
                </a:lnTo>
                <a:lnTo>
                  <a:pt x="173456" y="30480"/>
                </a:lnTo>
                <a:lnTo>
                  <a:pt x="174205" y="29210"/>
                </a:lnTo>
                <a:lnTo>
                  <a:pt x="175133" y="27940"/>
                </a:lnTo>
                <a:lnTo>
                  <a:pt x="181376" y="27940"/>
                </a:lnTo>
                <a:lnTo>
                  <a:pt x="187685" y="26670"/>
                </a:lnTo>
                <a:lnTo>
                  <a:pt x="254290" y="26670"/>
                </a:lnTo>
                <a:lnTo>
                  <a:pt x="253568" y="24130"/>
                </a:lnTo>
                <a:lnTo>
                  <a:pt x="250977" y="17780"/>
                </a:lnTo>
                <a:lnTo>
                  <a:pt x="247208" y="12700"/>
                </a:lnTo>
                <a:lnTo>
                  <a:pt x="242434" y="7620"/>
                </a:lnTo>
                <a:lnTo>
                  <a:pt x="236829" y="3810"/>
                </a:lnTo>
                <a:lnTo>
                  <a:pt x="235483" y="2540"/>
                </a:lnTo>
                <a:close/>
              </a:path>
              <a:path w="401320" h="427989">
                <a:moveTo>
                  <a:pt x="352240" y="72390"/>
                </a:moveTo>
                <a:lnTo>
                  <a:pt x="345486" y="72390"/>
                </a:lnTo>
                <a:lnTo>
                  <a:pt x="338632" y="73660"/>
                </a:lnTo>
                <a:lnTo>
                  <a:pt x="298272" y="83820"/>
                </a:lnTo>
                <a:lnTo>
                  <a:pt x="370531" y="83820"/>
                </a:lnTo>
                <a:lnTo>
                  <a:pt x="367004" y="78740"/>
                </a:lnTo>
                <a:lnTo>
                  <a:pt x="365912" y="78740"/>
                </a:lnTo>
                <a:lnTo>
                  <a:pt x="364667" y="77470"/>
                </a:lnTo>
                <a:lnTo>
                  <a:pt x="358699" y="74930"/>
                </a:lnTo>
                <a:lnTo>
                  <a:pt x="352240" y="72390"/>
                </a:lnTo>
                <a:close/>
              </a:path>
              <a:path w="401320" h="427989">
                <a:moveTo>
                  <a:pt x="216723" y="0"/>
                </a:moveTo>
                <a:lnTo>
                  <a:pt x="184265" y="0"/>
                </a:lnTo>
                <a:lnTo>
                  <a:pt x="168351" y="2540"/>
                </a:lnTo>
                <a:lnTo>
                  <a:pt x="232638" y="2540"/>
                </a:lnTo>
                <a:lnTo>
                  <a:pt x="216723" y="0"/>
                </a:lnTo>
                <a:close/>
              </a:path>
            </a:pathLst>
          </a:custGeom>
          <a:solidFill>
            <a:srgbClr val="4288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3625" y="2392362"/>
            <a:ext cx="584200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5" b="1">
                <a:solidFill>
                  <a:srgbClr val="3F5349"/>
                </a:solidFill>
                <a:latin typeface="Cambria"/>
                <a:cs typeface="Cambria"/>
              </a:rPr>
              <a:t>Uso</a:t>
            </a:r>
            <a:r>
              <a:rPr dirty="0" sz="1650" spc="-2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145" b="1">
                <a:solidFill>
                  <a:srgbClr val="3F5349"/>
                </a:solidFill>
                <a:latin typeface="Cambria"/>
                <a:cs typeface="Cambria"/>
              </a:rPr>
              <a:t>Eficie"te</a:t>
            </a:r>
            <a:r>
              <a:rPr dirty="0" sz="1650" spc="-2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3F5349"/>
                </a:solidFill>
                <a:latin typeface="Cambria"/>
                <a:cs typeface="Cambria"/>
              </a:rPr>
              <a:t>de</a:t>
            </a:r>
            <a:r>
              <a:rPr dirty="0" sz="1650" spc="-2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120" b="1">
                <a:solidFill>
                  <a:srgbClr val="3F5349"/>
                </a:solidFill>
                <a:latin typeface="Cambria"/>
                <a:cs typeface="Cambria"/>
              </a:rPr>
              <a:t>Registros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5">
                <a:solidFill>
                  <a:srgbClr val="3F5349"/>
                </a:solidFill>
                <a:latin typeface="Microsoft Sans Serif"/>
                <a:cs typeface="Microsoft Sans Serif"/>
              </a:rPr>
              <a:t>Técnicas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minimizar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uso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registros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operaciones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con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objetos.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86325" y="3633787"/>
            <a:ext cx="428625" cy="285750"/>
          </a:xfrm>
          <a:custGeom>
            <a:avLst/>
            <a:gdLst/>
            <a:ahLst/>
            <a:cxnLst/>
            <a:rect l="l" t="t" r="r" b="b"/>
            <a:pathLst>
              <a:path w="428625" h="285750">
                <a:moveTo>
                  <a:pt x="381000" y="0"/>
                </a:moveTo>
                <a:lnTo>
                  <a:pt x="47625" y="0"/>
                </a:lnTo>
                <a:lnTo>
                  <a:pt x="29103" y="3748"/>
                </a:lnTo>
                <a:lnTo>
                  <a:pt x="13963" y="13963"/>
                </a:lnTo>
                <a:lnTo>
                  <a:pt x="3748" y="29103"/>
                </a:lnTo>
                <a:lnTo>
                  <a:pt x="0" y="47625"/>
                </a:lnTo>
                <a:lnTo>
                  <a:pt x="0" y="58191"/>
                </a:lnTo>
                <a:lnTo>
                  <a:pt x="3276" y="62509"/>
                </a:lnTo>
                <a:lnTo>
                  <a:pt x="7518" y="65265"/>
                </a:lnTo>
                <a:lnTo>
                  <a:pt x="14205" y="70882"/>
                </a:lnTo>
                <a:lnTo>
                  <a:pt x="19346" y="77943"/>
                </a:lnTo>
                <a:lnTo>
                  <a:pt x="22647" y="86160"/>
                </a:lnTo>
                <a:lnTo>
                  <a:pt x="23812" y="95250"/>
                </a:lnTo>
                <a:lnTo>
                  <a:pt x="22647" y="104339"/>
                </a:lnTo>
                <a:lnTo>
                  <a:pt x="19346" y="112556"/>
                </a:lnTo>
                <a:lnTo>
                  <a:pt x="14205" y="119617"/>
                </a:lnTo>
                <a:lnTo>
                  <a:pt x="7518" y="125234"/>
                </a:lnTo>
                <a:lnTo>
                  <a:pt x="3276" y="127990"/>
                </a:lnTo>
                <a:lnTo>
                  <a:pt x="0" y="132308"/>
                </a:lnTo>
                <a:lnTo>
                  <a:pt x="0" y="261937"/>
                </a:lnTo>
                <a:lnTo>
                  <a:pt x="1868" y="271214"/>
                </a:lnTo>
                <a:lnTo>
                  <a:pt x="6967" y="278782"/>
                </a:lnTo>
                <a:lnTo>
                  <a:pt x="14535" y="283881"/>
                </a:lnTo>
                <a:lnTo>
                  <a:pt x="23812" y="285750"/>
                </a:lnTo>
                <a:lnTo>
                  <a:pt x="404812" y="285750"/>
                </a:lnTo>
                <a:lnTo>
                  <a:pt x="414089" y="283881"/>
                </a:lnTo>
                <a:lnTo>
                  <a:pt x="421657" y="278782"/>
                </a:lnTo>
                <a:lnTo>
                  <a:pt x="426756" y="271214"/>
                </a:lnTo>
                <a:lnTo>
                  <a:pt x="428625" y="261937"/>
                </a:lnTo>
                <a:lnTo>
                  <a:pt x="23812" y="261937"/>
                </a:lnTo>
                <a:lnTo>
                  <a:pt x="23812" y="190500"/>
                </a:lnTo>
                <a:lnTo>
                  <a:pt x="428625" y="190500"/>
                </a:lnTo>
                <a:lnTo>
                  <a:pt x="428625" y="166687"/>
                </a:lnTo>
                <a:lnTo>
                  <a:pt x="23812" y="166687"/>
                </a:lnTo>
                <a:lnTo>
                  <a:pt x="23812" y="142875"/>
                </a:lnTo>
                <a:lnTo>
                  <a:pt x="33625" y="133594"/>
                </a:lnTo>
                <a:lnTo>
                  <a:pt x="41133" y="122301"/>
                </a:lnTo>
                <a:lnTo>
                  <a:pt x="45934" y="109388"/>
                </a:lnTo>
                <a:lnTo>
                  <a:pt x="47625" y="95250"/>
                </a:lnTo>
                <a:lnTo>
                  <a:pt x="45934" y="81102"/>
                </a:lnTo>
                <a:lnTo>
                  <a:pt x="41133" y="68175"/>
                </a:lnTo>
                <a:lnTo>
                  <a:pt x="33625" y="56879"/>
                </a:lnTo>
                <a:lnTo>
                  <a:pt x="23812" y="47625"/>
                </a:lnTo>
                <a:lnTo>
                  <a:pt x="25681" y="38348"/>
                </a:lnTo>
                <a:lnTo>
                  <a:pt x="30780" y="30780"/>
                </a:lnTo>
                <a:lnTo>
                  <a:pt x="38348" y="25681"/>
                </a:lnTo>
                <a:lnTo>
                  <a:pt x="47625" y="23812"/>
                </a:lnTo>
                <a:lnTo>
                  <a:pt x="421306" y="23812"/>
                </a:lnTo>
                <a:lnTo>
                  <a:pt x="414661" y="13963"/>
                </a:lnTo>
                <a:lnTo>
                  <a:pt x="399521" y="3748"/>
                </a:lnTo>
                <a:lnTo>
                  <a:pt x="381000" y="0"/>
                </a:lnTo>
                <a:close/>
              </a:path>
              <a:path w="428625" h="285750">
                <a:moveTo>
                  <a:pt x="89890" y="238125"/>
                </a:moveTo>
                <a:lnTo>
                  <a:pt x="76796" y="238125"/>
                </a:lnTo>
                <a:lnTo>
                  <a:pt x="71437" y="243484"/>
                </a:lnTo>
                <a:lnTo>
                  <a:pt x="71437" y="261937"/>
                </a:lnTo>
                <a:lnTo>
                  <a:pt x="95250" y="261937"/>
                </a:lnTo>
                <a:lnTo>
                  <a:pt x="95250" y="243484"/>
                </a:lnTo>
                <a:lnTo>
                  <a:pt x="89890" y="238125"/>
                </a:lnTo>
                <a:close/>
              </a:path>
              <a:path w="428625" h="285750">
                <a:moveTo>
                  <a:pt x="155371" y="238125"/>
                </a:moveTo>
                <a:lnTo>
                  <a:pt x="142278" y="238125"/>
                </a:lnTo>
                <a:lnTo>
                  <a:pt x="136918" y="243484"/>
                </a:lnTo>
                <a:lnTo>
                  <a:pt x="136918" y="261937"/>
                </a:lnTo>
                <a:lnTo>
                  <a:pt x="160731" y="261937"/>
                </a:lnTo>
                <a:lnTo>
                  <a:pt x="160731" y="243484"/>
                </a:lnTo>
                <a:lnTo>
                  <a:pt x="155371" y="238125"/>
                </a:lnTo>
                <a:close/>
              </a:path>
              <a:path w="428625" h="285750">
                <a:moveTo>
                  <a:pt x="220865" y="238125"/>
                </a:moveTo>
                <a:lnTo>
                  <a:pt x="207759" y="238125"/>
                </a:lnTo>
                <a:lnTo>
                  <a:pt x="202412" y="243484"/>
                </a:lnTo>
                <a:lnTo>
                  <a:pt x="202412" y="261937"/>
                </a:lnTo>
                <a:lnTo>
                  <a:pt x="226225" y="261937"/>
                </a:lnTo>
                <a:lnTo>
                  <a:pt x="226225" y="243484"/>
                </a:lnTo>
                <a:lnTo>
                  <a:pt x="220865" y="238125"/>
                </a:lnTo>
                <a:close/>
              </a:path>
              <a:path w="428625" h="285750">
                <a:moveTo>
                  <a:pt x="286346" y="238125"/>
                </a:moveTo>
                <a:lnTo>
                  <a:pt x="273253" y="238125"/>
                </a:lnTo>
                <a:lnTo>
                  <a:pt x="267893" y="243484"/>
                </a:lnTo>
                <a:lnTo>
                  <a:pt x="267893" y="261937"/>
                </a:lnTo>
                <a:lnTo>
                  <a:pt x="291706" y="261937"/>
                </a:lnTo>
                <a:lnTo>
                  <a:pt x="291706" y="243484"/>
                </a:lnTo>
                <a:lnTo>
                  <a:pt x="286346" y="238125"/>
                </a:lnTo>
                <a:close/>
              </a:path>
              <a:path w="428625" h="285750">
                <a:moveTo>
                  <a:pt x="351828" y="238125"/>
                </a:moveTo>
                <a:lnTo>
                  <a:pt x="338734" y="238125"/>
                </a:lnTo>
                <a:lnTo>
                  <a:pt x="333375" y="243484"/>
                </a:lnTo>
                <a:lnTo>
                  <a:pt x="333375" y="261937"/>
                </a:lnTo>
                <a:lnTo>
                  <a:pt x="357187" y="261937"/>
                </a:lnTo>
                <a:lnTo>
                  <a:pt x="357187" y="243484"/>
                </a:lnTo>
                <a:lnTo>
                  <a:pt x="351828" y="238125"/>
                </a:lnTo>
                <a:close/>
              </a:path>
              <a:path w="428625" h="285750">
                <a:moveTo>
                  <a:pt x="428625" y="190500"/>
                </a:moveTo>
                <a:lnTo>
                  <a:pt x="404812" y="190500"/>
                </a:lnTo>
                <a:lnTo>
                  <a:pt x="404812" y="261937"/>
                </a:lnTo>
                <a:lnTo>
                  <a:pt x="428625" y="261937"/>
                </a:lnTo>
                <a:lnTo>
                  <a:pt x="428625" y="190500"/>
                </a:lnTo>
                <a:close/>
              </a:path>
              <a:path w="428625" h="285750">
                <a:moveTo>
                  <a:pt x="421306" y="23812"/>
                </a:moveTo>
                <a:lnTo>
                  <a:pt x="381000" y="23812"/>
                </a:lnTo>
                <a:lnTo>
                  <a:pt x="390276" y="25681"/>
                </a:lnTo>
                <a:lnTo>
                  <a:pt x="397844" y="30780"/>
                </a:lnTo>
                <a:lnTo>
                  <a:pt x="402943" y="38348"/>
                </a:lnTo>
                <a:lnTo>
                  <a:pt x="404812" y="47625"/>
                </a:lnTo>
                <a:lnTo>
                  <a:pt x="394999" y="56911"/>
                </a:lnTo>
                <a:lnTo>
                  <a:pt x="387491" y="68203"/>
                </a:lnTo>
                <a:lnTo>
                  <a:pt x="382690" y="81113"/>
                </a:lnTo>
                <a:lnTo>
                  <a:pt x="381000" y="95250"/>
                </a:lnTo>
                <a:lnTo>
                  <a:pt x="382690" y="109397"/>
                </a:lnTo>
                <a:lnTo>
                  <a:pt x="387491" y="122324"/>
                </a:lnTo>
                <a:lnTo>
                  <a:pt x="394999" y="133620"/>
                </a:lnTo>
                <a:lnTo>
                  <a:pt x="404812" y="142875"/>
                </a:lnTo>
                <a:lnTo>
                  <a:pt x="404812" y="166687"/>
                </a:lnTo>
                <a:lnTo>
                  <a:pt x="428625" y="166687"/>
                </a:lnTo>
                <a:lnTo>
                  <a:pt x="428625" y="132308"/>
                </a:lnTo>
                <a:lnTo>
                  <a:pt x="425348" y="127990"/>
                </a:lnTo>
                <a:lnTo>
                  <a:pt x="421106" y="125234"/>
                </a:lnTo>
                <a:lnTo>
                  <a:pt x="414419" y="119617"/>
                </a:lnTo>
                <a:lnTo>
                  <a:pt x="409278" y="112556"/>
                </a:lnTo>
                <a:lnTo>
                  <a:pt x="405977" y="104339"/>
                </a:lnTo>
                <a:lnTo>
                  <a:pt x="404812" y="95250"/>
                </a:lnTo>
                <a:lnTo>
                  <a:pt x="405977" y="86160"/>
                </a:lnTo>
                <a:lnTo>
                  <a:pt x="409278" y="77943"/>
                </a:lnTo>
                <a:lnTo>
                  <a:pt x="414419" y="70882"/>
                </a:lnTo>
                <a:lnTo>
                  <a:pt x="421106" y="65265"/>
                </a:lnTo>
                <a:lnTo>
                  <a:pt x="425348" y="62509"/>
                </a:lnTo>
                <a:lnTo>
                  <a:pt x="428625" y="58191"/>
                </a:lnTo>
                <a:lnTo>
                  <a:pt x="428625" y="47625"/>
                </a:lnTo>
                <a:lnTo>
                  <a:pt x="424876" y="29103"/>
                </a:lnTo>
                <a:lnTo>
                  <a:pt x="421306" y="23812"/>
                </a:lnTo>
                <a:close/>
              </a:path>
              <a:path w="428625" h="285750">
                <a:moveTo>
                  <a:pt x="125615" y="47625"/>
                </a:moveTo>
                <a:lnTo>
                  <a:pt x="112509" y="47625"/>
                </a:lnTo>
                <a:lnTo>
                  <a:pt x="107162" y="52984"/>
                </a:lnTo>
                <a:lnTo>
                  <a:pt x="107162" y="137515"/>
                </a:lnTo>
                <a:lnTo>
                  <a:pt x="112509" y="142875"/>
                </a:lnTo>
                <a:lnTo>
                  <a:pt x="125615" y="142875"/>
                </a:lnTo>
                <a:lnTo>
                  <a:pt x="130975" y="137515"/>
                </a:lnTo>
                <a:lnTo>
                  <a:pt x="130975" y="52984"/>
                </a:lnTo>
                <a:lnTo>
                  <a:pt x="125615" y="47625"/>
                </a:lnTo>
                <a:close/>
              </a:path>
              <a:path w="428625" h="285750">
                <a:moveTo>
                  <a:pt x="220865" y="47625"/>
                </a:moveTo>
                <a:lnTo>
                  <a:pt x="207759" y="47625"/>
                </a:lnTo>
                <a:lnTo>
                  <a:pt x="202412" y="52984"/>
                </a:lnTo>
                <a:lnTo>
                  <a:pt x="202412" y="137515"/>
                </a:lnTo>
                <a:lnTo>
                  <a:pt x="207759" y="142875"/>
                </a:lnTo>
                <a:lnTo>
                  <a:pt x="220865" y="142875"/>
                </a:lnTo>
                <a:lnTo>
                  <a:pt x="226225" y="137515"/>
                </a:lnTo>
                <a:lnTo>
                  <a:pt x="226225" y="52984"/>
                </a:lnTo>
                <a:lnTo>
                  <a:pt x="220865" y="47625"/>
                </a:lnTo>
                <a:close/>
              </a:path>
              <a:path w="428625" h="285750">
                <a:moveTo>
                  <a:pt x="316115" y="47625"/>
                </a:moveTo>
                <a:lnTo>
                  <a:pt x="303009" y="47625"/>
                </a:lnTo>
                <a:lnTo>
                  <a:pt x="297662" y="52984"/>
                </a:lnTo>
                <a:lnTo>
                  <a:pt x="297662" y="137515"/>
                </a:lnTo>
                <a:lnTo>
                  <a:pt x="303009" y="142875"/>
                </a:lnTo>
                <a:lnTo>
                  <a:pt x="316115" y="142875"/>
                </a:lnTo>
                <a:lnTo>
                  <a:pt x="321475" y="137515"/>
                </a:lnTo>
                <a:lnTo>
                  <a:pt x="321475" y="52984"/>
                </a:lnTo>
                <a:lnTo>
                  <a:pt x="316115" y="47625"/>
                </a:lnTo>
                <a:close/>
              </a:path>
            </a:pathLst>
          </a:custGeom>
          <a:solidFill>
            <a:srgbClr val="4288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3625" y="4144962"/>
            <a:ext cx="465836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0" b="1">
                <a:solidFill>
                  <a:srgbClr val="3F5349"/>
                </a:solidFill>
                <a:latin typeface="Cambria"/>
                <a:cs typeface="Cambria"/>
              </a:rPr>
              <a:t>Gestió"</a:t>
            </a:r>
            <a:r>
              <a:rPr dirty="0" sz="1650" spc="-40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3F5349"/>
                </a:solidFill>
                <a:latin typeface="Cambria"/>
                <a:cs typeface="Cambria"/>
              </a:rPr>
              <a:t>de</a:t>
            </a:r>
            <a:r>
              <a:rPr dirty="0" sz="1650" spc="-3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120" b="1">
                <a:solidFill>
                  <a:srgbClr val="3F5349"/>
                </a:solidFill>
                <a:latin typeface="Cambria"/>
                <a:cs typeface="Cambria"/>
              </a:rPr>
              <a:t>Pila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Optimización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del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uso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pila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llamadas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a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métodos.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86439" y="5325109"/>
            <a:ext cx="428625" cy="427990"/>
          </a:xfrm>
          <a:custGeom>
            <a:avLst/>
            <a:gdLst/>
            <a:ahLst/>
            <a:cxnLst/>
            <a:rect l="l" t="t" r="r" b="b"/>
            <a:pathLst>
              <a:path w="428625" h="427989">
                <a:moveTo>
                  <a:pt x="228219" y="0"/>
                </a:moveTo>
                <a:lnTo>
                  <a:pt x="200177" y="0"/>
                </a:lnTo>
                <a:lnTo>
                  <a:pt x="186207" y="1270"/>
                </a:lnTo>
                <a:lnTo>
                  <a:pt x="165506" y="5080"/>
                </a:lnTo>
                <a:lnTo>
                  <a:pt x="158699" y="7620"/>
                </a:lnTo>
                <a:lnTo>
                  <a:pt x="145275" y="11430"/>
                </a:lnTo>
                <a:lnTo>
                  <a:pt x="119354" y="21590"/>
                </a:lnTo>
                <a:lnTo>
                  <a:pt x="106984" y="29210"/>
                </a:lnTo>
                <a:lnTo>
                  <a:pt x="100965" y="31750"/>
                </a:lnTo>
                <a:lnTo>
                  <a:pt x="89293" y="40640"/>
                </a:lnTo>
                <a:lnTo>
                  <a:pt x="83667" y="44450"/>
                </a:lnTo>
                <a:lnTo>
                  <a:pt x="72809" y="53340"/>
                </a:lnTo>
                <a:lnTo>
                  <a:pt x="67614" y="58420"/>
                </a:lnTo>
                <a:lnTo>
                  <a:pt x="57696" y="67310"/>
                </a:lnTo>
                <a:lnTo>
                  <a:pt x="52984" y="72390"/>
                </a:lnTo>
                <a:lnTo>
                  <a:pt x="44081" y="83820"/>
                </a:lnTo>
                <a:lnTo>
                  <a:pt x="39903" y="88900"/>
                </a:lnTo>
                <a:lnTo>
                  <a:pt x="32105" y="101600"/>
                </a:lnTo>
                <a:lnTo>
                  <a:pt x="13512" y="138430"/>
                </a:lnTo>
                <a:lnTo>
                  <a:pt x="2628" y="179070"/>
                </a:lnTo>
                <a:lnTo>
                  <a:pt x="0" y="223520"/>
                </a:lnTo>
                <a:lnTo>
                  <a:pt x="228" y="228600"/>
                </a:lnTo>
                <a:lnTo>
                  <a:pt x="7073" y="269240"/>
                </a:lnTo>
                <a:lnTo>
                  <a:pt x="21882" y="308610"/>
                </a:lnTo>
                <a:lnTo>
                  <a:pt x="39903" y="339090"/>
                </a:lnTo>
                <a:lnTo>
                  <a:pt x="44081" y="345440"/>
                </a:lnTo>
                <a:lnTo>
                  <a:pt x="72809" y="375920"/>
                </a:lnTo>
                <a:lnTo>
                  <a:pt x="106984" y="400050"/>
                </a:lnTo>
                <a:lnTo>
                  <a:pt x="119354" y="406400"/>
                </a:lnTo>
                <a:lnTo>
                  <a:pt x="125704" y="410210"/>
                </a:lnTo>
                <a:lnTo>
                  <a:pt x="145275" y="417830"/>
                </a:lnTo>
                <a:lnTo>
                  <a:pt x="158699" y="421640"/>
                </a:lnTo>
                <a:lnTo>
                  <a:pt x="186207" y="426720"/>
                </a:lnTo>
                <a:lnTo>
                  <a:pt x="200177" y="427990"/>
                </a:lnTo>
                <a:lnTo>
                  <a:pt x="228219" y="427990"/>
                </a:lnTo>
                <a:lnTo>
                  <a:pt x="269697" y="421640"/>
                </a:lnTo>
                <a:lnTo>
                  <a:pt x="309041" y="406400"/>
                </a:lnTo>
                <a:lnTo>
                  <a:pt x="318937" y="401320"/>
                </a:lnTo>
                <a:lnTo>
                  <a:pt x="195814" y="401320"/>
                </a:lnTo>
                <a:lnTo>
                  <a:pt x="177622" y="398780"/>
                </a:lnTo>
                <a:lnTo>
                  <a:pt x="151034" y="391160"/>
                </a:lnTo>
                <a:lnTo>
                  <a:pt x="134015" y="383540"/>
                </a:lnTo>
                <a:lnTo>
                  <a:pt x="125801" y="379730"/>
                </a:lnTo>
                <a:lnTo>
                  <a:pt x="117799" y="374650"/>
                </a:lnTo>
                <a:lnTo>
                  <a:pt x="110007" y="370840"/>
                </a:lnTo>
                <a:lnTo>
                  <a:pt x="102480" y="364490"/>
                </a:lnTo>
                <a:lnTo>
                  <a:pt x="95235" y="359410"/>
                </a:lnTo>
                <a:lnTo>
                  <a:pt x="88274" y="353060"/>
                </a:lnTo>
                <a:lnTo>
                  <a:pt x="81597" y="346710"/>
                </a:lnTo>
                <a:lnTo>
                  <a:pt x="75239" y="340360"/>
                </a:lnTo>
                <a:lnTo>
                  <a:pt x="69234" y="332740"/>
                </a:lnTo>
                <a:lnTo>
                  <a:pt x="63580" y="326390"/>
                </a:lnTo>
                <a:lnTo>
                  <a:pt x="58280" y="318770"/>
                </a:lnTo>
                <a:lnTo>
                  <a:pt x="53346" y="311150"/>
                </a:lnTo>
                <a:lnTo>
                  <a:pt x="48812" y="302260"/>
                </a:lnTo>
                <a:lnTo>
                  <a:pt x="44678" y="294640"/>
                </a:lnTo>
                <a:lnTo>
                  <a:pt x="40944" y="285750"/>
                </a:lnTo>
                <a:lnTo>
                  <a:pt x="37633" y="276860"/>
                </a:lnTo>
                <a:lnTo>
                  <a:pt x="34748" y="269240"/>
                </a:lnTo>
                <a:lnTo>
                  <a:pt x="26896" y="223520"/>
                </a:lnTo>
                <a:lnTo>
                  <a:pt x="26734" y="217170"/>
                </a:lnTo>
                <a:lnTo>
                  <a:pt x="26839" y="207010"/>
                </a:lnTo>
                <a:lnTo>
                  <a:pt x="32295" y="168910"/>
                </a:lnTo>
                <a:lnTo>
                  <a:pt x="44678" y="134620"/>
                </a:lnTo>
                <a:lnTo>
                  <a:pt x="48812" y="125730"/>
                </a:lnTo>
                <a:lnTo>
                  <a:pt x="75239" y="88900"/>
                </a:lnTo>
                <a:lnTo>
                  <a:pt x="81597" y="81280"/>
                </a:lnTo>
                <a:lnTo>
                  <a:pt x="88274" y="74930"/>
                </a:lnTo>
                <a:lnTo>
                  <a:pt x="95235" y="69850"/>
                </a:lnTo>
                <a:lnTo>
                  <a:pt x="102480" y="63500"/>
                </a:lnTo>
                <a:lnTo>
                  <a:pt x="110007" y="58420"/>
                </a:lnTo>
                <a:lnTo>
                  <a:pt x="117799" y="53340"/>
                </a:lnTo>
                <a:lnTo>
                  <a:pt x="125801" y="49530"/>
                </a:lnTo>
                <a:lnTo>
                  <a:pt x="134015" y="44450"/>
                </a:lnTo>
                <a:lnTo>
                  <a:pt x="142443" y="40640"/>
                </a:lnTo>
                <a:lnTo>
                  <a:pt x="151034" y="38100"/>
                </a:lnTo>
                <a:lnTo>
                  <a:pt x="159761" y="34290"/>
                </a:lnTo>
                <a:lnTo>
                  <a:pt x="168623" y="33020"/>
                </a:lnTo>
                <a:lnTo>
                  <a:pt x="177622" y="30480"/>
                </a:lnTo>
                <a:lnTo>
                  <a:pt x="204982" y="26670"/>
                </a:lnTo>
                <a:lnTo>
                  <a:pt x="317288" y="26670"/>
                </a:lnTo>
                <a:lnTo>
                  <a:pt x="309041" y="21590"/>
                </a:lnTo>
                <a:lnTo>
                  <a:pt x="283121" y="11430"/>
                </a:lnTo>
                <a:lnTo>
                  <a:pt x="269697" y="7620"/>
                </a:lnTo>
                <a:lnTo>
                  <a:pt x="262890" y="5080"/>
                </a:lnTo>
                <a:lnTo>
                  <a:pt x="242189" y="1270"/>
                </a:lnTo>
                <a:lnTo>
                  <a:pt x="228219" y="0"/>
                </a:lnTo>
                <a:close/>
              </a:path>
              <a:path w="428625" h="427989">
                <a:moveTo>
                  <a:pt x="317288" y="26670"/>
                </a:moveTo>
                <a:lnTo>
                  <a:pt x="223413" y="26670"/>
                </a:lnTo>
                <a:lnTo>
                  <a:pt x="250774" y="30480"/>
                </a:lnTo>
                <a:lnTo>
                  <a:pt x="259773" y="33020"/>
                </a:lnTo>
                <a:lnTo>
                  <a:pt x="268635" y="34290"/>
                </a:lnTo>
                <a:lnTo>
                  <a:pt x="277361" y="38100"/>
                </a:lnTo>
                <a:lnTo>
                  <a:pt x="285953" y="40640"/>
                </a:lnTo>
                <a:lnTo>
                  <a:pt x="294380" y="44450"/>
                </a:lnTo>
                <a:lnTo>
                  <a:pt x="302594" y="49530"/>
                </a:lnTo>
                <a:lnTo>
                  <a:pt x="310597" y="53340"/>
                </a:lnTo>
                <a:lnTo>
                  <a:pt x="318389" y="58420"/>
                </a:lnTo>
                <a:lnTo>
                  <a:pt x="325915" y="63500"/>
                </a:lnTo>
                <a:lnTo>
                  <a:pt x="333160" y="69850"/>
                </a:lnTo>
                <a:lnTo>
                  <a:pt x="340122" y="74930"/>
                </a:lnTo>
                <a:lnTo>
                  <a:pt x="346798" y="81280"/>
                </a:lnTo>
                <a:lnTo>
                  <a:pt x="353156" y="88900"/>
                </a:lnTo>
                <a:lnTo>
                  <a:pt x="359162" y="95250"/>
                </a:lnTo>
                <a:lnTo>
                  <a:pt x="383717" y="134620"/>
                </a:lnTo>
                <a:lnTo>
                  <a:pt x="387451" y="142240"/>
                </a:lnTo>
                <a:lnTo>
                  <a:pt x="399695" y="186690"/>
                </a:lnTo>
                <a:lnTo>
                  <a:pt x="401661" y="217170"/>
                </a:lnTo>
                <a:lnTo>
                  <a:pt x="401500" y="223520"/>
                </a:lnTo>
                <a:lnTo>
                  <a:pt x="393652" y="269240"/>
                </a:lnTo>
                <a:lnTo>
                  <a:pt x="390768" y="276860"/>
                </a:lnTo>
                <a:lnTo>
                  <a:pt x="387451" y="285750"/>
                </a:lnTo>
                <a:lnTo>
                  <a:pt x="383717" y="294640"/>
                </a:lnTo>
                <a:lnTo>
                  <a:pt x="379583" y="302260"/>
                </a:lnTo>
                <a:lnTo>
                  <a:pt x="375050" y="311150"/>
                </a:lnTo>
                <a:lnTo>
                  <a:pt x="370116" y="318770"/>
                </a:lnTo>
                <a:lnTo>
                  <a:pt x="364815" y="326390"/>
                </a:lnTo>
                <a:lnTo>
                  <a:pt x="359162" y="332740"/>
                </a:lnTo>
                <a:lnTo>
                  <a:pt x="353156" y="340360"/>
                </a:lnTo>
                <a:lnTo>
                  <a:pt x="346798" y="346710"/>
                </a:lnTo>
                <a:lnTo>
                  <a:pt x="340122" y="353060"/>
                </a:lnTo>
                <a:lnTo>
                  <a:pt x="333160" y="359410"/>
                </a:lnTo>
                <a:lnTo>
                  <a:pt x="325915" y="364490"/>
                </a:lnTo>
                <a:lnTo>
                  <a:pt x="318389" y="370840"/>
                </a:lnTo>
                <a:lnTo>
                  <a:pt x="310597" y="374650"/>
                </a:lnTo>
                <a:lnTo>
                  <a:pt x="302594" y="379730"/>
                </a:lnTo>
                <a:lnTo>
                  <a:pt x="294380" y="383540"/>
                </a:lnTo>
                <a:lnTo>
                  <a:pt x="277361" y="391160"/>
                </a:lnTo>
                <a:lnTo>
                  <a:pt x="250774" y="398780"/>
                </a:lnTo>
                <a:lnTo>
                  <a:pt x="232581" y="401320"/>
                </a:lnTo>
                <a:lnTo>
                  <a:pt x="318937" y="401320"/>
                </a:lnTo>
                <a:lnTo>
                  <a:pt x="355574" y="375920"/>
                </a:lnTo>
                <a:lnTo>
                  <a:pt x="384314" y="345440"/>
                </a:lnTo>
                <a:lnTo>
                  <a:pt x="388493" y="339090"/>
                </a:lnTo>
                <a:lnTo>
                  <a:pt x="396290" y="327660"/>
                </a:lnTo>
                <a:lnTo>
                  <a:pt x="414883" y="289560"/>
                </a:lnTo>
                <a:lnTo>
                  <a:pt x="425767" y="248920"/>
                </a:lnTo>
                <a:lnTo>
                  <a:pt x="428510" y="207010"/>
                </a:lnTo>
                <a:lnTo>
                  <a:pt x="428167" y="200660"/>
                </a:lnTo>
                <a:lnTo>
                  <a:pt x="421322" y="158750"/>
                </a:lnTo>
                <a:lnTo>
                  <a:pt x="406514" y="119380"/>
                </a:lnTo>
                <a:lnTo>
                  <a:pt x="396290" y="101600"/>
                </a:lnTo>
                <a:lnTo>
                  <a:pt x="388493" y="88900"/>
                </a:lnTo>
                <a:lnTo>
                  <a:pt x="384314" y="83820"/>
                </a:lnTo>
                <a:lnTo>
                  <a:pt x="375412" y="72390"/>
                </a:lnTo>
                <a:lnTo>
                  <a:pt x="370700" y="67310"/>
                </a:lnTo>
                <a:lnTo>
                  <a:pt x="360781" y="58420"/>
                </a:lnTo>
                <a:lnTo>
                  <a:pt x="355574" y="53340"/>
                </a:lnTo>
                <a:lnTo>
                  <a:pt x="344728" y="44450"/>
                </a:lnTo>
                <a:lnTo>
                  <a:pt x="339102" y="40640"/>
                </a:lnTo>
                <a:lnTo>
                  <a:pt x="327431" y="31750"/>
                </a:lnTo>
                <a:lnTo>
                  <a:pt x="321411" y="29210"/>
                </a:lnTo>
                <a:lnTo>
                  <a:pt x="317288" y="26670"/>
                </a:lnTo>
                <a:close/>
              </a:path>
              <a:path w="428625" h="427989">
                <a:moveTo>
                  <a:pt x="221564" y="67310"/>
                </a:moveTo>
                <a:lnTo>
                  <a:pt x="206832" y="67310"/>
                </a:lnTo>
                <a:lnTo>
                  <a:pt x="200799" y="72390"/>
                </a:lnTo>
                <a:lnTo>
                  <a:pt x="200799" y="242570"/>
                </a:lnTo>
                <a:lnTo>
                  <a:pt x="184775" y="250190"/>
                </a:lnTo>
                <a:lnTo>
                  <a:pt x="172045" y="261620"/>
                </a:lnTo>
                <a:lnTo>
                  <a:pt x="163646" y="276860"/>
                </a:lnTo>
                <a:lnTo>
                  <a:pt x="160616" y="294640"/>
                </a:lnTo>
                <a:lnTo>
                  <a:pt x="164833" y="314960"/>
                </a:lnTo>
                <a:lnTo>
                  <a:pt x="176325" y="332740"/>
                </a:lnTo>
                <a:lnTo>
                  <a:pt x="193358" y="344170"/>
                </a:lnTo>
                <a:lnTo>
                  <a:pt x="214198" y="347980"/>
                </a:lnTo>
                <a:lnTo>
                  <a:pt x="235037" y="344170"/>
                </a:lnTo>
                <a:lnTo>
                  <a:pt x="252071" y="332740"/>
                </a:lnTo>
                <a:lnTo>
                  <a:pt x="259458" y="321310"/>
                </a:lnTo>
                <a:lnTo>
                  <a:pt x="207225" y="321310"/>
                </a:lnTo>
                <a:lnTo>
                  <a:pt x="200660" y="317500"/>
                </a:lnTo>
                <a:lnTo>
                  <a:pt x="187413" y="298450"/>
                </a:lnTo>
                <a:lnTo>
                  <a:pt x="187413" y="290830"/>
                </a:lnTo>
                <a:lnTo>
                  <a:pt x="200660" y="271780"/>
                </a:lnTo>
                <a:lnTo>
                  <a:pt x="207225" y="267970"/>
                </a:lnTo>
                <a:lnTo>
                  <a:pt x="259850" y="267970"/>
                </a:lnTo>
                <a:lnTo>
                  <a:pt x="256351" y="261620"/>
                </a:lnTo>
                <a:lnTo>
                  <a:pt x="243621" y="250190"/>
                </a:lnTo>
                <a:lnTo>
                  <a:pt x="227596" y="242570"/>
                </a:lnTo>
                <a:lnTo>
                  <a:pt x="227596" y="72390"/>
                </a:lnTo>
                <a:lnTo>
                  <a:pt x="221564" y="67310"/>
                </a:lnTo>
                <a:close/>
              </a:path>
              <a:path w="428625" h="427989">
                <a:moveTo>
                  <a:pt x="259850" y="267970"/>
                </a:moveTo>
                <a:lnTo>
                  <a:pt x="221170" y="267970"/>
                </a:lnTo>
                <a:lnTo>
                  <a:pt x="227736" y="271780"/>
                </a:lnTo>
                <a:lnTo>
                  <a:pt x="230632" y="273050"/>
                </a:lnTo>
                <a:lnTo>
                  <a:pt x="235648" y="278130"/>
                </a:lnTo>
                <a:lnTo>
                  <a:pt x="237591" y="280670"/>
                </a:lnTo>
                <a:lnTo>
                  <a:pt x="240309" y="288290"/>
                </a:lnTo>
                <a:lnTo>
                  <a:pt x="240982" y="290830"/>
                </a:lnTo>
                <a:lnTo>
                  <a:pt x="240982" y="298450"/>
                </a:lnTo>
                <a:lnTo>
                  <a:pt x="227736" y="317500"/>
                </a:lnTo>
                <a:lnTo>
                  <a:pt x="221170" y="321310"/>
                </a:lnTo>
                <a:lnTo>
                  <a:pt x="259458" y="321310"/>
                </a:lnTo>
                <a:lnTo>
                  <a:pt x="263563" y="314960"/>
                </a:lnTo>
                <a:lnTo>
                  <a:pt x="267779" y="294640"/>
                </a:lnTo>
                <a:lnTo>
                  <a:pt x="264749" y="276860"/>
                </a:lnTo>
                <a:lnTo>
                  <a:pt x="259850" y="267970"/>
                </a:lnTo>
                <a:close/>
              </a:path>
              <a:path w="428625" h="427989">
                <a:moveTo>
                  <a:pt x="85483" y="194310"/>
                </a:moveTo>
                <a:lnTo>
                  <a:pt x="75018" y="194310"/>
                </a:lnTo>
                <a:lnTo>
                  <a:pt x="70104" y="196850"/>
                </a:lnTo>
                <a:lnTo>
                  <a:pt x="60159" y="212090"/>
                </a:lnTo>
                <a:lnTo>
                  <a:pt x="60159" y="217170"/>
                </a:lnTo>
                <a:lnTo>
                  <a:pt x="60667" y="219710"/>
                </a:lnTo>
                <a:lnTo>
                  <a:pt x="62712" y="224790"/>
                </a:lnTo>
                <a:lnTo>
                  <a:pt x="64160" y="226060"/>
                </a:lnTo>
                <a:lnTo>
                  <a:pt x="67932" y="229870"/>
                </a:lnTo>
                <a:lnTo>
                  <a:pt x="70104" y="232410"/>
                </a:lnTo>
                <a:lnTo>
                  <a:pt x="75018" y="233680"/>
                </a:lnTo>
                <a:lnTo>
                  <a:pt x="77584" y="234950"/>
                </a:lnTo>
                <a:lnTo>
                  <a:pt x="82918" y="234950"/>
                </a:lnTo>
                <a:lnTo>
                  <a:pt x="85483" y="233680"/>
                </a:lnTo>
                <a:lnTo>
                  <a:pt x="90398" y="232410"/>
                </a:lnTo>
                <a:lnTo>
                  <a:pt x="92570" y="229870"/>
                </a:lnTo>
                <a:lnTo>
                  <a:pt x="96342" y="226060"/>
                </a:lnTo>
                <a:lnTo>
                  <a:pt x="97790" y="224790"/>
                </a:lnTo>
                <a:lnTo>
                  <a:pt x="99834" y="219710"/>
                </a:lnTo>
                <a:lnTo>
                  <a:pt x="100342" y="217170"/>
                </a:lnTo>
                <a:lnTo>
                  <a:pt x="100342" y="212090"/>
                </a:lnTo>
                <a:lnTo>
                  <a:pt x="90398" y="196850"/>
                </a:lnTo>
                <a:lnTo>
                  <a:pt x="85483" y="194310"/>
                </a:lnTo>
                <a:close/>
              </a:path>
              <a:path w="428625" h="427989">
                <a:moveTo>
                  <a:pt x="353377" y="194310"/>
                </a:moveTo>
                <a:lnTo>
                  <a:pt x="342912" y="194310"/>
                </a:lnTo>
                <a:lnTo>
                  <a:pt x="337997" y="196850"/>
                </a:lnTo>
                <a:lnTo>
                  <a:pt x="328053" y="212090"/>
                </a:lnTo>
                <a:lnTo>
                  <a:pt x="328053" y="217170"/>
                </a:lnTo>
                <a:lnTo>
                  <a:pt x="328561" y="219710"/>
                </a:lnTo>
                <a:lnTo>
                  <a:pt x="330606" y="224790"/>
                </a:lnTo>
                <a:lnTo>
                  <a:pt x="332054" y="226060"/>
                </a:lnTo>
                <a:lnTo>
                  <a:pt x="335826" y="229870"/>
                </a:lnTo>
                <a:lnTo>
                  <a:pt x="337997" y="232410"/>
                </a:lnTo>
                <a:lnTo>
                  <a:pt x="342912" y="233680"/>
                </a:lnTo>
                <a:lnTo>
                  <a:pt x="345478" y="234950"/>
                </a:lnTo>
                <a:lnTo>
                  <a:pt x="350812" y="234950"/>
                </a:lnTo>
                <a:lnTo>
                  <a:pt x="353377" y="233680"/>
                </a:lnTo>
                <a:lnTo>
                  <a:pt x="358292" y="232410"/>
                </a:lnTo>
                <a:lnTo>
                  <a:pt x="360464" y="229870"/>
                </a:lnTo>
                <a:lnTo>
                  <a:pt x="364236" y="226060"/>
                </a:lnTo>
                <a:lnTo>
                  <a:pt x="365683" y="224790"/>
                </a:lnTo>
                <a:lnTo>
                  <a:pt x="367728" y="219710"/>
                </a:lnTo>
                <a:lnTo>
                  <a:pt x="368236" y="217170"/>
                </a:lnTo>
                <a:lnTo>
                  <a:pt x="368236" y="212090"/>
                </a:lnTo>
                <a:lnTo>
                  <a:pt x="358292" y="196850"/>
                </a:lnTo>
                <a:lnTo>
                  <a:pt x="353377" y="194310"/>
                </a:lnTo>
                <a:close/>
              </a:path>
              <a:path w="428625" h="427989">
                <a:moveTo>
                  <a:pt x="125666" y="100330"/>
                </a:moveTo>
                <a:lnTo>
                  <a:pt x="115201" y="100330"/>
                </a:lnTo>
                <a:lnTo>
                  <a:pt x="110286" y="102870"/>
                </a:lnTo>
                <a:lnTo>
                  <a:pt x="100342" y="118110"/>
                </a:lnTo>
                <a:lnTo>
                  <a:pt x="100342" y="123190"/>
                </a:lnTo>
                <a:lnTo>
                  <a:pt x="115201" y="139700"/>
                </a:lnTo>
                <a:lnTo>
                  <a:pt x="117767" y="140970"/>
                </a:lnTo>
                <a:lnTo>
                  <a:pt x="123101" y="140970"/>
                </a:lnTo>
                <a:lnTo>
                  <a:pt x="125666" y="139700"/>
                </a:lnTo>
                <a:lnTo>
                  <a:pt x="130581" y="138430"/>
                </a:lnTo>
                <a:lnTo>
                  <a:pt x="140525" y="123190"/>
                </a:lnTo>
                <a:lnTo>
                  <a:pt x="140525" y="118110"/>
                </a:lnTo>
                <a:lnTo>
                  <a:pt x="130581" y="102870"/>
                </a:lnTo>
                <a:lnTo>
                  <a:pt x="125666" y="100330"/>
                </a:lnTo>
                <a:close/>
              </a:path>
              <a:path w="428625" h="427989">
                <a:moveTo>
                  <a:pt x="313194" y="100330"/>
                </a:moveTo>
                <a:lnTo>
                  <a:pt x="302729" y="100330"/>
                </a:lnTo>
                <a:lnTo>
                  <a:pt x="297815" y="102870"/>
                </a:lnTo>
                <a:lnTo>
                  <a:pt x="287870" y="118110"/>
                </a:lnTo>
                <a:lnTo>
                  <a:pt x="287870" y="123190"/>
                </a:lnTo>
                <a:lnTo>
                  <a:pt x="302729" y="139700"/>
                </a:lnTo>
                <a:lnTo>
                  <a:pt x="305295" y="140970"/>
                </a:lnTo>
                <a:lnTo>
                  <a:pt x="310629" y="140970"/>
                </a:lnTo>
                <a:lnTo>
                  <a:pt x="313194" y="139700"/>
                </a:lnTo>
                <a:lnTo>
                  <a:pt x="318109" y="138430"/>
                </a:lnTo>
                <a:lnTo>
                  <a:pt x="328053" y="123190"/>
                </a:lnTo>
                <a:lnTo>
                  <a:pt x="328053" y="118110"/>
                </a:lnTo>
                <a:lnTo>
                  <a:pt x="318109" y="102870"/>
                </a:lnTo>
                <a:lnTo>
                  <a:pt x="313194" y="100330"/>
                </a:lnTo>
                <a:close/>
              </a:path>
            </a:pathLst>
          </a:custGeom>
          <a:solidFill>
            <a:srgbClr val="4288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3625" y="5907088"/>
            <a:ext cx="514540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40" b="1">
                <a:solidFill>
                  <a:srgbClr val="3F5349"/>
                </a:solidFill>
                <a:latin typeface="Cambria"/>
                <a:cs typeface="Cambria"/>
              </a:rPr>
              <a:t>Re"di</a:t>
            </a:r>
            <a:r>
              <a:rPr dirty="0" sz="1650" spc="18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310" b="1">
                <a:solidFill>
                  <a:srgbClr val="3F5349"/>
                </a:solidFill>
                <a:latin typeface="Cambria"/>
                <a:cs typeface="Cambria"/>
              </a:rPr>
              <a:t>ie"to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Estrategias</a:t>
            </a:r>
            <a:r>
              <a:rPr dirty="0" sz="1350" spc="-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reducir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sobrecarga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gestión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objetos.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5356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574415">
              <a:lnSpc>
                <a:spcPct val="100000"/>
              </a:lnSpc>
              <a:spcBef>
                <a:spcPts val="125"/>
              </a:spcBef>
            </a:pPr>
            <a:r>
              <a:rPr dirty="0" spc="310"/>
              <a:t>Co"clusio"es</a:t>
            </a:r>
            <a:r>
              <a:rPr dirty="0" spc="-60"/>
              <a:t> </a:t>
            </a:r>
            <a:r>
              <a:rPr dirty="0" spc="229"/>
              <a:t>y</a:t>
            </a:r>
            <a:r>
              <a:rPr dirty="0" spc="-55"/>
              <a:t> </a:t>
            </a:r>
            <a:r>
              <a:rPr dirty="0" spc="220"/>
              <a:t>Desafíos</a:t>
            </a:r>
          </a:p>
        </p:txBody>
      </p:sp>
      <p:sp>
        <p:nvSpPr>
          <p:cNvPr id="4" name="object 4"/>
          <p:cNvSpPr/>
          <p:nvPr/>
        </p:nvSpPr>
        <p:spPr>
          <a:xfrm>
            <a:off x="4891087" y="2205037"/>
            <a:ext cx="5934075" cy="2828925"/>
          </a:xfrm>
          <a:custGeom>
            <a:avLst/>
            <a:gdLst/>
            <a:ahLst/>
            <a:cxnLst/>
            <a:rect l="l" t="t" r="r" b="b"/>
            <a:pathLst>
              <a:path w="5934075" h="2828925">
                <a:moveTo>
                  <a:pt x="0" y="2705100"/>
                </a:moveTo>
                <a:lnTo>
                  <a:pt x="0" y="123825"/>
                </a:lnTo>
                <a:lnTo>
                  <a:pt x="0" y="115697"/>
                </a:lnTo>
                <a:lnTo>
                  <a:pt x="800" y="107645"/>
                </a:lnTo>
                <a:lnTo>
                  <a:pt x="2387" y="99669"/>
                </a:lnTo>
                <a:lnTo>
                  <a:pt x="3962" y="91694"/>
                </a:lnTo>
                <a:lnTo>
                  <a:pt x="6311" y="83947"/>
                </a:lnTo>
                <a:lnTo>
                  <a:pt x="9423" y="76441"/>
                </a:lnTo>
                <a:lnTo>
                  <a:pt x="12534" y="68922"/>
                </a:lnTo>
                <a:lnTo>
                  <a:pt x="16357" y="61785"/>
                </a:lnTo>
                <a:lnTo>
                  <a:pt x="20866" y="55029"/>
                </a:lnTo>
                <a:lnTo>
                  <a:pt x="25387" y="48272"/>
                </a:lnTo>
                <a:lnTo>
                  <a:pt x="30518" y="42011"/>
                </a:lnTo>
                <a:lnTo>
                  <a:pt x="36271" y="36271"/>
                </a:lnTo>
                <a:lnTo>
                  <a:pt x="42011" y="30518"/>
                </a:lnTo>
                <a:lnTo>
                  <a:pt x="76441" y="9423"/>
                </a:lnTo>
                <a:lnTo>
                  <a:pt x="83947" y="6311"/>
                </a:lnTo>
                <a:lnTo>
                  <a:pt x="91694" y="3962"/>
                </a:lnTo>
                <a:lnTo>
                  <a:pt x="99669" y="2374"/>
                </a:lnTo>
                <a:lnTo>
                  <a:pt x="107645" y="800"/>
                </a:lnTo>
                <a:lnTo>
                  <a:pt x="115697" y="0"/>
                </a:lnTo>
                <a:lnTo>
                  <a:pt x="123825" y="0"/>
                </a:lnTo>
                <a:lnTo>
                  <a:pt x="5810250" y="0"/>
                </a:lnTo>
                <a:lnTo>
                  <a:pt x="5818378" y="0"/>
                </a:lnTo>
                <a:lnTo>
                  <a:pt x="5826429" y="800"/>
                </a:lnTo>
                <a:lnTo>
                  <a:pt x="5834405" y="2374"/>
                </a:lnTo>
                <a:lnTo>
                  <a:pt x="5842381" y="3962"/>
                </a:lnTo>
                <a:lnTo>
                  <a:pt x="5850128" y="6311"/>
                </a:lnTo>
                <a:lnTo>
                  <a:pt x="5857633" y="9423"/>
                </a:lnTo>
                <a:lnTo>
                  <a:pt x="5865152" y="12534"/>
                </a:lnTo>
                <a:lnTo>
                  <a:pt x="5897803" y="36271"/>
                </a:lnTo>
                <a:lnTo>
                  <a:pt x="5903556" y="42011"/>
                </a:lnTo>
                <a:lnTo>
                  <a:pt x="5924651" y="76441"/>
                </a:lnTo>
                <a:lnTo>
                  <a:pt x="5927763" y="83947"/>
                </a:lnTo>
                <a:lnTo>
                  <a:pt x="5930112" y="91694"/>
                </a:lnTo>
                <a:lnTo>
                  <a:pt x="5931700" y="99669"/>
                </a:lnTo>
                <a:lnTo>
                  <a:pt x="5933287" y="107645"/>
                </a:lnTo>
                <a:lnTo>
                  <a:pt x="5934075" y="115697"/>
                </a:lnTo>
                <a:lnTo>
                  <a:pt x="5934075" y="123825"/>
                </a:lnTo>
                <a:lnTo>
                  <a:pt x="5934075" y="2705100"/>
                </a:lnTo>
                <a:lnTo>
                  <a:pt x="5934075" y="2713228"/>
                </a:lnTo>
                <a:lnTo>
                  <a:pt x="5933287" y="2721279"/>
                </a:lnTo>
                <a:lnTo>
                  <a:pt x="5931700" y="2729255"/>
                </a:lnTo>
                <a:lnTo>
                  <a:pt x="5930112" y="2737231"/>
                </a:lnTo>
                <a:lnTo>
                  <a:pt x="5927763" y="2744978"/>
                </a:lnTo>
                <a:lnTo>
                  <a:pt x="5924651" y="2752483"/>
                </a:lnTo>
                <a:lnTo>
                  <a:pt x="5921540" y="2759989"/>
                </a:lnTo>
                <a:lnTo>
                  <a:pt x="5897803" y="2792653"/>
                </a:lnTo>
                <a:lnTo>
                  <a:pt x="5865152" y="2816390"/>
                </a:lnTo>
                <a:lnTo>
                  <a:pt x="5857633" y="2819501"/>
                </a:lnTo>
                <a:lnTo>
                  <a:pt x="5850128" y="2822613"/>
                </a:lnTo>
                <a:lnTo>
                  <a:pt x="5842381" y="2824962"/>
                </a:lnTo>
                <a:lnTo>
                  <a:pt x="5834405" y="2826550"/>
                </a:lnTo>
                <a:lnTo>
                  <a:pt x="5826429" y="2828137"/>
                </a:lnTo>
                <a:lnTo>
                  <a:pt x="5818378" y="2828925"/>
                </a:lnTo>
                <a:lnTo>
                  <a:pt x="5810250" y="2828925"/>
                </a:lnTo>
                <a:lnTo>
                  <a:pt x="123825" y="2828925"/>
                </a:lnTo>
                <a:lnTo>
                  <a:pt x="115697" y="2828925"/>
                </a:lnTo>
                <a:lnTo>
                  <a:pt x="107645" y="2828137"/>
                </a:lnTo>
                <a:lnTo>
                  <a:pt x="99669" y="2826550"/>
                </a:lnTo>
                <a:lnTo>
                  <a:pt x="91694" y="2824962"/>
                </a:lnTo>
                <a:lnTo>
                  <a:pt x="83947" y="2822613"/>
                </a:lnTo>
                <a:lnTo>
                  <a:pt x="76441" y="2819501"/>
                </a:lnTo>
                <a:lnTo>
                  <a:pt x="68922" y="2816390"/>
                </a:lnTo>
                <a:lnTo>
                  <a:pt x="36271" y="2792653"/>
                </a:lnTo>
                <a:lnTo>
                  <a:pt x="30518" y="2786900"/>
                </a:lnTo>
                <a:lnTo>
                  <a:pt x="9423" y="2752483"/>
                </a:lnTo>
                <a:lnTo>
                  <a:pt x="6311" y="2744978"/>
                </a:lnTo>
                <a:lnTo>
                  <a:pt x="3962" y="2737231"/>
                </a:lnTo>
                <a:lnTo>
                  <a:pt x="2387" y="2729255"/>
                </a:lnTo>
                <a:lnTo>
                  <a:pt x="800" y="2721279"/>
                </a:lnTo>
                <a:lnTo>
                  <a:pt x="0" y="2713228"/>
                </a:lnTo>
                <a:lnTo>
                  <a:pt x="0" y="2705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895850" y="2209799"/>
          <a:ext cx="5924550" cy="281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6120"/>
                <a:gridCol w="1971675"/>
                <a:gridCol w="1976754"/>
              </a:tblGrid>
              <a:tr h="495300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50" spc="5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Concepto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14300">
                    <a:lnR w="9525">
                      <a:solidFill>
                        <a:srgbClr val="FAFFFA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50" spc="4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Desafío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14300">
                    <a:lnL w="9525">
                      <a:solidFill>
                        <a:srgbClr val="FAFFFA"/>
                      </a:solidFill>
                      <a:prstDash val="solid"/>
                    </a:lnL>
                    <a:lnR w="12700">
                      <a:solidFill>
                        <a:srgbClr val="FAFFFA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50" spc="3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Solución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FAFFFA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7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Métodos</a:t>
                      </a:r>
                      <a:r>
                        <a:rPr dirty="0" sz="1350" spc="-5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4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Virtuales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3825">
                    <a:lnR w="9525">
                      <a:solidFill>
                        <a:srgbClr val="FAFFFA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74625" marR="897255" indent="-635">
                        <a:lnSpc>
                          <a:spcPct val="134300"/>
                        </a:lnSpc>
                        <a:spcBef>
                          <a:spcPts val="420"/>
                        </a:spcBef>
                      </a:pPr>
                      <a:r>
                        <a:rPr dirty="0" sz="1350" spc="-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Resolución  </a:t>
                      </a:r>
                      <a:r>
                        <a:rPr dirty="0" sz="1350" spc="6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dinámica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3340">
                    <a:lnL w="9525">
                      <a:solidFill>
                        <a:srgbClr val="FAFFFA"/>
                      </a:solidFill>
                      <a:prstDash val="solid"/>
                    </a:lnL>
                    <a:lnR w="12700">
                      <a:solidFill>
                        <a:srgbClr val="FAFFFA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Tablas</a:t>
                      </a:r>
                      <a:r>
                        <a:rPr dirty="0" sz="1350" spc="-6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5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virtuales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3825">
                    <a:lnL w="12700">
                      <a:solidFill>
                        <a:srgbClr val="FAFFFA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3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Herencia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3825">
                    <a:lnR w="9525">
                      <a:solidFill>
                        <a:srgbClr val="FAFFFA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4625" marR="690880">
                        <a:lnSpc>
                          <a:spcPct val="134300"/>
                        </a:lnSpc>
                        <a:spcBef>
                          <a:spcPts val="420"/>
                        </a:spcBef>
                      </a:pPr>
                      <a:r>
                        <a:rPr dirty="0" sz="135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Estructu</a:t>
                      </a:r>
                      <a:r>
                        <a:rPr dirty="0" sz="1350" spc="-4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dirty="0" sz="135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350" spc="-2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de  </a:t>
                      </a:r>
                      <a:r>
                        <a:rPr dirty="0" sz="1350" spc="7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memoria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3340">
                    <a:lnL w="9525">
                      <a:solidFill>
                        <a:srgbClr val="FAFFFA"/>
                      </a:solidFill>
                      <a:prstDash val="solid"/>
                    </a:lnL>
                    <a:lnR w="12700">
                      <a:solidFill>
                        <a:srgbClr val="FAFFFA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781685">
                        <a:lnSpc>
                          <a:spcPct val="134300"/>
                        </a:lnSpc>
                        <a:spcBef>
                          <a:spcPts val="420"/>
                        </a:spcBef>
                      </a:pPr>
                      <a:r>
                        <a:rPr dirty="0" sz="1350" spc="7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Offset </a:t>
                      </a:r>
                      <a:r>
                        <a:rPr dirty="0" sz="1350" spc="4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350" spc="4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p</a:t>
                      </a:r>
                      <a:r>
                        <a:rPr dirty="0" sz="1350" spc="-4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dirty="0" sz="1350" spc="-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opiedades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AFFFA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6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Polimorfismo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3825">
                    <a:lnR w="9525">
                      <a:solidFill>
                        <a:srgbClr val="FAFFFA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74625" marR="312420" indent="-1270">
                        <a:lnSpc>
                          <a:spcPct val="134300"/>
                        </a:lnSpc>
                        <a:spcBef>
                          <a:spcPts val="420"/>
                        </a:spcBef>
                      </a:pPr>
                      <a:r>
                        <a:rPr dirty="0" sz="1350" spc="5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Tipo</a:t>
                      </a:r>
                      <a:r>
                        <a:rPr dirty="0" sz="1350" spc="-5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4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en</a:t>
                      </a:r>
                      <a:r>
                        <a:rPr dirty="0" sz="1350" spc="-4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8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tiempo</a:t>
                      </a:r>
                      <a:r>
                        <a:rPr dirty="0" sz="1350" spc="-4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4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350" spc="-345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4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ejecución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3340">
                    <a:lnL w="9525">
                      <a:solidFill>
                        <a:srgbClr val="FAFFFA"/>
                      </a:solidFill>
                      <a:prstDash val="solid"/>
                    </a:lnL>
                    <a:lnR w="12700">
                      <a:solidFill>
                        <a:srgbClr val="FAFFFA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10">
                          <a:solidFill>
                            <a:srgbClr val="3F5349"/>
                          </a:solidFill>
                          <a:latin typeface="Microsoft Sans Serif"/>
                          <a:cs typeface="Microsoft Sans Serif"/>
                        </a:rPr>
                        <a:t>RTTI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3825">
                    <a:lnL w="12700">
                      <a:solidFill>
                        <a:srgbClr val="FAFFFA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2024-11-05T16:53:44Z</dcterms:created>
  <dcterms:modified xsi:type="dcterms:W3CDTF">2024-11-05T16:53:44Z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