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798796"/>
            <a:ext cx="7415927" cy="319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350"/>
              </a:lnSpc>
              <a:buNone/>
            </a:pPr>
            <a:r>
              <a:rPr lang="en-US" sz="6700" b="1" spc="-20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Organización de Lenguajes y Compiladores 2</a:t>
            </a:r>
            <a:endParaRPr lang="en-US" sz="6700" dirty="0"/>
          </a:p>
        </p:txBody>
      </p:sp>
      <p:sp>
        <p:nvSpPr>
          <p:cNvPr id="4" name="Text 1"/>
          <p:cNvSpPr/>
          <p:nvPr/>
        </p:nvSpPr>
        <p:spPr>
          <a:xfrm>
            <a:off x="6350437" y="5363051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Sesión #2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437" y="6035754"/>
            <a:ext cx="74159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101447"/>
            <a:ext cx="7415927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b="1" spc="-14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Agenda y Avisos Generales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437" y="3292435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15240">
            <a:solidFill>
              <a:srgbClr val="2A19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53795" y="3384947"/>
            <a:ext cx="148590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spc="-87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7152680" y="3292435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Temas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152680" y="3826312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Repaso de compiladores 1 y ejemplo PeggyJs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50437" y="4745831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15240">
            <a:solidFill>
              <a:srgbClr val="2A199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7005" y="4838343"/>
            <a:ext cx="222171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spc="-87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7152680" y="4745831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Avisos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152680" y="5279708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UEDI, foros, formulario de asignación DTT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6350437" y="6199227"/>
            <a:ext cx="555427" cy="555427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15240">
            <a:solidFill>
              <a:srgbClr val="2A19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14148" y="6291739"/>
            <a:ext cx="228005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b="1" spc="-87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7152680" y="619922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Encuesta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152680" y="6733103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Encuesta de expectativas obligatoria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117521"/>
            <a:ext cx="6934557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b="1" spc="-14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es un Compilador?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864037" y="2259330"/>
            <a:ext cx="7415927" cy="1453039"/>
          </a:xfrm>
          <a:prstGeom prst="roundRect">
            <a:avLst>
              <a:gd name="adj" fmla="val 7136"/>
            </a:avLst>
          </a:prstGeom>
          <a:solidFill>
            <a:srgbClr val="110080"/>
          </a:solidFill>
          <a:ln w="15240">
            <a:solidFill>
              <a:srgbClr val="2A19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26093" y="252138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Definición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6093" y="3055263"/>
            <a:ext cx="68918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Programa que compila código fuente a código objeto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864037" y="3959185"/>
            <a:ext cx="7415927" cy="1453039"/>
          </a:xfrm>
          <a:prstGeom prst="roundRect">
            <a:avLst>
              <a:gd name="adj" fmla="val 7136"/>
            </a:avLst>
          </a:prstGeom>
          <a:solidFill>
            <a:srgbClr val="110080"/>
          </a:solidFill>
          <a:ln w="15240">
            <a:solidFill>
              <a:srgbClr val="2A19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26093" y="4221242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126093" y="4755118"/>
            <a:ext cx="68918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es ejecución del programa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864037" y="5659041"/>
            <a:ext cx="7415927" cy="1453039"/>
          </a:xfrm>
          <a:prstGeom prst="roundRect">
            <a:avLst>
              <a:gd name="adj" fmla="val 7136"/>
            </a:avLst>
          </a:prstGeom>
          <a:solidFill>
            <a:srgbClr val="110080"/>
          </a:solidFill>
          <a:ln w="15240">
            <a:solidFill>
              <a:srgbClr val="2A19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26093" y="5921097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Intérprete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1126093" y="6454973"/>
            <a:ext cx="689181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Ejecuta instrucciones directamente sin compilar previamente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6171" y="626031"/>
            <a:ext cx="5732026" cy="710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spc="-134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Fases de Compilación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22164" y="1678186"/>
            <a:ext cx="30480" cy="5925264"/>
          </a:xfrm>
          <a:prstGeom prst="roundRect">
            <a:avLst>
              <a:gd name="adj" fmla="val 313494"/>
            </a:avLst>
          </a:prstGeom>
          <a:solidFill>
            <a:srgbClr val="2A1999"/>
          </a:solidFill>
          <a:ln/>
        </p:spPr>
      </p:sp>
      <p:sp>
        <p:nvSpPr>
          <p:cNvPr id="5" name="Shape 2"/>
          <p:cNvSpPr/>
          <p:nvPr/>
        </p:nvSpPr>
        <p:spPr>
          <a:xfrm>
            <a:off x="1362849" y="2174677"/>
            <a:ext cx="796171" cy="30480"/>
          </a:xfrm>
          <a:prstGeom prst="roundRect">
            <a:avLst>
              <a:gd name="adj" fmla="val 313494"/>
            </a:avLst>
          </a:prstGeom>
          <a:solidFill>
            <a:srgbClr val="2A1999"/>
          </a:solidFill>
          <a:ln/>
        </p:spPr>
      </p:sp>
      <p:sp>
        <p:nvSpPr>
          <p:cNvPr id="6" name="Shape 3"/>
          <p:cNvSpPr/>
          <p:nvPr/>
        </p:nvSpPr>
        <p:spPr>
          <a:xfrm>
            <a:off x="881479" y="1934051"/>
            <a:ext cx="511850" cy="511850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8884" y="2019300"/>
            <a:ext cx="136922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81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8632" y="1905595"/>
            <a:ext cx="2843808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 Léxico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88632" y="2397562"/>
            <a:ext cx="5959197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Convierte caracteres en tokens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62849" y="3712845"/>
            <a:ext cx="796171" cy="30480"/>
          </a:xfrm>
          <a:prstGeom prst="roundRect">
            <a:avLst>
              <a:gd name="adj" fmla="val 313494"/>
            </a:avLst>
          </a:prstGeom>
          <a:solidFill>
            <a:srgbClr val="2A1999"/>
          </a:solidFill>
          <a:ln/>
        </p:spPr>
      </p:sp>
      <p:sp>
        <p:nvSpPr>
          <p:cNvPr id="11" name="Shape 8"/>
          <p:cNvSpPr/>
          <p:nvPr/>
        </p:nvSpPr>
        <p:spPr>
          <a:xfrm>
            <a:off x="881479" y="3472220"/>
            <a:ext cx="511850" cy="511850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35070" y="3557468"/>
            <a:ext cx="204668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81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388632" y="3443764"/>
            <a:ext cx="2843808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 Sintáctico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88632" y="3935730"/>
            <a:ext cx="5959197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 árbol de sintaxis abstracta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62849" y="5251013"/>
            <a:ext cx="796171" cy="30480"/>
          </a:xfrm>
          <a:prstGeom prst="roundRect">
            <a:avLst>
              <a:gd name="adj" fmla="val 313494"/>
            </a:avLst>
          </a:prstGeom>
          <a:solidFill>
            <a:srgbClr val="2A1999"/>
          </a:solidFill>
          <a:ln/>
        </p:spPr>
      </p:sp>
      <p:sp>
        <p:nvSpPr>
          <p:cNvPr id="16" name="Shape 13"/>
          <p:cNvSpPr/>
          <p:nvPr/>
        </p:nvSpPr>
        <p:spPr>
          <a:xfrm>
            <a:off x="881479" y="5010388"/>
            <a:ext cx="511850" cy="511850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32331" y="5095637"/>
            <a:ext cx="210026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81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388632" y="4981932"/>
            <a:ext cx="2843808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 Semántico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388632" y="5473898"/>
            <a:ext cx="5959197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 tipos y coherencia semántica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1362849" y="6789182"/>
            <a:ext cx="796171" cy="30480"/>
          </a:xfrm>
          <a:prstGeom prst="roundRect">
            <a:avLst>
              <a:gd name="adj" fmla="val 313494"/>
            </a:avLst>
          </a:prstGeom>
          <a:solidFill>
            <a:srgbClr val="2A1999"/>
          </a:solidFill>
          <a:ln/>
        </p:spPr>
      </p:sp>
      <p:sp>
        <p:nvSpPr>
          <p:cNvPr id="21" name="Shape 18"/>
          <p:cNvSpPr/>
          <p:nvPr/>
        </p:nvSpPr>
        <p:spPr>
          <a:xfrm>
            <a:off x="881479" y="6548557"/>
            <a:ext cx="511850" cy="511850"/>
          </a:xfrm>
          <a:prstGeom prst="roundRect">
            <a:avLst>
              <a:gd name="adj" fmla="val 18668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27093" y="6633805"/>
            <a:ext cx="220504" cy="341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b="1" spc="-81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650" dirty="0"/>
          </a:p>
        </p:txBody>
      </p:sp>
      <p:sp>
        <p:nvSpPr>
          <p:cNvPr id="23" name="Text 20"/>
          <p:cNvSpPr/>
          <p:nvPr/>
        </p:nvSpPr>
        <p:spPr>
          <a:xfrm>
            <a:off x="2388632" y="6520101"/>
            <a:ext cx="2909530" cy="355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spc="-67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Generación de Código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2388632" y="7012067"/>
            <a:ext cx="5959197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spc="-36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 código objeto final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1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4451" y="469940"/>
            <a:ext cx="5302687" cy="533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3350" b="1" spc="-10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Variantes de Compiladores</a:t>
            </a:r>
            <a:endParaRPr lang="en-US" sz="3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451" y="1260277"/>
            <a:ext cx="427196" cy="4271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84451" y="1858328"/>
            <a:ext cx="2136100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spc="-50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Single-Pass</a:t>
            </a:r>
            <a:endParaRPr lang="en-US" sz="1650" dirty="0"/>
          </a:p>
        </p:txBody>
      </p:sp>
      <p:sp>
        <p:nvSpPr>
          <p:cNvPr id="6" name="Text 2"/>
          <p:cNvSpPr/>
          <p:nvPr/>
        </p:nvSpPr>
        <p:spPr>
          <a:xfrm>
            <a:off x="6084451" y="2227778"/>
            <a:ext cx="794789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Compila en una sola pasada</a:t>
            </a:r>
            <a:endParaRPr lang="en-US" sz="13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4451" y="3013829"/>
            <a:ext cx="427196" cy="4271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84451" y="3611880"/>
            <a:ext cx="2136100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spc="-50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Tree-Walk</a:t>
            </a:r>
            <a:endParaRPr lang="en-US" sz="1650" dirty="0"/>
          </a:p>
        </p:txBody>
      </p:sp>
      <p:sp>
        <p:nvSpPr>
          <p:cNvPr id="9" name="Text 4"/>
          <p:cNvSpPr/>
          <p:nvPr/>
        </p:nvSpPr>
        <p:spPr>
          <a:xfrm>
            <a:off x="6084451" y="3981331"/>
            <a:ext cx="794789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 recorriendo el árbol sintáctico</a:t>
            </a:r>
            <a:endParaRPr lang="en-US" sz="13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451" y="4767382"/>
            <a:ext cx="427196" cy="4271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84451" y="5365432"/>
            <a:ext cx="2136100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spc="-50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Transpiladores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6084451" y="5734883"/>
            <a:ext cx="794789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Traduce entre lenguajes de alto nivel</a:t>
            </a:r>
            <a:endParaRPr lang="en-US" sz="13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451" y="6520934"/>
            <a:ext cx="427196" cy="42719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084451" y="7118985"/>
            <a:ext cx="2136100" cy="266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b="1" spc="-50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JIT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6084451" y="7488436"/>
            <a:ext cx="7947898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spc="-27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Compila en tiempo de ejecución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983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5462" y="3640217"/>
            <a:ext cx="5967651" cy="745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850"/>
              </a:lnSpc>
              <a:buNone/>
            </a:pPr>
            <a:r>
              <a:rPr lang="en-US" sz="4650" b="1" spc="-14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Análisis Léxico</a:t>
            </a:r>
            <a:endParaRPr lang="en-US" sz="4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462" y="4744164"/>
            <a:ext cx="4319826" cy="95476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74063" y="6056948"/>
            <a:ext cx="2983825" cy="37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spc="-70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Entrada</a:t>
            </a:r>
            <a:endParaRPr lang="en-US" sz="2300" dirty="0"/>
          </a:p>
        </p:txBody>
      </p:sp>
      <p:sp>
        <p:nvSpPr>
          <p:cNvPr id="6" name="Text 2"/>
          <p:cNvSpPr/>
          <p:nvPr/>
        </p:nvSpPr>
        <p:spPr>
          <a:xfrm>
            <a:off x="1074063" y="6572964"/>
            <a:ext cx="3842623" cy="76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de caracteres del código fuente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5287" y="4744164"/>
            <a:ext cx="4319826" cy="95476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93888" y="6056948"/>
            <a:ext cx="2983825" cy="37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spc="-70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Proceso</a:t>
            </a:r>
            <a:endParaRPr lang="en-US" sz="2300" dirty="0"/>
          </a:p>
        </p:txBody>
      </p:sp>
      <p:sp>
        <p:nvSpPr>
          <p:cNvPr id="9" name="Text 4"/>
          <p:cNvSpPr/>
          <p:nvPr/>
        </p:nvSpPr>
        <p:spPr>
          <a:xfrm>
            <a:off x="5393888" y="6572964"/>
            <a:ext cx="3842623" cy="381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Identificación de lexemas y tokens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113" y="4744164"/>
            <a:ext cx="4319826" cy="95476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3714" y="6056948"/>
            <a:ext cx="2983825" cy="3729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b="1" spc="-70" kern="0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Salida</a:t>
            </a:r>
            <a:endParaRPr lang="en-US" sz="2300" dirty="0"/>
          </a:p>
        </p:txBody>
      </p:sp>
      <p:sp>
        <p:nvSpPr>
          <p:cNvPr id="12" name="Text 6"/>
          <p:cNvSpPr/>
          <p:nvPr/>
        </p:nvSpPr>
        <p:spPr>
          <a:xfrm>
            <a:off x="9713714" y="6572964"/>
            <a:ext cx="3842623" cy="76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spc="-38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Flujo de tokens para análisis sintáctico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939760"/>
            <a:ext cx="7415927" cy="1543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b="1" spc="-14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Gramáticas y Lenguajes Formales</a:t>
            </a:r>
            <a:endParaRPr lang="en-US" sz="4850" dirty="0"/>
          </a:p>
        </p:txBody>
      </p:sp>
      <p:sp>
        <p:nvSpPr>
          <p:cNvPr id="4" name="Shape 1"/>
          <p:cNvSpPr/>
          <p:nvPr/>
        </p:nvSpPr>
        <p:spPr>
          <a:xfrm>
            <a:off x="6350437" y="2853095"/>
            <a:ext cx="7415927" cy="4436745"/>
          </a:xfrm>
          <a:prstGeom prst="roundRect">
            <a:avLst>
              <a:gd name="adj" fmla="val 2337"/>
            </a:avLst>
          </a:prstGeom>
          <a:noFill/>
          <a:ln w="1524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65677" y="2868335"/>
            <a:ext cx="7385447" cy="70651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612493" y="3024068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309027" y="3024068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Descripción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365677" y="3574852"/>
            <a:ext cx="7385447" cy="11015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612493" y="3730585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Regulares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309027" y="3730585"/>
            <a:ext cx="319528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Expresiones regulares, autómatas finitos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365677" y="4676418"/>
            <a:ext cx="7385447" cy="110156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612493" y="4832152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Libres de contexto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0309027" y="4832152"/>
            <a:ext cx="3195280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Gramáticas más potentes, analizadores descendentes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365677" y="5777984"/>
            <a:ext cx="7385447" cy="14966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612493" y="5933718"/>
            <a:ext cx="3195280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PEG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0309027" y="5933718"/>
            <a:ext cx="3195280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Parsing Expression Grammars, lookahead infinito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795588"/>
            <a:ext cx="8351163" cy="771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6050"/>
              </a:lnSpc>
              <a:buNone/>
            </a:pPr>
            <a:r>
              <a:rPr lang="en-US" sz="4850" b="1" spc="-146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PeggyJS y Análisis Sintáctico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4037" y="4184213"/>
            <a:ext cx="3086100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PeggyJS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4037" y="4816793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Sucesor de PEG.js, utiliza gramáticas PEG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623929" y="4184213"/>
            <a:ext cx="4993243" cy="385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spc="-73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Analizador Descendente Recursivo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623929" y="4816793"/>
            <a:ext cx="61500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3100"/>
              </a:lnSpc>
              <a:buNone/>
            </a:pPr>
            <a:r>
              <a:rPr lang="en-US" sz="1900" spc="-39" kern="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 gramáticas mediante funciones recursivas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2024-11-05T05:08:49Z</dcterms:created>
  <dcterms:modified xsi:type="dcterms:W3CDTF">2024-11-05T05:08:49Z</dcterms:modified>
</cp:coreProperties>
</file>