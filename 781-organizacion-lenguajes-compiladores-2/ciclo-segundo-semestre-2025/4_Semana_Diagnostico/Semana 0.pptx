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Raleway"/>
      <p:regular r:id="rId20"/>
      <p:bold r:id="rId21"/>
      <p:italic r:id="rId22"/>
      <p:boldItalic r:id="rId23"/>
    </p:embeddedFont>
    <p:embeddedFont>
      <p:font typeface="Montserrat Black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MontserratBlack-bold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create.kahoot.it/share/compiladores-2/67506575-70a3-4f72-9d8f-0e4bc0676b99" TargetMode="External"/><Relationship Id="rId6" Type="http://schemas.openxmlformats.org/officeDocument/2006/relationships/hyperlink" Target="https://create.kahoot.it/share/compiladores-1/91384cbb-c39b-4d5d-82df-eb5faccd1a8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1756814" y="-548268"/>
            <a:ext cx="6531186" cy="11786439"/>
            <a:chOff x="0" y="-38100"/>
            <a:chExt cx="1720148" cy="3104247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2076543" y="1776216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12785514" y="0"/>
            <a:ext cx="5502486" cy="1458309"/>
          </a:xfrm>
          <a:custGeom>
            <a:rect b="b" l="l" r="r" t="t"/>
            <a:pathLst>
              <a:path extrusionOk="0" h="1458309" w="5502486">
                <a:moveTo>
                  <a:pt x="0" y="0"/>
                </a:moveTo>
                <a:lnTo>
                  <a:pt x="5502486" y="0"/>
                </a:lnTo>
                <a:lnTo>
                  <a:pt x="5502486" y="1458309"/>
                </a:lnTo>
                <a:lnTo>
                  <a:pt x="0" y="1458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 txBox="1"/>
          <p:nvPr/>
        </p:nvSpPr>
        <p:spPr>
          <a:xfrm>
            <a:off x="2076543" y="2921108"/>
            <a:ext cx="10101580" cy="344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63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Organización de Lenguajes y Compiladores 2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076543" y="8191483"/>
            <a:ext cx="9680270" cy="136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Escuela de Ciencias Y Sistemas</a:t>
            </a:r>
            <a:endParaRPr/>
          </a:p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Universidad de San Carlos de Guatemala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076543" y="6683976"/>
            <a:ext cx="950601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 rot="1572293">
            <a:off x="-5799371" y="6668368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4"/>
          <p:cNvSpPr/>
          <p:nvPr/>
        </p:nvSpPr>
        <p:spPr>
          <a:xfrm>
            <a:off x="2052822" y="3071015"/>
            <a:ext cx="3970782" cy="8229600"/>
          </a:xfrm>
          <a:custGeom>
            <a:rect b="b" l="l" r="r" t="t"/>
            <a:pathLst>
              <a:path extrusionOk="0" h="8229600" w="3970782">
                <a:moveTo>
                  <a:pt x="0" y="0"/>
                </a:moveTo>
                <a:lnTo>
                  <a:pt x="3970782" y="0"/>
                </a:lnTo>
                <a:lnTo>
                  <a:pt x="39707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4"/>
          <p:cNvSpPr/>
          <p:nvPr/>
        </p:nvSpPr>
        <p:spPr>
          <a:xfrm>
            <a:off x="3775575" y="2080415"/>
            <a:ext cx="2691369" cy="2691369"/>
          </a:xfrm>
          <a:custGeom>
            <a:rect b="b" l="l" r="r" t="t"/>
            <a:pathLst>
              <a:path extrusionOk="0" h="2691369" w="2691369">
                <a:moveTo>
                  <a:pt x="0" y="0"/>
                </a:moveTo>
                <a:lnTo>
                  <a:pt x="2691368" y="0"/>
                </a:lnTo>
                <a:lnTo>
                  <a:pt x="2691368" y="2691368"/>
                </a:lnTo>
                <a:lnTo>
                  <a:pt x="0" y="2691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 flipH="1" rot="-9227707">
            <a:off x="8920761" y="-3494855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>
            <a:off x="7871589" y="1776216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4"/>
          <p:cNvSpPr txBox="1"/>
          <p:nvPr/>
        </p:nvSpPr>
        <p:spPr>
          <a:xfrm>
            <a:off x="7958357" y="2881807"/>
            <a:ext cx="7366041" cy="11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2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Agenda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00724" y="1599114"/>
            <a:ext cx="1074675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8054879" y="4095534"/>
            <a:ext cx="7269518" cy="867757"/>
            <a:chOff x="0" y="-85725"/>
            <a:chExt cx="3095001" cy="369448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-85725"/>
              <a:ext cx="2980701" cy="369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Presentación Auxiliar de curso</a:t>
              </a:r>
              <a:endParaRPr/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7034232" y="43550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9" name="Google Shape;109;p14"/>
          <p:cNvGrpSpPr/>
          <p:nvPr/>
        </p:nvGrpSpPr>
        <p:grpSpPr>
          <a:xfrm>
            <a:off x="8054879" y="5563217"/>
            <a:ext cx="8707627" cy="867757"/>
            <a:chOff x="0" y="-85725"/>
            <a:chExt cx="3707276" cy="369448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14"/>
            <p:cNvSpPr txBox="1"/>
            <p:nvPr/>
          </p:nvSpPr>
          <p:spPr>
            <a:xfrm>
              <a:off x="0" y="-85725"/>
              <a:ext cx="3592976" cy="369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8054879" y="7148533"/>
            <a:ext cx="6168263" cy="867757"/>
            <a:chOff x="0" y="-85725"/>
            <a:chExt cx="2626141" cy="369448"/>
          </a:xfrm>
        </p:grpSpPr>
        <p:sp>
          <p:nvSpPr>
            <p:cNvPr id="113" name="Google Shape;113;p14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4" name="Google Shape;114;p14"/>
            <p:cNvSpPr txBox="1"/>
            <p:nvPr/>
          </p:nvSpPr>
          <p:spPr>
            <a:xfrm>
              <a:off x="0" y="-85725"/>
              <a:ext cx="2511841" cy="369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Evaluación de Conocimientos</a:t>
              </a:r>
              <a:endParaRPr/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8054879" y="4828616"/>
            <a:ext cx="5935056" cy="867757"/>
            <a:chOff x="0" y="-85725"/>
            <a:chExt cx="2526853" cy="369448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14"/>
            <p:cNvSpPr txBox="1"/>
            <p:nvPr/>
          </p:nvSpPr>
          <p:spPr>
            <a:xfrm>
              <a:off x="0" y="-85725"/>
              <a:ext cx="2412553" cy="369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Presentación de estudiantes</a:t>
              </a:r>
              <a:endParaRPr/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8054879" y="6353138"/>
            <a:ext cx="2514689" cy="867757"/>
            <a:chOff x="0" y="-85725"/>
            <a:chExt cx="1070630" cy="369448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0" y="-85725"/>
              <a:ext cx="956330" cy="369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Anuncios</a:t>
              </a:r>
              <a:endParaRPr/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7066544" y="506064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/>
          <p:nvPr/>
        </p:nvSpPr>
        <p:spPr>
          <a:xfrm>
            <a:off x="7066544" y="57631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4"/>
          <p:cNvSpPr/>
          <p:nvPr/>
        </p:nvSpPr>
        <p:spPr>
          <a:xfrm>
            <a:off x="7034232" y="6519407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7034232" y="727905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1B70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/>
        </p:nvSpPr>
        <p:spPr>
          <a:xfrm rot="1582889">
            <a:off x="-4783694" y="7975014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5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5"/>
          <p:cNvSpPr/>
          <p:nvPr/>
        </p:nvSpPr>
        <p:spPr>
          <a:xfrm>
            <a:off x="5077035" y="1637214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077035" y="2849626"/>
            <a:ext cx="8023322" cy="212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2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Bienvenida y Presentación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057412" y="5186235"/>
            <a:ext cx="8533572" cy="498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73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¿Quien soy? Conociendo al auxiliar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1028700" y="4478587"/>
            <a:ext cx="2691369" cy="2691369"/>
          </a:xfrm>
          <a:custGeom>
            <a:rect b="b" l="l" r="r" t="t"/>
            <a:pathLst>
              <a:path extrusionOk="0" h="2691369" w="2691369">
                <a:moveTo>
                  <a:pt x="0" y="0"/>
                </a:moveTo>
                <a:lnTo>
                  <a:pt x="2691369" y="0"/>
                </a:lnTo>
                <a:lnTo>
                  <a:pt x="2691369" y="2691369"/>
                </a:lnTo>
                <a:lnTo>
                  <a:pt x="0" y="2691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1B70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 rot="-1314761">
            <a:off x="5680419" y="6404287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7434481" y="136554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4161325" y="2305301"/>
            <a:ext cx="9965350" cy="212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2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Presentación de Estudiantes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3535580" y="5587950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8"/>
                </a:lnTo>
                <a:lnTo>
                  <a:pt x="0" y="4762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6"/>
          <p:cNvSpPr txBox="1"/>
          <p:nvPr/>
        </p:nvSpPr>
        <p:spPr>
          <a:xfrm>
            <a:off x="13862662" y="6515941"/>
            <a:ext cx="4161297" cy="343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37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Comparte Con Nosotros</a:t>
            </a:r>
            <a:endParaRPr/>
          </a:p>
          <a:p>
            <a:pPr indent="-256229" lvl="1" marL="512459" marR="0" rtl="0" algn="l">
              <a:lnSpc>
                <a:spcPct val="128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3"/>
              <a:buFont typeface="Arial"/>
              <a:buChar char="•"/>
            </a:pPr>
            <a:r>
              <a:rPr b="0" i="1" lang="en-US" sz="237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Nombre </a:t>
            </a:r>
            <a:endParaRPr/>
          </a:p>
          <a:p>
            <a:pPr indent="-256229" lvl="1" marL="512459" marR="0" rtl="0" algn="l">
              <a:lnSpc>
                <a:spcPct val="128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3"/>
              <a:buFont typeface="Arial"/>
              <a:buChar char="•"/>
            </a:pPr>
            <a:r>
              <a:rPr b="0" i="1" lang="en-US" sz="237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Intereses o expectativas sobre el curso.</a:t>
            </a:r>
            <a:endParaRPr/>
          </a:p>
          <a:p>
            <a:pPr indent="-256229" lvl="1" marL="512459" marR="0" rtl="0" algn="l">
              <a:lnSpc>
                <a:spcPct val="128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3"/>
              <a:buFont typeface="Arial"/>
              <a:buChar char="•"/>
            </a:pPr>
            <a:r>
              <a:rPr b="0" i="1" lang="en-US" sz="237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Experiencia previa relacionada con el tema (si aplica).</a:t>
            </a:r>
            <a:endParaRPr/>
          </a:p>
          <a:p>
            <a:pPr indent="-256229" lvl="1" marL="512459" marR="0" rtl="0" algn="l">
              <a:lnSpc>
                <a:spcPct val="128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3"/>
              <a:buFont typeface="Arial"/>
              <a:buChar char="•"/>
            </a:pPr>
            <a:r>
              <a:rPr b="0" i="1" lang="en-US" sz="237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 dato curioso sobre sí mismo.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1B70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 rot="-242831">
            <a:off x="-183072" y="9034920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7"/>
          <p:cNvSpPr/>
          <p:nvPr/>
        </p:nvSpPr>
        <p:spPr>
          <a:xfrm flipH="1" rot="10361290">
            <a:off x="-4529841" y="-557315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7"/>
          <p:cNvSpPr/>
          <p:nvPr/>
        </p:nvSpPr>
        <p:spPr>
          <a:xfrm>
            <a:off x="7434481" y="136554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7"/>
          <p:cNvSpPr/>
          <p:nvPr/>
        </p:nvSpPr>
        <p:spPr>
          <a:xfrm>
            <a:off x="-5308566" y="2057400"/>
            <a:ext cx="9272016" cy="8229600"/>
          </a:xfrm>
          <a:custGeom>
            <a:rect b="b" l="l" r="r" t="t"/>
            <a:pathLst>
              <a:path extrusionOk="0" h="8229600" w="9272016">
                <a:moveTo>
                  <a:pt x="0" y="0"/>
                </a:moveTo>
                <a:lnTo>
                  <a:pt x="9272016" y="0"/>
                </a:lnTo>
                <a:lnTo>
                  <a:pt x="9272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3963450" y="4247534"/>
            <a:ext cx="9965350" cy="249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71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Programa del curso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3054474" y="2209800"/>
            <a:ext cx="9272016" cy="8229600"/>
          </a:xfrm>
          <a:custGeom>
            <a:rect b="b" l="l" r="r" t="t"/>
            <a:pathLst>
              <a:path extrusionOk="0" h="8229600" w="9272016">
                <a:moveTo>
                  <a:pt x="0" y="0"/>
                </a:moveTo>
                <a:lnTo>
                  <a:pt x="9272016" y="0"/>
                </a:lnTo>
                <a:lnTo>
                  <a:pt x="9272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7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 rot="-1314761">
            <a:off x="5680419" y="6404287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8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8"/>
          <p:cNvSpPr/>
          <p:nvPr/>
        </p:nvSpPr>
        <p:spPr>
          <a:xfrm>
            <a:off x="16601133" y="157808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2346705" y="2965341"/>
            <a:ext cx="7642824" cy="1002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6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2346705" y="4587246"/>
            <a:ext cx="8533572" cy="1256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573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Comprender el flujo completo de un compilador, desde el análisis léxico hasta la generación de código o interpretación directa.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2346705" y="6288797"/>
            <a:ext cx="8533572" cy="83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573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Aplicar traducción dirigida por la sintaxis (SDT) para construir y recorrer AST e IR.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 rot="-1314761">
            <a:off x="5680419" y="6404287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9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9"/>
          <p:cNvSpPr/>
          <p:nvPr/>
        </p:nvSpPr>
        <p:spPr>
          <a:xfrm>
            <a:off x="2346705" y="1754108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9"/>
          <p:cNvSpPr txBox="1"/>
          <p:nvPr/>
        </p:nvSpPr>
        <p:spPr>
          <a:xfrm>
            <a:off x="16104928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2346705" y="3113715"/>
            <a:ext cx="9176274" cy="100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72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Competencias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2346705" y="4587246"/>
            <a:ext cx="8533572" cy="83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573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estudiante genera código intermedio y ensamblador funcional para un subconjunto del lenguaje.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15692956" y="6582619"/>
            <a:ext cx="1785236" cy="1785236"/>
          </a:xfrm>
          <a:custGeom>
            <a:rect b="b" l="l" r="r" t="t"/>
            <a:pathLst>
              <a:path extrusionOk="0" h="1785236" w="1785236">
                <a:moveTo>
                  <a:pt x="0" y="0"/>
                </a:moveTo>
                <a:lnTo>
                  <a:pt x="1785235" y="0"/>
                </a:lnTo>
                <a:lnTo>
                  <a:pt x="1785235" y="1785235"/>
                </a:lnTo>
                <a:lnTo>
                  <a:pt x="0" y="1785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9"/>
          <p:cNvSpPr/>
          <p:nvPr/>
        </p:nvSpPr>
        <p:spPr>
          <a:xfrm>
            <a:off x="-183721" y="564812"/>
            <a:ext cx="1785236" cy="1785236"/>
          </a:xfrm>
          <a:custGeom>
            <a:rect b="b" l="l" r="r" t="t"/>
            <a:pathLst>
              <a:path extrusionOk="0" h="1785236" w="1785236">
                <a:moveTo>
                  <a:pt x="0" y="0"/>
                </a:moveTo>
                <a:lnTo>
                  <a:pt x="1785236" y="0"/>
                </a:lnTo>
                <a:lnTo>
                  <a:pt x="1785236" y="1785236"/>
                </a:lnTo>
                <a:lnTo>
                  <a:pt x="0" y="1785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 rot="-1314761">
            <a:off x="5680419" y="6404287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0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0"/>
          <p:cNvSpPr/>
          <p:nvPr/>
        </p:nvSpPr>
        <p:spPr>
          <a:xfrm>
            <a:off x="7434481" y="136554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20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953362" y="2499904"/>
            <a:ext cx="6185052" cy="100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Anuncios</a:t>
            </a:r>
            <a:endParaRPr/>
          </a:p>
        </p:txBody>
      </p:sp>
      <p:grpSp>
        <p:nvGrpSpPr>
          <p:cNvPr id="190" name="Google Shape;190;p20"/>
          <p:cNvGrpSpPr/>
          <p:nvPr/>
        </p:nvGrpSpPr>
        <p:grpSpPr>
          <a:xfrm>
            <a:off x="5435696" y="4677250"/>
            <a:ext cx="2722116" cy="684318"/>
            <a:chOff x="0" y="-38100"/>
            <a:chExt cx="1768157" cy="444500"/>
          </a:xfrm>
        </p:grpSpPr>
        <p:sp>
          <p:nvSpPr>
            <p:cNvPr id="191" name="Google Shape;191;p20"/>
            <p:cNvSpPr/>
            <p:nvPr/>
          </p:nvSpPr>
          <p:spPr>
            <a:xfrm>
              <a:off x="0" y="0"/>
              <a:ext cx="1768157" cy="406400"/>
            </a:xfrm>
            <a:custGeom>
              <a:rect b="b" l="l" r="r" t="t"/>
              <a:pathLst>
                <a:path extrusionOk="0"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32A64"/>
                </a:gs>
                <a:gs pos="100000">
                  <a:srgbClr val="414C94"/>
                </a:gs>
              </a:gsLst>
              <a:lin ang="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5557730" y="4935846"/>
            <a:ext cx="2478048" cy="342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2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EJERCICIOS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386941" y="5580643"/>
            <a:ext cx="2819626" cy="1116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85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 cada laboratorio se realizará un ejercicio </a:t>
            </a:r>
            <a:endParaRPr/>
          </a:p>
        </p:txBody>
      </p:sp>
      <p:grpSp>
        <p:nvGrpSpPr>
          <p:cNvPr id="195" name="Google Shape;195;p20"/>
          <p:cNvGrpSpPr/>
          <p:nvPr/>
        </p:nvGrpSpPr>
        <p:grpSpPr>
          <a:xfrm>
            <a:off x="10130188" y="4677250"/>
            <a:ext cx="2722116" cy="684318"/>
            <a:chOff x="0" y="-38100"/>
            <a:chExt cx="1768157" cy="444500"/>
          </a:xfrm>
        </p:grpSpPr>
        <p:sp>
          <p:nvSpPr>
            <p:cNvPr id="196" name="Google Shape;196;p20"/>
            <p:cNvSpPr/>
            <p:nvPr/>
          </p:nvSpPr>
          <p:spPr>
            <a:xfrm>
              <a:off x="0" y="0"/>
              <a:ext cx="1768157" cy="406400"/>
            </a:xfrm>
            <a:custGeom>
              <a:rect b="b" l="l" r="r" t="t"/>
              <a:pathLst>
                <a:path extrusionOk="0"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32A64"/>
                </a:gs>
                <a:gs pos="100000">
                  <a:srgbClr val="414C94"/>
                </a:gs>
              </a:gsLst>
              <a:lin ang="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20"/>
          <p:cNvSpPr txBox="1"/>
          <p:nvPr/>
        </p:nvSpPr>
        <p:spPr>
          <a:xfrm>
            <a:off x="10252222" y="4935846"/>
            <a:ext cx="2478048" cy="342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2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PROYECTO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081433" y="5580643"/>
            <a:ext cx="2819626" cy="1859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85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 entrega de los ejercicios es un requisito para la entrega de los proyectos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1B70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 rot="-1312875">
            <a:off x="5680296" y="6411764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21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21"/>
          <p:cNvSpPr/>
          <p:nvPr/>
        </p:nvSpPr>
        <p:spPr>
          <a:xfrm>
            <a:off x="7434481" y="136554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21"/>
          <p:cNvSpPr txBox="1"/>
          <p:nvPr/>
        </p:nvSpPr>
        <p:spPr>
          <a:xfrm>
            <a:off x="4161325" y="2305301"/>
            <a:ext cx="9965350" cy="212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2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Evaluación de conocimientos 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2890961" y="5295137"/>
            <a:ext cx="12506077" cy="498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73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Link al kahoot compiladores 2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2890961" y="5898181"/>
            <a:ext cx="12506077" cy="498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73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6"/>
              </a:rPr>
              <a:t>Link al kahoot compiladores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2"/>
          <p:cNvGrpSpPr/>
          <p:nvPr/>
        </p:nvGrpSpPr>
        <p:grpSpPr>
          <a:xfrm>
            <a:off x="-614725" y="6896133"/>
            <a:ext cx="19517450" cy="2297215"/>
            <a:chOff x="0" y="-28575"/>
            <a:chExt cx="5140398" cy="605028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5140398" cy="576453"/>
            </a:xfrm>
            <a:custGeom>
              <a:rect b="b" l="l" r="r" t="t"/>
              <a:pathLst>
                <a:path extrusionOk="0" h="576453" w="5140398">
                  <a:moveTo>
                    <a:pt x="0" y="0"/>
                  </a:moveTo>
                  <a:lnTo>
                    <a:pt x="5140398" y="0"/>
                  </a:lnTo>
                  <a:lnTo>
                    <a:pt x="5140398" y="576453"/>
                  </a:lnTo>
                  <a:lnTo>
                    <a:pt x="0" y="576453"/>
                  </a:lnTo>
                  <a:close/>
                </a:path>
              </a:pathLst>
            </a:custGeom>
            <a:solidFill>
              <a:srgbClr val="012130">
                <a:alpha val="23921"/>
              </a:srgbClr>
            </a:solidFill>
            <a:ln>
              <a:noFill/>
            </a:ln>
          </p:spPr>
        </p:sp>
        <p:sp>
          <p:nvSpPr>
            <p:cNvPr id="217" name="Google Shape;217;p22"/>
            <p:cNvSpPr txBox="1"/>
            <p:nvPr/>
          </p:nvSpPr>
          <p:spPr>
            <a:xfrm>
              <a:off x="0" y="-28575"/>
              <a:ext cx="5140398" cy="605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22"/>
          <p:cNvSpPr/>
          <p:nvPr/>
        </p:nvSpPr>
        <p:spPr>
          <a:xfrm rot="-3647679">
            <a:off x="5750070" y="2254213"/>
            <a:ext cx="27455017" cy="10021081"/>
          </a:xfrm>
          <a:custGeom>
            <a:rect b="b" l="l" r="r" t="t"/>
            <a:pathLst>
              <a:path extrusionOk="0" h="10021081" w="27455017">
                <a:moveTo>
                  <a:pt x="0" y="0"/>
                </a:moveTo>
                <a:lnTo>
                  <a:pt x="27455017" y="0"/>
                </a:lnTo>
                <a:lnTo>
                  <a:pt x="27455017" y="10021081"/>
                </a:lnTo>
                <a:lnTo>
                  <a:pt x="0" y="10021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22"/>
          <p:cNvSpPr/>
          <p:nvPr/>
        </p:nvSpPr>
        <p:spPr>
          <a:xfrm flipH="1" rot="9638680">
            <a:off x="-5537192" y="-4329620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2"/>
          <p:cNvSpPr txBox="1"/>
          <p:nvPr/>
        </p:nvSpPr>
        <p:spPr>
          <a:xfrm>
            <a:off x="4555863" y="3013955"/>
            <a:ext cx="9176274" cy="212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2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¡Gracias por su atención!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15530732" y="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2"/>
          <p:cNvSpPr txBox="1"/>
          <p:nvPr/>
        </p:nvSpPr>
        <p:spPr>
          <a:xfrm>
            <a:off x="5155354" y="5597849"/>
            <a:ext cx="8436920" cy="65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73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