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Lato"/>
      <p:regular r:id="rId32"/>
      <p:bold r:id="rId33"/>
      <p:italic r:id="rId34"/>
      <p:boldItalic r:id="rId35"/>
    </p:embeddedFont>
    <p:embeddedFont>
      <p:font typeface="Open Sans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99D04A-6B9D-44C1-A1BF-690FABDA4E39}">
  <a:tblStyle styleId="{A699D04A-6B9D-44C1-A1BF-690FABDA4E3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Lato-bold.fntdata"/><Relationship Id="rId10" Type="http://schemas.openxmlformats.org/officeDocument/2006/relationships/slide" Target="slides/slide3.xml"/><Relationship Id="rId32" Type="http://schemas.openxmlformats.org/officeDocument/2006/relationships/font" Target="fonts/Lato-regular.fntdata"/><Relationship Id="rId13" Type="http://schemas.openxmlformats.org/officeDocument/2006/relationships/slide" Target="slides/slide6.xml"/><Relationship Id="rId35" Type="http://schemas.openxmlformats.org/officeDocument/2006/relationships/font" Target="fonts/Lato-boldItalic.fntdata"/><Relationship Id="rId12" Type="http://schemas.openxmlformats.org/officeDocument/2006/relationships/slide" Target="slides/slide5.xml"/><Relationship Id="rId34" Type="http://schemas.openxmlformats.org/officeDocument/2006/relationships/font" Target="fonts/Lato-italic.fntdata"/><Relationship Id="rId15" Type="http://schemas.openxmlformats.org/officeDocument/2006/relationships/slide" Target="slides/slide8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7.xml"/><Relationship Id="rId36" Type="http://schemas.openxmlformats.org/officeDocument/2006/relationships/font" Target="fonts/OpenSans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09e8da2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09e8da2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b35ee1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d0b35ee12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0b35ee126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0b35ee126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09e8da2c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09e8da2c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0b35ee126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0b35ee126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0b35ee126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0b35ee126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0b35ee126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0b35ee126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0b35ee126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0b35ee126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0b35ee126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0b35ee126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0b35ee126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0b35ee126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0b35ee126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0b35ee126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0b35ee126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0b35ee126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0b35ee126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0b35ee126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0b35ee126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0b35ee126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0b35ee126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0b35ee126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0b35ee126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0b35ee126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0b35ee126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0b35ee126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0b35ee126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0b35ee126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0b35ee126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0b35ee126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0b35ee126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0b35ee126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0b35ee126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0b35ee126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0b35ee126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0b35ee126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09e8da2c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d09e8da2cf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09e8da2c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d09e8da2cf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27" name="Google Shape;127;p2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>
              <a:spcBef>
                <a:spcPts val="300"/>
              </a:spcBef>
              <a:spcAft>
                <a:spcPts val="0"/>
              </a:spcAft>
              <a:buSzPts val="16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300"/>
              </a:spcBef>
              <a:spcAft>
                <a:spcPts val="0"/>
              </a:spcAft>
              <a:buSzPts val="1400"/>
              <a:buFont typeface="Lato"/>
              <a:buChar char="–"/>
              <a:defRPr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spcBef>
                <a:spcPts val="200"/>
              </a:spcBef>
              <a:spcAft>
                <a:spcPts val="0"/>
              </a:spcAft>
              <a:buSzPts val="1000"/>
              <a:buFont typeface="Lato"/>
              <a:buChar char="–"/>
              <a:defRPr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spcBef>
                <a:spcPts val="200"/>
              </a:spcBef>
              <a:spcAft>
                <a:spcPts val="0"/>
              </a:spcAft>
              <a:buSzPts val="1000"/>
              <a:buFont typeface="Lato"/>
              <a:buChar char="»"/>
              <a:defRPr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spcBef>
                <a:spcPts val="200"/>
              </a:spcBef>
              <a:spcAft>
                <a:spcPts val="0"/>
              </a:spcAft>
              <a:buSzPts val="10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spcBef>
                <a:spcPts val="200"/>
              </a:spcBef>
              <a:spcAft>
                <a:spcPts val="0"/>
              </a:spcAft>
              <a:buSzPts val="10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spcBef>
                <a:spcPts val="200"/>
              </a:spcBef>
              <a:spcAft>
                <a:spcPts val="0"/>
              </a:spcAft>
              <a:buSzPts val="10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spcBef>
                <a:spcPts val="200"/>
              </a:spcBef>
              <a:spcAft>
                <a:spcPts val="0"/>
              </a:spcAft>
              <a:buSzPts val="1000"/>
              <a:buFont typeface="Lato"/>
              <a:buChar char="•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3" name="Google Shape;133;p26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26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">
  <p:cSld name="SECTION_HEADER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39" name="Google Shape;13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7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41" name="Google Shape;141;p27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>
              <a:spcBef>
                <a:spcPts val="300"/>
              </a:spcBef>
              <a:spcAft>
                <a:spcPts val="0"/>
              </a:spcAft>
              <a:buSzPts val="1400"/>
              <a:buFont typeface="Lato"/>
              <a:buChar char="•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SzPts val="1200"/>
              <a:buFont typeface="Lato"/>
              <a:buChar char="–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•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–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»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•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•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•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•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5" name="Google Shape;14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>
              <a:spcBef>
                <a:spcPts val="300"/>
              </a:spcBef>
              <a:spcAft>
                <a:spcPts val="0"/>
              </a:spcAft>
              <a:buSzPts val="1400"/>
              <a:buFont typeface="Lato"/>
              <a:buChar char="•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SzPts val="1200"/>
              <a:buFont typeface="Lato"/>
              <a:buChar char="–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•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–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»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•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•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•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200"/>
              </a:spcBef>
              <a:spcAft>
                <a:spcPts val="0"/>
              </a:spcAft>
              <a:buSzPts val="1200"/>
              <a:buFont typeface="Lato"/>
              <a:buChar char="•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7" name="Google Shape;147;p28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raftinginterpreters.com/" TargetMode="External"/><Relationship Id="rId4" Type="http://schemas.openxmlformats.org/officeDocument/2006/relationships/hyperlink" Target="https://johannst.github.io/notes/arch/arm64.html" TargetMode="External"/><Relationship Id="rId5" Type="http://schemas.openxmlformats.org/officeDocument/2006/relationships/hyperlink" Target="https://godbolt.org/" TargetMode="External"/><Relationship Id="rId6" Type="http://schemas.openxmlformats.org/officeDocument/2006/relationships/hyperlink" Target="https://www.youtube.com/watch?v=5f6djCBK8wc" TargetMode="External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" sz="2771"/>
              <a:t> Sección B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9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17"/>
              <a:t>Rubén Alejandro Ralda Mejia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6" name="Google Shape;156;p29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{A699D04A-6B9D-44C1-A1BF-690FABDA4E39}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" sz="1200"/>
                        <a:t>17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" sz="1200"/>
                        <a:t>03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" sz="1200"/>
                        <a:t>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17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/>
          <p:nvPr/>
        </p:nvSpPr>
        <p:spPr>
          <a:xfrm>
            <a:off x="6270654" y="0"/>
            <a:ext cx="2873346" cy="85589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30"/>
          <p:cNvSpPr txBox="1"/>
          <p:nvPr/>
        </p:nvSpPr>
        <p:spPr>
          <a:xfrm>
            <a:off x="323675" y="3899913"/>
            <a:ext cx="727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sz="700"/>
          </a:p>
        </p:txBody>
      </p:sp>
      <p:sp>
        <p:nvSpPr>
          <p:cNvPr id="163" name="Google Shape;163;p30"/>
          <p:cNvSpPr txBox="1"/>
          <p:nvPr/>
        </p:nvSpPr>
        <p:spPr>
          <a:xfrm>
            <a:off x="500400" y="1093431"/>
            <a:ext cx="8143200" cy="25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3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Generación de código intermedio: expresiones</a:t>
            </a:r>
            <a:r>
              <a:rPr b="1" lang="es" sz="43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booleanas</a:t>
            </a:r>
            <a:endParaRPr sz="400"/>
          </a:p>
        </p:txBody>
      </p:sp>
      <p:sp>
        <p:nvSpPr>
          <p:cNvPr id="164" name="Google Shape;164;p30"/>
          <p:cNvSpPr txBox="1"/>
          <p:nvPr/>
        </p:nvSpPr>
        <p:spPr>
          <a:xfrm>
            <a:off x="531651" y="4372626"/>
            <a:ext cx="349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s" sz="1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s" sz="1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sz="700"/>
          </a:p>
        </p:txBody>
      </p:sp>
      <p:sp>
        <p:nvSpPr>
          <p:cNvPr id="165" name="Google Shape;165;p30"/>
          <p:cNvSpPr txBox="1"/>
          <p:nvPr/>
        </p:nvSpPr>
        <p:spPr>
          <a:xfrm>
            <a:off x="514350" y="4605338"/>
            <a:ext cx="176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s" sz="1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sz="700"/>
          </a:p>
        </p:txBody>
      </p:sp>
      <p:sp>
        <p:nvSpPr>
          <p:cNvPr id="166" name="Google Shape;166;p30"/>
          <p:cNvSpPr txBox="1"/>
          <p:nvPr/>
        </p:nvSpPr>
        <p:spPr>
          <a:xfrm>
            <a:off x="514350" y="4792663"/>
            <a:ext cx="320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-16510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➔"/>
            </a:pPr>
            <a:r>
              <a:rPr lang="es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Expresiones condicionales Forma 1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➔"/>
            </a:pPr>
            <a:r>
              <a:rPr lang="es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Expresiones condicionales Forma 2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➔"/>
            </a:pPr>
            <a:r>
              <a:rPr lang="es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Recordatorios:</a:t>
            </a:r>
            <a:endParaRPr/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➔"/>
            </a:pPr>
            <a:r>
              <a:rPr lang="es"/>
              <a:t>Enunciado Proyecto 2</a:t>
            </a:r>
            <a:endParaRPr/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➔"/>
            </a:pPr>
            <a:r>
              <a:rPr lang="es"/>
              <a:t>Tarea 2</a:t>
            </a:r>
            <a:endParaRPr/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➔"/>
            </a:pPr>
            <a:r>
              <a:rPr lang="es"/>
              <a:t>Foro de esta semana</a:t>
            </a:r>
            <a:endParaRPr/>
          </a:p>
        </p:txBody>
      </p:sp>
      <p:sp>
        <p:nvSpPr>
          <p:cNvPr id="172" name="Google Shape;172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s"/>
              <a:t>Recursos:</a:t>
            </a:r>
            <a:endParaRPr/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➔"/>
            </a:pPr>
            <a:r>
              <a:rPr lang="es" u="sng">
                <a:solidFill>
                  <a:schemeClr val="hlink"/>
                </a:solidFill>
                <a:hlinkClick r:id="rId3"/>
              </a:rPr>
              <a:t>Crafting Interpreters</a:t>
            </a:r>
            <a:endParaRPr/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➔"/>
            </a:pPr>
            <a:r>
              <a:rPr lang="es" u="sng">
                <a:solidFill>
                  <a:schemeClr val="hlink"/>
                </a:solidFill>
                <a:hlinkClick r:id="rId4"/>
              </a:rPr>
              <a:t>ARM64 Cheat Sheet</a:t>
            </a:r>
            <a:endParaRPr/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➔"/>
            </a:pPr>
            <a:r>
              <a:rPr lang="es" u="sng">
                <a:solidFill>
                  <a:schemeClr val="hlink"/>
                </a:solidFill>
                <a:hlinkClick r:id="rId5"/>
              </a:rPr>
              <a:t>Disassembler</a:t>
            </a:r>
            <a:endParaRPr/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➔"/>
            </a:pPr>
            <a:r>
              <a:rPr lang="es" u="sng">
                <a:solidFill>
                  <a:schemeClr val="hlink"/>
                </a:solidFill>
                <a:hlinkClick r:id="rId6"/>
              </a:rPr>
              <a:t>QEMU</a:t>
            </a:r>
            <a:endParaRPr/>
          </a:p>
        </p:txBody>
      </p:sp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74" name="Google Shape;174;p31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/>
        </p:nvSpPr>
        <p:spPr>
          <a:xfrm>
            <a:off x="1319875" y="1295875"/>
            <a:ext cx="6415500" cy="19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200">
                <a:solidFill>
                  <a:schemeClr val="dk2"/>
                </a:solidFill>
              </a:rPr>
              <a:t>Primera forma</a:t>
            </a:r>
            <a:endParaRPr sz="7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200">
                <a:solidFill>
                  <a:schemeClr val="dk2"/>
                </a:solidFill>
              </a:rPr>
              <a:t>(Relacionales)</a:t>
            </a:r>
            <a:endParaRPr sz="7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72525" cy="43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72525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72525" cy="44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/>
        </p:nvSpPr>
        <p:spPr>
          <a:xfrm>
            <a:off x="1319875" y="1295875"/>
            <a:ext cx="6895200" cy="19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200">
                <a:solidFill>
                  <a:schemeClr val="dk2"/>
                </a:solidFill>
              </a:rPr>
              <a:t>Segunda </a:t>
            </a:r>
            <a:r>
              <a:rPr lang="es" sz="7200">
                <a:solidFill>
                  <a:schemeClr val="dk2"/>
                </a:solidFill>
              </a:rPr>
              <a:t>forma </a:t>
            </a:r>
            <a:r>
              <a:rPr lang="es" sz="7200">
                <a:solidFill>
                  <a:schemeClr val="dk2"/>
                </a:solidFill>
              </a:rPr>
              <a:t>(Relacionales)</a:t>
            </a:r>
            <a:endParaRPr sz="7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72525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72525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72525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25" y="275738"/>
            <a:ext cx="8772525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72525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2102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/>
        </p:nvSpPr>
        <p:spPr>
          <a:xfrm>
            <a:off x="567950" y="2191775"/>
            <a:ext cx="7903200" cy="22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Expresiones lógicas la primera forma es como se mostró antes pero se le puede aplicar la segunda forma.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5" name="Google Shape;235;p43"/>
          <p:cNvSpPr txBox="1"/>
          <p:nvPr/>
        </p:nvSpPr>
        <p:spPr>
          <a:xfrm>
            <a:off x="936300" y="466825"/>
            <a:ext cx="727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200">
                <a:solidFill>
                  <a:schemeClr val="dk2"/>
                </a:solidFill>
              </a:rPr>
              <a:t>Primera forma</a:t>
            </a:r>
            <a:endParaRPr sz="7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5529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/>
          <p:cNvSpPr txBox="1"/>
          <p:nvPr/>
        </p:nvSpPr>
        <p:spPr>
          <a:xfrm>
            <a:off x="1319875" y="1295875"/>
            <a:ext cx="6895200" cy="19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200">
                <a:solidFill>
                  <a:schemeClr val="dk2"/>
                </a:solidFill>
              </a:rPr>
              <a:t>Segunda forma (lógicas)</a:t>
            </a:r>
            <a:endParaRPr sz="7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812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72525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72525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2092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72525" cy="47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1"/>
          <p:cNvSpPr txBox="1"/>
          <p:nvPr/>
        </p:nvSpPr>
        <p:spPr>
          <a:xfrm>
            <a:off x="2028863" y="329642"/>
            <a:ext cx="48678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Ejemplo práctico</a:t>
            </a:r>
            <a:endParaRPr sz="700"/>
          </a:p>
        </p:txBody>
      </p:sp>
      <p:sp>
        <p:nvSpPr>
          <p:cNvPr id="276" name="Google Shape;276;p51"/>
          <p:cNvSpPr txBox="1"/>
          <p:nvPr/>
        </p:nvSpPr>
        <p:spPr>
          <a:xfrm>
            <a:off x="1504875" y="2409984"/>
            <a:ext cx="61344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latin typeface="Open Sans"/>
                <a:ea typeface="Open Sans"/>
                <a:cs typeface="Open Sans"/>
                <a:sym typeface="Open Sans"/>
              </a:rPr>
              <a:t>Cómo</a:t>
            </a:r>
            <a:r>
              <a:rPr b="0" i="0" lang="es" sz="1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representar las expresiones booleanas en código tres direcciones</a:t>
            </a:r>
            <a:endParaRPr sz="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2"/>
          <p:cNvSpPr txBox="1"/>
          <p:nvPr/>
        </p:nvSpPr>
        <p:spPr>
          <a:xfrm>
            <a:off x="2218898" y="1694552"/>
            <a:ext cx="43296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3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sz="700"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2"/>
          <p:cNvSpPr txBox="1"/>
          <p:nvPr/>
        </p:nvSpPr>
        <p:spPr>
          <a:xfrm>
            <a:off x="2707357" y="2979052"/>
            <a:ext cx="3352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sz="700"/>
          </a:p>
        </p:txBody>
      </p:sp>
      <p:sp>
        <p:nvSpPr>
          <p:cNvPr id="283" name="Google Shape;283;p52"/>
          <p:cNvSpPr/>
          <p:nvPr/>
        </p:nvSpPr>
        <p:spPr>
          <a:xfrm>
            <a:off x="6981876" y="514350"/>
            <a:ext cx="1378634" cy="1885485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p52"/>
          <p:cNvSpPr txBox="1"/>
          <p:nvPr/>
        </p:nvSpPr>
        <p:spPr>
          <a:xfrm>
            <a:off x="1205549" y="3949868"/>
            <a:ext cx="67329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