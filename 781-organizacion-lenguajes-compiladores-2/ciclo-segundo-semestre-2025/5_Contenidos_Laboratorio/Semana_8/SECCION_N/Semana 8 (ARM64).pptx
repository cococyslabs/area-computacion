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dVxJ9lrHneW0uuXFAGHxgLsYu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F8090D-7B59-49AD-8E9C-AAD76BD47955}">
  <a:tblStyle styleId="{FFF8090D-7B59-49AD-8E9C-AAD76BD4795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a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625552d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9625552d3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12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360" y="4618440"/>
            <a:ext cx="9143640" cy="53136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" name="Google Shape;1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15680" y="99720"/>
            <a:ext cx="2004840" cy="5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3"/>
          <p:cNvSpPr/>
          <p:nvPr/>
        </p:nvSpPr>
        <p:spPr>
          <a:xfrm rot="5400000">
            <a:off x="-530280" y="-675000"/>
            <a:ext cx="2752560" cy="10674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80" y="99720"/>
            <a:ext cx="792360" cy="792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60" y="4618440"/>
            <a:ext cx="9143640" cy="53136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14"/>
          <p:cNvSpPr txBox="1"/>
          <p:nvPr>
            <p:ph idx="2"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14"/>
          <p:cNvSpPr/>
          <p:nvPr/>
        </p:nvSpPr>
        <p:spPr>
          <a:xfrm>
            <a:off x="0" y="444960"/>
            <a:ext cx="8831880" cy="63468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4"/>
          <p:cNvSpPr txBox="1"/>
          <p:nvPr>
            <p:ph type="title"/>
          </p:nvPr>
        </p:nvSpPr>
        <p:spPr>
          <a:xfrm>
            <a:off x="311760" y="444960"/>
            <a:ext cx="816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/>
          <p:nvPr/>
        </p:nvSpPr>
        <p:spPr>
          <a:xfrm>
            <a:off x="360" y="4618440"/>
            <a:ext cx="9143640" cy="53136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/>
          <p:nvPr/>
        </p:nvSpPr>
        <p:spPr>
          <a:xfrm>
            <a:off x="0" y="444960"/>
            <a:ext cx="8831880" cy="63468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5"/>
          <p:cNvSpPr txBox="1"/>
          <p:nvPr>
            <p:ph type="title"/>
          </p:nvPr>
        </p:nvSpPr>
        <p:spPr>
          <a:xfrm>
            <a:off x="311760" y="444960"/>
            <a:ext cx="816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/>
          <p:nvPr/>
        </p:nvSpPr>
        <p:spPr>
          <a:xfrm>
            <a:off x="360" y="4618440"/>
            <a:ext cx="9143640" cy="53136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6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16"/>
          <p:cNvSpPr/>
          <p:nvPr/>
        </p:nvSpPr>
        <p:spPr>
          <a:xfrm rot="5400000">
            <a:off x="-530280" y="-675000"/>
            <a:ext cx="2752560" cy="10674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15680" y="99720"/>
            <a:ext cx="2004840" cy="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80" y="99720"/>
            <a:ext cx="792360" cy="79236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Arial"/>
              <a:buNone/>
              <a:defRPr b="0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hasCustomPrompt="1"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18"/>
          <p:cNvSpPr/>
          <p:nvPr/>
        </p:nvSpPr>
        <p:spPr>
          <a:xfrm>
            <a:off x="0" y="444960"/>
            <a:ext cx="8831880" cy="63468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8"/>
          <p:cNvSpPr txBox="1"/>
          <p:nvPr>
            <p:ph type="title"/>
          </p:nvPr>
        </p:nvSpPr>
        <p:spPr>
          <a:xfrm>
            <a:off x="311760" y="444960"/>
            <a:ext cx="816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/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19"/>
          <p:cNvSpPr txBox="1"/>
          <p:nvPr>
            <p:ph idx="1"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1"/>
          <p:cNvSpPr txBox="1"/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22"/>
          <p:cNvSpPr/>
          <p:nvPr/>
        </p:nvSpPr>
        <p:spPr>
          <a:xfrm>
            <a:off x="771480" y="4101840"/>
            <a:ext cx="7601040" cy="78912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2"/>
          <p:cNvSpPr/>
          <p:nvPr/>
        </p:nvSpPr>
        <p:spPr>
          <a:xfrm>
            <a:off x="1727640" y="4148280"/>
            <a:ext cx="564552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johannst.github.io/notes/arch/arm64.html" TargetMode="External"/><Relationship Id="rId4" Type="http://schemas.openxmlformats.org/officeDocument/2006/relationships/hyperlink" Target="https://godbolt.org/" TargetMode="External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-g2-yKhgM9M" TargetMode="External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3640" cy="51526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1266120" y="2220120"/>
            <a:ext cx="5441400" cy="1046520"/>
          </a:xfrm>
          <a:prstGeom prst="rect">
            <a:avLst/>
          </a:prstGeom>
          <a:noFill/>
          <a:ln>
            <a:noFill/>
          </a:ln>
        </p:spPr>
        <p:txBody>
          <a:bodyPr anchorCtr="0" anchor="t" bIns="101150" lIns="101150" spcFirstLastPara="1" rIns="101150" wrap="square" tIns="101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Sección </a:t>
            </a:r>
            <a:r>
              <a:rPr lang="es-419" sz="2770"/>
              <a:t>N</a:t>
            </a:r>
            <a:endParaRPr b="0" i="0" sz="27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1574640" y="3147120"/>
            <a:ext cx="5084280" cy="5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101150" lIns="101150" spcFirstLastPara="1" rIns="101150" wrap="square" tIns="101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0"/>
              <a:t>Omar Alejandro Vides Esteban</a:t>
            </a:r>
            <a:endParaRPr b="0" i="0" sz="22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9" name="Google Shape;69;p1"/>
          <p:cNvGraphicFramePr/>
          <p:nvPr/>
        </p:nvGraphicFramePr>
        <p:xfrm>
          <a:off x="5231160" y="101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{FFF8090D-7B59-49AD-8E9C-AAD76BD47955}</a:tableStyleId>
              </a:tblPr>
              <a:tblGrid>
                <a:gridCol w="1503725"/>
                <a:gridCol w="2152075"/>
              </a:tblGrid>
              <a:tr h="38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1800" marL="181800">
                    <a:lnL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17/03/2026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1800" marL="181800">
                    <a:lnL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1800" marL="181800">
                    <a:lnL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17:20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1800" marL="181800">
                    <a:lnL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62500" lnSpcReduction="19999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ato"/>
              <a:buNone/>
            </a:pPr>
            <a:r>
              <a:rPr b="1" lang="es-419" sz="4200" u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Entornos, variables globales y locales en un compilador	</a:t>
            </a:r>
            <a:endParaRPr b="0" sz="4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</a:pPr>
            <a:r>
              <a:rPr b="0" lang="es-419" sz="1400" u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Recordatorios: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b="0" lang="es-419" sz="1400" u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Horarios de Calificación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b="0" lang="es-419" sz="1400" u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Foro de esta semana</a:t>
            </a:r>
            <a:endParaRPr b="0" sz="1400" u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➔"/>
            </a:pPr>
            <a:r>
              <a:rPr lang="es-419" sz="1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Lectura de Proyecto</a:t>
            </a:r>
            <a:endParaRPr sz="1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</a:pPr>
            <a:r>
              <a:rPr b="0" lang="es-419" sz="1400" u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Recursos: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b="0" lang="es-419" sz="1400" u="sng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ARM64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b="0" lang="es-419" sz="1400" u="sng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Disassembler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>
            <p:ph type="title"/>
          </p:nvPr>
        </p:nvSpPr>
        <p:spPr>
          <a:xfrm>
            <a:off x="311760" y="444960"/>
            <a:ext cx="816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9999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i="0" lang="es-419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Agenda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818160" y="1152360"/>
            <a:ext cx="753480" cy="872640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832280" y="2912040"/>
            <a:ext cx="3999600" cy="162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600" u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1" lang="es-419" sz="1600" u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Eficiencia computacional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311760" y="444960"/>
            <a:ext cx="816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99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s-419" sz="2800" u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Del programa a la memoria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311760" y="1152360"/>
            <a:ext cx="59868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9999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Un compilador debe transformar conceptos del lenguaje en operaciones concretas de máquina.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El compilador debe decidir: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dónde vive 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cómo evaluar 4 - 5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cómo ejecutar el if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cómo saltar si la condición es falsa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Transforma conceptos abstractos en: direcciones de memoria, registros, saltos de ejecución.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3120" y="1312200"/>
            <a:ext cx="2104560" cy="12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8560" y="2892600"/>
            <a:ext cx="2533320" cy="167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311760" y="444960"/>
            <a:ext cx="816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99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s-419" sz="2800" u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Tabla de Símbolos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311760" y="1152360"/>
            <a:ext cx="56653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El compilador necesita recordar información sobre las variables.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Para cada variable se guarda: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nombre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tipo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ubicación en memoria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2320" y="1457640"/>
            <a:ext cx="2171520" cy="80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7080" y="2707200"/>
            <a:ext cx="2861640" cy="186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311760" y="444960"/>
            <a:ext cx="816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99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s-419" sz="2800" u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Manejo del Stack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s-41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El stack es el espacio en memoria que se utiliza para el almacenamiento de datos, este cuenta con una estructura LIFO y es operado a través de un puntero que podemos manipular en automatico a traves de las operaciones push y pop o bien de manera manual con las operaciones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s-41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add y sub.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s-41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PS: </a:t>
            </a:r>
            <a:r>
              <a:rPr lang="es-41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perdón</a:t>
            </a:r>
            <a:r>
              <a:rPr lang="es-41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por el thumbnail.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Qué es una Pila y cómo programarla en Ensamblador?&#10;&#10;Mis otros tutoriales&#10;&#10;Mi último videojuego basado en lenguaje ARM:&#10;https://www.youtube.com/playlist?list=PLp2zpxnnEFuc78b9h_ATae7Zs8ZZEefEE&#10;&#10;Imprimir asteriscos de colores (códigos de escape)&#10;https://youtu.be/AtlheXcXat4&#10;&#10;A.I. y Máquinas de Estado:&#10;&#10;https://www.youtube.com/watch?v=R9pqhRfBwUY&amp;list=PLp2zpxnnEFueHvcs0Az1HRf-wWeiGOO-G&#10;&#10;Tutorial de Vectores:&#10;https://www.youtube.com/watch?v=LGdEmNIzY8o&amp;list=PLp2zpxnnEFueHvcs0Az1HRf-wWeiGOO-G&amp;index=9&amp;t=0s&#10;&#10;Tutorial de Quaterniones:&#10;https://www.youtube.com/watch?v=B58A1qkEkik&amp;list=PLp2zpxnnEFueHvcs0Az1HRf-wWeiGOO-G&amp;index=9&#10;&#10;Crear un Rio&#10;https://www.youtube.com/playlist?list=PLp2zpxnnEFucnqVfCnDVXS_qKHiZ0ZKo1&#10;&#10;Crear un Oceano&#10;https://www.youtube.com/playlist?list=PLp2zpxnnEFudXip7ypcAns6JEs2xQYODb&#10;&#10;Quick tip: como hacer volar un avion en unity 2019&#10;https://www.youtube.com/watch?v=V2eSij27t5g&amp;list=PLp2zpxnnEFueVqFvXwJtpFprPLBvn2wrV&amp;index=9&#10;&#10;Rotar objeto alrededor:&#10;https://www.youtube.com/watch?v=GNp4hJhLY_8&amp;list=PLp2zpxnnEFueVqFvXwJtpFprPLBvn2wrV&#10;&#10;&#10;Links:&#10;&#10;CPUlator:&#10;Simulador usado para ejecutar los ejemplos&#10;https://cpulator.01xz.net&#10;&#10;&#10;ANSI/VT100 Terminal Control Escape Sequences:&#10;http://www.termsys.demon.co.uk/vtansi.htm&#10;&#10;JTAG UART Core:&#10;http://www-ug.eecg.utoronto.ca/desl/nios_devices_SoC/ARM/datasheets/Altera%20JTAG.pdf&#10;&#10;&#10;&#10;Sígueme en:&#10;&#10;Patreon: https://www.patreon.com/huse360&#10;Facebook: https://www.facebook.com/huse360/&#10;Twitter: @huse360&#10;Instagram: https://www.instagram.com/huse360_&#10;Web: https://huse360.home.blog&#10;&#10;#ARM #CPUlator #programming" id="106" name="Google Shape;106;p6" title="ARM lenguaje ensamblador desde cero Parte 4 La Pila The Stack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1975" y="2416300"/>
            <a:ext cx="3709900" cy="208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311760" y="444960"/>
            <a:ext cx="816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99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s-419" sz="2800" u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Scopes y Resolución de Variables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311760" y="1152360"/>
            <a:ext cx="56653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Cuando se hace referencia a una variable el compilador debe seguir el siguiente proceso: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buscar en el scope actual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 no existe → buscar en el padre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repetir hasta el global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este proceso ya lo conocíamos como </a:t>
            </a:r>
            <a:r>
              <a:rPr b="1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parent pointer.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7440" y="1152360"/>
            <a:ext cx="2854800" cy="34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7680" y="3675960"/>
            <a:ext cx="2732760" cy="69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311760" y="444960"/>
            <a:ext cx="816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99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s-419" sz="2800" u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Etiquetas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 txBox="1"/>
          <p:nvPr>
            <p:ph idx="1" type="body"/>
          </p:nvPr>
        </p:nvSpPr>
        <p:spPr>
          <a:xfrm>
            <a:off x="311760" y="1152360"/>
            <a:ext cx="67867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El compilador transforma if en saltos y etiquetas.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Saltos Condicionales: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cmp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cset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cbz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Saltos Incondicionales: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b="0" i="0" lang="es-419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8840" y="1369800"/>
            <a:ext cx="1733040" cy="99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7640" y="2832120"/>
            <a:ext cx="1495080" cy="112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440" y="402120"/>
            <a:ext cx="7880760" cy="433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ato"/>
              <a:buNone/>
            </a:pPr>
            <a:r>
              <a:rPr b="1" lang="es-419"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Lectura de Proyecto</a:t>
            </a:r>
            <a:endParaRPr b="0" sz="4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625552d3d_0_0"/>
          <p:cNvSpPr txBox="1"/>
          <p:nvPr>
            <p:ph type="title"/>
          </p:nvPr>
        </p:nvSpPr>
        <p:spPr>
          <a:xfrm>
            <a:off x="311760" y="2151000"/>
            <a:ext cx="8520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ato"/>
              <a:buNone/>
            </a:pPr>
            <a:r>
              <a:rPr b="1" lang="es-419" sz="4200" u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Ejemplo práctico</a:t>
            </a:r>
            <a:endParaRPr b="0" sz="4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