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La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C57E5F-8B69-48AD-B4AB-DD562382CF04}">
  <a:tblStyle styleId="{4AC57E5F-8B69-48AD-B4AB-DD562382CF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30FB59F-632B-44EC-ABDB-3CEDC07D598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11" Type="http://schemas.openxmlformats.org/officeDocument/2006/relationships/slide" Target="slides/slide4.xml"/><Relationship Id="rId22" Type="http://schemas.openxmlformats.org/officeDocument/2006/relationships/font" Target="fonts/Lato-boldItalic.fntdata"/><Relationship Id="rId10" Type="http://schemas.openxmlformats.org/officeDocument/2006/relationships/slide" Target="slides/slide3.xml"/><Relationship Id="rId21" Type="http://schemas.openxmlformats.org/officeDocument/2006/relationships/font" Target="fonts/Lato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Lato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479cbe7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2479cbe7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92479cbe7a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92479cbe7a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2479cbe7a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2479cbe7a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6c8a485c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6c8a485c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6c8a485c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6c8a485c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6c8a485c1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86c8a485c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c30b9ed3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c30b9ed3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c30b9ed3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c30b9ed3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c30b9ed3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c30b9ed3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597abe56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9597abe56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cc6a87869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ccc6a87869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2" name="Google Shape;8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0" name="Google Shape;9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3" name="Google Shape;9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7" name="Google Shape;9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8" name="Google Shape;9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2" name="Google Shape;10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://www.lcc.uma.es/~vicente/docencia/fundprog/teoria/fp_4_estr.pdf" TargetMode="External"/><Relationship Id="rId4" Type="http://schemas.openxmlformats.org/officeDocument/2006/relationships/hyperlink" Target="https://github.com/PoncheDeFrutas/ARQUI1_1S2026/blob/main/02_ARM64/docs/debugging-aarch64-vscode.md" TargetMode="External"/><Relationship Id="rId5" Type="http://schemas.openxmlformats.org/officeDocument/2006/relationships/hyperlink" Target="https://web.stanford.edu/class/cs143/" TargetMode="External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5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5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25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{4AC57E5F-8B69-48AD-B4AB-DD562382CF04}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03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03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Tipos compuestos en el intérprete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¿Qué son?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Arrays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Matrices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Paso por referencia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Structs/Objetos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 Práctico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Hoja de Calificación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Calificación Docente</a:t>
            </a:r>
            <a:endParaRPr/>
          </a:p>
        </p:txBody>
      </p:sp>
      <p:sp>
        <p:nvSpPr>
          <p:cNvPr id="127" name="Google Shape;127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Recursos: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Paso por parámetros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4"/>
              </a:rPr>
              <a:t>QEMU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5"/>
              </a:rPr>
              <a:t>C3D</a:t>
            </a:r>
            <a:endParaRPr/>
          </a:p>
        </p:txBody>
      </p:sp>
      <p:sp>
        <p:nvSpPr>
          <p:cNvPr id="128" name="Google Shape;128;p27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129" name="Google Shape;129;p27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27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Eficiencia computacional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¿Qué son los tipos compuestos?</a:t>
            </a:r>
            <a:endParaRPr/>
          </a:p>
        </p:txBody>
      </p:sp>
      <p:sp>
        <p:nvSpPr>
          <p:cNvPr id="136" name="Google Shape;13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Son tipos de datos formados por múltiples elementos organizados bajo una misma entidad lógica.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Permiten: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Acceder a sus componentes individuales.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Manipular el conjunto como una unidad.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Construir estructuras más complejas a partir de tipos simples.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Clasificación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Predefinidos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string: secuencia ordenada de caracteres con acceso indexado.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Definidos por el programador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array: colección homogénea con acceso por índice.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struct: agrupación heterogénea con acceso por nombre de campo.</a:t>
            </a:r>
            <a:endParaRPr/>
          </a:p>
        </p:txBody>
      </p:sp>
      <p:pic>
        <p:nvPicPr>
          <p:cNvPr id="137" name="Google Shape;1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950" y="1908725"/>
            <a:ext cx="356235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 array es un tipo compuesto que representa una colección ordenada y homogénea de elementos.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Características en el lenguaje: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Literal: [e1, e2, ..., en]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Acceso indexado: a[i]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s-419"/>
              <a:t>Asignación por índice: a[i] = 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El acceso se realiza mediante un índice entero que determina la posición del elemento dentro de la secuencia.</a:t>
            </a:r>
            <a:endParaRPr/>
          </a:p>
        </p:txBody>
      </p:sp>
      <p:sp>
        <p:nvSpPr>
          <p:cNvPr id="144" name="Google Shape;144;p2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Arrays</a:t>
            </a:r>
            <a:endParaRPr/>
          </a:p>
        </p:txBody>
      </p:sp>
      <p:pic>
        <p:nvPicPr>
          <p:cNvPr id="145" name="Google Shape;1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13" y="1542338"/>
            <a:ext cx="3862275" cy="205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Matrices</a:t>
            </a:r>
            <a:endParaRPr/>
          </a:p>
        </p:txBody>
      </p:sp>
      <p:sp>
        <p:nvSpPr>
          <p:cNvPr id="151" name="Google Shape;15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Una matriz de n dimensiones es una estructura compuesta formada por arrays anidados.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Es decir, una matriz no introduce un tipo nuevo, sino que representa un array cuyos elementos son a su vez arrays.</a:t>
            </a:r>
            <a:endParaRPr/>
          </a:p>
        </p:txBody>
      </p:sp>
      <p:pic>
        <p:nvPicPr>
          <p:cNvPr id="152" name="Google Shape;15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8071" y="2728290"/>
            <a:ext cx="2514601" cy="1727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8250" y="3039663"/>
            <a:ext cx="2209800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Paso por valor: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parámetro recibe una copia del valor original.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En tipos simples es eficiente, pero en tipos compuestos puede implicar duplicación de memoria y mayor costo de ejecución.</a:t>
            </a:r>
            <a:endParaRPr/>
          </a:p>
        </p:txBody>
      </p:sp>
      <p:sp>
        <p:nvSpPr>
          <p:cNvPr id="159" name="Google Shape;159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Paso por referencia: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El parámetro se vincula directamente a la variable original, sin realizar copia de memoria.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Es eficiente para tipos compuestos y permite manejar parámetros de salida o entrada/salida.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31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Paso por parámetros de tipos compuestos</a:t>
            </a:r>
            <a:endParaRPr/>
          </a:p>
        </p:txBody>
      </p:sp>
      <p:pic>
        <p:nvPicPr>
          <p:cNvPr id="161" name="Google Shape;1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750" y="2871875"/>
            <a:ext cx="3241825" cy="169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1712" y="2871875"/>
            <a:ext cx="3501275" cy="169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Clases y Objetos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Una clase define un tipo compuesto que encapsula datos y comportamiento.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el intérprete se modela como una estructura con campos y una tabla de métodos.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Prototipos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Objetos que heredan directamente de otros objetos.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Requiere resolver dinámicamente propiedades y métodos en la cadena prototipo.</a:t>
            </a:r>
            <a:endParaRPr/>
          </a:p>
        </p:txBody>
      </p:sp>
      <p:sp>
        <p:nvSpPr>
          <p:cNvPr id="168" name="Google Shape;168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Constructores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Funciones especiales que inicializan instancias.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En el intérprete ejecutan la vinculación del entorno interno (this) al crear el objeto.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Sobrecarga de métodos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Permite múltiples definiciones con el mismo nombre y distinta firma.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Se resuelve semánticamente según número y tipo de argumentos en la llamada.</a:t>
            </a:r>
            <a:endParaRPr/>
          </a:p>
        </p:txBody>
      </p:sp>
      <p:sp>
        <p:nvSpPr>
          <p:cNvPr id="169" name="Google Shape;169;p32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s-419"/>
              <a:t>¿Y los Structs/Objetos?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Intro: C3D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35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5" name="Google Shape;185;p35"/>
          <p:cNvGraphicFramePr/>
          <p:nvPr/>
        </p:nvGraphicFramePr>
        <p:xfrm>
          <a:off x="8450" y="753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{130FB59F-632B-44EC-ABDB-3CEDC07D5989}</a:tableStyleId>
              </a:tblPr>
              <a:tblGrid>
                <a:gridCol w="2766550"/>
                <a:gridCol w="2463325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Calificación Docente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No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6" name="Google Shape;186;p35"/>
          <p:cNvSpPr txBox="1"/>
          <p:nvPr/>
        </p:nvSpPr>
        <p:spPr>
          <a:xfrm>
            <a:off x="0" y="2140950"/>
            <a:ext cx="901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419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Participantes: llenar las siguientes cajas de texto (tomar información del chat del meet)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5"/>
          <p:cNvSpPr txBox="1"/>
          <p:nvPr/>
        </p:nvSpPr>
        <p:spPr>
          <a:xfrm>
            <a:off x="8450" y="2477900"/>
            <a:ext cx="3083700" cy="23397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Skary Duhany Martinez Diaz - 202300864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201114118 Jaime Samuel García Solomán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Sergio Jair Recinos Recinos-202207999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Luis Gustavo Morales Morales - 202203228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Eddy Donaldo López Anavizca 199812349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88" name="Google Shape;188;p35"/>
          <p:cNvGraphicFramePr/>
          <p:nvPr/>
        </p:nvGraphicFramePr>
        <p:xfrm>
          <a:off x="5328200" y="970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{130FB59F-632B-44EC-ABDB-3CEDC07D5989}</a:tableStyleId>
              </a:tblPr>
              <a:tblGrid>
                <a:gridCol w="1471275"/>
                <a:gridCol w="2219300"/>
              </a:tblGrid>
              <a:tr h="3224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18</a:t>
                      </a:r>
                      <a:r>
                        <a:rPr lang="es-419" sz="1400" u="none" cap="none" strike="noStrike"/>
                        <a:t>:</a:t>
                      </a:r>
                      <a:r>
                        <a:rPr lang="es-419"/>
                        <a:t>25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63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b="1" sz="142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18</a:t>
                      </a:r>
                      <a:r>
                        <a:rPr lang="es-419" sz="1400" u="none" cap="none" strike="noStrike"/>
                        <a:t>:</a:t>
                      </a:r>
                      <a:r>
                        <a:rPr lang="es-419"/>
                        <a:t>35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  <a:tr h="3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b="1" lang="es-419" sz="1420" u="none" cap="none" strike="noStrike">
                          <a:solidFill>
                            <a:schemeClr val="dk1"/>
                          </a:solidFill>
                        </a:rPr>
                        <a:t>Duración(min):</a:t>
                      </a:r>
                      <a:endParaRPr b="1" sz="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/>
                        <a:t>1</a:t>
                      </a:r>
                      <a:r>
                        <a:rPr lang="es-419" sz="1400" u="none" cap="none" strike="noStrike"/>
                        <a:t>0</a:t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9" name="Google Shape;189;p35"/>
          <p:cNvSpPr txBox="1"/>
          <p:nvPr/>
        </p:nvSpPr>
        <p:spPr>
          <a:xfrm>
            <a:off x="3130800" y="2477900"/>
            <a:ext cx="3083700" cy="147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202100057 - Katherinne Claire Axpuac Hernandez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Juan Pablo Martinez Castellanos - 202004036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>
                <a:solidFill>
                  <a:schemeClr val="dk1"/>
                </a:solidFill>
              </a:rPr>
              <a:t>Walter Manuel Mendoza Pérez - 202106830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35"/>
          <p:cNvSpPr txBox="1"/>
          <p:nvPr/>
        </p:nvSpPr>
        <p:spPr>
          <a:xfrm>
            <a:off x="6253150" y="2477900"/>
            <a:ext cx="2882400" cy="40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