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10287000" cx="18288000"/>
  <p:notesSz cx="6858000" cy="9144000"/>
  <p:embeddedFontLst>
    <p:embeddedFont>
      <p:font typeface="Play"/>
      <p:regular r:id="rId37"/>
      <p:bold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Open Sans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2D6756-406B-4ED1-B78A-3E6FB6D6A45C}">
  <a:tblStyle styleId="{252D6756-406B-4ED1-B78A-3E6FB6D6A4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4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lay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Lato-regular.fntdata"/><Relationship Id="rId16" Type="http://schemas.openxmlformats.org/officeDocument/2006/relationships/slide" Target="slides/slide10.xml"/><Relationship Id="rId38" Type="http://schemas.openxmlformats.org/officeDocument/2006/relationships/font" Target="fonts/Play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947d9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947d9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{252D6756-406B-4ED1-B78A-3E6FB6D6A45C}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XX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[</a:t>
            </a:r>
            <a:r>
              <a:rPr lang="en-US" sz="5000"/>
              <a:t>X</a:t>
            </a: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 txBox="1"/>
          <p:nvPr/>
        </p:nvSpPr>
        <p:spPr>
          <a:xfrm>
            <a:off x="1063303" y="7120072"/>
            <a:ext cx="9698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269140" y="2498430"/>
            <a:ext cx="177498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Tabla de símbolos y sistema de tipos, comprobación estática y dinámica</a:t>
            </a:r>
            <a:endParaRPr sz="1100"/>
          </a:p>
        </p:txBody>
      </p:sp>
      <p:sp>
        <p:nvSpPr>
          <p:cNvPr id="99" name="Google Shape;99;p15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8451396" y="1696307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6"/>
          <p:cNvSpPr txBox="1"/>
          <p:nvPr/>
        </p:nvSpPr>
        <p:spPr>
          <a:xfrm>
            <a:off x="915149" y="304738"/>
            <a:ext cx="7037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lay"/>
                <a:ea typeface="Play"/>
                <a:cs typeface="Play"/>
                <a:sym typeface="Play"/>
              </a:rPr>
              <a:t>Agenda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8764425" y="1696300"/>
            <a:ext cx="7001400" cy="74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 del proyecto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Comprobación de tipos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Funciones embebidas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Funciones foráneas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Clousures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Resolución de variables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Hoisting</a:t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/>
          </a:p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8451396" y="280907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6"/>
          <p:cNvSpPr/>
          <p:nvPr/>
        </p:nvSpPr>
        <p:spPr>
          <a:xfrm>
            <a:off x="8451396" y="3921147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6"/>
          <p:cNvSpPr/>
          <p:nvPr/>
        </p:nvSpPr>
        <p:spPr>
          <a:xfrm>
            <a:off x="8451396" y="488166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6"/>
          <p:cNvSpPr/>
          <p:nvPr/>
        </p:nvSpPr>
        <p:spPr>
          <a:xfrm>
            <a:off x="8451396" y="584133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6"/>
          <p:cNvSpPr/>
          <p:nvPr/>
        </p:nvSpPr>
        <p:spPr>
          <a:xfrm>
            <a:off x="8451396" y="695340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6"/>
          <p:cNvSpPr/>
          <p:nvPr/>
        </p:nvSpPr>
        <p:spPr>
          <a:xfrm>
            <a:off x="8451396" y="791307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791595" y="3457716"/>
            <a:ext cx="14704809" cy="5039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aplica técnicas de optimización de código como optimización local y global para reducir tamaño de código y mejorar rendimiento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analiza representaciones intermedias de código mediante código de tres direcciones para identificar oportunidades de optimización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1791595" y="3008985"/>
            <a:ext cx="14704809" cy="457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Responsabilidad: porque al implementar conceptos de POO, los estudiantes deben asumir el diseño correcto de clases y métodos, comprendiendo su impacto en el mantenimiento del código.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Precisión: ya que al aplicar técnicas de optimización y análisis de código, se requiere atención a los detalles para lograr mejoras reales y evitar errores.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1791595" y="2945778"/>
            <a:ext cx="14704809" cy="5887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Clases y Objetos: Una clase es un molde o plantilla que define las propiedades y comportamientos que tendrán los objetos creados a partir de ella y un objeto es una instancia de una clase, es decir, una entidad real que tiene estado y comportamiento.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9410" lvl="1" marL="79882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99"/>
              <a:buFont typeface="Arial"/>
              <a:buChar char="•"/>
            </a:pPr>
            <a:r>
              <a:rPr b="0" i="0" lang="en-US" sz="36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Constructores: es un método especial que se ejecuta automáticamente al crear un objeto.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/>
        </p:nvSpPr>
        <p:spPr>
          <a:xfrm>
            <a:off x="1040085" y="4274503"/>
            <a:ext cx="16207829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Comprobación de tipos (6.5)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1450162" y="2825994"/>
            <a:ext cx="14330266" cy="29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compilador debe asignar una expresión de tipos a cada componente del programa fuente. Después, el compilador debe determinar que estas ex presiones de tipos se conforman a una colección de reglas lógicas, conocida como el sistema de tipos para el lenguaje fuente.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513599" y="2824341"/>
            <a:ext cx="17774401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Reglas para la comprobación de tipos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817218" y="6788678"/>
            <a:ext cx="7379442" cy="1211189"/>
          </a:xfrm>
          <a:custGeom>
            <a:rect b="b" l="l" r="r" t="t"/>
            <a:pathLst>
              <a:path extrusionOk="0" h="1211189" w="7379442">
                <a:moveTo>
                  <a:pt x="0" y="0"/>
                </a:moveTo>
                <a:lnTo>
                  <a:pt x="7379442" y="0"/>
                </a:lnTo>
                <a:lnTo>
                  <a:pt x="7379442" y="1211189"/>
                </a:lnTo>
                <a:lnTo>
                  <a:pt x="0" y="12111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46368" t="0"/>
            </a:stretch>
          </a:blipFill>
          <a:ln>
            <a:noFill/>
          </a:ln>
        </p:spPr>
      </p:sp>
      <p:sp>
        <p:nvSpPr>
          <p:cNvPr id="153" name="Google Shape;153;p23"/>
          <p:cNvSpPr/>
          <p:nvPr/>
        </p:nvSpPr>
        <p:spPr>
          <a:xfrm>
            <a:off x="8886698" y="6612891"/>
            <a:ext cx="9401302" cy="977758"/>
          </a:xfrm>
          <a:custGeom>
            <a:rect b="b" l="l" r="r" t="t"/>
            <a:pathLst>
              <a:path extrusionOk="0" h="977758" w="9401302">
                <a:moveTo>
                  <a:pt x="0" y="0"/>
                </a:moveTo>
                <a:lnTo>
                  <a:pt x="9401302" y="0"/>
                </a:lnTo>
                <a:lnTo>
                  <a:pt x="9401302" y="977758"/>
                </a:lnTo>
                <a:lnTo>
                  <a:pt x="0" y="977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9601" t="0"/>
            </a:stretch>
          </a:blipFill>
          <a:ln>
            <a:noFill/>
          </a:ln>
        </p:spPr>
      </p:sp>
      <p:sp>
        <p:nvSpPr>
          <p:cNvPr id="154" name="Google Shape;154;p23"/>
          <p:cNvSpPr txBox="1"/>
          <p:nvPr/>
        </p:nvSpPr>
        <p:spPr>
          <a:xfrm>
            <a:off x="5094387" y="933450"/>
            <a:ext cx="809922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 tomar dos formas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2865556" y="2720340"/>
            <a:ext cx="152712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Síntesis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11981348" y="2583423"/>
            <a:ext cx="201245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Inferencia</a:t>
            </a: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1195818" y="3919855"/>
            <a:ext cx="4866601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Construye el tipo de una expresión a partir de los tipos de sus subexpresiones.</a:t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9939424" y="3926691"/>
            <a:ext cx="6096302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Determina el tipo de una construcción del lenguaje a partir de la forma en que se utiliza.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6398941" y="857250"/>
            <a:ext cx="5248424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Ejemplos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1351293" y="3732346"/>
            <a:ext cx="5449383" cy="178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tipo resultante en la expresión E1 + E2, esta determinado por E1 y E2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7386764" y="3566181"/>
            <a:ext cx="9496391" cy="418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Supongamos que isNull sea una función que evalúe si una lista está vacía. Entonces, del uso isNull(x), podemos determinar que x debe ser una lista. No se conoce el tipo de los elementos de x; todo lo que sabemos es que x debe ser una lista de elementos de algún tipo que hasta el momento se desconoce.</a:t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2865556" y="2720340"/>
            <a:ext cx="152712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Síntesis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10772879" y="2720340"/>
            <a:ext cx="201245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Inferencia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3578067" y="3853761"/>
            <a:ext cx="10618266" cy="1289739"/>
          </a:xfrm>
          <a:custGeom>
            <a:rect b="b" l="l" r="r" t="t"/>
            <a:pathLst>
              <a:path extrusionOk="0" h="1289739" w="10618266">
                <a:moveTo>
                  <a:pt x="0" y="0"/>
                </a:moveTo>
                <a:lnTo>
                  <a:pt x="10618266" y="0"/>
                </a:lnTo>
                <a:lnTo>
                  <a:pt x="10618266" y="1289739"/>
                </a:lnTo>
                <a:lnTo>
                  <a:pt x="0" y="128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5"/>
          <p:cNvSpPr txBox="1"/>
          <p:nvPr/>
        </p:nvSpPr>
        <p:spPr>
          <a:xfrm>
            <a:off x="3002609" y="537527"/>
            <a:ext cx="12010876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Conversiones con la síntesis de tipos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2040954" y="2406033"/>
            <a:ext cx="14206091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regla asociada con E → E1 + E2 se basa en el siguiente seudocódigo: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1586115" y="6124575"/>
            <a:ext cx="1529704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medida que se incrementa el número de tipos sujetos a conversión, el número de casos aumenta con rapidez.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/>
          <p:nvPr/>
        </p:nvSpPr>
        <p:spPr>
          <a:xfrm>
            <a:off x="8798359" y="2598917"/>
            <a:ext cx="7821246" cy="5481918"/>
          </a:xfrm>
          <a:custGeom>
            <a:rect b="b" l="l" r="r" t="t"/>
            <a:pathLst>
              <a:path extrusionOk="0" h="5481918" w="7821246">
                <a:moveTo>
                  <a:pt x="0" y="0"/>
                </a:moveTo>
                <a:lnTo>
                  <a:pt x="7821246" y="0"/>
                </a:lnTo>
                <a:lnTo>
                  <a:pt x="7821246" y="5481918"/>
                </a:lnTo>
                <a:lnTo>
                  <a:pt x="0" y="5481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26"/>
          <p:cNvSpPr txBox="1"/>
          <p:nvPr/>
        </p:nvSpPr>
        <p:spPr>
          <a:xfrm>
            <a:off x="2202619" y="1298827"/>
            <a:ext cx="817274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Reglas de tipos para Java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977113" y="2923487"/>
            <a:ext cx="7821246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reglas varían de un lenguaje a otro. Se dice que la conversión de un tipo es implícita si el compilador la realiza en forma automática. La conversión es explícita si el programador debe escribir algo.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1951955" y="4138728"/>
            <a:ext cx="1438408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Inferencia de tipos y funciones polimórficas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740187" y="3762037"/>
            <a:ext cx="10500780" cy="2652829"/>
          </a:xfrm>
          <a:custGeom>
            <a:rect b="b" l="l" r="r" t="t"/>
            <a:pathLst>
              <a:path extrusionOk="0" h="2652829" w="10500780">
                <a:moveTo>
                  <a:pt x="0" y="0"/>
                </a:moveTo>
                <a:lnTo>
                  <a:pt x="10500780" y="0"/>
                </a:lnTo>
                <a:lnTo>
                  <a:pt x="10500780" y="2652828"/>
                </a:lnTo>
                <a:lnTo>
                  <a:pt x="0" y="2652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28"/>
          <p:cNvSpPr/>
          <p:nvPr/>
        </p:nvSpPr>
        <p:spPr>
          <a:xfrm>
            <a:off x="3487793" y="8444700"/>
            <a:ext cx="11023902" cy="786320"/>
          </a:xfrm>
          <a:custGeom>
            <a:rect b="b" l="l" r="r" t="t"/>
            <a:pathLst>
              <a:path extrusionOk="0" h="786320" w="11023902">
                <a:moveTo>
                  <a:pt x="0" y="0"/>
                </a:moveTo>
                <a:lnTo>
                  <a:pt x="11023901" y="0"/>
                </a:lnTo>
                <a:lnTo>
                  <a:pt x="11023901" y="786320"/>
                </a:lnTo>
                <a:lnTo>
                  <a:pt x="0" y="786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28"/>
          <p:cNvSpPr txBox="1"/>
          <p:nvPr/>
        </p:nvSpPr>
        <p:spPr>
          <a:xfrm>
            <a:off x="844516" y="537527"/>
            <a:ext cx="656867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Función polimórfica</a:t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40187" y="1664466"/>
            <a:ext cx="16519113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refiere a cualquier fragmento de código que puede ejecutarse con argumentos de distintos tipos.</a:t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3833908" y="7615015"/>
            <a:ext cx="89609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Uso: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11815498" y="4219892"/>
            <a:ext cx="4732611" cy="178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tipo de longitud debe ser “función de la lista de α a entero”.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/>
          <p:nvPr/>
        </p:nvSpPr>
        <p:spPr>
          <a:xfrm>
            <a:off x="4233369" y="2250650"/>
            <a:ext cx="9401302" cy="977758"/>
          </a:xfrm>
          <a:custGeom>
            <a:rect b="b" l="l" r="r" t="t"/>
            <a:pathLst>
              <a:path extrusionOk="0" h="977758" w="9401302">
                <a:moveTo>
                  <a:pt x="0" y="0"/>
                </a:moveTo>
                <a:lnTo>
                  <a:pt x="9401302" y="0"/>
                </a:lnTo>
                <a:lnTo>
                  <a:pt x="9401302" y="977758"/>
                </a:lnTo>
                <a:lnTo>
                  <a:pt x="0" y="977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9601" t="0"/>
            </a:stretch>
          </a:blipFill>
          <a:ln>
            <a:noFill/>
          </a:ln>
        </p:spPr>
      </p:sp>
      <p:sp>
        <p:nvSpPr>
          <p:cNvPr id="203" name="Google Shape;203;p29"/>
          <p:cNvSpPr/>
          <p:nvPr/>
        </p:nvSpPr>
        <p:spPr>
          <a:xfrm>
            <a:off x="3831981" y="6108146"/>
            <a:ext cx="10442767" cy="865527"/>
          </a:xfrm>
          <a:custGeom>
            <a:rect b="b" l="l" r="r" t="t"/>
            <a:pathLst>
              <a:path extrusionOk="0" h="865527" w="10442767">
                <a:moveTo>
                  <a:pt x="0" y="0"/>
                </a:moveTo>
                <a:lnTo>
                  <a:pt x="10442767" y="0"/>
                </a:lnTo>
                <a:lnTo>
                  <a:pt x="10442767" y="865527"/>
                </a:lnTo>
                <a:lnTo>
                  <a:pt x="0" y="865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29"/>
          <p:cNvSpPr txBox="1"/>
          <p:nvPr/>
        </p:nvSpPr>
        <p:spPr>
          <a:xfrm>
            <a:off x="382101" y="1572266"/>
            <a:ext cx="9401302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Recordando la definición de inferencia...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1028700" y="4452565"/>
            <a:ext cx="15810639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 utilizamos el símbolo ∀ (que significa “para cualquier tipo”) y el constructor de tipos lista, el tipo de longitud puede escribirse como</a:t>
            </a:r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640771" y="7998398"/>
            <a:ext cx="718519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∀: Cuantificador universal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/>
        </p:nvSpPr>
        <p:spPr>
          <a:xfrm>
            <a:off x="1819398" y="797270"/>
            <a:ext cx="14649204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FUNCIONES EMBEBIDAS (FUNCIONES INTERNAS)</a:t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919817" y="4426230"/>
            <a:ext cx="16448366" cy="339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Definidas dentro de otras funciones.</a:t>
            </a:r>
            <a:endParaRPr/>
          </a:p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Tienen acceso al ámbito (scope) de la función externa.</a:t>
            </a:r>
            <a:endParaRPr/>
          </a:p>
          <a:p>
            <a:pPr indent="-520475" lvl="1" marL="104094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821"/>
              <a:buFont typeface="Arial"/>
              <a:buChar char="•"/>
            </a:pPr>
            <a:r>
              <a:rPr b="0" i="0" lang="en-US" sz="482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Usadas para modularizar código o crear closures.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2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>
            <a:off x="4161325" y="2510863"/>
            <a:ext cx="9965350" cy="5265274"/>
          </a:xfrm>
          <a:custGeom>
            <a:rect b="b" l="l" r="r" t="t"/>
            <a:pathLst>
              <a:path extrusionOk="0" h="5265274" w="9965350">
                <a:moveTo>
                  <a:pt x="0" y="0"/>
                </a:moveTo>
                <a:lnTo>
                  <a:pt x="9965350" y="0"/>
                </a:lnTo>
                <a:lnTo>
                  <a:pt x="9965350" y="5265274"/>
                </a:lnTo>
                <a:lnTo>
                  <a:pt x="0" y="5265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0" y="1411762"/>
            <a:ext cx="18288000" cy="1708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Funciones Forán</a:t>
            </a:r>
            <a:r>
              <a:rPr b="1" i="0" lang="en-US" sz="56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 (Externas o Globales)</a:t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1028700" y="4687754"/>
            <a:ext cx="17182266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Declaradas en el ámbito global o importadas desde otros módulos.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Pueden ser reutilizadas en diferentes partes del programa o en distintos archivos.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5395332" y="2688386"/>
            <a:ext cx="7497336" cy="4910227"/>
          </a:xfrm>
          <a:custGeom>
            <a:rect b="b" l="l" r="r" t="t"/>
            <a:pathLst>
              <a:path extrusionOk="0" h="4910227" w="7497336">
                <a:moveTo>
                  <a:pt x="0" y="0"/>
                </a:moveTo>
                <a:lnTo>
                  <a:pt x="7497336" y="0"/>
                </a:lnTo>
                <a:lnTo>
                  <a:pt x="7497336" y="4910228"/>
                </a:lnTo>
                <a:lnTo>
                  <a:pt x="0" y="4910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/>
        </p:nvSpPr>
        <p:spPr>
          <a:xfrm>
            <a:off x="2541766" y="4635677"/>
            <a:ext cx="13114197" cy="2727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813" lvl="1" marL="691625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3"/>
              <a:buFont typeface="Arial"/>
              <a:buChar char="•"/>
            </a:pPr>
            <a:r>
              <a:rPr b="0" i="0" lang="en-US" sz="32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función que recuerda el scope donde fue creada, incluso después de que ese ámbito haya terminado.</a:t>
            </a:r>
            <a:endParaRPr/>
          </a:p>
          <a:p>
            <a:pPr indent="-345813" lvl="1" marL="691625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3"/>
              <a:buFont typeface="Arial"/>
              <a:buChar char="•"/>
            </a:pPr>
            <a:r>
              <a:rPr b="0" i="0" lang="en-US" sz="3203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Permiten encapsular variables y crear funciones privadas.</a:t>
            </a:r>
            <a:endParaRPr/>
          </a:p>
          <a:p>
            <a:pPr indent="0" lvl="0" marL="0" marR="0" rtl="0" algn="l">
              <a:lnSpc>
                <a:spcPct val="17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3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2541766" y="2428693"/>
            <a:ext cx="13159333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Closures (Clausuras)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/>
          <p:nvPr/>
        </p:nvSpPr>
        <p:spPr>
          <a:xfrm>
            <a:off x="5967614" y="2015794"/>
            <a:ext cx="6352773" cy="6255412"/>
          </a:xfrm>
          <a:custGeom>
            <a:rect b="b" l="l" r="r" t="t"/>
            <a:pathLst>
              <a:path extrusionOk="0" h="6255412" w="6352773">
                <a:moveTo>
                  <a:pt x="0" y="0"/>
                </a:moveTo>
                <a:lnTo>
                  <a:pt x="6352772" y="0"/>
                </a:lnTo>
                <a:lnTo>
                  <a:pt x="6352772" y="6255412"/>
                </a:lnTo>
                <a:lnTo>
                  <a:pt x="0" y="6255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2222962" y="1604900"/>
            <a:ext cx="13842076" cy="797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Resolución de Variables</a:t>
            </a:r>
            <a:endParaRPr/>
          </a:p>
        </p:txBody>
      </p:sp>
      <p:sp>
        <p:nvSpPr>
          <p:cNvPr id="245" name="Google Shape;245;p36"/>
          <p:cNvSpPr txBox="1"/>
          <p:nvPr/>
        </p:nvSpPr>
        <p:spPr>
          <a:xfrm>
            <a:off x="2222962" y="4259869"/>
            <a:ext cx="14643157" cy="27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1" lvl="1" marL="820422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Proceso mediante el cual el lenguaje encuentra el valor de una variable.</a:t>
            </a:r>
            <a:endParaRPr/>
          </a:p>
          <a:p>
            <a:pPr indent="-410211" lvl="1" marL="820422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realiza desde el ámbito local hacia el global (búsqueda en cadena).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/>
          <p:nvPr/>
        </p:nvSpPr>
        <p:spPr>
          <a:xfrm>
            <a:off x="5442338" y="2240618"/>
            <a:ext cx="7403323" cy="5805764"/>
          </a:xfrm>
          <a:custGeom>
            <a:rect b="b" l="l" r="r" t="t"/>
            <a:pathLst>
              <a:path extrusionOk="0" h="5805764" w="7403323">
                <a:moveTo>
                  <a:pt x="0" y="0"/>
                </a:moveTo>
                <a:lnTo>
                  <a:pt x="7403324" y="0"/>
                </a:lnTo>
                <a:lnTo>
                  <a:pt x="7403324" y="5805764"/>
                </a:lnTo>
                <a:lnTo>
                  <a:pt x="0" y="5805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/>
          <p:nvPr/>
        </p:nvSpPr>
        <p:spPr>
          <a:xfrm>
            <a:off x="4628681" y="6398833"/>
            <a:ext cx="9030639" cy="2313635"/>
          </a:xfrm>
          <a:custGeom>
            <a:rect b="b" l="l" r="r" t="t"/>
            <a:pathLst>
              <a:path extrusionOk="0" h="2313635" w="9030639">
                <a:moveTo>
                  <a:pt x="0" y="0"/>
                </a:moveTo>
                <a:lnTo>
                  <a:pt x="9030638" y="0"/>
                </a:lnTo>
                <a:lnTo>
                  <a:pt x="9030638" y="2313634"/>
                </a:lnTo>
                <a:lnTo>
                  <a:pt x="0" y="23136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38"/>
          <p:cNvSpPr txBox="1"/>
          <p:nvPr/>
        </p:nvSpPr>
        <p:spPr>
          <a:xfrm>
            <a:off x="6460748" y="1000125"/>
            <a:ext cx="5366504" cy="9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i="0" lang="en-US" sz="5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oisting</a:t>
            </a:r>
            <a:endParaRPr/>
          </a:p>
        </p:txBody>
      </p:sp>
      <p:sp>
        <p:nvSpPr>
          <p:cNvPr id="257" name="Google Shape;257;p38"/>
          <p:cNvSpPr txBox="1"/>
          <p:nvPr/>
        </p:nvSpPr>
        <p:spPr>
          <a:xfrm>
            <a:off x="411988" y="3670642"/>
            <a:ext cx="17464024" cy="198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229" lvl="1" marL="754459" marR="0" rtl="0" algn="just">
              <a:lnSpc>
                <a:spcPct val="113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3"/>
              <a:buFont typeface="Arial"/>
              <a:buChar char="•"/>
            </a:pPr>
            <a:r>
              <a:rPr b="0" i="0" lang="en-US" sz="34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“eleva” las declaraciones de variables y funciones al inicio de su contexto.</a:t>
            </a:r>
            <a:endParaRPr/>
          </a:p>
          <a:p>
            <a:pPr indent="-377229" lvl="1" marL="754459" marR="0" rtl="0" algn="just">
              <a:lnSpc>
                <a:spcPct val="113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3"/>
              <a:buFont typeface="Arial"/>
              <a:buChar char="•"/>
            </a:pPr>
            <a:r>
              <a:rPr b="0" i="0" lang="en-US" sz="34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las declaraciones se elevan, no las inicializaciones.</a:t>
            </a:r>
            <a:endParaRPr/>
          </a:p>
          <a:p>
            <a:pPr indent="0" lvl="0" marL="0" marR="0" rtl="0" algn="just">
              <a:lnSpc>
                <a:spcPct val="11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/>
        </p:nvSpPr>
        <p:spPr>
          <a:xfrm>
            <a:off x="0" y="1000125"/>
            <a:ext cx="18288000" cy="17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Stack (Pila de Llamadas)</a:t>
            </a:r>
            <a:endParaRPr/>
          </a:p>
        </p:txBody>
      </p:sp>
      <p:sp>
        <p:nvSpPr>
          <p:cNvPr id="263" name="Google Shape;263;p39"/>
          <p:cNvSpPr txBox="1"/>
          <p:nvPr/>
        </p:nvSpPr>
        <p:spPr>
          <a:xfrm>
            <a:off x="1822422" y="4330814"/>
            <a:ext cx="14643157" cy="27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1" lvl="1" marL="820422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Estructura LIFO usada por los lenguajes para seguir el rastro de las funciones llamadas.</a:t>
            </a:r>
            <a:endParaRPr/>
          </a:p>
          <a:p>
            <a:pPr indent="-410211" lvl="1" marL="820422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vez que se invoca una función, se apila; al terminar, se desapila.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/>
          <p:nvPr/>
        </p:nvSpPr>
        <p:spPr>
          <a:xfrm>
            <a:off x="2714341" y="2026311"/>
            <a:ext cx="5376204" cy="6234377"/>
          </a:xfrm>
          <a:custGeom>
            <a:rect b="b" l="l" r="r" t="t"/>
            <a:pathLst>
              <a:path extrusionOk="0" h="6234377" w="5376204">
                <a:moveTo>
                  <a:pt x="0" y="0"/>
                </a:moveTo>
                <a:lnTo>
                  <a:pt x="5376204" y="0"/>
                </a:lnTo>
                <a:lnTo>
                  <a:pt x="5376204" y="6234378"/>
                </a:lnTo>
                <a:lnTo>
                  <a:pt x="0" y="6234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40"/>
          <p:cNvSpPr txBox="1"/>
          <p:nvPr/>
        </p:nvSpPr>
        <p:spPr>
          <a:xfrm>
            <a:off x="9721031" y="3254946"/>
            <a:ext cx="6366171" cy="3805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Llamada de la pila: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uno()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dos()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tres()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/>
        </p:nvSpPr>
        <p:spPr>
          <a:xfrm>
            <a:off x="412317" y="990600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  <p:sp>
        <p:nvSpPr>
          <p:cNvPr id="275" name="Google Shape;275;p41"/>
          <p:cNvSpPr txBox="1"/>
          <p:nvPr/>
        </p:nvSpPr>
        <p:spPr>
          <a:xfrm>
            <a:off x="1822422" y="3786898"/>
            <a:ext cx="14643157" cy="326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1" lvl="1" marL="820422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Estos conceptos son fundamentales para entender el comportamiento interno de los programas.</a:t>
            </a:r>
            <a:endParaRPr/>
          </a:p>
          <a:p>
            <a:pPr indent="-410211" lvl="1" marL="820422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Dominar closures, scope, hoisting y call stack permite escribir código más eficiente y menos propenso a errores.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/>
        </p:nvSpPr>
        <p:spPr>
          <a:xfrm>
            <a:off x="3783911" y="3336688"/>
            <a:ext cx="10372536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BIBLIOGRAFICAS</a:t>
            </a:r>
            <a:endParaRPr/>
          </a:p>
        </p:txBody>
      </p:sp>
      <p:sp>
        <p:nvSpPr>
          <p:cNvPr id="281" name="Google Shape;281;p42"/>
          <p:cNvSpPr txBox="1"/>
          <p:nvPr/>
        </p:nvSpPr>
        <p:spPr>
          <a:xfrm>
            <a:off x="1698706" y="5067300"/>
            <a:ext cx="14890588" cy="1243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731" lvl="1" marL="763462" marR="0" rtl="0" algn="just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36"/>
              <a:buFont typeface="Arial"/>
              <a:buChar char="•"/>
            </a:pPr>
            <a:r>
              <a:rPr b="0" i="0" lang="en-US" sz="3536" u="none" cap="none" strike="noStrike">
                <a:solidFill>
                  <a:srgbClr val="131416"/>
                </a:solidFill>
                <a:latin typeface="Lato"/>
                <a:ea typeface="Lato"/>
                <a:cs typeface="Lato"/>
                <a:sym typeface="Lato"/>
              </a:rPr>
              <a:t>Compiladores, Principios, Técnicas y HerramientasAho, Sethi y Ullmam. PEARSON ADDISON- WESLEY, 2008, segunda edición.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88" name="Google Shape;288;p43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