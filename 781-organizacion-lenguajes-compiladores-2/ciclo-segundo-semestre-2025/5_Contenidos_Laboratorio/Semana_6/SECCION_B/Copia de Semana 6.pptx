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10287000" cx="18288000"/>
  <p:notesSz cx="6858000" cy="9144000"/>
  <p:embeddedFontLst>
    <p:embeddedFont>
      <p:font typeface="Lobster"/>
      <p:regular r:id="rId30"/>
    </p:embeddedFont>
    <p:embeddedFont>
      <p:font typeface="Lato"/>
      <p:regular r:id="rId31"/>
      <p:bold r:id="rId32"/>
      <p:italic r:id="rId33"/>
      <p:boldItalic r:id="rId34"/>
    </p:embeddedFont>
    <p:embeddedFont>
      <p:font typeface="Pacifico"/>
      <p:regular r:id="rId35"/>
    </p:embeddedFont>
    <p:embeddedFont>
      <p:font typeface="Open Sans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12C752E-650D-4CE8-984D-BE5D9030443E}">
  <a:tblStyle styleId="{C12C752E-650D-4CE8-984D-BE5D9030443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Lato-regular.fntdata"/><Relationship Id="rId30" Type="http://schemas.openxmlformats.org/officeDocument/2006/relationships/font" Target="fonts/Lobster-regular.fntdata"/><Relationship Id="rId11" Type="http://schemas.openxmlformats.org/officeDocument/2006/relationships/slide" Target="slides/slide4.xml"/><Relationship Id="rId33" Type="http://schemas.openxmlformats.org/officeDocument/2006/relationships/font" Target="fonts/Lato-italic.fntdata"/><Relationship Id="rId10" Type="http://schemas.openxmlformats.org/officeDocument/2006/relationships/slide" Target="slides/slide3.xml"/><Relationship Id="rId32" Type="http://schemas.openxmlformats.org/officeDocument/2006/relationships/font" Target="fonts/Lato-bold.fntdata"/><Relationship Id="rId13" Type="http://schemas.openxmlformats.org/officeDocument/2006/relationships/slide" Target="slides/slide6.xml"/><Relationship Id="rId35" Type="http://schemas.openxmlformats.org/officeDocument/2006/relationships/font" Target="fonts/Pacifico-regular.fntdata"/><Relationship Id="rId12" Type="http://schemas.openxmlformats.org/officeDocument/2006/relationships/slide" Target="slides/slide5.xml"/><Relationship Id="rId34" Type="http://schemas.openxmlformats.org/officeDocument/2006/relationships/font" Target="fonts/Lato-boldItalic.fntdata"/><Relationship Id="rId15" Type="http://schemas.openxmlformats.org/officeDocument/2006/relationships/slide" Target="slides/slide8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7.xml"/><Relationship Id="rId36" Type="http://schemas.openxmlformats.org/officeDocument/2006/relationships/font" Target="fonts/OpenSans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cc436de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ccc436dee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cc436deea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ccc436deea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cc436deea_0_7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ccc436deea_0_7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cc436deea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ccc436deea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cc436deea_0_7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ccc436deea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cc436deea_0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ccc436deea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cc436deea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ccc436deea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ccc436deea_0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ccc436deea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ccc436deea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ccc436deea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23520" y="889920"/>
            <a:ext cx="17040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23520" y="2304720"/>
            <a:ext cx="17040000" cy="68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1pPr>
            <a:lvl2pPr indent="-4572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2pPr>
            <a:lvl3pPr indent="-4572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3pPr>
            <a:lvl4pPr indent="-4572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–"/>
              <a:defRPr/>
            </a:lvl4pPr>
            <a:lvl5pPr indent="-4572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»"/>
              <a:defRPr/>
            </a:lvl5pPr>
            <a:lvl6pPr indent="-4572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6pPr>
            <a:lvl7pPr indent="-4572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7pPr>
            <a:lvl8pPr indent="-4572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8pPr>
            <a:lvl9pPr indent="-4572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16945200" y="9326160"/>
            <a:ext cx="10968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2000"/>
              <a:buFont typeface="Arial"/>
              <a:buNone/>
              <a:defRPr b="0" sz="200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/>
          <p:nvPr/>
        </p:nvSpPr>
        <p:spPr>
          <a:xfrm>
            <a:off x="1050" y="9236850"/>
            <a:ext cx="18288000" cy="1063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90" name="Google Shape;90;p15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Font typeface="Lato"/>
              <a:buNone/>
              <a:defRPr b="1" sz="8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91" name="Google Shape;91;p15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Font typeface="Lato"/>
              <a:buNone/>
              <a:defRPr sz="46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92" name="Google Shape;92;p15"/>
          <p:cNvSpPr/>
          <p:nvPr/>
        </p:nvSpPr>
        <p:spPr>
          <a:xfrm rot="5400000">
            <a:off x="-1061700" y="-1350700"/>
            <a:ext cx="5505600" cy="21354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93" name="Google Shape;9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031650" y="199600"/>
            <a:ext cx="4010650" cy="106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5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495" y="199600"/>
            <a:ext cx="1585200" cy="1585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/>
          <p:nvPr/>
        </p:nvSpPr>
        <p:spPr>
          <a:xfrm>
            <a:off x="1050" y="9236850"/>
            <a:ext cx="18288000" cy="1063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98" name="Google Shape;98;p16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Font typeface="Lato"/>
              <a:buNone/>
              <a:defRPr b="1" sz="8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" name="Google Shape;100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031650" y="199600"/>
            <a:ext cx="4010650" cy="106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/>
          <p:nvPr/>
        </p:nvSpPr>
        <p:spPr>
          <a:xfrm rot="5400000">
            <a:off x="-1061700" y="-1350700"/>
            <a:ext cx="5505600" cy="21354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102" name="Google Shape;102;p16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495" y="199600"/>
            <a:ext cx="1585200" cy="158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/>
          <p:nvPr/>
        </p:nvSpPr>
        <p:spPr>
          <a:xfrm>
            <a:off x="1050" y="9236850"/>
            <a:ext cx="18288000" cy="1063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05" name="Google Shape;105;p17"/>
          <p:cNvSpPr/>
          <p:nvPr/>
        </p:nvSpPr>
        <p:spPr>
          <a:xfrm>
            <a:off x="0" y="890050"/>
            <a:ext cx="17664600" cy="12702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06" name="Google Shape;106;p17"/>
          <p:cNvSpPr txBox="1"/>
          <p:nvPr>
            <p:ph type="title"/>
          </p:nvPr>
        </p:nvSpPr>
        <p:spPr>
          <a:xfrm>
            <a:off x="623400" y="890050"/>
            <a:ext cx="1632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>
            <a:off x="1050" y="9236850"/>
            <a:ext cx="18288000" cy="1063200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11" name="Google Shape;111;p18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Font typeface="Lato"/>
              <a:buChar char="●"/>
              <a:defRPr sz="2800">
                <a:latin typeface="Lato"/>
                <a:ea typeface="Lato"/>
                <a:cs typeface="Lato"/>
                <a:sym typeface="Lat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  <a:defRPr sz="2400">
                <a:latin typeface="Lato"/>
                <a:ea typeface="Lato"/>
                <a:cs typeface="Lato"/>
                <a:sym typeface="Lat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■"/>
              <a:defRPr sz="2400">
                <a:latin typeface="Lato"/>
                <a:ea typeface="Lato"/>
                <a:cs typeface="Lato"/>
                <a:sym typeface="Lat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  <a:defRPr sz="2400">
                <a:latin typeface="Lato"/>
                <a:ea typeface="Lato"/>
                <a:cs typeface="Lato"/>
                <a:sym typeface="Lat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  <a:defRPr sz="2400">
                <a:latin typeface="Lato"/>
                <a:ea typeface="Lato"/>
                <a:cs typeface="Lato"/>
                <a:sym typeface="Lat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■"/>
              <a:defRPr sz="2400">
                <a:latin typeface="Lato"/>
                <a:ea typeface="Lato"/>
                <a:cs typeface="Lato"/>
                <a:sym typeface="Lat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  <a:defRPr sz="2400">
                <a:latin typeface="Lato"/>
                <a:ea typeface="Lato"/>
                <a:cs typeface="Lato"/>
                <a:sym typeface="Lat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  <a:defRPr sz="2400">
                <a:latin typeface="Lato"/>
                <a:ea typeface="Lato"/>
                <a:cs typeface="Lato"/>
                <a:sym typeface="Lat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■"/>
              <a:defRPr sz="2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2" name="Google Shape;112;p18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Font typeface="Lato"/>
              <a:buChar char="●"/>
              <a:defRPr sz="2800">
                <a:latin typeface="Lato"/>
                <a:ea typeface="Lato"/>
                <a:cs typeface="Lato"/>
                <a:sym typeface="Lat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  <a:defRPr sz="2400">
                <a:latin typeface="Lato"/>
                <a:ea typeface="Lato"/>
                <a:cs typeface="Lato"/>
                <a:sym typeface="Lat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■"/>
              <a:defRPr sz="2400">
                <a:latin typeface="Lato"/>
                <a:ea typeface="Lato"/>
                <a:cs typeface="Lato"/>
                <a:sym typeface="Lat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  <a:defRPr sz="2400">
                <a:latin typeface="Lato"/>
                <a:ea typeface="Lato"/>
                <a:cs typeface="Lato"/>
                <a:sym typeface="Lat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  <a:defRPr sz="2400">
                <a:latin typeface="Lato"/>
                <a:ea typeface="Lato"/>
                <a:cs typeface="Lato"/>
                <a:sym typeface="Lat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■"/>
              <a:defRPr sz="2400">
                <a:latin typeface="Lato"/>
                <a:ea typeface="Lato"/>
                <a:cs typeface="Lato"/>
                <a:sym typeface="Lat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  <a:defRPr sz="2400">
                <a:latin typeface="Lato"/>
                <a:ea typeface="Lato"/>
                <a:cs typeface="Lato"/>
                <a:sym typeface="Lat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  <a:defRPr sz="2400">
                <a:latin typeface="Lato"/>
                <a:ea typeface="Lato"/>
                <a:cs typeface="Lato"/>
                <a:sym typeface="Lat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■"/>
              <a:defRPr sz="2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0" y="890050"/>
            <a:ext cx="17664600" cy="12702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15" name="Google Shape;115;p18"/>
          <p:cNvSpPr txBox="1"/>
          <p:nvPr>
            <p:ph type="title"/>
          </p:nvPr>
        </p:nvSpPr>
        <p:spPr>
          <a:xfrm>
            <a:off x="623400" y="890050"/>
            <a:ext cx="1632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0" y="890050"/>
            <a:ext cx="17664600" cy="12702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19" name="Google Shape;119;p19"/>
          <p:cNvSpPr txBox="1"/>
          <p:nvPr>
            <p:ph type="title"/>
          </p:nvPr>
        </p:nvSpPr>
        <p:spPr>
          <a:xfrm>
            <a:off x="623400" y="890050"/>
            <a:ext cx="1632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  <a:defRPr sz="2400">
                <a:latin typeface="Lato"/>
                <a:ea typeface="Lato"/>
                <a:cs typeface="Lato"/>
                <a:sym typeface="Lato"/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  <a:defRPr sz="2400">
                <a:latin typeface="Lato"/>
                <a:ea typeface="Lato"/>
                <a:cs typeface="Lato"/>
                <a:sym typeface="Lato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■"/>
              <a:defRPr sz="2400">
                <a:latin typeface="Lato"/>
                <a:ea typeface="Lato"/>
                <a:cs typeface="Lato"/>
                <a:sym typeface="Lato"/>
              </a:defRPr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  <a:defRPr sz="2400">
                <a:latin typeface="Lato"/>
                <a:ea typeface="Lato"/>
                <a:cs typeface="Lato"/>
                <a:sym typeface="Lato"/>
              </a:defRPr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  <a:defRPr sz="2400">
                <a:latin typeface="Lato"/>
                <a:ea typeface="Lato"/>
                <a:cs typeface="Lato"/>
                <a:sym typeface="Lato"/>
              </a:defRPr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■"/>
              <a:defRPr sz="2400">
                <a:latin typeface="Lato"/>
                <a:ea typeface="Lato"/>
                <a:cs typeface="Lato"/>
                <a:sym typeface="Lato"/>
              </a:defRPr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●"/>
              <a:defRPr sz="2400">
                <a:latin typeface="Lato"/>
                <a:ea typeface="Lato"/>
                <a:cs typeface="Lato"/>
                <a:sym typeface="Lato"/>
              </a:defRPr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○"/>
              <a:defRPr sz="2400">
                <a:latin typeface="Lato"/>
                <a:ea typeface="Lato"/>
                <a:cs typeface="Lato"/>
                <a:sym typeface="Lato"/>
              </a:defRPr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Font typeface="Lato"/>
              <a:buChar char="■"/>
              <a:defRPr sz="24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3" name="Google Shape;123;p2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Font typeface="Lato"/>
              <a:buNone/>
              <a:defRPr b="1" sz="9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126" name="Google Shape;126;p2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2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Font typeface="Lato"/>
              <a:buNone/>
              <a:defRPr b="1" sz="84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130" name="Google Shape;130;p22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1" name="Google Shape;131;p22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23"/>
          <p:cNvSpPr/>
          <p:nvPr/>
        </p:nvSpPr>
        <p:spPr>
          <a:xfrm>
            <a:off x="1542600" y="8203750"/>
            <a:ext cx="15202800" cy="15786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3455250" y="8296200"/>
            <a:ext cx="11291400" cy="10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Font typeface="Lato"/>
              <a:buNone/>
              <a:defRPr b="1" sz="24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Font typeface="Lato"/>
              <a:buNone/>
              <a:defRPr b="1" sz="24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Font typeface="Lato"/>
              <a:buNone/>
              <a:defRPr b="1" sz="24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Font typeface="Lato"/>
              <a:buNone/>
              <a:defRPr b="1" sz="24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Font typeface="Lato"/>
              <a:buNone/>
              <a:defRPr b="1" sz="24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Font typeface="Lato"/>
              <a:buNone/>
              <a:defRPr b="1" sz="24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Font typeface="Lato"/>
              <a:buNone/>
              <a:defRPr b="1" sz="24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Font typeface="Lato"/>
              <a:buNone/>
              <a:defRPr b="1" sz="24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Font typeface="Lato"/>
              <a:buNone/>
              <a:defRPr b="1" sz="24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0" name="Google Shape;140;p2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7" name="Google Shape;87;p1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hyperlink" Target="https://craftinginterpreters.com/contents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6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560" y="0"/>
            <a:ext cx="18253440" cy="102866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8" name="Google Shape;148;p26"/>
          <p:cNvGraphicFramePr/>
          <p:nvPr/>
        </p:nvGraphicFramePr>
        <p:xfrm>
          <a:off x="10656720" y="194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{C12C752E-650D-4CE8-984D-BE5D9030443E}</a:tableStyleId>
              </a:tblPr>
              <a:tblGrid>
                <a:gridCol w="3036250"/>
                <a:gridCol w="4344500"/>
              </a:tblGrid>
              <a:tr h="644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n-US" sz="2800"/>
                        <a:t>03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n-US" sz="2800"/>
                        <a:t>03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n-US" sz="2800"/>
                        <a:t>6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17</a:t>
                      </a:r>
                      <a:r>
                        <a:rPr b="0" lang="en-US" sz="2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n-US" sz="2800"/>
                        <a:t>20</a:t>
                      </a:r>
                      <a:endParaRPr b="0" sz="2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" name="Google Shape;149;p26"/>
          <p:cNvSpPr/>
          <p:nvPr/>
        </p:nvSpPr>
        <p:spPr>
          <a:xfrm>
            <a:off x="2880000" y="4516560"/>
            <a:ext cx="11956800" cy="18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 </a:t>
            </a:r>
            <a:r>
              <a:rPr lang="en-US" sz="5000"/>
              <a:t>Sección B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6"/>
          <p:cNvSpPr/>
          <p:nvPr/>
        </p:nvSpPr>
        <p:spPr>
          <a:xfrm>
            <a:off x="3557520" y="6189120"/>
            <a:ext cx="111720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Rubén Alejandro Ralda Mejia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27"/>
          <p:cNvSpPr txBox="1"/>
          <p:nvPr/>
        </p:nvSpPr>
        <p:spPr>
          <a:xfrm>
            <a:off x="1063303" y="7120072"/>
            <a:ext cx="96987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/>
          </a:p>
        </p:txBody>
      </p:sp>
      <p:sp>
        <p:nvSpPr>
          <p:cNvPr id="157" name="Google Shape;157;p27"/>
          <p:cNvSpPr txBox="1"/>
          <p:nvPr/>
        </p:nvSpPr>
        <p:spPr>
          <a:xfrm>
            <a:off x="1135349" y="2882400"/>
            <a:ext cx="160173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7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Comprobación estática y dinámica; tipos </a:t>
            </a:r>
            <a:r>
              <a:rPr b="1" lang="en-US" sz="77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compuestos</a:t>
            </a:r>
            <a:endParaRPr sz="1100"/>
          </a:p>
        </p:txBody>
      </p:sp>
      <p:sp>
        <p:nvSpPr>
          <p:cNvPr id="158" name="Google Shape;158;p27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/>
          </a:p>
        </p:txBody>
      </p:sp>
      <p:sp>
        <p:nvSpPr>
          <p:cNvPr id="159" name="Google Shape;159;p27"/>
          <p:cNvSpPr txBox="1"/>
          <p:nvPr/>
        </p:nvSpPr>
        <p:spPr>
          <a:xfrm>
            <a:off x="1028700" y="9210675"/>
            <a:ext cx="352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/>
          </a:p>
        </p:txBody>
      </p:sp>
      <p:sp>
        <p:nvSpPr>
          <p:cNvPr id="160" name="Google Shape;160;p27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28"/>
          <p:cNvGrpSpPr/>
          <p:nvPr/>
        </p:nvGrpSpPr>
        <p:grpSpPr>
          <a:xfrm>
            <a:off x="1667974" y="5033937"/>
            <a:ext cx="8185098" cy="879368"/>
            <a:chOff x="634943" y="-34688"/>
            <a:chExt cx="3484800" cy="374390"/>
          </a:xfrm>
        </p:grpSpPr>
        <p:sp>
          <p:nvSpPr>
            <p:cNvPr id="166" name="Google Shape;166;p28"/>
            <p:cNvSpPr/>
            <p:nvPr/>
          </p:nvSpPr>
          <p:spPr>
            <a:xfrm>
              <a:off x="719676" y="-34688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7" name="Google Shape;167;p28"/>
            <p:cNvSpPr txBox="1"/>
            <p:nvPr/>
          </p:nvSpPr>
          <p:spPr>
            <a:xfrm>
              <a:off x="634943" y="-20297"/>
              <a:ext cx="3484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412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900"/>
                <a:buFont typeface="Lato"/>
                <a:buChar char="➔"/>
              </a:pPr>
              <a:r>
                <a:rPr lang="en-US" sz="29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Dudas del proyecto</a:t>
              </a:r>
              <a:endParaRPr sz="29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68" name="Google Shape;168;p28"/>
          <p:cNvSpPr/>
          <p:nvPr/>
        </p:nvSpPr>
        <p:spPr>
          <a:xfrm>
            <a:off x="878654" y="515639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69" name="Google Shape;169;p28"/>
          <p:cNvGrpSpPr/>
          <p:nvPr/>
        </p:nvGrpSpPr>
        <p:grpSpPr>
          <a:xfrm>
            <a:off x="1866989" y="3013981"/>
            <a:ext cx="4115217" cy="1556494"/>
            <a:chOff x="0" y="-76200"/>
            <a:chExt cx="1083836" cy="409938"/>
          </a:xfrm>
        </p:grpSpPr>
        <p:sp>
          <p:nvSpPr>
            <p:cNvPr id="170" name="Google Shape;170;p28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1" name="Google Shape;171;p28"/>
            <p:cNvSpPr txBox="1"/>
            <p:nvPr/>
          </p:nvSpPr>
          <p:spPr>
            <a:xfrm>
              <a:off x="0" y="-76200"/>
              <a:ext cx="969600" cy="4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p28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28"/>
          <p:cNvSpPr txBox="1"/>
          <p:nvPr/>
        </p:nvSpPr>
        <p:spPr>
          <a:xfrm>
            <a:off x="651749" y="490900"/>
            <a:ext cx="7710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74" name="Google Shape;174;p28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75" name="Google Shape;175;p28"/>
          <p:cNvGrpSpPr/>
          <p:nvPr/>
        </p:nvGrpSpPr>
        <p:grpSpPr>
          <a:xfrm>
            <a:off x="12187755" y="2799706"/>
            <a:ext cx="5353682" cy="1701155"/>
            <a:chOff x="0" y="-114300"/>
            <a:chExt cx="1410014" cy="448038"/>
          </a:xfrm>
        </p:grpSpPr>
        <p:sp>
          <p:nvSpPr>
            <p:cNvPr id="176" name="Google Shape;176;p28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7" name="Google Shape;177;p28"/>
            <p:cNvSpPr txBox="1"/>
            <p:nvPr/>
          </p:nvSpPr>
          <p:spPr>
            <a:xfrm>
              <a:off x="0" y="-114300"/>
              <a:ext cx="1295700" cy="4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" name="Google Shape;178;p28"/>
          <p:cNvGrpSpPr/>
          <p:nvPr/>
        </p:nvGrpSpPr>
        <p:grpSpPr>
          <a:xfrm>
            <a:off x="64619" y="6859264"/>
            <a:ext cx="5948160" cy="934425"/>
            <a:chOff x="0" y="-114108"/>
            <a:chExt cx="2532425" cy="397831"/>
          </a:xfrm>
        </p:grpSpPr>
        <p:sp>
          <p:nvSpPr>
            <p:cNvPr id="179" name="Google Shape;179;p28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0" name="Google Shape;180;p28"/>
            <p:cNvSpPr txBox="1"/>
            <p:nvPr/>
          </p:nvSpPr>
          <p:spPr>
            <a:xfrm>
              <a:off x="682625" y="-114108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412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900"/>
                <a:buFont typeface="Lato"/>
                <a:buChar char="➔"/>
              </a:pPr>
              <a:r>
                <a:rPr lang="en-US" sz="29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Tipos compuestos en el intérprete</a:t>
              </a:r>
              <a:endParaRPr sz="29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81" name="Google Shape;181;p28"/>
          <p:cNvGrpSpPr/>
          <p:nvPr/>
        </p:nvGrpSpPr>
        <p:grpSpPr>
          <a:xfrm>
            <a:off x="1331994" y="5883041"/>
            <a:ext cx="4750560" cy="915664"/>
            <a:chOff x="0" y="0"/>
            <a:chExt cx="2022548" cy="389844"/>
          </a:xfrm>
        </p:grpSpPr>
        <p:sp>
          <p:nvSpPr>
            <p:cNvPr id="182" name="Google Shape;182;p28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3" name="Google Shape;183;p28"/>
            <p:cNvSpPr txBox="1"/>
            <p:nvPr/>
          </p:nvSpPr>
          <p:spPr>
            <a:xfrm>
              <a:off x="172748" y="29844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412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900"/>
                <a:buFont typeface="Lato"/>
                <a:buChar char="➔"/>
              </a:pPr>
              <a:r>
                <a:rPr lang="en-US" sz="29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Comprobación de tipos</a:t>
              </a:r>
              <a:endParaRPr sz="29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84" name="Google Shape;184;p28"/>
          <p:cNvSpPr/>
          <p:nvPr/>
        </p:nvSpPr>
        <p:spPr>
          <a:xfrm>
            <a:off x="878654" y="603923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28"/>
          <p:cNvSpPr/>
          <p:nvPr/>
        </p:nvSpPr>
        <p:spPr>
          <a:xfrm>
            <a:off x="878654" y="702080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28"/>
          <p:cNvSpPr/>
          <p:nvPr/>
        </p:nvSpPr>
        <p:spPr>
          <a:xfrm>
            <a:off x="7672175" y="5290520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7"/>
                </a:lnTo>
                <a:lnTo>
                  <a:pt x="0" y="4575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7" name="Google Shape;187;p28"/>
          <p:cNvSpPr txBox="1"/>
          <p:nvPr/>
        </p:nvSpPr>
        <p:spPr>
          <a:xfrm>
            <a:off x="8184725" y="6367975"/>
            <a:ext cx="4115100" cy="28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Recordatorios:</a:t>
            </a:r>
            <a:endParaRPr sz="29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2900"/>
              <a:buFont typeface="Lato"/>
              <a:buChar char="➔"/>
            </a:pPr>
            <a:r>
              <a:rPr lang="en-US" sz="29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Foro de esta semana</a:t>
            </a:r>
            <a:endParaRPr sz="29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-412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900"/>
              <a:buFont typeface="Lato"/>
              <a:buChar char="➔"/>
            </a:pPr>
            <a:r>
              <a:rPr lang="en-US" sz="29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Hoja de Calificación Proyecto 1 (nuevamente)</a:t>
            </a:r>
            <a:endParaRPr sz="2900"/>
          </a:p>
        </p:txBody>
      </p:sp>
      <p:sp>
        <p:nvSpPr>
          <p:cNvPr id="188" name="Google Shape;188;p28"/>
          <p:cNvSpPr txBox="1"/>
          <p:nvPr/>
        </p:nvSpPr>
        <p:spPr>
          <a:xfrm>
            <a:off x="12935150" y="4499775"/>
            <a:ext cx="3000000" cy="1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Lato"/>
              <a:buChar char="➔"/>
            </a:pPr>
            <a:r>
              <a:rPr lang="en-US" sz="2800" u="sng">
                <a:solidFill>
                  <a:srgbClr val="0097A7"/>
                </a:solidFill>
                <a:latin typeface="Lato"/>
                <a:ea typeface="Lato"/>
                <a:cs typeface="Lato"/>
                <a:sym typeface="La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Crafting Interpreters</a:t>
            </a:r>
            <a:endParaRPr sz="28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89" name="Google Shape;189;p28"/>
          <p:cNvGrpSpPr/>
          <p:nvPr/>
        </p:nvGrpSpPr>
        <p:grpSpPr>
          <a:xfrm>
            <a:off x="176619" y="7854275"/>
            <a:ext cx="6104634" cy="845568"/>
            <a:chOff x="0" y="-38364"/>
            <a:chExt cx="2599044" cy="360000"/>
          </a:xfrm>
        </p:grpSpPr>
        <p:sp>
          <p:nvSpPr>
            <p:cNvPr id="190" name="Google Shape;190;p28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1" name="Google Shape;191;p28"/>
            <p:cNvSpPr txBox="1"/>
            <p:nvPr/>
          </p:nvSpPr>
          <p:spPr>
            <a:xfrm>
              <a:off x="634944" y="-38364"/>
              <a:ext cx="19641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412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95959"/>
                </a:buClr>
                <a:buSzPts val="2900"/>
                <a:buFont typeface="Lato"/>
                <a:buChar char="➔"/>
              </a:pPr>
              <a:r>
                <a:rPr lang="en-US" sz="2900">
                  <a:solidFill>
                    <a:srgbClr val="595959"/>
                  </a:solidFill>
                  <a:latin typeface="Lato"/>
                  <a:ea typeface="Lato"/>
                  <a:cs typeface="Lato"/>
                  <a:sym typeface="Lato"/>
                </a:rPr>
                <a:t>Evaluación de rendimiento</a:t>
              </a:r>
              <a:endParaRPr sz="2799"/>
            </a:p>
          </p:txBody>
        </p:sp>
      </p:grpSp>
      <p:sp>
        <p:nvSpPr>
          <p:cNvPr id="192" name="Google Shape;192;p28"/>
          <p:cNvSpPr/>
          <p:nvPr/>
        </p:nvSpPr>
        <p:spPr>
          <a:xfrm>
            <a:off x="878654" y="802058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/>
        </p:nvSpPr>
        <p:spPr>
          <a:xfrm>
            <a:off x="1040085" y="4274503"/>
            <a:ext cx="16207829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Comprobación de tipos (6.5)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/>
        </p:nvSpPr>
        <p:spPr>
          <a:xfrm>
            <a:off x="1450162" y="2825994"/>
            <a:ext cx="143304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99"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compilador debe asignar una expresión de tipos a cada componente del programa fuente. Después, el compilador debe determinar que estas expresiones de tipos se conforman a una colección de reglas lógicas, conocida como el sistema de tipos para el lenguaje fuente.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/>
        </p:nvSpPr>
        <p:spPr>
          <a:xfrm>
            <a:off x="513599" y="2824341"/>
            <a:ext cx="17774401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Reglas para la comprobación de tipos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/>
          <p:nvPr/>
        </p:nvSpPr>
        <p:spPr>
          <a:xfrm>
            <a:off x="817218" y="6788678"/>
            <a:ext cx="7379442" cy="1211189"/>
          </a:xfrm>
          <a:custGeom>
            <a:rect b="b" l="l" r="r" t="t"/>
            <a:pathLst>
              <a:path extrusionOk="0" h="1211189" w="7379442">
                <a:moveTo>
                  <a:pt x="0" y="0"/>
                </a:moveTo>
                <a:lnTo>
                  <a:pt x="7379442" y="0"/>
                </a:lnTo>
                <a:lnTo>
                  <a:pt x="7379442" y="1211189"/>
                </a:lnTo>
                <a:lnTo>
                  <a:pt x="0" y="12111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46368" t="0"/>
            </a:stretch>
          </a:blipFill>
          <a:ln>
            <a:noFill/>
          </a:ln>
        </p:spPr>
      </p:sp>
      <p:sp>
        <p:nvSpPr>
          <p:cNvPr id="213" name="Google Shape;213;p32"/>
          <p:cNvSpPr/>
          <p:nvPr/>
        </p:nvSpPr>
        <p:spPr>
          <a:xfrm>
            <a:off x="8886698" y="6612891"/>
            <a:ext cx="9401302" cy="977758"/>
          </a:xfrm>
          <a:custGeom>
            <a:rect b="b" l="l" r="r" t="t"/>
            <a:pathLst>
              <a:path extrusionOk="0" h="977758" w="9401302">
                <a:moveTo>
                  <a:pt x="0" y="0"/>
                </a:moveTo>
                <a:lnTo>
                  <a:pt x="9401302" y="0"/>
                </a:lnTo>
                <a:lnTo>
                  <a:pt x="9401302" y="977758"/>
                </a:lnTo>
                <a:lnTo>
                  <a:pt x="0" y="9777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19601" t="0"/>
            </a:stretch>
          </a:blipFill>
          <a:ln>
            <a:noFill/>
          </a:ln>
        </p:spPr>
      </p:sp>
      <p:sp>
        <p:nvSpPr>
          <p:cNvPr id="214" name="Google Shape;214;p32"/>
          <p:cNvSpPr txBox="1"/>
          <p:nvPr/>
        </p:nvSpPr>
        <p:spPr>
          <a:xfrm>
            <a:off x="5094387" y="933450"/>
            <a:ext cx="809922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Puede tomar dos formas</a:t>
            </a:r>
            <a:endParaRPr/>
          </a:p>
        </p:txBody>
      </p:sp>
      <p:sp>
        <p:nvSpPr>
          <p:cNvPr id="215" name="Google Shape;215;p32"/>
          <p:cNvSpPr txBox="1"/>
          <p:nvPr/>
        </p:nvSpPr>
        <p:spPr>
          <a:xfrm>
            <a:off x="2865547" y="2720350"/>
            <a:ext cx="2228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Síntesis</a:t>
            </a:r>
            <a:endParaRPr/>
          </a:p>
        </p:txBody>
      </p:sp>
      <p:sp>
        <p:nvSpPr>
          <p:cNvPr id="216" name="Google Shape;216;p32"/>
          <p:cNvSpPr txBox="1"/>
          <p:nvPr/>
        </p:nvSpPr>
        <p:spPr>
          <a:xfrm>
            <a:off x="11981348" y="2583423"/>
            <a:ext cx="2012454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Inferencia</a:t>
            </a:r>
            <a:endParaRPr/>
          </a:p>
        </p:txBody>
      </p:sp>
      <p:sp>
        <p:nvSpPr>
          <p:cNvPr id="217" name="Google Shape;217;p32"/>
          <p:cNvSpPr txBox="1"/>
          <p:nvPr/>
        </p:nvSpPr>
        <p:spPr>
          <a:xfrm>
            <a:off x="1195826" y="3919850"/>
            <a:ext cx="5411400" cy="27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Construye el tipo de una expresión a partir de los tipos de sus subexpresiones.</a:t>
            </a:r>
            <a:endParaRPr/>
          </a:p>
        </p:txBody>
      </p:sp>
      <p:sp>
        <p:nvSpPr>
          <p:cNvPr id="218" name="Google Shape;218;p32"/>
          <p:cNvSpPr txBox="1"/>
          <p:nvPr/>
        </p:nvSpPr>
        <p:spPr>
          <a:xfrm>
            <a:off x="9939425" y="3926700"/>
            <a:ext cx="70830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Determina el tipo de una construcción del lenguaje a partir de la forma en que se utiliza.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/>
          <p:nvPr/>
        </p:nvSpPr>
        <p:spPr>
          <a:xfrm>
            <a:off x="6398941" y="857250"/>
            <a:ext cx="5248424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Ejemplos</a:t>
            </a:r>
            <a:endParaRPr/>
          </a:p>
        </p:txBody>
      </p:sp>
      <p:sp>
        <p:nvSpPr>
          <p:cNvPr id="224" name="Google Shape;224;p33"/>
          <p:cNvSpPr txBox="1"/>
          <p:nvPr/>
        </p:nvSpPr>
        <p:spPr>
          <a:xfrm>
            <a:off x="1351300" y="3732352"/>
            <a:ext cx="5384100" cy="19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tipo resultante en la expresión E1 + E2, </a:t>
            </a:r>
            <a:r>
              <a:rPr lang="en-US" sz="3399">
                <a:latin typeface="Open Sans"/>
                <a:ea typeface="Open Sans"/>
                <a:cs typeface="Open Sans"/>
                <a:sym typeface="Open Sans"/>
              </a:rPr>
              <a:t>está</a:t>
            </a: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determinado por E1 y E2</a:t>
            </a:r>
            <a:endParaRPr/>
          </a:p>
        </p:txBody>
      </p:sp>
      <p:sp>
        <p:nvSpPr>
          <p:cNvPr id="225" name="Google Shape;225;p33"/>
          <p:cNvSpPr txBox="1"/>
          <p:nvPr/>
        </p:nvSpPr>
        <p:spPr>
          <a:xfrm>
            <a:off x="7386775" y="3566173"/>
            <a:ext cx="9496500" cy="49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Supongamos que isNull sea una función que evalúe si una lista está vacía. Entonces, del uso isNull(x), podemos determinar que x debe ser una lista. No se conoce el tipo de los elementos de x; todo lo que sabemos es que x debe ser una lista de elementos de algún tipo que hasta el momento se desconoce.</a:t>
            </a:r>
            <a:endParaRPr/>
          </a:p>
        </p:txBody>
      </p:sp>
      <p:sp>
        <p:nvSpPr>
          <p:cNvPr id="226" name="Google Shape;226;p33"/>
          <p:cNvSpPr txBox="1"/>
          <p:nvPr/>
        </p:nvSpPr>
        <p:spPr>
          <a:xfrm>
            <a:off x="2865546" y="2720350"/>
            <a:ext cx="254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Síntesis</a:t>
            </a:r>
            <a:endParaRPr/>
          </a:p>
        </p:txBody>
      </p:sp>
      <p:sp>
        <p:nvSpPr>
          <p:cNvPr id="227" name="Google Shape;227;p33"/>
          <p:cNvSpPr txBox="1"/>
          <p:nvPr/>
        </p:nvSpPr>
        <p:spPr>
          <a:xfrm>
            <a:off x="10772879" y="2720340"/>
            <a:ext cx="2012454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Inferencia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/>
          <p:nvPr/>
        </p:nvSpPr>
        <p:spPr>
          <a:xfrm>
            <a:off x="3578067" y="3853761"/>
            <a:ext cx="10618266" cy="1289739"/>
          </a:xfrm>
          <a:custGeom>
            <a:rect b="b" l="l" r="r" t="t"/>
            <a:pathLst>
              <a:path extrusionOk="0" h="1289739" w="10618266">
                <a:moveTo>
                  <a:pt x="0" y="0"/>
                </a:moveTo>
                <a:lnTo>
                  <a:pt x="10618266" y="0"/>
                </a:lnTo>
                <a:lnTo>
                  <a:pt x="10618266" y="1289739"/>
                </a:lnTo>
                <a:lnTo>
                  <a:pt x="0" y="12897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34"/>
          <p:cNvSpPr txBox="1"/>
          <p:nvPr/>
        </p:nvSpPr>
        <p:spPr>
          <a:xfrm>
            <a:off x="3002609" y="537527"/>
            <a:ext cx="12010876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Conversiones con la síntesis de tipos</a:t>
            </a:r>
            <a:endParaRPr/>
          </a:p>
        </p:txBody>
      </p:sp>
      <p:sp>
        <p:nvSpPr>
          <p:cNvPr id="234" name="Google Shape;234;p34"/>
          <p:cNvSpPr txBox="1"/>
          <p:nvPr/>
        </p:nvSpPr>
        <p:spPr>
          <a:xfrm>
            <a:off x="2040950" y="2406025"/>
            <a:ext cx="14949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 regla asociada con E → E1 + E2 se basa en el siguiente </a:t>
            </a:r>
            <a:r>
              <a:rPr lang="en-US" sz="3399">
                <a:latin typeface="Open Sans"/>
                <a:ea typeface="Open Sans"/>
                <a:cs typeface="Open Sans"/>
                <a:sym typeface="Open Sans"/>
              </a:rPr>
              <a:t>pseudocódigo</a:t>
            </a: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/>
          </a:p>
        </p:txBody>
      </p:sp>
      <p:sp>
        <p:nvSpPr>
          <p:cNvPr id="235" name="Google Shape;235;p34"/>
          <p:cNvSpPr txBox="1"/>
          <p:nvPr/>
        </p:nvSpPr>
        <p:spPr>
          <a:xfrm>
            <a:off x="1586115" y="6124575"/>
            <a:ext cx="15297040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medida que se incrementa el número de tipos sujetos a conversión, el número de casos aumenta con rapidez.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/>
          <p:nvPr/>
        </p:nvSpPr>
        <p:spPr>
          <a:xfrm>
            <a:off x="8798359" y="2598917"/>
            <a:ext cx="7821246" cy="5481918"/>
          </a:xfrm>
          <a:custGeom>
            <a:rect b="b" l="l" r="r" t="t"/>
            <a:pathLst>
              <a:path extrusionOk="0" h="5481918" w="7821246">
                <a:moveTo>
                  <a:pt x="0" y="0"/>
                </a:moveTo>
                <a:lnTo>
                  <a:pt x="7821246" y="0"/>
                </a:lnTo>
                <a:lnTo>
                  <a:pt x="7821246" y="5481918"/>
                </a:lnTo>
                <a:lnTo>
                  <a:pt x="0" y="54819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35"/>
          <p:cNvSpPr txBox="1"/>
          <p:nvPr/>
        </p:nvSpPr>
        <p:spPr>
          <a:xfrm>
            <a:off x="2202619" y="1298827"/>
            <a:ext cx="8172748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Reglas de tipos para Java</a:t>
            </a:r>
            <a:endParaRPr/>
          </a:p>
        </p:txBody>
      </p:sp>
      <p:sp>
        <p:nvSpPr>
          <p:cNvPr id="242" name="Google Shape;242;p35"/>
          <p:cNvSpPr txBox="1"/>
          <p:nvPr/>
        </p:nvSpPr>
        <p:spPr>
          <a:xfrm>
            <a:off x="849125" y="2907468"/>
            <a:ext cx="7821300" cy="41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Las reglas varían de un lenguaje a otro. Se dice que la conversión de un tipo es implícita si el compilador la realiza en forma automática. La conversión es explícita si el programador debe escribir algo.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/>
        </p:nvSpPr>
        <p:spPr>
          <a:xfrm>
            <a:off x="1951955" y="4138728"/>
            <a:ext cx="14384089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Inferencia de tipos y funciones polimórficas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/>
          <p:nvPr/>
        </p:nvSpPr>
        <p:spPr>
          <a:xfrm>
            <a:off x="740187" y="3762037"/>
            <a:ext cx="10500780" cy="2652829"/>
          </a:xfrm>
          <a:custGeom>
            <a:rect b="b" l="l" r="r" t="t"/>
            <a:pathLst>
              <a:path extrusionOk="0" h="2652829" w="10500780">
                <a:moveTo>
                  <a:pt x="0" y="0"/>
                </a:moveTo>
                <a:lnTo>
                  <a:pt x="10500780" y="0"/>
                </a:lnTo>
                <a:lnTo>
                  <a:pt x="10500780" y="2652828"/>
                </a:lnTo>
                <a:lnTo>
                  <a:pt x="0" y="26528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3" name="Google Shape;253;p37"/>
          <p:cNvSpPr/>
          <p:nvPr/>
        </p:nvSpPr>
        <p:spPr>
          <a:xfrm>
            <a:off x="3487793" y="8444700"/>
            <a:ext cx="11023902" cy="786320"/>
          </a:xfrm>
          <a:custGeom>
            <a:rect b="b" l="l" r="r" t="t"/>
            <a:pathLst>
              <a:path extrusionOk="0" h="786320" w="11023902">
                <a:moveTo>
                  <a:pt x="0" y="0"/>
                </a:moveTo>
                <a:lnTo>
                  <a:pt x="11023901" y="0"/>
                </a:lnTo>
                <a:lnTo>
                  <a:pt x="11023901" y="786320"/>
                </a:lnTo>
                <a:lnTo>
                  <a:pt x="0" y="786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37"/>
          <p:cNvSpPr txBox="1"/>
          <p:nvPr/>
        </p:nvSpPr>
        <p:spPr>
          <a:xfrm>
            <a:off x="844516" y="537527"/>
            <a:ext cx="6568678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Función polimórfica</a:t>
            </a:r>
            <a:endParaRPr/>
          </a:p>
        </p:txBody>
      </p:sp>
      <p:sp>
        <p:nvSpPr>
          <p:cNvPr id="255" name="Google Shape;255;p37"/>
          <p:cNvSpPr txBox="1"/>
          <p:nvPr/>
        </p:nvSpPr>
        <p:spPr>
          <a:xfrm>
            <a:off x="740187" y="1664466"/>
            <a:ext cx="16519113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refiere a cualquier fragmento de código que puede ejecutarse con argumentos de distintos tipos.</a:t>
            </a:r>
            <a:endParaRPr/>
          </a:p>
        </p:txBody>
      </p:sp>
      <p:sp>
        <p:nvSpPr>
          <p:cNvPr id="256" name="Google Shape;256;p37"/>
          <p:cNvSpPr txBox="1"/>
          <p:nvPr/>
        </p:nvSpPr>
        <p:spPr>
          <a:xfrm>
            <a:off x="3833908" y="7615015"/>
            <a:ext cx="896094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Uso:</a:t>
            </a:r>
            <a:endParaRPr/>
          </a:p>
        </p:txBody>
      </p:sp>
      <p:sp>
        <p:nvSpPr>
          <p:cNvPr id="257" name="Google Shape;257;p37"/>
          <p:cNvSpPr txBox="1"/>
          <p:nvPr/>
        </p:nvSpPr>
        <p:spPr>
          <a:xfrm>
            <a:off x="11815498" y="4219892"/>
            <a:ext cx="4732611" cy="1780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 tipo de longitud debe ser “función de la lista de α a entero”.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8"/>
          <p:cNvSpPr/>
          <p:nvPr/>
        </p:nvSpPr>
        <p:spPr>
          <a:xfrm>
            <a:off x="4233369" y="2250650"/>
            <a:ext cx="9401302" cy="977758"/>
          </a:xfrm>
          <a:custGeom>
            <a:rect b="b" l="l" r="r" t="t"/>
            <a:pathLst>
              <a:path extrusionOk="0" h="977758" w="9401302">
                <a:moveTo>
                  <a:pt x="0" y="0"/>
                </a:moveTo>
                <a:lnTo>
                  <a:pt x="9401302" y="0"/>
                </a:lnTo>
                <a:lnTo>
                  <a:pt x="9401302" y="977758"/>
                </a:lnTo>
                <a:lnTo>
                  <a:pt x="0" y="9777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19601" t="0"/>
            </a:stretch>
          </a:blipFill>
          <a:ln>
            <a:noFill/>
          </a:ln>
        </p:spPr>
      </p:sp>
      <p:sp>
        <p:nvSpPr>
          <p:cNvPr id="263" name="Google Shape;263;p38"/>
          <p:cNvSpPr/>
          <p:nvPr/>
        </p:nvSpPr>
        <p:spPr>
          <a:xfrm>
            <a:off x="3831981" y="6108146"/>
            <a:ext cx="10442767" cy="865527"/>
          </a:xfrm>
          <a:custGeom>
            <a:rect b="b" l="l" r="r" t="t"/>
            <a:pathLst>
              <a:path extrusionOk="0" h="865527" w="10442767">
                <a:moveTo>
                  <a:pt x="0" y="0"/>
                </a:moveTo>
                <a:lnTo>
                  <a:pt x="10442767" y="0"/>
                </a:lnTo>
                <a:lnTo>
                  <a:pt x="10442767" y="865527"/>
                </a:lnTo>
                <a:lnTo>
                  <a:pt x="0" y="8655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38"/>
          <p:cNvSpPr txBox="1"/>
          <p:nvPr/>
        </p:nvSpPr>
        <p:spPr>
          <a:xfrm>
            <a:off x="382101" y="1572266"/>
            <a:ext cx="9401302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Recordando la definición de inferencia...</a:t>
            </a:r>
            <a:endParaRPr/>
          </a:p>
        </p:txBody>
      </p:sp>
      <p:sp>
        <p:nvSpPr>
          <p:cNvPr id="265" name="Google Shape;265;p38"/>
          <p:cNvSpPr txBox="1"/>
          <p:nvPr/>
        </p:nvSpPr>
        <p:spPr>
          <a:xfrm>
            <a:off x="1028700" y="4452565"/>
            <a:ext cx="15810639" cy="1180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Si utilizamos el símbolo ∀ (que significa “para cualquier tipo”) y el constructor de tipos lista, el tipo de longitud puede escribirse como</a:t>
            </a:r>
            <a:endParaRPr/>
          </a:p>
        </p:txBody>
      </p:sp>
      <p:sp>
        <p:nvSpPr>
          <p:cNvPr id="266" name="Google Shape;266;p38"/>
          <p:cNvSpPr txBox="1"/>
          <p:nvPr/>
        </p:nvSpPr>
        <p:spPr>
          <a:xfrm>
            <a:off x="640771" y="7998398"/>
            <a:ext cx="7185195" cy="5803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∀: Cuantificador universal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9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Tipos compuestos en el intérprete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0"/>
          <p:cNvSpPr txBox="1"/>
          <p:nvPr>
            <p:ph type="title"/>
          </p:nvPr>
        </p:nvSpPr>
        <p:spPr>
          <a:xfrm>
            <a:off x="623400" y="890050"/>
            <a:ext cx="1632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¿Qué son los tipos compuestos?</a:t>
            </a:r>
            <a:endParaRPr/>
          </a:p>
        </p:txBody>
      </p:sp>
      <p:sp>
        <p:nvSpPr>
          <p:cNvPr id="277" name="Google Shape;277;p40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Son tipos de datos formados por múltiples elementos organizados bajo una misma entidad lógica.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/>
              <a:t>Permiten:</a:t>
            </a:r>
            <a:endParaRPr/>
          </a:p>
          <a:p>
            <a:pPr indent="-617220" lvl="0" marL="914400" rtl="0" algn="l">
              <a:spcBef>
                <a:spcPts val="240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Acceder a sus componentes individuales.</a:t>
            </a:r>
            <a:endParaRPr/>
          </a:p>
          <a:p>
            <a:pPr indent="-61722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Manipular el conjunto como una unidad.</a:t>
            </a:r>
            <a:endParaRPr/>
          </a:p>
          <a:p>
            <a:pPr indent="-61722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Construir estructuras más complejas a partir de tipos simples.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/>
              <a:t>Clasificación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/>
              <a:t>Predefinidos</a:t>
            </a:r>
            <a:endParaRPr/>
          </a:p>
          <a:p>
            <a:pPr indent="-617220" lvl="0" marL="914400" rtl="0" algn="l">
              <a:spcBef>
                <a:spcPts val="240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string: secuencia ordenada de caracteres con acceso indexado.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/>
              <a:t>Definidos por el programador</a:t>
            </a:r>
            <a:endParaRPr/>
          </a:p>
          <a:p>
            <a:pPr indent="-617220" lvl="0" marL="914400" rtl="0" algn="l">
              <a:spcBef>
                <a:spcPts val="240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array: colección homogénea con acceso por índice.</a:t>
            </a:r>
            <a:endParaRPr/>
          </a:p>
          <a:p>
            <a:pPr indent="-617220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/>
              <a:t>struct: agrupación heterogénea con acceso por nombre de campo.</a:t>
            </a:r>
            <a:endParaRPr/>
          </a:p>
        </p:txBody>
      </p:sp>
      <p:pic>
        <p:nvPicPr>
          <p:cNvPr id="278" name="Google Shape;27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39900" y="3817450"/>
            <a:ext cx="712470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1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40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1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 array es un tipo compuesto que representa una colección ordenada y homogénea de elementos.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/>
              <a:t>Características en el lenguaje:</a:t>
            </a:r>
            <a:endParaRPr/>
          </a:p>
          <a:p>
            <a:pPr indent="-635000" lvl="0" marL="914400" rtl="0" algn="l">
              <a:spcBef>
                <a:spcPts val="240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Literal: [e1, e2, ..., en]</a:t>
            </a:r>
            <a:endParaRPr/>
          </a:p>
          <a:p>
            <a:pPr indent="-635000" lvl="0" marL="9144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Acceso indexado: a[i]</a:t>
            </a:r>
            <a:endParaRPr/>
          </a:p>
          <a:p>
            <a:pPr indent="-635000" lvl="0" marL="9144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/>
              <a:t>Asignación por índice: a[i] = e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/>
              <a:t>El acceso se realiza mediante un índice entero que determina la posición del elemento dentro de la secuencia.</a:t>
            </a:r>
            <a:endParaRPr/>
          </a:p>
        </p:txBody>
      </p:sp>
      <p:sp>
        <p:nvSpPr>
          <p:cNvPr id="285" name="Google Shape;285;p41"/>
          <p:cNvSpPr txBox="1"/>
          <p:nvPr>
            <p:ph type="title"/>
          </p:nvPr>
        </p:nvSpPr>
        <p:spPr>
          <a:xfrm>
            <a:off x="623400" y="890050"/>
            <a:ext cx="1632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Arrays</a:t>
            </a:r>
            <a:endParaRPr/>
          </a:p>
        </p:txBody>
      </p:sp>
      <p:pic>
        <p:nvPicPr>
          <p:cNvPr id="286" name="Google Shape;28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025" y="3084675"/>
            <a:ext cx="7724550" cy="411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2"/>
          <p:cNvSpPr txBox="1"/>
          <p:nvPr>
            <p:ph type="title"/>
          </p:nvPr>
        </p:nvSpPr>
        <p:spPr>
          <a:xfrm>
            <a:off x="623400" y="890050"/>
            <a:ext cx="1632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Matrices</a:t>
            </a:r>
            <a:endParaRPr/>
          </a:p>
        </p:txBody>
      </p:sp>
      <p:sp>
        <p:nvSpPr>
          <p:cNvPr id="292" name="Google Shape;292;p42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Una matriz de n dimensiones es una estructura compuesta formada por arrays anidados.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/>
              <a:t>Es decir, una matriz no introduce un tipo nuevo, sino que representa un array cuyos elementos son a su vez arrays.</a:t>
            </a:r>
            <a:endParaRPr/>
          </a:p>
        </p:txBody>
      </p:sp>
      <p:pic>
        <p:nvPicPr>
          <p:cNvPr id="293" name="Google Shape;29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6141" y="5456581"/>
            <a:ext cx="5029201" cy="3455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96500" y="6079325"/>
            <a:ext cx="44196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Paso por valor:</a:t>
            </a:r>
            <a:endParaRPr b="1"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/>
              <a:t>El parámetro recibe una copia del valor original.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/>
              <a:t>En tipos simples es eficiente, pero en tipos compuestos puede implicar duplicación de memoria y mayor costo de ejecución.</a:t>
            </a:r>
            <a:endParaRPr/>
          </a:p>
        </p:txBody>
      </p:sp>
      <p:sp>
        <p:nvSpPr>
          <p:cNvPr id="300" name="Google Shape;300;p43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Paso por referencia:</a:t>
            </a:r>
            <a:endParaRPr b="1"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/>
              <a:t>El parámetro se vincula directamente a la variable original, sin realizar copia de memoria.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/>
              <a:t>Es eficiente para tipos compuestos y permite manejar parámetros de salida o entrada/salida.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240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3"/>
          <p:cNvSpPr txBox="1"/>
          <p:nvPr>
            <p:ph type="title"/>
          </p:nvPr>
        </p:nvSpPr>
        <p:spPr>
          <a:xfrm>
            <a:off x="623400" y="890050"/>
            <a:ext cx="1632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Paso por parámetros de tipos compuestos</a:t>
            </a:r>
            <a:endParaRPr/>
          </a:p>
        </p:txBody>
      </p:sp>
      <p:pic>
        <p:nvPicPr>
          <p:cNvPr id="302" name="Google Shape;30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500" y="5743750"/>
            <a:ext cx="6483649" cy="33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63425" y="5743751"/>
            <a:ext cx="7002549" cy="339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Clases y Objetos</a:t>
            </a:r>
            <a:endParaRPr b="1"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/>
              <a:t>Una clase define un tipo compuesto que encapsula datos y comportamiento.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/>
              <a:t>En el intérprete se modela como una estructura con campos y una tabla de métodos.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/>
              <a:t>Prototipos</a:t>
            </a:r>
            <a:endParaRPr b="1"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/>
              <a:t>Objetos que heredan directamente de otros objetos.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/>
              <a:t>Requiere resolver dinámicamente propiedades y métodos en la cadena prototipo.</a:t>
            </a:r>
            <a:endParaRPr/>
          </a:p>
        </p:txBody>
      </p:sp>
      <p:sp>
        <p:nvSpPr>
          <p:cNvPr id="309" name="Google Shape;309;p44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Constructores</a:t>
            </a:r>
            <a:endParaRPr b="1"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/>
              <a:t>Funciones especiales que inicializan instancias.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/>
              <a:t>En el intérprete ejecutan la vinculación del entorno interno (this) al crear el objeto.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/>
              <a:t>Sobrecarga de métodos</a:t>
            </a:r>
            <a:endParaRPr b="1"/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lang="en-US"/>
              <a:t>Permite múltiples definiciones con el mismo nombre y distinta firma.</a:t>
            </a:r>
            <a:endParaRPr/>
          </a:p>
          <a:p>
            <a:pPr indent="0" lvl="0" marL="0" rtl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/>
              <a:t>Se resuelve semánticamente según número y tipo de argumentos en la llamada.</a:t>
            </a:r>
            <a:endParaRPr/>
          </a:p>
        </p:txBody>
      </p:sp>
      <p:sp>
        <p:nvSpPr>
          <p:cNvPr id="310" name="Google Shape;310;p44"/>
          <p:cNvSpPr txBox="1"/>
          <p:nvPr>
            <p:ph type="title"/>
          </p:nvPr>
        </p:nvSpPr>
        <p:spPr>
          <a:xfrm>
            <a:off x="623400" y="890050"/>
            <a:ext cx="1632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-US"/>
              <a:t>¿Y los Structs/Objetos?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5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Implementación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/>
        </p:nvSpPr>
        <p:spPr>
          <a:xfrm>
            <a:off x="2680000" y="2648775"/>
            <a:ext cx="13798500" cy="19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</a:t>
            </a:r>
            <a:endParaRPr/>
          </a:p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BIBLIOGRAFICAS</a:t>
            </a:r>
            <a:endParaRPr/>
          </a:p>
        </p:txBody>
      </p:sp>
      <p:sp>
        <p:nvSpPr>
          <p:cNvPr id="321" name="Google Shape;321;p46"/>
          <p:cNvSpPr txBox="1"/>
          <p:nvPr/>
        </p:nvSpPr>
        <p:spPr>
          <a:xfrm>
            <a:off x="1698706" y="5067300"/>
            <a:ext cx="14890588" cy="1243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1731" lvl="1" marL="763462" marR="0" rtl="0" algn="just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36"/>
              <a:buFont typeface="Arial"/>
              <a:buChar char="•"/>
            </a:pPr>
            <a:r>
              <a:rPr b="0" i="0" lang="en-US" sz="3536" u="none" cap="none" strike="noStrike">
                <a:solidFill>
                  <a:srgbClr val="131416"/>
                </a:solidFill>
                <a:latin typeface="Lato"/>
                <a:ea typeface="Lato"/>
                <a:cs typeface="Lato"/>
                <a:sym typeface="Lato"/>
              </a:rPr>
              <a:t>Compiladores, Principios, Técnicas y HerramientasAho, Sethi y Ullmam. PEARSON ADDISON- WESLEY, 2008, segunda edición.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7"/>
          <p:cNvSpPr txBox="1"/>
          <p:nvPr/>
        </p:nvSpPr>
        <p:spPr>
          <a:xfrm>
            <a:off x="1439851" y="3389100"/>
            <a:ext cx="116568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7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328" name="Google Shape;328;p47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