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Questrial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14683C-79C2-4DF3-9BE1-91DF0DD3972C}">
  <a:tblStyle styleId="{CA14683C-79C2-4DF3-9BE1-91DF0DD3972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Questrial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e35d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e35d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cbfdc46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cbfdc46c7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cbfdc46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cbfdc46c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cbfdc46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cbfdc46c7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cbfdc46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cbfdc46c7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cbfdc46c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ccbfdc46c7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cbfdc46c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cbfdc46c7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cbfdc46c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cbfdc46c7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8c452c98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c8c452c98d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{CA14683C-79C2-4DF3-9BE1-91DF0DD3972C}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N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Omar Alejandro Vides Esteban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7" name="Google Shape;97;p15"/>
          <p:cNvCxnSpPr/>
          <p:nvPr/>
        </p:nvCxnSpPr>
        <p:spPr>
          <a:xfrm>
            <a:off x="1789657" y="6030622"/>
            <a:ext cx="45000" cy="2831700"/>
          </a:xfrm>
          <a:prstGeom prst="straightConnector1">
            <a:avLst/>
          </a:prstGeom>
          <a:noFill/>
          <a:ln cap="flat" cmpd="sng" w="38100">
            <a:solidFill>
              <a:srgbClr val="6AD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5"/>
          <p:cNvSpPr txBox="1"/>
          <p:nvPr/>
        </p:nvSpPr>
        <p:spPr>
          <a:xfrm>
            <a:off x="1808707" y="1362075"/>
            <a:ext cx="13530446" cy="3548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92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Organización de Lenguajes y Compiladores 2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2018032" y="6030619"/>
            <a:ext cx="117105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4">
                <a:solidFill>
                  <a:srgbClr val="FFFFFF"/>
                </a:solidFill>
              </a:rPr>
              <a:t>Primer Semestre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2018029" y="6939525"/>
            <a:ext cx="80112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Ciencias Y Sistemas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2785514" y="0"/>
            <a:ext cx="5502486" cy="1458309"/>
          </a:xfrm>
          <a:custGeom>
            <a:rect b="b" l="l" r="r" t="t"/>
            <a:pathLst>
              <a:path extrusionOk="0" h="1458309" w="5502486">
                <a:moveTo>
                  <a:pt x="0" y="0"/>
                </a:moveTo>
                <a:lnTo>
                  <a:pt x="5502486" y="0"/>
                </a:lnTo>
                <a:lnTo>
                  <a:pt x="5502486" y="1458309"/>
                </a:lnTo>
                <a:lnTo>
                  <a:pt x="0" y="1458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6"/>
          <p:cNvSpPr txBox="1"/>
          <p:nvPr/>
        </p:nvSpPr>
        <p:spPr>
          <a:xfrm>
            <a:off x="2895590" y="3727959"/>
            <a:ext cx="12496800" cy="28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Precisión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Precisió</a:t>
            </a:r>
            <a:r>
              <a:rPr lang="en-US" sz="1000"/>
              <a:t>n</a:t>
            </a:r>
            <a:endParaRPr sz="1000"/>
          </a:p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Valor de la semana:</a:t>
            </a:r>
            <a:endParaRPr sz="77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Precisión</a:t>
            </a:r>
            <a:endParaRPr b="1" sz="77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7"/>
          <p:cNvSpPr/>
          <p:nvPr/>
        </p:nvSpPr>
        <p:spPr>
          <a:xfrm>
            <a:off x="1028711" y="3975367"/>
            <a:ext cx="807245" cy="1088197"/>
          </a:xfrm>
          <a:custGeom>
            <a:rect b="b" l="l" r="r" t="t"/>
            <a:pathLst>
              <a:path extrusionOk="0" h="1088197" w="807245">
                <a:moveTo>
                  <a:pt x="0" y="0"/>
                </a:moveTo>
                <a:lnTo>
                  <a:pt x="807244" y="0"/>
                </a:lnTo>
                <a:lnTo>
                  <a:pt x="807244" y="1088197"/>
                </a:lnTo>
                <a:lnTo>
                  <a:pt x="0" y="10881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7"/>
          <p:cNvSpPr/>
          <p:nvPr/>
        </p:nvSpPr>
        <p:spPr>
          <a:xfrm>
            <a:off x="971336" y="5666943"/>
            <a:ext cx="921977" cy="1006126"/>
          </a:xfrm>
          <a:custGeom>
            <a:rect b="b" l="l" r="r" t="t"/>
            <a:pathLst>
              <a:path extrusionOk="0" h="1006126" w="921977">
                <a:moveTo>
                  <a:pt x="0" y="0"/>
                </a:moveTo>
                <a:lnTo>
                  <a:pt x="921977" y="0"/>
                </a:lnTo>
                <a:lnTo>
                  <a:pt x="921977" y="1006126"/>
                </a:lnTo>
                <a:lnTo>
                  <a:pt x="0" y="1006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7"/>
          <p:cNvSpPr/>
          <p:nvPr/>
        </p:nvSpPr>
        <p:spPr>
          <a:xfrm>
            <a:off x="971336" y="7433746"/>
            <a:ext cx="921977" cy="1034872"/>
          </a:xfrm>
          <a:custGeom>
            <a:rect b="b" l="l" r="r" t="t"/>
            <a:pathLst>
              <a:path extrusionOk="0" h="1034872" w="921977">
                <a:moveTo>
                  <a:pt x="0" y="0"/>
                </a:moveTo>
                <a:lnTo>
                  <a:pt x="921977" y="0"/>
                </a:lnTo>
                <a:lnTo>
                  <a:pt x="921977" y="1034873"/>
                </a:lnTo>
                <a:lnTo>
                  <a:pt x="0" y="1034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7"/>
          <p:cNvSpPr/>
          <p:nvPr/>
        </p:nvSpPr>
        <p:spPr>
          <a:xfrm>
            <a:off x="8222023" y="4021701"/>
            <a:ext cx="921977" cy="791224"/>
          </a:xfrm>
          <a:custGeom>
            <a:rect b="b" l="l" r="r" t="t"/>
            <a:pathLst>
              <a:path extrusionOk="0" h="791224" w="921977">
                <a:moveTo>
                  <a:pt x="0" y="0"/>
                </a:moveTo>
                <a:lnTo>
                  <a:pt x="921977" y="0"/>
                </a:lnTo>
                <a:lnTo>
                  <a:pt x="921977" y="791224"/>
                </a:lnTo>
                <a:lnTo>
                  <a:pt x="0" y="791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7"/>
          <p:cNvSpPr/>
          <p:nvPr/>
        </p:nvSpPr>
        <p:spPr>
          <a:xfrm>
            <a:off x="8222023" y="2310703"/>
            <a:ext cx="921977" cy="875040"/>
          </a:xfrm>
          <a:custGeom>
            <a:rect b="b" l="l" r="r" t="t"/>
            <a:pathLst>
              <a:path extrusionOk="0" h="875040" w="921977">
                <a:moveTo>
                  <a:pt x="0" y="0"/>
                </a:moveTo>
                <a:lnTo>
                  <a:pt x="921977" y="0"/>
                </a:lnTo>
                <a:lnTo>
                  <a:pt x="921977" y="875040"/>
                </a:lnTo>
                <a:lnTo>
                  <a:pt x="0" y="87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17"/>
          <p:cNvGrpSpPr/>
          <p:nvPr/>
        </p:nvGrpSpPr>
        <p:grpSpPr>
          <a:xfrm>
            <a:off x="2025680" y="4021708"/>
            <a:ext cx="3466167" cy="995540"/>
            <a:chOff x="0" y="-192881"/>
            <a:chExt cx="4621557" cy="1327387"/>
          </a:xfrm>
        </p:grpSpPr>
        <p:grpSp>
          <p:nvGrpSpPr>
            <p:cNvPr id="119" name="Google Shape;119;p17"/>
            <p:cNvGrpSpPr/>
            <p:nvPr/>
          </p:nvGrpSpPr>
          <p:grpSpPr>
            <a:xfrm>
              <a:off x="0" y="-192881"/>
              <a:ext cx="4621557" cy="1327387"/>
              <a:chOff x="0" y="-38100"/>
              <a:chExt cx="912900" cy="262200"/>
            </a:xfrm>
          </p:grpSpPr>
          <p:sp>
            <p:nvSpPr>
              <p:cNvPr id="120" name="Google Shape;120;p17"/>
              <p:cNvSpPr/>
              <p:nvPr/>
            </p:nvSpPr>
            <p:spPr>
              <a:xfrm>
                <a:off x="0" y="0"/>
                <a:ext cx="912891" cy="224084"/>
              </a:xfrm>
              <a:custGeom>
                <a:rect b="b" l="l" r="r" t="t"/>
                <a:pathLst>
                  <a:path extrusionOk="0" h="224084" w="912891">
                    <a:moveTo>
                      <a:pt x="112042" y="0"/>
                    </a:moveTo>
                    <a:lnTo>
                      <a:pt x="800849" y="0"/>
                    </a:lnTo>
                    <a:cubicBezTo>
                      <a:pt x="830564" y="0"/>
                      <a:pt x="859063" y="11804"/>
                      <a:pt x="880075" y="32816"/>
                    </a:cubicBezTo>
                    <a:cubicBezTo>
                      <a:pt x="901087" y="53828"/>
                      <a:pt x="912891" y="82327"/>
                      <a:pt x="912891" y="112042"/>
                    </a:cubicBezTo>
                    <a:lnTo>
                      <a:pt x="912891" y="112042"/>
                    </a:lnTo>
                    <a:cubicBezTo>
                      <a:pt x="912891" y="173921"/>
                      <a:pt x="862728" y="224084"/>
                      <a:pt x="800849" y="224084"/>
                    </a:cubicBezTo>
                    <a:lnTo>
                      <a:pt x="112042" y="224084"/>
                    </a:lnTo>
                    <a:cubicBezTo>
                      <a:pt x="50163" y="224084"/>
                      <a:pt x="0" y="173921"/>
                      <a:pt x="0" y="112042"/>
                    </a:cubicBezTo>
                    <a:lnTo>
                      <a:pt x="0" y="112042"/>
                    </a:lnTo>
                    <a:cubicBezTo>
                      <a:pt x="0" y="50163"/>
                      <a:pt x="50163" y="0"/>
                      <a:pt x="11204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7"/>
              <p:cNvSpPr txBox="1"/>
              <p:nvPr/>
            </p:nvSpPr>
            <p:spPr>
              <a:xfrm>
                <a:off x="0" y="-38100"/>
                <a:ext cx="912900" cy="2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" name="Google Shape;122;p17"/>
            <p:cNvSpPr txBox="1"/>
            <p:nvPr/>
          </p:nvSpPr>
          <p:spPr>
            <a:xfrm>
              <a:off x="472788" y="171040"/>
              <a:ext cx="38526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Avisos</a:t>
              </a:r>
              <a:endParaRPr/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2025673" y="5724349"/>
            <a:ext cx="4800214" cy="995480"/>
            <a:chOff x="0" y="-192881"/>
            <a:chExt cx="8291957" cy="1327306"/>
          </a:xfrm>
        </p:grpSpPr>
        <p:grpSp>
          <p:nvGrpSpPr>
            <p:cNvPr id="124" name="Google Shape;124;p17"/>
            <p:cNvGrpSpPr/>
            <p:nvPr/>
          </p:nvGrpSpPr>
          <p:grpSpPr>
            <a:xfrm>
              <a:off x="0" y="-192881"/>
              <a:ext cx="8291957" cy="1327306"/>
              <a:chOff x="0" y="-38100"/>
              <a:chExt cx="1637918" cy="262184"/>
            </a:xfrm>
          </p:grpSpPr>
          <p:sp>
            <p:nvSpPr>
              <p:cNvPr id="125" name="Google Shape;125;p17"/>
              <p:cNvSpPr/>
              <p:nvPr/>
            </p:nvSpPr>
            <p:spPr>
              <a:xfrm>
                <a:off x="0" y="0"/>
                <a:ext cx="1637917" cy="224084"/>
              </a:xfrm>
              <a:custGeom>
                <a:rect b="b" l="l" r="r" t="t"/>
                <a:pathLst>
                  <a:path extrusionOk="0" h="224084" w="1637917">
                    <a:moveTo>
                      <a:pt x="63489" y="0"/>
                    </a:moveTo>
                    <a:lnTo>
                      <a:pt x="1574428" y="0"/>
                    </a:lnTo>
                    <a:cubicBezTo>
                      <a:pt x="1591267" y="0"/>
                      <a:pt x="1607415" y="6689"/>
                      <a:pt x="1619322" y="18596"/>
                    </a:cubicBezTo>
                    <a:cubicBezTo>
                      <a:pt x="1631229" y="30502"/>
                      <a:pt x="1637917" y="46651"/>
                      <a:pt x="1637917" y="63489"/>
                    </a:cubicBezTo>
                    <a:lnTo>
                      <a:pt x="1637917" y="160595"/>
                    </a:lnTo>
                    <a:cubicBezTo>
                      <a:pt x="1637917" y="177433"/>
                      <a:pt x="1631229" y="193582"/>
                      <a:pt x="1619322" y="205488"/>
                    </a:cubicBezTo>
                    <a:cubicBezTo>
                      <a:pt x="1607415" y="217395"/>
                      <a:pt x="1591267" y="224084"/>
                      <a:pt x="1574428" y="224084"/>
                    </a:cubicBezTo>
                    <a:lnTo>
                      <a:pt x="63489" y="224084"/>
                    </a:lnTo>
                    <a:cubicBezTo>
                      <a:pt x="46651" y="224084"/>
                      <a:pt x="30502" y="217395"/>
                      <a:pt x="18596" y="205488"/>
                    </a:cubicBezTo>
                    <a:cubicBezTo>
                      <a:pt x="6689" y="193582"/>
                      <a:pt x="0" y="177433"/>
                      <a:pt x="0" y="160595"/>
                    </a:cubicBezTo>
                    <a:lnTo>
                      <a:pt x="0" y="63489"/>
                    </a:lnTo>
                    <a:cubicBezTo>
                      <a:pt x="0" y="46651"/>
                      <a:pt x="6689" y="30502"/>
                      <a:pt x="18596" y="18596"/>
                    </a:cubicBezTo>
                    <a:cubicBezTo>
                      <a:pt x="30502" y="6689"/>
                      <a:pt x="46651" y="0"/>
                      <a:pt x="6348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 txBox="1"/>
              <p:nvPr/>
            </p:nvSpPr>
            <p:spPr>
              <a:xfrm>
                <a:off x="0" y="-38100"/>
                <a:ext cx="1637918" cy="262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" name="Google Shape;127;p17"/>
            <p:cNvSpPr txBox="1"/>
            <p:nvPr/>
          </p:nvSpPr>
          <p:spPr>
            <a:xfrm>
              <a:off x="848281" y="171040"/>
              <a:ext cx="69123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Clases y Objetos</a:t>
              </a:r>
              <a:endParaRPr/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2025648" y="7426926"/>
            <a:ext cx="4800574" cy="1017265"/>
            <a:chOff x="0" y="-38100"/>
            <a:chExt cx="1637918" cy="267927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1637917" cy="229827"/>
            </a:xfrm>
            <a:custGeom>
              <a:rect b="b" l="l" r="r" t="t"/>
              <a:pathLst>
                <a:path extrusionOk="0" h="229827" w="1637917">
                  <a:moveTo>
                    <a:pt x="63489" y="0"/>
                  </a:moveTo>
                  <a:lnTo>
                    <a:pt x="1574428" y="0"/>
                  </a:lnTo>
                  <a:cubicBezTo>
                    <a:pt x="1591267" y="0"/>
                    <a:pt x="1607415" y="6689"/>
                    <a:pt x="1619322" y="18596"/>
                  </a:cubicBezTo>
                  <a:cubicBezTo>
                    <a:pt x="1631229" y="30502"/>
                    <a:pt x="1637917" y="46651"/>
                    <a:pt x="1637917" y="63489"/>
                  </a:cubicBezTo>
                  <a:lnTo>
                    <a:pt x="1637917" y="166338"/>
                  </a:lnTo>
                  <a:cubicBezTo>
                    <a:pt x="1637917" y="201402"/>
                    <a:pt x="1609492" y="229827"/>
                    <a:pt x="1574428" y="229827"/>
                  </a:cubicBezTo>
                  <a:lnTo>
                    <a:pt x="63489" y="229827"/>
                  </a:lnTo>
                  <a:cubicBezTo>
                    <a:pt x="46651" y="229827"/>
                    <a:pt x="30502" y="223138"/>
                    <a:pt x="18596" y="211232"/>
                  </a:cubicBezTo>
                  <a:cubicBezTo>
                    <a:pt x="6689" y="199325"/>
                    <a:pt x="0" y="183177"/>
                    <a:pt x="0" y="166338"/>
                  </a:cubicBezTo>
                  <a:lnTo>
                    <a:pt x="0" y="63489"/>
                  </a:lnTo>
                  <a:cubicBezTo>
                    <a:pt x="0" y="46651"/>
                    <a:pt x="6689" y="30502"/>
                    <a:pt x="18596" y="18596"/>
                  </a:cubicBezTo>
                  <a:cubicBezTo>
                    <a:pt x="30502" y="6689"/>
                    <a:pt x="46651" y="0"/>
                    <a:pt x="634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AD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0" y="-38100"/>
              <a:ext cx="1637918" cy="26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7"/>
          <p:cNvSpPr txBox="1"/>
          <p:nvPr/>
        </p:nvSpPr>
        <p:spPr>
          <a:xfrm>
            <a:off x="2297383" y="7720190"/>
            <a:ext cx="55206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2">
                <a:solidFill>
                  <a:srgbClr val="FFFFFF"/>
                </a:solidFill>
              </a:rPr>
              <a:t>Prototipos</a:t>
            </a:r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9482392" y="2250483"/>
            <a:ext cx="5514422" cy="995480"/>
            <a:chOff x="0" y="-192881"/>
            <a:chExt cx="7352563" cy="1327306"/>
          </a:xfrm>
        </p:grpSpPr>
        <p:grpSp>
          <p:nvGrpSpPr>
            <p:cNvPr id="133" name="Google Shape;133;p17"/>
            <p:cNvGrpSpPr/>
            <p:nvPr/>
          </p:nvGrpSpPr>
          <p:grpSpPr>
            <a:xfrm>
              <a:off x="0" y="-192881"/>
              <a:ext cx="7352563" cy="1327306"/>
              <a:chOff x="0" y="-38100"/>
              <a:chExt cx="1452358" cy="262184"/>
            </a:xfrm>
          </p:grpSpPr>
          <p:sp>
            <p:nvSpPr>
              <p:cNvPr id="134" name="Google Shape;134;p17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7"/>
              <p:cNvSpPr txBox="1"/>
              <p:nvPr/>
            </p:nvSpPr>
            <p:spPr>
              <a:xfrm>
                <a:off x="0" y="-38100"/>
                <a:ext cx="1452358" cy="262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" name="Google Shape;136;p17"/>
            <p:cNvSpPr txBox="1"/>
            <p:nvPr/>
          </p:nvSpPr>
          <p:spPr>
            <a:xfrm>
              <a:off x="706764" y="165325"/>
              <a:ext cx="62019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Constructores</a:t>
              </a:r>
              <a:endParaRPr/>
            </a:p>
          </p:txBody>
        </p:sp>
      </p:grpSp>
      <p:sp>
        <p:nvSpPr>
          <p:cNvPr id="137" name="Google Shape;137;p17"/>
          <p:cNvSpPr txBox="1"/>
          <p:nvPr/>
        </p:nvSpPr>
        <p:spPr>
          <a:xfrm>
            <a:off x="1028700" y="2155240"/>
            <a:ext cx="5460128" cy="1717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Agenda</a:t>
            </a:r>
            <a:endParaRPr/>
          </a:p>
        </p:txBody>
      </p:sp>
      <p:grpSp>
        <p:nvGrpSpPr>
          <p:cNvPr id="138" name="Google Shape;138;p17"/>
          <p:cNvGrpSpPr/>
          <p:nvPr/>
        </p:nvGrpSpPr>
        <p:grpSpPr>
          <a:xfrm>
            <a:off x="9482401" y="4021712"/>
            <a:ext cx="6001897" cy="995540"/>
            <a:chOff x="0" y="-192881"/>
            <a:chExt cx="7352563" cy="1327387"/>
          </a:xfrm>
        </p:grpSpPr>
        <p:grpSp>
          <p:nvGrpSpPr>
            <p:cNvPr id="139" name="Google Shape;139;p17"/>
            <p:cNvGrpSpPr/>
            <p:nvPr/>
          </p:nvGrpSpPr>
          <p:grpSpPr>
            <a:xfrm>
              <a:off x="0" y="-192881"/>
              <a:ext cx="7352563" cy="1327387"/>
              <a:chOff x="0" y="-38100"/>
              <a:chExt cx="1452358" cy="262200"/>
            </a:xfrm>
          </p:grpSpPr>
          <p:sp>
            <p:nvSpPr>
              <p:cNvPr id="140" name="Google Shape;140;p17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0" y="-38100"/>
                <a:ext cx="1452300" cy="2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" name="Google Shape;142;p17"/>
            <p:cNvSpPr txBox="1"/>
            <p:nvPr/>
          </p:nvSpPr>
          <p:spPr>
            <a:xfrm>
              <a:off x="706764" y="165325"/>
              <a:ext cx="62019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Sobrecarga de métodos</a:t>
              </a:r>
              <a:endParaRPr/>
            </a:p>
          </p:txBody>
        </p:sp>
      </p:grpSp>
      <p:sp>
        <p:nvSpPr>
          <p:cNvPr id="143" name="Google Shape;143;p17"/>
          <p:cNvSpPr/>
          <p:nvPr/>
        </p:nvSpPr>
        <p:spPr>
          <a:xfrm>
            <a:off x="8222010" y="8372003"/>
            <a:ext cx="921977" cy="875040"/>
          </a:xfrm>
          <a:custGeom>
            <a:rect b="b" l="l" r="r" t="t"/>
            <a:pathLst>
              <a:path extrusionOk="0" h="875040" w="921977">
                <a:moveTo>
                  <a:pt x="0" y="0"/>
                </a:moveTo>
                <a:lnTo>
                  <a:pt x="921977" y="0"/>
                </a:lnTo>
                <a:lnTo>
                  <a:pt x="921977" y="875040"/>
                </a:lnTo>
                <a:lnTo>
                  <a:pt x="0" y="87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17"/>
          <p:cNvGrpSpPr/>
          <p:nvPr/>
        </p:nvGrpSpPr>
        <p:grpSpPr>
          <a:xfrm>
            <a:off x="9482401" y="8311762"/>
            <a:ext cx="6001897" cy="995541"/>
            <a:chOff x="0" y="-192881"/>
            <a:chExt cx="7352562" cy="1327388"/>
          </a:xfrm>
        </p:grpSpPr>
        <p:grpSp>
          <p:nvGrpSpPr>
            <p:cNvPr id="145" name="Google Shape;145;p17"/>
            <p:cNvGrpSpPr/>
            <p:nvPr/>
          </p:nvGrpSpPr>
          <p:grpSpPr>
            <a:xfrm>
              <a:off x="0" y="-192881"/>
              <a:ext cx="7352562" cy="1327388"/>
              <a:chOff x="0" y="-38100"/>
              <a:chExt cx="1452358" cy="262200"/>
            </a:xfrm>
          </p:grpSpPr>
          <p:sp>
            <p:nvSpPr>
              <p:cNvPr id="146" name="Google Shape;146;p17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 txBox="1"/>
              <p:nvPr/>
            </p:nvSpPr>
            <p:spPr>
              <a:xfrm>
                <a:off x="0" y="-38100"/>
                <a:ext cx="1452300" cy="2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p17"/>
            <p:cNvSpPr txBox="1"/>
            <p:nvPr/>
          </p:nvSpPr>
          <p:spPr>
            <a:xfrm>
              <a:off x="706764" y="165325"/>
              <a:ext cx="62019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Ejemplo </a:t>
              </a:r>
              <a:r>
                <a:rPr lang="en-US" sz="3002">
                  <a:solidFill>
                    <a:srgbClr val="FFFFFF"/>
                  </a:solidFill>
                </a:rPr>
                <a:t>Práctico</a:t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8376985" y="5719018"/>
            <a:ext cx="921977" cy="1006126"/>
          </a:xfrm>
          <a:custGeom>
            <a:rect b="b" l="l" r="r" t="t"/>
            <a:pathLst>
              <a:path extrusionOk="0" h="1006126" w="921977">
                <a:moveTo>
                  <a:pt x="0" y="0"/>
                </a:moveTo>
                <a:lnTo>
                  <a:pt x="921977" y="0"/>
                </a:lnTo>
                <a:lnTo>
                  <a:pt x="921977" y="1006126"/>
                </a:lnTo>
                <a:lnTo>
                  <a:pt x="0" y="1006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0" name="Google Shape;150;p17"/>
          <p:cNvGrpSpPr/>
          <p:nvPr/>
        </p:nvGrpSpPr>
        <p:grpSpPr>
          <a:xfrm>
            <a:off x="9613151" y="5672250"/>
            <a:ext cx="6001897" cy="995541"/>
            <a:chOff x="0" y="-192881"/>
            <a:chExt cx="7352562" cy="1327388"/>
          </a:xfrm>
        </p:grpSpPr>
        <p:grpSp>
          <p:nvGrpSpPr>
            <p:cNvPr id="151" name="Google Shape;151;p17"/>
            <p:cNvGrpSpPr/>
            <p:nvPr/>
          </p:nvGrpSpPr>
          <p:grpSpPr>
            <a:xfrm>
              <a:off x="0" y="-192881"/>
              <a:ext cx="7352562" cy="1327388"/>
              <a:chOff x="0" y="-38100"/>
              <a:chExt cx="1452358" cy="2622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7"/>
              <p:cNvSpPr txBox="1"/>
              <p:nvPr/>
            </p:nvSpPr>
            <p:spPr>
              <a:xfrm>
                <a:off x="0" y="-38100"/>
                <a:ext cx="1452300" cy="2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" name="Google Shape;154;p17"/>
            <p:cNvSpPr txBox="1"/>
            <p:nvPr/>
          </p:nvSpPr>
          <p:spPr>
            <a:xfrm>
              <a:off x="706764" y="165325"/>
              <a:ext cx="62019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Arrays</a:t>
              </a:r>
              <a:endParaRPr/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9613151" y="6992012"/>
            <a:ext cx="6001897" cy="995541"/>
            <a:chOff x="0" y="-192881"/>
            <a:chExt cx="7352562" cy="1327388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0" y="-192881"/>
              <a:ext cx="7352562" cy="1327388"/>
              <a:chOff x="0" y="-38100"/>
              <a:chExt cx="1452358" cy="262200"/>
            </a:xfrm>
          </p:grpSpPr>
          <p:sp>
            <p:nvSpPr>
              <p:cNvPr id="157" name="Google Shape;157;p17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7"/>
              <p:cNvSpPr txBox="1"/>
              <p:nvPr/>
            </p:nvSpPr>
            <p:spPr>
              <a:xfrm>
                <a:off x="0" y="-38100"/>
                <a:ext cx="1452300" cy="2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" name="Google Shape;159;p17"/>
            <p:cNvSpPr txBox="1"/>
            <p:nvPr/>
          </p:nvSpPr>
          <p:spPr>
            <a:xfrm>
              <a:off x="706764" y="165325"/>
              <a:ext cx="62019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Paso de </a:t>
              </a:r>
              <a:r>
                <a:rPr lang="en-US" sz="3002">
                  <a:solidFill>
                    <a:srgbClr val="FFFFFF"/>
                  </a:solidFill>
                </a:rPr>
                <a:t>Parámetros</a:t>
              </a:r>
              <a:endParaRPr/>
            </a:p>
          </p:txBody>
        </p:sp>
      </p:grpSp>
      <p:sp>
        <p:nvSpPr>
          <p:cNvPr id="160" name="Google Shape;160;p17"/>
          <p:cNvSpPr/>
          <p:nvPr/>
        </p:nvSpPr>
        <p:spPr>
          <a:xfrm>
            <a:off x="8254573" y="7176068"/>
            <a:ext cx="921977" cy="1006126"/>
          </a:xfrm>
          <a:custGeom>
            <a:rect b="b" l="l" r="r" t="t"/>
            <a:pathLst>
              <a:path extrusionOk="0" h="1006126" w="921977">
                <a:moveTo>
                  <a:pt x="0" y="0"/>
                </a:moveTo>
                <a:lnTo>
                  <a:pt x="921977" y="0"/>
                </a:lnTo>
                <a:lnTo>
                  <a:pt x="921977" y="1006126"/>
                </a:lnTo>
                <a:lnTo>
                  <a:pt x="0" y="1006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8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Avisos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2895640" y="3797434"/>
            <a:ext cx="12496800" cy="3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7550" lvl="0" marL="45720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00"/>
              <a:buFont typeface="Questrial"/>
              <a:buChar char="●"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Hoja de calificación</a:t>
            </a:r>
            <a:endParaRPr sz="77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717550" lvl="0" marL="45720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00"/>
              <a:buFont typeface="Questrial"/>
              <a:buChar char="●"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Evaluación Docente</a:t>
            </a:r>
            <a:endParaRPr sz="77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717550" lvl="0" marL="45720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00"/>
              <a:buFont typeface="Questrial"/>
              <a:buChar char="●"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Aun quedan 10 días</a:t>
            </a:r>
            <a:endParaRPr sz="77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9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Clases y Objetos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536075" y="3052275"/>
            <a:ext cx="148038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Clases: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una definición abstracta de un modelo.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Aquí se define la estructura y comportamiento de los modelos.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Cuenta con atributos y métodos que definen las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un Objeto.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ocupa memoria.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20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Clases y Objetos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993725" y="3131875"/>
            <a:ext cx="13968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Objetos: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una instancia concreta de una clase.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Ocupa espacio en memoria y  cuenta con valores espec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íficos para los atributos definidos en una clase.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Cuenta con su propia copia de los atributos pero comparte la definición de los métodos, es decir comparte comportamiento pero tiene sus propias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1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Prototipos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993725" y="3131875"/>
            <a:ext cx="7581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funciones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prototipo es una declaración que proporciona al compilador información sobre el tipo de retorno, el nombre de la función y los tipos de sus parámetros, sin incluir el cuerpo de la función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2650" y="3177100"/>
            <a:ext cx="5898751" cy="589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22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Prototipos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993725" y="3131875"/>
            <a:ext cx="7203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Objetos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 un estilo de programación orientada a objetos en el cual los objetos no son creados mediante la instanciación de clases sino mediante la clonación de otros objetos o mediante la escritura de código por parte del programador. De esta forma los objetos ya existentes pueden servir de prototipos para los que el programador necesite crear.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68725" y="2992600"/>
            <a:ext cx="57912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2679" y="6193000"/>
            <a:ext cx="4339925" cy="3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23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Constructores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993725" y="3131875"/>
            <a:ext cx="7203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Objetos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7929" y="3131875"/>
            <a:ext cx="7593199" cy="41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4"/>
          <p:cNvSpPr txBox="1"/>
          <p:nvPr/>
        </p:nvSpPr>
        <p:spPr>
          <a:xfrm>
            <a:off x="2895640" y="1655309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Sobrecarga de Métodos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993725" y="3131875"/>
            <a:ext cx="7203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3063" y="3902113"/>
            <a:ext cx="7203000" cy="3804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5"/>
          <p:cNvSpPr/>
          <p:nvPr/>
        </p:nvSpPr>
        <p:spPr>
          <a:xfrm>
            <a:off x="1226116" y="2427405"/>
            <a:ext cx="1567882" cy="1482361"/>
          </a:xfrm>
          <a:custGeom>
            <a:rect b="b" l="l" r="r" t="t"/>
            <a:pathLst>
              <a:path extrusionOk="0" h="1482361" w="1567882">
                <a:moveTo>
                  <a:pt x="0" y="0"/>
                </a:moveTo>
                <a:lnTo>
                  <a:pt x="1567882" y="0"/>
                </a:lnTo>
                <a:lnTo>
                  <a:pt x="1567882" y="1482361"/>
                </a:lnTo>
                <a:lnTo>
                  <a:pt x="0" y="148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25"/>
          <p:cNvSpPr txBox="1"/>
          <p:nvPr/>
        </p:nvSpPr>
        <p:spPr>
          <a:xfrm>
            <a:off x="3219004" y="2320860"/>
            <a:ext cx="66660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Arrays</a:t>
            </a:r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8108" y="4487709"/>
            <a:ext cx="6507800" cy="34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9681925" y="3227613"/>
            <a:ext cx="7203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array es un tipo compuesto que representa una colección ordenada y homogénea de elementos.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Características en el lenguaje: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Literal: [e1, e2, ..., en]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Acceso indexado: a[i]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Asignación por índice: a[i] = e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acceso se realiza mediante un índice entero que determina la posición del elemento dentro de la secuencia.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6"/>
          <p:cNvSpPr/>
          <p:nvPr/>
        </p:nvSpPr>
        <p:spPr>
          <a:xfrm>
            <a:off x="1226116" y="913155"/>
            <a:ext cx="1567882" cy="1482361"/>
          </a:xfrm>
          <a:custGeom>
            <a:rect b="b" l="l" r="r" t="t"/>
            <a:pathLst>
              <a:path extrusionOk="0" h="1482361" w="1567882">
                <a:moveTo>
                  <a:pt x="0" y="0"/>
                </a:moveTo>
                <a:lnTo>
                  <a:pt x="1567882" y="0"/>
                </a:lnTo>
                <a:lnTo>
                  <a:pt x="1567882" y="1482361"/>
                </a:lnTo>
                <a:lnTo>
                  <a:pt x="0" y="148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26"/>
          <p:cNvSpPr txBox="1"/>
          <p:nvPr/>
        </p:nvSpPr>
        <p:spPr>
          <a:xfrm>
            <a:off x="3218998" y="913150"/>
            <a:ext cx="9736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Paso de </a:t>
            </a:r>
            <a:r>
              <a:rPr lang="en-US" sz="7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parámetros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9681938" y="2395513"/>
            <a:ext cx="7203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Paso por referencia: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parámetro se vincula directamente a la variable original, sin realizar copia de memoria.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eficiente para tipos compuestos y permite manejar parámetros de salida o entrada/salida.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1226125" y="2547113"/>
            <a:ext cx="7203000" cy="5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Paso por valor: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parámetro recibe una copia del valor original.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tipos simples es eficiente, pero en tipos compuestos puede implicar duplicación de memoria y mayor costo de ejecución.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1250" y="6549025"/>
            <a:ext cx="5732751" cy="300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87685" y="6549025"/>
            <a:ext cx="6191543" cy="30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27"/>
          <p:cNvSpPr txBox="1"/>
          <p:nvPr/>
        </p:nvSpPr>
        <p:spPr>
          <a:xfrm>
            <a:off x="4153506" y="3777883"/>
            <a:ext cx="99810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36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Ejemplo Práctico</a:t>
            </a:r>
            <a:endParaRPr sz="7036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28"/>
          <p:cNvSpPr txBox="1"/>
          <p:nvPr/>
        </p:nvSpPr>
        <p:spPr>
          <a:xfrm>
            <a:off x="3427509" y="5104919"/>
            <a:ext cx="121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4153506" y="3777883"/>
            <a:ext cx="99810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36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¡Gracias por su atención!</a:t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15530732" y="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