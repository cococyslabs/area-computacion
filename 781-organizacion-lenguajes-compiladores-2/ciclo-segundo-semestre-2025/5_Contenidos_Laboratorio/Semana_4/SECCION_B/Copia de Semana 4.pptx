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Arimo"/>
      <p:regular r:id="rId25"/>
      <p:bold r:id="rId26"/>
      <p:italic r:id="rId27"/>
      <p:boldItalic r:id="rId28"/>
    </p:embeddedFont>
    <p:embeddedFont>
      <p:font typeface="Questrial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511173-C70F-409B-834D-CB167EFE2FE2}">
  <a:tblStyle styleId="{4E511173-C70F-409B-834D-CB167EFE2FE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Questrial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f8e35d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6ff8e35de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848dd673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c848dd6732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848dd673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c848dd6732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848dd673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c848dd6732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848dd673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c848dd6732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848dd673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c848dd6732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848dd673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c848dd6732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848dd673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c848dd6732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848dd673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848dd673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848dd673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848dd67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848dd673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c848dd67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848dd6732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848dd6732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848dd6732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c848dd673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30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hyperlink" Target="https://www.upv.es/visor/media/1028c7af-cfa0-e445-953d-3e20d09288c7/c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{4E511173-C70F-409B-834D-CB167EFE2FE2}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17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02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6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20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n-US" sz="5000"/>
              <a:t>Sección B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Rubén Alejandro Ralda Mejia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5"/>
          <p:cNvSpPr/>
          <p:nvPr/>
        </p:nvSpPr>
        <p:spPr>
          <a:xfrm>
            <a:off x="8222023" y="2569992"/>
            <a:ext cx="807245" cy="1088197"/>
          </a:xfrm>
          <a:custGeom>
            <a:rect b="b" l="l" r="r" t="t"/>
            <a:pathLst>
              <a:path extrusionOk="0" h="1088197" w="807245">
                <a:moveTo>
                  <a:pt x="0" y="0"/>
                </a:moveTo>
                <a:lnTo>
                  <a:pt x="807244" y="0"/>
                </a:lnTo>
                <a:lnTo>
                  <a:pt x="807244" y="1088197"/>
                </a:lnTo>
                <a:lnTo>
                  <a:pt x="0" y="10881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5"/>
          <p:cNvSpPr/>
          <p:nvPr/>
        </p:nvSpPr>
        <p:spPr>
          <a:xfrm>
            <a:off x="8222023" y="4086655"/>
            <a:ext cx="921977" cy="1006126"/>
          </a:xfrm>
          <a:custGeom>
            <a:rect b="b" l="l" r="r" t="t"/>
            <a:pathLst>
              <a:path extrusionOk="0" h="1006126" w="921977">
                <a:moveTo>
                  <a:pt x="0" y="0"/>
                </a:moveTo>
                <a:lnTo>
                  <a:pt x="921977" y="0"/>
                </a:lnTo>
                <a:lnTo>
                  <a:pt x="921977" y="1006126"/>
                </a:lnTo>
                <a:lnTo>
                  <a:pt x="0" y="10061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5"/>
          <p:cNvSpPr/>
          <p:nvPr/>
        </p:nvSpPr>
        <p:spPr>
          <a:xfrm>
            <a:off x="8222023" y="5515571"/>
            <a:ext cx="921977" cy="1034872"/>
          </a:xfrm>
          <a:custGeom>
            <a:rect b="b" l="l" r="r" t="t"/>
            <a:pathLst>
              <a:path extrusionOk="0" h="1034872" w="921977">
                <a:moveTo>
                  <a:pt x="0" y="0"/>
                </a:moveTo>
                <a:lnTo>
                  <a:pt x="921977" y="0"/>
                </a:lnTo>
                <a:lnTo>
                  <a:pt x="921977" y="1034873"/>
                </a:lnTo>
                <a:lnTo>
                  <a:pt x="0" y="1034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5"/>
          <p:cNvSpPr/>
          <p:nvPr/>
        </p:nvSpPr>
        <p:spPr>
          <a:xfrm>
            <a:off x="8222023" y="8467076"/>
            <a:ext cx="921977" cy="791224"/>
          </a:xfrm>
          <a:custGeom>
            <a:rect b="b" l="l" r="r" t="t"/>
            <a:pathLst>
              <a:path extrusionOk="0" h="791224" w="921977">
                <a:moveTo>
                  <a:pt x="0" y="0"/>
                </a:moveTo>
                <a:lnTo>
                  <a:pt x="921977" y="0"/>
                </a:lnTo>
                <a:lnTo>
                  <a:pt x="921977" y="791224"/>
                </a:lnTo>
                <a:lnTo>
                  <a:pt x="0" y="791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>
            <a:off x="8222023" y="7071240"/>
            <a:ext cx="921977" cy="875040"/>
          </a:xfrm>
          <a:custGeom>
            <a:rect b="b" l="l" r="r" t="t"/>
            <a:pathLst>
              <a:path extrusionOk="0" h="875040" w="921977">
                <a:moveTo>
                  <a:pt x="0" y="0"/>
                </a:moveTo>
                <a:lnTo>
                  <a:pt x="921977" y="0"/>
                </a:lnTo>
                <a:lnTo>
                  <a:pt x="921977" y="875040"/>
                </a:lnTo>
                <a:lnTo>
                  <a:pt x="0" y="8750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2" name="Google Shape;102;p15"/>
          <p:cNvGrpSpPr/>
          <p:nvPr/>
        </p:nvGrpSpPr>
        <p:grpSpPr>
          <a:xfrm>
            <a:off x="9482417" y="2544020"/>
            <a:ext cx="3466133" cy="995480"/>
            <a:chOff x="0" y="-192881"/>
            <a:chExt cx="4621511" cy="1327306"/>
          </a:xfrm>
        </p:grpSpPr>
        <p:grpSp>
          <p:nvGrpSpPr>
            <p:cNvPr id="103" name="Google Shape;103;p15"/>
            <p:cNvGrpSpPr/>
            <p:nvPr/>
          </p:nvGrpSpPr>
          <p:grpSpPr>
            <a:xfrm>
              <a:off x="0" y="-192881"/>
              <a:ext cx="4621511" cy="1327306"/>
              <a:chOff x="0" y="-38100"/>
              <a:chExt cx="912891" cy="262184"/>
            </a:xfrm>
          </p:grpSpPr>
          <p:sp>
            <p:nvSpPr>
              <p:cNvPr id="104" name="Google Shape;104;p15"/>
              <p:cNvSpPr/>
              <p:nvPr/>
            </p:nvSpPr>
            <p:spPr>
              <a:xfrm>
                <a:off x="0" y="0"/>
                <a:ext cx="912891" cy="224084"/>
              </a:xfrm>
              <a:custGeom>
                <a:rect b="b" l="l" r="r" t="t"/>
                <a:pathLst>
                  <a:path extrusionOk="0" h="224084" w="912891">
                    <a:moveTo>
                      <a:pt x="112042" y="0"/>
                    </a:moveTo>
                    <a:lnTo>
                      <a:pt x="800849" y="0"/>
                    </a:lnTo>
                    <a:cubicBezTo>
                      <a:pt x="830564" y="0"/>
                      <a:pt x="859063" y="11804"/>
                      <a:pt x="880075" y="32816"/>
                    </a:cubicBezTo>
                    <a:cubicBezTo>
                      <a:pt x="901087" y="53828"/>
                      <a:pt x="912891" y="82327"/>
                      <a:pt x="912891" y="112042"/>
                    </a:cubicBezTo>
                    <a:lnTo>
                      <a:pt x="912891" y="112042"/>
                    </a:lnTo>
                    <a:cubicBezTo>
                      <a:pt x="912891" y="173921"/>
                      <a:pt x="862728" y="224084"/>
                      <a:pt x="800849" y="224084"/>
                    </a:cubicBezTo>
                    <a:lnTo>
                      <a:pt x="112042" y="224084"/>
                    </a:lnTo>
                    <a:cubicBezTo>
                      <a:pt x="50163" y="224084"/>
                      <a:pt x="0" y="173921"/>
                      <a:pt x="0" y="112042"/>
                    </a:cubicBezTo>
                    <a:lnTo>
                      <a:pt x="0" y="112042"/>
                    </a:lnTo>
                    <a:cubicBezTo>
                      <a:pt x="0" y="50163"/>
                      <a:pt x="50163" y="0"/>
                      <a:pt x="11204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5"/>
              <p:cNvSpPr txBox="1"/>
              <p:nvPr/>
            </p:nvSpPr>
            <p:spPr>
              <a:xfrm>
                <a:off x="0" y="-38100"/>
                <a:ext cx="912891" cy="262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" name="Google Shape;106;p15"/>
            <p:cNvSpPr txBox="1"/>
            <p:nvPr/>
          </p:nvSpPr>
          <p:spPr>
            <a:xfrm>
              <a:off x="472788" y="171040"/>
              <a:ext cx="3852536" cy="697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Marcadores</a:t>
              </a:r>
              <a:endParaRPr/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9482417" y="4019648"/>
            <a:ext cx="6218968" cy="995480"/>
            <a:chOff x="0" y="-192881"/>
            <a:chExt cx="8291957" cy="1327306"/>
          </a:xfrm>
        </p:grpSpPr>
        <p:grpSp>
          <p:nvGrpSpPr>
            <p:cNvPr id="108" name="Google Shape;108;p15"/>
            <p:cNvGrpSpPr/>
            <p:nvPr/>
          </p:nvGrpSpPr>
          <p:grpSpPr>
            <a:xfrm>
              <a:off x="0" y="-192881"/>
              <a:ext cx="8291957" cy="1327306"/>
              <a:chOff x="0" y="-38100"/>
              <a:chExt cx="1637918" cy="262184"/>
            </a:xfrm>
          </p:grpSpPr>
          <p:sp>
            <p:nvSpPr>
              <p:cNvPr id="109" name="Google Shape;109;p15"/>
              <p:cNvSpPr/>
              <p:nvPr/>
            </p:nvSpPr>
            <p:spPr>
              <a:xfrm>
                <a:off x="0" y="0"/>
                <a:ext cx="1637917" cy="224084"/>
              </a:xfrm>
              <a:custGeom>
                <a:rect b="b" l="l" r="r" t="t"/>
                <a:pathLst>
                  <a:path extrusionOk="0" h="224084" w="1637917">
                    <a:moveTo>
                      <a:pt x="63489" y="0"/>
                    </a:moveTo>
                    <a:lnTo>
                      <a:pt x="1574428" y="0"/>
                    </a:lnTo>
                    <a:cubicBezTo>
                      <a:pt x="1591267" y="0"/>
                      <a:pt x="1607415" y="6689"/>
                      <a:pt x="1619322" y="18596"/>
                    </a:cubicBezTo>
                    <a:cubicBezTo>
                      <a:pt x="1631229" y="30502"/>
                      <a:pt x="1637917" y="46651"/>
                      <a:pt x="1637917" y="63489"/>
                    </a:cubicBezTo>
                    <a:lnTo>
                      <a:pt x="1637917" y="160595"/>
                    </a:lnTo>
                    <a:cubicBezTo>
                      <a:pt x="1637917" y="177433"/>
                      <a:pt x="1631229" y="193582"/>
                      <a:pt x="1619322" y="205488"/>
                    </a:cubicBezTo>
                    <a:cubicBezTo>
                      <a:pt x="1607415" y="217395"/>
                      <a:pt x="1591267" y="224084"/>
                      <a:pt x="1574428" y="224084"/>
                    </a:cubicBezTo>
                    <a:lnTo>
                      <a:pt x="63489" y="224084"/>
                    </a:lnTo>
                    <a:cubicBezTo>
                      <a:pt x="46651" y="224084"/>
                      <a:pt x="30502" y="217395"/>
                      <a:pt x="18596" y="205488"/>
                    </a:cubicBezTo>
                    <a:cubicBezTo>
                      <a:pt x="6689" y="193582"/>
                      <a:pt x="0" y="177433"/>
                      <a:pt x="0" y="160595"/>
                    </a:cubicBezTo>
                    <a:lnTo>
                      <a:pt x="0" y="63489"/>
                    </a:lnTo>
                    <a:cubicBezTo>
                      <a:pt x="0" y="46651"/>
                      <a:pt x="6689" y="30502"/>
                      <a:pt x="18596" y="18596"/>
                    </a:cubicBezTo>
                    <a:cubicBezTo>
                      <a:pt x="30502" y="6689"/>
                      <a:pt x="46651" y="0"/>
                      <a:pt x="6348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 txBox="1"/>
              <p:nvPr/>
            </p:nvSpPr>
            <p:spPr>
              <a:xfrm>
                <a:off x="0" y="-38100"/>
                <a:ext cx="1637918" cy="262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" name="Google Shape;111;p15"/>
            <p:cNvSpPr txBox="1"/>
            <p:nvPr/>
          </p:nvSpPr>
          <p:spPr>
            <a:xfrm>
              <a:off x="848281" y="171040"/>
              <a:ext cx="6912256" cy="697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Atributos heredados</a:t>
              </a:r>
              <a:endParaRPr/>
            </a:p>
          </p:txBody>
        </p:sp>
      </p:grpSp>
      <p:grpSp>
        <p:nvGrpSpPr>
          <p:cNvPr id="112" name="Google Shape;112;p15"/>
          <p:cNvGrpSpPr/>
          <p:nvPr/>
        </p:nvGrpSpPr>
        <p:grpSpPr>
          <a:xfrm>
            <a:off x="9482417" y="5441130"/>
            <a:ext cx="6218968" cy="1017287"/>
            <a:chOff x="0" y="-38100"/>
            <a:chExt cx="1637918" cy="267927"/>
          </a:xfrm>
        </p:grpSpPr>
        <p:sp>
          <p:nvSpPr>
            <p:cNvPr id="113" name="Google Shape;113;p15"/>
            <p:cNvSpPr/>
            <p:nvPr/>
          </p:nvSpPr>
          <p:spPr>
            <a:xfrm>
              <a:off x="0" y="0"/>
              <a:ext cx="1637917" cy="229827"/>
            </a:xfrm>
            <a:custGeom>
              <a:rect b="b" l="l" r="r" t="t"/>
              <a:pathLst>
                <a:path extrusionOk="0" h="229827" w="1637917">
                  <a:moveTo>
                    <a:pt x="63489" y="0"/>
                  </a:moveTo>
                  <a:lnTo>
                    <a:pt x="1574428" y="0"/>
                  </a:lnTo>
                  <a:cubicBezTo>
                    <a:pt x="1591267" y="0"/>
                    <a:pt x="1607415" y="6689"/>
                    <a:pt x="1619322" y="18596"/>
                  </a:cubicBezTo>
                  <a:cubicBezTo>
                    <a:pt x="1631229" y="30502"/>
                    <a:pt x="1637917" y="46651"/>
                    <a:pt x="1637917" y="63489"/>
                  </a:cubicBezTo>
                  <a:lnTo>
                    <a:pt x="1637917" y="166338"/>
                  </a:lnTo>
                  <a:cubicBezTo>
                    <a:pt x="1637917" y="201402"/>
                    <a:pt x="1609492" y="229827"/>
                    <a:pt x="1574428" y="229827"/>
                  </a:cubicBezTo>
                  <a:lnTo>
                    <a:pt x="63489" y="229827"/>
                  </a:lnTo>
                  <a:cubicBezTo>
                    <a:pt x="46651" y="229827"/>
                    <a:pt x="30502" y="223138"/>
                    <a:pt x="18596" y="211232"/>
                  </a:cubicBezTo>
                  <a:cubicBezTo>
                    <a:pt x="6689" y="199325"/>
                    <a:pt x="0" y="183177"/>
                    <a:pt x="0" y="166338"/>
                  </a:cubicBezTo>
                  <a:lnTo>
                    <a:pt x="0" y="63489"/>
                  </a:lnTo>
                  <a:cubicBezTo>
                    <a:pt x="0" y="46651"/>
                    <a:pt x="6689" y="30502"/>
                    <a:pt x="18596" y="18596"/>
                  </a:cubicBezTo>
                  <a:cubicBezTo>
                    <a:pt x="30502" y="6689"/>
                    <a:pt x="46651" y="0"/>
                    <a:pt x="634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6AD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0" y="-38100"/>
              <a:ext cx="1637918" cy="26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15"/>
          <p:cNvSpPr txBox="1"/>
          <p:nvPr/>
        </p:nvSpPr>
        <p:spPr>
          <a:xfrm>
            <a:off x="9837008" y="5712065"/>
            <a:ext cx="55206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2">
                <a:solidFill>
                  <a:srgbClr val="FFFFFF"/>
                </a:solidFill>
              </a:rPr>
              <a:t>Sistemas de tipos</a:t>
            </a:r>
            <a:endParaRPr/>
          </a:p>
        </p:txBody>
      </p:sp>
      <p:grpSp>
        <p:nvGrpSpPr>
          <p:cNvPr id="116" name="Google Shape;116;p15"/>
          <p:cNvGrpSpPr/>
          <p:nvPr/>
        </p:nvGrpSpPr>
        <p:grpSpPr>
          <a:xfrm>
            <a:off x="9482417" y="7034433"/>
            <a:ext cx="5514422" cy="995480"/>
            <a:chOff x="0" y="-192881"/>
            <a:chExt cx="7352563" cy="1327306"/>
          </a:xfrm>
        </p:grpSpPr>
        <p:grpSp>
          <p:nvGrpSpPr>
            <p:cNvPr id="117" name="Google Shape;117;p15"/>
            <p:cNvGrpSpPr/>
            <p:nvPr/>
          </p:nvGrpSpPr>
          <p:grpSpPr>
            <a:xfrm>
              <a:off x="0" y="-192881"/>
              <a:ext cx="7352563" cy="1327306"/>
              <a:chOff x="0" y="-38100"/>
              <a:chExt cx="1452358" cy="262184"/>
            </a:xfrm>
          </p:grpSpPr>
          <p:sp>
            <p:nvSpPr>
              <p:cNvPr id="118" name="Google Shape;118;p15"/>
              <p:cNvSpPr/>
              <p:nvPr/>
            </p:nvSpPr>
            <p:spPr>
              <a:xfrm>
                <a:off x="0" y="0"/>
                <a:ext cx="1452358" cy="224084"/>
              </a:xfrm>
              <a:custGeom>
                <a:rect b="b" l="l" r="r" t="t"/>
                <a:pathLst>
                  <a:path extrusionOk="0" h="224084" w="1452358">
                    <a:moveTo>
                      <a:pt x="71601" y="0"/>
                    </a:moveTo>
                    <a:lnTo>
                      <a:pt x="1380757" y="0"/>
                    </a:lnTo>
                    <a:cubicBezTo>
                      <a:pt x="1399747" y="0"/>
                      <a:pt x="1417959" y="7544"/>
                      <a:pt x="1431387" y="20971"/>
                    </a:cubicBezTo>
                    <a:cubicBezTo>
                      <a:pt x="1444815" y="34399"/>
                      <a:pt x="1452358" y="52611"/>
                      <a:pt x="1452358" y="71601"/>
                    </a:cubicBezTo>
                    <a:lnTo>
                      <a:pt x="1452358" y="152483"/>
                    </a:lnTo>
                    <a:cubicBezTo>
                      <a:pt x="1452358" y="192027"/>
                      <a:pt x="1420301" y="224084"/>
                      <a:pt x="1380757" y="224084"/>
                    </a:cubicBezTo>
                    <a:lnTo>
                      <a:pt x="71601" y="224084"/>
                    </a:lnTo>
                    <a:cubicBezTo>
                      <a:pt x="32057" y="224084"/>
                      <a:pt x="0" y="192027"/>
                      <a:pt x="0" y="152483"/>
                    </a:cubicBezTo>
                    <a:lnTo>
                      <a:pt x="0" y="71601"/>
                    </a:lnTo>
                    <a:cubicBezTo>
                      <a:pt x="0" y="32057"/>
                      <a:pt x="32057" y="0"/>
                      <a:pt x="716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5"/>
              <p:cNvSpPr txBox="1"/>
              <p:nvPr/>
            </p:nvSpPr>
            <p:spPr>
              <a:xfrm>
                <a:off x="0" y="-38100"/>
                <a:ext cx="1452358" cy="262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" name="Google Shape;120;p15"/>
            <p:cNvSpPr txBox="1"/>
            <p:nvPr/>
          </p:nvSpPr>
          <p:spPr>
            <a:xfrm>
              <a:off x="706764" y="165325"/>
              <a:ext cx="6201900" cy="6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2">
                  <a:solidFill>
                    <a:srgbClr val="FFFFFF"/>
                  </a:solidFill>
                </a:rPr>
                <a:t>Mejoras a las expresiones</a:t>
              </a:r>
              <a:endParaRPr/>
            </a:p>
          </p:txBody>
        </p:sp>
      </p:grpSp>
      <p:sp>
        <p:nvSpPr>
          <p:cNvPr id="121" name="Google Shape;121;p15"/>
          <p:cNvSpPr txBox="1"/>
          <p:nvPr/>
        </p:nvSpPr>
        <p:spPr>
          <a:xfrm>
            <a:off x="1028700" y="2155240"/>
            <a:ext cx="5460128" cy="1717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Agenda</a:t>
            </a:r>
            <a:endParaRPr/>
          </a:p>
        </p:txBody>
      </p:sp>
      <p:grpSp>
        <p:nvGrpSpPr>
          <p:cNvPr id="122" name="Google Shape;122;p15"/>
          <p:cNvGrpSpPr/>
          <p:nvPr/>
        </p:nvGrpSpPr>
        <p:grpSpPr>
          <a:xfrm>
            <a:off x="9482417" y="8322415"/>
            <a:ext cx="5514422" cy="995480"/>
            <a:chOff x="0" y="-192881"/>
            <a:chExt cx="7352563" cy="1327306"/>
          </a:xfrm>
        </p:grpSpPr>
        <p:grpSp>
          <p:nvGrpSpPr>
            <p:cNvPr id="123" name="Google Shape;123;p15"/>
            <p:cNvGrpSpPr/>
            <p:nvPr/>
          </p:nvGrpSpPr>
          <p:grpSpPr>
            <a:xfrm>
              <a:off x="0" y="-192881"/>
              <a:ext cx="7352563" cy="1327306"/>
              <a:chOff x="0" y="-38100"/>
              <a:chExt cx="1452358" cy="262184"/>
            </a:xfrm>
          </p:grpSpPr>
          <p:sp>
            <p:nvSpPr>
              <p:cNvPr id="124" name="Google Shape;124;p15"/>
              <p:cNvSpPr/>
              <p:nvPr/>
            </p:nvSpPr>
            <p:spPr>
              <a:xfrm>
                <a:off x="0" y="0"/>
                <a:ext cx="1452358" cy="224084"/>
              </a:xfrm>
              <a:custGeom>
                <a:rect b="b" l="l" r="r" t="t"/>
                <a:pathLst>
                  <a:path extrusionOk="0" h="224084" w="1452358">
                    <a:moveTo>
                      <a:pt x="71601" y="0"/>
                    </a:moveTo>
                    <a:lnTo>
                      <a:pt x="1380757" y="0"/>
                    </a:lnTo>
                    <a:cubicBezTo>
                      <a:pt x="1399747" y="0"/>
                      <a:pt x="1417959" y="7544"/>
                      <a:pt x="1431387" y="20971"/>
                    </a:cubicBezTo>
                    <a:cubicBezTo>
                      <a:pt x="1444815" y="34399"/>
                      <a:pt x="1452358" y="52611"/>
                      <a:pt x="1452358" y="71601"/>
                    </a:cubicBezTo>
                    <a:lnTo>
                      <a:pt x="1452358" y="152483"/>
                    </a:lnTo>
                    <a:cubicBezTo>
                      <a:pt x="1452358" y="192027"/>
                      <a:pt x="1420301" y="224084"/>
                      <a:pt x="1380757" y="224084"/>
                    </a:cubicBezTo>
                    <a:lnTo>
                      <a:pt x="71601" y="224084"/>
                    </a:lnTo>
                    <a:cubicBezTo>
                      <a:pt x="32057" y="224084"/>
                      <a:pt x="0" y="192027"/>
                      <a:pt x="0" y="152483"/>
                    </a:cubicBezTo>
                    <a:lnTo>
                      <a:pt x="0" y="71601"/>
                    </a:lnTo>
                    <a:cubicBezTo>
                      <a:pt x="0" y="32057"/>
                      <a:pt x="32057" y="0"/>
                      <a:pt x="716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6AD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5"/>
              <p:cNvSpPr txBox="1"/>
              <p:nvPr/>
            </p:nvSpPr>
            <p:spPr>
              <a:xfrm>
                <a:off x="0" y="-38100"/>
                <a:ext cx="1452358" cy="262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" name="Google Shape;126;p15"/>
            <p:cNvSpPr txBox="1"/>
            <p:nvPr/>
          </p:nvSpPr>
          <p:spPr>
            <a:xfrm>
              <a:off x="706764" y="165325"/>
              <a:ext cx="6201868" cy="697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3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Ejemplo práctico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6"/>
          <p:cNvSpPr txBox="1"/>
          <p:nvPr/>
        </p:nvSpPr>
        <p:spPr>
          <a:xfrm>
            <a:off x="2895540" y="3224034"/>
            <a:ext cx="12496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MARCADORES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444995" y="4888766"/>
            <a:ext cx="9398100" cy="19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Llamamos marcadores a ciertas acciones semánticas o símbolos especiales que se introducen en la gramática para controlar el momento en que se computan algunos atributos o se realiza cierta acción.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17"/>
          <p:cNvSpPr txBox="1"/>
          <p:nvPr/>
        </p:nvSpPr>
        <p:spPr>
          <a:xfrm>
            <a:off x="1019175" y="1047750"/>
            <a:ext cx="10385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99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Marcadores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28700" y="2318397"/>
            <a:ext cx="119850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parsers ascendentes, las acciones se ejecutan al reducir. Eso es perfecto para atributos sintetizados, pero complica los heredados (info que debería “bajar” desde el contexto del padre o de la izquierda a la derecha).</a:t>
            </a:r>
            <a:endParaRPr/>
          </a:p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marcadores resuelven esto insertando puntos de ejecución en medio de una producción: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028700" y="4185394"/>
            <a:ext cx="2742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99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01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028700" y="5741925"/>
            <a:ext cx="7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8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9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Acciones intermedias (mid-rule actions)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028700" y="6569330"/>
            <a:ext cx="70584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escriben como { ... } dentro de la regla. Bison las trata como si fueran un símbolo extra con su propio $$, que puedes usar después como $k.</a:t>
            </a:r>
            <a:endParaRPr/>
          </a:p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1" marL="431801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Ventaja: pueden leer los valores de los símbolos ya vistos (por ejemplo $1, $2, …).</a:t>
            </a:r>
            <a:endParaRPr/>
          </a:p>
          <a:p>
            <a:pPr indent="-215900" lvl="1" marL="431801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Uso típico: preparar contexto para lo que viene.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144000" y="4185394"/>
            <a:ext cx="2742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99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02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144000" y="5741925"/>
            <a:ext cx="546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8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9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No terminal vacío “M” (marker)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144000" y="6559805"/>
            <a:ext cx="67905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 : /* vacío */ { ... } y luego lo pones en la regla: A : X M Y.</a:t>
            </a:r>
            <a:endParaRPr/>
          </a:p>
          <a:p>
            <a:pPr indent="0" lvl="0" marL="0" marR="0" rtl="0" algn="l">
              <a:lnSpc>
                <a:spcPct val="158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90" lvl="1" marL="474979" marR="0" rtl="0" algn="l">
              <a:lnSpc>
                <a:spcPct val="158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Ventaja: fuerza un punto de reducción antes de Y.</a:t>
            </a:r>
            <a:endParaRPr/>
          </a:p>
        </p:txBody>
      </p:sp>
      <p:grpSp>
        <p:nvGrpSpPr>
          <p:cNvPr id="147" name="Google Shape;147;p17"/>
          <p:cNvGrpSpPr/>
          <p:nvPr/>
        </p:nvGrpSpPr>
        <p:grpSpPr>
          <a:xfrm>
            <a:off x="1028700" y="907660"/>
            <a:ext cx="4727247" cy="1063891"/>
            <a:chOff x="0" y="-38100"/>
            <a:chExt cx="1245028" cy="2802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1245028" cy="242034"/>
            </a:xfrm>
            <a:custGeom>
              <a:rect b="b" l="l" r="r" t="t"/>
              <a:pathLst>
                <a:path extrusionOk="0" h="242034" w="1245028">
                  <a:moveTo>
                    <a:pt x="83524" y="0"/>
                  </a:moveTo>
                  <a:lnTo>
                    <a:pt x="1161504" y="0"/>
                  </a:lnTo>
                  <a:cubicBezTo>
                    <a:pt x="1183656" y="0"/>
                    <a:pt x="1204900" y="8800"/>
                    <a:pt x="1220564" y="24464"/>
                  </a:cubicBezTo>
                  <a:cubicBezTo>
                    <a:pt x="1236228" y="40128"/>
                    <a:pt x="1245028" y="61372"/>
                    <a:pt x="1245028" y="83524"/>
                  </a:cubicBezTo>
                  <a:lnTo>
                    <a:pt x="1245028" y="158509"/>
                  </a:lnTo>
                  <a:cubicBezTo>
                    <a:pt x="1245028" y="204639"/>
                    <a:pt x="1207633" y="242034"/>
                    <a:pt x="1161504" y="242034"/>
                  </a:cubicBezTo>
                  <a:lnTo>
                    <a:pt x="83524" y="242034"/>
                  </a:lnTo>
                  <a:cubicBezTo>
                    <a:pt x="37395" y="242034"/>
                    <a:pt x="0" y="204639"/>
                    <a:pt x="0" y="158509"/>
                  </a:cubicBezTo>
                  <a:lnTo>
                    <a:pt x="0" y="83524"/>
                  </a:lnTo>
                  <a:cubicBezTo>
                    <a:pt x="0" y="37395"/>
                    <a:pt x="37395" y="0"/>
                    <a:pt x="835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6AD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0" y="-38100"/>
              <a:ext cx="1245000" cy="28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8"/>
          <p:cNvSpPr/>
          <p:nvPr/>
        </p:nvSpPr>
        <p:spPr>
          <a:xfrm>
            <a:off x="1226116" y="2427405"/>
            <a:ext cx="1567882" cy="1482361"/>
          </a:xfrm>
          <a:custGeom>
            <a:rect b="b" l="l" r="r" t="t"/>
            <a:pathLst>
              <a:path extrusionOk="0" h="1482361" w="1567882">
                <a:moveTo>
                  <a:pt x="0" y="0"/>
                </a:moveTo>
                <a:lnTo>
                  <a:pt x="1567882" y="0"/>
                </a:lnTo>
                <a:lnTo>
                  <a:pt x="1567882" y="1482361"/>
                </a:lnTo>
                <a:lnTo>
                  <a:pt x="0" y="148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8"/>
          <p:cNvSpPr txBox="1"/>
          <p:nvPr/>
        </p:nvSpPr>
        <p:spPr>
          <a:xfrm>
            <a:off x="3219004" y="2320860"/>
            <a:ext cx="66660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Ejemplo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3219004" y="4772042"/>
            <a:ext cx="1356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https://www.upv.es/visor/media/1028c7af-cfa0-e445-953d-3e20d09288c7/c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3219004" y="4134485"/>
            <a:ext cx="206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9"/>
          <p:cNvSpPr txBox="1"/>
          <p:nvPr/>
        </p:nvSpPr>
        <p:spPr>
          <a:xfrm>
            <a:off x="2895540" y="3362325"/>
            <a:ext cx="12496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ATRIBUTOS HEREDADOS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444995" y="4784440"/>
            <a:ext cx="9398100" cy="1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atributo heredado es un valor que un no terminal recibe desde su padre o desde su hermano izquierdo en el árbol (es decir, “baja” información de contexto)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20"/>
          <p:cNvSpPr/>
          <p:nvPr/>
        </p:nvSpPr>
        <p:spPr>
          <a:xfrm>
            <a:off x="2450037" y="2148569"/>
            <a:ext cx="1881475" cy="1665961"/>
          </a:xfrm>
          <a:custGeom>
            <a:rect b="b" l="l" r="r" t="t"/>
            <a:pathLst>
              <a:path extrusionOk="0" h="1665961" w="1881475">
                <a:moveTo>
                  <a:pt x="0" y="0"/>
                </a:moveTo>
                <a:lnTo>
                  <a:pt x="1881476" y="0"/>
                </a:lnTo>
                <a:lnTo>
                  <a:pt x="1881476" y="1665961"/>
                </a:lnTo>
                <a:lnTo>
                  <a:pt x="0" y="1665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2" name="Google Shape;172;p20"/>
          <p:cNvGrpSpPr/>
          <p:nvPr/>
        </p:nvGrpSpPr>
        <p:grpSpPr>
          <a:xfrm>
            <a:off x="2940724" y="2468095"/>
            <a:ext cx="5103034" cy="6790247"/>
            <a:chOff x="0" y="-38100"/>
            <a:chExt cx="1344000" cy="1788366"/>
          </a:xfrm>
        </p:grpSpPr>
        <p:sp>
          <p:nvSpPr>
            <p:cNvPr id="173" name="Google Shape;173;p20"/>
            <p:cNvSpPr/>
            <p:nvPr/>
          </p:nvSpPr>
          <p:spPr>
            <a:xfrm>
              <a:off x="0" y="0"/>
              <a:ext cx="1343971" cy="1750266"/>
            </a:xfrm>
            <a:custGeom>
              <a:rect b="b" l="l" r="r" t="t"/>
              <a:pathLst>
                <a:path extrusionOk="0" h="1750266" w="1343971">
                  <a:moveTo>
                    <a:pt x="31860" y="0"/>
                  </a:moveTo>
                  <a:lnTo>
                    <a:pt x="1312111" y="0"/>
                  </a:lnTo>
                  <a:cubicBezTo>
                    <a:pt x="1320561" y="0"/>
                    <a:pt x="1328665" y="3357"/>
                    <a:pt x="1334640" y="9332"/>
                  </a:cubicBezTo>
                  <a:cubicBezTo>
                    <a:pt x="1340615" y="15307"/>
                    <a:pt x="1343971" y="23411"/>
                    <a:pt x="1343971" y="31860"/>
                  </a:cubicBezTo>
                  <a:lnTo>
                    <a:pt x="1343971" y="1718406"/>
                  </a:lnTo>
                  <a:cubicBezTo>
                    <a:pt x="1343971" y="1736002"/>
                    <a:pt x="1329707" y="1750266"/>
                    <a:pt x="1312111" y="1750266"/>
                  </a:cubicBezTo>
                  <a:lnTo>
                    <a:pt x="31860" y="1750266"/>
                  </a:lnTo>
                  <a:cubicBezTo>
                    <a:pt x="23411" y="1750266"/>
                    <a:pt x="15307" y="1746910"/>
                    <a:pt x="9332" y="1740935"/>
                  </a:cubicBezTo>
                  <a:cubicBezTo>
                    <a:pt x="3357" y="1734960"/>
                    <a:pt x="0" y="1726856"/>
                    <a:pt x="0" y="1718406"/>
                  </a:cubicBezTo>
                  <a:lnTo>
                    <a:pt x="0" y="31860"/>
                  </a:lnTo>
                  <a:cubicBezTo>
                    <a:pt x="0" y="14264"/>
                    <a:pt x="14264" y="0"/>
                    <a:pt x="31860" y="0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 cap="rnd" cmpd="sng" w="28575">
              <a:solidFill>
                <a:srgbClr val="6AD3F3">
                  <a:alpha val="6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0" y="-38100"/>
              <a:ext cx="1344000" cy="178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20"/>
          <p:cNvSpPr/>
          <p:nvPr/>
        </p:nvSpPr>
        <p:spPr>
          <a:xfrm>
            <a:off x="9556751" y="1966722"/>
            <a:ext cx="1650816" cy="1665961"/>
          </a:xfrm>
          <a:custGeom>
            <a:rect b="b" l="l" r="r" t="t"/>
            <a:pathLst>
              <a:path extrusionOk="0" h="1665961" w="1650816">
                <a:moveTo>
                  <a:pt x="0" y="0"/>
                </a:moveTo>
                <a:lnTo>
                  <a:pt x="1650816" y="0"/>
                </a:lnTo>
                <a:lnTo>
                  <a:pt x="1650816" y="1665961"/>
                </a:lnTo>
                <a:lnTo>
                  <a:pt x="0" y="1665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6" name="Google Shape;176;p20"/>
          <p:cNvGrpSpPr/>
          <p:nvPr/>
        </p:nvGrpSpPr>
        <p:grpSpPr>
          <a:xfrm>
            <a:off x="10244385" y="2468095"/>
            <a:ext cx="5103034" cy="3621438"/>
            <a:chOff x="0" y="-38100"/>
            <a:chExt cx="1344000" cy="953788"/>
          </a:xfrm>
        </p:grpSpPr>
        <p:sp>
          <p:nvSpPr>
            <p:cNvPr id="177" name="Google Shape;177;p20"/>
            <p:cNvSpPr/>
            <p:nvPr/>
          </p:nvSpPr>
          <p:spPr>
            <a:xfrm>
              <a:off x="0" y="0"/>
              <a:ext cx="1343971" cy="915688"/>
            </a:xfrm>
            <a:custGeom>
              <a:rect b="b" l="l" r="r" t="t"/>
              <a:pathLst>
                <a:path extrusionOk="0" h="915688" w="1343971">
                  <a:moveTo>
                    <a:pt x="31860" y="0"/>
                  </a:moveTo>
                  <a:lnTo>
                    <a:pt x="1312111" y="0"/>
                  </a:lnTo>
                  <a:cubicBezTo>
                    <a:pt x="1320561" y="0"/>
                    <a:pt x="1328665" y="3357"/>
                    <a:pt x="1334640" y="9332"/>
                  </a:cubicBezTo>
                  <a:cubicBezTo>
                    <a:pt x="1340615" y="15307"/>
                    <a:pt x="1343971" y="23411"/>
                    <a:pt x="1343971" y="31860"/>
                  </a:cubicBezTo>
                  <a:lnTo>
                    <a:pt x="1343971" y="883827"/>
                  </a:lnTo>
                  <a:cubicBezTo>
                    <a:pt x="1343971" y="901423"/>
                    <a:pt x="1329707" y="915688"/>
                    <a:pt x="1312111" y="915688"/>
                  </a:cubicBezTo>
                  <a:lnTo>
                    <a:pt x="31860" y="915688"/>
                  </a:lnTo>
                  <a:cubicBezTo>
                    <a:pt x="23411" y="915688"/>
                    <a:pt x="15307" y="912331"/>
                    <a:pt x="9332" y="906356"/>
                  </a:cubicBezTo>
                  <a:cubicBezTo>
                    <a:pt x="3357" y="900381"/>
                    <a:pt x="0" y="892277"/>
                    <a:pt x="0" y="883827"/>
                  </a:cubicBezTo>
                  <a:lnTo>
                    <a:pt x="0" y="31860"/>
                  </a:lnTo>
                  <a:cubicBezTo>
                    <a:pt x="0" y="14264"/>
                    <a:pt x="14264" y="0"/>
                    <a:pt x="31860" y="0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 cap="rnd" cmpd="sng" w="28575">
              <a:solidFill>
                <a:srgbClr val="6AD3F3">
                  <a:alpha val="6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0" y="-38100"/>
              <a:ext cx="1344000" cy="95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20"/>
          <p:cNvSpPr txBox="1"/>
          <p:nvPr/>
        </p:nvSpPr>
        <p:spPr>
          <a:xfrm>
            <a:off x="3390775" y="1038225"/>
            <a:ext cx="11506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99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Atributos heredados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3477949" y="2991075"/>
            <a:ext cx="40284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Se usan para pasar cosas como: 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0781611" y="2991075"/>
            <a:ext cx="40284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Diferencia con atributos sintetizados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3477949" y="4228387"/>
            <a:ext cx="4028400" cy="3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2721" lvl="1" marL="3454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tipo actual en una declaración</a:t>
            </a: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(int/float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21" lvl="1" marL="3454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nivel de indentación al pretty-printer,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21" lvl="1" marL="3454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acumulador que se arrastra (p. ej., suma parcial),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21" lvl="1" marL="3454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ámbito o “estamos dentro de un bucle”.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0877110" y="4228387"/>
            <a:ext cx="40284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2721" lvl="1" marL="3454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Sintetizados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se calculan desde los hijos hacia el padre (suben).</a:t>
            </a:r>
            <a:endParaRPr/>
          </a:p>
          <a:p>
            <a:pPr indent="-172721" lvl="1" marL="3454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Heredados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se pasan del padre/hermano izq. hacia los hijos (bajan).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20"/>
          <p:cNvGrpSpPr/>
          <p:nvPr/>
        </p:nvGrpSpPr>
        <p:grpSpPr>
          <a:xfrm>
            <a:off x="5358692" y="884038"/>
            <a:ext cx="7532685" cy="1063891"/>
            <a:chOff x="0" y="-38100"/>
            <a:chExt cx="1983904" cy="280200"/>
          </a:xfrm>
        </p:grpSpPr>
        <p:sp>
          <p:nvSpPr>
            <p:cNvPr id="185" name="Google Shape;185;p20"/>
            <p:cNvSpPr/>
            <p:nvPr/>
          </p:nvSpPr>
          <p:spPr>
            <a:xfrm>
              <a:off x="0" y="0"/>
              <a:ext cx="1983904" cy="242034"/>
            </a:xfrm>
            <a:custGeom>
              <a:rect b="b" l="l" r="r" t="t"/>
              <a:pathLst>
                <a:path extrusionOk="0" h="242034" w="1983904">
                  <a:moveTo>
                    <a:pt x="52417" y="0"/>
                  </a:moveTo>
                  <a:lnTo>
                    <a:pt x="1931488" y="0"/>
                  </a:lnTo>
                  <a:cubicBezTo>
                    <a:pt x="1960437" y="0"/>
                    <a:pt x="1983904" y="23468"/>
                    <a:pt x="1983904" y="52417"/>
                  </a:cubicBezTo>
                  <a:lnTo>
                    <a:pt x="1983904" y="189617"/>
                  </a:lnTo>
                  <a:cubicBezTo>
                    <a:pt x="1983904" y="203519"/>
                    <a:pt x="1978382" y="216851"/>
                    <a:pt x="1968552" y="226681"/>
                  </a:cubicBezTo>
                  <a:cubicBezTo>
                    <a:pt x="1958722" y="236511"/>
                    <a:pt x="1945389" y="242034"/>
                    <a:pt x="1931488" y="242034"/>
                  </a:cubicBezTo>
                  <a:lnTo>
                    <a:pt x="52417" y="242034"/>
                  </a:lnTo>
                  <a:cubicBezTo>
                    <a:pt x="23468" y="242034"/>
                    <a:pt x="0" y="218566"/>
                    <a:pt x="0" y="189617"/>
                  </a:cubicBezTo>
                  <a:lnTo>
                    <a:pt x="0" y="52417"/>
                  </a:lnTo>
                  <a:cubicBezTo>
                    <a:pt x="0" y="23468"/>
                    <a:pt x="23468" y="0"/>
                    <a:pt x="524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6AD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0" y="-38100"/>
              <a:ext cx="1983900" cy="28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10244385" y="6316322"/>
            <a:ext cx="7015532" cy="3418349"/>
            <a:chOff x="0" y="-38100"/>
            <a:chExt cx="1847700" cy="900300"/>
          </a:xfrm>
        </p:grpSpPr>
        <p:sp>
          <p:nvSpPr>
            <p:cNvPr id="188" name="Google Shape;188;p20"/>
            <p:cNvSpPr/>
            <p:nvPr/>
          </p:nvSpPr>
          <p:spPr>
            <a:xfrm>
              <a:off x="0" y="0"/>
              <a:ext cx="1847550" cy="862115"/>
            </a:xfrm>
            <a:custGeom>
              <a:rect b="b" l="l" r="r" t="t"/>
              <a:pathLst>
                <a:path extrusionOk="0" h="862115" w="1847550">
                  <a:moveTo>
                    <a:pt x="23176" y="0"/>
                  </a:moveTo>
                  <a:lnTo>
                    <a:pt x="1824373" y="0"/>
                  </a:lnTo>
                  <a:cubicBezTo>
                    <a:pt x="1830520" y="0"/>
                    <a:pt x="1836415" y="2442"/>
                    <a:pt x="1840761" y="6788"/>
                  </a:cubicBezTo>
                  <a:cubicBezTo>
                    <a:pt x="1845108" y="11135"/>
                    <a:pt x="1847550" y="17030"/>
                    <a:pt x="1847550" y="23176"/>
                  </a:cubicBezTo>
                  <a:lnTo>
                    <a:pt x="1847550" y="838938"/>
                  </a:lnTo>
                  <a:cubicBezTo>
                    <a:pt x="1847550" y="845085"/>
                    <a:pt x="1845108" y="850980"/>
                    <a:pt x="1840761" y="855326"/>
                  </a:cubicBezTo>
                  <a:cubicBezTo>
                    <a:pt x="1836415" y="859673"/>
                    <a:pt x="1830520" y="862115"/>
                    <a:pt x="1824373" y="862115"/>
                  </a:cubicBezTo>
                  <a:lnTo>
                    <a:pt x="23176" y="862115"/>
                  </a:lnTo>
                  <a:cubicBezTo>
                    <a:pt x="17030" y="862115"/>
                    <a:pt x="11135" y="859673"/>
                    <a:pt x="6788" y="855326"/>
                  </a:cubicBezTo>
                  <a:cubicBezTo>
                    <a:pt x="2442" y="850980"/>
                    <a:pt x="0" y="845085"/>
                    <a:pt x="0" y="838938"/>
                  </a:cubicBezTo>
                  <a:lnTo>
                    <a:pt x="0" y="23176"/>
                  </a:lnTo>
                  <a:cubicBezTo>
                    <a:pt x="0" y="17030"/>
                    <a:pt x="2442" y="11135"/>
                    <a:pt x="6788" y="6788"/>
                  </a:cubicBezTo>
                  <a:cubicBezTo>
                    <a:pt x="11135" y="2442"/>
                    <a:pt x="17030" y="0"/>
                    <a:pt x="23176" y="0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 cap="rnd" cmpd="sng" w="28575">
              <a:solidFill>
                <a:srgbClr val="6AD3F3">
                  <a:alpha val="6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0" y="-38100"/>
              <a:ext cx="1847700" cy="9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20"/>
          <p:cNvSpPr txBox="1"/>
          <p:nvPr/>
        </p:nvSpPr>
        <p:spPr>
          <a:xfrm>
            <a:off x="10781611" y="6839302"/>
            <a:ext cx="40284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¿Cuándo se usan?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0877110" y="7506671"/>
            <a:ext cx="59268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1" lvl="1" marL="38862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Cuando un símbolo a la derecha necesita un dato que aparece antes en la misma producción o en su padre.</a:t>
            </a:r>
            <a:endParaRPr/>
          </a:p>
          <a:p>
            <a:pPr indent="-194311" lvl="1" marL="38862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Gramáticas L-atribuidas permiten evaluar todo en una pasada de izq. a der.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7" name="Google Shape;197;p21"/>
          <p:cNvGrpSpPr/>
          <p:nvPr/>
        </p:nvGrpSpPr>
        <p:grpSpPr>
          <a:xfrm>
            <a:off x="8439984" y="884038"/>
            <a:ext cx="8575473" cy="7089572"/>
            <a:chOff x="0" y="-38100"/>
            <a:chExt cx="2258546" cy="1867200"/>
          </a:xfrm>
        </p:grpSpPr>
        <p:sp>
          <p:nvSpPr>
            <p:cNvPr id="198" name="Google Shape;198;p21"/>
            <p:cNvSpPr/>
            <p:nvPr/>
          </p:nvSpPr>
          <p:spPr>
            <a:xfrm>
              <a:off x="0" y="0"/>
              <a:ext cx="2258546" cy="1829001"/>
            </a:xfrm>
            <a:custGeom>
              <a:rect b="b" l="l" r="r" t="t"/>
              <a:pathLst>
                <a:path extrusionOk="0" h="1829001" w="2258546">
                  <a:moveTo>
                    <a:pt x="18959" y="0"/>
                  </a:moveTo>
                  <a:lnTo>
                    <a:pt x="2239587" y="0"/>
                  </a:lnTo>
                  <a:cubicBezTo>
                    <a:pt x="2244615" y="0"/>
                    <a:pt x="2249438" y="1997"/>
                    <a:pt x="2252993" y="5553"/>
                  </a:cubicBezTo>
                  <a:cubicBezTo>
                    <a:pt x="2256549" y="9108"/>
                    <a:pt x="2258546" y="13931"/>
                    <a:pt x="2258546" y="18959"/>
                  </a:cubicBezTo>
                  <a:lnTo>
                    <a:pt x="2258546" y="1810042"/>
                  </a:lnTo>
                  <a:cubicBezTo>
                    <a:pt x="2258546" y="1820513"/>
                    <a:pt x="2250058" y="1829001"/>
                    <a:pt x="2239587" y="1829001"/>
                  </a:cubicBezTo>
                  <a:lnTo>
                    <a:pt x="18959" y="1829001"/>
                  </a:lnTo>
                  <a:cubicBezTo>
                    <a:pt x="13931" y="1829001"/>
                    <a:pt x="9108" y="1827004"/>
                    <a:pt x="5553" y="1823448"/>
                  </a:cubicBezTo>
                  <a:cubicBezTo>
                    <a:pt x="1997" y="1819893"/>
                    <a:pt x="0" y="1815071"/>
                    <a:pt x="0" y="1810042"/>
                  </a:cubicBezTo>
                  <a:lnTo>
                    <a:pt x="0" y="18959"/>
                  </a:lnTo>
                  <a:cubicBezTo>
                    <a:pt x="0" y="8488"/>
                    <a:pt x="8488" y="0"/>
                    <a:pt x="18959" y="0"/>
                  </a:cubicBezTo>
                  <a:close/>
                </a:path>
              </a:pathLst>
            </a:custGeom>
            <a:solidFill>
              <a:srgbClr val="737373">
                <a:alpha val="60000"/>
              </a:srgbClr>
            </a:solidFill>
            <a:ln cap="rnd" cmpd="sng" w="28575">
              <a:solidFill>
                <a:srgbClr val="6AD3F3">
                  <a:alpha val="6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1"/>
            <p:cNvSpPr txBox="1"/>
            <p:nvPr/>
          </p:nvSpPr>
          <p:spPr>
            <a:xfrm>
              <a:off x="0" y="-38100"/>
              <a:ext cx="2258400" cy="18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21"/>
          <p:cNvSpPr/>
          <p:nvPr/>
        </p:nvSpPr>
        <p:spPr>
          <a:xfrm>
            <a:off x="858720" y="863524"/>
            <a:ext cx="842180" cy="796243"/>
          </a:xfrm>
          <a:custGeom>
            <a:rect b="b" l="l" r="r" t="t"/>
            <a:pathLst>
              <a:path extrusionOk="0" h="796243" w="842180">
                <a:moveTo>
                  <a:pt x="0" y="0"/>
                </a:moveTo>
                <a:lnTo>
                  <a:pt x="842180" y="0"/>
                </a:lnTo>
                <a:lnTo>
                  <a:pt x="842180" y="796243"/>
                </a:lnTo>
                <a:lnTo>
                  <a:pt x="0" y="796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21"/>
          <p:cNvSpPr/>
          <p:nvPr/>
        </p:nvSpPr>
        <p:spPr>
          <a:xfrm>
            <a:off x="9316203" y="1659767"/>
            <a:ext cx="6881051" cy="5706527"/>
          </a:xfrm>
          <a:custGeom>
            <a:rect b="b" l="l" r="r" t="t"/>
            <a:pathLst>
              <a:path extrusionOk="0" h="5706527" w="6881051">
                <a:moveTo>
                  <a:pt x="0" y="0"/>
                </a:moveTo>
                <a:lnTo>
                  <a:pt x="6881050" y="0"/>
                </a:lnTo>
                <a:lnTo>
                  <a:pt x="6881050" y="5706527"/>
                </a:lnTo>
                <a:lnTo>
                  <a:pt x="0" y="5706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21"/>
          <p:cNvSpPr txBox="1"/>
          <p:nvPr/>
        </p:nvSpPr>
        <p:spPr>
          <a:xfrm>
            <a:off x="2024967" y="968299"/>
            <a:ext cx="6666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Ejemplo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2024967" y="2130889"/>
            <a:ext cx="676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Evaluar la expresión:</a:t>
            </a: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real id1,id2,id3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2024967" y="2656468"/>
            <a:ext cx="4056600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 → T L </a:t>
            </a:r>
            <a:endParaRPr/>
          </a:p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→ int </a:t>
            </a:r>
            <a:endParaRPr/>
          </a:p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→ real </a:t>
            </a:r>
            <a:endParaRPr/>
          </a:p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 → L , id </a:t>
            </a:r>
            <a:endParaRPr/>
          </a:p>
          <a:p>
            <a:pPr indent="0" lvl="1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 → id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22"/>
          <p:cNvSpPr/>
          <p:nvPr/>
        </p:nvSpPr>
        <p:spPr>
          <a:xfrm>
            <a:off x="1216014" y="1201308"/>
            <a:ext cx="843811" cy="797785"/>
          </a:xfrm>
          <a:custGeom>
            <a:rect b="b" l="l" r="r" t="t"/>
            <a:pathLst>
              <a:path extrusionOk="0" h="797785" w="843811">
                <a:moveTo>
                  <a:pt x="0" y="0"/>
                </a:moveTo>
                <a:lnTo>
                  <a:pt x="843811" y="0"/>
                </a:lnTo>
                <a:lnTo>
                  <a:pt x="843811" y="797784"/>
                </a:lnTo>
                <a:lnTo>
                  <a:pt x="0" y="797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22"/>
          <p:cNvSpPr/>
          <p:nvPr/>
        </p:nvSpPr>
        <p:spPr>
          <a:xfrm>
            <a:off x="1216014" y="2411484"/>
            <a:ext cx="5348461" cy="6996959"/>
          </a:xfrm>
          <a:custGeom>
            <a:rect b="b" l="l" r="r" t="t"/>
            <a:pathLst>
              <a:path extrusionOk="0" h="6996959" w="5348461">
                <a:moveTo>
                  <a:pt x="0" y="0"/>
                </a:moveTo>
                <a:lnTo>
                  <a:pt x="5348461" y="0"/>
                </a:lnTo>
                <a:lnTo>
                  <a:pt x="5348461" y="6996959"/>
                </a:lnTo>
                <a:lnTo>
                  <a:pt x="0" y="6996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2"/>
          <p:cNvSpPr/>
          <p:nvPr/>
        </p:nvSpPr>
        <p:spPr>
          <a:xfrm>
            <a:off x="7275875" y="412057"/>
            <a:ext cx="9332291" cy="8996386"/>
          </a:xfrm>
          <a:custGeom>
            <a:rect b="b" l="l" r="r" t="t"/>
            <a:pathLst>
              <a:path extrusionOk="0" h="8996386" w="9332291">
                <a:moveTo>
                  <a:pt x="0" y="0"/>
                </a:moveTo>
                <a:lnTo>
                  <a:pt x="9332291" y="0"/>
                </a:lnTo>
                <a:lnTo>
                  <a:pt x="9332291" y="8996386"/>
                </a:lnTo>
                <a:lnTo>
                  <a:pt x="0" y="899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22"/>
          <p:cNvSpPr txBox="1"/>
          <p:nvPr/>
        </p:nvSpPr>
        <p:spPr>
          <a:xfrm>
            <a:off x="2298669" y="1171575"/>
            <a:ext cx="66660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Ejemplo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23"/>
          <p:cNvSpPr txBox="1"/>
          <p:nvPr/>
        </p:nvSpPr>
        <p:spPr>
          <a:xfrm>
            <a:off x="2895540" y="2581609"/>
            <a:ext cx="12496920" cy="2136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SISTEMA Y VERIFICACIÓN DE TIPOS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4444995" y="5095875"/>
            <a:ext cx="9398009" cy="3051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n-US" sz="2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de tipos</a:t>
            </a:r>
            <a:r>
              <a:rPr b="0" i="0" lang="en-US" sz="2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define los tipos de datos de un lenguaje y las reglas de cómo se pueden usar e interactuar esos tipos.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n-US" sz="2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verificación de tipos</a:t>
            </a:r>
            <a:r>
              <a:rPr b="0" i="0" lang="en-US" sz="2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(type checking) es el proceso de comprobar que cada operación reciba operandos del tipo apropiado según las reglas del lenguaje.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6" name="Google Shape;226;p24"/>
          <p:cNvGrpSpPr/>
          <p:nvPr/>
        </p:nvGrpSpPr>
        <p:grpSpPr>
          <a:xfrm>
            <a:off x="2160189" y="4503220"/>
            <a:ext cx="426853" cy="426853"/>
            <a:chOff x="0" y="0"/>
            <a:chExt cx="812800" cy="812800"/>
          </a:xfrm>
        </p:grpSpPr>
        <p:sp>
          <p:nvSpPr>
            <p:cNvPr id="227" name="Google Shape;227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cap="sq" cmpd="sng" w="28575">
              <a:solidFill>
                <a:srgbClr val="6AD3F3">
                  <a:alpha val="400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24"/>
          <p:cNvSpPr txBox="1"/>
          <p:nvPr/>
        </p:nvSpPr>
        <p:spPr>
          <a:xfrm>
            <a:off x="2301968" y="1544700"/>
            <a:ext cx="13684064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Sistema de tipos</a:t>
            </a:r>
            <a:endParaRPr/>
          </a:p>
        </p:txBody>
      </p:sp>
      <p:grpSp>
        <p:nvGrpSpPr>
          <p:cNvPr id="230" name="Google Shape;230;p24"/>
          <p:cNvGrpSpPr/>
          <p:nvPr/>
        </p:nvGrpSpPr>
        <p:grpSpPr>
          <a:xfrm>
            <a:off x="4049807" y="1503434"/>
            <a:ext cx="10203275" cy="1157072"/>
            <a:chOff x="0" y="-38100"/>
            <a:chExt cx="2687282" cy="304743"/>
          </a:xfrm>
        </p:grpSpPr>
        <p:sp>
          <p:nvSpPr>
            <p:cNvPr id="231" name="Google Shape;231;p24"/>
            <p:cNvSpPr/>
            <p:nvPr/>
          </p:nvSpPr>
          <p:spPr>
            <a:xfrm>
              <a:off x="0" y="0"/>
              <a:ext cx="2687282" cy="266643"/>
            </a:xfrm>
            <a:custGeom>
              <a:rect b="b" l="l" r="r" t="t"/>
              <a:pathLst>
                <a:path extrusionOk="0" h="266643" w="2687282">
                  <a:moveTo>
                    <a:pt x="38697" y="0"/>
                  </a:moveTo>
                  <a:lnTo>
                    <a:pt x="2648585" y="0"/>
                  </a:lnTo>
                  <a:cubicBezTo>
                    <a:pt x="2669957" y="0"/>
                    <a:pt x="2687282" y="17325"/>
                    <a:pt x="2687282" y="38697"/>
                  </a:cubicBezTo>
                  <a:lnTo>
                    <a:pt x="2687282" y="227946"/>
                  </a:lnTo>
                  <a:cubicBezTo>
                    <a:pt x="2687282" y="249318"/>
                    <a:pt x="2669957" y="266643"/>
                    <a:pt x="2648585" y="266643"/>
                  </a:cubicBezTo>
                  <a:lnTo>
                    <a:pt x="38697" y="266643"/>
                  </a:lnTo>
                  <a:cubicBezTo>
                    <a:pt x="17325" y="266643"/>
                    <a:pt x="0" y="249318"/>
                    <a:pt x="0" y="227946"/>
                  </a:cubicBezTo>
                  <a:lnTo>
                    <a:pt x="0" y="38697"/>
                  </a:lnTo>
                  <a:cubicBezTo>
                    <a:pt x="0" y="17325"/>
                    <a:pt x="17325" y="0"/>
                    <a:pt x="3869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6AD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4"/>
            <p:cNvSpPr txBox="1"/>
            <p:nvPr/>
          </p:nvSpPr>
          <p:spPr>
            <a:xfrm>
              <a:off x="0" y="-38100"/>
              <a:ext cx="2687282" cy="304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24"/>
          <p:cNvSpPr txBox="1"/>
          <p:nvPr/>
        </p:nvSpPr>
        <p:spPr>
          <a:xfrm>
            <a:off x="3301066" y="2830415"/>
            <a:ext cx="11700757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términos prácticos, el sistema de tipos ayuda a detectar errores de programación asegurando que las operaciones se apliquen a operandos compatibles.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2714475" y="4452840"/>
            <a:ext cx="4934639" cy="527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81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Tipos fuertes vs débiles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2160189" y="5096734"/>
            <a:ext cx="13825843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lenguajes pueden considerarse fuertemente tipados si prohíben estrictamente las operaciones entre tipos incompatibles (requiriendo conversiones explícitas), o débilmente tipados si permiten ciertas mezclas haciendo conversiones implícitas.</a:t>
            </a:r>
            <a:endParaRPr/>
          </a:p>
        </p:txBody>
      </p:sp>
      <p:grpSp>
        <p:nvGrpSpPr>
          <p:cNvPr id="236" name="Google Shape;236;p24"/>
          <p:cNvGrpSpPr/>
          <p:nvPr/>
        </p:nvGrpSpPr>
        <p:grpSpPr>
          <a:xfrm>
            <a:off x="2160189" y="6584450"/>
            <a:ext cx="426853" cy="426853"/>
            <a:chOff x="0" y="0"/>
            <a:chExt cx="812800" cy="812800"/>
          </a:xfrm>
        </p:grpSpPr>
        <p:sp>
          <p:nvSpPr>
            <p:cNvPr id="237" name="Google Shape;237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cap="sq" cmpd="sng" w="28575">
              <a:solidFill>
                <a:srgbClr val="6AD3F3">
                  <a:alpha val="400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24"/>
          <p:cNvSpPr txBox="1"/>
          <p:nvPr/>
        </p:nvSpPr>
        <p:spPr>
          <a:xfrm>
            <a:off x="2714475" y="6534070"/>
            <a:ext cx="4934639" cy="527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81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Ejemplo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2160189" y="7177964"/>
            <a:ext cx="13825843" cy="140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C# (tipado fuerte) la expresión "1" + 1 produce un error de compilación (“Cannot implicitly convert type 'string' to 'int'”), obligando a convertir explícitamente la cadena "1" a número entero antes de sumar. En cambio, en un lenguaje más débil como Perl, la misma expresión "1" + 1 es válida y resultaría en 2, ya que Perl convierte la cadena "1" en 1 automáticamente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25"/>
          <p:cNvSpPr/>
          <p:nvPr/>
        </p:nvSpPr>
        <p:spPr>
          <a:xfrm>
            <a:off x="1216014" y="1201308"/>
            <a:ext cx="843811" cy="797785"/>
          </a:xfrm>
          <a:custGeom>
            <a:rect b="b" l="l" r="r" t="t"/>
            <a:pathLst>
              <a:path extrusionOk="0" h="797785" w="843811">
                <a:moveTo>
                  <a:pt x="0" y="0"/>
                </a:moveTo>
                <a:lnTo>
                  <a:pt x="843811" y="0"/>
                </a:lnTo>
                <a:lnTo>
                  <a:pt x="843811" y="797784"/>
                </a:lnTo>
                <a:lnTo>
                  <a:pt x="0" y="797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25"/>
          <p:cNvSpPr/>
          <p:nvPr/>
        </p:nvSpPr>
        <p:spPr>
          <a:xfrm>
            <a:off x="1216014" y="2411484"/>
            <a:ext cx="5348461" cy="6996959"/>
          </a:xfrm>
          <a:custGeom>
            <a:rect b="b" l="l" r="r" t="t"/>
            <a:pathLst>
              <a:path extrusionOk="0" h="6996959" w="5348461">
                <a:moveTo>
                  <a:pt x="0" y="0"/>
                </a:moveTo>
                <a:lnTo>
                  <a:pt x="5348461" y="0"/>
                </a:lnTo>
                <a:lnTo>
                  <a:pt x="5348461" y="6996959"/>
                </a:lnTo>
                <a:lnTo>
                  <a:pt x="0" y="6996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25"/>
          <p:cNvSpPr/>
          <p:nvPr/>
        </p:nvSpPr>
        <p:spPr>
          <a:xfrm>
            <a:off x="7275875" y="412057"/>
            <a:ext cx="9332291" cy="8996386"/>
          </a:xfrm>
          <a:custGeom>
            <a:rect b="b" l="l" r="r" t="t"/>
            <a:pathLst>
              <a:path extrusionOk="0" h="8996386" w="9332291">
                <a:moveTo>
                  <a:pt x="0" y="0"/>
                </a:moveTo>
                <a:lnTo>
                  <a:pt x="9332291" y="0"/>
                </a:lnTo>
                <a:lnTo>
                  <a:pt x="9332291" y="8996386"/>
                </a:lnTo>
                <a:lnTo>
                  <a:pt x="0" y="899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25"/>
          <p:cNvSpPr txBox="1"/>
          <p:nvPr/>
        </p:nvSpPr>
        <p:spPr>
          <a:xfrm>
            <a:off x="2298669" y="1171575"/>
            <a:ext cx="6665955" cy="830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Ejemplo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Matriz de tipos</a:t>
            </a:r>
            <a:endParaRPr/>
          </a:p>
        </p:txBody>
      </p:sp>
      <p:pic>
        <p:nvPicPr>
          <p:cNvPr id="255" name="Google Shape;2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9150" y="3600425"/>
            <a:ext cx="12905675" cy="35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/>
          <p:nvPr/>
        </p:nvSpPr>
        <p:spPr>
          <a:xfrm>
            <a:off x="3103515" y="1967109"/>
            <a:ext cx="12496800" cy="6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¿Podemos mejorar la </a:t>
            </a:r>
            <a:r>
              <a:rPr lang="en-US" sz="77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gramática</a:t>
            </a:r>
            <a:r>
              <a:rPr lang="en-US" sz="77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e implementación de expresiones </a:t>
            </a:r>
            <a:r>
              <a:rPr lang="en-US" sz="77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aritméticas</a:t>
            </a:r>
            <a:r>
              <a:rPr lang="en-US" sz="77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, relacionales y lógicas?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/>
        </p:nvSpPr>
        <p:spPr>
          <a:xfrm>
            <a:off x="1423875" y="1535825"/>
            <a:ext cx="16286400" cy="7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6A99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TODO: para mejorar la legibilidad en lugar de guardar la operacion por incumplir el principio de responsabilidad única y también el Principio de abierto/cerrado (SOLID)</a:t>
            </a:r>
            <a:endParaRPr b="1" sz="1850">
              <a:solidFill>
                <a:srgbClr val="6A995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6A99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// la accion semantica fungirá como factoría abstracta y cada expresión tendra su método interpret para hacer la operación además de utilizar otros métodos "heredados".</a:t>
            </a:r>
            <a:endParaRPr b="1" sz="1850">
              <a:solidFill>
                <a:srgbClr val="6A995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6A99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/* expr: expr '+' expr   { $$ =  nuevoExpresionLenguaje('+', $1, $3);  }</a:t>
            </a:r>
            <a:endParaRPr b="1" sz="1850">
              <a:solidFill>
                <a:srgbClr val="6A995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6A99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| expr '-' expr { $$ =  nuevoExpresionLenguaje('-', $1, $3); }</a:t>
            </a:r>
            <a:endParaRPr b="1" sz="1850">
              <a:solidFill>
                <a:srgbClr val="6A995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6A99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| '(' expr ')' { $$ = $2; }</a:t>
            </a:r>
            <a:endParaRPr b="1" sz="1850">
              <a:solidFill>
                <a:srgbClr val="6A995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6A99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| '-' expr %prec NEG  { $$ =  nuevoExpresionLenguaje('U', $2, NULL);  }</a:t>
            </a:r>
            <a:endParaRPr b="1" sz="1850">
              <a:solidFill>
                <a:srgbClr val="6A995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6A99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| primitivo { $$ = $1; }</a:t>
            </a:r>
            <a:endParaRPr b="1" sz="1850">
              <a:solidFill>
                <a:srgbClr val="6A995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6A99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//| TOKEN_IDENTIFIER { $$ =  nuevoExpresionLenguaje('I', $1, $3); }</a:t>
            </a:r>
            <a:endParaRPr b="1" sz="1850">
              <a:solidFill>
                <a:srgbClr val="6A995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6A99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; */</a:t>
            </a:r>
            <a:endParaRPr b="1" sz="1850">
              <a:solidFill>
                <a:srgbClr val="6A995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>
              <a:solidFill>
                <a:srgbClr val="CCCCCC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expr: expr </a:t>
            </a:r>
            <a:r>
              <a:rPr b="1" lang="en-US" sz="18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'+'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expr   { $$ </a:t>
            </a:r>
            <a:r>
              <a:rPr b="1" lang="en-US" sz="18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1850">
                <a:solidFill>
                  <a:srgbClr val="DCDCA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nuevoSumaExpresion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($</a:t>
            </a:r>
            <a:r>
              <a:rPr b="1" lang="en-US" sz="18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$</a:t>
            </a:r>
            <a:r>
              <a:rPr b="1" lang="en-US" sz="18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  }</a:t>
            </a:r>
            <a:endParaRPr b="1" sz="1850">
              <a:solidFill>
                <a:srgbClr val="CCCCCC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18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expr </a:t>
            </a:r>
            <a:r>
              <a:rPr b="1" lang="en-US" sz="18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'-'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expr { $$ </a:t>
            </a:r>
            <a:r>
              <a:rPr b="1" lang="en-US" sz="18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1850">
                <a:solidFill>
                  <a:srgbClr val="DCDCA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nuevoRestaExpresion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($</a:t>
            </a:r>
            <a:r>
              <a:rPr b="1" lang="en-US" sz="18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$</a:t>
            </a:r>
            <a:r>
              <a:rPr b="1" lang="en-US" sz="18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 }</a:t>
            </a:r>
            <a:endParaRPr b="1" sz="1850">
              <a:solidFill>
                <a:srgbClr val="CCCCCC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18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'('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expr </a:t>
            </a:r>
            <a:r>
              <a:rPr b="1" lang="en-US" sz="18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')'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{ $$ </a:t>
            </a:r>
            <a:r>
              <a:rPr b="1" lang="en-US" sz="18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$</a:t>
            </a:r>
            <a:r>
              <a:rPr b="1" lang="en-US" sz="18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1" sz="1850">
              <a:solidFill>
                <a:srgbClr val="CCCCCC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18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'-'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expr </a:t>
            </a:r>
            <a:r>
              <a:rPr b="1" lang="en-US" sz="18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prec NEG  { $$ </a:t>
            </a:r>
            <a:r>
              <a:rPr b="1" lang="en-US" sz="18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1850">
                <a:solidFill>
                  <a:srgbClr val="DCDCA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nuevoUnarioExpresion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($</a:t>
            </a:r>
            <a:r>
              <a:rPr b="1" lang="en-US" sz="18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  }</a:t>
            </a:r>
            <a:endParaRPr b="1" sz="1850">
              <a:solidFill>
                <a:srgbClr val="CCCCCC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18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primitivo { $$ </a:t>
            </a:r>
            <a:r>
              <a:rPr b="1" lang="en-US" sz="18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$</a:t>
            </a:r>
            <a:r>
              <a:rPr b="1" lang="en-US" sz="18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1" sz="1850">
              <a:solidFill>
                <a:srgbClr val="CCCCCC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CCCCCC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;</a:t>
            </a:r>
            <a:endParaRPr b="1" sz="1850">
              <a:solidFill>
                <a:srgbClr val="CCCCCC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1263875" y="495950"/>
            <a:ext cx="156144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el patrón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intérprete podemos ver lo siguiente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/>
          <p:nvPr/>
        </p:nvSpPr>
        <p:spPr>
          <a:xfrm>
            <a:off x="1055900" y="847925"/>
            <a:ext cx="12830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el patrón visitor podemos ver algo similar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900" y="1757425"/>
            <a:ext cx="11044050" cy="30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900" y="5207925"/>
            <a:ext cx="11250525" cy="24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 txBox="1"/>
          <p:nvPr/>
        </p:nvSpPr>
        <p:spPr>
          <a:xfrm>
            <a:off x="13166725" y="2639750"/>
            <a:ext cx="29118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13966650" y="6047400"/>
            <a:ext cx="18879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Bueno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/>
        </p:nvSpPr>
        <p:spPr>
          <a:xfrm>
            <a:off x="2472600" y="1119875"/>
            <a:ext cx="13342800" cy="29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queda aplicando lo anterior en el ejemplo?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5663450" y="5295475"/>
            <a:ext cx="799920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Vamos a la práctica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31"/>
          <p:cNvSpPr txBox="1"/>
          <p:nvPr/>
        </p:nvSpPr>
        <p:spPr>
          <a:xfrm>
            <a:off x="3427509" y="5104919"/>
            <a:ext cx="12129722" cy="449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  <p:sp>
        <p:nvSpPr>
          <p:cNvPr id="288" name="Google Shape;288;p31"/>
          <p:cNvSpPr txBox="1"/>
          <p:nvPr/>
        </p:nvSpPr>
        <p:spPr>
          <a:xfrm>
            <a:off x="4153506" y="3777883"/>
            <a:ext cx="9980987" cy="1065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36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¡Gracias por su atención!</a:t>
            </a: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15530732" y="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